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78"/>
  </p:notesMasterIdLst>
  <p:handoutMasterIdLst>
    <p:handoutMasterId r:id="rId79"/>
  </p:handoutMasterIdLst>
  <p:sldIdLst>
    <p:sldId id="716" r:id="rId2"/>
    <p:sldId id="256" r:id="rId3"/>
    <p:sldId id="630" r:id="rId4"/>
    <p:sldId id="631" r:id="rId5"/>
    <p:sldId id="632" r:id="rId6"/>
    <p:sldId id="633" r:id="rId7"/>
    <p:sldId id="634" r:id="rId8"/>
    <p:sldId id="274" r:id="rId9"/>
    <p:sldId id="635" r:id="rId10"/>
    <p:sldId id="636" r:id="rId11"/>
    <p:sldId id="637" r:id="rId12"/>
    <p:sldId id="638" r:id="rId13"/>
    <p:sldId id="641" r:id="rId14"/>
    <p:sldId id="640" r:id="rId15"/>
    <p:sldId id="643" r:id="rId16"/>
    <p:sldId id="642" r:id="rId17"/>
    <p:sldId id="639" r:id="rId18"/>
    <p:sldId id="644" r:id="rId19"/>
    <p:sldId id="646" r:id="rId20"/>
    <p:sldId id="647" r:id="rId21"/>
    <p:sldId id="648" r:id="rId22"/>
    <p:sldId id="701" r:id="rId23"/>
    <p:sldId id="649" r:id="rId24"/>
    <p:sldId id="650" r:id="rId25"/>
    <p:sldId id="651" r:id="rId26"/>
    <p:sldId id="702" r:id="rId27"/>
    <p:sldId id="653" r:id="rId28"/>
    <p:sldId id="703" r:id="rId29"/>
    <p:sldId id="654" r:id="rId30"/>
    <p:sldId id="706" r:id="rId31"/>
    <p:sldId id="712" r:id="rId32"/>
    <p:sldId id="713" r:id="rId33"/>
    <p:sldId id="655" r:id="rId34"/>
    <p:sldId id="704" r:id="rId35"/>
    <p:sldId id="656" r:id="rId36"/>
    <p:sldId id="707" r:id="rId37"/>
    <p:sldId id="657" r:id="rId38"/>
    <p:sldId id="658" r:id="rId39"/>
    <p:sldId id="708" r:id="rId40"/>
    <p:sldId id="659" r:id="rId41"/>
    <p:sldId id="660" r:id="rId42"/>
    <p:sldId id="661" r:id="rId43"/>
    <p:sldId id="662" r:id="rId44"/>
    <p:sldId id="666" r:id="rId45"/>
    <p:sldId id="663" r:id="rId46"/>
    <p:sldId id="664" r:id="rId47"/>
    <p:sldId id="667" r:id="rId48"/>
    <p:sldId id="668" r:id="rId49"/>
    <p:sldId id="669" r:id="rId50"/>
    <p:sldId id="670" r:id="rId51"/>
    <p:sldId id="673" r:id="rId52"/>
    <p:sldId id="676" r:id="rId53"/>
    <p:sldId id="674" r:id="rId54"/>
    <p:sldId id="675" r:id="rId55"/>
    <p:sldId id="687" r:id="rId56"/>
    <p:sldId id="688" r:id="rId57"/>
    <p:sldId id="678" r:id="rId58"/>
    <p:sldId id="682" r:id="rId59"/>
    <p:sldId id="683" r:id="rId60"/>
    <p:sldId id="684" r:id="rId61"/>
    <p:sldId id="686" r:id="rId62"/>
    <p:sldId id="689" r:id="rId63"/>
    <p:sldId id="690" r:id="rId64"/>
    <p:sldId id="692" r:id="rId65"/>
    <p:sldId id="691" r:id="rId66"/>
    <p:sldId id="693" r:id="rId67"/>
    <p:sldId id="694" r:id="rId68"/>
    <p:sldId id="695" r:id="rId69"/>
    <p:sldId id="698" r:id="rId70"/>
    <p:sldId id="699" r:id="rId71"/>
    <p:sldId id="700" r:id="rId72"/>
    <p:sldId id="696" r:id="rId73"/>
    <p:sldId id="709" r:id="rId74"/>
    <p:sldId id="710" r:id="rId75"/>
    <p:sldId id="711" r:id="rId76"/>
    <p:sldId id="715" r:id="rId77"/>
  </p:sldIdLst>
  <p:sldSz cx="9144000" cy="6858000" type="overhead"/>
  <p:notesSz cx="7099300" cy="10234613"/>
  <p:defaultTextStyle>
    <a:defPPr>
      <a:defRPr lang="en-US"/>
    </a:defPPr>
    <a:lvl1pPr algn="l" rtl="0" eaLnBrk="0" fontAlgn="base" hangingPunct="0">
      <a:lnSpc>
        <a:spcPct val="80000"/>
      </a:lnSpc>
      <a:spcBef>
        <a:spcPct val="20000"/>
      </a:spcBef>
      <a:spcAft>
        <a:spcPct val="0"/>
      </a:spcAft>
      <a:defRPr sz="2400" b="1" kern="1200">
        <a:solidFill>
          <a:srgbClr val="0000FF"/>
        </a:solidFill>
        <a:latin typeface="Lucida Console" pitchFamily="49" charset="0"/>
        <a:ea typeface="+mn-ea"/>
        <a:cs typeface="Courier New" pitchFamily="49" charset="0"/>
      </a:defRPr>
    </a:lvl1pPr>
    <a:lvl2pPr marL="457200" algn="l" rtl="0" eaLnBrk="0" fontAlgn="base" hangingPunct="0">
      <a:lnSpc>
        <a:spcPct val="80000"/>
      </a:lnSpc>
      <a:spcBef>
        <a:spcPct val="20000"/>
      </a:spcBef>
      <a:spcAft>
        <a:spcPct val="0"/>
      </a:spcAft>
      <a:defRPr sz="2400" b="1" kern="1200">
        <a:solidFill>
          <a:srgbClr val="0000FF"/>
        </a:solidFill>
        <a:latin typeface="Lucida Console" pitchFamily="49" charset="0"/>
        <a:ea typeface="+mn-ea"/>
        <a:cs typeface="Courier New" pitchFamily="49" charset="0"/>
      </a:defRPr>
    </a:lvl2pPr>
    <a:lvl3pPr marL="914400" algn="l" rtl="0" eaLnBrk="0" fontAlgn="base" hangingPunct="0">
      <a:lnSpc>
        <a:spcPct val="80000"/>
      </a:lnSpc>
      <a:spcBef>
        <a:spcPct val="20000"/>
      </a:spcBef>
      <a:spcAft>
        <a:spcPct val="0"/>
      </a:spcAft>
      <a:defRPr sz="2400" b="1" kern="1200">
        <a:solidFill>
          <a:srgbClr val="0000FF"/>
        </a:solidFill>
        <a:latin typeface="Lucida Console" pitchFamily="49" charset="0"/>
        <a:ea typeface="+mn-ea"/>
        <a:cs typeface="Courier New" pitchFamily="49" charset="0"/>
      </a:defRPr>
    </a:lvl3pPr>
    <a:lvl4pPr marL="1371600" algn="l" rtl="0" eaLnBrk="0" fontAlgn="base" hangingPunct="0">
      <a:lnSpc>
        <a:spcPct val="80000"/>
      </a:lnSpc>
      <a:spcBef>
        <a:spcPct val="20000"/>
      </a:spcBef>
      <a:spcAft>
        <a:spcPct val="0"/>
      </a:spcAft>
      <a:defRPr sz="2400" b="1" kern="1200">
        <a:solidFill>
          <a:srgbClr val="0000FF"/>
        </a:solidFill>
        <a:latin typeface="Lucida Console" pitchFamily="49" charset="0"/>
        <a:ea typeface="+mn-ea"/>
        <a:cs typeface="Courier New" pitchFamily="49" charset="0"/>
      </a:defRPr>
    </a:lvl4pPr>
    <a:lvl5pPr marL="1828800" algn="l" rtl="0" eaLnBrk="0" fontAlgn="base" hangingPunct="0">
      <a:lnSpc>
        <a:spcPct val="80000"/>
      </a:lnSpc>
      <a:spcBef>
        <a:spcPct val="20000"/>
      </a:spcBef>
      <a:spcAft>
        <a:spcPct val="0"/>
      </a:spcAft>
      <a:defRPr sz="2400" b="1" kern="1200">
        <a:solidFill>
          <a:srgbClr val="0000FF"/>
        </a:solidFill>
        <a:latin typeface="Lucida Console" pitchFamily="49" charset="0"/>
        <a:ea typeface="+mn-ea"/>
        <a:cs typeface="Courier New" pitchFamily="49" charset="0"/>
      </a:defRPr>
    </a:lvl5pPr>
    <a:lvl6pPr marL="2286000" algn="l" defTabSz="914400" rtl="0" eaLnBrk="1" latinLnBrk="0" hangingPunct="1">
      <a:defRPr sz="2400" b="1" kern="1200">
        <a:solidFill>
          <a:srgbClr val="0000FF"/>
        </a:solidFill>
        <a:latin typeface="Lucida Console" pitchFamily="49" charset="0"/>
        <a:ea typeface="+mn-ea"/>
        <a:cs typeface="Courier New" pitchFamily="49" charset="0"/>
      </a:defRPr>
    </a:lvl6pPr>
    <a:lvl7pPr marL="2743200" algn="l" defTabSz="914400" rtl="0" eaLnBrk="1" latinLnBrk="0" hangingPunct="1">
      <a:defRPr sz="2400" b="1" kern="1200">
        <a:solidFill>
          <a:srgbClr val="0000FF"/>
        </a:solidFill>
        <a:latin typeface="Lucida Console" pitchFamily="49" charset="0"/>
        <a:ea typeface="+mn-ea"/>
        <a:cs typeface="Courier New" pitchFamily="49" charset="0"/>
      </a:defRPr>
    </a:lvl7pPr>
    <a:lvl8pPr marL="3200400" algn="l" defTabSz="914400" rtl="0" eaLnBrk="1" latinLnBrk="0" hangingPunct="1">
      <a:defRPr sz="2400" b="1" kern="1200">
        <a:solidFill>
          <a:srgbClr val="0000FF"/>
        </a:solidFill>
        <a:latin typeface="Lucida Console" pitchFamily="49" charset="0"/>
        <a:ea typeface="+mn-ea"/>
        <a:cs typeface="Courier New" pitchFamily="49" charset="0"/>
      </a:defRPr>
    </a:lvl8pPr>
    <a:lvl9pPr marL="3657600" algn="l" defTabSz="914400" rtl="0" eaLnBrk="1" latinLnBrk="0" hangingPunct="1">
      <a:defRPr sz="2400" b="1" kern="1200">
        <a:solidFill>
          <a:srgbClr val="0000FF"/>
        </a:solidFill>
        <a:latin typeface="Lucida Console" pitchFamily="49" charset="0"/>
        <a:ea typeface="+mn-ea"/>
        <a:cs typeface="Courier New" pitchFamily="49" charset="0"/>
      </a:defRPr>
    </a:lvl9pPr>
  </p:defaultTextStyle>
  <p:extLst>
    <p:ext uri="{EFAFB233-063F-42B5-8137-9DF3F51BA10A}">
      <p15:sldGuideLst xmlns:p15="http://schemas.microsoft.com/office/powerpoint/2012/main">
        <p15:guide id="1" orient="horz" pos="3566">
          <p15:clr>
            <a:srgbClr val="A4A3A4"/>
          </p15:clr>
        </p15:guide>
        <p15:guide id="2" pos="2937">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a:srgbClr val="FF9900"/>
    <a:srgbClr val="FFFF00"/>
    <a:srgbClr val="FF7C80"/>
    <a:srgbClr val="0066FF"/>
    <a:srgbClr val="3399FF"/>
    <a:srgbClr val="6699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41" autoAdjust="0"/>
    <p:restoredTop sz="92180" autoAdjust="0"/>
  </p:normalViewPr>
  <p:slideViewPr>
    <p:cSldViewPr snapToGrid="0">
      <p:cViewPr varScale="1">
        <p:scale>
          <a:sx n="62" d="100"/>
          <a:sy n="62" d="100"/>
        </p:scale>
        <p:origin x="1342" y="14"/>
      </p:cViewPr>
      <p:guideLst>
        <p:guide orient="horz" pos="3566"/>
        <p:guide pos="293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1632" y="-9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none" lIns="99041" tIns="49521" rIns="99041" bIns="49521" numCol="1" anchor="ctr" anchorCtr="0" compatLnSpc="1">
            <a:prstTxWarp prst="textNoShape">
              <a:avLst/>
            </a:prstTxWarp>
          </a:bodyPr>
          <a:lstStyle>
            <a:lvl1pPr defTabSz="990600">
              <a:lnSpc>
                <a:spcPct val="100000"/>
              </a:lnSpc>
              <a:spcBef>
                <a:spcPct val="0"/>
              </a:spcBef>
              <a:defRPr sz="1300" b="0" smtClean="0">
                <a:latin typeface="Comic Sans MS" pitchFamily="66" charset="0"/>
              </a:defRPr>
            </a:lvl1pPr>
          </a:lstStyle>
          <a:p>
            <a:pPr>
              <a:defRPr/>
            </a:pPr>
            <a:r>
              <a:rPr lang="en-US" dirty="0">
                <a:latin typeface="Arial" pitchFamily="34" charset="0"/>
              </a:rPr>
              <a:t>© 2003 Herlihy and </a:t>
            </a:r>
            <a:r>
              <a:rPr lang="en-US" dirty="0" err="1">
                <a:latin typeface="Arial" pitchFamily="34" charset="0"/>
              </a:rPr>
              <a:t>Shavit</a:t>
            </a:r>
            <a:endParaRPr lang="en-US" dirty="0">
              <a:latin typeface="Arial" pitchFamily="34" charset="0"/>
            </a:endParaRPr>
          </a:p>
        </p:txBody>
      </p:sp>
      <p:sp>
        <p:nvSpPr>
          <p:cNvPr id="40963" name="Rectangle 3"/>
          <p:cNvSpPr>
            <a:spLocks noGrp="1" noChangeArrowheads="1"/>
          </p:cNvSpPr>
          <p:nvPr>
            <p:ph type="dt" sz="quarter" idx="1"/>
          </p:nvPr>
        </p:nvSpPr>
        <p:spPr bwMode="auto">
          <a:xfrm>
            <a:off x="4022725" y="0"/>
            <a:ext cx="3076575" cy="511175"/>
          </a:xfrm>
          <a:prstGeom prst="rect">
            <a:avLst/>
          </a:prstGeom>
          <a:noFill/>
          <a:ln w="9525">
            <a:noFill/>
            <a:miter lim="800000"/>
            <a:headEnd/>
            <a:tailEnd/>
          </a:ln>
          <a:effectLst/>
        </p:spPr>
        <p:txBody>
          <a:bodyPr vert="horz" wrap="none" lIns="99041" tIns="49521" rIns="99041" bIns="49521" numCol="1" anchor="ctr" anchorCtr="0" compatLnSpc="1">
            <a:prstTxWarp prst="textNoShape">
              <a:avLst/>
            </a:prstTxWarp>
          </a:bodyPr>
          <a:lstStyle>
            <a:lvl1pPr algn="r" defTabSz="990600">
              <a:lnSpc>
                <a:spcPct val="100000"/>
              </a:lnSpc>
              <a:spcBef>
                <a:spcPct val="0"/>
              </a:spcBef>
              <a:defRPr sz="1300" b="0" smtClean="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9723438"/>
            <a:ext cx="3076575" cy="511175"/>
          </a:xfrm>
          <a:prstGeom prst="rect">
            <a:avLst/>
          </a:prstGeom>
          <a:noFill/>
          <a:ln w="9525">
            <a:noFill/>
            <a:miter lim="800000"/>
            <a:headEnd/>
            <a:tailEnd/>
          </a:ln>
          <a:effectLst/>
        </p:spPr>
        <p:txBody>
          <a:bodyPr vert="horz" wrap="none" lIns="99041" tIns="49521" rIns="99041" bIns="49521" numCol="1" anchor="b" anchorCtr="0" compatLnSpc="1">
            <a:prstTxWarp prst="textNoShape">
              <a:avLst/>
            </a:prstTxWarp>
          </a:bodyPr>
          <a:lstStyle>
            <a:lvl1pPr defTabSz="990600">
              <a:lnSpc>
                <a:spcPct val="100000"/>
              </a:lnSpc>
              <a:spcBef>
                <a:spcPct val="0"/>
              </a:spcBef>
              <a:defRPr sz="1300" b="0" smtClean="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4022725" y="9723438"/>
            <a:ext cx="3076575" cy="511175"/>
          </a:xfrm>
          <a:prstGeom prst="rect">
            <a:avLst/>
          </a:prstGeom>
          <a:noFill/>
          <a:ln w="9525">
            <a:noFill/>
            <a:miter lim="800000"/>
            <a:headEnd/>
            <a:tailEnd/>
          </a:ln>
          <a:effectLst/>
        </p:spPr>
        <p:txBody>
          <a:bodyPr vert="horz" wrap="none" lIns="99041" tIns="49521" rIns="99041" bIns="49521" numCol="1" anchor="b" anchorCtr="0" compatLnSpc="1">
            <a:prstTxWarp prst="textNoShape">
              <a:avLst/>
            </a:prstTxWarp>
          </a:bodyPr>
          <a:lstStyle>
            <a:lvl1pPr algn="r" defTabSz="990600">
              <a:lnSpc>
                <a:spcPct val="100000"/>
              </a:lnSpc>
              <a:spcBef>
                <a:spcPct val="0"/>
              </a:spcBef>
              <a:defRPr sz="1300" b="0" smtClean="0">
                <a:latin typeface="Comic Sans MS" pitchFamily="66" charset="0"/>
                <a:cs typeface="Arial" charset="0"/>
              </a:defRPr>
            </a:lvl1pPr>
          </a:lstStyle>
          <a:p>
            <a:pPr>
              <a:defRPr/>
            </a:pPr>
            <a:fld id="{670A0E1E-C3B2-454D-88B8-E322106F9CA7}" type="slidenum">
              <a:rPr lang="ar-SA">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196407861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lvl1pPr defTabSz="990600">
              <a:lnSpc>
                <a:spcPct val="100000"/>
              </a:lnSpc>
              <a:spcBef>
                <a:spcPct val="0"/>
              </a:spcBef>
              <a:defRPr sz="1300" b="0" smtClean="0">
                <a:latin typeface="Marlett" pitchFamily="2" charset="2"/>
              </a:defRPr>
            </a:lvl1pPr>
          </a:lstStyle>
          <a:p>
            <a:pPr>
              <a:defRPr/>
            </a:pPr>
            <a:r>
              <a:rPr lang="en-US"/>
              <a:t>© 2003 Herlihy and Shavit</a:t>
            </a:r>
          </a:p>
        </p:txBody>
      </p:sp>
      <p:sp>
        <p:nvSpPr>
          <p:cNvPr id="6147" name="Rectangle 3"/>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lvl1pPr algn="r" defTabSz="990600">
              <a:lnSpc>
                <a:spcPct val="100000"/>
              </a:lnSpc>
              <a:spcBef>
                <a:spcPct val="0"/>
              </a:spcBef>
              <a:defRPr sz="1300" b="0" smtClean="0">
                <a:latin typeface="Marlett" pitchFamily="2" charset="2"/>
              </a:defRPr>
            </a:lvl1pPr>
          </a:lstStyle>
          <a:p>
            <a:pPr>
              <a:defRPr/>
            </a:pPr>
            <a:endParaRPr lang="en-US"/>
          </a:p>
        </p:txBody>
      </p:sp>
      <p:sp>
        <p:nvSpPr>
          <p:cNvPr id="79876" name="Rectangle 4"/>
          <p:cNvSpPr>
            <a:spLocks noGrp="1" noRot="1" noChangeAspect="1" noChangeArrowheads="1" noTextEdit="1"/>
          </p:cNvSpPr>
          <p:nvPr>
            <p:ph type="sldImg" idx="2"/>
          </p:nvPr>
        </p:nvSpPr>
        <p:spPr bwMode="auto">
          <a:xfrm>
            <a:off x="990600" y="768350"/>
            <a:ext cx="5118100" cy="3838575"/>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47738" y="4862513"/>
            <a:ext cx="5203825" cy="4603750"/>
          </a:xfrm>
          <a:prstGeom prst="rect">
            <a:avLst/>
          </a:prstGeom>
          <a:noFill/>
          <a:ln w="9525">
            <a:noFill/>
            <a:miter lim="800000"/>
            <a:headEnd/>
            <a:tailEnd/>
          </a:ln>
          <a:effectLst/>
        </p:spPr>
        <p:txBody>
          <a:bodyPr vert="horz" wrap="square" lIns="99041" tIns="49521" rIns="99041" bIns="4952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square" lIns="99041" tIns="49521" rIns="99041" bIns="49521" numCol="1" anchor="b" anchorCtr="0" compatLnSpc="1">
            <a:prstTxWarp prst="textNoShape">
              <a:avLst/>
            </a:prstTxWarp>
          </a:bodyPr>
          <a:lstStyle>
            <a:lvl1pPr defTabSz="990600">
              <a:lnSpc>
                <a:spcPct val="100000"/>
              </a:lnSpc>
              <a:spcBef>
                <a:spcPct val="0"/>
              </a:spcBef>
              <a:defRPr sz="1300" b="0" smtClean="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square" lIns="99041" tIns="49521" rIns="99041" bIns="49521" numCol="1" anchor="b" anchorCtr="0" compatLnSpc="1">
            <a:prstTxWarp prst="textNoShape">
              <a:avLst/>
            </a:prstTxWarp>
          </a:bodyPr>
          <a:lstStyle>
            <a:lvl1pPr algn="r" defTabSz="990600">
              <a:lnSpc>
                <a:spcPct val="100000"/>
              </a:lnSpc>
              <a:spcBef>
                <a:spcPct val="0"/>
              </a:spcBef>
              <a:defRPr sz="1300" b="0" smtClean="0">
                <a:latin typeface="Marlett" pitchFamily="2" charset="2"/>
                <a:cs typeface="Arial" charset="0"/>
              </a:defRPr>
            </a:lvl1pPr>
          </a:lstStyle>
          <a:p>
            <a:pPr>
              <a:defRPr/>
            </a:pPr>
            <a:fld id="{CE2AFD57-DC2B-4A0F-ABDA-F244190571E4}" type="slidenum">
              <a:rPr lang="ar-SA"/>
              <a:pPr>
                <a:defRPr/>
              </a:pPr>
              <a:t>‹#›</a:t>
            </a:fld>
            <a:endParaRPr lang="en-US"/>
          </a:p>
        </p:txBody>
      </p:sp>
    </p:spTree>
    <p:extLst>
      <p:ext uri="{BB962C8B-B14F-4D97-AF65-F5344CB8AC3E}">
        <p14:creationId xmlns:p14="http://schemas.microsoft.com/office/powerpoint/2010/main" val="617536675"/>
      </p:ext>
    </p:extLst>
  </p:cSld>
  <p:clrMap bg1="lt1" tx1="dk1" bg2="lt2" tx2="dk2" accent1="accent1" accent2="accent2" accent3="accent3" accent4="accent4" accent5="accent5" accent6="accent6" hlink="hlink" folHlink="folHlink"/>
  <p:hf ftr="0" dt="0"/>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hdr" sz="quarter"/>
          </p:nvPr>
        </p:nvSpPr>
        <p:spPr>
          <a:noFill/>
        </p:spPr>
        <p:txBody>
          <a:bodyPr/>
          <a:lstStyle/>
          <a:p>
            <a:r>
              <a:rPr lang="en-US"/>
              <a:t>© 2003 Herlihy and Shavit</a:t>
            </a:r>
          </a:p>
        </p:txBody>
      </p:sp>
      <p:sp>
        <p:nvSpPr>
          <p:cNvPr id="81923" name="Rectangle 7"/>
          <p:cNvSpPr>
            <a:spLocks noGrp="1" noChangeArrowheads="1"/>
          </p:cNvSpPr>
          <p:nvPr>
            <p:ph type="sldNum" sz="quarter" idx="5"/>
          </p:nvPr>
        </p:nvSpPr>
        <p:spPr>
          <a:noFill/>
        </p:spPr>
        <p:txBody>
          <a:bodyPr/>
          <a:lstStyle/>
          <a:p>
            <a:fld id="{B5B96D7E-E71E-4768-9AE3-428FA954FF7B}" type="slidenum">
              <a:rPr lang="ar-SA"/>
              <a:pPr/>
              <a:t>2</a:t>
            </a:fld>
            <a:endParaRPr lang="en-US"/>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hdr" sz="quarter"/>
          </p:nvPr>
        </p:nvSpPr>
        <p:spPr>
          <a:noFill/>
        </p:spPr>
        <p:txBody>
          <a:bodyPr/>
          <a:lstStyle/>
          <a:p>
            <a:r>
              <a:rPr lang="en-US"/>
              <a:t>© 2003 Herlihy and Shavit</a:t>
            </a:r>
          </a:p>
        </p:txBody>
      </p:sp>
      <p:sp>
        <p:nvSpPr>
          <p:cNvPr id="82947" name="Rectangle 7"/>
          <p:cNvSpPr>
            <a:spLocks noGrp="1" noChangeArrowheads="1"/>
          </p:cNvSpPr>
          <p:nvPr>
            <p:ph type="sldNum" sz="quarter" idx="5"/>
          </p:nvPr>
        </p:nvSpPr>
        <p:spPr>
          <a:noFill/>
        </p:spPr>
        <p:txBody>
          <a:bodyPr/>
          <a:lstStyle/>
          <a:p>
            <a:fld id="{975DB35E-34C1-4F13-BC18-C28E2FD0D1DE}" type="slidenum">
              <a:rPr lang="ar-SA"/>
              <a:pPr/>
              <a:t>3</a:t>
            </a:fld>
            <a:endParaRPr lang="en-US"/>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a:noFill/>
        </p:spPr>
        <p:txBody>
          <a:bodyPr/>
          <a:lstStyle/>
          <a:p>
            <a:r>
              <a:rPr lang="en-US"/>
              <a:t>© 2003 Herlihy and Shavit</a:t>
            </a:r>
          </a:p>
        </p:txBody>
      </p:sp>
      <p:sp>
        <p:nvSpPr>
          <p:cNvPr id="83971" name="Rectangle 7"/>
          <p:cNvSpPr>
            <a:spLocks noGrp="1" noChangeArrowheads="1"/>
          </p:cNvSpPr>
          <p:nvPr>
            <p:ph type="sldNum" sz="quarter" idx="5"/>
          </p:nvPr>
        </p:nvSpPr>
        <p:spPr>
          <a:noFill/>
        </p:spPr>
        <p:txBody>
          <a:bodyPr/>
          <a:lstStyle/>
          <a:p>
            <a:fld id="{A5C62D36-E986-4301-9AFA-C392CF782C91}" type="slidenum">
              <a:rPr lang="ar-SA"/>
              <a:pPr/>
              <a:t>4</a:t>
            </a:fld>
            <a:endParaRPr lang="en-US"/>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a:ln/>
        </p:spPr>
        <p:txBody>
          <a:bodyPr/>
          <a:lstStyle/>
          <a:p>
            <a:r>
              <a:rPr lang="en-US"/>
              <a:t>There are a number of other languages that provide similar functionality. They all differ from one another in minor and annoying ways, but to a first approximation, they all do much the same thing.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hdr" sz="quarter"/>
          </p:nvPr>
        </p:nvSpPr>
        <p:spPr>
          <a:noFill/>
        </p:spPr>
        <p:txBody>
          <a:bodyPr/>
          <a:lstStyle/>
          <a:p>
            <a:r>
              <a:rPr lang="en-US"/>
              <a:t>© 2003 Herlihy and Shavit</a:t>
            </a:r>
          </a:p>
        </p:txBody>
      </p:sp>
      <p:sp>
        <p:nvSpPr>
          <p:cNvPr id="84995" name="Rectangle 7"/>
          <p:cNvSpPr>
            <a:spLocks noGrp="1" noChangeArrowheads="1"/>
          </p:cNvSpPr>
          <p:nvPr>
            <p:ph type="sldNum" sz="quarter" idx="5"/>
          </p:nvPr>
        </p:nvSpPr>
        <p:spPr>
          <a:noFill/>
        </p:spPr>
        <p:txBody>
          <a:bodyPr/>
          <a:lstStyle/>
          <a:p>
            <a:fld id="{329EFE31-F6D8-47C4-BA47-D0927012D2F5}" type="slidenum">
              <a:rPr lang="ar-SA"/>
              <a:pPr/>
              <a:t>5</a:t>
            </a:fld>
            <a:endParaRPr lang="en-US"/>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a:ln/>
        </p:spPr>
        <p:txBody>
          <a:bodyPr/>
          <a:lstStyle/>
          <a:p>
            <a:r>
              <a:rPr lang="en-US"/>
              <a:t>A </a:t>
            </a:r>
            <a:r>
              <a:rPr lang="en-US" i="1"/>
              <a:t>thread</a:t>
            </a:r>
            <a:r>
              <a:rPr lang="en-US"/>
              <a:t> is the execution of a single sequential program and it a notion central to multiprocessor computing. When you create a thread, you can tell it what to do (which method to run), and you can control when it starts. You can also wait for a thread to finish, and do more complicated things like interrupt it, give it a priority (we don’t care about these last few things for now).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hdr" sz="quarter"/>
          </p:nvPr>
        </p:nvSpPr>
        <p:spPr>
          <a:noFill/>
        </p:spPr>
        <p:txBody>
          <a:bodyPr/>
          <a:lstStyle/>
          <a:p>
            <a:r>
              <a:rPr lang="en-US"/>
              <a:t>© 2003 Herlihy and Shavit</a:t>
            </a:r>
          </a:p>
        </p:txBody>
      </p:sp>
      <p:sp>
        <p:nvSpPr>
          <p:cNvPr id="86019" name="Rectangle 7"/>
          <p:cNvSpPr>
            <a:spLocks noGrp="1" noChangeArrowheads="1"/>
          </p:cNvSpPr>
          <p:nvPr>
            <p:ph type="sldNum" sz="quarter" idx="5"/>
          </p:nvPr>
        </p:nvSpPr>
        <p:spPr>
          <a:noFill/>
        </p:spPr>
        <p:txBody>
          <a:bodyPr/>
          <a:lstStyle/>
          <a:p>
            <a:fld id="{4DE40F25-9BAE-4673-82CB-3E14E92EA9EB}" type="slidenum">
              <a:rPr lang="ar-SA"/>
              <a:pPr/>
              <a:t>6</a:t>
            </a:fld>
            <a:endParaRPr lang="en-US"/>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a:ln/>
        </p:spPr>
        <p:txBody>
          <a:bodyPr/>
          <a:lstStyle/>
          <a:p>
            <a:r>
              <a:rPr lang="en-US"/>
              <a:t>Java provides a built-in thread type, called Thread. Each thread has a run() method that is called when the thread starts. When that method returns, the thread goes away. You must provide this method yourself.</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hdr" sz="quarter"/>
          </p:nvPr>
        </p:nvSpPr>
        <p:spPr>
          <a:noFill/>
        </p:spPr>
        <p:txBody>
          <a:bodyPr/>
          <a:lstStyle/>
          <a:p>
            <a:r>
              <a:rPr lang="en-US"/>
              <a:t>© 2003 Herlihy and Shavit</a:t>
            </a:r>
          </a:p>
        </p:txBody>
      </p:sp>
      <p:sp>
        <p:nvSpPr>
          <p:cNvPr id="87043" name="Rectangle 7"/>
          <p:cNvSpPr>
            <a:spLocks noGrp="1" noChangeArrowheads="1"/>
          </p:cNvSpPr>
          <p:nvPr>
            <p:ph type="sldNum" sz="quarter" idx="5"/>
          </p:nvPr>
        </p:nvSpPr>
        <p:spPr>
          <a:noFill/>
        </p:spPr>
        <p:txBody>
          <a:bodyPr/>
          <a:lstStyle/>
          <a:p>
            <a:fld id="{19F4E0B4-0EEF-47A2-B00A-00C41224F7AA}" type="slidenum">
              <a:rPr lang="ar-SA"/>
              <a:pPr/>
              <a:t>7</a:t>
            </a:fld>
            <a:endParaRPr lang="en-US"/>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a:ln/>
        </p:spPr>
        <p:txBody>
          <a:bodyPr/>
          <a:lstStyle/>
          <a:p>
            <a:r>
              <a:rPr lang="en-US"/>
              <a:t>There are a number of ways to create a thread, but we recommend the following. First, you create an object that implements the Runnable interface: that is, it provides a run() method that does what you want. Second, you pass this Runnable object to a thread constructor.</a:t>
            </a:r>
          </a:p>
          <a:p>
            <a:endParaRPr lang="en-US"/>
          </a:p>
          <a:p>
            <a:r>
              <a:rPr lang="en-US"/>
              <a:t>[As an aside, you can also define a new subclass of Thread that overrides the thread’s run() method, but this is a little dangerous because your run() method can, in principle, access protected fields of the thread itself, which is unlikely but not a good idea.]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a:noFill/>
        </p:spPr>
        <p:txBody>
          <a:bodyPr/>
          <a:lstStyle/>
          <a:p>
            <a:r>
              <a:rPr lang="en-US"/>
              <a:t>© 2003 Herlihy and Shavit</a:t>
            </a:r>
          </a:p>
        </p:txBody>
      </p:sp>
      <p:sp>
        <p:nvSpPr>
          <p:cNvPr id="88067" name="Rectangle 7"/>
          <p:cNvSpPr>
            <a:spLocks noGrp="1" noChangeArrowheads="1"/>
          </p:cNvSpPr>
          <p:nvPr>
            <p:ph type="sldNum" sz="quarter" idx="5"/>
          </p:nvPr>
        </p:nvSpPr>
        <p:spPr>
          <a:noFill/>
        </p:spPr>
        <p:txBody>
          <a:bodyPr/>
          <a:lstStyle/>
          <a:p>
            <a:fld id="{9322E7AA-3BD4-49DD-8571-F7C543CAAF86}" type="slidenum">
              <a:rPr lang="ar-SA"/>
              <a:pPr/>
              <a:t>8</a:t>
            </a:fld>
            <a:endParaRPr lang="en-US"/>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a:ln/>
        </p:spPr>
        <p:txBody>
          <a:bodyPr/>
          <a:lstStyle/>
          <a:p>
            <a:r>
              <a:rPr lang="en-US"/>
              <a:t>Here is a simple Runnable class that prints out a message.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hdr" sz="quarter"/>
          </p:nvPr>
        </p:nvSpPr>
        <p:spPr>
          <a:noFill/>
        </p:spPr>
        <p:txBody>
          <a:bodyPr/>
          <a:lstStyle/>
          <a:p>
            <a:r>
              <a:rPr lang="en-US"/>
              <a:t>© 2003 Herlihy and Shavit</a:t>
            </a:r>
          </a:p>
        </p:txBody>
      </p:sp>
      <p:sp>
        <p:nvSpPr>
          <p:cNvPr id="89091" name="Rectangle 7"/>
          <p:cNvSpPr>
            <a:spLocks noGrp="1" noChangeArrowheads="1"/>
          </p:cNvSpPr>
          <p:nvPr>
            <p:ph type="sldNum" sz="quarter" idx="5"/>
          </p:nvPr>
        </p:nvSpPr>
        <p:spPr>
          <a:noFill/>
        </p:spPr>
        <p:txBody>
          <a:bodyPr/>
          <a:lstStyle/>
          <a:p>
            <a:fld id="{1FCEDB73-34D7-4F78-B6F6-626FA5479170}" type="slidenum">
              <a:rPr lang="ar-SA"/>
              <a:pPr/>
              <a:t>9</a:t>
            </a:fld>
            <a:endParaRPr lang="en-US"/>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a:ln/>
        </p:spPr>
        <p:txBody>
          <a:bodyPr/>
          <a:lstStyle/>
          <a:p>
            <a:r>
              <a:rPr lang="en-US"/>
              <a:t>The important point here is that the class declares itself to implement the Runnable interface, so it can be used wherever a Runnable object is expected, and of course it also provides a run() method that does the actual work. Be aware that this Runnable object is not yet a thread.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hdr" sz="quarter"/>
          </p:nvPr>
        </p:nvSpPr>
        <p:spPr>
          <a:noFill/>
        </p:spPr>
        <p:txBody>
          <a:bodyPr/>
          <a:lstStyle/>
          <a:p>
            <a:r>
              <a:rPr lang="en-US"/>
              <a:t>© 2003 Herlihy and Shavit</a:t>
            </a:r>
          </a:p>
        </p:txBody>
      </p:sp>
      <p:sp>
        <p:nvSpPr>
          <p:cNvPr id="90115" name="Rectangle 7"/>
          <p:cNvSpPr>
            <a:spLocks noGrp="1" noChangeArrowheads="1"/>
          </p:cNvSpPr>
          <p:nvPr>
            <p:ph type="sldNum" sz="quarter" idx="5"/>
          </p:nvPr>
        </p:nvSpPr>
        <p:spPr>
          <a:noFill/>
        </p:spPr>
        <p:txBody>
          <a:bodyPr/>
          <a:lstStyle/>
          <a:p>
            <a:fld id="{C27B297E-980B-4A3B-91D5-E915D0DAFD9C}" type="slidenum">
              <a:rPr lang="ar-SA"/>
              <a:pPr/>
              <a:t>10</a:t>
            </a:fld>
            <a:endParaRPr lang="en-US"/>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a:ln/>
        </p:spPr>
        <p:txBody>
          <a:bodyPr/>
          <a:lstStyle/>
          <a:p>
            <a:r>
              <a:rPr lang="en-US"/>
              <a:t>Here is how to create a thread.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hdr" sz="quarter"/>
          </p:nvPr>
        </p:nvSpPr>
        <p:spPr>
          <a:noFill/>
        </p:spPr>
        <p:txBody>
          <a:bodyPr/>
          <a:lstStyle/>
          <a:p>
            <a:r>
              <a:rPr lang="en-US"/>
              <a:t>© 2003 Herlihy and Shavit</a:t>
            </a:r>
          </a:p>
        </p:txBody>
      </p:sp>
      <p:sp>
        <p:nvSpPr>
          <p:cNvPr id="91139" name="Rectangle 7"/>
          <p:cNvSpPr>
            <a:spLocks noGrp="1" noChangeArrowheads="1"/>
          </p:cNvSpPr>
          <p:nvPr>
            <p:ph type="sldNum" sz="quarter" idx="5"/>
          </p:nvPr>
        </p:nvSpPr>
        <p:spPr>
          <a:noFill/>
        </p:spPr>
        <p:txBody>
          <a:bodyPr/>
          <a:lstStyle/>
          <a:p>
            <a:fld id="{E08CD82C-9800-4CF9-A3BC-6A8D95D55387}" type="slidenum">
              <a:rPr lang="ar-SA"/>
              <a:pPr/>
              <a:t>11</a:t>
            </a:fld>
            <a:endParaRPr lang="en-US"/>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a:ln/>
        </p:spPr>
        <p:txBody>
          <a:bodyPr/>
          <a:lstStyle/>
          <a:p>
            <a:r>
              <a:rPr lang="en-US"/>
              <a:t>First create a Runnable object: this one prints “Hello from “ followed by some kind of thread id.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a:noFill/>
        </p:spPr>
        <p:txBody>
          <a:bodyPr/>
          <a:lstStyle/>
          <a:p>
            <a:r>
              <a:rPr lang="en-US"/>
              <a:t>© 2003 Herlihy and Shavit</a:t>
            </a:r>
          </a:p>
        </p:txBody>
      </p:sp>
      <p:sp>
        <p:nvSpPr>
          <p:cNvPr id="92163" name="Rectangle 7"/>
          <p:cNvSpPr>
            <a:spLocks noGrp="1" noChangeArrowheads="1"/>
          </p:cNvSpPr>
          <p:nvPr>
            <p:ph type="sldNum" sz="quarter" idx="5"/>
          </p:nvPr>
        </p:nvSpPr>
        <p:spPr>
          <a:noFill/>
        </p:spPr>
        <p:txBody>
          <a:bodyPr/>
          <a:lstStyle/>
          <a:p>
            <a:fld id="{2FD0260F-BA08-4912-8457-9DF0B3EB69B3}" type="slidenum">
              <a:rPr lang="ar-SA"/>
              <a:pPr/>
              <a:t>12</a:t>
            </a:fld>
            <a:endParaRPr lang="en-US"/>
          </a:p>
        </p:txBody>
      </p:sp>
      <p:sp>
        <p:nvSpPr>
          <p:cNvPr id="92164" name="Rectangle 2"/>
          <p:cNvSpPr>
            <a:spLocks noGrp="1" noRot="1" noChangeAspect="1" noChangeArrowheads="1" noTextEdit="1"/>
          </p:cNvSpPr>
          <p:nvPr>
            <p:ph type="sldImg"/>
          </p:nvPr>
        </p:nvSpPr>
        <p:spPr>
          <a:ln/>
        </p:spPr>
      </p:sp>
      <p:sp>
        <p:nvSpPr>
          <p:cNvPr id="92165" name="Rectangle 3"/>
          <p:cNvSpPr>
            <a:spLocks noGrp="1" noChangeArrowheads="1"/>
          </p:cNvSpPr>
          <p:nvPr>
            <p:ph type="body" idx="1"/>
          </p:nvPr>
        </p:nvSpPr>
        <p:spPr>
          <a:noFill/>
          <a:ln/>
        </p:spPr>
        <p:txBody>
          <a:bodyPr/>
          <a:lstStyle/>
          <a:p>
            <a:r>
              <a:rPr lang="en-US"/>
              <a:t>Then create the thread itself, passing it your Runnable object so it knows what to do.</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hdr" sz="quarter"/>
          </p:nvPr>
        </p:nvSpPr>
        <p:spPr>
          <a:noFill/>
        </p:spPr>
        <p:txBody>
          <a:bodyPr/>
          <a:lstStyle/>
          <a:p>
            <a:r>
              <a:rPr lang="en-US"/>
              <a:t>© 2003 Herlihy and Shavit</a:t>
            </a:r>
          </a:p>
        </p:txBody>
      </p:sp>
      <p:sp>
        <p:nvSpPr>
          <p:cNvPr id="93187" name="Rectangle 7"/>
          <p:cNvSpPr>
            <a:spLocks noGrp="1" noChangeArrowheads="1"/>
          </p:cNvSpPr>
          <p:nvPr>
            <p:ph type="sldNum" sz="quarter" idx="5"/>
          </p:nvPr>
        </p:nvSpPr>
        <p:spPr>
          <a:noFill/>
        </p:spPr>
        <p:txBody>
          <a:bodyPr/>
          <a:lstStyle/>
          <a:p>
            <a:fld id="{9138DCBF-97BA-4E8F-85B3-202C2C0E01F2}" type="slidenum">
              <a:rPr lang="ar-SA"/>
              <a:pPr/>
              <a:t>13</a:t>
            </a:fld>
            <a:endParaRPr lang="en-US"/>
          </a:p>
        </p:txBody>
      </p:sp>
      <p:sp>
        <p:nvSpPr>
          <p:cNvPr id="93188" name="Rectangle 2"/>
          <p:cNvSpPr>
            <a:spLocks noGrp="1" noRot="1" noChangeAspect="1" noChangeArrowheads="1" noTextEdit="1"/>
          </p:cNvSpPr>
          <p:nvPr>
            <p:ph type="sldImg"/>
          </p:nvPr>
        </p:nvSpPr>
        <p:spPr>
          <a:ln/>
        </p:spPr>
      </p:sp>
      <p:sp>
        <p:nvSpPr>
          <p:cNvPr id="93189" name="Rectangle 3"/>
          <p:cNvSpPr>
            <a:spLocks noGrp="1" noChangeArrowheads="1"/>
          </p:cNvSpPr>
          <p:nvPr>
            <p:ph type="body" idx="1"/>
          </p:nvPr>
        </p:nvSpPr>
        <p:spPr>
          <a:noFill/>
          <a:ln/>
        </p:spPr>
        <p:txBody>
          <a:bodyPr/>
          <a:lstStyle/>
          <a:p>
            <a:r>
              <a:rPr lang="en-US"/>
              <a:t>If you think it’s a nuisance to define the single-use Runnable Hello class, then Java provides special syntax for defining such classes, called anonymous inner classes. Using this syntax may be more trouble than it’s worth for you, but we will use it in examples, and you often see it in books and real programs, so I’m going to show you what it looks like.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a:noFill/>
        </p:spPr>
        <p:txBody>
          <a:bodyPr/>
          <a:lstStyle/>
          <a:p>
            <a:r>
              <a:rPr lang="en-US"/>
              <a:t>© 2003 Herlihy and Shavit</a:t>
            </a:r>
          </a:p>
        </p:txBody>
      </p:sp>
      <p:sp>
        <p:nvSpPr>
          <p:cNvPr id="94211" name="Rectangle 7"/>
          <p:cNvSpPr>
            <a:spLocks noGrp="1" noChangeArrowheads="1"/>
          </p:cNvSpPr>
          <p:nvPr>
            <p:ph type="sldNum" sz="quarter" idx="5"/>
          </p:nvPr>
        </p:nvSpPr>
        <p:spPr>
          <a:noFill/>
        </p:spPr>
        <p:txBody>
          <a:bodyPr/>
          <a:lstStyle/>
          <a:p>
            <a:fld id="{734221DC-FD71-4351-83D9-097C83BFAD78}" type="slidenum">
              <a:rPr lang="ar-SA"/>
              <a:pPr/>
              <a:t>14</a:t>
            </a:fld>
            <a:endParaRPr lang="en-US"/>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a:ln/>
        </p:spPr>
        <p:txBody>
          <a:bodyPr/>
          <a:lstStyle/>
          <a:p>
            <a:r>
              <a:rPr lang="en-US"/>
              <a:t>Here is a simple Runnable class that prints out a message.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hdr" sz="quarter"/>
          </p:nvPr>
        </p:nvSpPr>
        <p:spPr>
          <a:noFill/>
        </p:spPr>
        <p:txBody>
          <a:bodyPr/>
          <a:lstStyle/>
          <a:p>
            <a:r>
              <a:rPr lang="en-US"/>
              <a:t>© 2003 Herlihy and Shavit</a:t>
            </a:r>
          </a:p>
        </p:txBody>
      </p:sp>
      <p:sp>
        <p:nvSpPr>
          <p:cNvPr id="95235" name="Rectangle 7"/>
          <p:cNvSpPr>
            <a:spLocks noGrp="1" noChangeArrowheads="1"/>
          </p:cNvSpPr>
          <p:nvPr>
            <p:ph type="sldNum" sz="quarter" idx="5"/>
          </p:nvPr>
        </p:nvSpPr>
        <p:spPr>
          <a:noFill/>
        </p:spPr>
        <p:txBody>
          <a:bodyPr/>
          <a:lstStyle/>
          <a:p>
            <a:fld id="{49D8F6C1-1C22-4D5E-93AC-9386060EF5B3}" type="slidenum">
              <a:rPr lang="ar-SA"/>
              <a:pPr/>
              <a:t>15</a:t>
            </a:fld>
            <a:endParaRPr lang="en-US"/>
          </a:p>
        </p:txBody>
      </p:sp>
      <p:sp>
        <p:nvSpPr>
          <p:cNvPr id="95236" name="Rectangle 2"/>
          <p:cNvSpPr>
            <a:spLocks noGrp="1" noRot="1" noChangeAspect="1" noChangeArrowheads="1" noTextEdit="1"/>
          </p:cNvSpPr>
          <p:nvPr>
            <p:ph type="sldImg"/>
          </p:nvPr>
        </p:nvSpPr>
        <p:spPr>
          <a:ln/>
        </p:spPr>
      </p:sp>
      <p:sp>
        <p:nvSpPr>
          <p:cNvPr id="95237" name="Rectangle 3"/>
          <p:cNvSpPr>
            <a:spLocks noGrp="1" noChangeArrowheads="1"/>
          </p:cNvSpPr>
          <p:nvPr>
            <p:ph type="body" idx="1"/>
          </p:nvPr>
        </p:nvSpPr>
        <p:spPr>
          <a:noFill/>
          <a:ln/>
        </p:spPr>
        <p:txBody>
          <a:bodyPr/>
          <a:lstStyle/>
          <a:p>
            <a:r>
              <a:rPr lang="en-US"/>
              <a:t>This part of the code creates a new object of an anonymous Runnable class. Notice that it declares itself to be Runnable up here, and defines the actual run() method here. Since we never use this object for anything else, there is no need to give its class a name. Notice also that the method reference the variable m in the outer scope.</a:t>
            </a:r>
          </a:p>
          <a:p>
            <a:endParaRPr lang="en-US"/>
          </a:p>
          <a:p>
            <a:r>
              <a:rPr lang="en-US"/>
              <a:t>[Aside: there are some restrictions on what kind of outer-scope variables you can reference. Basically, m has to be declared to be final, meaning it can’t change while the thread is running.]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hdr" sz="quarter"/>
          </p:nvPr>
        </p:nvSpPr>
        <p:spPr>
          <a:noFill/>
        </p:spPr>
        <p:txBody>
          <a:bodyPr/>
          <a:lstStyle/>
          <a:p>
            <a:r>
              <a:rPr lang="en-US"/>
              <a:t>© 2003 Herlihy and Shavit</a:t>
            </a:r>
          </a:p>
        </p:txBody>
      </p:sp>
      <p:sp>
        <p:nvSpPr>
          <p:cNvPr id="96259" name="Rectangle 7"/>
          <p:cNvSpPr>
            <a:spLocks noGrp="1" noChangeArrowheads="1"/>
          </p:cNvSpPr>
          <p:nvPr>
            <p:ph type="sldNum" sz="quarter" idx="5"/>
          </p:nvPr>
        </p:nvSpPr>
        <p:spPr>
          <a:noFill/>
        </p:spPr>
        <p:txBody>
          <a:bodyPr/>
          <a:lstStyle/>
          <a:p>
            <a:fld id="{664387A8-F946-4214-8B81-B34EBFCD31C7}" type="slidenum">
              <a:rPr lang="ar-SA"/>
              <a:pPr/>
              <a:t>16</a:t>
            </a:fld>
            <a:endParaRPr lang="en-US"/>
          </a:p>
        </p:txBody>
      </p:sp>
      <p:sp>
        <p:nvSpPr>
          <p:cNvPr id="96260" name="Rectangle 2"/>
          <p:cNvSpPr>
            <a:spLocks noGrp="1" noRot="1" noChangeAspect="1" noChangeArrowheads="1" noTextEdit="1"/>
          </p:cNvSpPr>
          <p:nvPr>
            <p:ph type="sldImg"/>
          </p:nvPr>
        </p:nvSpPr>
        <p:spPr>
          <a:ln/>
        </p:spPr>
      </p:sp>
      <p:sp>
        <p:nvSpPr>
          <p:cNvPr id="96261" name="Rectangle 3"/>
          <p:cNvSpPr>
            <a:spLocks noGrp="1" noChangeArrowheads="1"/>
          </p:cNvSpPr>
          <p:nvPr>
            <p:ph type="body" idx="1"/>
          </p:nvPr>
        </p:nvSpPr>
        <p:spPr>
          <a:noFill/>
          <a:ln/>
        </p:spPr>
        <p:txBody>
          <a:bodyPr/>
          <a:lstStyle/>
          <a:p>
            <a:r>
              <a:rPr lang="en-US"/>
              <a:t>Once we have created this object, we pass it to the Thread constructor. In other languages, you would pass a function pointer, that is a pointer to the method you want to execute. Java uses interfaces like Runnable to get the same effect.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a:noFill/>
        </p:spPr>
        <p:txBody>
          <a:bodyPr/>
          <a:lstStyle/>
          <a:p>
            <a:r>
              <a:rPr lang="en-US"/>
              <a:t>© 2003 Herlihy and Shavit</a:t>
            </a:r>
          </a:p>
        </p:txBody>
      </p:sp>
      <p:sp>
        <p:nvSpPr>
          <p:cNvPr id="97283" name="Rectangle 7"/>
          <p:cNvSpPr>
            <a:spLocks noGrp="1" noChangeArrowheads="1"/>
          </p:cNvSpPr>
          <p:nvPr>
            <p:ph type="sldNum" sz="quarter" idx="5"/>
          </p:nvPr>
        </p:nvSpPr>
        <p:spPr>
          <a:noFill/>
        </p:spPr>
        <p:txBody>
          <a:bodyPr/>
          <a:lstStyle/>
          <a:p>
            <a:fld id="{DA7F1E58-B05C-460B-9D10-D60E7EC2AC00}" type="slidenum">
              <a:rPr lang="ar-SA"/>
              <a:pPr/>
              <a:t>17</a:t>
            </a:fld>
            <a:endParaRPr lang="en-US"/>
          </a:p>
        </p:txBody>
      </p:sp>
      <p:sp>
        <p:nvSpPr>
          <p:cNvPr id="97284" name="Rectangle 2"/>
          <p:cNvSpPr>
            <a:spLocks noGrp="1" noRot="1" noChangeAspect="1" noChangeArrowheads="1" noTextEdit="1"/>
          </p:cNvSpPr>
          <p:nvPr>
            <p:ph type="sldImg"/>
          </p:nvPr>
        </p:nvSpPr>
        <p:spPr>
          <a:ln/>
        </p:spPr>
      </p:sp>
      <p:sp>
        <p:nvSpPr>
          <p:cNvPr id="97285" name="Rectangle 3"/>
          <p:cNvSpPr>
            <a:spLocks noGrp="1" noChangeArrowheads="1"/>
          </p:cNvSpPr>
          <p:nvPr>
            <p:ph type="body" idx="1"/>
          </p:nvPr>
        </p:nvSpPr>
        <p:spPr>
          <a:noFill/>
          <a:ln/>
        </p:spPr>
        <p:txBody>
          <a:bodyPr/>
          <a:lstStyle/>
          <a:p>
            <a:r>
              <a:rPr lang="en-US"/>
              <a:t>This call causes the thread to run, while the caller returns immediately.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hdr" sz="quarter"/>
          </p:nvPr>
        </p:nvSpPr>
        <p:spPr>
          <a:noFill/>
        </p:spPr>
        <p:txBody>
          <a:bodyPr/>
          <a:lstStyle/>
          <a:p>
            <a:r>
              <a:rPr lang="en-US"/>
              <a:t>© 2003 Herlihy and Shavit</a:t>
            </a:r>
          </a:p>
        </p:txBody>
      </p:sp>
      <p:sp>
        <p:nvSpPr>
          <p:cNvPr id="98307" name="Rectangle 7"/>
          <p:cNvSpPr>
            <a:spLocks noGrp="1" noChangeArrowheads="1"/>
          </p:cNvSpPr>
          <p:nvPr>
            <p:ph type="sldNum" sz="quarter" idx="5"/>
          </p:nvPr>
        </p:nvSpPr>
        <p:spPr>
          <a:noFill/>
        </p:spPr>
        <p:txBody>
          <a:bodyPr/>
          <a:lstStyle/>
          <a:p>
            <a:fld id="{1A306D29-C33B-47B9-9139-D81AD70ED5AC}" type="slidenum">
              <a:rPr lang="ar-SA"/>
              <a:pPr/>
              <a:t>18</a:t>
            </a:fld>
            <a:endParaRPr lang="en-US"/>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a:ln/>
        </p:spPr>
        <p:txBody>
          <a:bodyPr/>
          <a:lstStyle/>
          <a:p>
            <a:r>
              <a:rPr lang="en-US"/>
              <a:t>The caller is blocked until the thread's run{} method returns.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hdr" sz="quarter"/>
          </p:nvPr>
        </p:nvSpPr>
        <p:spPr>
          <a:noFill/>
        </p:spPr>
        <p:txBody>
          <a:bodyPr/>
          <a:lstStyle/>
          <a:p>
            <a:r>
              <a:rPr lang="en-US"/>
              <a:t>© 2003 Herlihy and Shavit</a:t>
            </a:r>
          </a:p>
        </p:txBody>
      </p:sp>
      <p:sp>
        <p:nvSpPr>
          <p:cNvPr id="99331" name="Rectangle 7"/>
          <p:cNvSpPr>
            <a:spLocks noGrp="1" noChangeArrowheads="1"/>
          </p:cNvSpPr>
          <p:nvPr>
            <p:ph type="sldNum" sz="quarter" idx="5"/>
          </p:nvPr>
        </p:nvSpPr>
        <p:spPr>
          <a:noFill/>
        </p:spPr>
        <p:txBody>
          <a:bodyPr/>
          <a:lstStyle/>
          <a:p>
            <a:fld id="{015ED392-A4AB-454C-A5F3-9920BB760023}" type="slidenum">
              <a:rPr lang="ar-SA"/>
              <a:pPr/>
              <a:t>19</a:t>
            </a:fld>
            <a:endParaRPr lang="en-US"/>
          </a:p>
        </p:txBody>
      </p:sp>
      <p:sp>
        <p:nvSpPr>
          <p:cNvPr id="99332" name="Rectangle 2"/>
          <p:cNvSpPr>
            <a:spLocks noGrp="1" noRot="1" noChangeAspect="1" noChangeArrowheads="1" noTextEdit="1"/>
          </p:cNvSpPr>
          <p:nvPr>
            <p:ph type="sldImg"/>
          </p:nvPr>
        </p:nvSpPr>
        <p:spPr>
          <a:ln/>
        </p:spPr>
      </p:sp>
      <p:sp>
        <p:nvSpPr>
          <p:cNvPr id="99333" name="Rectangle 3"/>
          <p:cNvSpPr>
            <a:spLocks noGrp="1" noChangeArrowheads="1"/>
          </p:cNvSpPr>
          <p:nvPr>
            <p:ph type="body" idx="1"/>
          </p:nvPr>
        </p:nvSpPr>
        <p:spPr>
          <a:noFill/>
          <a:ln/>
        </p:spPr>
        <p:txBody>
          <a:bodyPr/>
          <a:lstStyle/>
          <a:p>
            <a:r>
              <a:rPr lang="en-US"/>
              <a:t>Java provides a number of ways to synchronize access to shared data, both built-in and through packages.</a:t>
            </a:r>
          </a:p>
          <a:p>
            <a:r>
              <a:rPr lang="en-US"/>
              <a:t>Here we describe the built-in model, called the </a:t>
            </a:r>
            <a:r>
              <a:rPr lang="en-US" i="1"/>
              <a:t>monitor</a:t>
            </a:r>
            <a:r>
              <a:rPr lang="en-US"/>
              <a:t> model, which is the simplest and most commonly-used approach.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hdr" sz="quarter"/>
          </p:nvPr>
        </p:nvSpPr>
        <p:spPr>
          <a:noFill/>
        </p:spPr>
        <p:txBody>
          <a:bodyPr/>
          <a:lstStyle/>
          <a:p>
            <a:r>
              <a:rPr lang="en-US"/>
              <a:t>© 2003 Herlihy and Shavit</a:t>
            </a:r>
          </a:p>
        </p:txBody>
      </p:sp>
      <p:sp>
        <p:nvSpPr>
          <p:cNvPr id="100355" name="Rectangle 7"/>
          <p:cNvSpPr>
            <a:spLocks noGrp="1" noChangeArrowheads="1"/>
          </p:cNvSpPr>
          <p:nvPr>
            <p:ph type="sldNum" sz="quarter" idx="5"/>
          </p:nvPr>
        </p:nvSpPr>
        <p:spPr>
          <a:noFill/>
        </p:spPr>
        <p:txBody>
          <a:bodyPr/>
          <a:lstStyle/>
          <a:p>
            <a:fld id="{9BF7F4D6-AA90-4032-8702-CCA5DC4591EB}" type="slidenum">
              <a:rPr lang="ar-SA"/>
              <a:pPr/>
              <a:t>20</a:t>
            </a:fld>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p:spPr>
        <p:txBody>
          <a:bodyPr/>
          <a:lstStyle/>
          <a:p>
            <a:r>
              <a:rPr lang="en-US"/>
              <a:t>Imagine you are in charge of software design for a call center. During peak hours, calls arrive faster than they can be answered. When a call arrives, you play a recorded announcement assuring the caller that their call is very</a:t>
            </a:r>
          </a:p>
          <a:p>
            <a:r>
              <a:rPr lang="en-US"/>
              <a:t>important to you, and that calls will be answered in the order received. Technically, a switchboard thread places the call in a queue,</a:t>
            </a:r>
          </a:p>
          <a:p>
            <a:r>
              <a:rPr lang="en-US"/>
              <a:t>and when an operator is free to answer a call,</a:t>
            </a:r>
          </a:p>
          <a:p>
            <a:r>
              <a:rPr lang="en-US"/>
              <a:t>an operator thread removes the call from the queue and answers 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hdr" sz="quarter"/>
          </p:nvPr>
        </p:nvSpPr>
        <p:spPr>
          <a:noFill/>
        </p:spPr>
        <p:txBody>
          <a:bodyPr/>
          <a:lstStyle/>
          <a:p>
            <a:r>
              <a:rPr lang="en-US"/>
              <a:t>© 2003 Herlihy and Shavit</a:t>
            </a:r>
          </a:p>
        </p:txBody>
      </p:sp>
      <p:sp>
        <p:nvSpPr>
          <p:cNvPr id="101379" name="Rectangle 7"/>
          <p:cNvSpPr>
            <a:spLocks noGrp="1" noChangeArrowheads="1"/>
          </p:cNvSpPr>
          <p:nvPr>
            <p:ph type="sldNum" sz="quarter" idx="5"/>
          </p:nvPr>
        </p:nvSpPr>
        <p:spPr>
          <a:noFill/>
        </p:spPr>
        <p:txBody>
          <a:bodyPr/>
          <a:lstStyle/>
          <a:p>
            <a:fld id="{E1192A72-65C8-4661-96A9-F0BE2C034591}" type="slidenum">
              <a:rPr lang="ar-SA"/>
              <a:pPr/>
              <a:t>21</a:t>
            </a:fld>
            <a:endParaRPr lang="en-US"/>
          </a:p>
        </p:txBody>
      </p:sp>
      <p:sp>
        <p:nvSpPr>
          <p:cNvPr id="101380" name="Rectangle 2"/>
          <p:cNvSpPr>
            <a:spLocks noGrp="1" noRot="1" noChangeAspect="1" noChangeArrowheads="1" noTextEdit="1"/>
          </p:cNvSpPr>
          <p:nvPr>
            <p:ph type="sldImg"/>
          </p:nvPr>
        </p:nvSpPr>
        <p:spPr>
          <a:ln/>
        </p:spPr>
      </p:sp>
      <p:sp>
        <p:nvSpPr>
          <p:cNvPr id="101381" name="Rectangle 3"/>
          <p:cNvSpPr>
            <a:spLocks noGrp="1" noChangeArrowheads="1"/>
          </p:cNvSpPr>
          <p:nvPr>
            <p:ph type="body" idx="1"/>
          </p:nvPr>
        </p:nvSpPr>
        <p:spPr>
          <a:noFill/>
          <a:ln/>
        </p:spPr>
        <p:txBody>
          <a:bodyPr/>
          <a:lstStyle/>
          <a:p>
            <a:r>
              <a:rPr lang="en-US"/>
              <a:t>The expression </a:t>
            </a:r>
            <a:r>
              <a:rPr lang="en-US" b="1"/>
              <a:t>Queue&lt;T&gt;</a:t>
            </a:r>
            <a:r>
              <a:rPr lang="en-US"/>
              <a:t> indicates that the queue can hold objects of arbitrary type, denoted by 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hdr" sz="quarter"/>
          </p:nvPr>
        </p:nvSpPr>
        <p:spPr>
          <a:noFill/>
        </p:spPr>
        <p:txBody>
          <a:bodyPr/>
          <a:lstStyle/>
          <a:p>
            <a:r>
              <a:rPr lang="en-US"/>
              <a:t>© 2003 Herlihy and Shavit</a:t>
            </a:r>
          </a:p>
        </p:txBody>
      </p:sp>
      <p:sp>
        <p:nvSpPr>
          <p:cNvPr id="102403" name="Rectangle 7"/>
          <p:cNvSpPr>
            <a:spLocks noGrp="1" noChangeArrowheads="1"/>
          </p:cNvSpPr>
          <p:nvPr>
            <p:ph type="sldNum" sz="quarter" idx="5"/>
          </p:nvPr>
        </p:nvSpPr>
        <p:spPr>
          <a:noFill/>
        </p:spPr>
        <p:txBody>
          <a:bodyPr/>
          <a:lstStyle/>
          <a:p>
            <a:fld id="{9B666BB5-0D14-44EF-BCD4-40470EF55A5D}" type="slidenum">
              <a:rPr lang="ar-SA"/>
              <a:pPr/>
              <a:t>22</a:t>
            </a:fld>
            <a:endParaRPr lang="en-US"/>
          </a:p>
        </p:txBody>
      </p:sp>
      <p:sp>
        <p:nvSpPr>
          <p:cNvPr id="102404" name="Rectangle 2"/>
          <p:cNvSpPr>
            <a:spLocks noGrp="1" noRot="1" noChangeAspect="1" noChangeArrowheads="1" noTextEdit="1"/>
          </p:cNvSpPr>
          <p:nvPr>
            <p:ph type="sldImg"/>
          </p:nvPr>
        </p:nvSpPr>
        <p:spPr>
          <a:ln/>
        </p:spPr>
      </p:sp>
      <p:sp>
        <p:nvSpPr>
          <p:cNvPr id="102405" name="Rectangle 3"/>
          <p:cNvSpPr>
            <a:spLocks noGrp="1" noChangeArrowheads="1"/>
          </p:cNvSpPr>
          <p:nvPr>
            <p:ph type="body" idx="1"/>
          </p:nvPr>
        </p:nvSpPr>
        <p:spPr>
          <a:noFill/>
          <a:ln/>
        </p:spPr>
        <p:txBody>
          <a:bodyPr/>
          <a:lstStyle/>
          <a:p>
            <a:r>
              <a:rPr lang="en-US"/>
              <a:t>The expression </a:t>
            </a:r>
            <a:r>
              <a:rPr lang="en-US" b="1"/>
              <a:t>Queue&lt;T&gt;</a:t>
            </a:r>
            <a:r>
              <a:rPr lang="en-US"/>
              <a:t> indicates that the queue can hold objects of arbitrary type, denoted by 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hdr" sz="quarter"/>
          </p:nvPr>
        </p:nvSpPr>
        <p:spPr>
          <a:noFill/>
        </p:spPr>
        <p:txBody>
          <a:bodyPr/>
          <a:lstStyle/>
          <a:p>
            <a:r>
              <a:rPr lang="en-US"/>
              <a:t>© 2003 Herlihy and Shavit</a:t>
            </a:r>
          </a:p>
        </p:txBody>
      </p:sp>
      <p:sp>
        <p:nvSpPr>
          <p:cNvPr id="103427" name="Rectangle 7"/>
          <p:cNvSpPr>
            <a:spLocks noGrp="1" noChangeArrowheads="1"/>
          </p:cNvSpPr>
          <p:nvPr>
            <p:ph type="sldNum" sz="quarter" idx="5"/>
          </p:nvPr>
        </p:nvSpPr>
        <p:spPr>
          <a:noFill/>
        </p:spPr>
        <p:txBody>
          <a:bodyPr/>
          <a:lstStyle/>
          <a:p>
            <a:fld id="{6DBB0225-808F-4C1D-87E8-D1D03BB2F512}" type="slidenum">
              <a:rPr lang="ar-SA"/>
              <a:pPr/>
              <a:t>23</a:t>
            </a:fld>
            <a:endParaRPr lang="en-US"/>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a:ln/>
        </p:spPr>
        <p:txBody>
          <a:bodyPr/>
          <a:lstStyle/>
          <a:p>
            <a:r>
              <a:rPr lang="en-US"/>
              <a:t>The items are kept in an array </a:t>
            </a:r>
            <a:r>
              <a:rPr lang="en-US" b="1"/>
              <a:t>items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a:noFill/>
        </p:spPr>
        <p:txBody>
          <a:bodyPr/>
          <a:lstStyle/>
          <a:p>
            <a:r>
              <a:rPr lang="en-US"/>
              <a:t>© 2003 Herlihy and Shavit</a:t>
            </a:r>
          </a:p>
        </p:txBody>
      </p:sp>
      <p:sp>
        <p:nvSpPr>
          <p:cNvPr id="104451" name="Rectangle 7"/>
          <p:cNvSpPr>
            <a:spLocks noGrp="1" noChangeArrowheads="1"/>
          </p:cNvSpPr>
          <p:nvPr>
            <p:ph type="sldNum" sz="quarter" idx="5"/>
          </p:nvPr>
        </p:nvSpPr>
        <p:spPr>
          <a:noFill/>
        </p:spPr>
        <p:txBody>
          <a:bodyPr/>
          <a:lstStyle/>
          <a:p>
            <a:fld id="{2D5E929E-2A20-4BA9-BA3D-1EE84AB8416B}" type="slidenum">
              <a:rPr lang="ar-SA"/>
              <a:pPr/>
              <a:t>24</a:t>
            </a:fld>
            <a:endParaRPr lang="en-US"/>
          </a:p>
        </p:txBody>
      </p:sp>
      <p:sp>
        <p:nvSpPr>
          <p:cNvPr id="104452" name="Rectangle 2"/>
          <p:cNvSpPr>
            <a:spLocks noGrp="1" noRot="1" noChangeAspect="1" noChangeArrowheads="1" noTextEdit="1"/>
          </p:cNvSpPr>
          <p:nvPr>
            <p:ph type="sldImg"/>
          </p:nvPr>
        </p:nvSpPr>
        <p:spPr>
          <a:ln/>
        </p:spPr>
      </p:sp>
      <p:sp>
        <p:nvSpPr>
          <p:cNvPr id="104453" name="Rectangle 3"/>
          <p:cNvSpPr>
            <a:spLocks noGrp="1" noChangeArrowheads="1"/>
          </p:cNvSpPr>
          <p:nvPr>
            <p:ph type="body" idx="1"/>
          </p:nvPr>
        </p:nvSpPr>
        <p:spPr>
          <a:noFill/>
          <a:ln/>
        </p:spPr>
        <p:txBody>
          <a:bodyPr/>
          <a:lstStyle/>
          <a:p>
            <a:r>
              <a:rPr lang="en-US" b="1"/>
              <a:t>head</a:t>
            </a:r>
            <a:r>
              <a:rPr lang="en-US"/>
              <a:t> is the index of the next item to remove, and </a:t>
            </a:r>
            <a:r>
              <a:rPr lang="en-US" b="1"/>
              <a:t>tail</a:t>
            </a:r>
            <a:r>
              <a:rPr lang="en-US"/>
              <a:t> is the index of the next free slot in the array.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hdr" sz="quarter"/>
          </p:nvPr>
        </p:nvSpPr>
        <p:spPr>
          <a:noFill/>
        </p:spPr>
        <p:txBody>
          <a:bodyPr/>
          <a:lstStyle/>
          <a:p>
            <a:r>
              <a:rPr lang="en-US"/>
              <a:t>© 2003 Herlihy and Shavit</a:t>
            </a:r>
          </a:p>
        </p:txBody>
      </p:sp>
      <p:sp>
        <p:nvSpPr>
          <p:cNvPr id="105475" name="Rectangle 7"/>
          <p:cNvSpPr>
            <a:spLocks noGrp="1" noChangeArrowheads="1"/>
          </p:cNvSpPr>
          <p:nvPr>
            <p:ph type="sldNum" sz="quarter" idx="5"/>
          </p:nvPr>
        </p:nvSpPr>
        <p:spPr>
          <a:noFill/>
        </p:spPr>
        <p:txBody>
          <a:bodyPr/>
          <a:lstStyle/>
          <a:p>
            <a:fld id="{35E7BF9B-466A-47EB-AC21-E875BA66470F}" type="slidenum">
              <a:rPr lang="ar-SA"/>
              <a:pPr/>
              <a:t>25</a:t>
            </a:fld>
            <a:endParaRPr lang="en-US"/>
          </a:p>
        </p:txBody>
      </p:sp>
      <p:sp>
        <p:nvSpPr>
          <p:cNvPr id="105476" name="Rectangle 2"/>
          <p:cNvSpPr>
            <a:spLocks noGrp="1" noRot="1" noChangeAspect="1" noChangeArrowheads="1" noTextEdit="1"/>
          </p:cNvSpPr>
          <p:nvPr>
            <p:ph type="sldImg"/>
          </p:nvPr>
        </p:nvSpPr>
        <p:spPr>
          <a:ln/>
        </p:spPr>
      </p:sp>
      <p:sp>
        <p:nvSpPr>
          <p:cNvPr id="105477" name="Rectangle 3"/>
          <p:cNvSpPr>
            <a:spLocks noGrp="1" noChangeArrowheads="1"/>
          </p:cNvSpPr>
          <p:nvPr>
            <p:ph type="body" idx="1"/>
          </p:nvPr>
        </p:nvSpPr>
        <p:spPr>
          <a:noFill/>
          <a:ln/>
        </p:spPr>
        <p:txBody>
          <a:bodyPr/>
          <a:lstStyle/>
          <a:p>
            <a:r>
              <a:rPr lang="en-US"/>
              <a:t>The enq() method simply stores the new item in the first empty slot and advances the </a:t>
            </a:r>
            <a:r>
              <a:rPr lang="en-US" b="1"/>
              <a:t>head </a:t>
            </a:r>
            <a:r>
              <a:rPr lang="en-US"/>
              <a:t>counter.</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hdr" sz="quarter"/>
          </p:nvPr>
        </p:nvSpPr>
        <p:spPr>
          <a:noFill/>
        </p:spPr>
        <p:txBody>
          <a:bodyPr/>
          <a:lstStyle/>
          <a:p>
            <a:r>
              <a:rPr lang="en-US"/>
              <a:t>© 2003 Herlihy and Shavit</a:t>
            </a:r>
          </a:p>
        </p:txBody>
      </p:sp>
      <p:sp>
        <p:nvSpPr>
          <p:cNvPr id="106499" name="Rectangle 7"/>
          <p:cNvSpPr>
            <a:spLocks noGrp="1" noChangeArrowheads="1"/>
          </p:cNvSpPr>
          <p:nvPr>
            <p:ph type="sldNum" sz="quarter" idx="5"/>
          </p:nvPr>
        </p:nvSpPr>
        <p:spPr>
          <a:noFill/>
        </p:spPr>
        <p:txBody>
          <a:bodyPr/>
          <a:lstStyle/>
          <a:p>
            <a:fld id="{E07366E5-2CCD-45DC-9F02-DACEFAFACD9B}" type="slidenum">
              <a:rPr lang="ar-SA"/>
              <a:pPr/>
              <a:t>26</a:t>
            </a:fld>
            <a:endParaRPr lang="en-US"/>
          </a:p>
        </p:txBody>
      </p:sp>
      <p:sp>
        <p:nvSpPr>
          <p:cNvPr id="106500" name="Rectangle 2"/>
          <p:cNvSpPr>
            <a:spLocks noGrp="1" noRot="1" noChangeAspect="1" noChangeArrowheads="1" noTextEdit="1"/>
          </p:cNvSpPr>
          <p:nvPr>
            <p:ph type="sldImg"/>
          </p:nvPr>
        </p:nvSpPr>
        <p:spPr>
          <a:ln/>
        </p:spPr>
      </p:sp>
      <p:sp>
        <p:nvSpPr>
          <p:cNvPr id="106501" name="Rectangle 3"/>
          <p:cNvSpPr>
            <a:spLocks noGrp="1" noChangeArrowheads="1"/>
          </p:cNvSpPr>
          <p:nvPr>
            <p:ph type="body" idx="1"/>
          </p:nvPr>
        </p:nvSpPr>
        <p:spPr>
          <a:noFill/>
          <a:ln/>
        </p:spPr>
        <p:txBody>
          <a:bodyPr/>
          <a:lstStyle/>
          <a:p>
            <a:r>
              <a:rPr lang="en-US"/>
              <a:t>Now consider what happens if two enqueuers execute in lockstep: they both store an item in the first empty slot,a dn both advance the head counter. Here is one of many ways things can go wrong.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hdr" sz="quarter"/>
          </p:nvPr>
        </p:nvSpPr>
        <p:spPr>
          <a:noFill/>
        </p:spPr>
        <p:txBody>
          <a:bodyPr/>
          <a:lstStyle/>
          <a:p>
            <a:r>
              <a:rPr lang="en-US"/>
              <a:t>© 2003 Herlihy and Shavit</a:t>
            </a:r>
          </a:p>
        </p:txBody>
      </p:sp>
      <p:sp>
        <p:nvSpPr>
          <p:cNvPr id="107523" name="Rectangle 7"/>
          <p:cNvSpPr>
            <a:spLocks noGrp="1" noChangeArrowheads="1"/>
          </p:cNvSpPr>
          <p:nvPr>
            <p:ph type="sldNum" sz="quarter" idx="5"/>
          </p:nvPr>
        </p:nvSpPr>
        <p:spPr>
          <a:noFill/>
        </p:spPr>
        <p:txBody>
          <a:bodyPr/>
          <a:lstStyle/>
          <a:p>
            <a:fld id="{C38A2D22-F438-449D-93B8-A8485C1D39DC}" type="slidenum">
              <a:rPr lang="ar-SA"/>
              <a:pPr/>
              <a:t>27</a:t>
            </a:fld>
            <a:endParaRPr lang="en-US"/>
          </a:p>
        </p:txBody>
      </p:sp>
      <p:sp>
        <p:nvSpPr>
          <p:cNvPr id="107524" name="Rectangle 2"/>
          <p:cNvSpPr>
            <a:spLocks noGrp="1" noRot="1" noChangeAspect="1" noChangeArrowheads="1" noTextEdit="1"/>
          </p:cNvSpPr>
          <p:nvPr>
            <p:ph type="sldImg"/>
          </p:nvPr>
        </p:nvSpPr>
        <p:spPr>
          <a:ln/>
        </p:spPr>
      </p:sp>
      <p:sp>
        <p:nvSpPr>
          <p:cNvPr id="107525" name="Rectangle 3"/>
          <p:cNvSpPr>
            <a:spLocks noGrp="1" noChangeArrowheads="1"/>
          </p:cNvSpPr>
          <p:nvPr>
            <p:ph type="body" idx="1"/>
          </p:nvPr>
        </p:nvSpPr>
        <p:spPr>
          <a:noFill/>
          <a:ln/>
        </p:spPr>
        <p:txBody>
          <a:bodyPr/>
          <a:lstStyle/>
          <a:p>
            <a:r>
              <a:rPr lang="en-US"/>
              <a:t>To make this queue work correctly, we need to ensure that only one thread at a time can execute any queue method, the familiar property called </a:t>
            </a:r>
            <a:r>
              <a:rPr lang="en-US" i="1"/>
              <a:t>mutual exclusion. </a:t>
            </a:r>
            <a:r>
              <a:rPr lang="en-US"/>
              <a:t>The simplest way to ensure mutual exclusion in Java is to declare the methods to be </a:t>
            </a:r>
            <a:r>
              <a:rPr lang="en-US" b="1"/>
              <a:t>synchronized </a:t>
            </a:r>
            <a:r>
              <a:rPr lang="en-US"/>
              <a:t>: This keyword ensures that only one thread at a time can call any of these methods. For example, if two operator threads try to enqueue a call at the same time, one method call will proceed, while the other will wait for the first to finish before it proceeds. </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a:noFill/>
        </p:spPr>
        <p:txBody>
          <a:bodyPr/>
          <a:lstStyle/>
          <a:p>
            <a:r>
              <a:rPr lang="en-US"/>
              <a:t>© 2003 Herlihy and Shavit</a:t>
            </a:r>
          </a:p>
        </p:txBody>
      </p:sp>
      <p:sp>
        <p:nvSpPr>
          <p:cNvPr id="108547" name="Rectangle 7"/>
          <p:cNvSpPr>
            <a:spLocks noGrp="1" noChangeArrowheads="1"/>
          </p:cNvSpPr>
          <p:nvPr>
            <p:ph type="sldNum" sz="quarter" idx="5"/>
          </p:nvPr>
        </p:nvSpPr>
        <p:spPr>
          <a:noFill/>
        </p:spPr>
        <p:txBody>
          <a:bodyPr/>
          <a:lstStyle/>
          <a:p>
            <a:fld id="{1A70EB08-1372-46BB-BA83-C781D4F25BE5}" type="slidenum">
              <a:rPr lang="ar-SA"/>
              <a:pPr/>
              <a:t>28</a:t>
            </a:fld>
            <a:endParaRPr lang="en-US"/>
          </a:p>
        </p:txBody>
      </p:sp>
      <p:sp>
        <p:nvSpPr>
          <p:cNvPr id="108548" name="Rectangle 2"/>
          <p:cNvSpPr>
            <a:spLocks noGrp="1" noRot="1" noChangeAspect="1" noChangeArrowheads="1" noTextEdit="1"/>
          </p:cNvSpPr>
          <p:nvPr>
            <p:ph type="sldImg"/>
          </p:nvPr>
        </p:nvSpPr>
        <p:spPr>
          <a:ln/>
        </p:spPr>
      </p:sp>
      <p:sp>
        <p:nvSpPr>
          <p:cNvPr id="108549" name="Rectangle 3"/>
          <p:cNvSpPr>
            <a:spLocks noGrp="1" noChangeArrowheads="1"/>
          </p:cNvSpPr>
          <p:nvPr>
            <p:ph type="body" idx="1"/>
          </p:nvPr>
        </p:nvSpPr>
        <p:spPr>
          <a:noFill/>
          <a:ln/>
        </p:spPr>
        <p:txBody>
          <a:bodyPr/>
          <a:lstStyle/>
          <a:p>
            <a:r>
              <a:rPr lang="en-US"/>
              <a:t>When the methods are synchronized, they work.</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a:noFill/>
        </p:spPr>
        <p:txBody>
          <a:bodyPr/>
          <a:lstStyle/>
          <a:p>
            <a:r>
              <a:rPr lang="en-US"/>
              <a:t>© 2003 Herlihy and Shavit</a:t>
            </a:r>
          </a:p>
        </p:txBody>
      </p:sp>
      <p:sp>
        <p:nvSpPr>
          <p:cNvPr id="109571" name="Rectangle 7"/>
          <p:cNvSpPr>
            <a:spLocks noGrp="1" noChangeArrowheads="1"/>
          </p:cNvSpPr>
          <p:nvPr>
            <p:ph type="sldNum" sz="quarter" idx="5"/>
          </p:nvPr>
        </p:nvSpPr>
        <p:spPr>
          <a:noFill/>
        </p:spPr>
        <p:txBody>
          <a:bodyPr/>
          <a:lstStyle/>
          <a:p>
            <a:fld id="{07D426A1-559E-46A5-AC5C-E6EB9CA70328}" type="slidenum">
              <a:rPr lang="ar-SA"/>
              <a:pPr/>
              <a:t>29</a:t>
            </a:fld>
            <a:endParaRPr lang="en-US"/>
          </a:p>
        </p:txBody>
      </p:sp>
      <p:sp>
        <p:nvSpPr>
          <p:cNvPr id="109572" name="Rectangle 2"/>
          <p:cNvSpPr>
            <a:spLocks noGrp="1" noRot="1" noChangeAspect="1" noChangeArrowheads="1" noTextEdit="1"/>
          </p:cNvSpPr>
          <p:nvPr>
            <p:ph type="sldImg"/>
          </p:nvPr>
        </p:nvSpPr>
        <p:spPr>
          <a:ln/>
        </p:spPr>
      </p:sp>
      <p:sp>
        <p:nvSpPr>
          <p:cNvPr id="109573" name="Rectangle 3"/>
          <p:cNvSpPr>
            <a:spLocks noGrp="1" noChangeArrowheads="1"/>
          </p:cNvSpPr>
          <p:nvPr>
            <p:ph type="body" idx="1"/>
          </p:nvPr>
        </p:nvSpPr>
        <p:spPr>
          <a:noFill/>
          <a:ln/>
        </p:spPr>
        <p:txBody>
          <a:bodyPr/>
          <a:lstStyle/>
          <a:p>
            <a:r>
              <a:rPr lang="en-US"/>
              <a:t>This keyword ensures that only one thread at a time can call any of these methods. For example, if two operator threads try to enqueue a call at the same time, one method call will proceed, while the other will wait for the first to finish before it proceeds. </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a:noFill/>
        </p:spPr>
        <p:txBody>
          <a:bodyPr/>
          <a:lstStyle/>
          <a:p>
            <a:r>
              <a:rPr lang="en-US"/>
              <a:t>© 2003 Herlihy and Shavit</a:t>
            </a:r>
          </a:p>
        </p:txBody>
      </p:sp>
      <p:sp>
        <p:nvSpPr>
          <p:cNvPr id="110595" name="Rectangle 7"/>
          <p:cNvSpPr>
            <a:spLocks noGrp="1" noChangeArrowheads="1"/>
          </p:cNvSpPr>
          <p:nvPr>
            <p:ph type="sldNum" sz="quarter" idx="5"/>
          </p:nvPr>
        </p:nvSpPr>
        <p:spPr>
          <a:noFill/>
        </p:spPr>
        <p:txBody>
          <a:bodyPr/>
          <a:lstStyle/>
          <a:p>
            <a:fld id="{E2F892C9-14EF-4A28-832B-CD3381CA96CA}" type="slidenum">
              <a:rPr lang="ar-SA"/>
              <a:pPr/>
              <a:t>30</a:t>
            </a:fld>
            <a:endParaRPr lang="en-US"/>
          </a:p>
        </p:txBody>
      </p:sp>
      <p:sp>
        <p:nvSpPr>
          <p:cNvPr id="110596" name="Rectangle 2"/>
          <p:cNvSpPr>
            <a:spLocks noGrp="1" noRot="1" noChangeAspect="1" noChangeArrowheads="1" noTextEdit="1"/>
          </p:cNvSpPr>
          <p:nvPr>
            <p:ph type="sldImg"/>
          </p:nvPr>
        </p:nvSpPr>
        <p:spPr>
          <a:ln/>
        </p:spPr>
      </p:sp>
      <p:sp>
        <p:nvSpPr>
          <p:cNvPr id="110597" name="Rectangle 3"/>
          <p:cNvSpPr>
            <a:spLocks noGrp="1" noChangeArrowheads="1"/>
          </p:cNvSpPr>
          <p:nvPr>
            <p:ph type="body" idx="1"/>
          </p:nvPr>
        </p:nvSpPr>
        <p:spPr>
          <a:noFill/>
          <a:ln/>
        </p:spPr>
        <p:txBody>
          <a:bodyPr/>
          <a:lstStyle/>
          <a:p>
            <a:r>
              <a:rPr lang="en-US"/>
              <a:t>This keyword ensures that only one thread at a time can call any of these methods. For example, if two operator threads try to enqueue a call at the same time, one method call will proceed, while the other will wait for the first to finish before it proceeds. </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a:noFill/>
        </p:spPr>
        <p:txBody>
          <a:bodyPr/>
          <a:lstStyle/>
          <a:p>
            <a:r>
              <a:rPr lang="en-US"/>
              <a:t>© 2003 Herlihy and Shavit</a:t>
            </a:r>
          </a:p>
        </p:txBody>
      </p:sp>
      <p:sp>
        <p:nvSpPr>
          <p:cNvPr id="111619" name="Rectangle 7"/>
          <p:cNvSpPr>
            <a:spLocks noGrp="1" noChangeArrowheads="1"/>
          </p:cNvSpPr>
          <p:nvPr>
            <p:ph type="sldNum" sz="quarter" idx="5"/>
          </p:nvPr>
        </p:nvSpPr>
        <p:spPr>
          <a:noFill/>
        </p:spPr>
        <p:txBody>
          <a:bodyPr/>
          <a:lstStyle/>
          <a:p>
            <a:fld id="{12ACEA94-AC5C-4483-9147-0773F5463ADD}" type="slidenum">
              <a:rPr lang="ar-SA"/>
              <a:pPr/>
              <a:t>31</a:t>
            </a:fld>
            <a:endParaRPr lang="en-US"/>
          </a:p>
        </p:txBody>
      </p:sp>
      <p:sp>
        <p:nvSpPr>
          <p:cNvPr id="111620" name="Rectangle 2"/>
          <p:cNvSpPr>
            <a:spLocks noGrp="1" noRot="1" noChangeAspect="1" noChangeArrowheads="1" noTextEdit="1"/>
          </p:cNvSpPr>
          <p:nvPr>
            <p:ph type="sldImg"/>
          </p:nvPr>
        </p:nvSpPr>
        <p:spPr>
          <a:ln/>
        </p:spPr>
      </p:sp>
      <p:sp>
        <p:nvSpPr>
          <p:cNvPr id="111621" name="Rectangle 3"/>
          <p:cNvSpPr>
            <a:spLocks noGrp="1" noChangeArrowheads="1"/>
          </p:cNvSpPr>
          <p:nvPr>
            <p:ph type="body" idx="1"/>
          </p:nvPr>
        </p:nvSpPr>
        <p:spPr>
          <a:noFill/>
          <a:ln/>
        </p:spPr>
        <p:txBody>
          <a:bodyPr/>
          <a:lstStyle/>
          <a:p>
            <a:r>
              <a:rPr lang="en-US"/>
              <a:t>This keyword ensures that only one thread at a time can call any of these methods. For example, if two operator threads try to enqueue a call at the same time, one method call will proceed, while the other will wait for the first to finish before it proceeds.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a:noFill/>
        </p:spPr>
        <p:txBody>
          <a:bodyPr/>
          <a:lstStyle/>
          <a:p>
            <a:r>
              <a:rPr lang="en-US"/>
              <a:t>© 2003 Herlihy and Shavit</a:t>
            </a:r>
          </a:p>
        </p:txBody>
      </p:sp>
      <p:sp>
        <p:nvSpPr>
          <p:cNvPr id="112643" name="Rectangle 7"/>
          <p:cNvSpPr>
            <a:spLocks noGrp="1" noChangeArrowheads="1"/>
          </p:cNvSpPr>
          <p:nvPr>
            <p:ph type="sldNum" sz="quarter" idx="5"/>
          </p:nvPr>
        </p:nvSpPr>
        <p:spPr>
          <a:noFill/>
        </p:spPr>
        <p:txBody>
          <a:bodyPr/>
          <a:lstStyle/>
          <a:p>
            <a:fld id="{8FE27896-F37A-49F1-A66F-E0ABB47590E1}" type="slidenum">
              <a:rPr lang="ar-SA"/>
              <a:pPr/>
              <a:t>32</a:t>
            </a:fld>
            <a:endParaRPr lang="en-US"/>
          </a:p>
        </p:txBody>
      </p:sp>
      <p:sp>
        <p:nvSpPr>
          <p:cNvPr id="112644" name="Rectangle 2"/>
          <p:cNvSpPr>
            <a:spLocks noGrp="1" noRot="1" noChangeAspect="1" noChangeArrowheads="1" noTextEdit="1"/>
          </p:cNvSpPr>
          <p:nvPr>
            <p:ph type="sldImg"/>
          </p:nvPr>
        </p:nvSpPr>
        <p:spPr>
          <a:ln/>
        </p:spPr>
      </p:sp>
      <p:sp>
        <p:nvSpPr>
          <p:cNvPr id="112645" name="Rectangle 3"/>
          <p:cNvSpPr>
            <a:spLocks noGrp="1" noChangeArrowheads="1"/>
          </p:cNvSpPr>
          <p:nvPr>
            <p:ph type="body" idx="1"/>
          </p:nvPr>
        </p:nvSpPr>
        <p:spPr>
          <a:noFill/>
          <a:ln/>
        </p:spPr>
        <p:txBody>
          <a:bodyPr/>
          <a:lstStyle/>
          <a:p>
            <a:r>
              <a:rPr lang="en-US"/>
              <a:t>This keyword ensures that only one thread at a time can call any of these methods. For example, if two operator threads try to enqueue a call at the same time, one method call will proceed, while the other will wait for the first to finish before it proceeds. </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a:noFill/>
        </p:spPr>
        <p:txBody>
          <a:bodyPr/>
          <a:lstStyle/>
          <a:p>
            <a:r>
              <a:rPr lang="en-US"/>
              <a:t>© 2003 Herlihy and Shavit</a:t>
            </a:r>
          </a:p>
        </p:txBody>
      </p:sp>
      <p:sp>
        <p:nvSpPr>
          <p:cNvPr id="113667" name="Rectangle 7"/>
          <p:cNvSpPr>
            <a:spLocks noGrp="1" noChangeArrowheads="1"/>
          </p:cNvSpPr>
          <p:nvPr>
            <p:ph type="sldNum" sz="quarter" idx="5"/>
          </p:nvPr>
        </p:nvSpPr>
        <p:spPr>
          <a:noFill/>
        </p:spPr>
        <p:txBody>
          <a:bodyPr/>
          <a:lstStyle/>
          <a:p>
            <a:fld id="{AE00E7FA-DF20-40AA-B880-7F7CBA85ACBE}" type="slidenum">
              <a:rPr lang="ar-SA"/>
              <a:pPr/>
              <a:t>33</a:t>
            </a:fld>
            <a:endParaRPr lang="en-US"/>
          </a:p>
        </p:txBody>
      </p:sp>
      <p:sp>
        <p:nvSpPr>
          <p:cNvPr id="113668" name="Rectangle 2"/>
          <p:cNvSpPr>
            <a:spLocks noGrp="1" noRot="1" noChangeAspect="1" noChangeArrowheads="1" noTextEdit="1"/>
          </p:cNvSpPr>
          <p:nvPr>
            <p:ph type="sldImg"/>
          </p:nvPr>
        </p:nvSpPr>
        <p:spPr>
          <a:ln/>
        </p:spPr>
      </p:sp>
      <p:sp>
        <p:nvSpPr>
          <p:cNvPr id="113669" name="Rectangle 3"/>
          <p:cNvSpPr>
            <a:spLocks noGrp="1" noChangeArrowheads="1"/>
          </p:cNvSpPr>
          <p:nvPr>
            <p:ph type="body" idx="1"/>
          </p:nvPr>
        </p:nvSpPr>
        <p:spPr>
          <a:noFill/>
          <a:ln/>
        </p:spPr>
        <p:txBody>
          <a:bodyPr/>
          <a:lstStyle/>
          <a:p>
            <a:r>
              <a:rPr lang="en-US"/>
              <a:t>While a call to an object's </a:t>
            </a:r>
            <a:r>
              <a:rPr lang="en-US" b="1"/>
              <a:t>synchronized </a:t>
            </a:r>
            <a:r>
              <a:rPr lang="en-US"/>
              <a:t>method is in progress, no other thread can execute any synchronized method of that object, and we say that the thread has </a:t>
            </a:r>
            <a:r>
              <a:rPr lang="en-US" i="1"/>
              <a:t>locked</a:t>
            </a:r>
            <a:r>
              <a:rPr lang="en-US"/>
              <a:t> the object. In this example, a call to a queue's synchronized enq() method locks out any concurrent calls to either enq() or deq() methods for that object.</a:t>
            </a:r>
          </a:p>
          <a:p>
            <a:r>
              <a:rPr lang="en-US"/>
              <a:t>It will not block concurrent calls to another queue's synchronized methods. The code executed while locking out other threads is sometimes called a </a:t>
            </a:r>
            <a:r>
              <a:rPr lang="en-US" i="1"/>
              <a:t>critical section</a:t>
            </a:r>
            <a:r>
              <a:rPr lang="en-US"/>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hdr" sz="quarter"/>
          </p:nvPr>
        </p:nvSpPr>
        <p:spPr>
          <a:noFill/>
        </p:spPr>
        <p:txBody>
          <a:bodyPr/>
          <a:lstStyle/>
          <a:p>
            <a:r>
              <a:rPr lang="en-US"/>
              <a:t>© 2003 Herlihy and Shavit</a:t>
            </a:r>
          </a:p>
        </p:txBody>
      </p:sp>
      <p:sp>
        <p:nvSpPr>
          <p:cNvPr id="114691" name="Rectangle 7"/>
          <p:cNvSpPr>
            <a:spLocks noGrp="1" noChangeArrowheads="1"/>
          </p:cNvSpPr>
          <p:nvPr>
            <p:ph type="sldNum" sz="quarter" idx="5"/>
          </p:nvPr>
        </p:nvSpPr>
        <p:spPr>
          <a:noFill/>
        </p:spPr>
        <p:txBody>
          <a:bodyPr/>
          <a:lstStyle/>
          <a:p>
            <a:fld id="{E4321093-B6D3-4EE6-A7E3-66C3A2E6785C}" type="slidenum">
              <a:rPr lang="ar-SA"/>
              <a:pPr/>
              <a:t>34</a:t>
            </a:fld>
            <a:endParaRPr lang="en-US"/>
          </a:p>
        </p:txBody>
      </p:sp>
      <p:sp>
        <p:nvSpPr>
          <p:cNvPr id="114692" name="Rectangle 2"/>
          <p:cNvSpPr>
            <a:spLocks noGrp="1" noRot="1" noChangeAspect="1" noChangeArrowheads="1" noTextEdit="1"/>
          </p:cNvSpPr>
          <p:nvPr>
            <p:ph type="sldImg"/>
          </p:nvPr>
        </p:nvSpPr>
        <p:spPr>
          <a:ln/>
        </p:spPr>
      </p:sp>
      <p:sp>
        <p:nvSpPr>
          <p:cNvPr id="114693" name="Rectangle 3"/>
          <p:cNvSpPr>
            <a:spLocks noGrp="1" noChangeArrowheads="1"/>
          </p:cNvSpPr>
          <p:nvPr>
            <p:ph type="body" idx="1"/>
          </p:nvPr>
        </p:nvSpPr>
        <p:spPr>
          <a:noFill/>
          <a:ln/>
        </p:spPr>
        <p:txBody>
          <a:bodyPr/>
          <a:lstStyle/>
          <a:p>
            <a:r>
              <a:rPr lang="en-US"/>
              <a:t>One interesting detail is what happens if you call a synchronized method recursively, locking the object more than once? You don’t deadlock. Instead, the run-time system counts the number of times you have locked and unlocked the object, and the object is actually unlocked only when these counts balance out.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a:noFill/>
        </p:spPr>
        <p:txBody>
          <a:bodyPr/>
          <a:lstStyle/>
          <a:p>
            <a:r>
              <a:rPr lang="en-US"/>
              <a:t>© 2003 Herlihy and Shavit</a:t>
            </a:r>
          </a:p>
        </p:txBody>
      </p:sp>
      <p:sp>
        <p:nvSpPr>
          <p:cNvPr id="115715" name="Rectangle 7"/>
          <p:cNvSpPr>
            <a:spLocks noGrp="1" noChangeArrowheads="1"/>
          </p:cNvSpPr>
          <p:nvPr>
            <p:ph type="sldNum" sz="quarter" idx="5"/>
          </p:nvPr>
        </p:nvSpPr>
        <p:spPr>
          <a:noFill/>
        </p:spPr>
        <p:txBody>
          <a:bodyPr/>
          <a:lstStyle/>
          <a:p>
            <a:fld id="{3861ACD5-C313-4B7F-B50A-C22F0E9B3CA1}" type="slidenum">
              <a:rPr lang="ar-SA"/>
              <a:pPr/>
              <a:t>35</a:t>
            </a:fld>
            <a:endParaRPr lang="en-US"/>
          </a:p>
        </p:txBody>
      </p:sp>
      <p:sp>
        <p:nvSpPr>
          <p:cNvPr id="115716" name="Rectangle 2"/>
          <p:cNvSpPr>
            <a:spLocks noGrp="1" noRot="1" noChangeAspect="1" noChangeArrowheads="1" noTextEdit="1"/>
          </p:cNvSpPr>
          <p:nvPr>
            <p:ph type="sldImg"/>
          </p:nvPr>
        </p:nvSpPr>
        <p:spPr>
          <a:ln/>
        </p:spPr>
      </p:sp>
      <p:sp>
        <p:nvSpPr>
          <p:cNvPr id="115717" name="Rectangle 3"/>
          <p:cNvSpPr>
            <a:spLocks noGrp="1" noChangeArrowheads="1"/>
          </p:cNvSpPr>
          <p:nvPr>
            <p:ph type="body" idx="1"/>
          </p:nvPr>
        </p:nvSpPr>
        <p:spPr>
          <a:noFill/>
          <a:ln/>
        </p:spPr>
        <p:txBody>
          <a:bodyPr/>
          <a:lstStyle/>
          <a:p>
            <a:r>
              <a:rPr lang="en-US"/>
              <a:t>There is more to synchronization than mutual exclusion. What should a thread do if it tries to enqueue a call, but the array is full? What if an operator tries to dequeue a call, but the queue is empty?</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a:noFill/>
        </p:spPr>
        <p:txBody>
          <a:bodyPr/>
          <a:lstStyle/>
          <a:p>
            <a:r>
              <a:rPr lang="en-US"/>
              <a:t>© 2003 Herlihy and Shavit</a:t>
            </a:r>
          </a:p>
        </p:txBody>
      </p:sp>
      <p:sp>
        <p:nvSpPr>
          <p:cNvPr id="116739" name="Rectangle 7"/>
          <p:cNvSpPr>
            <a:spLocks noGrp="1" noChangeArrowheads="1"/>
          </p:cNvSpPr>
          <p:nvPr>
            <p:ph type="sldNum" sz="quarter" idx="5"/>
          </p:nvPr>
        </p:nvSpPr>
        <p:spPr>
          <a:noFill/>
        </p:spPr>
        <p:txBody>
          <a:bodyPr/>
          <a:lstStyle/>
          <a:p>
            <a:fld id="{4D2364A7-6AA3-4004-A8BA-5306224EF595}" type="slidenum">
              <a:rPr lang="ar-SA"/>
              <a:pPr/>
              <a:t>36</a:t>
            </a:fld>
            <a:endParaRPr lang="en-US"/>
          </a:p>
        </p:txBody>
      </p:sp>
      <p:sp>
        <p:nvSpPr>
          <p:cNvPr id="116740" name="Rectangle 2"/>
          <p:cNvSpPr>
            <a:spLocks noGrp="1" noRot="1" noChangeAspect="1" noChangeArrowheads="1" noTextEdit="1"/>
          </p:cNvSpPr>
          <p:nvPr>
            <p:ph type="sldImg"/>
          </p:nvPr>
        </p:nvSpPr>
        <p:spPr>
          <a:ln/>
        </p:spPr>
      </p:sp>
      <p:sp>
        <p:nvSpPr>
          <p:cNvPr id="116741" name="Rectangle 3"/>
          <p:cNvSpPr>
            <a:spLocks noGrp="1" noChangeArrowheads="1"/>
          </p:cNvSpPr>
          <p:nvPr>
            <p:ph type="body" idx="1"/>
          </p:nvPr>
        </p:nvSpPr>
        <p:spPr>
          <a:noFill/>
          <a:ln/>
        </p:spPr>
        <p:txBody>
          <a:bodyPr/>
          <a:lstStyle/>
          <a:p>
            <a:r>
              <a:rPr lang="en-US"/>
              <a:t>There is more to synchronization than mutual exclusion. What should a thread do if it tries to enqueue a call, but the array is full? What if an operator tries to dequeue a call, but the queue is empty?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a:noFill/>
        </p:spPr>
        <p:txBody>
          <a:bodyPr/>
          <a:lstStyle/>
          <a:p>
            <a:r>
              <a:rPr lang="en-US"/>
              <a:t>© 2003 Herlihy and Shavit</a:t>
            </a:r>
          </a:p>
        </p:txBody>
      </p:sp>
      <p:sp>
        <p:nvSpPr>
          <p:cNvPr id="117763" name="Rectangle 7"/>
          <p:cNvSpPr>
            <a:spLocks noGrp="1" noChangeArrowheads="1"/>
          </p:cNvSpPr>
          <p:nvPr>
            <p:ph type="sldNum" sz="quarter" idx="5"/>
          </p:nvPr>
        </p:nvSpPr>
        <p:spPr>
          <a:noFill/>
        </p:spPr>
        <p:txBody>
          <a:bodyPr/>
          <a:lstStyle/>
          <a:p>
            <a:fld id="{66D50E68-75A5-4062-A526-5E4EFBEBDE48}" type="slidenum">
              <a:rPr lang="ar-SA"/>
              <a:pPr/>
              <a:t>37</a:t>
            </a:fld>
            <a:endParaRPr lang="en-US"/>
          </a:p>
        </p:txBody>
      </p:sp>
      <p:sp>
        <p:nvSpPr>
          <p:cNvPr id="117764" name="Rectangle 2"/>
          <p:cNvSpPr>
            <a:spLocks noGrp="1" noRot="1" noChangeAspect="1" noChangeArrowheads="1" noTextEdit="1"/>
          </p:cNvSpPr>
          <p:nvPr>
            <p:ph type="sldImg"/>
          </p:nvPr>
        </p:nvSpPr>
        <p:spPr>
          <a:ln/>
        </p:spPr>
      </p:sp>
      <p:sp>
        <p:nvSpPr>
          <p:cNvPr id="117765" name="Rectangle 3"/>
          <p:cNvSpPr>
            <a:spLocks noGrp="1" noChangeArrowheads="1"/>
          </p:cNvSpPr>
          <p:nvPr>
            <p:ph type="body" idx="1"/>
          </p:nvPr>
        </p:nvSpPr>
        <p:spPr>
          <a:noFill/>
          <a:ln/>
        </p:spPr>
        <p:txBody>
          <a:bodyPr/>
          <a:lstStyle/>
          <a:p>
            <a:r>
              <a:rPr lang="en-US"/>
              <a:t>It might throw an exception or return  null, but what could the operator thread do then, other than retry the call? Instead, it makes sense for the operator thread to </a:t>
            </a:r>
            <a:r>
              <a:rPr lang="en-US" i="1"/>
              <a:t>wait</a:t>
            </a:r>
            <a:r>
              <a:rPr lang="en-US"/>
              <a:t> for a call to appear.</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hdr" sz="quarter"/>
          </p:nvPr>
        </p:nvSpPr>
        <p:spPr>
          <a:noFill/>
        </p:spPr>
        <p:txBody>
          <a:bodyPr/>
          <a:lstStyle/>
          <a:p>
            <a:r>
              <a:rPr lang="en-US"/>
              <a:t>© 2003 Herlihy and Shavit</a:t>
            </a:r>
          </a:p>
        </p:txBody>
      </p:sp>
      <p:sp>
        <p:nvSpPr>
          <p:cNvPr id="118787" name="Rectangle 7"/>
          <p:cNvSpPr>
            <a:spLocks noGrp="1" noChangeArrowheads="1"/>
          </p:cNvSpPr>
          <p:nvPr>
            <p:ph type="sldNum" sz="quarter" idx="5"/>
          </p:nvPr>
        </p:nvSpPr>
        <p:spPr>
          <a:noFill/>
        </p:spPr>
        <p:txBody>
          <a:bodyPr/>
          <a:lstStyle/>
          <a:p>
            <a:fld id="{C92B1D16-6331-4F28-8E79-0B94991482E7}" type="slidenum">
              <a:rPr lang="ar-SA"/>
              <a:pPr/>
              <a:t>38</a:t>
            </a:fld>
            <a:endParaRPr lang="en-US"/>
          </a:p>
        </p:txBody>
      </p:sp>
      <p:sp>
        <p:nvSpPr>
          <p:cNvPr id="118788" name="Rectangle 2"/>
          <p:cNvSpPr>
            <a:spLocks noGrp="1" noRot="1" noChangeAspect="1" noChangeArrowheads="1" noTextEdit="1"/>
          </p:cNvSpPr>
          <p:nvPr>
            <p:ph type="sldImg"/>
          </p:nvPr>
        </p:nvSpPr>
        <p:spPr>
          <a:ln/>
        </p:spPr>
      </p:sp>
      <p:sp>
        <p:nvSpPr>
          <p:cNvPr id="118789" name="Rectangle 3"/>
          <p:cNvSpPr>
            <a:spLocks noGrp="1" noChangeArrowheads="1"/>
          </p:cNvSpPr>
          <p:nvPr>
            <p:ph type="body" idx="1"/>
          </p:nvPr>
        </p:nvSpPr>
        <p:spPr>
          <a:noFill/>
          <a:ln/>
        </p:spPr>
        <p:txBody>
          <a:bodyPr/>
          <a:lstStyle/>
          <a:p>
            <a:r>
              <a:rPr lang="en-US"/>
              <a:t>Here is a first attempt at a solution. This solution is not just wrong, it is disastrously wrong. The dequeuing thread is waiting inside a synchronized method, locking out every other thread, including any thread that might be trying to enqueue a call. This situation is called a </a:t>
            </a:r>
            <a:r>
              <a:rPr lang="en-US" i="1"/>
              <a:t>deadlock</a:t>
            </a:r>
            <a:r>
              <a:rPr lang="en-US"/>
              <a:t>: the dequeuing thread is waiting for an enqueuing thread to place a call in the queue while the enqueuing thread is waiting for the dequeuing to unlock the object. Nothing will ever happen. </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hdr" sz="quarter"/>
          </p:nvPr>
        </p:nvSpPr>
        <p:spPr>
          <a:noFill/>
        </p:spPr>
        <p:txBody>
          <a:bodyPr/>
          <a:lstStyle/>
          <a:p>
            <a:r>
              <a:rPr lang="en-US"/>
              <a:t>© 2003 Herlihy and Shavit</a:t>
            </a:r>
          </a:p>
        </p:txBody>
      </p:sp>
      <p:sp>
        <p:nvSpPr>
          <p:cNvPr id="119811" name="Rectangle 7"/>
          <p:cNvSpPr>
            <a:spLocks noGrp="1" noChangeArrowheads="1"/>
          </p:cNvSpPr>
          <p:nvPr>
            <p:ph type="sldNum" sz="quarter" idx="5"/>
          </p:nvPr>
        </p:nvSpPr>
        <p:spPr>
          <a:noFill/>
        </p:spPr>
        <p:txBody>
          <a:bodyPr/>
          <a:lstStyle/>
          <a:p>
            <a:fld id="{75C080FA-6FBB-4C59-ACE9-4F04289637CF}" type="slidenum">
              <a:rPr lang="ar-SA"/>
              <a:pPr/>
              <a:t>39</a:t>
            </a:fld>
            <a:endParaRPr lang="en-US"/>
          </a:p>
        </p:txBody>
      </p:sp>
      <p:sp>
        <p:nvSpPr>
          <p:cNvPr id="119812" name="Rectangle 2"/>
          <p:cNvSpPr>
            <a:spLocks noGrp="1" noRot="1" noChangeAspect="1" noChangeArrowheads="1" noTextEdit="1"/>
          </p:cNvSpPr>
          <p:nvPr>
            <p:ph type="sldImg"/>
          </p:nvPr>
        </p:nvSpPr>
        <p:spPr>
          <a:ln/>
        </p:spPr>
      </p:sp>
      <p:sp>
        <p:nvSpPr>
          <p:cNvPr id="119813" name="Rectangle 3"/>
          <p:cNvSpPr>
            <a:spLocks noGrp="1" noChangeArrowheads="1"/>
          </p:cNvSpPr>
          <p:nvPr>
            <p:ph type="body" idx="1"/>
          </p:nvPr>
        </p:nvSpPr>
        <p:spPr>
          <a:noFill/>
          <a:ln/>
        </p:spPr>
        <p:txBody>
          <a:bodyPr/>
          <a:lstStyle/>
          <a:p>
            <a:r>
              <a:rPr lang="en-US"/>
              <a:t>Here is a first attempt at a solution. This solution is not just wrong, it is disastrously wrong. The dequeuing thread is waiting inside a synchronized method, locking out every other thread, including any thread that might be trying to enqueue a call. This situation is called a </a:t>
            </a:r>
            <a:r>
              <a:rPr lang="en-US" i="1"/>
              <a:t>deadlock</a:t>
            </a:r>
            <a:r>
              <a:rPr lang="en-US"/>
              <a:t>: the dequeuing thread is waiting for an enqueuing thread to place a call in the queue while the enqueuing thread is waiting for the dequeuing to unlock the object. Nothing will ever happen. </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a:noFill/>
        </p:spPr>
        <p:txBody>
          <a:bodyPr/>
          <a:lstStyle/>
          <a:p>
            <a:r>
              <a:rPr lang="en-US"/>
              <a:t>© 2003 Herlihy and Shavit</a:t>
            </a:r>
          </a:p>
        </p:txBody>
      </p:sp>
      <p:sp>
        <p:nvSpPr>
          <p:cNvPr id="120835" name="Rectangle 7"/>
          <p:cNvSpPr>
            <a:spLocks noGrp="1" noChangeArrowheads="1"/>
          </p:cNvSpPr>
          <p:nvPr>
            <p:ph type="sldNum" sz="quarter" idx="5"/>
          </p:nvPr>
        </p:nvSpPr>
        <p:spPr>
          <a:noFill/>
        </p:spPr>
        <p:txBody>
          <a:bodyPr/>
          <a:lstStyle/>
          <a:p>
            <a:fld id="{8E57AC4B-993A-4EFE-8678-61DC437FC82E}" type="slidenum">
              <a:rPr lang="ar-SA"/>
              <a:pPr/>
              <a:t>40</a:t>
            </a:fld>
            <a:endParaRPr lang="en-US"/>
          </a:p>
        </p:txBody>
      </p:sp>
      <p:sp>
        <p:nvSpPr>
          <p:cNvPr id="120836" name="Rectangle 2"/>
          <p:cNvSpPr>
            <a:spLocks noGrp="1" noRot="1" noChangeAspect="1" noChangeArrowheads="1" noTextEdit="1"/>
          </p:cNvSpPr>
          <p:nvPr>
            <p:ph type="sldImg"/>
          </p:nvPr>
        </p:nvSpPr>
        <p:spPr>
          <a:ln/>
        </p:spPr>
      </p:sp>
      <p:sp>
        <p:nvSpPr>
          <p:cNvPr id="12083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a:noFill/>
        </p:spPr>
        <p:txBody>
          <a:bodyPr/>
          <a:lstStyle/>
          <a:p>
            <a:r>
              <a:rPr lang="en-US"/>
              <a:t>© 2003 Herlihy and Shavit</a:t>
            </a:r>
          </a:p>
        </p:txBody>
      </p:sp>
      <p:sp>
        <p:nvSpPr>
          <p:cNvPr id="121859" name="Rectangle 7"/>
          <p:cNvSpPr>
            <a:spLocks noGrp="1" noChangeArrowheads="1"/>
          </p:cNvSpPr>
          <p:nvPr>
            <p:ph type="sldNum" sz="quarter" idx="5"/>
          </p:nvPr>
        </p:nvSpPr>
        <p:spPr>
          <a:noFill/>
        </p:spPr>
        <p:txBody>
          <a:bodyPr/>
          <a:lstStyle/>
          <a:p>
            <a:fld id="{3D95F36B-7864-44EA-AB91-02C2801BE03D}" type="slidenum">
              <a:rPr lang="ar-SA"/>
              <a:pPr/>
              <a:t>41</a:t>
            </a:fld>
            <a:endParaRPr lang="en-US"/>
          </a:p>
        </p:txBody>
      </p:sp>
      <p:sp>
        <p:nvSpPr>
          <p:cNvPr id="121860" name="Rectangle 2"/>
          <p:cNvSpPr>
            <a:spLocks noGrp="1" noRot="1" noChangeAspect="1" noChangeArrowheads="1" noTextEdit="1"/>
          </p:cNvSpPr>
          <p:nvPr>
            <p:ph type="sldImg"/>
          </p:nvPr>
        </p:nvSpPr>
        <p:spPr>
          <a:ln/>
        </p:spPr>
      </p:sp>
      <p:sp>
        <p:nvSpPr>
          <p:cNvPr id="121861" name="Rectangle 3"/>
          <p:cNvSpPr>
            <a:spLocks noGrp="1" noChangeArrowheads="1"/>
          </p:cNvSpPr>
          <p:nvPr>
            <p:ph type="body" idx="1"/>
          </p:nvPr>
        </p:nvSpPr>
        <p:spPr>
          <a:noFill/>
          <a:ln/>
        </p:spPr>
        <p:txBody>
          <a:bodyPr/>
          <a:lstStyle/>
          <a:p>
            <a:r>
              <a:rPr lang="en-US"/>
              <a:t>Clearly, if a thread executing a synchronized method needs to wait for something to happen, then it must unlock the object while it waits. The thread can periodically reacquire the lock, and test whether the suspended method call can proced. If not, the thread rereleases the lock and goes back to waiting.  </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a:noFill/>
        </p:spPr>
        <p:txBody>
          <a:bodyPr/>
          <a:lstStyle/>
          <a:p>
            <a:r>
              <a:rPr lang="en-US"/>
              <a:t>© 2003 Herlihy and Shavit</a:t>
            </a:r>
          </a:p>
        </p:txBody>
      </p:sp>
      <p:sp>
        <p:nvSpPr>
          <p:cNvPr id="122883" name="Rectangle 7"/>
          <p:cNvSpPr>
            <a:spLocks noGrp="1" noChangeArrowheads="1"/>
          </p:cNvSpPr>
          <p:nvPr>
            <p:ph type="sldNum" sz="quarter" idx="5"/>
          </p:nvPr>
        </p:nvSpPr>
        <p:spPr>
          <a:noFill/>
        </p:spPr>
        <p:txBody>
          <a:bodyPr/>
          <a:lstStyle/>
          <a:p>
            <a:fld id="{66A5AF75-937A-4BA4-A8EF-E912CDEF9233}" type="slidenum">
              <a:rPr lang="ar-SA"/>
              <a:pPr/>
              <a:t>42</a:t>
            </a:fld>
            <a:endParaRPr lang="en-US"/>
          </a:p>
        </p:txBody>
      </p:sp>
      <p:sp>
        <p:nvSpPr>
          <p:cNvPr id="122884" name="Rectangle 2"/>
          <p:cNvSpPr>
            <a:spLocks noGrp="1" noRot="1" noChangeAspect="1" noChangeArrowheads="1" noTextEdit="1"/>
          </p:cNvSpPr>
          <p:nvPr>
            <p:ph type="sldImg"/>
          </p:nvPr>
        </p:nvSpPr>
        <p:spPr>
          <a:ln/>
        </p:spPr>
      </p:sp>
      <p:sp>
        <p:nvSpPr>
          <p:cNvPr id="122885" name="Rectangle 3"/>
          <p:cNvSpPr>
            <a:spLocks noGrp="1" noChangeArrowheads="1"/>
          </p:cNvSpPr>
          <p:nvPr>
            <p:ph type="body" idx="1"/>
          </p:nvPr>
        </p:nvSpPr>
        <p:spPr>
          <a:noFill/>
          <a:ln/>
        </p:spPr>
        <p:txBody>
          <a:bodyPr/>
          <a:lstStyle/>
          <a:p>
            <a:r>
              <a:rPr lang="en-US"/>
              <a:t>Any time a thread waits for something to happen, it can either </a:t>
            </a:r>
            <a:r>
              <a:rPr lang="en-US" i="1"/>
              <a:t>spin</a:t>
            </a:r>
            <a:r>
              <a:rPr lang="en-US"/>
              <a:t>, repeatedly retesting the condition, or it can </a:t>
            </a:r>
            <a:r>
              <a:rPr lang="en-US" i="1"/>
              <a:t>block</a:t>
            </a:r>
            <a:r>
              <a:rPr lang="en-US"/>
              <a:t>, giving up the processor for a while to allow another thread to run.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hdr" sz="quarter"/>
          </p:nvPr>
        </p:nvSpPr>
        <p:spPr>
          <a:noFill/>
        </p:spPr>
        <p:txBody>
          <a:bodyPr/>
          <a:lstStyle/>
          <a:p>
            <a:r>
              <a:rPr lang="en-US"/>
              <a:t>© 2003 Herlihy and Shavit</a:t>
            </a:r>
          </a:p>
        </p:txBody>
      </p:sp>
      <p:sp>
        <p:nvSpPr>
          <p:cNvPr id="123907" name="Rectangle 7"/>
          <p:cNvSpPr>
            <a:spLocks noGrp="1" noChangeArrowheads="1"/>
          </p:cNvSpPr>
          <p:nvPr>
            <p:ph type="sldNum" sz="quarter" idx="5"/>
          </p:nvPr>
        </p:nvSpPr>
        <p:spPr>
          <a:noFill/>
        </p:spPr>
        <p:txBody>
          <a:bodyPr/>
          <a:lstStyle/>
          <a:p>
            <a:fld id="{0F13B804-8C3D-4975-A12B-0A9F7AB5F862}" type="slidenum">
              <a:rPr lang="ar-SA"/>
              <a:pPr/>
              <a:t>43</a:t>
            </a:fld>
            <a:endParaRPr lang="en-US"/>
          </a:p>
        </p:txBody>
      </p:sp>
      <p:sp>
        <p:nvSpPr>
          <p:cNvPr id="123908" name="Rectangle 2"/>
          <p:cNvSpPr>
            <a:spLocks noGrp="1" noRot="1" noChangeAspect="1" noChangeArrowheads="1" noTextEdit="1"/>
          </p:cNvSpPr>
          <p:nvPr>
            <p:ph type="sldImg"/>
          </p:nvPr>
        </p:nvSpPr>
        <p:spPr>
          <a:ln/>
        </p:spPr>
      </p:sp>
      <p:sp>
        <p:nvSpPr>
          <p:cNvPr id="123909" name="Rectangle 3"/>
          <p:cNvSpPr>
            <a:spLocks noGrp="1" noChangeArrowheads="1"/>
          </p:cNvSpPr>
          <p:nvPr>
            <p:ph type="body" idx="1"/>
          </p:nvPr>
        </p:nvSpPr>
        <p:spPr>
          <a:noFill/>
          <a:ln/>
        </p:spPr>
        <p:txBody>
          <a:bodyPr/>
          <a:lstStyle/>
          <a:p>
            <a:r>
              <a:rPr lang="en-US"/>
              <a:t>Each approach has advantages and disadvantages. Spinning makes sense if we expect to wait for a very short time, because blocking a thread requires an expensive call to the operating system. Blocking makes sense if we expect to wait for a longer time, because a spinning thread consumes processor time without doing any work, You should never, ever spin on a uniprocessor.</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hdr" sz="quarter"/>
          </p:nvPr>
        </p:nvSpPr>
        <p:spPr>
          <a:noFill/>
        </p:spPr>
        <p:txBody>
          <a:bodyPr/>
          <a:lstStyle/>
          <a:p>
            <a:r>
              <a:rPr lang="en-US"/>
              <a:t>© 2003 Herlihy and Shavit</a:t>
            </a:r>
          </a:p>
        </p:txBody>
      </p:sp>
      <p:sp>
        <p:nvSpPr>
          <p:cNvPr id="124931" name="Rectangle 7"/>
          <p:cNvSpPr>
            <a:spLocks noGrp="1" noChangeArrowheads="1"/>
          </p:cNvSpPr>
          <p:nvPr>
            <p:ph type="sldNum" sz="quarter" idx="5"/>
          </p:nvPr>
        </p:nvSpPr>
        <p:spPr>
          <a:noFill/>
        </p:spPr>
        <p:txBody>
          <a:bodyPr/>
          <a:lstStyle/>
          <a:p>
            <a:fld id="{6CB62439-01CB-4F45-88E9-0EE0DF5AB7A7}" type="slidenum">
              <a:rPr lang="ar-SA"/>
              <a:pPr/>
              <a:t>44</a:t>
            </a:fld>
            <a:endParaRPr lang="en-US"/>
          </a:p>
        </p:txBody>
      </p:sp>
      <p:sp>
        <p:nvSpPr>
          <p:cNvPr id="124932" name="Rectangle 2"/>
          <p:cNvSpPr>
            <a:spLocks noGrp="1" noRot="1" noChangeAspect="1" noChangeArrowheads="1" noTextEdit="1"/>
          </p:cNvSpPr>
          <p:nvPr>
            <p:ph type="sldImg"/>
          </p:nvPr>
        </p:nvSpPr>
        <p:spPr>
          <a:ln/>
        </p:spPr>
      </p:sp>
      <p:sp>
        <p:nvSpPr>
          <p:cNvPr id="124933" name="Rectangle 3"/>
          <p:cNvSpPr>
            <a:spLocks noGrp="1" noChangeArrowheads="1"/>
          </p:cNvSpPr>
          <p:nvPr>
            <p:ph type="body" idx="1"/>
          </p:nvPr>
        </p:nvSpPr>
        <p:spPr>
          <a:noFill/>
          <a:ln/>
        </p:spPr>
        <p:txBody>
          <a:bodyPr/>
          <a:lstStyle/>
          <a:p>
            <a:r>
              <a:rPr lang="en-US"/>
              <a:t>In Java, every object provides a </a:t>
            </a:r>
            <a:r>
              <a:rPr lang="en-US" b="1"/>
              <a:t>wait() </a:t>
            </a:r>
            <a:r>
              <a:rPr lang="en-US"/>
              <a:t>method that unlocks the object and suspends the caller for a while. While the caller is waiting, another thread can lock and change the object. Later, when the suspended thread resumes, it locks the object again before it returns from the </a:t>
            </a:r>
            <a:r>
              <a:rPr lang="en-US" b="1"/>
              <a:t>wait()</a:t>
            </a:r>
            <a:r>
              <a:rPr lang="en-US"/>
              <a:t> call.</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hdr" sz="quarter"/>
          </p:nvPr>
        </p:nvSpPr>
        <p:spPr>
          <a:noFill/>
        </p:spPr>
        <p:txBody>
          <a:bodyPr/>
          <a:lstStyle/>
          <a:p>
            <a:r>
              <a:rPr lang="en-US"/>
              <a:t>© 2003 Herlihy and Shavit</a:t>
            </a:r>
          </a:p>
        </p:txBody>
      </p:sp>
      <p:sp>
        <p:nvSpPr>
          <p:cNvPr id="125955" name="Rectangle 7"/>
          <p:cNvSpPr>
            <a:spLocks noGrp="1" noChangeArrowheads="1"/>
          </p:cNvSpPr>
          <p:nvPr>
            <p:ph type="sldNum" sz="quarter" idx="5"/>
          </p:nvPr>
        </p:nvSpPr>
        <p:spPr>
          <a:noFill/>
        </p:spPr>
        <p:txBody>
          <a:bodyPr/>
          <a:lstStyle/>
          <a:p>
            <a:fld id="{5E9D0874-611B-44F4-8FC2-EADD808D9E52}" type="slidenum">
              <a:rPr lang="ar-SA"/>
              <a:pPr/>
              <a:t>45</a:t>
            </a:fld>
            <a:endParaRPr lang="en-US"/>
          </a:p>
        </p:txBody>
      </p:sp>
      <p:sp>
        <p:nvSpPr>
          <p:cNvPr id="125956" name="Rectangle 2"/>
          <p:cNvSpPr>
            <a:spLocks noGrp="1" noRot="1" noChangeAspect="1" noChangeArrowheads="1" noTextEdit="1"/>
          </p:cNvSpPr>
          <p:nvPr>
            <p:ph type="sldImg"/>
          </p:nvPr>
        </p:nvSpPr>
        <p:spPr>
          <a:ln/>
        </p:spPr>
      </p:sp>
      <p:sp>
        <p:nvSpPr>
          <p:cNvPr id="12595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hdr" sz="quarter"/>
          </p:nvPr>
        </p:nvSpPr>
        <p:spPr>
          <a:noFill/>
        </p:spPr>
        <p:txBody>
          <a:bodyPr/>
          <a:lstStyle/>
          <a:p>
            <a:r>
              <a:rPr lang="en-US"/>
              <a:t>© 2003 Herlihy and Shavit</a:t>
            </a:r>
          </a:p>
        </p:txBody>
      </p:sp>
      <p:sp>
        <p:nvSpPr>
          <p:cNvPr id="126979" name="Rectangle 7"/>
          <p:cNvSpPr>
            <a:spLocks noGrp="1" noChangeArrowheads="1"/>
          </p:cNvSpPr>
          <p:nvPr>
            <p:ph type="sldNum" sz="quarter" idx="5"/>
          </p:nvPr>
        </p:nvSpPr>
        <p:spPr>
          <a:noFill/>
        </p:spPr>
        <p:txBody>
          <a:bodyPr/>
          <a:lstStyle/>
          <a:p>
            <a:fld id="{035FF82B-1A44-49B8-A079-63486234BB9F}" type="slidenum">
              <a:rPr lang="ar-SA"/>
              <a:pPr/>
              <a:t>46</a:t>
            </a:fld>
            <a:endParaRPr lang="en-US"/>
          </a:p>
        </p:txBody>
      </p:sp>
      <p:sp>
        <p:nvSpPr>
          <p:cNvPr id="126980" name="Rectangle 2"/>
          <p:cNvSpPr>
            <a:spLocks noGrp="1" noRot="1" noChangeAspect="1" noChangeArrowheads="1" noTextEdit="1"/>
          </p:cNvSpPr>
          <p:nvPr>
            <p:ph type="sldImg"/>
          </p:nvPr>
        </p:nvSpPr>
        <p:spPr>
          <a:ln/>
        </p:spPr>
      </p:sp>
      <p:sp>
        <p:nvSpPr>
          <p:cNvPr id="126981" name="Rectangle 3"/>
          <p:cNvSpPr>
            <a:spLocks noGrp="1" noChangeArrowheads="1"/>
          </p:cNvSpPr>
          <p:nvPr>
            <p:ph type="body" idx="1"/>
          </p:nvPr>
        </p:nvSpPr>
        <p:spPr>
          <a:noFill/>
          <a:ln/>
        </p:spPr>
        <p:txBody>
          <a:bodyPr/>
          <a:lstStyle/>
          <a:p>
            <a:r>
              <a:rPr lang="en-US"/>
              <a:t>The </a:t>
            </a:r>
            <a:r>
              <a:rPr lang="en-US" b="1"/>
              <a:t>wait() </a:t>
            </a:r>
            <a:r>
              <a:rPr lang="en-US"/>
              <a:t>method unlocks the object and suspends the caller for a while. While the caller is waiting, another thread can lock and change the object. Later, when the suspended thread resumes, it locks the object again before it returns from the </a:t>
            </a:r>
            <a:r>
              <a:rPr lang="en-US" b="1"/>
              <a:t>wait()</a:t>
            </a:r>
            <a:r>
              <a:rPr lang="en-US"/>
              <a:t> call.</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a:noFill/>
        </p:spPr>
        <p:txBody>
          <a:bodyPr/>
          <a:lstStyle/>
          <a:p>
            <a:r>
              <a:rPr lang="en-US"/>
              <a:t>© 2003 Herlihy and Shavit</a:t>
            </a:r>
          </a:p>
        </p:txBody>
      </p:sp>
      <p:sp>
        <p:nvSpPr>
          <p:cNvPr id="128003" name="Rectangle 7"/>
          <p:cNvSpPr>
            <a:spLocks noGrp="1" noChangeArrowheads="1"/>
          </p:cNvSpPr>
          <p:nvPr>
            <p:ph type="sldNum" sz="quarter" idx="5"/>
          </p:nvPr>
        </p:nvSpPr>
        <p:spPr>
          <a:noFill/>
        </p:spPr>
        <p:txBody>
          <a:bodyPr/>
          <a:lstStyle/>
          <a:p>
            <a:fld id="{C20E0F88-E019-46A7-A2C2-AFCD685DB886}" type="slidenum">
              <a:rPr lang="ar-SA"/>
              <a:pPr/>
              <a:t>47</a:t>
            </a:fld>
            <a:endParaRPr lang="en-US"/>
          </a:p>
        </p:txBody>
      </p:sp>
      <p:sp>
        <p:nvSpPr>
          <p:cNvPr id="128004" name="Rectangle 2"/>
          <p:cNvSpPr>
            <a:spLocks noGrp="1" noRot="1" noChangeAspect="1" noChangeArrowheads="1" noTextEdit="1"/>
          </p:cNvSpPr>
          <p:nvPr>
            <p:ph type="sldImg"/>
          </p:nvPr>
        </p:nvSpPr>
        <p:spPr>
          <a:ln/>
        </p:spPr>
      </p:sp>
      <p:sp>
        <p:nvSpPr>
          <p:cNvPr id="128005" name="Rectangle 3"/>
          <p:cNvSpPr>
            <a:spLocks noGrp="1" noChangeArrowheads="1"/>
          </p:cNvSpPr>
          <p:nvPr>
            <p:ph type="body" idx="1"/>
          </p:nvPr>
        </p:nvSpPr>
        <p:spPr>
          <a:noFill/>
          <a:ln/>
        </p:spPr>
        <p:txBody>
          <a:bodyPr/>
          <a:lstStyle/>
          <a:p>
            <a:r>
              <a:rPr lang="en-US"/>
              <a:t>When you return from a call to </a:t>
            </a:r>
            <a:r>
              <a:rPr lang="en-US" b="1"/>
              <a:t>wait()</a:t>
            </a:r>
            <a:r>
              <a:rPr lang="en-US"/>
              <a:t>, there is no guarantee that the condition you are waiting for will be true, so you must always retest the condition and resume waiting if it is false.</a:t>
            </a:r>
          </a:p>
          <a:p>
            <a:r>
              <a:rPr lang="en-US"/>
              <a:t>[Aside: in a real Java program, </a:t>
            </a:r>
            <a:r>
              <a:rPr lang="en-US" b="1"/>
              <a:t>wait()</a:t>
            </a:r>
            <a:r>
              <a:rPr lang="en-US"/>
              <a:t> can signal InterruptedException which has to be caught.]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a:noFill/>
        </p:spPr>
        <p:txBody>
          <a:bodyPr/>
          <a:lstStyle/>
          <a:p>
            <a:r>
              <a:rPr lang="en-US"/>
              <a:t>© 2003 Herlihy and Shavit</a:t>
            </a:r>
          </a:p>
        </p:txBody>
      </p:sp>
      <p:sp>
        <p:nvSpPr>
          <p:cNvPr id="129027" name="Rectangle 7"/>
          <p:cNvSpPr>
            <a:spLocks noGrp="1" noChangeArrowheads="1"/>
          </p:cNvSpPr>
          <p:nvPr>
            <p:ph type="sldNum" sz="quarter" idx="5"/>
          </p:nvPr>
        </p:nvSpPr>
        <p:spPr>
          <a:noFill/>
        </p:spPr>
        <p:txBody>
          <a:bodyPr/>
          <a:lstStyle/>
          <a:p>
            <a:fld id="{882CACCF-C9CD-4FDB-A9EE-467BE98EEF1A}" type="slidenum">
              <a:rPr lang="ar-SA"/>
              <a:pPr/>
              <a:t>48</a:t>
            </a:fld>
            <a:endParaRPr lang="en-US"/>
          </a:p>
        </p:txBody>
      </p:sp>
      <p:sp>
        <p:nvSpPr>
          <p:cNvPr id="129028" name="Rectangle 2"/>
          <p:cNvSpPr>
            <a:spLocks noGrp="1" noRot="1" noChangeAspect="1" noChangeArrowheads="1" noTextEdit="1"/>
          </p:cNvSpPr>
          <p:nvPr>
            <p:ph type="sldImg"/>
          </p:nvPr>
        </p:nvSpPr>
        <p:spPr>
          <a:ln/>
        </p:spPr>
      </p:sp>
      <p:sp>
        <p:nvSpPr>
          <p:cNvPr id="129029"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hdr" sz="quarter"/>
          </p:nvPr>
        </p:nvSpPr>
        <p:spPr>
          <a:noFill/>
        </p:spPr>
        <p:txBody>
          <a:bodyPr/>
          <a:lstStyle/>
          <a:p>
            <a:r>
              <a:rPr lang="en-US"/>
              <a:t>© 2003 Herlihy and Shavit</a:t>
            </a:r>
          </a:p>
        </p:txBody>
      </p:sp>
      <p:sp>
        <p:nvSpPr>
          <p:cNvPr id="130051" name="Rectangle 7"/>
          <p:cNvSpPr>
            <a:spLocks noGrp="1" noChangeArrowheads="1"/>
          </p:cNvSpPr>
          <p:nvPr>
            <p:ph type="sldNum" sz="quarter" idx="5"/>
          </p:nvPr>
        </p:nvSpPr>
        <p:spPr>
          <a:noFill/>
        </p:spPr>
        <p:txBody>
          <a:bodyPr/>
          <a:lstStyle/>
          <a:p>
            <a:fld id="{98B84392-4387-4AB6-BF1E-C33594343524}" type="slidenum">
              <a:rPr lang="ar-SA"/>
              <a:pPr/>
              <a:t>49</a:t>
            </a:fld>
            <a:endParaRPr lang="en-US"/>
          </a:p>
        </p:txBody>
      </p:sp>
      <p:sp>
        <p:nvSpPr>
          <p:cNvPr id="130052" name="Rectangle 2"/>
          <p:cNvSpPr>
            <a:spLocks noGrp="1" noRot="1" noChangeAspect="1" noChangeArrowheads="1" noTextEdit="1"/>
          </p:cNvSpPr>
          <p:nvPr>
            <p:ph type="sldImg"/>
          </p:nvPr>
        </p:nvSpPr>
        <p:spPr>
          <a:ln/>
        </p:spPr>
      </p:sp>
      <p:sp>
        <p:nvSpPr>
          <p:cNvPr id="130053" name="Rectangle 3"/>
          <p:cNvSpPr>
            <a:spLocks noGrp="1" noChangeArrowheads="1"/>
          </p:cNvSpPr>
          <p:nvPr>
            <p:ph type="body" idx="1"/>
          </p:nvPr>
        </p:nvSpPr>
        <p:spPr>
          <a:noFill/>
          <a:ln/>
        </p:spPr>
        <p:txBody>
          <a:bodyPr/>
          <a:lstStyle/>
          <a:p>
            <a:r>
              <a:rPr lang="en-US"/>
              <a:t>The </a:t>
            </a:r>
            <a:r>
              <a:rPr lang="en-US" b="1"/>
              <a:t>notify() </a:t>
            </a:r>
            <a:r>
              <a:rPr lang="en-US"/>
              <a:t>method  wakes up one waiting thread, chosen arbitrarily from the set of waiting threads. When that thread awakens, it competes for the lock like any other thread. When that thread reacquires the lock, it returns  from its </a:t>
            </a:r>
            <a:r>
              <a:rPr lang="en-US" b="1"/>
              <a:t>wait() </a:t>
            </a:r>
            <a:r>
              <a:rPr lang="en-US"/>
              <a:t>call. You cannot control which waiting thread is chosen. </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a:noFill/>
        </p:spPr>
        <p:txBody>
          <a:bodyPr/>
          <a:lstStyle/>
          <a:p>
            <a:r>
              <a:rPr lang="en-US"/>
              <a:t>© 2003 Herlihy and Shavit</a:t>
            </a:r>
          </a:p>
        </p:txBody>
      </p:sp>
      <p:sp>
        <p:nvSpPr>
          <p:cNvPr id="131075" name="Rectangle 7"/>
          <p:cNvSpPr>
            <a:spLocks noGrp="1" noChangeArrowheads="1"/>
          </p:cNvSpPr>
          <p:nvPr>
            <p:ph type="sldNum" sz="quarter" idx="5"/>
          </p:nvPr>
        </p:nvSpPr>
        <p:spPr>
          <a:noFill/>
        </p:spPr>
        <p:txBody>
          <a:bodyPr/>
          <a:lstStyle/>
          <a:p>
            <a:fld id="{06346495-CA9D-42C5-87E1-527DA9471547}" type="slidenum">
              <a:rPr lang="ar-SA"/>
              <a:pPr/>
              <a:t>50</a:t>
            </a:fld>
            <a:endParaRPr lang="en-US"/>
          </a:p>
        </p:txBody>
      </p:sp>
      <p:sp>
        <p:nvSpPr>
          <p:cNvPr id="131076" name="Rectangle 2"/>
          <p:cNvSpPr>
            <a:spLocks noGrp="1" noRot="1" noChangeAspect="1" noChangeArrowheads="1" noTextEdit="1"/>
          </p:cNvSpPr>
          <p:nvPr>
            <p:ph type="sldImg"/>
          </p:nvPr>
        </p:nvSpPr>
        <p:spPr>
          <a:ln/>
        </p:spPr>
      </p:sp>
      <p:sp>
        <p:nvSpPr>
          <p:cNvPr id="131077" name="Rectangle 3"/>
          <p:cNvSpPr>
            <a:spLocks noGrp="1" noChangeArrowheads="1"/>
          </p:cNvSpPr>
          <p:nvPr>
            <p:ph type="body" idx="1"/>
          </p:nvPr>
        </p:nvSpPr>
        <p:spPr>
          <a:noFill/>
          <a:ln/>
        </p:spPr>
        <p:txBody>
          <a:bodyPr/>
          <a:lstStyle/>
          <a:p>
            <a:r>
              <a:rPr lang="en-US"/>
              <a:t>The </a:t>
            </a:r>
            <a:r>
              <a:rPr lang="en-US" b="1"/>
              <a:t>notifyAll()</a:t>
            </a:r>
            <a:r>
              <a:rPr lang="en-US"/>
              <a:t> method wakes up all waiting threads. Each time the object is unlocked, one of these newly- wakened threads will reacquire the lock and return from its </a:t>
            </a:r>
            <a:r>
              <a:rPr lang="en-US" b="1"/>
              <a:t>wait()</a:t>
            </a:r>
            <a:r>
              <a:rPr lang="en-US"/>
              <a:t> call. You cannot control the order in which the threads reacquire the lock. </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hdr" sz="quarter"/>
          </p:nvPr>
        </p:nvSpPr>
        <p:spPr>
          <a:noFill/>
        </p:spPr>
        <p:txBody>
          <a:bodyPr/>
          <a:lstStyle/>
          <a:p>
            <a:r>
              <a:rPr lang="en-US"/>
              <a:t>© 2003 Herlihy and Shavit</a:t>
            </a:r>
          </a:p>
        </p:txBody>
      </p:sp>
      <p:sp>
        <p:nvSpPr>
          <p:cNvPr id="132099" name="Rectangle 7"/>
          <p:cNvSpPr>
            <a:spLocks noGrp="1" noChangeArrowheads="1"/>
          </p:cNvSpPr>
          <p:nvPr>
            <p:ph type="sldNum" sz="quarter" idx="5"/>
          </p:nvPr>
        </p:nvSpPr>
        <p:spPr>
          <a:noFill/>
        </p:spPr>
        <p:txBody>
          <a:bodyPr/>
          <a:lstStyle/>
          <a:p>
            <a:fld id="{DBDDDBBD-2B88-4E92-AFC5-292D99B530B4}" type="slidenum">
              <a:rPr lang="ar-SA"/>
              <a:pPr/>
              <a:t>51</a:t>
            </a:fld>
            <a:endParaRPr lang="en-US"/>
          </a:p>
        </p:txBody>
      </p:sp>
      <p:sp>
        <p:nvSpPr>
          <p:cNvPr id="132100" name="Rectangle 2"/>
          <p:cNvSpPr>
            <a:spLocks noGrp="1" noRot="1" noChangeAspect="1" noChangeArrowheads="1" noTextEdit="1"/>
          </p:cNvSpPr>
          <p:nvPr>
            <p:ph type="sldImg"/>
          </p:nvPr>
        </p:nvSpPr>
        <p:spPr>
          <a:ln/>
        </p:spPr>
      </p:sp>
      <p:sp>
        <p:nvSpPr>
          <p:cNvPr id="132101" name="Rectangle 3"/>
          <p:cNvSpPr>
            <a:spLocks noGrp="1" noChangeArrowheads="1"/>
          </p:cNvSpPr>
          <p:nvPr>
            <p:ph type="body" idx="1"/>
          </p:nvPr>
        </p:nvSpPr>
        <p:spPr>
          <a:noFill/>
          <a:ln/>
        </p:spPr>
        <p:txBody>
          <a:bodyPr/>
          <a:lstStyle/>
          <a:p>
            <a:r>
              <a:rPr lang="en-US"/>
              <a:t>In the queue example, if a dequeuing thread is waiting, it should be notified the queue becomes non-empty, and a waiting enqueuing thread should be notified when when the queue becomes non-full. Does this code do the trick?</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hdr" sz="quarter"/>
          </p:nvPr>
        </p:nvSpPr>
        <p:spPr>
          <a:noFill/>
        </p:spPr>
        <p:txBody>
          <a:bodyPr/>
          <a:lstStyle/>
          <a:p>
            <a:r>
              <a:rPr lang="en-US"/>
              <a:t>© 2003 Herlihy and Shavit</a:t>
            </a:r>
          </a:p>
        </p:txBody>
      </p:sp>
      <p:sp>
        <p:nvSpPr>
          <p:cNvPr id="133123" name="Rectangle 7"/>
          <p:cNvSpPr>
            <a:spLocks noGrp="1" noChangeArrowheads="1"/>
          </p:cNvSpPr>
          <p:nvPr>
            <p:ph type="sldNum" sz="quarter" idx="5"/>
          </p:nvPr>
        </p:nvSpPr>
        <p:spPr>
          <a:noFill/>
        </p:spPr>
        <p:txBody>
          <a:bodyPr/>
          <a:lstStyle/>
          <a:p>
            <a:fld id="{402FF2E2-C1D1-418B-AA7D-48B3D256C377}" type="slidenum">
              <a:rPr lang="ar-SA"/>
              <a:pPr/>
              <a:t>52</a:t>
            </a:fld>
            <a:endParaRPr lang="en-US"/>
          </a:p>
        </p:txBody>
      </p:sp>
      <p:sp>
        <p:nvSpPr>
          <p:cNvPr id="133124" name="Rectangle 2"/>
          <p:cNvSpPr>
            <a:spLocks noGrp="1" noRot="1" noChangeAspect="1" noChangeArrowheads="1" noTextEdit="1"/>
          </p:cNvSpPr>
          <p:nvPr>
            <p:ph type="sldImg"/>
          </p:nvPr>
        </p:nvSpPr>
        <p:spPr>
          <a:ln/>
        </p:spPr>
      </p:sp>
      <p:sp>
        <p:nvSpPr>
          <p:cNvPr id="133125" name="Rectangle 3"/>
          <p:cNvSpPr>
            <a:spLocks noGrp="1" noChangeArrowheads="1"/>
          </p:cNvSpPr>
          <p:nvPr>
            <p:ph type="body" idx="1"/>
          </p:nvPr>
        </p:nvSpPr>
        <p:spPr>
          <a:noFill/>
          <a:ln/>
        </p:spPr>
        <p:txBody>
          <a:bodyPr/>
          <a:lstStyle/>
          <a:p>
            <a:r>
              <a:rPr lang="en-US"/>
              <a:t>First we wait for the array to have an empty slot. When we fall through the loop, we know there is space.</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hdr" sz="quarter"/>
          </p:nvPr>
        </p:nvSpPr>
        <p:spPr>
          <a:noFill/>
        </p:spPr>
        <p:txBody>
          <a:bodyPr/>
          <a:lstStyle/>
          <a:p>
            <a:r>
              <a:rPr lang="en-US"/>
              <a:t>© 2003 Herlihy and Shavit</a:t>
            </a:r>
          </a:p>
        </p:txBody>
      </p:sp>
      <p:sp>
        <p:nvSpPr>
          <p:cNvPr id="134147" name="Rectangle 7"/>
          <p:cNvSpPr>
            <a:spLocks noGrp="1" noChangeArrowheads="1"/>
          </p:cNvSpPr>
          <p:nvPr>
            <p:ph type="sldNum" sz="quarter" idx="5"/>
          </p:nvPr>
        </p:nvSpPr>
        <p:spPr>
          <a:noFill/>
        </p:spPr>
        <p:txBody>
          <a:bodyPr/>
          <a:lstStyle/>
          <a:p>
            <a:fld id="{88121108-2123-4127-A313-85AD938B6B47}" type="slidenum">
              <a:rPr lang="ar-SA"/>
              <a:pPr/>
              <a:t>53</a:t>
            </a:fld>
            <a:endParaRPr lang="en-US"/>
          </a:p>
        </p:txBody>
      </p:sp>
      <p:sp>
        <p:nvSpPr>
          <p:cNvPr id="134148" name="Rectangle 2"/>
          <p:cNvSpPr>
            <a:spLocks noGrp="1" noRot="1" noChangeAspect="1" noChangeArrowheads="1" noTextEdit="1"/>
          </p:cNvSpPr>
          <p:nvPr>
            <p:ph type="sldImg"/>
          </p:nvPr>
        </p:nvSpPr>
        <p:spPr>
          <a:ln/>
        </p:spPr>
      </p:sp>
      <p:sp>
        <p:nvSpPr>
          <p:cNvPr id="134149" name="Rectangle 3"/>
          <p:cNvSpPr>
            <a:spLocks noGrp="1" noChangeArrowheads="1"/>
          </p:cNvSpPr>
          <p:nvPr>
            <p:ph type="body" idx="1"/>
          </p:nvPr>
        </p:nvSpPr>
        <p:spPr>
          <a:noFill/>
          <a:ln/>
        </p:spPr>
        <p:txBody>
          <a:bodyPr/>
          <a:lstStyle/>
          <a:p>
            <a:r>
              <a:rPr lang="en-US"/>
              <a:t>Next, we stuff the item into array.</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hdr" sz="quarter"/>
          </p:nvPr>
        </p:nvSpPr>
        <p:spPr>
          <a:noFill/>
        </p:spPr>
        <p:txBody>
          <a:bodyPr/>
          <a:lstStyle/>
          <a:p>
            <a:r>
              <a:rPr lang="en-US"/>
              <a:t>© 2003 Herlihy and Shavit</a:t>
            </a:r>
          </a:p>
        </p:txBody>
      </p:sp>
      <p:sp>
        <p:nvSpPr>
          <p:cNvPr id="135171" name="Rectangle 7"/>
          <p:cNvSpPr>
            <a:spLocks noGrp="1" noChangeArrowheads="1"/>
          </p:cNvSpPr>
          <p:nvPr>
            <p:ph type="sldNum" sz="quarter" idx="5"/>
          </p:nvPr>
        </p:nvSpPr>
        <p:spPr>
          <a:noFill/>
        </p:spPr>
        <p:txBody>
          <a:bodyPr/>
          <a:lstStyle/>
          <a:p>
            <a:fld id="{E84F3891-1D5C-43DA-AFD3-E81BC8EB4D93}" type="slidenum">
              <a:rPr lang="ar-SA"/>
              <a:pPr/>
              <a:t>54</a:t>
            </a:fld>
            <a:endParaRPr lang="en-US"/>
          </a:p>
        </p:txBody>
      </p:sp>
      <p:sp>
        <p:nvSpPr>
          <p:cNvPr id="135172" name="Rectangle 2"/>
          <p:cNvSpPr>
            <a:spLocks noGrp="1" noRot="1" noChangeAspect="1" noChangeArrowheads="1" noTextEdit="1"/>
          </p:cNvSpPr>
          <p:nvPr>
            <p:ph type="sldImg"/>
          </p:nvPr>
        </p:nvSpPr>
        <p:spPr>
          <a:ln/>
        </p:spPr>
      </p:sp>
      <p:sp>
        <p:nvSpPr>
          <p:cNvPr id="135173" name="Rectangle 3"/>
          <p:cNvSpPr>
            <a:spLocks noGrp="1" noChangeArrowheads="1"/>
          </p:cNvSpPr>
          <p:nvPr>
            <p:ph type="body" idx="1"/>
          </p:nvPr>
        </p:nvSpPr>
        <p:spPr>
          <a:noFill/>
          <a:ln/>
        </p:spPr>
        <p:txBody>
          <a:bodyPr/>
          <a:lstStyle/>
          <a:p>
            <a:r>
              <a:rPr lang="en-US"/>
              <a:t>In the queue example, if a dequeuing thread is waiting, it should be notified the queue becomes non-empty, and a waiting enqueuing thread should be notified when when the queue becomes non-full. Does this code do the trick?</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a:noFill/>
        </p:spPr>
        <p:txBody>
          <a:bodyPr/>
          <a:lstStyle/>
          <a:p>
            <a:r>
              <a:rPr lang="en-US"/>
              <a:t>© 2003 Herlihy and Shavit</a:t>
            </a:r>
          </a:p>
        </p:txBody>
      </p:sp>
      <p:sp>
        <p:nvSpPr>
          <p:cNvPr id="136195" name="Rectangle 7"/>
          <p:cNvSpPr>
            <a:spLocks noGrp="1" noChangeArrowheads="1"/>
          </p:cNvSpPr>
          <p:nvPr>
            <p:ph type="sldNum" sz="quarter" idx="5"/>
          </p:nvPr>
        </p:nvSpPr>
        <p:spPr>
          <a:noFill/>
        </p:spPr>
        <p:txBody>
          <a:bodyPr/>
          <a:lstStyle/>
          <a:p>
            <a:fld id="{0A990690-394F-4FF8-A30B-989691474A00}" type="slidenum">
              <a:rPr lang="ar-SA"/>
              <a:pPr/>
              <a:t>55</a:t>
            </a:fld>
            <a:endParaRPr lang="en-US"/>
          </a:p>
        </p:txBody>
      </p:sp>
      <p:sp>
        <p:nvSpPr>
          <p:cNvPr id="136196" name="Rectangle 2"/>
          <p:cNvSpPr>
            <a:spLocks noGrp="1" noRot="1" noChangeAspect="1" noChangeArrowheads="1" noTextEdit="1"/>
          </p:cNvSpPr>
          <p:nvPr>
            <p:ph type="sldImg"/>
          </p:nvPr>
        </p:nvSpPr>
        <p:spPr>
          <a:ln/>
        </p:spPr>
      </p:sp>
      <p:sp>
        <p:nvSpPr>
          <p:cNvPr id="136197" name="Rectangle 3"/>
          <p:cNvSpPr>
            <a:spLocks noGrp="1" noChangeArrowheads="1"/>
          </p:cNvSpPr>
          <p:nvPr>
            <p:ph type="body" idx="1"/>
          </p:nvPr>
        </p:nvSpPr>
        <p:spPr>
          <a:noFill/>
          <a:ln/>
        </p:spPr>
        <p:txBody>
          <a:bodyPr/>
          <a:lstStyle/>
          <a:p>
            <a:r>
              <a:rPr lang="en-US"/>
              <a:t>This code has a lost wakeup bug. We will walk through a scenario that ends up with waiting dequeuers while the queue has items to be dequeued.</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hdr" sz="quarter"/>
          </p:nvPr>
        </p:nvSpPr>
        <p:spPr>
          <a:noFill/>
        </p:spPr>
        <p:txBody>
          <a:bodyPr/>
          <a:lstStyle/>
          <a:p>
            <a:r>
              <a:rPr lang="en-US"/>
              <a:t>© 2003 Herlihy and Shavit</a:t>
            </a:r>
          </a:p>
        </p:txBody>
      </p:sp>
      <p:sp>
        <p:nvSpPr>
          <p:cNvPr id="137219" name="Rectangle 7"/>
          <p:cNvSpPr>
            <a:spLocks noGrp="1" noChangeArrowheads="1"/>
          </p:cNvSpPr>
          <p:nvPr>
            <p:ph type="sldNum" sz="quarter" idx="5"/>
          </p:nvPr>
        </p:nvSpPr>
        <p:spPr>
          <a:noFill/>
        </p:spPr>
        <p:txBody>
          <a:bodyPr/>
          <a:lstStyle/>
          <a:p>
            <a:fld id="{9C0C18E6-655B-42FB-9BA0-25FA84AB93D7}" type="slidenum">
              <a:rPr lang="ar-SA"/>
              <a:pPr/>
              <a:t>56</a:t>
            </a:fld>
            <a:endParaRPr lang="en-US"/>
          </a:p>
        </p:txBody>
      </p:sp>
      <p:sp>
        <p:nvSpPr>
          <p:cNvPr id="137220" name="Rectangle 2"/>
          <p:cNvSpPr>
            <a:spLocks noGrp="1" noRot="1" noChangeAspect="1" noChangeArrowheads="1" noTextEdit="1"/>
          </p:cNvSpPr>
          <p:nvPr>
            <p:ph type="sldImg"/>
          </p:nvPr>
        </p:nvSpPr>
        <p:spPr>
          <a:ln/>
        </p:spPr>
      </p:sp>
      <p:sp>
        <p:nvSpPr>
          <p:cNvPr id="137221" name="Rectangle 3"/>
          <p:cNvSpPr>
            <a:spLocks noGrp="1" noChangeArrowheads="1"/>
          </p:cNvSpPr>
          <p:nvPr>
            <p:ph type="body" idx="1"/>
          </p:nvPr>
        </p:nvSpPr>
        <p:spPr>
          <a:noFill/>
          <a:ln/>
        </p:spPr>
        <p:txBody>
          <a:bodyPr/>
          <a:lstStyle/>
          <a:p>
            <a:r>
              <a:rPr lang="en-US"/>
              <a:t>Two dequeuers arrive at an empty queue and wait.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hdr" sz="quarter"/>
          </p:nvPr>
        </p:nvSpPr>
        <p:spPr>
          <a:noFill/>
        </p:spPr>
        <p:txBody>
          <a:bodyPr/>
          <a:lstStyle/>
          <a:p>
            <a:r>
              <a:rPr lang="en-US"/>
              <a:t>© 2003 Herlihy and Shavit</a:t>
            </a:r>
          </a:p>
        </p:txBody>
      </p:sp>
      <p:sp>
        <p:nvSpPr>
          <p:cNvPr id="138243" name="Rectangle 7"/>
          <p:cNvSpPr>
            <a:spLocks noGrp="1" noChangeArrowheads="1"/>
          </p:cNvSpPr>
          <p:nvPr>
            <p:ph type="sldNum" sz="quarter" idx="5"/>
          </p:nvPr>
        </p:nvSpPr>
        <p:spPr>
          <a:noFill/>
        </p:spPr>
        <p:txBody>
          <a:bodyPr/>
          <a:lstStyle/>
          <a:p>
            <a:fld id="{656ED680-2536-477B-8341-063E0B253CE2}" type="slidenum">
              <a:rPr lang="ar-SA"/>
              <a:pPr/>
              <a:t>57</a:t>
            </a:fld>
            <a:endParaRPr lang="en-US"/>
          </a:p>
        </p:txBody>
      </p:sp>
      <p:sp>
        <p:nvSpPr>
          <p:cNvPr id="138244" name="Rectangle 2"/>
          <p:cNvSpPr>
            <a:spLocks noGrp="1" noRot="1" noChangeAspect="1" noChangeArrowheads="1" noTextEdit="1"/>
          </p:cNvSpPr>
          <p:nvPr>
            <p:ph type="sldImg"/>
          </p:nvPr>
        </p:nvSpPr>
        <p:spPr>
          <a:ln/>
        </p:spPr>
      </p:sp>
      <p:sp>
        <p:nvSpPr>
          <p:cNvPr id="138245" name="Rectangle 3"/>
          <p:cNvSpPr>
            <a:spLocks noGrp="1" noChangeArrowheads="1"/>
          </p:cNvSpPr>
          <p:nvPr>
            <p:ph type="body" idx="1"/>
          </p:nvPr>
        </p:nvSpPr>
        <p:spPr>
          <a:noFill/>
          <a:ln/>
        </p:spPr>
        <p:txBody>
          <a:bodyPr/>
          <a:lstStyle/>
          <a:p>
            <a:r>
              <a:rPr lang="en-US"/>
              <a:t>An enqueuer puts an item in the queue.</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hdr" sz="quarter"/>
          </p:nvPr>
        </p:nvSpPr>
        <p:spPr>
          <a:noFill/>
        </p:spPr>
        <p:txBody>
          <a:bodyPr/>
          <a:lstStyle/>
          <a:p>
            <a:r>
              <a:rPr lang="en-US"/>
              <a:t>© 2003 Herlihy and Shavit</a:t>
            </a:r>
          </a:p>
        </p:txBody>
      </p:sp>
      <p:sp>
        <p:nvSpPr>
          <p:cNvPr id="139267" name="Rectangle 7"/>
          <p:cNvSpPr>
            <a:spLocks noGrp="1" noChangeArrowheads="1"/>
          </p:cNvSpPr>
          <p:nvPr>
            <p:ph type="sldNum" sz="quarter" idx="5"/>
          </p:nvPr>
        </p:nvSpPr>
        <p:spPr>
          <a:noFill/>
        </p:spPr>
        <p:txBody>
          <a:bodyPr/>
          <a:lstStyle/>
          <a:p>
            <a:fld id="{9D009DE5-906E-4E68-BBD2-95F13BC02336}" type="slidenum">
              <a:rPr lang="ar-SA"/>
              <a:pPr/>
              <a:t>58</a:t>
            </a:fld>
            <a:endParaRPr lang="en-US"/>
          </a:p>
        </p:txBody>
      </p:sp>
      <p:sp>
        <p:nvSpPr>
          <p:cNvPr id="139268" name="Rectangle 2"/>
          <p:cNvSpPr>
            <a:spLocks noGrp="1" noRot="1" noChangeAspect="1" noChangeArrowheads="1" noTextEdit="1"/>
          </p:cNvSpPr>
          <p:nvPr>
            <p:ph type="sldImg"/>
          </p:nvPr>
        </p:nvSpPr>
        <p:spPr>
          <a:ln/>
        </p:spPr>
      </p:sp>
      <p:sp>
        <p:nvSpPr>
          <p:cNvPr id="139269" name="Rectangle 3"/>
          <p:cNvSpPr>
            <a:spLocks noGrp="1" noChangeArrowheads="1"/>
          </p:cNvSpPr>
          <p:nvPr>
            <p:ph type="body" idx="1"/>
          </p:nvPr>
        </p:nvSpPr>
        <p:spPr>
          <a:noFill/>
          <a:ln/>
        </p:spPr>
        <p:txBody>
          <a:bodyPr/>
          <a:lstStyle/>
          <a:p>
            <a:r>
              <a:rPr lang="en-US"/>
              <a:t>It sees that the queue had been empty, so it calls notify() to wake up a dequeuer.</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hdr" sz="quarter"/>
          </p:nvPr>
        </p:nvSpPr>
        <p:spPr>
          <a:noFill/>
        </p:spPr>
        <p:txBody>
          <a:bodyPr/>
          <a:lstStyle/>
          <a:p>
            <a:r>
              <a:rPr lang="en-US"/>
              <a:t>© 2003 Herlihy and Shavit</a:t>
            </a:r>
          </a:p>
        </p:txBody>
      </p:sp>
      <p:sp>
        <p:nvSpPr>
          <p:cNvPr id="140291" name="Rectangle 7"/>
          <p:cNvSpPr>
            <a:spLocks noGrp="1" noChangeArrowheads="1"/>
          </p:cNvSpPr>
          <p:nvPr>
            <p:ph type="sldNum" sz="quarter" idx="5"/>
          </p:nvPr>
        </p:nvSpPr>
        <p:spPr>
          <a:noFill/>
        </p:spPr>
        <p:txBody>
          <a:bodyPr/>
          <a:lstStyle/>
          <a:p>
            <a:fld id="{08EDFD86-CC77-49F5-B8DE-03451ADD62F2}" type="slidenum">
              <a:rPr lang="ar-SA"/>
              <a:pPr/>
              <a:t>59</a:t>
            </a:fld>
            <a:endParaRPr lang="en-US"/>
          </a:p>
        </p:txBody>
      </p:sp>
      <p:sp>
        <p:nvSpPr>
          <p:cNvPr id="140292" name="Rectangle 2"/>
          <p:cNvSpPr>
            <a:spLocks noGrp="1" noRot="1" noChangeAspect="1" noChangeArrowheads="1" noTextEdit="1"/>
          </p:cNvSpPr>
          <p:nvPr>
            <p:ph type="sldImg"/>
          </p:nvPr>
        </p:nvSpPr>
        <p:spPr>
          <a:ln/>
        </p:spPr>
      </p:sp>
      <p:sp>
        <p:nvSpPr>
          <p:cNvPr id="140293" name="Rectangle 3"/>
          <p:cNvSpPr>
            <a:spLocks noGrp="1" noChangeArrowheads="1"/>
          </p:cNvSpPr>
          <p:nvPr>
            <p:ph type="body" idx="1"/>
          </p:nvPr>
        </p:nvSpPr>
        <p:spPr>
          <a:noFill/>
          <a:ln/>
        </p:spPr>
        <p:txBody>
          <a:bodyPr/>
          <a:lstStyle/>
          <a:p>
            <a:r>
              <a:rPr lang="en-US"/>
              <a:t>Although the dequeuer is now away, it is slow to respond, and before it can acquire the lock, it is overtaken by other enqueuers. These enqueuers, however, see the queue was not empty, so they do not call notify().</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hdr" sz="quarter"/>
          </p:nvPr>
        </p:nvSpPr>
        <p:spPr>
          <a:noFill/>
        </p:spPr>
        <p:txBody>
          <a:bodyPr/>
          <a:lstStyle/>
          <a:p>
            <a:r>
              <a:rPr lang="en-US"/>
              <a:t>© 2003 Herlihy and Shavit</a:t>
            </a:r>
          </a:p>
        </p:txBody>
      </p:sp>
      <p:sp>
        <p:nvSpPr>
          <p:cNvPr id="141315" name="Rectangle 7"/>
          <p:cNvSpPr>
            <a:spLocks noGrp="1" noChangeArrowheads="1"/>
          </p:cNvSpPr>
          <p:nvPr>
            <p:ph type="sldNum" sz="quarter" idx="5"/>
          </p:nvPr>
        </p:nvSpPr>
        <p:spPr>
          <a:noFill/>
        </p:spPr>
        <p:txBody>
          <a:bodyPr/>
          <a:lstStyle/>
          <a:p>
            <a:fld id="{5DCF3A17-9C54-4196-9028-613BA679088F}" type="slidenum">
              <a:rPr lang="ar-SA"/>
              <a:pPr/>
              <a:t>60</a:t>
            </a:fld>
            <a:endParaRPr lang="en-US"/>
          </a:p>
        </p:txBody>
      </p:sp>
      <p:sp>
        <p:nvSpPr>
          <p:cNvPr id="141316" name="Rectangle 2"/>
          <p:cNvSpPr>
            <a:spLocks noGrp="1" noRot="1" noChangeAspect="1" noChangeArrowheads="1" noTextEdit="1"/>
          </p:cNvSpPr>
          <p:nvPr>
            <p:ph type="sldImg"/>
          </p:nvPr>
        </p:nvSpPr>
        <p:spPr>
          <a:ln/>
        </p:spPr>
      </p:sp>
      <p:sp>
        <p:nvSpPr>
          <p:cNvPr id="141317" name="Rectangle 3"/>
          <p:cNvSpPr>
            <a:spLocks noGrp="1" noChangeArrowheads="1"/>
          </p:cNvSpPr>
          <p:nvPr>
            <p:ph type="body" idx="1"/>
          </p:nvPr>
        </p:nvSpPr>
        <p:spPr>
          <a:noFill/>
          <a:ln/>
        </p:spPr>
        <p:txBody>
          <a:bodyPr/>
          <a:lstStyle/>
          <a:p>
            <a:r>
              <a:rPr lang="en-US"/>
              <a:t>When the dequeuer finally finishes, it leaves behind one waiting dequeuer, and a number of items in the queue.</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hdr" sz="quarter"/>
          </p:nvPr>
        </p:nvSpPr>
        <p:spPr>
          <a:noFill/>
        </p:spPr>
        <p:txBody>
          <a:bodyPr/>
          <a:lstStyle/>
          <a:p>
            <a:r>
              <a:rPr lang="en-US"/>
              <a:t>© 2003 Herlihy and Shavit</a:t>
            </a:r>
          </a:p>
        </p:txBody>
      </p:sp>
      <p:sp>
        <p:nvSpPr>
          <p:cNvPr id="142339" name="Rectangle 7"/>
          <p:cNvSpPr>
            <a:spLocks noGrp="1" noChangeArrowheads="1"/>
          </p:cNvSpPr>
          <p:nvPr>
            <p:ph type="sldNum" sz="quarter" idx="5"/>
          </p:nvPr>
        </p:nvSpPr>
        <p:spPr>
          <a:noFill/>
        </p:spPr>
        <p:txBody>
          <a:bodyPr/>
          <a:lstStyle/>
          <a:p>
            <a:fld id="{52890DA6-6C7C-41A6-8915-AF38C480D370}" type="slidenum">
              <a:rPr lang="ar-SA"/>
              <a:pPr/>
              <a:t>61</a:t>
            </a:fld>
            <a:endParaRPr lang="en-US"/>
          </a:p>
        </p:txBody>
      </p:sp>
      <p:sp>
        <p:nvSpPr>
          <p:cNvPr id="142340" name="Rectangle 2"/>
          <p:cNvSpPr>
            <a:spLocks noGrp="1" noRot="1" noChangeAspect="1" noChangeArrowheads="1" noTextEdit="1"/>
          </p:cNvSpPr>
          <p:nvPr>
            <p:ph type="sldImg"/>
          </p:nvPr>
        </p:nvSpPr>
        <p:spPr>
          <a:ln/>
        </p:spPr>
      </p:sp>
      <p:sp>
        <p:nvSpPr>
          <p:cNvPr id="142341" name="Rectangle 3"/>
          <p:cNvSpPr>
            <a:spLocks noGrp="1" noChangeArrowheads="1"/>
          </p:cNvSpPr>
          <p:nvPr>
            <p:ph type="body" idx="1"/>
          </p:nvPr>
        </p:nvSpPr>
        <p:spPr>
          <a:noFill/>
          <a:ln/>
        </p:spPr>
        <p:txBody>
          <a:bodyPr/>
          <a:lstStyle/>
          <a:p>
            <a:r>
              <a:rPr lang="en-US"/>
              <a:t>Although there is no substitute for reasoning carefully about your program, there are simple programming practices that will minimize vulnerability to lost wakeups. One strategy is always to call </a:t>
            </a:r>
            <a:r>
              <a:rPr lang="en-US" b="1"/>
              <a:t>notifyAll()</a:t>
            </a:r>
            <a:r>
              <a:rPr lang="en-US"/>
              <a:t> instead of </a:t>
            </a:r>
            <a:r>
              <a:rPr lang="en-US" b="1"/>
              <a:t>notify()</a:t>
            </a:r>
            <a:r>
              <a:rPr lang="en-US"/>
              <a:t>. Another is to specify a timeout when waiting. Either of these practices would fix the lost wakeup bug we just described. Each has a small performance penalty, but one that is negligible compared to the cost of a lost wakeup. </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hdr" sz="quarter"/>
          </p:nvPr>
        </p:nvSpPr>
        <p:spPr>
          <a:noFill/>
        </p:spPr>
        <p:txBody>
          <a:bodyPr/>
          <a:lstStyle/>
          <a:p>
            <a:r>
              <a:rPr lang="en-US"/>
              <a:t>© 2003 Herlihy and Shavit</a:t>
            </a:r>
          </a:p>
        </p:txBody>
      </p:sp>
      <p:sp>
        <p:nvSpPr>
          <p:cNvPr id="143363" name="Rectangle 7"/>
          <p:cNvSpPr>
            <a:spLocks noGrp="1" noChangeArrowheads="1"/>
          </p:cNvSpPr>
          <p:nvPr>
            <p:ph type="sldNum" sz="quarter" idx="5"/>
          </p:nvPr>
        </p:nvSpPr>
        <p:spPr>
          <a:noFill/>
        </p:spPr>
        <p:txBody>
          <a:bodyPr/>
          <a:lstStyle/>
          <a:p>
            <a:fld id="{8D25B157-F97E-4552-9A99-F6C934C49B62}" type="slidenum">
              <a:rPr lang="ar-SA"/>
              <a:pPr/>
              <a:t>62</a:t>
            </a:fld>
            <a:endParaRPr lang="en-US"/>
          </a:p>
        </p:txBody>
      </p:sp>
      <p:sp>
        <p:nvSpPr>
          <p:cNvPr id="143364" name="Rectangle 2"/>
          <p:cNvSpPr>
            <a:spLocks noGrp="1" noRot="1" noChangeAspect="1" noChangeArrowheads="1" noTextEdit="1"/>
          </p:cNvSpPr>
          <p:nvPr>
            <p:ph type="sldImg"/>
          </p:nvPr>
        </p:nvSpPr>
        <p:spPr>
          <a:ln/>
        </p:spPr>
      </p:sp>
      <p:sp>
        <p:nvSpPr>
          <p:cNvPr id="143365" name="Rectangle 3"/>
          <p:cNvSpPr>
            <a:spLocks noGrp="1" noChangeArrowheads="1"/>
          </p:cNvSpPr>
          <p:nvPr>
            <p:ph type="body" idx="1"/>
          </p:nvPr>
        </p:nvSpPr>
        <p:spPr>
          <a:noFill/>
          <a:ln/>
        </p:spPr>
        <p:txBody>
          <a:bodyPr/>
          <a:lstStyle/>
          <a:p>
            <a:r>
              <a:rPr lang="en-US"/>
              <a:t>Sometimes it is useful for each object to have its own private copy of a variable. Java supports such thread-local objects through the ThreadLocal&lt;T&gt; class, which manages a collection of objects of type T, one for each thread. Because thread-local variables are not built into Java, they have a complicated interface that may seem awkward at first, but they are extremely useful, so we will review how to use them here. </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hdr" sz="quarter"/>
          </p:nvPr>
        </p:nvSpPr>
        <p:spPr>
          <a:noFill/>
        </p:spPr>
        <p:txBody>
          <a:bodyPr/>
          <a:lstStyle/>
          <a:p>
            <a:r>
              <a:rPr lang="en-US"/>
              <a:t>© 2003 Herlihy and Shavit</a:t>
            </a:r>
          </a:p>
        </p:txBody>
      </p:sp>
      <p:sp>
        <p:nvSpPr>
          <p:cNvPr id="144387" name="Rectangle 7"/>
          <p:cNvSpPr>
            <a:spLocks noGrp="1" noChangeArrowheads="1"/>
          </p:cNvSpPr>
          <p:nvPr>
            <p:ph type="sldNum" sz="quarter" idx="5"/>
          </p:nvPr>
        </p:nvSpPr>
        <p:spPr>
          <a:noFill/>
        </p:spPr>
        <p:txBody>
          <a:bodyPr/>
          <a:lstStyle/>
          <a:p>
            <a:fld id="{EA562119-B26B-444F-9E11-B96646203103}" type="slidenum">
              <a:rPr lang="ar-SA"/>
              <a:pPr/>
              <a:t>63</a:t>
            </a:fld>
            <a:endParaRPr lang="en-US"/>
          </a:p>
        </p:txBody>
      </p:sp>
      <p:sp>
        <p:nvSpPr>
          <p:cNvPr id="144388" name="Rectangle 2"/>
          <p:cNvSpPr>
            <a:spLocks noGrp="1" noRot="1" noChangeAspect="1" noChangeArrowheads="1" noTextEdit="1"/>
          </p:cNvSpPr>
          <p:nvPr>
            <p:ph type="sldImg"/>
          </p:nvPr>
        </p:nvSpPr>
        <p:spPr>
          <a:ln/>
        </p:spPr>
      </p:sp>
      <p:sp>
        <p:nvSpPr>
          <p:cNvPr id="144389" name="Rectangle 3"/>
          <p:cNvSpPr>
            <a:spLocks noGrp="1" noChangeArrowheads="1"/>
          </p:cNvSpPr>
          <p:nvPr>
            <p:ph type="body" idx="1"/>
          </p:nvPr>
        </p:nvSpPr>
        <p:spPr>
          <a:noFill/>
          <a:ln/>
        </p:spPr>
        <p:txBody>
          <a:bodyPr/>
          <a:lstStyle/>
          <a:p>
            <a:r>
              <a:rPr lang="en-US"/>
              <a:t>Sometimes it is useful for each thread  to have its own private copy of a variable.</a:t>
            </a:r>
          </a:p>
          <a:p>
            <a:r>
              <a:rPr lang="en-US"/>
              <a:t>Java supports such \emph{thread-local} objects through the \threadLocalClass{T} class,</a:t>
            </a:r>
          </a:p>
          <a:p>
            <a:r>
              <a:rPr lang="en-US"/>
              <a:t>which manages a collection of objects of type \texttt{T}, one for each thread.</a:t>
            </a:r>
          </a:p>
          <a:p>
            <a:r>
              <a:rPr lang="en-US"/>
              <a:t>Because thread-local variables are not built into Java,</a:t>
            </a:r>
          </a:p>
          <a:p>
            <a:r>
              <a:rPr lang="en-US"/>
              <a:t>they have a complicated interface that may seem awkward at first,</a:t>
            </a:r>
          </a:p>
          <a:p>
            <a:r>
              <a:rPr lang="en-US"/>
              <a:t>but they are extremely useful, so we will review how to use them here.</a:t>
            </a:r>
          </a:p>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hdr" sz="quarter"/>
          </p:nvPr>
        </p:nvSpPr>
        <p:spPr>
          <a:noFill/>
        </p:spPr>
        <p:txBody>
          <a:bodyPr/>
          <a:lstStyle/>
          <a:p>
            <a:r>
              <a:rPr lang="en-US"/>
              <a:t>© 2003 Herlihy and Shavit</a:t>
            </a:r>
          </a:p>
        </p:txBody>
      </p:sp>
      <p:sp>
        <p:nvSpPr>
          <p:cNvPr id="145411" name="Rectangle 7"/>
          <p:cNvSpPr>
            <a:spLocks noGrp="1" noChangeArrowheads="1"/>
          </p:cNvSpPr>
          <p:nvPr>
            <p:ph type="sldNum" sz="quarter" idx="5"/>
          </p:nvPr>
        </p:nvSpPr>
        <p:spPr>
          <a:noFill/>
        </p:spPr>
        <p:txBody>
          <a:bodyPr/>
          <a:lstStyle/>
          <a:p>
            <a:fld id="{1D1A275B-681F-4E9E-B2E4-336260A678A0}" type="slidenum">
              <a:rPr lang="ar-SA"/>
              <a:pPr/>
              <a:t>64</a:t>
            </a:fld>
            <a:endParaRPr lang="en-US"/>
          </a:p>
        </p:txBody>
      </p:sp>
      <p:sp>
        <p:nvSpPr>
          <p:cNvPr id="145412" name="Rectangle 2"/>
          <p:cNvSpPr>
            <a:spLocks noGrp="1" noRot="1" noChangeAspect="1" noChangeArrowheads="1" noTextEdit="1"/>
          </p:cNvSpPr>
          <p:nvPr>
            <p:ph type="sldImg"/>
          </p:nvPr>
        </p:nvSpPr>
        <p:spPr>
          <a:ln/>
        </p:spPr>
      </p:sp>
      <p:sp>
        <p:nvSpPr>
          <p:cNvPr id="145413" name="Rectangle 3"/>
          <p:cNvSpPr>
            <a:spLocks noGrp="1" noChangeArrowheads="1"/>
          </p:cNvSpPr>
          <p:nvPr>
            <p:ph type="body" idx="1"/>
          </p:nvPr>
        </p:nvSpPr>
        <p:spPr>
          <a:noFill/>
          <a:ln/>
        </p:spPr>
        <p:txBody>
          <a:bodyPr/>
          <a:lstStyle/>
          <a:p>
            <a:r>
              <a:rPr lang="en-US"/>
              <a:t>The </a:t>
            </a:r>
            <a:r>
              <a:rPr lang="en-US" b="1"/>
              <a:t>notify() </a:t>
            </a:r>
            <a:r>
              <a:rPr lang="en-US"/>
              <a:t>method  wakes up one waiting thread, chosen arbitrarily from the set of waiting threads. When that thread awakens, it competes for the lock like any other thread. When that thread reacquires the lock, it returns  from its </a:t>
            </a:r>
            <a:r>
              <a:rPr lang="en-US" b="1"/>
              <a:t>wait() </a:t>
            </a:r>
            <a:r>
              <a:rPr lang="en-US"/>
              <a:t>call. You cannot control which waiting thread is chosen. </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hdr" sz="quarter"/>
          </p:nvPr>
        </p:nvSpPr>
        <p:spPr>
          <a:noFill/>
        </p:spPr>
        <p:txBody>
          <a:bodyPr/>
          <a:lstStyle/>
          <a:p>
            <a:r>
              <a:rPr lang="en-US"/>
              <a:t>© 2003 Herlihy and Shavit</a:t>
            </a:r>
          </a:p>
        </p:txBody>
      </p:sp>
      <p:sp>
        <p:nvSpPr>
          <p:cNvPr id="146435" name="Rectangle 7"/>
          <p:cNvSpPr>
            <a:spLocks noGrp="1" noChangeArrowheads="1"/>
          </p:cNvSpPr>
          <p:nvPr>
            <p:ph type="sldNum" sz="quarter" idx="5"/>
          </p:nvPr>
        </p:nvSpPr>
        <p:spPr>
          <a:noFill/>
        </p:spPr>
        <p:txBody>
          <a:bodyPr/>
          <a:lstStyle/>
          <a:p>
            <a:fld id="{0120D086-D550-44AC-BC32-C61C26833895}" type="slidenum">
              <a:rPr lang="ar-SA"/>
              <a:pPr/>
              <a:t>65</a:t>
            </a:fld>
            <a:endParaRPr lang="en-US"/>
          </a:p>
        </p:txBody>
      </p:sp>
      <p:sp>
        <p:nvSpPr>
          <p:cNvPr id="146436" name="Rectangle 2"/>
          <p:cNvSpPr>
            <a:spLocks noGrp="1" noRot="1" noChangeAspect="1" noChangeArrowheads="1" noTextEdit="1"/>
          </p:cNvSpPr>
          <p:nvPr>
            <p:ph type="sldImg"/>
          </p:nvPr>
        </p:nvSpPr>
        <p:spPr>
          <a:ln/>
        </p:spPr>
      </p:sp>
      <p:sp>
        <p:nvSpPr>
          <p:cNvPr id="146437" name="Rectangle 3"/>
          <p:cNvSpPr>
            <a:spLocks noGrp="1" noChangeArrowheads="1"/>
          </p:cNvSpPr>
          <p:nvPr>
            <p:ph type="body" idx="1"/>
          </p:nvPr>
        </p:nvSpPr>
        <p:spPr>
          <a:noFill/>
          <a:ln/>
        </p:spPr>
        <p:txBody>
          <a:bodyPr/>
          <a:lstStyle/>
          <a:p>
            <a:r>
              <a:rPr lang="en-US"/>
              <a:t>The </a:t>
            </a:r>
            <a:r>
              <a:rPr lang="en-US" b="1"/>
              <a:t>notify() </a:t>
            </a:r>
            <a:r>
              <a:rPr lang="en-US"/>
              <a:t>method  wakes up one waiting thread, chosen arbitrarily from the set of waiting threads. When that thread awakens, it competes for the lock like any other thread. When that thread reacquires the lock, it returns  from its </a:t>
            </a:r>
            <a:r>
              <a:rPr lang="en-US" b="1"/>
              <a:t>wait() </a:t>
            </a:r>
            <a:r>
              <a:rPr lang="en-US"/>
              <a:t>call. You cannot control which waiting thread is chosen. </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hdr" sz="quarter"/>
          </p:nvPr>
        </p:nvSpPr>
        <p:spPr>
          <a:noFill/>
        </p:spPr>
        <p:txBody>
          <a:bodyPr/>
          <a:lstStyle/>
          <a:p>
            <a:r>
              <a:rPr lang="en-US"/>
              <a:t>© 2003 Herlihy and Shavit</a:t>
            </a:r>
          </a:p>
        </p:txBody>
      </p:sp>
      <p:sp>
        <p:nvSpPr>
          <p:cNvPr id="147459" name="Rectangle 7"/>
          <p:cNvSpPr>
            <a:spLocks noGrp="1" noChangeArrowheads="1"/>
          </p:cNvSpPr>
          <p:nvPr>
            <p:ph type="sldNum" sz="quarter" idx="5"/>
          </p:nvPr>
        </p:nvSpPr>
        <p:spPr>
          <a:noFill/>
        </p:spPr>
        <p:txBody>
          <a:bodyPr/>
          <a:lstStyle/>
          <a:p>
            <a:fld id="{76DED9B4-E0BA-4E09-9DF9-F328F3903353}" type="slidenum">
              <a:rPr lang="ar-SA"/>
              <a:pPr/>
              <a:t>66</a:t>
            </a:fld>
            <a:endParaRPr lang="en-US"/>
          </a:p>
        </p:txBody>
      </p:sp>
      <p:sp>
        <p:nvSpPr>
          <p:cNvPr id="147460" name="Rectangle 2"/>
          <p:cNvSpPr>
            <a:spLocks noGrp="1" noRot="1" noChangeAspect="1" noChangeArrowheads="1" noTextEdit="1"/>
          </p:cNvSpPr>
          <p:nvPr>
            <p:ph type="sldImg"/>
          </p:nvPr>
        </p:nvSpPr>
        <p:spPr>
          <a:ln/>
        </p:spPr>
      </p:sp>
      <p:sp>
        <p:nvSpPr>
          <p:cNvPr id="147461" name="Rectangle 3"/>
          <p:cNvSpPr>
            <a:spLocks noGrp="1" noChangeArrowheads="1"/>
          </p:cNvSpPr>
          <p:nvPr>
            <p:ph type="body" idx="1"/>
          </p:nvPr>
        </p:nvSpPr>
        <p:spPr>
          <a:noFill/>
          <a:ln/>
        </p:spPr>
        <p:txBody>
          <a:bodyPr/>
          <a:lstStyle/>
          <a:p>
            <a:endParaRPr lang="en-US"/>
          </a:p>
          <a:p>
            <a:r>
              <a:rPr lang="en-US"/>
              <a:t>The </a:t>
            </a:r>
            <a:r>
              <a:rPr lang="en-US" b="1"/>
              <a:t>initialValue()</a:t>
            </a:r>
            <a:r>
              <a:rPr lang="en-US"/>
              <a:t> method is called by the </a:t>
            </a:r>
            <a:r>
              <a:rPr lang="en-US" b="1"/>
              <a:t>get()</a:t>
            </a:r>
            <a:r>
              <a:rPr lang="en-US"/>
              <a:t> method the first time thread tries to access its object.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hdr" sz="quarter"/>
          </p:nvPr>
        </p:nvSpPr>
        <p:spPr>
          <a:noFill/>
        </p:spPr>
        <p:txBody>
          <a:bodyPr/>
          <a:lstStyle/>
          <a:p>
            <a:r>
              <a:rPr lang="en-US"/>
              <a:t>© 2003 Herlihy and Shavit</a:t>
            </a:r>
          </a:p>
        </p:txBody>
      </p:sp>
      <p:sp>
        <p:nvSpPr>
          <p:cNvPr id="148483" name="Rectangle 7"/>
          <p:cNvSpPr>
            <a:spLocks noGrp="1" noChangeArrowheads="1"/>
          </p:cNvSpPr>
          <p:nvPr>
            <p:ph type="sldNum" sz="quarter" idx="5"/>
          </p:nvPr>
        </p:nvSpPr>
        <p:spPr>
          <a:noFill/>
        </p:spPr>
        <p:txBody>
          <a:bodyPr/>
          <a:lstStyle/>
          <a:p>
            <a:fld id="{7168B288-124F-4698-A3D8-45490135ECB7}" type="slidenum">
              <a:rPr lang="ar-SA"/>
              <a:pPr/>
              <a:t>67</a:t>
            </a:fld>
            <a:endParaRPr lang="en-US"/>
          </a:p>
        </p:txBody>
      </p:sp>
      <p:sp>
        <p:nvSpPr>
          <p:cNvPr id="148484" name="Rectangle 2"/>
          <p:cNvSpPr>
            <a:spLocks noGrp="1" noRot="1" noChangeAspect="1" noChangeArrowheads="1" noTextEdit="1"/>
          </p:cNvSpPr>
          <p:nvPr>
            <p:ph type="sldImg"/>
          </p:nvPr>
        </p:nvSpPr>
        <p:spPr>
          <a:ln/>
        </p:spPr>
      </p:sp>
      <p:sp>
        <p:nvSpPr>
          <p:cNvPr id="148485" name="Rectangle 3"/>
          <p:cNvSpPr>
            <a:spLocks noGrp="1" noChangeArrowheads="1"/>
          </p:cNvSpPr>
          <p:nvPr>
            <p:ph type="body" idx="1"/>
          </p:nvPr>
        </p:nvSpPr>
        <p:spPr>
          <a:noFill/>
          <a:ln/>
        </p:spPr>
        <p:txBody>
          <a:bodyPr/>
          <a:lstStyle/>
          <a:p>
            <a:r>
              <a:rPr lang="en-US"/>
              <a:t>For example, let’s implement a class that has one static member, </a:t>
            </a:r>
            <a:r>
              <a:rPr lang="en-US" b="1"/>
              <a:t>get()</a:t>
            </a:r>
            <a:r>
              <a:rPr lang="en-US"/>
              <a:t>, that returns a unique id for each thread. The first time it is called the thread reserves a new number for itself, and every subsequent time it is called, it returns the same numbe.</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hdr" sz="quarter"/>
          </p:nvPr>
        </p:nvSpPr>
        <p:spPr>
          <a:noFill/>
        </p:spPr>
        <p:txBody>
          <a:bodyPr/>
          <a:lstStyle/>
          <a:p>
            <a:r>
              <a:rPr lang="en-US"/>
              <a:t>© 2003 Herlihy and Shavit</a:t>
            </a:r>
          </a:p>
        </p:txBody>
      </p:sp>
      <p:sp>
        <p:nvSpPr>
          <p:cNvPr id="149507" name="Rectangle 7"/>
          <p:cNvSpPr>
            <a:spLocks noGrp="1" noChangeArrowheads="1"/>
          </p:cNvSpPr>
          <p:nvPr>
            <p:ph type="sldNum" sz="quarter" idx="5"/>
          </p:nvPr>
        </p:nvSpPr>
        <p:spPr>
          <a:noFill/>
        </p:spPr>
        <p:txBody>
          <a:bodyPr/>
          <a:lstStyle/>
          <a:p>
            <a:fld id="{89C2DA9B-3268-4160-A0C6-ED6514167283}" type="slidenum">
              <a:rPr lang="ar-SA"/>
              <a:pPr/>
              <a:t>68</a:t>
            </a:fld>
            <a:endParaRPr lang="en-US"/>
          </a:p>
        </p:txBody>
      </p:sp>
      <p:sp>
        <p:nvSpPr>
          <p:cNvPr id="149508" name="Rectangle 2"/>
          <p:cNvSpPr>
            <a:spLocks noGrp="1" noRot="1" noChangeAspect="1" noChangeArrowheads="1" noTextEdit="1"/>
          </p:cNvSpPr>
          <p:nvPr>
            <p:ph type="sldImg"/>
          </p:nvPr>
        </p:nvSpPr>
        <p:spPr>
          <a:ln/>
        </p:spPr>
      </p:sp>
      <p:sp>
        <p:nvSpPr>
          <p:cNvPr id="149509" name="Rectangle 3"/>
          <p:cNvSpPr>
            <a:spLocks noGrp="1" noChangeArrowheads="1"/>
          </p:cNvSpPr>
          <p:nvPr>
            <p:ph type="body" idx="1"/>
          </p:nvPr>
        </p:nvSpPr>
        <p:spPr>
          <a:noFill/>
          <a:ln/>
        </p:spPr>
        <p:txBody>
          <a:bodyPr/>
          <a:lstStyle/>
          <a:p>
            <a:r>
              <a:rPr lang="en-US"/>
              <a:t>Most of this code is pretty straightforward.</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hdr" sz="quarter"/>
          </p:nvPr>
        </p:nvSpPr>
        <p:spPr>
          <a:noFill/>
        </p:spPr>
        <p:txBody>
          <a:bodyPr/>
          <a:lstStyle/>
          <a:p>
            <a:r>
              <a:rPr lang="en-US"/>
              <a:t>© 2003 Herlihy and Shavit</a:t>
            </a:r>
          </a:p>
        </p:txBody>
      </p:sp>
      <p:sp>
        <p:nvSpPr>
          <p:cNvPr id="150531" name="Rectangle 7"/>
          <p:cNvSpPr>
            <a:spLocks noGrp="1" noChangeArrowheads="1"/>
          </p:cNvSpPr>
          <p:nvPr>
            <p:ph type="sldNum" sz="quarter" idx="5"/>
          </p:nvPr>
        </p:nvSpPr>
        <p:spPr>
          <a:noFill/>
        </p:spPr>
        <p:txBody>
          <a:bodyPr/>
          <a:lstStyle/>
          <a:p>
            <a:fld id="{F8C5AA4C-1F82-4950-99FE-61290ED5E887}" type="slidenum">
              <a:rPr lang="ar-SA"/>
              <a:pPr/>
              <a:t>69</a:t>
            </a:fld>
            <a:endParaRPr lang="en-US"/>
          </a:p>
        </p:txBody>
      </p:sp>
      <p:sp>
        <p:nvSpPr>
          <p:cNvPr id="150532" name="Rectangle 2"/>
          <p:cNvSpPr>
            <a:spLocks noGrp="1" noRot="1" noChangeAspect="1" noChangeArrowheads="1" noTextEdit="1"/>
          </p:cNvSpPr>
          <p:nvPr>
            <p:ph type="sldImg"/>
          </p:nvPr>
        </p:nvSpPr>
        <p:spPr>
          <a:ln/>
        </p:spPr>
      </p:sp>
      <p:sp>
        <p:nvSpPr>
          <p:cNvPr id="150533" name="Rectangle 3"/>
          <p:cNvSpPr>
            <a:spLocks noGrp="1" noChangeArrowheads="1"/>
          </p:cNvSpPr>
          <p:nvPr>
            <p:ph type="body" idx="1"/>
          </p:nvPr>
        </p:nvSpPr>
        <p:spPr>
          <a:noFill/>
          <a:ln/>
        </p:spPr>
        <p:txBody>
          <a:bodyPr/>
          <a:lstStyle/>
          <a:p>
            <a:r>
              <a:rPr lang="en-US"/>
              <a:t>In the queue example, if a dequeuing thread is waiting, it should be notified the queue becomes non-empty, and a waiting enqueuing thread should be notified when when the queue becomes non-full. Does this code do the trick?</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ChangeArrowheads="1"/>
          </p:cNvSpPr>
          <p:nvPr>
            <p:ph type="hdr" sz="quarter"/>
          </p:nvPr>
        </p:nvSpPr>
        <p:spPr>
          <a:noFill/>
        </p:spPr>
        <p:txBody>
          <a:bodyPr/>
          <a:lstStyle/>
          <a:p>
            <a:r>
              <a:rPr lang="en-US"/>
              <a:t>© 2003 Herlihy and Shavit</a:t>
            </a:r>
          </a:p>
        </p:txBody>
      </p:sp>
      <p:sp>
        <p:nvSpPr>
          <p:cNvPr id="151555" name="Rectangle 7"/>
          <p:cNvSpPr>
            <a:spLocks noGrp="1" noChangeArrowheads="1"/>
          </p:cNvSpPr>
          <p:nvPr>
            <p:ph type="sldNum" sz="quarter" idx="5"/>
          </p:nvPr>
        </p:nvSpPr>
        <p:spPr>
          <a:noFill/>
        </p:spPr>
        <p:txBody>
          <a:bodyPr/>
          <a:lstStyle/>
          <a:p>
            <a:fld id="{58773FF6-F20D-4EE3-BB3D-E87F03D0B3CD}" type="slidenum">
              <a:rPr lang="ar-SA"/>
              <a:pPr/>
              <a:t>70</a:t>
            </a:fld>
            <a:endParaRPr lang="en-US"/>
          </a:p>
        </p:txBody>
      </p:sp>
      <p:sp>
        <p:nvSpPr>
          <p:cNvPr id="151556" name="Rectangle 2"/>
          <p:cNvSpPr>
            <a:spLocks noGrp="1" noRot="1" noChangeAspect="1" noChangeArrowheads="1" noTextEdit="1"/>
          </p:cNvSpPr>
          <p:nvPr>
            <p:ph type="sldImg"/>
          </p:nvPr>
        </p:nvSpPr>
        <p:spPr>
          <a:ln/>
        </p:spPr>
      </p:sp>
      <p:sp>
        <p:nvSpPr>
          <p:cNvPr id="151557" name="Rectangle 3"/>
          <p:cNvSpPr>
            <a:spLocks noGrp="1" noChangeArrowheads="1"/>
          </p:cNvSpPr>
          <p:nvPr>
            <p:ph type="body" idx="1"/>
          </p:nvPr>
        </p:nvSpPr>
        <p:spPr>
          <a:noFill/>
          <a:ln/>
        </p:spPr>
        <p:txBody>
          <a:bodyPr/>
          <a:lstStyle/>
          <a:p>
            <a:r>
              <a:rPr lang="en-US"/>
              <a:t>In the queue example, if a dequeuing thread is waiting, it should be notified the queue becomes non-empty, and a waiting enqueuing thread should be notified when when the queue becomes non-full. Does this code do the trick?</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hdr" sz="quarter"/>
          </p:nvPr>
        </p:nvSpPr>
        <p:spPr>
          <a:noFill/>
        </p:spPr>
        <p:txBody>
          <a:bodyPr/>
          <a:lstStyle/>
          <a:p>
            <a:r>
              <a:rPr lang="en-US"/>
              <a:t>© 2003 Herlihy and Shavit</a:t>
            </a:r>
          </a:p>
        </p:txBody>
      </p:sp>
      <p:sp>
        <p:nvSpPr>
          <p:cNvPr id="152579" name="Rectangle 7"/>
          <p:cNvSpPr>
            <a:spLocks noGrp="1" noChangeArrowheads="1"/>
          </p:cNvSpPr>
          <p:nvPr>
            <p:ph type="sldNum" sz="quarter" idx="5"/>
          </p:nvPr>
        </p:nvSpPr>
        <p:spPr>
          <a:noFill/>
        </p:spPr>
        <p:txBody>
          <a:bodyPr/>
          <a:lstStyle/>
          <a:p>
            <a:fld id="{4382C3C9-ACD9-48C0-A4AE-EAD904362944}" type="slidenum">
              <a:rPr lang="ar-SA"/>
              <a:pPr/>
              <a:t>71</a:t>
            </a:fld>
            <a:endParaRPr lang="en-US"/>
          </a:p>
        </p:txBody>
      </p:sp>
      <p:sp>
        <p:nvSpPr>
          <p:cNvPr id="152580" name="Rectangle 2"/>
          <p:cNvSpPr>
            <a:spLocks noGrp="1" noRot="1" noChangeAspect="1" noChangeArrowheads="1" noTextEdit="1"/>
          </p:cNvSpPr>
          <p:nvPr>
            <p:ph type="sldImg"/>
          </p:nvPr>
        </p:nvSpPr>
        <p:spPr>
          <a:ln/>
        </p:spPr>
      </p:sp>
      <p:sp>
        <p:nvSpPr>
          <p:cNvPr id="152581" name="Rectangle 3"/>
          <p:cNvSpPr>
            <a:spLocks noGrp="1" noChangeArrowheads="1"/>
          </p:cNvSpPr>
          <p:nvPr>
            <p:ph type="body" idx="1"/>
          </p:nvPr>
        </p:nvSpPr>
        <p:spPr>
          <a:noFill/>
          <a:ln/>
        </p:spPr>
        <p:txBody>
          <a:bodyPr/>
          <a:lstStyle/>
          <a:p>
            <a:r>
              <a:rPr lang="en-US"/>
              <a:t>In the queue example, if a dequeuing thread is waiting, it should be notified the queue becomes non-empty, and a waiting enqueuing thread should be notified when when the queue becomes non-full. Does this code do the trick?</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p:cNvSpPr>
            <a:spLocks noGrp="1" noChangeArrowheads="1"/>
          </p:cNvSpPr>
          <p:nvPr>
            <p:ph type="hdr" sz="quarter"/>
          </p:nvPr>
        </p:nvSpPr>
        <p:spPr>
          <a:noFill/>
        </p:spPr>
        <p:txBody>
          <a:bodyPr/>
          <a:lstStyle/>
          <a:p>
            <a:r>
              <a:rPr lang="en-US"/>
              <a:t>© 2003 Herlihy and Shavit</a:t>
            </a:r>
          </a:p>
        </p:txBody>
      </p:sp>
      <p:sp>
        <p:nvSpPr>
          <p:cNvPr id="153603" name="Rectangle 7"/>
          <p:cNvSpPr>
            <a:spLocks noGrp="1" noChangeArrowheads="1"/>
          </p:cNvSpPr>
          <p:nvPr>
            <p:ph type="sldNum" sz="quarter" idx="5"/>
          </p:nvPr>
        </p:nvSpPr>
        <p:spPr>
          <a:noFill/>
        </p:spPr>
        <p:txBody>
          <a:bodyPr/>
          <a:lstStyle/>
          <a:p>
            <a:fld id="{230379DB-9AF6-4917-9419-5818F89AD18C}" type="slidenum">
              <a:rPr lang="ar-SA"/>
              <a:pPr/>
              <a:t>72</a:t>
            </a:fld>
            <a:endParaRPr lang="en-US"/>
          </a:p>
        </p:txBody>
      </p:sp>
      <p:sp>
        <p:nvSpPr>
          <p:cNvPr id="153604" name="Rectangle 2"/>
          <p:cNvSpPr>
            <a:spLocks noGrp="1" noRot="1" noChangeAspect="1" noChangeArrowheads="1" noTextEdit="1"/>
          </p:cNvSpPr>
          <p:nvPr>
            <p:ph type="sldImg"/>
          </p:nvPr>
        </p:nvSpPr>
        <p:spPr>
          <a:ln/>
        </p:spPr>
      </p:sp>
      <p:sp>
        <p:nvSpPr>
          <p:cNvPr id="153605" name="Rectangle 3"/>
          <p:cNvSpPr>
            <a:spLocks noGrp="1" noChangeArrowheads="1"/>
          </p:cNvSpPr>
          <p:nvPr>
            <p:ph type="body" idx="1"/>
          </p:nvPr>
        </p:nvSpPr>
        <p:spPr>
          <a:noFill/>
          <a:ln/>
        </p:spPr>
        <p:txBody>
          <a:bodyPr/>
          <a:lstStyle/>
          <a:p>
            <a:r>
              <a:rPr lang="en-US"/>
              <a:t>This class is where everything interesting happens. We declare the class to be a subclass of </a:t>
            </a:r>
            <a:r>
              <a:rPr lang="en-US" b="1"/>
              <a:t>ThreadLocal&lt;Integer&gt;</a:t>
            </a:r>
            <a:r>
              <a:rPr lang="en-US"/>
              <a:t>, since we are managing a thread-local integer value. All we have to do is to overrride the </a:t>
            </a:r>
            <a:r>
              <a:rPr lang="en-US" b="1"/>
              <a:t>initialValue()</a:t>
            </a:r>
            <a:r>
              <a:rPr lang="en-US"/>
              <a:t> method to reserve an unused thread ID by incrementing the nextID field. Notice that this method is </a:t>
            </a:r>
            <a:r>
              <a:rPr lang="en-US" b="1"/>
              <a:t>synchronized</a:t>
            </a:r>
            <a:r>
              <a:rPr lang="en-US"/>
              <a:t> to ensure that the increment happens atomically</a:t>
            </a:r>
          </a:p>
          <a:p>
            <a:endParaRPr lang="en-US"/>
          </a:p>
          <a:p>
            <a:r>
              <a:rPr lang="en-US"/>
              <a:t>[Aside: we have to use </a:t>
            </a:r>
            <a:r>
              <a:rPr lang="en-US" b="1"/>
              <a:t>Integer</a:t>
            </a:r>
            <a:r>
              <a:rPr lang="en-US"/>
              <a:t> instead of </a:t>
            </a:r>
            <a:r>
              <a:rPr lang="en-US" b="1"/>
              <a:t>int</a:t>
            </a:r>
            <a:r>
              <a:rPr lang="en-US"/>
              <a:t> because in </a:t>
            </a:r>
            <a:r>
              <a:rPr lang="en-US" b="1"/>
              <a:t>ThreadLocal&lt;T&gt;</a:t>
            </a:r>
            <a:r>
              <a:rPr lang="en-US"/>
              <a:t> , T must be an object type (like </a:t>
            </a:r>
            <a:r>
              <a:rPr lang="en-US" b="1"/>
              <a:t>Integer</a:t>
            </a:r>
            <a:r>
              <a:rPr lang="en-US"/>
              <a:t>), not a value type, like </a:t>
            </a:r>
            <a:r>
              <a:rPr lang="en-US" b="1"/>
              <a:t>int</a:t>
            </a:r>
            <a:r>
              <a:rPr lang="en-US"/>
              <a:t>. Since conversions between these types are mostly automatic, it’s a detail.]</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hdr" sz="quarter"/>
          </p:nvPr>
        </p:nvSpPr>
        <p:spPr>
          <a:noFill/>
        </p:spPr>
        <p:txBody>
          <a:bodyPr/>
          <a:lstStyle/>
          <a:p>
            <a:r>
              <a:rPr lang="en-US"/>
              <a:t>© 2003 Herlihy and Shavit</a:t>
            </a:r>
          </a:p>
        </p:txBody>
      </p:sp>
      <p:sp>
        <p:nvSpPr>
          <p:cNvPr id="154627" name="Rectangle 7"/>
          <p:cNvSpPr>
            <a:spLocks noGrp="1" noChangeArrowheads="1"/>
          </p:cNvSpPr>
          <p:nvPr>
            <p:ph type="sldNum" sz="quarter" idx="5"/>
          </p:nvPr>
        </p:nvSpPr>
        <p:spPr>
          <a:noFill/>
        </p:spPr>
        <p:txBody>
          <a:bodyPr/>
          <a:lstStyle/>
          <a:p>
            <a:fld id="{88099F47-97CE-4B10-9E67-9A7A9FD5E6F8}" type="slidenum">
              <a:rPr lang="ar-SA"/>
              <a:pPr/>
              <a:t>73</a:t>
            </a:fld>
            <a:endParaRPr lang="en-US"/>
          </a:p>
        </p:txBody>
      </p:sp>
      <p:sp>
        <p:nvSpPr>
          <p:cNvPr id="154628" name="Rectangle 2"/>
          <p:cNvSpPr>
            <a:spLocks noGrp="1" noRot="1" noChangeAspect="1" noChangeArrowheads="1" noTextEdit="1"/>
          </p:cNvSpPr>
          <p:nvPr>
            <p:ph type="sldImg"/>
          </p:nvPr>
        </p:nvSpPr>
        <p:spPr>
          <a:ln/>
        </p:spPr>
      </p:sp>
      <p:sp>
        <p:nvSpPr>
          <p:cNvPr id="154629" name="Rectangle 3"/>
          <p:cNvSpPr>
            <a:spLocks noGrp="1" noChangeArrowheads="1"/>
          </p:cNvSpPr>
          <p:nvPr>
            <p:ph type="body" idx="1"/>
          </p:nvPr>
        </p:nvSpPr>
        <p:spPr>
          <a:noFill/>
          <a:ln/>
        </p:spPr>
        <p:txBody>
          <a:bodyPr/>
          <a:lstStyle/>
          <a:p>
            <a:r>
              <a:rPr lang="en-US"/>
              <a:t>This class is where everything interesting happens. We declare the class to be a subclass of </a:t>
            </a:r>
            <a:r>
              <a:rPr lang="en-US" b="1"/>
              <a:t>ThreadLocal&lt;Integer&gt;</a:t>
            </a:r>
            <a:r>
              <a:rPr lang="en-US"/>
              <a:t>, since we are managing a thread-local integer value. All we have to do is to overrride the </a:t>
            </a:r>
            <a:r>
              <a:rPr lang="en-US" b="1"/>
              <a:t>initialValue()</a:t>
            </a:r>
            <a:r>
              <a:rPr lang="en-US"/>
              <a:t> method to reserve an unused thread ID by incrementing the nextID field. Notice that this method is </a:t>
            </a:r>
            <a:r>
              <a:rPr lang="en-US" b="1"/>
              <a:t>synchronized</a:t>
            </a:r>
            <a:r>
              <a:rPr lang="en-US"/>
              <a:t> to ensure that the increment happens atomically</a:t>
            </a:r>
          </a:p>
          <a:p>
            <a:endParaRPr lang="en-US"/>
          </a:p>
          <a:p>
            <a:r>
              <a:rPr lang="en-US"/>
              <a:t>[Aside: we have to use </a:t>
            </a:r>
            <a:r>
              <a:rPr lang="en-US" b="1"/>
              <a:t>Integer</a:t>
            </a:r>
            <a:r>
              <a:rPr lang="en-US"/>
              <a:t> instead of </a:t>
            </a:r>
            <a:r>
              <a:rPr lang="en-US" b="1"/>
              <a:t>int</a:t>
            </a:r>
            <a:r>
              <a:rPr lang="en-US"/>
              <a:t> because in </a:t>
            </a:r>
            <a:r>
              <a:rPr lang="en-US" b="1"/>
              <a:t>ThreadLocal&lt;T&gt;</a:t>
            </a:r>
            <a:r>
              <a:rPr lang="en-US"/>
              <a:t> , T must be an object type (like </a:t>
            </a:r>
            <a:r>
              <a:rPr lang="en-US" b="1"/>
              <a:t>Integer</a:t>
            </a:r>
            <a:r>
              <a:rPr lang="en-US"/>
              <a:t>), not a value type, like </a:t>
            </a:r>
            <a:r>
              <a:rPr lang="en-US" b="1"/>
              <a:t>int</a:t>
            </a:r>
            <a:r>
              <a:rPr lang="en-US"/>
              <a:t>. Since conversions between these types are mostly automatic, it’s a detail.]</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hdr" sz="quarter"/>
          </p:nvPr>
        </p:nvSpPr>
        <p:spPr>
          <a:noFill/>
        </p:spPr>
        <p:txBody>
          <a:bodyPr/>
          <a:lstStyle/>
          <a:p>
            <a:r>
              <a:rPr lang="en-US"/>
              <a:t>© 2003 Herlihy and Shavit</a:t>
            </a:r>
          </a:p>
        </p:txBody>
      </p:sp>
      <p:sp>
        <p:nvSpPr>
          <p:cNvPr id="155651" name="Rectangle 7"/>
          <p:cNvSpPr>
            <a:spLocks noGrp="1" noChangeArrowheads="1"/>
          </p:cNvSpPr>
          <p:nvPr>
            <p:ph type="sldNum" sz="quarter" idx="5"/>
          </p:nvPr>
        </p:nvSpPr>
        <p:spPr>
          <a:noFill/>
        </p:spPr>
        <p:txBody>
          <a:bodyPr/>
          <a:lstStyle/>
          <a:p>
            <a:fld id="{7DD48A57-8CC8-4B5F-82CB-4AEC3186D5C4}" type="slidenum">
              <a:rPr lang="ar-SA"/>
              <a:pPr/>
              <a:t>74</a:t>
            </a:fld>
            <a:endParaRPr lang="en-US"/>
          </a:p>
        </p:txBody>
      </p:sp>
      <p:sp>
        <p:nvSpPr>
          <p:cNvPr id="155652" name="Rectangle 2"/>
          <p:cNvSpPr>
            <a:spLocks noGrp="1" noRot="1" noChangeAspect="1" noChangeArrowheads="1" noTextEdit="1"/>
          </p:cNvSpPr>
          <p:nvPr>
            <p:ph type="sldImg"/>
          </p:nvPr>
        </p:nvSpPr>
        <p:spPr>
          <a:ln/>
        </p:spPr>
      </p:sp>
      <p:sp>
        <p:nvSpPr>
          <p:cNvPr id="155653" name="Rectangle 3"/>
          <p:cNvSpPr>
            <a:spLocks noGrp="1" noChangeArrowheads="1"/>
          </p:cNvSpPr>
          <p:nvPr>
            <p:ph type="body" idx="1"/>
          </p:nvPr>
        </p:nvSpPr>
        <p:spPr>
          <a:noFill/>
          <a:ln/>
        </p:spPr>
        <p:txBody>
          <a:bodyPr/>
          <a:lstStyle/>
          <a:p>
            <a:r>
              <a:rPr lang="en-US"/>
              <a:t>This class is where everything interesting happens. We declare the class to be a subclass of </a:t>
            </a:r>
            <a:r>
              <a:rPr lang="en-US" b="1"/>
              <a:t>ThreadLocal&lt;Integer&gt;</a:t>
            </a:r>
            <a:r>
              <a:rPr lang="en-US"/>
              <a:t>, since we are managing a thread-local integer value. All we have to do is to overrride the </a:t>
            </a:r>
            <a:r>
              <a:rPr lang="en-US" b="1"/>
              <a:t>initialValue()</a:t>
            </a:r>
            <a:r>
              <a:rPr lang="en-US"/>
              <a:t> method to reserve an unused thread ID by incrementing the nextID field. Notice that this method is </a:t>
            </a:r>
            <a:r>
              <a:rPr lang="en-US" b="1"/>
              <a:t>synchronized</a:t>
            </a:r>
            <a:r>
              <a:rPr lang="en-US"/>
              <a:t> to ensure that the increment happens atomically</a:t>
            </a:r>
          </a:p>
          <a:p>
            <a:endParaRPr lang="en-US"/>
          </a:p>
          <a:p>
            <a:r>
              <a:rPr lang="en-US"/>
              <a:t>[Aside: we have to use </a:t>
            </a:r>
            <a:r>
              <a:rPr lang="en-US" b="1"/>
              <a:t>Integer</a:t>
            </a:r>
            <a:r>
              <a:rPr lang="en-US"/>
              <a:t> instead of </a:t>
            </a:r>
            <a:r>
              <a:rPr lang="en-US" b="1"/>
              <a:t>int</a:t>
            </a:r>
            <a:r>
              <a:rPr lang="en-US"/>
              <a:t> because in </a:t>
            </a:r>
            <a:r>
              <a:rPr lang="en-US" b="1"/>
              <a:t>ThreadLocal&lt;T&gt;</a:t>
            </a:r>
            <a:r>
              <a:rPr lang="en-US"/>
              <a:t> , T must be an object type (like </a:t>
            </a:r>
            <a:r>
              <a:rPr lang="en-US" b="1"/>
              <a:t>Integer</a:t>
            </a:r>
            <a:r>
              <a:rPr lang="en-US"/>
              <a:t>), not a value type, like </a:t>
            </a:r>
            <a:r>
              <a:rPr lang="en-US" b="1"/>
              <a:t>int</a:t>
            </a:r>
            <a:r>
              <a:rPr lang="en-US"/>
              <a:t>. Since conversions between these types are mostly automatic, it’s a detail.]</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a:noFill/>
        </p:spPr>
        <p:txBody>
          <a:bodyPr/>
          <a:lstStyle/>
          <a:p>
            <a:r>
              <a:rPr lang="en-US"/>
              <a:t>© 2003 Herlihy and Shavit</a:t>
            </a:r>
          </a:p>
        </p:txBody>
      </p:sp>
      <p:sp>
        <p:nvSpPr>
          <p:cNvPr id="156675" name="Rectangle 7"/>
          <p:cNvSpPr>
            <a:spLocks noGrp="1" noChangeArrowheads="1"/>
          </p:cNvSpPr>
          <p:nvPr>
            <p:ph type="sldNum" sz="quarter" idx="5"/>
          </p:nvPr>
        </p:nvSpPr>
        <p:spPr>
          <a:noFill/>
        </p:spPr>
        <p:txBody>
          <a:bodyPr/>
          <a:lstStyle/>
          <a:p>
            <a:fld id="{45004419-5371-4654-8CA4-BBDD552576D2}" type="slidenum">
              <a:rPr lang="ar-SA"/>
              <a:pPr/>
              <a:t>75</a:t>
            </a:fld>
            <a:endParaRPr lang="en-US"/>
          </a:p>
        </p:txBody>
      </p:sp>
      <p:sp>
        <p:nvSpPr>
          <p:cNvPr id="156676" name="Rectangle 2"/>
          <p:cNvSpPr>
            <a:spLocks noGrp="1" noRot="1" noChangeAspect="1" noChangeArrowheads="1" noTextEdit="1"/>
          </p:cNvSpPr>
          <p:nvPr>
            <p:ph type="sldImg"/>
          </p:nvPr>
        </p:nvSpPr>
        <p:spPr>
          <a:ln/>
        </p:spPr>
      </p:sp>
      <p:sp>
        <p:nvSpPr>
          <p:cNvPr id="156677" name="Rectangle 3"/>
          <p:cNvSpPr>
            <a:spLocks noGrp="1" noChangeArrowheads="1"/>
          </p:cNvSpPr>
          <p:nvPr>
            <p:ph type="body" idx="1"/>
          </p:nvPr>
        </p:nvSpPr>
        <p:spPr>
          <a:noFill/>
          <a:ln/>
        </p:spPr>
        <p:txBody>
          <a:bodyPr/>
          <a:lstStyle/>
          <a:p>
            <a:endParaRPr 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hdr" sz="quarter"/>
          </p:nvPr>
        </p:nvSpPr>
        <p:spPr>
          <a:noFill/>
        </p:spPr>
        <p:txBody>
          <a:bodyPr/>
          <a:lstStyle/>
          <a:p>
            <a:r>
              <a:rPr lang="en-US"/>
              <a:t>© 2003 Herlihy and Shavit</a:t>
            </a:r>
          </a:p>
        </p:txBody>
      </p:sp>
      <p:sp>
        <p:nvSpPr>
          <p:cNvPr id="157699" name="Rectangle 7"/>
          <p:cNvSpPr>
            <a:spLocks noGrp="1" noChangeArrowheads="1"/>
          </p:cNvSpPr>
          <p:nvPr>
            <p:ph type="sldNum" sz="quarter" idx="5"/>
          </p:nvPr>
        </p:nvSpPr>
        <p:spPr>
          <a:noFill/>
        </p:spPr>
        <p:txBody>
          <a:bodyPr/>
          <a:lstStyle/>
          <a:p>
            <a:fld id="{54069E66-D495-4F01-A13A-B5EC0F7B555B}" type="slidenum">
              <a:rPr lang="ar-SA"/>
              <a:pPr/>
              <a:t>76</a:t>
            </a:fld>
            <a:endParaRPr lang="en-US"/>
          </a:p>
        </p:txBody>
      </p:sp>
      <p:sp>
        <p:nvSpPr>
          <p:cNvPr id="157700" name="Rectangle 2"/>
          <p:cNvSpPr>
            <a:spLocks noGrp="1" noRot="1" noChangeAspect="1" noChangeArrowheads="1" noTextEdit="1"/>
          </p:cNvSpPr>
          <p:nvPr>
            <p:ph type="sldImg"/>
          </p:nvPr>
        </p:nvSpPr>
        <p:spPr>
          <a:ln/>
        </p:spPr>
      </p:sp>
      <p:sp>
        <p:nvSpPr>
          <p:cNvPr id="157701"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97E3AE99-BCCD-473C-A887-730B9EE38EAF}" type="slidenum">
              <a:rPr lang="ar-SA"/>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925B126C-E8DE-437F-A4BA-5014D959AD7F}" type="slidenum">
              <a:rPr lang="ar-SA"/>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3457D4B9-0E9F-4ACF-BC59-023653139E69}" type="slidenum">
              <a:rPr lang="ar-SA"/>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568C339D-8B6D-4198-9DAB-00B6781E6EA5}" type="slidenum">
              <a:rPr lang="ar-SA"/>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D13DC4F7-678A-40A0-89FE-D02AB6C41043}" type="slidenum">
              <a:rPr lang="ar-SA"/>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96448F0E-F1E1-48EE-A9CF-9130F47EE4E4}" type="slidenum">
              <a:rPr lang="ar-SA"/>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EE199256-84D5-46F6-9D8C-46AAE4DB6466}" type="slidenum">
              <a:rPr lang="ar-SA"/>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2F59B160-B1D0-44AC-8294-7F449B875F73}" type="slidenum">
              <a:rPr lang="ar-SA"/>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4D47CB01-AFDC-4909-915A-8B6200446822}" type="slidenum">
              <a:rPr lang="ar-SA"/>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CF2D7D1E-6AFA-4667-9B56-677D54427598}" type="slidenum">
              <a:rPr lang="ar-SA"/>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7E885F94-FA1A-4C7A-9359-562D8A57E2BD}" type="slidenum">
              <a:rPr lang="ar-SA"/>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lnSpc>
                <a:spcPct val="100000"/>
              </a:lnSpc>
              <a:spcBef>
                <a:spcPct val="0"/>
              </a:spcBef>
              <a:defRPr sz="1400" b="0" smtClean="0">
                <a:solidFill>
                  <a:schemeClr val="tx1"/>
                </a:solidFill>
                <a:latin typeface="Arial" pitchFamily="34" charset="0"/>
              </a:defRPr>
            </a:lvl1pPr>
          </a:lstStyle>
          <a:p>
            <a:pPr>
              <a:defRPr/>
            </a:pPr>
            <a:r>
              <a:rPr lang="en-US" dirty="0"/>
              <a:t>Art of Multiprocessor Programming</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defRPr sz="1400" b="0" smtClean="0">
                <a:solidFill>
                  <a:schemeClr val="tx1"/>
                </a:solidFill>
                <a:latin typeface="Arial" pitchFamily="34" charset="0"/>
                <a:cs typeface="Arial" charset="0"/>
              </a:defRPr>
            </a:lvl1pPr>
          </a:lstStyle>
          <a:p>
            <a:pPr>
              <a:defRPr/>
            </a:pPr>
            <a:fld id="{88B4E83A-8D13-49CE-96B9-B4A5D5E2C247}" type="slidenum">
              <a:rPr lang="ar-SA"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mj-cs"/>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mn-cs"/>
        </a:defRPr>
      </a:lvl1pPr>
      <a:lvl2pPr marL="742950" indent="-285750" algn="l" rtl="0" eaLnBrk="0" fontAlgn="base" hangingPunct="0">
        <a:spcBef>
          <a:spcPct val="20000"/>
        </a:spcBef>
        <a:spcAft>
          <a:spcPct val="0"/>
        </a:spcAft>
        <a:buChar char="–"/>
        <a:defRPr sz="2800">
          <a:solidFill>
            <a:srgbClr val="0000FF"/>
          </a:solidFill>
          <a:latin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76.xml"/><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sz="4400" dirty="0"/>
              <a:t>Programming Language Basics</a:t>
            </a:r>
            <a:endParaRPr lang="en-US" dirty="0"/>
          </a:p>
        </p:txBody>
      </p:sp>
      <p:sp>
        <p:nvSpPr>
          <p:cNvPr id="5125" name="Rectangle 5"/>
          <p:cNvSpPr>
            <a:spLocks noGrp="1" noChangeArrowheads="1"/>
          </p:cNvSpPr>
          <p:nvPr>
            <p:ph type="subTitle" idx="4294967295"/>
          </p:nvPr>
        </p:nvSpPr>
        <p:spPr>
          <a:xfrm>
            <a:off x="1146969" y="4785282"/>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42046" y="1524479"/>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F0E99D83-315D-4525-9737-1953A63E5C9B}" type="slidenum">
              <a:rPr lang="ar-SA"/>
              <a:pPr>
                <a:defRPr/>
              </a:pPr>
              <a:t>2</a:t>
            </a:fld>
            <a:endParaRPr lang="en-US"/>
          </a:p>
        </p:txBody>
      </p:sp>
      <p:pic>
        <p:nvPicPr>
          <p:cNvPr id="3076" name="Picture 25"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077" name="Rectangle 4"/>
          <p:cNvSpPr>
            <a:spLocks noGrp="1" noChangeArrowheads="1"/>
          </p:cNvSpPr>
          <p:nvPr>
            <p:ph type="title"/>
          </p:nvPr>
        </p:nvSpPr>
        <p:spPr/>
        <p:txBody>
          <a:bodyPr/>
          <a:lstStyle/>
          <a:p>
            <a:r>
              <a:rPr lang="en-US" sz="4000"/>
              <a:t>Computer Science isn’t really About Programming</a:t>
            </a:r>
          </a:p>
        </p:txBody>
      </p:sp>
      <p:sp>
        <p:nvSpPr>
          <p:cNvPr id="3078" name="Rectangle 5"/>
          <p:cNvSpPr>
            <a:spLocks noGrp="1" noChangeArrowheads="1"/>
          </p:cNvSpPr>
          <p:nvPr>
            <p:ph type="body" idx="1"/>
          </p:nvPr>
        </p:nvSpPr>
        <p:spPr>
          <a:xfrm>
            <a:off x="609600" y="2743200"/>
            <a:ext cx="7772400" cy="2819400"/>
          </a:xfrm>
        </p:spPr>
        <p:txBody>
          <a:bodyPr/>
          <a:lstStyle/>
          <a:p>
            <a:r>
              <a:rPr lang="en-US"/>
              <a:t>Any more than</a:t>
            </a:r>
          </a:p>
          <a:p>
            <a:pPr lvl="1"/>
            <a:r>
              <a:rPr lang="en-US"/>
              <a:t>Astronomy is about telescopes</a:t>
            </a:r>
          </a:p>
          <a:p>
            <a:pPr lvl="1"/>
            <a:r>
              <a:rPr lang="en-US"/>
              <a:t>French Literature is about unfiltered cigarettes</a:t>
            </a:r>
          </a:p>
          <a:p>
            <a:pPr lvl="1"/>
            <a:endParaRPr lang="en-US"/>
          </a:p>
          <a:p>
            <a:pPr lvl="1"/>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281CE84-000C-4C98-91F0-D068F458840F}" type="slidenum">
              <a:rPr lang="ar-SA"/>
              <a:pPr>
                <a:defRPr/>
              </a:pPr>
              <a:t>3</a:t>
            </a:fld>
            <a:endParaRPr lang="en-US"/>
          </a:p>
        </p:txBody>
      </p:sp>
      <p:sp>
        <p:nvSpPr>
          <p:cNvPr id="4100" name="Rectangle 2"/>
          <p:cNvSpPr>
            <a:spLocks noGrp="1" noChangeArrowheads="1"/>
          </p:cNvSpPr>
          <p:nvPr>
            <p:ph type="title"/>
          </p:nvPr>
        </p:nvSpPr>
        <p:spPr/>
        <p:txBody>
          <a:bodyPr/>
          <a:lstStyle/>
          <a:p>
            <a:r>
              <a:rPr lang="en-US"/>
              <a:t>Nevertheless</a:t>
            </a:r>
          </a:p>
        </p:txBody>
      </p:sp>
      <p:sp>
        <p:nvSpPr>
          <p:cNvPr id="4101" name="Rectangle 3"/>
          <p:cNvSpPr>
            <a:spLocks noGrp="1" noChangeArrowheads="1"/>
          </p:cNvSpPr>
          <p:nvPr>
            <p:ph type="body" idx="1"/>
          </p:nvPr>
        </p:nvSpPr>
        <p:spPr/>
        <p:txBody>
          <a:bodyPr/>
          <a:lstStyle/>
          <a:p>
            <a:r>
              <a:rPr lang="en-US"/>
              <a:t>We need a programming language to state algorithms</a:t>
            </a:r>
          </a:p>
          <a:p>
            <a:r>
              <a:rPr lang="en-US"/>
              <a:t>We use Java</a:t>
            </a:r>
          </a:p>
          <a:p>
            <a:pPr lvl="1"/>
            <a:r>
              <a:rPr lang="en-US"/>
              <a:t>High-level </a:t>
            </a:r>
          </a:p>
          <a:p>
            <a:pPr lvl="2"/>
            <a:r>
              <a:rPr lang="en-US" sz="2000"/>
              <a:t>Sometimes a little too high level</a:t>
            </a:r>
          </a:p>
          <a:p>
            <a:pPr lvl="1"/>
            <a:r>
              <a:rPr lang="en-US"/>
              <a:t>Most of you have seen it before</a:t>
            </a:r>
          </a:p>
          <a:p>
            <a:pPr lvl="2"/>
            <a:r>
              <a:rPr lang="en-US"/>
              <a:t>And may see it again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88209025-CAF9-4470-AC6B-2E749A3821B7}" type="slidenum">
              <a:rPr lang="ar-SA"/>
              <a:pPr>
                <a:defRPr/>
              </a:pPr>
              <a:t>4</a:t>
            </a:fld>
            <a:endParaRPr lang="en-US"/>
          </a:p>
        </p:txBody>
      </p:sp>
      <p:sp>
        <p:nvSpPr>
          <p:cNvPr id="5124" name="Rectangle 2"/>
          <p:cNvSpPr>
            <a:spLocks noGrp="1" noChangeArrowheads="1"/>
          </p:cNvSpPr>
          <p:nvPr>
            <p:ph type="title"/>
          </p:nvPr>
        </p:nvSpPr>
        <p:spPr/>
        <p:txBody>
          <a:bodyPr/>
          <a:lstStyle/>
          <a:p>
            <a:r>
              <a:rPr lang="en-US"/>
              <a:t>Other Languages</a:t>
            </a:r>
          </a:p>
        </p:txBody>
      </p:sp>
      <p:sp>
        <p:nvSpPr>
          <p:cNvPr id="5125" name="Rectangle 3"/>
          <p:cNvSpPr>
            <a:spLocks noGrp="1" noChangeArrowheads="1"/>
          </p:cNvSpPr>
          <p:nvPr>
            <p:ph type="body" idx="1"/>
          </p:nvPr>
        </p:nvSpPr>
        <p:spPr/>
        <p:txBody>
          <a:bodyPr/>
          <a:lstStyle/>
          <a:p>
            <a:r>
              <a:rPr lang="en-US"/>
              <a:t>PThreads</a:t>
            </a:r>
          </a:p>
          <a:p>
            <a:pPr lvl="1"/>
            <a:r>
              <a:rPr lang="en-US"/>
              <a:t>C and C++</a:t>
            </a:r>
          </a:p>
          <a:p>
            <a:r>
              <a:rPr lang="en-US"/>
              <a:t>C#</a:t>
            </a:r>
          </a:p>
          <a:p>
            <a:r>
              <a:rPr lang="en-US"/>
              <a:t>MPI</a:t>
            </a:r>
          </a:p>
          <a:p>
            <a:r>
              <a:rPr lang="en-US"/>
              <a:t>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BCA428E-472F-470C-A7B0-71309AF47D5B}" type="slidenum">
              <a:rPr lang="ar-SA"/>
              <a:pPr>
                <a:defRPr/>
              </a:pPr>
              <a:t>5</a:t>
            </a:fld>
            <a:endParaRPr lang="en-US"/>
          </a:p>
        </p:txBody>
      </p:sp>
      <p:sp>
        <p:nvSpPr>
          <p:cNvPr id="6148" name="Rectangle 2"/>
          <p:cNvSpPr>
            <a:spLocks noGrp="1" noChangeArrowheads="1"/>
          </p:cNvSpPr>
          <p:nvPr>
            <p:ph type="title"/>
          </p:nvPr>
        </p:nvSpPr>
        <p:spPr/>
        <p:txBody>
          <a:bodyPr/>
          <a:lstStyle/>
          <a:p>
            <a:r>
              <a:rPr lang="en-US"/>
              <a:t>Threads</a:t>
            </a:r>
          </a:p>
        </p:txBody>
      </p:sp>
      <p:sp>
        <p:nvSpPr>
          <p:cNvPr id="6149" name="Rectangle 3"/>
          <p:cNvSpPr>
            <a:spLocks noGrp="1" noChangeArrowheads="1"/>
          </p:cNvSpPr>
          <p:nvPr>
            <p:ph type="body" idx="1"/>
          </p:nvPr>
        </p:nvSpPr>
        <p:spPr/>
        <p:txBody>
          <a:bodyPr/>
          <a:lstStyle/>
          <a:p>
            <a:pPr>
              <a:lnSpc>
                <a:spcPct val="90000"/>
              </a:lnSpc>
            </a:pPr>
            <a:r>
              <a:rPr lang="en-US"/>
              <a:t>Execution of a sequential program</a:t>
            </a:r>
          </a:p>
          <a:p>
            <a:pPr>
              <a:lnSpc>
                <a:spcPct val="90000"/>
              </a:lnSpc>
            </a:pPr>
            <a:r>
              <a:rPr lang="en-US"/>
              <a:t>You can tell a thread</a:t>
            </a:r>
          </a:p>
          <a:p>
            <a:pPr lvl="1">
              <a:lnSpc>
                <a:spcPct val="90000"/>
              </a:lnSpc>
            </a:pPr>
            <a:r>
              <a:rPr lang="en-US"/>
              <a:t>What to do</a:t>
            </a:r>
          </a:p>
          <a:p>
            <a:pPr lvl="1">
              <a:lnSpc>
                <a:spcPct val="90000"/>
              </a:lnSpc>
            </a:pPr>
            <a:r>
              <a:rPr lang="en-US"/>
              <a:t>When to start</a:t>
            </a:r>
          </a:p>
          <a:p>
            <a:pPr>
              <a:lnSpc>
                <a:spcPct val="90000"/>
              </a:lnSpc>
            </a:pPr>
            <a:r>
              <a:rPr lang="en-US"/>
              <a:t>You can</a:t>
            </a:r>
          </a:p>
          <a:p>
            <a:pPr lvl="1">
              <a:lnSpc>
                <a:spcPct val="90000"/>
              </a:lnSpc>
            </a:pPr>
            <a:r>
              <a:rPr lang="en-US"/>
              <a:t>Wait for it to finish</a:t>
            </a:r>
          </a:p>
          <a:p>
            <a:pPr>
              <a:lnSpc>
                <a:spcPct val="90000"/>
              </a:lnSpc>
            </a:pPr>
            <a:r>
              <a:rPr lang="en-US"/>
              <a:t>Other stuff:</a:t>
            </a:r>
          </a:p>
          <a:p>
            <a:pPr lvl="1">
              <a:lnSpc>
                <a:spcPct val="90000"/>
              </a:lnSpc>
            </a:pPr>
            <a:r>
              <a:rPr lang="en-US"/>
              <a:t>Interrupt it, give it priority, etc.</a:t>
            </a:r>
          </a:p>
          <a:p>
            <a:pPr lvl="1">
              <a:lnSpc>
                <a:spcPct val="90000"/>
              </a:lnSpc>
            </a:pP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A0B4C2CE-DAF0-4EF6-9CC6-B6FD5D157BD4}" type="slidenum">
              <a:rPr lang="ar-SA"/>
              <a:pPr>
                <a:defRPr/>
              </a:pPr>
              <a:t>6</a:t>
            </a:fld>
            <a:endParaRPr lang="en-US"/>
          </a:p>
        </p:txBody>
      </p:sp>
      <p:sp>
        <p:nvSpPr>
          <p:cNvPr id="7172" name="Rectangle 2"/>
          <p:cNvSpPr>
            <a:spLocks noGrp="1" noChangeArrowheads="1"/>
          </p:cNvSpPr>
          <p:nvPr>
            <p:ph type="title"/>
          </p:nvPr>
        </p:nvSpPr>
        <p:spPr/>
        <p:txBody>
          <a:bodyPr/>
          <a:lstStyle/>
          <a:p>
            <a:r>
              <a:rPr lang="en-US"/>
              <a:t>Threads in Java</a:t>
            </a:r>
          </a:p>
        </p:txBody>
      </p:sp>
      <p:sp>
        <p:nvSpPr>
          <p:cNvPr id="7173" name="Rectangle 3"/>
          <p:cNvSpPr>
            <a:spLocks noGrp="1" noChangeArrowheads="1"/>
          </p:cNvSpPr>
          <p:nvPr>
            <p:ph type="body" idx="1"/>
          </p:nvPr>
        </p:nvSpPr>
        <p:spPr/>
        <p:txBody>
          <a:bodyPr/>
          <a:lstStyle/>
          <a:p>
            <a:r>
              <a:rPr lang="en-US" dirty="0"/>
              <a:t>Class </a:t>
            </a:r>
            <a:r>
              <a:rPr lang="en-US" b="1" dirty="0" err="1">
                <a:solidFill>
                  <a:schemeClr val="tx1"/>
                </a:solidFill>
                <a:latin typeface="Courier New" pitchFamily="49" charset="0"/>
              </a:rPr>
              <a:t>java.lang.Thread</a:t>
            </a:r>
            <a:endParaRPr lang="en-US" b="1" dirty="0">
              <a:solidFill>
                <a:schemeClr val="tx1"/>
              </a:solidFill>
              <a:latin typeface="Courier New" pitchFamily="49" charset="0"/>
            </a:endParaRPr>
          </a:p>
          <a:p>
            <a:r>
              <a:rPr lang="en-US" dirty="0"/>
              <a:t>Each thread has a method</a:t>
            </a:r>
          </a:p>
          <a:p>
            <a:pPr lvl="1"/>
            <a:r>
              <a:rPr lang="en-US" b="1" dirty="0">
                <a:solidFill>
                  <a:schemeClr val="tx1"/>
                </a:solidFill>
                <a:latin typeface="Courier New" pitchFamily="49" charset="0"/>
              </a:rPr>
              <a:t>Void run()</a:t>
            </a:r>
            <a:endParaRPr lang="en-US" dirty="0"/>
          </a:p>
          <a:p>
            <a:r>
              <a:rPr lang="en-US" dirty="0"/>
              <a:t>Executes when it starts</a:t>
            </a:r>
          </a:p>
          <a:p>
            <a:r>
              <a:rPr lang="en-US" dirty="0"/>
              <a:t>Thread vanishes when it returns</a:t>
            </a:r>
          </a:p>
          <a:p>
            <a:r>
              <a:rPr lang="en-US" dirty="0"/>
              <a:t>You must provide this method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3498ABF2-A565-47C7-929C-B1CA95E2CE29}" type="slidenum">
              <a:rPr lang="ar-SA"/>
              <a:pPr>
                <a:defRPr/>
              </a:pPr>
              <a:t>7</a:t>
            </a:fld>
            <a:endParaRPr lang="en-US"/>
          </a:p>
        </p:txBody>
      </p:sp>
      <p:sp>
        <p:nvSpPr>
          <p:cNvPr id="8196" name="Rectangle 2"/>
          <p:cNvSpPr>
            <a:spLocks noGrp="1" noChangeArrowheads="1"/>
          </p:cNvSpPr>
          <p:nvPr>
            <p:ph type="title"/>
          </p:nvPr>
        </p:nvSpPr>
        <p:spPr/>
        <p:txBody>
          <a:bodyPr/>
          <a:lstStyle/>
          <a:p>
            <a:r>
              <a:rPr lang="en-US"/>
              <a:t>Creating a Thread</a:t>
            </a:r>
          </a:p>
        </p:txBody>
      </p:sp>
      <p:sp>
        <p:nvSpPr>
          <p:cNvPr id="8197" name="Rectangle 3"/>
          <p:cNvSpPr>
            <a:spLocks noGrp="1" noChangeArrowheads="1"/>
          </p:cNvSpPr>
          <p:nvPr>
            <p:ph type="body" idx="1"/>
          </p:nvPr>
        </p:nvSpPr>
        <p:spPr/>
        <p:txBody>
          <a:bodyPr/>
          <a:lstStyle/>
          <a:p>
            <a:r>
              <a:rPr lang="en-US" dirty="0"/>
              <a:t>Create a </a:t>
            </a:r>
            <a:r>
              <a:rPr lang="en-US" b="1" dirty="0" err="1">
                <a:solidFill>
                  <a:schemeClr val="tx1"/>
                </a:solidFill>
                <a:latin typeface="Courier New" pitchFamily="49" charset="0"/>
              </a:rPr>
              <a:t>Runnable</a:t>
            </a:r>
            <a:r>
              <a:rPr lang="en-US" dirty="0"/>
              <a:t> object</a:t>
            </a:r>
          </a:p>
          <a:p>
            <a:pPr lvl="1"/>
            <a:r>
              <a:rPr lang="en-US" b="1" dirty="0" err="1">
                <a:solidFill>
                  <a:schemeClr val="tx1"/>
                </a:solidFill>
                <a:latin typeface="Courier New" pitchFamily="49" charset="0"/>
              </a:rPr>
              <a:t>Runnable</a:t>
            </a:r>
            <a:r>
              <a:rPr lang="en-US" dirty="0"/>
              <a:t> is an interface</a:t>
            </a:r>
          </a:p>
          <a:p>
            <a:pPr lvl="1"/>
            <a:r>
              <a:rPr lang="en-US" dirty="0"/>
              <a:t>Provides </a:t>
            </a:r>
            <a:r>
              <a:rPr lang="en-US" b="1" dirty="0">
                <a:solidFill>
                  <a:schemeClr val="tx1"/>
                </a:solidFill>
                <a:latin typeface="Courier New" pitchFamily="49" charset="0"/>
              </a:rPr>
              <a:t>run()</a:t>
            </a:r>
            <a:r>
              <a:rPr lang="en-US" dirty="0"/>
              <a:t> method</a:t>
            </a:r>
          </a:p>
          <a:p>
            <a:r>
              <a:rPr lang="en-US" dirty="0"/>
              <a:t>Pass </a:t>
            </a:r>
            <a:r>
              <a:rPr lang="en-US" b="1" dirty="0" err="1">
                <a:solidFill>
                  <a:schemeClr val="tx1"/>
                </a:solidFill>
                <a:latin typeface="Courier New" pitchFamily="49" charset="0"/>
              </a:rPr>
              <a:t>Runnable</a:t>
            </a:r>
            <a:r>
              <a:rPr lang="en-US" dirty="0"/>
              <a:t> object to thread constructor</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2FF9D267-A281-413A-B8C4-42395CE7D2A0}" type="slidenum">
              <a:rPr lang="ar-SA"/>
              <a:pPr>
                <a:defRPr/>
              </a:pPr>
              <a:t>8</a:t>
            </a:fld>
            <a:endParaRPr lang="en-US"/>
          </a:p>
        </p:txBody>
      </p:sp>
      <p:pic>
        <p:nvPicPr>
          <p:cNvPr id="9220" name="Picture 8"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9221" name="Rectangle 2"/>
          <p:cNvSpPr>
            <a:spLocks noGrp="1" noChangeArrowheads="1"/>
          </p:cNvSpPr>
          <p:nvPr>
            <p:ph type="title"/>
          </p:nvPr>
        </p:nvSpPr>
        <p:spPr/>
        <p:txBody>
          <a:bodyPr/>
          <a:lstStyle/>
          <a:p>
            <a:r>
              <a:rPr lang="en-US" sz="4000"/>
              <a:t>A Runnable Class</a:t>
            </a:r>
          </a:p>
        </p:txBody>
      </p:sp>
      <p:sp>
        <p:nvSpPr>
          <p:cNvPr id="9222"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public class</a:t>
            </a:r>
            <a:r>
              <a:rPr lang="en-US" dirty="0">
                <a:latin typeface="Courier New" pitchFamily="49" charset="0"/>
              </a:rPr>
              <a:t> Hello </a:t>
            </a:r>
            <a:r>
              <a:rPr lang="en-US" dirty="0">
                <a:solidFill>
                  <a:schemeClr val="tx1"/>
                </a:solidFill>
                <a:latin typeface="Courier New" pitchFamily="49" charset="0"/>
              </a:rPr>
              <a:t>implements</a:t>
            </a:r>
            <a:r>
              <a:rPr lang="en-US" dirty="0">
                <a:latin typeface="Courier New" pitchFamily="49" charset="0"/>
              </a:rPr>
              <a:t> </a:t>
            </a:r>
            <a:r>
              <a:rPr lang="en-US" dirty="0" err="1">
                <a:latin typeface="Courier New" pitchFamily="49" charset="0"/>
              </a:rPr>
              <a:t>Runnable</a:t>
            </a:r>
            <a:r>
              <a:rPr lang="en-US" dirty="0">
                <a:latin typeface="Courier New" pitchFamily="49" charset="0"/>
              </a:rPr>
              <a:t> {</a:t>
            </a:r>
          </a:p>
          <a:p>
            <a:pPr marL="231775" indent="-231775">
              <a:lnSpc>
                <a:spcPct val="100000"/>
              </a:lnSpc>
            </a:pPr>
            <a:r>
              <a:rPr lang="en-US" dirty="0">
                <a:latin typeface="Courier New" pitchFamily="49" charset="0"/>
              </a:rPr>
              <a:t>  String message;</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a:t>
            </a:r>
            <a:r>
              <a:rPr lang="en-US" dirty="0">
                <a:latin typeface="Courier New" pitchFamily="49" charset="0"/>
              </a:rPr>
              <a:t> Hello(m) {</a:t>
            </a:r>
          </a:p>
          <a:p>
            <a:pPr marL="231775" indent="-231775">
              <a:lnSpc>
                <a:spcPct val="100000"/>
              </a:lnSpc>
            </a:pPr>
            <a:r>
              <a:rPr lang="en-US" dirty="0">
                <a:latin typeface="Courier New" pitchFamily="49" charset="0"/>
              </a:rPr>
              <a:t>    message = m;</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 void</a:t>
            </a:r>
            <a:r>
              <a:rPr lang="en-US" dirty="0">
                <a:latin typeface="Courier New" pitchFamily="49" charset="0"/>
              </a:rPr>
              <a:t> run() {</a:t>
            </a:r>
          </a:p>
          <a:p>
            <a:pPr marL="231775" indent="-231775">
              <a:lnSpc>
                <a:spcPct val="100000"/>
              </a:lnSpc>
            </a:pPr>
            <a:r>
              <a:rPr lang="en-US" dirty="0">
                <a:latin typeface="Courier New" pitchFamily="49" charset="0"/>
              </a:rPr>
              <a:t>    </a:t>
            </a:r>
            <a:r>
              <a:rPr lang="en-US" dirty="0" err="1">
                <a:latin typeface="Courier New" pitchFamily="49" charset="0"/>
              </a:rPr>
              <a:t>System.out.println</a:t>
            </a:r>
            <a:r>
              <a:rPr lang="en-US" dirty="0">
                <a:latin typeface="Courier New" pitchFamily="49" charset="0"/>
              </a:rPr>
              <a:t>(message);</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p:cNvSpPr>
            <a:spLocks noGrp="1"/>
          </p:cNvSpPr>
          <p:nvPr>
            <p:ph type="ftr" sz="quarter" idx="10"/>
          </p:nvPr>
        </p:nvSpPr>
        <p:spPr/>
        <p:txBody>
          <a:bodyPr/>
          <a:lstStyle/>
          <a:p>
            <a:pPr>
              <a:defRPr/>
            </a:pPr>
            <a:r>
              <a:rPr lang="en-US"/>
              <a:t>Art of Multiprocessor Programming</a:t>
            </a:r>
          </a:p>
        </p:txBody>
      </p:sp>
      <p:sp>
        <p:nvSpPr>
          <p:cNvPr id="9" name="Slide Number Placeholder 4"/>
          <p:cNvSpPr>
            <a:spLocks noGrp="1"/>
          </p:cNvSpPr>
          <p:nvPr>
            <p:ph type="sldNum" sz="quarter" idx="11"/>
          </p:nvPr>
        </p:nvSpPr>
        <p:spPr/>
        <p:txBody>
          <a:bodyPr/>
          <a:lstStyle/>
          <a:p>
            <a:pPr>
              <a:defRPr/>
            </a:pPr>
            <a:fld id="{177F6B58-F7DA-432D-9609-22C2CC41ABD9}" type="slidenum">
              <a:rPr lang="ar-SA"/>
              <a:pPr>
                <a:defRPr/>
              </a:pPr>
              <a:t>9</a:t>
            </a:fld>
            <a:endParaRPr lang="en-US"/>
          </a:p>
        </p:txBody>
      </p:sp>
      <p:pic>
        <p:nvPicPr>
          <p:cNvPr id="1024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0245" name="Rectangle 3"/>
          <p:cNvSpPr>
            <a:spLocks noGrp="1" noChangeArrowheads="1"/>
          </p:cNvSpPr>
          <p:nvPr>
            <p:ph type="title"/>
          </p:nvPr>
        </p:nvSpPr>
        <p:spPr/>
        <p:txBody>
          <a:bodyPr/>
          <a:lstStyle/>
          <a:p>
            <a:r>
              <a:rPr lang="en-US" sz="4000"/>
              <a:t>A Runnable Class</a:t>
            </a:r>
          </a:p>
        </p:txBody>
      </p:sp>
      <p:sp>
        <p:nvSpPr>
          <p:cNvPr id="10246"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public class Hello</a:t>
            </a:r>
            <a:r>
              <a:rPr lang="en-US" dirty="0">
                <a:latin typeface="Courier New" pitchFamily="49" charset="0"/>
              </a:rPr>
              <a:t> </a:t>
            </a:r>
            <a:r>
              <a:rPr lang="en-US" dirty="0">
                <a:solidFill>
                  <a:schemeClr val="tx1"/>
                </a:solidFill>
                <a:latin typeface="Courier New" pitchFamily="49" charset="0"/>
              </a:rPr>
              <a:t>implements</a:t>
            </a:r>
            <a:r>
              <a:rPr lang="en-US" dirty="0">
                <a:latin typeface="Courier New" pitchFamily="49" charset="0"/>
              </a:rPr>
              <a:t> </a:t>
            </a:r>
            <a:r>
              <a:rPr lang="en-US" dirty="0" err="1">
                <a:latin typeface="Courier New" pitchFamily="49" charset="0"/>
              </a:rPr>
              <a:t>Runnable</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String message;</a:t>
            </a:r>
          </a:p>
          <a:p>
            <a:pPr marL="231775" indent="-231775">
              <a:lnSpc>
                <a:spcPct val="100000"/>
              </a:lnSpc>
            </a:pPr>
            <a:r>
              <a:rPr lang="en-US" dirty="0">
                <a:solidFill>
                  <a:schemeClr val="bg2"/>
                </a:solidFill>
                <a:latin typeface="Courier New" pitchFamily="49" charset="0"/>
              </a:rPr>
              <a:t>  public Hello(m) {</a:t>
            </a:r>
          </a:p>
          <a:p>
            <a:pPr marL="231775" indent="-231775">
              <a:lnSpc>
                <a:spcPct val="100000"/>
              </a:lnSpc>
            </a:pPr>
            <a:r>
              <a:rPr lang="en-US" dirty="0">
                <a:solidFill>
                  <a:schemeClr val="bg2"/>
                </a:solidFill>
                <a:latin typeface="Courier New" pitchFamily="49" charset="0"/>
              </a:rPr>
              <a:t>    message = m;</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 void</a:t>
            </a:r>
            <a:r>
              <a:rPr lang="en-US" dirty="0">
                <a:latin typeface="Courier New" pitchFamily="49" charset="0"/>
              </a:rPr>
              <a:t> run() {</a:t>
            </a:r>
          </a:p>
          <a:p>
            <a:pPr marL="231775" indent="-231775">
              <a:lnSpc>
                <a:spcPct val="100000"/>
              </a:lnSpc>
            </a:pPr>
            <a:r>
              <a:rPr lang="en-US" dirty="0">
                <a:latin typeface="Courier New" pitchFamily="49" charset="0"/>
              </a:rPr>
              <a:t>    </a:t>
            </a:r>
            <a:r>
              <a:rPr lang="en-US" dirty="0" err="1">
                <a:latin typeface="Courier New" pitchFamily="49" charset="0"/>
              </a:rPr>
              <a:t>System.out.println</a:t>
            </a:r>
            <a:r>
              <a:rPr lang="en-US" dirty="0">
                <a:latin typeface="Courier New" pitchFamily="49" charset="0"/>
              </a:rPr>
              <a:t>(message);</a:t>
            </a:r>
          </a:p>
          <a:p>
            <a:pPr marL="231775" indent="-231775">
              <a:lnSpc>
                <a:spcPct val="100000"/>
              </a:lnSpc>
            </a:pPr>
            <a:r>
              <a:rPr lang="en-US" dirty="0">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sp>
        <p:nvSpPr>
          <p:cNvPr id="10247" name="AutoShape 5"/>
          <p:cNvSpPr>
            <a:spLocks noChangeArrowheads="1"/>
          </p:cNvSpPr>
          <p:nvPr/>
        </p:nvSpPr>
        <p:spPr bwMode="auto">
          <a:xfrm>
            <a:off x="4505325" y="1690688"/>
            <a:ext cx="3821113" cy="477837"/>
          </a:xfrm>
          <a:prstGeom prst="wedgeRoundRectCallout">
            <a:avLst>
              <a:gd name="adj1" fmla="val 10491"/>
              <a:gd name="adj2" fmla="val 197176"/>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10248" name="Text Box 6"/>
          <p:cNvSpPr txBox="1">
            <a:spLocks noChangeArrowheads="1"/>
          </p:cNvSpPr>
          <p:nvPr/>
        </p:nvSpPr>
        <p:spPr bwMode="auto">
          <a:xfrm>
            <a:off x="4373563" y="2833688"/>
            <a:ext cx="4549775" cy="519112"/>
          </a:xfrm>
          <a:prstGeom prst="rect">
            <a:avLst/>
          </a:prstGeom>
          <a:noFill/>
          <a:ln w="9525">
            <a:noFill/>
            <a:miter lim="800000"/>
            <a:headEnd/>
            <a:tailEnd/>
          </a:ln>
        </p:spPr>
        <p:txBody>
          <a:bodyPr>
            <a:spAutoFit/>
          </a:bodyPr>
          <a:lstStyle/>
          <a:p>
            <a:pPr algn="ctr">
              <a:lnSpc>
                <a:spcPct val="100000"/>
              </a:lnSpc>
              <a:spcBef>
                <a:spcPct val="0"/>
              </a:spcBef>
            </a:pPr>
            <a:r>
              <a:rPr lang="en-US" sz="2800" b="0" dirty="0" err="1">
                <a:solidFill>
                  <a:srgbClr val="FF0000"/>
                </a:solidFill>
                <a:latin typeface="Arial" pitchFamily="34" charset="0"/>
              </a:rPr>
              <a:t>Runnable</a:t>
            </a:r>
            <a:r>
              <a:rPr lang="en-US" sz="2800" b="0" dirty="0">
                <a:solidFill>
                  <a:srgbClr val="FF0000"/>
                </a:solidFill>
                <a:latin typeface="Arial" pitchFamily="34" charset="0"/>
              </a:rPr>
              <a:t> interface</a:t>
            </a:r>
          </a:p>
        </p:txBody>
      </p:sp>
      <p:sp>
        <p:nvSpPr>
          <p:cNvPr id="10249" name="AutoShape 7"/>
          <p:cNvSpPr>
            <a:spLocks noChangeArrowheads="1"/>
          </p:cNvSpPr>
          <p:nvPr/>
        </p:nvSpPr>
        <p:spPr bwMode="auto">
          <a:xfrm>
            <a:off x="1120775" y="3836988"/>
            <a:ext cx="6022975" cy="1543050"/>
          </a:xfrm>
          <a:prstGeom prst="wedgeRoundRectCallout">
            <a:avLst>
              <a:gd name="adj1" fmla="val 36190"/>
              <a:gd name="adj2" fmla="val -77676"/>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F59E84D2-6BBF-4B32-924E-CCDD25915DD7}" type="slidenum">
              <a:rPr lang="ar-SA"/>
              <a:pPr>
                <a:defRPr/>
              </a:pPr>
              <a:t>10</a:t>
            </a:fld>
            <a:endParaRPr lang="en-US"/>
          </a:p>
        </p:txBody>
      </p:sp>
      <p:pic>
        <p:nvPicPr>
          <p:cNvPr id="1126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1269" name="Rectangle 3"/>
          <p:cNvSpPr>
            <a:spLocks noGrp="1" noChangeArrowheads="1"/>
          </p:cNvSpPr>
          <p:nvPr>
            <p:ph type="title"/>
          </p:nvPr>
        </p:nvSpPr>
        <p:spPr/>
        <p:txBody>
          <a:bodyPr/>
          <a:lstStyle/>
          <a:p>
            <a:r>
              <a:rPr lang="en-US" sz="4000"/>
              <a:t>Creating a Thread</a:t>
            </a:r>
          </a:p>
        </p:txBody>
      </p:sp>
      <p:sp>
        <p:nvSpPr>
          <p:cNvPr id="11270" name="Rectangle 4"/>
          <p:cNvSpPr>
            <a:spLocks noChangeArrowheads="1"/>
          </p:cNvSpPr>
          <p:nvPr/>
        </p:nvSpPr>
        <p:spPr bwMode="auto">
          <a:xfrm>
            <a:off x="887413" y="1704975"/>
            <a:ext cx="7246937" cy="1547813"/>
          </a:xfrm>
          <a:prstGeom prst="rect">
            <a:avLst/>
          </a:prstGeom>
          <a:solidFill>
            <a:srgbClr val="FFFFCC"/>
          </a:solidFill>
          <a:ln w="9525">
            <a:noFill/>
            <a:miter lim="800000"/>
            <a:headEnd/>
            <a:tailEnd/>
          </a:ln>
        </p:spPr>
        <p:txBody>
          <a:bodyPr/>
          <a:lstStyle/>
          <a:p>
            <a:pPr marL="231775" indent="-231775">
              <a:lnSpc>
                <a:spcPct val="100000"/>
              </a:lnSpc>
            </a:pPr>
            <a:r>
              <a:rPr lang="en-US" dirty="0">
                <a:latin typeface="Courier New" pitchFamily="49" charset="0"/>
              </a:rPr>
              <a:t>String m = “Hello from ” + </a:t>
            </a:r>
            <a:r>
              <a:rPr lang="en-US" dirty="0" err="1">
                <a:latin typeface="Courier New" pitchFamily="49" charset="0"/>
              </a:rPr>
              <a:t>i</a:t>
            </a:r>
            <a:r>
              <a:rPr lang="en-US" dirty="0">
                <a:latin typeface="Courier New" pitchFamily="49" charset="0"/>
              </a:rPr>
              <a:t>;</a:t>
            </a:r>
          </a:p>
          <a:p>
            <a:pPr marL="231775" indent="-231775">
              <a:lnSpc>
                <a:spcPct val="100000"/>
              </a:lnSpc>
            </a:pPr>
            <a:r>
              <a:rPr lang="en-US" dirty="0" err="1">
                <a:latin typeface="Courier New" pitchFamily="49" charset="0"/>
              </a:rPr>
              <a:t>Runnable</a:t>
            </a:r>
            <a:r>
              <a:rPr lang="en-US" dirty="0">
                <a:latin typeface="Courier New" pitchFamily="49" charset="0"/>
              </a:rPr>
              <a:t> h = </a:t>
            </a:r>
            <a:r>
              <a:rPr lang="en-US" dirty="0">
                <a:solidFill>
                  <a:schemeClr val="tx1"/>
                </a:solidFill>
                <a:latin typeface="Courier New" pitchFamily="49" charset="0"/>
              </a:rPr>
              <a:t>new</a:t>
            </a:r>
            <a:r>
              <a:rPr lang="en-US" dirty="0">
                <a:latin typeface="Courier New" pitchFamily="49" charset="0"/>
              </a:rPr>
              <a:t> Hello(m);</a:t>
            </a:r>
          </a:p>
          <a:p>
            <a:pPr marL="231775" indent="-231775">
              <a:lnSpc>
                <a:spcPct val="100000"/>
              </a:lnSpc>
            </a:pPr>
            <a:r>
              <a:rPr lang="en-US" dirty="0">
                <a:latin typeface="Courier New" pitchFamily="49" charset="0"/>
              </a:rPr>
              <a:t>Thread t = </a:t>
            </a:r>
            <a:r>
              <a:rPr lang="en-US" dirty="0">
                <a:solidFill>
                  <a:schemeClr val="tx1"/>
                </a:solidFill>
                <a:latin typeface="Courier New" pitchFamily="49" charset="0"/>
              </a:rPr>
              <a:t>new </a:t>
            </a:r>
            <a:r>
              <a:rPr lang="en-US" dirty="0">
                <a:latin typeface="Courier New" pitchFamily="49" charset="0"/>
              </a:rPr>
              <a:t>Thread(h);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302C5D04-D235-4317-B9D9-ECDAE6443B57}" type="slidenum">
              <a:rPr lang="ar-SA"/>
              <a:pPr>
                <a:defRPr/>
              </a:pPr>
              <a:t>11</a:t>
            </a:fld>
            <a:endParaRPr lang="en-US"/>
          </a:p>
        </p:txBody>
      </p:sp>
      <p:pic>
        <p:nvPicPr>
          <p:cNvPr id="122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2293" name="Rectangle 3"/>
          <p:cNvSpPr>
            <a:spLocks noGrp="1" noChangeArrowheads="1"/>
          </p:cNvSpPr>
          <p:nvPr>
            <p:ph type="title"/>
          </p:nvPr>
        </p:nvSpPr>
        <p:spPr/>
        <p:txBody>
          <a:bodyPr/>
          <a:lstStyle/>
          <a:p>
            <a:r>
              <a:rPr lang="en-US" sz="4000"/>
              <a:t>Creating a Thread</a:t>
            </a:r>
          </a:p>
        </p:txBody>
      </p:sp>
      <p:sp>
        <p:nvSpPr>
          <p:cNvPr id="12294" name="Rectangle 4"/>
          <p:cNvSpPr>
            <a:spLocks noChangeArrowheads="1"/>
          </p:cNvSpPr>
          <p:nvPr/>
        </p:nvSpPr>
        <p:spPr bwMode="auto">
          <a:xfrm>
            <a:off x="887413" y="1704975"/>
            <a:ext cx="7246937" cy="1547813"/>
          </a:xfrm>
          <a:prstGeom prst="rect">
            <a:avLst/>
          </a:prstGeom>
          <a:solidFill>
            <a:srgbClr val="FFFFCC"/>
          </a:solidFill>
          <a:ln w="9525">
            <a:noFill/>
            <a:miter lim="800000"/>
            <a:headEnd/>
            <a:tailEnd/>
          </a:ln>
        </p:spPr>
        <p:txBody>
          <a:bodyPr/>
          <a:lstStyle/>
          <a:p>
            <a:pPr marL="231775" indent="-231775">
              <a:lnSpc>
                <a:spcPct val="100000"/>
              </a:lnSpc>
            </a:pPr>
            <a:r>
              <a:rPr lang="en-US" dirty="0">
                <a:latin typeface="Courier New" pitchFamily="49" charset="0"/>
              </a:rPr>
              <a:t>String m = “Hello from ” + </a:t>
            </a:r>
            <a:r>
              <a:rPr lang="en-US" dirty="0" err="1">
                <a:latin typeface="Courier New" pitchFamily="49" charset="0"/>
              </a:rPr>
              <a:t>i</a:t>
            </a:r>
            <a:r>
              <a:rPr lang="en-US" dirty="0">
                <a:latin typeface="Courier New" pitchFamily="49" charset="0"/>
              </a:rPr>
              <a:t>;</a:t>
            </a:r>
          </a:p>
          <a:p>
            <a:pPr marL="231775" indent="-231775">
              <a:lnSpc>
                <a:spcPct val="100000"/>
              </a:lnSpc>
            </a:pPr>
            <a:r>
              <a:rPr lang="en-US" dirty="0" err="1">
                <a:latin typeface="Courier New" pitchFamily="49" charset="0"/>
              </a:rPr>
              <a:t>Runnable</a:t>
            </a:r>
            <a:r>
              <a:rPr lang="en-US" dirty="0">
                <a:latin typeface="Courier New" pitchFamily="49" charset="0"/>
              </a:rPr>
              <a:t> h = </a:t>
            </a:r>
            <a:r>
              <a:rPr lang="en-US" dirty="0">
                <a:solidFill>
                  <a:schemeClr val="tx1"/>
                </a:solidFill>
                <a:latin typeface="Courier New" pitchFamily="49" charset="0"/>
              </a:rPr>
              <a:t>new</a:t>
            </a:r>
            <a:r>
              <a:rPr lang="en-US" dirty="0">
                <a:latin typeface="Courier New" pitchFamily="49" charset="0"/>
              </a:rPr>
              <a:t> Hello(m);</a:t>
            </a:r>
          </a:p>
          <a:p>
            <a:pPr marL="231775" indent="-231775">
              <a:lnSpc>
                <a:spcPct val="100000"/>
              </a:lnSpc>
            </a:pPr>
            <a:r>
              <a:rPr lang="en-US" dirty="0">
                <a:solidFill>
                  <a:schemeClr val="bg2"/>
                </a:solidFill>
                <a:latin typeface="Courier New" pitchFamily="49" charset="0"/>
              </a:rPr>
              <a:t>Thread t = new Thread(h);</a:t>
            </a:r>
          </a:p>
        </p:txBody>
      </p:sp>
      <p:sp>
        <p:nvSpPr>
          <p:cNvPr id="12295" name="AutoShape 5"/>
          <p:cNvSpPr>
            <a:spLocks noChangeArrowheads="1"/>
          </p:cNvSpPr>
          <p:nvPr/>
        </p:nvSpPr>
        <p:spPr bwMode="auto">
          <a:xfrm>
            <a:off x="742950" y="1735138"/>
            <a:ext cx="5843588" cy="868362"/>
          </a:xfrm>
          <a:prstGeom prst="wedgeRoundRectCallout">
            <a:avLst>
              <a:gd name="adj1" fmla="val 69"/>
              <a:gd name="adj2" fmla="val 272486"/>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12296" name="Text Box 6"/>
          <p:cNvSpPr txBox="1">
            <a:spLocks noChangeArrowheads="1"/>
          </p:cNvSpPr>
          <p:nvPr/>
        </p:nvSpPr>
        <p:spPr bwMode="auto">
          <a:xfrm>
            <a:off x="1420813" y="4692650"/>
            <a:ext cx="4549775"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Create a </a:t>
            </a:r>
            <a:r>
              <a:rPr lang="en-US" sz="2800" b="0" dirty="0" err="1">
                <a:solidFill>
                  <a:srgbClr val="FF0000"/>
                </a:solidFill>
                <a:latin typeface="Arial" pitchFamily="34" charset="0"/>
              </a:rPr>
              <a:t>Runnable</a:t>
            </a:r>
            <a:r>
              <a:rPr lang="en-US" sz="2800" b="0" dirty="0">
                <a:solidFill>
                  <a:srgbClr val="FF0000"/>
                </a:solidFill>
                <a:latin typeface="Arial" pitchFamily="34" charset="0"/>
              </a:rPr>
              <a:t> object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43C4957A-1A44-4DAD-9E6F-D1CF07101D14}" type="slidenum">
              <a:rPr lang="ar-SA"/>
              <a:pPr>
                <a:defRPr/>
              </a:pPr>
              <a:t>12</a:t>
            </a:fld>
            <a:endParaRPr lang="en-US"/>
          </a:p>
        </p:txBody>
      </p:sp>
      <p:pic>
        <p:nvPicPr>
          <p:cNvPr id="1331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3317" name="Rectangle 3"/>
          <p:cNvSpPr>
            <a:spLocks noGrp="1" noChangeArrowheads="1"/>
          </p:cNvSpPr>
          <p:nvPr>
            <p:ph type="title"/>
          </p:nvPr>
        </p:nvSpPr>
        <p:spPr/>
        <p:txBody>
          <a:bodyPr/>
          <a:lstStyle/>
          <a:p>
            <a:r>
              <a:rPr lang="en-US" sz="4000"/>
              <a:t>Creating a Thread</a:t>
            </a:r>
          </a:p>
        </p:txBody>
      </p:sp>
      <p:sp>
        <p:nvSpPr>
          <p:cNvPr id="13318" name="Rectangle 4"/>
          <p:cNvSpPr>
            <a:spLocks noChangeArrowheads="1"/>
          </p:cNvSpPr>
          <p:nvPr/>
        </p:nvSpPr>
        <p:spPr bwMode="auto">
          <a:xfrm>
            <a:off x="887413" y="1704975"/>
            <a:ext cx="7246937" cy="154781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String m = “Hello from ” + </a:t>
            </a:r>
            <a:r>
              <a:rPr lang="en-US" dirty="0" err="1">
                <a:solidFill>
                  <a:schemeClr val="bg2"/>
                </a:solidFill>
                <a:latin typeface="Courier New" pitchFamily="49" charset="0"/>
              </a:rPr>
              <a:t>i</a:t>
            </a:r>
            <a:r>
              <a:rPr lang="en-US" dirty="0">
                <a:solidFill>
                  <a:schemeClr val="bg2"/>
                </a:solidFill>
                <a:latin typeface="Courier New" pitchFamily="49" charset="0"/>
              </a:rPr>
              <a:t>;</a:t>
            </a:r>
          </a:p>
          <a:p>
            <a:pPr marL="231775" indent="-231775">
              <a:lnSpc>
                <a:spcPct val="100000"/>
              </a:lnSpc>
            </a:pPr>
            <a:r>
              <a:rPr lang="en-US" dirty="0" err="1">
                <a:solidFill>
                  <a:schemeClr val="bg2"/>
                </a:solidFill>
                <a:latin typeface="Courier New" pitchFamily="49" charset="0"/>
              </a:rPr>
              <a:t>Runnable</a:t>
            </a:r>
            <a:r>
              <a:rPr lang="en-US" dirty="0">
                <a:solidFill>
                  <a:schemeClr val="bg2"/>
                </a:solidFill>
                <a:latin typeface="Courier New" pitchFamily="49" charset="0"/>
              </a:rPr>
              <a:t> h = new Hello(m);</a:t>
            </a:r>
          </a:p>
          <a:p>
            <a:pPr marL="231775" indent="-231775">
              <a:lnSpc>
                <a:spcPct val="100000"/>
              </a:lnSpc>
            </a:pPr>
            <a:r>
              <a:rPr lang="en-US" dirty="0">
                <a:latin typeface="Courier New" pitchFamily="49" charset="0"/>
              </a:rPr>
              <a:t>Thread t = </a:t>
            </a:r>
            <a:r>
              <a:rPr lang="en-US" dirty="0">
                <a:solidFill>
                  <a:schemeClr val="tx1"/>
                </a:solidFill>
                <a:latin typeface="Courier New" pitchFamily="49" charset="0"/>
              </a:rPr>
              <a:t>new </a:t>
            </a:r>
            <a:r>
              <a:rPr lang="en-US" dirty="0">
                <a:latin typeface="Courier New" pitchFamily="49" charset="0"/>
              </a:rPr>
              <a:t>Thread(h);</a:t>
            </a:r>
          </a:p>
        </p:txBody>
      </p:sp>
      <p:sp>
        <p:nvSpPr>
          <p:cNvPr id="13319" name="AutoShape 5"/>
          <p:cNvSpPr>
            <a:spLocks noChangeArrowheads="1"/>
          </p:cNvSpPr>
          <p:nvPr/>
        </p:nvSpPr>
        <p:spPr bwMode="auto">
          <a:xfrm>
            <a:off x="877888" y="2468563"/>
            <a:ext cx="5049837" cy="719137"/>
          </a:xfrm>
          <a:prstGeom prst="wedgeRoundRectCallout">
            <a:avLst>
              <a:gd name="adj1" fmla="val 35255"/>
              <a:gd name="adj2" fmla="val 247792"/>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13320" name="Text Box 6"/>
          <p:cNvSpPr txBox="1">
            <a:spLocks noChangeArrowheads="1"/>
          </p:cNvSpPr>
          <p:nvPr/>
        </p:nvSpPr>
        <p:spPr bwMode="auto">
          <a:xfrm>
            <a:off x="3489325" y="4722813"/>
            <a:ext cx="4549775" cy="519112"/>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Create the thread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9EB2DD1-FEA9-47EF-9F61-5BD6FD319D1E}" type="slidenum">
              <a:rPr lang="ar-SA"/>
              <a:pPr>
                <a:defRPr/>
              </a:pPr>
              <a:t>13</a:t>
            </a:fld>
            <a:endParaRPr lang="en-US"/>
          </a:p>
        </p:txBody>
      </p:sp>
      <p:sp>
        <p:nvSpPr>
          <p:cNvPr id="14340" name="Rectangle 2"/>
          <p:cNvSpPr>
            <a:spLocks noGrp="1" noChangeArrowheads="1"/>
          </p:cNvSpPr>
          <p:nvPr>
            <p:ph type="title"/>
          </p:nvPr>
        </p:nvSpPr>
        <p:spPr/>
        <p:txBody>
          <a:bodyPr/>
          <a:lstStyle/>
          <a:p>
            <a:r>
              <a:rPr lang="en-US"/>
              <a:t>Syntactic Help</a:t>
            </a:r>
          </a:p>
        </p:txBody>
      </p:sp>
      <p:sp>
        <p:nvSpPr>
          <p:cNvPr id="14341" name="Rectangle 3"/>
          <p:cNvSpPr>
            <a:spLocks noGrp="1" noChangeArrowheads="1"/>
          </p:cNvSpPr>
          <p:nvPr>
            <p:ph type="body" idx="1"/>
          </p:nvPr>
        </p:nvSpPr>
        <p:spPr/>
        <p:txBody>
          <a:bodyPr/>
          <a:lstStyle/>
          <a:p>
            <a:r>
              <a:rPr lang="en-US"/>
              <a:t>Defining a single-use class like Hello can be a nuisance</a:t>
            </a:r>
          </a:p>
          <a:p>
            <a:r>
              <a:rPr lang="en-US"/>
              <a:t>Java provides special syntax</a:t>
            </a:r>
          </a:p>
          <a:p>
            <a:r>
              <a:rPr lang="en-US"/>
              <a:t>Anonymous inner classes</a:t>
            </a:r>
          </a:p>
          <a:p>
            <a:pPr lvl="1"/>
            <a:r>
              <a:rPr lang="en-US"/>
              <a:t>May be more trouble than it’s worth</a:t>
            </a:r>
          </a:p>
          <a:p>
            <a:pPr lvl="1"/>
            <a:r>
              <a:rPr lang="en-US"/>
              <a:t>You should recognize it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5B9AD217-5468-4FAB-BC72-4437D98F0556}" type="slidenum">
              <a:rPr lang="ar-SA"/>
              <a:pPr>
                <a:defRPr/>
              </a:pPr>
              <a:t>14</a:t>
            </a:fld>
            <a:endParaRPr lang="en-US"/>
          </a:p>
        </p:txBody>
      </p:sp>
      <p:pic>
        <p:nvPicPr>
          <p:cNvPr id="1536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5365" name="Rectangle 3"/>
          <p:cNvSpPr>
            <a:spLocks noGrp="1" noChangeArrowheads="1"/>
          </p:cNvSpPr>
          <p:nvPr>
            <p:ph type="title"/>
          </p:nvPr>
        </p:nvSpPr>
        <p:spPr/>
        <p:txBody>
          <a:bodyPr/>
          <a:lstStyle/>
          <a:p>
            <a:r>
              <a:rPr lang="en-US" sz="4000"/>
              <a:t>Anonymous Inner Class</a:t>
            </a:r>
          </a:p>
        </p:txBody>
      </p:sp>
      <p:sp>
        <p:nvSpPr>
          <p:cNvPr id="15366"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latin typeface="Courier New" pitchFamily="49" charset="0"/>
              </a:rPr>
              <a:t>t = </a:t>
            </a:r>
            <a:r>
              <a:rPr lang="en-US" dirty="0">
                <a:solidFill>
                  <a:schemeClr val="tx1"/>
                </a:solidFill>
                <a:latin typeface="Courier New" pitchFamily="49" charset="0"/>
              </a:rPr>
              <a:t>new</a:t>
            </a:r>
            <a:r>
              <a:rPr lang="en-US" dirty="0">
                <a:latin typeface="Courier New" pitchFamily="49" charset="0"/>
              </a:rPr>
              <a:t> Thread(</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new</a:t>
            </a:r>
            <a:r>
              <a:rPr lang="en-US" dirty="0">
                <a:latin typeface="Courier New" pitchFamily="49" charset="0"/>
              </a:rPr>
              <a:t> </a:t>
            </a:r>
            <a:r>
              <a:rPr lang="en-US" dirty="0" err="1">
                <a:latin typeface="Courier New" pitchFamily="49" charset="0"/>
              </a:rPr>
              <a:t>Runnable</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 void</a:t>
            </a:r>
            <a:r>
              <a:rPr lang="en-US" dirty="0">
                <a:latin typeface="Courier New" pitchFamily="49" charset="0"/>
              </a:rPr>
              <a:t> run() { </a:t>
            </a:r>
          </a:p>
          <a:p>
            <a:pPr marL="231775" indent="-231775">
              <a:lnSpc>
                <a:spcPct val="100000"/>
              </a:lnSpc>
            </a:pPr>
            <a:r>
              <a:rPr lang="en-US" dirty="0">
                <a:latin typeface="Courier New" pitchFamily="49" charset="0"/>
              </a:rPr>
              <a:t>              </a:t>
            </a:r>
            <a:r>
              <a:rPr lang="en-US" dirty="0" err="1">
                <a:latin typeface="Courier New" pitchFamily="49" charset="0"/>
              </a:rPr>
              <a:t>System.out.println</a:t>
            </a:r>
            <a:r>
              <a:rPr lang="en-US" dirty="0">
                <a:latin typeface="Courier New" pitchFamily="49" charset="0"/>
              </a:rPr>
              <a:t>(m);</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  </a:t>
            </a:r>
          </a:p>
          <a:p>
            <a:pPr marL="231775" indent="-231775">
              <a:lnSpc>
                <a:spcPct val="100000"/>
              </a:lnSpc>
            </a:pPr>
            <a:r>
              <a:rPr lang="en-US" dirty="0">
                <a:latin typeface="Courier New" pitchFamily="49" charset="0"/>
              </a:rPr>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598E7CB8-7809-40EE-9B5A-2B33689FDF61}" type="slidenum">
              <a:rPr lang="ar-SA"/>
              <a:pPr>
                <a:defRPr/>
              </a:pPr>
              <a:t>15</a:t>
            </a:fld>
            <a:endParaRPr lang="en-US"/>
          </a:p>
        </p:txBody>
      </p:sp>
      <p:pic>
        <p:nvPicPr>
          <p:cNvPr id="1638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6389" name="Rectangle 3"/>
          <p:cNvSpPr>
            <a:spLocks noGrp="1" noChangeArrowheads="1"/>
          </p:cNvSpPr>
          <p:nvPr>
            <p:ph type="title"/>
          </p:nvPr>
        </p:nvSpPr>
        <p:spPr/>
        <p:txBody>
          <a:bodyPr/>
          <a:lstStyle/>
          <a:p>
            <a:r>
              <a:rPr lang="en-US" sz="4000"/>
              <a:t>Anonymous Inner Class</a:t>
            </a:r>
          </a:p>
        </p:txBody>
      </p:sp>
      <p:sp>
        <p:nvSpPr>
          <p:cNvPr id="16390"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t = new Thread(</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new</a:t>
            </a:r>
            <a:r>
              <a:rPr lang="en-US" dirty="0">
                <a:latin typeface="Courier New" pitchFamily="49" charset="0"/>
              </a:rPr>
              <a:t> </a:t>
            </a:r>
            <a:r>
              <a:rPr lang="en-US" dirty="0" err="1">
                <a:latin typeface="Courier New" pitchFamily="49" charset="0"/>
              </a:rPr>
              <a:t>Runnable</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 void</a:t>
            </a:r>
            <a:r>
              <a:rPr lang="en-US" dirty="0">
                <a:latin typeface="Courier New" pitchFamily="49" charset="0"/>
              </a:rPr>
              <a:t> run() { </a:t>
            </a:r>
          </a:p>
          <a:p>
            <a:pPr marL="231775" indent="-231775">
              <a:lnSpc>
                <a:spcPct val="100000"/>
              </a:lnSpc>
            </a:pPr>
            <a:r>
              <a:rPr lang="en-US" dirty="0">
                <a:latin typeface="Courier New" pitchFamily="49" charset="0"/>
              </a:rPr>
              <a:t>              </a:t>
            </a:r>
            <a:r>
              <a:rPr lang="en-US" dirty="0" err="1">
                <a:latin typeface="Courier New" pitchFamily="49" charset="0"/>
              </a:rPr>
              <a:t>System.out.println</a:t>
            </a:r>
            <a:r>
              <a:rPr lang="en-US" dirty="0">
                <a:latin typeface="Courier New" pitchFamily="49" charset="0"/>
              </a:rPr>
              <a:t>(m);</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a:t>
            </a:r>
          </a:p>
        </p:txBody>
      </p:sp>
      <p:sp>
        <p:nvSpPr>
          <p:cNvPr id="16391" name="AutoShape 5"/>
          <p:cNvSpPr>
            <a:spLocks noChangeArrowheads="1"/>
          </p:cNvSpPr>
          <p:nvPr/>
        </p:nvSpPr>
        <p:spPr bwMode="auto">
          <a:xfrm>
            <a:off x="2422525" y="2139950"/>
            <a:ext cx="5289550" cy="2247900"/>
          </a:xfrm>
          <a:prstGeom prst="wedgeRoundRectCallout">
            <a:avLst>
              <a:gd name="adj1" fmla="val -4319"/>
              <a:gd name="adj2" fmla="val 85944"/>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16392" name="Text Box 6"/>
          <p:cNvSpPr txBox="1">
            <a:spLocks noChangeArrowheads="1"/>
          </p:cNvSpPr>
          <p:nvPr/>
        </p:nvSpPr>
        <p:spPr bwMode="auto">
          <a:xfrm>
            <a:off x="3863975" y="5157788"/>
            <a:ext cx="4549775" cy="1384995"/>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Creates object of anonymous </a:t>
            </a:r>
            <a:r>
              <a:rPr lang="en-US" sz="2800" b="0" dirty="0" err="1">
                <a:solidFill>
                  <a:srgbClr val="FF0000"/>
                </a:solidFill>
                <a:latin typeface="Arial" pitchFamily="34" charset="0"/>
              </a:rPr>
              <a:t>Runnable</a:t>
            </a:r>
            <a:r>
              <a:rPr lang="en-US" sz="2800" b="0" dirty="0">
                <a:solidFill>
                  <a:srgbClr val="FF0000"/>
                </a:solidFill>
                <a:latin typeface="Arial" pitchFamily="34" charset="0"/>
              </a:rPr>
              <a:t> class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960E91F6-165E-4715-AC9B-D8009ACD3DE3}" type="slidenum">
              <a:rPr lang="ar-SA"/>
              <a:pPr>
                <a:defRPr/>
              </a:pPr>
              <a:t>16</a:t>
            </a:fld>
            <a:endParaRPr lang="en-US"/>
          </a:p>
        </p:txBody>
      </p:sp>
      <p:pic>
        <p:nvPicPr>
          <p:cNvPr id="1741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17413" name="Rectangle 3"/>
          <p:cNvSpPr>
            <a:spLocks noGrp="1" noChangeArrowheads="1"/>
          </p:cNvSpPr>
          <p:nvPr>
            <p:ph type="title"/>
          </p:nvPr>
        </p:nvSpPr>
        <p:spPr/>
        <p:txBody>
          <a:bodyPr/>
          <a:lstStyle/>
          <a:p>
            <a:r>
              <a:rPr lang="en-US" sz="4000"/>
              <a:t>Anonymous Inner Class</a:t>
            </a:r>
          </a:p>
        </p:txBody>
      </p:sp>
      <p:sp>
        <p:nvSpPr>
          <p:cNvPr id="17414"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latin typeface="Courier New" pitchFamily="49" charset="0"/>
              </a:rPr>
              <a:t>t = </a:t>
            </a:r>
            <a:r>
              <a:rPr lang="en-US" dirty="0">
                <a:solidFill>
                  <a:schemeClr val="tx1"/>
                </a:solidFill>
                <a:latin typeface="Courier New" pitchFamily="49" charset="0"/>
              </a:rPr>
              <a:t>new</a:t>
            </a:r>
            <a:r>
              <a:rPr lang="en-US" dirty="0">
                <a:latin typeface="Courier New" pitchFamily="49" charset="0"/>
              </a:rPr>
              <a:t> Thread(</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new </a:t>
            </a:r>
            <a:r>
              <a:rPr lang="en-US" dirty="0" err="1">
                <a:solidFill>
                  <a:schemeClr val="bg2"/>
                </a:solidFill>
                <a:latin typeface="Courier New" pitchFamily="49" charset="0"/>
              </a:rPr>
              <a:t>Runnable</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void run() { </a:t>
            </a:r>
          </a:p>
          <a:p>
            <a:pPr marL="231775" indent="-231775">
              <a:lnSpc>
                <a:spcPct val="100000"/>
              </a:lnSpc>
            </a:pPr>
            <a:r>
              <a:rPr lang="en-US" dirty="0">
                <a:solidFill>
                  <a:schemeClr val="bg2"/>
                </a:solidFill>
                <a:latin typeface="Courier New" pitchFamily="49" charset="0"/>
              </a:rPr>
              <a:t>              </a:t>
            </a:r>
            <a:r>
              <a:rPr lang="en-US" dirty="0" err="1">
                <a:solidFill>
                  <a:schemeClr val="bg2"/>
                </a:solidFill>
                <a:latin typeface="Courier New" pitchFamily="49" charset="0"/>
              </a:rPr>
              <a:t>System.out.println</a:t>
            </a:r>
            <a:r>
              <a:rPr lang="en-US" dirty="0">
                <a:solidFill>
                  <a:schemeClr val="bg2"/>
                </a:solidFill>
                <a:latin typeface="Courier New" pitchFamily="49" charset="0"/>
              </a:rPr>
              <a:t>(m);</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  </a:t>
            </a:r>
          </a:p>
          <a:p>
            <a:pPr marL="231775" indent="-231775">
              <a:lnSpc>
                <a:spcPct val="100000"/>
              </a:lnSpc>
            </a:pPr>
            <a:r>
              <a:rPr lang="en-US" dirty="0">
                <a:latin typeface="Courier New" pitchFamily="49" charset="0"/>
              </a:rPr>
              <a:t>        );</a:t>
            </a:r>
          </a:p>
        </p:txBody>
      </p:sp>
      <p:sp>
        <p:nvSpPr>
          <p:cNvPr id="17415" name="AutoShape 5"/>
          <p:cNvSpPr>
            <a:spLocks noChangeArrowheads="1"/>
          </p:cNvSpPr>
          <p:nvPr/>
        </p:nvSpPr>
        <p:spPr bwMode="auto">
          <a:xfrm>
            <a:off x="819150" y="1614488"/>
            <a:ext cx="7027863" cy="3327400"/>
          </a:xfrm>
          <a:prstGeom prst="wedgeRoundRectCallout">
            <a:avLst>
              <a:gd name="adj1" fmla="val 7194"/>
              <a:gd name="adj2" fmla="val 57634"/>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17416" name="Text Box 6"/>
          <p:cNvSpPr txBox="1">
            <a:spLocks noChangeArrowheads="1"/>
          </p:cNvSpPr>
          <p:nvPr/>
        </p:nvSpPr>
        <p:spPr bwMode="auto">
          <a:xfrm>
            <a:off x="2844800" y="5351463"/>
            <a:ext cx="4549775" cy="946150"/>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Calls Thread constructor with anonymous object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DD7FF022-9690-4219-AFBD-5C862762B01F}" type="slidenum">
              <a:rPr lang="ar-SA"/>
              <a:pPr>
                <a:defRPr/>
              </a:pPr>
              <a:t>17</a:t>
            </a:fld>
            <a:endParaRPr lang="en-US"/>
          </a:p>
        </p:txBody>
      </p:sp>
      <p:sp>
        <p:nvSpPr>
          <p:cNvPr id="18436" name="Rectangle 2"/>
          <p:cNvSpPr>
            <a:spLocks noGrp="1" noChangeArrowheads="1"/>
          </p:cNvSpPr>
          <p:nvPr>
            <p:ph type="title"/>
          </p:nvPr>
        </p:nvSpPr>
        <p:spPr/>
        <p:txBody>
          <a:bodyPr/>
          <a:lstStyle/>
          <a:p>
            <a:r>
              <a:rPr lang="en-US"/>
              <a:t>Starting a Thread</a:t>
            </a:r>
          </a:p>
        </p:txBody>
      </p:sp>
      <p:sp>
        <p:nvSpPr>
          <p:cNvPr id="18437" name="Rectangle 3"/>
          <p:cNvSpPr>
            <a:spLocks noGrp="1" noChangeArrowheads="1"/>
          </p:cNvSpPr>
          <p:nvPr>
            <p:ph type="body" idx="1"/>
          </p:nvPr>
        </p:nvSpPr>
        <p:spPr>
          <a:xfrm>
            <a:off x="685800" y="3763963"/>
            <a:ext cx="7772400" cy="2332037"/>
          </a:xfrm>
        </p:spPr>
        <p:txBody>
          <a:bodyPr/>
          <a:lstStyle/>
          <a:p>
            <a:r>
              <a:rPr lang="en-US"/>
              <a:t>Starts the new thread</a:t>
            </a:r>
          </a:p>
          <a:p>
            <a:r>
              <a:rPr lang="en-US"/>
              <a:t>Caller returns immediately</a:t>
            </a:r>
          </a:p>
          <a:p>
            <a:r>
              <a:rPr lang="en-US"/>
              <a:t>Caller &amp; thread run in parallel</a:t>
            </a:r>
          </a:p>
        </p:txBody>
      </p:sp>
      <p:sp>
        <p:nvSpPr>
          <p:cNvPr id="18438"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t.start</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7FF8C389-2456-4B9A-9792-33B1C425F506}" type="slidenum">
              <a:rPr lang="ar-SA"/>
              <a:pPr>
                <a:defRPr/>
              </a:pPr>
              <a:t>18</a:t>
            </a:fld>
            <a:endParaRPr lang="en-US"/>
          </a:p>
        </p:txBody>
      </p:sp>
      <p:sp>
        <p:nvSpPr>
          <p:cNvPr id="19460" name="Rectangle 2"/>
          <p:cNvSpPr>
            <a:spLocks noGrp="1" noChangeArrowheads="1"/>
          </p:cNvSpPr>
          <p:nvPr>
            <p:ph type="title"/>
          </p:nvPr>
        </p:nvSpPr>
        <p:spPr/>
        <p:txBody>
          <a:bodyPr/>
          <a:lstStyle/>
          <a:p>
            <a:r>
              <a:rPr lang="en-US"/>
              <a:t>Joining a Thread</a:t>
            </a:r>
          </a:p>
        </p:txBody>
      </p:sp>
      <p:sp>
        <p:nvSpPr>
          <p:cNvPr id="19461" name="Rectangle 3"/>
          <p:cNvSpPr>
            <a:spLocks noGrp="1" noChangeArrowheads="1"/>
          </p:cNvSpPr>
          <p:nvPr>
            <p:ph type="body" idx="1"/>
          </p:nvPr>
        </p:nvSpPr>
        <p:spPr>
          <a:xfrm>
            <a:off x="685800" y="3763963"/>
            <a:ext cx="7772400" cy="2332037"/>
          </a:xfrm>
        </p:spPr>
        <p:txBody>
          <a:bodyPr/>
          <a:lstStyle/>
          <a:p>
            <a:r>
              <a:rPr lang="en-US"/>
              <a:t>Blocks the caller</a:t>
            </a:r>
          </a:p>
          <a:p>
            <a:r>
              <a:rPr lang="en-US"/>
              <a:t>Waits for the thread to finish</a:t>
            </a:r>
          </a:p>
          <a:p>
            <a:r>
              <a:rPr lang="en-US"/>
              <a:t>Returns when the thread is done</a:t>
            </a:r>
          </a:p>
        </p:txBody>
      </p:sp>
      <p:sp>
        <p:nvSpPr>
          <p:cNvPr id="19462"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t.join</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39FDD83-A30C-4E1B-8CFB-981A554E518B}" type="slidenum">
              <a:rPr lang="ar-SA"/>
              <a:pPr>
                <a:defRPr/>
              </a:pPr>
              <a:t>19</a:t>
            </a:fld>
            <a:endParaRPr lang="en-US"/>
          </a:p>
        </p:txBody>
      </p:sp>
      <p:sp>
        <p:nvSpPr>
          <p:cNvPr id="20484" name="Rectangle 2"/>
          <p:cNvSpPr>
            <a:spLocks noGrp="1" noChangeArrowheads="1"/>
          </p:cNvSpPr>
          <p:nvPr>
            <p:ph type="title"/>
          </p:nvPr>
        </p:nvSpPr>
        <p:spPr/>
        <p:txBody>
          <a:bodyPr/>
          <a:lstStyle/>
          <a:p>
            <a:r>
              <a:rPr lang="en-US"/>
              <a:t>Monitors</a:t>
            </a:r>
          </a:p>
        </p:txBody>
      </p:sp>
      <p:sp>
        <p:nvSpPr>
          <p:cNvPr id="20485" name="Rectangle 3"/>
          <p:cNvSpPr>
            <a:spLocks noGrp="1" noChangeArrowheads="1"/>
          </p:cNvSpPr>
          <p:nvPr>
            <p:ph type="body" idx="1"/>
          </p:nvPr>
        </p:nvSpPr>
        <p:spPr/>
        <p:txBody>
          <a:bodyPr/>
          <a:lstStyle/>
          <a:p>
            <a:r>
              <a:rPr lang="en-US" dirty="0"/>
              <a:t>Each object has an implicit lock</a:t>
            </a:r>
          </a:p>
          <a:p>
            <a:r>
              <a:rPr lang="en-US" dirty="0"/>
              <a:t>Managed by </a:t>
            </a:r>
            <a:r>
              <a:rPr lang="en-US" b="1" dirty="0">
                <a:solidFill>
                  <a:schemeClr val="tx1"/>
                </a:solidFill>
                <a:latin typeface="Courier New" pitchFamily="49" charset="0"/>
              </a:rPr>
              <a:t>synchronized</a:t>
            </a:r>
            <a:r>
              <a:rPr lang="en-US" dirty="0"/>
              <a:t> </a:t>
            </a:r>
            <a:r>
              <a:rPr lang="en-US" dirty="0" err="1"/>
              <a:t>modifer</a:t>
            </a:r>
            <a:endParaRPr lang="en-US" dirty="0"/>
          </a:p>
          <a:p>
            <a:pPr lvl="1"/>
            <a:r>
              <a:rPr lang="en-US" dirty="0"/>
              <a:t>Methods</a:t>
            </a:r>
          </a:p>
          <a:p>
            <a:pPr lvl="1"/>
            <a:r>
              <a:rPr lang="en-US" dirty="0"/>
              <a:t>Code blocks</a:t>
            </a:r>
          </a:p>
          <a:p>
            <a:r>
              <a:rPr lang="en-US" dirty="0"/>
              <a:t>OK for easy cases</a:t>
            </a:r>
          </a:p>
          <a:p>
            <a:r>
              <a:rPr lang="en-US" dirty="0"/>
              <a:t>Not always for hard cases</a:t>
            </a: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2D5E232E-7D14-4455-A62A-4033F777E59A}" type="slidenum">
              <a:rPr lang="ar-SA"/>
              <a:pPr>
                <a:defRPr/>
              </a:pPr>
              <a:t>20</a:t>
            </a:fld>
            <a:endParaRPr lang="en-US"/>
          </a:p>
        </p:txBody>
      </p:sp>
      <p:sp>
        <p:nvSpPr>
          <p:cNvPr id="21508" name="Rectangle 2"/>
          <p:cNvSpPr>
            <a:spLocks noGrp="1" noChangeArrowheads="1"/>
          </p:cNvSpPr>
          <p:nvPr>
            <p:ph type="title"/>
          </p:nvPr>
        </p:nvSpPr>
        <p:spPr/>
        <p:txBody>
          <a:bodyPr/>
          <a:lstStyle/>
          <a:p>
            <a:r>
              <a:rPr lang="en-US"/>
              <a:t>Call Center Scenario</a:t>
            </a:r>
          </a:p>
        </p:txBody>
      </p:sp>
      <p:sp>
        <p:nvSpPr>
          <p:cNvPr id="21509" name="Rectangle 3"/>
          <p:cNvSpPr>
            <a:spLocks noGrp="1" noChangeArrowheads="1"/>
          </p:cNvSpPr>
          <p:nvPr>
            <p:ph type="body" idx="1"/>
          </p:nvPr>
        </p:nvSpPr>
        <p:spPr/>
        <p:txBody>
          <a:bodyPr/>
          <a:lstStyle/>
          <a:p>
            <a:r>
              <a:rPr lang="en-US"/>
              <a:t>Calls arrive faster than they can be answered</a:t>
            </a:r>
          </a:p>
          <a:p>
            <a:pPr lvl="1"/>
            <a:r>
              <a:rPr lang="en-US"/>
              <a:t>Play recorded message</a:t>
            </a:r>
          </a:p>
          <a:p>
            <a:pPr lvl="2"/>
            <a:r>
              <a:rPr lang="en-US"/>
              <a:t>“your call is very important to us …”</a:t>
            </a:r>
          </a:p>
          <a:p>
            <a:pPr lvl="1"/>
            <a:r>
              <a:rPr lang="en-US"/>
              <a:t>Put call in </a:t>
            </a:r>
            <a:r>
              <a:rPr lang="en-US">
                <a:solidFill>
                  <a:schemeClr val="tx1"/>
                </a:solidFill>
              </a:rPr>
              <a:t>queue</a:t>
            </a:r>
          </a:p>
          <a:p>
            <a:pPr lvl="2"/>
            <a:r>
              <a:rPr lang="en-US"/>
              <a:t>Play insipid music …</a:t>
            </a:r>
          </a:p>
          <a:p>
            <a:pPr lvl="1"/>
            <a:r>
              <a:rPr lang="en-US"/>
              <a:t>Operators dequeue call when ready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B711F786-BF4D-4DD4-A8B1-C34B0BC9748E}" type="slidenum">
              <a:rPr lang="ar-SA"/>
              <a:pPr>
                <a:defRPr/>
              </a:pPr>
              <a:t>21</a:t>
            </a:fld>
            <a:endParaRPr lang="en-US"/>
          </a:p>
        </p:txBody>
      </p:sp>
      <p:pic>
        <p:nvPicPr>
          <p:cNvPr id="225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2533" name="Rectangle 3"/>
          <p:cNvSpPr>
            <a:spLocks noGrp="1" noChangeArrowheads="1"/>
          </p:cNvSpPr>
          <p:nvPr>
            <p:ph type="title"/>
          </p:nvPr>
        </p:nvSpPr>
        <p:spPr/>
        <p:txBody>
          <a:bodyPr/>
          <a:lstStyle/>
          <a:p>
            <a:r>
              <a:rPr lang="en-US" sz="4000"/>
              <a:t>Bad Queue Implementation</a:t>
            </a:r>
          </a:p>
        </p:txBody>
      </p:sp>
      <p:sp>
        <p:nvSpPr>
          <p:cNvPr id="22534"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head = 0, tail = 0; </a:t>
            </a:r>
          </a:p>
          <a:p>
            <a:pPr marL="231775" indent="-231775">
              <a:lnSpc>
                <a:spcPct val="100000"/>
              </a:lnSpc>
            </a:pPr>
            <a:r>
              <a:rPr lang="en-US" dirty="0">
                <a:latin typeface="Courier New" pitchFamily="49" charset="0"/>
              </a:rPr>
              <a:t>  T[] items = </a:t>
            </a:r>
            <a:r>
              <a:rPr lang="en-US" dirty="0">
                <a:solidFill>
                  <a:schemeClr val="tx1"/>
                </a:solidFill>
                <a:latin typeface="Courier New" pitchFamily="49" charset="0"/>
              </a:rPr>
              <a:t>new</a:t>
            </a:r>
            <a:r>
              <a:rPr lang="en-US" dirty="0">
                <a:latin typeface="Courier New" pitchFamily="49" charset="0"/>
              </a:rPr>
              <a:t> T[QSIZE];</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items[(tail++) % QSIZE] = x;</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a:t>
            </a:r>
            <a:r>
              <a:rPr lang="en-US" dirty="0">
                <a:latin typeface="Courier New" pitchFamily="49" charset="0"/>
              </a:rPr>
              <a:t> T </a:t>
            </a:r>
            <a:r>
              <a:rPr lang="en-US" dirty="0" err="1">
                <a:latin typeface="Courier New" pitchFamily="49" charset="0"/>
              </a:rPr>
              <a:t>deq</a:t>
            </a:r>
            <a:r>
              <a:rPr lang="en-US" dirty="0">
                <a:latin typeface="Courier New" pitchFamily="49" charset="0"/>
              </a:rPr>
              <a:t>() {</a:t>
            </a:r>
          </a:p>
          <a:p>
            <a:pPr marL="231775" indent="-231775">
              <a:lnSpc>
                <a:spcPct val="100000"/>
              </a:lnSpc>
            </a:pPr>
            <a:r>
              <a:rPr lang="en-US" dirty="0">
                <a:latin typeface="Courier New" pitchFamily="49" charset="0"/>
              </a:rPr>
              <a:t>    return items[(head++) % QSIZE]</a:t>
            </a:r>
          </a:p>
          <a:p>
            <a:pPr marL="231775" indent="-231775">
              <a:lnSpc>
                <a:spcPct val="100000"/>
              </a:lnSpc>
            </a:pPr>
            <a:r>
              <a:rPr lang="en-US" dirty="0">
                <a:latin typeface="Courier New" pitchFamily="49" charset="0"/>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C698B1DD-49F9-45CE-9AD2-2D48ACE84E4D}" type="slidenum">
              <a:rPr lang="ar-SA"/>
              <a:pPr>
                <a:defRPr/>
              </a:pPr>
              <a:t>22</a:t>
            </a:fld>
            <a:endParaRPr lang="en-US"/>
          </a:p>
        </p:txBody>
      </p:sp>
      <p:sp>
        <p:nvSpPr>
          <p:cNvPr id="23556" name="Rectangle 7"/>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latin typeface="Courier New" pitchFamily="49" charset="0"/>
              </a:rPr>
              <a:t>  </a:t>
            </a:r>
            <a:r>
              <a:rPr lang="en-US" dirty="0" err="1">
                <a:solidFill>
                  <a:schemeClr val="bg2"/>
                </a:solidFill>
                <a:latin typeface="Courier New" pitchFamily="49" charset="0"/>
              </a:rPr>
              <a:t>int</a:t>
            </a:r>
            <a:r>
              <a:rPr lang="en-US" dirty="0">
                <a:solidFill>
                  <a:schemeClr val="bg2"/>
                </a:solidFill>
                <a:latin typeface="Courier New" pitchFamily="49" charset="0"/>
              </a:rPr>
              <a:t> head = 0, tail = 0; </a:t>
            </a:r>
          </a:p>
          <a:p>
            <a:pPr marL="231775" indent="-231775">
              <a:lnSpc>
                <a:spcPct val="100000"/>
              </a:lnSpc>
            </a:pPr>
            <a:r>
              <a:rPr lang="en-US" dirty="0">
                <a:solidFill>
                  <a:schemeClr val="bg2"/>
                </a:solidFill>
                <a:latin typeface="Courier New" pitchFamily="49" charset="0"/>
              </a:rPr>
              <a:t>  T[] items = new T[QSIZE];</a:t>
            </a:r>
          </a:p>
          <a:p>
            <a:pPr marL="231775" indent="-231775">
              <a:lnSpc>
                <a:spcPct val="100000"/>
              </a:lnSpc>
            </a:pPr>
            <a:r>
              <a:rPr lang="en-US" dirty="0">
                <a:solidFill>
                  <a:schemeClr val="bg2"/>
                </a:solidFill>
                <a:latin typeface="Courier New" pitchFamily="49" charset="0"/>
              </a:rPr>
              <a:t>  public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solidFill>
                  <a:schemeClr val="bg2"/>
                </a:solidFill>
                <a:latin typeface="Courier New" pitchFamily="49" charset="0"/>
              </a:rPr>
              <a:t>    items[(tail++) % QSIZE] = x;</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T </a:t>
            </a:r>
            <a:r>
              <a:rPr lang="en-US" dirty="0" err="1">
                <a:solidFill>
                  <a:schemeClr val="bg2"/>
                </a:solidFill>
                <a:latin typeface="Courier New" pitchFamily="49" charset="0"/>
              </a:rPr>
              <a:t>deq</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return items[(head++) % QSIZE]</a:t>
            </a:r>
          </a:p>
          <a:p>
            <a:pPr marL="231775" indent="-231775">
              <a:lnSpc>
                <a:spcPct val="100000"/>
              </a:lnSpc>
            </a:pPr>
            <a:r>
              <a:rPr lang="en-US" dirty="0">
                <a:solidFill>
                  <a:schemeClr val="bg2"/>
                </a:solidFill>
                <a:latin typeface="Courier New" pitchFamily="49" charset="0"/>
              </a:rPr>
              <a:t>  }}</a:t>
            </a:r>
          </a:p>
        </p:txBody>
      </p:sp>
      <p:pic>
        <p:nvPicPr>
          <p:cNvPr id="23557"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3558" name="Rectangle 3"/>
          <p:cNvSpPr>
            <a:spLocks noGrp="1" noChangeArrowheads="1"/>
          </p:cNvSpPr>
          <p:nvPr>
            <p:ph type="title"/>
          </p:nvPr>
        </p:nvSpPr>
        <p:spPr/>
        <p:txBody>
          <a:bodyPr/>
          <a:lstStyle/>
          <a:p>
            <a:r>
              <a:rPr lang="en-US" sz="4000"/>
              <a:t>Bad Queue Implementation</a:t>
            </a:r>
          </a:p>
        </p:txBody>
      </p:sp>
      <p:sp>
        <p:nvSpPr>
          <p:cNvPr id="23559" name="AutoShape 5"/>
          <p:cNvSpPr>
            <a:spLocks noChangeArrowheads="1"/>
          </p:cNvSpPr>
          <p:nvPr/>
        </p:nvSpPr>
        <p:spPr bwMode="auto">
          <a:xfrm>
            <a:off x="849313" y="1719263"/>
            <a:ext cx="3309937" cy="554037"/>
          </a:xfrm>
          <a:prstGeom prst="wedgeRoundRectCallout">
            <a:avLst>
              <a:gd name="adj1" fmla="val 44245"/>
              <a:gd name="adj2" fmla="val 598995"/>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23560" name="Text Box 6"/>
          <p:cNvSpPr txBox="1">
            <a:spLocks noChangeArrowheads="1"/>
          </p:cNvSpPr>
          <p:nvPr/>
        </p:nvSpPr>
        <p:spPr bwMode="auto">
          <a:xfrm>
            <a:off x="2403475" y="5313363"/>
            <a:ext cx="3094038" cy="946150"/>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Works for generic type 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F32F266B-8104-44E3-AF85-734E94881D53}" type="slidenum">
              <a:rPr lang="ar-SA"/>
              <a:pPr>
                <a:defRPr/>
              </a:pPr>
              <a:t>23</a:t>
            </a:fld>
            <a:endParaRPr lang="en-US"/>
          </a:p>
        </p:txBody>
      </p:sp>
      <p:sp>
        <p:nvSpPr>
          <p:cNvPr id="24580" name="Rectangle 7"/>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r>
              <a:rPr lang="en-US" dirty="0" err="1">
                <a:solidFill>
                  <a:schemeClr val="bg2"/>
                </a:solidFill>
                <a:latin typeface="Courier New" pitchFamily="49" charset="0"/>
              </a:rPr>
              <a:t>int</a:t>
            </a:r>
            <a:r>
              <a:rPr lang="en-US" dirty="0">
                <a:solidFill>
                  <a:schemeClr val="bg2"/>
                </a:solidFill>
                <a:latin typeface="Courier New" pitchFamily="49" charset="0"/>
              </a:rPr>
              <a:t> head = 0, tail = 0; </a:t>
            </a:r>
          </a:p>
          <a:p>
            <a:pPr marL="231775" indent="-231775">
              <a:lnSpc>
                <a:spcPct val="100000"/>
              </a:lnSpc>
            </a:pPr>
            <a:r>
              <a:rPr lang="en-US" dirty="0">
                <a:latin typeface="Courier New" pitchFamily="49" charset="0"/>
              </a:rPr>
              <a:t>  T[] items = </a:t>
            </a:r>
            <a:r>
              <a:rPr lang="en-US" dirty="0">
                <a:solidFill>
                  <a:schemeClr val="tx1"/>
                </a:solidFill>
                <a:latin typeface="Courier New" pitchFamily="49" charset="0"/>
              </a:rPr>
              <a:t>new</a:t>
            </a:r>
            <a:r>
              <a:rPr lang="en-US" dirty="0">
                <a:latin typeface="Courier New" pitchFamily="49" charset="0"/>
              </a:rPr>
              <a:t> T[QSIZE];</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public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solidFill>
                  <a:schemeClr val="bg2"/>
                </a:solidFill>
                <a:latin typeface="Courier New" pitchFamily="49" charset="0"/>
              </a:rPr>
              <a:t>    items[(tail++) % QSIZE] = x;</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T </a:t>
            </a:r>
            <a:r>
              <a:rPr lang="en-US" dirty="0" err="1">
                <a:solidFill>
                  <a:schemeClr val="bg2"/>
                </a:solidFill>
                <a:latin typeface="Courier New" pitchFamily="49" charset="0"/>
              </a:rPr>
              <a:t>deq</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return items[(head++) % QSIZE]</a:t>
            </a:r>
          </a:p>
          <a:p>
            <a:pPr marL="231775" indent="-231775">
              <a:lnSpc>
                <a:spcPct val="100000"/>
              </a:lnSpc>
            </a:pPr>
            <a:r>
              <a:rPr lang="en-US" dirty="0">
                <a:solidFill>
                  <a:schemeClr val="bg2"/>
                </a:solidFill>
                <a:latin typeface="Courier New" pitchFamily="49" charset="0"/>
              </a:rPr>
              <a:t>  }}</a:t>
            </a:r>
          </a:p>
        </p:txBody>
      </p:sp>
      <p:pic>
        <p:nvPicPr>
          <p:cNvPr id="24581"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4582" name="Rectangle 3"/>
          <p:cNvSpPr>
            <a:spLocks noGrp="1" noChangeArrowheads="1"/>
          </p:cNvSpPr>
          <p:nvPr>
            <p:ph type="title"/>
          </p:nvPr>
        </p:nvSpPr>
        <p:spPr/>
        <p:txBody>
          <a:bodyPr/>
          <a:lstStyle/>
          <a:p>
            <a:r>
              <a:rPr lang="en-US" sz="4000"/>
              <a:t>Bad Queue Implementation</a:t>
            </a:r>
          </a:p>
        </p:txBody>
      </p:sp>
      <p:sp>
        <p:nvSpPr>
          <p:cNvPr id="24583" name="AutoShape 5"/>
          <p:cNvSpPr>
            <a:spLocks noChangeArrowheads="1"/>
          </p:cNvSpPr>
          <p:nvPr/>
        </p:nvSpPr>
        <p:spPr bwMode="auto">
          <a:xfrm>
            <a:off x="1298575" y="2544763"/>
            <a:ext cx="4778375" cy="554037"/>
          </a:xfrm>
          <a:prstGeom prst="wedgeRoundRectCallout">
            <a:avLst>
              <a:gd name="adj1" fmla="val 56079"/>
              <a:gd name="adj2" fmla="val 507019"/>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24584" name="Text Box 6"/>
          <p:cNvSpPr txBox="1">
            <a:spLocks noChangeArrowheads="1"/>
          </p:cNvSpPr>
          <p:nvPr/>
        </p:nvSpPr>
        <p:spPr bwMode="auto">
          <a:xfrm>
            <a:off x="5100638" y="5553075"/>
            <a:ext cx="3094037"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Array of T items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BAC930BF-A71A-47FE-AF0A-A02105C8A9CE}" type="slidenum">
              <a:rPr lang="ar-SA"/>
              <a:pPr>
                <a:defRPr/>
              </a:pPr>
              <a:t>24</a:t>
            </a:fld>
            <a:endParaRPr lang="en-US"/>
          </a:p>
        </p:txBody>
      </p:sp>
      <p:sp>
        <p:nvSpPr>
          <p:cNvPr id="25604" name="Rectangle 7"/>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latin typeface="Courier New" pitchFamily="49" charset="0"/>
              </a:rPr>
              <a:t>  </a:t>
            </a:r>
            <a:r>
              <a:rPr lang="en-US" dirty="0" err="1">
                <a:solidFill>
                  <a:schemeClr val="tx1"/>
                </a:solidFill>
                <a:latin typeface="Courier New" pitchFamily="49" charset="0"/>
              </a:rPr>
              <a:t>int</a:t>
            </a:r>
            <a:r>
              <a:rPr lang="en-US" dirty="0">
                <a:latin typeface="Courier New" pitchFamily="49" charset="0"/>
              </a:rPr>
              <a:t> head = 0, tail = 0;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T[] items = new T[QSIZE];</a:t>
            </a:r>
          </a:p>
          <a:p>
            <a:pPr marL="231775" indent="-231775">
              <a:lnSpc>
                <a:spcPct val="100000"/>
              </a:lnSpc>
            </a:pPr>
            <a:r>
              <a:rPr lang="en-US" dirty="0">
                <a:solidFill>
                  <a:schemeClr val="bg2"/>
                </a:solidFill>
                <a:latin typeface="Courier New" pitchFamily="49" charset="0"/>
              </a:rPr>
              <a:t>  public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solidFill>
                  <a:schemeClr val="bg2"/>
                </a:solidFill>
                <a:latin typeface="Courier New" pitchFamily="49" charset="0"/>
              </a:rPr>
              <a:t>    items[(tail++) % QSIZE] = x;</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T </a:t>
            </a:r>
            <a:r>
              <a:rPr lang="en-US" dirty="0" err="1">
                <a:solidFill>
                  <a:schemeClr val="bg2"/>
                </a:solidFill>
                <a:latin typeface="Courier New" pitchFamily="49" charset="0"/>
              </a:rPr>
              <a:t>deq</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return items[(head++) % QSIZE]</a:t>
            </a:r>
          </a:p>
          <a:p>
            <a:pPr marL="231775" indent="-231775">
              <a:lnSpc>
                <a:spcPct val="100000"/>
              </a:lnSpc>
            </a:pPr>
            <a:r>
              <a:rPr lang="en-US" dirty="0">
                <a:solidFill>
                  <a:schemeClr val="bg2"/>
                </a:solidFill>
                <a:latin typeface="Courier New" pitchFamily="49" charset="0"/>
              </a:rPr>
              <a:t>  }}</a:t>
            </a:r>
          </a:p>
        </p:txBody>
      </p:sp>
      <p:pic>
        <p:nvPicPr>
          <p:cNvPr id="25605"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5606" name="Rectangle 3"/>
          <p:cNvSpPr>
            <a:spLocks noGrp="1" noChangeArrowheads="1"/>
          </p:cNvSpPr>
          <p:nvPr>
            <p:ph type="title"/>
          </p:nvPr>
        </p:nvSpPr>
        <p:spPr/>
        <p:txBody>
          <a:bodyPr/>
          <a:lstStyle/>
          <a:p>
            <a:r>
              <a:rPr lang="en-US" sz="4000"/>
              <a:t>Bad Queue Implementation</a:t>
            </a:r>
          </a:p>
        </p:txBody>
      </p:sp>
      <p:sp>
        <p:nvSpPr>
          <p:cNvPr id="25607" name="AutoShape 5"/>
          <p:cNvSpPr>
            <a:spLocks noChangeArrowheads="1"/>
          </p:cNvSpPr>
          <p:nvPr/>
        </p:nvSpPr>
        <p:spPr bwMode="auto">
          <a:xfrm>
            <a:off x="1298575" y="2130425"/>
            <a:ext cx="4448175" cy="554038"/>
          </a:xfrm>
          <a:prstGeom prst="wedgeRoundRectCallout">
            <a:avLst>
              <a:gd name="adj1" fmla="val 23838"/>
              <a:gd name="adj2" fmla="val 550287"/>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25608" name="Text Box 6"/>
          <p:cNvSpPr txBox="1">
            <a:spLocks noChangeArrowheads="1"/>
          </p:cNvSpPr>
          <p:nvPr/>
        </p:nvSpPr>
        <p:spPr bwMode="auto">
          <a:xfrm>
            <a:off x="1938338" y="5553075"/>
            <a:ext cx="6256337"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next slot to </a:t>
            </a:r>
            <a:r>
              <a:rPr lang="en-US" sz="2800" b="0" dirty="0" err="1">
                <a:solidFill>
                  <a:srgbClr val="FF0000"/>
                </a:solidFill>
                <a:latin typeface="Arial" pitchFamily="34" charset="0"/>
              </a:rPr>
              <a:t>dequeue</a:t>
            </a:r>
            <a:r>
              <a:rPr lang="en-US" sz="2800" b="0" dirty="0">
                <a:solidFill>
                  <a:srgbClr val="FF0000"/>
                </a:solidFill>
                <a:latin typeface="Arial" pitchFamily="34" charset="0"/>
              </a:rPr>
              <a:t>, 1</a:t>
            </a:r>
            <a:r>
              <a:rPr lang="en-US" sz="2800" b="0" baseline="30000" dirty="0">
                <a:solidFill>
                  <a:srgbClr val="FF0000"/>
                </a:solidFill>
                <a:latin typeface="Arial" pitchFamily="34" charset="0"/>
              </a:rPr>
              <a:t>st</a:t>
            </a:r>
            <a:r>
              <a:rPr lang="en-US" sz="2800" b="0" dirty="0">
                <a:solidFill>
                  <a:srgbClr val="FF0000"/>
                </a:solidFill>
                <a:latin typeface="Arial" pitchFamily="34" charset="0"/>
              </a:rPr>
              <a:t> empty slot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BAB20508-7580-44AD-A69F-25432F0F69D0}" type="slidenum">
              <a:rPr lang="ar-SA"/>
              <a:pPr>
                <a:defRPr/>
              </a:pPr>
              <a:t>25</a:t>
            </a:fld>
            <a:endParaRPr lang="en-US"/>
          </a:p>
        </p:txBody>
      </p:sp>
      <p:sp>
        <p:nvSpPr>
          <p:cNvPr id="26628" name="Rectangle 7"/>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r>
              <a:rPr lang="en-US" dirty="0" err="1">
                <a:solidFill>
                  <a:schemeClr val="bg2"/>
                </a:solidFill>
                <a:latin typeface="Courier New" pitchFamily="49" charset="0"/>
              </a:rPr>
              <a:t>int</a:t>
            </a:r>
            <a:r>
              <a:rPr lang="en-US" dirty="0">
                <a:solidFill>
                  <a:schemeClr val="bg2"/>
                </a:solidFill>
                <a:latin typeface="Courier New" pitchFamily="49" charset="0"/>
              </a:rPr>
              <a:t> head = 0, tail = 0; </a:t>
            </a:r>
          </a:p>
          <a:p>
            <a:pPr marL="231775" indent="-231775">
              <a:lnSpc>
                <a:spcPct val="100000"/>
              </a:lnSpc>
            </a:pPr>
            <a:r>
              <a:rPr lang="en-US" dirty="0">
                <a:solidFill>
                  <a:schemeClr val="bg2"/>
                </a:solidFill>
                <a:latin typeface="Courier New" pitchFamily="49" charset="0"/>
              </a:rPr>
              <a:t>  T[] items = new T[QSIZE];</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items[(tail++) % QSIZE] = x;</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public T </a:t>
            </a:r>
            <a:r>
              <a:rPr lang="en-US" dirty="0" err="1">
                <a:solidFill>
                  <a:schemeClr val="bg2"/>
                </a:solidFill>
                <a:latin typeface="Courier New" pitchFamily="49" charset="0"/>
              </a:rPr>
              <a:t>deq</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return items[(head++) % QSIZE]</a:t>
            </a:r>
          </a:p>
          <a:p>
            <a:pPr marL="231775" indent="-231775">
              <a:lnSpc>
                <a:spcPct val="100000"/>
              </a:lnSpc>
            </a:pPr>
            <a:r>
              <a:rPr lang="en-US" dirty="0">
                <a:solidFill>
                  <a:schemeClr val="bg2"/>
                </a:solidFill>
                <a:latin typeface="Courier New" pitchFamily="49" charset="0"/>
              </a:rPr>
              <a:t>  }}</a:t>
            </a:r>
          </a:p>
        </p:txBody>
      </p:sp>
      <p:pic>
        <p:nvPicPr>
          <p:cNvPr id="26629"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26630" name="Rectangle 3"/>
          <p:cNvSpPr>
            <a:spLocks noGrp="1" noChangeArrowheads="1"/>
          </p:cNvSpPr>
          <p:nvPr>
            <p:ph type="title"/>
          </p:nvPr>
        </p:nvSpPr>
        <p:spPr/>
        <p:txBody>
          <a:bodyPr/>
          <a:lstStyle/>
          <a:p>
            <a:r>
              <a:rPr lang="en-US" sz="4000"/>
              <a:t>Bad Queue Implementation</a:t>
            </a:r>
          </a:p>
        </p:txBody>
      </p:sp>
      <p:sp>
        <p:nvSpPr>
          <p:cNvPr id="26631" name="AutoShape 5"/>
          <p:cNvSpPr>
            <a:spLocks noChangeArrowheads="1"/>
          </p:cNvSpPr>
          <p:nvPr/>
        </p:nvSpPr>
        <p:spPr bwMode="auto">
          <a:xfrm>
            <a:off x="1119188" y="2970213"/>
            <a:ext cx="5108575" cy="1393825"/>
          </a:xfrm>
          <a:prstGeom prst="wedgeRoundRectCallout">
            <a:avLst>
              <a:gd name="adj1" fmla="val 40708"/>
              <a:gd name="adj2" fmla="val -89977"/>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26632" name="Text Box 6"/>
          <p:cNvSpPr txBox="1">
            <a:spLocks noChangeArrowheads="1"/>
          </p:cNvSpPr>
          <p:nvPr/>
        </p:nvSpPr>
        <p:spPr bwMode="auto">
          <a:xfrm>
            <a:off x="4506913" y="1504950"/>
            <a:ext cx="4637087" cy="946150"/>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Put in empty slot,</a:t>
            </a:r>
          </a:p>
          <a:p>
            <a:pPr algn="ctr">
              <a:lnSpc>
                <a:spcPct val="100000"/>
              </a:lnSpc>
              <a:spcBef>
                <a:spcPct val="0"/>
              </a:spcBef>
            </a:pPr>
            <a:r>
              <a:rPr lang="en-US" sz="2800" b="0" dirty="0">
                <a:solidFill>
                  <a:srgbClr val="FF0000"/>
                </a:solidFill>
                <a:latin typeface="Arial" pitchFamily="34" charset="0"/>
              </a:rPr>
              <a:t>advance head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7CEED970-2132-42E6-B39A-4F3A20DD44D1}" type="slidenum">
              <a:rPr lang="ar-SA"/>
              <a:pPr>
                <a:defRPr/>
              </a:pPr>
              <a:t>26</a:t>
            </a:fld>
            <a:endParaRPr lang="en-US"/>
          </a:p>
        </p:txBody>
      </p:sp>
      <p:sp>
        <p:nvSpPr>
          <p:cNvPr id="27652" name="Rectangle 2"/>
          <p:cNvSpPr>
            <a:spLocks noGrp="1" noChangeArrowheads="1"/>
          </p:cNvSpPr>
          <p:nvPr>
            <p:ph type="title"/>
          </p:nvPr>
        </p:nvSpPr>
        <p:spPr/>
        <p:txBody>
          <a:bodyPr/>
          <a:lstStyle/>
          <a:p>
            <a:r>
              <a:rPr lang="en-US"/>
              <a:t>Of course, this doesn’t work</a:t>
            </a:r>
          </a:p>
        </p:txBody>
      </p:sp>
      <p:grpSp>
        <p:nvGrpSpPr>
          <p:cNvPr id="2" name="Group 3"/>
          <p:cNvGrpSpPr>
            <a:grpSpLocks/>
          </p:cNvGrpSpPr>
          <p:nvPr/>
        </p:nvGrpSpPr>
        <p:grpSpPr bwMode="auto">
          <a:xfrm>
            <a:off x="1322388" y="4346575"/>
            <a:ext cx="430212" cy="341313"/>
            <a:chOff x="2928" y="1465"/>
            <a:chExt cx="271" cy="215"/>
          </a:xfrm>
        </p:grpSpPr>
        <p:sp>
          <p:nvSpPr>
            <p:cNvPr id="27686" name="Oval 4"/>
            <p:cNvSpPr>
              <a:spLocks noChangeArrowheads="1"/>
            </p:cNvSpPr>
            <p:nvPr/>
          </p:nvSpPr>
          <p:spPr bwMode="auto">
            <a:xfrm>
              <a:off x="2928" y="1465"/>
              <a:ext cx="271" cy="215"/>
            </a:xfrm>
            <a:prstGeom prst="ellipse">
              <a:avLst/>
            </a:prstGeom>
            <a:solidFill>
              <a:srgbClr val="0066FF"/>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27687" name="Oval 5"/>
            <p:cNvSpPr>
              <a:spLocks noChangeArrowheads="1"/>
            </p:cNvSpPr>
            <p:nvPr/>
          </p:nvSpPr>
          <p:spPr bwMode="auto">
            <a:xfrm>
              <a:off x="3082" y="1503"/>
              <a:ext cx="71" cy="60"/>
            </a:xfrm>
            <a:prstGeom prst="ellipse">
              <a:avLst/>
            </a:prstGeom>
            <a:solidFill>
              <a:schemeClr va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7654" name="Rectangle 6"/>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27655" name="Rectangle 7"/>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27656" name="Rectangle 8"/>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27657" name="Line 9"/>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7658" name="Line 10"/>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27659" name="Group 22"/>
          <p:cNvGrpSpPr>
            <a:grpSpLocks/>
          </p:cNvGrpSpPr>
          <p:nvPr/>
        </p:nvGrpSpPr>
        <p:grpSpPr bwMode="auto">
          <a:xfrm>
            <a:off x="1295400" y="4800600"/>
            <a:ext cx="1447800" cy="1295400"/>
            <a:chOff x="624" y="2832"/>
            <a:chExt cx="912" cy="816"/>
          </a:xfrm>
        </p:grpSpPr>
        <p:sp>
          <p:nvSpPr>
            <p:cNvPr id="27677" name="Freeform 23"/>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78" name="Freeform 24"/>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79" name="Freeform 25"/>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80" name="Freeform 26"/>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7681" name="Freeform 27"/>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7682" name="Freeform 28"/>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7683" name="Freeform 29"/>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84" name="Freeform 30"/>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85" name="Freeform 31"/>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7660" name="Group 32"/>
          <p:cNvGrpSpPr>
            <a:grpSpLocks/>
          </p:cNvGrpSpPr>
          <p:nvPr/>
        </p:nvGrpSpPr>
        <p:grpSpPr bwMode="auto">
          <a:xfrm>
            <a:off x="412750" y="4714875"/>
            <a:ext cx="1447800" cy="1295400"/>
            <a:chOff x="624" y="2832"/>
            <a:chExt cx="912" cy="816"/>
          </a:xfrm>
        </p:grpSpPr>
        <p:sp>
          <p:nvSpPr>
            <p:cNvPr id="27668" name="Freeform 33"/>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69" name="Freeform 34"/>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70" name="Freeform 35"/>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71" name="Freeform 36"/>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27672" name="Freeform 37"/>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27673" name="Freeform 38"/>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27674" name="Freeform 39"/>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75" name="Freeform 40"/>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7676" name="Freeform 41"/>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 name="Group 44"/>
          <p:cNvGrpSpPr>
            <a:grpSpLocks/>
          </p:cNvGrpSpPr>
          <p:nvPr/>
        </p:nvGrpSpPr>
        <p:grpSpPr bwMode="auto">
          <a:xfrm>
            <a:off x="2973388" y="5006975"/>
            <a:ext cx="430212" cy="341313"/>
            <a:chOff x="2928" y="1465"/>
            <a:chExt cx="271" cy="215"/>
          </a:xfrm>
        </p:grpSpPr>
        <p:sp>
          <p:nvSpPr>
            <p:cNvPr id="27666" name="Oval 45"/>
            <p:cNvSpPr>
              <a:spLocks noChangeArrowheads="1"/>
            </p:cNvSpPr>
            <p:nvPr/>
          </p:nvSpPr>
          <p:spPr bwMode="auto">
            <a:xfrm>
              <a:off x="2928" y="1465"/>
              <a:ext cx="271" cy="215"/>
            </a:xfrm>
            <a:prstGeom prst="ellipse">
              <a:avLst/>
            </a:prstGeom>
            <a:solidFill>
              <a:srgbClr val="FF00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27667" name="Oval 46"/>
            <p:cNvSpPr>
              <a:spLocks noChangeArrowheads="1"/>
            </p:cNvSpPr>
            <p:nvPr/>
          </p:nvSpPr>
          <p:spPr bwMode="auto">
            <a:xfrm>
              <a:off x="3082" y="1503"/>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7662" name="Text Box 47"/>
          <p:cNvSpPr txBox="1">
            <a:spLocks noChangeArrowheads="1"/>
          </p:cNvSpPr>
          <p:nvPr/>
        </p:nvSpPr>
        <p:spPr bwMode="auto">
          <a:xfrm>
            <a:off x="1601788" y="2211388"/>
            <a:ext cx="920750" cy="384175"/>
          </a:xfrm>
          <a:prstGeom prst="rect">
            <a:avLst/>
          </a:prstGeom>
          <a:noFill/>
          <a:ln w="9525" algn="ctr">
            <a:noFill/>
            <a:miter lim="800000"/>
            <a:headEnd/>
            <a:tailEnd/>
          </a:ln>
        </p:spPr>
        <p:txBody>
          <a:bodyPr wrap="none">
            <a:spAutoFit/>
          </a:bodyPr>
          <a:lstStyle/>
          <a:p>
            <a:pPr marL="231775" indent="-231775"/>
            <a:r>
              <a:rPr lang="en-US" dirty="0">
                <a:latin typeface="Courier New" pitchFamily="49" charset="0"/>
              </a:rPr>
              <a:t>head</a:t>
            </a:r>
          </a:p>
        </p:txBody>
      </p:sp>
      <p:sp>
        <p:nvSpPr>
          <p:cNvPr id="1118256" name="Freeform 48"/>
          <p:cNvSpPr>
            <a:spLocks/>
          </p:cNvSpPr>
          <p:nvPr/>
        </p:nvSpPr>
        <p:spPr bwMode="auto">
          <a:xfrm>
            <a:off x="2817813" y="2428875"/>
            <a:ext cx="544512" cy="763588"/>
          </a:xfrm>
          <a:custGeom>
            <a:avLst/>
            <a:gdLst>
              <a:gd name="T0" fmla="*/ 0 w 343"/>
              <a:gd name="T1" fmla="*/ 0 h 481"/>
              <a:gd name="T2" fmla="*/ 293 w 343"/>
              <a:gd name="T3" fmla="*/ 179 h 481"/>
              <a:gd name="T4" fmla="*/ 302 w 343"/>
              <a:gd name="T5" fmla="*/ 481 h 481"/>
              <a:gd name="T6" fmla="*/ 0 60000 65536"/>
              <a:gd name="T7" fmla="*/ 0 60000 65536"/>
              <a:gd name="T8" fmla="*/ 0 60000 65536"/>
              <a:gd name="T9" fmla="*/ 0 w 343"/>
              <a:gd name="T10" fmla="*/ 0 h 481"/>
              <a:gd name="T11" fmla="*/ 343 w 343"/>
              <a:gd name="T12" fmla="*/ 481 h 481"/>
            </a:gdLst>
            <a:ahLst/>
            <a:cxnLst>
              <a:cxn ang="T6">
                <a:pos x="T0" y="T1"/>
              </a:cxn>
              <a:cxn ang="T7">
                <a:pos x="T2" y="T3"/>
              </a:cxn>
              <a:cxn ang="T8">
                <a:pos x="T4" y="T5"/>
              </a:cxn>
            </a:cxnLst>
            <a:rect l="T9" t="T10" r="T11" b="T12"/>
            <a:pathLst>
              <a:path w="343" h="481">
                <a:moveTo>
                  <a:pt x="0" y="0"/>
                </a:moveTo>
                <a:cubicBezTo>
                  <a:pt x="121" y="49"/>
                  <a:pt x="243" y="99"/>
                  <a:pt x="293" y="179"/>
                </a:cubicBezTo>
                <a:cubicBezTo>
                  <a:pt x="343" y="259"/>
                  <a:pt x="322" y="370"/>
                  <a:pt x="302" y="481"/>
                </a:cubicBezTo>
              </a:path>
            </a:pathLst>
          </a:custGeom>
          <a:noFill/>
          <a:ln w="76200">
            <a:solidFill>
              <a:schemeClr val="tx1"/>
            </a:solidFill>
            <a:round/>
            <a:headEnd/>
            <a:tailEnd type="triangle" w="med" len="med"/>
          </a:ln>
        </p:spPr>
        <p:txBody>
          <a:bodyPr/>
          <a:lstStyle/>
          <a:p>
            <a:endParaRPr lang="en-US" dirty="0">
              <a:latin typeface="Courier New" pitchFamily="49" charset="0"/>
            </a:endParaRPr>
          </a:p>
        </p:txBody>
      </p:sp>
      <p:sp>
        <p:nvSpPr>
          <p:cNvPr id="1118257" name="Freeform 49"/>
          <p:cNvSpPr>
            <a:spLocks/>
          </p:cNvSpPr>
          <p:nvPr/>
        </p:nvSpPr>
        <p:spPr bwMode="auto">
          <a:xfrm>
            <a:off x="2952750" y="2386013"/>
            <a:ext cx="1192213" cy="941387"/>
          </a:xfrm>
          <a:custGeom>
            <a:avLst/>
            <a:gdLst>
              <a:gd name="T0" fmla="*/ 0 w 751"/>
              <a:gd name="T1" fmla="*/ 36 h 593"/>
              <a:gd name="T2" fmla="*/ 633 w 751"/>
              <a:gd name="T3" fmla="*/ 93 h 593"/>
              <a:gd name="T4" fmla="*/ 708 w 751"/>
              <a:gd name="T5" fmla="*/ 593 h 593"/>
              <a:gd name="T6" fmla="*/ 0 60000 65536"/>
              <a:gd name="T7" fmla="*/ 0 60000 65536"/>
              <a:gd name="T8" fmla="*/ 0 60000 65536"/>
              <a:gd name="T9" fmla="*/ 0 w 751"/>
              <a:gd name="T10" fmla="*/ 0 h 593"/>
              <a:gd name="T11" fmla="*/ 751 w 751"/>
              <a:gd name="T12" fmla="*/ 593 h 593"/>
            </a:gdLst>
            <a:ahLst/>
            <a:cxnLst>
              <a:cxn ang="T6">
                <a:pos x="T0" y="T1"/>
              </a:cxn>
              <a:cxn ang="T7">
                <a:pos x="T2" y="T3"/>
              </a:cxn>
              <a:cxn ang="T8">
                <a:pos x="T4" y="T5"/>
              </a:cxn>
            </a:cxnLst>
            <a:rect l="T9" t="T10" r="T11" b="T12"/>
            <a:pathLst>
              <a:path w="751" h="593">
                <a:moveTo>
                  <a:pt x="0" y="36"/>
                </a:moveTo>
                <a:cubicBezTo>
                  <a:pt x="102" y="45"/>
                  <a:pt x="515" y="0"/>
                  <a:pt x="633" y="93"/>
                </a:cubicBezTo>
                <a:cubicBezTo>
                  <a:pt x="751" y="186"/>
                  <a:pt x="696" y="510"/>
                  <a:pt x="708" y="593"/>
                </a:cubicBezTo>
              </a:path>
            </a:pathLst>
          </a:custGeom>
          <a:noFill/>
          <a:ln w="76200">
            <a:solidFill>
              <a:schemeClr val="tx1"/>
            </a:solidFill>
            <a:round/>
            <a:headEnd/>
            <a:tailEnd type="triangle" w="med" len="med"/>
          </a:ln>
        </p:spPr>
        <p:txBody>
          <a:bodyPr/>
          <a:lstStyle/>
          <a:p>
            <a:endParaRPr lang="en-US" dirty="0">
              <a:latin typeface="Courier New" pitchFamily="49" charset="0"/>
            </a:endParaRPr>
          </a:p>
        </p:txBody>
      </p:sp>
      <p:sp>
        <p:nvSpPr>
          <p:cNvPr id="1118258" name="Freeform 50"/>
          <p:cNvSpPr>
            <a:spLocks/>
          </p:cNvSpPr>
          <p:nvPr/>
        </p:nvSpPr>
        <p:spPr bwMode="auto">
          <a:xfrm>
            <a:off x="2968625" y="2386013"/>
            <a:ext cx="2227263" cy="941387"/>
          </a:xfrm>
          <a:custGeom>
            <a:avLst/>
            <a:gdLst>
              <a:gd name="T0" fmla="*/ 0 w 1403"/>
              <a:gd name="T1" fmla="*/ 36 h 593"/>
              <a:gd name="T2" fmla="*/ 1180 w 1403"/>
              <a:gd name="T3" fmla="*/ 93 h 593"/>
              <a:gd name="T4" fmla="*/ 1340 w 1403"/>
              <a:gd name="T5" fmla="*/ 593 h 593"/>
              <a:gd name="T6" fmla="*/ 0 60000 65536"/>
              <a:gd name="T7" fmla="*/ 0 60000 65536"/>
              <a:gd name="T8" fmla="*/ 0 60000 65536"/>
              <a:gd name="T9" fmla="*/ 0 w 1403"/>
              <a:gd name="T10" fmla="*/ 0 h 593"/>
              <a:gd name="T11" fmla="*/ 1403 w 1403"/>
              <a:gd name="T12" fmla="*/ 593 h 593"/>
            </a:gdLst>
            <a:ahLst/>
            <a:cxnLst>
              <a:cxn ang="T6">
                <a:pos x="T0" y="T1"/>
              </a:cxn>
              <a:cxn ang="T7">
                <a:pos x="T2" y="T3"/>
              </a:cxn>
              <a:cxn ang="T8">
                <a:pos x="T4" y="T5"/>
              </a:cxn>
            </a:cxnLst>
            <a:rect l="T9" t="T10" r="T11" b="T12"/>
            <a:pathLst>
              <a:path w="1403" h="593">
                <a:moveTo>
                  <a:pt x="0" y="36"/>
                </a:moveTo>
                <a:cubicBezTo>
                  <a:pt x="197" y="42"/>
                  <a:pt x="957" y="0"/>
                  <a:pt x="1180" y="93"/>
                </a:cubicBezTo>
                <a:cubicBezTo>
                  <a:pt x="1403" y="186"/>
                  <a:pt x="1307" y="489"/>
                  <a:pt x="1340" y="593"/>
                </a:cubicBezTo>
              </a:path>
            </a:pathLst>
          </a:custGeom>
          <a:noFill/>
          <a:ln w="76200">
            <a:solidFill>
              <a:schemeClr val="tx1"/>
            </a:solidFill>
            <a:round/>
            <a:headEnd/>
            <a:tailEnd type="triangle" w="med" len="med"/>
          </a:ln>
        </p:spPr>
        <p:txBody>
          <a:bodyP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55556E-7 6.93642E-7 C 0.00503 -0.02982 0.01006 -0.05942 0.03923 -0.07422 C 0.0684 -0.08901 0.12187 -0.08925 0.17534 -0.08948 " pathEditMode="relative" ptsTypes="aaA">
                                      <p:cBhvr>
                                        <p:cTn id="6" dur="2000" fill="hold"/>
                                        <p:tgtEl>
                                          <p:spTgt spid="2"/>
                                        </p:tgtEl>
                                        <p:attrNameLst>
                                          <p:attrName>ppt_x</p:attrName>
                                          <p:attrName>ppt_y</p:attrName>
                                        </p:attrNameLst>
                                      </p:cBhvr>
                                    </p:animMotion>
                                  </p:childTnLst>
                                </p:cTn>
                              </p:par>
                            </p:childTnLst>
                          </p:cTn>
                        </p:par>
                        <p:par>
                          <p:cTn id="7" fill="hold">
                            <p:stCondLst>
                              <p:cond delay="2000"/>
                            </p:stCondLst>
                            <p:childTnLst>
                              <p:par>
                                <p:cTn id="8" presetID="0" presetClass="path" presetSubtype="0" accel="50000" decel="50000" fill="hold" nodeType="afterEffect">
                                  <p:stCondLst>
                                    <p:cond delay="0"/>
                                  </p:stCondLst>
                                  <p:childTnLst>
                                    <p:animMotion origin="layout" path="M 0.00972 -0.00231 C 0.03299 -0.02451 0.05625 -0.04648 0.05243 -0.07653 C 0.04861 -0.10659 0.01771 -0.14497 -0.01319 -0.18335 " pathEditMode="relative" rAng="0" ptsTypes="aaA">
                                      <p:cBhvr>
                                        <p:cTn id="9" dur="2000" fill="hold"/>
                                        <p:tgtEl>
                                          <p:spTgt spid="5"/>
                                        </p:tgtEl>
                                        <p:attrNameLst>
                                          <p:attrName>ppt_x</p:attrName>
                                          <p:attrName>ppt_y</p:attrName>
                                        </p:attrNameLst>
                                      </p:cBhvr>
                                      <p:rCtr x="1200" y="-9100"/>
                                    </p:animMotion>
                                  </p:childTnLst>
                                </p:cTn>
                              </p:par>
                            </p:childTnLst>
                          </p:cTn>
                        </p:par>
                        <p:par>
                          <p:cTn id="10" fill="hold">
                            <p:stCondLst>
                              <p:cond delay="4000"/>
                            </p:stCondLst>
                            <p:childTnLst>
                              <p:par>
                                <p:cTn id="11" presetID="3" presetClass="exit" presetSubtype="10" fill="hold" grpId="0" nodeType="afterEffect">
                                  <p:stCondLst>
                                    <p:cond delay="0"/>
                                  </p:stCondLst>
                                  <p:childTnLst>
                                    <p:animEffect transition="out" filter="blinds(horizontal)">
                                      <p:cBhvr>
                                        <p:cTn id="12" dur="500"/>
                                        <p:tgtEl>
                                          <p:spTgt spid="1118256"/>
                                        </p:tgtEl>
                                      </p:cBhvr>
                                    </p:animEffect>
                                    <p:set>
                                      <p:cBhvr>
                                        <p:cTn id="13" dur="1" fill="hold">
                                          <p:stCondLst>
                                            <p:cond delay="499"/>
                                          </p:stCondLst>
                                        </p:cTn>
                                        <p:tgtEl>
                                          <p:spTgt spid="1118256"/>
                                        </p:tgtEl>
                                        <p:attrNameLst>
                                          <p:attrName>style.visibility</p:attrName>
                                        </p:attrNameLst>
                                      </p:cBhvr>
                                      <p:to>
                                        <p:strVal val="hidden"/>
                                      </p:to>
                                    </p:set>
                                  </p:childTnLst>
                                </p:cTn>
                              </p:par>
                            </p:childTnLst>
                          </p:cTn>
                        </p:par>
                        <p:par>
                          <p:cTn id="14" fill="hold">
                            <p:stCondLst>
                              <p:cond delay="4500"/>
                            </p:stCondLst>
                            <p:childTnLst>
                              <p:par>
                                <p:cTn id="15" presetID="3" presetClass="entr" presetSubtype="10" fill="hold" grpId="0" nodeType="afterEffect">
                                  <p:stCondLst>
                                    <p:cond delay="0"/>
                                  </p:stCondLst>
                                  <p:childTnLst>
                                    <p:set>
                                      <p:cBhvr>
                                        <p:cTn id="16" dur="1" fill="hold">
                                          <p:stCondLst>
                                            <p:cond delay="0"/>
                                          </p:stCondLst>
                                        </p:cTn>
                                        <p:tgtEl>
                                          <p:spTgt spid="1118257"/>
                                        </p:tgtEl>
                                        <p:attrNameLst>
                                          <p:attrName>style.visibility</p:attrName>
                                        </p:attrNameLst>
                                      </p:cBhvr>
                                      <p:to>
                                        <p:strVal val="visible"/>
                                      </p:to>
                                    </p:set>
                                    <p:animEffect transition="in" filter="blinds(horizontal)">
                                      <p:cBhvr>
                                        <p:cTn id="17" dur="500"/>
                                        <p:tgtEl>
                                          <p:spTgt spid="1118257"/>
                                        </p:tgtEl>
                                      </p:cBhvr>
                                    </p:animEffect>
                                  </p:childTnLst>
                                </p:cTn>
                              </p:par>
                            </p:childTnLst>
                          </p:cTn>
                        </p:par>
                        <p:par>
                          <p:cTn id="18" fill="hold">
                            <p:stCondLst>
                              <p:cond delay="5000"/>
                            </p:stCondLst>
                            <p:childTnLst>
                              <p:par>
                                <p:cTn id="19" presetID="3" presetClass="exit" presetSubtype="10" fill="hold" grpId="1" nodeType="afterEffect">
                                  <p:stCondLst>
                                    <p:cond delay="0"/>
                                  </p:stCondLst>
                                  <p:childTnLst>
                                    <p:animEffect transition="out" filter="blinds(horizontal)">
                                      <p:cBhvr>
                                        <p:cTn id="20" dur="500"/>
                                        <p:tgtEl>
                                          <p:spTgt spid="1118257"/>
                                        </p:tgtEl>
                                      </p:cBhvr>
                                    </p:animEffect>
                                    <p:set>
                                      <p:cBhvr>
                                        <p:cTn id="21" dur="1" fill="hold">
                                          <p:stCondLst>
                                            <p:cond delay="499"/>
                                          </p:stCondLst>
                                        </p:cTn>
                                        <p:tgtEl>
                                          <p:spTgt spid="1118257"/>
                                        </p:tgtEl>
                                        <p:attrNameLst>
                                          <p:attrName>style.visibility</p:attrName>
                                        </p:attrNameLst>
                                      </p:cBhvr>
                                      <p:to>
                                        <p:strVal val="hidden"/>
                                      </p:to>
                                    </p:set>
                                  </p:childTnLst>
                                </p:cTn>
                              </p:par>
                            </p:childTnLst>
                          </p:cTn>
                        </p:par>
                        <p:par>
                          <p:cTn id="22" fill="hold">
                            <p:stCondLst>
                              <p:cond delay="5500"/>
                            </p:stCondLst>
                            <p:childTnLst>
                              <p:par>
                                <p:cTn id="23" presetID="3" presetClass="entr" presetSubtype="10" fill="hold" grpId="0" nodeType="afterEffect">
                                  <p:stCondLst>
                                    <p:cond delay="0"/>
                                  </p:stCondLst>
                                  <p:childTnLst>
                                    <p:set>
                                      <p:cBhvr>
                                        <p:cTn id="24" dur="1" fill="hold">
                                          <p:stCondLst>
                                            <p:cond delay="0"/>
                                          </p:stCondLst>
                                        </p:cTn>
                                        <p:tgtEl>
                                          <p:spTgt spid="1118258"/>
                                        </p:tgtEl>
                                        <p:attrNameLst>
                                          <p:attrName>style.visibility</p:attrName>
                                        </p:attrNameLst>
                                      </p:cBhvr>
                                      <p:to>
                                        <p:strVal val="visible"/>
                                      </p:to>
                                    </p:set>
                                    <p:animEffect transition="in" filter="blinds(horizontal)">
                                      <p:cBhvr>
                                        <p:cTn id="25" dur="500"/>
                                        <p:tgtEl>
                                          <p:spTgt spid="1118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8256" grpId="0" animBg="1"/>
      <p:bldP spid="1118257" grpId="0" animBg="1"/>
      <p:bldP spid="1118257" grpId="1" animBg="1"/>
      <p:bldP spid="111825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1D6FFF69-2B14-457F-A1AE-0391B9CB6913}" type="slidenum">
              <a:rPr lang="ar-SA"/>
              <a:pPr>
                <a:defRPr/>
              </a:pPr>
              <a:t>27</a:t>
            </a:fld>
            <a:endParaRPr lang="en-US"/>
          </a:p>
        </p:txBody>
      </p:sp>
      <p:sp>
        <p:nvSpPr>
          <p:cNvPr id="28676" name="Rectangle 2"/>
          <p:cNvSpPr>
            <a:spLocks noGrp="1" noChangeArrowheads="1"/>
          </p:cNvSpPr>
          <p:nvPr>
            <p:ph type="title"/>
          </p:nvPr>
        </p:nvSpPr>
        <p:spPr/>
        <p:txBody>
          <a:bodyPr/>
          <a:lstStyle/>
          <a:p>
            <a:r>
              <a:rPr lang="en-US"/>
              <a:t>Mutual Exclusion</a:t>
            </a:r>
          </a:p>
        </p:txBody>
      </p:sp>
      <p:sp>
        <p:nvSpPr>
          <p:cNvPr id="28677" name="Rectangle 3"/>
          <p:cNvSpPr>
            <a:spLocks noGrp="1" noChangeArrowheads="1"/>
          </p:cNvSpPr>
          <p:nvPr>
            <p:ph type="body" idx="1"/>
          </p:nvPr>
        </p:nvSpPr>
        <p:spPr/>
        <p:txBody>
          <a:bodyPr/>
          <a:lstStyle/>
          <a:p>
            <a:r>
              <a:rPr lang="en-US" dirty="0"/>
              <a:t>Only one thread modifying queue fields at a time</a:t>
            </a:r>
          </a:p>
          <a:p>
            <a:r>
              <a:rPr lang="en-US" dirty="0"/>
              <a:t>Use </a:t>
            </a:r>
            <a:r>
              <a:rPr lang="en-US" b="1" dirty="0">
                <a:solidFill>
                  <a:schemeClr val="tx1"/>
                </a:solidFill>
                <a:latin typeface="Courier New" pitchFamily="49" charset="0"/>
              </a:rPr>
              <a:t>synchronized</a:t>
            </a:r>
            <a:r>
              <a:rPr lang="en-US" dirty="0"/>
              <a:t> methods</a:t>
            </a:r>
          </a:p>
          <a:p>
            <a:pPr lvl="1"/>
            <a:r>
              <a:rPr lang="en-US" dirty="0"/>
              <a:t>Locks object on call</a:t>
            </a:r>
          </a:p>
          <a:p>
            <a:pPr lvl="1"/>
            <a:r>
              <a:rPr lang="en-US" dirty="0"/>
              <a:t>Releases lock on return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7A4B0784-E6F0-419E-A95B-2374D3C7D810}" type="slidenum">
              <a:rPr lang="ar-SA"/>
              <a:pPr>
                <a:defRPr/>
              </a:pPr>
              <a:t>28</a:t>
            </a:fld>
            <a:endParaRPr lang="en-US"/>
          </a:p>
        </p:txBody>
      </p:sp>
      <p:sp>
        <p:nvSpPr>
          <p:cNvPr id="29700" name="Rectangle 2"/>
          <p:cNvSpPr>
            <a:spLocks noGrp="1" noChangeArrowheads="1"/>
          </p:cNvSpPr>
          <p:nvPr>
            <p:ph type="title"/>
          </p:nvPr>
        </p:nvSpPr>
        <p:spPr/>
        <p:txBody>
          <a:bodyPr/>
          <a:lstStyle/>
          <a:p>
            <a:r>
              <a:rPr lang="en-US"/>
              <a:t>Mutual Exclusion</a:t>
            </a:r>
          </a:p>
        </p:txBody>
      </p:sp>
      <p:grpSp>
        <p:nvGrpSpPr>
          <p:cNvPr id="2" name="Group 3"/>
          <p:cNvGrpSpPr>
            <a:grpSpLocks/>
          </p:cNvGrpSpPr>
          <p:nvPr/>
        </p:nvGrpSpPr>
        <p:grpSpPr bwMode="auto">
          <a:xfrm>
            <a:off x="1322388" y="4346575"/>
            <a:ext cx="430212" cy="341313"/>
            <a:chOff x="2928" y="1465"/>
            <a:chExt cx="271" cy="215"/>
          </a:xfrm>
        </p:grpSpPr>
        <p:sp>
          <p:nvSpPr>
            <p:cNvPr id="29734" name="Oval 4"/>
            <p:cNvSpPr>
              <a:spLocks noChangeArrowheads="1"/>
            </p:cNvSpPr>
            <p:nvPr/>
          </p:nvSpPr>
          <p:spPr bwMode="auto">
            <a:xfrm>
              <a:off x="2928" y="1465"/>
              <a:ext cx="271" cy="215"/>
            </a:xfrm>
            <a:prstGeom prst="ellipse">
              <a:avLst/>
            </a:prstGeom>
            <a:solidFill>
              <a:srgbClr val="0066FF"/>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29735" name="Oval 5"/>
            <p:cNvSpPr>
              <a:spLocks noChangeArrowheads="1"/>
            </p:cNvSpPr>
            <p:nvPr/>
          </p:nvSpPr>
          <p:spPr bwMode="auto">
            <a:xfrm>
              <a:off x="3082" y="1503"/>
              <a:ext cx="71" cy="60"/>
            </a:xfrm>
            <a:prstGeom prst="ellipse">
              <a:avLst/>
            </a:prstGeom>
            <a:solidFill>
              <a:schemeClr val="hlink"/>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9702" name="Rectangle 6"/>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29703" name="Rectangle 7"/>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29704" name="Rectangle 8"/>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29705" name="Line 9"/>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29706" name="Line 10"/>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29707" name="Group 11"/>
          <p:cNvGrpSpPr>
            <a:grpSpLocks/>
          </p:cNvGrpSpPr>
          <p:nvPr/>
        </p:nvGrpSpPr>
        <p:grpSpPr bwMode="auto">
          <a:xfrm>
            <a:off x="1295400" y="4800600"/>
            <a:ext cx="1447800" cy="1295400"/>
            <a:chOff x="624" y="2832"/>
            <a:chExt cx="912" cy="816"/>
          </a:xfrm>
        </p:grpSpPr>
        <p:sp>
          <p:nvSpPr>
            <p:cNvPr id="29725" name="Freeform 12"/>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26" name="Freeform 13"/>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27" name="Freeform 14"/>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28" name="Freeform 15"/>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9729" name="Freeform 16"/>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9730" name="Freeform 17"/>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29731" name="Freeform 18"/>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32" name="Freeform 19"/>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33" name="Freeform 20"/>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29708" name="Group 21"/>
          <p:cNvGrpSpPr>
            <a:grpSpLocks/>
          </p:cNvGrpSpPr>
          <p:nvPr/>
        </p:nvGrpSpPr>
        <p:grpSpPr bwMode="auto">
          <a:xfrm>
            <a:off x="412750" y="4714875"/>
            <a:ext cx="1447800" cy="1295400"/>
            <a:chOff x="624" y="2832"/>
            <a:chExt cx="912" cy="816"/>
          </a:xfrm>
        </p:grpSpPr>
        <p:sp>
          <p:nvSpPr>
            <p:cNvPr id="29716" name="Freeform 22"/>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17" name="Freeform 23"/>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18" name="Freeform 24"/>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19" name="Freeform 25"/>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29720" name="Freeform 26"/>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29721" name="Freeform 27"/>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29722" name="Freeform 28"/>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23" name="Freeform 29"/>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29724" name="Freeform 30"/>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 name="Group 31"/>
          <p:cNvGrpSpPr>
            <a:grpSpLocks/>
          </p:cNvGrpSpPr>
          <p:nvPr/>
        </p:nvGrpSpPr>
        <p:grpSpPr bwMode="auto">
          <a:xfrm>
            <a:off x="2973388" y="5006975"/>
            <a:ext cx="430212" cy="341313"/>
            <a:chOff x="2928" y="1465"/>
            <a:chExt cx="271" cy="215"/>
          </a:xfrm>
        </p:grpSpPr>
        <p:sp>
          <p:nvSpPr>
            <p:cNvPr id="29714" name="Oval 32"/>
            <p:cNvSpPr>
              <a:spLocks noChangeArrowheads="1"/>
            </p:cNvSpPr>
            <p:nvPr/>
          </p:nvSpPr>
          <p:spPr bwMode="auto">
            <a:xfrm>
              <a:off x="2928" y="1465"/>
              <a:ext cx="271" cy="215"/>
            </a:xfrm>
            <a:prstGeom prst="ellipse">
              <a:avLst/>
            </a:prstGeom>
            <a:solidFill>
              <a:srgbClr val="FF00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29715" name="Oval 33"/>
            <p:cNvSpPr>
              <a:spLocks noChangeArrowheads="1"/>
            </p:cNvSpPr>
            <p:nvPr/>
          </p:nvSpPr>
          <p:spPr bwMode="auto">
            <a:xfrm>
              <a:off x="3082" y="1503"/>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29710" name="Text Box 34"/>
          <p:cNvSpPr txBox="1">
            <a:spLocks noChangeArrowheads="1"/>
          </p:cNvSpPr>
          <p:nvPr/>
        </p:nvSpPr>
        <p:spPr bwMode="auto">
          <a:xfrm>
            <a:off x="1601788" y="2211388"/>
            <a:ext cx="920750" cy="384175"/>
          </a:xfrm>
          <a:prstGeom prst="rect">
            <a:avLst/>
          </a:prstGeom>
          <a:noFill/>
          <a:ln w="9525" algn="ctr">
            <a:noFill/>
            <a:miter lim="800000"/>
            <a:headEnd/>
            <a:tailEnd/>
          </a:ln>
        </p:spPr>
        <p:txBody>
          <a:bodyPr wrap="none">
            <a:spAutoFit/>
          </a:bodyPr>
          <a:lstStyle/>
          <a:p>
            <a:pPr marL="231775" indent="-231775"/>
            <a:r>
              <a:rPr lang="en-US" dirty="0">
                <a:latin typeface="Courier New" pitchFamily="49" charset="0"/>
              </a:rPr>
              <a:t>head</a:t>
            </a:r>
          </a:p>
        </p:txBody>
      </p:sp>
      <p:sp>
        <p:nvSpPr>
          <p:cNvPr id="1120291" name="Freeform 35"/>
          <p:cNvSpPr>
            <a:spLocks/>
          </p:cNvSpPr>
          <p:nvPr/>
        </p:nvSpPr>
        <p:spPr bwMode="auto">
          <a:xfrm>
            <a:off x="2817813" y="2428875"/>
            <a:ext cx="544512" cy="763588"/>
          </a:xfrm>
          <a:custGeom>
            <a:avLst/>
            <a:gdLst>
              <a:gd name="T0" fmla="*/ 0 w 343"/>
              <a:gd name="T1" fmla="*/ 0 h 481"/>
              <a:gd name="T2" fmla="*/ 293 w 343"/>
              <a:gd name="T3" fmla="*/ 179 h 481"/>
              <a:gd name="T4" fmla="*/ 302 w 343"/>
              <a:gd name="T5" fmla="*/ 481 h 481"/>
              <a:gd name="T6" fmla="*/ 0 60000 65536"/>
              <a:gd name="T7" fmla="*/ 0 60000 65536"/>
              <a:gd name="T8" fmla="*/ 0 60000 65536"/>
              <a:gd name="T9" fmla="*/ 0 w 343"/>
              <a:gd name="T10" fmla="*/ 0 h 481"/>
              <a:gd name="T11" fmla="*/ 343 w 343"/>
              <a:gd name="T12" fmla="*/ 481 h 481"/>
            </a:gdLst>
            <a:ahLst/>
            <a:cxnLst>
              <a:cxn ang="T6">
                <a:pos x="T0" y="T1"/>
              </a:cxn>
              <a:cxn ang="T7">
                <a:pos x="T2" y="T3"/>
              </a:cxn>
              <a:cxn ang="T8">
                <a:pos x="T4" y="T5"/>
              </a:cxn>
            </a:cxnLst>
            <a:rect l="T9" t="T10" r="T11" b="T12"/>
            <a:pathLst>
              <a:path w="343" h="481">
                <a:moveTo>
                  <a:pt x="0" y="0"/>
                </a:moveTo>
                <a:cubicBezTo>
                  <a:pt x="121" y="49"/>
                  <a:pt x="243" y="99"/>
                  <a:pt x="293" y="179"/>
                </a:cubicBezTo>
                <a:cubicBezTo>
                  <a:pt x="343" y="259"/>
                  <a:pt x="322" y="370"/>
                  <a:pt x="302" y="481"/>
                </a:cubicBezTo>
              </a:path>
            </a:pathLst>
          </a:custGeom>
          <a:noFill/>
          <a:ln w="76200">
            <a:solidFill>
              <a:schemeClr val="tx1"/>
            </a:solidFill>
            <a:round/>
            <a:headEnd/>
            <a:tailEnd type="triangle" w="med" len="med"/>
          </a:ln>
        </p:spPr>
        <p:txBody>
          <a:bodyPr/>
          <a:lstStyle/>
          <a:p>
            <a:endParaRPr lang="en-US" dirty="0">
              <a:latin typeface="Courier New" pitchFamily="49" charset="0"/>
            </a:endParaRPr>
          </a:p>
        </p:txBody>
      </p:sp>
      <p:sp>
        <p:nvSpPr>
          <p:cNvPr id="1120292" name="Freeform 36"/>
          <p:cNvSpPr>
            <a:spLocks/>
          </p:cNvSpPr>
          <p:nvPr/>
        </p:nvSpPr>
        <p:spPr bwMode="auto">
          <a:xfrm>
            <a:off x="2952750" y="2386013"/>
            <a:ext cx="1192213" cy="941387"/>
          </a:xfrm>
          <a:custGeom>
            <a:avLst/>
            <a:gdLst>
              <a:gd name="T0" fmla="*/ 0 w 751"/>
              <a:gd name="T1" fmla="*/ 36 h 593"/>
              <a:gd name="T2" fmla="*/ 633 w 751"/>
              <a:gd name="T3" fmla="*/ 93 h 593"/>
              <a:gd name="T4" fmla="*/ 708 w 751"/>
              <a:gd name="T5" fmla="*/ 593 h 593"/>
              <a:gd name="T6" fmla="*/ 0 60000 65536"/>
              <a:gd name="T7" fmla="*/ 0 60000 65536"/>
              <a:gd name="T8" fmla="*/ 0 60000 65536"/>
              <a:gd name="T9" fmla="*/ 0 w 751"/>
              <a:gd name="T10" fmla="*/ 0 h 593"/>
              <a:gd name="T11" fmla="*/ 751 w 751"/>
              <a:gd name="T12" fmla="*/ 593 h 593"/>
            </a:gdLst>
            <a:ahLst/>
            <a:cxnLst>
              <a:cxn ang="T6">
                <a:pos x="T0" y="T1"/>
              </a:cxn>
              <a:cxn ang="T7">
                <a:pos x="T2" y="T3"/>
              </a:cxn>
              <a:cxn ang="T8">
                <a:pos x="T4" y="T5"/>
              </a:cxn>
            </a:cxnLst>
            <a:rect l="T9" t="T10" r="T11" b="T12"/>
            <a:pathLst>
              <a:path w="751" h="593">
                <a:moveTo>
                  <a:pt x="0" y="36"/>
                </a:moveTo>
                <a:cubicBezTo>
                  <a:pt x="102" y="45"/>
                  <a:pt x="515" y="0"/>
                  <a:pt x="633" y="93"/>
                </a:cubicBezTo>
                <a:cubicBezTo>
                  <a:pt x="751" y="186"/>
                  <a:pt x="696" y="510"/>
                  <a:pt x="708" y="593"/>
                </a:cubicBezTo>
              </a:path>
            </a:pathLst>
          </a:custGeom>
          <a:noFill/>
          <a:ln w="76200">
            <a:solidFill>
              <a:schemeClr val="tx1"/>
            </a:solidFill>
            <a:round/>
            <a:headEnd/>
            <a:tailEnd type="triangle" w="med" len="med"/>
          </a:ln>
        </p:spPr>
        <p:txBody>
          <a:bodyPr/>
          <a:lstStyle/>
          <a:p>
            <a:endParaRPr lang="en-US" dirty="0">
              <a:latin typeface="Courier New" pitchFamily="49" charset="0"/>
            </a:endParaRPr>
          </a:p>
        </p:txBody>
      </p:sp>
      <p:sp>
        <p:nvSpPr>
          <p:cNvPr id="1120293" name="Freeform 37"/>
          <p:cNvSpPr>
            <a:spLocks/>
          </p:cNvSpPr>
          <p:nvPr/>
        </p:nvSpPr>
        <p:spPr bwMode="auto">
          <a:xfrm>
            <a:off x="2968625" y="2386013"/>
            <a:ext cx="2227263" cy="941387"/>
          </a:xfrm>
          <a:custGeom>
            <a:avLst/>
            <a:gdLst>
              <a:gd name="T0" fmla="*/ 0 w 1403"/>
              <a:gd name="T1" fmla="*/ 36 h 593"/>
              <a:gd name="T2" fmla="*/ 1180 w 1403"/>
              <a:gd name="T3" fmla="*/ 93 h 593"/>
              <a:gd name="T4" fmla="*/ 1340 w 1403"/>
              <a:gd name="T5" fmla="*/ 593 h 593"/>
              <a:gd name="T6" fmla="*/ 0 60000 65536"/>
              <a:gd name="T7" fmla="*/ 0 60000 65536"/>
              <a:gd name="T8" fmla="*/ 0 60000 65536"/>
              <a:gd name="T9" fmla="*/ 0 w 1403"/>
              <a:gd name="T10" fmla="*/ 0 h 593"/>
              <a:gd name="T11" fmla="*/ 1403 w 1403"/>
              <a:gd name="T12" fmla="*/ 593 h 593"/>
            </a:gdLst>
            <a:ahLst/>
            <a:cxnLst>
              <a:cxn ang="T6">
                <a:pos x="T0" y="T1"/>
              </a:cxn>
              <a:cxn ang="T7">
                <a:pos x="T2" y="T3"/>
              </a:cxn>
              <a:cxn ang="T8">
                <a:pos x="T4" y="T5"/>
              </a:cxn>
            </a:cxnLst>
            <a:rect l="T9" t="T10" r="T11" b="T12"/>
            <a:pathLst>
              <a:path w="1403" h="593">
                <a:moveTo>
                  <a:pt x="0" y="36"/>
                </a:moveTo>
                <a:cubicBezTo>
                  <a:pt x="197" y="42"/>
                  <a:pt x="957" y="0"/>
                  <a:pt x="1180" y="93"/>
                </a:cubicBezTo>
                <a:cubicBezTo>
                  <a:pt x="1403" y="186"/>
                  <a:pt x="1307" y="489"/>
                  <a:pt x="1340" y="593"/>
                </a:cubicBezTo>
              </a:path>
            </a:pathLst>
          </a:custGeom>
          <a:noFill/>
          <a:ln w="76200">
            <a:solidFill>
              <a:schemeClr val="tx1"/>
            </a:solidFill>
            <a:round/>
            <a:headEnd/>
            <a:tailEnd type="triangle" w="med" len="med"/>
          </a:ln>
        </p:spPr>
        <p:txBody>
          <a:bodyPr/>
          <a:lstStyle/>
          <a:p>
            <a:endParaRPr lang="en-US" dirty="0">
              <a:latin typeface="Courier New" pitchFamily="49"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55556E-7 6.93642E-7 C 0.00503 -0.02982 0.01006 -0.05942 0.03923 -0.07422 C 0.0684 -0.08901 0.12187 -0.08925 0.17534 -0.08948 " pathEditMode="relative" rAng="0" ptsTypes="aaA">
                                      <p:cBhvr>
                                        <p:cTn id="6" dur="2000" fill="hold"/>
                                        <p:tgtEl>
                                          <p:spTgt spid="2"/>
                                        </p:tgtEl>
                                        <p:attrNameLst>
                                          <p:attrName>ppt_x</p:attrName>
                                          <p:attrName>ppt_y</p:attrName>
                                        </p:attrNameLst>
                                      </p:cBhvr>
                                      <p:rCtr x="0" y="0"/>
                                    </p:animMotion>
                                  </p:childTnLst>
                                </p:cTn>
                              </p:par>
                            </p:childTnLst>
                          </p:cTn>
                        </p:par>
                        <p:par>
                          <p:cTn id="7" fill="hold">
                            <p:stCondLst>
                              <p:cond delay="2000"/>
                            </p:stCondLst>
                            <p:childTnLst>
                              <p:par>
                                <p:cTn id="8" presetID="3" presetClass="exit" presetSubtype="10" fill="hold" grpId="0" nodeType="afterEffect">
                                  <p:stCondLst>
                                    <p:cond delay="0"/>
                                  </p:stCondLst>
                                  <p:childTnLst>
                                    <p:animEffect transition="out" filter="blinds(horizontal)">
                                      <p:cBhvr>
                                        <p:cTn id="9" dur="500"/>
                                        <p:tgtEl>
                                          <p:spTgt spid="1120291"/>
                                        </p:tgtEl>
                                      </p:cBhvr>
                                    </p:animEffect>
                                    <p:set>
                                      <p:cBhvr>
                                        <p:cTn id="10" dur="1" fill="hold">
                                          <p:stCondLst>
                                            <p:cond delay="499"/>
                                          </p:stCondLst>
                                        </p:cTn>
                                        <p:tgtEl>
                                          <p:spTgt spid="1120291"/>
                                        </p:tgtEl>
                                        <p:attrNameLst>
                                          <p:attrName>style.visibility</p:attrName>
                                        </p:attrNameLst>
                                      </p:cBhvr>
                                      <p:to>
                                        <p:strVal val="hidden"/>
                                      </p:to>
                                    </p:set>
                                  </p:childTnLst>
                                </p:cTn>
                              </p:par>
                            </p:childTnLst>
                          </p:cTn>
                        </p:par>
                        <p:par>
                          <p:cTn id="11" fill="hold">
                            <p:stCondLst>
                              <p:cond delay="2500"/>
                            </p:stCondLst>
                            <p:childTnLst>
                              <p:par>
                                <p:cTn id="12" presetID="3" presetClass="entr" presetSubtype="10" fill="hold" grpId="0" nodeType="afterEffect">
                                  <p:stCondLst>
                                    <p:cond delay="0"/>
                                  </p:stCondLst>
                                  <p:childTnLst>
                                    <p:set>
                                      <p:cBhvr>
                                        <p:cTn id="13" dur="1" fill="hold">
                                          <p:stCondLst>
                                            <p:cond delay="0"/>
                                          </p:stCondLst>
                                        </p:cTn>
                                        <p:tgtEl>
                                          <p:spTgt spid="1120292"/>
                                        </p:tgtEl>
                                        <p:attrNameLst>
                                          <p:attrName>style.visibility</p:attrName>
                                        </p:attrNameLst>
                                      </p:cBhvr>
                                      <p:to>
                                        <p:strVal val="visible"/>
                                      </p:to>
                                    </p:set>
                                    <p:animEffect transition="in" filter="blinds(horizontal)">
                                      <p:cBhvr>
                                        <p:cTn id="14" dur="500"/>
                                        <p:tgtEl>
                                          <p:spTgt spid="1120292"/>
                                        </p:tgtEl>
                                      </p:cBhvr>
                                    </p:animEffect>
                                  </p:childTnLst>
                                </p:cTn>
                              </p:par>
                            </p:childTnLst>
                          </p:cTn>
                        </p:par>
                        <p:par>
                          <p:cTn id="15" fill="hold">
                            <p:stCondLst>
                              <p:cond delay="3000"/>
                            </p:stCondLst>
                            <p:childTnLst>
                              <p:par>
                                <p:cTn id="16" presetID="0" presetClass="path" presetSubtype="0" accel="50000" decel="50000" fill="hold" nodeType="afterEffect">
                                  <p:stCondLst>
                                    <p:cond delay="0"/>
                                  </p:stCondLst>
                                  <p:childTnLst>
                                    <p:animMotion origin="layout" path="M 0.00972 -0.00231 C 0.02205 -0.00925 0.07066 -0.0148 0.0842 -0.04439 C 0.09774 -0.07399 0.08941 -0.15168 0.0908 -0.17989 " pathEditMode="relative" rAng="0" ptsTypes="aaa">
                                      <p:cBhvr>
                                        <p:cTn id="17" dur="2000" fill="hold"/>
                                        <p:tgtEl>
                                          <p:spTgt spid="5"/>
                                        </p:tgtEl>
                                        <p:attrNameLst>
                                          <p:attrName>ppt_x</p:attrName>
                                          <p:attrName>ppt_y</p:attrName>
                                        </p:attrNameLst>
                                      </p:cBhvr>
                                      <p:rCtr x="44" y="-89"/>
                                    </p:animMotion>
                                  </p:childTnLst>
                                </p:cTn>
                              </p:par>
                            </p:childTnLst>
                          </p:cTn>
                        </p:par>
                        <p:par>
                          <p:cTn id="18" fill="hold">
                            <p:stCondLst>
                              <p:cond delay="5000"/>
                            </p:stCondLst>
                            <p:childTnLst>
                              <p:par>
                                <p:cTn id="19" presetID="3" presetClass="exit" presetSubtype="10" fill="hold" grpId="1" nodeType="afterEffect">
                                  <p:stCondLst>
                                    <p:cond delay="0"/>
                                  </p:stCondLst>
                                  <p:childTnLst>
                                    <p:animEffect transition="out" filter="blinds(horizontal)">
                                      <p:cBhvr>
                                        <p:cTn id="20" dur="500"/>
                                        <p:tgtEl>
                                          <p:spTgt spid="1120292"/>
                                        </p:tgtEl>
                                      </p:cBhvr>
                                    </p:animEffect>
                                    <p:set>
                                      <p:cBhvr>
                                        <p:cTn id="21" dur="1" fill="hold">
                                          <p:stCondLst>
                                            <p:cond delay="499"/>
                                          </p:stCondLst>
                                        </p:cTn>
                                        <p:tgtEl>
                                          <p:spTgt spid="1120292"/>
                                        </p:tgtEl>
                                        <p:attrNameLst>
                                          <p:attrName>style.visibility</p:attrName>
                                        </p:attrNameLst>
                                      </p:cBhvr>
                                      <p:to>
                                        <p:strVal val="hidden"/>
                                      </p:to>
                                    </p:set>
                                  </p:childTnLst>
                                </p:cTn>
                              </p:par>
                            </p:childTnLst>
                          </p:cTn>
                        </p:par>
                        <p:par>
                          <p:cTn id="22" fill="hold">
                            <p:stCondLst>
                              <p:cond delay="5500"/>
                            </p:stCondLst>
                            <p:childTnLst>
                              <p:par>
                                <p:cTn id="23" presetID="3" presetClass="entr" presetSubtype="10" fill="hold" grpId="0" nodeType="afterEffect">
                                  <p:stCondLst>
                                    <p:cond delay="0"/>
                                  </p:stCondLst>
                                  <p:childTnLst>
                                    <p:set>
                                      <p:cBhvr>
                                        <p:cTn id="24" dur="1" fill="hold">
                                          <p:stCondLst>
                                            <p:cond delay="0"/>
                                          </p:stCondLst>
                                        </p:cTn>
                                        <p:tgtEl>
                                          <p:spTgt spid="1120293"/>
                                        </p:tgtEl>
                                        <p:attrNameLst>
                                          <p:attrName>style.visibility</p:attrName>
                                        </p:attrNameLst>
                                      </p:cBhvr>
                                      <p:to>
                                        <p:strVal val="visible"/>
                                      </p:to>
                                    </p:set>
                                    <p:animEffect transition="in" filter="blinds(horizontal)">
                                      <p:cBhvr>
                                        <p:cTn id="25" dur="500"/>
                                        <p:tgtEl>
                                          <p:spTgt spid="1120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0291" grpId="0" animBg="1"/>
      <p:bldP spid="1120292" grpId="0" animBg="1"/>
      <p:bldP spid="1120292" grpId="1" animBg="1"/>
      <p:bldP spid="112029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A3B2EBED-C7F1-46E7-B5AE-256734905B29}" type="slidenum">
              <a:rPr lang="ar-SA"/>
              <a:pPr>
                <a:defRPr/>
              </a:pPr>
              <a:t>29</a:t>
            </a:fld>
            <a:endParaRPr lang="en-US"/>
          </a:p>
        </p:txBody>
      </p:sp>
      <p:pic>
        <p:nvPicPr>
          <p:cNvPr id="3072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0725" name="Rectangle 3"/>
          <p:cNvSpPr>
            <a:spLocks noGrp="1" noChangeArrowheads="1"/>
          </p:cNvSpPr>
          <p:nvPr>
            <p:ph type="title"/>
          </p:nvPr>
        </p:nvSpPr>
        <p:spPr/>
        <p:txBody>
          <a:bodyPr/>
          <a:lstStyle/>
          <a:p>
            <a:r>
              <a:rPr lang="en-US" sz="4000"/>
              <a:t>Synchronized Method</a:t>
            </a:r>
          </a:p>
        </p:txBody>
      </p:sp>
      <p:sp>
        <p:nvSpPr>
          <p:cNvPr id="30726"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solidFill>
                  <a:schemeClr val="tx1"/>
                </a:solidFill>
                <a:latin typeface="Courier New" pitchFamily="49" charset="0"/>
              </a:rPr>
              <a:t>  …</a:t>
            </a:r>
          </a:p>
          <a:p>
            <a:pPr marL="231775" indent="-231775">
              <a:lnSpc>
                <a:spcPct val="100000"/>
              </a:lnSpc>
            </a:pPr>
            <a:r>
              <a:rPr lang="en-US" dirty="0">
                <a:solidFill>
                  <a:schemeClr val="tx1"/>
                </a:solidFill>
                <a:latin typeface="Courier New" pitchFamily="49" charset="0"/>
              </a:rPr>
              <a:t>  public synchronized</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items[(tail++) % QSIZE];</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a:t>
            </a:r>
            <a:endParaRPr lang="en-US" dirty="0">
              <a:latin typeface="Courier New" pitchFamily="49" charset="0"/>
            </a:endParaRPr>
          </a:p>
          <a:p>
            <a:pPr marL="231775" indent="-231775">
              <a:lnSpc>
                <a:spcPct val="100000"/>
              </a:lnSpc>
            </a:pPr>
            <a:r>
              <a:rPr lang="en-US" dirty="0">
                <a:latin typeface="Courier New" pitchFamily="49" charset="0"/>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AC54D3B5-9FA2-4CAC-AFBE-C722E4AD212C}" type="slidenum">
              <a:rPr lang="ar-SA"/>
              <a:pPr>
                <a:defRPr/>
              </a:pPr>
              <a:t>30</a:t>
            </a:fld>
            <a:endParaRPr lang="en-US"/>
          </a:p>
        </p:txBody>
      </p:sp>
      <p:pic>
        <p:nvPicPr>
          <p:cNvPr id="3174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1749" name="Rectangle 3"/>
          <p:cNvSpPr>
            <a:spLocks noGrp="1" noChangeArrowheads="1"/>
          </p:cNvSpPr>
          <p:nvPr>
            <p:ph type="title"/>
          </p:nvPr>
        </p:nvSpPr>
        <p:spPr/>
        <p:txBody>
          <a:bodyPr/>
          <a:lstStyle/>
          <a:p>
            <a:r>
              <a:rPr lang="en-US" sz="4000"/>
              <a:t>Synchronized Method</a:t>
            </a:r>
          </a:p>
        </p:txBody>
      </p:sp>
      <p:sp>
        <p:nvSpPr>
          <p:cNvPr id="31750"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a:t>
            </a:r>
            <a:r>
              <a:rPr lang="en-US" dirty="0">
                <a:solidFill>
                  <a:schemeClr val="tx1"/>
                </a:solidFill>
                <a:latin typeface="Courier New" pitchFamily="49" charset="0"/>
              </a:rPr>
              <a:t> synchronized</a:t>
            </a:r>
            <a:r>
              <a:rPr lang="en-US" dirty="0">
                <a:latin typeface="Courier New" pitchFamily="49" charset="0"/>
              </a:rPr>
              <a:t>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solidFill>
                  <a:schemeClr val="bg2"/>
                </a:solidFill>
                <a:latin typeface="Courier New" pitchFamily="49" charset="0"/>
              </a:rPr>
              <a:t>    items[(head++) % QSIZE];</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sp>
        <p:nvSpPr>
          <p:cNvPr id="31751" name="AutoShape 5"/>
          <p:cNvSpPr>
            <a:spLocks noChangeArrowheads="1"/>
          </p:cNvSpPr>
          <p:nvPr/>
        </p:nvSpPr>
        <p:spPr bwMode="auto">
          <a:xfrm>
            <a:off x="2422525" y="2581275"/>
            <a:ext cx="2711450" cy="509588"/>
          </a:xfrm>
          <a:prstGeom prst="wedgeRoundRectCallout">
            <a:avLst>
              <a:gd name="adj1" fmla="val 43560"/>
              <a:gd name="adj2" fmla="val 390500"/>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31752" name="Text Box 6"/>
          <p:cNvSpPr txBox="1">
            <a:spLocks noChangeArrowheads="1"/>
          </p:cNvSpPr>
          <p:nvPr/>
        </p:nvSpPr>
        <p:spPr bwMode="auto">
          <a:xfrm>
            <a:off x="3260725" y="4841875"/>
            <a:ext cx="4637088" cy="946150"/>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Lock acquired on entry, released on exit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DE789FBD-6011-42FC-85DF-23B943AC3C6F}" type="slidenum">
              <a:rPr lang="ar-SA"/>
              <a:pPr>
                <a:defRPr/>
              </a:pPr>
              <a:t>31</a:t>
            </a:fld>
            <a:endParaRPr lang="en-US"/>
          </a:p>
        </p:txBody>
      </p:sp>
      <p:pic>
        <p:nvPicPr>
          <p:cNvPr id="3277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2773" name="Rectangle 3"/>
          <p:cNvSpPr>
            <a:spLocks noGrp="1" noChangeArrowheads="1"/>
          </p:cNvSpPr>
          <p:nvPr>
            <p:ph type="title"/>
          </p:nvPr>
        </p:nvSpPr>
        <p:spPr/>
        <p:txBody>
          <a:bodyPr/>
          <a:lstStyle/>
          <a:p>
            <a:r>
              <a:rPr lang="en-US" sz="4000"/>
              <a:t>Syntactic Sugar</a:t>
            </a:r>
          </a:p>
        </p:txBody>
      </p:sp>
      <p:sp>
        <p:nvSpPr>
          <p:cNvPr id="32774"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solidFill>
                  <a:schemeClr val="tx1"/>
                </a:solidFill>
                <a:latin typeface="Courier New" pitchFamily="49" charset="0"/>
              </a:rPr>
              <a:t>  …</a:t>
            </a:r>
          </a:p>
          <a:p>
            <a:pPr marL="231775" indent="-231775">
              <a:lnSpc>
                <a:spcPct val="100000"/>
              </a:lnSpc>
            </a:pPr>
            <a:r>
              <a:rPr lang="en-US" dirty="0">
                <a:solidFill>
                  <a:schemeClr val="tx1"/>
                </a:solidFill>
                <a:latin typeface="Courier New" pitchFamily="49" charset="0"/>
              </a:rPr>
              <a:t>  public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synchronized</a:t>
            </a:r>
            <a:r>
              <a:rPr lang="en-US" dirty="0">
                <a:latin typeface="Courier New" pitchFamily="49" charset="0"/>
              </a:rPr>
              <a:t> (</a:t>
            </a:r>
            <a:r>
              <a:rPr lang="en-US" dirty="0">
                <a:solidFill>
                  <a:schemeClr val="tx1"/>
                </a:solidFill>
                <a:latin typeface="Courier New" pitchFamily="49" charset="0"/>
              </a:rPr>
              <a:t>this</a:t>
            </a:r>
            <a:r>
              <a:rPr lang="en-US" dirty="0">
                <a:latin typeface="Courier New" pitchFamily="49" charset="0"/>
              </a:rPr>
              <a:t>) {</a:t>
            </a:r>
          </a:p>
          <a:p>
            <a:pPr marL="231775" indent="-231775">
              <a:lnSpc>
                <a:spcPct val="100000"/>
              </a:lnSpc>
            </a:pPr>
            <a:r>
              <a:rPr lang="en-US" dirty="0">
                <a:latin typeface="Courier New" pitchFamily="49" charset="0"/>
              </a:rPr>
              <a:t>      items[(tail++) % QSIZE];</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a:t>
            </a:r>
            <a:endParaRPr lang="en-US" dirty="0">
              <a:latin typeface="Courier New" pitchFamily="49" charset="0"/>
            </a:endParaRPr>
          </a:p>
          <a:p>
            <a:pPr marL="231775" indent="-231775">
              <a:lnSpc>
                <a:spcPct val="100000"/>
              </a:lnSpc>
            </a:pPr>
            <a:r>
              <a:rPr lang="en-US" dirty="0">
                <a:latin typeface="Courier New" pitchFamily="49" charset="0"/>
              </a:rPr>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28107996-5A69-49CC-90B7-43B75C11462A}" type="slidenum">
              <a:rPr lang="ar-SA"/>
              <a:pPr>
                <a:defRPr/>
              </a:pPr>
              <a:t>32</a:t>
            </a:fld>
            <a:endParaRPr lang="en-US"/>
          </a:p>
        </p:txBody>
      </p:sp>
      <p:pic>
        <p:nvPicPr>
          <p:cNvPr id="3379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3797" name="Rectangle 3"/>
          <p:cNvSpPr>
            <a:spLocks noGrp="1" noChangeArrowheads="1"/>
          </p:cNvSpPr>
          <p:nvPr>
            <p:ph type="title"/>
          </p:nvPr>
        </p:nvSpPr>
        <p:spPr/>
        <p:txBody>
          <a:bodyPr/>
          <a:lstStyle/>
          <a:p>
            <a:r>
              <a:rPr lang="en-US" sz="4000"/>
              <a:t>Syntactic Sugar</a:t>
            </a:r>
          </a:p>
        </p:txBody>
      </p:sp>
      <p:sp>
        <p:nvSpPr>
          <p:cNvPr id="33798"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folHlink"/>
                </a:solidFill>
                <a:latin typeface="Courier New" pitchFamily="49" charset="0"/>
              </a:rPr>
              <a:t>class Queue&lt;T&gt; {</a:t>
            </a:r>
          </a:p>
          <a:p>
            <a:pPr marL="231775" indent="-231775">
              <a:lnSpc>
                <a:spcPct val="100000"/>
              </a:lnSpc>
            </a:pPr>
            <a:r>
              <a:rPr lang="en-US" dirty="0">
                <a:solidFill>
                  <a:schemeClr val="folHlink"/>
                </a:solidFill>
                <a:latin typeface="Courier New" pitchFamily="49" charset="0"/>
              </a:rPr>
              <a:t>  …</a:t>
            </a:r>
          </a:p>
          <a:p>
            <a:pPr marL="231775" indent="-231775">
              <a:lnSpc>
                <a:spcPct val="100000"/>
              </a:lnSpc>
            </a:pPr>
            <a:r>
              <a:rPr lang="en-US" dirty="0">
                <a:solidFill>
                  <a:schemeClr val="folHlink"/>
                </a:solidFill>
                <a:latin typeface="Courier New" pitchFamily="49" charset="0"/>
              </a:rPr>
              <a:t>  public </a:t>
            </a:r>
            <a:r>
              <a:rPr lang="en-US" dirty="0" err="1">
                <a:solidFill>
                  <a:schemeClr val="folHlink"/>
                </a:solidFill>
                <a:latin typeface="Courier New" pitchFamily="49" charset="0"/>
              </a:rPr>
              <a:t>enq</a:t>
            </a:r>
            <a:r>
              <a:rPr lang="en-US" dirty="0">
                <a:solidFill>
                  <a:schemeClr val="folHlink"/>
                </a:solidFill>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synchronized</a:t>
            </a:r>
            <a:r>
              <a:rPr lang="en-US" dirty="0">
                <a:latin typeface="Courier New" pitchFamily="49" charset="0"/>
              </a:rPr>
              <a:t> (</a:t>
            </a:r>
            <a:r>
              <a:rPr lang="en-US" dirty="0">
                <a:solidFill>
                  <a:schemeClr val="tx1"/>
                </a:solidFill>
                <a:latin typeface="Courier New" pitchFamily="49" charset="0"/>
              </a:rPr>
              <a:t>this</a:t>
            </a:r>
            <a:r>
              <a:rPr lang="en-US" dirty="0">
                <a:latin typeface="Courier New" pitchFamily="49" charset="0"/>
              </a:rPr>
              <a:t>) {</a:t>
            </a:r>
          </a:p>
          <a:p>
            <a:pPr marL="231775" indent="-231775">
              <a:lnSpc>
                <a:spcPct val="100000"/>
              </a:lnSpc>
            </a:pPr>
            <a:r>
              <a:rPr lang="en-US" dirty="0">
                <a:latin typeface="Courier New" pitchFamily="49" charset="0"/>
              </a:rPr>
              <a:t>      items[(tail++) % QSIZE];</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folHlink"/>
                </a:solidFill>
                <a:latin typeface="Courier New" pitchFamily="49" charset="0"/>
              </a:rPr>
              <a:t>}</a:t>
            </a:r>
          </a:p>
          <a:p>
            <a:pPr marL="231775" indent="-231775">
              <a:lnSpc>
                <a:spcPct val="100000"/>
              </a:lnSpc>
            </a:pPr>
            <a:r>
              <a:rPr lang="en-US" dirty="0">
                <a:solidFill>
                  <a:schemeClr val="folHlink"/>
                </a:solidFill>
                <a:latin typeface="Courier New" pitchFamily="49" charset="0"/>
              </a:rPr>
              <a:t>  ...</a:t>
            </a:r>
          </a:p>
          <a:p>
            <a:pPr marL="231775" indent="-231775">
              <a:lnSpc>
                <a:spcPct val="100000"/>
              </a:lnSpc>
            </a:pPr>
            <a:r>
              <a:rPr lang="en-US" dirty="0">
                <a:solidFill>
                  <a:schemeClr val="folHlink"/>
                </a:solidFill>
                <a:latin typeface="Courier New" pitchFamily="49" charset="0"/>
              </a:rPr>
              <a:t>}</a:t>
            </a:r>
          </a:p>
        </p:txBody>
      </p:sp>
      <p:sp>
        <p:nvSpPr>
          <p:cNvPr id="33799" name="AutoShape 5"/>
          <p:cNvSpPr>
            <a:spLocks noChangeArrowheads="1"/>
          </p:cNvSpPr>
          <p:nvPr/>
        </p:nvSpPr>
        <p:spPr bwMode="auto">
          <a:xfrm>
            <a:off x="1676400" y="3006725"/>
            <a:ext cx="4921250" cy="1514475"/>
          </a:xfrm>
          <a:prstGeom prst="wedgeRoundRectCallout">
            <a:avLst>
              <a:gd name="adj1" fmla="val 9292"/>
              <a:gd name="adj2" fmla="val 75051"/>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33800" name="Text Box 6"/>
          <p:cNvSpPr txBox="1">
            <a:spLocks noChangeArrowheads="1"/>
          </p:cNvSpPr>
          <p:nvPr/>
        </p:nvSpPr>
        <p:spPr bwMode="auto">
          <a:xfrm>
            <a:off x="1889125" y="4886325"/>
            <a:ext cx="4637088" cy="946150"/>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Same meaning, more verbose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2F0188D-A942-4343-9B4F-3928DF466BC5}" type="slidenum">
              <a:rPr lang="ar-SA"/>
              <a:pPr>
                <a:defRPr/>
              </a:pPr>
              <a:t>33</a:t>
            </a:fld>
            <a:endParaRPr lang="en-US"/>
          </a:p>
        </p:txBody>
      </p:sp>
      <p:sp>
        <p:nvSpPr>
          <p:cNvPr id="34820" name="Rectangle 2"/>
          <p:cNvSpPr>
            <a:spLocks noGrp="1" noChangeArrowheads="1"/>
          </p:cNvSpPr>
          <p:nvPr>
            <p:ph type="title"/>
          </p:nvPr>
        </p:nvSpPr>
        <p:spPr/>
        <p:txBody>
          <a:bodyPr/>
          <a:lstStyle/>
          <a:p>
            <a:r>
              <a:rPr lang="en-US"/>
              <a:t>Vocabulary</a:t>
            </a:r>
          </a:p>
        </p:txBody>
      </p:sp>
      <p:sp>
        <p:nvSpPr>
          <p:cNvPr id="34821" name="Rectangle 3"/>
          <p:cNvSpPr>
            <a:spLocks noGrp="1" noChangeArrowheads="1"/>
          </p:cNvSpPr>
          <p:nvPr>
            <p:ph type="body" idx="1"/>
          </p:nvPr>
        </p:nvSpPr>
        <p:spPr/>
        <p:txBody>
          <a:bodyPr/>
          <a:lstStyle/>
          <a:p>
            <a:r>
              <a:rPr lang="en-US" dirty="0"/>
              <a:t>A </a:t>
            </a:r>
            <a:r>
              <a:rPr lang="en-US" b="1" dirty="0">
                <a:solidFill>
                  <a:schemeClr val="tx1"/>
                </a:solidFill>
                <a:latin typeface="Courier New" pitchFamily="49" charset="0"/>
              </a:rPr>
              <a:t>synchronized</a:t>
            </a:r>
            <a:r>
              <a:rPr lang="en-US" dirty="0"/>
              <a:t> method </a:t>
            </a:r>
            <a:r>
              <a:rPr lang="en-US" dirty="0">
                <a:solidFill>
                  <a:schemeClr val="tx1"/>
                </a:solidFill>
              </a:rPr>
              <a:t>locks</a:t>
            </a:r>
            <a:r>
              <a:rPr lang="en-US" dirty="0"/>
              <a:t> the object</a:t>
            </a:r>
          </a:p>
          <a:p>
            <a:r>
              <a:rPr lang="en-US" dirty="0"/>
              <a:t>No other thread can call another </a:t>
            </a:r>
            <a:r>
              <a:rPr lang="en-US" b="1" dirty="0">
                <a:solidFill>
                  <a:schemeClr val="tx1"/>
                </a:solidFill>
                <a:latin typeface="Courier New" pitchFamily="49" charset="0"/>
              </a:rPr>
              <a:t>synchronized</a:t>
            </a:r>
            <a:r>
              <a:rPr lang="en-US" dirty="0"/>
              <a:t> method for that same object</a:t>
            </a:r>
          </a:p>
          <a:p>
            <a:r>
              <a:rPr lang="en-US" dirty="0"/>
              <a:t>Code in middle is </a:t>
            </a:r>
            <a:r>
              <a:rPr lang="en-US" dirty="0">
                <a:solidFill>
                  <a:schemeClr val="tx1"/>
                </a:solidFill>
              </a:rPr>
              <a:t>critical section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9568D2E-695C-41CC-BFE6-81B7EE19DB7C}" type="slidenum">
              <a:rPr lang="ar-SA"/>
              <a:pPr>
                <a:defRPr/>
              </a:pPr>
              <a:t>34</a:t>
            </a:fld>
            <a:endParaRPr lang="en-US"/>
          </a:p>
        </p:txBody>
      </p:sp>
      <p:sp>
        <p:nvSpPr>
          <p:cNvPr id="35844" name="Rectangle 2"/>
          <p:cNvSpPr>
            <a:spLocks noGrp="1" noChangeArrowheads="1"/>
          </p:cNvSpPr>
          <p:nvPr>
            <p:ph type="title"/>
          </p:nvPr>
        </p:nvSpPr>
        <p:spPr/>
        <p:txBody>
          <a:bodyPr/>
          <a:lstStyle/>
          <a:p>
            <a:r>
              <a:rPr lang="en-US"/>
              <a:t>Re-entrant Locks</a:t>
            </a:r>
          </a:p>
        </p:txBody>
      </p:sp>
      <p:sp>
        <p:nvSpPr>
          <p:cNvPr id="35845" name="Rectangle 3"/>
          <p:cNvSpPr>
            <a:spLocks noGrp="1" noChangeArrowheads="1"/>
          </p:cNvSpPr>
          <p:nvPr>
            <p:ph type="body" idx="1"/>
          </p:nvPr>
        </p:nvSpPr>
        <p:spPr/>
        <p:txBody>
          <a:bodyPr/>
          <a:lstStyle/>
          <a:p>
            <a:r>
              <a:rPr lang="en-US"/>
              <a:t>What happens if you lock the same object twice?</a:t>
            </a:r>
          </a:p>
          <a:p>
            <a:pPr lvl="1"/>
            <a:r>
              <a:rPr lang="en-US"/>
              <a:t>In Java, no deadlock</a:t>
            </a:r>
          </a:p>
          <a:p>
            <a:pPr lvl="1"/>
            <a:r>
              <a:rPr lang="en-US"/>
              <a:t>Keeps track of number of times locked and unlocked</a:t>
            </a:r>
          </a:p>
          <a:p>
            <a:pPr lvl="1"/>
            <a:r>
              <a:rPr lang="en-US"/>
              <a:t>Unlock occurs when they balance out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BB157875-38B6-49BF-ACAD-7380FE7DAEB2}" type="slidenum">
              <a:rPr lang="ar-SA"/>
              <a:pPr>
                <a:defRPr/>
              </a:pPr>
              <a:t>35</a:t>
            </a:fld>
            <a:endParaRPr lang="en-US"/>
          </a:p>
        </p:txBody>
      </p:sp>
      <p:pic>
        <p:nvPicPr>
          <p:cNvPr id="3686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6869" name="Rectangle 3"/>
          <p:cNvSpPr>
            <a:spLocks noGrp="1" noChangeArrowheads="1"/>
          </p:cNvSpPr>
          <p:nvPr>
            <p:ph type="title"/>
          </p:nvPr>
        </p:nvSpPr>
        <p:spPr/>
        <p:txBody>
          <a:bodyPr/>
          <a:lstStyle/>
          <a:p>
            <a:r>
              <a:rPr lang="en-US" sz="4000"/>
              <a:t>Still Doesn’t Work</a:t>
            </a:r>
          </a:p>
        </p:txBody>
      </p:sp>
      <p:sp>
        <p:nvSpPr>
          <p:cNvPr id="36870" name="Rectangle 4"/>
          <p:cNvSpPr>
            <a:spLocks noChangeArrowheads="1"/>
          </p:cNvSpPr>
          <p:nvPr/>
        </p:nvSpPr>
        <p:spPr bwMode="auto">
          <a:xfrm>
            <a:off x="887413" y="1704975"/>
            <a:ext cx="7591425" cy="3286125"/>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solidFill>
                  <a:schemeClr val="tx1"/>
                </a:solidFill>
                <a:latin typeface="Courier New" pitchFamily="49" charset="0"/>
              </a:rPr>
              <a:t>  …</a:t>
            </a:r>
          </a:p>
          <a:p>
            <a:pPr marL="231775" indent="-231775">
              <a:lnSpc>
                <a:spcPct val="100000"/>
              </a:lnSpc>
            </a:pPr>
            <a:r>
              <a:rPr lang="en-US" dirty="0">
                <a:solidFill>
                  <a:schemeClr val="tx1"/>
                </a:solidFill>
                <a:latin typeface="Courier New" pitchFamily="49" charset="0"/>
              </a:rPr>
              <a:t>  public synchronized</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items[(tail++) % QSIZE] = x;</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a:t>
            </a:r>
            <a:endParaRPr lang="en-US" dirty="0">
              <a:latin typeface="Courier New" pitchFamily="49" charset="0"/>
            </a:endParaRPr>
          </a:p>
          <a:p>
            <a:pPr marL="231775" indent="-231775">
              <a:lnSpc>
                <a:spcPct val="100000"/>
              </a:lnSpc>
            </a:pPr>
            <a:r>
              <a:rPr lang="en-US" dirty="0">
                <a:latin typeface="Courier New" pitchFamily="49" charset="0"/>
              </a:rPr>
              <a:t>}</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9F55BAB5-61F1-46CA-9830-4392D9604F5B}" type="slidenum">
              <a:rPr lang="ar-SA"/>
              <a:pPr>
                <a:defRPr/>
              </a:pPr>
              <a:t>36</a:t>
            </a:fld>
            <a:endParaRPr lang="en-US"/>
          </a:p>
        </p:txBody>
      </p:sp>
      <p:pic>
        <p:nvPicPr>
          <p:cNvPr id="3789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7893" name="Rectangle 3"/>
          <p:cNvSpPr>
            <a:spLocks noGrp="1" noChangeArrowheads="1"/>
          </p:cNvSpPr>
          <p:nvPr>
            <p:ph type="title"/>
          </p:nvPr>
        </p:nvSpPr>
        <p:spPr/>
        <p:txBody>
          <a:bodyPr/>
          <a:lstStyle/>
          <a:p>
            <a:r>
              <a:rPr lang="en-US" sz="4000"/>
              <a:t>Still Doesn’t Work</a:t>
            </a:r>
          </a:p>
        </p:txBody>
      </p:sp>
      <p:sp>
        <p:nvSpPr>
          <p:cNvPr id="37894" name="Rectangle 4"/>
          <p:cNvSpPr>
            <a:spLocks noChangeArrowheads="1"/>
          </p:cNvSpPr>
          <p:nvPr/>
        </p:nvSpPr>
        <p:spPr bwMode="auto">
          <a:xfrm>
            <a:off x="887413" y="1704975"/>
            <a:ext cx="7591425" cy="3286125"/>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latin typeface="Courier New" pitchFamily="49" charset="0"/>
              </a:rPr>
              <a:t>    items[(tail++) % QSIZE] = x;</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sp>
        <p:nvSpPr>
          <p:cNvPr id="37895" name="AutoShape 6"/>
          <p:cNvSpPr>
            <a:spLocks noChangeArrowheads="1"/>
          </p:cNvSpPr>
          <p:nvPr/>
        </p:nvSpPr>
        <p:spPr bwMode="auto">
          <a:xfrm>
            <a:off x="1657350" y="3044825"/>
            <a:ext cx="5319713" cy="509588"/>
          </a:xfrm>
          <a:prstGeom prst="wedgeRoundRectCallout">
            <a:avLst>
              <a:gd name="adj1" fmla="val 15741"/>
              <a:gd name="adj2" fmla="val 364019"/>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37896" name="Text Box 7"/>
          <p:cNvSpPr txBox="1">
            <a:spLocks noChangeArrowheads="1"/>
          </p:cNvSpPr>
          <p:nvPr/>
        </p:nvSpPr>
        <p:spPr bwMode="auto">
          <a:xfrm>
            <a:off x="3322638" y="5146675"/>
            <a:ext cx="4637087"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What if the array is full?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CD261EA-8AA0-432C-8551-4968C387C9E3}" type="slidenum">
              <a:rPr lang="ar-SA"/>
              <a:pPr>
                <a:defRPr/>
              </a:pPr>
              <a:t>37</a:t>
            </a:fld>
            <a:endParaRPr lang="en-US"/>
          </a:p>
        </p:txBody>
      </p:sp>
      <p:sp>
        <p:nvSpPr>
          <p:cNvPr id="38916" name="Rectangle 2"/>
          <p:cNvSpPr>
            <a:spLocks noGrp="1" noChangeArrowheads="1"/>
          </p:cNvSpPr>
          <p:nvPr>
            <p:ph type="title"/>
          </p:nvPr>
        </p:nvSpPr>
        <p:spPr/>
        <p:txBody>
          <a:bodyPr/>
          <a:lstStyle/>
          <a:p>
            <a:r>
              <a:rPr lang="en-US"/>
              <a:t>Waiting</a:t>
            </a:r>
          </a:p>
        </p:txBody>
      </p:sp>
      <p:sp>
        <p:nvSpPr>
          <p:cNvPr id="38917" name="Rectangle 3"/>
          <p:cNvSpPr>
            <a:spLocks noGrp="1" noChangeArrowheads="1"/>
          </p:cNvSpPr>
          <p:nvPr>
            <p:ph type="body" idx="1"/>
          </p:nvPr>
        </p:nvSpPr>
        <p:spPr/>
        <p:txBody>
          <a:bodyPr/>
          <a:lstStyle/>
          <a:p>
            <a:r>
              <a:rPr lang="en-US"/>
              <a:t>What if</a:t>
            </a:r>
          </a:p>
          <a:p>
            <a:pPr lvl="1"/>
            <a:r>
              <a:rPr lang="en-US"/>
              <a:t>Enqueuer finds a full array?</a:t>
            </a:r>
          </a:p>
          <a:p>
            <a:pPr lvl="1"/>
            <a:r>
              <a:rPr lang="en-US"/>
              <a:t>Dequeuer finds an empty array?</a:t>
            </a:r>
          </a:p>
          <a:p>
            <a:r>
              <a:rPr lang="en-US"/>
              <a:t>Throw an exception?</a:t>
            </a:r>
          </a:p>
          <a:p>
            <a:pPr lvl="1"/>
            <a:r>
              <a:rPr lang="en-US"/>
              <a:t>What can caller do?</a:t>
            </a:r>
          </a:p>
          <a:p>
            <a:pPr lvl="1"/>
            <a:r>
              <a:rPr lang="en-US"/>
              <a:t>Repeated retries wasteful</a:t>
            </a:r>
          </a:p>
          <a:p>
            <a:r>
              <a:rPr lang="en-US">
                <a:solidFill>
                  <a:schemeClr val="tx1"/>
                </a:solidFill>
              </a:rPr>
              <a:t>Wait</a:t>
            </a:r>
            <a:r>
              <a:rPr lang="en-US"/>
              <a:t> for something to happen</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660AAB22-5DD8-4028-BE50-C8EC12875F27}" type="slidenum">
              <a:rPr lang="ar-SA"/>
              <a:pPr>
                <a:defRPr/>
              </a:pPr>
              <a:t>38</a:t>
            </a:fld>
            <a:endParaRPr lang="en-US"/>
          </a:p>
        </p:txBody>
      </p:sp>
      <p:pic>
        <p:nvPicPr>
          <p:cNvPr id="3994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39941" name="Rectangle 3"/>
          <p:cNvSpPr>
            <a:spLocks noGrp="1" noChangeArrowheads="1"/>
          </p:cNvSpPr>
          <p:nvPr>
            <p:ph type="title"/>
          </p:nvPr>
        </p:nvSpPr>
        <p:spPr/>
        <p:txBody>
          <a:bodyPr/>
          <a:lstStyle/>
          <a:p>
            <a:r>
              <a:rPr lang="en-US" sz="4000"/>
              <a:t>Waiting Synchronized Method</a:t>
            </a:r>
          </a:p>
        </p:txBody>
      </p:sp>
      <p:sp>
        <p:nvSpPr>
          <p:cNvPr id="39942"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solidFill>
                  <a:schemeClr val="tx1"/>
                </a:solidFill>
                <a:latin typeface="Courier New" pitchFamily="49" charset="0"/>
              </a:rPr>
              <a:t>  …</a:t>
            </a:r>
          </a:p>
          <a:p>
            <a:pPr marL="231775" indent="-231775">
              <a:lnSpc>
                <a:spcPct val="100000"/>
              </a:lnSpc>
            </a:pPr>
            <a:r>
              <a:rPr lang="en-US" dirty="0">
                <a:solidFill>
                  <a:schemeClr val="tx1"/>
                </a:solidFill>
                <a:latin typeface="Courier New" pitchFamily="49" charset="0"/>
              </a:rPr>
              <a:t>  public synchronized</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items[(tail++) % QSIZE] = x;</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a:t>
            </a:r>
            <a:endParaRPr lang="en-US" dirty="0">
              <a:latin typeface="Courier New" pitchFamily="49" charset="0"/>
            </a:endParaRPr>
          </a:p>
          <a:p>
            <a:pPr marL="231775" indent="-231775">
              <a:lnSpc>
                <a:spcPct val="100000"/>
              </a:lnSpc>
            </a:pPr>
            <a:r>
              <a:rPr lang="en-US" dirty="0">
                <a:latin typeface="Courier New" pitchFamily="49" charset="0"/>
              </a:rPr>
              <a: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F64D7EE3-96CE-4739-9DA7-FF99204E2A23}" type="slidenum">
              <a:rPr lang="ar-SA"/>
              <a:pPr>
                <a:defRPr/>
              </a:pPr>
              <a:t>39</a:t>
            </a:fld>
            <a:endParaRPr lang="en-US"/>
          </a:p>
        </p:txBody>
      </p:sp>
      <p:sp>
        <p:nvSpPr>
          <p:cNvPr id="40964" name="Rectangle 7"/>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items[(tail++) % QSIZE] = x;</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pic>
        <p:nvPicPr>
          <p:cNvPr id="40965"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0966" name="Rectangle 3"/>
          <p:cNvSpPr>
            <a:spLocks noGrp="1" noChangeArrowheads="1"/>
          </p:cNvSpPr>
          <p:nvPr>
            <p:ph type="title"/>
          </p:nvPr>
        </p:nvSpPr>
        <p:spPr/>
        <p:txBody>
          <a:bodyPr/>
          <a:lstStyle/>
          <a:p>
            <a:r>
              <a:rPr lang="en-US" sz="4000"/>
              <a:t>Waiting Synchronized Method</a:t>
            </a:r>
          </a:p>
        </p:txBody>
      </p:sp>
      <p:sp>
        <p:nvSpPr>
          <p:cNvPr id="40967" name="AutoShape 5"/>
          <p:cNvSpPr>
            <a:spLocks noChangeArrowheads="1"/>
          </p:cNvSpPr>
          <p:nvPr/>
        </p:nvSpPr>
        <p:spPr bwMode="auto">
          <a:xfrm>
            <a:off x="1657350" y="3044825"/>
            <a:ext cx="6097588" cy="509588"/>
          </a:xfrm>
          <a:prstGeom prst="wedgeRoundRectCallout">
            <a:avLst>
              <a:gd name="adj1" fmla="val 7356"/>
              <a:gd name="adj2" fmla="val 364019"/>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40968" name="Text Box 6"/>
          <p:cNvSpPr txBox="1">
            <a:spLocks noChangeArrowheads="1"/>
          </p:cNvSpPr>
          <p:nvPr/>
        </p:nvSpPr>
        <p:spPr bwMode="auto">
          <a:xfrm>
            <a:off x="3322638" y="5146675"/>
            <a:ext cx="5014912"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Spin while the array is full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DF3307F4-6DFC-477D-A5AC-1CE4977F793A}" type="slidenum">
              <a:rPr lang="ar-SA"/>
              <a:pPr>
                <a:defRPr/>
              </a:pPr>
              <a:t>40</a:t>
            </a:fld>
            <a:endParaRPr lang="en-US"/>
          </a:p>
        </p:txBody>
      </p:sp>
      <p:sp>
        <p:nvSpPr>
          <p:cNvPr id="41988" name="Rectangle 2"/>
          <p:cNvSpPr>
            <a:spLocks noGrp="1" noChangeArrowheads="1"/>
          </p:cNvSpPr>
          <p:nvPr>
            <p:ph type="title"/>
          </p:nvPr>
        </p:nvSpPr>
        <p:spPr/>
        <p:txBody>
          <a:bodyPr/>
          <a:lstStyle/>
          <a:p>
            <a:r>
              <a:rPr lang="en-US"/>
              <a:t>Deadlock</a:t>
            </a:r>
          </a:p>
        </p:txBody>
      </p:sp>
      <p:sp>
        <p:nvSpPr>
          <p:cNvPr id="41989" name="Rectangle 3"/>
          <p:cNvSpPr>
            <a:spLocks noGrp="1" noChangeArrowheads="1"/>
          </p:cNvSpPr>
          <p:nvPr>
            <p:ph type="body" idx="1"/>
          </p:nvPr>
        </p:nvSpPr>
        <p:spPr/>
        <p:txBody>
          <a:bodyPr/>
          <a:lstStyle/>
          <a:p>
            <a:r>
              <a:rPr lang="en-US"/>
              <a:t>Enqueuer is</a:t>
            </a:r>
          </a:p>
          <a:p>
            <a:pPr lvl="1"/>
            <a:r>
              <a:rPr lang="en-US"/>
              <a:t>Waiting for a dequeuer</a:t>
            </a:r>
          </a:p>
          <a:p>
            <a:pPr lvl="1"/>
            <a:r>
              <a:rPr lang="en-US"/>
              <a:t>While holding the lock</a:t>
            </a:r>
          </a:p>
          <a:p>
            <a:r>
              <a:rPr lang="en-US"/>
              <a:t>Dequeuer</a:t>
            </a:r>
          </a:p>
          <a:p>
            <a:pPr lvl="1"/>
            <a:r>
              <a:rPr lang="en-US"/>
              <a:t>Waiting for enqueuer to release lock</a:t>
            </a:r>
          </a:p>
          <a:p>
            <a:r>
              <a:rPr lang="en-US"/>
              <a:t>Nothing will ever happen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AA9C633D-F0B5-4527-B8F8-983D5D4CB5AB}" type="slidenum">
              <a:rPr lang="ar-SA"/>
              <a:pPr>
                <a:defRPr/>
              </a:pPr>
              <a:t>41</a:t>
            </a:fld>
            <a:endParaRPr lang="en-US"/>
          </a:p>
        </p:txBody>
      </p:sp>
      <p:sp>
        <p:nvSpPr>
          <p:cNvPr id="43012" name="Rectangle 2"/>
          <p:cNvSpPr>
            <a:spLocks noGrp="1" noChangeArrowheads="1"/>
          </p:cNvSpPr>
          <p:nvPr>
            <p:ph type="title"/>
          </p:nvPr>
        </p:nvSpPr>
        <p:spPr/>
        <p:txBody>
          <a:bodyPr/>
          <a:lstStyle/>
          <a:p>
            <a:r>
              <a:rPr lang="en-US"/>
              <a:t>Waiting Thread</a:t>
            </a:r>
          </a:p>
        </p:txBody>
      </p:sp>
      <p:sp>
        <p:nvSpPr>
          <p:cNvPr id="43013" name="Rectangle 3"/>
          <p:cNvSpPr>
            <a:spLocks noGrp="1" noChangeArrowheads="1"/>
          </p:cNvSpPr>
          <p:nvPr>
            <p:ph type="body" idx="1"/>
          </p:nvPr>
        </p:nvSpPr>
        <p:spPr/>
        <p:txBody>
          <a:bodyPr/>
          <a:lstStyle/>
          <a:p>
            <a:r>
              <a:rPr lang="en-US"/>
              <a:t>Release lock while waiting </a:t>
            </a:r>
          </a:p>
          <a:p>
            <a:r>
              <a:rPr lang="en-US"/>
              <a:t>When “something happens”</a:t>
            </a:r>
          </a:p>
          <a:p>
            <a:pPr lvl="1"/>
            <a:r>
              <a:rPr lang="en-US"/>
              <a:t>Reacquire lock</a:t>
            </a:r>
          </a:p>
          <a:p>
            <a:pPr lvl="1"/>
            <a:r>
              <a:rPr lang="en-US"/>
              <a:t>Either</a:t>
            </a:r>
          </a:p>
          <a:p>
            <a:pPr lvl="2"/>
            <a:r>
              <a:rPr lang="en-US"/>
              <a:t>Rerelease lock &amp; resume waiting</a:t>
            </a:r>
          </a:p>
          <a:p>
            <a:pPr lvl="2"/>
            <a:r>
              <a:rPr lang="en-US"/>
              <a:t>Finish up and return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197E0BB-2A78-42C8-9B3A-8EFE9EB7ED8E}" type="slidenum">
              <a:rPr lang="ar-SA"/>
              <a:pPr>
                <a:defRPr/>
              </a:pPr>
              <a:t>42</a:t>
            </a:fld>
            <a:endParaRPr lang="en-US"/>
          </a:p>
        </p:txBody>
      </p:sp>
      <p:sp>
        <p:nvSpPr>
          <p:cNvPr id="44036" name="Rectangle 2"/>
          <p:cNvSpPr>
            <a:spLocks noGrp="1" noChangeArrowheads="1"/>
          </p:cNvSpPr>
          <p:nvPr>
            <p:ph type="title"/>
          </p:nvPr>
        </p:nvSpPr>
        <p:spPr/>
        <p:txBody>
          <a:bodyPr/>
          <a:lstStyle/>
          <a:p>
            <a:r>
              <a:rPr lang="en-US"/>
              <a:t>Styles of Waiting</a:t>
            </a:r>
          </a:p>
        </p:txBody>
      </p:sp>
      <p:sp>
        <p:nvSpPr>
          <p:cNvPr id="44037" name="Rectangle 3"/>
          <p:cNvSpPr>
            <a:spLocks noGrp="1" noChangeArrowheads="1"/>
          </p:cNvSpPr>
          <p:nvPr>
            <p:ph type="body" idx="1"/>
          </p:nvPr>
        </p:nvSpPr>
        <p:spPr/>
        <p:txBody>
          <a:bodyPr/>
          <a:lstStyle/>
          <a:p>
            <a:r>
              <a:rPr lang="en-US"/>
              <a:t>Spinning</a:t>
            </a:r>
          </a:p>
          <a:p>
            <a:pPr lvl="1"/>
            <a:r>
              <a:rPr lang="en-US"/>
              <a:t>Repeatedly retest condition</a:t>
            </a:r>
          </a:p>
          <a:p>
            <a:r>
              <a:rPr lang="en-US"/>
              <a:t>Blocking</a:t>
            </a:r>
          </a:p>
          <a:p>
            <a:pPr lvl="1"/>
            <a:r>
              <a:rPr lang="en-US"/>
              <a:t>Ask OS to run someone else</a:t>
            </a:r>
          </a:p>
          <a:p>
            <a:pPr lvl="1"/>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9B383092-B4BA-4441-84EB-E216556673C8}" type="slidenum">
              <a:rPr lang="ar-SA"/>
              <a:pPr>
                <a:defRPr/>
              </a:pPr>
              <a:t>43</a:t>
            </a:fld>
            <a:endParaRPr lang="en-US"/>
          </a:p>
        </p:txBody>
      </p:sp>
      <p:sp>
        <p:nvSpPr>
          <p:cNvPr id="45060" name="Rectangle 2"/>
          <p:cNvSpPr>
            <a:spLocks noGrp="1" noChangeArrowheads="1"/>
          </p:cNvSpPr>
          <p:nvPr>
            <p:ph type="title"/>
          </p:nvPr>
        </p:nvSpPr>
        <p:spPr/>
        <p:txBody>
          <a:bodyPr/>
          <a:lstStyle/>
          <a:p>
            <a:r>
              <a:rPr lang="en-US"/>
              <a:t>Styles of Waiting</a:t>
            </a:r>
          </a:p>
        </p:txBody>
      </p:sp>
      <p:sp>
        <p:nvSpPr>
          <p:cNvPr id="45061" name="Rectangle 3"/>
          <p:cNvSpPr>
            <a:spLocks noGrp="1" noChangeArrowheads="1"/>
          </p:cNvSpPr>
          <p:nvPr>
            <p:ph type="body" idx="1"/>
          </p:nvPr>
        </p:nvSpPr>
        <p:spPr/>
        <p:txBody>
          <a:bodyPr/>
          <a:lstStyle/>
          <a:p>
            <a:pPr>
              <a:lnSpc>
                <a:spcPct val="90000"/>
              </a:lnSpc>
            </a:pPr>
            <a:r>
              <a:rPr lang="en-US"/>
              <a:t>Spinning</a:t>
            </a:r>
          </a:p>
          <a:p>
            <a:pPr lvl="1">
              <a:lnSpc>
                <a:spcPct val="90000"/>
              </a:lnSpc>
            </a:pPr>
            <a:r>
              <a:rPr lang="en-US"/>
              <a:t>Good for very short intervals</a:t>
            </a:r>
          </a:p>
          <a:p>
            <a:pPr lvl="1">
              <a:lnSpc>
                <a:spcPct val="90000"/>
              </a:lnSpc>
            </a:pPr>
            <a:r>
              <a:rPr lang="en-US"/>
              <a:t>Expensive to call OS </a:t>
            </a:r>
          </a:p>
          <a:p>
            <a:pPr lvl="1">
              <a:lnSpc>
                <a:spcPct val="90000"/>
              </a:lnSpc>
            </a:pPr>
            <a:r>
              <a:rPr lang="en-US"/>
              <a:t>Works </a:t>
            </a:r>
            <a:r>
              <a:rPr lang="en-US">
                <a:solidFill>
                  <a:schemeClr val="tx1"/>
                </a:solidFill>
              </a:rPr>
              <a:t>only</a:t>
            </a:r>
            <a:r>
              <a:rPr lang="en-US"/>
              <a:t> on multiprocessors!</a:t>
            </a:r>
          </a:p>
          <a:p>
            <a:pPr>
              <a:lnSpc>
                <a:spcPct val="90000"/>
              </a:lnSpc>
            </a:pPr>
            <a:r>
              <a:rPr lang="en-US"/>
              <a:t>Blocking</a:t>
            </a:r>
          </a:p>
          <a:p>
            <a:pPr lvl="1">
              <a:lnSpc>
                <a:spcPct val="90000"/>
              </a:lnSpc>
            </a:pPr>
            <a:r>
              <a:rPr lang="en-US"/>
              <a:t>Good for longer intervals</a:t>
            </a:r>
          </a:p>
          <a:p>
            <a:pPr lvl="1">
              <a:lnSpc>
                <a:spcPct val="90000"/>
              </a:lnSpc>
            </a:pPr>
            <a:r>
              <a:rPr lang="en-US"/>
              <a:t>Processor can do work</a:t>
            </a:r>
          </a:p>
          <a:p>
            <a:pPr>
              <a:lnSpc>
                <a:spcPct val="90000"/>
              </a:lnSpc>
            </a:pPr>
            <a:r>
              <a:rPr lang="en-US"/>
              <a:t>Clever libraries sometimes mix</a:t>
            </a:r>
          </a:p>
          <a:p>
            <a:pPr lvl="1">
              <a:lnSpc>
                <a:spcPct val="90000"/>
              </a:lnSpc>
            </a:pPr>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55581BB0-DCD6-46F6-A3D6-9A707D2B2EB9}" type="slidenum">
              <a:rPr lang="ar-SA"/>
              <a:pPr>
                <a:defRPr/>
              </a:pPr>
              <a:t>44</a:t>
            </a:fld>
            <a:endParaRPr lang="en-US"/>
          </a:p>
        </p:txBody>
      </p:sp>
      <p:sp>
        <p:nvSpPr>
          <p:cNvPr id="46084" name="Rectangle 2"/>
          <p:cNvSpPr>
            <a:spLocks noGrp="1" noChangeArrowheads="1"/>
          </p:cNvSpPr>
          <p:nvPr>
            <p:ph type="title"/>
          </p:nvPr>
        </p:nvSpPr>
        <p:spPr/>
        <p:txBody>
          <a:bodyPr/>
          <a:lstStyle/>
          <a:p>
            <a:r>
              <a:rPr lang="en-US"/>
              <a:t>The wait() Method</a:t>
            </a:r>
          </a:p>
        </p:txBody>
      </p:sp>
      <p:sp>
        <p:nvSpPr>
          <p:cNvPr id="46085" name="Rectangle 3"/>
          <p:cNvSpPr>
            <a:spLocks noGrp="1" noChangeArrowheads="1"/>
          </p:cNvSpPr>
          <p:nvPr>
            <p:ph type="body" idx="1"/>
          </p:nvPr>
        </p:nvSpPr>
        <p:spPr>
          <a:xfrm>
            <a:off x="715963" y="3359150"/>
            <a:ext cx="7772400" cy="2332038"/>
          </a:xfrm>
        </p:spPr>
        <p:txBody>
          <a:bodyPr/>
          <a:lstStyle/>
          <a:p>
            <a:r>
              <a:rPr lang="en-US"/>
              <a:t>Releases lock on q</a:t>
            </a:r>
          </a:p>
          <a:p>
            <a:r>
              <a:rPr lang="en-US"/>
              <a:t>Sleeps (gives up processor)</a:t>
            </a:r>
          </a:p>
          <a:p>
            <a:r>
              <a:rPr lang="en-US"/>
              <a:t>Awakens (resumes running)</a:t>
            </a:r>
          </a:p>
          <a:p>
            <a:r>
              <a:rPr lang="en-US"/>
              <a:t>Reacquires lock &amp; returns</a:t>
            </a:r>
          </a:p>
        </p:txBody>
      </p:sp>
      <p:sp>
        <p:nvSpPr>
          <p:cNvPr id="46086"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q.wait</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72642FEE-3908-4040-A608-312B0213730E}" type="slidenum">
              <a:rPr lang="ar-SA"/>
              <a:pPr>
                <a:defRPr/>
              </a:pPr>
              <a:t>45</a:t>
            </a:fld>
            <a:endParaRPr lang="en-US"/>
          </a:p>
        </p:txBody>
      </p:sp>
      <p:pic>
        <p:nvPicPr>
          <p:cNvPr id="471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7109" name="Rectangle 3"/>
          <p:cNvSpPr>
            <a:spLocks noGrp="1" noChangeArrowheads="1"/>
          </p:cNvSpPr>
          <p:nvPr>
            <p:ph type="title"/>
          </p:nvPr>
        </p:nvSpPr>
        <p:spPr/>
        <p:txBody>
          <a:bodyPr/>
          <a:lstStyle/>
          <a:p>
            <a:r>
              <a:rPr lang="en-US" sz="4000"/>
              <a:t>The wait() Method</a:t>
            </a:r>
          </a:p>
        </p:txBody>
      </p:sp>
      <p:sp>
        <p:nvSpPr>
          <p:cNvPr id="47110" name="Rectangle 4"/>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tx1"/>
                </a:solidFill>
                <a:latin typeface="Courier New" pitchFamily="49" charset="0"/>
              </a:rPr>
              <a:t>class</a:t>
            </a:r>
            <a:r>
              <a:rPr lang="en-US" dirty="0">
                <a:latin typeface="Courier New" pitchFamily="49" charset="0"/>
              </a:rPr>
              <a:t> Queue&lt;T&gt; {</a:t>
            </a:r>
          </a:p>
          <a:p>
            <a:pPr marL="231775" indent="-231775">
              <a:lnSpc>
                <a:spcPct val="100000"/>
              </a:lnSpc>
            </a:pPr>
            <a:r>
              <a:rPr lang="en-US" dirty="0">
                <a:solidFill>
                  <a:schemeClr val="tx1"/>
                </a:solidFill>
                <a:latin typeface="Courier New" pitchFamily="49" charset="0"/>
              </a:rPr>
              <a:t>  …</a:t>
            </a:r>
          </a:p>
          <a:p>
            <a:pPr marL="231775" indent="-231775">
              <a:lnSpc>
                <a:spcPct val="100000"/>
              </a:lnSpc>
            </a:pPr>
            <a:r>
              <a:rPr lang="en-US" dirty="0">
                <a:solidFill>
                  <a:schemeClr val="tx1"/>
                </a:solidFill>
                <a:latin typeface="Courier New" pitchFamily="49" charset="0"/>
              </a:rPr>
              <a:t>  public synchronized</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wait();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items[(head++) % QSIZE] = x;</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a:t>
            </a:r>
            <a:endParaRPr lang="en-US" dirty="0">
              <a:latin typeface="Courier New" pitchFamily="49" charset="0"/>
            </a:endParaRPr>
          </a:p>
          <a:p>
            <a:pPr marL="231775" indent="-231775">
              <a:lnSpc>
                <a:spcPct val="100000"/>
              </a:lnSpc>
            </a:pPr>
            <a:r>
              <a:rPr lang="en-US" dirty="0">
                <a:latin typeface="Courier New" pitchFamily="49" charset="0"/>
              </a:rPr>
              <a:t>}</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2465485F-FE34-4D6C-A594-83F1D903AEEE}" type="slidenum">
              <a:rPr lang="ar-SA"/>
              <a:pPr>
                <a:defRPr/>
              </a:pPr>
              <a:t>46</a:t>
            </a:fld>
            <a:endParaRPr lang="en-US"/>
          </a:p>
        </p:txBody>
      </p:sp>
      <p:sp>
        <p:nvSpPr>
          <p:cNvPr id="48132" name="Rectangle 9"/>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wait();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items[(head++) % QSIZE] = x;</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pic>
        <p:nvPicPr>
          <p:cNvPr id="48133"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8134" name="Rectangle 3"/>
          <p:cNvSpPr>
            <a:spLocks noGrp="1" noChangeArrowheads="1"/>
          </p:cNvSpPr>
          <p:nvPr>
            <p:ph type="title"/>
          </p:nvPr>
        </p:nvSpPr>
        <p:spPr/>
        <p:txBody>
          <a:bodyPr/>
          <a:lstStyle/>
          <a:p>
            <a:r>
              <a:rPr lang="en-US" sz="4000"/>
              <a:t>Waiting Synchronized Method</a:t>
            </a:r>
          </a:p>
        </p:txBody>
      </p:sp>
      <p:sp>
        <p:nvSpPr>
          <p:cNvPr id="48135" name="AutoShape 5"/>
          <p:cNvSpPr>
            <a:spLocks noChangeArrowheads="1"/>
          </p:cNvSpPr>
          <p:nvPr/>
        </p:nvSpPr>
        <p:spPr bwMode="auto">
          <a:xfrm>
            <a:off x="1374775" y="2970213"/>
            <a:ext cx="6067425" cy="1514475"/>
          </a:xfrm>
          <a:prstGeom prst="wedgeRoundRectCallout">
            <a:avLst>
              <a:gd name="adj1" fmla="val 20435"/>
              <a:gd name="adj2" fmla="val -87736"/>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48136" name="Text Box 6"/>
          <p:cNvSpPr txBox="1">
            <a:spLocks noChangeArrowheads="1"/>
          </p:cNvSpPr>
          <p:nvPr/>
        </p:nvSpPr>
        <p:spPr bwMode="auto">
          <a:xfrm>
            <a:off x="4281488" y="1939925"/>
            <a:ext cx="4637087"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Keep retesting condition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3"/>
          <p:cNvSpPr>
            <a:spLocks noGrp="1"/>
          </p:cNvSpPr>
          <p:nvPr>
            <p:ph type="ftr" sz="quarter" idx="10"/>
          </p:nvPr>
        </p:nvSpPr>
        <p:spPr/>
        <p:txBody>
          <a:bodyPr/>
          <a:lstStyle/>
          <a:p>
            <a:pPr>
              <a:defRPr/>
            </a:pPr>
            <a:r>
              <a:rPr lang="en-US"/>
              <a:t>Art of Multiprocessor Programming</a:t>
            </a:r>
          </a:p>
        </p:txBody>
      </p:sp>
      <p:sp>
        <p:nvSpPr>
          <p:cNvPr id="10" name="Slide Number Placeholder 4"/>
          <p:cNvSpPr>
            <a:spLocks noGrp="1"/>
          </p:cNvSpPr>
          <p:nvPr>
            <p:ph type="sldNum" sz="quarter" idx="11"/>
          </p:nvPr>
        </p:nvSpPr>
        <p:spPr/>
        <p:txBody>
          <a:bodyPr/>
          <a:lstStyle/>
          <a:p>
            <a:pPr>
              <a:defRPr/>
            </a:pPr>
            <a:fld id="{EBFD576B-60B5-4A29-A573-D14B318C1545}" type="slidenum">
              <a:rPr lang="ar-SA"/>
              <a:pPr>
                <a:defRPr/>
              </a:pPr>
              <a:t>47</a:t>
            </a:fld>
            <a:endParaRPr lang="en-US"/>
          </a:p>
        </p:txBody>
      </p:sp>
      <p:sp>
        <p:nvSpPr>
          <p:cNvPr id="49156" name="Rectangle 9"/>
          <p:cNvSpPr>
            <a:spLocks noChangeArrowheads="1"/>
          </p:cNvSpPr>
          <p:nvPr/>
        </p:nvSpPr>
        <p:spPr bwMode="auto">
          <a:xfrm>
            <a:off x="887413" y="1704975"/>
            <a:ext cx="7591425" cy="4081463"/>
          </a:xfrm>
          <a:prstGeom prst="rect">
            <a:avLst/>
          </a:prstGeom>
          <a:solidFill>
            <a:srgbClr val="FFFFCC"/>
          </a:solidFill>
          <a:ln w="9525">
            <a:noFill/>
            <a:miter lim="800000"/>
            <a:headEnd/>
            <a:tailEnd/>
          </a:ln>
        </p:spPr>
        <p:txBody>
          <a:bodyPr/>
          <a:lstStyle/>
          <a:p>
            <a:pPr marL="231775" indent="-231775">
              <a:lnSpc>
                <a:spcPct val="100000"/>
              </a:lnSpc>
            </a:pPr>
            <a:r>
              <a:rPr lang="en-US" dirty="0">
                <a:solidFill>
                  <a:schemeClr val="bg2"/>
                </a:solidFill>
                <a:latin typeface="Courier New" pitchFamily="49" charset="0"/>
              </a:rPr>
              <a:t>class Queue&lt;T&gt;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wait();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items[(head++) % QSIZE] = x;</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pic>
        <p:nvPicPr>
          <p:cNvPr id="49157"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49158" name="Rectangle 3"/>
          <p:cNvSpPr>
            <a:spLocks noGrp="1" noChangeArrowheads="1"/>
          </p:cNvSpPr>
          <p:nvPr>
            <p:ph type="title"/>
          </p:nvPr>
        </p:nvSpPr>
        <p:spPr/>
        <p:txBody>
          <a:bodyPr/>
          <a:lstStyle/>
          <a:p>
            <a:r>
              <a:rPr lang="en-US" sz="4000"/>
              <a:t>Waiting Synchronized Method</a:t>
            </a:r>
          </a:p>
        </p:txBody>
      </p:sp>
      <p:sp>
        <p:nvSpPr>
          <p:cNvPr id="49159" name="AutoShape 5"/>
          <p:cNvSpPr>
            <a:spLocks noChangeArrowheads="1"/>
          </p:cNvSpPr>
          <p:nvPr/>
        </p:nvSpPr>
        <p:spPr bwMode="auto">
          <a:xfrm>
            <a:off x="1374775" y="2970213"/>
            <a:ext cx="6157913" cy="1514475"/>
          </a:xfrm>
          <a:prstGeom prst="wedgeRoundRectCallout">
            <a:avLst>
              <a:gd name="adj1" fmla="val 19398"/>
              <a:gd name="adj2" fmla="val -87736"/>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49160" name="Text Box 6"/>
          <p:cNvSpPr txBox="1">
            <a:spLocks noChangeArrowheads="1"/>
          </p:cNvSpPr>
          <p:nvPr/>
        </p:nvSpPr>
        <p:spPr bwMode="auto">
          <a:xfrm>
            <a:off x="4281488" y="1939925"/>
            <a:ext cx="4637087"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Keep retesting condition</a:t>
            </a:r>
          </a:p>
        </p:txBody>
      </p:sp>
      <p:sp>
        <p:nvSpPr>
          <p:cNvPr id="49161" name="AutoShape 7"/>
          <p:cNvSpPr>
            <a:spLocks noChangeArrowheads="1"/>
          </p:cNvSpPr>
          <p:nvPr/>
        </p:nvSpPr>
        <p:spPr bwMode="auto">
          <a:xfrm>
            <a:off x="1870075" y="3465513"/>
            <a:ext cx="1643063" cy="584200"/>
          </a:xfrm>
          <a:prstGeom prst="wedgeRoundRectCallout">
            <a:avLst>
              <a:gd name="adj1" fmla="val 60338"/>
              <a:gd name="adj2" fmla="val 265218"/>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49162" name="Text Box 8"/>
          <p:cNvSpPr txBox="1">
            <a:spLocks noChangeArrowheads="1"/>
          </p:cNvSpPr>
          <p:nvPr/>
        </p:nvSpPr>
        <p:spPr bwMode="auto">
          <a:xfrm>
            <a:off x="1776413" y="5297488"/>
            <a:ext cx="4637087" cy="519112"/>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Release lock &amp; sleep</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96C3747B-FA84-4ABD-B9AA-6DBB30D717C5}" type="slidenum">
              <a:rPr lang="ar-SA"/>
              <a:pPr>
                <a:defRPr/>
              </a:pPr>
              <a:t>48</a:t>
            </a:fld>
            <a:endParaRPr lang="en-US"/>
          </a:p>
        </p:txBody>
      </p:sp>
      <p:sp>
        <p:nvSpPr>
          <p:cNvPr id="50180" name="Rectangle 2"/>
          <p:cNvSpPr>
            <a:spLocks noGrp="1" noChangeArrowheads="1"/>
          </p:cNvSpPr>
          <p:nvPr>
            <p:ph type="title"/>
          </p:nvPr>
        </p:nvSpPr>
        <p:spPr/>
        <p:txBody>
          <a:bodyPr/>
          <a:lstStyle/>
          <a:p>
            <a:r>
              <a:rPr lang="en-US" sz="4000"/>
              <a:t>Wake up and Smell the Coffee</a:t>
            </a:r>
          </a:p>
        </p:txBody>
      </p:sp>
      <p:sp>
        <p:nvSpPr>
          <p:cNvPr id="50181" name="Rectangle 3"/>
          <p:cNvSpPr>
            <a:spLocks noGrp="1" noChangeArrowheads="1"/>
          </p:cNvSpPr>
          <p:nvPr>
            <p:ph type="body" idx="1"/>
          </p:nvPr>
        </p:nvSpPr>
        <p:spPr/>
        <p:txBody>
          <a:bodyPr/>
          <a:lstStyle/>
          <a:p>
            <a:r>
              <a:rPr lang="en-US"/>
              <a:t>When does a waiting thread awaken?</a:t>
            </a:r>
          </a:p>
          <a:p>
            <a:pPr lvl="1"/>
            <a:r>
              <a:rPr lang="en-US"/>
              <a:t>Must be </a:t>
            </a:r>
            <a:r>
              <a:rPr lang="en-US">
                <a:solidFill>
                  <a:schemeClr val="tx1"/>
                </a:solidFill>
              </a:rPr>
              <a:t>notified</a:t>
            </a:r>
            <a:r>
              <a:rPr lang="en-US"/>
              <a:t> by another thread </a:t>
            </a:r>
          </a:p>
          <a:p>
            <a:pPr lvl="1"/>
            <a:r>
              <a:rPr lang="en-US"/>
              <a:t>when something has happened</a:t>
            </a:r>
          </a:p>
          <a:p>
            <a:r>
              <a:rPr lang="en-US"/>
              <a:t>Failure to notify in a timely way is called a “</a:t>
            </a:r>
            <a:r>
              <a:rPr lang="en-US">
                <a:solidFill>
                  <a:schemeClr val="tx1"/>
                </a:solidFill>
              </a:rPr>
              <a:t>lost wakeup</a:t>
            </a:r>
            <a:r>
              <a:rPr lang="en-US"/>
              <a:t>”</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9535DCF4-17E1-4DFD-B29D-F0C2CF775274}" type="slidenum">
              <a:rPr lang="ar-SA"/>
              <a:pPr>
                <a:defRPr/>
              </a:pPr>
              <a:t>49</a:t>
            </a:fld>
            <a:endParaRPr lang="en-US"/>
          </a:p>
        </p:txBody>
      </p:sp>
      <p:sp>
        <p:nvSpPr>
          <p:cNvPr id="51204" name="Rectangle 2"/>
          <p:cNvSpPr>
            <a:spLocks noGrp="1" noChangeArrowheads="1"/>
          </p:cNvSpPr>
          <p:nvPr>
            <p:ph type="title"/>
          </p:nvPr>
        </p:nvSpPr>
        <p:spPr/>
        <p:txBody>
          <a:bodyPr/>
          <a:lstStyle/>
          <a:p>
            <a:r>
              <a:rPr lang="en-US"/>
              <a:t>The wait() Method</a:t>
            </a:r>
          </a:p>
        </p:txBody>
      </p:sp>
      <p:sp>
        <p:nvSpPr>
          <p:cNvPr id="51205" name="Rectangle 3"/>
          <p:cNvSpPr>
            <a:spLocks noGrp="1" noChangeArrowheads="1"/>
          </p:cNvSpPr>
          <p:nvPr>
            <p:ph type="body" idx="1"/>
          </p:nvPr>
        </p:nvSpPr>
        <p:spPr>
          <a:xfrm>
            <a:off x="715963" y="3359150"/>
            <a:ext cx="7772400" cy="2332038"/>
          </a:xfrm>
        </p:spPr>
        <p:txBody>
          <a:bodyPr/>
          <a:lstStyle/>
          <a:p>
            <a:r>
              <a:rPr lang="en-US"/>
              <a:t>Awakens </a:t>
            </a:r>
            <a:r>
              <a:rPr lang="en-US">
                <a:solidFill>
                  <a:schemeClr val="tx1"/>
                </a:solidFill>
              </a:rPr>
              <a:t>one</a:t>
            </a:r>
            <a:r>
              <a:rPr lang="en-US"/>
              <a:t> waiting thread</a:t>
            </a:r>
          </a:p>
          <a:p>
            <a:r>
              <a:rPr lang="en-US"/>
              <a:t>Which will reacquire lock &amp; returns</a:t>
            </a:r>
          </a:p>
        </p:txBody>
      </p:sp>
      <p:sp>
        <p:nvSpPr>
          <p:cNvPr id="51206"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q.notify</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3D80F2F4-78D9-48F5-8AE2-7424B8568A72}" type="slidenum">
              <a:rPr lang="ar-SA"/>
              <a:pPr>
                <a:defRPr/>
              </a:pPr>
              <a:t>50</a:t>
            </a:fld>
            <a:endParaRPr lang="en-US"/>
          </a:p>
        </p:txBody>
      </p:sp>
      <p:sp>
        <p:nvSpPr>
          <p:cNvPr id="52228" name="Rectangle 2"/>
          <p:cNvSpPr>
            <a:spLocks noGrp="1" noChangeArrowheads="1"/>
          </p:cNvSpPr>
          <p:nvPr>
            <p:ph type="title"/>
          </p:nvPr>
        </p:nvSpPr>
        <p:spPr/>
        <p:txBody>
          <a:bodyPr/>
          <a:lstStyle/>
          <a:p>
            <a:r>
              <a:rPr lang="en-US"/>
              <a:t>The wait() Method</a:t>
            </a:r>
          </a:p>
        </p:txBody>
      </p:sp>
      <p:sp>
        <p:nvSpPr>
          <p:cNvPr id="52229" name="Rectangle 3"/>
          <p:cNvSpPr>
            <a:spLocks noGrp="1" noChangeArrowheads="1"/>
          </p:cNvSpPr>
          <p:nvPr>
            <p:ph type="body" idx="1"/>
          </p:nvPr>
        </p:nvSpPr>
        <p:spPr>
          <a:xfrm>
            <a:off x="715963" y="3359150"/>
            <a:ext cx="7772400" cy="2332038"/>
          </a:xfrm>
        </p:spPr>
        <p:txBody>
          <a:bodyPr/>
          <a:lstStyle/>
          <a:p>
            <a:r>
              <a:rPr lang="en-US"/>
              <a:t>Awakens </a:t>
            </a:r>
            <a:r>
              <a:rPr lang="en-US">
                <a:solidFill>
                  <a:schemeClr val="tx1"/>
                </a:solidFill>
              </a:rPr>
              <a:t>all</a:t>
            </a:r>
            <a:r>
              <a:rPr lang="en-US"/>
              <a:t> waiting threads</a:t>
            </a:r>
          </a:p>
          <a:p>
            <a:r>
              <a:rPr lang="en-US"/>
              <a:t>Which will reacquire lock &amp; return</a:t>
            </a:r>
          </a:p>
        </p:txBody>
      </p:sp>
      <p:sp>
        <p:nvSpPr>
          <p:cNvPr id="52230"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q.notifyAll</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036ED463-1603-440D-A2D7-3A1ED31AA06C}" type="slidenum">
              <a:rPr lang="ar-SA"/>
              <a:pPr>
                <a:defRPr/>
              </a:pPr>
              <a:t>51</a:t>
            </a:fld>
            <a:endParaRPr lang="en-US"/>
          </a:p>
        </p:txBody>
      </p:sp>
      <p:pic>
        <p:nvPicPr>
          <p:cNvPr id="5325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3253" name="Rectangle 3"/>
          <p:cNvSpPr>
            <a:spLocks noGrp="1" noChangeArrowheads="1"/>
          </p:cNvSpPr>
          <p:nvPr>
            <p:ph type="title"/>
          </p:nvPr>
        </p:nvSpPr>
        <p:spPr/>
        <p:txBody>
          <a:bodyPr/>
          <a:lstStyle/>
          <a:p>
            <a:r>
              <a:rPr lang="en-US" sz="4000"/>
              <a:t>The wait() Method</a:t>
            </a:r>
          </a:p>
        </p:txBody>
      </p:sp>
      <p:sp>
        <p:nvSpPr>
          <p:cNvPr id="53254" name="Rectangle 4"/>
          <p:cNvSpPr>
            <a:spLocks noChangeArrowheads="1"/>
          </p:cNvSpPr>
          <p:nvPr/>
        </p:nvSpPr>
        <p:spPr bwMode="auto">
          <a:xfrm>
            <a:off x="887413" y="1704975"/>
            <a:ext cx="7591425" cy="4007251"/>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tx1"/>
                </a:solidFill>
                <a:latin typeface="Courier New" pitchFamily="49" charset="0"/>
              </a:rPr>
              <a:t>public synchronized</a:t>
            </a:r>
            <a:r>
              <a:rPr lang="en-US" dirty="0">
                <a:latin typeface="Courier New" pitchFamily="49" charset="0"/>
              </a:rPr>
              <a:t> </a:t>
            </a:r>
            <a:r>
              <a:rPr lang="en-US" dirty="0" err="1">
                <a:latin typeface="Courier New" pitchFamily="49" charset="0"/>
              </a:rPr>
              <a:t>enq</a:t>
            </a:r>
            <a:r>
              <a:rPr lang="en-US" dirty="0">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wait();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items[(head++) % QSIZE] = x;  </a:t>
            </a:r>
          </a:p>
          <a:p>
            <a:pPr marL="231775" indent="-231775">
              <a:lnSpc>
                <a:spcPct val="100000"/>
              </a:lnSpc>
            </a:pPr>
            <a:r>
              <a:rPr lang="en-US" dirty="0">
                <a:latin typeface="Courier New" pitchFamily="49" charset="0"/>
              </a:rPr>
              <a:t>  if (tail-head == QSIZE-1) {</a:t>
            </a:r>
          </a:p>
          <a:p>
            <a:pPr marL="231775" indent="-231775">
              <a:lnSpc>
                <a:spcPct val="100000"/>
              </a:lnSpc>
            </a:pPr>
            <a:r>
              <a:rPr lang="en-US" dirty="0">
                <a:latin typeface="Courier New" pitchFamily="49" charset="0"/>
              </a:rPr>
              <a:t>    notify();</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71DA6B6C-70F3-44C5-A65B-F09E183B33C5}" type="slidenum">
              <a:rPr lang="ar-SA"/>
              <a:pPr>
                <a:defRPr/>
              </a:pPr>
              <a:t>52</a:t>
            </a:fld>
            <a:endParaRPr lang="en-US"/>
          </a:p>
        </p:txBody>
      </p:sp>
      <p:sp>
        <p:nvSpPr>
          <p:cNvPr id="54276" name="Rectangle 7"/>
          <p:cNvSpPr>
            <a:spLocks noChangeArrowheads="1"/>
          </p:cNvSpPr>
          <p:nvPr/>
        </p:nvSpPr>
        <p:spPr bwMode="auto">
          <a:xfrm>
            <a:off x="887413" y="1704975"/>
            <a:ext cx="7591425" cy="4007251"/>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while</a:t>
            </a:r>
            <a:r>
              <a:rPr lang="en-US" dirty="0">
                <a:latin typeface="Courier New" pitchFamily="49" charset="0"/>
              </a:rPr>
              <a:t> (tail - head == QSIZE) {</a:t>
            </a:r>
          </a:p>
          <a:p>
            <a:pPr marL="231775" indent="-231775">
              <a:lnSpc>
                <a:spcPct val="100000"/>
              </a:lnSpc>
            </a:pPr>
            <a:r>
              <a:rPr lang="en-US" dirty="0">
                <a:latin typeface="Courier New" pitchFamily="49" charset="0"/>
              </a:rPr>
              <a:t>    wait();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items[(head++) % QSIZE] = x;  </a:t>
            </a:r>
          </a:p>
          <a:p>
            <a:pPr marL="231775" indent="-231775">
              <a:lnSpc>
                <a:spcPct val="100000"/>
              </a:lnSpc>
            </a:pPr>
            <a:r>
              <a:rPr lang="en-US" dirty="0">
                <a:solidFill>
                  <a:schemeClr val="bg2"/>
                </a:solidFill>
                <a:latin typeface="Courier New" pitchFamily="49" charset="0"/>
              </a:rPr>
              <a:t>  if (tail-head == QSIZE-1) {</a:t>
            </a:r>
          </a:p>
          <a:p>
            <a:pPr marL="231775" indent="-231775">
              <a:lnSpc>
                <a:spcPct val="100000"/>
              </a:lnSpc>
            </a:pPr>
            <a:r>
              <a:rPr lang="en-US" dirty="0">
                <a:solidFill>
                  <a:schemeClr val="bg2"/>
                </a:solidFill>
                <a:latin typeface="Courier New" pitchFamily="49" charset="0"/>
              </a:rPr>
              <a:t>    notify();</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a:t>
            </a:r>
          </a:p>
        </p:txBody>
      </p:sp>
      <p:sp>
        <p:nvSpPr>
          <p:cNvPr id="54277" name="Rectangle 3"/>
          <p:cNvSpPr>
            <a:spLocks noGrp="1" noChangeArrowheads="1"/>
          </p:cNvSpPr>
          <p:nvPr>
            <p:ph type="title"/>
          </p:nvPr>
        </p:nvSpPr>
        <p:spPr/>
        <p:txBody>
          <a:bodyPr/>
          <a:lstStyle/>
          <a:p>
            <a:r>
              <a:rPr lang="en-US" sz="4000"/>
              <a:t>The wait() Method</a:t>
            </a:r>
          </a:p>
        </p:txBody>
      </p:sp>
      <p:sp>
        <p:nvSpPr>
          <p:cNvPr id="54278" name="AutoShape 5"/>
          <p:cNvSpPr>
            <a:spLocks noChangeArrowheads="1"/>
          </p:cNvSpPr>
          <p:nvPr/>
        </p:nvSpPr>
        <p:spPr bwMode="auto">
          <a:xfrm>
            <a:off x="1182688" y="2136775"/>
            <a:ext cx="5045075" cy="1393825"/>
          </a:xfrm>
          <a:prstGeom prst="wedgeRoundRectCallout">
            <a:avLst>
              <a:gd name="adj1" fmla="val -1292"/>
              <a:gd name="adj2" fmla="val 171296"/>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54279" name="Text Box 6"/>
          <p:cNvSpPr txBox="1">
            <a:spLocks noChangeArrowheads="1"/>
          </p:cNvSpPr>
          <p:nvPr/>
        </p:nvSpPr>
        <p:spPr bwMode="auto">
          <a:xfrm>
            <a:off x="2765425" y="5494338"/>
            <a:ext cx="4637088" cy="519112"/>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Wait for empty slot</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3"/>
          <p:cNvSpPr>
            <a:spLocks noGrp="1"/>
          </p:cNvSpPr>
          <p:nvPr>
            <p:ph type="ftr" sz="quarter" idx="10"/>
          </p:nvPr>
        </p:nvSpPr>
        <p:spPr/>
        <p:txBody>
          <a:bodyPr/>
          <a:lstStyle/>
          <a:p>
            <a:pPr>
              <a:defRPr/>
            </a:pPr>
            <a:r>
              <a:rPr lang="en-US"/>
              <a:t>Art of Multiprocessor Programming</a:t>
            </a:r>
          </a:p>
        </p:txBody>
      </p:sp>
      <p:sp>
        <p:nvSpPr>
          <p:cNvPr id="7" name="Slide Number Placeholder 4"/>
          <p:cNvSpPr>
            <a:spLocks noGrp="1"/>
          </p:cNvSpPr>
          <p:nvPr>
            <p:ph type="sldNum" sz="quarter" idx="11"/>
          </p:nvPr>
        </p:nvSpPr>
        <p:spPr/>
        <p:txBody>
          <a:bodyPr/>
          <a:lstStyle/>
          <a:p>
            <a:pPr>
              <a:defRPr/>
            </a:pPr>
            <a:fld id="{5B301A19-21F8-4801-A55F-BECDA682D495}" type="slidenum">
              <a:rPr lang="ar-SA"/>
              <a:pPr>
                <a:defRPr/>
              </a:pPr>
              <a:t>53</a:t>
            </a:fld>
            <a:endParaRPr lang="en-US"/>
          </a:p>
        </p:txBody>
      </p:sp>
      <p:sp>
        <p:nvSpPr>
          <p:cNvPr id="55300" name="Rectangle 8"/>
          <p:cNvSpPr>
            <a:spLocks noChangeArrowheads="1"/>
          </p:cNvSpPr>
          <p:nvPr/>
        </p:nvSpPr>
        <p:spPr bwMode="auto">
          <a:xfrm>
            <a:off x="887413" y="1704975"/>
            <a:ext cx="7591425" cy="4007251"/>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solidFill>
                  <a:schemeClr val="bg2"/>
                </a:solidFill>
                <a:latin typeface="Courier New" pitchFamily="49" charset="0"/>
              </a:rPr>
              <a:t>  while (tail - head == QSIZE) {</a:t>
            </a:r>
          </a:p>
          <a:p>
            <a:pPr marL="231775" indent="-231775">
              <a:lnSpc>
                <a:spcPct val="100000"/>
              </a:lnSpc>
            </a:pPr>
            <a:r>
              <a:rPr lang="en-US" dirty="0">
                <a:solidFill>
                  <a:schemeClr val="bg2"/>
                </a:solidFill>
                <a:latin typeface="Courier New" pitchFamily="49" charset="0"/>
              </a:rPr>
              <a:t>    wait();</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latin typeface="Courier New" pitchFamily="49" charset="0"/>
              </a:rPr>
              <a:t>  items[(head++) % QSIZE] = x;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if (tail-head == QSIZE-1) {</a:t>
            </a:r>
          </a:p>
          <a:p>
            <a:pPr marL="231775" indent="-231775">
              <a:lnSpc>
                <a:spcPct val="100000"/>
              </a:lnSpc>
            </a:pPr>
            <a:r>
              <a:rPr lang="en-US" dirty="0">
                <a:solidFill>
                  <a:schemeClr val="bg2"/>
                </a:solidFill>
                <a:latin typeface="Courier New" pitchFamily="49" charset="0"/>
              </a:rPr>
              <a:t>    notify();</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a:t>
            </a:r>
          </a:p>
        </p:txBody>
      </p:sp>
      <p:sp>
        <p:nvSpPr>
          <p:cNvPr id="55301" name="Rectangle 3"/>
          <p:cNvSpPr>
            <a:spLocks noGrp="1" noChangeArrowheads="1"/>
          </p:cNvSpPr>
          <p:nvPr>
            <p:ph type="title"/>
          </p:nvPr>
        </p:nvSpPr>
        <p:spPr/>
        <p:txBody>
          <a:bodyPr/>
          <a:lstStyle/>
          <a:p>
            <a:r>
              <a:rPr lang="en-US" sz="4000"/>
              <a:t>The wait() Method</a:t>
            </a:r>
          </a:p>
        </p:txBody>
      </p:sp>
      <p:sp>
        <p:nvSpPr>
          <p:cNvPr id="55302" name="AutoShape 5"/>
          <p:cNvSpPr>
            <a:spLocks noChangeArrowheads="1"/>
          </p:cNvSpPr>
          <p:nvPr/>
        </p:nvSpPr>
        <p:spPr bwMode="auto">
          <a:xfrm>
            <a:off x="1182688" y="3500438"/>
            <a:ext cx="5494337" cy="495300"/>
          </a:xfrm>
          <a:prstGeom prst="wedgeRoundRectCallout">
            <a:avLst>
              <a:gd name="adj1" fmla="val -5273"/>
              <a:gd name="adj2" fmla="val 297435"/>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55303" name="Text Box 6"/>
          <p:cNvSpPr txBox="1">
            <a:spLocks noChangeArrowheads="1"/>
          </p:cNvSpPr>
          <p:nvPr/>
        </p:nvSpPr>
        <p:spPr bwMode="auto">
          <a:xfrm>
            <a:off x="1101725" y="5359400"/>
            <a:ext cx="4637088"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Stuff item into array</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2AC9A959-05C4-4806-B9ED-22D6B1ED4983}" type="slidenum">
              <a:rPr lang="ar-SA"/>
              <a:pPr>
                <a:defRPr/>
              </a:pPr>
              <a:t>54</a:t>
            </a:fld>
            <a:endParaRPr lang="en-US"/>
          </a:p>
        </p:txBody>
      </p:sp>
      <p:sp>
        <p:nvSpPr>
          <p:cNvPr id="56324" name="Rectangle 8"/>
          <p:cNvSpPr>
            <a:spLocks noChangeArrowheads="1"/>
          </p:cNvSpPr>
          <p:nvPr/>
        </p:nvSpPr>
        <p:spPr bwMode="auto">
          <a:xfrm>
            <a:off x="887413" y="1704975"/>
            <a:ext cx="7591425" cy="4007251"/>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public synchronized </a:t>
            </a:r>
            <a:r>
              <a:rPr lang="en-US" dirty="0" err="1">
                <a:solidFill>
                  <a:schemeClr val="bg2"/>
                </a:solidFill>
                <a:latin typeface="Courier New" pitchFamily="49" charset="0"/>
              </a:rPr>
              <a:t>enq</a:t>
            </a:r>
            <a:r>
              <a:rPr lang="en-US" dirty="0">
                <a:solidFill>
                  <a:schemeClr val="bg2"/>
                </a:solidFill>
                <a:latin typeface="Courier New" pitchFamily="49" charset="0"/>
              </a:rPr>
              <a:t>(T x) {</a:t>
            </a:r>
          </a:p>
          <a:p>
            <a:pPr marL="231775" indent="-231775">
              <a:lnSpc>
                <a:spcPct val="100000"/>
              </a:lnSpc>
            </a:pPr>
            <a:r>
              <a:rPr lang="en-US" dirty="0">
                <a:solidFill>
                  <a:schemeClr val="bg2"/>
                </a:solidFill>
                <a:latin typeface="Courier New" pitchFamily="49" charset="0"/>
              </a:rPr>
              <a:t>  while (tail - head == QSIZE) {</a:t>
            </a:r>
          </a:p>
          <a:p>
            <a:pPr marL="231775" indent="-231775">
              <a:lnSpc>
                <a:spcPct val="100000"/>
              </a:lnSpc>
            </a:pPr>
            <a:r>
              <a:rPr lang="en-US" dirty="0">
                <a:solidFill>
                  <a:schemeClr val="bg2"/>
                </a:solidFill>
                <a:latin typeface="Courier New" pitchFamily="49" charset="0"/>
              </a:rPr>
              <a:t>    wait();</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items[(head++) % QSIZE] = x;  </a:t>
            </a:r>
          </a:p>
          <a:p>
            <a:pPr marL="231775" indent="-231775">
              <a:lnSpc>
                <a:spcPct val="100000"/>
              </a:lnSpc>
            </a:pPr>
            <a:r>
              <a:rPr lang="en-US" dirty="0">
                <a:latin typeface="Courier New" pitchFamily="49" charset="0"/>
              </a:rPr>
              <a:t>  if (tail-head == QSIZE-1) {</a:t>
            </a:r>
          </a:p>
          <a:p>
            <a:pPr marL="231775" indent="-231775">
              <a:lnSpc>
                <a:spcPct val="100000"/>
              </a:lnSpc>
            </a:pPr>
            <a:r>
              <a:rPr lang="en-US" dirty="0">
                <a:latin typeface="Courier New" pitchFamily="49" charset="0"/>
              </a:rPr>
              <a:t>    notify();</a:t>
            </a:r>
          </a:p>
          <a:p>
            <a:pPr marL="231775" indent="-231775">
              <a:lnSpc>
                <a:spcPct val="100000"/>
              </a:lnSpc>
            </a:pPr>
            <a:r>
              <a:rPr lang="en-US" dirty="0">
                <a:latin typeface="Courier New" pitchFamily="49" charset="0"/>
              </a:rPr>
              <a:t>  }</a:t>
            </a:r>
          </a:p>
          <a:p>
            <a:pPr marL="231775" indent="-231775">
              <a:lnSpc>
                <a:spcPct val="100000"/>
              </a:lnSpc>
            </a:pPr>
            <a:r>
              <a:rPr lang="en-US" dirty="0">
                <a:solidFill>
                  <a:schemeClr val="bg2"/>
                </a:solidFill>
                <a:latin typeface="Courier New" pitchFamily="49" charset="0"/>
              </a:rPr>
              <a:t>} </a:t>
            </a:r>
            <a:r>
              <a:rPr lang="en-US" dirty="0">
                <a:latin typeface="Courier New" pitchFamily="49" charset="0"/>
              </a:rPr>
              <a:t> </a:t>
            </a:r>
          </a:p>
        </p:txBody>
      </p:sp>
      <p:pic>
        <p:nvPicPr>
          <p:cNvPr id="56325"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56326" name="Rectangle 3"/>
          <p:cNvSpPr>
            <a:spLocks noGrp="1" noChangeArrowheads="1"/>
          </p:cNvSpPr>
          <p:nvPr>
            <p:ph type="title"/>
          </p:nvPr>
        </p:nvSpPr>
        <p:spPr/>
        <p:txBody>
          <a:bodyPr/>
          <a:lstStyle/>
          <a:p>
            <a:r>
              <a:rPr lang="en-US" sz="4000"/>
              <a:t>The wait() Method</a:t>
            </a:r>
          </a:p>
        </p:txBody>
      </p:sp>
      <p:sp>
        <p:nvSpPr>
          <p:cNvPr id="56327" name="AutoShape 5"/>
          <p:cNvSpPr>
            <a:spLocks noChangeArrowheads="1"/>
          </p:cNvSpPr>
          <p:nvPr/>
        </p:nvSpPr>
        <p:spPr bwMode="auto">
          <a:xfrm>
            <a:off x="1212850" y="3905250"/>
            <a:ext cx="5434013" cy="1335088"/>
          </a:xfrm>
          <a:prstGeom prst="wedgeRoundRectCallout">
            <a:avLst>
              <a:gd name="adj1" fmla="val 39102"/>
              <a:gd name="adj2" fmla="val -88407"/>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56328" name="Text Box 6"/>
          <p:cNvSpPr txBox="1">
            <a:spLocks noChangeArrowheads="1"/>
          </p:cNvSpPr>
          <p:nvPr/>
        </p:nvSpPr>
        <p:spPr bwMode="auto">
          <a:xfrm>
            <a:off x="4116388" y="2462213"/>
            <a:ext cx="4637087" cy="946150"/>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If the queue was empty, wake up a </a:t>
            </a:r>
            <a:r>
              <a:rPr lang="en-US" sz="2800" b="0" dirty="0" err="1">
                <a:solidFill>
                  <a:srgbClr val="FF0000"/>
                </a:solidFill>
                <a:latin typeface="Arial" pitchFamily="34" charset="0"/>
              </a:rPr>
              <a:t>dequeuer</a:t>
            </a:r>
            <a:endParaRPr lang="en-US" sz="2800" b="0" dirty="0">
              <a:solidFill>
                <a:srgbClr val="FF0000"/>
              </a:solidFill>
              <a:latin typeface="Arial" pitchFamily="34"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033023A1-14CE-4D46-BBFB-8D8BA7DEFA3C}" type="slidenum">
              <a:rPr lang="ar-SA"/>
              <a:pPr>
                <a:defRPr/>
              </a:pPr>
              <a:t>55</a:t>
            </a:fld>
            <a:endParaRPr lang="en-US"/>
          </a:p>
        </p:txBody>
      </p:sp>
      <p:sp>
        <p:nvSpPr>
          <p:cNvPr id="57348" name="Rectangle 2"/>
          <p:cNvSpPr>
            <a:spLocks noGrp="1" noChangeArrowheads="1"/>
          </p:cNvSpPr>
          <p:nvPr>
            <p:ph type="title"/>
          </p:nvPr>
        </p:nvSpPr>
        <p:spPr/>
        <p:txBody>
          <a:bodyPr/>
          <a:lstStyle/>
          <a:p>
            <a:r>
              <a:rPr lang="en-US"/>
              <a:t>Lost Wakeup</a:t>
            </a:r>
          </a:p>
        </p:txBody>
      </p:sp>
      <p:sp>
        <p:nvSpPr>
          <p:cNvPr id="57349" name="Rectangle 3"/>
          <p:cNvSpPr>
            <a:spLocks noGrp="1" noChangeArrowheads="1"/>
          </p:cNvSpPr>
          <p:nvPr>
            <p:ph type="body" idx="1"/>
          </p:nvPr>
        </p:nvSpPr>
        <p:spPr/>
        <p:txBody>
          <a:bodyPr/>
          <a:lstStyle/>
          <a:p>
            <a:r>
              <a:rPr lang="en-US"/>
              <a:t>This code has a lost wakeup bug</a:t>
            </a:r>
          </a:p>
          <a:p>
            <a:r>
              <a:rPr lang="en-US"/>
              <a:t>Possible to have</a:t>
            </a:r>
          </a:p>
          <a:p>
            <a:pPr lvl="1"/>
            <a:r>
              <a:rPr lang="en-US"/>
              <a:t>Waiting dequeuer</a:t>
            </a:r>
          </a:p>
          <a:p>
            <a:pPr lvl="1"/>
            <a:r>
              <a:rPr lang="en-US"/>
              <a:t>Non-empty queue</a:t>
            </a:r>
          </a:p>
          <a:p>
            <a:r>
              <a:rPr lang="en-US"/>
              <a:t>Because not enough threads awakened</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Footer Placeholder 3"/>
          <p:cNvSpPr>
            <a:spLocks noGrp="1"/>
          </p:cNvSpPr>
          <p:nvPr>
            <p:ph type="ftr" sz="quarter" idx="10"/>
          </p:nvPr>
        </p:nvSpPr>
        <p:spPr/>
        <p:txBody>
          <a:bodyPr/>
          <a:lstStyle/>
          <a:p>
            <a:pPr>
              <a:defRPr/>
            </a:pPr>
            <a:r>
              <a:rPr lang="en-US"/>
              <a:t>Art of Multiprocessor Programming</a:t>
            </a:r>
          </a:p>
        </p:txBody>
      </p:sp>
      <p:sp>
        <p:nvSpPr>
          <p:cNvPr id="31" name="Slide Number Placeholder 4"/>
          <p:cNvSpPr>
            <a:spLocks noGrp="1"/>
          </p:cNvSpPr>
          <p:nvPr>
            <p:ph type="sldNum" sz="quarter" idx="11"/>
          </p:nvPr>
        </p:nvSpPr>
        <p:spPr/>
        <p:txBody>
          <a:bodyPr/>
          <a:lstStyle/>
          <a:p>
            <a:pPr>
              <a:defRPr/>
            </a:pPr>
            <a:fld id="{524E17FE-38C2-4FE5-B518-8DE13209F2AB}" type="slidenum">
              <a:rPr lang="ar-SA"/>
              <a:pPr>
                <a:defRPr/>
              </a:pPr>
              <a:t>56</a:t>
            </a:fld>
            <a:endParaRPr lang="en-US"/>
          </a:p>
        </p:txBody>
      </p:sp>
      <p:sp>
        <p:nvSpPr>
          <p:cNvPr id="58372" name="Rectangle 2"/>
          <p:cNvSpPr>
            <a:spLocks noGrp="1" noChangeArrowheads="1"/>
          </p:cNvSpPr>
          <p:nvPr>
            <p:ph type="title"/>
          </p:nvPr>
        </p:nvSpPr>
        <p:spPr/>
        <p:txBody>
          <a:bodyPr/>
          <a:lstStyle/>
          <a:p>
            <a:r>
              <a:rPr lang="en-US" sz="4000"/>
              <a:t>Empty queue, waiting dequeuers</a:t>
            </a:r>
          </a:p>
        </p:txBody>
      </p:sp>
      <p:sp>
        <p:nvSpPr>
          <p:cNvPr id="58373" name="Rectangle 3"/>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8374" name="Rectangle 4"/>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8375" name="Rectangle 5"/>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8376" name="Line 6"/>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8377" name="Line 7"/>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8378" name="Group 22"/>
          <p:cNvGrpSpPr>
            <a:grpSpLocks/>
          </p:cNvGrpSpPr>
          <p:nvPr/>
        </p:nvGrpSpPr>
        <p:grpSpPr bwMode="auto">
          <a:xfrm>
            <a:off x="1143000" y="4648200"/>
            <a:ext cx="1447800" cy="1295400"/>
            <a:chOff x="624" y="2832"/>
            <a:chExt cx="912" cy="816"/>
          </a:xfrm>
        </p:grpSpPr>
        <p:sp>
          <p:nvSpPr>
            <p:cNvPr id="58391" name="Freeform 23"/>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2" name="Freeform 24"/>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3" name="Freeform 25"/>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4" name="Freeform 26"/>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8395" name="Freeform 27"/>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8396" name="Freeform 28"/>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8397" name="Freeform 29"/>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8" name="Freeform 30"/>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9" name="Freeform 31"/>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8379" name="Group 33"/>
          <p:cNvGrpSpPr>
            <a:grpSpLocks/>
          </p:cNvGrpSpPr>
          <p:nvPr/>
        </p:nvGrpSpPr>
        <p:grpSpPr bwMode="auto">
          <a:xfrm>
            <a:off x="260350" y="4562475"/>
            <a:ext cx="1447800" cy="1295400"/>
            <a:chOff x="624" y="2832"/>
            <a:chExt cx="912" cy="816"/>
          </a:xfrm>
        </p:grpSpPr>
        <p:sp>
          <p:nvSpPr>
            <p:cNvPr id="58382" name="Freeform 34"/>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83" name="Freeform 35"/>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84" name="Freeform 36"/>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85" name="Freeform 37"/>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8386" name="Freeform 38"/>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8387" name="Freeform 39"/>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8388" name="Freeform 40"/>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89" name="Freeform 41"/>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8390" name="Freeform 42"/>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8380" name="AutoShape 43"/>
          <p:cNvSpPr>
            <a:spLocks noChangeArrowheads="1"/>
          </p:cNvSpPr>
          <p:nvPr/>
        </p:nvSpPr>
        <p:spPr bwMode="auto">
          <a:xfrm>
            <a:off x="1030288" y="1931988"/>
            <a:ext cx="2079625" cy="838200"/>
          </a:xfrm>
          <a:prstGeom prst="cloudCallout">
            <a:avLst>
              <a:gd name="adj1" fmla="val -28856"/>
              <a:gd name="adj2" fmla="val 218940"/>
            </a:avLst>
          </a:prstGeom>
          <a:no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sp>
        <p:nvSpPr>
          <p:cNvPr id="58381" name="AutoShape 44"/>
          <p:cNvSpPr>
            <a:spLocks noChangeArrowheads="1"/>
          </p:cNvSpPr>
          <p:nvPr/>
        </p:nvSpPr>
        <p:spPr bwMode="auto">
          <a:xfrm>
            <a:off x="1601788" y="2533650"/>
            <a:ext cx="2079625" cy="838200"/>
          </a:xfrm>
          <a:prstGeom prst="cloudCallout">
            <a:avLst>
              <a:gd name="adj1" fmla="val -21602"/>
              <a:gd name="adj2" fmla="val 188634"/>
            </a:avLst>
          </a:prstGeom>
          <a:solidFill>
            <a:schemeClr val="bg1"/>
          </a:solid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ooter Placeholder 3"/>
          <p:cNvSpPr>
            <a:spLocks noGrp="1"/>
          </p:cNvSpPr>
          <p:nvPr>
            <p:ph type="ftr" sz="quarter" idx="10"/>
          </p:nvPr>
        </p:nvSpPr>
        <p:spPr/>
        <p:txBody>
          <a:bodyPr/>
          <a:lstStyle/>
          <a:p>
            <a:pPr>
              <a:defRPr/>
            </a:pPr>
            <a:r>
              <a:rPr lang="en-US"/>
              <a:t>Art of Multiprocessor Programming</a:t>
            </a:r>
          </a:p>
        </p:txBody>
      </p:sp>
      <p:sp>
        <p:nvSpPr>
          <p:cNvPr id="45" name="Slide Number Placeholder 4"/>
          <p:cNvSpPr>
            <a:spLocks noGrp="1"/>
          </p:cNvSpPr>
          <p:nvPr>
            <p:ph type="sldNum" sz="quarter" idx="11"/>
          </p:nvPr>
        </p:nvSpPr>
        <p:spPr/>
        <p:txBody>
          <a:bodyPr/>
          <a:lstStyle/>
          <a:p>
            <a:pPr>
              <a:defRPr/>
            </a:pPr>
            <a:fld id="{3344729C-9091-4C9A-B650-39C2BA93C68F}" type="slidenum">
              <a:rPr lang="ar-SA"/>
              <a:pPr>
                <a:defRPr/>
              </a:pPr>
              <a:t>57</a:t>
            </a:fld>
            <a:endParaRPr lang="en-US"/>
          </a:p>
        </p:txBody>
      </p:sp>
      <p:sp>
        <p:nvSpPr>
          <p:cNvPr id="59396" name="Rectangle 2"/>
          <p:cNvSpPr>
            <a:spLocks noGrp="1" noChangeArrowheads="1"/>
          </p:cNvSpPr>
          <p:nvPr>
            <p:ph type="title"/>
          </p:nvPr>
        </p:nvSpPr>
        <p:spPr/>
        <p:txBody>
          <a:bodyPr/>
          <a:lstStyle/>
          <a:p>
            <a:r>
              <a:rPr lang="en-US"/>
              <a:t>Enqueuer puts item in queue</a:t>
            </a:r>
          </a:p>
        </p:txBody>
      </p:sp>
      <p:grpSp>
        <p:nvGrpSpPr>
          <p:cNvPr id="59397" name="Group 3"/>
          <p:cNvGrpSpPr>
            <a:grpSpLocks/>
          </p:cNvGrpSpPr>
          <p:nvPr/>
        </p:nvGrpSpPr>
        <p:grpSpPr bwMode="auto">
          <a:xfrm>
            <a:off x="2971800" y="3716338"/>
            <a:ext cx="430213" cy="341312"/>
            <a:chOff x="2928" y="1465"/>
            <a:chExt cx="271" cy="215"/>
          </a:xfrm>
        </p:grpSpPr>
        <p:sp>
          <p:nvSpPr>
            <p:cNvPr id="59436" name="Oval 4"/>
            <p:cNvSpPr>
              <a:spLocks noChangeArrowheads="1"/>
            </p:cNvSpPr>
            <p:nvPr/>
          </p:nvSpPr>
          <p:spPr bwMode="auto">
            <a:xfrm>
              <a:off x="2928" y="1465"/>
              <a:ext cx="271" cy="215"/>
            </a:xfrm>
            <a:prstGeom prst="ellipse">
              <a:avLst/>
            </a:prstGeom>
            <a:solidFill>
              <a:srgbClr val="FF00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59437" name="Oval 5"/>
            <p:cNvSpPr>
              <a:spLocks noChangeArrowheads="1"/>
            </p:cNvSpPr>
            <p:nvPr/>
          </p:nvSpPr>
          <p:spPr bwMode="auto">
            <a:xfrm>
              <a:off x="3082" y="1503"/>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
        <p:nvSpPr>
          <p:cNvPr id="59398" name="Rectangle 6"/>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9399" name="Rectangle 7"/>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9400" name="Rectangle 8"/>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59401" name="Line 9"/>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59402" name="Line 10"/>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59403" name="Group 17"/>
          <p:cNvGrpSpPr>
            <a:grpSpLocks/>
          </p:cNvGrpSpPr>
          <p:nvPr/>
        </p:nvGrpSpPr>
        <p:grpSpPr bwMode="auto">
          <a:xfrm>
            <a:off x="4573588" y="5029200"/>
            <a:ext cx="1447800" cy="1295400"/>
            <a:chOff x="3168" y="1824"/>
            <a:chExt cx="912" cy="816"/>
          </a:xfrm>
        </p:grpSpPr>
        <p:sp>
          <p:nvSpPr>
            <p:cNvPr id="59427" name="Freeform 18"/>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8" name="Freeform 19"/>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9" name="Freeform 20"/>
            <p:cNvSpPr>
              <a:spLocks/>
            </p:cNvSpPr>
            <p:nvPr/>
          </p:nvSpPr>
          <p:spPr bwMode="auto">
            <a:xfrm>
              <a:off x="3504" y="1824"/>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30" name="Freeform 21"/>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9431" name="Freeform 22"/>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9432" name="Freeform 23"/>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59433" name="Freeform 24"/>
            <p:cNvSpPr>
              <a:spLocks/>
            </p:cNvSpPr>
            <p:nvPr/>
          </p:nvSpPr>
          <p:spPr bwMode="auto">
            <a:xfrm>
              <a:off x="3504" y="2304"/>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34" name="Freeform 25"/>
            <p:cNvSpPr>
              <a:spLocks/>
            </p:cNvSpPr>
            <p:nvPr/>
          </p:nvSpPr>
          <p:spPr bwMode="auto">
            <a:xfrm>
              <a:off x="3312" y="2160"/>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35" name="Freeform 26"/>
            <p:cNvSpPr>
              <a:spLocks/>
            </p:cNvSpPr>
            <p:nvPr/>
          </p:nvSpPr>
          <p:spPr bwMode="auto">
            <a:xfrm>
              <a:off x="3168" y="2016"/>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9404" name="Freeform 27"/>
          <p:cNvSpPr>
            <a:spLocks/>
          </p:cNvSpPr>
          <p:nvPr/>
        </p:nvSpPr>
        <p:spPr bwMode="auto">
          <a:xfrm>
            <a:off x="3354388" y="4572000"/>
            <a:ext cx="1295400" cy="1143000"/>
          </a:xfrm>
          <a:custGeom>
            <a:avLst/>
            <a:gdLst>
              <a:gd name="T0" fmla="*/ 768 w 816"/>
              <a:gd name="T1" fmla="*/ 720 h 720"/>
              <a:gd name="T2" fmla="*/ 816 w 816"/>
              <a:gd name="T3" fmla="*/ 624 h 720"/>
              <a:gd name="T4" fmla="*/ 0 w 816"/>
              <a:gd name="T5" fmla="*/ 0 h 720"/>
              <a:gd name="T6" fmla="*/ 768 w 816"/>
              <a:gd name="T7" fmla="*/ 720 h 720"/>
              <a:gd name="T8" fmla="*/ 0 60000 65536"/>
              <a:gd name="T9" fmla="*/ 0 60000 65536"/>
              <a:gd name="T10" fmla="*/ 0 60000 65536"/>
              <a:gd name="T11" fmla="*/ 0 60000 65536"/>
              <a:gd name="T12" fmla="*/ 0 w 816"/>
              <a:gd name="T13" fmla="*/ 0 h 720"/>
              <a:gd name="T14" fmla="*/ 816 w 816"/>
              <a:gd name="T15" fmla="*/ 720 h 720"/>
            </a:gdLst>
            <a:ahLst/>
            <a:cxnLst>
              <a:cxn ang="T8">
                <a:pos x="T0" y="T1"/>
              </a:cxn>
              <a:cxn ang="T9">
                <a:pos x="T2" y="T3"/>
              </a:cxn>
              <a:cxn ang="T10">
                <a:pos x="T4" y="T5"/>
              </a:cxn>
              <a:cxn ang="T11">
                <a:pos x="T6" y="T7"/>
              </a:cxn>
            </a:cxnLst>
            <a:rect l="T12" t="T13" r="T14" b="T15"/>
            <a:pathLst>
              <a:path w="816" h="720">
                <a:moveTo>
                  <a:pt x="768" y="720"/>
                </a:moveTo>
                <a:lnTo>
                  <a:pt x="816" y="624"/>
                </a:lnTo>
                <a:lnTo>
                  <a:pt x="0" y="0"/>
                </a:lnTo>
                <a:lnTo>
                  <a:pt x="768" y="72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nvGrpSpPr>
          <p:cNvPr id="59405" name="Group 33"/>
          <p:cNvGrpSpPr>
            <a:grpSpLocks/>
          </p:cNvGrpSpPr>
          <p:nvPr/>
        </p:nvGrpSpPr>
        <p:grpSpPr bwMode="auto">
          <a:xfrm>
            <a:off x="1295400" y="4800600"/>
            <a:ext cx="1447800" cy="1295400"/>
            <a:chOff x="624" y="2832"/>
            <a:chExt cx="912" cy="816"/>
          </a:xfrm>
        </p:grpSpPr>
        <p:sp>
          <p:nvSpPr>
            <p:cNvPr id="59418" name="Freeform 34"/>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19" name="Freeform 35"/>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0" name="Freeform 36"/>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1" name="Freeform 37"/>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9422" name="Freeform 38"/>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9423" name="Freeform 39"/>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9424" name="Freeform 40"/>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5" name="Freeform 41"/>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26" name="Freeform 42"/>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59406" name="Group 43"/>
          <p:cNvGrpSpPr>
            <a:grpSpLocks/>
          </p:cNvGrpSpPr>
          <p:nvPr/>
        </p:nvGrpSpPr>
        <p:grpSpPr bwMode="auto">
          <a:xfrm>
            <a:off x="412750" y="4714875"/>
            <a:ext cx="1447800" cy="1295400"/>
            <a:chOff x="624" y="2832"/>
            <a:chExt cx="912" cy="816"/>
          </a:xfrm>
        </p:grpSpPr>
        <p:sp>
          <p:nvSpPr>
            <p:cNvPr id="59409" name="Freeform 44"/>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10" name="Freeform 45"/>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11" name="Freeform 46"/>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12" name="Freeform 47"/>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9413" name="Freeform 48"/>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9414" name="Freeform 49"/>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59415" name="Freeform 50"/>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16" name="Freeform 51"/>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59417" name="Freeform 52"/>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59407" name="AutoShape 53"/>
          <p:cNvSpPr>
            <a:spLocks noChangeArrowheads="1"/>
          </p:cNvSpPr>
          <p:nvPr/>
        </p:nvSpPr>
        <p:spPr bwMode="auto">
          <a:xfrm>
            <a:off x="1182688" y="2084388"/>
            <a:ext cx="2079625" cy="838200"/>
          </a:xfrm>
          <a:prstGeom prst="cloudCallout">
            <a:avLst>
              <a:gd name="adj1" fmla="val -28856"/>
              <a:gd name="adj2" fmla="val 218940"/>
            </a:avLst>
          </a:prstGeom>
          <a:no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sp>
        <p:nvSpPr>
          <p:cNvPr id="59408" name="AutoShape 55"/>
          <p:cNvSpPr>
            <a:spLocks noChangeArrowheads="1"/>
          </p:cNvSpPr>
          <p:nvPr/>
        </p:nvSpPr>
        <p:spPr bwMode="auto">
          <a:xfrm>
            <a:off x="1601788" y="2533650"/>
            <a:ext cx="2079625" cy="838200"/>
          </a:xfrm>
          <a:prstGeom prst="cloudCallout">
            <a:avLst>
              <a:gd name="adj1" fmla="val -21602"/>
              <a:gd name="adj2" fmla="val 188634"/>
            </a:avLst>
          </a:prstGeom>
          <a:solidFill>
            <a:schemeClr val="bg1"/>
          </a:solid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Footer Placeholder 3"/>
          <p:cNvSpPr>
            <a:spLocks noGrp="1"/>
          </p:cNvSpPr>
          <p:nvPr>
            <p:ph type="ftr" sz="quarter" idx="10"/>
          </p:nvPr>
        </p:nvSpPr>
        <p:spPr/>
        <p:txBody>
          <a:bodyPr/>
          <a:lstStyle/>
          <a:p>
            <a:pPr>
              <a:defRPr/>
            </a:pPr>
            <a:r>
              <a:rPr lang="en-US"/>
              <a:t>Art of Multiprocessor Programming</a:t>
            </a:r>
          </a:p>
        </p:txBody>
      </p:sp>
      <p:sp>
        <p:nvSpPr>
          <p:cNvPr id="46" name="Slide Number Placeholder 4"/>
          <p:cNvSpPr>
            <a:spLocks noGrp="1"/>
          </p:cNvSpPr>
          <p:nvPr>
            <p:ph type="sldNum" sz="quarter" idx="11"/>
          </p:nvPr>
        </p:nvSpPr>
        <p:spPr/>
        <p:txBody>
          <a:bodyPr/>
          <a:lstStyle/>
          <a:p>
            <a:pPr>
              <a:defRPr/>
            </a:pPr>
            <a:fld id="{1374E0D8-F040-497E-99B7-012FBBE5F0C7}" type="slidenum">
              <a:rPr lang="ar-SA"/>
              <a:pPr>
                <a:defRPr/>
              </a:pPr>
              <a:t>58</a:t>
            </a:fld>
            <a:endParaRPr lang="en-US"/>
          </a:p>
        </p:txBody>
      </p:sp>
      <p:sp>
        <p:nvSpPr>
          <p:cNvPr id="60420" name="Rectangle 2"/>
          <p:cNvSpPr>
            <a:spLocks noGrp="1" noChangeArrowheads="1"/>
          </p:cNvSpPr>
          <p:nvPr>
            <p:ph type="title"/>
          </p:nvPr>
        </p:nvSpPr>
        <p:spPr/>
        <p:txBody>
          <a:bodyPr/>
          <a:lstStyle/>
          <a:p>
            <a:r>
              <a:rPr lang="en-US" sz="4000"/>
              <a:t>Since queue was empty, wakes dequeuer</a:t>
            </a:r>
          </a:p>
        </p:txBody>
      </p:sp>
      <p:sp>
        <p:nvSpPr>
          <p:cNvPr id="60421" name="Rectangle 3"/>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0422" name="Rectangle 4"/>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0423" name="Rectangle 5"/>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0424" name="Line 6"/>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0425" name="Line 7"/>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0426" name="Group 22"/>
          <p:cNvGrpSpPr>
            <a:grpSpLocks/>
          </p:cNvGrpSpPr>
          <p:nvPr/>
        </p:nvGrpSpPr>
        <p:grpSpPr bwMode="auto">
          <a:xfrm>
            <a:off x="1143000" y="4648200"/>
            <a:ext cx="1447800" cy="1295400"/>
            <a:chOff x="624" y="2832"/>
            <a:chExt cx="912" cy="816"/>
          </a:xfrm>
        </p:grpSpPr>
        <p:sp>
          <p:nvSpPr>
            <p:cNvPr id="60454" name="Freeform 23"/>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5" name="Freeform 24"/>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6" name="Freeform 25"/>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7" name="Freeform 26"/>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0458" name="Freeform 27"/>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0459" name="Freeform 28"/>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0460" name="Freeform 29"/>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61" name="Freeform 30"/>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62" name="Freeform 31"/>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0427" name="Group 33"/>
          <p:cNvGrpSpPr>
            <a:grpSpLocks/>
          </p:cNvGrpSpPr>
          <p:nvPr/>
        </p:nvGrpSpPr>
        <p:grpSpPr bwMode="auto">
          <a:xfrm>
            <a:off x="260350" y="4562475"/>
            <a:ext cx="1447800" cy="1295400"/>
            <a:chOff x="624" y="2832"/>
            <a:chExt cx="912" cy="816"/>
          </a:xfrm>
        </p:grpSpPr>
        <p:sp>
          <p:nvSpPr>
            <p:cNvPr id="60445" name="Freeform 34"/>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46" name="Freeform 35"/>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47" name="Freeform 36"/>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48" name="Freeform 37"/>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0449" name="Freeform 38"/>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0450" name="Freeform 39"/>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0451" name="Freeform 40"/>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2" name="Freeform 41"/>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53" name="Freeform 42"/>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0428" name="AutoShape 43"/>
          <p:cNvSpPr>
            <a:spLocks noChangeArrowheads="1"/>
          </p:cNvSpPr>
          <p:nvPr/>
        </p:nvSpPr>
        <p:spPr bwMode="auto">
          <a:xfrm>
            <a:off x="1030288" y="1931988"/>
            <a:ext cx="2079625" cy="838200"/>
          </a:xfrm>
          <a:prstGeom prst="cloudCallout">
            <a:avLst>
              <a:gd name="adj1" fmla="val -28856"/>
              <a:gd name="adj2" fmla="val 218940"/>
            </a:avLst>
          </a:prstGeom>
          <a:no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sp>
        <p:nvSpPr>
          <p:cNvPr id="60429" name="AutoShape 44"/>
          <p:cNvSpPr>
            <a:spLocks noChangeArrowheads="1"/>
          </p:cNvSpPr>
          <p:nvPr/>
        </p:nvSpPr>
        <p:spPr bwMode="auto">
          <a:xfrm>
            <a:off x="1601788" y="2533650"/>
            <a:ext cx="2079625" cy="838200"/>
          </a:xfrm>
          <a:prstGeom prst="wedgeRoundRectCallout">
            <a:avLst>
              <a:gd name="adj1" fmla="val -21602"/>
              <a:gd name="adj2" fmla="val 188634"/>
              <a:gd name="adj3" fmla="val 16667"/>
            </a:avLst>
          </a:prstGeom>
          <a:solidFill>
            <a:schemeClr val="bg1"/>
          </a:solidFill>
          <a:ln w="38100">
            <a:solidFill>
              <a:srgbClr val="0066FF"/>
            </a:solidFill>
            <a:miter lim="800000"/>
            <a:headEnd/>
            <a:tailEnd/>
          </a:ln>
        </p:spPr>
        <p:txBody>
          <a:bodyPr anchor="ctr"/>
          <a:lstStyle/>
          <a:p>
            <a:pPr algn="ctr">
              <a:lnSpc>
                <a:spcPct val="100000"/>
              </a:lnSpc>
              <a:spcBef>
                <a:spcPct val="0"/>
              </a:spcBef>
            </a:pPr>
            <a:r>
              <a:rPr lang="en-US" sz="2800" dirty="0">
                <a:solidFill>
                  <a:schemeClr val="tx1"/>
                </a:solidFill>
                <a:latin typeface="Arial" pitchFamily="34" charset="0"/>
              </a:rPr>
              <a:t>Ouch!</a:t>
            </a:r>
          </a:p>
        </p:txBody>
      </p:sp>
      <p:sp>
        <p:nvSpPr>
          <p:cNvPr id="60430" name="Freeform 45"/>
          <p:cNvSpPr>
            <a:spLocks/>
          </p:cNvSpPr>
          <p:nvPr/>
        </p:nvSpPr>
        <p:spPr bwMode="auto">
          <a:xfrm>
            <a:off x="2384425" y="5067300"/>
            <a:ext cx="2127250" cy="568325"/>
          </a:xfrm>
          <a:custGeom>
            <a:avLst/>
            <a:gdLst>
              <a:gd name="T0" fmla="*/ 0 w 2238"/>
              <a:gd name="T1" fmla="*/ 188 h 566"/>
              <a:gd name="T2" fmla="*/ 1171 w 2238"/>
              <a:gd name="T3" fmla="*/ 0 h 566"/>
              <a:gd name="T4" fmla="*/ 859 w 2238"/>
              <a:gd name="T5" fmla="*/ 330 h 566"/>
              <a:gd name="T6" fmla="*/ 2238 w 2238"/>
              <a:gd name="T7" fmla="*/ 387 h 566"/>
              <a:gd name="T8" fmla="*/ 529 w 2238"/>
              <a:gd name="T9" fmla="*/ 566 h 566"/>
              <a:gd name="T10" fmla="*/ 736 w 2238"/>
              <a:gd name="T11" fmla="*/ 245 h 566"/>
              <a:gd name="T12" fmla="*/ 0 w 2238"/>
              <a:gd name="T13" fmla="*/ 188 h 566"/>
              <a:gd name="T14" fmla="*/ 0 60000 65536"/>
              <a:gd name="T15" fmla="*/ 0 60000 65536"/>
              <a:gd name="T16" fmla="*/ 0 60000 65536"/>
              <a:gd name="T17" fmla="*/ 0 60000 65536"/>
              <a:gd name="T18" fmla="*/ 0 60000 65536"/>
              <a:gd name="T19" fmla="*/ 0 60000 65536"/>
              <a:gd name="T20" fmla="*/ 0 60000 65536"/>
              <a:gd name="T21" fmla="*/ 0 w 2238"/>
              <a:gd name="T22" fmla="*/ 0 h 566"/>
              <a:gd name="T23" fmla="*/ 2238 w 2238"/>
              <a:gd name="T24" fmla="*/ 566 h 5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38" h="566">
                <a:moveTo>
                  <a:pt x="0" y="188"/>
                </a:moveTo>
                <a:lnTo>
                  <a:pt x="1171" y="0"/>
                </a:lnTo>
                <a:lnTo>
                  <a:pt x="859" y="330"/>
                </a:lnTo>
                <a:lnTo>
                  <a:pt x="2238" y="387"/>
                </a:lnTo>
                <a:lnTo>
                  <a:pt x="529" y="566"/>
                </a:lnTo>
                <a:lnTo>
                  <a:pt x="736" y="245"/>
                </a:lnTo>
                <a:lnTo>
                  <a:pt x="0" y="188"/>
                </a:lnTo>
                <a:close/>
              </a:path>
            </a:pathLst>
          </a:custGeom>
          <a:solidFill>
            <a:srgbClr val="FFFF00"/>
          </a:solidFill>
          <a:ln w="76200">
            <a:solidFill>
              <a:srgbClr val="FF0000"/>
            </a:solidFill>
            <a:round/>
            <a:headEnd/>
            <a:tailEnd/>
          </a:ln>
        </p:spPr>
        <p:txBody>
          <a:bodyPr/>
          <a:lstStyle/>
          <a:p>
            <a:endParaRPr lang="en-US" dirty="0">
              <a:latin typeface="Courier New" pitchFamily="49" charset="0"/>
            </a:endParaRPr>
          </a:p>
        </p:txBody>
      </p:sp>
      <p:grpSp>
        <p:nvGrpSpPr>
          <p:cNvPr id="60431" name="Group 47"/>
          <p:cNvGrpSpPr>
            <a:grpSpLocks/>
          </p:cNvGrpSpPr>
          <p:nvPr/>
        </p:nvGrpSpPr>
        <p:grpSpPr bwMode="auto">
          <a:xfrm>
            <a:off x="2971800" y="3716338"/>
            <a:ext cx="430213" cy="341312"/>
            <a:chOff x="2928" y="1465"/>
            <a:chExt cx="271" cy="215"/>
          </a:xfrm>
        </p:grpSpPr>
        <p:sp>
          <p:nvSpPr>
            <p:cNvPr id="60443" name="Oval 48"/>
            <p:cNvSpPr>
              <a:spLocks noChangeArrowheads="1"/>
            </p:cNvSpPr>
            <p:nvPr/>
          </p:nvSpPr>
          <p:spPr bwMode="auto">
            <a:xfrm>
              <a:off x="2928" y="1465"/>
              <a:ext cx="271" cy="215"/>
            </a:xfrm>
            <a:prstGeom prst="ellipse">
              <a:avLst/>
            </a:prstGeom>
            <a:solidFill>
              <a:srgbClr val="FF00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0444" name="Oval 49"/>
            <p:cNvSpPr>
              <a:spLocks noChangeArrowheads="1"/>
            </p:cNvSpPr>
            <p:nvPr/>
          </p:nvSpPr>
          <p:spPr bwMode="auto">
            <a:xfrm>
              <a:off x="3082" y="1503"/>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0432" name="Group 50"/>
          <p:cNvGrpSpPr>
            <a:grpSpLocks/>
          </p:cNvGrpSpPr>
          <p:nvPr/>
        </p:nvGrpSpPr>
        <p:grpSpPr bwMode="auto">
          <a:xfrm>
            <a:off x="4573588" y="5029200"/>
            <a:ext cx="1447800" cy="1295400"/>
            <a:chOff x="3168" y="1824"/>
            <a:chExt cx="912" cy="816"/>
          </a:xfrm>
        </p:grpSpPr>
        <p:sp>
          <p:nvSpPr>
            <p:cNvPr id="60434" name="Freeform 51"/>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35" name="Freeform 52"/>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36" name="Freeform 53"/>
            <p:cNvSpPr>
              <a:spLocks/>
            </p:cNvSpPr>
            <p:nvPr/>
          </p:nvSpPr>
          <p:spPr bwMode="auto">
            <a:xfrm>
              <a:off x="3504" y="1824"/>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37" name="Freeform 54"/>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0438" name="Freeform 55"/>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0439" name="Freeform 56"/>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Courier New" pitchFamily="49" charset="0"/>
              </a:endParaRPr>
            </a:p>
          </p:txBody>
        </p:sp>
        <p:sp>
          <p:nvSpPr>
            <p:cNvPr id="60440" name="Freeform 57"/>
            <p:cNvSpPr>
              <a:spLocks/>
            </p:cNvSpPr>
            <p:nvPr/>
          </p:nvSpPr>
          <p:spPr bwMode="auto">
            <a:xfrm>
              <a:off x="3504" y="2304"/>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41" name="Freeform 58"/>
            <p:cNvSpPr>
              <a:spLocks/>
            </p:cNvSpPr>
            <p:nvPr/>
          </p:nvSpPr>
          <p:spPr bwMode="auto">
            <a:xfrm>
              <a:off x="3312" y="2160"/>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0442" name="Freeform 59"/>
            <p:cNvSpPr>
              <a:spLocks/>
            </p:cNvSpPr>
            <p:nvPr/>
          </p:nvSpPr>
          <p:spPr bwMode="auto">
            <a:xfrm>
              <a:off x="3168" y="2016"/>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0433" name="AutoShape 60"/>
          <p:cNvSpPr>
            <a:spLocks noChangeArrowheads="1"/>
          </p:cNvSpPr>
          <p:nvPr/>
        </p:nvSpPr>
        <p:spPr bwMode="auto">
          <a:xfrm>
            <a:off x="6146800" y="3090863"/>
            <a:ext cx="2079625" cy="838200"/>
          </a:xfrm>
          <a:prstGeom prst="wedgeRoundRectCallout">
            <a:avLst>
              <a:gd name="adj1" fmla="val -74199"/>
              <a:gd name="adj2" fmla="val 169130"/>
              <a:gd name="adj3" fmla="val 16667"/>
            </a:avLst>
          </a:prstGeom>
          <a:solidFill>
            <a:schemeClr val="bg1"/>
          </a:solidFill>
          <a:ln w="38100">
            <a:solidFill>
              <a:srgbClr val="FF0000"/>
            </a:solidFill>
            <a:miter lim="800000"/>
            <a:headEnd/>
            <a:tailEnd/>
          </a:ln>
        </p:spPr>
        <p:txBody>
          <a:bodyPr anchor="ctr"/>
          <a:lstStyle/>
          <a:p>
            <a:pPr algn="ctr">
              <a:lnSpc>
                <a:spcPct val="100000"/>
              </a:lnSpc>
              <a:spcBef>
                <a:spcPct val="0"/>
              </a:spcBef>
            </a:pPr>
            <a:r>
              <a:rPr lang="en-US" sz="2800" dirty="0">
                <a:solidFill>
                  <a:schemeClr val="tx1"/>
                </a:solidFill>
                <a:latin typeface="Arial" pitchFamily="34" charset="0"/>
              </a:rPr>
              <a:t>notify() this!</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Footer Placeholder 3"/>
          <p:cNvSpPr>
            <a:spLocks noGrp="1"/>
          </p:cNvSpPr>
          <p:nvPr>
            <p:ph type="ftr" sz="quarter" idx="10"/>
          </p:nvPr>
        </p:nvSpPr>
        <p:spPr/>
        <p:txBody>
          <a:bodyPr/>
          <a:lstStyle/>
          <a:p>
            <a:pPr>
              <a:defRPr/>
            </a:pPr>
            <a:r>
              <a:rPr lang="en-US"/>
              <a:t>Art of Multiprocessor Programming</a:t>
            </a:r>
          </a:p>
        </p:txBody>
      </p:sp>
      <p:sp>
        <p:nvSpPr>
          <p:cNvPr id="40" name="Slide Number Placeholder 4"/>
          <p:cNvSpPr>
            <a:spLocks noGrp="1"/>
          </p:cNvSpPr>
          <p:nvPr>
            <p:ph type="sldNum" sz="quarter" idx="11"/>
          </p:nvPr>
        </p:nvSpPr>
        <p:spPr/>
        <p:txBody>
          <a:bodyPr/>
          <a:lstStyle/>
          <a:p>
            <a:pPr>
              <a:defRPr/>
            </a:pPr>
            <a:fld id="{8E400A76-15E0-4DE9-B056-CA60F19CD8FB}" type="slidenum">
              <a:rPr lang="ar-SA"/>
              <a:pPr>
                <a:defRPr/>
              </a:pPr>
              <a:t>59</a:t>
            </a:fld>
            <a:endParaRPr lang="en-US"/>
          </a:p>
        </p:txBody>
      </p:sp>
      <p:sp>
        <p:nvSpPr>
          <p:cNvPr id="61444" name="Rectangle 2"/>
          <p:cNvSpPr>
            <a:spLocks noGrp="1" noChangeArrowheads="1"/>
          </p:cNvSpPr>
          <p:nvPr>
            <p:ph type="title"/>
          </p:nvPr>
        </p:nvSpPr>
        <p:spPr/>
        <p:txBody>
          <a:bodyPr/>
          <a:lstStyle/>
          <a:p>
            <a:r>
              <a:rPr lang="en-US" sz="4000"/>
              <a:t>1</a:t>
            </a:r>
            <a:r>
              <a:rPr lang="en-US" sz="4000" baseline="30000"/>
              <a:t>st</a:t>
            </a:r>
            <a:r>
              <a:rPr lang="en-US" sz="4000"/>
              <a:t> Dequeuer slow, overtaken by enqueuers</a:t>
            </a:r>
          </a:p>
        </p:txBody>
      </p:sp>
      <p:sp>
        <p:nvSpPr>
          <p:cNvPr id="61445" name="Rectangle 3"/>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446" name="Rectangle 4"/>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447" name="Rectangle 5"/>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1448" name="Line 6"/>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1449" name="Line 7"/>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61450" name="Group 19"/>
          <p:cNvGrpSpPr>
            <a:grpSpLocks/>
          </p:cNvGrpSpPr>
          <p:nvPr/>
        </p:nvGrpSpPr>
        <p:grpSpPr bwMode="auto">
          <a:xfrm>
            <a:off x="3067050" y="3716338"/>
            <a:ext cx="430213" cy="341312"/>
            <a:chOff x="2744" y="3360"/>
            <a:chExt cx="271" cy="215"/>
          </a:xfrm>
        </p:grpSpPr>
        <p:sp>
          <p:nvSpPr>
            <p:cNvPr id="61479" name="Oval 20"/>
            <p:cNvSpPr>
              <a:spLocks noChangeArrowheads="1"/>
            </p:cNvSpPr>
            <p:nvPr/>
          </p:nvSpPr>
          <p:spPr bwMode="auto">
            <a:xfrm>
              <a:off x="2744" y="3360"/>
              <a:ext cx="271" cy="215"/>
            </a:xfrm>
            <a:prstGeom prst="ellipse">
              <a:avLst/>
            </a:prstGeom>
            <a:solidFill>
              <a:srgbClr val="FFFF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1480" name="Oval 21"/>
            <p:cNvSpPr>
              <a:spLocks noChangeArrowheads="1"/>
            </p:cNvSpPr>
            <p:nvPr/>
          </p:nvSpPr>
          <p:spPr bwMode="auto">
            <a:xfrm>
              <a:off x="2898" y="33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1451" name="Group 22"/>
          <p:cNvGrpSpPr>
            <a:grpSpLocks/>
          </p:cNvGrpSpPr>
          <p:nvPr/>
        </p:nvGrpSpPr>
        <p:grpSpPr bwMode="auto">
          <a:xfrm>
            <a:off x="1143000" y="4648200"/>
            <a:ext cx="1447800" cy="1295400"/>
            <a:chOff x="624" y="2832"/>
            <a:chExt cx="912" cy="816"/>
          </a:xfrm>
        </p:grpSpPr>
        <p:sp>
          <p:nvSpPr>
            <p:cNvPr id="61470" name="Freeform 23"/>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1" name="Freeform 24"/>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2" name="Freeform 25"/>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3" name="Freeform 26"/>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1474" name="Freeform 27"/>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1475" name="Freeform 28"/>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1476" name="Freeform 29"/>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7" name="Freeform 30"/>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78" name="Freeform 31"/>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1452" name="Group 33"/>
          <p:cNvGrpSpPr>
            <a:grpSpLocks/>
          </p:cNvGrpSpPr>
          <p:nvPr/>
        </p:nvGrpSpPr>
        <p:grpSpPr bwMode="auto">
          <a:xfrm>
            <a:off x="260350" y="4562475"/>
            <a:ext cx="1447800" cy="1295400"/>
            <a:chOff x="624" y="2832"/>
            <a:chExt cx="912" cy="816"/>
          </a:xfrm>
        </p:grpSpPr>
        <p:sp>
          <p:nvSpPr>
            <p:cNvPr id="61461" name="Freeform 34"/>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2" name="Freeform 35"/>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3" name="Freeform 36"/>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4" name="Freeform 37"/>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1465" name="Freeform 38"/>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1466" name="Freeform 39"/>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1467" name="Freeform 40"/>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8" name="Freeform 41"/>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1469" name="Freeform 42"/>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1453" name="AutoShape 43"/>
          <p:cNvSpPr>
            <a:spLocks noChangeArrowheads="1"/>
          </p:cNvSpPr>
          <p:nvPr/>
        </p:nvSpPr>
        <p:spPr bwMode="auto">
          <a:xfrm>
            <a:off x="1030288" y="1931988"/>
            <a:ext cx="2079625" cy="838200"/>
          </a:xfrm>
          <a:prstGeom prst="cloudCallout">
            <a:avLst>
              <a:gd name="adj1" fmla="val -28856"/>
              <a:gd name="adj2" fmla="val 218940"/>
            </a:avLst>
          </a:prstGeom>
          <a:no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sp>
        <p:nvSpPr>
          <p:cNvPr id="61454" name="AutoShape 44"/>
          <p:cNvSpPr>
            <a:spLocks noChangeArrowheads="1"/>
          </p:cNvSpPr>
          <p:nvPr/>
        </p:nvSpPr>
        <p:spPr bwMode="auto">
          <a:xfrm>
            <a:off x="1122363" y="2533650"/>
            <a:ext cx="2559050" cy="838200"/>
          </a:xfrm>
          <a:prstGeom prst="wedgeRoundRectCallout">
            <a:avLst>
              <a:gd name="adj1" fmla="val -8190"/>
              <a:gd name="adj2" fmla="val 188634"/>
              <a:gd name="adj3" fmla="val 16667"/>
            </a:avLst>
          </a:prstGeom>
          <a:solidFill>
            <a:schemeClr val="bg1"/>
          </a:solidFill>
          <a:ln w="38100">
            <a:solidFill>
              <a:srgbClr val="0066FF"/>
            </a:solidFill>
            <a:miter lim="800000"/>
            <a:headEnd/>
            <a:tailEnd/>
          </a:ln>
        </p:spPr>
        <p:txBody>
          <a:bodyPr anchor="ctr"/>
          <a:lstStyle/>
          <a:p>
            <a:pPr algn="ctr">
              <a:lnSpc>
                <a:spcPct val="100000"/>
              </a:lnSpc>
              <a:spcBef>
                <a:spcPct val="0"/>
              </a:spcBef>
            </a:pPr>
            <a:r>
              <a:rPr lang="en-US" sz="2800" dirty="0">
                <a:solidFill>
                  <a:schemeClr val="tx1"/>
                </a:solidFill>
                <a:latin typeface="Arial" pitchFamily="34" charset="0"/>
              </a:rPr>
              <a:t>Must have coffee …</a:t>
            </a:r>
          </a:p>
        </p:txBody>
      </p:sp>
      <p:grpSp>
        <p:nvGrpSpPr>
          <p:cNvPr id="61455" name="Group 46"/>
          <p:cNvGrpSpPr>
            <a:grpSpLocks/>
          </p:cNvGrpSpPr>
          <p:nvPr/>
        </p:nvGrpSpPr>
        <p:grpSpPr bwMode="auto">
          <a:xfrm>
            <a:off x="4876800" y="3738563"/>
            <a:ext cx="430213" cy="341312"/>
            <a:chOff x="2744" y="3360"/>
            <a:chExt cx="271" cy="215"/>
          </a:xfrm>
        </p:grpSpPr>
        <p:sp>
          <p:nvSpPr>
            <p:cNvPr id="61459" name="Oval 47"/>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1460" name="Oval 48"/>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1456" name="Group 49"/>
          <p:cNvGrpSpPr>
            <a:grpSpLocks/>
          </p:cNvGrpSpPr>
          <p:nvPr/>
        </p:nvGrpSpPr>
        <p:grpSpPr bwMode="auto">
          <a:xfrm>
            <a:off x="3886200" y="3716338"/>
            <a:ext cx="430213" cy="341312"/>
            <a:chOff x="3648" y="3312"/>
            <a:chExt cx="271" cy="215"/>
          </a:xfrm>
        </p:grpSpPr>
        <p:sp>
          <p:nvSpPr>
            <p:cNvPr id="61457" name="Oval 50"/>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1458" name="Oval 51"/>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Footer Placeholder 3"/>
          <p:cNvSpPr>
            <a:spLocks noGrp="1"/>
          </p:cNvSpPr>
          <p:nvPr>
            <p:ph type="ftr" sz="quarter" idx="10"/>
          </p:nvPr>
        </p:nvSpPr>
        <p:spPr/>
        <p:txBody>
          <a:bodyPr/>
          <a:lstStyle/>
          <a:p>
            <a:pPr>
              <a:defRPr/>
            </a:pPr>
            <a:r>
              <a:rPr lang="en-US"/>
              <a:t>Art of Multiprocessor Programming</a:t>
            </a:r>
          </a:p>
        </p:txBody>
      </p:sp>
      <p:sp>
        <p:nvSpPr>
          <p:cNvPr id="39" name="Slide Number Placeholder 4"/>
          <p:cNvSpPr>
            <a:spLocks noGrp="1"/>
          </p:cNvSpPr>
          <p:nvPr>
            <p:ph type="sldNum" sz="quarter" idx="11"/>
          </p:nvPr>
        </p:nvSpPr>
        <p:spPr/>
        <p:txBody>
          <a:bodyPr/>
          <a:lstStyle/>
          <a:p>
            <a:pPr>
              <a:defRPr/>
            </a:pPr>
            <a:fld id="{C3C2175F-8162-41D5-893E-019380EF8D57}" type="slidenum">
              <a:rPr lang="ar-SA"/>
              <a:pPr>
                <a:defRPr/>
              </a:pPr>
              <a:t>60</a:t>
            </a:fld>
            <a:endParaRPr lang="en-US"/>
          </a:p>
        </p:txBody>
      </p:sp>
      <p:sp>
        <p:nvSpPr>
          <p:cNvPr id="62468" name="Rectangle 2"/>
          <p:cNvSpPr>
            <a:spLocks noGrp="1" noChangeArrowheads="1"/>
          </p:cNvSpPr>
          <p:nvPr>
            <p:ph type="title"/>
          </p:nvPr>
        </p:nvSpPr>
        <p:spPr/>
        <p:txBody>
          <a:bodyPr/>
          <a:lstStyle/>
          <a:p>
            <a:r>
              <a:rPr lang="en-US"/>
              <a:t>1</a:t>
            </a:r>
            <a:r>
              <a:rPr lang="en-US" baseline="30000"/>
              <a:t>st</a:t>
            </a:r>
            <a:r>
              <a:rPr lang="en-US"/>
              <a:t> Dequeuer finishes</a:t>
            </a:r>
          </a:p>
        </p:txBody>
      </p:sp>
      <p:sp>
        <p:nvSpPr>
          <p:cNvPr id="62469" name="Rectangle 3"/>
          <p:cNvSpPr>
            <a:spLocks noChangeArrowheads="1"/>
          </p:cNvSpPr>
          <p:nvPr/>
        </p:nvSpPr>
        <p:spPr bwMode="auto">
          <a:xfrm>
            <a:off x="27432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2470" name="Rectangle 4"/>
          <p:cNvSpPr>
            <a:spLocks noChangeArrowheads="1"/>
          </p:cNvSpPr>
          <p:nvPr/>
        </p:nvSpPr>
        <p:spPr bwMode="auto">
          <a:xfrm>
            <a:off x="36576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2471" name="Rectangle 5"/>
          <p:cNvSpPr>
            <a:spLocks noChangeArrowheads="1"/>
          </p:cNvSpPr>
          <p:nvPr/>
        </p:nvSpPr>
        <p:spPr bwMode="auto">
          <a:xfrm>
            <a:off x="4572000" y="3429000"/>
            <a:ext cx="914400" cy="914400"/>
          </a:xfrm>
          <a:prstGeom prst="rect">
            <a:avLst/>
          </a:prstGeom>
          <a:noFill/>
          <a:ln w="38100">
            <a:solidFill>
              <a:schemeClr val="tx1"/>
            </a:solidFill>
            <a:miter lim="800000"/>
            <a:headEnd/>
            <a:tailEnd/>
          </a:ln>
        </p:spPr>
        <p:txBody>
          <a:bodyPr wrap="none" anchor="ctr"/>
          <a:lstStyle/>
          <a:p>
            <a:endParaRPr lang="en-US" dirty="0">
              <a:latin typeface="Courier New" pitchFamily="49" charset="0"/>
            </a:endParaRPr>
          </a:p>
        </p:txBody>
      </p:sp>
      <p:sp>
        <p:nvSpPr>
          <p:cNvPr id="62472" name="Line 6"/>
          <p:cNvSpPr>
            <a:spLocks noChangeShapeType="1"/>
          </p:cNvSpPr>
          <p:nvPr/>
        </p:nvSpPr>
        <p:spPr bwMode="auto">
          <a:xfrm>
            <a:off x="5410200" y="34290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sp>
        <p:nvSpPr>
          <p:cNvPr id="62473" name="Line 7"/>
          <p:cNvSpPr>
            <a:spLocks noChangeShapeType="1"/>
          </p:cNvSpPr>
          <p:nvPr/>
        </p:nvSpPr>
        <p:spPr bwMode="auto">
          <a:xfrm>
            <a:off x="5410200" y="4343400"/>
            <a:ext cx="914400" cy="0"/>
          </a:xfrm>
          <a:prstGeom prst="line">
            <a:avLst/>
          </a:prstGeom>
          <a:noFill/>
          <a:ln w="38100">
            <a:solidFill>
              <a:schemeClr val="tx1"/>
            </a:solidFill>
            <a:round/>
            <a:headEnd/>
            <a:tailEnd/>
          </a:ln>
        </p:spPr>
        <p:txBody>
          <a:bodyPr wrap="none" anchor="ctr"/>
          <a:lstStyle/>
          <a:p>
            <a:endParaRPr lang="en-US" dirty="0">
              <a:latin typeface="Courier New" pitchFamily="49" charset="0"/>
            </a:endParaRPr>
          </a:p>
        </p:txBody>
      </p:sp>
      <p:grpSp>
        <p:nvGrpSpPr>
          <p:cNvPr id="2" name="Group 8"/>
          <p:cNvGrpSpPr>
            <a:grpSpLocks/>
          </p:cNvGrpSpPr>
          <p:nvPr/>
        </p:nvGrpSpPr>
        <p:grpSpPr bwMode="auto">
          <a:xfrm>
            <a:off x="3067050" y="3716338"/>
            <a:ext cx="430213" cy="341312"/>
            <a:chOff x="2744" y="3360"/>
            <a:chExt cx="271" cy="215"/>
          </a:xfrm>
        </p:grpSpPr>
        <p:sp>
          <p:nvSpPr>
            <p:cNvPr id="62502" name="Oval 9"/>
            <p:cNvSpPr>
              <a:spLocks noChangeArrowheads="1"/>
            </p:cNvSpPr>
            <p:nvPr/>
          </p:nvSpPr>
          <p:spPr bwMode="auto">
            <a:xfrm>
              <a:off x="2744" y="3360"/>
              <a:ext cx="271" cy="215"/>
            </a:xfrm>
            <a:prstGeom prst="ellipse">
              <a:avLst/>
            </a:prstGeom>
            <a:solidFill>
              <a:srgbClr val="FFFF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2503" name="Oval 10"/>
            <p:cNvSpPr>
              <a:spLocks noChangeArrowheads="1"/>
            </p:cNvSpPr>
            <p:nvPr/>
          </p:nvSpPr>
          <p:spPr bwMode="auto">
            <a:xfrm>
              <a:off x="2898" y="3398"/>
              <a:ext cx="71" cy="60"/>
            </a:xfrm>
            <a:prstGeom prst="ellipse">
              <a:avLst/>
            </a:prstGeom>
            <a:solidFill>
              <a:schemeClr val="bg1"/>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3" name="Group 11"/>
          <p:cNvGrpSpPr>
            <a:grpSpLocks/>
          </p:cNvGrpSpPr>
          <p:nvPr/>
        </p:nvGrpSpPr>
        <p:grpSpPr bwMode="auto">
          <a:xfrm>
            <a:off x="1143000" y="4648200"/>
            <a:ext cx="1447800" cy="1295400"/>
            <a:chOff x="624" y="2832"/>
            <a:chExt cx="912" cy="816"/>
          </a:xfrm>
        </p:grpSpPr>
        <p:sp>
          <p:nvSpPr>
            <p:cNvPr id="62493" name="Freeform 12"/>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4" name="Freeform 13"/>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5" name="Freeform 14"/>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6" name="Freeform 15"/>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2497" name="Freeform 16"/>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2498" name="Freeform 17"/>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2499" name="Freeform 18"/>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500" name="Freeform 19"/>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501" name="Freeform 20"/>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grpSp>
        <p:nvGrpSpPr>
          <p:cNvPr id="62476" name="Group 22"/>
          <p:cNvGrpSpPr>
            <a:grpSpLocks/>
          </p:cNvGrpSpPr>
          <p:nvPr/>
        </p:nvGrpSpPr>
        <p:grpSpPr bwMode="auto">
          <a:xfrm>
            <a:off x="260350" y="4562475"/>
            <a:ext cx="1447800" cy="1295400"/>
            <a:chOff x="624" y="2832"/>
            <a:chExt cx="912" cy="816"/>
          </a:xfrm>
        </p:grpSpPr>
        <p:sp>
          <p:nvSpPr>
            <p:cNvPr id="62484" name="Freeform 23"/>
            <p:cNvSpPr>
              <a:spLocks/>
            </p:cNvSpPr>
            <p:nvPr/>
          </p:nvSpPr>
          <p:spPr bwMode="auto">
            <a:xfrm flipH="1">
              <a:off x="624" y="307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5" name="Freeform 24"/>
            <p:cNvSpPr>
              <a:spLocks/>
            </p:cNvSpPr>
            <p:nvPr/>
          </p:nvSpPr>
          <p:spPr bwMode="auto">
            <a:xfrm flipH="1">
              <a:off x="832" y="292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6" name="Freeform 25"/>
            <p:cNvSpPr>
              <a:spLocks/>
            </p:cNvSpPr>
            <p:nvPr/>
          </p:nvSpPr>
          <p:spPr bwMode="auto">
            <a:xfrm flipH="1">
              <a:off x="1056" y="2832"/>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87" name="Freeform 26"/>
            <p:cNvSpPr>
              <a:spLocks/>
            </p:cNvSpPr>
            <p:nvPr/>
          </p:nvSpPr>
          <p:spPr bwMode="auto">
            <a:xfrm flipH="1">
              <a:off x="672" y="2832"/>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2488" name="Freeform 27"/>
            <p:cNvSpPr>
              <a:spLocks/>
            </p:cNvSpPr>
            <p:nvPr/>
          </p:nvSpPr>
          <p:spPr bwMode="auto">
            <a:xfrm flipH="1">
              <a:off x="960" y="2928"/>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2489" name="Freeform 28"/>
            <p:cNvSpPr>
              <a:spLocks/>
            </p:cNvSpPr>
            <p:nvPr/>
          </p:nvSpPr>
          <p:spPr bwMode="auto">
            <a:xfrm flipH="1">
              <a:off x="672" y="3168"/>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00FF"/>
            </a:solidFill>
            <a:ln w="38100">
              <a:solidFill>
                <a:schemeClr val="tx1"/>
              </a:solidFill>
              <a:round/>
              <a:headEnd/>
              <a:tailEnd/>
            </a:ln>
          </p:spPr>
          <p:txBody>
            <a:bodyPr wrap="none" anchor="ctr"/>
            <a:lstStyle/>
            <a:p>
              <a:endParaRPr lang="en-US" dirty="0">
                <a:latin typeface="Courier New" pitchFamily="49" charset="0"/>
              </a:endParaRPr>
            </a:p>
          </p:txBody>
        </p:sp>
        <p:sp>
          <p:nvSpPr>
            <p:cNvPr id="62490" name="Freeform 29"/>
            <p:cNvSpPr>
              <a:spLocks/>
            </p:cNvSpPr>
            <p:nvPr/>
          </p:nvSpPr>
          <p:spPr bwMode="auto">
            <a:xfrm flipH="1">
              <a:off x="960" y="3312"/>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1" name="Freeform 30"/>
            <p:cNvSpPr>
              <a:spLocks/>
            </p:cNvSpPr>
            <p:nvPr/>
          </p:nvSpPr>
          <p:spPr bwMode="auto">
            <a:xfrm flipH="1">
              <a:off x="1152" y="3168"/>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sp>
          <p:nvSpPr>
            <p:cNvPr id="62492" name="Freeform 31"/>
            <p:cNvSpPr>
              <a:spLocks/>
            </p:cNvSpPr>
            <p:nvPr/>
          </p:nvSpPr>
          <p:spPr bwMode="auto">
            <a:xfrm flipH="1">
              <a:off x="1344" y="3024"/>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Courier New" pitchFamily="49" charset="0"/>
              </a:endParaRPr>
            </a:p>
          </p:txBody>
        </p:sp>
      </p:grpSp>
      <p:sp>
        <p:nvSpPr>
          <p:cNvPr id="62477" name="AutoShape 32"/>
          <p:cNvSpPr>
            <a:spLocks noChangeArrowheads="1"/>
          </p:cNvSpPr>
          <p:nvPr/>
        </p:nvSpPr>
        <p:spPr bwMode="auto">
          <a:xfrm>
            <a:off x="1030288" y="1931988"/>
            <a:ext cx="2079625" cy="838200"/>
          </a:xfrm>
          <a:prstGeom prst="cloudCallout">
            <a:avLst>
              <a:gd name="adj1" fmla="val -28856"/>
              <a:gd name="adj2" fmla="val 218940"/>
            </a:avLst>
          </a:prstGeom>
          <a:noFill/>
          <a:ln w="38100">
            <a:solidFill>
              <a:srgbClr val="0066FF"/>
            </a:solidFill>
            <a:round/>
            <a:headEnd/>
            <a:tailEnd/>
          </a:ln>
        </p:spPr>
        <p:txBody>
          <a:bodyPr anchor="ctr"/>
          <a:lstStyle/>
          <a:p>
            <a:pPr algn="ctr">
              <a:lnSpc>
                <a:spcPct val="100000"/>
              </a:lnSpc>
              <a:spcBef>
                <a:spcPct val="0"/>
              </a:spcBef>
            </a:pPr>
            <a:r>
              <a:rPr lang="en-US" sz="2800" dirty="0" err="1">
                <a:solidFill>
                  <a:schemeClr val="tx1"/>
                </a:solidFill>
                <a:latin typeface="Arial" pitchFamily="34" charset="0"/>
              </a:rPr>
              <a:t>Zzz</a:t>
            </a:r>
            <a:r>
              <a:rPr lang="en-US" sz="2800" dirty="0">
                <a:solidFill>
                  <a:schemeClr val="tx1"/>
                </a:solidFill>
                <a:latin typeface="Arial" pitchFamily="34" charset="0"/>
              </a:rPr>
              <a:t> …</a:t>
            </a:r>
          </a:p>
        </p:txBody>
      </p:sp>
      <p:grpSp>
        <p:nvGrpSpPr>
          <p:cNvPr id="5" name="Group 34"/>
          <p:cNvGrpSpPr>
            <a:grpSpLocks/>
          </p:cNvGrpSpPr>
          <p:nvPr/>
        </p:nvGrpSpPr>
        <p:grpSpPr bwMode="auto">
          <a:xfrm>
            <a:off x="4876800" y="3738563"/>
            <a:ext cx="430213" cy="341312"/>
            <a:chOff x="2744" y="3360"/>
            <a:chExt cx="271" cy="215"/>
          </a:xfrm>
        </p:grpSpPr>
        <p:sp>
          <p:nvSpPr>
            <p:cNvPr id="62482" name="Oval 35"/>
            <p:cNvSpPr>
              <a:spLocks noChangeArrowheads="1"/>
            </p:cNvSpPr>
            <p:nvPr/>
          </p:nvSpPr>
          <p:spPr bwMode="auto">
            <a:xfrm>
              <a:off x="2744" y="3360"/>
              <a:ext cx="271" cy="215"/>
            </a:xfrm>
            <a:prstGeom prst="ellipse">
              <a:avLst/>
            </a:prstGeom>
            <a:solidFill>
              <a:srgbClr val="66FF33"/>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2483" name="Oval 36"/>
            <p:cNvSpPr>
              <a:spLocks noChangeArrowheads="1"/>
            </p:cNvSpPr>
            <p:nvPr/>
          </p:nvSpPr>
          <p:spPr bwMode="auto">
            <a:xfrm>
              <a:off x="2898" y="3398"/>
              <a:ext cx="71" cy="60"/>
            </a:xfrm>
            <a:prstGeom prst="ellipse">
              <a:avLst/>
            </a:prstGeom>
            <a:solidFill>
              <a:srgbClr val="00FFFF"/>
            </a:solidFill>
            <a:ln w="19050">
              <a:solidFill>
                <a:schemeClr val="tx1"/>
              </a:solidFill>
              <a:round/>
              <a:headEnd/>
              <a:tailEnd/>
            </a:ln>
          </p:spPr>
          <p:txBody>
            <a:bodyPr wrap="none" anchor="ctr"/>
            <a:lstStyle/>
            <a:p>
              <a:endParaRPr lang="en-US" dirty="0">
                <a:latin typeface="Courier New" pitchFamily="49" charset="0"/>
              </a:endParaRPr>
            </a:p>
          </p:txBody>
        </p:sp>
      </p:grpSp>
      <p:grpSp>
        <p:nvGrpSpPr>
          <p:cNvPr id="6" name="Group 37"/>
          <p:cNvGrpSpPr>
            <a:grpSpLocks/>
          </p:cNvGrpSpPr>
          <p:nvPr/>
        </p:nvGrpSpPr>
        <p:grpSpPr bwMode="auto">
          <a:xfrm>
            <a:off x="3886200" y="3716338"/>
            <a:ext cx="430213" cy="341312"/>
            <a:chOff x="3648" y="3312"/>
            <a:chExt cx="271" cy="215"/>
          </a:xfrm>
        </p:grpSpPr>
        <p:sp>
          <p:nvSpPr>
            <p:cNvPr id="62480" name="Oval 38"/>
            <p:cNvSpPr>
              <a:spLocks noChangeArrowheads="1"/>
            </p:cNvSpPr>
            <p:nvPr/>
          </p:nvSpPr>
          <p:spPr bwMode="auto">
            <a:xfrm>
              <a:off x="3648" y="3312"/>
              <a:ext cx="271" cy="215"/>
            </a:xfrm>
            <a:prstGeom prst="ellipse">
              <a:avLst/>
            </a:prstGeom>
            <a:solidFill>
              <a:srgbClr val="FF0000"/>
            </a:solidFill>
            <a:ln w="38100">
              <a:solidFill>
                <a:schemeClr val="tx1"/>
              </a:solidFill>
              <a:round/>
              <a:headEnd/>
              <a:tailEnd/>
            </a:ln>
          </p:spPr>
          <p:txBody>
            <a:bodyPr wrap="none" anchor="ctr"/>
            <a:lstStyle/>
            <a:p>
              <a:pPr algn="r">
                <a:lnSpc>
                  <a:spcPct val="100000"/>
                </a:lnSpc>
                <a:spcBef>
                  <a:spcPct val="0"/>
                </a:spcBef>
              </a:pPr>
              <a:endParaRPr lang="en-US" sz="4400" b="0" u="sng" dirty="0">
                <a:latin typeface="Arial" pitchFamily="34" charset="0"/>
              </a:endParaRPr>
            </a:p>
          </p:txBody>
        </p:sp>
        <p:sp>
          <p:nvSpPr>
            <p:cNvPr id="62481" name="Oval 39"/>
            <p:cNvSpPr>
              <a:spLocks noChangeArrowheads="1"/>
            </p:cNvSpPr>
            <p:nvPr/>
          </p:nvSpPr>
          <p:spPr bwMode="auto">
            <a:xfrm>
              <a:off x="3802" y="3350"/>
              <a:ext cx="71" cy="60"/>
            </a:xfrm>
            <a:prstGeom prst="ellipse">
              <a:avLst/>
            </a:prstGeom>
            <a:solidFill>
              <a:srgbClr val="FF7C80"/>
            </a:solidFill>
            <a:ln w="19050">
              <a:solidFill>
                <a:schemeClr val="tx1"/>
              </a:solidFill>
              <a:round/>
              <a:headEnd/>
              <a:tailEnd/>
            </a:ln>
          </p:spPr>
          <p:txBody>
            <a:bodyPr wrap="none" anchor="ctr"/>
            <a:lstStyle/>
            <a:p>
              <a:endParaRPr lang="en-US" dirty="0">
                <a:latin typeface="Courier New"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nodeType="clickEffect">
                                  <p:stCondLst>
                                    <p:cond delay="0"/>
                                  </p:stCondLst>
                                  <p:childTnLst>
                                    <p:animEffect transition="out" filter="blinds(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par>
                                <p:cTn id="8" presetID="3" presetClass="exit" presetSubtype="10" fill="hold" nodeType="withEffect">
                                  <p:stCondLst>
                                    <p:cond delay="0"/>
                                  </p:stCondLst>
                                  <p:childTnLst>
                                    <p:animEffect transition="out" filter="blinds(horizontal)">
                                      <p:cBhvr>
                                        <p:cTn id="9" dur="500"/>
                                        <p:tgtEl>
                                          <p:spTgt spid="2"/>
                                        </p:tgtEl>
                                      </p:cBhvr>
                                    </p:animEffect>
                                    <p:set>
                                      <p:cBhvr>
                                        <p:cTn id="10" dur="1" fill="hold">
                                          <p:stCondLst>
                                            <p:cond delay="499"/>
                                          </p:stCondLst>
                                        </p:cTn>
                                        <p:tgtEl>
                                          <p:spTgt spid="2"/>
                                        </p:tgtEl>
                                        <p:attrNameLst>
                                          <p:attrName>style.visibility</p:attrName>
                                        </p:attrNameLst>
                                      </p:cBhvr>
                                      <p:to>
                                        <p:strVal val="hidden"/>
                                      </p:to>
                                    </p:set>
                                  </p:childTnLst>
                                </p:cTn>
                              </p:par>
                            </p:childTnLst>
                          </p:cTn>
                        </p:par>
                        <p:par>
                          <p:cTn id="11" fill="hold">
                            <p:stCondLst>
                              <p:cond delay="500"/>
                            </p:stCondLst>
                            <p:childTnLst>
                              <p:par>
                                <p:cTn id="12" presetID="0" presetClass="path" presetSubtype="0" accel="50000" decel="50000" fill="hold" nodeType="afterEffect">
                                  <p:stCondLst>
                                    <p:cond delay="0"/>
                                  </p:stCondLst>
                                  <p:childTnLst>
                                    <p:animMotion origin="layout" path="M 0 0 L -0.09184 -0.00208 " pathEditMode="relative" ptsTypes="AA">
                                      <p:cBhvr>
                                        <p:cTn id="13" dur="2000" fill="hold"/>
                                        <p:tgtEl>
                                          <p:spTgt spid="6"/>
                                        </p:tgtEl>
                                        <p:attrNameLst>
                                          <p:attrName>ppt_x</p:attrName>
                                          <p:attrName>ppt_y</p:attrName>
                                        </p:attrNameLst>
                                      </p:cBhvr>
                                    </p:animMotion>
                                  </p:childTnLst>
                                </p:cTn>
                              </p:par>
                              <p:par>
                                <p:cTn id="14" presetID="0" presetClass="path" presetSubtype="0" accel="50000" decel="50000" fill="hold" nodeType="withEffect">
                                  <p:stCondLst>
                                    <p:cond delay="0"/>
                                  </p:stCondLst>
                                  <p:childTnLst>
                                    <p:animMotion origin="layout" path="M 0 0 L -0.09184 -0.00208 " pathEditMode="relative" ptsTypes="AA">
                                      <p:cBhvr>
                                        <p:cTn id="15"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C095F9DF-053A-47CA-9F0B-79A28EEA6320}" type="slidenum">
              <a:rPr lang="ar-SA"/>
              <a:pPr>
                <a:defRPr/>
              </a:pPr>
              <a:t>61</a:t>
            </a:fld>
            <a:endParaRPr lang="en-US"/>
          </a:p>
        </p:txBody>
      </p:sp>
      <p:sp>
        <p:nvSpPr>
          <p:cNvPr id="63492" name="Rectangle 2"/>
          <p:cNvSpPr>
            <a:spLocks noGrp="1" noChangeArrowheads="1"/>
          </p:cNvSpPr>
          <p:nvPr>
            <p:ph type="title"/>
          </p:nvPr>
        </p:nvSpPr>
        <p:spPr/>
        <p:txBody>
          <a:bodyPr/>
          <a:lstStyle/>
          <a:p>
            <a:r>
              <a:rPr lang="en-US"/>
              <a:t>Solutions</a:t>
            </a:r>
          </a:p>
        </p:txBody>
      </p:sp>
      <p:sp>
        <p:nvSpPr>
          <p:cNvPr id="63493" name="Rectangle 3"/>
          <p:cNvSpPr>
            <a:spLocks noGrp="1" noChangeArrowheads="1"/>
          </p:cNvSpPr>
          <p:nvPr>
            <p:ph type="body" idx="1"/>
          </p:nvPr>
        </p:nvSpPr>
        <p:spPr/>
        <p:txBody>
          <a:bodyPr/>
          <a:lstStyle/>
          <a:p>
            <a:r>
              <a:rPr lang="en-US" dirty="0"/>
              <a:t>Don’t write buggy code </a:t>
            </a:r>
            <a:r>
              <a:rPr lang="en-US" sz="1600" dirty="0" err="1"/>
              <a:t>d’oh</a:t>
            </a:r>
            <a:r>
              <a:rPr lang="en-US" sz="1600" dirty="0"/>
              <a:t>!</a:t>
            </a:r>
          </a:p>
          <a:p>
            <a:r>
              <a:rPr lang="en-US" dirty="0"/>
              <a:t>Always call </a:t>
            </a:r>
            <a:r>
              <a:rPr lang="en-US" b="1" dirty="0" err="1">
                <a:solidFill>
                  <a:schemeClr val="tx1"/>
                </a:solidFill>
                <a:latin typeface="Courier New" pitchFamily="49" charset="0"/>
              </a:rPr>
              <a:t>notifyAll</a:t>
            </a:r>
            <a:r>
              <a:rPr lang="en-US" b="1" dirty="0">
                <a:solidFill>
                  <a:schemeClr val="tx1"/>
                </a:solidFill>
                <a:latin typeface="Courier New" pitchFamily="49" charset="0"/>
              </a:rPr>
              <a:t>()</a:t>
            </a:r>
          </a:p>
          <a:p>
            <a:r>
              <a:rPr lang="en-US" dirty="0"/>
              <a:t>Can also use timed waits </a:t>
            </a:r>
          </a:p>
          <a:p>
            <a:pPr lvl="1"/>
            <a:r>
              <a:rPr lang="en-US" dirty="0"/>
              <a:t>Wake up after specified time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DE525662-7930-4445-A6F2-50C488F34F5E}" type="slidenum">
              <a:rPr lang="ar-SA"/>
              <a:pPr>
                <a:defRPr/>
              </a:pPr>
              <a:t>62</a:t>
            </a:fld>
            <a:endParaRPr lang="en-US"/>
          </a:p>
        </p:txBody>
      </p:sp>
      <p:sp>
        <p:nvSpPr>
          <p:cNvPr id="64516" name="Rectangle 2"/>
          <p:cNvSpPr>
            <a:spLocks noGrp="1" noChangeArrowheads="1"/>
          </p:cNvSpPr>
          <p:nvPr>
            <p:ph type="title"/>
          </p:nvPr>
        </p:nvSpPr>
        <p:spPr/>
        <p:txBody>
          <a:bodyPr/>
          <a:lstStyle/>
          <a:p>
            <a:r>
              <a:rPr lang="en-US"/>
              <a:t>Thread-Local Data</a:t>
            </a:r>
          </a:p>
        </p:txBody>
      </p:sp>
      <p:sp>
        <p:nvSpPr>
          <p:cNvPr id="64517" name="Rectangle 3"/>
          <p:cNvSpPr>
            <a:spLocks noGrp="1" noChangeArrowheads="1"/>
          </p:cNvSpPr>
          <p:nvPr>
            <p:ph type="body" idx="1"/>
          </p:nvPr>
        </p:nvSpPr>
        <p:spPr/>
        <p:txBody>
          <a:bodyPr/>
          <a:lstStyle/>
          <a:p>
            <a:r>
              <a:rPr lang="en-US"/>
              <a:t>In many of our examples we assume</a:t>
            </a:r>
          </a:p>
          <a:p>
            <a:pPr lvl="1"/>
            <a:r>
              <a:rPr lang="en-US"/>
              <a:t>Threads have unique ids</a:t>
            </a:r>
          </a:p>
          <a:p>
            <a:pPr lvl="1"/>
            <a:r>
              <a:rPr lang="en-US"/>
              <a:t>In range </a:t>
            </a:r>
            <a:r>
              <a:rPr lang="en-US">
                <a:solidFill>
                  <a:schemeClr val="tx1"/>
                </a:solidFill>
              </a:rPr>
              <a:t>0,…,n-1</a:t>
            </a:r>
          </a:p>
          <a:p>
            <a:r>
              <a:rPr lang="en-US"/>
              <a:t>Where do they come from?</a:t>
            </a:r>
          </a:p>
          <a:p>
            <a:pPr lvl="1"/>
            <a:r>
              <a:rPr lang="en-US"/>
              <a:t>Long-lived data</a:t>
            </a:r>
          </a:p>
          <a:p>
            <a:pPr lvl="1"/>
            <a:r>
              <a:rPr lang="en-US"/>
              <a:t>Unique to a thread</a:t>
            </a:r>
            <a:endParaRPr lang="en-US">
              <a:solidFill>
                <a:schemeClr val="tx1"/>
              </a:solidFill>
            </a:endParaRPr>
          </a:p>
          <a:p>
            <a:pPr lvl="1"/>
            <a:endParaRPr lang="en-US">
              <a:solidFill>
                <a:schemeClr val="tx1"/>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B2EB3087-4151-48C1-9513-C90B075B8B26}" type="slidenum">
              <a:rPr lang="ar-SA"/>
              <a:pPr>
                <a:defRPr/>
              </a:pPr>
              <a:t>63</a:t>
            </a:fld>
            <a:endParaRPr lang="en-US"/>
          </a:p>
        </p:txBody>
      </p:sp>
      <p:sp>
        <p:nvSpPr>
          <p:cNvPr id="65540" name="Rectangle 2"/>
          <p:cNvSpPr>
            <a:spLocks noGrp="1" noChangeArrowheads="1"/>
          </p:cNvSpPr>
          <p:nvPr>
            <p:ph type="title"/>
          </p:nvPr>
        </p:nvSpPr>
        <p:spPr/>
        <p:txBody>
          <a:bodyPr/>
          <a:lstStyle/>
          <a:p>
            <a:r>
              <a:rPr lang="en-US"/>
              <a:t>Thread-Local Data in Java</a:t>
            </a:r>
          </a:p>
        </p:txBody>
      </p:sp>
      <p:sp>
        <p:nvSpPr>
          <p:cNvPr id="65541" name="Rectangle 3"/>
          <p:cNvSpPr>
            <a:spLocks noGrp="1" noChangeArrowheads="1"/>
          </p:cNvSpPr>
          <p:nvPr>
            <p:ph type="body" idx="1"/>
          </p:nvPr>
        </p:nvSpPr>
        <p:spPr/>
        <p:txBody>
          <a:bodyPr/>
          <a:lstStyle/>
          <a:p>
            <a:r>
              <a:rPr lang="en-US" b="1" dirty="0" err="1">
                <a:solidFill>
                  <a:schemeClr val="tx1"/>
                </a:solidFill>
                <a:latin typeface="Courier New" pitchFamily="49" charset="0"/>
              </a:rPr>
              <a:t>ThreadLocal</a:t>
            </a:r>
            <a:r>
              <a:rPr lang="en-US" b="1" dirty="0">
                <a:solidFill>
                  <a:schemeClr val="tx1"/>
                </a:solidFill>
                <a:latin typeface="Courier New" pitchFamily="49" charset="0"/>
              </a:rPr>
              <a:t>&lt;T&gt;</a:t>
            </a:r>
            <a:r>
              <a:rPr lang="en-US" dirty="0"/>
              <a:t> class</a:t>
            </a:r>
          </a:p>
          <a:p>
            <a:r>
              <a:rPr lang="en-US" dirty="0"/>
              <a:t>No built-in language support</a:t>
            </a:r>
          </a:p>
          <a:p>
            <a:r>
              <a:rPr lang="en-US" dirty="0"/>
              <a:t>Library classes</a:t>
            </a:r>
          </a:p>
          <a:p>
            <a:pPr lvl="1"/>
            <a:r>
              <a:rPr lang="en-US" dirty="0"/>
              <a:t>Syntax is awkward</a:t>
            </a:r>
          </a:p>
          <a:p>
            <a:pPr lvl="1"/>
            <a:r>
              <a:rPr lang="en-US" dirty="0"/>
              <a:t>Very useful anyway</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4AF5E310-053A-4E60-BA36-86EE6DCD41CB}" type="slidenum">
              <a:rPr lang="ar-SA"/>
              <a:pPr>
                <a:defRPr/>
              </a:pPr>
              <a:t>64</a:t>
            </a:fld>
            <a:endParaRPr lang="en-US"/>
          </a:p>
        </p:txBody>
      </p:sp>
      <p:sp>
        <p:nvSpPr>
          <p:cNvPr id="66564" name="Rectangle 2"/>
          <p:cNvSpPr>
            <a:spLocks noGrp="1" noChangeArrowheads="1"/>
          </p:cNvSpPr>
          <p:nvPr>
            <p:ph type="title"/>
          </p:nvPr>
        </p:nvSpPr>
        <p:spPr/>
        <p:txBody>
          <a:bodyPr/>
          <a:lstStyle/>
          <a:p>
            <a:r>
              <a:rPr lang="en-US"/>
              <a:t>ThreadLocal methods</a:t>
            </a:r>
          </a:p>
        </p:txBody>
      </p:sp>
      <p:sp>
        <p:nvSpPr>
          <p:cNvPr id="66565" name="Rectangle 3"/>
          <p:cNvSpPr>
            <a:spLocks noGrp="1" noChangeArrowheads="1"/>
          </p:cNvSpPr>
          <p:nvPr>
            <p:ph type="body" idx="1"/>
          </p:nvPr>
        </p:nvSpPr>
        <p:spPr>
          <a:xfrm>
            <a:off x="701675" y="3763963"/>
            <a:ext cx="7772400" cy="2332037"/>
          </a:xfrm>
        </p:spPr>
        <p:txBody>
          <a:bodyPr/>
          <a:lstStyle/>
          <a:p>
            <a:r>
              <a:rPr lang="en-US"/>
              <a:t>Changes calling thread’s version of object</a:t>
            </a:r>
          </a:p>
          <a:p>
            <a:r>
              <a:rPr lang="en-US"/>
              <a:t>Other threads’ versions unaffected</a:t>
            </a:r>
          </a:p>
        </p:txBody>
      </p:sp>
      <p:sp>
        <p:nvSpPr>
          <p:cNvPr id="66566" name="Rectangle 4"/>
          <p:cNvSpPr>
            <a:spLocks noChangeArrowheads="1"/>
          </p:cNvSpPr>
          <p:nvPr/>
        </p:nvSpPr>
        <p:spPr bwMode="auto">
          <a:xfrm>
            <a:off x="766763" y="2319338"/>
            <a:ext cx="7591425" cy="1348061"/>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ThreadLocal</a:t>
            </a:r>
            <a:r>
              <a:rPr lang="en-US" dirty="0">
                <a:latin typeface="Courier New" pitchFamily="49" charset="0"/>
              </a:rPr>
              <a:t>&lt;T&gt; local;</a:t>
            </a:r>
          </a:p>
          <a:p>
            <a:pPr marL="231775" indent="-231775">
              <a:lnSpc>
                <a:spcPct val="100000"/>
              </a:lnSpc>
            </a:pPr>
            <a:r>
              <a:rPr lang="en-US" dirty="0">
                <a:latin typeface="Courier New" pitchFamily="49" charset="0"/>
              </a:rPr>
              <a:t>T x = …;</a:t>
            </a:r>
          </a:p>
          <a:p>
            <a:pPr marL="231775" indent="-231775">
              <a:lnSpc>
                <a:spcPct val="100000"/>
              </a:lnSpc>
            </a:pPr>
            <a:r>
              <a:rPr lang="en-US" dirty="0" err="1">
                <a:latin typeface="Courier New" pitchFamily="49" charset="0"/>
              </a:rPr>
              <a:t>local.set</a:t>
            </a:r>
            <a:r>
              <a:rPr lang="en-US" dirty="0">
                <a:latin typeface="Courier New" pitchFamily="49" charset="0"/>
              </a:rPr>
              <a:t>(x);  </a:t>
            </a:r>
            <a:endParaRPr lang="en-US" dirty="0">
              <a:solidFill>
                <a:schemeClr val="bg2"/>
              </a:solidFill>
              <a:latin typeface="Courier New" pitchFamily="49"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36C11D0C-1F72-482B-B4F6-8DA5D99C495D}" type="slidenum">
              <a:rPr lang="ar-SA"/>
              <a:pPr>
                <a:defRPr/>
              </a:pPr>
              <a:t>65</a:t>
            </a:fld>
            <a:endParaRPr lang="en-US"/>
          </a:p>
        </p:txBody>
      </p:sp>
      <p:sp>
        <p:nvSpPr>
          <p:cNvPr id="67588" name="Rectangle 2"/>
          <p:cNvSpPr>
            <a:spLocks noGrp="1" noChangeArrowheads="1"/>
          </p:cNvSpPr>
          <p:nvPr>
            <p:ph type="title"/>
          </p:nvPr>
        </p:nvSpPr>
        <p:spPr/>
        <p:txBody>
          <a:bodyPr/>
          <a:lstStyle/>
          <a:p>
            <a:r>
              <a:rPr lang="en-US"/>
              <a:t>ThreadLocal methods</a:t>
            </a:r>
          </a:p>
        </p:txBody>
      </p:sp>
      <p:sp>
        <p:nvSpPr>
          <p:cNvPr id="67589" name="Rectangle 3"/>
          <p:cNvSpPr>
            <a:spLocks noGrp="1" noChangeArrowheads="1"/>
          </p:cNvSpPr>
          <p:nvPr>
            <p:ph type="body" idx="1"/>
          </p:nvPr>
        </p:nvSpPr>
        <p:spPr>
          <a:xfrm>
            <a:off x="715963" y="3359150"/>
            <a:ext cx="7772400" cy="2332038"/>
          </a:xfrm>
        </p:spPr>
        <p:txBody>
          <a:bodyPr/>
          <a:lstStyle/>
          <a:p>
            <a:r>
              <a:rPr lang="en-US"/>
              <a:t>Returns calling thread’s version of object</a:t>
            </a:r>
          </a:p>
        </p:txBody>
      </p:sp>
      <p:sp>
        <p:nvSpPr>
          <p:cNvPr id="67590" name="Rectangle 4"/>
          <p:cNvSpPr>
            <a:spLocks noChangeArrowheads="1"/>
          </p:cNvSpPr>
          <p:nvPr/>
        </p:nvSpPr>
        <p:spPr bwMode="auto">
          <a:xfrm>
            <a:off x="766763" y="2319338"/>
            <a:ext cx="7591425" cy="904863"/>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ThreadLocal</a:t>
            </a:r>
            <a:r>
              <a:rPr lang="en-US" dirty="0">
                <a:latin typeface="Courier New" pitchFamily="49" charset="0"/>
              </a:rPr>
              <a:t>&lt;T&gt; local;</a:t>
            </a:r>
          </a:p>
          <a:p>
            <a:pPr marL="231775" indent="-231775">
              <a:lnSpc>
                <a:spcPct val="100000"/>
              </a:lnSpc>
            </a:pPr>
            <a:r>
              <a:rPr lang="en-US" dirty="0">
                <a:latin typeface="Courier New" pitchFamily="49" charset="0"/>
              </a:rPr>
              <a:t>T x = </a:t>
            </a:r>
            <a:r>
              <a:rPr lang="en-US" dirty="0" err="1">
                <a:latin typeface="Courier New" pitchFamily="49" charset="0"/>
              </a:rPr>
              <a:t>local.get</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EB4186C3-E9BF-41E0-B72E-D2B47A3588A9}" type="slidenum">
              <a:rPr lang="ar-SA"/>
              <a:pPr>
                <a:defRPr/>
              </a:pPr>
              <a:t>66</a:t>
            </a:fld>
            <a:endParaRPr lang="en-US"/>
          </a:p>
        </p:txBody>
      </p:sp>
      <p:sp>
        <p:nvSpPr>
          <p:cNvPr id="68612" name="Rectangle 2"/>
          <p:cNvSpPr>
            <a:spLocks noGrp="1" noChangeArrowheads="1"/>
          </p:cNvSpPr>
          <p:nvPr>
            <p:ph type="title"/>
          </p:nvPr>
        </p:nvSpPr>
        <p:spPr/>
        <p:txBody>
          <a:bodyPr/>
          <a:lstStyle/>
          <a:p>
            <a:r>
              <a:rPr lang="en-US"/>
              <a:t>Initializing ThreadLocals</a:t>
            </a:r>
          </a:p>
        </p:txBody>
      </p:sp>
      <p:sp>
        <p:nvSpPr>
          <p:cNvPr id="68613" name="Rectangle 3"/>
          <p:cNvSpPr>
            <a:spLocks noGrp="1" noChangeArrowheads="1"/>
          </p:cNvSpPr>
          <p:nvPr>
            <p:ph type="body" idx="1"/>
          </p:nvPr>
        </p:nvSpPr>
        <p:spPr>
          <a:xfrm>
            <a:off x="715963" y="3074988"/>
            <a:ext cx="7772400" cy="1077218"/>
          </a:xfrm>
          <a:noFill/>
        </p:spPr>
        <p:txBody>
          <a:bodyPr>
            <a:spAutoFit/>
          </a:bodyPr>
          <a:lstStyle/>
          <a:p>
            <a:r>
              <a:rPr lang="en-US" dirty="0"/>
              <a:t>Called by </a:t>
            </a:r>
            <a:r>
              <a:rPr lang="en-US" b="1" dirty="0">
                <a:solidFill>
                  <a:schemeClr val="tx1"/>
                </a:solidFill>
                <a:latin typeface="Courier New" pitchFamily="49" charset="0"/>
              </a:rPr>
              <a:t>get()</a:t>
            </a:r>
            <a:r>
              <a:rPr lang="en-US" dirty="0"/>
              <a:t> method the first time the thread-local variable is accessed.</a:t>
            </a:r>
          </a:p>
        </p:txBody>
      </p:sp>
      <p:sp>
        <p:nvSpPr>
          <p:cNvPr id="68614"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latin typeface="Courier New" pitchFamily="49" charset="0"/>
              </a:rPr>
              <a:t>T x = </a:t>
            </a:r>
            <a:r>
              <a:rPr lang="en-US" dirty="0" err="1">
                <a:latin typeface="Courier New" pitchFamily="49" charset="0"/>
              </a:rPr>
              <a:t>local.initialValue</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53EC9DA9-BCB7-46E2-967D-89F52873D8C0}" type="slidenum">
              <a:rPr lang="ar-SA"/>
              <a:pPr>
                <a:defRPr/>
              </a:pPr>
              <a:t>67</a:t>
            </a:fld>
            <a:endParaRPr lang="en-US"/>
          </a:p>
        </p:txBody>
      </p:sp>
      <p:sp>
        <p:nvSpPr>
          <p:cNvPr id="69636" name="Rectangle 2"/>
          <p:cNvSpPr>
            <a:spLocks noGrp="1" noChangeArrowheads="1"/>
          </p:cNvSpPr>
          <p:nvPr>
            <p:ph type="title"/>
          </p:nvPr>
        </p:nvSpPr>
        <p:spPr/>
        <p:txBody>
          <a:bodyPr/>
          <a:lstStyle/>
          <a:p>
            <a:r>
              <a:rPr lang="en-US"/>
              <a:t>Example</a:t>
            </a:r>
          </a:p>
        </p:txBody>
      </p:sp>
      <p:sp>
        <p:nvSpPr>
          <p:cNvPr id="69637" name="Rectangle 3"/>
          <p:cNvSpPr>
            <a:spLocks noGrp="1" noChangeArrowheads="1"/>
          </p:cNvSpPr>
          <p:nvPr>
            <p:ph type="body" idx="1"/>
          </p:nvPr>
        </p:nvSpPr>
        <p:spPr>
          <a:xfrm>
            <a:off x="685800" y="3609975"/>
            <a:ext cx="7772400" cy="1985963"/>
          </a:xfrm>
        </p:spPr>
        <p:txBody>
          <a:bodyPr/>
          <a:lstStyle/>
          <a:p>
            <a:r>
              <a:rPr lang="en-US"/>
              <a:t>Return unique thread id</a:t>
            </a:r>
          </a:p>
          <a:p>
            <a:r>
              <a:rPr lang="en-US"/>
              <a:t>Take a number first time called</a:t>
            </a:r>
          </a:p>
        </p:txBody>
      </p:sp>
      <p:sp>
        <p:nvSpPr>
          <p:cNvPr id="69638" name="Rectangle 4"/>
          <p:cNvSpPr>
            <a:spLocks noChangeArrowheads="1"/>
          </p:cNvSpPr>
          <p:nvPr/>
        </p:nvSpPr>
        <p:spPr bwMode="auto">
          <a:xfrm>
            <a:off x="766763" y="2319338"/>
            <a:ext cx="7591425" cy="457200"/>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err="1">
                <a:latin typeface="Courier New" pitchFamily="49" charset="0"/>
              </a:rPr>
              <a:t>int</a:t>
            </a:r>
            <a:r>
              <a:rPr lang="en-US" dirty="0">
                <a:latin typeface="Courier New" pitchFamily="49" charset="0"/>
              </a:rPr>
              <a:t> me = </a:t>
            </a:r>
            <a:r>
              <a:rPr lang="en-US" dirty="0" err="1">
                <a:latin typeface="Courier New" pitchFamily="49" charset="0"/>
              </a:rPr>
              <a:t>ThreadID.get</a:t>
            </a:r>
            <a:r>
              <a:rPr lang="en-US" dirty="0">
                <a:latin typeface="Courier New" pitchFamily="49" charset="0"/>
              </a:rPr>
              <a:t>()  </a:t>
            </a:r>
            <a:endParaRPr lang="en-US" dirty="0">
              <a:solidFill>
                <a:schemeClr val="bg2"/>
              </a:solidFill>
              <a:latin typeface="Courier New" pitchFamily="49"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6AE095C0-2442-42B9-B739-0B4FCECA30AC}" type="slidenum">
              <a:rPr lang="ar-SA"/>
              <a:pPr>
                <a:defRPr/>
              </a:pPr>
              <a:t>68</a:t>
            </a:fld>
            <a:endParaRPr lang="en-US"/>
          </a:p>
        </p:txBody>
      </p:sp>
      <p:pic>
        <p:nvPicPr>
          <p:cNvPr id="7066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0661" name="Rectangle 3"/>
          <p:cNvSpPr>
            <a:spLocks noGrp="1" noChangeArrowheads="1"/>
          </p:cNvSpPr>
          <p:nvPr>
            <p:ph type="title"/>
          </p:nvPr>
        </p:nvSpPr>
        <p:spPr/>
        <p:txBody>
          <a:bodyPr/>
          <a:lstStyle/>
          <a:p>
            <a:r>
              <a:rPr lang="en-US" sz="4000"/>
              <a:t>Thread-Local IDs</a:t>
            </a:r>
          </a:p>
        </p:txBody>
      </p:sp>
      <p:sp>
        <p:nvSpPr>
          <p:cNvPr id="70662" name="Rectangle 4"/>
          <p:cNvSpPr>
            <a:spLocks noChangeArrowheads="1"/>
          </p:cNvSpPr>
          <p:nvPr/>
        </p:nvSpPr>
        <p:spPr bwMode="auto">
          <a:xfrm>
            <a:off x="887413" y="1704975"/>
            <a:ext cx="7591425" cy="393338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tx1"/>
                </a:solidFill>
                <a:latin typeface="Courier New" pitchFamily="49" charset="0"/>
              </a:rPr>
              <a:t>public class</a:t>
            </a:r>
            <a:r>
              <a:rPr lang="en-US" dirty="0">
                <a:latin typeface="Courier New" pitchFamily="49" charset="0"/>
              </a:rPr>
              <a:t> </a:t>
            </a:r>
            <a:r>
              <a:rPr lang="en-US" dirty="0" err="1">
                <a:latin typeface="Courier New" pitchFamily="49" charset="0"/>
              </a:rPr>
              <a:t>ThreadID</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static volatile</a:t>
            </a:r>
            <a:r>
              <a:rPr lang="en-US" dirty="0">
                <a:latin typeface="Courier New" pitchFamily="49" charset="0"/>
              </a:rPr>
              <a:t> </a:t>
            </a:r>
            <a:r>
              <a:rPr lang="en-US" dirty="0" err="1">
                <a:latin typeface="Courier New" pitchFamily="49" charset="0"/>
              </a:rPr>
              <a:t>int</a:t>
            </a:r>
            <a:r>
              <a:rPr lang="en-US" dirty="0">
                <a:latin typeface="Courier New" pitchFamily="49" charset="0"/>
              </a:rPr>
              <a:t> </a:t>
            </a:r>
            <a:r>
              <a:rPr lang="en-US" dirty="0" err="1">
                <a:latin typeface="Courier New" pitchFamily="49" charset="0"/>
              </a:rPr>
              <a:t>nextID</a:t>
            </a:r>
            <a:r>
              <a:rPr lang="en-US" dirty="0">
                <a:latin typeface="Courier New" pitchFamily="49" charset="0"/>
              </a:rPr>
              <a:t> = 0; </a:t>
            </a:r>
            <a:r>
              <a:rPr lang="en-US" dirty="0">
                <a:solidFill>
                  <a:schemeClr val="tx1"/>
                </a:solidFill>
                <a:latin typeface="Courier New" pitchFamily="49" charset="0"/>
              </a:rPr>
              <a:t>private static</a:t>
            </a:r>
            <a:r>
              <a:rPr lang="en-US" dirty="0">
                <a:latin typeface="Courier New" pitchFamily="49" charset="0"/>
              </a:rPr>
              <a:t> </a:t>
            </a:r>
            <a:r>
              <a:rPr lang="en-US" dirty="0" err="1">
                <a:latin typeface="Courier New" pitchFamily="49" charset="0"/>
              </a:rPr>
              <a:t>LocalID</a:t>
            </a:r>
            <a:r>
              <a:rPr lang="en-US" dirty="0">
                <a:latin typeface="Courier New" pitchFamily="49" charset="0"/>
              </a:rPr>
              <a:t> </a:t>
            </a:r>
            <a:r>
              <a:rPr lang="en-US" dirty="0" err="1">
                <a:latin typeface="Courier New" pitchFamily="49" charset="0"/>
              </a:rPr>
              <a:t>threadID</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new</a:t>
            </a:r>
            <a:r>
              <a:rPr lang="en-US" dirty="0">
                <a:latin typeface="Courier New" pitchFamily="49" charset="0"/>
              </a:rPr>
              <a:t> </a:t>
            </a:r>
            <a:r>
              <a:rPr lang="en-US" dirty="0" err="1">
                <a:latin typeface="Courier New" pitchFamily="49" charset="0"/>
              </a:rPr>
              <a:t>LocalID</a:t>
            </a:r>
            <a:r>
              <a:rPr lang="en-US" dirty="0">
                <a:latin typeface="Courier New" pitchFamily="49" charset="0"/>
              </a:rPr>
              <a:t>();</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 static</a:t>
            </a:r>
            <a:r>
              <a:rPr lang="en-US" dirty="0">
                <a:latin typeface="Courier New" pitchFamily="49" charset="0"/>
              </a:rPr>
              <a:t> </a:t>
            </a:r>
            <a:r>
              <a:rPr lang="en-US" dirty="0" err="1">
                <a:latin typeface="Courier New" pitchFamily="49" charset="0"/>
              </a:rPr>
              <a:t>int</a:t>
            </a:r>
            <a:r>
              <a:rPr lang="en-US" dirty="0">
                <a:latin typeface="Courier New" pitchFamily="49" charset="0"/>
              </a:rPr>
              <a:t> get()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return</a:t>
            </a:r>
            <a:r>
              <a:rPr lang="en-US" dirty="0">
                <a:latin typeface="Courier New" pitchFamily="49" charset="0"/>
              </a:rPr>
              <a:t> </a:t>
            </a:r>
            <a:r>
              <a:rPr lang="en-US" dirty="0" err="1">
                <a:latin typeface="Courier New" pitchFamily="49" charset="0"/>
              </a:rPr>
              <a:t>threadID.get</a:t>
            </a:r>
            <a:r>
              <a:rPr lang="en-US" dirty="0">
                <a:latin typeface="Courier New" pitchFamily="49" charset="0"/>
              </a:rPr>
              <a: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 </a:t>
            </a:r>
            <a:r>
              <a:rPr lang="en-US" i="1" dirty="0">
                <a:solidFill>
                  <a:srgbClr val="00FF00"/>
                </a:solidFill>
                <a:latin typeface="Courier New" pitchFamily="49" charset="0"/>
              </a:rPr>
              <a:t>// define </a:t>
            </a:r>
            <a:r>
              <a:rPr lang="en-US" i="1" dirty="0" err="1">
                <a:solidFill>
                  <a:srgbClr val="00FF00"/>
                </a:solidFill>
                <a:latin typeface="Courier New" pitchFamily="49" charset="0"/>
              </a:rPr>
              <a:t>LocalID</a:t>
            </a:r>
            <a:r>
              <a:rPr lang="en-US" i="1" dirty="0">
                <a:solidFill>
                  <a:srgbClr val="00FF00"/>
                </a:solidFill>
                <a:latin typeface="Courier New" pitchFamily="49" charset="0"/>
              </a:rPr>
              <a:t> here</a:t>
            </a:r>
          </a:p>
          <a:p>
            <a:pPr marL="231775" indent="-231775">
              <a:lnSpc>
                <a:spcPct val="100000"/>
              </a:lnSpc>
            </a:pPr>
            <a:r>
              <a:rPr lang="en-US" dirty="0">
                <a:latin typeface="Courier New" pitchFamily="49" charset="0"/>
              </a:rPr>
              <a:t>}</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3FD05286-C87A-4B7C-8129-2ADE07376840}" type="slidenum">
              <a:rPr lang="ar-SA"/>
              <a:pPr>
                <a:defRPr/>
              </a:pPr>
              <a:t>69</a:t>
            </a:fld>
            <a:endParaRPr lang="en-US"/>
          </a:p>
        </p:txBody>
      </p:sp>
      <p:pic>
        <p:nvPicPr>
          <p:cNvPr id="7168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1685" name="Rectangle 3"/>
          <p:cNvSpPr>
            <a:spLocks noGrp="1" noChangeArrowheads="1"/>
          </p:cNvSpPr>
          <p:nvPr>
            <p:ph type="title"/>
          </p:nvPr>
        </p:nvSpPr>
        <p:spPr/>
        <p:txBody>
          <a:bodyPr/>
          <a:lstStyle/>
          <a:p>
            <a:r>
              <a:rPr lang="en-US" sz="4000"/>
              <a:t>Thread-Local IDs</a:t>
            </a:r>
          </a:p>
        </p:txBody>
      </p:sp>
      <p:sp>
        <p:nvSpPr>
          <p:cNvPr id="71686" name="Rectangle 4"/>
          <p:cNvSpPr>
            <a:spLocks noChangeArrowheads="1"/>
          </p:cNvSpPr>
          <p:nvPr/>
        </p:nvSpPr>
        <p:spPr bwMode="auto">
          <a:xfrm>
            <a:off x="887413" y="1704975"/>
            <a:ext cx="7591425" cy="393338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public class </a:t>
            </a:r>
            <a:r>
              <a:rPr lang="en-US" dirty="0" err="1">
                <a:solidFill>
                  <a:schemeClr val="bg2"/>
                </a:solidFill>
                <a:latin typeface="Courier New" pitchFamily="49" charset="0"/>
              </a:rPr>
              <a:t>ThreadID</a:t>
            </a:r>
            <a:r>
              <a:rPr lang="en-US" dirty="0">
                <a:solidFill>
                  <a:schemeClr val="bg2"/>
                </a:solidFill>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static volatile</a:t>
            </a:r>
            <a:r>
              <a:rPr lang="en-US" dirty="0">
                <a:latin typeface="Courier New" pitchFamily="49" charset="0"/>
              </a:rPr>
              <a:t> </a:t>
            </a:r>
            <a:r>
              <a:rPr lang="en-US" dirty="0" err="1">
                <a:latin typeface="Courier New" pitchFamily="49" charset="0"/>
              </a:rPr>
              <a:t>int</a:t>
            </a:r>
            <a:r>
              <a:rPr lang="en-US" dirty="0">
                <a:latin typeface="Courier New" pitchFamily="49" charset="0"/>
              </a:rPr>
              <a:t> </a:t>
            </a:r>
            <a:r>
              <a:rPr lang="en-US" dirty="0" err="1">
                <a:latin typeface="Courier New" pitchFamily="49" charset="0"/>
              </a:rPr>
              <a:t>nextID</a:t>
            </a:r>
            <a:r>
              <a:rPr lang="en-US" dirty="0">
                <a:latin typeface="Courier New" pitchFamily="49" charset="0"/>
              </a:rPr>
              <a:t> = 0; </a:t>
            </a:r>
            <a:r>
              <a:rPr lang="en-US" dirty="0">
                <a:solidFill>
                  <a:schemeClr val="bg2"/>
                </a:solidFill>
                <a:latin typeface="Courier New" pitchFamily="49" charset="0"/>
              </a:rPr>
              <a:t>private static </a:t>
            </a:r>
            <a:r>
              <a:rPr lang="en-US" dirty="0" err="1">
                <a:solidFill>
                  <a:schemeClr val="bg2"/>
                </a:solidFill>
                <a:latin typeface="Courier New" pitchFamily="49" charset="0"/>
              </a:rPr>
              <a:t>LocalID</a:t>
            </a:r>
            <a:r>
              <a:rPr lang="en-US" dirty="0">
                <a:solidFill>
                  <a:schemeClr val="bg2"/>
                </a:solidFill>
                <a:latin typeface="Courier New" pitchFamily="49" charset="0"/>
              </a:rPr>
              <a:t> </a:t>
            </a:r>
            <a:r>
              <a:rPr lang="en-US" dirty="0" err="1">
                <a:solidFill>
                  <a:schemeClr val="bg2"/>
                </a:solidFill>
                <a:latin typeface="Courier New" pitchFamily="49" charset="0"/>
              </a:rPr>
              <a:t>threadID</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new </a:t>
            </a:r>
            <a:r>
              <a:rPr lang="en-US" dirty="0" err="1">
                <a:solidFill>
                  <a:schemeClr val="bg2"/>
                </a:solidFill>
                <a:latin typeface="Courier New" pitchFamily="49" charset="0"/>
              </a:rPr>
              <a:t>LocalID</a:t>
            </a:r>
            <a:r>
              <a:rPr lang="en-US" dirty="0">
                <a:solidFill>
                  <a:schemeClr val="bg2"/>
                </a:solidFill>
                <a:latin typeface="Courier New" pitchFamily="49" charset="0"/>
              </a:rPr>
              <a:t>();</a:t>
            </a:r>
          </a:p>
          <a:p>
            <a:pPr marL="231775" indent="-231775">
              <a:lnSpc>
                <a:spcPct val="100000"/>
              </a:lnSpc>
            </a:pPr>
            <a:r>
              <a:rPr lang="en-US" dirty="0">
                <a:solidFill>
                  <a:schemeClr val="bg2"/>
                </a:solidFill>
                <a:latin typeface="Courier New" pitchFamily="49" charset="0"/>
              </a:rPr>
              <a:t>  public static </a:t>
            </a:r>
            <a:r>
              <a:rPr lang="en-US" dirty="0" err="1">
                <a:solidFill>
                  <a:schemeClr val="bg2"/>
                </a:solidFill>
                <a:latin typeface="Courier New" pitchFamily="49" charset="0"/>
              </a:rPr>
              <a:t>int</a:t>
            </a:r>
            <a:r>
              <a:rPr lang="en-US" dirty="0">
                <a:solidFill>
                  <a:schemeClr val="bg2"/>
                </a:solidFill>
                <a:latin typeface="Courier New" pitchFamily="49" charset="0"/>
              </a:rPr>
              <a:t> get() {</a:t>
            </a:r>
          </a:p>
          <a:p>
            <a:pPr marL="231775" indent="-231775">
              <a:lnSpc>
                <a:spcPct val="100000"/>
              </a:lnSpc>
            </a:pPr>
            <a:r>
              <a:rPr lang="en-US" dirty="0">
                <a:solidFill>
                  <a:schemeClr val="bg2"/>
                </a:solidFill>
                <a:latin typeface="Courier New" pitchFamily="49" charset="0"/>
              </a:rPr>
              <a:t>    return </a:t>
            </a:r>
            <a:r>
              <a:rPr lang="en-US" dirty="0" err="1">
                <a:solidFill>
                  <a:schemeClr val="bg2"/>
                </a:solidFill>
                <a:latin typeface="Courier New" pitchFamily="49" charset="0"/>
              </a:rPr>
              <a:t>threadID.get</a:t>
            </a:r>
            <a:r>
              <a:rPr lang="en-US" dirty="0">
                <a:solidFill>
                  <a:schemeClr val="bg2"/>
                </a:solidFill>
                <a:latin typeface="Courier New" pitchFamily="49" charset="0"/>
              </a:rPr>
              <a:t>();</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 </a:t>
            </a:r>
            <a:r>
              <a:rPr lang="en-US" i="1" dirty="0">
                <a:solidFill>
                  <a:schemeClr val="bg2"/>
                </a:solidFill>
                <a:latin typeface="Courier New" pitchFamily="49" charset="0"/>
              </a:rPr>
              <a:t>// define </a:t>
            </a:r>
            <a:r>
              <a:rPr lang="en-US" i="1" dirty="0" err="1">
                <a:solidFill>
                  <a:schemeClr val="bg2"/>
                </a:solidFill>
                <a:latin typeface="Courier New" pitchFamily="49" charset="0"/>
              </a:rPr>
              <a:t>LocalID</a:t>
            </a:r>
            <a:r>
              <a:rPr lang="en-US" i="1" dirty="0">
                <a:solidFill>
                  <a:schemeClr val="bg2"/>
                </a:solidFill>
                <a:latin typeface="Courier New" pitchFamily="49" charset="0"/>
              </a:rPr>
              <a:t> here</a:t>
            </a:r>
          </a:p>
          <a:p>
            <a:pPr marL="231775" indent="-231775">
              <a:lnSpc>
                <a:spcPct val="100000"/>
              </a:lnSpc>
            </a:pPr>
            <a:r>
              <a:rPr lang="en-US" dirty="0">
                <a:solidFill>
                  <a:schemeClr val="bg2"/>
                </a:solidFill>
                <a:latin typeface="Courier New" pitchFamily="49" charset="0"/>
              </a:rPr>
              <a:t>}</a:t>
            </a:r>
          </a:p>
        </p:txBody>
      </p:sp>
      <p:sp>
        <p:nvSpPr>
          <p:cNvPr id="71687" name="AutoShape 5"/>
          <p:cNvSpPr>
            <a:spLocks noChangeArrowheads="1"/>
          </p:cNvSpPr>
          <p:nvPr/>
        </p:nvSpPr>
        <p:spPr bwMode="auto">
          <a:xfrm>
            <a:off x="1211263" y="2132013"/>
            <a:ext cx="6005512" cy="584200"/>
          </a:xfrm>
          <a:prstGeom prst="wedgeRoundRectCallout">
            <a:avLst>
              <a:gd name="adj1" fmla="val 9634"/>
              <a:gd name="adj2" fmla="val 506250"/>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71688" name="Text Box 6"/>
          <p:cNvSpPr txBox="1">
            <a:spLocks noChangeArrowheads="1"/>
          </p:cNvSpPr>
          <p:nvPr/>
        </p:nvSpPr>
        <p:spPr bwMode="auto">
          <a:xfrm>
            <a:off x="3276600" y="5464175"/>
            <a:ext cx="4637088"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Next ID to assign</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D58B7A72-B6DB-4594-A5E4-A6D91E243F89}" type="slidenum">
              <a:rPr lang="ar-SA"/>
              <a:pPr>
                <a:defRPr/>
              </a:pPr>
              <a:t>70</a:t>
            </a:fld>
            <a:endParaRPr lang="en-US"/>
          </a:p>
        </p:txBody>
      </p:sp>
      <p:pic>
        <p:nvPicPr>
          <p:cNvPr id="72708"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2709" name="Rectangle 3"/>
          <p:cNvSpPr>
            <a:spLocks noGrp="1" noChangeArrowheads="1"/>
          </p:cNvSpPr>
          <p:nvPr>
            <p:ph type="title"/>
          </p:nvPr>
        </p:nvSpPr>
        <p:spPr/>
        <p:txBody>
          <a:bodyPr/>
          <a:lstStyle/>
          <a:p>
            <a:r>
              <a:rPr lang="en-US" sz="4000"/>
              <a:t>Thread-Local IDs</a:t>
            </a:r>
          </a:p>
        </p:txBody>
      </p:sp>
      <p:sp>
        <p:nvSpPr>
          <p:cNvPr id="72710" name="Rectangle 4"/>
          <p:cNvSpPr>
            <a:spLocks noChangeArrowheads="1"/>
          </p:cNvSpPr>
          <p:nvPr/>
        </p:nvSpPr>
        <p:spPr bwMode="auto">
          <a:xfrm>
            <a:off x="887413" y="1704975"/>
            <a:ext cx="7591425" cy="393338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public class </a:t>
            </a:r>
            <a:r>
              <a:rPr lang="en-US" dirty="0" err="1">
                <a:solidFill>
                  <a:schemeClr val="bg2"/>
                </a:solidFill>
                <a:latin typeface="Courier New" pitchFamily="49" charset="0"/>
              </a:rPr>
              <a:t>ThreadID</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static volatile </a:t>
            </a:r>
            <a:r>
              <a:rPr lang="en-US" dirty="0" err="1">
                <a:solidFill>
                  <a:schemeClr val="bg2"/>
                </a:solidFill>
                <a:latin typeface="Courier New" pitchFamily="49" charset="0"/>
              </a:rPr>
              <a:t>int</a:t>
            </a:r>
            <a:r>
              <a:rPr lang="en-US" dirty="0">
                <a:solidFill>
                  <a:schemeClr val="bg2"/>
                </a:solidFill>
                <a:latin typeface="Courier New" pitchFamily="49" charset="0"/>
              </a:rPr>
              <a:t> </a:t>
            </a:r>
            <a:r>
              <a:rPr lang="en-US" dirty="0" err="1">
                <a:solidFill>
                  <a:schemeClr val="bg2"/>
                </a:solidFill>
                <a:latin typeface="Courier New" pitchFamily="49" charset="0"/>
              </a:rPr>
              <a:t>nextID</a:t>
            </a:r>
            <a:r>
              <a:rPr lang="en-US" dirty="0">
                <a:solidFill>
                  <a:schemeClr val="bg2"/>
                </a:solidFill>
                <a:latin typeface="Courier New" pitchFamily="49" charset="0"/>
              </a:rPr>
              <a:t> = 0;</a:t>
            </a:r>
            <a:r>
              <a:rPr lang="en-US" dirty="0">
                <a:latin typeface="Courier New" pitchFamily="49" charset="0"/>
              </a:rPr>
              <a:t> </a:t>
            </a:r>
            <a:r>
              <a:rPr lang="en-US" dirty="0">
                <a:solidFill>
                  <a:schemeClr val="tx1"/>
                </a:solidFill>
                <a:latin typeface="Courier New" pitchFamily="49" charset="0"/>
              </a:rPr>
              <a:t>private static</a:t>
            </a:r>
            <a:r>
              <a:rPr lang="en-US" dirty="0">
                <a:latin typeface="Courier New" pitchFamily="49" charset="0"/>
              </a:rPr>
              <a:t> </a:t>
            </a:r>
            <a:r>
              <a:rPr lang="en-US" dirty="0" err="1">
                <a:latin typeface="Courier New" pitchFamily="49" charset="0"/>
              </a:rPr>
              <a:t>LocalID</a:t>
            </a:r>
            <a:r>
              <a:rPr lang="en-US" dirty="0">
                <a:latin typeface="Courier New" pitchFamily="49" charset="0"/>
              </a:rPr>
              <a:t> </a:t>
            </a:r>
            <a:r>
              <a:rPr lang="en-US" dirty="0" err="1">
                <a:latin typeface="Courier New" pitchFamily="49" charset="0"/>
              </a:rPr>
              <a:t>threadID</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new</a:t>
            </a:r>
            <a:r>
              <a:rPr lang="en-US" dirty="0">
                <a:latin typeface="Courier New" pitchFamily="49" charset="0"/>
              </a:rPr>
              <a:t> </a:t>
            </a:r>
            <a:r>
              <a:rPr lang="en-US" dirty="0" err="1">
                <a:latin typeface="Courier New" pitchFamily="49" charset="0"/>
              </a:rPr>
              <a:t>LocalID</a:t>
            </a:r>
            <a:r>
              <a:rPr lang="en-US" dirty="0">
                <a:latin typeface="Courier New" pitchFamily="49" charset="0"/>
              </a:rPr>
              <a:t>();</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public static </a:t>
            </a:r>
            <a:r>
              <a:rPr lang="en-US" dirty="0" err="1">
                <a:solidFill>
                  <a:schemeClr val="bg2"/>
                </a:solidFill>
                <a:latin typeface="Courier New" pitchFamily="49" charset="0"/>
              </a:rPr>
              <a:t>int</a:t>
            </a:r>
            <a:r>
              <a:rPr lang="en-US" dirty="0">
                <a:solidFill>
                  <a:schemeClr val="bg2"/>
                </a:solidFill>
                <a:latin typeface="Courier New" pitchFamily="49" charset="0"/>
              </a:rPr>
              <a:t> get() {</a:t>
            </a:r>
          </a:p>
          <a:p>
            <a:pPr marL="231775" indent="-231775">
              <a:lnSpc>
                <a:spcPct val="100000"/>
              </a:lnSpc>
            </a:pPr>
            <a:r>
              <a:rPr lang="en-US" dirty="0">
                <a:solidFill>
                  <a:schemeClr val="bg2"/>
                </a:solidFill>
                <a:latin typeface="Courier New" pitchFamily="49" charset="0"/>
              </a:rPr>
              <a:t>    return </a:t>
            </a:r>
            <a:r>
              <a:rPr lang="en-US" dirty="0" err="1">
                <a:solidFill>
                  <a:schemeClr val="bg2"/>
                </a:solidFill>
                <a:latin typeface="Courier New" pitchFamily="49" charset="0"/>
              </a:rPr>
              <a:t>threadID.get</a:t>
            </a:r>
            <a:r>
              <a:rPr lang="en-US" dirty="0">
                <a:solidFill>
                  <a:schemeClr val="bg2"/>
                </a:solidFill>
                <a:latin typeface="Courier New" pitchFamily="49" charset="0"/>
              </a:rPr>
              <a:t>();</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 </a:t>
            </a:r>
            <a:r>
              <a:rPr lang="en-US" i="1" dirty="0">
                <a:solidFill>
                  <a:schemeClr val="bg2"/>
                </a:solidFill>
                <a:latin typeface="Courier New" pitchFamily="49" charset="0"/>
              </a:rPr>
              <a:t>// define </a:t>
            </a:r>
            <a:r>
              <a:rPr lang="en-US" i="1" dirty="0" err="1">
                <a:solidFill>
                  <a:schemeClr val="bg2"/>
                </a:solidFill>
                <a:latin typeface="Courier New" pitchFamily="49" charset="0"/>
              </a:rPr>
              <a:t>LocalID</a:t>
            </a:r>
            <a:r>
              <a:rPr lang="en-US" i="1" dirty="0">
                <a:solidFill>
                  <a:schemeClr val="bg2"/>
                </a:solidFill>
                <a:latin typeface="Courier New" pitchFamily="49" charset="0"/>
              </a:rPr>
              <a:t> here</a:t>
            </a:r>
          </a:p>
          <a:p>
            <a:pPr marL="231775" indent="-231775">
              <a:lnSpc>
                <a:spcPct val="100000"/>
              </a:lnSpc>
            </a:pPr>
            <a:r>
              <a:rPr lang="en-US" dirty="0">
                <a:solidFill>
                  <a:schemeClr val="bg2"/>
                </a:solidFill>
                <a:latin typeface="Courier New" pitchFamily="49" charset="0"/>
              </a:rPr>
              <a:t>}</a:t>
            </a:r>
          </a:p>
        </p:txBody>
      </p:sp>
      <p:sp>
        <p:nvSpPr>
          <p:cNvPr id="72711" name="AutoShape 5"/>
          <p:cNvSpPr>
            <a:spLocks noChangeArrowheads="1"/>
          </p:cNvSpPr>
          <p:nvPr/>
        </p:nvSpPr>
        <p:spPr bwMode="auto">
          <a:xfrm>
            <a:off x="1225550" y="2506663"/>
            <a:ext cx="6515100" cy="914400"/>
          </a:xfrm>
          <a:prstGeom prst="wedgeRoundRectCallout">
            <a:avLst>
              <a:gd name="adj1" fmla="val -1949"/>
              <a:gd name="adj2" fmla="val 285764"/>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72712" name="Text Box 6"/>
          <p:cNvSpPr txBox="1">
            <a:spLocks noChangeArrowheads="1"/>
          </p:cNvSpPr>
          <p:nvPr/>
        </p:nvSpPr>
        <p:spPr bwMode="auto">
          <a:xfrm>
            <a:off x="698500" y="5645150"/>
            <a:ext cx="7050088"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Declare &amp; initialize </a:t>
            </a:r>
            <a:r>
              <a:rPr lang="en-US" sz="2800" b="0" dirty="0" err="1">
                <a:solidFill>
                  <a:srgbClr val="FF0000"/>
                </a:solidFill>
                <a:latin typeface="Arial" pitchFamily="34" charset="0"/>
              </a:rPr>
              <a:t>thead</a:t>
            </a:r>
            <a:r>
              <a:rPr lang="en-US" sz="2800" b="0" dirty="0">
                <a:solidFill>
                  <a:srgbClr val="FF0000"/>
                </a:solidFill>
                <a:latin typeface="Arial" pitchFamily="34" charset="0"/>
              </a:rPr>
              <a:t>-local ID</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F05F9AF0-B2CE-4EF6-A1B1-548C6AA15F54}" type="slidenum">
              <a:rPr lang="ar-SA"/>
              <a:pPr>
                <a:defRPr/>
              </a:pPr>
              <a:t>71</a:t>
            </a:fld>
            <a:endParaRPr lang="en-US"/>
          </a:p>
        </p:txBody>
      </p:sp>
      <p:pic>
        <p:nvPicPr>
          <p:cNvPr id="73732"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3733" name="Rectangle 3"/>
          <p:cNvSpPr>
            <a:spLocks noGrp="1" noChangeArrowheads="1"/>
          </p:cNvSpPr>
          <p:nvPr>
            <p:ph type="title"/>
          </p:nvPr>
        </p:nvSpPr>
        <p:spPr/>
        <p:txBody>
          <a:bodyPr/>
          <a:lstStyle/>
          <a:p>
            <a:r>
              <a:rPr lang="en-US" sz="4000"/>
              <a:t>Thread-Local IDs</a:t>
            </a:r>
          </a:p>
        </p:txBody>
      </p:sp>
      <p:sp>
        <p:nvSpPr>
          <p:cNvPr id="73734" name="Rectangle 4"/>
          <p:cNvSpPr>
            <a:spLocks noChangeArrowheads="1"/>
          </p:cNvSpPr>
          <p:nvPr/>
        </p:nvSpPr>
        <p:spPr bwMode="auto">
          <a:xfrm>
            <a:off x="887413" y="1704975"/>
            <a:ext cx="7591425" cy="393338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public class </a:t>
            </a:r>
            <a:r>
              <a:rPr lang="en-US" dirty="0" err="1">
                <a:solidFill>
                  <a:schemeClr val="bg2"/>
                </a:solidFill>
                <a:latin typeface="Courier New" pitchFamily="49" charset="0"/>
              </a:rPr>
              <a:t>ThreadID</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static volatile </a:t>
            </a:r>
            <a:r>
              <a:rPr lang="en-US" dirty="0" err="1">
                <a:solidFill>
                  <a:schemeClr val="bg2"/>
                </a:solidFill>
                <a:latin typeface="Courier New" pitchFamily="49" charset="0"/>
              </a:rPr>
              <a:t>int</a:t>
            </a:r>
            <a:r>
              <a:rPr lang="en-US" dirty="0">
                <a:solidFill>
                  <a:schemeClr val="bg2"/>
                </a:solidFill>
                <a:latin typeface="Courier New" pitchFamily="49" charset="0"/>
              </a:rPr>
              <a:t> </a:t>
            </a:r>
            <a:r>
              <a:rPr lang="en-US" dirty="0" err="1">
                <a:solidFill>
                  <a:schemeClr val="bg2"/>
                </a:solidFill>
                <a:latin typeface="Courier New" pitchFamily="49" charset="0"/>
              </a:rPr>
              <a:t>nextID</a:t>
            </a:r>
            <a:r>
              <a:rPr lang="en-US" dirty="0">
                <a:solidFill>
                  <a:schemeClr val="bg2"/>
                </a:solidFill>
                <a:latin typeface="Courier New" pitchFamily="49" charset="0"/>
              </a:rPr>
              <a:t> = 0; private static </a:t>
            </a:r>
            <a:r>
              <a:rPr lang="en-US" dirty="0" err="1">
                <a:solidFill>
                  <a:schemeClr val="bg2"/>
                </a:solidFill>
                <a:latin typeface="Courier New" pitchFamily="49" charset="0"/>
              </a:rPr>
              <a:t>LocalID</a:t>
            </a:r>
            <a:r>
              <a:rPr lang="en-US" dirty="0">
                <a:solidFill>
                  <a:schemeClr val="bg2"/>
                </a:solidFill>
                <a:latin typeface="Courier New" pitchFamily="49" charset="0"/>
              </a:rPr>
              <a:t> </a:t>
            </a:r>
            <a:r>
              <a:rPr lang="en-US" dirty="0" err="1">
                <a:solidFill>
                  <a:schemeClr val="bg2"/>
                </a:solidFill>
                <a:latin typeface="Courier New" pitchFamily="49" charset="0"/>
              </a:rPr>
              <a:t>threadID</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new </a:t>
            </a:r>
            <a:r>
              <a:rPr lang="en-US" dirty="0" err="1">
                <a:solidFill>
                  <a:schemeClr val="bg2"/>
                </a:solidFill>
                <a:latin typeface="Courier New" pitchFamily="49" charset="0"/>
              </a:rPr>
              <a:t>LocalID</a:t>
            </a:r>
            <a:r>
              <a:rPr lang="en-US" dirty="0">
                <a:solidFill>
                  <a:schemeClr val="bg2"/>
                </a:solidFill>
                <a:latin typeface="Courier New" pitchFamily="49" charset="0"/>
              </a:rPr>
              <a:t>();</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public static</a:t>
            </a:r>
            <a:r>
              <a:rPr lang="en-US" dirty="0">
                <a:latin typeface="Courier New" pitchFamily="49" charset="0"/>
              </a:rPr>
              <a:t> </a:t>
            </a:r>
            <a:r>
              <a:rPr lang="en-US" dirty="0" err="1">
                <a:latin typeface="Courier New" pitchFamily="49" charset="0"/>
              </a:rPr>
              <a:t>int</a:t>
            </a:r>
            <a:r>
              <a:rPr lang="en-US" dirty="0">
                <a:latin typeface="Courier New" pitchFamily="49" charset="0"/>
              </a:rPr>
              <a:t> get()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return</a:t>
            </a:r>
            <a:r>
              <a:rPr lang="en-US" dirty="0">
                <a:latin typeface="Courier New" pitchFamily="49" charset="0"/>
              </a:rPr>
              <a:t> </a:t>
            </a:r>
            <a:r>
              <a:rPr lang="en-US" dirty="0" err="1">
                <a:latin typeface="Courier New" pitchFamily="49" charset="0"/>
              </a:rPr>
              <a:t>threadID.get</a:t>
            </a:r>
            <a:r>
              <a:rPr lang="en-US" dirty="0">
                <a:latin typeface="Courier New" pitchFamily="49" charset="0"/>
              </a:rPr>
              <a: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 </a:t>
            </a:r>
            <a:r>
              <a:rPr lang="en-US" i="1" dirty="0">
                <a:solidFill>
                  <a:schemeClr val="bg2"/>
                </a:solidFill>
                <a:latin typeface="Courier New" pitchFamily="49" charset="0"/>
              </a:rPr>
              <a:t>// define </a:t>
            </a:r>
            <a:r>
              <a:rPr lang="en-US" i="1" dirty="0" err="1">
                <a:solidFill>
                  <a:schemeClr val="bg2"/>
                </a:solidFill>
                <a:latin typeface="Courier New" pitchFamily="49" charset="0"/>
              </a:rPr>
              <a:t>LocalID</a:t>
            </a:r>
            <a:r>
              <a:rPr lang="en-US" i="1" dirty="0">
                <a:solidFill>
                  <a:schemeClr val="bg2"/>
                </a:solidFill>
                <a:latin typeface="Courier New" pitchFamily="49" charset="0"/>
              </a:rPr>
              <a:t> here</a:t>
            </a:r>
          </a:p>
          <a:p>
            <a:pPr marL="231775" indent="-231775">
              <a:lnSpc>
                <a:spcPct val="100000"/>
              </a:lnSpc>
            </a:pPr>
            <a:r>
              <a:rPr lang="en-US" dirty="0">
                <a:solidFill>
                  <a:schemeClr val="bg2"/>
                </a:solidFill>
                <a:latin typeface="Courier New" pitchFamily="49" charset="0"/>
              </a:rPr>
              <a:t>}</a:t>
            </a:r>
          </a:p>
        </p:txBody>
      </p:sp>
      <p:sp>
        <p:nvSpPr>
          <p:cNvPr id="73735" name="AutoShape 5"/>
          <p:cNvSpPr>
            <a:spLocks noChangeArrowheads="1"/>
          </p:cNvSpPr>
          <p:nvPr/>
        </p:nvSpPr>
        <p:spPr bwMode="auto">
          <a:xfrm>
            <a:off x="1149350" y="3302000"/>
            <a:ext cx="5856288" cy="1454150"/>
          </a:xfrm>
          <a:prstGeom prst="wedgeRoundRectCallout">
            <a:avLst>
              <a:gd name="adj1" fmla="val 4759"/>
              <a:gd name="adj2" fmla="val 106440"/>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73736" name="Text Box 6"/>
          <p:cNvSpPr txBox="1">
            <a:spLocks noChangeArrowheads="1"/>
          </p:cNvSpPr>
          <p:nvPr/>
        </p:nvSpPr>
        <p:spPr bwMode="auto">
          <a:xfrm>
            <a:off x="698500" y="5645150"/>
            <a:ext cx="7050088"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Return value of thread-local ID</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3"/>
          <p:cNvSpPr>
            <a:spLocks noGrp="1"/>
          </p:cNvSpPr>
          <p:nvPr>
            <p:ph type="ftr" sz="quarter" idx="10"/>
          </p:nvPr>
        </p:nvSpPr>
        <p:spPr/>
        <p:txBody>
          <a:bodyPr/>
          <a:lstStyle/>
          <a:p>
            <a:pPr>
              <a:defRPr/>
            </a:pPr>
            <a:r>
              <a:rPr lang="en-US"/>
              <a:t>Art of Multiprocessor Programming</a:t>
            </a:r>
          </a:p>
        </p:txBody>
      </p:sp>
      <p:sp>
        <p:nvSpPr>
          <p:cNvPr id="6" name="Slide Number Placeholder 4"/>
          <p:cNvSpPr>
            <a:spLocks noGrp="1"/>
          </p:cNvSpPr>
          <p:nvPr>
            <p:ph type="sldNum" sz="quarter" idx="11"/>
          </p:nvPr>
        </p:nvSpPr>
        <p:spPr/>
        <p:txBody>
          <a:bodyPr/>
          <a:lstStyle/>
          <a:p>
            <a:pPr>
              <a:defRPr/>
            </a:pPr>
            <a:fld id="{92B86888-B99E-4D07-B688-1B32EA14C23F}" type="slidenum">
              <a:rPr lang="ar-SA"/>
              <a:pPr>
                <a:defRPr/>
              </a:pPr>
              <a:t>72</a:t>
            </a:fld>
            <a:endParaRPr lang="en-US"/>
          </a:p>
        </p:txBody>
      </p:sp>
      <p:pic>
        <p:nvPicPr>
          <p:cNvPr id="74756"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4757" name="Rectangle 3"/>
          <p:cNvSpPr>
            <a:spLocks noGrp="1" noChangeArrowheads="1"/>
          </p:cNvSpPr>
          <p:nvPr>
            <p:ph type="title"/>
          </p:nvPr>
        </p:nvSpPr>
        <p:spPr/>
        <p:txBody>
          <a:bodyPr/>
          <a:lstStyle/>
          <a:p>
            <a:r>
              <a:rPr lang="en-US" sz="4000"/>
              <a:t>The Inner Class</a:t>
            </a:r>
          </a:p>
        </p:txBody>
      </p:sp>
      <p:sp>
        <p:nvSpPr>
          <p:cNvPr id="74758" name="Rectangle 4"/>
          <p:cNvSpPr>
            <a:spLocks noChangeArrowheads="1"/>
          </p:cNvSpPr>
          <p:nvPr/>
        </p:nvSpPr>
        <p:spPr bwMode="auto">
          <a:xfrm>
            <a:off x="887413" y="1704975"/>
            <a:ext cx="7591425" cy="312085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tx1"/>
                </a:solidFill>
                <a:latin typeface="Courier New" pitchFamily="49" charset="0"/>
              </a:rPr>
              <a:t>static class</a:t>
            </a:r>
            <a:r>
              <a:rPr lang="en-US" dirty="0">
                <a:latin typeface="Courier New" pitchFamily="49" charset="0"/>
              </a:rPr>
              <a:t> </a:t>
            </a:r>
            <a:r>
              <a:rPr lang="en-US" dirty="0" err="1">
                <a:latin typeface="Courier New" pitchFamily="49" charset="0"/>
              </a:rPr>
              <a:t>LocalID</a:t>
            </a:r>
            <a:endParaRPr lang="en-US" dirty="0">
              <a:latin typeface="Courier New" pitchFamily="49" charset="0"/>
            </a:endParaRP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extends</a:t>
            </a:r>
            <a:r>
              <a:rPr lang="en-US" dirty="0">
                <a:latin typeface="Courier New" pitchFamily="49" charset="0"/>
              </a:rPr>
              <a:t> </a:t>
            </a:r>
            <a:r>
              <a:rPr lang="en-US" dirty="0" err="1">
                <a:latin typeface="Courier New" pitchFamily="49" charset="0"/>
              </a:rPr>
              <a:t>ThreadLocal</a:t>
            </a:r>
            <a:r>
              <a:rPr lang="en-US" dirty="0">
                <a:latin typeface="Courier New" pitchFamily="49" charset="0"/>
              </a:rPr>
              <a:t>&lt;Integer&gt; {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synchronized</a:t>
            </a:r>
            <a:r>
              <a:rPr lang="en-US" dirty="0">
                <a:latin typeface="Courier New" pitchFamily="49" charset="0"/>
              </a:rPr>
              <a:t> Integer</a:t>
            </a:r>
          </a:p>
          <a:p>
            <a:pPr marL="231775" indent="-231775">
              <a:lnSpc>
                <a:spcPct val="100000"/>
              </a:lnSpc>
            </a:pPr>
            <a:r>
              <a:rPr lang="en-US" dirty="0">
                <a:latin typeface="Courier New" pitchFamily="49" charset="0"/>
              </a:rPr>
              <a:t>        </a:t>
            </a:r>
            <a:r>
              <a:rPr lang="en-US" dirty="0" err="1">
                <a:latin typeface="Courier New" pitchFamily="49" charset="0"/>
              </a:rPr>
              <a:t>initialValue</a:t>
            </a:r>
            <a:r>
              <a:rPr lang="en-US" dirty="0">
                <a:latin typeface="Courier New" pitchFamily="49" charset="0"/>
              </a:rPr>
              <a:t>() {</a:t>
            </a:r>
          </a:p>
          <a:p>
            <a:pPr marL="231775" indent="-231775">
              <a:lnSpc>
                <a:spcPct val="100000"/>
              </a:lnSpc>
            </a:pPr>
            <a:r>
              <a:rPr lang="en-US" dirty="0">
                <a:latin typeface="Courier New" pitchFamily="49" charset="0"/>
              </a:rPr>
              <a:t>          return </a:t>
            </a:r>
            <a:r>
              <a:rPr lang="en-US" dirty="0" err="1">
                <a:latin typeface="Courier New" pitchFamily="49" charset="0"/>
              </a:rPr>
              <a:t>nextID</a:t>
            </a:r>
            <a:r>
              <a:rPr lang="en-US" dirty="0">
                <a:latin typeface="Courier New" pitchFamily="49" charset="0"/>
              </a:rPr>
              <a:t>++;</a:t>
            </a:r>
          </a:p>
          <a:p>
            <a:pPr marL="231775" indent="-231775">
              <a:lnSpc>
                <a:spcPct val="100000"/>
              </a:lnSpc>
            </a:pPr>
            <a:r>
              <a:rPr lang="en-US" dirty="0">
                <a:latin typeface="Courier New" pitchFamily="49" charset="0"/>
              </a:rPr>
              <a:t>        }</a:t>
            </a:r>
          </a:p>
          <a:p>
            <a:pPr marL="231775" indent="-231775">
              <a:lnSpc>
                <a:spcPct val="100000"/>
              </a:lnSpc>
            </a:pPr>
            <a:r>
              <a:rPr lang="en-US" dirty="0">
                <a:latin typeface="Courier New" pitchFamily="49" charset="0"/>
              </a:rPr>
              <a: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A42AC4B1-0A3E-4BA7-90E1-A366B256E4BC}" type="slidenum">
              <a:rPr lang="ar-SA"/>
              <a:pPr>
                <a:defRPr/>
              </a:pPr>
              <a:t>73</a:t>
            </a:fld>
            <a:endParaRPr lang="en-US"/>
          </a:p>
        </p:txBody>
      </p:sp>
      <p:pic>
        <p:nvPicPr>
          <p:cNvPr id="75780"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5781" name="Rectangle 3"/>
          <p:cNvSpPr>
            <a:spLocks noGrp="1" noChangeArrowheads="1"/>
          </p:cNvSpPr>
          <p:nvPr>
            <p:ph type="title"/>
          </p:nvPr>
        </p:nvSpPr>
        <p:spPr/>
        <p:txBody>
          <a:bodyPr/>
          <a:lstStyle/>
          <a:p>
            <a:r>
              <a:rPr lang="en-US" sz="4000"/>
              <a:t>The Inner Class</a:t>
            </a:r>
          </a:p>
        </p:txBody>
      </p:sp>
      <p:sp>
        <p:nvSpPr>
          <p:cNvPr id="75782" name="Rectangle 4"/>
          <p:cNvSpPr>
            <a:spLocks noChangeArrowheads="1"/>
          </p:cNvSpPr>
          <p:nvPr/>
        </p:nvSpPr>
        <p:spPr bwMode="auto">
          <a:xfrm>
            <a:off x="887413" y="1704975"/>
            <a:ext cx="7591425" cy="312085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static class </a:t>
            </a:r>
            <a:r>
              <a:rPr lang="en-US" dirty="0" err="1">
                <a:solidFill>
                  <a:schemeClr val="bg2"/>
                </a:solidFill>
                <a:latin typeface="Courier New" pitchFamily="49" charset="0"/>
              </a:rPr>
              <a:t>LocalID</a:t>
            </a:r>
            <a:endParaRPr lang="en-US" dirty="0">
              <a:solidFill>
                <a:schemeClr val="bg2"/>
              </a:solidFill>
              <a:latin typeface="Courier New" pitchFamily="49" charset="0"/>
            </a:endParaRP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extends</a:t>
            </a:r>
            <a:r>
              <a:rPr lang="en-US" dirty="0">
                <a:latin typeface="Courier New" pitchFamily="49" charset="0"/>
              </a:rPr>
              <a:t> </a:t>
            </a:r>
            <a:r>
              <a:rPr lang="en-US" dirty="0" err="1">
                <a:latin typeface="Courier New" pitchFamily="49" charset="0"/>
              </a:rPr>
              <a:t>ThreadLocal</a:t>
            </a:r>
            <a:r>
              <a:rPr lang="en-US" dirty="0">
                <a:latin typeface="Courier New" pitchFamily="49" charset="0"/>
              </a:rPr>
              <a:t>&lt;Integer&gt; {    </a:t>
            </a:r>
          </a:p>
          <a:p>
            <a:pPr marL="231775" indent="-231775">
              <a:lnSpc>
                <a:spcPct val="100000"/>
              </a:lnSpc>
            </a:pPr>
            <a:r>
              <a:rPr lang="en-US" dirty="0">
                <a:latin typeface="Courier New" pitchFamily="49" charset="0"/>
              </a:rPr>
              <a:t>      </a:t>
            </a:r>
            <a:r>
              <a:rPr lang="en-US" dirty="0">
                <a:solidFill>
                  <a:schemeClr val="bg2"/>
                </a:solidFill>
                <a:latin typeface="Courier New" pitchFamily="49" charset="0"/>
              </a:rPr>
              <a:t>synchronized Integer</a:t>
            </a:r>
          </a:p>
          <a:p>
            <a:pPr marL="231775" indent="-231775">
              <a:lnSpc>
                <a:spcPct val="100000"/>
              </a:lnSpc>
            </a:pPr>
            <a:r>
              <a:rPr lang="en-US" dirty="0">
                <a:solidFill>
                  <a:schemeClr val="bg2"/>
                </a:solidFill>
                <a:latin typeface="Courier New" pitchFamily="49" charset="0"/>
              </a:rPr>
              <a:t>        </a:t>
            </a:r>
            <a:r>
              <a:rPr lang="en-US" dirty="0" err="1">
                <a:solidFill>
                  <a:schemeClr val="bg2"/>
                </a:solidFill>
                <a:latin typeface="Courier New" pitchFamily="49" charset="0"/>
              </a:rPr>
              <a:t>initialValue</a:t>
            </a: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          return </a:t>
            </a:r>
            <a:r>
              <a:rPr lang="en-US" dirty="0" err="1">
                <a:solidFill>
                  <a:schemeClr val="bg2"/>
                </a:solidFill>
                <a:latin typeface="Courier New" pitchFamily="49" charset="0"/>
              </a:rPr>
              <a:t>nextID</a:t>
            </a:r>
            <a:r>
              <a:rPr lang="en-US" dirty="0">
                <a:solidFill>
                  <a:schemeClr val="bg2"/>
                </a:solidFill>
                <a:latin typeface="Courier New" pitchFamily="49" charset="0"/>
              </a:rPr>
              <a:t>++;</a:t>
            </a:r>
          </a:p>
          <a:p>
            <a:pPr marL="231775" indent="-231775">
              <a:lnSpc>
                <a:spcPct val="100000"/>
              </a:lnSpc>
            </a:pPr>
            <a:r>
              <a:rPr lang="en-US" dirty="0">
                <a:solidFill>
                  <a:schemeClr val="bg2"/>
                </a:solidFill>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sp>
        <p:nvSpPr>
          <p:cNvPr id="75783" name="AutoShape 5"/>
          <p:cNvSpPr>
            <a:spLocks noChangeArrowheads="1"/>
          </p:cNvSpPr>
          <p:nvPr/>
        </p:nvSpPr>
        <p:spPr bwMode="auto">
          <a:xfrm>
            <a:off x="1511300" y="2132013"/>
            <a:ext cx="5511800" cy="584200"/>
          </a:xfrm>
          <a:prstGeom prst="wedgeRoundRectCallout">
            <a:avLst>
              <a:gd name="adj1" fmla="val 9532"/>
              <a:gd name="adj2" fmla="val 506250"/>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75784" name="Text Box 6"/>
          <p:cNvSpPr txBox="1">
            <a:spLocks noChangeArrowheads="1"/>
          </p:cNvSpPr>
          <p:nvPr/>
        </p:nvSpPr>
        <p:spPr bwMode="auto">
          <a:xfrm>
            <a:off x="1133475" y="5464175"/>
            <a:ext cx="6780213"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Subclass of </a:t>
            </a:r>
            <a:r>
              <a:rPr lang="en-US" sz="2800" b="0" dirty="0" err="1">
                <a:solidFill>
                  <a:srgbClr val="FF0000"/>
                </a:solidFill>
                <a:latin typeface="Arial" pitchFamily="34" charset="0"/>
              </a:rPr>
              <a:t>ThreadLocal</a:t>
            </a:r>
            <a:r>
              <a:rPr lang="en-US" sz="2800" b="0" dirty="0">
                <a:solidFill>
                  <a:srgbClr val="FF0000"/>
                </a:solidFill>
                <a:latin typeface="Arial" pitchFamily="34" charset="0"/>
              </a:rPr>
              <a:t>&lt;Integer&gt;</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3"/>
          <p:cNvSpPr>
            <a:spLocks noGrp="1"/>
          </p:cNvSpPr>
          <p:nvPr>
            <p:ph type="ftr" sz="quarter" idx="10"/>
          </p:nvPr>
        </p:nvSpPr>
        <p:spPr/>
        <p:txBody>
          <a:bodyPr/>
          <a:lstStyle/>
          <a:p>
            <a:pPr>
              <a:defRPr/>
            </a:pPr>
            <a:r>
              <a:rPr lang="en-US"/>
              <a:t>Art of Multiprocessor Programming</a:t>
            </a:r>
          </a:p>
        </p:txBody>
      </p:sp>
      <p:sp>
        <p:nvSpPr>
          <p:cNvPr id="8" name="Slide Number Placeholder 4"/>
          <p:cNvSpPr>
            <a:spLocks noGrp="1"/>
          </p:cNvSpPr>
          <p:nvPr>
            <p:ph type="sldNum" sz="quarter" idx="11"/>
          </p:nvPr>
        </p:nvSpPr>
        <p:spPr/>
        <p:txBody>
          <a:bodyPr/>
          <a:lstStyle/>
          <a:p>
            <a:pPr>
              <a:defRPr/>
            </a:pPr>
            <a:fld id="{D211FBB4-54CF-4E86-8B3D-FBBA8EE124A4}" type="slidenum">
              <a:rPr lang="ar-SA"/>
              <a:pPr>
                <a:defRPr/>
              </a:pPr>
              <a:t>74</a:t>
            </a:fld>
            <a:endParaRPr lang="en-US"/>
          </a:p>
        </p:txBody>
      </p:sp>
      <p:pic>
        <p:nvPicPr>
          <p:cNvPr id="76804" name="Picture 2" descr="magic"/>
          <p:cNvPicPr>
            <a:picLocks noChangeAspect="1" noChangeArrowheads="1"/>
          </p:cNvPicPr>
          <p:nvPr/>
        </p:nvPicPr>
        <p:blipFill>
          <a:blip r:embed="rId3" cstate="print"/>
          <a:srcRect/>
          <a:stretch>
            <a:fillRect/>
          </a:stretch>
        </p:blipFill>
        <p:spPr bwMode="auto">
          <a:xfrm>
            <a:off x="2540000" y="2540000"/>
            <a:ext cx="127000" cy="127000"/>
          </a:xfrm>
          <a:prstGeom prst="rect">
            <a:avLst/>
          </a:prstGeom>
          <a:noFill/>
          <a:ln w="9525">
            <a:noFill/>
            <a:miter lim="800000"/>
            <a:headEnd/>
            <a:tailEnd/>
          </a:ln>
        </p:spPr>
      </p:pic>
      <p:sp>
        <p:nvSpPr>
          <p:cNvPr id="76805" name="Rectangle 3"/>
          <p:cNvSpPr>
            <a:spLocks noGrp="1" noChangeArrowheads="1"/>
          </p:cNvSpPr>
          <p:nvPr>
            <p:ph type="title"/>
          </p:nvPr>
        </p:nvSpPr>
        <p:spPr/>
        <p:txBody>
          <a:bodyPr/>
          <a:lstStyle/>
          <a:p>
            <a:r>
              <a:rPr lang="en-US" sz="4000"/>
              <a:t>The Inner Class</a:t>
            </a:r>
          </a:p>
        </p:txBody>
      </p:sp>
      <p:sp>
        <p:nvSpPr>
          <p:cNvPr id="76806" name="Rectangle 4"/>
          <p:cNvSpPr>
            <a:spLocks noChangeArrowheads="1"/>
          </p:cNvSpPr>
          <p:nvPr/>
        </p:nvSpPr>
        <p:spPr bwMode="auto">
          <a:xfrm>
            <a:off x="887413" y="1704975"/>
            <a:ext cx="7591425" cy="3120854"/>
          </a:xfrm>
          <a:prstGeom prst="rect">
            <a:avLst/>
          </a:prstGeom>
          <a:solidFill>
            <a:srgbClr val="FFFFCC"/>
          </a:solidFill>
          <a:ln w="9525">
            <a:noFill/>
            <a:miter lim="800000"/>
            <a:headEnd/>
            <a:tailEnd/>
          </a:ln>
        </p:spPr>
        <p:txBody>
          <a:bodyPr>
            <a:spAutoFit/>
          </a:bodyPr>
          <a:lstStyle/>
          <a:p>
            <a:pPr marL="231775" indent="-231775">
              <a:lnSpc>
                <a:spcPct val="100000"/>
              </a:lnSpc>
            </a:pPr>
            <a:r>
              <a:rPr lang="en-US" dirty="0">
                <a:solidFill>
                  <a:schemeClr val="bg2"/>
                </a:solidFill>
                <a:latin typeface="Courier New" pitchFamily="49" charset="0"/>
              </a:rPr>
              <a:t>static class </a:t>
            </a:r>
            <a:r>
              <a:rPr lang="en-US" dirty="0" err="1">
                <a:solidFill>
                  <a:schemeClr val="bg2"/>
                </a:solidFill>
                <a:latin typeface="Courier New" pitchFamily="49" charset="0"/>
              </a:rPr>
              <a:t>LocalID</a:t>
            </a:r>
            <a:endParaRPr lang="en-US" dirty="0">
              <a:solidFill>
                <a:schemeClr val="bg2"/>
              </a:solidFill>
              <a:latin typeface="Courier New" pitchFamily="49" charset="0"/>
            </a:endParaRPr>
          </a:p>
          <a:p>
            <a:pPr marL="231775" indent="-231775">
              <a:lnSpc>
                <a:spcPct val="100000"/>
              </a:lnSpc>
            </a:pPr>
            <a:r>
              <a:rPr lang="en-US" dirty="0">
                <a:solidFill>
                  <a:schemeClr val="bg2"/>
                </a:solidFill>
                <a:latin typeface="Courier New" pitchFamily="49" charset="0"/>
              </a:rPr>
              <a:t>    extends </a:t>
            </a:r>
            <a:r>
              <a:rPr lang="en-US" dirty="0" err="1">
                <a:solidFill>
                  <a:schemeClr val="bg2"/>
                </a:solidFill>
                <a:latin typeface="Courier New" pitchFamily="49" charset="0"/>
              </a:rPr>
              <a:t>ThreadLocal</a:t>
            </a:r>
            <a:r>
              <a:rPr lang="en-US" dirty="0">
                <a:solidFill>
                  <a:schemeClr val="bg2"/>
                </a:solidFill>
                <a:latin typeface="Courier New" pitchFamily="49" charset="0"/>
              </a:rPr>
              <a:t>&lt;Integer&gt; {</a:t>
            </a:r>
            <a:r>
              <a:rPr lang="en-US" dirty="0">
                <a:latin typeface="Courier New" pitchFamily="49" charset="0"/>
              </a:rPr>
              <a:t>    </a:t>
            </a:r>
          </a:p>
          <a:p>
            <a:pPr marL="231775" indent="-231775">
              <a:lnSpc>
                <a:spcPct val="100000"/>
              </a:lnSpc>
            </a:pPr>
            <a:r>
              <a:rPr lang="en-US" dirty="0">
                <a:latin typeface="Courier New" pitchFamily="49" charset="0"/>
              </a:rPr>
              <a:t>      </a:t>
            </a:r>
            <a:r>
              <a:rPr lang="en-US" dirty="0">
                <a:solidFill>
                  <a:schemeClr val="tx1"/>
                </a:solidFill>
                <a:latin typeface="Courier New" pitchFamily="49" charset="0"/>
              </a:rPr>
              <a:t>synchronized</a:t>
            </a:r>
            <a:r>
              <a:rPr lang="en-US" dirty="0">
                <a:latin typeface="Courier New" pitchFamily="49" charset="0"/>
              </a:rPr>
              <a:t> Integer</a:t>
            </a:r>
          </a:p>
          <a:p>
            <a:pPr marL="231775" indent="-231775">
              <a:lnSpc>
                <a:spcPct val="100000"/>
              </a:lnSpc>
            </a:pPr>
            <a:r>
              <a:rPr lang="en-US" dirty="0">
                <a:latin typeface="Courier New" pitchFamily="49" charset="0"/>
              </a:rPr>
              <a:t>        </a:t>
            </a:r>
            <a:r>
              <a:rPr lang="en-US" dirty="0" err="1">
                <a:latin typeface="Courier New" pitchFamily="49" charset="0"/>
              </a:rPr>
              <a:t>initialValue</a:t>
            </a:r>
            <a:r>
              <a:rPr lang="en-US" dirty="0">
                <a:latin typeface="Courier New" pitchFamily="49" charset="0"/>
              </a:rPr>
              <a:t>() {</a:t>
            </a:r>
          </a:p>
          <a:p>
            <a:pPr marL="231775" indent="-231775">
              <a:lnSpc>
                <a:spcPct val="100000"/>
              </a:lnSpc>
            </a:pPr>
            <a:r>
              <a:rPr lang="en-US" dirty="0">
                <a:latin typeface="Courier New" pitchFamily="49" charset="0"/>
              </a:rPr>
              <a:t>          return </a:t>
            </a:r>
            <a:r>
              <a:rPr lang="en-US" dirty="0" err="1">
                <a:latin typeface="Courier New" pitchFamily="49" charset="0"/>
              </a:rPr>
              <a:t>nextID</a:t>
            </a:r>
            <a:r>
              <a:rPr lang="en-US" dirty="0">
                <a:latin typeface="Courier New" pitchFamily="49" charset="0"/>
              </a:rPr>
              <a:t>++;</a:t>
            </a:r>
          </a:p>
          <a:p>
            <a:pPr marL="231775" indent="-231775">
              <a:lnSpc>
                <a:spcPct val="100000"/>
              </a:lnSpc>
            </a:pPr>
            <a:r>
              <a:rPr lang="en-US" dirty="0">
                <a:latin typeface="Courier New" pitchFamily="49" charset="0"/>
              </a:rPr>
              <a:t>        }</a:t>
            </a:r>
          </a:p>
          <a:p>
            <a:pPr marL="231775" indent="-231775">
              <a:lnSpc>
                <a:spcPct val="100000"/>
              </a:lnSpc>
            </a:pPr>
            <a:r>
              <a:rPr lang="en-US" dirty="0">
                <a:solidFill>
                  <a:schemeClr val="bg2"/>
                </a:solidFill>
                <a:latin typeface="Courier New" pitchFamily="49" charset="0"/>
              </a:rPr>
              <a:t>}</a:t>
            </a:r>
          </a:p>
        </p:txBody>
      </p:sp>
      <p:sp>
        <p:nvSpPr>
          <p:cNvPr id="76807" name="AutoShape 5"/>
          <p:cNvSpPr>
            <a:spLocks noChangeArrowheads="1"/>
          </p:cNvSpPr>
          <p:nvPr/>
        </p:nvSpPr>
        <p:spPr bwMode="auto">
          <a:xfrm>
            <a:off x="1495425" y="2657475"/>
            <a:ext cx="5511800" cy="1663700"/>
          </a:xfrm>
          <a:prstGeom prst="wedgeRoundRectCallout">
            <a:avLst>
              <a:gd name="adj1" fmla="val 2190"/>
              <a:gd name="adj2" fmla="val 113741"/>
              <a:gd name="adj3" fmla="val 16667"/>
            </a:avLst>
          </a:prstGeom>
          <a:noFill/>
          <a:ln w="38100">
            <a:solidFill>
              <a:srgbClr val="FF0000"/>
            </a:solidFill>
            <a:miter lim="800000"/>
            <a:headEnd/>
            <a:tailEnd/>
          </a:ln>
        </p:spPr>
        <p:txBody>
          <a:bodyPr anchor="ctr"/>
          <a:lstStyle/>
          <a:p>
            <a:pPr algn="ctr">
              <a:lnSpc>
                <a:spcPct val="100000"/>
              </a:lnSpc>
              <a:spcBef>
                <a:spcPct val="0"/>
              </a:spcBef>
            </a:pPr>
            <a:endParaRPr lang="en-US" sz="4400" b="0" dirty="0">
              <a:latin typeface="Arial" pitchFamily="34" charset="0"/>
            </a:endParaRPr>
          </a:p>
        </p:txBody>
      </p:sp>
      <p:sp>
        <p:nvSpPr>
          <p:cNvPr id="76808" name="Text Box 6"/>
          <p:cNvSpPr txBox="1">
            <a:spLocks noChangeArrowheads="1"/>
          </p:cNvSpPr>
          <p:nvPr/>
        </p:nvSpPr>
        <p:spPr bwMode="auto">
          <a:xfrm>
            <a:off x="1133475" y="5464175"/>
            <a:ext cx="6780213" cy="519113"/>
          </a:xfrm>
          <a:prstGeom prst="rect">
            <a:avLst/>
          </a:prstGeom>
          <a:noFill/>
          <a:ln w="9525">
            <a:noFill/>
            <a:miter lim="800000"/>
            <a:headEnd/>
            <a:tailEnd/>
          </a:ln>
        </p:spPr>
        <p:txBody>
          <a:bodyPr>
            <a:spAutoFit/>
          </a:bodyPr>
          <a:lstStyle/>
          <a:p>
            <a:pPr algn="ctr">
              <a:lnSpc>
                <a:spcPct val="100000"/>
              </a:lnSpc>
              <a:spcBef>
                <a:spcPct val="0"/>
              </a:spcBef>
            </a:pPr>
            <a:r>
              <a:rPr lang="en-US" sz="2800" b="0" dirty="0">
                <a:solidFill>
                  <a:srgbClr val="FF0000"/>
                </a:solidFill>
                <a:latin typeface="Arial" pitchFamily="34" charset="0"/>
              </a:rPr>
              <a:t>Overrides </a:t>
            </a:r>
            <a:r>
              <a:rPr lang="en-US" sz="2800" b="0" dirty="0" err="1">
                <a:solidFill>
                  <a:srgbClr val="FF0000"/>
                </a:solidFill>
                <a:latin typeface="Arial" pitchFamily="34" charset="0"/>
              </a:rPr>
              <a:t>initialValue</a:t>
            </a:r>
            <a:r>
              <a:rPr lang="en-US" sz="2800" b="0" dirty="0">
                <a:solidFill>
                  <a:srgbClr val="FF0000"/>
                </a:solidFill>
                <a:latin typeface="Arial" pitchFamily="34" charset="0"/>
              </a:rPr>
              <a:t>()</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Art of Multiprocessor Programming</a:t>
            </a:r>
          </a:p>
        </p:txBody>
      </p:sp>
      <p:sp>
        <p:nvSpPr>
          <p:cNvPr id="5" name="Slide Number Placeholder 4"/>
          <p:cNvSpPr>
            <a:spLocks noGrp="1"/>
          </p:cNvSpPr>
          <p:nvPr>
            <p:ph type="sldNum" sz="quarter" idx="11"/>
          </p:nvPr>
        </p:nvSpPr>
        <p:spPr/>
        <p:txBody>
          <a:bodyPr/>
          <a:lstStyle/>
          <a:p>
            <a:pPr>
              <a:defRPr/>
            </a:pPr>
            <a:fld id="{53B82AAE-34C8-4F79-AE36-261601A18F11}" type="slidenum">
              <a:rPr lang="ar-SA"/>
              <a:pPr>
                <a:defRPr/>
              </a:pPr>
              <a:t>75</a:t>
            </a:fld>
            <a:endParaRPr lang="en-US"/>
          </a:p>
        </p:txBody>
      </p:sp>
      <p:sp>
        <p:nvSpPr>
          <p:cNvPr id="77828" name="Rectangle 2"/>
          <p:cNvSpPr>
            <a:spLocks noGrp="1" noChangeArrowheads="1"/>
          </p:cNvSpPr>
          <p:nvPr>
            <p:ph type="title"/>
          </p:nvPr>
        </p:nvSpPr>
        <p:spPr/>
        <p:txBody>
          <a:bodyPr/>
          <a:lstStyle/>
          <a:p>
            <a:r>
              <a:rPr lang="en-US"/>
              <a:t>Summary</a:t>
            </a:r>
          </a:p>
        </p:txBody>
      </p:sp>
      <p:sp>
        <p:nvSpPr>
          <p:cNvPr id="77829" name="Rectangle 3"/>
          <p:cNvSpPr>
            <a:spLocks noGrp="1" noChangeArrowheads="1"/>
          </p:cNvSpPr>
          <p:nvPr>
            <p:ph type="body" idx="1"/>
          </p:nvPr>
        </p:nvSpPr>
        <p:spPr/>
        <p:txBody>
          <a:bodyPr/>
          <a:lstStyle/>
          <a:p>
            <a:r>
              <a:rPr lang="en-US"/>
              <a:t>Threads</a:t>
            </a:r>
          </a:p>
          <a:p>
            <a:pPr lvl="1"/>
            <a:r>
              <a:rPr lang="en-US"/>
              <a:t>And how to control them</a:t>
            </a:r>
          </a:p>
          <a:p>
            <a:r>
              <a:rPr lang="en-US"/>
              <a:t>Synchronized methods</a:t>
            </a:r>
          </a:p>
          <a:p>
            <a:pPr lvl="1"/>
            <a:r>
              <a:rPr lang="en-US"/>
              <a:t>Wait, notify, and NotifyAll</a:t>
            </a:r>
          </a:p>
          <a:p>
            <a:r>
              <a:rPr lang="en-US"/>
              <a:t>Thread-Local objects</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1"/>
          <p:cNvSpPr>
            <a:spLocks noGrp="1"/>
          </p:cNvSpPr>
          <p:nvPr>
            <p:ph type="ftr" sz="quarter" idx="10"/>
          </p:nvPr>
        </p:nvSpPr>
        <p:spPr/>
        <p:txBody>
          <a:bodyPr/>
          <a:lstStyle/>
          <a:p>
            <a:pPr>
              <a:defRPr/>
            </a:pPr>
            <a:r>
              <a:rPr lang="en-US"/>
              <a:t>Art of Multiprocessor Programming</a:t>
            </a:r>
          </a:p>
        </p:txBody>
      </p:sp>
      <p:sp>
        <p:nvSpPr>
          <p:cNvPr id="6" name="Slide Number Placeholder 2"/>
          <p:cNvSpPr>
            <a:spLocks noGrp="1"/>
          </p:cNvSpPr>
          <p:nvPr>
            <p:ph type="sldNum" sz="quarter" idx="11"/>
          </p:nvPr>
        </p:nvSpPr>
        <p:spPr/>
        <p:txBody>
          <a:bodyPr/>
          <a:lstStyle/>
          <a:p>
            <a:pPr>
              <a:defRPr/>
            </a:pPr>
            <a:fld id="{96139BA0-7832-4EE8-8EE8-051BF6A1044B}" type="slidenum">
              <a:rPr lang="ar-SA"/>
              <a:pPr>
                <a:defRPr/>
              </a:pPr>
              <a:t>76</a:t>
            </a:fld>
            <a:endParaRPr lang="en-US"/>
          </a:p>
        </p:txBody>
      </p:sp>
      <p:sp>
        <p:nvSpPr>
          <p:cNvPr id="78852" name="Rectangle 2"/>
          <p:cNvSpPr>
            <a:spLocks noChangeArrowheads="1"/>
          </p:cNvSpPr>
          <p:nvPr/>
        </p:nvSpPr>
        <p:spPr bwMode="auto">
          <a:xfrm>
            <a:off x="0" y="-6439"/>
            <a:ext cx="9144000" cy="1200329"/>
          </a:xfrm>
          <a:prstGeom prst="rect">
            <a:avLst/>
          </a:prstGeom>
          <a:noFill/>
          <a:ln w="9525" algn="ctr">
            <a:noFill/>
            <a:miter lim="800000"/>
            <a:headEnd/>
            <a:tailEnd/>
          </a:ln>
        </p:spPr>
        <p:txBody>
          <a:bodyPr anchor="ctr">
            <a:spAutoFit/>
          </a:bodyPr>
          <a:lstStyle/>
          <a:p>
            <a:pPr>
              <a:lnSpc>
                <a:spcPct val="100000"/>
              </a:lnSpc>
              <a:spcBef>
                <a:spcPct val="0"/>
              </a:spcBef>
            </a:pPr>
            <a:r>
              <a:rPr lang="en-US" b="0" dirty="0">
                <a:solidFill>
                  <a:schemeClr val="tx1"/>
                </a:solidFill>
                <a:latin typeface="Arial" pitchFamily="34" charset="0"/>
                <a:hlinkClick r:id="rId3"/>
              </a:rPr>
              <a:t>  </a:t>
            </a:r>
            <a:r>
              <a:rPr lang="en-US" sz="1800" b="0" dirty="0">
                <a:solidFill>
                  <a:schemeClr val="tx1"/>
                </a:solidFill>
                <a:latin typeface="Arial" pitchFamily="34" charset="0"/>
              </a:rPr>
              <a:t> </a:t>
            </a:r>
            <a:r>
              <a:rPr lang="en-US" b="0" dirty="0">
                <a:solidFill>
                  <a:schemeClr val="tx1"/>
                </a:solidFill>
                <a:latin typeface="Arial" pitchFamily="34" charset="0"/>
              </a:rPr>
              <a:t>        </a:t>
            </a:r>
            <a:br>
              <a:rPr lang="en-US" b="0" dirty="0">
                <a:solidFill>
                  <a:schemeClr val="tx1"/>
                </a:solidFill>
                <a:latin typeface="Arial" pitchFamily="34" charset="0"/>
              </a:rPr>
            </a:br>
            <a:r>
              <a:rPr lang="en-US" b="0" dirty="0">
                <a:solidFill>
                  <a:schemeClr val="tx1"/>
                </a:solidFill>
                <a:latin typeface="Arial" pitchFamily="34" charset="0"/>
              </a:rPr>
              <a:t>This work is licensed under a </a:t>
            </a:r>
            <a:r>
              <a:rPr lang="en-US" b="0" dirty="0">
                <a:solidFill>
                  <a:schemeClr val="tx1"/>
                </a:solidFill>
                <a:latin typeface="Arial" pitchFamily="34" charset="0"/>
                <a:hlinkClick r:id="rId3"/>
              </a:rPr>
              <a:t>Creative Commons Attribution-</a:t>
            </a:r>
            <a:r>
              <a:rPr lang="en-US" b="0" dirty="0" err="1">
                <a:solidFill>
                  <a:schemeClr val="tx1"/>
                </a:solidFill>
                <a:latin typeface="Arial" pitchFamily="34" charset="0"/>
                <a:hlinkClick r:id="rId3"/>
              </a:rPr>
              <a:t>ShareAlike</a:t>
            </a:r>
            <a:r>
              <a:rPr lang="en-US" b="0" dirty="0">
                <a:solidFill>
                  <a:schemeClr val="tx1"/>
                </a:solidFill>
                <a:latin typeface="Arial" pitchFamily="34" charset="0"/>
                <a:hlinkClick r:id="rId3"/>
              </a:rPr>
              <a:t> 2.5 License</a:t>
            </a:r>
            <a:r>
              <a:rPr lang="en-US" b="0" dirty="0">
                <a:solidFill>
                  <a:schemeClr val="tx1"/>
                </a:solidFill>
                <a:latin typeface="Arial" pitchFamily="34" charset="0"/>
              </a:rPr>
              <a:t>. </a:t>
            </a:r>
          </a:p>
        </p:txBody>
      </p:sp>
      <p:pic>
        <p:nvPicPr>
          <p:cNvPr id="78853"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78854" name="Rectangle 4"/>
          <p:cNvSpPr>
            <a:spLocks noChangeArrowheads="1"/>
          </p:cNvSpPr>
          <p:nvPr/>
        </p:nvSpPr>
        <p:spPr bwMode="auto">
          <a:xfrm>
            <a:off x="684213" y="1341438"/>
            <a:ext cx="7772400" cy="4752975"/>
          </a:xfrm>
          <a:prstGeom prst="rect">
            <a:avLst/>
          </a:prstGeom>
          <a:noFill/>
          <a:ln w="9525">
            <a:noFill/>
            <a:miter lim="800000"/>
            <a:headEnd/>
            <a:tailEnd/>
          </a:ln>
        </p:spPr>
        <p:txBody>
          <a:bodyPr/>
          <a:lstStyle/>
          <a:p>
            <a:pPr marL="342900" indent="-342900">
              <a:buFontTx/>
              <a:buChar char="•"/>
            </a:pPr>
            <a:r>
              <a:rPr lang="en-US" sz="1800">
                <a:solidFill>
                  <a:schemeClr val="tx1"/>
                </a:solidFill>
                <a:latin typeface="Lucida Sans" pitchFamily="34" charset="0"/>
              </a:rPr>
              <a:t>You are free</a:t>
            </a:r>
            <a:r>
              <a:rPr lang="en-US" sz="1800" b="0">
                <a:solidFill>
                  <a:schemeClr val="tx1"/>
                </a:solidFill>
                <a:latin typeface="Lucida Sans" pitchFamily="34" charset="0"/>
              </a:rPr>
              <a:t>:</a:t>
            </a:r>
          </a:p>
          <a:p>
            <a:pPr marL="742950" lvl="1" indent="-285750">
              <a:buFontTx/>
              <a:buChar char="–"/>
            </a:pPr>
            <a:r>
              <a:rPr lang="en-US" sz="1800">
                <a:solidFill>
                  <a:schemeClr val="tx1"/>
                </a:solidFill>
                <a:latin typeface="Lucida Sans" pitchFamily="34" charset="0"/>
              </a:rPr>
              <a:t>to Share</a:t>
            </a:r>
            <a:r>
              <a:rPr lang="en-US" sz="1800" b="0">
                <a:solidFill>
                  <a:schemeClr val="tx1"/>
                </a:solidFill>
                <a:latin typeface="Lucida Sans" pitchFamily="34" charset="0"/>
              </a:rPr>
              <a:t> — to copy, distribute and transmit the work </a:t>
            </a:r>
          </a:p>
          <a:p>
            <a:pPr marL="742950" lvl="1" indent="-285750">
              <a:buFontTx/>
              <a:buChar char="–"/>
            </a:pPr>
            <a:r>
              <a:rPr lang="en-US" sz="1800">
                <a:solidFill>
                  <a:schemeClr val="tx1"/>
                </a:solidFill>
                <a:latin typeface="Lucida Sans" pitchFamily="34" charset="0"/>
              </a:rPr>
              <a:t>to Remix</a:t>
            </a:r>
            <a:r>
              <a:rPr lang="en-US" sz="1800" b="0">
                <a:solidFill>
                  <a:schemeClr val="tx1"/>
                </a:solidFill>
                <a:latin typeface="Lucida Sans" pitchFamily="34" charset="0"/>
              </a:rPr>
              <a:t> — to adapt the work </a:t>
            </a:r>
          </a:p>
          <a:p>
            <a:pPr marL="342900" indent="-342900">
              <a:buFontTx/>
              <a:buChar char="•"/>
            </a:pPr>
            <a:r>
              <a:rPr lang="en-US" sz="1800">
                <a:solidFill>
                  <a:schemeClr val="tx1"/>
                </a:solidFill>
                <a:latin typeface="Lucida Sans" pitchFamily="34" charset="0"/>
              </a:rPr>
              <a:t>Under the following conditions</a:t>
            </a:r>
            <a:r>
              <a:rPr lang="en-US" sz="1800" b="0">
                <a:solidFill>
                  <a:schemeClr val="tx1"/>
                </a:solidFill>
                <a:latin typeface="Lucida Sans" pitchFamily="34" charset="0"/>
              </a:rPr>
              <a:t>:</a:t>
            </a:r>
          </a:p>
          <a:p>
            <a:pPr marL="742950" lvl="1" indent="-285750">
              <a:buFontTx/>
              <a:buChar char="–"/>
            </a:pPr>
            <a:r>
              <a:rPr lang="en-US" sz="1800">
                <a:solidFill>
                  <a:schemeClr val="tx1"/>
                </a:solidFill>
                <a:latin typeface="Lucida Sans" pitchFamily="34" charset="0"/>
              </a:rPr>
              <a:t>Attribution</a:t>
            </a:r>
            <a:r>
              <a:rPr lang="en-US" sz="18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buFontTx/>
              <a:buChar char="–"/>
            </a:pPr>
            <a:r>
              <a:rPr lang="en-US" sz="1800">
                <a:solidFill>
                  <a:schemeClr val="tx1"/>
                </a:solidFill>
                <a:latin typeface="Lucida Sans" pitchFamily="34" charset="0"/>
              </a:rPr>
              <a:t>Share Alike</a:t>
            </a:r>
            <a:r>
              <a:rPr lang="en-US" sz="18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buFontTx/>
              <a:buChar char="•"/>
            </a:pPr>
            <a:r>
              <a:rPr lang="en-US" sz="18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buFontTx/>
              <a:buChar char="–"/>
            </a:pPr>
            <a:r>
              <a:rPr lang="en-US" sz="1800" b="0">
                <a:solidFill>
                  <a:schemeClr val="tx1"/>
                </a:solidFill>
                <a:latin typeface="Lucida Sans" pitchFamily="34" charset="0"/>
              </a:rPr>
              <a:t>http://creativecommons.org/licenses/by-sa/3.0/. </a:t>
            </a:r>
          </a:p>
          <a:p>
            <a:pPr marL="342900" indent="-342900">
              <a:buFontTx/>
              <a:buChar char="•"/>
            </a:pPr>
            <a:r>
              <a:rPr lang="en-US" sz="1800" b="0">
                <a:solidFill>
                  <a:schemeClr val="tx1"/>
                </a:solidFill>
                <a:latin typeface="Lucida Sans" pitchFamily="34" charset="0"/>
              </a:rPr>
              <a:t>Any of the above conditions can be waived if you get permission from the copyright holder. </a:t>
            </a:r>
          </a:p>
          <a:p>
            <a:pPr marL="342900" indent="-342900">
              <a:buFontTx/>
              <a:buChar char="•"/>
            </a:pPr>
            <a:r>
              <a:rPr lang="en-US" sz="1800" b="0">
                <a:solidFill>
                  <a:schemeClr val="tx1"/>
                </a:solidFill>
                <a:latin typeface="Lucida Sans" pitchFamily="34" charset="0"/>
              </a:rPr>
              <a:t>Nothing in this license impairs or restricts the author's moral rights. </a:t>
            </a:r>
          </a:p>
          <a:p>
            <a:pPr marL="342900" indent="-342900">
              <a:buFontTx/>
              <a:buChar char="•"/>
            </a:pPr>
            <a:endParaRPr lang="en-US" sz="1800" b="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231775" marR="0" indent="-231775" algn="l" defTabSz="914400" rtl="0" eaLnBrk="0" fontAlgn="base" latinLnBrk="0" hangingPunct="0">
          <a:lnSpc>
            <a:spcPct val="80000"/>
          </a:lnSpc>
          <a:spcBef>
            <a:spcPct val="20000"/>
          </a:spcBef>
          <a:spcAft>
            <a:spcPct val="0"/>
          </a:spcAft>
          <a:buClrTx/>
          <a:buSzTx/>
          <a:buFontTx/>
          <a:buNone/>
          <a:tabLst/>
          <a:defRPr kumimoji="0" lang="en-US" sz="2400" b="1" i="0" u="none" strike="noStrike" cap="none" normalizeH="0" baseline="0" smtClean="0">
            <a:ln>
              <a:noFill/>
            </a:ln>
            <a:solidFill>
              <a:srgbClr val="0000FF"/>
            </a:solidFill>
            <a:effectLst/>
            <a:latin typeface="Lucida Console" pitchFamily="49" charset="0"/>
            <a:cs typeface="Courier New" pitchFamily="49" charset="0"/>
          </a:defRPr>
        </a:defPPr>
      </a:lstStyle>
    </a:spDef>
    <a:lnDef>
      <a:spPr bwMode="auto">
        <a:xfrm>
          <a:off x="0" y="0"/>
          <a:ext cx="1" cy="1"/>
        </a:xfrm>
        <a:custGeom>
          <a:avLst/>
          <a:gdLst/>
          <a:ahLst/>
          <a:cxnLst/>
          <a:rect l="0" t="0" r="0" b="0"/>
          <a:pathLst/>
        </a:custGeom>
        <a:solidFill>
          <a:srgbClr val="FFFFCC"/>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231775" marR="0" indent="-231775" algn="l" defTabSz="914400" rtl="0" eaLnBrk="0" fontAlgn="base" latinLnBrk="0" hangingPunct="0">
          <a:lnSpc>
            <a:spcPct val="80000"/>
          </a:lnSpc>
          <a:spcBef>
            <a:spcPct val="20000"/>
          </a:spcBef>
          <a:spcAft>
            <a:spcPct val="0"/>
          </a:spcAft>
          <a:buClrTx/>
          <a:buSzTx/>
          <a:buFontTx/>
          <a:buNone/>
          <a:tabLst/>
          <a:defRPr kumimoji="0" lang="en-US" sz="2400" b="1" i="0" u="none" strike="noStrike" cap="none" normalizeH="0" baseline="0" smtClean="0">
            <a:ln>
              <a:noFill/>
            </a:ln>
            <a:solidFill>
              <a:srgbClr val="0000FF"/>
            </a:solidFill>
            <a:effectLst/>
            <a:latin typeface="Lucida Console" pitchFamily="49" charset="0"/>
            <a:cs typeface="Courier New" pitchFamily="49"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15098</TotalTime>
  <Words>6896</Words>
  <Application>Microsoft Office PowerPoint</Application>
  <PresentationFormat>Overhead</PresentationFormat>
  <Paragraphs>946</Paragraphs>
  <Slides>76</Slides>
  <Notes>76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76</vt:i4>
      </vt:variant>
    </vt:vector>
  </HeadingPairs>
  <TitlesOfParts>
    <vt:vector size="87" baseType="lpstr">
      <vt:lpstr>Arial</vt:lpstr>
      <vt:lpstr>CMMI10</vt:lpstr>
      <vt:lpstr>CMMI7</vt:lpstr>
      <vt:lpstr>CMR10</vt:lpstr>
      <vt:lpstr>CMSY10ORIG</vt:lpstr>
      <vt:lpstr>Comic Sans MS</vt:lpstr>
      <vt:lpstr>Courier New</vt:lpstr>
      <vt:lpstr>Lucida Console</vt:lpstr>
      <vt:lpstr>Lucida Sans</vt:lpstr>
      <vt:lpstr>Marlett</vt:lpstr>
      <vt:lpstr>Blank Presentation</vt:lpstr>
      <vt:lpstr>Programming Language Basics</vt:lpstr>
      <vt:lpstr>Computer Science isn’t really About Programming</vt:lpstr>
      <vt:lpstr>Nevertheless</vt:lpstr>
      <vt:lpstr>Other Languages</vt:lpstr>
      <vt:lpstr>Threads</vt:lpstr>
      <vt:lpstr>Threads in Java</vt:lpstr>
      <vt:lpstr>Creating a Thread</vt:lpstr>
      <vt:lpstr>A Runnable Class</vt:lpstr>
      <vt:lpstr>A Runnable Class</vt:lpstr>
      <vt:lpstr>Creating a Thread</vt:lpstr>
      <vt:lpstr>Creating a Thread</vt:lpstr>
      <vt:lpstr>Creating a Thread</vt:lpstr>
      <vt:lpstr>Syntactic Help</vt:lpstr>
      <vt:lpstr>Anonymous Inner Class</vt:lpstr>
      <vt:lpstr>Anonymous Inner Class</vt:lpstr>
      <vt:lpstr>Anonymous Inner Class</vt:lpstr>
      <vt:lpstr>Starting a Thread</vt:lpstr>
      <vt:lpstr>Joining a Thread</vt:lpstr>
      <vt:lpstr>Monitors</vt:lpstr>
      <vt:lpstr>Call Center Scenario</vt:lpstr>
      <vt:lpstr>Bad Queue Implementation</vt:lpstr>
      <vt:lpstr>Bad Queue Implementation</vt:lpstr>
      <vt:lpstr>Bad Queue Implementation</vt:lpstr>
      <vt:lpstr>Bad Queue Implementation</vt:lpstr>
      <vt:lpstr>Bad Queue Implementation</vt:lpstr>
      <vt:lpstr>Of course, this doesn’t work</vt:lpstr>
      <vt:lpstr>Mutual Exclusion</vt:lpstr>
      <vt:lpstr>Mutual Exclusion</vt:lpstr>
      <vt:lpstr>Synchronized Method</vt:lpstr>
      <vt:lpstr>Synchronized Method</vt:lpstr>
      <vt:lpstr>Syntactic Sugar</vt:lpstr>
      <vt:lpstr>Syntactic Sugar</vt:lpstr>
      <vt:lpstr>Vocabulary</vt:lpstr>
      <vt:lpstr>Re-entrant Locks</vt:lpstr>
      <vt:lpstr>Still Doesn’t Work</vt:lpstr>
      <vt:lpstr>Still Doesn’t Work</vt:lpstr>
      <vt:lpstr>Waiting</vt:lpstr>
      <vt:lpstr>Waiting Synchronized Method</vt:lpstr>
      <vt:lpstr>Waiting Synchronized Method</vt:lpstr>
      <vt:lpstr>Deadlock</vt:lpstr>
      <vt:lpstr>Waiting Thread</vt:lpstr>
      <vt:lpstr>Styles of Waiting</vt:lpstr>
      <vt:lpstr>Styles of Waiting</vt:lpstr>
      <vt:lpstr>The wait() Method</vt:lpstr>
      <vt:lpstr>The wait() Method</vt:lpstr>
      <vt:lpstr>Waiting Synchronized Method</vt:lpstr>
      <vt:lpstr>Waiting Synchronized Method</vt:lpstr>
      <vt:lpstr>Wake up and Smell the Coffee</vt:lpstr>
      <vt:lpstr>The wait() Method</vt:lpstr>
      <vt:lpstr>The wait() Method</vt:lpstr>
      <vt:lpstr>The wait() Method</vt:lpstr>
      <vt:lpstr>The wait() Method</vt:lpstr>
      <vt:lpstr>The wait() Method</vt:lpstr>
      <vt:lpstr>The wait() Method</vt:lpstr>
      <vt:lpstr>Lost Wakeup</vt:lpstr>
      <vt:lpstr>Empty queue, waiting dequeuers</vt:lpstr>
      <vt:lpstr>Enqueuer puts item in queue</vt:lpstr>
      <vt:lpstr>Since queue was empty, wakes dequeuer</vt:lpstr>
      <vt:lpstr>1st Dequeuer slow, overtaken by enqueuers</vt:lpstr>
      <vt:lpstr>1st Dequeuer finishes</vt:lpstr>
      <vt:lpstr>Solutions</vt:lpstr>
      <vt:lpstr>Thread-Local Data</vt:lpstr>
      <vt:lpstr>Thread-Local Data in Java</vt:lpstr>
      <vt:lpstr>ThreadLocal methods</vt:lpstr>
      <vt:lpstr>ThreadLocal methods</vt:lpstr>
      <vt:lpstr>Initializing ThreadLocals</vt:lpstr>
      <vt:lpstr>Example</vt:lpstr>
      <vt:lpstr>Thread-Local IDs</vt:lpstr>
      <vt:lpstr>Thread-Local IDs</vt:lpstr>
      <vt:lpstr>Thread-Local IDs</vt:lpstr>
      <vt:lpstr>Thread-Local IDs</vt:lpstr>
      <vt:lpstr>The Inner Class</vt:lpstr>
      <vt:lpstr>The Inner Class</vt:lpstr>
      <vt:lpstr>The Inner Class</vt:lpstr>
      <vt:lpstr>Summary</vt:lpstr>
      <vt:lpstr>PowerPoint Presentation</vt:lpstr>
    </vt:vector>
  </TitlesOfParts>
  <Company>Brown University and Tel-Aviv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multiprocessor synchronization </dc:title>
  <dc:creator>Maurice Herlihy and Nir Shavit</dc:creator>
  <cp:lastModifiedBy>Beth LoGiudice</cp:lastModifiedBy>
  <cp:revision>481</cp:revision>
  <cp:lastPrinted>2003-09-09T00:35:48Z</cp:lastPrinted>
  <dcterms:created xsi:type="dcterms:W3CDTF">1999-05-12T13:47:53Z</dcterms:created>
  <dcterms:modified xsi:type="dcterms:W3CDTF">2020-09-26T23:41:42Z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