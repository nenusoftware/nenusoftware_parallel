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charts/chart1.xml" ContentType="application/vnd.openxmlformats-officedocument.drawingml.chart+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76"/>
  </p:notesMasterIdLst>
  <p:handoutMasterIdLst>
    <p:handoutMasterId r:id="rId277"/>
  </p:handoutMasterIdLst>
  <p:sldIdLst>
    <p:sldId id="962" r:id="rId2"/>
    <p:sldId id="890" r:id="rId3"/>
    <p:sldId id="597" r:id="rId4"/>
    <p:sldId id="892" r:id="rId5"/>
    <p:sldId id="893" r:id="rId6"/>
    <p:sldId id="894" r:id="rId7"/>
    <p:sldId id="895" r:id="rId8"/>
    <p:sldId id="567" r:id="rId9"/>
    <p:sldId id="816" r:id="rId10"/>
    <p:sldId id="568" r:id="rId11"/>
    <p:sldId id="817" r:id="rId12"/>
    <p:sldId id="818" r:id="rId13"/>
    <p:sldId id="819" r:id="rId14"/>
    <p:sldId id="569" r:id="rId15"/>
    <p:sldId id="600" r:id="rId16"/>
    <p:sldId id="570" r:id="rId17"/>
    <p:sldId id="820" r:id="rId18"/>
    <p:sldId id="821" r:id="rId19"/>
    <p:sldId id="822" r:id="rId20"/>
    <p:sldId id="823" r:id="rId21"/>
    <p:sldId id="571" r:id="rId22"/>
    <p:sldId id="824" r:id="rId23"/>
    <p:sldId id="573" r:id="rId24"/>
    <p:sldId id="896" r:id="rId25"/>
    <p:sldId id="710" r:id="rId26"/>
    <p:sldId id="712" r:id="rId27"/>
    <p:sldId id="711" r:id="rId28"/>
    <p:sldId id="713" r:id="rId29"/>
    <p:sldId id="714" r:id="rId30"/>
    <p:sldId id="715" r:id="rId31"/>
    <p:sldId id="709" r:id="rId32"/>
    <p:sldId id="800" r:id="rId33"/>
    <p:sldId id="898" r:id="rId34"/>
    <p:sldId id="897" r:id="rId35"/>
    <p:sldId id="899" r:id="rId36"/>
    <p:sldId id="575" r:id="rId37"/>
    <p:sldId id="716" r:id="rId38"/>
    <p:sldId id="717" r:id="rId39"/>
    <p:sldId id="718" r:id="rId40"/>
    <p:sldId id="719" r:id="rId41"/>
    <p:sldId id="720" r:id="rId42"/>
    <p:sldId id="770" r:id="rId43"/>
    <p:sldId id="771" r:id="rId44"/>
    <p:sldId id="772" r:id="rId45"/>
    <p:sldId id="773" r:id="rId46"/>
    <p:sldId id="721" r:id="rId47"/>
    <p:sldId id="754" r:id="rId48"/>
    <p:sldId id="722" r:id="rId49"/>
    <p:sldId id="723" r:id="rId50"/>
    <p:sldId id="724" r:id="rId51"/>
    <p:sldId id="725" r:id="rId52"/>
    <p:sldId id="726" r:id="rId53"/>
    <p:sldId id="727" r:id="rId54"/>
    <p:sldId id="728" r:id="rId55"/>
    <p:sldId id="729" r:id="rId56"/>
    <p:sldId id="730" r:id="rId57"/>
    <p:sldId id="745" r:id="rId58"/>
    <p:sldId id="741" r:id="rId59"/>
    <p:sldId id="579" r:id="rId60"/>
    <p:sldId id="742" r:id="rId61"/>
    <p:sldId id="743" r:id="rId62"/>
    <p:sldId id="775" r:id="rId63"/>
    <p:sldId id="744" r:id="rId64"/>
    <p:sldId id="746" r:id="rId65"/>
    <p:sldId id="747" r:id="rId66"/>
    <p:sldId id="748" r:id="rId67"/>
    <p:sldId id="749" r:id="rId68"/>
    <p:sldId id="750" r:id="rId69"/>
    <p:sldId id="751" r:id="rId70"/>
    <p:sldId id="752" r:id="rId71"/>
    <p:sldId id="753" r:id="rId72"/>
    <p:sldId id="774" r:id="rId73"/>
    <p:sldId id="910" r:id="rId74"/>
    <p:sldId id="776" r:id="rId75"/>
    <p:sldId id="777" r:id="rId76"/>
    <p:sldId id="778" r:id="rId77"/>
    <p:sldId id="779" r:id="rId78"/>
    <p:sldId id="802" r:id="rId79"/>
    <p:sldId id="580" r:id="rId80"/>
    <p:sldId id="760" r:id="rId81"/>
    <p:sldId id="762" r:id="rId82"/>
    <p:sldId id="794" r:id="rId83"/>
    <p:sldId id="801" r:id="rId84"/>
    <p:sldId id="765" r:id="rId85"/>
    <p:sldId id="766" r:id="rId86"/>
    <p:sldId id="889" r:id="rId87"/>
    <p:sldId id="767" r:id="rId88"/>
    <p:sldId id="768" r:id="rId89"/>
    <p:sldId id="781" r:id="rId90"/>
    <p:sldId id="769" r:id="rId91"/>
    <p:sldId id="785" r:id="rId92"/>
    <p:sldId id="582" r:id="rId93"/>
    <p:sldId id="786" r:id="rId94"/>
    <p:sldId id="787" r:id="rId95"/>
    <p:sldId id="796" r:id="rId96"/>
    <p:sldId id="797" r:id="rId97"/>
    <p:sldId id="798" r:id="rId98"/>
    <p:sldId id="799" r:id="rId99"/>
    <p:sldId id="784" r:id="rId100"/>
    <p:sldId id="788" r:id="rId101"/>
    <p:sldId id="789" r:id="rId102"/>
    <p:sldId id="583" r:id="rId103"/>
    <p:sldId id="584" r:id="rId104"/>
    <p:sldId id="790" r:id="rId105"/>
    <p:sldId id="585" r:id="rId106"/>
    <p:sldId id="607" r:id="rId107"/>
    <p:sldId id="608" r:id="rId108"/>
    <p:sldId id="609" r:id="rId109"/>
    <p:sldId id="610" r:id="rId110"/>
    <p:sldId id="904" r:id="rId111"/>
    <p:sldId id="917" r:id="rId112"/>
    <p:sldId id="589" r:id="rId113"/>
    <p:sldId id="804" r:id="rId114"/>
    <p:sldId id="834" r:id="rId115"/>
    <p:sldId id="791" r:id="rId116"/>
    <p:sldId id="960" r:id="rId117"/>
    <p:sldId id="612" r:id="rId118"/>
    <p:sldId id="613" r:id="rId119"/>
    <p:sldId id="614" r:id="rId120"/>
    <p:sldId id="615" r:id="rId121"/>
    <p:sldId id="616" r:id="rId122"/>
    <p:sldId id="617" r:id="rId123"/>
    <p:sldId id="618" r:id="rId124"/>
    <p:sldId id="619" r:id="rId125"/>
    <p:sldId id="620" r:id="rId126"/>
    <p:sldId id="911" r:id="rId127"/>
    <p:sldId id="912" r:id="rId128"/>
    <p:sldId id="913" r:id="rId129"/>
    <p:sldId id="622" r:id="rId130"/>
    <p:sldId id="623" r:id="rId131"/>
    <p:sldId id="624" r:id="rId132"/>
    <p:sldId id="625" r:id="rId133"/>
    <p:sldId id="626" r:id="rId134"/>
    <p:sldId id="627" r:id="rId135"/>
    <p:sldId id="629" r:id="rId136"/>
    <p:sldId id="908" r:id="rId137"/>
    <p:sldId id="871" r:id="rId138"/>
    <p:sldId id="630" r:id="rId139"/>
    <p:sldId id="631" r:id="rId140"/>
    <p:sldId id="632" r:id="rId141"/>
    <p:sldId id="633" r:id="rId142"/>
    <p:sldId id="866" r:id="rId143"/>
    <p:sldId id="634" r:id="rId144"/>
    <p:sldId id="806" r:id="rId145"/>
    <p:sldId id="807" r:id="rId146"/>
    <p:sldId id="808" r:id="rId147"/>
    <p:sldId id="635" r:id="rId148"/>
    <p:sldId id="809" r:id="rId149"/>
    <p:sldId id="810" r:id="rId150"/>
    <p:sldId id="811" r:id="rId151"/>
    <p:sldId id="869" r:id="rId152"/>
    <p:sldId id="853" r:id="rId153"/>
    <p:sldId id="870" r:id="rId154"/>
    <p:sldId id="638" r:id="rId155"/>
    <p:sldId id="826" r:id="rId156"/>
    <p:sldId id="827" r:id="rId157"/>
    <p:sldId id="828" r:id="rId158"/>
    <p:sldId id="642" r:id="rId159"/>
    <p:sldId id="909" r:id="rId160"/>
    <p:sldId id="852" r:id="rId161"/>
    <p:sldId id="855" r:id="rId162"/>
    <p:sldId id="644" r:id="rId163"/>
    <p:sldId id="645" r:id="rId164"/>
    <p:sldId id="915" r:id="rId165"/>
    <p:sldId id="914" r:id="rId166"/>
    <p:sldId id="829" r:id="rId167"/>
    <p:sldId id="830" r:id="rId168"/>
    <p:sldId id="831" r:id="rId169"/>
    <p:sldId id="872" r:id="rId170"/>
    <p:sldId id="851" r:id="rId171"/>
    <p:sldId id="873" r:id="rId172"/>
    <p:sldId id="874" r:id="rId173"/>
    <p:sldId id="875" r:id="rId174"/>
    <p:sldId id="876" r:id="rId175"/>
    <p:sldId id="877" r:id="rId176"/>
    <p:sldId id="649" r:id="rId177"/>
    <p:sldId id="880" r:id="rId178"/>
    <p:sldId id="881" r:id="rId179"/>
    <p:sldId id="879" r:id="rId180"/>
    <p:sldId id="878" r:id="rId181"/>
    <p:sldId id="650" r:id="rId182"/>
    <p:sldId id="651" r:id="rId183"/>
    <p:sldId id="652" r:id="rId184"/>
    <p:sldId id="653" r:id="rId185"/>
    <p:sldId id="654" r:id="rId186"/>
    <p:sldId id="655" r:id="rId187"/>
    <p:sldId id="656" r:id="rId188"/>
    <p:sldId id="657" r:id="rId189"/>
    <p:sldId id="658" r:id="rId190"/>
    <p:sldId id="659" r:id="rId191"/>
    <p:sldId id="660" r:id="rId192"/>
    <p:sldId id="661" r:id="rId193"/>
    <p:sldId id="662" r:id="rId194"/>
    <p:sldId id="663" r:id="rId195"/>
    <p:sldId id="664" r:id="rId196"/>
    <p:sldId id="665" r:id="rId197"/>
    <p:sldId id="666" r:id="rId198"/>
    <p:sldId id="667" r:id="rId199"/>
    <p:sldId id="668" r:id="rId200"/>
    <p:sldId id="669" r:id="rId201"/>
    <p:sldId id="670" r:id="rId202"/>
    <p:sldId id="882" r:id="rId203"/>
    <p:sldId id="673" r:id="rId204"/>
    <p:sldId id="674" r:id="rId205"/>
    <p:sldId id="675" r:id="rId206"/>
    <p:sldId id="676" r:id="rId207"/>
    <p:sldId id="677" r:id="rId208"/>
    <p:sldId id="679" r:id="rId209"/>
    <p:sldId id="680" r:id="rId210"/>
    <p:sldId id="681" r:id="rId211"/>
    <p:sldId id="682" r:id="rId212"/>
    <p:sldId id="683" r:id="rId213"/>
    <p:sldId id="684" r:id="rId214"/>
    <p:sldId id="685" r:id="rId215"/>
    <p:sldId id="686" r:id="rId216"/>
    <p:sldId id="687" r:id="rId217"/>
    <p:sldId id="688" r:id="rId218"/>
    <p:sldId id="689" r:id="rId219"/>
    <p:sldId id="690" r:id="rId220"/>
    <p:sldId id="691" r:id="rId221"/>
    <p:sldId id="692" r:id="rId222"/>
    <p:sldId id="693" r:id="rId223"/>
    <p:sldId id="694" r:id="rId224"/>
    <p:sldId id="695" r:id="rId225"/>
    <p:sldId id="696" r:id="rId226"/>
    <p:sldId id="697" r:id="rId227"/>
    <p:sldId id="698" r:id="rId228"/>
    <p:sldId id="699" r:id="rId229"/>
    <p:sldId id="700" r:id="rId230"/>
    <p:sldId id="701" r:id="rId231"/>
    <p:sldId id="702" r:id="rId232"/>
    <p:sldId id="703" r:id="rId233"/>
    <p:sldId id="704" r:id="rId234"/>
    <p:sldId id="705" r:id="rId235"/>
    <p:sldId id="706" r:id="rId236"/>
    <p:sldId id="707" r:id="rId237"/>
    <p:sldId id="883" r:id="rId238"/>
    <p:sldId id="921" r:id="rId239"/>
    <p:sldId id="922" r:id="rId240"/>
    <p:sldId id="923" r:id="rId241"/>
    <p:sldId id="924" r:id="rId242"/>
    <p:sldId id="925" r:id="rId243"/>
    <p:sldId id="886" r:id="rId244"/>
    <p:sldId id="838" r:id="rId245"/>
    <p:sldId id="918" r:id="rId246"/>
    <p:sldId id="856" r:id="rId247"/>
    <p:sldId id="850" r:id="rId248"/>
    <p:sldId id="920" r:id="rId249"/>
    <p:sldId id="926" r:id="rId250"/>
    <p:sldId id="857" r:id="rId251"/>
    <p:sldId id="840" r:id="rId252"/>
    <p:sldId id="927" r:id="rId253"/>
    <p:sldId id="849" r:id="rId254"/>
    <p:sldId id="961" r:id="rId255"/>
    <p:sldId id="930" r:id="rId256"/>
    <p:sldId id="940" r:id="rId257"/>
    <p:sldId id="941" r:id="rId258"/>
    <p:sldId id="942" r:id="rId259"/>
    <p:sldId id="943" r:id="rId260"/>
    <p:sldId id="944" r:id="rId261"/>
    <p:sldId id="945" r:id="rId262"/>
    <p:sldId id="946" r:id="rId263"/>
    <p:sldId id="947" r:id="rId264"/>
    <p:sldId id="948" r:id="rId265"/>
    <p:sldId id="949" r:id="rId266"/>
    <p:sldId id="950" r:id="rId267"/>
    <p:sldId id="952" r:id="rId268"/>
    <p:sldId id="953" r:id="rId269"/>
    <p:sldId id="954" r:id="rId270"/>
    <p:sldId id="955" r:id="rId271"/>
    <p:sldId id="956" r:id="rId272"/>
    <p:sldId id="957" r:id="rId273"/>
    <p:sldId id="958" r:id="rId274"/>
    <p:sldId id="833" r:id="rId275"/>
  </p:sldIdLst>
  <p:sldSz cx="9144000" cy="6858000" type="overhead"/>
  <p:notesSz cx="7026275" cy="9280525"/>
  <p:defaultTextStyle>
    <a:defPPr>
      <a:defRPr lang="en-US"/>
    </a:defPPr>
    <a:lvl1pPr algn="l" rtl="0" eaLnBrk="0" fontAlgn="base" hangingPunct="0">
      <a:spcBef>
        <a:spcPct val="20000"/>
      </a:spcBef>
      <a:spcAft>
        <a:spcPct val="0"/>
      </a:spcAft>
      <a:defRPr sz="2400" b="1" kern="1200">
        <a:solidFill>
          <a:srgbClr val="0000FF"/>
        </a:solidFill>
        <a:latin typeface="Lucida Console" pitchFamily="49" charset="0"/>
        <a:ea typeface="+mn-ea"/>
        <a:cs typeface="+mn-cs"/>
      </a:defRPr>
    </a:lvl1pPr>
    <a:lvl2pPr marL="457200" algn="l" rtl="0" eaLnBrk="0" fontAlgn="base" hangingPunct="0">
      <a:spcBef>
        <a:spcPct val="20000"/>
      </a:spcBef>
      <a:spcAft>
        <a:spcPct val="0"/>
      </a:spcAft>
      <a:defRPr sz="2400" b="1" kern="1200">
        <a:solidFill>
          <a:srgbClr val="0000FF"/>
        </a:solidFill>
        <a:latin typeface="Lucida Console" pitchFamily="49" charset="0"/>
        <a:ea typeface="+mn-ea"/>
        <a:cs typeface="+mn-cs"/>
      </a:defRPr>
    </a:lvl2pPr>
    <a:lvl3pPr marL="914400" algn="l" rtl="0" eaLnBrk="0" fontAlgn="base" hangingPunct="0">
      <a:spcBef>
        <a:spcPct val="20000"/>
      </a:spcBef>
      <a:spcAft>
        <a:spcPct val="0"/>
      </a:spcAft>
      <a:defRPr sz="2400" b="1" kern="1200">
        <a:solidFill>
          <a:srgbClr val="0000FF"/>
        </a:solidFill>
        <a:latin typeface="Lucida Console" pitchFamily="49" charset="0"/>
        <a:ea typeface="+mn-ea"/>
        <a:cs typeface="+mn-cs"/>
      </a:defRPr>
    </a:lvl3pPr>
    <a:lvl4pPr marL="1371600" algn="l" rtl="0" eaLnBrk="0" fontAlgn="base" hangingPunct="0">
      <a:spcBef>
        <a:spcPct val="20000"/>
      </a:spcBef>
      <a:spcAft>
        <a:spcPct val="0"/>
      </a:spcAft>
      <a:defRPr sz="2400" b="1" kern="1200">
        <a:solidFill>
          <a:srgbClr val="0000FF"/>
        </a:solidFill>
        <a:latin typeface="Lucida Console" pitchFamily="49" charset="0"/>
        <a:ea typeface="+mn-ea"/>
        <a:cs typeface="+mn-cs"/>
      </a:defRPr>
    </a:lvl4pPr>
    <a:lvl5pPr marL="1828800" algn="l" rtl="0" eaLnBrk="0" fontAlgn="base" hangingPunct="0">
      <a:spcBef>
        <a:spcPct val="20000"/>
      </a:spcBef>
      <a:spcAft>
        <a:spcPct val="0"/>
      </a:spcAft>
      <a:defRPr sz="2400" b="1" kern="1200">
        <a:solidFill>
          <a:srgbClr val="0000FF"/>
        </a:solidFill>
        <a:latin typeface="Lucida Console" pitchFamily="49" charset="0"/>
        <a:ea typeface="+mn-ea"/>
        <a:cs typeface="+mn-cs"/>
      </a:defRPr>
    </a:lvl5pPr>
    <a:lvl6pPr marL="2286000" algn="l" defTabSz="914400" rtl="0" eaLnBrk="1" latinLnBrk="0" hangingPunct="1">
      <a:defRPr sz="2400" b="1" kern="1200">
        <a:solidFill>
          <a:srgbClr val="0000FF"/>
        </a:solidFill>
        <a:latin typeface="Lucida Console" pitchFamily="49" charset="0"/>
        <a:ea typeface="+mn-ea"/>
        <a:cs typeface="+mn-cs"/>
      </a:defRPr>
    </a:lvl6pPr>
    <a:lvl7pPr marL="2743200" algn="l" defTabSz="914400" rtl="0" eaLnBrk="1" latinLnBrk="0" hangingPunct="1">
      <a:defRPr sz="2400" b="1" kern="1200">
        <a:solidFill>
          <a:srgbClr val="0000FF"/>
        </a:solidFill>
        <a:latin typeface="Lucida Console" pitchFamily="49" charset="0"/>
        <a:ea typeface="+mn-ea"/>
        <a:cs typeface="+mn-cs"/>
      </a:defRPr>
    </a:lvl7pPr>
    <a:lvl8pPr marL="3200400" algn="l" defTabSz="914400" rtl="0" eaLnBrk="1" latinLnBrk="0" hangingPunct="1">
      <a:defRPr sz="2400" b="1" kern="1200">
        <a:solidFill>
          <a:srgbClr val="0000FF"/>
        </a:solidFill>
        <a:latin typeface="Lucida Console" pitchFamily="49" charset="0"/>
        <a:ea typeface="+mn-ea"/>
        <a:cs typeface="+mn-cs"/>
      </a:defRPr>
    </a:lvl8pPr>
    <a:lvl9pPr marL="3657600" algn="l" defTabSz="914400" rtl="0" eaLnBrk="1" latinLnBrk="0" hangingPunct="1">
      <a:defRPr sz="2400" b="1" kern="1200">
        <a:solidFill>
          <a:srgbClr val="0000FF"/>
        </a:solidFill>
        <a:latin typeface="Lucida Console" pitchFamily="49" charset="0"/>
        <a:ea typeface="+mn-ea"/>
        <a:cs typeface="+mn-cs"/>
      </a:defRPr>
    </a:lvl9pPr>
  </p:defaultTextStyle>
  <p:extLst>
    <p:ext uri="{EFAFB233-063F-42B5-8137-9DF3F51BA10A}">
      <p15:sldGuideLst xmlns:p15="http://schemas.microsoft.com/office/powerpoint/2012/main">
        <p15:guide id="1" orient="horz" pos="3360">
          <p15:clr>
            <a:srgbClr val="A4A3A4"/>
          </p15:clr>
        </p15:guide>
        <p15:guide id="2" pos="28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CC00"/>
    <a:srgbClr val="FFFF99"/>
    <a:srgbClr val="FF3300"/>
    <a:srgbClr val="3399FF"/>
    <a:srgbClr val="FF9900"/>
    <a:srgbClr val="00FFFF"/>
    <a:srgbClr val="33CC33"/>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2" autoAdjust="0"/>
    <p:restoredTop sz="82011" autoAdjust="0"/>
  </p:normalViewPr>
  <p:slideViewPr>
    <p:cSldViewPr snapToGrid="0" snapToObjects="1">
      <p:cViewPr varScale="1">
        <p:scale>
          <a:sx n="55" d="100"/>
          <a:sy n="55" d="100"/>
        </p:scale>
        <p:origin x="1576" y="14"/>
      </p:cViewPr>
      <p:guideLst>
        <p:guide orient="horz" pos="3360"/>
        <p:guide pos="284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469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theme" Target="theme/theme1.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tableStyles" Target="tableStyle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notesMaster" Target="notesMasters/notesMaster1.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handoutMaster" Target="handoutMasters/handoutMaster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presProps" Target="presProps.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126550868486596E-2"/>
          <c:y val="9.7156398104265698E-2"/>
          <c:w val="0.70347394540942898"/>
          <c:h val="0.69431279620853104"/>
        </c:manualLayout>
      </c:layout>
      <c:areaChart>
        <c:grouping val="standard"/>
        <c:varyColors val="0"/>
        <c:ser>
          <c:idx val="0"/>
          <c:order val="0"/>
          <c:tx>
            <c:strRef>
              <c:f>Sheet1!$A$2</c:f>
              <c:strCache>
                <c:ptCount val="1"/>
                <c:pt idx="0">
                  <c:v>W=100</c:v>
                </c:pt>
              </c:strCache>
            </c:strRef>
          </c:tx>
          <c:spPr>
            <a:solidFill>
              <a:schemeClr val="accent1"/>
            </a:solidFill>
            <a:ln w="12680">
              <a:solidFill>
                <a:schemeClr val="tx1"/>
              </a:solidFill>
              <a:prstDash val="solid"/>
            </a:ln>
          </c:spPr>
          <c:cat>
            <c:numRef>
              <c:f>Sheet1!$B$1:$I$1</c:f>
              <c:numCache>
                <c:formatCode>General</c:formatCode>
                <c:ptCount val="8"/>
                <c:pt idx="0">
                  <c:v>1</c:v>
                </c:pt>
                <c:pt idx="1">
                  <c:v>2</c:v>
                </c:pt>
                <c:pt idx="2">
                  <c:v>4</c:v>
                </c:pt>
                <c:pt idx="3">
                  <c:v>8</c:v>
                </c:pt>
                <c:pt idx="4">
                  <c:v>16</c:v>
                </c:pt>
                <c:pt idx="5">
                  <c:v>31</c:v>
                </c:pt>
                <c:pt idx="6">
                  <c:v>48</c:v>
                </c:pt>
                <c:pt idx="7">
                  <c:v>64</c:v>
                </c:pt>
              </c:numCache>
            </c:numRef>
          </c:cat>
          <c:val>
            <c:numRef>
              <c:f>Sheet1!$B$2:$I$2</c:f>
              <c:numCache>
                <c:formatCode>General</c:formatCode>
                <c:ptCount val="8"/>
                <c:pt idx="0">
                  <c:v>0</c:v>
                </c:pt>
                <c:pt idx="1">
                  <c:v>10.3</c:v>
                </c:pt>
                <c:pt idx="2">
                  <c:v>26.1</c:v>
                </c:pt>
                <c:pt idx="3">
                  <c:v>40.299999999999997</c:v>
                </c:pt>
                <c:pt idx="4">
                  <c:v>50.4</c:v>
                </c:pt>
                <c:pt idx="5">
                  <c:v>55.3</c:v>
                </c:pt>
                <c:pt idx="6">
                  <c:v>54.2</c:v>
                </c:pt>
                <c:pt idx="7">
                  <c:v>65.5</c:v>
                </c:pt>
              </c:numCache>
            </c:numRef>
          </c:val>
          <c:extLst>
            <c:ext xmlns:c16="http://schemas.microsoft.com/office/drawing/2014/chart" uri="{C3380CC4-5D6E-409C-BE32-E72D297353CC}">
              <c16:uniqueId val="{00000000-CEFF-47D8-BCA5-B86F9BA1EFE2}"/>
            </c:ext>
          </c:extLst>
        </c:ser>
        <c:ser>
          <c:idx val="1"/>
          <c:order val="1"/>
          <c:tx>
            <c:strRef>
              <c:f>Sheet1!$A$3</c:f>
              <c:strCache>
                <c:ptCount val="1"/>
                <c:pt idx="0">
                  <c:v>W=1000</c:v>
                </c:pt>
              </c:strCache>
            </c:strRef>
          </c:tx>
          <c:spPr>
            <a:solidFill>
              <a:schemeClr val="accent2"/>
            </a:solidFill>
            <a:ln w="12680">
              <a:solidFill>
                <a:schemeClr val="tx1"/>
              </a:solidFill>
              <a:prstDash val="solid"/>
            </a:ln>
          </c:spPr>
          <c:cat>
            <c:numRef>
              <c:f>Sheet1!$B$1:$I$1</c:f>
              <c:numCache>
                <c:formatCode>General</c:formatCode>
                <c:ptCount val="8"/>
                <c:pt idx="0">
                  <c:v>1</c:v>
                </c:pt>
                <c:pt idx="1">
                  <c:v>2</c:v>
                </c:pt>
                <c:pt idx="2">
                  <c:v>4</c:v>
                </c:pt>
                <c:pt idx="3">
                  <c:v>8</c:v>
                </c:pt>
                <c:pt idx="4">
                  <c:v>16</c:v>
                </c:pt>
                <c:pt idx="5">
                  <c:v>31</c:v>
                </c:pt>
                <c:pt idx="6">
                  <c:v>48</c:v>
                </c:pt>
                <c:pt idx="7">
                  <c:v>64</c:v>
                </c:pt>
              </c:numCache>
            </c:numRef>
          </c:cat>
          <c:val>
            <c:numRef>
              <c:f>Sheet1!$B$3:$I$3</c:f>
              <c:numCache>
                <c:formatCode>General</c:formatCode>
                <c:ptCount val="8"/>
                <c:pt idx="0">
                  <c:v>0</c:v>
                </c:pt>
                <c:pt idx="1">
                  <c:v>2</c:v>
                </c:pt>
                <c:pt idx="2">
                  <c:v>8.5</c:v>
                </c:pt>
                <c:pt idx="3">
                  <c:v>19.899999999999999</c:v>
                </c:pt>
                <c:pt idx="4">
                  <c:v>31.7</c:v>
                </c:pt>
                <c:pt idx="5">
                  <c:v>39.5</c:v>
                </c:pt>
                <c:pt idx="6">
                  <c:v>40</c:v>
                </c:pt>
                <c:pt idx="7">
                  <c:v>39.5</c:v>
                </c:pt>
              </c:numCache>
            </c:numRef>
          </c:val>
          <c:extLst>
            <c:ext xmlns:c16="http://schemas.microsoft.com/office/drawing/2014/chart" uri="{C3380CC4-5D6E-409C-BE32-E72D297353CC}">
              <c16:uniqueId val="{00000001-CEFF-47D8-BCA5-B86F9BA1EFE2}"/>
            </c:ext>
          </c:extLst>
        </c:ser>
        <c:ser>
          <c:idx val="2"/>
          <c:order val="2"/>
          <c:tx>
            <c:strRef>
              <c:f>Sheet1!$A$4</c:f>
              <c:strCache>
                <c:ptCount val="1"/>
                <c:pt idx="0">
                  <c:v>W=5000</c:v>
                </c:pt>
              </c:strCache>
            </c:strRef>
          </c:tx>
          <c:spPr>
            <a:solidFill>
              <a:schemeClr val="hlink"/>
            </a:solidFill>
            <a:ln w="12680">
              <a:solidFill>
                <a:schemeClr val="tx1"/>
              </a:solidFill>
              <a:prstDash val="solid"/>
            </a:ln>
          </c:spPr>
          <c:cat>
            <c:numRef>
              <c:f>Sheet1!$B$1:$I$1</c:f>
              <c:numCache>
                <c:formatCode>General</c:formatCode>
                <c:ptCount val="8"/>
                <c:pt idx="0">
                  <c:v>1</c:v>
                </c:pt>
                <c:pt idx="1">
                  <c:v>2</c:v>
                </c:pt>
                <c:pt idx="2">
                  <c:v>4</c:v>
                </c:pt>
                <c:pt idx="3">
                  <c:v>8</c:v>
                </c:pt>
                <c:pt idx="4">
                  <c:v>16</c:v>
                </c:pt>
                <c:pt idx="5">
                  <c:v>31</c:v>
                </c:pt>
                <c:pt idx="6">
                  <c:v>48</c:v>
                </c:pt>
                <c:pt idx="7">
                  <c:v>64</c:v>
                </c:pt>
              </c:numCache>
            </c:numRef>
          </c:cat>
          <c:val>
            <c:numRef>
              <c:f>Sheet1!$B$4:$I$4</c:f>
              <c:numCache>
                <c:formatCode>General</c:formatCode>
                <c:ptCount val="8"/>
                <c:pt idx="0">
                  <c:v>0</c:v>
                </c:pt>
                <c:pt idx="1">
                  <c:v>0.3</c:v>
                </c:pt>
                <c:pt idx="2">
                  <c:v>2.2000000000000002</c:v>
                </c:pt>
                <c:pt idx="3">
                  <c:v>10.6</c:v>
                </c:pt>
                <c:pt idx="4">
                  <c:v>10.6</c:v>
                </c:pt>
                <c:pt idx="5">
                  <c:v>18.5</c:v>
                </c:pt>
                <c:pt idx="6">
                  <c:v>15.6</c:v>
                </c:pt>
                <c:pt idx="7">
                  <c:v>18.7</c:v>
                </c:pt>
              </c:numCache>
            </c:numRef>
          </c:val>
          <c:extLst>
            <c:ext xmlns:c16="http://schemas.microsoft.com/office/drawing/2014/chart" uri="{C3380CC4-5D6E-409C-BE32-E72D297353CC}">
              <c16:uniqueId val="{00000002-CEFF-47D8-BCA5-B86F9BA1EFE2}"/>
            </c:ext>
          </c:extLst>
        </c:ser>
        <c:dLbls>
          <c:showLegendKey val="0"/>
          <c:showVal val="0"/>
          <c:showCatName val="0"/>
          <c:showSerName val="0"/>
          <c:showPercent val="0"/>
          <c:showBubbleSize val="0"/>
        </c:dLbls>
        <c:axId val="337117184"/>
        <c:axId val="337118720"/>
      </c:areaChart>
      <c:catAx>
        <c:axId val="337117184"/>
        <c:scaling>
          <c:orientation val="minMax"/>
        </c:scaling>
        <c:delete val="0"/>
        <c:axPos val="b"/>
        <c:numFmt formatCode="General" sourceLinked="1"/>
        <c:majorTickMark val="out"/>
        <c:minorTickMark val="none"/>
        <c:tickLblPos val="nextTo"/>
        <c:spPr>
          <a:ln w="3170">
            <a:solidFill>
              <a:schemeClr val="tx1"/>
            </a:solidFill>
            <a:prstDash val="solid"/>
          </a:ln>
        </c:spPr>
        <c:txPr>
          <a:bodyPr rot="0" vert="horz"/>
          <a:lstStyle/>
          <a:p>
            <a:pPr>
              <a:defRPr sz="1797" b="1" i="0" u="none" strike="noStrike" baseline="0">
                <a:solidFill>
                  <a:schemeClr val="tx1"/>
                </a:solidFill>
                <a:latin typeface="Comic Sans MS"/>
                <a:ea typeface="Comic Sans MS"/>
                <a:cs typeface="Comic Sans MS"/>
              </a:defRPr>
            </a:pPr>
            <a:endParaRPr lang="en-US"/>
          </a:p>
        </c:txPr>
        <c:crossAx val="337118720"/>
        <c:crosses val="autoZero"/>
        <c:auto val="1"/>
        <c:lblAlgn val="ctr"/>
        <c:lblOffset val="100"/>
        <c:tickLblSkip val="1"/>
        <c:tickMarkSkip val="1"/>
        <c:noMultiLvlLbl val="0"/>
      </c:catAx>
      <c:valAx>
        <c:axId val="337118720"/>
        <c:scaling>
          <c:orientation val="minMax"/>
        </c:scaling>
        <c:delete val="0"/>
        <c:axPos val="l"/>
        <c:majorGridlines>
          <c:spPr>
            <a:ln w="3170">
              <a:solidFill>
                <a:schemeClr val="tx1"/>
              </a:solidFill>
              <a:prstDash val="solid"/>
            </a:ln>
          </c:spPr>
        </c:majorGridlines>
        <c:numFmt formatCode="General" sourceLinked="1"/>
        <c:majorTickMark val="out"/>
        <c:minorTickMark val="none"/>
        <c:tickLblPos val="nextTo"/>
        <c:spPr>
          <a:ln w="3170">
            <a:solidFill>
              <a:schemeClr val="tx1"/>
            </a:solidFill>
            <a:prstDash val="solid"/>
          </a:ln>
        </c:spPr>
        <c:txPr>
          <a:bodyPr rot="0" vert="horz"/>
          <a:lstStyle/>
          <a:p>
            <a:pPr>
              <a:defRPr sz="1797" b="1" i="0" u="none" strike="noStrike" baseline="0">
                <a:solidFill>
                  <a:schemeClr val="tx1"/>
                </a:solidFill>
                <a:latin typeface="Comic Sans MS"/>
                <a:ea typeface="Comic Sans MS"/>
                <a:cs typeface="Comic Sans MS"/>
              </a:defRPr>
            </a:pPr>
            <a:endParaRPr lang="en-US"/>
          </a:p>
        </c:txPr>
        <c:crossAx val="337117184"/>
        <c:crosses val="autoZero"/>
        <c:crossBetween val="midCat"/>
      </c:valAx>
      <c:spPr>
        <a:noFill/>
        <a:ln w="12680">
          <a:solidFill>
            <a:schemeClr val="tx1"/>
          </a:solidFill>
          <a:prstDash val="solid"/>
        </a:ln>
      </c:spPr>
    </c:plotArea>
    <c:legend>
      <c:legendPos val="r"/>
      <c:layout>
        <c:manualLayout>
          <c:xMode val="edge"/>
          <c:yMode val="edge"/>
          <c:x val="0.82258064516129004"/>
          <c:y val="0.28909952606635098"/>
          <c:w val="0.17245657568238201"/>
          <c:h val="0.30805687203791499"/>
        </c:manualLayout>
      </c:layout>
      <c:overlay val="0"/>
      <c:spPr>
        <a:noFill/>
        <a:ln w="3170">
          <a:solidFill>
            <a:schemeClr val="tx1"/>
          </a:solidFill>
          <a:prstDash val="solid"/>
        </a:ln>
      </c:spPr>
      <c:txPr>
        <a:bodyPr/>
        <a:lstStyle/>
        <a:p>
          <a:pPr>
            <a:defRPr sz="1652" b="1" i="0" u="none" strike="noStrike" baseline="0">
              <a:solidFill>
                <a:schemeClr val="tx1"/>
              </a:solidFill>
              <a:latin typeface="Comic Sans MS"/>
              <a:ea typeface="Comic Sans MS"/>
              <a:cs typeface="Comic Sans MS"/>
            </a:defRPr>
          </a:pPr>
          <a:endParaRPr lang="en-US"/>
        </a:p>
      </c:txPr>
    </c:legend>
    <c:plotVisOnly val="1"/>
    <c:dispBlanksAs val="zero"/>
    <c:showDLblsOverMax val="0"/>
  </c:chart>
  <c:spPr>
    <a:noFill/>
    <a:ln>
      <a:noFill/>
    </a:ln>
  </c:spPr>
  <c:txPr>
    <a:bodyPr/>
    <a:lstStyle/>
    <a:p>
      <a:pPr>
        <a:defRPr sz="1797" b="1" i="0" u="none" strike="noStrike" baseline="0">
          <a:solidFill>
            <a:schemeClr val="tx1"/>
          </a:solidFill>
          <a:latin typeface="Comic Sans MS"/>
          <a:ea typeface="Comic Sans MS"/>
          <a:cs typeface="Comic Sans MS"/>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044825" cy="463550"/>
          </a:xfrm>
          <a:prstGeom prst="rect">
            <a:avLst/>
          </a:prstGeom>
          <a:noFill/>
          <a:ln w="9525">
            <a:noFill/>
            <a:miter lim="800000"/>
            <a:headEnd/>
            <a:tailEnd/>
          </a:ln>
          <a:effectLst/>
        </p:spPr>
        <p:txBody>
          <a:bodyPr vert="horz" wrap="none" lIns="93177" tIns="46589" rIns="93177" bIns="46589" numCol="1" anchor="ctr" anchorCtr="0" compatLnSpc="1">
            <a:prstTxWarp prst="textNoShape">
              <a:avLst/>
            </a:prstTxWarp>
          </a:bodyPr>
          <a:lstStyle>
            <a:lvl1pPr defTabSz="931863">
              <a:spcBef>
                <a:spcPct val="0"/>
              </a:spcBef>
              <a:defRPr sz="1200" b="0">
                <a:latin typeface="Comic Sans MS" pitchFamily="66" charset="0"/>
              </a:defRPr>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3981450" y="0"/>
            <a:ext cx="3044825" cy="463550"/>
          </a:xfrm>
          <a:prstGeom prst="rect">
            <a:avLst/>
          </a:prstGeom>
          <a:noFill/>
          <a:ln w="9525">
            <a:noFill/>
            <a:miter lim="800000"/>
            <a:headEnd/>
            <a:tailEnd/>
          </a:ln>
          <a:effectLst/>
        </p:spPr>
        <p:txBody>
          <a:bodyPr vert="horz" wrap="none" lIns="93177" tIns="46589" rIns="93177" bIns="46589" numCol="1" anchor="ctr" anchorCtr="0" compatLnSpc="1">
            <a:prstTxWarp prst="textNoShape">
              <a:avLst/>
            </a:prstTxWarp>
          </a:bodyPr>
          <a:lstStyle>
            <a:lvl1pPr algn="r" defTabSz="931863">
              <a:spcBef>
                <a:spcPct val="0"/>
              </a:spcBef>
              <a:defRPr sz="1200" b="0">
                <a:latin typeface="Comic Sans MS" pitchFamily="66" charset="0"/>
              </a:defRPr>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8816975"/>
            <a:ext cx="3044825" cy="463550"/>
          </a:xfrm>
          <a:prstGeom prst="rect">
            <a:avLst/>
          </a:prstGeom>
          <a:noFill/>
          <a:ln w="9525">
            <a:noFill/>
            <a:miter lim="800000"/>
            <a:headEnd/>
            <a:tailEnd/>
          </a:ln>
          <a:effectLst/>
        </p:spPr>
        <p:txBody>
          <a:bodyPr vert="horz" wrap="none" lIns="93177" tIns="46589" rIns="93177" bIns="46589" numCol="1" anchor="b" anchorCtr="0" compatLnSpc="1">
            <a:prstTxWarp prst="textNoShape">
              <a:avLst/>
            </a:prstTxWarp>
          </a:bodyPr>
          <a:lstStyle>
            <a:lvl1pPr defTabSz="931863">
              <a:spcBef>
                <a:spcPct val="0"/>
              </a:spcBef>
              <a:defRPr sz="1200" b="0">
                <a:latin typeface="Comic Sans MS" pitchFamily="66" charset="0"/>
              </a:defRPr>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3981450" y="8816975"/>
            <a:ext cx="3044825" cy="463550"/>
          </a:xfrm>
          <a:prstGeom prst="rect">
            <a:avLst/>
          </a:prstGeom>
          <a:noFill/>
          <a:ln w="9525">
            <a:noFill/>
            <a:miter lim="800000"/>
            <a:headEnd/>
            <a:tailEnd/>
          </a:ln>
          <a:effectLst/>
        </p:spPr>
        <p:txBody>
          <a:bodyPr vert="horz" wrap="none" lIns="93177" tIns="46589" rIns="93177" bIns="46589" numCol="1" anchor="b" anchorCtr="0" compatLnSpc="1">
            <a:prstTxWarp prst="textNoShape">
              <a:avLst/>
            </a:prstTxWarp>
          </a:bodyPr>
          <a:lstStyle>
            <a:lvl1pPr algn="r" defTabSz="931863">
              <a:spcBef>
                <a:spcPct val="0"/>
              </a:spcBef>
              <a:defRPr sz="1200" b="0">
                <a:latin typeface="Comic Sans MS" pitchFamily="66" charset="0"/>
              </a:defRPr>
            </a:lvl1pPr>
          </a:lstStyle>
          <a:p>
            <a:pPr>
              <a:defRPr/>
            </a:pPr>
            <a:fld id="{125C2CBD-2174-4637-96DD-18EC7D2DE80F}" type="slidenum">
              <a:rPr lang="en-US">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21725843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44825"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a:spcBef>
                <a:spcPct val="0"/>
              </a:spcBef>
              <a:defRPr sz="1200" b="0">
                <a:latin typeface="Marlett" pitchFamily="2" charset="2"/>
              </a:defRPr>
            </a:lvl1pPr>
          </a:lstStyle>
          <a:p>
            <a:pPr>
              <a:defRPr/>
            </a:pPr>
            <a:endParaRPr lang="en-US"/>
          </a:p>
        </p:txBody>
      </p:sp>
      <p:sp>
        <p:nvSpPr>
          <p:cNvPr id="6147" name="Rectangle 3"/>
          <p:cNvSpPr>
            <a:spLocks noGrp="1" noChangeArrowheads="1"/>
          </p:cNvSpPr>
          <p:nvPr>
            <p:ph type="dt" idx="1"/>
          </p:nvPr>
        </p:nvSpPr>
        <p:spPr bwMode="auto">
          <a:xfrm>
            <a:off x="3981450" y="0"/>
            <a:ext cx="3044825" cy="46355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defRPr sz="1200" b="0">
                <a:latin typeface="Marlett" pitchFamily="2" charset="2"/>
              </a:defRPr>
            </a:lvl1pPr>
          </a:lstStyle>
          <a:p>
            <a:pPr>
              <a:defRPr/>
            </a:pPr>
            <a:endParaRPr lang="en-US"/>
          </a:p>
        </p:txBody>
      </p:sp>
      <p:sp>
        <p:nvSpPr>
          <p:cNvPr id="250884" name="Rectangle 4"/>
          <p:cNvSpPr>
            <a:spLocks noGrp="1" noRot="1" noChangeAspect="1" noChangeArrowheads="1" noTextEdit="1"/>
          </p:cNvSpPr>
          <p:nvPr>
            <p:ph type="sldImg" idx="2"/>
          </p:nvPr>
        </p:nvSpPr>
        <p:spPr bwMode="auto">
          <a:xfrm>
            <a:off x="1192213" y="695325"/>
            <a:ext cx="4641850" cy="3481388"/>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6625" y="4408488"/>
            <a:ext cx="5153025" cy="4176712"/>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8816975"/>
            <a:ext cx="3044825" cy="46355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a:spcBef>
                <a:spcPct val="0"/>
              </a:spcBef>
              <a:defRPr sz="1200" b="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3981450" y="8816975"/>
            <a:ext cx="3044825" cy="46355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defRPr sz="1200" b="0">
                <a:latin typeface="Marlett" pitchFamily="2" charset="2"/>
              </a:defRPr>
            </a:lvl1pPr>
          </a:lstStyle>
          <a:p>
            <a:pPr>
              <a:defRPr/>
            </a:pPr>
            <a:fld id="{60B379D1-B991-4158-B747-BB4714208830}" type="slidenum">
              <a:rPr lang="en-US"/>
              <a:pPr>
                <a:defRPr/>
              </a:pPr>
              <a:t>‹#›</a:t>
            </a:fld>
            <a:endParaRPr lang="en-US"/>
          </a:p>
        </p:txBody>
      </p:sp>
    </p:spTree>
    <p:extLst>
      <p:ext uri="{BB962C8B-B14F-4D97-AF65-F5344CB8AC3E}">
        <p14:creationId xmlns:p14="http://schemas.microsoft.com/office/powerpoint/2010/main" val="24080228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10C29304-386F-4106-AF4A-EAA8DB683943}" type="slidenum">
              <a:rPr lang="en-US" sz="1200" b="0">
                <a:latin typeface="Marlett" pitchFamily="2" charset="2"/>
              </a:rPr>
              <a:pPr algn="r" defTabSz="931863">
                <a:spcBef>
                  <a:spcPct val="0"/>
                </a:spcBef>
              </a:pPr>
              <a:t>2</a:t>
            </a:fld>
            <a:endParaRPr lang="en-US" sz="1200" b="0">
              <a:latin typeface="Marlett" pitchFamily="2" charset="2"/>
            </a:endParaRPr>
          </a:p>
        </p:txBody>
      </p:sp>
      <p:sp>
        <p:nvSpPr>
          <p:cNvPr id="517123" name="Rectangle 2"/>
          <p:cNvSpPr>
            <a:spLocks noGrp="1" noRot="1" noChangeAspect="1" noChangeArrowheads="1" noTextEdit="1"/>
          </p:cNvSpPr>
          <p:nvPr>
            <p:ph type="sldImg"/>
          </p:nvPr>
        </p:nvSpPr>
        <p:spPr>
          <a:ln/>
        </p:spPr>
      </p:sp>
      <p:sp>
        <p:nvSpPr>
          <p:cNvPr id="517124" name="Rectangle 3"/>
          <p:cNvSpPr>
            <a:spLocks noGrp="1" noChangeArrowheads="1"/>
          </p:cNvSpPr>
          <p:nvPr>
            <p:ph type="body" idx="1"/>
          </p:nvPr>
        </p:nvSpPr>
        <p:spPr>
          <a:noFill/>
          <a:ln/>
        </p:spPr>
        <p:txBody>
          <a:bodyPr/>
          <a:lstStyle/>
          <a:p>
            <a:r>
              <a:rPr lang="en-US"/>
              <a:t>A pool is a set of objects. The pool interface provides Put() and Remove() methods that respectively insert and remove items from the pool. Familiar classes such as stacks and queues can be viewed as pools that provide additional ordering guarantees.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4AD4732F-3E01-4A3E-AB64-8F97293C903D}" type="slidenum">
              <a:rPr lang="en-US" smtClean="0"/>
              <a:pPr/>
              <a:t>3</a:t>
            </a:fld>
            <a:endParaRPr lang="en-US"/>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a:ln/>
        </p:spPr>
        <p:txBody>
          <a:bodyPr/>
          <a:lstStyle/>
          <a:p>
            <a:r>
              <a:rPr lang="en-US"/>
              <a:t>One natural way to implement a shared pool is to have each method lock the pool, perhaps by making both Put() and Remove() synchronized methods.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D1A83699-AD82-490C-8A2D-3991B0C5D6C3}" type="slidenum">
              <a:rPr lang="en-US" sz="1200" b="0">
                <a:latin typeface="Marlett" pitchFamily="2" charset="2"/>
              </a:rPr>
              <a:pPr algn="r" defTabSz="931863">
                <a:spcBef>
                  <a:spcPct val="0"/>
                </a:spcBef>
              </a:pPr>
              <a:t>4</a:t>
            </a:fld>
            <a:endParaRPr lang="en-US" sz="1200" b="0">
              <a:latin typeface="Marlett" pitchFamily="2" charset="2"/>
            </a:endParaRPr>
          </a:p>
        </p:txBody>
      </p:sp>
      <p:sp>
        <p:nvSpPr>
          <p:cNvPr id="521219" name="Rectangle 2"/>
          <p:cNvSpPr>
            <a:spLocks noGrp="1" noRot="1" noChangeAspect="1" noChangeArrowheads="1" noTextEdit="1"/>
          </p:cNvSpPr>
          <p:nvPr>
            <p:ph type="sldImg"/>
          </p:nvPr>
        </p:nvSpPr>
        <p:spPr>
          <a:ln/>
        </p:spPr>
      </p:sp>
      <p:sp>
        <p:nvSpPr>
          <p:cNvPr id="521220" name="Rectangle 3"/>
          <p:cNvSpPr>
            <a:spLocks noGrp="1" noChangeArrowheads="1"/>
          </p:cNvSpPr>
          <p:nvPr>
            <p:ph type="body" idx="1"/>
          </p:nvPr>
        </p:nvSpPr>
        <p:spPr>
          <a:noFill/>
          <a:ln/>
        </p:spPr>
        <p:txBody>
          <a:bodyPr/>
          <a:lstStyle/>
          <a:p>
            <a:r>
              <a:rPr lang="en-US"/>
              <a:t>The problem, of course, is that such an approach is too heavy-handed, because the lock itself would become a hot-spop. We would prefer an implementation in which Pool methods could work in parallel.</a:t>
            </a:r>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6582FD63-F482-4273-974B-6ED846A21A4A}" type="slidenum">
              <a:rPr lang="en-US" sz="1200" b="0">
                <a:latin typeface="Marlett" pitchFamily="2" charset="2"/>
              </a:rPr>
              <a:pPr algn="r" defTabSz="931863">
                <a:spcBef>
                  <a:spcPct val="0"/>
                </a:spcBef>
              </a:pPr>
              <a:t>5</a:t>
            </a:fld>
            <a:endParaRPr lang="en-US" sz="1200" b="0">
              <a:latin typeface="Marlett" pitchFamily="2" charset="2"/>
            </a:endParaRPr>
          </a:p>
        </p:txBody>
      </p:sp>
      <p:sp>
        <p:nvSpPr>
          <p:cNvPr id="523267" name="Rectangle 2"/>
          <p:cNvSpPr>
            <a:spLocks noGrp="1" noRot="1" noChangeAspect="1" noChangeArrowheads="1" noTextEdit="1"/>
          </p:cNvSpPr>
          <p:nvPr>
            <p:ph type="sldImg"/>
          </p:nvPr>
        </p:nvSpPr>
        <p:spPr>
          <a:ln/>
        </p:spPr>
      </p:sp>
      <p:sp>
        <p:nvSpPr>
          <p:cNvPr id="523268" name="Rectangle 3"/>
          <p:cNvSpPr>
            <a:spLocks noGrp="1" noChangeArrowheads="1"/>
          </p:cNvSpPr>
          <p:nvPr>
            <p:ph type="body" idx="1"/>
          </p:nvPr>
        </p:nvSpPr>
        <p:spPr>
          <a:noFill/>
          <a:ln/>
        </p:spPr>
        <p:txBody>
          <a:bodyPr/>
          <a:lstStyle/>
          <a:p>
            <a:r>
              <a:rPr lang="en-US"/>
              <a:t>The problem, of course, is that such an approach is too heavy-handed, because the lock itself would become a hot-spop. We would prefer an implementation in which Pool methods could work in parallel.</a:t>
            </a:r>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C0E95BD0-EABC-4255-95F2-DE9E320E27D2}" type="slidenum">
              <a:rPr lang="en-US" sz="1200" b="0">
                <a:latin typeface="Marlett" pitchFamily="2" charset="2"/>
              </a:rPr>
              <a:pPr algn="r" defTabSz="931863">
                <a:spcBef>
                  <a:spcPct val="0"/>
                </a:spcBef>
              </a:pPr>
              <a:t>6</a:t>
            </a:fld>
            <a:endParaRPr lang="en-US" sz="1200" b="0">
              <a:latin typeface="Marlett" pitchFamily="2" charset="2"/>
            </a:endParaRPr>
          </a:p>
        </p:txBody>
      </p:sp>
      <p:sp>
        <p:nvSpPr>
          <p:cNvPr id="525315" name="Rectangle 2"/>
          <p:cNvSpPr>
            <a:spLocks noGrp="1" noRot="1" noChangeAspect="1" noChangeArrowheads="1" noTextEdit="1"/>
          </p:cNvSpPr>
          <p:nvPr>
            <p:ph type="sldImg"/>
          </p:nvPr>
        </p:nvSpPr>
        <p:spPr>
          <a:ln/>
        </p:spPr>
      </p:sp>
      <p:sp>
        <p:nvSpPr>
          <p:cNvPr id="525316" name="Rectangle 3"/>
          <p:cNvSpPr>
            <a:spLocks noGrp="1" noChangeArrowheads="1"/>
          </p:cNvSpPr>
          <p:nvPr>
            <p:ph type="body" idx="1"/>
          </p:nvPr>
        </p:nvSpPr>
        <p:spPr>
          <a:noFill/>
          <a:ln/>
        </p:spPr>
        <p:txBody>
          <a:bodyPr/>
          <a:lstStyle/>
          <a:p>
            <a:r>
              <a:rPr lang="en-US"/>
              <a:t>The problem, of course, is that such an approach is too heavy-handed, because the lock itself would become a hot-spop. We would prefer an implementation in which Pool methods could work in parallel.</a:t>
            </a:r>
          </a:p>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0B401DDF-38AD-4BC4-A804-002D68B207BF}" type="slidenum">
              <a:rPr lang="en-US" sz="1200" b="0">
                <a:latin typeface="Marlett" pitchFamily="2" charset="2"/>
              </a:rPr>
              <a:pPr algn="r" defTabSz="931863">
                <a:spcBef>
                  <a:spcPct val="0"/>
                </a:spcBef>
              </a:pPr>
              <a:t>7</a:t>
            </a:fld>
            <a:endParaRPr lang="en-US" sz="1200" b="0">
              <a:latin typeface="Marlett" pitchFamily="2" charset="2"/>
            </a:endParaRPr>
          </a:p>
        </p:txBody>
      </p:sp>
      <p:sp>
        <p:nvSpPr>
          <p:cNvPr id="527363" name="Rectangle 2"/>
          <p:cNvSpPr>
            <a:spLocks noGrp="1" noRot="1" noChangeAspect="1" noChangeArrowheads="1" noTextEdit="1"/>
          </p:cNvSpPr>
          <p:nvPr>
            <p:ph type="sldImg"/>
          </p:nvPr>
        </p:nvSpPr>
        <p:spPr>
          <a:ln/>
        </p:spPr>
      </p:sp>
      <p:sp>
        <p:nvSpPr>
          <p:cNvPr id="527364" name="Rectangle 3"/>
          <p:cNvSpPr>
            <a:spLocks noGrp="1" noChangeArrowheads="1"/>
          </p:cNvSpPr>
          <p:nvPr>
            <p:ph type="body" idx="1"/>
          </p:nvPr>
        </p:nvSpPr>
        <p:spPr>
          <a:noFill/>
          <a:ln/>
        </p:spPr>
        <p:txBody>
          <a:bodyPr/>
          <a:lstStyle/>
          <a:p>
            <a:r>
              <a:rPr lang="en-US"/>
              <a:t>The problem, of course, is that such an approach is too heavy-handed, because the lock itself would become a hot-spop. We would prefer an implementation in which Pool methods could work in parallel.</a:t>
            </a:r>
          </a:p>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5A3E1E70-A8D2-4A52-9E4C-81C17CA52DEE}" type="slidenum">
              <a:rPr lang="en-US" smtClean="0"/>
              <a:pPr/>
              <a:t>8</a:t>
            </a:fld>
            <a:endParaRPr lang="en-US"/>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p:spPr>
        <p:txBody>
          <a:bodyPr/>
          <a:lstStyle/>
          <a:p>
            <a:r>
              <a:rPr lang="en-US"/>
              <a:t>Consider the following alternative. The pool itself is an array of items, where each array element either contains an item, or is \Jnull. We route threads through two GetAndIncrement() counters. Threads calling Put() increment one counter to choose an array index into which the new item should be placed. (If that slot is full, the thread waits until it becomes empty.) Similarly, threads calling Remove() increment another counter to choose an array index from which the new item should be removed. (If that slot is empty, the thread waits until it becomes full.)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8E7B5632-CFAA-4689-996E-BB83D0064E05}" type="slidenum">
              <a:rPr lang="en-US" smtClean="0"/>
              <a:pPr/>
              <a:t>9</a:t>
            </a:fld>
            <a:endParaRPr lang="en-US"/>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p:spPr>
        <p:txBody>
          <a:bodyPr/>
          <a:lstStyle/>
          <a:p>
            <a:r>
              <a:rPr lang="en-US"/>
              <a:t>This approach replaces one bottleneck, the lock, with two, the counters. Naturally, two bottlenecks are better than one (think about that claim for a second). But are shared counters necessarily bottlenecks? Can we implement highly-concurrent shared counters?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F9939B22-C6E2-4B62-915F-C0A17549E58D}" type="slidenum">
              <a:rPr lang="en-US" smtClean="0"/>
              <a:pPr/>
              <a:t>10</a:t>
            </a:fld>
            <a:endParaRPr lang="en-US"/>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p:spPr>
        <p:txBody>
          <a:bodyPr/>
          <a:lstStyle/>
          <a:p>
            <a:r>
              <a:rPr lang="en-US"/>
              <a:t>The problem of building a concurrent pool reduces to the problem of building a concurrent counter. But what do we mean by a couner?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F2CACF5E-7C2B-450B-B478-CD3CE168DE24}" type="slidenum">
              <a:rPr lang="en-US" smtClean="0"/>
              <a:pPr/>
              <a:t>11</a:t>
            </a:fld>
            <a:endParaRPr lang="en-US"/>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r>
              <a:rPr lang="en-US"/>
              <a:t>Well, first, we want to be sure that two threads never take the same value.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ADC18872-553E-4B2C-A004-D1E6953B841B}" type="slidenum">
              <a:rPr lang="en-US" smtClean="0"/>
              <a:pPr/>
              <a:t>12</a:t>
            </a:fld>
            <a:endParaRPr lang="en-US"/>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r>
              <a:rPr lang="en-US"/>
              <a:t>Second, we want to make sure that the threads do not collectively skip a value.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9781D16E-3E6C-4F28-A056-DF035F8DA33E}" type="slidenum">
              <a:rPr lang="en-US" smtClean="0"/>
              <a:pPr/>
              <a:t>13</a:t>
            </a:fld>
            <a:endParaRPr lang="en-US"/>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a:ln/>
        </p:spPr>
        <p:txBody>
          <a:bodyPr/>
          <a:lstStyle/>
          <a:p>
            <a:r>
              <a:rPr lang="en-US"/>
              <a:t>Finally, we will not insist that counters be linarizable. Later on, we will see that linearizable counters are much more expensive than non-linearizable counters. You get what you pay for, and you pay for what you get.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92CD1348-EEE4-423E-87DE-9131726FA42A}" type="slidenum">
              <a:rPr lang="en-US" smtClean="0"/>
              <a:pPr/>
              <a:t>14</a:t>
            </a:fld>
            <a:endParaRPr lang="en-US"/>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p:spPr>
        <p:txBody>
          <a:bodyPr/>
          <a:lstStyle/>
          <a:p>
            <a:pPr marL="228600" indent="-228600"/>
            <a:r>
              <a:rPr lang="en-US"/>
              <a:t>We face two challenges.</a:t>
            </a:r>
          </a:p>
          <a:p>
            <a:pPr marL="228600" indent="-228600"/>
            <a:endParaRPr lang="en-US"/>
          </a:p>
          <a:p>
            <a:pPr marL="228600" indent="-228600">
              <a:buFontTx/>
              <a:buAutoNum type="arabicPeriod"/>
            </a:pPr>
            <a:r>
              <a:rPr lang="en-US"/>
              <a:t>Can we avoid memory contention, where too many threads try to access the same</a:t>
            </a:r>
          </a:p>
          <a:p>
            <a:pPr marL="228600" indent="-228600">
              <a:buFontTx/>
              <a:buAutoNum type="arabicPeriod"/>
            </a:pPr>
            <a:r>
              <a:rPr lang="en-US"/>
              <a:t>memory location, stressing the underlying communication network and cache</a:t>
            </a:r>
          </a:p>
          <a:p>
            <a:pPr marL="228600" indent="-228600">
              <a:buFontTx/>
              <a:buAutoNum type="arabicPeriod"/>
            </a:pPr>
            <a:r>
              <a:rPr lang="en-US"/>
              <a:t>coherence protocols?  </a:t>
            </a:r>
          </a:p>
          <a:p>
            <a:pPr marL="228600" indent="-228600">
              <a:buFontTx/>
              <a:buAutoNum type="arabicPeriod"/>
            </a:pPr>
            <a:endParaRPr lang="en-US"/>
          </a:p>
          <a:p>
            <a:pPr marL="228600" indent="-228600">
              <a:buFontTx/>
              <a:buAutoNum type="arabicPeriod"/>
            </a:pPr>
            <a:r>
              <a:rPr lang="en-US"/>
              <a:t> Can we achieve real parallelism? Is incrementing a counter an inherently sequential operation, or is it possible for $n$ threads to increment a counter in time less than it takes for one thread to increment a counter $n$ times? </a:t>
            </a:r>
          </a:p>
          <a:p>
            <a:pPr marL="228600" indent="-228600">
              <a:buFontTx/>
              <a:buAutoNum type="arabicPeriod"/>
            </a:pPr>
            <a:endParaRPr lang="en-US"/>
          </a:p>
          <a:p>
            <a:pPr marL="228600" indent="-228600">
              <a:buFontTx/>
              <a:buAutoNum type="arabicPeriod"/>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6C7CE0C0-465F-44F9-9644-A1F523B6F575}" type="slidenum">
              <a:rPr lang="en-US" smtClean="0"/>
              <a:pPr/>
              <a:t>15</a:t>
            </a:fld>
            <a:endParaRPr lang="en-US"/>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a:ln/>
        </p:spPr>
        <p:txBody>
          <a:bodyPr/>
          <a:lstStyle/>
          <a:p>
            <a:r>
              <a:rPr lang="en-US"/>
              <a:t>A combining tree is a tree of nodes, where each node contains bookkeeping information. The counter's value is stored at the root. Each thread is assigned a leaf, and at most two threads share a leaf. To increment the counter, a thread starts at its leaf, and works its way up the tree to the root. If two threads reach a node at approximately the same time, then they combine their increments by adding them together. One thread, the first thread, propagates their combined increments up the tree, while the other, second thread, waits for the first thread to complete their combined work..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307611F5-6001-4B26-98E0-6791B80862B8}" type="slidenum">
              <a:rPr lang="en-US" smtClean="0"/>
              <a:pPr/>
              <a:t>16</a:t>
            </a:fld>
            <a:endParaRPr lang="en-US"/>
          </a:p>
        </p:txBody>
      </p:sp>
      <p:sp>
        <p:nvSpPr>
          <p:cNvPr id="267267" name="Rectangle 2"/>
          <p:cNvSpPr>
            <a:spLocks noGrp="1" noRot="1" noChangeAspect="1" noChangeArrowheads="1" noTextEdit="1"/>
          </p:cNvSpPr>
          <p:nvPr>
            <p:ph type="sldImg"/>
          </p:nvPr>
        </p:nvSpPr>
        <p:spPr>
          <a:ln/>
        </p:spPr>
      </p:sp>
      <p:sp>
        <p:nvSpPr>
          <p:cNvPr id="267268" name="Rectangle 3"/>
          <p:cNvSpPr>
            <a:spLocks noGrp="1" noChangeArrowheads="1"/>
          </p:cNvSpPr>
          <p:nvPr>
            <p:ph type="body" idx="1"/>
          </p:nvPr>
        </p:nvSpPr>
        <p:spPr>
          <a:noFill/>
          <a:ln/>
        </p:spPr>
        <p:txBody>
          <a:bodyPr/>
          <a:lstStyle/>
          <a:p>
            <a:r>
              <a:rPr lang="en-US"/>
              <a:t>Here, the counter is zero, and the blue and yellow processors are about to add to the counter.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752F399E-D079-4FAC-9C04-2F9496CF953C}" type="slidenum">
              <a:rPr lang="en-US" smtClean="0"/>
              <a:pPr/>
              <a:t>17</a:t>
            </a:fld>
            <a:endParaRPr lang="en-US"/>
          </a:p>
        </p:txBody>
      </p:sp>
      <p:sp>
        <p:nvSpPr>
          <p:cNvPr id="268291" name="Rectangle 2"/>
          <p:cNvSpPr>
            <a:spLocks noGrp="1" noRot="1" noChangeAspect="1" noChangeArrowheads="1" noTextEdit="1"/>
          </p:cNvSpPr>
          <p:nvPr>
            <p:ph type="sldImg"/>
          </p:nvPr>
        </p:nvSpPr>
        <p:spPr>
          <a:ln/>
        </p:spPr>
      </p:sp>
      <p:sp>
        <p:nvSpPr>
          <p:cNvPr id="268292" name="Rectangle 3"/>
          <p:cNvSpPr>
            <a:spLocks noGrp="1" noChangeArrowheads="1"/>
          </p:cNvSpPr>
          <p:nvPr>
            <p:ph type="body" idx="1"/>
          </p:nvPr>
        </p:nvSpPr>
        <p:spPr>
          <a:noFill/>
          <a:ln/>
        </p:spPr>
        <p:txBody>
          <a:bodyPr/>
          <a:lstStyle/>
          <a:p>
            <a:r>
              <a:rPr lang="en-US"/>
              <a:t>Blue registers it’s request to add three at its leaf.</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BA2A1C1C-9284-421D-B9A4-10AD79CF8C09}" type="slidenum">
              <a:rPr lang="en-US" smtClean="0"/>
              <a:pPr/>
              <a:t>18</a:t>
            </a:fld>
            <a:endParaRPr lang="en-US"/>
          </a:p>
        </p:txBody>
      </p:sp>
      <p:sp>
        <p:nvSpPr>
          <p:cNvPr id="269315" name="Rectangle 2"/>
          <p:cNvSpPr>
            <a:spLocks noGrp="1" noRot="1" noChangeAspect="1" noChangeArrowheads="1" noTextEdit="1"/>
          </p:cNvSpPr>
          <p:nvPr>
            <p:ph type="sldImg"/>
          </p:nvPr>
        </p:nvSpPr>
        <p:spPr>
          <a:ln/>
        </p:spPr>
      </p:sp>
      <p:sp>
        <p:nvSpPr>
          <p:cNvPr id="269316" name="Rectangle 3"/>
          <p:cNvSpPr>
            <a:spLocks noGrp="1" noChangeArrowheads="1"/>
          </p:cNvSpPr>
          <p:nvPr>
            <p:ph type="body" idx="1"/>
          </p:nvPr>
        </p:nvSpPr>
        <p:spPr>
          <a:noFill/>
          <a:ln/>
        </p:spPr>
        <p:txBody>
          <a:bodyPr/>
          <a:lstStyle/>
          <a:p>
            <a:r>
              <a:rPr lang="en-US"/>
              <a:t>At about the same time, yellow adds two to the clunters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p>
            <a:fld id="{C1056940-B95A-4F26-B506-F64FB9F0A1E3}" type="slidenum">
              <a:rPr lang="en-US" smtClean="0"/>
              <a:pPr/>
              <a:t>19</a:t>
            </a:fld>
            <a:endParaRPr lang="en-US"/>
          </a:p>
        </p:txBody>
      </p:sp>
      <p:sp>
        <p:nvSpPr>
          <p:cNvPr id="270339" name="Rectangle 2"/>
          <p:cNvSpPr>
            <a:spLocks noGrp="1" noRot="1" noChangeAspect="1" noChangeArrowheads="1" noTextEdit="1"/>
          </p:cNvSpPr>
          <p:nvPr>
            <p:ph type="sldImg"/>
          </p:nvPr>
        </p:nvSpPr>
        <p:spPr>
          <a:ln/>
        </p:spPr>
      </p:sp>
      <p:sp>
        <p:nvSpPr>
          <p:cNvPr id="270340" name="Rectangle 3"/>
          <p:cNvSpPr>
            <a:spLocks noGrp="1" noChangeArrowheads="1"/>
          </p:cNvSpPr>
          <p:nvPr>
            <p:ph type="body" idx="1"/>
          </p:nvPr>
        </p:nvSpPr>
        <p:spPr>
          <a:noFill/>
          <a:ln/>
        </p:spPr>
        <p:txBody>
          <a:bodyPr/>
          <a:lstStyle/>
          <a:p>
            <a:r>
              <a:rPr lang="en-US"/>
              <a:t>These two requests meet at the shared node, and are combined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p>
            <a:fld id="{FBAB2659-453D-4785-BB9C-CADE7E6BA67E}" type="slidenum">
              <a:rPr lang="en-US" smtClean="0"/>
              <a:pPr/>
              <a:t>20</a:t>
            </a:fld>
            <a:endParaRPr lang="en-US"/>
          </a:p>
        </p:txBody>
      </p:sp>
      <p:sp>
        <p:nvSpPr>
          <p:cNvPr id="271363" name="Rectangle 2"/>
          <p:cNvSpPr>
            <a:spLocks noGrp="1" noRot="1" noChangeAspect="1" noChangeArrowheads="1" noTextEdit="1"/>
          </p:cNvSpPr>
          <p:nvPr>
            <p:ph type="sldImg"/>
          </p:nvPr>
        </p:nvSpPr>
        <p:spPr>
          <a:ln/>
        </p:spPr>
      </p:sp>
      <p:sp>
        <p:nvSpPr>
          <p:cNvPr id="271364" name="Rectangle 3"/>
          <p:cNvSpPr>
            <a:spLocks noGrp="1" noChangeArrowheads="1"/>
          </p:cNvSpPr>
          <p:nvPr>
            <p:ph type="body" idx="1"/>
          </p:nvPr>
        </p:nvSpPr>
        <p:spPr>
          <a:noFill/>
          <a:ln/>
        </p:spPr>
        <p:txBody>
          <a:bodyPr/>
          <a:lstStyle/>
          <a:p>
            <a:r>
              <a:rPr lang="en-US"/>
              <a:t>the blue three and the yellow two are combined into a green five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p>
            <a:fld id="{FF464A93-15FA-4B1E-BB49-F33D7760F629}" type="slidenum">
              <a:rPr lang="en-US" smtClean="0"/>
              <a:pPr/>
              <a:t>21</a:t>
            </a:fld>
            <a:endParaRPr lang="en-US"/>
          </a:p>
        </p:txBody>
      </p:sp>
      <p:sp>
        <p:nvSpPr>
          <p:cNvPr id="272387" name="Rectangle 2"/>
          <p:cNvSpPr>
            <a:spLocks noGrp="1" noRot="1" noChangeAspect="1" noChangeArrowheads="1" noTextEdit="1"/>
          </p:cNvSpPr>
          <p:nvPr>
            <p:ph type="sldImg"/>
          </p:nvPr>
        </p:nvSpPr>
        <p:spPr>
          <a:ln/>
        </p:spPr>
      </p:sp>
      <p:sp>
        <p:nvSpPr>
          <p:cNvPr id="272388" name="Rectangle 3"/>
          <p:cNvSpPr>
            <a:spLocks noGrp="1" noChangeArrowheads="1"/>
          </p:cNvSpPr>
          <p:nvPr>
            <p:ph type="body" idx="1"/>
          </p:nvPr>
        </p:nvSpPr>
        <p:spPr>
          <a:noFill/>
          <a:ln/>
        </p:spPr>
        <p:txBody>
          <a:bodyPr/>
          <a:lstStyle/>
          <a:p>
            <a:r>
              <a:rPr lang="en-US"/>
              <a:t>These combined requests are added to the root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p>
            <a:fld id="{B7D81214-2C9F-42DB-B20D-2B3C65FC0205}" type="slidenum">
              <a:rPr lang="en-US" smtClean="0"/>
              <a:pPr/>
              <a:t>22</a:t>
            </a:fld>
            <a:endParaRPr lang="en-US"/>
          </a:p>
        </p:txBody>
      </p:sp>
      <p:sp>
        <p:nvSpPr>
          <p:cNvPr id="273411" name="Rectangle 2"/>
          <p:cNvSpPr>
            <a:spLocks noGrp="1" noRot="1" noChangeAspect="1" noChangeArrowheads="1" noTextEdit="1"/>
          </p:cNvSpPr>
          <p:nvPr>
            <p:ph type="sldImg"/>
          </p:nvPr>
        </p:nvSpPr>
        <p:spPr>
          <a:ln/>
        </p:spPr>
      </p:sp>
      <p:sp>
        <p:nvSpPr>
          <p:cNvPr id="2734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634E7AFD-9442-494C-B2CF-4968E3B05BF7}" type="slidenum">
              <a:rPr lang="en-US" smtClean="0"/>
              <a:pPr/>
              <a:t>23</a:t>
            </a:fld>
            <a:endParaRPr lang="en-US"/>
          </a:p>
        </p:txBody>
      </p:sp>
      <p:sp>
        <p:nvSpPr>
          <p:cNvPr id="274435" name="Rectangle 2"/>
          <p:cNvSpPr>
            <a:spLocks noGrp="1" noRot="1" noChangeAspect="1" noChangeArrowheads="1" noTextEdit="1"/>
          </p:cNvSpPr>
          <p:nvPr>
            <p:ph type="sldImg"/>
          </p:nvPr>
        </p:nvSpPr>
        <p:spPr>
          <a:ln/>
        </p:spPr>
      </p:sp>
      <p:sp>
        <p:nvSpPr>
          <p:cNvPr id="274436" name="Rectangle 3"/>
          <p:cNvSpPr>
            <a:spLocks noGrp="1" noChangeArrowheads="1"/>
          </p:cNvSpPr>
          <p:nvPr>
            <p:ph type="body" idx="1"/>
          </p:nvPr>
        </p:nvSpPr>
        <p:spPr>
          <a:noFill/>
          <a:ln/>
        </p:spPr>
        <p:txBody>
          <a:bodyPr/>
          <a:lstStyle/>
          <a:p>
            <a:r>
              <a:rPr lang="en-US"/>
              <a:t>Each node remembers enough bookkeeping information to distribute correct results among the callers.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C932C7EA-E3DF-4354-BF17-955DC9FC0B2E}" type="slidenum">
              <a:rPr lang="en-US" sz="1200" b="0">
                <a:latin typeface="Marlett" pitchFamily="2" charset="2"/>
              </a:rPr>
              <a:pPr algn="r" defTabSz="931863">
                <a:spcBef>
                  <a:spcPct val="0"/>
                </a:spcBef>
              </a:pPr>
              <a:t>24</a:t>
            </a:fld>
            <a:endParaRPr lang="en-US" sz="1200" b="0">
              <a:latin typeface="Marlett" pitchFamily="2" charset="2"/>
            </a:endParaRPr>
          </a:p>
        </p:txBody>
      </p:sp>
      <p:sp>
        <p:nvSpPr>
          <p:cNvPr id="529411" name="Rectangle 2"/>
          <p:cNvSpPr>
            <a:spLocks noGrp="1" noRot="1" noChangeAspect="1" noChangeArrowheads="1" noTextEdit="1"/>
          </p:cNvSpPr>
          <p:nvPr>
            <p:ph type="sldImg"/>
          </p:nvPr>
        </p:nvSpPr>
        <p:spPr>
          <a:ln/>
        </p:spPr>
      </p:sp>
      <p:sp>
        <p:nvSpPr>
          <p:cNvPr id="5294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a:noFill/>
        </p:spPr>
        <p:txBody>
          <a:bodyPr/>
          <a:lstStyle/>
          <a:p>
            <a:fld id="{35686BBF-39A9-499B-BA4A-CC91E423A600}" type="slidenum">
              <a:rPr lang="en-US" smtClean="0"/>
              <a:pPr/>
              <a:t>25</a:t>
            </a:fld>
            <a:endParaRPr lang="en-US"/>
          </a:p>
        </p:txBody>
      </p:sp>
      <p:sp>
        <p:nvSpPr>
          <p:cNvPr id="276483" name="Rectangle 2"/>
          <p:cNvSpPr>
            <a:spLocks noGrp="1" noRot="1" noChangeAspect="1" noChangeArrowheads="1" noTextEdit="1"/>
          </p:cNvSpPr>
          <p:nvPr>
            <p:ph type="sldImg"/>
          </p:nvPr>
        </p:nvSpPr>
        <p:spPr>
          <a:ln/>
        </p:spPr>
      </p:sp>
      <p:sp>
        <p:nvSpPr>
          <p:cNvPr id="2764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p>
            <a:fld id="{4A3E4B8E-E0A7-4C07-8832-7E0B625288EC}" type="slidenum">
              <a:rPr lang="en-US" smtClean="0"/>
              <a:pPr/>
              <a:t>26</a:t>
            </a:fld>
            <a:endParaRPr lang="en-US"/>
          </a:p>
        </p:txBody>
      </p:sp>
      <p:sp>
        <p:nvSpPr>
          <p:cNvPr id="277507" name="Rectangle 2"/>
          <p:cNvSpPr>
            <a:spLocks noGrp="1" noRot="1" noChangeAspect="1" noChangeArrowheads="1" noTextEdit="1"/>
          </p:cNvSpPr>
          <p:nvPr>
            <p:ph type="sldImg"/>
          </p:nvPr>
        </p:nvSpPr>
        <p:spPr>
          <a:ln/>
        </p:spPr>
      </p:sp>
      <p:sp>
        <p:nvSpPr>
          <p:cNvPr id="2775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p:spPr>
        <p:txBody>
          <a:bodyPr/>
          <a:lstStyle/>
          <a:p>
            <a:fld id="{4CF3C470-40E6-4B8E-976A-459148131D23}" type="slidenum">
              <a:rPr lang="en-US" smtClean="0"/>
              <a:pPr/>
              <a:t>27</a:t>
            </a:fld>
            <a:endParaRPr lang="en-US"/>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p>
            <a:fld id="{33560233-F09D-4C1F-AF1C-95EF1EA0AA12}" type="slidenum">
              <a:rPr lang="en-US" smtClean="0"/>
              <a:pPr/>
              <a:t>28</a:t>
            </a:fld>
            <a:endParaRPr lang="en-US"/>
          </a:p>
        </p:txBody>
      </p:sp>
      <p:sp>
        <p:nvSpPr>
          <p:cNvPr id="279555" name="Rectangle 2"/>
          <p:cNvSpPr>
            <a:spLocks noGrp="1" noRot="1" noChangeAspect="1" noChangeArrowheads="1" noTextEdit="1"/>
          </p:cNvSpPr>
          <p:nvPr>
            <p:ph type="sldImg"/>
          </p:nvPr>
        </p:nvSpPr>
        <p:spPr>
          <a:ln/>
        </p:spPr>
      </p:sp>
      <p:sp>
        <p:nvSpPr>
          <p:cNvPr id="2795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p:spPr>
        <p:txBody>
          <a:bodyPr/>
          <a:lstStyle/>
          <a:p>
            <a:fld id="{640FD46B-8985-4E8B-BA66-69A706655FA5}" type="slidenum">
              <a:rPr lang="en-US" smtClean="0"/>
              <a:pPr/>
              <a:t>29</a:t>
            </a:fld>
            <a:endParaRPr lang="en-US"/>
          </a:p>
        </p:txBody>
      </p:sp>
      <p:sp>
        <p:nvSpPr>
          <p:cNvPr id="280579" name="Rectangle 2"/>
          <p:cNvSpPr>
            <a:spLocks noGrp="1" noRot="1" noChangeAspect="1" noChangeArrowheads="1" noTextEdit="1"/>
          </p:cNvSpPr>
          <p:nvPr>
            <p:ph type="sldImg"/>
          </p:nvPr>
        </p:nvSpPr>
        <p:spPr>
          <a:ln/>
        </p:spPr>
      </p:sp>
      <p:sp>
        <p:nvSpPr>
          <p:cNvPr id="2805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p:spPr>
        <p:txBody>
          <a:bodyPr/>
          <a:lstStyle/>
          <a:p>
            <a:fld id="{89110197-2B7E-4C9E-869D-E0106874E055}" type="slidenum">
              <a:rPr lang="en-US" smtClean="0"/>
              <a:pPr/>
              <a:t>30</a:t>
            </a:fld>
            <a:endParaRPr lang="en-US"/>
          </a:p>
        </p:txBody>
      </p:sp>
      <p:sp>
        <p:nvSpPr>
          <p:cNvPr id="281603" name="Rectangle 2"/>
          <p:cNvSpPr>
            <a:spLocks noGrp="1" noRot="1" noChangeAspect="1" noChangeArrowheads="1" noTextEdit="1"/>
          </p:cNvSpPr>
          <p:nvPr>
            <p:ph type="sldImg"/>
          </p:nvPr>
        </p:nvSpPr>
        <p:spPr>
          <a:ln/>
        </p:spPr>
      </p:sp>
      <p:sp>
        <p:nvSpPr>
          <p:cNvPr id="2816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p:spPr>
        <p:txBody>
          <a:bodyPr/>
          <a:lstStyle/>
          <a:p>
            <a:fld id="{D6AC830E-BB86-4969-8C3C-F7C583A7EBD4}" type="slidenum">
              <a:rPr lang="en-US" smtClean="0"/>
              <a:pPr/>
              <a:t>31</a:t>
            </a:fld>
            <a:endParaRPr lang="en-US"/>
          </a:p>
        </p:txBody>
      </p:sp>
      <p:sp>
        <p:nvSpPr>
          <p:cNvPr id="282627" name="Rectangle 2"/>
          <p:cNvSpPr>
            <a:spLocks noGrp="1" noRot="1" noChangeAspect="1" noChangeArrowheads="1" noTextEdit="1"/>
          </p:cNvSpPr>
          <p:nvPr>
            <p:ph type="sldImg"/>
          </p:nvPr>
        </p:nvSpPr>
        <p:spPr>
          <a:ln/>
        </p:spPr>
      </p:sp>
      <p:sp>
        <p:nvSpPr>
          <p:cNvPr id="282628" name="Rectangle 3"/>
          <p:cNvSpPr>
            <a:spLocks noGrp="1" noChangeArrowheads="1"/>
          </p:cNvSpPr>
          <p:nvPr>
            <p:ph type="body" idx="1"/>
          </p:nvPr>
        </p:nvSpPr>
        <p:spPr>
          <a:noFill/>
          <a:ln/>
        </p:spPr>
        <p:txBody>
          <a:bodyPr/>
          <a:lstStyle/>
          <a:p>
            <a:r>
              <a:rPr lang="en-US" dirty="0"/>
              <a:t>The idea of meta locking is to use short term locks to allow mutually</a:t>
            </a:r>
            <a:r>
              <a:rPr lang="en-US" baseline="0" dirty="0"/>
              <a:t> exclusive access to a lock variable that controls </a:t>
            </a:r>
            <a:r>
              <a:rPr lang="en-US" dirty="0"/>
              <a:t>longer state locks. This</a:t>
            </a:r>
            <a:r>
              <a:rPr lang="en-US" baseline="0" dirty="0"/>
              <a:t> is a useful approach and the one taken for example when implementing the locks used in the  “synchronized” calls in Java. </a:t>
            </a:r>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a:noFill/>
        </p:spPr>
        <p:txBody>
          <a:bodyPr/>
          <a:lstStyle/>
          <a:p>
            <a:fld id="{62CA6895-004B-4DF7-9022-8FEB7E923BB8}" type="slidenum">
              <a:rPr lang="en-US" smtClean="0"/>
              <a:pPr/>
              <a:t>32</a:t>
            </a:fld>
            <a:endParaRPr lang="en-US"/>
          </a:p>
        </p:txBody>
      </p:sp>
      <p:sp>
        <p:nvSpPr>
          <p:cNvPr id="283651" name="Rectangle 2"/>
          <p:cNvSpPr>
            <a:spLocks noGrp="1" noRot="1" noChangeAspect="1" noChangeArrowheads="1" noTextEdit="1"/>
          </p:cNvSpPr>
          <p:nvPr>
            <p:ph type="sldImg"/>
          </p:nvPr>
        </p:nvSpPr>
        <p:spPr>
          <a:ln/>
        </p:spPr>
      </p:sp>
      <p:sp>
        <p:nvSpPr>
          <p:cNvPr id="2836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C446AEB7-247E-4A0C-B871-D17A70D01425}" type="slidenum">
              <a:rPr lang="en-US" sz="1200" b="0">
                <a:latin typeface="Marlett" pitchFamily="2" charset="2"/>
              </a:rPr>
              <a:pPr algn="r" defTabSz="931863">
                <a:spcBef>
                  <a:spcPct val="0"/>
                </a:spcBef>
              </a:pPr>
              <a:t>33</a:t>
            </a:fld>
            <a:endParaRPr lang="en-US" sz="1200" b="0">
              <a:latin typeface="Marlett" pitchFamily="2" charset="2"/>
            </a:endParaRPr>
          </a:p>
        </p:txBody>
      </p:sp>
      <p:sp>
        <p:nvSpPr>
          <p:cNvPr id="535555" name="Rectangle 2"/>
          <p:cNvSpPr>
            <a:spLocks noGrp="1" noRot="1" noChangeAspect="1" noChangeArrowheads="1" noTextEdit="1"/>
          </p:cNvSpPr>
          <p:nvPr>
            <p:ph type="sldImg"/>
          </p:nvPr>
        </p:nvSpPr>
        <p:spPr>
          <a:ln/>
        </p:spPr>
      </p:sp>
      <p:sp>
        <p:nvSpPr>
          <p:cNvPr id="5355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D957DCE0-7B0E-4FA4-A58A-04A9332F9C41}" type="slidenum">
              <a:rPr lang="en-US" sz="1200" b="0">
                <a:latin typeface="Marlett" pitchFamily="2" charset="2"/>
              </a:rPr>
              <a:pPr algn="r" defTabSz="931863">
                <a:spcBef>
                  <a:spcPct val="0"/>
                </a:spcBef>
              </a:pPr>
              <a:t>34</a:t>
            </a:fld>
            <a:endParaRPr lang="en-US" sz="1200" b="0">
              <a:latin typeface="Marlett" pitchFamily="2" charset="2"/>
            </a:endParaRPr>
          </a:p>
        </p:txBody>
      </p:sp>
      <p:sp>
        <p:nvSpPr>
          <p:cNvPr id="533507" name="Rectangle 2"/>
          <p:cNvSpPr>
            <a:spLocks noGrp="1" noRot="1" noChangeAspect="1" noChangeArrowheads="1" noTextEdit="1"/>
          </p:cNvSpPr>
          <p:nvPr>
            <p:ph type="sldImg"/>
          </p:nvPr>
        </p:nvSpPr>
        <p:spPr>
          <a:ln/>
        </p:spPr>
      </p:sp>
      <p:sp>
        <p:nvSpPr>
          <p:cNvPr id="5335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4580E27E-7379-4B2B-9DC7-756B7001641B}" type="slidenum">
              <a:rPr lang="en-US" sz="1200" b="0">
                <a:latin typeface="Marlett" pitchFamily="2" charset="2"/>
              </a:rPr>
              <a:pPr algn="r" defTabSz="931863">
                <a:spcBef>
                  <a:spcPct val="0"/>
                </a:spcBef>
              </a:pPr>
              <a:t>35</a:t>
            </a:fld>
            <a:endParaRPr lang="en-US" sz="1200" b="0">
              <a:latin typeface="Marlett" pitchFamily="2" charset="2"/>
            </a:endParaRPr>
          </a:p>
        </p:txBody>
      </p:sp>
      <p:sp>
        <p:nvSpPr>
          <p:cNvPr id="537603" name="Rectangle 2"/>
          <p:cNvSpPr>
            <a:spLocks noGrp="1" noRot="1" noChangeAspect="1" noChangeArrowheads="1" noTextEdit="1"/>
          </p:cNvSpPr>
          <p:nvPr>
            <p:ph type="sldImg"/>
          </p:nvPr>
        </p:nvSpPr>
        <p:spPr>
          <a:ln/>
        </p:spPr>
      </p:sp>
      <p:sp>
        <p:nvSpPr>
          <p:cNvPr id="5376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p:spPr>
        <p:txBody>
          <a:bodyPr/>
          <a:lstStyle/>
          <a:p>
            <a:fld id="{E3340E25-8EF1-49E6-A9E2-2731A9A53299}" type="slidenum">
              <a:rPr lang="en-US" smtClean="0"/>
              <a:pPr/>
              <a:t>36</a:t>
            </a:fld>
            <a:endParaRPr lang="en-US"/>
          </a:p>
        </p:txBody>
      </p:sp>
      <p:sp>
        <p:nvSpPr>
          <p:cNvPr id="284675" name="Rectangle 2"/>
          <p:cNvSpPr>
            <a:spLocks noGrp="1" noRot="1" noChangeAspect="1" noChangeArrowheads="1" noTextEdit="1"/>
          </p:cNvSpPr>
          <p:nvPr>
            <p:ph type="sldImg"/>
          </p:nvPr>
        </p:nvSpPr>
        <p:spPr>
          <a:ln/>
        </p:spPr>
      </p:sp>
      <p:sp>
        <p:nvSpPr>
          <p:cNvPr id="2846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p>
            <a:fld id="{12EFC594-5594-4295-9215-32097D968105}" type="slidenum">
              <a:rPr lang="en-US" smtClean="0"/>
              <a:pPr/>
              <a:t>37</a:t>
            </a:fld>
            <a:endParaRPr lang="en-US"/>
          </a:p>
        </p:txBody>
      </p:sp>
      <p:sp>
        <p:nvSpPr>
          <p:cNvPr id="285699" name="Rectangle 2"/>
          <p:cNvSpPr>
            <a:spLocks noGrp="1" noRot="1" noChangeAspect="1" noChangeArrowheads="1" noTextEdit="1"/>
          </p:cNvSpPr>
          <p:nvPr>
            <p:ph type="sldImg"/>
          </p:nvPr>
        </p:nvSpPr>
        <p:spPr>
          <a:ln/>
        </p:spPr>
      </p:sp>
      <p:sp>
        <p:nvSpPr>
          <p:cNvPr id="2857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a:noFill/>
        </p:spPr>
        <p:txBody>
          <a:bodyPr/>
          <a:lstStyle/>
          <a:p>
            <a:fld id="{216D07B4-D33B-4D5E-BEA5-0A39E63FBCFB}" type="slidenum">
              <a:rPr lang="en-US" smtClean="0"/>
              <a:pPr/>
              <a:t>38</a:t>
            </a:fld>
            <a:endParaRPr lang="en-US"/>
          </a:p>
        </p:txBody>
      </p:sp>
      <p:sp>
        <p:nvSpPr>
          <p:cNvPr id="286723" name="Rectangle 2"/>
          <p:cNvSpPr>
            <a:spLocks noGrp="1" noRot="1" noChangeAspect="1" noChangeArrowheads="1" noTextEdit="1"/>
          </p:cNvSpPr>
          <p:nvPr>
            <p:ph type="sldImg"/>
          </p:nvPr>
        </p:nvSpPr>
        <p:spPr>
          <a:ln/>
        </p:spPr>
      </p:sp>
      <p:sp>
        <p:nvSpPr>
          <p:cNvPr id="2867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p>
            <a:fld id="{4F2C4ADF-E8A8-4530-87DC-E3E2BE119219}" type="slidenum">
              <a:rPr lang="en-US" smtClean="0"/>
              <a:pPr/>
              <a:t>39</a:t>
            </a:fld>
            <a:endParaRPr lang="en-US"/>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p:spPr>
        <p:txBody>
          <a:bodyPr/>
          <a:lstStyle/>
          <a:p>
            <a:fld id="{312DAE5D-39E6-48A5-9CE9-FDE7E996C733}" type="slidenum">
              <a:rPr lang="en-US" smtClean="0"/>
              <a:pPr/>
              <a:t>40</a:t>
            </a:fld>
            <a:endParaRPr lang="en-US"/>
          </a:p>
        </p:txBody>
      </p:sp>
      <p:sp>
        <p:nvSpPr>
          <p:cNvPr id="288771" name="Rectangle 2"/>
          <p:cNvSpPr>
            <a:spLocks noGrp="1" noRot="1" noChangeAspect="1" noChangeArrowheads="1" noTextEdit="1"/>
          </p:cNvSpPr>
          <p:nvPr>
            <p:ph type="sldImg"/>
          </p:nvPr>
        </p:nvSpPr>
        <p:spPr>
          <a:ln/>
        </p:spPr>
      </p:sp>
      <p:sp>
        <p:nvSpPr>
          <p:cNvPr id="2887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a:noFill/>
        </p:spPr>
        <p:txBody>
          <a:bodyPr/>
          <a:lstStyle/>
          <a:p>
            <a:fld id="{39EC4CAC-AD49-428B-A6D5-54AB978F931D}" type="slidenum">
              <a:rPr lang="en-US" smtClean="0"/>
              <a:pPr/>
              <a:t>41</a:t>
            </a:fld>
            <a:endParaRPr lang="en-US"/>
          </a:p>
        </p:txBody>
      </p:sp>
      <p:sp>
        <p:nvSpPr>
          <p:cNvPr id="289795" name="Rectangle 2"/>
          <p:cNvSpPr>
            <a:spLocks noGrp="1" noRot="1" noChangeAspect="1" noChangeArrowheads="1" noTextEdit="1"/>
          </p:cNvSpPr>
          <p:nvPr>
            <p:ph type="sldImg"/>
          </p:nvPr>
        </p:nvSpPr>
        <p:spPr>
          <a:ln/>
        </p:spPr>
      </p:sp>
      <p:sp>
        <p:nvSpPr>
          <p:cNvPr id="2897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p:spPr>
        <p:txBody>
          <a:bodyPr/>
          <a:lstStyle/>
          <a:p>
            <a:fld id="{94F8EA90-668A-4ADA-ACEF-22CE1838D044}" type="slidenum">
              <a:rPr lang="en-US" smtClean="0"/>
              <a:pPr/>
              <a:t>42</a:t>
            </a:fld>
            <a:endParaRPr lang="en-US"/>
          </a:p>
        </p:txBody>
      </p:sp>
      <p:sp>
        <p:nvSpPr>
          <p:cNvPr id="290819" name="Rectangle 2"/>
          <p:cNvSpPr>
            <a:spLocks noGrp="1" noRot="1" noChangeAspect="1" noChangeArrowheads="1" noTextEdit="1"/>
          </p:cNvSpPr>
          <p:nvPr>
            <p:ph type="sldImg"/>
          </p:nvPr>
        </p:nvSpPr>
        <p:spPr>
          <a:ln/>
        </p:spPr>
      </p:sp>
      <p:sp>
        <p:nvSpPr>
          <p:cNvPr id="2908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a:noFill/>
        </p:spPr>
        <p:txBody>
          <a:bodyPr/>
          <a:lstStyle/>
          <a:p>
            <a:fld id="{1EF6E3B3-B110-4E34-9A67-55E732BA34E2}" type="slidenum">
              <a:rPr lang="en-US" smtClean="0"/>
              <a:pPr/>
              <a:t>43</a:t>
            </a:fld>
            <a:endParaRPr lang="en-US"/>
          </a:p>
        </p:txBody>
      </p:sp>
      <p:sp>
        <p:nvSpPr>
          <p:cNvPr id="291843" name="Rectangle 2"/>
          <p:cNvSpPr>
            <a:spLocks noGrp="1" noRot="1" noChangeAspect="1" noChangeArrowheads="1" noTextEdit="1"/>
          </p:cNvSpPr>
          <p:nvPr>
            <p:ph type="sldImg"/>
          </p:nvPr>
        </p:nvSpPr>
        <p:spPr>
          <a:ln/>
        </p:spPr>
      </p:sp>
      <p:sp>
        <p:nvSpPr>
          <p:cNvPr id="291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p:spPr>
        <p:txBody>
          <a:bodyPr/>
          <a:lstStyle/>
          <a:p>
            <a:fld id="{208B7FA6-5D33-4FBE-BE3B-BA4D4F7EDD48}" type="slidenum">
              <a:rPr lang="en-US" smtClean="0"/>
              <a:pPr/>
              <a:t>44</a:t>
            </a:fld>
            <a:endParaRPr lang="en-US"/>
          </a:p>
        </p:txBody>
      </p:sp>
      <p:sp>
        <p:nvSpPr>
          <p:cNvPr id="292867" name="Rectangle 2"/>
          <p:cNvSpPr>
            <a:spLocks noGrp="1" noRot="1" noChangeAspect="1" noChangeArrowheads="1" noTextEdit="1"/>
          </p:cNvSpPr>
          <p:nvPr>
            <p:ph type="sldImg"/>
          </p:nvPr>
        </p:nvSpPr>
        <p:spPr>
          <a:ln/>
        </p:spPr>
      </p:sp>
      <p:sp>
        <p:nvSpPr>
          <p:cNvPr id="2928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p>
            <a:fld id="{3F13BDBA-71B6-4C29-B539-6FE668596712}" type="slidenum">
              <a:rPr lang="en-US" smtClean="0"/>
              <a:pPr/>
              <a:t>45</a:t>
            </a:fld>
            <a:endParaRPr lang="en-US"/>
          </a:p>
        </p:txBody>
      </p:sp>
      <p:sp>
        <p:nvSpPr>
          <p:cNvPr id="293891" name="Rectangle 2"/>
          <p:cNvSpPr>
            <a:spLocks noGrp="1" noRot="1" noChangeAspect="1" noChangeArrowheads="1" noTextEdit="1"/>
          </p:cNvSpPr>
          <p:nvPr>
            <p:ph type="sldImg"/>
          </p:nvPr>
        </p:nvSpPr>
        <p:spPr>
          <a:ln/>
        </p:spPr>
      </p:sp>
      <p:sp>
        <p:nvSpPr>
          <p:cNvPr id="2938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a:noFill/>
        </p:spPr>
        <p:txBody>
          <a:bodyPr/>
          <a:lstStyle/>
          <a:p>
            <a:fld id="{275CB1E0-F322-4544-8D40-751E6F81D1FE}" type="slidenum">
              <a:rPr lang="en-US" smtClean="0"/>
              <a:pPr/>
              <a:t>46</a:t>
            </a:fld>
            <a:endParaRPr lang="en-US"/>
          </a:p>
        </p:txBody>
      </p:sp>
      <p:sp>
        <p:nvSpPr>
          <p:cNvPr id="294915" name="Rectangle 2"/>
          <p:cNvSpPr>
            <a:spLocks noGrp="1" noRot="1" noChangeAspect="1" noChangeArrowheads="1" noTextEdit="1"/>
          </p:cNvSpPr>
          <p:nvPr>
            <p:ph type="sldImg"/>
          </p:nvPr>
        </p:nvSpPr>
        <p:spPr>
          <a:ln/>
        </p:spPr>
      </p:sp>
      <p:sp>
        <p:nvSpPr>
          <p:cNvPr id="2949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a:noFill/>
        </p:spPr>
        <p:txBody>
          <a:bodyPr/>
          <a:lstStyle/>
          <a:p>
            <a:fld id="{83D8E787-C1C8-4BDC-AE65-304494260FD2}" type="slidenum">
              <a:rPr lang="en-US" smtClean="0"/>
              <a:pPr/>
              <a:t>47</a:t>
            </a:fld>
            <a:endParaRPr lang="en-US"/>
          </a:p>
        </p:txBody>
      </p:sp>
      <p:sp>
        <p:nvSpPr>
          <p:cNvPr id="295939" name="Rectangle 2"/>
          <p:cNvSpPr>
            <a:spLocks noGrp="1" noRot="1" noChangeAspect="1" noChangeArrowheads="1" noTextEdit="1"/>
          </p:cNvSpPr>
          <p:nvPr>
            <p:ph type="sldImg"/>
          </p:nvPr>
        </p:nvSpPr>
        <p:spPr>
          <a:ln/>
        </p:spPr>
      </p:sp>
      <p:sp>
        <p:nvSpPr>
          <p:cNvPr id="2959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p:spPr>
        <p:txBody>
          <a:bodyPr/>
          <a:lstStyle/>
          <a:p>
            <a:fld id="{F7CC8EB5-6340-4903-9D11-A59279DFC7FA}" type="slidenum">
              <a:rPr lang="en-US" smtClean="0"/>
              <a:pPr/>
              <a:t>48</a:t>
            </a:fld>
            <a:endParaRPr lang="en-US"/>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p:spPr>
        <p:txBody>
          <a:bodyPr/>
          <a:lstStyle/>
          <a:p>
            <a:r>
              <a:rPr lang="en-US" dirty="0"/>
              <a:t>Note that we are using synchronized locks as the short term locks in our implementation, even though ironically Java itself uses a short term lock</a:t>
            </a:r>
            <a:r>
              <a:rPr lang="en-US" baseline="0" dirty="0"/>
              <a:t> to control another long term lock within the synchronized method implementation itself. </a:t>
            </a:r>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p:spPr>
        <p:txBody>
          <a:bodyPr/>
          <a:lstStyle/>
          <a:p>
            <a:fld id="{27B3FFDD-D760-4464-AC9C-72624AD32145}" type="slidenum">
              <a:rPr lang="en-US" smtClean="0"/>
              <a:pPr/>
              <a:t>49</a:t>
            </a:fld>
            <a:endParaRPr lang="en-US"/>
          </a:p>
        </p:txBody>
      </p:sp>
      <p:sp>
        <p:nvSpPr>
          <p:cNvPr id="297987" name="Rectangle 2"/>
          <p:cNvSpPr>
            <a:spLocks noGrp="1" noRot="1" noChangeAspect="1" noChangeArrowheads="1" noTextEdit="1"/>
          </p:cNvSpPr>
          <p:nvPr>
            <p:ph type="sldImg"/>
          </p:nvPr>
        </p:nvSpPr>
        <p:spPr>
          <a:ln/>
        </p:spPr>
      </p:sp>
      <p:sp>
        <p:nvSpPr>
          <p:cNvPr id="2979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p>
            <a:fld id="{6BE2447E-5EC9-4979-9CE8-0DD2BBAAE160}" type="slidenum">
              <a:rPr lang="en-US" smtClean="0"/>
              <a:pPr/>
              <a:t>50</a:t>
            </a:fld>
            <a:endParaRPr lang="en-US"/>
          </a:p>
        </p:txBody>
      </p:sp>
      <p:sp>
        <p:nvSpPr>
          <p:cNvPr id="299011" name="Rectangle 2"/>
          <p:cNvSpPr>
            <a:spLocks noGrp="1" noRot="1" noChangeAspect="1" noChangeArrowheads="1" noTextEdit="1"/>
          </p:cNvSpPr>
          <p:nvPr>
            <p:ph type="sldImg"/>
          </p:nvPr>
        </p:nvSpPr>
        <p:spPr>
          <a:ln/>
        </p:spPr>
      </p:sp>
      <p:sp>
        <p:nvSpPr>
          <p:cNvPr id="299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631AF889-5137-4228-8C94-9CE8D8E6B8EA}" type="slidenum">
              <a:rPr lang="en-US" smtClean="0"/>
              <a:pPr/>
              <a:t>51</a:t>
            </a:fld>
            <a:endParaRPr lang="en-US"/>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BF035F8D-3BC2-4FDC-AA90-015A072600D4}" type="slidenum">
              <a:rPr lang="en-US" smtClean="0"/>
              <a:pPr/>
              <a:t>52</a:t>
            </a:fld>
            <a:endParaRPr lang="en-US"/>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B22F8BA1-F200-4D2B-B9D4-C288F99472BE}" type="slidenum">
              <a:rPr lang="en-US" smtClean="0"/>
              <a:pPr/>
              <a:t>53</a:t>
            </a:fld>
            <a:endParaRPr lang="en-US"/>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p:spPr>
        <p:txBody>
          <a:bodyPr/>
          <a:lstStyle/>
          <a:p>
            <a:fld id="{101F98C0-5CA5-4DD2-848E-FCA2E6FFCD66}" type="slidenum">
              <a:rPr lang="en-US" smtClean="0"/>
              <a:pPr/>
              <a:t>54</a:t>
            </a:fld>
            <a:endParaRPr lang="en-US"/>
          </a:p>
        </p:txBody>
      </p:sp>
      <p:sp>
        <p:nvSpPr>
          <p:cNvPr id="303107" name="Rectangle 2"/>
          <p:cNvSpPr>
            <a:spLocks noGrp="1" noRot="1" noChangeAspect="1" noChangeArrowheads="1" noTextEdit="1"/>
          </p:cNvSpPr>
          <p:nvPr>
            <p:ph type="sldImg"/>
          </p:nvPr>
        </p:nvSpPr>
        <p:spPr>
          <a:ln/>
        </p:spPr>
      </p:sp>
      <p:sp>
        <p:nvSpPr>
          <p:cNvPr id="3031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p>
            <a:fld id="{4558A427-C5E3-44E2-80C2-BB620C3F2580}" type="slidenum">
              <a:rPr lang="en-US" smtClean="0"/>
              <a:pPr/>
              <a:t>55</a:t>
            </a:fld>
            <a:endParaRPr lang="en-US"/>
          </a:p>
        </p:txBody>
      </p:sp>
      <p:sp>
        <p:nvSpPr>
          <p:cNvPr id="304131" name="Rectangle 2"/>
          <p:cNvSpPr>
            <a:spLocks noGrp="1" noRot="1" noChangeAspect="1" noChangeArrowheads="1" noTextEdit="1"/>
          </p:cNvSpPr>
          <p:nvPr>
            <p:ph type="sldImg"/>
          </p:nvPr>
        </p:nvSpPr>
        <p:spPr>
          <a:ln/>
        </p:spPr>
      </p:sp>
      <p:sp>
        <p:nvSpPr>
          <p:cNvPr id="3041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p:spPr>
        <p:txBody>
          <a:bodyPr/>
          <a:lstStyle/>
          <a:p>
            <a:fld id="{2DA8E628-5B68-4910-A312-696429D58337}" type="slidenum">
              <a:rPr lang="en-US" smtClean="0"/>
              <a:pPr/>
              <a:t>56</a:t>
            </a:fld>
            <a:endParaRPr lang="en-US"/>
          </a:p>
        </p:txBody>
      </p:sp>
      <p:sp>
        <p:nvSpPr>
          <p:cNvPr id="305155" name="Rectangle 2"/>
          <p:cNvSpPr>
            <a:spLocks noGrp="1" noRot="1" noChangeAspect="1" noChangeArrowheads="1" noTextEdit="1"/>
          </p:cNvSpPr>
          <p:nvPr>
            <p:ph type="sldImg"/>
          </p:nvPr>
        </p:nvSpPr>
        <p:spPr>
          <a:ln/>
        </p:spPr>
      </p:sp>
      <p:sp>
        <p:nvSpPr>
          <p:cNvPr id="3051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p>
            <a:fld id="{5782F31D-377D-4FB8-B807-5399E5EC9FA8}" type="slidenum">
              <a:rPr lang="en-US" smtClean="0"/>
              <a:pPr/>
              <a:t>57</a:t>
            </a:fld>
            <a:endParaRPr lang="en-US"/>
          </a:p>
        </p:txBody>
      </p:sp>
      <p:sp>
        <p:nvSpPr>
          <p:cNvPr id="306179" name="Rectangle 2"/>
          <p:cNvSpPr>
            <a:spLocks noGrp="1" noRot="1" noChangeAspect="1" noChangeArrowheads="1" noTextEdit="1"/>
          </p:cNvSpPr>
          <p:nvPr>
            <p:ph type="sldImg"/>
          </p:nvPr>
        </p:nvSpPr>
        <p:spPr>
          <a:ln/>
        </p:spPr>
      </p:sp>
      <p:sp>
        <p:nvSpPr>
          <p:cNvPr id="3061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p:spPr>
        <p:txBody>
          <a:bodyPr/>
          <a:lstStyle/>
          <a:p>
            <a:fld id="{4ED31F96-9A41-43FF-BF90-5E4ED88B7D6E}" type="slidenum">
              <a:rPr lang="en-US" smtClean="0"/>
              <a:pPr/>
              <a:t>58</a:t>
            </a:fld>
            <a:endParaRPr lang="en-US"/>
          </a:p>
        </p:txBody>
      </p:sp>
      <p:sp>
        <p:nvSpPr>
          <p:cNvPr id="307203" name="Rectangle 2"/>
          <p:cNvSpPr>
            <a:spLocks noGrp="1" noRot="1" noChangeAspect="1" noChangeArrowheads="1" noTextEdit="1"/>
          </p:cNvSpPr>
          <p:nvPr>
            <p:ph type="sldImg"/>
          </p:nvPr>
        </p:nvSpPr>
        <p:spPr>
          <a:ln/>
        </p:spPr>
      </p:sp>
      <p:sp>
        <p:nvSpPr>
          <p:cNvPr id="3072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p>
            <a:fld id="{BF2E829E-37AA-46B5-9BB2-2DF75B2C5A84}" type="slidenum">
              <a:rPr lang="en-US" smtClean="0"/>
              <a:pPr/>
              <a:t>59</a:t>
            </a:fld>
            <a:endParaRPr lang="en-US"/>
          </a:p>
        </p:txBody>
      </p:sp>
      <p:sp>
        <p:nvSpPr>
          <p:cNvPr id="308227" name="Rectangle 2"/>
          <p:cNvSpPr>
            <a:spLocks noGrp="1" noRot="1" noChangeAspect="1" noChangeArrowheads="1" noTextEdit="1"/>
          </p:cNvSpPr>
          <p:nvPr>
            <p:ph type="sldImg"/>
          </p:nvPr>
        </p:nvSpPr>
        <p:spPr>
          <a:ln/>
        </p:spPr>
      </p:sp>
      <p:sp>
        <p:nvSpPr>
          <p:cNvPr id="3082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p:spPr>
        <p:txBody>
          <a:bodyPr/>
          <a:lstStyle/>
          <a:p>
            <a:fld id="{00B1FC4F-D17C-451F-9FA3-7FB392C1B21E}" type="slidenum">
              <a:rPr lang="en-US" smtClean="0"/>
              <a:pPr/>
              <a:t>60</a:t>
            </a:fld>
            <a:endParaRPr lang="en-US"/>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p>
            <a:fld id="{FBC6B973-E9A9-444F-90DD-31FFC4FAE16A}" type="slidenum">
              <a:rPr lang="en-US" smtClean="0"/>
              <a:pPr/>
              <a:t>61</a:t>
            </a:fld>
            <a:endParaRPr lang="en-US"/>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p>
            <a:fld id="{61332586-90AB-4BE8-B818-84DC4F57366C}" type="slidenum">
              <a:rPr lang="en-US" smtClean="0"/>
              <a:pPr/>
              <a:t>62</a:t>
            </a:fld>
            <a:endParaRPr lang="en-US"/>
          </a:p>
        </p:txBody>
      </p:sp>
      <p:sp>
        <p:nvSpPr>
          <p:cNvPr id="311299" name="Rectangle 2"/>
          <p:cNvSpPr>
            <a:spLocks noGrp="1" noRot="1" noChangeAspect="1" noChangeArrowheads="1" noTextEdit="1"/>
          </p:cNvSpPr>
          <p:nvPr>
            <p:ph type="sldImg"/>
          </p:nvPr>
        </p:nvSpPr>
        <p:spPr>
          <a:ln/>
        </p:spPr>
      </p:sp>
      <p:sp>
        <p:nvSpPr>
          <p:cNvPr id="3113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p>
            <a:fld id="{1D77127B-2F91-456E-A4A3-D4871FEF8052}" type="slidenum">
              <a:rPr lang="en-US" smtClean="0"/>
              <a:pPr/>
              <a:t>63</a:t>
            </a:fld>
            <a:endParaRPr lang="en-US"/>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p:spPr>
        <p:txBody>
          <a:bodyPr/>
          <a:lstStyle/>
          <a:p>
            <a:fld id="{EDF1DF0F-A5FC-4880-ABA2-813DB07C4C41}" type="slidenum">
              <a:rPr lang="en-US" smtClean="0"/>
              <a:pPr/>
              <a:t>64</a:t>
            </a:fld>
            <a:endParaRPr lang="en-US"/>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DB22CC25-FE15-46A5-98BD-D1F1CF9EE668}" type="slidenum">
              <a:rPr lang="en-US" smtClean="0"/>
              <a:pPr/>
              <a:t>65</a:t>
            </a:fld>
            <a:endParaRPr lang="en-US"/>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A08F5F65-27AD-4A9B-B1BC-12E396C9B42F}" type="slidenum">
              <a:rPr lang="en-US" smtClean="0"/>
              <a:pPr/>
              <a:t>66</a:t>
            </a:fld>
            <a:endParaRPr lang="en-US"/>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p>
            <a:fld id="{258E0284-5CED-4001-8ECA-5525EA9EF426}" type="slidenum">
              <a:rPr lang="en-US" smtClean="0"/>
              <a:pPr/>
              <a:t>67</a:t>
            </a:fld>
            <a:endParaRPr lang="en-US"/>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p:spPr>
        <p:txBody>
          <a:bodyPr/>
          <a:lstStyle/>
          <a:p>
            <a:fld id="{F23E5AC3-BD13-4EA1-BB20-8A0C0DB9110C}" type="slidenum">
              <a:rPr lang="en-US" smtClean="0"/>
              <a:pPr/>
              <a:t>68</a:t>
            </a:fld>
            <a:endParaRPr lang="en-US"/>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D0B920F2-E7DB-40E1-A193-A618D358AEC1}" type="slidenum">
              <a:rPr lang="en-US" smtClean="0"/>
              <a:pPr/>
              <a:t>69</a:t>
            </a:fld>
            <a:endParaRPr lang="en-US"/>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p>
            <a:fld id="{9F5C072B-A4C2-44CF-8227-AB124BB65F63}" type="slidenum">
              <a:rPr lang="en-US" smtClean="0"/>
              <a:pPr/>
              <a:t>70</a:t>
            </a:fld>
            <a:endParaRPr lang="en-US"/>
          </a:p>
        </p:txBody>
      </p:sp>
      <p:sp>
        <p:nvSpPr>
          <p:cNvPr id="319491" name="Rectangle 2"/>
          <p:cNvSpPr>
            <a:spLocks noGrp="1" noRot="1" noChangeAspect="1" noChangeArrowheads="1" noTextEdit="1"/>
          </p:cNvSpPr>
          <p:nvPr>
            <p:ph type="sldImg"/>
          </p:nvPr>
        </p:nvSpPr>
        <p:spPr>
          <a:ln/>
        </p:spPr>
      </p:sp>
      <p:sp>
        <p:nvSpPr>
          <p:cNvPr id="3194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p>
            <a:fld id="{C7A675D8-7ED5-4D74-9D47-0887B96DF7B7}" type="slidenum">
              <a:rPr lang="en-US" smtClean="0"/>
              <a:pPr/>
              <a:t>71</a:t>
            </a:fld>
            <a:endParaRPr lang="en-US"/>
          </a:p>
        </p:txBody>
      </p:sp>
      <p:sp>
        <p:nvSpPr>
          <p:cNvPr id="320515" name="Rectangle 2"/>
          <p:cNvSpPr>
            <a:spLocks noGrp="1" noRot="1" noChangeAspect="1" noChangeArrowheads="1" noTextEdit="1"/>
          </p:cNvSpPr>
          <p:nvPr>
            <p:ph type="sldImg"/>
          </p:nvPr>
        </p:nvSpPr>
        <p:spPr>
          <a:ln/>
        </p:spPr>
      </p:sp>
      <p:sp>
        <p:nvSpPr>
          <p:cNvPr id="3205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p>
            <a:fld id="{F6F5A646-9EB3-4C80-91A9-1EBCEFB846D5}" type="slidenum">
              <a:rPr lang="en-US" smtClean="0"/>
              <a:pPr/>
              <a:t>72</a:t>
            </a:fld>
            <a:endParaRPr lang="en-US"/>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p>
            <a:fld id="{F6F5A646-9EB3-4C80-91A9-1EBCEFB846D5}" type="slidenum">
              <a:rPr lang="en-US" smtClean="0"/>
              <a:pPr/>
              <a:t>73</a:t>
            </a:fld>
            <a:endParaRPr lang="en-US"/>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a:solidFill>
                  <a:srgbClr val="FF0000"/>
                </a:solidFill>
              </a:rPr>
              <a:t>Why is it that no thread acquires the lock between the two lines?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dirty="0">
              <a:solidFill>
                <a:srgbClr val="FF0000"/>
              </a:solidFill>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a typeface="+mn-ea"/>
                <a:cs typeface="+mn-cs"/>
              </a:rPr>
              <a:t>Because all the methods accessing the node are synchronized. It is not possible for two invocations of synchronized methods on the same object to interleave. When one thread is executing a synchronized method for an object, all other threads that invoke synchronized methods for the same object block (suspend execution) until the first thread is done with the object.</a:t>
            </a:r>
            <a:endParaRPr lang="en-US" sz="1200" dirty="0">
              <a:solidFill>
                <a:srgbClr val="FF0000"/>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p>
            <a:fld id="{34A7C091-52A4-4C8E-8C37-3DC53A77F120}" type="slidenum">
              <a:rPr lang="en-US" smtClean="0"/>
              <a:pPr/>
              <a:t>74</a:t>
            </a:fld>
            <a:endParaRPr lang="en-US"/>
          </a:p>
        </p:txBody>
      </p:sp>
      <p:sp>
        <p:nvSpPr>
          <p:cNvPr id="322563" name="Rectangle 2"/>
          <p:cNvSpPr>
            <a:spLocks noGrp="1" noRot="1" noChangeAspect="1" noChangeArrowheads="1" noTextEdit="1"/>
          </p:cNvSpPr>
          <p:nvPr>
            <p:ph type="sldImg"/>
          </p:nvPr>
        </p:nvSpPr>
        <p:spPr>
          <a:ln/>
        </p:spPr>
      </p:sp>
      <p:sp>
        <p:nvSpPr>
          <p:cNvPr id="3225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p>
            <a:fld id="{BA2936C4-A023-4BDB-80BA-A1F44BE96B0F}" type="slidenum">
              <a:rPr lang="en-US" smtClean="0"/>
              <a:pPr/>
              <a:t>75</a:t>
            </a:fld>
            <a:endParaRPr lang="en-US"/>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p>
            <a:fld id="{6EC281EF-68D3-4B61-A8EE-45794319A890}" type="slidenum">
              <a:rPr lang="en-US" smtClean="0"/>
              <a:pPr/>
              <a:t>76</a:t>
            </a:fld>
            <a:endParaRPr lang="en-US"/>
          </a:p>
        </p:txBody>
      </p:sp>
      <p:sp>
        <p:nvSpPr>
          <p:cNvPr id="324611" name="Rectangle 2"/>
          <p:cNvSpPr>
            <a:spLocks noGrp="1" noRot="1" noChangeAspect="1" noChangeArrowheads="1" noTextEdit="1"/>
          </p:cNvSpPr>
          <p:nvPr>
            <p:ph type="sldImg"/>
          </p:nvPr>
        </p:nvSpPr>
        <p:spPr>
          <a:ln/>
        </p:spPr>
      </p:sp>
      <p:sp>
        <p:nvSpPr>
          <p:cNvPr id="3246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p:spPr>
        <p:txBody>
          <a:bodyPr/>
          <a:lstStyle/>
          <a:p>
            <a:fld id="{CE17C52F-B8F3-4B53-A6B4-0193061AE0C2}" type="slidenum">
              <a:rPr lang="en-US" smtClean="0"/>
              <a:pPr/>
              <a:t>77</a:t>
            </a:fld>
            <a:endParaRPr lang="en-US"/>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p>
            <a:fld id="{18F0186B-C048-4555-82B0-27191B2D0282}" type="slidenum">
              <a:rPr lang="en-US" smtClean="0"/>
              <a:pPr/>
              <a:t>78</a:t>
            </a:fld>
            <a:endParaRPr lang="en-US"/>
          </a:p>
        </p:txBody>
      </p:sp>
      <p:sp>
        <p:nvSpPr>
          <p:cNvPr id="326659" name="Rectangle 2"/>
          <p:cNvSpPr>
            <a:spLocks noGrp="1" noRot="1" noChangeAspect="1" noChangeArrowheads="1" noTextEdit="1"/>
          </p:cNvSpPr>
          <p:nvPr>
            <p:ph type="sldImg"/>
          </p:nvPr>
        </p:nvSpPr>
        <p:spPr>
          <a:ln/>
        </p:spPr>
      </p:sp>
      <p:sp>
        <p:nvSpPr>
          <p:cNvPr id="3266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a:noFill/>
        </p:spPr>
        <p:txBody>
          <a:bodyPr/>
          <a:lstStyle/>
          <a:p>
            <a:fld id="{7DB2A211-B58F-4156-BE80-5E8BB59EE0B2}" type="slidenum">
              <a:rPr lang="en-US" smtClean="0"/>
              <a:pPr/>
              <a:t>79</a:t>
            </a:fld>
            <a:endParaRPr lang="en-US"/>
          </a:p>
        </p:txBody>
      </p:sp>
      <p:sp>
        <p:nvSpPr>
          <p:cNvPr id="327683" name="Rectangle 2"/>
          <p:cNvSpPr>
            <a:spLocks noGrp="1" noRot="1" noChangeAspect="1" noChangeArrowheads="1" noTextEdit="1"/>
          </p:cNvSpPr>
          <p:nvPr>
            <p:ph type="sldImg"/>
          </p:nvPr>
        </p:nvSpPr>
        <p:spPr>
          <a:ln/>
        </p:spPr>
      </p:sp>
      <p:sp>
        <p:nvSpPr>
          <p:cNvPr id="3276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p:spPr>
        <p:txBody>
          <a:bodyPr/>
          <a:lstStyle/>
          <a:p>
            <a:fld id="{6EA7F95F-FCCA-4E67-B776-7708D3CA16E8}" type="slidenum">
              <a:rPr lang="en-US" smtClean="0"/>
              <a:pPr/>
              <a:t>80</a:t>
            </a:fld>
            <a:endParaRPr lang="en-US"/>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p:spPr>
        <p:txBody>
          <a:bodyPr/>
          <a:lstStyle/>
          <a:p>
            <a:fld id="{5390CC6E-8CB6-486D-8769-746EA0F39010}" type="slidenum">
              <a:rPr lang="en-US" smtClean="0"/>
              <a:pPr/>
              <a:t>81</a:t>
            </a:fld>
            <a:endParaRPr lang="en-US"/>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a:noFill/>
        </p:spPr>
        <p:txBody>
          <a:bodyPr/>
          <a:lstStyle/>
          <a:p>
            <a:fld id="{A9D1151D-E237-49FE-BA46-432B7D360AAF}" type="slidenum">
              <a:rPr lang="en-US" smtClean="0"/>
              <a:pPr/>
              <a:t>82</a:t>
            </a:fld>
            <a:endParaRPr lang="en-US"/>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p:spPr>
        <p:txBody>
          <a:bodyPr/>
          <a:lstStyle/>
          <a:p>
            <a:fld id="{375A7AA5-4334-4BD8-8A0E-2BFB21035A86}" type="slidenum">
              <a:rPr lang="en-US" smtClean="0"/>
              <a:pPr/>
              <a:t>83</a:t>
            </a:fld>
            <a:endParaRPr lang="en-US"/>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7"/>
          <p:cNvSpPr>
            <a:spLocks noGrp="1" noChangeArrowheads="1"/>
          </p:cNvSpPr>
          <p:nvPr>
            <p:ph type="sldNum" sz="quarter" idx="5"/>
          </p:nvPr>
        </p:nvSpPr>
        <p:spPr>
          <a:noFill/>
        </p:spPr>
        <p:txBody>
          <a:bodyPr/>
          <a:lstStyle/>
          <a:p>
            <a:fld id="{BE032312-C92C-4964-92FB-125EDA081829}" type="slidenum">
              <a:rPr lang="en-US" smtClean="0"/>
              <a:pPr/>
              <a:t>84</a:t>
            </a:fld>
            <a:endParaRPr lang="en-US"/>
          </a:p>
        </p:txBody>
      </p:sp>
      <p:sp>
        <p:nvSpPr>
          <p:cNvPr id="332803" name="Rectangle 2"/>
          <p:cNvSpPr>
            <a:spLocks noGrp="1" noRot="1" noChangeAspect="1" noChangeArrowheads="1" noTextEdit="1"/>
          </p:cNvSpPr>
          <p:nvPr>
            <p:ph type="sldImg"/>
          </p:nvPr>
        </p:nvSpPr>
        <p:spPr>
          <a:ln/>
        </p:spPr>
      </p:sp>
      <p:sp>
        <p:nvSpPr>
          <p:cNvPr id="332804" name="Rectangle 3"/>
          <p:cNvSpPr>
            <a:spLocks noGrp="1" noChangeArrowheads="1"/>
          </p:cNvSpPr>
          <p:nvPr>
            <p:ph type="body" idx="1"/>
          </p:nvPr>
        </p:nvSpPr>
        <p:spPr>
          <a:noFill/>
          <a:ln/>
        </p:spPr>
        <p:txBody>
          <a:bodyPr/>
          <a:lstStyle/>
          <a:p>
            <a:r>
              <a:rPr lang="en-US"/>
              <a:t>Notice that at this point if a node is not at the root then it is the second to arrive in the precombining phase, that is, there is another thread that will do the actual combining up the tree, and so its role is to place the combined value it accumulated till now into the secondValue field. </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p:cNvSpPr>
            <a:spLocks noGrp="1" noChangeArrowheads="1"/>
          </p:cNvSpPr>
          <p:nvPr>
            <p:ph type="sldNum" sz="quarter" idx="5"/>
          </p:nvPr>
        </p:nvSpPr>
        <p:spPr>
          <a:noFill/>
        </p:spPr>
        <p:txBody>
          <a:bodyPr/>
          <a:lstStyle/>
          <a:p>
            <a:fld id="{477C5A5E-E363-485B-864F-FD7A9318F834}" type="slidenum">
              <a:rPr lang="en-US" smtClean="0"/>
              <a:pPr/>
              <a:t>85</a:t>
            </a:fld>
            <a:endParaRPr lang="en-US"/>
          </a:p>
        </p:txBody>
      </p:sp>
      <p:sp>
        <p:nvSpPr>
          <p:cNvPr id="333827" name="Rectangle 2"/>
          <p:cNvSpPr>
            <a:spLocks noGrp="1" noRot="1" noChangeAspect="1" noChangeArrowheads="1" noTextEdit="1"/>
          </p:cNvSpPr>
          <p:nvPr>
            <p:ph type="sldImg"/>
          </p:nvPr>
        </p:nvSpPr>
        <p:spPr>
          <a:ln/>
        </p:spPr>
      </p:sp>
      <p:sp>
        <p:nvSpPr>
          <p:cNvPr id="333828"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a:solidFill>
                  <a:srgbClr val="FF0000"/>
                </a:solidFill>
              </a:rPr>
              <a:t>Only ROOT and SECOND possible. Why?</a:t>
            </a:r>
          </a:p>
          <a:p>
            <a:r>
              <a:rPr lang="en-US" dirty="0"/>
              <a:t>Because FIRST continued up the tree and</a:t>
            </a:r>
            <a:r>
              <a:rPr lang="en-US" baseline="0" dirty="0"/>
              <a:t> did not stop at this node.</a:t>
            </a:r>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a:spLocks noGrp="1" noChangeArrowheads="1"/>
          </p:cNvSpPr>
          <p:nvPr>
            <p:ph type="sldNum" sz="quarter" idx="5"/>
          </p:nvPr>
        </p:nvSpPr>
        <p:spPr>
          <a:noFill/>
        </p:spPr>
        <p:txBody>
          <a:bodyPr/>
          <a:lstStyle/>
          <a:p>
            <a:fld id="{991F9F69-FF61-4726-831B-14CABC8E4FD9}" type="slidenum">
              <a:rPr lang="en-US" smtClean="0"/>
              <a:pPr/>
              <a:t>86</a:t>
            </a:fld>
            <a:endParaRPr lang="en-US"/>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p:cNvSpPr>
            <a:spLocks noGrp="1" noChangeArrowheads="1"/>
          </p:cNvSpPr>
          <p:nvPr>
            <p:ph type="sldNum" sz="quarter" idx="5"/>
          </p:nvPr>
        </p:nvSpPr>
        <p:spPr>
          <a:noFill/>
        </p:spPr>
        <p:txBody>
          <a:bodyPr/>
          <a:lstStyle/>
          <a:p>
            <a:fld id="{FEAC08BD-5DD1-4C11-A63C-EF5AF69E0A2C}" type="slidenum">
              <a:rPr lang="en-US" smtClean="0"/>
              <a:pPr/>
              <a:t>87</a:t>
            </a:fld>
            <a:endParaRPr lang="en-US"/>
          </a:p>
        </p:txBody>
      </p:sp>
      <p:sp>
        <p:nvSpPr>
          <p:cNvPr id="335875" name="Rectangle 2"/>
          <p:cNvSpPr>
            <a:spLocks noGrp="1" noRot="1" noChangeAspect="1" noChangeArrowheads="1" noTextEdit="1"/>
          </p:cNvSpPr>
          <p:nvPr>
            <p:ph type="sldImg"/>
          </p:nvPr>
        </p:nvSpPr>
        <p:spPr>
          <a:ln/>
        </p:spPr>
      </p:sp>
      <p:sp>
        <p:nvSpPr>
          <p:cNvPr id="335876" name="Rectangle 3"/>
          <p:cNvSpPr>
            <a:spLocks noGrp="1" noChangeArrowheads="1"/>
          </p:cNvSpPr>
          <p:nvPr>
            <p:ph type="body" idx="1"/>
          </p:nvPr>
        </p:nvSpPr>
        <p:spPr>
          <a:noFill/>
          <a:ln/>
        </p:spPr>
        <p:txBody>
          <a:bodyPr/>
          <a:lstStyle/>
          <a:p>
            <a:r>
              <a:rPr lang="en-US"/>
              <a:t>Notice that at this point the node is not at the root so it is the second to arrive in the precombining phase, that is, there is another thread that will do the actual combining up the tree, and so its role is to place the combined value it accumulated till now into the secondValue field. </a:t>
            </a:r>
          </a:p>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7"/>
          <p:cNvSpPr>
            <a:spLocks noGrp="1" noChangeArrowheads="1"/>
          </p:cNvSpPr>
          <p:nvPr>
            <p:ph type="sldNum" sz="quarter" idx="5"/>
          </p:nvPr>
        </p:nvSpPr>
        <p:spPr>
          <a:noFill/>
        </p:spPr>
        <p:txBody>
          <a:bodyPr/>
          <a:lstStyle/>
          <a:p>
            <a:fld id="{CA93C197-8A69-41EC-9A60-4953DE7E0EC9}" type="slidenum">
              <a:rPr lang="en-US" smtClean="0"/>
              <a:pPr/>
              <a:t>88</a:t>
            </a:fld>
            <a:endParaRPr lang="en-US"/>
          </a:p>
        </p:txBody>
      </p:sp>
      <p:sp>
        <p:nvSpPr>
          <p:cNvPr id="336899" name="Rectangle 2"/>
          <p:cNvSpPr>
            <a:spLocks noGrp="1" noRot="1" noChangeAspect="1" noChangeArrowheads="1" noTextEdit="1"/>
          </p:cNvSpPr>
          <p:nvPr>
            <p:ph type="sldImg"/>
          </p:nvPr>
        </p:nvSpPr>
        <p:spPr>
          <a:ln/>
        </p:spPr>
      </p:sp>
      <p:sp>
        <p:nvSpPr>
          <p:cNvPr id="336900" name="Rectangle 3"/>
          <p:cNvSpPr>
            <a:spLocks noGrp="1" noChangeArrowheads="1"/>
          </p:cNvSpPr>
          <p:nvPr>
            <p:ph type="body" idx="1"/>
          </p:nvPr>
        </p:nvSpPr>
        <p:spPr>
          <a:noFill/>
          <a:ln/>
        </p:spPr>
        <p:txBody>
          <a:bodyPr/>
          <a:lstStyle/>
          <a:p>
            <a:r>
              <a:rPr lang="en-US"/>
              <a:t>Notice that you can set locked = false and not worry about letting a late precombining thread get by because you are the second at thread at this node so there is no late precombinging thread that needs to be locked out!!!!</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p:cNvSpPr>
            <a:spLocks noGrp="1" noChangeArrowheads="1"/>
          </p:cNvSpPr>
          <p:nvPr>
            <p:ph type="sldNum" sz="quarter" idx="5"/>
          </p:nvPr>
        </p:nvSpPr>
        <p:spPr>
          <a:noFill/>
        </p:spPr>
        <p:txBody>
          <a:bodyPr/>
          <a:lstStyle/>
          <a:p>
            <a:fld id="{82EDA268-2C2A-4CB2-836E-A20912314447}" type="slidenum">
              <a:rPr lang="en-US" smtClean="0"/>
              <a:pPr/>
              <a:t>89</a:t>
            </a:fld>
            <a:endParaRPr lang="en-US"/>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7"/>
          <p:cNvSpPr>
            <a:spLocks noGrp="1" noChangeArrowheads="1"/>
          </p:cNvSpPr>
          <p:nvPr>
            <p:ph type="sldNum" sz="quarter" idx="5"/>
          </p:nvPr>
        </p:nvSpPr>
        <p:spPr>
          <a:noFill/>
        </p:spPr>
        <p:txBody>
          <a:bodyPr/>
          <a:lstStyle/>
          <a:p>
            <a:fld id="{19ED1716-ADE9-4D6C-B4B9-38B09616F71E}" type="slidenum">
              <a:rPr lang="en-US" smtClean="0"/>
              <a:pPr/>
              <a:t>90</a:t>
            </a:fld>
            <a:endParaRPr lang="en-US"/>
          </a:p>
        </p:txBody>
      </p:sp>
      <p:sp>
        <p:nvSpPr>
          <p:cNvPr id="338947" name="Rectangle 2"/>
          <p:cNvSpPr>
            <a:spLocks noGrp="1" noRot="1" noChangeAspect="1" noChangeArrowheads="1" noTextEdit="1"/>
          </p:cNvSpPr>
          <p:nvPr>
            <p:ph type="sldImg"/>
          </p:nvPr>
        </p:nvSpPr>
        <p:spPr>
          <a:ln/>
        </p:spPr>
      </p:sp>
      <p:sp>
        <p:nvSpPr>
          <p:cNvPr id="3389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p:cNvSpPr>
            <a:spLocks noGrp="1" noChangeArrowheads="1"/>
          </p:cNvSpPr>
          <p:nvPr>
            <p:ph type="sldNum" sz="quarter" idx="5"/>
          </p:nvPr>
        </p:nvSpPr>
        <p:spPr>
          <a:noFill/>
        </p:spPr>
        <p:txBody>
          <a:bodyPr/>
          <a:lstStyle/>
          <a:p>
            <a:fld id="{A98AFF52-0569-4A10-8C5C-4C546A0E7E4A}" type="slidenum">
              <a:rPr lang="en-US" smtClean="0"/>
              <a:pPr/>
              <a:t>91</a:t>
            </a:fld>
            <a:endParaRPr lang="en-US"/>
          </a:p>
        </p:txBody>
      </p:sp>
      <p:sp>
        <p:nvSpPr>
          <p:cNvPr id="339971" name="Rectangle 2"/>
          <p:cNvSpPr>
            <a:spLocks noGrp="1" noRot="1" noChangeAspect="1" noChangeArrowheads="1" noTextEdit="1"/>
          </p:cNvSpPr>
          <p:nvPr>
            <p:ph type="sldImg"/>
          </p:nvPr>
        </p:nvSpPr>
        <p:spPr>
          <a:ln/>
        </p:spPr>
      </p:sp>
      <p:sp>
        <p:nvSpPr>
          <p:cNvPr id="3399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a:noFill/>
        </p:spPr>
        <p:txBody>
          <a:bodyPr/>
          <a:lstStyle/>
          <a:p>
            <a:fld id="{7AD7C55E-8270-42C7-87D7-1766A9D68A6B}" type="slidenum">
              <a:rPr lang="en-US" smtClean="0"/>
              <a:pPr/>
              <a:t>92</a:t>
            </a:fld>
            <a:endParaRPr lang="en-US"/>
          </a:p>
        </p:txBody>
      </p:sp>
      <p:sp>
        <p:nvSpPr>
          <p:cNvPr id="340995" name="Rectangle 2"/>
          <p:cNvSpPr>
            <a:spLocks noGrp="1" noRot="1" noChangeAspect="1" noChangeArrowheads="1" noTextEdit="1"/>
          </p:cNvSpPr>
          <p:nvPr>
            <p:ph type="sldImg"/>
          </p:nvPr>
        </p:nvSpPr>
        <p:spPr>
          <a:ln/>
        </p:spPr>
      </p:sp>
      <p:sp>
        <p:nvSpPr>
          <p:cNvPr id="3409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p:cNvSpPr>
            <a:spLocks noGrp="1" noChangeArrowheads="1"/>
          </p:cNvSpPr>
          <p:nvPr>
            <p:ph type="sldNum" sz="quarter" idx="5"/>
          </p:nvPr>
        </p:nvSpPr>
        <p:spPr>
          <a:noFill/>
        </p:spPr>
        <p:txBody>
          <a:bodyPr/>
          <a:lstStyle/>
          <a:p>
            <a:fld id="{F8BD6218-A842-49CA-AFC2-985EC6316CA3}" type="slidenum">
              <a:rPr lang="en-US" smtClean="0"/>
              <a:pPr/>
              <a:t>93</a:t>
            </a:fld>
            <a:endParaRPr lang="en-US"/>
          </a:p>
        </p:txBody>
      </p:sp>
      <p:sp>
        <p:nvSpPr>
          <p:cNvPr id="342019" name="Rectangle 2"/>
          <p:cNvSpPr>
            <a:spLocks noGrp="1" noRot="1" noChangeAspect="1" noChangeArrowheads="1" noTextEdit="1"/>
          </p:cNvSpPr>
          <p:nvPr>
            <p:ph type="sldImg"/>
          </p:nvPr>
        </p:nvSpPr>
        <p:spPr>
          <a:ln/>
        </p:spPr>
      </p:sp>
      <p:sp>
        <p:nvSpPr>
          <p:cNvPr id="3420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a:noFill/>
        </p:spPr>
        <p:txBody>
          <a:bodyPr/>
          <a:lstStyle/>
          <a:p>
            <a:fld id="{0616F3BE-0110-4610-B67F-F9E872CDEDD5}" type="slidenum">
              <a:rPr lang="en-US" smtClean="0"/>
              <a:pPr/>
              <a:t>94</a:t>
            </a:fld>
            <a:endParaRPr lang="en-US"/>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7"/>
          <p:cNvSpPr>
            <a:spLocks noGrp="1" noChangeArrowheads="1"/>
          </p:cNvSpPr>
          <p:nvPr>
            <p:ph type="sldNum" sz="quarter" idx="5"/>
          </p:nvPr>
        </p:nvSpPr>
        <p:spPr>
          <a:noFill/>
        </p:spPr>
        <p:txBody>
          <a:bodyPr/>
          <a:lstStyle/>
          <a:p>
            <a:fld id="{5DC693F3-9FD9-4906-AAEB-F5F99AE9EFB4}" type="slidenum">
              <a:rPr lang="en-US" smtClean="0"/>
              <a:pPr/>
              <a:t>95</a:t>
            </a:fld>
            <a:endParaRPr lang="en-US"/>
          </a:p>
        </p:txBody>
      </p:sp>
      <p:sp>
        <p:nvSpPr>
          <p:cNvPr id="344067" name="Rectangle 2"/>
          <p:cNvSpPr>
            <a:spLocks noGrp="1" noRot="1" noChangeAspect="1" noChangeArrowheads="1" noTextEdit="1"/>
          </p:cNvSpPr>
          <p:nvPr>
            <p:ph type="sldImg"/>
          </p:nvPr>
        </p:nvSpPr>
        <p:spPr>
          <a:ln/>
        </p:spPr>
      </p:sp>
      <p:sp>
        <p:nvSpPr>
          <p:cNvPr id="3440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Grp="1" noChangeArrowheads="1"/>
          </p:cNvSpPr>
          <p:nvPr>
            <p:ph type="sldNum" sz="quarter" idx="5"/>
          </p:nvPr>
        </p:nvSpPr>
        <p:spPr>
          <a:noFill/>
        </p:spPr>
        <p:txBody>
          <a:bodyPr/>
          <a:lstStyle/>
          <a:p>
            <a:fld id="{5DD1609E-DA3E-4260-97B3-3CBE428A4E9F}" type="slidenum">
              <a:rPr lang="en-US" smtClean="0"/>
              <a:pPr/>
              <a:t>96</a:t>
            </a:fld>
            <a:endParaRPr lang="en-US"/>
          </a:p>
        </p:txBody>
      </p:sp>
      <p:sp>
        <p:nvSpPr>
          <p:cNvPr id="345091" name="Rectangle 2"/>
          <p:cNvSpPr>
            <a:spLocks noGrp="1" noRot="1" noChangeAspect="1" noChangeArrowheads="1" noTextEdit="1"/>
          </p:cNvSpPr>
          <p:nvPr>
            <p:ph type="sldImg"/>
          </p:nvPr>
        </p:nvSpPr>
        <p:spPr>
          <a:ln/>
        </p:spPr>
      </p:sp>
      <p:sp>
        <p:nvSpPr>
          <p:cNvPr id="3450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7"/>
          <p:cNvSpPr>
            <a:spLocks noGrp="1" noChangeArrowheads="1"/>
          </p:cNvSpPr>
          <p:nvPr>
            <p:ph type="sldNum" sz="quarter" idx="5"/>
          </p:nvPr>
        </p:nvSpPr>
        <p:spPr>
          <a:noFill/>
        </p:spPr>
        <p:txBody>
          <a:bodyPr/>
          <a:lstStyle/>
          <a:p>
            <a:fld id="{96DCE7D5-8A08-46EF-8367-96012A8B01B5}" type="slidenum">
              <a:rPr lang="en-US" smtClean="0"/>
              <a:pPr/>
              <a:t>97</a:t>
            </a:fld>
            <a:endParaRPr lang="en-US"/>
          </a:p>
        </p:txBody>
      </p:sp>
      <p:sp>
        <p:nvSpPr>
          <p:cNvPr id="346115" name="Rectangle 2"/>
          <p:cNvSpPr>
            <a:spLocks noGrp="1" noRot="1" noChangeAspect="1" noChangeArrowheads="1" noTextEdit="1"/>
          </p:cNvSpPr>
          <p:nvPr>
            <p:ph type="sldImg"/>
          </p:nvPr>
        </p:nvSpPr>
        <p:spPr>
          <a:ln/>
        </p:spPr>
      </p:sp>
      <p:sp>
        <p:nvSpPr>
          <p:cNvPr id="3461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7"/>
          <p:cNvSpPr>
            <a:spLocks noGrp="1" noChangeArrowheads="1"/>
          </p:cNvSpPr>
          <p:nvPr>
            <p:ph type="sldNum" sz="quarter" idx="5"/>
          </p:nvPr>
        </p:nvSpPr>
        <p:spPr>
          <a:noFill/>
        </p:spPr>
        <p:txBody>
          <a:bodyPr/>
          <a:lstStyle/>
          <a:p>
            <a:fld id="{99FC6367-E090-424A-A901-FF0514248605}" type="slidenum">
              <a:rPr lang="en-US" smtClean="0"/>
              <a:pPr/>
              <a:t>98</a:t>
            </a:fld>
            <a:endParaRPr lang="en-US"/>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7"/>
          <p:cNvSpPr>
            <a:spLocks noGrp="1" noChangeArrowheads="1"/>
          </p:cNvSpPr>
          <p:nvPr>
            <p:ph type="sldNum" sz="quarter" idx="5"/>
          </p:nvPr>
        </p:nvSpPr>
        <p:spPr>
          <a:noFill/>
        </p:spPr>
        <p:txBody>
          <a:bodyPr/>
          <a:lstStyle/>
          <a:p>
            <a:fld id="{CDAF6680-525A-46BA-82F2-0ADE55FA7C61}" type="slidenum">
              <a:rPr lang="en-US" smtClean="0"/>
              <a:pPr/>
              <a:t>99</a:t>
            </a:fld>
            <a:endParaRPr lang="en-US"/>
          </a:p>
        </p:txBody>
      </p:sp>
      <p:sp>
        <p:nvSpPr>
          <p:cNvPr id="348163" name="Rectangle 2"/>
          <p:cNvSpPr>
            <a:spLocks noGrp="1" noRot="1" noChangeAspect="1" noChangeArrowheads="1" noTextEdit="1"/>
          </p:cNvSpPr>
          <p:nvPr>
            <p:ph type="sldImg"/>
          </p:nvPr>
        </p:nvSpPr>
        <p:spPr>
          <a:ln/>
        </p:spPr>
      </p:sp>
      <p:sp>
        <p:nvSpPr>
          <p:cNvPr id="3481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a:noFill/>
        </p:spPr>
        <p:txBody>
          <a:bodyPr/>
          <a:lstStyle/>
          <a:p>
            <a:fld id="{1DE2951F-C6BA-41B0-AA2F-EE14574F4121}" type="slidenum">
              <a:rPr lang="en-US" smtClean="0"/>
              <a:pPr/>
              <a:t>100</a:t>
            </a:fld>
            <a:endParaRPr lang="en-US"/>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7"/>
          <p:cNvSpPr>
            <a:spLocks noGrp="1" noChangeArrowheads="1"/>
          </p:cNvSpPr>
          <p:nvPr>
            <p:ph type="sldNum" sz="quarter" idx="5"/>
          </p:nvPr>
        </p:nvSpPr>
        <p:spPr>
          <a:noFill/>
        </p:spPr>
        <p:txBody>
          <a:bodyPr/>
          <a:lstStyle/>
          <a:p>
            <a:fld id="{13DA4792-B81F-4377-AA85-18D5E3D17148}" type="slidenum">
              <a:rPr lang="en-US" smtClean="0"/>
              <a:pPr/>
              <a:t>101</a:t>
            </a:fld>
            <a:endParaRPr lang="en-US"/>
          </a:p>
        </p:txBody>
      </p:sp>
      <p:sp>
        <p:nvSpPr>
          <p:cNvPr id="350211" name="Rectangle 2"/>
          <p:cNvSpPr>
            <a:spLocks noGrp="1" noRot="1" noChangeAspect="1" noChangeArrowheads="1" noTextEdit="1"/>
          </p:cNvSpPr>
          <p:nvPr>
            <p:ph type="sldImg"/>
          </p:nvPr>
        </p:nvSpPr>
        <p:spPr>
          <a:ln/>
        </p:spPr>
      </p:sp>
      <p:sp>
        <p:nvSpPr>
          <p:cNvPr id="3502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a:spLocks noGrp="1" noChangeArrowheads="1"/>
          </p:cNvSpPr>
          <p:nvPr>
            <p:ph type="sldNum" sz="quarter" idx="5"/>
          </p:nvPr>
        </p:nvSpPr>
        <p:spPr>
          <a:noFill/>
        </p:spPr>
        <p:txBody>
          <a:bodyPr/>
          <a:lstStyle/>
          <a:p>
            <a:fld id="{BAEED9A6-42F4-40D6-A87E-9F1423949FD7}" type="slidenum">
              <a:rPr lang="en-US" smtClean="0"/>
              <a:pPr/>
              <a:t>102</a:t>
            </a:fld>
            <a:endParaRPr lang="en-US"/>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p:cNvSpPr>
            <a:spLocks noGrp="1" noChangeArrowheads="1"/>
          </p:cNvSpPr>
          <p:nvPr>
            <p:ph type="sldNum" sz="quarter" idx="5"/>
          </p:nvPr>
        </p:nvSpPr>
        <p:spPr>
          <a:noFill/>
        </p:spPr>
        <p:txBody>
          <a:bodyPr/>
          <a:lstStyle/>
          <a:p>
            <a:fld id="{6C521B5B-43BD-47B6-AD20-79DBA0786412}" type="slidenum">
              <a:rPr lang="en-US" smtClean="0"/>
              <a:pPr/>
              <a:t>103</a:t>
            </a:fld>
            <a:endParaRPr lang="en-US"/>
          </a:p>
        </p:txBody>
      </p:sp>
      <p:sp>
        <p:nvSpPr>
          <p:cNvPr id="352259" name="Rectangle 2"/>
          <p:cNvSpPr>
            <a:spLocks noGrp="1" noRot="1" noChangeAspect="1" noChangeArrowheads="1" noTextEdit="1"/>
          </p:cNvSpPr>
          <p:nvPr>
            <p:ph type="sldImg"/>
          </p:nvPr>
        </p:nvSpPr>
        <p:spPr>
          <a:ln/>
        </p:spPr>
      </p:sp>
      <p:sp>
        <p:nvSpPr>
          <p:cNvPr id="3522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a:spLocks noGrp="1" noChangeArrowheads="1"/>
          </p:cNvSpPr>
          <p:nvPr>
            <p:ph type="sldNum" sz="quarter" idx="5"/>
          </p:nvPr>
        </p:nvSpPr>
        <p:spPr>
          <a:noFill/>
        </p:spPr>
        <p:txBody>
          <a:bodyPr/>
          <a:lstStyle/>
          <a:p>
            <a:fld id="{15864434-E8C4-426C-B903-C6D5C8671F01}" type="slidenum">
              <a:rPr lang="en-US" smtClean="0"/>
              <a:pPr/>
              <a:t>104</a:t>
            </a:fld>
            <a:endParaRPr lang="en-US"/>
          </a:p>
        </p:txBody>
      </p:sp>
      <p:sp>
        <p:nvSpPr>
          <p:cNvPr id="353283" name="Rectangle 2"/>
          <p:cNvSpPr>
            <a:spLocks noGrp="1" noRot="1" noChangeAspect="1" noChangeArrowheads="1" noTextEdit="1"/>
          </p:cNvSpPr>
          <p:nvPr>
            <p:ph type="sldImg"/>
          </p:nvPr>
        </p:nvSpPr>
        <p:spPr>
          <a:ln/>
        </p:spPr>
      </p:sp>
      <p:sp>
        <p:nvSpPr>
          <p:cNvPr id="3532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a:noFill/>
        </p:spPr>
        <p:txBody>
          <a:bodyPr/>
          <a:lstStyle/>
          <a:p>
            <a:fld id="{245CEB3E-641A-4C64-8944-7D8B27725588}" type="slidenum">
              <a:rPr lang="en-US" smtClean="0"/>
              <a:pPr/>
              <a:t>105</a:t>
            </a:fld>
            <a:endParaRPr lang="en-US"/>
          </a:p>
        </p:txBody>
      </p:sp>
      <p:sp>
        <p:nvSpPr>
          <p:cNvPr id="354307" name="Rectangle 2"/>
          <p:cNvSpPr>
            <a:spLocks noGrp="1" noRot="1" noChangeAspect="1" noChangeArrowheads="1" noTextEdit="1"/>
          </p:cNvSpPr>
          <p:nvPr>
            <p:ph type="sldImg"/>
          </p:nvPr>
        </p:nvSpPr>
        <p:spPr>
          <a:ln/>
        </p:spPr>
      </p:sp>
      <p:sp>
        <p:nvSpPr>
          <p:cNvPr id="3543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p:cNvSpPr>
            <a:spLocks noGrp="1" noChangeArrowheads="1"/>
          </p:cNvSpPr>
          <p:nvPr>
            <p:ph type="sldNum" sz="quarter" idx="5"/>
          </p:nvPr>
        </p:nvSpPr>
        <p:spPr>
          <a:noFill/>
        </p:spPr>
        <p:txBody>
          <a:bodyPr/>
          <a:lstStyle/>
          <a:p>
            <a:fld id="{9E803531-B485-4315-B82E-F2C0E0AC504F}" type="slidenum">
              <a:rPr lang="en-US" smtClean="0"/>
              <a:pPr/>
              <a:t>106</a:t>
            </a:fld>
            <a:endParaRPr lang="en-US"/>
          </a:p>
        </p:txBody>
      </p:sp>
      <p:sp>
        <p:nvSpPr>
          <p:cNvPr id="355331" name="Rectangle 2"/>
          <p:cNvSpPr>
            <a:spLocks noGrp="1" noRot="1" noChangeAspect="1" noChangeArrowheads="1" noTextEdit="1"/>
          </p:cNvSpPr>
          <p:nvPr>
            <p:ph type="sldImg"/>
          </p:nvPr>
        </p:nvSpPr>
        <p:spPr>
          <a:ln/>
        </p:spPr>
      </p:sp>
      <p:sp>
        <p:nvSpPr>
          <p:cNvPr id="3553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7"/>
          <p:cNvSpPr>
            <a:spLocks noGrp="1" noChangeArrowheads="1"/>
          </p:cNvSpPr>
          <p:nvPr>
            <p:ph type="sldNum" sz="quarter" idx="5"/>
          </p:nvPr>
        </p:nvSpPr>
        <p:spPr>
          <a:noFill/>
        </p:spPr>
        <p:txBody>
          <a:bodyPr/>
          <a:lstStyle/>
          <a:p>
            <a:fld id="{C5F41BE8-841F-4099-9202-FB260F1C4593}" type="slidenum">
              <a:rPr lang="en-US" smtClean="0"/>
              <a:pPr/>
              <a:t>107</a:t>
            </a:fld>
            <a:endParaRPr lang="en-US"/>
          </a:p>
        </p:txBody>
      </p:sp>
      <p:sp>
        <p:nvSpPr>
          <p:cNvPr id="356355" name="Rectangle 2"/>
          <p:cNvSpPr>
            <a:spLocks noGrp="1" noRot="1" noChangeAspect="1" noChangeArrowheads="1" noTextEdit="1"/>
          </p:cNvSpPr>
          <p:nvPr>
            <p:ph type="sldImg"/>
          </p:nvPr>
        </p:nvSpPr>
        <p:spPr>
          <a:ln/>
        </p:spPr>
      </p:sp>
      <p:sp>
        <p:nvSpPr>
          <p:cNvPr id="3563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p:cNvSpPr>
            <a:spLocks noGrp="1" noChangeArrowheads="1"/>
          </p:cNvSpPr>
          <p:nvPr>
            <p:ph type="sldNum" sz="quarter" idx="5"/>
          </p:nvPr>
        </p:nvSpPr>
        <p:spPr>
          <a:noFill/>
        </p:spPr>
        <p:txBody>
          <a:bodyPr/>
          <a:lstStyle/>
          <a:p>
            <a:fld id="{3D2EFB9F-1ABE-464B-A261-C3C95D41047E}" type="slidenum">
              <a:rPr lang="en-US" smtClean="0"/>
              <a:pPr/>
              <a:t>108</a:t>
            </a:fld>
            <a:endParaRPr lang="en-US"/>
          </a:p>
        </p:txBody>
      </p:sp>
      <p:sp>
        <p:nvSpPr>
          <p:cNvPr id="357379" name="Rectangle 2"/>
          <p:cNvSpPr>
            <a:spLocks noGrp="1" noRot="1" noChangeAspect="1" noChangeArrowheads="1" noTextEdit="1"/>
          </p:cNvSpPr>
          <p:nvPr>
            <p:ph type="sldImg"/>
          </p:nvPr>
        </p:nvSpPr>
        <p:spPr>
          <a:ln/>
        </p:spPr>
      </p:sp>
      <p:sp>
        <p:nvSpPr>
          <p:cNvPr id="3573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7"/>
          <p:cNvSpPr>
            <a:spLocks noGrp="1" noChangeArrowheads="1"/>
          </p:cNvSpPr>
          <p:nvPr>
            <p:ph type="sldNum" sz="quarter" idx="5"/>
          </p:nvPr>
        </p:nvSpPr>
        <p:spPr>
          <a:noFill/>
        </p:spPr>
        <p:txBody>
          <a:bodyPr/>
          <a:lstStyle/>
          <a:p>
            <a:fld id="{121C3A53-97BC-462A-931C-D2C211A004E4}" type="slidenum">
              <a:rPr lang="en-US" smtClean="0"/>
              <a:pPr/>
              <a:t>109</a:t>
            </a:fld>
            <a:endParaRPr lang="en-US"/>
          </a:p>
        </p:txBody>
      </p:sp>
      <p:sp>
        <p:nvSpPr>
          <p:cNvPr id="358403" name="Rectangle 2"/>
          <p:cNvSpPr>
            <a:spLocks noGrp="1" noRot="1" noChangeAspect="1" noChangeArrowheads="1" noTextEdit="1"/>
          </p:cNvSpPr>
          <p:nvPr>
            <p:ph type="sldImg"/>
          </p:nvPr>
        </p:nvSpPr>
        <p:spPr>
          <a:ln/>
        </p:spPr>
      </p:sp>
      <p:sp>
        <p:nvSpPr>
          <p:cNvPr id="3584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Rot="1" noChangeAspect="1" noChangeArrowheads="1" noTextEdit="1"/>
          </p:cNvSpPr>
          <p:nvPr>
            <p:ph type="sldImg"/>
          </p:nvPr>
        </p:nvSpPr>
        <p:spPr>
          <a:ln/>
        </p:spPr>
      </p:sp>
      <p:sp>
        <p:nvSpPr>
          <p:cNvPr id="548867"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60B379D1-B991-4158-B747-BB4714208830}" type="slidenum">
              <a:rPr lang="en-US" smtClean="0"/>
              <a:pPr>
                <a:defRPr/>
              </a:pPr>
              <a:t>111</a:t>
            </a:fld>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7"/>
          <p:cNvSpPr>
            <a:spLocks noGrp="1" noChangeArrowheads="1"/>
          </p:cNvSpPr>
          <p:nvPr>
            <p:ph type="sldNum" sz="quarter" idx="5"/>
          </p:nvPr>
        </p:nvSpPr>
        <p:spPr>
          <a:noFill/>
        </p:spPr>
        <p:txBody>
          <a:bodyPr/>
          <a:lstStyle/>
          <a:p>
            <a:fld id="{3C13A654-A467-4624-9AC8-81F648588C6F}" type="slidenum">
              <a:rPr lang="en-US" smtClean="0"/>
              <a:pPr/>
              <a:t>112</a:t>
            </a:fld>
            <a:endParaRPr lang="en-US"/>
          </a:p>
        </p:txBody>
      </p:sp>
      <p:sp>
        <p:nvSpPr>
          <p:cNvPr id="362499" name="Rectangle 2"/>
          <p:cNvSpPr>
            <a:spLocks noGrp="1" noRot="1" noChangeAspect="1" noChangeArrowheads="1" noTextEdit="1"/>
          </p:cNvSpPr>
          <p:nvPr>
            <p:ph type="sldImg"/>
          </p:nvPr>
        </p:nvSpPr>
        <p:spPr>
          <a:ln/>
        </p:spPr>
      </p:sp>
      <p:sp>
        <p:nvSpPr>
          <p:cNvPr id="3625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7"/>
          <p:cNvSpPr>
            <a:spLocks noGrp="1" noChangeArrowheads="1"/>
          </p:cNvSpPr>
          <p:nvPr>
            <p:ph type="sldNum" sz="quarter" idx="5"/>
          </p:nvPr>
        </p:nvSpPr>
        <p:spPr>
          <a:noFill/>
        </p:spPr>
        <p:txBody>
          <a:bodyPr/>
          <a:lstStyle/>
          <a:p>
            <a:fld id="{E4EB87EC-175A-4E01-923A-BC953032CD69}" type="slidenum">
              <a:rPr lang="en-US" smtClean="0"/>
              <a:pPr/>
              <a:t>113</a:t>
            </a:fld>
            <a:endParaRPr lang="en-US"/>
          </a:p>
        </p:txBody>
      </p:sp>
      <p:sp>
        <p:nvSpPr>
          <p:cNvPr id="363523" name="Rectangle 2"/>
          <p:cNvSpPr>
            <a:spLocks noGrp="1" noRot="1" noChangeAspect="1" noChangeArrowheads="1" noTextEdit="1"/>
          </p:cNvSpPr>
          <p:nvPr>
            <p:ph type="sldImg"/>
          </p:nvPr>
        </p:nvSpPr>
        <p:spPr>
          <a:ln/>
        </p:spPr>
      </p:sp>
      <p:sp>
        <p:nvSpPr>
          <p:cNvPr id="3635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7"/>
          <p:cNvSpPr>
            <a:spLocks noGrp="1" noChangeArrowheads="1"/>
          </p:cNvSpPr>
          <p:nvPr>
            <p:ph type="sldNum" sz="quarter" idx="5"/>
          </p:nvPr>
        </p:nvSpPr>
        <p:spPr>
          <a:noFill/>
        </p:spPr>
        <p:txBody>
          <a:bodyPr/>
          <a:lstStyle/>
          <a:p>
            <a:fld id="{0128BA48-EB46-41AE-A1C9-EF5DC723DB74}" type="slidenum">
              <a:rPr lang="en-US" smtClean="0"/>
              <a:pPr/>
              <a:t>114</a:t>
            </a:fld>
            <a:endParaRPr lang="en-US"/>
          </a:p>
        </p:txBody>
      </p:sp>
      <p:sp>
        <p:nvSpPr>
          <p:cNvPr id="364547" name="Rectangle 2"/>
          <p:cNvSpPr>
            <a:spLocks noGrp="1" noRot="1" noChangeAspect="1" noChangeArrowheads="1" noTextEdit="1"/>
          </p:cNvSpPr>
          <p:nvPr>
            <p:ph type="sldImg"/>
          </p:nvPr>
        </p:nvSpPr>
        <p:spPr>
          <a:xfrm>
            <a:off x="1192213" y="693738"/>
            <a:ext cx="4643437" cy="3482975"/>
          </a:xfrm>
          <a:ln/>
        </p:spPr>
      </p:sp>
      <p:sp>
        <p:nvSpPr>
          <p:cNvPr id="364548" name="Rectangle 3"/>
          <p:cNvSpPr>
            <a:spLocks noGrp="1" noChangeArrowheads="1"/>
          </p:cNvSpPr>
          <p:nvPr>
            <p:ph type="body" idx="1"/>
          </p:nvPr>
        </p:nvSpPr>
        <p:spPr>
          <a:xfrm>
            <a:off x="936625" y="4408488"/>
            <a:ext cx="5153025" cy="4178300"/>
          </a:xfrm>
          <a:noFill/>
          <a:ln/>
        </p:spPr>
        <p:txBody>
          <a:bodyPr/>
          <a:lstStyle/>
          <a:p>
            <a:r>
              <a:rPr lang="en-US"/>
              <a:t>The figure compares combining tree latency (notice, latency, not throughput) when work is high using 3 waiting policies: wait 16 cycles, wait 256 cycles, and wait</a:t>
            </a:r>
          </a:p>
          <a:p>
            <a:r>
              <a:rPr lang="en-US"/>
              <a:t>indefinitely.  When the number of processors is larger than 64,</a:t>
            </a:r>
          </a:p>
          <a:p>
            <a:r>
              <a:rPr lang="en-US"/>
              <a:t>indefinite waiting is by far the best policy. This follows since an</a:t>
            </a:r>
          </a:p>
          <a:p>
            <a:r>
              <a:rPr lang="en-US"/>
              <a:t>un-combined token message locks later received token messages from</a:t>
            </a:r>
          </a:p>
          <a:p>
            <a:r>
              <a:rPr lang="en-US"/>
              <a:t>progressing until it returns from traversing the root, so a large performance penalty</a:t>
            </a:r>
          </a:p>
          <a:p>
            <a:r>
              <a:rPr lang="en-US"/>
              <a:t>is paid for each un-combined message.   Because the chances of combining are</a:t>
            </a:r>
          </a:p>
          <a:p>
            <a:r>
              <a:rPr lang="en-US"/>
              <a:t>good at higher arrival rates we found that when work = 0,</a:t>
            </a:r>
          </a:p>
          <a:p>
            <a:r>
              <a:rPr lang="en-US"/>
              <a:t>simulation using more than four processors justify indefinite waiting.</a:t>
            </a:r>
          </a:p>
          <a:p>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p:cNvSpPr>
            <a:spLocks noGrp="1" noChangeArrowheads="1"/>
          </p:cNvSpPr>
          <p:nvPr>
            <p:ph type="sldNum" sz="quarter" idx="5"/>
          </p:nvPr>
        </p:nvSpPr>
        <p:spPr>
          <a:noFill/>
        </p:spPr>
        <p:txBody>
          <a:bodyPr/>
          <a:lstStyle/>
          <a:p>
            <a:fld id="{B6AAA78F-02B4-40A9-B290-7B627088C780}" type="slidenum">
              <a:rPr lang="en-US" smtClean="0"/>
              <a:pPr/>
              <a:t>115</a:t>
            </a:fld>
            <a:endParaRPr lang="en-US"/>
          </a:p>
        </p:txBody>
      </p:sp>
      <p:sp>
        <p:nvSpPr>
          <p:cNvPr id="365571" name="Rectangle 2"/>
          <p:cNvSpPr>
            <a:spLocks noGrp="1" noRot="1" noChangeAspect="1" noChangeArrowheads="1" noTextEdit="1"/>
          </p:cNvSpPr>
          <p:nvPr>
            <p:ph type="sldImg"/>
          </p:nvPr>
        </p:nvSpPr>
        <p:spPr>
          <a:ln/>
        </p:spPr>
      </p:sp>
      <p:sp>
        <p:nvSpPr>
          <p:cNvPr id="3655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7"/>
          <p:cNvSpPr>
            <a:spLocks noGrp="1" noChangeArrowheads="1"/>
          </p:cNvSpPr>
          <p:nvPr>
            <p:ph type="sldNum" sz="quarter" idx="5"/>
          </p:nvPr>
        </p:nvSpPr>
        <p:spPr>
          <a:noFill/>
        </p:spPr>
        <p:txBody>
          <a:bodyPr/>
          <a:lstStyle/>
          <a:p>
            <a:fld id="{C2B1D049-D63A-42B2-A3EA-ABFC6A8A5D3B}" type="slidenum">
              <a:rPr lang="en-US" smtClean="0"/>
              <a:pPr/>
              <a:t>117</a:t>
            </a:fld>
            <a:endParaRPr lang="en-US"/>
          </a:p>
        </p:txBody>
      </p:sp>
      <p:sp>
        <p:nvSpPr>
          <p:cNvPr id="366595" name="Rectangle 2"/>
          <p:cNvSpPr>
            <a:spLocks noGrp="1" noRot="1" noChangeAspect="1" noChangeArrowheads="1" noTextEdit="1"/>
          </p:cNvSpPr>
          <p:nvPr>
            <p:ph type="sldImg"/>
          </p:nvPr>
        </p:nvSpPr>
        <p:spPr>
          <a:xfrm>
            <a:off x="1193800" y="695325"/>
            <a:ext cx="4641850" cy="3481388"/>
          </a:xfrm>
          <a:ln/>
        </p:spPr>
      </p:sp>
      <p:sp>
        <p:nvSpPr>
          <p:cNvPr id="3665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a:spLocks noGrp="1" noChangeArrowheads="1"/>
          </p:cNvSpPr>
          <p:nvPr>
            <p:ph type="sldNum" sz="quarter" idx="5"/>
          </p:nvPr>
        </p:nvSpPr>
        <p:spPr>
          <a:noFill/>
        </p:spPr>
        <p:txBody>
          <a:bodyPr/>
          <a:lstStyle/>
          <a:p>
            <a:fld id="{BEFC6241-4645-4E3A-9EF3-68FF4EC7C042}" type="slidenum">
              <a:rPr lang="en-US" smtClean="0"/>
              <a:pPr/>
              <a:t>118</a:t>
            </a:fld>
            <a:endParaRPr lang="en-US"/>
          </a:p>
        </p:txBody>
      </p:sp>
      <p:sp>
        <p:nvSpPr>
          <p:cNvPr id="367619" name="Rectangle 2"/>
          <p:cNvSpPr>
            <a:spLocks noGrp="1" noRot="1" noChangeAspect="1" noChangeArrowheads="1" noTextEdit="1"/>
          </p:cNvSpPr>
          <p:nvPr>
            <p:ph type="sldImg"/>
          </p:nvPr>
        </p:nvSpPr>
        <p:spPr>
          <a:xfrm>
            <a:off x="1193800" y="695325"/>
            <a:ext cx="4641850" cy="3481388"/>
          </a:xfrm>
          <a:ln/>
        </p:spPr>
      </p:sp>
      <p:sp>
        <p:nvSpPr>
          <p:cNvPr id="3676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p:spPr>
        <p:txBody>
          <a:bodyPr/>
          <a:lstStyle/>
          <a:p>
            <a:fld id="{F55D4785-E033-4090-B1B1-89B287EEA454}" type="slidenum">
              <a:rPr lang="en-US" smtClean="0"/>
              <a:pPr/>
              <a:t>119</a:t>
            </a:fld>
            <a:endParaRPr lang="en-US"/>
          </a:p>
        </p:txBody>
      </p:sp>
      <p:sp>
        <p:nvSpPr>
          <p:cNvPr id="368643" name="Rectangle 2"/>
          <p:cNvSpPr>
            <a:spLocks noGrp="1" noRot="1" noChangeAspect="1" noChangeArrowheads="1" noTextEdit="1"/>
          </p:cNvSpPr>
          <p:nvPr>
            <p:ph type="sldImg"/>
          </p:nvPr>
        </p:nvSpPr>
        <p:spPr>
          <a:xfrm>
            <a:off x="1193800" y="695325"/>
            <a:ext cx="4641850" cy="3481388"/>
          </a:xfrm>
          <a:ln/>
        </p:spPr>
      </p:sp>
      <p:sp>
        <p:nvSpPr>
          <p:cNvPr id="3686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7"/>
          <p:cNvSpPr>
            <a:spLocks noGrp="1" noChangeArrowheads="1"/>
          </p:cNvSpPr>
          <p:nvPr>
            <p:ph type="sldNum" sz="quarter" idx="5"/>
          </p:nvPr>
        </p:nvSpPr>
        <p:spPr>
          <a:noFill/>
        </p:spPr>
        <p:txBody>
          <a:bodyPr/>
          <a:lstStyle/>
          <a:p>
            <a:fld id="{ADA84101-96EF-4C67-8818-694661F945A7}" type="slidenum">
              <a:rPr lang="en-US" smtClean="0"/>
              <a:pPr/>
              <a:t>120</a:t>
            </a:fld>
            <a:endParaRPr lang="en-US"/>
          </a:p>
        </p:txBody>
      </p:sp>
      <p:sp>
        <p:nvSpPr>
          <p:cNvPr id="369667" name="Rectangle 2"/>
          <p:cNvSpPr>
            <a:spLocks noGrp="1" noRot="1" noChangeAspect="1" noChangeArrowheads="1" noTextEdit="1"/>
          </p:cNvSpPr>
          <p:nvPr>
            <p:ph type="sldImg"/>
          </p:nvPr>
        </p:nvSpPr>
        <p:spPr>
          <a:xfrm>
            <a:off x="1193800" y="695325"/>
            <a:ext cx="4641850" cy="3481388"/>
          </a:xfrm>
          <a:ln/>
        </p:spPr>
      </p:sp>
      <p:sp>
        <p:nvSpPr>
          <p:cNvPr id="3696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p:spPr>
        <p:txBody>
          <a:bodyPr/>
          <a:lstStyle/>
          <a:p>
            <a:fld id="{8049E025-A661-493F-AB12-6AFA19D92111}" type="slidenum">
              <a:rPr lang="en-US" smtClean="0"/>
              <a:pPr/>
              <a:t>121</a:t>
            </a:fld>
            <a:endParaRPr lang="en-US"/>
          </a:p>
        </p:txBody>
      </p:sp>
      <p:sp>
        <p:nvSpPr>
          <p:cNvPr id="370691" name="Rectangle 2"/>
          <p:cNvSpPr>
            <a:spLocks noGrp="1" noRot="1" noChangeAspect="1" noChangeArrowheads="1" noTextEdit="1"/>
          </p:cNvSpPr>
          <p:nvPr>
            <p:ph type="sldImg"/>
          </p:nvPr>
        </p:nvSpPr>
        <p:spPr>
          <a:xfrm>
            <a:off x="1193800" y="695325"/>
            <a:ext cx="4641850" cy="3481388"/>
          </a:xfrm>
          <a:ln/>
        </p:spPr>
      </p:sp>
      <p:sp>
        <p:nvSpPr>
          <p:cNvPr id="3706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7"/>
          <p:cNvSpPr>
            <a:spLocks noGrp="1" noChangeArrowheads="1"/>
          </p:cNvSpPr>
          <p:nvPr>
            <p:ph type="sldNum" sz="quarter" idx="5"/>
          </p:nvPr>
        </p:nvSpPr>
        <p:spPr>
          <a:noFill/>
        </p:spPr>
        <p:txBody>
          <a:bodyPr/>
          <a:lstStyle/>
          <a:p>
            <a:fld id="{29200E16-D455-4E0B-8973-3210580CB9DA}" type="slidenum">
              <a:rPr lang="en-US" smtClean="0"/>
              <a:pPr/>
              <a:t>122</a:t>
            </a:fld>
            <a:endParaRPr lang="en-US"/>
          </a:p>
        </p:txBody>
      </p:sp>
      <p:sp>
        <p:nvSpPr>
          <p:cNvPr id="371715" name="Rectangle 2"/>
          <p:cNvSpPr>
            <a:spLocks noGrp="1" noRot="1" noChangeAspect="1" noChangeArrowheads="1" noTextEdit="1"/>
          </p:cNvSpPr>
          <p:nvPr>
            <p:ph type="sldImg"/>
          </p:nvPr>
        </p:nvSpPr>
        <p:spPr>
          <a:xfrm>
            <a:off x="1193800" y="695325"/>
            <a:ext cx="4641850" cy="3481388"/>
          </a:xfrm>
          <a:ln/>
        </p:spPr>
      </p:sp>
      <p:sp>
        <p:nvSpPr>
          <p:cNvPr id="3717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7"/>
          <p:cNvSpPr>
            <a:spLocks noGrp="1" noChangeArrowheads="1"/>
          </p:cNvSpPr>
          <p:nvPr>
            <p:ph type="sldNum" sz="quarter" idx="5"/>
          </p:nvPr>
        </p:nvSpPr>
        <p:spPr>
          <a:noFill/>
        </p:spPr>
        <p:txBody>
          <a:bodyPr/>
          <a:lstStyle/>
          <a:p>
            <a:fld id="{31BB53F5-1AA1-439D-9666-7A794AB8D4BD}" type="slidenum">
              <a:rPr lang="en-US" smtClean="0"/>
              <a:pPr/>
              <a:t>123</a:t>
            </a:fld>
            <a:endParaRPr lang="en-US"/>
          </a:p>
        </p:txBody>
      </p:sp>
      <p:sp>
        <p:nvSpPr>
          <p:cNvPr id="372739" name="Rectangle 2"/>
          <p:cNvSpPr>
            <a:spLocks noGrp="1" noRot="1" noChangeAspect="1" noChangeArrowheads="1" noTextEdit="1"/>
          </p:cNvSpPr>
          <p:nvPr>
            <p:ph type="sldImg"/>
          </p:nvPr>
        </p:nvSpPr>
        <p:spPr>
          <a:xfrm>
            <a:off x="1193800" y="695325"/>
            <a:ext cx="4641850" cy="3481388"/>
          </a:xfrm>
          <a:ln/>
        </p:spPr>
      </p:sp>
      <p:sp>
        <p:nvSpPr>
          <p:cNvPr id="3727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7"/>
          <p:cNvSpPr>
            <a:spLocks noGrp="1" noChangeArrowheads="1"/>
          </p:cNvSpPr>
          <p:nvPr>
            <p:ph type="sldNum" sz="quarter" idx="5"/>
          </p:nvPr>
        </p:nvSpPr>
        <p:spPr>
          <a:noFill/>
        </p:spPr>
        <p:txBody>
          <a:bodyPr/>
          <a:lstStyle/>
          <a:p>
            <a:fld id="{CB01B4A5-5E1E-431A-8ABD-5E3468E26EFC}" type="slidenum">
              <a:rPr lang="en-US" smtClean="0"/>
              <a:pPr/>
              <a:t>124</a:t>
            </a:fld>
            <a:endParaRPr lang="en-US"/>
          </a:p>
        </p:txBody>
      </p:sp>
      <p:sp>
        <p:nvSpPr>
          <p:cNvPr id="373763" name="Rectangle 2"/>
          <p:cNvSpPr>
            <a:spLocks noGrp="1" noRot="1" noChangeAspect="1" noChangeArrowheads="1" noTextEdit="1"/>
          </p:cNvSpPr>
          <p:nvPr>
            <p:ph type="sldImg"/>
          </p:nvPr>
        </p:nvSpPr>
        <p:spPr>
          <a:xfrm>
            <a:off x="1193800" y="695325"/>
            <a:ext cx="4641850" cy="3481388"/>
          </a:xfrm>
          <a:ln/>
        </p:spPr>
      </p:sp>
      <p:sp>
        <p:nvSpPr>
          <p:cNvPr id="3737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7"/>
          <p:cNvSpPr>
            <a:spLocks noGrp="1" noChangeArrowheads="1"/>
          </p:cNvSpPr>
          <p:nvPr>
            <p:ph type="sldNum" sz="quarter" idx="5"/>
          </p:nvPr>
        </p:nvSpPr>
        <p:spPr>
          <a:noFill/>
        </p:spPr>
        <p:txBody>
          <a:bodyPr/>
          <a:lstStyle/>
          <a:p>
            <a:fld id="{0699E920-3A7C-4EBD-92F7-0488F46385F6}" type="slidenum">
              <a:rPr lang="en-US" smtClean="0"/>
              <a:pPr/>
              <a:t>125</a:t>
            </a:fld>
            <a:endParaRPr lang="en-US"/>
          </a:p>
        </p:txBody>
      </p:sp>
      <p:sp>
        <p:nvSpPr>
          <p:cNvPr id="374787" name="Rectangle 2"/>
          <p:cNvSpPr>
            <a:spLocks noGrp="1" noRot="1" noChangeAspect="1" noChangeArrowheads="1" noTextEdit="1"/>
          </p:cNvSpPr>
          <p:nvPr>
            <p:ph type="sldImg"/>
          </p:nvPr>
        </p:nvSpPr>
        <p:spPr>
          <a:xfrm>
            <a:off x="1193800" y="695325"/>
            <a:ext cx="4641850" cy="3481388"/>
          </a:xfrm>
          <a:ln/>
        </p:spPr>
      </p:sp>
      <p:sp>
        <p:nvSpPr>
          <p:cNvPr id="3747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7"/>
          <p:cNvSpPr>
            <a:spLocks noGrp="1" noChangeArrowheads="1"/>
          </p:cNvSpPr>
          <p:nvPr>
            <p:ph type="sldNum" sz="quarter" idx="5"/>
          </p:nvPr>
        </p:nvSpPr>
        <p:spPr>
          <a:noFill/>
        </p:spPr>
        <p:txBody>
          <a:bodyPr/>
          <a:lstStyle/>
          <a:p>
            <a:fld id="{608A0D3F-C412-46E7-9726-97A3271E2D26}" type="slidenum">
              <a:rPr lang="en-US" smtClean="0"/>
              <a:pPr/>
              <a:t>126</a:t>
            </a:fld>
            <a:endParaRPr lang="en-US"/>
          </a:p>
        </p:txBody>
      </p:sp>
      <p:sp>
        <p:nvSpPr>
          <p:cNvPr id="381955" name="Rectangle 2"/>
          <p:cNvSpPr>
            <a:spLocks noGrp="1" noRot="1" noChangeAspect="1" noChangeArrowheads="1" noTextEdit="1"/>
          </p:cNvSpPr>
          <p:nvPr>
            <p:ph type="sldImg"/>
          </p:nvPr>
        </p:nvSpPr>
        <p:spPr>
          <a:xfrm>
            <a:off x="1193800" y="695325"/>
            <a:ext cx="4641850" cy="3481388"/>
          </a:xfrm>
          <a:ln/>
        </p:spPr>
      </p:sp>
      <p:sp>
        <p:nvSpPr>
          <p:cNvPr id="3819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7"/>
          <p:cNvSpPr>
            <a:spLocks noGrp="1" noChangeArrowheads="1"/>
          </p:cNvSpPr>
          <p:nvPr>
            <p:ph type="sldNum" sz="quarter" idx="5"/>
          </p:nvPr>
        </p:nvSpPr>
        <p:spPr>
          <a:noFill/>
        </p:spPr>
        <p:txBody>
          <a:bodyPr/>
          <a:lstStyle/>
          <a:p>
            <a:fld id="{24AD378D-48DB-4932-AB8A-06D83FBF7F43}" type="slidenum">
              <a:rPr lang="en-US" smtClean="0"/>
              <a:pPr/>
              <a:t>127</a:t>
            </a:fld>
            <a:endParaRPr lang="en-US"/>
          </a:p>
        </p:txBody>
      </p:sp>
      <p:sp>
        <p:nvSpPr>
          <p:cNvPr id="382979" name="Rectangle 2"/>
          <p:cNvSpPr>
            <a:spLocks noGrp="1" noRot="1" noChangeAspect="1" noChangeArrowheads="1" noTextEdit="1"/>
          </p:cNvSpPr>
          <p:nvPr>
            <p:ph type="sldImg"/>
          </p:nvPr>
        </p:nvSpPr>
        <p:spPr>
          <a:xfrm>
            <a:off x="1193800" y="695325"/>
            <a:ext cx="4641850" cy="3481388"/>
          </a:xfrm>
          <a:ln/>
        </p:spPr>
      </p:sp>
      <p:sp>
        <p:nvSpPr>
          <p:cNvPr id="3829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7"/>
          <p:cNvSpPr>
            <a:spLocks noGrp="1" noChangeArrowheads="1"/>
          </p:cNvSpPr>
          <p:nvPr>
            <p:ph type="sldNum" sz="quarter" idx="5"/>
          </p:nvPr>
        </p:nvSpPr>
        <p:spPr>
          <a:noFill/>
        </p:spPr>
        <p:txBody>
          <a:bodyPr/>
          <a:lstStyle/>
          <a:p>
            <a:fld id="{5DC53C62-8C27-425D-BF99-B5BCDCE8D0B6}" type="slidenum">
              <a:rPr lang="en-US" smtClean="0"/>
              <a:pPr/>
              <a:t>128</a:t>
            </a:fld>
            <a:endParaRPr lang="en-US"/>
          </a:p>
        </p:txBody>
      </p:sp>
      <p:sp>
        <p:nvSpPr>
          <p:cNvPr id="384003" name="Rectangle 2"/>
          <p:cNvSpPr>
            <a:spLocks noGrp="1" noRot="1" noChangeAspect="1" noChangeArrowheads="1" noTextEdit="1"/>
          </p:cNvSpPr>
          <p:nvPr>
            <p:ph type="sldImg"/>
          </p:nvPr>
        </p:nvSpPr>
        <p:spPr>
          <a:xfrm>
            <a:off x="1193800" y="695325"/>
            <a:ext cx="4641850" cy="3481388"/>
          </a:xfrm>
          <a:ln/>
        </p:spPr>
      </p:sp>
      <p:sp>
        <p:nvSpPr>
          <p:cNvPr id="3840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7"/>
          <p:cNvSpPr>
            <a:spLocks noGrp="1" noChangeArrowheads="1"/>
          </p:cNvSpPr>
          <p:nvPr>
            <p:ph type="sldNum" sz="quarter" idx="5"/>
          </p:nvPr>
        </p:nvSpPr>
        <p:spPr>
          <a:noFill/>
        </p:spPr>
        <p:txBody>
          <a:bodyPr/>
          <a:lstStyle/>
          <a:p>
            <a:fld id="{ACB9D1A5-007F-4690-8DD0-4C59C35368AD}" type="slidenum">
              <a:rPr lang="en-US" smtClean="0"/>
              <a:pPr/>
              <a:t>129</a:t>
            </a:fld>
            <a:endParaRPr lang="en-US"/>
          </a:p>
        </p:txBody>
      </p:sp>
      <p:sp>
        <p:nvSpPr>
          <p:cNvPr id="375811" name="Rectangle 2"/>
          <p:cNvSpPr>
            <a:spLocks noGrp="1" noRot="1" noChangeAspect="1" noChangeArrowheads="1" noTextEdit="1"/>
          </p:cNvSpPr>
          <p:nvPr>
            <p:ph type="sldImg"/>
          </p:nvPr>
        </p:nvSpPr>
        <p:spPr>
          <a:xfrm>
            <a:off x="1193800" y="695325"/>
            <a:ext cx="4641850" cy="3481388"/>
          </a:xfrm>
          <a:ln/>
        </p:spPr>
      </p:sp>
      <p:sp>
        <p:nvSpPr>
          <p:cNvPr id="375812" name="Rectangle 3"/>
          <p:cNvSpPr>
            <a:spLocks noGrp="1" noChangeArrowheads="1"/>
          </p:cNvSpPr>
          <p:nvPr>
            <p:ph type="body" idx="1"/>
          </p:nvPr>
        </p:nvSpPr>
        <p:spPr>
          <a:noFill/>
          <a:ln/>
        </p:spPr>
        <p:txBody>
          <a:bodyPr/>
          <a:lstStyle/>
          <a:p>
            <a:r>
              <a:rPr lang="en-US"/>
              <a:t>Here is a specific </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p:spPr>
        <p:txBody>
          <a:bodyPr/>
          <a:lstStyle/>
          <a:p>
            <a:fld id="{47B8659B-A390-459E-A18B-EE169AC26BF4}" type="slidenum">
              <a:rPr lang="en-US" smtClean="0"/>
              <a:pPr/>
              <a:t>130</a:t>
            </a:fld>
            <a:endParaRPr lang="en-US"/>
          </a:p>
        </p:txBody>
      </p:sp>
      <p:sp>
        <p:nvSpPr>
          <p:cNvPr id="376835" name="Rectangle 2"/>
          <p:cNvSpPr>
            <a:spLocks noGrp="1" noRot="1" noChangeAspect="1" noChangeArrowheads="1" noTextEdit="1"/>
          </p:cNvSpPr>
          <p:nvPr>
            <p:ph type="sldImg"/>
          </p:nvPr>
        </p:nvSpPr>
        <p:spPr>
          <a:xfrm>
            <a:off x="1193800" y="695325"/>
            <a:ext cx="4641850" cy="3481388"/>
          </a:xfrm>
          <a:ln/>
        </p:spPr>
      </p:sp>
      <p:sp>
        <p:nvSpPr>
          <p:cNvPr id="3768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7"/>
          <p:cNvSpPr>
            <a:spLocks noGrp="1" noChangeArrowheads="1"/>
          </p:cNvSpPr>
          <p:nvPr>
            <p:ph type="sldNum" sz="quarter" idx="5"/>
          </p:nvPr>
        </p:nvSpPr>
        <p:spPr>
          <a:noFill/>
        </p:spPr>
        <p:txBody>
          <a:bodyPr/>
          <a:lstStyle/>
          <a:p>
            <a:fld id="{04C415D8-3346-48A2-AB5C-6BA731B8B7B8}" type="slidenum">
              <a:rPr lang="en-US" smtClean="0"/>
              <a:pPr/>
              <a:t>131</a:t>
            </a:fld>
            <a:endParaRPr lang="en-US"/>
          </a:p>
        </p:txBody>
      </p:sp>
      <p:sp>
        <p:nvSpPr>
          <p:cNvPr id="377859" name="Rectangle 2"/>
          <p:cNvSpPr>
            <a:spLocks noGrp="1" noRot="1" noChangeAspect="1" noChangeArrowheads="1" noTextEdit="1"/>
          </p:cNvSpPr>
          <p:nvPr>
            <p:ph type="sldImg"/>
          </p:nvPr>
        </p:nvSpPr>
        <p:spPr>
          <a:xfrm>
            <a:off x="1193800" y="695325"/>
            <a:ext cx="4641850" cy="3481388"/>
          </a:xfrm>
          <a:ln/>
        </p:spPr>
      </p:sp>
      <p:sp>
        <p:nvSpPr>
          <p:cNvPr id="3778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7"/>
          <p:cNvSpPr>
            <a:spLocks noGrp="1" noChangeArrowheads="1"/>
          </p:cNvSpPr>
          <p:nvPr>
            <p:ph type="sldNum" sz="quarter" idx="5"/>
          </p:nvPr>
        </p:nvSpPr>
        <p:spPr>
          <a:noFill/>
        </p:spPr>
        <p:txBody>
          <a:bodyPr/>
          <a:lstStyle/>
          <a:p>
            <a:fld id="{151F934D-CC47-4CE1-A685-BEA6A7F68026}" type="slidenum">
              <a:rPr lang="en-US" smtClean="0"/>
              <a:pPr/>
              <a:t>132</a:t>
            </a:fld>
            <a:endParaRPr lang="en-US"/>
          </a:p>
        </p:txBody>
      </p:sp>
      <p:sp>
        <p:nvSpPr>
          <p:cNvPr id="378883" name="Rectangle 2"/>
          <p:cNvSpPr>
            <a:spLocks noGrp="1" noRot="1" noChangeAspect="1" noChangeArrowheads="1" noTextEdit="1"/>
          </p:cNvSpPr>
          <p:nvPr>
            <p:ph type="sldImg"/>
          </p:nvPr>
        </p:nvSpPr>
        <p:spPr>
          <a:xfrm>
            <a:off x="1193800" y="695325"/>
            <a:ext cx="4641850" cy="3481388"/>
          </a:xfrm>
          <a:ln/>
        </p:spPr>
      </p:sp>
      <p:sp>
        <p:nvSpPr>
          <p:cNvPr id="3788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A5E2A446-C3E7-469D-B172-12DA27B2B197}" type="slidenum">
              <a:rPr lang="en-US" smtClean="0"/>
              <a:pPr/>
              <a:t>133</a:t>
            </a:fld>
            <a:endParaRPr lang="en-US"/>
          </a:p>
        </p:txBody>
      </p:sp>
      <p:sp>
        <p:nvSpPr>
          <p:cNvPr id="379907" name="Rectangle 2"/>
          <p:cNvSpPr>
            <a:spLocks noGrp="1" noRot="1" noChangeAspect="1" noChangeArrowheads="1" noTextEdit="1"/>
          </p:cNvSpPr>
          <p:nvPr>
            <p:ph type="sldImg"/>
          </p:nvPr>
        </p:nvSpPr>
        <p:spPr>
          <a:xfrm>
            <a:off x="1193800" y="695325"/>
            <a:ext cx="4641850" cy="3481388"/>
          </a:xfrm>
          <a:ln/>
        </p:spPr>
      </p:sp>
      <p:sp>
        <p:nvSpPr>
          <p:cNvPr id="3799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7"/>
          <p:cNvSpPr>
            <a:spLocks noGrp="1" noChangeArrowheads="1"/>
          </p:cNvSpPr>
          <p:nvPr>
            <p:ph type="sldNum" sz="quarter" idx="5"/>
          </p:nvPr>
        </p:nvSpPr>
        <p:spPr>
          <a:noFill/>
        </p:spPr>
        <p:txBody>
          <a:bodyPr/>
          <a:lstStyle/>
          <a:p>
            <a:fld id="{77E9CAC0-57A2-4964-A429-72A0D054ADCA}" type="slidenum">
              <a:rPr lang="en-US" smtClean="0"/>
              <a:pPr/>
              <a:t>134</a:t>
            </a:fld>
            <a:endParaRPr lang="en-US"/>
          </a:p>
        </p:txBody>
      </p:sp>
      <p:sp>
        <p:nvSpPr>
          <p:cNvPr id="380931" name="Rectangle 2"/>
          <p:cNvSpPr>
            <a:spLocks noGrp="1" noRot="1" noChangeAspect="1" noChangeArrowheads="1" noTextEdit="1"/>
          </p:cNvSpPr>
          <p:nvPr>
            <p:ph type="sldImg"/>
          </p:nvPr>
        </p:nvSpPr>
        <p:spPr>
          <a:xfrm>
            <a:off x="1193800" y="695325"/>
            <a:ext cx="4641850" cy="3481388"/>
          </a:xfrm>
          <a:ln/>
        </p:spPr>
      </p:sp>
      <p:sp>
        <p:nvSpPr>
          <p:cNvPr id="3809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7"/>
          <p:cNvSpPr>
            <a:spLocks noGrp="1" noChangeArrowheads="1"/>
          </p:cNvSpPr>
          <p:nvPr>
            <p:ph type="sldNum" sz="quarter" idx="5"/>
          </p:nvPr>
        </p:nvSpPr>
        <p:spPr>
          <a:noFill/>
        </p:spPr>
        <p:txBody>
          <a:bodyPr/>
          <a:lstStyle/>
          <a:p>
            <a:fld id="{FF528418-5096-47A8-97EB-21C62FA7F921}" type="slidenum">
              <a:rPr lang="en-US" smtClean="0"/>
              <a:pPr/>
              <a:t>135</a:t>
            </a:fld>
            <a:endParaRPr lang="en-US"/>
          </a:p>
        </p:txBody>
      </p:sp>
      <p:sp>
        <p:nvSpPr>
          <p:cNvPr id="385027" name="Rectangle 2"/>
          <p:cNvSpPr>
            <a:spLocks noGrp="1" noRot="1" noChangeAspect="1" noChangeArrowheads="1" noTextEdit="1"/>
          </p:cNvSpPr>
          <p:nvPr>
            <p:ph type="sldImg"/>
          </p:nvPr>
        </p:nvSpPr>
        <p:spPr>
          <a:xfrm>
            <a:off x="1193800" y="695325"/>
            <a:ext cx="4641850" cy="3481388"/>
          </a:xfrm>
          <a:ln/>
        </p:spPr>
      </p:sp>
      <p:sp>
        <p:nvSpPr>
          <p:cNvPr id="3850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7"/>
          <p:cNvSpPr txBox="1">
            <a:spLocks noGrp="1" noChangeArrowheads="1"/>
          </p:cNvSpPr>
          <p:nvPr/>
        </p:nvSpPr>
        <p:spPr bwMode="auto">
          <a:xfrm>
            <a:off x="3981450" y="8816975"/>
            <a:ext cx="3044825" cy="463550"/>
          </a:xfrm>
          <a:prstGeom prst="rect">
            <a:avLst/>
          </a:prstGeom>
          <a:noFill/>
          <a:ln w="9525">
            <a:noFill/>
            <a:miter lim="800000"/>
            <a:headEnd/>
            <a:tailEnd/>
          </a:ln>
        </p:spPr>
        <p:txBody>
          <a:bodyPr lIns="93177" tIns="46589" rIns="93177" bIns="46589" anchor="b"/>
          <a:lstStyle/>
          <a:p>
            <a:pPr algn="r" defTabSz="931863">
              <a:spcBef>
                <a:spcPct val="0"/>
              </a:spcBef>
            </a:pPr>
            <a:fld id="{1C63CE56-2F7F-4011-BBD3-44E545E43659}" type="slidenum">
              <a:rPr lang="en-US" sz="1200" b="0">
                <a:latin typeface="Marlett" pitchFamily="2" charset="2"/>
              </a:rPr>
              <a:pPr algn="r" defTabSz="931863">
                <a:spcBef>
                  <a:spcPct val="0"/>
                </a:spcBef>
              </a:pPr>
              <a:t>136</a:t>
            </a:fld>
            <a:endParaRPr lang="en-US" sz="1200" b="0">
              <a:latin typeface="Marlett" pitchFamily="2" charset="2"/>
            </a:endParaRPr>
          </a:p>
        </p:txBody>
      </p:sp>
      <p:sp>
        <p:nvSpPr>
          <p:cNvPr id="563203" name="Rectangle 2"/>
          <p:cNvSpPr>
            <a:spLocks noGrp="1" noRot="1" noChangeAspect="1" noChangeArrowheads="1" noTextEdit="1"/>
          </p:cNvSpPr>
          <p:nvPr>
            <p:ph type="sldImg"/>
          </p:nvPr>
        </p:nvSpPr>
        <p:spPr>
          <a:xfrm>
            <a:off x="1193800" y="695325"/>
            <a:ext cx="4641850" cy="3481388"/>
          </a:xfrm>
          <a:ln/>
        </p:spPr>
      </p:sp>
      <p:sp>
        <p:nvSpPr>
          <p:cNvPr id="5632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7"/>
          <p:cNvSpPr>
            <a:spLocks noGrp="1" noChangeArrowheads="1"/>
          </p:cNvSpPr>
          <p:nvPr>
            <p:ph type="sldNum" sz="quarter" idx="5"/>
          </p:nvPr>
        </p:nvSpPr>
        <p:spPr>
          <a:noFill/>
        </p:spPr>
        <p:txBody>
          <a:bodyPr/>
          <a:lstStyle/>
          <a:p>
            <a:fld id="{C8594BBB-1463-4D3D-AB64-5C95B11ED772}" type="slidenum">
              <a:rPr lang="en-US" smtClean="0"/>
              <a:pPr/>
              <a:t>137</a:t>
            </a:fld>
            <a:endParaRPr lang="en-US"/>
          </a:p>
        </p:txBody>
      </p:sp>
      <p:sp>
        <p:nvSpPr>
          <p:cNvPr id="386051" name="Rectangle 2"/>
          <p:cNvSpPr>
            <a:spLocks noGrp="1" noRot="1" noChangeAspect="1" noChangeArrowheads="1" noTextEdit="1"/>
          </p:cNvSpPr>
          <p:nvPr>
            <p:ph type="sldImg"/>
          </p:nvPr>
        </p:nvSpPr>
        <p:spPr>
          <a:xfrm>
            <a:off x="1193800" y="695325"/>
            <a:ext cx="4641850" cy="3481388"/>
          </a:xfrm>
          <a:ln/>
        </p:spPr>
      </p:sp>
      <p:sp>
        <p:nvSpPr>
          <p:cNvPr id="3860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7"/>
          <p:cNvSpPr>
            <a:spLocks noGrp="1" noChangeArrowheads="1"/>
          </p:cNvSpPr>
          <p:nvPr>
            <p:ph type="sldNum" sz="quarter" idx="5"/>
          </p:nvPr>
        </p:nvSpPr>
        <p:spPr>
          <a:noFill/>
        </p:spPr>
        <p:txBody>
          <a:bodyPr/>
          <a:lstStyle/>
          <a:p>
            <a:fld id="{8983EFB1-34D4-4FAC-A640-52E2966898BE}" type="slidenum">
              <a:rPr lang="en-US" smtClean="0"/>
              <a:pPr/>
              <a:t>138</a:t>
            </a:fld>
            <a:endParaRPr lang="en-US"/>
          </a:p>
        </p:txBody>
      </p:sp>
      <p:sp>
        <p:nvSpPr>
          <p:cNvPr id="387075" name="Rectangle 2"/>
          <p:cNvSpPr>
            <a:spLocks noGrp="1" noRot="1" noChangeAspect="1" noChangeArrowheads="1" noTextEdit="1"/>
          </p:cNvSpPr>
          <p:nvPr>
            <p:ph type="sldImg"/>
          </p:nvPr>
        </p:nvSpPr>
        <p:spPr>
          <a:xfrm>
            <a:off x="1193800" y="695325"/>
            <a:ext cx="4641850" cy="3481388"/>
          </a:xfrm>
          <a:ln/>
        </p:spPr>
      </p:sp>
      <p:sp>
        <p:nvSpPr>
          <p:cNvPr id="3870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7"/>
          <p:cNvSpPr>
            <a:spLocks noGrp="1" noChangeArrowheads="1"/>
          </p:cNvSpPr>
          <p:nvPr>
            <p:ph type="sldNum" sz="quarter" idx="5"/>
          </p:nvPr>
        </p:nvSpPr>
        <p:spPr>
          <a:noFill/>
        </p:spPr>
        <p:txBody>
          <a:bodyPr/>
          <a:lstStyle/>
          <a:p>
            <a:fld id="{CEA75502-07E4-43E0-93EF-E48F5DC5BECB}" type="slidenum">
              <a:rPr lang="en-US" smtClean="0"/>
              <a:pPr/>
              <a:t>139</a:t>
            </a:fld>
            <a:endParaRPr lang="en-US"/>
          </a:p>
        </p:txBody>
      </p:sp>
      <p:sp>
        <p:nvSpPr>
          <p:cNvPr id="388099" name="Rectangle 2"/>
          <p:cNvSpPr>
            <a:spLocks noGrp="1" noRot="1" noChangeAspect="1" noChangeArrowheads="1" noTextEdit="1"/>
          </p:cNvSpPr>
          <p:nvPr>
            <p:ph type="sldImg"/>
          </p:nvPr>
        </p:nvSpPr>
        <p:spPr>
          <a:xfrm>
            <a:off x="1193800" y="695325"/>
            <a:ext cx="4641850" cy="3481388"/>
          </a:xfrm>
          <a:ln/>
        </p:spPr>
      </p:sp>
      <p:sp>
        <p:nvSpPr>
          <p:cNvPr id="3881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7"/>
          <p:cNvSpPr>
            <a:spLocks noGrp="1" noChangeArrowheads="1"/>
          </p:cNvSpPr>
          <p:nvPr>
            <p:ph type="sldNum" sz="quarter" idx="5"/>
          </p:nvPr>
        </p:nvSpPr>
        <p:spPr>
          <a:noFill/>
        </p:spPr>
        <p:txBody>
          <a:bodyPr/>
          <a:lstStyle/>
          <a:p>
            <a:fld id="{9F490544-8D55-4DDF-9B18-2AE2FDE78181}" type="slidenum">
              <a:rPr lang="en-US" smtClean="0"/>
              <a:pPr/>
              <a:t>140</a:t>
            </a:fld>
            <a:endParaRPr lang="en-US"/>
          </a:p>
        </p:txBody>
      </p:sp>
      <p:sp>
        <p:nvSpPr>
          <p:cNvPr id="389123" name="Rectangle 2"/>
          <p:cNvSpPr>
            <a:spLocks noGrp="1" noRot="1" noChangeAspect="1" noChangeArrowheads="1" noTextEdit="1"/>
          </p:cNvSpPr>
          <p:nvPr>
            <p:ph type="sldImg"/>
          </p:nvPr>
        </p:nvSpPr>
        <p:spPr>
          <a:xfrm>
            <a:off x="1193800" y="695325"/>
            <a:ext cx="4641850" cy="3481388"/>
          </a:xfrm>
          <a:ln/>
        </p:spPr>
      </p:sp>
      <p:sp>
        <p:nvSpPr>
          <p:cNvPr id="3891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7"/>
          <p:cNvSpPr>
            <a:spLocks noGrp="1" noChangeArrowheads="1"/>
          </p:cNvSpPr>
          <p:nvPr>
            <p:ph type="sldNum" sz="quarter" idx="5"/>
          </p:nvPr>
        </p:nvSpPr>
        <p:spPr>
          <a:noFill/>
        </p:spPr>
        <p:txBody>
          <a:bodyPr/>
          <a:lstStyle/>
          <a:p>
            <a:fld id="{FAAEE788-0A67-439F-AF1B-45C144B1F474}" type="slidenum">
              <a:rPr lang="en-US" smtClean="0"/>
              <a:pPr/>
              <a:t>141</a:t>
            </a:fld>
            <a:endParaRPr lang="en-US"/>
          </a:p>
        </p:txBody>
      </p:sp>
      <p:sp>
        <p:nvSpPr>
          <p:cNvPr id="390147" name="Rectangle 2"/>
          <p:cNvSpPr>
            <a:spLocks noGrp="1" noRot="1" noChangeAspect="1" noChangeArrowheads="1" noTextEdit="1"/>
          </p:cNvSpPr>
          <p:nvPr>
            <p:ph type="sldImg"/>
          </p:nvPr>
        </p:nvSpPr>
        <p:spPr>
          <a:xfrm>
            <a:off x="1193800" y="695325"/>
            <a:ext cx="4641850" cy="3481388"/>
          </a:xfrm>
          <a:ln/>
        </p:spPr>
      </p:sp>
      <p:sp>
        <p:nvSpPr>
          <p:cNvPr id="3901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7"/>
          <p:cNvSpPr>
            <a:spLocks noGrp="1" noChangeArrowheads="1"/>
          </p:cNvSpPr>
          <p:nvPr>
            <p:ph type="sldNum" sz="quarter" idx="5"/>
          </p:nvPr>
        </p:nvSpPr>
        <p:spPr>
          <a:noFill/>
        </p:spPr>
        <p:txBody>
          <a:bodyPr/>
          <a:lstStyle/>
          <a:p>
            <a:fld id="{3B9E1EFD-1C95-440C-B515-2CF6B57FC9B1}" type="slidenum">
              <a:rPr lang="en-US" smtClean="0"/>
              <a:pPr/>
              <a:t>142</a:t>
            </a:fld>
            <a:endParaRPr lang="en-US"/>
          </a:p>
        </p:txBody>
      </p:sp>
      <p:sp>
        <p:nvSpPr>
          <p:cNvPr id="391171" name="Rectangle 2"/>
          <p:cNvSpPr>
            <a:spLocks noGrp="1" noRot="1" noChangeAspect="1" noChangeArrowheads="1" noTextEdit="1"/>
          </p:cNvSpPr>
          <p:nvPr>
            <p:ph type="sldImg"/>
          </p:nvPr>
        </p:nvSpPr>
        <p:spPr>
          <a:xfrm>
            <a:off x="1193800" y="695325"/>
            <a:ext cx="4641850" cy="3481388"/>
          </a:xfrm>
          <a:ln/>
        </p:spPr>
      </p:sp>
      <p:sp>
        <p:nvSpPr>
          <p:cNvPr id="3911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7"/>
          <p:cNvSpPr>
            <a:spLocks noGrp="1" noChangeArrowheads="1"/>
          </p:cNvSpPr>
          <p:nvPr>
            <p:ph type="sldNum" sz="quarter" idx="5"/>
          </p:nvPr>
        </p:nvSpPr>
        <p:spPr>
          <a:noFill/>
        </p:spPr>
        <p:txBody>
          <a:bodyPr/>
          <a:lstStyle/>
          <a:p>
            <a:fld id="{501051EE-7360-46AD-8562-2DBD91FBBBD2}" type="slidenum">
              <a:rPr lang="en-US" smtClean="0"/>
              <a:pPr/>
              <a:t>143</a:t>
            </a:fld>
            <a:endParaRPr lang="en-US"/>
          </a:p>
        </p:txBody>
      </p:sp>
      <p:sp>
        <p:nvSpPr>
          <p:cNvPr id="392195" name="Rectangle 2"/>
          <p:cNvSpPr>
            <a:spLocks noGrp="1" noRot="1" noChangeAspect="1" noChangeArrowheads="1" noTextEdit="1"/>
          </p:cNvSpPr>
          <p:nvPr>
            <p:ph type="sldImg"/>
          </p:nvPr>
        </p:nvSpPr>
        <p:spPr>
          <a:ln/>
        </p:spPr>
      </p:sp>
      <p:sp>
        <p:nvSpPr>
          <p:cNvPr id="3921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7"/>
          <p:cNvSpPr>
            <a:spLocks noGrp="1" noChangeArrowheads="1"/>
          </p:cNvSpPr>
          <p:nvPr>
            <p:ph type="sldNum" sz="quarter" idx="5"/>
          </p:nvPr>
        </p:nvSpPr>
        <p:spPr>
          <a:noFill/>
        </p:spPr>
        <p:txBody>
          <a:bodyPr/>
          <a:lstStyle/>
          <a:p>
            <a:fld id="{2905EF41-20CC-4887-BF5A-D0134CEDC919}" type="slidenum">
              <a:rPr lang="en-US" smtClean="0"/>
              <a:pPr/>
              <a:t>144</a:t>
            </a:fld>
            <a:endParaRPr lang="en-US"/>
          </a:p>
        </p:txBody>
      </p:sp>
      <p:sp>
        <p:nvSpPr>
          <p:cNvPr id="393219" name="Rectangle 2"/>
          <p:cNvSpPr>
            <a:spLocks noGrp="1" noRot="1" noChangeAspect="1" noChangeArrowheads="1" noTextEdit="1"/>
          </p:cNvSpPr>
          <p:nvPr>
            <p:ph type="sldImg"/>
          </p:nvPr>
        </p:nvSpPr>
        <p:spPr>
          <a:ln/>
        </p:spPr>
      </p:sp>
      <p:sp>
        <p:nvSpPr>
          <p:cNvPr id="3932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7"/>
          <p:cNvSpPr>
            <a:spLocks noGrp="1" noChangeArrowheads="1"/>
          </p:cNvSpPr>
          <p:nvPr>
            <p:ph type="sldNum" sz="quarter" idx="5"/>
          </p:nvPr>
        </p:nvSpPr>
        <p:spPr>
          <a:noFill/>
        </p:spPr>
        <p:txBody>
          <a:bodyPr/>
          <a:lstStyle/>
          <a:p>
            <a:fld id="{285F131A-C901-4CB9-A660-2F0E57D09140}" type="slidenum">
              <a:rPr lang="en-US" smtClean="0"/>
              <a:pPr/>
              <a:t>145</a:t>
            </a:fld>
            <a:endParaRPr lang="en-US"/>
          </a:p>
        </p:txBody>
      </p:sp>
      <p:sp>
        <p:nvSpPr>
          <p:cNvPr id="394243" name="Rectangle 2"/>
          <p:cNvSpPr>
            <a:spLocks noGrp="1" noRot="1" noChangeAspect="1" noChangeArrowheads="1" noTextEdit="1"/>
          </p:cNvSpPr>
          <p:nvPr>
            <p:ph type="sldImg"/>
          </p:nvPr>
        </p:nvSpPr>
        <p:spPr>
          <a:ln/>
        </p:spPr>
      </p:sp>
      <p:sp>
        <p:nvSpPr>
          <p:cNvPr id="3942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7"/>
          <p:cNvSpPr>
            <a:spLocks noGrp="1" noChangeArrowheads="1"/>
          </p:cNvSpPr>
          <p:nvPr>
            <p:ph type="sldNum" sz="quarter" idx="5"/>
          </p:nvPr>
        </p:nvSpPr>
        <p:spPr>
          <a:noFill/>
        </p:spPr>
        <p:txBody>
          <a:bodyPr/>
          <a:lstStyle/>
          <a:p>
            <a:fld id="{9A74B3BA-54A3-4A64-8115-FFC463FD9E21}" type="slidenum">
              <a:rPr lang="en-US" smtClean="0"/>
              <a:pPr/>
              <a:t>146</a:t>
            </a:fld>
            <a:endParaRPr lang="en-US"/>
          </a:p>
        </p:txBody>
      </p:sp>
      <p:sp>
        <p:nvSpPr>
          <p:cNvPr id="395267" name="Rectangle 2"/>
          <p:cNvSpPr>
            <a:spLocks noGrp="1" noRot="1" noChangeAspect="1" noChangeArrowheads="1" noTextEdit="1"/>
          </p:cNvSpPr>
          <p:nvPr>
            <p:ph type="sldImg"/>
          </p:nvPr>
        </p:nvSpPr>
        <p:spPr>
          <a:ln/>
        </p:spPr>
      </p:sp>
      <p:sp>
        <p:nvSpPr>
          <p:cNvPr id="3952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7"/>
          <p:cNvSpPr>
            <a:spLocks noGrp="1" noChangeArrowheads="1"/>
          </p:cNvSpPr>
          <p:nvPr>
            <p:ph type="sldNum" sz="quarter" idx="5"/>
          </p:nvPr>
        </p:nvSpPr>
        <p:spPr>
          <a:noFill/>
        </p:spPr>
        <p:txBody>
          <a:bodyPr/>
          <a:lstStyle/>
          <a:p>
            <a:fld id="{7069ABB5-19AF-499A-9AD8-6439A6E9BBC3}" type="slidenum">
              <a:rPr lang="en-US" smtClean="0"/>
              <a:pPr/>
              <a:t>147</a:t>
            </a:fld>
            <a:endParaRPr lang="en-US"/>
          </a:p>
        </p:txBody>
      </p:sp>
      <p:sp>
        <p:nvSpPr>
          <p:cNvPr id="396291" name="Rectangle 2"/>
          <p:cNvSpPr>
            <a:spLocks noGrp="1" noRot="1" noChangeAspect="1" noChangeArrowheads="1" noTextEdit="1"/>
          </p:cNvSpPr>
          <p:nvPr>
            <p:ph type="sldImg"/>
          </p:nvPr>
        </p:nvSpPr>
        <p:spPr>
          <a:ln/>
        </p:spPr>
      </p:sp>
      <p:sp>
        <p:nvSpPr>
          <p:cNvPr id="3962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7"/>
          <p:cNvSpPr>
            <a:spLocks noGrp="1" noChangeArrowheads="1"/>
          </p:cNvSpPr>
          <p:nvPr>
            <p:ph type="sldNum" sz="quarter" idx="5"/>
          </p:nvPr>
        </p:nvSpPr>
        <p:spPr>
          <a:noFill/>
        </p:spPr>
        <p:txBody>
          <a:bodyPr/>
          <a:lstStyle/>
          <a:p>
            <a:fld id="{319D4A96-D465-47A7-A185-5A0B2A2C9E93}" type="slidenum">
              <a:rPr lang="en-US" smtClean="0"/>
              <a:pPr/>
              <a:t>148</a:t>
            </a:fld>
            <a:endParaRPr lang="en-US"/>
          </a:p>
        </p:txBody>
      </p:sp>
      <p:sp>
        <p:nvSpPr>
          <p:cNvPr id="397315" name="Rectangle 2"/>
          <p:cNvSpPr>
            <a:spLocks noGrp="1" noRot="1" noChangeAspect="1" noChangeArrowheads="1" noTextEdit="1"/>
          </p:cNvSpPr>
          <p:nvPr>
            <p:ph type="sldImg"/>
          </p:nvPr>
        </p:nvSpPr>
        <p:spPr>
          <a:ln/>
        </p:spPr>
      </p:sp>
      <p:sp>
        <p:nvSpPr>
          <p:cNvPr id="3973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7"/>
          <p:cNvSpPr>
            <a:spLocks noGrp="1" noChangeArrowheads="1"/>
          </p:cNvSpPr>
          <p:nvPr>
            <p:ph type="sldNum" sz="quarter" idx="5"/>
          </p:nvPr>
        </p:nvSpPr>
        <p:spPr>
          <a:noFill/>
        </p:spPr>
        <p:txBody>
          <a:bodyPr/>
          <a:lstStyle/>
          <a:p>
            <a:fld id="{C3A0AC78-E169-43B2-93C1-92BAB3F1ED46}" type="slidenum">
              <a:rPr lang="en-US" smtClean="0"/>
              <a:pPr/>
              <a:t>149</a:t>
            </a:fld>
            <a:endParaRPr lang="en-US"/>
          </a:p>
        </p:txBody>
      </p:sp>
      <p:sp>
        <p:nvSpPr>
          <p:cNvPr id="398339" name="Rectangle 2"/>
          <p:cNvSpPr>
            <a:spLocks noGrp="1" noRot="1" noChangeAspect="1" noChangeArrowheads="1" noTextEdit="1"/>
          </p:cNvSpPr>
          <p:nvPr>
            <p:ph type="sldImg"/>
          </p:nvPr>
        </p:nvSpPr>
        <p:spPr>
          <a:ln/>
        </p:spPr>
      </p:sp>
      <p:sp>
        <p:nvSpPr>
          <p:cNvPr id="3983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7"/>
          <p:cNvSpPr>
            <a:spLocks noGrp="1" noChangeArrowheads="1"/>
          </p:cNvSpPr>
          <p:nvPr>
            <p:ph type="sldNum" sz="quarter" idx="5"/>
          </p:nvPr>
        </p:nvSpPr>
        <p:spPr>
          <a:noFill/>
        </p:spPr>
        <p:txBody>
          <a:bodyPr/>
          <a:lstStyle/>
          <a:p>
            <a:fld id="{BF4FA38D-8FEF-4829-A278-64C0F717BE1D}" type="slidenum">
              <a:rPr lang="en-US" smtClean="0"/>
              <a:pPr/>
              <a:t>150</a:t>
            </a:fld>
            <a:endParaRPr lang="en-US"/>
          </a:p>
        </p:txBody>
      </p:sp>
      <p:sp>
        <p:nvSpPr>
          <p:cNvPr id="399363" name="Rectangle 2"/>
          <p:cNvSpPr>
            <a:spLocks noGrp="1" noRot="1" noChangeAspect="1" noChangeArrowheads="1" noTextEdit="1"/>
          </p:cNvSpPr>
          <p:nvPr>
            <p:ph type="sldImg"/>
          </p:nvPr>
        </p:nvSpPr>
        <p:spPr>
          <a:ln/>
        </p:spPr>
      </p:sp>
      <p:sp>
        <p:nvSpPr>
          <p:cNvPr id="3993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7"/>
          <p:cNvSpPr>
            <a:spLocks noGrp="1" noChangeArrowheads="1"/>
          </p:cNvSpPr>
          <p:nvPr>
            <p:ph type="sldNum" sz="quarter" idx="5"/>
          </p:nvPr>
        </p:nvSpPr>
        <p:spPr>
          <a:noFill/>
        </p:spPr>
        <p:txBody>
          <a:bodyPr/>
          <a:lstStyle/>
          <a:p>
            <a:fld id="{913D07D0-B2BE-4371-AD3B-2E90B17396A2}" type="slidenum">
              <a:rPr lang="en-US" smtClean="0"/>
              <a:pPr/>
              <a:t>151</a:t>
            </a:fld>
            <a:endParaRPr lang="en-US"/>
          </a:p>
        </p:txBody>
      </p:sp>
      <p:sp>
        <p:nvSpPr>
          <p:cNvPr id="400387" name="Rectangle 2"/>
          <p:cNvSpPr>
            <a:spLocks noGrp="1" noRot="1" noChangeAspect="1" noChangeArrowheads="1" noTextEdit="1"/>
          </p:cNvSpPr>
          <p:nvPr>
            <p:ph type="sldImg"/>
          </p:nvPr>
        </p:nvSpPr>
        <p:spPr>
          <a:ln/>
        </p:spPr>
      </p:sp>
      <p:sp>
        <p:nvSpPr>
          <p:cNvPr id="4003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7"/>
          <p:cNvSpPr>
            <a:spLocks noGrp="1" noChangeArrowheads="1"/>
          </p:cNvSpPr>
          <p:nvPr>
            <p:ph type="sldNum" sz="quarter" idx="5"/>
          </p:nvPr>
        </p:nvSpPr>
        <p:spPr>
          <a:noFill/>
        </p:spPr>
        <p:txBody>
          <a:bodyPr/>
          <a:lstStyle/>
          <a:p>
            <a:fld id="{19A2A2AD-0F75-429B-AD99-C544F51CD1C3}" type="slidenum">
              <a:rPr lang="en-US" smtClean="0"/>
              <a:pPr/>
              <a:t>152</a:t>
            </a:fld>
            <a:endParaRPr lang="en-US"/>
          </a:p>
        </p:txBody>
      </p:sp>
      <p:sp>
        <p:nvSpPr>
          <p:cNvPr id="401411" name="Rectangle 2"/>
          <p:cNvSpPr>
            <a:spLocks noGrp="1" noRot="1" noChangeAspect="1" noChangeArrowheads="1" noTextEdit="1"/>
          </p:cNvSpPr>
          <p:nvPr>
            <p:ph type="sldImg"/>
          </p:nvPr>
        </p:nvSpPr>
        <p:spPr>
          <a:ln/>
        </p:spPr>
      </p:sp>
      <p:sp>
        <p:nvSpPr>
          <p:cNvPr id="4014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7"/>
          <p:cNvSpPr>
            <a:spLocks noGrp="1" noChangeArrowheads="1"/>
          </p:cNvSpPr>
          <p:nvPr>
            <p:ph type="sldNum" sz="quarter" idx="5"/>
          </p:nvPr>
        </p:nvSpPr>
        <p:spPr>
          <a:noFill/>
        </p:spPr>
        <p:txBody>
          <a:bodyPr/>
          <a:lstStyle/>
          <a:p>
            <a:fld id="{4B5F4A53-C943-4FC9-AAA9-F32363A1668B}" type="slidenum">
              <a:rPr lang="en-US" smtClean="0"/>
              <a:pPr/>
              <a:t>153</a:t>
            </a:fld>
            <a:endParaRPr lang="en-US"/>
          </a:p>
        </p:txBody>
      </p:sp>
      <p:sp>
        <p:nvSpPr>
          <p:cNvPr id="402435" name="Rectangle 2"/>
          <p:cNvSpPr>
            <a:spLocks noGrp="1" noRot="1" noChangeAspect="1" noChangeArrowheads="1" noTextEdit="1"/>
          </p:cNvSpPr>
          <p:nvPr>
            <p:ph type="sldImg"/>
          </p:nvPr>
        </p:nvSpPr>
        <p:spPr>
          <a:xfrm>
            <a:off x="1193800" y="695325"/>
            <a:ext cx="4641850" cy="3481388"/>
          </a:xfrm>
          <a:ln/>
        </p:spPr>
      </p:sp>
      <p:sp>
        <p:nvSpPr>
          <p:cNvPr id="402436" name="Rectangle 3"/>
          <p:cNvSpPr>
            <a:spLocks noGrp="1" noChangeArrowheads="1"/>
          </p:cNvSpPr>
          <p:nvPr>
            <p:ph type="body" idx="1"/>
          </p:nvPr>
        </p:nvSpPr>
        <p:spPr>
          <a:noFill/>
          <a:ln/>
        </p:spPr>
        <p:txBody>
          <a:bodyPr/>
          <a:lstStyle/>
          <a:p>
            <a:r>
              <a:rPr lang="en-US"/>
              <a:t>Here is the inductive structure of the Bitonic[4] counting network</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7"/>
          <p:cNvSpPr>
            <a:spLocks noGrp="1" noChangeArrowheads="1"/>
          </p:cNvSpPr>
          <p:nvPr>
            <p:ph type="sldNum" sz="quarter" idx="5"/>
          </p:nvPr>
        </p:nvSpPr>
        <p:spPr>
          <a:noFill/>
        </p:spPr>
        <p:txBody>
          <a:bodyPr/>
          <a:lstStyle/>
          <a:p>
            <a:fld id="{14D6B602-00B0-4BBA-8A66-E3FBA7DC9726}" type="slidenum">
              <a:rPr lang="en-US" smtClean="0"/>
              <a:pPr/>
              <a:t>154</a:t>
            </a:fld>
            <a:endParaRPr lang="en-US"/>
          </a:p>
        </p:txBody>
      </p:sp>
      <p:sp>
        <p:nvSpPr>
          <p:cNvPr id="403459" name="Rectangle 2"/>
          <p:cNvSpPr>
            <a:spLocks noGrp="1" noRot="1" noChangeAspect="1" noChangeArrowheads="1" noTextEdit="1"/>
          </p:cNvSpPr>
          <p:nvPr>
            <p:ph type="sldImg"/>
          </p:nvPr>
        </p:nvSpPr>
        <p:spPr>
          <a:ln/>
        </p:spPr>
      </p:sp>
      <p:sp>
        <p:nvSpPr>
          <p:cNvPr id="4034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7"/>
          <p:cNvSpPr>
            <a:spLocks noGrp="1" noChangeArrowheads="1"/>
          </p:cNvSpPr>
          <p:nvPr>
            <p:ph type="sldNum" sz="quarter" idx="5"/>
          </p:nvPr>
        </p:nvSpPr>
        <p:spPr>
          <a:noFill/>
        </p:spPr>
        <p:txBody>
          <a:bodyPr/>
          <a:lstStyle/>
          <a:p>
            <a:fld id="{599B4216-46F7-434D-A93C-879C301BFDA2}" type="slidenum">
              <a:rPr lang="en-US" smtClean="0"/>
              <a:pPr/>
              <a:t>155</a:t>
            </a:fld>
            <a:endParaRPr lang="en-US"/>
          </a:p>
        </p:txBody>
      </p:sp>
      <p:sp>
        <p:nvSpPr>
          <p:cNvPr id="404483" name="Rectangle 2"/>
          <p:cNvSpPr>
            <a:spLocks noGrp="1" noRot="1" noChangeAspect="1" noChangeArrowheads="1" noTextEdit="1"/>
          </p:cNvSpPr>
          <p:nvPr>
            <p:ph type="sldImg"/>
          </p:nvPr>
        </p:nvSpPr>
        <p:spPr>
          <a:ln/>
        </p:spPr>
      </p:sp>
      <p:sp>
        <p:nvSpPr>
          <p:cNvPr id="4044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7"/>
          <p:cNvSpPr>
            <a:spLocks noGrp="1" noChangeArrowheads="1"/>
          </p:cNvSpPr>
          <p:nvPr>
            <p:ph type="sldNum" sz="quarter" idx="5"/>
          </p:nvPr>
        </p:nvSpPr>
        <p:spPr>
          <a:noFill/>
        </p:spPr>
        <p:txBody>
          <a:bodyPr/>
          <a:lstStyle/>
          <a:p>
            <a:fld id="{802E767D-DBF0-4B3E-9560-9CB0C68A9E2F}" type="slidenum">
              <a:rPr lang="en-US" smtClean="0"/>
              <a:pPr/>
              <a:t>156</a:t>
            </a:fld>
            <a:endParaRPr lang="en-US"/>
          </a:p>
        </p:txBody>
      </p:sp>
      <p:sp>
        <p:nvSpPr>
          <p:cNvPr id="405507" name="Rectangle 2"/>
          <p:cNvSpPr>
            <a:spLocks noGrp="1" noRot="1" noChangeAspect="1" noChangeArrowheads="1" noTextEdit="1"/>
          </p:cNvSpPr>
          <p:nvPr>
            <p:ph type="sldImg"/>
          </p:nvPr>
        </p:nvSpPr>
        <p:spPr>
          <a:ln/>
        </p:spPr>
      </p:sp>
      <p:sp>
        <p:nvSpPr>
          <p:cNvPr id="4055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7"/>
          <p:cNvSpPr>
            <a:spLocks noGrp="1" noChangeArrowheads="1"/>
          </p:cNvSpPr>
          <p:nvPr>
            <p:ph type="sldNum" sz="quarter" idx="5"/>
          </p:nvPr>
        </p:nvSpPr>
        <p:spPr>
          <a:noFill/>
        </p:spPr>
        <p:txBody>
          <a:bodyPr/>
          <a:lstStyle/>
          <a:p>
            <a:fld id="{4635BA18-4FE2-4E16-AD85-356103F3D6C6}" type="slidenum">
              <a:rPr lang="en-US" smtClean="0"/>
              <a:pPr/>
              <a:t>157</a:t>
            </a:fld>
            <a:endParaRPr lang="en-US"/>
          </a:p>
        </p:txBody>
      </p:sp>
      <p:sp>
        <p:nvSpPr>
          <p:cNvPr id="406531" name="Rectangle 2"/>
          <p:cNvSpPr>
            <a:spLocks noGrp="1" noRot="1" noChangeAspect="1" noChangeArrowheads="1" noTextEdit="1"/>
          </p:cNvSpPr>
          <p:nvPr>
            <p:ph type="sldImg"/>
          </p:nvPr>
        </p:nvSpPr>
        <p:spPr>
          <a:ln/>
        </p:spPr>
      </p:sp>
      <p:sp>
        <p:nvSpPr>
          <p:cNvPr id="4065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7"/>
          <p:cNvSpPr>
            <a:spLocks noGrp="1" noChangeArrowheads="1"/>
          </p:cNvSpPr>
          <p:nvPr>
            <p:ph type="sldNum" sz="quarter" idx="5"/>
          </p:nvPr>
        </p:nvSpPr>
        <p:spPr>
          <a:noFill/>
        </p:spPr>
        <p:txBody>
          <a:bodyPr/>
          <a:lstStyle/>
          <a:p>
            <a:fld id="{94D2E5B6-FEBF-4374-A746-294DEA12A907}" type="slidenum">
              <a:rPr lang="en-US" smtClean="0"/>
              <a:pPr/>
              <a:t>158</a:t>
            </a:fld>
            <a:endParaRPr lang="en-US"/>
          </a:p>
        </p:txBody>
      </p:sp>
      <p:sp>
        <p:nvSpPr>
          <p:cNvPr id="407555" name="Rectangle 2"/>
          <p:cNvSpPr>
            <a:spLocks noGrp="1" noRot="1" noChangeAspect="1" noChangeArrowheads="1" noTextEdit="1"/>
          </p:cNvSpPr>
          <p:nvPr>
            <p:ph type="sldImg"/>
          </p:nvPr>
        </p:nvSpPr>
        <p:spPr>
          <a:ln/>
        </p:spPr>
      </p:sp>
      <p:sp>
        <p:nvSpPr>
          <p:cNvPr id="4075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Rot="1" noChangeAspect="1" noChangeArrowheads="1" noTextEdit="1"/>
          </p:cNvSpPr>
          <p:nvPr>
            <p:ph type="sldImg"/>
          </p:nvPr>
        </p:nvSpPr>
        <p:spPr>
          <a:ln/>
        </p:spPr>
      </p:sp>
      <p:sp>
        <p:nvSpPr>
          <p:cNvPr id="565251"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7"/>
          <p:cNvSpPr>
            <a:spLocks noGrp="1" noChangeArrowheads="1"/>
          </p:cNvSpPr>
          <p:nvPr>
            <p:ph type="sldNum" sz="quarter" idx="5"/>
          </p:nvPr>
        </p:nvSpPr>
        <p:spPr>
          <a:noFill/>
        </p:spPr>
        <p:txBody>
          <a:bodyPr/>
          <a:lstStyle/>
          <a:p>
            <a:fld id="{9473A291-693F-4453-AD5F-AB8A20F4B8FF}" type="slidenum">
              <a:rPr lang="en-US" smtClean="0"/>
              <a:pPr/>
              <a:t>160</a:t>
            </a:fld>
            <a:endParaRPr lang="en-US"/>
          </a:p>
        </p:txBody>
      </p:sp>
      <p:sp>
        <p:nvSpPr>
          <p:cNvPr id="409603" name="Rectangle 2"/>
          <p:cNvSpPr>
            <a:spLocks noGrp="1" noRot="1" noChangeAspect="1" noChangeArrowheads="1" noTextEdit="1"/>
          </p:cNvSpPr>
          <p:nvPr>
            <p:ph type="sldImg"/>
          </p:nvPr>
        </p:nvSpPr>
        <p:spPr>
          <a:ln/>
        </p:spPr>
      </p:sp>
      <p:sp>
        <p:nvSpPr>
          <p:cNvPr id="4096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7"/>
          <p:cNvSpPr>
            <a:spLocks noGrp="1" noChangeArrowheads="1"/>
          </p:cNvSpPr>
          <p:nvPr>
            <p:ph type="sldNum" sz="quarter" idx="5"/>
          </p:nvPr>
        </p:nvSpPr>
        <p:spPr>
          <a:noFill/>
        </p:spPr>
        <p:txBody>
          <a:bodyPr/>
          <a:lstStyle/>
          <a:p>
            <a:fld id="{A3489328-5430-4BC1-A616-0200B556A509}" type="slidenum">
              <a:rPr lang="en-US" smtClean="0"/>
              <a:pPr/>
              <a:t>161</a:t>
            </a:fld>
            <a:endParaRPr lang="en-US"/>
          </a:p>
        </p:txBody>
      </p:sp>
      <p:sp>
        <p:nvSpPr>
          <p:cNvPr id="410627" name="Rectangle 2"/>
          <p:cNvSpPr>
            <a:spLocks noGrp="1" noRot="1" noChangeAspect="1" noChangeArrowheads="1" noTextEdit="1"/>
          </p:cNvSpPr>
          <p:nvPr>
            <p:ph type="sldImg"/>
          </p:nvPr>
        </p:nvSpPr>
        <p:spPr>
          <a:ln/>
        </p:spPr>
      </p:sp>
      <p:sp>
        <p:nvSpPr>
          <p:cNvPr id="410628" name="Rectangle 3"/>
          <p:cNvSpPr>
            <a:spLocks noGrp="1" noChangeArrowheads="1"/>
          </p:cNvSpPr>
          <p:nvPr>
            <p:ph type="body" idx="1"/>
          </p:nvPr>
        </p:nvSpPr>
        <p:spPr>
          <a:noFill/>
          <a:ln/>
        </p:spPr>
        <p:txBody>
          <a:bodyPr/>
          <a:lstStyle/>
          <a:p>
            <a:r>
              <a:rPr lang="en-US"/>
              <a:t>By induction hypothesis step property holds for inputs to Merger[2k].</a:t>
            </a: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7"/>
          <p:cNvSpPr>
            <a:spLocks noGrp="1" noChangeArrowheads="1"/>
          </p:cNvSpPr>
          <p:nvPr>
            <p:ph type="sldNum" sz="quarter" idx="5"/>
          </p:nvPr>
        </p:nvSpPr>
        <p:spPr>
          <a:noFill/>
        </p:spPr>
        <p:txBody>
          <a:bodyPr/>
          <a:lstStyle/>
          <a:p>
            <a:fld id="{B5AB24BC-F814-4C20-BB42-03F2D30929DC}" type="slidenum">
              <a:rPr lang="en-US" smtClean="0"/>
              <a:pPr/>
              <a:t>162</a:t>
            </a:fld>
            <a:endParaRPr lang="en-US"/>
          </a:p>
        </p:txBody>
      </p:sp>
      <p:sp>
        <p:nvSpPr>
          <p:cNvPr id="411651" name="Rectangle 2"/>
          <p:cNvSpPr>
            <a:spLocks noGrp="1" noRot="1" noChangeAspect="1" noChangeArrowheads="1" noTextEdit="1"/>
          </p:cNvSpPr>
          <p:nvPr>
            <p:ph type="sldImg"/>
          </p:nvPr>
        </p:nvSpPr>
        <p:spPr>
          <a:ln/>
        </p:spPr>
      </p:sp>
      <p:sp>
        <p:nvSpPr>
          <p:cNvPr id="4116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7"/>
          <p:cNvSpPr>
            <a:spLocks noGrp="1" noChangeArrowheads="1"/>
          </p:cNvSpPr>
          <p:nvPr>
            <p:ph type="sldNum" sz="quarter" idx="5"/>
          </p:nvPr>
        </p:nvSpPr>
        <p:spPr>
          <a:noFill/>
        </p:spPr>
        <p:txBody>
          <a:bodyPr/>
          <a:lstStyle/>
          <a:p>
            <a:fld id="{43D38A9E-5474-46C1-BD17-FC5A4F4BF86B}" type="slidenum">
              <a:rPr lang="en-US" smtClean="0"/>
              <a:pPr/>
              <a:t>163</a:t>
            </a:fld>
            <a:endParaRPr lang="en-US"/>
          </a:p>
        </p:txBody>
      </p:sp>
      <p:sp>
        <p:nvSpPr>
          <p:cNvPr id="412675" name="Rectangle 2"/>
          <p:cNvSpPr>
            <a:spLocks noGrp="1" noRot="1" noChangeAspect="1" noChangeArrowheads="1" noTextEdit="1"/>
          </p:cNvSpPr>
          <p:nvPr>
            <p:ph type="sldImg"/>
          </p:nvPr>
        </p:nvSpPr>
        <p:spPr>
          <a:ln/>
        </p:spPr>
      </p:sp>
      <p:sp>
        <p:nvSpPr>
          <p:cNvPr id="4126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Rot="1" noChangeAspect="1" noChangeArrowheads="1" noTextEdit="1"/>
          </p:cNvSpPr>
          <p:nvPr>
            <p:ph type="sldImg"/>
          </p:nvPr>
        </p:nvSpPr>
        <p:spPr>
          <a:ln/>
        </p:spPr>
      </p:sp>
      <p:sp>
        <p:nvSpPr>
          <p:cNvPr id="565251"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7"/>
          <p:cNvSpPr>
            <a:spLocks noGrp="1" noChangeArrowheads="1"/>
          </p:cNvSpPr>
          <p:nvPr>
            <p:ph type="sldNum" sz="quarter" idx="5"/>
          </p:nvPr>
        </p:nvSpPr>
        <p:spPr>
          <a:noFill/>
        </p:spPr>
        <p:txBody>
          <a:bodyPr/>
          <a:lstStyle/>
          <a:p>
            <a:fld id="{A3489328-5430-4BC1-A616-0200B556A509}" type="slidenum">
              <a:rPr lang="en-US" smtClean="0"/>
              <a:pPr/>
              <a:t>165</a:t>
            </a:fld>
            <a:endParaRPr lang="en-US"/>
          </a:p>
        </p:txBody>
      </p:sp>
      <p:sp>
        <p:nvSpPr>
          <p:cNvPr id="410627" name="Rectangle 2"/>
          <p:cNvSpPr>
            <a:spLocks noGrp="1" noRot="1" noChangeAspect="1" noChangeArrowheads="1" noTextEdit="1"/>
          </p:cNvSpPr>
          <p:nvPr>
            <p:ph type="sldImg"/>
          </p:nvPr>
        </p:nvSpPr>
        <p:spPr>
          <a:ln/>
        </p:spPr>
      </p:sp>
      <p:sp>
        <p:nvSpPr>
          <p:cNvPr id="410628" name="Rectangle 3"/>
          <p:cNvSpPr>
            <a:spLocks noGrp="1" noChangeArrowheads="1"/>
          </p:cNvSpPr>
          <p:nvPr>
            <p:ph type="body" idx="1"/>
          </p:nvPr>
        </p:nvSpPr>
        <p:spPr>
          <a:noFill/>
          <a:ln/>
        </p:spPr>
        <p:txBody>
          <a:bodyPr/>
          <a:lstStyle/>
          <a:p>
            <a:r>
              <a:rPr lang="en-US"/>
              <a:t>By induction hypothesis step property holds for inputs to Merger[2k].</a:t>
            </a: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7"/>
          <p:cNvSpPr>
            <a:spLocks noGrp="1" noChangeArrowheads="1"/>
          </p:cNvSpPr>
          <p:nvPr>
            <p:ph type="sldNum" sz="quarter" idx="5"/>
          </p:nvPr>
        </p:nvSpPr>
        <p:spPr>
          <a:noFill/>
        </p:spPr>
        <p:txBody>
          <a:bodyPr/>
          <a:lstStyle/>
          <a:p>
            <a:fld id="{A9DCF2DA-5042-4093-88BA-F98E89FDD202}" type="slidenum">
              <a:rPr lang="en-US" smtClean="0"/>
              <a:pPr/>
              <a:t>166</a:t>
            </a:fld>
            <a:endParaRPr lang="en-US"/>
          </a:p>
        </p:txBody>
      </p:sp>
      <p:sp>
        <p:nvSpPr>
          <p:cNvPr id="413699" name="Rectangle 2"/>
          <p:cNvSpPr>
            <a:spLocks noGrp="1" noRot="1" noChangeAspect="1" noChangeArrowheads="1" noTextEdit="1"/>
          </p:cNvSpPr>
          <p:nvPr>
            <p:ph type="sldImg"/>
          </p:nvPr>
        </p:nvSpPr>
        <p:spPr>
          <a:ln/>
        </p:spPr>
      </p:sp>
      <p:sp>
        <p:nvSpPr>
          <p:cNvPr id="4137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7"/>
          <p:cNvSpPr>
            <a:spLocks noGrp="1" noChangeArrowheads="1"/>
          </p:cNvSpPr>
          <p:nvPr>
            <p:ph type="sldNum" sz="quarter" idx="5"/>
          </p:nvPr>
        </p:nvSpPr>
        <p:spPr>
          <a:noFill/>
        </p:spPr>
        <p:txBody>
          <a:bodyPr/>
          <a:lstStyle/>
          <a:p>
            <a:fld id="{7B4A3EBA-2A6F-4963-96D1-ED28EE90ACD8}" type="slidenum">
              <a:rPr lang="en-US" smtClean="0"/>
              <a:pPr/>
              <a:t>167</a:t>
            </a:fld>
            <a:endParaRPr lang="en-US"/>
          </a:p>
        </p:txBody>
      </p:sp>
      <p:sp>
        <p:nvSpPr>
          <p:cNvPr id="414723" name="Rectangle 2"/>
          <p:cNvSpPr>
            <a:spLocks noGrp="1" noRot="1" noChangeAspect="1" noChangeArrowheads="1" noTextEdit="1"/>
          </p:cNvSpPr>
          <p:nvPr>
            <p:ph type="sldImg"/>
          </p:nvPr>
        </p:nvSpPr>
        <p:spPr>
          <a:ln/>
        </p:spPr>
      </p:sp>
      <p:sp>
        <p:nvSpPr>
          <p:cNvPr id="4147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7"/>
          <p:cNvSpPr>
            <a:spLocks noGrp="1" noChangeArrowheads="1"/>
          </p:cNvSpPr>
          <p:nvPr>
            <p:ph type="sldNum" sz="quarter" idx="5"/>
          </p:nvPr>
        </p:nvSpPr>
        <p:spPr>
          <a:noFill/>
        </p:spPr>
        <p:txBody>
          <a:bodyPr/>
          <a:lstStyle/>
          <a:p>
            <a:fld id="{9A9EC4A5-199A-4B70-AC79-30EFC3220F7F}" type="slidenum">
              <a:rPr lang="en-US" smtClean="0"/>
              <a:pPr/>
              <a:t>168</a:t>
            </a:fld>
            <a:endParaRPr lang="en-US"/>
          </a:p>
        </p:txBody>
      </p:sp>
      <p:sp>
        <p:nvSpPr>
          <p:cNvPr id="415747" name="Rectangle 2"/>
          <p:cNvSpPr>
            <a:spLocks noGrp="1" noRot="1" noChangeAspect="1" noChangeArrowheads="1" noTextEdit="1"/>
          </p:cNvSpPr>
          <p:nvPr>
            <p:ph type="sldImg"/>
          </p:nvPr>
        </p:nvSpPr>
        <p:spPr>
          <a:ln/>
        </p:spPr>
      </p:sp>
      <p:sp>
        <p:nvSpPr>
          <p:cNvPr id="4157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7"/>
          <p:cNvSpPr>
            <a:spLocks noGrp="1" noChangeArrowheads="1"/>
          </p:cNvSpPr>
          <p:nvPr>
            <p:ph type="sldNum" sz="quarter" idx="5"/>
          </p:nvPr>
        </p:nvSpPr>
        <p:spPr>
          <a:noFill/>
        </p:spPr>
        <p:txBody>
          <a:bodyPr/>
          <a:lstStyle/>
          <a:p>
            <a:fld id="{25553DA8-C7A2-4B6E-B97F-5F5345F6B31C}" type="slidenum">
              <a:rPr lang="en-US" smtClean="0"/>
              <a:pPr/>
              <a:t>169</a:t>
            </a:fld>
            <a:endParaRPr lang="en-US"/>
          </a:p>
        </p:txBody>
      </p:sp>
      <p:sp>
        <p:nvSpPr>
          <p:cNvPr id="416771" name="Rectangle 2"/>
          <p:cNvSpPr>
            <a:spLocks noGrp="1" noRot="1" noChangeAspect="1" noChangeArrowheads="1" noTextEdit="1"/>
          </p:cNvSpPr>
          <p:nvPr>
            <p:ph type="sldImg"/>
          </p:nvPr>
        </p:nvSpPr>
        <p:spPr>
          <a:ln/>
        </p:spPr>
      </p:sp>
      <p:sp>
        <p:nvSpPr>
          <p:cNvPr id="416772" name="Rectangle 3"/>
          <p:cNvSpPr>
            <a:spLocks noGrp="1" noChangeArrowheads="1"/>
          </p:cNvSpPr>
          <p:nvPr>
            <p:ph type="body" idx="1"/>
          </p:nvPr>
        </p:nvSpPr>
        <p:spPr>
          <a:noFill/>
          <a:ln/>
        </p:spPr>
        <p:txBody>
          <a:bodyPr/>
          <a:lstStyle/>
          <a:p>
            <a:r>
              <a:rPr lang="en-US"/>
              <a:t>Take two sequences and look at the sum of odss and even, the diff is at most 1. </a:t>
            </a: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7"/>
          <p:cNvSpPr>
            <a:spLocks noGrp="1" noChangeArrowheads="1"/>
          </p:cNvSpPr>
          <p:nvPr>
            <p:ph type="sldNum" sz="quarter" idx="5"/>
          </p:nvPr>
        </p:nvSpPr>
        <p:spPr>
          <a:noFill/>
        </p:spPr>
        <p:txBody>
          <a:bodyPr/>
          <a:lstStyle/>
          <a:p>
            <a:fld id="{CBE43E28-50E2-4BD0-A114-71465DB59179}" type="slidenum">
              <a:rPr lang="en-US" smtClean="0"/>
              <a:pPr/>
              <a:t>170</a:t>
            </a:fld>
            <a:endParaRPr lang="en-US"/>
          </a:p>
        </p:txBody>
      </p:sp>
      <p:sp>
        <p:nvSpPr>
          <p:cNvPr id="417795" name="Rectangle 2"/>
          <p:cNvSpPr>
            <a:spLocks noGrp="1" noRot="1" noChangeAspect="1" noChangeArrowheads="1" noTextEdit="1"/>
          </p:cNvSpPr>
          <p:nvPr>
            <p:ph type="sldImg"/>
          </p:nvPr>
        </p:nvSpPr>
        <p:spPr>
          <a:ln/>
        </p:spPr>
      </p:sp>
      <p:sp>
        <p:nvSpPr>
          <p:cNvPr id="4177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7"/>
          <p:cNvSpPr>
            <a:spLocks noGrp="1" noChangeArrowheads="1"/>
          </p:cNvSpPr>
          <p:nvPr>
            <p:ph type="sldNum" sz="quarter" idx="5"/>
          </p:nvPr>
        </p:nvSpPr>
        <p:spPr>
          <a:noFill/>
        </p:spPr>
        <p:txBody>
          <a:bodyPr/>
          <a:lstStyle/>
          <a:p>
            <a:fld id="{B67A319F-C8DD-4CC5-99E8-23C1FB4D876E}" type="slidenum">
              <a:rPr lang="en-US" smtClean="0"/>
              <a:pPr/>
              <a:t>171</a:t>
            </a:fld>
            <a:endParaRPr lang="en-US"/>
          </a:p>
        </p:txBody>
      </p:sp>
      <p:sp>
        <p:nvSpPr>
          <p:cNvPr id="418819" name="Rectangle 2"/>
          <p:cNvSpPr>
            <a:spLocks noGrp="1" noRot="1" noChangeAspect="1" noChangeArrowheads="1" noTextEdit="1"/>
          </p:cNvSpPr>
          <p:nvPr>
            <p:ph type="sldImg"/>
          </p:nvPr>
        </p:nvSpPr>
        <p:spPr>
          <a:ln/>
        </p:spPr>
      </p:sp>
      <p:sp>
        <p:nvSpPr>
          <p:cNvPr id="4188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7"/>
          <p:cNvSpPr>
            <a:spLocks noGrp="1" noChangeArrowheads="1"/>
          </p:cNvSpPr>
          <p:nvPr>
            <p:ph type="sldNum" sz="quarter" idx="5"/>
          </p:nvPr>
        </p:nvSpPr>
        <p:spPr>
          <a:noFill/>
        </p:spPr>
        <p:txBody>
          <a:bodyPr/>
          <a:lstStyle/>
          <a:p>
            <a:fld id="{89C40A60-9B4B-4C6A-94B8-C19911D2C566}" type="slidenum">
              <a:rPr lang="en-US" smtClean="0"/>
              <a:pPr/>
              <a:t>172</a:t>
            </a:fld>
            <a:endParaRPr lang="en-US"/>
          </a:p>
        </p:txBody>
      </p:sp>
      <p:sp>
        <p:nvSpPr>
          <p:cNvPr id="419843" name="Rectangle 2"/>
          <p:cNvSpPr>
            <a:spLocks noGrp="1" noRot="1" noChangeAspect="1" noChangeArrowheads="1" noTextEdit="1"/>
          </p:cNvSpPr>
          <p:nvPr>
            <p:ph type="sldImg"/>
          </p:nvPr>
        </p:nvSpPr>
        <p:spPr>
          <a:ln/>
        </p:spPr>
      </p:sp>
      <p:sp>
        <p:nvSpPr>
          <p:cNvPr id="419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7"/>
          <p:cNvSpPr>
            <a:spLocks noGrp="1" noChangeArrowheads="1"/>
          </p:cNvSpPr>
          <p:nvPr>
            <p:ph type="sldNum" sz="quarter" idx="5"/>
          </p:nvPr>
        </p:nvSpPr>
        <p:spPr>
          <a:noFill/>
        </p:spPr>
        <p:txBody>
          <a:bodyPr/>
          <a:lstStyle/>
          <a:p>
            <a:fld id="{0A8C0F87-A2C4-4466-8A3D-967EE90114A7}" type="slidenum">
              <a:rPr lang="en-US" smtClean="0"/>
              <a:pPr/>
              <a:t>173</a:t>
            </a:fld>
            <a:endParaRPr lang="en-US"/>
          </a:p>
        </p:txBody>
      </p:sp>
      <p:sp>
        <p:nvSpPr>
          <p:cNvPr id="420867" name="Rectangle 2"/>
          <p:cNvSpPr>
            <a:spLocks noGrp="1" noRot="1" noChangeAspect="1" noChangeArrowheads="1" noTextEdit="1"/>
          </p:cNvSpPr>
          <p:nvPr>
            <p:ph type="sldImg"/>
          </p:nvPr>
        </p:nvSpPr>
        <p:spPr>
          <a:ln/>
        </p:spPr>
      </p:sp>
      <p:sp>
        <p:nvSpPr>
          <p:cNvPr id="4208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7"/>
          <p:cNvSpPr>
            <a:spLocks noGrp="1" noChangeArrowheads="1"/>
          </p:cNvSpPr>
          <p:nvPr>
            <p:ph type="sldNum" sz="quarter" idx="5"/>
          </p:nvPr>
        </p:nvSpPr>
        <p:spPr>
          <a:noFill/>
        </p:spPr>
        <p:txBody>
          <a:bodyPr/>
          <a:lstStyle/>
          <a:p>
            <a:fld id="{A97420AA-D611-41BF-9B9E-ACA16F76CAE4}" type="slidenum">
              <a:rPr lang="en-US" smtClean="0"/>
              <a:pPr/>
              <a:t>174</a:t>
            </a:fld>
            <a:endParaRPr lang="en-US"/>
          </a:p>
        </p:txBody>
      </p:sp>
      <p:sp>
        <p:nvSpPr>
          <p:cNvPr id="421891" name="Rectangle 2"/>
          <p:cNvSpPr>
            <a:spLocks noGrp="1" noRot="1" noChangeAspect="1" noChangeArrowheads="1" noTextEdit="1"/>
          </p:cNvSpPr>
          <p:nvPr>
            <p:ph type="sldImg"/>
          </p:nvPr>
        </p:nvSpPr>
        <p:spPr>
          <a:ln/>
        </p:spPr>
      </p:sp>
      <p:sp>
        <p:nvSpPr>
          <p:cNvPr id="4218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7"/>
          <p:cNvSpPr>
            <a:spLocks noGrp="1" noChangeArrowheads="1"/>
          </p:cNvSpPr>
          <p:nvPr>
            <p:ph type="sldNum" sz="quarter" idx="5"/>
          </p:nvPr>
        </p:nvSpPr>
        <p:spPr>
          <a:noFill/>
        </p:spPr>
        <p:txBody>
          <a:bodyPr/>
          <a:lstStyle/>
          <a:p>
            <a:fld id="{33672FA8-2A27-4D5A-BC53-8C502556D307}" type="slidenum">
              <a:rPr lang="en-US" smtClean="0"/>
              <a:pPr/>
              <a:t>175</a:t>
            </a:fld>
            <a:endParaRPr lang="en-US"/>
          </a:p>
        </p:txBody>
      </p:sp>
      <p:sp>
        <p:nvSpPr>
          <p:cNvPr id="422915" name="Rectangle 2"/>
          <p:cNvSpPr>
            <a:spLocks noGrp="1" noRot="1" noChangeAspect="1" noChangeArrowheads="1" noTextEdit="1"/>
          </p:cNvSpPr>
          <p:nvPr>
            <p:ph type="sldImg"/>
          </p:nvPr>
        </p:nvSpPr>
        <p:spPr>
          <a:ln/>
        </p:spPr>
      </p:sp>
      <p:sp>
        <p:nvSpPr>
          <p:cNvPr id="4229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7"/>
          <p:cNvSpPr>
            <a:spLocks noGrp="1" noChangeArrowheads="1"/>
          </p:cNvSpPr>
          <p:nvPr>
            <p:ph type="sldNum" sz="quarter" idx="5"/>
          </p:nvPr>
        </p:nvSpPr>
        <p:spPr>
          <a:noFill/>
        </p:spPr>
        <p:txBody>
          <a:bodyPr/>
          <a:lstStyle/>
          <a:p>
            <a:fld id="{D3FEDEC6-FE53-4265-B2DF-BD116F6164F6}" type="slidenum">
              <a:rPr lang="en-US" smtClean="0"/>
              <a:pPr/>
              <a:t>176</a:t>
            </a:fld>
            <a:endParaRPr lang="en-US"/>
          </a:p>
        </p:txBody>
      </p:sp>
      <p:sp>
        <p:nvSpPr>
          <p:cNvPr id="423939" name="Rectangle 2"/>
          <p:cNvSpPr>
            <a:spLocks noGrp="1" noRot="1" noChangeAspect="1" noChangeArrowheads="1" noTextEdit="1"/>
          </p:cNvSpPr>
          <p:nvPr>
            <p:ph type="sldImg"/>
          </p:nvPr>
        </p:nvSpPr>
        <p:spPr>
          <a:ln/>
        </p:spPr>
      </p:sp>
      <p:sp>
        <p:nvSpPr>
          <p:cNvPr id="4239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7"/>
          <p:cNvSpPr>
            <a:spLocks noGrp="1" noChangeArrowheads="1"/>
          </p:cNvSpPr>
          <p:nvPr>
            <p:ph type="sldNum" sz="quarter" idx="5"/>
          </p:nvPr>
        </p:nvSpPr>
        <p:spPr>
          <a:noFill/>
        </p:spPr>
        <p:txBody>
          <a:bodyPr/>
          <a:lstStyle/>
          <a:p>
            <a:fld id="{32150C09-7EF7-4CDA-BE4C-E8C11EAEF24B}" type="slidenum">
              <a:rPr lang="en-US" smtClean="0"/>
              <a:pPr/>
              <a:t>177</a:t>
            </a:fld>
            <a:endParaRPr lang="en-US"/>
          </a:p>
        </p:txBody>
      </p:sp>
      <p:sp>
        <p:nvSpPr>
          <p:cNvPr id="424963" name="Rectangle 2"/>
          <p:cNvSpPr>
            <a:spLocks noGrp="1" noRot="1" noChangeAspect="1" noChangeArrowheads="1" noTextEdit="1"/>
          </p:cNvSpPr>
          <p:nvPr>
            <p:ph type="sldImg"/>
          </p:nvPr>
        </p:nvSpPr>
        <p:spPr>
          <a:ln/>
        </p:spPr>
      </p:sp>
      <p:sp>
        <p:nvSpPr>
          <p:cNvPr id="4249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7"/>
          <p:cNvSpPr>
            <a:spLocks noGrp="1" noChangeArrowheads="1"/>
          </p:cNvSpPr>
          <p:nvPr>
            <p:ph type="sldNum" sz="quarter" idx="5"/>
          </p:nvPr>
        </p:nvSpPr>
        <p:spPr>
          <a:noFill/>
        </p:spPr>
        <p:txBody>
          <a:bodyPr/>
          <a:lstStyle/>
          <a:p>
            <a:fld id="{E2C77AC4-2EFC-4B69-BA1D-45DE91E2CABB}" type="slidenum">
              <a:rPr lang="en-US" smtClean="0"/>
              <a:pPr/>
              <a:t>178</a:t>
            </a:fld>
            <a:endParaRPr lang="en-US"/>
          </a:p>
        </p:txBody>
      </p:sp>
      <p:sp>
        <p:nvSpPr>
          <p:cNvPr id="425987" name="Rectangle 2"/>
          <p:cNvSpPr>
            <a:spLocks noGrp="1" noRot="1" noChangeAspect="1" noChangeArrowheads="1" noTextEdit="1"/>
          </p:cNvSpPr>
          <p:nvPr>
            <p:ph type="sldImg"/>
          </p:nvPr>
        </p:nvSpPr>
        <p:spPr>
          <a:ln/>
        </p:spPr>
      </p:sp>
      <p:sp>
        <p:nvSpPr>
          <p:cNvPr id="4259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7"/>
          <p:cNvSpPr>
            <a:spLocks noGrp="1" noChangeArrowheads="1"/>
          </p:cNvSpPr>
          <p:nvPr>
            <p:ph type="sldNum" sz="quarter" idx="5"/>
          </p:nvPr>
        </p:nvSpPr>
        <p:spPr>
          <a:noFill/>
        </p:spPr>
        <p:txBody>
          <a:bodyPr/>
          <a:lstStyle/>
          <a:p>
            <a:fld id="{31BDE81F-E393-4389-BC8C-8286D4F50DD9}" type="slidenum">
              <a:rPr lang="en-US" smtClean="0"/>
              <a:pPr/>
              <a:t>179</a:t>
            </a:fld>
            <a:endParaRPr lang="en-US"/>
          </a:p>
        </p:txBody>
      </p:sp>
      <p:sp>
        <p:nvSpPr>
          <p:cNvPr id="427011" name="Rectangle 2"/>
          <p:cNvSpPr>
            <a:spLocks noGrp="1" noRot="1" noChangeAspect="1" noChangeArrowheads="1" noTextEdit="1"/>
          </p:cNvSpPr>
          <p:nvPr>
            <p:ph type="sldImg"/>
          </p:nvPr>
        </p:nvSpPr>
        <p:spPr>
          <a:ln/>
        </p:spPr>
      </p:sp>
      <p:sp>
        <p:nvSpPr>
          <p:cNvPr id="427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7"/>
          <p:cNvSpPr>
            <a:spLocks noGrp="1" noChangeArrowheads="1"/>
          </p:cNvSpPr>
          <p:nvPr>
            <p:ph type="sldNum" sz="quarter" idx="5"/>
          </p:nvPr>
        </p:nvSpPr>
        <p:spPr>
          <a:noFill/>
        </p:spPr>
        <p:txBody>
          <a:bodyPr/>
          <a:lstStyle/>
          <a:p>
            <a:fld id="{21609215-B4C2-4EA6-BA32-F0F91DD5BDE2}" type="slidenum">
              <a:rPr lang="en-US" smtClean="0"/>
              <a:pPr/>
              <a:t>180</a:t>
            </a:fld>
            <a:endParaRPr lang="en-US"/>
          </a:p>
        </p:txBody>
      </p:sp>
      <p:sp>
        <p:nvSpPr>
          <p:cNvPr id="428035" name="Rectangle 2"/>
          <p:cNvSpPr>
            <a:spLocks noGrp="1" noRot="1" noChangeAspect="1" noChangeArrowheads="1" noTextEdit="1"/>
          </p:cNvSpPr>
          <p:nvPr>
            <p:ph type="sldImg"/>
          </p:nvPr>
        </p:nvSpPr>
        <p:spPr>
          <a:ln/>
        </p:spPr>
      </p:sp>
      <p:sp>
        <p:nvSpPr>
          <p:cNvPr id="428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7"/>
          <p:cNvSpPr>
            <a:spLocks noGrp="1" noChangeArrowheads="1"/>
          </p:cNvSpPr>
          <p:nvPr>
            <p:ph type="sldNum" sz="quarter" idx="5"/>
          </p:nvPr>
        </p:nvSpPr>
        <p:spPr>
          <a:noFill/>
        </p:spPr>
        <p:txBody>
          <a:bodyPr/>
          <a:lstStyle/>
          <a:p>
            <a:fld id="{F444DA95-D9AF-4313-8B90-C05DBC6059DF}" type="slidenum">
              <a:rPr lang="en-US" smtClean="0"/>
              <a:pPr/>
              <a:t>181</a:t>
            </a:fld>
            <a:endParaRPr lang="en-US"/>
          </a:p>
        </p:txBody>
      </p:sp>
      <p:sp>
        <p:nvSpPr>
          <p:cNvPr id="429059" name="Rectangle 2"/>
          <p:cNvSpPr>
            <a:spLocks noGrp="1" noRot="1" noChangeAspect="1" noChangeArrowheads="1" noTextEdit="1"/>
          </p:cNvSpPr>
          <p:nvPr>
            <p:ph type="sldImg"/>
          </p:nvPr>
        </p:nvSpPr>
        <p:spPr>
          <a:ln/>
        </p:spPr>
      </p:sp>
      <p:sp>
        <p:nvSpPr>
          <p:cNvPr id="429060" name="Rectangle 3"/>
          <p:cNvSpPr>
            <a:spLocks noGrp="1" noChangeArrowheads="1"/>
          </p:cNvSpPr>
          <p:nvPr>
            <p:ph type="body" idx="1"/>
          </p:nvPr>
        </p:nvSpPr>
        <p:spPr>
          <a:noFill/>
          <a:ln/>
        </p:spPr>
        <p:txBody>
          <a:bodyPr/>
          <a:lstStyle/>
          <a:p>
            <a:r>
              <a:rPr lang="en-US"/>
              <a:t>Not only Bitonic…</a:t>
            </a: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7"/>
          <p:cNvSpPr>
            <a:spLocks noGrp="1" noChangeArrowheads="1"/>
          </p:cNvSpPr>
          <p:nvPr>
            <p:ph type="sldNum" sz="quarter" idx="5"/>
          </p:nvPr>
        </p:nvSpPr>
        <p:spPr>
          <a:noFill/>
        </p:spPr>
        <p:txBody>
          <a:bodyPr/>
          <a:lstStyle/>
          <a:p>
            <a:fld id="{38562824-4216-48AB-A507-D2A533936071}" type="slidenum">
              <a:rPr lang="en-US" smtClean="0"/>
              <a:pPr/>
              <a:t>182</a:t>
            </a:fld>
            <a:endParaRPr lang="en-US"/>
          </a:p>
        </p:txBody>
      </p:sp>
      <p:sp>
        <p:nvSpPr>
          <p:cNvPr id="430083" name="Rectangle 2"/>
          <p:cNvSpPr>
            <a:spLocks noGrp="1" noRot="1" noChangeAspect="1" noChangeArrowheads="1" noTextEdit="1"/>
          </p:cNvSpPr>
          <p:nvPr>
            <p:ph type="sldImg"/>
          </p:nvPr>
        </p:nvSpPr>
        <p:spPr>
          <a:ln/>
        </p:spPr>
      </p:sp>
      <p:sp>
        <p:nvSpPr>
          <p:cNvPr id="430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7"/>
          <p:cNvSpPr>
            <a:spLocks noGrp="1" noChangeArrowheads="1"/>
          </p:cNvSpPr>
          <p:nvPr>
            <p:ph type="sldNum" sz="quarter" idx="5"/>
          </p:nvPr>
        </p:nvSpPr>
        <p:spPr>
          <a:noFill/>
        </p:spPr>
        <p:txBody>
          <a:bodyPr/>
          <a:lstStyle/>
          <a:p>
            <a:fld id="{D07F91E7-AD5A-4306-9096-142FF3350797}" type="slidenum">
              <a:rPr lang="en-US" smtClean="0"/>
              <a:pPr/>
              <a:t>183</a:t>
            </a:fld>
            <a:endParaRPr lang="en-US"/>
          </a:p>
        </p:txBody>
      </p:sp>
      <p:sp>
        <p:nvSpPr>
          <p:cNvPr id="431107" name="Rectangle 2"/>
          <p:cNvSpPr>
            <a:spLocks noGrp="1" noRot="1" noChangeAspect="1" noChangeArrowheads="1" noTextEdit="1"/>
          </p:cNvSpPr>
          <p:nvPr>
            <p:ph type="sldImg"/>
          </p:nvPr>
        </p:nvSpPr>
        <p:spPr>
          <a:ln/>
        </p:spPr>
      </p:sp>
      <p:sp>
        <p:nvSpPr>
          <p:cNvPr id="4311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7"/>
          <p:cNvSpPr>
            <a:spLocks noGrp="1" noChangeArrowheads="1"/>
          </p:cNvSpPr>
          <p:nvPr>
            <p:ph type="sldNum" sz="quarter" idx="5"/>
          </p:nvPr>
        </p:nvSpPr>
        <p:spPr>
          <a:noFill/>
        </p:spPr>
        <p:txBody>
          <a:bodyPr/>
          <a:lstStyle/>
          <a:p>
            <a:fld id="{34FB5438-4F44-4DBD-8F13-7D37E7A02CCA}" type="slidenum">
              <a:rPr lang="en-US" smtClean="0"/>
              <a:pPr/>
              <a:t>184</a:t>
            </a:fld>
            <a:endParaRPr lang="en-US"/>
          </a:p>
        </p:txBody>
      </p:sp>
      <p:sp>
        <p:nvSpPr>
          <p:cNvPr id="432131" name="Rectangle 2"/>
          <p:cNvSpPr>
            <a:spLocks noGrp="1" noRot="1" noChangeAspect="1" noChangeArrowheads="1" noTextEdit="1"/>
          </p:cNvSpPr>
          <p:nvPr>
            <p:ph type="sldImg"/>
          </p:nvPr>
        </p:nvSpPr>
        <p:spPr>
          <a:ln/>
        </p:spPr>
      </p:sp>
      <p:sp>
        <p:nvSpPr>
          <p:cNvPr id="4321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7"/>
          <p:cNvSpPr>
            <a:spLocks noGrp="1" noChangeArrowheads="1"/>
          </p:cNvSpPr>
          <p:nvPr>
            <p:ph type="sldNum" sz="quarter" idx="5"/>
          </p:nvPr>
        </p:nvSpPr>
        <p:spPr>
          <a:noFill/>
        </p:spPr>
        <p:txBody>
          <a:bodyPr/>
          <a:lstStyle/>
          <a:p>
            <a:fld id="{75355EE3-DDC8-4966-A0D8-D3F40E55442C}" type="slidenum">
              <a:rPr lang="en-US" smtClean="0"/>
              <a:pPr/>
              <a:t>185</a:t>
            </a:fld>
            <a:endParaRPr lang="en-US"/>
          </a:p>
        </p:txBody>
      </p:sp>
      <p:sp>
        <p:nvSpPr>
          <p:cNvPr id="433155" name="Rectangle 2"/>
          <p:cNvSpPr>
            <a:spLocks noGrp="1" noRot="1" noChangeAspect="1" noChangeArrowheads="1" noTextEdit="1"/>
          </p:cNvSpPr>
          <p:nvPr>
            <p:ph type="sldImg"/>
          </p:nvPr>
        </p:nvSpPr>
        <p:spPr>
          <a:ln/>
        </p:spPr>
      </p:sp>
      <p:sp>
        <p:nvSpPr>
          <p:cNvPr id="4331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7"/>
          <p:cNvSpPr>
            <a:spLocks noGrp="1" noChangeArrowheads="1"/>
          </p:cNvSpPr>
          <p:nvPr>
            <p:ph type="sldNum" sz="quarter" idx="5"/>
          </p:nvPr>
        </p:nvSpPr>
        <p:spPr>
          <a:noFill/>
        </p:spPr>
        <p:txBody>
          <a:bodyPr/>
          <a:lstStyle/>
          <a:p>
            <a:fld id="{92D910AF-1DED-4C58-B7D7-06B1E121041A}" type="slidenum">
              <a:rPr lang="en-US" smtClean="0"/>
              <a:pPr/>
              <a:t>186</a:t>
            </a:fld>
            <a:endParaRPr lang="en-US"/>
          </a:p>
        </p:txBody>
      </p:sp>
      <p:sp>
        <p:nvSpPr>
          <p:cNvPr id="434179" name="Rectangle 2"/>
          <p:cNvSpPr>
            <a:spLocks noGrp="1" noRot="1" noChangeAspect="1" noChangeArrowheads="1" noTextEdit="1"/>
          </p:cNvSpPr>
          <p:nvPr>
            <p:ph type="sldImg"/>
          </p:nvPr>
        </p:nvSpPr>
        <p:spPr>
          <a:ln/>
        </p:spPr>
      </p:sp>
      <p:sp>
        <p:nvSpPr>
          <p:cNvPr id="4341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7"/>
          <p:cNvSpPr>
            <a:spLocks noGrp="1" noChangeArrowheads="1"/>
          </p:cNvSpPr>
          <p:nvPr>
            <p:ph type="sldNum" sz="quarter" idx="5"/>
          </p:nvPr>
        </p:nvSpPr>
        <p:spPr>
          <a:noFill/>
        </p:spPr>
        <p:txBody>
          <a:bodyPr/>
          <a:lstStyle/>
          <a:p>
            <a:fld id="{8F6125D3-B94A-4028-B08F-70490067CA5E}" type="slidenum">
              <a:rPr lang="en-US" smtClean="0"/>
              <a:pPr/>
              <a:t>187</a:t>
            </a:fld>
            <a:endParaRPr lang="en-US"/>
          </a:p>
        </p:txBody>
      </p:sp>
      <p:sp>
        <p:nvSpPr>
          <p:cNvPr id="435203" name="Rectangle 2"/>
          <p:cNvSpPr>
            <a:spLocks noGrp="1" noRot="1" noChangeAspect="1" noChangeArrowheads="1" noTextEdit="1"/>
          </p:cNvSpPr>
          <p:nvPr>
            <p:ph type="sldImg"/>
          </p:nvPr>
        </p:nvSpPr>
        <p:spPr>
          <a:ln/>
        </p:spPr>
      </p:sp>
      <p:sp>
        <p:nvSpPr>
          <p:cNvPr id="4352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7"/>
          <p:cNvSpPr>
            <a:spLocks noGrp="1" noChangeArrowheads="1"/>
          </p:cNvSpPr>
          <p:nvPr>
            <p:ph type="sldNum" sz="quarter" idx="5"/>
          </p:nvPr>
        </p:nvSpPr>
        <p:spPr>
          <a:noFill/>
        </p:spPr>
        <p:txBody>
          <a:bodyPr/>
          <a:lstStyle/>
          <a:p>
            <a:fld id="{F077CA2F-6DBB-4817-BDEF-F3DF8A818B42}" type="slidenum">
              <a:rPr lang="en-US" smtClean="0"/>
              <a:pPr/>
              <a:t>188</a:t>
            </a:fld>
            <a:endParaRPr lang="en-US"/>
          </a:p>
        </p:txBody>
      </p:sp>
      <p:sp>
        <p:nvSpPr>
          <p:cNvPr id="436227" name="Rectangle 2"/>
          <p:cNvSpPr>
            <a:spLocks noGrp="1" noRot="1" noChangeAspect="1" noChangeArrowheads="1" noTextEdit="1"/>
          </p:cNvSpPr>
          <p:nvPr>
            <p:ph type="sldImg"/>
          </p:nvPr>
        </p:nvSpPr>
        <p:spPr>
          <a:ln/>
        </p:spPr>
      </p:sp>
      <p:sp>
        <p:nvSpPr>
          <p:cNvPr id="4362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7"/>
          <p:cNvSpPr>
            <a:spLocks noGrp="1" noChangeArrowheads="1"/>
          </p:cNvSpPr>
          <p:nvPr>
            <p:ph type="sldNum" sz="quarter" idx="5"/>
          </p:nvPr>
        </p:nvSpPr>
        <p:spPr>
          <a:noFill/>
        </p:spPr>
        <p:txBody>
          <a:bodyPr/>
          <a:lstStyle/>
          <a:p>
            <a:fld id="{2B4BFE07-03F7-4932-864E-0E0E7F5D7E36}" type="slidenum">
              <a:rPr lang="en-US" smtClean="0"/>
              <a:pPr/>
              <a:t>189</a:t>
            </a:fld>
            <a:endParaRPr lang="en-US"/>
          </a:p>
        </p:txBody>
      </p:sp>
      <p:sp>
        <p:nvSpPr>
          <p:cNvPr id="437251" name="Rectangle 2"/>
          <p:cNvSpPr>
            <a:spLocks noGrp="1" noRot="1" noChangeAspect="1" noChangeArrowheads="1" noTextEdit="1"/>
          </p:cNvSpPr>
          <p:nvPr>
            <p:ph type="sldImg"/>
          </p:nvPr>
        </p:nvSpPr>
        <p:spPr>
          <a:xfrm>
            <a:off x="1192213" y="693738"/>
            <a:ext cx="4643437" cy="3482975"/>
          </a:xfrm>
          <a:ln/>
        </p:spPr>
      </p:sp>
      <p:sp>
        <p:nvSpPr>
          <p:cNvPr id="437252" name="Rectangle 3"/>
          <p:cNvSpPr>
            <a:spLocks noGrp="1" noChangeArrowheads="1"/>
          </p:cNvSpPr>
          <p:nvPr>
            <p:ph type="body" idx="1"/>
          </p:nvPr>
        </p:nvSpPr>
        <p:spPr>
          <a:xfrm>
            <a:off x="936625" y="4408488"/>
            <a:ext cx="5153025" cy="4178300"/>
          </a:xfrm>
          <a:noFill/>
          <a:ln/>
        </p:spPr>
        <p:txBody>
          <a:bodyPr/>
          <a:lstStyle/>
          <a:p>
            <a:endParaRPr lang="en-US"/>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7"/>
          <p:cNvSpPr>
            <a:spLocks noGrp="1" noChangeArrowheads="1"/>
          </p:cNvSpPr>
          <p:nvPr>
            <p:ph type="sldNum" sz="quarter" idx="5"/>
          </p:nvPr>
        </p:nvSpPr>
        <p:spPr>
          <a:noFill/>
        </p:spPr>
        <p:txBody>
          <a:bodyPr/>
          <a:lstStyle/>
          <a:p>
            <a:fld id="{E8E67BCA-46E6-480D-B3C2-66718BF11E5B}" type="slidenum">
              <a:rPr lang="en-US" smtClean="0"/>
              <a:pPr/>
              <a:t>190</a:t>
            </a:fld>
            <a:endParaRPr lang="en-US"/>
          </a:p>
        </p:txBody>
      </p:sp>
      <p:sp>
        <p:nvSpPr>
          <p:cNvPr id="438275" name="Rectangle 2"/>
          <p:cNvSpPr>
            <a:spLocks noGrp="1" noRot="1" noChangeAspect="1" noChangeArrowheads="1" noTextEdit="1"/>
          </p:cNvSpPr>
          <p:nvPr>
            <p:ph type="sldImg"/>
          </p:nvPr>
        </p:nvSpPr>
        <p:spPr>
          <a:ln/>
        </p:spPr>
      </p:sp>
      <p:sp>
        <p:nvSpPr>
          <p:cNvPr id="4382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7"/>
          <p:cNvSpPr>
            <a:spLocks noGrp="1" noChangeArrowheads="1"/>
          </p:cNvSpPr>
          <p:nvPr>
            <p:ph type="sldNum" sz="quarter" idx="5"/>
          </p:nvPr>
        </p:nvSpPr>
        <p:spPr>
          <a:noFill/>
        </p:spPr>
        <p:txBody>
          <a:bodyPr/>
          <a:lstStyle/>
          <a:p>
            <a:fld id="{C5D96326-94E6-43A3-B99E-7F538C9C8860}" type="slidenum">
              <a:rPr lang="en-US" smtClean="0"/>
              <a:pPr/>
              <a:t>191</a:t>
            </a:fld>
            <a:endParaRPr lang="en-US"/>
          </a:p>
        </p:txBody>
      </p:sp>
      <p:sp>
        <p:nvSpPr>
          <p:cNvPr id="439299" name="Rectangle 2"/>
          <p:cNvSpPr>
            <a:spLocks noGrp="1" noRot="1" noChangeAspect="1" noChangeArrowheads="1" noTextEdit="1"/>
          </p:cNvSpPr>
          <p:nvPr>
            <p:ph type="sldImg"/>
          </p:nvPr>
        </p:nvSpPr>
        <p:spPr>
          <a:xfrm>
            <a:off x="1193800" y="695325"/>
            <a:ext cx="4641850" cy="3481388"/>
          </a:xfrm>
          <a:ln/>
        </p:spPr>
      </p:sp>
      <p:sp>
        <p:nvSpPr>
          <p:cNvPr id="4393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7"/>
          <p:cNvSpPr>
            <a:spLocks noGrp="1" noChangeArrowheads="1"/>
          </p:cNvSpPr>
          <p:nvPr>
            <p:ph type="sldNum" sz="quarter" idx="5"/>
          </p:nvPr>
        </p:nvSpPr>
        <p:spPr>
          <a:noFill/>
        </p:spPr>
        <p:txBody>
          <a:bodyPr/>
          <a:lstStyle/>
          <a:p>
            <a:fld id="{816D8B11-5216-4130-8B7A-3C3BB02AD2B1}" type="slidenum">
              <a:rPr lang="en-US" smtClean="0"/>
              <a:pPr/>
              <a:t>192</a:t>
            </a:fld>
            <a:endParaRPr lang="en-US"/>
          </a:p>
        </p:txBody>
      </p:sp>
      <p:sp>
        <p:nvSpPr>
          <p:cNvPr id="440323" name="Rectangle 2"/>
          <p:cNvSpPr>
            <a:spLocks noGrp="1" noRot="1" noChangeAspect="1" noChangeArrowheads="1" noTextEdit="1"/>
          </p:cNvSpPr>
          <p:nvPr>
            <p:ph type="sldImg"/>
          </p:nvPr>
        </p:nvSpPr>
        <p:spPr>
          <a:xfrm>
            <a:off x="1193800" y="695325"/>
            <a:ext cx="4641850" cy="3481388"/>
          </a:xfrm>
          <a:ln/>
        </p:spPr>
      </p:sp>
      <p:sp>
        <p:nvSpPr>
          <p:cNvPr id="4403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7"/>
          <p:cNvSpPr>
            <a:spLocks noGrp="1" noChangeArrowheads="1"/>
          </p:cNvSpPr>
          <p:nvPr>
            <p:ph type="sldNum" sz="quarter" idx="5"/>
          </p:nvPr>
        </p:nvSpPr>
        <p:spPr>
          <a:noFill/>
        </p:spPr>
        <p:txBody>
          <a:bodyPr/>
          <a:lstStyle/>
          <a:p>
            <a:fld id="{1DB11B3F-2AC8-4015-9A52-428D59C15E49}" type="slidenum">
              <a:rPr lang="en-US" smtClean="0"/>
              <a:pPr/>
              <a:t>193</a:t>
            </a:fld>
            <a:endParaRPr lang="en-US"/>
          </a:p>
        </p:txBody>
      </p:sp>
      <p:sp>
        <p:nvSpPr>
          <p:cNvPr id="441347" name="Rectangle 2"/>
          <p:cNvSpPr>
            <a:spLocks noGrp="1" noRot="1" noChangeAspect="1" noChangeArrowheads="1" noTextEdit="1"/>
          </p:cNvSpPr>
          <p:nvPr>
            <p:ph type="sldImg"/>
          </p:nvPr>
        </p:nvSpPr>
        <p:spPr>
          <a:xfrm>
            <a:off x="1193800" y="695325"/>
            <a:ext cx="4641850" cy="3481388"/>
          </a:xfrm>
          <a:ln/>
        </p:spPr>
      </p:sp>
      <p:sp>
        <p:nvSpPr>
          <p:cNvPr id="4413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7"/>
          <p:cNvSpPr>
            <a:spLocks noGrp="1" noChangeArrowheads="1"/>
          </p:cNvSpPr>
          <p:nvPr>
            <p:ph type="sldNum" sz="quarter" idx="5"/>
          </p:nvPr>
        </p:nvSpPr>
        <p:spPr>
          <a:noFill/>
        </p:spPr>
        <p:txBody>
          <a:bodyPr/>
          <a:lstStyle/>
          <a:p>
            <a:fld id="{530DEB24-54EA-4574-B83A-3D25B5408D27}" type="slidenum">
              <a:rPr lang="en-US" smtClean="0"/>
              <a:pPr/>
              <a:t>194</a:t>
            </a:fld>
            <a:endParaRPr lang="en-US"/>
          </a:p>
        </p:txBody>
      </p:sp>
      <p:sp>
        <p:nvSpPr>
          <p:cNvPr id="442371" name="Rectangle 2"/>
          <p:cNvSpPr>
            <a:spLocks noGrp="1" noRot="1" noChangeAspect="1" noChangeArrowheads="1" noTextEdit="1"/>
          </p:cNvSpPr>
          <p:nvPr>
            <p:ph type="sldImg"/>
          </p:nvPr>
        </p:nvSpPr>
        <p:spPr>
          <a:xfrm>
            <a:off x="1193800" y="695325"/>
            <a:ext cx="4641850" cy="3481388"/>
          </a:xfrm>
          <a:ln/>
        </p:spPr>
      </p:sp>
      <p:sp>
        <p:nvSpPr>
          <p:cNvPr id="4423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7"/>
          <p:cNvSpPr>
            <a:spLocks noGrp="1" noChangeArrowheads="1"/>
          </p:cNvSpPr>
          <p:nvPr>
            <p:ph type="sldNum" sz="quarter" idx="5"/>
          </p:nvPr>
        </p:nvSpPr>
        <p:spPr>
          <a:noFill/>
        </p:spPr>
        <p:txBody>
          <a:bodyPr/>
          <a:lstStyle/>
          <a:p>
            <a:fld id="{A908BF1A-DCDB-498E-82A7-C3FC36EF482D}" type="slidenum">
              <a:rPr lang="en-US" smtClean="0"/>
              <a:pPr/>
              <a:t>195</a:t>
            </a:fld>
            <a:endParaRPr lang="en-US"/>
          </a:p>
        </p:txBody>
      </p:sp>
      <p:sp>
        <p:nvSpPr>
          <p:cNvPr id="443395" name="Rectangle 2"/>
          <p:cNvSpPr>
            <a:spLocks noGrp="1" noRot="1" noChangeAspect="1" noChangeArrowheads="1" noTextEdit="1"/>
          </p:cNvSpPr>
          <p:nvPr>
            <p:ph type="sldImg"/>
          </p:nvPr>
        </p:nvSpPr>
        <p:spPr>
          <a:ln/>
        </p:spPr>
      </p:sp>
      <p:sp>
        <p:nvSpPr>
          <p:cNvPr id="4433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7"/>
          <p:cNvSpPr>
            <a:spLocks noGrp="1" noChangeArrowheads="1"/>
          </p:cNvSpPr>
          <p:nvPr>
            <p:ph type="sldNum" sz="quarter" idx="5"/>
          </p:nvPr>
        </p:nvSpPr>
        <p:spPr>
          <a:noFill/>
        </p:spPr>
        <p:txBody>
          <a:bodyPr/>
          <a:lstStyle/>
          <a:p>
            <a:fld id="{98CCA6B2-FDD3-4007-86E9-8DCA6C319DB6}" type="slidenum">
              <a:rPr lang="en-US" smtClean="0"/>
              <a:pPr/>
              <a:t>196</a:t>
            </a:fld>
            <a:endParaRPr lang="en-US"/>
          </a:p>
        </p:txBody>
      </p:sp>
      <p:sp>
        <p:nvSpPr>
          <p:cNvPr id="444419" name="Rectangle 2"/>
          <p:cNvSpPr>
            <a:spLocks noGrp="1" noRot="1" noChangeAspect="1" noChangeArrowheads="1" noTextEdit="1"/>
          </p:cNvSpPr>
          <p:nvPr>
            <p:ph type="sldImg"/>
          </p:nvPr>
        </p:nvSpPr>
        <p:spPr>
          <a:xfrm>
            <a:off x="1192213" y="693738"/>
            <a:ext cx="4643437" cy="3482975"/>
          </a:xfrm>
          <a:ln/>
        </p:spPr>
      </p:sp>
      <p:sp>
        <p:nvSpPr>
          <p:cNvPr id="444420" name="Rectangle 3"/>
          <p:cNvSpPr>
            <a:spLocks noGrp="1" noChangeArrowheads="1"/>
          </p:cNvSpPr>
          <p:nvPr>
            <p:ph type="body" idx="1"/>
          </p:nvPr>
        </p:nvSpPr>
        <p:spPr>
          <a:xfrm>
            <a:off x="936625" y="4408488"/>
            <a:ext cx="5153025" cy="4178300"/>
          </a:xfrm>
          <a:noFill/>
          <a:ln/>
        </p:spPr>
        <p:txBody>
          <a:bodyPr/>
          <a:lstStyle/>
          <a:p>
            <a:pPr marL="228600" indent="-228600"/>
            <a:r>
              <a:rPr lang="en-US"/>
              <a:t>Counting benchmark: Ignore startup and winddown times</a:t>
            </a:r>
            <a:endParaRPr lang="en-AU">
              <a:cs typeface="Times New Roman" pitchFamily="18" charset="0"/>
            </a:endParaRPr>
          </a:p>
          <a:p>
            <a:pPr marL="228600" indent="-228600">
              <a:buFontTx/>
              <a:buAutoNum type="arabicPeriod"/>
            </a:pPr>
            <a:r>
              <a:rPr lang="en-AU">
                <a:cs typeface="Times New Roman" pitchFamily="18" charset="0"/>
              </a:rPr>
              <a:t>Spin lock is best at low concurrenncy, drops off rapidly</a:t>
            </a:r>
          </a:p>
          <a:p>
            <a:pPr marL="228600" indent="-228600">
              <a:buFontTx/>
              <a:buAutoNum type="arabicPeriod"/>
            </a:pPr>
            <a:endParaRPr lang="en-AU">
              <a:cs typeface="Times New Roman" pitchFamily="18" charset="0"/>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7"/>
          <p:cNvSpPr>
            <a:spLocks noGrp="1" noChangeArrowheads="1"/>
          </p:cNvSpPr>
          <p:nvPr>
            <p:ph type="sldNum" sz="quarter" idx="5"/>
          </p:nvPr>
        </p:nvSpPr>
        <p:spPr>
          <a:noFill/>
        </p:spPr>
        <p:txBody>
          <a:bodyPr/>
          <a:lstStyle/>
          <a:p>
            <a:fld id="{2E493E31-8160-4D8D-AA41-1B7596AFDB77}" type="slidenum">
              <a:rPr lang="en-US" smtClean="0"/>
              <a:pPr/>
              <a:t>197</a:t>
            </a:fld>
            <a:endParaRPr lang="en-US"/>
          </a:p>
        </p:txBody>
      </p:sp>
      <p:sp>
        <p:nvSpPr>
          <p:cNvPr id="445443" name="Rectangle 2"/>
          <p:cNvSpPr>
            <a:spLocks noGrp="1" noRot="1" noChangeAspect="1" noChangeArrowheads="1" noTextEdit="1"/>
          </p:cNvSpPr>
          <p:nvPr>
            <p:ph type="sldImg"/>
          </p:nvPr>
        </p:nvSpPr>
        <p:spPr>
          <a:xfrm>
            <a:off x="1192213" y="693738"/>
            <a:ext cx="4643437" cy="3482975"/>
          </a:xfrm>
          <a:ln/>
        </p:spPr>
      </p:sp>
      <p:sp>
        <p:nvSpPr>
          <p:cNvPr id="445444" name="Rectangle 3"/>
          <p:cNvSpPr>
            <a:spLocks noGrp="1" noChangeArrowheads="1"/>
          </p:cNvSpPr>
          <p:nvPr>
            <p:ph type="body" idx="1"/>
          </p:nvPr>
        </p:nvSpPr>
        <p:spPr>
          <a:xfrm>
            <a:off x="936625" y="4408488"/>
            <a:ext cx="5153025" cy="4178300"/>
          </a:xfrm>
          <a:noFill/>
          <a:ln/>
        </p:spPr>
        <p:txBody>
          <a:bodyPr/>
          <a:lstStyle/>
          <a:p>
            <a:pPr marL="228600" indent="-228600"/>
            <a:r>
              <a:rPr lang="en-US"/>
              <a:t>Counting benchmark: Ignore startup and winddown times</a:t>
            </a:r>
            <a:endParaRPr lang="en-AU">
              <a:cs typeface="Times New Roman" pitchFamily="18" charset="0"/>
            </a:endParaRPr>
          </a:p>
          <a:p>
            <a:pPr marL="228600" indent="-228600">
              <a:buFontTx/>
              <a:buAutoNum type="arabicPeriod"/>
            </a:pPr>
            <a:r>
              <a:rPr lang="en-AU">
                <a:cs typeface="Times New Roman" pitchFamily="18" charset="0"/>
              </a:rPr>
              <a:t>Spin lock is best at low concurrenncy, drops off rapidly</a:t>
            </a:r>
          </a:p>
          <a:p>
            <a:pPr marL="228600" indent="-228600">
              <a:buFontTx/>
              <a:buAutoNum type="arabicPeriod"/>
            </a:pPr>
            <a:endParaRPr lang="en-AU">
              <a:cs typeface="Times New Roman" pitchFamily="18" charset="0"/>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7"/>
          <p:cNvSpPr>
            <a:spLocks noGrp="1" noChangeArrowheads="1"/>
          </p:cNvSpPr>
          <p:nvPr>
            <p:ph type="sldNum" sz="quarter" idx="5"/>
          </p:nvPr>
        </p:nvSpPr>
        <p:spPr>
          <a:noFill/>
        </p:spPr>
        <p:txBody>
          <a:bodyPr/>
          <a:lstStyle/>
          <a:p>
            <a:fld id="{5E437318-8B83-4A42-9067-10EAD959AF67}" type="slidenum">
              <a:rPr lang="en-US" smtClean="0"/>
              <a:pPr/>
              <a:t>198</a:t>
            </a:fld>
            <a:endParaRPr lang="en-US"/>
          </a:p>
        </p:txBody>
      </p:sp>
      <p:sp>
        <p:nvSpPr>
          <p:cNvPr id="446467" name="Rectangle 2"/>
          <p:cNvSpPr>
            <a:spLocks noGrp="1" noRot="1" noChangeAspect="1" noChangeArrowheads="1" noTextEdit="1"/>
          </p:cNvSpPr>
          <p:nvPr>
            <p:ph type="sldImg"/>
          </p:nvPr>
        </p:nvSpPr>
        <p:spPr>
          <a:xfrm>
            <a:off x="1192213" y="693738"/>
            <a:ext cx="4643437" cy="3482975"/>
          </a:xfrm>
          <a:ln/>
        </p:spPr>
      </p:sp>
      <p:sp>
        <p:nvSpPr>
          <p:cNvPr id="446468" name="Rectangle 3"/>
          <p:cNvSpPr>
            <a:spLocks noGrp="1" noChangeArrowheads="1"/>
          </p:cNvSpPr>
          <p:nvPr>
            <p:ph type="body" idx="1"/>
          </p:nvPr>
        </p:nvSpPr>
        <p:spPr>
          <a:xfrm>
            <a:off x="936625" y="4408488"/>
            <a:ext cx="5153025" cy="4178300"/>
          </a:xfrm>
          <a:noFill/>
          <a:ln/>
        </p:spPr>
        <p:txBody>
          <a:bodyPr/>
          <a:lstStyle/>
          <a:p>
            <a:pPr marL="228600" indent="-228600"/>
            <a:r>
              <a:rPr lang="en-US"/>
              <a:t>Counting benchmark: Ignore startup and winddown times</a:t>
            </a:r>
            <a:endParaRPr lang="en-AU">
              <a:cs typeface="Times New Roman" pitchFamily="18" charset="0"/>
            </a:endParaRPr>
          </a:p>
          <a:p>
            <a:pPr marL="228600" indent="-228600">
              <a:buFontTx/>
              <a:buAutoNum type="arabicPeriod"/>
            </a:pPr>
            <a:r>
              <a:rPr lang="en-AU">
                <a:cs typeface="Times New Roman" pitchFamily="18" charset="0"/>
              </a:rPr>
              <a:t>Spin lock is best at low concurrenncy, drops off rapidly</a:t>
            </a:r>
          </a:p>
          <a:p>
            <a:pPr marL="228600" indent="-228600">
              <a:buFontTx/>
              <a:buAutoNum type="arabicPeriod"/>
            </a:pPr>
            <a:endParaRPr lang="en-AU">
              <a:cs typeface="Times New Roman" pitchFamily="18" charset="0"/>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7"/>
          <p:cNvSpPr>
            <a:spLocks noGrp="1" noChangeArrowheads="1"/>
          </p:cNvSpPr>
          <p:nvPr>
            <p:ph type="sldNum" sz="quarter" idx="5"/>
          </p:nvPr>
        </p:nvSpPr>
        <p:spPr>
          <a:noFill/>
        </p:spPr>
        <p:txBody>
          <a:bodyPr/>
          <a:lstStyle/>
          <a:p>
            <a:fld id="{099AD1A3-A1B6-4A96-9935-47C12F417E88}" type="slidenum">
              <a:rPr lang="en-US" smtClean="0"/>
              <a:pPr/>
              <a:t>199</a:t>
            </a:fld>
            <a:endParaRPr lang="en-US"/>
          </a:p>
        </p:txBody>
      </p:sp>
      <p:sp>
        <p:nvSpPr>
          <p:cNvPr id="447491" name="Rectangle 2"/>
          <p:cNvSpPr>
            <a:spLocks noGrp="1" noRot="1" noChangeAspect="1" noChangeArrowheads="1" noTextEdit="1"/>
          </p:cNvSpPr>
          <p:nvPr>
            <p:ph type="sldImg"/>
          </p:nvPr>
        </p:nvSpPr>
        <p:spPr>
          <a:xfrm>
            <a:off x="1192213" y="693738"/>
            <a:ext cx="4643437" cy="3482975"/>
          </a:xfrm>
          <a:ln/>
        </p:spPr>
      </p:sp>
      <p:sp>
        <p:nvSpPr>
          <p:cNvPr id="447492" name="Rectangle 3"/>
          <p:cNvSpPr>
            <a:spLocks noGrp="1" noChangeArrowheads="1"/>
          </p:cNvSpPr>
          <p:nvPr>
            <p:ph type="body" idx="1"/>
          </p:nvPr>
        </p:nvSpPr>
        <p:spPr>
          <a:xfrm>
            <a:off x="936625" y="4408488"/>
            <a:ext cx="5153025" cy="4178300"/>
          </a:xfrm>
          <a:noFill/>
          <a:ln/>
        </p:spPr>
        <p:txBody>
          <a:bodyPr/>
          <a:lstStyle/>
          <a:p>
            <a:pPr marL="228600" indent="-228600"/>
            <a:r>
              <a:rPr lang="en-US"/>
              <a:t>Counting benchmark: Ignore startup and winddown times</a:t>
            </a:r>
            <a:endParaRPr lang="en-AU">
              <a:cs typeface="Times New Roman" pitchFamily="18" charset="0"/>
            </a:endParaRPr>
          </a:p>
          <a:p>
            <a:pPr marL="228600" indent="-228600">
              <a:buFontTx/>
              <a:buAutoNum type="arabicPeriod"/>
            </a:pPr>
            <a:r>
              <a:rPr lang="en-AU">
                <a:cs typeface="Times New Roman" pitchFamily="18" charset="0"/>
              </a:rPr>
              <a:t>Spin lock is best at low concurrenncy, drops off rapidly</a:t>
            </a:r>
          </a:p>
          <a:p>
            <a:pPr marL="228600" indent="-228600">
              <a:buFontTx/>
              <a:buAutoNum type="arabicPeriod"/>
            </a:pPr>
            <a:endParaRPr lang="en-AU">
              <a:cs typeface="Times New Roman" pitchFamily="18" charset="0"/>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7"/>
          <p:cNvSpPr>
            <a:spLocks noGrp="1" noChangeArrowheads="1"/>
          </p:cNvSpPr>
          <p:nvPr>
            <p:ph type="sldNum" sz="quarter" idx="5"/>
          </p:nvPr>
        </p:nvSpPr>
        <p:spPr>
          <a:noFill/>
        </p:spPr>
        <p:txBody>
          <a:bodyPr/>
          <a:lstStyle/>
          <a:p>
            <a:fld id="{3680A9C5-315A-4B64-82A9-07A62F7E71CD}" type="slidenum">
              <a:rPr lang="en-US" smtClean="0"/>
              <a:pPr/>
              <a:t>200</a:t>
            </a:fld>
            <a:endParaRPr lang="en-US"/>
          </a:p>
        </p:txBody>
      </p:sp>
      <p:sp>
        <p:nvSpPr>
          <p:cNvPr id="448515" name="Rectangle 2"/>
          <p:cNvSpPr>
            <a:spLocks noGrp="1" noRot="1" noChangeAspect="1" noChangeArrowheads="1" noTextEdit="1"/>
          </p:cNvSpPr>
          <p:nvPr>
            <p:ph type="sldImg"/>
          </p:nvPr>
        </p:nvSpPr>
        <p:spPr>
          <a:ln/>
        </p:spPr>
      </p:sp>
      <p:sp>
        <p:nvSpPr>
          <p:cNvPr id="4485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7"/>
          <p:cNvSpPr>
            <a:spLocks noGrp="1" noChangeArrowheads="1"/>
          </p:cNvSpPr>
          <p:nvPr>
            <p:ph type="sldNum" sz="quarter" idx="5"/>
          </p:nvPr>
        </p:nvSpPr>
        <p:spPr>
          <a:noFill/>
        </p:spPr>
        <p:txBody>
          <a:bodyPr/>
          <a:lstStyle/>
          <a:p>
            <a:fld id="{82511889-BA85-4862-BB35-888807936844}" type="slidenum">
              <a:rPr lang="en-US" smtClean="0"/>
              <a:pPr/>
              <a:t>201</a:t>
            </a:fld>
            <a:endParaRPr lang="en-US"/>
          </a:p>
        </p:txBody>
      </p:sp>
      <p:sp>
        <p:nvSpPr>
          <p:cNvPr id="449539" name="Rectangle 2"/>
          <p:cNvSpPr>
            <a:spLocks noGrp="1" noRot="1" noChangeAspect="1" noChangeArrowheads="1" noTextEdit="1"/>
          </p:cNvSpPr>
          <p:nvPr>
            <p:ph type="sldImg"/>
          </p:nvPr>
        </p:nvSpPr>
        <p:spPr>
          <a:xfrm>
            <a:off x="1192213" y="693738"/>
            <a:ext cx="4643437" cy="3482975"/>
          </a:xfrm>
          <a:ln/>
        </p:spPr>
      </p:sp>
      <p:sp>
        <p:nvSpPr>
          <p:cNvPr id="449540" name="Rectangle 3"/>
          <p:cNvSpPr>
            <a:spLocks noGrp="1" noChangeArrowheads="1"/>
          </p:cNvSpPr>
          <p:nvPr>
            <p:ph type="body" idx="1"/>
          </p:nvPr>
        </p:nvSpPr>
        <p:spPr>
          <a:xfrm>
            <a:off x="936625" y="4408488"/>
            <a:ext cx="5153025" cy="4178300"/>
          </a:xfrm>
          <a:noFill/>
          <a:ln/>
        </p:spPr>
        <p:txBody>
          <a:bodyPr/>
          <a:lstStyle/>
          <a:p>
            <a:r>
              <a:rPr lang="en-US"/>
              <a:t>The simulation was extended to 80 processors, one balancer per processor in </a:t>
            </a:r>
          </a:p>
          <a:p>
            <a:r>
              <a:rPr lang="en-US"/>
              <a:t>The 16 wide network, and as can be seen the counting network scales…</a:t>
            </a: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7"/>
          <p:cNvSpPr>
            <a:spLocks noGrp="1" noChangeArrowheads="1"/>
          </p:cNvSpPr>
          <p:nvPr>
            <p:ph type="sldNum" sz="quarter" idx="5"/>
          </p:nvPr>
        </p:nvSpPr>
        <p:spPr>
          <a:noFill/>
        </p:spPr>
        <p:txBody>
          <a:bodyPr/>
          <a:lstStyle/>
          <a:p>
            <a:fld id="{79EFED8D-34FF-47FF-9F50-9CA4003F8079}" type="slidenum">
              <a:rPr lang="en-US" smtClean="0"/>
              <a:pPr/>
              <a:t>202</a:t>
            </a:fld>
            <a:endParaRPr lang="en-US"/>
          </a:p>
        </p:txBody>
      </p:sp>
      <p:sp>
        <p:nvSpPr>
          <p:cNvPr id="450563" name="Rectangle 2"/>
          <p:cNvSpPr>
            <a:spLocks noGrp="1" noRot="1" noChangeAspect="1" noChangeArrowheads="1" noTextEdit="1"/>
          </p:cNvSpPr>
          <p:nvPr>
            <p:ph type="sldImg"/>
          </p:nvPr>
        </p:nvSpPr>
        <p:spPr>
          <a:ln/>
        </p:spPr>
      </p:sp>
      <p:sp>
        <p:nvSpPr>
          <p:cNvPr id="450564" name="Rectangle 3"/>
          <p:cNvSpPr>
            <a:spLocks noGrp="1" noChangeArrowheads="1"/>
          </p:cNvSpPr>
          <p:nvPr>
            <p:ph type="body" idx="1"/>
          </p:nvPr>
        </p:nvSpPr>
        <p:spPr>
          <a:noFill/>
          <a:ln/>
        </p:spPr>
        <p:txBody>
          <a:bodyPr/>
          <a:lstStyle/>
          <a:p>
            <a:r>
              <a:rPr lang="en-US"/>
              <a:t>Consider the following alternative. The pool itself is an array of items, where each array element either contains an item, or is \Jnull. We route threads through two GetAndIncrement() counters. Threads calling Put() increment one counter to choose an array index into which the new item should be placed. (If that slot is full, the thread waits until it becomes empty.) Similarly, threads calling Remove() increment another counter to choose an array index from which the new item should be removed. (If that slot is empty, the thread waits until it becomes full.)</a:t>
            </a: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7"/>
          <p:cNvSpPr>
            <a:spLocks noGrp="1" noChangeArrowheads="1"/>
          </p:cNvSpPr>
          <p:nvPr>
            <p:ph type="sldNum" sz="quarter" idx="5"/>
          </p:nvPr>
        </p:nvSpPr>
        <p:spPr>
          <a:noFill/>
        </p:spPr>
        <p:txBody>
          <a:bodyPr/>
          <a:lstStyle/>
          <a:p>
            <a:fld id="{EAC63FE9-DB0F-4670-B193-50EB626CB714}" type="slidenum">
              <a:rPr lang="en-US" smtClean="0"/>
              <a:pPr/>
              <a:t>203</a:t>
            </a:fld>
            <a:endParaRPr lang="en-US"/>
          </a:p>
        </p:txBody>
      </p:sp>
      <p:sp>
        <p:nvSpPr>
          <p:cNvPr id="451587" name="Rectangle 2"/>
          <p:cNvSpPr>
            <a:spLocks noGrp="1" noRot="1" noChangeAspect="1" noChangeArrowheads="1" noTextEdit="1"/>
          </p:cNvSpPr>
          <p:nvPr>
            <p:ph type="sldImg"/>
          </p:nvPr>
        </p:nvSpPr>
        <p:spPr>
          <a:ln/>
        </p:spPr>
      </p:sp>
      <p:sp>
        <p:nvSpPr>
          <p:cNvPr id="4515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7"/>
          <p:cNvSpPr>
            <a:spLocks noGrp="1" noChangeArrowheads="1"/>
          </p:cNvSpPr>
          <p:nvPr>
            <p:ph type="sldNum" sz="quarter" idx="5"/>
          </p:nvPr>
        </p:nvSpPr>
        <p:spPr>
          <a:noFill/>
        </p:spPr>
        <p:txBody>
          <a:bodyPr/>
          <a:lstStyle/>
          <a:p>
            <a:fld id="{E1F8AFAE-8788-46EC-94EB-9C7AACA443F6}" type="slidenum">
              <a:rPr lang="en-US" smtClean="0"/>
              <a:pPr/>
              <a:t>204</a:t>
            </a:fld>
            <a:endParaRPr lang="en-US"/>
          </a:p>
        </p:txBody>
      </p:sp>
      <p:sp>
        <p:nvSpPr>
          <p:cNvPr id="452611" name="Rectangle 2"/>
          <p:cNvSpPr>
            <a:spLocks noGrp="1" noRot="1" noChangeAspect="1" noChangeArrowheads="1" noTextEdit="1"/>
          </p:cNvSpPr>
          <p:nvPr>
            <p:ph type="sldImg"/>
          </p:nvPr>
        </p:nvSpPr>
        <p:spPr>
          <a:ln/>
        </p:spPr>
      </p:sp>
      <p:sp>
        <p:nvSpPr>
          <p:cNvPr id="4526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7"/>
          <p:cNvSpPr>
            <a:spLocks noGrp="1" noChangeArrowheads="1"/>
          </p:cNvSpPr>
          <p:nvPr>
            <p:ph type="sldNum" sz="quarter" idx="5"/>
          </p:nvPr>
        </p:nvSpPr>
        <p:spPr>
          <a:noFill/>
        </p:spPr>
        <p:txBody>
          <a:bodyPr/>
          <a:lstStyle/>
          <a:p>
            <a:fld id="{613CDFB5-26DC-483E-A732-D47291696431}" type="slidenum">
              <a:rPr lang="en-US" smtClean="0"/>
              <a:pPr/>
              <a:t>205</a:t>
            </a:fld>
            <a:endParaRPr lang="en-US"/>
          </a:p>
        </p:txBody>
      </p:sp>
      <p:sp>
        <p:nvSpPr>
          <p:cNvPr id="453635" name="Rectangle 2"/>
          <p:cNvSpPr>
            <a:spLocks noGrp="1" noRot="1" noChangeAspect="1" noChangeArrowheads="1" noTextEdit="1"/>
          </p:cNvSpPr>
          <p:nvPr>
            <p:ph type="sldImg"/>
          </p:nvPr>
        </p:nvSpPr>
        <p:spPr>
          <a:xfrm>
            <a:off x="1193800" y="695325"/>
            <a:ext cx="4641850" cy="3481388"/>
          </a:xfrm>
          <a:ln/>
        </p:spPr>
      </p:sp>
      <p:sp>
        <p:nvSpPr>
          <p:cNvPr id="4536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7"/>
          <p:cNvSpPr>
            <a:spLocks noGrp="1" noChangeArrowheads="1"/>
          </p:cNvSpPr>
          <p:nvPr>
            <p:ph type="sldNum" sz="quarter" idx="5"/>
          </p:nvPr>
        </p:nvSpPr>
        <p:spPr>
          <a:noFill/>
        </p:spPr>
        <p:txBody>
          <a:bodyPr/>
          <a:lstStyle/>
          <a:p>
            <a:fld id="{C7BB4B96-B791-498D-8122-AB909A50B7CF}" type="slidenum">
              <a:rPr lang="en-US" smtClean="0"/>
              <a:pPr/>
              <a:t>206</a:t>
            </a:fld>
            <a:endParaRPr lang="en-US"/>
          </a:p>
        </p:txBody>
      </p:sp>
      <p:sp>
        <p:nvSpPr>
          <p:cNvPr id="454659" name="Rectangle 2"/>
          <p:cNvSpPr>
            <a:spLocks noGrp="1" noRot="1" noChangeAspect="1" noChangeArrowheads="1" noTextEdit="1"/>
          </p:cNvSpPr>
          <p:nvPr>
            <p:ph type="sldImg"/>
          </p:nvPr>
        </p:nvSpPr>
        <p:spPr>
          <a:xfrm>
            <a:off x="1193800" y="695325"/>
            <a:ext cx="4641850" cy="3481388"/>
          </a:xfrm>
          <a:ln/>
        </p:spPr>
      </p:sp>
      <p:sp>
        <p:nvSpPr>
          <p:cNvPr id="4546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7"/>
          <p:cNvSpPr>
            <a:spLocks noGrp="1" noChangeArrowheads="1"/>
          </p:cNvSpPr>
          <p:nvPr>
            <p:ph type="sldNum" sz="quarter" idx="5"/>
          </p:nvPr>
        </p:nvSpPr>
        <p:spPr>
          <a:noFill/>
        </p:spPr>
        <p:txBody>
          <a:bodyPr/>
          <a:lstStyle/>
          <a:p>
            <a:fld id="{A7AD7325-A5EC-4A38-A34B-F3CB5461D522}" type="slidenum">
              <a:rPr lang="en-US" smtClean="0"/>
              <a:pPr/>
              <a:t>207</a:t>
            </a:fld>
            <a:endParaRPr lang="en-US"/>
          </a:p>
        </p:txBody>
      </p:sp>
      <p:sp>
        <p:nvSpPr>
          <p:cNvPr id="455683" name="Rectangle 2"/>
          <p:cNvSpPr>
            <a:spLocks noGrp="1" noRot="1" noChangeAspect="1" noChangeArrowheads="1" noTextEdit="1"/>
          </p:cNvSpPr>
          <p:nvPr>
            <p:ph type="sldImg"/>
          </p:nvPr>
        </p:nvSpPr>
        <p:spPr>
          <a:xfrm>
            <a:off x="1193800" y="695325"/>
            <a:ext cx="4641850" cy="3481388"/>
          </a:xfrm>
          <a:ln/>
        </p:spPr>
      </p:sp>
      <p:sp>
        <p:nvSpPr>
          <p:cNvPr id="4556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7"/>
          <p:cNvSpPr>
            <a:spLocks noGrp="1" noChangeArrowheads="1"/>
          </p:cNvSpPr>
          <p:nvPr>
            <p:ph type="sldNum" sz="quarter" idx="5"/>
          </p:nvPr>
        </p:nvSpPr>
        <p:spPr>
          <a:noFill/>
        </p:spPr>
        <p:txBody>
          <a:bodyPr/>
          <a:lstStyle/>
          <a:p>
            <a:fld id="{37825B80-47FD-41DE-8B3D-BE7D32CA8FA6}" type="slidenum">
              <a:rPr lang="en-US" smtClean="0"/>
              <a:pPr/>
              <a:t>208</a:t>
            </a:fld>
            <a:endParaRPr lang="en-US"/>
          </a:p>
        </p:txBody>
      </p:sp>
      <p:sp>
        <p:nvSpPr>
          <p:cNvPr id="456707" name="Rectangle 2"/>
          <p:cNvSpPr>
            <a:spLocks noGrp="1" noRot="1" noChangeAspect="1" noChangeArrowheads="1" noTextEdit="1"/>
          </p:cNvSpPr>
          <p:nvPr>
            <p:ph type="sldImg"/>
          </p:nvPr>
        </p:nvSpPr>
        <p:spPr>
          <a:xfrm>
            <a:off x="1193800" y="695325"/>
            <a:ext cx="4641850" cy="3481388"/>
          </a:xfrm>
          <a:ln/>
        </p:spPr>
      </p:sp>
      <p:sp>
        <p:nvSpPr>
          <p:cNvPr id="4567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7"/>
          <p:cNvSpPr>
            <a:spLocks noGrp="1" noChangeArrowheads="1"/>
          </p:cNvSpPr>
          <p:nvPr>
            <p:ph type="sldNum" sz="quarter" idx="5"/>
          </p:nvPr>
        </p:nvSpPr>
        <p:spPr>
          <a:noFill/>
        </p:spPr>
        <p:txBody>
          <a:bodyPr/>
          <a:lstStyle/>
          <a:p>
            <a:fld id="{3F7ACBBC-D3A1-4CBC-A790-B556BC0779BC}" type="slidenum">
              <a:rPr lang="en-US" smtClean="0"/>
              <a:pPr/>
              <a:t>209</a:t>
            </a:fld>
            <a:endParaRPr lang="en-US"/>
          </a:p>
        </p:txBody>
      </p:sp>
      <p:sp>
        <p:nvSpPr>
          <p:cNvPr id="457731" name="Rectangle 2"/>
          <p:cNvSpPr>
            <a:spLocks noGrp="1" noRot="1" noChangeAspect="1" noChangeArrowheads="1" noTextEdit="1"/>
          </p:cNvSpPr>
          <p:nvPr>
            <p:ph type="sldImg"/>
          </p:nvPr>
        </p:nvSpPr>
        <p:spPr>
          <a:xfrm>
            <a:off x="1193800" y="695325"/>
            <a:ext cx="4641850" cy="3481388"/>
          </a:xfrm>
          <a:ln/>
        </p:spPr>
      </p:sp>
      <p:sp>
        <p:nvSpPr>
          <p:cNvPr id="4577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7"/>
          <p:cNvSpPr>
            <a:spLocks noGrp="1" noChangeArrowheads="1"/>
          </p:cNvSpPr>
          <p:nvPr>
            <p:ph type="sldNum" sz="quarter" idx="5"/>
          </p:nvPr>
        </p:nvSpPr>
        <p:spPr>
          <a:noFill/>
        </p:spPr>
        <p:txBody>
          <a:bodyPr/>
          <a:lstStyle/>
          <a:p>
            <a:fld id="{AFAD8BE2-D195-4C08-8BA6-CCA422A6B30B}" type="slidenum">
              <a:rPr lang="en-US" smtClean="0"/>
              <a:pPr/>
              <a:t>210</a:t>
            </a:fld>
            <a:endParaRPr lang="en-US"/>
          </a:p>
        </p:txBody>
      </p:sp>
      <p:sp>
        <p:nvSpPr>
          <p:cNvPr id="458755" name="Rectangle 2"/>
          <p:cNvSpPr>
            <a:spLocks noGrp="1" noRot="1" noChangeAspect="1" noChangeArrowheads="1" noTextEdit="1"/>
          </p:cNvSpPr>
          <p:nvPr>
            <p:ph type="sldImg"/>
          </p:nvPr>
        </p:nvSpPr>
        <p:spPr>
          <a:xfrm>
            <a:off x="1193800" y="695325"/>
            <a:ext cx="4641850" cy="3481388"/>
          </a:xfrm>
          <a:ln/>
        </p:spPr>
      </p:sp>
      <p:sp>
        <p:nvSpPr>
          <p:cNvPr id="4587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7"/>
          <p:cNvSpPr>
            <a:spLocks noGrp="1" noChangeArrowheads="1"/>
          </p:cNvSpPr>
          <p:nvPr>
            <p:ph type="sldNum" sz="quarter" idx="5"/>
          </p:nvPr>
        </p:nvSpPr>
        <p:spPr>
          <a:noFill/>
        </p:spPr>
        <p:txBody>
          <a:bodyPr/>
          <a:lstStyle/>
          <a:p>
            <a:fld id="{6F8A9646-275D-43B9-A356-9A1C74BE012F}" type="slidenum">
              <a:rPr lang="en-US" smtClean="0"/>
              <a:pPr/>
              <a:t>211</a:t>
            </a:fld>
            <a:endParaRPr lang="en-US"/>
          </a:p>
        </p:txBody>
      </p:sp>
      <p:sp>
        <p:nvSpPr>
          <p:cNvPr id="459779" name="Rectangle 2"/>
          <p:cNvSpPr>
            <a:spLocks noGrp="1" noRot="1" noChangeAspect="1" noChangeArrowheads="1" noTextEdit="1"/>
          </p:cNvSpPr>
          <p:nvPr>
            <p:ph type="sldImg"/>
          </p:nvPr>
        </p:nvSpPr>
        <p:spPr>
          <a:ln/>
        </p:spPr>
      </p:sp>
      <p:sp>
        <p:nvSpPr>
          <p:cNvPr id="4597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7"/>
          <p:cNvSpPr>
            <a:spLocks noGrp="1" noChangeArrowheads="1"/>
          </p:cNvSpPr>
          <p:nvPr>
            <p:ph type="sldNum" sz="quarter" idx="5"/>
          </p:nvPr>
        </p:nvSpPr>
        <p:spPr>
          <a:noFill/>
        </p:spPr>
        <p:txBody>
          <a:bodyPr/>
          <a:lstStyle/>
          <a:p>
            <a:fld id="{3EBDFE7F-0842-4A4D-B381-040DE65075B6}" type="slidenum">
              <a:rPr lang="en-US" smtClean="0"/>
              <a:pPr/>
              <a:t>212</a:t>
            </a:fld>
            <a:endParaRPr lang="en-US"/>
          </a:p>
        </p:txBody>
      </p:sp>
      <p:sp>
        <p:nvSpPr>
          <p:cNvPr id="460803" name="Rectangle 2"/>
          <p:cNvSpPr>
            <a:spLocks noGrp="1" noRot="1" noChangeAspect="1" noChangeArrowheads="1" noTextEdit="1"/>
          </p:cNvSpPr>
          <p:nvPr>
            <p:ph type="sldImg"/>
          </p:nvPr>
        </p:nvSpPr>
        <p:spPr>
          <a:ln/>
        </p:spPr>
      </p:sp>
      <p:sp>
        <p:nvSpPr>
          <p:cNvPr id="4608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7"/>
          <p:cNvSpPr>
            <a:spLocks noGrp="1" noChangeArrowheads="1"/>
          </p:cNvSpPr>
          <p:nvPr>
            <p:ph type="sldNum" sz="quarter" idx="5"/>
          </p:nvPr>
        </p:nvSpPr>
        <p:spPr>
          <a:noFill/>
        </p:spPr>
        <p:txBody>
          <a:bodyPr/>
          <a:lstStyle/>
          <a:p>
            <a:fld id="{39A16325-F7DF-4691-948E-CD661A1159E0}" type="slidenum">
              <a:rPr lang="en-US" smtClean="0"/>
              <a:pPr/>
              <a:t>213</a:t>
            </a:fld>
            <a:endParaRPr lang="en-US"/>
          </a:p>
        </p:txBody>
      </p:sp>
      <p:sp>
        <p:nvSpPr>
          <p:cNvPr id="461827" name="Rectangle 2"/>
          <p:cNvSpPr>
            <a:spLocks noGrp="1" noRot="1" noChangeAspect="1" noChangeArrowheads="1" noTextEdit="1"/>
          </p:cNvSpPr>
          <p:nvPr>
            <p:ph type="sldImg"/>
          </p:nvPr>
        </p:nvSpPr>
        <p:spPr>
          <a:ln/>
        </p:spPr>
      </p:sp>
      <p:sp>
        <p:nvSpPr>
          <p:cNvPr id="4618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7"/>
          <p:cNvSpPr>
            <a:spLocks noGrp="1" noChangeArrowheads="1"/>
          </p:cNvSpPr>
          <p:nvPr>
            <p:ph type="sldNum" sz="quarter" idx="5"/>
          </p:nvPr>
        </p:nvSpPr>
        <p:spPr>
          <a:noFill/>
        </p:spPr>
        <p:txBody>
          <a:bodyPr/>
          <a:lstStyle/>
          <a:p>
            <a:fld id="{B0CD3FFD-73B3-4F22-8C91-E129DFEF86B5}" type="slidenum">
              <a:rPr lang="en-US" smtClean="0"/>
              <a:pPr/>
              <a:t>214</a:t>
            </a:fld>
            <a:endParaRPr lang="en-US"/>
          </a:p>
        </p:txBody>
      </p:sp>
      <p:sp>
        <p:nvSpPr>
          <p:cNvPr id="462851" name="Rectangle 2"/>
          <p:cNvSpPr>
            <a:spLocks noGrp="1" noRot="1" noChangeAspect="1" noChangeArrowheads="1" noTextEdit="1"/>
          </p:cNvSpPr>
          <p:nvPr>
            <p:ph type="sldImg"/>
          </p:nvPr>
        </p:nvSpPr>
        <p:spPr>
          <a:ln/>
        </p:spPr>
      </p:sp>
      <p:sp>
        <p:nvSpPr>
          <p:cNvPr id="4628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7"/>
          <p:cNvSpPr>
            <a:spLocks noGrp="1" noChangeArrowheads="1"/>
          </p:cNvSpPr>
          <p:nvPr>
            <p:ph type="sldNum" sz="quarter" idx="5"/>
          </p:nvPr>
        </p:nvSpPr>
        <p:spPr>
          <a:noFill/>
        </p:spPr>
        <p:txBody>
          <a:bodyPr/>
          <a:lstStyle/>
          <a:p>
            <a:fld id="{232DB620-7729-4CAF-8585-BC0439E50813}" type="slidenum">
              <a:rPr lang="en-US" smtClean="0"/>
              <a:pPr/>
              <a:t>215</a:t>
            </a:fld>
            <a:endParaRPr lang="en-US"/>
          </a:p>
        </p:txBody>
      </p:sp>
      <p:sp>
        <p:nvSpPr>
          <p:cNvPr id="463875" name="Rectangle 2"/>
          <p:cNvSpPr>
            <a:spLocks noGrp="1" noRot="1" noChangeAspect="1" noChangeArrowheads="1" noTextEdit="1"/>
          </p:cNvSpPr>
          <p:nvPr>
            <p:ph type="sldImg"/>
          </p:nvPr>
        </p:nvSpPr>
        <p:spPr>
          <a:ln/>
        </p:spPr>
      </p:sp>
      <p:sp>
        <p:nvSpPr>
          <p:cNvPr id="4638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7"/>
          <p:cNvSpPr>
            <a:spLocks noGrp="1" noChangeArrowheads="1"/>
          </p:cNvSpPr>
          <p:nvPr>
            <p:ph type="sldNum" sz="quarter" idx="5"/>
          </p:nvPr>
        </p:nvSpPr>
        <p:spPr>
          <a:noFill/>
        </p:spPr>
        <p:txBody>
          <a:bodyPr/>
          <a:lstStyle/>
          <a:p>
            <a:fld id="{22BE73A2-6823-4168-AF8F-0A2FAB16EC52}" type="slidenum">
              <a:rPr lang="en-US" smtClean="0"/>
              <a:pPr/>
              <a:t>216</a:t>
            </a:fld>
            <a:endParaRPr lang="en-US"/>
          </a:p>
        </p:txBody>
      </p:sp>
      <p:sp>
        <p:nvSpPr>
          <p:cNvPr id="464899" name="Rectangle 2"/>
          <p:cNvSpPr>
            <a:spLocks noGrp="1" noRot="1" noChangeAspect="1" noChangeArrowheads="1" noTextEdit="1"/>
          </p:cNvSpPr>
          <p:nvPr>
            <p:ph type="sldImg"/>
          </p:nvPr>
        </p:nvSpPr>
        <p:spPr>
          <a:ln/>
        </p:spPr>
      </p:sp>
      <p:sp>
        <p:nvSpPr>
          <p:cNvPr id="4649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7"/>
          <p:cNvSpPr>
            <a:spLocks noGrp="1" noChangeArrowheads="1"/>
          </p:cNvSpPr>
          <p:nvPr>
            <p:ph type="sldNum" sz="quarter" idx="5"/>
          </p:nvPr>
        </p:nvSpPr>
        <p:spPr>
          <a:noFill/>
        </p:spPr>
        <p:txBody>
          <a:bodyPr/>
          <a:lstStyle/>
          <a:p>
            <a:fld id="{653980AF-8DD2-42F6-821F-4F3853254BF3}" type="slidenum">
              <a:rPr lang="en-US" smtClean="0"/>
              <a:pPr/>
              <a:t>217</a:t>
            </a:fld>
            <a:endParaRPr lang="en-US"/>
          </a:p>
        </p:txBody>
      </p:sp>
      <p:sp>
        <p:nvSpPr>
          <p:cNvPr id="465923" name="Rectangle 2"/>
          <p:cNvSpPr>
            <a:spLocks noGrp="1" noRot="1" noChangeAspect="1" noChangeArrowheads="1" noTextEdit="1"/>
          </p:cNvSpPr>
          <p:nvPr>
            <p:ph type="sldImg"/>
          </p:nvPr>
        </p:nvSpPr>
        <p:spPr>
          <a:ln/>
        </p:spPr>
      </p:sp>
      <p:sp>
        <p:nvSpPr>
          <p:cNvPr id="4659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7"/>
          <p:cNvSpPr>
            <a:spLocks noGrp="1" noChangeArrowheads="1"/>
          </p:cNvSpPr>
          <p:nvPr>
            <p:ph type="sldNum" sz="quarter" idx="5"/>
          </p:nvPr>
        </p:nvSpPr>
        <p:spPr>
          <a:noFill/>
        </p:spPr>
        <p:txBody>
          <a:bodyPr/>
          <a:lstStyle/>
          <a:p>
            <a:fld id="{23C23C52-5D78-457A-8BF7-735882374490}" type="slidenum">
              <a:rPr lang="en-US" smtClean="0"/>
              <a:pPr/>
              <a:t>218</a:t>
            </a:fld>
            <a:endParaRPr lang="en-US"/>
          </a:p>
        </p:txBody>
      </p:sp>
      <p:sp>
        <p:nvSpPr>
          <p:cNvPr id="466947" name="Rectangle 2"/>
          <p:cNvSpPr>
            <a:spLocks noGrp="1" noRot="1" noChangeAspect="1" noChangeArrowheads="1" noTextEdit="1"/>
          </p:cNvSpPr>
          <p:nvPr>
            <p:ph type="sldImg"/>
          </p:nvPr>
        </p:nvSpPr>
        <p:spPr>
          <a:ln/>
        </p:spPr>
      </p:sp>
      <p:sp>
        <p:nvSpPr>
          <p:cNvPr id="4669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7"/>
          <p:cNvSpPr>
            <a:spLocks noGrp="1" noChangeArrowheads="1"/>
          </p:cNvSpPr>
          <p:nvPr>
            <p:ph type="sldNum" sz="quarter" idx="5"/>
          </p:nvPr>
        </p:nvSpPr>
        <p:spPr>
          <a:noFill/>
        </p:spPr>
        <p:txBody>
          <a:bodyPr/>
          <a:lstStyle/>
          <a:p>
            <a:fld id="{E5CDC64E-32B0-4EC2-BB19-028D0DAD04CE}" type="slidenum">
              <a:rPr lang="en-US" smtClean="0"/>
              <a:pPr/>
              <a:t>219</a:t>
            </a:fld>
            <a:endParaRPr lang="en-US"/>
          </a:p>
        </p:txBody>
      </p:sp>
      <p:sp>
        <p:nvSpPr>
          <p:cNvPr id="467971" name="Rectangle 2"/>
          <p:cNvSpPr>
            <a:spLocks noGrp="1" noRot="1" noChangeAspect="1" noChangeArrowheads="1" noTextEdit="1"/>
          </p:cNvSpPr>
          <p:nvPr>
            <p:ph type="sldImg"/>
          </p:nvPr>
        </p:nvSpPr>
        <p:spPr>
          <a:ln/>
        </p:spPr>
      </p:sp>
      <p:sp>
        <p:nvSpPr>
          <p:cNvPr id="4679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7"/>
          <p:cNvSpPr>
            <a:spLocks noGrp="1" noChangeArrowheads="1"/>
          </p:cNvSpPr>
          <p:nvPr>
            <p:ph type="sldNum" sz="quarter" idx="5"/>
          </p:nvPr>
        </p:nvSpPr>
        <p:spPr>
          <a:noFill/>
        </p:spPr>
        <p:txBody>
          <a:bodyPr/>
          <a:lstStyle/>
          <a:p>
            <a:fld id="{836714DF-3588-4E0D-8E8F-DCA376D6811C}" type="slidenum">
              <a:rPr lang="en-US" smtClean="0"/>
              <a:pPr/>
              <a:t>220</a:t>
            </a:fld>
            <a:endParaRPr lang="en-US"/>
          </a:p>
        </p:txBody>
      </p:sp>
      <p:sp>
        <p:nvSpPr>
          <p:cNvPr id="468995" name="Rectangle 2"/>
          <p:cNvSpPr>
            <a:spLocks noGrp="1" noRot="1" noChangeAspect="1" noChangeArrowheads="1" noTextEdit="1"/>
          </p:cNvSpPr>
          <p:nvPr>
            <p:ph type="sldImg"/>
          </p:nvPr>
        </p:nvSpPr>
        <p:spPr>
          <a:ln/>
        </p:spPr>
      </p:sp>
      <p:sp>
        <p:nvSpPr>
          <p:cNvPr id="4689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166621F9-8625-4575-983D-DB7B260F2771}" type="slidenum">
              <a:rPr lang="en-US" smtClean="0"/>
              <a:pPr/>
              <a:t>221</a:t>
            </a:fld>
            <a:endParaRPr lang="en-US"/>
          </a:p>
        </p:txBody>
      </p:sp>
      <p:sp>
        <p:nvSpPr>
          <p:cNvPr id="470019" name="Rectangle 2"/>
          <p:cNvSpPr>
            <a:spLocks noGrp="1" noRot="1" noChangeAspect="1" noChangeArrowheads="1" noTextEdit="1"/>
          </p:cNvSpPr>
          <p:nvPr>
            <p:ph type="sldImg"/>
          </p:nvPr>
        </p:nvSpPr>
        <p:spPr>
          <a:ln/>
        </p:spPr>
      </p:sp>
      <p:sp>
        <p:nvSpPr>
          <p:cNvPr id="4700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p:cNvSpPr>
            <a:spLocks noGrp="1" noChangeArrowheads="1"/>
          </p:cNvSpPr>
          <p:nvPr>
            <p:ph type="sldNum" sz="quarter" idx="5"/>
          </p:nvPr>
        </p:nvSpPr>
        <p:spPr>
          <a:noFill/>
        </p:spPr>
        <p:txBody>
          <a:bodyPr/>
          <a:lstStyle/>
          <a:p>
            <a:fld id="{88BE046F-856D-4432-87FC-34CCC8C5D2AE}" type="slidenum">
              <a:rPr lang="en-US" smtClean="0"/>
              <a:pPr/>
              <a:t>222</a:t>
            </a:fld>
            <a:endParaRPr lang="en-US"/>
          </a:p>
        </p:txBody>
      </p:sp>
      <p:sp>
        <p:nvSpPr>
          <p:cNvPr id="471043" name="Rectangle 2"/>
          <p:cNvSpPr>
            <a:spLocks noGrp="1" noRot="1" noChangeAspect="1" noChangeArrowheads="1" noTextEdit="1"/>
          </p:cNvSpPr>
          <p:nvPr>
            <p:ph type="sldImg"/>
          </p:nvPr>
        </p:nvSpPr>
        <p:spPr>
          <a:ln/>
        </p:spPr>
      </p:sp>
      <p:sp>
        <p:nvSpPr>
          <p:cNvPr id="4710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7"/>
          <p:cNvSpPr>
            <a:spLocks noGrp="1" noChangeArrowheads="1"/>
          </p:cNvSpPr>
          <p:nvPr>
            <p:ph type="sldNum" sz="quarter" idx="5"/>
          </p:nvPr>
        </p:nvSpPr>
        <p:spPr>
          <a:noFill/>
        </p:spPr>
        <p:txBody>
          <a:bodyPr/>
          <a:lstStyle/>
          <a:p>
            <a:fld id="{D24F745A-C039-4C31-AB1D-6359DCFD564D}" type="slidenum">
              <a:rPr lang="en-US" smtClean="0"/>
              <a:pPr/>
              <a:t>223</a:t>
            </a:fld>
            <a:endParaRPr lang="en-US"/>
          </a:p>
        </p:txBody>
      </p:sp>
      <p:sp>
        <p:nvSpPr>
          <p:cNvPr id="472067" name="Rectangle 2"/>
          <p:cNvSpPr>
            <a:spLocks noGrp="1" noRot="1" noChangeAspect="1" noChangeArrowheads="1" noTextEdit="1"/>
          </p:cNvSpPr>
          <p:nvPr>
            <p:ph type="sldImg"/>
          </p:nvPr>
        </p:nvSpPr>
        <p:spPr>
          <a:ln/>
        </p:spPr>
      </p:sp>
      <p:sp>
        <p:nvSpPr>
          <p:cNvPr id="4720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p:cNvSpPr>
            <a:spLocks noGrp="1" noChangeArrowheads="1"/>
          </p:cNvSpPr>
          <p:nvPr>
            <p:ph type="sldNum" sz="quarter" idx="5"/>
          </p:nvPr>
        </p:nvSpPr>
        <p:spPr>
          <a:noFill/>
        </p:spPr>
        <p:txBody>
          <a:bodyPr/>
          <a:lstStyle/>
          <a:p>
            <a:fld id="{46EFE63B-7430-4A8B-90E4-07B08FFF3F7C}" type="slidenum">
              <a:rPr lang="en-US" smtClean="0"/>
              <a:pPr/>
              <a:t>224</a:t>
            </a:fld>
            <a:endParaRPr lang="en-US"/>
          </a:p>
        </p:txBody>
      </p:sp>
      <p:sp>
        <p:nvSpPr>
          <p:cNvPr id="473091" name="Rectangle 2"/>
          <p:cNvSpPr>
            <a:spLocks noGrp="1" noRot="1" noChangeAspect="1" noChangeArrowheads="1" noTextEdit="1"/>
          </p:cNvSpPr>
          <p:nvPr>
            <p:ph type="sldImg"/>
          </p:nvPr>
        </p:nvSpPr>
        <p:spPr>
          <a:ln/>
        </p:spPr>
      </p:sp>
      <p:sp>
        <p:nvSpPr>
          <p:cNvPr id="4730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7"/>
          <p:cNvSpPr>
            <a:spLocks noGrp="1" noChangeArrowheads="1"/>
          </p:cNvSpPr>
          <p:nvPr>
            <p:ph type="sldNum" sz="quarter" idx="5"/>
          </p:nvPr>
        </p:nvSpPr>
        <p:spPr>
          <a:noFill/>
        </p:spPr>
        <p:txBody>
          <a:bodyPr/>
          <a:lstStyle/>
          <a:p>
            <a:fld id="{0FD28410-6B08-4892-923F-8801BD9E9A4B}" type="slidenum">
              <a:rPr lang="en-US" smtClean="0"/>
              <a:pPr/>
              <a:t>225</a:t>
            </a:fld>
            <a:endParaRPr lang="en-US"/>
          </a:p>
        </p:txBody>
      </p:sp>
      <p:sp>
        <p:nvSpPr>
          <p:cNvPr id="474115" name="Rectangle 2"/>
          <p:cNvSpPr>
            <a:spLocks noGrp="1" noRot="1" noChangeAspect="1" noChangeArrowheads="1" noTextEdit="1"/>
          </p:cNvSpPr>
          <p:nvPr>
            <p:ph type="sldImg"/>
          </p:nvPr>
        </p:nvSpPr>
        <p:spPr>
          <a:ln/>
        </p:spPr>
      </p:sp>
      <p:sp>
        <p:nvSpPr>
          <p:cNvPr id="4741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7"/>
          <p:cNvSpPr>
            <a:spLocks noGrp="1" noChangeArrowheads="1"/>
          </p:cNvSpPr>
          <p:nvPr>
            <p:ph type="sldNum" sz="quarter" idx="5"/>
          </p:nvPr>
        </p:nvSpPr>
        <p:spPr>
          <a:noFill/>
        </p:spPr>
        <p:txBody>
          <a:bodyPr/>
          <a:lstStyle/>
          <a:p>
            <a:fld id="{901A326C-1464-4493-BD91-6EBD05C893C2}" type="slidenum">
              <a:rPr lang="en-US" smtClean="0"/>
              <a:pPr/>
              <a:t>226</a:t>
            </a:fld>
            <a:endParaRPr lang="en-US"/>
          </a:p>
        </p:txBody>
      </p:sp>
      <p:sp>
        <p:nvSpPr>
          <p:cNvPr id="475139" name="Rectangle 2"/>
          <p:cNvSpPr>
            <a:spLocks noGrp="1" noRot="1" noChangeAspect="1" noChangeArrowheads="1" noTextEdit="1"/>
          </p:cNvSpPr>
          <p:nvPr>
            <p:ph type="sldImg"/>
          </p:nvPr>
        </p:nvSpPr>
        <p:spPr>
          <a:ln/>
        </p:spPr>
      </p:sp>
      <p:sp>
        <p:nvSpPr>
          <p:cNvPr id="4751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7"/>
          <p:cNvSpPr>
            <a:spLocks noGrp="1" noChangeArrowheads="1"/>
          </p:cNvSpPr>
          <p:nvPr>
            <p:ph type="sldNum" sz="quarter" idx="5"/>
          </p:nvPr>
        </p:nvSpPr>
        <p:spPr>
          <a:noFill/>
        </p:spPr>
        <p:txBody>
          <a:bodyPr/>
          <a:lstStyle/>
          <a:p>
            <a:fld id="{68847319-9419-4314-B5D8-B95B9E287110}" type="slidenum">
              <a:rPr lang="en-US" smtClean="0"/>
              <a:pPr/>
              <a:t>227</a:t>
            </a:fld>
            <a:endParaRPr lang="en-US"/>
          </a:p>
        </p:txBody>
      </p:sp>
      <p:sp>
        <p:nvSpPr>
          <p:cNvPr id="476163" name="Rectangle 2"/>
          <p:cNvSpPr>
            <a:spLocks noGrp="1" noRot="1" noChangeAspect="1" noChangeArrowheads="1" noTextEdit="1"/>
          </p:cNvSpPr>
          <p:nvPr>
            <p:ph type="sldImg"/>
          </p:nvPr>
        </p:nvSpPr>
        <p:spPr>
          <a:ln/>
        </p:spPr>
      </p:sp>
      <p:sp>
        <p:nvSpPr>
          <p:cNvPr id="4761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7"/>
          <p:cNvSpPr>
            <a:spLocks noGrp="1" noChangeArrowheads="1"/>
          </p:cNvSpPr>
          <p:nvPr>
            <p:ph type="sldNum" sz="quarter" idx="5"/>
          </p:nvPr>
        </p:nvSpPr>
        <p:spPr>
          <a:noFill/>
        </p:spPr>
        <p:txBody>
          <a:bodyPr/>
          <a:lstStyle/>
          <a:p>
            <a:fld id="{6731BDA8-402C-4C9E-8E8B-D72C02BD147C}" type="slidenum">
              <a:rPr lang="en-US" smtClean="0"/>
              <a:pPr/>
              <a:t>228</a:t>
            </a:fld>
            <a:endParaRPr lang="en-US"/>
          </a:p>
        </p:txBody>
      </p:sp>
      <p:sp>
        <p:nvSpPr>
          <p:cNvPr id="477187" name="Rectangle 2"/>
          <p:cNvSpPr>
            <a:spLocks noGrp="1" noRot="1" noChangeAspect="1" noChangeArrowheads="1" noTextEdit="1"/>
          </p:cNvSpPr>
          <p:nvPr>
            <p:ph type="sldImg"/>
          </p:nvPr>
        </p:nvSpPr>
        <p:spPr>
          <a:ln/>
        </p:spPr>
      </p:sp>
      <p:sp>
        <p:nvSpPr>
          <p:cNvPr id="4771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7"/>
          <p:cNvSpPr>
            <a:spLocks noGrp="1" noChangeArrowheads="1"/>
          </p:cNvSpPr>
          <p:nvPr>
            <p:ph type="sldNum" sz="quarter" idx="5"/>
          </p:nvPr>
        </p:nvSpPr>
        <p:spPr>
          <a:noFill/>
        </p:spPr>
        <p:txBody>
          <a:bodyPr/>
          <a:lstStyle/>
          <a:p>
            <a:fld id="{5D3028CE-E114-48D5-895F-50A1AA7AA12D}" type="slidenum">
              <a:rPr lang="en-US" smtClean="0"/>
              <a:pPr/>
              <a:t>229</a:t>
            </a:fld>
            <a:endParaRPr lang="en-US"/>
          </a:p>
        </p:txBody>
      </p:sp>
      <p:sp>
        <p:nvSpPr>
          <p:cNvPr id="478211" name="Rectangle 2"/>
          <p:cNvSpPr>
            <a:spLocks noGrp="1" noRot="1" noChangeAspect="1" noChangeArrowheads="1" noTextEdit="1"/>
          </p:cNvSpPr>
          <p:nvPr>
            <p:ph type="sldImg"/>
          </p:nvPr>
        </p:nvSpPr>
        <p:spPr>
          <a:ln/>
        </p:spPr>
      </p:sp>
      <p:sp>
        <p:nvSpPr>
          <p:cNvPr id="4782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p:cNvSpPr>
            <a:spLocks noGrp="1" noChangeArrowheads="1"/>
          </p:cNvSpPr>
          <p:nvPr>
            <p:ph type="sldNum" sz="quarter" idx="5"/>
          </p:nvPr>
        </p:nvSpPr>
        <p:spPr>
          <a:noFill/>
        </p:spPr>
        <p:txBody>
          <a:bodyPr/>
          <a:lstStyle/>
          <a:p>
            <a:fld id="{CEA5E470-98FC-4CC5-95AC-8179231B48A1}" type="slidenum">
              <a:rPr lang="en-US" smtClean="0"/>
              <a:pPr/>
              <a:t>230</a:t>
            </a:fld>
            <a:endParaRPr lang="en-US"/>
          </a:p>
        </p:txBody>
      </p:sp>
      <p:sp>
        <p:nvSpPr>
          <p:cNvPr id="479235" name="Rectangle 2"/>
          <p:cNvSpPr>
            <a:spLocks noGrp="1" noRot="1" noChangeAspect="1" noChangeArrowheads="1" noTextEdit="1"/>
          </p:cNvSpPr>
          <p:nvPr>
            <p:ph type="sldImg"/>
          </p:nvPr>
        </p:nvSpPr>
        <p:spPr>
          <a:ln/>
        </p:spPr>
      </p:sp>
      <p:sp>
        <p:nvSpPr>
          <p:cNvPr id="4792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7"/>
          <p:cNvSpPr>
            <a:spLocks noGrp="1" noChangeArrowheads="1"/>
          </p:cNvSpPr>
          <p:nvPr>
            <p:ph type="sldNum" sz="quarter" idx="5"/>
          </p:nvPr>
        </p:nvSpPr>
        <p:spPr>
          <a:noFill/>
        </p:spPr>
        <p:txBody>
          <a:bodyPr/>
          <a:lstStyle/>
          <a:p>
            <a:fld id="{BF33F190-4718-4218-A95C-2C26AF14AA4A}" type="slidenum">
              <a:rPr lang="en-US" smtClean="0"/>
              <a:pPr/>
              <a:t>231</a:t>
            </a:fld>
            <a:endParaRPr lang="en-US"/>
          </a:p>
        </p:txBody>
      </p:sp>
      <p:sp>
        <p:nvSpPr>
          <p:cNvPr id="480259" name="Rectangle 2"/>
          <p:cNvSpPr>
            <a:spLocks noGrp="1" noRot="1" noChangeAspect="1" noChangeArrowheads="1" noTextEdit="1"/>
          </p:cNvSpPr>
          <p:nvPr>
            <p:ph type="sldImg"/>
          </p:nvPr>
        </p:nvSpPr>
        <p:spPr>
          <a:ln/>
        </p:spPr>
      </p:sp>
      <p:sp>
        <p:nvSpPr>
          <p:cNvPr id="4802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p:cNvSpPr>
            <a:spLocks noGrp="1" noChangeArrowheads="1"/>
          </p:cNvSpPr>
          <p:nvPr>
            <p:ph type="sldNum" sz="quarter" idx="5"/>
          </p:nvPr>
        </p:nvSpPr>
        <p:spPr>
          <a:noFill/>
        </p:spPr>
        <p:txBody>
          <a:bodyPr/>
          <a:lstStyle/>
          <a:p>
            <a:fld id="{58BBC81C-4E44-4C49-A356-334ABF6879CA}" type="slidenum">
              <a:rPr lang="en-US" smtClean="0"/>
              <a:pPr/>
              <a:t>232</a:t>
            </a:fld>
            <a:endParaRPr lang="en-US"/>
          </a:p>
        </p:txBody>
      </p:sp>
      <p:sp>
        <p:nvSpPr>
          <p:cNvPr id="481283" name="Rectangle 2"/>
          <p:cNvSpPr>
            <a:spLocks noGrp="1" noRot="1" noChangeAspect="1" noChangeArrowheads="1" noTextEdit="1"/>
          </p:cNvSpPr>
          <p:nvPr>
            <p:ph type="sldImg"/>
          </p:nvPr>
        </p:nvSpPr>
        <p:spPr>
          <a:ln/>
        </p:spPr>
      </p:sp>
      <p:sp>
        <p:nvSpPr>
          <p:cNvPr id="4812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7"/>
          <p:cNvSpPr>
            <a:spLocks noGrp="1" noChangeArrowheads="1"/>
          </p:cNvSpPr>
          <p:nvPr>
            <p:ph type="sldNum" sz="quarter" idx="5"/>
          </p:nvPr>
        </p:nvSpPr>
        <p:spPr>
          <a:noFill/>
        </p:spPr>
        <p:txBody>
          <a:bodyPr/>
          <a:lstStyle/>
          <a:p>
            <a:fld id="{200ED1D8-702D-4969-B319-35BFA432C614}" type="slidenum">
              <a:rPr lang="en-US" smtClean="0"/>
              <a:pPr/>
              <a:t>233</a:t>
            </a:fld>
            <a:endParaRPr lang="en-US"/>
          </a:p>
        </p:txBody>
      </p:sp>
      <p:sp>
        <p:nvSpPr>
          <p:cNvPr id="482307" name="Rectangle 2"/>
          <p:cNvSpPr>
            <a:spLocks noGrp="1" noRot="1" noChangeAspect="1" noChangeArrowheads="1" noTextEdit="1"/>
          </p:cNvSpPr>
          <p:nvPr>
            <p:ph type="sldImg"/>
          </p:nvPr>
        </p:nvSpPr>
        <p:spPr>
          <a:ln/>
        </p:spPr>
      </p:sp>
      <p:sp>
        <p:nvSpPr>
          <p:cNvPr id="4823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7"/>
          <p:cNvSpPr>
            <a:spLocks noGrp="1" noChangeArrowheads="1"/>
          </p:cNvSpPr>
          <p:nvPr>
            <p:ph type="sldNum" sz="quarter" idx="5"/>
          </p:nvPr>
        </p:nvSpPr>
        <p:spPr>
          <a:noFill/>
        </p:spPr>
        <p:txBody>
          <a:bodyPr/>
          <a:lstStyle/>
          <a:p>
            <a:fld id="{2A8AE99A-6EF6-4ABB-B768-395A42306AEC}" type="slidenum">
              <a:rPr lang="en-US" smtClean="0"/>
              <a:pPr/>
              <a:t>234</a:t>
            </a:fld>
            <a:endParaRPr lang="en-US"/>
          </a:p>
        </p:txBody>
      </p:sp>
      <p:sp>
        <p:nvSpPr>
          <p:cNvPr id="483331" name="Rectangle 2"/>
          <p:cNvSpPr>
            <a:spLocks noGrp="1" noRot="1" noChangeAspect="1" noChangeArrowheads="1" noTextEdit="1"/>
          </p:cNvSpPr>
          <p:nvPr>
            <p:ph type="sldImg"/>
          </p:nvPr>
        </p:nvSpPr>
        <p:spPr>
          <a:ln/>
        </p:spPr>
      </p:sp>
      <p:sp>
        <p:nvSpPr>
          <p:cNvPr id="4833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7"/>
          <p:cNvSpPr>
            <a:spLocks noGrp="1" noChangeArrowheads="1"/>
          </p:cNvSpPr>
          <p:nvPr>
            <p:ph type="sldNum" sz="quarter" idx="5"/>
          </p:nvPr>
        </p:nvSpPr>
        <p:spPr>
          <a:noFill/>
        </p:spPr>
        <p:txBody>
          <a:bodyPr/>
          <a:lstStyle/>
          <a:p>
            <a:fld id="{09C6FCC0-C88B-4377-9403-8951AA287F84}" type="slidenum">
              <a:rPr lang="en-US" smtClean="0"/>
              <a:pPr/>
              <a:t>235</a:t>
            </a:fld>
            <a:endParaRPr lang="en-US"/>
          </a:p>
        </p:txBody>
      </p:sp>
      <p:sp>
        <p:nvSpPr>
          <p:cNvPr id="484355" name="Rectangle 2"/>
          <p:cNvSpPr>
            <a:spLocks noGrp="1" noRot="1" noChangeAspect="1" noChangeArrowheads="1" noTextEdit="1"/>
          </p:cNvSpPr>
          <p:nvPr>
            <p:ph type="sldImg"/>
          </p:nvPr>
        </p:nvSpPr>
        <p:spPr>
          <a:ln/>
        </p:spPr>
      </p:sp>
      <p:sp>
        <p:nvSpPr>
          <p:cNvPr id="4843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7"/>
          <p:cNvSpPr>
            <a:spLocks noGrp="1" noChangeArrowheads="1"/>
          </p:cNvSpPr>
          <p:nvPr>
            <p:ph type="sldNum" sz="quarter" idx="5"/>
          </p:nvPr>
        </p:nvSpPr>
        <p:spPr>
          <a:noFill/>
        </p:spPr>
        <p:txBody>
          <a:bodyPr/>
          <a:lstStyle/>
          <a:p>
            <a:fld id="{7F43ED87-D215-44A9-A515-77BC1BECE402}" type="slidenum">
              <a:rPr lang="en-US" smtClean="0"/>
              <a:pPr/>
              <a:t>236</a:t>
            </a:fld>
            <a:endParaRPr lang="en-US"/>
          </a:p>
        </p:txBody>
      </p:sp>
      <p:sp>
        <p:nvSpPr>
          <p:cNvPr id="485379" name="Rectangle 2"/>
          <p:cNvSpPr>
            <a:spLocks noGrp="1" noRot="1" noChangeAspect="1" noChangeArrowheads="1" noTextEdit="1"/>
          </p:cNvSpPr>
          <p:nvPr>
            <p:ph type="sldImg"/>
          </p:nvPr>
        </p:nvSpPr>
        <p:spPr>
          <a:ln/>
        </p:spPr>
      </p:sp>
      <p:sp>
        <p:nvSpPr>
          <p:cNvPr id="4853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7"/>
          <p:cNvSpPr>
            <a:spLocks noGrp="1" noChangeArrowheads="1"/>
          </p:cNvSpPr>
          <p:nvPr>
            <p:ph type="sldNum" sz="quarter" idx="5"/>
          </p:nvPr>
        </p:nvSpPr>
        <p:spPr>
          <a:noFill/>
        </p:spPr>
        <p:txBody>
          <a:bodyPr/>
          <a:lstStyle/>
          <a:p>
            <a:fld id="{F7AB8413-7968-4008-961E-5837640A830D}" type="slidenum">
              <a:rPr lang="en-US" smtClean="0"/>
              <a:pPr/>
              <a:t>237</a:t>
            </a:fld>
            <a:endParaRPr lang="en-US"/>
          </a:p>
        </p:txBody>
      </p:sp>
      <p:sp>
        <p:nvSpPr>
          <p:cNvPr id="486403" name="Rectangle 2"/>
          <p:cNvSpPr>
            <a:spLocks noGrp="1" noRot="1" noChangeAspect="1" noChangeArrowheads="1" noTextEdit="1"/>
          </p:cNvSpPr>
          <p:nvPr>
            <p:ph type="sldImg"/>
          </p:nvPr>
        </p:nvSpPr>
        <p:spPr>
          <a:ln/>
        </p:spPr>
      </p:sp>
      <p:sp>
        <p:nvSpPr>
          <p:cNvPr id="4864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a:spLocks noGrp="1" noChangeArrowheads="1"/>
          </p:cNvSpPr>
          <p:nvPr>
            <p:ph type="sldNum" sz="quarter" idx="5"/>
          </p:nvPr>
        </p:nvSpPr>
        <p:spPr>
          <a:noFill/>
        </p:spPr>
        <p:txBody>
          <a:bodyPr/>
          <a:lstStyle/>
          <a:p>
            <a:fld id="{BEFC6241-4645-4E3A-9EF3-68FF4EC7C042}" type="slidenum">
              <a:rPr lang="en-US" smtClean="0"/>
              <a:pPr/>
              <a:t>238</a:t>
            </a:fld>
            <a:endParaRPr lang="en-US"/>
          </a:p>
        </p:txBody>
      </p:sp>
      <p:sp>
        <p:nvSpPr>
          <p:cNvPr id="367619" name="Rectangle 2"/>
          <p:cNvSpPr>
            <a:spLocks noGrp="1" noRot="1" noChangeAspect="1" noChangeArrowheads="1" noTextEdit="1"/>
          </p:cNvSpPr>
          <p:nvPr>
            <p:ph type="sldImg"/>
          </p:nvPr>
        </p:nvSpPr>
        <p:spPr>
          <a:xfrm>
            <a:off x="1193800" y="695325"/>
            <a:ext cx="4641850" cy="3481388"/>
          </a:xfrm>
          <a:ln/>
        </p:spPr>
      </p:sp>
      <p:sp>
        <p:nvSpPr>
          <p:cNvPr id="3676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p:spPr>
        <p:txBody>
          <a:bodyPr/>
          <a:lstStyle/>
          <a:p>
            <a:fld id="{F55D4785-E033-4090-B1B1-89B287EEA454}" type="slidenum">
              <a:rPr lang="en-US" smtClean="0"/>
              <a:pPr/>
              <a:t>239</a:t>
            </a:fld>
            <a:endParaRPr lang="en-US"/>
          </a:p>
        </p:txBody>
      </p:sp>
      <p:sp>
        <p:nvSpPr>
          <p:cNvPr id="368643" name="Rectangle 2"/>
          <p:cNvSpPr>
            <a:spLocks noGrp="1" noRot="1" noChangeAspect="1" noChangeArrowheads="1" noTextEdit="1"/>
          </p:cNvSpPr>
          <p:nvPr>
            <p:ph type="sldImg"/>
          </p:nvPr>
        </p:nvSpPr>
        <p:spPr>
          <a:xfrm>
            <a:off x="1193800" y="695325"/>
            <a:ext cx="4641850" cy="3481388"/>
          </a:xfrm>
          <a:ln/>
        </p:spPr>
      </p:sp>
      <p:sp>
        <p:nvSpPr>
          <p:cNvPr id="3686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7"/>
          <p:cNvSpPr>
            <a:spLocks noGrp="1" noChangeArrowheads="1"/>
          </p:cNvSpPr>
          <p:nvPr>
            <p:ph type="sldNum" sz="quarter" idx="5"/>
          </p:nvPr>
        </p:nvSpPr>
        <p:spPr>
          <a:noFill/>
        </p:spPr>
        <p:txBody>
          <a:bodyPr/>
          <a:lstStyle/>
          <a:p>
            <a:fld id="{ADA84101-96EF-4C67-8818-694661F945A7}" type="slidenum">
              <a:rPr lang="en-US" smtClean="0"/>
              <a:pPr/>
              <a:t>240</a:t>
            </a:fld>
            <a:endParaRPr lang="en-US"/>
          </a:p>
        </p:txBody>
      </p:sp>
      <p:sp>
        <p:nvSpPr>
          <p:cNvPr id="369667" name="Rectangle 2"/>
          <p:cNvSpPr>
            <a:spLocks noGrp="1" noRot="1" noChangeAspect="1" noChangeArrowheads="1" noTextEdit="1"/>
          </p:cNvSpPr>
          <p:nvPr>
            <p:ph type="sldImg"/>
          </p:nvPr>
        </p:nvSpPr>
        <p:spPr>
          <a:xfrm>
            <a:off x="1193800" y="695325"/>
            <a:ext cx="4641850" cy="3481388"/>
          </a:xfrm>
          <a:ln/>
        </p:spPr>
      </p:sp>
      <p:sp>
        <p:nvSpPr>
          <p:cNvPr id="3696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p:spPr>
        <p:txBody>
          <a:bodyPr/>
          <a:lstStyle/>
          <a:p>
            <a:fld id="{8049E025-A661-493F-AB12-6AFA19D92111}" type="slidenum">
              <a:rPr lang="en-US" smtClean="0"/>
              <a:pPr/>
              <a:t>241</a:t>
            </a:fld>
            <a:endParaRPr lang="en-US"/>
          </a:p>
        </p:txBody>
      </p:sp>
      <p:sp>
        <p:nvSpPr>
          <p:cNvPr id="370691" name="Rectangle 2"/>
          <p:cNvSpPr>
            <a:spLocks noGrp="1" noRot="1" noChangeAspect="1" noChangeArrowheads="1" noTextEdit="1"/>
          </p:cNvSpPr>
          <p:nvPr>
            <p:ph type="sldImg"/>
          </p:nvPr>
        </p:nvSpPr>
        <p:spPr>
          <a:xfrm>
            <a:off x="1193800" y="695325"/>
            <a:ext cx="4641850" cy="3481388"/>
          </a:xfrm>
          <a:ln/>
        </p:spPr>
      </p:sp>
      <p:sp>
        <p:nvSpPr>
          <p:cNvPr id="3706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7"/>
          <p:cNvSpPr>
            <a:spLocks noGrp="1" noChangeArrowheads="1"/>
          </p:cNvSpPr>
          <p:nvPr>
            <p:ph type="sldNum" sz="quarter" idx="5"/>
          </p:nvPr>
        </p:nvSpPr>
        <p:spPr>
          <a:noFill/>
        </p:spPr>
        <p:txBody>
          <a:bodyPr/>
          <a:lstStyle/>
          <a:p>
            <a:fld id="{29200E16-D455-4E0B-8973-3210580CB9DA}" type="slidenum">
              <a:rPr lang="en-US" smtClean="0"/>
              <a:pPr/>
              <a:t>242</a:t>
            </a:fld>
            <a:endParaRPr lang="en-US"/>
          </a:p>
        </p:txBody>
      </p:sp>
      <p:sp>
        <p:nvSpPr>
          <p:cNvPr id="371715" name="Rectangle 2"/>
          <p:cNvSpPr>
            <a:spLocks noGrp="1" noRot="1" noChangeAspect="1" noChangeArrowheads="1" noTextEdit="1"/>
          </p:cNvSpPr>
          <p:nvPr>
            <p:ph type="sldImg"/>
          </p:nvPr>
        </p:nvSpPr>
        <p:spPr>
          <a:xfrm>
            <a:off x="1193800" y="695325"/>
            <a:ext cx="4641850" cy="3481388"/>
          </a:xfrm>
          <a:ln/>
        </p:spPr>
      </p:sp>
      <p:sp>
        <p:nvSpPr>
          <p:cNvPr id="3717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Slide Image Placeholder 1"/>
          <p:cNvSpPr>
            <a:spLocks noGrp="1" noRot="1" noChangeAspect="1" noTextEdit="1"/>
          </p:cNvSpPr>
          <p:nvPr>
            <p:ph type="sldImg"/>
          </p:nvPr>
        </p:nvSpPr>
        <p:spPr>
          <a:ln/>
        </p:spPr>
      </p:sp>
      <p:sp>
        <p:nvSpPr>
          <p:cNvPr id="488451" name="Notes Placeholder 2"/>
          <p:cNvSpPr>
            <a:spLocks noGrp="1"/>
          </p:cNvSpPr>
          <p:nvPr>
            <p:ph type="body" idx="1"/>
          </p:nvPr>
        </p:nvSpPr>
        <p:spPr>
          <a:noFill/>
          <a:ln/>
        </p:spPr>
        <p:txBody>
          <a:bodyPr/>
          <a:lstStyle/>
          <a:p>
            <a:endParaRPr lang="en-US"/>
          </a:p>
        </p:txBody>
      </p:sp>
      <p:sp>
        <p:nvSpPr>
          <p:cNvPr id="488452" name="Slide Number Placeholder 3"/>
          <p:cNvSpPr>
            <a:spLocks noGrp="1"/>
          </p:cNvSpPr>
          <p:nvPr>
            <p:ph type="sldNum" sz="quarter" idx="5"/>
          </p:nvPr>
        </p:nvSpPr>
        <p:spPr>
          <a:noFill/>
        </p:spPr>
        <p:txBody>
          <a:bodyPr/>
          <a:lstStyle/>
          <a:p>
            <a:fld id="{C15394E9-C4C6-4A2D-9E85-E647C54201CF}" type="slidenum">
              <a:rPr lang="en-US" smtClean="0"/>
              <a:pPr/>
              <a:t>243</a:t>
            </a:fld>
            <a:endParaRPr lang="en-US"/>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body" idx="1"/>
          </p:nvPr>
        </p:nvSpPr>
        <p:spPr>
          <a:noFill/>
          <a:ln/>
        </p:spPr>
        <p:txBody>
          <a:bodyPr/>
          <a:lstStyle/>
          <a:p>
            <a:r>
              <a:rPr lang="en-US"/>
              <a:t>To implement the counting network, we can thus implement the network in shared memory. Each balancer is a toggle bit and two pinters to the next balancers. A process requesting an index shepherds a token through the network. At each balancer, the process just F&amp;Comp </a:t>
            </a:r>
          </a:p>
          <a:p>
            <a:r>
              <a:rPr lang="en-US"/>
              <a:t>the toggle bit, going up if its a 0 and down if its a 1. At the end of each wire we place a </a:t>
            </a:r>
          </a:p>
          <a:p>
            <a:r>
              <a:rPr lang="en-US"/>
              <a:t>local counter that counts modulo 4, for the top wire 1,1+4, 1+8, 1+12, etc. There is low contention because if the network is wide enough not a lot of proicesses jump on the </a:t>
            </a:r>
          </a:p>
          <a:p>
            <a:r>
              <a:rPr lang="en-US"/>
              <a:t>balancers toggle bit. There is high throughput becuse of parallelism and becuse there is </a:t>
            </a:r>
          </a:p>
          <a:p>
            <a:r>
              <a:rPr lang="en-US"/>
              <a:t>limnited dependency among processes. If we have a hardware operation do the f&amp;comp, the </a:t>
            </a:r>
          </a:p>
          <a:p>
            <a:r>
              <a:rPr lang="en-US"/>
              <a:t>implementation is wait-free, within a bounded number of steps a processor is guaranteed to get a number. The message passing implementation which we developed with Beng Lim, </a:t>
            </a:r>
          </a:p>
          <a:p>
            <a:r>
              <a:rPr lang="en-US"/>
              <a:t>has processors as balancers an tokens as messages, passed from the requesting processor </a:t>
            </a:r>
          </a:p>
          <a:p>
            <a:r>
              <a:rPr lang="en-US"/>
              <a:t>through balancer processors and back to the requesting processor with teh assigned number. </a:t>
            </a:r>
          </a:p>
        </p:txBody>
      </p:sp>
      <p:sp>
        <p:nvSpPr>
          <p:cNvPr id="489475" name="Rectangle 3"/>
          <p:cNvSpPr>
            <a:spLocks noGrp="1" noRot="1" noChangeAspect="1" noChangeArrowheads="1" noTextEdit="1"/>
          </p:cNvSpPr>
          <p:nvPr>
            <p:ph type="sldImg"/>
          </p:nvPr>
        </p:nvSpPr>
        <p:spPr>
          <a:xfrm>
            <a:off x="-595313" y="-644525"/>
            <a:ext cx="8216901" cy="6162675"/>
          </a:xfrm>
          <a:ln cap="flat"/>
        </p:spPr>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body" idx="1"/>
          </p:nvPr>
        </p:nvSpPr>
        <p:spPr>
          <a:noFill/>
          <a:ln/>
        </p:spPr>
        <p:txBody>
          <a:bodyPr/>
          <a:lstStyle/>
          <a:p>
            <a:r>
              <a:rPr lang="en-US"/>
              <a:t>To implement the counting network, we can thus implement the network in shared memory. Each balancer is a toggle bit and two pinters to the next balancers. A process requesting an index shepherds a token through the network. At each balancer, the process just F&amp;Comp </a:t>
            </a:r>
          </a:p>
          <a:p>
            <a:r>
              <a:rPr lang="en-US"/>
              <a:t>the toggle bit, going up if its a 0 and down if its a 1. At the end of each wire we place a </a:t>
            </a:r>
          </a:p>
          <a:p>
            <a:r>
              <a:rPr lang="en-US"/>
              <a:t>local counter that counts modulo 4, for the top wire 1,1+4, 1+8, 1+12, etc. There is low contention because if the network is wide enough not a lot of proicesses jump on the </a:t>
            </a:r>
          </a:p>
          <a:p>
            <a:r>
              <a:rPr lang="en-US"/>
              <a:t>balancers toggle bit. There is high throughput becuse of parallelism and becuse there is </a:t>
            </a:r>
          </a:p>
          <a:p>
            <a:r>
              <a:rPr lang="en-US"/>
              <a:t>limnited dependency among processes. If we have a hardware operation do the f&amp;comp, the </a:t>
            </a:r>
          </a:p>
          <a:p>
            <a:r>
              <a:rPr lang="en-US"/>
              <a:t>implementation is wait-free, within a bounded number of steps a processor is guaranteed to get a number. The message passing implementation which we developed with Beng Lim, </a:t>
            </a:r>
          </a:p>
          <a:p>
            <a:r>
              <a:rPr lang="en-US"/>
              <a:t>has processors as balancers an tokens as messages, passed from the requesting processor </a:t>
            </a:r>
          </a:p>
          <a:p>
            <a:r>
              <a:rPr lang="en-US"/>
              <a:t>through balancer processors and back to the requesting processor with teh assigned number. </a:t>
            </a:r>
          </a:p>
        </p:txBody>
      </p:sp>
      <p:sp>
        <p:nvSpPr>
          <p:cNvPr id="489475" name="Rectangle 3"/>
          <p:cNvSpPr>
            <a:spLocks noGrp="1" noRot="1" noChangeAspect="1" noChangeArrowheads="1" noTextEdit="1"/>
          </p:cNvSpPr>
          <p:nvPr>
            <p:ph type="sldImg"/>
          </p:nvPr>
        </p:nvSpPr>
        <p:spPr>
          <a:xfrm>
            <a:off x="-595313" y="-644525"/>
            <a:ext cx="8216901" cy="6162675"/>
          </a:xfrm>
          <a:ln cap="flat"/>
        </p:spPr>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Slide Image Placeholder 1"/>
          <p:cNvSpPr>
            <a:spLocks noGrp="1" noRot="1" noChangeAspect="1" noTextEdit="1"/>
          </p:cNvSpPr>
          <p:nvPr>
            <p:ph type="sldImg"/>
          </p:nvPr>
        </p:nvSpPr>
        <p:spPr>
          <a:ln/>
        </p:spPr>
      </p:sp>
      <p:sp>
        <p:nvSpPr>
          <p:cNvPr id="491523" name="Notes Placeholder 2"/>
          <p:cNvSpPr>
            <a:spLocks noGrp="1"/>
          </p:cNvSpPr>
          <p:nvPr>
            <p:ph type="body" idx="1"/>
          </p:nvPr>
        </p:nvSpPr>
        <p:spPr>
          <a:noFill/>
          <a:ln/>
        </p:spPr>
        <p:txBody>
          <a:bodyPr/>
          <a:lstStyle/>
          <a:p>
            <a:endParaRPr lang="en-US"/>
          </a:p>
        </p:txBody>
      </p:sp>
      <p:sp>
        <p:nvSpPr>
          <p:cNvPr id="491524" name="Slide Number Placeholder 3"/>
          <p:cNvSpPr>
            <a:spLocks noGrp="1"/>
          </p:cNvSpPr>
          <p:nvPr>
            <p:ph type="sldNum" sz="quarter" idx="5"/>
          </p:nvPr>
        </p:nvSpPr>
        <p:spPr>
          <a:noFill/>
        </p:spPr>
        <p:txBody>
          <a:bodyPr/>
          <a:lstStyle/>
          <a:p>
            <a:fld id="{A3C19DC3-0D62-484C-9C17-2854E44C2DE5}" type="slidenum">
              <a:rPr lang="en-US" smtClean="0"/>
              <a:pPr/>
              <a:t>246</a:t>
            </a:fld>
            <a:endParaRPr lang="en-US"/>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body" idx="1"/>
          </p:nvPr>
        </p:nvSpPr>
        <p:spPr>
          <a:noFill/>
          <a:ln/>
        </p:spPr>
        <p:txBody>
          <a:bodyPr/>
          <a:lstStyle/>
          <a:p>
            <a:r>
              <a:rPr lang="en-US"/>
              <a:t>Let us look at an example, a sequential run through a network of width 4. Each pair of dots connected by a line is a balancer, and the other lines are the wires. </a:t>
            </a:r>
          </a:p>
          <a:p>
            <a:r>
              <a:rPr lang="en-US"/>
              <a:t>Let us start running token through one after the other. </a:t>
            </a:r>
          </a:p>
          <a:p>
            <a:endParaRPr lang="en-US"/>
          </a:p>
          <a:p>
            <a:r>
              <a:rPr lang="en-US"/>
              <a:t>Now, the same step property will be true in a concurrent execution (show 1,2,3). So if a token has come out on line 3 but not on two, we still know from the step property that there is some </a:t>
            </a:r>
          </a:p>
          <a:p>
            <a:r>
              <a:rPr lang="en-US"/>
              <a:t>token in the network that will come out on that wire. </a:t>
            </a:r>
          </a:p>
        </p:txBody>
      </p:sp>
      <p:sp>
        <p:nvSpPr>
          <p:cNvPr id="492547" name="Rectangle 3"/>
          <p:cNvSpPr>
            <a:spLocks noGrp="1" noRot="1" noChangeAspect="1" noChangeArrowheads="1" noTextEdit="1"/>
          </p:cNvSpPr>
          <p:nvPr>
            <p:ph type="sldImg"/>
          </p:nvPr>
        </p:nvSpPr>
        <p:spPr>
          <a:xfrm>
            <a:off x="-595313" y="-644525"/>
            <a:ext cx="8216901" cy="6162675"/>
          </a:xfrm>
          <a:ln cap="flat"/>
        </p:spPr>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body" idx="1"/>
          </p:nvPr>
        </p:nvSpPr>
        <p:spPr>
          <a:noFill/>
          <a:ln/>
        </p:spPr>
        <p:txBody>
          <a:bodyPr/>
          <a:lstStyle/>
          <a:p>
            <a:r>
              <a:rPr lang="en-US"/>
              <a:t>Let us look at an example, a sequential run through a network of width 4. Each pair of dots connected by a line is a balancer, and the other lines are the wires. </a:t>
            </a:r>
          </a:p>
          <a:p>
            <a:r>
              <a:rPr lang="en-US"/>
              <a:t>Let us start running token through one after the other. </a:t>
            </a:r>
          </a:p>
          <a:p>
            <a:endParaRPr lang="en-US"/>
          </a:p>
          <a:p>
            <a:r>
              <a:rPr lang="en-US"/>
              <a:t>Now, the same step property will be true in a concurrent execution (show 1,2,3). So if a token has come out on line 3 but not on two, we still know from the step property that there is some </a:t>
            </a:r>
          </a:p>
          <a:p>
            <a:r>
              <a:rPr lang="en-US"/>
              <a:t>token in the network that will come out on that wire. </a:t>
            </a:r>
          </a:p>
        </p:txBody>
      </p:sp>
      <p:sp>
        <p:nvSpPr>
          <p:cNvPr id="492547" name="Rectangle 3"/>
          <p:cNvSpPr>
            <a:spLocks noGrp="1" noRot="1" noChangeAspect="1" noChangeArrowheads="1" noTextEdit="1"/>
          </p:cNvSpPr>
          <p:nvPr>
            <p:ph type="sldImg"/>
          </p:nvPr>
        </p:nvSpPr>
        <p:spPr>
          <a:xfrm>
            <a:off x="-595313" y="-644525"/>
            <a:ext cx="8216901" cy="6162675"/>
          </a:xfrm>
          <a:ln cap="flat"/>
        </p:spPr>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Slide Image Placeholder 1"/>
          <p:cNvSpPr>
            <a:spLocks noGrp="1" noRot="1" noChangeAspect="1" noTextEdit="1"/>
          </p:cNvSpPr>
          <p:nvPr>
            <p:ph type="sldImg"/>
          </p:nvPr>
        </p:nvSpPr>
        <p:spPr>
          <a:ln/>
        </p:spPr>
      </p:sp>
      <p:sp>
        <p:nvSpPr>
          <p:cNvPr id="491523" name="Notes Placeholder 2"/>
          <p:cNvSpPr>
            <a:spLocks noGrp="1"/>
          </p:cNvSpPr>
          <p:nvPr>
            <p:ph type="body" idx="1"/>
          </p:nvPr>
        </p:nvSpPr>
        <p:spPr>
          <a:noFill/>
          <a:ln/>
        </p:spPr>
        <p:txBody>
          <a:bodyPr/>
          <a:lstStyle/>
          <a:p>
            <a:endParaRPr lang="en-US"/>
          </a:p>
        </p:txBody>
      </p:sp>
      <p:sp>
        <p:nvSpPr>
          <p:cNvPr id="491524" name="Slide Number Placeholder 3"/>
          <p:cNvSpPr>
            <a:spLocks noGrp="1"/>
          </p:cNvSpPr>
          <p:nvPr>
            <p:ph type="sldNum" sz="quarter" idx="5"/>
          </p:nvPr>
        </p:nvSpPr>
        <p:spPr>
          <a:noFill/>
        </p:spPr>
        <p:txBody>
          <a:bodyPr/>
          <a:lstStyle/>
          <a:p>
            <a:fld id="{A3C19DC3-0D62-484C-9C17-2854E44C2DE5}" type="slidenum">
              <a:rPr lang="en-US" smtClean="0"/>
              <a:pPr/>
              <a:t>249</a:t>
            </a:fld>
            <a:endParaRPr lang="en-US"/>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body" idx="1"/>
          </p:nvPr>
        </p:nvSpPr>
        <p:spPr>
          <a:noFill/>
          <a:ln/>
        </p:spPr>
        <p:txBody>
          <a:bodyPr/>
          <a:lstStyle/>
          <a:p>
            <a:r>
              <a:rPr lang="en-US"/>
              <a:t>So now we have this incredible amount of contention and a sequential </a:t>
            </a:r>
          </a:p>
          <a:p>
            <a:r>
              <a:rPr lang="en-US"/>
              <a:t>bottleneck caused by the toggle bit at the root balancer, and we are back to square 1. </a:t>
            </a:r>
          </a:p>
          <a:p>
            <a:r>
              <a:rPr lang="en-US"/>
              <a:t>But  the answer is no, we can overcome this difficulty by using diffraction balancing. </a:t>
            </a:r>
          </a:p>
          <a:p>
            <a:endParaRPr lang="en-US"/>
          </a:p>
          <a:p>
            <a:r>
              <a:rPr lang="en-US"/>
              <a:t>Lets look at that top balancer. If an even number of tokens passes through, then once they </a:t>
            </a:r>
          </a:p>
          <a:p>
            <a:r>
              <a:rPr lang="en-US"/>
              <a:t>have left, the toggle bit remains as it was before they arrived. The next token passing will not know from the state of the bit that they had ever passed through. How can we use this fact. </a:t>
            </a:r>
          </a:p>
          <a:p>
            <a:r>
              <a:rPr lang="en-US"/>
              <a:t>Suppose we could add a kind of prism array before the togle bit of every balancer, and have </a:t>
            </a:r>
          </a:p>
          <a:p>
            <a:r>
              <a:rPr lang="en-US"/>
              <a:t> pairs of tokens collide in separate locations and go one to the left and one to the right</a:t>
            </a:r>
          </a:p>
          <a:p>
            <a:r>
              <a:rPr lang="en-US"/>
              <a:t>and they would not  have to touch the toggle bit , and if a token did not collide with another, </a:t>
            </a:r>
          </a:p>
          <a:p>
            <a:r>
              <a:rPr lang="en-US"/>
              <a:t>then it would go on and toggl e the bit. </a:t>
            </a:r>
          </a:p>
          <a:p>
            <a:r>
              <a:rPr lang="en-US"/>
              <a:t>tand we might get veru low contention and high parallelism. The question is how to do this kind of coordination effectively. </a:t>
            </a:r>
          </a:p>
        </p:txBody>
      </p:sp>
      <p:sp>
        <p:nvSpPr>
          <p:cNvPr id="494595" name="Rectangle 3"/>
          <p:cNvSpPr>
            <a:spLocks noGrp="1" noRot="1" noChangeAspect="1" noChangeArrowheads="1" noTextEdit="1"/>
          </p:cNvSpPr>
          <p:nvPr>
            <p:ph type="sldImg"/>
          </p:nvPr>
        </p:nvSpPr>
        <p:spPr>
          <a:xfrm>
            <a:off x="-595313" y="-644525"/>
            <a:ext cx="8216901" cy="6162675"/>
          </a:xfrm>
          <a:ln cap="flat"/>
        </p:spPr>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Slide Image Placeholder 1"/>
          <p:cNvSpPr>
            <a:spLocks noGrp="1" noRot="1" noChangeAspect="1" noTextEdit="1"/>
          </p:cNvSpPr>
          <p:nvPr>
            <p:ph type="sldImg"/>
          </p:nvPr>
        </p:nvSpPr>
        <p:spPr>
          <a:ln/>
        </p:spPr>
      </p:sp>
      <p:sp>
        <p:nvSpPr>
          <p:cNvPr id="495619" name="Notes Placeholder 2"/>
          <p:cNvSpPr>
            <a:spLocks noGrp="1"/>
          </p:cNvSpPr>
          <p:nvPr>
            <p:ph type="body" idx="1"/>
          </p:nvPr>
        </p:nvSpPr>
        <p:spPr>
          <a:noFill/>
          <a:ln/>
        </p:spPr>
        <p:txBody>
          <a:bodyPr/>
          <a:lstStyle/>
          <a:p>
            <a:endParaRPr lang="en-US"/>
          </a:p>
        </p:txBody>
      </p:sp>
      <p:sp>
        <p:nvSpPr>
          <p:cNvPr id="495620" name="Slide Number Placeholder 3"/>
          <p:cNvSpPr>
            <a:spLocks noGrp="1"/>
          </p:cNvSpPr>
          <p:nvPr>
            <p:ph type="sldNum" sz="quarter" idx="5"/>
          </p:nvPr>
        </p:nvSpPr>
        <p:spPr>
          <a:noFill/>
        </p:spPr>
        <p:txBody>
          <a:bodyPr/>
          <a:lstStyle/>
          <a:p>
            <a:fld id="{414083FF-AF8B-44CE-A503-1456125D3374}" type="slidenum">
              <a:rPr lang="en-US" smtClean="0"/>
              <a:pPr/>
              <a:t>251</a:t>
            </a:fld>
            <a:endParaRPr lang="en-US"/>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Slide Image Placeholder 1"/>
          <p:cNvSpPr>
            <a:spLocks noGrp="1" noRot="1" noChangeAspect="1" noTextEdit="1"/>
          </p:cNvSpPr>
          <p:nvPr>
            <p:ph type="sldImg"/>
          </p:nvPr>
        </p:nvSpPr>
        <p:spPr>
          <a:ln/>
        </p:spPr>
      </p:sp>
      <p:sp>
        <p:nvSpPr>
          <p:cNvPr id="495619" name="Notes Placeholder 2"/>
          <p:cNvSpPr>
            <a:spLocks noGrp="1"/>
          </p:cNvSpPr>
          <p:nvPr>
            <p:ph type="body" idx="1"/>
          </p:nvPr>
        </p:nvSpPr>
        <p:spPr>
          <a:noFill/>
          <a:ln/>
        </p:spPr>
        <p:txBody>
          <a:bodyPr/>
          <a:lstStyle/>
          <a:p>
            <a:endParaRPr lang="en-US"/>
          </a:p>
        </p:txBody>
      </p:sp>
      <p:sp>
        <p:nvSpPr>
          <p:cNvPr id="495620" name="Slide Number Placeholder 3"/>
          <p:cNvSpPr>
            <a:spLocks noGrp="1"/>
          </p:cNvSpPr>
          <p:nvPr>
            <p:ph type="sldNum" sz="quarter" idx="5"/>
          </p:nvPr>
        </p:nvSpPr>
        <p:spPr>
          <a:noFill/>
        </p:spPr>
        <p:txBody>
          <a:bodyPr/>
          <a:lstStyle/>
          <a:p>
            <a:fld id="{414083FF-AF8B-44CE-A503-1456125D3374}" type="slidenum">
              <a:rPr lang="en-US" smtClean="0"/>
              <a:pPr/>
              <a:t>252</a:t>
            </a:fld>
            <a:endParaRPr lang="en-US"/>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Slide Image Placeholder 1"/>
          <p:cNvSpPr>
            <a:spLocks noGrp="1" noRot="1" noChangeAspect="1" noTextEdit="1"/>
          </p:cNvSpPr>
          <p:nvPr>
            <p:ph type="sldImg"/>
          </p:nvPr>
        </p:nvSpPr>
        <p:spPr>
          <a:ln/>
        </p:spPr>
      </p:sp>
      <p:sp>
        <p:nvSpPr>
          <p:cNvPr id="497667" name="Notes Placeholder 2"/>
          <p:cNvSpPr>
            <a:spLocks noGrp="1"/>
          </p:cNvSpPr>
          <p:nvPr>
            <p:ph type="body" idx="1"/>
          </p:nvPr>
        </p:nvSpPr>
        <p:spPr>
          <a:noFill/>
          <a:ln/>
        </p:spPr>
        <p:txBody>
          <a:bodyPr/>
          <a:lstStyle/>
          <a:p>
            <a:endParaRPr lang="en-US"/>
          </a:p>
        </p:txBody>
      </p:sp>
      <p:sp>
        <p:nvSpPr>
          <p:cNvPr id="497668" name="Slide Number Placeholder 3"/>
          <p:cNvSpPr>
            <a:spLocks noGrp="1"/>
          </p:cNvSpPr>
          <p:nvPr>
            <p:ph type="sldNum" sz="quarter" idx="5"/>
          </p:nvPr>
        </p:nvSpPr>
        <p:spPr>
          <a:noFill/>
        </p:spPr>
        <p:txBody>
          <a:bodyPr/>
          <a:lstStyle/>
          <a:p>
            <a:fld id="{06C6C88D-87C0-4BC7-8CB5-18CF620A155E}" type="slidenum">
              <a:rPr lang="en-US" smtClean="0"/>
              <a:pPr/>
              <a:t>253</a:t>
            </a:fld>
            <a:endParaRPr lang="en-US"/>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txBox="1">
            <a:spLocks noGrp="1"/>
          </p:cNvSpPr>
          <p:nvPr>
            <p:ph type="body" idx="1"/>
          </p:nvPr>
        </p:nvSpPr>
        <p:spPr>
          <a:noFill/>
          <a:ln/>
        </p:spPr>
        <p:txBody>
          <a:bodyPr/>
          <a:lstStyle/>
          <a:p>
            <a:endParaRPr lang="en-US"/>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247775" y="727075"/>
            <a:ext cx="4587875" cy="3440113"/>
          </a:xfrm>
          <a:noFill/>
          <a:ln/>
        </p:spPr>
      </p:sp>
      <p:sp>
        <p:nvSpPr>
          <p:cNvPr id="78851" name="Text Box 3"/>
          <p:cNvSpPr txBox="1">
            <a:spLocks noGrp="1" noChangeArrowheads="1"/>
          </p:cNvSpPr>
          <p:nvPr>
            <p:ph type="body" idx="1"/>
          </p:nvPr>
        </p:nvSpPr>
        <p:spPr>
          <a:noFill/>
          <a:ln/>
        </p:spPr>
        <p:txBody>
          <a:bodyPr/>
          <a:lstStyle/>
          <a:p>
            <a:r>
              <a:rPr lang="en-US" dirty="0"/>
              <a:t>The suspect does have another ear and another</a:t>
            </a:r>
            <a:r>
              <a:rPr lang="en-US" baseline="0" dirty="0"/>
              <a:t> eye…and they are in our case the overhead of fine grained synchronization…our conclusions based on </a:t>
            </a:r>
            <a:r>
              <a:rPr lang="en-US" dirty="0"/>
              <a:t>Amdahl’s law ignore </a:t>
            </a:r>
            <a:r>
              <a:rPr lang="en-US" baseline="0" dirty="0"/>
              <a:t>the fact that we have these synchronization overheads! </a:t>
            </a:r>
          </a:p>
          <a:p>
            <a:endParaRPr lang="en-US" dirty="0"/>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xfrm>
            <a:off x="3979864" y="8815389"/>
            <a:ext cx="3044825" cy="463550"/>
          </a:xfrm>
          <a:prstGeom prst="rect">
            <a:avLst/>
          </a:prstGeom>
          <a:noFill/>
        </p:spPr>
        <p:txBody>
          <a:bodyPr lIns="91429" tIns="45714" rIns="91429" bIns="45714"/>
          <a:lstStyle/>
          <a:p>
            <a:fld id="{6C7CE0C0-465F-44F9-9644-A1F523B6F575}" type="slidenum">
              <a:rPr lang="en-US" smtClean="0"/>
              <a:pPr/>
              <a:t>256</a:t>
            </a:fld>
            <a:endParaRPr lang="en-US"/>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a:ln/>
        </p:spPr>
        <p:txBody>
          <a:bodyPr/>
          <a:lstStyle/>
          <a:p>
            <a:r>
              <a:rPr lang="en-US" dirty="0"/>
              <a:t>The</a:t>
            </a:r>
            <a:r>
              <a:rPr lang="en-US" baseline="0" dirty="0"/>
              <a:t> notion of combining may not be foreign to you. In a combining tree one thread does the combined work of all others on the data structure..</a:t>
            </a:r>
            <a:endParaRPr lang="en-US" dirty="0"/>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r>
              <a:rPr lang="en-US" dirty="0"/>
              <a:t>Don’t undersell simplicity…</a:t>
            </a:r>
          </a:p>
        </p:txBody>
      </p:sp>
      <p:sp>
        <p:nvSpPr>
          <p:cNvPr id="64516" name="Slide Number Placeholder 3"/>
          <p:cNvSpPr>
            <a:spLocks noGrp="1"/>
          </p:cNvSpPr>
          <p:nvPr>
            <p:ph type="sldNum" sz="quarter" idx="5"/>
          </p:nvPr>
        </p:nvSpPr>
        <p:spPr>
          <a:xfrm>
            <a:off x="3979930" y="8814888"/>
            <a:ext cx="3044719" cy="464027"/>
          </a:xfrm>
          <a:prstGeom prst="rect">
            <a:avLst/>
          </a:prstGeom>
          <a:noFill/>
        </p:spPr>
        <p:txBody>
          <a:bodyPr lIns="93174" tIns="46587" rIns="93174" bIns="46587"/>
          <a:lstStyle/>
          <a:p>
            <a:fld id="{449E391E-152A-4B06-87B1-7266DCF40251}" type="slidenum">
              <a:rPr lang="he-IL" smtClean="0"/>
              <a:pPr/>
              <a:t>257</a:t>
            </a:fld>
            <a:endParaRPr lang="en-US"/>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247775" y="727075"/>
            <a:ext cx="4587875" cy="3440113"/>
          </a:xfrm>
          <a:noFill/>
          <a:ln/>
        </p:spPr>
      </p:sp>
      <p:sp>
        <p:nvSpPr>
          <p:cNvPr id="78851" name="Text Box 3"/>
          <p:cNvSpPr txBox="1">
            <a:spLocks noGrp="1" noChangeArrowheads="1"/>
          </p:cNvSpPr>
          <p:nvPr>
            <p:ph type="body" idx="1"/>
          </p:nvPr>
        </p:nvSpPr>
        <p:spPr>
          <a:noFill/>
          <a:ln/>
        </p:spPr>
        <p:txBody>
          <a:bodyPr/>
          <a:lstStyle/>
          <a:p>
            <a:endParaRPr lang="en-US" dirty="0"/>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a:p>
        </p:txBody>
      </p:sp>
      <p:sp>
        <p:nvSpPr>
          <p:cNvPr id="64516" name="Slide Number Placeholder 3"/>
          <p:cNvSpPr>
            <a:spLocks noGrp="1"/>
          </p:cNvSpPr>
          <p:nvPr>
            <p:ph type="sldNum" sz="quarter" idx="5"/>
          </p:nvPr>
        </p:nvSpPr>
        <p:spPr>
          <a:xfrm>
            <a:off x="3979930" y="8814888"/>
            <a:ext cx="3044719" cy="464027"/>
          </a:xfrm>
          <a:prstGeom prst="rect">
            <a:avLst/>
          </a:prstGeom>
          <a:noFill/>
        </p:spPr>
        <p:txBody>
          <a:bodyPr lIns="93174" tIns="46587" rIns="93174" bIns="46587"/>
          <a:lstStyle/>
          <a:p>
            <a:fld id="{449E391E-152A-4B06-87B1-7266DCF40251}" type="slidenum">
              <a:rPr lang="he-IL" smtClean="0"/>
              <a:pPr/>
              <a:t>259</a:t>
            </a:fld>
            <a:endParaRPr lang="en-US"/>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a:p>
        </p:txBody>
      </p:sp>
      <p:sp>
        <p:nvSpPr>
          <p:cNvPr id="64516" name="Slide Number Placeholder 3"/>
          <p:cNvSpPr>
            <a:spLocks noGrp="1"/>
          </p:cNvSpPr>
          <p:nvPr>
            <p:ph type="sldNum" sz="quarter" idx="5"/>
          </p:nvPr>
        </p:nvSpPr>
        <p:spPr>
          <a:xfrm>
            <a:off x="3979930" y="8814888"/>
            <a:ext cx="3044719" cy="464027"/>
          </a:xfrm>
          <a:prstGeom prst="rect">
            <a:avLst/>
          </a:prstGeom>
          <a:noFill/>
        </p:spPr>
        <p:txBody>
          <a:bodyPr lIns="93174" tIns="46587" rIns="93174" bIns="46587"/>
          <a:lstStyle/>
          <a:p>
            <a:fld id="{449E391E-152A-4B06-87B1-7266DCF40251}" type="slidenum">
              <a:rPr lang="he-IL" smtClean="0"/>
              <a:pPr/>
              <a:t>260</a:t>
            </a:fld>
            <a:endParaRPr lang="en-US"/>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247775" y="727075"/>
            <a:ext cx="4587875" cy="3440113"/>
          </a:xfrm>
          <a:noFill/>
          <a:ln/>
        </p:spPr>
      </p:sp>
      <p:sp>
        <p:nvSpPr>
          <p:cNvPr id="78851" name="Text Box 3"/>
          <p:cNvSpPr txBox="1">
            <a:spLocks noGrp="1" noChangeArrowheads="1"/>
          </p:cNvSpPr>
          <p:nvPr>
            <p:ph type="body" idx="1"/>
          </p:nvPr>
        </p:nvSpPr>
        <p:spPr>
          <a:noFill/>
          <a:ln/>
        </p:spPr>
        <p:txBody>
          <a:bodyPr/>
          <a:lstStyle/>
          <a:p>
            <a:endParaRPr lang="en-US" dirty="0"/>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a:p>
        </p:txBody>
      </p:sp>
      <p:sp>
        <p:nvSpPr>
          <p:cNvPr id="64516" name="Slide Number Placeholder 3"/>
          <p:cNvSpPr>
            <a:spLocks noGrp="1"/>
          </p:cNvSpPr>
          <p:nvPr>
            <p:ph type="sldNum" sz="quarter" idx="5"/>
          </p:nvPr>
        </p:nvSpPr>
        <p:spPr>
          <a:xfrm>
            <a:off x="3979930" y="8814888"/>
            <a:ext cx="3044719" cy="464027"/>
          </a:xfrm>
          <a:prstGeom prst="rect">
            <a:avLst/>
          </a:prstGeom>
          <a:noFill/>
        </p:spPr>
        <p:txBody>
          <a:bodyPr lIns="93174" tIns="46587" rIns="93174" bIns="46587"/>
          <a:lstStyle/>
          <a:p>
            <a:fld id="{449E391E-152A-4B06-87B1-7266DCF40251}" type="slidenum">
              <a:rPr lang="he-IL" smtClean="0"/>
              <a:pPr/>
              <a:t>262</a:t>
            </a:fld>
            <a:endParaRPr lang="en-US"/>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a:p>
        </p:txBody>
      </p:sp>
      <p:sp>
        <p:nvSpPr>
          <p:cNvPr id="64516" name="Slide Number Placeholder 3"/>
          <p:cNvSpPr>
            <a:spLocks noGrp="1"/>
          </p:cNvSpPr>
          <p:nvPr>
            <p:ph type="sldNum" sz="quarter" idx="5"/>
          </p:nvPr>
        </p:nvSpPr>
        <p:spPr>
          <a:xfrm>
            <a:off x="3979930" y="8814888"/>
            <a:ext cx="3044719" cy="464027"/>
          </a:xfrm>
          <a:prstGeom prst="rect">
            <a:avLst/>
          </a:prstGeom>
          <a:noFill/>
        </p:spPr>
        <p:txBody>
          <a:bodyPr lIns="93174" tIns="46587" rIns="93174" bIns="46587"/>
          <a:lstStyle/>
          <a:p>
            <a:fld id="{449E391E-152A-4B06-87B1-7266DCF40251}" type="slidenum">
              <a:rPr lang="he-IL" smtClean="0"/>
              <a:pPr/>
              <a:t>263</a:t>
            </a:fld>
            <a:endParaRPr lang="en-US"/>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a:p>
        </p:txBody>
      </p:sp>
      <p:sp>
        <p:nvSpPr>
          <p:cNvPr id="64516" name="Slide Number Placeholder 3"/>
          <p:cNvSpPr>
            <a:spLocks noGrp="1"/>
          </p:cNvSpPr>
          <p:nvPr>
            <p:ph type="sldNum" sz="quarter" idx="5"/>
          </p:nvPr>
        </p:nvSpPr>
        <p:spPr>
          <a:xfrm>
            <a:off x="3979930" y="8814889"/>
            <a:ext cx="3044719" cy="464027"/>
          </a:xfrm>
          <a:prstGeom prst="rect">
            <a:avLst/>
          </a:prstGeom>
          <a:noFill/>
        </p:spPr>
        <p:txBody>
          <a:bodyPr lIns="93165" tIns="46583" rIns="93165" bIns="46583"/>
          <a:lstStyle/>
          <a:p>
            <a:fld id="{449E391E-152A-4B06-87B1-7266DCF40251}" type="slidenum">
              <a:rPr lang="he-IL" smtClean="0">
                <a:solidFill>
                  <a:prstClr val="black"/>
                </a:solidFill>
                <a:latin typeface="Arial"/>
              </a:rPr>
              <a:pPr/>
              <a:t>267</a:t>
            </a:fld>
            <a:endParaRPr lang="en-US">
              <a:solidFill>
                <a:prstClr val="black"/>
              </a:solidFill>
              <a:latin typeface="Calibri"/>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a:p>
        </p:txBody>
      </p:sp>
      <p:sp>
        <p:nvSpPr>
          <p:cNvPr id="64516" name="Slide Number Placeholder 3"/>
          <p:cNvSpPr>
            <a:spLocks noGrp="1"/>
          </p:cNvSpPr>
          <p:nvPr>
            <p:ph type="sldNum" sz="quarter" idx="5"/>
          </p:nvPr>
        </p:nvSpPr>
        <p:spPr>
          <a:xfrm>
            <a:off x="3979930" y="8814889"/>
            <a:ext cx="3044719" cy="464027"/>
          </a:xfrm>
          <a:prstGeom prst="rect">
            <a:avLst/>
          </a:prstGeom>
          <a:noFill/>
        </p:spPr>
        <p:txBody>
          <a:bodyPr lIns="93165" tIns="46583" rIns="93165" bIns="46583"/>
          <a:lstStyle/>
          <a:p>
            <a:fld id="{449E391E-152A-4B06-87B1-7266DCF40251}" type="slidenum">
              <a:rPr lang="he-IL" smtClean="0">
                <a:solidFill>
                  <a:prstClr val="black"/>
                </a:solidFill>
                <a:latin typeface="Arial"/>
              </a:rPr>
              <a:pPr/>
              <a:t>268</a:t>
            </a:fld>
            <a:endParaRPr lang="en-US">
              <a:solidFill>
                <a:prstClr val="black"/>
              </a:solidFill>
              <a:latin typeface="Calibri"/>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a:p>
        </p:txBody>
      </p:sp>
      <p:sp>
        <p:nvSpPr>
          <p:cNvPr id="64516" name="Slide Number Placeholder 3"/>
          <p:cNvSpPr>
            <a:spLocks noGrp="1"/>
          </p:cNvSpPr>
          <p:nvPr>
            <p:ph type="sldNum" sz="quarter" idx="5"/>
          </p:nvPr>
        </p:nvSpPr>
        <p:spPr>
          <a:xfrm>
            <a:off x="3979930" y="8814889"/>
            <a:ext cx="3044719" cy="464027"/>
          </a:xfrm>
          <a:prstGeom prst="rect">
            <a:avLst/>
          </a:prstGeom>
          <a:noFill/>
        </p:spPr>
        <p:txBody>
          <a:bodyPr lIns="93165" tIns="46583" rIns="93165" bIns="46583"/>
          <a:lstStyle/>
          <a:p>
            <a:fld id="{449E391E-152A-4B06-87B1-7266DCF40251}" type="slidenum">
              <a:rPr lang="he-IL" smtClean="0">
                <a:solidFill>
                  <a:prstClr val="black"/>
                </a:solidFill>
                <a:latin typeface="Arial"/>
              </a:rPr>
              <a:pPr/>
              <a:t>269</a:t>
            </a:fld>
            <a:endParaRPr lang="en-US">
              <a:solidFill>
                <a:prstClr val="black"/>
              </a:solidFill>
              <a:latin typeface="Calibri"/>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7"/>
          <p:cNvSpPr>
            <a:spLocks noGrp="1" noChangeArrowheads="1"/>
          </p:cNvSpPr>
          <p:nvPr>
            <p:ph type="sldNum" sz="quarter" idx="5"/>
          </p:nvPr>
        </p:nvSpPr>
        <p:spPr>
          <a:noFill/>
        </p:spPr>
        <p:txBody>
          <a:bodyPr/>
          <a:lstStyle/>
          <a:p>
            <a:fld id="{C4CFE56D-A27E-452F-9B53-F82EBA4AA184}" type="slidenum">
              <a:rPr lang="en-US" smtClean="0"/>
              <a:pPr/>
              <a:t>274</a:t>
            </a:fld>
            <a:endParaRPr lang="en-US"/>
          </a:p>
        </p:txBody>
      </p:sp>
      <p:sp>
        <p:nvSpPr>
          <p:cNvPr id="499715" name="Rectangle 2"/>
          <p:cNvSpPr>
            <a:spLocks noGrp="1" noRot="1" noChangeAspect="1" noChangeArrowheads="1" noTextEdit="1"/>
          </p:cNvSpPr>
          <p:nvPr>
            <p:ph type="sldImg"/>
          </p:nvPr>
        </p:nvSpPr>
        <p:spPr>
          <a:ln/>
        </p:spPr>
      </p:sp>
      <p:sp>
        <p:nvSpPr>
          <p:cNvPr id="499716"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14670CE7-CCF2-4E28-8C5E-E43BD7248668}"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EBA8B6F6-0B6C-4BC1-AF6B-A7DC8CBBCB3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B447060E-9E5B-4567-965B-E490B644F49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8D9D42FA-079B-4AC3-8D13-2A2BBFE45A5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FE8A98ED-8EB5-40B9-8683-74AED0E6342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1A4344CD-2256-4795-A6C9-E7134B415FF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79FD3C83-7F95-4FB1-A5BF-0ACBD9C720A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59D72042-24D3-4B49-A41C-90A032DA14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AC19D938-508C-4BF0-B364-E3DC24DCCE01}"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4749AC0B-8D49-4FCA-89F8-ABA6E70175D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6FDAE262-6FB1-4492-AD53-D780DA1E0173}"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hart Placeholder 2"/>
          <p:cNvSpPr>
            <a:spLocks noGrp="1"/>
          </p:cNvSpPr>
          <p:nvPr>
            <p:ph type="chart" idx="1"/>
          </p:nvPr>
        </p:nvSpPr>
        <p:spPr>
          <a:xfrm>
            <a:off x="685800" y="1981200"/>
            <a:ext cx="7772400" cy="4114800"/>
          </a:xfr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3A516D9A-65E4-4319-BECE-B89085D95803}"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lipArt Placeholder 2"/>
          <p:cNvSpPr>
            <a:spLocks noGrp="1"/>
          </p:cNvSpPr>
          <p:nvPr>
            <p:ph type="clipArt" sz="half" idx="1"/>
          </p:nvPr>
        </p:nvSpPr>
        <p:spPr>
          <a:xfrm>
            <a:off x="685800" y="1981200"/>
            <a:ext cx="3810000" cy="4114800"/>
          </a:xfrm>
        </p:spPr>
        <p:txBody>
          <a:bodyPr/>
          <a:lstStyle/>
          <a:p>
            <a:pPr lvl="0"/>
            <a:endParaRPr lang="en-US" noProof="0"/>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5B2894EE-0D12-4895-8F2D-3B4508CBB7DC}"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C8247CED-6083-4830-88D3-7E96E28E6AB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3075"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b="0">
                <a:solidFill>
                  <a:schemeClr val="tx1"/>
                </a:solidFill>
                <a:latin typeface="Arial" pitchFamily="34" charset="0"/>
                <a:cs typeface="Arial" pitchFamily="34" charset="0"/>
              </a:defRPr>
            </a:lvl1pPr>
          </a:lstStyle>
          <a:p>
            <a:pPr>
              <a:defRPr/>
            </a:pPr>
            <a:r>
              <a:rPr lang="en-US" dirty="0"/>
              <a:t>Art of Multiprocessor Programming, 2</a:t>
            </a:r>
            <a:r>
              <a:rPr lang="en-US" baseline="30000" dirty="0"/>
              <a:t>nd</a:t>
            </a:r>
            <a:r>
              <a:rPr lang="en-US" dirty="0"/>
              <a:t> edition</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b="0">
                <a:solidFill>
                  <a:schemeClr val="tx1"/>
                </a:solidFill>
                <a:latin typeface="Arial" pitchFamily="34" charset="0"/>
                <a:cs typeface="Arial" pitchFamily="34" charset="0"/>
              </a:defRPr>
            </a:lvl1pPr>
          </a:lstStyle>
          <a:p>
            <a:pPr>
              <a:defRPr/>
            </a:pPr>
            <a:fld id="{A42BBF21-131C-42CB-8594-7EAED4CAEFC8}"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Arial" pitchFamily="34" charset="0"/>
        </a:defRPr>
      </a:lvl1pPr>
      <a:lvl2pPr marL="742950" indent="-285750" algn="l" rtl="0" eaLnBrk="0" fontAlgn="base" hangingPunct="0">
        <a:spcBef>
          <a:spcPct val="20000"/>
        </a:spcBef>
        <a:spcAft>
          <a:spcPct val="0"/>
        </a:spcAft>
        <a:buChar char="–"/>
        <a:defRPr sz="2800">
          <a:solidFill>
            <a:srgbClr val="0000FF"/>
          </a:solidFill>
          <a:latin typeface="Arial" pitchFamily="34" charset="0"/>
          <a:cs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cs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4.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4.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4.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4.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4.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4.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3.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13.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3.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3.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13.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4.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13.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13.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13.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13.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13.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6.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6.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6.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6.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6.xml"/></Relationships>
</file>

<file path=ppt/slides/_rels/slide2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2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6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63.xml"/><Relationship Id="rId1" Type="http://schemas.openxmlformats.org/officeDocument/2006/relationships/slideLayout" Target="../slideLayouts/slideLayout6.xml"/></Relationships>
</file>

<file path=ppt/slides/_rels/slide26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64.xml"/><Relationship Id="rId1" Type="http://schemas.openxmlformats.org/officeDocument/2006/relationships/slideLayout" Target="../slideLayouts/slideLayout6.xml"/></Relationships>
</file>

<file path=ppt/slides/_rels/slide26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65.xml"/><Relationship Id="rId1" Type="http://schemas.openxmlformats.org/officeDocument/2006/relationships/slideLayout" Target="../slideLayouts/slideLayout6.xml"/></Relationships>
</file>

<file path=ppt/slides/_rels/slide27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27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27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4.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266.xml"/><Relationship Id="rId1" Type="http://schemas.openxmlformats.org/officeDocument/2006/relationships/slideLayout" Target="../slideLayouts/slideLayout7.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sz="4400" dirty="0"/>
              <a:t>Shared Counters and Parallelism</a:t>
            </a:r>
            <a:endParaRPr lang="en-US" dirty="0"/>
          </a:p>
        </p:txBody>
      </p:sp>
      <p:sp>
        <p:nvSpPr>
          <p:cNvPr id="5125" name="Rectangle 5"/>
          <p:cNvSpPr>
            <a:spLocks noGrp="1" noChangeArrowheads="1"/>
          </p:cNvSpPr>
          <p:nvPr>
            <p:ph type="subTitle" idx="4294967295"/>
          </p:nvPr>
        </p:nvSpPr>
        <p:spPr>
          <a:xfrm>
            <a:off x="1103313" y="4198938"/>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5" name="Picture 4">
            <a:extLst>
              <a:ext uri="{FF2B5EF4-FFF2-40B4-BE49-F238E27FC236}">
                <a16:creationId xmlns:a16="http://schemas.microsoft.com/office/drawing/2014/main" id="{C1CBA998-1508-4E95-8E90-ABB590A60DFE}"/>
              </a:ext>
            </a:extLst>
          </p:cNvPr>
          <p:cNvPicPr>
            <a:picLocks noChangeAspect="1"/>
          </p:cNvPicPr>
          <p:nvPr/>
        </p:nvPicPr>
        <p:blipFill>
          <a:blip r:embed="rId5"/>
          <a:stretch>
            <a:fillRect/>
          </a:stretch>
        </p:blipFill>
        <p:spPr>
          <a:xfrm>
            <a:off x="3509339" y="1534496"/>
            <a:ext cx="2125323" cy="25650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txBox="1">
            <a:spLocks noGrp="1"/>
          </p:cNvSpPr>
          <p:nvPr/>
        </p:nvSpPr>
        <p:spPr bwMode="auto">
          <a:xfrm>
            <a:off x="3124200" y="6248400"/>
            <a:ext cx="2895600" cy="457200"/>
          </a:xfrm>
          <a:prstGeom prst="rect">
            <a:avLst/>
          </a:prstGeom>
          <a:noFill/>
          <a:ln>
            <a:miter lim="800000"/>
            <a:headEnd/>
            <a:tailEnd/>
          </a:ln>
        </p:spPr>
        <p:txBody>
          <a:bodyPr/>
          <a:lstStyle/>
          <a:p>
            <a:pPr algn="ctr">
              <a:spcBef>
                <a:spcPct val="0"/>
              </a:spcBef>
              <a:defRPr/>
            </a:pPr>
            <a:r>
              <a:rPr lang="en-US" sz="1400" b="0" dirty="0">
                <a:solidFill>
                  <a:schemeClr val="tx1"/>
                </a:solidFill>
                <a:latin typeface="Arial" pitchFamily="34" charset="0"/>
              </a:rPr>
              <a:t>Art of Multiprocessor Programming</a:t>
            </a:r>
          </a:p>
        </p:txBody>
      </p:sp>
      <p:sp>
        <p:nvSpPr>
          <p:cNvPr id="8" name="Slide Number Placeholder 5"/>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4ADF829D-015B-414B-B2A8-A9493A1F97A2}" type="slidenum">
              <a:rPr lang="en-US" sz="1400" b="0">
                <a:solidFill>
                  <a:schemeClr val="tx1"/>
                </a:solidFill>
                <a:latin typeface="Arial" pitchFamily="34" charset="0"/>
              </a:rPr>
              <a:pPr algn="r">
                <a:spcBef>
                  <a:spcPct val="0"/>
                </a:spcBef>
                <a:defRPr/>
              </a:pPr>
              <a:t>2</a:t>
            </a:fld>
            <a:endParaRPr lang="en-US" sz="1400" b="0" dirty="0">
              <a:solidFill>
                <a:schemeClr val="tx1"/>
              </a:solidFill>
              <a:latin typeface="Arial" pitchFamily="34" charset="0"/>
            </a:endParaRPr>
          </a:p>
        </p:txBody>
      </p:sp>
      <p:sp>
        <p:nvSpPr>
          <p:cNvPr id="516100" name="Rectangle 2"/>
          <p:cNvSpPr>
            <a:spLocks noGrp="1" noChangeArrowheads="1"/>
          </p:cNvSpPr>
          <p:nvPr>
            <p:ph type="title" idx="4294967295"/>
          </p:nvPr>
        </p:nvSpPr>
        <p:spPr/>
        <p:txBody>
          <a:bodyPr/>
          <a:lstStyle/>
          <a:p>
            <a:r>
              <a:rPr lang="en-US"/>
              <a:t>A Shared Pool</a:t>
            </a:r>
          </a:p>
        </p:txBody>
      </p:sp>
      <p:sp>
        <p:nvSpPr>
          <p:cNvPr id="516101" name="Rectangle 3"/>
          <p:cNvSpPr>
            <a:spLocks noGrp="1" noChangeArrowheads="1"/>
          </p:cNvSpPr>
          <p:nvPr>
            <p:ph type="body" sz="half" idx="4294967295"/>
          </p:nvPr>
        </p:nvSpPr>
        <p:spPr>
          <a:xfrm>
            <a:off x="685800" y="2143125"/>
            <a:ext cx="3810000" cy="1905000"/>
          </a:xfrm>
        </p:spPr>
        <p:txBody>
          <a:bodyPr/>
          <a:lstStyle/>
          <a:p>
            <a:r>
              <a:rPr lang="en-US" sz="2800"/>
              <a:t>Put</a:t>
            </a:r>
          </a:p>
          <a:p>
            <a:pPr lvl="1"/>
            <a:r>
              <a:rPr lang="en-US" sz="2400"/>
              <a:t>Insert item</a:t>
            </a:r>
          </a:p>
          <a:p>
            <a:pPr lvl="1"/>
            <a:r>
              <a:rPr lang="en-US" sz="2400"/>
              <a:t>block if full</a:t>
            </a:r>
          </a:p>
          <a:p>
            <a:endParaRPr lang="en-US" sz="2800"/>
          </a:p>
        </p:txBody>
      </p:sp>
      <p:sp>
        <p:nvSpPr>
          <p:cNvPr id="516102" name="Rectangle 4"/>
          <p:cNvSpPr>
            <a:spLocks noGrp="1" noChangeArrowheads="1"/>
          </p:cNvSpPr>
          <p:nvPr>
            <p:ph type="body" sz="half" idx="4294967295"/>
          </p:nvPr>
        </p:nvSpPr>
        <p:spPr>
          <a:xfrm>
            <a:off x="3689350" y="2143125"/>
            <a:ext cx="4768850" cy="1905000"/>
          </a:xfrm>
        </p:spPr>
        <p:txBody>
          <a:bodyPr/>
          <a:lstStyle/>
          <a:p>
            <a:r>
              <a:rPr lang="en-US" sz="2800"/>
              <a:t>Remove</a:t>
            </a:r>
          </a:p>
          <a:p>
            <a:pPr lvl="1"/>
            <a:r>
              <a:rPr lang="en-US" sz="2400"/>
              <a:t>Remove &amp; return item</a:t>
            </a:r>
          </a:p>
          <a:p>
            <a:pPr lvl="1"/>
            <a:r>
              <a:rPr lang="en-US" sz="2400"/>
              <a:t>block if empty</a:t>
            </a:r>
          </a:p>
          <a:p>
            <a:pPr>
              <a:buFontTx/>
              <a:buNone/>
            </a:pPr>
            <a:endParaRPr lang="en-US" sz="2800"/>
          </a:p>
        </p:txBody>
      </p:sp>
      <p:sp>
        <p:nvSpPr>
          <p:cNvPr id="516103" name="Rectangle 5"/>
          <p:cNvSpPr>
            <a:spLocks noChangeArrowheads="1"/>
          </p:cNvSpPr>
          <p:nvPr/>
        </p:nvSpPr>
        <p:spPr bwMode="auto">
          <a:xfrm>
            <a:off x="1071563" y="4298950"/>
            <a:ext cx="7153275" cy="1138773"/>
          </a:xfrm>
          <a:prstGeom prst="rect">
            <a:avLst/>
          </a:prstGeom>
          <a:solidFill>
            <a:srgbClr val="FFFFCC"/>
          </a:solidFill>
          <a:ln w="9525">
            <a:noFill/>
            <a:miter lim="800000"/>
            <a:headEnd/>
            <a:tailEnd/>
          </a:ln>
        </p:spPr>
        <p:txBody>
          <a:bodyPr>
            <a:spAutoFit/>
          </a:bodyPr>
          <a:lstStyle/>
          <a:p>
            <a:pPr marL="342900" indent="-342900">
              <a:lnSpc>
                <a:spcPct val="70000"/>
              </a:lnSpc>
            </a:pPr>
            <a:r>
              <a:rPr lang="en-US" sz="2000" dirty="0">
                <a:solidFill>
                  <a:schemeClr val="tx1"/>
                </a:solidFill>
                <a:latin typeface="Courier New" pitchFamily="49" charset="0"/>
                <a:cs typeface="Courier New" pitchFamily="49" charset="0"/>
              </a:rPr>
              <a:t>public interface</a:t>
            </a:r>
            <a:r>
              <a:rPr lang="en-US" sz="2000" dirty="0">
                <a:latin typeface="Courier New" pitchFamily="49" charset="0"/>
                <a:cs typeface="Courier New" pitchFamily="49" charset="0"/>
              </a:rPr>
              <a:t> Pool&lt;T&gt; {    </a:t>
            </a:r>
            <a:endParaRPr lang="en-US" sz="2000" dirty="0">
              <a:solidFill>
                <a:schemeClr val="tx1"/>
              </a:solidFill>
              <a:latin typeface="Courier New" pitchFamily="49" charset="0"/>
              <a:cs typeface="Courier New" pitchFamily="49" charset="0"/>
            </a:endParaRPr>
          </a:p>
          <a:p>
            <a:pPr marL="342900" indent="-342900">
              <a:lnSpc>
                <a:spcPct val="70000"/>
              </a:lnSpc>
            </a:pPr>
            <a:r>
              <a:rPr lang="en-US" sz="2000" dirty="0">
                <a:solidFill>
                  <a:schemeClr val="tx1"/>
                </a:solidFill>
                <a:latin typeface="Courier New" pitchFamily="49" charset="0"/>
                <a:cs typeface="Courier New" pitchFamily="49" charset="0"/>
              </a:rPr>
              <a:t>  public void</a:t>
            </a:r>
            <a:r>
              <a:rPr lang="en-US" sz="2000" dirty="0">
                <a:latin typeface="Courier New" pitchFamily="49" charset="0"/>
                <a:cs typeface="Courier New" pitchFamily="49" charset="0"/>
              </a:rPr>
              <a:t> put(T x);</a:t>
            </a:r>
          </a:p>
          <a:p>
            <a:pPr marL="342900" indent="-342900">
              <a:lnSpc>
                <a:spcPct val="70000"/>
              </a:lnSpc>
            </a:pPr>
            <a:r>
              <a:rPr lang="en-US" sz="2000" dirty="0">
                <a:latin typeface="Courier New" pitchFamily="49" charset="0"/>
                <a:cs typeface="Courier New" pitchFamily="49" charset="0"/>
              </a:rPr>
              <a:t>  </a:t>
            </a:r>
            <a:r>
              <a:rPr lang="en-US" sz="2000" dirty="0">
                <a:solidFill>
                  <a:schemeClr val="tx1"/>
                </a:solidFill>
                <a:latin typeface="Courier New" pitchFamily="49" charset="0"/>
                <a:cs typeface="Courier New" pitchFamily="49" charset="0"/>
              </a:rPr>
              <a:t>public</a:t>
            </a:r>
            <a:r>
              <a:rPr lang="en-US" sz="2000" dirty="0">
                <a:latin typeface="Courier New" pitchFamily="49" charset="0"/>
                <a:cs typeface="Courier New" pitchFamily="49" charset="0"/>
              </a:rPr>
              <a:t> T remove();</a:t>
            </a:r>
          </a:p>
          <a:p>
            <a:pPr marL="342900" indent="-342900">
              <a:lnSpc>
                <a:spcPct val="70000"/>
              </a:lnSpc>
            </a:pPr>
            <a:r>
              <a:rPr lang="en-US" sz="2000" dirty="0">
                <a:latin typeface="Courier New" pitchFamily="49"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oter Placeholder 3"/>
          <p:cNvSpPr>
            <a:spLocks noGrp="1"/>
          </p:cNvSpPr>
          <p:nvPr>
            <p:ph type="ftr" sz="quarter" idx="10"/>
          </p:nvPr>
        </p:nvSpPr>
        <p:spPr/>
        <p:txBody>
          <a:bodyPr/>
          <a:lstStyle/>
          <a:p>
            <a:pPr>
              <a:defRPr/>
            </a:pPr>
            <a:r>
              <a:rPr lang="en-US"/>
              <a:t>Art of Multiprocessor Programming</a:t>
            </a:r>
          </a:p>
        </p:txBody>
      </p:sp>
      <p:sp>
        <p:nvSpPr>
          <p:cNvPr id="44" name="Slide Number Placeholder 4"/>
          <p:cNvSpPr>
            <a:spLocks noGrp="1"/>
          </p:cNvSpPr>
          <p:nvPr>
            <p:ph type="sldNum" sz="quarter" idx="11"/>
          </p:nvPr>
        </p:nvSpPr>
        <p:spPr/>
        <p:txBody>
          <a:bodyPr/>
          <a:lstStyle/>
          <a:p>
            <a:pPr>
              <a:defRPr/>
            </a:pPr>
            <a:fld id="{4EDF1932-0FA0-45A8-A32F-B0D3165C50C2}" type="slidenum">
              <a:rPr lang="en-US"/>
              <a:pPr>
                <a:defRPr/>
              </a:pPr>
              <a:t>3</a:t>
            </a:fld>
            <a:endParaRPr lang="en-US"/>
          </a:p>
        </p:txBody>
      </p:sp>
      <p:sp>
        <p:nvSpPr>
          <p:cNvPr id="6148" name="AutoShape 2"/>
          <p:cNvSpPr>
            <a:spLocks noChangeArrowheads="1"/>
          </p:cNvSpPr>
          <p:nvPr/>
        </p:nvSpPr>
        <p:spPr bwMode="auto">
          <a:xfrm>
            <a:off x="457200" y="4800600"/>
            <a:ext cx="1524000" cy="685800"/>
          </a:xfrm>
          <a:prstGeom prst="cloudCallout">
            <a:avLst>
              <a:gd name="adj1" fmla="val 26458"/>
              <a:gd name="adj2" fmla="val 88426"/>
            </a:avLst>
          </a:prstGeom>
          <a:noFill/>
          <a:ln w="38100">
            <a:solidFill>
              <a:schemeClr val="accent2"/>
            </a:solidFill>
            <a:round/>
            <a:headEnd/>
            <a:tailEnd/>
          </a:ln>
        </p:spPr>
        <p:txBody>
          <a:bodyPr anchor="ctr"/>
          <a:lstStyle/>
          <a:p>
            <a:pPr algn="ctr">
              <a:spcBef>
                <a:spcPct val="0"/>
              </a:spcBef>
            </a:pPr>
            <a:r>
              <a:rPr lang="en-US" sz="2800">
                <a:solidFill>
                  <a:schemeClr val="accent2"/>
                </a:solidFill>
                <a:latin typeface="Arial" pitchFamily="34" charset="0"/>
                <a:cs typeface="Arial" pitchFamily="34" charset="0"/>
              </a:rPr>
              <a:t>put</a:t>
            </a:r>
          </a:p>
        </p:txBody>
      </p:sp>
      <p:sp>
        <p:nvSpPr>
          <p:cNvPr id="6149" name="Freeform 3"/>
          <p:cNvSpPr>
            <a:spLocks/>
          </p:cNvSpPr>
          <p:nvPr/>
        </p:nvSpPr>
        <p:spPr bwMode="auto">
          <a:xfrm>
            <a:off x="2971800" y="3429000"/>
            <a:ext cx="3200400" cy="838200"/>
          </a:xfrm>
          <a:custGeom>
            <a:avLst/>
            <a:gdLst>
              <a:gd name="T0" fmla="*/ 0 w 2016"/>
              <a:gd name="T1" fmla="*/ 0 h 528"/>
              <a:gd name="T2" fmla="*/ 2147483647 w 2016"/>
              <a:gd name="T3" fmla="*/ 2147483647 h 528"/>
              <a:gd name="T4" fmla="*/ 2147483647 w 2016"/>
              <a:gd name="T5" fmla="*/ 0 h 528"/>
              <a:gd name="T6" fmla="*/ 0 60000 65536"/>
              <a:gd name="T7" fmla="*/ 0 60000 65536"/>
              <a:gd name="T8" fmla="*/ 0 60000 65536"/>
              <a:gd name="T9" fmla="*/ 0 w 2016"/>
              <a:gd name="T10" fmla="*/ 0 h 528"/>
              <a:gd name="T11" fmla="*/ 2016 w 2016"/>
              <a:gd name="T12" fmla="*/ 528 h 528"/>
            </a:gdLst>
            <a:ahLst/>
            <a:cxnLst>
              <a:cxn ang="T6">
                <a:pos x="T0" y="T1"/>
              </a:cxn>
              <a:cxn ang="T7">
                <a:pos x="T2" y="T3"/>
              </a:cxn>
              <a:cxn ang="T8">
                <a:pos x="T4" y="T5"/>
              </a:cxn>
            </a:cxnLst>
            <a:rect l="T9" t="T10" r="T11" b="T12"/>
            <a:pathLst>
              <a:path w="2016" h="528">
                <a:moveTo>
                  <a:pt x="0" y="0"/>
                </a:moveTo>
                <a:cubicBezTo>
                  <a:pt x="264" y="264"/>
                  <a:pt x="528" y="528"/>
                  <a:pt x="864" y="528"/>
                </a:cubicBezTo>
                <a:cubicBezTo>
                  <a:pt x="1200" y="528"/>
                  <a:pt x="1608" y="264"/>
                  <a:pt x="2016" y="0"/>
                </a:cubicBezTo>
              </a:path>
            </a:pathLst>
          </a:cu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6150" name="Rectangle 4"/>
          <p:cNvSpPr>
            <a:spLocks noGrp="1" noChangeArrowheads="1"/>
          </p:cNvSpPr>
          <p:nvPr>
            <p:ph type="title"/>
          </p:nvPr>
        </p:nvSpPr>
        <p:spPr/>
        <p:txBody>
          <a:bodyPr/>
          <a:lstStyle/>
          <a:p>
            <a:r>
              <a:rPr lang="en-US" sz="4000"/>
              <a:t>Simple Locking Implementation</a:t>
            </a:r>
          </a:p>
        </p:txBody>
      </p:sp>
      <p:grpSp>
        <p:nvGrpSpPr>
          <p:cNvPr id="6151" name="Group 5"/>
          <p:cNvGrpSpPr>
            <a:grpSpLocks/>
          </p:cNvGrpSpPr>
          <p:nvPr/>
        </p:nvGrpSpPr>
        <p:grpSpPr bwMode="auto">
          <a:xfrm>
            <a:off x="1600200" y="2362200"/>
            <a:ext cx="1447800" cy="1295400"/>
            <a:chOff x="1584" y="816"/>
            <a:chExt cx="912" cy="816"/>
          </a:xfrm>
        </p:grpSpPr>
        <p:sp>
          <p:nvSpPr>
            <p:cNvPr id="6180"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81"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82"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83"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184"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185"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186"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87"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88"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152" name="Group 15"/>
          <p:cNvGrpSpPr>
            <a:grpSpLocks/>
          </p:cNvGrpSpPr>
          <p:nvPr/>
        </p:nvGrpSpPr>
        <p:grpSpPr bwMode="auto">
          <a:xfrm flipH="1">
            <a:off x="1676400" y="5105400"/>
            <a:ext cx="1447800" cy="1295400"/>
            <a:chOff x="1584" y="816"/>
            <a:chExt cx="912" cy="816"/>
          </a:xfrm>
        </p:grpSpPr>
        <p:sp>
          <p:nvSpPr>
            <p:cNvPr id="6171"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72"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73"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74"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6175"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6176"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6177"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78"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79"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153" name="Group 25"/>
          <p:cNvGrpSpPr>
            <a:grpSpLocks/>
          </p:cNvGrpSpPr>
          <p:nvPr/>
        </p:nvGrpSpPr>
        <p:grpSpPr bwMode="auto">
          <a:xfrm>
            <a:off x="3886200" y="3276600"/>
            <a:ext cx="906463" cy="1320800"/>
            <a:chOff x="2208" y="1920"/>
            <a:chExt cx="1152" cy="1680"/>
          </a:xfrm>
        </p:grpSpPr>
        <p:sp>
          <p:nvSpPr>
            <p:cNvPr id="6167" name="Oval 26"/>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6168" name="Oval 27"/>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6169" name="AutoShape 2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170" name="AutoShape 2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Courier New" pitchFamily="49" charset="0"/>
              </a:endParaRPr>
            </a:p>
          </p:txBody>
        </p:sp>
      </p:grpSp>
      <p:sp>
        <p:nvSpPr>
          <p:cNvPr id="6154" name="Rectangle 30"/>
          <p:cNvSpPr>
            <a:spLocks noChangeArrowheads="1"/>
          </p:cNvSpPr>
          <p:nvPr/>
        </p:nvSpPr>
        <p:spPr bwMode="auto">
          <a:xfrm>
            <a:off x="6400800" y="2514600"/>
            <a:ext cx="914400" cy="3657600"/>
          </a:xfrm>
          <a:prstGeom prst="rect">
            <a:avLst/>
          </a:prstGeom>
          <a:solidFill>
            <a:schemeClr val="hlink"/>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6155" name="Line 31"/>
          <p:cNvSpPr>
            <a:spLocks noChangeShapeType="1"/>
          </p:cNvSpPr>
          <p:nvPr/>
        </p:nvSpPr>
        <p:spPr bwMode="auto">
          <a:xfrm>
            <a:off x="6400800" y="30480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6156" name="Line 32"/>
          <p:cNvSpPr>
            <a:spLocks noChangeShapeType="1"/>
          </p:cNvSpPr>
          <p:nvPr/>
        </p:nvSpPr>
        <p:spPr bwMode="auto">
          <a:xfrm>
            <a:off x="6400800" y="35814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6157" name="Line 33"/>
          <p:cNvSpPr>
            <a:spLocks noChangeShapeType="1"/>
          </p:cNvSpPr>
          <p:nvPr/>
        </p:nvSpPr>
        <p:spPr bwMode="auto">
          <a:xfrm>
            <a:off x="6400800" y="40386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6158" name="Line 34"/>
          <p:cNvSpPr>
            <a:spLocks noChangeShapeType="1"/>
          </p:cNvSpPr>
          <p:nvPr/>
        </p:nvSpPr>
        <p:spPr bwMode="auto">
          <a:xfrm>
            <a:off x="6400800" y="57150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grpSp>
        <p:nvGrpSpPr>
          <p:cNvPr id="6159" name="Group 35"/>
          <p:cNvGrpSpPr>
            <a:grpSpLocks/>
          </p:cNvGrpSpPr>
          <p:nvPr/>
        </p:nvGrpSpPr>
        <p:grpSpPr bwMode="auto">
          <a:xfrm>
            <a:off x="6642100" y="2590800"/>
            <a:ext cx="430213" cy="341313"/>
            <a:chOff x="2828" y="3460"/>
            <a:chExt cx="271" cy="215"/>
          </a:xfrm>
        </p:grpSpPr>
        <p:sp>
          <p:nvSpPr>
            <p:cNvPr id="6165" name="Oval 36"/>
            <p:cNvSpPr>
              <a:spLocks noChangeArrowheads="1"/>
            </p:cNvSpPr>
            <p:nvPr/>
          </p:nvSpPr>
          <p:spPr bwMode="auto">
            <a:xfrm>
              <a:off x="2828" y="34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6166" name="Oval 37"/>
            <p:cNvSpPr>
              <a:spLocks noChangeArrowheads="1"/>
            </p:cNvSpPr>
            <p:nvPr/>
          </p:nvSpPr>
          <p:spPr bwMode="auto">
            <a:xfrm>
              <a:off x="2982" y="3498"/>
              <a:ext cx="71" cy="60"/>
            </a:xfrm>
            <a:prstGeom prst="ellipse">
              <a:avLst/>
            </a:prstGeom>
            <a:solidFill>
              <a:srgbClr val="FFFF99"/>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160" name="Group 38"/>
          <p:cNvGrpSpPr>
            <a:grpSpLocks/>
          </p:cNvGrpSpPr>
          <p:nvPr/>
        </p:nvGrpSpPr>
        <p:grpSpPr bwMode="auto">
          <a:xfrm>
            <a:off x="6656388" y="3124200"/>
            <a:ext cx="430212" cy="341313"/>
            <a:chOff x="2828" y="3460"/>
            <a:chExt cx="271" cy="215"/>
          </a:xfrm>
        </p:grpSpPr>
        <p:sp>
          <p:nvSpPr>
            <p:cNvPr id="6163" name="Oval 39"/>
            <p:cNvSpPr>
              <a:spLocks noChangeArrowheads="1"/>
            </p:cNvSpPr>
            <p:nvPr/>
          </p:nvSpPr>
          <p:spPr bwMode="auto">
            <a:xfrm>
              <a:off x="2828" y="3460"/>
              <a:ext cx="271" cy="215"/>
            </a:xfrm>
            <a:prstGeom prst="ellipse">
              <a:avLst/>
            </a:prstGeom>
            <a:solidFill>
              <a:srgbClr val="FF5050"/>
            </a:solidFill>
            <a:ln w="38100">
              <a:solidFill>
                <a:schemeClr val="tx1"/>
              </a:solidFill>
              <a:round/>
              <a:headEnd/>
              <a:tailEnd/>
            </a:ln>
          </p:spPr>
          <p:txBody>
            <a:bodyPr wrap="none" anchor="ctr"/>
            <a:lstStyle/>
            <a:p>
              <a:endParaRPr lang="en-US" dirty="0">
                <a:latin typeface="Courier New" pitchFamily="49" charset="0"/>
              </a:endParaRPr>
            </a:p>
          </p:txBody>
        </p:sp>
        <p:sp>
          <p:nvSpPr>
            <p:cNvPr id="6164" name="Oval 40"/>
            <p:cNvSpPr>
              <a:spLocks noChangeArrowheads="1"/>
            </p:cNvSpPr>
            <p:nvPr/>
          </p:nvSpPr>
          <p:spPr bwMode="auto">
            <a:xfrm>
              <a:off x="2982" y="3498"/>
              <a:ext cx="71" cy="60"/>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161" name="Freeform 51"/>
          <p:cNvSpPr>
            <a:spLocks/>
          </p:cNvSpPr>
          <p:nvPr/>
        </p:nvSpPr>
        <p:spPr bwMode="auto">
          <a:xfrm>
            <a:off x="2971800" y="4572000"/>
            <a:ext cx="990600" cy="533400"/>
          </a:xfrm>
          <a:custGeom>
            <a:avLst/>
            <a:gdLst>
              <a:gd name="T0" fmla="*/ 0 w 624"/>
              <a:gd name="T1" fmla="*/ 2147483647 h 336"/>
              <a:gd name="T2" fmla="*/ 2147483647 w 624"/>
              <a:gd name="T3" fmla="*/ 2147483647 h 336"/>
              <a:gd name="T4" fmla="*/ 2147483647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cubicBezTo>
                  <a:pt x="140" y="292"/>
                  <a:pt x="280" y="248"/>
                  <a:pt x="384" y="192"/>
                </a:cubicBezTo>
                <a:cubicBezTo>
                  <a:pt x="488" y="136"/>
                  <a:pt x="556" y="68"/>
                  <a:pt x="624"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6162" name="AutoShape 52"/>
          <p:cNvSpPr>
            <a:spLocks noChangeArrowheads="1"/>
          </p:cNvSpPr>
          <p:nvPr/>
        </p:nvSpPr>
        <p:spPr bwMode="auto">
          <a:xfrm>
            <a:off x="3048000" y="1676400"/>
            <a:ext cx="1524000" cy="685800"/>
          </a:xfrm>
          <a:prstGeom prst="cloudCallout">
            <a:avLst>
              <a:gd name="adj1" fmla="val -58542"/>
              <a:gd name="adj2" fmla="val 77315"/>
            </a:avLst>
          </a:prstGeom>
          <a:noFill/>
          <a:ln w="38100">
            <a:solidFill>
              <a:srgbClr val="FF5050"/>
            </a:solidFill>
            <a:round/>
            <a:headEnd/>
            <a:tailEnd/>
          </a:ln>
        </p:spPr>
        <p:txBody>
          <a:bodyPr anchor="ctr"/>
          <a:lstStyle/>
          <a:p>
            <a:pPr algn="ctr">
              <a:spcBef>
                <a:spcPct val="0"/>
              </a:spcBef>
            </a:pPr>
            <a:r>
              <a:rPr lang="en-US" sz="2800">
                <a:solidFill>
                  <a:srgbClr val="FF5050"/>
                </a:solidFill>
                <a:latin typeface="Arial" pitchFamily="34" charset="0"/>
                <a:cs typeface="Arial" pitchFamily="34" charset="0"/>
              </a:rPr>
              <a:t>put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7301CE38-FB5E-42EE-BE16-81D90EC98296}" type="slidenum">
              <a:rPr lang="en-US" sz="1400" b="0">
                <a:solidFill>
                  <a:schemeClr val="tx1"/>
                </a:solidFill>
                <a:latin typeface="Arial" pitchFamily="34" charset="0"/>
              </a:rPr>
              <a:pPr algn="r">
                <a:spcBef>
                  <a:spcPct val="0"/>
                </a:spcBef>
                <a:defRPr/>
              </a:pPr>
              <a:t>4</a:t>
            </a:fld>
            <a:endParaRPr lang="en-US" sz="1400" b="0" dirty="0">
              <a:solidFill>
                <a:schemeClr val="tx1"/>
              </a:solidFill>
              <a:latin typeface="Arial" pitchFamily="34" charset="0"/>
            </a:endParaRPr>
          </a:p>
        </p:txBody>
      </p:sp>
      <p:sp>
        <p:nvSpPr>
          <p:cNvPr id="520196" name="AutoShape 2"/>
          <p:cNvSpPr>
            <a:spLocks noChangeArrowheads="1"/>
          </p:cNvSpPr>
          <p:nvPr/>
        </p:nvSpPr>
        <p:spPr bwMode="auto">
          <a:xfrm>
            <a:off x="457200" y="4800600"/>
            <a:ext cx="1524000" cy="685800"/>
          </a:xfrm>
          <a:prstGeom prst="cloudCallout">
            <a:avLst>
              <a:gd name="adj1" fmla="val 26458"/>
              <a:gd name="adj2" fmla="val 88426"/>
            </a:avLst>
          </a:prstGeom>
          <a:noFill/>
          <a:ln w="38100">
            <a:solidFill>
              <a:schemeClr val="folHlink"/>
            </a:solidFill>
            <a:round/>
            <a:headEnd/>
            <a:tailEnd/>
          </a:ln>
        </p:spPr>
        <p:txBody>
          <a:bodyPr anchor="ctr"/>
          <a:lstStyle/>
          <a:p>
            <a:pPr algn="ctr">
              <a:spcBef>
                <a:spcPct val="0"/>
              </a:spcBef>
            </a:pPr>
            <a:r>
              <a:rPr lang="en-US" sz="2800">
                <a:solidFill>
                  <a:schemeClr val="folHlink"/>
                </a:solidFill>
                <a:latin typeface="Arial" pitchFamily="34" charset="0"/>
                <a:cs typeface="Arial" pitchFamily="34" charset="0"/>
              </a:rPr>
              <a:t>put</a:t>
            </a:r>
          </a:p>
        </p:txBody>
      </p:sp>
      <p:sp>
        <p:nvSpPr>
          <p:cNvPr id="520197" name="Freeform 3"/>
          <p:cNvSpPr>
            <a:spLocks/>
          </p:cNvSpPr>
          <p:nvPr/>
        </p:nvSpPr>
        <p:spPr bwMode="auto">
          <a:xfrm>
            <a:off x="2971800" y="3429000"/>
            <a:ext cx="3200400" cy="838200"/>
          </a:xfrm>
          <a:custGeom>
            <a:avLst/>
            <a:gdLst>
              <a:gd name="T0" fmla="*/ 0 w 2016"/>
              <a:gd name="T1" fmla="*/ 0 h 528"/>
              <a:gd name="T2" fmla="*/ 2147483647 w 2016"/>
              <a:gd name="T3" fmla="*/ 2147483647 h 528"/>
              <a:gd name="T4" fmla="*/ 2147483647 w 2016"/>
              <a:gd name="T5" fmla="*/ 0 h 528"/>
              <a:gd name="T6" fmla="*/ 0 60000 65536"/>
              <a:gd name="T7" fmla="*/ 0 60000 65536"/>
              <a:gd name="T8" fmla="*/ 0 60000 65536"/>
              <a:gd name="T9" fmla="*/ 0 w 2016"/>
              <a:gd name="T10" fmla="*/ 0 h 528"/>
              <a:gd name="T11" fmla="*/ 2016 w 2016"/>
              <a:gd name="T12" fmla="*/ 528 h 528"/>
            </a:gdLst>
            <a:ahLst/>
            <a:cxnLst>
              <a:cxn ang="T6">
                <a:pos x="T0" y="T1"/>
              </a:cxn>
              <a:cxn ang="T7">
                <a:pos x="T2" y="T3"/>
              </a:cxn>
              <a:cxn ang="T8">
                <a:pos x="T4" y="T5"/>
              </a:cxn>
            </a:cxnLst>
            <a:rect l="T9" t="T10" r="T11" b="T12"/>
            <a:pathLst>
              <a:path w="2016" h="528">
                <a:moveTo>
                  <a:pt x="0" y="0"/>
                </a:moveTo>
                <a:cubicBezTo>
                  <a:pt x="264" y="264"/>
                  <a:pt x="528" y="528"/>
                  <a:pt x="864" y="528"/>
                </a:cubicBezTo>
                <a:cubicBezTo>
                  <a:pt x="1200" y="528"/>
                  <a:pt x="1608" y="264"/>
                  <a:pt x="2016" y="0"/>
                </a:cubicBezTo>
              </a:path>
            </a:pathLst>
          </a:cu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520198" name="Rectangle 4"/>
          <p:cNvSpPr>
            <a:spLocks noGrp="1" noChangeArrowheads="1"/>
          </p:cNvSpPr>
          <p:nvPr>
            <p:ph type="title" idx="4294967295"/>
          </p:nvPr>
        </p:nvSpPr>
        <p:spPr/>
        <p:txBody>
          <a:bodyPr/>
          <a:lstStyle/>
          <a:p>
            <a:r>
              <a:rPr lang="en-US" sz="4000"/>
              <a:t>Simple Locking Implementation</a:t>
            </a:r>
          </a:p>
        </p:txBody>
      </p:sp>
      <p:grpSp>
        <p:nvGrpSpPr>
          <p:cNvPr id="520199" name="Group 5"/>
          <p:cNvGrpSpPr>
            <a:grpSpLocks/>
          </p:cNvGrpSpPr>
          <p:nvPr/>
        </p:nvGrpSpPr>
        <p:grpSpPr bwMode="auto">
          <a:xfrm>
            <a:off x="1600200" y="2362200"/>
            <a:ext cx="1447800" cy="1295400"/>
            <a:chOff x="1584" y="816"/>
            <a:chExt cx="912" cy="816"/>
          </a:xfrm>
        </p:grpSpPr>
        <p:sp>
          <p:nvSpPr>
            <p:cNvPr id="520200"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01"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02"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03"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0204"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0205"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0206"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07"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08"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20209" name="Group 15"/>
          <p:cNvGrpSpPr>
            <a:grpSpLocks/>
          </p:cNvGrpSpPr>
          <p:nvPr/>
        </p:nvGrpSpPr>
        <p:grpSpPr bwMode="auto">
          <a:xfrm flipH="1">
            <a:off x="1676400" y="5105400"/>
            <a:ext cx="1447800" cy="1295400"/>
            <a:chOff x="1584" y="816"/>
            <a:chExt cx="912" cy="816"/>
          </a:xfrm>
        </p:grpSpPr>
        <p:sp>
          <p:nvSpPr>
            <p:cNvPr id="520210"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11"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12"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13"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0214"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0215"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0216"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17"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0218"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20219" name="Group 25"/>
          <p:cNvGrpSpPr>
            <a:grpSpLocks/>
          </p:cNvGrpSpPr>
          <p:nvPr/>
        </p:nvGrpSpPr>
        <p:grpSpPr bwMode="auto">
          <a:xfrm>
            <a:off x="3886200" y="3276600"/>
            <a:ext cx="906463" cy="1320800"/>
            <a:chOff x="2208" y="1920"/>
            <a:chExt cx="1152" cy="1680"/>
          </a:xfrm>
        </p:grpSpPr>
        <p:sp>
          <p:nvSpPr>
            <p:cNvPr id="520220" name="Oval 26"/>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520221" name="Oval 27"/>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520222" name="AutoShape 2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20223" name="AutoShape 2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Courier New" pitchFamily="49" charset="0"/>
              </a:endParaRPr>
            </a:p>
          </p:txBody>
        </p:sp>
      </p:grpSp>
      <p:sp>
        <p:nvSpPr>
          <p:cNvPr id="520224" name="Rectangle 30"/>
          <p:cNvSpPr>
            <a:spLocks noChangeArrowheads="1"/>
          </p:cNvSpPr>
          <p:nvPr/>
        </p:nvSpPr>
        <p:spPr bwMode="auto">
          <a:xfrm>
            <a:off x="6400800" y="2514600"/>
            <a:ext cx="914400" cy="3657600"/>
          </a:xfrm>
          <a:prstGeom prst="rect">
            <a:avLst/>
          </a:prstGeom>
          <a:solidFill>
            <a:schemeClr val="folHlink"/>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520225" name="Line 31"/>
          <p:cNvSpPr>
            <a:spLocks noChangeShapeType="1"/>
          </p:cNvSpPr>
          <p:nvPr/>
        </p:nvSpPr>
        <p:spPr bwMode="auto">
          <a:xfrm>
            <a:off x="6400800" y="30480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520226" name="Line 32"/>
          <p:cNvSpPr>
            <a:spLocks noChangeShapeType="1"/>
          </p:cNvSpPr>
          <p:nvPr/>
        </p:nvSpPr>
        <p:spPr bwMode="auto">
          <a:xfrm>
            <a:off x="6400800" y="35814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520227" name="Line 33"/>
          <p:cNvSpPr>
            <a:spLocks noChangeShapeType="1"/>
          </p:cNvSpPr>
          <p:nvPr/>
        </p:nvSpPr>
        <p:spPr bwMode="auto">
          <a:xfrm>
            <a:off x="6400800" y="40386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520228" name="Line 34"/>
          <p:cNvSpPr>
            <a:spLocks noChangeShapeType="1"/>
          </p:cNvSpPr>
          <p:nvPr/>
        </p:nvSpPr>
        <p:spPr bwMode="auto">
          <a:xfrm>
            <a:off x="6400800" y="57150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grpSp>
        <p:nvGrpSpPr>
          <p:cNvPr id="520229" name="Group 35"/>
          <p:cNvGrpSpPr>
            <a:grpSpLocks/>
          </p:cNvGrpSpPr>
          <p:nvPr/>
        </p:nvGrpSpPr>
        <p:grpSpPr bwMode="auto">
          <a:xfrm>
            <a:off x="6642100" y="2590800"/>
            <a:ext cx="430213" cy="341313"/>
            <a:chOff x="2828" y="3460"/>
            <a:chExt cx="271" cy="215"/>
          </a:xfrm>
        </p:grpSpPr>
        <p:sp>
          <p:nvSpPr>
            <p:cNvPr id="520230" name="Oval 36"/>
            <p:cNvSpPr>
              <a:spLocks noChangeArrowheads="1"/>
            </p:cNvSpPr>
            <p:nvPr/>
          </p:nvSpPr>
          <p:spPr bwMode="auto">
            <a:xfrm>
              <a:off x="2828" y="3460"/>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Courier New" pitchFamily="49" charset="0"/>
              </a:endParaRPr>
            </a:p>
          </p:txBody>
        </p:sp>
        <p:sp>
          <p:nvSpPr>
            <p:cNvPr id="520231" name="Oval 37"/>
            <p:cNvSpPr>
              <a:spLocks noChangeArrowheads="1"/>
            </p:cNvSpPr>
            <p:nvPr/>
          </p:nvSpPr>
          <p:spPr bwMode="auto">
            <a:xfrm>
              <a:off x="2982" y="3498"/>
              <a:ext cx="71" cy="60"/>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20232" name="Group 38"/>
          <p:cNvGrpSpPr>
            <a:grpSpLocks/>
          </p:cNvGrpSpPr>
          <p:nvPr/>
        </p:nvGrpSpPr>
        <p:grpSpPr bwMode="auto">
          <a:xfrm>
            <a:off x="6656388" y="3124200"/>
            <a:ext cx="430212" cy="341313"/>
            <a:chOff x="2828" y="3460"/>
            <a:chExt cx="271" cy="215"/>
          </a:xfrm>
        </p:grpSpPr>
        <p:sp>
          <p:nvSpPr>
            <p:cNvPr id="520233" name="Oval 39"/>
            <p:cNvSpPr>
              <a:spLocks noChangeArrowheads="1"/>
            </p:cNvSpPr>
            <p:nvPr/>
          </p:nvSpPr>
          <p:spPr bwMode="auto">
            <a:xfrm>
              <a:off x="2828" y="3460"/>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Courier New" pitchFamily="49" charset="0"/>
              </a:endParaRPr>
            </a:p>
          </p:txBody>
        </p:sp>
        <p:sp>
          <p:nvSpPr>
            <p:cNvPr id="520234" name="Oval 40"/>
            <p:cNvSpPr>
              <a:spLocks noChangeArrowheads="1"/>
            </p:cNvSpPr>
            <p:nvPr/>
          </p:nvSpPr>
          <p:spPr bwMode="auto">
            <a:xfrm>
              <a:off x="2982" y="3498"/>
              <a:ext cx="71" cy="60"/>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20235" name="Group 41"/>
          <p:cNvGrpSpPr>
            <a:grpSpLocks/>
          </p:cNvGrpSpPr>
          <p:nvPr/>
        </p:nvGrpSpPr>
        <p:grpSpPr bwMode="auto">
          <a:xfrm>
            <a:off x="3733800" y="2286000"/>
            <a:ext cx="1228725" cy="1752600"/>
            <a:chOff x="3696" y="960"/>
            <a:chExt cx="309" cy="441"/>
          </a:xfrm>
        </p:grpSpPr>
        <p:sp>
          <p:nvSpPr>
            <p:cNvPr id="520236" name="Freeform 42"/>
            <p:cNvSpPr>
              <a:spLocks/>
            </p:cNvSpPr>
            <p:nvPr/>
          </p:nvSpPr>
          <p:spPr bwMode="auto">
            <a:xfrm>
              <a:off x="3696" y="960"/>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dirty="0">
                <a:latin typeface="Courier New" pitchFamily="49" charset="0"/>
              </a:endParaRPr>
            </a:p>
          </p:txBody>
        </p:sp>
        <p:sp>
          <p:nvSpPr>
            <p:cNvPr id="520237" name="Freeform 43"/>
            <p:cNvSpPr>
              <a:spLocks/>
            </p:cNvSpPr>
            <p:nvPr/>
          </p:nvSpPr>
          <p:spPr bwMode="auto">
            <a:xfrm>
              <a:off x="3802" y="1105"/>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dirty="0">
                <a:latin typeface="Courier New" pitchFamily="49" charset="0"/>
              </a:endParaRPr>
            </a:p>
          </p:txBody>
        </p:sp>
        <p:sp>
          <p:nvSpPr>
            <p:cNvPr id="520238" name="Freeform 44"/>
            <p:cNvSpPr>
              <a:spLocks/>
            </p:cNvSpPr>
            <p:nvPr/>
          </p:nvSpPr>
          <p:spPr bwMode="auto">
            <a:xfrm>
              <a:off x="3737" y="998"/>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dirty="0">
                <a:latin typeface="Courier New" pitchFamily="49" charset="0"/>
              </a:endParaRPr>
            </a:p>
          </p:txBody>
        </p:sp>
        <p:sp>
          <p:nvSpPr>
            <p:cNvPr id="520239" name="Freeform 45"/>
            <p:cNvSpPr>
              <a:spLocks/>
            </p:cNvSpPr>
            <p:nvPr/>
          </p:nvSpPr>
          <p:spPr bwMode="auto">
            <a:xfrm>
              <a:off x="3816" y="1093"/>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dirty="0">
                <a:latin typeface="Courier New" pitchFamily="49" charset="0"/>
              </a:endParaRPr>
            </a:p>
          </p:txBody>
        </p:sp>
        <p:sp>
          <p:nvSpPr>
            <p:cNvPr id="520240" name="Freeform 46"/>
            <p:cNvSpPr>
              <a:spLocks/>
            </p:cNvSpPr>
            <p:nvPr/>
          </p:nvSpPr>
          <p:spPr bwMode="auto">
            <a:xfrm>
              <a:off x="3710" y="1045"/>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dirty="0">
                <a:latin typeface="Courier New" pitchFamily="49" charset="0"/>
              </a:endParaRPr>
            </a:p>
          </p:txBody>
        </p:sp>
        <p:sp>
          <p:nvSpPr>
            <p:cNvPr id="520241" name="Freeform 47"/>
            <p:cNvSpPr>
              <a:spLocks/>
            </p:cNvSpPr>
            <p:nvPr/>
          </p:nvSpPr>
          <p:spPr bwMode="auto">
            <a:xfrm>
              <a:off x="3787" y="1002"/>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dirty="0">
                <a:latin typeface="Courier New" pitchFamily="49" charset="0"/>
              </a:endParaRPr>
            </a:p>
          </p:txBody>
        </p:sp>
        <p:sp>
          <p:nvSpPr>
            <p:cNvPr id="520242" name="Freeform 48"/>
            <p:cNvSpPr>
              <a:spLocks/>
            </p:cNvSpPr>
            <p:nvPr/>
          </p:nvSpPr>
          <p:spPr bwMode="auto">
            <a:xfrm>
              <a:off x="3840" y="1255"/>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dirty="0">
                <a:latin typeface="Courier New" pitchFamily="49" charset="0"/>
              </a:endParaRPr>
            </a:p>
          </p:txBody>
        </p:sp>
      </p:grpSp>
      <p:sp>
        <p:nvSpPr>
          <p:cNvPr id="520243" name="Freeform 49"/>
          <p:cNvSpPr>
            <a:spLocks/>
          </p:cNvSpPr>
          <p:nvPr/>
        </p:nvSpPr>
        <p:spPr bwMode="auto">
          <a:xfrm>
            <a:off x="2971800" y="4572000"/>
            <a:ext cx="990600" cy="533400"/>
          </a:xfrm>
          <a:custGeom>
            <a:avLst/>
            <a:gdLst>
              <a:gd name="T0" fmla="*/ 0 w 624"/>
              <a:gd name="T1" fmla="*/ 2147483647 h 336"/>
              <a:gd name="T2" fmla="*/ 2147483647 w 624"/>
              <a:gd name="T3" fmla="*/ 2147483647 h 336"/>
              <a:gd name="T4" fmla="*/ 2147483647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cubicBezTo>
                  <a:pt x="140" y="292"/>
                  <a:pt x="280" y="248"/>
                  <a:pt x="384" y="192"/>
                </a:cubicBezTo>
                <a:cubicBezTo>
                  <a:pt x="488" y="136"/>
                  <a:pt x="556" y="68"/>
                  <a:pt x="624" y="0"/>
                </a:cubicBezTo>
              </a:path>
            </a:pathLst>
          </a:cu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520244" name="AutoShape 50"/>
          <p:cNvSpPr>
            <a:spLocks noChangeArrowheads="1"/>
          </p:cNvSpPr>
          <p:nvPr/>
        </p:nvSpPr>
        <p:spPr bwMode="auto">
          <a:xfrm>
            <a:off x="3048000" y="1676400"/>
            <a:ext cx="1524000" cy="685800"/>
          </a:xfrm>
          <a:prstGeom prst="cloudCallout">
            <a:avLst>
              <a:gd name="adj1" fmla="val -58542"/>
              <a:gd name="adj2" fmla="val 77315"/>
            </a:avLst>
          </a:prstGeom>
          <a:noFill/>
          <a:ln w="38100">
            <a:solidFill>
              <a:schemeClr val="folHlink"/>
            </a:solidFill>
            <a:round/>
            <a:headEnd/>
            <a:tailEnd/>
          </a:ln>
        </p:spPr>
        <p:txBody>
          <a:bodyPr anchor="ctr"/>
          <a:lstStyle/>
          <a:p>
            <a:pPr algn="ctr">
              <a:spcBef>
                <a:spcPct val="0"/>
              </a:spcBef>
            </a:pPr>
            <a:r>
              <a:rPr lang="en-US" sz="2800">
                <a:solidFill>
                  <a:schemeClr val="folHlink"/>
                </a:solidFill>
                <a:latin typeface="Arial" pitchFamily="34" charset="0"/>
                <a:cs typeface="Arial" pitchFamily="34" charset="0"/>
              </a:rPr>
              <a:t>put</a:t>
            </a:r>
          </a:p>
        </p:txBody>
      </p:sp>
      <p:sp>
        <p:nvSpPr>
          <p:cNvPr id="520245" name="AutoShape 51"/>
          <p:cNvSpPr>
            <a:spLocks noChangeArrowheads="1"/>
          </p:cNvSpPr>
          <p:nvPr/>
        </p:nvSpPr>
        <p:spPr bwMode="auto">
          <a:xfrm>
            <a:off x="4732338" y="5143500"/>
            <a:ext cx="3048000" cy="1295400"/>
          </a:xfrm>
          <a:prstGeom prst="wedgeRoundRectCallout">
            <a:avLst>
              <a:gd name="adj1" fmla="val -49685"/>
              <a:gd name="adj2" fmla="val -108579"/>
              <a:gd name="adj3" fmla="val 16667"/>
            </a:avLst>
          </a:prstGeom>
          <a:solidFill>
            <a:schemeClr val="bg1">
              <a:alpha val="80000"/>
            </a:schemeClr>
          </a:solidFill>
          <a:ln w="38100">
            <a:solidFill>
              <a:srgbClr val="FF0000"/>
            </a:solidFill>
            <a:miter lim="800000"/>
            <a:headEnd/>
            <a:tailEnd/>
          </a:ln>
        </p:spPr>
        <p:txBody>
          <a:bodyPr anchor="ctr"/>
          <a:lstStyle/>
          <a:p>
            <a:pPr algn="ctr">
              <a:spcBef>
                <a:spcPct val="0"/>
              </a:spcBef>
            </a:pPr>
            <a:r>
              <a:rPr lang="en-US" sz="2800" b="0">
                <a:solidFill>
                  <a:srgbClr val="FF0000"/>
                </a:solidFill>
                <a:latin typeface="Arial" pitchFamily="34" charset="0"/>
                <a:cs typeface="Arial" pitchFamily="34" charset="0"/>
              </a:rPr>
              <a:t>Problem: hot-spot contention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4EF09F22-DBE4-4663-80DE-241BF4010AEF}" type="slidenum">
              <a:rPr lang="en-US" sz="1400" b="0">
                <a:solidFill>
                  <a:schemeClr val="tx1"/>
                </a:solidFill>
                <a:latin typeface="Arial" pitchFamily="34" charset="0"/>
              </a:rPr>
              <a:pPr algn="r">
                <a:spcBef>
                  <a:spcPct val="0"/>
                </a:spcBef>
                <a:defRPr/>
              </a:pPr>
              <a:t>5</a:t>
            </a:fld>
            <a:endParaRPr lang="en-US" sz="1400" b="0" dirty="0">
              <a:solidFill>
                <a:schemeClr val="tx1"/>
              </a:solidFill>
              <a:latin typeface="Arial" pitchFamily="34" charset="0"/>
            </a:endParaRPr>
          </a:p>
        </p:txBody>
      </p:sp>
      <p:sp>
        <p:nvSpPr>
          <p:cNvPr id="522244" name="AutoShape 2"/>
          <p:cNvSpPr>
            <a:spLocks noChangeArrowheads="1"/>
          </p:cNvSpPr>
          <p:nvPr/>
        </p:nvSpPr>
        <p:spPr bwMode="auto">
          <a:xfrm>
            <a:off x="457200" y="4800600"/>
            <a:ext cx="1524000" cy="685800"/>
          </a:xfrm>
          <a:prstGeom prst="cloudCallout">
            <a:avLst>
              <a:gd name="adj1" fmla="val 26458"/>
              <a:gd name="adj2" fmla="val 88426"/>
            </a:avLst>
          </a:prstGeom>
          <a:noFill/>
          <a:ln w="38100">
            <a:solidFill>
              <a:schemeClr val="folHlink"/>
            </a:solidFill>
            <a:round/>
            <a:headEnd/>
            <a:tailEnd/>
          </a:ln>
        </p:spPr>
        <p:txBody>
          <a:bodyPr anchor="ctr"/>
          <a:lstStyle/>
          <a:p>
            <a:pPr algn="ctr">
              <a:spcBef>
                <a:spcPct val="0"/>
              </a:spcBef>
            </a:pPr>
            <a:r>
              <a:rPr lang="en-US" sz="2800">
                <a:solidFill>
                  <a:schemeClr val="folHlink"/>
                </a:solidFill>
                <a:latin typeface="Arial" pitchFamily="34" charset="0"/>
                <a:cs typeface="Arial" pitchFamily="34" charset="0"/>
              </a:rPr>
              <a:t>put</a:t>
            </a:r>
          </a:p>
        </p:txBody>
      </p:sp>
      <p:sp>
        <p:nvSpPr>
          <p:cNvPr id="522245" name="Freeform 3"/>
          <p:cNvSpPr>
            <a:spLocks/>
          </p:cNvSpPr>
          <p:nvPr/>
        </p:nvSpPr>
        <p:spPr bwMode="auto">
          <a:xfrm>
            <a:off x="2971800" y="3429000"/>
            <a:ext cx="3200400" cy="838200"/>
          </a:xfrm>
          <a:custGeom>
            <a:avLst/>
            <a:gdLst>
              <a:gd name="T0" fmla="*/ 0 w 2016"/>
              <a:gd name="T1" fmla="*/ 0 h 528"/>
              <a:gd name="T2" fmla="*/ 2147483647 w 2016"/>
              <a:gd name="T3" fmla="*/ 2147483647 h 528"/>
              <a:gd name="T4" fmla="*/ 2147483647 w 2016"/>
              <a:gd name="T5" fmla="*/ 0 h 528"/>
              <a:gd name="T6" fmla="*/ 0 60000 65536"/>
              <a:gd name="T7" fmla="*/ 0 60000 65536"/>
              <a:gd name="T8" fmla="*/ 0 60000 65536"/>
              <a:gd name="T9" fmla="*/ 0 w 2016"/>
              <a:gd name="T10" fmla="*/ 0 h 528"/>
              <a:gd name="T11" fmla="*/ 2016 w 2016"/>
              <a:gd name="T12" fmla="*/ 528 h 528"/>
            </a:gdLst>
            <a:ahLst/>
            <a:cxnLst>
              <a:cxn ang="T6">
                <a:pos x="T0" y="T1"/>
              </a:cxn>
              <a:cxn ang="T7">
                <a:pos x="T2" y="T3"/>
              </a:cxn>
              <a:cxn ang="T8">
                <a:pos x="T4" y="T5"/>
              </a:cxn>
            </a:cxnLst>
            <a:rect l="T9" t="T10" r="T11" b="T12"/>
            <a:pathLst>
              <a:path w="2016" h="528">
                <a:moveTo>
                  <a:pt x="0" y="0"/>
                </a:moveTo>
                <a:cubicBezTo>
                  <a:pt x="264" y="264"/>
                  <a:pt x="528" y="528"/>
                  <a:pt x="864" y="528"/>
                </a:cubicBezTo>
                <a:cubicBezTo>
                  <a:pt x="1200" y="528"/>
                  <a:pt x="1608" y="264"/>
                  <a:pt x="2016" y="0"/>
                </a:cubicBezTo>
              </a:path>
            </a:pathLst>
          </a:cu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522246" name="Rectangle 4"/>
          <p:cNvSpPr>
            <a:spLocks noGrp="1" noChangeArrowheads="1"/>
          </p:cNvSpPr>
          <p:nvPr>
            <p:ph type="title" idx="4294967295"/>
          </p:nvPr>
        </p:nvSpPr>
        <p:spPr/>
        <p:txBody>
          <a:bodyPr/>
          <a:lstStyle/>
          <a:p>
            <a:r>
              <a:rPr lang="en-US" sz="4000" dirty="0"/>
              <a:t>Simple Locking Implementation</a:t>
            </a:r>
          </a:p>
        </p:txBody>
      </p:sp>
      <p:grpSp>
        <p:nvGrpSpPr>
          <p:cNvPr id="522247" name="Group 5"/>
          <p:cNvGrpSpPr>
            <a:grpSpLocks/>
          </p:cNvGrpSpPr>
          <p:nvPr/>
        </p:nvGrpSpPr>
        <p:grpSpPr bwMode="auto">
          <a:xfrm>
            <a:off x="1600200" y="2362200"/>
            <a:ext cx="1447800" cy="1295400"/>
            <a:chOff x="1584" y="816"/>
            <a:chExt cx="912" cy="816"/>
          </a:xfrm>
        </p:grpSpPr>
        <p:sp>
          <p:nvSpPr>
            <p:cNvPr id="522248"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49"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50"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51"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2252"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2253"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2254"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55"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56"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22257" name="Group 15"/>
          <p:cNvGrpSpPr>
            <a:grpSpLocks/>
          </p:cNvGrpSpPr>
          <p:nvPr/>
        </p:nvGrpSpPr>
        <p:grpSpPr bwMode="auto">
          <a:xfrm flipH="1">
            <a:off x="1676400" y="5105400"/>
            <a:ext cx="1447800" cy="1295400"/>
            <a:chOff x="1584" y="816"/>
            <a:chExt cx="912" cy="816"/>
          </a:xfrm>
        </p:grpSpPr>
        <p:sp>
          <p:nvSpPr>
            <p:cNvPr id="522258"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59"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60"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61"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2262"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2263"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22264"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65"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266"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22267" name="Group 25"/>
          <p:cNvGrpSpPr>
            <a:grpSpLocks/>
          </p:cNvGrpSpPr>
          <p:nvPr/>
        </p:nvGrpSpPr>
        <p:grpSpPr bwMode="auto">
          <a:xfrm>
            <a:off x="3886200" y="3276600"/>
            <a:ext cx="906463" cy="1320800"/>
            <a:chOff x="2208" y="1920"/>
            <a:chExt cx="1152" cy="1680"/>
          </a:xfrm>
        </p:grpSpPr>
        <p:sp>
          <p:nvSpPr>
            <p:cNvPr id="522268" name="Oval 26"/>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522269" name="Oval 27"/>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522270" name="AutoShape 2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22271" name="AutoShape 2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Courier New" pitchFamily="49" charset="0"/>
              </a:endParaRPr>
            </a:p>
          </p:txBody>
        </p:sp>
      </p:grpSp>
      <p:sp>
        <p:nvSpPr>
          <p:cNvPr id="522272" name="Rectangle 30"/>
          <p:cNvSpPr>
            <a:spLocks noChangeArrowheads="1"/>
          </p:cNvSpPr>
          <p:nvPr/>
        </p:nvSpPr>
        <p:spPr bwMode="auto">
          <a:xfrm>
            <a:off x="6400800" y="2514600"/>
            <a:ext cx="914400" cy="3657600"/>
          </a:xfrm>
          <a:prstGeom prst="rect">
            <a:avLst/>
          </a:prstGeom>
          <a:solidFill>
            <a:schemeClr val="folHlink"/>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522273" name="Line 31"/>
          <p:cNvSpPr>
            <a:spLocks noChangeShapeType="1"/>
          </p:cNvSpPr>
          <p:nvPr/>
        </p:nvSpPr>
        <p:spPr bwMode="auto">
          <a:xfrm>
            <a:off x="6400800" y="30480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522274" name="Line 32"/>
          <p:cNvSpPr>
            <a:spLocks noChangeShapeType="1"/>
          </p:cNvSpPr>
          <p:nvPr/>
        </p:nvSpPr>
        <p:spPr bwMode="auto">
          <a:xfrm>
            <a:off x="6400800" y="35814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522275" name="Line 33"/>
          <p:cNvSpPr>
            <a:spLocks noChangeShapeType="1"/>
          </p:cNvSpPr>
          <p:nvPr/>
        </p:nvSpPr>
        <p:spPr bwMode="auto">
          <a:xfrm>
            <a:off x="6400800" y="40386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522276" name="Line 34"/>
          <p:cNvSpPr>
            <a:spLocks noChangeShapeType="1"/>
          </p:cNvSpPr>
          <p:nvPr/>
        </p:nvSpPr>
        <p:spPr bwMode="auto">
          <a:xfrm>
            <a:off x="6400800" y="57150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grpSp>
        <p:nvGrpSpPr>
          <p:cNvPr id="522277" name="Group 35"/>
          <p:cNvGrpSpPr>
            <a:grpSpLocks/>
          </p:cNvGrpSpPr>
          <p:nvPr/>
        </p:nvGrpSpPr>
        <p:grpSpPr bwMode="auto">
          <a:xfrm>
            <a:off x="6642100" y="2590800"/>
            <a:ext cx="430213" cy="341313"/>
            <a:chOff x="2828" y="3460"/>
            <a:chExt cx="271" cy="215"/>
          </a:xfrm>
        </p:grpSpPr>
        <p:sp>
          <p:nvSpPr>
            <p:cNvPr id="522278" name="Oval 36"/>
            <p:cNvSpPr>
              <a:spLocks noChangeArrowheads="1"/>
            </p:cNvSpPr>
            <p:nvPr/>
          </p:nvSpPr>
          <p:spPr bwMode="auto">
            <a:xfrm>
              <a:off x="2828" y="3460"/>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Courier New" pitchFamily="49" charset="0"/>
              </a:endParaRPr>
            </a:p>
          </p:txBody>
        </p:sp>
        <p:sp>
          <p:nvSpPr>
            <p:cNvPr id="522279" name="Oval 37"/>
            <p:cNvSpPr>
              <a:spLocks noChangeArrowheads="1"/>
            </p:cNvSpPr>
            <p:nvPr/>
          </p:nvSpPr>
          <p:spPr bwMode="auto">
            <a:xfrm>
              <a:off x="2982" y="3498"/>
              <a:ext cx="71" cy="60"/>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22280" name="Group 38"/>
          <p:cNvGrpSpPr>
            <a:grpSpLocks/>
          </p:cNvGrpSpPr>
          <p:nvPr/>
        </p:nvGrpSpPr>
        <p:grpSpPr bwMode="auto">
          <a:xfrm>
            <a:off x="6656388" y="3124200"/>
            <a:ext cx="430212" cy="341313"/>
            <a:chOff x="2828" y="3460"/>
            <a:chExt cx="271" cy="215"/>
          </a:xfrm>
        </p:grpSpPr>
        <p:sp>
          <p:nvSpPr>
            <p:cNvPr id="522281" name="Oval 39"/>
            <p:cNvSpPr>
              <a:spLocks noChangeArrowheads="1"/>
            </p:cNvSpPr>
            <p:nvPr/>
          </p:nvSpPr>
          <p:spPr bwMode="auto">
            <a:xfrm>
              <a:off x="2828" y="3460"/>
              <a:ext cx="271" cy="215"/>
            </a:xfrm>
            <a:prstGeom prst="ellipse">
              <a:avLst/>
            </a:prstGeom>
            <a:solidFill>
              <a:schemeClr val="bg2"/>
            </a:solidFill>
            <a:ln w="38100">
              <a:solidFill>
                <a:schemeClr val="tx1"/>
              </a:solidFill>
              <a:round/>
              <a:headEnd/>
              <a:tailEnd/>
            </a:ln>
          </p:spPr>
          <p:txBody>
            <a:bodyPr wrap="none" anchor="ctr"/>
            <a:lstStyle/>
            <a:p>
              <a:endParaRPr lang="en-US" dirty="0">
                <a:latin typeface="Courier New" pitchFamily="49" charset="0"/>
              </a:endParaRPr>
            </a:p>
          </p:txBody>
        </p:sp>
        <p:sp>
          <p:nvSpPr>
            <p:cNvPr id="522282" name="Oval 40"/>
            <p:cNvSpPr>
              <a:spLocks noChangeArrowheads="1"/>
            </p:cNvSpPr>
            <p:nvPr/>
          </p:nvSpPr>
          <p:spPr bwMode="auto">
            <a:xfrm>
              <a:off x="2982" y="3498"/>
              <a:ext cx="71" cy="60"/>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22283" name="Group 41"/>
          <p:cNvGrpSpPr>
            <a:grpSpLocks/>
          </p:cNvGrpSpPr>
          <p:nvPr/>
        </p:nvGrpSpPr>
        <p:grpSpPr bwMode="auto">
          <a:xfrm>
            <a:off x="3733800" y="2286000"/>
            <a:ext cx="1228725" cy="1752600"/>
            <a:chOff x="3696" y="960"/>
            <a:chExt cx="309" cy="441"/>
          </a:xfrm>
        </p:grpSpPr>
        <p:sp>
          <p:nvSpPr>
            <p:cNvPr id="522284" name="Freeform 42"/>
            <p:cNvSpPr>
              <a:spLocks/>
            </p:cNvSpPr>
            <p:nvPr/>
          </p:nvSpPr>
          <p:spPr bwMode="auto">
            <a:xfrm>
              <a:off x="3696" y="960"/>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dirty="0">
                <a:latin typeface="Courier New" pitchFamily="49" charset="0"/>
              </a:endParaRPr>
            </a:p>
          </p:txBody>
        </p:sp>
        <p:sp>
          <p:nvSpPr>
            <p:cNvPr id="522285" name="Freeform 43"/>
            <p:cNvSpPr>
              <a:spLocks/>
            </p:cNvSpPr>
            <p:nvPr/>
          </p:nvSpPr>
          <p:spPr bwMode="auto">
            <a:xfrm>
              <a:off x="3802" y="1105"/>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dirty="0">
                <a:latin typeface="Courier New" pitchFamily="49" charset="0"/>
              </a:endParaRPr>
            </a:p>
          </p:txBody>
        </p:sp>
        <p:sp>
          <p:nvSpPr>
            <p:cNvPr id="522286" name="Freeform 44"/>
            <p:cNvSpPr>
              <a:spLocks/>
            </p:cNvSpPr>
            <p:nvPr/>
          </p:nvSpPr>
          <p:spPr bwMode="auto">
            <a:xfrm>
              <a:off x="3737" y="998"/>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dirty="0">
                <a:latin typeface="Courier New" pitchFamily="49" charset="0"/>
              </a:endParaRPr>
            </a:p>
          </p:txBody>
        </p:sp>
        <p:sp>
          <p:nvSpPr>
            <p:cNvPr id="522287" name="Freeform 45"/>
            <p:cNvSpPr>
              <a:spLocks/>
            </p:cNvSpPr>
            <p:nvPr/>
          </p:nvSpPr>
          <p:spPr bwMode="auto">
            <a:xfrm>
              <a:off x="3816" y="1093"/>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dirty="0">
                <a:latin typeface="Courier New" pitchFamily="49" charset="0"/>
              </a:endParaRPr>
            </a:p>
          </p:txBody>
        </p:sp>
        <p:sp>
          <p:nvSpPr>
            <p:cNvPr id="522288" name="Freeform 46"/>
            <p:cNvSpPr>
              <a:spLocks/>
            </p:cNvSpPr>
            <p:nvPr/>
          </p:nvSpPr>
          <p:spPr bwMode="auto">
            <a:xfrm>
              <a:off x="3710" y="1045"/>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dirty="0">
                <a:latin typeface="Courier New" pitchFamily="49" charset="0"/>
              </a:endParaRPr>
            </a:p>
          </p:txBody>
        </p:sp>
        <p:sp>
          <p:nvSpPr>
            <p:cNvPr id="522289" name="Freeform 47"/>
            <p:cNvSpPr>
              <a:spLocks/>
            </p:cNvSpPr>
            <p:nvPr/>
          </p:nvSpPr>
          <p:spPr bwMode="auto">
            <a:xfrm>
              <a:off x="3787" y="1002"/>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dirty="0">
                <a:latin typeface="Courier New" pitchFamily="49" charset="0"/>
              </a:endParaRPr>
            </a:p>
          </p:txBody>
        </p:sp>
        <p:sp>
          <p:nvSpPr>
            <p:cNvPr id="522290" name="Freeform 48"/>
            <p:cNvSpPr>
              <a:spLocks/>
            </p:cNvSpPr>
            <p:nvPr/>
          </p:nvSpPr>
          <p:spPr bwMode="auto">
            <a:xfrm>
              <a:off x="3840" y="1255"/>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dirty="0">
                <a:latin typeface="Courier New" pitchFamily="49" charset="0"/>
              </a:endParaRPr>
            </a:p>
          </p:txBody>
        </p:sp>
      </p:grpSp>
      <p:sp>
        <p:nvSpPr>
          <p:cNvPr id="522291" name="Freeform 49"/>
          <p:cNvSpPr>
            <a:spLocks/>
          </p:cNvSpPr>
          <p:nvPr/>
        </p:nvSpPr>
        <p:spPr bwMode="auto">
          <a:xfrm>
            <a:off x="2971800" y="4572000"/>
            <a:ext cx="990600" cy="533400"/>
          </a:xfrm>
          <a:custGeom>
            <a:avLst/>
            <a:gdLst>
              <a:gd name="T0" fmla="*/ 0 w 624"/>
              <a:gd name="T1" fmla="*/ 2147483647 h 336"/>
              <a:gd name="T2" fmla="*/ 2147483647 w 624"/>
              <a:gd name="T3" fmla="*/ 2147483647 h 336"/>
              <a:gd name="T4" fmla="*/ 2147483647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cubicBezTo>
                  <a:pt x="140" y="292"/>
                  <a:pt x="280" y="248"/>
                  <a:pt x="384" y="192"/>
                </a:cubicBezTo>
                <a:cubicBezTo>
                  <a:pt x="488" y="136"/>
                  <a:pt x="556" y="68"/>
                  <a:pt x="624" y="0"/>
                </a:cubicBezTo>
              </a:path>
            </a:pathLst>
          </a:cu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522292" name="AutoShape 50"/>
          <p:cNvSpPr>
            <a:spLocks noChangeArrowheads="1"/>
          </p:cNvSpPr>
          <p:nvPr/>
        </p:nvSpPr>
        <p:spPr bwMode="auto">
          <a:xfrm>
            <a:off x="3048000" y="1676400"/>
            <a:ext cx="1524000" cy="685800"/>
          </a:xfrm>
          <a:prstGeom prst="cloudCallout">
            <a:avLst>
              <a:gd name="adj1" fmla="val -58542"/>
              <a:gd name="adj2" fmla="val 77315"/>
            </a:avLst>
          </a:prstGeom>
          <a:noFill/>
          <a:ln w="38100">
            <a:solidFill>
              <a:schemeClr val="folHlink"/>
            </a:solidFill>
            <a:round/>
            <a:headEnd/>
            <a:tailEnd/>
          </a:ln>
        </p:spPr>
        <p:txBody>
          <a:bodyPr anchor="ctr"/>
          <a:lstStyle/>
          <a:p>
            <a:pPr algn="ctr">
              <a:spcBef>
                <a:spcPct val="0"/>
              </a:spcBef>
            </a:pPr>
            <a:r>
              <a:rPr lang="en-US" sz="2800">
                <a:solidFill>
                  <a:schemeClr val="folHlink"/>
                </a:solidFill>
                <a:latin typeface="Arial" pitchFamily="34" charset="0"/>
                <a:cs typeface="Arial" pitchFamily="34" charset="0"/>
              </a:rPr>
              <a:t>put</a:t>
            </a:r>
          </a:p>
        </p:txBody>
      </p:sp>
      <p:sp>
        <p:nvSpPr>
          <p:cNvPr id="522293" name="AutoShape 51"/>
          <p:cNvSpPr>
            <a:spLocks noChangeArrowheads="1"/>
          </p:cNvSpPr>
          <p:nvPr/>
        </p:nvSpPr>
        <p:spPr bwMode="auto">
          <a:xfrm>
            <a:off x="4732338" y="5143500"/>
            <a:ext cx="3048000" cy="1295400"/>
          </a:xfrm>
          <a:prstGeom prst="wedgeRoundRectCallout">
            <a:avLst>
              <a:gd name="adj1" fmla="val -49685"/>
              <a:gd name="adj2" fmla="val -108579"/>
              <a:gd name="adj3" fmla="val 16667"/>
            </a:avLst>
          </a:prstGeom>
          <a:solidFill>
            <a:schemeClr val="bg1">
              <a:alpha val="85001"/>
            </a:schemeClr>
          </a:solidFill>
          <a:ln w="38100">
            <a:solidFill>
              <a:srgbClr val="FF0000"/>
            </a:solidFill>
            <a:miter lim="800000"/>
            <a:headEnd/>
            <a:tailEnd/>
          </a:ln>
        </p:spPr>
        <p:txBody>
          <a:bodyPr anchor="ctr"/>
          <a:lstStyle/>
          <a:p>
            <a:pPr algn="ctr">
              <a:spcBef>
                <a:spcPct val="0"/>
              </a:spcBef>
            </a:pPr>
            <a:r>
              <a:rPr lang="en-US" sz="2800" b="0">
                <a:solidFill>
                  <a:srgbClr val="FF0000"/>
                </a:solidFill>
                <a:latin typeface="Arial" pitchFamily="34" charset="0"/>
                <a:cs typeface="Arial" pitchFamily="34" charset="0"/>
              </a:rPr>
              <a:t>Problem: hot-spot contention</a:t>
            </a:r>
          </a:p>
        </p:txBody>
      </p:sp>
      <p:sp>
        <p:nvSpPr>
          <p:cNvPr id="522294" name="AutoShape 50"/>
          <p:cNvSpPr>
            <a:spLocks noChangeArrowheads="1"/>
          </p:cNvSpPr>
          <p:nvPr/>
        </p:nvSpPr>
        <p:spPr bwMode="auto">
          <a:xfrm>
            <a:off x="5334000" y="1676400"/>
            <a:ext cx="3505200" cy="1295400"/>
          </a:xfrm>
          <a:prstGeom prst="wedgeRoundRectCallout">
            <a:avLst>
              <a:gd name="adj1" fmla="val -64856"/>
              <a:gd name="adj2" fmla="val 138727"/>
              <a:gd name="adj3" fmla="val 16667"/>
            </a:avLst>
          </a:prstGeom>
          <a:solidFill>
            <a:schemeClr val="bg1">
              <a:alpha val="85001"/>
            </a:schemeClr>
          </a:solidFill>
          <a:ln w="38100">
            <a:solidFill>
              <a:srgbClr val="FF0000"/>
            </a:solidFill>
            <a:miter lim="800000"/>
            <a:headEnd/>
            <a:tailEnd/>
          </a:ln>
        </p:spPr>
        <p:txBody>
          <a:bodyPr anchor="ctr"/>
          <a:lstStyle/>
          <a:p>
            <a:pPr algn="ctr">
              <a:spcBef>
                <a:spcPct val="0"/>
              </a:spcBef>
            </a:pPr>
            <a:r>
              <a:rPr lang="en-US" sz="2800" b="0">
                <a:solidFill>
                  <a:srgbClr val="FF0000"/>
                </a:solidFill>
                <a:latin typeface="Arial" pitchFamily="34" charset="0"/>
                <a:cs typeface="Arial" pitchFamily="34" charset="0"/>
              </a:rPr>
              <a:t>Problem: sequential bottleneck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ooter Placeholder 3"/>
          <p:cNvSpPr txBox="1">
            <a:spLocks noGrp="1"/>
          </p:cNvSpPr>
          <p:nvPr/>
        </p:nvSpPr>
        <p:spPr bwMode="auto">
          <a:xfrm>
            <a:off x="3124200" y="6248400"/>
            <a:ext cx="2895600" cy="457200"/>
          </a:xfrm>
          <a:prstGeom prst="rect">
            <a:avLst/>
          </a:prstGeom>
          <a:noFill/>
          <a:ln>
            <a:miter lim="800000"/>
            <a:headEnd/>
            <a:tailEnd/>
          </a:ln>
        </p:spPr>
        <p:txBody>
          <a:bodyPr/>
          <a:lstStyle/>
          <a:p>
            <a:pPr algn="ctr">
              <a:spcBef>
                <a:spcPct val="0"/>
              </a:spcBef>
              <a:defRPr/>
            </a:pPr>
            <a:r>
              <a:rPr lang="en-US" sz="1400" b="0">
                <a:solidFill>
                  <a:schemeClr val="tx1"/>
                </a:solidFill>
                <a:latin typeface="Arial" pitchFamily="34" charset="0"/>
                <a:cs typeface="Arial" pitchFamily="34" charset="0"/>
              </a:rPr>
              <a:t>Art of Multiprocessor Programming</a:t>
            </a:r>
          </a:p>
        </p:txBody>
      </p:sp>
      <p:sp>
        <p:nvSpPr>
          <p:cNvPr id="53"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B707D2C1-6FE9-4C7D-BE35-3183CCB210A4}" type="slidenum">
              <a:rPr lang="en-US" sz="1400" b="0">
                <a:solidFill>
                  <a:schemeClr val="tx1"/>
                </a:solidFill>
                <a:latin typeface="Arial" pitchFamily="34" charset="0"/>
                <a:cs typeface="Arial" pitchFamily="34" charset="0"/>
              </a:rPr>
              <a:pPr algn="r">
                <a:spcBef>
                  <a:spcPct val="0"/>
                </a:spcBef>
                <a:defRPr/>
              </a:pPr>
              <a:t>6</a:t>
            </a:fld>
            <a:endParaRPr lang="en-US" sz="1400" b="0">
              <a:solidFill>
                <a:schemeClr val="tx1"/>
              </a:solidFill>
              <a:latin typeface="Arial" pitchFamily="34" charset="0"/>
              <a:cs typeface="Arial" pitchFamily="34" charset="0"/>
            </a:endParaRPr>
          </a:p>
        </p:txBody>
      </p:sp>
      <p:sp>
        <p:nvSpPr>
          <p:cNvPr id="524292" name="AutoShape 2"/>
          <p:cNvSpPr>
            <a:spLocks noChangeArrowheads="1"/>
          </p:cNvSpPr>
          <p:nvPr/>
        </p:nvSpPr>
        <p:spPr bwMode="auto">
          <a:xfrm>
            <a:off x="457200" y="4800600"/>
            <a:ext cx="1524000" cy="685800"/>
          </a:xfrm>
          <a:prstGeom prst="cloudCallout">
            <a:avLst>
              <a:gd name="adj1" fmla="val 26458"/>
              <a:gd name="adj2" fmla="val 88426"/>
            </a:avLst>
          </a:prstGeom>
          <a:noFill/>
          <a:ln w="38100">
            <a:solidFill>
              <a:schemeClr val="folHlink"/>
            </a:solidFill>
            <a:round/>
            <a:headEnd/>
            <a:tailEnd/>
          </a:ln>
        </p:spPr>
        <p:txBody>
          <a:bodyPr anchor="ctr"/>
          <a:lstStyle/>
          <a:p>
            <a:pPr algn="ctr">
              <a:spcBef>
                <a:spcPct val="0"/>
              </a:spcBef>
            </a:pPr>
            <a:r>
              <a:rPr lang="en-US" sz="2800">
                <a:solidFill>
                  <a:schemeClr val="folHlink"/>
                </a:solidFill>
                <a:latin typeface="Arial" pitchFamily="34" charset="0"/>
                <a:cs typeface="Arial" pitchFamily="34" charset="0"/>
              </a:rPr>
              <a:t>put</a:t>
            </a:r>
          </a:p>
        </p:txBody>
      </p:sp>
      <p:sp>
        <p:nvSpPr>
          <p:cNvPr id="524293" name="Freeform 3"/>
          <p:cNvSpPr>
            <a:spLocks/>
          </p:cNvSpPr>
          <p:nvPr/>
        </p:nvSpPr>
        <p:spPr bwMode="auto">
          <a:xfrm>
            <a:off x="2971800" y="3429000"/>
            <a:ext cx="3200400" cy="838200"/>
          </a:xfrm>
          <a:custGeom>
            <a:avLst/>
            <a:gdLst>
              <a:gd name="T0" fmla="*/ 0 w 2016"/>
              <a:gd name="T1" fmla="*/ 0 h 528"/>
              <a:gd name="T2" fmla="*/ 2147483647 w 2016"/>
              <a:gd name="T3" fmla="*/ 2147483647 h 528"/>
              <a:gd name="T4" fmla="*/ 2147483647 w 2016"/>
              <a:gd name="T5" fmla="*/ 0 h 528"/>
              <a:gd name="T6" fmla="*/ 0 60000 65536"/>
              <a:gd name="T7" fmla="*/ 0 60000 65536"/>
              <a:gd name="T8" fmla="*/ 0 60000 65536"/>
              <a:gd name="T9" fmla="*/ 0 w 2016"/>
              <a:gd name="T10" fmla="*/ 0 h 528"/>
              <a:gd name="T11" fmla="*/ 2016 w 2016"/>
              <a:gd name="T12" fmla="*/ 528 h 528"/>
            </a:gdLst>
            <a:ahLst/>
            <a:cxnLst>
              <a:cxn ang="T6">
                <a:pos x="T0" y="T1"/>
              </a:cxn>
              <a:cxn ang="T7">
                <a:pos x="T2" y="T3"/>
              </a:cxn>
              <a:cxn ang="T8">
                <a:pos x="T4" y="T5"/>
              </a:cxn>
            </a:cxnLst>
            <a:rect l="T9" t="T10" r="T11" b="T12"/>
            <a:pathLst>
              <a:path w="2016" h="528">
                <a:moveTo>
                  <a:pt x="0" y="0"/>
                </a:moveTo>
                <a:cubicBezTo>
                  <a:pt x="264" y="264"/>
                  <a:pt x="528" y="528"/>
                  <a:pt x="864" y="528"/>
                </a:cubicBezTo>
                <a:cubicBezTo>
                  <a:pt x="1200" y="528"/>
                  <a:pt x="1608" y="264"/>
                  <a:pt x="2016" y="0"/>
                </a:cubicBezTo>
              </a:path>
            </a:pathLst>
          </a:cu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524294" name="Rectangle 4"/>
          <p:cNvSpPr>
            <a:spLocks noGrp="1" noChangeArrowheads="1"/>
          </p:cNvSpPr>
          <p:nvPr>
            <p:ph type="title" idx="4294967295"/>
          </p:nvPr>
        </p:nvSpPr>
        <p:spPr/>
        <p:txBody>
          <a:bodyPr/>
          <a:lstStyle/>
          <a:p>
            <a:r>
              <a:rPr lang="en-US" sz="4000"/>
              <a:t>Simple Locking Implementation</a:t>
            </a:r>
          </a:p>
        </p:txBody>
      </p:sp>
      <p:grpSp>
        <p:nvGrpSpPr>
          <p:cNvPr id="524295" name="Group 5"/>
          <p:cNvGrpSpPr>
            <a:grpSpLocks/>
          </p:cNvGrpSpPr>
          <p:nvPr/>
        </p:nvGrpSpPr>
        <p:grpSpPr bwMode="auto">
          <a:xfrm>
            <a:off x="1600200" y="2362200"/>
            <a:ext cx="1447800" cy="1295400"/>
            <a:chOff x="1584" y="816"/>
            <a:chExt cx="912" cy="816"/>
          </a:xfrm>
        </p:grpSpPr>
        <p:sp>
          <p:nvSpPr>
            <p:cNvPr id="524296"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297"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298"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299"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00"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01"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02"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03"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04"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24305" name="Group 15"/>
          <p:cNvGrpSpPr>
            <a:grpSpLocks/>
          </p:cNvGrpSpPr>
          <p:nvPr/>
        </p:nvGrpSpPr>
        <p:grpSpPr bwMode="auto">
          <a:xfrm flipH="1">
            <a:off x="1676400" y="5105400"/>
            <a:ext cx="1447800" cy="1295400"/>
            <a:chOff x="1584" y="816"/>
            <a:chExt cx="912" cy="816"/>
          </a:xfrm>
        </p:grpSpPr>
        <p:sp>
          <p:nvSpPr>
            <p:cNvPr id="524306"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07"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08"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09"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10"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11"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12"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13"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14"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24315" name="Group 25"/>
          <p:cNvGrpSpPr>
            <a:grpSpLocks/>
          </p:cNvGrpSpPr>
          <p:nvPr/>
        </p:nvGrpSpPr>
        <p:grpSpPr bwMode="auto">
          <a:xfrm>
            <a:off x="3886200" y="3276600"/>
            <a:ext cx="906463" cy="1320800"/>
            <a:chOff x="2208" y="1920"/>
            <a:chExt cx="1152" cy="1680"/>
          </a:xfrm>
        </p:grpSpPr>
        <p:sp>
          <p:nvSpPr>
            <p:cNvPr id="524316" name="Oval 26"/>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17" name="Oval 27"/>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18" name="AutoShape 2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524319" name="AutoShape 2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524320" name="Rectangle 30"/>
          <p:cNvSpPr>
            <a:spLocks noChangeArrowheads="1"/>
          </p:cNvSpPr>
          <p:nvPr/>
        </p:nvSpPr>
        <p:spPr bwMode="auto">
          <a:xfrm>
            <a:off x="6400800" y="2514600"/>
            <a:ext cx="914400" cy="3657600"/>
          </a:xfrm>
          <a:prstGeom prst="rect">
            <a:avLst/>
          </a:prstGeom>
          <a:solidFill>
            <a:schemeClr val="fo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24321" name="Line 31"/>
          <p:cNvSpPr>
            <a:spLocks noChangeShapeType="1"/>
          </p:cNvSpPr>
          <p:nvPr/>
        </p:nvSpPr>
        <p:spPr bwMode="auto">
          <a:xfrm>
            <a:off x="6400800" y="30480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22" name="Line 32"/>
          <p:cNvSpPr>
            <a:spLocks noChangeShapeType="1"/>
          </p:cNvSpPr>
          <p:nvPr/>
        </p:nvSpPr>
        <p:spPr bwMode="auto">
          <a:xfrm>
            <a:off x="6400800" y="35814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23" name="Line 33"/>
          <p:cNvSpPr>
            <a:spLocks noChangeShapeType="1"/>
          </p:cNvSpPr>
          <p:nvPr/>
        </p:nvSpPr>
        <p:spPr bwMode="auto">
          <a:xfrm>
            <a:off x="6400800" y="40386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24" name="Line 34"/>
          <p:cNvSpPr>
            <a:spLocks noChangeShapeType="1"/>
          </p:cNvSpPr>
          <p:nvPr/>
        </p:nvSpPr>
        <p:spPr bwMode="auto">
          <a:xfrm>
            <a:off x="6400800" y="57150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524325" name="Group 35"/>
          <p:cNvGrpSpPr>
            <a:grpSpLocks/>
          </p:cNvGrpSpPr>
          <p:nvPr/>
        </p:nvGrpSpPr>
        <p:grpSpPr bwMode="auto">
          <a:xfrm>
            <a:off x="6642100" y="2590800"/>
            <a:ext cx="430213" cy="341313"/>
            <a:chOff x="2828" y="3460"/>
            <a:chExt cx="271" cy="215"/>
          </a:xfrm>
        </p:grpSpPr>
        <p:sp>
          <p:nvSpPr>
            <p:cNvPr id="524326" name="Oval 36"/>
            <p:cNvSpPr>
              <a:spLocks noChangeArrowheads="1"/>
            </p:cNvSpPr>
            <p:nvPr/>
          </p:nvSpPr>
          <p:spPr bwMode="auto">
            <a:xfrm>
              <a:off x="2828" y="3460"/>
              <a:ext cx="271" cy="215"/>
            </a:xfrm>
            <a:prstGeom prst="ellipse">
              <a:avLst/>
            </a:prstGeom>
            <a:solidFill>
              <a:schemeClr val="bg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27" name="Oval 37"/>
            <p:cNvSpPr>
              <a:spLocks noChangeArrowheads="1"/>
            </p:cNvSpPr>
            <p:nvPr/>
          </p:nvSpPr>
          <p:spPr bwMode="auto">
            <a:xfrm>
              <a:off x="2982" y="3498"/>
              <a:ext cx="71" cy="60"/>
            </a:xfrm>
            <a:prstGeom prst="ellipse">
              <a:avLst/>
            </a:prstGeom>
            <a:solidFill>
              <a:schemeClr val="folHlink"/>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24328" name="Group 38"/>
          <p:cNvGrpSpPr>
            <a:grpSpLocks/>
          </p:cNvGrpSpPr>
          <p:nvPr/>
        </p:nvGrpSpPr>
        <p:grpSpPr bwMode="auto">
          <a:xfrm>
            <a:off x="6656388" y="3124200"/>
            <a:ext cx="430212" cy="341313"/>
            <a:chOff x="2828" y="3460"/>
            <a:chExt cx="271" cy="215"/>
          </a:xfrm>
        </p:grpSpPr>
        <p:sp>
          <p:nvSpPr>
            <p:cNvPr id="524329" name="Oval 39"/>
            <p:cNvSpPr>
              <a:spLocks noChangeArrowheads="1"/>
            </p:cNvSpPr>
            <p:nvPr/>
          </p:nvSpPr>
          <p:spPr bwMode="auto">
            <a:xfrm>
              <a:off x="2828" y="3460"/>
              <a:ext cx="271" cy="215"/>
            </a:xfrm>
            <a:prstGeom prst="ellipse">
              <a:avLst/>
            </a:prstGeom>
            <a:solidFill>
              <a:schemeClr val="bg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4330" name="Oval 40"/>
            <p:cNvSpPr>
              <a:spLocks noChangeArrowheads="1"/>
            </p:cNvSpPr>
            <p:nvPr/>
          </p:nvSpPr>
          <p:spPr bwMode="auto">
            <a:xfrm>
              <a:off x="2982" y="3498"/>
              <a:ext cx="71" cy="60"/>
            </a:xfrm>
            <a:prstGeom prst="ellipse">
              <a:avLst/>
            </a:prstGeom>
            <a:solidFill>
              <a:schemeClr val="folHlink"/>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24331" name="Group 41"/>
          <p:cNvGrpSpPr>
            <a:grpSpLocks/>
          </p:cNvGrpSpPr>
          <p:nvPr/>
        </p:nvGrpSpPr>
        <p:grpSpPr bwMode="auto">
          <a:xfrm>
            <a:off x="3733800" y="2286000"/>
            <a:ext cx="1228725" cy="1752600"/>
            <a:chOff x="3696" y="960"/>
            <a:chExt cx="309" cy="441"/>
          </a:xfrm>
        </p:grpSpPr>
        <p:sp>
          <p:nvSpPr>
            <p:cNvPr id="524332" name="Freeform 42"/>
            <p:cNvSpPr>
              <a:spLocks/>
            </p:cNvSpPr>
            <p:nvPr/>
          </p:nvSpPr>
          <p:spPr bwMode="auto">
            <a:xfrm>
              <a:off x="3696" y="960"/>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pitchFamily="34" charset="0"/>
                <a:cs typeface="Arial" pitchFamily="34" charset="0"/>
              </a:endParaRPr>
            </a:p>
          </p:txBody>
        </p:sp>
        <p:sp>
          <p:nvSpPr>
            <p:cNvPr id="524333" name="Freeform 43"/>
            <p:cNvSpPr>
              <a:spLocks/>
            </p:cNvSpPr>
            <p:nvPr/>
          </p:nvSpPr>
          <p:spPr bwMode="auto">
            <a:xfrm>
              <a:off x="3802" y="1105"/>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524334" name="Freeform 44"/>
            <p:cNvSpPr>
              <a:spLocks/>
            </p:cNvSpPr>
            <p:nvPr/>
          </p:nvSpPr>
          <p:spPr bwMode="auto">
            <a:xfrm>
              <a:off x="3737" y="998"/>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a:latin typeface="Arial" pitchFamily="34" charset="0"/>
                <a:cs typeface="Arial" pitchFamily="34" charset="0"/>
              </a:endParaRPr>
            </a:p>
          </p:txBody>
        </p:sp>
        <p:sp>
          <p:nvSpPr>
            <p:cNvPr id="524335" name="Freeform 45"/>
            <p:cNvSpPr>
              <a:spLocks/>
            </p:cNvSpPr>
            <p:nvPr/>
          </p:nvSpPr>
          <p:spPr bwMode="auto">
            <a:xfrm>
              <a:off x="3816" y="1093"/>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524336" name="Freeform 46"/>
            <p:cNvSpPr>
              <a:spLocks/>
            </p:cNvSpPr>
            <p:nvPr/>
          </p:nvSpPr>
          <p:spPr bwMode="auto">
            <a:xfrm>
              <a:off x="3710" y="1045"/>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a:latin typeface="Arial" pitchFamily="34" charset="0"/>
                <a:cs typeface="Arial" pitchFamily="34" charset="0"/>
              </a:endParaRPr>
            </a:p>
          </p:txBody>
        </p:sp>
        <p:sp>
          <p:nvSpPr>
            <p:cNvPr id="524337" name="Freeform 47"/>
            <p:cNvSpPr>
              <a:spLocks/>
            </p:cNvSpPr>
            <p:nvPr/>
          </p:nvSpPr>
          <p:spPr bwMode="auto">
            <a:xfrm>
              <a:off x="3787" y="1002"/>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524338" name="Freeform 48"/>
            <p:cNvSpPr>
              <a:spLocks/>
            </p:cNvSpPr>
            <p:nvPr/>
          </p:nvSpPr>
          <p:spPr bwMode="auto">
            <a:xfrm>
              <a:off x="3840" y="1255"/>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a:latin typeface="Arial" pitchFamily="34" charset="0"/>
                <a:cs typeface="Arial" pitchFamily="34" charset="0"/>
              </a:endParaRPr>
            </a:p>
          </p:txBody>
        </p:sp>
      </p:grpSp>
      <p:sp>
        <p:nvSpPr>
          <p:cNvPr id="524339" name="Freeform 49"/>
          <p:cNvSpPr>
            <a:spLocks/>
          </p:cNvSpPr>
          <p:nvPr/>
        </p:nvSpPr>
        <p:spPr bwMode="auto">
          <a:xfrm>
            <a:off x="2971800" y="4572000"/>
            <a:ext cx="990600" cy="533400"/>
          </a:xfrm>
          <a:custGeom>
            <a:avLst/>
            <a:gdLst>
              <a:gd name="T0" fmla="*/ 0 w 624"/>
              <a:gd name="T1" fmla="*/ 2147483647 h 336"/>
              <a:gd name="T2" fmla="*/ 2147483647 w 624"/>
              <a:gd name="T3" fmla="*/ 2147483647 h 336"/>
              <a:gd name="T4" fmla="*/ 2147483647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cubicBezTo>
                  <a:pt x="140" y="292"/>
                  <a:pt x="280" y="248"/>
                  <a:pt x="384" y="192"/>
                </a:cubicBezTo>
                <a:cubicBezTo>
                  <a:pt x="488" y="136"/>
                  <a:pt x="556" y="68"/>
                  <a:pt x="624" y="0"/>
                </a:cubicBezTo>
              </a:path>
            </a:pathLst>
          </a:cu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524340" name="AutoShape 50"/>
          <p:cNvSpPr>
            <a:spLocks noChangeArrowheads="1"/>
          </p:cNvSpPr>
          <p:nvPr/>
        </p:nvSpPr>
        <p:spPr bwMode="auto">
          <a:xfrm>
            <a:off x="3048000" y="1676400"/>
            <a:ext cx="1524000" cy="685800"/>
          </a:xfrm>
          <a:prstGeom prst="cloudCallout">
            <a:avLst>
              <a:gd name="adj1" fmla="val -58542"/>
              <a:gd name="adj2" fmla="val 77315"/>
            </a:avLst>
          </a:prstGeom>
          <a:noFill/>
          <a:ln w="38100">
            <a:solidFill>
              <a:schemeClr val="folHlink"/>
            </a:solidFill>
            <a:round/>
            <a:headEnd/>
            <a:tailEnd/>
          </a:ln>
        </p:spPr>
        <p:txBody>
          <a:bodyPr anchor="ctr"/>
          <a:lstStyle/>
          <a:p>
            <a:pPr algn="ctr">
              <a:spcBef>
                <a:spcPct val="0"/>
              </a:spcBef>
            </a:pPr>
            <a:r>
              <a:rPr lang="en-US" sz="2800">
                <a:solidFill>
                  <a:schemeClr val="folHlink"/>
                </a:solidFill>
                <a:latin typeface="Arial" pitchFamily="34" charset="0"/>
                <a:cs typeface="Arial" pitchFamily="34" charset="0"/>
              </a:rPr>
              <a:t>put</a:t>
            </a:r>
          </a:p>
        </p:txBody>
      </p:sp>
      <p:sp>
        <p:nvSpPr>
          <p:cNvPr id="524341" name="AutoShape 51"/>
          <p:cNvSpPr>
            <a:spLocks noChangeArrowheads="1"/>
          </p:cNvSpPr>
          <p:nvPr/>
        </p:nvSpPr>
        <p:spPr bwMode="auto">
          <a:xfrm>
            <a:off x="4732338" y="5143500"/>
            <a:ext cx="3048000" cy="1295400"/>
          </a:xfrm>
          <a:prstGeom prst="wedgeRoundRectCallout">
            <a:avLst>
              <a:gd name="adj1" fmla="val -49685"/>
              <a:gd name="adj2" fmla="val -108579"/>
              <a:gd name="adj3" fmla="val 16667"/>
            </a:avLst>
          </a:prstGeom>
          <a:solidFill>
            <a:schemeClr val="bg1">
              <a:alpha val="85001"/>
            </a:schemeClr>
          </a:solidFill>
          <a:ln w="38100">
            <a:solidFill>
              <a:srgbClr val="FF0000"/>
            </a:solidFill>
            <a:miter lim="800000"/>
            <a:headEnd/>
            <a:tailEnd/>
          </a:ln>
        </p:spPr>
        <p:txBody>
          <a:bodyPr anchor="ctr"/>
          <a:lstStyle/>
          <a:p>
            <a:pPr algn="ctr">
              <a:spcBef>
                <a:spcPct val="0"/>
              </a:spcBef>
            </a:pPr>
            <a:r>
              <a:rPr lang="en-US" sz="2800" b="0">
                <a:solidFill>
                  <a:srgbClr val="FF0000"/>
                </a:solidFill>
                <a:latin typeface="Arial" pitchFamily="34" charset="0"/>
                <a:cs typeface="Arial" pitchFamily="34" charset="0"/>
              </a:rPr>
              <a:t>Problem: hot-spot contention</a:t>
            </a:r>
          </a:p>
        </p:txBody>
      </p:sp>
      <p:sp>
        <p:nvSpPr>
          <p:cNvPr id="524342" name="AutoShape 50"/>
          <p:cNvSpPr>
            <a:spLocks noChangeArrowheads="1"/>
          </p:cNvSpPr>
          <p:nvPr/>
        </p:nvSpPr>
        <p:spPr bwMode="auto">
          <a:xfrm>
            <a:off x="5334000" y="1676400"/>
            <a:ext cx="3505200" cy="1295400"/>
          </a:xfrm>
          <a:prstGeom prst="wedgeRoundRectCallout">
            <a:avLst>
              <a:gd name="adj1" fmla="val -64856"/>
              <a:gd name="adj2" fmla="val 138727"/>
              <a:gd name="adj3" fmla="val 16667"/>
            </a:avLst>
          </a:prstGeom>
          <a:solidFill>
            <a:schemeClr val="bg1">
              <a:alpha val="85001"/>
            </a:schemeClr>
          </a:solidFill>
          <a:ln w="38100">
            <a:solidFill>
              <a:srgbClr val="FF0000"/>
            </a:solidFill>
            <a:miter lim="800000"/>
            <a:headEnd/>
            <a:tailEnd/>
          </a:ln>
        </p:spPr>
        <p:txBody>
          <a:bodyPr anchor="ctr"/>
          <a:lstStyle/>
          <a:p>
            <a:pPr algn="ctr">
              <a:spcBef>
                <a:spcPct val="0"/>
              </a:spcBef>
            </a:pPr>
            <a:r>
              <a:rPr lang="en-US" sz="2800" b="0">
                <a:solidFill>
                  <a:srgbClr val="FF0000"/>
                </a:solidFill>
                <a:latin typeface="Arial" pitchFamily="34" charset="0"/>
                <a:cs typeface="Arial" pitchFamily="34" charset="0"/>
              </a:rPr>
              <a:t>Problem: sequential bottleneck</a:t>
            </a:r>
          </a:p>
        </p:txBody>
      </p:sp>
      <p:sp>
        <p:nvSpPr>
          <p:cNvPr id="524343" name="AutoShape 53"/>
          <p:cNvSpPr>
            <a:spLocks noChangeArrowheads="1"/>
          </p:cNvSpPr>
          <p:nvPr/>
        </p:nvSpPr>
        <p:spPr bwMode="auto">
          <a:xfrm>
            <a:off x="5457825" y="5562600"/>
            <a:ext cx="2884488" cy="1179513"/>
          </a:xfrm>
          <a:prstGeom prst="wedgeRoundRectCallout">
            <a:avLst>
              <a:gd name="adj1" fmla="val -76306"/>
              <a:gd name="adj2" fmla="val -147037"/>
              <a:gd name="adj3" fmla="val 16667"/>
            </a:avLst>
          </a:prstGeom>
          <a:solidFill>
            <a:schemeClr val="bg1">
              <a:alpha val="80000"/>
            </a:schemeClr>
          </a:solidFill>
          <a:ln w="38100">
            <a:solidFill>
              <a:schemeClr val="accent2"/>
            </a:solidFill>
            <a:miter lim="800000"/>
            <a:headEnd/>
            <a:tailEnd/>
          </a:ln>
        </p:spPr>
        <p:txBody>
          <a:bodyPr anchor="ctr"/>
          <a:lstStyle/>
          <a:p>
            <a:pPr algn="ctr">
              <a:spcBef>
                <a:spcPct val="0"/>
              </a:spcBef>
            </a:pPr>
            <a:r>
              <a:rPr lang="en-US" sz="2800" b="0">
                <a:solidFill>
                  <a:schemeClr val="accent2"/>
                </a:solidFill>
                <a:latin typeface="Arial" pitchFamily="34" charset="0"/>
                <a:cs typeface="Arial" pitchFamily="34" charset="0"/>
              </a:rPr>
              <a:t>Solution: Queue Lock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ooter Placeholder 3"/>
          <p:cNvSpPr txBox="1">
            <a:spLocks noGrp="1"/>
          </p:cNvSpPr>
          <p:nvPr/>
        </p:nvSpPr>
        <p:spPr bwMode="auto">
          <a:xfrm>
            <a:off x="3124200" y="6248400"/>
            <a:ext cx="2895600" cy="457200"/>
          </a:xfrm>
          <a:prstGeom prst="rect">
            <a:avLst/>
          </a:prstGeom>
          <a:noFill/>
          <a:ln>
            <a:miter lim="800000"/>
            <a:headEnd/>
            <a:tailEnd/>
          </a:ln>
        </p:spPr>
        <p:txBody>
          <a:bodyPr/>
          <a:lstStyle/>
          <a:p>
            <a:pPr algn="ctr">
              <a:spcBef>
                <a:spcPct val="0"/>
              </a:spcBef>
              <a:defRPr/>
            </a:pPr>
            <a:r>
              <a:rPr lang="en-US" sz="1400" b="0">
                <a:solidFill>
                  <a:schemeClr val="tx1"/>
                </a:solidFill>
                <a:latin typeface="Arial" pitchFamily="34" charset="0"/>
                <a:cs typeface="Arial" pitchFamily="34" charset="0"/>
              </a:rPr>
              <a:t>Art of Multiprocessor Programming</a:t>
            </a:r>
          </a:p>
        </p:txBody>
      </p:sp>
      <p:sp>
        <p:nvSpPr>
          <p:cNvPr id="53"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303B91F0-073E-443A-9B1F-027E79D8DB20}" type="slidenum">
              <a:rPr lang="en-US" sz="1400" b="0">
                <a:solidFill>
                  <a:schemeClr val="tx1"/>
                </a:solidFill>
                <a:latin typeface="Arial" pitchFamily="34" charset="0"/>
                <a:cs typeface="Arial" pitchFamily="34" charset="0"/>
              </a:rPr>
              <a:pPr algn="r">
                <a:spcBef>
                  <a:spcPct val="0"/>
                </a:spcBef>
                <a:defRPr/>
              </a:pPr>
              <a:t>7</a:t>
            </a:fld>
            <a:endParaRPr lang="en-US" sz="1400" b="0">
              <a:solidFill>
                <a:schemeClr val="tx1"/>
              </a:solidFill>
              <a:latin typeface="Arial" pitchFamily="34" charset="0"/>
              <a:cs typeface="Arial" pitchFamily="34" charset="0"/>
            </a:endParaRPr>
          </a:p>
        </p:txBody>
      </p:sp>
      <p:sp>
        <p:nvSpPr>
          <p:cNvPr id="526340" name="AutoShape 2"/>
          <p:cNvSpPr>
            <a:spLocks noChangeArrowheads="1"/>
          </p:cNvSpPr>
          <p:nvPr/>
        </p:nvSpPr>
        <p:spPr bwMode="auto">
          <a:xfrm>
            <a:off x="457200" y="4800600"/>
            <a:ext cx="1524000" cy="685800"/>
          </a:xfrm>
          <a:prstGeom prst="cloudCallout">
            <a:avLst>
              <a:gd name="adj1" fmla="val 26458"/>
              <a:gd name="adj2" fmla="val 88426"/>
            </a:avLst>
          </a:prstGeom>
          <a:noFill/>
          <a:ln w="38100">
            <a:solidFill>
              <a:schemeClr val="folHlink"/>
            </a:solidFill>
            <a:round/>
            <a:headEnd/>
            <a:tailEnd/>
          </a:ln>
        </p:spPr>
        <p:txBody>
          <a:bodyPr anchor="ctr"/>
          <a:lstStyle/>
          <a:p>
            <a:pPr algn="ctr">
              <a:spcBef>
                <a:spcPct val="0"/>
              </a:spcBef>
            </a:pPr>
            <a:r>
              <a:rPr lang="en-US" sz="2800">
                <a:solidFill>
                  <a:schemeClr val="folHlink"/>
                </a:solidFill>
                <a:latin typeface="Arial" pitchFamily="34" charset="0"/>
                <a:cs typeface="Arial" pitchFamily="34" charset="0"/>
              </a:rPr>
              <a:t>put</a:t>
            </a:r>
          </a:p>
        </p:txBody>
      </p:sp>
      <p:sp>
        <p:nvSpPr>
          <p:cNvPr id="526341" name="Freeform 3"/>
          <p:cNvSpPr>
            <a:spLocks/>
          </p:cNvSpPr>
          <p:nvPr/>
        </p:nvSpPr>
        <p:spPr bwMode="auto">
          <a:xfrm>
            <a:off x="2971800" y="3429000"/>
            <a:ext cx="3200400" cy="838200"/>
          </a:xfrm>
          <a:custGeom>
            <a:avLst/>
            <a:gdLst>
              <a:gd name="T0" fmla="*/ 0 w 2016"/>
              <a:gd name="T1" fmla="*/ 0 h 528"/>
              <a:gd name="T2" fmla="*/ 2147483647 w 2016"/>
              <a:gd name="T3" fmla="*/ 2147483647 h 528"/>
              <a:gd name="T4" fmla="*/ 2147483647 w 2016"/>
              <a:gd name="T5" fmla="*/ 0 h 528"/>
              <a:gd name="T6" fmla="*/ 0 60000 65536"/>
              <a:gd name="T7" fmla="*/ 0 60000 65536"/>
              <a:gd name="T8" fmla="*/ 0 60000 65536"/>
              <a:gd name="T9" fmla="*/ 0 w 2016"/>
              <a:gd name="T10" fmla="*/ 0 h 528"/>
              <a:gd name="T11" fmla="*/ 2016 w 2016"/>
              <a:gd name="T12" fmla="*/ 528 h 528"/>
            </a:gdLst>
            <a:ahLst/>
            <a:cxnLst>
              <a:cxn ang="T6">
                <a:pos x="T0" y="T1"/>
              </a:cxn>
              <a:cxn ang="T7">
                <a:pos x="T2" y="T3"/>
              </a:cxn>
              <a:cxn ang="T8">
                <a:pos x="T4" y="T5"/>
              </a:cxn>
            </a:cxnLst>
            <a:rect l="T9" t="T10" r="T11" b="T12"/>
            <a:pathLst>
              <a:path w="2016" h="528">
                <a:moveTo>
                  <a:pt x="0" y="0"/>
                </a:moveTo>
                <a:cubicBezTo>
                  <a:pt x="264" y="264"/>
                  <a:pt x="528" y="528"/>
                  <a:pt x="864" y="528"/>
                </a:cubicBezTo>
                <a:cubicBezTo>
                  <a:pt x="1200" y="528"/>
                  <a:pt x="1608" y="264"/>
                  <a:pt x="2016" y="0"/>
                </a:cubicBezTo>
              </a:path>
            </a:pathLst>
          </a:cu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526342" name="Rectangle 4"/>
          <p:cNvSpPr>
            <a:spLocks noGrp="1" noChangeArrowheads="1"/>
          </p:cNvSpPr>
          <p:nvPr>
            <p:ph type="title" idx="4294967295"/>
          </p:nvPr>
        </p:nvSpPr>
        <p:spPr/>
        <p:txBody>
          <a:bodyPr/>
          <a:lstStyle/>
          <a:p>
            <a:r>
              <a:rPr lang="en-US" sz="4000"/>
              <a:t>Simple Locking Implementation</a:t>
            </a:r>
          </a:p>
        </p:txBody>
      </p:sp>
      <p:grpSp>
        <p:nvGrpSpPr>
          <p:cNvPr id="526343" name="Group 5"/>
          <p:cNvGrpSpPr>
            <a:grpSpLocks/>
          </p:cNvGrpSpPr>
          <p:nvPr/>
        </p:nvGrpSpPr>
        <p:grpSpPr bwMode="auto">
          <a:xfrm>
            <a:off x="1600200" y="2362200"/>
            <a:ext cx="1447800" cy="1295400"/>
            <a:chOff x="1584" y="816"/>
            <a:chExt cx="912" cy="816"/>
          </a:xfrm>
        </p:grpSpPr>
        <p:sp>
          <p:nvSpPr>
            <p:cNvPr id="526344"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45"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46"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47"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48"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49"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50"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51"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52"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26353" name="Group 15"/>
          <p:cNvGrpSpPr>
            <a:grpSpLocks/>
          </p:cNvGrpSpPr>
          <p:nvPr/>
        </p:nvGrpSpPr>
        <p:grpSpPr bwMode="auto">
          <a:xfrm flipH="1">
            <a:off x="1676400" y="5105400"/>
            <a:ext cx="1447800" cy="1295400"/>
            <a:chOff x="1584" y="816"/>
            <a:chExt cx="912" cy="816"/>
          </a:xfrm>
        </p:grpSpPr>
        <p:sp>
          <p:nvSpPr>
            <p:cNvPr id="526354"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55"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56"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57"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58"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59"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60"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61"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62"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26363" name="Group 25"/>
          <p:cNvGrpSpPr>
            <a:grpSpLocks/>
          </p:cNvGrpSpPr>
          <p:nvPr/>
        </p:nvGrpSpPr>
        <p:grpSpPr bwMode="auto">
          <a:xfrm>
            <a:off x="3886200" y="3276600"/>
            <a:ext cx="906463" cy="1320800"/>
            <a:chOff x="2208" y="1920"/>
            <a:chExt cx="1152" cy="1680"/>
          </a:xfrm>
        </p:grpSpPr>
        <p:sp>
          <p:nvSpPr>
            <p:cNvPr id="526364" name="Oval 26"/>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65" name="Oval 27"/>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66" name="AutoShape 2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526367" name="AutoShape 2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526368" name="Rectangle 30"/>
          <p:cNvSpPr>
            <a:spLocks noChangeArrowheads="1"/>
          </p:cNvSpPr>
          <p:nvPr/>
        </p:nvSpPr>
        <p:spPr bwMode="auto">
          <a:xfrm>
            <a:off x="6400800" y="2514600"/>
            <a:ext cx="914400" cy="3657600"/>
          </a:xfrm>
          <a:prstGeom prst="rect">
            <a:avLst/>
          </a:prstGeom>
          <a:solidFill>
            <a:schemeClr val="folHlink"/>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526369" name="Line 31"/>
          <p:cNvSpPr>
            <a:spLocks noChangeShapeType="1"/>
          </p:cNvSpPr>
          <p:nvPr/>
        </p:nvSpPr>
        <p:spPr bwMode="auto">
          <a:xfrm>
            <a:off x="6400800" y="30480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70" name="Line 32"/>
          <p:cNvSpPr>
            <a:spLocks noChangeShapeType="1"/>
          </p:cNvSpPr>
          <p:nvPr/>
        </p:nvSpPr>
        <p:spPr bwMode="auto">
          <a:xfrm>
            <a:off x="6400800" y="35814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71" name="Line 33"/>
          <p:cNvSpPr>
            <a:spLocks noChangeShapeType="1"/>
          </p:cNvSpPr>
          <p:nvPr/>
        </p:nvSpPr>
        <p:spPr bwMode="auto">
          <a:xfrm>
            <a:off x="6400800" y="40386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72" name="Line 34"/>
          <p:cNvSpPr>
            <a:spLocks noChangeShapeType="1"/>
          </p:cNvSpPr>
          <p:nvPr/>
        </p:nvSpPr>
        <p:spPr bwMode="auto">
          <a:xfrm>
            <a:off x="6400800" y="57150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526373" name="Group 35"/>
          <p:cNvGrpSpPr>
            <a:grpSpLocks/>
          </p:cNvGrpSpPr>
          <p:nvPr/>
        </p:nvGrpSpPr>
        <p:grpSpPr bwMode="auto">
          <a:xfrm>
            <a:off x="6642100" y="2590800"/>
            <a:ext cx="430213" cy="341313"/>
            <a:chOff x="2828" y="3460"/>
            <a:chExt cx="271" cy="215"/>
          </a:xfrm>
        </p:grpSpPr>
        <p:sp>
          <p:nvSpPr>
            <p:cNvPr id="526374" name="Oval 36"/>
            <p:cNvSpPr>
              <a:spLocks noChangeArrowheads="1"/>
            </p:cNvSpPr>
            <p:nvPr/>
          </p:nvSpPr>
          <p:spPr bwMode="auto">
            <a:xfrm>
              <a:off x="2828" y="3460"/>
              <a:ext cx="271" cy="215"/>
            </a:xfrm>
            <a:prstGeom prst="ellipse">
              <a:avLst/>
            </a:prstGeom>
            <a:solidFill>
              <a:schemeClr val="bg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75" name="Oval 37"/>
            <p:cNvSpPr>
              <a:spLocks noChangeArrowheads="1"/>
            </p:cNvSpPr>
            <p:nvPr/>
          </p:nvSpPr>
          <p:spPr bwMode="auto">
            <a:xfrm>
              <a:off x="2982" y="3498"/>
              <a:ext cx="71" cy="60"/>
            </a:xfrm>
            <a:prstGeom prst="ellipse">
              <a:avLst/>
            </a:prstGeom>
            <a:solidFill>
              <a:schemeClr val="folHlink"/>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26376" name="Group 38"/>
          <p:cNvGrpSpPr>
            <a:grpSpLocks/>
          </p:cNvGrpSpPr>
          <p:nvPr/>
        </p:nvGrpSpPr>
        <p:grpSpPr bwMode="auto">
          <a:xfrm>
            <a:off x="6656388" y="3124200"/>
            <a:ext cx="430212" cy="341313"/>
            <a:chOff x="2828" y="3460"/>
            <a:chExt cx="271" cy="215"/>
          </a:xfrm>
        </p:grpSpPr>
        <p:sp>
          <p:nvSpPr>
            <p:cNvPr id="526377" name="Oval 39"/>
            <p:cNvSpPr>
              <a:spLocks noChangeArrowheads="1"/>
            </p:cNvSpPr>
            <p:nvPr/>
          </p:nvSpPr>
          <p:spPr bwMode="auto">
            <a:xfrm>
              <a:off x="2828" y="3460"/>
              <a:ext cx="271" cy="215"/>
            </a:xfrm>
            <a:prstGeom prst="ellipse">
              <a:avLst/>
            </a:prstGeom>
            <a:solidFill>
              <a:schemeClr val="bg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6378" name="Oval 40"/>
            <p:cNvSpPr>
              <a:spLocks noChangeArrowheads="1"/>
            </p:cNvSpPr>
            <p:nvPr/>
          </p:nvSpPr>
          <p:spPr bwMode="auto">
            <a:xfrm>
              <a:off x="2982" y="3498"/>
              <a:ext cx="71" cy="60"/>
            </a:xfrm>
            <a:prstGeom prst="ellipse">
              <a:avLst/>
            </a:prstGeom>
            <a:solidFill>
              <a:schemeClr val="folHlink"/>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26379" name="Group 41"/>
          <p:cNvGrpSpPr>
            <a:grpSpLocks/>
          </p:cNvGrpSpPr>
          <p:nvPr/>
        </p:nvGrpSpPr>
        <p:grpSpPr bwMode="auto">
          <a:xfrm>
            <a:off x="3733800" y="2286000"/>
            <a:ext cx="1228725" cy="1752600"/>
            <a:chOff x="3696" y="960"/>
            <a:chExt cx="309" cy="441"/>
          </a:xfrm>
        </p:grpSpPr>
        <p:sp>
          <p:nvSpPr>
            <p:cNvPr id="526380" name="Freeform 42"/>
            <p:cNvSpPr>
              <a:spLocks/>
            </p:cNvSpPr>
            <p:nvPr/>
          </p:nvSpPr>
          <p:spPr bwMode="auto">
            <a:xfrm>
              <a:off x="3696" y="960"/>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pitchFamily="34" charset="0"/>
                <a:cs typeface="Arial" pitchFamily="34" charset="0"/>
              </a:endParaRPr>
            </a:p>
          </p:txBody>
        </p:sp>
        <p:sp>
          <p:nvSpPr>
            <p:cNvPr id="526381" name="Freeform 43"/>
            <p:cNvSpPr>
              <a:spLocks/>
            </p:cNvSpPr>
            <p:nvPr/>
          </p:nvSpPr>
          <p:spPr bwMode="auto">
            <a:xfrm>
              <a:off x="3802" y="1105"/>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526382" name="Freeform 44"/>
            <p:cNvSpPr>
              <a:spLocks/>
            </p:cNvSpPr>
            <p:nvPr/>
          </p:nvSpPr>
          <p:spPr bwMode="auto">
            <a:xfrm>
              <a:off x="3737" y="998"/>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a:latin typeface="Arial" pitchFamily="34" charset="0"/>
                <a:cs typeface="Arial" pitchFamily="34" charset="0"/>
              </a:endParaRPr>
            </a:p>
          </p:txBody>
        </p:sp>
        <p:sp>
          <p:nvSpPr>
            <p:cNvPr id="526383" name="Freeform 45"/>
            <p:cNvSpPr>
              <a:spLocks/>
            </p:cNvSpPr>
            <p:nvPr/>
          </p:nvSpPr>
          <p:spPr bwMode="auto">
            <a:xfrm>
              <a:off x="3816" y="1093"/>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526384" name="Freeform 46"/>
            <p:cNvSpPr>
              <a:spLocks/>
            </p:cNvSpPr>
            <p:nvPr/>
          </p:nvSpPr>
          <p:spPr bwMode="auto">
            <a:xfrm>
              <a:off x="3710" y="1045"/>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a:latin typeface="Arial" pitchFamily="34" charset="0"/>
                <a:cs typeface="Arial" pitchFamily="34" charset="0"/>
              </a:endParaRPr>
            </a:p>
          </p:txBody>
        </p:sp>
        <p:sp>
          <p:nvSpPr>
            <p:cNvPr id="526385" name="Freeform 47"/>
            <p:cNvSpPr>
              <a:spLocks/>
            </p:cNvSpPr>
            <p:nvPr/>
          </p:nvSpPr>
          <p:spPr bwMode="auto">
            <a:xfrm>
              <a:off x="3787" y="1002"/>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526386" name="Freeform 48"/>
            <p:cNvSpPr>
              <a:spLocks/>
            </p:cNvSpPr>
            <p:nvPr/>
          </p:nvSpPr>
          <p:spPr bwMode="auto">
            <a:xfrm>
              <a:off x="3840" y="1255"/>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a:latin typeface="Arial" pitchFamily="34" charset="0"/>
                <a:cs typeface="Arial" pitchFamily="34" charset="0"/>
              </a:endParaRPr>
            </a:p>
          </p:txBody>
        </p:sp>
      </p:grpSp>
      <p:sp>
        <p:nvSpPr>
          <p:cNvPr id="526387" name="Freeform 49"/>
          <p:cNvSpPr>
            <a:spLocks/>
          </p:cNvSpPr>
          <p:nvPr/>
        </p:nvSpPr>
        <p:spPr bwMode="auto">
          <a:xfrm>
            <a:off x="2971800" y="4572000"/>
            <a:ext cx="990600" cy="533400"/>
          </a:xfrm>
          <a:custGeom>
            <a:avLst/>
            <a:gdLst>
              <a:gd name="T0" fmla="*/ 0 w 624"/>
              <a:gd name="T1" fmla="*/ 2147483647 h 336"/>
              <a:gd name="T2" fmla="*/ 2147483647 w 624"/>
              <a:gd name="T3" fmla="*/ 2147483647 h 336"/>
              <a:gd name="T4" fmla="*/ 2147483647 w 624"/>
              <a:gd name="T5" fmla="*/ 0 h 336"/>
              <a:gd name="T6" fmla="*/ 0 60000 65536"/>
              <a:gd name="T7" fmla="*/ 0 60000 65536"/>
              <a:gd name="T8" fmla="*/ 0 60000 65536"/>
              <a:gd name="T9" fmla="*/ 0 w 624"/>
              <a:gd name="T10" fmla="*/ 0 h 336"/>
              <a:gd name="T11" fmla="*/ 624 w 624"/>
              <a:gd name="T12" fmla="*/ 336 h 336"/>
            </a:gdLst>
            <a:ahLst/>
            <a:cxnLst>
              <a:cxn ang="T6">
                <a:pos x="T0" y="T1"/>
              </a:cxn>
              <a:cxn ang="T7">
                <a:pos x="T2" y="T3"/>
              </a:cxn>
              <a:cxn ang="T8">
                <a:pos x="T4" y="T5"/>
              </a:cxn>
            </a:cxnLst>
            <a:rect l="T9" t="T10" r="T11" b="T12"/>
            <a:pathLst>
              <a:path w="624" h="336">
                <a:moveTo>
                  <a:pt x="0" y="336"/>
                </a:moveTo>
                <a:cubicBezTo>
                  <a:pt x="140" y="292"/>
                  <a:pt x="280" y="248"/>
                  <a:pt x="384" y="192"/>
                </a:cubicBezTo>
                <a:cubicBezTo>
                  <a:pt x="488" y="136"/>
                  <a:pt x="556" y="68"/>
                  <a:pt x="624" y="0"/>
                </a:cubicBezTo>
              </a:path>
            </a:pathLst>
          </a:custGeom>
          <a:noFill/>
          <a:ln w="76200">
            <a:solidFill>
              <a:schemeClr val="folHlink"/>
            </a:solidFill>
            <a:round/>
            <a:headEnd/>
            <a:tailEnd type="triangle" w="med" len="med"/>
          </a:ln>
        </p:spPr>
        <p:txBody>
          <a:bodyPr wrap="none" anchor="ctr"/>
          <a:lstStyle/>
          <a:p>
            <a:endParaRPr lang="en-US">
              <a:latin typeface="Arial" pitchFamily="34" charset="0"/>
              <a:cs typeface="Arial" pitchFamily="34" charset="0"/>
            </a:endParaRPr>
          </a:p>
        </p:txBody>
      </p:sp>
      <p:sp>
        <p:nvSpPr>
          <p:cNvPr id="526388" name="AutoShape 50"/>
          <p:cNvSpPr>
            <a:spLocks noChangeArrowheads="1"/>
          </p:cNvSpPr>
          <p:nvPr/>
        </p:nvSpPr>
        <p:spPr bwMode="auto">
          <a:xfrm>
            <a:off x="3048000" y="1676400"/>
            <a:ext cx="1524000" cy="685800"/>
          </a:xfrm>
          <a:prstGeom prst="cloudCallout">
            <a:avLst>
              <a:gd name="adj1" fmla="val -58542"/>
              <a:gd name="adj2" fmla="val 77315"/>
            </a:avLst>
          </a:prstGeom>
          <a:noFill/>
          <a:ln w="38100">
            <a:solidFill>
              <a:schemeClr val="folHlink"/>
            </a:solidFill>
            <a:round/>
            <a:headEnd/>
            <a:tailEnd/>
          </a:ln>
        </p:spPr>
        <p:txBody>
          <a:bodyPr anchor="ctr"/>
          <a:lstStyle/>
          <a:p>
            <a:pPr algn="ctr">
              <a:spcBef>
                <a:spcPct val="0"/>
              </a:spcBef>
            </a:pPr>
            <a:r>
              <a:rPr lang="en-US" sz="2800">
                <a:solidFill>
                  <a:schemeClr val="folHlink"/>
                </a:solidFill>
                <a:latin typeface="Arial" pitchFamily="34" charset="0"/>
                <a:cs typeface="Arial" pitchFamily="34" charset="0"/>
              </a:rPr>
              <a:t>put</a:t>
            </a:r>
          </a:p>
        </p:txBody>
      </p:sp>
      <p:sp>
        <p:nvSpPr>
          <p:cNvPr id="526389" name="AutoShape 51"/>
          <p:cNvSpPr>
            <a:spLocks noChangeArrowheads="1"/>
          </p:cNvSpPr>
          <p:nvPr/>
        </p:nvSpPr>
        <p:spPr bwMode="auto">
          <a:xfrm>
            <a:off x="4732338" y="5143500"/>
            <a:ext cx="3048000" cy="1295400"/>
          </a:xfrm>
          <a:prstGeom prst="wedgeRoundRectCallout">
            <a:avLst>
              <a:gd name="adj1" fmla="val -49685"/>
              <a:gd name="adj2" fmla="val -108579"/>
              <a:gd name="adj3" fmla="val 16667"/>
            </a:avLst>
          </a:prstGeom>
          <a:solidFill>
            <a:schemeClr val="bg1"/>
          </a:solidFill>
          <a:ln w="38100">
            <a:solidFill>
              <a:srgbClr val="FF0000"/>
            </a:solidFill>
            <a:miter lim="800000"/>
            <a:headEnd/>
            <a:tailEnd/>
          </a:ln>
        </p:spPr>
        <p:txBody>
          <a:bodyPr anchor="ctr"/>
          <a:lstStyle/>
          <a:p>
            <a:pPr algn="ctr">
              <a:spcBef>
                <a:spcPct val="0"/>
              </a:spcBef>
            </a:pPr>
            <a:r>
              <a:rPr lang="en-US" sz="2800" b="0">
                <a:solidFill>
                  <a:srgbClr val="FF0000"/>
                </a:solidFill>
                <a:latin typeface="Arial" pitchFamily="34" charset="0"/>
                <a:cs typeface="Arial" pitchFamily="34" charset="0"/>
              </a:rPr>
              <a:t>Problem: hot-spot contention</a:t>
            </a:r>
          </a:p>
        </p:txBody>
      </p:sp>
      <p:sp>
        <p:nvSpPr>
          <p:cNvPr id="526390" name="AutoShape 50"/>
          <p:cNvSpPr>
            <a:spLocks noChangeArrowheads="1"/>
          </p:cNvSpPr>
          <p:nvPr/>
        </p:nvSpPr>
        <p:spPr bwMode="auto">
          <a:xfrm>
            <a:off x="5334000" y="1676400"/>
            <a:ext cx="3505200" cy="1295400"/>
          </a:xfrm>
          <a:prstGeom prst="wedgeRoundRectCallout">
            <a:avLst>
              <a:gd name="adj1" fmla="val -64856"/>
              <a:gd name="adj2" fmla="val 138727"/>
              <a:gd name="adj3" fmla="val 16667"/>
            </a:avLst>
          </a:prstGeom>
          <a:solidFill>
            <a:schemeClr val="bg1"/>
          </a:solidFill>
          <a:ln w="38100">
            <a:solidFill>
              <a:srgbClr val="FF0000"/>
            </a:solidFill>
            <a:miter lim="800000"/>
            <a:headEnd/>
            <a:tailEnd/>
          </a:ln>
        </p:spPr>
        <p:txBody>
          <a:bodyPr anchor="ctr"/>
          <a:lstStyle/>
          <a:p>
            <a:pPr algn="ctr">
              <a:spcBef>
                <a:spcPct val="0"/>
              </a:spcBef>
            </a:pPr>
            <a:r>
              <a:rPr lang="en-US" sz="2800" b="0">
                <a:solidFill>
                  <a:srgbClr val="FF0000"/>
                </a:solidFill>
                <a:latin typeface="Arial" pitchFamily="34" charset="0"/>
                <a:cs typeface="Arial" pitchFamily="34" charset="0"/>
              </a:rPr>
              <a:t>Problem: sequential bottleneck</a:t>
            </a:r>
          </a:p>
        </p:txBody>
      </p:sp>
      <p:sp>
        <p:nvSpPr>
          <p:cNvPr id="526391" name="AutoShape 53"/>
          <p:cNvSpPr>
            <a:spLocks noChangeArrowheads="1"/>
          </p:cNvSpPr>
          <p:nvPr/>
        </p:nvSpPr>
        <p:spPr bwMode="auto">
          <a:xfrm>
            <a:off x="5457825" y="5562600"/>
            <a:ext cx="2884488" cy="1179513"/>
          </a:xfrm>
          <a:prstGeom prst="wedgeRoundRectCallout">
            <a:avLst>
              <a:gd name="adj1" fmla="val -76306"/>
              <a:gd name="adj2" fmla="val -147037"/>
              <a:gd name="adj3" fmla="val 16667"/>
            </a:avLst>
          </a:prstGeom>
          <a:solidFill>
            <a:schemeClr val="bg1">
              <a:alpha val="80000"/>
            </a:schemeClr>
          </a:solidFill>
          <a:ln w="38100">
            <a:solidFill>
              <a:schemeClr val="accent2"/>
            </a:solidFill>
            <a:miter lim="800000"/>
            <a:headEnd/>
            <a:tailEnd/>
          </a:ln>
        </p:spPr>
        <p:txBody>
          <a:bodyPr anchor="ctr"/>
          <a:lstStyle/>
          <a:p>
            <a:pPr algn="ctr">
              <a:spcBef>
                <a:spcPct val="0"/>
              </a:spcBef>
            </a:pPr>
            <a:r>
              <a:rPr lang="en-US" sz="2800" b="0">
                <a:solidFill>
                  <a:schemeClr val="accent2"/>
                </a:solidFill>
                <a:latin typeface="Arial" pitchFamily="34" charset="0"/>
                <a:cs typeface="Arial" pitchFamily="34" charset="0"/>
              </a:rPr>
              <a:t>Solution: Queue Lock</a:t>
            </a:r>
          </a:p>
        </p:txBody>
      </p:sp>
      <p:sp>
        <p:nvSpPr>
          <p:cNvPr id="526392" name="AutoShape 54"/>
          <p:cNvSpPr>
            <a:spLocks noChangeArrowheads="1"/>
          </p:cNvSpPr>
          <p:nvPr/>
        </p:nvSpPr>
        <p:spPr bwMode="auto">
          <a:xfrm>
            <a:off x="7086600" y="2401888"/>
            <a:ext cx="1952625" cy="874712"/>
          </a:xfrm>
          <a:prstGeom prst="wedgeRoundRectCallout">
            <a:avLst>
              <a:gd name="adj1" fmla="val -171139"/>
              <a:gd name="adj2" fmla="val 152903"/>
              <a:gd name="adj3" fmla="val 16667"/>
            </a:avLst>
          </a:prstGeom>
          <a:solidFill>
            <a:schemeClr val="bg1">
              <a:alpha val="80000"/>
            </a:schemeClr>
          </a:solidFill>
          <a:ln w="38100">
            <a:solidFill>
              <a:schemeClr val="accent2"/>
            </a:solidFill>
            <a:miter lim="800000"/>
            <a:headEnd/>
            <a:tailEnd/>
          </a:ln>
        </p:spPr>
        <p:txBody>
          <a:bodyPr anchor="ctr"/>
          <a:lstStyle/>
          <a:p>
            <a:pPr algn="ctr">
              <a:spcBef>
                <a:spcPct val="0"/>
              </a:spcBef>
            </a:pPr>
            <a:r>
              <a:rPr lang="en-US" sz="2800" b="0" dirty="0">
                <a:solidFill>
                  <a:schemeClr val="accent2"/>
                </a:solidFill>
                <a:latin typeface="Arial" pitchFamily="34" charset="0"/>
                <a:cs typeface="Arial" pitchFamily="34" charset="0"/>
              </a:rPr>
              <a:t>Solution:?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Footer Placeholder 3"/>
          <p:cNvSpPr>
            <a:spLocks noGrp="1"/>
          </p:cNvSpPr>
          <p:nvPr>
            <p:ph type="ftr" sz="quarter" idx="10"/>
          </p:nvPr>
        </p:nvSpPr>
        <p:spPr/>
        <p:txBody>
          <a:bodyPr/>
          <a:lstStyle/>
          <a:p>
            <a:pPr>
              <a:defRPr/>
            </a:pPr>
            <a:r>
              <a:rPr lang="en-US"/>
              <a:t>Art of Multiprocessor Programming</a:t>
            </a:r>
          </a:p>
        </p:txBody>
      </p:sp>
      <p:sp>
        <p:nvSpPr>
          <p:cNvPr id="61" name="Slide Number Placeholder 4"/>
          <p:cNvSpPr>
            <a:spLocks noGrp="1"/>
          </p:cNvSpPr>
          <p:nvPr>
            <p:ph type="sldNum" sz="quarter" idx="11"/>
          </p:nvPr>
        </p:nvSpPr>
        <p:spPr/>
        <p:txBody>
          <a:bodyPr/>
          <a:lstStyle/>
          <a:p>
            <a:pPr>
              <a:defRPr/>
            </a:pPr>
            <a:fld id="{9A7279F2-4B02-4F9D-9D82-C05F3FF31F79}" type="slidenum">
              <a:rPr lang="en-US"/>
              <a:pPr>
                <a:defRPr/>
              </a:pPr>
              <a:t>8</a:t>
            </a:fld>
            <a:endParaRPr lang="en-US"/>
          </a:p>
        </p:txBody>
      </p:sp>
      <p:sp>
        <p:nvSpPr>
          <p:cNvPr id="11268" name="Rectangle 2"/>
          <p:cNvSpPr>
            <a:spLocks noGrp="1" noChangeArrowheads="1"/>
          </p:cNvSpPr>
          <p:nvPr>
            <p:ph type="title"/>
          </p:nvPr>
        </p:nvSpPr>
        <p:spPr/>
        <p:txBody>
          <a:bodyPr/>
          <a:lstStyle/>
          <a:p>
            <a:r>
              <a:rPr lang="en-US"/>
              <a:t>Counting Implementation</a:t>
            </a:r>
          </a:p>
        </p:txBody>
      </p:sp>
      <p:grpSp>
        <p:nvGrpSpPr>
          <p:cNvPr id="11269" name="Group 3"/>
          <p:cNvGrpSpPr>
            <a:grpSpLocks/>
          </p:cNvGrpSpPr>
          <p:nvPr/>
        </p:nvGrpSpPr>
        <p:grpSpPr bwMode="auto">
          <a:xfrm>
            <a:off x="660400" y="2374900"/>
            <a:ext cx="1447800" cy="1295400"/>
            <a:chOff x="1584" y="816"/>
            <a:chExt cx="912" cy="816"/>
          </a:xfrm>
        </p:grpSpPr>
        <p:sp>
          <p:nvSpPr>
            <p:cNvPr id="11317"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8"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9"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20"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21"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22"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23"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24"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25"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70" name="Group 13"/>
          <p:cNvGrpSpPr>
            <a:grpSpLocks/>
          </p:cNvGrpSpPr>
          <p:nvPr/>
        </p:nvGrpSpPr>
        <p:grpSpPr bwMode="auto">
          <a:xfrm>
            <a:off x="6121400" y="4914900"/>
            <a:ext cx="1447800" cy="1295400"/>
            <a:chOff x="1584" y="816"/>
            <a:chExt cx="912" cy="816"/>
          </a:xfrm>
        </p:grpSpPr>
        <p:sp>
          <p:nvSpPr>
            <p:cNvPr id="11308" name="Freeform 1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9" name="Freeform 1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0" name="Freeform 1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1" name="Freeform 1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2" name="Freeform 1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3" name="Freeform 1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4" name="Freeform 2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5" name="Freeform 2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16" name="Freeform 2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1271" name="Rectangle 23"/>
          <p:cNvSpPr>
            <a:spLocks noChangeArrowheads="1"/>
          </p:cNvSpPr>
          <p:nvPr/>
        </p:nvSpPr>
        <p:spPr bwMode="auto">
          <a:xfrm>
            <a:off x="3708400" y="2133600"/>
            <a:ext cx="914400" cy="3657600"/>
          </a:xfrm>
          <a:prstGeom prst="rect">
            <a:avLst/>
          </a:prstGeom>
          <a:solidFill>
            <a:srgbClr val="FF7C8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272" name="Line 24"/>
          <p:cNvSpPr>
            <a:spLocks noChangeShapeType="1"/>
          </p:cNvSpPr>
          <p:nvPr/>
        </p:nvSpPr>
        <p:spPr bwMode="auto">
          <a:xfrm>
            <a:off x="3708400" y="31369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73" name="Line 25"/>
          <p:cNvSpPr>
            <a:spLocks noChangeShapeType="1"/>
          </p:cNvSpPr>
          <p:nvPr/>
        </p:nvSpPr>
        <p:spPr bwMode="auto">
          <a:xfrm>
            <a:off x="3708400" y="36703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74" name="Line 26"/>
          <p:cNvSpPr>
            <a:spLocks noChangeShapeType="1"/>
          </p:cNvSpPr>
          <p:nvPr/>
        </p:nvSpPr>
        <p:spPr bwMode="auto">
          <a:xfrm>
            <a:off x="3708400" y="42037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75" name="Line 27"/>
          <p:cNvSpPr>
            <a:spLocks noChangeShapeType="1"/>
          </p:cNvSpPr>
          <p:nvPr/>
        </p:nvSpPr>
        <p:spPr bwMode="auto">
          <a:xfrm>
            <a:off x="3708400" y="53340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1276" name="Group 28"/>
          <p:cNvGrpSpPr>
            <a:grpSpLocks/>
          </p:cNvGrpSpPr>
          <p:nvPr/>
        </p:nvGrpSpPr>
        <p:grpSpPr bwMode="auto">
          <a:xfrm>
            <a:off x="3951288" y="3746500"/>
            <a:ext cx="430212" cy="341313"/>
            <a:chOff x="2828" y="3460"/>
            <a:chExt cx="271" cy="215"/>
          </a:xfrm>
        </p:grpSpPr>
        <p:sp>
          <p:nvSpPr>
            <p:cNvPr id="11306" name="Oval 29"/>
            <p:cNvSpPr>
              <a:spLocks noChangeArrowheads="1"/>
            </p:cNvSpPr>
            <p:nvPr/>
          </p:nvSpPr>
          <p:spPr bwMode="auto">
            <a:xfrm>
              <a:off x="2828" y="3460"/>
              <a:ext cx="271" cy="215"/>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7" name="Oval 30"/>
            <p:cNvSpPr>
              <a:spLocks noChangeArrowheads="1"/>
            </p:cNvSpPr>
            <p:nvPr/>
          </p:nvSpPr>
          <p:spPr bwMode="auto">
            <a:xfrm>
              <a:off x="2982" y="3498"/>
              <a:ext cx="71" cy="60"/>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77" name="Group 31"/>
          <p:cNvGrpSpPr>
            <a:grpSpLocks/>
          </p:cNvGrpSpPr>
          <p:nvPr/>
        </p:nvGrpSpPr>
        <p:grpSpPr bwMode="auto">
          <a:xfrm>
            <a:off x="2235200" y="3263900"/>
            <a:ext cx="879475" cy="1905000"/>
            <a:chOff x="2663" y="2544"/>
            <a:chExt cx="554" cy="1200"/>
          </a:xfrm>
        </p:grpSpPr>
        <p:sp>
          <p:nvSpPr>
            <p:cNvPr id="11298" name="AutoShape 32"/>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99" name="AutoShape 33"/>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300" name="Oval 34"/>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301" name="Line 35"/>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1302" name="Line 36"/>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1303" name="Text Box 37"/>
            <p:cNvSpPr txBox="1">
              <a:spLocks noChangeArrowheads="1"/>
            </p:cNvSpPr>
            <p:nvPr/>
          </p:nvSpPr>
          <p:spPr bwMode="auto">
            <a:xfrm>
              <a:off x="2824" y="2736"/>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19</a:t>
              </a:r>
            </a:p>
          </p:txBody>
        </p:sp>
        <p:sp>
          <p:nvSpPr>
            <p:cNvPr id="11304" name="Text Box 38"/>
            <p:cNvSpPr txBox="1">
              <a:spLocks noChangeArrowheads="1"/>
            </p:cNvSpPr>
            <p:nvPr/>
          </p:nvSpPr>
          <p:spPr bwMode="auto">
            <a:xfrm>
              <a:off x="2776" y="3110"/>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20</a:t>
              </a:r>
            </a:p>
          </p:txBody>
        </p:sp>
        <p:sp>
          <p:nvSpPr>
            <p:cNvPr id="11305" name="Text Box 39"/>
            <p:cNvSpPr txBox="1">
              <a:spLocks noChangeArrowheads="1"/>
            </p:cNvSpPr>
            <p:nvPr/>
          </p:nvSpPr>
          <p:spPr bwMode="auto">
            <a:xfrm>
              <a:off x="2824" y="3456"/>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21</a:t>
              </a:r>
            </a:p>
          </p:txBody>
        </p:sp>
      </p:grpSp>
      <p:sp>
        <p:nvSpPr>
          <p:cNvPr id="11278" name="Freeform 40"/>
          <p:cNvSpPr>
            <a:spLocks/>
          </p:cNvSpPr>
          <p:nvPr/>
        </p:nvSpPr>
        <p:spPr bwMode="auto">
          <a:xfrm>
            <a:off x="1955800" y="3403600"/>
            <a:ext cx="1930400" cy="1589088"/>
          </a:xfrm>
          <a:custGeom>
            <a:avLst/>
            <a:gdLst>
              <a:gd name="T0" fmla="*/ 0 w 1216"/>
              <a:gd name="T1" fmla="*/ 0 h 1001"/>
              <a:gd name="T2" fmla="*/ 2147483647 w 1216"/>
              <a:gd name="T3" fmla="*/ 2147483647 h 1001"/>
              <a:gd name="T4" fmla="*/ 2147483647 w 1216"/>
              <a:gd name="T5" fmla="*/ 2147483647 h 1001"/>
              <a:gd name="T6" fmla="*/ 0 60000 65536"/>
              <a:gd name="T7" fmla="*/ 0 60000 65536"/>
              <a:gd name="T8" fmla="*/ 0 60000 65536"/>
              <a:gd name="T9" fmla="*/ 0 w 1216"/>
              <a:gd name="T10" fmla="*/ 0 h 1001"/>
              <a:gd name="T11" fmla="*/ 1216 w 1216"/>
              <a:gd name="T12" fmla="*/ 1001 h 1001"/>
            </a:gdLst>
            <a:ahLst/>
            <a:cxnLst>
              <a:cxn ang="T6">
                <a:pos x="T0" y="T1"/>
              </a:cxn>
              <a:cxn ang="T7">
                <a:pos x="T2" y="T3"/>
              </a:cxn>
              <a:cxn ang="T8">
                <a:pos x="T4" y="T5"/>
              </a:cxn>
            </a:cxnLst>
            <a:rect l="T9" t="T10" r="T11" b="T12"/>
            <a:pathLst>
              <a:path w="1216" h="1001">
                <a:moveTo>
                  <a:pt x="0" y="0"/>
                </a:moveTo>
                <a:cubicBezTo>
                  <a:pt x="84" y="155"/>
                  <a:pt x="301" y="855"/>
                  <a:pt x="504" y="928"/>
                </a:cubicBezTo>
                <a:cubicBezTo>
                  <a:pt x="707" y="1001"/>
                  <a:pt x="1068" y="542"/>
                  <a:pt x="1216" y="440"/>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1279" name="Freeform 41"/>
          <p:cNvSpPr>
            <a:spLocks/>
          </p:cNvSpPr>
          <p:nvPr/>
        </p:nvSpPr>
        <p:spPr bwMode="auto">
          <a:xfrm>
            <a:off x="4546600" y="2806700"/>
            <a:ext cx="2043113" cy="2082800"/>
          </a:xfrm>
          <a:custGeom>
            <a:avLst/>
            <a:gdLst>
              <a:gd name="T0" fmla="*/ 2147483647 w 1287"/>
              <a:gd name="T1" fmla="*/ 2147483647 h 1312"/>
              <a:gd name="T2" fmla="*/ 2147483647 w 1287"/>
              <a:gd name="T3" fmla="*/ 2147483647 h 1312"/>
              <a:gd name="T4" fmla="*/ 0 w 1287"/>
              <a:gd name="T5" fmla="*/ 0 h 1312"/>
              <a:gd name="T6" fmla="*/ 0 60000 65536"/>
              <a:gd name="T7" fmla="*/ 0 60000 65536"/>
              <a:gd name="T8" fmla="*/ 0 60000 65536"/>
              <a:gd name="T9" fmla="*/ 0 w 1287"/>
              <a:gd name="T10" fmla="*/ 0 h 1312"/>
              <a:gd name="T11" fmla="*/ 1287 w 1287"/>
              <a:gd name="T12" fmla="*/ 1312 h 1312"/>
            </a:gdLst>
            <a:ahLst/>
            <a:cxnLst>
              <a:cxn ang="T6">
                <a:pos x="T0" y="T1"/>
              </a:cxn>
              <a:cxn ang="T7">
                <a:pos x="T2" y="T3"/>
              </a:cxn>
              <a:cxn ang="T8">
                <a:pos x="T4" y="T5"/>
              </a:cxn>
            </a:cxnLst>
            <a:rect l="T9" t="T10" r="T11" b="T12"/>
            <a:pathLst>
              <a:path w="1287" h="1312">
                <a:moveTo>
                  <a:pt x="1096" y="1312"/>
                </a:moveTo>
                <a:cubicBezTo>
                  <a:pt x="1097" y="1157"/>
                  <a:pt x="1287" y="603"/>
                  <a:pt x="1104" y="384"/>
                </a:cubicBezTo>
                <a:cubicBezTo>
                  <a:pt x="921" y="165"/>
                  <a:pt x="230" y="80"/>
                  <a:pt x="0"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1280" name="AutoShape 43"/>
          <p:cNvSpPr>
            <a:spLocks noChangeArrowheads="1"/>
          </p:cNvSpPr>
          <p:nvPr/>
        </p:nvSpPr>
        <p:spPr bwMode="auto">
          <a:xfrm>
            <a:off x="6527800" y="3733800"/>
            <a:ext cx="2235200" cy="685800"/>
          </a:xfrm>
          <a:prstGeom prst="cloudCallout">
            <a:avLst>
              <a:gd name="adj1" fmla="val -34801"/>
              <a:gd name="adj2" fmla="val 112500"/>
            </a:avLst>
          </a:prstGeom>
          <a:noFill/>
          <a:ln w="38100">
            <a:solidFill>
              <a:schemeClr val="accent2"/>
            </a:solidFill>
            <a:round/>
            <a:headEnd/>
            <a:tailEnd/>
          </a:ln>
        </p:spPr>
        <p:txBody>
          <a:bodyPr anchor="ctr"/>
          <a:lstStyle/>
          <a:p>
            <a:pPr algn="ctr">
              <a:spcBef>
                <a:spcPct val="0"/>
              </a:spcBef>
            </a:pPr>
            <a:r>
              <a:rPr lang="en-US" sz="2800">
                <a:solidFill>
                  <a:schemeClr val="accent2"/>
                </a:solidFill>
                <a:latin typeface="Arial" pitchFamily="34" charset="0"/>
                <a:cs typeface="Arial" pitchFamily="34" charset="0"/>
              </a:rPr>
              <a:t>remove</a:t>
            </a:r>
          </a:p>
        </p:txBody>
      </p:sp>
      <p:sp>
        <p:nvSpPr>
          <p:cNvPr id="11281" name="AutoShape 44"/>
          <p:cNvSpPr>
            <a:spLocks noChangeArrowheads="1"/>
          </p:cNvSpPr>
          <p:nvPr/>
        </p:nvSpPr>
        <p:spPr bwMode="auto">
          <a:xfrm>
            <a:off x="2006600" y="1714500"/>
            <a:ext cx="1524000" cy="685800"/>
          </a:xfrm>
          <a:prstGeom prst="cloudCallout">
            <a:avLst>
              <a:gd name="adj1" fmla="val -58542"/>
              <a:gd name="adj2" fmla="val 77315"/>
            </a:avLst>
          </a:prstGeom>
          <a:noFill/>
          <a:ln w="38100">
            <a:solidFill>
              <a:srgbClr val="FF5050"/>
            </a:solidFill>
            <a:round/>
            <a:headEnd/>
            <a:tailEnd/>
          </a:ln>
        </p:spPr>
        <p:txBody>
          <a:bodyPr anchor="ctr"/>
          <a:lstStyle/>
          <a:p>
            <a:pPr algn="ctr">
              <a:spcBef>
                <a:spcPct val="0"/>
              </a:spcBef>
            </a:pPr>
            <a:r>
              <a:rPr lang="en-US" sz="2800">
                <a:solidFill>
                  <a:srgbClr val="FF5050"/>
                </a:solidFill>
                <a:latin typeface="Arial" pitchFamily="34" charset="0"/>
                <a:cs typeface="Arial" pitchFamily="34" charset="0"/>
              </a:rPr>
              <a:t>put</a:t>
            </a:r>
          </a:p>
        </p:txBody>
      </p:sp>
      <p:grpSp>
        <p:nvGrpSpPr>
          <p:cNvPr id="11282" name="Group 45"/>
          <p:cNvGrpSpPr>
            <a:grpSpLocks/>
          </p:cNvGrpSpPr>
          <p:nvPr/>
        </p:nvGrpSpPr>
        <p:grpSpPr bwMode="auto">
          <a:xfrm>
            <a:off x="3951288" y="2679700"/>
            <a:ext cx="430212" cy="341313"/>
            <a:chOff x="2828" y="3460"/>
            <a:chExt cx="271" cy="215"/>
          </a:xfrm>
        </p:grpSpPr>
        <p:sp>
          <p:nvSpPr>
            <p:cNvPr id="11296" name="Oval 46"/>
            <p:cNvSpPr>
              <a:spLocks noChangeArrowheads="1"/>
            </p:cNvSpPr>
            <p:nvPr/>
          </p:nvSpPr>
          <p:spPr bwMode="auto">
            <a:xfrm>
              <a:off x="2828" y="3460"/>
              <a:ext cx="271" cy="215"/>
            </a:xfrm>
            <a:prstGeom prst="ellipse">
              <a:avLst/>
            </a:pr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97" name="Oval 47"/>
            <p:cNvSpPr>
              <a:spLocks noChangeArrowheads="1"/>
            </p:cNvSpPr>
            <p:nvPr/>
          </p:nvSpPr>
          <p:spPr bwMode="auto">
            <a:xfrm>
              <a:off x="2982" y="3498"/>
              <a:ext cx="71" cy="60"/>
            </a:xfrm>
            <a:prstGeom prst="ellipse">
              <a:avLst/>
            </a:prstGeom>
            <a:solidFill>
              <a:srgbClr val="FFFF99"/>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83" name="Group 48"/>
          <p:cNvGrpSpPr>
            <a:grpSpLocks/>
          </p:cNvGrpSpPr>
          <p:nvPr/>
        </p:nvGrpSpPr>
        <p:grpSpPr bwMode="auto">
          <a:xfrm>
            <a:off x="3951288" y="3213100"/>
            <a:ext cx="430212" cy="341313"/>
            <a:chOff x="2828" y="3460"/>
            <a:chExt cx="271" cy="215"/>
          </a:xfrm>
        </p:grpSpPr>
        <p:sp>
          <p:nvSpPr>
            <p:cNvPr id="11294" name="Oval 49"/>
            <p:cNvSpPr>
              <a:spLocks noChangeArrowheads="1"/>
            </p:cNvSpPr>
            <p:nvPr/>
          </p:nvSpPr>
          <p:spPr bwMode="auto">
            <a:xfrm>
              <a:off x="2828" y="3460"/>
              <a:ext cx="271" cy="215"/>
            </a:xfrm>
            <a:prstGeom prst="ellipse">
              <a:avLst/>
            </a:prstGeom>
            <a:solidFill>
              <a:srgbClr val="FF505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95" name="Oval 50"/>
            <p:cNvSpPr>
              <a:spLocks noChangeArrowheads="1"/>
            </p:cNvSpPr>
            <p:nvPr/>
          </p:nvSpPr>
          <p:spPr bwMode="auto">
            <a:xfrm>
              <a:off x="2982" y="3498"/>
              <a:ext cx="71" cy="60"/>
            </a:xfrm>
            <a:prstGeom prst="ellipse">
              <a:avLst/>
            </a:prstGeom>
            <a:solidFill>
              <a:srgbClr val="FF9999"/>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84" name="Group 51"/>
          <p:cNvGrpSpPr>
            <a:grpSpLocks/>
          </p:cNvGrpSpPr>
          <p:nvPr/>
        </p:nvGrpSpPr>
        <p:grpSpPr bwMode="auto">
          <a:xfrm>
            <a:off x="5689600" y="2819400"/>
            <a:ext cx="879475" cy="1905000"/>
            <a:chOff x="2663" y="2544"/>
            <a:chExt cx="554" cy="1200"/>
          </a:xfrm>
        </p:grpSpPr>
        <p:sp>
          <p:nvSpPr>
            <p:cNvPr id="11286" name="AutoShape 52"/>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87" name="AutoShape 53"/>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1288" name="Oval 54"/>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89" name="Line 55"/>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1290" name="Line 56"/>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1291" name="Text Box 57"/>
            <p:cNvSpPr txBox="1">
              <a:spLocks noChangeArrowheads="1"/>
            </p:cNvSpPr>
            <p:nvPr/>
          </p:nvSpPr>
          <p:spPr bwMode="auto">
            <a:xfrm>
              <a:off x="2824" y="2736"/>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19</a:t>
              </a:r>
            </a:p>
          </p:txBody>
        </p:sp>
        <p:sp>
          <p:nvSpPr>
            <p:cNvPr id="11292" name="Text Box 58"/>
            <p:cNvSpPr txBox="1">
              <a:spLocks noChangeArrowheads="1"/>
            </p:cNvSpPr>
            <p:nvPr/>
          </p:nvSpPr>
          <p:spPr bwMode="auto">
            <a:xfrm>
              <a:off x="2776" y="3110"/>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20</a:t>
              </a:r>
            </a:p>
          </p:txBody>
        </p:sp>
        <p:sp>
          <p:nvSpPr>
            <p:cNvPr id="11293" name="Text Box 59"/>
            <p:cNvSpPr txBox="1">
              <a:spLocks noChangeArrowheads="1"/>
            </p:cNvSpPr>
            <p:nvPr/>
          </p:nvSpPr>
          <p:spPr bwMode="auto">
            <a:xfrm>
              <a:off x="2824" y="3456"/>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21</a:t>
              </a:r>
            </a:p>
          </p:txBody>
        </p:sp>
      </p:grpSp>
      <p:sp>
        <p:nvSpPr>
          <p:cNvPr id="11285" name="Line 60"/>
          <p:cNvSpPr>
            <a:spLocks noChangeShapeType="1"/>
          </p:cNvSpPr>
          <p:nvPr/>
        </p:nvSpPr>
        <p:spPr bwMode="auto">
          <a:xfrm>
            <a:off x="3708400" y="25781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a:spLocks noGrp="1"/>
          </p:cNvSpPr>
          <p:nvPr>
            <p:ph type="ftr" sz="quarter" idx="10"/>
          </p:nvPr>
        </p:nvSpPr>
        <p:spPr/>
        <p:txBody>
          <a:bodyPr/>
          <a:lstStyle/>
          <a:p>
            <a:pPr>
              <a:defRPr/>
            </a:pPr>
            <a:r>
              <a:rPr lang="en-US"/>
              <a:t>Art of Multiprocessor Programming</a:t>
            </a:r>
          </a:p>
        </p:txBody>
      </p:sp>
      <p:sp>
        <p:nvSpPr>
          <p:cNvPr id="62" name="Slide Number Placeholder 4"/>
          <p:cNvSpPr>
            <a:spLocks noGrp="1"/>
          </p:cNvSpPr>
          <p:nvPr>
            <p:ph type="sldNum" sz="quarter" idx="11"/>
          </p:nvPr>
        </p:nvSpPr>
        <p:spPr/>
        <p:txBody>
          <a:bodyPr/>
          <a:lstStyle/>
          <a:p>
            <a:pPr>
              <a:defRPr/>
            </a:pPr>
            <a:fld id="{47F3A577-506D-4299-94FE-18A500DA37EF}" type="slidenum">
              <a:rPr lang="en-US"/>
              <a:pPr>
                <a:defRPr/>
              </a:pPr>
              <a:t>9</a:t>
            </a:fld>
            <a:endParaRPr lang="en-US"/>
          </a:p>
        </p:txBody>
      </p:sp>
      <p:sp>
        <p:nvSpPr>
          <p:cNvPr id="12292" name="Rectangle 2"/>
          <p:cNvSpPr>
            <a:spLocks noGrp="1" noChangeArrowheads="1"/>
          </p:cNvSpPr>
          <p:nvPr>
            <p:ph type="title"/>
          </p:nvPr>
        </p:nvSpPr>
        <p:spPr/>
        <p:txBody>
          <a:bodyPr/>
          <a:lstStyle/>
          <a:p>
            <a:r>
              <a:rPr lang="en-US"/>
              <a:t>Counting Implementation</a:t>
            </a:r>
          </a:p>
        </p:txBody>
      </p:sp>
      <p:grpSp>
        <p:nvGrpSpPr>
          <p:cNvPr id="12293" name="Group 3"/>
          <p:cNvGrpSpPr>
            <a:grpSpLocks/>
          </p:cNvGrpSpPr>
          <p:nvPr/>
        </p:nvGrpSpPr>
        <p:grpSpPr bwMode="auto">
          <a:xfrm>
            <a:off x="660400" y="2374900"/>
            <a:ext cx="1447800" cy="1295400"/>
            <a:chOff x="1584" y="816"/>
            <a:chExt cx="912" cy="816"/>
          </a:xfrm>
        </p:grpSpPr>
        <p:sp>
          <p:nvSpPr>
            <p:cNvPr id="12342"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43"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44"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45"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2346"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2347"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2348"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49"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50"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2294" name="Group 13"/>
          <p:cNvGrpSpPr>
            <a:grpSpLocks/>
          </p:cNvGrpSpPr>
          <p:nvPr/>
        </p:nvGrpSpPr>
        <p:grpSpPr bwMode="auto">
          <a:xfrm>
            <a:off x="6121400" y="4914900"/>
            <a:ext cx="1447800" cy="1295400"/>
            <a:chOff x="1584" y="816"/>
            <a:chExt cx="912" cy="816"/>
          </a:xfrm>
        </p:grpSpPr>
        <p:sp>
          <p:nvSpPr>
            <p:cNvPr id="12333" name="Freeform 1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34" name="Freeform 1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35" name="Freeform 1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36" name="Freeform 1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2337" name="Freeform 1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2338" name="Freeform 1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2339" name="Freeform 2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40" name="Freeform 2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2341" name="Freeform 2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2295" name="Rectangle 23"/>
          <p:cNvSpPr>
            <a:spLocks noChangeArrowheads="1"/>
          </p:cNvSpPr>
          <p:nvPr/>
        </p:nvSpPr>
        <p:spPr bwMode="auto">
          <a:xfrm>
            <a:off x="3708400" y="2133600"/>
            <a:ext cx="914400" cy="3657600"/>
          </a:xfrm>
          <a:prstGeom prst="rect">
            <a:avLst/>
          </a:prstGeom>
          <a:solidFill>
            <a:srgbClr val="FF7C80"/>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12296" name="Line 24"/>
          <p:cNvSpPr>
            <a:spLocks noChangeShapeType="1"/>
          </p:cNvSpPr>
          <p:nvPr/>
        </p:nvSpPr>
        <p:spPr bwMode="auto">
          <a:xfrm>
            <a:off x="3708400" y="31369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12297" name="Line 25"/>
          <p:cNvSpPr>
            <a:spLocks noChangeShapeType="1"/>
          </p:cNvSpPr>
          <p:nvPr/>
        </p:nvSpPr>
        <p:spPr bwMode="auto">
          <a:xfrm>
            <a:off x="3708400" y="36703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12298" name="Line 26"/>
          <p:cNvSpPr>
            <a:spLocks noChangeShapeType="1"/>
          </p:cNvSpPr>
          <p:nvPr/>
        </p:nvSpPr>
        <p:spPr bwMode="auto">
          <a:xfrm>
            <a:off x="3708400" y="42037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
        <p:nvSpPr>
          <p:cNvPr id="12299" name="Line 27"/>
          <p:cNvSpPr>
            <a:spLocks noChangeShapeType="1"/>
          </p:cNvSpPr>
          <p:nvPr/>
        </p:nvSpPr>
        <p:spPr bwMode="auto">
          <a:xfrm>
            <a:off x="3708400" y="53340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grpSp>
        <p:nvGrpSpPr>
          <p:cNvPr id="12300" name="Group 28"/>
          <p:cNvGrpSpPr>
            <a:grpSpLocks/>
          </p:cNvGrpSpPr>
          <p:nvPr/>
        </p:nvGrpSpPr>
        <p:grpSpPr bwMode="auto">
          <a:xfrm>
            <a:off x="3951288" y="3746500"/>
            <a:ext cx="430212" cy="341313"/>
            <a:chOff x="2828" y="3460"/>
            <a:chExt cx="271" cy="215"/>
          </a:xfrm>
        </p:grpSpPr>
        <p:sp>
          <p:nvSpPr>
            <p:cNvPr id="12331" name="Oval 29"/>
            <p:cNvSpPr>
              <a:spLocks noChangeArrowheads="1"/>
            </p:cNvSpPr>
            <p:nvPr/>
          </p:nvSpPr>
          <p:spPr bwMode="auto">
            <a:xfrm>
              <a:off x="2828" y="3460"/>
              <a:ext cx="271" cy="215"/>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32" name="Oval 30"/>
            <p:cNvSpPr>
              <a:spLocks noChangeArrowheads="1"/>
            </p:cNvSpPr>
            <p:nvPr/>
          </p:nvSpPr>
          <p:spPr bwMode="auto">
            <a:xfrm>
              <a:off x="2982" y="34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301" name="Group 31"/>
          <p:cNvGrpSpPr>
            <a:grpSpLocks/>
          </p:cNvGrpSpPr>
          <p:nvPr/>
        </p:nvGrpSpPr>
        <p:grpSpPr bwMode="auto">
          <a:xfrm>
            <a:off x="2235200" y="3263900"/>
            <a:ext cx="879475" cy="1905000"/>
            <a:chOff x="2663" y="2544"/>
            <a:chExt cx="554" cy="1200"/>
          </a:xfrm>
        </p:grpSpPr>
        <p:sp>
          <p:nvSpPr>
            <p:cNvPr id="12323" name="AutoShape 32"/>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324" name="AutoShape 33"/>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2325" name="Oval 34"/>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326" name="Line 35"/>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dirty="0">
                <a:latin typeface="Courier New" pitchFamily="49" charset="0"/>
              </a:endParaRPr>
            </a:p>
          </p:txBody>
        </p:sp>
        <p:sp>
          <p:nvSpPr>
            <p:cNvPr id="12327" name="Line 36"/>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dirty="0">
                <a:latin typeface="Courier New" pitchFamily="49" charset="0"/>
              </a:endParaRPr>
            </a:p>
          </p:txBody>
        </p:sp>
        <p:sp>
          <p:nvSpPr>
            <p:cNvPr id="12328" name="Text Box 37"/>
            <p:cNvSpPr txBox="1">
              <a:spLocks noChangeArrowheads="1"/>
            </p:cNvSpPr>
            <p:nvPr/>
          </p:nvSpPr>
          <p:spPr bwMode="auto">
            <a:xfrm>
              <a:off x="2824" y="2736"/>
              <a:ext cx="296" cy="252"/>
            </a:xfrm>
            <a:prstGeom prst="rect">
              <a:avLst/>
            </a:prstGeom>
            <a:noFill/>
            <a:ln w="9525">
              <a:noFill/>
              <a:miter lim="800000"/>
              <a:headEnd/>
              <a:tailEnd/>
            </a:ln>
          </p:spPr>
          <p:txBody>
            <a:bodyPr wrap="none">
              <a:spAutoFit/>
            </a:bodyPr>
            <a:lstStyle/>
            <a:p>
              <a:pPr algn="r">
                <a:spcBef>
                  <a:spcPct val="0"/>
                </a:spcBef>
              </a:pPr>
              <a:r>
                <a:rPr lang="en-US" sz="2000" b="0" dirty="0">
                  <a:solidFill>
                    <a:schemeClr val="tx1"/>
                  </a:solidFill>
                  <a:latin typeface="Arial" pitchFamily="34" charset="0"/>
                </a:rPr>
                <a:t>19</a:t>
              </a:r>
            </a:p>
          </p:txBody>
        </p:sp>
        <p:sp>
          <p:nvSpPr>
            <p:cNvPr id="12329" name="Text Box 38"/>
            <p:cNvSpPr txBox="1">
              <a:spLocks noChangeArrowheads="1"/>
            </p:cNvSpPr>
            <p:nvPr/>
          </p:nvSpPr>
          <p:spPr bwMode="auto">
            <a:xfrm>
              <a:off x="2776" y="3110"/>
              <a:ext cx="296" cy="252"/>
            </a:xfrm>
            <a:prstGeom prst="rect">
              <a:avLst/>
            </a:prstGeom>
            <a:noFill/>
            <a:ln w="9525">
              <a:noFill/>
              <a:miter lim="800000"/>
              <a:headEnd/>
              <a:tailEnd/>
            </a:ln>
          </p:spPr>
          <p:txBody>
            <a:bodyPr wrap="none">
              <a:spAutoFit/>
            </a:bodyPr>
            <a:lstStyle/>
            <a:p>
              <a:pPr algn="r">
                <a:spcBef>
                  <a:spcPct val="0"/>
                </a:spcBef>
              </a:pPr>
              <a:r>
                <a:rPr lang="en-US" sz="2000" b="0" dirty="0">
                  <a:solidFill>
                    <a:schemeClr val="tx1"/>
                  </a:solidFill>
                  <a:latin typeface="Arial" pitchFamily="34" charset="0"/>
                </a:rPr>
                <a:t>20</a:t>
              </a:r>
            </a:p>
          </p:txBody>
        </p:sp>
        <p:sp>
          <p:nvSpPr>
            <p:cNvPr id="12330" name="Text Box 39"/>
            <p:cNvSpPr txBox="1">
              <a:spLocks noChangeArrowheads="1"/>
            </p:cNvSpPr>
            <p:nvPr/>
          </p:nvSpPr>
          <p:spPr bwMode="auto">
            <a:xfrm>
              <a:off x="2824" y="3456"/>
              <a:ext cx="296" cy="252"/>
            </a:xfrm>
            <a:prstGeom prst="rect">
              <a:avLst/>
            </a:prstGeom>
            <a:noFill/>
            <a:ln w="9525">
              <a:noFill/>
              <a:miter lim="800000"/>
              <a:headEnd/>
              <a:tailEnd/>
            </a:ln>
          </p:spPr>
          <p:txBody>
            <a:bodyPr wrap="none">
              <a:spAutoFit/>
            </a:bodyPr>
            <a:lstStyle/>
            <a:p>
              <a:pPr algn="r">
                <a:spcBef>
                  <a:spcPct val="0"/>
                </a:spcBef>
              </a:pPr>
              <a:r>
                <a:rPr lang="en-US" sz="2000" b="0" dirty="0">
                  <a:solidFill>
                    <a:schemeClr val="tx1"/>
                  </a:solidFill>
                  <a:latin typeface="Arial" pitchFamily="34" charset="0"/>
                </a:rPr>
                <a:t>21</a:t>
              </a:r>
            </a:p>
          </p:txBody>
        </p:sp>
      </p:grpSp>
      <p:sp>
        <p:nvSpPr>
          <p:cNvPr id="12302" name="Freeform 40"/>
          <p:cNvSpPr>
            <a:spLocks/>
          </p:cNvSpPr>
          <p:nvPr/>
        </p:nvSpPr>
        <p:spPr bwMode="auto">
          <a:xfrm>
            <a:off x="1955800" y="3403600"/>
            <a:ext cx="1930400" cy="1589088"/>
          </a:xfrm>
          <a:custGeom>
            <a:avLst/>
            <a:gdLst>
              <a:gd name="T0" fmla="*/ 0 w 1216"/>
              <a:gd name="T1" fmla="*/ 0 h 1001"/>
              <a:gd name="T2" fmla="*/ 2147483647 w 1216"/>
              <a:gd name="T3" fmla="*/ 2147483647 h 1001"/>
              <a:gd name="T4" fmla="*/ 2147483647 w 1216"/>
              <a:gd name="T5" fmla="*/ 2147483647 h 1001"/>
              <a:gd name="T6" fmla="*/ 0 60000 65536"/>
              <a:gd name="T7" fmla="*/ 0 60000 65536"/>
              <a:gd name="T8" fmla="*/ 0 60000 65536"/>
              <a:gd name="T9" fmla="*/ 0 w 1216"/>
              <a:gd name="T10" fmla="*/ 0 h 1001"/>
              <a:gd name="T11" fmla="*/ 1216 w 1216"/>
              <a:gd name="T12" fmla="*/ 1001 h 1001"/>
            </a:gdLst>
            <a:ahLst/>
            <a:cxnLst>
              <a:cxn ang="T6">
                <a:pos x="T0" y="T1"/>
              </a:cxn>
              <a:cxn ang="T7">
                <a:pos x="T2" y="T3"/>
              </a:cxn>
              <a:cxn ang="T8">
                <a:pos x="T4" y="T5"/>
              </a:cxn>
            </a:cxnLst>
            <a:rect l="T9" t="T10" r="T11" b="T12"/>
            <a:pathLst>
              <a:path w="1216" h="1001">
                <a:moveTo>
                  <a:pt x="0" y="0"/>
                </a:moveTo>
                <a:cubicBezTo>
                  <a:pt x="84" y="155"/>
                  <a:pt x="301" y="855"/>
                  <a:pt x="504" y="928"/>
                </a:cubicBezTo>
                <a:cubicBezTo>
                  <a:pt x="707" y="1001"/>
                  <a:pt x="1068" y="542"/>
                  <a:pt x="1216" y="440"/>
                </a:cubicBezTo>
              </a:path>
            </a:pathLst>
          </a:cu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12303" name="Freeform 41"/>
          <p:cNvSpPr>
            <a:spLocks/>
          </p:cNvSpPr>
          <p:nvPr/>
        </p:nvSpPr>
        <p:spPr bwMode="auto">
          <a:xfrm>
            <a:off x="4546600" y="2806700"/>
            <a:ext cx="2043113" cy="2082800"/>
          </a:xfrm>
          <a:custGeom>
            <a:avLst/>
            <a:gdLst>
              <a:gd name="T0" fmla="*/ 2147483647 w 1287"/>
              <a:gd name="T1" fmla="*/ 2147483647 h 1312"/>
              <a:gd name="T2" fmla="*/ 2147483647 w 1287"/>
              <a:gd name="T3" fmla="*/ 2147483647 h 1312"/>
              <a:gd name="T4" fmla="*/ 0 w 1287"/>
              <a:gd name="T5" fmla="*/ 0 h 1312"/>
              <a:gd name="T6" fmla="*/ 0 60000 65536"/>
              <a:gd name="T7" fmla="*/ 0 60000 65536"/>
              <a:gd name="T8" fmla="*/ 0 60000 65536"/>
              <a:gd name="T9" fmla="*/ 0 w 1287"/>
              <a:gd name="T10" fmla="*/ 0 h 1312"/>
              <a:gd name="T11" fmla="*/ 1287 w 1287"/>
              <a:gd name="T12" fmla="*/ 1312 h 1312"/>
            </a:gdLst>
            <a:ahLst/>
            <a:cxnLst>
              <a:cxn ang="T6">
                <a:pos x="T0" y="T1"/>
              </a:cxn>
              <a:cxn ang="T7">
                <a:pos x="T2" y="T3"/>
              </a:cxn>
              <a:cxn ang="T8">
                <a:pos x="T4" y="T5"/>
              </a:cxn>
            </a:cxnLst>
            <a:rect l="T9" t="T10" r="T11" b="T12"/>
            <a:pathLst>
              <a:path w="1287" h="1312">
                <a:moveTo>
                  <a:pt x="1096" y="1312"/>
                </a:moveTo>
                <a:cubicBezTo>
                  <a:pt x="1097" y="1157"/>
                  <a:pt x="1287" y="603"/>
                  <a:pt x="1104" y="384"/>
                </a:cubicBezTo>
                <a:cubicBezTo>
                  <a:pt x="921" y="165"/>
                  <a:pt x="230" y="80"/>
                  <a:pt x="0"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12304" name="AutoShape 42"/>
          <p:cNvSpPr>
            <a:spLocks noChangeArrowheads="1"/>
          </p:cNvSpPr>
          <p:nvPr/>
        </p:nvSpPr>
        <p:spPr bwMode="auto">
          <a:xfrm>
            <a:off x="876300" y="4902200"/>
            <a:ext cx="3505200" cy="1295400"/>
          </a:xfrm>
          <a:prstGeom prst="wedgeRoundRectCallout">
            <a:avLst>
              <a:gd name="adj1" fmla="val 94926"/>
              <a:gd name="adj2" fmla="val -11398"/>
              <a:gd name="adj3" fmla="val 16667"/>
            </a:avLst>
          </a:prstGeom>
          <a:solidFill>
            <a:schemeClr val="bg1">
              <a:alpha val="74901"/>
            </a:schemeClr>
          </a:solidFill>
          <a:ln w="38100">
            <a:solidFill>
              <a:schemeClr val="accent2"/>
            </a:solidFill>
            <a:miter lim="800000"/>
            <a:headEnd/>
            <a:tailEnd/>
          </a:ln>
        </p:spPr>
        <p:txBody>
          <a:bodyPr anchor="ctr"/>
          <a:lstStyle/>
          <a:p>
            <a:pPr algn="ctr">
              <a:spcBef>
                <a:spcPct val="0"/>
              </a:spcBef>
            </a:pPr>
            <a:r>
              <a:rPr lang="en-US" sz="2800" b="0" dirty="0">
                <a:solidFill>
                  <a:schemeClr val="accent2"/>
                </a:solidFill>
                <a:latin typeface="Arial" pitchFamily="34" charset="0"/>
              </a:rPr>
              <a:t>Only the counters are sequential</a:t>
            </a:r>
          </a:p>
        </p:txBody>
      </p:sp>
      <p:sp>
        <p:nvSpPr>
          <p:cNvPr id="12305" name="AutoShape 43"/>
          <p:cNvSpPr>
            <a:spLocks noChangeArrowheads="1"/>
          </p:cNvSpPr>
          <p:nvPr/>
        </p:nvSpPr>
        <p:spPr bwMode="auto">
          <a:xfrm>
            <a:off x="6527800" y="3733800"/>
            <a:ext cx="2235200" cy="685800"/>
          </a:xfrm>
          <a:prstGeom prst="cloudCallout">
            <a:avLst>
              <a:gd name="adj1" fmla="val -34801"/>
              <a:gd name="adj2" fmla="val 112500"/>
            </a:avLst>
          </a:prstGeom>
          <a:noFill/>
          <a:ln w="38100">
            <a:solidFill>
              <a:schemeClr val="accent2"/>
            </a:solidFill>
            <a:round/>
            <a:headEnd/>
            <a:tailEnd/>
          </a:ln>
        </p:spPr>
        <p:txBody>
          <a:bodyPr anchor="ctr"/>
          <a:lstStyle/>
          <a:p>
            <a:pPr algn="ctr">
              <a:spcBef>
                <a:spcPct val="0"/>
              </a:spcBef>
            </a:pPr>
            <a:r>
              <a:rPr lang="en-US" sz="2800" dirty="0">
                <a:solidFill>
                  <a:schemeClr val="accent2"/>
                </a:solidFill>
                <a:latin typeface="Arial" pitchFamily="34" charset="0"/>
              </a:rPr>
              <a:t>remove</a:t>
            </a:r>
          </a:p>
        </p:txBody>
      </p:sp>
      <p:sp>
        <p:nvSpPr>
          <p:cNvPr id="12306" name="AutoShape 44"/>
          <p:cNvSpPr>
            <a:spLocks noChangeArrowheads="1"/>
          </p:cNvSpPr>
          <p:nvPr/>
        </p:nvSpPr>
        <p:spPr bwMode="auto">
          <a:xfrm>
            <a:off x="2006600" y="1714500"/>
            <a:ext cx="1524000" cy="685800"/>
          </a:xfrm>
          <a:prstGeom prst="cloudCallout">
            <a:avLst>
              <a:gd name="adj1" fmla="val -58542"/>
              <a:gd name="adj2" fmla="val 77315"/>
            </a:avLst>
          </a:prstGeom>
          <a:noFill/>
          <a:ln w="38100">
            <a:solidFill>
              <a:srgbClr val="FF5050"/>
            </a:solidFill>
            <a:round/>
            <a:headEnd/>
            <a:tailEnd/>
          </a:ln>
        </p:spPr>
        <p:txBody>
          <a:bodyPr anchor="ctr"/>
          <a:lstStyle/>
          <a:p>
            <a:pPr algn="ctr">
              <a:spcBef>
                <a:spcPct val="0"/>
              </a:spcBef>
            </a:pPr>
            <a:r>
              <a:rPr lang="en-US" sz="2800" dirty="0">
                <a:solidFill>
                  <a:srgbClr val="FF5050"/>
                </a:solidFill>
                <a:latin typeface="Arial" pitchFamily="34" charset="0"/>
              </a:rPr>
              <a:t>put</a:t>
            </a:r>
          </a:p>
        </p:txBody>
      </p:sp>
      <p:grpSp>
        <p:nvGrpSpPr>
          <p:cNvPr id="12307" name="Group 45"/>
          <p:cNvGrpSpPr>
            <a:grpSpLocks/>
          </p:cNvGrpSpPr>
          <p:nvPr/>
        </p:nvGrpSpPr>
        <p:grpSpPr bwMode="auto">
          <a:xfrm>
            <a:off x="3951288" y="2679700"/>
            <a:ext cx="430212" cy="341313"/>
            <a:chOff x="2828" y="3460"/>
            <a:chExt cx="271" cy="215"/>
          </a:xfrm>
        </p:grpSpPr>
        <p:sp>
          <p:nvSpPr>
            <p:cNvPr id="12321" name="Oval 46"/>
            <p:cNvSpPr>
              <a:spLocks noChangeArrowheads="1"/>
            </p:cNvSpPr>
            <p:nvPr/>
          </p:nvSpPr>
          <p:spPr bwMode="auto">
            <a:xfrm>
              <a:off x="2828" y="3460"/>
              <a:ext cx="271" cy="215"/>
            </a:xfrm>
            <a:prstGeom prst="ellipse">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2322" name="Oval 47"/>
            <p:cNvSpPr>
              <a:spLocks noChangeArrowheads="1"/>
            </p:cNvSpPr>
            <p:nvPr/>
          </p:nvSpPr>
          <p:spPr bwMode="auto">
            <a:xfrm>
              <a:off x="2982" y="3498"/>
              <a:ext cx="71" cy="60"/>
            </a:xfrm>
            <a:prstGeom prst="ellipse">
              <a:avLst/>
            </a:prstGeom>
            <a:solidFill>
              <a:srgbClr val="FFFF99"/>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308" name="Group 48"/>
          <p:cNvGrpSpPr>
            <a:grpSpLocks/>
          </p:cNvGrpSpPr>
          <p:nvPr/>
        </p:nvGrpSpPr>
        <p:grpSpPr bwMode="auto">
          <a:xfrm>
            <a:off x="3951288" y="3213100"/>
            <a:ext cx="430212" cy="341313"/>
            <a:chOff x="2828" y="3460"/>
            <a:chExt cx="271" cy="215"/>
          </a:xfrm>
        </p:grpSpPr>
        <p:sp>
          <p:nvSpPr>
            <p:cNvPr id="12319" name="Oval 49"/>
            <p:cNvSpPr>
              <a:spLocks noChangeArrowheads="1"/>
            </p:cNvSpPr>
            <p:nvPr/>
          </p:nvSpPr>
          <p:spPr bwMode="auto">
            <a:xfrm>
              <a:off x="2828" y="3460"/>
              <a:ext cx="271" cy="215"/>
            </a:xfrm>
            <a:prstGeom prst="ellipse">
              <a:avLst/>
            </a:prstGeom>
            <a:solidFill>
              <a:srgbClr val="FF5050"/>
            </a:solidFill>
            <a:ln w="38100">
              <a:solidFill>
                <a:schemeClr val="tx1"/>
              </a:solidFill>
              <a:round/>
              <a:headEnd/>
              <a:tailEnd/>
            </a:ln>
          </p:spPr>
          <p:txBody>
            <a:bodyPr wrap="none" anchor="ctr"/>
            <a:lstStyle/>
            <a:p>
              <a:endParaRPr lang="en-US" dirty="0">
                <a:latin typeface="Courier New" pitchFamily="49" charset="0"/>
              </a:endParaRPr>
            </a:p>
          </p:txBody>
        </p:sp>
        <p:sp>
          <p:nvSpPr>
            <p:cNvPr id="12320" name="Oval 50"/>
            <p:cNvSpPr>
              <a:spLocks noChangeArrowheads="1"/>
            </p:cNvSpPr>
            <p:nvPr/>
          </p:nvSpPr>
          <p:spPr bwMode="auto">
            <a:xfrm>
              <a:off x="2982" y="3498"/>
              <a:ext cx="71" cy="60"/>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309" name="Group 51"/>
          <p:cNvGrpSpPr>
            <a:grpSpLocks/>
          </p:cNvGrpSpPr>
          <p:nvPr/>
        </p:nvGrpSpPr>
        <p:grpSpPr bwMode="auto">
          <a:xfrm>
            <a:off x="5689600" y="2819400"/>
            <a:ext cx="879475" cy="1905000"/>
            <a:chOff x="2663" y="2544"/>
            <a:chExt cx="554" cy="1200"/>
          </a:xfrm>
        </p:grpSpPr>
        <p:sp>
          <p:nvSpPr>
            <p:cNvPr id="12311" name="AutoShape 52"/>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312" name="AutoShape 53"/>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2313" name="Oval 54"/>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314" name="Line 55"/>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dirty="0">
                <a:latin typeface="Courier New" pitchFamily="49" charset="0"/>
              </a:endParaRPr>
            </a:p>
          </p:txBody>
        </p:sp>
        <p:sp>
          <p:nvSpPr>
            <p:cNvPr id="12315" name="Line 56"/>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dirty="0">
                <a:latin typeface="Courier New" pitchFamily="49" charset="0"/>
              </a:endParaRPr>
            </a:p>
          </p:txBody>
        </p:sp>
        <p:sp>
          <p:nvSpPr>
            <p:cNvPr id="12316" name="Text Box 57"/>
            <p:cNvSpPr txBox="1">
              <a:spLocks noChangeArrowheads="1"/>
            </p:cNvSpPr>
            <p:nvPr/>
          </p:nvSpPr>
          <p:spPr bwMode="auto">
            <a:xfrm>
              <a:off x="2824" y="2736"/>
              <a:ext cx="296" cy="252"/>
            </a:xfrm>
            <a:prstGeom prst="rect">
              <a:avLst/>
            </a:prstGeom>
            <a:noFill/>
            <a:ln w="9525">
              <a:noFill/>
              <a:miter lim="800000"/>
              <a:headEnd/>
              <a:tailEnd/>
            </a:ln>
          </p:spPr>
          <p:txBody>
            <a:bodyPr wrap="none">
              <a:spAutoFit/>
            </a:bodyPr>
            <a:lstStyle/>
            <a:p>
              <a:pPr algn="r">
                <a:spcBef>
                  <a:spcPct val="0"/>
                </a:spcBef>
              </a:pPr>
              <a:r>
                <a:rPr lang="en-US" sz="2000" b="0" dirty="0">
                  <a:solidFill>
                    <a:schemeClr val="tx1"/>
                  </a:solidFill>
                  <a:latin typeface="Arial" pitchFamily="34" charset="0"/>
                </a:rPr>
                <a:t>19</a:t>
              </a:r>
            </a:p>
          </p:txBody>
        </p:sp>
        <p:sp>
          <p:nvSpPr>
            <p:cNvPr id="12317" name="Text Box 58"/>
            <p:cNvSpPr txBox="1">
              <a:spLocks noChangeArrowheads="1"/>
            </p:cNvSpPr>
            <p:nvPr/>
          </p:nvSpPr>
          <p:spPr bwMode="auto">
            <a:xfrm>
              <a:off x="2776" y="3110"/>
              <a:ext cx="296" cy="252"/>
            </a:xfrm>
            <a:prstGeom prst="rect">
              <a:avLst/>
            </a:prstGeom>
            <a:noFill/>
            <a:ln w="9525">
              <a:noFill/>
              <a:miter lim="800000"/>
              <a:headEnd/>
              <a:tailEnd/>
            </a:ln>
          </p:spPr>
          <p:txBody>
            <a:bodyPr wrap="none">
              <a:spAutoFit/>
            </a:bodyPr>
            <a:lstStyle/>
            <a:p>
              <a:pPr algn="r">
                <a:spcBef>
                  <a:spcPct val="0"/>
                </a:spcBef>
              </a:pPr>
              <a:r>
                <a:rPr lang="en-US" sz="2000" b="0" dirty="0">
                  <a:solidFill>
                    <a:schemeClr val="tx1"/>
                  </a:solidFill>
                  <a:latin typeface="Arial" pitchFamily="34" charset="0"/>
                </a:rPr>
                <a:t>20</a:t>
              </a:r>
            </a:p>
          </p:txBody>
        </p:sp>
        <p:sp>
          <p:nvSpPr>
            <p:cNvPr id="12318" name="Text Box 59"/>
            <p:cNvSpPr txBox="1">
              <a:spLocks noChangeArrowheads="1"/>
            </p:cNvSpPr>
            <p:nvPr/>
          </p:nvSpPr>
          <p:spPr bwMode="auto">
            <a:xfrm>
              <a:off x="2824" y="3456"/>
              <a:ext cx="296" cy="252"/>
            </a:xfrm>
            <a:prstGeom prst="rect">
              <a:avLst/>
            </a:prstGeom>
            <a:noFill/>
            <a:ln w="9525">
              <a:noFill/>
              <a:miter lim="800000"/>
              <a:headEnd/>
              <a:tailEnd/>
            </a:ln>
          </p:spPr>
          <p:txBody>
            <a:bodyPr wrap="none">
              <a:spAutoFit/>
            </a:bodyPr>
            <a:lstStyle/>
            <a:p>
              <a:pPr algn="r">
                <a:spcBef>
                  <a:spcPct val="0"/>
                </a:spcBef>
              </a:pPr>
              <a:r>
                <a:rPr lang="en-US" sz="2000" b="0" dirty="0">
                  <a:solidFill>
                    <a:schemeClr val="tx1"/>
                  </a:solidFill>
                  <a:latin typeface="Arial" pitchFamily="34" charset="0"/>
                </a:rPr>
                <a:t>21</a:t>
              </a:r>
            </a:p>
          </p:txBody>
        </p:sp>
      </p:grpSp>
      <p:sp>
        <p:nvSpPr>
          <p:cNvPr id="12310" name="Line 60"/>
          <p:cNvSpPr>
            <a:spLocks noChangeShapeType="1"/>
          </p:cNvSpPr>
          <p:nvPr/>
        </p:nvSpPr>
        <p:spPr bwMode="auto">
          <a:xfrm>
            <a:off x="3708400" y="2578100"/>
            <a:ext cx="914400" cy="0"/>
          </a:xfrm>
          <a:prstGeom prst="line">
            <a:avLst/>
          </a:prstGeom>
          <a:noFill/>
          <a:ln w="9525">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a:spLocks noGrp="1"/>
          </p:cNvSpPr>
          <p:nvPr>
            <p:ph type="ftr" sz="quarter" idx="10"/>
          </p:nvPr>
        </p:nvSpPr>
        <p:spPr/>
        <p:txBody>
          <a:bodyPr/>
          <a:lstStyle/>
          <a:p>
            <a:pPr>
              <a:defRPr/>
            </a:pPr>
            <a:r>
              <a:rPr lang="en-US"/>
              <a:t>Art of Multiprocessor Programming</a:t>
            </a:r>
          </a:p>
        </p:txBody>
      </p:sp>
      <p:sp>
        <p:nvSpPr>
          <p:cNvPr id="62" name="Slide Number Placeholder 4"/>
          <p:cNvSpPr>
            <a:spLocks noGrp="1"/>
          </p:cNvSpPr>
          <p:nvPr>
            <p:ph type="sldNum" sz="quarter" idx="11"/>
          </p:nvPr>
        </p:nvSpPr>
        <p:spPr/>
        <p:txBody>
          <a:bodyPr/>
          <a:lstStyle/>
          <a:p>
            <a:pPr>
              <a:defRPr/>
            </a:pPr>
            <a:fld id="{0651B8E0-5A25-4DCE-8591-E0E250A16F8E}" type="slidenum">
              <a:rPr lang="en-US"/>
              <a:pPr>
                <a:defRPr/>
              </a:pPr>
              <a:t>10</a:t>
            </a:fld>
            <a:endParaRPr lang="en-US"/>
          </a:p>
        </p:txBody>
      </p:sp>
      <p:sp>
        <p:nvSpPr>
          <p:cNvPr id="686082" name="Rectangle 2"/>
          <p:cNvSpPr>
            <a:spLocks noChangeArrowheads="1"/>
          </p:cNvSpPr>
          <p:nvPr/>
        </p:nvSpPr>
        <p:spPr bwMode="auto">
          <a:xfrm>
            <a:off x="3810000" y="2286000"/>
            <a:ext cx="1295400" cy="3657600"/>
          </a:xfrm>
          <a:prstGeom prst="rect">
            <a:avLst/>
          </a:prstGeom>
          <a:solidFill>
            <a:schemeClr val="bg1"/>
          </a:solidFill>
          <a:ln w="38100">
            <a:solidFill>
              <a:srgbClr val="33CC33"/>
            </a:solidFill>
            <a:miter lim="800000"/>
            <a:headEnd/>
            <a:tailEnd/>
          </a:ln>
          <a:effectLst>
            <a:outerShdw dist="107763" dir="2700000" algn="ctr" rotWithShape="0">
              <a:schemeClr val="bg2">
                <a:alpha val="50000"/>
              </a:schemeClr>
            </a:outerShdw>
          </a:effectLst>
        </p:spPr>
        <p:txBody>
          <a:bodyPr wrap="none" anchor="ctr"/>
          <a:lstStyle/>
          <a:p>
            <a:pPr algn="ctr">
              <a:spcBef>
                <a:spcPct val="0"/>
              </a:spcBef>
              <a:defRPr/>
            </a:pPr>
            <a:endParaRPr lang="en-US" sz="4000">
              <a:solidFill>
                <a:srgbClr val="33CC33"/>
              </a:solidFill>
              <a:latin typeface="Arial" pitchFamily="34" charset="0"/>
              <a:cs typeface="Arial" pitchFamily="34" charset="0"/>
            </a:endParaRPr>
          </a:p>
        </p:txBody>
      </p:sp>
      <p:grpSp>
        <p:nvGrpSpPr>
          <p:cNvPr id="13317" name="Group 3"/>
          <p:cNvGrpSpPr>
            <a:grpSpLocks/>
          </p:cNvGrpSpPr>
          <p:nvPr/>
        </p:nvGrpSpPr>
        <p:grpSpPr bwMode="auto">
          <a:xfrm>
            <a:off x="1828800" y="3100388"/>
            <a:ext cx="1219200" cy="1090612"/>
            <a:chOff x="1584" y="816"/>
            <a:chExt cx="912" cy="816"/>
          </a:xfrm>
        </p:grpSpPr>
        <p:sp>
          <p:nvSpPr>
            <p:cNvPr id="13366"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7"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8"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9"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70"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71"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72"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73"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74"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318" name="Group 13"/>
          <p:cNvGrpSpPr>
            <a:grpSpLocks/>
          </p:cNvGrpSpPr>
          <p:nvPr/>
        </p:nvGrpSpPr>
        <p:grpSpPr bwMode="auto">
          <a:xfrm flipH="1">
            <a:off x="1676400" y="4648200"/>
            <a:ext cx="1219200" cy="1090613"/>
            <a:chOff x="1584" y="816"/>
            <a:chExt cx="912" cy="816"/>
          </a:xfrm>
        </p:grpSpPr>
        <p:sp>
          <p:nvSpPr>
            <p:cNvPr id="13357" name="Freeform 1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8" name="Freeform 1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9" name="Freeform 1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0" name="Freeform 1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1" name="Freeform 1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2" name="Freeform 1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3" name="Freeform 2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4" name="Freeform 2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65" name="Freeform 2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3319" name="Rectangle 23"/>
          <p:cNvSpPr>
            <a:spLocks noGrp="1" noChangeArrowheads="1"/>
          </p:cNvSpPr>
          <p:nvPr>
            <p:ph type="title"/>
          </p:nvPr>
        </p:nvSpPr>
        <p:spPr/>
        <p:txBody>
          <a:bodyPr/>
          <a:lstStyle/>
          <a:p>
            <a:r>
              <a:rPr lang="en-US"/>
              <a:t>Shared Counter</a:t>
            </a:r>
          </a:p>
        </p:txBody>
      </p:sp>
      <p:grpSp>
        <p:nvGrpSpPr>
          <p:cNvPr id="13320" name="Group 24"/>
          <p:cNvGrpSpPr>
            <a:grpSpLocks/>
          </p:cNvGrpSpPr>
          <p:nvPr/>
        </p:nvGrpSpPr>
        <p:grpSpPr bwMode="auto">
          <a:xfrm>
            <a:off x="1600200" y="2362200"/>
            <a:ext cx="1447800" cy="1295400"/>
            <a:chOff x="1584" y="816"/>
            <a:chExt cx="912" cy="816"/>
          </a:xfrm>
        </p:grpSpPr>
        <p:sp>
          <p:nvSpPr>
            <p:cNvPr id="13348" name="Freeform 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9" name="Freeform 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0" name="Freeform 2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1" name="Freeform 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2" name="Freeform 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3" name="Freeform 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4" name="Freeform 3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5" name="Freeform 3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56" name="Freeform 3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321" name="Group 34"/>
          <p:cNvGrpSpPr>
            <a:grpSpLocks/>
          </p:cNvGrpSpPr>
          <p:nvPr/>
        </p:nvGrpSpPr>
        <p:grpSpPr bwMode="auto">
          <a:xfrm flipH="1">
            <a:off x="1676400" y="5105400"/>
            <a:ext cx="1447800" cy="1295400"/>
            <a:chOff x="1584" y="816"/>
            <a:chExt cx="912" cy="816"/>
          </a:xfrm>
        </p:grpSpPr>
        <p:sp>
          <p:nvSpPr>
            <p:cNvPr id="13339" name="Freeform 3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0" name="Freeform 3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1" name="Freeform 3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2" name="Freeform 3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3" name="Freeform 3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4" name="Freeform 4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5" name="Freeform 4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6" name="Freeform 4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47" name="Freeform 4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322" name="Group 44"/>
          <p:cNvGrpSpPr>
            <a:grpSpLocks/>
          </p:cNvGrpSpPr>
          <p:nvPr/>
        </p:nvGrpSpPr>
        <p:grpSpPr bwMode="auto">
          <a:xfrm>
            <a:off x="4038600" y="3124200"/>
            <a:ext cx="879475" cy="1905000"/>
            <a:chOff x="2663" y="2544"/>
            <a:chExt cx="554" cy="1200"/>
          </a:xfrm>
        </p:grpSpPr>
        <p:sp>
          <p:nvSpPr>
            <p:cNvPr id="13331" name="AutoShape 45"/>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32" name="AutoShape 46"/>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3333" name="Oval 47"/>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34" name="Line 48"/>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3335" name="Line 49"/>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3336" name="Text Box 50"/>
            <p:cNvSpPr txBox="1">
              <a:spLocks noChangeArrowheads="1"/>
            </p:cNvSpPr>
            <p:nvPr/>
          </p:nvSpPr>
          <p:spPr bwMode="auto">
            <a:xfrm>
              <a:off x="2906" y="2736"/>
              <a:ext cx="214" cy="250"/>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3</a:t>
              </a:r>
            </a:p>
          </p:txBody>
        </p:sp>
        <p:sp>
          <p:nvSpPr>
            <p:cNvPr id="13337" name="Text Box 51"/>
            <p:cNvSpPr txBox="1">
              <a:spLocks noChangeArrowheads="1"/>
            </p:cNvSpPr>
            <p:nvPr/>
          </p:nvSpPr>
          <p:spPr bwMode="auto">
            <a:xfrm>
              <a:off x="2858" y="3110"/>
              <a:ext cx="214" cy="250"/>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2</a:t>
              </a:r>
            </a:p>
          </p:txBody>
        </p:sp>
        <p:sp>
          <p:nvSpPr>
            <p:cNvPr id="13338" name="Text Box 52"/>
            <p:cNvSpPr txBox="1">
              <a:spLocks noChangeArrowheads="1"/>
            </p:cNvSpPr>
            <p:nvPr/>
          </p:nvSpPr>
          <p:spPr bwMode="auto">
            <a:xfrm>
              <a:off x="2923" y="3456"/>
              <a:ext cx="206" cy="252"/>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1</a:t>
              </a:r>
            </a:p>
          </p:txBody>
        </p:sp>
      </p:grpSp>
      <p:sp>
        <p:nvSpPr>
          <p:cNvPr id="13323" name="Freeform 53"/>
          <p:cNvSpPr>
            <a:spLocks/>
          </p:cNvSpPr>
          <p:nvPr/>
        </p:nvSpPr>
        <p:spPr bwMode="auto">
          <a:xfrm>
            <a:off x="2971800" y="3289300"/>
            <a:ext cx="3136900" cy="836613"/>
          </a:xfrm>
          <a:custGeom>
            <a:avLst/>
            <a:gdLst>
              <a:gd name="T0" fmla="*/ 0 w 1976"/>
              <a:gd name="T1" fmla="*/ 2147483647 h 527"/>
              <a:gd name="T2" fmla="*/ 2147483647 w 1976"/>
              <a:gd name="T3" fmla="*/ 2147483647 h 527"/>
              <a:gd name="T4" fmla="*/ 2147483647 w 1976"/>
              <a:gd name="T5" fmla="*/ 0 h 527"/>
              <a:gd name="T6" fmla="*/ 0 60000 65536"/>
              <a:gd name="T7" fmla="*/ 0 60000 65536"/>
              <a:gd name="T8" fmla="*/ 0 60000 65536"/>
              <a:gd name="T9" fmla="*/ 0 w 1976"/>
              <a:gd name="T10" fmla="*/ 0 h 527"/>
              <a:gd name="T11" fmla="*/ 1976 w 1976"/>
              <a:gd name="T12" fmla="*/ 527 h 527"/>
            </a:gdLst>
            <a:ahLst/>
            <a:cxnLst>
              <a:cxn ang="T6">
                <a:pos x="T0" y="T1"/>
              </a:cxn>
              <a:cxn ang="T7">
                <a:pos x="T2" y="T3"/>
              </a:cxn>
              <a:cxn ang="T8">
                <a:pos x="T4" y="T5"/>
              </a:cxn>
            </a:cxnLst>
            <a:rect l="T9" t="T10" r="T11" b="T12"/>
            <a:pathLst>
              <a:path w="1976" h="527">
                <a:moveTo>
                  <a:pt x="0" y="88"/>
                </a:moveTo>
                <a:cubicBezTo>
                  <a:pt x="149" y="159"/>
                  <a:pt x="567" y="527"/>
                  <a:pt x="896" y="512"/>
                </a:cubicBezTo>
                <a:cubicBezTo>
                  <a:pt x="1225" y="497"/>
                  <a:pt x="1751" y="107"/>
                  <a:pt x="1976" y="0"/>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3324" name="Freeform 54"/>
          <p:cNvSpPr>
            <a:spLocks/>
          </p:cNvSpPr>
          <p:nvPr/>
        </p:nvSpPr>
        <p:spPr bwMode="auto">
          <a:xfrm>
            <a:off x="2971800" y="3924300"/>
            <a:ext cx="3302000" cy="1181100"/>
          </a:xfrm>
          <a:custGeom>
            <a:avLst/>
            <a:gdLst>
              <a:gd name="T0" fmla="*/ 0 w 2080"/>
              <a:gd name="T1" fmla="*/ 2147483647 h 744"/>
              <a:gd name="T2" fmla="*/ 2147483647 w 2080"/>
              <a:gd name="T3" fmla="*/ 2147483647 h 744"/>
              <a:gd name="T4" fmla="*/ 2147483647 w 2080"/>
              <a:gd name="T5" fmla="*/ 0 h 744"/>
              <a:gd name="T6" fmla="*/ 0 60000 65536"/>
              <a:gd name="T7" fmla="*/ 0 60000 65536"/>
              <a:gd name="T8" fmla="*/ 0 60000 65536"/>
              <a:gd name="T9" fmla="*/ 0 w 2080"/>
              <a:gd name="T10" fmla="*/ 0 h 744"/>
              <a:gd name="T11" fmla="*/ 2080 w 2080"/>
              <a:gd name="T12" fmla="*/ 744 h 744"/>
            </a:gdLst>
            <a:ahLst/>
            <a:cxnLst>
              <a:cxn ang="T6">
                <a:pos x="T0" y="T1"/>
              </a:cxn>
              <a:cxn ang="T7">
                <a:pos x="T2" y="T3"/>
              </a:cxn>
              <a:cxn ang="T8">
                <a:pos x="T4" y="T5"/>
              </a:cxn>
            </a:cxnLst>
            <a:rect l="T9" t="T10" r="T11" b="T12"/>
            <a:pathLst>
              <a:path w="2080" h="744">
                <a:moveTo>
                  <a:pt x="0" y="744"/>
                </a:moveTo>
                <a:cubicBezTo>
                  <a:pt x="164" y="713"/>
                  <a:pt x="637" y="684"/>
                  <a:pt x="984" y="560"/>
                </a:cubicBezTo>
                <a:cubicBezTo>
                  <a:pt x="1331" y="436"/>
                  <a:pt x="1852" y="117"/>
                  <a:pt x="2080"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3325" name="Freeform 55"/>
          <p:cNvSpPr>
            <a:spLocks/>
          </p:cNvSpPr>
          <p:nvPr/>
        </p:nvSpPr>
        <p:spPr bwMode="auto">
          <a:xfrm>
            <a:off x="2921000" y="3695700"/>
            <a:ext cx="3276600" cy="1085850"/>
          </a:xfrm>
          <a:custGeom>
            <a:avLst/>
            <a:gdLst>
              <a:gd name="T0" fmla="*/ 0 w 2064"/>
              <a:gd name="T1" fmla="*/ 2147483647 h 684"/>
              <a:gd name="T2" fmla="*/ 2147483647 w 2064"/>
              <a:gd name="T3" fmla="*/ 2147483647 h 684"/>
              <a:gd name="T4" fmla="*/ 2147483647 w 2064"/>
              <a:gd name="T5" fmla="*/ 0 h 684"/>
              <a:gd name="T6" fmla="*/ 0 60000 65536"/>
              <a:gd name="T7" fmla="*/ 0 60000 65536"/>
              <a:gd name="T8" fmla="*/ 0 60000 65536"/>
              <a:gd name="T9" fmla="*/ 0 w 2064"/>
              <a:gd name="T10" fmla="*/ 0 h 684"/>
              <a:gd name="T11" fmla="*/ 2064 w 2064"/>
              <a:gd name="T12" fmla="*/ 684 h 684"/>
            </a:gdLst>
            <a:ahLst/>
            <a:cxnLst>
              <a:cxn ang="T6">
                <a:pos x="T0" y="T1"/>
              </a:cxn>
              <a:cxn ang="T7">
                <a:pos x="T2" y="T3"/>
              </a:cxn>
              <a:cxn ang="T8">
                <a:pos x="T4" y="T5"/>
              </a:cxn>
            </a:cxnLst>
            <a:rect l="T9" t="T10" r="T11" b="T12"/>
            <a:pathLst>
              <a:path w="2064" h="684">
                <a:moveTo>
                  <a:pt x="0" y="684"/>
                </a:moveTo>
                <a:cubicBezTo>
                  <a:pt x="164" y="653"/>
                  <a:pt x="640" y="614"/>
                  <a:pt x="984" y="500"/>
                </a:cubicBezTo>
                <a:cubicBezTo>
                  <a:pt x="1328" y="386"/>
                  <a:pt x="1839" y="104"/>
                  <a:pt x="2064" y="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13326" name="Freeform 56"/>
          <p:cNvSpPr>
            <a:spLocks/>
          </p:cNvSpPr>
          <p:nvPr/>
        </p:nvSpPr>
        <p:spPr bwMode="auto">
          <a:xfrm>
            <a:off x="2895600" y="3568700"/>
            <a:ext cx="3175000" cy="852488"/>
          </a:xfrm>
          <a:custGeom>
            <a:avLst/>
            <a:gdLst>
              <a:gd name="T0" fmla="*/ 0 w 2144"/>
              <a:gd name="T1" fmla="*/ 2147483647 h 537"/>
              <a:gd name="T2" fmla="*/ 2147483647 w 2144"/>
              <a:gd name="T3" fmla="*/ 2147483647 h 537"/>
              <a:gd name="T4" fmla="*/ 2147483647 w 2144"/>
              <a:gd name="T5" fmla="*/ 0 h 537"/>
              <a:gd name="T6" fmla="*/ 0 60000 65536"/>
              <a:gd name="T7" fmla="*/ 0 60000 65536"/>
              <a:gd name="T8" fmla="*/ 0 60000 65536"/>
              <a:gd name="T9" fmla="*/ 0 w 2144"/>
              <a:gd name="T10" fmla="*/ 0 h 537"/>
              <a:gd name="T11" fmla="*/ 2144 w 2144"/>
              <a:gd name="T12" fmla="*/ 537 h 537"/>
            </a:gdLst>
            <a:ahLst/>
            <a:cxnLst>
              <a:cxn ang="T6">
                <a:pos x="T0" y="T1"/>
              </a:cxn>
              <a:cxn ang="T7">
                <a:pos x="T2" y="T3"/>
              </a:cxn>
              <a:cxn ang="T8">
                <a:pos x="T4" y="T5"/>
              </a:cxn>
            </a:cxnLst>
            <a:rect l="T9" t="T10" r="T11" b="T12"/>
            <a:pathLst>
              <a:path w="2144" h="537">
                <a:moveTo>
                  <a:pt x="0" y="248"/>
                </a:moveTo>
                <a:cubicBezTo>
                  <a:pt x="163" y="289"/>
                  <a:pt x="619" y="537"/>
                  <a:pt x="976" y="496"/>
                </a:cubicBezTo>
                <a:cubicBezTo>
                  <a:pt x="1333" y="455"/>
                  <a:pt x="1901" y="103"/>
                  <a:pt x="2144" y="0"/>
                </a:cubicBezTo>
              </a:path>
            </a:pathLst>
          </a:custGeom>
          <a:noFill/>
          <a:ln w="76200">
            <a:solidFill>
              <a:srgbClr val="FF9900"/>
            </a:solidFill>
            <a:round/>
            <a:headEnd/>
            <a:tailEnd type="triangle" w="med" len="med"/>
          </a:ln>
        </p:spPr>
        <p:txBody>
          <a:bodyPr wrap="none" anchor="ctr"/>
          <a:lstStyle/>
          <a:p>
            <a:endParaRPr lang="en-US">
              <a:latin typeface="Arial" pitchFamily="34" charset="0"/>
              <a:cs typeface="Arial" pitchFamily="34" charset="0"/>
            </a:endParaRPr>
          </a:p>
        </p:txBody>
      </p:sp>
      <p:sp>
        <p:nvSpPr>
          <p:cNvPr id="13327" name="Text Box 57"/>
          <p:cNvSpPr txBox="1">
            <a:spLocks noChangeArrowheads="1"/>
          </p:cNvSpPr>
          <p:nvPr/>
        </p:nvSpPr>
        <p:spPr bwMode="auto">
          <a:xfrm>
            <a:off x="6096000" y="28956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FF5050"/>
                </a:solidFill>
                <a:latin typeface="Arial" pitchFamily="34" charset="0"/>
                <a:cs typeface="Arial" pitchFamily="34" charset="0"/>
              </a:rPr>
              <a:t>0</a:t>
            </a:r>
          </a:p>
        </p:txBody>
      </p:sp>
      <p:sp>
        <p:nvSpPr>
          <p:cNvPr id="13328" name="Text Box 58"/>
          <p:cNvSpPr txBox="1">
            <a:spLocks noChangeArrowheads="1"/>
          </p:cNvSpPr>
          <p:nvPr/>
        </p:nvSpPr>
        <p:spPr bwMode="auto">
          <a:xfrm>
            <a:off x="6019800" y="32766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FF9900"/>
                </a:solidFill>
                <a:latin typeface="Arial" pitchFamily="34" charset="0"/>
                <a:cs typeface="Arial" pitchFamily="34" charset="0"/>
              </a:rPr>
              <a:t>1</a:t>
            </a:r>
          </a:p>
        </p:txBody>
      </p:sp>
      <p:sp>
        <p:nvSpPr>
          <p:cNvPr id="13329" name="Text Box 59"/>
          <p:cNvSpPr txBox="1">
            <a:spLocks noChangeArrowheads="1"/>
          </p:cNvSpPr>
          <p:nvPr/>
        </p:nvSpPr>
        <p:spPr bwMode="auto">
          <a:xfrm>
            <a:off x="6248400" y="34290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33CC33"/>
                </a:solidFill>
                <a:latin typeface="Arial" pitchFamily="34" charset="0"/>
                <a:cs typeface="Arial" pitchFamily="34" charset="0"/>
              </a:rPr>
              <a:t>2</a:t>
            </a:r>
          </a:p>
        </p:txBody>
      </p:sp>
      <p:sp>
        <p:nvSpPr>
          <p:cNvPr id="13330" name="Text Box 60"/>
          <p:cNvSpPr txBox="1">
            <a:spLocks noChangeArrowheads="1"/>
          </p:cNvSpPr>
          <p:nvPr/>
        </p:nvSpPr>
        <p:spPr bwMode="auto">
          <a:xfrm>
            <a:off x="6248400" y="3733800"/>
            <a:ext cx="369888" cy="457200"/>
          </a:xfrm>
          <a:prstGeom prst="rect">
            <a:avLst/>
          </a:prstGeom>
          <a:noFill/>
          <a:ln w="9525">
            <a:noFill/>
            <a:miter lim="800000"/>
            <a:headEnd/>
            <a:tailEnd/>
          </a:ln>
        </p:spPr>
        <p:txBody>
          <a:bodyPr wrap="none">
            <a:spAutoFit/>
          </a:bodyPr>
          <a:lstStyle/>
          <a:p>
            <a:pPr algn="ctr">
              <a:spcBef>
                <a:spcPct val="0"/>
              </a:spcBef>
            </a:pPr>
            <a:r>
              <a:rPr lang="en-US">
                <a:solidFill>
                  <a:schemeClr val="accent2"/>
                </a:solidFill>
                <a:latin typeface="Arial" pitchFamily="34" charset="0"/>
                <a:cs typeface="Arial" pitchFamily="34" charset="0"/>
              </a:rPr>
              <a:t>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pPr>
              <a:defRPr/>
            </a:pPr>
            <a:r>
              <a:rPr lang="en-US"/>
              <a:t>Art of Multiprocessor Programming</a:t>
            </a:r>
          </a:p>
        </p:txBody>
      </p:sp>
      <p:sp>
        <p:nvSpPr>
          <p:cNvPr id="63" name="Slide Number Placeholder 4"/>
          <p:cNvSpPr>
            <a:spLocks noGrp="1"/>
          </p:cNvSpPr>
          <p:nvPr>
            <p:ph type="sldNum" sz="quarter" idx="11"/>
          </p:nvPr>
        </p:nvSpPr>
        <p:spPr/>
        <p:txBody>
          <a:bodyPr/>
          <a:lstStyle/>
          <a:p>
            <a:pPr>
              <a:defRPr/>
            </a:pPr>
            <a:fld id="{22D5CEDE-D2B5-4DF5-A1CC-4963A91D426D}" type="slidenum">
              <a:rPr lang="en-US"/>
              <a:pPr>
                <a:defRPr/>
              </a:pPr>
              <a:t>11</a:t>
            </a:fld>
            <a:endParaRPr lang="en-US"/>
          </a:p>
        </p:txBody>
      </p:sp>
      <p:sp>
        <p:nvSpPr>
          <p:cNvPr id="1215490" name="Rectangle 2"/>
          <p:cNvSpPr>
            <a:spLocks noChangeArrowheads="1"/>
          </p:cNvSpPr>
          <p:nvPr/>
        </p:nvSpPr>
        <p:spPr bwMode="auto">
          <a:xfrm>
            <a:off x="3810000" y="2286000"/>
            <a:ext cx="1295400" cy="3657600"/>
          </a:xfrm>
          <a:prstGeom prst="rect">
            <a:avLst/>
          </a:prstGeom>
          <a:solidFill>
            <a:schemeClr val="bg1"/>
          </a:solidFill>
          <a:ln w="38100">
            <a:solidFill>
              <a:srgbClr val="33CC33"/>
            </a:solidFill>
            <a:miter lim="800000"/>
            <a:headEnd/>
            <a:tailEnd/>
          </a:ln>
          <a:effectLst>
            <a:outerShdw dist="107763" dir="2700000" algn="ctr" rotWithShape="0">
              <a:schemeClr val="bg2">
                <a:alpha val="50000"/>
              </a:schemeClr>
            </a:outerShdw>
          </a:effectLst>
        </p:spPr>
        <p:txBody>
          <a:bodyPr wrap="none" anchor="ctr"/>
          <a:lstStyle/>
          <a:p>
            <a:pPr algn="ctr">
              <a:spcBef>
                <a:spcPct val="0"/>
              </a:spcBef>
              <a:defRPr/>
            </a:pPr>
            <a:endParaRPr lang="en-US" sz="4000">
              <a:solidFill>
                <a:srgbClr val="33CC33"/>
              </a:solidFill>
              <a:latin typeface="Arial" pitchFamily="34" charset="0"/>
              <a:cs typeface="Arial" pitchFamily="34" charset="0"/>
            </a:endParaRPr>
          </a:p>
        </p:txBody>
      </p:sp>
      <p:grpSp>
        <p:nvGrpSpPr>
          <p:cNvPr id="14341" name="Group 3"/>
          <p:cNvGrpSpPr>
            <a:grpSpLocks/>
          </p:cNvGrpSpPr>
          <p:nvPr/>
        </p:nvGrpSpPr>
        <p:grpSpPr bwMode="auto">
          <a:xfrm>
            <a:off x="1828800" y="3100388"/>
            <a:ext cx="1219200" cy="1090612"/>
            <a:chOff x="1584" y="816"/>
            <a:chExt cx="912" cy="816"/>
          </a:xfrm>
        </p:grpSpPr>
        <p:sp>
          <p:nvSpPr>
            <p:cNvPr id="14391"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2"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3"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4"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5"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6"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7"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8"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9"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4342" name="Group 13"/>
          <p:cNvGrpSpPr>
            <a:grpSpLocks/>
          </p:cNvGrpSpPr>
          <p:nvPr/>
        </p:nvGrpSpPr>
        <p:grpSpPr bwMode="auto">
          <a:xfrm flipH="1">
            <a:off x="1676400" y="4648200"/>
            <a:ext cx="1219200" cy="1090613"/>
            <a:chOff x="1584" y="816"/>
            <a:chExt cx="912" cy="816"/>
          </a:xfrm>
        </p:grpSpPr>
        <p:sp>
          <p:nvSpPr>
            <p:cNvPr id="14382" name="Freeform 1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3" name="Freeform 1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4" name="Freeform 1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5" name="Freeform 1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6" name="Freeform 1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7" name="Freeform 1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8" name="Freeform 2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9" name="Freeform 2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90" name="Freeform 2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4343" name="Rectangle 23"/>
          <p:cNvSpPr>
            <a:spLocks noGrp="1" noChangeArrowheads="1"/>
          </p:cNvSpPr>
          <p:nvPr>
            <p:ph type="title"/>
          </p:nvPr>
        </p:nvSpPr>
        <p:spPr/>
        <p:txBody>
          <a:bodyPr/>
          <a:lstStyle/>
          <a:p>
            <a:r>
              <a:rPr lang="en-US"/>
              <a:t>Shared Counter</a:t>
            </a:r>
          </a:p>
        </p:txBody>
      </p:sp>
      <p:grpSp>
        <p:nvGrpSpPr>
          <p:cNvPr id="14344" name="Group 24"/>
          <p:cNvGrpSpPr>
            <a:grpSpLocks/>
          </p:cNvGrpSpPr>
          <p:nvPr/>
        </p:nvGrpSpPr>
        <p:grpSpPr bwMode="auto">
          <a:xfrm>
            <a:off x="1600200" y="2362200"/>
            <a:ext cx="1447800" cy="1295400"/>
            <a:chOff x="1584" y="816"/>
            <a:chExt cx="912" cy="816"/>
          </a:xfrm>
        </p:grpSpPr>
        <p:sp>
          <p:nvSpPr>
            <p:cNvPr id="14373" name="Freeform 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4" name="Freeform 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5" name="Freeform 2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6" name="Freeform 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7" name="Freeform 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8" name="Freeform 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9" name="Freeform 3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0" name="Freeform 3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81" name="Freeform 3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4345" name="Group 34"/>
          <p:cNvGrpSpPr>
            <a:grpSpLocks/>
          </p:cNvGrpSpPr>
          <p:nvPr/>
        </p:nvGrpSpPr>
        <p:grpSpPr bwMode="auto">
          <a:xfrm flipH="1">
            <a:off x="1676400" y="5105400"/>
            <a:ext cx="1447800" cy="1295400"/>
            <a:chOff x="1584" y="816"/>
            <a:chExt cx="912" cy="816"/>
          </a:xfrm>
        </p:grpSpPr>
        <p:sp>
          <p:nvSpPr>
            <p:cNvPr id="14364" name="Freeform 3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65" name="Freeform 3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66" name="Freeform 3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67" name="Freeform 3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68" name="Freeform 3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69" name="Freeform 4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0" name="Freeform 4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1" name="Freeform 4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72" name="Freeform 4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4346" name="Group 44"/>
          <p:cNvGrpSpPr>
            <a:grpSpLocks/>
          </p:cNvGrpSpPr>
          <p:nvPr/>
        </p:nvGrpSpPr>
        <p:grpSpPr bwMode="auto">
          <a:xfrm>
            <a:off x="4038600" y="3124200"/>
            <a:ext cx="879475" cy="1905000"/>
            <a:chOff x="2663" y="2544"/>
            <a:chExt cx="554" cy="1200"/>
          </a:xfrm>
        </p:grpSpPr>
        <p:sp>
          <p:nvSpPr>
            <p:cNvPr id="14356" name="AutoShape 45"/>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57" name="AutoShape 46"/>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4358" name="Oval 47"/>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359" name="Line 48"/>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4360" name="Line 49"/>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4361" name="Text Box 50"/>
            <p:cNvSpPr txBox="1">
              <a:spLocks noChangeArrowheads="1"/>
            </p:cNvSpPr>
            <p:nvPr/>
          </p:nvSpPr>
          <p:spPr bwMode="auto">
            <a:xfrm>
              <a:off x="2906" y="2736"/>
              <a:ext cx="214" cy="250"/>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3</a:t>
              </a:r>
            </a:p>
          </p:txBody>
        </p:sp>
        <p:sp>
          <p:nvSpPr>
            <p:cNvPr id="14362" name="Text Box 51"/>
            <p:cNvSpPr txBox="1">
              <a:spLocks noChangeArrowheads="1"/>
            </p:cNvSpPr>
            <p:nvPr/>
          </p:nvSpPr>
          <p:spPr bwMode="auto">
            <a:xfrm>
              <a:off x="2858" y="3110"/>
              <a:ext cx="214" cy="250"/>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2</a:t>
              </a:r>
            </a:p>
          </p:txBody>
        </p:sp>
        <p:sp>
          <p:nvSpPr>
            <p:cNvPr id="14363" name="Text Box 52"/>
            <p:cNvSpPr txBox="1">
              <a:spLocks noChangeArrowheads="1"/>
            </p:cNvSpPr>
            <p:nvPr/>
          </p:nvSpPr>
          <p:spPr bwMode="auto">
            <a:xfrm>
              <a:off x="2923" y="3456"/>
              <a:ext cx="206" cy="252"/>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1</a:t>
              </a:r>
            </a:p>
          </p:txBody>
        </p:sp>
      </p:grpSp>
      <p:sp>
        <p:nvSpPr>
          <p:cNvPr id="14347" name="Freeform 53"/>
          <p:cNvSpPr>
            <a:spLocks/>
          </p:cNvSpPr>
          <p:nvPr/>
        </p:nvSpPr>
        <p:spPr bwMode="auto">
          <a:xfrm>
            <a:off x="2971800" y="3289300"/>
            <a:ext cx="3136900" cy="836613"/>
          </a:xfrm>
          <a:custGeom>
            <a:avLst/>
            <a:gdLst>
              <a:gd name="T0" fmla="*/ 0 w 1976"/>
              <a:gd name="T1" fmla="*/ 2147483647 h 527"/>
              <a:gd name="T2" fmla="*/ 2147483647 w 1976"/>
              <a:gd name="T3" fmla="*/ 2147483647 h 527"/>
              <a:gd name="T4" fmla="*/ 2147483647 w 1976"/>
              <a:gd name="T5" fmla="*/ 0 h 527"/>
              <a:gd name="T6" fmla="*/ 0 60000 65536"/>
              <a:gd name="T7" fmla="*/ 0 60000 65536"/>
              <a:gd name="T8" fmla="*/ 0 60000 65536"/>
              <a:gd name="T9" fmla="*/ 0 w 1976"/>
              <a:gd name="T10" fmla="*/ 0 h 527"/>
              <a:gd name="T11" fmla="*/ 1976 w 1976"/>
              <a:gd name="T12" fmla="*/ 527 h 527"/>
            </a:gdLst>
            <a:ahLst/>
            <a:cxnLst>
              <a:cxn ang="T6">
                <a:pos x="T0" y="T1"/>
              </a:cxn>
              <a:cxn ang="T7">
                <a:pos x="T2" y="T3"/>
              </a:cxn>
              <a:cxn ang="T8">
                <a:pos x="T4" y="T5"/>
              </a:cxn>
            </a:cxnLst>
            <a:rect l="T9" t="T10" r="T11" b="T12"/>
            <a:pathLst>
              <a:path w="1976" h="527">
                <a:moveTo>
                  <a:pt x="0" y="88"/>
                </a:moveTo>
                <a:cubicBezTo>
                  <a:pt x="149" y="159"/>
                  <a:pt x="567" y="527"/>
                  <a:pt x="896" y="512"/>
                </a:cubicBezTo>
                <a:cubicBezTo>
                  <a:pt x="1225" y="497"/>
                  <a:pt x="1751" y="107"/>
                  <a:pt x="1976" y="0"/>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4348" name="Freeform 54"/>
          <p:cNvSpPr>
            <a:spLocks/>
          </p:cNvSpPr>
          <p:nvPr/>
        </p:nvSpPr>
        <p:spPr bwMode="auto">
          <a:xfrm>
            <a:off x="2971800" y="3924300"/>
            <a:ext cx="3302000" cy="1181100"/>
          </a:xfrm>
          <a:custGeom>
            <a:avLst/>
            <a:gdLst>
              <a:gd name="T0" fmla="*/ 0 w 2080"/>
              <a:gd name="T1" fmla="*/ 2147483647 h 744"/>
              <a:gd name="T2" fmla="*/ 2147483647 w 2080"/>
              <a:gd name="T3" fmla="*/ 2147483647 h 744"/>
              <a:gd name="T4" fmla="*/ 2147483647 w 2080"/>
              <a:gd name="T5" fmla="*/ 0 h 744"/>
              <a:gd name="T6" fmla="*/ 0 60000 65536"/>
              <a:gd name="T7" fmla="*/ 0 60000 65536"/>
              <a:gd name="T8" fmla="*/ 0 60000 65536"/>
              <a:gd name="T9" fmla="*/ 0 w 2080"/>
              <a:gd name="T10" fmla="*/ 0 h 744"/>
              <a:gd name="T11" fmla="*/ 2080 w 2080"/>
              <a:gd name="T12" fmla="*/ 744 h 744"/>
            </a:gdLst>
            <a:ahLst/>
            <a:cxnLst>
              <a:cxn ang="T6">
                <a:pos x="T0" y="T1"/>
              </a:cxn>
              <a:cxn ang="T7">
                <a:pos x="T2" y="T3"/>
              </a:cxn>
              <a:cxn ang="T8">
                <a:pos x="T4" y="T5"/>
              </a:cxn>
            </a:cxnLst>
            <a:rect l="T9" t="T10" r="T11" b="T12"/>
            <a:pathLst>
              <a:path w="2080" h="744">
                <a:moveTo>
                  <a:pt x="0" y="744"/>
                </a:moveTo>
                <a:cubicBezTo>
                  <a:pt x="164" y="713"/>
                  <a:pt x="637" y="684"/>
                  <a:pt x="984" y="560"/>
                </a:cubicBezTo>
                <a:cubicBezTo>
                  <a:pt x="1331" y="436"/>
                  <a:pt x="1852" y="117"/>
                  <a:pt x="2080"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4349" name="Freeform 55"/>
          <p:cNvSpPr>
            <a:spLocks/>
          </p:cNvSpPr>
          <p:nvPr/>
        </p:nvSpPr>
        <p:spPr bwMode="auto">
          <a:xfrm>
            <a:off x="2921000" y="3695700"/>
            <a:ext cx="3276600" cy="1085850"/>
          </a:xfrm>
          <a:custGeom>
            <a:avLst/>
            <a:gdLst>
              <a:gd name="T0" fmla="*/ 0 w 2064"/>
              <a:gd name="T1" fmla="*/ 2147483647 h 684"/>
              <a:gd name="T2" fmla="*/ 2147483647 w 2064"/>
              <a:gd name="T3" fmla="*/ 2147483647 h 684"/>
              <a:gd name="T4" fmla="*/ 2147483647 w 2064"/>
              <a:gd name="T5" fmla="*/ 0 h 684"/>
              <a:gd name="T6" fmla="*/ 0 60000 65536"/>
              <a:gd name="T7" fmla="*/ 0 60000 65536"/>
              <a:gd name="T8" fmla="*/ 0 60000 65536"/>
              <a:gd name="T9" fmla="*/ 0 w 2064"/>
              <a:gd name="T10" fmla="*/ 0 h 684"/>
              <a:gd name="T11" fmla="*/ 2064 w 2064"/>
              <a:gd name="T12" fmla="*/ 684 h 684"/>
            </a:gdLst>
            <a:ahLst/>
            <a:cxnLst>
              <a:cxn ang="T6">
                <a:pos x="T0" y="T1"/>
              </a:cxn>
              <a:cxn ang="T7">
                <a:pos x="T2" y="T3"/>
              </a:cxn>
              <a:cxn ang="T8">
                <a:pos x="T4" y="T5"/>
              </a:cxn>
            </a:cxnLst>
            <a:rect l="T9" t="T10" r="T11" b="T12"/>
            <a:pathLst>
              <a:path w="2064" h="684">
                <a:moveTo>
                  <a:pt x="0" y="684"/>
                </a:moveTo>
                <a:cubicBezTo>
                  <a:pt x="164" y="653"/>
                  <a:pt x="640" y="614"/>
                  <a:pt x="984" y="500"/>
                </a:cubicBezTo>
                <a:cubicBezTo>
                  <a:pt x="1328" y="386"/>
                  <a:pt x="1839" y="104"/>
                  <a:pt x="2064" y="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14350" name="Freeform 56"/>
          <p:cNvSpPr>
            <a:spLocks/>
          </p:cNvSpPr>
          <p:nvPr/>
        </p:nvSpPr>
        <p:spPr bwMode="auto">
          <a:xfrm>
            <a:off x="2895600" y="3568700"/>
            <a:ext cx="3175000" cy="852488"/>
          </a:xfrm>
          <a:custGeom>
            <a:avLst/>
            <a:gdLst>
              <a:gd name="T0" fmla="*/ 0 w 2144"/>
              <a:gd name="T1" fmla="*/ 2147483647 h 537"/>
              <a:gd name="T2" fmla="*/ 2147483647 w 2144"/>
              <a:gd name="T3" fmla="*/ 2147483647 h 537"/>
              <a:gd name="T4" fmla="*/ 2147483647 w 2144"/>
              <a:gd name="T5" fmla="*/ 0 h 537"/>
              <a:gd name="T6" fmla="*/ 0 60000 65536"/>
              <a:gd name="T7" fmla="*/ 0 60000 65536"/>
              <a:gd name="T8" fmla="*/ 0 60000 65536"/>
              <a:gd name="T9" fmla="*/ 0 w 2144"/>
              <a:gd name="T10" fmla="*/ 0 h 537"/>
              <a:gd name="T11" fmla="*/ 2144 w 2144"/>
              <a:gd name="T12" fmla="*/ 537 h 537"/>
            </a:gdLst>
            <a:ahLst/>
            <a:cxnLst>
              <a:cxn ang="T6">
                <a:pos x="T0" y="T1"/>
              </a:cxn>
              <a:cxn ang="T7">
                <a:pos x="T2" y="T3"/>
              </a:cxn>
              <a:cxn ang="T8">
                <a:pos x="T4" y="T5"/>
              </a:cxn>
            </a:cxnLst>
            <a:rect l="T9" t="T10" r="T11" b="T12"/>
            <a:pathLst>
              <a:path w="2144" h="537">
                <a:moveTo>
                  <a:pt x="0" y="248"/>
                </a:moveTo>
                <a:cubicBezTo>
                  <a:pt x="163" y="289"/>
                  <a:pt x="619" y="537"/>
                  <a:pt x="976" y="496"/>
                </a:cubicBezTo>
                <a:cubicBezTo>
                  <a:pt x="1333" y="455"/>
                  <a:pt x="1901" y="103"/>
                  <a:pt x="2144" y="0"/>
                </a:cubicBezTo>
              </a:path>
            </a:pathLst>
          </a:custGeom>
          <a:noFill/>
          <a:ln w="76200">
            <a:solidFill>
              <a:srgbClr val="FF9900"/>
            </a:solidFill>
            <a:round/>
            <a:headEnd/>
            <a:tailEnd type="triangle" w="med" len="med"/>
          </a:ln>
        </p:spPr>
        <p:txBody>
          <a:bodyPr wrap="none" anchor="ctr"/>
          <a:lstStyle/>
          <a:p>
            <a:endParaRPr lang="en-US">
              <a:latin typeface="Arial" pitchFamily="34" charset="0"/>
              <a:cs typeface="Arial" pitchFamily="34" charset="0"/>
            </a:endParaRPr>
          </a:p>
        </p:txBody>
      </p:sp>
      <p:sp>
        <p:nvSpPr>
          <p:cNvPr id="14351" name="Text Box 57"/>
          <p:cNvSpPr txBox="1">
            <a:spLocks noChangeArrowheads="1"/>
          </p:cNvSpPr>
          <p:nvPr/>
        </p:nvSpPr>
        <p:spPr bwMode="auto">
          <a:xfrm>
            <a:off x="6096000" y="28956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FF5050"/>
                </a:solidFill>
                <a:latin typeface="Arial" pitchFamily="34" charset="0"/>
                <a:cs typeface="Arial" pitchFamily="34" charset="0"/>
              </a:rPr>
              <a:t>0</a:t>
            </a:r>
          </a:p>
        </p:txBody>
      </p:sp>
      <p:sp>
        <p:nvSpPr>
          <p:cNvPr id="14352" name="Text Box 58"/>
          <p:cNvSpPr txBox="1">
            <a:spLocks noChangeArrowheads="1"/>
          </p:cNvSpPr>
          <p:nvPr/>
        </p:nvSpPr>
        <p:spPr bwMode="auto">
          <a:xfrm>
            <a:off x="6019800" y="32766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FF9900"/>
                </a:solidFill>
                <a:latin typeface="Arial" pitchFamily="34" charset="0"/>
                <a:cs typeface="Arial" pitchFamily="34" charset="0"/>
              </a:rPr>
              <a:t>1</a:t>
            </a:r>
          </a:p>
        </p:txBody>
      </p:sp>
      <p:sp>
        <p:nvSpPr>
          <p:cNvPr id="14353" name="Text Box 59"/>
          <p:cNvSpPr txBox="1">
            <a:spLocks noChangeArrowheads="1"/>
          </p:cNvSpPr>
          <p:nvPr/>
        </p:nvSpPr>
        <p:spPr bwMode="auto">
          <a:xfrm>
            <a:off x="6248400" y="34290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33CC33"/>
                </a:solidFill>
                <a:latin typeface="Arial" pitchFamily="34" charset="0"/>
                <a:cs typeface="Arial" pitchFamily="34" charset="0"/>
              </a:rPr>
              <a:t>2</a:t>
            </a:r>
          </a:p>
        </p:txBody>
      </p:sp>
      <p:sp>
        <p:nvSpPr>
          <p:cNvPr id="14354" name="Text Box 60"/>
          <p:cNvSpPr txBox="1">
            <a:spLocks noChangeArrowheads="1"/>
          </p:cNvSpPr>
          <p:nvPr/>
        </p:nvSpPr>
        <p:spPr bwMode="auto">
          <a:xfrm>
            <a:off x="6248400" y="3733800"/>
            <a:ext cx="369888" cy="457200"/>
          </a:xfrm>
          <a:prstGeom prst="rect">
            <a:avLst/>
          </a:prstGeom>
          <a:noFill/>
          <a:ln w="9525">
            <a:noFill/>
            <a:miter lim="800000"/>
            <a:headEnd/>
            <a:tailEnd/>
          </a:ln>
        </p:spPr>
        <p:txBody>
          <a:bodyPr wrap="none">
            <a:spAutoFit/>
          </a:bodyPr>
          <a:lstStyle/>
          <a:p>
            <a:pPr algn="ctr">
              <a:spcBef>
                <a:spcPct val="0"/>
              </a:spcBef>
            </a:pPr>
            <a:r>
              <a:rPr lang="en-US">
                <a:solidFill>
                  <a:schemeClr val="accent2"/>
                </a:solidFill>
                <a:latin typeface="Arial" pitchFamily="34" charset="0"/>
                <a:cs typeface="Arial" pitchFamily="34" charset="0"/>
              </a:rPr>
              <a:t>3</a:t>
            </a:r>
          </a:p>
        </p:txBody>
      </p:sp>
      <p:sp>
        <p:nvSpPr>
          <p:cNvPr id="14355" name="AutoShape 62"/>
          <p:cNvSpPr>
            <a:spLocks noChangeArrowheads="1"/>
          </p:cNvSpPr>
          <p:nvPr/>
        </p:nvSpPr>
        <p:spPr bwMode="auto">
          <a:xfrm>
            <a:off x="3505200" y="1600200"/>
            <a:ext cx="3276600" cy="914400"/>
          </a:xfrm>
          <a:prstGeom prst="wedgeRoundRectCallout">
            <a:avLst>
              <a:gd name="adj1" fmla="val -68991"/>
              <a:gd name="adj2" fmla="val 56079"/>
              <a:gd name="adj3" fmla="val 16667"/>
            </a:avLst>
          </a:prstGeom>
          <a:solidFill>
            <a:schemeClr val="bg1">
              <a:alpha val="89803"/>
            </a:schemeClr>
          </a:solidFill>
          <a:ln w="38100">
            <a:solidFill>
              <a:srgbClr val="FF5050"/>
            </a:solidFill>
            <a:miter lim="800000"/>
            <a:headEnd/>
            <a:tailEnd/>
          </a:ln>
        </p:spPr>
        <p:txBody>
          <a:bodyPr anchor="ctr"/>
          <a:lstStyle/>
          <a:p>
            <a:pPr algn="ctr">
              <a:spcBef>
                <a:spcPct val="0"/>
              </a:spcBef>
            </a:pPr>
            <a:r>
              <a:rPr lang="en-US" sz="2800" b="0">
                <a:solidFill>
                  <a:srgbClr val="FF5050"/>
                </a:solidFill>
                <a:latin typeface="Arial" pitchFamily="34" charset="0"/>
                <a:cs typeface="Arial" pitchFamily="34" charset="0"/>
              </a:rPr>
              <a:t>No duplication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3"/>
          <p:cNvSpPr>
            <a:spLocks noGrp="1"/>
          </p:cNvSpPr>
          <p:nvPr>
            <p:ph type="ftr" sz="quarter" idx="10"/>
          </p:nvPr>
        </p:nvSpPr>
        <p:spPr/>
        <p:txBody>
          <a:bodyPr/>
          <a:lstStyle/>
          <a:p>
            <a:pPr>
              <a:defRPr/>
            </a:pPr>
            <a:r>
              <a:rPr lang="en-US"/>
              <a:t>Art of Multiprocessor Programming</a:t>
            </a:r>
          </a:p>
        </p:txBody>
      </p:sp>
      <p:sp>
        <p:nvSpPr>
          <p:cNvPr id="64" name="Slide Number Placeholder 4"/>
          <p:cNvSpPr>
            <a:spLocks noGrp="1"/>
          </p:cNvSpPr>
          <p:nvPr>
            <p:ph type="sldNum" sz="quarter" idx="11"/>
          </p:nvPr>
        </p:nvSpPr>
        <p:spPr/>
        <p:txBody>
          <a:bodyPr/>
          <a:lstStyle/>
          <a:p>
            <a:pPr>
              <a:defRPr/>
            </a:pPr>
            <a:fld id="{C917ED74-4172-42FD-9360-95340AC53D9C}" type="slidenum">
              <a:rPr lang="en-US"/>
              <a:pPr>
                <a:defRPr/>
              </a:pPr>
              <a:t>12</a:t>
            </a:fld>
            <a:endParaRPr lang="en-US"/>
          </a:p>
        </p:txBody>
      </p:sp>
      <p:sp>
        <p:nvSpPr>
          <p:cNvPr id="1217538" name="Rectangle 2"/>
          <p:cNvSpPr>
            <a:spLocks noChangeArrowheads="1"/>
          </p:cNvSpPr>
          <p:nvPr/>
        </p:nvSpPr>
        <p:spPr bwMode="auto">
          <a:xfrm>
            <a:off x="3810000" y="2286000"/>
            <a:ext cx="1295400" cy="3657600"/>
          </a:xfrm>
          <a:prstGeom prst="rect">
            <a:avLst/>
          </a:prstGeom>
          <a:solidFill>
            <a:schemeClr val="bg1"/>
          </a:solidFill>
          <a:ln w="38100">
            <a:solidFill>
              <a:srgbClr val="33CC33"/>
            </a:solidFill>
            <a:miter lim="800000"/>
            <a:headEnd/>
            <a:tailEnd/>
          </a:ln>
          <a:effectLst>
            <a:outerShdw dist="107763" dir="2700000" algn="ctr" rotWithShape="0">
              <a:schemeClr val="bg2">
                <a:alpha val="50000"/>
              </a:schemeClr>
            </a:outerShdw>
          </a:effectLst>
        </p:spPr>
        <p:txBody>
          <a:bodyPr wrap="none" anchor="ctr"/>
          <a:lstStyle/>
          <a:p>
            <a:pPr algn="ctr">
              <a:spcBef>
                <a:spcPct val="0"/>
              </a:spcBef>
              <a:defRPr/>
            </a:pPr>
            <a:endParaRPr lang="en-US" sz="4000">
              <a:solidFill>
                <a:srgbClr val="33CC33"/>
              </a:solidFill>
              <a:latin typeface="Arial" pitchFamily="34" charset="0"/>
              <a:cs typeface="Arial" pitchFamily="34" charset="0"/>
            </a:endParaRPr>
          </a:p>
        </p:txBody>
      </p:sp>
      <p:grpSp>
        <p:nvGrpSpPr>
          <p:cNvPr id="15365" name="Group 3"/>
          <p:cNvGrpSpPr>
            <a:grpSpLocks/>
          </p:cNvGrpSpPr>
          <p:nvPr/>
        </p:nvGrpSpPr>
        <p:grpSpPr bwMode="auto">
          <a:xfrm>
            <a:off x="1828800" y="3100388"/>
            <a:ext cx="1219200" cy="1090612"/>
            <a:chOff x="1584" y="816"/>
            <a:chExt cx="912" cy="816"/>
          </a:xfrm>
        </p:grpSpPr>
        <p:sp>
          <p:nvSpPr>
            <p:cNvPr id="15416"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7"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8"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9"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20"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21"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22"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23"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24"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366" name="Group 13"/>
          <p:cNvGrpSpPr>
            <a:grpSpLocks/>
          </p:cNvGrpSpPr>
          <p:nvPr/>
        </p:nvGrpSpPr>
        <p:grpSpPr bwMode="auto">
          <a:xfrm flipH="1">
            <a:off x="1676400" y="4648200"/>
            <a:ext cx="1219200" cy="1090613"/>
            <a:chOff x="1584" y="816"/>
            <a:chExt cx="912" cy="816"/>
          </a:xfrm>
        </p:grpSpPr>
        <p:sp>
          <p:nvSpPr>
            <p:cNvPr id="15407" name="Freeform 1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8" name="Freeform 1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9" name="Freeform 1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0" name="Freeform 1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1" name="Freeform 1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2" name="Freeform 1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3" name="Freeform 2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4" name="Freeform 2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15" name="Freeform 2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5367" name="Rectangle 23"/>
          <p:cNvSpPr>
            <a:spLocks noGrp="1" noChangeArrowheads="1"/>
          </p:cNvSpPr>
          <p:nvPr>
            <p:ph type="title"/>
          </p:nvPr>
        </p:nvSpPr>
        <p:spPr/>
        <p:txBody>
          <a:bodyPr/>
          <a:lstStyle/>
          <a:p>
            <a:r>
              <a:rPr lang="en-US"/>
              <a:t>Shared Counter</a:t>
            </a:r>
          </a:p>
        </p:txBody>
      </p:sp>
      <p:grpSp>
        <p:nvGrpSpPr>
          <p:cNvPr id="15368" name="Group 24"/>
          <p:cNvGrpSpPr>
            <a:grpSpLocks/>
          </p:cNvGrpSpPr>
          <p:nvPr/>
        </p:nvGrpSpPr>
        <p:grpSpPr bwMode="auto">
          <a:xfrm>
            <a:off x="1600200" y="2362200"/>
            <a:ext cx="1447800" cy="1295400"/>
            <a:chOff x="1584" y="816"/>
            <a:chExt cx="912" cy="816"/>
          </a:xfrm>
        </p:grpSpPr>
        <p:sp>
          <p:nvSpPr>
            <p:cNvPr id="15398" name="Freeform 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9" name="Freeform 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0" name="Freeform 2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1" name="Freeform 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2" name="Freeform 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3" name="Freeform 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4" name="Freeform 3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5" name="Freeform 3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06" name="Freeform 3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369" name="Group 34"/>
          <p:cNvGrpSpPr>
            <a:grpSpLocks/>
          </p:cNvGrpSpPr>
          <p:nvPr/>
        </p:nvGrpSpPr>
        <p:grpSpPr bwMode="auto">
          <a:xfrm flipH="1">
            <a:off x="1676400" y="5105400"/>
            <a:ext cx="1447800" cy="1295400"/>
            <a:chOff x="1584" y="816"/>
            <a:chExt cx="912" cy="816"/>
          </a:xfrm>
        </p:grpSpPr>
        <p:sp>
          <p:nvSpPr>
            <p:cNvPr id="15389" name="Freeform 3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0" name="Freeform 3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1" name="Freeform 3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2" name="Freeform 3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3" name="Freeform 3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4" name="Freeform 4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5" name="Freeform 4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6" name="Freeform 4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97" name="Freeform 4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370" name="Group 44"/>
          <p:cNvGrpSpPr>
            <a:grpSpLocks/>
          </p:cNvGrpSpPr>
          <p:nvPr/>
        </p:nvGrpSpPr>
        <p:grpSpPr bwMode="auto">
          <a:xfrm>
            <a:off x="4038600" y="3124200"/>
            <a:ext cx="879475" cy="1905000"/>
            <a:chOff x="2663" y="2544"/>
            <a:chExt cx="554" cy="1200"/>
          </a:xfrm>
        </p:grpSpPr>
        <p:sp>
          <p:nvSpPr>
            <p:cNvPr id="15381" name="AutoShape 45"/>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82" name="AutoShape 46"/>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5383" name="Oval 47"/>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84" name="Line 48"/>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5385" name="Line 49"/>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5386" name="Text Box 50"/>
            <p:cNvSpPr txBox="1">
              <a:spLocks noChangeArrowheads="1"/>
            </p:cNvSpPr>
            <p:nvPr/>
          </p:nvSpPr>
          <p:spPr bwMode="auto">
            <a:xfrm>
              <a:off x="2906" y="2736"/>
              <a:ext cx="214" cy="250"/>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3</a:t>
              </a:r>
            </a:p>
          </p:txBody>
        </p:sp>
        <p:sp>
          <p:nvSpPr>
            <p:cNvPr id="15387" name="Text Box 51"/>
            <p:cNvSpPr txBox="1">
              <a:spLocks noChangeArrowheads="1"/>
            </p:cNvSpPr>
            <p:nvPr/>
          </p:nvSpPr>
          <p:spPr bwMode="auto">
            <a:xfrm>
              <a:off x="2858" y="3110"/>
              <a:ext cx="214" cy="250"/>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2</a:t>
              </a:r>
            </a:p>
          </p:txBody>
        </p:sp>
        <p:sp>
          <p:nvSpPr>
            <p:cNvPr id="15388" name="Text Box 52"/>
            <p:cNvSpPr txBox="1">
              <a:spLocks noChangeArrowheads="1"/>
            </p:cNvSpPr>
            <p:nvPr/>
          </p:nvSpPr>
          <p:spPr bwMode="auto">
            <a:xfrm>
              <a:off x="2923" y="3456"/>
              <a:ext cx="206" cy="252"/>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1</a:t>
              </a:r>
            </a:p>
          </p:txBody>
        </p:sp>
      </p:grpSp>
      <p:sp>
        <p:nvSpPr>
          <p:cNvPr id="15371" name="Freeform 53"/>
          <p:cNvSpPr>
            <a:spLocks/>
          </p:cNvSpPr>
          <p:nvPr/>
        </p:nvSpPr>
        <p:spPr bwMode="auto">
          <a:xfrm>
            <a:off x="2971800" y="3289300"/>
            <a:ext cx="3136900" cy="836613"/>
          </a:xfrm>
          <a:custGeom>
            <a:avLst/>
            <a:gdLst>
              <a:gd name="T0" fmla="*/ 0 w 1976"/>
              <a:gd name="T1" fmla="*/ 2147483647 h 527"/>
              <a:gd name="T2" fmla="*/ 2147483647 w 1976"/>
              <a:gd name="T3" fmla="*/ 2147483647 h 527"/>
              <a:gd name="T4" fmla="*/ 2147483647 w 1976"/>
              <a:gd name="T5" fmla="*/ 0 h 527"/>
              <a:gd name="T6" fmla="*/ 0 60000 65536"/>
              <a:gd name="T7" fmla="*/ 0 60000 65536"/>
              <a:gd name="T8" fmla="*/ 0 60000 65536"/>
              <a:gd name="T9" fmla="*/ 0 w 1976"/>
              <a:gd name="T10" fmla="*/ 0 h 527"/>
              <a:gd name="T11" fmla="*/ 1976 w 1976"/>
              <a:gd name="T12" fmla="*/ 527 h 527"/>
            </a:gdLst>
            <a:ahLst/>
            <a:cxnLst>
              <a:cxn ang="T6">
                <a:pos x="T0" y="T1"/>
              </a:cxn>
              <a:cxn ang="T7">
                <a:pos x="T2" y="T3"/>
              </a:cxn>
              <a:cxn ang="T8">
                <a:pos x="T4" y="T5"/>
              </a:cxn>
            </a:cxnLst>
            <a:rect l="T9" t="T10" r="T11" b="T12"/>
            <a:pathLst>
              <a:path w="1976" h="527">
                <a:moveTo>
                  <a:pt x="0" y="88"/>
                </a:moveTo>
                <a:cubicBezTo>
                  <a:pt x="149" y="159"/>
                  <a:pt x="567" y="527"/>
                  <a:pt x="896" y="512"/>
                </a:cubicBezTo>
                <a:cubicBezTo>
                  <a:pt x="1225" y="497"/>
                  <a:pt x="1751" y="107"/>
                  <a:pt x="1976" y="0"/>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5372" name="Freeform 54"/>
          <p:cNvSpPr>
            <a:spLocks/>
          </p:cNvSpPr>
          <p:nvPr/>
        </p:nvSpPr>
        <p:spPr bwMode="auto">
          <a:xfrm>
            <a:off x="2971800" y="3924300"/>
            <a:ext cx="3302000" cy="1181100"/>
          </a:xfrm>
          <a:custGeom>
            <a:avLst/>
            <a:gdLst>
              <a:gd name="T0" fmla="*/ 0 w 2080"/>
              <a:gd name="T1" fmla="*/ 2147483647 h 744"/>
              <a:gd name="T2" fmla="*/ 2147483647 w 2080"/>
              <a:gd name="T3" fmla="*/ 2147483647 h 744"/>
              <a:gd name="T4" fmla="*/ 2147483647 w 2080"/>
              <a:gd name="T5" fmla="*/ 0 h 744"/>
              <a:gd name="T6" fmla="*/ 0 60000 65536"/>
              <a:gd name="T7" fmla="*/ 0 60000 65536"/>
              <a:gd name="T8" fmla="*/ 0 60000 65536"/>
              <a:gd name="T9" fmla="*/ 0 w 2080"/>
              <a:gd name="T10" fmla="*/ 0 h 744"/>
              <a:gd name="T11" fmla="*/ 2080 w 2080"/>
              <a:gd name="T12" fmla="*/ 744 h 744"/>
            </a:gdLst>
            <a:ahLst/>
            <a:cxnLst>
              <a:cxn ang="T6">
                <a:pos x="T0" y="T1"/>
              </a:cxn>
              <a:cxn ang="T7">
                <a:pos x="T2" y="T3"/>
              </a:cxn>
              <a:cxn ang="T8">
                <a:pos x="T4" y="T5"/>
              </a:cxn>
            </a:cxnLst>
            <a:rect l="T9" t="T10" r="T11" b="T12"/>
            <a:pathLst>
              <a:path w="2080" h="744">
                <a:moveTo>
                  <a:pt x="0" y="744"/>
                </a:moveTo>
                <a:cubicBezTo>
                  <a:pt x="164" y="713"/>
                  <a:pt x="637" y="684"/>
                  <a:pt x="984" y="560"/>
                </a:cubicBezTo>
                <a:cubicBezTo>
                  <a:pt x="1331" y="436"/>
                  <a:pt x="1852" y="117"/>
                  <a:pt x="2080"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5373" name="Freeform 55"/>
          <p:cNvSpPr>
            <a:spLocks/>
          </p:cNvSpPr>
          <p:nvPr/>
        </p:nvSpPr>
        <p:spPr bwMode="auto">
          <a:xfrm>
            <a:off x="2921000" y="3695700"/>
            <a:ext cx="3276600" cy="1085850"/>
          </a:xfrm>
          <a:custGeom>
            <a:avLst/>
            <a:gdLst>
              <a:gd name="T0" fmla="*/ 0 w 2064"/>
              <a:gd name="T1" fmla="*/ 2147483647 h 684"/>
              <a:gd name="T2" fmla="*/ 2147483647 w 2064"/>
              <a:gd name="T3" fmla="*/ 2147483647 h 684"/>
              <a:gd name="T4" fmla="*/ 2147483647 w 2064"/>
              <a:gd name="T5" fmla="*/ 0 h 684"/>
              <a:gd name="T6" fmla="*/ 0 60000 65536"/>
              <a:gd name="T7" fmla="*/ 0 60000 65536"/>
              <a:gd name="T8" fmla="*/ 0 60000 65536"/>
              <a:gd name="T9" fmla="*/ 0 w 2064"/>
              <a:gd name="T10" fmla="*/ 0 h 684"/>
              <a:gd name="T11" fmla="*/ 2064 w 2064"/>
              <a:gd name="T12" fmla="*/ 684 h 684"/>
            </a:gdLst>
            <a:ahLst/>
            <a:cxnLst>
              <a:cxn ang="T6">
                <a:pos x="T0" y="T1"/>
              </a:cxn>
              <a:cxn ang="T7">
                <a:pos x="T2" y="T3"/>
              </a:cxn>
              <a:cxn ang="T8">
                <a:pos x="T4" y="T5"/>
              </a:cxn>
            </a:cxnLst>
            <a:rect l="T9" t="T10" r="T11" b="T12"/>
            <a:pathLst>
              <a:path w="2064" h="684">
                <a:moveTo>
                  <a:pt x="0" y="684"/>
                </a:moveTo>
                <a:cubicBezTo>
                  <a:pt x="164" y="653"/>
                  <a:pt x="640" y="614"/>
                  <a:pt x="984" y="500"/>
                </a:cubicBezTo>
                <a:cubicBezTo>
                  <a:pt x="1328" y="386"/>
                  <a:pt x="1839" y="104"/>
                  <a:pt x="2064" y="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15374" name="Freeform 56"/>
          <p:cNvSpPr>
            <a:spLocks/>
          </p:cNvSpPr>
          <p:nvPr/>
        </p:nvSpPr>
        <p:spPr bwMode="auto">
          <a:xfrm>
            <a:off x="2895600" y="3568700"/>
            <a:ext cx="3175000" cy="852488"/>
          </a:xfrm>
          <a:custGeom>
            <a:avLst/>
            <a:gdLst>
              <a:gd name="T0" fmla="*/ 0 w 2144"/>
              <a:gd name="T1" fmla="*/ 2147483647 h 537"/>
              <a:gd name="T2" fmla="*/ 2147483647 w 2144"/>
              <a:gd name="T3" fmla="*/ 2147483647 h 537"/>
              <a:gd name="T4" fmla="*/ 2147483647 w 2144"/>
              <a:gd name="T5" fmla="*/ 0 h 537"/>
              <a:gd name="T6" fmla="*/ 0 60000 65536"/>
              <a:gd name="T7" fmla="*/ 0 60000 65536"/>
              <a:gd name="T8" fmla="*/ 0 60000 65536"/>
              <a:gd name="T9" fmla="*/ 0 w 2144"/>
              <a:gd name="T10" fmla="*/ 0 h 537"/>
              <a:gd name="T11" fmla="*/ 2144 w 2144"/>
              <a:gd name="T12" fmla="*/ 537 h 537"/>
            </a:gdLst>
            <a:ahLst/>
            <a:cxnLst>
              <a:cxn ang="T6">
                <a:pos x="T0" y="T1"/>
              </a:cxn>
              <a:cxn ang="T7">
                <a:pos x="T2" y="T3"/>
              </a:cxn>
              <a:cxn ang="T8">
                <a:pos x="T4" y="T5"/>
              </a:cxn>
            </a:cxnLst>
            <a:rect l="T9" t="T10" r="T11" b="T12"/>
            <a:pathLst>
              <a:path w="2144" h="537">
                <a:moveTo>
                  <a:pt x="0" y="248"/>
                </a:moveTo>
                <a:cubicBezTo>
                  <a:pt x="163" y="289"/>
                  <a:pt x="619" y="537"/>
                  <a:pt x="976" y="496"/>
                </a:cubicBezTo>
                <a:cubicBezTo>
                  <a:pt x="1333" y="455"/>
                  <a:pt x="1901" y="103"/>
                  <a:pt x="2144" y="0"/>
                </a:cubicBezTo>
              </a:path>
            </a:pathLst>
          </a:custGeom>
          <a:noFill/>
          <a:ln w="76200">
            <a:solidFill>
              <a:srgbClr val="FF9900"/>
            </a:solidFill>
            <a:round/>
            <a:headEnd/>
            <a:tailEnd type="triangle" w="med" len="med"/>
          </a:ln>
        </p:spPr>
        <p:txBody>
          <a:bodyPr wrap="none" anchor="ctr"/>
          <a:lstStyle/>
          <a:p>
            <a:endParaRPr lang="en-US">
              <a:latin typeface="Arial" pitchFamily="34" charset="0"/>
              <a:cs typeface="Arial" pitchFamily="34" charset="0"/>
            </a:endParaRPr>
          </a:p>
        </p:txBody>
      </p:sp>
      <p:sp>
        <p:nvSpPr>
          <p:cNvPr id="15375" name="Text Box 57"/>
          <p:cNvSpPr txBox="1">
            <a:spLocks noChangeArrowheads="1"/>
          </p:cNvSpPr>
          <p:nvPr/>
        </p:nvSpPr>
        <p:spPr bwMode="auto">
          <a:xfrm>
            <a:off x="6096000" y="28956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FF5050"/>
                </a:solidFill>
                <a:latin typeface="Arial" pitchFamily="34" charset="0"/>
                <a:cs typeface="Arial" pitchFamily="34" charset="0"/>
              </a:rPr>
              <a:t>0</a:t>
            </a:r>
          </a:p>
        </p:txBody>
      </p:sp>
      <p:sp>
        <p:nvSpPr>
          <p:cNvPr id="15376" name="Text Box 58"/>
          <p:cNvSpPr txBox="1">
            <a:spLocks noChangeArrowheads="1"/>
          </p:cNvSpPr>
          <p:nvPr/>
        </p:nvSpPr>
        <p:spPr bwMode="auto">
          <a:xfrm>
            <a:off x="6019800" y="32766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FF9900"/>
                </a:solidFill>
                <a:latin typeface="Arial" pitchFamily="34" charset="0"/>
                <a:cs typeface="Arial" pitchFamily="34" charset="0"/>
              </a:rPr>
              <a:t>1</a:t>
            </a:r>
          </a:p>
        </p:txBody>
      </p:sp>
      <p:sp>
        <p:nvSpPr>
          <p:cNvPr id="15377" name="Text Box 59"/>
          <p:cNvSpPr txBox="1">
            <a:spLocks noChangeArrowheads="1"/>
          </p:cNvSpPr>
          <p:nvPr/>
        </p:nvSpPr>
        <p:spPr bwMode="auto">
          <a:xfrm>
            <a:off x="6248400" y="34290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33CC33"/>
                </a:solidFill>
                <a:latin typeface="Arial" pitchFamily="34" charset="0"/>
                <a:cs typeface="Arial" pitchFamily="34" charset="0"/>
              </a:rPr>
              <a:t>2</a:t>
            </a:r>
          </a:p>
        </p:txBody>
      </p:sp>
      <p:sp>
        <p:nvSpPr>
          <p:cNvPr id="15378" name="Text Box 60"/>
          <p:cNvSpPr txBox="1">
            <a:spLocks noChangeArrowheads="1"/>
          </p:cNvSpPr>
          <p:nvPr/>
        </p:nvSpPr>
        <p:spPr bwMode="auto">
          <a:xfrm>
            <a:off x="6248400" y="3733800"/>
            <a:ext cx="369888" cy="457200"/>
          </a:xfrm>
          <a:prstGeom prst="rect">
            <a:avLst/>
          </a:prstGeom>
          <a:noFill/>
          <a:ln w="9525">
            <a:noFill/>
            <a:miter lim="800000"/>
            <a:headEnd/>
            <a:tailEnd/>
          </a:ln>
        </p:spPr>
        <p:txBody>
          <a:bodyPr wrap="none">
            <a:spAutoFit/>
          </a:bodyPr>
          <a:lstStyle/>
          <a:p>
            <a:pPr algn="ctr">
              <a:spcBef>
                <a:spcPct val="0"/>
              </a:spcBef>
            </a:pPr>
            <a:r>
              <a:rPr lang="en-US">
                <a:solidFill>
                  <a:schemeClr val="accent2"/>
                </a:solidFill>
                <a:latin typeface="Arial" pitchFamily="34" charset="0"/>
                <a:cs typeface="Arial" pitchFamily="34" charset="0"/>
              </a:rPr>
              <a:t>3</a:t>
            </a:r>
          </a:p>
        </p:txBody>
      </p:sp>
      <p:sp>
        <p:nvSpPr>
          <p:cNvPr id="15379" name="AutoShape 62"/>
          <p:cNvSpPr>
            <a:spLocks noChangeArrowheads="1"/>
          </p:cNvSpPr>
          <p:nvPr/>
        </p:nvSpPr>
        <p:spPr bwMode="auto">
          <a:xfrm>
            <a:off x="3505200" y="1600200"/>
            <a:ext cx="3276600" cy="914400"/>
          </a:xfrm>
          <a:prstGeom prst="wedgeRoundRectCallout">
            <a:avLst>
              <a:gd name="adj1" fmla="val -68991"/>
              <a:gd name="adj2" fmla="val 56079"/>
              <a:gd name="adj3" fmla="val 16667"/>
            </a:avLst>
          </a:prstGeom>
          <a:solidFill>
            <a:schemeClr val="bg1">
              <a:alpha val="89803"/>
            </a:schemeClr>
          </a:solidFill>
          <a:ln w="38100">
            <a:solidFill>
              <a:srgbClr val="FF5050"/>
            </a:solidFill>
            <a:miter lim="800000"/>
            <a:headEnd/>
            <a:tailEnd/>
          </a:ln>
        </p:spPr>
        <p:txBody>
          <a:bodyPr anchor="ctr"/>
          <a:lstStyle/>
          <a:p>
            <a:pPr algn="ctr">
              <a:spcBef>
                <a:spcPct val="0"/>
              </a:spcBef>
            </a:pPr>
            <a:r>
              <a:rPr lang="en-US" sz="2800" b="0">
                <a:solidFill>
                  <a:srgbClr val="FF5050"/>
                </a:solidFill>
                <a:latin typeface="Arial" pitchFamily="34" charset="0"/>
                <a:cs typeface="Arial" pitchFamily="34" charset="0"/>
              </a:rPr>
              <a:t>No duplication</a:t>
            </a:r>
          </a:p>
        </p:txBody>
      </p:sp>
      <p:sp>
        <p:nvSpPr>
          <p:cNvPr id="15380" name="AutoShape 63"/>
          <p:cNvSpPr>
            <a:spLocks noChangeArrowheads="1"/>
          </p:cNvSpPr>
          <p:nvPr/>
        </p:nvSpPr>
        <p:spPr bwMode="auto">
          <a:xfrm>
            <a:off x="3505200" y="2667000"/>
            <a:ext cx="3276600" cy="914400"/>
          </a:xfrm>
          <a:prstGeom prst="wedgeRoundRectCallout">
            <a:avLst>
              <a:gd name="adj1" fmla="val -60852"/>
              <a:gd name="adj2" fmla="val 28301"/>
              <a:gd name="adj3" fmla="val 16667"/>
            </a:avLst>
          </a:prstGeom>
          <a:solidFill>
            <a:schemeClr val="bg1">
              <a:alpha val="94901"/>
            </a:schemeClr>
          </a:solidFill>
          <a:ln w="38100">
            <a:solidFill>
              <a:srgbClr val="FF9900"/>
            </a:solidFill>
            <a:miter lim="800000"/>
            <a:headEnd/>
            <a:tailEnd/>
          </a:ln>
        </p:spPr>
        <p:txBody>
          <a:bodyPr anchor="ctr"/>
          <a:lstStyle/>
          <a:p>
            <a:pPr algn="ctr">
              <a:spcBef>
                <a:spcPct val="0"/>
              </a:spcBef>
            </a:pPr>
            <a:r>
              <a:rPr lang="en-US" sz="2800" b="0">
                <a:solidFill>
                  <a:srgbClr val="FF9900"/>
                </a:solidFill>
                <a:latin typeface="Arial" pitchFamily="34" charset="0"/>
                <a:cs typeface="Arial" pitchFamily="34" charset="0"/>
              </a:rPr>
              <a:t>No Omission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Footer Placeholder 3"/>
          <p:cNvSpPr>
            <a:spLocks noGrp="1"/>
          </p:cNvSpPr>
          <p:nvPr>
            <p:ph type="ftr" sz="quarter" idx="10"/>
          </p:nvPr>
        </p:nvSpPr>
        <p:spPr/>
        <p:txBody>
          <a:bodyPr/>
          <a:lstStyle/>
          <a:p>
            <a:pPr>
              <a:defRPr/>
            </a:pPr>
            <a:r>
              <a:rPr lang="en-US"/>
              <a:t>Art of Multiprocessor Programming</a:t>
            </a:r>
          </a:p>
        </p:txBody>
      </p:sp>
      <p:sp>
        <p:nvSpPr>
          <p:cNvPr id="65" name="Slide Number Placeholder 4"/>
          <p:cNvSpPr>
            <a:spLocks noGrp="1"/>
          </p:cNvSpPr>
          <p:nvPr>
            <p:ph type="sldNum" sz="quarter" idx="11"/>
          </p:nvPr>
        </p:nvSpPr>
        <p:spPr/>
        <p:txBody>
          <a:bodyPr/>
          <a:lstStyle/>
          <a:p>
            <a:pPr>
              <a:defRPr/>
            </a:pPr>
            <a:fld id="{606833AE-4396-4FF8-AF38-2743CA100F72}" type="slidenum">
              <a:rPr lang="en-US"/>
              <a:pPr>
                <a:defRPr/>
              </a:pPr>
              <a:t>13</a:t>
            </a:fld>
            <a:endParaRPr lang="en-US"/>
          </a:p>
        </p:txBody>
      </p:sp>
      <p:sp>
        <p:nvSpPr>
          <p:cNvPr id="1219586" name="Rectangle 2"/>
          <p:cNvSpPr>
            <a:spLocks noChangeArrowheads="1"/>
          </p:cNvSpPr>
          <p:nvPr/>
        </p:nvSpPr>
        <p:spPr bwMode="auto">
          <a:xfrm>
            <a:off x="3810000" y="2286000"/>
            <a:ext cx="1295400" cy="3657600"/>
          </a:xfrm>
          <a:prstGeom prst="rect">
            <a:avLst/>
          </a:prstGeom>
          <a:solidFill>
            <a:schemeClr val="bg1"/>
          </a:solidFill>
          <a:ln w="38100">
            <a:solidFill>
              <a:srgbClr val="33CC33"/>
            </a:solidFill>
            <a:miter lim="800000"/>
            <a:headEnd/>
            <a:tailEnd/>
          </a:ln>
          <a:effectLst>
            <a:outerShdw dist="107763" dir="2700000" algn="ctr" rotWithShape="0">
              <a:schemeClr val="bg2">
                <a:alpha val="50000"/>
              </a:schemeClr>
            </a:outerShdw>
          </a:effectLst>
        </p:spPr>
        <p:txBody>
          <a:bodyPr wrap="none" anchor="ctr"/>
          <a:lstStyle/>
          <a:p>
            <a:pPr algn="ctr">
              <a:spcBef>
                <a:spcPct val="0"/>
              </a:spcBef>
              <a:defRPr/>
            </a:pPr>
            <a:endParaRPr lang="en-US" sz="4000">
              <a:solidFill>
                <a:srgbClr val="33CC33"/>
              </a:solidFill>
              <a:latin typeface="Arial" pitchFamily="34" charset="0"/>
              <a:cs typeface="Arial" pitchFamily="34" charset="0"/>
            </a:endParaRPr>
          </a:p>
        </p:txBody>
      </p:sp>
      <p:grpSp>
        <p:nvGrpSpPr>
          <p:cNvPr id="16389" name="Group 3"/>
          <p:cNvGrpSpPr>
            <a:grpSpLocks/>
          </p:cNvGrpSpPr>
          <p:nvPr/>
        </p:nvGrpSpPr>
        <p:grpSpPr bwMode="auto">
          <a:xfrm>
            <a:off x="1828800" y="3100388"/>
            <a:ext cx="1219200" cy="1090612"/>
            <a:chOff x="1584" y="816"/>
            <a:chExt cx="912" cy="816"/>
          </a:xfrm>
        </p:grpSpPr>
        <p:sp>
          <p:nvSpPr>
            <p:cNvPr id="16441"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2"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3"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4"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5"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6"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7"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8"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9"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390" name="Group 13"/>
          <p:cNvGrpSpPr>
            <a:grpSpLocks/>
          </p:cNvGrpSpPr>
          <p:nvPr/>
        </p:nvGrpSpPr>
        <p:grpSpPr bwMode="auto">
          <a:xfrm flipH="1">
            <a:off x="1676400" y="4648200"/>
            <a:ext cx="1219200" cy="1090613"/>
            <a:chOff x="1584" y="816"/>
            <a:chExt cx="912" cy="816"/>
          </a:xfrm>
        </p:grpSpPr>
        <p:sp>
          <p:nvSpPr>
            <p:cNvPr id="16432" name="Freeform 1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3" name="Freeform 1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4" name="Freeform 1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5" name="Freeform 1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6" name="Freeform 1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7" name="Freeform 1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CC33"/>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8" name="Freeform 2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9" name="Freeform 2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40" name="Freeform 2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391" name="Rectangle 23"/>
          <p:cNvSpPr>
            <a:spLocks noGrp="1" noChangeArrowheads="1"/>
          </p:cNvSpPr>
          <p:nvPr>
            <p:ph type="title"/>
          </p:nvPr>
        </p:nvSpPr>
        <p:spPr/>
        <p:txBody>
          <a:bodyPr/>
          <a:lstStyle/>
          <a:p>
            <a:r>
              <a:rPr lang="en-US"/>
              <a:t>Shared Counter</a:t>
            </a:r>
          </a:p>
        </p:txBody>
      </p:sp>
      <p:grpSp>
        <p:nvGrpSpPr>
          <p:cNvPr id="16392" name="Group 24"/>
          <p:cNvGrpSpPr>
            <a:grpSpLocks/>
          </p:cNvGrpSpPr>
          <p:nvPr/>
        </p:nvGrpSpPr>
        <p:grpSpPr bwMode="auto">
          <a:xfrm>
            <a:off x="1600200" y="2362200"/>
            <a:ext cx="1447800" cy="1295400"/>
            <a:chOff x="1584" y="816"/>
            <a:chExt cx="912" cy="816"/>
          </a:xfrm>
        </p:grpSpPr>
        <p:sp>
          <p:nvSpPr>
            <p:cNvPr id="16423" name="Freeform 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4" name="Freeform 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5" name="Freeform 2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6" name="Freeform 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7" name="Freeform 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8" name="Freeform 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9" name="Freeform 3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0" name="Freeform 3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31" name="Freeform 3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393" name="Group 34"/>
          <p:cNvGrpSpPr>
            <a:grpSpLocks/>
          </p:cNvGrpSpPr>
          <p:nvPr/>
        </p:nvGrpSpPr>
        <p:grpSpPr bwMode="auto">
          <a:xfrm flipH="1">
            <a:off x="1676400" y="5105400"/>
            <a:ext cx="1447800" cy="1295400"/>
            <a:chOff x="1584" y="816"/>
            <a:chExt cx="912" cy="816"/>
          </a:xfrm>
        </p:grpSpPr>
        <p:sp>
          <p:nvSpPr>
            <p:cNvPr id="16414" name="Freeform 3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15" name="Freeform 3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16" name="Freeform 3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17" name="Freeform 3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18" name="Freeform 3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19" name="Freeform 4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0" name="Freeform 4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1" name="Freeform 4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22" name="Freeform 4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394" name="Group 44"/>
          <p:cNvGrpSpPr>
            <a:grpSpLocks/>
          </p:cNvGrpSpPr>
          <p:nvPr/>
        </p:nvGrpSpPr>
        <p:grpSpPr bwMode="auto">
          <a:xfrm>
            <a:off x="4038600" y="3124200"/>
            <a:ext cx="879475" cy="1905000"/>
            <a:chOff x="2663" y="2544"/>
            <a:chExt cx="554" cy="1200"/>
          </a:xfrm>
        </p:grpSpPr>
        <p:sp>
          <p:nvSpPr>
            <p:cNvPr id="16406" name="AutoShape 45"/>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07" name="AutoShape 46"/>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408" name="Oval 47"/>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09" name="Line 48"/>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6410" name="Line 49"/>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16411" name="Text Box 50"/>
            <p:cNvSpPr txBox="1">
              <a:spLocks noChangeArrowheads="1"/>
            </p:cNvSpPr>
            <p:nvPr/>
          </p:nvSpPr>
          <p:spPr bwMode="auto">
            <a:xfrm>
              <a:off x="2906" y="2736"/>
              <a:ext cx="214" cy="250"/>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3</a:t>
              </a:r>
            </a:p>
          </p:txBody>
        </p:sp>
        <p:sp>
          <p:nvSpPr>
            <p:cNvPr id="16412" name="Text Box 51"/>
            <p:cNvSpPr txBox="1">
              <a:spLocks noChangeArrowheads="1"/>
            </p:cNvSpPr>
            <p:nvPr/>
          </p:nvSpPr>
          <p:spPr bwMode="auto">
            <a:xfrm>
              <a:off x="2858" y="3110"/>
              <a:ext cx="214" cy="250"/>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2</a:t>
              </a:r>
            </a:p>
          </p:txBody>
        </p:sp>
        <p:sp>
          <p:nvSpPr>
            <p:cNvPr id="16413" name="Text Box 52"/>
            <p:cNvSpPr txBox="1">
              <a:spLocks noChangeArrowheads="1"/>
            </p:cNvSpPr>
            <p:nvPr/>
          </p:nvSpPr>
          <p:spPr bwMode="auto">
            <a:xfrm>
              <a:off x="2923" y="3456"/>
              <a:ext cx="206" cy="252"/>
            </a:xfrm>
            <a:prstGeom prst="rect">
              <a:avLst/>
            </a:prstGeom>
            <a:noFill/>
            <a:ln w="9525">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1</a:t>
              </a:r>
            </a:p>
          </p:txBody>
        </p:sp>
      </p:grpSp>
      <p:sp>
        <p:nvSpPr>
          <p:cNvPr id="16395" name="Freeform 53"/>
          <p:cNvSpPr>
            <a:spLocks/>
          </p:cNvSpPr>
          <p:nvPr/>
        </p:nvSpPr>
        <p:spPr bwMode="auto">
          <a:xfrm>
            <a:off x="2971800" y="3289300"/>
            <a:ext cx="3136900" cy="836613"/>
          </a:xfrm>
          <a:custGeom>
            <a:avLst/>
            <a:gdLst>
              <a:gd name="T0" fmla="*/ 0 w 1976"/>
              <a:gd name="T1" fmla="*/ 2147483647 h 527"/>
              <a:gd name="T2" fmla="*/ 2147483647 w 1976"/>
              <a:gd name="T3" fmla="*/ 2147483647 h 527"/>
              <a:gd name="T4" fmla="*/ 2147483647 w 1976"/>
              <a:gd name="T5" fmla="*/ 0 h 527"/>
              <a:gd name="T6" fmla="*/ 0 60000 65536"/>
              <a:gd name="T7" fmla="*/ 0 60000 65536"/>
              <a:gd name="T8" fmla="*/ 0 60000 65536"/>
              <a:gd name="T9" fmla="*/ 0 w 1976"/>
              <a:gd name="T10" fmla="*/ 0 h 527"/>
              <a:gd name="T11" fmla="*/ 1976 w 1976"/>
              <a:gd name="T12" fmla="*/ 527 h 527"/>
            </a:gdLst>
            <a:ahLst/>
            <a:cxnLst>
              <a:cxn ang="T6">
                <a:pos x="T0" y="T1"/>
              </a:cxn>
              <a:cxn ang="T7">
                <a:pos x="T2" y="T3"/>
              </a:cxn>
              <a:cxn ang="T8">
                <a:pos x="T4" y="T5"/>
              </a:cxn>
            </a:cxnLst>
            <a:rect l="T9" t="T10" r="T11" b="T12"/>
            <a:pathLst>
              <a:path w="1976" h="527">
                <a:moveTo>
                  <a:pt x="0" y="88"/>
                </a:moveTo>
                <a:cubicBezTo>
                  <a:pt x="149" y="159"/>
                  <a:pt x="567" y="527"/>
                  <a:pt x="896" y="512"/>
                </a:cubicBezTo>
                <a:cubicBezTo>
                  <a:pt x="1225" y="497"/>
                  <a:pt x="1751" y="107"/>
                  <a:pt x="1976" y="0"/>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6396" name="Freeform 54"/>
          <p:cNvSpPr>
            <a:spLocks/>
          </p:cNvSpPr>
          <p:nvPr/>
        </p:nvSpPr>
        <p:spPr bwMode="auto">
          <a:xfrm>
            <a:off x="2971800" y="3924300"/>
            <a:ext cx="3302000" cy="1181100"/>
          </a:xfrm>
          <a:custGeom>
            <a:avLst/>
            <a:gdLst>
              <a:gd name="T0" fmla="*/ 0 w 2080"/>
              <a:gd name="T1" fmla="*/ 2147483647 h 744"/>
              <a:gd name="T2" fmla="*/ 2147483647 w 2080"/>
              <a:gd name="T3" fmla="*/ 2147483647 h 744"/>
              <a:gd name="T4" fmla="*/ 2147483647 w 2080"/>
              <a:gd name="T5" fmla="*/ 0 h 744"/>
              <a:gd name="T6" fmla="*/ 0 60000 65536"/>
              <a:gd name="T7" fmla="*/ 0 60000 65536"/>
              <a:gd name="T8" fmla="*/ 0 60000 65536"/>
              <a:gd name="T9" fmla="*/ 0 w 2080"/>
              <a:gd name="T10" fmla="*/ 0 h 744"/>
              <a:gd name="T11" fmla="*/ 2080 w 2080"/>
              <a:gd name="T12" fmla="*/ 744 h 744"/>
            </a:gdLst>
            <a:ahLst/>
            <a:cxnLst>
              <a:cxn ang="T6">
                <a:pos x="T0" y="T1"/>
              </a:cxn>
              <a:cxn ang="T7">
                <a:pos x="T2" y="T3"/>
              </a:cxn>
              <a:cxn ang="T8">
                <a:pos x="T4" y="T5"/>
              </a:cxn>
            </a:cxnLst>
            <a:rect l="T9" t="T10" r="T11" b="T12"/>
            <a:pathLst>
              <a:path w="2080" h="744">
                <a:moveTo>
                  <a:pt x="0" y="744"/>
                </a:moveTo>
                <a:cubicBezTo>
                  <a:pt x="164" y="713"/>
                  <a:pt x="637" y="684"/>
                  <a:pt x="984" y="560"/>
                </a:cubicBezTo>
                <a:cubicBezTo>
                  <a:pt x="1331" y="436"/>
                  <a:pt x="1852" y="117"/>
                  <a:pt x="2080"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6397" name="Freeform 55"/>
          <p:cNvSpPr>
            <a:spLocks/>
          </p:cNvSpPr>
          <p:nvPr/>
        </p:nvSpPr>
        <p:spPr bwMode="auto">
          <a:xfrm>
            <a:off x="2921000" y="3695700"/>
            <a:ext cx="3276600" cy="1085850"/>
          </a:xfrm>
          <a:custGeom>
            <a:avLst/>
            <a:gdLst>
              <a:gd name="T0" fmla="*/ 0 w 2064"/>
              <a:gd name="T1" fmla="*/ 2147483647 h 684"/>
              <a:gd name="T2" fmla="*/ 2147483647 w 2064"/>
              <a:gd name="T3" fmla="*/ 2147483647 h 684"/>
              <a:gd name="T4" fmla="*/ 2147483647 w 2064"/>
              <a:gd name="T5" fmla="*/ 0 h 684"/>
              <a:gd name="T6" fmla="*/ 0 60000 65536"/>
              <a:gd name="T7" fmla="*/ 0 60000 65536"/>
              <a:gd name="T8" fmla="*/ 0 60000 65536"/>
              <a:gd name="T9" fmla="*/ 0 w 2064"/>
              <a:gd name="T10" fmla="*/ 0 h 684"/>
              <a:gd name="T11" fmla="*/ 2064 w 2064"/>
              <a:gd name="T12" fmla="*/ 684 h 684"/>
            </a:gdLst>
            <a:ahLst/>
            <a:cxnLst>
              <a:cxn ang="T6">
                <a:pos x="T0" y="T1"/>
              </a:cxn>
              <a:cxn ang="T7">
                <a:pos x="T2" y="T3"/>
              </a:cxn>
              <a:cxn ang="T8">
                <a:pos x="T4" y="T5"/>
              </a:cxn>
            </a:cxnLst>
            <a:rect l="T9" t="T10" r="T11" b="T12"/>
            <a:pathLst>
              <a:path w="2064" h="684">
                <a:moveTo>
                  <a:pt x="0" y="684"/>
                </a:moveTo>
                <a:cubicBezTo>
                  <a:pt x="164" y="653"/>
                  <a:pt x="640" y="614"/>
                  <a:pt x="984" y="500"/>
                </a:cubicBezTo>
                <a:cubicBezTo>
                  <a:pt x="1328" y="386"/>
                  <a:pt x="1839" y="104"/>
                  <a:pt x="2064" y="0"/>
                </a:cubicBezTo>
              </a:path>
            </a:pathLst>
          </a:custGeom>
          <a:noFill/>
          <a:ln w="76200">
            <a:solidFill>
              <a:srgbClr val="33CC33"/>
            </a:solidFill>
            <a:round/>
            <a:headEnd/>
            <a:tailEnd type="triangle" w="med" len="med"/>
          </a:ln>
        </p:spPr>
        <p:txBody>
          <a:bodyPr wrap="none" anchor="ctr"/>
          <a:lstStyle/>
          <a:p>
            <a:endParaRPr lang="en-US">
              <a:latin typeface="Arial" pitchFamily="34" charset="0"/>
              <a:cs typeface="Arial" pitchFamily="34" charset="0"/>
            </a:endParaRPr>
          </a:p>
        </p:txBody>
      </p:sp>
      <p:sp>
        <p:nvSpPr>
          <p:cNvPr id="16398" name="Freeform 56"/>
          <p:cNvSpPr>
            <a:spLocks/>
          </p:cNvSpPr>
          <p:nvPr/>
        </p:nvSpPr>
        <p:spPr bwMode="auto">
          <a:xfrm>
            <a:off x="2895600" y="3568700"/>
            <a:ext cx="3175000" cy="852488"/>
          </a:xfrm>
          <a:custGeom>
            <a:avLst/>
            <a:gdLst>
              <a:gd name="T0" fmla="*/ 0 w 2144"/>
              <a:gd name="T1" fmla="*/ 2147483647 h 537"/>
              <a:gd name="T2" fmla="*/ 2147483647 w 2144"/>
              <a:gd name="T3" fmla="*/ 2147483647 h 537"/>
              <a:gd name="T4" fmla="*/ 2147483647 w 2144"/>
              <a:gd name="T5" fmla="*/ 0 h 537"/>
              <a:gd name="T6" fmla="*/ 0 60000 65536"/>
              <a:gd name="T7" fmla="*/ 0 60000 65536"/>
              <a:gd name="T8" fmla="*/ 0 60000 65536"/>
              <a:gd name="T9" fmla="*/ 0 w 2144"/>
              <a:gd name="T10" fmla="*/ 0 h 537"/>
              <a:gd name="T11" fmla="*/ 2144 w 2144"/>
              <a:gd name="T12" fmla="*/ 537 h 537"/>
            </a:gdLst>
            <a:ahLst/>
            <a:cxnLst>
              <a:cxn ang="T6">
                <a:pos x="T0" y="T1"/>
              </a:cxn>
              <a:cxn ang="T7">
                <a:pos x="T2" y="T3"/>
              </a:cxn>
              <a:cxn ang="T8">
                <a:pos x="T4" y="T5"/>
              </a:cxn>
            </a:cxnLst>
            <a:rect l="T9" t="T10" r="T11" b="T12"/>
            <a:pathLst>
              <a:path w="2144" h="537">
                <a:moveTo>
                  <a:pt x="0" y="248"/>
                </a:moveTo>
                <a:cubicBezTo>
                  <a:pt x="163" y="289"/>
                  <a:pt x="619" y="537"/>
                  <a:pt x="976" y="496"/>
                </a:cubicBezTo>
                <a:cubicBezTo>
                  <a:pt x="1333" y="455"/>
                  <a:pt x="1901" y="103"/>
                  <a:pt x="2144" y="0"/>
                </a:cubicBezTo>
              </a:path>
            </a:pathLst>
          </a:custGeom>
          <a:noFill/>
          <a:ln w="76200">
            <a:solidFill>
              <a:srgbClr val="FF9900"/>
            </a:solidFill>
            <a:round/>
            <a:headEnd/>
            <a:tailEnd type="triangle" w="med" len="med"/>
          </a:ln>
        </p:spPr>
        <p:txBody>
          <a:bodyPr wrap="none" anchor="ctr"/>
          <a:lstStyle/>
          <a:p>
            <a:endParaRPr lang="en-US">
              <a:latin typeface="Arial" pitchFamily="34" charset="0"/>
              <a:cs typeface="Arial" pitchFamily="34" charset="0"/>
            </a:endParaRPr>
          </a:p>
        </p:txBody>
      </p:sp>
      <p:sp>
        <p:nvSpPr>
          <p:cNvPr id="16399" name="Text Box 57"/>
          <p:cNvSpPr txBox="1">
            <a:spLocks noChangeArrowheads="1"/>
          </p:cNvSpPr>
          <p:nvPr/>
        </p:nvSpPr>
        <p:spPr bwMode="auto">
          <a:xfrm>
            <a:off x="6096000" y="28956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FF5050"/>
                </a:solidFill>
                <a:latin typeface="Arial" pitchFamily="34" charset="0"/>
                <a:cs typeface="Arial" pitchFamily="34" charset="0"/>
              </a:rPr>
              <a:t>0</a:t>
            </a:r>
          </a:p>
        </p:txBody>
      </p:sp>
      <p:sp>
        <p:nvSpPr>
          <p:cNvPr id="16400" name="Text Box 58"/>
          <p:cNvSpPr txBox="1">
            <a:spLocks noChangeArrowheads="1"/>
          </p:cNvSpPr>
          <p:nvPr/>
        </p:nvSpPr>
        <p:spPr bwMode="auto">
          <a:xfrm>
            <a:off x="6019800" y="32766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FF9900"/>
                </a:solidFill>
                <a:latin typeface="Arial" pitchFamily="34" charset="0"/>
                <a:cs typeface="Arial" pitchFamily="34" charset="0"/>
              </a:rPr>
              <a:t>1</a:t>
            </a:r>
          </a:p>
        </p:txBody>
      </p:sp>
      <p:sp>
        <p:nvSpPr>
          <p:cNvPr id="16401" name="Text Box 59"/>
          <p:cNvSpPr txBox="1">
            <a:spLocks noChangeArrowheads="1"/>
          </p:cNvSpPr>
          <p:nvPr/>
        </p:nvSpPr>
        <p:spPr bwMode="auto">
          <a:xfrm>
            <a:off x="6248400" y="3429000"/>
            <a:ext cx="369888" cy="457200"/>
          </a:xfrm>
          <a:prstGeom prst="rect">
            <a:avLst/>
          </a:prstGeom>
          <a:noFill/>
          <a:ln w="9525">
            <a:noFill/>
            <a:miter lim="800000"/>
            <a:headEnd/>
            <a:tailEnd/>
          </a:ln>
        </p:spPr>
        <p:txBody>
          <a:bodyPr wrap="none">
            <a:spAutoFit/>
          </a:bodyPr>
          <a:lstStyle/>
          <a:p>
            <a:pPr algn="ctr">
              <a:spcBef>
                <a:spcPct val="0"/>
              </a:spcBef>
            </a:pPr>
            <a:r>
              <a:rPr lang="en-US">
                <a:solidFill>
                  <a:srgbClr val="33CC33"/>
                </a:solidFill>
                <a:latin typeface="Arial" pitchFamily="34" charset="0"/>
                <a:cs typeface="Arial" pitchFamily="34" charset="0"/>
              </a:rPr>
              <a:t>2</a:t>
            </a:r>
          </a:p>
        </p:txBody>
      </p:sp>
      <p:sp>
        <p:nvSpPr>
          <p:cNvPr id="16402" name="Text Box 60"/>
          <p:cNvSpPr txBox="1">
            <a:spLocks noChangeArrowheads="1"/>
          </p:cNvSpPr>
          <p:nvPr/>
        </p:nvSpPr>
        <p:spPr bwMode="auto">
          <a:xfrm>
            <a:off x="6248400" y="3733800"/>
            <a:ext cx="369888" cy="457200"/>
          </a:xfrm>
          <a:prstGeom prst="rect">
            <a:avLst/>
          </a:prstGeom>
          <a:noFill/>
          <a:ln w="9525">
            <a:noFill/>
            <a:miter lim="800000"/>
            <a:headEnd/>
            <a:tailEnd/>
          </a:ln>
        </p:spPr>
        <p:txBody>
          <a:bodyPr wrap="none">
            <a:spAutoFit/>
          </a:bodyPr>
          <a:lstStyle/>
          <a:p>
            <a:pPr algn="ctr">
              <a:spcBef>
                <a:spcPct val="0"/>
              </a:spcBef>
            </a:pPr>
            <a:r>
              <a:rPr lang="en-US">
                <a:solidFill>
                  <a:schemeClr val="accent2"/>
                </a:solidFill>
                <a:latin typeface="Arial" pitchFamily="34" charset="0"/>
                <a:cs typeface="Arial" pitchFamily="34" charset="0"/>
              </a:rPr>
              <a:t>3</a:t>
            </a:r>
          </a:p>
        </p:txBody>
      </p:sp>
      <p:sp>
        <p:nvSpPr>
          <p:cNvPr id="16403" name="AutoShape 61"/>
          <p:cNvSpPr>
            <a:spLocks noChangeArrowheads="1"/>
          </p:cNvSpPr>
          <p:nvPr/>
        </p:nvSpPr>
        <p:spPr bwMode="auto">
          <a:xfrm>
            <a:off x="3505200" y="5181600"/>
            <a:ext cx="3276600" cy="1295400"/>
          </a:xfrm>
          <a:prstGeom prst="wedgeRoundRectCallout">
            <a:avLst>
              <a:gd name="adj1" fmla="val -62014"/>
              <a:gd name="adj2" fmla="val -31005"/>
              <a:gd name="adj3" fmla="val 16667"/>
            </a:avLst>
          </a:prstGeom>
          <a:solidFill>
            <a:schemeClr val="bg1">
              <a:alpha val="89803"/>
            </a:schemeClr>
          </a:solidFill>
          <a:ln w="38100">
            <a:solidFill>
              <a:schemeClr val="accent2"/>
            </a:solidFill>
            <a:miter lim="800000"/>
            <a:headEnd/>
            <a:tailEnd/>
          </a:ln>
        </p:spPr>
        <p:txBody>
          <a:bodyPr anchor="ctr"/>
          <a:lstStyle/>
          <a:p>
            <a:pPr algn="ctr">
              <a:spcBef>
                <a:spcPct val="0"/>
              </a:spcBef>
            </a:pPr>
            <a:r>
              <a:rPr lang="en-US" sz="2800" b="0">
                <a:solidFill>
                  <a:schemeClr val="accent2"/>
                </a:solidFill>
                <a:latin typeface="Arial" pitchFamily="34" charset="0"/>
                <a:cs typeface="Arial" pitchFamily="34" charset="0"/>
              </a:rPr>
              <a:t>Not necessarily linearizable</a:t>
            </a:r>
          </a:p>
        </p:txBody>
      </p:sp>
      <p:sp>
        <p:nvSpPr>
          <p:cNvPr id="16404" name="AutoShape 62"/>
          <p:cNvSpPr>
            <a:spLocks noChangeArrowheads="1"/>
          </p:cNvSpPr>
          <p:nvPr/>
        </p:nvSpPr>
        <p:spPr bwMode="auto">
          <a:xfrm>
            <a:off x="3505200" y="1600200"/>
            <a:ext cx="3276600" cy="914400"/>
          </a:xfrm>
          <a:prstGeom prst="wedgeRoundRectCallout">
            <a:avLst>
              <a:gd name="adj1" fmla="val -68991"/>
              <a:gd name="adj2" fmla="val 56079"/>
              <a:gd name="adj3" fmla="val 16667"/>
            </a:avLst>
          </a:prstGeom>
          <a:solidFill>
            <a:schemeClr val="bg1">
              <a:alpha val="89803"/>
            </a:schemeClr>
          </a:solidFill>
          <a:ln w="38100">
            <a:solidFill>
              <a:srgbClr val="FF5050"/>
            </a:solidFill>
            <a:miter lim="800000"/>
            <a:headEnd/>
            <a:tailEnd/>
          </a:ln>
        </p:spPr>
        <p:txBody>
          <a:bodyPr anchor="ctr"/>
          <a:lstStyle/>
          <a:p>
            <a:pPr algn="ctr">
              <a:spcBef>
                <a:spcPct val="0"/>
              </a:spcBef>
            </a:pPr>
            <a:r>
              <a:rPr lang="en-US" sz="2800" b="0">
                <a:solidFill>
                  <a:srgbClr val="FF5050"/>
                </a:solidFill>
                <a:latin typeface="Arial" pitchFamily="34" charset="0"/>
                <a:cs typeface="Arial" pitchFamily="34" charset="0"/>
              </a:rPr>
              <a:t>No duplication</a:t>
            </a:r>
          </a:p>
        </p:txBody>
      </p:sp>
      <p:sp>
        <p:nvSpPr>
          <p:cNvPr id="16405" name="AutoShape 63"/>
          <p:cNvSpPr>
            <a:spLocks noChangeArrowheads="1"/>
          </p:cNvSpPr>
          <p:nvPr/>
        </p:nvSpPr>
        <p:spPr bwMode="auto">
          <a:xfrm>
            <a:off x="3505200" y="2667000"/>
            <a:ext cx="3276600" cy="914400"/>
          </a:xfrm>
          <a:prstGeom prst="wedgeRoundRectCallout">
            <a:avLst>
              <a:gd name="adj1" fmla="val -60852"/>
              <a:gd name="adj2" fmla="val 28301"/>
              <a:gd name="adj3" fmla="val 16667"/>
            </a:avLst>
          </a:prstGeom>
          <a:solidFill>
            <a:schemeClr val="bg1">
              <a:alpha val="94901"/>
            </a:schemeClr>
          </a:solidFill>
          <a:ln w="38100">
            <a:solidFill>
              <a:srgbClr val="FF9900"/>
            </a:solidFill>
            <a:miter lim="800000"/>
            <a:headEnd/>
            <a:tailEnd/>
          </a:ln>
        </p:spPr>
        <p:txBody>
          <a:bodyPr anchor="ctr"/>
          <a:lstStyle/>
          <a:p>
            <a:pPr algn="ctr">
              <a:spcBef>
                <a:spcPct val="0"/>
              </a:spcBef>
            </a:pPr>
            <a:r>
              <a:rPr lang="en-US" sz="2800" b="0">
                <a:solidFill>
                  <a:srgbClr val="FF9900"/>
                </a:solidFill>
                <a:latin typeface="Arial" pitchFamily="34" charset="0"/>
                <a:cs typeface="Arial" pitchFamily="34" charset="0"/>
              </a:rPr>
              <a:t>No Omission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E7E5467D-0A63-430A-B879-B86E42FEC15B}" type="slidenum">
              <a:rPr lang="en-US"/>
              <a:pPr>
                <a:defRPr/>
              </a:pPr>
              <a:t>14</a:t>
            </a:fld>
            <a:endParaRPr lang="en-US"/>
          </a:p>
        </p:txBody>
      </p:sp>
      <p:sp>
        <p:nvSpPr>
          <p:cNvPr id="17412" name="Rectangle 2"/>
          <p:cNvSpPr>
            <a:spLocks noGrp="1" noChangeArrowheads="1"/>
          </p:cNvSpPr>
          <p:nvPr>
            <p:ph type="title"/>
          </p:nvPr>
        </p:nvSpPr>
        <p:spPr/>
        <p:txBody>
          <a:bodyPr/>
          <a:lstStyle/>
          <a:p>
            <a:r>
              <a:rPr lang="en-US"/>
              <a:t>Shared Counters</a:t>
            </a:r>
          </a:p>
        </p:txBody>
      </p:sp>
      <p:sp>
        <p:nvSpPr>
          <p:cNvPr id="17413" name="Rectangle 3"/>
          <p:cNvSpPr>
            <a:spLocks noGrp="1" noChangeArrowheads="1"/>
          </p:cNvSpPr>
          <p:nvPr>
            <p:ph type="body" idx="1"/>
          </p:nvPr>
        </p:nvSpPr>
        <p:spPr/>
        <p:txBody>
          <a:bodyPr/>
          <a:lstStyle/>
          <a:p>
            <a:r>
              <a:rPr lang="en-US"/>
              <a:t>Can we build a shared counter with</a:t>
            </a:r>
          </a:p>
          <a:p>
            <a:pPr lvl="1"/>
            <a:r>
              <a:rPr lang="en-US"/>
              <a:t>Low memory contention, and</a:t>
            </a:r>
          </a:p>
          <a:p>
            <a:pPr lvl="1"/>
            <a:r>
              <a:rPr lang="en-US"/>
              <a:t>Real parallelism?</a:t>
            </a:r>
          </a:p>
          <a:p>
            <a:r>
              <a:rPr lang="en-US"/>
              <a:t>Locking</a:t>
            </a:r>
          </a:p>
          <a:p>
            <a:pPr lvl="1"/>
            <a:r>
              <a:rPr lang="en-US"/>
              <a:t>Can use queue locks to reduce contention</a:t>
            </a:r>
          </a:p>
          <a:p>
            <a:pPr lvl="1"/>
            <a:r>
              <a:rPr lang="en-US"/>
              <a:t>No help with parallelism issue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Footer Placeholder 2"/>
          <p:cNvSpPr>
            <a:spLocks noGrp="1"/>
          </p:cNvSpPr>
          <p:nvPr>
            <p:ph type="ftr" sz="quarter" idx="10"/>
          </p:nvPr>
        </p:nvSpPr>
        <p:spPr/>
        <p:txBody>
          <a:bodyPr/>
          <a:lstStyle/>
          <a:p>
            <a:pPr>
              <a:defRPr/>
            </a:pPr>
            <a:r>
              <a:rPr lang="en-US"/>
              <a:t>Art of Multiprocessor Programming</a:t>
            </a:r>
          </a:p>
        </p:txBody>
      </p:sp>
      <p:sp>
        <p:nvSpPr>
          <p:cNvPr id="238" name="Slide Number Placeholder 3"/>
          <p:cNvSpPr>
            <a:spLocks noGrp="1"/>
          </p:cNvSpPr>
          <p:nvPr>
            <p:ph type="sldNum" sz="quarter" idx="11"/>
          </p:nvPr>
        </p:nvSpPr>
        <p:spPr/>
        <p:txBody>
          <a:bodyPr/>
          <a:lstStyle/>
          <a:p>
            <a:pPr>
              <a:defRPr/>
            </a:pPr>
            <a:fld id="{DF6C15A2-14F4-484B-9E28-D1E737C73416}" type="slidenum">
              <a:rPr lang="en-US"/>
              <a:pPr>
                <a:defRPr/>
              </a:pPr>
              <a:t>15</a:t>
            </a:fld>
            <a:endParaRPr lang="en-US"/>
          </a:p>
        </p:txBody>
      </p:sp>
      <p:sp>
        <p:nvSpPr>
          <p:cNvPr id="18436" name="Rectangle 4"/>
          <p:cNvSpPr>
            <a:spLocks noGrp="1" noChangeArrowheads="1"/>
          </p:cNvSpPr>
          <p:nvPr>
            <p:ph type="title"/>
          </p:nvPr>
        </p:nvSpPr>
        <p:spPr>
          <a:xfrm>
            <a:off x="685800" y="351654"/>
            <a:ext cx="7772400" cy="1143000"/>
          </a:xfrm>
        </p:spPr>
        <p:txBody>
          <a:bodyPr/>
          <a:lstStyle/>
          <a:p>
            <a:r>
              <a:rPr lang="en-US" dirty="0"/>
              <a:t>Software Combining Tree</a:t>
            </a:r>
          </a:p>
        </p:txBody>
      </p:sp>
      <p:grpSp>
        <p:nvGrpSpPr>
          <p:cNvPr id="18437" name="Group 5"/>
          <p:cNvGrpSpPr>
            <a:grpSpLocks/>
          </p:cNvGrpSpPr>
          <p:nvPr/>
        </p:nvGrpSpPr>
        <p:grpSpPr bwMode="auto">
          <a:xfrm>
            <a:off x="4256088" y="2068513"/>
            <a:ext cx="520700" cy="504825"/>
            <a:chOff x="3575" y="2386"/>
            <a:chExt cx="454" cy="440"/>
          </a:xfrm>
        </p:grpSpPr>
        <p:grpSp>
          <p:nvGrpSpPr>
            <p:cNvPr id="18662" name="Group 6"/>
            <p:cNvGrpSpPr>
              <a:grpSpLocks/>
            </p:cNvGrpSpPr>
            <p:nvPr/>
          </p:nvGrpSpPr>
          <p:grpSpPr bwMode="auto">
            <a:xfrm>
              <a:off x="3575" y="2602"/>
              <a:ext cx="309" cy="224"/>
              <a:chOff x="3552" y="2634"/>
              <a:chExt cx="309" cy="224"/>
            </a:xfrm>
          </p:grpSpPr>
          <p:sp>
            <p:nvSpPr>
              <p:cNvPr id="18669" name="AutoShape 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70" name="Line 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grpSp>
        <p:grpSp>
          <p:nvGrpSpPr>
            <p:cNvPr id="18663" name="Group 9"/>
            <p:cNvGrpSpPr>
              <a:grpSpLocks/>
            </p:cNvGrpSpPr>
            <p:nvPr/>
          </p:nvGrpSpPr>
          <p:grpSpPr bwMode="auto">
            <a:xfrm>
              <a:off x="3809" y="2386"/>
              <a:ext cx="220" cy="315"/>
              <a:chOff x="4593" y="2251"/>
              <a:chExt cx="220" cy="315"/>
            </a:xfrm>
          </p:grpSpPr>
          <p:sp>
            <p:nvSpPr>
              <p:cNvPr id="18664" name="Oval 1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65" name="Oval 1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66" name="Oval 1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67" name="Oval 1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68" name="AutoShape 1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pitchFamily="34" charset="0"/>
                  <a:cs typeface="Arial" pitchFamily="34" charset="0"/>
                </a:endParaRPr>
              </a:p>
            </p:txBody>
          </p:sp>
        </p:grpSp>
      </p:grpSp>
      <p:grpSp>
        <p:nvGrpSpPr>
          <p:cNvPr id="18438" name="Group 76"/>
          <p:cNvGrpSpPr>
            <a:grpSpLocks/>
          </p:cNvGrpSpPr>
          <p:nvPr/>
        </p:nvGrpSpPr>
        <p:grpSpPr bwMode="auto">
          <a:xfrm>
            <a:off x="2906713" y="3197225"/>
            <a:ext cx="3217862" cy="504825"/>
            <a:chOff x="1887" y="2189"/>
            <a:chExt cx="2027" cy="318"/>
          </a:xfrm>
        </p:grpSpPr>
        <p:grpSp>
          <p:nvGrpSpPr>
            <p:cNvPr id="18642" name="Group 15"/>
            <p:cNvGrpSpPr>
              <a:grpSpLocks/>
            </p:cNvGrpSpPr>
            <p:nvPr/>
          </p:nvGrpSpPr>
          <p:grpSpPr bwMode="auto">
            <a:xfrm>
              <a:off x="1887" y="2189"/>
              <a:ext cx="328" cy="318"/>
              <a:chOff x="3575" y="2386"/>
              <a:chExt cx="454" cy="440"/>
            </a:xfrm>
          </p:grpSpPr>
          <p:grpSp>
            <p:nvGrpSpPr>
              <p:cNvPr id="18653" name="Group 16"/>
              <p:cNvGrpSpPr>
                <a:grpSpLocks/>
              </p:cNvGrpSpPr>
              <p:nvPr/>
            </p:nvGrpSpPr>
            <p:grpSpPr bwMode="auto">
              <a:xfrm>
                <a:off x="3575" y="2602"/>
                <a:ext cx="309" cy="224"/>
                <a:chOff x="3552" y="2634"/>
                <a:chExt cx="309" cy="224"/>
              </a:xfrm>
            </p:grpSpPr>
            <p:sp>
              <p:nvSpPr>
                <p:cNvPr id="18660" name="AutoShape 1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61" name="Line 1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grpSp>
          <p:grpSp>
            <p:nvGrpSpPr>
              <p:cNvPr id="18654" name="Group 19"/>
              <p:cNvGrpSpPr>
                <a:grpSpLocks/>
              </p:cNvGrpSpPr>
              <p:nvPr/>
            </p:nvGrpSpPr>
            <p:grpSpPr bwMode="auto">
              <a:xfrm>
                <a:off x="3809" y="2386"/>
                <a:ext cx="220" cy="315"/>
                <a:chOff x="4593" y="2251"/>
                <a:chExt cx="220" cy="315"/>
              </a:xfrm>
            </p:grpSpPr>
            <p:sp>
              <p:nvSpPr>
                <p:cNvPr id="18655" name="Oval 2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56" name="Oval 2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57" name="Oval 2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58" name="Oval 2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59" name="AutoShape 2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pitchFamily="34" charset="0"/>
                    <a:cs typeface="Arial" pitchFamily="34" charset="0"/>
                  </a:endParaRPr>
                </a:p>
              </p:txBody>
            </p:sp>
          </p:grpSp>
        </p:grpSp>
        <p:grpSp>
          <p:nvGrpSpPr>
            <p:cNvPr id="18643" name="Group 25"/>
            <p:cNvGrpSpPr>
              <a:grpSpLocks/>
            </p:cNvGrpSpPr>
            <p:nvPr/>
          </p:nvGrpSpPr>
          <p:grpSpPr bwMode="auto">
            <a:xfrm>
              <a:off x="3586" y="2189"/>
              <a:ext cx="328" cy="318"/>
              <a:chOff x="3575" y="2386"/>
              <a:chExt cx="454" cy="440"/>
            </a:xfrm>
          </p:grpSpPr>
          <p:grpSp>
            <p:nvGrpSpPr>
              <p:cNvPr id="18644" name="Group 26"/>
              <p:cNvGrpSpPr>
                <a:grpSpLocks/>
              </p:cNvGrpSpPr>
              <p:nvPr/>
            </p:nvGrpSpPr>
            <p:grpSpPr bwMode="auto">
              <a:xfrm>
                <a:off x="3575" y="2602"/>
                <a:ext cx="309" cy="224"/>
                <a:chOff x="3552" y="2634"/>
                <a:chExt cx="309" cy="224"/>
              </a:xfrm>
            </p:grpSpPr>
            <p:sp>
              <p:nvSpPr>
                <p:cNvPr id="18651" name="AutoShape 2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52" name="Line 2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grpSp>
          <p:grpSp>
            <p:nvGrpSpPr>
              <p:cNvPr id="18645" name="Group 29"/>
              <p:cNvGrpSpPr>
                <a:grpSpLocks/>
              </p:cNvGrpSpPr>
              <p:nvPr/>
            </p:nvGrpSpPr>
            <p:grpSpPr bwMode="auto">
              <a:xfrm>
                <a:off x="3809" y="2386"/>
                <a:ext cx="220" cy="315"/>
                <a:chOff x="4593" y="2251"/>
                <a:chExt cx="220" cy="315"/>
              </a:xfrm>
            </p:grpSpPr>
            <p:sp>
              <p:nvSpPr>
                <p:cNvPr id="18646" name="Oval 3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47" name="Oval 3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48" name="Oval 3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49" name="Oval 3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50" name="AutoShape 3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pitchFamily="34" charset="0"/>
                    <a:cs typeface="Arial" pitchFamily="34" charset="0"/>
                  </a:endParaRPr>
                </a:p>
              </p:txBody>
            </p:sp>
          </p:grpSp>
        </p:grpSp>
      </p:grpSp>
      <p:grpSp>
        <p:nvGrpSpPr>
          <p:cNvPr id="18439" name="Group 75"/>
          <p:cNvGrpSpPr>
            <a:grpSpLocks/>
          </p:cNvGrpSpPr>
          <p:nvPr/>
        </p:nvGrpSpPr>
        <p:grpSpPr bwMode="auto">
          <a:xfrm>
            <a:off x="2038350" y="4327525"/>
            <a:ext cx="4954588" cy="506413"/>
            <a:chOff x="1284" y="2726"/>
            <a:chExt cx="3121" cy="319"/>
          </a:xfrm>
        </p:grpSpPr>
        <p:grpSp>
          <p:nvGrpSpPr>
            <p:cNvPr id="18602" name="Group 35"/>
            <p:cNvGrpSpPr>
              <a:grpSpLocks/>
            </p:cNvGrpSpPr>
            <p:nvPr/>
          </p:nvGrpSpPr>
          <p:grpSpPr bwMode="auto">
            <a:xfrm>
              <a:off x="3146" y="2727"/>
              <a:ext cx="328" cy="318"/>
              <a:chOff x="3575" y="2386"/>
              <a:chExt cx="454" cy="440"/>
            </a:xfrm>
          </p:grpSpPr>
          <p:grpSp>
            <p:nvGrpSpPr>
              <p:cNvPr id="18633" name="Group 36"/>
              <p:cNvGrpSpPr>
                <a:grpSpLocks/>
              </p:cNvGrpSpPr>
              <p:nvPr/>
            </p:nvGrpSpPr>
            <p:grpSpPr bwMode="auto">
              <a:xfrm>
                <a:off x="3575" y="2602"/>
                <a:ext cx="309" cy="224"/>
                <a:chOff x="3552" y="2634"/>
                <a:chExt cx="309" cy="224"/>
              </a:xfrm>
            </p:grpSpPr>
            <p:sp>
              <p:nvSpPr>
                <p:cNvPr id="18640" name="AutoShape 3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41" name="Line 3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grpSp>
          <p:grpSp>
            <p:nvGrpSpPr>
              <p:cNvPr id="18634" name="Group 39"/>
              <p:cNvGrpSpPr>
                <a:grpSpLocks/>
              </p:cNvGrpSpPr>
              <p:nvPr/>
            </p:nvGrpSpPr>
            <p:grpSpPr bwMode="auto">
              <a:xfrm>
                <a:off x="3809" y="2386"/>
                <a:ext cx="220" cy="315"/>
                <a:chOff x="4593" y="2251"/>
                <a:chExt cx="220" cy="315"/>
              </a:xfrm>
            </p:grpSpPr>
            <p:sp>
              <p:nvSpPr>
                <p:cNvPr id="18635" name="Oval 4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36" name="Oval 4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37" name="Oval 4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38" name="Oval 4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39" name="AutoShape 4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pitchFamily="34" charset="0"/>
                    <a:cs typeface="Arial" pitchFamily="34" charset="0"/>
                  </a:endParaRPr>
                </a:p>
              </p:txBody>
            </p:sp>
          </p:grpSp>
        </p:grpSp>
        <p:grpSp>
          <p:nvGrpSpPr>
            <p:cNvPr id="18603" name="Group 45"/>
            <p:cNvGrpSpPr>
              <a:grpSpLocks/>
            </p:cNvGrpSpPr>
            <p:nvPr/>
          </p:nvGrpSpPr>
          <p:grpSpPr bwMode="auto">
            <a:xfrm>
              <a:off x="4077" y="2727"/>
              <a:ext cx="328" cy="318"/>
              <a:chOff x="3575" y="2386"/>
              <a:chExt cx="454" cy="440"/>
            </a:xfrm>
          </p:grpSpPr>
          <p:grpSp>
            <p:nvGrpSpPr>
              <p:cNvPr id="18624" name="Group 46"/>
              <p:cNvGrpSpPr>
                <a:grpSpLocks/>
              </p:cNvGrpSpPr>
              <p:nvPr/>
            </p:nvGrpSpPr>
            <p:grpSpPr bwMode="auto">
              <a:xfrm>
                <a:off x="3575" y="2602"/>
                <a:ext cx="309" cy="224"/>
                <a:chOff x="3552" y="2634"/>
                <a:chExt cx="309" cy="224"/>
              </a:xfrm>
            </p:grpSpPr>
            <p:sp>
              <p:nvSpPr>
                <p:cNvPr id="18631" name="AutoShape 4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32" name="Line 4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grpSp>
          <p:grpSp>
            <p:nvGrpSpPr>
              <p:cNvPr id="18625" name="Group 49"/>
              <p:cNvGrpSpPr>
                <a:grpSpLocks/>
              </p:cNvGrpSpPr>
              <p:nvPr/>
            </p:nvGrpSpPr>
            <p:grpSpPr bwMode="auto">
              <a:xfrm>
                <a:off x="3809" y="2386"/>
                <a:ext cx="220" cy="315"/>
                <a:chOff x="4593" y="2251"/>
                <a:chExt cx="220" cy="315"/>
              </a:xfrm>
            </p:grpSpPr>
            <p:sp>
              <p:nvSpPr>
                <p:cNvPr id="18626" name="Oval 5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27" name="Oval 5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28" name="Oval 5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29" name="Oval 5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30" name="AutoShape 5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pitchFamily="34" charset="0"/>
                    <a:cs typeface="Arial" pitchFamily="34" charset="0"/>
                  </a:endParaRPr>
                </a:p>
              </p:txBody>
            </p:sp>
          </p:grpSp>
        </p:grpSp>
        <p:grpSp>
          <p:nvGrpSpPr>
            <p:cNvPr id="18604" name="Group 55"/>
            <p:cNvGrpSpPr>
              <a:grpSpLocks/>
            </p:cNvGrpSpPr>
            <p:nvPr/>
          </p:nvGrpSpPr>
          <p:grpSpPr bwMode="auto">
            <a:xfrm>
              <a:off x="1284" y="2726"/>
              <a:ext cx="328" cy="318"/>
              <a:chOff x="3575" y="2386"/>
              <a:chExt cx="454" cy="440"/>
            </a:xfrm>
          </p:grpSpPr>
          <p:grpSp>
            <p:nvGrpSpPr>
              <p:cNvPr id="18615" name="Group 56"/>
              <p:cNvGrpSpPr>
                <a:grpSpLocks/>
              </p:cNvGrpSpPr>
              <p:nvPr/>
            </p:nvGrpSpPr>
            <p:grpSpPr bwMode="auto">
              <a:xfrm>
                <a:off x="3575" y="2602"/>
                <a:ext cx="309" cy="224"/>
                <a:chOff x="3552" y="2634"/>
                <a:chExt cx="309" cy="224"/>
              </a:xfrm>
            </p:grpSpPr>
            <p:sp>
              <p:nvSpPr>
                <p:cNvPr id="18622" name="AutoShape 5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23" name="Line 5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grpSp>
          <p:grpSp>
            <p:nvGrpSpPr>
              <p:cNvPr id="18616" name="Group 59"/>
              <p:cNvGrpSpPr>
                <a:grpSpLocks/>
              </p:cNvGrpSpPr>
              <p:nvPr/>
            </p:nvGrpSpPr>
            <p:grpSpPr bwMode="auto">
              <a:xfrm>
                <a:off x="3809" y="2386"/>
                <a:ext cx="220" cy="315"/>
                <a:chOff x="4593" y="2251"/>
                <a:chExt cx="220" cy="315"/>
              </a:xfrm>
            </p:grpSpPr>
            <p:sp>
              <p:nvSpPr>
                <p:cNvPr id="18617" name="Oval 6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18" name="Oval 6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19" name="Oval 6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20" name="Oval 6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21" name="AutoShape 6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pitchFamily="34" charset="0"/>
                    <a:cs typeface="Arial" pitchFamily="34" charset="0"/>
                  </a:endParaRPr>
                </a:p>
              </p:txBody>
            </p:sp>
          </p:grpSp>
        </p:grpSp>
        <p:grpSp>
          <p:nvGrpSpPr>
            <p:cNvPr id="18605" name="Group 65"/>
            <p:cNvGrpSpPr>
              <a:grpSpLocks/>
            </p:cNvGrpSpPr>
            <p:nvPr/>
          </p:nvGrpSpPr>
          <p:grpSpPr bwMode="auto">
            <a:xfrm>
              <a:off x="2215" y="2726"/>
              <a:ext cx="328" cy="318"/>
              <a:chOff x="3575" y="2386"/>
              <a:chExt cx="454" cy="440"/>
            </a:xfrm>
          </p:grpSpPr>
          <p:grpSp>
            <p:nvGrpSpPr>
              <p:cNvPr id="18606" name="Group 66"/>
              <p:cNvGrpSpPr>
                <a:grpSpLocks/>
              </p:cNvGrpSpPr>
              <p:nvPr/>
            </p:nvGrpSpPr>
            <p:grpSpPr bwMode="auto">
              <a:xfrm>
                <a:off x="3575" y="2602"/>
                <a:ext cx="309" cy="224"/>
                <a:chOff x="3552" y="2634"/>
                <a:chExt cx="309" cy="224"/>
              </a:xfrm>
            </p:grpSpPr>
            <p:sp>
              <p:nvSpPr>
                <p:cNvPr id="18613" name="AutoShape 6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14" name="Line 6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grpSp>
          <p:grpSp>
            <p:nvGrpSpPr>
              <p:cNvPr id="18607" name="Group 69"/>
              <p:cNvGrpSpPr>
                <a:grpSpLocks/>
              </p:cNvGrpSpPr>
              <p:nvPr/>
            </p:nvGrpSpPr>
            <p:grpSpPr bwMode="auto">
              <a:xfrm>
                <a:off x="3809" y="2386"/>
                <a:ext cx="220" cy="315"/>
                <a:chOff x="4593" y="2251"/>
                <a:chExt cx="220" cy="315"/>
              </a:xfrm>
            </p:grpSpPr>
            <p:sp>
              <p:nvSpPr>
                <p:cNvPr id="18608" name="Oval 7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09" name="Oval 7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10" name="Oval 7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11" name="Oval 7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612" name="AutoShape 7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pitchFamily="34" charset="0"/>
                    <a:cs typeface="Arial" pitchFamily="34" charset="0"/>
                  </a:endParaRPr>
                </a:p>
              </p:txBody>
            </p:sp>
          </p:grpSp>
        </p:grpSp>
      </p:grpSp>
      <p:grpSp>
        <p:nvGrpSpPr>
          <p:cNvPr id="18440" name="Group 77"/>
          <p:cNvGrpSpPr>
            <a:grpSpLocks/>
          </p:cNvGrpSpPr>
          <p:nvPr/>
        </p:nvGrpSpPr>
        <p:grpSpPr bwMode="auto">
          <a:xfrm flipH="1">
            <a:off x="1525588" y="5059363"/>
            <a:ext cx="512762" cy="384175"/>
            <a:chOff x="1584" y="816"/>
            <a:chExt cx="912" cy="816"/>
          </a:xfrm>
        </p:grpSpPr>
        <p:sp>
          <p:nvSpPr>
            <p:cNvPr id="1859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9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95" name="Freeform 8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9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9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9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99" name="Freeform 8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00" name="Freeform 8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01" name="Freeform 8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441" name="Group 87"/>
          <p:cNvGrpSpPr>
            <a:grpSpLocks/>
          </p:cNvGrpSpPr>
          <p:nvPr/>
        </p:nvGrpSpPr>
        <p:grpSpPr bwMode="auto">
          <a:xfrm>
            <a:off x="1525588" y="4570413"/>
            <a:ext cx="415925" cy="238125"/>
            <a:chOff x="1184" y="1264"/>
            <a:chExt cx="262" cy="150"/>
          </a:xfrm>
        </p:grpSpPr>
        <p:sp>
          <p:nvSpPr>
            <p:cNvPr id="18575" name="Oval 88"/>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76" name="Oval 89"/>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77" name="Oval 90"/>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78" name="Rectangle 91"/>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79" name="Rectangle 92"/>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80" name="Rectangle 93"/>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81" name="Rectangle 94"/>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82" name="Rectangle 95"/>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83" name="Rectangle 96"/>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84" name="Oval 97"/>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85" name="Oval 98"/>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586" name="Rectangle 99"/>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87" name="Rectangle 100"/>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88" name="Arc 101"/>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89" name="Arc 102"/>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90" name="Oval 103"/>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91" name="Oval 104"/>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592" name="Freeform 105"/>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nvGrpSpPr>
          <p:cNvPr id="18442" name="Group 106"/>
          <p:cNvGrpSpPr>
            <a:grpSpLocks/>
          </p:cNvGrpSpPr>
          <p:nvPr/>
        </p:nvGrpSpPr>
        <p:grpSpPr bwMode="auto">
          <a:xfrm flipH="1">
            <a:off x="3757613" y="2705100"/>
            <a:ext cx="512762" cy="384175"/>
            <a:chOff x="1584" y="816"/>
            <a:chExt cx="912" cy="816"/>
          </a:xfrm>
        </p:grpSpPr>
        <p:sp>
          <p:nvSpPr>
            <p:cNvPr id="18566" name="Freeform 10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7" name="Freeform 10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8" name="Freeform 10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9" name="Freeform 1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70" name="Freeform 1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71" name="Freeform 1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72" name="Freeform 1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73" name="Freeform 1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74" name="Freeform 1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443" name="AutoShape 116"/>
          <p:cNvSpPr>
            <a:spLocks noChangeArrowheads="1"/>
          </p:cNvSpPr>
          <p:nvPr/>
        </p:nvSpPr>
        <p:spPr bwMode="auto">
          <a:xfrm>
            <a:off x="4192588" y="1560513"/>
            <a:ext cx="484187" cy="384175"/>
          </a:xfrm>
          <a:prstGeom prst="roundRect">
            <a:avLst>
              <a:gd name="adj" fmla="val 16667"/>
            </a:avLst>
          </a:prstGeom>
          <a:solidFill>
            <a:srgbClr val="FF00FF"/>
          </a:solidFill>
          <a:ln w="38100" algn="ctr">
            <a:solidFill>
              <a:schemeClr val="tx1"/>
            </a:solidFill>
            <a:round/>
            <a:headEnd/>
            <a:tailEnd/>
          </a:ln>
        </p:spPr>
        <p:txBody>
          <a:bodyPr wrap="none" anchor="ctr"/>
          <a:lstStyle/>
          <a:p>
            <a:pPr algn="ctr">
              <a:spcBef>
                <a:spcPct val="0"/>
              </a:spcBef>
            </a:pPr>
            <a:r>
              <a:rPr lang="en-US" sz="2800" b="0">
                <a:solidFill>
                  <a:schemeClr val="bg1"/>
                </a:solidFill>
                <a:latin typeface="Arial" pitchFamily="34" charset="0"/>
                <a:cs typeface="Arial" pitchFamily="34" charset="0"/>
              </a:rPr>
              <a:t>4</a:t>
            </a:r>
          </a:p>
        </p:txBody>
      </p:sp>
      <p:grpSp>
        <p:nvGrpSpPr>
          <p:cNvPr id="18444" name="Group 117"/>
          <p:cNvGrpSpPr>
            <a:grpSpLocks/>
          </p:cNvGrpSpPr>
          <p:nvPr/>
        </p:nvGrpSpPr>
        <p:grpSpPr bwMode="auto">
          <a:xfrm flipH="1">
            <a:off x="5164138" y="3830638"/>
            <a:ext cx="512762" cy="384175"/>
            <a:chOff x="1584" y="816"/>
            <a:chExt cx="912" cy="816"/>
          </a:xfrm>
        </p:grpSpPr>
        <p:sp>
          <p:nvSpPr>
            <p:cNvPr id="18557" name="Freeform 11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8" name="Freeform 11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9" name="Freeform 12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0" name="Freeform 12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1" name="Freeform 12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2" name="Freeform 12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3" name="Freeform 12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4" name="Freeform 12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65" name="Freeform 12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445" name="Group 127"/>
          <p:cNvGrpSpPr>
            <a:grpSpLocks/>
          </p:cNvGrpSpPr>
          <p:nvPr/>
        </p:nvGrpSpPr>
        <p:grpSpPr bwMode="auto">
          <a:xfrm>
            <a:off x="6838950" y="5026025"/>
            <a:ext cx="512763" cy="384175"/>
            <a:chOff x="1584" y="816"/>
            <a:chExt cx="912" cy="816"/>
          </a:xfrm>
        </p:grpSpPr>
        <p:sp>
          <p:nvSpPr>
            <p:cNvPr id="18548" name="Freeform 1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9" name="Freeform 1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0" name="Freeform 13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1" name="Freeform 1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2" name="Freeform 1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3" name="Freeform 1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4" name="Freeform 13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5" name="Freeform 13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56" name="Freeform 13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446" name="Freeform 137"/>
          <p:cNvSpPr>
            <a:spLocks/>
          </p:cNvSpPr>
          <p:nvPr/>
        </p:nvSpPr>
        <p:spPr bwMode="auto">
          <a:xfrm>
            <a:off x="2203450" y="4179888"/>
            <a:ext cx="452438" cy="1131887"/>
          </a:xfrm>
          <a:custGeom>
            <a:avLst/>
            <a:gdLst>
              <a:gd name="T0" fmla="*/ 2147483647 w 285"/>
              <a:gd name="T1" fmla="*/ 2147483647 h 713"/>
              <a:gd name="T2" fmla="*/ 2147483647 w 285"/>
              <a:gd name="T3" fmla="*/ 2147483647 h 713"/>
              <a:gd name="T4" fmla="*/ 2147483647 w 285"/>
              <a:gd name="T5" fmla="*/ 0 h 713"/>
              <a:gd name="T6" fmla="*/ 0 60000 65536"/>
              <a:gd name="T7" fmla="*/ 0 60000 65536"/>
              <a:gd name="T8" fmla="*/ 0 60000 65536"/>
              <a:gd name="T9" fmla="*/ 0 w 285"/>
              <a:gd name="T10" fmla="*/ 0 h 713"/>
              <a:gd name="T11" fmla="*/ 285 w 285"/>
              <a:gd name="T12" fmla="*/ 713 h 713"/>
            </a:gdLst>
            <a:ahLst/>
            <a:cxnLst>
              <a:cxn ang="T6">
                <a:pos x="T0" y="T1"/>
              </a:cxn>
              <a:cxn ang="T7">
                <a:pos x="T2" y="T3"/>
              </a:cxn>
              <a:cxn ang="T8">
                <a:pos x="T4" y="T5"/>
              </a:cxn>
            </a:cxnLst>
            <a:rect l="T9" t="T10" r="T11" b="T12"/>
            <a:pathLst>
              <a:path w="285" h="713">
                <a:moveTo>
                  <a:pt x="285" y="713"/>
                </a:moveTo>
                <a:cubicBezTo>
                  <a:pt x="145" y="608"/>
                  <a:pt x="22" y="485"/>
                  <a:pt x="11" y="366"/>
                </a:cubicBezTo>
                <a:cubicBezTo>
                  <a:pt x="0" y="247"/>
                  <a:pt x="177" y="76"/>
                  <a:pt x="221" y="0"/>
                </a:cubicBezTo>
              </a:path>
            </a:pathLst>
          </a:custGeom>
          <a:noFill/>
          <a:ln w="38100">
            <a:solidFill>
              <a:srgbClr val="0066FF"/>
            </a:solidFill>
            <a:prstDash val="sysDot"/>
            <a:round/>
            <a:headEnd/>
            <a:tailEnd type="triangle" w="med" len="med"/>
          </a:ln>
        </p:spPr>
        <p:txBody>
          <a:bodyPr/>
          <a:lstStyle/>
          <a:p>
            <a:endParaRPr lang="en-US">
              <a:latin typeface="Arial" pitchFamily="34" charset="0"/>
              <a:cs typeface="Arial" pitchFamily="34" charset="0"/>
            </a:endParaRPr>
          </a:p>
        </p:txBody>
      </p:sp>
      <p:grpSp>
        <p:nvGrpSpPr>
          <p:cNvPr id="18447" name="Group 138"/>
          <p:cNvGrpSpPr>
            <a:grpSpLocks/>
          </p:cNvGrpSpPr>
          <p:nvPr/>
        </p:nvGrpSpPr>
        <p:grpSpPr bwMode="auto">
          <a:xfrm flipH="1">
            <a:off x="2500313" y="3765550"/>
            <a:ext cx="512762" cy="384175"/>
            <a:chOff x="1584" y="816"/>
            <a:chExt cx="912" cy="816"/>
          </a:xfrm>
        </p:grpSpPr>
        <p:sp>
          <p:nvSpPr>
            <p:cNvPr id="18539" name="Freeform 1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0" name="Freeform 1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1" name="Freeform 14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2" name="Freeform 1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3" name="Freeform 1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4" name="Freeform 1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5" name="Freeform 14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6" name="Freeform 14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47" name="Freeform 14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448" name="Group 148"/>
          <p:cNvGrpSpPr>
            <a:grpSpLocks/>
          </p:cNvGrpSpPr>
          <p:nvPr/>
        </p:nvGrpSpPr>
        <p:grpSpPr bwMode="auto">
          <a:xfrm>
            <a:off x="2344738" y="3430588"/>
            <a:ext cx="415925" cy="238125"/>
            <a:chOff x="1184" y="1264"/>
            <a:chExt cx="262" cy="150"/>
          </a:xfrm>
        </p:grpSpPr>
        <p:sp>
          <p:nvSpPr>
            <p:cNvPr id="18521" name="Oval 149"/>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22" name="Oval 150"/>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23" name="Oval 151"/>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24" name="Rectangle 152"/>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25" name="Rectangle 153"/>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26" name="Rectangle 154"/>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27" name="Rectangle 155"/>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28" name="Rectangle 156"/>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29" name="Rectangle 157"/>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30" name="Oval 158"/>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31" name="Oval 159"/>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532" name="Rectangle 160"/>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33" name="Rectangle 161"/>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34" name="Arc 162"/>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35" name="Arc 163"/>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36" name="Oval 164"/>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37" name="Oval 165"/>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538" name="Freeform 166"/>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grpSp>
        <p:nvGrpSpPr>
          <p:cNvPr id="18449" name="Group 167"/>
          <p:cNvGrpSpPr>
            <a:grpSpLocks/>
          </p:cNvGrpSpPr>
          <p:nvPr/>
        </p:nvGrpSpPr>
        <p:grpSpPr bwMode="auto">
          <a:xfrm flipH="1">
            <a:off x="5076825" y="1668463"/>
            <a:ext cx="512763" cy="384175"/>
            <a:chOff x="1584" y="816"/>
            <a:chExt cx="912" cy="816"/>
          </a:xfrm>
        </p:grpSpPr>
        <p:sp>
          <p:nvSpPr>
            <p:cNvPr id="18512" name="Freeform 16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13" name="Freeform 16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14" name="Freeform 17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15" name="Freeform 17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16" name="Freeform 17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17" name="Freeform 17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18" name="Freeform 17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19" name="Freeform 17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520" name="Freeform 17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450" name="Group 177"/>
          <p:cNvGrpSpPr>
            <a:grpSpLocks/>
          </p:cNvGrpSpPr>
          <p:nvPr/>
        </p:nvGrpSpPr>
        <p:grpSpPr bwMode="auto">
          <a:xfrm>
            <a:off x="3614738" y="2349500"/>
            <a:ext cx="415925" cy="238125"/>
            <a:chOff x="1184" y="1264"/>
            <a:chExt cx="262" cy="150"/>
          </a:xfrm>
        </p:grpSpPr>
        <p:sp>
          <p:nvSpPr>
            <p:cNvPr id="18494" name="Oval 178"/>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95" name="Oval 179"/>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96" name="Oval 180"/>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97" name="Rectangle 181"/>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98" name="Rectangle 182"/>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99" name="Rectangle 183"/>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00" name="Rectangle 184"/>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01" name="Rectangle 185"/>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02" name="Rectangle 186"/>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03" name="Oval 187"/>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04" name="Oval 188"/>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505" name="Rectangle 189"/>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06" name="Rectangle 190"/>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507" name="Arc 191"/>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08" name="Arc 192"/>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09" name="Oval 193"/>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510" name="Oval 194"/>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511" name="Freeform 195"/>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sp>
        <p:nvSpPr>
          <p:cNvPr id="18451" name="Freeform 196"/>
          <p:cNvSpPr>
            <a:spLocks/>
          </p:cNvSpPr>
          <p:nvPr/>
        </p:nvSpPr>
        <p:spPr bwMode="auto">
          <a:xfrm>
            <a:off x="3224213" y="3106738"/>
            <a:ext cx="833437" cy="2068512"/>
          </a:xfrm>
          <a:custGeom>
            <a:avLst/>
            <a:gdLst>
              <a:gd name="T0" fmla="*/ 2147483647 w 525"/>
              <a:gd name="T1" fmla="*/ 2147483647 h 1303"/>
              <a:gd name="T2" fmla="*/ 2147483647 w 525"/>
              <a:gd name="T3" fmla="*/ 2147483647 h 1303"/>
              <a:gd name="T4" fmla="*/ 2147483647 w 525"/>
              <a:gd name="T5" fmla="*/ 2147483647 h 1303"/>
              <a:gd name="T6" fmla="*/ 2147483647 w 525"/>
              <a:gd name="T7" fmla="*/ 2147483647 h 1303"/>
              <a:gd name="T8" fmla="*/ 2147483647 w 525"/>
              <a:gd name="T9" fmla="*/ 0 h 1303"/>
              <a:gd name="T10" fmla="*/ 0 60000 65536"/>
              <a:gd name="T11" fmla="*/ 0 60000 65536"/>
              <a:gd name="T12" fmla="*/ 0 60000 65536"/>
              <a:gd name="T13" fmla="*/ 0 60000 65536"/>
              <a:gd name="T14" fmla="*/ 0 60000 65536"/>
              <a:gd name="T15" fmla="*/ 0 w 525"/>
              <a:gd name="T16" fmla="*/ 0 h 1303"/>
              <a:gd name="T17" fmla="*/ 525 w 525"/>
              <a:gd name="T18" fmla="*/ 1303 h 1303"/>
            </a:gdLst>
            <a:ahLst/>
            <a:cxnLst>
              <a:cxn ang="T10">
                <a:pos x="T0" y="T1"/>
              </a:cxn>
              <a:cxn ang="T11">
                <a:pos x="T2" y="T3"/>
              </a:cxn>
              <a:cxn ang="T12">
                <a:pos x="T4" y="T5"/>
              </a:cxn>
              <a:cxn ang="T13">
                <a:pos x="T6" y="T7"/>
              </a:cxn>
              <a:cxn ang="T14">
                <a:pos x="T8" y="T9"/>
              </a:cxn>
            </a:cxnLst>
            <a:rect l="T15" t="T16" r="T17" b="T18"/>
            <a:pathLst>
              <a:path w="525" h="1303">
                <a:moveTo>
                  <a:pt x="525" y="1303"/>
                </a:moveTo>
                <a:cubicBezTo>
                  <a:pt x="475" y="1259"/>
                  <a:pt x="305" y="1129"/>
                  <a:pt x="227" y="1042"/>
                </a:cubicBezTo>
                <a:cubicBezTo>
                  <a:pt x="149" y="955"/>
                  <a:pt x="84" y="887"/>
                  <a:pt x="54" y="777"/>
                </a:cubicBezTo>
                <a:cubicBezTo>
                  <a:pt x="24" y="667"/>
                  <a:pt x="0" y="513"/>
                  <a:pt x="44" y="384"/>
                </a:cubicBezTo>
                <a:cubicBezTo>
                  <a:pt x="88" y="255"/>
                  <a:pt x="262" y="80"/>
                  <a:pt x="319" y="0"/>
                </a:cubicBezTo>
              </a:path>
            </a:pathLst>
          </a:custGeom>
          <a:noFill/>
          <a:ln w="38100">
            <a:solidFill>
              <a:srgbClr val="0066FF"/>
            </a:solidFill>
            <a:prstDash val="sysDot"/>
            <a:round/>
            <a:headEnd/>
            <a:tailEnd type="triangle" w="med" len="med"/>
          </a:ln>
        </p:spPr>
        <p:txBody>
          <a:bodyPr/>
          <a:lstStyle/>
          <a:p>
            <a:endParaRPr lang="en-US">
              <a:latin typeface="Arial" pitchFamily="34" charset="0"/>
              <a:cs typeface="Arial" pitchFamily="34" charset="0"/>
            </a:endParaRPr>
          </a:p>
        </p:txBody>
      </p:sp>
      <p:sp>
        <p:nvSpPr>
          <p:cNvPr id="18452" name="Freeform 197"/>
          <p:cNvSpPr>
            <a:spLocks/>
          </p:cNvSpPr>
          <p:nvPr/>
        </p:nvSpPr>
        <p:spPr bwMode="auto">
          <a:xfrm>
            <a:off x="4410075" y="2003425"/>
            <a:ext cx="2239963" cy="3149600"/>
          </a:xfrm>
          <a:custGeom>
            <a:avLst/>
            <a:gdLst>
              <a:gd name="T0" fmla="*/ 2147483647 w 1411"/>
              <a:gd name="T1" fmla="*/ 2147483647 h 1984"/>
              <a:gd name="T2" fmla="*/ 2147483647 w 1411"/>
              <a:gd name="T3" fmla="*/ 2147483647 h 1984"/>
              <a:gd name="T4" fmla="*/ 2147483647 w 1411"/>
              <a:gd name="T5" fmla="*/ 2147483647 h 1984"/>
              <a:gd name="T6" fmla="*/ 2147483647 w 1411"/>
              <a:gd name="T7" fmla="*/ 2147483647 h 1984"/>
              <a:gd name="T8" fmla="*/ 2147483647 w 1411"/>
              <a:gd name="T9" fmla="*/ 0 h 1984"/>
              <a:gd name="T10" fmla="*/ 0 60000 65536"/>
              <a:gd name="T11" fmla="*/ 0 60000 65536"/>
              <a:gd name="T12" fmla="*/ 0 60000 65536"/>
              <a:gd name="T13" fmla="*/ 0 60000 65536"/>
              <a:gd name="T14" fmla="*/ 0 60000 65536"/>
              <a:gd name="T15" fmla="*/ 0 w 1411"/>
              <a:gd name="T16" fmla="*/ 0 h 1984"/>
              <a:gd name="T17" fmla="*/ 1411 w 1411"/>
              <a:gd name="T18" fmla="*/ 1984 h 1984"/>
            </a:gdLst>
            <a:ahLst/>
            <a:cxnLst>
              <a:cxn ang="T10">
                <a:pos x="T0" y="T1"/>
              </a:cxn>
              <a:cxn ang="T11">
                <a:pos x="T2" y="T3"/>
              </a:cxn>
              <a:cxn ang="T12">
                <a:pos x="T4" y="T5"/>
              </a:cxn>
              <a:cxn ang="T13">
                <a:pos x="T6" y="T7"/>
              </a:cxn>
              <a:cxn ang="T14">
                <a:pos x="T8" y="T9"/>
              </a:cxn>
            </a:cxnLst>
            <a:rect l="T15" t="T16" r="T17" b="T18"/>
            <a:pathLst>
              <a:path w="1411" h="1984">
                <a:moveTo>
                  <a:pt x="1144" y="1984"/>
                </a:moveTo>
                <a:cubicBezTo>
                  <a:pt x="1277" y="1919"/>
                  <a:pt x="1411" y="1854"/>
                  <a:pt x="1373" y="1700"/>
                </a:cubicBezTo>
                <a:cubicBezTo>
                  <a:pt x="1335" y="1546"/>
                  <a:pt x="1126" y="1288"/>
                  <a:pt x="916" y="1060"/>
                </a:cubicBezTo>
                <a:cubicBezTo>
                  <a:pt x="706" y="832"/>
                  <a:pt x="222" y="506"/>
                  <a:pt x="111" y="329"/>
                </a:cubicBezTo>
                <a:cubicBezTo>
                  <a:pt x="0" y="152"/>
                  <a:pt x="124" y="76"/>
                  <a:pt x="248" y="0"/>
                </a:cubicBezTo>
              </a:path>
            </a:pathLst>
          </a:custGeom>
          <a:noFill/>
          <a:ln w="38100">
            <a:solidFill>
              <a:srgbClr val="0066FF"/>
            </a:solidFill>
            <a:prstDash val="sysDot"/>
            <a:round/>
            <a:headEnd/>
            <a:tailEnd type="triangle" w="med" len="med"/>
          </a:ln>
        </p:spPr>
        <p:txBody>
          <a:bodyPr/>
          <a:lstStyle/>
          <a:p>
            <a:endParaRPr lang="en-US">
              <a:latin typeface="Arial" pitchFamily="34" charset="0"/>
              <a:cs typeface="Arial" pitchFamily="34" charset="0"/>
            </a:endParaRPr>
          </a:p>
        </p:txBody>
      </p:sp>
      <p:grpSp>
        <p:nvGrpSpPr>
          <p:cNvPr id="18453" name="Group 198"/>
          <p:cNvGrpSpPr>
            <a:grpSpLocks/>
          </p:cNvGrpSpPr>
          <p:nvPr/>
        </p:nvGrpSpPr>
        <p:grpSpPr bwMode="auto">
          <a:xfrm>
            <a:off x="5059363" y="3460750"/>
            <a:ext cx="415925" cy="238125"/>
            <a:chOff x="1184" y="1264"/>
            <a:chExt cx="262" cy="150"/>
          </a:xfrm>
        </p:grpSpPr>
        <p:sp>
          <p:nvSpPr>
            <p:cNvPr id="18476" name="Oval 199"/>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77" name="Oval 200"/>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78" name="Oval 201"/>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79" name="Rectangle 202"/>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80" name="Rectangle 203"/>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81" name="Rectangle 204"/>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82" name="Rectangle 205"/>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83" name="Rectangle 206"/>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84" name="Rectangle 207"/>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85" name="Oval 208"/>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86" name="Oval 209"/>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487" name="Rectangle 210"/>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88" name="Rectangle 211"/>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89" name="Arc 212"/>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90" name="Arc 213"/>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91" name="Oval 214"/>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92" name="Oval 215"/>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493" name="Freeform 216"/>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sp>
        <p:nvSpPr>
          <p:cNvPr id="18454" name="Text Box 217"/>
          <p:cNvSpPr txBox="1">
            <a:spLocks noChangeArrowheads="1"/>
          </p:cNvSpPr>
          <p:nvPr/>
        </p:nvSpPr>
        <p:spPr bwMode="auto">
          <a:xfrm>
            <a:off x="558800" y="1778000"/>
            <a:ext cx="2906713" cy="946150"/>
          </a:xfrm>
          <a:prstGeom prst="rect">
            <a:avLst/>
          </a:prstGeom>
          <a:noFill/>
          <a:ln w="38100" algn="ctr">
            <a:noFill/>
            <a:miter lim="800000"/>
            <a:headEnd/>
            <a:tailEnd/>
          </a:ln>
        </p:spPr>
        <p:txBody>
          <a:bodyPr wrap="none">
            <a:spAutoFit/>
          </a:bodyPr>
          <a:lstStyle/>
          <a:p>
            <a:pPr algn="ctr">
              <a:spcBef>
                <a:spcPct val="0"/>
              </a:spcBef>
            </a:pPr>
            <a:r>
              <a:rPr lang="en-US" sz="2800" b="0">
                <a:solidFill>
                  <a:srgbClr val="FF0000"/>
                </a:solidFill>
                <a:latin typeface="Arial" pitchFamily="34" charset="0"/>
                <a:cs typeface="Arial" pitchFamily="34" charset="0"/>
              </a:rPr>
              <a:t>Contention:</a:t>
            </a:r>
          </a:p>
          <a:p>
            <a:pPr algn="ctr">
              <a:spcBef>
                <a:spcPct val="0"/>
              </a:spcBef>
            </a:pPr>
            <a:r>
              <a:rPr lang="en-US" sz="2800" b="0">
                <a:latin typeface="Arial" pitchFamily="34" charset="0"/>
                <a:cs typeface="Arial" pitchFamily="34" charset="0"/>
              </a:rPr>
              <a:t>All spinning local</a:t>
            </a:r>
          </a:p>
        </p:txBody>
      </p:sp>
      <p:sp>
        <p:nvSpPr>
          <p:cNvPr id="18455" name="Text Box 218"/>
          <p:cNvSpPr txBox="1">
            <a:spLocks noChangeArrowheads="1"/>
          </p:cNvSpPr>
          <p:nvPr/>
        </p:nvSpPr>
        <p:spPr bwMode="auto">
          <a:xfrm>
            <a:off x="5514975" y="1973263"/>
            <a:ext cx="3140075" cy="1373187"/>
          </a:xfrm>
          <a:prstGeom prst="rect">
            <a:avLst/>
          </a:prstGeom>
          <a:noFill/>
          <a:ln w="38100"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Parallelism:</a:t>
            </a:r>
          </a:p>
          <a:p>
            <a:pPr algn="ctr">
              <a:spcBef>
                <a:spcPct val="0"/>
              </a:spcBef>
            </a:pPr>
            <a:r>
              <a:rPr lang="en-US" sz="2800" b="0">
                <a:latin typeface="Arial" pitchFamily="34" charset="0"/>
                <a:cs typeface="Arial" pitchFamily="34" charset="0"/>
              </a:rPr>
              <a:t>Potential n/log n speedup</a:t>
            </a:r>
          </a:p>
        </p:txBody>
      </p:sp>
      <p:sp>
        <p:nvSpPr>
          <p:cNvPr id="18456" name="Freeform 219"/>
          <p:cNvSpPr>
            <a:spLocks/>
          </p:cNvSpPr>
          <p:nvPr/>
        </p:nvSpPr>
        <p:spPr bwMode="auto">
          <a:xfrm>
            <a:off x="4806950" y="4189413"/>
            <a:ext cx="452438" cy="1131887"/>
          </a:xfrm>
          <a:custGeom>
            <a:avLst/>
            <a:gdLst>
              <a:gd name="T0" fmla="*/ 2147483647 w 285"/>
              <a:gd name="T1" fmla="*/ 2147483647 h 713"/>
              <a:gd name="T2" fmla="*/ 2147483647 w 285"/>
              <a:gd name="T3" fmla="*/ 2147483647 h 713"/>
              <a:gd name="T4" fmla="*/ 2147483647 w 285"/>
              <a:gd name="T5" fmla="*/ 0 h 713"/>
              <a:gd name="T6" fmla="*/ 0 60000 65536"/>
              <a:gd name="T7" fmla="*/ 0 60000 65536"/>
              <a:gd name="T8" fmla="*/ 0 60000 65536"/>
              <a:gd name="T9" fmla="*/ 0 w 285"/>
              <a:gd name="T10" fmla="*/ 0 h 713"/>
              <a:gd name="T11" fmla="*/ 285 w 285"/>
              <a:gd name="T12" fmla="*/ 713 h 713"/>
            </a:gdLst>
            <a:ahLst/>
            <a:cxnLst>
              <a:cxn ang="T6">
                <a:pos x="T0" y="T1"/>
              </a:cxn>
              <a:cxn ang="T7">
                <a:pos x="T2" y="T3"/>
              </a:cxn>
              <a:cxn ang="T8">
                <a:pos x="T4" y="T5"/>
              </a:cxn>
            </a:cxnLst>
            <a:rect l="T9" t="T10" r="T11" b="T12"/>
            <a:pathLst>
              <a:path w="285" h="713">
                <a:moveTo>
                  <a:pt x="285" y="713"/>
                </a:moveTo>
                <a:cubicBezTo>
                  <a:pt x="145" y="608"/>
                  <a:pt x="22" y="485"/>
                  <a:pt x="11" y="366"/>
                </a:cubicBezTo>
                <a:cubicBezTo>
                  <a:pt x="0" y="247"/>
                  <a:pt x="177" y="76"/>
                  <a:pt x="221" y="0"/>
                </a:cubicBezTo>
              </a:path>
            </a:pathLst>
          </a:custGeom>
          <a:noFill/>
          <a:ln w="38100">
            <a:solidFill>
              <a:srgbClr val="0066FF"/>
            </a:solidFill>
            <a:prstDash val="sysDot"/>
            <a:round/>
            <a:headEnd/>
            <a:tailEnd type="triangle" w="med" len="med"/>
          </a:ln>
        </p:spPr>
        <p:txBody>
          <a:bodyPr/>
          <a:lstStyle/>
          <a:p>
            <a:endParaRPr lang="en-US">
              <a:latin typeface="Arial" pitchFamily="34" charset="0"/>
              <a:cs typeface="Arial" pitchFamily="34" charset="0"/>
            </a:endParaRPr>
          </a:p>
        </p:txBody>
      </p:sp>
      <p:grpSp>
        <p:nvGrpSpPr>
          <p:cNvPr id="18457" name="Group 220"/>
          <p:cNvGrpSpPr>
            <a:grpSpLocks/>
          </p:cNvGrpSpPr>
          <p:nvPr/>
        </p:nvGrpSpPr>
        <p:grpSpPr bwMode="auto">
          <a:xfrm>
            <a:off x="7070725" y="4600575"/>
            <a:ext cx="415925" cy="238125"/>
            <a:chOff x="1184" y="1264"/>
            <a:chExt cx="262" cy="150"/>
          </a:xfrm>
        </p:grpSpPr>
        <p:sp>
          <p:nvSpPr>
            <p:cNvPr id="18458" name="Oval 221"/>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59" name="Oval 222"/>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60" name="Oval 223"/>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61" name="Rectangle 224"/>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62" name="Rectangle 225"/>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63" name="Rectangle 226"/>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64" name="Rectangle 227"/>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65" name="Rectangle 228"/>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66" name="Rectangle 229"/>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67" name="Oval 230"/>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68" name="Oval 231"/>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469" name="Rectangle 232"/>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70" name="Rectangle 233"/>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pitchFamily="34" charset="0"/>
                <a:cs typeface="Arial" pitchFamily="34" charset="0"/>
              </a:endParaRPr>
            </a:p>
          </p:txBody>
        </p:sp>
        <p:sp>
          <p:nvSpPr>
            <p:cNvPr id="18471" name="Arc 234"/>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72" name="Arc 235"/>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73" name="Oval 236"/>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8474" name="Oval 237"/>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pitchFamily="34" charset="0"/>
                <a:cs typeface="Arial" pitchFamily="34" charset="0"/>
              </a:endParaRPr>
            </a:p>
          </p:txBody>
        </p:sp>
        <p:sp>
          <p:nvSpPr>
            <p:cNvPr id="18475" name="Freeform 238"/>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pitchFamily="34" charset="0"/>
                <a:cs typeface="Arial" pitchFamily="34"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ooter Placeholder 2"/>
          <p:cNvSpPr>
            <a:spLocks noGrp="1"/>
          </p:cNvSpPr>
          <p:nvPr>
            <p:ph type="ftr" sz="quarter" idx="10"/>
          </p:nvPr>
        </p:nvSpPr>
        <p:spPr/>
        <p:txBody>
          <a:bodyPr/>
          <a:lstStyle/>
          <a:p>
            <a:pPr>
              <a:defRPr/>
            </a:pPr>
            <a:r>
              <a:rPr lang="en-US"/>
              <a:t>Art of Multiprocessor Programming</a:t>
            </a:r>
          </a:p>
        </p:txBody>
      </p:sp>
      <p:sp>
        <p:nvSpPr>
          <p:cNvPr id="49" name="Slide Number Placeholder 3"/>
          <p:cNvSpPr>
            <a:spLocks noGrp="1"/>
          </p:cNvSpPr>
          <p:nvPr>
            <p:ph type="sldNum" sz="quarter" idx="11"/>
          </p:nvPr>
        </p:nvSpPr>
        <p:spPr/>
        <p:txBody>
          <a:bodyPr/>
          <a:lstStyle/>
          <a:p>
            <a:pPr>
              <a:defRPr/>
            </a:pPr>
            <a:fld id="{811AA683-BD81-4928-B914-CE312ED10556}" type="slidenum">
              <a:rPr lang="en-US"/>
              <a:pPr>
                <a:defRPr/>
              </a:pPr>
              <a:t>16</a:t>
            </a:fld>
            <a:endParaRPr lang="en-US"/>
          </a:p>
        </p:txBody>
      </p:sp>
      <p:sp>
        <p:nvSpPr>
          <p:cNvPr id="19460" name="Rectangle 2"/>
          <p:cNvSpPr>
            <a:spLocks noGrp="1" noChangeArrowheads="1"/>
          </p:cNvSpPr>
          <p:nvPr>
            <p:ph type="title"/>
          </p:nvPr>
        </p:nvSpPr>
        <p:spPr/>
        <p:txBody>
          <a:bodyPr/>
          <a:lstStyle/>
          <a:p>
            <a:r>
              <a:rPr lang="en-US"/>
              <a:t>Combining Trees</a:t>
            </a:r>
          </a:p>
        </p:txBody>
      </p:sp>
      <p:sp>
        <p:nvSpPr>
          <p:cNvPr id="19461"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latin typeface="Arial" pitchFamily="34" charset="0"/>
              </a:rPr>
              <a:t>0</a:t>
            </a:r>
          </a:p>
        </p:txBody>
      </p:sp>
      <p:sp>
        <p:nvSpPr>
          <p:cNvPr id="19462"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dirty="0">
              <a:solidFill>
                <a:schemeClr val="folHlink"/>
              </a:solidFill>
              <a:latin typeface="Arial" pitchFamily="34" charset="0"/>
            </a:endParaRPr>
          </a:p>
        </p:txBody>
      </p:sp>
      <p:sp>
        <p:nvSpPr>
          <p:cNvPr id="19463"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19464" name="Group 6"/>
          <p:cNvGrpSpPr>
            <a:grpSpLocks/>
          </p:cNvGrpSpPr>
          <p:nvPr/>
        </p:nvGrpSpPr>
        <p:grpSpPr bwMode="auto">
          <a:xfrm flipH="1">
            <a:off x="852488" y="4953000"/>
            <a:ext cx="1219200" cy="1090613"/>
            <a:chOff x="1584" y="816"/>
            <a:chExt cx="912" cy="816"/>
          </a:xfrm>
        </p:grpSpPr>
        <p:sp>
          <p:nvSpPr>
            <p:cNvPr id="19497"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98"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99"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500"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9501"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9502"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9503"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504"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505"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9465" name="Group 16"/>
          <p:cNvGrpSpPr>
            <a:grpSpLocks/>
          </p:cNvGrpSpPr>
          <p:nvPr/>
        </p:nvGrpSpPr>
        <p:grpSpPr bwMode="auto">
          <a:xfrm flipH="1">
            <a:off x="4999038" y="4953000"/>
            <a:ext cx="1219200" cy="1090613"/>
            <a:chOff x="1584" y="816"/>
            <a:chExt cx="912" cy="816"/>
          </a:xfrm>
        </p:grpSpPr>
        <p:sp>
          <p:nvSpPr>
            <p:cNvPr id="19488"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89"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90"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91"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492"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493"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494"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95"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96"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9466" name="Group 26"/>
          <p:cNvGrpSpPr>
            <a:grpSpLocks/>
          </p:cNvGrpSpPr>
          <p:nvPr/>
        </p:nvGrpSpPr>
        <p:grpSpPr bwMode="auto">
          <a:xfrm>
            <a:off x="7072313" y="4953000"/>
            <a:ext cx="1219200" cy="1090613"/>
            <a:chOff x="1584" y="816"/>
            <a:chExt cx="912" cy="816"/>
          </a:xfrm>
        </p:grpSpPr>
        <p:sp>
          <p:nvSpPr>
            <p:cNvPr id="19479"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80"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81" name="Freeform 2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82"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483"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484"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485" name="Freeform 3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86" name="Freeform 3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87" name="Freeform 3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9467" name="Group 36"/>
          <p:cNvGrpSpPr>
            <a:grpSpLocks/>
          </p:cNvGrpSpPr>
          <p:nvPr/>
        </p:nvGrpSpPr>
        <p:grpSpPr bwMode="auto">
          <a:xfrm>
            <a:off x="2925763" y="4953000"/>
            <a:ext cx="1219200" cy="1090613"/>
            <a:chOff x="1584" y="816"/>
            <a:chExt cx="912" cy="816"/>
          </a:xfrm>
        </p:grpSpPr>
        <p:sp>
          <p:nvSpPr>
            <p:cNvPr id="19470"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71"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72" name="Freeform 3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73"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9474"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9475"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9476" name="Freeform 4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77" name="Freeform 4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78" name="Freeform 4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9468" name="Line 52"/>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19469" name="Line 53"/>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ooter Placeholder 2"/>
          <p:cNvSpPr>
            <a:spLocks noGrp="1"/>
          </p:cNvSpPr>
          <p:nvPr>
            <p:ph type="ftr" sz="quarter" idx="10"/>
          </p:nvPr>
        </p:nvSpPr>
        <p:spPr/>
        <p:txBody>
          <a:bodyPr/>
          <a:lstStyle/>
          <a:p>
            <a:pPr>
              <a:defRPr/>
            </a:pPr>
            <a:r>
              <a:rPr lang="en-US"/>
              <a:t>Art of Multiprocessor Programming</a:t>
            </a:r>
          </a:p>
        </p:txBody>
      </p:sp>
      <p:sp>
        <p:nvSpPr>
          <p:cNvPr id="51" name="Slide Number Placeholder 3"/>
          <p:cNvSpPr>
            <a:spLocks noGrp="1"/>
          </p:cNvSpPr>
          <p:nvPr>
            <p:ph type="sldNum" sz="quarter" idx="11"/>
          </p:nvPr>
        </p:nvSpPr>
        <p:spPr/>
        <p:txBody>
          <a:bodyPr/>
          <a:lstStyle/>
          <a:p>
            <a:pPr>
              <a:defRPr/>
            </a:pPr>
            <a:fld id="{1B02435F-1314-43E5-8D4A-D9A436CE9CE8}" type="slidenum">
              <a:rPr lang="en-US"/>
              <a:pPr>
                <a:defRPr/>
              </a:pPr>
              <a:t>17</a:t>
            </a:fld>
            <a:endParaRPr lang="en-US"/>
          </a:p>
        </p:txBody>
      </p:sp>
      <p:sp>
        <p:nvSpPr>
          <p:cNvPr id="20484" name="Rectangle 2"/>
          <p:cNvSpPr>
            <a:spLocks noGrp="1" noChangeArrowheads="1"/>
          </p:cNvSpPr>
          <p:nvPr>
            <p:ph type="title"/>
          </p:nvPr>
        </p:nvSpPr>
        <p:spPr/>
        <p:txBody>
          <a:bodyPr/>
          <a:lstStyle/>
          <a:p>
            <a:r>
              <a:rPr lang="en-US"/>
              <a:t>Combining Trees</a:t>
            </a:r>
          </a:p>
        </p:txBody>
      </p:sp>
      <p:sp>
        <p:nvSpPr>
          <p:cNvPr id="20485"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latin typeface="Arial" pitchFamily="34" charset="0"/>
              </a:rPr>
              <a:t>0</a:t>
            </a:r>
          </a:p>
        </p:txBody>
      </p:sp>
      <p:sp>
        <p:nvSpPr>
          <p:cNvPr id="20486"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dirty="0">
              <a:solidFill>
                <a:schemeClr val="folHlink"/>
              </a:solidFill>
              <a:latin typeface="Arial" pitchFamily="34" charset="0"/>
            </a:endParaRPr>
          </a:p>
        </p:txBody>
      </p:sp>
      <p:sp>
        <p:nvSpPr>
          <p:cNvPr id="20487"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20488" name="Group 6"/>
          <p:cNvGrpSpPr>
            <a:grpSpLocks/>
          </p:cNvGrpSpPr>
          <p:nvPr/>
        </p:nvGrpSpPr>
        <p:grpSpPr bwMode="auto">
          <a:xfrm flipH="1">
            <a:off x="852488" y="4953000"/>
            <a:ext cx="1219200" cy="1090613"/>
            <a:chOff x="1584" y="816"/>
            <a:chExt cx="912" cy="816"/>
          </a:xfrm>
        </p:grpSpPr>
        <p:sp>
          <p:nvSpPr>
            <p:cNvPr id="2052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2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25"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2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052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052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0529"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30"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31"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0489" name="Group 16"/>
          <p:cNvGrpSpPr>
            <a:grpSpLocks/>
          </p:cNvGrpSpPr>
          <p:nvPr/>
        </p:nvGrpSpPr>
        <p:grpSpPr bwMode="auto">
          <a:xfrm flipH="1">
            <a:off x="4999038" y="4953000"/>
            <a:ext cx="1219200" cy="1090613"/>
            <a:chOff x="1584" y="816"/>
            <a:chExt cx="912" cy="816"/>
          </a:xfrm>
        </p:grpSpPr>
        <p:sp>
          <p:nvSpPr>
            <p:cNvPr id="20514"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15"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16"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17"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0518"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0519"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0520"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21"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22"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0490" name="Group 26"/>
          <p:cNvGrpSpPr>
            <a:grpSpLocks/>
          </p:cNvGrpSpPr>
          <p:nvPr/>
        </p:nvGrpSpPr>
        <p:grpSpPr bwMode="auto">
          <a:xfrm>
            <a:off x="7072313" y="4953000"/>
            <a:ext cx="1219200" cy="1090613"/>
            <a:chOff x="1584" y="816"/>
            <a:chExt cx="912" cy="816"/>
          </a:xfrm>
        </p:grpSpPr>
        <p:sp>
          <p:nvSpPr>
            <p:cNvPr id="20505"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06"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07" name="Freeform 2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08"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0509"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0510"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0511" name="Freeform 3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12" name="Freeform 3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13" name="Freeform 3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0491" name="Group 36"/>
          <p:cNvGrpSpPr>
            <a:grpSpLocks/>
          </p:cNvGrpSpPr>
          <p:nvPr/>
        </p:nvGrpSpPr>
        <p:grpSpPr bwMode="auto">
          <a:xfrm>
            <a:off x="2925763" y="4953000"/>
            <a:ext cx="1219200" cy="1090613"/>
            <a:chOff x="1584" y="816"/>
            <a:chExt cx="912" cy="816"/>
          </a:xfrm>
        </p:grpSpPr>
        <p:sp>
          <p:nvSpPr>
            <p:cNvPr id="20496"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497"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498" name="Freeform 3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499"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0500"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0501"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0502" name="Freeform 4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03" name="Freeform 4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504" name="Freeform 4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0492" name="Freeform 4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0493" name="Text Box 48"/>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dirty="0">
                <a:latin typeface="Arial" pitchFamily="34" charset="0"/>
              </a:rPr>
              <a:t>+3</a:t>
            </a:r>
          </a:p>
        </p:txBody>
      </p:sp>
      <p:sp>
        <p:nvSpPr>
          <p:cNvPr id="20494" name="Line 52"/>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0495" name="Line 53"/>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ooter Placeholder 2"/>
          <p:cNvSpPr>
            <a:spLocks noGrp="1"/>
          </p:cNvSpPr>
          <p:nvPr>
            <p:ph type="ftr" sz="quarter" idx="10"/>
          </p:nvPr>
        </p:nvSpPr>
        <p:spPr/>
        <p:txBody>
          <a:bodyPr/>
          <a:lstStyle/>
          <a:p>
            <a:pPr>
              <a:defRPr/>
            </a:pPr>
            <a:r>
              <a:rPr lang="en-US"/>
              <a:t>Art of Multiprocessor Programming</a:t>
            </a:r>
          </a:p>
        </p:txBody>
      </p:sp>
      <p:sp>
        <p:nvSpPr>
          <p:cNvPr id="53" name="Slide Number Placeholder 3"/>
          <p:cNvSpPr>
            <a:spLocks noGrp="1"/>
          </p:cNvSpPr>
          <p:nvPr>
            <p:ph type="sldNum" sz="quarter" idx="11"/>
          </p:nvPr>
        </p:nvSpPr>
        <p:spPr/>
        <p:txBody>
          <a:bodyPr/>
          <a:lstStyle/>
          <a:p>
            <a:pPr>
              <a:defRPr/>
            </a:pPr>
            <a:fld id="{39162636-96B5-47B3-8761-C7976BAECB2B}" type="slidenum">
              <a:rPr lang="en-US"/>
              <a:pPr>
                <a:defRPr/>
              </a:pPr>
              <a:t>18</a:t>
            </a:fld>
            <a:endParaRPr lang="en-US"/>
          </a:p>
        </p:txBody>
      </p:sp>
      <p:sp>
        <p:nvSpPr>
          <p:cNvPr id="21508" name="Rectangle 2"/>
          <p:cNvSpPr>
            <a:spLocks noGrp="1" noChangeArrowheads="1"/>
          </p:cNvSpPr>
          <p:nvPr>
            <p:ph type="title"/>
          </p:nvPr>
        </p:nvSpPr>
        <p:spPr/>
        <p:txBody>
          <a:bodyPr/>
          <a:lstStyle/>
          <a:p>
            <a:r>
              <a:rPr lang="en-US"/>
              <a:t>Combining Trees</a:t>
            </a:r>
          </a:p>
        </p:txBody>
      </p:sp>
      <p:sp>
        <p:nvSpPr>
          <p:cNvPr id="21509"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latin typeface="Arial" pitchFamily="34" charset="0"/>
              </a:rPr>
              <a:t>0</a:t>
            </a:r>
          </a:p>
        </p:txBody>
      </p:sp>
      <p:sp>
        <p:nvSpPr>
          <p:cNvPr id="21510"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dirty="0">
              <a:solidFill>
                <a:schemeClr val="folHlink"/>
              </a:solidFill>
              <a:latin typeface="Arial" pitchFamily="34" charset="0"/>
            </a:endParaRPr>
          </a:p>
        </p:txBody>
      </p:sp>
      <p:sp>
        <p:nvSpPr>
          <p:cNvPr id="21511"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21512" name="Group 6"/>
          <p:cNvGrpSpPr>
            <a:grpSpLocks/>
          </p:cNvGrpSpPr>
          <p:nvPr/>
        </p:nvGrpSpPr>
        <p:grpSpPr bwMode="auto">
          <a:xfrm flipH="1">
            <a:off x="852488" y="4953000"/>
            <a:ext cx="1219200" cy="1090613"/>
            <a:chOff x="1584" y="816"/>
            <a:chExt cx="912" cy="816"/>
          </a:xfrm>
        </p:grpSpPr>
        <p:sp>
          <p:nvSpPr>
            <p:cNvPr id="21549"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50"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51"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52"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1553"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1554"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1555"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56"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57"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1513" name="Group 16"/>
          <p:cNvGrpSpPr>
            <a:grpSpLocks/>
          </p:cNvGrpSpPr>
          <p:nvPr/>
        </p:nvGrpSpPr>
        <p:grpSpPr bwMode="auto">
          <a:xfrm flipH="1">
            <a:off x="4999038" y="4953000"/>
            <a:ext cx="1219200" cy="1090613"/>
            <a:chOff x="1584" y="816"/>
            <a:chExt cx="912" cy="816"/>
          </a:xfrm>
        </p:grpSpPr>
        <p:sp>
          <p:nvSpPr>
            <p:cNvPr id="21540"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41"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42"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43"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1544"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1545"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1546"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47"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48"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1514" name="Group 26"/>
          <p:cNvGrpSpPr>
            <a:grpSpLocks/>
          </p:cNvGrpSpPr>
          <p:nvPr/>
        </p:nvGrpSpPr>
        <p:grpSpPr bwMode="auto">
          <a:xfrm>
            <a:off x="7072313" y="4953000"/>
            <a:ext cx="1219200" cy="1090613"/>
            <a:chOff x="1584" y="816"/>
            <a:chExt cx="912" cy="816"/>
          </a:xfrm>
        </p:grpSpPr>
        <p:sp>
          <p:nvSpPr>
            <p:cNvPr id="21531"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32"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33" name="Freeform 2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34"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1535"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1536"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1537" name="Freeform 3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38" name="Freeform 3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39" name="Freeform 3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1515" name="Group 36"/>
          <p:cNvGrpSpPr>
            <a:grpSpLocks/>
          </p:cNvGrpSpPr>
          <p:nvPr/>
        </p:nvGrpSpPr>
        <p:grpSpPr bwMode="auto">
          <a:xfrm>
            <a:off x="2925763" y="4953000"/>
            <a:ext cx="1219200" cy="1090613"/>
            <a:chOff x="1584" y="816"/>
            <a:chExt cx="912" cy="816"/>
          </a:xfrm>
        </p:grpSpPr>
        <p:sp>
          <p:nvSpPr>
            <p:cNvPr id="21522"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23"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24" name="Freeform 3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25"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1526"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1527"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1528" name="Freeform 4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29" name="Freeform 4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530" name="Freeform 4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1516" name="Freeform 4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1517" name="Freeform 47"/>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dirty="0">
              <a:latin typeface="Courier New" pitchFamily="49" charset="0"/>
            </a:endParaRPr>
          </a:p>
        </p:txBody>
      </p:sp>
      <p:sp>
        <p:nvSpPr>
          <p:cNvPr id="21518" name="Text Box 48"/>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dirty="0">
                <a:latin typeface="Arial" pitchFamily="34" charset="0"/>
              </a:rPr>
              <a:t>+3</a:t>
            </a:r>
          </a:p>
        </p:txBody>
      </p:sp>
      <p:sp>
        <p:nvSpPr>
          <p:cNvPr id="21519" name="Text Box 49"/>
          <p:cNvSpPr txBox="1">
            <a:spLocks noChangeArrowheads="1"/>
          </p:cNvSpPr>
          <p:nvPr/>
        </p:nvSpPr>
        <p:spPr bwMode="auto">
          <a:xfrm>
            <a:off x="3336925" y="4191000"/>
            <a:ext cx="555625" cy="457200"/>
          </a:xfrm>
          <a:prstGeom prst="rect">
            <a:avLst/>
          </a:prstGeom>
          <a:solidFill>
            <a:srgbClr val="FFFF00"/>
          </a:solidFill>
          <a:ln w="9525">
            <a:noFill/>
            <a:miter lim="800000"/>
            <a:headEnd/>
            <a:tailEnd/>
          </a:ln>
        </p:spPr>
        <p:txBody>
          <a:bodyPr wrap="none">
            <a:spAutoFit/>
          </a:bodyPr>
          <a:lstStyle/>
          <a:p>
            <a:pPr algn="ctr">
              <a:spcBef>
                <a:spcPct val="0"/>
              </a:spcBef>
            </a:pPr>
            <a:r>
              <a:rPr lang="en-US" dirty="0">
                <a:solidFill>
                  <a:schemeClr val="tx1"/>
                </a:solidFill>
                <a:latin typeface="Arial" pitchFamily="34" charset="0"/>
              </a:rPr>
              <a:t>+2</a:t>
            </a:r>
          </a:p>
        </p:txBody>
      </p:sp>
      <p:sp>
        <p:nvSpPr>
          <p:cNvPr id="21520" name="Line 52"/>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1521" name="Line 53"/>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ooter Placeholder 2"/>
          <p:cNvSpPr>
            <a:spLocks noGrp="1"/>
          </p:cNvSpPr>
          <p:nvPr>
            <p:ph type="ftr" sz="quarter" idx="10"/>
          </p:nvPr>
        </p:nvSpPr>
        <p:spPr/>
        <p:txBody>
          <a:bodyPr/>
          <a:lstStyle/>
          <a:p>
            <a:pPr>
              <a:defRPr/>
            </a:pPr>
            <a:r>
              <a:rPr lang="en-US"/>
              <a:t>Art of Multiprocessor Programming</a:t>
            </a:r>
          </a:p>
        </p:txBody>
      </p:sp>
      <p:sp>
        <p:nvSpPr>
          <p:cNvPr id="55" name="Slide Number Placeholder 3"/>
          <p:cNvSpPr>
            <a:spLocks noGrp="1"/>
          </p:cNvSpPr>
          <p:nvPr>
            <p:ph type="sldNum" sz="quarter" idx="11"/>
          </p:nvPr>
        </p:nvSpPr>
        <p:spPr/>
        <p:txBody>
          <a:bodyPr/>
          <a:lstStyle/>
          <a:p>
            <a:pPr>
              <a:defRPr/>
            </a:pPr>
            <a:fld id="{E76BD72E-283F-4199-8454-67BB5A48BE3D}" type="slidenum">
              <a:rPr lang="en-US"/>
              <a:pPr>
                <a:defRPr/>
              </a:pPr>
              <a:t>19</a:t>
            </a:fld>
            <a:endParaRPr lang="en-US"/>
          </a:p>
        </p:txBody>
      </p:sp>
      <p:sp>
        <p:nvSpPr>
          <p:cNvPr id="22532" name="Rectangle 2"/>
          <p:cNvSpPr>
            <a:spLocks noGrp="1" noChangeArrowheads="1"/>
          </p:cNvSpPr>
          <p:nvPr>
            <p:ph type="title"/>
          </p:nvPr>
        </p:nvSpPr>
        <p:spPr/>
        <p:txBody>
          <a:bodyPr/>
          <a:lstStyle/>
          <a:p>
            <a:r>
              <a:rPr lang="en-US"/>
              <a:t>Combining Trees</a:t>
            </a:r>
          </a:p>
        </p:txBody>
      </p:sp>
      <p:sp>
        <p:nvSpPr>
          <p:cNvPr id="22533"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latin typeface="Arial" pitchFamily="34" charset="0"/>
              </a:rPr>
              <a:t>0</a:t>
            </a:r>
          </a:p>
        </p:txBody>
      </p:sp>
      <p:sp>
        <p:nvSpPr>
          <p:cNvPr id="22534"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dirty="0">
              <a:solidFill>
                <a:schemeClr val="folHlink"/>
              </a:solidFill>
              <a:latin typeface="Arial" pitchFamily="34" charset="0"/>
            </a:endParaRPr>
          </a:p>
        </p:txBody>
      </p:sp>
      <p:sp>
        <p:nvSpPr>
          <p:cNvPr id="22535"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22536" name="Group 6"/>
          <p:cNvGrpSpPr>
            <a:grpSpLocks/>
          </p:cNvGrpSpPr>
          <p:nvPr/>
        </p:nvGrpSpPr>
        <p:grpSpPr bwMode="auto">
          <a:xfrm flipH="1">
            <a:off x="852488" y="4953000"/>
            <a:ext cx="1219200" cy="1090613"/>
            <a:chOff x="1584" y="816"/>
            <a:chExt cx="912" cy="816"/>
          </a:xfrm>
        </p:grpSpPr>
        <p:sp>
          <p:nvSpPr>
            <p:cNvPr id="22575"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76"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77"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78"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2579"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2580"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2581"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82"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83"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2537" name="Group 16"/>
          <p:cNvGrpSpPr>
            <a:grpSpLocks/>
          </p:cNvGrpSpPr>
          <p:nvPr/>
        </p:nvGrpSpPr>
        <p:grpSpPr bwMode="auto">
          <a:xfrm flipH="1">
            <a:off x="4999038" y="4953000"/>
            <a:ext cx="1219200" cy="1090613"/>
            <a:chOff x="1584" y="816"/>
            <a:chExt cx="912" cy="816"/>
          </a:xfrm>
        </p:grpSpPr>
        <p:sp>
          <p:nvSpPr>
            <p:cNvPr id="22566"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67"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68"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69"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70"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71"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72"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73"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74"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2538" name="Group 26"/>
          <p:cNvGrpSpPr>
            <a:grpSpLocks/>
          </p:cNvGrpSpPr>
          <p:nvPr/>
        </p:nvGrpSpPr>
        <p:grpSpPr bwMode="auto">
          <a:xfrm>
            <a:off x="7072313" y="4953000"/>
            <a:ext cx="1219200" cy="1090613"/>
            <a:chOff x="1584" y="816"/>
            <a:chExt cx="912" cy="816"/>
          </a:xfrm>
        </p:grpSpPr>
        <p:sp>
          <p:nvSpPr>
            <p:cNvPr id="22557"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58"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59" name="Freeform 2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60"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61"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62"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63" name="Freeform 3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64" name="Freeform 3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65" name="Freeform 3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2539" name="Group 36"/>
          <p:cNvGrpSpPr>
            <a:grpSpLocks/>
          </p:cNvGrpSpPr>
          <p:nvPr/>
        </p:nvGrpSpPr>
        <p:grpSpPr bwMode="auto">
          <a:xfrm>
            <a:off x="2925763" y="4953000"/>
            <a:ext cx="1219200" cy="1090613"/>
            <a:chOff x="1584" y="816"/>
            <a:chExt cx="912" cy="816"/>
          </a:xfrm>
        </p:grpSpPr>
        <p:sp>
          <p:nvSpPr>
            <p:cNvPr id="22548"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49"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50" name="Freeform 3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51"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2552"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2553"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2554" name="Freeform 4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55" name="Freeform 4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556" name="Freeform 4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2540" name="Freeform 4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2541" name="Freeform 47"/>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dirty="0">
              <a:latin typeface="Courier New" pitchFamily="49" charset="0"/>
            </a:endParaRPr>
          </a:p>
        </p:txBody>
      </p:sp>
      <p:sp>
        <p:nvSpPr>
          <p:cNvPr id="22542" name="Text Box 48"/>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dirty="0">
                <a:latin typeface="Arial" pitchFamily="34" charset="0"/>
              </a:rPr>
              <a:t>+3</a:t>
            </a:r>
          </a:p>
        </p:txBody>
      </p:sp>
      <p:sp>
        <p:nvSpPr>
          <p:cNvPr id="22543" name="Text Box 49"/>
          <p:cNvSpPr txBox="1">
            <a:spLocks noChangeArrowheads="1"/>
          </p:cNvSpPr>
          <p:nvPr/>
        </p:nvSpPr>
        <p:spPr bwMode="auto">
          <a:xfrm>
            <a:off x="3336925" y="4191000"/>
            <a:ext cx="555625" cy="457200"/>
          </a:xfrm>
          <a:prstGeom prst="rect">
            <a:avLst/>
          </a:prstGeom>
          <a:solidFill>
            <a:srgbClr val="FFFF00"/>
          </a:solidFill>
          <a:ln w="9525">
            <a:noFill/>
            <a:miter lim="800000"/>
            <a:headEnd/>
            <a:tailEnd/>
          </a:ln>
        </p:spPr>
        <p:txBody>
          <a:bodyPr wrap="none">
            <a:spAutoFit/>
          </a:bodyPr>
          <a:lstStyle/>
          <a:p>
            <a:pPr algn="ctr">
              <a:spcBef>
                <a:spcPct val="0"/>
              </a:spcBef>
            </a:pPr>
            <a:r>
              <a:rPr lang="en-US" dirty="0">
                <a:solidFill>
                  <a:schemeClr val="tx1"/>
                </a:solidFill>
                <a:latin typeface="Arial" pitchFamily="34" charset="0"/>
              </a:rPr>
              <a:t>+2</a:t>
            </a:r>
          </a:p>
        </p:txBody>
      </p:sp>
      <p:sp>
        <p:nvSpPr>
          <p:cNvPr id="22544" name="Text Box 50"/>
          <p:cNvSpPr txBox="1">
            <a:spLocks noChangeArrowheads="1"/>
          </p:cNvSpPr>
          <p:nvPr/>
        </p:nvSpPr>
        <p:spPr bwMode="auto">
          <a:xfrm>
            <a:off x="4876800" y="3962400"/>
            <a:ext cx="3641725"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cs typeface="Arial" pitchFamily="34" charset="0"/>
              </a:rPr>
              <a:t>Two threads meet, combine sums</a:t>
            </a:r>
          </a:p>
        </p:txBody>
      </p:sp>
      <p:sp>
        <p:nvSpPr>
          <p:cNvPr id="22545" name="AutoShape 51"/>
          <p:cNvSpPr>
            <a:spLocks noChangeArrowheads="1"/>
          </p:cNvSpPr>
          <p:nvPr/>
        </p:nvSpPr>
        <p:spPr bwMode="auto">
          <a:xfrm>
            <a:off x="1752600" y="3276600"/>
            <a:ext cx="2057400" cy="990600"/>
          </a:xfrm>
          <a:prstGeom prst="wedgeRoundRectCallout">
            <a:avLst>
              <a:gd name="adj1" fmla="val 112963"/>
              <a:gd name="adj2" fmla="val 66185"/>
              <a:gd name="adj3" fmla="val 16667"/>
            </a:avLst>
          </a:prstGeom>
          <a:noFill/>
          <a:ln w="38100">
            <a:solidFill>
              <a:schemeClr val="accent1"/>
            </a:solidFill>
            <a:miter lim="800000"/>
            <a:headEnd/>
            <a:tailEnd/>
          </a:ln>
        </p:spPr>
        <p:txBody>
          <a:bodyPr anchor="ctr"/>
          <a:lstStyle/>
          <a:p>
            <a:pPr algn="ctr">
              <a:spcBef>
                <a:spcPct val="0"/>
              </a:spcBef>
            </a:pPr>
            <a:endParaRPr lang="en-US" sz="4000" dirty="0">
              <a:latin typeface="Arial" pitchFamily="34" charset="0"/>
            </a:endParaRPr>
          </a:p>
        </p:txBody>
      </p:sp>
      <p:sp>
        <p:nvSpPr>
          <p:cNvPr id="22546" name="Line 52"/>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2547" name="Line 53"/>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2"/>
          <p:cNvSpPr>
            <a:spLocks noGrp="1"/>
          </p:cNvSpPr>
          <p:nvPr>
            <p:ph type="ftr" sz="quarter" idx="10"/>
          </p:nvPr>
        </p:nvSpPr>
        <p:spPr/>
        <p:txBody>
          <a:bodyPr/>
          <a:lstStyle/>
          <a:p>
            <a:pPr>
              <a:defRPr/>
            </a:pPr>
            <a:r>
              <a:rPr lang="en-US"/>
              <a:t>Art of Multiprocessor Programming</a:t>
            </a:r>
          </a:p>
        </p:txBody>
      </p:sp>
      <p:sp>
        <p:nvSpPr>
          <p:cNvPr id="57" name="Slide Number Placeholder 3"/>
          <p:cNvSpPr>
            <a:spLocks noGrp="1"/>
          </p:cNvSpPr>
          <p:nvPr>
            <p:ph type="sldNum" sz="quarter" idx="11"/>
          </p:nvPr>
        </p:nvSpPr>
        <p:spPr/>
        <p:txBody>
          <a:bodyPr/>
          <a:lstStyle/>
          <a:p>
            <a:pPr>
              <a:defRPr/>
            </a:pPr>
            <a:fld id="{AED4C202-8ABA-4622-A2E4-2FAAB80639BF}" type="slidenum">
              <a:rPr lang="en-US"/>
              <a:pPr>
                <a:defRPr/>
              </a:pPr>
              <a:t>20</a:t>
            </a:fld>
            <a:endParaRPr lang="en-US"/>
          </a:p>
        </p:txBody>
      </p:sp>
      <p:sp>
        <p:nvSpPr>
          <p:cNvPr id="23556" name="Rectangle 2"/>
          <p:cNvSpPr>
            <a:spLocks noGrp="1" noChangeArrowheads="1"/>
          </p:cNvSpPr>
          <p:nvPr>
            <p:ph type="title"/>
          </p:nvPr>
        </p:nvSpPr>
        <p:spPr/>
        <p:txBody>
          <a:bodyPr/>
          <a:lstStyle/>
          <a:p>
            <a:r>
              <a:rPr lang="en-US"/>
              <a:t>Combining Trees</a:t>
            </a:r>
          </a:p>
        </p:txBody>
      </p:sp>
      <p:sp>
        <p:nvSpPr>
          <p:cNvPr id="23557"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latin typeface="Arial" pitchFamily="34" charset="0"/>
              </a:rPr>
              <a:t>0</a:t>
            </a:r>
          </a:p>
        </p:txBody>
      </p:sp>
      <p:sp>
        <p:nvSpPr>
          <p:cNvPr id="23558"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dirty="0">
              <a:solidFill>
                <a:schemeClr val="folHlink"/>
              </a:solidFill>
              <a:latin typeface="Arial" pitchFamily="34" charset="0"/>
            </a:endParaRPr>
          </a:p>
        </p:txBody>
      </p:sp>
      <p:sp>
        <p:nvSpPr>
          <p:cNvPr id="23559"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23560" name="Group 6"/>
          <p:cNvGrpSpPr>
            <a:grpSpLocks/>
          </p:cNvGrpSpPr>
          <p:nvPr/>
        </p:nvGrpSpPr>
        <p:grpSpPr bwMode="auto">
          <a:xfrm flipH="1">
            <a:off x="852488" y="4953000"/>
            <a:ext cx="1219200" cy="1090613"/>
            <a:chOff x="1584" y="816"/>
            <a:chExt cx="912" cy="816"/>
          </a:xfrm>
        </p:grpSpPr>
        <p:sp>
          <p:nvSpPr>
            <p:cNvPr id="23601"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602"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603"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604"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3605"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3606"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3607"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608"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609"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3561" name="Group 16"/>
          <p:cNvGrpSpPr>
            <a:grpSpLocks/>
          </p:cNvGrpSpPr>
          <p:nvPr/>
        </p:nvGrpSpPr>
        <p:grpSpPr bwMode="auto">
          <a:xfrm flipH="1">
            <a:off x="4999038" y="4953000"/>
            <a:ext cx="1219200" cy="1090613"/>
            <a:chOff x="1584" y="816"/>
            <a:chExt cx="912" cy="816"/>
          </a:xfrm>
        </p:grpSpPr>
        <p:sp>
          <p:nvSpPr>
            <p:cNvPr id="23592"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93"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94"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95"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596"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597"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598"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99"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600"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3562" name="Group 26"/>
          <p:cNvGrpSpPr>
            <a:grpSpLocks/>
          </p:cNvGrpSpPr>
          <p:nvPr/>
        </p:nvGrpSpPr>
        <p:grpSpPr bwMode="auto">
          <a:xfrm>
            <a:off x="7072313" y="4953000"/>
            <a:ext cx="1219200" cy="1090613"/>
            <a:chOff x="1584" y="816"/>
            <a:chExt cx="912" cy="816"/>
          </a:xfrm>
        </p:grpSpPr>
        <p:sp>
          <p:nvSpPr>
            <p:cNvPr id="23583"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4"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5" name="Freeform 2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6"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587"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588"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589" name="Freeform 3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90" name="Freeform 3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91" name="Freeform 3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3563" name="Group 36"/>
          <p:cNvGrpSpPr>
            <a:grpSpLocks/>
          </p:cNvGrpSpPr>
          <p:nvPr/>
        </p:nvGrpSpPr>
        <p:grpSpPr bwMode="auto">
          <a:xfrm>
            <a:off x="2925763" y="4953000"/>
            <a:ext cx="1219200" cy="1090613"/>
            <a:chOff x="1584" y="816"/>
            <a:chExt cx="912" cy="816"/>
          </a:xfrm>
        </p:grpSpPr>
        <p:sp>
          <p:nvSpPr>
            <p:cNvPr id="23574"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75"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76" name="Freeform 3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77"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3578"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3579"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3580" name="Freeform 4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1" name="Freeform 4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582" name="Freeform 4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3564" name="Freeform 4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3565" name="Freeform 47"/>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dirty="0">
              <a:latin typeface="Courier New" pitchFamily="49" charset="0"/>
            </a:endParaRPr>
          </a:p>
        </p:txBody>
      </p:sp>
      <p:sp>
        <p:nvSpPr>
          <p:cNvPr id="23566" name="Text Box 48"/>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dirty="0">
                <a:latin typeface="Arial" pitchFamily="34" charset="0"/>
              </a:rPr>
              <a:t>+3</a:t>
            </a:r>
          </a:p>
        </p:txBody>
      </p:sp>
      <p:sp>
        <p:nvSpPr>
          <p:cNvPr id="23567" name="Text Box 49"/>
          <p:cNvSpPr txBox="1">
            <a:spLocks noChangeArrowheads="1"/>
          </p:cNvSpPr>
          <p:nvPr/>
        </p:nvSpPr>
        <p:spPr bwMode="auto">
          <a:xfrm>
            <a:off x="3336925" y="4191000"/>
            <a:ext cx="555625" cy="457200"/>
          </a:xfrm>
          <a:prstGeom prst="rect">
            <a:avLst/>
          </a:prstGeom>
          <a:solidFill>
            <a:srgbClr val="FFFF00"/>
          </a:solidFill>
          <a:ln w="9525">
            <a:noFill/>
            <a:miter lim="800000"/>
            <a:headEnd/>
            <a:tailEnd/>
          </a:ln>
        </p:spPr>
        <p:txBody>
          <a:bodyPr wrap="none">
            <a:spAutoFit/>
          </a:bodyPr>
          <a:lstStyle/>
          <a:p>
            <a:pPr algn="ctr">
              <a:spcBef>
                <a:spcPct val="0"/>
              </a:spcBef>
            </a:pPr>
            <a:r>
              <a:rPr lang="en-US" dirty="0">
                <a:solidFill>
                  <a:schemeClr val="tx1"/>
                </a:solidFill>
                <a:latin typeface="Arial" pitchFamily="34" charset="0"/>
              </a:rPr>
              <a:t>+2</a:t>
            </a:r>
          </a:p>
        </p:txBody>
      </p:sp>
      <p:sp>
        <p:nvSpPr>
          <p:cNvPr id="23568" name="Text Box 50"/>
          <p:cNvSpPr txBox="1">
            <a:spLocks noChangeArrowheads="1"/>
          </p:cNvSpPr>
          <p:nvPr/>
        </p:nvSpPr>
        <p:spPr bwMode="auto">
          <a:xfrm>
            <a:off x="4876800" y="3962400"/>
            <a:ext cx="3641725"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cs typeface="Arial" pitchFamily="34" charset="0"/>
              </a:rPr>
              <a:t>Two threads meet, combine sums</a:t>
            </a:r>
          </a:p>
        </p:txBody>
      </p:sp>
      <p:sp>
        <p:nvSpPr>
          <p:cNvPr id="23569" name="AutoShape 51"/>
          <p:cNvSpPr>
            <a:spLocks noChangeArrowheads="1"/>
          </p:cNvSpPr>
          <p:nvPr/>
        </p:nvSpPr>
        <p:spPr bwMode="auto">
          <a:xfrm>
            <a:off x="1752600" y="3276600"/>
            <a:ext cx="2057400" cy="990600"/>
          </a:xfrm>
          <a:prstGeom prst="wedgeRoundRectCallout">
            <a:avLst>
              <a:gd name="adj1" fmla="val 112963"/>
              <a:gd name="adj2" fmla="val 66185"/>
              <a:gd name="adj3" fmla="val 16667"/>
            </a:avLst>
          </a:prstGeom>
          <a:noFill/>
          <a:ln w="38100">
            <a:solidFill>
              <a:schemeClr val="accent1"/>
            </a:solidFill>
            <a:miter lim="800000"/>
            <a:headEnd/>
            <a:tailEnd/>
          </a:ln>
        </p:spPr>
        <p:txBody>
          <a:bodyPr anchor="ctr"/>
          <a:lstStyle/>
          <a:p>
            <a:pPr algn="ctr">
              <a:spcBef>
                <a:spcPct val="0"/>
              </a:spcBef>
            </a:pPr>
            <a:endParaRPr lang="en-US" sz="4000" dirty="0">
              <a:latin typeface="Arial" pitchFamily="34" charset="0"/>
            </a:endParaRPr>
          </a:p>
        </p:txBody>
      </p:sp>
      <p:sp>
        <p:nvSpPr>
          <p:cNvPr id="23570" name="Line 52"/>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3571" name="Line 53"/>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3572" name="Freeform 54"/>
          <p:cNvSpPr>
            <a:spLocks/>
          </p:cNvSpPr>
          <p:nvPr/>
        </p:nvSpPr>
        <p:spPr bwMode="auto">
          <a:xfrm>
            <a:off x="2819400" y="2590800"/>
            <a:ext cx="1676400" cy="1219200"/>
          </a:xfrm>
          <a:custGeom>
            <a:avLst/>
            <a:gdLst>
              <a:gd name="T0" fmla="*/ 0 w 1056"/>
              <a:gd name="T1" fmla="*/ 2147483647 h 768"/>
              <a:gd name="T2" fmla="*/ 2147483647 w 1056"/>
              <a:gd name="T3" fmla="*/ 2147483647 h 768"/>
              <a:gd name="T4" fmla="*/ 2147483647 w 1056"/>
              <a:gd name="T5" fmla="*/ 2147483647 h 768"/>
              <a:gd name="T6" fmla="*/ 2147483647 w 1056"/>
              <a:gd name="T7" fmla="*/ 0 h 768"/>
              <a:gd name="T8" fmla="*/ 0 60000 65536"/>
              <a:gd name="T9" fmla="*/ 0 60000 65536"/>
              <a:gd name="T10" fmla="*/ 0 60000 65536"/>
              <a:gd name="T11" fmla="*/ 0 60000 65536"/>
              <a:gd name="T12" fmla="*/ 0 w 1056"/>
              <a:gd name="T13" fmla="*/ 0 h 768"/>
              <a:gd name="T14" fmla="*/ 1056 w 1056"/>
              <a:gd name="T15" fmla="*/ 768 h 768"/>
            </a:gdLst>
            <a:ahLst/>
            <a:cxnLst>
              <a:cxn ang="T8">
                <a:pos x="T0" y="T1"/>
              </a:cxn>
              <a:cxn ang="T9">
                <a:pos x="T2" y="T3"/>
              </a:cxn>
              <a:cxn ang="T10">
                <a:pos x="T4" y="T5"/>
              </a:cxn>
              <a:cxn ang="T11">
                <a:pos x="T6" y="T7"/>
              </a:cxn>
            </a:cxnLst>
            <a:rect l="T12" t="T13" r="T14" b="T15"/>
            <a:pathLst>
              <a:path w="1056" h="768">
                <a:moveTo>
                  <a:pt x="0" y="768"/>
                </a:moveTo>
                <a:cubicBezTo>
                  <a:pt x="164" y="640"/>
                  <a:pt x="328" y="512"/>
                  <a:pt x="432" y="480"/>
                </a:cubicBezTo>
                <a:cubicBezTo>
                  <a:pt x="536" y="448"/>
                  <a:pt x="520" y="656"/>
                  <a:pt x="624" y="576"/>
                </a:cubicBezTo>
                <a:cubicBezTo>
                  <a:pt x="728" y="496"/>
                  <a:pt x="892" y="248"/>
                  <a:pt x="1056" y="0"/>
                </a:cubicBezTo>
              </a:path>
            </a:pathLst>
          </a:custGeom>
          <a:noFill/>
          <a:ln w="76200">
            <a:solidFill>
              <a:srgbClr val="33CC33"/>
            </a:solidFill>
            <a:round/>
            <a:headEnd/>
            <a:tailEnd type="triangle" w="med" len="med"/>
          </a:ln>
        </p:spPr>
        <p:txBody>
          <a:bodyPr wrap="none" anchor="ctr"/>
          <a:lstStyle/>
          <a:p>
            <a:endParaRPr lang="en-US" dirty="0">
              <a:latin typeface="Courier New" pitchFamily="49" charset="0"/>
            </a:endParaRPr>
          </a:p>
        </p:txBody>
      </p:sp>
      <p:sp>
        <p:nvSpPr>
          <p:cNvPr id="23573" name="Text Box 55"/>
          <p:cNvSpPr txBox="1">
            <a:spLocks noChangeArrowheads="1"/>
          </p:cNvSpPr>
          <p:nvPr/>
        </p:nvSpPr>
        <p:spPr bwMode="auto">
          <a:xfrm>
            <a:off x="4016375" y="3352800"/>
            <a:ext cx="555625" cy="457200"/>
          </a:xfrm>
          <a:prstGeom prst="rect">
            <a:avLst/>
          </a:prstGeom>
          <a:noFill/>
          <a:ln w="9525">
            <a:noFill/>
            <a:miter lim="800000"/>
            <a:headEnd/>
            <a:tailEnd/>
          </a:ln>
        </p:spPr>
        <p:txBody>
          <a:bodyPr wrap="none">
            <a:spAutoFit/>
          </a:bodyPr>
          <a:lstStyle/>
          <a:p>
            <a:pPr algn="ctr">
              <a:spcBef>
                <a:spcPct val="0"/>
              </a:spcBef>
            </a:pPr>
            <a:r>
              <a:rPr lang="en-US" dirty="0">
                <a:solidFill>
                  <a:srgbClr val="33CC33"/>
                </a:solidFill>
                <a:latin typeface="Arial" pitchFamily="34" charset="0"/>
              </a:rPr>
              <a:t>+5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2"/>
          <p:cNvSpPr>
            <a:spLocks noGrp="1"/>
          </p:cNvSpPr>
          <p:nvPr>
            <p:ph type="ftr" sz="quarter" idx="10"/>
          </p:nvPr>
        </p:nvSpPr>
        <p:spPr/>
        <p:txBody>
          <a:bodyPr/>
          <a:lstStyle/>
          <a:p>
            <a:pPr>
              <a:defRPr/>
            </a:pPr>
            <a:r>
              <a:rPr lang="en-US"/>
              <a:t>Art of Multiprocessor Programming</a:t>
            </a:r>
          </a:p>
        </p:txBody>
      </p:sp>
      <p:sp>
        <p:nvSpPr>
          <p:cNvPr id="57" name="Slide Number Placeholder 3"/>
          <p:cNvSpPr>
            <a:spLocks noGrp="1"/>
          </p:cNvSpPr>
          <p:nvPr>
            <p:ph type="sldNum" sz="quarter" idx="11"/>
          </p:nvPr>
        </p:nvSpPr>
        <p:spPr/>
        <p:txBody>
          <a:bodyPr/>
          <a:lstStyle/>
          <a:p>
            <a:pPr>
              <a:defRPr/>
            </a:pPr>
            <a:fld id="{FDC4F917-E5C9-42C6-B425-9D6E17780081}" type="slidenum">
              <a:rPr lang="en-US"/>
              <a:pPr>
                <a:defRPr/>
              </a:pPr>
              <a:t>21</a:t>
            </a:fld>
            <a:endParaRPr lang="en-US"/>
          </a:p>
        </p:txBody>
      </p:sp>
      <p:sp>
        <p:nvSpPr>
          <p:cNvPr id="24580" name="Rectangle 2"/>
          <p:cNvSpPr>
            <a:spLocks noGrp="1" noChangeArrowheads="1"/>
          </p:cNvSpPr>
          <p:nvPr>
            <p:ph type="title"/>
          </p:nvPr>
        </p:nvSpPr>
        <p:spPr/>
        <p:txBody>
          <a:bodyPr/>
          <a:lstStyle/>
          <a:p>
            <a:r>
              <a:rPr lang="en-US"/>
              <a:t>Combining Trees</a:t>
            </a:r>
          </a:p>
        </p:txBody>
      </p:sp>
      <p:sp>
        <p:nvSpPr>
          <p:cNvPr id="24581"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solidFill>
                  <a:schemeClr val="accent1"/>
                </a:solidFill>
                <a:latin typeface="Arial" pitchFamily="34" charset="0"/>
              </a:rPr>
              <a:t>5</a:t>
            </a:r>
          </a:p>
        </p:txBody>
      </p:sp>
      <p:sp>
        <p:nvSpPr>
          <p:cNvPr id="24582"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dirty="0">
              <a:solidFill>
                <a:schemeClr val="folHlink"/>
              </a:solidFill>
              <a:latin typeface="Arial" pitchFamily="34" charset="0"/>
            </a:endParaRPr>
          </a:p>
        </p:txBody>
      </p:sp>
      <p:sp>
        <p:nvSpPr>
          <p:cNvPr id="24583"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24584" name="Group 6"/>
          <p:cNvGrpSpPr>
            <a:grpSpLocks/>
          </p:cNvGrpSpPr>
          <p:nvPr/>
        </p:nvGrpSpPr>
        <p:grpSpPr bwMode="auto">
          <a:xfrm flipH="1">
            <a:off x="852488" y="4953000"/>
            <a:ext cx="1219200" cy="1090613"/>
            <a:chOff x="1584" y="816"/>
            <a:chExt cx="912" cy="816"/>
          </a:xfrm>
        </p:grpSpPr>
        <p:sp>
          <p:nvSpPr>
            <p:cNvPr id="24625"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26"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27"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28"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4629"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4630"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4631"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32"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33"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4585" name="Group 16"/>
          <p:cNvGrpSpPr>
            <a:grpSpLocks/>
          </p:cNvGrpSpPr>
          <p:nvPr/>
        </p:nvGrpSpPr>
        <p:grpSpPr bwMode="auto">
          <a:xfrm>
            <a:off x="2925763" y="4953000"/>
            <a:ext cx="1219200" cy="1090613"/>
            <a:chOff x="1584" y="816"/>
            <a:chExt cx="912" cy="816"/>
          </a:xfrm>
        </p:grpSpPr>
        <p:sp>
          <p:nvSpPr>
            <p:cNvPr id="24616"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17"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18"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19"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4620"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4621"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4622"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23"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24"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4586"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4587" name="Freeform 27"/>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dirty="0">
              <a:latin typeface="Courier New" pitchFamily="49" charset="0"/>
            </a:endParaRPr>
          </a:p>
        </p:txBody>
      </p:sp>
      <p:sp>
        <p:nvSpPr>
          <p:cNvPr id="24588" name="Text Box 28"/>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dirty="0">
                <a:latin typeface="Arial" pitchFamily="34" charset="0"/>
              </a:rPr>
              <a:t>+3</a:t>
            </a:r>
          </a:p>
        </p:txBody>
      </p:sp>
      <p:sp>
        <p:nvSpPr>
          <p:cNvPr id="24589" name="Text Box 29"/>
          <p:cNvSpPr txBox="1">
            <a:spLocks noChangeArrowheads="1"/>
          </p:cNvSpPr>
          <p:nvPr/>
        </p:nvSpPr>
        <p:spPr bwMode="auto">
          <a:xfrm>
            <a:off x="3336925" y="4191000"/>
            <a:ext cx="555625" cy="457200"/>
          </a:xfrm>
          <a:prstGeom prst="rect">
            <a:avLst/>
          </a:prstGeom>
          <a:noFill/>
          <a:ln w="9525">
            <a:noFill/>
            <a:miter lim="800000"/>
            <a:headEnd/>
            <a:tailEnd/>
          </a:ln>
        </p:spPr>
        <p:txBody>
          <a:bodyPr wrap="none">
            <a:spAutoFit/>
          </a:bodyPr>
          <a:lstStyle/>
          <a:p>
            <a:pPr algn="ctr">
              <a:spcBef>
                <a:spcPct val="0"/>
              </a:spcBef>
            </a:pPr>
            <a:r>
              <a:rPr lang="en-US" dirty="0">
                <a:solidFill>
                  <a:srgbClr val="FFFF00"/>
                </a:solidFill>
                <a:latin typeface="Arial" pitchFamily="34" charset="0"/>
              </a:rPr>
              <a:t>+2</a:t>
            </a:r>
          </a:p>
        </p:txBody>
      </p:sp>
      <p:sp>
        <p:nvSpPr>
          <p:cNvPr id="24590" name="Line 30"/>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4591" name="Line 31"/>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4592" name="Freeform 32"/>
          <p:cNvSpPr>
            <a:spLocks/>
          </p:cNvSpPr>
          <p:nvPr/>
        </p:nvSpPr>
        <p:spPr bwMode="auto">
          <a:xfrm>
            <a:off x="2819400" y="2590800"/>
            <a:ext cx="1676400" cy="1219200"/>
          </a:xfrm>
          <a:custGeom>
            <a:avLst/>
            <a:gdLst>
              <a:gd name="T0" fmla="*/ 0 w 1056"/>
              <a:gd name="T1" fmla="*/ 2147483647 h 768"/>
              <a:gd name="T2" fmla="*/ 2147483647 w 1056"/>
              <a:gd name="T3" fmla="*/ 2147483647 h 768"/>
              <a:gd name="T4" fmla="*/ 2147483647 w 1056"/>
              <a:gd name="T5" fmla="*/ 2147483647 h 768"/>
              <a:gd name="T6" fmla="*/ 2147483647 w 1056"/>
              <a:gd name="T7" fmla="*/ 0 h 768"/>
              <a:gd name="T8" fmla="*/ 0 60000 65536"/>
              <a:gd name="T9" fmla="*/ 0 60000 65536"/>
              <a:gd name="T10" fmla="*/ 0 60000 65536"/>
              <a:gd name="T11" fmla="*/ 0 60000 65536"/>
              <a:gd name="T12" fmla="*/ 0 w 1056"/>
              <a:gd name="T13" fmla="*/ 0 h 768"/>
              <a:gd name="T14" fmla="*/ 1056 w 1056"/>
              <a:gd name="T15" fmla="*/ 768 h 768"/>
            </a:gdLst>
            <a:ahLst/>
            <a:cxnLst>
              <a:cxn ang="T8">
                <a:pos x="T0" y="T1"/>
              </a:cxn>
              <a:cxn ang="T9">
                <a:pos x="T2" y="T3"/>
              </a:cxn>
              <a:cxn ang="T10">
                <a:pos x="T4" y="T5"/>
              </a:cxn>
              <a:cxn ang="T11">
                <a:pos x="T6" y="T7"/>
              </a:cxn>
            </a:cxnLst>
            <a:rect l="T12" t="T13" r="T14" b="T15"/>
            <a:pathLst>
              <a:path w="1056" h="768">
                <a:moveTo>
                  <a:pt x="0" y="768"/>
                </a:moveTo>
                <a:cubicBezTo>
                  <a:pt x="164" y="640"/>
                  <a:pt x="328" y="512"/>
                  <a:pt x="432" y="480"/>
                </a:cubicBezTo>
                <a:cubicBezTo>
                  <a:pt x="536" y="448"/>
                  <a:pt x="520" y="656"/>
                  <a:pt x="624" y="576"/>
                </a:cubicBezTo>
                <a:cubicBezTo>
                  <a:pt x="728" y="496"/>
                  <a:pt x="892" y="248"/>
                  <a:pt x="1056" y="0"/>
                </a:cubicBezTo>
              </a:path>
            </a:pathLst>
          </a:custGeom>
          <a:noFill/>
          <a:ln w="76200">
            <a:solidFill>
              <a:srgbClr val="33CC33"/>
            </a:solidFill>
            <a:round/>
            <a:headEnd/>
            <a:tailEnd type="triangle" w="med" len="med"/>
          </a:ln>
        </p:spPr>
        <p:txBody>
          <a:bodyPr wrap="none" anchor="ctr"/>
          <a:lstStyle/>
          <a:p>
            <a:endParaRPr lang="en-US" dirty="0">
              <a:latin typeface="Courier New" pitchFamily="49" charset="0"/>
            </a:endParaRPr>
          </a:p>
        </p:txBody>
      </p:sp>
      <p:sp>
        <p:nvSpPr>
          <p:cNvPr id="24593" name="Text Box 33"/>
          <p:cNvSpPr txBox="1">
            <a:spLocks noChangeArrowheads="1"/>
          </p:cNvSpPr>
          <p:nvPr/>
        </p:nvSpPr>
        <p:spPr bwMode="auto">
          <a:xfrm>
            <a:off x="4016375" y="3352800"/>
            <a:ext cx="555625" cy="457200"/>
          </a:xfrm>
          <a:prstGeom prst="rect">
            <a:avLst/>
          </a:prstGeom>
          <a:noFill/>
          <a:ln w="9525">
            <a:noFill/>
            <a:miter lim="800000"/>
            <a:headEnd/>
            <a:tailEnd/>
          </a:ln>
        </p:spPr>
        <p:txBody>
          <a:bodyPr wrap="none">
            <a:spAutoFit/>
          </a:bodyPr>
          <a:lstStyle/>
          <a:p>
            <a:pPr algn="ctr">
              <a:spcBef>
                <a:spcPct val="0"/>
              </a:spcBef>
            </a:pPr>
            <a:r>
              <a:rPr lang="en-US" dirty="0">
                <a:solidFill>
                  <a:srgbClr val="33CC33"/>
                </a:solidFill>
                <a:latin typeface="Arial" pitchFamily="34" charset="0"/>
              </a:rPr>
              <a:t>+5</a:t>
            </a:r>
          </a:p>
        </p:txBody>
      </p:sp>
      <p:grpSp>
        <p:nvGrpSpPr>
          <p:cNvPr id="24594" name="Group 34"/>
          <p:cNvGrpSpPr>
            <a:grpSpLocks/>
          </p:cNvGrpSpPr>
          <p:nvPr/>
        </p:nvGrpSpPr>
        <p:grpSpPr bwMode="auto">
          <a:xfrm flipH="1">
            <a:off x="4999038" y="4953000"/>
            <a:ext cx="1219200" cy="1090613"/>
            <a:chOff x="1584" y="816"/>
            <a:chExt cx="912" cy="816"/>
          </a:xfrm>
        </p:grpSpPr>
        <p:sp>
          <p:nvSpPr>
            <p:cNvPr id="24607" name="Freeform 3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08" name="Freeform 3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09" name="Freeform 3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10" name="Freeform 3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4611" name="Freeform 3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4612" name="Freeform 4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4613" name="Freeform 4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14" name="Freeform 4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15" name="Freeform 4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4595" name="Group 44"/>
          <p:cNvGrpSpPr>
            <a:grpSpLocks/>
          </p:cNvGrpSpPr>
          <p:nvPr/>
        </p:nvGrpSpPr>
        <p:grpSpPr bwMode="auto">
          <a:xfrm>
            <a:off x="7072313" y="4953000"/>
            <a:ext cx="1219200" cy="1090613"/>
            <a:chOff x="1584" y="816"/>
            <a:chExt cx="912" cy="816"/>
          </a:xfrm>
        </p:grpSpPr>
        <p:sp>
          <p:nvSpPr>
            <p:cNvPr id="24598" name="Freeform 4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599" name="Freeform 4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00" name="Freeform 4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01" name="Freeform 4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4602" name="Freeform 4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4603" name="Freeform 5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4604" name="Freeform 5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05" name="Freeform 5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606" name="Freeform 5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4596" name="Text Box 54"/>
          <p:cNvSpPr txBox="1">
            <a:spLocks noChangeArrowheads="1"/>
          </p:cNvSpPr>
          <p:nvPr/>
        </p:nvSpPr>
        <p:spPr bwMode="auto">
          <a:xfrm>
            <a:off x="5502275" y="2057400"/>
            <a:ext cx="3641725"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cs typeface="Arial" pitchFamily="34" charset="0"/>
              </a:rPr>
              <a:t>Combined sum added to root</a:t>
            </a:r>
          </a:p>
        </p:txBody>
      </p:sp>
      <p:sp>
        <p:nvSpPr>
          <p:cNvPr id="24597" name="AutoShape 55"/>
          <p:cNvSpPr>
            <a:spLocks noChangeArrowheads="1"/>
          </p:cNvSpPr>
          <p:nvPr/>
        </p:nvSpPr>
        <p:spPr bwMode="auto">
          <a:xfrm>
            <a:off x="3543300" y="1905000"/>
            <a:ext cx="2057400" cy="990600"/>
          </a:xfrm>
          <a:prstGeom prst="wedgeRoundRectCallout">
            <a:avLst>
              <a:gd name="adj1" fmla="val 72838"/>
              <a:gd name="adj2" fmla="val 16185"/>
              <a:gd name="adj3" fmla="val 16667"/>
            </a:avLst>
          </a:prstGeom>
          <a:noFill/>
          <a:ln w="38100">
            <a:solidFill>
              <a:schemeClr val="accent1"/>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2"/>
          <p:cNvSpPr>
            <a:spLocks noGrp="1"/>
          </p:cNvSpPr>
          <p:nvPr>
            <p:ph type="ftr" sz="quarter" idx="10"/>
          </p:nvPr>
        </p:nvSpPr>
        <p:spPr/>
        <p:txBody>
          <a:bodyPr/>
          <a:lstStyle/>
          <a:p>
            <a:pPr>
              <a:defRPr/>
            </a:pPr>
            <a:r>
              <a:rPr lang="en-US"/>
              <a:t>Art of Multiprocessor Programming</a:t>
            </a:r>
          </a:p>
        </p:txBody>
      </p:sp>
      <p:sp>
        <p:nvSpPr>
          <p:cNvPr id="57" name="Slide Number Placeholder 3"/>
          <p:cNvSpPr>
            <a:spLocks noGrp="1"/>
          </p:cNvSpPr>
          <p:nvPr>
            <p:ph type="sldNum" sz="quarter" idx="11"/>
          </p:nvPr>
        </p:nvSpPr>
        <p:spPr/>
        <p:txBody>
          <a:bodyPr/>
          <a:lstStyle/>
          <a:p>
            <a:pPr>
              <a:defRPr/>
            </a:pPr>
            <a:fld id="{4AB4C852-4649-4654-8919-1D75E1B479DC}" type="slidenum">
              <a:rPr lang="en-US"/>
              <a:pPr>
                <a:defRPr/>
              </a:pPr>
              <a:t>22</a:t>
            </a:fld>
            <a:endParaRPr lang="en-US"/>
          </a:p>
        </p:txBody>
      </p:sp>
      <p:sp>
        <p:nvSpPr>
          <p:cNvPr id="25604" name="Rectangle 2"/>
          <p:cNvSpPr>
            <a:spLocks noGrp="1" noChangeArrowheads="1"/>
          </p:cNvSpPr>
          <p:nvPr>
            <p:ph type="title"/>
          </p:nvPr>
        </p:nvSpPr>
        <p:spPr/>
        <p:txBody>
          <a:bodyPr/>
          <a:lstStyle/>
          <a:p>
            <a:r>
              <a:rPr lang="en-US"/>
              <a:t>Combining Trees</a:t>
            </a:r>
          </a:p>
        </p:txBody>
      </p:sp>
      <p:sp>
        <p:nvSpPr>
          <p:cNvPr id="25605"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solidFill>
                  <a:schemeClr val="accent1"/>
                </a:solidFill>
                <a:latin typeface="Arial" pitchFamily="34" charset="0"/>
              </a:rPr>
              <a:t>5</a:t>
            </a:r>
          </a:p>
        </p:txBody>
      </p:sp>
      <p:sp>
        <p:nvSpPr>
          <p:cNvPr id="25606"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dirty="0">
              <a:solidFill>
                <a:schemeClr val="folHlink"/>
              </a:solidFill>
              <a:latin typeface="Arial" pitchFamily="34" charset="0"/>
            </a:endParaRPr>
          </a:p>
        </p:txBody>
      </p:sp>
      <p:sp>
        <p:nvSpPr>
          <p:cNvPr id="25607"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25608" name="Group 6"/>
          <p:cNvGrpSpPr>
            <a:grpSpLocks/>
          </p:cNvGrpSpPr>
          <p:nvPr/>
        </p:nvGrpSpPr>
        <p:grpSpPr bwMode="auto">
          <a:xfrm flipH="1">
            <a:off x="852488" y="4953000"/>
            <a:ext cx="1219200" cy="1090613"/>
            <a:chOff x="1584" y="816"/>
            <a:chExt cx="912" cy="816"/>
          </a:xfrm>
        </p:grpSpPr>
        <p:sp>
          <p:nvSpPr>
            <p:cNvPr id="25649"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50"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51"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52"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5653"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5654"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5655"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56"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57"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5609" name="Group 16"/>
          <p:cNvGrpSpPr>
            <a:grpSpLocks/>
          </p:cNvGrpSpPr>
          <p:nvPr/>
        </p:nvGrpSpPr>
        <p:grpSpPr bwMode="auto">
          <a:xfrm>
            <a:off x="2925763" y="4953000"/>
            <a:ext cx="1219200" cy="1090613"/>
            <a:chOff x="1584" y="816"/>
            <a:chExt cx="912" cy="816"/>
          </a:xfrm>
        </p:grpSpPr>
        <p:sp>
          <p:nvSpPr>
            <p:cNvPr id="25640"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41"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42"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43"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5644"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5645"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5646"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47"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48"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5610"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5611" name="Freeform 27"/>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dirty="0">
              <a:latin typeface="Courier New" pitchFamily="49" charset="0"/>
            </a:endParaRPr>
          </a:p>
        </p:txBody>
      </p:sp>
      <p:sp>
        <p:nvSpPr>
          <p:cNvPr id="25612" name="Text Box 28"/>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dirty="0">
                <a:latin typeface="Arial" pitchFamily="34" charset="0"/>
              </a:rPr>
              <a:t>+3</a:t>
            </a:r>
          </a:p>
        </p:txBody>
      </p:sp>
      <p:sp>
        <p:nvSpPr>
          <p:cNvPr id="25613" name="Text Box 29"/>
          <p:cNvSpPr txBox="1">
            <a:spLocks noChangeArrowheads="1"/>
          </p:cNvSpPr>
          <p:nvPr/>
        </p:nvSpPr>
        <p:spPr bwMode="auto">
          <a:xfrm>
            <a:off x="3336925" y="4191000"/>
            <a:ext cx="555625" cy="457200"/>
          </a:xfrm>
          <a:prstGeom prst="rect">
            <a:avLst/>
          </a:prstGeom>
          <a:noFill/>
          <a:ln w="9525">
            <a:noFill/>
            <a:miter lim="800000"/>
            <a:headEnd/>
            <a:tailEnd/>
          </a:ln>
        </p:spPr>
        <p:txBody>
          <a:bodyPr wrap="none">
            <a:spAutoFit/>
          </a:bodyPr>
          <a:lstStyle/>
          <a:p>
            <a:pPr algn="ctr">
              <a:spcBef>
                <a:spcPct val="0"/>
              </a:spcBef>
            </a:pPr>
            <a:r>
              <a:rPr lang="en-US" dirty="0">
                <a:solidFill>
                  <a:srgbClr val="FFFF00"/>
                </a:solidFill>
                <a:latin typeface="Arial" pitchFamily="34" charset="0"/>
              </a:rPr>
              <a:t>+2</a:t>
            </a:r>
          </a:p>
        </p:txBody>
      </p:sp>
      <p:sp>
        <p:nvSpPr>
          <p:cNvPr id="25614" name="Line 30"/>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5615" name="Line 31"/>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5616" name="Freeform 32"/>
          <p:cNvSpPr>
            <a:spLocks/>
          </p:cNvSpPr>
          <p:nvPr/>
        </p:nvSpPr>
        <p:spPr bwMode="auto">
          <a:xfrm>
            <a:off x="2819400" y="2590800"/>
            <a:ext cx="1676400" cy="1219200"/>
          </a:xfrm>
          <a:custGeom>
            <a:avLst/>
            <a:gdLst>
              <a:gd name="T0" fmla="*/ 0 w 1056"/>
              <a:gd name="T1" fmla="*/ 2147483647 h 768"/>
              <a:gd name="T2" fmla="*/ 2147483647 w 1056"/>
              <a:gd name="T3" fmla="*/ 2147483647 h 768"/>
              <a:gd name="T4" fmla="*/ 2147483647 w 1056"/>
              <a:gd name="T5" fmla="*/ 2147483647 h 768"/>
              <a:gd name="T6" fmla="*/ 2147483647 w 1056"/>
              <a:gd name="T7" fmla="*/ 0 h 768"/>
              <a:gd name="T8" fmla="*/ 0 60000 65536"/>
              <a:gd name="T9" fmla="*/ 0 60000 65536"/>
              <a:gd name="T10" fmla="*/ 0 60000 65536"/>
              <a:gd name="T11" fmla="*/ 0 60000 65536"/>
              <a:gd name="T12" fmla="*/ 0 w 1056"/>
              <a:gd name="T13" fmla="*/ 0 h 768"/>
              <a:gd name="T14" fmla="*/ 1056 w 1056"/>
              <a:gd name="T15" fmla="*/ 768 h 768"/>
            </a:gdLst>
            <a:ahLst/>
            <a:cxnLst>
              <a:cxn ang="T8">
                <a:pos x="T0" y="T1"/>
              </a:cxn>
              <a:cxn ang="T9">
                <a:pos x="T2" y="T3"/>
              </a:cxn>
              <a:cxn ang="T10">
                <a:pos x="T4" y="T5"/>
              </a:cxn>
              <a:cxn ang="T11">
                <a:pos x="T6" y="T7"/>
              </a:cxn>
            </a:cxnLst>
            <a:rect l="T12" t="T13" r="T14" b="T15"/>
            <a:pathLst>
              <a:path w="1056" h="768">
                <a:moveTo>
                  <a:pt x="0" y="768"/>
                </a:moveTo>
                <a:cubicBezTo>
                  <a:pt x="164" y="640"/>
                  <a:pt x="328" y="512"/>
                  <a:pt x="432" y="480"/>
                </a:cubicBezTo>
                <a:cubicBezTo>
                  <a:pt x="536" y="448"/>
                  <a:pt x="520" y="656"/>
                  <a:pt x="624" y="576"/>
                </a:cubicBezTo>
                <a:cubicBezTo>
                  <a:pt x="728" y="496"/>
                  <a:pt x="892" y="248"/>
                  <a:pt x="1056" y="0"/>
                </a:cubicBezTo>
              </a:path>
            </a:pathLst>
          </a:custGeom>
          <a:noFill/>
          <a:ln w="76200">
            <a:solidFill>
              <a:srgbClr val="33CC33"/>
            </a:solidFill>
            <a:round/>
            <a:headEnd type="triangle" w="med" len="med"/>
            <a:tailEnd/>
          </a:ln>
        </p:spPr>
        <p:txBody>
          <a:bodyPr wrap="none" anchor="ctr"/>
          <a:lstStyle/>
          <a:p>
            <a:endParaRPr lang="en-US" dirty="0">
              <a:latin typeface="Courier New" pitchFamily="49" charset="0"/>
            </a:endParaRPr>
          </a:p>
        </p:txBody>
      </p:sp>
      <p:sp>
        <p:nvSpPr>
          <p:cNvPr id="25617" name="Text Box 33"/>
          <p:cNvSpPr txBox="1">
            <a:spLocks noChangeArrowheads="1"/>
          </p:cNvSpPr>
          <p:nvPr/>
        </p:nvSpPr>
        <p:spPr bwMode="auto">
          <a:xfrm>
            <a:off x="4108450" y="3352800"/>
            <a:ext cx="369888" cy="457200"/>
          </a:xfrm>
          <a:prstGeom prst="rect">
            <a:avLst/>
          </a:prstGeom>
          <a:noFill/>
          <a:ln w="9525">
            <a:noFill/>
            <a:miter lim="800000"/>
            <a:headEnd/>
            <a:tailEnd/>
          </a:ln>
        </p:spPr>
        <p:txBody>
          <a:bodyPr wrap="none">
            <a:spAutoFit/>
          </a:bodyPr>
          <a:lstStyle/>
          <a:p>
            <a:pPr algn="ctr">
              <a:spcBef>
                <a:spcPct val="0"/>
              </a:spcBef>
            </a:pPr>
            <a:r>
              <a:rPr lang="en-US" dirty="0">
                <a:solidFill>
                  <a:srgbClr val="33CC33"/>
                </a:solidFill>
                <a:latin typeface="Arial" pitchFamily="34" charset="0"/>
              </a:rPr>
              <a:t>0</a:t>
            </a:r>
          </a:p>
        </p:txBody>
      </p:sp>
      <p:grpSp>
        <p:nvGrpSpPr>
          <p:cNvPr id="25618" name="Group 34"/>
          <p:cNvGrpSpPr>
            <a:grpSpLocks/>
          </p:cNvGrpSpPr>
          <p:nvPr/>
        </p:nvGrpSpPr>
        <p:grpSpPr bwMode="auto">
          <a:xfrm flipH="1">
            <a:off x="4999038" y="4953000"/>
            <a:ext cx="1219200" cy="1090613"/>
            <a:chOff x="1584" y="816"/>
            <a:chExt cx="912" cy="816"/>
          </a:xfrm>
        </p:grpSpPr>
        <p:sp>
          <p:nvSpPr>
            <p:cNvPr id="25631" name="Freeform 3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32" name="Freeform 3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33" name="Freeform 3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34" name="Freeform 3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5635" name="Freeform 3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5636" name="Freeform 4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5637" name="Freeform 4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38" name="Freeform 4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39" name="Freeform 4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5619" name="Group 44"/>
          <p:cNvGrpSpPr>
            <a:grpSpLocks/>
          </p:cNvGrpSpPr>
          <p:nvPr/>
        </p:nvGrpSpPr>
        <p:grpSpPr bwMode="auto">
          <a:xfrm>
            <a:off x="7072313" y="4953000"/>
            <a:ext cx="1219200" cy="1090613"/>
            <a:chOff x="1584" y="816"/>
            <a:chExt cx="912" cy="816"/>
          </a:xfrm>
        </p:grpSpPr>
        <p:sp>
          <p:nvSpPr>
            <p:cNvPr id="25622" name="Freeform 4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23" name="Freeform 4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24" name="Freeform 4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25" name="Freeform 4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5626" name="Freeform 4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5627" name="Freeform 5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5628" name="Freeform 5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29" name="Freeform 5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5630" name="Freeform 5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5620" name="Text Box 54"/>
          <p:cNvSpPr txBox="1">
            <a:spLocks noChangeArrowheads="1"/>
          </p:cNvSpPr>
          <p:nvPr/>
        </p:nvSpPr>
        <p:spPr bwMode="auto">
          <a:xfrm>
            <a:off x="5708650" y="1873250"/>
            <a:ext cx="2925763"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cs typeface="Arial" pitchFamily="34" charset="0"/>
              </a:rPr>
              <a:t>Result returned to children</a:t>
            </a:r>
          </a:p>
        </p:txBody>
      </p:sp>
      <p:sp>
        <p:nvSpPr>
          <p:cNvPr id="25621" name="AutoShape 55"/>
          <p:cNvSpPr>
            <a:spLocks noChangeArrowheads="1"/>
          </p:cNvSpPr>
          <p:nvPr/>
        </p:nvSpPr>
        <p:spPr bwMode="auto">
          <a:xfrm>
            <a:off x="3543300" y="1905000"/>
            <a:ext cx="2057400" cy="990600"/>
          </a:xfrm>
          <a:prstGeom prst="wedgeRoundRectCallout">
            <a:avLst>
              <a:gd name="adj1" fmla="val 71759"/>
              <a:gd name="adj2" fmla="val 4806"/>
              <a:gd name="adj3" fmla="val 16667"/>
            </a:avLst>
          </a:prstGeom>
          <a:noFill/>
          <a:ln w="38100">
            <a:solidFill>
              <a:schemeClr val="accent1"/>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2"/>
          <p:cNvSpPr>
            <a:spLocks noGrp="1"/>
          </p:cNvSpPr>
          <p:nvPr>
            <p:ph type="ftr" sz="quarter" idx="10"/>
          </p:nvPr>
        </p:nvSpPr>
        <p:spPr/>
        <p:txBody>
          <a:bodyPr/>
          <a:lstStyle/>
          <a:p>
            <a:pPr>
              <a:defRPr/>
            </a:pPr>
            <a:r>
              <a:rPr lang="en-US"/>
              <a:t>Art of Multiprocessor Programming</a:t>
            </a:r>
          </a:p>
        </p:txBody>
      </p:sp>
      <p:sp>
        <p:nvSpPr>
          <p:cNvPr id="57" name="Slide Number Placeholder 3"/>
          <p:cNvSpPr>
            <a:spLocks noGrp="1"/>
          </p:cNvSpPr>
          <p:nvPr>
            <p:ph type="sldNum" sz="quarter" idx="11"/>
          </p:nvPr>
        </p:nvSpPr>
        <p:spPr/>
        <p:txBody>
          <a:bodyPr/>
          <a:lstStyle/>
          <a:p>
            <a:pPr>
              <a:defRPr/>
            </a:pPr>
            <a:fld id="{C674B04F-16A0-42B9-82B2-74D2D2844144}" type="slidenum">
              <a:rPr lang="en-US"/>
              <a:pPr>
                <a:defRPr/>
              </a:pPr>
              <a:t>23</a:t>
            </a:fld>
            <a:endParaRPr lang="en-US"/>
          </a:p>
        </p:txBody>
      </p:sp>
      <p:sp>
        <p:nvSpPr>
          <p:cNvPr id="26628" name="Rectangle 2"/>
          <p:cNvSpPr>
            <a:spLocks noGrp="1" noChangeArrowheads="1"/>
          </p:cNvSpPr>
          <p:nvPr>
            <p:ph type="title"/>
          </p:nvPr>
        </p:nvSpPr>
        <p:spPr/>
        <p:txBody>
          <a:bodyPr/>
          <a:lstStyle/>
          <a:p>
            <a:r>
              <a:rPr lang="en-US">
                <a:solidFill>
                  <a:schemeClr val="tx1"/>
                </a:solidFill>
              </a:rPr>
              <a:t>Combining Trees</a:t>
            </a:r>
          </a:p>
        </p:txBody>
      </p:sp>
      <p:sp>
        <p:nvSpPr>
          <p:cNvPr id="26629"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solidFill>
                  <a:schemeClr val="tx1"/>
                </a:solidFill>
                <a:latin typeface="Arial" pitchFamily="34" charset="0"/>
              </a:rPr>
              <a:t>5</a:t>
            </a:r>
          </a:p>
        </p:txBody>
      </p:sp>
      <p:sp>
        <p:nvSpPr>
          <p:cNvPr id="26630"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r>
              <a:rPr lang="en-US" sz="2800" dirty="0">
                <a:solidFill>
                  <a:schemeClr val="tx1"/>
                </a:solidFill>
                <a:latin typeface="Arial" pitchFamily="34" charset="0"/>
              </a:rPr>
              <a:t>0</a:t>
            </a:r>
          </a:p>
        </p:txBody>
      </p:sp>
      <p:sp>
        <p:nvSpPr>
          <p:cNvPr id="26631"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solidFill>
                <a:schemeClr val="tx1"/>
              </a:solidFill>
              <a:latin typeface="Arial" pitchFamily="34" charset="0"/>
            </a:endParaRPr>
          </a:p>
        </p:txBody>
      </p:sp>
      <p:grpSp>
        <p:nvGrpSpPr>
          <p:cNvPr id="26632" name="Group 6"/>
          <p:cNvGrpSpPr>
            <a:grpSpLocks/>
          </p:cNvGrpSpPr>
          <p:nvPr/>
        </p:nvGrpSpPr>
        <p:grpSpPr bwMode="auto">
          <a:xfrm flipH="1">
            <a:off x="852488" y="4953000"/>
            <a:ext cx="1219200" cy="1090613"/>
            <a:chOff x="1584" y="816"/>
            <a:chExt cx="912" cy="816"/>
          </a:xfrm>
        </p:grpSpPr>
        <p:sp>
          <p:nvSpPr>
            <p:cNvPr id="2667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7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75"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7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667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667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26679"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80"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81"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6633" name="Group 16"/>
          <p:cNvGrpSpPr>
            <a:grpSpLocks/>
          </p:cNvGrpSpPr>
          <p:nvPr/>
        </p:nvGrpSpPr>
        <p:grpSpPr bwMode="auto">
          <a:xfrm>
            <a:off x="2925763" y="4953000"/>
            <a:ext cx="1219200" cy="1090613"/>
            <a:chOff x="1584" y="816"/>
            <a:chExt cx="912" cy="816"/>
          </a:xfrm>
        </p:grpSpPr>
        <p:sp>
          <p:nvSpPr>
            <p:cNvPr id="26664"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65"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66"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67"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6668"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6669"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26670"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71"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72"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6634"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type="triangle" w="med" len="med"/>
            <a:tailEnd/>
          </a:ln>
        </p:spPr>
        <p:txBody>
          <a:bodyPr wrap="none" anchor="ctr"/>
          <a:lstStyle/>
          <a:p>
            <a:endParaRPr lang="en-US" dirty="0">
              <a:latin typeface="Courier New" pitchFamily="49" charset="0"/>
            </a:endParaRPr>
          </a:p>
        </p:txBody>
      </p:sp>
      <p:sp>
        <p:nvSpPr>
          <p:cNvPr id="26635" name="Freeform 27"/>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type="triangle" w="med" len="med"/>
            <a:tailEnd/>
          </a:ln>
        </p:spPr>
        <p:txBody>
          <a:bodyPr wrap="none" anchor="ctr"/>
          <a:lstStyle/>
          <a:p>
            <a:endParaRPr lang="en-US" dirty="0">
              <a:latin typeface="Courier New" pitchFamily="49" charset="0"/>
            </a:endParaRPr>
          </a:p>
        </p:txBody>
      </p:sp>
      <p:sp>
        <p:nvSpPr>
          <p:cNvPr id="26636" name="Text Box 28"/>
          <p:cNvSpPr txBox="1">
            <a:spLocks noChangeArrowheads="1"/>
          </p:cNvSpPr>
          <p:nvPr/>
        </p:nvSpPr>
        <p:spPr bwMode="auto">
          <a:xfrm>
            <a:off x="1447800" y="4038600"/>
            <a:ext cx="369888" cy="457200"/>
          </a:xfrm>
          <a:prstGeom prst="rect">
            <a:avLst/>
          </a:prstGeom>
          <a:noFill/>
          <a:ln w="9525">
            <a:noFill/>
            <a:miter lim="800000"/>
            <a:headEnd/>
            <a:tailEnd/>
          </a:ln>
        </p:spPr>
        <p:txBody>
          <a:bodyPr wrap="none">
            <a:spAutoFit/>
          </a:bodyPr>
          <a:lstStyle/>
          <a:p>
            <a:pPr algn="ctr">
              <a:spcBef>
                <a:spcPct val="0"/>
              </a:spcBef>
            </a:pPr>
            <a:r>
              <a:rPr lang="en-US" dirty="0">
                <a:solidFill>
                  <a:schemeClr val="tx1"/>
                </a:solidFill>
                <a:latin typeface="Arial" pitchFamily="34" charset="0"/>
              </a:rPr>
              <a:t>0</a:t>
            </a:r>
          </a:p>
        </p:txBody>
      </p:sp>
      <p:sp>
        <p:nvSpPr>
          <p:cNvPr id="26637" name="Text Box 29"/>
          <p:cNvSpPr txBox="1">
            <a:spLocks noChangeArrowheads="1"/>
          </p:cNvSpPr>
          <p:nvPr/>
        </p:nvSpPr>
        <p:spPr bwMode="auto">
          <a:xfrm>
            <a:off x="3440113" y="4343400"/>
            <a:ext cx="369887" cy="457200"/>
          </a:xfrm>
          <a:prstGeom prst="rect">
            <a:avLst/>
          </a:prstGeom>
          <a:solidFill>
            <a:srgbClr val="FFFF00"/>
          </a:solidFill>
          <a:ln w="9525">
            <a:noFill/>
            <a:miter lim="800000"/>
            <a:headEnd/>
            <a:tailEnd/>
          </a:ln>
        </p:spPr>
        <p:txBody>
          <a:bodyPr wrap="none">
            <a:spAutoFit/>
          </a:bodyPr>
          <a:lstStyle/>
          <a:p>
            <a:pPr algn="ctr">
              <a:spcBef>
                <a:spcPct val="0"/>
              </a:spcBef>
            </a:pPr>
            <a:r>
              <a:rPr lang="en-US" dirty="0">
                <a:solidFill>
                  <a:schemeClr val="tx1"/>
                </a:solidFill>
                <a:latin typeface="Arial" pitchFamily="34" charset="0"/>
              </a:rPr>
              <a:t>3</a:t>
            </a:r>
          </a:p>
        </p:txBody>
      </p:sp>
      <p:sp>
        <p:nvSpPr>
          <p:cNvPr id="26638" name="Line 30"/>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6639" name="Line 31"/>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26640" name="Freeform 32"/>
          <p:cNvSpPr>
            <a:spLocks/>
          </p:cNvSpPr>
          <p:nvPr/>
        </p:nvSpPr>
        <p:spPr bwMode="auto">
          <a:xfrm>
            <a:off x="2819400" y="2590800"/>
            <a:ext cx="1676400" cy="1219200"/>
          </a:xfrm>
          <a:custGeom>
            <a:avLst/>
            <a:gdLst>
              <a:gd name="T0" fmla="*/ 0 w 1056"/>
              <a:gd name="T1" fmla="*/ 2147483647 h 768"/>
              <a:gd name="T2" fmla="*/ 2147483647 w 1056"/>
              <a:gd name="T3" fmla="*/ 2147483647 h 768"/>
              <a:gd name="T4" fmla="*/ 2147483647 w 1056"/>
              <a:gd name="T5" fmla="*/ 2147483647 h 768"/>
              <a:gd name="T6" fmla="*/ 2147483647 w 1056"/>
              <a:gd name="T7" fmla="*/ 0 h 768"/>
              <a:gd name="T8" fmla="*/ 0 60000 65536"/>
              <a:gd name="T9" fmla="*/ 0 60000 65536"/>
              <a:gd name="T10" fmla="*/ 0 60000 65536"/>
              <a:gd name="T11" fmla="*/ 0 60000 65536"/>
              <a:gd name="T12" fmla="*/ 0 w 1056"/>
              <a:gd name="T13" fmla="*/ 0 h 768"/>
              <a:gd name="T14" fmla="*/ 1056 w 1056"/>
              <a:gd name="T15" fmla="*/ 768 h 768"/>
            </a:gdLst>
            <a:ahLst/>
            <a:cxnLst>
              <a:cxn ang="T8">
                <a:pos x="T0" y="T1"/>
              </a:cxn>
              <a:cxn ang="T9">
                <a:pos x="T2" y="T3"/>
              </a:cxn>
              <a:cxn ang="T10">
                <a:pos x="T4" y="T5"/>
              </a:cxn>
              <a:cxn ang="T11">
                <a:pos x="T6" y="T7"/>
              </a:cxn>
            </a:cxnLst>
            <a:rect l="T12" t="T13" r="T14" b="T15"/>
            <a:pathLst>
              <a:path w="1056" h="768">
                <a:moveTo>
                  <a:pt x="0" y="768"/>
                </a:moveTo>
                <a:cubicBezTo>
                  <a:pt x="164" y="640"/>
                  <a:pt x="328" y="512"/>
                  <a:pt x="432" y="480"/>
                </a:cubicBezTo>
                <a:cubicBezTo>
                  <a:pt x="536" y="448"/>
                  <a:pt x="520" y="656"/>
                  <a:pt x="624" y="576"/>
                </a:cubicBezTo>
                <a:cubicBezTo>
                  <a:pt x="728" y="496"/>
                  <a:pt x="892" y="248"/>
                  <a:pt x="1056" y="0"/>
                </a:cubicBezTo>
              </a:path>
            </a:pathLst>
          </a:custGeom>
          <a:noFill/>
          <a:ln w="76200">
            <a:solidFill>
              <a:srgbClr val="33CC33"/>
            </a:solidFill>
            <a:round/>
            <a:headEnd type="triangle" w="med" len="med"/>
            <a:tailEnd/>
          </a:ln>
        </p:spPr>
        <p:txBody>
          <a:bodyPr wrap="none" anchor="ctr"/>
          <a:lstStyle/>
          <a:p>
            <a:endParaRPr lang="en-US" dirty="0">
              <a:latin typeface="Courier New" pitchFamily="49" charset="0"/>
            </a:endParaRPr>
          </a:p>
        </p:txBody>
      </p:sp>
      <p:sp>
        <p:nvSpPr>
          <p:cNvPr id="26641" name="Text Box 33"/>
          <p:cNvSpPr txBox="1">
            <a:spLocks noChangeArrowheads="1"/>
          </p:cNvSpPr>
          <p:nvPr/>
        </p:nvSpPr>
        <p:spPr bwMode="auto">
          <a:xfrm>
            <a:off x="4108450" y="3352800"/>
            <a:ext cx="369888" cy="457200"/>
          </a:xfrm>
          <a:prstGeom prst="rect">
            <a:avLst/>
          </a:prstGeom>
          <a:noFill/>
          <a:ln w="9525">
            <a:noFill/>
            <a:miter lim="800000"/>
            <a:headEnd/>
            <a:tailEnd/>
          </a:ln>
        </p:spPr>
        <p:txBody>
          <a:bodyPr wrap="none">
            <a:spAutoFit/>
          </a:bodyPr>
          <a:lstStyle/>
          <a:p>
            <a:pPr algn="ctr">
              <a:spcBef>
                <a:spcPct val="0"/>
              </a:spcBef>
            </a:pPr>
            <a:r>
              <a:rPr lang="en-US" dirty="0">
                <a:solidFill>
                  <a:schemeClr val="tx1"/>
                </a:solidFill>
                <a:latin typeface="Arial" pitchFamily="34" charset="0"/>
              </a:rPr>
              <a:t>0</a:t>
            </a:r>
          </a:p>
        </p:txBody>
      </p:sp>
      <p:grpSp>
        <p:nvGrpSpPr>
          <p:cNvPr id="26642" name="Group 34"/>
          <p:cNvGrpSpPr>
            <a:grpSpLocks/>
          </p:cNvGrpSpPr>
          <p:nvPr/>
        </p:nvGrpSpPr>
        <p:grpSpPr bwMode="auto">
          <a:xfrm flipH="1">
            <a:off x="4999038" y="4953000"/>
            <a:ext cx="1219200" cy="1090613"/>
            <a:chOff x="1584" y="816"/>
            <a:chExt cx="912" cy="816"/>
          </a:xfrm>
        </p:grpSpPr>
        <p:sp>
          <p:nvSpPr>
            <p:cNvPr id="26655" name="Freeform 3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56" name="Freeform 3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57" name="Freeform 3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58" name="Freeform 3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6659" name="Freeform 3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6660" name="Freeform 4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6661" name="Freeform 4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62" name="Freeform 4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63" name="Freeform 4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6643" name="Group 44"/>
          <p:cNvGrpSpPr>
            <a:grpSpLocks/>
          </p:cNvGrpSpPr>
          <p:nvPr/>
        </p:nvGrpSpPr>
        <p:grpSpPr bwMode="auto">
          <a:xfrm>
            <a:off x="7072313" y="4953000"/>
            <a:ext cx="1219200" cy="1090613"/>
            <a:chOff x="1584" y="816"/>
            <a:chExt cx="912" cy="816"/>
          </a:xfrm>
        </p:grpSpPr>
        <p:sp>
          <p:nvSpPr>
            <p:cNvPr id="26646" name="Freeform 4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47" name="Freeform 4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48" name="Freeform 47"/>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49" name="Freeform 4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6650" name="Freeform 4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6651" name="Freeform 5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6652" name="Freeform 51"/>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53" name="Freeform 52"/>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6654" name="Freeform 53"/>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6644" name="Text Box 54"/>
          <p:cNvSpPr txBox="1">
            <a:spLocks noChangeArrowheads="1"/>
          </p:cNvSpPr>
          <p:nvPr/>
        </p:nvSpPr>
        <p:spPr bwMode="auto">
          <a:xfrm>
            <a:off x="4419600" y="3429000"/>
            <a:ext cx="4191000"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tx1"/>
                </a:solidFill>
                <a:latin typeface="Arial" pitchFamily="34" charset="0"/>
                <a:cs typeface="Arial" pitchFamily="34" charset="0"/>
              </a:rPr>
              <a:t>Results returned to threads</a:t>
            </a:r>
          </a:p>
        </p:txBody>
      </p:sp>
      <p:sp>
        <p:nvSpPr>
          <p:cNvPr id="26645" name="AutoShape 55"/>
          <p:cNvSpPr>
            <a:spLocks noChangeArrowheads="1"/>
          </p:cNvSpPr>
          <p:nvPr/>
        </p:nvSpPr>
        <p:spPr bwMode="auto">
          <a:xfrm>
            <a:off x="1752600" y="3352800"/>
            <a:ext cx="2057400" cy="990600"/>
          </a:xfrm>
          <a:prstGeom prst="wedgeRoundRectCallout">
            <a:avLst>
              <a:gd name="adj1" fmla="val 72838"/>
              <a:gd name="adj2" fmla="val 16185"/>
              <a:gd name="adj3" fmla="val 16667"/>
            </a:avLst>
          </a:prstGeom>
          <a:noFill/>
          <a:ln w="38100">
            <a:solidFill>
              <a:schemeClr val="accent1"/>
            </a:solidFill>
            <a:miter lim="800000"/>
            <a:headEnd/>
            <a:tailEnd/>
          </a:ln>
        </p:spPr>
        <p:txBody>
          <a:bodyPr anchor="ctr"/>
          <a:lstStyle/>
          <a:p>
            <a:pPr algn="ctr">
              <a:spcBef>
                <a:spcPct val="0"/>
              </a:spcBef>
            </a:pPr>
            <a:endParaRPr lang="en-US" sz="4000" dirty="0">
              <a:solidFill>
                <a:schemeClr val="tx1"/>
              </a:solidFill>
              <a:latin typeface="Arial"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3124200" y="6248400"/>
            <a:ext cx="2895600" cy="457200"/>
          </a:xfrm>
          <a:prstGeom prst="rect">
            <a:avLst/>
          </a:prstGeom>
          <a:noFill/>
          <a:ln>
            <a:miter lim="800000"/>
            <a:headEnd/>
            <a:tailEnd/>
          </a:ln>
        </p:spPr>
        <p:txBody>
          <a:bodyPr/>
          <a:lstStyle/>
          <a:p>
            <a:pPr algn="ctr">
              <a:spcBef>
                <a:spcPct val="0"/>
              </a:spcBef>
              <a:defRPr/>
            </a:pPr>
            <a:r>
              <a:rPr lang="en-US" sz="1400" b="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4F220B35-CAD3-4C97-8B3E-907F7C927286}" type="slidenum">
              <a:rPr lang="en-US" sz="1400" b="0">
                <a:solidFill>
                  <a:schemeClr val="tx1"/>
                </a:solidFill>
                <a:latin typeface="Arial" pitchFamily="34" charset="0"/>
              </a:rPr>
              <a:pPr algn="r">
                <a:spcBef>
                  <a:spcPct val="0"/>
                </a:spcBef>
                <a:defRPr/>
              </a:pPr>
              <a:t>24</a:t>
            </a:fld>
            <a:endParaRPr lang="en-US" sz="1400" b="0" dirty="0">
              <a:solidFill>
                <a:schemeClr val="tx1"/>
              </a:solidFill>
              <a:latin typeface="Arial" pitchFamily="34" charset="0"/>
            </a:endParaRPr>
          </a:p>
        </p:txBody>
      </p:sp>
      <p:sp>
        <p:nvSpPr>
          <p:cNvPr id="528388" name="Rectangle 2"/>
          <p:cNvSpPr>
            <a:spLocks noGrp="1" noChangeArrowheads="1"/>
          </p:cNvSpPr>
          <p:nvPr>
            <p:ph type="title" idx="4294967295"/>
          </p:nvPr>
        </p:nvSpPr>
        <p:spPr/>
        <p:txBody>
          <a:bodyPr/>
          <a:lstStyle/>
          <a:p>
            <a:r>
              <a:rPr lang="en-US"/>
              <a:t>What if?</a:t>
            </a:r>
          </a:p>
        </p:txBody>
      </p:sp>
      <p:sp>
        <p:nvSpPr>
          <p:cNvPr id="528389" name="Rectangle 3"/>
          <p:cNvSpPr>
            <a:spLocks noGrp="1" noChangeArrowheads="1"/>
          </p:cNvSpPr>
          <p:nvPr>
            <p:ph type="body" idx="4294967295"/>
          </p:nvPr>
        </p:nvSpPr>
        <p:spPr/>
        <p:txBody>
          <a:bodyPr/>
          <a:lstStyle/>
          <a:p>
            <a:r>
              <a:rPr lang="en-US"/>
              <a:t>Threads don’t arrive together?</a:t>
            </a:r>
          </a:p>
          <a:p>
            <a:pPr lvl="1"/>
            <a:r>
              <a:rPr lang="en-US">
                <a:solidFill>
                  <a:schemeClr val="tx1"/>
                </a:solidFill>
              </a:rPr>
              <a:t>Should I stay or should I go?</a:t>
            </a:r>
          </a:p>
          <a:p>
            <a:r>
              <a:rPr lang="en-US"/>
              <a:t>How long to wait?</a:t>
            </a:r>
          </a:p>
          <a:p>
            <a:pPr lvl="1"/>
            <a:r>
              <a:rPr lang="en-US">
                <a:solidFill>
                  <a:schemeClr val="tx1"/>
                </a:solidFill>
              </a:rPr>
              <a:t>Waiting times add up …</a:t>
            </a:r>
          </a:p>
          <a:p>
            <a:r>
              <a:rPr lang="en-US"/>
              <a:t>Idea:</a:t>
            </a:r>
          </a:p>
          <a:p>
            <a:pPr lvl="1"/>
            <a:r>
              <a:rPr lang="en-US"/>
              <a:t>Use multi-phase algorithm</a:t>
            </a:r>
          </a:p>
          <a:p>
            <a:pPr lvl="1"/>
            <a:r>
              <a:rPr lang="en-US"/>
              <a:t>Where threads wait </a:t>
            </a:r>
            <a:r>
              <a:rPr lang="en-US">
                <a:solidFill>
                  <a:schemeClr val="tx1"/>
                </a:solidFill>
              </a:rPr>
              <a:t>in parallel</a:t>
            </a:r>
            <a:r>
              <a:rPr lang="en-US"/>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5E9F9A6F-369A-4B5E-AC9C-951496595073}" type="slidenum">
              <a:rPr lang="en-US"/>
              <a:pPr>
                <a:defRPr/>
              </a:pPr>
              <a:t>25</a:t>
            </a:fld>
            <a:endParaRPr lang="en-US"/>
          </a:p>
        </p:txBody>
      </p:sp>
      <p:sp>
        <p:nvSpPr>
          <p:cNvPr id="28676" name="Rectangle 2"/>
          <p:cNvSpPr>
            <a:spLocks noGrp="1" noChangeArrowheads="1"/>
          </p:cNvSpPr>
          <p:nvPr>
            <p:ph type="title"/>
          </p:nvPr>
        </p:nvSpPr>
        <p:spPr/>
        <p:txBody>
          <a:bodyPr/>
          <a:lstStyle/>
          <a:p>
            <a:r>
              <a:rPr lang="en-US"/>
              <a:t>Combining Status</a:t>
            </a:r>
          </a:p>
        </p:txBody>
      </p:sp>
      <p:sp>
        <p:nvSpPr>
          <p:cNvPr id="28677" name="Rectangle 3"/>
          <p:cNvSpPr>
            <a:spLocks noChangeArrowheads="1"/>
          </p:cNvSpPr>
          <p:nvPr/>
        </p:nvSpPr>
        <p:spPr bwMode="auto">
          <a:xfrm>
            <a:off x="947738" y="1981200"/>
            <a:ext cx="7891462" cy="1544638"/>
          </a:xfrm>
          <a:prstGeom prst="rect">
            <a:avLst/>
          </a:prstGeom>
          <a:solidFill>
            <a:srgbClr val="FFFFCC"/>
          </a:solidFill>
          <a:ln w="9525">
            <a:noFill/>
            <a:miter lim="800000"/>
            <a:headEnd/>
            <a:tailEnd/>
          </a:ln>
        </p:spPr>
        <p:txBody>
          <a:bodyPr>
            <a:spAutoFit/>
          </a:bodyPr>
          <a:lstStyle/>
          <a:p>
            <a:pPr marL="342900" indent="-342900"/>
            <a:r>
              <a:rPr lang="en-US" sz="2800" dirty="0" err="1">
                <a:solidFill>
                  <a:schemeClr val="tx1"/>
                </a:solidFill>
                <a:latin typeface="Courier New" pitchFamily="49" charset="0"/>
              </a:rPr>
              <a:t>enum</a:t>
            </a:r>
            <a:r>
              <a:rPr lang="en-US" sz="2800" dirty="0">
                <a:latin typeface="Courier New" pitchFamily="49" charset="0"/>
              </a:rPr>
              <a:t> </a:t>
            </a:r>
            <a:r>
              <a:rPr lang="en-US" sz="2800" dirty="0" err="1">
                <a:latin typeface="Courier New" pitchFamily="49" charset="0"/>
              </a:rPr>
              <a:t>CStatus</a:t>
            </a:r>
            <a:r>
              <a:rPr lang="en-US" sz="2800" dirty="0">
                <a:latin typeface="Courier New" pitchFamily="49" charset="0"/>
              </a:rPr>
              <a:t>{</a:t>
            </a:r>
          </a:p>
          <a:p>
            <a:pPr marL="342900" indent="-342900"/>
            <a:r>
              <a:rPr lang="en-US" sz="2800" dirty="0">
                <a:latin typeface="Courier New" pitchFamily="49" charset="0"/>
              </a:rPr>
              <a:t> IDLE, FIRST, SECOND, RESULT, ROOT</a:t>
            </a:r>
          </a:p>
          <a:p>
            <a:pPr marL="342900" indent="-342900"/>
            <a:r>
              <a:rPr lang="en-US" sz="2800" dirty="0">
                <a:latin typeface="Courier New" pitchFamily="49" charset="0"/>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705" name="Rectangle 3"/>
          <p:cNvSpPr>
            <a:spLocks noChangeArrowheads="1"/>
          </p:cNvSpPr>
          <p:nvPr/>
        </p:nvSpPr>
        <p:spPr bwMode="auto">
          <a:xfrm>
            <a:off x="947738" y="1981200"/>
            <a:ext cx="7891462" cy="1544638"/>
          </a:xfrm>
          <a:prstGeom prst="rect">
            <a:avLst/>
          </a:prstGeom>
          <a:solidFill>
            <a:srgbClr val="FFFFCC"/>
          </a:solidFill>
          <a:ln w="9525">
            <a:noFill/>
            <a:miter lim="800000"/>
            <a:headEnd/>
            <a:tailEnd/>
          </a:ln>
        </p:spPr>
        <p:txBody>
          <a:bodyPr>
            <a:spAutoFit/>
          </a:bodyPr>
          <a:lstStyle/>
          <a:p>
            <a:pPr marL="342900" indent="-342900"/>
            <a:r>
              <a:rPr lang="en-US" sz="2800" dirty="0" err="1">
                <a:solidFill>
                  <a:schemeClr val="folHlink"/>
                </a:solidFill>
                <a:latin typeface="Courier New" pitchFamily="49" charset="0"/>
              </a:rPr>
              <a:t>enum</a:t>
            </a:r>
            <a:r>
              <a:rPr lang="en-US" sz="2800" dirty="0">
                <a:solidFill>
                  <a:schemeClr val="folHlink"/>
                </a:solidFill>
                <a:latin typeface="Courier New" pitchFamily="49" charset="0"/>
              </a:rPr>
              <a:t> </a:t>
            </a:r>
            <a:r>
              <a:rPr lang="en-US" sz="2800" dirty="0" err="1">
                <a:solidFill>
                  <a:schemeClr val="folHlink"/>
                </a:solidFill>
                <a:latin typeface="Courier New" pitchFamily="49" charset="0"/>
              </a:rPr>
              <a:t>CStatus</a:t>
            </a:r>
            <a:r>
              <a:rPr lang="en-US" sz="2800" dirty="0">
                <a:solidFill>
                  <a:schemeClr val="folHlink"/>
                </a:solidFill>
                <a:latin typeface="Courier New" pitchFamily="49" charset="0"/>
              </a:rPr>
              <a:t>{</a:t>
            </a:r>
          </a:p>
          <a:p>
            <a:pPr marL="342900" indent="-342900"/>
            <a:r>
              <a:rPr lang="en-US" sz="2800" dirty="0">
                <a:latin typeface="Courier New" pitchFamily="49" charset="0"/>
              </a:rPr>
              <a:t> IDLE, </a:t>
            </a:r>
            <a:r>
              <a:rPr lang="en-US" sz="2800" dirty="0">
                <a:solidFill>
                  <a:schemeClr val="folHlink"/>
                </a:solidFill>
                <a:latin typeface="Courier New" pitchFamily="49" charset="0"/>
              </a:rPr>
              <a:t>FIRST, SECOND, RESULT, ROOT</a:t>
            </a:r>
          </a:p>
          <a:p>
            <a:pPr marL="342900" indent="-342900"/>
            <a:r>
              <a:rPr lang="en-US" sz="2800" dirty="0">
                <a:latin typeface="Courier New" pitchFamily="49" charset="0"/>
              </a:rPr>
              <a:t> </a:t>
            </a:r>
            <a:r>
              <a:rPr lang="en-US" sz="2800" dirty="0">
                <a:solidFill>
                  <a:schemeClr val="folHlink"/>
                </a:solidFill>
                <a:latin typeface="Courier New" pitchFamily="49" charset="0"/>
              </a:rPr>
              <a:t>};</a:t>
            </a:r>
          </a:p>
        </p:txBody>
      </p:sp>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A4E56F52-8E34-4742-81E5-73EF3540EC36}" type="slidenum">
              <a:rPr lang="en-US"/>
              <a:pPr>
                <a:defRPr/>
              </a:pPr>
              <a:t>26</a:t>
            </a:fld>
            <a:endParaRPr lang="en-US"/>
          </a:p>
        </p:txBody>
      </p:sp>
      <p:sp>
        <p:nvSpPr>
          <p:cNvPr id="29700" name="Rectangle 2"/>
          <p:cNvSpPr>
            <a:spLocks noGrp="1" noChangeArrowheads="1"/>
          </p:cNvSpPr>
          <p:nvPr>
            <p:ph type="title"/>
          </p:nvPr>
        </p:nvSpPr>
        <p:spPr/>
        <p:txBody>
          <a:bodyPr/>
          <a:lstStyle/>
          <a:p>
            <a:r>
              <a:rPr lang="en-US"/>
              <a:t>Combining Status</a:t>
            </a:r>
          </a:p>
        </p:txBody>
      </p:sp>
      <p:sp>
        <p:nvSpPr>
          <p:cNvPr id="29702" name="AutoShape 4"/>
          <p:cNvSpPr>
            <a:spLocks noChangeArrowheads="1"/>
          </p:cNvSpPr>
          <p:nvPr/>
        </p:nvSpPr>
        <p:spPr bwMode="auto">
          <a:xfrm>
            <a:off x="1133475" y="2535238"/>
            <a:ext cx="1228725" cy="477837"/>
          </a:xfrm>
          <a:prstGeom prst="wedgeRoundRectCallout">
            <a:avLst>
              <a:gd name="adj1" fmla="val 77778"/>
              <a:gd name="adj2" fmla="val 428074"/>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29703" name="Text Box 5"/>
          <p:cNvSpPr txBox="1">
            <a:spLocks noChangeArrowheads="1"/>
          </p:cNvSpPr>
          <p:nvPr/>
        </p:nvSpPr>
        <p:spPr bwMode="auto">
          <a:xfrm>
            <a:off x="1219200" y="4876800"/>
            <a:ext cx="4343400" cy="519113"/>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Nothing going 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9" name="Rectangle 3"/>
          <p:cNvSpPr>
            <a:spLocks noChangeArrowheads="1"/>
          </p:cNvSpPr>
          <p:nvPr/>
        </p:nvSpPr>
        <p:spPr bwMode="auto">
          <a:xfrm>
            <a:off x="947738" y="1981200"/>
            <a:ext cx="7891462" cy="1544638"/>
          </a:xfrm>
          <a:prstGeom prst="rect">
            <a:avLst/>
          </a:prstGeom>
          <a:solidFill>
            <a:srgbClr val="FFFFCC"/>
          </a:solidFill>
          <a:ln w="9525">
            <a:noFill/>
            <a:miter lim="800000"/>
            <a:headEnd/>
            <a:tailEnd/>
          </a:ln>
        </p:spPr>
        <p:txBody>
          <a:bodyPr>
            <a:spAutoFit/>
          </a:bodyPr>
          <a:lstStyle/>
          <a:p>
            <a:pPr marL="342900" indent="-342900"/>
            <a:r>
              <a:rPr lang="en-US" sz="2800" dirty="0" err="1">
                <a:solidFill>
                  <a:schemeClr val="folHlink"/>
                </a:solidFill>
                <a:latin typeface="Courier New" pitchFamily="49" charset="0"/>
              </a:rPr>
              <a:t>enum</a:t>
            </a:r>
            <a:r>
              <a:rPr lang="en-US" sz="2800" dirty="0">
                <a:solidFill>
                  <a:schemeClr val="folHlink"/>
                </a:solidFill>
                <a:latin typeface="Courier New" pitchFamily="49" charset="0"/>
              </a:rPr>
              <a:t> </a:t>
            </a:r>
            <a:r>
              <a:rPr lang="en-US" sz="2800" dirty="0" err="1">
                <a:solidFill>
                  <a:schemeClr val="folHlink"/>
                </a:solidFill>
                <a:latin typeface="Courier New" pitchFamily="49" charset="0"/>
              </a:rPr>
              <a:t>CStatus</a:t>
            </a:r>
            <a:r>
              <a:rPr lang="en-US" sz="2800" dirty="0">
                <a:solidFill>
                  <a:schemeClr val="folHlink"/>
                </a:solidFill>
                <a:latin typeface="Courier New" pitchFamily="49" charset="0"/>
              </a:rPr>
              <a:t>{</a:t>
            </a:r>
          </a:p>
          <a:p>
            <a:pPr marL="342900" indent="-342900"/>
            <a:r>
              <a:rPr lang="en-US" sz="2800" dirty="0">
                <a:latin typeface="Courier New" pitchFamily="49" charset="0"/>
              </a:rPr>
              <a:t> </a:t>
            </a:r>
            <a:r>
              <a:rPr lang="en-US" sz="2800" dirty="0">
                <a:solidFill>
                  <a:schemeClr val="folHlink"/>
                </a:solidFill>
                <a:latin typeface="Courier New" pitchFamily="49" charset="0"/>
              </a:rPr>
              <a:t>IDLE,</a:t>
            </a:r>
            <a:r>
              <a:rPr lang="en-US" sz="2800" dirty="0">
                <a:latin typeface="Courier New" pitchFamily="49" charset="0"/>
              </a:rPr>
              <a:t> FIRST, </a:t>
            </a:r>
            <a:r>
              <a:rPr lang="en-US" sz="2800" dirty="0">
                <a:solidFill>
                  <a:schemeClr val="folHlink"/>
                </a:solidFill>
                <a:latin typeface="Courier New" pitchFamily="49" charset="0"/>
              </a:rPr>
              <a:t>SECOND, RESULT, ROOT</a:t>
            </a:r>
          </a:p>
          <a:p>
            <a:pPr marL="342900" indent="-342900"/>
            <a:r>
              <a:rPr lang="en-US" sz="2800" dirty="0">
                <a:solidFill>
                  <a:schemeClr val="folHlink"/>
                </a:solidFill>
                <a:latin typeface="Courier New" pitchFamily="49" charset="0"/>
              </a:rPr>
              <a:t> };</a:t>
            </a:r>
          </a:p>
        </p:txBody>
      </p:sp>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8B4386A0-8E19-4900-898E-DA56D8462C53}" type="slidenum">
              <a:rPr lang="en-US"/>
              <a:pPr>
                <a:defRPr/>
              </a:pPr>
              <a:t>27</a:t>
            </a:fld>
            <a:endParaRPr lang="en-US"/>
          </a:p>
        </p:txBody>
      </p:sp>
      <p:sp>
        <p:nvSpPr>
          <p:cNvPr id="30724" name="Rectangle 2"/>
          <p:cNvSpPr>
            <a:spLocks noGrp="1" noChangeArrowheads="1"/>
          </p:cNvSpPr>
          <p:nvPr>
            <p:ph type="title"/>
          </p:nvPr>
        </p:nvSpPr>
        <p:spPr/>
        <p:txBody>
          <a:bodyPr/>
          <a:lstStyle/>
          <a:p>
            <a:r>
              <a:rPr lang="en-US"/>
              <a:t>Combining Status</a:t>
            </a:r>
          </a:p>
        </p:txBody>
      </p:sp>
      <p:sp>
        <p:nvSpPr>
          <p:cNvPr id="30726" name="AutoShape 4"/>
          <p:cNvSpPr>
            <a:spLocks noChangeArrowheads="1"/>
          </p:cNvSpPr>
          <p:nvPr/>
        </p:nvSpPr>
        <p:spPr bwMode="auto">
          <a:xfrm>
            <a:off x="2447925" y="2535238"/>
            <a:ext cx="1482725" cy="477837"/>
          </a:xfrm>
          <a:prstGeom prst="wedgeRoundRectCallout">
            <a:avLst>
              <a:gd name="adj1" fmla="val 83727"/>
              <a:gd name="adj2" fmla="val 434051"/>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30727" name="Text Box 5"/>
          <p:cNvSpPr txBox="1">
            <a:spLocks noChangeArrowheads="1"/>
          </p:cNvSpPr>
          <p:nvPr/>
        </p:nvSpPr>
        <p:spPr bwMode="auto">
          <a:xfrm>
            <a:off x="947738" y="4876800"/>
            <a:ext cx="7092950"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1</a:t>
            </a:r>
            <a:r>
              <a:rPr lang="en-US" sz="2800" baseline="30000" dirty="0">
                <a:solidFill>
                  <a:srgbClr val="FF0000"/>
                </a:solidFill>
                <a:latin typeface="Arial" pitchFamily="34" charset="0"/>
                <a:cs typeface="Arial" pitchFamily="34" charset="0"/>
              </a:rPr>
              <a:t>st</a:t>
            </a:r>
            <a:r>
              <a:rPr lang="en-US" sz="2800" dirty="0">
                <a:solidFill>
                  <a:srgbClr val="FF0000"/>
                </a:solidFill>
                <a:latin typeface="Arial" pitchFamily="34" charset="0"/>
                <a:cs typeface="Arial" pitchFamily="34" charset="0"/>
              </a:rPr>
              <a:t> thread is a partner for combining, will return to check for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53" name="Rectangle 3"/>
          <p:cNvSpPr>
            <a:spLocks noChangeArrowheads="1"/>
          </p:cNvSpPr>
          <p:nvPr/>
        </p:nvSpPr>
        <p:spPr bwMode="auto">
          <a:xfrm>
            <a:off x="947738" y="1981200"/>
            <a:ext cx="7891462" cy="1544638"/>
          </a:xfrm>
          <a:prstGeom prst="rect">
            <a:avLst/>
          </a:prstGeom>
          <a:solidFill>
            <a:srgbClr val="FFFFCC"/>
          </a:solidFill>
          <a:ln w="9525">
            <a:noFill/>
            <a:miter lim="800000"/>
            <a:headEnd/>
            <a:tailEnd/>
          </a:ln>
        </p:spPr>
        <p:txBody>
          <a:bodyPr>
            <a:spAutoFit/>
          </a:bodyPr>
          <a:lstStyle/>
          <a:p>
            <a:pPr marL="342900" indent="-342900"/>
            <a:r>
              <a:rPr lang="en-US" sz="2800" dirty="0" err="1">
                <a:solidFill>
                  <a:schemeClr val="folHlink"/>
                </a:solidFill>
                <a:latin typeface="Courier New" pitchFamily="49" charset="0"/>
              </a:rPr>
              <a:t>enum</a:t>
            </a:r>
            <a:r>
              <a:rPr lang="en-US" sz="2800" dirty="0">
                <a:solidFill>
                  <a:schemeClr val="folHlink"/>
                </a:solidFill>
                <a:latin typeface="Courier New" pitchFamily="49" charset="0"/>
              </a:rPr>
              <a:t> </a:t>
            </a:r>
            <a:r>
              <a:rPr lang="en-US" sz="2800" dirty="0" err="1">
                <a:solidFill>
                  <a:schemeClr val="folHlink"/>
                </a:solidFill>
                <a:latin typeface="Courier New" pitchFamily="49" charset="0"/>
              </a:rPr>
              <a:t>CStatus</a:t>
            </a:r>
            <a:r>
              <a:rPr lang="en-US" sz="2800" dirty="0">
                <a:solidFill>
                  <a:schemeClr val="folHlink"/>
                </a:solidFill>
                <a:latin typeface="Courier New" pitchFamily="49" charset="0"/>
              </a:rPr>
              <a:t>{</a:t>
            </a:r>
          </a:p>
          <a:p>
            <a:pPr marL="342900" indent="-342900"/>
            <a:r>
              <a:rPr lang="en-US" sz="2800" dirty="0">
                <a:solidFill>
                  <a:schemeClr val="folHlink"/>
                </a:solidFill>
                <a:latin typeface="Courier New" pitchFamily="49" charset="0"/>
              </a:rPr>
              <a:t> IDLE, FIRST,</a:t>
            </a:r>
            <a:r>
              <a:rPr lang="en-US" sz="2800" dirty="0">
                <a:latin typeface="Courier New" pitchFamily="49" charset="0"/>
              </a:rPr>
              <a:t> SECOND, </a:t>
            </a:r>
            <a:r>
              <a:rPr lang="en-US" sz="2800" dirty="0">
                <a:solidFill>
                  <a:schemeClr val="folHlink"/>
                </a:solidFill>
                <a:latin typeface="Courier New" pitchFamily="49" charset="0"/>
              </a:rPr>
              <a:t>RESULT, ROOT</a:t>
            </a:r>
          </a:p>
          <a:p>
            <a:pPr marL="342900" indent="-342900"/>
            <a:r>
              <a:rPr lang="en-US" sz="2800" dirty="0">
                <a:solidFill>
                  <a:schemeClr val="folHlink"/>
                </a:solidFill>
                <a:latin typeface="Courier New" pitchFamily="49" charset="0"/>
              </a:rPr>
              <a:t> };</a:t>
            </a:r>
          </a:p>
        </p:txBody>
      </p:sp>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F4CC425A-B1A7-4CAF-BF9A-122EEF5E63CB}" type="slidenum">
              <a:rPr lang="en-US"/>
              <a:pPr>
                <a:defRPr/>
              </a:pPr>
              <a:t>28</a:t>
            </a:fld>
            <a:endParaRPr lang="en-US"/>
          </a:p>
        </p:txBody>
      </p:sp>
      <p:sp>
        <p:nvSpPr>
          <p:cNvPr id="31748" name="Rectangle 2"/>
          <p:cNvSpPr>
            <a:spLocks noGrp="1" noChangeArrowheads="1"/>
          </p:cNvSpPr>
          <p:nvPr>
            <p:ph type="title"/>
          </p:nvPr>
        </p:nvSpPr>
        <p:spPr/>
        <p:txBody>
          <a:bodyPr/>
          <a:lstStyle/>
          <a:p>
            <a:r>
              <a:rPr lang="en-US"/>
              <a:t>Combining Status</a:t>
            </a:r>
          </a:p>
        </p:txBody>
      </p:sp>
      <p:sp>
        <p:nvSpPr>
          <p:cNvPr id="31750" name="AutoShape 4"/>
          <p:cNvSpPr>
            <a:spLocks noChangeArrowheads="1"/>
          </p:cNvSpPr>
          <p:nvPr/>
        </p:nvSpPr>
        <p:spPr bwMode="auto">
          <a:xfrm>
            <a:off x="3897313" y="2535238"/>
            <a:ext cx="1703387" cy="477837"/>
          </a:xfrm>
          <a:prstGeom prst="wedgeRoundRectCallout">
            <a:avLst>
              <a:gd name="adj1" fmla="val -51213"/>
              <a:gd name="adj2" fmla="val 452657"/>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31751" name="Text Box 5"/>
          <p:cNvSpPr txBox="1">
            <a:spLocks noChangeArrowheads="1"/>
          </p:cNvSpPr>
          <p:nvPr/>
        </p:nvSpPr>
        <p:spPr bwMode="auto">
          <a:xfrm>
            <a:off x="1358900" y="4876800"/>
            <a:ext cx="5235575"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 has arrived with value for combining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7" name="Rectangle 3"/>
          <p:cNvSpPr>
            <a:spLocks noChangeArrowheads="1"/>
          </p:cNvSpPr>
          <p:nvPr/>
        </p:nvSpPr>
        <p:spPr bwMode="auto">
          <a:xfrm>
            <a:off x="947738" y="1981200"/>
            <a:ext cx="7891462" cy="1544638"/>
          </a:xfrm>
          <a:prstGeom prst="rect">
            <a:avLst/>
          </a:prstGeom>
          <a:solidFill>
            <a:srgbClr val="FFFFCC"/>
          </a:solidFill>
          <a:ln w="9525">
            <a:noFill/>
            <a:miter lim="800000"/>
            <a:headEnd/>
            <a:tailEnd/>
          </a:ln>
        </p:spPr>
        <p:txBody>
          <a:bodyPr>
            <a:spAutoFit/>
          </a:bodyPr>
          <a:lstStyle/>
          <a:p>
            <a:pPr marL="342900" indent="-342900"/>
            <a:r>
              <a:rPr lang="en-US" sz="2800" dirty="0" err="1">
                <a:solidFill>
                  <a:schemeClr val="folHlink"/>
                </a:solidFill>
                <a:latin typeface="Courier New" pitchFamily="49" charset="0"/>
              </a:rPr>
              <a:t>enum</a:t>
            </a:r>
            <a:r>
              <a:rPr lang="en-US" sz="2800" dirty="0">
                <a:solidFill>
                  <a:schemeClr val="folHlink"/>
                </a:solidFill>
                <a:latin typeface="Courier New" pitchFamily="49" charset="0"/>
              </a:rPr>
              <a:t> </a:t>
            </a:r>
            <a:r>
              <a:rPr lang="en-US" sz="2800" dirty="0" err="1">
                <a:solidFill>
                  <a:schemeClr val="folHlink"/>
                </a:solidFill>
                <a:latin typeface="Courier New" pitchFamily="49" charset="0"/>
              </a:rPr>
              <a:t>CStatus</a:t>
            </a:r>
            <a:r>
              <a:rPr lang="en-US" sz="2800" dirty="0">
                <a:solidFill>
                  <a:schemeClr val="folHlink"/>
                </a:solidFill>
                <a:latin typeface="Courier New" pitchFamily="49" charset="0"/>
              </a:rPr>
              <a:t>{</a:t>
            </a:r>
          </a:p>
          <a:p>
            <a:pPr marL="342900" indent="-342900"/>
            <a:r>
              <a:rPr lang="en-US" sz="2800" dirty="0">
                <a:solidFill>
                  <a:schemeClr val="folHlink"/>
                </a:solidFill>
                <a:latin typeface="Courier New" pitchFamily="49" charset="0"/>
              </a:rPr>
              <a:t> IDLE, FIRST, SECOND,</a:t>
            </a:r>
            <a:r>
              <a:rPr lang="en-US" sz="2800" dirty="0">
                <a:latin typeface="Courier New" pitchFamily="49" charset="0"/>
              </a:rPr>
              <a:t> RESULT, </a:t>
            </a:r>
            <a:r>
              <a:rPr lang="en-US" sz="2800" dirty="0">
                <a:solidFill>
                  <a:schemeClr val="folHlink"/>
                </a:solidFill>
                <a:latin typeface="Courier New" pitchFamily="49" charset="0"/>
              </a:rPr>
              <a:t>ROOT</a:t>
            </a:r>
          </a:p>
          <a:p>
            <a:pPr marL="342900" indent="-342900"/>
            <a:r>
              <a:rPr lang="en-US" sz="2800" dirty="0">
                <a:solidFill>
                  <a:schemeClr val="folHlink"/>
                </a:solidFill>
                <a:latin typeface="Courier New" pitchFamily="49" charset="0"/>
              </a:rPr>
              <a:t> };</a:t>
            </a:r>
          </a:p>
        </p:txBody>
      </p:sp>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EE6C28C0-13CC-4E4A-A144-7CD2D42E16A7}" type="slidenum">
              <a:rPr lang="en-US"/>
              <a:pPr>
                <a:defRPr/>
              </a:pPr>
              <a:t>29</a:t>
            </a:fld>
            <a:endParaRPr lang="en-US"/>
          </a:p>
        </p:txBody>
      </p:sp>
      <p:sp>
        <p:nvSpPr>
          <p:cNvPr id="32772" name="Rectangle 2"/>
          <p:cNvSpPr>
            <a:spLocks noGrp="1" noChangeArrowheads="1"/>
          </p:cNvSpPr>
          <p:nvPr>
            <p:ph type="title"/>
          </p:nvPr>
        </p:nvSpPr>
        <p:spPr/>
        <p:txBody>
          <a:bodyPr/>
          <a:lstStyle/>
          <a:p>
            <a:r>
              <a:rPr lang="en-US"/>
              <a:t>Combining Status</a:t>
            </a:r>
          </a:p>
        </p:txBody>
      </p:sp>
      <p:sp>
        <p:nvSpPr>
          <p:cNvPr id="32774" name="Text Box 5"/>
          <p:cNvSpPr txBox="1">
            <a:spLocks noChangeArrowheads="1"/>
          </p:cNvSpPr>
          <p:nvPr/>
        </p:nvSpPr>
        <p:spPr bwMode="auto">
          <a:xfrm>
            <a:off x="1582738" y="4876800"/>
            <a:ext cx="5681662"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1</a:t>
            </a:r>
            <a:r>
              <a:rPr lang="en-US" sz="2800" baseline="30000" dirty="0">
                <a:solidFill>
                  <a:srgbClr val="FF0000"/>
                </a:solidFill>
                <a:latin typeface="Arial" pitchFamily="34" charset="0"/>
                <a:cs typeface="Arial" pitchFamily="34" charset="0"/>
              </a:rPr>
              <a:t>st</a:t>
            </a:r>
            <a:r>
              <a:rPr lang="en-US" sz="2800" dirty="0">
                <a:solidFill>
                  <a:srgbClr val="FF0000"/>
                </a:solidFill>
                <a:latin typeface="Arial" pitchFamily="34" charset="0"/>
                <a:cs typeface="Arial" pitchFamily="34" charset="0"/>
              </a:rPr>
              <a:t> thread has deposited result for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a:t>
            </a:r>
          </a:p>
        </p:txBody>
      </p:sp>
      <p:sp>
        <p:nvSpPr>
          <p:cNvPr id="32775" name="AutoShape 4"/>
          <p:cNvSpPr>
            <a:spLocks noChangeArrowheads="1"/>
          </p:cNvSpPr>
          <p:nvPr/>
        </p:nvSpPr>
        <p:spPr bwMode="auto">
          <a:xfrm>
            <a:off x="5605463" y="2535238"/>
            <a:ext cx="1658937" cy="477837"/>
          </a:xfrm>
          <a:prstGeom prst="wedgeRoundRectCallout">
            <a:avLst>
              <a:gd name="adj1" fmla="val -135736"/>
              <a:gd name="adj2" fmla="val 422426"/>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801" name="Rectangle 3"/>
          <p:cNvSpPr>
            <a:spLocks noChangeArrowheads="1"/>
          </p:cNvSpPr>
          <p:nvPr/>
        </p:nvSpPr>
        <p:spPr bwMode="auto">
          <a:xfrm>
            <a:off x="947738" y="1981200"/>
            <a:ext cx="7891462" cy="1544638"/>
          </a:xfrm>
          <a:prstGeom prst="rect">
            <a:avLst/>
          </a:prstGeom>
          <a:solidFill>
            <a:srgbClr val="FFFFCC"/>
          </a:solidFill>
          <a:ln w="9525">
            <a:noFill/>
            <a:miter lim="800000"/>
            <a:headEnd/>
            <a:tailEnd/>
          </a:ln>
        </p:spPr>
        <p:txBody>
          <a:bodyPr>
            <a:spAutoFit/>
          </a:bodyPr>
          <a:lstStyle/>
          <a:p>
            <a:pPr marL="342900" indent="-342900"/>
            <a:r>
              <a:rPr lang="en-US" sz="2800" dirty="0" err="1">
                <a:solidFill>
                  <a:schemeClr val="folHlink"/>
                </a:solidFill>
                <a:latin typeface="Courier New" pitchFamily="49" charset="0"/>
              </a:rPr>
              <a:t>enum</a:t>
            </a:r>
            <a:r>
              <a:rPr lang="en-US" sz="2800" dirty="0">
                <a:solidFill>
                  <a:schemeClr val="folHlink"/>
                </a:solidFill>
                <a:latin typeface="Courier New" pitchFamily="49" charset="0"/>
              </a:rPr>
              <a:t> </a:t>
            </a:r>
            <a:r>
              <a:rPr lang="en-US" sz="2800" dirty="0" err="1">
                <a:solidFill>
                  <a:schemeClr val="folHlink"/>
                </a:solidFill>
                <a:latin typeface="Courier New" pitchFamily="49" charset="0"/>
              </a:rPr>
              <a:t>CStatus</a:t>
            </a:r>
            <a:r>
              <a:rPr lang="en-US" sz="2800" dirty="0">
                <a:solidFill>
                  <a:schemeClr val="folHlink"/>
                </a:solidFill>
                <a:latin typeface="Courier New" pitchFamily="49" charset="0"/>
              </a:rPr>
              <a:t>{</a:t>
            </a:r>
          </a:p>
          <a:p>
            <a:pPr marL="342900" indent="-342900"/>
            <a:r>
              <a:rPr lang="en-US" sz="2800" dirty="0">
                <a:solidFill>
                  <a:schemeClr val="folHlink"/>
                </a:solidFill>
                <a:latin typeface="Courier New" pitchFamily="49" charset="0"/>
              </a:rPr>
              <a:t> IDLE, FIRST, SECOND, RESULT,</a:t>
            </a:r>
            <a:r>
              <a:rPr lang="en-US" sz="2800" dirty="0">
                <a:latin typeface="Courier New" pitchFamily="49" charset="0"/>
              </a:rPr>
              <a:t> ROOT</a:t>
            </a:r>
          </a:p>
          <a:p>
            <a:pPr marL="342900" indent="-342900"/>
            <a:r>
              <a:rPr lang="en-US" sz="2800" dirty="0">
                <a:latin typeface="Courier New" pitchFamily="49" charset="0"/>
              </a:rPr>
              <a:t> </a:t>
            </a:r>
            <a:r>
              <a:rPr lang="en-US" sz="2800" dirty="0">
                <a:solidFill>
                  <a:schemeClr val="folHlink"/>
                </a:solidFill>
                <a:latin typeface="Courier New" pitchFamily="49" charset="0"/>
              </a:rPr>
              <a:t>};</a:t>
            </a:r>
          </a:p>
        </p:txBody>
      </p:sp>
      <p:sp>
        <p:nvSpPr>
          <p:cNvPr id="33798" name="AutoShape 4"/>
          <p:cNvSpPr>
            <a:spLocks noChangeArrowheads="1"/>
          </p:cNvSpPr>
          <p:nvPr/>
        </p:nvSpPr>
        <p:spPr bwMode="auto">
          <a:xfrm>
            <a:off x="7300913" y="2459038"/>
            <a:ext cx="1157287" cy="477837"/>
          </a:xfrm>
          <a:prstGeom prst="wedgeRoundRectCallout">
            <a:avLst>
              <a:gd name="adj1" fmla="val -245338"/>
              <a:gd name="adj2" fmla="val 537375"/>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647E17A0-FD6D-49FA-A38C-0D0CAB2B2E2D}" type="slidenum">
              <a:rPr lang="en-US"/>
              <a:pPr>
                <a:defRPr/>
              </a:pPr>
              <a:t>30</a:t>
            </a:fld>
            <a:endParaRPr lang="en-US"/>
          </a:p>
        </p:txBody>
      </p:sp>
      <p:sp>
        <p:nvSpPr>
          <p:cNvPr id="33796" name="Rectangle 2"/>
          <p:cNvSpPr>
            <a:spLocks noGrp="1" noChangeArrowheads="1"/>
          </p:cNvSpPr>
          <p:nvPr>
            <p:ph type="title"/>
          </p:nvPr>
        </p:nvSpPr>
        <p:spPr/>
        <p:txBody>
          <a:bodyPr/>
          <a:lstStyle/>
          <a:p>
            <a:r>
              <a:rPr lang="en-US"/>
              <a:t>Combining Status</a:t>
            </a:r>
          </a:p>
        </p:txBody>
      </p:sp>
      <p:sp>
        <p:nvSpPr>
          <p:cNvPr id="33799" name="Text Box 5"/>
          <p:cNvSpPr txBox="1">
            <a:spLocks noChangeArrowheads="1"/>
          </p:cNvSpPr>
          <p:nvPr/>
        </p:nvSpPr>
        <p:spPr bwMode="auto">
          <a:xfrm>
            <a:off x="2689225" y="5394325"/>
            <a:ext cx="4343400" cy="519113"/>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Special case: root node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18DF87A-0C93-4C9D-A5CF-36548AAFA800}" type="slidenum">
              <a:rPr lang="en-US"/>
              <a:pPr>
                <a:defRPr/>
              </a:pPr>
              <a:t>31</a:t>
            </a:fld>
            <a:endParaRPr lang="en-US"/>
          </a:p>
        </p:txBody>
      </p:sp>
      <p:sp>
        <p:nvSpPr>
          <p:cNvPr id="34820" name="Rectangle 2"/>
          <p:cNvSpPr>
            <a:spLocks noGrp="1" noChangeArrowheads="1"/>
          </p:cNvSpPr>
          <p:nvPr>
            <p:ph type="title"/>
          </p:nvPr>
        </p:nvSpPr>
        <p:spPr/>
        <p:txBody>
          <a:bodyPr/>
          <a:lstStyle/>
          <a:p>
            <a:r>
              <a:rPr lang="en-US"/>
              <a:t>Node Synchronization</a:t>
            </a:r>
          </a:p>
        </p:txBody>
      </p:sp>
      <p:sp>
        <p:nvSpPr>
          <p:cNvPr id="34821" name="Rectangle 3"/>
          <p:cNvSpPr>
            <a:spLocks noGrp="1" noChangeArrowheads="1"/>
          </p:cNvSpPr>
          <p:nvPr>
            <p:ph type="body" idx="1"/>
          </p:nvPr>
        </p:nvSpPr>
        <p:spPr/>
        <p:txBody>
          <a:bodyPr/>
          <a:lstStyle/>
          <a:p>
            <a:pPr>
              <a:buNone/>
            </a:pPr>
            <a:r>
              <a:rPr lang="en-US" dirty="0"/>
              <a:t>Use “Meta Locking:”</a:t>
            </a:r>
          </a:p>
          <a:p>
            <a:r>
              <a:rPr lang="en-US" dirty="0"/>
              <a:t>Short-term</a:t>
            </a:r>
          </a:p>
          <a:p>
            <a:pPr lvl="1"/>
            <a:r>
              <a:rPr lang="en-US" dirty="0"/>
              <a:t>Synchronized methods</a:t>
            </a:r>
          </a:p>
          <a:p>
            <a:pPr lvl="1"/>
            <a:r>
              <a:rPr lang="en-US" dirty="0"/>
              <a:t>Consistency during method call</a:t>
            </a:r>
          </a:p>
          <a:p>
            <a:r>
              <a:rPr lang="en-US" dirty="0"/>
              <a:t>Long-term</a:t>
            </a:r>
          </a:p>
          <a:p>
            <a:pPr lvl="1"/>
            <a:r>
              <a:rPr lang="en-US" dirty="0"/>
              <a:t>Boolean </a:t>
            </a:r>
            <a:r>
              <a:rPr lang="en-US" dirty="0">
                <a:solidFill>
                  <a:schemeClr val="tx1"/>
                </a:solidFill>
              </a:rPr>
              <a:t>locked</a:t>
            </a:r>
            <a:r>
              <a:rPr lang="en-US" dirty="0"/>
              <a:t> field</a:t>
            </a:r>
          </a:p>
          <a:p>
            <a:pPr lvl="1"/>
            <a:r>
              <a:rPr lang="en-US" dirty="0"/>
              <a:t>Consistency across calls</a:t>
            </a:r>
            <a:endParaRPr lang="en-US" b="1" dirty="0">
              <a:latin typeface="Courier New"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1EB0D8A-1FC3-4FFE-922A-40A1F77A91F2}" type="slidenum">
              <a:rPr lang="en-US"/>
              <a:pPr>
                <a:defRPr/>
              </a:pPr>
              <a:t>32</a:t>
            </a:fld>
            <a:endParaRPr lang="en-US"/>
          </a:p>
        </p:txBody>
      </p:sp>
      <p:sp>
        <p:nvSpPr>
          <p:cNvPr id="35844" name="Rectangle 2"/>
          <p:cNvSpPr>
            <a:spLocks noGrp="1" noChangeArrowheads="1"/>
          </p:cNvSpPr>
          <p:nvPr>
            <p:ph type="title"/>
          </p:nvPr>
        </p:nvSpPr>
        <p:spPr/>
        <p:txBody>
          <a:bodyPr/>
          <a:lstStyle/>
          <a:p>
            <a:r>
              <a:rPr lang="en-US"/>
              <a:t>Phases</a:t>
            </a:r>
          </a:p>
        </p:txBody>
      </p:sp>
      <p:sp>
        <p:nvSpPr>
          <p:cNvPr id="35845" name="Rectangle 3"/>
          <p:cNvSpPr>
            <a:spLocks noGrp="1" noChangeArrowheads="1"/>
          </p:cNvSpPr>
          <p:nvPr>
            <p:ph type="body" idx="1"/>
          </p:nvPr>
        </p:nvSpPr>
        <p:spPr/>
        <p:txBody>
          <a:bodyPr/>
          <a:lstStyle/>
          <a:p>
            <a:r>
              <a:rPr lang="en-US"/>
              <a:t>Precombining</a:t>
            </a:r>
          </a:p>
          <a:p>
            <a:pPr lvl="1"/>
            <a:r>
              <a:rPr lang="en-US"/>
              <a:t>Set up combining rendez-vous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3124200" y="6248400"/>
            <a:ext cx="2895600" cy="457200"/>
          </a:xfrm>
          <a:prstGeom prst="rect">
            <a:avLst/>
          </a:prstGeom>
          <a:noFill/>
          <a:ln>
            <a:miter lim="800000"/>
            <a:headEnd/>
            <a:tailEnd/>
          </a:ln>
        </p:spPr>
        <p:txBody>
          <a:bodyPr/>
          <a:lstStyle/>
          <a:p>
            <a:pPr algn="ctr">
              <a:spcBef>
                <a:spcPct val="0"/>
              </a:spcBef>
              <a:defRPr/>
            </a:pPr>
            <a:r>
              <a:rPr lang="en-US" sz="1400" b="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9B85EE98-B9C4-4058-8CEB-5F52F005B326}" type="slidenum">
              <a:rPr lang="en-US" sz="1400" b="0">
                <a:solidFill>
                  <a:schemeClr val="tx1"/>
                </a:solidFill>
                <a:latin typeface="Arial" pitchFamily="34" charset="0"/>
              </a:rPr>
              <a:pPr algn="r">
                <a:spcBef>
                  <a:spcPct val="0"/>
                </a:spcBef>
                <a:defRPr/>
              </a:pPr>
              <a:t>33</a:t>
            </a:fld>
            <a:endParaRPr lang="en-US" sz="1400" b="0" dirty="0">
              <a:solidFill>
                <a:schemeClr val="tx1"/>
              </a:solidFill>
              <a:latin typeface="Arial" pitchFamily="34" charset="0"/>
            </a:endParaRPr>
          </a:p>
        </p:txBody>
      </p:sp>
      <p:sp>
        <p:nvSpPr>
          <p:cNvPr id="534532" name="Rectangle 2"/>
          <p:cNvSpPr>
            <a:spLocks noGrp="1" noChangeArrowheads="1"/>
          </p:cNvSpPr>
          <p:nvPr>
            <p:ph type="title" idx="4294967295"/>
          </p:nvPr>
        </p:nvSpPr>
        <p:spPr/>
        <p:txBody>
          <a:bodyPr/>
          <a:lstStyle/>
          <a:p>
            <a:r>
              <a:rPr lang="en-US"/>
              <a:t>Phases</a:t>
            </a:r>
          </a:p>
        </p:txBody>
      </p:sp>
      <p:sp>
        <p:nvSpPr>
          <p:cNvPr id="534533" name="Rectangle 3"/>
          <p:cNvSpPr>
            <a:spLocks noGrp="1" noChangeArrowheads="1"/>
          </p:cNvSpPr>
          <p:nvPr>
            <p:ph type="body" idx="4294967295"/>
          </p:nvPr>
        </p:nvSpPr>
        <p:spPr/>
        <p:txBody>
          <a:bodyPr/>
          <a:lstStyle/>
          <a:p>
            <a:r>
              <a:rPr lang="en-US">
                <a:solidFill>
                  <a:schemeClr val="bg2"/>
                </a:solidFill>
              </a:rPr>
              <a:t>Precombining</a:t>
            </a:r>
          </a:p>
          <a:p>
            <a:pPr lvl="1"/>
            <a:r>
              <a:rPr lang="en-US">
                <a:solidFill>
                  <a:schemeClr val="bg2"/>
                </a:solidFill>
              </a:rPr>
              <a:t>Set up combining rendez-vous</a:t>
            </a:r>
          </a:p>
          <a:p>
            <a:r>
              <a:rPr lang="en-US"/>
              <a:t>Combining</a:t>
            </a:r>
          </a:p>
          <a:p>
            <a:pPr lvl="1"/>
            <a:r>
              <a:rPr lang="en-US"/>
              <a:t>Collect and combine operations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3124200" y="6248400"/>
            <a:ext cx="2895600" cy="457200"/>
          </a:xfrm>
          <a:prstGeom prst="rect">
            <a:avLst/>
          </a:prstGeom>
          <a:noFill/>
          <a:ln>
            <a:miter lim="800000"/>
            <a:headEnd/>
            <a:tailEnd/>
          </a:ln>
        </p:spPr>
        <p:txBody>
          <a:bodyPr/>
          <a:lstStyle/>
          <a:p>
            <a:pPr algn="ctr">
              <a:spcBef>
                <a:spcPct val="0"/>
              </a:spcBef>
              <a:defRPr/>
            </a:pPr>
            <a:r>
              <a:rPr lang="en-US" sz="1400" b="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2C344ED1-112E-4CC5-8A96-63660CA08E5D}" type="slidenum">
              <a:rPr lang="en-US" sz="1400" b="0">
                <a:solidFill>
                  <a:schemeClr val="tx1"/>
                </a:solidFill>
                <a:latin typeface="Arial" pitchFamily="34" charset="0"/>
              </a:rPr>
              <a:pPr algn="r">
                <a:spcBef>
                  <a:spcPct val="0"/>
                </a:spcBef>
                <a:defRPr/>
              </a:pPr>
              <a:t>34</a:t>
            </a:fld>
            <a:endParaRPr lang="en-US" sz="1400" b="0" dirty="0">
              <a:solidFill>
                <a:schemeClr val="tx1"/>
              </a:solidFill>
              <a:latin typeface="Arial" pitchFamily="34" charset="0"/>
            </a:endParaRPr>
          </a:p>
        </p:txBody>
      </p:sp>
      <p:sp>
        <p:nvSpPr>
          <p:cNvPr id="532484" name="Rectangle 2"/>
          <p:cNvSpPr>
            <a:spLocks noGrp="1" noChangeArrowheads="1"/>
          </p:cNvSpPr>
          <p:nvPr>
            <p:ph type="title" idx="4294967295"/>
          </p:nvPr>
        </p:nvSpPr>
        <p:spPr/>
        <p:txBody>
          <a:bodyPr/>
          <a:lstStyle/>
          <a:p>
            <a:r>
              <a:rPr lang="en-US"/>
              <a:t>Phases</a:t>
            </a:r>
          </a:p>
        </p:txBody>
      </p:sp>
      <p:sp>
        <p:nvSpPr>
          <p:cNvPr id="532485" name="Rectangle 3"/>
          <p:cNvSpPr>
            <a:spLocks noGrp="1" noChangeArrowheads="1"/>
          </p:cNvSpPr>
          <p:nvPr>
            <p:ph type="body" idx="4294967295"/>
          </p:nvPr>
        </p:nvSpPr>
        <p:spPr/>
        <p:txBody>
          <a:bodyPr/>
          <a:lstStyle/>
          <a:p>
            <a:r>
              <a:rPr lang="en-US">
                <a:solidFill>
                  <a:schemeClr val="bg2"/>
                </a:solidFill>
              </a:rPr>
              <a:t>Precombining</a:t>
            </a:r>
          </a:p>
          <a:p>
            <a:pPr lvl="1"/>
            <a:r>
              <a:rPr lang="en-US">
                <a:solidFill>
                  <a:schemeClr val="bg2"/>
                </a:solidFill>
              </a:rPr>
              <a:t>Set up combining rendez-vous</a:t>
            </a:r>
          </a:p>
          <a:p>
            <a:r>
              <a:rPr lang="en-US">
                <a:solidFill>
                  <a:schemeClr val="bg2"/>
                </a:solidFill>
              </a:rPr>
              <a:t>Combining</a:t>
            </a:r>
          </a:p>
          <a:p>
            <a:pPr lvl="1"/>
            <a:r>
              <a:rPr lang="en-US">
                <a:solidFill>
                  <a:schemeClr val="bg2"/>
                </a:solidFill>
              </a:rPr>
              <a:t>Collect and combine operations</a:t>
            </a:r>
          </a:p>
          <a:p>
            <a:r>
              <a:rPr lang="en-US"/>
              <a:t>Operation</a:t>
            </a:r>
          </a:p>
          <a:p>
            <a:pPr lvl="1"/>
            <a:r>
              <a:rPr lang="en-US"/>
              <a:t>Hand off to higher thread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3124200" y="6248400"/>
            <a:ext cx="2895600" cy="457200"/>
          </a:xfrm>
          <a:prstGeom prst="rect">
            <a:avLst/>
          </a:prstGeom>
          <a:noFill/>
          <a:ln>
            <a:miter lim="800000"/>
            <a:headEnd/>
            <a:tailEnd/>
          </a:ln>
        </p:spPr>
        <p:txBody>
          <a:bodyPr/>
          <a:lstStyle/>
          <a:p>
            <a:pPr algn="ctr">
              <a:spcBef>
                <a:spcPct val="0"/>
              </a:spcBef>
              <a:defRPr/>
            </a:pPr>
            <a:r>
              <a:rPr lang="en-US" sz="1400" b="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F08F89BF-4DE0-4ACF-BD0D-4CAFFCF2B1E1}" type="slidenum">
              <a:rPr lang="en-US" sz="1400" b="0">
                <a:solidFill>
                  <a:schemeClr val="tx1"/>
                </a:solidFill>
                <a:latin typeface="Arial" pitchFamily="34" charset="0"/>
              </a:rPr>
              <a:pPr algn="r">
                <a:spcBef>
                  <a:spcPct val="0"/>
                </a:spcBef>
                <a:defRPr/>
              </a:pPr>
              <a:t>35</a:t>
            </a:fld>
            <a:endParaRPr lang="en-US" sz="1400" b="0" dirty="0">
              <a:solidFill>
                <a:schemeClr val="tx1"/>
              </a:solidFill>
              <a:latin typeface="Arial" pitchFamily="34" charset="0"/>
            </a:endParaRPr>
          </a:p>
        </p:txBody>
      </p:sp>
      <p:sp>
        <p:nvSpPr>
          <p:cNvPr id="536580" name="Rectangle 2"/>
          <p:cNvSpPr>
            <a:spLocks noGrp="1" noChangeArrowheads="1"/>
          </p:cNvSpPr>
          <p:nvPr>
            <p:ph type="title" idx="4294967295"/>
          </p:nvPr>
        </p:nvSpPr>
        <p:spPr/>
        <p:txBody>
          <a:bodyPr/>
          <a:lstStyle/>
          <a:p>
            <a:r>
              <a:rPr lang="en-US"/>
              <a:t>Phases</a:t>
            </a:r>
          </a:p>
        </p:txBody>
      </p:sp>
      <p:sp>
        <p:nvSpPr>
          <p:cNvPr id="536581" name="Rectangle 3"/>
          <p:cNvSpPr>
            <a:spLocks noGrp="1" noChangeArrowheads="1"/>
          </p:cNvSpPr>
          <p:nvPr>
            <p:ph type="body" idx="4294967295"/>
          </p:nvPr>
        </p:nvSpPr>
        <p:spPr/>
        <p:txBody>
          <a:bodyPr/>
          <a:lstStyle/>
          <a:p>
            <a:pPr>
              <a:lnSpc>
                <a:spcPct val="90000"/>
              </a:lnSpc>
            </a:pPr>
            <a:r>
              <a:rPr lang="en-US">
                <a:solidFill>
                  <a:schemeClr val="bg2"/>
                </a:solidFill>
              </a:rPr>
              <a:t>Precombining</a:t>
            </a:r>
          </a:p>
          <a:p>
            <a:pPr lvl="1">
              <a:lnSpc>
                <a:spcPct val="90000"/>
              </a:lnSpc>
            </a:pPr>
            <a:r>
              <a:rPr lang="en-US">
                <a:solidFill>
                  <a:schemeClr val="bg2"/>
                </a:solidFill>
              </a:rPr>
              <a:t>Set up combining rendez-vous</a:t>
            </a:r>
          </a:p>
          <a:p>
            <a:pPr>
              <a:lnSpc>
                <a:spcPct val="90000"/>
              </a:lnSpc>
            </a:pPr>
            <a:r>
              <a:rPr lang="en-US">
                <a:solidFill>
                  <a:schemeClr val="bg2"/>
                </a:solidFill>
              </a:rPr>
              <a:t>Combining</a:t>
            </a:r>
          </a:p>
          <a:p>
            <a:pPr lvl="1">
              <a:lnSpc>
                <a:spcPct val="90000"/>
              </a:lnSpc>
            </a:pPr>
            <a:r>
              <a:rPr lang="en-US">
                <a:solidFill>
                  <a:schemeClr val="bg2"/>
                </a:solidFill>
              </a:rPr>
              <a:t>Collect and combine operations</a:t>
            </a:r>
          </a:p>
          <a:p>
            <a:pPr>
              <a:lnSpc>
                <a:spcPct val="90000"/>
              </a:lnSpc>
            </a:pPr>
            <a:r>
              <a:rPr lang="en-US">
                <a:solidFill>
                  <a:schemeClr val="bg2"/>
                </a:solidFill>
              </a:rPr>
              <a:t>Operation</a:t>
            </a:r>
          </a:p>
          <a:p>
            <a:pPr lvl="1">
              <a:lnSpc>
                <a:spcPct val="90000"/>
              </a:lnSpc>
            </a:pPr>
            <a:r>
              <a:rPr lang="en-US">
                <a:solidFill>
                  <a:schemeClr val="bg2"/>
                </a:solidFill>
              </a:rPr>
              <a:t>Hand off to higher thread</a:t>
            </a:r>
          </a:p>
          <a:p>
            <a:pPr>
              <a:lnSpc>
                <a:spcPct val="90000"/>
              </a:lnSpc>
            </a:pPr>
            <a:r>
              <a:rPr lang="en-US"/>
              <a:t>Distribution</a:t>
            </a:r>
          </a:p>
          <a:p>
            <a:pPr lvl="1">
              <a:lnSpc>
                <a:spcPct val="90000"/>
              </a:lnSpc>
            </a:pPr>
            <a:r>
              <a:rPr lang="en-US"/>
              <a:t>Distribute results to waiting threads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ooter Placeholder 2"/>
          <p:cNvSpPr>
            <a:spLocks noGrp="1"/>
          </p:cNvSpPr>
          <p:nvPr>
            <p:ph type="ftr" sz="quarter" idx="10"/>
          </p:nvPr>
        </p:nvSpPr>
        <p:spPr/>
        <p:txBody>
          <a:bodyPr/>
          <a:lstStyle/>
          <a:p>
            <a:pPr>
              <a:defRPr/>
            </a:pPr>
            <a:r>
              <a:rPr lang="en-US"/>
              <a:t>Art of Multiprocessor Programming</a:t>
            </a:r>
          </a:p>
        </p:txBody>
      </p:sp>
      <p:sp>
        <p:nvSpPr>
          <p:cNvPr id="53" name="Slide Number Placeholder 3"/>
          <p:cNvSpPr>
            <a:spLocks noGrp="1"/>
          </p:cNvSpPr>
          <p:nvPr>
            <p:ph type="sldNum" sz="quarter" idx="11"/>
          </p:nvPr>
        </p:nvSpPr>
        <p:spPr/>
        <p:txBody>
          <a:bodyPr/>
          <a:lstStyle/>
          <a:p>
            <a:pPr>
              <a:defRPr/>
            </a:pPr>
            <a:fld id="{22491C14-34AA-416F-BC79-FB78FDF28D49}" type="slidenum">
              <a:rPr lang="en-US"/>
              <a:pPr>
                <a:defRPr/>
              </a:pPr>
              <a:t>36</a:t>
            </a:fld>
            <a:endParaRPr lang="en-US"/>
          </a:p>
        </p:txBody>
      </p:sp>
      <p:sp>
        <p:nvSpPr>
          <p:cNvPr id="36868" name="Rectangle 2"/>
          <p:cNvSpPr>
            <a:spLocks noGrp="1" noChangeArrowheads="1"/>
          </p:cNvSpPr>
          <p:nvPr>
            <p:ph type="title"/>
          </p:nvPr>
        </p:nvSpPr>
        <p:spPr/>
        <p:txBody>
          <a:bodyPr/>
          <a:lstStyle/>
          <a:p>
            <a:r>
              <a:rPr lang="en-US" sz="4000"/>
              <a:t>Precombining Phase</a:t>
            </a:r>
          </a:p>
        </p:txBody>
      </p:sp>
      <p:sp>
        <p:nvSpPr>
          <p:cNvPr id="36869"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a:solidFill>
                  <a:schemeClr val="accent1"/>
                </a:solidFill>
                <a:latin typeface="Arial" pitchFamily="34" charset="0"/>
                <a:cs typeface="Arial" pitchFamily="34" charset="0"/>
              </a:rPr>
              <a:t>0</a:t>
            </a:r>
          </a:p>
        </p:txBody>
      </p:sp>
      <p:sp>
        <p:nvSpPr>
          <p:cNvPr id="36870"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36871"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36872" name="Group 6"/>
          <p:cNvGrpSpPr>
            <a:grpSpLocks/>
          </p:cNvGrpSpPr>
          <p:nvPr/>
        </p:nvGrpSpPr>
        <p:grpSpPr bwMode="auto">
          <a:xfrm flipH="1">
            <a:off x="852488" y="4953000"/>
            <a:ext cx="1219200" cy="1090613"/>
            <a:chOff x="1584" y="816"/>
            <a:chExt cx="912" cy="816"/>
          </a:xfrm>
        </p:grpSpPr>
        <p:sp>
          <p:nvSpPr>
            <p:cNvPr id="36909"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0"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1"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2"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3"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4"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5"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6"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17"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6873" name="Group 16"/>
          <p:cNvGrpSpPr>
            <a:grpSpLocks/>
          </p:cNvGrpSpPr>
          <p:nvPr/>
        </p:nvGrpSpPr>
        <p:grpSpPr bwMode="auto">
          <a:xfrm>
            <a:off x="2925763" y="4953000"/>
            <a:ext cx="1219200" cy="1090613"/>
            <a:chOff x="1584" y="816"/>
            <a:chExt cx="912" cy="816"/>
          </a:xfrm>
        </p:grpSpPr>
        <p:sp>
          <p:nvSpPr>
            <p:cNvPr id="36900"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1"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2"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3"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4"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5"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6"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7"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908"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6874"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36875"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36876"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36877" name="Group 30"/>
          <p:cNvGrpSpPr>
            <a:grpSpLocks/>
          </p:cNvGrpSpPr>
          <p:nvPr/>
        </p:nvGrpSpPr>
        <p:grpSpPr bwMode="auto">
          <a:xfrm flipH="1">
            <a:off x="4999038" y="4953000"/>
            <a:ext cx="1219200" cy="1090613"/>
            <a:chOff x="1584" y="816"/>
            <a:chExt cx="912" cy="816"/>
          </a:xfrm>
        </p:grpSpPr>
        <p:sp>
          <p:nvSpPr>
            <p:cNvPr id="36891"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2"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3"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4"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5"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6"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7"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8"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9"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6878" name="Group 40"/>
          <p:cNvGrpSpPr>
            <a:grpSpLocks/>
          </p:cNvGrpSpPr>
          <p:nvPr/>
        </p:nvGrpSpPr>
        <p:grpSpPr bwMode="auto">
          <a:xfrm>
            <a:off x="7072313" y="4953000"/>
            <a:ext cx="1219200" cy="1090613"/>
            <a:chOff x="1584" y="816"/>
            <a:chExt cx="912" cy="816"/>
          </a:xfrm>
        </p:grpSpPr>
        <p:sp>
          <p:nvSpPr>
            <p:cNvPr id="36882"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3"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4"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5"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6"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7"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8"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89"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6890"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6879" name="Text Box 50"/>
          <p:cNvSpPr txBox="1">
            <a:spLocks noChangeArrowheads="1"/>
          </p:cNvSpPr>
          <p:nvPr/>
        </p:nvSpPr>
        <p:spPr bwMode="auto">
          <a:xfrm>
            <a:off x="3810000" y="4267200"/>
            <a:ext cx="4343400" cy="519113"/>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Examine status </a:t>
            </a:r>
          </a:p>
        </p:txBody>
      </p:sp>
      <p:sp>
        <p:nvSpPr>
          <p:cNvPr id="36880" name="AutoShape 51"/>
          <p:cNvSpPr>
            <a:spLocks noChangeArrowheads="1"/>
          </p:cNvSpPr>
          <p:nvPr/>
        </p:nvSpPr>
        <p:spPr bwMode="auto">
          <a:xfrm>
            <a:off x="1752600" y="3276600"/>
            <a:ext cx="2057400" cy="990600"/>
          </a:xfrm>
          <a:prstGeom prst="wedgeRoundRectCallout">
            <a:avLst>
              <a:gd name="adj1" fmla="val 80634"/>
              <a:gd name="adj2" fmla="val 58333"/>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36881" name="Text Box 52"/>
          <p:cNvSpPr txBox="1">
            <a:spLocks noChangeArrowheads="1"/>
          </p:cNvSpPr>
          <p:nvPr/>
        </p:nvSpPr>
        <p:spPr bwMode="auto">
          <a:xfrm>
            <a:off x="2373974" y="3429000"/>
            <a:ext cx="651139" cy="338554"/>
          </a:xfrm>
          <a:prstGeom prst="rect">
            <a:avLst/>
          </a:prstGeom>
          <a:no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IDLE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ooter Placeholder 2"/>
          <p:cNvSpPr>
            <a:spLocks noGrp="1"/>
          </p:cNvSpPr>
          <p:nvPr>
            <p:ph type="ftr" sz="quarter" idx="10"/>
          </p:nvPr>
        </p:nvSpPr>
        <p:spPr/>
        <p:txBody>
          <a:bodyPr/>
          <a:lstStyle/>
          <a:p>
            <a:pPr>
              <a:defRPr/>
            </a:pPr>
            <a:r>
              <a:rPr lang="en-US"/>
              <a:t>Art of Multiprocessor Programming</a:t>
            </a:r>
          </a:p>
        </p:txBody>
      </p:sp>
      <p:sp>
        <p:nvSpPr>
          <p:cNvPr id="53" name="Slide Number Placeholder 3"/>
          <p:cNvSpPr>
            <a:spLocks noGrp="1"/>
          </p:cNvSpPr>
          <p:nvPr>
            <p:ph type="sldNum" sz="quarter" idx="11"/>
          </p:nvPr>
        </p:nvSpPr>
        <p:spPr/>
        <p:txBody>
          <a:bodyPr/>
          <a:lstStyle/>
          <a:p>
            <a:pPr>
              <a:defRPr/>
            </a:pPr>
            <a:fld id="{E975AEE0-FF34-468A-A260-23940175C393}" type="slidenum">
              <a:rPr lang="en-US"/>
              <a:pPr>
                <a:defRPr/>
              </a:pPr>
              <a:t>37</a:t>
            </a:fld>
            <a:endParaRPr lang="en-US"/>
          </a:p>
        </p:txBody>
      </p:sp>
      <p:sp>
        <p:nvSpPr>
          <p:cNvPr id="37892" name="Rectangle 2"/>
          <p:cNvSpPr>
            <a:spLocks noGrp="1" noChangeArrowheads="1"/>
          </p:cNvSpPr>
          <p:nvPr>
            <p:ph type="title"/>
          </p:nvPr>
        </p:nvSpPr>
        <p:spPr/>
        <p:txBody>
          <a:bodyPr/>
          <a:lstStyle/>
          <a:p>
            <a:r>
              <a:rPr lang="en-US" sz="4000"/>
              <a:t>Precombining Phase</a:t>
            </a:r>
          </a:p>
        </p:txBody>
      </p:sp>
      <p:sp>
        <p:nvSpPr>
          <p:cNvPr id="37893"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a:solidFill>
                  <a:schemeClr val="accent1"/>
                </a:solidFill>
                <a:latin typeface="Arial" pitchFamily="34" charset="0"/>
                <a:cs typeface="Arial" pitchFamily="34" charset="0"/>
              </a:rPr>
              <a:t>0</a:t>
            </a:r>
          </a:p>
        </p:txBody>
      </p:sp>
      <p:sp>
        <p:nvSpPr>
          <p:cNvPr id="37894"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r>
              <a:rPr lang="en-US" sz="2800">
                <a:solidFill>
                  <a:schemeClr val="folHlink"/>
                </a:solidFill>
                <a:latin typeface="Arial" pitchFamily="34" charset="0"/>
                <a:cs typeface="Arial" pitchFamily="34" charset="0"/>
              </a:rPr>
              <a:t>0</a:t>
            </a:r>
          </a:p>
        </p:txBody>
      </p:sp>
      <p:sp>
        <p:nvSpPr>
          <p:cNvPr id="37895"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37896" name="Group 6"/>
          <p:cNvGrpSpPr>
            <a:grpSpLocks/>
          </p:cNvGrpSpPr>
          <p:nvPr/>
        </p:nvGrpSpPr>
        <p:grpSpPr bwMode="auto">
          <a:xfrm flipH="1">
            <a:off x="852488" y="4953000"/>
            <a:ext cx="1219200" cy="1090613"/>
            <a:chOff x="1584" y="816"/>
            <a:chExt cx="912" cy="816"/>
          </a:xfrm>
        </p:grpSpPr>
        <p:sp>
          <p:nvSpPr>
            <p:cNvPr id="3793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5"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9"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40"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41"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7897" name="Group 16"/>
          <p:cNvGrpSpPr>
            <a:grpSpLocks/>
          </p:cNvGrpSpPr>
          <p:nvPr/>
        </p:nvGrpSpPr>
        <p:grpSpPr bwMode="auto">
          <a:xfrm>
            <a:off x="2925763" y="4953000"/>
            <a:ext cx="1219200" cy="1090613"/>
            <a:chOff x="1584" y="816"/>
            <a:chExt cx="912" cy="816"/>
          </a:xfrm>
        </p:grpSpPr>
        <p:sp>
          <p:nvSpPr>
            <p:cNvPr id="37924"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5"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6"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7"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8"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9"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0"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1"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32"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7898"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37899"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37900"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37901" name="Group 30"/>
          <p:cNvGrpSpPr>
            <a:grpSpLocks/>
          </p:cNvGrpSpPr>
          <p:nvPr/>
        </p:nvGrpSpPr>
        <p:grpSpPr bwMode="auto">
          <a:xfrm flipH="1">
            <a:off x="4999038" y="4953000"/>
            <a:ext cx="1219200" cy="1090613"/>
            <a:chOff x="1584" y="816"/>
            <a:chExt cx="912" cy="816"/>
          </a:xfrm>
        </p:grpSpPr>
        <p:sp>
          <p:nvSpPr>
            <p:cNvPr id="37915"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6"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7"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8"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9"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0"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1"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2"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23"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7902" name="Group 40"/>
          <p:cNvGrpSpPr>
            <a:grpSpLocks/>
          </p:cNvGrpSpPr>
          <p:nvPr/>
        </p:nvGrpSpPr>
        <p:grpSpPr bwMode="auto">
          <a:xfrm>
            <a:off x="7072313" y="4953000"/>
            <a:ext cx="1219200" cy="1090613"/>
            <a:chOff x="1584" y="816"/>
            <a:chExt cx="912" cy="816"/>
          </a:xfrm>
        </p:grpSpPr>
        <p:sp>
          <p:nvSpPr>
            <p:cNvPr id="37906"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07"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08"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09"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0"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1"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2"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3"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7914"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7903" name="Text Box 50"/>
          <p:cNvSpPr txBox="1">
            <a:spLocks noChangeArrowheads="1"/>
          </p:cNvSpPr>
          <p:nvPr/>
        </p:nvSpPr>
        <p:spPr bwMode="auto">
          <a:xfrm>
            <a:off x="4302125" y="3429000"/>
            <a:ext cx="4519613" cy="954107"/>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If IDLE, promise to return to look for partner </a:t>
            </a:r>
          </a:p>
        </p:txBody>
      </p:sp>
      <p:sp>
        <p:nvSpPr>
          <p:cNvPr id="37904" name="AutoShape 51"/>
          <p:cNvSpPr>
            <a:spLocks noChangeArrowheads="1"/>
          </p:cNvSpPr>
          <p:nvPr/>
        </p:nvSpPr>
        <p:spPr bwMode="auto">
          <a:xfrm>
            <a:off x="1752600" y="3276600"/>
            <a:ext cx="2057400" cy="990600"/>
          </a:xfrm>
          <a:prstGeom prst="wedgeRoundRectCallout">
            <a:avLst>
              <a:gd name="adj1" fmla="val 86111"/>
              <a:gd name="adj2" fmla="val 27403"/>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37905" name="Text Box 52"/>
          <p:cNvSpPr txBox="1">
            <a:spLocks noChangeArrowheads="1"/>
          </p:cNvSpPr>
          <p:nvPr/>
        </p:nvSpPr>
        <p:spPr bwMode="auto">
          <a:xfrm>
            <a:off x="2312251" y="3429000"/>
            <a:ext cx="776174" cy="338554"/>
          </a:xfrm>
          <a:prstGeom prst="rect">
            <a:avLst/>
          </a:prstGeom>
          <a:noFill/>
          <a:ln w="38100" algn="ctr">
            <a:noFill/>
            <a:miter lim="800000"/>
            <a:headEnd/>
            <a:tailEnd/>
          </a:ln>
        </p:spPr>
        <p:txBody>
          <a:bodyPr wrap="none">
            <a:spAutoFit/>
          </a:bodyPr>
          <a:lstStyle/>
          <a:p>
            <a:pPr algn="ctr">
              <a:spcBef>
                <a:spcPct val="0"/>
              </a:spcBef>
            </a:pPr>
            <a:r>
              <a:rPr lang="en-US" sz="1600">
                <a:latin typeface="Arial" pitchFamily="34" charset="0"/>
                <a:cs typeface="Arial" pitchFamily="34" charset="0"/>
              </a:rPr>
              <a:t>FIRST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ooter Placeholder 2"/>
          <p:cNvSpPr>
            <a:spLocks noGrp="1"/>
          </p:cNvSpPr>
          <p:nvPr>
            <p:ph type="ftr" sz="quarter" idx="10"/>
          </p:nvPr>
        </p:nvSpPr>
        <p:spPr/>
        <p:txBody>
          <a:bodyPr/>
          <a:lstStyle/>
          <a:p>
            <a:pPr>
              <a:defRPr/>
            </a:pPr>
            <a:r>
              <a:rPr lang="en-US"/>
              <a:t>Art of Multiprocessor Programming</a:t>
            </a:r>
          </a:p>
        </p:txBody>
      </p:sp>
      <p:sp>
        <p:nvSpPr>
          <p:cNvPr id="54" name="Slide Number Placeholder 3"/>
          <p:cNvSpPr>
            <a:spLocks noGrp="1"/>
          </p:cNvSpPr>
          <p:nvPr>
            <p:ph type="sldNum" sz="quarter" idx="11"/>
          </p:nvPr>
        </p:nvSpPr>
        <p:spPr/>
        <p:txBody>
          <a:bodyPr/>
          <a:lstStyle/>
          <a:p>
            <a:pPr>
              <a:defRPr/>
            </a:pPr>
            <a:fld id="{0397E9A5-2F61-42AA-8607-13A8626F6653}" type="slidenum">
              <a:rPr lang="en-US"/>
              <a:pPr>
                <a:defRPr/>
              </a:pPr>
              <a:t>38</a:t>
            </a:fld>
            <a:endParaRPr lang="en-US"/>
          </a:p>
        </p:txBody>
      </p:sp>
      <p:sp>
        <p:nvSpPr>
          <p:cNvPr id="38916" name="Rectangle 2"/>
          <p:cNvSpPr>
            <a:spLocks noGrp="1" noChangeArrowheads="1"/>
          </p:cNvSpPr>
          <p:nvPr>
            <p:ph type="title"/>
          </p:nvPr>
        </p:nvSpPr>
        <p:spPr/>
        <p:txBody>
          <a:bodyPr/>
          <a:lstStyle/>
          <a:p>
            <a:r>
              <a:rPr lang="en-US" sz="4000"/>
              <a:t>Precombining Phase</a:t>
            </a:r>
          </a:p>
        </p:txBody>
      </p:sp>
      <p:sp>
        <p:nvSpPr>
          <p:cNvPr id="38918"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38919"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38920" name="Group 6"/>
          <p:cNvGrpSpPr>
            <a:grpSpLocks/>
          </p:cNvGrpSpPr>
          <p:nvPr/>
        </p:nvGrpSpPr>
        <p:grpSpPr bwMode="auto">
          <a:xfrm flipH="1">
            <a:off x="852488" y="4953000"/>
            <a:ext cx="1219200" cy="1090613"/>
            <a:chOff x="1584" y="816"/>
            <a:chExt cx="912" cy="816"/>
          </a:xfrm>
        </p:grpSpPr>
        <p:sp>
          <p:nvSpPr>
            <p:cNvPr id="38958"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9"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60"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61"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62"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63"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64"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65"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66"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8921" name="Group 16"/>
          <p:cNvGrpSpPr>
            <a:grpSpLocks/>
          </p:cNvGrpSpPr>
          <p:nvPr/>
        </p:nvGrpSpPr>
        <p:grpSpPr bwMode="auto">
          <a:xfrm>
            <a:off x="2925763" y="4953000"/>
            <a:ext cx="1219200" cy="1090613"/>
            <a:chOff x="1584" y="816"/>
            <a:chExt cx="912" cy="816"/>
          </a:xfrm>
        </p:grpSpPr>
        <p:sp>
          <p:nvSpPr>
            <p:cNvPr id="38949"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0"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1"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2"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3"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4"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5"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6"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57"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8922"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38923"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38924"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38925" name="Group 30"/>
          <p:cNvGrpSpPr>
            <a:grpSpLocks/>
          </p:cNvGrpSpPr>
          <p:nvPr/>
        </p:nvGrpSpPr>
        <p:grpSpPr bwMode="auto">
          <a:xfrm flipH="1">
            <a:off x="4999038" y="4953000"/>
            <a:ext cx="1219200" cy="1090613"/>
            <a:chOff x="1584" y="816"/>
            <a:chExt cx="912" cy="816"/>
          </a:xfrm>
        </p:grpSpPr>
        <p:sp>
          <p:nvSpPr>
            <p:cNvPr id="38940"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41"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42"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43"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44"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45"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46"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47"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48"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8926" name="Group 40"/>
          <p:cNvGrpSpPr>
            <a:grpSpLocks/>
          </p:cNvGrpSpPr>
          <p:nvPr/>
        </p:nvGrpSpPr>
        <p:grpSpPr bwMode="auto">
          <a:xfrm>
            <a:off x="7072313" y="4953000"/>
            <a:ext cx="1219200" cy="1090613"/>
            <a:chOff x="1584" y="816"/>
            <a:chExt cx="912" cy="816"/>
          </a:xfrm>
        </p:grpSpPr>
        <p:sp>
          <p:nvSpPr>
            <p:cNvPr id="38931"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32"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33"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34"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35"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36"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37"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38"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939"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8927" name="Text Box 50"/>
          <p:cNvSpPr txBox="1">
            <a:spLocks noChangeArrowheads="1"/>
          </p:cNvSpPr>
          <p:nvPr/>
        </p:nvSpPr>
        <p:spPr bwMode="auto">
          <a:xfrm>
            <a:off x="5256213" y="1450975"/>
            <a:ext cx="3201987" cy="946150"/>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At ROOT,turn back </a:t>
            </a:r>
          </a:p>
        </p:txBody>
      </p:sp>
      <p:sp>
        <p:nvSpPr>
          <p:cNvPr id="38928" name="AutoShape 51"/>
          <p:cNvSpPr>
            <a:spLocks noChangeArrowheads="1"/>
          </p:cNvSpPr>
          <p:nvPr/>
        </p:nvSpPr>
        <p:spPr bwMode="auto">
          <a:xfrm>
            <a:off x="3479800" y="1909763"/>
            <a:ext cx="2057400" cy="990600"/>
          </a:xfrm>
          <a:prstGeom prst="wedgeRoundRectCallout">
            <a:avLst>
              <a:gd name="adj1" fmla="val 81481"/>
              <a:gd name="adj2" fmla="val -46315"/>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38929" name="Text Box 52"/>
          <p:cNvSpPr txBox="1">
            <a:spLocks noChangeArrowheads="1"/>
          </p:cNvSpPr>
          <p:nvPr/>
        </p:nvSpPr>
        <p:spPr bwMode="auto">
          <a:xfrm>
            <a:off x="2312251" y="3429000"/>
            <a:ext cx="776174" cy="338554"/>
          </a:xfrm>
          <a:prstGeom prst="rect">
            <a:avLst/>
          </a:prstGeom>
          <a:noFill/>
          <a:ln w="38100" algn="ctr">
            <a:noFill/>
            <a:miter lim="800000"/>
            <a:headEnd/>
            <a:tailEnd/>
          </a:ln>
        </p:spPr>
        <p:txBody>
          <a:bodyPr wrap="none">
            <a:spAutoFit/>
          </a:bodyPr>
          <a:lstStyle/>
          <a:p>
            <a:pPr algn="ctr">
              <a:spcBef>
                <a:spcPct val="0"/>
              </a:spcBef>
            </a:pPr>
            <a:r>
              <a:rPr lang="en-US" sz="1600">
                <a:latin typeface="Arial" pitchFamily="34" charset="0"/>
                <a:cs typeface="Arial" pitchFamily="34" charset="0"/>
              </a:rPr>
              <a:t>FIRST</a:t>
            </a:r>
          </a:p>
        </p:txBody>
      </p:sp>
      <p:sp>
        <p:nvSpPr>
          <p:cNvPr id="38930" name="Freeform 53"/>
          <p:cNvSpPr>
            <a:spLocks/>
          </p:cNvSpPr>
          <p:nvPr/>
        </p:nvSpPr>
        <p:spPr bwMode="auto">
          <a:xfrm>
            <a:off x="3182938" y="2743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38917"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a:solidFill>
                  <a:schemeClr val="accent1"/>
                </a:solidFill>
                <a:latin typeface="Arial" pitchFamily="34" charset="0"/>
                <a:cs typeface="Arial" pitchFamily="34" charset="0"/>
              </a:rPr>
              <a:t>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ooter Placeholder 2"/>
          <p:cNvSpPr>
            <a:spLocks noGrp="1"/>
          </p:cNvSpPr>
          <p:nvPr>
            <p:ph type="ftr" sz="quarter" idx="10"/>
          </p:nvPr>
        </p:nvSpPr>
        <p:spPr/>
        <p:txBody>
          <a:bodyPr/>
          <a:lstStyle/>
          <a:p>
            <a:pPr>
              <a:defRPr/>
            </a:pPr>
            <a:r>
              <a:rPr lang="en-US"/>
              <a:t>Art of Multiprocessor Programming</a:t>
            </a:r>
          </a:p>
        </p:txBody>
      </p:sp>
      <p:sp>
        <p:nvSpPr>
          <p:cNvPr id="50" name="Slide Number Placeholder 3"/>
          <p:cNvSpPr>
            <a:spLocks noGrp="1"/>
          </p:cNvSpPr>
          <p:nvPr>
            <p:ph type="sldNum" sz="quarter" idx="11"/>
          </p:nvPr>
        </p:nvSpPr>
        <p:spPr/>
        <p:txBody>
          <a:bodyPr/>
          <a:lstStyle/>
          <a:p>
            <a:pPr>
              <a:defRPr/>
            </a:pPr>
            <a:fld id="{DD014C09-2F6D-4C8F-A3CC-E2899B3DBC2F}" type="slidenum">
              <a:rPr lang="en-US"/>
              <a:pPr>
                <a:defRPr/>
              </a:pPr>
              <a:t>39</a:t>
            </a:fld>
            <a:endParaRPr lang="en-US"/>
          </a:p>
        </p:txBody>
      </p:sp>
      <p:sp>
        <p:nvSpPr>
          <p:cNvPr id="39940" name="Rectangle 2"/>
          <p:cNvSpPr>
            <a:spLocks noGrp="1" noChangeArrowheads="1"/>
          </p:cNvSpPr>
          <p:nvPr>
            <p:ph type="title"/>
          </p:nvPr>
        </p:nvSpPr>
        <p:spPr/>
        <p:txBody>
          <a:bodyPr/>
          <a:lstStyle/>
          <a:p>
            <a:r>
              <a:rPr lang="en-US" sz="4000"/>
              <a:t>Precombining Phase</a:t>
            </a:r>
          </a:p>
        </p:txBody>
      </p:sp>
      <p:sp>
        <p:nvSpPr>
          <p:cNvPr id="39941"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a:solidFill>
                  <a:schemeClr val="accent1"/>
                </a:solidFill>
                <a:latin typeface="Arial" pitchFamily="34" charset="0"/>
                <a:cs typeface="Arial" pitchFamily="34" charset="0"/>
              </a:rPr>
              <a:t>0</a:t>
            </a:r>
          </a:p>
        </p:txBody>
      </p:sp>
      <p:sp>
        <p:nvSpPr>
          <p:cNvPr id="39942"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39943"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39944" name="Group 6"/>
          <p:cNvGrpSpPr>
            <a:grpSpLocks/>
          </p:cNvGrpSpPr>
          <p:nvPr/>
        </p:nvGrpSpPr>
        <p:grpSpPr bwMode="auto">
          <a:xfrm flipH="1">
            <a:off x="852488" y="4953000"/>
            <a:ext cx="1219200" cy="1090613"/>
            <a:chOff x="1584" y="816"/>
            <a:chExt cx="912" cy="816"/>
          </a:xfrm>
        </p:grpSpPr>
        <p:sp>
          <p:nvSpPr>
            <p:cNvPr id="39978"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9"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80"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81"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82"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83"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84"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85"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86"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9945" name="Group 16"/>
          <p:cNvGrpSpPr>
            <a:grpSpLocks/>
          </p:cNvGrpSpPr>
          <p:nvPr/>
        </p:nvGrpSpPr>
        <p:grpSpPr bwMode="auto">
          <a:xfrm>
            <a:off x="2925763" y="4953000"/>
            <a:ext cx="1219200" cy="1090613"/>
            <a:chOff x="1584" y="816"/>
            <a:chExt cx="912" cy="816"/>
          </a:xfrm>
        </p:grpSpPr>
        <p:sp>
          <p:nvSpPr>
            <p:cNvPr id="39969"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0"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1"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2"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3"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4"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5"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6"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77"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9946"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39947"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39948" name="Group 30"/>
          <p:cNvGrpSpPr>
            <a:grpSpLocks/>
          </p:cNvGrpSpPr>
          <p:nvPr/>
        </p:nvGrpSpPr>
        <p:grpSpPr bwMode="auto">
          <a:xfrm flipH="1">
            <a:off x="4999038" y="4953000"/>
            <a:ext cx="1219200" cy="1090613"/>
            <a:chOff x="1584" y="816"/>
            <a:chExt cx="912" cy="816"/>
          </a:xfrm>
        </p:grpSpPr>
        <p:sp>
          <p:nvSpPr>
            <p:cNvPr id="39960"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61"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62"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63"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64"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65"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66"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67"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68"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9949" name="Group 40"/>
          <p:cNvGrpSpPr>
            <a:grpSpLocks/>
          </p:cNvGrpSpPr>
          <p:nvPr/>
        </p:nvGrpSpPr>
        <p:grpSpPr bwMode="auto">
          <a:xfrm>
            <a:off x="7072313" y="4953000"/>
            <a:ext cx="1219200" cy="1090613"/>
            <a:chOff x="1584" y="816"/>
            <a:chExt cx="912" cy="816"/>
          </a:xfrm>
        </p:grpSpPr>
        <p:sp>
          <p:nvSpPr>
            <p:cNvPr id="39951"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52"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53"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54"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55"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56"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57"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58"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959"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39950" name="Text Box 52"/>
          <p:cNvSpPr txBox="1">
            <a:spLocks noChangeArrowheads="1"/>
          </p:cNvSpPr>
          <p:nvPr/>
        </p:nvSpPr>
        <p:spPr bwMode="auto">
          <a:xfrm>
            <a:off x="2312251" y="3429000"/>
            <a:ext cx="776174" cy="338554"/>
          </a:xfrm>
          <a:prstGeom prst="rect">
            <a:avLst/>
          </a:prstGeom>
          <a:noFill/>
          <a:ln w="38100" algn="ctr">
            <a:noFill/>
            <a:miter lim="800000"/>
            <a:headEnd/>
            <a:tailEnd/>
          </a:ln>
        </p:spPr>
        <p:txBody>
          <a:bodyPr wrap="none">
            <a:spAutoFit/>
          </a:bodyPr>
          <a:lstStyle/>
          <a:p>
            <a:pPr algn="ctr">
              <a:spcBef>
                <a:spcPct val="0"/>
              </a:spcBef>
            </a:pPr>
            <a:r>
              <a:rPr lang="en-US" sz="1600">
                <a:latin typeface="Arial" pitchFamily="34" charset="0"/>
                <a:cs typeface="Arial" pitchFamily="34" charset="0"/>
              </a:rPr>
              <a:t>FIRST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ooter Placeholder 2"/>
          <p:cNvSpPr>
            <a:spLocks noGrp="1"/>
          </p:cNvSpPr>
          <p:nvPr>
            <p:ph type="ftr" sz="quarter" idx="10"/>
          </p:nvPr>
        </p:nvSpPr>
        <p:spPr/>
        <p:txBody>
          <a:bodyPr/>
          <a:lstStyle/>
          <a:p>
            <a:pPr>
              <a:defRPr/>
            </a:pPr>
            <a:r>
              <a:rPr lang="en-US"/>
              <a:t>Art of Multiprocessor Programming</a:t>
            </a:r>
          </a:p>
        </p:txBody>
      </p:sp>
      <p:sp>
        <p:nvSpPr>
          <p:cNvPr id="58" name="Slide Number Placeholder 3"/>
          <p:cNvSpPr>
            <a:spLocks noGrp="1"/>
          </p:cNvSpPr>
          <p:nvPr>
            <p:ph type="sldNum" sz="quarter" idx="11"/>
          </p:nvPr>
        </p:nvSpPr>
        <p:spPr/>
        <p:txBody>
          <a:bodyPr/>
          <a:lstStyle/>
          <a:p>
            <a:pPr>
              <a:defRPr/>
            </a:pPr>
            <a:fld id="{7A68859E-8E82-43C2-8EF3-93C49F059313}" type="slidenum">
              <a:rPr lang="en-US"/>
              <a:pPr>
                <a:defRPr/>
              </a:pPr>
              <a:t>40</a:t>
            </a:fld>
            <a:endParaRPr lang="en-US"/>
          </a:p>
        </p:txBody>
      </p:sp>
      <p:sp>
        <p:nvSpPr>
          <p:cNvPr id="40964" name="Rectangle 2"/>
          <p:cNvSpPr>
            <a:spLocks noGrp="1" noChangeArrowheads="1"/>
          </p:cNvSpPr>
          <p:nvPr>
            <p:ph type="title"/>
          </p:nvPr>
        </p:nvSpPr>
        <p:spPr/>
        <p:txBody>
          <a:bodyPr/>
          <a:lstStyle/>
          <a:p>
            <a:r>
              <a:rPr lang="en-US" sz="4000"/>
              <a:t>Precombining Phase</a:t>
            </a:r>
          </a:p>
        </p:txBody>
      </p:sp>
      <p:sp>
        <p:nvSpPr>
          <p:cNvPr id="40965"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solidFill>
                  <a:schemeClr val="accent1"/>
                </a:solidFill>
                <a:latin typeface="Arial" pitchFamily="34" charset="0"/>
              </a:rPr>
              <a:t>0</a:t>
            </a:r>
          </a:p>
        </p:txBody>
      </p:sp>
      <p:sp>
        <p:nvSpPr>
          <p:cNvPr id="40966"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r>
              <a:rPr lang="en-US" sz="2800" dirty="0">
                <a:solidFill>
                  <a:schemeClr val="folHlink"/>
                </a:solidFill>
                <a:latin typeface="Arial" pitchFamily="34" charset="0"/>
              </a:rPr>
              <a:t>0</a:t>
            </a:r>
          </a:p>
        </p:txBody>
      </p:sp>
      <p:sp>
        <p:nvSpPr>
          <p:cNvPr id="40967"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40968" name="Group 6"/>
          <p:cNvGrpSpPr>
            <a:grpSpLocks/>
          </p:cNvGrpSpPr>
          <p:nvPr/>
        </p:nvGrpSpPr>
        <p:grpSpPr bwMode="auto">
          <a:xfrm flipH="1">
            <a:off x="852488" y="4953000"/>
            <a:ext cx="1219200" cy="1090613"/>
            <a:chOff x="1584" y="816"/>
            <a:chExt cx="912" cy="816"/>
          </a:xfrm>
        </p:grpSpPr>
        <p:sp>
          <p:nvSpPr>
            <p:cNvPr id="41010"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11"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12"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13"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41014"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41015"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41016"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17"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18"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40969" name="Group 16"/>
          <p:cNvGrpSpPr>
            <a:grpSpLocks/>
          </p:cNvGrpSpPr>
          <p:nvPr/>
        </p:nvGrpSpPr>
        <p:grpSpPr bwMode="auto">
          <a:xfrm>
            <a:off x="2925763" y="4953000"/>
            <a:ext cx="1219200" cy="1090613"/>
            <a:chOff x="1584" y="816"/>
            <a:chExt cx="912" cy="816"/>
          </a:xfrm>
        </p:grpSpPr>
        <p:sp>
          <p:nvSpPr>
            <p:cNvPr id="41001"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02"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03"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04"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41005"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41006"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41007"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08"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09"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40970"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40971"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grpSp>
        <p:nvGrpSpPr>
          <p:cNvPr id="40972" name="Group 30"/>
          <p:cNvGrpSpPr>
            <a:grpSpLocks/>
          </p:cNvGrpSpPr>
          <p:nvPr/>
        </p:nvGrpSpPr>
        <p:grpSpPr bwMode="auto">
          <a:xfrm flipH="1">
            <a:off x="4999038" y="4953000"/>
            <a:ext cx="1219200" cy="1090613"/>
            <a:chOff x="1584" y="816"/>
            <a:chExt cx="912" cy="816"/>
          </a:xfrm>
        </p:grpSpPr>
        <p:sp>
          <p:nvSpPr>
            <p:cNvPr id="40992"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93"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94"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95"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40996"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40997"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40998"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99"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1000"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40973" name="Group 40"/>
          <p:cNvGrpSpPr>
            <a:grpSpLocks/>
          </p:cNvGrpSpPr>
          <p:nvPr/>
        </p:nvGrpSpPr>
        <p:grpSpPr bwMode="auto">
          <a:xfrm>
            <a:off x="7072313" y="4953000"/>
            <a:ext cx="1219200" cy="1090613"/>
            <a:chOff x="1584" y="816"/>
            <a:chExt cx="912" cy="816"/>
          </a:xfrm>
        </p:grpSpPr>
        <p:sp>
          <p:nvSpPr>
            <p:cNvPr id="40983"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84"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85"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86"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40987"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40988"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40989"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90"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0991"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40974" name="Text Box 52"/>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dirty="0">
                <a:solidFill>
                  <a:schemeClr val="tx1"/>
                </a:solidFill>
                <a:latin typeface="Arial" pitchFamily="34" charset="0"/>
              </a:rPr>
              <a:t>SECOND</a:t>
            </a:r>
          </a:p>
        </p:txBody>
      </p:sp>
      <p:sp>
        <p:nvSpPr>
          <p:cNvPr id="40975" name="Freeform 54"/>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dirty="0">
              <a:latin typeface="Courier New" pitchFamily="49" charset="0"/>
            </a:endParaRPr>
          </a:p>
        </p:txBody>
      </p:sp>
      <p:sp>
        <p:nvSpPr>
          <p:cNvPr id="40976" name="Text Box 55"/>
          <p:cNvSpPr txBox="1">
            <a:spLocks noChangeArrowheads="1"/>
          </p:cNvSpPr>
          <p:nvPr/>
        </p:nvSpPr>
        <p:spPr bwMode="auto">
          <a:xfrm>
            <a:off x="4559300" y="3092450"/>
            <a:ext cx="3732213" cy="1373188"/>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rPr>
              <a:t>If FIRST, I’m willing to combine, but lock for now</a:t>
            </a:r>
          </a:p>
        </p:txBody>
      </p:sp>
      <p:sp>
        <p:nvSpPr>
          <p:cNvPr id="40977" name="AutoShape 51"/>
          <p:cNvSpPr>
            <a:spLocks noChangeArrowheads="1"/>
          </p:cNvSpPr>
          <p:nvPr/>
        </p:nvSpPr>
        <p:spPr bwMode="auto">
          <a:xfrm>
            <a:off x="1814513" y="3270250"/>
            <a:ext cx="2057400" cy="990600"/>
          </a:xfrm>
          <a:prstGeom prst="wedgeRoundRectCallout">
            <a:avLst>
              <a:gd name="adj1" fmla="val 88657"/>
              <a:gd name="adj2" fmla="val 11861"/>
              <a:gd name="adj3" fmla="val 16667"/>
            </a:avLst>
          </a:prstGeom>
          <a:noFill/>
          <a:ln w="38100">
            <a:solidFill>
              <a:schemeClr val="accent1"/>
            </a:solidFill>
            <a:miter lim="800000"/>
            <a:headEnd/>
            <a:tailEnd/>
          </a:ln>
        </p:spPr>
        <p:txBody>
          <a:bodyPr anchor="ctr"/>
          <a:lstStyle/>
          <a:p>
            <a:pPr algn="ctr">
              <a:spcBef>
                <a:spcPct val="0"/>
              </a:spcBef>
            </a:pPr>
            <a:endParaRPr lang="en-US" sz="4000" dirty="0">
              <a:latin typeface="Arial" pitchFamily="34" charset="0"/>
            </a:endParaRPr>
          </a:p>
        </p:txBody>
      </p:sp>
      <p:grpSp>
        <p:nvGrpSpPr>
          <p:cNvPr id="40978" name="Group 56"/>
          <p:cNvGrpSpPr>
            <a:grpSpLocks/>
          </p:cNvGrpSpPr>
          <p:nvPr/>
        </p:nvGrpSpPr>
        <p:grpSpPr bwMode="auto">
          <a:xfrm>
            <a:off x="1708150" y="3352800"/>
            <a:ext cx="466725" cy="679450"/>
            <a:chOff x="2208" y="1920"/>
            <a:chExt cx="1152" cy="1680"/>
          </a:xfrm>
        </p:grpSpPr>
        <p:sp>
          <p:nvSpPr>
            <p:cNvPr id="40979" name="Oval 57"/>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40980" name="Oval 58"/>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40981"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40982"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Courier New" pitchFamily="49" charset="0"/>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A7F6DBAA-6A21-4AE9-973A-768A6FF6A7AF}" type="slidenum">
              <a:rPr lang="en-US"/>
              <a:pPr>
                <a:defRPr/>
              </a:pPr>
              <a:t>41</a:t>
            </a:fld>
            <a:endParaRPr lang="en-US"/>
          </a:p>
        </p:txBody>
      </p:sp>
      <p:sp>
        <p:nvSpPr>
          <p:cNvPr id="41988" name="Rectangle 2"/>
          <p:cNvSpPr>
            <a:spLocks noGrp="1" noChangeArrowheads="1"/>
          </p:cNvSpPr>
          <p:nvPr>
            <p:ph type="title"/>
          </p:nvPr>
        </p:nvSpPr>
        <p:spPr/>
        <p:txBody>
          <a:bodyPr/>
          <a:lstStyle/>
          <a:p>
            <a:r>
              <a:rPr lang="en-US"/>
              <a:t>Code</a:t>
            </a:r>
          </a:p>
        </p:txBody>
      </p:sp>
      <p:sp>
        <p:nvSpPr>
          <p:cNvPr id="41989" name="Rectangle 3"/>
          <p:cNvSpPr>
            <a:spLocks noGrp="1" noChangeArrowheads="1"/>
          </p:cNvSpPr>
          <p:nvPr>
            <p:ph type="body" idx="1"/>
          </p:nvPr>
        </p:nvSpPr>
        <p:spPr/>
        <p:txBody>
          <a:bodyPr/>
          <a:lstStyle/>
          <a:p>
            <a:r>
              <a:rPr lang="en-US"/>
              <a:t>Tree class</a:t>
            </a:r>
          </a:p>
          <a:p>
            <a:pPr lvl="1"/>
            <a:r>
              <a:rPr lang="en-US"/>
              <a:t>In charge of navigation</a:t>
            </a:r>
          </a:p>
          <a:p>
            <a:r>
              <a:rPr lang="en-US"/>
              <a:t>Node class</a:t>
            </a:r>
          </a:p>
          <a:p>
            <a:pPr lvl="1"/>
            <a:r>
              <a:rPr lang="en-US"/>
              <a:t>Combining state</a:t>
            </a:r>
          </a:p>
          <a:p>
            <a:pPr lvl="1"/>
            <a:r>
              <a:rPr lang="en-US"/>
              <a:t>Synchronization state</a:t>
            </a:r>
          </a:p>
          <a:p>
            <a:pPr lvl="1"/>
            <a:r>
              <a:rPr lang="en-US"/>
              <a:t>Bookkeeping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50080F15-EBA8-4925-83B1-CD746C0466B7}" type="slidenum">
              <a:rPr lang="en-US"/>
              <a:pPr>
                <a:defRPr/>
              </a:pPr>
              <a:t>42</a:t>
            </a:fld>
            <a:endParaRPr lang="en-US"/>
          </a:p>
        </p:txBody>
      </p:sp>
      <p:sp>
        <p:nvSpPr>
          <p:cNvPr id="43012" name="Rectangle 2"/>
          <p:cNvSpPr>
            <a:spLocks noGrp="1" noChangeArrowheads="1"/>
          </p:cNvSpPr>
          <p:nvPr>
            <p:ph type="title"/>
          </p:nvPr>
        </p:nvSpPr>
        <p:spPr/>
        <p:txBody>
          <a:bodyPr/>
          <a:lstStyle/>
          <a:p>
            <a:r>
              <a:rPr lang="en-US"/>
              <a:t>Precombining Navigation</a:t>
            </a:r>
          </a:p>
        </p:txBody>
      </p:sp>
      <p:sp>
        <p:nvSpPr>
          <p:cNvPr id="43013" name="Rectangle 3"/>
          <p:cNvSpPr>
            <a:spLocks noChangeArrowheads="1"/>
          </p:cNvSpPr>
          <p:nvPr/>
        </p:nvSpPr>
        <p:spPr bwMode="auto">
          <a:xfrm>
            <a:off x="947738" y="1752600"/>
            <a:ext cx="7586662" cy="2234458"/>
          </a:xfrm>
          <a:prstGeom prst="rect">
            <a:avLst/>
          </a:prstGeom>
          <a:solidFill>
            <a:srgbClr val="FFFFCC"/>
          </a:solidFill>
          <a:ln w="9525">
            <a:noFill/>
            <a:miter lim="800000"/>
            <a:headEnd/>
            <a:tailEnd/>
          </a:ln>
        </p:spPr>
        <p:txBody>
          <a:bodyPr>
            <a:spAutoFit/>
          </a:bodyPr>
          <a:lstStyle/>
          <a:p>
            <a:pPr marL="342900" indent="-342900"/>
            <a:r>
              <a:rPr lang="en-US" dirty="0">
                <a:latin typeface="Courier New" pitchFamily="49" charset="0"/>
              </a:rPr>
              <a:t>Node </a:t>
            </a:r>
            <a:r>
              <a:rPr lang="en-US" dirty="0" err="1">
                <a:latin typeface="Courier New" pitchFamily="49" charset="0"/>
              </a:rPr>
              <a:t>node</a:t>
            </a:r>
            <a:r>
              <a:rPr lang="en-US" dirty="0">
                <a:latin typeface="Courier New" pitchFamily="49" charset="0"/>
              </a:rPr>
              <a:t> = </a:t>
            </a:r>
            <a:r>
              <a:rPr lang="en-US" dirty="0" err="1">
                <a:latin typeface="Courier New" pitchFamily="49" charset="0"/>
              </a:rPr>
              <a:t>myLeaf</a:t>
            </a:r>
            <a:r>
              <a:rPr lang="en-US" dirty="0">
                <a:latin typeface="Courier New" pitchFamily="49" charset="0"/>
              </a:rPr>
              <a:t>;</a:t>
            </a:r>
          </a:p>
          <a:p>
            <a:pPr marL="342900" indent="-342900"/>
            <a:r>
              <a:rPr lang="en-US" dirty="0">
                <a:solidFill>
                  <a:schemeClr val="tx1"/>
                </a:solidFill>
                <a:latin typeface="Courier New" pitchFamily="49" charset="0"/>
              </a:rPr>
              <a:t>while</a:t>
            </a:r>
            <a:r>
              <a:rPr lang="en-US" dirty="0">
                <a:latin typeface="Courier New" pitchFamily="49" charset="0"/>
              </a:rPr>
              <a:t> (</a:t>
            </a:r>
            <a:r>
              <a:rPr lang="en-US" dirty="0" err="1">
                <a:latin typeface="Courier New" pitchFamily="49" charset="0"/>
              </a:rPr>
              <a:t>node.precombine</a:t>
            </a:r>
            <a:r>
              <a:rPr lang="en-US" dirty="0">
                <a:latin typeface="Courier New" pitchFamily="49" charset="0"/>
              </a:rPr>
              <a:t>()) {</a:t>
            </a:r>
          </a:p>
          <a:p>
            <a:pPr marL="342900" indent="-342900"/>
            <a:r>
              <a:rPr lang="en-US" dirty="0">
                <a:latin typeface="Courier New" pitchFamily="49" charset="0"/>
              </a:rPr>
              <a:t>  node = </a:t>
            </a:r>
            <a:r>
              <a:rPr lang="en-US" dirty="0" err="1">
                <a:latin typeface="Courier New" pitchFamily="49" charset="0"/>
              </a:rPr>
              <a:t>node.parent</a:t>
            </a:r>
            <a:r>
              <a:rPr lang="en-US" dirty="0">
                <a:latin typeface="Courier New" pitchFamily="49" charset="0"/>
              </a:rPr>
              <a:t>;</a:t>
            </a:r>
          </a:p>
          <a:p>
            <a:pPr marL="342900" indent="-342900"/>
            <a:r>
              <a:rPr lang="en-US" dirty="0">
                <a:latin typeface="Courier New" pitchFamily="49" charset="0"/>
              </a:rPr>
              <a:t>  }</a:t>
            </a:r>
          </a:p>
          <a:p>
            <a:pPr marL="342900" indent="-342900"/>
            <a:r>
              <a:rPr lang="en-US" dirty="0">
                <a:latin typeface="Courier New" pitchFamily="49" charset="0"/>
              </a:rPr>
              <a:t>Node stop = node;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652952C1-DF78-4A84-8D17-163C97C0A698}" type="slidenum">
              <a:rPr lang="en-US"/>
              <a:pPr>
                <a:defRPr/>
              </a:pPr>
              <a:t>43</a:t>
            </a:fld>
            <a:endParaRPr lang="en-US"/>
          </a:p>
        </p:txBody>
      </p:sp>
      <p:sp>
        <p:nvSpPr>
          <p:cNvPr id="44036" name="Rectangle 2"/>
          <p:cNvSpPr>
            <a:spLocks noGrp="1" noChangeArrowheads="1"/>
          </p:cNvSpPr>
          <p:nvPr>
            <p:ph type="title"/>
          </p:nvPr>
        </p:nvSpPr>
        <p:spPr/>
        <p:txBody>
          <a:bodyPr/>
          <a:lstStyle/>
          <a:p>
            <a:r>
              <a:rPr lang="en-US"/>
              <a:t>Precombining Navigation</a:t>
            </a:r>
          </a:p>
        </p:txBody>
      </p:sp>
      <p:sp>
        <p:nvSpPr>
          <p:cNvPr id="44037" name="Rectangle 3"/>
          <p:cNvSpPr>
            <a:spLocks noChangeArrowheads="1"/>
          </p:cNvSpPr>
          <p:nvPr/>
        </p:nvSpPr>
        <p:spPr bwMode="auto">
          <a:xfrm>
            <a:off x="947738" y="1752600"/>
            <a:ext cx="7586662" cy="2234458"/>
          </a:xfrm>
          <a:prstGeom prst="rect">
            <a:avLst/>
          </a:prstGeom>
          <a:solidFill>
            <a:srgbClr val="FFFFCC"/>
          </a:solidFill>
          <a:ln w="9525">
            <a:noFill/>
            <a:miter lim="800000"/>
            <a:headEnd/>
            <a:tailEnd/>
          </a:ln>
        </p:spPr>
        <p:txBody>
          <a:bodyPr>
            <a:spAutoFit/>
          </a:bodyPr>
          <a:lstStyle/>
          <a:p>
            <a:pPr marL="342900" indent="-342900"/>
            <a:r>
              <a:rPr lang="en-US" dirty="0">
                <a:latin typeface="Courier New" pitchFamily="49" charset="0"/>
              </a:rPr>
              <a:t>Node </a:t>
            </a:r>
            <a:r>
              <a:rPr lang="en-US" dirty="0" err="1">
                <a:latin typeface="Courier New" pitchFamily="49" charset="0"/>
              </a:rPr>
              <a:t>node</a:t>
            </a:r>
            <a:r>
              <a:rPr lang="en-US" dirty="0">
                <a:latin typeface="Courier New" pitchFamily="49" charset="0"/>
              </a:rPr>
              <a:t> = </a:t>
            </a:r>
            <a:r>
              <a:rPr lang="en-US" dirty="0" err="1">
                <a:latin typeface="Courier New" pitchFamily="49" charset="0"/>
              </a:rPr>
              <a:t>myLeaf</a:t>
            </a:r>
            <a:r>
              <a:rPr lang="en-US" dirty="0">
                <a:latin typeface="Courier New" pitchFamily="49" charset="0"/>
              </a:rPr>
              <a:t>;</a:t>
            </a:r>
          </a:p>
          <a:p>
            <a:pPr marL="342900" indent="-342900"/>
            <a:r>
              <a:rPr lang="en-US" dirty="0">
                <a:solidFill>
                  <a:schemeClr val="folHlink"/>
                </a:solidFill>
                <a:latin typeface="Courier New" pitchFamily="49" charset="0"/>
              </a:rPr>
              <a:t>while (</a:t>
            </a:r>
            <a:r>
              <a:rPr lang="en-US" dirty="0" err="1">
                <a:solidFill>
                  <a:schemeClr val="folHlink"/>
                </a:solidFill>
                <a:latin typeface="Courier New" pitchFamily="49" charset="0"/>
              </a:rPr>
              <a:t>node.precombine</a:t>
            </a:r>
            <a:r>
              <a:rPr lang="en-US" dirty="0">
                <a:solidFill>
                  <a:schemeClr val="folHlink"/>
                </a:solidFill>
                <a:latin typeface="Courier New" pitchFamily="49" charset="0"/>
              </a:rPr>
              <a:t>()) {</a:t>
            </a:r>
          </a:p>
          <a:p>
            <a:pPr marL="342900" indent="-342900"/>
            <a:r>
              <a:rPr lang="en-US" dirty="0">
                <a:solidFill>
                  <a:schemeClr val="folHlink"/>
                </a:solidFill>
                <a:latin typeface="Courier New" pitchFamily="49" charset="0"/>
              </a:rPr>
              <a:t>  node = </a:t>
            </a:r>
            <a:r>
              <a:rPr lang="en-US" dirty="0" err="1">
                <a:solidFill>
                  <a:schemeClr val="folHlink"/>
                </a:solidFill>
                <a:latin typeface="Courier New" pitchFamily="49" charset="0"/>
              </a:rPr>
              <a:t>node.parent</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p>
          <a:p>
            <a:pPr marL="342900" indent="-342900"/>
            <a:r>
              <a:rPr lang="en-US" dirty="0">
                <a:solidFill>
                  <a:schemeClr val="folHlink"/>
                </a:solidFill>
                <a:latin typeface="Courier New" pitchFamily="49" charset="0"/>
              </a:rPr>
              <a:t>Node stop = node;</a:t>
            </a:r>
          </a:p>
        </p:txBody>
      </p:sp>
      <p:sp>
        <p:nvSpPr>
          <p:cNvPr id="44038" name="Text Box 4"/>
          <p:cNvSpPr txBox="1">
            <a:spLocks noChangeArrowheads="1"/>
          </p:cNvSpPr>
          <p:nvPr/>
        </p:nvSpPr>
        <p:spPr bwMode="auto">
          <a:xfrm>
            <a:off x="4114800" y="5219700"/>
            <a:ext cx="4343400" cy="519113"/>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Start at leaf</a:t>
            </a:r>
          </a:p>
        </p:txBody>
      </p:sp>
      <p:sp>
        <p:nvSpPr>
          <p:cNvPr id="44039" name="AutoShape 5"/>
          <p:cNvSpPr>
            <a:spLocks noChangeArrowheads="1"/>
          </p:cNvSpPr>
          <p:nvPr/>
        </p:nvSpPr>
        <p:spPr bwMode="auto">
          <a:xfrm>
            <a:off x="947738" y="1752600"/>
            <a:ext cx="3860800" cy="477838"/>
          </a:xfrm>
          <a:prstGeom prst="wedgeRoundRectCallout">
            <a:avLst>
              <a:gd name="adj1" fmla="val 73644"/>
              <a:gd name="adj2" fmla="val 651662"/>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86BBDC04-92BA-4502-A9F3-82E2FA2A105E}" type="slidenum">
              <a:rPr lang="en-US"/>
              <a:pPr>
                <a:defRPr/>
              </a:pPr>
              <a:t>44</a:t>
            </a:fld>
            <a:endParaRPr lang="en-US"/>
          </a:p>
        </p:txBody>
      </p:sp>
      <p:sp>
        <p:nvSpPr>
          <p:cNvPr id="45060" name="Rectangle 2"/>
          <p:cNvSpPr>
            <a:spLocks noGrp="1" noChangeArrowheads="1"/>
          </p:cNvSpPr>
          <p:nvPr>
            <p:ph type="title"/>
          </p:nvPr>
        </p:nvSpPr>
        <p:spPr/>
        <p:txBody>
          <a:bodyPr/>
          <a:lstStyle/>
          <a:p>
            <a:r>
              <a:rPr lang="en-US"/>
              <a:t>Precombining Navigation</a:t>
            </a:r>
          </a:p>
        </p:txBody>
      </p:sp>
      <p:sp>
        <p:nvSpPr>
          <p:cNvPr id="45061" name="Rectangle 3"/>
          <p:cNvSpPr>
            <a:spLocks noChangeArrowheads="1"/>
          </p:cNvSpPr>
          <p:nvPr/>
        </p:nvSpPr>
        <p:spPr bwMode="auto">
          <a:xfrm>
            <a:off x="947738" y="1752600"/>
            <a:ext cx="7586662" cy="2234458"/>
          </a:xfrm>
          <a:prstGeom prst="rect">
            <a:avLst/>
          </a:prstGeom>
          <a:solidFill>
            <a:srgbClr val="FFFFCC"/>
          </a:solidFill>
          <a:ln w="9525">
            <a:noFill/>
            <a:miter lim="800000"/>
            <a:headEnd/>
            <a:tailEnd/>
          </a:ln>
        </p:spPr>
        <p:txBody>
          <a:bodyPr>
            <a:spAutoFit/>
          </a:bodyPr>
          <a:lstStyle/>
          <a:p>
            <a:pPr marL="342900" indent="-342900"/>
            <a:r>
              <a:rPr lang="en-US">
                <a:solidFill>
                  <a:schemeClr val="folHlink"/>
                </a:solidFill>
                <a:latin typeface="Arial" pitchFamily="34" charset="0"/>
                <a:cs typeface="Arial" pitchFamily="34" charset="0"/>
              </a:rPr>
              <a:t>Node node = myLeaf;</a:t>
            </a:r>
          </a:p>
          <a:p>
            <a:pPr marL="342900" indent="-342900"/>
            <a:r>
              <a:rPr lang="en-US">
                <a:solidFill>
                  <a:schemeClr val="tx1"/>
                </a:solidFill>
                <a:latin typeface="Arial" pitchFamily="34" charset="0"/>
                <a:cs typeface="Arial" pitchFamily="34" charset="0"/>
              </a:rPr>
              <a:t>while</a:t>
            </a:r>
            <a:r>
              <a:rPr lang="en-US">
                <a:latin typeface="Arial" pitchFamily="34" charset="0"/>
                <a:cs typeface="Arial" pitchFamily="34" charset="0"/>
              </a:rPr>
              <a:t> (node.precombine()) {</a:t>
            </a:r>
          </a:p>
          <a:p>
            <a:pPr marL="342900" indent="-342900"/>
            <a:r>
              <a:rPr lang="en-US">
                <a:latin typeface="Arial" pitchFamily="34" charset="0"/>
                <a:cs typeface="Arial" pitchFamily="34" charset="0"/>
              </a:rPr>
              <a:t>  node = node.parent;</a:t>
            </a:r>
          </a:p>
          <a:p>
            <a:pPr marL="342900" indent="-342900"/>
            <a:r>
              <a:rPr lang="en-US">
                <a:latin typeface="Arial" pitchFamily="34" charset="0"/>
                <a:cs typeface="Arial" pitchFamily="34" charset="0"/>
              </a:rPr>
              <a:t>  }</a:t>
            </a:r>
          </a:p>
          <a:p>
            <a:pPr marL="342900" indent="-342900"/>
            <a:r>
              <a:rPr lang="en-US">
                <a:solidFill>
                  <a:schemeClr val="folHlink"/>
                </a:solidFill>
                <a:latin typeface="Arial" pitchFamily="34" charset="0"/>
                <a:cs typeface="Arial" pitchFamily="34" charset="0"/>
              </a:rPr>
              <a:t>Node stop = node;</a:t>
            </a:r>
          </a:p>
        </p:txBody>
      </p:sp>
      <p:sp>
        <p:nvSpPr>
          <p:cNvPr id="45062" name="Text Box 4"/>
          <p:cNvSpPr txBox="1">
            <a:spLocks noChangeArrowheads="1"/>
          </p:cNvSpPr>
          <p:nvPr/>
        </p:nvSpPr>
        <p:spPr bwMode="auto">
          <a:xfrm>
            <a:off x="947738" y="4959350"/>
            <a:ext cx="4343400" cy="946150"/>
          </a:xfrm>
          <a:prstGeom prst="rect">
            <a:avLst/>
          </a:prstGeom>
          <a:noFill/>
          <a:ln w="9525">
            <a:noFill/>
            <a:miter lim="800000"/>
            <a:headEnd/>
            <a:tailEnd/>
          </a:ln>
        </p:spPr>
        <p:txBody>
          <a:bodyPr>
            <a:spAutoFit/>
          </a:bodyPr>
          <a:lstStyle/>
          <a:p>
            <a:pPr algn="ctr">
              <a:spcBef>
                <a:spcPct val="0"/>
              </a:spcBef>
            </a:pPr>
            <a:r>
              <a:rPr lang="en-US" sz="2800">
                <a:solidFill>
                  <a:srgbClr val="FF0000"/>
                </a:solidFill>
                <a:latin typeface="Arial" pitchFamily="34" charset="0"/>
                <a:cs typeface="Arial" pitchFamily="34" charset="0"/>
              </a:rPr>
              <a:t>Move up while instructed to do so</a:t>
            </a:r>
          </a:p>
        </p:txBody>
      </p:sp>
      <p:sp>
        <p:nvSpPr>
          <p:cNvPr id="45063" name="AutoShape 5"/>
          <p:cNvSpPr>
            <a:spLocks noChangeArrowheads="1"/>
          </p:cNvSpPr>
          <p:nvPr/>
        </p:nvSpPr>
        <p:spPr bwMode="auto">
          <a:xfrm>
            <a:off x="947738" y="2066925"/>
            <a:ext cx="5240337" cy="1443038"/>
          </a:xfrm>
          <a:prstGeom prst="wedgeRoundRectCallout">
            <a:avLst>
              <a:gd name="adj1" fmla="val -14648"/>
              <a:gd name="adj2" fmla="val 159903"/>
              <a:gd name="adj3" fmla="val 16667"/>
            </a:avLst>
          </a:prstGeom>
          <a:noFill/>
          <a:ln w="38100">
            <a:solidFill>
              <a:srgbClr val="FF0000"/>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0475F8FA-CB63-4F7D-BA79-8FF639E2B3B6}" type="slidenum">
              <a:rPr lang="en-US"/>
              <a:pPr>
                <a:defRPr/>
              </a:pPr>
              <a:t>45</a:t>
            </a:fld>
            <a:endParaRPr lang="en-US"/>
          </a:p>
        </p:txBody>
      </p:sp>
      <p:sp>
        <p:nvSpPr>
          <p:cNvPr id="46084" name="Rectangle 2"/>
          <p:cNvSpPr>
            <a:spLocks noGrp="1" noChangeArrowheads="1"/>
          </p:cNvSpPr>
          <p:nvPr>
            <p:ph type="title"/>
          </p:nvPr>
        </p:nvSpPr>
        <p:spPr/>
        <p:txBody>
          <a:bodyPr/>
          <a:lstStyle/>
          <a:p>
            <a:r>
              <a:rPr lang="en-US"/>
              <a:t>Precombining Navigation</a:t>
            </a:r>
          </a:p>
        </p:txBody>
      </p:sp>
      <p:sp>
        <p:nvSpPr>
          <p:cNvPr id="46085" name="Rectangle 3"/>
          <p:cNvSpPr>
            <a:spLocks noChangeArrowheads="1"/>
          </p:cNvSpPr>
          <p:nvPr/>
        </p:nvSpPr>
        <p:spPr bwMode="auto">
          <a:xfrm>
            <a:off x="947738" y="1752600"/>
            <a:ext cx="7586662" cy="2234458"/>
          </a:xfrm>
          <a:prstGeom prst="rect">
            <a:avLst/>
          </a:prstGeom>
          <a:solidFill>
            <a:srgbClr val="FFFFCC"/>
          </a:solidFill>
          <a:ln w="9525">
            <a:noFill/>
            <a:miter lim="800000"/>
            <a:headEnd/>
            <a:tailEnd/>
          </a:ln>
        </p:spPr>
        <p:txBody>
          <a:bodyPr>
            <a:spAutoFit/>
          </a:bodyPr>
          <a:lstStyle/>
          <a:p>
            <a:pPr marL="342900" indent="-342900"/>
            <a:r>
              <a:rPr lang="en-US">
                <a:solidFill>
                  <a:schemeClr val="folHlink"/>
                </a:solidFill>
                <a:latin typeface="Arial" pitchFamily="34" charset="0"/>
                <a:cs typeface="Arial" pitchFamily="34" charset="0"/>
              </a:rPr>
              <a:t>Node node = myLeaf;</a:t>
            </a:r>
          </a:p>
          <a:p>
            <a:pPr marL="342900" indent="-342900"/>
            <a:r>
              <a:rPr lang="en-US">
                <a:solidFill>
                  <a:schemeClr val="folHlink"/>
                </a:solidFill>
                <a:latin typeface="Arial" pitchFamily="34" charset="0"/>
                <a:cs typeface="Arial" pitchFamily="34" charset="0"/>
              </a:rPr>
              <a:t>while (node.precombine()) {</a:t>
            </a:r>
          </a:p>
          <a:p>
            <a:pPr marL="342900" indent="-342900"/>
            <a:r>
              <a:rPr lang="en-US">
                <a:solidFill>
                  <a:schemeClr val="folHlink"/>
                </a:solidFill>
                <a:latin typeface="Arial" pitchFamily="34" charset="0"/>
                <a:cs typeface="Arial" pitchFamily="34" charset="0"/>
              </a:rPr>
              <a:t>  node = node.parent;</a:t>
            </a:r>
          </a:p>
          <a:p>
            <a:pPr marL="342900" indent="-342900"/>
            <a:r>
              <a:rPr lang="en-US">
                <a:solidFill>
                  <a:schemeClr val="folHlink"/>
                </a:solidFill>
                <a:latin typeface="Arial" pitchFamily="34" charset="0"/>
                <a:cs typeface="Arial" pitchFamily="34" charset="0"/>
              </a:rPr>
              <a:t>  }</a:t>
            </a:r>
          </a:p>
          <a:p>
            <a:pPr marL="342900" indent="-342900"/>
            <a:r>
              <a:rPr lang="en-US">
                <a:latin typeface="Arial" pitchFamily="34" charset="0"/>
                <a:cs typeface="Arial" pitchFamily="34" charset="0"/>
              </a:rPr>
              <a:t>Node stop = node;</a:t>
            </a:r>
          </a:p>
        </p:txBody>
      </p:sp>
      <p:sp>
        <p:nvSpPr>
          <p:cNvPr id="46086" name="Text Box 4"/>
          <p:cNvSpPr txBox="1">
            <a:spLocks noChangeArrowheads="1"/>
          </p:cNvSpPr>
          <p:nvPr/>
        </p:nvSpPr>
        <p:spPr bwMode="auto">
          <a:xfrm>
            <a:off x="2940050" y="4959350"/>
            <a:ext cx="4343400" cy="946150"/>
          </a:xfrm>
          <a:prstGeom prst="rect">
            <a:avLst/>
          </a:prstGeom>
          <a:noFill/>
          <a:ln w="9525">
            <a:noFill/>
            <a:miter lim="800000"/>
            <a:headEnd/>
            <a:tailEnd/>
          </a:ln>
        </p:spPr>
        <p:txBody>
          <a:bodyPr>
            <a:spAutoFit/>
          </a:bodyPr>
          <a:lstStyle/>
          <a:p>
            <a:pPr algn="ctr">
              <a:spcBef>
                <a:spcPct val="0"/>
              </a:spcBef>
            </a:pPr>
            <a:r>
              <a:rPr lang="en-US" sz="2800">
                <a:solidFill>
                  <a:srgbClr val="FF0000"/>
                </a:solidFill>
                <a:latin typeface="Arial" pitchFamily="34" charset="0"/>
                <a:cs typeface="Arial" pitchFamily="34" charset="0"/>
              </a:rPr>
              <a:t>Remember where we stopped</a:t>
            </a:r>
          </a:p>
        </p:txBody>
      </p:sp>
      <p:sp>
        <p:nvSpPr>
          <p:cNvPr id="46087" name="AutoShape 5"/>
          <p:cNvSpPr>
            <a:spLocks noChangeArrowheads="1"/>
          </p:cNvSpPr>
          <p:nvPr/>
        </p:nvSpPr>
        <p:spPr bwMode="auto">
          <a:xfrm>
            <a:off x="947738" y="3513138"/>
            <a:ext cx="3403600" cy="550862"/>
          </a:xfrm>
          <a:prstGeom prst="wedgeRoundRectCallout">
            <a:avLst>
              <a:gd name="adj1" fmla="val 39551"/>
              <a:gd name="adj2" fmla="val 204181"/>
              <a:gd name="adj3" fmla="val 16667"/>
            </a:avLst>
          </a:prstGeom>
          <a:noFill/>
          <a:ln w="38100">
            <a:solidFill>
              <a:srgbClr val="FF0000"/>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47908873-82FE-46B6-9744-D204C7E9109A}" type="slidenum">
              <a:rPr lang="en-US"/>
              <a:pPr>
                <a:defRPr/>
              </a:pPr>
              <a:t>46</a:t>
            </a:fld>
            <a:endParaRPr lang="en-US"/>
          </a:p>
        </p:txBody>
      </p:sp>
      <p:sp>
        <p:nvSpPr>
          <p:cNvPr id="47108" name="Rectangle 2"/>
          <p:cNvSpPr>
            <a:spLocks noGrp="1" noChangeArrowheads="1"/>
          </p:cNvSpPr>
          <p:nvPr>
            <p:ph type="title"/>
          </p:nvPr>
        </p:nvSpPr>
        <p:spPr/>
        <p:txBody>
          <a:bodyPr/>
          <a:lstStyle/>
          <a:p>
            <a:r>
              <a:rPr lang="en-US"/>
              <a:t>Precombining Node</a:t>
            </a:r>
          </a:p>
        </p:txBody>
      </p:sp>
      <p:sp>
        <p:nvSpPr>
          <p:cNvPr id="47109" name="Rectangle 3"/>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tx1"/>
                </a:solidFill>
                <a:latin typeface="Courier New" pitchFamily="49" charset="0"/>
              </a:rPr>
              <a:t>synchronized</a:t>
            </a:r>
            <a:r>
              <a:rPr lang="en-US" sz="2000" dirty="0">
                <a:latin typeface="Courier New" pitchFamily="49" charset="0"/>
              </a:rPr>
              <a:t> </a:t>
            </a:r>
            <a:r>
              <a:rPr lang="en-US" sz="2000" dirty="0" err="1">
                <a:solidFill>
                  <a:schemeClr val="tx1"/>
                </a:solidFill>
                <a:latin typeface="Courier New" pitchFamily="49" charset="0"/>
              </a:rPr>
              <a:t>boolean</a:t>
            </a:r>
            <a:r>
              <a:rPr lang="en-US" sz="2000" dirty="0">
                <a:latin typeface="Courier New" pitchFamily="49" charset="0"/>
              </a:rPr>
              <a:t> </a:t>
            </a:r>
            <a:r>
              <a:rPr lang="en-US" sz="2000" dirty="0" err="1">
                <a:latin typeface="Courier New" pitchFamily="49" charset="0"/>
              </a:rPr>
              <a:t>precombine</a:t>
            </a:r>
            <a:r>
              <a:rPr lang="en-US" sz="2000" dirty="0">
                <a:latin typeface="Courier New" pitchFamily="49" charset="0"/>
              </a:rPr>
              <a:t>() {</a:t>
            </a:r>
          </a:p>
          <a:p>
            <a:pPr marL="342900" indent="-342900"/>
            <a:r>
              <a:rPr lang="en-US" sz="2000" dirty="0">
                <a:latin typeface="Courier New" pitchFamily="49" charset="0"/>
              </a:rPr>
              <a:t> </a:t>
            </a:r>
            <a:r>
              <a:rPr lang="en-US" sz="2000" dirty="0">
                <a:solidFill>
                  <a:schemeClr val="tx1"/>
                </a:solidFill>
                <a:latin typeface="Courier New" pitchFamily="49" charset="0"/>
              </a:rPr>
              <a:t>while</a:t>
            </a:r>
            <a:r>
              <a:rPr lang="en-US" sz="2000" dirty="0">
                <a:latin typeface="Courier New" pitchFamily="49" charset="0"/>
              </a:rPr>
              <a:t> (locked) wait();</a:t>
            </a:r>
          </a:p>
          <a:p>
            <a:pPr marL="342900" indent="-342900"/>
            <a:r>
              <a:rPr lang="en-US" sz="2000" dirty="0">
                <a:latin typeface="Courier New" pitchFamily="49" charset="0"/>
              </a:rPr>
              <a:t> </a:t>
            </a:r>
            <a:r>
              <a:rPr lang="en-US" sz="2000" dirty="0">
                <a:solidFill>
                  <a:schemeClr val="tx1"/>
                </a:solidFill>
                <a:latin typeface="Courier New" pitchFamily="49" charset="0"/>
              </a:rPr>
              <a:t>switch</a:t>
            </a:r>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IDLE: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CStatus.FIRST</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true;</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FIRST: locked = true;</a:t>
            </a:r>
          </a:p>
          <a:p>
            <a:pPr marL="342900" indent="-342900"/>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CStatus.SECOND</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false;</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ROOT: </a:t>
            </a:r>
            <a:r>
              <a:rPr lang="en-US" sz="2000" dirty="0">
                <a:solidFill>
                  <a:schemeClr val="tx1"/>
                </a:solidFill>
                <a:latin typeface="Courier New" pitchFamily="49" charset="0"/>
              </a:rPr>
              <a:t>return</a:t>
            </a:r>
            <a:r>
              <a:rPr lang="en-US" sz="2000" dirty="0">
                <a:latin typeface="Courier New" pitchFamily="49" charset="0"/>
              </a:rPr>
              <a:t> false;</a:t>
            </a:r>
          </a:p>
          <a:p>
            <a:pPr marL="342900" indent="-342900"/>
            <a:r>
              <a:rPr lang="en-US" sz="2000" dirty="0">
                <a:latin typeface="Courier New" pitchFamily="49" charset="0"/>
              </a:rPr>
              <a:t>  </a:t>
            </a:r>
            <a:r>
              <a:rPr lang="en-US" sz="2000" dirty="0">
                <a:solidFill>
                  <a:schemeClr val="tx1"/>
                </a:solidFill>
                <a:latin typeface="Courier New" pitchFamily="49" charset="0"/>
              </a:rPr>
              <a:t>default</a:t>
            </a:r>
            <a:r>
              <a:rPr lang="en-US" sz="2000" dirty="0">
                <a:latin typeface="Courier New" pitchFamily="49" charset="0"/>
              </a:rPr>
              <a:t>: </a:t>
            </a:r>
            <a:r>
              <a:rPr lang="en-US" sz="2000" dirty="0">
                <a:solidFill>
                  <a:schemeClr val="tx1"/>
                </a:solidFill>
                <a:latin typeface="Courier New" pitchFamily="49" charset="0"/>
              </a:rPr>
              <a:t>throw new</a:t>
            </a:r>
            <a:r>
              <a:rPr lang="en-US" sz="2000" dirty="0">
                <a:latin typeface="Courier New" pitchFamily="49" charset="0"/>
              </a:rPr>
              <a:t> </a:t>
            </a:r>
            <a:r>
              <a:rPr lang="en-US" sz="2000" dirty="0" err="1">
                <a:latin typeface="Courier New" pitchFamily="49" charset="0"/>
              </a:rPr>
              <a:t>PanicException</a:t>
            </a:r>
            <a:r>
              <a:rPr lang="en-US" sz="2000" dirty="0">
                <a:latin typeface="Courier New" pitchFamily="49" charset="0"/>
              </a:rPr>
              <a:t>()</a:t>
            </a:r>
          </a:p>
          <a:p>
            <a:pPr marL="342900" indent="-342900"/>
            <a:r>
              <a:rPr lang="en-US" sz="2000" dirty="0">
                <a:latin typeface="Courier New" pitchFamily="49" charset="0"/>
              </a:rPr>
              <a:t>  }</a:t>
            </a:r>
          </a:p>
          <a:p>
            <a:pPr marL="342900" indent="-342900"/>
            <a:r>
              <a:rPr lang="en-US" sz="2000" dirty="0">
                <a:latin typeface="Courier New" pitchFamily="49"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9451701B-A66F-403E-B269-79928317DAF7}" type="slidenum">
              <a:rPr lang="en-US"/>
              <a:pPr>
                <a:defRPr/>
              </a:pPr>
              <a:t>47</a:t>
            </a:fld>
            <a:endParaRPr lang="en-US"/>
          </a:p>
        </p:txBody>
      </p:sp>
      <p:sp>
        <p:nvSpPr>
          <p:cNvPr id="48132" name="Rectangle 7"/>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tx1"/>
                </a:solidFill>
                <a:latin typeface="Arial" pitchFamily="34" charset="0"/>
                <a:cs typeface="Arial" pitchFamily="34" charset="0"/>
              </a:rPr>
              <a:t>synchronized</a:t>
            </a:r>
            <a:r>
              <a:rPr lang="en-US" sz="2000" dirty="0">
                <a:latin typeface="Arial" pitchFamily="34" charset="0"/>
                <a:cs typeface="Arial" pitchFamily="34" charset="0"/>
              </a:rPr>
              <a:t> </a:t>
            </a:r>
            <a:r>
              <a:rPr lang="en-US" sz="2000" dirty="0" err="1">
                <a:solidFill>
                  <a:schemeClr val="folHlink"/>
                </a:solidFill>
                <a:latin typeface="Arial" pitchFamily="34" charset="0"/>
                <a:cs typeface="Arial" pitchFamily="34" charset="0"/>
              </a:rPr>
              <a:t>boolean</a:t>
            </a:r>
            <a:r>
              <a:rPr lang="en-US" sz="2000" dirty="0">
                <a:solidFill>
                  <a:schemeClr val="folHlink"/>
                </a:solidFill>
                <a:latin typeface="Arial" pitchFamily="34" charset="0"/>
                <a:cs typeface="Arial" pitchFamily="34" charset="0"/>
              </a:rPr>
              <a:t> </a:t>
            </a:r>
            <a:r>
              <a:rPr lang="en-US" sz="2000" dirty="0" err="1">
                <a:solidFill>
                  <a:schemeClr val="folHlink"/>
                </a:solidFill>
                <a:latin typeface="Arial" pitchFamily="34" charset="0"/>
                <a:cs typeface="Arial" pitchFamily="34" charset="0"/>
              </a:rPr>
              <a:t>precombine</a:t>
            </a:r>
            <a:r>
              <a:rPr lang="en-US" sz="2000" dirty="0">
                <a:solidFill>
                  <a:schemeClr val="folHlink"/>
                </a:solidFill>
                <a:latin typeface="Arial" pitchFamily="34" charset="0"/>
                <a:cs typeface="Arial" pitchFamily="34" charset="0"/>
              </a:rPr>
              <a:t>() {</a:t>
            </a:r>
          </a:p>
          <a:p>
            <a:pPr marL="342900" indent="-342900"/>
            <a:r>
              <a:rPr lang="en-US" sz="2000" dirty="0">
                <a:solidFill>
                  <a:schemeClr val="folHlink"/>
                </a:solidFill>
                <a:latin typeface="Arial" pitchFamily="34" charset="0"/>
                <a:cs typeface="Arial" pitchFamily="34" charset="0"/>
              </a:rPr>
              <a:t> while (locked) wait();</a:t>
            </a:r>
          </a:p>
          <a:p>
            <a:pPr marL="342900" indent="-342900"/>
            <a:r>
              <a:rPr lang="en-US" sz="2000" dirty="0">
                <a:solidFill>
                  <a:schemeClr val="folHlink"/>
                </a:solidFill>
                <a:latin typeface="Arial" pitchFamily="34" charset="0"/>
                <a:cs typeface="Arial" pitchFamily="34" charset="0"/>
              </a:rPr>
              <a:t> switch (</a:t>
            </a:r>
            <a:r>
              <a:rPr lang="en-US" sz="2000" dirty="0" err="1">
                <a:solidFill>
                  <a:schemeClr val="folHlink"/>
                </a:solidFill>
                <a:latin typeface="Arial" pitchFamily="34" charset="0"/>
                <a:cs typeface="Arial" pitchFamily="34" charset="0"/>
              </a:rPr>
              <a:t>cStatus</a:t>
            </a:r>
            <a:r>
              <a:rPr lang="en-US" sz="2000" dirty="0">
                <a:solidFill>
                  <a:schemeClr val="folHlink"/>
                </a:solidFill>
                <a:latin typeface="Arial" pitchFamily="34" charset="0"/>
                <a:cs typeface="Arial" pitchFamily="34" charset="0"/>
              </a:rPr>
              <a:t>) {</a:t>
            </a:r>
          </a:p>
          <a:p>
            <a:pPr marL="342900" indent="-342900"/>
            <a:r>
              <a:rPr lang="en-US" sz="2000" dirty="0">
                <a:solidFill>
                  <a:schemeClr val="folHlink"/>
                </a:solidFill>
                <a:latin typeface="Arial" pitchFamily="34" charset="0"/>
                <a:cs typeface="Arial" pitchFamily="34" charset="0"/>
              </a:rPr>
              <a:t>  case IDLE: </a:t>
            </a:r>
            <a:r>
              <a:rPr lang="en-US" sz="2000" dirty="0" err="1">
                <a:solidFill>
                  <a:schemeClr val="folHlink"/>
                </a:solidFill>
                <a:latin typeface="Arial" pitchFamily="34" charset="0"/>
                <a:cs typeface="Arial" pitchFamily="34" charset="0"/>
              </a:rPr>
              <a:t>cStatus</a:t>
            </a:r>
            <a:r>
              <a:rPr lang="en-US" sz="2000" dirty="0">
                <a:solidFill>
                  <a:schemeClr val="folHlink"/>
                </a:solidFill>
                <a:latin typeface="Arial" pitchFamily="34" charset="0"/>
                <a:cs typeface="Arial" pitchFamily="34" charset="0"/>
              </a:rPr>
              <a:t> = </a:t>
            </a:r>
            <a:r>
              <a:rPr lang="en-US" sz="2000" dirty="0" err="1">
                <a:solidFill>
                  <a:schemeClr val="folHlink"/>
                </a:solidFill>
                <a:latin typeface="Arial" pitchFamily="34" charset="0"/>
                <a:cs typeface="Arial" pitchFamily="34" charset="0"/>
              </a:rPr>
              <a:t>CStatus.FIRST</a:t>
            </a:r>
            <a:r>
              <a:rPr lang="en-US" sz="2000" dirty="0">
                <a:solidFill>
                  <a:schemeClr val="folHlink"/>
                </a:solidFill>
                <a:latin typeface="Arial" pitchFamily="34" charset="0"/>
                <a:cs typeface="Arial" pitchFamily="34" charset="0"/>
              </a:rPr>
              <a:t>;</a:t>
            </a:r>
          </a:p>
          <a:p>
            <a:pPr marL="342900" indent="-342900"/>
            <a:r>
              <a:rPr lang="en-US" sz="2000" dirty="0">
                <a:solidFill>
                  <a:schemeClr val="folHlink"/>
                </a:solidFill>
                <a:latin typeface="Arial" pitchFamily="34" charset="0"/>
                <a:cs typeface="Arial" pitchFamily="34" charset="0"/>
              </a:rPr>
              <a:t>             return true;</a:t>
            </a:r>
          </a:p>
          <a:p>
            <a:pPr marL="342900" indent="-342900"/>
            <a:r>
              <a:rPr lang="en-US" sz="2000" dirty="0">
                <a:solidFill>
                  <a:schemeClr val="folHlink"/>
                </a:solidFill>
                <a:latin typeface="Arial" pitchFamily="34" charset="0"/>
                <a:cs typeface="Arial" pitchFamily="34" charset="0"/>
              </a:rPr>
              <a:t>  case FIRST: locked = true;</a:t>
            </a:r>
          </a:p>
          <a:p>
            <a:pPr marL="342900" indent="-342900"/>
            <a:r>
              <a:rPr lang="en-US" sz="2000" dirty="0">
                <a:solidFill>
                  <a:schemeClr val="folHlink"/>
                </a:solidFill>
                <a:latin typeface="Arial" pitchFamily="34" charset="0"/>
                <a:cs typeface="Arial" pitchFamily="34" charset="0"/>
              </a:rPr>
              <a:t>              </a:t>
            </a:r>
            <a:r>
              <a:rPr lang="en-US" sz="2000" dirty="0" err="1">
                <a:solidFill>
                  <a:schemeClr val="folHlink"/>
                </a:solidFill>
                <a:latin typeface="Arial" pitchFamily="34" charset="0"/>
                <a:cs typeface="Arial" pitchFamily="34" charset="0"/>
              </a:rPr>
              <a:t>cStatus</a:t>
            </a:r>
            <a:r>
              <a:rPr lang="en-US" sz="2000" dirty="0">
                <a:solidFill>
                  <a:schemeClr val="folHlink"/>
                </a:solidFill>
                <a:latin typeface="Arial" pitchFamily="34" charset="0"/>
                <a:cs typeface="Arial" pitchFamily="34" charset="0"/>
              </a:rPr>
              <a:t> = </a:t>
            </a:r>
            <a:r>
              <a:rPr lang="en-US" sz="2000" dirty="0" err="1">
                <a:solidFill>
                  <a:schemeClr val="folHlink"/>
                </a:solidFill>
                <a:latin typeface="Arial" pitchFamily="34" charset="0"/>
                <a:cs typeface="Arial" pitchFamily="34" charset="0"/>
              </a:rPr>
              <a:t>CStatus.SECOND</a:t>
            </a:r>
            <a:r>
              <a:rPr lang="en-US" sz="2000" dirty="0">
                <a:solidFill>
                  <a:schemeClr val="folHlink"/>
                </a:solidFill>
                <a:latin typeface="Arial" pitchFamily="34" charset="0"/>
                <a:cs typeface="Arial" pitchFamily="34" charset="0"/>
              </a:rPr>
              <a:t>;</a:t>
            </a:r>
          </a:p>
          <a:p>
            <a:pPr marL="342900" indent="-342900"/>
            <a:r>
              <a:rPr lang="en-US" sz="2000" dirty="0">
                <a:solidFill>
                  <a:schemeClr val="folHlink"/>
                </a:solidFill>
                <a:latin typeface="Arial" pitchFamily="34" charset="0"/>
                <a:cs typeface="Arial" pitchFamily="34" charset="0"/>
              </a:rPr>
              <a:t>              return false;</a:t>
            </a:r>
          </a:p>
          <a:p>
            <a:pPr marL="342900" indent="-342900"/>
            <a:r>
              <a:rPr lang="en-US" sz="2000" dirty="0">
                <a:solidFill>
                  <a:schemeClr val="folHlink"/>
                </a:solidFill>
                <a:latin typeface="Arial" pitchFamily="34" charset="0"/>
                <a:cs typeface="Arial" pitchFamily="34" charset="0"/>
              </a:rPr>
              <a:t>  case ROOT: return false;</a:t>
            </a:r>
          </a:p>
          <a:p>
            <a:pPr marL="342900" indent="-342900"/>
            <a:r>
              <a:rPr lang="en-US" sz="2000" dirty="0">
                <a:solidFill>
                  <a:schemeClr val="folHlink"/>
                </a:solidFill>
                <a:latin typeface="Arial" pitchFamily="34" charset="0"/>
                <a:cs typeface="Arial" pitchFamily="34" charset="0"/>
              </a:rPr>
              <a:t>  default: throw new </a:t>
            </a:r>
            <a:r>
              <a:rPr lang="en-US" sz="2000" dirty="0" err="1">
                <a:solidFill>
                  <a:schemeClr val="folHlink"/>
                </a:solidFill>
                <a:latin typeface="Arial" pitchFamily="34" charset="0"/>
                <a:cs typeface="Arial" pitchFamily="34" charset="0"/>
              </a:rPr>
              <a:t>PanicException</a:t>
            </a:r>
            <a:r>
              <a:rPr lang="en-US" sz="2000" dirty="0">
                <a:solidFill>
                  <a:schemeClr val="folHlink"/>
                </a:solidFill>
                <a:latin typeface="Arial" pitchFamily="34" charset="0"/>
                <a:cs typeface="Arial" pitchFamily="34" charset="0"/>
              </a:rPr>
              <a:t>()</a:t>
            </a:r>
          </a:p>
          <a:p>
            <a:pPr marL="342900" indent="-342900"/>
            <a:r>
              <a:rPr lang="en-US" sz="2000" dirty="0">
                <a:solidFill>
                  <a:schemeClr val="folHlink"/>
                </a:solidFill>
                <a:latin typeface="Arial" pitchFamily="34" charset="0"/>
                <a:cs typeface="Arial" pitchFamily="34" charset="0"/>
              </a:rPr>
              <a:t>  }</a:t>
            </a:r>
          </a:p>
          <a:p>
            <a:pPr marL="342900" indent="-342900"/>
            <a:r>
              <a:rPr lang="en-US" sz="2000" dirty="0">
                <a:solidFill>
                  <a:schemeClr val="folHlink"/>
                </a:solidFill>
                <a:latin typeface="Arial" pitchFamily="34" charset="0"/>
                <a:cs typeface="Arial" pitchFamily="34" charset="0"/>
              </a:rPr>
              <a:t>}</a:t>
            </a:r>
          </a:p>
        </p:txBody>
      </p:sp>
      <p:sp>
        <p:nvSpPr>
          <p:cNvPr id="48133" name="Rectangle 2"/>
          <p:cNvSpPr>
            <a:spLocks noGrp="1" noChangeArrowheads="1"/>
          </p:cNvSpPr>
          <p:nvPr>
            <p:ph type="title"/>
          </p:nvPr>
        </p:nvSpPr>
        <p:spPr/>
        <p:txBody>
          <a:bodyPr/>
          <a:lstStyle/>
          <a:p>
            <a:r>
              <a:rPr lang="en-US"/>
              <a:t>Precombining Node</a:t>
            </a:r>
          </a:p>
        </p:txBody>
      </p:sp>
      <p:sp>
        <p:nvSpPr>
          <p:cNvPr id="48134" name="AutoShape 4"/>
          <p:cNvSpPr>
            <a:spLocks noChangeArrowheads="1"/>
          </p:cNvSpPr>
          <p:nvPr/>
        </p:nvSpPr>
        <p:spPr bwMode="auto">
          <a:xfrm>
            <a:off x="828000" y="1751013"/>
            <a:ext cx="2011363" cy="477837"/>
          </a:xfrm>
          <a:prstGeom prst="wedgeRoundRectCallout">
            <a:avLst>
              <a:gd name="adj1" fmla="val 146843"/>
              <a:gd name="adj2" fmla="val 636713"/>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48135" name="Text Box 5"/>
          <p:cNvSpPr txBox="1">
            <a:spLocks noChangeArrowheads="1"/>
          </p:cNvSpPr>
          <p:nvPr/>
        </p:nvSpPr>
        <p:spPr bwMode="auto">
          <a:xfrm>
            <a:off x="3887788" y="5219700"/>
            <a:ext cx="4343400" cy="946150"/>
          </a:xfrm>
          <a:prstGeom prst="rect">
            <a:avLst/>
          </a:prstGeom>
          <a:solidFill>
            <a:srgbClr val="FFFFCC"/>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rPr>
              <a:t>Short-term synchronization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938D2A42-B34A-4F65-9D0C-72368FC5235A}" type="slidenum">
              <a:rPr lang="en-US"/>
              <a:pPr>
                <a:defRPr/>
              </a:pPr>
              <a:t>48</a:t>
            </a:fld>
            <a:endParaRPr lang="en-US"/>
          </a:p>
        </p:txBody>
      </p:sp>
      <p:sp>
        <p:nvSpPr>
          <p:cNvPr id="49156" name="Rectangle 7"/>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a:solidFill>
                  <a:schemeClr val="folHlink"/>
                </a:solidFill>
                <a:latin typeface="Arial" pitchFamily="34" charset="0"/>
                <a:cs typeface="Arial" pitchFamily="34" charset="0"/>
              </a:rPr>
              <a:t>synchronized boolean precombine() {</a:t>
            </a:r>
          </a:p>
          <a:p>
            <a:pPr marL="342900" indent="-342900"/>
            <a:r>
              <a:rPr lang="en-US" sz="2000">
                <a:latin typeface="Arial" pitchFamily="34" charset="0"/>
                <a:cs typeface="Arial" pitchFamily="34" charset="0"/>
              </a:rPr>
              <a:t> </a:t>
            </a:r>
            <a:r>
              <a:rPr lang="en-US" sz="2000">
                <a:solidFill>
                  <a:schemeClr val="tx1"/>
                </a:solidFill>
                <a:latin typeface="Arial" pitchFamily="34" charset="0"/>
                <a:cs typeface="Arial" pitchFamily="34" charset="0"/>
              </a:rPr>
              <a:t>while</a:t>
            </a:r>
            <a:r>
              <a:rPr lang="en-US" sz="2000">
                <a:latin typeface="Arial" pitchFamily="34" charset="0"/>
                <a:cs typeface="Arial" pitchFamily="34" charset="0"/>
              </a:rPr>
              <a:t> (locked) wait();</a:t>
            </a:r>
          </a:p>
          <a:p>
            <a:pPr marL="342900" indent="-342900"/>
            <a:r>
              <a:rPr lang="en-US" sz="2000">
                <a:latin typeface="Arial" pitchFamily="34" charset="0"/>
                <a:cs typeface="Arial" pitchFamily="34" charset="0"/>
              </a:rPr>
              <a:t> </a:t>
            </a:r>
            <a:r>
              <a:rPr lang="en-US" sz="2000">
                <a:solidFill>
                  <a:schemeClr val="folHlink"/>
                </a:solidFill>
                <a:latin typeface="Arial" pitchFamily="34" charset="0"/>
                <a:cs typeface="Arial" pitchFamily="34" charset="0"/>
              </a:rPr>
              <a:t>switch (cStatus) {</a:t>
            </a:r>
          </a:p>
          <a:p>
            <a:pPr marL="342900" indent="-342900"/>
            <a:r>
              <a:rPr lang="en-US" sz="2000">
                <a:solidFill>
                  <a:schemeClr val="folHlink"/>
                </a:solidFill>
                <a:latin typeface="Arial" pitchFamily="34" charset="0"/>
                <a:cs typeface="Arial" pitchFamily="34" charset="0"/>
              </a:rPr>
              <a:t>  case IDLE: cStatus = CStatus.FIRST;</a:t>
            </a:r>
          </a:p>
          <a:p>
            <a:pPr marL="342900" indent="-342900"/>
            <a:r>
              <a:rPr lang="en-US" sz="2000">
                <a:solidFill>
                  <a:schemeClr val="folHlink"/>
                </a:solidFill>
                <a:latin typeface="Arial" pitchFamily="34" charset="0"/>
                <a:cs typeface="Arial" pitchFamily="34" charset="0"/>
              </a:rPr>
              <a:t>             return true;</a:t>
            </a:r>
          </a:p>
          <a:p>
            <a:pPr marL="342900" indent="-342900"/>
            <a:r>
              <a:rPr lang="en-US" sz="2000">
                <a:solidFill>
                  <a:schemeClr val="folHlink"/>
                </a:solidFill>
                <a:latin typeface="Arial" pitchFamily="34" charset="0"/>
                <a:cs typeface="Arial" pitchFamily="34" charset="0"/>
              </a:rPr>
              <a:t>  case FIRST: locked = true;</a:t>
            </a:r>
          </a:p>
          <a:p>
            <a:pPr marL="342900" indent="-342900"/>
            <a:r>
              <a:rPr lang="en-US" sz="2000">
                <a:solidFill>
                  <a:schemeClr val="folHlink"/>
                </a:solidFill>
                <a:latin typeface="Arial" pitchFamily="34" charset="0"/>
                <a:cs typeface="Arial" pitchFamily="34" charset="0"/>
              </a:rPr>
              <a:t>              cStatus = CStatus.SECOND;</a:t>
            </a:r>
          </a:p>
          <a:p>
            <a:pPr marL="342900" indent="-342900"/>
            <a:r>
              <a:rPr lang="en-US" sz="2000">
                <a:solidFill>
                  <a:schemeClr val="folHlink"/>
                </a:solidFill>
                <a:latin typeface="Arial" pitchFamily="34" charset="0"/>
                <a:cs typeface="Arial" pitchFamily="34" charset="0"/>
              </a:rPr>
              <a:t>              return false;</a:t>
            </a:r>
          </a:p>
          <a:p>
            <a:pPr marL="342900" indent="-342900"/>
            <a:r>
              <a:rPr lang="en-US" sz="2000">
                <a:solidFill>
                  <a:schemeClr val="folHlink"/>
                </a:solidFill>
                <a:latin typeface="Arial" pitchFamily="34" charset="0"/>
                <a:cs typeface="Arial" pitchFamily="34" charset="0"/>
              </a:rPr>
              <a:t>  case ROOT: return false;</a:t>
            </a:r>
          </a:p>
          <a:p>
            <a:pPr marL="342900" indent="-342900"/>
            <a:r>
              <a:rPr lang="en-US" sz="2000">
                <a:solidFill>
                  <a:schemeClr val="folHlink"/>
                </a:solidFill>
                <a:latin typeface="Arial" pitchFamily="34" charset="0"/>
                <a:cs typeface="Arial" pitchFamily="34" charset="0"/>
              </a:rPr>
              <a:t>  default: throw new PanicException()</a:t>
            </a:r>
          </a:p>
          <a:p>
            <a:pPr marL="342900" indent="-342900"/>
            <a:r>
              <a:rPr lang="en-US" sz="2000">
                <a:solidFill>
                  <a:schemeClr val="folHlink"/>
                </a:solidFill>
                <a:latin typeface="Arial" pitchFamily="34" charset="0"/>
                <a:cs typeface="Arial" pitchFamily="34" charset="0"/>
              </a:rPr>
              <a:t>  }</a:t>
            </a:r>
          </a:p>
          <a:p>
            <a:pPr marL="342900" indent="-342900"/>
            <a:r>
              <a:rPr lang="en-US" sz="2000">
                <a:solidFill>
                  <a:schemeClr val="folHlink"/>
                </a:solidFill>
                <a:latin typeface="Arial" pitchFamily="34" charset="0"/>
                <a:cs typeface="Arial" pitchFamily="34" charset="0"/>
              </a:rPr>
              <a:t>}</a:t>
            </a:r>
          </a:p>
        </p:txBody>
      </p:sp>
      <p:sp>
        <p:nvSpPr>
          <p:cNvPr id="49157" name="Rectangle 2"/>
          <p:cNvSpPr>
            <a:spLocks noGrp="1" noChangeArrowheads="1"/>
          </p:cNvSpPr>
          <p:nvPr>
            <p:ph type="title"/>
          </p:nvPr>
        </p:nvSpPr>
        <p:spPr/>
        <p:txBody>
          <a:bodyPr/>
          <a:lstStyle/>
          <a:p>
            <a:r>
              <a:rPr lang="en-US"/>
              <a:t>Synchronization</a:t>
            </a:r>
          </a:p>
        </p:txBody>
      </p:sp>
      <p:sp>
        <p:nvSpPr>
          <p:cNvPr id="49159" name="Text Box 5"/>
          <p:cNvSpPr txBox="1">
            <a:spLocks noChangeArrowheads="1"/>
          </p:cNvSpPr>
          <p:nvPr/>
        </p:nvSpPr>
        <p:spPr bwMode="auto">
          <a:xfrm>
            <a:off x="1909763" y="3933825"/>
            <a:ext cx="6548437" cy="946150"/>
          </a:xfrm>
          <a:prstGeom prst="rect">
            <a:avLst/>
          </a:prstGeom>
          <a:solidFill>
            <a:srgbClr val="FFFFCC"/>
          </a:solidFill>
          <a:ln w="9525">
            <a:noFill/>
            <a:miter lim="800000"/>
            <a:headEnd/>
            <a:tailEnd/>
          </a:ln>
        </p:spPr>
        <p:txBody>
          <a:bodyPr>
            <a:spAutoFit/>
          </a:bodyPr>
          <a:lstStyle/>
          <a:p>
            <a:pPr algn="ctr">
              <a:spcBef>
                <a:spcPct val="0"/>
              </a:spcBef>
            </a:pPr>
            <a:r>
              <a:rPr lang="en-US" sz="2800">
                <a:solidFill>
                  <a:srgbClr val="FF0000"/>
                </a:solidFill>
                <a:latin typeface="Arial" pitchFamily="34" charset="0"/>
                <a:cs typeface="Arial" pitchFamily="34" charset="0"/>
              </a:rPr>
              <a:t>Wait while node is locked</a:t>
            </a:r>
          </a:p>
          <a:p>
            <a:pPr algn="ctr">
              <a:spcBef>
                <a:spcPct val="0"/>
              </a:spcBef>
            </a:pPr>
            <a:r>
              <a:rPr lang="en-US" sz="2800">
                <a:solidFill>
                  <a:srgbClr val="FF0000"/>
                </a:solidFill>
                <a:latin typeface="Arial" pitchFamily="34" charset="0"/>
                <a:cs typeface="Arial" pitchFamily="34" charset="0"/>
              </a:rPr>
              <a:t>(in use by earlier combining phase)</a:t>
            </a:r>
          </a:p>
        </p:txBody>
      </p:sp>
      <p:sp>
        <p:nvSpPr>
          <p:cNvPr id="49158" name="AutoShape 4"/>
          <p:cNvSpPr>
            <a:spLocks noChangeArrowheads="1"/>
          </p:cNvSpPr>
          <p:nvPr/>
        </p:nvSpPr>
        <p:spPr bwMode="auto">
          <a:xfrm>
            <a:off x="683775" y="2057400"/>
            <a:ext cx="3675063" cy="477838"/>
          </a:xfrm>
          <a:prstGeom prst="wedgeRoundRectCallout">
            <a:avLst>
              <a:gd name="adj1" fmla="val 49653"/>
              <a:gd name="adj2" fmla="val 344019"/>
              <a:gd name="adj3" fmla="val 16667"/>
            </a:avLst>
          </a:prstGeom>
          <a:noFill/>
          <a:ln w="38100">
            <a:solidFill>
              <a:srgbClr val="FF0000"/>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349597AE-42E7-4C24-BE4E-8EB40552F6BB}" type="slidenum">
              <a:rPr lang="en-US"/>
              <a:pPr>
                <a:defRPr/>
              </a:pPr>
              <a:t>49</a:t>
            </a:fld>
            <a:endParaRPr lang="en-US"/>
          </a:p>
        </p:txBody>
      </p:sp>
      <p:sp>
        <p:nvSpPr>
          <p:cNvPr id="50180" name="Rectangle 6"/>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a:solidFill>
                  <a:schemeClr val="folHlink"/>
                </a:solidFill>
                <a:latin typeface="Arial" pitchFamily="34" charset="0"/>
                <a:cs typeface="Arial" pitchFamily="34" charset="0"/>
              </a:rPr>
              <a:t>synchronized boolean precombine() {</a:t>
            </a:r>
          </a:p>
          <a:p>
            <a:pPr marL="342900" indent="-342900"/>
            <a:r>
              <a:rPr lang="en-US" sz="2000">
                <a:solidFill>
                  <a:schemeClr val="folHlink"/>
                </a:solidFill>
                <a:latin typeface="Arial" pitchFamily="34" charset="0"/>
                <a:cs typeface="Arial" pitchFamily="34" charset="0"/>
              </a:rPr>
              <a:t> while (locked) wait();</a:t>
            </a:r>
          </a:p>
          <a:p>
            <a:pPr marL="342900" indent="-342900"/>
            <a:r>
              <a:rPr lang="en-US" sz="2000">
                <a:latin typeface="Arial" pitchFamily="34" charset="0"/>
                <a:cs typeface="Arial" pitchFamily="34" charset="0"/>
              </a:rPr>
              <a:t> </a:t>
            </a:r>
            <a:r>
              <a:rPr lang="en-US" sz="2000">
                <a:solidFill>
                  <a:schemeClr val="tx1"/>
                </a:solidFill>
                <a:latin typeface="Arial" pitchFamily="34" charset="0"/>
                <a:cs typeface="Arial" pitchFamily="34" charset="0"/>
              </a:rPr>
              <a:t>switch</a:t>
            </a:r>
            <a:r>
              <a:rPr lang="en-US" sz="2000">
                <a:latin typeface="Arial" pitchFamily="34" charset="0"/>
                <a:cs typeface="Arial" pitchFamily="34" charset="0"/>
              </a:rPr>
              <a:t> (cStatus) {</a:t>
            </a:r>
          </a:p>
          <a:p>
            <a:pPr marL="342900" indent="-342900"/>
            <a:r>
              <a:rPr lang="en-US" sz="2000">
                <a:latin typeface="Arial" pitchFamily="34" charset="0"/>
                <a:cs typeface="Arial" pitchFamily="34" charset="0"/>
              </a:rPr>
              <a:t>  </a:t>
            </a:r>
            <a:r>
              <a:rPr lang="en-US" sz="2000">
                <a:solidFill>
                  <a:schemeClr val="folHlink"/>
                </a:solidFill>
                <a:latin typeface="Arial" pitchFamily="34" charset="0"/>
                <a:cs typeface="Arial" pitchFamily="34" charset="0"/>
              </a:rPr>
              <a:t>case IDLE: cStatus = CStatus.FIRST;</a:t>
            </a:r>
          </a:p>
          <a:p>
            <a:pPr marL="342900" indent="-342900"/>
            <a:r>
              <a:rPr lang="en-US" sz="2000">
                <a:solidFill>
                  <a:schemeClr val="folHlink"/>
                </a:solidFill>
                <a:latin typeface="Arial" pitchFamily="34" charset="0"/>
                <a:cs typeface="Arial" pitchFamily="34" charset="0"/>
              </a:rPr>
              <a:t>             return true;</a:t>
            </a:r>
          </a:p>
          <a:p>
            <a:pPr marL="342900" indent="-342900"/>
            <a:r>
              <a:rPr lang="en-US" sz="2000">
                <a:solidFill>
                  <a:schemeClr val="folHlink"/>
                </a:solidFill>
                <a:latin typeface="Arial" pitchFamily="34" charset="0"/>
                <a:cs typeface="Arial" pitchFamily="34" charset="0"/>
              </a:rPr>
              <a:t>  case FIRST: locked = true;</a:t>
            </a:r>
          </a:p>
          <a:p>
            <a:pPr marL="342900" indent="-342900"/>
            <a:r>
              <a:rPr lang="en-US" sz="2000">
                <a:solidFill>
                  <a:schemeClr val="folHlink"/>
                </a:solidFill>
                <a:latin typeface="Arial" pitchFamily="34" charset="0"/>
                <a:cs typeface="Arial" pitchFamily="34" charset="0"/>
              </a:rPr>
              <a:t>              cStatus = CStatus.SECOND;</a:t>
            </a:r>
          </a:p>
          <a:p>
            <a:pPr marL="342900" indent="-342900"/>
            <a:r>
              <a:rPr lang="en-US" sz="2000">
                <a:solidFill>
                  <a:schemeClr val="folHlink"/>
                </a:solidFill>
                <a:latin typeface="Arial" pitchFamily="34" charset="0"/>
                <a:cs typeface="Arial" pitchFamily="34" charset="0"/>
              </a:rPr>
              <a:t>              return false;</a:t>
            </a:r>
          </a:p>
          <a:p>
            <a:pPr marL="342900" indent="-342900"/>
            <a:r>
              <a:rPr lang="en-US" sz="2000">
                <a:solidFill>
                  <a:schemeClr val="folHlink"/>
                </a:solidFill>
                <a:latin typeface="Arial" pitchFamily="34" charset="0"/>
                <a:cs typeface="Arial" pitchFamily="34" charset="0"/>
              </a:rPr>
              <a:t>  case ROOT: return false;</a:t>
            </a:r>
          </a:p>
          <a:p>
            <a:pPr marL="342900" indent="-342900"/>
            <a:r>
              <a:rPr lang="en-US" sz="2000">
                <a:solidFill>
                  <a:schemeClr val="folHlink"/>
                </a:solidFill>
                <a:latin typeface="Arial" pitchFamily="34" charset="0"/>
                <a:cs typeface="Arial" pitchFamily="34" charset="0"/>
              </a:rPr>
              <a:t>  default: throw new PanicException()</a:t>
            </a:r>
          </a:p>
          <a:p>
            <a:pPr marL="342900" indent="-342900"/>
            <a:r>
              <a:rPr lang="en-US" sz="2000">
                <a:solidFill>
                  <a:schemeClr val="folHlink"/>
                </a:solidFill>
                <a:latin typeface="Arial" pitchFamily="34" charset="0"/>
                <a:cs typeface="Arial" pitchFamily="34" charset="0"/>
              </a:rPr>
              <a:t>  }</a:t>
            </a:r>
          </a:p>
          <a:p>
            <a:pPr marL="342900" indent="-342900"/>
            <a:r>
              <a:rPr lang="en-US" sz="2000">
                <a:solidFill>
                  <a:schemeClr val="folHlink"/>
                </a:solidFill>
                <a:latin typeface="Arial" pitchFamily="34" charset="0"/>
                <a:cs typeface="Arial" pitchFamily="34" charset="0"/>
              </a:rPr>
              <a:t>}</a:t>
            </a:r>
          </a:p>
        </p:txBody>
      </p:sp>
      <p:sp>
        <p:nvSpPr>
          <p:cNvPr id="50181" name="Rectangle 2"/>
          <p:cNvSpPr>
            <a:spLocks noGrp="1" noChangeArrowheads="1"/>
          </p:cNvSpPr>
          <p:nvPr>
            <p:ph type="title"/>
          </p:nvPr>
        </p:nvSpPr>
        <p:spPr/>
        <p:txBody>
          <a:bodyPr/>
          <a:lstStyle/>
          <a:p>
            <a:r>
              <a:rPr lang="en-US"/>
              <a:t>Precombining Node</a:t>
            </a:r>
          </a:p>
        </p:txBody>
      </p:sp>
      <p:sp>
        <p:nvSpPr>
          <p:cNvPr id="50182" name="Text Box 5"/>
          <p:cNvSpPr txBox="1">
            <a:spLocks noChangeArrowheads="1"/>
          </p:cNvSpPr>
          <p:nvPr/>
        </p:nvSpPr>
        <p:spPr bwMode="auto">
          <a:xfrm>
            <a:off x="4114800" y="5478463"/>
            <a:ext cx="4343400" cy="519112"/>
          </a:xfrm>
          <a:prstGeom prst="rect">
            <a:avLst/>
          </a:prstGeom>
          <a:solidFill>
            <a:srgbClr val="FFFFCC"/>
          </a:solidFill>
          <a:ln w="9525">
            <a:noFill/>
            <a:miter lim="800000"/>
            <a:headEnd/>
            <a:tailEnd/>
          </a:ln>
        </p:spPr>
        <p:txBody>
          <a:bodyPr>
            <a:spAutoFit/>
          </a:bodyPr>
          <a:lstStyle/>
          <a:p>
            <a:pPr algn="ctr">
              <a:spcBef>
                <a:spcPct val="0"/>
              </a:spcBef>
            </a:pPr>
            <a:r>
              <a:rPr lang="en-US" sz="2800">
                <a:solidFill>
                  <a:srgbClr val="FF0000"/>
                </a:solidFill>
                <a:latin typeface="Arial" pitchFamily="34" charset="0"/>
                <a:cs typeface="Arial" pitchFamily="34" charset="0"/>
              </a:rPr>
              <a:t>Check combining status</a:t>
            </a:r>
          </a:p>
        </p:txBody>
      </p:sp>
      <p:sp>
        <p:nvSpPr>
          <p:cNvPr id="50183" name="AutoShape 4"/>
          <p:cNvSpPr>
            <a:spLocks noChangeArrowheads="1"/>
          </p:cNvSpPr>
          <p:nvPr/>
        </p:nvSpPr>
        <p:spPr bwMode="auto">
          <a:xfrm>
            <a:off x="818685" y="2449513"/>
            <a:ext cx="3098800" cy="477837"/>
          </a:xfrm>
          <a:prstGeom prst="wedgeRoundRectCallout">
            <a:avLst>
              <a:gd name="adj1" fmla="val 77769"/>
              <a:gd name="adj2" fmla="val 580565"/>
              <a:gd name="adj3" fmla="val 16667"/>
            </a:avLst>
          </a:prstGeom>
          <a:noFill/>
          <a:ln w="38100">
            <a:solidFill>
              <a:srgbClr val="FF0000"/>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47C3AA6F-6D5A-4F31-96AC-5DBCA8E9E602}" type="slidenum">
              <a:rPr lang="en-US"/>
              <a:pPr>
                <a:defRPr/>
              </a:pPr>
              <a:t>50</a:t>
            </a:fld>
            <a:endParaRPr lang="en-US"/>
          </a:p>
        </p:txBody>
      </p:sp>
      <p:sp>
        <p:nvSpPr>
          <p:cNvPr id="51204" name="Rectangle 2"/>
          <p:cNvSpPr>
            <a:spLocks noGrp="1" noChangeArrowheads="1"/>
          </p:cNvSpPr>
          <p:nvPr>
            <p:ph type="title"/>
          </p:nvPr>
        </p:nvSpPr>
        <p:spPr/>
        <p:txBody>
          <a:bodyPr/>
          <a:lstStyle/>
          <a:p>
            <a:r>
              <a:rPr lang="en-US"/>
              <a:t>Node was IDLE</a:t>
            </a:r>
          </a:p>
        </p:txBody>
      </p:sp>
      <p:sp>
        <p:nvSpPr>
          <p:cNvPr id="51205" name="Rectangle 3"/>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a:solidFill>
                  <a:schemeClr val="folHlink"/>
                </a:solidFill>
                <a:latin typeface="Arial" pitchFamily="34" charset="0"/>
                <a:cs typeface="Arial" pitchFamily="34" charset="0"/>
              </a:rPr>
              <a:t>synchronized boolean precombine() {</a:t>
            </a:r>
          </a:p>
          <a:p>
            <a:pPr marL="342900" indent="-342900"/>
            <a:r>
              <a:rPr lang="en-US" sz="2000">
                <a:solidFill>
                  <a:schemeClr val="folHlink"/>
                </a:solidFill>
                <a:latin typeface="Arial" pitchFamily="34" charset="0"/>
                <a:cs typeface="Arial" pitchFamily="34" charset="0"/>
              </a:rPr>
              <a:t> while (locked) {wait();}</a:t>
            </a:r>
          </a:p>
          <a:p>
            <a:pPr marL="342900" indent="-342900"/>
            <a:r>
              <a:rPr lang="en-US" sz="2000">
                <a:solidFill>
                  <a:schemeClr val="folHlink"/>
                </a:solidFill>
                <a:latin typeface="Arial" pitchFamily="34" charset="0"/>
                <a:cs typeface="Arial" pitchFamily="34" charset="0"/>
              </a:rPr>
              <a:t> switch (cStatus) {</a:t>
            </a:r>
          </a:p>
          <a:p>
            <a:pPr marL="342900" indent="-342900"/>
            <a:r>
              <a:rPr lang="en-US" sz="2000">
                <a:latin typeface="Arial" pitchFamily="34" charset="0"/>
                <a:cs typeface="Arial" pitchFamily="34" charset="0"/>
              </a:rPr>
              <a:t>  </a:t>
            </a:r>
            <a:r>
              <a:rPr lang="en-US" sz="2000">
                <a:solidFill>
                  <a:schemeClr val="tx1"/>
                </a:solidFill>
                <a:latin typeface="Arial" pitchFamily="34" charset="0"/>
                <a:cs typeface="Arial" pitchFamily="34" charset="0"/>
              </a:rPr>
              <a:t>case</a:t>
            </a:r>
            <a:r>
              <a:rPr lang="en-US" sz="2000">
                <a:latin typeface="Arial" pitchFamily="34" charset="0"/>
                <a:cs typeface="Arial" pitchFamily="34" charset="0"/>
              </a:rPr>
              <a:t> IDLE: cStatus = CStatus.FIRST;</a:t>
            </a:r>
          </a:p>
          <a:p>
            <a:pPr marL="342900" indent="-342900"/>
            <a:r>
              <a:rPr lang="en-US" sz="2000">
                <a:latin typeface="Arial" pitchFamily="34" charset="0"/>
                <a:cs typeface="Arial" pitchFamily="34" charset="0"/>
              </a:rPr>
              <a:t>             </a:t>
            </a:r>
            <a:r>
              <a:rPr lang="en-US" sz="2000">
                <a:solidFill>
                  <a:schemeClr val="folHlink"/>
                </a:solidFill>
                <a:latin typeface="Arial" pitchFamily="34" charset="0"/>
                <a:cs typeface="Arial" pitchFamily="34" charset="0"/>
              </a:rPr>
              <a:t>return true;</a:t>
            </a:r>
          </a:p>
          <a:p>
            <a:pPr marL="342900" indent="-342900"/>
            <a:r>
              <a:rPr lang="en-US" sz="2000">
                <a:solidFill>
                  <a:schemeClr val="folHlink"/>
                </a:solidFill>
                <a:latin typeface="Arial" pitchFamily="34" charset="0"/>
                <a:cs typeface="Arial" pitchFamily="34" charset="0"/>
              </a:rPr>
              <a:t>  case FIRST: locked = true;</a:t>
            </a:r>
          </a:p>
          <a:p>
            <a:pPr marL="342900" indent="-342900"/>
            <a:r>
              <a:rPr lang="en-US" sz="2000">
                <a:solidFill>
                  <a:schemeClr val="folHlink"/>
                </a:solidFill>
                <a:latin typeface="Arial" pitchFamily="34" charset="0"/>
                <a:cs typeface="Arial" pitchFamily="34" charset="0"/>
              </a:rPr>
              <a:t>              cStatus = CStatus.SECOND;</a:t>
            </a:r>
          </a:p>
          <a:p>
            <a:pPr marL="342900" indent="-342900"/>
            <a:r>
              <a:rPr lang="en-US" sz="2000">
                <a:solidFill>
                  <a:schemeClr val="folHlink"/>
                </a:solidFill>
                <a:latin typeface="Arial" pitchFamily="34" charset="0"/>
                <a:cs typeface="Arial" pitchFamily="34" charset="0"/>
              </a:rPr>
              <a:t>              return false;</a:t>
            </a:r>
          </a:p>
          <a:p>
            <a:pPr marL="342900" indent="-342900"/>
            <a:r>
              <a:rPr lang="en-US" sz="2000">
                <a:solidFill>
                  <a:schemeClr val="folHlink"/>
                </a:solidFill>
                <a:latin typeface="Arial" pitchFamily="34" charset="0"/>
                <a:cs typeface="Arial" pitchFamily="34" charset="0"/>
              </a:rPr>
              <a:t>  case ROOT: return false;</a:t>
            </a:r>
          </a:p>
          <a:p>
            <a:pPr marL="342900" indent="-342900"/>
            <a:r>
              <a:rPr lang="en-US" sz="2000">
                <a:solidFill>
                  <a:schemeClr val="folHlink"/>
                </a:solidFill>
                <a:latin typeface="Arial" pitchFamily="34" charset="0"/>
                <a:cs typeface="Arial" pitchFamily="34" charset="0"/>
              </a:rPr>
              <a:t>  default: throw new PanicException()</a:t>
            </a:r>
          </a:p>
          <a:p>
            <a:pPr marL="342900" indent="-342900"/>
            <a:r>
              <a:rPr lang="en-US" sz="2000">
                <a:solidFill>
                  <a:schemeClr val="folHlink"/>
                </a:solidFill>
                <a:latin typeface="Arial" pitchFamily="34" charset="0"/>
                <a:cs typeface="Arial" pitchFamily="34" charset="0"/>
              </a:rPr>
              <a:t>  }</a:t>
            </a:r>
          </a:p>
          <a:p>
            <a:pPr marL="342900" indent="-342900"/>
            <a:r>
              <a:rPr lang="en-US" sz="2000">
                <a:solidFill>
                  <a:schemeClr val="folHlink"/>
                </a:solidFill>
                <a:latin typeface="Arial" pitchFamily="34" charset="0"/>
                <a:cs typeface="Arial" pitchFamily="34" charset="0"/>
              </a:rPr>
              <a:t>}</a:t>
            </a:r>
          </a:p>
        </p:txBody>
      </p:sp>
      <p:sp>
        <p:nvSpPr>
          <p:cNvPr id="51206" name="Text Box 4"/>
          <p:cNvSpPr txBox="1">
            <a:spLocks noChangeArrowheads="1"/>
          </p:cNvSpPr>
          <p:nvPr/>
        </p:nvSpPr>
        <p:spPr bwMode="auto">
          <a:xfrm>
            <a:off x="947738" y="5219700"/>
            <a:ext cx="5605462" cy="954107"/>
          </a:xfrm>
          <a:prstGeom prst="rect">
            <a:avLst/>
          </a:prstGeom>
          <a:solidFill>
            <a:srgbClr val="FFFFCC"/>
          </a:solidFill>
          <a:ln w="9525">
            <a:noFill/>
            <a:miter lim="800000"/>
            <a:headEnd/>
            <a:tailEnd/>
          </a:ln>
        </p:spPr>
        <p:txBody>
          <a:bodyPr wrap="square">
            <a:spAutoFit/>
          </a:bodyPr>
          <a:lstStyle/>
          <a:p>
            <a:pPr algn="ctr">
              <a:spcBef>
                <a:spcPct val="0"/>
              </a:spcBef>
            </a:pPr>
            <a:r>
              <a:rPr lang="en-US" sz="2800" dirty="0">
                <a:solidFill>
                  <a:srgbClr val="FF0000"/>
                </a:solidFill>
                <a:latin typeface="Arial" pitchFamily="34" charset="0"/>
                <a:cs typeface="Arial" pitchFamily="34" charset="0"/>
              </a:rPr>
              <a:t>I will return to look for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thread’s input value</a:t>
            </a:r>
          </a:p>
        </p:txBody>
      </p:sp>
      <p:sp>
        <p:nvSpPr>
          <p:cNvPr id="51207" name="AutoShape 5"/>
          <p:cNvSpPr>
            <a:spLocks noChangeArrowheads="1"/>
          </p:cNvSpPr>
          <p:nvPr/>
        </p:nvSpPr>
        <p:spPr bwMode="auto">
          <a:xfrm>
            <a:off x="593835" y="2841625"/>
            <a:ext cx="5783263" cy="477838"/>
          </a:xfrm>
          <a:prstGeom prst="wedgeRoundRectCallout">
            <a:avLst>
              <a:gd name="adj1" fmla="val 125"/>
              <a:gd name="adj2" fmla="val 432394"/>
              <a:gd name="adj3" fmla="val 16667"/>
            </a:avLst>
          </a:prstGeom>
          <a:noFill/>
          <a:ln w="38100">
            <a:solidFill>
              <a:srgbClr val="FF0000"/>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54FE481C-9D68-448A-84CF-C8BFAB6E08C8}" type="slidenum">
              <a:rPr lang="en-US"/>
              <a:pPr>
                <a:defRPr/>
              </a:pPr>
              <a:t>51</a:t>
            </a:fld>
            <a:endParaRPr lang="en-US"/>
          </a:p>
        </p:txBody>
      </p:sp>
      <p:sp>
        <p:nvSpPr>
          <p:cNvPr id="52228" name="Rectangle 2"/>
          <p:cNvSpPr>
            <a:spLocks noGrp="1" noChangeArrowheads="1"/>
          </p:cNvSpPr>
          <p:nvPr>
            <p:ph type="title"/>
          </p:nvPr>
        </p:nvSpPr>
        <p:spPr/>
        <p:txBody>
          <a:bodyPr/>
          <a:lstStyle/>
          <a:p>
            <a:r>
              <a:rPr lang="en-US"/>
              <a:t>Precombining Node</a:t>
            </a:r>
          </a:p>
        </p:txBody>
      </p:sp>
      <p:sp>
        <p:nvSpPr>
          <p:cNvPr id="52229" name="Rectangle 3"/>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a:solidFill>
                  <a:schemeClr val="folHlink"/>
                </a:solidFill>
                <a:latin typeface="Arial" pitchFamily="34" charset="0"/>
                <a:cs typeface="Arial" pitchFamily="34" charset="0"/>
              </a:rPr>
              <a:t>synchronized boolean precombine() {</a:t>
            </a:r>
          </a:p>
          <a:p>
            <a:pPr marL="342900" indent="-342900"/>
            <a:r>
              <a:rPr lang="en-US" sz="2000">
                <a:solidFill>
                  <a:schemeClr val="folHlink"/>
                </a:solidFill>
                <a:latin typeface="Arial" pitchFamily="34" charset="0"/>
                <a:cs typeface="Arial" pitchFamily="34" charset="0"/>
              </a:rPr>
              <a:t> while (locked) {wait();}</a:t>
            </a:r>
          </a:p>
          <a:p>
            <a:pPr marL="342900" indent="-342900"/>
            <a:r>
              <a:rPr lang="en-US" sz="2000">
                <a:solidFill>
                  <a:schemeClr val="folHlink"/>
                </a:solidFill>
                <a:latin typeface="Arial" pitchFamily="34" charset="0"/>
                <a:cs typeface="Arial" pitchFamily="34" charset="0"/>
              </a:rPr>
              <a:t> switch (cStatus) {</a:t>
            </a:r>
          </a:p>
          <a:p>
            <a:pPr marL="342900" indent="-342900"/>
            <a:r>
              <a:rPr lang="en-US" sz="2000">
                <a:solidFill>
                  <a:schemeClr val="folHlink"/>
                </a:solidFill>
                <a:latin typeface="Arial" pitchFamily="34" charset="0"/>
                <a:cs typeface="Arial" pitchFamily="34" charset="0"/>
              </a:rPr>
              <a:t>  case IDLE: cStatus = CStatus.FIRST;</a:t>
            </a:r>
          </a:p>
          <a:p>
            <a:pPr marL="342900" indent="-342900"/>
            <a:r>
              <a:rPr lang="en-US" sz="2000">
                <a:latin typeface="Arial" pitchFamily="34" charset="0"/>
                <a:cs typeface="Arial" pitchFamily="34" charset="0"/>
              </a:rPr>
              <a:t>             </a:t>
            </a:r>
            <a:r>
              <a:rPr lang="en-US" sz="2000">
                <a:solidFill>
                  <a:schemeClr val="tx1"/>
                </a:solidFill>
                <a:latin typeface="Arial" pitchFamily="34" charset="0"/>
                <a:cs typeface="Arial" pitchFamily="34" charset="0"/>
              </a:rPr>
              <a:t>return</a:t>
            </a:r>
            <a:r>
              <a:rPr lang="en-US" sz="2000">
                <a:latin typeface="Arial" pitchFamily="34" charset="0"/>
                <a:cs typeface="Arial" pitchFamily="34" charset="0"/>
              </a:rPr>
              <a:t> true;</a:t>
            </a:r>
          </a:p>
          <a:p>
            <a:pPr marL="342900" indent="-342900"/>
            <a:r>
              <a:rPr lang="en-US" sz="2000">
                <a:latin typeface="Arial" pitchFamily="34" charset="0"/>
                <a:cs typeface="Arial" pitchFamily="34" charset="0"/>
              </a:rPr>
              <a:t>  </a:t>
            </a:r>
            <a:r>
              <a:rPr lang="en-US" sz="2000">
                <a:solidFill>
                  <a:schemeClr val="folHlink"/>
                </a:solidFill>
                <a:latin typeface="Arial" pitchFamily="34" charset="0"/>
                <a:cs typeface="Arial" pitchFamily="34" charset="0"/>
              </a:rPr>
              <a:t>case FIRST: locked = true;</a:t>
            </a:r>
          </a:p>
          <a:p>
            <a:pPr marL="342900" indent="-342900"/>
            <a:r>
              <a:rPr lang="en-US" sz="2000">
                <a:solidFill>
                  <a:schemeClr val="folHlink"/>
                </a:solidFill>
                <a:latin typeface="Arial" pitchFamily="34" charset="0"/>
                <a:cs typeface="Arial" pitchFamily="34" charset="0"/>
              </a:rPr>
              <a:t>              cStatus = CStatus.SECOND;</a:t>
            </a:r>
          </a:p>
          <a:p>
            <a:pPr marL="342900" indent="-342900"/>
            <a:r>
              <a:rPr lang="en-US" sz="2000">
                <a:solidFill>
                  <a:schemeClr val="folHlink"/>
                </a:solidFill>
                <a:latin typeface="Arial" pitchFamily="34" charset="0"/>
                <a:cs typeface="Arial" pitchFamily="34" charset="0"/>
              </a:rPr>
              <a:t>              return false;</a:t>
            </a:r>
          </a:p>
          <a:p>
            <a:pPr marL="342900" indent="-342900"/>
            <a:r>
              <a:rPr lang="en-US" sz="2000">
                <a:solidFill>
                  <a:schemeClr val="folHlink"/>
                </a:solidFill>
                <a:latin typeface="Arial" pitchFamily="34" charset="0"/>
                <a:cs typeface="Arial" pitchFamily="34" charset="0"/>
              </a:rPr>
              <a:t>  case ROOT: return false;</a:t>
            </a:r>
          </a:p>
          <a:p>
            <a:pPr marL="342900" indent="-342900"/>
            <a:r>
              <a:rPr lang="en-US" sz="2000">
                <a:solidFill>
                  <a:schemeClr val="folHlink"/>
                </a:solidFill>
                <a:latin typeface="Arial" pitchFamily="34" charset="0"/>
                <a:cs typeface="Arial" pitchFamily="34" charset="0"/>
              </a:rPr>
              <a:t>  default: throw new PanicException()</a:t>
            </a:r>
          </a:p>
          <a:p>
            <a:pPr marL="342900" indent="-342900"/>
            <a:r>
              <a:rPr lang="en-US" sz="2000">
                <a:solidFill>
                  <a:schemeClr val="folHlink"/>
                </a:solidFill>
                <a:latin typeface="Arial" pitchFamily="34" charset="0"/>
                <a:cs typeface="Arial" pitchFamily="34" charset="0"/>
              </a:rPr>
              <a:t>  }</a:t>
            </a:r>
          </a:p>
          <a:p>
            <a:pPr marL="342900" indent="-342900"/>
            <a:r>
              <a:rPr lang="en-US" sz="2000">
                <a:solidFill>
                  <a:schemeClr val="folHlink"/>
                </a:solidFill>
                <a:latin typeface="Arial" pitchFamily="34" charset="0"/>
                <a:cs typeface="Arial" pitchFamily="34" charset="0"/>
              </a:rPr>
              <a:t>}</a:t>
            </a:r>
          </a:p>
        </p:txBody>
      </p:sp>
      <p:sp>
        <p:nvSpPr>
          <p:cNvPr id="52230" name="Text Box 4"/>
          <p:cNvSpPr txBox="1">
            <a:spLocks noChangeArrowheads="1"/>
          </p:cNvSpPr>
          <p:nvPr/>
        </p:nvSpPr>
        <p:spPr bwMode="auto">
          <a:xfrm>
            <a:off x="2868985" y="4378325"/>
            <a:ext cx="4343400" cy="519113"/>
          </a:xfrm>
          <a:prstGeom prst="rect">
            <a:avLst/>
          </a:prstGeom>
          <a:solidFill>
            <a:srgbClr val="FFFFCC"/>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Continue up the tree</a:t>
            </a:r>
          </a:p>
        </p:txBody>
      </p:sp>
      <p:sp>
        <p:nvSpPr>
          <p:cNvPr id="52231" name="AutoShape 5"/>
          <p:cNvSpPr>
            <a:spLocks noChangeArrowheads="1"/>
          </p:cNvSpPr>
          <p:nvPr/>
        </p:nvSpPr>
        <p:spPr bwMode="auto">
          <a:xfrm>
            <a:off x="1639888" y="3205163"/>
            <a:ext cx="2286000" cy="477837"/>
          </a:xfrm>
          <a:prstGeom prst="wedgeRoundRectCallout">
            <a:avLst>
              <a:gd name="adj1" fmla="val 35486"/>
              <a:gd name="adj2" fmla="val 191528"/>
              <a:gd name="adj3" fmla="val 16667"/>
            </a:avLst>
          </a:prstGeom>
          <a:noFill/>
          <a:ln w="38100">
            <a:solidFill>
              <a:srgbClr val="FF0000"/>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a:xfrm>
            <a:off x="2764440" y="6248400"/>
            <a:ext cx="2895600" cy="457200"/>
          </a:xfrm>
        </p:spPr>
        <p:txBody>
          <a:bodyPr/>
          <a:lstStyle/>
          <a:p>
            <a:pPr>
              <a:defRPr/>
            </a:pPr>
            <a:r>
              <a:rPr lang="en-US"/>
              <a:t>Art of Multiprocessor Programming</a:t>
            </a:r>
          </a:p>
        </p:txBody>
      </p:sp>
      <p:sp>
        <p:nvSpPr>
          <p:cNvPr id="7" name="Slide Number Placeholder 5"/>
          <p:cNvSpPr>
            <a:spLocks noGrp="1"/>
          </p:cNvSpPr>
          <p:nvPr>
            <p:ph type="sldNum" sz="quarter" idx="11"/>
          </p:nvPr>
        </p:nvSpPr>
        <p:spPr>
          <a:xfrm>
            <a:off x="6193440" y="6248400"/>
            <a:ext cx="1905000" cy="457200"/>
          </a:xfrm>
        </p:spPr>
        <p:txBody>
          <a:bodyPr/>
          <a:lstStyle/>
          <a:p>
            <a:pPr>
              <a:defRPr/>
            </a:pPr>
            <a:fld id="{5746B560-6F8C-4FF0-A846-52C4EA60369E}" type="slidenum">
              <a:rPr lang="en-US"/>
              <a:pPr>
                <a:defRPr/>
              </a:pPr>
              <a:t>52</a:t>
            </a:fld>
            <a:endParaRPr lang="en-US"/>
          </a:p>
        </p:txBody>
      </p:sp>
      <p:sp>
        <p:nvSpPr>
          <p:cNvPr id="53252" name="Rectangle 2"/>
          <p:cNvSpPr>
            <a:spLocks noGrp="1" noChangeArrowheads="1"/>
          </p:cNvSpPr>
          <p:nvPr>
            <p:ph type="title"/>
          </p:nvPr>
        </p:nvSpPr>
        <p:spPr>
          <a:xfrm>
            <a:off x="326040" y="609600"/>
            <a:ext cx="7772400" cy="1143000"/>
          </a:xfrm>
        </p:spPr>
        <p:txBody>
          <a:bodyPr/>
          <a:lstStyle/>
          <a:p>
            <a:r>
              <a:rPr lang="en-US"/>
              <a:t>I’m the 2</a:t>
            </a:r>
            <a:r>
              <a:rPr lang="en-US" baseline="30000"/>
              <a:t>nd</a:t>
            </a:r>
            <a:r>
              <a:rPr lang="en-US"/>
              <a:t> Thread</a:t>
            </a:r>
          </a:p>
        </p:txBody>
      </p:sp>
      <p:sp>
        <p:nvSpPr>
          <p:cNvPr id="53253" name="Rectangle 3"/>
          <p:cNvSpPr>
            <a:spLocks noChangeArrowheads="1"/>
          </p:cNvSpPr>
          <p:nvPr/>
        </p:nvSpPr>
        <p:spPr bwMode="auto">
          <a:xfrm>
            <a:off x="58797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a:solidFill>
                  <a:schemeClr val="folHlink"/>
                </a:solidFill>
                <a:latin typeface="Arial" pitchFamily="34" charset="0"/>
                <a:cs typeface="Arial" pitchFamily="34" charset="0"/>
              </a:rPr>
              <a:t>synchronized boolean precombine() {</a:t>
            </a:r>
          </a:p>
          <a:p>
            <a:pPr marL="342900" indent="-342900"/>
            <a:r>
              <a:rPr lang="en-US" sz="2000">
                <a:solidFill>
                  <a:schemeClr val="folHlink"/>
                </a:solidFill>
                <a:latin typeface="Arial" pitchFamily="34" charset="0"/>
                <a:cs typeface="Arial" pitchFamily="34" charset="0"/>
              </a:rPr>
              <a:t> while (locked) {wait();}</a:t>
            </a:r>
          </a:p>
          <a:p>
            <a:pPr marL="342900" indent="-342900"/>
            <a:r>
              <a:rPr lang="en-US" sz="2000">
                <a:solidFill>
                  <a:schemeClr val="folHlink"/>
                </a:solidFill>
                <a:latin typeface="Arial" pitchFamily="34" charset="0"/>
                <a:cs typeface="Arial" pitchFamily="34" charset="0"/>
              </a:rPr>
              <a:t> switch (cStatus) {</a:t>
            </a:r>
          </a:p>
          <a:p>
            <a:pPr marL="342900" indent="-342900"/>
            <a:r>
              <a:rPr lang="en-US" sz="2000">
                <a:solidFill>
                  <a:schemeClr val="folHlink"/>
                </a:solidFill>
                <a:latin typeface="Arial" pitchFamily="34" charset="0"/>
                <a:cs typeface="Arial" pitchFamily="34" charset="0"/>
              </a:rPr>
              <a:t>  case IDLE: cStatus = CStatus.FIRST;</a:t>
            </a:r>
          </a:p>
          <a:p>
            <a:pPr marL="342900" indent="-342900"/>
            <a:r>
              <a:rPr lang="en-US" sz="2000">
                <a:solidFill>
                  <a:schemeClr val="folHlink"/>
                </a:solidFill>
                <a:latin typeface="Arial" pitchFamily="34" charset="0"/>
                <a:cs typeface="Arial" pitchFamily="34" charset="0"/>
              </a:rPr>
              <a:t>             return true;</a:t>
            </a:r>
          </a:p>
          <a:p>
            <a:pPr marL="342900" indent="-342900"/>
            <a:r>
              <a:rPr lang="en-US" sz="2000">
                <a:latin typeface="Arial" pitchFamily="34" charset="0"/>
                <a:cs typeface="Arial" pitchFamily="34" charset="0"/>
              </a:rPr>
              <a:t>  </a:t>
            </a:r>
            <a:r>
              <a:rPr lang="en-US" sz="2000">
                <a:solidFill>
                  <a:schemeClr val="tx1"/>
                </a:solidFill>
                <a:latin typeface="Arial" pitchFamily="34" charset="0"/>
                <a:cs typeface="Arial" pitchFamily="34" charset="0"/>
              </a:rPr>
              <a:t>case</a:t>
            </a:r>
            <a:r>
              <a:rPr lang="en-US" sz="2000">
                <a:latin typeface="Arial" pitchFamily="34" charset="0"/>
                <a:cs typeface="Arial" pitchFamily="34" charset="0"/>
              </a:rPr>
              <a:t> FIRST: locked = true;</a:t>
            </a:r>
          </a:p>
          <a:p>
            <a:pPr marL="342900" indent="-342900"/>
            <a:r>
              <a:rPr lang="en-US" sz="2000">
                <a:latin typeface="Arial" pitchFamily="34" charset="0"/>
                <a:cs typeface="Arial" pitchFamily="34" charset="0"/>
              </a:rPr>
              <a:t>              </a:t>
            </a:r>
            <a:r>
              <a:rPr lang="en-US" sz="2000">
                <a:solidFill>
                  <a:schemeClr val="folHlink"/>
                </a:solidFill>
                <a:latin typeface="Arial" pitchFamily="34" charset="0"/>
                <a:cs typeface="Arial" pitchFamily="34" charset="0"/>
              </a:rPr>
              <a:t>cStatus = CStatus.SECOND;</a:t>
            </a:r>
          </a:p>
          <a:p>
            <a:pPr marL="342900" indent="-342900"/>
            <a:r>
              <a:rPr lang="en-US" sz="2000">
                <a:solidFill>
                  <a:schemeClr val="folHlink"/>
                </a:solidFill>
                <a:latin typeface="Arial" pitchFamily="34" charset="0"/>
                <a:cs typeface="Arial" pitchFamily="34" charset="0"/>
              </a:rPr>
              <a:t>              return false;</a:t>
            </a:r>
          </a:p>
          <a:p>
            <a:pPr marL="342900" indent="-342900"/>
            <a:r>
              <a:rPr lang="en-US" sz="2000">
                <a:solidFill>
                  <a:schemeClr val="folHlink"/>
                </a:solidFill>
                <a:latin typeface="Arial" pitchFamily="34" charset="0"/>
                <a:cs typeface="Arial" pitchFamily="34" charset="0"/>
              </a:rPr>
              <a:t>  case ROOT: return false;</a:t>
            </a:r>
          </a:p>
          <a:p>
            <a:pPr marL="342900" indent="-342900"/>
            <a:r>
              <a:rPr lang="en-US" sz="2000">
                <a:solidFill>
                  <a:schemeClr val="folHlink"/>
                </a:solidFill>
                <a:latin typeface="Arial" pitchFamily="34" charset="0"/>
                <a:cs typeface="Arial" pitchFamily="34" charset="0"/>
              </a:rPr>
              <a:t>  default: throw new PanicException()</a:t>
            </a:r>
          </a:p>
          <a:p>
            <a:pPr marL="342900" indent="-342900"/>
            <a:r>
              <a:rPr lang="en-US" sz="2000">
                <a:solidFill>
                  <a:schemeClr val="folHlink"/>
                </a:solidFill>
                <a:latin typeface="Arial" pitchFamily="34" charset="0"/>
                <a:cs typeface="Arial" pitchFamily="34" charset="0"/>
              </a:rPr>
              <a:t>  }</a:t>
            </a:r>
          </a:p>
          <a:p>
            <a:pPr marL="342900" indent="-342900"/>
            <a:r>
              <a:rPr lang="en-US" sz="2000">
                <a:solidFill>
                  <a:schemeClr val="folHlink"/>
                </a:solidFill>
                <a:latin typeface="Arial" pitchFamily="34" charset="0"/>
                <a:cs typeface="Arial" pitchFamily="34" charset="0"/>
              </a:rPr>
              <a:t>}</a:t>
            </a:r>
          </a:p>
        </p:txBody>
      </p:sp>
      <p:sp>
        <p:nvSpPr>
          <p:cNvPr id="53254" name="Text Box 4"/>
          <p:cNvSpPr txBox="1">
            <a:spLocks noChangeArrowheads="1"/>
          </p:cNvSpPr>
          <p:nvPr/>
        </p:nvSpPr>
        <p:spPr bwMode="auto">
          <a:xfrm>
            <a:off x="587978" y="5219700"/>
            <a:ext cx="7510462" cy="946150"/>
          </a:xfrm>
          <a:prstGeom prst="rect">
            <a:avLst/>
          </a:prstGeom>
          <a:solidFill>
            <a:srgbClr val="FFFFCC"/>
          </a:solidFill>
          <a:ln w="9525">
            <a:noFill/>
            <a:miter lim="800000"/>
            <a:headEnd/>
            <a:tailEnd/>
          </a:ln>
        </p:spPr>
        <p:txBody>
          <a:bodyPr>
            <a:spAutoFit/>
          </a:bodyPr>
          <a:lstStyle/>
          <a:p>
            <a:pPr algn="ctr">
              <a:spcBef>
                <a:spcPct val="0"/>
              </a:spcBef>
            </a:pPr>
            <a:r>
              <a:rPr lang="en-US" sz="2800">
                <a:solidFill>
                  <a:srgbClr val="FF0000"/>
                </a:solidFill>
                <a:latin typeface="Arial" pitchFamily="34" charset="0"/>
                <a:cs typeface="Arial" pitchFamily="34" charset="0"/>
              </a:rPr>
              <a:t>If 1</a:t>
            </a:r>
            <a:r>
              <a:rPr lang="en-US" sz="2800" baseline="30000">
                <a:solidFill>
                  <a:srgbClr val="FF0000"/>
                </a:solidFill>
                <a:latin typeface="Arial" pitchFamily="34" charset="0"/>
                <a:cs typeface="Arial" pitchFamily="34" charset="0"/>
              </a:rPr>
              <a:t>st</a:t>
            </a:r>
            <a:r>
              <a:rPr lang="en-US" sz="2800">
                <a:solidFill>
                  <a:srgbClr val="FF0000"/>
                </a:solidFill>
                <a:latin typeface="Arial" pitchFamily="34" charset="0"/>
                <a:cs typeface="Arial" pitchFamily="34" charset="0"/>
              </a:rPr>
              <a:t> thread has promised to return, lock node so it won’t leave without me</a:t>
            </a:r>
          </a:p>
        </p:txBody>
      </p:sp>
      <p:sp>
        <p:nvSpPr>
          <p:cNvPr id="53255" name="AutoShape 5"/>
          <p:cNvSpPr>
            <a:spLocks noChangeArrowheads="1"/>
          </p:cNvSpPr>
          <p:nvPr/>
        </p:nvSpPr>
        <p:spPr bwMode="auto">
          <a:xfrm>
            <a:off x="638130" y="3543300"/>
            <a:ext cx="3469175" cy="477838"/>
          </a:xfrm>
          <a:prstGeom prst="wedgeRoundRectCallout">
            <a:avLst>
              <a:gd name="adj1" fmla="val 45440"/>
              <a:gd name="adj2" fmla="val 312125"/>
              <a:gd name="adj3" fmla="val 16667"/>
            </a:avLst>
          </a:prstGeom>
          <a:noFill/>
          <a:ln w="38100">
            <a:solidFill>
              <a:srgbClr val="FF0000"/>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F57C40F6-B177-4440-A2CB-3CF51FA686A5}" type="slidenum">
              <a:rPr lang="en-US"/>
              <a:pPr>
                <a:defRPr/>
              </a:pPr>
              <a:t>53</a:t>
            </a:fld>
            <a:endParaRPr lang="en-US"/>
          </a:p>
        </p:txBody>
      </p:sp>
      <p:sp>
        <p:nvSpPr>
          <p:cNvPr id="54276" name="Rectangle 2"/>
          <p:cNvSpPr>
            <a:spLocks noGrp="1" noChangeArrowheads="1"/>
          </p:cNvSpPr>
          <p:nvPr>
            <p:ph type="title"/>
          </p:nvPr>
        </p:nvSpPr>
        <p:spPr/>
        <p:txBody>
          <a:bodyPr/>
          <a:lstStyle/>
          <a:p>
            <a:r>
              <a:rPr lang="en-US"/>
              <a:t>Precombining Node</a:t>
            </a:r>
          </a:p>
        </p:txBody>
      </p:sp>
      <p:sp>
        <p:nvSpPr>
          <p:cNvPr id="54277" name="Rectangle 3"/>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boolean</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precombine</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while (locked) {wait();}</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IDLE: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CStatus.FIRST</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true;</a:t>
            </a:r>
          </a:p>
          <a:p>
            <a:pPr marL="342900" indent="-342900"/>
            <a:r>
              <a:rPr lang="en-US" sz="2000" dirty="0">
                <a:solidFill>
                  <a:schemeClr val="folHlink"/>
                </a:solidFill>
                <a:latin typeface="Courier New" pitchFamily="49" charset="0"/>
              </a:rPr>
              <a:t>  case FIRST: locked = true;</a:t>
            </a:r>
          </a:p>
          <a:p>
            <a:pPr marL="342900" indent="-342900"/>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CStatus.SECOND</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folHlink"/>
                </a:solidFill>
                <a:latin typeface="Courier New" pitchFamily="49" charset="0"/>
              </a:rPr>
              <a:t>return false;</a:t>
            </a:r>
          </a:p>
          <a:p>
            <a:pPr marL="342900" indent="-342900"/>
            <a:r>
              <a:rPr lang="en-US" sz="2000" dirty="0">
                <a:solidFill>
                  <a:schemeClr val="folHlink"/>
                </a:solidFill>
                <a:latin typeface="Courier New" pitchFamily="49" charset="0"/>
              </a:rPr>
              <a:t>  case ROOT: return false;</a:t>
            </a:r>
          </a:p>
          <a:p>
            <a:pPr marL="342900" indent="-342900"/>
            <a:r>
              <a:rPr lang="en-US" sz="2000" dirty="0">
                <a:solidFill>
                  <a:schemeClr val="folHlink"/>
                </a:solidFill>
                <a:latin typeface="Courier New" pitchFamily="49" charset="0"/>
              </a:rPr>
              <a:t>  default: throw new </a:t>
            </a:r>
            <a:r>
              <a:rPr lang="en-US" sz="2000" dirty="0" err="1">
                <a:solidFill>
                  <a:schemeClr val="folHlink"/>
                </a:solidFill>
                <a:latin typeface="Courier New" pitchFamily="49" charset="0"/>
              </a:rPr>
              <a:t>PanicException</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a:t>
            </a:r>
          </a:p>
        </p:txBody>
      </p:sp>
      <p:sp>
        <p:nvSpPr>
          <p:cNvPr id="54278" name="Text Box 4"/>
          <p:cNvSpPr txBox="1">
            <a:spLocks noChangeArrowheads="1"/>
          </p:cNvSpPr>
          <p:nvPr/>
        </p:nvSpPr>
        <p:spPr bwMode="auto">
          <a:xfrm>
            <a:off x="4114800" y="5219700"/>
            <a:ext cx="4343400" cy="954107"/>
          </a:xfrm>
          <a:prstGeom prst="rect">
            <a:avLst/>
          </a:prstGeom>
          <a:solidFill>
            <a:srgbClr val="FFFFCC"/>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Prepare to deposit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thread’s input value</a:t>
            </a:r>
          </a:p>
        </p:txBody>
      </p:sp>
      <p:sp>
        <p:nvSpPr>
          <p:cNvPr id="54279" name="AutoShape 5"/>
          <p:cNvSpPr>
            <a:spLocks noChangeArrowheads="1"/>
          </p:cNvSpPr>
          <p:nvPr/>
        </p:nvSpPr>
        <p:spPr bwMode="auto">
          <a:xfrm>
            <a:off x="2935288" y="3924300"/>
            <a:ext cx="4379912" cy="477838"/>
          </a:xfrm>
          <a:prstGeom prst="wedgeRoundRectCallout">
            <a:avLst>
              <a:gd name="adj1" fmla="val 13681"/>
              <a:gd name="adj2" fmla="val 241028"/>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F0B95DA0-30E6-464B-8D68-33ACD3A10399}" type="slidenum">
              <a:rPr lang="en-US"/>
              <a:pPr>
                <a:defRPr/>
              </a:pPr>
              <a:t>54</a:t>
            </a:fld>
            <a:endParaRPr lang="en-US"/>
          </a:p>
        </p:txBody>
      </p:sp>
      <p:sp>
        <p:nvSpPr>
          <p:cNvPr id="55300" name="Rectangle 2"/>
          <p:cNvSpPr>
            <a:spLocks noGrp="1" noChangeArrowheads="1"/>
          </p:cNvSpPr>
          <p:nvPr>
            <p:ph type="title"/>
          </p:nvPr>
        </p:nvSpPr>
        <p:spPr/>
        <p:txBody>
          <a:bodyPr/>
          <a:lstStyle/>
          <a:p>
            <a:r>
              <a:rPr lang="en-US"/>
              <a:t>Precombining Node</a:t>
            </a:r>
          </a:p>
        </p:txBody>
      </p:sp>
      <p:sp>
        <p:nvSpPr>
          <p:cNvPr id="55301" name="Rectangle 3"/>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boolean</a:t>
            </a:r>
            <a:r>
              <a:rPr lang="en-US" sz="2000" dirty="0">
                <a:solidFill>
                  <a:schemeClr val="folHlink"/>
                </a:solidFill>
                <a:latin typeface="Courier New" pitchFamily="49" charset="0"/>
              </a:rPr>
              <a:t> phase1() {</a:t>
            </a:r>
          </a:p>
          <a:p>
            <a:pPr marL="342900" indent="-342900"/>
            <a:r>
              <a:rPr lang="en-US" sz="2000" dirty="0">
                <a:solidFill>
                  <a:schemeClr val="folHlink"/>
                </a:solidFill>
                <a:latin typeface="Courier New" pitchFamily="49" charset="0"/>
              </a:rPr>
              <a:t> while (</a:t>
            </a:r>
            <a:r>
              <a:rPr lang="en-US" sz="2000" dirty="0" err="1">
                <a:solidFill>
                  <a:schemeClr val="folHlink"/>
                </a:solidFill>
                <a:latin typeface="Courier New" pitchFamily="49" charset="0"/>
              </a:rPr>
              <a:t>sStatus</a:t>
            </a:r>
            <a:r>
              <a:rPr lang="en-US" sz="2000" dirty="0">
                <a:solidFill>
                  <a:schemeClr val="folHlink"/>
                </a:solidFill>
                <a:latin typeface="Courier New" pitchFamily="49" charset="0"/>
              </a:rPr>
              <a:t>==</a:t>
            </a:r>
            <a:r>
              <a:rPr lang="en-US" sz="2000" dirty="0" err="1">
                <a:solidFill>
                  <a:schemeClr val="folHlink"/>
                </a:solidFill>
                <a:latin typeface="Courier New" pitchFamily="49" charset="0"/>
              </a:rPr>
              <a:t>SStatus.BUSY</a:t>
            </a:r>
            <a:r>
              <a:rPr lang="en-US" sz="2000" dirty="0">
                <a:solidFill>
                  <a:schemeClr val="folHlink"/>
                </a:solidFill>
                <a:latin typeface="Courier New" pitchFamily="49" charset="0"/>
              </a:rPr>
              <a:t>) {wait();}</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IDLE: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CStatus.FIRST</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true;</a:t>
            </a:r>
          </a:p>
          <a:p>
            <a:pPr marL="342900" indent="-342900"/>
            <a:r>
              <a:rPr lang="en-US" sz="2000" dirty="0">
                <a:solidFill>
                  <a:schemeClr val="folHlink"/>
                </a:solidFill>
                <a:latin typeface="Courier New" pitchFamily="49" charset="0"/>
              </a:rPr>
              <a:t>  case FIRST: locked = true;</a:t>
            </a:r>
          </a:p>
          <a:p>
            <a:pPr marL="342900" indent="-342900"/>
            <a:r>
              <a:rPr lang="en-US" sz="2000" dirty="0">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CStatus.SECOND</a:t>
            </a:r>
            <a:r>
              <a:rPr lang="en-US" sz="2000" dirty="0">
                <a:solidFill>
                  <a:schemeClr val="folHlink"/>
                </a:solidFill>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false;</a:t>
            </a:r>
          </a:p>
          <a:p>
            <a:pPr marL="342900" indent="-342900"/>
            <a:r>
              <a:rPr lang="en-US" sz="2000" dirty="0">
                <a:latin typeface="Courier New" pitchFamily="49" charset="0"/>
              </a:rPr>
              <a:t>  </a:t>
            </a:r>
            <a:r>
              <a:rPr lang="en-US" sz="2000" dirty="0">
                <a:solidFill>
                  <a:schemeClr val="folHlink"/>
                </a:solidFill>
                <a:latin typeface="Courier New" pitchFamily="49" charset="0"/>
              </a:rPr>
              <a:t>case ROOT: return false;</a:t>
            </a:r>
          </a:p>
          <a:p>
            <a:pPr marL="342900" indent="-342900"/>
            <a:r>
              <a:rPr lang="en-US" sz="2000" dirty="0">
                <a:solidFill>
                  <a:schemeClr val="folHlink"/>
                </a:solidFill>
                <a:latin typeface="Courier New" pitchFamily="49" charset="0"/>
              </a:rPr>
              <a:t>  default: throw new </a:t>
            </a:r>
            <a:r>
              <a:rPr lang="en-US" sz="2000" dirty="0" err="1">
                <a:solidFill>
                  <a:schemeClr val="folHlink"/>
                </a:solidFill>
                <a:latin typeface="Courier New" pitchFamily="49" charset="0"/>
              </a:rPr>
              <a:t>PanicException</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a:t>
            </a:r>
          </a:p>
        </p:txBody>
      </p:sp>
      <p:sp>
        <p:nvSpPr>
          <p:cNvPr id="55302" name="Text Box 4"/>
          <p:cNvSpPr txBox="1">
            <a:spLocks noChangeArrowheads="1"/>
          </p:cNvSpPr>
          <p:nvPr/>
        </p:nvSpPr>
        <p:spPr bwMode="auto">
          <a:xfrm>
            <a:off x="947738" y="2229653"/>
            <a:ext cx="5072062" cy="954107"/>
          </a:xfrm>
          <a:prstGeom prst="rect">
            <a:avLst/>
          </a:prstGeom>
          <a:solidFill>
            <a:srgbClr val="FFFFCC"/>
          </a:solidFill>
          <a:ln w="9525">
            <a:noFill/>
            <a:miter lim="800000"/>
            <a:headEnd/>
            <a:tailEnd/>
          </a:ln>
        </p:spPr>
        <p:txBody>
          <a:bodyPr wrap="square">
            <a:spAutoFit/>
          </a:bodyPr>
          <a:lstStyle/>
          <a:p>
            <a:pPr algn="ctr">
              <a:spcBef>
                <a:spcPct val="0"/>
              </a:spcBef>
            </a:pPr>
            <a:r>
              <a:rPr lang="en-US" sz="2800" dirty="0">
                <a:solidFill>
                  <a:srgbClr val="FF0000"/>
                </a:solidFill>
                <a:latin typeface="Arial" pitchFamily="34" charset="0"/>
                <a:cs typeface="Arial" pitchFamily="34" charset="0"/>
              </a:rPr>
              <a:t>End of </a:t>
            </a:r>
            <a:r>
              <a:rPr lang="en-US" sz="2800" dirty="0" err="1">
                <a:solidFill>
                  <a:srgbClr val="FF0000"/>
                </a:solidFill>
                <a:latin typeface="Arial" pitchFamily="34" charset="0"/>
                <a:cs typeface="Arial" pitchFamily="34" charset="0"/>
              </a:rPr>
              <a:t>precombining</a:t>
            </a:r>
            <a:r>
              <a:rPr lang="en-US" sz="2800" dirty="0">
                <a:solidFill>
                  <a:srgbClr val="FF0000"/>
                </a:solidFill>
                <a:latin typeface="Arial" pitchFamily="34" charset="0"/>
                <a:cs typeface="Arial" pitchFamily="34" charset="0"/>
              </a:rPr>
              <a:t> phase, don’t continue up tree</a:t>
            </a:r>
          </a:p>
        </p:txBody>
      </p:sp>
      <p:sp>
        <p:nvSpPr>
          <p:cNvPr id="55303" name="AutoShape 5"/>
          <p:cNvSpPr>
            <a:spLocks noChangeArrowheads="1"/>
          </p:cNvSpPr>
          <p:nvPr/>
        </p:nvSpPr>
        <p:spPr bwMode="auto">
          <a:xfrm>
            <a:off x="2935288" y="4262438"/>
            <a:ext cx="2355850" cy="477837"/>
          </a:xfrm>
          <a:prstGeom prst="wedgeRoundRectCallout">
            <a:avLst>
              <a:gd name="adj1" fmla="val -42449"/>
              <a:gd name="adj2" fmla="val -261060"/>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40450292-6AC0-49E9-9608-61F9576FBF7B}" type="slidenum">
              <a:rPr lang="en-US"/>
              <a:pPr>
                <a:defRPr/>
              </a:pPr>
              <a:t>55</a:t>
            </a:fld>
            <a:endParaRPr lang="en-US"/>
          </a:p>
        </p:txBody>
      </p:sp>
      <p:sp>
        <p:nvSpPr>
          <p:cNvPr id="56324" name="Rectangle 2"/>
          <p:cNvSpPr>
            <a:spLocks noGrp="1" noChangeArrowheads="1"/>
          </p:cNvSpPr>
          <p:nvPr>
            <p:ph type="title"/>
          </p:nvPr>
        </p:nvSpPr>
        <p:spPr/>
        <p:txBody>
          <a:bodyPr/>
          <a:lstStyle/>
          <a:p>
            <a:r>
              <a:rPr lang="en-US"/>
              <a:t>Node is the Root</a:t>
            </a:r>
          </a:p>
        </p:txBody>
      </p:sp>
      <p:sp>
        <p:nvSpPr>
          <p:cNvPr id="56325" name="Rectangle 3"/>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boolean</a:t>
            </a:r>
            <a:r>
              <a:rPr lang="en-US" sz="2000" dirty="0">
                <a:solidFill>
                  <a:schemeClr val="folHlink"/>
                </a:solidFill>
                <a:latin typeface="Courier New" pitchFamily="49" charset="0"/>
              </a:rPr>
              <a:t> phase1() {</a:t>
            </a:r>
          </a:p>
          <a:p>
            <a:pPr marL="342900" indent="-342900"/>
            <a:r>
              <a:rPr lang="en-US" sz="2000" dirty="0">
                <a:solidFill>
                  <a:schemeClr val="folHlink"/>
                </a:solidFill>
                <a:latin typeface="Courier New" pitchFamily="49" charset="0"/>
              </a:rPr>
              <a:t> while (</a:t>
            </a:r>
            <a:r>
              <a:rPr lang="en-US" sz="2000" dirty="0" err="1">
                <a:solidFill>
                  <a:schemeClr val="folHlink"/>
                </a:solidFill>
                <a:latin typeface="Courier New" pitchFamily="49" charset="0"/>
              </a:rPr>
              <a:t>sStatus</a:t>
            </a:r>
            <a:r>
              <a:rPr lang="en-US" sz="2000" dirty="0">
                <a:solidFill>
                  <a:schemeClr val="folHlink"/>
                </a:solidFill>
                <a:latin typeface="Courier New" pitchFamily="49" charset="0"/>
              </a:rPr>
              <a:t>==</a:t>
            </a:r>
            <a:r>
              <a:rPr lang="en-US" sz="2000" dirty="0" err="1">
                <a:solidFill>
                  <a:schemeClr val="folHlink"/>
                </a:solidFill>
                <a:latin typeface="Courier New" pitchFamily="49" charset="0"/>
              </a:rPr>
              <a:t>SStatus.BUSY</a:t>
            </a:r>
            <a:r>
              <a:rPr lang="en-US" sz="2000" dirty="0">
                <a:solidFill>
                  <a:schemeClr val="folHlink"/>
                </a:solidFill>
                <a:latin typeface="Courier New" pitchFamily="49" charset="0"/>
              </a:rPr>
              <a:t>) {wait();}</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IDLE: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CStatus.FIRST</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true;</a:t>
            </a:r>
          </a:p>
          <a:p>
            <a:pPr marL="342900" indent="-342900"/>
            <a:r>
              <a:rPr lang="en-US" sz="2000" dirty="0">
                <a:solidFill>
                  <a:schemeClr val="folHlink"/>
                </a:solidFill>
                <a:latin typeface="Courier New" pitchFamily="49" charset="0"/>
              </a:rPr>
              <a:t>  case FIRST: locked = true;</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CStatus.SECOND</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false;</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ROOT: </a:t>
            </a:r>
            <a:r>
              <a:rPr lang="en-US" sz="2000" dirty="0">
                <a:solidFill>
                  <a:schemeClr val="tx1"/>
                </a:solidFill>
                <a:latin typeface="Courier New" pitchFamily="49" charset="0"/>
              </a:rPr>
              <a:t>return</a:t>
            </a:r>
            <a:r>
              <a:rPr lang="en-US" sz="2000" dirty="0">
                <a:latin typeface="Courier New" pitchFamily="49" charset="0"/>
              </a:rPr>
              <a:t> false;</a:t>
            </a:r>
          </a:p>
          <a:p>
            <a:pPr marL="342900" indent="-342900"/>
            <a:r>
              <a:rPr lang="en-US" sz="2000" dirty="0">
                <a:latin typeface="Courier New" pitchFamily="49" charset="0"/>
              </a:rPr>
              <a:t>  </a:t>
            </a:r>
            <a:r>
              <a:rPr lang="en-US" sz="2000" dirty="0">
                <a:solidFill>
                  <a:schemeClr val="folHlink"/>
                </a:solidFill>
                <a:latin typeface="Courier New" pitchFamily="49" charset="0"/>
              </a:rPr>
              <a:t>default: throw new </a:t>
            </a:r>
            <a:r>
              <a:rPr lang="en-US" sz="2000" dirty="0" err="1">
                <a:solidFill>
                  <a:schemeClr val="folHlink"/>
                </a:solidFill>
                <a:latin typeface="Courier New" pitchFamily="49" charset="0"/>
              </a:rPr>
              <a:t>PanicException</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a:t>
            </a:r>
          </a:p>
        </p:txBody>
      </p:sp>
      <p:sp>
        <p:nvSpPr>
          <p:cNvPr id="56326" name="Text Box 4"/>
          <p:cNvSpPr txBox="1">
            <a:spLocks noChangeArrowheads="1"/>
          </p:cNvSpPr>
          <p:nvPr/>
        </p:nvSpPr>
        <p:spPr bwMode="auto">
          <a:xfrm>
            <a:off x="947738" y="1752600"/>
            <a:ext cx="4343400" cy="1384300"/>
          </a:xfrm>
          <a:prstGeom prst="rect">
            <a:avLst/>
          </a:prstGeom>
          <a:solidFill>
            <a:srgbClr val="FFFFCC"/>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If root, </a:t>
            </a:r>
            <a:r>
              <a:rPr lang="en-US" sz="2800" dirty="0" err="1">
                <a:solidFill>
                  <a:srgbClr val="FF0000"/>
                </a:solidFill>
                <a:latin typeface="Arial" pitchFamily="34" charset="0"/>
                <a:cs typeface="Arial" pitchFamily="34" charset="0"/>
              </a:rPr>
              <a:t>precombining</a:t>
            </a:r>
            <a:r>
              <a:rPr lang="en-US" sz="2800" dirty="0">
                <a:solidFill>
                  <a:srgbClr val="FF0000"/>
                </a:solidFill>
                <a:latin typeface="Arial" pitchFamily="34" charset="0"/>
                <a:cs typeface="Arial" pitchFamily="34" charset="0"/>
              </a:rPr>
              <a:t> phase ends, don’t continue up tree</a:t>
            </a:r>
          </a:p>
        </p:txBody>
      </p:sp>
      <p:sp>
        <p:nvSpPr>
          <p:cNvPr id="56327" name="AutoShape 5"/>
          <p:cNvSpPr>
            <a:spLocks noChangeArrowheads="1"/>
          </p:cNvSpPr>
          <p:nvPr/>
        </p:nvSpPr>
        <p:spPr bwMode="auto">
          <a:xfrm>
            <a:off x="1254125" y="4683125"/>
            <a:ext cx="4037013" cy="477838"/>
          </a:xfrm>
          <a:prstGeom prst="wedgeRoundRectCallout">
            <a:avLst>
              <a:gd name="adj1" fmla="val -6468"/>
              <a:gd name="adj2" fmla="val -379569"/>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285742E6-8731-4B06-A71B-640A7A760E91}" type="slidenum">
              <a:rPr lang="en-US"/>
              <a:pPr>
                <a:defRPr/>
              </a:pPr>
              <a:t>56</a:t>
            </a:fld>
            <a:endParaRPr lang="en-US"/>
          </a:p>
        </p:txBody>
      </p:sp>
      <p:sp>
        <p:nvSpPr>
          <p:cNvPr id="57348" name="Rectangle 2"/>
          <p:cNvSpPr>
            <a:spLocks noGrp="1" noChangeArrowheads="1"/>
          </p:cNvSpPr>
          <p:nvPr>
            <p:ph type="title"/>
          </p:nvPr>
        </p:nvSpPr>
        <p:spPr/>
        <p:txBody>
          <a:bodyPr/>
          <a:lstStyle/>
          <a:p>
            <a:r>
              <a:rPr lang="en-US"/>
              <a:t>Precombining Node</a:t>
            </a:r>
          </a:p>
        </p:txBody>
      </p:sp>
      <p:sp>
        <p:nvSpPr>
          <p:cNvPr id="57349" name="Rectangle 3"/>
          <p:cNvSpPr>
            <a:spLocks noChangeArrowheads="1"/>
          </p:cNvSpPr>
          <p:nvPr/>
        </p:nvSpPr>
        <p:spPr bwMode="auto">
          <a:xfrm>
            <a:off x="947738" y="1752600"/>
            <a:ext cx="7586662" cy="4462463"/>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boolean</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precombine</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while (locked) {wait();}</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IDLE: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CStatus.FIRST</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true;</a:t>
            </a:r>
          </a:p>
          <a:p>
            <a:pPr marL="342900" indent="-342900"/>
            <a:r>
              <a:rPr lang="en-US" sz="2000" dirty="0">
                <a:solidFill>
                  <a:schemeClr val="folHlink"/>
                </a:solidFill>
                <a:latin typeface="Courier New" pitchFamily="49" charset="0"/>
              </a:rPr>
              <a:t>  case FIRST: locked = true;</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CStatus.SECOND</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false;</a:t>
            </a:r>
          </a:p>
          <a:p>
            <a:pPr marL="342900" indent="-342900"/>
            <a:r>
              <a:rPr lang="en-US" sz="2000" dirty="0">
                <a:solidFill>
                  <a:schemeClr val="folHlink"/>
                </a:solidFill>
                <a:latin typeface="Courier New" pitchFamily="49" charset="0"/>
              </a:rPr>
              <a:t>  case ROOT: return false;</a:t>
            </a:r>
          </a:p>
          <a:p>
            <a:pPr marL="342900" indent="-342900"/>
            <a:r>
              <a:rPr lang="en-US" sz="2000" dirty="0">
                <a:latin typeface="Courier New" pitchFamily="49" charset="0"/>
              </a:rPr>
              <a:t>  </a:t>
            </a:r>
            <a:r>
              <a:rPr lang="en-US" sz="2000" dirty="0">
                <a:solidFill>
                  <a:schemeClr val="tx1"/>
                </a:solidFill>
                <a:latin typeface="Courier New" pitchFamily="49" charset="0"/>
              </a:rPr>
              <a:t>default</a:t>
            </a:r>
            <a:r>
              <a:rPr lang="en-US" sz="2000" dirty="0">
                <a:latin typeface="Courier New" pitchFamily="49" charset="0"/>
              </a:rPr>
              <a:t>: </a:t>
            </a:r>
            <a:r>
              <a:rPr lang="en-US" sz="2000" dirty="0">
                <a:solidFill>
                  <a:schemeClr val="tx1"/>
                </a:solidFill>
                <a:latin typeface="Courier New" pitchFamily="49" charset="0"/>
              </a:rPr>
              <a:t>throw new</a:t>
            </a:r>
            <a:r>
              <a:rPr lang="en-US" sz="2000" dirty="0">
                <a:latin typeface="Courier New" pitchFamily="49" charset="0"/>
              </a:rPr>
              <a:t> </a:t>
            </a:r>
            <a:r>
              <a:rPr lang="en-US" sz="2000" dirty="0" err="1">
                <a:latin typeface="Courier New" pitchFamily="49" charset="0"/>
              </a:rPr>
              <a:t>PanicException</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a:t>
            </a:r>
          </a:p>
        </p:txBody>
      </p:sp>
      <p:sp>
        <p:nvSpPr>
          <p:cNvPr id="57350" name="Text Box 4"/>
          <p:cNvSpPr txBox="1">
            <a:spLocks noChangeArrowheads="1"/>
          </p:cNvSpPr>
          <p:nvPr/>
        </p:nvSpPr>
        <p:spPr bwMode="auto">
          <a:xfrm>
            <a:off x="3778250" y="1989138"/>
            <a:ext cx="4343400" cy="946150"/>
          </a:xfrm>
          <a:prstGeom prst="rect">
            <a:avLst/>
          </a:prstGeom>
          <a:solidFill>
            <a:srgbClr val="FFFFCC"/>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Always check for unexpected values!</a:t>
            </a:r>
          </a:p>
        </p:txBody>
      </p:sp>
      <p:sp>
        <p:nvSpPr>
          <p:cNvPr id="57351" name="AutoShape 5"/>
          <p:cNvSpPr>
            <a:spLocks noChangeArrowheads="1"/>
          </p:cNvSpPr>
          <p:nvPr/>
        </p:nvSpPr>
        <p:spPr bwMode="auto">
          <a:xfrm>
            <a:off x="1254125" y="4997450"/>
            <a:ext cx="5765800" cy="477838"/>
          </a:xfrm>
          <a:prstGeom prst="wedgeRoundRectCallout">
            <a:avLst>
              <a:gd name="adj1" fmla="val 33176"/>
              <a:gd name="adj2" fmla="val -480898"/>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ooter Placeholder 2"/>
          <p:cNvSpPr>
            <a:spLocks noGrp="1"/>
          </p:cNvSpPr>
          <p:nvPr>
            <p:ph type="ftr" sz="quarter" idx="10"/>
          </p:nvPr>
        </p:nvSpPr>
        <p:spPr/>
        <p:txBody>
          <a:bodyPr/>
          <a:lstStyle/>
          <a:p>
            <a:pPr>
              <a:defRPr/>
            </a:pPr>
            <a:r>
              <a:rPr lang="en-US"/>
              <a:t>Art of Multiprocessor Programming</a:t>
            </a:r>
          </a:p>
        </p:txBody>
      </p:sp>
      <p:sp>
        <p:nvSpPr>
          <p:cNvPr id="59" name="Slide Number Placeholder 3"/>
          <p:cNvSpPr>
            <a:spLocks noGrp="1"/>
          </p:cNvSpPr>
          <p:nvPr>
            <p:ph type="sldNum" sz="quarter" idx="11"/>
          </p:nvPr>
        </p:nvSpPr>
        <p:spPr/>
        <p:txBody>
          <a:bodyPr/>
          <a:lstStyle/>
          <a:p>
            <a:pPr>
              <a:defRPr/>
            </a:pPr>
            <a:fld id="{18C5D4FE-846C-4A45-B854-273D1AA7D967}" type="slidenum">
              <a:rPr lang="en-US"/>
              <a:pPr>
                <a:defRPr/>
              </a:pPr>
              <a:t>57</a:t>
            </a:fld>
            <a:endParaRPr lang="en-US"/>
          </a:p>
        </p:txBody>
      </p:sp>
      <p:sp>
        <p:nvSpPr>
          <p:cNvPr id="58372" name="Rectangle 2"/>
          <p:cNvSpPr>
            <a:spLocks noGrp="1" noChangeArrowheads="1"/>
          </p:cNvSpPr>
          <p:nvPr>
            <p:ph type="title"/>
          </p:nvPr>
        </p:nvSpPr>
        <p:spPr/>
        <p:txBody>
          <a:bodyPr/>
          <a:lstStyle/>
          <a:p>
            <a:r>
              <a:rPr lang="en-US" sz="4000"/>
              <a:t>Combining Phase</a:t>
            </a:r>
          </a:p>
        </p:txBody>
      </p:sp>
      <p:sp>
        <p:nvSpPr>
          <p:cNvPr id="58373"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dirty="0">
                <a:solidFill>
                  <a:schemeClr val="accent1"/>
                </a:solidFill>
                <a:latin typeface="Arial" pitchFamily="34" charset="0"/>
              </a:rPr>
              <a:t>0</a:t>
            </a:r>
          </a:p>
        </p:txBody>
      </p:sp>
      <p:sp>
        <p:nvSpPr>
          <p:cNvPr id="58374"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r>
              <a:rPr lang="en-US" sz="2800" dirty="0">
                <a:solidFill>
                  <a:schemeClr val="folHlink"/>
                </a:solidFill>
                <a:latin typeface="Arial" pitchFamily="34" charset="0"/>
              </a:rPr>
              <a:t>0</a:t>
            </a:r>
          </a:p>
        </p:txBody>
      </p:sp>
      <p:sp>
        <p:nvSpPr>
          <p:cNvPr id="58375"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grpSp>
        <p:nvGrpSpPr>
          <p:cNvPr id="58376" name="Group 6"/>
          <p:cNvGrpSpPr>
            <a:grpSpLocks/>
          </p:cNvGrpSpPr>
          <p:nvPr/>
        </p:nvGrpSpPr>
        <p:grpSpPr bwMode="auto">
          <a:xfrm flipH="1">
            <a:off x="852488" y="4953000"/>
            <a:ext cx="1219200" cy="1090613"/>
            <a:chOff x="1584" y="816"/>
            <a:chExt cx="912" cy="816"/>
          </a:xfrm>
        </p:grpSpPr>
        <p:sp>
          <p:nvSpPr>
            <p:cNvPr id="58419"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20"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21"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22"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58423"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58424"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58425"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26"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27"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8377" name="Group 16"/>
          <p:cNvGrpSpPr>
            <a:grpSpLocks/>
          </p:cNvGrpSpPr>
          <p:nvPr/>
        </p:nvGrpSpPr>
        <p:grpSpPr bwMode="auto">
          <a:xfrm>
            <a:off x="2925763" y="4953000"/>
            <a:ext cx="1219200" cy="1090613"/>
            <a:chOff x="1584" y="816"/>
            <a:chExt cx="912" cy="816"/>
          </a:xfrm>
        </p:grpSpPr>
        <p:sp>
          <p:nvSpPr>
            <p:cNvPr id="58410"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11"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12"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13"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58414"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58415"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58416"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17"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18"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8378" name="Line 26"/>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58379" name="Line 27"/>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grpSp>
        <p:nvGrpSpPr>
          <p:cNvPr id="58380" name="Group 28"/>
          <p:cNvGrpSpPr>
            <a:grpSpLocks/>
          </p:cNvGrpSpPr>
          <p:nvPr/>
        </p:nvGrpSpPr>
        <p:grpSpPr bwMode="auto">
          <a:xfrm flipH="1">
            <a:off x="4999038" y="4953000"/>
            <a:ext cx="1219200" cy="1090613"/>
            <a:chOff x="1584" y="816"/>
            <a:chExt cx="912" cy="816"/>
          </a:xfrm>
        </p:grpSpPr>
        <p:sp>
          <p:nvSpPr>
            <p:cNvPr id="58401"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2"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3" name="Freeform 3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4"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8405"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8406"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8407" name="Freeform 3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8" name="Freeform 3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9" name="Freeform 3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8381" name="Group 38"/>
          <p:cNvGrpSpPr>
            <a:grpSpLocks/>
          </p:cNvGrpSpPr>
          <p:nvPr/>
        </p:nvGrpSpPr>
        <p:grpSpPr bwMode="auto">
          <a:xfrm>
            <a:off x="7072313" y="4953000"/>
            <a:ext cx="1219200" cy="1090613"/>
            <a:chOff x="1584" y="816"/>
            <a:chExt cx="912" cy="816"/>
          </a:xfrm>
        </p:grpSpPr>
        <p:sp>
          <p:nvSpPr>
            <p:cNvPr id="58392"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3"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4" name="Freeform 4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5"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8396"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8397"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58398" name="Freeform 4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9" name="Freeform 4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0" name="Freeform 4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8382" name="Text Box 48"/>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dirty="0">
                <a:solidFill>
                  <a:schemeClr val="tx1"/>
                </a:solidFill>
                <a:latin typeface="Arial" pitchFamily="34" charset="0"/>
              </a:rPr>
              <a:t>SECOND</a:t>
            </a:r>
          </a:p>
        </p:txBody>
      </p:sp>
      <p:sp>
        <p:nvSpPr>
          <p:cNvPr id="58383" name="Text Box 50"/>
          <p:cNvSpPr txBox="1">
            <a:spLocks noChangeArrowheads="1"/>
          </p:cNvSpPr>
          <p:nvPr/>
        </p:nvSpPr>
        <p:spPr bwMode="auto">
          <a:xfrm>
            <a:off x="4725987" y="3110805"/>
            <a:ext cx="3732213" cy="1384995"/>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cs typeface="Arial" pitchFamily="34" charset="0"/>
              </a:rPr>
              <a:t>2</a:t>
            </a:r>
            <a:r>
              <a:rPr lang="en-US" sz="2800" baseline="30000" dirty="0">
                <a:solidFill>
                  <a:schemeClr val="accent1"/>
                </a:solidFill>
                <a:latin typeface="Arial" pitchFamily="34" charset="0"/>
                <a:cs typeface="Arial" pitchFamily="34" charset="0"/>
              </a:rPr>
              <a:t>nd</a:t>
            </a:r>
            <a:r>
              <a:rPr lang="en-US" sz="2800" dirty="0">
                <a:solidFill>
                  <a:schemeClr val="accent1"/>
                </a:solidFill>
                <a:latin typeface="Arial" pitchFamily="34" charset="0"/>
                <a:cs typeface="Arial" pitchFamily="34" charset="0"/>
              </a:rPr>
              <a:t> thread locks out 1</a:t>
            </a:r>
            <a:r>
              <a:rPr lang="en-US" sz="2800" baseline="30000" dirty="0">
                <a:solidFill>
                  <a:schemeClr val="accent1"/>
                </a:solidFill>
                <a:latin typeface="Arial" pitchFamily="34" charset="0"/>
                <a:cs typeface="Arial" pitchFamily="34" charset="0"/>
              </a:rPr>
              <a:t>st  </a:t>
            </a:r>
            <a:r>
              <a:rPr lang="en-US" sz="2800" dirty="0">
                <a:solidFill>
                  <a:schemeClr val="accent1"/>
                </a:solidFill>
                <a:latin typeface="Arial" pitchFamily="34" charset="0"/>
                <a:cs typeface="Arial" pitchFamily="34" charset="0"/>
              </a:rPr>
              <a:t>until 2</a:t>
            </a:r>
            <a:r>
              <a:rPr lang="en-US" sz="2800" baseline="30000" dirty="0">
                <a:solidFill>
                  <a:schemeClr val="accent1"/>
                </a:solidFill>
                <a:latin typeface="Arial" pitchFamily="34" charset="0"/>
                <a:cs typeface="Arial" pitchFamily="34" charset="0"/>
              </a:rPr>
              <a:t>nd</a:t>
            </a:r>
            <a:r>
              <a:rPr lang="en-US" sz="2800" dirty="0">
                <a:solidFill>
                  <a:schemeClr val="accent1"/>
                </a:solidFill>
                <a:latin typeface="Arial" pitchFamily="34" charset="0"/>
                <a:cs typeface="Arial" pitchFamily="34" charset="0"/>
              </a:rPr>
              <a:t> returns with value</a:t>
            </a:r>
          </a:p>
        </p:txBody>
      </p:sp>
      <p:sp>
        <p:nvSpPr>
          <p:cNvPr id="58384" name="AutoShape 51"/>
          <p:cNvSpPr>
            <a:spLocks noChangeArrowheads="1"/>
          </p:cNvSpPr>
          <p:nvPr/>
        </p:nvSpPr>
        <p:spPr bwMode="auto">
          <a:xfrm>
            <a:off x="1558925" y="3270250"/>
            <a:ext cx="2312988" cy="990600"/>
          </a:xfrm>
          <a:prstGeom prst="wedgeRoundRectCallout">
            <a:avLst>
              <a:gd name="adj1" fmla="val 84384"/>
              <a:gd name="adj2" fmla="val 11861"/>
              <a:gd name="adj3" fmla="val 16667"/>
            </a:avLst>
          </a:prstGeom>
          <a:noFill/>
          <a:ln w="38100">
            <a:solidFill>
              <a:schemeClr val="accent1"/>
            </a:solidFill>
            <a:miter lim="800000"/>
            <a:headEnd/>
            <a:tailEnd/>
          </a:ln>
        </p:spPr>
        <p:txBody>
          <a:bodyPr anchor="ctr"/>
          <a:lstStyle/>
          <a:p>
            <a:pPr algn="ctr">
              <a:spcBef>
                <a:spcPct val="0"/>
              </a:spcBef>
            </a:pPr>
            <a:endParaRPr lang="en-US" sz="4000" dirty="0">
              <a:latin typeface="Arial" pitchFamily="34" charset="0"/>
            </a:endParaRPr>
          </a:p>
        </p:txBody>
      </p:sp>
      <p:grpSp>
        <p:nvGrpSpPr>
          <p:cNvPr id="58385" name="Group 52"/>
          <p:cNvGrpSpPr>
            <a:grpSpLocks/>
          </p:cNvGrpSpPr>
          <p:nvPr/>
        </p:nvGrpSpPr>
        <p:grpSpPr bwMode="auto">
          <a:xfrm>
            <a:off x="1708150" y="3352800"/>
            <a:ext cx="466725" cy="679450"/>
            <a:chOff x="2208" y="1920"/>
            <a:chExt cx="1152" cy="1680"/>
          </a:xfrm>
        </p:grpSpPr>
        <p:sp>
          <p:nvSpPr>
            <p:cNvPr id="58388" name="Oval 53"/>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58389" name="Oval 54"/>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58390"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8391"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Courier New" pitchFamily="49" charset="0"/>
              </a:endParaRPr>
            </a:p>
          </p:txBody>
        </p:sp>
      </p:grpSp>
      <p:sp>
        <p:nvSpPr>
          <p:cNvPr id="58386" name="Freeform 57"/>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58387" name="Text Box 58"/>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dirty="0">
                <a:latin typeface="Arial" pitchFamily="34" charset="0"/>
              </a:rPr>
              <a:t>+3</a:t>
            </a:r>
          </a:p>
        </p:txBody>
      </p:sp>
      <p:sp>
        <p:nvSpPr>
          <p:cNvPr id="60" name="Freeform 49"/>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2"/>
          <p:cNvSpPr>
            <a:spLocks noGrp="1"/>
          </p:cNvSpPr>
          <p:nvPr>
            <p:ph type="ftr" sz="quarter" idx="10"/>
          </p:nvPr>
        </p:nvSpPr>
        <p:spPr/>
        <p:txBody>
          <a:bodyPr/>
          <a:lstStyle/>
          <a:p>
            <a:pPr>
              <a:defRPr/>
            </a:pPr>
            <a:r>
              <a:rPr lang="en-US"/>
              <a:t>Art of Multiprocessor Programming</a:t>
            </a:r>
          </a:p>
        </p:txBody>
      </p:sp>
      <p:sp>
        <p:nvSpPr>
          <p:cNvPr id="57" name="Slide Number Placeholder 3"/>
          <p:cNvSpPr>
            <a:spLocks noGrp="1"/>
          </p:cNvSpPr>
          <p:nvPr>
            <p:ph type="sldNum" sz="quarter" idx="11"/>
          </p:nvPr>
        </p:nvSpPr>
        <p:spPr/>
        <p:txBody>
          <a:bodyPr/>
          <a:lstStyle/>
          <a:p>
            <a:pPr>
              <a:defRPr/>
            </a:pPr>
            <a:fld id="{80C9F6EA-12DD-4791-9AF7-ADC0A2C6602A}" type="slidenum">
              <a:rPr lang="en-US"/>
              <a:pPr>
                <a:defRPr/>
              </a:pPr>
              <a:t>58</a:t>
            </a:fld>
            <a:endParaRPr lang="en-US"/>
          </a:p>
        </p:txBody>
      </p:sp>
      <p:sp>
        <p:nvSpPr>
          <p:cNvPr id="59396" name="Rectangle 2"/>
          <p:cNvSpPr>
            <a:spLocks noGrp="1" noChangeArrowheads="1"/>
          </p:cNvSpPr>
          <p:nvPr>
            <p:ph type="title"/>
          </p:nvPr>
        </p:nvSpPr>
        <p:spPr/>
        <p:txBody>
          <a:bodyPr/>
          <a:lstStyle/>
          <a:p>
            <a:r>
              <a:rPr lang="en-US" sz="4000"/>
              <a:t>Combining Phase</a:t>
            </a:r>
          </a:p>
        </p:txBody>
      </p:sp>
      <p:sp>
        <p:nvSpPr>
          <p:cNvPr id="59397"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a:solidFill>
                  <a:schemeClr val="accent1"/>
                </a:solidFill>
                <a:latin typeface="Arial" pitchFamily="34" charset="0"/>
                <a:cs typeface="Arial" pitchFamily="34" charset="0"/>
              </a:rPr>
              <a:t>0</a:t>
            </a:r>
          </a:p>
        </p:txBody>
      </p:sp>
      <p:sp>
        <p:nvSpPr>
          <p:cNvPr id="59398"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r>
              <a:rPr lang="en-US" sz="2800">
                <a:solidFill>
                  <a:schemeClr val="folHlink"/>
                </a:solidFill>
                <a:latin typeface="Arial" pitchFamily="34" charset="0"/>
                <a:cs typeface="Arial" pitchFamily="34" charset="0"/>
              </a:rPr>
              <a:t>0</a:t>
            </a:r>
          </a:p>
        </p:txBody>
      </p:sp>
      <p:sp>
        <p:nvSpPr>
          <p:cNvPr id="59399"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59400" name="Group 6"/>
          <p:cNvGrpSpPr>
            <a:grpSpLocks/>
          </p:cNvGrpSpPr>
          <p:nvPr/>
        </p:nvGrpSpPr>
        <p:grpSpPr bwMode="auto">
          <a:xfrm flipH="1">
            <a:off x="852488" y="4953000"/>
            <a:ext cx="1219200" cy="1090613"/>
            <a:chOff x="1584" y="816"/>
            <a:chExt cx="912" cy="816"/>
          </a:xfrm>
        </p:grpSpPr>
        <p:sp>
          <p:nvSpPr>
            <p:cNvPr id="59441"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2"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3"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4"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5"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6"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7"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8"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9"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9401" name="Group 16"/>
          <p:cNvGrpSpPr>
            <a:grpSpLocks/>
          </p:cNvGrpSpPr>
          <p:nvPr/>
        </p:nvGrpSpPr>
        <p:grpSpPr bwMode="auto">
          <a:xfrm>
            <a:off x="2925763" y="4953000"/>
            <a:ext cx="1219200" cy="1090613"/>
            <a:chOff x="1584" y="816"/>
            <a:chExt cx="912" cy="816"/>
          </a:xfrm>
        </p:grpSpPr>
        <p:sp>
          <p:nvSpPr>
            <p:cNvPr id="59432"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3"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4"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5"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6"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7"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8"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9"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40"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9402" name="Line 26"/>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59403" name="Line 27"/>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59404" name="Group 28"/>
          <p:cNvGrpSpPr>
            <a:grpSpLocks/>
          </p:cNvGrpSpPr>
          <p:nvPr/>
        </p:nvGrpSpPr>
        <p:grpSpPr bwMode="auto">
          <a:xfrm flipH="1">
            <a:off x="4999038" y="4953000"/>
            <a:ext cx="1219200" cy="1090613"/>
            <a:chOff x="1584" y="816"/>
            <a:chExt cx="912" cy="816"/>
          </a:xfrm>
        </p:grpSpPr>
        <p:sp>
          <p:nvSpPr>
            <p:cNvPr id="59423"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4"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5" name="Freeform 3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6"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7"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8"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9" name="Freeform 3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0" name="Freeform 3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31" name="Freeform 3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9405" name="Group 38"/>
          <p:cNvGrpSpPr>
            <a:grpSpLocks/>
          </p:cNvGrpSpPr>
          <p:nvPr/>
        </p:nvGrpSpPr>
        <p:grpSpPr bwMode="auto">
          <a:xfrm>
            <a:off x="7072313" y="4953000"/>
            <a:ext cx="1219200" cy="1090613"/>
            <a:chOff x="1584" y="816"/>
            <a:chExt cx="912" cy="816"/>
          </a:xfrm>
        </p:grpSpPr>
        <p:sp>
          <p:nvSpPr>
            <p:cNvPr id="59414"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15"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16" name="Freeform 4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17"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18"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19"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0" name="Freeform 4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1" name="Freeform 4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422" name="Freeform 4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59406" name="Text Box 48"/>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SECOND</a:t>
            </a:r>
          </a:p>
        </p:txBody>
      </p:sp>
      <p:sp>
        <p:nvSpPr>
          <p:cNvPr id="59407" name="Freeform 49"/>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a:latin typeface="Arial" pitchFamily="34" charset="0"/>
              <a:cs typeface="Arial" pitchFamily="34" charset="0"/>
            </a:endParaRPr>
          </a:p>
        </p:txBody>
      </p:sp>
      <p:sp>
        <p:nvSpPr>
          <p:cNvPr id="59408" name="Text Box 50"/>
          <p:cNvSpPr txBox="1">
            <a:spLocks noChangeArrowheads="1"/>
          </p:cNvSpPr>
          <p:nvPr/>
        </p:nvSpPr>
        <p:spPr bwMode="auto">
          <a:xfrm>
            <a:off x="4559300" y="3092450"/>
            <a:ext cx="4327525" cy="1815882"/>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2</a:t>
            </a:r>
            <a:r>
              <a:rPr lang="en-US" sz="2800" baseline="30000">
                <a:solidFill>
                  <a:schemeClr val="accent1"/>
                </a:solidFill>
                <a:latin typeface="Arial" pitchFamily="34" charset="0"/>
                <a:cs typeface="Arial" pitchFamily="34" charset="0"/>
              </a:rPr>
              <a:t>nd</a:t>
            </a:r>
            <a:r>
              <a:rPr lang="en-US" sz="2800">
                <a:solidFill>
                  <a:schemeClr val="accent1"/>
                </a:solidFill>
                <a:latin typeface="Arial" pitchFamily="34" charset="0"/>
                <a:cs typeface="Arial" pitchFamily="34" charset="0"/>
              </a:rPr>
              <a:t> thread deposits value to be combined, unlocks node, &amp; waits …</a:t>
            </a:r>
          </a:p>
        </p:txBody>
      </p:sp>
      <p:sp>
        <p:nvSpPr>
          <p:cNvPr id="59409" name="AutoShape 51"/>
          <p:cNvSpPr>
            <a:spLocks noChangeArrowheads="1"/>
          </p:cNvSpPr>
          <p:nvPr/>
        </p:nvSpPr>
        <p:spPr bwMode="auto">
          <a:xfrm>
            <a:off x="1814513" y="3270250"/>
            <a:ext cx="2057400" cy="990600"/>
          </a:xfrm>
          <a:prstGeom prst="wedgeRoundRectCallout">
            <a:avLst>
              <a:gd name="adj1" fmla="val 88657"/>
              <a:gd name="adj2" fmla="val 11861"/>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59410" name="Text Box 57"/>
          <p:cNvSpPr txBox="1">
            <a:spLocks noChangeArrowheads="1"/>
          </p:cNvSpPr>
          <p:nvPr/>
        </p:nvSpPr>
        <p:spPr bwMode="auto">
          <a:xfrm>
            <a:off x="3071813" y="3695700"/>
            <a:ext cx="30797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2</a:t>
            </a:r>
          </a:p>
        </p:txBody>
      </p:sp>
      <p:sp>
        <p:nvSpPr>
          <p:cNvPr id="59411" name="Freeform 58"/>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59412" name="Text Box 59"/>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+3</a:t>
            </a:r>
          </a:p>
        </p:txBody>
      </p:sp>
      <p:sp>
        <p:nvSpPr>
          <p:cNvPr id="59413" name="AutoShape 60"/>
          <p:cNvSpPr>
            <a:spLocks noChangeArrowheads="1"/>
          </p:cNvSpPr>
          <p:nvPr/>
        </p:nvSpPr>
        <p:spPr bwMode="auto">
          <a:xfrm>
            <a:off x="4144963" y="4495800"/>
            <a:ext cx="1323975" cy="585788"/>
          </a:xfrm>
          <a:prstGeom prst="cloudCallout">
            <a:avLst>
              <a:gd name="adj1" fmla="val -43750"/>
              <a:gd name="adj2" fmla="val 70000"/>
            </a:avLst>
          </a:prstGeom>
          <a:solidFill>
            <a:srgbClr val="FFFF00"/>
          </a:solidFill>
          <a:ln w="38100">
            <a:solidFill>
              <a:schemeClr val="tx1"/>
            </a:solidFill>
            <a:round/>
            <a:headEnd/>
            <a:tailEnd/>
          </a:ln>
        </p:spPr>
        <p:txBody>
          <a:bodyPr/>
          <a:lstStyle/>
          <a:p>
            <a:pPr marL="342900" indent="-342900" algn="ctr"/>
            <a:r>
              <a:rPr lang="en-US">
                <a:solidFill>
                  <a:schemeClr val="tx1"/>
                </a:solidFill>
                <a:latin typeface="Arial" pitchFamily="34" charset="0"/>
                <a:cs typeface="Arial" pitchFamily="34" charset="0"/>
              </a:rPr>
              <a:t>zzz</a:t>
            </a:r>
            <a:endParaRPr lang="en-US">
              <a:latin typeface="Arial" pitchFamily="34" charset="0"/>
              <a:cs typeface="Arial"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ooter Placeholder 2"/>
          <p:cNvSpPr>
            <a:spLocks noGrp="1"/>
          </p:cNvSpPr>
          <p:nvPr>
            <p:ph type="ftr" sz="quarter" idx="10"/>
          </p:nvPr>
        </p:nvSpPr>
        <p:spPr/>
        <p:txBody>
          <a:bodyPr/>
          <a:lstStyle/>
          <a:p>
            <a:pPr>
              <a:defRPr/>
            </a:pPr>
            <a:r>
              <a:rPr lang="en-US"/>
              <a:t>Art of Multiprocessor Programming</a:t>
            </a:r>
          </a:p>
        </p:txBody>
      </p:sp>
      <p:sp>
        <p:nvSpPr>
          <p:cNvPr id="60" name="Slide Number Placeholder 3"/>
          <p:cNvSpPr>
            <a:spLocks noGrp="1"/>
          </p:cNvSpPr>
          <p:nvPr>
            <p:ph type="sldNum" sz="quarter" idx="11"/>
          </p:nvPr>
        </p:nvSpPr>
        <p:spPr/>
        <p:txBody>
          <a:bodyPr/>
          <a:lstStyle/>
          <a:p>
            <a:pPr>
              <a:defRPr/>
            </a:pPr>
            <a:fld id="{4C8E84C8-F2A2-4AAC-999A-9DA91A2D7756}" type="slidenum">
              <a:rPr lang="en-US"/>
              <a:pPr>
                <a:defRPr/>
              </a:pPr>
              <a:t>59</a:t>
            </a:fld>
            <a:endParaRPr lang="en-US"/>
          </a:p>
        </p:txBody>
      </p:sp>
      <p:sp>
        <p:nvSpPr>
          <p:cNvPr id="60420" name="Rectangle 2"/>
          <p:cNvSpPr>
            <a:spLocks noGrp="1" noChangeArrowheads="1"/>
          </p:cNvSpPr>
          <p:nvPr>
            <p:ph type="title"/>
          </p:nvPr>
        </p:nvSpPr>
        <p:spPr/>
        <p:txBody>
          <a:bodyPr/>
          <a:lstStyle/>
          <a:p>
            <a:r>
              <a:rPr lang="en-US" sz="4000"/>
              <a:t>Combining Phase</a:t>
            </a:r>
          </a:p>
        </p:txBody>
      </p:sp>
      <p:sp>
        <p:nvSpPr>
          <p:cNvPr id="60421"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grpSp>
        <p:nvGrpSpPr>
          <p:cNvPr id="60422" name="Group 6"/>
          <p:cNvGrpSpPr>
            <a:grpSpLocks/>
          </p:cNvGrpSpPr>
          <p:nvPr/>
        </p:nvGrpSpPr>
        <p:grpSpPr bwMode="auto">
          <a:xfrm flipH="1">
            <a:off x="852488" y="4953000"/>
            <a:ext cx="1219200" cy="1090613"/>
            <a:chOff x="1584" y="816"/>
            <a:chExt cx="912" cy="816"/>
          </a:xfrm>
        </p:grpSpPr>
        <p:sp>
          <p:nvSpPr>
            <p:cNvPr id="60468"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9"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70"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71"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72"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73"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74"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75"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76"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0423" name="Group 16"/>
          <p:cNvGrpSpPr>
            <a:grpSpLocks/>
          </p:cNvGrpSpPr>
          <p:nvPr/>
        </p:nvGrpSpPr>
        <p:grpSpPr bwMode="auto">
          <a:xfrm>
            <a:off x="2925763" y="4953000"/>
            <a:ext cx="1219200" cy="1090613"/>
            <a:chOff x="1584" y="816"/>
            <a:chExt cx="912" cy="816"/>
          </a:xfrm>
        </p:grpSpPr>
        <p:sp>
          <p:nvSpPr>
            <p:cNvPr id="60459"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0"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1"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2"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3"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4"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5"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6"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67"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0424"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60425" name="Text Box 27"/>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+3</a:t>
            </a:r>
          </a:p>
        </p:txBody>
      </p:sp>
      <p:sp>
        <p:nvSpPr>
          <p:cNvPr id="60426"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60427"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60428" name="Group 30"/>
          <p:cNvGrpSpPr>
            <a:grpSpLocks/>
          </p:cNvGrpSpPr>
          <p:nvPr/>
        </p:nvGrpSpPr>
        <p:grpSpPr bwMode="auto">
          <a:xfrm flipH="1">
            <a:off x="4999038" y="4953000"/>
            <a:ext cx="1219200" cy="1090613"/>
            <a:chOff x="1584" y="816"/>
            <a:chExt cx="912" cy="816"/>
          </a:xfrm>
        </p:grpSpPr>
        <p:sp>
          <p:nvSpPr>
            <p:cNvPr id="60450"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51"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52"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53"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54"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55"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56"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57"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58"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0429" name="Group 40"/>
          <p:cNvGrpSpPr>
            <a:grpSpLocks/>
          </p:cNvGrpSpPr>
          <p:nvPr/>
        </p:nvGrpSpPr>
        <p:grpSpPr bwMode="auto">
          <a:xfrm>
            <a:off x="7072313" y="4953000"/>
            <a:ext cx="1219200" cy="1090613"/>
            <a:chOff x="1584" y="816"/>
            <a:chExt cx="912" cy="816"/>
          </a:xfrm>
        </p:grpSpPr>
        <p:sp>
          <p:nvSpPr>
            <p:cNvPr id="60441"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42"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43"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44"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45"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46"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47"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48"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449"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0430" name="Freeform 50"/>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a:latin typeface="Arial" pitchFamily="34" charset="0"/>
              <a:cs typeface="Arial" pitchFamily="34" charset="0"/>
            </a:endParaRPr>
          </a:p>
        </p:txBody>
      </p:sp>
      <p:sp>
        <p:nvSpPr>
          <p:cNvPr id="60431" name="Text Box 51"/>
          <p:cNvSpPr txBox="1">
            <a:spLocks noChangeArrowheads="1"/>
          </p:cNvSpPr>
          <p:nvPr/>
        </p:nvSpPr>
        <p:spPr bwMode="auto">
          <a:xfrm>
            <a:off x="3336925" y="4191000"/>
            <a:ext cx="555625" cy="457200"/>
          </a:xfrm>
          <a:prstGeom prst="rect">
            <a:avLst/>
          </a:prstGeom>
          <a:solidFill>
            <a:srgbClr val="FFFF00"/>
          </a:solidFill>
          <a:ln w="9525">
            <a:noFill/>
            <a:miter lim="800000"/>
            <a:headEnd/>
            <a:tailEnd/>
          </a:ln>
        </p:spPr>
        <p:txBody>
          <a:bodyPr wrap="none">
            <a:spAutoFit/>
          </a:bodyPr>
          <a:lstStyle/>
          <a:p>
            <a:pPr algn="ctr">
              <a:spcBef>
                <a:spcPct val="0"/>
              </a:spcBef>
            </a:pPr>
            <a:r>
              <a:rPr lang="en-US">
                <a:solidFill>
                  <a:schemeClr val="tx1"/>
                </a:solidFill>
                <a:latin typeface="Arial" pitchFamily="34" charset="0"/>
                <a:cs typeface="Arial" pitchFamily="34" charset="0"/>
              </a:rPr>
              <a:t>+2</a:t>
            </a:r>
          </a:p>
        </p:txBody>
      </p:sp>
      <p:sp>
        <p:nvSpPr>
          <p:cNvPr id="60432" name="Text Box 53"/>
          <p:cNvSpPr txBox="1">
            <a:spLocks noChangeArrowheads="1"/>
          </p:cNvSpPr>
          <p:nvPr/>
        </p:nvSpPr>
        <p:spPr bwMode="auto">
          <a:xfrm>
            <a:off x="2498725" y="2819400"/>
            <a:ext cx="555625" cy="457200"/>
          </a:xfrm>
          <a:prstGeom prst="rect">
            <a:avLst/>
          </a:prstGeom>
          <a:noFill/>
          <a:ln w="9525">
            <a:noFill/>
            <a:miter lim="800000"/>
            <a:headEnd/>
            <a:tailEnd/>
          </a:ln>
        </p:spPr>
        <p:txBody>
          <a:bodyPr wrap="none">
            <a:spAutoFit/>
          </a:bodyPr>
          <a:lstStyle/>
          <a:p>
            <a:pPr algn="ctr">
              <a:spcBef>
                <a:spcPct val="0"/>
              </a:spcBef>
            </a:pPr>
            <a:r>
              <a:rPr lang="en-US" dirty="0">
                <a:solidFill>
                  <a:srgbClr val="00CC00"/>
                </a:solidFill>
                <a:latin typeface="Arial" pitchFamily="34" charset="0"/>
                <a:cs typeface="Arial" pitchFamily="34" charset="0"/>
              </a:rPr>
              <a:t>+5</a:t>
            </a:r>
          </a:p>
        </p:txBody>
      </p:sp>
      <p:sp>
        <p:nvSpPr>
          <p:cNvPr id="60433" name="Oval 54"/>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sp>
        <p:nvSpPr>
          <p:cNvPr id="60434" name="Text Box 55"/>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SECOND</a:t>
            </a:r>
          </a:p>
        </p:txBody>
      </p:sp>
      <p:sp>
        <p:nvSpPr>
          <p:cNvPr id="60435" name="Text Box 56"/>
          <p:cNvSpPr txBox="1">
            <a:spLocks noChangeArrowheads="1"/>
          </p:cNvSpPr>
          <p:nvPr/>
        </p:nvSpPr>
        <p:spPr bwMode="auto">
          <a:xfrm>
            <a:off x="3071813" y="3695700"/>
            <a:ext cx="30797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2</a:t>
            </a:r>
          </a:p>
        </p:txBody>
      </p:sp>
      <p:sp>
        <p:nvSpPr>
          <p:cNvPr id="60436" name="Freeform 52"/>
          <p:cNvSpPr>
            <a:spLocks/>
          </p:cNvSpPr>
          <p:nvPr/>
        </p:nvSpPr>
        <p:spPr bwMode="auto">
          <a:xfrm>
            <a:off x="3182938" y="26670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60437" name="Oval 62"/>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a:solidFill>
                  <a:schemeClr val="accent1"/>
                </a:solidFill>
                <a:latin typeface="Arial" pitchFamily="34" charset="0"/>
                <a:cs typeface="Arial" pitchFamily="34" charset="0"/>
              </a:rPr>
              <a:t>0</a:t>
            </a:r>
          </a:p>
        </p:txBody>
      </p:sp>
      <p:sp>
        <p:nvSpPr>
          <p:cNvPr id="60438" name="Text Box 63"/>
          <p:cNvSpPr txBox="1">
            <a:spLocks noChangeArrowheads="1"/>
          </p:cNvSpPr>
          <p:nvPr/>
        </p:nvSpPr>
        <p:spPr bwMode="auto">
          <a:xfrm>
            <a:off x="4559300" y="3092450"/>
            <a:ext cx="4327525" cy="1373188"/>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cs typeface="Arial" pitchFamily="34" charset="0"/>
              </a:rPr>
              <a:t>1</a:t>
            </a:r>
            <a:r>
              <a:rPr lang="en-US" sz="2800" baseline="30000" dirty="0">
                <a:solidFill>
                  <a:schemeClr val="accent1"/>
                </a:solidFill>
                <a:latin typeface="Arial" pitchFamily="34" charset="0"/>
                <a:cs typeface="Arial" pitchFamily="34" charset="0"/>
              </a:rPr>
              <a:t>st</a:t>
            </a:r>
            <a:r>
              <a:rPr lang="en-US" sz="2800" dirty="0">
                <a:solidFill>
                  <a:schemeClr val="accent1"/>
                </a:solidFill>
                <a:latin typeface="Arial" pitchFamily="34" charset="0"/>
                <a:cs typeface="Arial" pitchFamily="34" charset="0"/>
              </a:rPr>
              <a:t> thread moves up the tree with combined value …</a:t>
            </a:r>
          </a:p>
        </p:txBody>
      </p:sp>
      <p:sp>
        <p:nvSpPr>
          <p:cNvPr id="60439" name="AutoShape 64"/>
          <p:cNvSpPr>
            <a:spLocks noChangeArrowheads="1"/>
          </p:cNvSpPr>
          <p:nvPr/>
        </p:nvSpPr>
        <p:spPr bwMode="auto">
          <a:xfrm>
            <a:off x="1814513" y="3270250"/>
            <a:ext cx="2057400" cy="990600"/>
          </a:xfrm>
          <a:prstGeom prst="wedgeRoundRectCallout">
            <a:avLst>
              <a:gd name="adj1" fmla="val 88657"/>
              <a:gd name="adj2" fmla="val 11861"/>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60440" name="AutoShape 65"/>
          <p:cNvSpPr>
            <a:spLocks noChangeArrowheads="1"/>
          </p:cNvSpPr>
          <p:nvPr/>
        </p:nvSpPr>
        <p:spPr bwMode="auto">
          <a:xfrm>
            <a:off x="4144963" y="4495800"/>
            <a:ext cx="1323975" cy="585788"/>
          </a:xfrm>
          <a:prstGeom prst="cloudCallout">
            <a:avLst>
              <a:gd name="adj1" fmla="val -43750"/>
              <a:gd name="adj2" fmla="val 70000"/>
            </a:avLst>
          </a:prstGeom>
          <a:solidFill>
            <a:srgbClr val="FFFF00"/>
          </a:solidFill>
          <a:ln w="38100">
            <a:solidFill>
              <a:schemeClr val="tx1"/>
            </a:solidFill>
            <a:round/>
            <a:headEnd/>
            <a:tailEnd/>
          </a:ln>
        </p:spPr>
        <p:txBody>
          <a:bodyPr/>
          <a:lstStyle/>
          <a:p>
            <a:pPr marL="342900" indent="-342900" algn="ctr"/>
            <a:r>
              <a:rPr lang="en-US">
                <a:solidFill>
                  <a:schemeClr val="tx1"/>
                </a:solidFill>
                <a:latin typeface="Arial" pitchFamily="34" charset="0"/>
                <a:cs typeface="Arial" pitchFamily="34" charset="0"/>
              </a:rPr>
              <a:t>zzz</a:t>
            </a:r>
            <a:endParaRPr lang="en-US">
              <a:latin typeface="Arial" pitchFamily="34" charset="0"/>
              <a:cs typeface="Arial"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ooter Placeholder 2"/>
          <p:cNvSpPr>
            <a:spLocks noGrp="1"/>
          </p:cNvSpPr>
          <p:nvPr>
            <p:ph type="ftr" sz="quarter" idx="10"/>
          </p:nvPr>
        </p:nvSpPr>
        <p:spPr/>
        <p:txBody>
          <a:bodyPr/>
          <a:lstStyle/>
          <a:p>
            <a:pPr>
              <a:defRPr/>
            </a:pPr>
            <a:r>
              <a:rPr lang="en-US"/>
              <a:t>Art of Multiprocessor Programming</a:t>
            </a:r>
          </a:p>
        </p:txBody>
      </p:sp>
      <p:sp>
        <p:nvSpPr>
          <p:cNvPr id="52" name="Slide Number Placeholder 3"/>
          <p:cNvSpPr>
            <a:spLocks noGrp="1"/>
          </p:cNvSpPr>
          <p:nvPr>
            <p:ph type="sldNum" sz="quarter" idx="11"/>
          </p:nvPr>
        </p:nvSpPr>
        <p:spPr/>
        <p:txBody>
          <a:bodyPr/>
          <a:lstStyle/>
          <a:p>
            <a:pPr>
              <a:defRPr/>
            </a:pPr>
            <a:fld id="{FD8DF950-2905-49BC-BE40-2B8DA3846FD5}" type="slidenum">
              <a:rPr lang="en-US"/>
              <a:pPr>
                <a:defRPr/>
              </a:pPr>
              <a:t>60</a:t>
            </a:fld>
            <a:endParaRPr lang="en-US"/>
          </a:p>
        </p:txBody>
      </p:sp>
      <p:sp>
        <p:nvSpPr>
          <p:cNvPr id="61444" name="Rectangle 2"/>
          <p:cNvSpPr>
            <a:spLocks noGrp="1" noChangeArrowheads="1"/>
          </p:cNvSpPr>
          <p:nvPr>
            <p:ph type="title"/>
          </p:nvPr>
        </p:nvSpPr>
        <p:spPr/>
        <p:txBody>
          <a:bodyPr/>
          <a:lstStyle/>
          <a:p>
            <a:r>
              <a:rPr lang="en-US" sz="4000"/>
              <a:t>Combining (reloaded)</a:t>
            </a:r>
          </a:p>
        </p:txBody>
      </p:sp>
      <p:sp>
        <p:nvSpPr>
          <p:cNvPr id="61445"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sz="2800">
                <a:solidFill>
                  <a:schemeClr val="accent1"/>
                </a:solidFill>
                <a:latin typeface="Arial" pitchFamily="34" charset="0"/>
                <a:cs typeface="Arial" pitchFamily="34" charset="0"/>
              </a:rPr>
              <a:t>0</a:t>
            </a:r>
          </a:p>
        </p:txBody>
      </p:sp>
      <p:sp>
        <p:nvSpPr>
          <p:cNvPr id="61446"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r>
              <a:rPr lang="en-US" sz="2800">
                <a:solidFill>
                  <a:schemeClr val="folHlink"/>
                </a:solidFill>
                <a:latin typeface="Arial" pitchFamily="34" charset="0"/>
                <a:cs typeface="Arial" pitchFamily="34" charset="0"/>
              </a:rPr>
              <a:t>0</a:t>
            </a:r>
          </a:p>
        </p:txBody>
      </p:sp>
      <p:sp>
        <p:nvSpPr>
          <p:cNvPr id="61447"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61448" name="Group 6"/>
          <p:cNvGrpSpPr>
            <a:grpSpLocks/>
          </p:cNvGrpSpPr>
          <p:nvPr/>
        </p:nvGrpSpPr>
        <p:grpSpPr bwMode="auto">
          <a:xfrm flipH="1">
            <a:off x="852488" y="4953000"/>
            <a:ext cx="1219200" cy="1090613"/>
            <a:chOff x="1584" y="816"/>
            <a:chExt cx="912" cy="816"/>
          </a:xfrm>
        </p:grpSpPr>
        <p:sp>
          <p:nvSpPr>
            <p:cNvPr id="61484"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5"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6"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7"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8"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9"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90"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91"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92"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1449" name="Group 16"/>
          <p:cNvGrpSpPr>
            <a:grpSpLocks/>
          </p:cNvGrpSpPr>
          <p:nvPr/>
        </p:nvGrpSpPr>
        <p:grpSpPr bwMode="auto">
          <a:xfrm>
            <a:off x="2925763" y="4953000"/>
            <a:ext cx="1219200" cy="1090613"/>
            <a:chOff x="1584" y="816"/>
            <a:chExt cx="912" cy="816"/>
          </a:xfrm>
        </p:grpSpPr>
        <p:sp>
          <p:nvSpPr>
            <p:cNvPr id="61475"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6"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7"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8"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9"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0"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1"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2"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83"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1450" name="Line 26"/>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61451" name="Line 27"/>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61452" name="Group 28"/>
          <p:cNvGrpSpPr>
            <a:grpSpLocks/>
          </p:cNvGrpSpPr>
          <p:nvPr/>
        </p:nvGrpSpPr>
        <p:grpSpPr bwMode="auto">
          <a:xfrm flipH="1">
            <a:off x="4999038" y="4953000"/>
            <a:ext cx="1219200" cy="1090613"/>
            <a:chOff x="1584" y="816"/>
            <a:chExt cx="912" cy="816"/>
          </a:xfrm>
        </p:grpSpPr>
        <p:sp>
          <p:nvSpPr>
            <p:cNvPr id="61466"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7"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8" name="Freeform 3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9"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0"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1"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2" name="Freeform 3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3" name="Freeform 3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74" name="Freeform 3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1453" name="Group 38"/>
          <p:cNvGrpSpPr>
            <a:grpSpLocks/>
          </p:cNvGrpSpPr>
          <p:nvPr/>
        </p:nvGrpSpPr>
        <p:grpSpPr bwMode="auto">
          <a:xfrm>
            <a:off x="7072313" y="4953000"/>
            <a:ext cx="1219200" cy="1090613"/>
            <a:chOff x="1584" y="816"/>
            <a:chExt cx="912" cy="816"/>
          </a:xfrm>
        </p:grpSpPr>
        <p:sp>
          <p:nvSpPr>
            <p:cNvPr id="61457"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58"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59" name="Freeform 4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0"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1"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2"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3" name="Freeform 4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4" name="Freeform 4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465" name="Freeform 4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1454" name="Text Box 50"/>
          <p:cNvSpPr txBox="1">
            <a:spLocks noChangeArrowheads="1"/>
          </p:cNvSpPr>
          <p:nvPr/>
        </p:nvSpPr>
        <p:spPr bwMode="auto">
          <a:xfrm>
            <a:off x="4410075" y="3429000"/>
            <a:ext cx="4025900" cy="946150"/>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2</a:t>
            </a:r>
            <a:r>
              <a:rPr lang="en-US" sz="2800" baseline="30000">
                <a:solidFill>
                  <a:schemeClr val="accent1"/>
                </a:solidFill>
                <a:latin typeface="Arial" pitchFamily="34" charset="0"/>
                <a:cs typeface="Arial" pitchFamily="34" charset="0"/>
              </a:rPr>
              <a:t>nd</a:t>
            </a:r>
            <a:r>
              <a:rPr lang="en-US" sz="2800">
                <a:solidFill>
                  <a:schemeClr val="accent1"/>
                </a:solidFill>
                <a:latin typeface="Arial" pitchFamily="34" charset="0"/>
                <a:cs typeface="Arial" pitchFamily="34" charset="0"/>
              </a:rPr>
              <a:t> thread has not yet deposited value …</a:t>
            </a:r>
          </a:p>
        </p:txBody>
      </p:sp>
      <p:sp>
        <p:nvSpPr>
          <p:cNvPr id="61455" name="AutoShape 51"/>
          <p:cNvSpPr>
            <a:spLocks noChangeArrowheads="1"/>
          </p:cNvSpPr>
          <p:nvPr/>
        </p:nvSpPr>
        <p:spPr bwMode="auto">
          <a:xfrm>
            <a:off x="1814513" y="3270250"/>
            <a:ext cx="2057400" cy="990600"/>
          </a:xfrm>
          <a:prstGeom prst="wedgeRoundRectCallout">
            <a:avLst>
              <a:gd name="adj1" fmla="val 88657"/>
              <a:gd name="adj2" fmla="val 11861"/>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61456" name="Text Box 53"/>
          <p:cNvSpPr txBox="1">
            <a:spLocks noChangeArrowheads="1"/>
          </p:cNvSpPr>
          <p:nvPr/>
        </p:nvSpPr>
        <p:spPr bwMode="auto">
          <a:xfrm>
            <a:off x="2312251" y="3429000"/>
            <a:ext cx="776174" cy="338554"/>
          </a:xfrm>
          <a:prstGeom prst="rect">
            <a:avLst/>
          </a:prstGeom>
          <a:noFill/>
          <a:ln w="38100" algn="ctr">
            <a:noFill/>
            <a:miter lim="800000"/>
            <a:headEnd/>
            <a:tailEnd/>
          </a:ln>
        </p:spPr>
        <p:txBody>
          <a:bodyPr wrap="none">
            <a:spAutoFit/>
          </a:bodyPr>
          <a:lstStyle/>
          <a:p>
            <a:pPr algn="ctr">
              <a:spcBef>
                <a:spcPct val="0"/>
              </a:spcBef>
            </a:pPr>
            <a:r>
              <a:rPr lang="en-US" sz="1600">
                <a:latin typeface="Arial" pitchFamily="34" charset="0"/>
                <a:cs typeface="Arial" pitchFamily="34" charset="0"/>
              </a:rPr>
              <a:t>FIRST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ooter Placeholder 2"/>
          <p:cNvSpPr>
            <a:spLocks noGrp="1"/>
          </p:cNvSpPr>
          <p:nvPr>
            <p:ph type="ftr" sz="quarter" idx="10"/>
          </p:nvPr>
        </p:nvSpPr>
        <p:spPr/>
        <p:txBody>
          <a:bodyPr/>
          <a:lstStyle/>
          <a:p>
            <a:pPr>
              <a:defRPr/>
            </a:pPr>
            <a:r>
              <a:rPr lang="en-US"/>
              <a:t>Art of Multiprocessor Programming</a:t>
            </a:r>
          </a:p>
        </p:txBody>
      </p:sp>
      <p:sp>
        <p:nvSpPr>
          <p:cNvPr id="59" name="Slide Number Placeholder 3"/>
          <p:cNvSpPr>
            <a:spLocks noGrp="1"/>
          </p:cNvSpPr>
          <p:nvPr>
            <p:ph type="sldNum" sz="quarter" idx="11"/>
          </p:nvPr>
        </p:nvSpPr>
        <p:spPr/>
        <p:txBody>
          <a:bodyPr/>
          <a:lstStyle/>
          <a:p>
            <a:pPr>
              <a:defRPr/>
            </a:pPr>
            <a:fld id="{ADCCF024-69B9-48AD-8C95-94545FDBA1D8}" type="slidenum">
              <a:rPr lang="en-US"/>
              <a:pPr>
                <a:defRPr/>
              </a:pPr>
              <a:t>61</a:t>
            </a:fld>
            <a:endParaRPr lang="en-US"/>
          </a:p>
        </p:txBody>
      </p:sp>
      <p:sp>
        <p:nvSpPr>
          <p:cNvPr id="62468" name="Rectangle 2"/>
          <p:cNvSpPr>
            <a:spLocks noGrp="1" noChangeArrowheads="1"/>
          </p:cNvSpPr>
          <p:nvPr>
            <p:ph type="title"/>
          </p:nvPr>
        </p:nvSpPr>
        <p:spPr/>
        <p:txBody>
          <a:bodyPr/>
          <a:lstStyle/>
          <a:p>
            <a:r>
              <a:rPr lang="en-US" sz="4000"/>
              <a:t>Combining (reloaded)</a:t>
            </a:r>
          </a:p>
        </p:txBody>
      </p:sp>
      <p:sp>
        <p:nvSpPr>
          <p:cNvPr id="62469"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0</a:t>
            </a:r>
          </a:p>
        </p:txBody>
      </p:sp>
      <p:sp>
        <p:nvSpPr>
          <p:cNvPr id="62470"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grpSp>
        <p:nvGrpSpPr>
          <p:cNvPr id="62471" name="Group 5"/>
          <p:cNvGrpSpPr>
            <a:grpSpLocks/>
          </p:cNvGrpSpPr>
          <p:nvPr/>
        </p:nvGrpSpPr>
        <p:grpSpPr bwMode="auto">
          <a:xfrm flipH="1">
            <a:off x="852488" y="4953000"/>
            <a:ext cx="1219200" cy="1090613"/>
            <a:chOff x="1584" y="816"/>
            <a:chExt cx="912" cy="816"/>
          </a:xfrm>
        </p:grpSpPr>
        <p:sp>
          <p:nvSpPr>
            <p:cNvPr id="62515"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6"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7"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8"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9"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20"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21"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22"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23"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2472" name="Group 15"/>
          <p:cNvGrpSpPr>
            <a:grpSpLocks/>
          </p:cNvGrpSpPr>
          <p:nvPr/>
        </p:nvGrpSpPr>
        <p:grpSpPr bwMode="auto">
          <a:xfrm>
            <a:off x="2925763" y="4953000"/>
            <a:ext cx="1219200" cy="1090613"/>
            <a:chOff x="1584" y="816"/>
            <a:chExt cx="912" cy="816"/>
          </a:xfrm>
        </p:grpSpPr>
        <p:sp>
          <p:nvSpPr>
            <p:cNvPr id="62506"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7"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8"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9"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0"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1"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2"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3"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14"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2473" name="Freeform 25"/>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62474" name="Text Box 26"/>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+3</a:t>
            </a:r>
          </a:p>
        </p:txBody>
      </p:sp>
      <p:sp>
        <p:nvSpPr>
          <p:cNvPr id="62475" name="Line 27"/>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62476" name="Line 28"/>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62477" name="Group 29"/>
          <p:cNvGrpSpPr>
            <a:grpSpLocks/>
          </p:cNvGrpSpPr>
          <p:nvPr/>
        </p:nvGrpSpPr>
        <p:grpSpPr bwMode="auto">
          <a:xfrm flipH="1">
            <a:off x="4999038" y="4953000"/>
            <a:ext cx="1219200" cy="1090613"/>
            <a:chOff x="1584" y="816"/>
            <a:chExt cx="912" cy="816"/>
          </a:xfrm>
        </p:grpSpPr>
        <p:sp>
          <p:nvSpPr>
            <p:cNvPr id="62497" name="Freeform 3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8" name="Freeform 3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9" name="Freeform 32"/>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0" name="Freeform 3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1" name="Freeform 3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2" name="Freeform 3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3" name="Freeform 36"/>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4" name="Freeform 37"/>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505" name="Freeform 38"/>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2478" name="Group 39"/>
          <p:cNvGrpSpPr>
            <a:grpSpLocks/>
          </p:cNvGrpSpPr>
          <p:nvPr/>
        </p:nvGrpSpPr>
        <p:grpSpPr bwMode="auto">
          <a:xfrm>
            <a:off x="7072313" y="4953000"/>
            <a:ext cx="1219200" cy="1090613"/>
            <a:chOff x="1584" y="816"/>
            <a:chExt cx="912" cy="816"/>
          </a:xfrm>
        </p:grpSpPr>
        <p:sp>
          <p:nvSpPr>
            <p:cNvPr id="62488" name="Freeform 4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89" name="Freeform 4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0" name="Freeform 42"/>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1" name="Freeform 4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2" name="Freeform 4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3" name="Freeform 4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4" name="Freeform 46"/>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5" name="Freeform 47"/>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96" name="Freeform 48"/>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2479" name="Oval 52"/>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62480" name="Group 56"/>
          <p:cNvGrpSpPr>
            <a:grpSpLocks/>
          </p:cNvGrpSpPr>
          <p:nvPr/>
        </p:nvGrpSpPr>
        <p:grpSpPr bwMode="auto">
          <a:xfrm>
            <a:off x="1708150" y="3352800"/>
            <a:ext cx="466725" cy="679450"/>
            <a:chOff x="2208" y="1920"/>
            <a:chExt cx="1152" cy="1680"/>
          </a:xfrm>
        </p:grpSpPr>
        <p:sp>
          <p:nvSpPr>
            <p:cNvPr id="62484" name="Oval 57"/>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85" name="Oval 58"/>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486"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62487"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62481" name="Text Box 61"/>
          <p:cNvSpPr txBox="1">
            <a:spLocks noChangeArrowheads="1"/>
          </p:cNvSpPr>
          <p:nvPr/>
        </p:nvSpPr>
        <p:spPr bwMode="auto">
          <a:xfrm>
            <a:off x="2312251" y="3429000"/>
            <a:ext cx="776174" cy="338554"/>
          </a:xfrm>
          <a:prstGeom prst="rect">
            <a:avLst/>
          </a:prstGeom>
          <a:noFill/>
          <a:ln w="38100" algn="ctr">
            <a:noFill/>
            <a:miter lim="800000"/>
            <a:headEnd/>
            <a:tailEnd/>
          </a:ln>
        </p:spPr>
        <p:txBody>
          <a:bodyPr wrap="none">
            <a:spAutoFit/>
          </a:bodyPr>
          <a:lstStyle/>
          <a:p>
            <a:pPr algn="ctr">
              <a:spcBef>
                <a:spcPct val="0"/>
              </a:spcBef>
            </a:pPr>
            <a:r>
              <a:rPr lang="en-US" sz="1600">
                <a:latin typeface="Arial" pitchFamily="34" charset="0"/>
                <a:cs typeface="Arial" pitchFamily="34" charset="0"/>
              </a:rPr>
              <a:t>FIRST</a:t>
            </a:r>
          </a:p>
        </p:txBody>
      </p:sp>
      <p:sp>
        <p:nvSpPr>
          <p:cNvPr id="62482" name="Text Box 62"/>
          <p:cNvSpPr txBox="1">
            <a:spLocks noChangeArrowheads="1"/>
          </p:cNvSpPr>
          <p:nvPr/>
        </p:nvSpPr>
        <p:spPr bwMode="auto">
          <a:xfrm>
            <a:off x="4999038" y="2743200"/>
            <a:ext cx="3667125" cy="1373188"/>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1</a:t>
            </a:r>
            <a:r>
              <a:rPr lang="en-US" sz="2800" baseline="30000">
                <a:solidFill>
                  <a:schemeClr val="accent1"/>
                </a:solidFill>
                <a:latin typeface="Arial" pitchFamily="34" charset="0"/>
                <a:cs typeface="Arial" pitchFamily="34" charset="0"/>
              </a:rPr>
              <a:t>st</a:t>
            </a:r>
            <a:r>
              <a:rPr lang="en-US" sz="2800">
                <a:solidFill>
                  <a:schemeClr val="accent1"/>
                </a:solidFill>
                <a:latin typeface="Arial" pitchFamily="34" charset="0"/>
                <a:cs typeface="Arial" pitchFamily="34" charset="0"/>
              </a:rPr>
              <a:t> thread is alone, locks out late partner</a:t>
            </a:r>
          </a:p>
        </p:txBody>
      </p:sp>
      <p:sp>
        <p:nvSpPr>
          <p:cNvPr id="62483" name="AutoShape 63"/>
          <p:cNvSpPr>
            <a:spLocks noChangeArrowheads="1"/>
          </p:cNvSpPr>
          <p:nvPr/>
        </p:nvSpPr>
        <p:spPr bwMode="auto">
          <a:xfrm>
            <a:off x="1647825" y="3284538"/>
            <a:ext cx="2057400" cy="990600"/>
          </a:xfrm>
          <a:prstGeom prst="wedgeRoundRectCallout">
            <a:avLst>
              <a:gd name="adj1" fmla="val 126079"/>
              <a:gd name="adj2" fmla="val -46472"/>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Footer Placeholder 2"/>
          <p:cNvSpPr>
            <a:spLocks noGrp="1"/>
          </p:cNvSpPr>
          <p:nvPr>
            <p:ph type="ftr" sz="quarter" idx="10"/>
          </p:nvPr>
        </p:nvSpPr>
        <p:spPr/>
        <p:txBody>
          <a:bodyPr/>
          <a:lstStyle/>
          <a:p>
            <a:pPr>
              <a:defRPr/>
            </a:pPr>
            <a:r>
              <a:rPr lang="en-US"/>
              <a:t>Art of Multiprocessor Programming</a:t>
            </a:r>
          </a:p>
        </p:txBody>
      </p:sp>
      <p:sp>
        <p:nvSpPr>
          <p:cNvPr id="61" name="Slide Number Placeholder 3"/>
          <p:cNvSpPr>
            <a:spLocks noGrp="1"/>
          </p:cNvSpPr>
          <p:nvPr>
            <p:ph type="sldNum" sz="quarter" idx="11"/>
          </p:nvPr>
        </p:nvSpPr>
        <p:spPr/>
        <p:txBody>
          <a:bodyPr/>
          <a:lstStyle/>
          <a:p>
            <a:pPr>
              <a:defRPr/>
            </a:pPr>
            <a:fld id="{B7D6079B-BD72-4CF0-BBFC-AB504551CB97}" type="slidenum">
              <a:rPr lang="en-US"/>
              <a:pPr>
                <a:defRPr/>
              </a:pPr>
              <a:t>62</a:t>
            </a:fld>
            <a:endParaRPr lang="en-US"/>
          </a:p>
        </p:txBody>
      </p:sp>
      <p:sp>
        <p:nvSpPr>
          <p:cNvPr id="63492" name="Rectangle 2"/>
          <p:cNvSpPr>
            <a:spLocks noGrp="1" noChangeArrowheads="1"/>
          </p:cNvSpPr>
          <p:nvPr>
            <p:ph type="title"/>
          </p:nvPr>
        </p:nvSpPr>
        <p:spPr/>
        <p:txBody>
          <a:bodyPr/>
          <a:lstStyle/>
          <a:p>
            <a:r>
              <a:rPr lang="en-US" sz="4000"/>
              <a:t>Combining (reloaded)</a:t>
            </a:r>
          </a:p>
        </p:txBody>
      </p:sp>
      <p:sp>
        <p:nvSpPr>
          <p:cNvPr id="63493"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0</a:t>
            </a:r>
          </a:p>
        </p:txBody>
      </p:sp>
      <p:sp>
        <p:nvSpPr>
          <p:cNvPr id="63494"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grpSp>
        <p:nvGrpSpPr>
          <p:cNvPr id="63495" name="Group 5"/>
          <p:cNvGrpSpPr>
            <a:grpSpLocks/>
          </p:cNvGrpSpPr>
          <p:nvPr/>
        </p:nvGrpSpPr>
        <p:grpSpPr bwMode="auto">
          <a:xfrm flipH="1">
            <a:off x="852488" y="4953000"/>
            <a:ext cx="1219200" cy="1090613"/>
            <a:chOff x="1584" y="816"/>
            <a:chExt cx="912" cy="816"/>
          </a:xfrm>
        </p:grpSpPr>
        <p:sp>
          <p:nvSpPr>
            <p:cNvPr id="63541"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2"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3"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4"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5"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6"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7"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8"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9"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3496" name="Group 15"/>
          <p:cNvGrpSpPr>
            <a:grpSpLocks/>
          </p:cNvGrpSpPr>
          <p:nvPr/>
        </p:nvGrpSpPr>
        <p:grpSpPr bwMode="auto">
          <a:xfrm>
            <a:off x="2925763" y="4953000"/>
            <a:ext cx="1219200" cy="1090613"/>
            <a:chOff x="1584" y="816"/>
            <a:chExt cx="912" cy="816"/>
          </a:xfrm>
        </p:grpSpPr>
        <p:sp>
          <p:nvSpPr>
            <p:cNvPr id="63532"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3"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4"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5"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6"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7"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8"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9"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40"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3497" name="Freeform 25"/>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63498" name="Text Box 26"/>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+3</a:t>
            </a:r>
          </a:p>
        </p:txBody>
      </p:sp>
      <p:sp>
        <p:nvSpPr>
          <p:cNvPr id="63499" name="Line 27"/>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63500" name="Line 28"/>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63501" name="Group 29"/>
          <p:cNvGrpSpPr>
            <a:grpSpLocks/>
          </p:cNvGrpSpPr>
          <p:nvPr/>
        </p:nvGrpSpPr>
        <p:grpSpPr bwMode="auto">
          <a:xfrm flipH="1">
            <a:off x="4999038" y="4953000"/>
            <a:ext cx="1219200" cy="1090613"/>
            <a:chOff x="1584" y="816"/>
            <a:chExt cx="912" cy="816"/>
          </a:xfrm>
        </p:grpSpPr>
        <p:sp>
          <p:nvSpPr>
            <p:cNvPr id="63523" name="Freeform 3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4" name="Freeform 3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5" name="Freeform 32"/>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6" name="Freeform 3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7" name="Freeform 3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8" name="Freeform 3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9" name="Freeform 36"/>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0" name="Freeform 37"/>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31" name="Freeform 38"/>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3502" name="Group 39"/>
          <p:cNvGrpSpPr>
            <a:grpSpLocks/>
          </p:cNvGrpSpPr>
          <p:nvPr/>
        </p:nvGrpSpPr>
        <p:grpSpPr bwMode="auto">
          <a:xfrm>
            <a:off x="7072313" y="4953000"/>
            <a:ext cx="1219200" cy="1090613"/>
            <a:chOff x="1584" y="816"/>
            <a:chExt cx="912" cy="816"/>
          </a:xfrm>
        </p:grpSpPr>
        <p:sp>
          <p:nvSpPr>
            <p:cNvPr id="63514" name="Freeform 4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15" name="Freeform 4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16" name="Freeform 42"/>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17" name="Freeform 4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18" name="Freeform 4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19" name="Freeform 4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0" name="Freeform 46"/>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1" name="Freeform 47"/>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22" name="Freeform 48"/>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3503" name="Text Box 49"/>
          <p:cNvSpPr txBox="1">
            <a:spLocks noChangeArrowheads="1"/>
          </p:cNvSpPr>
          <p:nvPr/>
        </p:nvSpPr>
        <p:spPr bwMode="auto">
          <a:xfrm>
            <a:off x="2498725" y="28194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+3</a:t>
            </a:r>
          </a:p>
        </p:txBody>
      </p:sp>
      <p:sp>
        <p:nvSpPr>
          <p:cNvPr id="63504" name="Oval 50"/>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sp>
        <p:nvSpPr>
          <p:cNvPr id="63505" name="Freeform 51"/>
          <p:cNvSpPr>
            <a:spLocks/>
          </p:cNvSpPr>
          <p:nvPr/>
        </p:nvSpPr>
        <p:spPr bwMode="auto">
          <a:xfrm>
            <a:off x="3182938" y="26670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63506" name="Group 52"/>
          <p:cNvGrpSpPr>
            <a:grpSpLocks/>
          </p:cNvGrpSpPr>
          <p:nvPr/>
        </p:nvGrpSpPr>
        <p:grpSpPr bwMode="auto">
          <a:xfrm>
            <a:off x="1708150" y="3352800"/>
            <a:ext cx="466725" cy="679450"/>
            <a:chOff x="2208" y="1920"/>
            <a:chExt cx="1152" cy="1680"/>
          </a:xfrm>
        </p:grpSpPr>
        <p:sp>
          <p:nvSpPr>
            <p:cNvPr id="63510" name="Oval 53"/>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11" name="Oval 54"/>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512"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63513"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63507" name="Text Box 57"/>
          <p:cNvSpPr txBox="1">
            <a:spLocks noChangeArrowheads="1"/>
          </p:cNvSpPr>
          <p:nvPr/>
        </p:nvSpPr>
        <p:spPr bwMode="auto">
          <a:xfrm>
            <a:off x="2312251" y="3429000"/>
            <a:ext cx="776174" cy="338554"/>
          </a:xfrm>
          <a:prstGeom prst="rect">
            <a:avLst/>
          </a:prstGeom>
          <a:noFill/>
          <a:ln w="38100" algn="ctr">
            <a:noFill/>
            <a:miter lim="800000"/>
            <a:headEnd/>
            <a:tailEnd/>
          </a:ln>
        </p:spPr>
        <p:txBody>
          <a:bodyPr wrap="none">
            <a:spAutoFit/>
          </a:bodyPr>
          <a:lstStyle/>
          <a:p>
            <a:pPr algn="ctr">
              <a:spcBef>
                <a:spcPct val="0"/>
              </a:spcBef>
            </a:pPr>
            <a:r>
              <a:rPr lang="en-US" sz="1600">
                <a:latin typeface="Arial" pitchFamily="34" charset="0"/>
                <a:cs typeface="Arial" pitchFamily="34" charset="0"/>
              </a:rPr>
              <a:t>FIRST</a:t>
            </a:r>
          </a:p>
        </p:txBody>
      </p:sp>
      <p:sp>
        <p:nvSpPr>
          <p:cNvPr id="63508" name="Text Box 58"/>
          <p:cNvSpPr txBox="1">
            <a:spLocks noChangeArrowheads="1"/>
          </p:cNvSpPr>
          <p:nvPr/>
        </p:nvSpPr>
        <p:spPr bwMode="auto">
          <a:xfrm>
            <a:off x="5481638" y="1492250"/>
            <a:ext cx="3409950" cy="519113"/>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Stop at root</a:t>
            </a:r>
          </a:p>
        </p:txBody>
      </p:sp>
      <p:sp>
        <p:nvSpPr>
          <p:cNvPr id="63509" name="AutoShape 59"/>
          <p:cNvSpPr>
            <a:spLocks noChangeArrowheads="1"/>
          </p:cNvSpPr>
          <p:nvPr/>
        </p:nvSpPr>
        <p:spPr bwMode="auto">
          <a:xfrm>
            <a:off x="3567113" y="1981200"/>
            <a:ext cx="2057400" cy="990600"/>
          </a:xfrm>
          <a:prstGeom prst="wedgeRoundRectCallout">
            <a:avLst>
              <a:gd name="adj1" fmla="val 68056"/>
              <a:gd name="adj2" fmla="val -56889"/>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2"/>
          <p:cNvSpPr>
            <a:spLocks noGrp="1"/>
          </p:cNvSpPr>
          <p:nvPr>
            <p:ph type="ftr" sz="quarter" idx="10"/>
          </p:nvPr>
        </p:nvSpPr>
        <p:spPr/>
        <p:txBody>
          <a:bodyPr/>
          <a:lstStyle/>
          <a:p>
            <a:pPr>
              <a:defRPr/>
            </a:pPr>
            <a:r>
              <a:rPr lang="en-US"/>
              <a:t>Art of Multiprocessor Programming</a:t>
            </a:r>
          </a:p>
        </p:txBody>
      </p:sp>
      <p:sp>
        <p:nvSpPr>
          <p:cNvPr id="62" name="Slide Number Placeholder 3"/>
          <p:cNvSpPr>
            <a:spLocks noGrp="1"/>
          </p:cNvSpPr>
          <p:nvPr>
            <p:ph type="sldNum" sz="quarter" idx="11"/>
          </p:nvPr>
        </p:nvSpPr>
        <p:spPr/>
        <p:txBody>
          <a:bodyPr/>
          <a:lstStyle/>
          <a:p>
            <a:pPr>
              <a:defRPr/>
            </a:pPr>
            <a:fld id="{4FAADDF9-D88F-42F9-8C98-0CB9536FBC9C}" type="slidenum">
              <a:rPr lang="en-US"/>
              <a:pPr>
                <a:defRPr/>
              </a:pPr>
              <a:t>63</a:t>
            </a:fld>
            <a:endParaRPr lang="en-US"/>
          </a:p>
        </p:txBody>
      </p:sp>
      <p:sp>
        <p:nvSpPr>
          <p:cNvPr id="64516" name="Rectangle 2"/>
          <p:cNvSpPr>
            <a:spLocks noGrp="1" noChangeArrowheads="1"/>
          </p:cNvSpPr>
          <p:nvPr>
            <p:ph type="title"/>
          </p:nvPr>
        </p:nvSpPr>
        <p:spPr/>
        <p:txBody>
          <a:bodyPr/>
          <a:lstStyle/>
          <a:p>
            <a:r>
              <a:rPr lang="en-US" sz="4000"/>
              <a:t>Combining (reloaded)</a:t>
            </a:r>
          </a:p>
        </p:txBody>
      </p:sp>
      <p:sp>
        <p:nvSpPr>
          <p:cNvPr id="64517"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0</a:t>
            </a:r>
          </a:p>
        </p:txBody>
      </p:sp>
      <p:sp>
        <p:nvSpPr>
          <p:cNvPr id="64518"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grpSp>
        <p:nvGrpSpPr>
          <p:cNvPr id="64519" name="Group 5"/>
          <p:cNvGrpSpPr>
            <a:grpSpLocks/>
          </p:cNvGrpSpPr>
          <p:nvPr/>
        </p:nvGrpSpPr>
        <p:grpSpPr bwMode="auto">
          <a:xfrm flipH="1">
            <a:off x="852488" y="4953000"/>
            <a:ext cx="1219200" cy="1090613"/>
            <a:chOff x="1584" y="816"/>
            <a:chExt cx="912" cy="816"/>
          </a:xfrm>
        </p:grpSpPr>
        <p:sp>
          <p:nvSpPr>
            <p:cNvPr id="64566"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7"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8"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9"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70"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71"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72"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73"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74"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4520" name="Group 15"/>
          <p:cNvGrpSpPr>
            <a:grpSpLocks/>
          </p:cNvGrpSpPr>
          <p:nvPr/>
        </p:nvGrpSpPr>
        <p:grpSpPr bwMode="auto">
          <a:xfrm>
            <a:off x="2925763" y="4953000"/>
            <a:ext cx="1219200" cy="1090613"/>
            <a:chOff x="1584" y="816"/>
            <a:chExt cx="912" cy="816"/>
          </a:xfrm>
        </p:grpSpPr>
        <p:sp>
          <p:nvSpPr>
            <p:cNvPr id="64557"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8"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9"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0"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1"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2"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3"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4"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65"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4521" name="Freeform 25"/>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64522" name="Text Box 26"/>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+3</a:t>
            </a:r>
          </a:p>
        </p:txBody>
      </p:sp>
      <p:sp>
        <p:nvSpPr>
          <p:cNvPr id="64523" name="Line 27"/>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64524" name="Line 28"/>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64525" name="Group 29"/>
          <p:cNvGrpSpPr>
            <a:grpSpLocks/>
          </p:cNvGrpSpPr>
          <p:nvPr/>
        </p:nvGrpSpPr>
        <p:grpSpPr bwMode="auto">
          <a:xfrm flipH="1">
            <a:off x="4999038" y="4953000"/>
            <a:ext cx="1219200" cy="1090613"/>
            <a:chOff x="1584" y="816"/>
            <a:chExt cx="912" cy="816"/>
          </a:xfrm>
        </p:grpSpPr>
        <p:sp>
          <p:nvSpPr>
            <p:cNvPr id="64548" name="Freeform 3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9" name="Freeform 3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0" name="Freeform 32"/>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1" name="Freeform 3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2" name="Freeform 3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3" name="Freeform 3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4" name="Freeform 36"/>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5" name="Freeform 37"/>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56" name="Freeform 38"/>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4526" name="Group 39"/>
          <p:cNvGrpSpPr>
            <a:grpSpLocks/>
          </p:cNvGrpSpPr>
          <p:nvPr/>
        </p:nvGrpSpPr>
        <p:grpSpPr bwMode="auto">
          <a:xfrm>
            <a:off x="7072313" y="4953000"/>
            <a:ext cx="1219200" cy="1090613"/>
            <a:chOff x="1584" y="816"/>
            <a:chExt cx="912" cy="816"/>
          </a:xfrm>
        </p:grpSpPr>
        <p:sp>
          <p:nvSpPr>
            <p:cNvPr id="64539" name="Freeform 4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0" name="Freeform 4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1" name="Freeform 42"/>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2" name="Freeform 4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3" name="Freeform 4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4" name="Freeform 4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5" name="Freeform 46"/>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6" name="Freeform 47"/>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47" name="Freeform 48"/>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4527" name="Text Box 49"/>
          <p:cNvSpPr txBox="1">
            <a:spLocks noChangeArrowheads="1"/>
          </p:cNvSpPr>
          <p:nvPr/>
        </p:nvSpPr>
        <p:spPr bwMode="auto">
          <a:xfrm>
            <a:off x="2498725" y="28194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+3</a:t>
            </a:r>
          </a:p>
        </p:txBody>
      </p:sp>
      <p:sp>
        <p:nvSpPr>
          <p:cNvPr id="64528" name="Oval 50"/>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sp>
        <p:nvSpPr>
          <p:cNvPr id="64529" name="Freeform 51"/>
          <p:cNvSpPr>
            <a:spLocks/>
          </p:cNvSpPr>
          <p:nvPr/>
        </p:nvSpPr>
        <p:spPr bwMode="auto">
          <a:xfrm>
            <a:off x="3182938" y="26670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64530" name="Group 52"/>
          <p:cNvGrpSpPr>
            <a:grpSpLocks/>
          </p:cNvGrpSpPr>
          <p:nvPr/>
        </p:nvGrpSpPr>
        <p:grpSpPr bwMode="auto">
          <a:xfrm>
            <a:off x="1708150" y="3352800"/>
            <a:ext cx="466725" cy="679450"/>
            <a:chOff x="2208" y="1920"/>
            <a:chExt cx="1152" cy="1680"/>
          </a:xfrm>
        </p:grpSpPr>
        <p:sp>
          <p:nvSpPr>
            <p:cNvPr id="64535" name="Oval 53"/>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36" name="Oval 54"/>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537"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64538"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64531" name="Text Box 57"/>
          <p:cNvSpPr txBox="1">
            <a:spLocks noChangeArrowheads="1"/>
          </p:cNvSpPr>
          <p:nvPr/>
        </p:nvSpPr>
        <p:spPr bwMode="auto">
          <a:xfrm>
            <a:off x="2312251" y="3429000"/>
            <a:ext cx="776174" cy="338554"/>
          </a:xfrm>
          <a:prstGeom prst="rect">
            <a:avLst/>
          </a:prstGeom>
          <a:noFill/>
          <a:ln w="38100" algn="ctr">
            <a:noFill/>
            <a:miter lim="800000"/>
            <a:headEnd/>
            <a:tailEnd/>
          </a:ln>
        </p:spPr>
        <p:txBody>
          <a:bodyPr wrap="none">
            <a:spAutoFit/>
          </a:bodyPr>
          <a:lstStyle/>
          <a:p>
            <a:pPr algn="ctr">
              <a:spcBef>
                <a:spcPct val="0"/>
              </a:spcBef>
            </a:pPr>
            <a:r>
              <a:rPr lang="en-US" sz="1600">
                <a:latin typeface="Arial" pitchFamily="34" charset="0"/>
                <a:cs typeface="Arial" pitchFamily="34" charset="0"/>
              </a:rPr>
              <a:t>FIRST</a:t>
            </a:r>
          </a:p>
        </p:txBody>
      </p:sp>
      <p:sp>
        <p:nvSpPr>
          <p:cNvPr id="64532" name="Text Box 58"/>
          <p:cNvSpPr txBox="1">
            <a:spLocks noChangeArrowheads="1"/>
          </p:cNvSpPr>
          <p:nvPr/>
        </p:nvSpPr>
        <p:spPr bwMode="auto">
          <a:xfrm>
            <a:off x="4689475" y="3802063"/>
            <a:ext cx="3768725" cy="1384300"/>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2</a:t>
            </a:r>
            <a:r>
              <a:rPr lang="en-US" sz="2800" baseline="30000">
                <a:solidFill>
                  <a:schemeClr val="accent1"/>
                </a:solidFill>
                <a:latin typeface="Arial" pitchFamily="34" charset="0"/>
                <a:cs typeface="Arial" pitchFamily="34" charset="0"/>
              </a:rPr>
              <a:t>nd</a:t>
            </a:r>
            <a:r>
              <a:rPr lang="en-US" sz="2800">
                <a:solidFill>
                  <a:schemeClr val="accent1"/>
                </a:solidFill>
                <a:latin typeface="Arial" pitchFamily="34" charset="0"/>
                <a:cs typeface="Arial" pitchFamily="34" charset="0"/>
              </a:rPr>
              <a:t> thread’s late precombining phase visit locked out</a:t>
            </a:r>
          </a:p>
        </p:txBody>
      </p:sp>
      <p:sp>
        <p:nvSpPr>
          <p:cNvPr id="64533" name="AutoShape 59"/>
          <p:cNvSpPr>
            <a:spLocks noChangeArrowheads="1"/>
          </p:cNvSpPr>
          <p:nvPr/>
        </p:nvSpPr>
        <p:spPr bwMode="auto">
          <a:xfrm>
            <a:off x="1558925" y="3284538"/>
            <a:ext cx="2303463" cy="990600"/>
          </a:xfrm>
          <a:prstGeom prst="wedgeRoundRectCallout">
            <a:avLst>
              <a:gd name="adj1" fmla="val 82597"/>
              <a:gd name="adj2" fmla="val 37662"/>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64534" name="Freeform 60"/>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11F48DB7-D5FF-439B-8B9A-BAB2B17FFB8E}" type="slidenum">
              <a:rPr lang="en-US"/>
              <a:pPr>
                <a:defRPr/>
              </a:pPr>
              <a:t>64</a:t>
            </a:fld>
            <a:endParaRPr lang="en-US"/>
          </a:p>
        </p:txBody>
      </p:sp>
      <p:sp>
        <p:nvSpPr>
          <p:cNvPr id="65540" name="Rectangle 2"/>
          <p:cNvSpPr>
            <a:spLocks noGrp="1" noChangeArrowheads="1"/>
          </p:cNvSpPr>
          <p:nvPr>
            <p:ph type="title"/>
          </p:nvPr>
        </p:nvSpPr>
        <p:spPr/>
        <p:txBody>
          <a:bodyPr/>
          <a:lstStyle/>
          <a:p>
            <a:r>
              <a:rPr lang="en-US"/>
              <a:t>Combining Navigation</a:t>
            </a:r>
          </a:p>
        </p:txBody>
      </p:sp>
      <p:sp>
        <p:nvSpPr>
          <p:cNvPr id="65541" name="Rectangle 3"/>
          <p:cNvSpPr>
            <a:spLocks noChangeArrowheads="1"/>
          </p:cNvSpPr>
          <p:nvPr/>
        </p:nvSpPr>
        <p:spPr bwMode="auto">
          <a:xfrm>
            <a:off x="947738" y="1752600"/>
            <a:ext cx="7586662" cy="3120854"/>
          </a:xfrm>
          <a:prstGeom prst="rect">
            <a:avLst/>
          </a:prstGeom>
          <a:solidFill>
            <a:srgbClr val="FFFFCC"/>
          </a:solidFill>
          <a:ln w="9525">
            <a:noFill/>
            <a:miter lim="800000"/>
            <a:headEnd/>
            <a:tailEnd/>
          </a:ln>
        </p:spPr>
        <p:txBody>
          <a:bodyPr>
            <a:spAutoFit/>
          </a:bodyPr>
          <a:lstStyle/>
          <a:p>
            <a:pPr marL="342900" indent="-342900"/>
            <a:r>
              <a:rPr lang="en-US" dirty="0">
                <a:latin typeface="Courier New" pitchFamily="49" charset="0"/>
              </a:rPr>
              <a:t>node = </a:t>
            </a:r>
            <a:r>
              <a:rPr lang="en-US" dirty="0" err="1">
                <a:latin typeface="Courier New" pitchFamily="49" charset="0"/>
              </a:rPr>
              <a:t>myLeaf</a:t>
            </a:r>
            <a:r>
              <a:rPr lang="en-US" dirty="0">
                <a:latin typeface="Courier New" pitchFamily="49" charset="0"/>
              </a:rPr>
              <a:t>;</a:t>
            </a:r>
          </a:p>
          <a:p>
            <a:pPr marL="342900" indent="-342900"/>
            <a:r>
              <a:rPr lang="en-US" dirty="0" err="1">
                <a:solidFill>
                  <a:schemeClr val="tx1"/>
                </a:solidFill>
                <a:latin typeface="Courier New" pitchFamily="49" charset="0"/>
              </a:rPr>
              <a:t>int</a:t>
            </a:r>
            <a:r>
              <a:rPr lang="en-US" dirty="0">
                <a:latin typeface="Courier New" pitchFamily="49" charset="0"/>
              </a:rPr>
              <a:t> combined = 1;</a:t>
            </a:r>
          </a:p>
          <a:p>
            <a:pPr marL="342900" indent="-342900"/>
            <a:r>
              <a:rPr lang="en-US" dirty="0">
                <a:solidFill>
                  <a:schemeClr val="tx1"/>
                </a:solidFill>
                <a:latin typeface="Courier New" pitchFamily="49" charset="0"/>
              </a:rPr>
              <a:t>while</a:t>
            </a:r>
            <a:r>
              <a:rPr lang="en-US" dirty="0">
                <a:latin typeface="Courier New" pitchFamily="49" charset="0"/>
              </a:rPr>
              <a:t> (node != stop) {</a:t>
            </a:r>
          </a:p>
          <a:p>
            <a:pPr marL="342900" indent="-342900"/>
            <a:r>
              <a:rPr lang="en-US" dirty="0">
                <a:latin typeface="Courier New" pitchFamily="49" charset="0"/>
              </a:rPr>
              <a:t>  combined = </a:t>
            </a:r>
            <a:r>
              <a:rPr lang="en-US" dirty="0" err="1">
                <a:latin typeface="Courier New" pitchFamily="49" charset="0"/>
              </a:rPr>
              <a:t>node.combine</a:t>
            </a:r>
            <a:r>
              <a:rPr lang="en-US" dirty="0">
                <a:latin typeface="Courier New" pitchFamily="49" charset="0"/>
              </a:rPr>
              <a:t>(combined);</a:t>
            </a:r>
          </a:p>
          <a:p>
            <a:pPr marL="342900" indent="-342900"/>
            <a:r>
              <a:rPr lang="en-US" dirty="0">
                <a:latin typeface="Courier New" pitchFamily="49" charset="0"/>
              </a:rPr>
              <a:t>  </a:t>
            </a:r>
            <a:r>
              <a:rPr lang="en-US" dirty="0" err="1">
                <a:latin typeface="Courier New" pitchFamily="49" charset="0"/>
              </a:rPr>
              <a:t>stack.push</a:t>
            </a:r>
            <a:r>
              <a:rPr lang="en-US" dirty="0">
                <a:latin typeface="Courier New" pitchFamily="49" charset="0"/>
              </a:rPr>
              <a:t>(node);</a:t>
            </a:r>
          </a:p>
          <a:p>
            <a:pPr marL="342900" indent="-342900"/>
            <a:r>
              <a:rPr lang="en-US" dirty="0">
                <a:latin typeface="Courier New" pitchFamily="49" charset="0"/>
              </a:rPr>
              <a:t>  node = </a:t>
            </a:r>
            <a:r>
              <a:rPr lang="en-US" dirty="0" err="1">
                <a:latin typeface="Courier New" pitchFamily="49" charset="0"/>
              </a:rPr>
              <a:t>node.parent</a:t>
            </a:r>
            <a:r>
              <a:rPr lang="en-US" dirty="0">
                <a:latin typeface="Courier New" pitchFamily="49" charset="0"/>
              </a:rPr>
              <a:t>;</a:t>
            </a:r>
          </a:p>
          <a:p>
            <a:pPr marL="342900" indent="-342900"/>
            <a:r>
              <a:rPr lang="en-US" dirty="0">
                <a:latin typeface="Courier New" pitchFamily="49" charset="0"/>
              </a:rPr>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CD173B81-FCB8-4E69-974B-47E29DA0430F}" type="slidenum">
              <a:rPr lang="en-US"/>
              <a:pPr>
                <a:defRPr/>
              </a:pPr>
              <a:t>65</a:t>
            </a:fld>
            <a:endParaRPr lang="en-US"/>
          </a:p>
        </p:txBody>
      </p:sp>
      <p:sp>
        <p:nvSpPr>
          <p:cNvPr id="66564" name="Rectangle 2"/>
          <p:cNvSpPr>
            <a:spLocks noGrp="1" noChangeArrowheads="1"/>
          </p:cNvSpPr>
          <p:nvPr>
            <p:ph type="title"/>
          </p:nvPr>
        </p:nvSpPr>
        <p:spPr/>
        <p:txBody>
          <a:bodyPr/>
          <a:lstStyle/>
          <a:p>
            <a:r>
              <a:rPr lang="en-US"/>
              <a:t>Combining Navigation</a:t>
            </a:r>
          </a:p>
        </p:txBody>
      </p:sp>
      <p:sp>
        <p:nvSpPr>
          <p:cNvPr id="66565" name="Rectangle 3"/>
          <p:cNvSpPr>
            <a:spLocks noChangeArrowheads="1"/>
          </p:cNvSpPr>
          <p:nvPr/>
        </p:nvSpPr>
        <p:spPr bwMode="auto">
          <a:xfrm>
            <a:off x="947738" y="1752600"/>
            <a:ext cx="7586662" cy="3120854"/>
          </a:xfrm>
          <a:prstGeom prst="rect">
            <a:avLst/>
          </a:prstGeom>
          <a:solidFill>
            <a:srgbClr val="FFFFCC"/>
          </a:solidFill>
          <a:ln w="9525">
            <a:noFill/>
            <a:miter lim="800000"/>
            <a:headEnd/>
            <a:tailEnd/>
          </a:ln>
        </p:spPr>
        <p:txBody>
          <a:bodyPr>
            <a:spAutoFit/>
          </a:bodyPr>
          <a:lstStyle/>
          <a:p>
            <a:pPr marL="342900" indent="-342900"/>
            <a:r>
              <a:rPr lang="en-US" dirty="0">
                <a:latin typeface="Courier New" pitchFamily="49" charset="0"/>
              </a:rPr>
              <a:t>node = </a:t>
            </a:r>
            <a:r>
              <a:rPr lang="en-US" dirty="0" err="1">
                <a:latin typeface="Courier New" pitchFamily="49" charset="0"/>
              </a:rPr>
              <a:t>myLeaf</a:t>
            </a:r>
            <a:r>
              <a:rPr lang="en-US" dirty="0">
                <a:latin typeface="Courier New" pitchFamily="49" charset="0"/>
              </a:rPr>
              <a:t>;</a:t>
            </a:r>
          </a:p>
          <a:p>
            <a:pPr marL="342900" indent="-342900"/>
            <a:r>
              <a:rPr lang="en-US" dirty="0" err="1">
                <a:solidFill>
                  <a:schemeClr val="folHlink"/>
                </a:solidFill>
                <a:latin typeface="Courier New" pitchFamily="49" charset="0"/>
              </a:rPr>
              <a:t>int</a:t>
            </a:r>
            <a:r>
              <a:rPr lang="en-US" dirty="0">
                <a:solidFill>
                  <a:schemeClr val="folHlink"/>
                </a:solidFill>
                <a:latin typeface="Courier New" pitchFamily="49" charset="0"/>
              </a:rPr>
              <a:t> combined = 1;</a:t>
            </a:r>
          </a:p>
          <a:p>
            <a:pPr marL="342900" indent="-342900"/>
            <a:r>
              <a:rPr lang="en-US" dirty="0">
                <a:solidFill>
                  <a:schemeClr val="folHlink"/>
                </a:solidFill>
                <a:latin typeface="Courier New" pitchFamily="49" charset="0"/>
              </a:rPr>
              <a:t>while (node != stop) {</a:t>
            </a:r>
          </a:p>
          <a:p>
            <a:pPr marL="342900" indent="-342900"/>
            <a:r>
              <a:rPr lang="en-US" dirty="0">
                <a:solidFill>
                  <a:schemeClr val="folHlink"/>
                </a:solidFill>
                <a:latin typeface="Courier New" pitchFamily="49" charset="0"/>
              </a:rPr>
              <a:t>  combined = </a:t>
            </a:r>
            <a:r>
              <a:rPr lang="en-US" dirty="0" err="1">
                <a:solidFill>
                  <a:schemeClr val="folHlink"/>
                </a:solidFill>
                <a:latin typeface="Courier New" pitchFamily="49" charset="0"/>
              </a:rPr>
              <a:t>node.combine</a:t>
            </a:r>
            <a:r>
              <a:rPr lang="en-US" dirty="0">
                <a:solidFill>
                  <a:schemeClr val="folHlink"/>
                </a:solidFill>
                <a:latin typeface="Courier New" pitchFamily="49" charset="0"/>
              </a:rPr>
              <a:t>(combined);</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stack.push</a:t>
            </a:r>
            <a:r>
              <a:rPr lang="en-US" dirty="0">
                <a:solidFill>
                  <a:schemeClr val="folHlink"/>
                </a:solidFill>
                <a:latin typeface="Courier New" pitchFamily="49" charset="0"/>
              </a:rPr>
              <a:t>(node);</a:t>
            </a:r>
          </a:p>
          <a:p>
            <a:pPr marL="342900" indent="-342900"/>
            <a:r>
              <a:rPr lang="en-US" dirty="0">
                <a:solidFill>
                  <a:schemeClr val="folHlink"/>
                </a:solidFill>
                <a:latin typeface="Courier New" pitchFamily="49" charset="0"/>
              </a:rPr>
              <a:t>  node = </a:t>
            </a:r>
            <a:r>
              <a:rPr lang="en-US" dirty="0" err="1">
                <a:solidFill>
                  <a:schemeClr val="folHlink"/>
                </a:solidFill>
                <a:latin typeface="Courier New" pitchFamily="49" charset="0"/>
              </a:rPr>
              <a:t>node.parent</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p>
        </p:txBody>
      </p:sp>
      <p:sp>
        <p:nvSpPr>
          <p:cNvPr id="66566" name="Text Box 4"/>
          <p:cNvSpPr txBox="1">
            <a:spLocks noChangeArrowheads="1"/>
          </p:cNvSpPr>
          <p:nvPr/>
        </p:nvSpPr>
        <p:spPr bwMode="auto">
          <a:xfrm>
            <a:off x="3743325" y="4838700"/>
            <a:ext cx="4343400" cy="519113"/>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Start at leaf</a:t>
            </a:r>
          </a:p>
        </p:txBody>
      </p:sp>
      <p:sp>
        <p:nvSpPr>
          <p:cNvPr id="66567" name="AutoShape 5"/>
          <p:cNvSpPr>
            <a:spLocks noChangeArrowheads="1"/>
          </p:cNvSpPr>
          <p:nvPr/>
        </p:nvSpPr>
        <p:spPr bwMode="auto">
          <a:xfrm>
            <a:off x="947738" y="1752600"/>
            <a:ext cx="2795587" cy="550863"/>
          </a:xfrm>
          <a:prstGeom prst="wedgeRoundRectCallout">
            <a:avLst>
              <a:gd name="adj1" fmla="val 91338"/>
              <a:gd name="adj2" fmla="val 495532"/>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0330371C-AF81-43B8-84A7-B79659E2A61B}" type="slidenum">
              <a:rPr lang="en-US"/>
              <a:pPr>
                <a:defRPr/>
              </a:pPr>
              <a:t>66</a:t>
            </a:fld>
            <a:endParaRPr lang="en-US"/>
          </a:p>
        </p:txBody>
      </p:sp>
      <p:sp>
        <p:nvSpPr>
          <p:cNvPr id="67588" name="Rectangle 2"/>
          <p:cNvSpPr>
            <a:spLocks noGrp="1" noChangeArrowheads="1"/>
          </p:cNvSpPr>
          <p:nvPr>
            <p:ph type="title"/>
          </p:nvPr>
        </p:nvSpPr>
        <p:spPr/>
        <p:txBody>
          <a:bodyPr/>
          <a:lstStyle/>
          <a:p>
            <a:r>
              <a:rPr lang="en-US"/>
              <a:t>Combining Navigation</a:t>
            </a:r>
          </a:p>
        </p:txBody>
      </p:sp>
      <p:sp>
        <p:nvSpPr>
          <p:cNvPr id="67589" name="Rectangle 3"/>
          <p:cNvSpPr>
            <a:spLocks noChangeArrowheads="1"/>
          </p:cNvSpPr>
          <p:nvPr/>
        </p:nvSpPr>
        <p:spPr bwMode="auto">
          <a:xfrm>
            <a:off x="947738" y="1752600"/>
            <a:ext cx="7586662" cy="3120854"/>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node = </a:t>
            </a:r>
            <a:r>
              <a:rPr lang="en-US" dirty="0" err="1">
                <a:solidFill>
                  <a:schemeClr val="folHlink"/>
                </a:solidFill>
                <a:latin typeface="Courier New" pitchFamily="49" charset="0"/>
              </a:rPr>
              <a:t>myLeaf</a:t>
            </a:r>
            <a:r>
              <a:rPr lang="en-US" dirty="0">
                <a:solidFill>
                  <a:schemeClr val="folHlink"/>
                </a:solidFill>
                <a:latin typeface="Courier New" pitchFamily="49" charset="0"/>
              </a:rPr>
              <a:t>;</a:t>
            </a:r>
          </a:p>
          <a:p>
            <a:pPr marL="342900" indent="-342900"/>
            <a:r>
              <a:rPr lang="en-US" dirty="0" err="1">
                <a:solidFill>
                  <a:schemeClr val="tx1"/>
                </a:solidFill>
                <a:latin typeface="Courier New" pitchFamily="49" charset="0"/>
              </a:rPr>
              <a:t>int</a:t>
            </a:r>
            <a:r>
              <a:rPr lang="en-US" dirty="0">
                <a:latin typeface="Courier New" pitchFamily="49" charset="0"/>
              </a:rPr>
              <a:t> combined = 1;</a:t>
            </a:r>
          </a:p>
          <a:p>
            <a:pPr marL="342900" indent="-342900"/>
            <a:r>
              <a:rPr lang="en-US" dirty="0">
                <a:solidFill>
                  <a:schemeClr val="folHlink"/>
                </a:solidFill>
                <a:latin typeface="Courier New" pitchFamily="49" charset="0"/>
              </a:rPr>
              <a:t>while (node != stop) {</a:t>
            </a:r>
          </a:p>
          <a:p>
            <a:pPr marL="342900" indent="-342900"/>
            <a:r>
              <a:rPr lang="en-US" dirty="0">
                <a:solidFill>
                  <a:schemeClr val="folHlink"/>
                </a:solidFill>
                <a:latin typeface="Courier New" pitchFamily="49" charset="0"/>
              </a:rPr>
              <a:t>  combined = </a:t>
            </a:r>
            <a:r>
              <a:rPr lang="en-US" dirty="0" err="1">
                <a:solidFill>
                  <a:schemeClr val="folHlink"/>
                </a:solidFill>
                <a:latin typeface="Courier New" pitchFamily="49" charset="0"/>
              </a:rPr>
              <a:t>node.combine</a:t>
            </a:r>
            <a:r>
              <a:rPr lang="en-US" dirty="0">
                <a:solidFill>
                  <a:schemeClr val="folHlink"/>
                </a:solidFill>
                <a:latin typeface="Courier New" pitchFamily="49" charset="0"/>
              </a:rPr>
              <a:t>(combined);</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stack.push</a:t>
            </a:r>
            <a:r>
              <a:rPr lang="en-US" dirty="0">
                <a:solidFill>
                  <a:schemeClr val="folHlink"/>
                </a:solidFill>
                <a:latin typeface="Courier New" pitchFamily="49" charset="0"/>
              </a:rPr>
              <a:t>(node);</a:t>
            </a:r>
          </a:p>
          <a:p>
            <a:pPr marL="342900" indent="-342900"/>
            <a:r>
              <a:rPr lang="en-US" dirty="0">
                <a:solidFill>
                  <a:schemeClr val="folHlink"/>
                </a:solidFill>
                <a:latin typeface="Courier New" pitchFamily="49" charset="0"/>
              </a:rPr>
              <a:t>  node = </a:t>
            </a:r>
            <a:r>
              <a:rPr lang="en-US" dirty="0" err="1">
                <a:solidFill>
                  <a:schemeClr val="folHlink"/>
                </a:solidFill>
                <a:latin typeface="Courier New" pitchFamily="49" charset="0"/>
              </a:rPr>
              <a:t>node.parent</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p>
        </p:txBody>
      </p:sp>
      <p:sp>
        <p:nvSpPr>
          <p:cNvPr id="67590" name="Text Box 4"/>
          <p:cNvSpPr txBox="1">
            <a:spLocks noChangeArrowheads="1"/>
          </p:cNvSpPr>
          <p:nvPr/>
        </p:nvSpPr>
        <p:spPr bwMode="auto">
          <a:xfrm>
            <a:off x="2940050" y="5097463"/>
            <a:ext cx="4343400" cy="519112"/>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Add 1</a:t>
            </a:r>
          </a:p>
        </p:txBody>
      </p:sp>
      <p:sp>
        <p:nvSpPr>
          <p:cNvPr id="67591" name="AutoShape 5"/>
          <p:cNvSpPr>
            <a:spLocks noChangeArrowheads="1"/>
          </p:cNvSpPr>
          <p:nvPr/>
        </p:nvSpPr>
        <p:spPr bwMode="auto">
          <a:xfrm>
            <a:off x="947738" y="2138363"/>
            <a:ext cx="3403600" cy="550862"/>
          </a:xfrm>
          <a:prstGeom prst="wedgeRoundRectCallout">
            <a:avLst>
              <a:gd name="adj1" fmla="val 66093"/>
              <a:gd name="adj2" fmla="val 445676"/>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59F8CC79-6A2A-45B0-BDBF-1CB368101556}" type="slidenum">
              <a:rPr lang="en-US"/>
              <a:pPr>
                <a:defRPr/>
              </a:pPr>
              <a:t>67</a:t>
            </a:fld>
            <a:endParaRPr lang="en-US"/>
          </a:p>
        </p:txBody>
      </p:sp>
      <p:sp>
        <p:nvSpPr>
          <p:cNvPr id="68612" name="Rectangle 2"/>
          <p:cNvSpPr>
            <a:spLocks noGrp="1" noChangeArrowheads="1"/>
          </p:cNvSpPr>
          <p:nvPr>
            <p:ph type="title"/>
          </p:nvPr>
        </p:nvSpPr>
        <p:spPr/>
        <p:txBody>
          <a:bodyPr/>
          <a:lstStyle/>
          <a:p>
            <a:r>
              <a:rPr lang="en-US"/>
              <a:t>Combining Navigation</a:t>
            </a:r>
          </a:p>
        </p:txBody>
      </p:sp>
      <p:sp>
        <p:nvSpPr>
          <p:cNvPr id="68613" name="Rectangle 3"/>
          <p:cNvSpPr>
            <a:spLocks noChangeArrowheads="1"/>
          </p:cNvSpPr>
          <p:nvPr/>
        </p:nvSpPr>
        <p:spPr bwMode="auto">
          <a:xfrm>
            <a:off x="947738" y="1752600"/>
            <a:ext cx="7586662" cy="3120854"/>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node = </a:t>
            </a:r>
            <a:r>
              <a:rPr lang="en-US" dirty="0" err="1">
                <a:solidFill>
                  <a:schemeClr val="folHlink"/>
                </a:solidFill>
                <a:latin typeface="Courier New" pitchFamily="49" charset="0"/>
              </a:rPr>
              <a:t>myLeaf</a:t>
            </a:r>
            <a:r>
              <a:rPr lang="en-US" dirty="0">
                <a:solidFill>
                  <a:schemeClr val="folHlink"/>
                </a:solidFill>
                <a:latin typeface="Courier New" pitchFamily="49" charset="0"/>
              </a:rPr>
              <a:t>;</a:t>
            </a:r>
          </a:p>
          <a:p>
            <a:pPr marL="342900" indent="-342900"/>
            <a:r>
              <a:rPr lang="en-US" dirty="0" err="1">
                <a:solidFill>
                  <a:schemeClr val="folHlink"/>
                </a:solidFill>
                <a:latin typeface="Courier New" pitchFamily="49" charset="0"/>
              </a:rPr>
              <a:t>int</a:t>
            </a:r>
            <a:r>
              <a:rPr lang="en-US" dirty="0">
                <a:solidFill>
                  <a:schemeClr val="folHlink"/>
                </a:solidFill>
                <a:latin typeface="Courier New" pitchFamily="49" charset="0"/>
              </a:rPr>
              <a:t> combined = 1;</a:t>
            </a:r>
          </a:p>
          <a:p>
            <a:pPr marL="342900" indent="-342900"/>
            <a:r>
              <a:rPr lang="en-US" dirty="0">
                <a:solidFill>
                  <a:schemeClr val="tx1"/>
                </a:solidFill>
                <a:latin typeface="Courier New" pitchFamily="49" charset="0"/>
              </a:rPr>
              <a:t>while</a:t>
            </a:r>
            <a:r>
              <a:rPr lang="en-US" dirty="0">
                <a:latin typeface="Courier New" pitchFamily="49" charset="0"/>
              </a:rPr>
              <a:t> (node != stop) {</a:t>
            </a:r>
          </a:p>
          <a:p>
            <a:pPr marL="342900" indent="-342900"/>
            <a:r>
              <a:rPr lang="en-US" dirty="0">
                <a:latin typeface="Courier New" pitchFamily="49" charset="0"/>
              </a:rPr>
              <a:t>  </a:t>
            </a:r>
            <a:r>
              <a:rPr lang="en-US" dirty="0">
                <a:solidFill>
                  <a:schemeClr val="folHlink"/>
                </a:solidFill>
                <a:latin typeface="Courier New" pitchFamily="49" charset="0"/>
              </a:rPr>
              <a:t>combined = </a:t>
            </a:r>
            <a:r>
              <a:rPr lang="en-US" dirty="0" err="1">
                <a:solidFill>
                  <a:schemeClr val="folHlink"/>
                </a:solidFill>
                <a:latin typeface="Courier New" pitchFamily="49" charset="0"/>
              </a:rPr>
              <a:t>node.combine</a:t>
            </a:r>
            <a:r>
              <a:rPr lang="en-US" dirty="0">
                <a:solidFill>
                  <a:schemeClr val="folHlink"/>
                </a:solidFill>
                <a:latin typeface="Courier New" pitchFamily="49" charset="0"/>
              </a:rPr>
              <a:t>(combined);</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stack.push</a:t>
            </a:r>
            <a:r>
              <a:rPr lang="en-US" dirty="0">
                <a:solidFill>
                  <a:schemeClr val="folHlink"/>
                </a:solidFill>
                <a:latin typeface="Courier New" pitchFamily="49" charset="0"/>
              </a:rPr>
              <a:t>(node);</a:t>
            </a:r>
          </a:p>
          <a:p>
            <a:pPr marL="342900" indent="-342900"/>
            <a:r>
              <a:rPr lang="en-US" dirty="0">
                <a:solidFill>
                  <a:schemeClr val="folHlink"/>
                </a:solidFill>
                <a:latin typeface="Courier New" pitchFamily="49" charset="0"/>
              </a:rPr>
              <a:t>  node = </a:t>
            </a:r>
            <a:r>
              <a:rPr lang="en-US" dirty="0" err="1">
                <a:solidFill>
                  <a:schemeClr val="folHlink"/>
                </a:solidFill>
                <a:latin typeface="Courier New" pitchFamily="49" charset="0"/>
              </a:rPr>
              <a:t>node.parent</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p>
        </p:txBody>
      </p:sp>
      <p:sp>
        <p:nvSpPr>
          <p:cNvPr id="68614" name="Text Box 4"/>
          <p:cNvSpPr txBox="1">
            <a:spLocks noChangeArrowheads="1"/>
          </p:cNvSpPr>
          <p:nvPr/>
        </p:nvSpPr>
        <p:spPr bwMode="auto">
          <a:xfrm>
            <a:off x="5207000" y="3892550"/>
            <a:ext cx="3560763" cy="138430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Revisit nodes visited in </a:t>
            </a:r>
            <a:r>
              <a:rPr lang="en-US" sz="2800" dirty="0" err="1">
                <a:solidFill>
                  <a:srgbClr val="FF0000"/>
                </a:solidFill>
                <a:latin typeface="Arial" pitchFamily="34" charset="0"/>
                <a:cs typeface="Arial" pitchFamily="34" charset="0"/>
              </a:rPr>
              <a:t>precombining</a:t>
            </a:r>
            <a:endParaRPr lang="en-US" sz="2800" dirty="0">
              <a:solidFill>
                <a:srgbClr val="FF0000"/>
              </a:solidFill>
              <a:latin typeface="Arial" pitchFamily="34" charset="0"/>
              <a:cs typeface="Arial" pitchFamily="34" charset="0"/>
            </a:endParaRPr>
          </a:p>
        </p:txBody>
      </p:sp>
      <p:sp>
        <p:nvSpPr>
          <p:cNvPr id="68615" name="AutoShape 5"/>
          <p:cNvSpPr>
            <a:spLocks noChangeArrowheads="1"/>
          </p:cNvSpPr>
          <p:nvPr/>
        </p:nvSpPr>
        <p:spPr bwMode="auto">
          <a:xfrm>
            <a:off x="947738" y="2622550"/>
            <a:ext cx="4259262" cy="550863"/>
          </a:xfrm>
          <a:prstGeom prst="wedgeRoundRectCallout">
            <a:avLst>
              <a:gd name="adj1" fmla="val 61069"/>
              <a:gd name="adj2" fmla="val 247120"/>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D2D39401-333F-4DFE-9742-C0B1DF94A74B}" type="slidenum">
              <a:rPr lang="en-US"/>
              <a:pPr>
                <a:defRPr/>
              </a:pPr>
              <a:t>68</a:t>
            </a:fld>
            <a:endParaRPr lang="en-US"/>
          </a:p>
        </p:txBody>
      </p:sp>
      <p:sp>
        <p:nvSpPr>
          <p:cNvPr id="69636" name="Rectangle 2"/>
          <p:cNvSpPr>
            <a:spLocks noGrp="1" noChangeArrowheads="1"/>
          </p:cNvSpPr>
          <p:nvPr>
            <p:ph type="title"/>
          </p:nvPr>
        </p:nvSpPr>
        <p:spPr/>
        <p:txBody>
          <a:bodyPr/>
          <a:lstStyle/>
          <a:p>
            <a:r>
              <a:rPr lang="en-US"/>
              <a:t>Combining Navigation</a:t>
            </a:r>
          </a:p>
        </p:txBody>
      </p:sp>
      <p:sp>
        <p:nvSpPr>
          <p:cNvPr id="69637" name="Rectangle 3"/>
          <p:cNvSpPr>
            <a:spLocks noChangeArrowheads="1"/>
          </p:cNvSpPr>
          <p:nvPr/>
        </p:nvSpPr>
        <p:spPr bwMode="auto">
          <a:xfrm>
            <a:off x="947738" y="1752600"/>
            <a:ext cx="7586662" cy="3120854"/>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node = </a:t>
            </a:r>
            <a:r>
              <a:rPr lang="en-US" dirty="0" err="1">
                <a:solidFill>
                  <a:schemeClr val="folHlink"/>
                </a:solidFill>
                <a:latin typeface="Courier New" pitchFamily="49" charset="0"/>
              </a:rPr>
              <a:t>myLeaf</a:t>
            </a:r>
            <a:r>
              <a:rPr lang="en-US" dirty="0">
                <a:solidFill>
                  <a:schemeClr val="folHlink"/>
                </a:solidFill>
                <a:latin typeface="Courier New" pitchFamily="49" charset="0"/>
              </a:rPr>
              <a:t>;</a:t>
            </a:r>
          </a:p>
          <a:p>
            <a:pPr marL="342900" indent="-342900"/>
            <a:r>
              <a:rPr lang="en-US" dirty="0" err="1">
                <a:solidFill>
                  <a:schemeClr val="folHlink"/>
                </a:solidFill>
                <a:latin typeface="Courier New" pitchFamily="49" charset="0"/>
              </a:rPr>
              <a:t>int</a:t>
            </a:r>
            <a:r>
              <a:rPr lang="en-US" dirty="0">
                <a:solidFill>
                  <a:schemeClr val="folHlink"/>
                </a:solidFill>
                <a:latin typeface="Courier New" pitchFamily="49" charset="0"/>
              </a:rPr>
              <a:t> combined = 1;</a:t>
            </a:r>
          </a:p>
          <a:p>
            <a:pPr marL="342900" indent="-342900"/>
            <a:r>
              <a:rPr lang="en-US" dirty="0">
                <a:solidFill>
                  <a:schemeClr val="folHlink"/>
                </a:solidFill>
                <a:latin typeface="Courier New" pitchFamily="49" charset="0"/>
              </a:rPr>
              <a:t>while (node != stop) {</a:t>
            </a:r>
          </a:p>
          <a:p>
            <a:pPr marL="342900" indent="-342900"/>
            <a:r>
              <a:rPr lang="en-US" dirty="0">
                <a:latin typeface="Courier New" pitchFamily="49" charset="0"/>
              </a:rPr>
              <a:t>  combined = </a:t>
            </a:r>
            <a:r>
              <a:rPr lang="en-US" dirty="0" err="1">
                <a:latin typeface="Courier New" pitchFamily="49" charset="0"/>
              </a:rPr>
              <a:t>node.combine</a:t>
            </a:r>
            <a:r>
              <a:rPr lang="en-US" dirty="0">
                <a:latin typeface="Courier New" pitchFamily="49" charset="0"/>
              </a:rPr>
              <a:t>(combined);</a:t>
            </a:r>
          </a:p>
          <a:p>
            <a:pPr marL="342900" indent="-342900"/>
            <a:r>
              <a:rPr lang="en-US" dirty="0">
                <a:latin typeface="Courier New" pitchFamily="49" charset="0"/>
              </a:rPr>
              <a:t>  </a:t>
            </a:r>
            <a:r>
              <a:rPr lang="en-US" dirty="0" err="1">
                <a:solidFill>
                  <a:schemeClr val="folHlink"/>
                </a:solidFill>
                <a:latin typeface="Courier New" pitchFamily="49" charset="0"/>
              </a:rPr>
              <a:t>stack.push</a:t>
            </a:r>
            <a:r>
              <a:rPr lang="en-US" dirty="0">
                <a:solidFill>
                  <a:schemeClr val="folHlink"/>
                </a:solidFill>
                <a:latin typeface="Courier New" pitchFamily="49" charset="0"/>
              </a:rPr>
              <a:t>(node);</a:t>
            </a:r>
          </a:p>
          <a:p>
            <a:pPr marL="342900" indent="-342900"/>
            <a:r>
              <a:rPr lang="en-US" dirty="0">
                <a:solidFill>
                  <a:schemeClr val="folHlink"/>
                </a:solidFill>
                <a:latin typeface="Courier New" pitchFamily="49" charset="0"/>
              </a:rPr>
              <a:t>  node = </a:t>
            </a:r>
            <a:r>
              <a:rPr lang="en-US" dirty="0" err="1">
                <a:solidFill>
                  <a:schemeClr val="folHlink"/>
                </a:solidFill>
                <a:latin typeface="Courier New" pitchFamily="49" charset="0"/>
              </a:rPr>
              <a:t>node.parent</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p>
        </p:txBody>
      </p:sp>
      <p:sp>
        <p:nvSpPr>
          <p:cNvPr id="69638" name="Text Box 4"/>
          <p:cNvSpPr txBox="1">
            <a:spLocks noChangeArrowheads="1"/>
          </p:cNvSpPr>
          <p:nvPr/>
        </p:nvSpPr>
        <p:spPr bwMode="auto">
          <a:xfrm>
            <a:off x="3243263" y="5019675"/>
            <a:ext cx="4919662" cy="94615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Accumulate combined values, if any</a:t>
            </a:r>
          </a:p>
        </p:txBody>
      </p:sp>
      <p:sp>
        <p:nvSpPr>
          <p:cNvPr id="69639" name="AutoShape 5"/>
          <p:cNvSpPr>
            <a:spLocks noChangeArrowheads="1"/>
          </p:cNvSpPr>
          <p:nvPr/>
        </p:nvSpPr>
        <p:spPr bwMode="auto">
          <a:xfrm>
            <a:off x="1138238" y="3095625"/>
            <a:ext cx="6411912" cy="550863"/>
          </a:xfrm>
          <a:prstGeom prst="wedgeRoundRectCallout">
            <a:avLst>
              <a:gd name="adj1" fmla="val 20634"/>
              <a:gd name="adj2" fmla="val 297838"/>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30AB60F0-8E4C-44F3-A483-EDDAA54917A3}" type="slidenum">
              <a:rPr lang="en-US"/>
              <a:pPr>
                <a:defRPr/>
              </a:pPr>
              <a:t>69</a:t>
            </a:fld>
            <a:endParaRPr lang="en-US"/>
          </a:p>
        </p:txBody>
      </p:sp>
      <p:sp>
        <p:nvSpPr>
          <p:cNvPr id="70660" name="Rectangle 7"/>
          <p:cNvSpPr>
            <a:spLocks noChangeArrowheads="1"/>
          </p:cNvSpPr>
          <p:nvPr/>
        </p:nvSpPr>
        <p:spPr bwMode="auto">
          <a:xfrm>
            <a:off x="947738" y="1752600"/>
            <a:ext cx="7586662" cy="3120854"/>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node = </a:t>
            </a:r>
            <a:r>
              <a:rPr lang="en-US" dirty="0" err="1">
                <a:solidFill>
                  <a:schemeClr val="folHlink"/>
                </a:solidFill>
                <a:latin typeface="Courier New" pitchFamily="49" charset="0"/>
              </a:rPr>
              <a:t>myLeaf</a:t>
            </a:r>
            <a:r>
              <a:rPr lang="en-US" dirty="0">
                <a:solidFill>
                  <a:schemeClr val="folHlink"/>
                </a:solidFill>
                <a:latin typeface="Courier New" pitchFamily="49" charset="0"/>
              </a:rPr>
              <a:t>;</a:t>
            </a:r>
          </a:p>
          <a:p>
            <a:pPr marL="342900" indent="-342900"/>
            <a:r>
              <a:rPr lang="en-US" dirty="0" err="1">
                <a:solidFill>
                  <a:schemeClr val="folHlink"/>
                </a:solidFill>
                <a:latin typeface="Courier New" pitchFamily="49" charset="0"/>
              </a:rPr>
              <a:t>int</a:t>
            </a:r>
            <a:r>
              <a:rPr lang="en-US" dirty="0">
                <a:solidFill>
                  <a:schemeClr val="folHlink"/>
                </a:solidFill>
                <a:latin typeface="Courier New" pitchFamily="49" charset="0"/>
              </a:rPr>
              <a:t> combined = 1;</a:t>
            </a:r>
          </a:p>
          <a:p>
            <a:pPr marL="342900" indent="-342900"/>
            <a:r>
              <a:rPr lang="en-US" dirty="0">
                <a:solidFill>
                  <a:schemeClr val="folHlink"/>
                </a:solidFill>
                <a:latin typeface="Courier New" pitchFamily="49" charset="0"/>
              </a:rPr>
              <a:t>while (node != stop) {</a:t>
            </a:r>
          </a:p>
          <a:p>
            <a:pPr marL="342900" indent="-342900"/>
            <a:r>
              <a:rPr lang="en-US" dirty="0">
                <a:solidFill>
                  <a:schemeClr val="folHlink"/>
                </a:solidFill>
                <a:latin typeface="Courier New" pitchFamily="49" charset="0"/>
              </a:rPr>
              <a:t>  combined = </a:t>
            </a:r>
            <a:r>
              <a:rPr lang="en-US" dirty="0" err="1">
                <a:solidFill>
                  <a:schemeClr val="folHlink"/>
                </a:solidFill>
                <a:latin typeface="Courier New" pitchFamily="49" charset="0"/>
              </a:rPr>
              <a:t>node.combine</a:t>
            </a:r>
            <a:r>
              <a:rPr lang="en-US" dirty="0">
                <a:solidFill>
                  <a:schemeClr val="folHlink"/>
                </a:solidFill>
                <a:latin typeface="Courier New" pitchFamily="49" charset="0"/>
              </a:rPr>
              <a:t>(combined);</a:t>
            </a:r>
          </a:p>
          <a:p>
            <a:pPr marL="342900" indent="-342900"/>
            <a:r>
              <a:rPr lang="en-US" dirty="0">
                <a:latin typeface="Courier New" pitchFamily="49" charset="0"/>
              </a:rPr>
              <a:t>  </a:t>
            </a:r>
            <a:r>
              <a:rPr lang="en-US" dirty="0" err="1">
                <a:latin typeface="Courier New" pitchFamily="49" charset="0"/>
              </a:rPr>
              <a:t>stack.push</a:t>
            </a:r>
            <a:r>
              <a:rPr lang="en-US" dirty="0">
                <a:latin typeface="Courier New" pitchFamily="49" charset="0"/>
              </a:rPr>
              <a:t>(node);</a:t>
            </a:r>
          </a:p>
          <a:p>
            <a:pPr marL="342900" indent="-342900"/>
            <a:r>
              <a:rPr lang="en-US" dirty="0">
                <a:latin typeface="Courier New" pitchFamily="49" charset="0"/>
              </a:rPr>
              <a:t>  </a:t>
            </a:r>
            <a:r>
              <a:rPr lang="en-US" dirty="0">
                <a:solidFill>
                  <a:schemeClr val="folHlink"/>
                </a:solidFill>
                <a:latin typeface="Courier New" pitchFamily="49" charset="0"/>
              </a:rPr>
              <a:t>node = </a:t>
            </a:r>
            <a:r>
              <a:rPr lang="en-US" dirty="0" err="1">
                <a:solidFill>
                  <a:schemeClr val="folHlink"/>
                </a:solidFill>
                <a:latin typeface="Courier New" pitchFamily="49" charset="0"/>
              </a:rPr>
              <a:t>node.parent</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p>
        </p:txBody>
      </p:sp>
      <p:sp>
        <p:nvSpPr>
          <p:cNvPr id="70661" name="Rectangle 2"/>
          <p:cNvSpPr>
            <a:spLocks noGrp="1" noChangeArrowheads="1"/>
          </p:cNvSpPr>
          <p:nvPr>
            <p:ph type="title"/>
          </p:nvPr>
        </p:nvSpPr>
        <p:spPr/>
        <p:txBody>
          <a:bodyPr/>
          <a:lstStyle/>
          <a:p>
            <a:r>
              <a:rPr lang="en-US"/>
              <a:t>Combining Navigation</a:t>
            </a:r>
          </a:p>
        </p:txBody>
      </p:sp>
      <p:sp>
        <p:nvSpPr>
          <p:cNvPr id="70662" name="Text Box 4"/>
          <p:cNvSpPr txBox="1">
            <a:spLocks noChangeArrowheads="1"/>
          </p:cNvSpPr>
          <p:nvPr/>
        </p:nvSpPr>
        <p:spPr bwMode="auto">
          <a:xfrm>
            <a:off x="3813175" y="1752600"/>
            <a:ext cx="4919663" cy="94615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We will </a:t>
            </a:r>
            <a:r>
              <a:rPr lang="en-US" sz="2800" dirty="0" err="1">
                <a:solidFill>
                  <a:srgbClr val="FF0000"/>
                </a:solidFill>
                <a:latin typeface="Arial" pitchFamily="34" charset="0"/>
                <a:cs typeface="Arial" pitchFamily="34" charset="0"/>
              </a:rPr>
              <a:t>retraverse</a:t>
            </a:r>
            <a:r>
              <a:rPr lang="en-US" sz="2800" dirty="0">
                <a:solidFill>
                  <a:srgbClr val="FF0000"/>
                </a:solidFill>
                <a:latin typeface="Arial" pitchFamily="34" charset="0"/>
                <a:cs typeface="Arial" pitchFamily="34" charset="0"/>
              </a:rPr>
              <a:t> path in reverse order …</a:t>
            </a:r>
          </a:p>
        </p:txBody>
      </p:sp>
      <p:sp>
        <p:nvSpPr>
          <p:cNvPr id="70663" name="AutoShape 5"/>
          <p:cNvSpPr>
            <a:spLocks noChangeArrowheads="1"/>
          </p:cNvSpPr>
          <p:nvPr/>
        </p:nvSpPr>
        <p:spPr bwMode="auto">
          <a:xfrm>
            <a:off x="1238250" y="3470275"/>
            <a:ext cx="3533775" cy="550863"/>
          </a:xfrm>
          <a:prstGeom prst="wedgeRoundRectCallout">
            <a:avLst>
              <a:gd name="adj1" fmla="val 51032"/>
              <a:gd name="adj2" fmla="val -192074"/>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15FDDB88-F423-4241-9CC2-FAC27A5DE811}" type="slidenum">
              <a:rPr lang="en-US"/>
              <a:pPr>
                <a:defRPr/>
              </a:pPr>
              <a:t>70</a:t>
            </a:fld>
            <a:endParaRPr lang="en-US"/>
          </a:p>
        </p:txBody>
      </p:sp>
      <p:sp>
        <p:nvSpPr>
          <p:cNvPr id="71684" name="Rectangle 2"/>
          <p:cNvSpPr>
            <a:spLocks noGrp="1" noChangeArrowheads="1"/>
          </p:cNvSpPr>
          <p:nvPr>
            <p:ph type="title"/>
          </p:nvPr>
        </p:nvSpPr>
        <p:spPr/>
        <p:txBody>
          <a:bodyPr/>
          <a:lstStyle/>
          <a:p>
            <a:r>
              <a:rPr lang="en-US"/>
              <a:t>Combining Navigation</a:t>
            </a:r>
          </a:p>
        </p:txBody>
      </p:sp>
      <p:sp>
        <p:nvSpPr>
          <p:cNvPr id="71685" name="Rectangle 3"/>
          <p:cNvSpPr>
            <a:spLocks noChangeArrowheads="1"/>
          </p:cNvSpPr>
          <p:nvPr/>
        </p:nvSpPr>
        <p:spPr bwMode="auto">
          <a:xfrm>
            <a:off x="947738" y="1752600"/>
            <a:ext cx="7586662" cy="3120854"/>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node = </a:t>
            </a:r>
            <a:r>
              <a:rPr lang="en-US" dirty="0" err="1">
                <a:solidFill>
                  <a:schemeClr val="folHlink"/>
                </a:solidFill>
                <a:latin typeface="Courier New" pitchFamily="49" charset="0"/>
              </a:rPr>
              <a:t>myLeaf</a:t>
            </a:r>
            <a:r>
              <a:rPr lang="en-US" dirty="0">
                <a:solidFill>
                  <a:schemeClr val="folHlink"/>
                </a:solidFill>
                <a:latin typeface="Courier New" pitchFamily="49" charset="0"/>
              </a:rPr>
              <a:t>;</a:t>
            </a:r>
          </a:p>
          <a:p>
            <a:pPr marL="342900" indent="-342900"/>
            <a:r>
              <a:rPr lang="en-US" dirty="0" err="1">
                <a:solidFill>
                  <a:schemeClr val="folHlink"/>
                </a:solidFill>
                <a:latin typeface="Courier New" pitchFamily="49" charset="0"/>
              </a:rPr>
              <a:t>int</a:t>
            </a:r>
            <a:r>
              <a:rPr lang="en-US" dirty="0">
                <a:solidFill>
                  <a:schemeClr val="folHlink"/>
                </a:solidFill>
                <a:latin typeface="Courier New" pitchFamily="49" charset="0"/>
              </a:rPr>
              <a:t> combined = 1;</a:t>
            </a:r>
          </a:p>
          <a:p>
            <a:pPr marL="342900" indent="-342900"/>
            <a:r>
              <a:rPr lang="en-US" dirty="0">
                <a:solidFill>
                  <a:schemeClr val="folHlink"/>
                </a:solidFill>
                <a:latin typeface="Courier New" pitchFamily="49" charset="0"/>
              </a:rPr>
              <a:t>while (node != stop) {</a:t>
            </a:r>
          </a:p>
          <a:p>
            <a:pPr marL="342900" indent="-342900"/>
            <a:r>
              <a:rPr lang="en-US" dirty="0">
                <a:solidFill>
                  <a:schemeClr val="folHlink"/>
                </a:solidFill>
                <a:latin typeface="Courier New" pitchFamily="49" charset="0"/>
              </a:rPr>
              <a:t>  combined = </a:t>
            </a:r>
            <a:r>
              <a:rPr lang="en-US" dirty="0" err="1">
                <a:solidFill>
                  <a:schemeClr val="folHlink"/>
                </a:solidFill>
                <a:latin typeface="Courier New" pitchFamily="49" charset="0"/>
              </a:rPr>
              <a:t>node.combine</a:t>
            </a:r>
            <a:r>
              <a:rPr lang="en-US" dirty="0">
                <a:solidFill>
                  <a:schemeClr val="folHlink"/>
                </a:solidFill>
                <a:latin typeface="Courier New" pitchFamily="49" charset="0"/>
              </a:rPr>
              <a:t>(combined);</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stack.push</a:t>
            </a:r>
            <a:r>
              <a:rPr lang="en-US" dirty="0">
                <a:solidFill>
                  <a:schemeClr val="folHlink"/>
                </a:solidFill>
                <a:latin typeface="Courier New" pitchFamily="49" charset="0"/>
              </a:rPr>
              <a:t>(node);</a:t>
            </a:r>
          </a:p>
          <a:p>
            <a:pPr marL="342900" indent="-342900"/>
            <a:r>
              <a:rPr lang="en-US" dirty="0">
                <a:latin typeface="Courier New" pitchFamily="49" charset="0"/>
              </a:rPr>
              <a:t>  node = </a:t>
            </a:r>
            <a:r>
              <a:rPr lang="en-US" dirty="0" err="1">
                <a:latin typeface="Courier New" pitchFamily="49" charset="0"/>
              </a:rPr>
              <a:t>node.parent</a:t>
            </a:r>
            <a:r>
              <a:rPr lang="en-US" dirty="0">
                <a:latin typeface="Courier New" pitchFamily="49" charset="0"/>
              </a:rPr>
              <a:t>;</a:t>
            </a:r>
          </a:p>
          <a:p>
            <a:pPr marL="342900" indent="-342900"/>
            <a:r>
              <a:rPr lang="en-US" dirty="0">
                <a:latin typeface="Courier New" pitchFamily="49" charset="0"/>
              </a:rPr>
              <a:t>  }</a:t>
            </a:r>
          </a:p>
        </p:txBody>
      </p:sp>
      <p:sp>
        <p:nvSpPr>
          <p:cNvPr id="71686" name="Text Box 4"/>
          <p:cNvSpPr txBox="1">
            <a:spLocks noChangeArrowheads="1"/>
          </p:cNvSpPr>
          <p:nvPr/>
        </p:nvSpPr>
        <p:spPr bwMode="auto">
          <a:xfrm>
            <a:off x="3813175" y="1752600"/>
            <a:ext cx="4919663" cy="519113"/>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Move up the tree</a:t>
            </a:r>
          </a:p>
        </p:txBody>
      </p:sp>
      <p:sp>
        <p:nvSpPr>
          <p:cNvPr id="71687" name="AutoShape 5"/>
          <p:cNvSpPr>
            <a:spLocks noChangeArrowheads="1"/>
          </p:cNvSpPr>
          <p:nvPr/>
        </p:nvSpPr>
        <p:spPr bwMode="auto">
          <a:xfrm>
            <a:off x="1293813" y="3889375"/>
            <a:ext cx="3533775" cy="550863"/>
          </a:xfrm>
          <a:prstGeom prst="wedgeRoundRectCallout">
            <a:avLst>
              <a:gd name="adj1" fmla="val 51032"/>
              <a:gd name="adj2" fmla="val -192074"/>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A895C76A-5A4D-40C1-9E01-51651CC51E2C}" type="slidenum">
              <a:rPr lang="en-US"/>
              <a:pPr>
                <a:defRPr/>
              </a:pPr>
              <a:t>71</a:t>
            </a:fld>
            <a:endParaRPr lang="en-US"/>
          </a:p>
        </p:txBody>
      </p:sp>
      <p:sp>
        <p:nvSpPr>
          <p:cNvPr id="72708" name="Rectangle 2"/>
          <p:cNvSpPr>
            <a:spLocks noGrp="1" noChangeArrowheads="1"/>
          </p:cNvSpPr>
          <p:nvPr>
            <p:ph type="title"/>
          </p:nvPr>
        </p:nvSpPr>
        <p:spPr/>
        <p:txBody>
          <a:bodyPr/>
          <a:lstStyle/>
          <a:p>
            <a:r>
              <a:rPr lang="en-US"/>
              <a:t>Combining Phase Node</a:t>
            </a:r>
          </a:p>
        </p:txBody>
      </p:sp>
      <p:sp>
        <p:nvSpPr>
          <p:cNvPr id="72709" name="Rectangle 3"/>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tx1"/>
                </a:solidFill>
                <a:latin typeface="Courier New" pitchFamily="49" charset="0"/>
              </a:rPr>
              <a:t>synchronized</a:t>
            </a:r>
            <a:r>
              <a:rPr lang="en-US" sz="2000" dirty="0">
                <a:latin typeface="Courier New" pitchFamily="49" charset="0"/>
              </a:rPr>
              <a:t> </a:t>
            </a:r>
            <a:r>
              <a:rPr lang="en-US" sz="2000" dirty="0" err="1">
                <a:latin typeface="Courier New" pitchFamily="49" charset="0"/>
              </a:rPr>
              <a:t>int</a:t>
            </a:r>
            <a:r>
              <a:rPr lang="en-US" sz="2000" dirty="0">
                <a:latin typeface="Courier New" pitchFamily="49" charset="0"/>
              </a:rPr>
              <a:t> combine(</a:t>
            </a:r>
            <a:r>
              <a:rPr lang="en-US" sz="2000" dirty="0" err="1">
                <a:latin typeface="Courier New" pitchFamily="49" charset="0"/>
              </a:rPr>
              <a:t>int</a:t>
            </a:r>
            <a:r>
              <a:rPr lang="en-US" sz="2000" dirty="0">
                <a:latin typeface="Courier New" pitchFamily="49" charset="0"/>
              </a:rPr>
              <a:t> combined) {</a:t>
            </a:r>
          </a:p>
          <a:p>
            <a:pPr marL="342900" indent="-342900"/>
            <a:r>
              <a:rPr lang="en-US" sz="2000" dirty="0">
                <a:latin typeface="Courier New" pitchFamily="49" charset="0"/>
              </a:rPr>
              <a:t>  </a:t>
            </a:r>
            <a:r>
              <a:rPr lang="en-US" sz="2000" dirty="0">
                <a:solidFill>
                  <a:schemeClr val="tx1"/>
                </a:solidFill>
                <a:latin typeface="Courier New" pitchFamily="49" charset="0"/>
              </a:rPr>
              <a:t>while</a:t>
            </a:r>
            <a:r>
              <a:rPr lang="en-US" sz="2000" dirty="0">
                <a:latin typeface="Courier New" pitchFamily="49" charset="0"/>
              </a:rPr>
              <a:t> (locked) wait();</a:t>
            </a:r>
          </a:p>
          <a:p>
            <a:pPr marL="342900" indent="-342900"/>
            <a:r>
              <a:rPr lang="en-US" sz="2000" dirty="0">
                <a:latin typeface="Courier New" pitchFamily="49" charset="0"/>
              </a:rPr>
              <a:t>  locked = </a:t>
            </a:r>
            <a:r>
              <a:rPr lang="en-US" sz="2000" dirty="0">
                <a:solidFill>
                  <a:schemeClr val="tx1"/>
                </a:solidFill>
                <a:latin typeface="Courier New" pitchFamily="49" charset="0"/>
              </a:rPr>
              <a:t>true</a:t>
            </a:r>
            <a:r>
              <a:rPr lang="en-US" sz="2000" dirty="0">
                <a:latin typeface="Courier New" pitchFamily="49" charset="0"/>
              </a:rPr>
              <a:t>;</a:t>
            </a:r>
          </a:p>
          <a:p>
            <a:pPr marL="342900" indent="-342900"/>
            <a:r>
              <a:rPr lang="en-US" sz="2000" dirty="0">
                <a:latin typeface="Courier New" pitchFamily="49" charset="0"/>
              </a:rPr>
              <a:t>  </a:t>
            </a:r>
            <a:r>
              <a:rPr lang="en-US" sz="2000" dirty="0" err="1">
                <a:latin typeface="Courier New" pitchFamily="49" charset="0"/>
              </a:rPr>
              <a:t>firstValue</a:t>
            </a:r>
            <a:r>
              <a:rPr lang="en-US" sz="2000" dirty="0">
                <a:latin typeface="Courier New" pitchFamily="49" charset="0"/>
              </a:rPr>
              <a:t> = combined;</a:t>
            </a:r>
          </a:p>
          <a:p>
            <a:pPr marL="342900" indent="-342900"/>
            <a:r>
              <a:rPr lang="en-US" sz="2000" dirty="0">
                <a:latin typeface="Courier New" pitchFamily="49" charset="0"/>
              </a:rPr>
              <a:t>  </a:t>
            </a:r>
            <a:r>
              <a:rPr lang="en-US" sz="2000" dirty="0">
                <a:solidFill>
                  <a:schemeClr val="tx1"/>
                </a:solidFill>
                <a:latin typeface="Courier New" pitchFamily="49" charset="0"/>
              </a:rPr>
              <a:t>switch</a:t>
            </a:r>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FIRST: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a:t>
            </a:r>
            <a:r>
              <a:rPr lang="en-US" sz="2000" dirty="0" err="1">
                <a:latin typeface="Courier New" pitchFamily="49" charset="0"/>
              </a:rPr>
              <a:t>firstValue</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SECOND:</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a:t>
            </a:r>
            <a:r>
              <a:rPr lang="en-US" sz="2000" dirty="0" err="1">
                <a:latin typeface="Courier New" pitchFamily="49" charset="0"/>
              </a:rPr>
              <a:t>firstValue</a:t>
            </a:r>
            <a:r>
              <a:rPr lang="en-US" sz="2000" dirty="0">
                <a:latin typeface="Courier New" pitchFamily="49" charset="0"/>
              </a:rPr>
              <a:t> + </a:t>
            </a:r>
            <a:r>
              <a:rPr lang="en-US" sz="2000" dirty="0" err="1">
                <a:latin typeface="Courier New" pitchFamily="49" charset="0"/>
              </a:rPr>
              <a:t>secondValue</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default</a:t>
            </a:r>
            <a:r>
              <a:rPr lang="en-US" sz="2000" dirty="0">
                <a:latin typeface="Courier New" pitchFamily="49" charset="0"/>
              </a:rPr>
              <a:t>: …</a:t>
            </a:r>
          </a:p>
          <a:p>
            <a:pPr marL="342900" indent="-342900"/>
            <a:r>
              <a:rPr lang="en-US" sz="2000" dirty="0">
                <a:latin typeface="Courier New" pitchFamily="49" charset="0"/>
              </a:rPr>
              <a:t>    }</a:t>
            </a:r>
          </a:p>
          <a:p>
            <a:pPr marL="342900" indent="-342900"/>
            <a:r>
              <a:rPr lang="en-US" sz="2000" dirty="0">
                <a:latin typeface="Courier New" pitchFamily="49" charset="0"/>
              </a:rPr>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E6DD6AC9-38CA-45F4-9003-BEF53F612F86}" type="slidenum">
              <a:rPr lang="en-US"/>
              <a:pPr>
                <a:defRPr/>
              </a:pPr>
              <a:t>72</a:t>
            </a:fld>
            <a:endParaRPr lang="en-US"/>
          </a:p>
        </p:txBody>
      </p:sp>
      <p:sp>
        <p:nvSpPr>
          <p:cNvPr id="73732" name="Rectangle 6"/>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latin typeface="Courier New" pitchFamily="49" charset="0"/>
              </a:rPr>
              <a:t>  </a:t>
            </a:r>
            <a:r>
              <a:rPr lang="en-US" sz="2000" dirty="0">
                <a:solidFill>
                  <a:schemeClr val="tx1"/>
                </a:solidFill>
                <a:latin typeface="Courier New" pitchFamily="49" charset="0"/>
              </a:rPr>
              <a:t>while</a:t>
            </a:r>
            <a:r>
              <a:rPr lang="en-US" sz="2000" dirty="0">
                <a:latin typeface="Courier New" pitchFamily="49" charset="0"/>
              </a:rPr>
              <a:t> (locked) wait();</a:t>
            </a:r>
          </a:p>
          <a:p>
            <a:pPr marL="342900" indent="-342900"/>
            <a:r>
              <a:rPr lang="en-US" sz="2000" dirty="0">
                <a:latin typeface="Courier New" pitchFamily="49" charset="0"/>
              </a:rPr>
              <a:t>  </a:t>
            </a:r>
            <a:r>
              <a:rPr lang="en-US" sz="2000" dirty="0">
                <a:solidFill>
                  <a:schemeClr val="folHlink"/>
                </a:solidFill>
                <a:latin typeface="Courier New" pitchFamily="49" charset="0"/>
              </a:rPr>
              <a:t>locked = true;</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combined;</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FIRST:</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case SECOND:</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default: …</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a:t>
            </a:r>
          </a:p>
        </p:txBody>
      </p:sp>
      <p:sp>
        <p:nvSpPr>
          <p:cNvPr id="73733" name="Rectangle 2"/>
          <p:cNvSpPr>
            <a:spLocks noGrp="1" noChangeArrowheads="1"/>
          </p:cNvSpPr>
          <p:nvPr>
            <p:ph type="title"/>
          </p:nvPr>
        </p:nvSpPr>
        <p:spPr/>
        <p:txBody>
          <a:bodyPr/>
          <a:lstStyle/>
          <a:p>
            <a:r>
              <a:rPr lang="en-US"/>
              <a:t>Combining Phase Node</a:t>
            </a:r>
          </a:p>
        </p:txBody>
      </p:sp>
      <p:sp>
        <p:nvSpPr>
          <p:cNvPr id="73734" name="Text Box 4"/>
          <p:cNvSpPr txBox="1">
            <a:spLocks noChangeArrowheads="1"/>
          </p:cNvSpPr>
          <p:nvPr/>
        </p:nvSpPr>
        <p:spPr bwMode="auto">
          <a:xfrm>
            <a:off x="2505695" y="5211743"/>
            <a:ext cx="6188188" cy="954107"/>
          </a:xfrm>
          <a:prstGeom prst="rect">
            <a:avLst/>
          </a:prstGeom>
          <a:noFill/>
          <a:ln w="9525">
            <a:noFill/>
            <a:miter lim="800000"/>
            <a:headEnd/>
            <a:tailEnd/>
          </a:ln>
        </p:spPr>
        <p:txBody>
          <a:bodyPr wrap="square">
            <a:spAutoFit/>
          </a:bodyPr>
          <a:lstStyle/>
          <a:p>
            <a:pPr algn="ctr">
              <a:spcBef>
                <a:spcPct val="0"/>
              </a:spcBef>
            </a:pPr>
            <a:r>
              <a:rPr lang="en-US" sz="2800" dirty="0">
                <a:solidFill>
                  <a:srgbClr val="FF0000"/>
                </a:solidFill>
                <a:latin typeface="Arial" pitchFamily="34" charset="0"/>
                <a:cs typeface="Arial" pitchFamily="34" charset="0"/>
              </a:rPr>
              <a:t>If node is locked by the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 wait until it deposits its value</a:t>
            </a:r>
          </a:p>
        </p:txBody>
      </p:sp>
      <p:sp>
        <p:nvSpPr>
          <p:cNvPr id="73735" name="AutoShape 5"/>
          <p:cNvSpPr>
            <a:spLocks noChangeArrowheads="1"/>
          </p:cNvSpPr>
          <p:nvPr/>
        </p:nvSpPr>
        <p:spPr bwMode="auto">
          <a:xfrm>
            <a:off x="947738" y="2027238"/>
            <a:ext cx="3957637" cy="550862"/>
          </a:xfrm>
          <a:prstGeom prst="wedgeRoundRectCallout">
            <a:avLst>
              <a:gd name="adj1" fmla="val 32709"/>
              <a:gd name="adj2" fmla="val 525869"/>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E6DD6AC9-38CA-45F4-9003-BEF53F612F86}" type="slidenum">
              <a:rPr lang="en-US"/>
              <a:pPr>
                <a:defRPr/>
              </a:pPr>
              <a:t>73</a:t>
            </a:fld>
            <a:endParaRPr lang="en-US"/>
          </a:p>
        </p:txBody>
      </p:sp>
      <p:sp>
        <p:nvSpPr>
          <p:cNvPr id="73732" name="Rectangle 6"/>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latin typeface="Courier New" pitchFamily="49" charset="0"/>
              </a:rPr>
              <a:t>  </a:t>
            </a:r>
            <a:r>
              <a:rPr lang="en-US" sz="2000" dirty="0">
                <a:solidFill>
                  <a:schemeClr val="tx1"/>
                </a:solidFill>
                <a:latin typeface="Courier New" pitchFamily="49" charset="0"/>
              </a:rPr>
              <a:t>while</a:t>
            </a:r>
            <a:r>
              <a:rPr lang="en-US" sz="2000" dirty="0">
                <a:latin typeface="Courier New" pitchFamily="49" charset="0"/>
              </a:rPr>
              <a:t> (locked) wait();</a:t>
            </a:r>
          </a:p>
          <a:p>
            <a:pPr marL="342900" indent="-342900"/>
            <a:r>
              <a:rPr lang="en-US" sz="2000" dirty="0">
                <a:latin typeface="Courier New" pitchFamily="49" charset="0"/>
              </a:rPr>
              <a:t>  locked = </a:t>
            </a:r>
            <a:r>
              <a:rPr lang="en-US" sz="2000" dirty="0">
                <a:solidFill>
                  <a:schemeClr val="tx1"/>
                </a:solidFill>
                <a:latin typeface="Courier New" pitchFamily="49" charset="0"/>
              </a:rPr>
              <a:t>true</a:t>
            </a:r>
            <a:r>
              <a:rPr lang="en-US" sz="2000" dirty="0">
                <a:latin typeface="Courier New" pitchFamily="49" charset="0"/>
              </a:rPr>
              <a:t>;</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combined;</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FIRST:</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case SECOND:</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default: …</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a:t>
            </a:r>
          </a:p>
        </p:txBody>
      </p:sp>
      <p:sp>
        <p:nvSpPr>
          <p:cNvPr id="73733" name="Rectangle 2"/>
          <p:cNvSpPr>
            <a:spLocks noGrp="1" noChangeArrowheads="1"/>
          </p:cNvSpPr>
          <p:nvPr>
            <p:ph type="title"/>
          </p:nvPr>
        </p:nvSpPr>
        <p:spPr/>
        <p:txBody>
          <a:bodyPr/>
          <a:lstStyle/>
          <a:p>
            <a:r>
              <a:rPr lang="en-US"/>
              <a:t>Combining Phase Node</a:t>
            </a:r>
          </a:p>
        </p:txBody>
      </p:sp>
      <p:sp>
        <p:nvSpPr>
          <p:cNvPr id="73734" name="Text Box 4"/>
          <p:cNvSpPr txBox="1">
            <a:spLocks noChangeArrowheads="1"/>
          </p:cNvSpPr>
          <p:nvPr/>
        </p:nvSpPr>
        <p:spPr bwMode="auto">
          <a:xfrm>
            <a:off x="4077862" y="3274090"/>
            <a:ext cx="4919663" cy="1384995"/>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How do we know that no thread acquires the lock between the two lines?</a:t>
            </a:r>
          </a:p>
        </p:txBody>
      </p:sp>
      <p:sp>
        <p:nvSpPr>
          <p:cNvPr id="73735" name="AutoShape 5"/>
          <p:cNvSpPr>
            <a:spLocks noChangeArrowheads="1"/>
          </p:cNvSpPr>
          <p:nvPr/>
        </p:nvSpPr>
        <p:spPr bwMode="auto">
          <a:xfrm>
            <a:off x="947738" y="2027238"/>
            <a:ext cx="3957637" cy="868362"/>
          </a:xfrm>
          <a:prstGeom prst="wedgeRoundRectCallout">
            <a:avLst>
              <a:gd name="adj1" fmla="val 33542"/>
              <a:gd name="adj2" fmla="val 107457"/>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9" name="Text Box 4"/>
          <p:cNvSpPr txBox="1">
            <a:spLocks noChangeArrowheads="1"/>
          </p:cNvSpPr>
          <p:nvPr/>
        </p:nvSpPr>
        <p:spPr bwMode="auto">
          <a:xfrm>
            <a:off x="2806976" y="5261253"/>
            <a:ext cx="5994930" cy="954107"/>
          </a:xfrm>
          <a:prstGeom prst="rect">
            <a:avLst/>
          </a:prstGeom>
          <a:noFill/>
          <a:ln w="9525">
            <a:noFill/>
            <a:miter lim="800000"/>
            <a:headEnd/>
            <a:tailEnd/>
          </a:ln>
        </p:spPr>
        <p:txBody>
          <a:bodyPr wrap="square">
            <a:spAutoFit/>
          </a:bodyPr>
          <a:lstStyle/>
          <a:p>
            <a:pPr algn="ctr">
              <a:spcBef>
                <a:spcPct val="0"/>
              </a:spcBef>
            </a:pPr>
            <a:r>
              <a:rPr lang="en-US" sz="2800" dirty="0">
                <a:solidFill>
                  <a:srgbClr val="FF0000"/>
                </a:solidFill>
                <a:latin typeface="Arial" pitchFamily="34" charset="0"/>
                <a:cs typeface="Arial" pitchFamily="34" charset="0"/>
              </a:rPr>
              <a:t>Because the methods are </a:t>
            </a:r>
            <a:r>
              <a:rPr lang="en-US" sz="2800" i="1" dirty="0">
                <a:solidFill>
                  <a:srgbClr val="FF0000"/>
                </a:solidFill>
                <a:latin typeface="Arial" pitchFamily="34" charset="0"/>
                <a:cs typeface="Arial" pitchFamily="34" charset="0"/>
              </a:rPr>
              <a:t>synchronized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26DAB20B-3C56-4169-A4EC-92391C6982F9}" type="slidenum">
              <a:rPr lang="en-US"/>
              <a:pPr>
                <a:defRPr/>
              </a:pPr>
              <a:t>74</a:t>
            </a:fld>
            <a:endParaRPr lang="en-US"/>
          </a:p>
        </p:txBody>
      </p:sp>
      <p:sp>
        <p:nvSpPr>
          <p:cNvPr id="74756" name="Rectangle 2"/>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while (locked) wait();</a:t>
            </a:r>
          </a:p>
          <a:p>
            <a:pPr marL="342900" indent="-342900"/>
            <a:r>
              <a:rPr lang="en-US" sz="2000" dirty="0">
                <a:latin typeface="Courier New" pitchFamily="49" charset="0"/>
              </a:rPr>
              <a:t>  locked = </a:t>
            </a:r>
            <a:r>
              <a:rPr lang="en-US" sz="2000" dirty="0">
                <a:solidFill>
                  <a:schemeClr val="tx1"/>
                </a:solidFill>
                <a:latin typeface="Courier New" pitchFamily="49" charset="0"/>
              </a:rPr>
              <a:t>true</a:t>
            </a:r>
            <a:r>
              <a:rPr lang="en-US" sz="2000" dirty="0">
                <a:latin typeface="Courier New" pitchFamily="49" charset="0"/>
              </a:rPr>
              <a:t>;</a:t>
            </a:r>
          </a:p>
          <a:p>
            <a:pPr marL="342900" indent="-342900"/>
            <a:r>
              <a:rPr lang="en-US" sz="2000" dirty="0">
                <a:latin typeface="Courier New" pitchFamily="49" charset="0"/>
              </a:rPr>
              <a:t>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combined;</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FIRST:</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case SECOND:</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default: …</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a:t>
            </a:r>
          </a:p>
        </p:txBody>
      </p:sp>
      <p:sp>
        <p:nvSpPr>
          <p:cNvPr id="74757" name="Rectangle 3"/>
          <p:cNvSpPr>
            <a:spLocks noGrp="1" noChangeArrowheads="1"/>
          </p:cNvSpPr>
          <p:nvPr>
            <p:ph type="title"/>
          </p:nvPr>
        </p:nvSpPr>
        <p:spPr/>
        <p:txBody>
          <a:bodyPr/>
          <a:lstStyle/>
          <a:p>
            <a:r>
              <a:rPr lang="en-US"/>
              <a:t>Combining Phase Node</a:t>
            </a:r>
          </a:p>
        </p:txBody>
      </p:sp>
      <p:sp>
        <p:nvSpPr>
          <p:cNvPr id="74758" name="Text Box 4"/>
          <p:cNvSpPr txBox="1">
            <a:spLocks noChangeArrowheads="1"/>
          </p:cNvSpPr>
          <p:nvPr/>
        </p:nvSpPr>
        <p:spPr bwMode="auto">
          <a:xfrm>
            <a:off x="4679950" y="2952750"/>
            <a:ext cx="4086225" cy="181610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Lock out late   attempts to combine</a:t>
            </a:r>
          </a:p>
          <a:p>
            <a:pPr algn="ctr">
              <a:spcBef>
                <a:spcPct val="0"/>
              </a:spcBef>
            </a:pPr>
            <a:r>
              <a:rPr lang="en-US" sz="2800" dirty="0">
                <a:solidFill>
                  <a:srgbClr val="FF0000"/>
                </a:solidFill>
                <a:latin typeface="Arial" pitchFamily="34" charset="0"/>
                <a:cs typeface="Arial" pitchFamily="34" charset="0"/>
              </a:rPr>
              <a:t>(by threads still in </a:t>
            </a:r>
            <a:r>
              <a:rPr lang="en-US" sz="2800" dirty="0" err="1">
                <a:solidFill>
                  <a:srgbClr val="FF0000"/>
                </a:solidFill>
                <a:latin typeface="Arial" pitchFamily="34" charset="0"/>
                <a:cs typeface="Arial" pitchFamily="34" charset="0"/>
              </a:rPr>
              <a:t>precombining</a:t>
            </a:r>
            <a:r>
              <a:rPr lang="en-US" sz="2800" dirty="0">
                <a:solidFill>
                  <a:srgbClr val="FF0000"/>
                </a:solidFill>
                <a:latin typeface="Arial" pitchFamily="34" charset="0"/>
                <a:cs typeface="Arial" pitchFamily="34" charset="0"/>
              </a:rPr>
              <a:t>)</a:t>
            </a:r>
          </a:p>
        </p:txBody>
      </p:sp>
      <p:sp>
        <p:nvSpPr>
          <p:cNvPr id="74759" name="AutoShape 5"/>
          <p:cNvSpPr>
            <a:spLocks noChangeArrowheads="1"/>
          </p:cNvSpPr>
          <p:nvPr/>
        </p:nvSpPr>
        <p:spPr bwMode="auto">
          <a:xfrm>
            <a:off x="1247775" y="2401888"/>
            <a:ext cx="2468563" cy="550862"/>
          </a:xfrm>
          <a:prstGeom prst="wedgeRoundRectCallout">
            <a:avLst>
              <a:gd name="adj1" fmla="val 92574"/>
              <a:gd name="adj2" fmla="val 163546"/>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60D1279B-82A6-42BD-97DF-A77F17DA6B0D}" type="slidenum">
              <a:rPr lang="en-US"/>
              <a:pPr>
                <a:defRPr/>
              </a:pPr>
              <a:t>75</a:t>
            </a:fld>
            <a:endParaRPr lang="en-US"/>
          </a:p>
        </p:txBody>
      </p:sp>
      <p:sp>
        <p:nvSpPr>
          <p:cNvPr id="75780" name="Rectangle 2"/>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while (locked) wait();</a:t>
            </a:r>
          </a:p>
          <a:p>
            <a:pPr marL="342900" indent="-342900"/>
            <a:r>
              <a:rPr lang="en-US" sz="2000" dirty="0">
                <a:solidFill>
                  <a:schemeClr val="folHlink"/>
                </a:solidFill>
                <a:latin typeface="Courier New" pitchFamily="49" charset="0"/>
              </a:rPr>
              <a:t>  locked = true;</a:t>
            </a:r>
          </a:p>
          <a:p>
            <a:pPr marL="342900" indent="-342900"/>
            <a:r>
              <a:rPr lang="en-US" sz="2000" dirty="0">
                <a:latin typeface="Courier New" pitchFamily="49" charset="0"/>
              </a:rPr>
              <a:t>  </a:t>
            </a:r>
            <a:r>
              <a:rPr lang="en-US" sz="2000" dirty="0" err="1">
                <a:latin typeface="Courier New" pitchFamily="49" charset="0"/>
              </a:rPr>
              <a:t>firstValue</a:t>
            </a:r>
            <a:r>
              <a:rPr lang="en-US" sz="2000" dirty="0">
                <a:latin typeface="Courier New" pitchFamily="49" charset="0"/>
              </a:rPr>
              <a:t> = combined;</a:t>
            </a:r>
          </a:p>
          <a:p>
            <a:pPr marL="342900" indent="-342900"/>
            <a:r>
              <a:rPr lang="en-US" sz="2000" dirty="0">
                <a:latin typeface="Courier New" pitchFamily="49" charset="0"/>
              </a:rPr>
              <a:t>  </a:t>
            </a:r>
            <a:r>
              <a:rPr lang="en-US" sz="2000" dirty="0">
                <a:solidFill>
                  <a:schemeClr val="folHlink"/>
                </a:solidFill>
                <a:latin typeface="Courier New" pitchFamily="49" charset="0"/>
              </a:rPr>
              <a:t>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FIRST:</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case SECOND:</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default: …</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a:t>
            </a:r>
          </a:p>
        </p:txBody>
      </p:sp>
      <p:sp>
        <p:nvSpPr>
          <p:cNvPr id="75781" name="Rectangle 3"/>
          <p:cNvSpPr>
            <a:spLocks noGrp="1" noChangeArrowheads="1"/>
          </p:cNvSpPr>
          <p:nvPr>
            <p:ph type="title"/>
          </p:nvPr>
        </p:nvSpPr>
        <p:spPr/>
        <p:txBody>
          <a:bodyPr/>
          <a:lstStyle/>
          <a:p>
            <a:r>
              <a:rPr lang="en-US"/>
              <a:t>Combining Phase Node</a:t>
            </a:r>
          </a:p>
        </p:txBody>
      </p:sp>
      <p:sp>
        <p:nvSpPr>
          <p:cNvPr id="75782" name="Text Box 4"/>
          <p:cNvSpPr txBox="1">
            <a:spLocks noChangeArrowheads="1"/>
          </p:cNvSpPr>
          <p:nvPr/>
        </p:nvSpPr>
        <p:spPr bwMode="auto">
          <a:xfrm>
            <a:off x="4003675" y="5454650"/>
            <a:ext cx="4919663" cy="954088"/>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Remember my (1</a:t>
            </a:r>
            <a:r>
              <a:rPr lang="en-US" sz="2800" baseline="30000" dirty="0">
                <a:solidFill>
                  <a:srgbClr val="FF0000"/>
                </a:solidFill>
                <a:latin typeface="Arial" pitchFamily="34" charset="0"/>
                <a:cs typeface="Arial" pitchFamily="34" charset="0"/>
              </a:rPr>
              <a:t>st</a:t>
            </a:r>
            <a:r>
              <a:rPr lang="en-US" sz="2800" dirty="0">
                <a:solidFill>
                  <a:srgbClr val="FF0000"/>
                </a:solidFill>
                <a:latin typeface="Arial" pitchFamily="34" charset="0"/>
                <a:cs typeface="Arial" pitchFamily="34" charset="0"/>
              </a:rPr>
              <a:t> thread) contribution</a:t>
            </a:r>
          </a:p>
        </p:txBody>
      </p:sp>
      <p:sp>
        <p:nvSpPr>
          <p:cNvPr id="75783" name="AutoShape 5"/>
          <p:cNvSpPr>
            <a:spLocks noChangeArrowheads="1"/>
          </p:cNvSpPr>
          <p:nvPr/>
        </p:nvSpPr>
        <p:spPr bwMode="auto">
          <a:xfrm>
            <a:off x="1247775" y="2795588"/>
            <a:ext cx="3471863" cy="550862"/>
          </a:xfrm>
          <a:prstGeom prst="wedgeRoundRectCallout">
            <a:avLst>
              <a:gd name="adj1" fmla="val 87495"/>
              <a:gd name="adj2" fmla="val 417722"/>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A2250A94-5897-4737-A688-24804D3EB75C}" type="slidenum">
              <a:rPr lang="en-US"/>
              <a:pPr>
                <a:defRPr/>
              </a:pPr>
              <a:t>76</a:t>
            </a:fld>
            <a:endParaRPr lang="en-US"/>
          </a:p>
        </p:txBody>
      </p:sp>
      <p:sp>
        <p:nvSpPr>
          <p:cNvPr id="76804" name="Rectangle 2"/>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while (locked) wait();</a:t>
            </a:r>
          </a:p>
          <a:p>
            <a:pPr marL="342900" indent="-342900"/>
            <a:r>
              <a:rPr lang="en-US" sz="2000" dirty="0">
                <a:solidFill>
                  <a:schemeClr val="folHlink"/>
                </a:solidFill>
                <a:latin typeface="Courier New" pitchFamily="49" charset="0"/>
              </a:rPr>
              <a:t>  locked = true;</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combined;</a:t>
            </a:r>
          </a:p>
          <a:p>
            <a:pPr marL="342900" indent="-342900"/>
            <a:r>
              <a:rPr lang="en-US" sz="2000" dirty="0">
                <a:latin typeface="Courier New" pitchFamily="49" charset="0"/>
              </a:rPr>
              <a:t>  </a:t>
            </a:r>
            <a:r>
              <a:rPr lang="en-US" sz="2000" dirty="0">
                <a:solidFill>
                  <a:schemeClr val="tx1"/>
                </a:solidFill>
                <a:latin typeface="Courier New" pitchFamily="49" charset="0"/>
              </a:rPr>
              <a:t>switch</a:t>
            </a:r>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a:t>
            </a:r>
          </a:p>
          <a:p>
            <a:pPr marL="342900" indent="-342900"/>
            <a:r>
              <a:rPr lang="en-US" sz="2000" dirty="0">
                <a:latin typeface="Courier New" pitchFamily="49" charset="0"/>
              </a:rPr>
              <a:t>    </a:t>
            </a:r>
            <a:r>
              <a:rPr lang="en-US" sz="2000" dirty="0">
                <a:solidFill>
                  <a:schemeClr val="folHlink"/>
                </a:solidFill>
                <a:latin typeface="Courier New" pitchFamily="49" charset="0"/>
              </a:rPr>
              <a:t>case FIRST:</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case SECOND:</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default: …</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a:t>
            </a:r>
          </a:p>
        </p:txBody>
      </p:sp>
      <p:sp>
        <p:nvSpPr>
          <p:cNvPr id="76805" name="Rectangle 3"/>
          <p:cNvSpPr>
            <a:spLocks noGrp="1" noChangeArrowheads="1"/>
          </p:cNvSpPr>
          <p:nvPr>
            <p:ph type="title"/>
          </p:nvPr>
        </p:nvSpPr>
        <p:spPr/>
        <p:txBody>
          <a:bodyPr/>
          <a:lstStyle/>
          <a:p>
            <a:r>
              <a:rPr lang="en-US"/>
              <a:t>Combining Phase Node</a:t>
            </a:r>
          </a:p>
        </p:txBody>
      </p:sp>
      <p:sp>
        <p:nvSpPr>
          <p:cNvPr id="76806" name="Text Box 4"/>
          <p:cNvSpPr txBox="1">
            <a:spLocks noChangeArrowheads="1"/>
          </p:cNvSpPr>
          <p:nvPr/>
        </p:nvSpPr>
        <p:spPr bwMode="auto">
          <a:xfrm>
            <a:off x="4826390" y="2276475"/>
            <a:ext cx="3631810" cy="519113"/>
          </a:xfrm>
          <a:prstGeom prst="rect">
            <a:avLst/>
          </a:prstGeom>
          <a:noFill/>
          <a:ln w="9525">
            <a:noFill/>
            <a:miter lim="800000"/>
            <a:headEnd/>
            <a:tailEnd/>
          </a:ln>
        </p:spPr>
        <p:txBody>
          <a:bodyPr wrap="square">
            <a:spAutoFit/>
          </a:bodyPr>
          <a:lstStyle/>
          <a:p>
            <a:pPr algn="ctr">
              <a:spcBef>
                <a:spcPct val="0"/>
              </a:spcBef>
            </a:pPr>
            <a:r>
              <a:rPr lang="en-US" sz="2800" dirty="0">
                <a:solidFill>
                  <a:srgbClr val="FF0000"/>
                </a:solidFill>
                <a:latin typeface="Arial" pitchFamily="34" charset="0"/>
                <a:cs typeface="Arial" pitchFamily="34" charset="0"/>
              </a:rPr>
              <a:t>Check status</a:t>
            </a:r>
          </a:p>
        </p:txBody>
      </p:sp>
      <p:sp>
        <p:nvSpPr>
          <p:cNvPr id="76807" name="AutoShape 5"/>
          <p:cNvSpPr>
            <a:spLocks noChangeArrowheads="1"/>
          </p:cNvSpPr>
          <p:nvPr/>
        </p:nvSpPr>
        <p:spPr bwMode="auto">
          <a:xfrm>
            <a:off x="1247775" y="3155950"/>
            <a:ext cx="2755900" cy="550863"/>
          </a:xfrm>
          <a:prstGeom prst="wedgeRoundRectCallout">
            <a:avLst>
              <a:gd name="adj1" fmla="val 93778"/>
              <a:gd name="adj2" fmla="val -144523"/>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F7FEFD52-8ECE-4D32-B668-75B6A170A28C}" type="slidenum">
              <a:rPr lang="en-US"/>
              <a:pPr>
                <a:defRPr/>
              </a:pPr>
              <a:t>77</a:t>
            </a:fld>
            <a:endParaRPr lang="en-US"/>
          </a:p>
        </p:txBody>
      </p:sp>
      <p:sp>
        <p:nvSpPr>
          <p:cNvPr id="77828" name="Rectangle 2"/>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while (locked) wait();</a:t>
            </a:r>
          </a:p>
          <a:p>
            <a:pPr marL="342900" indent="-342900"/>
            <a:r>
              <a:rPr lang="en-US" sz="2000" dirty="0">
                <a:solidFill>
                  <a:schemeClr val="folHlink"/>
                </a:solidFill>
                <a:latin typeface="Courier New" pitchFamily="49" charset="0"/>
              </a:rPr>
              <a:t>  locked = true;</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combined;</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FIRST: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a:t>
            </a:r>
            <a:r>
              <a:rPr lang="en-US" sz="2000" dirty="0" err="1">
                <a:latin typeface="Courier New" pitchFamily="49" charset="0"/>
              </a:rPr>
              <a:t>firstValue</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folHlink"/>
                </a:solidFill>
                <a:latin typeface="Courier New" pitchFamily="49" charset="0"/>
              </a:rPr>
              <a:t>case SECOND:</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default: …</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a:t>
            </a:r>
          </a:p>
        </p:txBody>
      </p:sp>
      <p:sp>
        <p:nvSpPr>
          <p:cNvPr id="77829" name="Rectangle 3"/>
          <p:cNvSpPr>
            <a:spLocks noGrp="1" noChangeArrowheads="1"/>
          </p:cNvSpPr>
          <p:nvPr>
            <p:ph type="title"/>
          </p:nvPr>
        </p:nvSpPr>
        <p:spPr/>
        <p:txBody>
          <a:bodyPr/>
          <a:lstStyle/>
          <a:p>
            <a:r>
              <a:rPr lang="en-US"/>
              <a:t>Combining Phase Node</a:t>
            </a:r>
          </a:p>
        </p:txBody>
      </p:sp>
      <p:sp>
        <p:nvSpPr>
          <p:cNvPr id="77830" name="Text Box 4"/>
          <p:cNvSpPr txBox="1">
            <a:spLocks noChangeArrowheads="1"/>
          </p:cNvSpPr>
          <p:nvPr/>
        </p:nvSpPr>
        <p:spPr bwMode="auto">
          <a:xfrm>
            <a:off x="4003675" y="2276475"/>
            <a:ext cx="4919663" cy="523875"/>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I (1</a:t>
            </a:r>
            <a:r>
              <a:rPr lang="en-US" sz="2800" baseline="30000" dirty="0">
                <a:solidFill>
                  <a:srgbClr val="FF0000"/>
                </a:solidFill>
                <a:latin typeface="Arial" pitchFamily="34" charset="0"/>
                <a:cs typeface="Arial" pitchFamily="34" charset="0"/>
              </a:rPr>
              <a:t>st</a:t>
            </a:r>
            <a:r>
              <a:rPr lang="en-US" sz="2800" dirty="0">
                <a:solidFill>
                  <a:srgbClr val="FF0000"/>
                </a:solidFill>
                <a:latin typeface="Arial" pitchFamily="34" charset="0"/>
                <a:cs typeface="Arial" pitchFamily="34" charset="0"/>
              </a:rPr>
              <a:t> thread) am alone</a:t>
            </a:r>
          </a:p>
        </p:txBody>
      </p:sp>
      <p:sp>
        <p:nvSpPr>
          <p:cNvPr id="77831" name="AutoShape 5"/>
          <p:cNvSpPr>
            <a:spLocks noChangeArrowheads="1"/>
          </p:cNvSpPr>
          <p:nvPr/>
        </p:nvSpPr>
        <p:spPr bwMode="auto">
          <a:xfrm>
            <a:off x="1482725" y="3635375"/>
            <a:ext cx="3384550" cy="776288"/>
          </a:xfrm>
          <a:prstGeom prst="wedgeRoundRectCallout">
            <a:avLst>
              <a:gd name="adj1" fmla="val 67074"/>
              <a:gd name="adj2" fmla="val -117074"/>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D304ED9B-7341-4739-89D0-814DEDE3CB80}" type="slidenum">
              <a:rPr lang="en-US"/>
              <a:pPr>
                <a:defRPr/>
              </a:pPr>
              <a:t>78</a:t>
            </a:fld>
            <a:endParaRPr lang="en-US"/>
          </a:p>
        </p:txBody>
      </p:sp>
      <p:sp>
        <p:nvSpPr>
          <p:cNvPr id="78852" name="Rectangle 2"/>
          <p:cNvSpPr>
            <a:spLocks noChangeArrowheads="1"/>
          </p:cNvSpPr>
          <p:nvPr/>
        </p:nvSpPr>
        <p:spPr bwMode="auto">
          <a:xfrm>
            <a:off x="947738" y="1752600"/>
            <a:ext cx="7586662" cy="4462760"/>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while (locked) wait();</a:t>
            </a:r>
          </a:p>
          <a:p>
            <a:pPr marL="342900" indent="-342900"/>
            <a:r>
              <a:rPr lang="en-US" sz="2000" dirty="0">
                <a:solidFill>
                  <a:schemeClr val="folHlink"/>
                </a:solidFill>
                <a:latin typeface="Courier New" pitchFamily="49" charset="0"/>
              </a:rPr>
              <a:t>  locked = true;</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 = combined;</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FIRST:</a:t>
            </a:r>
          </a:p>
          <a:p>
            <a:pPr marL="342900" indent="-342900"/>
            <a:r>
              <a:rPr lang="en-US" sz="2000" dirty="0">
                <a:solidFill>
                  <a:schemeClr val="folHlink"/>
                </a:solidFill>
                <a:latin typeface="Courier New" pitchFamily="49" charset="0"/>
              </a:rPr>
              <a:t>      return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SECOND:</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a:t>
            </a:r>
            <a:r>
              <a:rPr lang="en-US" sz="2000" dirty="0" err="1">
                <a:latin typeface="Courier New" pitchFamily="49" charset="0"/>
              </a:rPr>
              <a:t>firstValue</a:t>
            </a:r>
            <a:r>
              <a:rPr lang="en-US" sz="2000" dirty="0">
                <a:latin typeface="Courier New" pitchFamily="49" charset="0"/>
              </a:rPr>
              <a:t> + </a:t>
            </a:r>
            <a:r>
              <a:rPr lang="en-US" sz="2000" dirty="0" err="1">
                <a:latin typeface="Courier New" pitchFamily="49" charset="0"/>
              </a:rPr>
              <a:t>secondValue</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folHlink"/>
                </a:solidFill>
                <a:latin typeface="Courier New" pitchFamily="49" charset="0"/>
              </a:rPr>
              <a:t>default: …</a:t>
            </a:r>
          </a:p>
          <a:p>
            <a:pPr marL="342900" indent="-342900"/>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a:t>
            </a:r>
          </a:p>
        </p:txBody>
      </p:sp>
      <p:sp>
        <p:nvSpPr>
          <p:cNvPr id="78853" name="Rectangle 3"/>
          <p:cNvSpPr>
            <a:spLocks noGrp="1" noChangeArrowheads="1"/>
          </p:cNvSpPr>
          <p:nvPr>
            <p:ph type="title"/>
          </p:nvPr>
        </p:nvSpPr>
        <p:spPr/>
        <p:txBody>
          <a:bodyPr/>
          <a:lstStyle/>
          <a:p>
            <a:r>
              <a:rPr lang="en-US"/>
              <a:t>Combining Node</a:t>
            </a:r>
          </a:p>
        </p:txBody>
      </p:sp>
      <p:sp>
        <p:nvSpPr>
          <p:cNvPr id="78854" name="Text Box 4"/>
          <p:cNvSpPr txBox="1">
            <a:spLocks noChangeArrowheads="1"/>
          </p:cNvSpPr>
          <p:nvPr/>
        </p:nvSpPr>
        <p:spPr bwMode="auto">
          <a:xfrm>
            <a:off x="4470153" y="2483370"/>
            <a:ext cx="2919413" cy="138430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Not alone: combine with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a:t>
            </a:r>
          </a:p>
        </p:txBody>
      </p:sp>
      <p:sp>
        <p:nvSpPr>
          <p:cNvPr id="78855" name="AutoShape 5"/>
          <p:cNvSpPr>
            <a:spLocks noChangeArrowheads="1"/>
          </p:cNvSpPr>
          <p:nvPr/>
        </p:nvSpPr>
        <p:spPr bwMode="auto">
          <a:xfrm>
            <a:off x="1482725" y="4349750"/>
            <a:ext cx="5626100" cy="776288"/>
          </a:xfrm>
          <a:prstGeom prst="wedgeRoundRectCallout">
            <a:avLst>
              <a:gd name="adj1" fmla="val 20431"/>
              <a:gd name="adj2" fmla="val -117074"/>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ooter Placeholder 2"/>
          <p:cNvSpPr>
            <a:spLocks noGrp="1"/>
          </p:cNvSpPr>
          <p:nvPr>
            <p:ph type="ftr" sz="quarter" idx="10"/>
          </p:nvPr>
        </p:nvSpPr>
        <p:spPr/>
        <p:txBody>
          <a:bodyPr/>
          <a:lstStyle/>
          <a:p>
            <a:pPr>
              <a:defRPr/>
            </a:pPr>
            <a:r>
              <a:rPr lang="en-US"/>
              <a:t>Art of Multiprocessor Programming</a:t>
            </a:r>
          </a:p>
        </p:txBody>
      </p:sp>
      <p:sp>
        <p:nvSpPr>
          <p:cNvPr id="58" name="Slide Number Placeholder 3"/>
          <p:cNvSpPr>
            <a:spLocks noGrp="1"/>
          </p:cNvSpPr>
          <p:nvPr>
            <p:ph type="sldNum" sz="quarter" idx="11"/>
          </p:nvPr>
        </p:nvSpPr>
        <p:spPr/>
        <p:txBody>
          <a:bodyPr/>
          <a:lstStyle/>
          <a:p>
            <a:pPr>
              <a:defRPr/>
            </a:pPr>
            <a:fld id="{EBDBEFEC-8930-4570-BF31-C0988C9AD8A0}" type="slidenum">
              <a:rPr lang="en-US"/>
              <a:pPr>
                <a:defRPr/>
              </a:pPr>
              <a:t>79</a:t>
            </a:fld>
            <a:endParaRPr lang="en-US"/>
          </a:p>
        </p:txBody>
      </p:sp>
      <p:sp>
        <p:nvSpPr>
          <p:cNvPr id="79876" name="Rectangle 2"/>
          <p:cNvSpPr>
            <a:spLocks noGrp="1" noChangeArrowheads="1"/>
          </p:cNvSpPr>
          <p:nvPr>
            <p:ph type="title"/>
          </p:nvPr>
        </p:nvSpPr>
        <p:spPr/>
        <p:txBody>
          <a:bodyPr/>
          <a:lstStyle/>
          <a:p>
            <a:r>
              <a:rPr lang="en-US" sz="4000"/>
              <a:t>Operation Phase</a:t>
            </a:r>
          </a:p>
        </p:txBody>
      </p:sp>
      <p:sp>
        <p:nvSpPr>
          <p:cNvPr id="79877"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5</a:t>
            </a:r>
          </a:p>
        </p:txBody>
      </p:sp>
      <p:sp>
        <p:nvSpPr>
          <p:cNvPr id="79878"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79879"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79880" name="Group 6"/>
          <p:cNvGrpSpPr>
            <a:grpSpLocks/>
          </p:cNvGrpSpPr>
          <p:nvPr/>
        </p:nvGrpSpPr>
        <p:grpSpPr bwMode="auto">
          <a:xfrm flipH="1">
            <a:off x="852488" y="4953000"/>
            <a:ext cx="1219200" cy="1090613"/>
            <a:chOff x="1584" y="816"/>
            <a:chExt cx="912" cy="816"/>
          </a:xfrm>
        </p:grpSpPr>
        <p:sp>
          <p:nvSpPr>
            <p:cNvPr id="79922"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3"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4"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5"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6"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7"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8"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9"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30"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9881" name="Group 16"/>
          <p:cNvGrpSpPr>
            <a:grpSpLocks/>
          </p:cNvGrpSpPr>
          <p:nvPr/>
        </p:nvGrpSpPr>
        <p:grpSpPr bwMode="auto">
          <a:xfrm>
            <a:off x="2925763" y="4953000"/>
            <a:ext cx="1219200" cy="1090613"/>
            <a:chOff x="1584" y="816"/>
            <a:chExt cx="912" cy="816"/>
          </a:xfrm>
        </p:grpSpPr>
        <p:sp>
          <p:nvSpPr>
            <p:cNvPr id="79913"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4"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5"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6"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7"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8"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9"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0"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21"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79882"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79883" name="Text Box 27"/>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+3</a:t>
            </a:r>
          </a:p>
        </p:txBody>
      </p:sp>
      <p:sp>
        <p:nvSpPr>
          <p:cNvPr id="79884"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79885"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79886" name="Group 30"/>
          <p:cNvGrpSpPr>
            <a:grpSpLocks/>
          </p:cNvGrpSpPr>
          <p:nvPr/>
        </p:nvGrpSpPr>
        <p:grpSpPr bwMode="auto">
          <a:xfrm flipH="1">
            <a:off x="4999038" y="4953000"/>
            <a:ext cx="1219200" cy="1090613"/>
            <a:chOff x="1584" y="816"/>
            <a:chExt cx="912" cy="816"/>
          </a:xfrm>
        </p:grpSpPr>
        <p:sp>
          <p:nvSpPr>
            <p:cNvPr id="79904"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5"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6"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7"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8"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9"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0"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1"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12"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9887" name="Group 40"/>
          <p:cNvGrpSpPr>
            <a:grpSpLocks/>
          </p:cNvGrpSpPr>
          <p:nvPr/>
        </p:nvGrpSpPr>
        <p:grpSpPr bwMode="auto">
          <a:xfrm>
            <a:off x="7072313" y="4953000"/>
            <a:ext cx="1219200" cy="1090613"/>
            <a:chOff x="1584" y="816"/>
            <a:chExt cx="912" cy="816"/>
          </a:xfrm>
        </p:grpSpPr>
        <p:sp>
          <p:nvSpPr>
            <p:cNvPr id="79895"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896"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897"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898"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899"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0"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1"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2"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903"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79888" name="Freeform 50"/>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a:latin typeface="Arial" pitchFamily="34" charset="0"/>
              <a:cs typeface="Arial" pitchFamily="34" charset="0"/>
            </a:endParaRPr>
          </a:p>
        </p:txBody>
      </p:sp>
      <p:sp>
        <p:nvSpPr>
          <p:cNvPr id="79889" name="Text Box 51"/>
          <p:cNvSpPr txBox="1">
            <a:spLocks noChangeArrowheads="1"/>
          </p:cNvSpPr>
          <p:nvPr/>
        </p:nvSpPr>
        <p:spPr bwMode="auto">
          <a:xfrm>
            <a:off x="3336925" y="4191000"/>
            <a:ext cx="555625" cy="457200"/>
          </a:xfrm>
          <a:prstGeom prst="rect">
            <a:avLst/>
          </a:prstGeom>
          <a:solidFill>
            <a:srgbClr val="FFFF00"/>
          </a:solidFill>
          <a:ln w="9525">
            <a:noFill/>
            <a:miter lim="800000"/>
            <a:headEnd/>
            <a:tailEnd/>
          </a:ln>
        </p:spPr>
        <p:txBody>
          <a:bodyPr wrap="none">
            <a:spAutoFit/>
          </a:bodyPr>
          <a:lstStyle/>
          <a:p>
            <a:pPr algn="ctr">
              <a:spcBef>
                <a:spcPct val="0"/>
              </a:spcBef>
            </a:pPr>
            <a:r>
              <a:rPr lang="en-US">
                <a:solidFill>
                  <a:schemeClr val="tx1"/>
                </a:solidFill>
                <a:latin typeface="Arial" pitchFamily="34" charset="0"/>
                <a:cs typeface="Arial" pitchFamily="34" charset="0"/>
              </a:rPr>
              <a:t>+2</a:t>
            </a:r>
          </a:p>
        </p:txBody>
      </p:sp>
      <p:sp>
        <p:nvSpPr>
          <p:cNvPr id="79890" name="Freeform 52"/>
          <p:cNvSpPr>
            <a:spLocks/>
          </p:cNvSpPr>
          <p:nvPr/>
        </p:nvSpPr>
        <p:spPr bwMode="auto">
          <a:xfrm>
            <a:off x="2971800" y="26670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79891" name="Text Box 53"/>
          <p:cNvSpPr txBox="1">
            <a:spLocks noChangeArrowheads="1"/>
          </p:cNvSpPr>
          <p:nvPr/>
        </p:nvSpPr>
        <p:spPr bwMode="auto">
          <a:xfrm>
            <a:off x="2498725" y="28194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+5</a:t>
            </a:r>
          </a:p>
        </p:txBody>
      </p:sp>
      <p:sp>
        <p:nvSpPr>
          <p:cNvPr id="79892" name="Text Box 54"/>
          <p:cNvSpPr txBox="1">
            <a:spLocks noChangeArrowheads="1"/>
          </p:cNvSpPr>
          <p:nvPr/>
        </p:nvSpPr>
        <p:spPr bwMode="auto">
          <a:xfrm>
            <a:off x="3733800" y="3200400"/>
            <a:ext cx="5181600" cy="954088"/>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cs typeface="Arial" pitchFamily="34" charset="0"/>
              </a:rPr>
              <a:t>Add combined value to root, start back down</a:t>
            </a:r>
          </a:p>
        </p:txBody>
      </p:sp>
      <p:sp>
        <p:nvSpPr>
          <p:cNvPr id="79893" name="AutoShape 55"/>
          <p:cNvSpPr>
            <a:spLocks noChangeArrowheads="1"/>
          </p:cNvSpPr>
          <p:nvPr/>
        </p:nvSpPr>
        <p:spPr bwMode="auto">
          <a:xfrm>
            <a:off x="3543300" y="1905000"/>
            <a:ext cx="2057400" cy="990600"/>
          </a:xfrm>
          <a:prstGeom prst="wedgeRoundRectCallout">
            <a:avLst>
              <a:gd name="adj1" fmla="val 26468"/>
              <a:gd name="adj2" fmla="val 81889"/>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79894" name="AutoShape 56"/>
          <p:cNvSpPr>
            <a:spLocks noChangeArrowheads="1"/>
          </p:cNvSpPr>
          <p:nvPr/>
        </p:nvSpPr>
        <p:spPr bwMode="auto">
          <a:xfrm>
            <a:off x="4144963" y="4495800"/>
            <a:ext cx="1323975" cy="585788"/>
          </a:xfrm>
          <a:prstGeom prst="cloudCallout">
            <a:avLst>
              <a:gd name="adj1" fmla="val -43750"/>
              <a:gd name="adj2" fmla="val 70000"/>
            </a:avLst>
          </a:prstGeom>
          <a:solidFill>
            <a:srgbClr val="FFFF00"/>
          </a:solidFill>
          <a:ln w="38100">
            <a:solidFill>
              <a:schemeClr val="tx1"/>
            </a:solidFill>
            <a:round/>
            <a:headEnd/>
            <a:tailEnd/>
          </a:ln>
        </p:spPr>
        <p:txBody>
          <a:bodyPr/>
          <a:lstStyle/>
          <a:p>
            <a:pPr marL="342900" indent="-342900" algn="ctr"/>
            <a:r>
              <a:rPr lang="en-US">
                <a:solidFill>
                  <a:schemeClr val="tx1"/>
                </a:solidFill>
                <a:latin typeface="Arial" pitchFamily="34" charset="0"/>
                <a:cs typeface="Arial" pitchFamily="34" charset="0"/>
              </a:rPr>
              <a:t>zzz</a:t>
            </a:r>
            <a:endParaRPr lang="en-US">
              <a:latin typeface="Arial" pitchFamily="34" charset="0"/>
              <a:cs typeface="Arial"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ooter Placeholder 2"/>
          <p:cNvSpPr>
            <a:spLocks noGrp="1"/>
          </p:cNvSpPr>
          <p:nvPr>
            <p:ph type="ftr" sz="quarter" idx="10"/>
          </p:nvPr>
        </p:nvSpPr>
        <p:spPr/>
        <p:txBody>
          <a:bodyPr/>
          <a:lstStyle/>
          <a:p>
            <a:pPr>
              <a:defRPr/>
            </a:pPr>
            <a:r>
              <a:rPr lang="en-US"/>
              <a:t>Art of Multiprocessor Programming</a:t>
            </a:r>
          </a:p>
        </p:txBody>
      </p:sp>
      <p:sp>
        <p:nvSpPr>
          <p:cNvPr id="59" name="Slide Number Placeholder 3"/>
          <p:cNvSpPr>
            <a:spLocks noGrp="1"/>
          </p:cNvSpPr>
          <p:nvPr>
            <p:ph type="sldNum" sz="quarter" idx="11"/>
          </p:nvPr>
        </p:nvSpPr>
        <p:spPr/>
        <p:txBody>
          <a:bodyPr/>
          <a:lstStyle/>
          <a:p>
            <a:pPr>
              <a:defRPr/>
            </a:pPr>
            <a:fld id="{6BD439C8-9424-4FCA-BE55-8C5E3497BA0B}" type="slidenum">
              <a:rPr lang="en-US"/>
              <a:pPr>
                <a:defRPr/>
              </a:pPr>
              <a:t>80</a:t>
            </a:fld>
            <a:endParaRPr lang="en-US"/>
          </a:p>
        </p:txBody>
      </p:sp>
      <p:sp>
        <p:nvSpPr>
          <p:cNvPr id="80900" name="Rectangle 2"/>
          <p:cNvSpPr>
            <a:spLocks noGrp="1" noChangeArrowheads="1"/>
          </p:cNvSpPr>
          <p:nvPr>
            <p:ph type="title"/>
          </p:nvPr>
        </p:nvSpPr>
        <p:spPr/>
        <p:txBody>
          <a:bodyPr/>
          <a:lstStyle/>
          <a:p>
            <a:r>
              <a:rPr lang="en-US" sz="4000"/>
              <a:t>Operation Phase (reloaded)</a:t>
            </a:r>
          </a:p>
        </p:txBody>
      </p:sp>
      <p:sp>
        <p:nvSpPr>
          <p:cNvPr id="80901"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5</a:t>
            </a:r>
          </a:p>
        </p:txBody>
      </p:sp>
      <p:sp>
        <p:nvSpPr>
          <p:cNvPr id="80902"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grpSp>
        <p:nvGrpSpPr>
          <p:cNvPr id="80903" name="Group 6"/>
          <p:cNvGrpSpPr>
            <a:grpSpLocks/>
          </p:cNvGrpSpPr>
          <p:nvPr/>
        </p:nvGrpSpPr>
        <p:grpSpPr bwMode="auto">
          <a:xfrm flipH="1">
            <a:off x="852488" y="4953000"/>
            <a:ext cx="1219200" cy="1090613"/>
            <a:chOff x="1584" y="816"/>
            <a:chExt cx="912" cy="816"/>
          </a:xfrm>
        </p:grpSpPr>
        <p:sp>
          <p:nvSpPr>
            <p:cNvPr id="80947"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8"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9"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50"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51"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52"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53"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54"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55"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0904" name="Group 16"/>
          <p:cNvGrpSpPr>
            <a:grpSpLocks/>
          </p:cNvGrpSpPr>
          <p:nvPr/>
        </p:nvGrpSpPr>
        <p:grpSpPr bwMode="auto">
          <a:xfrm>
            <a:off x="2925763" y="4953000"/>
            <a:ext cx="1219200" cy="1090613"/>
            <a:chOff x="1584" y="816"/>
            <a:chExt cx="912" cy="816"/>
          </a:xfrm>
        </p:grpSpPr>
        <p:sp>
          <p:nvSpPr>
            <p:cNvPr id="80938"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9"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0"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1"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2"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3"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4"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5"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46"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80905"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80906"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80907" name="Group 30"/>
          <p:cNvGrpSpPr>
            <a:grpSpLocks/>
          </p:cNvGrpSpPr>
          <p:nvPr/>
        </p:nvGrpSpPr>
        <p:grpSpPr bwMode="auto">
          <a:xfrm flipH="1">
            <a:off x="4999038" y="4953000"/>
            <a:ext cx="1219200" cy="1090613"/>
            <a:chOff x="1584" y="816"/>
            <a:chExt cx="912" cy="816"/>
          </a:xfrm>
        </p:grpSpPr>
        <p:sp>
          <p:nvSpPr>
            <p:cNvPr id="80929"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0"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1"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2"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3"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4"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5"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6"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37"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0908" name="Group 40"/>
          <p:cNvGrpSpPr>
            <a:grpSpLocks/>
          </p:cNvGrpSpPr>
          <p:nvPr/>
        </p:nvGrpSpPr>
        <p:grpSpPr bwMode="auto">
          <a:xfrm>
            <a:off x="7072313" y="4953000"/>
            <a:ext cx="1219200" cy="1090613"/>
            <a:chOff x="1584" y="816"/>
            <a:chExt cx="912" cy="816"/>
          </a:xfrm>
        </p:grpSpPr>
        <p:sp>
          <p:nvSpPr>
            <p:cNvPr id="80920"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21"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22"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23"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24"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25"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26"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27"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28"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80909" name="Freeform 50"/>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a:latin typeface="Arial" pitchFamily="34" charset="0"/>
              <a:cs typeface="Arial" pitchFamily="34" charset="0"/>
            </a:endParaRPr>
          </a:p>
        </p:txBody>
      </p:sp>
      <p:sp>
        <p:nvSpPr>
          <p:cNvPr id="80910" name="Text Box 54"/>
          <p:cNvSpPr txBox="1">
            <a:spLocks noChangeArrowheads="1"/>
          </p:cNvSpPr>
          <p:nvPr/>
        </p:nvSpPr>
        <p:spPr bwMode="auto">
          <a:xfrm>
            <a:off x="4951413" y="2813050"/>
            <a:ext cx="2979737"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cs typeface="Arial" pitchFamily="34" charset="0"/>
              </a:rPr>
              <a:t>Leave value to be combined …</a:t>
            </a:r>
          </a:p>
        </p:txBody>
      </p:sp>
      <p:sp>
        <p:nvSpPr>
          <p:cNvPr id="80911" name="AutoShape 55"/>
          <p:cNvSpPr>
            <a:spLocks noChangeArrowheads="1"/>
          </p:cNvSpPr>
          <p:nvPr/>
        </p:nvSpPr>
        <p:spPr bwMode="auto">
          <a:xfrm>
            <a:off x="1676400" y="3276600"/>
            <a:ext cx="2057400" cy="990600"/>
          </a:xfrm>
          <a:prstGeom prst="wedgeRoundRectCallout">
            <a:avLst>
              <a:gd name="adj1" fmla="val 110495"/>
              <a:gd name="adj2" fmla="val -49838"/>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80912" name="Oval 56"/>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sp>
        <p:nvSpPr>
          <p:cNvPr id="80913" name="Text Box 57"/>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SECOND</a:t>
            </a:r>
          </a:p>
        </p:txBody>
      </p:sp>
      <p:grpSp>
        <p:nvGrpSpPr>
          <p:cNvPr id="80914" name="Group 58"/>
          <p:cNvGrpSpPr>
            <a:grpSpLocks/>
          </p:cNvGrpSpPr>
          <p:nvPr/>
        </p:nvGrpSpPr>
        <p:grpSpPr bwMode="auto">
          <a:xfrm>
            <a:off x="1708150" y="3352800"/>
            <a:ext cx="466725" cy="679450"/>
            <a:chOff x="2208" y="1920"/>
            <a:chExt cx="1152" cy="1680"/>
          </a:xfrm>
        </p:grpSpPr>
        <p:sp>
          <p:nvSpPr>
            <p:cNvPr id="80916" name="Oval 59"/>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17" name="Oval 60"/>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918" name="AutoShape 6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80919" name="AutoShape 6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80915" name="Text Box 63"/>
          <p:cNvSpPr txBox="1">
            <a:spLocks noChangeArrowheads="1"/>
          </p:cNvSpPr>
          <p:nvPr/>
        </p:nvSpPr>
        <p:spPr bwMode="auto">
          <a:xfrm>
            <a:off x="3071813" y="3695700"/>
            <a:ext cx="30797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Footer Placeholder 2"/>
          <p:cNvSpPr>
            <a:spLocks noGrp="1"/>
          </p:cNvSpPr>
          <p:nvPr>
            <p:ph type="ftr" sz="quarter" idx="10"/>
          </p:nvPr>
        </p:nvSpPr>
        <p:spPr/>
        <p:txBody>
          <a:bodyPr/>
          <a:lstStyle/>
          <a:p>
            <a:pPr>
              <a:defRPr/>
            </a:pPr>
            <a:r>
              <a:rPr lang="en-US"/>
              <a:t>Art of Multiprocessor Programming</a:t>
            </a:r>
          </a:p>
        </p:txBody>
      </p:sp>
      <p:sp>
        <p:nvSpPr>
          <p:cNvPr id="56" name="Slide Number Placeholder 3"/>
          <p:cNvSpPr>
            <a:spLocks noGrp="1"/>
          </p:cNvSpPr>
          <p:nvPr>
            <p:ph type="sldNum" sz="quarter" idx="11"/>
          </p:nvPr>
        </p:nvSpPr>
        <p:spPr/>
        <p:txBody>
          <a:bodyPr/>
          <a:lstStyle/>
          <a:p>
            <a:pPr>
              <a:defRPr/>
            </a:pPr>
            <a:fld id="{C70282FE-0153-4D8C-9FAF-35F47C918C7B}" type="slidenum">
              <a:rPr lang="en-US"/>
              <a:pPr>
                <a:defRPr/>
              </a:pPr>
              <a:t>81</a:t>
            </a:fld>
            <a:endParaRPr lang="en-US"/>
          </a:p>
        </p:txBody>
      </p:sp>
      <p:sp>
        <p:nvSpPr>
          <p:cNvPr id="81924" name="Rectangle 2"/>
          <p:cNvSpPr>
            <a:spLocks noGrp="1" noChangeArrowheads="1"/>
          </p:cNvSpPr>
          <p:nvPr>
            <p:ph type="title"/>
          </p:nvPr>
        </p:nvSpPr>
        <p:spPr/>
        <p:txBody>
          <a:bodyPr/>
          <a:lstStyle/>
          <a:p>
            <a:r>
              <a:rPr lang="en-US" sz="4000"/>
              <a:t>Operation Phase (reloaded)</a:t>
            </a:r>
          </a:p>
        </p:txBody>
      </p:sp>
      <p:sp>
        <p:nvSpPr>
          <p:cNvPr id="81925"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dirty="0">
                <a:solidFill>
                  <a:schemeClr val="accent1"/>
                </a:solidFill>
                <a:latin typeface="Arial" pitchFamily="34" charset="0"/>
              </a:rPr>
              <a:t>5</a:t>
            </a:r>
          </a:p>
        </p:txBody>
      </p:sp>
      <p:sp>
        <p:nvSpPr>
          <p:cNvPr id="81926"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dirty="0">
              <a:solidFill>
                <a:schemeClr val="folHlink"/>
              </a:solidFill>
              <a:latin typeface="Arial" pitchFamily="34" charset="0"/>
            </a:endParaRPr>
          </a:p>
        </p:txBody>
      </p:sp>
      <p:grpSp>
        <p:nvGrpSpPr>
          <p:cNvPr id="81927" name="Group 5"/>
          <p:cNvGrpSpPr>
            <a:grpSpLocks/>
          </p:cNvGrpSpPr>
          <p:nvPr/>
        </p:nvGrpSpPr>
        <p:grpSpPr bwMode="auto">
          <a:xfrm flipH="1">
            <a:off x="852488" y="4953000"/>
            <a:ext cx="1219200" cy="1090613"/>
            <a:chOff x="1584" y="816"/>
            <a:chExt cx="912" cy="816"/>
          </a:xfrm>
        </p:grpSpPr>
        <p:sp>
          <p:nvSpPr>
            <p:cNvPr id="81968"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69"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70" name="Freeform 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71"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81972"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81973"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81974" name="Freeform 1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75" name="Freeform 1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76" name="Freeform 1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1928" name="Group 15"/>
          <p:cNvGrpSpPr>
            <a:grpSpLocks/>
          </p:cNvGrpSpPr>
          <p:nvPr/>
        </p:nvGrpSpPr>
        <p:grpSpPr bwMode="auto">
          <a:xfrm>
            <a:off x="2925763" y="4953000"/>
            <a:ext cx="1219200" cy="1090613"/>
            <a:chOff x="1584" y="816"/>
            <a:chExt cx="912" cy="816"/>
          </a:xfrm>
        </p:grpSpPr>
        <p:sp>
          <p:nvSpPr>
            <p:cNvPr id="81959"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60"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61" name="Freeform 18"/>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62"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81963"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81964"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81965" name="Freeform 22"/>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66" name="Freeform 23"/>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67" name="Freeform 24"/>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1929" name="Line 27"/>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sp>
        <p:nvSpPr>
          <p:cNvPr id="81930" name="Line 28"/>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dirty="0">
              <a:latin typeface="Courier New" pitchFamily="49" charset="0"/>
            </a:endParaRPr>
          </a:p>
        </p:txBody>
      </p:sp>
      <p:grpSp>
        <p:nvGrpSpPr>
          <p:cNvPr id="81931" name="Group 29"/>
          <p:cNvGrpSpPr>
            <a:grpSpLocks/>
          </p:cNvGrpSpPr>
          <p:nvPr/>
        </p:nvGrpSpPr>
        <p:grpSpPr bwMode="auto">
          <a:xfrm flipH="1">
            <a:off x="4999038" y="4953000"/>
            <a:ext cx="1219200" cy="1090613"/>
            <a:chOff x="1584" y="816"/>
            <a:chExt cx="912" cy="816"/>
          </a:xfrm>
        </p:grpSpPr>
        <p:sp>
          <p:nvSpPr>
            <p:cNvPr id="81950" name="Freeform 3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51" name="Freeform 3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52" name="Freeform 32"/>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53" name="Freeform 3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81954" name="Freeform 3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81955" name="Freeform 3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81956" name="Freeform 36"/>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57" name="Freeform 37"/>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58" name="Freeform 38"/>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1932" name="Group 39"/>
          <p:cNvGrpSpPr>
            <a:grpSpLocks/>
          </p:cNvGrpSpPr>
          <p:nvPr/>
        </p:nvGrpSpPr>
        <p:grpSpPr bwMode="auto">
          <a:xfrm>
            <a:off x="7072313" y="4953000"/>
            <a:ext cx="1219200" cy="1090613"/>
            <a:chOff x="1584" y="816"/>
            <a:chExt cx="912" cy="816"/>
          </a:xfrm>
        </p:grpSpPr>
        <p:sp>
          <p:nvSpPr>
            <p:cNvPr id="81941" name="Freeform 4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42" name="Freeform 4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43" name="Freeform 42"/>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44" name="Freeform 4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81945" name="Freeform 4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81946" name="Freeform 4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81947" name="Freeform 46"/>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48" name="Freeform 47"/>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49" name="Freeform 48"/>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1933" name="Freeform 49"/>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dirty="0">
              <a:latin typeface="Courier New" pitchFamily="49" charset="0"/>
            </a:endParaRPr>
          </a:p>
        </p:txBody>
      </p:sp>
      <p:sp>
        <p:nvSpPr>
          <p:cNvPr id="81934" name="Text Box 50"/>
          <p:cNvSpPr txBox="1">
            <a:spLocks noChangeArrowheads="1"/>
          </p:cNvSpPr>
          <p:nvPr/>
        </p:nvSpPr>
        <p:spPr bwMode="auto">
          <a:xfrm>
            <a:off x="3336925" y="4191000"/>
            <a:ext cx="555625" cy="457200"/>
          </a:xfrm>
          <a:prstGeom prst="rect">
            <a:avLst/>
          </a:prstGeom>
          <a:noFill/>
          <a:ln w="9525">
            <a:noFill/>
            <a:miter lim="800000"/>
            <a:headEnd/>
            <a:tailEnd/>
          </a:ln>
        </p:spPr>
        <p:txBody>
          <a:bodyPr wrap="none">
            <a:spAutoFit/>
          </a:bodyPr>
          <a:lstStyle/>
          <a:p>
            <a:pPr algn="ctr">
              <a:spcBef>
                <a:spcPct val="0"/>
              </a:spcBef>
            </a:pPr>
            <a:r>
              <a:rPr lang="en-US" dirty="0">
                <a:solidFill>
                  <a:srgbClr val="FFFF00"/>
                </a:solidFill>
                <a:latin typeface="Arial" pitchFamily="34" charset="0"/>
              </a:rPr>
              <a:t>+2</a:t>
            </a:r>
          </a:p>
        </p:txBody>
      </p:sp>
      <p:sp>
        <p:nvSpPr>
          <p:cNvPr id="81935" name="Text Box 51"/>
          <p:cNvSpPr txBox="1">
            <a:spLocks noChangeArrowheads="1"/>
          </p:cNvSpPr>
          <p:nvPr/>
        </p:nvSpPr>
        <p:spPr bwMode="auto">
          <a:xfrm>
            <a:off x="4951413" y="3092450"/>
            <a:ext cx="2979737"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chemeClr val="accent1"/>
                </a:solidFill>
                <a:latin typeface="Arial" pitchFamily="34" charset="0"/>
              </a:rPr>
              <a:t>Unlock, and wait …</a:t>
            </a:r>
          </a:p>
        </p:txBody>
      </p:sp>
      <p:sp>
        <p:nvSpPr>
          <p:cNvPr id="81936" name="AutoShape 52"/>
          <p:cNvSpPr>
            <a:spLocks noChangeArrowheads="1"/>
          </p:cNvSpPr>
          <p:nvPr/>
        </p:nvSpPr>
        <p:spPr bwMode="auto">
          <a:xfrm>
            <a:off x="1676400" y="3276600"/>
            <a:ext cx="2057400" cy="990600"/>
          </a:xfrm>
          <a:prstGeom prst="wedgeRoundRectCallout">
            <a:avLst>
              <a:gd name="adj1" fmla="val 131634"/>
              <a:gd name="adj2" fmla="val -16028"/>
              <a:gd name="adj3" fmla="val 16667"/>
            </a:avLst>
          </a:prstGeom>
          <a:noFill/>
          <a:ln w="38100">
            <a:solidFill>
              <a:schemeClr val="accent1"/>
            </a:solidFill>
            <a:miter lim="800000"/>
            <a:headEnd/>
            <a:tailEnd/>
          </a:ln>
        </p:spPr>
        <p:txBody>
          <a:bodyPr anchor="ctr"/>
          <a:lstStyle/>
          <a:p>
            <a:pPr algn="ctr">
              <a:spcBef>
                <a:spcPct val="0"/>
              </a:spcBef>
            </a:pPr>
            <a:endParaRPr lang="en-US" sz="4000" dirty="0">
              <a:latin typeface="Arial" pitchFamily="34" charset="0"/>
            </a:endParaRPr>
          </a:p>
        </p:txBody>
      </p:sp>
      <p:sp>
        <p:nvSpPr>
          <p:cNvPr id="81937" name="Oval 53"/>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dirty="0">
              <a:latin typeface="Arial" pitchFamily="34" charset="0"/>
            </a:endParaRPr>
          </a:p>
        </p:txBody>
      </p:sp>
      <p:sp>
        <p:nvSpPr>
          <p:cNvPr id="81938" name="Text Box 54"/>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dirty="0">
                <a:solidFill>
                  <a:schemeClr val="tx1"/>
                </a:solidFill>
                <a:latin typeface="Arial" pitchFamily="34" charset="0"/>
              </a:rPr>
              <a:t>SECOND</a:t>
            </a:r>
          </a:p>
        </p:txBody>
      </p:sp>
      <p:sp>
        <p:nvSpPr>
          <p:cNvPr id="81939" name="Text Box 60"/>
          <p:cNvSpPr txBox="1">
            <a:spLocks noChangeArrowheads="1"/>
          </p:cNvSpPr>
          <p:nvPr/>
        </p:nvSpPr>
        <p:spPr bwMode="auto">
          <a:xfrm>
            <a:off x="3071813" y="3695700"/>
            <a:ext cx="30797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dirty="0">
                <a:solidFill>
                  <a:schemeClr val="tx1"/>
                </a:solidFill>
                <a:latin typeface="Arial" pitchFamily="34" charset="0"/>
              </a:rPr>
              <a:t>2</a:t>
            </a:r>
          </a:p>
        </p:txBody>
      </p:sp>
      <p:sp>
        <p:nvSpPr>
          <p:cNvPr id="81940" name="AutoShape 61"/>
          <p:cNvSpPr>
            <a:spLocks noChangeArrowheads="1"/>
          </p:cNvSpPr>
          <p:nvPr/>
        </p:nvSpPr>
        <p:spPr bwMode="auto">
          <a:xfrm>
            <a:off x="4144963" y="4495800"/>
            <a:ext cx="1323975" cy="585788"/>
          </a:xfrm>
          <a:prstGeom prst="cloudCallout">
            <a:avLst>
              <a:gd name="adj1" fmla="val -43750"/>
              <a:gd name="adj2" fmla="val 70000"/>
            </a:avLst>
          </a:prstGeom>
          <a:solidFill>
            <a:srgbClr val="FFFF00"/>
          </a:solidFill>
          <a:ln w="38100">
            <a:solidFill>
              <a:schemeClr val="tx1"/>
            </a:solidFill>
            <a:round/>
            <a:headEnd/>
            <a:tailEnd/>
          </a:ln>
        </p:spPr>
        <p:txBody>
          <a:bodyPr/>
          <a:lstStyle/>
          <a:p>
            <a:pPr marL="342900" indent="-342900" algn="ctr"/>
            <a:r>
              <a:rPr lang="en-US" dirty="0" err="1">
                <a:solidFill>
                  <a:schemeClr val="tx1"/>
                </a:solidFill>
                <a:latin typeface="Courier New" pitchFamily="49" charset="0"/>
              </a:rPr>
              <a:t>zzz</a:t>
            </a:r>
            <a:endParaRPr lang="en-US" dirty="0">
              <a:latin typeface="Courier New" pitchFamily="49"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F18A8B5B-B168-4C2C-B6A8-9C481C0BEB4B}" type="slidenum">
              <a:rPr lang="en-US"/>
              <a:pPr>
                <a:defRPr/>
              </a:pPr>
              <a:t>82</a:t>
            </a:fld>
            <a:endParaRPr lang="en-US"/>
          </a:p>
        </p:txBody>
      </p:sp>
      <p:sp>
        <p:nvSpPr>
          <p:cNvPr id="82948" name="Rectangle 2"/>
          <p:cNvSpPr>
            <a:spLocks noGrp="1" noChangeArrowheads="1"/>
          </p:cNvSpPr>
          <p:nvPr>
            <p:ph type="title"/>
          </p:nvPr>
        </p:nvSpPr>
        <p:spPr/>
        <p:txBody>
          <a:bodyPr/>
          <a:lstStyle/>
          <a:p>
            <a:r>
              <a:rPr lang="en-US"/>
              <a:t>Operation Phase Navigation</a:t>
            </a:r>
          </a:p>
        </p:txBody>
      </p:sp>
      <p:sp>
        <p:nvSpPr>
          <p:cNvPr id="82949" name="Rectangle 3"/>
          <p:cNvSpPr>
            <a:spLocks noChangeArrowheads="1"/>
          </p:cNvSpPr>
          <p:nvPr/>
        </p:nvSpPr>
        <p:spPr bwMode="auto">
          <a:xfrm>
            <a:off x="947738" y="1752600"/>
            <a:ext cx="7586662" cy="457200"/>
          </a:xfrm>
          <a:prstGeom prst="rect">
            <a:avLst/>
          </a:prstGeom>
          <a:solidFill>
            <a:srgbClr val="FFFFCC"/>
          </a:solidFill>
          <a:ln w="9525">
            <a:noFill/>
            <a:miter lim="800000"/>
            <a:headEnd/>
            <a:tailEnd/>
          </a:ln>
        </p:spPr>
        <p:txBody>
          <a:bodyPr>
            <a:spAutoFit/>
          </a:bodyPr>
          <a:lstStyle/>
          <a:p>
            <a:pPr marL="342900" indent="-342900"/>
            <a:r>
              <a:rPr lang="en-US" dirty="0">
                <a:latin typeface="Courier New" pitchFamily="49" charset="0"/>
              </a:rPr>
              <a:t>prior = </a:t>
            </a:r>
            <a:r>
              <a:rPr lang="en-US" dirty="0" err="1">
                <a:latin typeface="Courier New" pitchFamily="49" charset="0"/>
              </a:rPr>
              <a:t>stop.op</a:t>
            </a:r>
            <a:r>
              <a:rPr lang="en-US" dirty="0">
                <a:latin typeface="Courier New" pitchFamily="49" charset="0"/>
              </a:rPr>
              <a:t>(combined);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7D817644-B51A-4B5D-ADE4-B07038C61B89}" type="slidenum">
              <a:rPr lang="en-US"/>
              <a:pPr>
                <a:defRPr/>
              </a:pPr>
              <a:t>83</a:t>
            </a:fld>
            <a:endParaRPr lang="en-US"/>
          </a:p>
        </p:txBody>
      </p:sp>
      <p:sp>
        <p:nvSpPr>
          <p:cNvPr id="83972" name="Rectangle 2"/>
          <p:cNvSpPr>
            <a:spLocks noGrp="1" noChangeArrowheads="1"/>
          </p:cNvSpPr>
          <p:nvPr>
            <p:ph type="title"/>
          </p:nvPr>
        </p:nvSpPr>
        <p:spPr/>
        <p:txBody>
          <a:bodyPr/>
          <a:lstStyle/>
          <a:p>
            <a:r>
              <a:rPr lang="en-US"/>
              <a:t>Operation Phase Navigation</a:t>
            </a:r>
          </a:p>
        </p:txBody>
      </p:sp>
      <p:sp>
        <p:nvSpPr>
          <p:cNvPr id="83973" name="Rectangle 3"/>
          <p:cNvSpPr>
            <a:spLocks noChangeArrowheads="1"/>
          </p:cNvSpPr>
          <p:nvPr/>
        </p:nvSpPr>
        <p:spPr bwMode="auto">
          <a:xfrm>
            <a:off x="947738" y="1752600"/>
            <a:ext cx="6299200" cy="457200"/>
          </a:xfrm>
          <a:prstGeom prst="rect">
            <a:avLst/>
          </a:prstGeom>
          <a:solidFill>
            <a:srgbClr val="FFFFCC"/>
          </a:solidFill>
          <a:ln w="9525">
            <a:noFill/>
            <a:miter lim="800000"/>
            <a:headEnd/>
            <a:tailEnd/>
          </a:ln>
        </p:spPr>
        <p:txBody>
          <a:bodyPr>
            <a:spAutoFit/>
          </a:bodyPr>
          <a:lstStyle/>
          <a:p>
            <a:pPr marL="342900" indent="-342900"/>
            <a:r>
              <a:rPr lang="en-US" dirty="0">
                <a:latin typeface="Courier New" pitchFamily="49" charset="0"/>
              </a:rPr>
              <a:t>prior = </a:t>
            </a:r>
            <a:r>
              <a:rPr lang="en-US" dirty="0" err="1">
                <a:latin typeface="Courier New" pitchFamily="49" charset="0"/>
              </a:rPr>
              <a:t>stop.op</a:t>
            </a:r>
            <a:r>
              <a:rPr lang="en-US" dirty="0">
                <a:latin typeface="Courier New" pitchFamily="49" charset="0"/>
              </a:rPr>
              <a:t>(combined);</a:t>
            </a:r>
          </a:p>
        </p:txBody>
      </p:sp>
      <p:sp>
        <p:nvSpPr>
          <p:cNvPr id="83974" name="Text Box 4"/>
          <p:cNvSpPr txBox="1">
            <a:spLocks noChangeArrowheads="1"/>
          </p:cNvSpPr>
          <p:nvPr/>
        </p:nvSpPr>
        <p:spPr bwMode="auto">
          <a:xfrm>
            <a:off x="465138" y="4325938"/>
            <a:ext cx="7488237" cy="1373187"/>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The node where we stopped.</a:t>
            </a:r>
          </a:p>
          <a:p>
            <a:pPr algn="ctr">
              <a:spcBef>
                <a:spcPct val="0"/>
              </a:spcBef>
            </a:pPr>
            <a:r>
              <a:rPr lang="en-US" sz="2800" dirty="0">
                <a:solidFill>
                  <a:srgbClr val="FF0000"/>
                </a:solidFill>
                <a:latin typeface="Arial" pitchFamily="34" charset="0"/>
                <a:cs typeface="Arial" pitchFamily="34" charset="0"/>
              </a:rPr>
              <a:t>Provide collected sum and wait for combining result</a:t>
            </a:r>
          </a:p>
        </p:txBody>
      </p:sp>
      <p:sp>
        <p:nvSpPr>
          <p:cNvPr id="83975" name="AutoShape 5"/>
          <p:cNvSpPr>
            <a:spLocks noChangeArrowheads="1"/>
          </p:cNvSpPr>
          <p:nvPr/>
        </p:nvSpPr>
        <p:spPr bwMode="auto">
          <a:xfrm>
            <a:off x="947738" y="1611313"/>
            <a:ext cx="5865812" cy="731837"/>
          </a:xfrm>
          <a:prstGeom prst="wedgeRoundRectCallout">
            <a:avLst>
              <a:gd name="adj1" fmla="val -16440"/>
              <a:gd name="adj2" fmla="val 316162"/>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8E4EBD8F-3050-4ED9-92D9-B4402E144E8C}" type="slidenum">
              <a:rPr lang="en-US"/>
              <a:pPr>
                <a:defRPr/>
              </a:pPr>
              <a:t>84</a:t>
            </a:fld>
            <a:endParaRPr lang="en-US"/>
          </a:p>
        </p:txBody>
      </p:sp>
      <p:sp>
        <p:nvSpPr>
          <p:cNvPr id="84996" name="Rectangle 2"/>
          <p:cNvSpPr>
            <a:spLocks noGrp="1" noChangeArrowheads="1"/>
          </p:cNvSpPr>
          <p:nvPr>
            <p:ph type="title"/>
          </p:nvPr>
        </p:nvSpPr>
        <p:spPr/>
        <p:txBody>
          <a:bodyPr/>
          <a:lstStyle/>
          <a:p>
            <a:r>
              <a:rPr lang="en-US"/>
              <a:t>Operation on Stopped Node</a:t>
            </a:r>
          </a:p>
        </p:txBody>
      </p:sp>
      <p:sp>
        <p:nvSpPr>
          <p:cNvPr id="84997" name="Rectangle 3"/>
          <p:cNvSpPr>
            <a:spLocks noChangeArrowheads="1"/>
          </p:cNvSpPr>
          <p:nvPr/>
        </p:nvSpPr>
        <p:spPr bwMode="auto">
          <a:xfrm>
            <a:off x="947738" y="1517650"/>
            <a:ext cx="7586662" cy="4462463"/>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tx1"/>
                </a:solidFill>
                <a:latin typeface="Courier New" pitchFamily="49" charset="0"/>
              </a:rPr>
              <a:t>synchronized</a:t>
            </a:r>
            <a:r>
              <a:rPr lang="en-US" sz="2000" dirty="0">
                <a:latin typeface="Courier New" pitchFamily="49" charset="0"/>
              </a:rPr>
              <a:t> </a:t>
            </a:r>
            <a:r>
              <a:rPr lang="en-US" sz="2000" dirty="0" err="1">
                <a:latin typeface="Courier New" pitchFamily="49" charset="0"/>
              </a:rPr>
              <a:t>int</a:t>
            </a:r>
            <a:r>
              <a:rPr lang="en-US" sz="2000" dirty="0">
                <a:latin typeface="Courier New" pitchFamily="49" charset="0"/>
              </a:rPr>
              <a:t> op(</a:t>
            </a:r>
            <a:r>
              <a:rPr lang="en-US" sz="2000" dirty="0" err="1">
                <a:latin typeface="Courier New" pitchFamily="49" charset="0"/>
              </a:rPr>
              <a:t>int</a:t>
            </a:r>
            <a:r>
              <a:rPr lang="en-US" sz="2000" dirty="0">
                <a:latin typeface="Courier New" pitchFamily="49" charset="0"/>
              </a:rPr>
              <a:t> combined) {</a:t>
            </a:r>
          </a:p>
          <a:p>
            <a:pPr marL="342900" indent="-342900"/>
            <a:r>
              <a:rPr lang="en-US" sz="2000" dirty="0">
                <a:latin typeface="Courier New" pitchFamily="49" charset="0"/>
              </a:rPr>
              <a:t>  </a:t>
            </a:r>
            <a:r>
              <a:rPr lang="en-US" sz="2000" dirty="0">
                <a:solidFill>
                  <a:schemeClr val="tx1"/>
                </a:solidFill>
                <a:latin typeface="Courier New" pitchFamily="49" charset="0"/>
              </a:rPr>
              <a:t>switch</a:t>
            </a:r>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ROOT: </a:t>
            </a:r>
            <a:r>
              <a:rPr lang="en-US" sz="2000" dirty="0" err="1">
                <a:latin typeface="Courier New" pitchFamily="49" charset="0"/>
              </a:rPr>
              <a:t>int</a:t>
            </a:r>
            <a:r>
              <a:rPr lang="en-US" sz="2000" dirty="0">
                <a:latin typeface="Courier New" pitchFamily="49" charset="0"/>
              </a:rPr>
              <a:t> prior = result;</a:t>
            </a:r>
          </a:p>
          <a:p>
            <a:pPr marL="342900" indent="-342900"/>
            <a:r>
              <a:rPr lang="en-US" sz="2000" dirty="0">
                <a:latin typeface="Courier New" pitchFamily="49" charset="0"/>
              </a:rPr>
              <a:t>      result += combined;</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prior;</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SECOND: </a:t>
            </a:r>
            <a:r>
              <a:rPr lang="en-US" sz="2000" dirty="0" err="1">
                <a:latin typeface="Courier New" pitchFamily="49" charset="0"/>
              </a:rPr>
              <a:t>secondValue</a:t>
            </a:r>
            <a:r>
              <a:rPr lang="en-US" sz="2000" dirty="0">
                <a:latin typeface="Courier New" pitchFamily="49" charset="0"/>
              </a:rPr>
              <a:t> = combined;</a:t>
            </a:r>
          </a:p>
          <a:p>
            <a:pPr marL="342900" indent="-342900"/>
            <a:r>
              <a:rPr lang="en-US" sz="2000" dirty="0">
                <a:latin typeface="Courier New" pitchFamily="49" charset="0"/>
              </a:rPr>
              <a:t>      locked = false; </a:t>
            </a:r>
            <a:r>
              <a:rPr lang="en-US" sz="2000" dirty="0" err="1">
                <a:latin typeface="Courier New" pitchFamily="49" charset="0"/>
              </a:rPr>
              <a:t>notifyAll</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while</a:t>
            </a:r>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CStatus.RESULT</a:t>
            </a:r>
            <a:r>
              <a:rPr lang="en-US" sz="2000" dirty="0">
                <a:latin typeface="Courier New" pitchFamily="49" charset="0"/>
              </a:rPr>
              <a:t>) wait();</a:t>
            </a:r>
          </a:p>
          <a:p>
            <a:pPr marL="342900" indent="-342900"/>
            <a:r>
              <a:rPr lang="en-US" sz="2000" dirty="0">
                <a:latin typeface="Courier New" pitchFamily="49" charset="0"/>
              </a:rPr>
              <a:t>      locked = false; </a:t>
            </a:r>
            <a:r>
              <a:rPr lang="en-US" sz="2000" dirty="0" err="1">
                <a:latin typeface="Courier New" pitchFamily="49" charset="0"/>
              </a:rPr>
              <a:t>notifyAll</a:t>
            </a:r>
            <a:r>
              <a:rPr lang="en-US" sz="2000" dirty="0">
                <a:latin typeface="Courier New" pitchFamily="49" charset="0"/>
              </a:rPr>
              <a:t>();</a:t>
            </a:r>
          </a:p>
          <a:p>
            <a:pPr marL="342900" indent="-342900"/>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CStatus.IDLE</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result;</a:t>
            </a:r>
          </a:p>
          <a:p>
            <a:pPr marL="342900" indent="-342900"/>
            <a:r>
              <a:rPr lang="en-US" sz="2000" dirty="0">
                <a:latin typeface="Courier New" pitchFamily="49" charset="0"/>
              </a:rPr>
              <a:t>    </a:t>
            </a:r>
            <a:r>
              <a:rPr lang="en-US" sz="2000" dirty="0">
                <a:solidFill>
                  <a:schemeClr val="tx1"/>
                </a:solidFill>
                <a:latin typeface="Courier New" pitchFamily="49" charset="0"/>
              </a:rPr>
              <a:t>default</a:t>
            </a:r>
            <a:r>
              <a:rPr lang="en-US" sz="2000" dirty="0">
                <a:latin typeface="Courier New" pitchFamily="49" charset="0"/>
              </a:rPr>
              <a:t>: …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668D5115-D189-41FE-88F5-C00A362630D2}" type="slidenum">
              <a:rPr lang="en-US"/>
              <a:pPr>
                <a:defRPr/>
              </a:pPr>
              <a:t>85</a:t>
            </a:fld>
            <a:endParaRPr lang="en-US"/>
          </a:p>
        </p:txBody>
      </p:sp>
      <p:sp>
        <p:nvSpPr>
          <p:cNvPr id="86020" name="Rectangle 7"/>
          <p:cNvSpPr>
            <a:spLocks noChangeArrowheads="1"/>
          </p:cNvSpPr>
          <p:nvPr/>
        </p:nvSpPr>
        <p:spPr bwMode="auto">
          <a:xfrm>
            <a:off x="947738" y="1517650"/>
            <a:ext cx="7586662" cy="4462463"/>
          </a:xfrm>
          <a:prstGeom prst="rect">
            <a:avLst/>
          </a:prstGeom>
          <a:solidFill>
            <a:srgbClr val="FFFFCC"/>
          </a:solidFill>
          <a:ln w="9525">
            <a:noFill/>
            <a:miter lim="800000"/>
            <a:headEnd/>
            <a:tailEnd/>
          </a:ln>
        </p:spPr>
        <p:txBody>
          <a:bodyPr>
            <a:spAutoFit/>
          </a:bodyPr>
          <a:lstStyle/>
          <a:p>
            <a:pPr marL="342900" indent="-342900">
              <a:defRPr/>
            </a:pPr>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op(</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defRPr/>
            </a:pPr>
            <a:r>
              <a:rPr lang="en-US" sz="2000" dirty="0">
                <a:solidFill>
                  <a:schemeClr val="folHlink"/>
                </a:solidFill>
                <a:latin typeface="Courier New" pitchFamily="49" charset="0"/>
              </a:rPr>
              <a:t>  </a:t>
            </a:r>
            <a:r>
              <a:rPr lang="en-US" sz="2000" dirty="0">
                <a:solidFill>
                  <a:schemeClr val="tx1"/>
                </a:solidFill>
                <a:latin typeface="Courier New" pitchFamily="49" charset="0"/>
              </a:rPr>
              <a:t>switch</a:t>
            </a:r>
            <a:r>
              <a:rPr lang="en-US" sz="2000" dirty="0">
                <a:solidFill>
                  <a:schemeClr val="folHlink"/>
                </a:solidFill>
                <a:latin typeface="Courier New" pitchFamily="49" charset="0"/>
              </a:rPr>
              <a:t> </a:t>
            </a:r>
            <a:r>
              <a:rPr lang="en-US" sz="2000" dirty="0">
                <a:latin typeface="Courier New" pitchFamily="49" charset="0"/>
              </a:rPr>
              <a:t>(</a:t>
            </a:r>
            <a:r>
              <a:rPr lang="en-US" sz="2000" dirty="0" err="1">
                <a:latin typeface="Courier New" pitchFamily="49" charset="0"/>
              </a:rPr>
              <a:t>cStatus</a:t>
            </a:r>
            <a:r>
              <a:rPr lang="en-US" sz="2000" dirty="0">
                <a:latin typeface="Courier New" pitchFamily="49" charset="0"/>
              </a:rPr>
              <a:t>) </a:t>
            </a:r>
            <a:r>
              <a:rPr lang="en-US" sz="2000" dirty="0">
                <a:solidFill>
                  <a:schemeClr val="folHlink"/>
                </a:solidFill>
                <a:latin typeface="Courier New" pitchFamily="49" charset="0"/>
              </a:rPr>
              <a:t>{</a:t>
            </a:r>
          </a:p>
          <a:p>
            <a:pPr marL="342900" indent="-342900">
              <a:defRPr/>
            </a:pPr>
            <a:r>
              <a:rPr lang="en-US" sz="2000" dirty="0">
                <a:latin typeface="Courier New" pitchFamily="49" charset="0"/>
              </a:rPr>
              <a:t>    </a:t>
            </a:r>
            <a:r>
              <a:rPr lang="en-US" sz="2000" dirty="0">
                <a:solidFill>
                  <a:schemeClr val="bg1">
                    <a:lumMod val="75000"/>
                  </a:schemeClr>
                </a:solidFill>
                <a:latin typeface="Courier New" pitchFamily="49" charset="0"/>
              </a:rPr>
              <a:t>case ROOT: </a:t>
            </a:r>
            <a:r>
              <a:rPr lang="en-US" sz="2000" dirty="0" err="1">
                <a:solidFill>
                  <a:schemeClr val="bg1">
                    <a:lumMod val="75000"/>
                  </a:schemeClr>
                </a:solidFill>
                <a:latin typeface="Courier New" pitchFamily="49" charset="0"/>
              </a:rPr>
              <a:t>int</a:t>
            </a:r>
            <a:r>
              <a:rPr lang="en-US" sz="2000" dirty="0">
                <a:solidFill>
                  <a:schemeClr val="bg1">
                    <a:lumMod val="75000"/>
                  </a:schemeClr>
                </a:solidFill>
                <a:latin typeface="Courier New" pitchFamily="49" charset="0"/>
              </a:rPr>
              <a:t> prior = result;</a:t>
            </a:r>
          </a:p>
          <a:p>
            <a:pPr marL="342900" indent="-342900">
              <a:defRPr/>
            </a:pPr>
            <a:r>
              <a:rPr lang="en-US" sz="2000" dirty="0">
                <a:solidFill>
                  <a:schemeClr val="bg1">
                    <a:lumMod val="75000"/>
                  </a:schemeClr>
                </a:solidFill>
                <a:latin typeface="Courier New" pitchFamily="49" charset="0"/>
              </a:rPr>
              <a:t>      result += combined;</a:t>
            </a:r>
          </a:p>
          <a:p>
            <a:pPr marL="342900" indent="-342900">
              <a:defRPr/>
            </a:pPr>
            <a:r>
              <a:rPr lang="en-US" sz="2000" dirty="0">
                <a:solidFill>
                  <a:schemeClr val="bg1">
                    <a:lumMod val="75000"/>
                  </a:schemeClr>
                </a:solidFill>
                <a:latin typeface="Courier New" pitchFamily="49" charset="0"/>
              </a:rPr>
              <a:t>      return prior;</a:t>
            </a:r>
          </a:p>
          <a:p>
            <a:pPr marL="342900" indent="-342900">
              <a:defRPr/>
            </a:pPr>
            <a:r>
              <a:rPr lang="en-US" sz="2000" dirty="0">
                <a:solidFill>
                  <a:schemeClr val="bg1">
                    <a:lumMod val="75000"/>
                  </a:schemeClr>
                </a:solidFill>
                <a:latin typeface="Courier New" pitchFamily="49" charset="0"/>
              </a:rPr>
              <a:t>    case SECOND: </a:t>
            </a:r>
            <a:r>
              <a:rPr lang="en-US" sz="2000" dirty="0" err="1">
                <a:solidFill>
                  <a:schemeClr val="bg1">
                    <a:lumMod val="75000"/>
                  </a:schemeClr>
                </a:solidFill>
                <a:latin typeface="Courier New" pitchFamily="49" charset="0"/>
              </a:rPr>
              <a:t>secondValue</a:t>
            </a:r>
            <a:r>
              <a:rPr lang="en-US" sz="2000" dirty="0">
                <a:solidFill>
                  <a:schemeClr val="bg1">
                    <a:lumMod val="75000"/>
                  </a:schemeClr>
                </a:solidFill>
                <a:latin typeface="Courier New" pitchFamily="49" charset="0"/>
              </a:rPr>
              <a:t> = combined;</a:t>
            </a:r>
          </a:p>
          <a:p>
            <a:pPr marL="342900" indent="-342900">
              <a:defRPr/>
            </a:pPr>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defRPr/>
            </a:pPr>
            <a:r>
              <a:rPr lang="en-US" sz="2000" dirty="0">
                <a:solidFill>
                  <a:schemeClr val="folHlink"/>
                </a:solidFill>
                <a:latin typeface="Courier New" pitchFamily="49" charset="0"/>
              </a:rPr>
              <a:t>      while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CStatus.RESULT</a:t>
            </a:r>
            <a:r>
              <a:rPr lang="en-US" sz="2000" dirty="0">
                <a:solidFill>
                  <a:schemeClr val="folHlink"/>
                </a:solidFill>
                <a:latin typeface="Courier New" pitchFamily="49" charset="0"/>
              </a:rPr>
              <a:t>) wait();</a:t>
            </a:r>
          </a:p>
          <a:p>
            <a:pPr marL="342900" indent="-342900">
              <a:defRPr/>
            </a:pPr>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defRPr/>
            </a:pP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CStatus.IDLE</a:t>
            </a:r>
            <a:r>
              <a:rPr lang="en-US" sz="2000" dirty="0">
                <a:solidFill>
                  <a:schemeClr val="folHlink"/>
                </a:solidFill>
                <a:latin typeface="Courier New" pitchFamily="49" charset="0"/>
              </a:rPr>
              <a:t>;</a:t>
            </a:r>
          </a:p>
          <a:p>
            <a:pPr marL="342900" indent="-342900">
              <a:defRPr/>
            </a:pPr>
            <a:r>
              <a:rPr lang="en-US" sz="2000" dirty="0">
                <a:solidFill>
                  <a:schemeClr val="folHlink"/>
                </a:solidFill>
                <a:latin typeface="Courier New" pitchFamily="49" charset="0"/>
              </a:rPr>
              <a:t>      return result;</a:t>
            </a:r>
          </a:p>
          <a:p>
            <a:pPr marL="342900" indent="-342900">
              <a:defRPr/>
            </a:pPr>
            <a:r>
              <a:rPr lang="en-US" sz="2000" dirty="0">
                <a:solidFill>
                  <a:schemeClr val="folHlink"/>
                </a:solidFill>
                <a:latin typeface="Courier New" pitchFamily="49" charset="0"/>
              </a:rPr>
              <a:t>    default: …</a:t>
            </a:r>
            <a:r>
              <a:rPr lang="en-US" sz="2000" dirty="0">
                <a:latin typeface="Courier New" pitchFamily="49" charset="0"/>
              </a:rPr>
              <a:t>    </a:t>
            </a:r>
          </a:p>
        </p:txBody>
      </p:sp>
      <p:sp>
        <p:nvSpPr>
          <p:cNvPr id="86021" name="Rectangle 2"/>
          <p:cNvSpPr>
            <a:spLocks noGrp="1" noChangeArrowheads="1"/>
          </p:cNvSpPr>
          <p:nvPr>
            <p:ph type="title"/>
          </p:nvPr>
        </p:nvSpPr>
        <p:spPr>
          <a:xfrm>
            <a:off x="685800" y="358775"/>
            <a:ext cx="7772400" cy="1143000"/>
          </a:xfrm>
        </p:spPr>
        <p:txBody>
          <a:bodyPr/>
          <a:lstStyle/>
          <a:p>
            <a:r>
              <a:rPr lang="en-US"/>
              <a:t>Op States of Stop Node</a:t>
            </a:r>
          </a:p>
        </p:txBody>
      </p:sp>
      <p:sp>
        <p:nvSpPr>
          <p:cNvPr id="86022" name="Text Box 4"/>
          <p:cNvSpPr txBox="1">
            <a:spLocks noChangeArrowheads="1"/>
          </p:cNvSpPr>
          <p:nvPr/>
        </p:nvSpPr>
        <p:spPr bwMode="auto">
          <a:xfrm>
            <a:off x="1831975" y="2995613"/>
            <a:ext cx="6416675" cy="946150"/>
          </a:xfrm>
          <a:prstGeom prst="rect">
            <a:avLst/>
          </a:prstGeom>
          <a:solidFill>
            <a:srgbClr val="FFFFCC">
              <a:alpha val="80000"/>
            </a:srgbClr>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Only ROOT and SECOND possible. Why?</a:t>
            </a:r>
          </a:p>
        </p:txBody>
      </p:sp>
      <p:sp>
        <p:nvSpPr>
          <p:cNvPr id="86023" name="AutoShape 5"/>
          <p:cNvSpPr>
            <a:spLocks noChangeArrowheads="1"/>
          </p:cNvSpPr>
          <p:nvPr/>
        </p:nvSpPr>
        <p:spPr bwMode="auto">
          <a:xfrm>
            <a:off x="1163638" y="1752600"/>
            <a:ext cx="2798762" cy="652463"/>
          </a:xfrm>
          <a:prstGeom prst="wedgeRoundRectCallout">
            <a:avLst>
              <a:gd name="adj1" fmla="val 32472"/>
              <a:gd name="adj2" fmla="val 140023"/>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2A976152-B5BB-42BD-8E72-C85736587951}" type="slidenum">
              <a:rPr lang="en-US"/>
              <a:pPr>
                <a:defRPr/>
              </a:pPr>
              <a:t>86</a:t>
            </a:fld>
            <a:endParaRPr lang="en-US"/>
          </a:p>
        </p:txBody>
      </p:sp>
      <p:sp>
        <p:nvSpPr>
          <p:cNvPr id="87044" name="Rectangle 7"/>
          <p:cNvSpPr>
            <a:spLocks noChangeArrowheads="1"/>
          </p:cNvSpPr>
          <p:nvPr/>
        </p:nvSpPr>
        <p:spPr bwMode="auto">
          <a:xfrm>
            <a:off x="947738" y="1517650"/>
            <a:ext cx="7586662" cy="4462463"/>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op(</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ROOT: </a:t>
            </a:r>
            <a:r>
              <a:rPr lang="en-US" sz="2000" dirty="0" err="1">
                <a:latin typeface="Courier New" pitchFamily="49" charset="0"/>
              </a:rPr>
              <a:t>int</a:t>
            </a:r>
            <a:r>
              <a:rPr lang="en-US" sz="2000" dirty="0">
                <a:latin typeface="Courier New" pitchFamily="49" charset="0"/>
              </a:rPr>
              <a:t> prior = result;</a:t>
            </a:r>
          </a:p>
          <a:p>
            <a:pPr marL="342900" indent="-342900"/>
            <a:r>
              <a:rPr lang="en-US" sz="2000" dirty="0">
                <a:latin typeface="Courier New" pitchFamily="49" charset="0"/>
              </a:rPr>
              <a:t>      result += combined;</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prior;</a:t>
            </a:r>
          </a:p>
          <a:p>
            <a:pPr marL="342900" indent="-342900"/>
            <a:r>
              <a:rPr lang="en-US" sz="2000" dirty="0">
                <a:latin typeface="Courier New" pitchFamily="49" charset="0"/>
              </a:rPr>
              <a:t>    </a:t>
            </a:r>
            <a:r>
              <a:rPr lang="en-US" sz="2000" dirty="0">
                <a:solidFill>
                  <a:schemeClr val="folHlink"/>
                </a:solidFill>
                <a:latin typeface="Courier New" pitchFamily="49" charset="0"/>
              </a:rPr>
              <a:t>case SECOND: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 = combined;</a:t>
            </a:r>
          </a:p>
          <a:p>
            <a:pPr marL="342900" indent="-342900"/>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while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CStatus.RESULT</a:t>
            </a:r>
            <a:r>
              <a:rPr lang="en-US" sz="2000" dirty="0">
                <a:solidFill>
                  <a:schemeClr val="folHlink"/>
                </a:solidFill>
                <a:latin typeface="Courier New" pitchFamily="49" charset="0"/>
              </a:rPr>
              <a:t>) wait();</a:t>
            </a:r>
          </a:p>
          <a:p>
            <a:pPr marL="342900" indent="-342900"/>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CStatus.IDLE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result;</a:t>
            </a:r>
          </a:p>
          <a:p>
            <a:pPr marL="342900" indent="-342900"/>
            <a:r>
              <a:rPr lang="en-US" sz="2000" dirty="0">
                <a:solidFill>
                  <a:schemeClr val="folHlink"/>
                </a:solidFill>
                <a:latin typeface="Courier New" pitchFamily="49" charset="0"/>
              </a:rPr>
              <a:t>    default: …</a:t>
            </a:r>
            <a:r>
              <a:rPr lang="en-US" sz="2000" dirty="0">
                <a:latin typeface="Courier New" pitchFamily="49" charset="0"/>
              </a:rPr>
              <a:t>    </a:t>
            </a:r>
          </a:p>
        </p:txBody>
      </p:sp>
      <p:sp>
        <p:nvSpPr>
          <p:cNvPr id="87045" name="Rectangle 2"/>
          <p:cNvSpPr>
            <a:spLocks noGrp="1" noChangeArrowheads="1"/>
          </p:cNvSpPr>
          <p:nvPr>
            <p:ph type="title"/>
          </p:nvPr>
        </p:nvSpPr>
        <p:spPr/>
        <p:txBody>
          <a:bodyPr/>
          <a:lstStyle/>
          <a:p>
            <a:r>
              <a:rPr lang="en-US"/>
              <a:t>At Root</a:t>
            </a:r>
          </a:p>
        </p:txBody>
      </p:sp>
      <p:sp>
        <p:nvSpPr>
          <p:cNvPr id="87046" name="Text Box 4"/>
          <p:cNvSpPr txBox="1">
            <a:spLocks noChangeArrowheads="1"/>
          </p:cNvSpPr>
          <p:nvPr/>
        </p:nvSpPr>
        <p:spPr bwMode="auto">
          <a:xfrm>
            <a:off x="4830763" y="5029200"/>
            <a:ext cx="3805237" cy="94615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Add sum to root, return prior value</a:t>
            </a:r>
          </a:p>
        </p:txBody>
      </p:sp>
      <p:sp>
        <p:nvSpPr>
          <p:cNvPr id="87047" name="AutoShape 5"/>
          <p:cNvSpPr>
            <a:spLocks noChangeArrowheads="1"/>
          </p:cNvSpPr>
          <p:nvPr/>
        </p:nvSpPr>
        <p:spPr bwMode="auto">
          <a:xfrm>
            <a:off x="1282700" y="2201863"/>
            <a:ext cx="5564188" cy="1131887"/>
          </a:xfrm>
          <a:prstGeom prst="wedgeRoundRectCallout">
            <a:avLst>
              <a:gd name="adj1" fmla="val 31685"/>
              <a:gd name="adj2" fmla="val 201472"/>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138B1B33-CE97-4414-A495-8ED24F064C37}" type="slidenum">
              <a:rPr lang="en-US"/>
              <a:pPr>
                <a:defRPr/>
              </a:pPr>
              <a:t>87</a:t>
            </a:fld>
            <a:endParaRPr lang="en-US"/>
          </a:p>
        </p:txBody>
      </p:sp>
      <p:sp>
        <p:nvSpPr>
          <p:cNvPr id="88068" name="Rectangle 6"/>
          <p:cNvSpPr>
            <a:spLocks noChangeArrowheads="1"/>
          </p:cNvSpPr>
          <p:nvPr/>
        </p:nvSpPr>
        <p:spPr bwMode="auto">
          <a:xfrm>
            <a:off x="947738" y="1517650"/>
            <a:ext cx="7586662" cy="4462463"/>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op(</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ROOT: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prior = result;</a:t>
            </a:r>
          </a:p>
          <a:p>
            <a:pPr marL="342900" indent="-342900"/>
            <a:r>
              <a:rPr lang="en-US" sz="2000" dirty="0">
                <a:solidFill>
                  <a:schemeClr val="folHlink"/>
                </a:solidFill>
                <a:latin typeface="Courier New" pitchFamily="49" charset="0"/>
              </a:rPr>
              <a:t>      result += combined;</a:t>
            </a:r>
          </a:p>
          <a:p>
            <a:pPr marL="342900" indent="-342900"/>
            <a:r>
              <a:rPr lang="en-US" sz="2000" dirty="0">
                <a:solidFill>
                  <a:schemeClr val="folHlink"/>
                </a:solidFill>
                <a:latin typeface="Courier New" pitchFamily="49" charset="0"/>
              </a:rPr>
              <a:t>      return prior;</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SECOND: </a:t>
            </a:r>
            <a:r>
              <a:rPr lang="en-US" sz="2000" dirty="0" err="1">
                <a:latin typeface="Courier New" pitchFamily="49" charset="0"/>
              </a:rPr>
              <a:t>secondValue</a:t>
            </a:r>
            <a:r>
              <a:rPr lang="en-US" sz="2000" dirty="0">
                <a:latin typeface="Courier New" pitchFamily="49" charset="0"/>
              </a:rPr>
              <a:t> = combined;</a:t>
            </a:r>
          </a:p>
          <a:p>
            <a:pPr marL="342900" indent="-342900"/>
            <a:r>
              <a:rPr lang="en-US" sz="2000" dirty="0">
                <a:latin typeface="Courier New" pitchFamily="49" charset="0"/>
              </a:rPr>
              <a:t>      </a:t>
            </a:r>
            <a:r>
              <a:rPr lang="en-US" sz="2000" dirty="0">
                <a:solidFill>
                  <a:schemeClr val="folHlink"/>
                </a:solidFill>
                <a:latin typeface="Courier New" pitchFamily="49" charset="0"/>
              </a:rPr>
              <a:t>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while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CStatus.RESULT</a:t>
            </a:r>
            <a:r>
              <a:rPr lang="en-US" sz="2000" dirty="0">
                <a:solidFill>
                  <a:schemeClr val="folHlink"/>
                </a:solidFill>
                <a:latin typeface="Courier New" pitchFamily="49" charset="0"/>
              </a:rPr>
              <a:t>) wait();</a:t>
            </a:r>
          </a:p>
          <a:p>
            <a:pPr marL="342900" indent="-342900"/>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CStatus.IDLE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result;</a:t>
            </a:r>
          </a:p>
          <a:p>
            <a:pPr marL="342900" indent="-342900"/>
            <a:r>
              <a:rPr lang="en-US" sz="2000" dirty="0">
                <a:solidFill>
                  <a:schemeClr val="folHlink"/>
                </a:solidFill>
                <a:latin typeface="Courier New" pitchFamily="49" charset="0"/>
              </a:rPr>
              <a:t>    default: …</a:t>
            </a:r>
            <a:r>
              <a:rPr lang="en-US" sz="2000" dirty="0">
                <a:latin typeface="Courier New" pitchFamily="49" charset="0"/>
              </a:rPr>
              <a:t>    </a:t>
            </a:r>
          </a:p>
        </p:txBody>
      </p:sp>
      <p:sp>
        <p:nvSpPr>
          <p:cNvPr id="88069" name="Rectangle 2"/>
          <p:cNvSpPr>
            <a:spLocks noGrp="1" noChangeArrowheads="1"/>
          </p:cNvSpPr>
          <p:nvPr>
            <p:ph type="title"/>
          </p:nvPr>
        </p:nvSpPr>
        <p:spPr/>
        <p:txBody>
          <a:bodyPr/>
          <a:lstStyle/>
          <a:p>
            <a:r>
              <a:rPr lang="en-US"/>
              <a:t>Intermediate Node</a:t>
            </a:r>
          </a:p>
        </p:txBody>
      </p:sp>
      <p:sp>
        <p:nvSpPr>
          <p:cNvPr id="88070" name="Text Box 4"/>
          <p:cNvSpPr txBox="1">
            <a:spLocks noChangeArrowheads="1"/>
          </p:cNvSpPr>
          <p:nvPr/>
        </p:nvSpPr>
        <p:spPr bwMode="auto">
          <a:xfrm>
            <a:off x="4830763" y="5029200"/>
            <a:ext cx="3805237" cy="94615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Deposit value for later combining …</a:t>
            </a:r>
          </a:p>
        </p:txBody>
      </p:sp>
      <p:sp>
        <p:nvSpPr>
          <p:cNvPr id="88071" name="AutoShape 5"/>
          <p:cNvSpPr>
            <a:spLocks noChangeArrowheads="1"/>
          </p:cNvSpPr>
          <p:nvPr/>
        </p:nvSpPr>
        <p:spPr bwMode="auto">
          <a:xfrm>
            <a:off x="1282700" y="3333750"/>
            <a:ext cx="5884863" cy="479425"/>
          </a:xfrm>
          <a:prstGeom prst="wedgeRoundRectCallout">
            <a:avLst>
              <a:gd name="adj1" fmla="val 28769"/>
              <a:gd name="adj2" fmla="val 310926"/>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F7600CF5-AC0A-4E92-82E8-309F38F8AFDC}" type="slidenum">
              <a:rPr lang="en-US"/>
              <a:pPr>
                <a:defRPr/>
              </a:pPr>
              <a:t>88</a:t>
            </a:fld>
            <a:endParaRPr lang="en-US"/>
          </a:p>
        </p:txBody>
      </p:sp>
      <p:sp>
        <p:nvSpPr>
          <p:cNvPr id="89092" name="Rectangle 6"/>
          <p:cNvSpPr>
            <a:spLocks noChangeArrowheads="1"/>
          </p:cNvSpPr>
          <p:nvPr/>
        </p:nvSpPr>
        <p:spPr bwMode="auto">
          <a:xfrm>
            <a:off x="947738" y="1517650"/>
            <a:ext cx="7586662" cy="4462463"/>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op(</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ROOT: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prior = result;</a:t>
            </a:r>
          </a:p>
          <a:p>
            <a:pPr marL="342900" indent="-342900"/>
            <a:r>
              <a:rPr lang="en-US" sz="2000" dirty="0">
                <a:solidFill>
                  <a:schemeClr val="folHlink"/>
                </a:solidFill>
                <a:latin typeface="Courier New" pitchFamily="49" charset="0"/>
              </a:rPr>
              <a:t>      result += combined;</a:t>
            </a:r>
          </a:p>
          <a:p>
            <a:pPr marL="342900" indent="-342900"/>
            <a:r>
              <a:rPr lang="en-US" sz="2000" dirty="0">
                <a:solidFill>
                  <a:schemeClr val="folHlink"/>
                </a:solidFill>
                <a:latin typeface="Courier New" pitchFamily="49" charset="0"/>
              </a:rPr>
              <a:t>      return prior;</a:t>
            </a:r>
          </a:p>
          <a:p>
            <a:pPr marL="342900" indent="-342900"/>
            <a:r>
              <a:rPr lang="en-US" sz="2000" dirty="0">
                <a:solidFill>
                  <a:schemeClr val="folHlink"/>
                </a:solidFill>
                <a:latin typeface="Courier New" pitchFamily="49" charset="0"/>
              </a:rPr>
              <a:t>    case SECOND: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 = combined;</a:t>
            </a:r>
          </a:p>
          <a:p>
            <a:pPr marL="342900" indent="-342900"/>
            <a:r>
              <a:rPr lang="en-US" sz="2000" dirty="0">
                <a:latin typeface="Courier New" pitchFamily="49" charset="0"/>
              </a:rPr>
              <a:t>      locked = false; </a:t>
            </a:r>
            <a:r>
              <a:rPr lang="en-US" sz="2000" dirty="0" err="1">
                <a:latin typeface="Courier New" pitchFamily="49" charset="0"/>
              </a:rPr>
              <a:t>notifyAll</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folHlink"/>
                </a:solidFill>
                <a:latin typeface="Courier New" pitchFamily="49" charset="0"/>
              </a:rPr>
              <a:t>while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CStatus.RESULT</a:t>
            </a:r>
            <a:r>
              <a:rPr lang="en-US" sz="2000" dirty="0">
                <a:solidFill>
                  <a:schemeClr val="folHlink"/>
                </a:solidFill>
                <a:latin typeface="Courier New" pitchFamily="49" charset="0"/>
              </a:rPr>
              <a:t>) wait();</a:t>
            </a:r>
          </a:p>
          <a:p>
            <a:pPr marL="342900" indent="-342900"/>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CStatus.IDLE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result;</a:t>
            </a:r>
          </a:p>
          <a:p>
            <a:pPr marL="342900" indent="-342900"/>
            <a:r>
              <a:rPr lang="en-US" sz="2000" dirty="0">
                <a:solidFill>
                  <a:schemeClr val="folHlink"/>
                </a:solidFill>
                <a:latin typeface="Courier New" pitchFamily="49" charset="0"/>
              </a:rPr>
              <a:t>    default: …</a:t>
            </a:r>
            <a:r>
              <a:rPr lang="en-US" sz="2000" dirty="0">
                <a:latin typeface="Courier New" pitchFamily="49" charset="0"/>
              </a:rPr>
              <a:t>    </a:t>
            </a:r>
          </a:p>
        </p:txBody>
      </p:sp>
      <p:sp>
        <p:nvSpPr>
          <p:cNvPr id="89093" name="Rectangle 2"/>
          <p:cNvSpPr>
            <a:spLocks noGrp="1" noChangeArrowheads="1"/>
          </p:cNvSpPr>
          <p:nvPr>
            <p:ph type="title"/>
          </p:nvPr>
        </p:nvSpPr>
        <p:spPr/>
        <p:txBody>
          <a:bodyPr/>
          <a:lstStyle/>
          <a:p>
            <a:r>
              <a:rPr lang="en-US"/>
              <a:t>Intermediate Node</a:t>
            </a:r>
          </a:p>
        </p:txBody>
      </p:sp>
      <p:sp>
        <p:nvSpPr>
          <p:cNvPr id="89094" name="Text Box 4"/>
          <p:cNvSpPr txBox="1">
            <a:spLocks noChangeArrowheads="1"/>
          </p:cNvSpPr>
          <p:nvPr/>
        </p:nvSpPr>
        <p:spPr bwMode="auto">
          <a:xfrm>
            <a:off x="1728788" y="1517650"/>
            <a:ext cx="6729412" cy="1384995"/>
          </a:xfrm>
          <a:prstGeom prst="rect">
            <a:avLst/>
          </a:prstGeom>
          <a:solidFill>
            <a:srgbClr val="FFFFCC">
              <a:alpha val="80000"/>
            </a:srgbClr>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Unlock node</a:t>
            </a:r>
          </a:p>
          <a:p>
            <a:pPr algn="ctr">
              <a:spcBef>
                <a:spcPct val="0"/>
              </a:spcBef>
            </a:pPr>
            <a:r>
              <a:rPr lang="en-US" sz="2800" dirty="0">
                <a:solidFill>
                  <a:srgbClr val="FF0000"/>
                </a:solidFill>
                <a:latin typeface="Arial" pitchFamily="34" charset="0"/>
                <a:cs typeface="Arial" pitchFamily="34" charset="0"/>
              </a:rPr>
              <a:t>(locked in </a:t>
            </a:r>
            <a:r>
              <a:rPr lang="en-US" sz="2800" dirty="0" err="1">
                <a:solidFill>
                  <a:srgbClr val="FF0000"/>
                </a:solidFill>
                <a:latin typeface="Arial" pitchFamily="34" charset="0"/>
                <a:cs typeface="Arial" pitchFamily="34" charset="0"/>
              </a:rPr>
              <a:t>precombining</a:t>
            </a:r>
            <a:r>
              <a:rPr lang="en-US" sz="2800" dirty="0">
                <a:solidFill>
                  <a:srgbClr val="FF0000"/>
                </a:solidFill>
                <a:latin typeface="Arial" pitchFamily="34" charset="0"/>
                <a:cs typeface="Arial" pitchFamily="34" charset="0"/>
              </a:rPr>
              <a:t>),</a:t>
            </a:r>
          </a:p>
          <a:p>
            <a:pPr algn="ctr">
              <a:spcBef>
                <a:spcPct val="0"/>
              </a:spcBef>
            </a:pPr>
            <a:r>
              <a:rPr lang="en-US" sz="2800" dirty="0">
                <a:solidFill>
                  <a:srgbClr val="FF0000"/>
                </a:solidFill>
                <a:latin typeface="Arial" pitchFamily="34" charset="0"/>
                <a:cs typeface="Arial" pitchFamily="34" charset="0"/>
              </a:rPr>
              <a:t>then notify 1</a:t>
            </a:r>
            <a:r>
              <a:rPr lang="en-US" sz="2800" baseline="30000" dirty="0">
                <a:solidFill>
                  <a:srgbClr val="FF0000"/>
                </a:solidFill>
                <a:latin typeface="Arial" pitchFamily="34" charset="0"/>
                <a:cs typeface="Arial" pitchFamily="34" charset="0"/>
              </a:rPr>
              <a:t>st</a:t>
            </a:r>
            <a:r>
              <a:rPr lang="en-US" sz="2800" dirty="0">
                <a:solidFill>
                  <a:srgbClr val="FF0000"/>
                </a:solidFill>
                <a:latin typeface="Arial" pitchFamily="34" charset="0"/>
                <a:cs typeface="Arial" pitchFamily="34" charset="0"/>
              </a:rPr>
              <a:t> thread</a:t>
            </a:r>
          </a:p>
        </p:txBody>
      </p:sp>
      <p:sp>
        <p:nvSpPr>
          <p:cNvPr id="89095" name="AutoShape 5"/>
          <p:cNvSpPr>
            <a:spLocks noChangeArrowheads="1"/>
          </p:cNvSpPr>
          <p:nvPr/>
        </p:nvSpPr>
        <p:spPr bwMode="auto">
          <a:xfrm>
            <a:off x="1728788" y="3694113"/>
            <a:ext cx="4789487" cy="511175"/>
          </a:xfrm>
          <a:prstGeom prst="wedgeRoundRectCallout">
            <a:avLst>
              <a:gd name="adj1" fmla="val 32212"/>
              <a:gd name="adj2" fmla="val -214821"/>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DF119E65-AD10-4155-A8B5-BA9B52B5BD19}" type="slidenum">
              <a:rPr lang="en-US"/>
              <a:pPr>
                <a:defRPr/>
              </a:pPr>
              <a:t>89</a:t>
            </a:fld>
            <a:endParaRPr lang="en-US"/>
          </a:p>
        </p:txBody>
      </p:sp>
      <p:sp>
        <p:nvSpPr>
          <p:cNvPr id="90116" name="Rectangle 2"/>
          <p:cNvSpPr>
            <a:spLocks noChangeArrowheads="1"/>
          </p:cNvSpPr>
          <p:nvPr/>
        </p:nvSpPr>
        <p:spPr bwMode="auto">
          <a:xfrm>
            <a:off x="947738" y="1517650"/>
            <a:ext cx="7586662" cy="4462463"/>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op(</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ROOT: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prior = result;</a:t>
            </a:r>
          </a:p>
          <a:p>
            <a:pPr marL="342900" indent="-342900"/>
            <a:r>
              <a:rPr lang="en-US" sz="2000" dirty="0">
                <a:solidFill>
                  <a:schemeClr val="folHlink"/>
                </a:solidFill>
                <a:latin typeface="Courier New" pitchFamily="49" charset="0"/>
              </a:rPr>
              <a:t>      result += combined;</a:t>
            </a:r>
          </a:p>
          <a:p>
            <a:pPr marL="342900" indent="-342900"/>
            <a:r>
              <a:rPr lang="en-US" sz="2000" dirty="0">
                <a:solidFill>
                  <a:schemeClr val="folHlink"/>
                </a:solidFill>
                <a:latin typeface="Courier New" pitchFamily="49" charset="0"/>
              </a:rPr>
              <a:t>      return prior;</a:t>
            </a:r>
          </a:p>
          <a:p>
            <a:pPr marL="342900" indent="-342900"/>
            <a:r>
              <a:rPr lang="en-US" sz="2000" dirty="0">
                <a:solidFill>
                  <a:schemeClr val="folHlink"/>
                </a:solidFill>
                <a:latin typeface="Courier New" pitchFamily="49" charset="0"/>
              </a:rPr>
              <a:t>    case SECOND: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 = combined;</a:t>
            </a:r>
          </a:p>
          <a:p>
            <a:pPr marL="342900" indent="-342900"/>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while</a:t>
            </a:r>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CStatus.RESULT</a:t>
            </a:r>
            <a:r>
              <a:rPr lang="en-US" sz="2000" dirty="0">
                <a:latin typeface="Courier New" pitchFamily="49" charset="0"/>
              </a:rPr>
              <a:t>) wait();</a:t>
            </a:r>
          </a:p>
          <a:p>
            <a:pPr marL="342900" indent="-342900"/>
            <a:r>
              <a:rPr lang="en-US" sz="2000" dirty="0">
                <a:latin typeface="Courier New" pitchFamily="49" charset="0"/>
              </a:rPr>
              <a:t>      </a:t>
            </a:r>
            <a:r>
              <a:rPr lang="en-US" sz="2000" dirty="0">
                <a:solidFill>
                  <a:schemeClr val="folHlink"/>
                </a:solidFill>
                <a:latin typeface="Courier New" pitchFamily="49" charset="0"/>
              </a:rPr>
              <a:t>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CStatus.IDLE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 result;</a:t>
            </a:r>
          </a:p>
          <a:p>
            <a:pPr marL="342900" indent="-342900"/>
            <a:r>
              <a:rPr lang="en-US" sz="2000" dirty="0">
                <a:solidFill>
                  <a:schemeClr val="folHlink"/>
                </a:solidFill>
                <a:latin typeface="Courier New" pitchFamily="49" charset="0"/>
              </a:rPr>
              <a:t>    default: …</a:t>
            </a:r>
            <a:r>
              <a:rPr lang="en-US" sz="2000" dirty="0">
                <a:latin typeface="Courier New" pitchFamily="49" charset="0"/>
              </a:rPr>
              <a:t>    </a:t>
            </a:r>
          </a:p>
        </p:txBody>
      </p:sp>
      <p:sp>
        <p:nvSpPr>
          <p:cNvPr id="90117" name="Rectangle 3"/>
          <p:cNvSpPr>
            <a:spLocks noGrp="1" noChangeArrowheads="1"/>
          </p:cNvSpPr>
          <p:nvPr>
            <p:ph type="title"/>
          </p:nvPr>
        </p:nvSpPr>
        <p:spPr/>
        <p:txBody>
          <a:bodyPr/>
          <a:lstStyle/>
          <a:p>
            <a:r>
              <a:rPr lang="en-US"/>
              <a:t>Intermediate Node</a:t>
            </a:r>
          </a:p>
        </p:txBody>
      </p:sp>
      <p:sp>
        <p:nvSpPr>
          <p:cNvPr id="90118" name="Text Box 4"/>
          <p:cNvSpPr txBox="1">
            <a:spLocks noChangeArrowheads="1"/>
          </p:cNvSpPr>
          <p:nvPr/>
        </p:nvSpPr>
        <p:spPr bwMode="auto">
          <a:xfrm>
            <a:off x="4475163" y="2062163"/>
            <a:ext cx="4059237" cy="946150"/>
          </a:xfrm>
          <a:prstGeom prst="rect">
            <a:avLst/>
          </a:prstGeom>
          <a:solidFill>
            <a:srgbClr val="FFFFCC"/>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Wait for 1</a:t>
            </a:r>
            <a:r>
              <a:rPr lang="en-US" sz="2800" baseline="30000" dirty="0">
                <a:solidFill>
                  <a:srgbClr val="FF0000"/>
                </a:solidFill>
                <a:latin typeface="Arial" pitchFamily="34" charset="0"/>
                <a:cs typeface="Arial" pitchFamily="34" charset="0"/>
              </a:rPr>
              <a:t>st</a:t>
            </a:r>
            <a:r>
              <a:rPr lang="en-US" sz="2800" dirty="0">
                <a:solidFill>
                  <a:srgbClr val="FF0000"/>
                </a:solidFill>
                <a:latin typeface="Arial" pitchFamily="34" charset="0"/>
                <a:cs typeface="Arial" pitchFamily="34" charset="0"/>
              </a:rPr>
              <a:t> thread to deliver results</a:t>
            </a:r>
          </a:p>
        </p:txBody>
      </p:sp>
      <p:sp>
        <p:nvSpPr>
          <p:cNvPr id="90119" name="AutoShape 5"/>
          <p:cNvSpPr>
            <a:spLocks noChangeArrowheads="1"/>
          </p:cNvSpPr>
          <p:nvPr/>
        </p:nvSpPr>
        <p:spPr bwMode="auto">
          <a:xfrm>
            <a:off x="1728788" y="4056063"/>
            <a:ext cx="6729412" cy="546100"/>
          </a:xfrm>
          <a:prstGeom prst="wedgeRoundRectCallout">
            <a:avLst>
              <a:gd name="adj1" fmla="val 17468"/>
              <a:gd name="adj2" fmla="val -243023"/>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F68E3F7B-C276-4C43-ACAC-D4765E8DACA3}" type="slidenum">
              <a:rPr lang="en-US"/>
              <a:pPr>
                <a:defRPr/>
              </a:pPr>
              <a:t>90</a:t>
            </a:fld>
            <a:endParaRPr lang="en-US"/>
          </a:p>
        </p:txBody>
      </p:sp>
      <p:sp>
        <p:nvSpPr>
          <p:cNvPr id="91140" name="Rectangle 6"/>
          <p:cNvSpPr>
            <a:spLocks noChangeArrowheads="1"/>
          </p:cNvSpPr>
          <p:nvPr/>
        </p:nvSpPr>
        <p:spPr bwMode="auto">
          <a:xfrm>
            <a:off x="947738" y="1517650"/>
            <a:ext cx="7586662" cy="4462463"/>
          </a:xfrm>
          <a:prstGeom prst="rect">
            <a:avLst/>
          </a:prstGeom>
          <a:solidFill>
            <a:srgbClr val="FFFFCC"/>
          </a:solidFill>
          <a:ln w="9525">
            <a:noFill/>
            <a:miter lim="800000"/>
            <a:headEnd/>
            <a:tailEnd/>
          </a:ln>
        </p:spPr>
        <p:txBody>
          <a:bodyPr>
            <a:spAutoFit/>
          </a:bodyPr>
          <a:lstStyle/>
          <a:p>
            <a:pPr marL="342900" indent="-342900"/>
            <a:r>
              <a:rPr lang="en-US" sz="2000" dirty="0">
                <a:solidFill>
                  <a:schemeClr val="folHlink"/>
                </a:solidFill>
                <a:latin typeface="Courier New" pitchFamily="49" charset="0"/>
              </a:rPr>
              <a:t>synchronized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op(</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combined) {</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ROOT: </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prior = result;</a:t>
            </a:r>
          </a:p>
          <a:p>
            <a:pPr marL="342900" indent="-342900"/>
            <a:r>
              <a:rPr lang="en-US" sz="2000" dirty="0">
                <a:solidFill>
                  <a:schemeClr val="folHlink"/>
                </a:solidFill>
                <a:latin typeface="Courier New" pitchFamily="49" charset="0"/>
              </a:rPr>
              <a:t>      result += combined;</a:t>
            </a:r>
          </a:p>
          <a:p>
            <a:pPr marL="342900" indent="-342900"/>
            <a:r>
              <a:rPr lang="en-US" sz="2000" dirty="0">
                <a:solidFill>
                  <a:schemeClr val="folHlink"/>
                </a:solidFill>
                <a:latin typeface="Courier New" pitchFamily="49" charset="0"/>
              </a:rPr>
              <a:t>      return prior;</a:t>
            </a:r>
          </a:p>
          <a:p>
            <a:pPr marL="342900" indent="-342900"/>
            <a:r>
              <a:rPr lang="en-US" sz="2000" dirty="0">
                <a:solidFill>
                  <a:schemeClr val="folHlink"/>
                </a:solidFill>
                <a:latin typeface="Courier New" pitchFamily="49" charset="0"/>
              </a:rPr>
              <a:t>    case SECOND: </a:t>
            </a:r>
            <a:r>
              <a:rPr lang="en-US" sz="2000" dirty="0" err="1">
                <a:solidFill>
                  <a:schemeClr val="folHlink"/>
                </a:solidFill>
                <a:latin typeface="Courier New" pitchFamily="49" charset="0"/>
              </a:rPr>
              <a:t>secondValue</a:t>
            </a:r>
            <a:r>
              <a:rPr lang="en-US" sz="2000" dirty="0">
                <a:solidFill>
                  <a:schemeClr val="folHlink"/>
                </a:solidFill>
                <a:latin typeface="Courier New" pitchFamily="49" charset="0"/>
              </a:rPr>
              <a:t> = combined;</a:t>
            </a:r>
          </a:p>
          <a:p>
            <a:pPr marL="342900" indent="-342900"/>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while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CStatus.RESULT</a:t>
            </a:r>
            <a:r>
              <a:rPr lang="en-US" sz="2000" dirty="0">
                <a:solidFill>
                  <a:schemeClr val="folHlink"/>
                </a:solidFill>
                <a:latin typeface="Courier New" pitchFamily="49" charset="0"/>
              </a:rPr>
              <a:t>) wait();</a:t>
            </a:r>
          </a:p>
          <a:p>
            <a:pPr marL="342900" indent="-342900"/>
            <a:r>
              <a:rPr lang="en-US" sz="2000" dirty="0">
                <a:latin typeface="Courier New" pitchFamily="49" charset="0"/>
              </a:rPr>
              <a:t>      locked = false; </a:t>
            </a:r>
            <a:r>
              <a:rPr lang="en-US" sz="2000" dirty="0" err="1">
                <a:latin typeface="Courier New" pitchFamily="49" charset="0"/>
              </a:rPr>
              <a:t>notifyAll</a:t>
            </a:r>
            <a:r>
              <a:rPr lang="en-US" sz="2000" dirty="0">
                <a:latin typeface="Courier New" pitchFamily="49" charset="0"/>
              </a:rPr>
              <a:t>();</a:t>
            </a:r>
          </a:p>
          <a:p>
            <a:pPr marL="342900" indent="-342900"/>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CStatus.IDLE</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 result;</a:t>
            </a:r>
          </a:p>
          <a:p>
            <a:pPr marL="342900" indent="-342900"/>
            <a:r>
              <a:rPr lang="en-US" sz="2000" dirty="0">
                <a:latin typeface="Courier New" pitchFamily="49" charset="0"/>
              </a:rPr>
              <a:t>    </a:t>
            </a:r>
            <a:r>
              <a:rPr lang="en-US" sz="2000" dirty="0">
                <a:solidFill>
                  <a:schemeClr val="folHlink"/>
                </a:solidFill>
                <a:latin typeface="Courier New" pitchFamily="49" charset="0"/>
              </a:rPr>
              <a:t>default: …</a:t>
            </a:r>
            <a:r>
              <a:rPr lang="en-US" sz="2000" dirty="0">
                <a:latin typeface="Courier New" pitchFamily="49" charset="0"/>
              </a:rPr>
              <a:t>    </a:t>
            </a:r>
          </a:p>
        </p:txBody>
      </p:sp>
      <p:sp>
        <p:nvSpPr>
          <p:cNvPr id="91141" name="Rectangle 2"/>
          <p:cNvSpPr>
            <a:spLocks noGrp="1" noChangeArrowheads="1"/>
          </p:cNvSpPr>
          <p:nvPr>
            <p:ph type="title"/>
          </p:nvPr>
        </p:nvSpPr>
        <p:spPr/>
        <p:txBody>
          <a:bodyPr/>
          <a:lstStyle/>
          <a:p>
            <a:r>
              <a:rPr lang="en-US"/>
              <a:t>Intermediate Node</a:t>
            </a:r>
          </a:p>
        </p:txBody>
      </p:sp>
      <p:sp>
        <p:nvSpPr>
          <p:cNvPr id="91142" name="Text Box 4"/>
          <p:cNvSpPr txBox="1">
            <a:spLocks noChangeArrowheads="1"/>
          </p:cNvSpPr>
          <p:nvPr/>
        </p:nvSpPr>
        <p:spPr bwMode="auto">
          <a:xfrm>
            <a:off x="2339975" y="1990725"/>
            <a:ext cx="6118225" cy="946150"/>
          </a:xfrm>
          <a:prstGeom prst="rect">
            <a:avLst/>
          </a:prstGeom>
          <a:solidFill>
            <a:srgbClr val="FFFFCC">
              <a:alpha val="80000"/>
            </a:srgbClr>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Unlock node (locked by 1</a:t>
            </a:r>
            <a:r>
              <a:rPr lang="en-US" sz="2800" baseline="30000" dirty="0">
                <a:solidFill>
                  <a:srgbClr val="FF0000"/>
                </a:solidFill>
                <a:latin typeface="Arial" pitchFamily="34" charset="0"/>
                <a:cs typeface="Arial" pitchFamily="34" charset="0"/>
              </a:rPr>
              <a:t>st</a:t>
            </a:r>
            <a:r>
              <a:rPr lang="en-US" sz="2800" dirty="0">
                <a:solidFill>
                  <a:srgbClr val="FF0000"/>
                </a:solidFill>
                <a:latin typeface="Arial" pitchFamily="34" charset="0"/>
                <a:cs typeface="Arial" pitchFamily="34" charset="0"/>
              </a:rPr>
              <a:t> thread in combining phase) &amp; return</a:t>
            </a:r>
          </a:p>
        </p:txBody>
      </p:sp>
      <p:sp>
        <p:nvSpPr>
          <p:cNvPr id="91143" name="AutoShape 5"/>
          <p:cNvSpPr>
            <a:spLocks noChangeArrowheads="1"/>
          </p:cNvSpPr>
          <p:nvPr/>
        </p:nvSpPr>
        <p:spPr bwMode="auto">
          <a:xfrm>
            <a:off x="1728788" y="4410075"/>
            <a:ext cx="4816475" cy="1149350"/>
          </a:xfrm>
          <a:prstGeom prst="wedgeRoundRectCallout">
            <a:avLst>
              <a:gd name="adj1" fmla="val 19282"/>
              <a:gd name="adj2" fmla="val -185083"/>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ooter Placeholder 2"/>
          <p:cNvSpPr>
            <a:spLocks noGrp="1"/>
          </p:cNvSpPr>
          <p:nvPr>
            <p:ph type="ftr" sz="quarter" idx="10"/>
          </p:nvPr>
        </p:nvSpPr>
        <p:spPr/>
        <p:txBody>
          <a:bodyPr/>
          <a:lstStyle/>
          <a:p>
            <a:pPr>
              <a:defRPr/>
            </a:pPr>
            <a:r>
              <a:rPr lang="en-US"/>
              <a:t>Art of Multiprocessor Programming</a:t>
            </a:r>
          </a:p>
        </p:txBody>
      </p:sp>
      <p:sp>
        <p:nvSpPr>
          <p:cNvPr id="55" name="Slide Number Placeholder 3"/>
          <p:cNvSpPr>
            <a:spLocks noGrp="1"/>
          </p:cNvSpPr>
          <p:nvPr>
            <p:ph type="sldNum" sz="quarter" idx="11"/>
          </p:nvPr>
        </p:nvSpPr>
        <p:spPr/>
        <p:txBody>
          <a:bodyPr/>
          <a:lstStyle/>
          <a:p>
            <a:pPr>
              <a:defRPr/>
            </a:pPr>
            <a:fld id="{C746F174-1300-41F1-9244-7CA9BE6EF454}" type="slidenum">
              <a:rPr lang="en-US"/>
              <a:pPr>
                <a:defRPr/>
              </a:pPr>
              <a:t>91</a:t>
            </a:fld>
            <a:endParaRPr lang="en-US"/>
          </a:p>
        </p:txBody>
      </p:sp>
      <p:sp>
        <p:nvSpPr>
          <p:cNvPr id="92164" name="Rectangle 2"/>
          <p:cNvSpPr>
            <a:spLocks noGrp="1" noChangeArrowheads="1"/>
          </p:cNvSpPr>
          <p:nvPr>
            <p:ph type="title"/>
          </p:nvPr>
        </p:nvSpPr>
        <p:spPr/>
        <p:txBody>
          <a:bodyPr/>
          <a:lstStyle/>
          <a:p>
            <a:r>
              <a:rPr lang="en-US" sz="4000"/>
              <a:t>Distribution Phase</a:t>
            </a:r>
          </a:p>
        </p:txBody>
      </p:sp>
      <p:sp>
        <p:nvSpPr>
          <p:cNvPr id="92165"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5</a:t>
            </a:r>
          </a:p>
        </p:txBody>
      </p:sp>
      <p:sp>
        <p:nvSpPr>
          <p:cNvPr id="92166"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92167"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92168" name="Group 6"/>
          <p:cNvGrpSpPr>
            <a:grpSpLocks/>
          </p:cNvGrpSpPr>
          <p:nvPr/>
        </p:nvGrpSpPr>
        <p:grpSpPr bwMode="auto">
          <a:xfrm flipH="1">
            <a:off x="852488" y="4953000"/>
            <a:ext cx="1219200" cy="1090613"/>
            <a:chOff x="1584" y="816"/>
            <a:chExt cx="912" cy="816"/>
          </a:xfrm>
        </p:grpSpPr>
        <p:sp>
          <p:nvSpPr>
            <p:cNvPr id="92207"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8"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9"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10"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11"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12"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13"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14"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15"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2169" name="Group 16"/>
          <p:cNvGrpSpPr>
            <a:grpSpLocks/>
          </p:cNvGrpSpPr>
          <p:nvPr/>
        </p:nvGrpSpPr>
        <p:grpSpPr bwMode="auto">
          <a:xfrm>
            <a:off x="2925763" y="4953000"/>
            <a:ext cx="1219200" cy="1090613"/>
            <a:chOff x="1584" y="816"/>
            <a:chExt cx="912" cy="816"/>
          </a:xfrm>
        </p:grpSpPr>
        <p:sp>
          <p:nvSpPr>
            <p:cNvPr id="92198"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9"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0"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1"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2"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3"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4"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5"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206"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2170"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92171"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92172" name="Group 30"/>
          <p:cNvGrpSpPr>
            <a:grpSpLocks/>
          </p:cNvGrpSpPr>
          <p:nvPr/>
        </p:nvGrpSpPr>
        <p:grpSpPr bwMode="auto">
          <a:xfrm flipH="1">
            <a:off x="4999038" y="4953000"/>
            <a:ext cx="1219200" cy="1090613"/>
            <a:chOff x="1584" y="816"/>
            <a:chExt cx="912" cy="816"/>
          </a:xfrm>
        </p:grpSpPr>
        <p:sp>
          <p:nvSpPr>
            <p:cNvPr id="92189"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0"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1"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2"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3"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4"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5"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6"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97"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2173" name="Group 40"/>
          <p:cNvGrpSpPr>
            <a:grpSpLocks/>
          </p:cNvGrpSpPr>
          <p:nvPr/>
        </p:nvGrpSpPr>
        <p:grpSpPr bwMode="auto">
          <a:xfrm>
            <a:off x="7072313" y="4953000"/>
            <a:ext cx="1219200" cy="1090613"/>
            <a:chOff x="1584" y="816"/>
            <a:chExt cx="912" cy="816"/>
          </a:xfrm>
        </p:grpSpPr>
        <p:sp>
          <p:nvSpPr>
            <p:cNvPr id="92180"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81"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82"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83"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84"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85"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86"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87"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188"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2174" name="Text Box 53"/>
          <p:cNvSpPr txBox="1">
            <a:spLocks noChangeArrowheads="1"/>
          </p:cNvSpPr>
          <p:nvPr/>
        </p:nvSpPr>
        <p:spPr bwMode="auto">
          <a:xfrm>
            <a:off x="2590800" y="2819400"/>
            <a:ext cx="369888"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0</a:t>
            </a:r>
          </a:p>
        </p:txBody>
      </p:sp>
      <p:sp>
        <p:nvSpPr>
          <p:cNvPr id="92175" name="AutoShape 54"/>
          <p:cNvSpPr>
            <a:spLocks noChangeArrowheads="1"/>
          </p:cNvSpPr>
          <p:nvPr/>
        </p:nvSpPr>
        <p:spPr bwMode="auto">
          <a:xfrm>
            <a:off x="4144963" y="4495800"/>
            <a:ext cx="1323975" cy="585788"/>
          </a:xfrm>
          <a:prstGeom prst="cloudCallout">
            <a:avLst>
              <a:gd name="adj1" fmla="val -43750"/>
              <a:gd name="adj2" fmla="val 70000"/>
            </a:avLst>
          </a:prstGeom>
          <a:solidFill>
            <a:srgbClr val="FFFF00"/>
          </a:solidFill>
          <a:ln w="38100">
            <a:solidFill>
              <a:schemeClr val="tx1"/>
            </a:solidFill>
            <a:round/>
            <a:headEnd/>
            <a:tailEnd/>
          </a:ln>
        </p:spPr>
        <p:txBody>
          <a:bodyPr/>
          <a:lstStyle/>
          <a:p>
            <a:pPr marL="342900" indent="-342900" algn="ctr"/>
            <a:r>
              <a:rPr lang="en-US">
                <a:solidFill>
                  <a:schemeClr val="tx1"/>
                </a:solidFill>
                <a:latin typeface="Arial" pitchFamily="34" charset="0"/>
                <a:cs typeface="Arial" pitchFamily="34" charset="0"/>
              </a:rPr>
              <a:t>zzz</a:t>
            </a:r>
            <a:endParaRPr lang="en-US">
              <a:latin typeface="Arial" pitchFamily="34" charset="0"/>
              <a:cs typeface="Arial" pitchFamily="34" charset="0"/>
            </a:endParaRPr>
          </a:p>
        </p:txBody>
      </p:sp>
      <p:sp>
        <p:nvSpPr>
          <p:cNvPr id="92176" name="Text Box 55"/>
          <p:cNvSpPr txBox="1">
            <a:spLocks noChangeArrowheads="1"/>
          </p:cNvSpPr>
          <p:nvPr/>
        </p:nvSpPr>
        <p:spPr bwMode="auto">
          <a:xfrm>
            <a:off x="5838825" y="2193925"/>
            <a:ext cx="2979738" cy="946150"/>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Move down with result</a:t>
            </a:r>
          </a:p>
        </p:txBody>
      </p:sp>
      <p:sp>
        <p:nvSpPr>
          <p:cNvPr id="92177" name="AutoShape 56"/>
          <p:cNvSpPr>
            <a:spLocks noChangeArrowheads="1"/>
          </p:cNvSpPr>
          <p:nvPr/>
        </p:nvSpPr>
        <p:spPr bwMode="auto">
          <a:xfrm>
            <a:off x="1676400" y="3276600"/>
            <a:ext cx="2057400" cy="990600"/>
          </a:xfrm>
          <a:prstGeom prst="wedgeRoundRectCallout">
            <a:avLst>
              <a:gd name="adj1" fmla="val 179088"/>
              <a:gd name="adj2" fmla="val -91829"/>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92178" name="Text Box 57"/>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SECOND</a:t>
            </a:r>
          </a:p>
        </p:txBody>
      </p:sp>
      <p:sp>
        <p:nvSpPr>
          <p:cNvPr id="92179" name="Freeform 52"/>
          <p:cNvSpPr>
            <a:spLocks/>
          </p:cNvSpPr>
          <p:nvPr/>
        </p:nvSpPr>
        <p:spPr bwMode="auto">
          <a:xfrm>
            <a:off x="2971800" y="26670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type="triangle" w="med" len="med"/>
            <a:tailEn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ooter Placeholder 2"/>
          <p:cNvSpPr>
            <a:spLocks noGrp="1"/>
          </p:cNvSpPr>
          <p:nvPr>
            <p:ph type="ftr" sz="quarter" idx="10"/>
          </p:nvPr>
        </p:nvSpPr>
        <p:spPr/>
        <p:txBody>
          <a:bodyPr/>
          <a:lstStyle/>
          <a:p>
            <a:pPr>
              <a:defRPr/>
            </a:pPr>
            <a:r>
              <a:rPr lang="en-US"/>
              <a:t>Art of Multiprocessor Programming</a:t>
            </a:r>
          </a:p>
        </p:txBody>
      </p:sp>
      <p:sp>
        <p:nvSpPr>
          <p:cNvPr id="59" name="Slide Number Placeholder 3"/>
          <p:cNvSpPr>
            <a:spLocks noGrp="1"/>
          </p:cNvSpPr>
          <p:nvPr>
            <p:ph type="sldNum" sz="quarter" idx="11"/>
          </p:nvPr>
        </p:nvSpPr>
        <p:spPr/>
        <p:txBody>
          <a:bodyPr/>
          <a:lstStyle/>
          <a:p>
            <a:pPr>
              <a:defRPr/>
            </a:pPr>
            <a:fld id="{8DA26DEB-EB3B-4D9E-9815-85139BC42928}" type="slidenum">
              <a:rPr lang="en-US"/>
              <a:pPr>
                <a:defRPr/>
              </a:pPr>
              <a:t>92</a:t>
            </a:fld>
            <a:endParaRPr lang="en-US"/>
          </a:p>
        </p:txBody>
      </p:sp>
      <p:sp>
        <p:nvSpPr>
          <p:cNvPr id="93188" name="Rectangle 2"/>
          <p:cNvSpPr>
            <a:spLocks noGrp="1" noChangeArrowheads="1"/>
          </p:cNvSpPr>
          <p:nvPr>
            <p:ph type="title"/>
          </p:nvPr>
        </p:nvSpPr>
        <p:spPr/>
        <p:txBody>
          <a:bodyPr/>
          <a:lstStyle/>
          <a:p>
            <a:r>
              <a:rPr lang="en-US" sz="4000"/>
              <a:t>Distribution Phase</a:t>
            </a:r>
          </a:p>
        </p:txBody>
      </p:sp>
      <p:sp>
        <p:nvSpPr>
          <p:cNvPr id="93189"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5</a:t>
            </a:r>
          </a:p>
        </p:txBody>
      </p:sp>
      <p:sp>
        <p:nvSpPr>
          <p:cNvPr id="93190"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93191"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93192" name="Group 6"/>
          <p:cNvGrpSpPr>
            <a:grpSpLocks/>
          </p:cNvGrpSpPr>
          <p:nvPr/>
        </p:nvGrpSpPr>
        <p:grpSpPr bwMode="auto">
          <a:xfrm flipH="1">
            <a:off x="852488" y="4953000"/>
            <a:ext cx="1219200" cy="1090613"/>
            <a:chOff x="1584" y="816"/>
            <a:chExt cx="912" cy="816"/>
          </a:xfrm>
        </p:grpSpPr>
        <p:sp>
          <p:nvSpPr>
            <p:cNvPr id="93235"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6"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7"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8"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9"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40"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41"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42"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43"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3193" name="Group 16"/>
          <p:cNvGrpSpPr>
            <a:grpSpLocks/>
          </p:cNvGrpSpPr>
          <p:nvPr/>
        </p:nvGrpSpPr>
        <p:grpSpPr bwMode="auto">
          <a:xfrm>
            <a:off x="2925763" y="4953000"/>
            <a:ext cx="1219200" cy="1090613"/>
            <a:chOff x="1584" y="816"/>
            <a:chExt cx="912" cy="816"/>
          </a:xfrm>
        </p:grpSpPr>
        <p:sp>
          <p:nvSpPr>
            <p:cNvPr id="93226"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7"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8"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9"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0"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1"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2"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3"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34"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3194"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93195"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93196" name="Group 30"/>
          <p:cNvGrpSpPr>
            <a:grpSpLocks/>
          </p:cNvGrpSpPr>
          <p:nvPr/>
        </p:nvGrpSpPr>
        <p:grpSpPr bwMode="auto">
          <a:xfrm flipH="1">
            <a:off x="4999038" y="4953000"/>
            <a:ext cx="1219200" cy="1090613"/>
            <a:chOff x="1584" y="816"/>
            <a:chExt cx="912" cy="816"/>
          </a:xfrm>
        </p:grpSpPr>
        <p:sp>
          <p:nvSpPr>
            <p:cNvPr id="93217"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8"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9"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0"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1"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2"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3"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4"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25"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3197" name="Group 40"/>
          <p:cNvGrpSpPr>
            <a:grpSpLocks/>
          </p:cNvGrpSpPr>
          <p:nvPr/>
        </p:nvGrpSpPr>
        <p:grpSpPr bwMode="auto">
          <a:xfrm>
            <a:off x="7072313" y="4953000"/>
            <a:ext cx="1219200" cy="1090613"/>
            <a:chOff x="1584" y="816"/>
            <a:chExt cx="912" cy="816"/>
          </a:xfrm>
        </p:grpSpPr>
        <p:sp>
          <p:nvSpPr>
            <p:cNvPr id="93208"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09"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0"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1"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2"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3"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4"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5"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16"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3198" name="AutoShape 54"/>
          <p:cNvSpPr>
            <a:spLocks noChangeArrowheads="1"/>
          </p:cNvSpPr>
          <p:nvPr/>
        </p:nvSpPr>
        <p:spPr bwMode="auto">
          <a:xfrm>
            <a:off x="4144963" y="4495800"/>
            <a:ext cx="1323975" cy="585788"/>
          </a:xfrm>
          <a:prstGeom prst="cloudCallout">
            <a:avLst>
              <a:gd name="adj1" fmla="val -43750"/>
              <a:gd name="adj2" fmla="val 70000"/>
            </a:avLst>
          </a:prstGeom>
          <a:solidFill>
            <a:srgbClr val="FFFF00"/>
          </a:solidFill>
          <a:ln w="38100">
            <a:solidFill>
              <a:schemeClr val="tx1"/>
            </a:solidFill>
            <a:round/>
            <a:headEnd/>
            <a:tailEnd/>
          </a:ln>
        </p:spPr>
        <p:txBody>
          <a:bodyPr/>
          <a:lstStyle/>
          <a:p>
            <a:pPr marL="342900" indent="-342900" algn="ctr"/>
            <a:r>
              <a:rPr lang="en-US">
                <a:solidFill>
                  <a:schemeClr val="tx1"/>
                </a:solidFill>
                <a:latin typeface="Arial" pitchFamily="34" charset="0"/>
                <a:cs typeface="Arial" pitchFamily="34" charset="0"/>
              </a:rPr>
              <a:t>zzz</a:t>
            </a:r>
            <a:endParaRPr lang="en-US">
              <a:latin typeface="Arial" pitchFamily="34" charset="0"/>
              <a:cs typeface="Arial" pitchFamily="34" charset="0"/>
            </a:endParaRPr>
          </a:p>
        </p:txBody>
      </p:sp>
      <p:sp>
        <p:nvSpPr>
          <p:cNvPr id="93199" name="Text Box 55"/>
          <p:cNvSpPr txBox="1">
            <a:spLocks noChangeArrowheads="1"/>
          </p:cNvSpPr>
          <p:nvPr/>
        </p:nvSpPr>
        <p:spPr bwMode="auto">
          <a:xfrm>
            <a:off x="4951413" y="2813050"/>
            <a:ext cx="2979737" cy="1373188"/>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Leave result for 2</a:t>
            </a:r>
            <a:r>
              <a:rPr lang="en-US" sz="2800" baseline="30000">
                <a:solidFill>
                  <a:schemeClr val="accent1"/>
                </a:solidFill>
                <a:latin typeface="Arial" pitchFamily="34" charset="0"/>
                <a:cs typeface="Arial" pitchFamily="34" charset="0"/>
              </a:rPr>
              <a:t>nd</a:t>
            </a:r>
            <a:r>
              <a:rPr lang="en-US" sz="2800">
                <a:solidFill>
                  <a:schemeClr val="accent1"/>
                </a:solidFill>
                <a:latin typeface="Arial" pitchFamily="34" charset="0"/>
                <a:cs typeface="Arial" pitchFamily="34" charset="0"/>
              </a:rPr>
              <a:t> thread &amp; lock node</a:t>
            </a:r>
          </a:p>
        </p:txBody>
      </p:sp>
      <p:sp>
        <p:nvSpPr>
          <p:cNvPr id="93200" name="AutoShape 56"/>
          <p:cNvSpPr>
            <a:spLocks noChangeArrowheads="1"/>
          </p:cNvSpPr>
          <p:nvPr/>
        </p:nvSpPr>
        <p:spPr bwMode="auto">
          <a:xfrm>
            <a:off x="1676400" y="3276600"/>
            <a:ext cx="2057400" cy="990600"/>
          </a:xfrm>
          <a:prstGeom prst="wedgeRoundRectCallout">
            <a:avLst>
              <a:gd name="adj1" fmla="val 110495"/>
              <a:gd name="adj2" fmla="val -49838"/>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93201" name="Text Box 57"/>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SECOND</a:t>
            </a:r>
          </a:p>
        </p:txBody>
      </p:sp>
      <p:grpSp>
        <p:nvGrpSpPr>
          <p:cNvPr id="93202" name="Group 58"/>
          <p:cNvGrpSpPr>
            <a:grpSpLocks/>
          </p:cNvGrpSpPr>
          <p:nvPr/>
        </p:nvGrpSpPr>
        <p:grpSpPr bwMode="auto">
          <a:xfrm>
            <a:off x="1708150" y="3352800"/>
            <a:ext cx="466725" cy="679450"/>
            <a:chOff x="2208" y="1920"/>
            <a:chExt cx="1152" cy="1680"/>
          </a:xfrm>
        </p:grpSpPr>
        <p:sp>
          <p:nvSpPr>
            <p:cNvPr id="93204" name="Oval 59"/>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05" name="Oval 60"/>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206" name="AutoShape 6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93207" name="AutoShape 6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93203" name="Text Box 63"/>
          <p:cNvSpPr txBox="1">
            <a:spLocks noChangeArrowheads="1"/>
          </p:cNvSpPr>
          <p:nvPr/>
        </p:nvSpPr>
        <p:spPr bwMode="auto">
          <a:xfrm>
            <a:off x="3071813" y="3695700"/>
            <a:ext cx="30797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2</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Footer Placeholder 2"/>
          <p:cNvSpPr>
            <a:spLocks noGrp="1"/>
          </p:cNvSpPr>
          <p:nvPr>
            <p:ph type="ftr" sz="quarter" idx="10"/>
          </p:nvPr>
        </p:nvSpPr>
        <p:spPr/>
        <p:txBody>
          <a:bodyPr/>
          <a:lstStyle/>
          <a:p>
            <a:pPr>
              <a:defRPr/>
            </a:pPr>
            <a:r>
              <a:rPr lang="en-US"/>
              <a:t>Art of Multiprocessor Programming</a:t>
            </a:r>
          </a:p>
        </p:txBody>
      </p:sp>
      <p:sp>
        <p:nvSpPr>
          <p:cNvPr id="61" name="Slide Number Placeholder 3"/>
          <p:cNvSpPr>
            <a:spLocks noGrp="1"/>
          </p:cNvSpPr>
          <p:nvPr>
            <p:ph type="sldNum" sz="quarter" idx="11"/>
          </p:nvPr>
        </p:nvSpPr>
        <p:spPr/>
        <p:txBody>
          <a:bodyPr/>
          <a:lstStyle/>
          <a:p>
            <a:pPr>
              <a:defRPr/>
            </a:pPr>
            <a:fld id="{14AA77A8-9789-4ADF-ADC9-C63EF8638A5C}" type="slidenum">
              <a:rPr lang="en-US"/>
              <a:pPr>
                <a:defRPr/>
              </a:pPr>
              <a:t>93</a:t>
            </a:fld>
            <a:endParaRPr lang="en-US"/>
          </a:p>
        </p:txBody>
      </p:sp>
      <p:sp>
        <p:nvSpPr>
          <p:cNvPr id="94212" name="Rectangle 2"/>
          <p:cNvSpPr>
            <a:spLocks noGrp="1" noChangeArrowheads="1"/>
          </p:cNvSpPr>
          <p:nvPr>
            <p:ph type="title"/>
          </p:nvPr>
        </p:nvSpPr>
        <p:spPr/>
        <p:txBody>
          <a:bodyPr/>
          <a:lstStyle/>
          <a:p>
            <a:r>
              <a:rPr lang="en-US" sz="4000"/>
              <a:t>Distribution Phase</a:t>
            </a:r>
          </a:p>
        </p:txBody>
      </p:sp>
      <p:sp>
        <p:nvSpPr>
          <p:cNvPr id="94213"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5</a:t>
            </a:r>
          </a:p>
        </p:txBody>
      </p:sp>
      <p:sp>
        <p:nvSpPr>
          <p:cNvPr id="94214"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94215"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94216" name="Group 6"/>
          <p:cNvGrpSpPr>
            <a:grpSpLocks/>
          </p:cNvGrpSpPr>
          <p:nvPr/>
        </p:nvGrpSpPr>
        <p:grpSpPr bwMode="auto">
          <a:xfrm flipH="1">
            <a:off x="852488" y="4953000"/>
            <a:ext cx="1219200" cy="1090613"/>
            <a:chOff x="1584" y="816"/>
            <a:chExt cx="912" cy="816"/>
          </a:xfrm>
        </p:grpSpPr>
        <p:sp>
          <p:nvSpPr>
            <p:cNvPr id="94261"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2"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3"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4"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5"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6"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7"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8"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9"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4217" name="Group 16"/>
          <p:cNvGrpSpPr>
            <a:grpSpLocks/>
          </p:cNvGrpSpPr>
          <p:nvPr/>
        </p:nvGrpSpPr>
        <p:grpSpPr bwMode="auto">
          <a:xfrm>
            <a:off x="2925763" y="4953000"/>
            <a:ext cx="1219200" cy="1090613"/>
            <a:chOff x="1584" y="816"/>
            <a:chExt cx="912" cy="816"/>
          </a:xfrm>
        </p:grpSpPr>
        <p:sp>
          <p:nvSpPr>
            <p:cNvPr id="94252"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3"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4"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5"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6"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7"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8"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9"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60"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4218"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type="triangle" w="med" len="med"/>
            <a:tailEnd/>
          </a:ln>
        </p:spPr>
        <p:txBody>
          <a:bodyPr wrap="none" anchor="ctr"/>
          <a:lstStyle/>
          <a:p>
            <a:endParaRPr lang="en-US">
              <a:latin typeface="Arial" pitchFamily="34" charset="0"/>
              <a:cs typeface="Arial" pitchFamily="34" charset="0"/>
            </a:endParaRPr>
          </a:p>
        </p:txBody>
      </p:sp>
      <p:sp>
        <p:nvSpPr>
          <p:cNvPr id="94219" name="Text Box 27"/>
          <p:cNvSpPr txBox="1">
            <a:spLocks noChangeArrowheads="1"/>
          </p:cNvSpPr>
          <p:nvPr/>
        </p:nvSpPr>
        <p:spPr bwMode="auto">
          <a:xfrm>
            <a:off x="1447800" y="4038600"/>
            <a:ext cx="369888"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0</a:t>
            </a:r>
          </a:p>
        </p:txBody>
      </p:sp>
      <p:sp>
        <p:nvSpPr>
          <p:cNvPr id="94220"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94221"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94222" name="Group 30"/>
          <p:cNvGrpSpPr>
            <a:grpSpLocks/>
          </p:cNvGrpSpPr>
          <p:nvPr/>
        </p:nvGrpSpPr>
        <p:grpSpPr bwMode="auto">
          <a:xfrm flipH="1">
            <a:off x="4999038" y="4953000"/>
            <a:ext cx="1219200" cy="1090613"/>
            <a:chOff x="1584" y="816"/>
            <a:chExt cx="912" cy="816"/>
          </a:xfrm>
        </p:grpSpPr>
        <p:sp>
          <p:nvSpPr>
            <p:cNvPr id="94243"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4"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5"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6"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7"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8"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9"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0"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51"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4223" name="Group 40"/>
          <p:cNvGrpSpPr>
            <a:grpSpLocks/>
          </p:cNvGrpSpPr>
          <p:nvPr/>
        </p:nvGrpSpPr>
        <p:grpSpPr bwMode="auto">
          <a:xfrm>
            <a:off x="7072313" y="4953000"/>
            <a:ext cx="1219200" cy="1090613"/>
            <a:chOff x="1584" y="816"/>
            <a:chExt cx="912" cy="816"/>
          </a:xfrm>
        </p:grpSpPr>
        <p:sp>
          <p:nvSpPr>
            <p:cNvPr id="94234"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5"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6"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7"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8"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9"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0"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1"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42"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4224" name="AutoShape 54"/>
          <p:cNvSpPr>
            <a:spLocks noChangeArrowheads="1"/>
          </p:cNvSpPr>
          <p:nvPr/>
        </p:nvSpPr>
        <p:spPr bwMode="auto">
          <a:xfrm>
            <a:off x="4144963" y="4495800"/>
            <a:ext cx="1323975" cy="585788"/>
          </a:xfrm>
          <a:prstGeom prst="cloudCallout">
            <a:avLst>
              <a:gd name="adj1" fmla="val -43750"/>
              <a:gd name="adj2" fmla="val 70000"/>
            </a:avLst>
          </a:prstGeom>
          <a:solidFill>
            <a:srgbClr val="FFFF00"/>
          </a:solidFill>
          <a:ln w="38100">
            <a:solidFill>
              <a:schemeClr val="tx1"/>
            </a:solidFill>
            <a:round/>
            <a:headEnd/>
            <a:tailEnd/>
          </a:ln>
        </p:spPr>
        <p:txBody>
          <a:bodyPr/>
          <a:lstStyle/>
          <a:p>
            <a:pPr marL="342900" indent="-342900" algn="ctr"/>
            <a:r>
              <a:rPr lang="en-US">
                <a:solidFill>
                  <a:schemeClr val="tx1"/>
                </a:solidFill>
                <a:latin typeface="Arial" pitchFamily="34" charset="0"/>
                <a:cs typeface="Arial" pitchFamily="34" charset="0"/>
              </a:rPr>
              <a:t>zzz</a:t>
            </a:r>
            <a:endParaRPr lang="en-US">
              <a:latin typeface="Arial" pitchFamily="34" charset="0"/>
              <a:cs typeface="Arial" pitchFamily="34" charset="0"/>
            </a:endParaRPr>
          </a:p>
        </p:txBody>
      </p:sp>
      <p:sp>
        <p:nvSpPr>
          <p:cNvPr id="94225" name="Text Box 55"/>
          <p:cNvSpPr txBox="1">
            <a:spLocks noChangeArrowheads="1"/>
          </p:cNvSpPr>
          <p:nvPr/>
        </p:nvSpPr>
        <p:spPr bwMode="auto">
          <a:xfrm>
            <a:off x="5681663" y="1981200"/>
            <a:ext cx="2979737" cy="946150"/>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Push result down tree</a:t>
            </a:r>
          </a:p>
        </p:txBody>
      </p:sp>
      <p:sp>
        <p:nvSpPr>
          <p:cNvPr id="94226" name="AutoShape 56"/>
          <p:cNvSpPr>
            <a:spLocks noChangeArrowheads="1"/>
          </p:cNvSpPr>
          <p:nvPr/>
        </p:nvSpPr>
        <p:spPr bwMode="auto">
          <a:xfrm>
            <a:off x="1676400" y="3276600"/>
            <a:ext cx="2057400" cy="990600"/>
          </a:xfrm>
          <a:prstGeom prst="wedgeRoundRectCallout">
            <a:avLst>
              <a:gd name="adj1" fmla="val 166588"/>
              <a:gd name="adj2" fmla="val -122597"/>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94227" name="Text Box 57"/>
          <p:cNvSpPr txBox="1">
            <a:spLocks noChangeArrowheads="1"/>
          </p:cNvSpPr>
          <p:nvPr/>
        </p:nvSpPr>
        <p:spPr bwMode="auto">
          <a:xfrm>
            <a:off x="2174875" y="3429000"/>
            <a:ext cx="105092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SECOND</a:t>
            </a:r>
          </a:p>
        </p:txBody>
      </p:sp>
      <p:grpSp>
        <p:nvGrpSpPr>
          <p:cNvPr id="94228" name="Group 58"/>
          <p:cNvGrpSpPr>
            <a:grpSpLocks/>
          </p:cNvGrpSpPr>
          <p:nvPr/>
        </p:nvGrpSpPr>
        <p:grpSpPr bwMode="auto">
          <a:xfrm>
            <a:off x="1708150" y="3352800"/>
            <a:ext cx="466725" cy="679450"/>
            <a:chOff x="2208" y="1920"/>
            <a:chExt cx="1152" cy="1680"/>
          </a:xfrm>
        </p:grpSpPr>
        <p:sp>
          <p:nvSpPr>
            <p:cNvPr id="94230" name="Oval 59"/>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1" name="Oval 60"/>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232" name="AutoShape 6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latin typeface="Arial" pitchFamily="34" charset="0"/>
                <a:cs typeface="Arial" pitchFamily="34" charset="0"/>
              </a:endParaRPr>
            </a:p>
          </p:txBody>
        </p:sp>
        <p:sp>
          <p:nvSpPr>
            <p:cNvPr id="94233" name="AutoShape 6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94229" name="Text Box 63"/>
          <p:cNvSpPr txBox="1">
            <a:spLocks noChangeArrowheads="1"/>
          </p:cNvSpPr>
          <p:nvPr/>
        </p:nvSpPr>
        <p:spPr bwMode="auto">
          <a:xfrm>
            <a:off x="3071813" y="3695700"/>
            <a:ext cx="30797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ooter Placeholder 2"/>
          <p:cNvSpPr>
            <a:spLocks noGrp="1"/>
          </p:cNvSpPr>
          <p:nvPr>
            <p:ph type="ftr" sz="quarter" idx="10"/>
          </p:nvPr>
        </p:nvSpPr>
        <p:spPr/>
        <p:txBody>
          <a:bodyPr/>
          <a:lstStyle/>
          <a:p>
            <a:pPr>
              <a:defRPr/>
            </a:pPr>
            <a:r>
              <a:rPr lang="en-US"/>
              <a:t>Art of Multiprocessor Programming</a:t>
            </a:r>
          </a:p>
        </p:txBody>
      </p:sp>
      <p:sp>
        <p:nvSpPr>
          <p:cNvPr id="54" name="Slide Number Placeholder 3"/>
          <p:cNvSpPr>
            <a:spLocks noGrp="1"/>
          </p:cNvSpPr>
          <p:nvPr>
            <p:ph type="sldNum" sz="quarter" idx="11"/>
          </p:nvPr>
        </p:nvSpPr>
        <p:spPr/>
        <p:txBody>
          <a:bodyPr/>
          <a:lstStyle/>
          <a:p>
            <a:pPr>
              <a:defRPr/>
            </a:pPr>
            <a:fld id="{3DCA2AE8-C010-49F3-8A14-BDB68E1EE561}" type="slidenum">
              <a:rPr lang="en-US"/>
              <a:pPr>
                <a:defRPr/>
              </a:pPr>
              <a:t>94</a:t>
            </a:fld>
            <a:endParaRPr lang="en-US"/>
          </a:p>
        </p:txBody>
      </p:sp>
      <p:sp>
        <p:nvSpPr>
          <p:cNvPr id="95236" name="Rectangle 2"/>
          <p:cNvSpPr>
            <a:spLocks noGrp="1" noChangeArrowheads="1"/>
          </p:cNvSpPr>
          <p:nvPr>
            <p:ph type="title"/>
          </p:nvPr>
        </p:nvSpPr>
        <p:spPr/>
        <p:txBody>
          <a:bodyPr/>
          <a:lstStyle/>
          <a:p>
            <a:r>
              <a:rPr lang="en-US" sz="4000"/>
              <a:t>Distribution Phase</a:t>
            </a:r>
          </a:p>
        </p:txBody>
      </p:sp>
      <p:sp>
        <p:nvSpPr>
          <p:cNvPr id="95237"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r>
              <a:rPr lang="en-US">
                <a:solidFill>
                  <a:schemeClr val="accent1"/>
                </a:solidFill>
                <a:latin typeface="Arial" pitchFamily="34" charset="0"/>
                <a:cs typeface="Arial" pitchFamily="34" charset="0"/>
              </a:rPr>
              <a:t>5</a:t>
            </a:r>
          </a:p>
        </p:txBody>
      </p:sp>
      <p:sp>
        <p:nvSpPr>
          <p:cNvPr id="95238"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95239"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95240" name="Group 6"/>
          <p:cNvGrpSpPr>
            <a:grpSpLocks/>
          </p:cNvGrpSpPr>
          <p:nvPr/>
        </p:nvGrpSpPr>
        <p:grpSpPr bwMode="auto">
          <a:xfrm flipH="1">
            <a:off x="852488" y="4953000"/>
            <a:ext cx="1219200" cy="1090613"/>
            <a:chOff x="1584" y="816"/>
            <a:chExt cx="912" cy="816"/>
          </a:xfrm>
        </p:grpSpPr>
        <p:sp>
          <p:nvSpPr>
            <p:cNvPr id="95278"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9"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80"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81"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82"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83"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84"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85"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86"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5241" name="Group 16"/>
          <p:cNvGrpSpPr>
            <a:grpSpLocks/>
          </p:cNvGrpSpPr>
          <p:nvPr/>
        </p:nvGrpSpPr>
        <p:grpSpPr bwMode="auto">
          <a:xfrm>
            <a:off x="2925763" y="4953000"/>
            <a:ext cx="1219200" cy="1090613"/>
            <a:chOff x="1584" y="816"/>
            <a:chExt cx="912" cy="816"/>
          </a:xfrm>
        </p:grpSpPr>
        <p:sp>
          <p:nvSpPr>
            <p:cNvPr id="95269"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0"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1"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2"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3"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4"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5"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6"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77"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5242"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95243" name="Line 29"/>
          <p:cNvSpPr>
            <a:spLocks noChangeShapeType="1"/>
          </p:cNvSpPr>
          <p:nvPr/>
        </p:nvSpPr>
        <p:spPr bwMode="auto">
          <a:xfrm>
            <a:off x="50292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grpSp>
        <p:nvGrpSpPr>
          <p:cNvPr id="95244" name="Group 30"/>
          <p:cNvGrpSpPr>
            <a:grpSpLocks/>
          </p:cNvGrpSpPr>
          <p:nvPr/>
        </p:nvGrpSpPr>
        <p:grpSpPr bwMode="auto">
          <a:xfrm flipH="1">
            <a:off x="4999038" y="4953000"/>
            <a:ext cx="1219200" cy="1090613"/>
            <a:chOff x="1584" y="816"/>
            <a:chExt cx="912" cy="816"/>
          </a:xfrm>
        </p:grpSpPr>
        <p:sp>
          <p:nvSpPr>
            <p:cNvPr id="95260"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1"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2"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3"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4"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5"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6"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7"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68"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5245" name="Group 40"/>
          <p:cNvGrpSpPr>
            <a:grpSpLocks/>
          </p:cNvGrpSpPr>
          <p:nvPr/>
        </p:nvGrpSpPr>
        <p:grpSpPr bwMode="auto">
          <a:xfrm>
            <a:off x="7072313" y="4953000"/>
            <a:ext cx="1219200" cy="1090613"/>
            <a:chOff x="1584" y="816"/>
            <a:chExt cx="912" cy="816"/>
          </a:xfrm>
        </p:grpSpPr>
        <p:sp>
          <p:nvSpPr>
            <p:cNvPr id="95251"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52"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53"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54"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55"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56"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57"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58"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259"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95246" name="Freeform 50"/>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type="triangle" w="med" len="med"/>
            <a:tailEnd/>
          </a:ln>
        </p:spPr>
        <p:txBody>
          <a:bodyPr wrap="none" anchor="ctr"/>
          <a:lstStyle/>
          <a:p>
            <a:endParaRPr lang="en-US">
              <a:latin typeface="Arial" pitchFamily="34" charset="0"/>
              <a:cs typeface="Arial" pitchFamily="34" charset="0"/>
            </a:endParaRPr>
          </a:p>
        </p:txBody>
      </p:sp>
      <p:sp>
        <p:nvSpPr>
          <p:cNvPr id="95247" name="Text Box 55"/>
          <p:cNvSpPr txBox="1">
            <a:spLocks noChangeArrowheads="1"/>
          </p:cNvSpPr>
          <p:nvPr/>
        </p:nvSpPr>
        <p:spPr bwMode="auto">
          <a:xfrm>
            <a:off x="4951413" y="2813050"/>
            <a:ext cx="3765550" cy="946150"/>
          </a:xfrm>
          <a:prstGeom prst="rect">
            <a:avLst/>
          </a:prstGeom>
          <a:solidFill>
            <a:schemeClr val="bg1"/>
          </a:solidFill>
          <a:ln w="9525">
            <a:noFill/>
            <a:miter lim="800000"/>
            <a:headEnd/>
            <a:tailEnd/>
          </a:ln>
        </p:spPr>
        <p:txBody>
          <a:bodyPr>
            <a:spAutoFit/>
          </a:bodyPr>
          <a:lstStyle/>
          <a:p>
            <a:pPr algn="ctr">
              <a:spcBef>
                <a:spcPct val="0"/>
              </a:spcBef>
            </a:pPr>
            <a:r>
              <a:rPr lang="en-US" sz="2800">
                <a:solidFill>
                  <a:schemeClr val="accent1"/>
                </a:solidFill>
                <a:latin typeface="Arial" pitchFamily="34" charset="0"/>
                <a:cs typeface="Arial" pitchFamily="34" charset="0"/>
              </a:rPr>
              <a:t>2</a:t>
            </a:r>
            <a:r>
              <a:rPr lang="en-US" sz="2800" baseline="30000">
                <a:solidFill>
                  <a:schemeClr val="accent1"/>
                </a:solidFill>
                <a:latin typeface="Arial" pitchFamily="34" charset="0"/>
                <a:cs typeface="Arial" pitchFamily="34" charset="0"/>
              </a:rPr>
              <a:t>nd</a:t>
            </a:r>
            <a:r>
              <a:rPr lang="en-US" sz="2800">
                <a:solidFill>
                  <a:schemeClr val="accent1"/>
                </a:solidFill>
                <a:latin typeface="Arial" pitchFamily="34" charset="0"/>
                <a:cs typeface="Arial" pitchFamily="34" charset="0"/>
              </a:rPr>
              <a:t> thread awakens, unlocks, takes value</a:t>
            </a:r>
          </a:p>
        </p:txBody>
      </p:sp>
      <p:sp>
        <p:nvSpPr>
          <p:cNvPr id="95248" name="AutoShape 56"/>
          <p:cNvSpPr>
            <a:spLocks noChangeArrowheads="1"/>
          </p:cNvSpPr>
          <p:nvPr/>
        </p:nvSpPr>
        <p:spPr bwMode="auto">
          <a:xfrm>
            <a:off x="1676400" y="3276600"/>
            <a:ext cx="2057400" cy="990600"/>
          </a:xfrm>
          <a:prstGeom prst="wedgeRoundRectCallout">
            <a:avLst>
              <a:gd name="adj1" fmla="val 110495"/>
              <a:gd name="adj2" fmla="val -49838"/>
              <a:gd name="adj3" fmla="val 16667"/>
            </a:avLst>
          </a:prstGeom>
          <a:noFill/>
          <a:ln w="38100">
            <a:solidFill>
              <a:schemeClr val="accent1"/>
            </a:solidFill>
            <a:miter lim="800000"/>
            <a:headEnd/>
            <a:tailEnd/>
          </a:ln>
        </p:spPr>
        <p:txBody>
          <a:bodyPr anchor="ctr"/>
          <a:lstStyle/>
          <a:p>
            <a:pPr algn="ctr">
              <a:spcBef>
                <a:spcPct val="0"/>
              </a:spcBef>
            </a:pPr>
            <a:endParaRPr lang="en-US" sz="4000">
              <a:latin typeface="Arial" pitchFamily="34" charset="0"/>
              <a:cs typeface="Arial" pitchFamily="34" charset="0"/>
            </a:endParaRPr>
          </a:p>
        </p:txBody>
      </p:sp>
      <p:sp>
        <p:nvSpPr>
          <p:cNvPr id="95249" name="Text Box 57"/>
          <p:cNvSpPr txBox="1">
            <a:spLocks noChangeArrowheads="1"/>
          </p:cNvSpPr>
          <p:nvPr/>
        </p:nvSpPr>
        <p:spPr bwMode="auto">
          <a:xfrm>
            <a:off x="2375562" y="3429000"/>
            <a:ext cx="651139" cy="338554"/>
          </a:xfrm>
          <a:prstGeom prst="rect">
            <a:avLst/>
          </a:prstGeom>
          <a:solidFill>
            <a:schemeClr val="bg1"/>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IDLE</a:t>
            </a:r>
          </a:p>
        </p:txBody>
      </p:sp>
      <p:sp>
        <p:nvSpPr>
          <p:cNvPr id="95250" name="Text Box 63"/>
          <p:cNvSpPr txBox="1">
            <a:spLocks noChangeArrowheads="1"/>
          </p:cNvSpPr>
          <p:nvPr/>
        </p:nvSpPr>
        <p:spPr bwMode="auto">
          <a:xfrm>
            <a:off x="3367088" y="4191000"/>
            <a:ext cx="307975" cy="336550"/>
          </a:xfrm>
          <a:prstGeom prst="rect">
            <a:avLst/>
          </a:prstGeom>
          <a:solidFill>
            <a:srgbClr val="FFFF00"/>
          </a:solidFill>
          <a:ln w="38100" algn="ctr">
            <a:noFill/>
            <a:miter lim="800000"/>
            <a:headEnd/>
            <a:tailEnd/>
          </a:ln>
        </p:spPr>
        <p:txBody>
          <a:bodyPr wrap="none">
            <a:spAutoFit/>
          </a:bodyPr>
          <a:lstStyle/>
          <a:p>
            <a:pPr algn="ctr">
              <a:spcBef>
                <a:spcPct val="0"/>
              </a:spcBef>
            </a:pPr>
            <a:r>
              <a:rPr lang="en-US" sz="1600">
                <a:solidFill>
                  <a:schemeClr val="tx1"/>
                </a:solidFill>
                <a:latin typeface="Arial" pitchFamily="34" charset="0"/>
                <a:cs typeface="Arial" pitchFamily="34" charset="0"/>
              </a:rPr>
              <a:t>3</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418DC5C4-2939-455A-9C32-0B57FEC8A8AD}" type="slidenum">
              <a:rPr lang="en-US"/>
              <a:pPr>
                <a:defRPr/>
              </a:pPr>
              <a:t>95</a:t>
            </a:fld>
            <a:endParaRPr lang="en-US"/>
          </a:p>
        </p:txBody>
      </p:sp>
      <p:sp>
        <p:nvSpPr>
          <p:cNvPr id="96260" name="Rectangle 2"/>
          <p:cNvSpPr>
            <a:spLocks noGrp="1" noChangeArrowheads="1"/>
          </p:cNvSpPr>
          <p:nvPr>
            <p:ph type="title"/>
          </p:nvPr>
        </p:nvSpPr>
        <p:spPr/>
        <p:txBody>
          <a:bodyPr/>
          <a:lstStyle/>
          <a:p>
            <a:r>
              <a:rPr lang="en-US" sz="4000"/>
              <a:t>Distribution Phase Navigation</a:t>
            </a:r>
          </a:p>
        </p:txBody>
      </p:sp>
      <p:sp>
        <p:nvSpPr>
          <p:cNvPr id="96261" name="Rectangle 3"/>
          <p:cNvSpPr>
            <a:spLocks noChangeArrowheads="1"/>
          </p:cNvSpPr>
          <p:nvPr/>
        </p:nvSpPr>
        <p:spPr bwMode="auto">
          <a:xfrm>
            <a:off x="947738" y="151765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tx1"/>
                </a:solidFill>
                <a:latin typeface="Courier New" pitchFamily="49" charset="0"/>
              </a:rPr>
              <a:t>while</a:t>
            </a:r>
            <a:r>
              <a:rPr lang="en-US" dirty="0">
                <a:latin typeface="Courier New" pitchFamily="49" charset="0"/>
              </a:rPr>
              <a:t> (!</a:t>
            </a:r>
            <a:r>
              <a:rPr lang="en-US" dirty="0" err="1">
                <a:latin typeface="Courier New" pitchFamily="49" charset="0"/>
              </a:rPr>
              <a:t>stack.empty</a:t>
            </a:r>
            <a:r>
              <a:rPr lang="en-US" dirty="0">
                <a:latin typeface="Courier New" pitchFamily="49" charset="0"/>
              </a:rPr>
              <a:t>()) {</a:t>
            </a:r>
          </a:p>
          <a:p>
            <a:pPr marL="342900" indent="-342900"/>
            <a:r>
              <a:rPr lang="en-US" dirty="0">
                <a:latin typeface="Courier New" pitchFamily="49" charset="0"/>
              </a:rPr>
              <a:t>  node = </a:t>
            </a:r>
            <a:r>
              <a:rPr lang="en-US" dirty="0" err="1">
                <a:latin typeface="Courier New" pitchFamily="49" charset="0"/>
              </a:rPr>
              <a:t>stack.pop</a:t>
            </a:r>
            <a:r>
              <a:rPr lang="en-US" dirty="0">
                <a:latin typeface="Courier New" pitchFamily="49" charset="0"/>
              </a:rPr>
              <a:t>();</a:t>
            </a:r>
          </a:p>
          <a:p>
            <a:pPr marL="342900" indent="-342900"/>
            <a:r>
              <a:rPr lang="en-US" dirty="0">
                <a:latin typeface="Courier New" pitchFamily="49" charset="0"/>
              </a:rPr>
              <a:t>  </a:t>
            </a:r>
            <a:r>
              <a:rPr lang="en-US" dirty="0" err="1">
                <a:latin typeface="Courier New" pitchFamily="49" charset="0"/>
              </a:rPr>
              <a:t>node.distribute</a:t>
            </a:r>
            <a:r>
              <a:rPr lang="en-US" dirty="0">
                <a:latin typeface="Courier New" pitchFamily="49" charset="0"/>
              </a:rPr>
              <a:t>(prior);</a:t>
            </a:r>
          </a:p>
          <a:p>
            <a:pPr marL="342900" indent="-342900"/>
            <a:r>
              <a:rPr lang="en-US" dirty="0">
                <a:latin typeface="Courier New" pitchFamily="49" charset="0"/>
              </a:rPr>
              <a:t>  }</a:t>
            </a:r>
          </a:p>
          <a:p>
            <a:pPr marL="342900" indent="-342900"/>
            <a:r>
              <a:rPr lang="en-US" dirty="0">
                <a:solidFill>
                  <a:schemeClr val="tx1"/>
                </a:solidFill>
                <a:latin typeface="Courier New" pitchFamily="49" charset="0"/>
              </a:rPr>
              <a:t>return</a:t>
            </a:r>
            <a:r>
              <a:rPr lang="en-US" dirty="0">
                <a:latin typeface="Courier New" pitchFamily="49" charset="0"/>
              </a:rPr>
              <a:t> prior;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97D4E32F-BA44-4EC0-8A09-00E799C80C39}" type="slidenum">
              <a:rPr lang="en-US"/>
              <a:pPr>
                <a:defRPr/>
              </a:pPr>
              <a:t>96</a:t>
            </a:fld>
            <a:endParaRPr lang="en-US"/>
          </a:p>
        </p:txBody>
      </p:sp>
      <p:sp>
        <p:nvSpPr>
          <p:cNvPr id="97284" name="Rectangle 2"/>
          <p:cNvSpPr>
            <a:spLocks noGrp="1" noChangeArrowheads="1"/>
          </p:cNvSpPr>
          <p:nvPr>
            <p:ph type="title"/>
          </p:nvPr>
        </p:nvSpPr>
        <p:spPr/>
        <p:txBody>
          <a:bodyPr/>
          <a:lstStyle/>
          <a:p>
            <a:r>
              <a:rPr lang="en-US" sz="4000"/>
              <a:t>Distribution Phase Navigation</a:t>
            </a:r>
          </a:p>
        </p:txBody>
      </p:sp>
      <p:sp>
        <p:nvSpPr>
          <p:cNvPr id="97285" name="Rectangle 3"/>
          <p:cNvSpPr>
            <a:spLocks noChangeArrowheads="1"/>
          </p:cNvSpPr>
          <p:nvPr/>
        </p:nvSpPr>
        <p:spPr bwMode="auto">
          <a:xfrm>
            <a:off x="947738" y="151765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tx1"/>
                </a:solidFill>
                <a:latin typeface="Courier New" pitchFamily="49" charset="0"/>
              </a:rPr>
              <a:t>while</a:t>
            </a:r>
            <a:r>
              <a:rPr lang="en-US" dirty="0">
                <a:latin typeface="Courier New" pitchFamily="49" charset="0"/>
              </a:rPr>
              <a:t> (!</a:t>
            </a:r>
            <a:r>
              <a:rPr lang="en-US" dirty="0" err="1">
                <a:latin typeface="Courier New" pitchFamily="49" charset="0"/>
              </a:rPr>
              <a:t>stack.empty</a:t>
            </a:r>
            <a:r>
              <a:rPr lang="en-US" dirty="0">
                <a:latin typeface="Courier New" pitchFamily="49" charset="0"/>
              </a:rPr>
              <a:t>()) {</a:t>
            </a:r>
          </a:p>
          <a:p>
            <a:pPr marL="342900" indent="-342900"/>
            <a:r>
              <a:rPr lang="en-US" dirty="0">
                <a:latin typeface="Courier New" pitchFamily="49" charset="0"/>
              </a:rPr>
              <a:t>  node = </a:t>
            </a:r>
            <a:r>
              <a:rPr lang="en-US" dirty="0" err="1">
                <a:latin typeface="Courier New" pitchFamily="49" charset="0"/>
              </a:rPr>
              <a:t>stack.pop</a:t>
            </a:r>
            <a:r>
              <a:rPr lang="en-US" dirty="0">
                <a:latin typeface="Courier New" pitchFamily="49" charset="0"/>
              </a:rPr>
              <a:t>();</a:t>
            </a:r>
          </a:p>
          <a:p>
            <a:pPr marL="342900" indent="-342900"/>
            <a:r>
              <a:rPr lang="en-US" dirty="0">
                <a:latin typeface="Courier New" pitchFamily="49" charset="0"/>
              </a:rPr>
              <a:t>  </a:t>
            </a:r>
            <a:r>
              <a:rPr lang="en-US" dirty="0" err="1">
                <a:solidFill>
                  <a:schemeClr val="folHlink"/>
                </a:solidFill>
                <a:latin typeface="Courier New" pitchFamily="49" charset="0"/>
              </a:rPr>
              <a:t>node.distribute</a:t>
            </a:r>
            <a:r>
              <a:rPr lang="en-US" dirty="0">
                <a:solidFill>
                  <a:schemeClr val="folHlink"/>
                </a:solidFill>
                <a:latin typeface="Courier New" pitchFamily="49" charset="0"/>
              </a:rPr>
              <a:t>(prior);</a:t>
            </a:r>
          </a:p>
          <a:p>
            <a:pPr marL="342900" indent="-342900"/>
            <a:r>
              <a:rPr lang="en-US" dirty="0">
                <a:solidFill>
                  <a:schemeClr val="folHlink"/>
                </a:solidFill>
                <a:latin typeface="Courier New" pitchFamily="49" charset="0"/>
              </a:rPr>
              <a:t>  }</a:t>
            </a:r>
          </a:p>
          <a:p>
            <a:pPr marL="342900" indent="-342900"/>
            <a:r>
              <a:rPr lang="en-US" dirty="0">
                <a:solidFill>
                  <a:schemeClr val="folHlink"/>
                </a:solidFill>
                <a:latin typeface="Courier New" pitchFamily="49" charset="0"/>
              </a:rPr>
              <a:t>return prior;</a:t>
            </a:r>
            <a:r>
              <a:rPr lang="en-US" dirty="0">
                <a:latin typeface="Courier New" pitchFamily="49" charset="0"/>
              </a:rPr>
              <a:t> </a:t>
            </a:r>
          </a:p>
        </p:txBody>
      </p:sp>
      <p:sp>
        <p:nvSpPr>
          <p:cNvPr id="97286" name="Text Box 4"/>
          <p:cNvSpPr txBox="1">
            <a:spLocks noChangeArrowheads="1"/>
          </p:cNvSpPr>
          <p:nvPr/>
        </p:nvSpPr>
        <p:spPr bwMode="auto">
          <a:xfrm>
            <a:off x="3951288" y="4405313"/>
            <a:ext cx="3917950" cy="94615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Traverse path in reverse order</a:t>
            </a:r>
          </a:p>
        </p:txBody>
      </p:sp>
      <p:sp>
        <p:nvSpPr>
          <p:cNvPr id="97287" name="AutoShape 5"/>
          <p:cNvSpPr>
            <a:spLocks noChangeArrowheads="1"/>
          </p:cNvSpPr>
          <p:nvPr/>
        </p:nvSpPr>
        <p:spPr bwMode="auto">
          <a:xfrm>
            <a:off x="947738" y="1517650"/>
            <a:ext cx="4819650" cy="944563"/>
          </a:xfrm>
          <a:prstGeom prst="wedgeRoundRectCallout">
            <a:avLst>
              <a:gd name="adj1" fmla="val 26384"/>
              <a:gd name="adj2" fmla="val 252352"/>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6CCBA5F3-60A1-4993-AD23-2CBEA9545A97}" type="slidenum">
              <a:rPr lang="en-US"/>
              <a:pPr>
                <a:defRPr/>
              </a:pPr>
              <a:t>97</a:t>
            </a:fld>
            <a:endParaRPr lang="en-US"/>
          </a:p>
        </p:txBody>
      </p:sp>
      <p:sp>
        <p:nvSpPr>
          <p:cNvPr id="98308" name="Rectangle 2"/>
          <p:cNvSpPr>
            <a:spLocks noGrp="1" noChangeArrowheads="1"/>
          </p:cNvSpPr>
          <p:nvPr>
            <p:ph type="title"/>
          </p:nvPr>
        </p:nvSpPr>
        <p:spPr/>
        <p:txBody>
          <a:bodyPr/>
          <a:lstStyle/>
          <a:p>
            <a:r>
              <a:rPr lang="en-US" sz="4000"/>
              <a:t>Distribution Phase Navigation</a:t>
            </a:r>
          </a:p>
        </p:txBody>
      </p:sp>
      <p:sp>
        <p:nvSpPr>
          <p:cNvPr id="98309" name="Rectangle 3"/>
          <p:cNvSpPr>
            <a:spLocks noChangeArrowheads="1"/>
          </p:cNvSpPr>
          <p:nvPr/>
        </p:nvSpPr>
        <p:spPr bwMode="auto">
          <a:xfrm>
            <a:off x="947738" y="151765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while (!</a:t>
            </a:r>
            <a:r>
              <a:rPr lang="en-US" dirty="0" err="1">
                <a:solidFill>
                  <a:schemeClr val="folHlink"/>
                </a:solidFill>
                <a:latin typeface="Courier New" pitchFamily="49" charset="0"/>
              </a:rPr>
              <a:t>stack.empty</a:t>
            </a:r>
            <a:r>
              <a:rPr lang="en-US" dirty="0">
                <a:solidFill>
                  <a:schemeClr val="folHlink"/>
                </a:solidFill>
                <a:latin typeface="Courier New" pitchFamily="49" charset="0"/>
              </a:rPr>
              <a:t>()) {</a:t>
            </a:r>
          </a:p>
          <a:p>
            <a:pPr marL="342900" indent="-342900"/>
            <a:r>
              <a:rPr lang="en-US" dirty="0">
                <a:solidFill>
                  <a:schemeClr val="folHlink"/>
                </a:solidFill>
                <a:latin typeface="Courier New" pitchFamily="49" charset="0"/>
              </a:rPr>
              <a:t>  node = </a:t>
            </a:r>
            <a:r>
              <a:rPr lang="en-US" dirty="0" err="1">
                <a:solidFill>
                  <a:schemeClr val="folHlink"/>
                </a:solidFill>
                <a:latin typeface="Courier New" pitchFamily="49" charset="0"/>
              </a:rPr>
              <a:t>stack.pop</a:t>
            </a:r>
            <a:r>
              <a:rPr lang="en-US" dirty="0">
                <a:solidFill>
                  <a:schemeClr val="folHlink"/>
                </a:solidFill>
                <a:latin typeface="Courier New" pitchFamily="49" charset="0"/>
              </a:rPr>
              <a:t>();</a:t>
            </a:r>
          </a:p>
          <a:p>
            <a:pPr marL="342900" indent="-342900"/>
            <a:r>
              <a:rPr lang="en-US" dirty="0">
                <a:latin typeface="Courier New" pitchFamily="49" charset="0"/>
              </a:rPr>
              <a:t>  </a:t>
            </a:r>
            <a:r>
              <a:rPr lang="en-US" dirty="0" err="1">
                <a:latin typeface="Courier New" pitchFamily="49" charset="0"/>
              </a:rPr>
              <a:t>node.distribute</a:t>
            </a:r>
            <a:r>
              <a:rPr lang="en-US" dirty="0">
                <a:latin typeface="Courier New" pitchFamily="49" charset="0"/>
              </a:rPr>
              <a:t>(prior);</a:t>
            </a:r>
          </a:p>
          <a:p>
            <a:pPr marL="342900" indent="-342900"/>
            <a:r>
              <a:rPr lang="en-US" dirty="0">
                <a:latin typeface="Courier New" pitchFamily="49" charset="0"/>
              </a:rPr>
              <a:t>  </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return prior;</a:t>
            </a:r>
            <a:r>
              <a:rPr lang="en-US" dirty="0">
                <a:latin typeface="Courier New" pitchFamily="49" charset="0"/>
              </a:rPr>
              <a:t> </a:t>
            </a:r>
          </a:p>
        </p:txBody>
      </p:sp>
      <p:sp>
        <p:nvSpPr>
          <p:cNvPr id="98310" name="Text Box 4"/>
          <p:cNvSpPr txBox="1">
            <a:spLocks noChangeArrowheads="1"/>
          </p:cNvSpPr>
          <p:nvPr/>
        </p:nvSpPr>
        <p:spPr bwMode="auto">
          <a:xfrm>
            <a:off x="3951288" y="4405313"/>
            <a:ext cx="3917950" cy="94615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Distribute results to waiting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threads</a:t>
            </a:r>
          </a:p>
        </p:txBody>
      </p:sp>
      <p:sp>
        <p:nvSpPr>
          <p:cNvPr id="98311" name="AutoShape 5"/>
          <p:cNvSpPr>
            <a:spLocks noChangeArrowheads="1"/>
          </p:cNvSpPr>
          <p:nvPr/>
        </p:nvSpPr>
        <p:spPr bwMode="auto">
          <a:xfrm>
            <a:off x="1223963" y="2286000"/>
            <a:ext cx="4543425" cy="647700"/>
          </a:xfrm>
          <a:prstGeom prst="wedgeRoundRectCallout">
            <a:avLst>
              <a:gd name="adj1" fmla="val 35676"/>
              <a:gd name="adj2" fmla="val 281370"/>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6CB6F90B-5345-405D-873B-052A9F94ED70}" type="slidenum">
              <a:rPr lang="en-US"/>
              <a:pPr>
                <a:defRPr/>
              </a:pPr>
              <a:t>98</a:t>
            </a:fld>
            <a:endParaRPr lang="en-US"/>
          </a:p>
        </p:txBody>
      </p:sp>
      <p:sp>
        <p:nvSpPr>
          <p:cNvPr id="99332" name="Rectangle 2"/>
          <p:cNvSpPr>
            <a:spLocks noGrp="1" noChangeArrowheads="1"/>
          </p:cNvSpPr>
          <p:nvPr>
            <p:ph type="title"/>
          </p:nvPr>
        </p:nvSpPr>
        <p:spPr/>
        <p:txBody>
          <a:bodyPr/>
          <a:lstStyle/>
          <a:p>
            <a:r>
              <a:rPr lang="en-US" sz="4000"/>
              <a:t>Distribution Phase Navigation</a:t>
            </a:r>
          </a:p>
        </p:txBody>
      </p:sp>
      <p:sp>
        <p:nvSpPr>
          <p:cNvPr id="99333" name="Rectangle 3"/>
          <p:cNvSpPr>
            <a:spLocks noChangeArrowheads="1"/>
          </p:cNvSpPr>
          <p:nvPr/>
        </p:nvSpPr>
        <p:spPr bwMode="auto">
          <a:xfrm>
            <a:off x="947738" y="151765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while (!</a:t>
            </a:r>
            <a:r>
              <a:rPr lang="en-US" dirty="0" err="1">
                <a:solidFill>
                  <a:schemeClr val="folHlink"/>
                </a:solidFill>
                <a:latin typeface="Courier New" pitchFamily="49" charset="0"/>
              </a:rPr>
              <a:t>stack.empty</a:t>
            </a:r>
            <a:r>
              <a:rPr lang="en-US" dirty="0">
                <a:solidFill>
                  <a:schemeClr val="folHlink"/>
                </a:solidFill>
                <a:latin typeface="Courier New" pitchFamily="49" charset="0"/>
              </a:rPr>
              <a:t>()) {</a:t>
            </a:r>
          </a:p>
          <a:p>
            <a:pPr marL="342900" indent="-342900"/>
            <a:r>
              <a:rPr lang="en-US" dirty="0">
                <a:solidFill>
                  <a:schemeClr val="folHlink"/>
                </a:solidFill>
                <a:latin typeface="Courier New" pitchFamily="49" charset="0"/>
              </a:rPr>
              <a:t>  node = </a:t>
            </a:r>
            <a:r>
              <a:rPr lang="en-US" dirty="0" err="1">
                <a:solidFill>
                  <a:schemeClr val="folHlink"/>
                </a:solidFill>
                <a:latin typeface="Courier New" pitchFamily="49" charset="0"/>
              </a:rPr>
              <a:t>stack.pop</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node.distribute</a:t>
            </a:r>
            <a:r>
              <a:rPr lang="en-US" dirty="0">
                <a:solidFill>
                  <a:schemeClr val="folHlink"/>
                </a:solidFill>
                <a:latin typeface="Courier New" pitchFamily="49" charset="0"/>
              </a:rPr>
              <a:t>(prior);</a:t>
            </a:r>
          </a:p>
          <a:p>
            <a:pPr marL="342900" indent="-342900"/>
            <a:r>
              <a:rPr lang="en-US" dirty="0">
                <a:solidFill>
                  <a:schemeClr val="folHlink"/>
                </a:solidFill>
                <a:latin typeface="Courier New" pitchFamily="49" charset="0"/>
              </a:rPr>
              <a:t>  }</a:t>
            </a:r>
          </a:p>
          <a:p>
            <a:pPr marL="342900" indent="-342900"/>
            <a:r>
              <a:rPr lang="en-US" dirty="0">
                <a:solidFill>
                  <a:schemeClr val="tx1"/>
                </a:solidFill>
                <a:latin typeface="Courier New" pitchFamily="49" charset="0"/>
              </a:rPr>
              <a:t>return</a:t>
            </a:r>
            <a:r>
              <a:rPr lang="en-US" dirty="0">
                <a:latin typeface="Courier New" pitchFamily="49" charset="0"/>
              </a:rPr>
              <a:t> prior; </a:t>
            </a:r>
          </a:p>
        </p:txBody>
      </p:sp>
      <p:sp>
        <p:nvSpPr>
          <p:cNvPr id="99334" name="Text Box 4"/>
          <p:cNvSpPr txBox="1">
            <a:spLocks noChangeArrowheads="1"/>
          </p:cNvSpPr>
          <p:nvPr/>
        </p:nvSpPr>
        <p:spPr bwMode="auto">
          <a:xfrm>
            <a:off x="3346450" y="4700588"/>
            <a:ext cx="2641600" cy="946150"/>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Return result to caller</a:t>
            </a:r>
          </a:p>
        </p:txBody>
      </p:sp>
      <p:sp>
        <p:nvSpPr>
          <p:cNvPr id="99335" name="AutoShape 5"/>
          <p:cNvSpPr>
            <a:spLocks noChangeArrowheads="1"/>
          </p:cNvSpPr>
          <p:nvPr/>
        </p:nvSpPr>
        <p:spPr bwMode="auto">
          <a:xfrm>
            <a:off x="947738" y="3273425"/>
            <a:ext cx="3359150" cy="454025"/>
          </a:xfrm>
          <a:prstGeom prst="wedgeRoundRectCallout">
            <a:avLst>
              <a:gd name="adj1" fmla="val 51843"/>
              <a:gd name="adj2" fmla="val 256644"/>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E361BAD8-07C5-446F-8741-6D1B5DFC8241}" type="slidenum">
              <a:rPr lang="en-US"/>
              <a:pPr>
                <a:defRPr/>
              </a:pPr>
              <a:t>99</a:t>
            </a:fld>
            <a:endParaRPr lang="en-US"/>
          </a:p>
        </p:txBody>
      </p:sp>
      <p:sp>
        <p:nvSpPr>
          <p:cNvPr id="100356" name="Rectangle 2"/>
          <p:cNvSpPr>
            <a:spLocks noGrp="1" noChangeArrowheads="1"/>
          </p:cNvSpPr>
          <p:nvPr>
            <p:ph type="title"/>
          </p:nvPr>
        </p:nvSpPr>
        <p:spPr/>
        <p:txBody>
          <a:bodyPr/>
          <a:lstStyle/>
          <a:p>
            <a:r>
              <a:rPr lang="en-US"/>
              <a:t>Distribution Phase</a:t>
            </a:r>
          </a:p>
        </p:txBody>
      </p:sp>
      <p:sp>
        <p:nvSpPr>
          <p:cNvPr id="100357" name="Rectangle 3"/>
          <p:cNvSpPr>
            <a:spLocks noChangeArrowheads="1"/>
          </p:cNvSpPr>
          <p:nvPr/>
        </p:nvSpPr>
        <p:spPr bwMode="auto">
          <a:xfrm>
            <a:off x="947738" y="1517650"/>
            <a:ext cx="7586662" cy="4094163"/>
          </a:xfrm>
          <a:prstGeom prst="rect">
            <a:avLst/>
          </a:prstGeom>
          <a:solidFill>
            <a:srgbClr val="FFFFCC"/>
          </a:solidFill>
          <a:ln w="9525">
            <a:noFill/>
            <a:miter lim="800000"/>
            <a:headEnd/>
            <a:tailEnd/>
          </a:ln>
        </p:spPr>
        <p:txBody>
          <a:bodyPr>
            <a:spAutoFit/>
          </a:bodyPr>
          <a:lstStyle/>
          <a:p>
            <a:pPr marL="342900" indent="-342900"/>
            <a:r>
              <a:rPr lang="en-US" sz="2000" dirty="0">
                <a:latin typeface="Courier New" pitchFamily="49" charset="0"/>
              </a:rPr>
              <a:t> </a:t>
            </a:r>
            <a:r>
              <a:rPr lang="en-US" sz="2000" dirty="0">
                <a:solidFill>
                  <a:schemeClr val="tx1"/>
                </a:solidFill>
                <a:latin typeface="Courier New" pitchFamily="49" charset="0"/>
              </a:rPr>
              <a:t>synchronized void</a:t>
            </a:r>
            <a:r>
              <a:rPr lang="en-US" sz="2000" dirty="0">
                <a:latin typeface="Courier New" pitchFamily="49" charset="0"/>
              </a:rPr>
              <a:t> distribute(</a:t>
            </a:r>
            <a:r>
              <a:rPr lang="en-US" sz="2000" dirty="0" err="1">
                <a:latin typeface="Courier New" pitchFamily="49" charset="0"/>
              </a:rPr>
              <a:t>int</a:t>
            </a:r>
            <a:r>
              <a:rPr lang="en-US" sz="2000" dirty="0">
                <a:latin typeface="Courier New" pitchFamily="49" charset="0"/>
              </a:rPr>
              <a:t> prior) {</a:t>
            </a:r>
          </a:p>
          <a:p>
            <a:pPr marL="342900" indent="-342900"/>
            <a:r>
              <a:rPr lang="en-US" sz="2000" dirty="0">
                <a:latin typeface="Courier New" pitchFamily="49" charset="0"/>
              </a:rPr>
              <a:t>    </a:t>
            </a:r>
            <a:r>
              <a:rPr lang="en-US" sz="2000" dirty="0">
                <a:solidFill>
                  <a:schemeClr val="tx1"/>
                </a:solidFill>
                <a:latin typeface="Courier New" pitchFamily="49" charset="0"/>
              </a:rPr>
              <a:t>switch</a:t>
            </a:r>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FIRST:</a:t>
            </a:r>
          </a:p>
          <a:p>
            <a:pPr marL="342900" indent="-342900"/>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CStatus.IDLE</a:t>
            </a:r>
            <a:r>
              <a:rPr lang="en-US" sz="2000" dirty="0">
                <a:latin typeface="Courier New" pitchFamily="49" charset="0"/>
              </a:rPr>
              <a:t>;</a:t>
            </a:r>
          </a:p>
          <a:p>
            <a:pPr marL="342900" indent="-342900"/>
            <a:r>
              <a:rPr lang="en-US" sz="2000" dirty="0">
                <a:latin typeface="Courier New" pitchFamily="49" charset="0"/>
              </a:rPr>
              <a:t>        locked = false; </a:t>
            </a:r>
            <a:r>
              <a:rPr lang="en-US" sz="2000" dirty="0" err="1">
                <a:latin typeface="Courier New" pitchFamily="49" charset="0"/>
              </a:rPr>
              <a:t>notifyAll</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SECOND:</a:t>
            </a:r>
          </a:p>
          <a:p>
            <a:pPr marL="342900" indent="-342900"/>
            <a:r>
              <a:rPr lang="en-US" sz="2000" dirty="0">
                <a:latin typeface="Courier New" pitchFamily="49" charset="0"/>
              </a:rPr>
              <a:t>        result = prior + </a:t>
            </a:r>
            <a:r>
              <a:rPr lang="en-US" sz="2000" dirty="0" err="1">
                <a:latin typeface="Courier New" pitchFamily="49" charset="0"/>
              </a:rPr>
              <a:t>firstValue</a:t>
            </a:r>
            <a:r>
              <a:rPr lang="en-US" sz="2000" dirty="0">
                <a:latin typeface="Courier New" pitchFamily="49" charset="0"/>
              </a:rPr>
              <a:t>;</a:t>
            </a:r>
          </a:p>
          <a:p>
            <a:pPr marL="342900" indent="-342900"/>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CStatus.RESULT</a:t>
            </a:r>
            <a:r>
              <a:rPr lang="en-US" sz="2000" dirty="0">
                <a:latin typeface="Courier New" pitchFamily="49" charset="0"/>
              </a:rPr>
              <a:t>; </a:t>
            </a:r>
            <a:r>
              <a:rPr lang="en-US" sz="2000" dirty="0" err="1">
                <a:latin typeface="Courier New" pitchFamily="49" charset="0"/>
              </a:rPr>
              <a:t>notifyAll</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default</a:t>
            </a:r>
            <a:r>
              <a:rPr lang="en-US" sz="2000" dirty="0">
                <a:latin typeface="Courier New" pitchFamily="49" charset="0"/>
              </a:rPr>
              <a:t>: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709A3CCC-4661-40BA-AA34-362C2732AB77}" type="slidenum">
              <a:rPr lang="en-US"/>
              <a:pPr>
                <a:defRPr/>
              </a:pPr>
              <a:t>100</a:t>
            </a:fld>
            <a:endParaRPr lang="en-US"/>
          </a:p>
        </p:txBody>
      </p:sp>
      <p:sp>
        <p:nvSpPr>
          <p:cNvPr id="101380" name="Rectangle 2"/>
          <p:cNvSpPr>
            <a:spLocks noGrp="1" noChangeArrowheads="1"/>
          </p:cNvSpPr>
          <p:nvPr>
            <p:ph type="title"/>
          </p:nvPr>
        </p:nvSpPr>
        <p:spPr/>
        <p:txBody>
          <a:bodyPr/>
          <a:lstStyle/>
          <a:p>
            <a:r>
              <a:rPr lang="en-US"/>
              <a:t>Distribution Phase</a:t>
            </a:r>
          </a:p>
        </p:txBody>
      </p:sp>
      <p:sp>
        <p:nvSpPr>
          <p:cNvPr id="101381" name="Rectangle 3"/>
          <p:cNvSpPr>
            <a:spLocks noChangeArrowheads="1"/>
          </p:cNvSpPr>
          <p:nvPr/>
        </p:nvSpPr>
        <p:spPr bwMode="auto">
          <a:xfrm>
            <a:off x="947738" y="1517650"/>
            <a:ext cx="7586662" cy="4094163"/>
          </a:xfrm>
          <a:prstGeom prst="rect">
            <a:avLst/>
          </a:prstGeom>
          <a:solidFill>
            <a:srgbClr val="FFFFCC"/>
          </a:solidFill>
          <a:ln w="9525">
            <a:noFill/>
            <a:miter lim="800000"/>
            <a:headEnd/>
            <a:tailEnd/>
          </a:ln>
        </p:spPr>
        <p:txBody>
          <a:bodyPr>
            <a:spAutoFit/>
          </a:bodyPr>
          <a:lstStyle/>
          <a:p>
            <a:pPr marL="342900" indent="-342900"/>
            <a:r>
              <a:rPr lang="en-US" sz="2000" dirty="0">
                <a:latin typeface="Courier New" pitchFamily="49" charset="0"/>
              </a:rPr>
              <a:t> </a:t>
            </a:r>
            <a:r>
              <a:rPr lang="en-US" sz="2000" dirty="0">
                <a:solidFill>
                  <a:schemeClr val="folHlink"/>
                </a:solidFill>
                <a:latin typeface="Courier New" pitchFamily="49" charset="0"/>
              </a:rPr>
              <a:t>synchronized void distribute(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prior) {</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FIRST:</a:t>
            </a:r>
          </a:p>
          <a:p>
            <a:pPr marL="342900" indent="-342900"/>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CStatus.IDLE</a:t>
            </a:r>
            <a:r>
              <a:rPr lang="en-US" sz="2000" dirty="0">
                <a:latin typeface="Courier New" pitchFamily="49" charset="0"/>
              </a:rPr>
              <a:t>;</a:t>
            </a:r>
          </a:p>
          <a:p>
            <a:pPr marL="342900" indent="-342900"/>
            <a:r>
              <a:rPr lang="en-US" sz="2000" dirty="0">
                <a:latin typeface="Courier New" pitchFamily="49" charset="0"/>
              </a:rPr>
              <a:t>        locked = false; </a:t>
            </a:r>
            <a:r>
              <a:rPr lang="en-US" sz="2000" dirty="0" err="1">
                <a:latin typeface="Courier New" pitchFamily="49" charset="0"/>
              </a:rPr>
              <a:t>notifyAll</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folHlink"/>
                </a:solidFill>
                <a:latin typeface="Courier New" pitchFamily="49" charset="0"/>
              </a:rPr>
              <a:t>case SECOND:</a:t>
            </a:r>
          </a:p>
          <a:p>
            <a:pPr marL="342900" indent="-342900"/>
            <a:r>
              <a:rPr lang="en-US" sz="2000" dirty="0">
                <a:solidFill>
                  <a:schemeClr val="folHlink"/>
                </a:solidFill>
                <a:latin typeface="Courier New" pitchFamily="49" charset="0"/>
              </a:rPr>
              <a:t>        result = prior + </a:t>
            </a:r>
            <a:r>
              <a:rPr lang="en-US" sz="2000" dirty="0" err="1">
                <a:solidFill>
                  <a:schemeClr val="folHlink"/>
                </a:solidFill>
                <a:latin typeface="Courier New" pitchFamily="49" charset="0"/>
              </a:rPr>
              <a:t>firstValue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CStatus.RESULT</a:t>
            </a:r>
            <a:r>
              <a:rPr lang="en-US" sz="2000" dirty="0">
                <a:solidFill>
                  <a:schemeClr val="folHlink"/>
                </a:solidFill>
                <a:latin typeface="Courier New" pitchFamily="49" charset="0"/>
              </a:rPr>
              <a:t>;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a:t>
            </a:r>
          </a:p>
          <a:p>
            <a:pPr marL="342900" indent="-342900"/>
            <a:r>
              <a:rPr lang="en-US" sz="2000" dirty="0">
                <a:solidFill>
                  <a:schemeClr val="folHlink"/>
                </a:solidFill>
                <a:latin typeface="Courier New" pitchFamily="49" charset="0"/>
              </a:rPr>
              <a:t>      default: …</a:t>
            </a:r>
          </a:p>
        </p:txBody>
      </p:sp>
      <p:sp>
        <p:nvSpPr>
          <p:cNvPr id="101382" name="Text Box 4"/>
          <p:cNvSpPr txBox="1">
            <a:spLocks noChangeArrowheads="1"/>
          </p:cNvSpPr>
          <p:nvPr/>
        </p:nvSpPr>
        <p:spPr bwMode="auto">
          <a:xfrm>
            <a:off x="3124201" y="4178300"/>
            <a:ext cx="5334000" cy="954107"/>
          </a:xfrm>
          <a:prstGeom prst="rect">
            <a:avLst/>
          </a:prstGeom>
          <a:solidFill>
            <a:srgbClr val="FFFFCC"/>
          </a:solidFill>
          <a:ln w="9525">
            <a:noFill/>
            <a:miter lim="800000"/>
            <a:headEnd/>
            <a:tailEnd/>
          </a:ln>
        </p:spPr>
        <p:txBody>
          <a:bodyPr wrap="square">
            <a:spAutoFit/>
          </a:bodyPr>
          <a:lstStyle/>
          <a:p>
            <a:pPr algn="ctr">
              <a:spcBef>
                <a:spcPct val="0"/>
              </a:spcBef>
            </a:pPr>
            <a:r>
              <a:rPr lang="en-US" sz="2800" dirty="0">
                <a:solidFill>
                  <a:srgbClr val="FF0000"/>
                </a:solidFill>
                <a:latin typeface="Arial" pitchFamily="34" charset="0"/>
                <a:cs typeface="Arial" pitchFamily="34" charset="0"/>
              </a:rPr>
              <a:t>No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 to combine with me, unlock node &amp; reset</a:t>
            </a:r>
          </a:p>
        </p:txBody>
      </p:sp>
      <p:sp>
        <p:nvSpPr>
          <p:cNvPr id="101383" name="AutoShape 5"/>
          <p:cNvSpPr>
            <a:spLocks noChangeArrowheads="1"/>
          </p:cNvSpPr>
          <p:nvPr/>
        </p:nvSpPr>
        <p:spPr bwMode="auto">
          <a:xfrm>
            <a:off x="1728788" y="2212975"/>
            <a:ext cx="5070475" cy="1562100"/>
          </a:xfrm>
          <a:prstGeom prst="wedgeRoundRectCallout">
            <a:avLst>
              <a:gd name="adj1" fmla="val 22449"/>
              <a:gd name="adj2" fmla="val 77745"/>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8BD50475-A3E1-4A43-94D9-9B7C1420857A}" type="slidenum">
              <a:rPr lang="en-US"/>
              <a:pPr>
                <a:defRPr/>
              </a:pPr>
              <a:t>101</a:t>
            </a:fld>
            <a:endParaRPr lang="en-US"/>
          </a:p>
        </p:txBody>
      </p:sp>
      <p:sp>
        <p:nvSpPr>
          <p:cNvPr id="102404" name="Rectangle 2"/>
          <p:cNvSpPr>
            <a:spLocks noGrp="1" noChangeArrowheads="1"/>
          </p:cNvSpPr>
          <p:nvPr>
            <p:ph type="title"/>
          </p:nvPr>
        </p:nvSpPr>
        <p:spPr/>
        <p:txBody>
          <a:bodyPr/>
          <a:lstStyle/>
          <a:p>
            <a:r>
              <a:rPr lang="en-US"/>
              <a:t>Distribution Phase</a:t>
            </a:r>
          </a:p>
        </p:txBody>
      </p:sp>
      <p:sp>
        <p:nvSpPr>
          <p:cNvPr id="102405" name="Rectangle 3"/>
          <p:cNvSpPr>
            <a:spLocks noChangeArrowheads="1"/>
          </p:cNvSpPr>
          <p:nvPr/>
        </p:nvSpPr>
        <p:spPr bwMode="auto">
          <a:xfrm>
            <a:off x="947738" y="1517650"/>
            <a:ext cx="7586662" cy="4094163"/>
          </a:xfrm>
          <a:prstGeom prst="rect">
            <a:avLst/>
          </a:prstGeom>
          <a:solidFill>
            <a:srgbClr val="FFFFCC"/>
          </a:solidFill>
          <a:ln w="9525">
            <a:noFill/>
            <a:miter lim="800000"/>
            <a:headEnd/>
            <a:tailEnd/>
          </a:ln>
        </p:spPr>
        <p:txBody>
          <a:bodyPr>
            <a:spAutoFit/>
          </a:bodyPr>
          <a:lstStyle/>
          <a:p>
            <a:pPr marL="342900" indent="-342900"/>
            <a:r>
              <a:rPr lang="en-US" sz="2000" dirty="0">
                <a:latin typeface="Courier New" pitchFamily="49" charset="0"/>
              </a:rPr>
              <a:t> </a:t>
            </a:r>
            <a:r>
              <a:rPr lang="en-US" sz="2000" dirty="0">
                <a:solidFill>
                  <a:schemeClr val="folHlink"/>
                </a:solidFill>
                <a:latin typeface="Courier New" pitchFamily="49" charset="0"/>
              </a:rPr>
              <a:t>synchronized void distribute(</a:t>
            </a:r>
            <a:r>
              <a:rPr lang="en-US" sz="2000" dirty="0" err="1">
                <a:solidFill>
                  <a:schemeClr val="folHlink"/>
                </a:solidFill>
                <a:latin typeface="Courier New" pitchFamily="49" charset="0"/>
              </a:rPr>
              <a:t>int</a:t>
            </a:r>
            <a:r>
              <a:rPr lang="en-US" sz="2000" dirty="0">
                <a:solidFill>
                  <a:schemeClr val="folHlink"/>
                </a:solidFill>
                <a:latin typeface="Courier New" pitchFamily="49" charset="0"/>
              </a:rPr>
              <a:t> prior) {</a:t>
            </a:r>
          </a:p>
          <a:p>
            <a:pPr marL="342900" indent="-342900"/>
            <a:r>
              <a:rPr lang="en-US" sz="2000" dirty="0">
                <a:solidFill>
                  <a:schemeClr val="folHlink"/>
                </a:solidFill>
                <a:latin typeface="Courier New" pitchFamily="49" charset="0"/>
              </a:rPr>
              <a:t>    switch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a:t>
            </a:r>
          </a:p>
          <a:p>
            <a:pPr marL="342900" indent="-342900"/>
            <a:r>
              <a:rPr lang="en-US" sz="2000" dirty="0">
                <a:solidFill>
                  <a:schemeClr val="folHlink"/>
                </a:solidFill>
                <a:latin typeface="Courier New" pitchFamily="49" charset="0"/>
              </a:rPr>
              <a:t>      case FIRST:</a:t>
            </a:r>
          </a:p>
          <a:p>
            <a:pPr marL="342900" indent="-342900"/>
            <a:r>
              <a:rPr lang="en-US" sz="2000" dirty="0">
                <a:solidFill>
                  <a:schemeClr val="folHlink"/>
                </a:solidFill>
                <a:latin typeface="Courier New" pitchFamily="49" charset="0"/>
              </a:rPr>
              <a:t>        </a:t>
            </a:r>
            <a:r>
              <a:rPr lang="en-US" sz="2000" dirty="0" err="1">
                <a:solidFill>
                  <a:schemeClr val="folHlink"/>
                </a:solidFill>
                <a:latin typeface="Courier New" pitchFamily="49" charset="0"/>
              </a:rPr>
              <a:t>cStatus</a:t>
            </a:r>
            <a:r>
              <a:rPr lang="en-US" sz="2000" dirty="0">
                <a:solidFill>
                  <a:schemeClr val="folHlink"/>
                </a:solidFill>
                <a:latin typeface="Courier New" pitchFamily="49" charset="0"/>
              </a:rPr>
              <a:t> = </a:t>
            </a:r>
            <a:r>
              <a:rPr lang="en-US" sz="2000" dirty="0" err="1">
                <a:solidFill>
                  <a:schemeClr val="folHlink"/>
                </a:solidFill>
                <a:latin typeface="Courier New" pitchFamily="49" charset="0"/>
              </a:rPr>
              <a:t>CStatus.IDLE</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locked = false; </a:t>
            </a:r>
            <a:r>
              <a:rPr lang="en-US" sz="2000" dirty="0" err="1">
                <a:solidFill>
                  <a:schemeClr val="folHlink"/>
                </a:solidFill>
                <a:latin typeface="Courier New" pitchFamily="49" charset="0"/>
              </a:rPr>
              <a:t>notifyAll</a:t>
            </a:r>
            <a:r>
              <a:rPr lang="en-US" sz="2000" dirty="0">
                <a:solidFill>
                  <a:schemeClr val="folHlink"/>
                </a:solidFill>
                <a:latin typeface="Courier New" pitchFamily="49" charset="0"/>
              </a:rPr>
              <a:t>();</a:t>
            </a:r>
          </a:p>
          <a:p>
            <a:pPr marL="342900" indent="-342900"/>
            <a:r>
              <a:rPr lang="en-US" sz="2000" dirty="0">
                <a:solidFill>
                  <a:schemeClr val="folHlink"/>
                </a:solidFill>
                <a:latin typeface="Courier New" pitchFamily="49" charset="0"/>
              </a:rPr>
              <a:t>        return;</a:t>
            </a:r>
          </a:p>
          <a:p>
            <a:pPr marL="342900" indent="-342900"/>
            <a:r>
              <a:rPr lang="en-US" sz="2000" dirty="0">
                <a:latin typeface="Courier New" pitchFamily="49" charset="0"/>
              </a:rPr>
              <a:t>      </a:t>
            </a:r>
            <a:r>
              <a:rPr lang="en-US" sz="2000" dirty="0">
                <a:solidFill>
                  <a:schemeClr val="tx1"/>
                </a:solidFill>
                <a:latin typeface="Courier New" pitchFamily="49" charset="0"/>
              </a:rPr>
              <a:t>case</a:t>
            </a:r>
            <a:r>
              <a:rPr lang="en-US" sz="2000" dirty="0">
                <a:latin typeface="Courier New" pitchFamily="49" charset="0"/>
              </a:rPr>
              <a:t> SECOND:</a:t>
            </a:r>
          </a:p>
          <a:p>
            <a:pPr marL="342900" indent="-342900"/>
            <a:r>
              <a:rPr lang="en-US" sz="2000" dirty="0">
                <a:latin typeface="Courier New" pitchFamily="49" charset="0"/>
              </a:rPr>
              <a:t>        result = prior + </a:t>
            </a:r>
            <a:r>
              <a:rPr lang="en-US" sz="2000" dirty="0" err="1">
                <a:latin typeface="Courier New" pitchFamily="49" charset="0"/>
              </a:rPr>
              <a:t>firstValue</a:t>
            </a:r>
            <a:r>
              <a:rPr lang="en-US" sz="2000" dirty="0">
                <a:latin typeface="Courier New" pitchFamily="49" charset="0"/>
              </a:rPr>
              <a:t>;</a:t>
            </a:r>
          </a:p>
          <a:p>
            <a:pPr marL="342900" indent="-342900"/>
            <a:r>
              <a:rPr lang="en-US" sz="2000" dirty="0">
                <a:latin typeface="Courier New" pitchFamily="49" charset="0"/>
              </a:rPr>
              <a:t>        </a:t>
            </a:r>
            <a:r>
              <a:rPr lang="en-US" sz="2000" dirty="0" err="1">
                <a:latin typeface="Courier New" pitchFamily="49" charset="0"/>
              </a:rPr>
              <a:t>cStatus</a:t>
            </a:r>
            <a:r>
              <a:rPr lang="en-US" sz="2000" dirty="0">
                <a:latin typeface="Courier New" pitchFamily="49" charset="0"/>
              </a:rPr>
              <a:t> = </a:t>
            </a:r>
            <a:r>
              <a:rPr lang="en-US" sz="2000" dirty="0" err="1">
                <a:latin typeface="Courier New" pitchFamily="49" charset="0"/>
              </a:rPr>
              <a:t>CStatus.RESULT</a:t>
            </a:r>
            <a:r>
              <a:rPr lang="en-US" sz="2000" dirty="0">
                <a:latin typeface="Courier New" pitchFamily="49" charset="0"/>
              </a:rPr>
              <a:t>; </a:t>
            </a:r>
            <a:r>
              <a:rPr lang="en-US" sz="2000" dirty="0" err="1">
                <a:latin typeface="Courier New" pitchFamily="49" charset="0"/>
              </a:rPr>
              <a:t>notifyAll</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tx1"/>
                </a:solidFill>
                <a:latin typeface="Courier New" pitchFamily="49" charset="0"/>
              </a:rPr>
              <a:t>return</a:t>
            </a:r>
            <a:r>
              <a:rPr lang="en-US" sz="2000" dirty="0">
                <a:latin typeface="Courier New" pitchFamily="49" charset="0"/>
              </a:rPr>
              <a:t>;</a:t>
            </a:r>
          </a:p>
          <a:p>
            <a:pPr marL="342900" indent="-342900"/>
            <a:r>
              <a:rPr lang="en-US" sz="2000" dirty="0">
                <a:latin typeface="Courier New" pitchFamily="49" charset="0"/>
              </a:rPr>
              <a:t>      </a:t>
            </a:r>
            <a:r>
              <a:rPr lang="en-US" sz="2000" dirty="0">
                <a:solidFill>
                  <a:schemeClr val="folHlink"/>
                </a:solidFill>
                <a:latin typeface="Courier New" pitchFamily="49" charset="0"/>
              </a:rPr>
              <a:t>default: …</a:t>
            </a:r>
          </a:p>
        </p:txBody>
      </p:sp>
      <p:sp>
        <p:nvSpPr>
          <p:cNvPr id="102406" name="Text Box 4"/>
          <p:cNvSpPr txBox="1">
            <a:spLocks noChangeArrowheads="1"/>
          </p:cNvSpPr>
          <p:nvPr/>
        </p:nvSpPr>
        <p:spPr bwMode="auto">
          <a:xfrm>
            <a:off x="947738" y="1517650"/>
            <a:ext cx="7175500" cy="946150"/>
          </a:xfrm>
          <a:prstGeom prst="rect">
            <a:avLst/>
          </a:prstGeom>
          <a:solidFill>
            <a:srgbClr val="FFFFCC"/>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Notify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 that result is available (2</a:t>
            </a:r>
            <a:r>
              <a:rPr lang="en-US" sz="2800" baseline="30000" dirty="0">
                <a:solidFill>
                  <a:srgbClr val="FF0000"/>
                </a:solidFill>
                <a:latin typeface="Arial" pitchFamily="34" charset="0"/>
                <a:cs typeface="Arial" pitchFamily="34" charset="0"/>
              </a:rPr>
              <a:t>nd</a:t>
            </a:r>
            <a:r>
              <a:rPr lang="en-US" sz="2800" dirty="0">
                <a:solidFill>
                  <a:srgbClr val="FF0000"/>
                </a:solidFill>
                <a:latin typeface="Arial" pitchFamily="34" charset="0"/>
                <a:cs typeface="Arial" pitchFamily="34" charset="0"/>
              </a:rPr>
              <a:t> thread will release lock)</a:t>
            </a:r>
          </a:p>
        </p:txBody>
      </p:sp>
      <p:sp>
        <p:nvSpPr>
          <p:cNvPr id="102407" name="AutoShape 5"/>
          <p:cNvSpPr>
            <a:spLocks noChangeArrowheads="1"/>
          </p:cNvSpPr>
          <p:nvPr/>
        </p:nvSpPr>
        <p:spPr bwMode="auto">
          <a:xfrm>
            <a:off x="1728788" y="3668713"/>
            <a:ext cx="6264275" cy="1552575"/>
          </a:xfrm>
          <a:prstGeom prst="wedgeRoundRectCallout">
            <a:avLst>
              <a:gd name="adj1" fmla="val -20477"/>
              <a:gd name="adj2" fmla="val -130981"/>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2"/>
          <p:cNvSpPr>
            <a:spLocks noGrp="1"/>
          </p:cNvSpPr>
          <p:nvPr>
            <p:ph type="ftr" sz="quarter" idx="10"/>
          </p:nvPr>
        </p:nvSpPr>
        <p:spPr/>
        <p:txBody>
          <a:bodyPr/>
          <a:lstStyle/>
          <a:p>
            <a:pPr>
              <a:defRPr/>
            </a:pPr>
            <a:r>
              <a:rPr lang="en-US"/>
              <a:t>Art of Multiprocessor Programming</a:t>
            </a:r>
          </a:p>
        </p:txBody>
      </p:sp>
      <p:sp>
        <p:nvSpPr>
          <p:cNvPr id="57" name="Slide Number Placeholder 3"/>
          <p:cNvSpPr>
            <a:spLocks noGrp="1"/>
          </p:cNvSpPr>
          <p:nvPr>
            <p:ph type="sldNum" sz="quarter" idx="11"/>
          </p:nvPr>
        </p:nvSpPr>
        <p:spPr/>
        <p:txBody>
          <a:bodyPr/>
          <a:lstStyle/>
          <a:p>
            <a:pPr>
              <a:defRPr/>
            </a:pPr>
            <a:fld id="{1BE61A6D-5112-4DE5-9563-EA7EB8289C98}" type="slidenum">
              <a:rPr lang="en-US"/>
              <a:pPr>
                <a:defRPr/>
              </a:pPr>
              <a:t>102</a:t>
            </a:fld>
            <a:endParaRPr lang="en-US"/>
          </a:p>
        </p:txBody>
      </p:sp>
      <p:sp>
        <p:nvSpPr>
          <p:cNvPr id="103428" name="Rectangle 2"/>
          <p:cNvSpPr>
            <a:spLocks noGrp="1" noChangeArrowheads="1"/>
          </p:cNvSpPr>
          <p:nvPr>
            <p:ph type="title"/>
          </p:nvPr>
        </p:nvSpPr>
        <p:spPr/>
        <p:txBody>
          <a:bodyPr/>
          <a:lstStyle/>
          <a:p>
            <a:r>
              <a:rPr lang="en-US"/>
              <a:t>Bad News: High Latency </a:t>
            </a:r>
          </a:p>
        </p:txBody>
      </p:sp>
      <p:sp>
        <p:nvSpPr>
          <p:cNvPr id="103429"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a:solidFill>
                <a:schemeClr val="accent1"/>
              </a:solidFill>
              <a:latin typeface="Arial" pitchFamily="34" charset="0"/>
              <a:cs typeface="Arial" pitchFamily="34" charset="0"/>
            </a:endParaRPr>
          </a:p>
        </p:txBody>
      </p:sp>
      <p:sp>
        <p:nvSpPr>
          <p:cNvPr id="103430"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103431"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103432" name="Group 6"/>
          <p:cNvGrpSpPr>
            <a:grpSpLocks/>
          </p:cNvGrpSpPr>
          <p:nvPr/>
        </p:nvGrpSpPr>
        <p:grpSpPr bwMode="auto">
          <a:xfrm flipH="1">
            <a:off x="852488" y="4953000"/>
            <a:ext cx="1219200" cy="1090613"/>
            <a:chOff x="1584" y="816"/>
            <a:chExt cx="912" cy="816"/>
          </a:xfrm>
        </p:grpSpPr>
        <p:sp>
          <p:nvSpPr>
            <p:cNvPr id="103473"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4"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5"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6"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7"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8"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9"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80"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81"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3433" name="Group 16"/>
          <p:cNvGrpSpPr>
            <a:grpSpLocks/>
          </p:cNvGrpSpPr>
          <p:nvPr/>
        </p:nvGrpSpPr>
        <p:grpSpPr bwMode="auto">
          <a:xfrm>
            <a:off x="2925763" y="4953000"/>
            <a:ext cx="1219200" cy="1090613"/>
            <a:chOff x="1584" y="816"/>
            <a:chExt cx="912" cy="816"/>
          </a:xfrm>
        </p:grpSpPr>
        <p:sp>
          <p:nvSpPr>
            <p:cNvPr id="103464"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5"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6"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7"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8"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69"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0"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1"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472"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03434"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03435" name="Text Box 27"/>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+2</a:t>
            </a:r>
          </a:p>
        </p:txBody>
      </p:sp>
      <p:sp>
        <p:nvSpPr>
          <p:cNvPr id="103436"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103437" name="Line 29"/>
          <p:cNvSpPr>
            <a:spLocks noChangeShapeType="1"/>
          </p:cNvSpPr>
          <p:nvPr/>
        </p:nvSpPr>
        <p:spPr bwMode="auto">
          <a:xfrm>
            <a:off x="5029200" y="2743200"/>
            <a:ext cx="838200" cy="685800"/>
          </a:xfrm>
          <a:prstGeom prst="line">
            <a:avLst/>
          </a:prstGeom>
          <a:noFill/>
          <a:ln w="38100">
            <a:solidFill>
              <a:schemeClr val="folHlink"/>
            </a:solidFill>
            <a:prstDash val="dash"/>
            <a:round/>
            <a:headEnd/>
            <a:tailEnd/>
          </a:ln>
        </p:spPr>
        <p:txBody>
          <a:bodyPr wrap="none" anchor="ctr"/>
          <a:lstStyle/>
          <a:p>
            <a:endParaRPr lang="en-US">
              <a:latin typeface="Arial" pitchFamily="34" charset="0"/>
              <a:cs typeface="Arial" pitchFamily="34" charset="0"/>
            </a:endParaRPr>
          </a:p>
        </p:txBody>
      </p:sp>
      <p:grpSp>
        <p:nvGrpSpPr>
          <p:cNvPr id="103438" name="Group 30"/>
          <p:cNvGrpSpPr>
            <a:grpSpLocks/>
          </p:cNvGrpSpPr>
          <p:nvPr/>
        </p:nvGrpSpPr>
        <p:grpSpPr bwMode="auto">
          <a:xfrm flipH="1">
            <a:off x="4999038" y="4953000"/>
            <a:ext cx="1219200" cy="1090613"/>
            <a:chOff x="1584" y="816"/>
            <a:chExt cx="912" cy="816"/>
          </a:xfrm>
        </p:grpSpPr>
        <p:sp>
          <p:nvSpPr>
            <p:cNvPr id="103455"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6"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7"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8"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9"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60"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61"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62"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63"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grpSp>
      <p:grpSp>
        <p:nvGrpSpPr>
          <p:cNvPr id="103439" name="Group 40"/>
          <p:cNvGrpSpPr>
            <a:grpSpLocks/>
          </p:cNvGrpSpPr>
          <p:nvPr/>
        </p:nvGrpSpPr>
        <p:grpSpPr bwMode="auto">
          <a:xfrm>
            <a:off x="7072313" y="4953000"/>
            <a:ext cx="1219200" cy="1090613"/>
            <a:chOff x="1584" y="816"/>
            <a:chExt cx="912" cy="816"/>
          </a:xfrm>
        </p:grpSpPr>
        <p:sp>
          <p:nvSpPr>
            <p:cNvPr id="103446"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47"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48"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49"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0"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1"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2"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3"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3454"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grpSp>
      <p:sp>
        <p:nvSpPr>
          <p:cNvPr id="103440" name="Freeform 50"/>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a:latin typeface="Arial" pitchFamily="34" charset="0"/>
              <a:cs typeface="Arial" pitchFamily="34" charset="0"/>
            </a:endParaRPr>
          </a:p>
        </p:txBody>
      </p:sp>
      <p:sp>
        <p:nvSpPr>
          <p:cNvPr id="103441" name="Text Box 51"/>
          <p:cNvSpPr txBox="1">
            <a:spLocks noChangeArrowheads="1"/>
          </p:cNvSpPr>
          <p:nvPr/>
        </p:nvSpPr>
        <p:spPr bwMode="auto">
          <a:xfrm>
            <a:off x="3336925" y="4191000"/>
            <a:ext cx="555625" cy="457200"/>
          </a:xfrm>
          <a:prstGeom prst="rect">
            <a:avLst/>
          </a:prstGeom>
          <a:solidFill>
            <a:srgbClr val="FFFF00"/>
          </a:solidFill>
          <a:ln w="9525">
            <a:noFill/>
            <a:miter lim="800000"/>
            <a:headEnd/>
            <a:tailEnd/>
          </a:ln>
        </p:spPr>
        <p:txBody>
          <a:bodyPr wrap="none">
            <a:spAutoFit/>
          </a:bodyPr>
          <a:lstStyle/>
          <a:p>
            <a:pPr algn="ctr">
              <a:spcBef>
                <a:spcPct val="0"/>
              </a:spcBef>
            </a:pPr>
            <a:r>
              <a:rPr lang="en-US">
                <a:solidFill>
                  <a:schemeClr val="tx1"/>
                </a:solidFill>
                <a:latin typeface="Arial" pitchFamily="34" charset="0"/>
                <a:cs typeface="Arial" pitchFamily="34" charset="0"/>
              </a:rPr>
              <a:t>+3</a:t>
            </a:r>
          </a:p>
        </p:txBody>
      </p:sp>
      <p:sp>
        <p:nvSpPr>
          <p:cNvPr id="103442" name="Freeform 52"/>
          <p:cNvSpPr>
            <a:spLocks/>
          </p:cNvSpPr>
          <p:nvPr/>
        </p:nvSpPr>
        <p:spPr bwMode="auto">
          <a:xfrm>
            <a:off x="2971800" y="26670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03443" name="Text Box 53"/>
          <p:cNvSpPr txBox="1">
            <a:spLocks noChangeArrowheads="1"/>
          </p:cNvSpPr>
          <p:nvPr/>
        </p:nvSpPr>
        <p:spPr bwMode="auto">
          <a:xfrm>
            <a:off x="2498725" y="28194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+5</a:t>
            </a:r>
          </a:p>
        </p:txBody>
      </p:sp>
      <p:sp>
        <p:nvSpPr>
          <p:cNvPr id="103444" name="AutoShape 54"/>
          <p:cNvSpPr>
            <a:spLocks/>
          </p:cNvSpPr>
          <p:nvPr/>
        </p:nvSpPr>
        <p:spPr bwMode="auto">
          <a:xfrm>
            <a:off x="5638800" y="1676400"/>
            <a:ext cx="914400" cy="4191000"/>
          </a:xfrm>
          <a:prstGeom prst="rightBrace">
            <a:avLst>
              <a:gd name="adj1" fmla="val 38194"/>
              <a:gd name="adj2" fmla="val 50000"/>
            </a:avLst>
          </a:prstGeom>
          <a:noFill/>
          <a:ln w="76200">
            <a:solidFill>
              <a:srgbClr val="FF0000"/>
            </a:solidFill>
            <a:round/>
            <a:headEnd/>
            <a:tailEnd/>
          </a:ln>
        </p:spPr>
        <p:txBody>
          <a:bodyPr wrap="none" anchor="ctr"/>
          <a:lstStyle/>
          <a:p>
            <a:endParaRPr lang="en-US">
              <a:latin typeface="Arial" pitchFamily="34" charset="0"/>
              <a:cs typeface="Arial" pitchFamily="34" charset="0"/>
            </a:endParaRPr>
          </a:p>
        </p:txBody>
      </p:sp>
      <p:sp>
        <p:nvSpPr>
          <p:cNvPr id="103445" name="Text Box 55"/>
          <p:cNvSpPr txBox="1">
            <a:spLocks noChangeArrowheads="1"/>
          </p:cNvSpPr>
          <p:nvPr/>
        </p:nvSpPr>
        <p:spPr bwMode="auto">
          <a:xfrm>
            <a:off x="6604677" y="3352800"/>
            <a:ext cx="1468672" cy="707886"/>
          </a:xfrm>
          <a:prstGeom prst="rect">
            <a:avLst/>
          </a:prstGeom>
          <a:noFill/>
          <a:ln w="9525">
            <a:noFill/>
            <a:miter lim="800000"/>
            <a:headEnd/>
            <a:tailEnd/>
          </a:ln>
        </p:spPr>
        <p:txBody>
          <a:bodyPr wrap="none">
            <a:spAutoFit/>
          </a:bodyPr>
          <a:lstStyle/>
          <a:p>
            <a:pPr algn="ctr">
              <a:spcBef>
                <a:spcPct val="0"/>
              </a:spcBef>
            </a:pPr>
            <a:r>
              <a:rPr lang="en-US" sz="4000" b="0">
                <a:solidFill>
                  <a:srgbClr val="FF0000"/>
                </a:solidFill>
                <a:latin typeface="Arial" pitchFamily="34" charset="0"/>
                <a:cs typeface="Arial" pitchFamily="34" charset="0"/>
              </a:rPr>
              <a:t>Log n</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ooter Placeholder 2"/>
          <p:cNvSpPr>
            <a:spLocks noGrp="1"/>
          </p:cNvSpPr>
          <p:nvPr>
            <p:ph type="ftr" sz="quarter" idx="10"/>
          </p:nvPr>
        </p:nvSpPr>
        <p:spPr/>
        <p:txBody>
          <a:bodyPr/>
          <a:lstStyle/>
          <a:p>
            <a:pPr>
              <a:defRPr/>
            </a:pPr>
            <a:r>
              <a:rPr lang="en-US"/>
              <a:t>Art of Multiprocessor Programming</a:t>
            </a:r>
          </a:p>
        </p:txBody>
      </p:sp>
      <p:sp>
        <p:nvSpPr>
          <p:cNvPr id="59" name="Slide Number Placeholder 3"/>
          <p:cNvSpPr>
            <a:spLocks noGrp="1"/>
          </p:cNvSpPr>
          <p:nvPr>
            <p:ph type="sldNum" sz="quarter" idx="11"/>
          </p:nvPr>
        </p:nvSpPr>
        <p:spPr/>
        <p:txBody>
          <a:bodyPr/>
          <a:lstStyle/>
          <a:p>
            <a:pPr>
              <a:defRPr/>
            </a:pPr>
            <a:fld id="{7248194D-58F5-40E7-B6E6-958E8B3E0487}" type="slidenum">
              <a:rPr lang="en-US"/>
              <a:pPr>
                <a:defRPr/>
              </a:pPr>
              <a:t>103</a:t>
            </a:fld>
            <a:endParaRPr lang="en-US"/>
          </a:p>
        </p:txBody>
      </p:sp>
      <p:sp>
        <p:nvSpPr>
          <p:cNvPr id="104452" name="Rectangle 2"/>
          <p:cNvSpPr>
            <a:spLocks noGrp="1" noChangeArrowheads="1"/>
          </p:cNvSpPr>
          <p:nvPr>
            <p:ph type="title"/>
          </p:nvPr>
        </p:nvSpPr>
        <p:spPr/>
        <p:txBody>
          <a:bodyPr/>
          <a:lstStyle/>
          <a:p>
            <a:r>
              <a:rPr lang="en-US"/>
              <a:t>Good News: Real Parallelism </a:t>
            </a:r>
          </a:p>
        </p:txBody>
      </p:sp>
      <p:sp>
        <p:nvSpPr>
          <p:cNvPr id="104453" name="Oval 3"/>
          <p:cNvSpPr>
            <a:spLocks noChangeArrowheads="1"/>
          </p:cNvSpPr>
          <p:nvPr/>
        </p:nvSpPr>
        <p:spPr bwMode="auto">
          <a:xfrm>
            <a:off x="3733800" y="19812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a:solidFill>
                <a:schemeClr val="accent1"/>
              </a:solidFill>
              <a:latin typeface="Arial" pitchFamily="34" charset="0"/>
              <a:cs typeface="Arial" pitchFamily="34" charset="0"/>
            </a:endParaRPr>
          </a:p>
        </p:txBody>
      </p:sp>
      <p:sp>
        <p:nvSpPr>
          <p:cNvPr id="104454" name="Oval 4"/>
          <p:cNvSpPr>
            <a:spLocks noChangeArrowheads="1"/>
          </p:cNvSpPr>
          <p:nvPr/>
        </p:nvSpPr>
        <p:spPr bwMode="auto">
          <a:xfrm>
            <a:off x="5537200" y="3352800"/>
            <a:ext cx="1676400" cy="838200"/>
          </a:xfrm>
          <a:prstGeom prst="ellipse">
            <a:avLst/>
          </a:prstGeom>
          <a:solidFill>
            <a:schemeClr val="bg1"/>
          </a:solidFill>
          <a:ln w="38100">
            <a:solidFill>
              <a:schemeClr val="folHlink"/>
            </a:solidFill>
            <a:round/>
            <a:headEnd/>
            <a:tailEnd/>
          </a:ln>
        </p:spPr>
        <p:txBody>
          <a:bodyPr wrap="none" anchor="ctr"/>
          <a:lstStyle/>
          <a:p>
            <a:pPr algn="ctr">
              <a:spcBef>
                <a:spcPct val="0"/>
              </a:spcBef>
            </a:pPr>
            <a:endParaRPr lang="en-US" sz="2800">
              <a:solidFill>
                <a:schemeClr val="folHlink"/>
              </a:solidFill>
              <a:latin typeface="Arial" pitchFamily="34" charset="0"/>
              <a:cs typeface="Arial" pitchFamily="34" charset="0"/>
            </a:endParaRPr>
          </a:p>
        </p:txBody>
      </p:sp>
      <p:sp>
        <p:nvSpPr>
          <p:cNvPr id="104455" name="Oval 5"/>
          <p:cNvSpPr>
            <a:spLocks noChangeArrowheads="1"/>
          </p:cNvSpPr>
          <p:nvPr/>
        </p:nvSpPr>
        <p:spPr bwMode="auto">
          <a:xfrm>
            <a:off x="1930400" y="3352800"/>
            <a:ext cx="1676400" cy="838200"/>
          </a:xfrm>
          <a:prstGeom prst="ellipse">
            <a:avLst/>
          </a:prstGeom>
          <a:noFill/>
          <a:ln w="38100">
            <a:solidFill>
              <a:schemeClr val="tx1"/>
            </a:solidFill>
            <a:round/>
            <a:headEnd/>
            <a:tailEnd/>
          </a:ln>
        </p:spPr>
        <p:txBody>
          <a:bodyPr wrap="none" anchor="ctr"/>
          <a:lstStyle/>
          <a:p>
            <a:pPr algn="ctr">
              <a:spcBef>
                <a:spcPct val="0"/>
              </a:spcBef>
            </a:pPr>
            <a:endParaRPr lang="en-US" sz="2800">
              <a:latin typeface="Arial" pitchFamily="34" charset="0"/>
              <a:cs typeface="Arial" pitchFamily="34" charset="0"/>
            </a:endParaRPr>
          </a:p>
        </p:txBody>
      </p:sp>
      <p:grpSp>
        <p:nvGrpSpPr>
          <p:cNvPr id="104456" name="Group 6"/>
          <p:cNvGrpSpPr>
            <a:grpSpLocks/>
          </p:cNvGrpSpPr>
          <p:nvPr/>
        </p:nvGrpSpPr>
        <p:grpSpPr bwMode="auto">
          <a:xfrm flipH="1">
            <a:off x="852488" y="4953000"/>
            <a:ext cx="1219200" cy="1090613"/>
            <a:chOff x="1584" y="816"/>
            <a:chExt cx="912" cy="816"/>
          </a:xfrm>
        </p:grpSpPr>
        <p:sp>
          <p:nvSpPr>
            <p:cNvPr id="104499"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500"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501"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502"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503"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504"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505"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506"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507"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4457" name="Group 16"/>
          <p:cNvGrpSpPr>
            <a:grpSpLocks/>
          </p:cNvGrpSpPr>
          <p:nvPr/>
        </p:nvGrpSpPr>
        <p:grpSpPr bwMode="auto">
          <a:xfrm>
            <a:off x="2925763" y="4953000"/>
            <a:ext cx="1219200" cy="1090613"/>
            <a:chOff x="1584" y="816"/>
            <a:chExt cx="912" cy="816"/>
          </a:xfrm>
        </p:grpSpPr>
        <p:sp>
          <p:nvSpPr>
            <p:cNvPr id="104490"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491"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492"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493"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494"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495"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496"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497"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498"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04458" name="Freeform 26"/>
          <p:cNvSpPr>
            <a:spLocks/>
          </p:cNvSpPr>
          <p:nvPr/>
        </p:nvSpPr>
        <p:spPr bwMode="auto">
          <a:xfrm>
            <a:off x="1828800" y="38862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04459" name="Text Box 27"/>
          <p:cNvSpPr txBox="1">
            <a:spLocks noChangeArrowheads="1"/>
          </p:cNvSpPr>
          <p:nvPr/>
        </p:nvSpPr>
        <p:spPr bwMode="auto">
          <a:xfrm>
            <a:off x="1355725" y="40386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+2</a:t>
            </a:r>
          </a:p>
        </p:txBody>
      </p:sp>
      <p:sp>
        <p:nvSpPr>
          <p:cNvPr id="104460" name="Line 28"/>
          <p:cNvSpPr>
            <a:spLocks noChangeShapeType="1"/>
          </p:cNvSpPr>
          <p:nvPr/>
        </p:nvSpPr>
        <p:spPr bwMode="auto">
          <a:xfrm flipH="1">
            <a:off x="3276600" y="2743200"/>
            <a:ext cx="838200" cy="685800"/>
          </a:xfrm>
          <a:prstGeom prst="line">
            <a:avLst/>
          </a:prstGeom>
          <a:noFill/>
          <a:ln w="38100">
            <a:solidFill>
              <a:schemeClr val="tx1"/>
            </a:solidFill>
            <a:prstDash val="dash"/>
            <a:round/>
            <a:headEnd/>
            <a:tailEnd/>
          </a:ln>
        </p:spPr>
        <p:txBody>
          <a:bodyPr wrap="none" anchor="ctr"/>
          <a:lstStyle/>
          <a:p>
            <a:endParaRPr lang="en-US">
              <a:latin typeface="Arial" pitchFamily="34" charset="0"/>
              <a:cs typeface="Arial" pitchFamily="34" charset="0"/>
            </a:endParaRPr>
          </a:p>
        </p:txBody>
      </p:sp>
      <p:sp>
        <p:nvSpPr>
          <p:cNvPr id="104461" name="Line 29"/>
          <p:cNvSpPr>
            <a:spLocks noChangeShapeType="1"/>
          </p:cNvSpPr>
          <p:nvPr/>
        </p:nvSpPr>
        <p:spPr bwMode="auto">
          <a:xfrm>
            <a:off x="5029200" y="2743200"/>
            <a:ext cx="838200" cy="685800"/>
          </a:xfrm>
          <a:prstGeom prst="line">
            <a:avLst/>
          </a:prstGeom>
          <a:noFill/>
          <a:ln w="38100">
            <a:solidFill>
              <a:schemeClr val="folHlink"/>
            </a:solidFill>
            <a:prstDash val="dash"/>
            <a:round/>
            <a:headEnd/>
            <a:tailEnd/>
          </a:ln>
        </p:spPr>
        <p:txBody>
          <a:bodyPr wrap="none" anchor="ctr"/>
          <a:lstStyle/>
          <a:p>
            <a:endParaRPr lang="en-US">
              <a:latin typeface="Arial" pitchFamily="34" charset="0"/>
              <a:cs typeface="Arial" pitchFamily="34" charset="0"/>
            </a:endParaRPr>
          </a:p>
        </p:txBody>
      </p:sp>
      <p:grpSp>
        <p:nvGrpSpPr>
          <p:cNvPr id="104462" name="Group 30"/>
          <p:cNvGrpSpPr>
            <a:grpSpLocks/>
          </p:cNvGrpSpPr>
          <p:nvPr/>
        </p:nvGrpSpPr>
        <p:grpSpPr bwMode="auto">
          <a:xfrm flipH="1">
            <a:off x="4999038" y="4953000"/>
            <a:ext cx="1219200" cy="1090613"/>
            <a:chOff x="1584" y="816"/>
            <a:chExt cx="912" cy="816"/>
          </a:xfrm>
        </p:grpSpPr>
        <p:sp>
          <p:nvSpPr>
            <p:cNvPr id="104481" name="Freeform 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2" name="Freeform 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3" name="Freeform 3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4" name="Freeform 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5" name="Freeform 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6" name="Freeform 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7" name="Freeform 3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8" name="Freeform 3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9" name="Freeform 3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grpSp>
      <p:grpSp>
        <p:nvGrpSpPr>
          <p:cNvPr id="104463" name="Group 40"/>
          <p:cNvGrpSpPr>
            <a:grpSpLocks/>
          </p:cNvGrpSpPr>
          <p:nvPr/>
        </p:nvGrpSpPr>
        <p:grpSpPr bwMode="auto">
          <a:xfrm>
            <a:off x="7072313" y="4953000"/>
            <a:ext cx="1219200" cy="1090613"/>
            <a:chOff x="1584" y="816"/>
            <a:chExt cx="912" cy="816"/>
          </a:xfrm>
        </p:grpSpPr>
        <p:sp>
          <p:nvSpPr>
            <p:cNvPr id="104472"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73"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74" name="Freeform 43"/>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75"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76"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77"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78" name="Freeform 47"/>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79" name="Freeform 48"/>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04480" name="Freeform 49"/>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a:latin typeface="Arial" pitchFamily="34" charset="0"/>
                <a:cs typeface="Arial" pitchFamily="34" charset="0"/>
              </a:endParaRPr>
            </a:p>
          </p:txBody>
        </p:sp>
      </p:grpSp>
      <p:sp>
        <p:nvSpPr>
          <p:cNvPr id="104464" name="Freeform 50"/>
          <p:cNvSpPr>
            <a:spLocks/>
          </p:cNvSpPr>
          <p:nvPr/>
        </p:nvSpPr>
        <p:spPr bwMode="auto">
          <a:xfrm>
            <a:off x="2870200" y="3962400"/>
            <a:ext cx="406400" cy="914400"/>
          </a:xfrm>
          <a:custGeom>
            <a:avLst/>
            <a:gdLst>
              <a:gd name="T0" fmla="*/ 2147483647 w 256"/>
              <a:gd name="T1" fmla="*/ 2147483647 h 576"/>
              <a:gd name="T2" fmla="*/ 2147483647 w 256"/>
              <a:gd name="T3" fmla="*/ 2147483647 h 576"/>
              <a:gd name="T4" fmla="*/ 2147483647 w 256"/>
              <a:gd name="T5" fmla="*/ 2147483647 h 576"/>
              <a:gd name="T6" fmla="*/ 2147483647 w 256"/>
              <a:gd name="T7" fmla="*/ 0 h 576"/>
              <a:gd name="T8" fmla="*/ 0 60000 65536"/>
              <a:gd name="T9" fmla="*/ 0 60000 65536"/>
              <a:gd name="T10" fmla="*/ 0 60000 65536"/>
              <a:gd name="T11" fmla="*/ 0 60000 65536"/>
              <a:gd name="T12" fmla="*/ 0 w 256"/>
              <a:gd name="T13" fmla="*/ 0 h 576"/>
              <a:gd name="T14" fmla="*/ 256 w 256"/>
              <a:gd name="T15" fmla="*/ 576 h 576"/>
            </a:gdLst>
            <a:ahLst/>
            <a:cxnLst>
              <a:cxn ang="T8">
                <a:pos x="T0" y="T1"/>
              </a:cxn>
              <a:cxn ang="T9">
                <a:pos x="T2" y="T3"/>
              </a:cxn>
              <a:cxn ang="T10">
                <a:pos x="T4" y="T5"/>
              </a:cxn>
              <a:cxn ang="T11">
                <a:pos x="T6" y="T7"/>
              </a:cxn>
            </a:cxnLst>
            <a:rect l="T12" t="T13" r="T14" b="T15"/>
            <a:pathLst>
              <a:path w="256" h="576">
                <a:moveTo>
                  <a:pt x="160" y="576"/>
                </a:moveTo>
                <a:cubicBezTo>
                  <a:pt x="80" y="496"/>
                  <a:pt x="0" y="416"/>
                  <a:pt x="16" y="384"/>
                </a:cubicBezTo>
                <a:cubicBezTo>
                  <a:pt x="32" y="352"/>
                  <a:pt x="256" y="448"/>
                  <a:pt x="256" y="384"/>
                </a:cubicBezTo>
                <a:cubicBezTo>
                  <a:pt x="256" y="320"/>
                  <a:pt x="136" y="160"/>
                  <a:pt x="16" y="0"/>
                </a:cubicBezTo>
              </a:path>
            </a:pathLst>
          </a:custGeom>
          <a:noFill/>
          <a:ln w="76200">
            <a:solidFill>
              <a:srgbClr val="FFFF00"/>
            </a:solidFill>
            <a:round/>
            <a:headEnd/>
            <a:tailEnd type="triangle" w="med" len="med"/>
          </a:ln>
        </p:spPr>
        <p:txBody>
          <a:bodyPr wrap="none" anchor="ctr"/>
          <a:lstStyle/>
          <a:p>
            <a:endParaRPr lang="en-US">
              <a:latin typeface="Arial" pitchFamily="34" charset="0"/>
              <a:cs typeface="Arial" pitchFamily="34" charset="0"/>
            </a:endParaRPr>
          </a:p>
        </p:txBody>
      </p:sp>
      <p:sp>
        <p:nvSpPr>
          <p:cNvPr id="104465" name="Text Box 51"/>
          <p:cNvSpPr txBox="1">
            <a:spLocks noChangeArrowheads="1"/>
          </p:cNvSpPr>
          <p:nvPr/>
        </p:nvSpPr>
        <p:spPr bwMode="auto">
          <a:xfrm>
            <a:off x="3336925" y="4191000"/>
            <a:ext cx="555625" cy="457200"/>
          </a:xfrm>
          <a:prstGeom prst="rect">
            <a:avLst/>
          </a:prstGeom>
          <a:solidFill>
            <a:srgbClr val="FFFF00"/>
          </a:solidFill>
          <a:ln w="9525">
            <a:noFill/>
            <a:miter lim="800000"/>
            <a:headEnd/>
            <a:tailEnd/>
          </a:ln>
        </p:spPr>
        <p:txBody>
          <a:bodyPr wrap="none">
            <a:spAutoFit/>
          </a:bodyPr>
          <a:lstStyle/>
          <a:p>
            <a:pPr algn="ctr">
              <a:spcBef>
                <a:spcPct val="0"/>
              </a:spcBef>
            </a:pPr>
            <a:r>
              <a:rPr lang="en-US">
                <a:solidFill>
                  <a:schemeClr val="tx1"/>
                </a:solidFill>
                <a:latin typeface="Arial" pitchFamily="34" charset="0"/>
                <a:cs typeface="Arial" pitchFamily="34" charset="0"/>
              </a:rPr>
              <a:t>+3</a:t>
            </a:r>
          </a:p>
        </p:txBody>
      </p:sp>
      <p:sp>
        <p:nvSpPr>
          <p:cNvPr id="104466" name="Freeform 52"/>
          <p:cNvSpPr>
            <a:spLocks/>
          </p:cNvSpPr>
          <p:nvPr/>
        </p:nvSpPr>
        <p:spPr bwMode="auto">
          <a:xfrm>
            <a:off x="2971800" y="2667000"/>
            <a:ext cx="914400" cy="990600"/>
          </a:xfrm>
          <a:custGeom>
            <a:avLst/>
            <a:gdLst>
              <a:gd name="T0" fmla="*/ 0 w 576"/>
              <a:gd name="T1" fmla="*/ 2147483647 h 624"/>
              <a:gd name="T2" fmla="*/ 2147483647 w 576"/>
              <a:gd name="T3" fmla="*/ 2147483647 h 624"/>
              <a:gd name="T4" fmla="*/ 2147483647 w 576"/>
              <a:gd name="T5" fmla="*/ 2147483647 h 624"/>
              <a:gd name="T6" fmla="*/ 2147483647 w 576"/>
              <a:gd name="T7" fmla="*/ 0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624"/>
                </a:moveTo>
                <a:cubicBezTo>
                  <a:pt x="92" y="492"/>
                  <a:pt x="184" y="360"/>
                  <a:pt x="240" y="336"/>
                </a:cubicBezTo>
                <a:cubicBezTo>
                  <a:pt x="296" y="312"/>
                  <a:pt x="280" y="536"/>
                  <a:pt x="336" y="480"/>
                </a:cubicBezTo>
                <a:cubicBezTo>
                  <a:pt x="392" y="424"/>
                  <a:pt x="484" y="212"/>
                  <a:pt x="576"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104467" name="Text Box 53"/>
          <p:cNvSpPr txBox="1">
            <a:spLocks noChangeArrowheads="1"/>
          </p:cNvSpPr>
          <p:nvPr/>
        </p:nvSpPr>
        <p:spPr bwMode="auto">
          <a:xfrm>
            <a:off x="2498725" y="2819400"/>
            <a:ext cx="555625" cy="457200"/>
          </a:xfrm>
          <a:prstGeom prst="rect">
            <a:avLst/>
          </a:prstGeom>
          <a:noFill/>
          <a:ln w="9525">
            <a:noFill/>
            <a:miter lim="800000"/>
            <a:headEnd/>
            <a:tailEnd/>
          </a:ln>
        </p:spPr>
        <p:txBody>
          <a:bodyPr wrap="none">
            <a:spAutoFit/>
          </a:bodyPr>
          <a:lstStyle/>
          <a:p>
            <a:pPr algn="ctr">
              <a:spcBef>
                <a:spcPct val="0"/>
              </a:spcBef>
            </a:pPr>
            <a:r>
              <a:rPr lang="en-US">
                <a:latin typeface="Arial" pitchFamily="34" charset="0"/>
                <a:cs typeface="Arial" pitchFamily="34" charset="0"/>
              </a:rPr>
              <a:t>+5</a:t>
            </a:r>
          </a:p>
        </p:txBody>
      </p:sp>
      <p:sp>
        <p:nvSpPr>
          <p:cNvPr id="104468" name="AutoShape 54"/>
          <p:cNvSpPr>
            <a:spLocks/>
          </p:cNvSpPr>
          <p:nvPr/>
        </p:nvSpPr>
        <p:spPr bwMode="auto">
          <a:xfrm>
            <a:off x="4953000" y="3886200"/>
            <a:ext cx="914400" cy="1981200"/>
          </a:xfrm>
          <a:prstGeom prst="rightBrace">
            <a:avLst>
              <a:gd name="adj1" fmla="val 18056"/>
              <a:gd name="adj2" fmla="val 50000"/>
            </a:avLst>
          </a:prstGeom>
          <a:noFill/>
          <a:ln w="76200">
            <a:solidFill>
              <a:srgbClr val="FF0000"/>
            </a:solidFill>
            <a:round/>
            <a:headEnd/>
            <a:tailEnd/>
          </a:ln>
        </p:spPr>
        <p:txBody>
          <a:bodyPr wrap="none" anchor="ctr"/>
          <a:lstStyle/>
          <a:p>
            <a:endParaRPr lang="en-US">
              <a:latin typeface="Arial" pitchFamily="34" charset="0"/>
              <a:cs typeface="Arial" pitchFamily="34" charset="0"/>
            </a:endParaRPr>
          </a:p>
        </p:txBody>
      </p:sp>
      <p:sp>
        <p:nvSpPr>
          <p:cNvPr id="104469" name="Text Box 55"/>
          <p:cNvSpPr txBox="1">
            <a:spLocks noChangeArrowheads="1"/>
          </p:cNvSpPr>
          <p:nvPr/>
        </p:nvSpPr>
        <p:spPr bwMode="auto">
          <a:xfrm>
            <a:off x="6254462" y="4495800"/>
            <a:ext cx="2324675" cy="707886"/>
          </a:xfrm>
          <a:prstGeom prst="rect">
            <a:avLst/>
          </a:prstGeom>
          <a:noFill/>
          <a:ln w="9525">
            <a:noFill/>
            <a:miter lim="800000"/>
            <a:headEnd/>
            <a:tailEnd/>
          </a:ln>
        </p:spPr>
        <p:txBody>
          <a:bodyPr wrap="none">
            <a:spAutoFit/>
          </a:bodyPr>
          <a:lstStyle/>
          <a:p>
            <a:pPr algn="ctr">
              <a:spcBef>
                <a:spcPct val="0"/>
              </a:spcBef>
            </a:pPr>
            <a:r>
              <a:rPr lang="en-US" sz="4000" b="0">
                <a:solidFill>
                  <a:srgbClr val="FF0000"/>
                </a:solidFill>
                <a:latin typeface="Arial" pitchFamily="34" charset="0"/>
                <a:cs typeface="Arial" pitchFamily="34" charset="0"/>
              </a:rPr>
              <a:t>2 threads</a:t>
            </a:r>
          </a:p>
        </p:txBody>
      </p:sp>
      <p:sp>
        <p:nvSpPr>
          <p:cNvPr id="104470" name="AutoShape 56"/>
          <p:cNvSpPr>
            <a:spLocks/>
          </p:cNvSpPr>
          <p:nvPr/>
        </p:nvSpPr>
        <p:spPr bwMode="auto">
          <a:xfrm>
            <a:off x="4968875" y="1828800"/>
            <a:ext cx="914400" cy="1981200"/>
          </a:xfrm>
          <a:prstGeom prst="rightBrace">
            <a:avLst>
              <a:gd name="adj1" fmla="val 18056"/>
              <a:gd name="adj2" fmla="val 50000"/>
            </a:avLst>
          </a:prstGeom>
          <a:noFill/>
          <a:ln w="76200">
            <a:solidFill>
              <a:srgbClr val="FF0000"/>
            </a:solidFill>
            <a:round/>
            <a:headEnd/>
            <a:tailEnd/>
          </a:ln>
        </p:spPr>
        <p:txBody>
          <a:bodyPr wrap="none" anchor="ctr"/>
          <a:lstStyle/>
          <a:p>
            <a:endParaRPr lang="en-US">
              <a:latin typeface="Arial" pitchFamily="34" charset="0"/>
              <a:cs typeface="Arial" pitchFamily="34" charset="0"/>
            </a:endParaRPr>
          </a:p>
        </p:txBody>
      </p:sp>
      <p:sp>
        <p:nvSpPr>
          <p:cNvPr id="104471" name="Text Box 57"/>
          <p:cNvSpPr txBox="1">
            <a:spLocks noChangeArrowheads="1"/>
          </p:cNvSpPr>
          <p:nvPr/>
        </p:nvSpPr>
        <p:spPr bwMode="auto">
          <a:xfrm>
            <a:off x="6383497" y="2438400"/>
            <a:ext cx="2068194" cy="707886"/>
          </a:xfrm>
          <a:prstGeom prst="rect">
            <a:avLst/>
          </a:prstGeom>
          <a:noFill/>
          <a:ln w="9525">
            <a:noFill/>
            <a:miter lim="800000"/>
            <a:headEnd/>
            <a:tailEnd/>
          </a:ln>
        </p:spPr>
        <p:txBody>
          <a:bodyPr wrap="none">
            <a:spAutoFit/>
          </a:bodyPr>
          <a:lstStyle/>
          <a:p>
            <a:pPr algn="ctr">
              <a:spcBef>
                <a:spcPct val="0"/>
              </a:spcBef>
            </a:pPr>
            <a:r>
              <a:rPr lang="en-US" sz="4000" b="0">
                <a:solidFill>
                  <a:srgbClr val="FF0000"/>
                </a:solidFill>
                <a:latin typeface="Arial" pitchFamily="34" charset="0"/>
                <a:cs typeface="Arial" pitchFamily="34" charset="0"/>
              </a:rPr>
              <a:t>1 thread</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6C1D660C-ECE2-43B5-B16E-7B58A6E588E1}" type="slidenum">
              <a:rPr lang="en-US"/>
              <a:pPr>
                <a:defRPr/>
              </a:pPr>
              <a:t>104</a:t>
            </a:fld>
            <a:endParaRPr lang="en-US"/>
          </a:p>
        </p:txBody>
      </p:sp>
      <p:sp>
        <p:nvSpPr>
          <p:cNvPr id="105476" name="Rectangle 2"/>
          <p:cNvSpPr>
            <a:spLocks noGrp="1" noChangeArrowheads="1"/>
          </p:cNvSpPr>
          <p:nvPr>
            <p:ph type="title"/>
          </p:nvPr>
        </p:nvSpPr>
        <p:spPr/>
        <p:txBody>
          <a:bodyPr/>
          <a:lstStyle/>
          <a:p>
            <a:r>
              <a:rPr lang="en-US"/>
              <a:t>Throughput Puzzles</a:t>
            </a:r>
          </a:p>
        </p:txBody>
      </p:sp>
      <p:sp>
        <p:nvSpPr>
          <p:cNvPr id="105477" name="Rectangle 3"/>
          <p:cNvSpPr>
            <a:spLocks noGrp="1" noChangeArrowheads="1"/>
          </p:cNvSpPr>
          <p:nvPr>
            <p:ph type="body" idx="1"/>
          </p:nvPr>
        </p:nvSpPr>
        <p:spPr/>
        <p:txBody>
          <a:bodyPr/>
          <a:lstStyle/>
          <a:p>
            <a:r>
              <a:rPr lang="en-US"/>
              <a:t>Ideal circumstances</a:t>
            </a:r>
          </a:p>
          <a:p>
            <a:pPr lvl="1"/>
            <a:r>
              <a:rPr lang="en-US"/>
              <a:t>All </a:t>
            </a:r>
            <a:r>
              <a:rPr lang="en-US">
                <a:solidFill>
                  <a:schemeClr val="tx1"/>
                </a:solidFill>
              </a:rPr>
              <a:t>n</a:t>
            </a:r>
            <a:r>
              <a:rPr lang="en-US"/>
              <a:t> threads move together, combine</a:t>
            </a:r>
          </a:p>
          <a:p>
            <a:pPr lvl="1"/>
            <a:r>
              <a:rPr lang="en-US">
                <a:solidFill>
                  <a:schemeClr val="tx1"/>
                </a:solidFill>
              </a:rPr>
              <a:t>n</a:t>
            </a:r>
            <a:r>
              <a:rPr lang="en-US"/>
              <a:t> increments in </a:t>
            </a:r>
            <a:r>
              <a:rPr lang="en-US">
                <a:solidFill>
                  <a:schemeClr val="tx1"/>
                </a:solidFill>
              </a:rPr>
              <a:t>O(log n)</a:t>
            </a:r>
            <a:r>
              <a:rPr lang="en-US"/>
              <a:t> time</a:t>
            </a:r>
          </a:p>
          <a:p>
            <a:r>
              <a:rPr lang="en-US"/>
              <a:t>Worst circumstances</a:t>
            </a:r>
          </a:p>
          <a:p>
            <a:pPr lvl="1"/>
            <a:r>
              <a:rPr lang="en-US"/>
              <a:t>All </a:t>
            </a:r>
            <a:r>
              <a:rPr lang="en-US">
                <a:solidFill>
                  <a:schemeClr val="tx1"/>
                </a:solidFill>
              </a:rPr>
              <a:t>n</a:t>
            </a:r>
            <a:r>
              <a:rPr lang="en-US"/>
              <a:t> threads slightly skewed, locked out</a:t>
            </a:r>
          </a:p>
          <a:p>
            <a:pPr lvl="1"/>
            <a:r>
              <a:rPr lang="en-US">
                <a:solidFill>
                  <a:schemeClr val="tx1"/>
                </a:solidFill>
              </a:rPr>
              <a:t>n</a:t>
            </a:r>
            <a:r>
              <a:rPr lang="en-US"/>
              <a:t> increments in </a:t>
            </a:r>
            <a:r>
              <a:rPr lang="en-US">
                <a:solidFill>
                  <a:schemeClr val="tx1"/>
                </a:solidFill>
              </a:rPr>
              <a:t>O(n · log n)</a:t>
            </a:r>
            <a:r>
              <a:rPr lang="en-US"/>
              <a:t> time</a:t>
            </a:r>
          </a:p>
          <a:p>
            <a:pPr lvl="1"/>
            <a:endParaRPr lang="en-US"/>
          </a:p>
          <a:p>
            <a:pPr lvl="1"/>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8FC0CD0C-941C-472C-B341-F0C22CCE74AC}" type="slidenum">
              <a:rPr lang="en-US"/>
              <a:pPr>
                <a:defRPr/>
              </a:pPr>
              <a:t>105</a:t>
            </a:fld>
            <a:endParaRPr lang="en-US"/>
          </a:p>
        </p:txBody>
      </p:sp>
      <p:sp>
        <p:nvSpPr>
          <p:cNvPr id="106500" name="Rectangle 2"/>
          <p:cNvSpPr>
            <a:spLocks noGrp="1" noChangeArrowheads="1"/>
          </p:cNvSpPr>
          <p:nvPr>
            <p:ph type="title"/>
          </p:nvPr>
        </p:nvSpPr>
        <p:spPr/>
        <p:txBody>
          <a:bodyPr/>
          <a:lstStyle/>
          <a:p>
            <a:r>
              <a:rPr lang="en-US" sz="4000"/>
              <a:t>Index Distribution Benchmark</a:t>
            </a:r>
          </a:p>
        </p:txBody>
      </p:sp>
      <p:sp>
        <p:nvSpPr>
          <p:cNvPr id="106501" name="Rectangle 3"/>
          <p:cNvSpPr>
            <a:spLocks noChangeArrowheads="1"/>
          </p:cNvSpPr>
          <p:nvPr/>
        </p:nvSpPr>
        <p:spPr bwMode="auto">
          <a:xfrm>
            <a:off x="947738" y="198120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tx1"/>
                </a:solidFill>
                <a:latin typeface="Courier New" pitchFamily="49" charset="0"/>
              </a:rPr>
              <a:t>void</a:t>
            </a:r>
            <a:r>
              <a:rPr lang="en-US" dirty="0">
                <a:latin typeface="Courier New" pitchFamily="49" charset="0"/>
              </a:rPr>
              <a:t> </a:t>
            </a:r>
            <a:r>
              <a:rPr lang="en-US" dirty="0" err="1">
                <a:latin typeface="Courier New" pitchFamily="49" charset="0"/>
              </a:rPr>
              <a:t>indexBench</a:t>
            </a:r>
            <a:r>
              <a:rPr lang="en-US" dirty="0">
                <a:latin typeface="Courier New" pitchFamily="49" charset="0"/>
              </a:rPr>
              <a:t>(</a:t>
            </a:r>
            <a:r>
              <a:rPr lang="en-US" dirty="0" err="1">
                <a:solidFill>
                  <a:schemeClr val="tx1"/>
                </a:solidFill>
                <a:latin typeface="Courier New" pitchFamily="49" charset="0"/>
              </a:rPr>
              <a:t>int</a:t>
            </a:r>
            <a:r>
              <a:rPr lang="en-US" dirty="0">
                <a:latin typeface="Courier New" pitchFamily="49" charset="0"/>
              </a:rPr>
              <a:t> </a:t>
            </a:r>
            <a:r>
              <a:rPr lang="en-US" dirty="0" err="1">
                <a:latin typeface="Courier New" pitchFamily="49" charset="0"/>
              </a:rPr>
              <a:t>iters</a:t>
            </a:r>
            <a:r>
              <a:rPr lang="en-US" dirty="0">
                <a:latin typeface="Courier New" pitchFamily="49" charset="0"/>
              </a:rPr>
              <a:t>, </a:t>
            </a:r>
            <a:r>
              <a:rPr lang="en-US" dirty="0" err="1">
                <a:solidFill>
                  <a:schemeClr val="tx1"/>
                </a:solidFill>
                <a:latin typeface="Courier New" pitchFamily="49" charset="0"/>
              </a:rPr>
              <a:t>int</a:t>
            </a:r>
            <a:r>
              <a:rPr lang="en-US" dirty="0">
                <a:latin typeface="Courier New" pitchFamily="49" charset="0"/>
              </a:rPr>
              <a:t> work) {</a:t>
            </a:r>
          </a:p>
          <a:p>
            <a:pPr marL="342900" indent="-342900"/>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a:t>
            </a:r>
            <a:r>
              <a:rPr lang="en-US" dirty="0" err="1">
                <a:solidFill>
                  <a:schemeClr val="tx1"/>
                </a:solidFill>
                <a:latin typeface="Courier New" pitchFamily="49" charset="0"/>
              </a:rPr>
              <a:t>int</a:t>
            </a:r>
            <a:r>
              <a:rPr lang="en-US" dirty="0">
                <a:latin typeface="Courier New" pitchFamily="49" charset="0"/>
              </a:rPr>
              <a:t> </a:t>
            </a:r>
            <a:r>
              <a:rPr lang="en-US" dirty="0" err="1">
                <a:latin typeface="Courier New" pitchFamily="49" charset="0"/>
              </a:rPr>
              <a:t>i</a:t>
            </a:r>
            <a:r>
              <a:rPr lang="en-US" dirty="0">
                <a:latin typeface="Courier New" pitchFamily="49" charset="0"/>
              </a:rPr>
              <a:t> &lt; </a:t>
            </a:r>
            <a:r>
              <a:rPr lang="en-US" dirty="0" err="1">
                <a:latin typeface="Courier New" pitchFamily="49" charset="0"/>
              </a:rPr>
              <a:t>iters</a:t>
            </a:r>
            <a:r>
              <a:rPr lang="en-US" dirty="0">
                <a:latin typeface="Courier New" pitchFamily="49" charset="0"/>
              </a:rPr>
              <a:t>) {</a:t>
            </a:r>
          </a:p>
          <a:p>
            <a:pPr marL="342900" indent="-342900"/>
            <a:r>
              <a:rPr lang="en-US" dirty="0">
                <a:latin typeface="Courier New" pitchFamily="49" charset="0"/>
              </a:rPr>
              <a:t>  </a:t>
            </a:r>
            <a:r>
              <a:rPr lang="en-US" dirty="0" err="1">
                <a:latin typeface="Courier New" pitchFamily="49" charset="0"/>
              </a:rPr>
              <a:t>i</a:t>
            </a:r>
            <a:r>
              <a:rPr lang="en-US" dirty="0">
                <a:latin typeface="Courier New" pitchFamily="49" charset="0"/>
              </a:rPr>
              <a:t> = </a:t>
            </a:r>
            <a:r>
              <a:rPr lang="en-US" dirty="0" err="1">
                <a:latin typeface="Courier New" pitchFamily="49" charset="0"/>
              </a:rPr>
              <a:t>r.getAndIncrement</a:t>
            </a:r>
            <a:r>
              <a:rPr lang="en-US" dirty="0">
                <a:latin typeface="Courier New" pitchFamily="49" charset="0"/>
              </a:rPr>
              <a:t>();</a:t>
            </a:r>
          </a:p>
          <a:p>
            <a:pPr marL="342900" indent="-342900"/>
            <a:r>
              <a:rPr lang="en-US" dirty="0">
                <a:latin typeface="Courier New" pitchFamily="49" charset="0"/>
              </a:rPr>
              <a:t>  </a:t>
            </a:r>
            <a:r>
              <a:rPr lang="en-US" dirty="0" err="1">
                <a:latin typeface="Courier New" pitchFamily="49" charset="0"/>
              </a:rPr>
              <a:t>Thread.sleep</a:t>
            </a:r>
            <a:r>
              <a:rPr lang="en-US" dirty="0">
                <a:latin typeface="Courier New" pitchFamily="49" charset="0"/>
              </a:rPr>
              <a:t>(random() % work);</a:t>
            </a:r>
          </a:p>
          <a:p>
            <a:pPr marL="342900" indent="-342900"/>
            <a:r>
              <a:rPr lang="en-US" dirty="0">
                <a:latin typeface="Courier New" pitchFamily="49" charset="0"/>
              </a:rPr>
              <a:t>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FFA883B0-E1A9-4A0F-9682-B0124BAC66BF}" type="slidenum">
              <a:rPr lang="en-US"/>
              <a:pPr>
                <a:defRPr/>
              </a:pPr>
              <a:t>106</a:t>
            </a:fld>
            <a:endParaRPr lang="en-US"/>
          </a:p>
        </p:txBody>
      </p:sp>
      <p:sp>
        <p:nvSpPr>
          <p:cNvPr id="107524" name="Rectangle 2"/>
          <p:cNvSpPr>
            <a:spLocks noGrp="1" noChangeArrowheads="1"/>
          </p:cNvSpPr>
          <p:nvPr>
            <p:ph type="title"/>
          </p:nvPr>
        </p:nvSpPr>
        <p:spPr/>
        <p:txBody>
          <a:bodyPr/>
          <a:lstStyle/>
          <a:p>
            <a:r>
              <a:rPr lang="en-US" sz="4000"/>
              <a:t>Index Distribution Benchmark</a:t>
            </a:r>
          </a:p>
        </p:txBody>
      </p:sp>
      <p:sp>
        <p:nvSpPr>
          <p:cNvPr id="107525" name="Rectangle 3"/>
          <p:cNvSpPr>
            <a:spLocks noChangeArrowheads="1"/>
          </p:cNvSpPr>
          <p:nvPr/>
        </p:nvSpPr>
        <p:spPr bwMode="auto">
          <a:xfrm>
            <a:off x="947738" y="198120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void </a:t>
            </a:r>
            <a:r>
              <a:rPr lang="en-US" dirty="0" err="1">
                <a:solidFill>
                  <a:schemeClr val="folHlink"/>
                </a:solidFill>
                <a:latin typeface="Courier New" pitchFamily="49" charset="0"/>
              </a:rPr>
              <a:t>indexBench</a:t>
            </a:r>
            <a:r>
              <a:rPr lang="en-US" dirty="0">
                <a:solidFill>
                  <a:schemeClr val="folHlink"/>
                </a:solidFill>
                <a:latin typeface="Courier New" pitchFamily="49" charset="0"/>
              </a:rPr>
              <a:t>(</a:t>
            </a:r>
            <a:r>
              <a:rPr lang="en-US" dirty="0" err="1">
                <a:solidFill>
                  <a:schemeClr val="tx1"/>
                </a:solidFill>
                <a:latin typeface="Courier New" pitchFamily="49" charset="0"/>
              </a:rPr>
              <a:t>int</a:t>
            </a:r>
            <a:r>
              <a:rPr lang="en-US" dirty="0">
                <a:latin typeface="Courier New" pitchFamily="49" charset="0"/>
              </a:rPr>
              <a:t> </a:t>
            </a:r>
            <a:r>
              <a:rPr lang="en-US" dirty="0" err="1">
                <a:latin typeface="Courier New" pitchFamily="49" charset="0"/>
              </a:rPr>
              <a:t>iters</a:t>
            </a:r>
            <a:r>
              <a:rPr lang="en-US" dirty="0">
                <a:latin typeface="Courier New" pitchFamily="49" charset="0"/>
              </a:rPr>
              <a:t>, </a:t>
            </a:r>
            <a:r>
              <a:rPr lang="en-US" dirty="0" err="1">
                <a:solidFill>
                  <a:schemeClr val="folHlink"/>
                </a:solidFill>
                <a:latin typeface="Courier New" pitchFamily="49" charset="0"/>
              </a:rPr>
              <a:t>int</a:t>
            </a:r>
            <a:r>
              <a:rPr lang="en-US" dirty="0">
                <a:solidFill>
                  <a:schemeClr val="folHlink"/>
                </a:solidFill>
                <a:latin typeface="Courier New" pitchFamily="49" charset="0"/>
              </a:rPr>
              <a:t> work) {</a:t>
            </a:r>
          </a:p>
          <a:p>
            <a:pPr marL="342900" indent="-342900"/>
            <a:r>
              <a:rPr lang="en-US" dirty="0">
                <a:solidFill>
                  <a:schemeClr val="folHlink"/>
                </a:solidFill>
                <a:latin typeface="Courier New" pitchFamily="49" charset="0"/>
              </a:rPr>
              <a:t> while (</a:t>
            </a:r>
            <a:r>
              <a:rPr lang="en-US" dirty="0" err="1">
                <a:solidFill>
                  <a:schemeClr val="folHlink"/>
                </a:solidFill>
                <a:latin typeface="Courier New" pitchFamily="49" charset="0"/>
              </a:rPr>
              <a:t>int</a:t>
            </a:r>
            <a:r>
              <a:rPr lang="en-US" dirty="0">
                <a:solidFill>
                  <a:schemeClr val="folHlink"/>
                </a:solidFill>
                <a:latin typeface="Courier New" pitchFamily="49" charset="0"/>
              </a:rPr>
              <a:t> </a:t>
            </a:r>
            <a:r>
              <a:rPr lang="en-US" dirty="0" err="1">
                <a:solidFill>
                  <a:schemeClr val="folHlink"/>
                </a:solidFill>
                <a:latin typeface="Courier New" pitchFamily="49" charset="0"/>
              </a:rPr>
              <a:t>i</a:t>
            </a:r>
            <a:r>
              <a:rPr lang="en-US" dirty="0">
                <a:solidFill>
                  <a:schemeClr val="folHlink"/>
                </a:solidFill>
                <a:latin typeface="Courier New" pitchFamily="49" charset="0"/>
              </a:rPr>
              <a:t> &lt; </a:t>
            </a:r>
            <a:r>
              <a:rPr lang="en-US" dirty="0" err="1">
                <a:solidFill>
                  <a:schemeClr val="folHlink"/>
                </a:solidFill>
                <a:latin typeface="Courier New" pitchFamily="49" charset="0"/>
              </a:rPr>
              <a:t>iters</a:t>
            </a:r>
            <a:r>
              <a:rPr lang="en-US" dirty="0">
                <a:solidFill>
                  <a:schemeClr val="folHlink"/>
                </a:solidFill>
                <a:latin typeface="Courier New" pitchFamily="49" charset="0"/>
              </a:rPr>
              <a:t>) {</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i</a:t>
            </a:r>
            <a:r>
              <a:rPr lang="en-US" dirty="0">
                <a:solidFill>
                  <a:schemeClr val="folHlink"/>
                </a:solidFill>
                <a:latin typeface="Courier New" pitchFamily="49" charset="0"/>
              </a:rPr>
              <a:t> = </a:t>
            </a:r>
            <a:r>
              <a:rPr lang="en-US" dirty="0" err="1">
                <a:solidFill>
                  <a:schemeClr val="folHlink"/>
                </a:solidFill>
                <a:latin typeface="Courier New" pitchFamily="49" charset="0"/>
              </a:rPr>
              <a:t>r.getAndIncrement</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Thread.sleep</a:t>
            </a:r>
            <a:r>
              <a:rPr lang="en-US" dirty="0">
                <a:solidFill>
                  <a:schemeClr val="folHlink"/>
                </a:solidFill>
                <a:latin typeface="Courier New" pitchFamily="49" charset="0"/>
              </a:rPr>
              <a:t>(random() % work);</a:t>
            </a:r>
          </a:p>
          <a:p>
            <a:pPr marL="342900" indent="-342900"/>
            <a:r>
              <a:rPr lang="en-US" dirty="0">
                <a:solidFill>
                  <a:schemeClr val="folHlink"/>
                </a:solidFill>
                <a:latin typeface="Courier New" pitchFamily="49" charset="0"/>
              </a:rPr>
              <a:t> }}</a:t>
            </a:r>
          </a:p>
        </p:txBody>
      </p:sp>
      <p:sp>
        <p:nvSpPr>
          <p:cNvPr id="107526" name="AutoShape 4"/>
          <p:cNvSpPr>
            <a:spLocks noChangeArrowheads="1"/>
          </p:cNvSpPr>
          <p:nvPr/>
        </p:nvSpPr>
        <p:spPr bwMode="auto">
          <a:xfrm>
            <a:off x="3908425" y="2054225"/>
            <a:ext cx="1752600" cy="381000"/>
          </a:xfrm>
          <a:prstGeom prst="wedgeRoundRectCallout">
            <a:avLst>
              <a:gd name="adj1" fmla="val -93296"/>
              <a:gd name="adj2" fmla="val 692917"/>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107527" name="Text Box 5"/>
          <p:cNvSpPr txBox="1">
            <a:spLocks noChangeArrowheads="1"/>
          </p:cNvSpPr>
          <p:nvPr/>
        </p:nvSpPr>
        <p:spPr bwMode="auto">
          <a:xfrm>
            <a:off x="1219200" y="4876800"/>
            <a:ext cx="4343400" cy="519113"/>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How many iterations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BBF51663-E7EC-480C-8404-4A93C187D3EA}" type="slidenum">
              <a:rPr lang="en-US"/>
              <a:pPr>
                <a:defRPr/>
              </a:pPr>
              <a:t>107</a:t>
            </a:fld>
            <a:endParaRPr lang="en-US"/>
          </a:p>
        </p:txBody>
      </p:sp>
      <p:sp>
        <p:nvSpPr>
          <p:cNvPr id="108548" name="Rectangle 2"/>
          <p:cNvSpPr>
            <a:spLocks noGrp="1" noChangeArrowheads="1"/>
          </p:cNvSpPr>
          <p:nvPr>
            <p:ph type="title"/>
          </p:nvPr>
        </p:nvSpPr>
        <p:spPr/>
        <p:txBody>
          <a:bodyPr/>
          <a:lstStyle/>
          <a:p>
            <a:r>
              <a:rPr lang="en-US" sz="4000"/>
              <a:t>Index Distribution Benchmark</a:t>
            </a:r>
          </a:p>
        </p:txBody>
      </p:sp>
      <p:sp>
        <p:nvSpPr>
          <p:cNvPr id="108549" name="Rectangle 3"/>
          <p:cNvSpPr>
            <a:spLocks noChangeArrowheads="1"/>
          </p:cNvSpPr>
          <p:nvPr/>
        </p:nvSpPr>
        <p:spPr bwMode="auto">
          <a:xfrm>
            <a:off x="947738" y="198120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void </a:t>
            </a:r>
            <a:r>
              <a:rPr lang="en-US" dirty="0" err="1">
                <a:solidFill>
                  <a:schemeClr val="folHlink"/>
                </a:solidFill>
                <a:latin typeface="Courier New" pitchFamily="49" charset="0"/>
              </a:rPr>
              <a:t>indexBench</a:t>
            </a:r>
            <a:r>
              <a:rPr lang="en-US" dirty="0">
                <a:solidFill>
                  <a:schemeClr val="folHlink"/>
                </a:solidFill>
                <a:latin typeface="Courier New" pitchFamily="49" charset="0"/>
              </a:rPr>
              <a:t>(</a:t>
            </a:r>
            <a:r>
              <a:rPr lang="en-US" dirty="0" err="1">
                <a:solidFill>
                  <a:schemeClr val="folHlink"/>
                </a:solidFill>
                <a:latin typeface="Courier New" pitchFamily="49" charset="0"/>
              </a:rPr>
              <a:t>int</a:t>
            </a:r>
            <a:r>
              <a:rPr lang="en-US" dirty="0">
                <a:solidFill>
                  <a:schemeClr val="folHlink"/>
                </a:solidFill>
                <a:latin typeface="Courier New" pitchFamily="49" charset="0"/>
              </a:rPr>
              <a:t> </a:t>
            </a:r>
            <a:r>
              <a:rPr lang="en-US" dirty="0" err="1">
                <a:solidFill>
                  <a:schemeClr val="folHlink"/>
                </a:solidFill>
                <a:latin typeface="Courier New" pitchFamily="49" charset="0"/>
              </a:rPr>
              <a:t>iters</a:t>
            </a:r>
            <a:r>
              <a:rPr lang="en-US" dirty="0">
                <a:solidFill>
                  <a:schemeClr val="folHlink"/>
                </a:solidFill>
                <a:latin typeface="Courier New" pitchFamily="49" charset="0"/>
              </a:rPr>
              <a:t>,</a:t>
            </a:r>
            <a:r>
              <a:rPr lang="en-US" dirty="0">
                <a:latin typeface="Courier New" pitchFamily="49" charset="0"/>
              </a:rPr>
              <a:t> </a:t>
            </a:r>
            <a:r>
              <a:rPr lang="en-US" dirty="0" err="1">
                <a:solidFill>
                  <a:schemeClr val="tx1"/>
                </a:solidFill>
                <a:latin typeface="Courier New" pitchFamily="49" charset="0"/>
              </a:rPr>
              <a:t>int</a:t>
            </a:r>
            <a:r>
              <a:rPr lang="en-US" dirty="0">
                <a:latin typeface="Courier New" pitchFamily="49" charset="0"/>
              </a:rPr>
              <a:t> work</a:t>
            </a:r>
            <a:r>
              <a:rPr lang="en-US" dirty="0">
                <a:solidFill>
                  <a:schemeClr val="folHlink"/>
                </a:solidFill>
                <a:latin typeface="Courier New" pitchFamily="49" charset="0"/>
              </a:rPr>
              <a:t>)</a:t>
            </a:r>
            <a:r>
              <a:rPr lang="en-US" dirty="0">
                <a:latin typeface="Courier New" pitchFamily="49" charset="0"/>
              </a:rPr>
              <a:t> </a:t>
            </a:r>
            <a:r>
              <a:rPr lang="en-US" dirty="0">
                <a:solidFill>
                  <a:schemeClr val="folHlink"/>
                </a:solidFill>
                <a:latin typeface="Courier New" pitchFamily="49" charset="0"/>
              </a:rPr>
              <a:t>{</a:t>
            </a:r>
          </a:p>
          <a:p>
            <a:pPr marL="342900" indent="-342900"/>
            <a:r>
              <a:rPr lang="en-US" dirty="0">
                <a:latin typeface="Courier New" pitchFamily="49" charset="0"/>
              </a:rPr>
              <a:t> </a:t>
            </a:r>
            <a:r>
              <a:rPr lang="en-US" dirty="0">
                <a:solidFill>
                  <a:schemeClr val="folHlink"/>
                </a:solidFill>
                <a:latin typeface="Courier New" pitchFamily="49" charset="0"/>
              </a:rPr>
              <a:t>while (</a:t>
            </a:r>
            <a:r>
              <a:rPr lang="en-US" dirty="0" err="1">
                <a:solidFill>
                  <a:schemeClr val="folHlink"/>
                </a:solidFill>
                <a:latin typeface="Courier New" pitchFamily="49" charset="0"/>
              </a:rPr>
              <a:t>int</a:t>
            </a:r>
            <a:r>
              <a:rPr lang="en-US" dirty="0">
                <a:solidFill>
                  <a:schemeClr val="folHlink"/>
                </a:solidFill>
                <a:latin typeface="Courier New" pitchFamily="49" charset="0"/>
              </a:rPr>
              <a:t> </a:t>
            </a:r>
            <a:r>
              <a:rPr lang="en-US" dirty="0" err="1">
                <a:solidFill>
                  <a:schemeClr val="folHlink"/>
                </a:solidFill>
                <a:latin typeface="Courier New" pitchFamily="49" charset="0"/>
              </a:rPr>
              <a:t>i</a:t>
            </a:r>
            <a:r>
              <a:rPr lang="en-US" dirty="0">
                <a:solidFill>
                  <a:schemeClr val="folHlink"/>
                </a:solidFill>
                <a:latin typeface="Courier New" pitchFamily="49" charset="0"/>
              </a:rPr>
              <a:t> &lt; </a:t>
            </a:r>
            <a:r>
              <a:rPr lang="en-US" dirty="0" err="1">
                <a:solidFill>
                  <a:schemeClr val="folHlink"/>
                </a:solidFill>
                <a:latin typeface="Courier New" pitchFamily="49" charset="0"/>
              </a:rPr>
              <a:t>iters</a:t>
            </a:r>
            <a:r>
              <a:rPr lang="en-US" dirty="0">
                <a:solidFill>
                  <a:schemeClr val="folHlink"/>
                </a:solidFill>
                <a:latin typeface="Courier New" pitchFamily="49" charset="0"/>
              </a:rPr>
              <a:t>) {</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i</a:t>
            </a:r>
            <a:r>
              <a:rPr lang="en-US" dirty="0">
                <a:solidFill>
                  <a:schemeClr val="folHlink"/>
                </a:solidFill>
                <a:latin typeface="Courier New" pitchFamily="49" charset="0"/>
              </a:rPr>
              <a:t> = </a:t>
            </a:r>
            <a:r>
              <a:rPr lang="en-US" dirty="0" err="1">
                <a:solidFill>
                  <a:schemeClr val="folHlink"/>
                </a:solidFill>
                <a:latin typeface="Courier New" pitchFamily="49" charset="0"/>
              </a:rPr>
              <a:t>r.getAndIncrement</a:t>
            </a:r>
            <a:r>
              <a:rPr lang="en-US" dirty="0">
                <a:solidFill>
                  <a:schemeClr val="folHlink"/>
                </a:solidFill>
                <a:latin typeface="Courier New" pitchFamily="49" charset="0"/>
              </a:rPr>
              <a:t>();</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Thread.sleep</a:t>
            </a:r>
            <a:r>
              <a:rPr lang="en-US" dirty="0">
                <a:solidFill>
                  <a:schemeClr val="folHlink"/>
                </a:solidFill>
                <a:latin typeface="Courier New" pitchFamily="49" charset="0"/>
              </a:rPr>
              <a:t>(random() % work);</a:t>
            </a:r>
          </a:p>
          <a:p>
            <a:pPr marL="342900" indent="-342900"/>
            <a:r>
              <a:rPr lang="en-US" dirty="0">
                <a:solidFill>
                  <a:schemeClr val="folHlink"/>
                </a:solidFill>
                <a:latin typeface="Courier New" pitchFamily="49" charset="0"/>
              </a:rPr>
              <a:t> }}</a:t>
            </a:r>
          </a:p>
        </p:txBody>
      </p:sp>
      <p:sp>
        <p:nvSpPr>
          <p:cNvPr id="108550" name="AutoShape 4"/>
          <p:cNvSpPr>
            <a:spLocks noChangeArrowheads="1"/>
          </p:cNvSpPr>
          <p:nvPr/>
        </p:nvSpPr>
        <p:spPr bwMode="auto">
          <a:xfrm>
            <a:off x="5824538" y="2039938"/>
            <a:ext cx="1752600" cy="381000"/>
          </a:xfrm>
          <a:prstGeom prst="wedgeRoundRectCallout">
            <a:avLst>
              <a:gd name="adj1" fmla="val -93296"/>
              <a:gd name="adj2" fmla="val 692917"/>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108551" name="Text Box 5"/>
          <p:cNvSpPr txBox="1">
            <a:spLocks noChangeArrowheads="1"/>
          </p:cNvSpPr>
          <p:nvPr/>
        </p:nvSpPr>
        <p:spPr bwMode="auto">
          <a:xfrm>
            <a:off x="1219200" y="4876800"/>
            <a:ext cx="4343400"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Expected time between incrementing counter</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7BEAA670-91D8-4825-A21B-975078CB43E3}" type="slidenum">
              <a:rPr lang="en-US"/>
              <a:pPr>
                <a:defRPr/>
              </a:pPr>
              <a:t>108</a:t>
            </a:fld>
            <a:endParaRPr lang="en-US"/>
          </a:p>
        </p:txBody>
      </p:sp>
      <p:sp>
        <p:nvSpPr>
          <p:cNvPr id="109572" name="Rectangle 2"/>
          <p:cNvSpPr>
            <a:spLocks noGrp="1" noChangeArrowheads="1"/>
          </p:cNvSpPr>
          <p:nvPr>
            <p:ph type="title"/>
          </p:nvPr>
        </p:nvSpPr>
        <p:spPr/>
        <p:txBody>
          <a:bodyPr/>
          <a:lstStyle/>
          <a:p>
            <a:r>
              <a:rPr lang="en-US" sz="4000"/>
              <a:t>Index Distribution Benchmark</a:t>
            </a:r>
          </a:p>
        </p:txBody>
      </p:sp>
      <p:sp>
        <p:nvSpPr>
          <p:cNvPr id="109573" name="Rectangle 3"/>
          <p:cNvSpPr>
            <a:spLocks noChangeArrowheads="1"/>
          </p:cNvSpPr>
          <p:nvPr/>
        </p:nvSpPr>
        <p:spPr bwMode="auto">
          <a:xfrm>
            <a:off x="947738" y="198120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void </a:t>
            </a:r>
            <a:r>
              <a:rPr lang="en-US" dirty="0" err="1">
                <a:solidFill>
                  <a:schemeClr val="folHlink"/>
                </a:solidFill>
                <a:latin typeface="Courier New" pitchFamily="49" charset="0"/>
              </a:rPr>
              <a:t>indexBench</a:t>
            </a:r>
            <a:r>
              <a:rPr lang="en-US" dirty="0">
                <a:solidFill>
                  <a:schemeClr val="folHlink"/>
                </a:solidFill>
                <a:latin typeface="Courier New" pitchFamily="49" charset="0"/>
              </a:rPr>
              <a:t>(</a:t>
            </a:r>
            <a:r>
              <a:rPr lang="en-US" dirty="0" err="1">
                <a:solidFill>
                  <a:schemeClr val="folHlink"/>
                </a:solidFill>
                <a:latin typeface="Courier New" pitchFamily="49" charset="0"/>
              </a:rPr>
              <a:t>int</a:t>
            </a:r>
            <a:r>
              <a:rPr lang="en-US" dirty="0">
                <a:solidFill>
                  <a:schemeClr val="folHlink"/>
                </a:solidFill>
                <a:latin typeface="Courier New" pitchFamily="49" charset="0"/>
              </a:rPr>
              <a:t> </a:t>
            </a:r>
            <a:r>
              <a:rPr lang="en-US" dirty="0" err="1">
                <a:solidFill>
                  <a:schemeClr val="folHlink"/>
                </a:solidFill>
                <a:latin typeface="Courier New" pitchFamily="49" charset="0"/>
              </a:rPr>
              <a:t>iters</a:t>
            </a:r>
            <a:r>
              <a:rPr lang="en-US" dirty="0">
                <a:solidFill>
                  <a:schemeClr val="folHlink"/>
                </a:solidFill>
                <a:latin typeface="Courier New" pitchFamily="49" charset="0"/>
              </a:rPr>
              <a:t>, </a:t>
            </a:r>
            <a:r>
              <a:rPr lang="en-US" dirty="0" err="1">
                <a:solidFill>
                  <a:schemeClr val="folHlink"/>
                </a:solidFill>
                <a:latin typeface="Courier New" pitchFamily="49" charset="0"/>
              </a:rPr>
              <a:t>int</a:t>
            </a:r>
            <a:r>
              <a:rPr lang="en-US" dirty="0">
                <a:solidFill>
                  <a:schemeClr val="folHlink"/>
                </a:solidFill>
                <a:latin typeface="Courier New" pitchFamily="49" charset="0"/>
              </a:rPr>
              <a:t> work) {</a:t>
            </a:r>
          </a:p>
          <a:p>
            <a:pPr marL="342900" indent="-342900"/>
            <a:r>
              <a:rPr lang="en-US" dirty="0">
                <a:solidFill>
                  <a:schemeClr val="folHlink"/>
                </a:solidFill>
                <a:latin typeface="Courier New" pitchFamily="49" charset="0"/>
              </a:rPr>
              <a:t> while (</a:t>
            </a:r>
            <a:r>
              <a:rPr lang="en-US" dirty="0" err="1">
                <a:solidFill>
                  <a:schemeClr val="folHlink"/>
                </a:solidFill>
                <a:latin typeface="Courier New" pitchFamily="49" charset="0"/>
              </a:rPr>
              <a:t>int</a:t>
            </a:r>
            <a:r>
              <a:rPr lang="en-US" dirty="0">
                <a:solidFill>
                  <a:schemeClr val="folHlink"/>
                </a:solidFill>
                <a:latin typeface="Courier New" pitchFamily="49" charset="0"/>
              </a:rPr>
              <a:t> </a:t>
            </a:r>
            <a:r>
              <a:rPr lang="en-US" dirty="0" err="1">
                <a:solidFill>
                  <a:schemeClr val="folHlink"/>
                </a:solidFill>
                <a:latin typeface="Courier New" pitchFamily="49" charset="0"/>
              </a:rPr>
              <a:t>i</a:t>
            </a:r>
            <a:r>
              <a:rPr lang="en-US" dirty="0">
                <a:solidFill>
                  <a:schemeClr val="folHlink"/>
                </a:solidFill>
                <a:latin typeface="Courier New" pitchFamily="49" charset="0"/>
              </a:rPr>
              <a:t> &lt; </a:t>
            </a:r>
            <a:r>
              <a:rPr lang="en-US" dirty="0" err="1">
                <a:solidFill>
                  <a:schemeClr val="folHlink"/>
                </a:solidFill>
                <a:latin typeface="Courier New" pitchFamily="49" charset="0"/>
              </a:rPr>
              <a:t>iters</a:t>
            </a:r>
            <a:r>
              <a:rPr lang="en-US" dirty="0">
                <a:solidFill>
                  <a:schemeClr val="folHlink"/>
                </a:solidFill>
                <a:latin typeface="Courier New" pitchFamily="49" charset="0"/>
              </a:rPr>
              <a:t>) {</a:t>
            </a:r>
          </a:p>
          <a:p>
            <a:pPr marL="342900" indent="-342900"/>
            <a:r>
              <a:rPr lang="en-US" dirty="0">
                <a:latin typeface="Courier New" pitchFamily="49" charset="0"/>
              </a:rPr>
              <a:t>  </a:t>
            </a:r>
            <a:r>
              <a:rPr lang="en-US" dirty="0" err="1">
                <a:latin typeface="Courier New" pitchFamily="49" charset="0"/>
              </a:rPr>
              <a:t>i</a:t>
            </a:r>
            <a:r>
              <a:rPr lang="en-US" dirty="0">
                <a:latin typeface="Courier New" pitchFamily="49" charset="0"/>
              </a:rPr>
              <a:t> = </a:t>
            </a:r>
            <a:r>
              <a:rPr lang="en-US" dirty="0" err="1">
                <a:latin typeface="Courier New" pitchFamily="49" charset="0"/>
              </a:rPr>
              <a:t>r.getAndIncrement</a:t>
            </a:r>
            <a:r>
              <a:rPr lang="en-US" dirty="0">
                <a:latin typeface="Courier New" pitchFamily="49" charset="0"/>
              </a:rPr>
              <a:t>();</a:t>
            </a:r>
          </a:p>
          <a:p>
            <a:pPr marL="342900" indent="-342900"/>
            <a:r>
              <a:rPr lang="en-US" dirty="0">
                <a:latin typeface="Courier New" pitchFamily="49" charset="0"/>
              </a:rPr>
              <a:t>  </a:t>
            </a:r>
            <a:r>
              <a:rPr lang="en-US" dirty="0" err="1">
                <a:solidFill>
                  <a:schemeClr val="folHlink"/>
                </a:solidFill>
                <a:latin typeface="Courier New" pitchFamily="49" charset="0"/>
              </a:rPr>
              <a:t>Thread.sleep</a:t>
            </a:r>
            <a:r>
              <a:rPr lang="en-US" dirty="0">
                <a:solidFill>
                  <a:schemeClr val="folHlink"/>
                </a:solidFill>
                <a:latin typeface="Courier New" pitchFamily="49" charset="0"/>
              </a:rPr>
              <a:t>(random() % work);</a:t>
            </a:r>
          </a:p>
          <a:p>
            <a:pPr marL="342900" indent="-342900"/>
            <a:r>
              <a:rPr lang="en-US" dirty="0">
                <a:solidFill>
                  <a:schemeClr val="folHlink"/>
                </a:solidFill>
                <a:latin typeface="Courier New" pitchFamily="49" charset="0"/>
              </a:rPr>
              <a:t> }}</a:t>
            </a:r>
          </a:p>
        </p:txBody>
      </p:sp>
      <p:sp>
        <p:nvSpPr>
          <p:cNvPr id="109574" name="AutoShape 4"/>
          <p:cNvSpPr>
            <a:spLocks noChangeArrowheads="1"/>
          </p:cNvSpPr>
          <p:nvPr/>
        </p:nvSpPr>
        <p:spPr bwMode="auto">
          <a:xfrm>
            <a:off x="1295400" y="2911475"/>
            <a:ext cx="4670425" cy="381000"/>
          </a:xfrm>
          <a:prstGeom prst="wedgeRoundRectCallout">
            <a:avLst>
              <a:gd name="adj1" fmla="val -13120"/>
              <a:gd name="adj2" fmla="val 448750"/>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109575" name="Text Box 5"/>
          <p:cNvSpPr txBox="1">
            <a:spLocks noChangeArrowheads="1"/>
          </p:cNvSpPr>
          <p:nvPr/>
        </p:nvSpPr>
        <p:spPr bwMode="auto">
          <a:xfrm>
            <a:off x="1219200" y="4876800"/>
            <a:ext cx="4343400" cy="519113"/>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Take a number</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Art of Multiprocessor Programming</a:t>
            </a:r>
          </a:p>
        </p:txBody>
      </p:sp>
      <p:sp>
        <p:nvSpPr>
          <p:cNvPr id="7" name="Slide Number Placeholder 5"/>
          <p:cNvSpPr>
            <a:spLocks noGrp="1"/>
          </p:cNvSpPr>
          <p:nvPr>
            <p:ph type="sldNum" sz="quarter" idx="11"/>
          </p:nvPr>
        </p:nvSpPr>
        <p:spPr/>
        <p:txBody>
          <a:bodyPr/>
          <a:lstStyle/>
          <a:p>
            <a:pPr>
              <a:defRPr/>
            </a:pPr>
            <a:fld id="{4BA76B50-C119-4FB5-B8C2-D83AE4758E55}" type="slidenum">
              <a:rPr lang="en-US"/>
              <a:pPr>
                <a:defRPr/>
              </a:pPr>
              <a:t>109</a:t>
            </a:fld>
            <a:endParaRPr lang="en-US"/>
          </a:p>
        </p:txBody>
      </p:sp>
      <p:sp>
        <p:nvSpPr>
          <p:cNvPr id="110596" name="Rectangle 2"/>
          <p:cNvSpPr>
            <a:spLocks noGrp="1" noChangeArrowheads="1"/>
          </p:cNvSpPr>
          <p:nvPr>
            <p:ph type="title"/>
          </p:nvPr>
        </p:nvSpPr>
        <p:spPr/>
        <p:txBody>
          <a:bodyPr/>
          <a:lstStyle/>
          <a:p>
            <a:r>
              <a:rPr lang="en-US" sz="4000"/>
              <a:t>Index Distribution Benchmark</a:t>
            </a:r>
          </a:p>
        </p:txBody>
      </p:sp>
      <p:sp>
        <p:nvSpPr>
          <p:cNvPr id="110597" name="Rectangle 3"/>
          <p:cNvSpPr>
            <a:spLocks noChangeArrowheads="1"/>
          </p:cNvSpPr>
          <p:nvPr/>
        </p:nvSpPr>
        <p:spPr bwMode="auto">
          <a:xfrm>
            <a:off x="947738" y="1981200"/>
            <a:ext cx="7586662" cy="2234458"/>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rPr>
              <a:t>void </a:t>
            </a:r>
            <a:r>
              <a:rPr lang="en-US" dirty="0" err="1">
                <a:solidFill>
                  <a:schemeClr val="folHlink"/>
                </a:solidFill>
                <a:latin typeface="Courier New" pitchFamily="49" charset="0"/>
              </a:rPr>
              <a:t>indexBench</a:t>
            </a:r>
            <a:r>
              <a:rPr lang="en-US" dirty="0">
                <a:solidFill>
                  <a:schemeClr val="folHlink"/>
                </a:solidFill>
                <a:latin typeface="Courier New" pitchFamily="49" charset="0"/>
              </a:rPr>
              <a:t>(</a:t>
            </a:r>
            <a:r>
              <a:rPr lang="en-US" dirty="0" err="1">
                <a:solidFill>
                  <a:schemeClr val="folHlink"/>
                </a:solidFill>
                <a:latin typeface="Courier New" pitchFamily="49" charset="0"/>
              </a:rPr>
              <a:t>int</a:t>
            </a:r>
            <a:r>
              <a:rPr lang="en-US" dirty="0">
                <a:solidFill>
                  <a:schemeClr val="folHlink"/>
                </a:solidFill>
                <a:latin typeface="Courier New" pitchFamily="49" charset="0"/>
              </a:rPr>
              <a:t> </a:t>
            </a:r>
            <a:r>
              <a:rPr lang="en-US" dirty="0" err="1">
                <a:solidFill>
                  <a:schemeClr val="folHlink"/>
                </a:solidFill>
                <a:latin typeface="Courier New" pitchFamily="49" charset="0"/>
              </a:rPr>
              <a:t>iters</a:t>
            </a:r>
            <a:r>
              <a:rPr lang="en-US" dirty="0">
                <a:solidFill>
                  <a:schemeClr val="folHlink"/>
                </a:solidFill>
                <a:latin typeface="Courier New" pitchFamily="49" charset="0"/>
              </a:rPr>
              <a:t>, </a:t>
            </a:r>
            <a:r>
              <a:rPr lang="en-US" dirty="0" err="1">
                <a:solidFill>
                  <a:schemeClr val="folHlink"/>
                </a:solidFill>
                <a:latin typeface="Courier New" pitchFamily="49" charset="0"/>
              </a:rPr>
              <a:t>int</a:t>
            </a:r>
            <a:r>
              <a:rPr lang="en-US" dirty="0">
                <a:solidFill>
                  <a:schemeClr val="folHlink"/>
                </a:solidFill>
                <a:latin typeface="Courier New" pitchFamily="49" charset="0"/>
              </a:rPr>
              <a:t> work) {</a:t>
            </a:r>
          </a:p>
          <a:p>
            <a:pPr marL="342900" indent="-342900"/>
            <a:r>
              <a:rPr lang="en-US" dirty="0">
                <a:solidFill>
                  <a:schemeClr val="folHlink"/>
                </a:solidFill>
                <a:latin typeface="Courier New" pitchFamily="49" charset="0"/>
              </a:rPr>
              <a:t> while (</a:t>
            </a:r>
            <a:r>
              <a:rPr lang="en-US" dirty="0" err="1">
                <a:solidFill>
                  <a:schemeClr val="folHlink"/>
                </a:solidFill>
                <a:latin typeface="Courier New" pitchFamily="49" charset="0"/>
              </a:rPr>
              <a:t>int</a:t>
            </a:r>
            <a:r>
              <a:rPr lang="en-US" dirty="0">
                <a:solidFill>
                  <a:schemeClr val="folHlink"/>
                </a:solidFill>
                <a:latin typeface="Courier New" pitchFamily="49" charset="0"/>
              </a:rPr>
              <a:t> </a:t>
            </a:r>
            <a:r>
              <a:rPr lang="en-US" dirty="0" err="1">
                <a:solidFill>
                  <a:schemeClr val="folHlink"/>
                </a:solidFill>
                <a:latin typeface="Courier New" pitchFamily="49" charset="0"/>
              </a:rPr>
              <a:t>i</a:t>
            </a:r>
            <a:r>
              <a:rPr lang="en-US" dirty="0">
                <a:solidFill>
                  <a:schemeClr val="folHlink"/>
                </a:solidFill>
                <a:latin typeface="Courier New" pitchFamily="49" charset="0"/>
              </a:rPr>
              <a:t> &lt; </a:t>
            </a:r>
            <a:r>
              <a:rPr lang="en-US" dirty="0" err="1">
                <a:solidFill>
                  <a:schemeClr val="folHlink"/>
                </a:solidFill>
                <a:latin typeface="Courier New" pitchFamily="49" charset="0"/>
              </a:rPr>
              <a:t>iters</a:t>
            </a:r>
            <a:r>
              <a:rPr lang="en-US" dirty="0">
                <a:solidFill>
                  <a:schemeClr val="folHlink"/>
                </a:solidFill>
                <a:latin typeface="Courier New" pitchFamily="49" charset="0"/>
              </a:rPr>
              <a:t>) {</a:t>
            </a:r>
          </a:p>
          <a:p>
            <a:pPr marL="342900" indent="-342900"/>
            <a:r>
              <a:rPr lang="en-US" dirty="0">
                <a:solidFill>
                  <a:schemeClr val="folHlink"/>
                </a:solidFill>
                <a:latin typeface="Courier New" pitchFamily="49" charset="0"/>
              </a:rPr>
              <a:t>  </a:t>
            </a:r>
            <a:r>
              <a:rPr lang="en-US" dirty="0" err="1">
                <a:solidFill>
                  <a:schemeClr val="folHlink"/>
                </a:solidFill>
                <a:latin typeface="Courier New" pitchFamily="49" charset="0"/>
              </a:rPr>
              <a:t>i</a:t>
            </a:r>
            <a:r>
              <a:rPr lang="en-US" dirty="0">
                <a:solidFill>
                  <a:schemeClr val="folHlink"/>
                </a:solidFill>
                <a:latin typeface="Courier New" pitchFamily="49" charset="0"/>
              </a:rPr>
              <a:t> = </a:t>
            </a:r>
            <a:r>
              <a:rPr lang="en-US" dirty="0" err="1">
                <a:solidFill>
                  <a:schemeClr val="folHlink"/>
                </a:solidFill>
                <a:latin typeface="Courier New" pitchFamily="49" charset="0"/>
              </a:rPr>
              <a:t>r.getAndIncrement</a:t>
            </a:r>
            <a:r>
              <a:rPr lang="en-US" dirty="0">
                <a:solidFill>
                  <a:schemeClr val="folHlink"/>
                </a:solidFill>
                <a:latin typeface="Courier New" pitchFamily="49" charset="0"/>
              </a:rPr>
              <a:t>();</a:t>
            </a:r>
          </a:p>
          <a:p>
            <a:pPr marL="342900" indent="-342900"/>
            <a:r>
              <a:rPr lang="en-US" dirty="0">
                <a:latin typeface="Courier New" pitchFamily="49" charset="0"/>
              </a:rPr>
              <a:t>  </a:t>
            </a:r>
            <a:r>
              <a:rPr lang="en-US" dirty="0" err="1">
                <a:latin typeface="Courier New" pitchFamily="49" charset="0"/>
              </a:rPr>
              <a:t>Thread.sleep</a:t>
            </a:r>
            <a:r>
              <a:rPr lang="en-US" dirty="0">
                <a:latin typeface="Courier New" pitchFamily="49" charset="0"/>
              </a:rPr>
              <a:t>(random() % work);</a:t>
            </a:r>
          </a:p>
          <a:p>
            <a:pPr marL="342900" indent="-342900"/>
            <a:r>
              <a:rPr lang="en-US" dirty="0">
                <a:latin typeface="Courier New" pitchFamily="49" charset="0"/>
              </a:rPr>
              <a:t> </a:t>
            </a:r>
            <a:r>
              <a:rPr lang="en-US" dirty="0">
                <a:solidFill>
                  <a:schemeClr val="folHlink"/>
                </a:solidFill>
                <a:latin typeface="Courier New" pitchFamily="49" charset="0"/>
              </a:rPr>
              <a:t>}}</a:t>
            </a:r>
          </a:p>
        </p:txBody>
      </p:sp>
      <p:sp>
        <p:nvSpPr>
          <p:cNvPr id="110598" name="AutoShape 4"/>
          <p:cNvSpPr>
            <a:spLocks noChangeArrowheads="1"/>
          </p:cNvSpPr>
          <p:nvPr/>
        </p:nvSpPr>
        <p:spPr bwMode="auto">
          <a:xfrm>
            <a:off x="1323975" y="3332163"/>
            <a:ext cx="5802313" cy="468312"/>
          </a:xfrm>
          <a:prstGeom prst="wedgeRoundRectCallout">
            <a:avLst>
              <a:gd name="adj1" fmla="val 10519"/>
              <a:gd name="adj2" fmla="val 246611"/>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110599" name="Text Box 5"/>
          <p:cNvSpPr txBox="1">
            <a:spLocks noChangeArrowheads="1"/>
          </p:cNvSpPr>
          <p:nvPr/>
        </p:nvSpPr>
        <p:spPr bwMode="auto">
          <a:xfrm>
            <a:off x="2089150" y="4789488"/>
            <a:ext cx="6056313" cy="946150"/>
          </a:xfrm>
          <a:prstGeom prst="rect">
            <a:avLst/>
          </a:prstGeom>
          <a:solidFill>
            <a:schemeClr val="bg1"/>
          </a:solid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Pretend to work</a:t>
            </a:r>
          </a:p>
          <a:p>
            <a:pPr algn="ctr">
              <a:spcBef>
                <a:spcPct val="0"/>
              </a:spcBef>
            </a:pPr>
            <a:r>
              <a:rPr lang="en-US" sz="2800" dirty="0">
                <a:solidFill>
                  <a:srgbClr val="FF0000"/>
                </a:solidFill>
                <a:latin typeface="Arial" pitchFamily="34" charset="0"/>
                <a:cs typeface="Arial" pitchFamily="34" charset="0"/>
              </a:rPr>
              <a:t>(more work, less concurrency)</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r>
              <a:rPr lang="en-US" dirty="0"/>
              <a:t>Performance</a:t>
            </a:r>
          </a:p>
        </p:txBody>
      </p:sp>
      <p:sp>
        <p:nvSpPr>
          <p:cNvPr id="547843" name="Rectangle 3"/>
          <p:cNvSpPr>
            <a:spLocks noGrp="1" noChangeArrowheads="1"/>
          </p:cNvSpPr>
          <p:nvPr>
            <p:ph type="body" idx="1"/>
          </p:nvPr>
        </p:nvSpPr>
        <p:spPr/>
        <p:txBody>
          <a:bodyPr/>
          <a:lstStyle/>
          <a:p>
            <a:pPr>
              <a:lnSpc>
                <a:spcPct val="90000"/>
              </a:lnSpc>
            </a:pPr>
            <a:r>
              <a:rPr lang="en-US" dirty="0"/>
              <a:t>Here are some graphs</a:t>
            </a:r>
          </a:p>
          <a:p>
            <a:pPr>
              <a:lnSpc>
                <a:spcPct val="90000"/>
              </a:lnSpc>
            </a:pPr>
            <a:r>
              <a:rPr lang="en-US" dirty="0"/>
              <a:t>Throughput</a:t>
            </a:r>
          </a:p>
          <a:p>
            <a:pPr lvl="1">
              <a:lnSpc>
                <a:spcPct val="90000"/>
              </a:lnSpc>
            </a:pPr>
            <a:r>
              <a:rPr lang="en-US" dirty="0"/>
              <a:t>Average increments in 1 million cycles</a:t>
            </a:r>
          </a:p>
          <a:p>
            <a:pPr>
              <a:lnSpc>
                <a:spcPct val="90000"/>
              </a:lnSpc>
            </a:pPr>
            <a:r>
              <a:rPr lang="en-US" dirty="0"/>
              <a:t>Latency</a:t>
            </a:r>
          </a:p>
          <a:p>
            <a:pPr lvl="1">
              <a:lnSpc>
                <a:spcPct val="90000"/>
              </a:lnSpc>
            </a:pPr>
            <a:r>
              <a:rPr lang="en-US" dirty="0"/>
              <a:t>Average cycles per inc</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(Simulated)</a:t>
            </a:r>
          </a:p>
        </p:txBody>
      </p:sp>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EBA8B6F6-0B6C-4BC1-AF6B-A7DC8CBBCB3B}" type="slidenum">
              <a:rPr lang="en-US" smtClean="0"/>
              <a:pPr>
                <a:defRPr/>
              </a:pPr>
              <a:t>111</a:t>
            </a:fld>
            <a:endParaRPr lang="en-US"/>
          </a:p>
        </p:txBody>
      </p:sp>
      <p:sp>
        <p:nvSpPr>
          <p:cNvPr id="8" name="Rectangle 3"/>
          <p:cNvSpPr>
            <a:spLocks noChangeArrowheads="1"/>
          </p:cNvSpPr>
          <p:nvPr/>
        </p:nvSpPr>
        <p:spPr bwMode="auto">
          <a:xfrm>
            <a:off x="4229892" y="-1656557"/>
            <a:ext cx="5372100" cy="1524000"/>
          </a:xfrm>
          <a:prstGeom prst="rect">
            <a:avLst/>
          </a:prstGeom>
          <a:noFill/>
          <a:ln w="12700">
            <a:noFill/>
            <a:miter lim="800000"/>
            <a:headEnd/>
            <a:tailEnd/>
          </a:ln>
          <a:effectLst/>
        </p:spPr>
        <p:txBody>
          <a:bodyPr lIns="57150" tIns="46038" rIns="57150" bIns="46038" anchor="ctr"/>
          <a:lstStyle/>
          <a:p>
            <a:pPr algn="ctr"/>
            <a:r>
              <a:rPr lang="en-US" sz="2800" b="1" dirty="0">
                <a:solidFill>
                  <a:schemeClr val="tx2"/>
                </a:solidFill>
                <a:latin typeface="Courier New" pitchFamily="49" charset="0"/>
              </a:rPr>
              <a:t>Performance</a:t>
            </a:r>
          </a:p>
        </p:txBody>
      </p:sp>
      <p:grpSp>
        <p:nvGrpSpPr>
          <p:cNvPr id="148" name="Group 147"/>
          <p:cNvGrpSpPr/>
          <p:nvPr/>
        </p:nvGrpSpPr>
        <p:grpSpPr>
          <a:xfrm>
            <a:off x="140494" y="1752599"/>
            <a:ext cx="8965982" cy="3850537"/>
            <a:chOff x="140494" y="1752599"/>
            <a:chExt cx="8965982" cy="3850537"/>
          </a:xfrm>
        </p:grpSpPr>
        <p:sp>
          <p:nvSpPr>
            <p:cNvPr id="7" name="Rectangle 2"/>
            <p:cNvSpPr>
              <a:spLocks noChangeArrowheads="1"/>
            </p:cNvSpPr>
            <p:nvPr/>
          </p:nvSpPr>
          <p:spPr bwMode="auto">
            <a:xfrm>
              <a:off x="5418930" y="2655093"/>
              <a:ext cx="3375025" cy="2327275"/>
            </a:xfrm>
            <a:prstGeom prst="rect">
              <a:avLst/>
            </a:prstGeom>
            <a:solidFill>
              <a:srgbClr val="CCFDFF"/>
            </a:solidFill>
            <a:ln w="12700">
              <a:noFill/>
              <a:miter lim="800000"/>
              <a:headEnd/>
              <a:tailEnd/>
            </a:ln>
            <a:effectLst/>
          </p:spPr>
          <p:txBody>
            <a:bodyPr wrap="none" anchor="ctr"/>
            <a:lstStyle/>
            <a:p>
              <a:endParaRPr lang="en-US" dirty="0">
                <a:latin typeface="Courier New" pitchFamily="49" charset="0"/>
              </a:endParaRPr>
            </a:p>
          </p:txBody>
        </p:sp>
        <p:sp>
          <p:nvSpPr>
            <p:cNvPr id="9" name="Rectangle 4"/>
            <p:cNvSpPr>
              <a:spLocks noChangeArrowheads="1"/>
            </p:cNvSpPr>
            <p:nvPr/>
          </p:nvSpPr>
          <p:spPr bwMode="auto">
            <a:xfrm>
              <a:off x="6692105" y="2174080"/>
              <a:ext cx="1285609" cy="366767"/>
            </a:xfrm>
            <a:prstGeom prst="rect">
              <a:avLst/>
            </a:prstGeom>
            <a:noFill/>
            <a:ln w="25400">
              <a:noFill/>
              <a:miter lim="800000"/>
              <a:headEnd/>
              <a:tailEnd/>
            </a:ln>
            <a:effectLst/>
          </p:spPr>
          <p:txBody>
            <a:bodyPr wrap="none" lIns="90488" tIns="44450" rIns="90488" bIns="44450">
              <a:spAutoFit/>
            </a:bodyPr>
            <a:lstStyle/>
            <a:p>
              <a:r>
                <a:rPr lang="en-US" sz="1800" b="1" u="sng" dirty="0">
                  <a:latin typeface="Courier New" pitchFamily="49" charset="0"/>
                </a:rPr>
                <a:t>Latency:</a:t>
              </a:r>
            </a:p>
          </p:txBody>
        </p:sp>
        <p:sp>
          <p:nvSpPr>
            <p:cNvPr id="11" name="Rectangle 6"/>
            <p:cNvSpPr>
              <a:spLocks noChangeArrowheads="1"/>
            </p:cNvSpPr>
            <p:nvPr/>
          </p:nvSpPr>
          <p:spPr bwMode="auto">
            <a:xfrm>
              <a:off x="5439567" y="2656681"/>
              <a:ext cx="3351212" cy="2339975"/>
            </a:xfrm>
            <a:prstGeom prst="rect">
              <a:avLst/>
            </a:prstGeom>
            <a:noFill/>
            <a:ln w="12700">
              <a:solidFill>
                <a:schemeClr val="tx2"/>
              </a:solidFill>
              <a:miter lim="800000"/>
              <a:headEnd/>
              <a:tailEnd/>
            </a:ln>
            <a:effectLst/>
          </p:spPr>
          <p:txBody>
            <a:bodyPr wrap="none" anchor="ctr"/>
            <a:lstStyle/>
            <a:p>
              <a:endParaRPr lang="en-US" dirty="0">
                <a:latin typeface="Courier New" pitchFamily="49" charset="0"/>
              </a:endParaRPr>
            </a:p>
          </p:txBody>
        </p:sp>
        <p:sp>
          <p:nvSpPr>
            <p:cNvPr id="12" name="Rectangle 7"/>
            <p:cNvSpPr>
              <a:spLocks noChangeArrowheads="1"/>
            </p:cNvSpPr>
            <p:nvPr/>
          </p:nvSpPr>
          <p:spPr bwMode="auto">
            <a:xfrm>
              <a:off x="5047455" y="2550318"/>
              <a:ext cx="487314" cy="212879"/>
            </a:xfrm>
            <a:prstGeom prst="rect">
              <a:avLst/>
            </a:prstGeom>
            <a:noFill/>
            <a:ln w="254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90000</a:t>
              </a:r>
            </a:p>
          </p:txBody>
        </p:sp>
        <p:sp>
          <p:nvSpPr>
            <p:cNvPr id="13" name="Rectangle 8"/>
            <p:cNvSpPr>
              <a:spLocks noChangeArrowheads="1"/>
            </p:cNvSpPr>
            <p:nvPr/>
          </p:nvSpPr>
          <p:spPr bwMode="auto">
            <a:xfrm>
              <a:off x="5037930" y="2934493"/>
              <a:ext cx="487314" cy="212879"/>
            </a:xfrm>
            <a:prstGeom prst="rect">
              <a:avLst/>
            </a:prstGeom>
            <a:noFill/>
            <a:ln w="254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80000</a:t>
              </a:r>
            </a:p>
          </p:txBody>
        </p:sp>
        <p:sp>
          <p:nvSpPr>
            <p:cNvPr id="14" name="Rectangle 9"/>
            <p:cNvSpPr>
              <a:spLocks noChangeArrowheads="1"/>
            </p:cNvSpPr>
            <p:nvPr/>
          </p:nvSpPr>
          <p:spPr bwMode="auto">
            <a:xfrm>
              <a:off x="5049042" y="3340893"/>
              <a:ext cx="487314" cy="212879"/>
            </a:xfrm>
            <a:prstGeom prst="rect">
              <a:avLst/>
            </a:prstGeom>
            <a:noFill/>
            <a:ln w="254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60000</a:t>
              </a:r>
            </a:p>
          </p:txBody>
        </p:sp>
        <p:sp>
          <p:nvSpPr>
            <p:cNvPr id="15" name="Rectangle 10"/>
            <p:cNvSpPr>
              <a:spLocks noChangeArrowheads="1"/>
            </p:cNvSpPr>
            <p:nvPr/>
          </p:nvSpPr>
          <p:spPr bwMode="auto">
            <a:xfrm>
              <a:off x="5060155" y="3744118"/>
              <a:ext cx="487314" cy="212879"/>
            </a:xfrm>
            <a:prstGeom prst="rect">
              <a:avLst/>
            </a:prstGeom>
            <a:noFill/>
            <a:ln w="254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50000</a:t>
              </a:r>
            </a:p>
          </p:txBody>
        </p:sp>
        <p:sp>
          <p:nvSpPr>
            <p:cNvPr id="16" name="Rectangle 11"/>
            <p:cNvSpPr>
              <a:spLocks noChangeArrowheads="1"/>
            </p:cNvSpPr>
            <p:nvPr/>
          </p:nvSpPr>
          <p:spPr bwMode="auto">
            <a:xfrm>
              <a:off x="5037930" y="4126706"/>
              <a:ext cx="487314" cy="212879"/>
            </a:xfrm>
            <a:prstGeom prst="rect">
              <a:avLst/>
            </a:prstGeom>
            <a:noFill/>
            <a:ln w="254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30000</a:t>
              </a:r>
            </a:p>
          </p:txBody>
        </p:sp>
        <p:sp>
          <p:nvSpPr>
            <p:cNvPr id="17" name="Rectangle 12"/>
            <p:cNvSpPr>
              <a:spLocks noChangeArrowheads="1"/>
            </p:cNvSpPr>
            <p:nvPr/>
          </p:nvSpPr>
          <p:spPr bwMode="auto">
            <a:xfrm>
              <a:off x="5037930" y="4510881"/>
              <a:ext cx="487314" cy="212879"/>
            </a:xfrm>
            <a:prstGeom prst="rect">
              <a:avLst/>
            </a:prstGeom>
            <a:noFill/>
            <a:ln w="254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20000</a:t>
              </a:r>
            </a:p>
          </p:txBody>
        </p:sp>
        <p:sp>
          <p:nvSpPr>
            <p:cNvPr id="18" name="Rectangle 13"/>
            <p:cNvSpPr>
              <a:spLocks noChangeArrowheads="1"/>
            </p:cNvSpPr>
            <p:nvPr/>
          </p:nvSpPr>
          <p:spPr bwMode="auto">
            <a:xfrm>
              <a:off x="5215730" y="4906168"/>
              <a:ext cx="243657" cy="212879"/>
            </a:xfrm>
            <a:prstGeom prst="rect">
              <a:avLst/>
            </a:prstGeom>
            <a:noFill/>
            <a:ln w="254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0</a:t>
              </a:r>
            </a:p>
          </p:txBody>
        </p:sp>
        <p:sp>
          <p:nvSpPr>
            <p:cNvPr id="19" name="Line 14"/>
            <p:cNvSpPr>
              <a:spLocks noChangeShapeType="1"/>
            </p:cNvSpPr>
            <p:nvPr/>
          </p:nvSpPr>
          <p:spPr bwMode="auto">
            <a:xfrm>
              <a:off x="5433217" y="3018631"/>
              <a:ext cx="42862"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0" name="Line 15"/>
            <p:cNvSpPr>
              <a:spLocks noChangeShapeType="1"/>
            </p:cNvSpPr>
            <p:nvPr/>
          </p:nvSpPr>
          <p:spPr bwMode="auto">
            <a:xfrm>
              <a:off x="5433217" y="3410743"/>
              <a:ext cx="42862"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1" name="Line 16"/>
            <p:cNvSpPr>
              <a:spLocks noChangeShapeType="1"/>
            </p:cNvSpPr>
            <p:nvPr/>
          </p:nvSpPr>
          <p:spPr bwMode="auto">
            <a:xfrm>
              <a:off x="5439567" y="3804443"/>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2" name="Line 17"/>
            <p:cNvSpPr>
              <a:spLocks noChangeShapeType="1"/>
            </p:cNvSpPr>
            <p:nvPr/>
          </p:nvSpPr>
          <p:spPr bwMode="auto">
            <a:xfrm>
              <a:off x="5428455" y="4199731"/>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3" name="Line 18"/>
            <p:cNvSpPr>
              <a:spLocks noChangeShapeType="1"/>
            </p:cNvSpPr>
            <p:nvPr/>
          </p:nvSpPr>
          <p:spPr bwMode="auto">
            <a:xfrm>
              <a:off x="5428455" y="4595018"/>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4" name="Rectangle 19"/>
            <p:cNvSpPr>
              <a:spLocks noChangeArrowheads="1"/>
            </p:cNvSpPr>
            <p:nvPr/>
          </p:nvSpPr>
          <p:spPr bwMode="auto">
            <a:xfrm>
              <a:off x="5290342" y="5012531"/>
              <a:ext cx="251673" cy="228268"/>
            </a:xfrm>
            <a:prstGeom prst="rect">
              <a:avLst/>
            </a:prstGeom>
            <a:noFill/>
            <a:ln w="254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0</a:t>
              </a:r>
            </a:p>
          </p:txBody>
        </p:sp>
        <p:sp>
          <p:nvSpPr>
            <p:cNvPr id="25" name="Line 20"/>
            <p:cNvSpPr>
              <a:spLocks noChangeShapeType="1"/>
            </p:cNvSpPr>
            <p:nvPr/>
          </p:nvSpPr>
          <p:spPr bwMode="auto">
            <a:xfrm>
              <a:off x="5979317" y="4961731"/>
              <a:ext cx="0" cy="41275"/>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6" name="Line 21"/>
            <p:cNvSpPr>
              <a:spLocks noChangeShapeType="1"/>
            </p:cNvSpPr>
            <p:nvPr/>
          </p:nvSpPr>
          <p:spPr bwMode="auto">
            <a:xfrm>
              <a:off x="6541292" y="4955381"/>
              <a:ext cx="0" cy="41275"/>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7" name="Line 22"/>
            <p:cNvSpPr>
              <a:spLocks noChangeShapeType="1"/>
            </p:cNvSpPr>
            <p:nvPr/>
          </p:nvSpPr>
          <p:spPr bwMode="auto">
            <a:xfrm>
              <a:off x="7104855" y="4950618"/>
              <a:ext cx="0" cy="41275"/>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8" name="Line 23"/>
            <p:cNvSpPr>
              <a:spLocks noChangeShapeType="1"/>
            </p:cNvSpPr>
            <p:nvPr/>
          </p:nvSpPr>
          <p:spPr bwMode="auto">
            <a:xfrm>
              <a:off x="7658892" y="4955381"/>
              <a:ext cx="0" cy="41275"/>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29" name="Line 24"/>
            <p:cNvSpPr>
              <a:spLocks noChangeShapeType="1"/>
            </p:cNvSpPr>
            <p:nvPr/>
          </p:nvSpPr>
          <p:spPr bwMode="auto">
            <a:xfrm>
              <a:off x="8220867" y="4955381"/>
              <a:ext cx="0" cy="41275"/>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30" name="Rectangle 25"/>
            <p:cNvSpPr>
              <a:spLocks noChangeArrowheads="1"/>
            </p:cNvSpPr>
            <p:nvPr/>
          </p:nvSpPr>
          <p:spPr bwMode="auto">
            <a:xfrm>
              <a:off x="5836442" y="5036343"/>
              <a:ext cx="320602" cy="228268"/>
            </a:xfrm>
            <a:prstGeom prst="rect">
              <a:avLst/>
            </a:prstGeom>
            <a:noFill/>
            <a:ln w="254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50</a:t>
              </a:r>
            </a:p>
          </p:txBody>
        </p:sp>
        <p:sp>
          <p:nvSpPr>
            <p:cNvPr id="31" name="Rectangle 26"/>
            <p:cNvSpPr>
              <a:spLocks noChangeArrowheads="1"/>
            </p:cNvSpPr>
            <p:nvPr/>
          </p:nvSpPr>
          <p:spPr bwMode="auto">
            <a:xfrm>
              <a:off x="6363492" y="5036343"/>
              <a:ext cx="389531" cy="228268"/>
            </a:xfrm>
            <a:prstGeom prst="rect">
              <a:avLst/>
            </a:prstGeom>
            <a:noFill/>
            <a:ln w="254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100</a:t>
              </a:r>
            </a:p>
          </p:txBody>
        </p:sp>
        <p:sp>
          <p:nvSpPr>
            <p:cNvPr id="32" name="Rectangle 27"/>
            <p:cNvSpPr>
              <a:spLocks noChangeArrowheads="1"/>
            </p:cNvSpPr>
            <p:nvPr/>
          </p:nvSpPr>
          <p:spPr bwMode="auto">
            <a:xfrm>
              <a:off x="6898480" y="5036343"/>
              <a:ext cx="389531" cy="228268"/>
            </a:xfrm>
            <a:prstGeom prst="rect">
              <a:avLst/>
            </a:prstGeom>
            <a:noFill/>
            <a:ln w="254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150</a:t>
              </a:r>
            </a:p>
          </p:txBody>
        </p:sp>
        <p:sp>
          <p:nvSpPr>
            <p:cNvPr id="33" name="Rectangle 28"/>
            <p:cNvSpPr>
              <a:spLocks noChangeArrowheads="1"/>
            </p:cNvSpPr>
            <p:nvPr/>
          </p:nvSpPr>
          <p:spPr bwMode="auto">
            <a:xfrm>
              <a:off x="7476330" y="5025231"/>
              <a:ext cx="389531" cy="228268"/>
            </a:xfrm>
            <a:prstGeom prst="rect">
              <a:avLst/>
            </a:prstGeom>
            <a:noFill/>
            <a:ln w="254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200</a:t>
              </a:r>
            </a:p>
          </p:txBody>
        </p:sp>
        <p:sp>
          <p:nvSpPr>
            <p:cNvPr id="34" name="Rectangle 29"/>
            <p:cNvSpPr>
              <a:spLocks noChangeArrowheads="1"/>
            </p:cNvSpPr>
            <p:nvPr/>
          </p:nvSpPr>
          <p:spPr bwMode="auto">
            <a:xfrm>
              <a:off x="8054180" y="5025231"/>
              <a:ext cx="389531" cy="228268"/>
            </a:xfrm>
            <a:prstGeom prst="rect">
              <a:avLst/>
            </a:prstGeom>
            <a:noFill/>
            <a:ln w="254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250</a:t>
              </a:r>
            </a:p>
          </p:txBody>
        </p:sp>
        <p:sp>
          <p:nvSpPr>
            <p:cNvPr id="35" name="Rectangle 30"/>
            <p:cNvSpPr>
              <a:spLocks noChangeArrowheads="1"/>
            </p:cNvSpPr>
            <p:nvPr/>
          </p:nvSpPr>
          <p:spPr bwMode="auto">
            <a:xfrm>
              <a:off x="8601867" y="5012531"/>
              <a:ext cx="389531" cy="228268"/>
            </a:xfrm>
            <a:prstGeom prst="rect">
              <a:avLst/>
            </a:prstGeom>
            <a:noFill/>
            <a:ln w="254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300</a:t>
              </a:r>
            </a:p>
          </p:txBody>
        </p:sp>
        <p:sp>
          <p:nvSpPr>
            <p:cNvPr id="36" name="Freeform 31"/>
            <p:cNvSpPr>
              <a:spLocks/>
            </p:cNvSpPr>
            <p:nvPr/>
          </p:nvSpPr>
          <p:spPr bwMode="auto">
            <a:xfrm>
              <a:off x="5579267" y="3196431"/>
              <a:ext cx="2725737" cy="1665288"/>
            </a:xfrm>
            <a:custGeom>
              <a:avLst/>
              <a:gdLst/>
              <a:ahLst/>
              <a:cxnLst>
                <a:cxn ang="0">
                  <a:pos x="0" y="1048"/>
                </a:cxn>
                <a:cxn ang="0">
                  <a:pos x="119" y="954"/>
                </a:cxn>
                <a:cxn ang="0">
                  <a:pos x="232" y="893"/>
                </a:cxn>
                <a:cxn ang="0">
                  <a:pos x="345" y="853"/>
                </a:cxn>
                <a:cxn ang="0">
                  <a:pos x="464" y="726"/>
                </a:cxn>
                <a:cxn ang="0">
                  <a:pos x="576" y="638"/>
                </a:cxn>
                <a:cxn ang="0">
                  <a:pos x="689" y="631"/>
                </a:cxn>
                <a:cxn ang="0">
                  <a:pos x="808" y="302"/>
                </a:cxn>
                <a:cxn ang="0">
                  <a:pos x="1716" y="0"/>
                </a:cxn>
              </a:cxnLst>
              <a:rect l="0" t="0" r="r" b="b"/>
              <a:pathLst>
                <a:path w="1717" h="1049">
                  <a:moveTo>
                    <a:pt x="0" y="1048"/>
                  </a:moveTo>
                  <a:lnTo>
                    <a:pt x="119" y="954"/>
                  </a:lnTo>
                  <a:lnTo>
                    <a:pt x="232" y="893"/>
                  </a:lnTo>
                  <a:lnTo>
                    <a:pt x="345" y="853"/>
                  </a:lnTo>
                  <a:lnTo>
                    <a:pt x="464" y="726"/>
                  </a:lnTo>
                  <a:lnTo>
                    <a:pt x="576" y="638"/>
                  </a:lnTo>
                  <a:lnTo>
                    <a:pt x="689" y="631"/>
                  </a:lnTo>
                  <a:lnTo>
                    <a:pt x="808" y="302"/>
                  </a:lnTo>
                  <a:lnTo>
                    <a:pt x="1716" y="0"/>
                  </a:lnTo>
                </a:path>
              </a:pathLst>
            </a:custGeom>
            <a:noFill/>
            <a:ln w="12700" cap="rnd" cmpd="sng">
              <a:solidFill>
                <a:schemeClr val="tx2"/>
              </a:solidFill>
              <a:prstDash val="solid"/>
              <a:round/>
              <a:headEnd type="none" w="med" len="med"/>
              <a:tailEnd type="none" w="med" len="med"/>
            </a:ln>
            <a:effectLst/>
          </p:spPr>
          <p:txBody>
            <a:bodyPr/>
            <a:lstStyle/>
            <a:p>
              <a:endParaRPr lang="en-US" dirty="0">
                <a:latin typeface="Courier New" pitchFamily="49" charset="0"/>
              </a:endParaRPr>
            </a:p>
          </p:txBody>
        </p:sp>
        <p:sp>
          <p:nvSpPr>
            <p:cNvPr id="37" name="Oval 32"/>
            <p:cNvSpPr>
              <a:spLocks noChangeArrowheads="1"/>
            </p:cNvSpPr>
            <p:nvPr/>
          </p:nvSpPr>
          <p:spPr bwMode="auto">
            <a:xfrm>
              <a:off x="5750717" y="4685506"/>
              <a:ext cx="39687"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38" name="Oval 33"/>
            <p:cNvSpPr>
              <a:spLocks noChangeArrowheads="1"/>
            </p:cNvSpPr>
            <p:nvPr/>
          </p:nvSpPr>
          <p:spPr bwMode="auto">
            <a:xfrm>
              <a:off x="5933280" y="4596606"/>
              <a:ext cx="39687" cy="38100"/>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39" name="Oval 34"/>
            <p:cNvSpPr>
              <a:spLocks noChangeArrowheads="1"/>
            </p:cNvSpPr>
            <p:nvPr/>
          </p:nvSpPr>
          <p:spPr bwMode="auto">
            <a:xfrm>
              <a:off x="6112667" y="4515643"/>
              <a:ext cx="39687" cy="39688"/>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40" name="Oval 35"/>
            <p:cNvSpPr>
              <a:spLocks noChangeArrowheads="1"/>
            </p:cNvSpPr>
            <p:nvPr/>
          </p:nvSpPr>
          <p:spPr bwMode="auto">
            <a:xfrm>
              <a:off x="6290467" y="4321968"/>
              <a:ext cx="41275"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41" name="Oval 36"/>
            <p:cNvSpPr>
              <a:spLocks noChangeArrowheads="1"/>
            </p:cNvSpPr>
            <p:nvPr/>
          </p:nvSpPr>
          <p:spPr bwMode="auto">
            <a:xfrm>
              <a:off x="6476205" y="4183856"/>
              <a:ext cx="38100"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42" name="Oval 37"/>
            <p:cNvSpPr>
              <a:spLocks noChangeArrowheads="1"/>
            </p:cNvSpPr>
            <p:nvPr/>
          </p:nvSpPr>
          <p:spPr bwMode="auto">
            <a:xfrm>
              <a:off x="6654005" y="4172743"/>
              <a:ext cx="39687"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43" name="Oval 38"/>
            <p:cNvSpPr>
              <a:spLocks noChangeArrowheads="1"/>
            </p:cNvSpPr>
            <p:nvPr/>
          </p:nvSpPr>
          <p:spPr bwMode="auto">
            <a:xfrm>
              <a:off x="6842917" y="3661568"/>
              <a:ext cx="39687"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44" name="Oval 39"/>
            <p:cNvSpPr>
              <a:spLocks noChangeArrowheads="1"/>
            </p:cNvSpPr>
            <p:nvPr/>
          </p:nvSpPr>
          <p:spPr bwMode="auto">
            <a:xfrm>
              <a:off x="8278017" y="3178968"/>
              <a:ext cx="39687" cy="39688"/>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46" name="Oval 41"/>
            <p:cNvSpPr>
              <a:spLocks noChangeArrowheads="1"/>
            </p:cNvSpPr>
            <p:nvPr/>
          </p:nvSpPr>
          <p:spPr bwMode="auto">
            <a:xfrm>
              <a:off x="5564980" y="4482306"/>
              <a:ext cx="39687"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55" name="Freeform 50"/>
            <p:cNvSpPr>
              <a:spLocks/>
            </p:cNvSpPr>
            <p:nvPr/>
          </p:nvSpPr>
          <p:spPr bwMode="auto">
            <a:xfrm>
              <a:off x="5579267" y="3453606"/>
              <a:ext cx="2714625" cy="1079500"/>
            </a:xfrm>
            <a:custGeom>
              <a:avLst/>
              <a:gdLst/>
              <a:ahLst/>
              <a:cxnLst>
                <a:cxn ang="0">
                  <a:pos x="0" y="679"/>
                </a:cxn>
                <a:cxn ang="0">
                  <a:pos x="119" y="558"/>
                </a:cxn>
                <a:cxn ang="0">
                  <a:pos x="238" y="316"/>
                </a:cxn>
                <a:cxn ang="0">
                  <a:pos x="351" y="329"/>
                </a:cxn>
                <a:cxn ang="0">
                  <a:pos x="464" y="235"/>
                </a:cxn>
                <a:cxn ang="0">
                  <a:pos x="570" y="215"/>
                </a:cxn>
                <a:cxn ang="0">
                  <a:pos x="689" y="128"/>
                </a:cxn>
                <a:cxn ang="0">
                  <a:pos x="802" y="175"/>
                </a:cxn>
                <a:cxn ang="0">
                  <a:pos x="1709" y="0"/>
                </a:cxn>
              </a:cxnLst>
              <a:rect l="0" t="0" r="r" b="b"/>
              <a:pathLst>
                <a:path w="1710" h="680">
                  <a:moveTo>
                    <a:pt x="0" y="679"/>
                  </a:moveTo>
                  <a:lnTo>
                    <a:pt x="119" y="558"/>
                  </a:lnTo>
                  <a:lnTo>
                    <a:pt x="238" y="316"/>
                  </a:lnTo>
                  <a:lnTo>
                    <a:pt x="351" y="329"/>
                  </a:lnTo>
                  <a:lnTo>
                    <a:pt x="464" y="235"/>
                  </a:lnTo>
                  <a:lnTo>
                    <a:pt x="570" y="215"/>
                  </a:lnTo>
                  <a:lnTo>
                    <a:pt x="689" y="128"/>
                  </a:lnTo>
                  <a:lnTo>
                    <a:pt x="802" y="175"/>
                  </a:lnTo>
                  <a:lnTo>
                    <a:pt x="1709" y="0"/>
                  </a:lnTo>
                </a:path>
              </a:pathLst>
            </a:custGeom>
            <a:noFill/>
            <a:ln w="12700" cap="rnd" cmpd="sng">
              <a:solidFill>
                <a:schemeClr val="tx2"/>
              </a:solidFill>
              <a:prstDash val="solid"/>
              <a:round/>
              <a:headEnd type="none" w="med" len="med"/>
              <a:tailEnd type="none" w="med" len="med"/>
            </a:ln>
            <a:effectLst/>
          </p:spPr>
          <p:txBody>
            <a:bodyPr/>
            <a:lstStyle/>
            <a:p>
              <a:endParaRPr lang="en-US" dirty="0">
                <a:latin typeface="Courier New" pitchFamily="49" charset="0"/>
              </a:endParaRPr>
            </a:p>
          </p:txBody>
        </p:sp>
        <p:sp>
          <p:nvSpPr>
            <p:cNvPr id="56" name="Oval 51"/>
            <p:cNvSpPr>
              <a:spLocks noChangeArrowheads="1"/>
            </p:cNvSpPr>
            <p:nvPr/>
          </p:nvSpPr>
          <p:spPr bwMode="auto">
            <a:xfrm>
              <a:off x="5938042" y="3934618"/>
              <a:ext cx="41275"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57" name="Oval 52"/>
            <p:cNvSpPr>
              <a:spLocks noChangeArrowheads="1"/>
            </p:cNvSpPr>
            <p:nvPr/>
          </p:nvSpPr>
          <p:spPr bwMode="auto">
            <a:xfrm>
              <a:off x="6117430" y="3960018"/>
              <a:ext cx="41275"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58" name="Oval 53"/>
            <p:cNvSpPr>
              <a:spLocks noChangeArrowheads="1"/>
            </p:cNvSpPr>
            <p:nvPr/>
          </p:nvSpPr>
          <p:spPr bwMode="auto">
            <a:xfrm>
              <a:off x="6296817" y="3794918"/>
              <a:ext cx="39687"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59" name="Oval 54"/>
            <p:cNvSpPr>
              <a:spLocks noChangeArrowheads="1"/>
            </p:cNvSpPr>
            <p:nvPr/>
          </p:nvSpPr>
          <p:spPr bwMode="auto">
            <a:xfrm>
              <a:off x="6485730" y="3769518"/>
              <a:ext cx="39687" cy="39688"/>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60" name="Oval 55"/>
            <p:cNvSpPr>
              <a:spLocks noChangeArrowheads="1"/>
            </p:cNvSpPr>
            <p:nvPr/>
          </p:nvSpPr>
          <p:spPr bwMode="auto">
            <a:xfrm>
              <a:off x="6658767" y="3637756"/>
              <a:ext cx="39687" cy="39688"/>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61" name="Oval 56"/>
            <p:cNvSpPr>
              <a:spLocks noChangeArrowheads="1"/>
            </p:cNvSpPr>
            <p:nvPr/>
          </p:nvSpPr>
          <p:spPr bwMode="auto">
            <a:xfrm>
              <a:off x="6842917" y="3710781"/>
              <a:ext cx="39687" cy="39688"/>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62" name="Oval 57"/>
            <p:cNvSpPr>
              <a:spLocks noChangeArrowheads="1"/>
            </p:cNvSpPr>
            <p:nvPr/>
          </p:nvSpPr>
          <p:spPr bwMode="auto">
            <a:xfrm>
              <a:off x="8278017" y="3426618"/>
              <a:ext cx="39687"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63" name="Line 58"/>
            <p:cNvSpPr>
              <a:spLocks noChangeShapeType="1"/>
            </p:cNvSpPr>
            <p:nvPr/>
          </p:nvSpPr>
          <p:spPr bwMode="auto">
            <a:xfrm>
              <a:off x="8755855" y="3042443"/>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64" name="Line 59"/>
            <p:cNvSpPr>
              <a:spLocks noChangeShapeType="1"/>
            </p:cNvSpPr>
            <p:nvPr/>
          </p:nvSpPr>
          <p:spPr bwMode="auto">
            <a:xfrm>
              <a:off x="8755855" y="3437731"/>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65" name="Line 60"/>
            <p:cNvSpPr>
              <a:spLocks noChangeShapeType="1"/>
            </p:cNvSpPr>
            <p:nvPr/>
          </p:nvSpPr>
          <p:spPr bwMode="auto">
            <a:xfrm>
              <a:off x="8760617" y="3831431"/>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66" name="Line 61"/>
            <p:cNvSpPr>
              <a:spLocks noChangeShapeType="1"/>
            </p:cNvSpPr>
            <p:nvPr/>
          </p:nvSpPr>
          <p:spPr bwMode="auto">
            <a:xfrm>
              <a:off x="8751092" y="4226718"/>
              <a:ext cx="39687"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67" name="Line 62"/>
            <p:cNvSpPr>
              <a:spLocks noChangeShapeType="1"/>
            </p:cNvSpPr>
            <p:nvPr/>
          </p:nvSpPr>
          <p:spPr bwMode="auto">
            <a:xfrm>
              <a:off x="8751092" y="4618831"/>
              <a:ext cx="39687"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69" name="Rectangle 64"/>
            <p:cNvSpPr>
              <a:spLocks noChangeArrowheads="1"/>
            </p:cNvSpPr>
            <p:nvPr/>
          </p:nvSpPr>
          <p:spPr bwMode="auto">
            <a:xfrm>
              <a:off x="8297067" y="3088481"/>
              <a:ext cx="644408" cy="243656"/>
            </a:xfrm>
            <a:prstGeom prst="rect">
              <a:avLst/>
            </a:prstGeom>
            <a:noFill/>
            <a:ln w="25400">
              <a:noFill/>
              <a:miter lim="800000"/>
              <a:headEnd/>
              <a:tailEnd/>
            </a:ln>
            <a:effectLst/>
          </p:spPr>
          <p:txBody>
            <a:bodyPr wrap="none" lIns="90488" tIns="44450" rIns="90488" bIns="44450">
              <a:spAutoFit/>
            </a:bodyPr>
            <a:lstStyle/>
            <a:p>
              <a:pPr defTabSz="762000"/>
              <a:r>
                <a:rPr lang="en-US" sz="1000" dirty="0" err="1">
                  <a:solidFill>
                    <a:schemeClr val="tx2"/>
                  </a:solidFill>
                  <a:latin typeface="Courier New" pitchFamily="49" charset="0"/>
                </a:rPr>
                <a:t>Splock</a:t>
              </a:r>
              <a:endParaRPr lang="en-US" sz="1000" dirty="0">
                <a:solidFill>
                  <a:schemeClr val="tx2"/>
                </a:solidFill>
                <a:latin typeface="Courier New" pitchFamily="49" charset="0"/>
              </a:endParaRPr>
            </a:p>
          </p:txBody>
        </p:sp>
        <p:sp>
          <p:nvSpPr>
            <p:cNvPr id="70" name="Rectangle 65"/>
            <p:cNvSpPr>
              <a:spLocks noChangeArrowheads="1"/>
            </p:cNvSpPr>
            <p:nvPr/>
          </p:nvSpPr>
          <p:spPr bwMode="auto">
            <a:xfrm>
              <a:off x="8308180" y="3366293"/>
              <a:ext cx="798296" cy="243656"/>
            </a:xfrm>
            <a:prstGeom prst="rect">
              <a:avLst/>
            </a:prstGeom>
            <a:noFill/>
            <a:ln w="25400">
              <a:noFill/>
              <a:miter lim="800000"/>
              <a:headEnd/>
              <a:tailEnd/>
            </a:ln>
            <a:effectLst/>
          </p:spPr>
          <p:txBody>
            <a:bodyPr wrap="none" lIns="90488" tIns="44450" rIns="90488" bIns="44450">
              <a:spAutoFit/>
            </a:bodyPr>
            <a:lstStyle/>
            <a:p>
              <a:pPr defTabSz="762000"/>
              <a:r>
                <a:rPr lang="en-US" sz="1000" dirty="0" err="1">
                  <a:solidFill>
                    <a:schemeClr val="tx2"/>
                  </a:solidFill>
                  <a:latin typeface="Courier New" pitchFamily="49" charset="0"/>
                </a:rPr>
                <a:t>Ctree</a:t>
              </a:r>
              <a:r>
                <a:rPr lang="en-US" sz="1000" dirty="0">
                  <a:solidFill>
                    <a:schemeClr val="tx2"/>
                  </a:solidFill>
                  <a:latin typeface="Courier New" pitchFamily="49" charset="0"/>
                </a:rPr>
                <a:t>[n]</a:t>
              </a:r>
            </a:p>
          </p:txBody>
        </p:sp>
        <p:sp>
          <p:nvSpPr>
            <p:cNvPr id="71" name="Oval 66"/>
            <p:cNvSpPr>
              <a:spLocks noChangeArrowheads="1"/>
            </p:cNvSpPr>
            <p:nvPr/>
          </p:nvSpPr>
          <p:spPr bwMode="auto">
            <a:xfrm>
              <a:off x="5744367" y="4314031"/>
              <a:ext cx="39687" cy="39688"/>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72" name="Oval 67"/>
            <p:cNvSpPr>
              <a:spLocks noChangeArrowheads="1"/>
            </p:cNvSpPr>
            <p:nvPr/>
          </p:nvSpPr>
          <p:spPr bwMode="auto">
            <a:xfrm>
              <a:off x="5564980" y="4482306"/>
              <a:ext cx="39687" cy="42863"/>
            </a:xfrm>
            <a:prstGeom prst="ellipse">
              <a:avLst/>
            </a:prstGeom>
            <a:solidFill>
              <a:schemeClr val="tx2"/>
            </a:solidFill>
            <a:ln w="12700">
              <a:solidFill>
                <a:schemeClr val="bg2"/>
              </a:solidFill>
              <a:round/>
              <a:headEnd/>
              <a:tailEnd/>
            </a:ln>
            <a:effectLst/>
          </p:spPr>
          <p:txBody>
            <a:bodyPr wrap="none" anchor="ctr"/>
            <a:lstStyle/>
            <a:p>
              <a:endParaRPr lang="en-US" dirty="0">
                <a:latin typeface="Courier New" pitchFamily="49" charset="0"/>
              </a:endParaRPr>
            </a:p>
          </p:txBody>
        </p:sp>
        <p:sp>
          <p:nvSpPr>
            <p:cNvPr id="73" name="Oval 68"/>
            <p:cNvSpPr>
              <a:spLocks noChangeArrowheads="1"/>
            </p:cNvSpPr>
            <p:nvPr/>
          </p:nvSpPr>
          <p:spPr bwMode="auto">
            <a:xfrm>
              <a:off x="5576092" y="4829968"/>
              <a:ext cx="39687"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74" name="Rectangle 69"/>
            <p:cNvSpPr>
              <a:spLocks noChangeArrowheads="1"/>
            </p:cNvSpPr>
            <p:nvPr/>
          </p:nvSpPr>
          <p:spPr bwMode="auto">
            <a:xfrm>
              <a:off x="1919287" y="5236369"/>
              <a:ext cx="1699184" cy="366767"/>
            </a:xfrm>
            <a:prstGeom prst="rect">
              <a:avLst/>
            </a:prstGeom>
            <a:noFill/>
            <a:ln w="25400">
              <a:noFill/>
              <a:miter lim="800000"/>
              <a:headEnd/>
              <a:tailEnd/>
            </a:ln>
            <a:effectLst/>
          </p:spPr>
          <p:txBody>
            <a:bodyPr wrap="none" lIns="90488" tIns="44450" rIns="90488" bIns="44450">
              <a:spAutoFit/>
            </a:bodyPr>
            <a:lstStyle/>
            <a:p>
              <a:r>
                <a:rPr lang="en-US" sz="1800" dirty="0">
                  <a:solidFill>
                    <a:schemeClr val="tx2"/>
                  </a:solidFill>
                  <a:latin typeface="Courier New" pitchFamily="49" charset="0"/>
                </a:rPr>
                <a:t>concurrency</a:t>
              </a:r>
            </a:p>
          </p:txBody>
        </p:sp>
        <p:sp>
          <p:nvSpPr>
            <p:cNvPr id="75" name="Rectangle 70"/>
            <p:cNvSpPr>
              <a:spLocks noChangeArrowheads="1"/>
            </p:cNvSpPr>
            <p:nvPr/>
          </p:nvSpPr>
          <p:spPr bwMode="auto">
            <a:xfrm>
              <a:off x="4831555" y="1752600"/>
              <a:ext cx="1163781" cy="822276"/>
            </a:xfrm>
            <a:prstGeom prst="rect">
              <a:avLst/>
            </a:prstGeom>
            <a:noFill/>
            <a:ln w="25400">
              <a:noFill/>
              <a:miter lim="800000"/>
              <a:headEnd/>
              <a:tailEnd/>
            </a:ln>
            <a:effectLst/>
          </p:spPr>
          <p:txBody>
            <a:bodyPr wrap="none" lIns="90488" tIns="44450" rIns="90488" bIns="44450">
              <a:spAutoFit/>
            </a:bodyPr>
            <a:lstStyle/>
            <a:p>
              <a:r>
                <a:rPr lang="en-US" sz="1400" dirty="0">
                  <a:solidFill>
                    <a:schemeClr val="tx2"/>
                  </a:solidFill>
                  <a:latin typeface="Courier New" pitchFamily="49" charset="0"/>
                </a:rPr>
                <a:t>cycles </a:t>
              </a:r>
            </a:p>
            <a:p>
              <a:r>
                <a:rPr lang="en-US" sz="1400" dirty="0">
                  <a:solidFill>
                    <a:schemeClr val="tx2"/>
                  </a:solidFill>
                  <a:latin typeface="Courier New" pitchFamily="49" charset="0"/>
                </a:rPr>
                <a:t>per </a:t>
              </a:r>
            </a:p>
            <a:p>
              <a:r>
                <a:rPr lang="en-US" sz="1400" dirty="0">
                  <a:solidFill>
                    <a:schemeClr val="tx2"/>
                  </a:solidFill>
                  <a:latin typeface="Courier New" pitchFamily="49" charset="0"/>
                </a:rPr>
                <a:t>operation</a:t>
              </a:r>
            </a:p>
          </p:txBody>
        </p:sp>
        <p:sp>
          <p:nvSpPr>
            <p:cNvPr id="10" name="Rectangle 5"/>
            <p:cNvSpPr>
              <a:spLocks noChangeArrowheads="1"/>
            </p:cNvSpPr>
            <p:nvPr/>
          </p:nvSpPr>
          <p:spPr bwMode="auto">
            <a:xfrm>
              <a:off x="1973262" y="2174080"/>
              <a:ext cx="1699184" cy="366767"/>
            </a:xfrm>
            <a:prstGeom prst="rect">
              <a:avLst/>
            </a:prstGeom>
            <a:noFill/>
            <a:ln w="25400">
              <a:noFill/>
              <a:miter lim="800000"/>
              <a:headEnd/>
              <a:tailEnd/>
            </a:ln>
            <a:effectLst/>
          </p:spPr>
          <p:txBody>
            <a:bodyPr wrap="none" lIns="90488" tIns="44450" rIns="90488" bIns="44450">
              <a:spAutoFit/>
            </a:bodyPr>
            <a:lstStyle/>
            <a:p>
              <a:r>
                <a:rPr lang="en-US" sz="1800" b="1" u="sng" dirty="0">
                  <a:latin typeface="Courier New" pitchFamily="49" charset="0"/>
                </a:rPr>
                <a:t>Throughput:</a:t>
              </a:r>
            </a:p>
          </p:txBody>
        </p:sp>
        <p:sp>
          <p:nvSpPr>
            <p:cNvPr id="76" name="Rectangle 71"/>
            <p:cNvSpPr>
              <a:spLocks noChangeArrowheads="1"/>
            </p:cNvSpPr>
            <p:nvPr/>
          </p:nvSpPr>
          <p:spPr bwMode="auto">
            <a:xfrm>
              <a:off x="1452562" y="5003005"/>
              <a:ext cx="320602" cy="228268"/>
            </a:xfrm>
            <a:prstGeom prst="rect">
              <a:avLst/>
            </a:prstGeom>
            <a:noFill/>
            <a:ln w="127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50</a:t>
              </a:r>
            </a:p>
          </p:txBody>
        </p:sp>
        <p:sp>
          <p:nvSpPr>
            <p:cNvPr id="77" name="Rectangle 72"/>
            <p:cNvSpPr>
              <a:spLocks noChangeArrowheads="1"/>
            </p:cNvSpPr>
            <p:nvPr/>
          </p:nvSpPr>
          <p:spPr bwMode="auto">
            <a:xfrm>
              <a:off x="1973262" y="5003005"/>
              <a:ext cx="389531" cy="228268"/>
            </a:xfrm>
            <a:prstGeom prst="rect">
              <a:avLst/>
            </a:prstGeom>
            <a:noFill/>
            <a:ln w="127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100</a:t>
              </a:r>
            </a:p>
          </p:txBody>
        </p:sp>
        <p:sp>
          <p:nvSpPr>
            <p:cNvPr id="78" name="Rectangle 73"/>
            <p:cNvSpPr>
              <a:spLocks noChangeArrowheads="1"/>
            </p:cNvSpPr>
            <p:nvPr/>
          </p:nvSpPr>
          <p:spPr bwMode="auto">
            <a:xfrm>
              <a:off x="2505075" y="5003005"/>
              <a:ext cx="389531" cy="228268"/>
            </a:xfrm>
            <a:prstGeom prst="rect">
              <a:avLst/>
            </a:prstGeom>
            <a:noFill/>
            <a:ln w="127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150</a:t>
              </a:r>
            </a:p>
          </p:txBody>
        </p:sp>
        <p:sp>
          <p:nvSpPr>
            <p:cNvPr id="79" name="Rectangle 74"/>
            <p:cNvSpPr>
              <a:spLocks noChangeArrowheads="1"/>
            </p:cNvSpPr>
            <p:nvPr/>
          </p:nvSpPr>
          <p:spPr bwMode="auto">
            <a:xfrm>
              <a:off x="3078162" y="4993480"/>
              <a:ext cx="389531" cy="228268"/>
            </a:xfrm>
            <a:prstGeom prst="rect">
              <a:avLst/>
            </a:prstGeom>
            <a:noFill/>
            <a:ln w="127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200</a:t>
              </a:r>
            </a:p>
          </p:txBody>
        </p:sp>
        <p:sp>
          <p:nvSpPr>
            <p:cNvPr id="80" name="Rectangle 75"/>
            <p:cNvSpPr>
              <a:spLocks noChangeArrowheads="1"/>
            </p:cNvSpPr>
            <p:nvPr/>
          </p:nvSpPr>
          <p:spPr bwMode="auto">
            <a:xfrm>
              <a:off x="3651250" y="4993480"/>
              <a:ext cx="389531" cy="228268"/>
            </a:xfrm>
            <a:prstGeom prst="rect">
              <a:avLst/>
            </a:prstGeom>
            <a:noFill/>
            <a:ln w="127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250</a:t>
              </a:r>
            </a:p>
          </p:txBody>
        </p:sp>
        <p:sp>
          <p:nvSpPr>
            <p:cNvPr id="81" name="Rectangle 76"/>
            <p:cNvSpPr>
              <a:spLocks noChangeArrowheads="1"/>
            </p:cNvSpPr>
            <p:nvPr/>
          </p:nvSpPr>
          <p:spPr bwMode="auto">
            <a:xfrm>
              <a:off x="4246562" y="4995067"/>
              <a:ext cx="389531" cy="228268"/>
            </a:xfrm>
            <a:prstGeom prst="rect">
              <a:avLst/>
            </a:prstGeom>
            <a:noFill/>
            <a:ln w="127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300</a:t>
              </a:r>
            </a:p>
          </p:txBody>
        </p:sp>
        <p:sp>
          <p:nvSpPr>
            <p:cNvPr id="82" name="Rectangle 77"/>
            <p:cNvSpPr>
              <a:spLocks noChangeArrowheads="1"/>
            </p:cNvSpPr>
            <p:nvPr/>
          </p:nvSpPr>
          <p:spPr bwMode="auto">
            <a:xfrm>
              <a:off x="1060450" y="2620167"/>
              <a:ext cx="3362325" cy="2339975"/>
            </a:xfrm>
            <a:prstGeom prst="rect">
              <a:avLst/>
            </a:prstGeom>
            <a:solidFill>
              <a:srgbClr val="CCFDFF"/>
            </a:solidFill>
            <a:ln w="12700">
              <a:solidFill>
                <a:schemeClr val="tx2"/>
              </a:solidFill>
              <a:miter lim="800000"/>
              <a:headEnd/>
              <a:tailEnd/>
            </a:ln>
            <a:effectLst/>
          </p:spPr>
          <p:txBody>
            <a:bodyPr wrap="none" anchor="ctr"/>
            <a:lstStyle/>
            <a:p>
              <a:endParaRPr lang="en-US" dirty="0">
                <a:latin typeface="Courier New" pitchFamily="49" charset="0"/>
              </a:endParaRPr>
            </a:p>
          </p:txBody>
        </p:sp>
        <p:sp>
          <p:nvSpPr>
            <p:cNvPr id="83" name="Freeform 78"/>
            <p:cNvSpPr>
              <a:spLocks/>
            </p:cNvSpPr>
            <p:nvPr/>
          </p:nvSpPr>
          <p:spPr bwMode="auto">
            <a:xfrm>
              <a:off x="1220787" y="4818855"/>
              <a:ext cx="2679700" cy="66675"/>
            </a:xfrm>
            <a:custGeom>
              <a:avLst/>
              <a:gdLst/>
              <a:ahLst/>
              <a:cxnLst>
                <a:cxn ang="0">
                  <a:pos x="0" y="0"/>
                </a:cxn>
                <a:cxn ang="0">
                  <a:pos x="112" y="0"/>
                </a:cxn>
                <a:cxn ang="0">
                  <a:pos x="230" y="7"/>
                </a:cxn>
                <a:cxn ang="0">
                  <a:pos x="335" y="14"/>
                </a:cxn>
                <a:cxn ang="0">
                  <a:pos x="453" y="14"/>
                </a:cxn>
                <a:cxn ang="0">
                  <a:pos x="558" y="21"/>
                </a:cxn>
                <a:cxn ang="0">
                  <a:pos x="676" y="21"/>
                </a:cxn>
                <a:cxn ang="0">
                  <a:pos x="788" y="21"/>
                </a:cxn>
                <a:cxn ang="0">
                  <a:pos x="1149" y="34"/>
                </a:cxn>
                <a:cxn ang="0">
                  <a:pos x="1687" y="41"/>
                </a:cxn>
              </a:cxnLst>
              <a:rect l="0" t="0" r="r" b="b"/>
              <a:pathLst>
                <a:path w="1688" h="42">
                  <a:moveTo>
                    <a:pt x="0" y="0"/>
                  </a:moveTo>
                  <a:lnTo>
                    <a:pt x="112" y="0"/>
                  </a:lnTo>
                  <a:lnTo>
                    <a:pt x="230" y="7"/>
                  </a:lnTo>
                  <a:lnTo>
                    <a:pt x="335" y="14"/>
                  </a:lnTo>
                  <a:lnTo>
                    <a:pt x="453" y="14"/>
                  </a:lnTo>
                  <a:lnTo>
                    <a:pt x="558" y="21"/>
                  </a:lnTo>
                  <a:lnTo>
                    <a:pt x="676" y="21"/>
                  </a:lnTo>
                  <a:lnTo>
                    <a:pt x="788" y="21"/>
                  </a:lnTo>
                  <a:lnTo>
                    <a:pt x="1149" y="34"/>
                  </a:lnTo>
                  <a:lnTo>
                    <a:pt x="1687" y="41"/>
                  </a:lnTo>
                </a:path>
              </a:pathLst>
            </a:custGeom>
            <a:noFill/>
            <a:ln w="12700" cap="rnd" cmpd="sng">
              <a:solidFill>
                <a:schemeClr val="tx2"/>
              </a:solidFill>
              <a:prstDash val="solid"/>
              <a:round/>
              <a:headEnd type="none" w="med" len="med"/>
              <a:tailEnd type="none" w="med" len="med"/>
            </a:ln>
            <a:effectLst/>
          </p:spPr>
          <p:txBody>
            <a:bodyPr/>
            <a:lstStyle/>
            <a:p>
              <a:endParaRPr lang="en-US" dirty="0">
                <a:latin typeface="Courier New" pitchFamily="49" charset="0"/>
              </a:endParaRPr>
            </a:p>
          </p:txBody>
        </p:sp>
        <p:sp>
          <p:nvSpPr>
            <p:cNvPr id="84" name="Oval 79"/>
            <p:cNvSpPr>
              <a:spLocks noChangeArrowheads="1"/>
            </p:cNvSpPr>
            <p:nvPr/>
          </p:nvSpPr>
          <p:spPr bwMode="auto">
            <a:xfrm>
              <a:off x="1344612" y="4799805"/>
              <a:ext cx="39687"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85" name="Oval 80"/>
            <p:cNvSpPr>
              <a:spLocks noChangeArrowheads="1"/>
            </p:cNvSpPr>
            <p:nvPr/>
          </p:nvSpPr>
          <p:spPr bwMode="auto">
            <a:xfrm>
              <a:off x="1560512" y="4804567"/>
              <a:ext cx="38100"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86" name="Oval 81"/>
            <p:cNvSpPr>
              <a:spLocks noChangeArrowheads="1"/>
            </p:cNvSpPr>
            <p:nvPr/>
          </p:nvSpPr>
          <p:spPr bwMode="auto">
            <a:xfrm>
              <a:off x="1738312" y="4809330"/>
              <a:ext cx="38100"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87" name="Oval 82"/>
            <p:cNvSpPr>
              <a:spLocks noChangeArrowheads="1"/>
            </p:cNvSpPr>
            <p:nvPr/>
          </p:nvSpPr>
          <p:spPr bwMode="auto">
            <a:xfrm>
              <a:off x="1914525" y="4815680"/>
              <a:ext cx="39687"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88" name="Oval 83"/>
            <p:cNvSpPr>
              <a:spLocks noChangeArrowheads="1"/>
            </p:cNvSpPr>
            <p:nvPr/>
          </p:nvSpPr>
          <p:spPr bwMode="auto">
            <a:xfrm>
              <a:off x="2090737" y="4820442"/>
              <a:ext cx="41275"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89" name="Oval 84"/>
            <p:cNvSpPr>
              <a:spLocks noChangeArrowheads="1"/>
            </p:cNvSpPr>
            <p:nvPr/>
          </p:nvSpPr>
          <p:spPr bwMode="auto">
            <a:xfrm>
              <a:off x="2268537" y="4825205"/>
              <a:ext cx="39687"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90" name="Oval 85"/>
            <p:cNvSpPr>
              <a:spLocks noChangeArrowheads="1"/>
            </p:cNvSpPr>
            <p:nvPr/>
          </p:nvSpPr>
          <p:spPr bwMode="auto">
            <a:xfrm>
              <a:off x="2446337" y="4831555"/>
              <a:ext cx="38100"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91" name="Oval 86"/>
            <p:cNvSpPr>
              <a:spLocks noChangeArrowheads="1"/>
            </p:cNvSpPr>
            <p:nvPr/>
          </p:nvSpPr>
          <p:spPr bwMode="auto">
            <a:xfrm>
              <a:off x="3856037" y="4852192"/>
              <a:ext cx="52387" cy="53975"/>
            </a:xfrm>
            <a:prstGeom prst="ellipse">
              <a:avLst/>
            </a:prstGeom>
            <a:solidFill>
              <a:schemeClr val="tx2"/>
            </a:solidFill>
            <a:ln w="12700">
              <a:noFill/>
              <a:round/>
              <a:headEnd/>
              <a:tailEnd/>
            </a:ln>
            <a:effectLst/>
          </p:spPr>
          <p:txBody>
            <a:bodyPr wrap="none" anchor="ctr"/>
            <a:lstStyle/>
            <a:p>
              <a:endParaRPr lang="en-US" dirty="0">
                <a:latin typeface="Courier New" pitchFamily="49" charset="0"/>
              </a:endParaRPr>
            </a:p>
          </p:txBody>
        </p:sp>
        <p:sp>
          <p:nvSpPr>
            <p:cNvPr id="92" name="Freeform 87"/>
            <p:cNvSpPr>
              <a:spLocks/>
            </p:cNvSpPr>
            <p:nvPr/>
          </p:nvSpPr>
          <p:spPr bwMode="auto">
            <a:xfrm>
              <a:off x="1231900" y="4152105"/>
              <a:ext cx="2689225" cy="647700"/>
            </a:xfrm>
            <a:custGeom>
              <a:avLst/>
              <a:gdLst/>
              <a:ahLst/>
              <a:cxnLst>
                <a:cxn ang="0">
                  <a:pos x="0" y="407"/>
                </a:cxn>
                <a:cxn ang="0">
                  <a:pos x="105" y="360"/>
                </a:cxn>
                <a:cxn ang="0">
                  <a:pos x="223" y="360"/>
                </a:cxn>
                <a:cxn ang="0">
                  <a:pos x="335" y="312"/>
                </a:cxn>
                <a:cxn ang="0">
                  <a:pos x="446" y="292"/>
                </a:cxn>
                <a:cxn ang="0">
                  <a:pos x="558" y="258"/>
                </a:cxn>
                <a:cxn ang="0">
                  <a:pos x="669" y="271"/>
                </a:cxn>
                <a:cxn ang="0">
                  <a:pos x="781" y="190"/>
                </a:cxn>
                <a:cxn ang="0">
                  <a:pos x="1693" y="0"/>
                </a:cxn>
              </a:cxnLst>
              <a:rect l="0" t="0" r="r" b="b"/>
              <a:pathLst>
                <a:path w="1694" h="408">
                  <a:moveTo>
                    <a:pt x="0" y="407"/>
                  </a:moveTo>
                  <a:lnTo>
                    <a:pt x="105" y="360"/>
                  </a:lnTo>
                  <a:lnTo>
                    <a:pt x="223" y="360"/>
                  </a:lnTo>
                  <a:lnTo>
                    <a:pt x="335" y="312"/>
                  </a:lnTo>
                  <a:lnTo>
                    <a:pt x="446" y="292"/>
                  </a:lnTo>
                  <a:lnTo>
                    <a:pt x="558" y="258"/>
                  </a:lnTo>
                  <a:lnTo>
                    <a:pt x="669" y="271"/>
                  </a:lnTo>
                  <a:lnTo>
                    <a:pt x="781" y="190"/>
                  </a:lnTo>
                  <a:lnTo>
                    <a:pt x="1693" y="0"/>
                  </a:lnTo>
                </a:path>
              </a:pathLst>
            </a:custGeom>
            <a:noFill/>
            <a:ln w="12700" cap="rnd" cmpd="sng">
              <a:solidFill>
                <a:schemeClr val="tx2"/>
              </a:solidFill>
              <a:prstDash val="solid"/>
              <a:round/>
              <a:headEnd type="none" w="med" len="med"/>
              <a:tailEnd type="none" w="med" len="med"/>
            </a:ln>
            <a:effectLst/>
          </p:spPr>
          <p:txBody>
            <a:bodyPr/>
            <a:lstStyle/>
            <a:p>
              <a:endParaRPr lang="en-US" dirty="0">
                <a:latin typeface="Courier New" pitchFamily="49" charset="0"/>
              </a:endParaRPr>
            </a:p>
          </p:txBody>
        </p:sp>
        <p:sp>
          <p:nvSpPr>
            <p:cNvPr id="93" name="Oval 88"/>
            <p:cNvSpPr>
              <a:spLocks noChangeArrowheads="1"/>
            </p:cNvSpPr>
            <p:nvPr/>
          </p:nvSpPr>
          <p:spPr bwMode="auto">
            <a:xfrm>
              <a:off x="1560512" y="4696617"/>
              <a:ext cx="38100"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94" name="Oval 89"/>
            <p:cNvSpPr>
              <a:spLocks noChangeArrowheads="1"/>
            </p:cNvSpPr>
            <p:nvPr/>
          </p:nvSpPr>
          <p:spPr bwMode="auto">
            <a:xfrm>
              <a:off x="1738312" y="4622005"/>
              <a:ext cx="38100"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95" name="Oval 90"/>
            <p:cNvSpPr>
              <a:spLocks noChangeArrowheads="1"/>
            </p:cNvSpPr>
            <p:nvPr/>
          </p:nvSpPr>
          <p:spPr bwMode="auto">
            <a:xfrm>
              <a:off x="1919287" y="4588667"/>
              <a:ext cx="39687"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96" name="Oval 91"/>
            <p:cNvSpPr>
              <a:spLocks noChangeArrowheads="1"/>
            </p:cNvSpPr>
            <p:nvPr/>
          </p:nvSpPr>
          <p:spPr bwMode="auto">
            <a:xfrm>
              <a:off x="2101850" y="4536280"/>
              <a:ext cx="39687" cy="39688"/>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97" name="Oval 92"/>
            <p:cNvSpPr>
              <a:spLocks noChangeArrowheads="1"/>
            </p:cNvSpPr>
            <p:nvPr/>
          </p:nvSpPr>
          <p:spPr bwMode="auto">
            <a:xfrm>
              <a:off x="2273300" y="4561680"/>
              <a:ext cx="39687" cy="42863"/>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98" name="Oval 93"/>
            <p:cNvSpPr>
              <a:spLocks noChangeArrowheads="1"/>
            </p:cNvSpPr>
            <p:nvPr/>
          </p:nvSpPr>
          <p:spPr bwMode="auto">
            <a:xfrm>
              <a:off x="2451100" y="4421980"/>
              <a:ext cx="39687"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99" name="Oval 94"/>
            <p:cNvSpPr>
              <a:spLocks noChangeArrowheads="1"/>
            </p:cNvSpPr>
            <p:nvPr/>
          </p:nvSpPr>
          <p:spPr bwMode="auto">
            <a:xfrm>
              <a:off x="3871912" y="4125117"/>
              <a:ext cx="50800" cy="53975"/>
            </a:xfrm>
            <a:prstGeom prst="ellipse">
              <a:avLst/>
            </a:prstGeom>
            <a:solidFill>
              <a:schemeClr val="tx2"/>
            </a:solidFill>
            <a:ln w="12700">
              <a:noFill/>
              <a:round/>
              <a:headEnd/>
              <a:tailEnd/>
            </a:ln>
            <a:effectLst/>
          </p:spPr>
          <p:txBody>
            <a:bodyPr wrap="none" anchor="ctr"/>
            <a:lstStyle/>
            <a:p>
              <a:endParaRPr lang="en-US" dirty="0">
                <a:latin typeface="Courier New" pitchFamily="49" charset="0"/>
              </a:endParaRPr>
            </a:p>
          </p:txBody>
        </p:sp>
        <p:sp>
          <p:nvSpPr>
            <p:cNvPr id="107" name="Line 102"/>
            <p:cNvSpPr>
              <a:spLocks noChangeShapeType="1"/>
            </p:cNvSpPr>
            <p:nvPr/>
          </p:nvSpPr>
          <p:spPr bwMode="auto">
            <a:xfrm>
              <a:off x="4379912" y="2875755"/>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08" name="Line 103"/>
            <p:cNvSpPr>
              <a:spLocks noChangeShapeType="1"/>
            </p:cNvSpPr>
            <p:nvPr/>
          </p:nvSpPr>
          <p:spPr bwMode="auto">
            <a:xfrm>
              <a:off x="4379912" y="3139280"/>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09" name="Line 104"/>
            <p:cNvSpPr>
              <a:spLocks noChangeShapeType="1"/>
            </p:cNvSpPr>
            <p:nvPr/>
          </p:nvSpPr>
          <p:spPr bwMode="auto">
            <a:xfrm>
              <a:off x="4379912" y="3404392"/>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10" name="Line 105"/>
            <p:cNvSpPr>
              <a:spLocks noChangeShapeType="1"/>
            </p:cNvSpPr>
            <p:nvPr/>
          </p:nvSpPr>
          <p:spPr bwMode="auto">
            <a:xfrm>
              <a:off x="4379912" y="3667917"/>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11" name="Line 106"/>
            <p:cNvSpPr>
              <a:spLocks noChangeShapeType="1"/>
            </p:cNvSpPr>
            <p:nvPr/>
          </p:nvSpPr>
          <p:spPr bwMode="auto">
            <a:xfrm>
              <a:off x="4379912" y="3929855"/>
              <a:ext cx="41275" cy="0"/>
            </a:xfrm>
            <a:prstGeom prst="line">
              <a:avLst/>
            </a:prstGeom>
            <a:noFill/>
            <a:ln w="12700">
              <a:noFill/>
              <a:round/>
              <a:headEnd/>
              <a:tailEnd/>
            </a:ln>
            <a:effectLst/>
          </p:spPr>
          <p:txBody>
            <a:bodyPr/>
            <a:lstStyle/>
            <a:p>
              <a:endParaRPr lang="en-US" dirty="0">
                <a:latin typeface="Courier New" pitchFamily="49" charset="0"/>
              </a:endParaRPr>
            </a:p>
          </p:txBody>
        </p:sp>
        <p:sp>
          <p:nvSpPr>
            <p:cNvPr id="112" name="Line 107"/>
            <p:cNvSpPr>
              <a:spLocks noChangeShapeType="1"/>
            </p:cNvSpPr>
            <p:nvPr/>
          </p:nvSpPr>
          <p:spPr bwMode="auto">
            <a:xfrm>
              <a:off x="4379912" y="4194967"/>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13" name="Line 108"/>
            <p:cNvSpPr>
              <a:spLocks noChangeShapeType="1"/>
            </p:cNvSpPr>
            <p:nvPr/>
          </p:nvSpPr>
          <p:spPr bwMode="auto">
            <a:xfrm>
              <a:off x="4379912" y="4458492"/>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14" name="Line 109"/>
            <p:cNvSpPr>
              <a:spLocks noChangeShapeType="1"/>
            </p:cNvSpPr>
            <p:nvPr/>
          </p:nvSpPr>
          <p:spPr bwMode="auto">
            <a:xfrm>
              <a:off x="4379912" y="4723605"/>
              <a:ext cx="41275"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15" name="Rectangle 110"/>
            <p:cNvSpPr>
              <a:spLocks noChangeArrowheads="1"/>
            </p:cNvSpPr>
            <p:nvPr/>
          </p:nvSpPr>
          <p:spPr bwMode="auto">
            <a:xfrm>
              <a:off x="655637" y="2548730"/>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90000</a:t>
              </a:r>
            </a:p>
          </p:txBody>
        </p:sp>
        <p:sp>
          <p:nvSpPr>
            <p:cNvPr id="116" name="Rectangle 111"/>
            <p:cNvSpPr>
              <a:spLocks noChangeArrowheads="1"/>
            </p:cNvSpPr>
            <p:nvPr/>
          </p:nvSpPr>
          <p:spPr bwMode="auto">
            <a:xfrm>
              <a:off x="655637" y="2809080"/>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80000</a:t>
              </a:r>
            </a:p>
          </p:txBody>
        </p:sp>
        <p:sp>
          <p:nvSpPr>
            <p:cNvPr id="117" name="Rectangle 112"/>
            <p:cNvSpPr>
              <a:spLocks noChangeArrowheads="1"/>
            </p:cNvSpPr>
            <p:nvPr/>
          </p:nvSpPr>
          <p:spPr bwMode="auto">
            <a:xfrm>
              <a:off x="655637" y="3066255"/>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70000</a:t>
              </a:r>
            </a:p>
          </p:txBody>
        </p:sp>
        <p:sp>
          <p:nvSpPr>
            <p:cNvPr id="118" name="Rectangle 113"/>
            <p:cNvSpPr>
              <a:spLocks noChangeArrowheads="1"/>
            </p:cNvSpPr>
            <p:nvPr/>
          </p:nvSpPr>
          <p:spPr bwMode="auto">
            <a:xfrm>
              <a:off x="655637" y="3325017"/>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60000</a:t>
              </a:r>
            </a:p>
          </p:txBody>
        </p:sp>
        <p:sp>
          <p:nvSpPr>
            <p:cNvPr id="119" name="Rectangle 114"/>
            <p:cNvSpPr>
              <a:spLocks noChangeArrowheads="1"/>
            </p:cNvSpPr>
            <p:nvPr/>
          </p:nvSpPr>
          <p:spPr bwMode="auto">
            <a:xfrm>
              <a:off x="655637" y="3594892"/>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50000</a:t>
              </a:r>
            </a:p>
          </p:txBody>
        </p:sp>
        <p:sp>
          <p:nvSpPr>
            <p:cNvPr id="120" name="Rectangle 115"/>
            <p:cNvSpPr>
              <a:spLocks noChangeArrowheads="1"/>
            </p:cNvSpPr>
            <p:nvPr/>
          </p:nvSpPr>
          <p:spPr bwMode="auto">
            <a:xfrm>
              <a:off x="655637" y="3863180"/>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40000</a:t>
              </a:r>
            </a:p>
          </p:txBody>
        </p:sp>
        <p:sp>
          <p:nvSpPr>
            <p:cNvPr id="121" name="Rectangle 116"/>
            <p:cNvSpPr>
              <a:spLocks noChangeArrowheads="1"/>
            </p:cNvSpPr>
            <p:nvPr/>
          </p:nvSpPr>
          <p:spPr bwMode="auto">
            <a:xfrm>
              <a:off x="633412" y="4123530"/>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30000</a:t>
              </a:r>
            </a:p>
          </p:txBody>
        </p:sp>
        <p:sp>
          <p:nvSpPr>
            <p:cNvPr id="122" name="Rectangle 117"/>
            <p:cNvSpPr>
              <a:spLocks noChangeArrowheads="1"/>
            </p:cNvSpPr>
            <p:nvPr/>
          </p:nvSpPr>
          <p:spPr bwMode="auto">
            <a:xfrm>
              <a:off x="644525" y="4391817"/>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20000</a:t>
              </a:r>
            </a:p>
          </p:txBody>
        </p:sp>
        <p:sp>
          <p:nvSpPr>
            <p:cNvPr id="123" name="Rectangle 118"/>
            <p:cNvSpPr>
              <a:spLocks noChangeArrowheads="1"/>
            </p:cNvSpPr>
            <p:nvPr/>
          </p:nvSpPr>
          <p:spPr bwMode="auto">
            <a:xfrm>
              <a:off x="644525" y="4650580"/>
              <a:ext cx="487314" cy="212879"/>
            </a:xfrm>
            <a:prstGeom prst="rect">
              <a:avLst/>
            </a:prstGeom>
            <a:noFill/>
            <a:ln w="127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10000</a:t>
              </a:r>
            </a:p>
          </p:txBody>
        </p:sp>
        <p:sp>
          <p:nvSpPr>
            <p:cNvPr id="124" name="Line 119"/>
            <p:cNvSpPr>
              <a:spLocks noChangeShapeType="1"/>
            </p:cNvSpPr>
            <p:nvPr/>
          </p:nvSpPr>
          <p:spPr bwMode="auto">
            <a:xfrm>
              <a:off x="1595437" y="4926805"/>
              <a:ext cx="0" cy="4445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25" name="Line 120"/>
            <p:cNvSpPr>
              <a:spLocks noChangeShapeType="1"/>
            </p:cNvSpPr>
            <p:nvPr/>
          </p:nvSpPr>
          <p:spPr bwMode="auto">
            <a:xfrm>
              <a:off x="2152650" y="4922042"/>
              <a:ext cx="0" cy="4445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26" name="Line 121"/>
            <p:cNvSpPr>
              <a:spLocks noChangeShapeType="1"/>
            </p:cNvSpPr>
            <p:nvPr/>
          </p:nvSpPr>
          <p:spPr bwMode="auto">
            <a:xfrm>
              <a:off x="2709862" y="4915692"/>
              <a:ext cx="0" cy="4445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27" name="Line 122"/>
            <p:cNvSpPr>
              <a:spLocks noChangeShapeType="1"/>
            </p:cNvSpPr>
            <p:nvPr/>
          </p:nvSpPr>
          <p:spPr bwMode="auto">
            <a:xfrm>
              <a:off x="3260725" y="4922042"/>
              <a:ext cx="0" cy="4445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28" name="Line 123"/>
            <p:cNvSpPr>
              <a:spLocks noChangeShapeType="1"/>
            </p:cNvSpPr>
            <p:nvPr/>
          </p:nvSpPr>
          <p:spPr bwMode="auto">
            <a:xfrm>
              <a:off x="3817937" y="4922042"/>
              <a:ext cx="0" cy="4445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30" name="Rectangle 125"/>
            <p:cNvSpPr>
              <a:spLocks noChangeArrowheads="1"/>
            </p:cNvSpPr>
            <p:nvPr/>
          </p:nvSpPr>
          <p:spPr bwMode="auto">
            <a:xfrm>
              <a:off x="3879850" y="4779167"/>
              <a:ext cx="644408" cy="243656"/>
            </a:xfrm>
            <a:prstGeom prst="rect">
              <a:avLst/>
            </a:prstGeom>
            <a:noFill/>
            <a:ln w="25400">
              <a:noFill/>
              <a:miter lim="800000"/>
              <a:headEnd/>
              <a:tailEnd/>
            </a:ln>
            <a:effectLst/>
          </p:spPr>
          <p:txBody>
            <a:bodyPr wrap="none" lIns="90488" tIns="44450" rIns="90488" bIns="44450">
              <a:spAutoFit/>
            </a:bodyPr>
            <a:lstStyle/>
            <a:p>
              <a:pPr defTabSz="762000"/>
              <a:r>
                <a:rPr lang="en-US" sz="1000" dirty="0" err="1">
                  <a:solidFill>
                    <a:schemeClr val="tx2"/>
                  </a:solidFill>
                  <a:latin typeface="Courier New" pitchFamily="49" charset="0"/>
                </a:rPr>
                <a:t>Splock</a:t>
              </a:r>
              <a:endParaRPr lang="en-US" sz="1000" dirty="0">
                <a:solidFill>
                  <a:schemeClr val="tx2"/>
                </a:solidFill>
                <a:latin typeface="Courier New" pitchFamily="49" charset="0"/>
              </a:endParaRPr>
            </a:p>
          </p:txBody>
        </p:sp>
        <p:sp>
          <p:nvSpPr>
            <p:cNvPr id="131" name="Rectangle 126"/>
            <p:cNvSpPr>
              <a:spLocks noChangeArrowheads="1"/>
            </p:cNvSpPr>
            <p:nvPr/>
          </p:nvSpPr>
          <p:spPr bwMode="auto">
            <a:xfrm>
              <a:off x="3890962" y="4079080"/>
              <a:ext cx="798296" cy="243656"/>
            </a:xfrm>
            <a:prstGeom prst="rect">
              <a:avLst/>
            </a:prstGeom>
            <a:noFill/>
            <a:ln w="25400">
              <a:noFill/>
              <a:miter lim="800000"/>
              <a:headEnd/>
              <a:tailEnd/>
            </a:ln>
            <a:effectLst/>
          </p:spPr>
          <p:txBody>
            <a:bodyPr wrap="none" lIns="90488" tIns="44450" rIns="90488" bIns="44450">
              <a:spAutoFit/>
            </a:bodyPr>
            <a:lstStyle/>
            <a:p>
              <a:pPr defTabSz="762000"/>
              <a:r>
                <a:rPr lang="en-US" sz="1000" dirty="0" err="1">
                  <a:solidFill>
                    <a:schemeClr val="tx2"/>
                  </a:solidFill>
                  <a:latin typeface="Courier New" pitchFamily="49" charset="0"/>
                </a:rPr>
                <a:t>Ctree</a:t>
              </a:r>
              <a:r>
                <a:rPr lang="en-US" sz="1000" dirty="0">
                  <a:solidFill>
                    <a:schemeClr val="tx2"/>
                  </a:solidFill>
                  <a:latin typeface="Courier New" pitchFamily="49" charset="0"/>
                </a:rPr>
                <a:t>[n]</a:t>
              </a:r>
            </a:p>
          </p:txBody>
        </p:sp>
        <p:sp>
          <p:nvSpPr>
            <p:cNvPr id="132" name="Oval 127"/>
            <p:cNvSpPr>
              <a:spLocks noChangeArrowheads="1"/>
            </p:cNvSpPr>
            <p:nvPr/>
          </p:nvSpPr>
          <p:spPr bwMode="auto">
            <a:xfrm>
              <a:off x="1344612" y="4706143"/>
              <a:ext cx="38100" cy="41275"/>
            </a:xfrm>
            <a:prstGeom prst="ellipse">
              <a:avLst/>
            </a:prstGeom>
            <a:solidFill>
              <a:schemeClr val="tx2"/>
            </a:solidFill>
            <a:ln w="12700">
              <a:solidFill>
                <a:schemeClr val="tx2"/>
              </a:solidFill>
              <a:round/>
              <a:headEnd/>
              <a:tailEnd/>
            </a:ln>
            <a:effectLst/>
          </p:spPr>
          <p:txBody>
            <a:bodyPr wrap="none" anchor="ctr"/>
            <a:lstStyle/>
            <a:p>
              <a:endParaRPr lang="en-US" dirty="0">
                <a:latin typeface="Courier New" pitchFamily="49" charset="0"/>
              </a:endParaRPr>
            </a:p>
          </p:txBody>
        </p:sp>
        <p:sp>
          <p:nvSpPr>
            <p:cNvPr id="134" name="Rectangle 129"/>
            <p:cNvSpPr>
              <a:spLocks noChangeArrowheads="1"/>
            </p:cNvSpPr>
            <p:nvPr/>
          </p:nvSpPr>
          <p:spPr bwMode="auto">
            <a:xfrm>
              <a:off x="920750" y="4993480"/>
              <a:ext cx="251673" cy="228268"/>
            </a:xfrm>
            <a:prstGeom prst="rect">
              <a:avLst/>
            </a:prstGeom>
            <a:noFill/>
            <a:ln w="25400">
              <a:noFill/>
              <a:miter lim="800000"/>
              <a:headEnd/>
              <a:tailEnd/>
            </a:ln>
            <a:effectLst/>
          </p:spPr>
          <p:txBody>
            <a:bodyPr wrap="none" lIns="90488" tIns="44450" rIns="90488" bIns="44450">
              <a:spAutoFit/>
            </a:bodyPr>
            <a:lstStyle/>
            <a:p>
              <a:pPr defTabSz="762000"/>
              <a:r>
                <a:rPr lang="en-US" sz="900" b="1" dirty="0">
                  <a:solidFill>
                    <a:schemeClr val="tx2"/>
                  </a:solidFill>
                  <a:latin typeface="Courier New" pitchFamily="49" charset="0"/>
                </a:rPr>
                <a:t>0</a:t>
              </a:r>
            </a:p>
          </p:txBody>
        </p:sp>
        <p:sp>
          <p:nvSpPr>
            <p:cNvPr id="135" name="Rectangle 130"/>
            <p:cNvSpPr>
              <a:spLocks noChangeArrowheads="1"/>
            </p:cNvSpPr>
            <p:nvPr/>
          </p:nvSpPr>
          <p:spPr bwMode="auto">
            <a:xfrm>
              <a:off x="847725" y="4915692"/>
              <a:ext cx="243657" cy="212879"/>
            </a:xfrm>
            <a:prstGeom prst="rect">
              <a:avLst/>
            </a:prstGeom>
            <a:noFill/>
            <a:ln w="25400">
              <a:noFill/>
              <a:miter lim="800000"/>
              <a:headEnd/>
              <a:tailEnd/>
            </a:ln>
            <a:effectLst/>
          </p:spPr>
          <p:txBody>
            <a:bodyPr wrap="none" lIns="90488" tIns="44450" rIns="90488" bIns="44450">
              <a:spAutoFit/>
            </a:bodyPr>
            <a:lstStyle/>
            <a:p>
              <a:pPr defTabSz="762000"/>
              <a:r>
                <a:rPr lang="en-US" sz="800" dirty="0">
                  <a:solidFill>
                    <a:schemeClr val="tx2"/>
                  </a:solidFill>
                  <a:latin typeface="Courier New" pitchFamily="49" charset="0"/>
                </a:rPr>
                <a:t>0</a:t>
              </a:r>
            </a:p>
          </p:txBody>
        </p:sp>
        <p:grpSp>
          <p:nvGrpSpPr>
            <p:cNvPr id="3" name="Group 139"/>
            <p:cNvGrpSpPr>
              <a:grpSpLocks/>
            </p:cNvGrpSpPr>
            <p:nvPr/>
          </p:nvGrpSpPr>
          <p:grpSpPr bwMode="auto">
            <a:xfrm>
              <a:off x="1054100" y="2859880"/>
              <a:ext cx="41275" cy="1846263"/>
              <a:chOff x="1217" y="1607"/>
              <a:chExt cx="26" cy="1163"/>
            </a:xfrm>
          </p:grpSpPr>
          <p:sp>
            <p:nvSpPr>
              <p:cNvPr id="140" name="Line 131"/>
              <p:cNvSpPr>
                <a:spLocks noChangeShapeType="1"/>
              </p:cNvSpPr>
              <p:nvPr/>
            </p:nvSpPr>
            <p:spPr bwMode="auto">
              <a:xfrm>
                <a:off x="1217" y="1607"/>
                <a:ext cx="26"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41" name="Line 132"/>
              <p:cNvSpPr>
                <a:spLocks noChangeShapeType="1"/>
              </p:cNvSpPr>
              <p:nvPr/>
            </p:nvSpPr>
            <p:spPr bwMode="auto">
              <a:xfrm>
                <a:off x="1217" y="1773"/>
                <a:ext cx="26"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42" name="Line 133"/>
              <p:cNvSpPr>
                <a:spLocks noChangeShapeType="1"/>
              </p:cNvSpPr>
              <p:nvPr/>
            </p:nvSpPr>
            <p:spPr bwMode="auto">
              <a:xfrm>
                <a:off x="1217" y="1940"/>
                <a:ext cx="26"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43" name="Line 134"/>
              <p:cNvSpPr>
                <a:spLocks noChangeShapeType="1"/>
              </p:cNvSpPr>
              <p:nvPr/>
            </p:nvSpPr>
            <p:spPr bwMode="auto">
              <a:xfrm>
                <a:off x="1217" y="2105"/>
                <a:ext cx="26"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44" name="Line 135"/>
              <p:cNvSpPr>
                <a:spLocks noChangeShapeType="1"/>
              </p:cNvSpPr>
              <p:nvPr/>
            </p:nvSpPr>
            <p:spPr bwMode="auto">
              <a:xfrm>
                <a:off x="1217" y="2271"/>
                <a:ext cx="26"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45" name="Line 136"/>
              <p:cNvSpPr>
                <a:spLocks noChangeShapeType="1"/>
              </p:cNvSpPr>
              <p:nvPr/>
            </p:nvSpPr>
            <p:spPr bwMode="auto">
              <a:xfrm>
                <a:off x="1217" y="2438"/>
                <a:ext cx="26"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46" name="Line 137"/>
              <p:cNvSpPr>
                <a:spLocks noChangeShapeType="1"/>
              </p:cNvSpPr>
              <p:nvPr/>
            </p:nvSpPr>
            <p:spPr bwMode="auto">
              <a:xfrm>
                <a:off x="1217" y="2604"/>
                <a:ext cx="26"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sp>
            <p:nvSpPr>
              <p:cNvPr id="147" name="Line 138"/>
              <p:cNvSpPr>
                <a:spLocks noChangeShapeType="1"/>
              </p:cNvSpPr>
              <p:nvPr/>
            </p:nvSpPr>
            <p:spPr bwMode="auto">
              <a:xfrm>
                <a:off x="1217" y="2770"/>
                <a:ext cx="26" cy="0"/>
              </a:xfrm>
              <a:prstGeom prst="line">
                <a:avLst/>
              </a:prstGeom>
              <a:noFill/>
              <a:ln w="12700">
                <a:solidFill>
                  <a:schemeClr val="tx2"/>
                </a:solidFill>
                <a:round/>
                <a:headEnd/>
                <a:tailEnd/>
              </a:ln>
              <a:effectLst/>
            </p:spPr>
            <p:txBody>
              <a:bodyPr/>
              <a:lstStyle/>
              <a:p>
                <a:endParaRPr lang="en-US" dirty="0">
                  <a:latin typeface="Courier New" pitchFamily="49" charset="0"/>
                </a:endParaRPr>
              </a:p>
            </p:txBody>
          </p:sp>
        </p:grpSp>
        <p:sp>
          <p:nvSpPr>
            <p:cNvPr id="137" name="Oval 140"/>
            <p:cNvSpPr>
              <a:spLocks noChangeArrowheads="1"/>
            </p:cNvSpPr>
            <p:nvPr/>
          </p:nvSpPr>
          <p:spPr bwMode="auto">
            <a:xfrm>
              <a:off x="1206500" y="4788692"/>
              <a:ext cx="39687" cy="41275"/>
            </a:xfrm>
            <a:prstGeom prst="ellipse">
              <a:avLst/>
            </a:prstGeom>
            <a:solidFill>
              <a:schemeClr val="tx2"/>
            </a:solidFill>
            <a:ln w="12700">
              <a:solidFill>
                <a:schemeClr val="bg2"/>
              </a:solidFill>
              <a:round/>
              <a:headEnd/>
              <a:tailEnd/>
            </a:ln>
            <a:effectLst/>
          </p:spPr>
          <p:txBody>
            <a:bodyPr wrap="none" anchor="ctr"/>
            <a:lstStyle/>
            <a:p>
              <a:endParaRPr lang="en-US" dirty="0">
                <a:latin typeface="Courier New" pitchFamily="49" charset="0"/>
              </a:endParaRPr>
            </a:p>
          </p:txBody>
        </p:sp>
        <p:sp>
          <p:nvSpPr>
            <p:cNvPr id="139" name="Rectangle 142"/>
            <p:cNvSpPr>
              <a:spLocks noChangeArrowheads="1"/>
            </p:cNvSpPr>
            <p:nvPr/>
          </p:nvSpPr>
          <p:spPr bwMode="auto">
            <a:xfrm>
              <a:off x="140494" y="1752599"/>
              <a:ext cx="1381790" cy="822276"/>
            </a:xfrm>
            <a:prstGeom prst="rect">
              <a:avLst/>
            </a:prstGeom>
            <a:noFill/>
            <a:ln w="25400">
              <a:noFill/>
              <a:miter lim="800000"/>
              <a:headEnd/>
              <a:tailEnd/>
            </a:ln>
            <a:effectLst/>
          </p:spPr>
          <p:txBody>
            <a:bodyPr wrap="none" lIns="90488" tIns="44450" rIns="90488" bIns="44450">
              <a:spAutoFit/>
            </a:bodyPr>
            <a:lstStyle/>
            <a:p>
              <a:r>
                <a:rPr lang="en-US" sz="1400" dirty="0">
                  <a:solidFill>
                    <a:schemeClr val="tx2"/>
                  </a:solidFill>
                  <a:latin typeface="Courier New" pitchFamily="49" charset="0"/>
                </a:rPr>
                <a:t>operations</a:t>
              </a:r>
            </a:p>
            <a:p>
              <a:r>
                <a:rPr lang="en-US" sz="1400" dirty="0">
                  <a:solidFill>
                    <a:schemeClr val="tx2"/>
                  </a:solidFill>
                  <a:latin typeface="Courier New" pitchFamily="49" charset="0"/>
                </a:rPr>
                <a:t>per million</a:t>
              </a:r>
            </a:p>
            <a:p>
              <a:r>
                <a:rPr lang="en-US" sz="1400" dirty="0">
                  <a:solidFill>
                    <a:schemeClr val="tx2"/>
                  </a:solidFill>
                  <a:latin typeface="Courier New" pitchFamily="49" charset="0"/>
                </a:rPr>
                <a:t>cycles</a:t>
              </a:r>
            </a:p>
          </p:txBody>
        </p:sp>
        <p:sp>
          <p:nvSpPr>
            <p:cNvPr id="150" name="Rectangle 69"/>
            <p:cNvSpPr>
              <a:spLocks noChangeArrowheads="1"/>
            </p:cNvSpPr>
            <p:nvPr/>
          </p:nvSpPr>
          <p:spPr bwMode="auto">
            <a:xfrm>
              <a:off x="6557167" y="5220494"/>
              <a:ext cx="1699184" cy="366767"/>
            </a:xfrm>
            <a:prstGeom prst="rect">
              <a:avLst/>
            </a:prstGeom>
            <a:noFill/>
            <a:ln w="25400">
              <a:noFill/>
              <a:miter lim="800000"/>
              <a:headEnd/>
              <a:tailEnd/>
            </a:ln>
            <a:effectLst/>
          </p:spPr>
          <p:txBody>
            <a:bodyPr wrap="none" lIns="90488" tIns="44450" rIns="90488" bIns="44450">
              <a:spAutoFit/>
            </a:bodyPr>
            <a:lstStyle/>
            <a:p>
              <a:r>
                <a:rPr lang="en-US" sz="1800" dirty="0">
                  <a:solidFill>
                    <a:schemeClr val="tx2"/>
                  </a:solidFill>
                  <a:latin typeface="Courier New" pitchFamily="49" charset="0"/>
                </a:rPr>
                <a:t>concurrency</a:t>
              </a: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FBA5D216-35AB-404A-A311-C3D4BE69621A}" type="slidenum">
              <a:rPr lang="en-US"/>
              <a:pPr>
                <a:defRPr/>
              </a:pPr>
              <a:t>112</a:t>
            </a:fld>
            <a:endParaRPr lang="en-US"/>
          </a:p>
        </p:txBody>
      </p:sp>
      <p:sp>
        <p:nvSpPr>
          <p:cNvPr id="114692" name="Rectangle 2"/>
          <p:cNvSpPr>
            <a:spLocks noGrp="1" noChangeArrowheads="1"/>
          </p:cNvSpPr>
          <p:nvPr>
            <p:ph type="title"/>
          </p:nvPr>
        </p:nvSpPr>
        <p:spPr/>
        <p:txBody>
          <a:bodyPr/>
          <a:lstStyle/>
          <a:p>
            <a:r>
              <a:rPr lang="en-US"/>
              <a:t>Load Fluctuations</a:t>
            </a:r>
          </a:p>
        </p:txBody>
      </p:sp>
      <p:sp>
        <p:nvSpPr>
          <p:cNvPr id="114693" name="Rectangle 3"/>
          <p:cNvSpPr>
            <a:spLocks noGrp="1" noChangeArrowheads="1"/>
          </p:cNvSpPr>
          <p:nvPr>
            <p:ph type="body" idx="1"/>
          </p:nvPr>
        </p:nvSpPr>
        <p:spPr/>
        <p:txBody>
          <a:bodyPr/>
          <a:lstStyle/>
          <a:p>
            <a:r>
              <a:rPr lang="en-US">
                <a:cs typeface="Times New Roman" pitchFamily="18" charset="0"/>
              </a:rPr>
              <a:t>Combining is sensitive:</a:t>
            </a:r>
          </a:p>
          <a:p>
            <a:pPr lvl="1"/>
            <a:r>
              <a:rPr lang="en-US">
                <a:cs typeface="Times New Roman" pitchFamily="18" charset="0"/>
              </a:rPr>
              <a:t>if arrival rates drop …</a:t>
            </a:r>
          </a:p>
          <a:p>
            <a:pPr lvl="1"/>
            <a:r>
              <a:rPr lang="en-US">
                <a:cs typeface="Times New Roman" pitchFamily="18" charset="0"/>
              </a:rPr>
              <a:t>So do combining rates …</a:t>
            </a:r>
          </a:p>
          <a:p>
            <a:pPr lvl="1"/>
            <a:r>
              <a:rPr lang="en-US">
                <a:cs typeface="Times New Roman" pitchFamily="18" charset="0"/>
              </a:rPr>
              <a:t>&amp; performance deteriorates!</a:t>
            </a:r>
          </a:p>
          <a:p>
            <a:r>
              <a:rPr lang="en-US">
                <a:cs typeface="Times New Roman" pitchFamily="18" charset="0"/>
              </a:rPr>
              <a:t>Test</a:t>
            </a:r>
          </a:p>
          <a:p>
            <a:pPr lvl="1"/>
            <a:r>
              <a:rPr lang="en-US">
                <a:cs typeface="Times New Roman" pitchFamily="18" charset="0"/>
              </a:rPr>
              <a:t>Vary “work”</a:t>
            </a:r>
          </a:p>
          <a:p>
            <a:pPr lvl="1"/>
            <a:r>
              <a:rPr lang="en-US">
                <a:cs typeface="Times New Roman" pitchFamily="18" charset="0"/>
              </a:rPr>
              <a:t>Duration between accessess …</a:t>
            </a:r>
          </a:p>
          <a:p>
            <a:pPr lvl="1"/>
            <a:endParaRPr lang="en-US">
              <a:latin typeface="Symbol" pitchFamily="18" charset="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B0D2D05D-4590-4D1E-B7AB-FD033F71631C}" type="slidenum">
              <a:rPr lang="en-US"/>
              <a:pPr>
                <a:defRPr/>
              </a:pPr>
              <a:t>113</a:t>
            </a:fld>
            <a:endParaRPr lang="en-US"/>
          </a:p>
        </p:txBody>
      </p:sp>
      <p:sp>
        <p:nvSpPr>
          <p:cNvPr id="1029" name="Rectangle 4"/>
          <p:cNvSpPr>
            <a:spLocks noGrp="1" noChangeArrowheads="1"/>
          </p:cNvSpPr>
          <p:nvPr>
            <p:ph type="title"/>
          </p:nvPr>
        </p:nvSpPr>
        <p:spPr/>
        <p:txBody>
          <a:bodyPr/>
          <a:lstStyle/>
          <a:p>
            <a:r>
              <a:rPr lang="en-US"/>
              <a:t>Combining Rate vs Work</a:t>
            </a:r>
          </a:p>
        </p:txBody>
      </p:sp>
      <p:graphicFrame>
        <p:nvGraphicFramePr>
          <p:cNvPr id="6" name="Object 5"/>
          <p:cNvGraphicFramePr>
            <a:graphicFrameLocks noGrp="1" noChangeAspect="1"/>
          </p:cNvGraphicFramePr>
          <p:nvPr>
            <p:ph type="chart" idx="1"/>
          </p:nvPr>
        </p:nvGraphicFramePr>
        <p:xfrm>
          <a:off x="688975" y="1979613"/>
          <a:ext cx="7766050" cy="41084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1"/>
          </p:nvPr>
        </p:nvSpPr>
        <p:spPr/>
        <p:txBody>
          <a:bodyPr/>
          <a:lstStyle/>
          <a:p>
            <a:pPr>
              <a:defRPr/>
            </a:pPr>
            <a:fld id="{C52F9F65-BDAD-4782-AA36-EAB82D19AEBD}" type="slidenum">
              <a:rPr lang="en-US"/>
              <a:pPr>
                <a:defRPr/>
              </a:pPr>
              <a:t>114</a:t>
            </a:fld>
            <a:endParaRPr lang="en-US"/>
          </a:p>
        </p:txBody>
      </p:sp>
      <p:sp>
        <p:nvSpPr>
          <p:cNvPr id="115716" name="Rectangle 2"/>
          <p:cNvSpPr>
            <a:spLocks noGrp="1" noChangeArrowheads="1"/>
          </p:cNvSpPr>
          <p:nvPr>
            <p:ph type="title"/>
          </p:nvPr>
        </p:nvSpPr>
        <p:spPr>
          <a:xfrm>
            <a:off x="685800" y="457200"/>
            <a:ext cx="7772400" cy="1143000"/>
          </a:xfrm>
        </p:spPr>
        <p:txBody>
          <a:bodyPr/>
          <a:lstStyle/>
          <a:p>
            <a:r>
              <a:rPr lang="en-US"/>
              <a:t>Better to Wait Longer</a:t>
            </a:r>
          </a:p>
        </p:txBody>
      </p:sp>
      <p:sp>
        <p:nvSpPr>
          <p:cNvPr id="115717" name="Freeform 4"/>
          <p:cNvSpPr>
            <a:spLocks/>
          </p:cNvSpPr>
          <p:nvPr/>
        </p:nvSpPr>
        <p:spPr bwMode="auto">
          <a:xfrm>
            <a:off x="2057400" y="2438400"/>
            <a:ext cx="4724400" cy="2743200"/>
          </a:xfrm>
          <a:custGeom>
            <a:avLst/>
            <a:gdLst>
              <a:gd name="T0" fmla="*/ 0 w 2976"/>
              <a:gd name="T1" fmla="*/ 2147483647 h 1728"/>
              <a:gd name="T2" fmla="*/ 2147483647 w 2976"/>
              <a:gd name="T3" fmla="*/ 2147483647 h 1728"/>
              <a:gd name="T4" fmla="*/ 2147483647 w 2976"/>
              <a:gd name="T5" fmla="*/ 2147483647 h 1728"/>
              <a:gd name="T6" fmla="*/ 2147483647 w 2976"/>
              <a:gd name="T7" fmla="*/ 2147483647 h 1728"/>
              <a:gd name="T8" fmla="*/ 2147483647 w 2976"/>
              <a:gd name="T9" fmla="*/ 2147483647 h 1728"/>
              <a:gd name="T10" fmla="*/ 2147483647 w 2976"/>
              <a:gd name="T11" fmla="*/ 2147483647 h 1728"/>
              <a:gd name="T12" fmla="*/ 2147483647 w 2976"/>
              <a:gd name="T13" fmla="*/ 2147483647 h 1728"/>
              <a:gd name="T14" fmla="*/ 2147483647 w 2976"/>
              <a:gd name="T15" fmla="*/ 2147483647 h 1728"/>
              <a:gd name="T16" fmla="*/ 2147483647 w 2976"/>
              <a:gd name="T17" fmla="*/ 2147483647 h 1728"/>
              <a:gd name="T18" fmla="*/ 2147483647 w 2976"/>
              <a:gd name="T19" fmla="*/ 2147483647 h 1728"/>
              <a:gd name="T20" fmla="*/ 2147483647 w 2976"/>
              <a:gd name="T21" fmla="*/ 2147483647 h 1728"/>
              <a:gd name="T22" fmla="*/ 2147483647 w 2976"/>
              <a:gd name="T23" fmla="*/ 0 h 17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76"/>
              <a:gd name="T37" fmla="*/ 0 h 1728"/>
              <a:gd name="T38" fmla="*/ 2976 w 2976"/>
              <a:gd name="T39" fmla="*/ 1728 h 17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76" h="1728">
                <a:moveTo>
                  <a:pt x="0" y="1728"/>
                </a:moveTo>
                <a:cubicBezTo>
                  <a:pt x="60" y="1720"/>
                  <a:pt x="120" y="1712"/>
                  <a:pt x="192" y="1680"/>
                </a:cubicBezTo>
                <a:cubicBezTo>
                  <a:pt x="264" y="1648"/>
                  <a:pt x="368" y="1568"/>
                  <a:pt x="432" y="1536"/>
                </a:cubicBezTo>
                <a:cubicBezTo>
                  <a:pt x="496" y="1504"/>
                  <a:pt x="516" y="1573"/>
                  <a:pt x="576" y="1488"/>
                </a:cubicBezTo>
                <a:cubicBezTo>
                  <a:pt x="636" y="1403"/>
                  <a:pt x="720" y="1096"/>
                  <a:pt x="792" y="1024"/>
                </a:cubicBezTo>
                <a:cubicBezTo>
                  <a:pt x="864" y="952"/>
                  <a:pt x="940" y="1075"/>
                  <a:pt x="1008" y="1056"/>
                </a:cubicBezTo>
                <a:cubicBezTo>
                  <a:pt x="1076" y="1037"/>
                  <a:pt x="1136" y="944"/>
                  <a:pt x="1200" y="912"/>
                </a:cubicBezTo>
                <a:cubicBezTo>
                  <a:pt x="1264" y="880"/>
                  <a:pt x="1295" y="976"/>
                  <a:pt x="1392" y="864"/>
                </a:cubicBezTo>
                <a:cubicBezTo>
                  <a:pt x="1489" y="752"/>
                  <a:pt x="1640" y="352"/>
                  <a:pt x="1784" y="240"/>
                </a:cubicBezTo>
                <a:cubicBezTo>
                  <a:pt x="1928" y="128"/>
                  <a:pt x="2121" y="208"/>
                  <a:pt x="2256" y="192"/>
                </a:cubicBezTo>
                <a:cubicBezTo>
                  <a:pt x="2391" y="176"/>
                  <a:pt x="2472" y="176"/>
                  <a:pt x="2592" y="144"/>
                </a:cubicBezTo>
                <a:cubicBezTo>
                  <a:pt x="2712" y="112"/>
                  <a:pt x="2844" y="56"/>
                  <a:pt x="2976" y="0"/>
                </a:cubicBezTo>
              </a:path>
            </a:pathLst>
          </a:custGeom>
          <a:noFill/>
          <a:ln w="38100">
            <a:solidFill>
              <a:srgbClr val="FF0000"/>
            </a:solidFill>
            <a:round/>
            <a:headEnd/>
            <a:tailEnd/>
          </a:ln>
        </p:spPr>
        <p:txBody>
          <a:bodyPr wrap="none" anchor="ctr"/>
          <a:lstStyle/>
          <a:p>
            <a:endParaRPr lang="en-US">
              <a:latin typeface="Arial" pitchFamily="34" charset="0"/>
              <a:cs typeface="Arial" pitchFamily="34" charset="0"/>
            </a:endParaRPr>
          </a:p>
        </p:txBody>
      </p:sp>
      <p:sp>
        <p:nvSpPr>
          <p:cNvPr id="115718" name="Text Box 5"/>
          <p:cNvSpPr txBox="1">
            <a:spLocks noChangeArrowheads="1"/>
          </p:cNvSpPr>
          <p:nvPr/>
        </p:nvSpPr>
        <p:spPr bwMode="auto">
          <a:xfrm>
            <a:off x="4863887" y="2209800"/>
            <a:ext cx="1324401" cy="400110"/>
          </a:xfrm>
          <a:prstGeom prst="rect">
            <a:avLst/>
          </a:prstGeom>
          <a:noFill/>
          <a:ln w="9525" algn="ctr">
            <a:noFill/>
            <a:miter lim="800000"/>
            <a:headEnd/>
            <a:tailEnd/>
          </a:ln>
        </p:spPr>
        <p:txBody>
          <a:bodyPr wrap="none">
            <a:spAutoFit/>
          </a:bodyPr>
          <a:lstStyle/>
          <a:p>
            <a:pPr algn="ctr">
              <a:spcBef>
                <a:spcPct val="0"/>
              </a:spcBef>
            </a:pPr>
            <a:r>
              <a:rPr lang="en-US" sz="2000" b="0">
                <a:solidFill>
                  <a:srgbClr val="FF0000"/>
                </a:solidFill>
                <a:latin typeface="Arial" pitchFamily="34" charset="0"/>
                <a:cs typeface="Arial" pitchFamily="34" charset="0"/>
              </a:rPr>
              <a:t>Short wait</a:t>
            </a:r>
          </a:p>
        </p:txBody>
      </p:sp>
      <p:sp>
        <p:nvSpPr>
          <p:cNvPr id="115719" name="Freeform 6"/>
          <p:cNvSpPr>
            <a:spLocks/>
          </p:cNvSpPr>
          <p:nvPr/>
        </p:nvSpPr>
        <p:spPr bwMode="auto">
          <a:xfrm>
            <a:off x="2057400" y="4724400"/>
            <a:ext cx="4724400" cy="152400"/>
          </a:xfrm>
          <a:custGeom>
            <a:avLst/>
            <a:gdLst>
              <a:gd name="T0" fmla="*/ 0 w 2976"/>
              <a:gd name="T1" fmla="*/ 2147483647 h 96"/>
              <a:gd name="T2" fmla="*/ 2147483647 w 2976"/>
              <a:gd name="T3" fmla="*/ 2147483647 h 96"/>
              <a:gd name="T4" fmla="*/ 2147483647 w 2976"/>
              <a:gd name="T5" fmla="*/ 2147483647 h 96"/>
              <a:gd name="T6" fmla="*/ 2147483647 w 2976"/>
              <a:gd name="T7" fmla="*/ 2147483647 h 96"/>
              <a:gd name="T8" fmla="*/ 2147483647 w 2976"/>
              <a:gd name="T9" fmla="*/ 2147483647 h 96"/>
              <a:gd name="T10" fmla="*/ 2147483647 w 2976"/>
              <a:gd name="T11" fmla="*/ 2147483647 h 96"/>
              <a:gd name="T12" fmla="*/ 2147483647 w 2976"/>
              <a:gd name="T13" fmla="*/ 0 h 96"/>
              <a:gd name="T14" fmla="*/ 2147483647 w 2976"/>
              <a:gd name="T15" fmla="*/ 2147483647 h 96"/>
              <a:gd name="T16" fmla="*/ 2147483647 w 2976"/>
              <a:gd name="T17" fmla="*/ 0 h 96"/>
              <a:gd name="T18" fmla="*/ 2147483647 w 2976"/>
              <a:gd name="T19" fmla="*/ 2147483647 h 96"/>
              <a:gd name="T20" fmla="*/ 2147483647 w 2976"/>
              <a:gd name="T21" fmla="*/ 2147483647 h 96"/>
              <a:gd name="T22" fmla="*/ 2147483647 w 2976"/>
              <a:gd name="T23" fmla="*/ 214748364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76"/>
              <a:gd name="T37" fmla="*/ 0 h 96"/>
              <a:gd name="T38" fmla="*/ 2976 w 2976"/>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76" h="96">
                <a:moveTo>
                  <a:pt x="0" y="96"/>
                </a:moveTo>
                <a:cubicBezTo>
                  <a:pt x="84" y="76"/>
                  <a:pt x="168" y="56"/>
                  <a:pt x="240" y="48"/>
                </a:cubicBezTo>
                <a:cubicBezTo>
                  <a:pt x="312" y="40"/>
                  <a:pt x="368" y="48"/>
                  <a:pt x="432" y="48"/>
                </a:cubicBezTo>
                <a:cubicBezTo>
                  <a:pt x="496" y="48"/>
                  <a:pt x="560" y="48"/>
                  <a:pt x="624" y="48"/>
                </a:cubicBezTo>
                <a:cubicBezTo>
                  <a:pt x="688" y="48"/>
                  <a:pt x="752" y="48"/>
                  <a:pt x="816" y="48"/>
                </a:cubicBezTo>
                <a:cubicBezTo>
                  <a:pt x="880" y="48"/>
                  <a:pt x="944" y="56"/>
                  <a:pt x="1008" y="48"/>
                </a:cubicBezTo>
                <a:cubicBezTo>
                  <a:pt x="1072" y="40"/>
                  <a:pt x="1128" y="0"/>
                  <a:pt x="1200" y="0"/>
                </a:cubicBezTo>
                <a:cubicBezTo>
                  <a:pt x="1272" y="0"/>
                  <a:pt x="1336" y="48"/>
                  <a:pt x="1440" y="48"/>
                </a:cubicBezTo>
                <a:cubicBezTo>
                  <a:pt x="1544" y="48"/>
                  <a:pt x="1688" y="0"/>
                  <a:pt x="1824" y="0"/>
                </a:cubicBezTo>
                <a:cubicBezTo>
                  <a:pt x="1960" y="0"/>
                  <a:pt x="2128" y="40"/>
                  <a:pt x="2256" y="48"/>
                </a:cubicBezTo>
                <a:cubicBezTo>
                  <a:pt x="2384" y="56"/>
                  <a:pt x="2472" y="48"/>
                  <a:pt x="2592" y="48"/>
                </a:cubicBezTo>
                <a:cubicBezTo>
                  <a:pt x="2712" y="48"/>
                  <a:pt x="2844" y="48"/>
                  <a:pt x="2976" y="48"/>
                </a:cubicBezTo>
              </a:path>
            </a:pathLst>
          </a:custGeom>
          <a:noFill/>
          <a:ln w="38100">
            <a:solidFill>
              <a:schemeClr val="accent2"/>
            </a:solidFill>
            <a:round/>
            <a:headEnd/>
            <a:tailEnd/>
          </a:ln>
        </p:spPr>
        <p:txBody>
          <a:bodyPr wrap="none" anchor="ctr"/>
          <a:lstStyle/>
          <a:p>
            <a:endParaRPr lang="en-US">
              <a:latin typeface="Arial" pitchFamily="34" charset="0"/>
              <a:cs typeface="Arial" pitchFamily="34" charset="0"/>
            </a:endParaRPr>
          </a:p>
        </p:txBody>
      </p:sp>
      <p:sp>
        <p:nvSpPr>
          <p:cNvPr id="115720" name="Text Box 7"/>
          <p:cNvSpPr txBox="1">
            <a:spLocks noChangeArrowheads="1"/>
          </p:cNvSpPr>
          <p:nvPr/>
        </p:nvSpPr>
        <p:spPr bwMode="auto">
          <a:xfrm>
            <a:off x="5142011" y="4876800"/>
            <a:ext cx="1752403" cy="400110"/>
          </a:xfrm>
          <a:prstGeom prst="rect">
            <a:avLst/>
          </a:prstGeom>
          <a:noFill/>
          <a:ln w="9525" algn="ctr">
            <a:noFill/>
            <a:miter lim="800000"/>
            <a:headEnd/>
            <a:tailEnd/>
          </a:ln>
        </p:spPr>
        <p:txBody>
          <a:bodyPr wrap="none">
            <a:spAutoFit/>
          </a:bodyPr>
          <a:lstStyle/>
          <a:p>
            <a:pPr algn="ctr">
              <a:spcBef>
                <a:spcPct val="0"/>
              </a:spcBef>
            </a:pPr>
            <a:r>
              <a:rPr lang="en-US" sz="2000" b="0">
                <a:solidFill>
                  <a:schemeClr val="accent2"/>
                </a:solidFill>
                <a:latin typeface="Arial" pitchFamily="34" charset="0"/>
                <a:cs typeface="Arial" pitchFamily="34" charset="0"/>
              </a:rPr>
              <a:t>Indefinite wait</a:t>
            </a:r>
          </a:p>
        </p:txBody>
      </p:sp>
      <p:sp>
        <p:nvSpPr>
          <p:cNvPr id="115721" name="Freeform 8"/>
          <p:cNvSpPr>
            <a:spLocks/>
          </p:cNvSpPr>
          <p:nvPr/>
        </p:nvSpPr>
        <p:spPr bwMode="auto">
          <a:xfrm>
            <a:off x="2133600" y="4305300"/>
            <a:ext cx="4648200" cy="800100"/>
          </a:xfrm>
          <a:custGeom>
            <a:avLst/>
            <a:gdLst>
              <a:gd name="T0" fmla="*/ 0 w 2928"/>
              <a:gd name="T1" fmla="*/ 2147483647 h 504"/>
              <a:gd name="T2" fmla="*/ 2147483647 w 2928"/>
              <a:gd name="T3" fmla="*/ 2147483647 h 504"/>
              <a:gd name="T4" fmla="*/ 2147483647 w 2928"/>
              <a:gd name="T5" fmla="*/ 2147483647 h 504"/>
              <a:gd name="T6" fmla="*/ 2147483647 w 2928"/>
              <a:gd name="T7" fmla="*/ 2147483647 h 504"/>
              <a:gd name="T8" fmla="*/ 2147483647 w 2928"/>
              <a:gd name="T9" fmla="*/ 2147483647 h 504"/>
              <a:gd name="T10" fmla="*/ 2147483647 w 2928"/>
              <a:gd name="T11" fmla="*/ 2147483647 h 504"/>
              <a:gd name="T12" fmla="*/ 2147483647 w 2928"/>
              <a:gd name="T13" fmla="*/ 2147483647 h 504"/>
              <a:gd name="T14" fmla="*/ 2147483647 w 2928"/>
              <a:gd name="T15" fmla="*/ 2147483647 h 504"/>
              <a:gd name="T16" fmla="*/ 2147483647 w 2928"/>
              <a:gd name="T17" fmla="*/ 2147483647 h 504"/>
              <a:gd name="T18" fmla="*/ 2147483647 w 2928"/>
              <a:gd name="T19" fmla="*/ 2147483647 h 504"/>
              <a:gd name="T20" fmla="*/ 2147483647 w 2928"/>
              <a:gd name="T21" fmla="*/ 2147483647 h 504"/>
              <a:gd name="T22" fmla="*/ 2147483647 w 2928"/>
              <a:gd name="T23" fmla="*/ 2147483647 h 5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28"/>
              <a:gd name="T37" fmla="*/ 0 h 504"/>
              <a:gd name="T38" fmla="*/ 2928 w 2928"/>
              <a:gd name="T39" fmla="*/ 504 h 5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28" h="504">
                <a:moveTo>
                  <a:pt x="0" y="504"/>
                </a:moveTo>
                <a:cubicBezTo>
                  <a:pt x="40" y="488"/>
                  <a:pt x="80" y="472"/>
                  <a:pt x="144" y="456"/>
                </a:cubicBezTo>
                <a:cubicBezTo>
                  <a:pt x="208" y="440"/>
                  <a:pt x="312" y="432"/>
                  <a:pt x="384" y="408"/>
                </a:cubicBezTo>
                <a:cubicBezTo>
                  <a:pt x="456" y="384"/>
                  <a:pt x="512" y="360"/>
                  <a:pt x="576" y="312"/>
                </a:cubicBezTo>
                <a:cubicBezTo>
                  <a:pt x="640" y="264"/>
                  <a:pt x="704" y="144"/>
                  <a:pt x="768" y="120"/>
                </a:cubicBezTo>
                <a:cubicBezTo>
                  <a:pt x="832" y="96"/>
                  <a:pt x="896" y="160"/>
                  <a:pt x="960" y="168"/>
                </a:cubicBezTo>
                <a:cubicBezTo>
                  <a:pt x="1024" y="176"/>
                  <a:pt x="1088" y="152"/>
                  <a:pt x="1152" y="168"/>
                </a:cubicBezTo>
                <a:cubicBezTo>
                  <a:pt x="1216" y="184"/>
                  <a:pt x="1248" y="288"/>
                  <a:pt x="1344" y="264"/>
                </a:cubicBezTo>
                <a:cubicBezTo>
                  <a:pt x="1440" y="240"/>
                  <a:pt x="1592" y="48"/>
                  <a:pt x="1728" y="24"/>
                </a:cubicBezTo>
                <a:cubicBezTo>
                  <a:pt x="1864" y="0"/>
                  <a:pt x="2024" y="120"/>
                  <a:pt x="2160" y="120"/>
                </a:cubicBezTo>
                <a:cubicBezTo>
                  <a:pt x="2296" y="120"/>
                  <a:pt x="2416" y="40"/>
                  <a:pt x="2544" y="24"/>
                </a:cubicBezTo>
                <a:cubicBezTo>
                  <a:pt x="2672" y="8"/>
                  <a:pt x="2800" y="16"/>
                  <a:pt x="2928" y="24"/>
                </a:cubicBezTo>
              </a:path>
            </a:pathLst>
          </a:custGeom>
          <a:noFill/>
          <a:ln w="38100">
            <a:solidFill>
              <a:srgbClr val="33CC33"/>
            </a:solidFill>
            <a:round/>
            <a:headEnd/>
            <a:tailEnd/>
          </a:ln>
        </p:spPr>
        <p:txBody>
          <a:bodyPr wrap="none" anchor="ctr"/>
          <a:lstStyle/>
          <a:p>
            <a:endParaRPr lang="en-US">
              <a:latin typeface="Arial" pitchFamily="34" charset="0"/>
              <a:cs typeface="Arial" pitchFamily="34" charset="0"/>
            </a:endParaRPr>
          </a:p>
        </p:txBody>
      </p:sp>
      <p:sp>
        <p:nvSpPr>
          <p:cNvPr id="115722" name="Text Box 9"/>
          <p:cNvSpPr txBox="1">
            <a:spLocks noChangeArrowheads="1"/>
          </p:cNvSpPr>
          <p:nvPr/>
        </p:nvSpPr>
        <p:spPr bwMode="auto">
          <a:xfrm>
            <a:off x="5229225" y="3886200"/>
            <a:ext cx="1666875" cy="396875"/>
          </a:xfrm>
          <a:prstGeom prst="rect">
            <a:avLst/>
          </a:prstGeom>
          <a:noFill/>
          <a:ln w="9525" algn="ctr">
            <a:noFill/>
            <a:miter lim="800000"/>
            <a:headEnd/>
            <a:tailEnd/>
          </a:ln>
        </p:spPr>
        <p:txBody>
          <a:bodyPr wrap="none">
            <a:spAutoFit/>
          </a:bodyPr>
          <a:lstStyle/>
          <a:p>
            <a:pPr algn="ctr">
              <a:spcBef>
                <a:spcPct val="0"/>
              </a:spcBef>
            </a:pPr>
            <a:r>
              <a:rPr lang="en-US" sz="2000" b="0">
                <a:solidFill>
                  <a:srgbClr val="33CC33"/>
                </a:solidFill>
                <a:latin typeface="Arial" pitchFamily="34" charset="0"/>
                <a:cs typeface="Arial" pitchFamily="34" charset="0"/>
              </a:rPr>
              <a:t>Medium wait</a:t>
            </a:r>
          </a:p>
        </p:txBody>
      </p:sp>
      <p:sp>
        <p:nvSpPr>
          <p:cNvPr id="115723" name="Line 10"/>
          <p:cNvSpPr>
            <a:spLocks noChangeShapeType="1"/>
          </p:cNvSpPr>
          <p:nvPr/>
        </p:nvSpPr>
        <p:spPr bwMode="auto">
          <a:xfrm flipV="1">
            <a:off x="1706563" y="2097088"/>
            <a:ext cx="0" cy="3260725"/>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115724" name="Line 11"/>
          <p:cNvSpPr>
            <a:spLocks noChangeShapeType="1"/>
          </p:cNvSpPr>
          <p:nvPr/>
        </p:nvSpPr>
        <p:spPr bwMode="auto">
          <a:xfrm>
            <a:off x="1706563" y="5326063"/>
            <a:ext cx="5461000" cy="0"/>
          </a:xfrm>
          <a:prstGeom prst="line">
            <a:avLst/>
          </a:prstGeom>
          <a:noFill/>
          <a:ln w="76200">
            <a:solidFill>
              <a:srgbClr val="0066CC"/>
            </a:solidFill>
            <a:round/>
            <a:headEnd/>
            <a:tailEnd type="triangle" w="med" len="med"/>
          </a:ln>
        </p:spPr>
        <p:txBody>
          <a:bodyPr wrap="none" anchor="ctr"/>
          <a:lstStyle/>
          <a:p>
            <a:endParaRPr lang="en-US">
              <a:latin typeface="Arial" pitchFamily="34" charset="0"/>
              <a:cs typeface="Arial" pitchFamily="34" charset="0"/>
            </a:endParaRPr>
          </a:p>
        </p:txBody>
      </p:sp>
      <p:sp>
        <p:nvSpPr>
          <p:cNvPr id="115725" name="Text Box 12"/>
          <p:cNvSpPr txBox="1">
            <a:spLocks noChangeArrowheads="1"/>
          </p:cNvSpPr>
          <p:nvPr/>
        </p:nvSpPr>
        <p:spPr bwMode="auto">
          <a:xfrm rot="10800000">
            <a:off x="1043801" y="3109329"/>
            <a:ext cx="553998" cy="1171154"/>
          </a:xfrm>
          <a:prstGeom prst="rect">
            <a:avLst/>
          </a:prstGeom>
          <a:noFill/>
          <a:ln w="9525">
            <a:noFill/>
            <a:miter lim="800000"/>
            <a:headEnd/>
            <a:tailEnd/>
          </a:ln>
        </p:spPr>
        <p:txBody>
          <a:bodyPr vert="eaVert" wrap="none">
            <a:spAutoFit/>
          </a:bodyPr>
          <a:lstStyle/>
          <a:p>
            <a:pPr algn="ctr">
              <a:spcBef>
                <a:spcPct val="0"/>
              </a:spcBef>
            </a:pPr>
            <a:r>
              <a:rPr lang="en-US" b="0" dirty="0">
                <a:solidFill>
                  <a:srgbClr val="0066CC"/>
                </a:solidFill>
                <a:latin typeface="Arial" pitchFamily="34" charset="0"/>
                <a:cs typeface="Arial" pitchFamily="34" charset="0"/>
              </a:rPr>
              <a:t>Latency</a:t>
            </a:r>
          </a:p>
        </p:txBody>
      </p:sp>
      <p:sp>
        <p:nvSpPr>
          <p:cNvPr id="115726" name="Text Box 13"/>
          <p:cNvSpPr txBox="1">
            <a:spLocks noChangeArrowheads="1"/>
          </p:cNvSpPr>
          <p:nvPr/>
        </p:nvSpPr>
        <p:spPr bwMode="auto">
          <a:xfrm rot="-5400000">
            <a:off x="4134664" y="4877322"/>
            <a:ext cx="553998" cy="1599156"/>
          </a:xfrm>
          <a:prstGeom prst="rect">
            <a:avLst/>
          </a:prstGeom>
          <a:noFill/>
          <a:ln w="9525">
            <a:noFill/>
            <a:miter lim="800000"/>
            <a:headEnd/>
            <a:tailEnd/>
          </a:ln>
        </p:spPr>
        <p:txBody>
          <a:bodyPr vert="eaVert" wrap="none">
            <a:spAutoFit/>
          </a:bodyPr>
          <a:lstStyle/>
          <a:p>
            <a:pPr algn="r">
              <a:spcBef>
                <a:spcPct val="0"/>
              </a:spcBef>
            </a:pPr>
            <a:r>
              <a:rPr lang="en-US" b="0">
                <a:solidFill>
                  <a:srgbClr val="0066CC"/>
                </a:solidFill>
                <a:latin typeface="Arial" pitchFamily="34" charset="0"/>
                <a:cs typeface="Arial" pitchFamily="34" charset="0"/>
              </a:rPr>
              <a:t>processors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6E055F8-BA71-4E72-8C5A-C0B659954928}" type="slidenum">
              <a:rPr lang="en-US"/>
              <a:pPr>
                <a:defRPr/>
              </a:pPr>
              <a:t>115</a:t>
            </a:fld>
            <a:endParaRPr lang="en-US"/>
          </a:p>
        </p:txBody>
      </p:sp>
      <p:sp>
        <p:nvSpPr>
          <p:cNvPr id="116740" name="Rectangle 2"/>
          <p:cNvSpPr>
            <a:spLocks noGrp="1" noChangeArrowheads="1"/>
          </p:cNvSpPr>
          <p:nvPr>
            <p:ph type="title"/>
          </p:nvPr>
        </p:nvSpPr>
        <p:spPr/>
        <p:txBody>
          <a:bodyPr/>
          <a:lstStyle/>
          <a:p>
            <a:r>
              <a:rPr lang="en-US"/>
              <a:t>Conclusions</a:t>
            </a:r>
          </a:p>
        </p:txBody>
      </p:sp>
      <p:sp>
        <p:nvSpPr>
          <p:cNvPr id="116741" name="Rectangle 3"/>
          <p:cNvSpPr>
            <a:spLocks noGrp="1" noChangeArrowheads="1"/>
          </p:cNvSpPr>
          <p:nvPr>
            <p:ph type="body" idx="1"/>
          </p:nvPr>
        </p:nvSpPr>
        <p:spPr>
          <a:xfrm>
            <a:off x="685800" y="1752600"/>
            <a:ext cx="7772400" cy="4114800"/>
          </a:xfrm>
        </p:spPr>
        <p:txBody>
          <a:bodyPr/>
          <a:lstStyle/>
          <a:p>
            <a:r>
              <a:rPr lang="en-US" dirty="0"/>
              <a:t>Combining Trees </a:t>
            </a:r>
          </a:p>
          <a:p>
            <a:pPr lvl="1"/>
            <a:r>
              <a:rPr lang="en-US" dirty="0" err="1"/>
              <a:t>Linearizable</a:t>
            </a:r>
            <a:r>
              <a:rPr lang="en-US" dirty="0"/>
              <a:t> Counters</a:t>
            </a:r>
          </a:p>
          <a:p>
            <a:pPr lvl="1"/>
            <a:r>
              <a:rPr lang="en-US" dirty="0"/>
              <a:t>Work well under high contention</a:t>
            </a:r>
          </a:p>
          <a:p>
            <a:pPr lvl="1"/>
            <a:r>
              <a:rPr lang="en-US" dirty="0"/>
              <a:t>Sensitive to load fluctuations</a:t>
            </a:r>
          </a:p>
          <a:p>
            <a:pPr lvl="1"/>
            <a:r>
              <a:rPr lang="en-US" dirty="0"/>
              <a:t>Can be used for </a:t>
            </a:r>
            <a:r>
              <a:rPr lang="en-US" dirty="0" err="1">
                <a:solidFill>
                  <a:schemeClr val="tx1"/>
                </a:solidFill>
              </a:rPr>
              <a:t>getAndMumble</a:t>
            </a:r>
            <a:r>
              <a:rPr lang="en-US" dirty="0">
                <a:solidFill>
                  <a:schemeClr val="tx1"/>
                </a:solidFill>
              </a:rPr>
              <a:t>()</a:t>
            </a:r>
            <a:r>
              <a:rPr lang="en-US" dirty="0"/>
              <a:t> ops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1506778" y="2304678"/>
            <a:ext cx="3713943" cy="3078099"/>
          </a:xfrm>
          <a:prstGeom prst="rect">
            <a:avLst/>
          </a:prstGeom>
          <a:solidFill>
            <a:srgbClr val="C0FEF9"/>
          </a:solidFill>
          <a:ln w="25400">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a:latin typeface="Arial"/>
              <a:cs typeface="Arial"/>
            </a:endParaRPr>
          </a:p>
        </p:txBody>
      </p:sp>
      <p:sp>
        <p:nvSpPr>
          <p:cNvPr id="76804" name="Line 4"/>
          <p:cNvSpPr>
            <a:spLocks noChangeShapeType="1"/>
          </p:cNvSpPr>
          <p:nvPr/>
        </p:nvSpPr>
        <p:spPr bwMode="auto">
          <a:xfrm>
            <a:off x="6031925" y="2578541"/>
            <a:ext cx="469130" cy="2262"/>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000">
              <a:latin typeface="Arial"/>
              <a:cs typeface="Arial"/>
            </a:endParaRPr>
          </a:p>
        </p:txBody>
      </p:sp>
      <p:sp>
        <p:nvSpPr>
          <p:cNvPr id="76805" name="Rectangle 5"/>
          <p:cNvSpPr>
            <a:spLocks noChangeArrowheads="1"/>
          </p:cNvSpPr>
          <p:nvPr/>
        </p:nvSpPr>
        <p:spPr bwMode="auto">
          <a:xfrm>
            <a:off x="5323344" y="3540444"/>
            <a:ext cx="346961" cy="518299"/>
          </a:xfrm>
          <a:prstGeom prst="rect">
            <a:avLst/>
          </a:prstGeom>
          <a:solidFill>
            <a:schemeClr val="bg1"/>
          </a:solidFill>
          <a:ln>
            <a:noFill/>
          </a:ln>
          <a:effectLst/>
          <a:extLst>
            <a:ext uri="{91240B29-F687-4F45-9708-019B960494DF}">
              <a14:hiddenLine xmlns:a14="http://schemas.microsoft.com/office/drawing/2010/main" w="12700">
                <a:solidFill>
                  <a:schemeClr val="hlink"/>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a:latin typeface="Arial"/>
              <a:cs typeface="Arial"/>
            </a:endParaRPr>
          </a:p>
        </p:txBody>
      </p:sp>
      <p:sp>
        <p:nvSpPr>
          <p:cNvPr id="76807" name="Rectangle 7"/>
          <p:cNvSpPr>
            <a:spLocks noChangeArrowheads="1"/>
          </p:cNvSpPr>
          <p:nvPr/>
        </p:nvSpPr>
        <p:spPr bwMode="auto">
          <a:xfrm>
            <a:off x="5447957" y="2277518"/>
            <a:ext cx="378724" cy="516034"/>
          </a:xfrm>
          <a:prstGeom prst="rect">
            <a:avLst/>
          </a:prstGeom>
          <a:solidFill>
            <a:schemeClr val="accent1"/>
          </a:solidFill>
          <a:ln w="12700">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a:latin typeface="Arial"/>
              <a:cs typeface="Arial"/>
            </a:endParaRPr>
          </a:p>
        </p:txBody>
      </p:sp>
      <p:sp>
        <p:nvSpPr>
          <p:cNvPr id="76808" name="Rectangle 8"/>
          <p:cNvSpPr>
            <a:spLocks noChangeArrowheads="1"/>
          </p:cNvSpPr>
          <p:nvPr/>
        </p:nvSpPr>
        <p:spPr bwMode="auto">
          <a:xfrm>
            <a:off x="5447957" y="3146629"/>
            <a:ext cx="378724" cy="518298"/>
          </a:xfrm>
          <a:prstGeom prst="rect">
            <a:avLst/>
          </a:prstGeom>
          <a:solidFill>
            <a:schemeClr val="accent1"/>
          </a:solidFill>
          <a:ln w="12700">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a:latin typeface="Arial"/>
              <a:cs typeface="Arial"/>
            </a:endParaRPr>
          </a:p>
        </p:txBody>
      </p:sp>
      <p:sp>
        <p:nvSpPr>
          <p:cNvPr id="76809" name="Rectangle 9"/>
          <p:cNvSpPr>
            <a:spLocks noChangeArrowheads="1"/>
          </p:cNvSpPr>
          <p:nvPr/>
        </p:nvSpPr>
        <p:spPr bwMode="auto">
          <a:xfrm>
            <a:off x="5447957" y="4013476"/>
            <a:ext cx="378724" cy="518298"/>
          </a:xfrm>
          <a:prstGeom prst="rect">
            <a:avLst/>
          </a:prstGeom>
          <a:solidFill>
            <a:schemeClr val="accent1"/>
          </a:solidFill>
          <a:ln w="12700">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a:latin typeface="Arial"/>
              <a:cs typeface="Arial"/>
            </a:endParaRPr>
          </a:p>
        </p:txBody>
      </p:sp>
      <p:sp>
        <p:nvSpPr>
          <p:cNvPr id="76810" name="Rectangle 10"/>
          <p:cNvSpPr>
            <a:spLocks noChangeArrowheads="1"/>
          </p:cNvSpPr>
          <p:nvPr/>
        </p:nvSpPr>
        <p:spPr bwMode="auto">
          <a:xfrm>
            <a:off x="5447957" y="4884850"/>
            <a:ext cx="378724" cy="516034"/>
          </a:xfrm>
          <a:prstGeom prst="rect">
            <a:avLst/>
          </a:prstGeom>
          <a:solidFill>
            <a:schemeClr val="accent1"/>
          </a:solidFill>
          <a:ln w="12700">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2000">
              <a:latin typeface="Arial"/>
              <a:cs typeface="Arial"/>
            </a:endParaRPr>
          </a:p>
        </p:txBody>
      </p:sp>
      <p:sp>
        <p:nvSpPr>
          <p:cNvPr id="76811" name="Rectangle 11"/>
          <p:cNvSpPr>
            <a:spLocks noChangeArrowheads="1"/>
          </p:cNvSpPr>
          <p:nvPr/>
        </p:nvSpPr>
        <p:spPr bwMode="auto">
          <a:xfrm>
            <a:off x="6498612" y="2377106"/>
            <a:ext cx="125199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hlink"/>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r>
              <a:rPr lang="en-US" sz="2000" b="1" dirty="0">
                <a:latin typeface="Arial"/>
                <a:cs typeface="Arial"/>
              </a:rPr>
              <a:t>0, 4, 8.....</a:t>
            </a:r>
            <a:endParaRPr lang="he-IL" sz="2000" b="1" dirty="0">
              <a:latin typeface="Arial"/>
              <a:cs typeface="Arial"/>
            </a:endParaRPr>
          </a:p>
        </p:txBody>
      </p:sp>
      <p:sp>
        <p:nvSpPr>
          <p:cNvPr id="76812" name="Rectangle 12"/>
          <p:cNvSpPr>
            <a:spLocks noChangeArrowheads="1"/>
          </p:cNvSpPr>
          <p:nvPr/>
        </p:nvSpPr>
        <p:spPr bwMode="auto">
          <a:xfrm>
            <a:off x="6527933" y="3246216"/>
            <a:ext cx="125199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hlink"/>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r>
              <a:rPr lang="en-US" sz="2000" b="1" dirty="0">
                <a:latin typeface="Arial"/>
                <a:cs typeface="Arial"/>
              </a:rPr>
              <a:t>1, 5, 9.....</a:t>
            </a:r>
            <a:endParaRPr lang="he-IL" sz="2000" b="1" dirty="0">
              <a:latin typeface="Arial"/>
              <a:cs typeface="Arial"/>
            </a:endParaRPr>
          </a:p>
        </p:txBody>
      </p:sp>
      <p:sp>
        <p:nvSpPr>
          <p:cNvPr id="76813" name="Line 13"/>
          <p:cNvSpPr>
            <a:spLocks noChangeShapeType="1"/>
          </p:cNvSpPr>
          <p:nvPr/>
        </p:nvSpPr>
        <p:spPr bwMode="auto">
          <a:xfrm>
            <a:off x="6031925" y="3393332"/>
            <a:ext cx="469130" cy="2262"/>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000">
              <a:latin typeface="Arial"/>
              <a:cs typeface="Arial"/>
            </a:endParaRPr>
          </a:p>
        </p:txBody>
      </p:sp>
      <p:sp>
        <p:nvSpPr>
          <p:cNvPr id="76814" name="Rectangle 14"/>
          <p:cNvSpPr>
            <a:spLocks noChangeArrowheads="1"/>
          </p:cNvSpPr>
          <p:nvPr/>
        </p:nvSpPr>
        <p:spPr bwMode="auto">
          <a:xfrm>
            <a:off x="6586575" y="4115327"/>
            <a:ext cx="132338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hlink"/>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r>
              <a:rPr lang="en-US" sz="2000" b="1" dirty="0">
                <a:latin typeface="Arial"/>
                <a:cs typeface="Arial"/>
              </a:rPr>
              <a:t>2, 6, 10....</a:t>
            </a:r>
            <a:endParaRPr lang="he-IL" sz="2000" b="1" dirty="0">
              <a:latin typeface="Arial"/>
              <a:cs typeface="Arial"/>
            </a:endParaRPr>
          </a:p>
        </p:txBody>
      </p:sp>
      <p:sp>
        <p:nvSpPr>
          <p:cNvPr id="76815" name="Line 15"/>
          <p:cNvSpPr>
            <a:spLocks noChangeShapeType="1"/>
          </p:cNvSpPr>
          <p:nvPr/>
        </p:nvSpPr>
        <p:spPr bwMode="auto">
          <a:xfrm>
            <a:off x="6061246" y="4262443"/>
            <a:ext cx="469130" cy="2262"/>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000">
              <a:latin typeface="Arial"/>
              <a:cs typeface="Arial"/>
            </a:endParaRPr>
          </a:p>
        </p:txBody>
      </p:sp>
      <p:sp>
        <p:nvSpPr>
          <p:cNvPr id="76816" name="Rectangle 16"/>
          <p:cNvSpPr>
            <a:spLocks noChangeArrowheads="1"/>
          </p:cNvSpPr>
          <p:nvPr/>
        </p:nvSpPr>
        <p:spPr bwMode="auto">
          <a:xfrm>
            <a:off x="6586574" y="4984437"/>
            <a:ext cx="125187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hlink"/>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r>
              <a:rPr lang="en-US" sz="2000" b="1">
                <a:latin typeface="Arial"/>
                <a:cs typeface="Arial"/>
              </a:rPr>
              <a:t>3, 7 ........</a:t>
            </a:r>
            <a:endParaRPr lang="he-IL" sz="2000" b="1">
              <a:latin typeface="Arial"/>
              <a:cs typeface="Arial"/>
            </a:endParaRPr>
          </a:p>
        </p:txBody>
      </p:sp>
      <p:sp>
        <p:nvSpPr>
          <p:cNvPr id="76817" name="Line 17"/>
          <p:cNvSpPr>
            <a:spLocks noChangeShapeType="1"/>
          </p:cNvSpPr>
          <p:nvPr/>
        </p:nvSpPr>
        <p:spPr bwMode="auto">
          <a:xfrm>
            <a:off x="6090566" y="5158712"/>
            <a:ext cx="469130" cy="2262"/>
          </a:xfrm>
          <a:prstGeom prst="line">
            <a:avLst/>
          </a:prstGeom>
          <a:noFill/>
          <a:ln w="254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2000">
              <a:latin typeface="Arial"/>
              <a:cs typeface="Arial"/>
            </a:endParaRPr>
          </a:p>
        </p:txBody>
      </p:sp>
      <p:sp>
        <p:nvSpPr>
          <p:cNvPr id="76829" name="Rectangle 29"/>
          <p:cNvSpPr>
            <a:spLocks noChangeArrowheads="1"/>
          </p:cNvSpPr>
          <p:nvPr/>
        </p:nvSpPr>
        <p:spPr bwMode="auto">
          <a:xfrm>
            <a:off x="1826862" y="2662282"/>
            <a:ext cx="2280473" cy="2355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hlink"/>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r>
              <a:rPr lang="en-US" sz="3200" b="1" dirty="0">
                <a:latin typeface="Arial"/>
                <a:cs typeface="Arial"/>
              </a:rPr>
              <a:t>How to </a:t>
            </a:r>
          </a:p>
          <a:p>
            <a:r>
              <a:rPr lang="en-US" sz="3200" b="1" dirty="0">
                <a:latin typeface="Arial"/>
                <a:cs typeface="Arial"/>
              </a:rPr>
              <a:t>coordinate </a:t>
            </a:r>
          </a:p>
          <a:p>
            <a:r>
              <a:rPr lang="en-US" sz="3200" b="1" dirty="0">
                <a:latin typeface="Arial"/>
                <a:cs typeface="Arial"/>
              </a:rPr>
              <a:t>access to </a:t>
            </a:r>
          </a:p>
          <a:p>
            <a:r>
              <a:rPr lang="en-US" sz="3200" b="1" dirty="0">
                <a:latin typeface="Arial"/>
                <a:cs typeface="Arial"/>
              </a:rPr>
              <a:t>counters? </a:t>
            </a:r>
            <a:endParaRPr lang="he-IL" sz="3200" b="1" dirty="0">
              <a:latin typeface="Arial"/>
              <a:cs typeface="Arial"/>
            </a:endParaRPr>
          </a:p>
        </p:txBody>
      </p:sp>
      <p:sp>
        <p:nvSpPr>
          <p:cNvPr id="76834" name="Rectangle 34"/>
          <p:cNvSpPr>
            <a:spLocks noChangeArrowheads="1"/>
          </p:cNvSpPr>
          <p:nvPr/>
        </p:nvSpPr>
        <p:spPr bwMode="auto">
          <a:xfrm>
            <a:off x="1799167" y="5763816"/>
            <a:ext cx="5401733" cy="275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hlink"/>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400"/>
          </a:p>
        </p:txBody>
      </p:sp>
      <p:sp>
        <p:nvSpPr>
          <p:cNvPr id="34" name="Rectangle 2"/>
          <p:cNvSpPr>
            <a:spLocks noGrp="1" noChangeArrowheads="1"/>
          </p:cNvSpPr>
          <p:nvPr>
            <p:ph type="title"/>
          </p:nvPr>
        </p:nvSpPr>
        <p:spPr>
          <a:xfrm>
            <a:off x="685800" y="609600"/>
            <a:ext cx="7772400" cy="1143000"/>
          </a:xfrm>
        </p:spPr>
        <p:txBody>
          <a:bodyPr/>
          <a:lstStyle/>
          <a:p>
            <a:r>
              <a:rPr lang="en-US" dirty="0"/>
              <a:t>Parallel Counter Approach</a:t>
            </a:r>
          </a:p>
        </p:txBody>
      </p:sp>
      <p:grpSp>
        <p:nvGrpSpPr>
          <p:cNvPr id="36" name="Group 3"/>
          <p:cNvGrpSpPr>
            <a:grpSpLocks/>
          </p:cNvGrpSpPr>
          <p:nvPr/>
        </p:nvGrpSpPr>
        <p:grpSpPr bwMode="auto">
          <a:xfrm>
            <a:off x="660400" y="2374900"/>
            <a:ext cx="533400" cy="533400"/>
            <a:chOff x="1584" y="816"/>
            <a:chExt cx="912" cy="816"/>
          </a:xfrm>
        </p:grpSpPr>
        <p:sp>
          <p:nvSpPr>
            <p:cNvPr id="37"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3"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6" name="Group 3"/>
          <p:cNvGrpSpPr>
            <a:grpSpLocks/>
          </p:cNvGrpSpPr>
          <p:nvPr/>
        </p:nvGrpSpPr>
        <p:grpSpPr bwMode="auto">
          <a:xfrm>
            <a:off x="710114" y="3011226"/>
            <a:ext cx="533400" cy="533400"/>
            <a:chOff x="1584" y="816"/>
            <a:chExt cx="912" cy="816"/>
          </a:xfrm>
        </p:grpSpPr>
        <p:sp>
          <p:nvSpPr>
            <p:cNvPr id="47"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49"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0"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3"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4"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5"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6" name="Group 3"/>
          <p:cNvGrpSpPr>
            <a:grpSpLocks/>
          </p:cNvGrpSpPr>
          <p:nvPr/>
        </p:nvGrpSpPr>
        <p:grpSpPr bwMode="auto">
          <a:xfrm>
            <a:off x="724151" y="3746776"/>
            <a:ext cx="533400" cy="533400"/>
            <a:chOff x="1584" y="816"/>
            <a:chExt cx="912" cy="816"/>
          </a:xfrm>
        </p:grpSpPr>
        <p:sp>
          <p:nvSpPr>
            <p:cNvPr id="57"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5"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6" name="Group 3"/>
          <p:cNvGrpSpPr>
            <a:grpSpLocks/>
          </p:cNvGrpSpPr>
          <p:nvPr/>
        </p:nvGrpSpPr>
        <p:grpSpPr bwMode="auto">
          <a:xfrm>
            <a:off x="717373" y="4531774"/>
            <a:ext cx="533400" cy="533400"/>
            <a:chOff x="1584" y="816"/>
            <a:chExt cx="912" cy="816"/>
          </a:xfrm>
        </p:grpSpPr>
        <p:sp>
          <p:nvSpPr>
            <p:cNvPr id="67"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8"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69"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0"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1"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2"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3"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Tree>
    <p:extLst>
      <p:ext uri="{BB962C8B-B14F-4D97-AF65-F5344CB8AC3E}">
        <p14:creationId xmlns:p14="http://schemas.microsoft.com/office/powerpoint/2010/main" val="312754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8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8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nimBg="1"/>
      <p:bldP spid="76829"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0"/>
          </p:nvPr>
        </p:nvSpPr>
        <p:spPr/>
        <p:txBody>
          <a:bodyPr/>
          <a:lstStyle/>
          <a:p>
            <a:pPr>
              <a:defRPr/>
            </a:pPr>
            <a:r>
              <a:rPr lang="en-US"/>
              <a:t>Art of Multiprocessor Programming</a:t>
            </a:r>
          </a:p>
        </p:txBody>
      </p:sp>
      <p:sp>
        <p:nvSpPr>
          <p:cNvPr id="13" name="Slide Number Placeholder 5"/>
          <p:cNvSpPr>
            <a:spLocks noGrp="1"/>
          </p:cNvSpPr>
          <p:nvPr>
            <p:ph type="sldNum" sz="quarter" idx="11"/>
          </p:nvPr>
        </p:nvSpPr>
        <p:spPr/>
        <p:txBody>
          <a:bodyPr/>
          <a:lstStyle/>
          <a:p>
            <a:pPr>
              <a:defRPr/>
            </a:pPr>
            <a:fld id="{CA8FB91F-BABB-43B8-A114-AB208FA2E7F9}" type="slidenum">
              <a:rPr lang="en-US"/>
              <a:pPr>
                <a:defRPr/>
              </a:pPr>
              <a:t>117</a:t>
            </a:fld>
            <a:endParaRPr lang="en-US"/>
          </a:p>
        </p:txBody>
      </p:sp>
      <p:sp>
        <p:nvSpPr>
          <p:cNvPr id="117764" name="Rectangle 2"/>
          <p:cNvSpPr>
            <a:spLocks noGrp="1" noChangeArrowheads="1"/>
          </p:cNvSpPr>
          <p:nvPr>
            <p:ph type="title"/>
          </p:nvPr>
        </p:nvSpPr>
        <p:spPr/>
        <p:txBody>
          <a:bodyPr/>
          <a:lstStyle/>
          <a:p>
            <a:r>
              <a:rPr lang="en-US"/>
              <a:t>A Balancer</a:t>
            </a:r>
          </a:p>
        </p:txBody>
      </p:sp>
      <p:sp>
        <p:nvSpPr>
          <p:cNvPr id="117765" name="Line 3"/>
          <p:cNvSpPr>
            <a:spLocks noChangeShapeType="1"/>
          </p:cNvSpPr>
          <p:nvPr/>
        </p:nvSpPr>
        <p:spPr bwMode="auto">
          <a:xfrm>
            <a:off x="3313113" y="3135313"/>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7766" name="Line 4"/>
          <p:cNvSpPr>
            <a:spLocks noChangeShapeType="1"/>
          </p:cNvSpPr>
          <p:nvPr/>
        </p:nvSpPr>
        <p:spPr bwMode="auto">
          <a:xfrm>
            <a:off x="3311525" y="4451350"/>
            <a:ext cx="2554288"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7767" name="AutoShape 5"/>
          <p:cNvSpPr>
            <a:spLocks noChangeArrowheads="1"/>
          </p:cNvSpPr>
          <p:nvPr/>
        </p:nvSpPr>
        <p:spPr bwMode="auto">
          <a:xfrm>
            <a:off x="4297363" y="2727325"/>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17768" name="AutoShape 6"/>
          <p:cNvSpPr>
            <a:spLocks noChangeArrowheads="1"/>
          </p:cNvSpPr>
          <p:nvPr/>
        </p:nvSpPr>
        <p:spPr bwMode="auto">
          <a:xfrm>
            <a:off x="2667000" y="3049588"/>
            <a:ext cx="3810000" cy="1447800"/>
          </a:xfrm>
          <a:prstGeom prst="bracePair">
            <a:avLst>
              <a:gd name="adj" fmla="val 16667"/>
            </a:avLst>
          </a:prstGeom>
          <a:noFill/>
          <a:ln w="38100">
            <a:solidFill>
              <a:schemeClr val="accent1"/>
            </a:solidFill>
            <a:round/>
            <a:headEnd/>
            <a:tailEnd/>
          </a:ln>
        </p:spPr>
        <p:txBody>
          <a:bodyPr wrap="none" anchor="ctr"/>
          <a:lstStyle/>
          <a:p>
            <a:endParaRPr lang="en-US" dirty="0">
              <a:latin typeface="Courier New" pitchFamily="49" charset="0"/>
            </a:endParaRPr>
          </a:p>
        </p:txBody>
      </p:sp>
      <p:sp>
        <p:nvSpPr>
          <p:cNvPr id="117769" name="Text Box 7"/>
          <p:cNvSpPr txBox="1">
            <a:spLocks noChangeArrowheads="1"/>
          </p:cNvSpPr>
          <p:nvPr/>
        </p:nvSpPr>
        <p:spPr bwMode="auto">
          <a:xfrm>
            <a:off x="1108376" y="3113356"/>
            <a:ext cx="1382110" cy="1323439"/>
          </a:xfrm>
          <a:prstGeom prst="rect">
            <a:avLst/>
          </a:prstGeom>
          <a:noFill/>
          <a:ln w="9525">
            <a:noFill/>
            <a:miter lim="800000"/>
            <a:headEnd/>
            <a:tailEnd/>
          </a:ln>
        </p:spPr>
        <p:txBody>
          <a:bodyPr wrap="none" anchor="ctr">
            <a:spAutoFit/>
          </a:bodyPr>
          <a:lstStyle/>
          <a:p>
            <a:pPr algn="ctr">
              <a:spcBef>
                <a:spcPct val="0"/>
              </a:spcBef>
            </a:pPr>
            <a:r>
              <a:rPr lang="en-US" sz="4000" b="0" dirty="0">
                <a:solidFill>
                  <a:schemeClr val="accent1"/>
                </a:solidFill>
                <a:latin typeface="Arial" pitchFamily="34" charset="0"/>
                <a:cs typeface="Arial" pitchFamily="34" charset="0"/>
              </a:rPr>
              <a:t>Input</a:t>
            </a:r>
          </a:p>
          <a:p>
            <a:pPr algn="ctr">
              <a:spcBef>
                <a:spcPct val="0"/>
              </a:spcBef>
            </a:pPr>
            <a:r>
              <a:rPr lang="en-US" sz="4000" b="0" dirty="0">
                <a:solidFill>
                  <a:schemeClr val="accent1"/>
                </a:solidFill>
                <a:latin typeface="Arial" pitchFamily="34" charset="0"/>
                <a:cs typeface="Arial" pitchFamily="34" charset="0"/>
              </a:rPr>
              <a:t>wires</a:t>
            </a:r>
          </a:p>
        </p:txBody>
      </p:sp>
      <p:sp>
        <p:nvSpPr>
          <p:cNvPr id="117770" name="Text Box 8"/>
          <p:cNvSpPr txBox="1">
            <a:spLocks noChangeArrowheads="1"/>
          </p:cNvSpPr>
          <p:nvPr/>
        </p:nvSpPr>
        <p:spPr bwMode="auto">
          <a:xfrm>
            <a:off x="6622487" y="3113356"/>
            <a:ext cx="1725151" cy="1323439"/>
          </a:xfrm>
          <a:prstGeom prst="rect">
            <a:avLst/>
          </a:prstGeom>
          <a:noFill/>
          <a:ln w="9525">
            <a:noFill/>
            <a:miter lim="800000"/>
            <a:headEnd/>
            <a:tailEnd/>
          </a:ln>
        </p:spPr>
        <p:txBody>
          <a:bodyPr wrap="none" anchor="ctr">
            <a:spAutoFit/>
          </a:bodyPr>
          <a:lstStyle/>
          <a:p>
            <a:pPr algn="ctr">
              <a:spcBef>
                <a:spcPct val="0"/>
              </a:spcBef>
            </a:pPr>
            <a:r>
              <a:rPr lang="en-US" sz="4000" b="0" dirty="0">
                <a:solidFill>
                  <a:schemeClr val="accent1"/>
                </a:solidFill>
                <a:latin typeface="Arial" pitchFamily="34" charset="0"/>
                <a:cs typeface="Arial" pitchFamily="34" charset="0"/>
              </a:rPr>
              <a:t>Output</a:t>
            </a:r>
          </a:p>
          <a:p>
            <a:pPr algn="ctr">
              <a:spcBef>
                <a:spcPct val="0"/>
              </a:spcBef>
            </a:pPr>
            <a:r>
              <a:rPr lang="en-US" sz="4000" b="0" dirty="0">
                <a:solidFill>
                  <a:schemeClr val="accent1"/>
                </a:solidFill>
                <a:latin typeface="Arial" pitchFamily="34" charset="0"/>
                <a:cs typeface="Arial" pitchFamily="34" charset="0"/>
              </a:rPr>
              <a:t>wires</a:t>
            </a:r>
          </a:p>
        </p:txBody>
      </p:sp>
      <p:sp>
        <p:nvSpPr>
          <p:cNvPr id="117771" name="Oval 9"/>
          <p:cNvSpPr>
            <a:spLocks noChangeArrowheads="1"/>
          </p:cNvSpPr>
          <p:nvPr/>
        </p:nvSpPr>
        <p:spPr bwMode="auto">
          <a:xfrm>
            <a:off x="4375150" y="2959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17772" name="Oval 10"/>
          <p:cNvSpPr>
            <a:spLocks noChangeArrowheads="1"/>
          </p:cNvSpPr>
          <p:nvPr/>
        </p:nvSpPr>
        <p:spPr bwMode="auto">
          <a:xfrm>
            <a:off x="4375150" y="4254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17773" name="Line 11"/>
          <p:cNvSpPr>
            <a:spLocks noChangeShapeType="1"/>
          </p:cNvSpPr>
          <p:nvPr/>
        </p:nvSpPr>
        <p:spPr bwMode="auto">
          <a:xfrm>
            <a:off x="4419600" y="3148013"/>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4"/>
          <p:cNvSpPr>
            <a:spLocks noGrp="1"/>
          </p:cNvSpPr>
          <p:nvPr>
            <p:ph type="ftr" sz="quarter" idx="10"/>
          </p:nvPr>
        </p:nvSpPr>
        <p:spPr/>
        <p:txBody>
          <a:bodyPr/>
          <a:lstStyle/>
          <a:p>
            <a:pPr>
              <a:defRPr/>
            </a:pPr>
            <a:r>
              <a:rPr lang="en-US"/>
              <a:t>Art of Multiprocessor Programming</a:t>
            </a:r>
          </a:p>
        </p:txBody>
      </p:sp>
      <p:sp>
        <p:nvSpPr>
          <p:cNvPr id="21" name="Slide Number Placeholder 5"/>
          <p:cNvSpPr>
            <a:spLocks noGrp="1"/>
          </p:cNvSpPr>
          <p:nvPr>
            <p:ph type="sldNum" sz="quarter" idx="11"/>
          </p:nvPr>
        </p:nvSpPr>
        <p:spPr/>
        <p:txBody>
          <a:bodyPr/>
          <a:lstStyle/>
          <a:p>
            <a:pPr>
              <a:defRPr/>
            </a:pPr>
            <a:fld id="{B7F15EA2-BF88-4B97-8AD8-4C0321DD5E58}" type="slidenum">
              <a:rPr lang="en-US"/>
              <a:pPr>
                <a:defRPr/>
              </a:pPr>
              <a:t>118</a:t>
            </a:fld>
            <a:endParaRPr lang="en-US"/>
          </a:p>
        </p:txBody>
      </p:sp>
      <p:grpSp>
        <p:nvGrpSpPr>
          <p:cNvPr id="118788" name="Group 2"/>
          <p:cNvGrpSpPr>
            <a:grpSpLocks/>
          </p:cNvGrpSpPr>
          <p:nvPr/>
        </p:nvGrpSpPr>
        <p:grpSpPr bwMode="auto">
          <a:xfrm>
            <a:off x="1978025" y="2336800"/>
            <a:ext cx="1377950" cy="423863"/>
            <a:chOff x="1313" y="2496"/>
            <a:chExt cx="1252" cy="427"/>
          </a:xfrm>
        </p:grpSpPr>
        <p:sp>
          <p:nvSpPr>
            <p:cNvPr id="118802"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8803"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8804"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8805"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18789" name="Rectangle 7"/>
          <p:cNvSpPr>
            <a:spLocks noGrp="1" noChangeArrowheads="1"/>
          </p:cNvSpPr>
          <p:nvPr>
            <p:ph type="title"/>
          </p:nvPr>
        </p:nvSpPr>
        <p:spPr/>
        <p:txBody>
          <a:bodyPr/>
          <a:lstStyle/>
          <a:p>
            <a:r>
              <a:rPr lang="en-US"/>
              <a:t>Tokens Traverse Balancers</a:t>
            </a:r>
          </a:p>
        </p:txBody>
      </p:sp>
      <p:sp>
        <p:nvSpPr>
          <p:cNvPr id="118790" name="Line 8"/>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8791" name="Line 9"/>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8792" name="AutoShape 10"/>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18793" name="Rectangle 11"/>
          <p:cNvSpPr>
            <a:spLocks noGrp="1" noChangeArrowheads="1"/>
          </p:cNvSpPr>
          <p:nvPr>
            <p:ph type="body" sz="half" idx="2"/>
          </p:nvPr>
        </p:nvSpPr>
        <p:spPr>
          <a:xfrm>
            <a:off x="927100" y="4818063"/>
            <a:ext cx="7556500" cy="1031875"/>
          </a:xfrm>
          <a:noFill/>
        </p:spPr>
        <p:txBody>
          <a:bodyPr>
            <a:spAutoFit/>
          </a:bodyPr>
          <a:lstStyle/>
          <a:p>
            <a:r>
              <a:rPr lang="en-US" sz="2800"/>
              <a:t>Token </a:t>
            </a:r>
            <a:r>
              <a:rPr lang="en-US" sz="2800">
                <a:solidFill>
                  <a:schemeClr val="tx1"/>
                </a:solidFill>
              </a:rPr>
              <a:t>i</a:t>
            </a:r>
            <a:r>
              <a:rPr lang="en-US" sz="2800"/>
              <a:t> enters on any wire</a:t>
            </a:r>
          </a:p>
          <a:p>
            <a:r>
              <a:rPr lang="en-US" sz="2800"/>
              <a:t>leaves on wire </a:t>
            </a:r>
            <a:r>
              <a:rPr lang="en-US" sz="2800">
                <a:solidFill>
                  <a:schemeClr val="tx1"/>
                </a:solidFill>
              </a:rPr>
              <a:t>i (mod 2)</a:t>
            </a:r>
            <a:endParaRPr lang="en-US" sz="2800"/>
          </a:p>
        </p:txBody>
      </p:sp>
      <p:sp>
        <p:nvSpPr>
          <p:cNvPr id="740369" name="Line 17"/>
          <p:cNvSpPr>
            <a:spLocks noChangeShapeType="1"/>
          </p:cNvSpPr>
          <p:nvPr/>
        </p:nvSpPr>
        <p:spPr bwMode="auto">
          <a:xfrm>
            <a:off x="4419600" y="251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18795" name="Oval 18"/>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18796" name="Oval 19"/>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grpSp>
        <p:nvGrpSpPr>
          <p:cNvPr id="3" name="Group 12"/>
          <p:cNvGrpSpPr>
            <a:grpSpLocks/>
          </p:cNvGrpSpPr>
          <p:nvPr/>
        </p:nvGrpSpPr>
        <p:grpSpPr bwMode="auto">
          <a:xfrm>
            <a:off x="1990725" y="2336800"/>
            <a:ext cx="1377950" cy="423863"/>
            <a:chOff x="1313" y="2496"/>
            <a:chExt cx="1252" cy="427"/>
          </a:xfrm>
        </p:grpSpPr>
        <p:sp>
          <p:nvSpPr>
            <p:cNvPr id="118798" name="Freeform 1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8799" name="Freeform 1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8800" name="Oval 1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8801" name="Oval 1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138 2.22222E-6 L 0.4 2.22222E-6 " pathEditMode="relative" rAng="0" ptsTypes="AA">
                                      <p:cBhvr>
                                        <p:cTn id="6" dur="2000" fill="hold"/>
                                        <p:tgtEl>
                                          <p:spTgt spid="3"/>
                                        </p:tgtEl>
                                        <p:attrNameLst>
                                          <p:attrName>ppt_x</p:attrName>
                                          <p:attrName>ppt_y</p:attrName>
                                        </p:attrNameLst>
                                      </p:cBhvr>
                                      <p:rCtr x="199" y="0"/>
                                    </p:animMotion>
                                  </p:childTnLst>
                                </p:cTn>
                              </p:par>
                            </p:childTnLst>
                          </p:cTn>
                        </p:par>
                        <p:par>
                          <p:cTn id="7" fill="hold">
                            <p:stCondLst>
                              <p:cond delay="2000"/>
                            </p:stCondLst>
                            <p:childTnLst>
                              <p:par>
                                <p:cTn id="8" presetID="0" presetClass="path" presetSubtype="0" accel="50000" decel="50000" fill="hold" grpId="0" nodeType="afterEffect">
                                  <p:stCondLst>
                                    <p:cond delay="0"/>
                                  </p:stCondLst>
                                  <p:childTnLst>
                                    <p:animMotion origin="layout" path="M -0.00556 0.0074 L -0.00556 0.19259 " pathEditMode="relative" ptsTypes="AA">
                                      <p:cBhvr>
                                        <p:cTn id="9" dur="2000" fill="hold"/>
                                        <p:tgtEl>
                                          <p:spTgt spid="74036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69"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4"/>
          <p:cNvSpPr>
            <a:spLocks noGrp="1"/>
          </p:cNvSpPr>
          <p:nvPr>
            <p:ph type="ftr" sz="quarter" idx="10"/>
          </p:nvPr>
        </p:nvSpPr>
        <p:spPr/>
        <p:txBody>
          <a:bodyPr/>
          <a:lstStyle/>
          <a:p>
            <a:pPr>
              <a:defRPr/>
            </a:pPr>
            <a:r>
              <a:rPr lang="en-US"/>
              <a:t>Art of Multiprocessor Programming</a:t>
            </a:r>
          </a:p>
        </p:txBody>
      </p:sp>
      <p:sp>
        <p:nvSpPr>
          <p:cNvPr id="30" name="Slide Number Placeholder 5"/>
          <p:cNvSpPr>
            <a:spLocks noGrp="1"/>
          </p:cNvSpPr>
          <p:nvPr>
            <p:ph type="sldNum" sz="quarter" idx="11"/>
          </p:nvPr>
        </p:nvSpPr>
        <p:spPr/>
        <p:txBody>
          <a:bodyPr/>
          <a:lstStyle/>
          <a:p>
            <a:pPr>
              <a:defRPr/>
            </a:pPr>
            <a:fld id="{34AFD9EB-E3A4-4D47-9FD2-3BE108D0697F}" type="slidenum">
              <a:rPr lang="en-US"/>
              <a:pPr>
                <a:defRPr/>
              </a:pPr>
              <a:t>119</a:t>
            </a:fld>
            <a:endParaRPr lang="en-US"/>
          </a:p>
        </p:txBody>
      </p:sp>
      <p:grpSp>
        <p:nvGrpSpPr>
          <p:cNvPr id="119812" name="Group 2"/>
          <p:cNvGrpSpPr>
            <a:grpSpLocks/>
          </p:cNvGrpSpPr>
          <p:nvPr/>
        </p:nvGrpSpPr>
        <p:grpSpPr bwMode="auto">
          <a:xfrm>
            <a:off x="1990725" y="3556000"/>
            <a:ext cx="1377950" cy="423863"/>
            <a:chOff x="1313" y="2496"/>
            <a:chExt cx="1252" cy="427"/>
          </a:xfrm>
        </p:grpSpPr>
        <p:sp>
          <p:nvSpPr>
            <p:cNvPr id="119835"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6"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7"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8"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19813" name="Group 7"/>
          <p:cNvGrpSpPr>
            <a:grpSpLocks/>
          </p:cNvGrpSpPr>
          <p:nvPr/>
        </p:nvGrpSpPr>
        <p:grpSpPr bwMode="auto">
          <a:xfrm>
            <a:off x="1965325" y="2336800"/>
            <a:ext cx="1377950" cy="423863"/>
            <a:chOff x="1313" y="2496"/>
            <a:chExt cx="1252" cy="427"/>
          </a:xfrm>
        </p:grpSpPr>
        <p:sp>
          <p:nvSpPr>
            <p:cNvPr id="119831" name="Freeform 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2" name="Freeform 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3" name="Oval 1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4" name="Oval 1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19814" name="Rectangle 12"/>
          <p:cNvSpPr>
            <a:spLocks noGrp="1" noChangeArrowheads="1"/>
          </p:cNvSpPr>
          <p:nvPr>
            <p:ph type="title"/>
          </p:nvPr>
        </p:nvSpPr>
        <p:spPr/>
        <p:txBody>
          <a:bodyPr/>
          <a:lstStyle/>
          <a:p>
            <a:r>
              <a:rPr lang="en-US"/>
              <a:t>Tokens Traverse Balancers</a:t>
            </a:r>
          </a:p>
        </p:txBody>
      </p:sp>
      <p:sp>
        <p:nvSpPr>
          <p:cNvPr id="119815" name="Line 13"/>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9816" name="Line 14"/>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9817" name="AutoShape 15"/>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19818" name="Group 16"/>
          <p:cNvGrpSpPr>
            <a:grpSpLocks/>
          </p:cNvGrpSpPr>
          <p:nvPr/>
        </p:nvGrpSpPr>
        <p:grpSpPr bwMode="auto">
          <a:xfrm>
            <a:off x="5724525" y="2336800"/>
            <a:ext cx="1377950" cy="423863"/>
            <a:chOff x="1313" y="2496"/>
            <a:chExt cx="1252" cy="427"/>
          </a:xfrm>
        </p:grpSpPr>
        <p:sp>
          <p:nvSpPr>
            <p:cNvPr id="119827" name="Freeform 1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8" name="Freeform 1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9" name="Oval 1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30" name="Oval 2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42421" name="Line 21"/>
          <p:cNvSpPr>
            <a:spLocks noChangeShapeType="1"/>
          </p:cNvSpPr>
          <p:nvPr/>
        </p:nvSpPr>
        <p:spPr bwMode="auto">
          <a:xfrm>
            <a:off x="4419600" y="3759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5" name="Group 22"/>
          <p:cNvGrpSpPr>
            <a:grpSpLocks/>
          </p:cNvGrpSpPr>
          <p:nvPr/>
        </p:nvGrpSpPr>
        <p:grpSpPr bwMode="auto">
          <a:xfrm>
            <a:off x="2003425" y="3556000"/>
            <a:ext cx="1377950" cy="423863"/>
            <a:chOff x="1313" y="2496"/>
            <a:chExt cx="1252" cy="427"/>
          </a:xfrm>
        </p:grpSpPr>
        <p:sp>
          <p:nvSpPr>
            <p:cNvPr id="119823" name="Freeform 2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4" name="Freeform 2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5" name="Oval 2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6" name="Oval 2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19821" name="Oval 27"/>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19822" name="Oval 28"/>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138 2.22222E-6 L 0.4 2.22222E-6 " pathEditMode="relative" rAng="0" ptsTypes="AA">
                                      <p:cBhvr>
                                        <p:cTn id="6" dur="2000" fill="hold"/>
                                        <p:tgtEl>
                                          <p:spTgt spid="5"/>
                                        </p:tgtEl>
                                        <p:attrNameLst>
                                          <p:attrName>ppt_x</p:attrName>
                                          <p:attrName>ppt_y</p:attrName>
                                        </p:attrNameLst>
                                      </p:cBhvr>
                                      <p:rCtr x="199" y="0"/>
                                    </p:animMotion>
                                  </p:childTnLst>
                                </p:cTn>
                              </p:par>
                              <p:par>
                                <p:cTn id="7" presetID="0" presetClass="path" presetSubtype="0" accel="50000" decel="50000" fill="hold" grpId="0" nodeType="withEffect">
                                  <p:stCondLst>
                                    <p:cond delay="0"/>
                                  </p:stCondLst>
                                  <p:childTnLst>
                                    <p:animMotion origin="layout" path="M -0.00556 -0.00185 L -0.00556 -0.17778 " pathEditMode="relative" ptsTypes="AA">
                                      <p:cBhvr>
                                        <p:cTn id="8" dur="2000" fill="hold"/>
                                        <p:tgtEl>
                                          <p:spTgt spid="74242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21"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4"/>
          <p:cNvSpPr>
            <a:spLocks noGrp="1"/>
          </p:cNvSpPr>
          <p:nvPr>
            <p:ph type="ftr" sz="quarter" idx="10"/>
          </p:nvPr>
        </p:nvSpPr>
        <p:spPr/>
        <p:txBody>
          <a:bodyPr/>
          <a:lstStyle/>
          <a:p>
            <a:pPr>
              <a:defRPr/>
            </a:pPr>
            <a:r>
              <a:rPr lang="en-US"/>
              <a:t>Art of Multiprocessor Programming</a:t>
            </a:r>
          </a:p>
        </p:txBody>
      </p:sp>
      <p:sp>
        <p:nvSpPr>
          <p:cNvPr id="40" name="Slide Number Placeholder 5"/>
          <p:cNvSpPr>
            <a:spLocks noGrp="1"/>
          </p:cNvSpPr>
          <p:nvPr>
            <p:ph type="sldNum" sz="quarter" idx="11"/>
          </p:nvPr>
        </p:nvSpPr>
        <p:spPr/>
        <p:txBody>
          <a:bodyPr/>
          <a:lstStyle/>
          <a:p>
            <a:pPr>
              <a:defRPr/>
            </a:pPr>
            <a:fld id="{2733952E-8B85-406A-9B4F-A616FDA1EA1F}" type="slidenum">
              <a:rPr lang="en-US"/>
              <a:pPr>
                <a:defRPr/>
              </a:pPr>
              <a:t>120</a:t>
            </a:fld>
            <a:endParaRPr lang="en-US"/>
          </a:p>
        </p:txBody>
      </p:sp>
      <p:grpSp>
        <p:nvGrpSpPr>
          <p:cNvPr id="120836" name="Group 2"/>
          <p:cNvGrpSpPr>
            <a:grpSpLocks/>
          </p:cNvGrpSpPr>
          <p:nvPr/>
        </p:nvGrpSpPr>
        <p:grpSpPr bwMode="auto">
          <a:xfrm>
            <a:off x="1990725" y="3556000"/>
            <a:ext cx="1377950" cy="423863"/>
            <a:chOff x="1313" y="2496"/>
            <a:chExt cx="1252" cy="427"/>
          </a:xfrm>
        </p:grpSpPr>
        <p:sp>
          <p:nvSpPr>
            <p:cNvPr id="120869"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70"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71"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72"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0837" name="Group 7"/>
          <p:cNvGrpSpPr>
            <a:grpSpLocks/>
          </p:cNvGrpSpPr>
          <p:nvPr/>
        </p:nvGrpSpPr>
        <p:grpSpPr bwMode="auto">
          <a:xfrm>
            <a:off x="1965325" y="2336800"/>
            <a:ext cx="1377950" cy="423863"/>
            <a:chOff x="1313" y="2496"/>
            <a:chExt cx="1252" cy="427"/>
          </a:xfrm>
        </p:grpSpPr>
        <p:sp>
          <p:nvSpPr>
            <p:cNvPr id="120865" name="Freeform 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66" name="Freeform 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67" name="Oval 1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68" name="Oval 1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0838" name="Rectangle 12"/>
          <p:cNvSpPr>
            <a:spLocks noGrp="1" noChangeArrowheads="1"/>
          </p:cNvSpPr>
          <p:nvPr>
            <p:ph type="title"/>
          </p:nvPr>
        </p:nvSpPr>
        <p:spPr/>
        <p:txBody>
          <a:bodyPr/>
          <a:lstStyle/>
          <a:p>
            <a:r>
              <a:rPr lang="en-US"/>
              <a:t>Tokens Traverse Balancers</a:t>
            </a:r>
          </a:p>
        </p:txBody>
      </p:sp>
      <p:sp>
        <p:nvSpPr>
          <p:cNvPr id="120839" name="Line 13"/>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0840" name="Line 14"/>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0841" name="AutoShape 15"/>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20842" name="Group 16"/>
          <p:cNvGrpSpPr>
            <a:grpSpLocks/>
          </p:cNvGrpSpPr>
          <p:nvPr/>
        </p:nvGrpSpPr>
        <p:grpSpPr bwMode="auto">
          <a:xfrm>
            <a:off x="5724525" y="2336800"/>
            <a:ext cx="1377950" cy="423863"/>
            <a:chOff x="1313" y="2496"/>
            <a:chExt cx="1252" cy="427"/>
          </a:xfrm>
        </p:grpSpPr>
        <p:sp>
          <p:nvSpPr>
            <p:cNvPr id="120861" name="Freeform 1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62" name="Freeform 1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63" name="Oval 1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64" name="Oval 2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44469" name="Line 21"/>
          <p:cNvSpPr>
            <a:spLocks noChangeShapeType="1"/>
          </p:cNvSpPr>
          <p:nvPr/>
        </p:nvSpPr>
        <p:spPr bwMode="auto">
          <a:xfrm>
            <a:off x="4419600" y="251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20844" name="Group 22"/>
          <p:cNvGrpSpPr>
            <a:grpSpLocks/>
          </p:cNvGrpSpPr>
          <p:nvPr/>
        </p:nvGrpSpPr>
        <p:grpSpPr bwMode="auto">
          <a:xfrm>
            <a:off x="5737225" y="3556000"/>
            <a:ext cx="1377950" cy="423863"/>
            <a:chOff x="1313" y="2496"/>
            <a:chExt cx="1252" cy="427"/>
          </a:xfrm>
        </p:grpSpPr>
        <p:sp>
          <p:nvSpPr>
            <p:cNvPr id="120857" name="Freeform 2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8" name="Freeform 2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9" name="Oval 2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60" name="Oval 2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0845" name="Group 27"/>
          <p:cNvGrpSpPr>
            <a:grpSpLocks/>
          </p:cNvGrpSpPr>
          <p:nvPr/>
        </p:nvGrpSpPr>
        <p:grpSpPr bwMode="auto">
          <a:xfrm>
            <a:off x="2143125" y="3708400"/>
            <a:ext cx="1377950" cy="423863"/>
            <a:chOff x="1313" y="2496"/>
            <a:chExt cx="1252" cy="427"/>
          </a:xfrm>
        </p:grpSpPr>
        <p:sp>
          <p:nvSpPr>
            <p:cNvPr id="120853" name="Freeform 2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54" name="Freeform 2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55" name="Oval 3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56" name="Oval 3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7" name="Group 32"/>
          <p:cNvGrpSpPr>
            <a:grpSpLocks/>
          </p:cNvGrpSpPr>
          <p:nvPr/>
        </p:nvGrpSpPr>
        <p:grpSpPr bwMode="auto">
          <a:xfrm>
            <a:off x="2143125" y="3708400"/>
            <a:ext cx="1377950" cy="423863"/>
            <a:chOff x="1313" y="2496"/>
            <a:chExt cx="1252" cy="427"/>
          </a:xfrm>
        </p:grpSpPr>
        <p:sp>
          <p:nvSpPr>
            <p:cNvPr id="12084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0847" name="Oval 37"/>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0848" name="Oval 38"/>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3611 -0.00741 C 0.0316 0.00879 0.09948 0.02523 0.13195 -0.00926 C 0.16441 -0.04375 0.11268 -0.1882 0.15834 -0.21482 C 0.204 -0.24144 0.30469 -0.20509 0.40556 -0.16852 " pathEditMode="relative" rAng="0" ptsTypes="aaaA">
                                      <p:cBhvr>
                                        <p:cTn id="6" dur="2000" fill="hold"/>
                                        <p:tgtEl>
                                          <p:spTgt spid="7"/>
                                        </p:tgtEl>
                                        <p:attrNameLst>
                                          <p:attrName>ppt_x</p:attrName>
                                          <p:attrName>ppt_y</p:attrName>
                                        </p:attrNameLst>
                                      </p:cBhvr>
                                      <p:rCtr x="221" y="-101"/>
                                    </p:animMotion>
                                  </p:childTnLst>
                                </p:cTn>
                              </p:par>
                              <p:par>
                                <p:cTn id="7" presetID="0" presetClass="path" presetSubtype="0" accel="50000" decel="50000" fill="hold" grpId="0" nodeType="withEffect">
                                  <p:stCondLst>
                                    <p:cond delay="0"/>
                                  </p:stCondLst>
                                  <p:childTnLst>
                                    <p:animMotion origin="layout" path="M -0.00417 0.0037 L -0.00417 0.18148 " pathEditMode="relative" rAng="0" ptsTypes="AA">
                                      <p:cBhvr>
                                        <p:cTn id="8" dur="2000" fill="hold"/>
                                        <p:tgtEl>
                                          <p:spTgt spid="744469"/>
                                        </p:tgtEl>
                                        <p:attrNameLst>
                                          <p:attrName>ppt_x</p:attrName>
                                          <p:attrName>ppt_y</p:attrName>
                                        </p:attrNameLst>
                                      </p:cBhvr>
                                      <p:rCtr x="0" y="8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4469"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ooter Placeholder 4"/>
          <p:cNvSpPr>
            <a:spLocks noGrp="1"/>
          </p:cNvSpPr>
          <p:nvPr>
            <p:ph type="ftr" sz="quarter" idx="10"/>
          </p:nvPr>
        </p:nvSpPr>
        <p:spPr/>
        <p:txBody>
          <a:bodyPr/>
          <a:lstStyle/>
          <a:p>
            <a:pPr>
              <a:defRPr/>
            </a:pPr>
            <a:r>
              <a:rPr lang="en-US"/>
              <a:t>Art of Multiprocessor Programming</a:t>
            </a:r>
          </a:p>
        </p:txBody>
      </p:sp>
      <p:sp>
        <p:nvSpPr>
          <p:cNvPr id="50" name="Slide Number Placeholder 5"/>
          <p:cNvSpPr>
            <a:spLocks noGrp="1"/>
          </p:cNvSpPr>
          <p:nvPr>
            <p:ph type="sldNum" sz="quarter" idx="11"/>
          </p:nvPr>
        </p:nvSpPr>
        <p:spPr/>
        <p:txBody>
          <a:bodyPr/>
          <a:lstStyle/>
          <a:p>
            <a:pPr>
              <a:defRPr/>
            </a:pPr>
            <a:fld id="{0DD9153A-F12E-482A-B83E-ABFD7ABB273F}" type="slidenum">
              <a:rPr lang="en-US"/>
              <a:pPr>
                <a:defRPr/>
              </a:pPr>
              <a:t>121</a:t>
            </a:fld>
            <a:endParaRPr lang="en-US"/>
          </a:p>
        </p:txBody>
      </p:sp>
      <p:grpSp>
        <p:nvGrpSpPr>
          <p:cNvPr id="121860" name="Group 2"/>
          <p:cNvGrpSpPr>
            <a:grpSpLocks/>
          </p:cNvGrpSpPr>
          <p:nvPr/>
        </p:nvGrpSpPr>
        <p:grpSpPr bwMode="auto">
          <a:xfrm>
            <a:off x="2295525" y="3860800"/>
            <a:ext cx="1377950" cy="423863"/>
            <a:chOff x="1313" y="2496"/>
            <a:chExt cx="1252" cy="427"/>
          </a:xfrm>
        </p:grpSpPr>
        <p:sp>
          <p:nvSpPr>
            <p:cNvPr id="121903"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4"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5"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6"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1861" name="Group 7"/>
          <p:cNvGrpSpPr>
            <a:grpSpLocks/>
          </p:cNvGrpSpPr>
          <p:nvPr/>
        </p:nvGrpSpPr>
        <p:grpSpPr bwMode="auto">
          <a:xfrm>
            <a:off x="1990725" y="3556000"/>
            <a:ext cx="1377950" cy="423863"/>
            <a:chOff x="1313" y="2496"/>
            <a:chExt cx="1252" cy="427"/>
          </a:xfrm>
        </p:grpSpPr>
        <p:sp>
          <p:nvSpPr>
            <p:cNvPr id="121899" name="Freeform 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0" name="Freeform 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1" name="Oval 1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2" name="Oval 1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1862" name="Group 12"/>
          <p:cNvGrpSpPr>
            <a:grpSpLocks/>
          </p:cNvGrpSpPr>
          <p:nvPr/>
        </p:nvGrpSpPr>
        <p:grpSpPr bwMode="auto">
          <a:xfrm>
            <a:off x="1965325" y="2336800"/>
            <a:ext cx="1377950" cy="423863"/>
            <a:chOff x="1313" y="2496"/>
            <a:chExt cx="1252" cy="427"/>
          </a:xfrm>
        </p:grpSpPr>
        <p:sp>
          <p:nvSpPr>
            <p:cNvPr id="121895" name="Freeform 1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96" name="Freeform 1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97" name="Oval 1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98" name="Oval 1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1863" name="Rectangle 17"/>
          <p:cNvSpPr>
            <a:spLocks noGrp="1" noChangeArrowheads="1"/>
          </p:cNvSpPr>
          <p:nvPr>
            <p:ph type="title"/>
          </p:nvPr>
        </p:nvSpPr>
        <p:spPr/>
        <p:txBody>
          <a:bodyPr/>
          <a:lstStyle/>
          <a:p>
            <a:r>
              <a:rPr lang="en-US"/>
              <a:t>Tokens Traverse Balancers</a:t>
            </a:r>
          </a:p>
        </p:txBody>
      </p:sp>
      <p:sp>
        <p:nvSpPr>
          <p:cNvPr id="121864" name="Line 18"/>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1865" name="Line 19"/>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1866" name="AutoShape 20"/>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21867" name="Group 21"/>
          <p:cNvGrpSpPr>
            <a:grpSpLocks/>
          </p:cNvGrpSpPr>
          <p:nvPr/>
        </p:nvGrpSpPr>
        <p:grpSpPr bwMode="auto">
          <a:xfrm>
            <a:off x="5724525" y="2336800"/>
            <a:ext cx="1377950" cy="423863"/>
            <a:chOff x="1313" y="2496"/>
            <a:chExt cx="1252" cy="427"/>
          </a:xfrm>
        </p:grpSpPr>
        <p:sp>
          <p:nvSpPr>
            <p:cNvPr id="121891" name="Freeform 2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92" name="Freeform 2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93" name="Oval 2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94" name="Oval 2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46522" name="Line 26"/>
          <p:cNvSpPr>
            <a:spLocks noChangeShapeType="1"/>
          </p:cNvSpPr>
          <p:nvPr/>
        </p:nvSpPr>
        <p:spPr bwMode="auto">
          <a:xfrm>
            <a:off x="4419600" y="378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21869" name="Group 27"/>
          <p:cNvGrpSpPr>
            <a:grpSpLocks/>
          </p:cNvGrpSpPr>
          <p:nvPr/>
        </p:nvGrpSpPr>
        <p:grpSpPr bwMode="auto">
          <a:xfrm>
            <a:off x="5737225" y="3556000"/>
            <a:ext cx="1377950" cy="423863"/>
            <a:chOff x="1313" y="2496"/>
            <a:chExt cx="1252" cy="427"/>
          </a:xfrm>
        </p:grpSpPr>
        <p:sp>
          <p:nvSpPr>
            <p:cNvPr id="121887" name="Freeform 2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8" name="Freeform 2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9" name="Oval 3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90" name="Oval 3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1870" name="Group 32"/>
          <p:cNvGrpSpPr>
            <a:grpSpLocks/>
          </p:cNvGrpSpPr>
          <p:nvPr/>
        </p:nvGrpSpPr>
        <p:grpSpPr bwMode="auto">
          <a:xfrm>
            <a:off x="2143125" y="3708400"/>
            <a:ext cx="1377950" cy="423863"/>
            <a:chOff x="1313" y="2496"/>
            <a:chExt cx="1252" cy="427"/>
          </a:xfrm>
        </p:grpSpPr>
        <p:sp>
          <p:nvSpPr>
            <p:cNvPr id="12188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8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85" name="Oval 3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86" name="Oval 3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1871" name="Group 37"/>
          <p:cNvGrpSpPr>
            <a:grpSpLocks/>
          </p:cNvGrpSpPr>
          <p:nvPr/>
        </p:nvGrpSpPr>
        <p:grpSpPr bwMode="auto">
          <a:xfrm>
            <a:off x="5864225" y="2565400"/>
            <a:ext cx="1377950" cy="423863"/>
            <a:chOff x="1313" y="2496"/>
            <a:chExt cx="1252" cy="427"/>
          </a:xfrm>
        </p:grpSpPr>
        <p:sp>
          <p:nvSpPr>
            <p:cNvPr id="121879" name="Freeform 3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0" name="Freeform 3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1" name="Oval 4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2" name="Oval 4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9" name="Group 42"/>
          <p:cNvGrpSpPr>
            <a:grpSpLocks/>
          </p:cNvGrpSpPr>
          <p:nvPr/>
        </p:nvGrpSpPr>
        <p:grpSpPr bwMode="auto">
          <a:xfrm>
            <a:off x="2295525" y="3860800"/>
            <a:ext cx="1377950" cy="423863"/>
            <a:chOff x="1313" y="2496"/>
            <a:chExt cx="1252" cy="427"/>
          </a:xfrm>
        </p:grpSpPr>
        <p:sp>
          <p:nvSpPr>
            <p:cNvPr id="121875" name="Freeform 4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76" name="Freeform 4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77" name="Oval 4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78" name="Oval 4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1873" name="Oval 47"/>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1874" name="Oval 48"/>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11111E-6 1.11022E-16 L 0.39167 -0.01296 " pathEditMode="relative" rAng="0" ptsTypes="AA">
                                      <p:cBhvr>
                                        <p:cTn id="6" dur="2000" fill="hold"/>
                                        <p:tgtEl>
                                          <p:spTgt spid="9"/>
                                        </p:tgtEl>
                                        <p:attrNameLst>
                                          <p:attrName>ppt_x</p:attrName>
                                          <p:attrName>ppt_y</p:attrName>
                                        </p:attrNameLst>
                                      </p:cBhvr>
                                      <p:rCtr x="19600" y="-600"/>
                                    </p:animMotion>
                                  </p:childTnLst>
                                </p:cTn>
                              </p:par>
                              <p:par>
                                <p:cTn id="7" presetID="0" presetClass="path" presetSubtype="0" accel="50000" decel="50000" fill="hold" grpId="0" nodeType="withEffect">
                                  <p:stCondLst>
                                    <p:cond delay="0"/>
                                  </p:stCondLst>
                                  <p:childTnLst>
                                    <p:animMotion origin="layout" path="M -0.00556 0.00185 L -0.00556 -0.18518 " pathEditMode="relative" ptsTypes="AA">
                                      <p:cBhvr>
                                        <p:cTn id="8" dur="2000" fill="hold"/>
                                        <p:tgtEl>
                                          <p:spTgt spid="7465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522"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ooter Placeholder 4"/>
          <p:cNvSpPr>
            <a:spLocks noGrp="1"/>
          </p:cNvSpPr>
          <p:nvPr>
            <p:ph type="ftr" sz="quarter" idx="10"/>
          </p:nvPr>
        </p:nvSpPr>
        <p:spPr/>
        <p:txBody>
          <a:bodyPr/>
          <a:lstStyle/>
          <a:p>
            <a:pPr>
              <a:defRPr/>
            </a:pPr>
            <a:r>
              <a:rPr lang="en-US"/>
              <a:t>Art of Multiprocessor Programming</a:t>
            </a:r>
          </a:p>
        </p:txBody>
      </p:sp>
      <p:sp>
        <p:nvSpPr>
          <p:cNvPr id="60" name="Slide Number Placeholder 5"/>
          <p:cNvSpPr>
            <a:spLocks noGrp="1"/>
          </p:cNvSpPr>
          <p:nvPr>
            <p:ph type="sldNum" sz="quarter" idx="11"/>
          </p:nvPr>
        </p:nvSpPr>
        <p:spPr/>
        <p:txBody>
          <a:bodyPr/>
          <a:lstStyle/>
          <a:p>
            <a:pPr>
              <a:defRPr/>
            </a:pPr>
            <a:fld id="{F489A987-81BD-4716-BF68-AFD78CF5EB10}" type="slidenum">
              <a:rPr lang="en-US"/>
              <a:pPr>
                <a:defRPr/>
              </a:pPr>
              <a:t>122</a:t>
            </a:fld>
            <a:endParaRPr lang="en-US"/>
          </a:p>
        </p:txBody>
      </p:sp>
      <p:grpSp>
        <p:nvGrpSpPr>
          <p:cNvPr id="122884" name="Group 2"/>
          <p:cNvGrpSpPr>
            <a:grpSpLocks/>
          </p:cNvGrpSpPr>
          <p:nvPr/>
        </p:nvGrpSpPr>
        <p:grpSpPr bwMode="auto">
          <a:xfrm>
            <a:off x="2295525" y="3860800"/>
            <a:ext cx="1377950" cy="423863"/>
            <a:chOff x="1313" y="2496"/>
            <a:chExt cx="1252" cy="427"/>
          </a:xfrm>
        </p:grpSpPr>
        <p:sp>
          <p:nvSpPr>
            <p:cNvPr id="122937"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8"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9"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40"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2885" name="Group 7"/>
          <p:cNvGrpSpPr>
            <a:grpSpLocks/>
          </p:cNvGrpSpPr>
          <p:nvPr/>
        </p:nvGrpSpPr>
        <p:grpSpPr bwMode="auto">
          <a:xfrm>
            <a:off x="1990725" y="3556000"/>
            <a:ext cx="1377950" cy="423863"/>
            <a:chOff x="1313" y="2496"/>
            <a:chExt cx="1252" cy="427"/>
          </a:xfrm>
        </p:grpSpPr>
        <p:sp>
          <p:nvSpPr>
            <p:cNvPr id="122933" name="Freeform 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4" name="Freeform 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5" name="Oval 1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6" name="Oval 1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2886" name="Group 12"/>
          <p:cNvGrpSpPr>
            <a:grpSpLocks/>
          </p:cNvGrpSpPr>
          <p:nvPr/>
        </p:nvGrpSpPr>
        <p:grpSpPr bwMode="auto">
          <a:xfrm>
            <a:off x="1965325" y="2336800"/>
            <a:ext cx="1377950" cy="423863"/>
            <a:chOff x="1313" y="2496"/>
            <a:chExt cx="1252" cy="427"/>
          </a:xfrm>
        </p:grpSpPr>
        <p:sp>
          <p:nvSpPr>
            <p:cNvPr id="122929" name="Freeform 1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0" name="Freeform 1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1" name="Oval 1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2" name="Oval 1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2887" name="Rectangle 17"/>
          <p:cNvSpPr>
            <a:spLocks noGrp="1" noChangeArrowheads="1"/>
          </p:cNvSpPr>
          <p:nvPr>
            <p:ph type="title"/>
          </p:nvPr>
        </p:nvSpPr>
        <p:spPr/>
        <p:txBody>
          <a:bodyPr/>
          <a:lstStyle/>
          <a:p>
            <a:r>
              <a:rPr lang="en-US"/>
              <a:t>Tokens Traverse Balancers</a:t>
            </a:r>
          </a:p>
        </p:txBody>
      </p:sp>
      <p:sp>
        <p:nvSpPr>
          <p:cNvPr id="122888" name="Line 18"/>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2889" name="Line 19"/>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2890" name="AutoShape 20"/>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22891" name="Group 21"/>
          <p:cNvGrpSpPr>
            <a:grpSpLocks/>
          </p:cNvGrpSpPr>
          <p:nvPr/>
        </p:nvGrpSpPr>
        <p:grpSpPr bwMode="auto">
          <a:xfrm>
            <a:off x="5724525" y="2336800"/>
            <a:ext cx="1377950" cy="423863"/>
            <a:chOff x="1313" y="2496"/>
            <a:chExt cx="1252" cy="427"/>
          </a:xfrm>
        </p:grpSpPr>
        <p:sp>
          <p:nvSpPr>
            <p:cNvPr id="122925" name="Freeform 2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6" name="Freeform 2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7" name="Oval 2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8" name="Oval 2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48570" name="Line 26"/>
          <p:cNvSpPr>
            <a:spLocks noChangeShapeType="1"/>
          </p:cNvSpPr>
          <p:nvPr/>
        </p:nvSpPr>
        <p:spPr bwMode="auto">
          <a:xfrm>
            <a:off x="4419600" y="251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22893" name="Group 27"/>
          <p:cNvGrpSpPr>
            <a:grpSpLocks/>
          </p:cNvGrpSpPr>
          <p:nvPr/>
        </p:nvGrpSpPr>
        <p:grpSpPr bwMode="auto">
          <a:xfrm>
            <a:off x="5737225" y="3556000"/>
            <a:ext cx="1377950" cy="423863"/>
            <a:chOff x="1313" y="2496"/>
            <a:chExt cx="1252" cy="427"/>
          </a:xfrm>
        </p:grpSpPr>
        <p:sp>
          <p:nvSpPr>
            <p:cNvPr id="122921" name="Freeform 2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2" name="Freeform 2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3" name="Oval 3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4" name="Oval 3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2894" name="Group 32"/>
          <p:cNvGrpSpPr>
            <a:grpSpLocks/>
          </p:cNvGrpSpPr>
          <p:nvPr/>
        </p:nvGrpSpPr>
        <p:grpSpPr bwMode="auto">
          <a:xfrm>
            <a:off x="2143125" y="3708400"/>
            <a:ext cx="1377950" cy="423863"/>
            <a:chOff x="1313" y="2496"/>
            <a:chExt cx="1252" cy="427"/>
          </a:xfrm>
        </p:grpSpPr>
        <p:sp>
          <p:nvSpPr>
            <p:cNvPr id="12291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1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19" name="Oval 3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20" name="Oval 3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2895" name="Group 37"/>
          <p:cNvGrpSpPr>
            <a:grpSpLocks/>
          </p:cNvGrpSpPr>
          <p:nvPr/>
        </p:nvGrpSpPr>
        <p:grpSpPr bwMode="auto">
          <a:xfrm>
            <a:off x="5870575" y="2565400"/>
            <a:ext cx="1377950" cy="423863"/>
            <a:chOff x="1313" y="2496"/>
            <a:chExt cx="1252" cy="427"/>
          </a:xfrm>
        </p:grpSpPr>
        <p:sp>
          <p:nvSpPr>
            <p:cNvPr id="122913" name="Freeform 3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4" name="Freeform 3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5" name="Oval 4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6" name="Oval 4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2896" name="Group 42"/>
          <p:cNvGrpSpPr>
            <a:grpSpLocks/>
          </p:cNvGrpSpPr>
          <p:nvPr/>
        </p:nvGrpSpPr>
        <p:grpSpPr bwMode="auto">
          <a:xfrm>
            <a:off x="5870575" y="3822700"/>
            <a:ext cx="1377950" cy="423863"/>
            <a:chOff x="1313" y="2496"/>
            <a:chExt cx="1252" cy="427"/>
          </a:xfrm>
        </p:grpSpPr>
        <p:sp>
          <p:nvSpPr>
            <p:cNvPr id="122909" name="Freeform 4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0" name="Freeform 4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1" name="Oval 4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2" name="Oval 4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2897" name="Group 47"/>
          <p:cNvGrpSpPr>
            <a:grpSpLocks/>
          </p:cNvGrpSpPr>
          <p:nvPr/>
        </p:nvGrpSpPr>
        <p:grpSpPr bwMode="auto">
          <a:xfrm>
            <a:off x="2447925" y="4013200"/>
            <a:ext cx="1377950" cy="423863"/>
            <a:chOff x="1313" y="2496"/>
            <a:chExt cx="1252" cy="427"/>
          </a:xfrm>
        </p:grpSpPr>
        <p:sp>
          <p:nvSpPr>
            <p:cNvPr id="122905" name="Freeform 4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06" name="Freeform 4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07" name="Oval 5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08" name="Oval 5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1" name="Group 52"/>
          <p:cNvGrpSpPr>
            <a:grpSpLocks/>
          </p:cNvGrpSpPr>
          <p:nvPr/>
        </p:nvGrpSpPr>
        <p:grpSpPr bwMode="auto">
          <a:xfrm>
            <a:off x="2428875" y="4000500"/>
            <a:ext cx="1377950" cy="423863"/>
            <a:chOff x="1313" y="2496"/>
            <a:chExt cx="1252" cy="427"/>
          </a:xfrm>
        </p:grpSpPr>
        <p:sp>
          <p:nvSpPr>
            <p:cNvPr id="122901" name="Freeform 5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02" name="Freeform 5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03" name="Oval 5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04" name="Oval 5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2899" name="Oval 57"/>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2900" name="Oval 58"/>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22222E-6 -3.7037E-7 C 0.05452 -0.00694 0.10955 -0.01343 0.1375 -0.05069 C 0.16545 -0.08819 0.12292 -0.20116 0.16719 -0.22361 C 0.21146 -0.24606 0.36337 -0.19167 0.40278 -0.18518 " pathEditMode="relative" rAng="0" ptsTypes="aaaA">
                                      <p:cBhvr>
                                        <p:cTn id="6" dur="2000" fill="hold"/>
                                        <p:tgtEl>
                                          <p:spTgt spid="11"/>
                                        </p:tgtEl>
                                        <p:attrNameLst>
                                          <p:attrName>ppt_x</p:attrName>
                                          <p:attrName>ppt_y</p:attrName>
                                        </p:attrNameLst>
                                      </p:cBhvr>
                                      <p:rCtr x="20100" y="-12300"/>
                                    </p:animMotion>
                                  </p:childTnLst>
                                </p:cTn>
                              </p:par>
                              <p:par>
                                <p:cTn id="7" presetID="0" presetClass="path" presetSubtype="0" accel="50000" decel="50000" fill="hold" grpId="0" nodeType="withEffect">
                                  <p:stCondLst>
                                    <p:cond delay="0"/>
                                  </p:stCondLst>
                                  <p:childTnLst>
                                    <p:animMotion origin="layout" path="M -0.00556 0.00185 L -0.00556 0.18889 " pathEditMode="relative" ptsTypes="AA">
                                      <p:cBhvr>
                                        <p:cTn id="8" dur="2000" fill="hold"/>
                                        <p:tgtEl>
                                          <p:spTgt spid="74857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570"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4"/>
          <p:cNvSpPr>
            <a:spLocks noGrp="1"/>
          </p:cNvSpPr>
          <p:nvPr>
            <p:ph type="ftr" sz="quarter" idx="10"/>
          </p:nvPr>
        </p:nvSpPr>
        <p:spPr/>
        <p:txBody>
          <a:bodyPr/>
          <a:lstStyle/>
          <a:p>
            <a:pPr>
              <a:defRPr/>
            </a:pPr>
            <a:r>
              <a:rPr lang="en-US"/>
              <a:t>Art of Multiprocessor Programming</a:t>
            </a:r>
          </a:p>
        </p:txBody>
      </p:sp>
      <p:sp>
        <p:nvSpPr>
          <p:cNvPr id="64" name="Slide Number Placeholder 5"/>
          <p:cNvSpPr>
            <a:spLocks noGrp="1"/>
          </p:cNvSpPr>
          <p:nvPr>
            <p:ph type="sldNum" sz="quarter" idx="11"/>
          </p:nvPr>
        </p:nvSpPr>
        <p:spPr/>
        <p:txBody>
          <a:bodyPr/>
          <a:lstStyle/>
          <a:p>
            <a:pPr>
              <a:defRPr/>
            </a:pPr>
            <a:fld id="{DF0D0118-B1AF-41E3-9485-828479C3EFD9}" type="slidenum">
              <a:rPr lang="en-US"/>
              <a:pPr>
                <a:defRPr/>
              </a:pPr>
              <a:t>123</a:t>
            </a:fld>
            <a:endParaRPr lang="en-US"/>
          </a:p>
        </p:txBody>
      </p:sp>
      <p:grpSp>
        <p:nvGrpSpPr>
          <p:cNvPr id="123908" name="Group 2"/>
          <p:cNvGrpSpPr>
            <a:grpSpLocks/>
          </p:cNvGrpSpPr>
          <p:nvPr/>
        </p:nvGrpSpPr>
        <p:grpSpPr bwMode="auto">
          <a:xfrm>
            <a:off x="2295525" y="3860800"/>
            <a:ext cx="1377950" cy="423863"/>
            <a:chOff x="1313" y="2496"/>
            <a:chExt cx="1252" cy="427"/>
          </a:xfrm>
        </p:grpSpPr>
        <p:sp>
          <p:nvSpPr>
            <p:cNvPr id="123966"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67"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68"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69"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3909" name="Group 7"/>
          <p:cNvGrpSpPr>
            <a:grpSpLocks/>
          </p:cNvGrpSpPr>
          <p:nvPr/>
        </p:nvGrpSpPr>
        <p:grpSpPr bwMode="auto">
          <a:xfrm>
            <a:off x="1990725" y="3556000"/>
            <a:ext cx="1377950" cy="423863"/>
            <a:chOff x="1313" y="2496"/>
            <a:chExt cx="1252" cy="427"/>
          </a:xfrm>
        </p:grpSpPr>
        <p:sp>
          <p:nvSpPr>
            <p:cNvPr id="123962" name="Freeform 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63" name="Freeform 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64" name="Oval 1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65" name="Oval 1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3910" name="Group 12"/>
          <p:cNvGrpSpPr>
            <a:grpSpLocks/>
          </p:cNvGrpSpPr>
          <p:nvPr/>
        </p:nvGrpSpPr>
        <p:grpSpPr bwMode="auto">
          <a:xfrm>
            <a:off x="1965325" y="2336800"/>
            <a:ext cx="1377950" cy="423863"/>
            <a:chOff x="1313" y="2496"/>
            <a:chExt cx="1252" cy="427"/>
          </a:xfrm>
        </p:grpSpPr>
        <p:sp>
          <p:nvSpPr>
            <p:cNvPr id="123958" name="Freeform 1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59" name="Freeform 1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60" name="Oval 1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61" name="Oval 1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3911" name="Rectangle 17"/>
          <p:cNvSpPr>
            <a:spLocks noGrp="1" noChangeArrowheads="1"/>
          </p:cNvSpPr>
          <p:nvPr>
            <p:ph type="title"/>
          </p:nvPr>
        </p:nvSpPr>
        <p:spPr>
          <a:xfrm>
            <a:off x="685800" y="341313"/>
            <a:ext cx="7772400" cy="1143000"/>
          </a:xfrm>
        </p:spPr>
        <p:txBody>
          <a:bodyPr/>
          <a:lstStyle/>
          <a:p>
            <a:r>
              <a:rPr lang="en-US"/>
              <a:t>Tokens Traverse Balancers</a:t>
            </a:r>
          </a:p>
        </p:txBody>
      </p:sp>
      <p:sp>
        <p:nvSpPr>
          <p:cNvPr id="123912" name="Line 18"/>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3913" name="Line 19"/>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3914" name="AutoShape 20"/>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23915" name="Group 21"/>
          <p:cNvGrpSpPr>
            <a:grpSpLocks/>
          </p:cNvGrpSpPr>
          <p:nvPr/>
        </p:nvGrpSpPr>
        <p:grpSpPr bwMode="auto">
          <a:xfrm>
            <a:off x="5724525" y="2336800"/>
            <a:ext cx="1377950" cy="423863"/>
            <a:chOff x="1313" y="2496"/>
            <a:chExt cx="1252" cy="427"/>
          </a:xfrm>
        </p:grpSpPr>
        <p:sp>
          <p:nvSpPr>
            <p:cNvPr id="123954" name="Freeform 2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55" name="Freeform 2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56" name="Oval 2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57" name="Oval 2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3916" name="Line 26"/>
          <p:cNvSpPr>
            <a:spLocks noChangeShapeType="1"/>
          </p:cNvSpPr>
          <p:nvPr/>
        </p:nvSpPr>
        <p:spPr bwMode="auto">
          <a:xfrm>
            <a:off x="4419600" y="37973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23917" name="Group 27"/>
          <p:cNvGrpSpPr>
            <a:grpSpLocks/>
          </p:cNvGrpSpPr>
          <p:nvPr/>
        </p:nvGrpSpPr>
        <p:grpSpPr bwMode="auto">
          <a:xfrm>
            <a:off x="5737225" y="3556000"/>
            <a:ext cx="1377950" cy="423863"/>
            <a:chOff x="1313" y="2496"/>
            <a:chExt cx="1252" cy="427"/>
          </a:xfrm>
        </p:grpSpPr>
        <p:sp>
          <p:nvSpPr>
            <p:cNvPr id="123950" name="Freeform 2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51" name="Freeform 2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52" name="Oval 3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53" name="Oval 3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3918" name="Group 32"/>
          <p:cNvGrpSpPr>
            <a:grpSpLocks/>
          </p:cNvGrpSpPr>
          <p:nvPr/>
        </p:nvGrpSpPr>
        <p:grpSpPr bwMode="auto">
          <a:xfrm>
            <a:off x="2143125" y="3708400"/>
            <a:ext cx="1377950" cy="423863"/>
            <a:chOff x="1313" y="2496"/>
            <a:chExt cx="1252" cy="427"/>
          </a:xfrm>
        </p:grpSpPr>
        <p:sp>
          <p:nvSpPr>
            <p:cNvPr id="12394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4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48" name="Oval 3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49" name="Oval 3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3919" name="Group 37"/>
          <p:cNvGrpSpPr>
            <a:grpSpLocks/>
          </p:cNvGrpSpPr>
          <p:nvPr/>
        </p:nvGrpSpPr>
        <p:grpSpPr bwMode="auto">
          <a:xfrm>
            <a:off x="5870575" y="2565400"/>
            <a:ext cx="1377950" cy="423863"/>
            <a:chOff x="1313" y="2496"/>
            <a:chExt cx="1252" cy="427"/>
          </a:xfrm>
        </p:grpSpPr>
        <p:sp>
          <p:nvSpPr>
            <p:cNvPr id="123942" name="Freeform 3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43" name="Freeform 3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44" name="Oval 4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45" name="Oval 4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3920" name="Group 42"/>
          <p:cNvGrpSpPr>
            <a:grpSpLocks/>
          </p:cNvGrpSpPr>
          <p:nvPr/>
        </p:nvGrpSpPr>
        <p:grpSpPr bwMode="auto">
          <a:xfrm>
            <a:off x="5870575" y="3822700"/>
            <a:ext cx="1377950" cy="423863"/>
            <a:chOff x="1313" y="2496"/>
            <a:chExt cx="1252" cy="427"/>
          </a:xfrm>
        </p:grpSpPr>
        <p:sp>
          <p:nvSpPr>
            <p:cNvPr id="123938" name="Freeform 4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39" name="Freeform 4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40" name="Oval 4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41" name="Oval 4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3921" name="Group 47"/>
          <p:cNvGrpSpPr>
            <a:grpSpLocks/>
          </p:cNvGrpSpPr>
          <p:nvPr/>
        </p:nvGrpSpPr>
        <p:grpSpPr bwMode="auto">
          <a:xfrm>
            <a:off x="2447925" y="4013200"/>
            <a:ext cx="1377950" cy="423863"/>
            <a:chOff x="1313" y="2496"/>
            <a:chExt cx="1252" cy="427"/>
          </a:xfrm>
        </p:grpSpPr>
        <p:sp>
          <p:nvSpPr>
            <p:cNvPr id="123934" name="Freeform 4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35" name="Freeform 4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36" name="Oval 5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3937" name="Oval 5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3922" name="Group 52"/>
          <p:cNvGrpSpPr>
            <a:grpSpLocks/>
          </p:cNvGrpSpPr>
          <p:nvPr/>
        </p:nvGrpSpPr>
        <p:grpSpPr bwMode="auto">
          <a:xfrm>
            <a:off x="6048375" y="2806700"/>
            <a:ext cx="1377950" cy="423863"/>
            <a:chOff x="1313" y="2496"/>
            <a:chExt cx="1252" cy="427"/>
          </a:xfrm>
        </p:grpSpPr>
        <p:sp>
          <p:nvSpPr>
            <p:cNvPr id="123930" name="Freeform 5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31" name="Freeform 5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32" name="Oval 5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3933" name="Oval 5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50649" name="AutoShape 57"/>
          <p:cNvSpPr>
            <a:spLocks noChangeArrowheads="1"/>
          </p:cNvSpPr>
          <p:nvPr/>
        </p:nvSpPr>
        <p:spPr bwMode="auto">
          <a:xfrm>
            <a:off x="723900" y="5003800"/>
            <a:ext cx="3276600" cy="1143000"/>
          </a:xfrm>
          <a:prstGeom prst="wedgeRoundRectCallout">
            <a:avLst>
              <a:gd name="adj1" fmla="val 20009"/>
              <a:gd name="adj2" fmla="val -81389"/>
              <a:gd name="adj3" fmla="val 16667"/>
            </a:avLst>
          </a:prstGeom>
          <a:noFill/>
          <a:ln w="28575">
            <a:solidFill>
              <a:srgbClr val="FF0000"/>
            </a:solidFill>
            <a:miter lim="800000"/>
            <a:headEnd/>
            <a:tailEnd/>
          </a:ln>
        </p:spPr>
        <p:txBody>
          <a:bodyPr wrap="none" anchor="ctr"/>
          <a:lstStyle/>
          <a:p>
            <a:pPr algn="ctr">
              <a:spcBef>
                <a:spcPct val="0"/>
              </a:spcBef>
            </a:pPr>
            <a:r>
              <a:rPr lang="en-US" sz="2800" b="0">
                <a:solidFill>
                  <a:srgbClr val="FF0000"/>
                </a:solidFill>
                <a:latin typeface="Arial" pitchFamily="34" charset="0"/>
                <a:cs typeface="Arial" pitchFamily="34" charset="0"/>
              </a:rPr>
              <a:t>Arbitrary input</a:t>
            </a:r>
          </a:p>
          <a:p>
            <a:pPr algn="ctr">
              <a:spcBef>
                <a:spcPct val="0"/>
              </a:spcBef>
            </a:pPr>
            <a:r>
              <a:rPr lang="en-US" sz="2800" b="0">
                <a:solidFill>
                  <a:srgbClr val="FF0000"/>
                </a:solidFill>
                <a:latin typeface="Arial" pitchFamily="34" charset="0"/>
                <a:cs typeface="Arial" pitchFamily="34" charset="0"/>
              </a:rPr>
              <a:t>distribution</a:t>
            </a:r>
          </a:p>
        </p:txBody>
      </p:sp>
      <p:sp>
        <p:nvSpPr>
          <p:cNvPr id="750650" name="AutoShape 58"/>
          <p:cNvSpPr>
            <a:spLocks noChangeArrowheads="1"/>
          </p:cNvSpPr>
          <p:nvPr/>
        </p:nvSpPr>
        <p:spPr bwMode="auto">
          <a:xfrm>
            <a:off x="5181600" y="5156200"/>
            <a:ext cx="3276600" cy="1143000"/>
          </a:xfrm>
          <a:prstGeom prst="wedgeRoundRectCallout">
            <a:avLst>
              <a:gd name="adj1" fmla="val -9833"/>
              <a:gd name="adj2" fmla="val -114722"/>
              <a:gd name="adj3" fmla="val 16667"/>
            </a:avLst>
          </a:prstGeom>
          <a:noFill/>
          <a:ln w="28575">
            <a:solidFill>
              <a:schemeClr val="accent2"/>
            </a:solidFill>
            <a:miter lim="800000"/>
            <a:headEnd/>
            <a:tailEnd/>
          </a:ln>
        </p:spPr>
        <p:txBody>
          <a:bodyPr wrap="none" anchor="ctr"/>
          <a:lstStyle/>
          <a:p>
            <a:pPr algn="ctr">
              <a:spcBef>
                <a:spcPct val="0"/>
              </a:spcBef>
            </a:pPr>
            <a:r>
              <a:rPr lang="en-US" sz="2800" b="0">
                <a:latin typeface="Arial" pitchFamily="34" charset="0"/>
                <a:cs typeface="Arial" pitchFamily="34" charset="0"/>
              </a:rPr>
              <a:t>Balanced output</a:t>
            </a:r>
          </a:p>
          <a:p>
            <a:pPr algn="ctr">
              <a:spcBef>
                <a:spcPct val="0"/>
              </a:spcBef>
            </a:pPr>
            <a:r>
              <a:rPr lang="en-US" sz="2800" b="0">
                <a:latin typeface="Arial" pitchFamily="34" charset="0"/>
                <a:cs typeface="Arial" pitchFamily="34" charset="0"/>
              </a:rPr>
              <a:t>distribution</a:t>
            </a:r>
          </a:p>
        </p:txBody>
      </p:sp>
      <p:sp>
        <p:nvSpPr>
          <p:cNvPr id="750651" name="Freeform 59"/>
          <p:cNvSpPr>
            <a:spLocks/>
          </p:cNvSpPr>
          <p:nvPr/>
        </p:nvSpPr>
        <p:spPr bwMode="auto">
          <a:xfrm>
            <a:off x="1117600" y="2260600"/>
            <a:ext cx="2298700" cy="2120900"/>
          </a:xfrm>
          <a:custGeom>
            <a:avLst/>
            <a:gdLst>
              <a:gd name="T0" fmla="*/ 2147483647 w 1448"/>
              <a:gd name="T1" fmla="*/ 2147483647 h 1336"/>
              <a:gd name="T2" fmla="*/ 2147483647 w 1448"/>
              <a:gd name="T3" fmla="*/ 2147483647 h 1336"/>
              <a:gd name="T4" fmla="*/ 2147483647 w 1448"/>
              <a:gd name="T5" fmla="*/ 0 h 1336"/>
              <a:gd name="T6" fmla="*/ 2147483647 w 1448"/>
              <a:gd name="T7" fmla="*/ 2147483647 h 1336"/>
              <a:gd name="T8" fmla="*/ 0 w 1448"/>
              <a:gd name="T9" fmla="*/ 2147483647 h 1336"/>
              <a:gd name="T10" fmla="*/ 0 w 1448"/>
              <a:gd name="T11" fmla="*/ 2147483647 h 1336"/>
              <a:gd name="T12" fmla="*/ 2147483647 w 1448"/>
              <a:gd name="T13" fmla="*/ 2147483647 h 1336"/>
              <a:gd name="T14" fmla="*/ 0 60000 65536"/>
              <a:gd name="T15" fmla="*/ 0 60000 65536"/>
              <a:gd name="T16" fmla="*/ 0 60000 65536"/>
              <a:gd name="T17" fmla="*/ 0 60000 65536"/>
              <a:gd name="T18" fmla="*/ 0 60000 65536"/>
              <a:gd name="T19" fmla="*/ 0 60000 65536"/>
              <a:gd name="T20" fmla="*/ 0 60000 65536"/>
              <a:gd name="T21" fmla="*/ 0 w 1448"/>
              <a:gd name="T22" fmla="*/ 0 h 1336"/>
              <a:gd name="T23" fmla="*/ 1448 w 1448"/>
              <a:gd name="T24" fmla="*/ 1336 h 13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8" h="1336">
                <a:moveTo>
                  <a:pt x="1448" y="1336"/>
                </a:moveTo>
                <a:lnTo>
                  <a:pt x="1448" y="16"/>
                </a:lnTo>
                <a:lnTo>
                  <a:pt x="872" y="0"/>
                </a:lnTo>
                <a:lnTo>
                  <a:pt x="872" y="672"/>
                </a:lnTo>
                <a:lnTo>
                  <a:pt x="0" y="676"/>
                </a:lnTo>
                <a:lnTo>
                  <a:pt x="0" y="1336"/>
                </a:lnTo>
                <a:lnTo>
                  <a:pt x="1448" y="1336"/>
                </a:lnTo>
                <a:close/>
              </a:path>
            </a:pathLst>
          </a:custGeom>
          <a:noFill/>
          <a:ln w="38100">
            <a:solidFill>
              <a:srgbClr val="FF0000"/>
            </a:solidFill>
            <a:round/>
            <a:headEnd/>
            <a:tailEnd/>
          </a:ln>
        </p:spPr>
        <p:txBody>
          <a:bodyPr wrap="none" anchor="ctr"/>
          <a:lstStyle/>
          <a:p>
            <a:endParaRPr lang="en-US" dirty="0">
              <a:latin typeface="Courier New" pitchFamily="49" charset="0"/>
            </a:endParaRPr>
          </a:p>
        </p:txBody>
      </p:sp>
      <p:sp>
        <p:nvSpPr>
          <p:cNvPr id="750652" name="Freeform 60"/>
          <p:cNvSpPr>
            <a:spLocks/>
          </p:cNvSpPr>
          <p:nvPr/>
        </p:nvSpPr>
        <p:spPr bwMode="auto">
          <a:xfrm>
            <a:off x="5867400" y="2260600"/>
            <a:ext cx="1752600" cy="2082800"/>
          </a:xfrm>
          <a:custGeom>
            <a:avLst/>
            <a:gdLst>
              <a:gd name="T0" fmla="*/ 0 w 1104"/>
              <a:gd name="T1" fmla="*/ 0 h 2496"/>
              <a:gd name="T2" fmla="*/ 0 w 1104"/>
              <a:gd name="T3" fmla="*/ 2147483647 h 2496"/>
              <a:gd name="T4" fmla="*/ 2147483647 w 1104"/>
              <a:gd name="T5" fmla="*/ 2147483647 h 2496"/>
              <a:gd name="T6" fmla="*/ 2147483647 w 1104"/>
              <a:gd name="T7" fmla="*/ 2147483647 h 2496"/>
              <a:gd name="T8" fmla="*/ 2147483647 w 1104"/>
              <a:gd name="T9" fmla="*/ 2147483647 h 2496"/>
              <a:gd name="T10" fmla="*/ 2147483647 w 1104"/>
              <a:gd name="T11" fmla="*/ 0 h 2496"/>
              <a:gd name="T12" fmla="*/ 0 w 1104"/>
              <a:gd name="T13" fmla="*/ 0 h 2496"/>
              <a:gd name="T14" fmla="*/ 0 60000 65536"/>
              <a:gd name="T15" fmla="*/ 0 60000 65536"/>
              <a:gd name="T16" fmla="*/ 0 60000 65536"/>
              <a:gd name="T17" fmla="*/ 0 60000 65536"/>
              <a:gd name="T18" fmla="*/ 0 60000 65536"/>
              <a:gd name="T19" fmla="*/ 0 60000 65536"/>
              <a:gd name="T20" fmla="*/ 0 60000 65536"/>
              <a:gd name="T21" fmla="*/ 0 w 1104"/>
              <a:gd name="T22" fmla="*/ 0 h 2496"/>
              <a:gd name="T23" fmla="*/ 1104 w 1104"/>
              <a:gd name="T24" fmla="*/ 2496 h 24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4" h="2496">
                <a:moveTo>
                  <a:pt x="0" y="0"/>
                </a:moveTo>
                <a:lnTo>
                  <a:pt x="0" y="2496"/>
                </a:lnTo>
                <a:lnTo>
                  <a:pt x="864" y="2496"/>
                </a:lnTo>
                <a:lnTo>
                  <a:pt x="864" y="1248"/>
                </a:lnTo>
                <a:lnTo>
                  <a:pt x="1104" y="1248"/>
                </a:lnTo>
                <a:lnTo>
                  <a:pt x="1104" y="0"/>
                </a:lnTo>
                <a:lnTo>
                  <a:pt x="0" y="0"/>
                </a:lnTo>
                <a:close/>
              </a:path>
            </a:pathLst>
          </a:custGeom>
          <a:noFill/>
          <a:ln w="38100">
            <a:solidFill>
              <a:schemeClr val="accent2"/>
            </a:solidFill>
            <a:round/>
            <a:headEnd/>
            <a:tailEnd/>
          </a:ln>
        </p:spPr>
        <p:txBody>
          <a:bodyPr wrap="none" anchor="ctr"/>
          <a:lstStyle/>
          <a:p>
            <a:endParaRPr lang="en-US" dirty="0">
              <a:latin typeface="Courier New" pitchFamily="49" charset="0"/>
            </a:endParaRPr>
          </a:p>
        </p:txBody>
      </p:sp>
      <p:sp>
        <p:nvSpPr>
          <p:cNvPr id="123927" name="Oval 61"/>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3928" name="Oval 62"/>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65" name="AutoShape 58"/>
          <p:cNvSpPr>
            <a:spLocks noChangeArrowheads="1"/>
          </p:cNvSpPr>
          <p:nvPr/>
        </p:nvSpPr>
        <p:spPr bwMode="auto">
          <a:xfrm>
            <a:off x="1077913" y="341313"/>
            <a:ext cx="7292975" cy="1143000"/>
          </a:xfrm>
          <a:prstGeom prst="wedgeRoundRectCallout">
            <a:avLst>
              <a:gd name="adj1" fmla="val 8898"/>
              <a:gd name="adj2" fmla="val 109009"/>
              <a:gd name="adj3" fmla="val 16667"/>
            </a:avLst>
          </a:prstGeom>
          <a:solidFill>
            <a:schemeClr val="bg1"/>
          </a:solidFill>
          <a:ln w="28575">
            <a:solidFill>
              <a:srgbClr val="0000FF"/>
            </a:solidFill>
            <a:miter lim="800000"/>
            <a:headEnd/>
            <a:tailEnd/>
          </a:ln>
        </p:spPr>
        <p:txBody>
          <a:bodyPr wrap="none" anchor="ctr"/>
          <a:lstStyle/>
          <a:p>
            <a:pPr algn="ctr">
              <a:spcBef>
                <a:spcPct val="0"/>
              </a:spcBef>
            </a:pPr>
            <a:r>
              <a:rPr lang="en-US" sz="2800" b="0">
                <a:latin typeface="Arial" pitchFamily="34" charset="0"/>
                <a:cs typeface="Arial" pitchFamily="34" charset="0"/>
              </a:rPr>
              <a:t>Quiescent State: all tokens have exited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0651"/>
                                        </p:tgtEl>
                                        <p:attrNameLst>
                                          <p:attrName>style.visibility</p:attrName>
                                        </p:attrNameLst>
                                      </p:cBhvr>
                                      <p:to>
                                        <p:strVal val="visible"/>
                                      </p:to>
                                    </p:set>
                                    <p:animEffect transition="in" filter="blinds(horizontal)">
                                      <p:cBhvr>
                                        <p:cTn id="7" dur="500"/>
                                        <p:tgtEl>
                                          <p:spTgt spid="75065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50649"/>
                                        </p:tgtEl>
                                        <p:attrNameLst>
                                          <p:attrName>style.visibility</p:attrName>
                                        </p:attrNameLst>
                                      </p:cBhvr>
                                      <p:to>
                                        <p:strVal val="visible"/>
                                      </p:to>
                                    </p:set>
                                    <p:animEffect transition="in" filter="blinds(horizontal)">
                                      <p:cBhvr>
                                        <p:cTn id="10" dur="500"/>
                                        <p:tgtEl>
                                          <p:spTgt spid="75064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50650"/>
                                        </p:tgtEl>
                                        <p:attrNameLst>
                                          <p:attrName>style.visibility</p:attrName>
                                        </p:attrNameLst>
                                      </p:cBhvr>
                                      <p:to>
                                        <p:strVal val="visible"/>
                                      </p:to>
                                    </p:set>
                                    <p:animEffect transition="in" filter="blinds(horizontal)">
                                      <p:cBhvr>
                                        <p:cTn id="13" dur="500"/>
                                        <p:tgtEl>
                                          <p:spTgt spid="75065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50652"/>
                                        </p:tgtEl>
                                        <p:attrNameLst>
                                          <p:attrName>style.visibility</p:attrName>
                                        </p:attrNameLst>
                                      </p:cBhvr>
                                      <p:to>
                                        <p:strVal val="visible"/>
                                      </p:to>
                                    </p:set>
                                    <p:animEffect transition="in" filter="blinds(horizontal)">
                                      <p:cBhvr>
                                        <p:cTn id="16" dur="500"/>
                                        <p:tgtEl>
                                          <p:spTgt spid="75065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blinds(horizontal)">
                                      <p:cBhvr>
                                        <p:cTn id="21"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649" grpId="0" animBg="1"/>
      <p:bldP spid="750650" grpId="0" animBg="1"/>
      <p:bldP spid="750651" grpId="0" animBg="1"/>
      <p:bldP spid="750652" grpId="0" animBg="1"/>
      <p:bldP spid="65"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Footer Placeholder 4"/>
          <p:cNvSpPr>
            <a:spLocks noGrp="1"/>
          </p:cNvSpPr>
          <p:nvPr>
            <p:ph type="ftr" sz="quarter" idx="10"/>
          </p:nvPr>
        </p:nvSpPr>
        <p:spPr/>
        <p:txBody>
          <a:bodyPr/>
          <a:lstStyle/>
          <a:p>
            <a:pPr>
              <a:defRPr/>
            </a:pPr>
            <a:r>
              <a:rPr lang="en-US"/>
              <a:t>Art of Multiprocessor Programming</a:t>
            </a:r>
          </a:p>
        </p:txBody>
      </p:sp>
      <p:sp>
        <p:nvSpPr>
          <p:cNvPr id="94" name="Slide Number Placeholder 5"/>
          <p:cNvSpPr>
            <a:spLocks noGrp="1"/>
          </p:cNvSpPr>
          <p:nvPr>
            <p:ph type="sldNum" sz="quarter" idx="11"/>
          </p:nvPr>
        </p:nvSpPr>
        <p:spPr/>
        <p:txBody>
          <a:bodyPr/>
          <a:lstStyle/>
          <a:p>
            <a:pPr>
              <a:defRPr/>
            </a:pPr>
            <a:fld id="{57AE3CA2-B042-490D-9D4D-52229D5B1B20}" type="slidenum">
              <a:rPr lang="en-US"/>
              <a:pPr>
                <a:defRPr/>
              </a:pPr>
              <a:t>124</a:t>
            </a:fld>
            <a:endParaRPr lang="en-US"/>
          </a:p>
        </p:txBody>
      </p:sp>
      <p:grpSp>
        <p:nvGrpSpPr>
          <p:cNvPr id="124932" name="Group 2"/>
          <p:cNvGrpSpPr>
            <a:grpSpLocks/>
          </p:cNvGrpSpPr>
          <p:nvPr/>
        </p:nvGrpSpPr>
        <p:grpSpPr bwMode="auto">
          <a:xfrm>
            <a:off x="954088" y="2133600"/>
            <a:ext cx="1682750" cy="3460750"/>
            <a:chOff x="553" y="1296"/>
            <a:chExt cx="1060" cy="2180"/>
          </a:xfrm>
        </p:grpSpPr>
        <p:grpSp>
          <p:nvGrpSpPr>
            <p:cNvPr id="124991" name="Group 3"/>
            <p:cNvGrpSpPr>
              <a:grpSpLocks/>
            </p:cNvGrpSpPr>
            <p:nvPr/>
          </p:nvGrpSpPr>
          <p:grpSpPr bwMode="auto">
            <a:xfrm>
              <a:off x="553" y="3017"/>
              <a:ext cx="1060" cy="459"/>
              <a:chOff x="1233" y="2558"/>
              <a:chExt cx="1060" cy="459"/>
            </a:xfrm>
          </p:grpSpPr>
          <p:grpSp>
            <p:nvGrpSpPr>
              <p:cNvPr id="125008" name="Group 4"/>
              <p:cNvGrpSpPr>
                <a:grpSpLocks/>
              </p:cNvGrpSpPr>
              <p:nvPr/>
            </p:nvGrpSpPr>
            <p:grpSpPr bwMode="auto">
              <a:xfrm>
                <a:off x="1233" y="2558"/>
                <a:ext cx="868" cy="267"/>
                <a:chOff x="1313" y="2496"/>
                <a:chExt cx="1252" cy="427"/>
              </a:xfrm>
            </p:grpSpPr>
            <p:sp>
              <p:nvSpPr>
                <p:cNvPr id="125019" name="Freeform 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20" name="Freeform 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21" name="Oval 7"/>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22" name="Oval 8"/>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5009" name="Group 9"/>
              <p:cNvGrpSpPr>
                <a:grpSpLocks/>
              </p:cNvGrpSpPr>
              <p:nvPr/>
            </p:nvGrpSpPr>
            <p:grpSpPr bwMode="auto">
              <a:xfrm>
                <a:off x="1329" y="2654"/>
                <a:ext cx="868" cy="267"/>
                <a:chOff x="1313" y="2496"/>
                <a:chExt cx="1252" cy="427"/>
              </a:xfrm>
            </p:grpSpPr>
            <p:sp>
              <p:nvSpPr>
                <p:cNvPr id="125015" name="Freeform 1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16" name="Freeform 1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17" name="Oval 12"/>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18" name="Oval 13"/>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5010" name="Group 14"/>
              <p:cNvGrpSpPr>
                <a:grpSpLocks/>
              </p:cNvGrpSpPr>
              <p:nvPr/>
            </p:nvGrpSpPr>
            <p:grpSpPr bwMode="auto">
              <a:xfrm>
                <a:off x="1425" y="2750"/>
                <a:ext cx="868" cy="267"/>
                <a:chOff x="1313" y="2496"/>
                <a:chExt cx="1252" cy="427"/>
              </a:xfrm>
            </p:grpSpPr>
            <p:sp>
              <p:nvSpPr>
                <p:cNvPr id="125011" name="Freeform 1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12" name="Freeform 1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13" name="Oval 17"/>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14" name="Oval 18"/>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grpSp>
          <p:nvGrpSpPr>
            <p:cNvPr id="124992" name="Group 19"/>
            <p:cNvGrpSpPr>
              <a:grpSpLocks/>
            </p:cNvGrpSpPr>
            <p:nvPr/>
          </p:nvGrpSpPr>
          <p:grpSpPr bwMode="auto">
            <a:xfrm>
              <a:off x="601" y="1816"/>
              <a:ext cx="964" cy="363"/>
              <a:chOff x="3710" y="1883"/>
              <a:chExt cx="964" cy="363"/>
            </a:xfrm>
          </p:grpSpPr>
          <p:grpSp>
            <p:nvGrpSpPr>
              <p:cNvPr id="124998" name="Group 20"/>
              <p:cNvGrpSpPr>
                <a:grpSpLocks/>
              </p:cNvGrpSpPr>
              <p:nvPr/>
            </p:nvGrpSpPr>
            <p:grpSpPr bwMode="auto">
              <a:xfrm>
                <a:off x="3710" y="1883"/>
                <a:ext cx="868" cy="267"/>
                <a:chOff x="1313" y="2496"/>
                <a:chExt cx="1252" cy="427"/>
              </a:xfrm>
            </p:grpSpPr>
            <p:sp>
              <p:nvSpPr>
                <p:cNvPr id="125004"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05"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06" name="Oval 2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07" name="Oval 2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4999" name="Group 25"/>
              <p:cNvGrpSpPr>
                <a:grpSpLocks/>
              </p:cNvGrpSpPr>
              <p:nvPr/>
            </p:nvGrpSpPr>
            <p:grpSpPr bwMode="auto">
              <a:xfrm>
                <a:off x="3806" y="1979"/>
                <a:ext cx="868" cy="267"/>
                <a:chOff x="1313" y="2496"/>
                <a:chExt cx="1252" cy="427"/>
              </a:xfrm>
            </p:grpSpPr>
            <p:sp>
              <p:nvSpPr>
                <p:cNvPr id="125000" name="Freeform 2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01" name="Freeform 2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02" name="Oval 28"/>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5003" name="Oval 29"/>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grpSp>
          <p:nvGrpSpPr>
            <p:cNvPr id="124993" name="Group 30"/>
            <p:cNvGrpSpPr>
              <a:grpSpLocks/>
            </p:cNvGrpSpPr>
            <p:nvPr/>
          </p:nvGrpSpPr>
          <p:grpSpPr bwMode="auto">
            <a:xfrm>
              <a:off x="649" y="1296"/>
              <a:ext cx="868" cy="267"/>
              <a:chOff x="1313" y="2496"/>
              <a:chExt cx="1252" cy="427"/>
            </a:xfrm>
          </p:grpSpPr>
          <p:sp>
            <p:nvSpPr>
              <p:cNvPr id="124994" name="Freeform 3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4995" name="Freeform 3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4996" name="Oval 3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4997" name="Oval 3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sp>
        <p:nvSpPr>
          <p:cNvPr id="752675" name="AutoShape 35"/>
          <p:cNvSpPr>
            <a:spLocks noChangeArrowheads="1"/>
          </p:cNvSpPr>
          <p:nvPr/>
        </p:nvSpPr>
        <p:spPr bwMode="auto">
          <a:xfrm>
            <a:off x="3020845" y="5794892"/>
            <a:ext cx="4392949" cy="783193"/>
          </a:xfrm>
          <a:prstGeom prst="wedgeRoundRectCallout">
            <a:avLst>
              <a:gd name="adj1" fmla="val 51764"/>
              <a:gd name="adj2" fmla="val -89324"/>
              <a:gd name="adj3" fmla="val 16667"/>
            </a:avLst>
          </a:prstGeom>
          <a:solidFill>
            <a:schemeClr val="bg1"/>
          </a:solidFill>
          <a:ln w="28575">
            <a:solidFill>
              <a:srgbClr val="3399FF"/>
            </a:solidFill>
            <a:miter lim="800000"/>
            <a:headEnd/>
            <a:tailEnd/>
          </a:ln>
        </p:spPr>
        <p:txBody>
          <a:bodyPr wrap="none" anchor="ctr">
            <a:spAutoFit/>
          </a:bodyPr>
          <a:lstStyle/>
          <a:p>
            <a:pPr algn="ctr">
              <a:spcBef>
                <a:spcPct val="0"/>
              </a:spcBef>
            </a:pPr>
            <a:r>
              <a:rPr lang="en-US" sz="4000" b="0" dirty="0">
                <a:solidFill>
                  <a:srgbClr val="3399FF"/>
                </a:solidFill>
                <a:latin typeface="Arial" pitchFamily="34" charset="0"/>
                <a:cs typeface="Arial" pitchFamily="34" charset="0"/>
              </a:rPr>
              <a:t>1-smooth property</a:t>
            </a:r>
          </a:p>
        </p:txBody>
      </p:sp>
      <p:sp>
        <p:nvSpPr>
          <p:cNvPr id="124934" name="Line 36"/>
          <p:cNvSpPr>
            <a:spLocks noChangeShapeType="1"/>
          </p:cNvSpPr>
          <p:nvPr/>
        </p:nvSpPr>
        <p:spPr bwMode="auto">
          <a:xfrm>
            <a:off x="2349500" y="3228975"/>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24935" name="Line 37"/>
          <p:cNvSpPr>
            <a:spLocks noChangeShapeType="1"/>
          </p:cNvSpPr>
          <p:nvPr/>
        </p:nvSpPr>
        <p:spPr bwMode="auto">
          <a:xfrm>
            <a:off x="2349500" y="434181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24936" name="Oval 38"/>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4937" name="Oval 39"/>
          <p:cNvSpPr>
            <a:spLocks noChangeArrowheads="1"/>
          </p:cNvSpPr>
          <p:nvPr/>
        </p:nvSpPr>
        <p:spPr bwMode="auto">
          <a:xfrm>
            <a:off x="4827588" y="4632325"/>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4938" name="Rectangle 40"/>
          <p:cNvSpPr>
            <a:spLocks noGrp="1" noChangeArrowheads="1"/>
          </p:cNvSpPr>
          <p:nvPr>
            <p:ph type="title"/>
          </p:nvPr>
        </p:nvSpPr>
        <p:spPr/>
        <p:txBody>
          <a:bodyPr/>
          <a:lstStyle/>
          <a:p>
            <a:r>
              <a:rPr lang="en-US"/>
              <a:t>Smoothing Network</a:t>
            </a:r>
          </a:p>
        </p:txBody>
      </p:sp>
      <p:sp>
        <p:nvSpPr>
          <p:cNvPr id="124939" name="Line 41"/>
          <p:cNvSpPr>
            <a:spLocks noChangeShapeType="1"/>
          </p:cNvSpPr>
          <p:nvPr/>
        </p:nvSpPr>
        <p:spPr bwMode="auto">
          <a:xfrm>
            <a:off x="2349500" y="232886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24940" name="Line 42"/>
          <p:cNvSpPr>
            <a:spLocks noChangeShapeType="1"/>
          </p:cNvSpPr>
          <p:nvPr/>
        </p:nvSpPr>
        <p:spPr bwMode="auto">
          <a:xfrm>
            <a:off x="2349500" y="5184775"/>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24941" name="AutoShape 43"/>
          <p:cNvSpPr>
            <a:spLocks noChangeArrowheads="1"/>
          </p:cNvSpPr>
          <p:nvPr/>
        </p:nvSpPr>
        <p:spPr bwMode="auto">
          <a:xfrm>
            <a:off x="2835275" y="39497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4942" name="AutoShape 44"/>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4943" name="AutoShape 45"/>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4944" name="AutoShape 46"/>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4945" name="AutoShape 47"/>
          <p:cNvSpPr>
            <a:spLocks noChangeArrowheads="1"/>
          </p:cNvSpPr>
          <p:nvPr/>
        </p:nvSpPr>
        <p:spPr bwMode="auto">
          <a:xfrm>
            <a:off x="6034088" y="39497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4946" name="AutoShape 48"/>
          <p:cNvSpPr>
            <a:spLocks noChangeArrowheads="1"/>
          </p:cNvSpPr>
          <p:nvPr/>
        </p:nvSpPr>
        <p:spPr bwMode="auto">
          <a:xfrm>
            <a:off x="603408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1" name="Group 49"/>
          <p:cNvGrpSpPr>
            <a:grpSpLocks/>
          </p:cNvGrpSpPr>
          <p:nvPr/>
        </p:nvGrpSpPr>
        <p:grpSpPr bwMode="auto">
          <a:xfrm>
            <a:off x="954088" y="4865688"/>
            <a:ext cx="1377950" cy="423862"/>
            <a:chOff x="1313" y="2496"/>
            <a:chExt cx="1252" cy="427"/>
          </a:xfrm>
        </p:grpSpPr>
        <p:sp>
          <p:nvSpPr>
            <p:cNvPr id="124987" name="Freeform 5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88" name="Freeform 5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89" name="Oval 5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90" name="Oval 5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 name="Group 54"/>
          <p:cNvGrpSpPr>
            <a:grpSpLocks/>
          </p:cNvGrpSpPr>
          <p:nvPr/>
        </p:nvGrpSpPr>
        <p:grpSpPr bwMode="auto">
          <a:xfrm>
            <a:off x="1106488" y="5018088"/>
            <a:ext cx="1377950" cy="423862"/>
            <a:chOff x="1313" y="2496"/>
            <a:chExt cx="1252" cy="427"/>
          </a:xfrm>
        </p:grpSpPr>
        <p:sp>
          <p:nvSpPr>
            <p:cNvPr id="124983" name="Freeform 5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84" name="Freeform 5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85" name="Oval 5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86" name="Oval 5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 name="Group 59"/>
          <p:cNvGrpSpPr>
            <a:grpSpLocks/>
          </p:cNvGrpSpPr>
          <p:nvPr/>
        </p:nvGrpSpPr>
        <p:grpSpPr bwMode="auto">
          <a:xfrm>
            <a:off x="1258888" y="5170488"/>
            <a:ext cx="1377950" cy="423862"/>
            <a:chOff x="1313" y="2496"/>
            <a:chExt cx="1252" cy="427"/>
          </a:xfrm>
        </p:grpSpPr>
        <p:sp>
          <p:nvSpPr>
            <p:cNvPr id="124979" name="Freeform 6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80" name="Freeform 6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81" name="Oval 6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82" name="Oval 6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4" name="Group 64"/>
          <p:cNvGrpSpPr>
            <a:grpSpLocks/>
          </p:cNvGrpSpPr>
          <p:nvPr/>
        </p:nvGrpSpPr>
        <p:grpSpPr bwMode="auto">
          <a:xfrm>
            <a:off x="1030288" y="2959100"/>
            <a:ext cx="1377950" cy="423863"/>
            <a:chOff x="1313" y="2496"/>
            <a:chExt cx="1252" cy="427"/>
          </a:xfrm>
        </p:grpSpPr>
        <p:sp>
          <p:nvSpPr>
            <p:cNvPr id="124975" name="Freeform 6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76" name="Freeform 6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77" name="Oval 6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78" name="Oval 6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5" name="Group 69"/>
          <p:cNvGrpSpPr>
            <a:grpSpLocks/>
          </p:cNvGrpSpPr>
          <p:nvPr/>
        </p:nvGrpSpPr>
        <p:grpSpPr bwMode="auto">
          <a:xfrm>
            <a:off x="1106488" y="2133600"/>
            <a:ext cx="1377950" cy="423863"/>
            <a:chOff x="1313" y="2496"/>
            <a:chExt cx="1252" cy="427"/>
          </a:xfrm>
        </p:grpSpPr>
        <p:sp>
          <p:nvSpPr>
            <p:cNvPr id="124971" name="Freeform 7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72" name="Freeform 7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73" name="Oval 7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74" name="Oval 7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52715" name="Freeform 75"/>
          <p:cNvSpPr>
            <a:spLocks/>
          </p:cNvSpPr>
          <p:nvPr/>
        </p:nvSpPr>
        <p:spPr bwMode="auto">
          <a:xfrm>
            <a:off x="7162800" y="1828800"/>
            <a:ext cx="1752600" cy="3962400"/>
          </a:xfrm>
          <a:custGeom>
            <a:avLst/>
            <a:gdLst>
              <a:gd name="T0" fmla="*/ 0 w 1104"/>
              <a:gd name="T1" fmla="*/ 0 h 2496"/>
              <a:gd name="T2" fmla="*/ 0 w 1104"/>
              <a:gd name="T3" fmla="*/ 2147483647 h 2496"/>
              <a:gd name="T4" fmla="*/ 2147483647 w 1104"/>
              <a:gd name="T5" fmla="*/ 2147483647 h 2496"/>
              <a:gd name="T6" fmla="*/ 2147483647 w 1104"/>
              <a:gd name="T7" fmla="*/ 2147483647 h 2496"/>
              <a:gd name="T8" fmla="*/ 2147483647 w 1104"/>
              <a:gd name="T9" fmla="*/ 2147483647 h 2496"/>
              <a:gd name="T10" fmla="*/ 2147483647 w 1104"/>
              <a:gd name="T11" fmla="*/ 2147483647 h 2496"/>
              <a:gd name="T12" fmla="*/ 2147483647 w 1104"/>
              <a:gd name="T13" fmla="*/ 2147483647 h 2496"/>
              <a:gd name="T14" fmla="*/ 2147483647 w 1104"/>
              <a:gd name="T15" fmla="*/ 2147483647 h 2496"/>
              <a:gd name="T16" fmla="*/ 2147483647 w 1104"/>
              <a:gd name="T17" fmla="*/ 2147483647 h 2496"/>
              <a:gd name="T18" fmla="*/ 2147483647 w 1104"/>
              <a:gd name="T19" fmla="*/ 0 h 2496"/>
              <a:gd name="T20" fmla="*/ 0 w 1104"/>
              <a:gd name="T21" fmla="*/ 0 h 2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04"/>
              <a:gd name="T34" fmla="*/ 0 h 2496"/>
              <a:gd name="T35" fmla="*/ 1104 w 1104"/>
              <a:gd name="T36" fmla="*/ 2496 h 2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04" h="2496">
                <a:moveTo>
                  <a:pt x="0" y="0"/>
                </a:moveTo>
                <a:lnTo>
                  <a:pt x="0" y="2496"/>
                </a:lnTo>
                <a:lnTo>
                  <a:pt x="864" y="2496"/>
                </a:lnTo>
                <a:lnTo>
                  <a:pt x="864" y="1872"/>
                </a:lnTo>
                <a:lnTo>
                  <a:pt x="1096" y="1872"/>
                </a:lnTo>
                <a:lnTo>
                  <a:pt x="1096" y="1248"/>
                </a:lnTo>
                <a:lnTo>
                  <a:pt x="864" y="1248"/>
                </a:lnTo>
                <a:lnTo>
                  <a:pt x="864" y="528"/>
                </a:lnTo>
                <a:lnTo>
                  <a:pt x="1104" y="528"/>
                </a:lnTo>
                <a:lnTo>
                  <a:pt x="1104" y="0"/>
                </a:lnTo>
                <a:lnTo>
                  <a:pt x="0" y="0"/>
                </a:lnTo>
                <a:close/>
              </a:path>
            </a:pathLst>
          </a:custGeom>
          <a:noFill/>
          <a:ln w="38100">
            <a:solidFill>
              <a:srgbClr val="FF0000"/>
            </a:solidFill>
            <a:round/>
            <a:headEnd/>
            <a:tailEnd/>
          </a:ln>
        </p:spPr>
        <p:txBody>
          <a:bodyPr wrap="none" anchor="ctr"/>
          <a:lstStyle/>
          <a:p>
            <a:endParaRPr lang="en-US" dirty="0">
              <a:latin typeface="Courier New" pitchFamily="49" charset="0"/>
            </a:endParaRPr>
          </a:p>
        </p:txBody>
      </p:sp>
      <p:grpSp>
        <p:nvGrpSpPr>
          <p:cNvPr id="16" name="Group 76"/>
          <p:cNvGrpSpPr>
            <a:grpSpLocks/>
          </p:cNvGrpSpPr>
          <p:nvPr/>
        </p:nvGrpSpPr>
        <p:grpSpPr bwMode="auto">
          <a:xfrm>
            <a:off x="1182688" y="3111500"/>
            <a:ext cx="1377950" cy="423863"/>
            <a:chOff x="1313" y="2496"/>
            <a:chExt cx="1252" cy="427"/>
          </a:xfrm>
        </p:grpSpPr>
        <p:sp>
          <p:nvSpPr>
            <p:cNvPr id="124967" name="Freeform 7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68" name="Freeform 7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69" name="Oval 7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4970" name="Oval 8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4955" name="Oval 8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56" name="Oval 8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57" name="Oval 8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58" name="Oval 8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59" name="Oval 8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60" name="Oval 86"/>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61" name="Oval 8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62" name="Oval 8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63" name="Oval 8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64" name="Oval 9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65" name="Oval 9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4966" name="Oval 9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05556E-6 -5.55556E-6 L 0.66111 -0.00371 " pathEditMode="relative" ptsTypes="AA">
                                      <p:cBhvr>
                                        <p:cTn id="6" dur="2000" fill="hold"/>
                                        <p:tgtEl>
                                          <p:spTgt spid="15"/>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2.5E-6 2.96296E-6 L 0.66111 2.96296E-6 " pathEditMode="relative" ptsTypes="AA">
                                      <p:cBhvr>
                                        <p:cTn id="8" dur="2000" fill="hold"/>
                                        <p:tgtEl>
                                          <p:spTgt spid="14"/>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2.77778E-6 0.0 C -0.04497 0.0 -0.08959 0.00023 0.00798 -0.00139 C 0.10573 -0.00301 0.46701 0.01157 0.58698 -0.01019 C 0.70712 -0.03171 0.71736 -0.08148 0.72795 -0.13079 " pathEditMode="relative" rAng="0" ptsTypes="aaaA">
                                      <p:cBhvr>
                                        <p:cTn id="10" dur="2000" fill="hold"/>
                                        <p:tgtEl>
                                          <p:spTgt spid="16"/>
                                        </p:tgtEl>
                                        <p:attrNameLst>
                                          <p:attrName>ppt_x</p:attrName>
                                          <p:attrName>ppt_y</p:attrName>
                                        </p:attrNameLst>
                                      </p:cBhvr>
                                      <p:rCtr x="31900" y="-6000"/>
                                    </p:animMotion>
                                  </p:childTnLst>
                                </p:cTn>
                              </p:par>
                              <p:par>
                                <p:cTn id="11" presetID="0" presetClass="path" presetSubtype="0" accel="50000" decel="50000" fill="hold" nodeType="withEffect">
                                  <p:stCondLst>
                                    <p:cond delay="0"/>
                                  </p:stCondLst>
                                  <p:childTnLst>
                                    <p:animMotion origin="layout" path="M 0.03194 0.0037 L 0.68194 0.00926 " pathEditMode="relative" rAng="0" ptsTypes="AA">
                                      <p:cBhvr>
                                        <p:cTn id="12" dur="2000" fill="hold"/>
                                        <p:tgtEl>
                                          <p:spTgt spid="11"/>
                                        </p:tgtEl>
                                        <p:attrNameLst>
                                          <p:attrName>ppt_x</p:attrName>
                                          <p:attrName>ppt_y</p:attrName>
                                        </p:attrNameLst>
                                      </p:cBhvr>
                                      <p:rCtr x="32500" y="300"/>
                                    </p:animMotion>
                                  </p:childTnLst>
                                </p:cTn>
                              </p:par>
                              <p:par>
                                <p:cTn id="13" presetID="0" presetClass="path" presetSubtype="0" accel="50000" decel="50000" fill="hold" nodeType="withEffect">
                                  <p:stCondLst>
                                    <p:cond delay="0"/>
                                  </p:stCondLst>
                                  <p:childTnLst>
                                    <p:animMotion origin="layout" path="M 0.00834 -0.00185 C 0.05886 0.00903 0.10938 0.02014 0.1375 -0.00185 C 0.16563 -0.02384 0.09167 -0.11227 0.17778 -0.13333 C 0.26389 -0.1544 0.45903 -0.1412 0.65417 -0.12778 " pathEditMode="relative" rAng="0" ptsTypes="aaaA">
                                      <p:cBhvr>
                                        <p:cTn id="14" dur="2000" fill="hold"/>
                                        <p:tgtEl>
                                          <p:spTgt spid="12"/>
                                        </p:tgtEl>
                                        <p:attrNameLst>
                                          <p:attrName>ppt_x</p:attrName>
                                          <p:attrName>ppt_y</p:attrName>
                                        </p:attrNameLst>
                                      </p:cBhvr>
                                      <p:rCtr x="32300" y="-6500"/>
                                    </p:animMotion>
                                  </p:childTnLst>
                                </p:cTn>
                              </p:par>
                              <p:par>
                                <p:cTn id="15" presetID="0" presetClass="path" presetSubtype="0" accel="50000" decel="50000" fill="hold" nodeType="withEffect">
                                  <p:stCondLst>
                                    <p:cond delay="0"/>
                                  </p:stCondLst>
                                  <p:childTnLst>
                                    <p:animMotion origin="layout" path="M -8.33333E-7 0.00556 C 0.04045 0.01713 0.08108 0.02871 0.10017 0.00556 C 0.1191 -0.01759 0.09445 -0.11157 0.11406 -0.1331 C 0.13368 -0.1544 0.11979 -0.12315 0.2184 -0.12268 C 0.31701 -0.12199 0.51111 -0.12616 0.70556 -0.13009 " pathEditMode="relative" rAng="0" ptsTypes="aaaaA">
                                      <p:cBhvr>
                                        <p:cTn id="16" dur="2000" fill="hold"/>
                                        <p:tgtEl>
                                          <p:spTgt spid="13"/>
                                        </p:tgtEl>
                                        <p:attrNameLst>
                                          <p:attrName>ppt_x</p:attrName>
                                          <p:attrName>ppt_y</p:attrName>
                                        </p:attrNameLst>
                                      </p:cBhvr>
                                      <p:rCtr x="35300" y="-6900"/>
                                    </p:animMotion>
                                  </p:childTnLst>
                                </p:cTn>
                              </p:par>
                            </p:childTnLst>
                          </p:cTn>
                        </p:par>
                        <p:par>
                          <p:cTn id="17" fill="hold">
                            <p:stCondLst>
                              <p:cond delay="2000"/>
                            </p:stCondLst>
                            <p:childTnLst>
                              <p:par>
                                <p:cTn id="18" presetID="3" presetClass="entr" presetSubtype="10" fill="hold" grpId="0" nodeType="afterEffect">
                                  <p:stCondLst>
                                    <p:cond delay="0"/>
                                  </p:stCondLst>
                                  <p:childTnLst>
                                    <p:set>
                                      <p:cBhvr>
                                        <p:cTn id="19" dur="1" fill="hold">
                                          <p:stCondLst>
                                            <p:cond delay="0"/>
                                          </p:stCondLst>
                                        </p:cTn>
                                        <p:tgtEl>
                                          <p:spTgt spid="752715"/>
                                        </p:tgtEl>
                                        <p:attrNameLst>
                                          <p:attrName>style.visibility</p:attrName>
                                        </p:attrNameLst>
                                      </p:cBhvr>
                                      <p:to>
                                        <p:strVal val="visible"/>
                                      </p:to>
                                    </p:set>
                                    <p:animEffect transition="in" filter="blinds(horizontal)">
                                      <p:cBhvr>
                                        <p:cTn id="20" dur="500"/>
                                        <p:tgtEl>
                                          <p:spTgt spid="75271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52675"/>
                                        </p:tgtEl>
                                        <p:attrNameLst>
                                          <p:attrName>style.visibility</p:attrName>
                                        </p:attrNameLst>
                                      </p:cBhvr>
                                      <p:to>
                                        <p:strVal val="visible"/>
                                      </p:to>
                                    </p:set>
                                    <p:animEffect transition="in" filter="blinds(horizontal)">
                                      <p:cBhvr>
                                        <p:cTn id="23" dur="500"/>
                                        <p:tgtEl>
                                          <p:spTgt spid="752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75" grpId="0" animBg="1"/>
      <p:bldP spid="752715"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Footer Placeholder 4"/>
          <p:cNvSpPr>
            <a:spLocks noGrp="1"/>
          </p:cNvSpPr>
          <p:nvPr>
            <p:ph type="ftr" sz="quarter" idx="10"/>
          </p:nvPr>
        </p:nvSpPr>
        <p:spPr/>
        <p:txBody>
          <a:bodyPr/>
          <a:lstStyle/>
          <a:p>
            <a:pPr>
              <a:defRPr/>
            </a:pPr>
            <a:r>
              <a:rPr lang="en-US"/>
              <a:t>Art of Multiprocessor Programming</a:t>
            </a:r>
          </a:p>
        </p:txBody>
      </p:sp>
      <p:sp>
        <p:nvSpPr>
          <p:cNvPr id="94" name="Slide Number Placeholder 5"/>
          <p:cNvSpPr>
            <a:spLocks noGrp="1"/>
          </p:cNvSpPr>
          <p:nvPr>
            <p:ph type="sldNum" sz="quarter" idx="11"/>
          </p:nvPr>
        </p:nvSpPr>
        <p:spPr/>
        <p:txBody>
          <a:bodyPr/>
          <a:lstStyle/>
          <a:p>
            <a:pPr>
              <a:defRPr/>
            </a:pPr>
            <a:fld id="{0B34E3B7-3C8E-43CB-B345-7AE6D6295AC5}" type="slidenum">
              <a:rPr lang="en-US"/>
              <a:pPr>
                <a:defRPr/>
              </a:pPr>
              <a:t>125</a:t>
            </a:fld>
            <a:endParaRPr lang="en-US"/>
          </a:p>
        </p:txBody>
      </p:sp>
      <p:grpSp>
        <p:nvGrpSpPr>
          <p:cNvPr id="125956" name="Group 2"/>
          <p:cNvGrpSpPr>
            <a:grpSpLocks/>
          </p:cNvGrpSpPr>
          <p:nvPr/>
        </p:nvGrpSpPr>
        <p:grpSpPr bwMode="auto">
          <a:xfrm>
            <a:off x="954088" y="2133600"/>
            <a:ext cx="1682750" cy="3460750"/>
            <a:chOff x="553" y="1296"/>
            <a:chExt cx="1060" cy="2180"/>
          </a:xfrm>
        </p:grpSpPr>
        <p:grpSp>
          <p:nvGrpSpPr>
            <p:cNvPr id="126015" name="Group 3"/>
            <p:cNvGrpSpPr>
              <a:grpSpLocks/>
            </p:cNvGrpSpPr>
            <p:nvPr/>
          </p:nvGrpSpPr>
          <p:grpSpPr bwMode="auto">
            <a:xfrm>
              <a:off x="553" y="3017"/>
              <a:ext cx="1060" cy="459"/>
              <a:chOff x="1233" y="2558"/>
              <a:chExt cx="1060" cy="459"/>
            </a:xfrm>
          </p:grpSpPr>
          <p:grpSp>
            <p:nvGrpSpPr>
              <p:cNvPr id="126032" name="Group 4"/>
              <p:cNvGrpSpPr>
                <a:grpSpLocks/>
              </p:cNvGrpSpPr>
              <p:nvPr/>
            </p:nvGrpSpPr>
            <p:grpSpPr bwMode="auto">
              <a:xfrm>
                <a:off x="1233" y="2558"/>
                <a:ext cx="868" cy="267"/>
                <a:chOff x="1313" y="2496"/>
                <a:chExt cx="1252" cy="427"/>
              </a:xfrm>
            </p:grpSpPr>
            <p:sp>
              <p:nvSpPr>
                <p:cNvPr id="126043" name="Freeform 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44" name="Freeform 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45" name="Oval 7"/>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46" name="Oval 8"/>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6033" name="Group 9"/>
              <p:cNvGrpSpPr>
                <a:grpSpLocks/>
              </p:cNvGrpSpPr>
              <p:nvPr/>
            </p:nvGrpSpPr>
            <p:grpSpPr bwMode="auto">
              <a:xfrm>
                <a:off x="1329" y="2654"/>
                <a:ext cx="868" cy="267"/>
                <a:chOff x="1313" y="2496"/>
                <a:chExt cx="1252" cy="427"/>
              </a:xfrm>
            </p:grpSpPr>
            <p:sp>
              <p:nvSpPr>
                <p:cNvPr id="126039" name="Freeform 1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40" name="Freeform 1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41" name="Oval 12"/>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42" name="Oval 13"/>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6034" name="Group 14"/>
              <p:cNvGrpSpPr>
                <a:grpSpLocks/>
              </p:cNvGrpSpPr>
              <p:nvPr/>
            </p:nvGrpSpPr>
            <p:grpSpPr bwMode="auto">
              <a:xfrm>
                <a:off x="1425" y="2750"/>
                <a:ext cx="868" cy="267"/>
                <a:chOff x="1313" y="2496"/>
                <a:chExt cx="1252" cy="427"/>
              </a:xfrm>
            </p:grpSpPr>
            <p:sp>
              <p:nvSpPr>
                <p:cNvPr id="126035" name="Freeform 1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36" name="Freeform 1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37" name="Oval 17"/>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38" name="Oval 18"/>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grpSp>
          <p:nvGrpSpPr>
            <p:cNvPr id="126016" name="Group 19"/>
            <p:cNvGrpSpPr>
              <a:grpSpLocks/>
            </p:cNvGrpSpPr>
            <p:nvPr/>
          </p:nvGrpSpPr>
          <p:grpSpPr bwMode="auto">
            <a:xfrm>
              <a:off x="601" y="1816"/>
              <a:ext cx="964" cy="363"/>
              <a:chOff x="3710" y="1883"/>
              <a:chExt cx="964" cy="363"/>
            </a:xfrm>
          </p:grpSpPr>
          <p:grpSp>
            <p:nvGrpSpPr>
              <p:cNvPr id="126022" name="Group 20"/>
              <p:cNvGrpSpPr>
                <a:grpSpLocks/>
              </p:cNvGrpSpPr>
              <p:nvPr/>
            </p:nvGrpSpPr>
            <p:grpSpPr bwMode="auto">
              <a:xfrm>
                <a:off x="3710" y="1883"/>
                <a:ext cx="868" cy="267"/>
                <a:chOff x="1313" y="2496"/>
                <a:chExt cx="1252" cy="427"/>
              </a:xfrm>
            </p:grpSpPr>
            <p:sp>
              <p:nvSpPr>
                <p:cNvPr id="126028"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29"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30" name="Oval 2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31" name="Oval 2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6023" name="Group 25"/>
              <p:cNvGrpSpPr>
                <a:grpSpLocks/>
              </p:cNvGrpSpPr>
              <p:nvPr/>
            </p:nvGrpSpPr>
            <p:grpSpPr bwMode="auto">
              <a:xfrm>
                <a:off x="3806" y="1979"/>
                <a:ext cx="868" cy="267"/>
                <a:chOff x="1313" y="2496"/>
                <a:chExt cx="1252" cy="427"/>
              </a:xfrm>
            </p:grpSpPr>
            <p:sp>
              <p:nvSpPr>
                <p:cNvPr id="126024" name="Freeform 2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25" name="Freeform 2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26" name="Oval 28"/>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27" name="Oval 29"/>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grpSp>
          <p:nvGrpSpPr>
            <p:cNvPr id="126017" name="Group 30"/>
            <p:cNvGrpSpPr>
              <a:grpSpLocks/>
            </p:cNvGrpSpPr>
            <p:nvPr/>
          </p:nvGrpSpPr>
          <p:grpSpPr bwMode="auto">
            <a:xfrm>
              <a:off x="649" y="1296"/>
              <a:ext cx="868" cy="267"/>
              <a:chOff x="1313" y="2496"/>
              <a:chExt cx="1252" cy="427"/>
            </a:xfrm>
          </p:grpSpPr>
          <p:sp>
            <p:nvSpPr>
              <p:cNvPr id="126018" name="Freeform 3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19" name="Freeform 3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20" name="Oval 3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6021" name="Oval 3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sp>
        <p:nvSpPr>
          <p:cNvPr id="754723" name="AutoShape 35"/>
          <p:cNvSpPr>
            <a:spLocks noChangeArrowheads="1"/>
          </p:cNvSpPr>
          <p:nvPr/>
        </p:nvSpPr>
        <p:spPr bwMode="auto">
          <a:xfrm>
            <a:off x="3505200" y="5881688"/>
            <a:ext cx="3424238" cy="609600"/>
          </a:xfrm>
          <a:prstGeom prst="wedgeRoundRectCallout">
            <a:avLst>
              <a:gd name="adj1" fmla="val 51764"/>
              <a:gd name="adj2" fmla="val -89324"/>
              <a:gd name="adj3" fmla="val 16667"/>
            </a:avLst>
          </a:prstGeom>
          <a:solidFill>
            <a:schemeClr val="bg1"/>
          </a:solidFill>
          <a:ln w="28575">
            <a:solidFill>
              <a:srgbClr val="3399FF"/>
            </a:solidFill>
            <a:miter lim="800000"/>
            <a:headEnd/>
            <a:tailEnd/>
          </a:ln>
        </p:spPr>
        <p:txBody>
          <a:bodyPr wrap="none" anchor="ctr"/>
          <a:lstStyle/>
          <a:p>
            <a:pPr algn="ctr">
              <a:spcBef>
                <a:spcPct val="0"/>
              </a:spcBef>
            </a:pPr>
            <a:r>
              <a:rPr lang="en-US" sz="4000" b="0" dirty="0">
                <a:solidFill>
                  <a:srgbClr val="3399FF"/>
                </a:solidFill>
                <a:latin typeface="Arial" pitchFamily="34" charset="0"/>
                <a:cs typeface="Arial" pitchFamily="34" charset="0"/>
              </a:rPr>
              <a:t>step property</a:t>
            </a:r>
          </a:p>
        </p:txBody>
      </p:sp>
      <p:sp>
        <p:nvSpPr>
          <p:cNvPr id="125958" name="Line 36"/>
          <p:cNvSpPr>
            <a:spLocks noChangeShapeType="1"/>
          </p:cNvSpPr>
          <p:nvPr/>
        </p:nvSpPr>
        <p:spPr bwMode="auto">
          <a:xfrm>
            <a:off x="2349500" y="322421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25959" name="Line 37"/>
          <p:cNvSpPr>
            <a:spLocks noChangeShapeType="1"/>
          </p:cNvSpPr>
          <p:nvPr/>
        </p:nvSpPr>
        <p:spPr bwMode="auto">
          <a:xfrm>
            <a:off x="2349500" y="434181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25960" name="Oval 38"/>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5961" name="Oval 39"/>
          <p:cNvSpPr>
            <a:spLocks noChangeArrowheads="1"/>
          </p:cNvSpPr>
          <p:nvPr/>
        </p:nvSpPr>
        <p:spPr bwMode="auto">
          <a:xfrm>
            <a:off x="4827588" y="4632325"/>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5962" name="Rectangle 40"/>
          <p:cNvSpPr>
            <a:spLocks noGrp="1" noChangeArrowheads="1"/>
          </p:cNvSpPr>
          <p:nvPr>
            <p:ph type="title"/>
          </p:nvPr>
        </p:nvSpPr>
        <p:spPr/>
        <p:txBody>
          <a:bodyPr/>
          <a:lstStyle/>
          <a:p>
            <a:r>
              <a:rPr lang="en-US"/>
              <a:t>Counting Network</a:t>
            </a:r>
          </a:p>
        </p:txBody>
      </p:sp>
      <p:sp>
        <p:nvSpPr>
          <p:cNvPr id="125963" name="Line 41"/>
          <p:cNvSpPr>
            <a:spLocks noChangeShapeType="1"/>
          </p:cNvSpPr>
          <p:nvPr/>
        </p:nvSpPr>
        <p:spPr bwMode="auto">
          <a:xfrm>
            <a:off x="2349500" y="232886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25964" name="Line 42"/>
          <p:cNvSpPr>
            <a:spLocks noChangeShapeType="1"/>
          </p:cNvSpPr>
          <p:nvPr/>
        </p:nvSpPr>
        <p:spPr bwMode="auto">
          <a:xfrm>
            <a:off x="2349500" y="5178425"/>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25965" name="AutoShape 43"/>
          <p:cNvSpPr>
            <a:spLocks noChangeArrowheads="1"/>
          </p:cNvSpPr>
          <p:nvPr/>
        </p:nvSpPr>
        <p:spPr bwMode="auto">
          <a:xfrm>
            <a:off x="2835275" y="39497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5966" name="AutoShape 44"/>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5967" name="AutoShape 45"/>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5968" name="AutoShape 46"/>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5969" name="AutoShape 47"/>
          <p:cNvSpPr>
            <a:spLocks noChangeArrowheads="1"/>
          </p:cNvSpPr>
          <p:nvPr/>
        </p:nvSpPr>
        <p:spPr bwMode="auto">
          <a:xfrm>
            <a:off x="6015038" y="39497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5970" name="AutoShape 48"/>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1" name="Group 49"/>
          <p:cNvGrpSpPr>
            <a:grpSpLocks/>
          </p:cNvGrpSpPr>
          <p:nvPr/>
        </p:nvGrpSpPr>
        <p:grpSpPr bwMode="auto">
          <a:xfrm>
            <a:off x="954088" y="4865688"/>
            <a:ext cx="1377950" cy="423862"/>
            <a:chOff x="1313" y="2496"/>
            <a:chExt cx="1252" cy="427"/>
          </a:xfrm>
        </p:grpSpPr>
        <p:sp>
          <p:nvSpPr>
            <p:cNvPr id="126011" name="Freeform 5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12" name="Freeform 5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13" name="Oval 5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14" name="Oval 5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 name="Group 54"/>
          <p:cNvGrpSpPr>
            <a:grpSpLocks/>
          </p:cNvGrpSpPr>
          <p:nvPr/>
        </p:nvGrpSpPr>
        <p:grpSpPr bwMode="auto">
          <a:xfrm>
            <a:off x="1106488" y="5018088"/>
            <a:ext cx="1377950" cy="423862"/>
            <a:chOff x="1313" y="2496"/>
            <a:chExt cx="1252" cy="427"/>
          </a:xfrm>
        </p:grpSpPr>
        <p:sp>
          <p:nvSpPr>
            <p:cNvPr id="126007" name="Freeform 5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08" name="Freeform 5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09" name="Oval 5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10" name="Oval 5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 name="Group 59"/>
          <p:cNvGrpSpPr>
            <a:grpSpLocks/>
          </p:cNvGrpSpPr>
          <p:nvPr/>
        </p:nvGrpSpPr>
        <p:grpSpPr bwMode="auto">
          <a:xfrm>
            <a:off x="1258888" y="5170488"/>
            <a:ext cx="1377950" cy="423862"/>
            <a:chOff x="1313" y="2496"/>
            <a:chExt cx="1252" cy="427"/>
          </a:xfrm>
        </p:grpSpPr>
        <p:sp>
          <p:nvSpPr>
            <p:cNvPr id="126003" name="Freeform 6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04" name="Freeform 6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05" name="Oval 6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06" name="Oval 6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4" name="Group 64"/>
          <p:cNvGrpSpPr>
            <a:grpSpLocks/>
          </p:cNvGrpSpPr>
          <p:nvPr/>
        </p:nvGrpSpPr>
        <p:grpSpPr bwMode="auto">
          <a:xfrm>
            <a:off x="1030288" y="2959100"/>
            <a:ext cx="1377950" cy="423863"/>
            <a:chOff x="1313" y="2496"/>
            <a:chExt cx="1252" cy="427"/>
          </a:xfrm>
        </p:grpSpPr>
        <p:sp>
          <p:nvSpPr>
            <p:cNvPr id="125999" name="Freeform 6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00" name="Freeform 6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01" name="Oval 6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6002" name="Oval 6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5" name="Group 69"/>
          <p:cNvGrpSpPr>
            <a:grpSpLocks/>
          </p:cNvGrpSpPr>
          <p:nvPr/>
        </p:nvGrpSpPr>
        <p:grpSpPr bwMode="auto">
          <a:xfrm>
            <a:off x="1106488" y="2133600"/>
            <a:ext cx="1377950" cy="423863"/>
            <a:chOff x="1313" y="2496"/>
            <a:chExt cx="1252" cy="427"/>
          </a:xfrm>
        </p:grpSpPr>
        <p:sp>
          <p:nvSpPr>
            <p:cNvPr id="125995" name="Freeform 7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5996" name="Freeform 7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5997" name="Oval 7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5998" name="Oval 7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54763" name="Freeform 75"/>
          <p:cNvSpPr>
            <a:spLocks/>
          </p:cNvSpPr>
          <p:nvPr/>
        </p:nvSpPr>
        <p:spPr bwMode="auto">
          <a:xfrm>
            <a:off x="7162800" y="1828800"/>
            <a:ext cx="1752600" cy="3962400"/>
          </a:xfrm>
          <a:custGeom>
            <a:avLst/>
            <a:gdLst>
              <a:gd name="T0" fmla="*/ 0 w 1104"/>
              <a:gd name="T1" fmla="*/ 0 h 2496"/>
              <a:gd name="T2" fmla="*/ 0 w 1104"/>
              <a:gd name="T3" fmla="*/ 2147483647 h 2496"/>
              <a:gd name="T4" fmla="*/ 2147483647 w 1104"/>
              <a:gd name="T5" fmla="*/ 2147483647 h 2496"/>
              <a:gd name="T6" fmla="*/ 2147483647 w 1104"/>
              <a:gd name="T7" fmla="*/ 2147483647 h 2496"/>
              <a:gd name="T8" fmla="*/ 2147483647 w 1104"/>
              <a:gd name="T9" fmla="*/ 2147483647 h 2496"/>
              <a:gd name="T10" fmla="*/ 2147483647 w 1104"/>
              <a:gd name="T11" fmla="*/ 0 h 2496"/>
              <a:gd name="T12" fmla="*/ 0 w 1104"/>
              <a:gd name="T13" fmla="*/ 0 h 2496"/>
              <a:gd name="T14" fmla="*/ 0 60000 65536"/>
              <a:gd name="T15" fmla="*/ 0 60000 65536"/>
              <a:gd name="T16" fmla="*/ 0 60000 65536"/>
              <a:gd name="T17" fmla="*/ 0 60000 65536"/>
              <a:gd name="T18" fmla="*/ 0 60000 65536"/>
              <a:gd name="T19" fmla="*/ 0 60000 65536"/>
              <a:gd name="T20" fmla="*/ 0 60000 65536"/>
              <a:gd name="T21" fmla="*/ 0 w 1104"/>
              <a:gd name="T22" fmla="*/ 0 h 2496"/>
              <a:gd name="T23" fmla="*/ 1104 w 1104"/>
              <a:gd name="T24" fmla="*/ 2496 h 24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4" h="2496">
                <a:moveTo>
                  <a:pt x="0" y="0"/>
                </a:moveTo>
                <a:lnTo>
                  <a:pt x="0" y="2496"/>
                </a:lnTo>
                <a:lnTo>
                  <a:pt x="672" y="2496"/>
                </a:lnTo>
                <a:lnTo>
                  <a:pt x="688" y="992"/>
                </a:lnTo>
                <a:lnTo>
                  <a:pt x="1104" y="1000"/>
                </a:lnTo>
                <a:lnTo>
                  <a:pt x="1104" y="0"/>
                </a:lnTo>
                <a:lnTo>
                  <a:pt x="0" y="0"/>
                </a:lnTo>
                <a:close/>
              </a:path>
            </a:pathLst>
          </a:custGeom>
          <a:noFill/>
          <a:ln w="38100">
            <a:solidFill>
              <a:srgbClr val="FF0000"/>
            </a:solidFill>
            <a:round/>
            <a:headEnd/>
            <a:tailEnd/>
          </a:ln>
        </p:spPr>
        <p:txBody>
          <a:bodyPr wrap="none" anchor="ctr"/>
          <a:lstStyle/>
          <a:p>
            <a:endParaRPr lang="en-US" dirty="0">
              <a:latin typeface="Courier New" pitchFamily="49" charset="0"/>
            </a:endParaRPr>
          </a:p>
        </p:txBody>
      </p:sp>
      <p:grpSp>
        <p:nvGrpSpPr>
          <p:cNvPr id="16" name="Group 76"/>
          <p:cNvGrpSpPr>
            <a:grpSpLocks/>
          </p:cNvGrpSpPr>
          <p:nvPr/>
        </p:nvGrpSpPr>
        <p:grpSpPr bwMode="auto">
          <a:xfrm>
            <a:off x="1182688" y="3111500"/>
            <a:ext cx="1377950" cy="423863"/>
            <a:chOff x="1313" y="2496"/>
            <a:chExt cx="1252" cy="427"/>
          </a:xfrm>
        </p:grpSpPr>
        <p:sp>
          <p:nvSpPr>
            <p:cNvPr id="125991" name="Freeform 7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5992" name="Freeform 7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5993" name="Oval 7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5994" name="Oval 8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5979" name="Oval 8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0" name="Oval 8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1" name="Oval 8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2" name="Oval 8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3" name="Oval 8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4" name="Oval 86"/>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5" name="Oval 8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6" name="Oval 8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7" name="Oval 8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8" name="Oval 9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89" name="Oval 9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5990" name="Oval 9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05556E-6 -5.55556E-6 L 0.66111 -0.00371 " pathEditMode="relative" ptsTypes="AA">
                                      <p:cBhvr>
                                        <p:cTn id="6" dur="2000" fill="hold"/>
                                        <p:tgtEl>
                                          <p:spTgt spid="15"/>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2.5E-6 2.96296E-6 L 0.66111 2.96296E-6 " pathEditMode="relative" ptsTypes="AA">
                                      <p:cBhvr>
                                        <p:cTn id="8" dur="2000" fill="hold"/>
                                        <p:tgtEl>
                                          <p:spTgt spid="14"/>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2.77778E-6 0.0 C -0.04497 0.0 -0.08959 0.00023 0.00798 -0.00139 C 0.10573 -0.00301 0.46701 0.01157 0.58698 -0.01019 C 0.70712 -0.03171 0.71736 -0.08148 0.72795 -0.13079 " pathEditMode="relative" rAng="0" ptsTypes="aaaA">
                                      <p:cBhvr>
                                        <p:cTn id="10" dur="2000" fill="hold"/>
                                        <p:tgtEl>
                                          <p:spTgt spid="16"/>
                                        </p:tgtEl>
                                        <p:attrNameLst>
                                          <p:attrName>ppt_x</p:attrName>
                                          <p:attrName>ppt_y</p:attrName>
                                        </p:attrNameLst>
                                      </p:cBhvr>
                                      <p:rCtr x="31900" y="-6000"/>
                                    </p:animMotion>
                                  </p:childTnLst>
                                </p:cTn>
                              </p:par>
                              <p:par>
                                <p:cTn id="11" presetID="0" presetClass="path" presetSubtype="0" accel="50000" decel="50000" fill="hold" nodeType="withEffect">
                                  <p:stCondLst>
                                    <p:cond delay="0"/>
                                  </p:stCondLst>
                                  <p:childTnLst>
                                    <p:animMotion origin="layout" path="M 0.03194 0.0037 L 0.68194 0.00926 " pathEditMode="relative" rAng="0" ptsTypes="AA">
                                      <p:cBhvr>
                                        <p:cTn id="12" dur="2000" fill="hold"/>
                                        <p:tgtEl>
                                          <p:spTgt spid="11"/>
                                        </p:tgtEl>
                                        <p:attrNameLst>
                                          <p:attrName>ppt_x</p:attrName>
                                          <p:attrName>ppt_y</p:attrName>
                                        </p:attrNameLst>
                                      </p:cBhvr>
                                      <p:rCtr x="32500" y="300"/>
                                    </p:animMotion>
                                  </p:childTnLst>
                                </p:cTn>
                              </p:par>
                              <p:par>
                                <p:cTn id="13" presetID="0" presetClass="path" presetSubtype="0" accel="50000" decel="50000" fill="hold" nodeType="withEffect">
                                  <p:stCondLst>
                                    <p:cond delay="0"/>
                                  </p:stCondLst>
                                  <p:childTnLst>
                                    <p:animMotion origin="layout" path="M 0.00834 -0.00185 C 0.05886 0.00903 0.10938 0.02014 0.1375 -0.00185 C 0.16563 -0.02384 0.09167 -0.11227 0.17778 -0.13333 C 0.26389 -0.1544 0.45903 -0.1412 0.65417 -0.12778 " pathEditMode="relative" rAng="0" ptsTypes="aaaA">
                                      <p:cBhvr>
                                        <p:cTn id="14" dur="2000" fill="hold"/>
                                        <p:tgtEl>
                                          <p:spTgt spid="12"/>
                                        </p:tgtEl>
                                        <p:attrNameLst>
                                          <p:attrName>ppt_x</p:attrName>
                                          <p:attrName>ppt_y</p:attrName>
                                        </p:attrNameLst>
                                      </p:cBhvr>
                                      <p:rCtr x="32300" y="-6500"/>
                                    </p:animMotion>
                                  </p:childTnLst>
                                </p:cTn>
                              </p:par>
                              <p:par>
                                <p:cTn id="15" presetID="0" presetClass="path" presetSubtype="0" accel="50000" decel="50000" fill="hold" nodeType="withEffect">
                                  <p:stCondLst>
                                    <p:cond delay="0"/>
                                  </p:stCondLst>
                                  <p:childTnLst>
                                    <p:animMotion origin="layout" path="M 3.05556E-6 4.07407E-6 C 0.0441 0.00648 0.08837 0.01296 0.10833 -0.01482 C 0.1283 -0.04259 0.09982 -0.13588 0.11944 -0.16667 C 0.13906 -0.19746 0.20746 -0.17709 0.22639 -0.2 C 0.24531 -0.22292 0.15121 -0.28241 0.23333 -0.30371 C 0.31545 -0.325 0.51736 -0.32639 0.71944 -0.32778 " pathEditMode="relative" ptsTypes="aaaaaA">
                                      <p:cBhvr>
                                        <p:cTn id="16" dur="2000" fill="hold"/>
                                        <p:tgtEl>
                                          <p:spTgt spid="13"/>
                                        </p:tgtEl>
                                        <p:attrNameLst>
                                          <p:attrName>ppt_x</p:attrName>
                                          <p:attrName>ppt_y</p:attrName>
                                        </p:attrNameLst>
                                      </p:cBhvr>
                                    </p:animMotion>
                                  </p:childTnLst>
                                </p:cTn>
                              </p:par>
                            </p:childTnLst>
                          </p:cTn>
                        </p:par>
                        <p:par>
                          <p:cTn id="17" fill="hold">
                            <p:stCondLst>
                              <p:cond delay="2000"/>
                            </p:stCondLst>
                            <p:childTnLst>
                              <p:par>
                                <p:cTn id="18" presetID="3" presetClass="entr" presetSubtype="10" fill="hold" grpId="0" nodeType="afterEffect">
                                  <p:stCondLst>
                                    <p:cond delay="0"/>
                                  </p:stCondLst>
                                  <p:childTnLst>
                                    <p:set>
                                      <p:cBhvr>
                                        <p:cTn id="19" dur="1" fill="hold">
                                          <p:stCondLst>
                                            <p:cond delay="0"/>
                                          </p:stCondLst>
                                        </p:cTn>
                                        <p:tgtEl>
                                          <p:spTgt spid="754763"/>
                                        </p:tgtEl>
                                        <p:attrNameLst>
                                          <p:attrName>style.visibility</p:attrName>
                                        </p:attrNameLst>
                                      </p:cBhvr>
                                      <p:to>
                                        <p:strVal val="visible"/>
                                      </p:to>
                                    </p:set>
                                    <p:animEffect transition="in" filter="blinds(horizontal)">
                                      <p:cBhvr>
                                        <p:cTn id="20" dur="500"/>
                                        <p:tgtEl>
                                          <p:spTgt spid="75476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54723"/>
                                        </p:tgtEl>
                                        <p:attrNameLst>
                                          <p:attrName>style.visibility</p:attrName>
                                        </p:attrNameLst>
                                      </p:cBhvr>
                                      <p:to>
                                        <p:strVal val="visible"/>
                                      </p:to>
                                    </p:set>
                                    <p:animEffect transition="in" filter="blinds(horizontal)">
                                      <p:cBhvr>
                                        <p:cTn id="23" dur="500"/>
                                        <p:tgtEl>
                                          <p:spTgt spid="754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723" grpId="0" animBg="1"/>
      <p:bldP spid="754763"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4"/>
          <p:cNvSpPr>
            <a:spLocks noGrp="1"/>
          </p:cNvSpPr>
          <p:nvPr>
            <p:ph type="ftr" sz="quarter" idx="10"/>
          </p:nvPr>
        </p:nvSpPr>
        <p:spPr/>
        <p:txBody>
          <a:bodyPr/>
          <a:lstStyle/>
          <a:p>
            <a:pPr>
              <a:defRPr/>
            </a:pPr>
            <a:r>
              <a:rPr lang="en-US"/>
              <a:t>Art of Multiprocessor Programming</a:t>
            </a:r>
          </a:p>
        </p:txBody>
      </p:sp>
      <p:sp>
        <p:nvSpPr>
          <p:cNvPr id="41" name="Slide Number Placeholder 5"/>
          <p:cNvSpPr>
            <a:spLocks noGrp="1"/>
          </p:cNvSpPr>
          <p:nvPr>
            <p:ph type="sldNum" sz="quarter" idx="11"/>
          </p:nvPr>
        </p:nvSpPr>
        <p:spPr/>
        <p:txBody>
          <a:bodyPr/>
          <a:lstStyle/>
          <a:p>
            <a:pPr>
              <a:defRPr/>
            </a:pPr>
            <a:fld id="{F10C16D7-2E10-46DC-A93E-AC4DF5A3C22B}" type="slidenum">
              <a:rPr lang="en-US"/>
              <a:pPr>
                <a:defRPr/>
              </a:pPr>
              <a:t>126</a:t>
            </a:fld>
            <a:endParaRPr lang="en-US"/>
          </a:p>
        </p:txBody>
      </p:sp>
      <p:sp>
        <p:nvSpPr>
          <p:cNvPr id="133124" name="Line 2"/>
          <p:cNvSpPr>
            <a:spLocks noChangeShapeType="1"/>
          </p:cNvSpPr>
          <p:nvPr/>
        </p:nvSpPr>
        <p:spPr bwMode="auto">
          <a:xfrm>
            <a:off x="1274763" y="3224213"/>
            <a:ext cx="4564062"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25" name="Line 3"/>
          <p:cNvSpPr>
            <a:spLocks noChangeShapeType="1"/>
          </p:cNvSpPr>
          <p:nvPr/>
        </p:nvSpPr>
        <p:spPr bwMode="auto">
          <a:xfrm>
            <a:off x="1274763" y="4316413"/>
            <a:ext cx="4564062"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26" name="Oval 4"/>
          <p:cNvSpPr>
            <a:spLocks noChangeArrowheads="1"/>
          </p:cNvSpPr>
          <p:nvPr/>
        </p:nvSpPr>
        <p:spPr bwMode="auto">
          <a:xfrm>
            <a:off x="3752850" y="3117850"/>
            <a:ext cx="658813"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3127" name="Oval 5"/>
          <p:cNvSpPr>
            <a:spLocks noChangeArrowheads="1"/>
          </p:cNvSpPr>
          <p:nvPr/>
        </p:nvSpPr>
        <p:spPr bwMode="auto">
          <a:xfrm>
            <a:off x="3752850" y="4202113"/>
            <a:ext cx="658813"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3128" name="Rectangle 6"/>
          <p:cNvSpPr>
            <a:spLocks noGrp="1" noChangeArrowheads="1"/>
          </p:cNvSpPr>
          <p:nvPr>
            <p:ph type="title"/>
          </p:nvPr>
        </p:nvSpPr>
        <p:spPr/>
        <p:txBody>
          <a:bodyPr/>
          <a:lstStyle/>
          <a:p>
            <a:r>
              <a:rPr lang="en-US"/>
              <a:t>Counting Networks Count!</a:t>
            </a:r>
          </a:p>
        </p:txBody>
      </p:sp>
      <p:sp>
        <p:nvSpPr>
          <p:cNvPr id="133129" name="Line 7"/>
          <p:cNvSpPr>
            <a:spLocks noChangeShapeType="1"/>
          </p:cNvSpPr>
          <p:nvPr/>
        </p:nvSpPr>
        <p:spPr bwMode="auto">
          <a:xfrm>
            <a:off x="1274763" y="2328863"/>
            <a:ext cx="4564062"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30" name="Line 8"/>
          <p:cNvSpPr>
            <a:spLocks noChangeShapeType="1"/>
          </p:cNvSpPr>
          <p:nvPr/>
        </p:nvSpPr>
        <p:spPr bwMode="auto">
          <a:xfrm>
            <a:off x="1274763" y="5178425"/>
            <a:ext cx="4564062"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31" name="AutoShape 9"/>
          <p:cNvSpPr>
            <a:spLocks noChangeArrowheads="1"/>
          </p:cNvSpPr>
          <p:nvPr/>
        </p:nvSpPr>
        <p:spPr bwMode="auto">
          <a:xfrm>
            <a:off x="17605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3132" name="AutoShape 10"/>
          <p:cNvSpPr>
            <a:spLocks noChangeArrowheads="1"/>
          </p:cNvSpPr>
          <p:nvPr/>
        </p:nvSpPr>
        <p:spPr bwMode="auto">
          <a:xfrm>
            <a:off x="17605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3133" name="AutoShape 11"/>
          <p:cNvSpPr>
            <a:spLocks noChangeArrowheads="1"/>
          </p:cNvSpPr>
          <p:nvPr/>
        </p:nvSpPr>
        <p:spPr bwMode="auto">
          <a:xfrm>
            <a:off x="2833688" y="2938463"/>
            <a:ext cx="373062"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3134" name="AutoShape 12"/>
          <p:cNvSpPr>
            <a:spLocks noChangeArrowheads="1"/>
          </p:cNvSpPr>
          <p:nvPr/>
        </p:nvSpPr>
        <p:spPr bwMode="auto">
          <a:xfrm>
            <a:off x="3905250" y="2005013"/>
            <a:ext cx="373063"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3135" name="AutoShape 13"/>
          <p:cNvSpPr>
            <a:spLocks noChangeArrowheads="1"/>
          </p:cNvSpPr>
          <p:nvPr/>
        </p:nvSpPr>
        <p:spPr bwMode="auto">
          <a:xfrm>
            <a:off x="4978400"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3136" name="AutoShape 14"/>
          <p:cNvSpPr>
            <a:spLocks noChangeArrowheads="1"/>
          </p:cNvSpPr>
          <p:nvPr/>
        </p:nvSpPr>
        <p:spPr bwMode="auto">
          <a:xfrm>
            <a:off x="4978400"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6993" name="Line 15"/>
          <p:cNvSpPr>
            <a:spLocks noChangeShapeType="1"/>
          </p:cNvSpPr>
          <p:nvPr/>
        </p:nvSpPr>
        <p:spPr bwMode="auto">
          <a:xfrm>
            <a:off x="6291263" y="2324100"/>
            <a:ext cx="284162" cy="1588"/>
          </a:xfrm>
          <a:prstGeom prst="line">
            <a:avLst/>
          </a:prstGeom>
          <a:noFill/>
          <a:ln w="25400">
            <a:solidFill>
              <a:schemeClr val="tx2"/>
            </a:solidFill>
            <a:round/>
            <a:headEnd/>
            <a:tailEnd type="triangle" w="med" len="med"/>
          </a:ln>
        </p:spPr>
        <p:txBody>
          <a:bodyPr/>
          <a:lstStyle/>
          <a:p>
            <a:pPr>
              <a:defRPr/>
            </a:pPr>
            <a:endParaRPr lang="en-US" dirty="0">
              <a:latin typeface="Arial" pitchFamily="34" charset="0"/>
            </a:endParaRPr>
          </a:p>
        </p:txBody>
      </p:sp>
      <p:sp>
        <p:nvSpPr>
          <p:cNvPr id="126995" name="Rectangle 17"/>
          <p:cNvSpPr>
            <a:spLocks noChangeArrowheads="1"/>
          </p:cNvSpPr>
          <p:nvPr/>
        </p:nvSpPr>
        <p:spPr bwMode="auto">
          <a:xfrm>
            <a:off x="5936364" y="2200275"/>
            <a:ext cx="230188" cy="328613"/>
          </a:xfrm>
          <a:prstGeom prst="rect">
            <a:avLst/>
          </a:prstGeom>
          <a:solidFill>
            <a:schemeClr val="accent1">
              <a:lumMod val="75000"/>
              <a:alpha val="82000"/>
            </a:schemeClr>
          </a:solidFill>
          <a:ln w="19050">
            <a:solidFill>
              <a:schemeClr val="tx2"/>
            </a:solidFill>
            <a:miter lim="800000"/>
            <a:headEnd/>
            <a:tailEnd/>
          </a:ln>
          <a:effectLst>
            <a:innerShdw>
              <a:prstClr val="black">
                <a:alpha val="74000"/>
              </a:prstClr>
            </a:innerShdw>
          </a:effectLst>
        </p:spPr>
        <p:txBody>
          <a:bodyPr wrap="none" anchor="ctr"/>
          <a:lstStyle/>
          <a:p>
            <a:pPr>
              <a:defRPr/>
            </a:pPr>
            <a:endParaRPr lang="en-US" dirty="0">
              <a:latin typeface="Arial" pitchFamily="34" charset="0"/>
            </a:endParaRPr>
          </a:p>
        </p:txBody>
      </p:sp>
      <p:sp>
        <p:nvSpPr>
          <p:cNvPr id="126996" name="Rectangle 18"/>
          <p:cNvSpPr>
            <a:spLocks noChangeArrowheads="1"/>
          </p:cNvSpPr>
          <p:nvPr/>
        </p:nvSpPr>
        <p:spPr bwMode="auto">
          <a:xfrm>
            <a:off x="5930014" y="3109913"/>
            <a:ext cx="230188" cy="328612"/>
          </a:xfrm>
          <a:prstGeom prst="rect">
            <a:avLst/>
          </a:prstGeom>
          <a:solidFill>
            <a:schemeClr val="accent1">
              <a:lumMod val="75000"/>
              <a:alpha val="82000"/>
            </a:schemeClr>
          </a:solidFill>
          <a:ln w="19050">
            <a:solidFill>
              <a:schemeClr val="tx2"/>
            </a:solidFill>
            <a:miter lim="800000"/>
            <a:headEnd/>
            <a:tailEnd/>
          </a:ln>
          <a:effectLst>
            <a:innerShdw>
              <a:prstClr val="black">
                <a:alpha val="74000"/>
              </a:prstClr>
            </a:innerShdw>
          </a:effectLst>
        </p:spPr>
        <p:txBody>
          <a:bodyPr wrap="none" anchor="ctr"/>
          <a:lstStyle/>
          <a:p>
            <a:pPr>
              <a:defRPr/>
            </a:pPr>
            <a:endParaRPr lang="en-US" dirty="0">
              <a:latin typeface="Arial" pitchFamily="34" charset="0"/>
            </a:endParaRPr>
          </a:p>
        </p:txBody>
      </p:sp>
      <p:sp>
        <p:nvSpPr>
          <p:cNvPr id="126997" name="Rectangle 19"/>
          <p:cNvSpPr>
            <a:spLocks noChangeArrowheads="1"/>
          </p:cNvSpPr>
          <p:nvPr/>
        </p:nvSpPr>
        <p:spPr bwMode="auto">
          <a:xfrm>
            <a:off x="5936364" y="4185105"/>
            <a:ext cx="230188" cy="328613"/>
          </a:xfrm>
          <a:prstGeom prst="rect">
            <a:avLst/>
          </a:prstGeom>
          <a:solidFill>
            <a:schemeClr val="accent1">
              <a:lumMod val="75000"/>
              <a:alpha val="82000"/>
            </a:schemeClr>
          </a:solidFill>
          <a:ln w="19050">
            <a:solidFill>
              <a:schemeClr val="tx2"/>
            </a:solidFill>
            <a:miter lim="800000"/>
            <a:headEnd/>
            <a:tailEnd/>
          </a:ln>
          <a:effectLst>
            <a:innerShdw>
              <a:prstClr val="black">
                <a:alpha val="74000"/>
              </a:prstClr>
            </a:innerShdw>
          </a:effectLst>
        </p:spPr>
        <p:txBody>
          <a:bodyPr wrap="none" anchor="ctr"/>
          <a:lstStyle/>
          <a:p>
            <a:pPr>
              <a:defRPr/>
            </a:pPr>
            <a:endParaRPr lang="en-US" dirty="0">
              <a:latin typeface="Arial" pitchFamily="34" charset="0"/>
            </a:endParaRPr>
          </a:p>
        </p:txBody>
      </p:sp>
      <p:sp>
        <p:nvSpPr>
          <p:cNvPr id="126998" name="Rectangle 20"/>
          <p:cNvSpPr>
            <a:spLocks noChangeArrowheads="1"/>
          </p:cNvSpPr>
          <p:nvPr/>
        </p:nvSpPr>
        <p:spPr bwMode="auto">
          <a:xfrm>
            <a:off x="5936364" y="5029200"/>
            <a:ext cx="230188" cy="328613"/>
          </a:xfrm>
          <a:prstGeom prst="rect">
            <a:avLst/>
          </a:prstGeom>
          <a:solidFill>
            <a:schemeClr val="accent1">
              <a:lumMod val="75000"/>
              <a:alpha val="82000"/>
            </a:schemeClr>
          </a:solidFill>
          <a:ln w="19050">
            <a:solidFill>
              <a:schemeClr val="tx2"/>
            </a:solidFill>
            <a:miter lim="800000"/>
            <a:headEnd/>
            <a:tailEnd/>
          </a:ln>
          <a:effectLst>
            <a:innerShdw>
              <a:prstClr val="black">
                <a:alpha val="74000"/>
              </a:prstClr>
            </a:innerShdw>
          </a:effectLst>
        </p:spPr>
        <p:txBody>
          <a:bodyPr wrap="none" anchor="ctr"/>
          <a:lstStyle/>
          <a:p>
            <a:pPr>
              <a:defRPr/>
            </a:pPr>
            <a:endParaRPr lang="en-US" dirty="0">
              <a:latin typeface="Arial" pitchFamily="34" charset="0"/>
            </a:endParaRPr>
          </a:p>
        </p:txBody>
      </p:sp>
      <p:sp>
        <p:nvSpPr>
          <p:cNvPr id="126999" name="Rectangle 21"/>
          <p:cNvSpPr>
            <a:spLocks noChangeArrowheads="1"/>
          </p:cNvSpPr>
          <p:nvPr/>
        </p:nvSpPr>
        <p:spPr bwMode="auto">
          <a:xfrm>
            <a:off x="6573838" y="2168525"/>
            <a:ext cx="1144545" cy="339067"/>
          </a:xfrm>
          <a:prstGeom prst="rect">
            <a:avLst/>
          </a:prstGeom>
          <a:noFill/>
          <a:ln w="25400">
            <a:noFill/>
            <a:miter lim="800000"/>
            <a:headEnd/>
            <a:tailEnd/>
          </a:ln>
        </p:spPr>
        <p:txBody>
          <a:bodyPr wrap="none" lIns="90488" tIns="44450" rIns="90488" bIns="44450">
            <a:spAutoFit/>
          </a:bodyPr>
          <a:lstStyle/>
          <a:p>
            <a:pPr rtl="1">
              <a:lnSpc>
                <a:spcPct val="90000"/>
              </a:lnSpc>
              <a:spcBef>
                <a:spcPct val="0"/>
              </a:spcBef>
              <a:defRPr/>
            </a:pPr>
            <a:r>
              <a:rPr lang="en-US" sz="1800" dirty="0">
                <a:solidFill>
                  <a:schemeClr val="tx1"/>
                </a:solidFill>
                <a:latin typeface="Arial" pitchFamily="34" charset="0"/>
              </a:rPr>
              <a:t>0, 4,  8....</a:t>
            </a:r>
          </a:p>
        </p:txBody>
      </p:sp>
      <p:sp>
        <p:nvSpPr>
          <p:cNvPr id="127000" name="Rectangle 22"/>
          <p:cNvSpPr>
            <a:spLocks noChangeArrowheads="1"/>
          </p:cNvSpPr>
          <p:nvPr/>
        </p:nvSpPr>
        <p:spPr bwMode="auto">
          <a:xfrm>
            <a:off x="6584950" y="3078163"/>
            <a:ext cx="1208665" cy="339067"/>
          </a:xfrm>
          <a:prstGeom prst="rect">
            <a:avLst/>
          </a:prstGeom>
          <a:noFill/>
          <a:ln w="25400">
            <a:noFill/>
            <a:miter lim="800000"/>
            <a:headEnd/>
            <a:tailEnd/>
          </a:ln>
        </p:spPr>
        <p:txBody>
          <a:bodyPr wrap="none" lIns="90488" tIns="44450" rIns="90488" bIns="44450">
            <a:spAutoFit/>
          </a:bodyPr>
          <a:lstStyle/>
          <a:p>
            <a:pPr rtl="1">
              <a:lnSpc>
                <a:spcPct val="90000"/>
              </a:lnSpc>
              <a:spcBef>
                <a:spcPct val="0"/>
              </a:spcBef>
              <a:defRPr/>
            </a:pPr>
            <a:r>
              <a:rPr lang="en-US" sz="1800" dirty="0">
                <a:solidFill>
                  <a:schemeClr val="tx1"/>
                </a:solidFill>
                <a:latin typeface="Arial" pitchFamily="34" charset="0"/>
              </a:rPr>
              <a:t>1, 5,  9.....</a:t>
            </a:r>
          </a:p>
        </p:txBody>
      </p:sp>
      <p:sp>
        <p:nvSpPr>
          <p:cNvPr id="127001" name="Line 23"/>
          <p:cNvSpPr>
            <a:spLocks noChangeShapeType="1"/>
          </p:cNvSpPr>
          <p:nvPr/>
        </p:nvSpPr>
        <p:spPr bwMode="auto">
          <a:xfrm>
            <a:off x="6284913" y="3198813"/>
            <a:ext cx="284162" cy="1587"/>
          </a:xfrm>
          <a:prstGeom prst="line">
            <a:avLst/>
          </a:prstGeom>
          <a:noFill/>
          <a:ln w="25400">
            <a:solidFill>
              <a:schemeClr val="tx2"/>
            </a:solidFill>
            <a:round/>
            <a:headEnd/>
            <a:tailEnd type="triangle" w="med" len="med"/>
          </a:ln>
        </p:spPr>
        <p:txBody>
          <a:bodyPr/>
          <a:lstStyle/>
          <a:p>
            <a:pPr>
              <a:defRPr/>
            </a:pPr>
            <a:endParaRPr lang="en-US" dirty="0">
              <a:latin typeface="Arial" pitchFamily="34" charset="0"/>
            </a:endParaRPr>
          </a:p>
        </p:txBody>
      </p:sp>
      <p:sp>
        <p:nvSpPr>
          <p:cNvPr id="127002" name="Rectangle 24"/>
          <p:cNvSpPr>
            <a:spLocks noChangeArrowheads="1"/>
          </p:cNvSpPr>
          <p:nvPr/>
        </p:nvSpPr>
        <p:spPr bwMode="auto">
          <a:xfrm>
            <a:off x="6627813" y="4195763"/>
            <a:ext cx="888065" cy="339067"/>
          </a:xfrm>
          <a:prstGeom prst="rect">
            <a:avLst/>
          </a:prstGeom>
          <a:noFill/>
          <a:ln w="25400">
            <a:noFill/>
            <a:miter lim="800000"/>
            <a:headEnd/>
            <a:tailEnd/>
          </a:ln>
        </p:spPr>
        <p:txBody>
          <a:bodyPr wrap="none" lIns="90488" tIns="44450" rIns="90488" bIns="44450">
            <a:spAutoFit/>
          </a:bodyPr>
          <a:lstStyle/>
          <a:p>
            <a:pPr rtl="1">
              <a:lnSpc>
                <a:spcPct val="90000"/>
              </a:lnSpc>
              <a:spcBef>
                <a:spcPct val="0"/>
              </a:spcBef>
              <a:defRPr/>
            </a:pPr>
            <a:r>
              <a:rPr lang="en-US" sz="1800" dirty="0">
                <a:solidFill>
                  <a:schemeClr val="tx1"/>
                </a:solidFill>
                <a:latin typeface="Arial" pitchFamily="34" charset="0"/>
              </a:rPr>
              <a:t>2, 6, ...</a:t>
            </a:r>
          </a:p>
        </p:txBody>
      </p:sp>
      <p:sp>
        <p:nvSpPr>
          <p:cNvPr id="127003" name="Line 25"/>
          <p:cNvSpPr>
            <a:spLocks noChangeShapeType="1"/>
          </p:cNvSpPr>
          <p:nvPr/>
        </p:nvSpPr>
        <p:spPr bwMode="auto">
          <a:xfrm>
            <a:off x="6308725" y="4348163"/>
            <a:ext cx="284163" cy="1587"/>
          </a:xfrm>
          <a:prstGeom prst="line">
            <a:avLst/>
          </a:prstGeom>
          <a:noFill/>
          <a:ln w="25400">
            <a:solidFill>
              <a:schemeClr val="tx2"/>
            </a:solidFill>
            <a:round/>
            <a:headEnd/>
            <a:tailEnd type="triangle" w="med" len="med"/>
          </a:ln>
        </p:spPr>
        <p:txBody>
          <a:bodyPr/>
          <a:lstStyle/>
          <a:p>
            <a:pPr>
              <a:defRPr/>
            </a:pPr>
            <a:endParaRPr lang="en-US" dirty="0">
              <a:latin typeface="Arial" pitchFamily="34" charset="0"/>
            </a:endParaRPr>
          </a:p>
        </p:txBody>
      </p:sp>
      <p:sp>
        <p:nvSpPr>
          <p:cNvPr id="127004" name="Rectangle 26"/>
          <p:cNvSpPr>
            <a:spLocks noChangeArrowheads="1"/>
          </p:cNvSpPr>
          <p:nvPr/>
        </p:nvSpPr>
        <p:spPr bwMode="auto">
          <a:xfrm>
            <a:off x="6627813" y="5033963"/>
            <a:ext cx="823945" cy="339067"/>
          </a:xfrm>
          <a:prstGeom prst="rect">
            <a:avLst/>
          </a:prstGeom>
          <a:noFill/>
          <a:ln w="25400">
            <a:noFill/>
            <a:miter lim="800000"/>
            <a:headEnd/>
            <a:tailEnd/>
          </a:ln>
        </p:spPr>
        <p:txBody>
          <a:bodyPr wrap="none" lIns="90488" tIns="44450" rIns="90488" bIns="44450">
            <a:spAutoFit/>
          </a:bodyPr>
          <a:lstStyle/>
          <a:p>
            <a:pPr rtl="1">
              <a:lnSpc>
                <a:spcPct val="90000"/>
              </a:lnSpc>
              <a:spcBef>
                <a:spcPct val="0"/>
              </a:spcBef>
              <a:defRPr/>
            </a:pPr>
            <a:r>
              <a:rPr lang="en-US" sz="1800" dirty="0">
                <a:solidFill>
                  <a:schemeClr val="tx1"/>
                </a:solidFill>
                <a:latin typeface="Arial" pitchFamily="34" charset="0"/>
              </a:rPr>
              <a:t>3, 7 ...</a:t>
            </a:r>
          </a:p>
        </p:txBody>
      </p:sp>
      <p:sp>
        <p:nvSpPr>
          <p:cNvPr id="127005" name="Line 27"/>
          <p:cNvSpPr>
            <a:spLocks noChangeShapeType="1"/>
          </p:cNvSpPr>
          <p:nvPr/>
        </p:nvSpPr>
        <p:spPr bwMode="auto">
          <a:xfrm>
            <a:off x="6326188" y="5203825"/>
            <a:ext cx="285750" cy="1588"/>
          </a:xfrm>
          <a:prstGeom prst="line">
            <a:avLst/>
          </a:prstGeom>
          <a:noFill/>
          <a:ln w="25400">
            <a:solidFill>
              <a:schemeClr val="tx2"/>
            </a:solidFill>
            <a:round/>
            <a:headEnd/>
            <a:tailEnd type="triangle" w="med" len="med"/>
          </a:ln>
        </p:spPr>
        <p:txBody>
          <a:bodyPr/>
          <a:lstStyle/>
          <a:p>
            <a:pPr>
              <a:defRPr/>
            </a:pPr>
            <a:endParaRPr lang="en-US" dirty="0">
              <a:latin typeface="Arial" pitchFamily="34" charset="0"/>
            </a:endParaRPr>
          </a:p>
        </p:txBody>
      </p:sp>
      <p:sp>
        <p:nvSpPr>
          <p:cNvPr id="133157" name="Oval 28"/>
          <p:cNvSpPr>
            <a:spLocks noChangeArrowheads="1"/>
          </p:cNvSpPr>
          <p:nvPr/>
        </p:nvSpPr>
        <p:spPr bwMode="auto">
          <a:xfrm>
            <a:off x="1824038"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58" name="Oval 29"/>
          <p:cNvSpPr>
            <a:spLocks noChangeArrowheads="1"/>
          </p:cNvSpPr>
          <p:nvPr/>
        </p:nvSpPr>
        <p:spPr bwMode="auto">
          <a:xfrm>
            <a:off x="1824038"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59" name="Oval 30"/>
          <p:cNvSpPr>
            <a:spLocks noChangeArrowheads="1"/>
          </p:cNvSpPr>
          <p:nvPr/>
        </p:nvSpPr>
        <p:spPr bwMode="auto">
          <a:xfrm>
            <a:off x="182403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0" name="Oval 31"/>
          <p:cNvSpPr>
            <a:spLocks noChangeArrowheads="1"/>
          </p:cNvSpPr>
          <p:nvPr/>
        </p:nvSpPr>
        <p:spPr bwMode="auto">
          <a:xfrm>
            <a:off x="182403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1" name="Oval 32"/>
          <p:cNvSpPr>
            <a:spLocks noChangeArrowheads="1"/>
          </p:cNvSpPr>
          <p:nvPr/>
        </p:nvSpPr>
        <p:spPr bwMode="auto">
          <a:xfrm>
            <a:off x="2897188"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2" name="Oval 33"/>
          <p:cNvSpPr>
            <a:spLocks noChangeArrowheads="1"/>
          </p:cNvSpPr>
          <p:nvPr/>
        </p:nvSpPr>
        <p:spPr bwMode="auto">
          <a:xfrm>
            <a:off x="2897188"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3" name="Oval 34"/>
          <p:cNvSpPr>
            <a:spLocks noChangeArrowheads="1"/>
          </p:cNvSpPr>
          <p:nvPr/>
        </p:nvSpPr>
        <p:spPr bwMode="auto">
          <a:xfrm>
            <a:off x="3978275"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4" name="Oval 35"/>
          <p:cNvSpPr>
            <a:spLocks noChangeArrowheads="1"/>
          </p:cNvSpPr>
          <p:nvPr/>
        </p:nvSpPr>
        <p:spPr bwMode="auto">
          <a:xfrm>
            <a:off x="3968750"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5" name="Oval 36"/>
          <p:cNvSpPr>
            <a:spLocks noChangeArrowheads="1"/>
          </p:cNvSpPr>
          <p:nvPr/>
        </p:nvSpPr>
        <p:spPr bwMode="auto">
          <a:xfrm>
            <a:off x="5022850"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6" name="Oval 37"/>
          <p:cNvSpPr>
            <a:spLocks noChangeArrowheads="1"/>
          </p:cNvSpPr>
          <p:nvPr/>
        </p:nvSpPr>
        <p:spPr bwMode="auto">
          <a:xfrm>
            <a:off x="5022850"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7" name="Oval 38"/>
          <p:cNvSpPr>
            <a:spLocks noChangeArrowheads="1"/>
          </p:cNvSpPr>
          <p:nvPr/>
        </p:nvSpPr>
        <p:spPr bwMode="auto">
          <a:xfrm>
            <a:off x="5022850"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3168" name="Oval 39"/>
          <p:cNvSpPr>
            <a:spLocks noChangeArrowheads="1"/>
          </p:cNvSpPr>
          <p:nvPr/>
        </p:nvSpPr>
        <p:spPr bwMode="auto">
          <a:xfrm>
            <a:off x="5022850"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49" name="Freeform 75"/>
          <p:cNvSpPr>
            <a:spLocks/>
          </p:cNvSpPr>
          <p:nvPr/>
        </p:nvSpPr>
        <p:spPr bwMode="auto">
          <a:xfrm>
            <a:off x="6581775" y="2005013"/>
            <a:ext cx="1447800" cy="3497262"/>
          </a:xfrm>
          <a:custGeom>
            <a:avLst/>
            <a:gdLst>
              <a:gd name="T0" fmla="*/ 0 w 1104"/>
              <a:gd name="T1" fmla="*/ 0 h 2496"/>
              <a:gd name="T2" fmla="*/ 0 w 1104"/>
              <a:gd name="T3" fmla="*/ 2147483647 h 2496"/>
              <a:gd name="T4" fmla="*/ 2147483647 w 1104"/>
              <a:gd name="T5" fmla="*/ 2147483647 h 2496"/>
              <a:gd name="T6" fmla="*/ 2147483647 w 1104"/>
              <a:gd name="T7" fmla="*/ 2147483647 h 2496"/>
              <a:gd name="T8" fmla="*/ 2147483647 w 1104"/>
              <a:gd name="T9" fmla="*/ 2147483647 h 2496"/>
              <a:gd name="T10" fmla="*/ 2147483647 w 1104"/>
              <a:gd name="T11" fmla="*/ 0 h 2496"/>
              <a:gd name="T12" fmla="*/ 0 w 1104"/>
              <a:gd name="T13" fmla="*/ 0 h 2496"/>
              <a:gd name="T14" fmla="*/ 0 60000 65536"/>
              <a:gd name="T15" fmla="*/ 0 60000 65536"/>
              <a:gd name="T16" fmla="*/ 0 60000 65536"/>
              <a:gd name="T17" fmla="*/ 0 60000 65536"/>
              <a:gd name="T18" fmla="*/ 0 60000 65536"/>
              <a:gd name="T19" fmla="*/ 0 60000 65536"/>
              <a:gd name="T20" fmla="*/ 0 60000 65536"/>
              <a:gd name="T21" fmla="*/ 0 w 1104"/>
              <a:gd name="T22" fmla="*/ 0 h 2496"/>
              <a:gd name="T23" fmla="*/ 1104 w 1104"/>
              <a:gd name="T24" fmla="*/ 2496 h 24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4" h="2496">
                <a:moveTo>
                  <a:pt x="0" y="0"/>
                </a:moveTo>
                <a:lnTo>
                  <a:pt x="0" y="2496"/>
                </a:lnTo>
                <a:lnTo>
                  <a:pt x="672" y="2496"/>
                </a:lnTo>
                <a:lnTo>
                  <a:pt x="688" y="992"/>
                </a:lnTo>
                <a:lnTo>
                  <a:pt x="1104" y="1000"/>
                </a:lnTo>
                <a:lnTo>
                  <a:pt x="1104" y="0"/>
                </a:lnTo>
                <a:lnTo>
                  <a:pt x="0" y="0"/>
                </a:lnTo>
                <a:close/>
              </a:path>
            </a:pathLst>
          </a:custGeom>
          <a:noFill/>
          <a:ln w="38100">
            <a:solidFill>
              <a:srgbClr val="FF0000"/>
            </a:solidFill>
            <a:round/>
            <a:headEnd/>
            <a:tailEnd/>
          </a:ln>
        </p:spPr>
        <p:txBody>
          <a:bodyPr wrap="none" anchor="ctr"/>
          <a:lstStyle/>
          <a:p>
            <a:endParaRPr lang="en-US" sz="2800" dirty="0">
              <a:latin typeface="Courier New" pitchFamily="49" charset="0"/>
            </a:endParaRPr>
          </a:p>
        </p:txBody>
      </p:sp>
      <p:sp>
        <p:nvSpPr>
          <p:cNvPr id="42" name="TextBox 41"/>
          <p:cNvSpPr txBox="1"/>
          <p:nvPr/>
        </p:nvSpPr>
        <p:spPr>
          <a:xfrm>
            <a:off x="5353050" y="5502275"/>
            <a:ext cx="1484702" cy="461665"/>
          </a:xfrm>
          <a:prstGeom prst="rect">
            <a:avLst/>
          </a:prstGeom>
          <a:noFill/>
        </p:spPr>
        <p:txBody>
          <a:bodyPr wrap="none">
            <a:spAutoFit/>
          </a:bodyPr>
          <a:lstStyle/>
          <a:p>
            <a:pPr>
              <a:defRPr/>
            </a:pPr>
            <a:r>
              <a:rPr lang="en-US" dirty="0">
                <a:solidFill>
                  <a:srgbClr val="00B050"/>
                </a:solidFill>
                <a:latin typeface="Arial" pitchFamily="34" charset="0"/>
                <a:cs typeface="Arial" pitchFamily="34" charset="0"/>
              </a:rPr>
              <a:t>counters</a:t>
            </a:r>
          </a:p>
        </p:txBody>
      </p:sp>
      <p:sp>
        <p:nvSpPr>
          <p:cNvPr id="43" name="AutoShape 4"/>
          <p:cNvSpPr>
            <a:spLocks noChangeArrowheads="1"/>
          </p:cNvSpPr>
          <p:nvPr/>
        </p:nvSpPr>
        <p:spPr bwMode="auto">
          <a:xfrm>
            <a:off x="5789613" y="4992688"/>
            <a:ext cx="487362" cy="381000"/>
          </a:xfrm>
          <a:prstGeom prst="wedgeRoundRectCallout">
            <a:avLst>
              <a:gd name="adj1" fmla="val -231384"/>
              <a:gd name="adj2" fmla="val 127495"/>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44" name="Text Box 5"/>
          <p:cNvSpPr txBox="1">
            <a:spLocks noChangeArrowheads="1"/>
          </p:cNvSpPr>
          <p:nvPr/>
        </p:nvSpPr>
        <p:spPr bwMode="auto">
          <a:xfrm>
            <a:off x="995363" y="5494338"/>
            <a:ext cx="4337050" cy="954087"/>
          </a:xfrm>
          <a:prstGeom prst="rect">
            <a:avLst/>
          </a:prstGeom>
          <a:noFill/>
          <a:ln w="9525">
            <a:noFill/>
            <a:miter lim="800000"/>
            <a:headEnd/>
            <a:tailEnd/>
          </a:ln>
        </p:spPr>
        <p:txBody>
          <a:bodyPr>
            <a:spAutoFit/>
          </a:bodyPr>
          <a:lstStyle/>
          <a:p>
            <a:pPr algn="ctr">
              <a:spcBef>
                <a:spcPct val="0"/>
              </a:spcBef>
            </a:pPr>
            <a:r>
              <a:rPr lang="en-US" sz="2800" dirty="0">
                <a:solidFill>
                  <a:srgbClr val="FF0000"/>
                </a:solidFill>
                <a:latin typeface="Arial" pitchFamily="34" charset="0"/>
                <a:cs typeface="Arial" pitchFamily="34" charset="0"/>
              </a:rPr>
              <a:t>Multiple counters distribute load</a:t>
            </a:r>
          </a:p>
        </p:txBody>
      </p:sp>
      <p:sp>
        <p:nvSpPr>
          <p:cNvPr id="46" name="AutoShape 4"/>
          <p:cNvSpPr>
            <a:spLocks noChangeArrowheads="1"/>
          </p:cNvSpPr>
          <p:nvPr/>
        </p:nvSpPr>
        <p:spPr bwMode="auto">
          <a:xfrm>
            <a:off x="5789613" y="4157663"/>
            <a:ext cx="487362" cy="381000"/>
          </a:xfrm>
          <a:prstGeom prst="wedgeRoundRectCallout">
            <a:avLst>
              <a:gd name="adj1" fmla="val -256824"/>
              <a:gd name="adj2" fmla="val 297310"/>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47" name="AutoShape 4"/>
          <p:cNvSpPr>
            <a:spLocks noChangeArrowheads="1"/>
          </p:cNvSpPr>
          <p:nvPr/>
        </p:nvSpPr>
        <p:spPr bwMode="auto">
          <a:xfrm>
            <a:off x="5789613" y="3095625"/>
            <a:ext cx="487362" cy="381000"/>
          </a:xfrm>
          <a:prstGeom prst="wedgeRoundRectCallout">
            <a:avLst>
              <a:gd name="adj1" fmla="val -282264"/>
              <a:gd name="adj2" fmla="val 562750"/>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48" name="AutoShape 4"/>
          <p:cNvSpPr>
            <a:spLocks noChangeArrowheads="1"/>
          </p:cNvSpPr>
          <p:nvPr/>
        </p:nvSpPr>
        <p:spPr bwMode="auto">
          <a:xfrm>
            <a:off x="5789613" y="2165350"/>
            <a:ext cx="487362" cy="381000"/>
          </a:xfrm>
          <a:prstGeom prst="wedgeRoundRectCallout">
            <a:avLst>
              <a:gd name="adj1" fmla="val -301343"/>
              <a:gd name="adj2" fmla="val 790546"/>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52" name="Text Box 5"/>
          <p:cNvSpPr txBox="1">
            <a:spLocks noChangeArrowheads="1"/>
          </p:cNvSpPr>
          <p:nvPr/>
        </p:nvSpPr>
        <p:spPr bwMode="auto">
          <a:xfrm>
            <a:off x="3437467" y="367605"/>
            <a:ext cx="5177896" cy="1384995"/>
          </a:xfrm>
          <a:prstGeom prst="rect">
            <a:avLst/>
          </a:prstGeom>
          <a:solidFill>
            <a:schemeClr val="bg1"/>
          </a:solidFill>
          <a:ln w="9525">
            <a:noFill/>
            <a:miter lim="800000"/>
            <a:headEnd/>
            <a:tailEnd/>
          </a:ln>
        </p:spPr>
        <p:txBody>
          <a:bodyPr wrap="square">
            <a:spAutoFit/>
          </a:bodyPr>
          <a:lstStyle/>
          <a:p>
            <a:pPr algn="ctr">
              <a:spcBef>
                <a:spcPct val="0"/>
              </a:spcBef>
            </a:pPr>
            <a:r>
              <a:rPr lang="en-US" sz="2800" dirty="0">
                <a:solidFill>
                  <a:srgbClr val="FF0000"/>
                </a:solidFill>
                <a:latin typeface="Arial" pitchFamily="34" charset="0"/>
                <a:cs typeface="Arial" pitchFamily="34" charset="0"/>
              </a:rPr>
              <a:t>Step property</a:t>
            </a:r>
          </a:p>
          <a:p>
            <a:pPr algn="ctr">
              <a:spcBef>
                <a:spcPct val="0"/>
              </a:spcBef>
            </a:pPr>
            <a:r>
              <a:rPr lang="en-US" sz="2800" dirty="0">
                <a:solidFill>
                  <a:srgbClr val="FF0000"/>
                </a:solidFill>
                <a:latin typeface="Arial" pitchFamily="34" charset="0"/>
                <a:cs typeface="Arial" pitchFamily="34" charset="0"/>
              </a:rPr>
              <a:t>guarantees no duplication or omissions, how?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blinds(horizontal)">
                                      <p:cBhvr>
                                        <p:cTn id="19" dur="500"/>
                                        <p:tgtEl>
                                          <p:spTgt spid="49"/>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52"/>
                                        </p:tgtEl>
                                        <p:attrNameLst>
                                          <p:attrName>style.visibility</p:attrName>
                                        </p:attrNameLst>
                                      </p:cBhvr>
                                      <p:to>
                                        <p:strVal val="visible"/>
                                      </p:to>
                                    </p:set>
                                  </p:childTnLst>
                                </p:cTn>
                              </p:par>
                              <p:par>
                                <p:cTn id="22" presetID="1" presetClass="entr" presetSubtype="0" fill="hold" grpId="1" nodeType="with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3" grpId="0" animBg="1"/>
      <p:bldP spid="44" grpId="0"/>
      <p:bldP spid="46" grpId="0" animBg="1"/>
      <p:bldP spid="47" grpId="0" animBg="1"/>
      <p:bldP spid="48" grpId="0" animBg="1"/>
      <p:bldP spid="52" grpId="0" animBg="1"/>
      <p:bldP spid="52" grpId="1"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lide Number Placeholder 5"/>
          <p:cNvSpPr>
            <a:spLocks noGrp="1"/>
          </p:cNvSpPr>
          <p:nvPr>
            <p:ph type="sldNum" sz="quarter" idx="11"/>
          </p:nvPr>
        </p:nvSpPr>
        <p:spPr/>
        <p:txBody>
          <a:bodyPr/>
          <a:lstStyle/>
          <a:p>
            <a:pPr>
              <a:defRPr/>
            </a:pPr>
            <a:fld id="{DA2F9E73-A8D0-4011-995B-9FF8000C3DA4}" type="slidenum">
              <a:rPr lang="en-US"/>
              <a:pPr>
                <a:defRPr/>
              </a:pPr>
              <a:t>127</a:t>
            </a:fld>
            <a:endParaRPr lang="en-US" dirty="0"/>
          </a:p>
        </p:txBody>
      </p:sp>
      <p:sp>
        <p:nvSpPr>
          <p:cNvPr id="134148" name="Line 2"/>
          <p:cNvSpPr>
            <a:spLocks noChangeShapeType="1"/>
          </p:cNvSpPr>
          <p:nvPr/>
        </p:nvSpPr>
        <p:spPr bwMode="auto">
          <a:xfrm>
            <a:off x="1274763" y="3224213"/>
            <a:ext cx="4564062"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49" name="Line 3"/>
          <p:cNvSpPr>
            <a:spLocks noChangeShapeType="1"/>
          </p:cNvSpPr>
          <p:nvPr/>
        </p:nvSpPr>
        <p:spPr bwMode="auto">
          <a:xfrm>
            <a:off x="1274763" y="4316413"/>
            <a:ext cx="4564062"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50" name="Oval 4"/>
          <p:cNvSpPr>
            <a:spLocks noChangeArrowheads="1"/>
          </p:cNvSpPr>
          <p:nvPr/>
        </p:nvSpPr>
        <p:spPr bwMode="auto">
          <a:xfrm>
            <a:off x="3752850" y="3117850"/>
            <a:ext cx="658813"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4151" name="Oval 5"/>
          <p:cNvSpPr>
            <a:spLocks noChangeArrowheads="1"/>
          </p:cNvSpPr>
          <p:nvPr/>
        </p:nvSpPr>
        <p:spPr bwMode="auto">
          <a:xfrm>
            <a:off x="3752850" y="4202113"/>
            <a:ext cx="658813"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4152" name="Rectangle 6"/>
          <p:cNvSpPr>
            <a:spLocks noGrp="1" noChangeArrowheads="1"/>
          </p:cNvSpPr>
          <p:nvPr>
            <p:ph type="title"/>
          </p:nvPr>
        </p:nvSpPr>
        <p:spPr/>
        <p:txBody>
          <a:bodyPr/>
          <a:lstStyle/>
          <a:p>
            <a:r>
              <a:rPr lang="en-US"/>
              <a:t>Counting Networks Count!</a:t>
            </a:r>
          </a:p>
        </p:txBody>
      </p:sp>
      <p:sp>
        <p:nvSpPr>
          <p:cNvPr id="134153" name="Line 7"/>
          <p:cNvSpPr>
            <a:spLocks noChangeShapeType="1"/>
          </p:cNvSpPr>
          <p:nvPr/>
        </p:nvSpPr>
        <p:spPr bwMode="auto">
          <a:xfrm>
            <a:off x="1274763" y="2328863"/>
            <a:ext cx="4564062"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54" name="Line 8"/>
          <p:cNvSpPr>
            <a:spLocks noChangeShapeType="1"/>
          </p:cNvSpPr>
          <p:nvPr/>
        </p:nvSpPr>
        <p:spPr bwMode="auto">
          <a:xfrm>
            <a:off x="1274763" y="5178425"/>
            <a:ext cx="4564062"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55" name="AutoShape 9"/>
          <p:cNvSpPr>
            <a:spLocks noChangeArrowheads="1"/>
          </p:cNvSpPr>
          <p:nvPr/>
        </p:nvSpPr>
        <p:spPr bwMode="auto">
          <a:xfrm>
            <a:off x="17605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4156" name="AutoShape 10"/>
          <p:cNvSpPr>
            <a:spLocks noChangeArrowheads="1"/>
          </p:cNvSpPr>
          <p:nvPr/>
        </p:nvSpPr>
        <p:spPr bwMode="auto">
          <a:xfrm>
            <a:off x="17605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4157" name="AutoShape 11"/>
          <p:cNvSpPr>
            <a:spLocks noChangeArrowheads="1"/>
          </p:cNvSpPr>
          <p:nvPr/>
        </p:nvSpPr>
        <p:spPr bwMode="auto">
          <a:xfrm>
            <a:off x="2833688" y="2938463"/>
            <a:ext cx="373062"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4158" name="AutoShape 12"/>
          <p:cNvSpPr>
            <a:spLocks noChangeArrowheads="1"/>
          </p:cNvSpPr>
          <p:nvPr/>
        </p:nvSpPr>
        <p:spPr bwMode="auto">
          <a:xfrm>
            <a:off x="3905250" y="2005013"/>
            <a:ext cx="373063"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4159" name="AutoShape 13"/>
          <p:cNvSpPr>
            <a:spLocks noChangeArrowheads="1"/>
          </p:cNvSpPr>
          <p:nvPr/>
        </p:nvSpPr>
        <p:spPr bwMode="auto">
          <a:xfrm>
            <a:off x="4978400"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4160" name="AutoShape 14"/>
          <p:cNvSpPr>
            <a:spLocks noChangeArrowheads="1"/>
          </p:cNvSpPr>
          <p:nvPr/>
        </p:nvSpPr>
        <p:spPr bwMode="auto">
          <a:xfrm>
            <a:off x="4978400"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6993" name="Line 15"/>
          <p:cNvSpPr>
            <a:spLocks noChangeShapeType="1"/>
          </p:cNvSpPr>
          <p:nvPr/>
        </p:nvSpPr>
        <p:spPr bwMode="auto">
          <a:xfrm>
            <a:off x="6291263" y="2324100"/>
            <a:ext cx="284162" cy="1588"/>
          </a:xfrm>
          <a:prstGeom prst="line">
            <a:avLst/>
          </a:prstGeom>
          <a:noFill/>
          <a:ln w="25400">
            <a:solidFill>
              <a:schemeClr val="tx2"/>
            </a:solidFill>
            <a:round/>
            <a:headEnd/>
            <a:tailEnd type="triangle" w="med" len="med"/>
          </a:ln>
        </p:spPr>
        <p:txBody>
          <a:bodyPr/>
          <a:lstStyle/>
          <a:p>
            <a:pPr>
              <a:defRPr/>
            </a:pPr>
            <a:endParaRPr lang="en-US" dirty="0">
              <a:latin typeface="Arial" pitchFamily="34" charset="0"/>
            </a:endParaRPr>
          </a:p>
        </p:txBody>
      </p:sp>
      <p:sp>
        <p:nvSpPr>
          <p:cNvPr id="126995" name="Rectangle 17"/>
          <p:cNvSpPr>
            <a:spLocks noChangeArrowheads="1"/>
          </p:cNvSpPr>
          <p:nvPr/>
        </p:nvSpPr>
        <p:spPr bwMode="auto">
          <a:xfrm>
            <a:off x="5936364" y="2133600"/>
            <a:ext cx="230188" cy="328613"/>
          </a:xfrm>
          <a:prstGeom prst="rect">
            <a:avLst/>
          </a:prstGeom>
          <a:solidFill>
            <a:schemeClr val="accent1"/>
          </a:solidFill>
          <a:ln w="19050">
            <a:solidFill>
              <a:schemeClr val="tx2"/>
            </a:solidFill>
            <a:miter lim="800000"/>
            <a:headEnd/>
            <a:tailEnd/>
          </a:ln>
          <a:effectLst>
            <a:innerShdw blurRad="63500" dist="50800" dir="2700000">
              <a:prstClr val="black">
                <a:alpha val="50000"/>
              </a:prstClr>
            </a:innerShdw>
          </a:effectLst>
        </p:spPr>
        <p:txBody>
          <a:bodyPr wrap="none" anchor="ctr"/>
          <a:lstStyle/>
          <a:p>
            <a:pPr>
              <a:defRPr/>
            </a:pPr>
            <a:endParaRPr lang="en-US" dirty="0">
              <a:latin typeface="Arial" pitchFamily="34" charset="0"/>
            </a:endParaRPr>
          </a:p>
        </p:txBody>
      </p:sp>
      <p:sp>
        <p:nvSpPr>
          <p:cNvPr id="126996" name="Rectangle 18"/>
          <p:cNvSpPr>
            <a:spLocks noChangeArrowheads="1"/>
          </p:cNvSpPr>
          <p:nvPr/>
        </p:nvSpPr>
        <p:spPr bwMode="auto">
          <a:xfrm>
            <a:off x="5930014" y="3043238"/>
            <a:ext cx="230188" cy="328612"/>
          </a:xfrm>
          <a:prstGeom prst="rect">
            <a:avLst/>
          </a:prstGeom>
          <a:solidFill>
            <a:schemeClr val="accent1"/>
          </a:solidFill>
          <a:ln w="19050">
            <a:solidFill>
              <a:schemeClr val="tx2"/>
            </a:solidFill>
            <a:miter lim="800000"/>
            <a:headEnd/>
            <a:tailEnd/>
          </a:ln>
          <a:effectLst>
            <a:innerShdw blurRad="63500" dist="50800" dir="2700000">
              <a:prstClr val="black">
                <a:alpha val="50000"/>
              </a:prstClr>
            </a:innerShdw>
          </a:effectLst>
        </p:spPr>
        <p:txBody>
          <a:bodyPr wrap="none" anchor="ctr"/>
          <a:lstStyle/>
          <a:p>
            <a:pPr>
              <a:defRPr/>
            </a:pPr>
            <a:endParaRPr lang="en-US" dirty="0">
              <a:latin typeface="Arial" pitchFamily="34" charset="0"/>
            </a:endParaRPr>
          </a:p>
        </p:txBody>
      </p:sp>
      <p:sp>
        <p:nvSpPr>
          <p:cNvPr id="126997" name="Rectangle 19"/>
          <p:cNvSpPr>
            <a:spLocks noChangeArrowheads="1"/>
          </p:cNvSpPr>
          <p:nvPr/>
        </p:nvSpPr>
        <p:spPr bwMode="auto">
          <a:xfrm>
            <a:off x="5936364" y="4191000"/>
            <a:ext cx="230188" cy="328613"/>
          </a:xfrm>
          <a:prstGeom prst="rect">
            <a:avLst/>
          </a:prstGeom>
          <a:solidFill>
            <a:schemeClr val="accent1"/>
          </a:solidFill>
          <a:ln w="19050">
            <a:solidFill>
              <a:schemeClr val="tx2"/>
            </a:solidFill>
            <a:miter lim="800000"/>
            <a:headEnd/>
            <a:tailEnd/>
          </a:ln>
          <a:effectLst>
            <a:innerShdw blurRad="63500" dist="50800" dir="2700000">
              <a:prstClr val="black">
                <a:alpha val="50000"/>
              </a:prstClr>
            </a:innerShdw>
          </a:effectLst>
        </p:spPr>
        <p:txBody>
          <a:bodyPr wrap="none" anchor="ctr"/>
          <a:lstStyle/>
          <a:p>
            <a:pPr>
              <a:defRPr/>
            </a:pPr>
            <a:endParaRPr lang="en-US" dirty="0">
              <a:latin typeface="Arial" pitchFamily="34" charset="0"/>
            </a:endParaRPr>
          </a:p>
        </p:txBody>
      </p:sp>
      <p:sp>
        <p:nvSpPr>
          <p:cNvPr id="126998" name="Rectangle 20"/>
          <p:cNvSpPr>
            <a:spLocks noChangeArrowheads="1"/>
          </p:cNvSpPr>
          <p:nvPr/>
        </p:nvSpPr>
        <p:spPr bwMode="auto">
          <a:xfrm>
            <a:off x="5936364" y="5029200"/>
            <a:ext cx="230188" cy="328613"/>
          </a:xfrm>
          <a:prstGeom prst="rect">
            <a:avLst/>
          </a:prstGeom>
          <a:solidFill>
            <a:schemeClr val="accent1"/>
          </a:solidFill>
          <a:ln w="19050">
            <a:solidFill>
              <a:schemeClr val="tx2"/>
            </a:solidFill>
            <a:miter lim="800000"/>
            <a:headEnd/>
            <a:tailEnd/>
          </a:ln>
          <a:effectLst>
            <a:innerShdw blurRad="63500" dist="50800" dir="2700000">
              <a:prstClr val="black">
                <a:alpha val="50000"/>
              </a:prstClr>
            </a:innerShdw>
          </a:effectLst>
        </p:spPr>
        <p:txBody>
          <a:bodyPr wrap="none" anchor="ctr"/>
          <a:lstStyle/>
          <a:p>
            <a:pPr>
              <a:defRPr/>
            </a:pPr>
            <a:endParaRPr lang="en-US" dirty="0">
              <a:latin typeface="Arial" pitchFamily="34" charset="0"/>
            </a:endParaRPr>
          </a:p>
        </p:txBody>
      </p:sp>
      <p:sp>
        <p:nvSpPr>
          <p:cNvPr id="126999" name="Rectangle 21"/>
          <p:cNvSpPr>
            <a:spLocks noChangeArrowheads="1"/>
          </p:cNvSpPr>
          <p:nvPr/>
        </p:nvSpPr>
        <p:spPr bwMode="auto">
          <a:xfrm>
            <a:off x="6573838" y="2197100"/>
            <a:ext cx="354265" cy="311367"/>
          </a:xfrm>
          <a:prstGeom prst="rect">
            <a:avLst/>
          </a:prstGeom>
          <a:noFill/>
          <a:ln w="25400">
            <a:noFill/>
            <a:miter lim="800000"/>
            <a:headEnd/>
            <a:tailEnd/>
          </a:ln>
        </p:spPr>
        <p:txBody>
          <a:bodyPr wrap="none" lIns="90488" tIns="44450" rIns="90488" bIns="44450">
            <a:spAutoFit/>
          </a:bodyPr>
          <a:lstStyle/>
          <a:p>
            <a:pPr rtl="1">
              <a:lnSpc>
                <a:spcPct val="90000"/>
              </a:lnSpc>
              <a:spcBef>
                <a:spcPct val="0"/>
              </a:spcBef>
              <a:defRPr/>
            </a:pPr>
            <a:r>
              <a:rPr lang="en-US" sz="1600" dirty="0">
                <a:solidFill>
                  <a:schemeClr val="tx1"/>
                </a:solidFill>
                <a:latin typeface="Arial" pitchFamily="34" charset="0"/>
              </a:rPr>
              <a:t>0 </a:t>
            </a:r>
          </a:p>
        </p:txBody>
      </p:sp>
      <p:sp>
        <p:nvSpPr>
          <p:cNvPr id="127000" name="Rectangle 22"/>
          <p:cNvSpPr>
            <a:spLocks noChangeArrowheads="1"/>
          </p:cNvSpPr>
          <p:nvPr/>
        </p:nvSpPr>
        <p:spPr bwMode="auto">
          <a:xfrm>
            <a:off x="6584950" y="3106738"/>
            <a:ext cx="1101265" cy="311367"/>
          </a:xfrm>
          <a:prstGeom prst="rect">
            <a:avLst/>
          </a:prstGeom>
          <a:noFill/>
          <a:ln w="25400">
            <a:noFill/>
            <a:miter lim="800000"/>
            <a:headEnd/>
            <a:tailEnd/>
          </a:ln>
        </p:spPr>
        <p:txBody>
          <a:bodyPr wrap="none" lIns="90488" tIns="44450" rIns="90488" bIns="44450">
            <a:spAutoFit/>
          </a:bodyPr>
          <a:lstStyle/>
          <a:p>
            <a:pPr rtl="1">
              <a:lnSpc>
                <a:spcPct val="90000"/>
              </a:lnSpc>
              <a:spcBef>
                <a:spcPct val="0"/>
              </a:spcBef>
              <a:defRPr/>
            </a:pPr>
            <a:r>
              <a:rPr lang="en-US" sz="1600" dirty="0">
                <a:solidFill>
                  <a:schemeClr val="tx1"/>
                </a:solidFill>
                <a:latin typeface="Arial" pitchFamily="34" charset="0"/>
              </a:rPr>
              <a:t>1, 5,  9.....</a:t>
            </a:r>
          </a:p>
        </p:txBody>
      </p:sp>
      <p:sp>
        <p:nvSpPr>
          <p:cNvPr id="127001" name="Line 23"/>
          <p:cNvSpPr>
            <a:spLocks noChangeShapeType="1"/>
          </p:cNvSpPr>
          <p:nvPr/>
        </p:nvSpPr>
        <p:spPr bwMode="auto">
          <a:xfrm>
            <a:off x="6284913" y="3198813"/>
            <a:ext cx="284162" cy="1587"/>
          </a:xfrm>
          <a:prstGeom prst="line">
            <a:avLst/>
          </a:prstGeom>
          <a:noFill/>
          <a:ln w="25400">
            <a:solidFill>
              <a:schemeClr val="tx2"/>
            </a:solidFill>
            <a:round/>
            <a:headEnd/>
            <a:tailEnd type="triangle" w="med" len="med"/>
          </a:ln>
        </p:spPr>
        <p:txBody>
          <a:bodyPr/>
          <a:lstStyle/>
          <a:p>
            <a:pPr>
              <a:defRPr/>
            </a:pPr>
            <a:endParaRPr lang="en-US" dirty="0">
              <a:latin typeface="Arial" pitchFamily="34" charset="0"/>
            </a:endParaRPr>
          </a:p>
        </p:txBody>
      </p:sp>
      <p:sp>
        <p:nvSpPr>
          <p:cNvPr id="127002" name="Rectangle 24"/>
          <p:cNvSpPr>
            <a:spLocks noChangeArrowheads="1"/>
          </p:cNvSpPr>
          <p:nvPr/>
        </p:nvSpPr>
        <p:spPr bwMode="auto">
          <a:xfrm>
            <a:off x="6627813" y="4254500"/>
            <a:ext cx="814326" cy="311367"/>
          </a:xfrm>
          <a:prstGeom prst="rect">
            <a:avLst/>
          </a:prstGeom>
          <a:noFill/>
          <a:ln w="25400">
            <a:noFill/>
            <a:miter lim="800000"/>
            <a:headEnd/>
            <a:tailEnd/>
          </a:ln>
        </p:spPr>
        <p:txBody>
          <a:bodyPr wrap="none" lIns="90488" tIns="44450" rIns="90488" bIns="44450">
            <a:spAutoFit/>
          </a:bodyPr>
          <a:lstStyle/>
          <a:p>
            <a:pPr rtl="1">
              <a:lnSpc>
                <a:spcPct val="90000"/>
              </a:lnSpc>
              <a:spcBef>
                <a:spcPct val="0"/>
              </a:spcBef>
              <a:defRPr/>
            </a:pPr>
            <a:r>
              <a:rPr lang="en-US" sz="1600" dirty="0">
                <a:solidFill>
                  <a:schemeClr val="tx1"/>
                </a:solidFill>
                <a:latin typeface="Arial" pitchFamily="34" charset="0"/>
              </a:rPr>
              <a:t>2, 6, ...</a:t>
            </a:r>
          </a:p>
        </p:txBody>
      </p:sp>
      <p:sp>
        <p:nvSpPr>
          <p:cNvPr id="127003" name="Line 25"/>
          <p:cNvSpPr>
            <a:spLocks noChangeShapeType="1"/>
          </p:cNvSpPr>
          <p:nvPr/>
        </p:nvSpPr>
        <p:spPr bwMode="auto">
          <a:xfrm>
            <a:off x="6308725" y="4348163"/>
            <a:ext cx="284163" cy="1587"/>
          </a:xfrm>
          <a:prstGeom prst="line">
            <a:avLst/>
          </a:prstGeom>
          <a:noFill/>
          <a:ln w="25400">
            <a:solidFill>
              <a:schemeClr val="tx2"/>
            </a:solidFill>
            <a:round/>
            <a:headEnd/>
            <a:tailEnd type="triangle" w="med" len="med"/>
          </a:ln>
        </p:spPr>
        <p:txBody>
          <a:bodyPr/>
          <a:lstStyle/>
          <a:p>
            <a:pPr>
              <a:defRPr/>
            </a:pPr>
            <a:endParaRPr lang="en-US" dirty="0">
              <a:latin typeface="Arial" pitchFamily="34" charset="0"/>
            </a:endParaRPr>
          </a:p>
        </p:txBody>
      </p:sp>
      <p:sp>
        <p:nvSpPr>
          <p:cNvPr id="127004" name="Rectangle 26"/>
          <p:cNvSpPr>
            <a:spLocks noChangeArrowheads="1"/>
          </p:cNvSpPr>
          <p:nvPr/>
        </p:nvSpPr>
        <p:spPr bwMode="auto">
          <a:xfrm>
            <a:off x="6627813" y="5092700"/>
            <a:ext cx="756618" cy="311367"/>
          </a:xfrm>
          <a:prstGeom prst="rect">
            <a:avLst/>
          </a:prstGeom>
          <a:noFill/>
          <a:ln w="25400">
            <a:noFill/>
            <a:miter lim="800000"/>
            <a:headEnd/>
            <a:tailEnd/>
          </a:ln>
        </p:spPr>
        <p:txBody>
          <a:bodyPr wrap="none" lIns="90488" tIns="44450" rIns="90488" bIns="44450">
            <a:spAutoFit/>
          </a:bodyPr>
          <a:lstStyle/>
          <a:p>
            <a:pPr rtl="1">
              <a:lnSpc>
                <a:spcPct val="90000"/>
              </a:lnSpc>
              <a:spcBef>
                <a:spcPct val="0"/>
              </a:spcBef>
              <a:defRPr/>
            </a:pPr>
            <a:r>
              <a:rPr lang="en-US" sz="1600" dirty="0">
                <a:solidFill>
                  <a:schemeClr val="tx1"/>
                </a:solidFill>
                <a:latin typeface="Arial" pitchFamily="34" charset="0"/>
              </a:rPr>
              <a:t>3, 7 ...</a:t>
            </a:r>
          </a:p>
        </p:txBody>
      </p:sp>
      <p:sp>
        <p:nvSpPr>
          <p:cNvPr id="127005" name="Line 27"/>
          <p:cNvSpPr>
            <a:spLocks noChangeShapeType="1"/>
          </p:cNvSpPr>
          <p:nvPr/>
        </p:nvSpPr>
        <p:spPr bwMode="auto">
          <a:xfrm>
            <a:off x="6326188" y="5203825"/>
            <a:ext cx="285750" cy="1588"/>
          </a:xfrm>
          <a:prstGeom prst="line">
            <a:avLst/>
          </a:prstGeom>
          <a:noFill/>
          <a:ln w="25400">
            <a:solidFill>
              <a:schemeClr val="tx2"/>
            </a:solidFill>
            <a:round/>
            <a:headEnd/>
            <a:tailEnd type="triangle" w="med" len="med"/>
          </a:ln>
        </p:spPr>
        <p:txBody>
          <a:bodyPr/>
          <a:lstStyle/>
          <a:p>
            <a:pPr>
              <a:defRPr/>
            </a:pPr>
            <a:endParaRPr lang="en-US" dirty="0">
              <a:latin typeface="Arial" pitchFamily="34" charset="0"/>
            </a:endParaRPr>
          </a:p>
        </p:txBody>
      </p:sp>
      <p:sp>
        <p:nvSpPr>
          <p:cNvPr id="134181" name="Oval 28"/>
          <p:cNvSpPr>
            <a:spLocks noChangeArrowheads="1"/>
          </p:cNvSpPr>
          <p:nvPr/>
        </p:nvSpPr>
        <p:spPr bwMode="auto">
          <a:xfrm>
            <a:off x="1824038"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82" name="Oval 29"/>
          <p:cNvSpPr>
            <a:spLocks noChangeArrowheads="1"/>
          </p:cNvSpPr>
          <p:nvPr/>
        </p:nvSpPr>
        <p:spPr bwMode="auto">
          <a:xfrm>
            <a:off x="1824038"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83" name="Oval 30"/>
          <p:cNvSpPr>
            <a:spLocks noChangeArrowheads="1"/>
          </p:cNvSpPr>
          <p:nvPr/>
        </p:nvSpPr>
        <p:spPr bwMode="auto">
          <a:xfrm>
            <a:off x="182403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84" name="Oval 31"/>
          <p:cNvSpPr>
            <a:spLocks noChangeArrowheads="1"/>
          </p:cNvSpPr>
          <p:nvPr/>
        </p:nvSpPr>
        <p:spPr bwMode="auto">
          <a:xfrm>
            <a:off x="182403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85" name="Oval 32"/>
          <p:cNvSpPr>
            <a:spLocks noChangeArrowheads="1"/>
          </p:cNvSpPr>
          <p:nvPr/>
        </p:nvSpPr>
        <p:spPr bwMode="auto">
          <a:xfrm>
            <a:off x="2897188"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86" name="Oval 33"/>
          <p:cNvSpPr>
            <a:spLocks noChangeArrowheads="1"/>
          </p:cNvSpPr>
          <p:nvPr/>
        </p:nvSpPr>
        <p:spPr bwMode="auto">
          <a:xfrm>
            <a:off x="2897188"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87" name="Oval 34"/>
          <p:cNvSpPr>
            <a:spLocks noChangeArrowheads="1"/>
          </p:cNvSpPr>
          <p:nvPr/>
        </p:nvSpPr>
        <p:spPr bwMode="auto">
          <a:xfrm>
            <a:off x="3978275"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88" name="Oval 35"/>
          <p:cNvSpPr>
            <a:spLocks noChangeArrowheads="1"/>
          </p:cNvSpPr>
          <p:nvPr/>
        </p:nvSpPr>
        <p:spPr bwMode="auto">
          <a:xfrm>
            <a:off x="3968750"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89" name="Oval 36"/>
          <p:cNvSpPr>
            <a:spLocks noChangeArrowheads="1"/>
          </p:cNvSpPr>
          <p:nvPr/>
        </p:nvSpPr>
        <p:spPr bwMode="auto">
          <a:xfrm>
            <a:off x="5022850"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90" name="Oval 37"/>
          <p:cNvSpPr>
            <a:spLocks noChangeArrowheads="1"/>
          </p:cNvSpPr>
          <p:nvPr/>
        </p:nvSpPr>
        <p:spPr bwMode="auto">
          <a:xfrm>
            <a:off x="5022850"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91" name="Oval 38"/>
          <p:cNvSpPr>
            <a:spLocks noChangeArrowheads="1"/>
          </p:cNvSpPr>
          <p:nvPr/>
        </p:nvSpPr>
        <p:spPr bwMode="auto">
          <a:xfrm>
            <a:off x="5022850"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4192" name="Oval 39"/>
          <p:cNvSpPr>
            <a:spLocks noChangeArrowheads="1"/>
          </p:cNvSpPr>
          <p:nvPr/>
        </p:nvSpPr>
        <p:spPr bwMode="auto">
          <a:xfrm>
            <a:off x="5022850"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0" name="AutoShape 4"/>
          <p:cNvSpPr>
            <a:spLocks noChangeArrowheads="1"/>
          </p:cNvSpPr>
          <p:nvPr/>
        </p:nvSpPr>
        <p:spPr bwMode="auto">
          <a:xfrm>
            <a:off x="6910388" y="3043238"/>
            <a:ext cx="717550" cy="381000"/>
          </a:xfrm>
          <a:prstGeom prst="wedgeRoundRectCallout">
            <a:avLst>
              <a:gd name="adj1" fmla="val -245134"/>
              <a:gd name="adj2" fmla="val 581250"/>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51" name="Text Box 5"/>
          <p:cNvSpPr txBox="1">
            <a:spLocks noChangeArrowheads="1"/>
          </p:cNvSpPr>
          <p:nvPr/>
        </p:nvSpPr>
        <p:spPr bwMode="auto">
          <a:xfrm>
            <a:off x="2552700" y="5497513"/>
            <a:ext cx="4419600" cy="946150"/>
          </a:xfrm>
          <a:prstGeom prst="rect">
            <a:avLst/>
          </a:prstGeom>
          <a:noFill/>
          <a:ln w="9525">
            <a:noFill/>
            <a:miter lim="800000"/>
            <a:headEnd/>
            <a:tailEnd/>
          </a:ln>
        </p:spPr>
        <p:txBody>
          <a:bodyPr>
            <a:spAutoFit/>
          </a:bodyPr>
          <a:lstStyle/>
          <a:p>
            <a:pPr algn="ctr">
              <a:spcBef>
                <a:spcPct val="0"/>
              </a:spcBef>
            </a:pPr>
            <a:r>
              <a:rPr lang="en-US" sz="2800">
                <a:solidFill>
                  <a:srgbClr val="FF0000"/>
                </a:solidFill>
                <a:latin typeface="Arial" pitchFamily="34" charset="0"/>
                <a:cs typeface="Arial" pitchFamily="34" charset="0"/>
              </a:rPr>
              <a:t>If 5 and 9 are taken before 4 and 8</a:t>
            </a:r>
          </a:p>
        </p:txBody>
      </p:sp>
      <p:grpSp>
        <p:nvGrpSpPr>
          <p:cNvPr id="2" name="Group 52"/>
          <p:cNvGrpSpPr>
            <a:grpSpLocks/>
          </p:cNvGrpSpPr>
          <p:nvPr/>
        </p:nvGrpSpPr>
        <p:grpSpPr bwMode="auto">
          <a:xfrm>
            <a:off x="2763838" y="3340100"/>
            <a:ext cx="1377950" cy="423863"/>
            <a:chOff x="1313" y="2496"/>
            <a:chExt cx="1252" cy="427"/>
          </a:xfrm>
        </p:grpSpPr>
        <p:sp>
          <p:nvSpPr>
            <p:cNvPr id="134203" name="Freeform 5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4204" name="Freeform 5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4205" name="Oval 5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4206" name="Oval 5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3" name="Group 52"/>
          <p:cNvGrpSpPr>
            <a:grpSpLocks/>
          </p:cNvGrpSpPr>
          <p:nvPr/>
        </p:nvGrpSpPr>
        <p:grpSpPr bwMode="auto">
          <a:xfrm>
            <a:off x="1446213" y="3379788"/>
            <a:ext cx="1377950" cy="423862"/>
            <a:chOff x="1313" y="2496"/>
            <a:chExt cx="1252" cy="427"/>
          </a:xfrm>
        </p:grpSpPr>
        <p:sp>
          <p:nvSpPr>
            <p:cNvPr id="134199" name="Freeform 5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4200" name="Freeform 5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4201" name="Oval 5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4202" name="Oval 5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3" name="AutoShape 4"/>
          <p:cNvSpPr>
            <a:spLocks noChangeArrowheads="1"/>
          </p:cNvSpPr>
          <p:nvPr/>
        </p:nvSpPr>
        <p:spPr bwMode="auto">
          <a:xfrm>
            <a:off x="6972300" y="2133600"/>
            <a:ext cx="717550" cy="415925"/>
          </a:xfrm>
          <a:prstGeom prst="wedgeRoundRectCallout">
            <a:avLst>
              <a:gd name="adj1" fmla="val -177435"/>
              <a:gd name="adj2" fmla="val -186259"/>
              <a:gd name="adj3" fmla="val 16667"/>
            </a:avLst>
          </a:prstGeom>
          <a:noFill/>
          <a:ln w="38100">
            <a:solidFill>
              <a:srgbClr val="FF0000"/>
            </a:solidFill>
            <a:miter lim="800000"/>
            <a:headEnd/>
            <a:tailEnd/>
          </a:ln>
        </p:spPr>
        <p:txBody>
          <a:bodyPr anchor="ctr"/>
          <a:lstStyle/>
          <a:p>
            <a:pPr algn="ctr">
              <a:spcBef>
                <a:spcPct val="0"/>
              </a:spcBef>
            </a:pPr>
            <a:endParaRPr lang="en-US" sz="4000" dirty="0">
              <a:latin typeface="Arial" pitchFamily="34" charset="0"/>
            </a:endParaRPr>
          </a:p>
        </p:txBody>
      </p:sp>
      <p:sp>
        <p:nvSpPr>
          <p:cNvPr id="54" name="Text Box 5"/>
          <p:cNvSpPr txBox="1">
            <a:spLocks noChangeArrowheads="1"/>
          </p:cNvSpPr>
          <p:nvPr/>
        </p:nvSpPr>
        <p:spPr bwMode="auto">
          <a:xfrm>
            <a:off x="896938" y="609600"/>
            <a:ext cx="7143750" cy="946150"/>
          </a:xfrm>
          <a:prstGeom prst="rect">
            <a:avLst/>
          </a:prstGeom>
          <a:solidFill>
            <a:schemeClr val="bg1"/>
          </a:solidFill>
          <a:ln w="9525">
            <a:noFill/>
            <a:miter lim="800000"/>
            <a:headEnd/>
            <a:tailEnd/>
          </a:ln>
        </p:spPr>
        <p:txBody>
          <a:bodyPr>
            <a:spAutoFit/>
          </a:bodyPr>
          <a:lstStyle/>
          <a:p>
            <a:pPr algn="ctr">
              <a:spcBef>
                <a:spcPct val="0"/>
              </a:spcBef>
            </a:pPr>
            <a:r>
              <a:rPr lang="en-US" sz="2800">
                <a:solidFill>
                  <a:srgbClr val="FF0000"/>
                </a:solidFill>
                <a:latin typeface="Arial" pitchFamily="34" charset="0"/>
                <a:cs typeface="Arial" pitchFamily="34" charset="0"/>
              </a:rPr>
              <a:t>Step property guarantees that in-flight tokens will take missing values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2.22222E-6 -3.7037E-7 C 0.05452 -0.00694 0.10955 -0.01343 0.1375 -0.05069 C 0.16545 -0.08819 0.12292 -0.20116 0.16719 -0.22361 C 0.21146 -0.24606 0.36337 -0.19167 0.40278 -0.18518 " pathEditMode="relative" rAng="0" ptsTypes="aaaA">
                                      <p:cBhvr>
                                        <p:cTn id="24" dur="2000" fill="hold"/>
                                        <p:tgtEl>
                                          <p:spTgt spid="2"/>
                                        </p:tgtEl>
                                        <p:attrNameLst>
                                          <p:attrName>ppt_x</p:attrName>
                                          <p:attrName>ppt_y</p:attrName>
                                        </p:attrNameLst>
                                      </p:cBhvr>
                                      <p:rCtr x="20100" y="-12300"/>
                                    </p:animMotion>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nodeType="clickEffect">
                                  <p:stCondLst>
                                    <p:cond delay="0"/>
                                  </p:stCondLst>
                                  <p:childTnLst>
                                    <p:animMotion origin="layout" path="M 3.05556E-6 4.21965E-6 C 0.07673 -0.00694 0.15434 -0.01341 0.19375 -0.05064 C 0.23316 -0.0881 0.17326 -0.20116 0.23576 -0.22359 C 0.29809 -0.24602 0.51232 -0.19168 0.56823 -0.18521 " pathEditMode="relative" rAng="0" ptsTypes="aaaA">
                                      <p:cBhvr>
                                        <p:cTn id="28" dur="2000" fill="hold"/>
                                        <p:tgtEl>
                                          <p:spTgt spid="3"/>
                                        </p:tgtEl>
                                        <p:attrNameLst>
                                          <p:attrName>ppt_x</p:attrName>
                                          <p:attrName>ppt_y</p:attrName>
                                        </p:attrNameLst>
                                      </p:cBhvr>
                                      <p:rCtr x="28400" y="-123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P spid="53" grpId="0" animBg="1"/>
      <p:bldP spid="54"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657E6DD5-290E-4667-B80A-89B65D0D6052}" type="slidenum">
              <a:rPr lang="en-US"/>
              <a:pPr>
                <a:defRPr/>
              </a:pPr>
              <a:t>128</a:t>
            </a:fld>
            <a:endParaRPr lang="en-US"/>
          </a:p>
        </p:txBody>
      </p:sp>
      <p:sp>
        <p:nvSpPr>
          <p:cNvPr id="2053" name="Rectangle 2"/>
          <p:cNvSpPr>
            <a:spLocks noGrp="1" noChangeArrowheads="1"/>
          </p:cNvSpPr>
          <p:nvPr>
            <p:ph type="title"/>
          </p:nvPr>
        </p:nvSpPr>
        <p:spPr/>
        <p:txBody>
          <a:bodyPr/>
          <a:lstStyle/>
          <a:p>
            <a:r>
              <a:rPr lang="en-US"/>
              <a:t>Counting Networks</a:t>
            </a:r>
          </a:p>
        </p:txBody>
      </p:sp>
      <p:sp>
        <p:nvSpPr>
          <p:cNvPr id="2054" name="Rectangle 3"/>
          <p:cNvSpPr>
            <a:spLocks noGrp="1" noChangeArrowheads="1"/>
          </p:cNvSpPr>
          <p:nvPr>
            <p:ph type="body" idx="1"/>
          </p:nvPr>
        </p:nvSpPr>
        <p:spPr/>
        <p:txBody>
          <a:bodyPr/>
          <a:lstStyle/>
          <a:p>
            <a:r>
              <a:rPr lang="en-US"/>
              <a:t>Good for </a:t>
            </a:r>
            <a:r>
              <a:rPr lang="en-US">
                <a:solidFill>
                  <a:schemeClr val="accent1"/>
                </a:solidFill>
              </a:rPr>
              <a:t>counting</a:t>
            </a:r>
            <a:r>
              <a:rPr lang="en-US"/>
              <a:t> number of tokens</a:t>
            </a:r>
          </a:p>
          <a:p>
            <a:r>
              <a:rPr lang="en-US"/>
              <a:t>low contention</a:t>
            </a:r>
          </a:p>
          <a:p>
            <a:r>
              <a:rPr lang="en-US"/>
              <a:t>no sequential bottleneck</a:t>
            </a:r>
          </a:p>
          <a:p>
            <a:r>
              <a:rPr lang="en-US"/>
              <a:t>high throughput</a:t>
            </a:r>
          </a:p>
          <a:p>
            <a:r>
              <a:rPr lang="en-US"/>
              <a:t>practical networks depth</a:t>
            </a:r>
          </a:p>
        </p:txBody>
      </p:sp>
      <p:graphicFrame>
        <p:nvGraphicFramePr>
          <p:cNvPr id="2050" name="Object 4"/>
          <p:cNvGraphicFramePr>
            <a:graphicFrameLocks noChangeAspect="1"/>
          </p:cNvGraphicFramePr>
          <p:nvPr/>
        </p:nvGraphicFramePr>
        <p:xfrm>
          <a:off x="5903913" y="4287838"/>
          <a:ext cx="1243012" cy="714375"/>
        </p:xfrm>
        <a:graphic>
          <a:graphicData uri="http://schemas.openxmlformats.org/presentationml/2006/ole">
            <mc:AlternateContent xmlns:mc="http://schemas.openxmlformats.org/markup-compatibility/2006">
              <mc:Choice xmlns:v="urn:schemas-microsoft-com:vml" Requires="v">
                <p:oleObj spid="_x0000_s300064" name="Equation" r:id="rId4" imgW="393480" imgH="228600" progId="Equation.3">
                  <p:embed/>
                </p:oleObj>
              </mc:Choice>
              <mc:Fallback>
                <p:oleObj name="Equation" r:id="rId4" imgW="39348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3913" y="4287838"/>
                        <a:ext cx="1243012"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oter Placeholder 4"/>
          <p:cNvSpPr>
            <a:spLocks noGrp="1"/>
          </p:cNvSpPr>
          <p:nvPr>
            <p:ph type="ftr" sz="quarter" idx="10"/>
          </p:nvPr>
        </p:nvSpPr>
        <p:spPr/>
        <p:txBody>
          <a:bodyPr/>
          <a:lstStyle/>
          <a:p>
            <a:pPr>
              <a:defRPr/>
            </a:pPr>
            <a:r>
              <a:rPr lang="en-US"/>
              <a:t>Art of Multiprocessor Programming</a:t>
            </a:r>
          </a:p>
        </p:txBody>
      </p:sp>
      <p:sp>
        <p:nvSpPr>
          <p:cNvPr id="44" name="Slide Number Placeholder 5"/>
          <p:cNvSpPr>
            <a:spLocks noGrp="1"/>
          </p:cNvSpPr>
          <p:nvPr>
            <p:ph type="sldNum" sz="quarter" idx="11"/>
          </p:nvPr>
        </p:nvSpPr>
        <p:spPr/>
        <p:txBody>
          <a:bodyPr/>
          <a:lstStyle/>
          <a:p>
            <a:pPr>
              <a:defRPr/>
            </a:pPr>
            <a:fld id="{797F1A9F-F7BA-4C86-B99C-7AA29508A2DB}" type="slidenum">
              <a:rPr lang="en-US"/>
              <a:pPr>
                <a:defRPr/>
              </a:pPr>
              <a:t>129</a:t>
            </a:fld>
            <a:endParaRPr lang="en-US"/>
          </a:p>
        </p:txBody>
      </p:sp>
      <p:grpSp>
        <p:nvGrpSpPr>
          <p:cNvPr id="126980" name="Group 2"/>
          <p:cNvGrpSpPr>
            <a:grpSpLocks/>
          </p:cNvGrpSpPr>
          <p:nvPr/>
        </p:nvGrpSpPr>
        <p:grpSpPr bwMode="auto">
          <a:xfrm>
            <a:off x="908050" y="2971800"/>
            <a:ext cx="1377950" cy="423863"/>
            <a:chOff x="1313" y="2496"/>
            <a:chExt cx="1252" cy="427"/>
          </a:xfrm>
        </p:grpSpPr>
        <p:sp>
          <p:nvSpPr>
            <p:cNvPr id="127018"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7019"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7020"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7021"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6981" name="Line 7"/>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6982" name="Line 8"/>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6983" name="Oval 9"/>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6984" name="Oval 10"/>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6985" name="Rectangle 11"/>
          <p:cNvSpPr>
            <a:spLocks noGrp="1" noChangeArrowheads="1"/>
          </p:cNvSpPr>
          <p:nvPr>
            <p:ph type="title"/>
          </p:nvPr>
        </p:nvSpPr>
        <p:spPr/>
        <p:txBody>
          <a:bodyPr/>
          <a:lstStyle/>
          <a:p>
            <a:r>
              <a:rPr lang="en-US"/>
              <a:t>Counting Network </a:t>
            </a:r>
          </a:p>
        </p:txBody>
      </p:sp>
      <p:sp>
        <p:nvSpPr>
          <p:cNvPr id="126986" name="Line 12"/>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6987" name="Line 13"/>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6988" name="AutoShape 14"/>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6989" name="AutoShape 15"/>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6990" name="AutoShape 16"/>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6991" name="AutoShape 17"/>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6992" name="AutoShape 18"/>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6993" name="AutoShape 19"/>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758804" name="Line 20"/>
          <p:cNvSpPr>
            <a:spLocks noChangeShapeType="1"/>
          </p:cNvSpPr>
          <p:nvPr/>
        </p:nvSpPr>
        <p:spPr bwMode="auto">
          <a:xfrm>
            <a:off x="28956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26995" name="Line 21"/>
          <p:cNvSpPr>
            <a:spLocks noChangeShapeType="1"/>
          </p:cNvSpPr>
          <p:nvPr/>
        </p:nvSpPr>
        <p:spPr bwMode="auto">
          <a:xfrm>
            <a:off x="28956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26996" name="Line 22"/>
          <p:cNvSpPr>
            <a:spLocks noChangeShapeType="1"/>
          </p:cNvSpPr>
          <p:nvPr/>
        </p:nvSpPr>
        <p:spPr bwMode="auto">
          <a:xfrm>
            <a:off x="39624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58807" name="Line 23"/>
          <p:cNvSpPr>
            <a:spLocks noChangeShapeType="1"/>
          </p:cNvSpPr>
          <p:nvPr/>
        </p:nvSpPr>
        <p:spPr bwMode="auto">
          <a:xfrm>
            <a:off x="5029200" y="2362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58808" name="Line 24"/>
          <p:cNvSpPr>
            <a:spLocks noChangeShapeType="1"/>
          </p:cNvSpPr>
          <p:nvPr/>
        </p:nvSpPr>
        <p:spPr bwMode="auto">
          <a:xfrm>
            <a:off x="60960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26999" name="Line 25"/>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3" name="Group 26"/>
          <p:cNvGrpSpPr>
            <a:grpSpLocks/>
          </p:cNvGrpSpPr>
          <p:nvPr/>
        </p:nvGrpSpPr>
        <p:grpSpPr bwMode="auto">
          <a:xfrm>
            <a:off x="914400" y="2971800"/>
            <a:ext cx="1377950" cy="423863"/>
            <a:chOff x="1313" y="2496"/>
            <a:chExt cx="1252" cy="427"/>
          </a:xfrm>
        </p:grpSpPr>
        <p:sp>
          <p:nvSpPr>
            <p:cNvPr id="127014"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7015"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7016" name="Oval 2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7017" name="Oval 3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7001" name="Oval 3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02" name="Oval 3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03" name="Oval 3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04" name="Oval 3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05" name="Oval 3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06" name="Oval 36"/>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07" name="Oval 3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08" name="Oval 3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09" name="Oval 3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10" name="Oval 4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11" name="Oval 4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7012" name="Oval 4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45" name="TextBox 44"/>
          <p:cNvSpPr txBox="1"/>
          <p:nvPr/>
        </p:nvSpPr>
        <p:spPr>
          <a:xfrm>
            <a:off x="6891338" y="1970088"/>
            <a:ext cx="369887" cy="460375"/>
          </a:xfrm>
          <a:prstGeom prst="rect">
            <a:avLst/>
          </a:prstGeom>
          <a:noFill/>
        </p:spPr>
        <p:txBody>
          <a:bodyPr wrap="none">
            <a:spAutoFit/>
          </a:bodyPr>
          <a:lstStyle/>
          <a:p>
            <a:pPr>
              <a:defRPr/>
            </a:pPr>
            <a:r>
              <a:rPr lang="en-US" dirty="0">
                <a:solidFill>
                  <a:schemeClr val="bg1"/>
                </a:solidFill>
                <a:latin typeface="Arial" pitchFamily="34" charset="0"/>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88889E-6 4.44444E-6 C 0.06597 0.01111 0.13195 0.02222 0.15833 -0.00186 C 0.18472 -0.02593 0.0842 -0.12014 0.15833 -0.14445 C 0.23247 -0.16875 0.41754 -0.15857 0.60278 -0.14815 " pathEditMode="relative" ptsTypes="aaaA">
                                      <p:cBhvr>
                                        <p:cTn id="6" dur="3000" fill="hold"/>
                                        <p:tgtEl>
                                          <p:spTgt spid="3"/>
                                        </p:tgtEl>
                                        <p:attrNameLst>
                                          <p:attrName>ppt_x</p:attrName>
                                          <p:attrName>ppt_y</p:attrName>
                                        </p:attrNameLst>
                                      </p:cBhvr>
                                    </p:animMotion>
                                  </p:childTnLst>
                                </p:cTn>
                              </p:par>
                              <p:par>
                                <p:cTn id="7" presetID="0" presetClass="path" presetSubtype="0" accel="50000" decel="50000" fill="hold" grpId="0" nodeType="withEffect">
                                  <p:stCondLst>
                                    <p:cond delay="500"/>
                                  </p:stCondLst>
                                  <p:childTnLst>
                                    <p:animMotion origin="layout" path="M -3.33333E-6 -3.33333E-6 L -3.33333E-6 0.13334 " pathEditMode="relative" ptsTypes="AA">
                                      <p:cBhvr>
                                        <p:cTn id="8" dur="500" fill="hold"/>
                                        <p:tgtEl>
                                          <p:spTgt spid="758804"/>
                                        </p:tgtEl>
                                        <p:attrNameLst>
                                          <p:attrName>ppt_x</p:attrName>
                                          <p:attrName>ppt_y</p:attrName>
                                        </p:attrNameLst>
                                      </p:cBhvr>
                                    </p:animMotion>
                                  </p:childTnLst>
                                </p:cTn>
                              </p:par>
                              <p:par>
                                <p:cTn id="9" presetID="0" presetClass="path" presetSubtype="0" accel="50000" decel="50000" fill="hold" grpId="0" nodeType="withEffect">
                                  <p:stCondLst>
                                    <p:cond delay="1500"/>
                                  </p:stCondLst>
                                  <p:childTnLst>
                                    <p:animMotion origin="layout" path="M 3.33333E-6 0.01112 L 3.33333E-6 0.41112 " pathEditMode="relative" ptsTypes="AA">
                                      <p:cBhvr>
                                        <p:cTn id="10" dur="1000" fill="hold"/>
                                        <p:tgtEl>
                                          <p:spTgt spid="758807"/>
                                        </p:tgtEl>
                                        <p:attrNameLst>
                                          <p:attrName>ppt_x</p:attrName>
                                          <p:attrName>ppt_y</p:attrName>
                                        </p:attrNameLst>
                                      </p:cBhvr>
                                    </p:animMotion>
                                  </p:childTnLst>
                                </p:cTn>
                              </p:par>
                              <p:par>
                                <p:cTn id="11" presetID="0" presetClass="path" presetSubtype="0" accel="50000" decel="50000" fill="hold" grpId="0" nodeType="withEffect">
                                  <p:stCondLst>
                                    <p:cond delay="2500"/>
                                  </p:stCondLst>
                                  <p:childTnLst>
                                    <p:animMotion origin="layout" path="M -3.33333E-6 -3.33333E-6 L -3.33333E-6 0.14445 " pathEditMode="relative" ptsTypes="AA">
                                      <p:cBhvr>
                                        <p:cTn id="12" dur="500" fill="hold"/>
                                        <p:tgtEl>
                                          <p:spTgt spid="758808"/>
                                        </p:tgtEl>
                                        <p:attrNameLst>
                                          <p:attrName>ppt_x</p:attrName>
                                          <p:attrName>ppt_y</p:attrName>
                                        </p:attrNameLst>
                                      </p:cBhvr>
                                    </p:animMotion>
                                  </p:childTnLst>
                                </p:cTn>
                              </p:par>
                            </p:childTnLst>
                          </p:cTn>
                        </p:par>
                        <p:par>
                          <p:cTn id="13" fill="hold">
                            <p:stCondLst>
                              <p:cond delay="3000"/>
                            </p:stCondLst>
                            <p:childTnLst>
                              <p:par>
                                <p:cTn id="14" presetID="1" presetClass="entr" presetSubtype="0" fill="hold" grpId="0" nodeType="afterEffect">
                                  <p:stCondLst>
                                    <p:cond delay="0"/>
                                  </p:stCondLst>
                                  <p:childTnLst>
                                    <p:set>
                                      <p:cBhvr>
                                        <p:cTn id="15"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804" grpId="0" animBg="1"/>
      <p:bldP spid="758807" grpId="0" animBg="1"/>
      <p:bldP spid="758808" grpId="0" animBg="1"/>
      <p:bldP spid="45"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ooter Placeholder 4"/>
          <p:cNvSpPr>
            <a:spLocks noGrp="1"/>
          </p:cNvSpPr>
          <p:nvPr>
            <p:ph type="ftr" sz="quarter" idx="10"/>
          </p:nvPr>
        </p:nvSpPr>
        <p:spPr/>
        <p:txBody>
          <a:bodyPr/>
          <a:lstStyle/>
          <a:p>
            <a:pPr>
              <a:defRPr/>
            </a:pPr>
            <a:r>
              <a:rPr lang="en-US"/>
              <a:t>Art of Multiprocessor Programming</a:t>
            </a:r>
          </a:p>
        </p:txBody>
      </p:sp>
      <p:sp>
        <p:nvSpPr>
          <p:cNvPr id="54" name="Slide Number Placeholder 5"/>
          <p:cNvSpPr>
            <a:spLocks noGrp="1"/>
          </p:cNvSpPr>
          <p:nvPr>
            <p:ph type="sldNum" sz="quarter" idx="11"/>
          </p:nvPr>
        </p:nvSpPr>
        <p:spPr/>
        <p:txBody>
          <a:bodyPr/>
          <a:lstStyle/>
          <a:p>
            <a:pPr>
              <a:defRPr/>
            </a:pPr>
            <a:fld id="{00489C70-A3D7-4FD0-92ED-65C0CA12D7E7}" type="slidenum">
              <a:rPr lang="en-US"/>
              <a:pPr>
                <a:defRPr/>
              </a:pPr>
              <a:t>130</a:t>
            </a:fld>
            <a:endParaRPr lang="en-US"/>
          </a:p>
        </p:txBody>
      </p:sp>
      <p:grpSp>
        <p:nvGrpSpPr>
          <p:cNvPr id="128004" name="Group 2"/>
          <p:cNvGrpSpPr>
            <a:grpSpLocks/>
          </p:cNvGrpSpPr>
          <p:nvPr/>
        </p:nvGrpSpPr>
        <p:grpSpPr bwMode="auto">
          <a:xfrm>
            <a:off x="987425" y="4953000"/>
            <a:ext cx="1377950" cy="423863"/>
            <a:chOff x="1313" y="2496"/>
            <a:chExt cx="1252" cy="427"/>
          </a:xfrm>
        </p:grpSpPr>
        <p:sp>
          <p:nvSpPr>
            <p:cNvPr id="128053"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8054"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8055"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8056"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8005" name="Line 7"/>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8006" name="Line 8"/>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8007" name="Oval 9"/>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8008" name="Oval 10"/>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8009" name="Rectangle 11"/>
          <p:cNvSpPr>
            <a:spLocks noGrp="1" noChangeArrowheads="1"/>
          </p:cNvSpPr>
          <p:nvPr>
            <p:ph type="title"/>
          </p:nvPr>
        </p:nvSpPr>
        <p:spPr/>
        <p:txBody>
          <a:bodyPr/>
          <a:lstStyle/>
          <a:p>
            <a:r>
              <a:rPr lang="en-US"/>
              <a:t>Counting Network </a:t>
            </a:r>
          </a:p>
        </p:txBody>
      </p:sp>
      <p:sp>
        <p:nvSpPr>
          <p:cNvPr id="128010" name="Line 12"/>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8011" name="Line 13"/>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8012" name="AutoShape 14"/>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8013" name="AutoShape 15"/>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8014" name="AutoShape 16"/>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8015" name="AutoShape 17"/>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8016" name="AutoShape 18"/>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8017" name="AutoShape 19"/>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8018" name="Line 20"/>
          <p:cNvSpPr>
            <a:spLocks noChangeShapeType="1"/>
          </p:cNvSpPr>
          <p:nvPr/>
        </p:nvSpPr>
        <p:spPr bwMode="auto">
          <a:xfrm>
            <a:off x="28956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60853" name="Line 21"/>
          <p:cNvSpPr>
            <a:spLocks noChangeShapeType="1"/>
          </p:cNvSpPr>
          <p:nvPr/>
        </p:nvSpPr>
        <p:spPr bwMode="auto">
          <a:xfrm>
            <a:off x="28956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60854" name="Line 22"/>
          <p:cNvSpPr>
            <a:spLocks noChangeShapeType="1"/>
          </p:cNvSpPr>
          <p:nvPr/>
        </p:nvSpPr>
        <p:spPr bwMode="auto">
          <a:xfrm>
            <a:off x="39624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28021" name="Line 23"/>
          <p:cNvSpPr>
            <a:spLocks noChangeShapeType="1"/>
          </p:cNvSpPr>
          <p:nvPr/>
        </p:nvSpPr>
        <p:spPr bwMode="auto">
          <a:xfrm>
            <a:off x="5029200" y="5181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60856" name="Line 24"/>
          <p:cNvSpPr>
            <a:spLocks noChangeShapeType="1"/>
          </p:cNvSpPr>
          <p:nvPr/>
        </p:nvSpPr>
        <p:spPr bwMode="auto">
          <a:xfrm>
            <a:off x="60960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28023" name="Line 25"/>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28024" name="Group 26"/>
          <p:cNvGrpSpPr>
            <a:grpSpLocks/>
          </p:cNvGrpSpPr>
          <p:nvPr/>
        </p:nvGrpSpPr>
        <p:grpSpPr bwMode="auto">
          <a:xfrm>
            <a:off x="6705600" y="2057400"/>
            <a:ext cx="1377950" cy="423863"/>
            <a:chOff x="1313" y="2496"/>
            <a:chExt cx="1252" cy="427"/>
          </a:xfrm>
        </p:grpSpPr>
        <p:sp>
          <p:nvSpPr>
            <p:cNvPr id="128049"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8050"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8051" name="Oval 2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8052" name="Oval 3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4" name="Group 31"/>
          <p:cNvGrpSpPr>
            <a:grpSpLocks/>
          </p:cNvGrpSpPr>
          <p:nvPr/>
        </p:nvGrpSpPr>
        <p:grpSpPr bwMode="auto">
          <a:xfrm>
            <a:off x="987425" y="4953000"/>
            <a:ext cx="1377950" cy="423863"/>
            <a:chOff x="1313" y="2496"/>
            <a:chExt cx="1252" cy="427"/>
          </a:xfrm>
        </p:grpSpPr>
        <p:sp>
          <p:nvSpPr>
            <p:cNvPr id="128045" name="Freeform 3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8046" name="Freeform 3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8047" name="Oval 3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8048" name="Oval 3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8026" name="Group 36"/>
          <p:cNvGrpSpPr>
            <a:grpSpLocks/>
          </p:cNvGrpSpPr>
          <p:nvPr/>
        </p:nvGrpSpPr>
        <p:grpSpPr bwMode="auto">
          <a:xfrm>
            <a:off x="987425" y="2971800"/>
            <a:ext cx="1377950" cy="423863"/>
            <a:chOff x="1313" y="2496"/>
            <a:chExt cx="1252" cy="427"/>
          </a:xfrm>
        </p:grpSpPr>
        <p:sp>
          <p:nvSpPr>
            <p:cNvPr id="128041" name="Freeform 3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8042" name="Freeform 3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8043" name="Oval 39"/>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8044" name="Oval 40"/>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8027" name="Oval 4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28" name="Oval 4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29" name="Oval 4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0" name="Oval 4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1" name="Oval 4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2" name="Oval 46"/>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3" name="Oval 4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4" name="Oval 4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5" name="Oval 4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6" name="Oval 5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7" name="Oval 5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8038" name="Oval 5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5" name="TextBox 54"/>
          <p:cNvSpPr txBox="1"/>
          <p:nvPr/>
        </p:nvSpPr>
        <p:spPr>
          <a:xfrm>
            <a:off x="7200900" y="2960688"/>
            <a:ext cx="356188" cy="461665"/>
          </a:xfrm>
          <a:prstGeom prst="rect">
            <a:avLst/>
          </a:prstGeom>
          <a:noFill/>
        </p:spPr>
        <p:txBody>
          <a:bodyPr wrap="none">
            <a:spAutoFit/>
          </a:bodyPr>
          <a:lstStyle/>
          <a:p>
            <a:pPr>
              <a:defRPr/>
            </a:pPr>
            <a:r>
              <a:rPr lang="en-US" dirty="0">
                <a:solidFill>
                  <a:schemeClr val="bg1"/>
                </a:solidFill>
                <a:latin typeface="Arial" pitchFamily="34" charset="0"/>
              </a:rPr>
              <a:t>2</a:t>
            </a:r>
          </a:p>
        </p:txBody>
      </p:sp>
      <p:sp>
        <p:nvSpPr>
          <p:cNvPr id="56" name="TextBox 55"/>
          <p:cNvSpPr txBox="1"/>
          <p:nvPr/>
        </p:nvSpPr>
        <p:spPr>
          <a:xfrm>
            <a:off x="7202488" y="2065338"/>
            <a:ext cx="356188" cy="461665"/>
          </a:xfrm>
          <a:prstGeom prst="rect">
            <a:avLst/>
          </a:prstGeom>
          <a:noFill/>
        </p:spPr>
        <p:txBody>
          <a:bodyPr wrap="none">
            <a:spAutoFit/>
          </a:bodyPr>
          <a:lstStyle/>
          <a:p>
            <a:pPr>
              <a:defRPr/>
            </a:pPr>
            <a:r>
              <a:rPr lang="en-US" dirty="0">
                <a:solidFill>
                  <a:schemeClr val="bg1"/>
                </a:solidFill>
                <a:latin typeface="Arial" pitchFamily="34" charset="0"/>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4132 0.00602 C 0.09671 0.01805 0.15226 0.03032 0.17605 0.00787 C 0.19983 -0.01458 0.16355 -0.10787 0.18438 -0.12917 C 0.20521 -0.15046 0.28143 -0.09375 0.30105 -0.11991 C 0.32066 -0.14607 0.24809 -0.2588 0.30243 -0.28657 C 0.35677 -0.31435 0.49202 -0.30046 0.62743 -0.28657 " pathEditMode="relative" rAng="0" ptsTypes="aaaaaA">
                                      <p:cBhvr>
                                        <p:cTn id="6" dur="2000" fill="hold"/>
                                        <p:tgtEl>
                                          <p:spTgt spid="4"/>
                                        </p:tgtEl>
                                        <p:attrNameLst>
                                          <p:attrName>ppt_x</p:attrName>
                                          <p:attrName>ppt_y</p:attrName>
                                        </p:attrNameLst>
                                      </p:cBhvr>
                                      <p:rCtr x="29300" y="-14800"/>
                                    </p:animMotion>
                                  </p:childTnLst>
                                </p:cTn>
                              </p:par>
                              <p:par>
                                <p:cTn id="7" presetID="0" presetClass="path" presetSubtype="0" accel="50000" decel="50000" fill="hold" grpId="0" nodeType="withEffect">
                                  <p:stCondLst>
                                    <p:cond delay="0"/>
                                  </p:stCondLst>
                                  <p:childTnLst>
                                    <p:animMotion origin="layout" path="M -3.33333E-6 -3.33333E-6 L -3.33333E-6 0.13334 " pathEditMode="relative" ptsTypes="AA">
                                      <p:cBhvr>
                                        <p:cTn id="8" dur="500" fill="hold"/>
                                        <p:tgtEl>
                                          <p:spTgt spid="760853"/>
                                        </p:tgtEl>
                                        <p:attrNameLst>
                                          <p:attrName>ppt_x</p:attrName>
                                          <p:attrName>ppt_y</p:attrName>
                                        </p:attrNameLst>
                                      </p:cBhvr>
                                    </p:animMotion>
                                  </p:childTnLst>
                                </p:cTn>
                              </p:par>
                              <p:par>
                                <p:cTn id="9" presetID="0" presetClass="path" presetSubtype="0" accel="50000" decel="50000" fill="hold" grpId="0" nodeType="withEffect">
                                  <p:stCondLst>
                                    <p:cond delay="1000"/>
                                  </p:stCondLst>
                                  <p:childTnLst>
                                    <p:animMotion origin="layout" path="M 0.0 0.01111 L 0.0 0.16666 " pathEditMode="relative" ptsTypes="AA">
                                      <p:cBhvr>
                                        <p:cTn id="10" dur="500" fill="hold"/>
                                        <p:tgtEl>
                                          <p:spTgt spid="760854"/>
                                        </p:tgtEl>
                                        <p:attrNameLst>
                                          <p:attrName>ppt_x</p:attrName>
                                          <p:attrName>ppt_y</p:attrName>
                                        </p:attrNameLst>
                                      </p:cBhvr>
                                    </p:animMotion>
                                  </p:childTnLst>
                                </p:cTn>
                              </p:par>
                              <p:par>
                                <p:cTn id="11" presetID="0" presetClass="path" presetSubtype="0" accel="50000" decel="50000" fill="hold" grpId="0" nodeType="withEffect">
                                  <p:stCondLst>
                                    <p:cond delay="1500"/>
                                  </p:stCondLst>
                                  <p:childTnLst>
                                    <p:animMotion origin="layout" path="M -3.33333E-6 0.01111 L -3.33333E-6 -0.13334 " pathEditMode="relative" ptsTypes="AA">
                                      <p:cBhvr>
                                        <p:cTn id="12" dur="500" fill="hold"/>
                                        <p:tgtEl>
                                          <p:spTgt spid="760856"/>
                                        </p:tgtEl>
                                        <p:attrNameLst>
                                          <p:attrName>ppt_x</p:attrName>
                                          <p:attrName>ppt_y</p:attrName>
                                        </p:attrNameLst>
                                      </p:cBhvr>
                                    </p:animMotion>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0853" grpId="0" animBg="1"/>
      <p:bldP spid="760854" grpId="0" animBg="1"/>
      <p:bldP spid="760856" grpId="0" animBg="1"/>
      <p:bldP spid="55"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4"/>
          <p:cNvSpPr>
            <a:spLocks noGrp="1"/>
          </p:cNvSpPr>
          <p:nvPr>
            <p:ph type="ftr" sz="quarter" idx="10"/>
          </p:nvPr>
        </p:nvSpPr>
        <p:spPr/>
        <p:txBody>
          <a:bodyPr/>
          <a:lstStyle/>
          <a:p>
            <a:pPr>
              <a:defRPr/>
            </a:pPr>
            <a:r>
              <a:rPr lang="en-US"/>
              <a:t>Art of Multiprocessor Programming</a:t>
            </a:r>
          </a:p>
        </p:txBody>
      </p:sp>
      <p:sp>
        <p:nvSpPr>
          <p:cNvPr id="64" name="Slide Number Placeholder 5"/>
          <p:cNvSpPr>
            <a:spLocks noGrp="1"/>
          </p:cNvSpPr>
          <p:nvPr>
            <p:ph type="sldNum" sz="quarter" idx="11"/>
          </p:nvPr>
        </p:nvSpPr>
        <p:spPr/>
        <p:txBody>
          <a:bodyPr/>
          <a:lstStyle/>
          <a:p>
            <a:pPr>
              <a:defRPr/>
            </a:pPr>
            <a:fld id="{4557D99F-4A4A-4947-B689-806AB9981B81}" type="slidenum">
              <a:rPr lang="en-US"/>
              <a:pPr>
                <a:defRPr/>
              </a:pPr>
              <a:t>131</a:t>
            </a:fld>
            <a:endParaRPr lang="en-US"/>
          </a:p>
        </p:txBody>
      </p:sp>
      <p:grpSp>
        <p:nvGrpSpPr>
          <p:cNvPr id="129028" name="Group 2"/>
          <p:cNvGrpSpPr>
            <a:grpSpLocks/>
          </p:cNvGrpSpPr>
          <p:nvPr/>
        </p:nvGrpSpPr>
        <p:grpSpPr bwMode="auto">
          <a:xfrm>
            <a:off x="1212850" y="3200400"/>
            <a:ext cx="1377950" cy="423863"/>
            <a:chOff x="1313" y="2496"/>
            <a:chExt cx="1252" cy="427"/>
          </a:xfrm>
        </p:grpSpPr>
        <p:sp>
          <p:nvSpPr>
            <p:cNvPr id="129087"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88"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89"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90"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9029" name="Line 7"/>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9030" name="Line 8"/>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9031" name="Oval 9"/>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9032" name="Oval 10"/>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29033" name="Rectangle 11"/>
          <p:cNvSpPr>
            <a:spLocks noGrp="1" noChangeArrowheads="1"/>
          </p:cNvSpPr>
          <p:nvPr>
            <p:ph type="title"/>
          </p:nvPr>
        </p:nvSpPr>
        <p:spPr/>
        <p:txBody>
          <a:bodyPr/>
          <a:lstStyle/>
          <a:p>
            <a:r>
              <a:rPr lang="en-US"/>
              <a:t>Counting Network </a:t>
            </a:r>
          </a:p>
        </p:txBody>
      </p:sp>
      <p:sp>
        <p:nvSpPr>
          <p:cNvPr id="129034" name="Line 12"/>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9035" name="Line 13"/>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29036" name="AutoShape 14"/>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9037" name="AutoShape 15"/>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9038" name="AutoShape 16"/>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9039" name="AutoShape 17"/>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9040" name="AutoShape 18"/>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29041" name="AutoShape 19"/>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762900" name="Line 20"/>
          <p:cNvSpPr>
            <a:spLocks noChangeShapeType="1"/>
          </p:cNvSpPr>
          <p:nvPr/>
        </p:nvSpPr>
        <p:spPr bwMode="auto">
          <a:xfrm>
            <a:off x="28956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29043" name="Line 21"/>
          <p:cNvSpPr>
            <a:spLocks noChangeShapeType="1"/>
          </p:cNvSpPr>
          <p:nvPr/>
        </p:nvSpPr>
        <p:spPr bwMode="auto">
          <a:xfrm>
            <a:off x="2841625" y="5191125"/>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29044" name="Line 23"/>
          <p:cNvSpPr>
            <a:spLocks noChangeShapeType="1"/>
          </p:cNvSpPr>
          <p:nvPr/>
        </p:nvSpPr>
        <p:spPr bwMode="auto">
          <a:xfrm>
            <a:off x="5029200" y="5181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29045" name="Line 24"/>
          <p:cNvSpPr>
            <a:spLocks noChangeShapeType="1"/>
          </p:cNvSpPr>
          <p:nvPr/>
        </p:nvSpPr>
        <p:spPr bwMode="auto">
          <a:xfrm>
            <a:off x="60960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62905" name="Line 25"/>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29047" name="Group 26"/>
          <p:cNvGrpSpPr>
            <a:grpSpLocks/>
          </p:cNvGrpSpPr>
          <p:nvPr/>
        </p:nvGrpSpPr>
        <p:grpSpPr bwMode="auto">
          <a:xfrm>
            <a:off x="6781800" y="2057400"/>
            <a:ext cx="1377950" cy="423863"/>
            <a:chOff x="1313" y="2496"/>
            <a:chExt cx="1252" cy="427"/>
          </a:xfrm>
        </p:grpSpPr>
        <p:sp>
          <p:nvSpPr>
            <p:cNvPr id="129083"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84"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85" name="Oval 2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86" name="Oval 3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9048" name="Group 31"/>
          <p:cNvGrpSpPr>
            <a:grpSpLocks/>
          </p:cNvGrpSpPr>
          <p:nvPr/>
        </p:nvGrpSpPr>
        <p:grpSpPr bwMode="auto">
          <a:xfrm>
            <a:off x="987425" y="4953000"/>
            <a:ext cx="1377950" cy="423863"/>
            <a:chOff x="1313" y="2496"/>
            <a:chExt cx="1252" cy="427"/>
          </a:xfrm>
        </p:grpSpPr>
        <p:sp>
          <p:nvSpPr>
            <p:cNvPr id="129079" name="Freeform 3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80" name="Freeform 3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81" name="Oval 34"/>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82" name="Oval 35"/>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9049" name="Group 36"/>
          <p:cNvGrpSpPr>
            <a:grpSpLocks/>
          </p:cNvGrpSpPr>
          <p:nvPr/>
        </p:nvGrpSpPr>
        <p:grpSpPr bwMode="auto">
          <a:xfrm>
            <a:off x="987425" y="2971800"/>
            <a:ext cx="1377950" cy="423863"/>
            <a:chOff x="1313" y="2496"/>
            <a:chExt cx="1252" cy="427"/>
          </a:xfrm>
        </p:grpSpPr>
        <p:sp>
          <p:nvSpPr>
            <p:cNvPr id="129075" name="Freeform 3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76" name="Freeform 3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77" name="Oval 39"/>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9078" name="Oval 40"/>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29050" name="Group 41"/>
          <p:cNvGrpSpPr>
            <a:grpSpLocks/>
          </p:cNvGrpSpPr>
          <p:nvPr/>
        </p:nvGrpSpPr>
        <p:grpSpPr bwMode="auto">
          <a:xfrm>
            <a:off x="6781800" y="2971800"/>
            <a:ext cx="1377950" cy="423863"/>
            <a:chOff x="1313" y="2496"/>
            <a:chExt cx="1252" cy="427"/>
          </a:xfrm>
        </p:grpSpPr>
        <p:sp>
          <p:nvSpPr>
            <p:cNvPr id="129071" name="Freeform 4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72" name="Freeform 4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73" name="Oval 4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74" name="Oval 4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7" name="Group 46"/>
          <p:cNvGrpSpPr>
            <a:grpSpLocks/>
          </p:cNvGrpSpPr>
          <p:nvPr/>
        </p:nvGrpSpPr>
        <p:grpSpPr bwMode="auto">
          <a:xfrm>
            <a:off x="1219200" y="3200400"/>
            <a:ext cx="1377950" cy="423863"/>
            <a:chOff x="1313" y="2496"/>
            <a:chExt cx="1252" cy="427"/>
          </a:xfrm>
        </p:grpSpPr>
        <p:sp>
          <p:nvSpPr>
            <p:cNvPr id="129067" name="Freeform 4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68" name="Freeform 4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69" name="Oval 4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9070" name="Oval 5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9052" name="Oval 5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53" name="Oval 5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54" name="Oval 5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55" name="Oval 5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56" name="Oval 5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57" name="Oval 5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58" name="Oval 5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59" name="Oval 5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60" name="Oval 6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61" name="Oval 6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9062" name="Oval 6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65" name="Line 20"/>
          <p:cNvSpPr>
            <a:spLocks noChangeShapeType="1"/>
          </p:cNvSpPr>
          <p:nvPr/>
        </p:nvSpPr>
        <p:spPr bwMode="auto">
          <a:xfrm>
            <a:off x="3930650" y="4329113"/>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66" name="TextBox 65"/>
          <p:cNvSpPr txBox="1"/>
          <p:nvPr/>
        </p:nvSpPr>
        <p:spPr>
          <a:xfrm>
            <a:off x="7232650" y="4108450"/>
            <a:ext cx="369888" cy="461963"/>
          </a:xfrm>
          <a:prstGeom prst="rect">
            <a:avLst/>
          </a:prstGeom>
          <a:noFill/>
        </p:spPr>
        <p:txBody>
          <a:bodyPr wrap="none">
            <a:spAutoFit/>
          </a:bodyPr>
          <a:lstStyle/>
          <a:p>
            <a:pPr>
              <a:defRPr/>
            </a:pPr>
            <a:r>
              <a:rPr lang="en-US" dirty="0">
                <a:solidFill>
                  <a:schemeClr val="bg1"/>
                </a:solidFill>
                <a:latin typeface="Arial" pitchFamily="34" charset="0"/>
              </a:rPr>
              <a:t>3</a:t>
            </a:r>
          </a:p>
        </p:txBody>
      </p:sp>
      <p:sp>
        <p:nvSpPr>
          <p:cNvPr id="67" name="TextBox 66"/>
          <p:cNvSpPr txBox="1"/>
          <p:nvPr/>
        </p:nvSpPr>
        <p:spPr>
          <a:xfrm>
            <a:off x="7200900" y="2960688"/>
            <a:ext cx="356188" cy="461665"/>
          </a:xfrm>
          <a:prstGeom prst="rect">
            <a:avLst/>
          </a:prstGeom>
          <a:noFill/>
        </p:spPr>
        <p:txBody>
          <a:bodyPr wrap="none">
            <a:spAutoFit/>
          </a:bodyPr>
          <a:lstStyle/>
          <a:p>
            <a:pPr>
              <a:defRPr/>
            </a:pPr>
            <a:r>
              <a:rPr lang="en-US" dirty="0">
                <a:solidFill>
                  <a:schemeClr val="bg1"/>
                </a:solidFill>
                <a:latin typeface="Arial" pitchFamily="34" charset="0"/>
              </a:rPr>
              <a:t>2</a:t>
            </a:r>
          </a:p>
        </p:txBody>
      </p:sp>
      <p:sp>
        <p:nvSpPr>
          <p:cNvPr id="68" name="TextBox 67"/>
          <p:cNvSpPr txBox="1"/>
          <p:nvPr/>
        </p:nvSpPr>
        <p:spPr>
          <a:xfrm>
            <a:off x="7202488" y="2065338"/>
            <a:ext cx="356188" cy="461665"/>
          </a:xfrm>
          <a:prstGeom prst="rect">
            <a:avLst/>
          </a:prstGeom>
          <a:noFill/>
        </p:spPr>
        <p:txBody>
          <a:bodyPr wrap="none">
            <a:spAutoFit/>
          </a:bodyPr>
          <a:lstStyle/>
          <a:p>
            <a:pPr>
              <a:defRPr/>
            </a:pPr>
            <a:r>
              <a:rPr lang="en-US" dirty="0">
                <a:solidFill>
                  <a:schemeClr val="bg1"/>
                </a:solidFill>
                <a:latin typeface="Arial" pitchFamily="34" charset="0"/>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61111E-6 3.3526E-6 C 0.04236 -0.01272 0.08489 -0.02521 0.12361 -0.02706 C 0.16232 -0.02891 0.21041 -0.03769 0.23212 -0.01133 C 0.25382 0.01502 0.21093 0.10612 0.25416 0.13086 C 0.29739 0.1556 0.43333 0.13734 0.49149 0.1378 C 0.54965 0.13826 0.58437 0.13387 0.6033 0.13317 " pathEditMode="relative" ptsTypes="aaaaaA">
                                      <p:cBhvr>
                                        <p:cTn id="6" dur="2000" fill="hold"/>
                                        <p:tgtEl>
                                          <p:spTgt spid="7"/>
                                        </p:tgtEl>
                                        <p:attrNameLst>
                                          <p:attrName>ppt_x</p:attrName>
                                          <p:attrName>ppt_y</p:attrName>
                                        </p:attrNameLst>
                                      </p:cBhvr>
                                    </p:animMotion>
                                  </p:childTnLst>
                                </p:cTn>
                              </p:par>
                              <p:par>
                                <p:cTn id="7" presetID="0" presetClass="path" presetSubtype="0" accel="50000" decel="50000" fill="hold" grpId="0" nodeType="withEffect">
                                  <p:stCondLst>
                                    <p:cond delay="500"/>
                                  </p:stCondLst>
                                  <p:childTnLst>
                                    <p:animMotion origin="layout" path="M -3.33333E-6 3.33333E-6 L -3.33333E-6 -0.13334 " pathEditMode="relative" rAng="0" ptsTypes="AA">
                                      <p:cBhvr>
                                        <p:cTn id="8" dur="500" fill="hold"/>
                                        <p:tgtEl>
                                          <p:spTgt spid="762900"/>
                                        </p:tgtEl>
                                        <p:attrNameLst>
                                          <p:attrName>ppt_x</p:attrName>
                                          <p:attrName>ppt_y</p:attrName>
                                        </p:attrNameLst>
                                      </p:cBhvr>
                                      <p:rCtr x="0" y="-67"/>
                                    </p:animMotion>
                                  </p:childTnLst>
                                </p:cTn>
                              </p:par>
                              <p:par>
                                <p:cTn id="9" presetID="0" presetClass="path" presetSubtype="0" accel="50000" decel="50000" fill="hold" grpId="0" nodeType="withEffect">
                                  <p:stCondLst>
                                    <p:cond delay="1000"/>
                                  </p:stCondLst>
                                  <p:childTnLst>
                                    <p:animMotion origin="layout" path="M 2.22222E-6 -2.31214E-7 L 2.22222E-6 -0.16439 " pathEditMode="relative" rAng="0" ptsTypes="AA">
                                      <p:cBhvr>
                                        <p:cTn id="10" dur="500" fill="hold"/>
                                        <p:tgtEl>
                                          <p:spTgt spid="65"/>
                                        </p:tgtEl>
                                        <p:attrNameLst>
                                          <p:attrName>ppt_x</p:attrName>
                                          <p:attrName>ppt_y</p:attrName>
                                        </p:attrNameLst>
                                      </p:cBhvr>
                                      <p:rCtr x="0" y="-82"/>
                                    </p:animMotion>
                                  </p:childTnLst>
                                </p:cTn>
                              </p:par>
                              <p:par>
                                <p:cTn id="11" presetID="0" presetClass="path" presetSubtype="0" accel="50000" decel="50000" fill="hold" grpId="0" nodeType="withEffect">
                                  <p:stCondLst>
                                    <p:cond delay="1500"/>
                                  </p:stCondLst>
                                  <p:childTnLst>
                                    <p:animMotion origin="layout" path="M -3.33333E-6 -3.33333E-6 L -3.33333E-6 0.12223 " pathEditMode="relative" rAng="0" ptsTypes="AA">
                                      <p:cBhvr>
                                        <p:cTn id="12" dur="500" fill="hold"/>
                                        <p:tgtEl>
                                          <p:spTgt spid="762905"/>
                                        </p:tgtEl>
                                        <p:attrNameLst>
                                          <p:attrName>ppt_x</p:attrName>
                                          <p:attrName>ppt_y</p:attrName>
                                        </p:attrNameLst>
                                      </p:cBhvr>
                                      <p:rCtr x="0" y="61"/>
                                    </p:animMotion>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2900" grpId="0" animBg="1"/>
      <p:bldP spid="762905" grpId="0" animBg="1"/>
      <p:bldP spid="65" grpId="0" animBg="1"/>
      <p:bldP spid="6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Footer Placeholder 4"/>
          <p:cNvSpPr>
            <a:spLocks noGrp="1"/>
          </p:cNvSpPr>
          <p:nvPr>
            <p:ph type="ftr" sz="quarter" idx="10"/>
          </p:nvPr>
        </p:nvSpPr>
        <p:spPr/>
        <p:txBody>
          <a:bodyPr/>
          <a:lstStyle/>
          <a:p>
            <a:pPr>
              <a:defRPr/>
            </a:pPr>
            <a:r>
              <a:rPr lang="en-US"/>
              <a:t>Art of Multiprocessor Programming</a:t>
            </a:r>
          </a:p>
        </p:txBody>
      </p:sp>
      <p:sp>
        <p:nvSpPr>
          <p:cNvPr id="74" name="Slide Number Placeholder 5"/>
          <p:cNvSpPr>
            <a:spLocks noGrp="1"/>
          </p:cNvSpPr>
          <p:nvPr>
            <p:ph type="sldNum" sz="quarter" idx="11"/>
          </p:nvPr>
        </p:nvSpPr>
        <p:spPr/>
        <p:txBody>
          <a:bodyPr/>
          <a:lstStyle/>
          <a:p>
            <a:pPr>
              <a:defRPr/>
            </a:pPr>
            <a:fld id="{CE07D198-AAF4-4A9D-881D-B62335EE23AB}" type="slidenum">
              <a:rPr lang="en-US"/>
              <a:pPr>
                <a:defRPr/>
              </a:pPr>
              <a:t>132</a:t>
            </a:fld>
            <a:endParaRPr lang="en-US"/>
          </a:p>
        </p:txBody>
      </p:sp>
      <p:grpSp>
        <p:nvGrpSpPr>
          <p:cNvPr id="130052" name="Group 2"/>
          <p:cNvGrpSpPr>
            <a:grpSpLocks/>
          </p:cNvGrpSpPr>
          <p:nvPr/>
        </p:nvGrpSpPr>
        <p:grpSpPr bwMode="auto">
          <a:xfrm>
            <a:off x="1027113" y="4191000"/>
            <a:ext cx="1377950" cy="423863"/>
            <a:chOff x="1313" y="2496"/>
            <a:chExt cx="1252" cy="427"/>
          </a:xfrm>
        </p:grpSpPr>
        <p:sp>
          <p:nvSpPr>
            <p:cNvPr id="130123"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24"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25"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26"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30053" name="Line 7"/>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0054" name="Line 8"/>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0055" name="Oval 9"/>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0056" name="Oval 10"/>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0057" name="Rectangle 11"/>
          <p:cNvSpPr>
            <a:spLocks noGrp="1" noChangeArrowheads="1"/>
          </p:cNvSpPr>
          <p:nvPr>
            <p:ph type="title"/>
          </p:nvPr>
        </p:nvSpPr>
        <p:spPr/>
        <p:txBody>
          <a:bodyPr/>
          <a:lstStyle/>
          <a:p>
            <a:r>
              <a:rPr lang="en-US"/>
              <a:t>Counting Network </a:t>
            </a:r>
          </a:p>
        </p:txBody>
      </p:sp>
      <p:sp>
        <p:nvSpPr>
          <p:cNvPr id="130058" name="Line 12"/>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0059" name="Line 13"/>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0060" name="AutoShape 14"/>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0061" name="AutoShape 15"/>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0062" name="AutoShape 16"/>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0063" name="AutoShape 17"/>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0064" name="AutoShape 18"/>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0065" name="AutoShape 19"/>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0066" name="Line 20"/>
          <p:cNvSpPr>
            <a:spLocks noChangeShapeType="1"/>
          </p:cNvSpPr>
          <p:nvPr/>
        </p:nvSpPr>
        <p:spPr bwMode="auto">
          <a:xfrm>
            <a:off x="2895600" y="2362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64949" name="Line 21"/>
          <p:cNvSpPr>
            <a:spLocks noChangeShapeType="1"/>
          </p:cNvSpPr>
          <p:nvPr/>
        </p:nvSpPr>
        <p:spPr bwMode="auto">
          <a:xfrm>
            <a:off x="2905125" y="5191125"/>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64950" name="Line 22"/>
          <p:cNvSpPr>
            <a:spLocks noChangeShapeType="1"/>
          </p:cNvSpPr>
          <p:nvPr/>
        </p:nvSpPr>
        <p:spPr bwMode="auto">
          <a:xfrm>
            <a:off x="4995863" y="5191125"/>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0069" name="Line 24"/>
          <p:cNvSpPr>
            <a:spLocks noChangeShapeType="1"/>
          </p:cNvSpPr>
          <p:nvPr/>
        </p:nvSpPr>
        <p:spPr bwMode="auto">
          <a:xfrm>
            <a:off x="6096000" y="2362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64953" name="Line 25"/>
          <p:cNvSpPr>
            <a:spLocks noChangeShapeType="1"/>
          </p:cNvSpPr>
          <p:nvPr/>
        </p:nvSpPr>
        <p:spPr bwMode="auto">
          <a:xfrm>
            <a:off x="6096000" y="5181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0071" name="Group 26"/>
          <p:cNvGrpSpPr>
            <a:grpSpLocks/>
          </p:cNvGrpSpPr>
          <p:nvPr/>
        </p:nvGrpSpPr>
        <p:grpSpPr bwMode="auto">
          <a:xfrm>
            <a:off x="6781800" y="2057400"/>
            <a:ext cx="1377950" cy="423863"/>
            <a:chOff x="1313" y="2496"/>
            <a:chExt cx="1252" cy="427"/>
          </a:xfrm>
        </p:grpSpPr>
        <p:sp>
          <p:nvSpPr>
            <p:cNvPr id="130119"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20"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21" name="Oval 2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22" name="Oval 3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0072" name="Group 31"/>
          <p:cNvGrpSpPr>
            <a:grpSpLocks/>
          </p:cNvGrpSpPr>
          <p:nvPr/>
        </p:nvGrpSpPr>
        <p:grpSpPr bwMode="auto">
          <a:xfrm>
            <a:off x="1027113" y="4953000"/>
            <a:ext cx="1377950" cy="423863"/>
            <a:chOff x="1313" y="2496"/>
            <a:chExt cx="1252" cy="427"/>
          </a:xfrm>
        </p:grpSpPr>
        <p:sp>
          <p:nvSpPr>
            <p:cNvPr id="130115" name="Freeform 3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16" name="Freeform 3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17" name="Oval 34"/>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18" name="Oval 35"/>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0073" name="Group 36"/>
          <p:cNvGrpSpPr>
            <a:grpSpLocks/>
          </p:cNvGrpSpPr>
          <p:nvPr/>
        </p:nvGrpSpPr>
        <p:grpSpPr bwMode="auto">
          <a:xfrm>
            <a:off x="987425" y="2971800"/>
            <a:ext cx="1377950" cy="423863"/>
            <a:chOff x="1313" y="2496"/>
            <a:chExt cx="1252" cy="427"/>
          </a:xfrm>
        </p:grpSpPr>
        <p:sp>
          <p:nvSpPr>
            <p:cNvPr id="130111" name="Freeform 3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12" name="Freeform 3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13" name="Oval 39"/>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14" name="Oval 40"/>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0074" name="Group 41"/>
          <p:cNvGrpSpPr>
            <a:grpSpLocks/>
          </p:cNvGrpSpPr>
          <p:nvPr/>
        </p:nvGrpSpPr>
        <p:grpSpPr bwMode="auto">
          <a:xfrm>
            <a:off x="6781800" y="2971800"/>
            <a:ext cx="1377950" cy="423863"/>
            <a:chOff x="1313" y="2496"/>
            <a:chExt cx="1252" cy="427"/>
          </a:xfrm>
        </p:grpSpPr>
        <p:sp>
          <p:nvSpPr>
            <p:cNvPr id="130107" name="Freeform 4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08" name="Freeform 4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09" name="Oval 4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10" name="Oval 4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0075" name="Group 46"/>
          <p:cNvGrpSpPr>
            <a:grpSpLocks/>
          </p:cNvGrpSpPr>
          <p:nvPr/>
        </p:nvGrpSpPr>
        <p:grpSpPr bwMode="auto">
          <a:xfrm>
            <a:off x="1219200" y="3200400"/>
            <a:ext cx="1377950" cy="423863"/>
            <a:chOff x="1313" y="2496"/>
            <a:chExt cx="1252" cy="427"/>
          </a:xfrm>
        </p:grpSpPr>
        <p:sp>
          <p:nvSpPr>
            <p:cNvPr id="130103" name="Freeform 4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04" name="Freeform 4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05" name="Oval 49"/>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0106" name="Oval 50"/>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0076" name="Group 51"/>
          <p:cNvGrpSpPr>
            <a:grpSpLocks/>
          </p:cNvGrpSpPr>
          <p:nvPr/>
        </p:nvGrpSpPr>
        <p:grpSpPr bwMode="auto">
          <a:xfrm>
            <a:off x="6705600" y="3978275"/>
            <a:ext cx="1377950" cy="423863"/>
            <a:chOff x="1313" y="2496"/>
            <a:chExt cx="1252" cy="427"/>
          </a:xfrm>
        </p:grpSpPr>
        <p:sp>
          <p:nvSpPr>
            <p:cNvPr id="130099" name="Freeform 5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00" name="Freeform 5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01" name="Oval 5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102" name="Oval 5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9" name="Group 56"/>
          <p:cNvGrpSpPr>
            <a:grpSpLocks/>
          </p:cNvGrpSpPr>
          <p:nvPr/>
        </p:nvGrpSpPr>
        <p:grpSpPr bwMode="auto">
          <a:xfrm>
            <a:off x="722313" y="4445000"/>
            <a:ext cx="1377950" cy="423863"/>
            <a:chOff x="1313" y="2496"/>
            <a:chExt cx="1252" cy="427"/>
          </a:xfrm>
        </p:grpSpPr>
        <p:sp>
          <p:nvSpPr>
            <p:cNvPr id="130095" name="Freeform 5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096" name="Freeform 5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097" name="Oval 5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0098" name="Oval 6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30078" name="Oval 6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79" name="Oval 6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0" name="Oval 6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1" name="Oval 6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2" name="Oval 6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3" name="Oval 66"/>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4" name="Oval 6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5" name="Oval 6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6" name="Oval 6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7" name="Oval 7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8" name="Oval 7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89" name="Oval 7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0090" name="Line 23"/>
          <p:cNvSpPr>
            <a:spLocks noChangeShapeType="1"/>
          </p:cNvSpPr>
          <p:nvPr/>
        </p:nvSpPr>
        <p:spPr bwMode="auto">
          <a:xfrm>
            <a:off x="3971925" y="3241675"/>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5" name="TextBox 74"/>
          <p:cNvSpPr txBox="1"/>
          <p:nvPr/>
        </p:nvSpPr>
        <p:spPr>
          <a:xfrm>
            <a:off x="7232650" y="4062413"/>
            <a:ext cx="369888" cy="460375"/>
          </a:xfrm>
          <a:prstGeom prst="rect">
            <a:avLst/>
          </a:prstGeom>
          <a:noFill/>
        </p:spPr>
        <p:txBody>
          <a:bodyPr wrap="none">
            <a:spAutoFit/>
          </a:bodyPr>
          <a:lstStyle/>
          <a:p>
            <a:pPr>
              <a:defRPr/>
            </a:pPr>
            <a:r>
              <a:rPr lang="en-US" dirty="0">
                <a:solidFill>
                  <a:schemeClr val="bg1"/>
                </a:solidFill>
                <a:latin typeface="Arial" pitchFamily="34" charset="0"/>
              </a:rPr>
              <a:t>3</a:t>
            </a:r>
          </a:p>
        </p:txBody>
      </p:sp>
      <p:sp>
        <p:nvSpPr>
          <p:cNvPr id="76" name="TextBox 75"/>
          <p:cNvSpPr txBox="1"/>
          <p:nvPr/>
        </p:nvSpPr>
        <p:spPr>
          <a:xfrm>
            <a:off x="7200900" y="2960688"/>
            <a:ext cx="356188" cy="461665"/>
          </a:xfrm>
          <a:prstGeom prst="rect">
            <a:avLst/>
          </a:prstGeom>
          <a:noFill/>
        </p:spPr>
        <p:txBody>
          <a:bodyPr wrap="none">
            <a:spAutoFit/>
          </a:bodyPr>
          <a:lstStyle/>
          <a:p>
            <a:pPr>
              <a:defRPr/>
            </a:pPr>
            <a:r>
              <a:rPr lang="en-US" dirty="0">
                <a:solidFill>
                  <a:schemeClr val="bg1"/>
                </a:solidFill>
                <a:latin typeface="Arial" pitchFamily="34" charset="0"/>
              </a:rPr>
              <a:t>2</a:t>
            </a:r>
          </a:p>
        </p:txBody>
      </p:sp>
      <p:sp>
        <p:nvSpPr>
          <p:cNvPr id="77" name="TextBox 76"/>
          <p:cNvSpPr txBox="1"/>
          <p:nvPr/>
        </p:nvSpPr>
        <p:spPr>
          <a:xfrm>
            <a:off x="7202488" y="2065338"/>
            <a:ext cx="356188" cy="461665"/>
          </a:xfrm>
          <a:prstGeom prst="rect">
            <a:avLst/>
          </a:prstGeom>
          <a:noFill/>
        </p:spPr>
        <p:txBody>
          <a:bodyPr wrap="none">
            <a:spAutoFit/>
          </a:bodyPr>
          <a:lstStyle/>
          <a:p>
            <a:pPr>
              <a:defRPr/>
            </a:pPr>
            <a:r>
              <a:rPr lang="en-US" dirty="0">
                <a:solidFill>
                  <a:schemeClr val="bg1"/>
                </a:solidFill>
                <a:latin typeface="Arial" pitchFamily="34" charset="0"/>
              </a:rPr>
              <a:t>1</a:t>
            </a:r>
          </a:p>
        </p:txBody>
      </p:sp>
      <p:sp>
        <p:nvSpPr>
          <p:cNvPr id="78" name="TextBox 77"/>
          <p:cNvSpPr txBox="1"/>
          <p:nvPr/>
        </p:nvSpPr>
        <p:spPr>
          <a:xfrm>
            <a:off x="7232650" y="4945063"/>
            <a:ext cx="369888" cy="461962"/>
          </a:xfrm>
          <a:prstGeom prst="rect">
            <a:avLst/>
          </a:prstGeom>
          <a:noFill/>
        </p:spPr>
        <p:txBody>
          <a:bodyPr wrap="none">
            <a:spAutoFit/>
          </a:bodyPr>
          <a:lstStyle/>
          <a:p>
            <a:pPr>
              <a:defRPr/>
            </a:pPr>
            <a:r>
              <a:rPr lang="en-US" dirty="0">
                <a:solidFill>
                  <a:schemeClr val="bg1"/>
                </a:solidFill>
                <a:latin typeface="Arial" pitchFamily="34" charset="0"/>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8.33333E-7 -4.62428E-6 C 0.02708 -0.01895 0.05417 -0.03768 0.08646 -0.04739 C 0.11875 -0.0571 0.1684 -0.07745 0.19323 -0.05872 C 0.21806 -0.04 0.19636 0.04255 0.23559 0.06544 C 0.27483 0.08833 0.35886 0.07769 0.42882 0.07885 C 0.49879 0.08 0.57726 0.07607 0.6559 0.07214 " pathEditMode="relative" ptsTypes="aaaaaA">
                                      <p:cBhvr>
                                        <p:cTn id="6" dur="2000" fill="hold"/>
                                        <p:tgtEl>
                                          <p:spTgt spid="9"/>
                                        </p:tgtEl>
                                        <p:attrNameLst>
                                          <p:attrName>ppt_x</p:attrName>
                                          <p:attrName>ppt_y</p:attrName>
                                        </p:attrNameLst>
                                      </p:cBhvr>
                                    </p:animMotion>
                                  </p:childTnLst>
                                </p:cTn>
                              </p:par>
                              <p:par>
                                <p:cTn id="7" presetID="0" presetClass="path" presetSubtype="0" accel="50000" decel="50000" fill="hold" grpId="0" nodeType="withEffect">
                                  <p:stCondLst>
                                    <p:cond delay="500"/>
                                  </p:stCondLst>
                                  <p:childTnLst>
                                    <p:animMotion origin="layout" path="M -0.00347 -0.00231 L -0.00347 -0.12601 " pathEditMode="relative" rAng="0" ptsTypes="AA">
                                      <p:cBhvr>
                                        <p:cTn id="8" dur="500" fill="hold"/>
                                        <p:tgtEl>
                                          <p:spTgt spid="764949"/>
                                        </p:tgtEl>
                                        <p:attrNameLst>
                                          <p:attrName>ppt_x</p:attrName>
                                          <p:attrName>ppt_y</p:attrName>
                                        </p:attrNameLst>
                                      </p:cBhvr>
                                      <p:rCtr x="0" y="-62"/>
                                    </p:animMotion>
                                  </p:childTnLst>
                                </p:cTn>
                              </p:par>
                              <p:par>
                                <p:cTn id="9" presetID="0" presetClass="path" presetSubtype="0" accel="50000" decel="50000" fill="hold" grpId="0" nodeType="withEffect">
                                  <p:stCondLst>
                                    <p:cond delay="1000"/>
                                  </p:stCondLst>
                                  <p:childTnLst>
                                    <p:animMotion origin="layout" path="M -3.05556E-6 -3.2948E-6 L -3.05556E-6 -0.42057 " pathEditMode="relative" rAng="0" ptsTypes="AA">
                                      <p:cBhvr>
                                        <p:cTn id="10" dur="500" fill="hold"/>
                                        <p:tgtEl>
                                          <p:spTgt spid="764950"/>
                                        </p:tgtEl>
                                        <p:attrNameLst>
                                          <p:attrName>ppt_x</p:attrName>
                                          <p:attrName>ppt_y</p:attrName>
                                        </p:attrNameLst>
                                      </p:cBhvr>
                                      <p:rCtr x="0" y="-210"/>
                                    </p:animMotion>
                                  </p:childTnLst>
                                </p:cTn>
                              </p:par>
                              <p:par>
                                <p:cTn id="11" presetID="0" presetClass="path" presetSubtype="0" accel="50000" decel="50000" fill="hold" grpId="0" nodeType="withEffect">
                                  <p:stCondLst>
                                    <p:cond delay="1500"/>
                                  </p:stCondLst>
                                  <p:childTnLst>
                                    <p:animMotion origin="layout" path="M -3.33333E-6 4.44444E-6 L -3.33333E-6 -0.12223 " pathEditMode="relative" ptsTypes="AA">
                                      <p:cBhvr>
                                        <p:cTn id="12" dur="500" fill="hold"/>
                                        <p:tgtEl>
                                          <p:spTgt spid="764953"/>
                                        </p:tgtEl>
                                        <p:attrNameLst>
                                          <p:attrName>ppt_x</p:attrName>
                                          <p:attrName>ppt_y</p:attrName>
                                        </p:attrNameLst>
                                      </p:cBhvr>
                                    </p:animMotion>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49" grpId="0" animBg="1"/>
      <p:bldP spid="764950" grpId="0" animBg="1"/>
      <p:bldP spid="764953" grpId="0" animBg="1"/>
      <p:bldP spid="78"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Footer Placeholder 4"/>
          <p:cNvSpPr>
            <a:spLocks noGrp="1"/>
          </p:cNvSpPr>
          <p:nvPr>
            <p:ph type="ftr" sz="quarter" idx="10"/>
          </p:nvPr>
        </p:nvSpPr>
        <p:spPr/>
        <p:txBody>
          <a:bodyPr/>
          <a:lstStyle/>
          <a:p>
            <a:pPr>
              <a:defRPr/>
            </a:pPr>
            <a:r>
              <a:rPr lang="en-US"/>
              <a:t>Art of Multiprocessor Programming</a:t>
            </a:r>
          </a:p>
        </p:txBody>
      </p:sp>
      <p:sp>
        <p:nvSpPr>
          <p:cNvPr id="84" name="Slide Number Placeholder 5"/>
          <p:cNvSpPr>
            <a:spLocks noGrp="1"/>
          </p:cNvSpPr>
          <p:nvPr>
            <p:ph type="sldNum" sz="quarter" idx="11"/>
          </p:nvPr>
        </p:nvSpPr>
        <p:spPr/>
        <p:txBody>
          <a:bodyPr/>
          <a:lstStyle/>
          <a:p>
            <a:pPr>
              <a:defRPr/>
            </a:pPr>
            <a:fld id="{AE2F4C93-F057-4DD3-A9D7-18CA5BFDE4B9}" type="slidenum">
              <a:rPr lang="en-US"/>
              <a:pPr>
                <a:defRPr/>
              </a:pPr>
              <a:t>133</a:t>
            </a:fld>
            <a:endParaRPr lang="en-US"/>
          </a:p>
        </p:txBody>
      </p:sp>
      <p:grpSp>
        <p:nvGrpSpPr>
          <p:cNvPr id="131076" name="Group 2"/>
          <p:cNvGrpSpPr>
            <a:grpSpLocks/>
          </p:cNvGrpSpPr>
          <p:nvPr/>
        </p:nvGrpSpPr>
        <p:grpSpPr bwMode="auto">
          <a:xfrm>
            <a:off x="1371600" y="3462338"/>
            <a:ext cx="1377950" cy="423862"/>
            <a:chOff x="1313" y="2496"/>
            <a:chExt cx="1252" cy="427"/>
          </a:xfrm>
        </p:grpSpPr>
        <p:sp>
          <p:nvSpPr>
            <p:cNvPr id="131158"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59"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60"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61"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31077" name="Line 7"/>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1078" name="Line 8"/>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1079" name="Oval 9"/>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1080" name="Oval 10"/>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1081" name="Rectangle 11"/>
          <p:cNvSpPr>
            <a:spLocks noGrp="1" noChangeArrowheads="1"/>
          </p:cNvSpPr>
          <p:nvPr>
            <p:ph type="title"/>
          </p:nvPr>
        </p:nvSpPr>
        <p:spPr/>
        <p:txBody>
          <a:bodyPr/>
          <a:lstStyle/>
          <a:p>
            <a:r>
              <a:rPr lang="en-US"/>
              <a:t>Counting Network </a:t>
            </a:r>
          </a:p>
        </p:txBody>
      </p:sp>
      <p:sp>
        <p:nvSpPr>
          <p:cNvPr id="131082" name="Line 12"/>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1083" name="Line 13"/>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1084" name="AutoShape 14"/>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1085" name="AutoShape 15"/>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1086" name="AutoShape 16"/>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1087" name="AutoShape 17"/>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1088" name="AutoShape 18"/>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1089" name="AutoShape 19"/>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766996" name="Line 20"/>
          <p:cNvSpPr>
            <a:spLocks noChangeShapeType="1"/>
          </p:cNvSpPr>
          <p:nvPr/>
        </p:nvSpPr>
        <p:spPr bwMode="auto">
          <a:xfrm>
            <a:off x="2895600" y="2362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1091" name="Line 21"/>
          <p:cNvSpPr>
            <a:spLocks noChangeShapeType="1"/>
          </p:cNvSpPr>
          <p:nvPr/>
        </p:nvSpPr>
        <p:spPr bwMode="auto">
          <a:xfrm>
            <a:off x="2889250" y="4316413"/>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1092" name="Line 22"/>
          <p:cNvSpPr>
            <a:spLocks noChangeShapeType="1"/>
          </p:cNvSpPr>
          <p:nvPr/>
        </p:nvSpPr>
        <p:spPr bwMode="auto">
          <a:xfrm>
            <a:off x="39624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66999" name="Line 23"/>
          <p:cNvSpPr>
            <a:spLocks noChangeShapeType="1"/>
          </p:cNvSpPr>
          <p:nvPr/>
        </p:nvSpPr>
        <p:spPr bwMode="auto">
          <a:xfrm>
            <a:off x="50292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1094" name="Line 24"/>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1095" name="Group 25"/>
          <p:cNvGrpSpPr>
            <a:grpSpLocks/>
          </p:cNvGrpSpPr>
          <p:nvPr/>
        </p:nvGrpSpPr>
        <p:grpSpPr bwMode="auto">
          <a:xfrm>
            <a:off x="6743700" y="2057400"/>
            <a:ext cx="1377950" cy="423863"/>
            <a:chOff x="1313" y="2496"/>
            <a:chExt cx="1252" cy="427"/>
          </a:xfrm>
        </p:grpSpPr>
        <p:sp>
          <p:nvSpPr>
            <p:cNvPr id="131154" name="Freeform 2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55" name="Freeform 2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56" name="Oval 2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57" name="Oval 2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1096" name="Group 30"/>
          <p:cNvGrpSpPr>
            <a:grpSpLocks/>
          </p:cNvGrpSpPr>
          <p:nvPr/>
        </p:nvGrpSpPr>
        <p:grpSpPr bwMode="auto">
          <a:xfrm>
            <a:off x="6743700" y="4953000"/>
            <a:ext cx="1377950" cy="423863"/>
            <a:chOff x="1313" y="2496"/>
            <a:chExt cx="1252" cy="427"/>
          </a:xfrm>
        </p:grpSpPr>
        <p:sp>
          <p:nvSpPr>
            <p:cNvPr id="131150" name="Freeform 3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51" name="Freeform 3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52" name="Oval 3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53" name="Oval 3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1097" name="Group 35"/>
          <p:cNvGrpSpPr>
            <a:grpSpLocks/>
          </p:cNvGrpSpPr>
          <p:nvPr/>
        </p:nvGrpSpPr>
        <p:grpSpPr bwMode="auto">
          <a:xfrm>
            <a:off x="987425" y="2971800"/>
            <a:ext cx="1377950" cy="423863"/>
            <a:chOff x="1313" y="2496"/>
            <a:chExt cx="1252" cy="427"/>
          </a:xfrm>
        </p:grpSpPr>
        <p:sp>
          <p:nvSpPr>
            <p:cNvPr id="131146" name="Freeform 3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47" name="Freeform 3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48" name="Oval 38"/>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49" name="Oval 39"/>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1098" name="Group 40"/>
          <p:cNvGrpSpPr>
            <a:grpSpLocks/>
          </p:cNvGrpSpPr>
          <p:nvPr/>
        </p:nvGrpSpPr>
        <p:grpSpPr bwMode="auto">
          <a:xfrm>
            <a:off x="6743700" y="2971800"/>
            <a:ext cx="1377950" cy="423863"/>
            <a:chOff x="1313" y="2496"/>
            <a:chExt cx="1252" cy="427"/>
          </a:xfrm>
        </p:grpSpPr>
        <p:sp>
          <p:nvSpPr>
            <p:cNvPr id="131142" name="Freeform 4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43" name="Freeform 4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44" name="Oval 4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45" name="Oval 4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1099" name="Group 45"/>
          <p:cNvGrpSpPr>
            <a:grpSpLocks/>
          </p:cNvGrpSpPr>
          <p:nvPr/>
        </p:nvGrpSpPr>
        <p:grpSpPr bwMode="auto">
          <a:xfrm>
            <a:off x="1219200" y="3200400"/>
            <a:ext cx="1377950" cy="423863"/>
            <a:chOff x="1313" y="2496"/>
            <a:chExt cx="1252" cy="427"/>
          </a:xfrm>
        </p:grpSpPr>
        <p:sp>
          <p:nvSpPr>
            <p:cNvPr id="131138" name="Freeform 4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39" name="Freeform 4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40" name="Oval 48"/>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41" name="Oval 49"/>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1100" name="Group 50"/>
          <p:cNvGrpSpPr>
            <a:grpSpLocks/>
          </p:cNvGrpSpPr>
          <p:nvPr/>
        </p:nvGrpSpPr>
        <p:grpSpPr bwMode="auto">
          <a:xfrm>
            <a:off x="6743700" y="3978275"/>
            <a:ext cx="1377950" cy="423863"/>
            <a:chOff x="1313" y="2496"/>
            <a:chExt cx="1252" cy="427"/>
          </a:xfrm>
        </p:grpSpPr>
        <p:sp>
          <p:nvSpPr>
            <p:cNvPr id="131134" name="Freeform 5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35" name="Freeform 5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36" name="Oval 5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37" name="Oval 5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1101" name="Group 55"/>
          <p:cNvGrpSpPr>
            <a:grpSpLocks/>
          </p:cNvGrpSpPr>
          <p:nvPr/>
        </p:nvGrpSpPr>
        <p:grpSpPr bwMode="auto">
          <a:xfrm>
            <a:off x="1027113" y="4191000"/>
            <a:ext cx="1377950" cy="423863"/>
            <a:chOff x="1313" y="2496"/>
            <a:chExt cx="1252" cy="427"/>
          </a:xfrm>
        </p:grpSpPr>
        <p:sp>
          <p:nvSpPr>
            <p:cNvPr id="131130" name="Freeform 5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31" name="Freeform 5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32" name="Oval 58"/>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33" name="Oval 59"/>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1102" name="Group 60"/>
          <p:cNvGrpSpPr>
            <a:grpSpLocks/>
          </p:cNvGrpSpPr>
          <p:nvPr/>
        </p:nvGrpSpPr>
        <p:grpSpPr bwMode="auto">
          <a:xfrm>
            <a:off x="1027113" y="4953000"/>
            <a:ext cx="1377950" cy="423863"/>
            <a:chOff x="1313" y="2496"/>
            <a:chExt cx="1252" cy="427"/>
          </a:xfrm>
        </p:grpSpPr>
        <p:sp>
          <p:nvSpPr>
            <p:cNvPr id="131126" name="Freeform 6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27" name="Freeform 6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28" name="Oval 6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1129" name="Oval 6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1" name="Group 65"/>
          <p:cNvGrpSpPr>
            <a:grpSpLocks/>
          </p:cNvGrpSpPr>
          <p:nvPr/>
        </p:nvGrpSpPr>
        <p:grpSpPr bwMode="auto">
          <a:xfrm>
            <a:off x="1371600" y="3462338"/>
            <a:ext cx="1377950" cy="423862"/>
            <a:chOff x="1313" y="2496"/>
            <a:chExt cx="1252" cy="427"/>
          </a:xfrm>
        </p:grpSpPr>
        <p:sp>
          <p:nvSpPr>
            <p:cNvPr id="131122" name="Freeform 6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23" name="Freeform 6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24" name="Oval 6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1125" name="Oval 6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67046" name="Line 70"/>
          <p:cNvSpPr>
            <a:spLocks noChangeShapeType="1"/>
          </p:cNvSpPr>
          <p:nvPr/>
        </p:nvSpPr>
        <p:spPr bwMode="auto">
          <a:xfrm>
            <a:off x="6096000" y="2362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1105" name="Oval 7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06" name="Oval 7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07" name="Oval 7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08" name="Oval 7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09" name="Oval 7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10" name="Oval 76"/>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11" name="Oval 7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12" name="Oval 7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13" name="Oval 7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14" name="Oval 8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15" name="Oval 8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1116" name="Oval 8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85" name="TextBox 84"/>
          <p:cNvSpPr txBox="1"/>
          <p:nvPr/>
        </p:nvSpPr>
        <p:spPr>
          <a:xfrm>
            <a:off x="7232650" y="4030663"/>
            <a:ext cx="369888" cy="461962"/>
          </a:xfrm>
          <a:prstGeom prst="rect">
            <a:avLst/>
          </a:prstGeom>
          <a:noFill/>
        </p:spPr>
        <p:txBody>
          <a:bodyPr wrap="none">
            <a:spAutoFit/>
          </a:bodyPr>
          <a:lstStyle/>
          <a:p>
            <a:pPr>
              <a:defRPr/>
            </a:pPr>
            <a:r>
              <a:rPr lang="en-US" dirty="0">
                <a:solidFill>
                  <a:schemeClr val="bg1"/>
                </a:solidFill>
                <a:latin typeface="Arial" pitchFamily="34" charset="0"/>
              </a:rPr>
              <a:t>3</a:t>
            </a:r>
          </a:p>
        </p:txBody>
      </p:sp>
      <p:sp>
        <p:nvSpPr>
          <p:cNvPr id="86" name="TextBox 85"/>
          <p:cNvSpPr txBox="1"/>
          <p:nvPr/>
        </p:nvSpPr>
        <p:spPr>
          <a:xfrm>
            <a:off x="7200900" y="2992438"/>
            <a:ext cx="356188" cy="461665"/>
          </a:xfrm>
          <a:prstGeom prst="rect">
            <a:avLst/>
          </a:prstGeom>
          <a:noFill/>
        </p:spPr>
        <p:txBody>
          <a:bodyPr wrap="none">
            <a:spAutoFit/>
          </a:bodyPr>
          <a:lstStyle/>
          <a:p>
            <a:pPr>
              <a:defRPr/>
            </a:pPr>
            <a:r>
              <a:rPr lang="en-US" dirty="0">
                <a:solidFill>
                  <a:schemeClr val="bg1"/>
                </a:solidFill>
                <a:latin typeface="Arial" pitchFamily="34" charset="0"/>
              </a:rPr>
              <a:t>2</a:t>
            </a:r>
          </a:p>
        </p:txBody>
      </p:sp>
      <p:sp>
        <p:nvSpPr>
          <p:cNvPr id="87" name="TextBox 86"/>
          <p:cNvSpPr txBox="1"/>
          <p:nvPr/>
        </p:nvSpPr>
        <p:spPr>
          <a:xfrm>
            <a:off x="7202488" y="2065338"/>
            <a:ext cx="356188" cy="461665"/>
          </a:xfrm>
          <a:prstGeom prst="rect">
            <a:avLst/>
          </a:prstGeom>
          <a:noFill/>
        </p:spPr>
        <p:txBody>
          <a:bodyPr wrap="none">
            <a:spAutoFit/>
          </a:bodyPr>
          <a:lstStyle/>
          <a:p>
            <a:pPr>
              <a:defRPr/>
            </a:pPr>
            <a:r>
              <a:rPr lang="en-US" dirty="0">
                <a:solidFill>
                  <a:schemeClr val="bg1"/>
                </a:solidFill>
                <a:latin typeface="Arial" pitchFamily="34" charset="0"/>
              </a:rPr>
              <a:t>1</a:t>
            </a:r>
          </a:p>
        </p:txBody>
      </p:sp>
      <p:sp>
        <p:nvSpPr>
          <p:cNvPr id="88" name="TextBox 87"/>
          <p:cNvSpPr txBox="1"/>
          <p:nvPr/>
        </p:nvSpPr>
        <p:spPr>
          <a:xfrm>
            <a:off x="7232650" y="4976813"/>
            <a:ext cx="369888" cy="460375"/>
          </a:xfrm>
          <a:prstGeom prst="rect">
            <a:avLst/>
          </a:prstGeom>
          <a:noFill/>
        </p:spPr>
        <p:txBody>
          <a:bodyPr wrap="none">
            <a:spAutoFit/>
          </a:bodyPr>
          <a:lstStyle/>
          <a:p>
            <a:pPr>
              <a:defRPr/>
            </a:pPr>
            <a:r>
              <a:rPr lang="en-US" dirty="0">
                <a:solidFill>
                  <a:schemeClr val="bg1"/>
                </a:solidFill>
                <a:latin typeface="Arial" pitchFamily="34" charset="0"/>
              </a:rPr>
              <a:t>4</a:t>
            </a:r>
          </a:p>
        </p:txBody>
      </p:sp>
      <p:sp>
        <p:nvSpPr>
          <p:cNvPr id="89" name="TextBox 88"/>
          <p:cNvSpPr txBox="1"/>
          <p:nvPr/>
        </p:nvSpPr>
        <p:spPr>
          <a:xfrm>
            <a:off x="7472363" y="2185988"/>
            <a:ext cx="356188" cy="461665"/>
          </a:xfrm>
          <a:prstGeom prst="rect">
            <a:avLst/>
          </a:prstGeom>
          <a:noFill/>
        </p:spPr>
        <p:txBody>
          <a:bodyPr wrap="none">
            <a:spAutoFit/>
          </a:bodyPr>
          <a:lstStyle/>
          <a:p>
            <a:pPr>
              <a:defRPr/>
            </a:pPr>
            <a:r>
              <a:rPr lang="en-US" dirty="0">
                <a:solidFill>
                  <a:schemeClr val="bg1"/>
                </a:solidFill>
                <a:latin typeface="Arial" pitchFamily="34" charset="0"/>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55556E-7 -6.2963E-6 C 0.04166 0.01296 0.0835 0.02615 0.10139 -0.00741 C 0.11927 -0.04098 0.02083 -0.17223 0.10694 -0.20186 C 0.19305 -0.23149 0.40555 -0.20834 0.61805 -0.18519 " pathEditMode="relative" ptsTypes="aaaA">
                                      <p:cBhvr>
                                        <p:cTn id="6" dur="2000" fill="hold"/>
                                        <p:tgtEl>
                                          <p:spTgt spid="11"/>
                                        </p:tgtEl>
                                        <p:attrNameLst>
                                          <p:attrName>ppt_x</p:attrName>
                                          <p:attrName>ppt_y</p:attrName>
                                        </p:attrNameLst>
                                      </p:cBhvr>
                                    </p:animMotion>
                                  </p:childTnLst>
                                </p:cTn>
                              </p:par>
                              <p:par>
                                <p:cTn id="7" presetID="0" presetClass="path" presetSubtype="0" accel="50000" decel="50000" fill="hold" grpId="0" nodeType="withEffect">
                                  <p:stCondLst>
                                    <p:cond delay="500"/>
                                  </p:stCondLst>
                                  <p:childTnLst>
                                    <p:animMotion origin="layout" path="M -3.33333E-6 0.01112 L -3.33333E-6 0.12223 " pathEditMode="relative" ptsTypes="AA">
                                      <p:cBhvr>
                                        <p:cTn id="8" dur="500" fill="hold"/>
                                        <p:tgtEl>
                                          <p:spTgt spid="766996"/>
                                        </p:tgtEl>
                                        <p:attrNameLst>
                                          <p:attrName>ppt_x</p:attrName>
                                          <p:attrName>ppt_y</p:attrName>
                                        </p:attrNameLst>
                                      </p:cBhvr>
                                    </p:animMotion>
                                  </p:childTnLst>
                                </p:cTn>
                              </p:par>
                              <p:par>
                                <p:cTn id="9" presetID="0" presetClass="path" presetSubtype="0" accel="50000" decel="50000" fill="hold" grpId="0" nodeType="withEffect">
                                  <p:stCondLst>
                                    <p:cond delay="1000"/>
                                  </p:stCondLst>
                                  <p:childTnLst>
                                    <p:animMotion origin="layout" path="M 3.33333E-6 0.01111 L 3.33333E-6 0.42223 " pathEditMode="relative" ptsTypes="AA">
                                      <p:cBhvr>
                                        <p:cTn id="10" dur="500" fill="hold"/>
                                        <p:tgtEl>
                                          <p:spTgt spid="766999"/>
                                        </p:tgtEl>
                                        <p:attrNameLst>
                                          <p:attrName>ppt_x</p:attrName>
                                          <p:attrName>ppt_y</p:attrName>
                                        </p:attrNameLst>
                                      </p:cBhvr>
                                    </p:animMotion>
                                  </p:childTnLst>
                                </p:cTn>
                              </p:par>
                              <p:par>
                                <p:cTn id="11" presetID="0" presetClass="path" presetSubtype="0" accel="50000" decel="50000" fill="hold" grpId="0" nodeType="withEffect">
                                  <p:stCondLst>
                                    <p:cond delay="1500"/>
                                  </p:stCondLst>
                                  <p:childTnLst>
                                    <p:animMotion origin="layout" path="M -3.33333E-6 -4.44444E-6 L -3.33333E-6 0.13334 " pathEditMode="relative" ptsTypes="AA">
                                      <p:cBhvr>
                                        <p:cTn id="12" dur="500" fill="hold"/>
                                        <p:tgtEl>
                                          <p:spTgt spid="767046"/>
                                        </p:tgtEl>
                                        <p:attrNameLst>
                                          <p:attrName>ppt_x</p:attrName>
                                          <p:attrName>ppt_y</p:attrName>
                                        </p:attrNameLst>
                                      </p:cBhvr>
                                    </p:animMotion>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96" grpId="0" animBg="1"/>
      <p:bldP spid="766999" grpId="0" animBg="1"/>
      <p:bldP spid="767046" grpId="0" animBg="1"/>
      <p:bldP spid="89"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Footer Placeholder 4"/>
          <p:cNvSpPr>
            <a:spLocks noGrp="1"/>
          </p:cNvSpPr>
          <p:nvPr>
            <p:ph type="ftr" sz="quarter" idx="10"/>
          </p:nvPr>
        </p:nvSpPr>
        <p:spPr/>
        <p:txBody>
          <a:bodyPr/>
          <a:lstStyle/>
          <a:p>
            <a:pPr>
              <a:defRPr/>
            </a:pPr>
            <a:r>
              <a:rPr lang="en-US"/>
              <a:t>Art of Multiprocessor Programming</a:t>
            </a:r>
          </a:p>
        </p:txBody>
      </p:sp>
      <p:sp>
        <p:nvSpPr>
          <p:cNvPr id="85" name="Slide Number Placeholder 5"/>
          <p:cNvSpPr>
            <a:spLocks noGrp="1"/>
          </p:cNvSpPr>
          <p:nvPr>
            <p:ph type="sldNum" sz="quarter" idx="11"/>
          </p:nvPr>
        </p:nvSpPr>
        <p:spPr/>
        <p:txBody>
          <a:bodyPr/>
          <a:lstStyle/>
          <a:p>
            <a:pPr>
              <a:defRPr/>
            </a:pPr>
            <a:fld id="{53CA21DC-56D8-4798-87EE-48333033678F}" type="slidenum">
              <a:rPr lang="en-US"/>
              <a:pPr>
                <a:defRPr/>
              </a:pPr>
              <a:t>134</a:t>
            </a:fld>
            <a:endParaRPr lang="en-US"/>
          </a:p>
        </p:txBody>
      </p:sp>
      <p:sp>
        <p:nvSpPr>
          <p:cNvPr id="132100"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01"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02"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2103"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2104" name="Rectangle 6"/>
          <p:cNvSpPr>
            <a:spLocks noGrp="1" noChangeArrowheads="1"/>
          </p:cNvSpPr>
          <p:nvPr>
            <p:ph type="title"/>
          </p:nvPr>
        </p:nvSpPr>
        <p:spPr/>
        <p:txBody>
          <a:bodyPr/>
          <a:lstStyle/>
          <a:p>
            <a:r>
              <a:rPr lang="en-US"/>
              <a:t>Counting Network </a:t>
            </a:r>
          </a:p>
        </p:txBody>
      </p:sp>
      <p:sp>
        <p:nvSpPr>
          <p:cNvPr id="132105"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06"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07"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2108" name="AutoShape 10"/>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2109"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2110"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2111"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2112"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2113" name="Line 15"/>
          <p:cNvSpPr>
            <a:spLocks noChangeShapeType="1"/>
          </p:cNvSpPr>
          <p:nvPr/>
        </p:nvSpPr>
        <p:spPr bwMode="auto">
          <a:xfrm>
            <a:off x="28956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2114" name="Line 16"/>
          <p:cNvSpPr>
            <a:spLocks noChangeShapeType="1"/>
          </p:cNvSpPr>
          <p:nvPr/>
        </p:nvSpPr>
        <p:spPr bwMode="auto">
          <a:xfrm>
            <a:off x="2889250" y="4333875"/>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2115" name="Line 17"/>
          <p:cNvSpPr>
            <a:spLocks noChangeShapeType="1"/>
          </p:cNvSpPr>
          <p:nvPr/>
        </p:nvSpPr>
        <p:spPr bwMode="auto">
          <a:xfrm>
            <a:off x="39624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2116" name="Line 18"/>
          <p:cNvSpPr>
            <a:spLocks noChangeShapeType="1"/>
          </p:cNvSpPr>
          <p:nvPr/>
        </p:nvSpPr>
        <p:spPr bwMode="auto">
          <a:xfrm>
            <a:off x="5029200" y="5181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2117" name="Line 19"/>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2118" name="Group 20"/>
          <p:cNvGrpSpPr>
            <a:grpSpLocks/>
          </p:cNvGrpSpPr>
          <p:nvPr/>
        </p:nvGrpSpPr>
        <p:grpSpPr bwMode="auto">
          <a:xfrm>
            <a:off x="6743700" y="2057400"/>
            <a:ext cx="1377950" cy="423863"/>
            <a:chOff x="1313" y="2496"/>
            <a:chExt cx="1252" cy="427"/>
          </a:xfrm>
        </p:grpSpPr>
        <p:sp>
          <p:nvSpPr>
            <p:cNvPr id="132183"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84"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85"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86"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2119" name="Group 25"/>
          <p:cNvGrpSpPr>
            <a:grpSpLocks/>
          </p:cNvGrpSpPr>
          <p:nvPr/>
        </p:nvGrpSpPr>
        <p:grpSpPr bwMode="auto">
          <a:xfrm>
            <a:off x="6743700" y="4953000"/>
            <a:ext cx="1377950" cy="423863"/>
            <a:chOff x="1313" y="2496"/>
            <a:chExt cx="1252" cy="427"/>
          </a:xfrm>
        </p:grpSpPr>
        <p:sp>
          <p:nvSpPr>
            <p:cNvPr id="132179" name="Freeform 2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80" name="Freeform 2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81" name="Oval 2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82" name="Oval 2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2120" name="Group 30"/>
          <p:cNvGrpSpPr>
            <a:grpSpLocks/>
          </p:cNvGrpSpPr>
          <p:nvPr/>
        </p:nvGrpSpPr>
        <p:grpSpPr bwMode="auto">
          <a:xfrm>
            <a:off x="987425" y="2971800"/>
            <a:ext cx="1377950" cy="423863"/>
            <a:chOff x="1313" y="2496"/>
            <a:chExt cx="1252" cy="427"/>
          </a:xfrm>
        </p:grpSpPr>
        <p:sp>
          <p:nvSpPr>
            <p:cNvPr id="132175" name="Freeform 3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76" name="Freeform 3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77" name="Oval 3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78" name="Oval 3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2121" name="Group 35"/>
          <p:cNvGrpSpPr>
            <a:grpSpLocks/>
          </p:cNvGrpSpPr>
          <p:nvPr/>
        </p:nvGrpSpPr>
        <p:grpSpPr bwMode="auto">
          <a:xfrm>
            <a:off x="6743700" y="2971800"/>
            <a:ext cx="1377950" cy="423863"/>
            <a:chOff x="1313" y="2496"/>
            <a:chExt cx="1252" cy="427"/>
          </a:xfrm>
        </p:grpSpPr>
        <p:sp>
          <p:nvSpPr>
            <p:cNvPr id="132171" name="Freeform 3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72" name="Freeform 3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73" name="Oval 3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74" name="Oval 3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2122" name="Group 40"/>
          <p:cNvGrpSpPr>
            <a:grpSpLocks/>
          </p:cNvGrpSpPr>
          <p:nvPr/>
        </p:nvGrpSpPr>
        <p:grpSpPr bwMode="auto">
          <a:xfrm>
            <a:off x="1219200" y="3200400"/>
            <a:ext cx="1377950" cy="423863"/>
            <a:chOff x="1313" y="2496"/>
            <a:chExt cx="1252" cy="427"/>
          </a:xfrm>
        </p:grpSpPr>
        <p:sp>
          <p:nvSpPr>
            <p:cNvPr id="132167" name="Freeform 4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68" name="Freeform 4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69" name="Oval 4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70" name="Oval 4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2123" name="Group 45"/>
          <p:cNvGrpSpPr>
            <a:grpSpLocks/>
          </p:cNvGrpSpPr>
          <p:nvPr/>
        </p:nvGrpSpPr>
        <p:grpSpPr bwMode="auto">
          <a:xfrm>
            <a:off x="6743700" y="3978275"/>
            <a:ext cx="1377950" cy="423863"/>
            <a:chOff x="1313" y="2496"/>
            <a:chExt cx="1252" cy="427"/>
          </a:xfrm>
        </p:grpSpPr>
        <p:sp>
          <p:nvSpPr>
            <p:cNvPr id="132163" name="Freeform 4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64" name="Freeform 4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65" name="Oval 4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66" name="Oval 4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2124" name="Group 50"/>
          <p:cNvGrpSpPr>
            <a:grpSpLocks/>
          </p:cNvGrpSpPr>
          <p:nvPr/>
        </p:nvGrpSpPr>
        <p:grpSpPr bwMode="auto">
          <a:xfrm>
            <a:off x="1027113" y="4191000"/>
            <a:ext cx="1377950" cy="423863"/>
            <a:chOff x="1313" y="2496"/>
            <a:chExt cx="1252" cy="427"/>
          </a:xfrm>
        </p:grpSpPr>
        <p:sp>
          <p:nvSpPr>
            <p:cNvPr id="132159" name="Freeform 5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60" name="Freeform 5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61" name="Oval 5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62" name="Oval 5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2125" name="Group 55"/>
          <p:cNvGrpSpPr>
            <a:grpSpLocks/>
          </p:cNvGrpSpPr>
          <p:nvPr/>
        </p:nvGrpSpPr>
        <p:grpSpPr bwMode="auto">
          <a:xfrm>
            <a:off x="1027113" y="4953000"/>
            <a:ext cx="1377950" cy="423863"/>
            <a:chOff x="1313" y="2496"/>
            <a:chExt cx="1252" cy="427"/>
          </a:xfrm>
        </p:grpSpPr>
        <p:sp>
          <p:nvSpPr>
            <p:cNvPr id="132155" name="Freeform 5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56" name="Freeform 5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57" name="Oval 58"/>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58" name="Oval 59"/>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32126" name="Group 60"/>
          <p:cNvGrpSpPr>
            <a:grpSpLocks/>
          </p:cNvGrpSpPr>
          <p:nvPr/>
        </p:nvGrpSpPr>
        <p:grpSpPr bwMode="auto">
          <a:xfrm>
            <a:off x="7620000" y="2057400"/>
            <a:ext cx="1377950" cy="423863"/>
            <a:chOff x="1313" y="2496"/>
            <a:chExt cx="1252" cy="427"/>
          </a:xfrm>
        </p:grpSpPr>
        <p:sp>
          <p:nvSpPr>
            <p:cNvPr id="132151" name="Freeform 6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52" name="Freeform 6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53" name="Oval 6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2154" name="Oval 6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32127" name="Line 65"/>
          <p:cNvSpPr>
            <a:spLocks noChangeShapeType="1"/>
          </p:cNvSpPr>
          <p:nvPr/>
        </p:nvSpPr>
        <p:spPr bwMode="auto">
          <a:xfrm>
            <a:off x="60960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2128" name="Group 66"/>
          <p:cNvGrpSpPr>
            <a:grpSpLocks/>
          </p:cNvGrpSpPr>
          <p:nvPr/>
        </p:nvGrpSpPr>
        <p:grpSpPr bwMode="auto">
          <a:xfrm>
            <a:off x="1371600" y="3429000"/>
            <a:ext cx="1377950" cy="423863"/>
            <a:chOff x="1313" y="2496"/>
            <a:chExt cx="1252" cy="427"/>
          </a:xfrm>
        </p:grpSpPr>
        <p:sp>
          <p:nvSpPr>
            <p:cNvPr id="132147" name="Freeform 6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48" name="Freeform 6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49" name="Oval 69"/>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2150" name="Oval 70"/>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32129" name="Freeform 71"/>
          <p:cNvSpPr>
            <a:spLocks/>
          </p:cNvSpPr>
          <p:nvPr/>
        </p:nvSpPr>
        <p:spPr bwMode="auto">
          <a:xfrm>
            <a:off x="6705600" y="1828800"/>
            <a:ext cx="2286000" cy="3987800"/>
          </a:xfrm>
          <a:custGeom>
            <a:avLst/>
            <a:gdLst>
              <a:gd name="T0" fmla="*/ 0 w 1440"/>
              <a:gd name="T1" fmla="*/ 0 h 2512"/>
              <a:gd name="T2" fmla="*/ 0 w 1440"/>
              <a:gd name="T3" fmla="*/ 2147483647 h 2512"/>
              <a:gd name="T4" fmla="*/ 2147483647 w 1440"/>
              <a:gd name="T5" fmla="*/ 2147483647 h 2512"/>
              <a:gd name="T6" fmla="*/ 2147483647 w 1440"/>
              <a:gd name="T7" fmla="*/ 2147483647 h 2512"/>
              <a:gd name="T8" fmla="*/ 2147483647 w 1440"/>
              <a:gd name="T9" fmla="*/ 2147483647 h 2512"/>
              <a:gd name="T10" fmla="*/ 2147483647 w 1440"/>
              <a:gd name="T11" fmla="*/ 0 h 2512"/>
              <a:gd name="T12" fmla="*/ 0 w 1440"/>
              <a:gd name="T13" fmla="*/ 0 h 2512"/>
              <a:gd name="T14" fmla="*/ 0 60000 65536"/>
              <a:gd name="T15" fmla="*/ 0 60000 65536"/>
              <a:gd name="T16" fmla="*/ 0 60000 65536"/>
              <a:gd name="T17" fmla="*/ 0 60000 65536"/>
              <a:gd name="T18" fmla="*/ 0 60000 65536"/>
              <a:gd name="T19" fmla="*/ 0 60000 65536"/>
              <a:gd name="T20" fmla="*/ 0 60000 65536"/>
              <a:gd name="T21" fmla="*/ 0 w 1440"/>
              <a:gd name="T22" fmla="*/ 0 h 2512"/>
              <a:gd name="T23" fmla="*/ 1440 w 1440"/>
              <a:gd name="T24" fmla="*/ 2512 h 25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0" h="2512">
                <a:moveTo>
                  <a:pt x="0" y="0"/>
                </a:moveTo>
                <a:lnTo>
                  <a:pt x="0" y="2496"/>
                </a:lnTo>
                <a:lnTo>
                  <a:pt x="960" y="2512"/>
                </a:lnTo>
                <a:lnTo>
                  <a:pt x="952" y="664"/>
                </a:lnTo>
                <a:lnTo>
                  <a:pt x="1440" y="648"/>
                </a:lnTo>
                <a:lnTo>
                  <a:pt x="1440" y="0"/>
                </a:lnTo>
                <a:lnTo>
                  <a:pt x="0" y="0"/>
                </a:lnTo>
                <a:close/>
              </a:path>
            </a:pathLst>
          </a:custGeom>
          <a:noFill/>
          <a:ln w="38100">
            <a:solidFill>
              <a:srgbClr val="FF0000"/>
            </a:solidFill>
            <a:round/>
            <a:headEnd/>
            <a:tailEnd/>
          </a:ln>
        </p:spPr>
        <p:txBody>
          <a:bodyPr wrap="none" anchor="ctr"/>
          <a:lstStyle/>
          <a:p>
            <a:endParaRPr lang="en-US" dirty="0">
              <a:latin typeface="Courier New" pitchFamily="49" charset="0"/>
            </a:endParaRPr>
          </a:p>
        </p:txBody>
      </p:sp>
      <p:sp>
        <p:nvSpPr>
          <p:cNvPr id="132130" name="Oval 72"/>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1" name="Oval 73"/>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2" name="Oval 74"/>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3" name="Oval 75"/>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4" name="Oval 76"/>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5" name="Oval 77"/>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6" name="Oval 78"/>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7" name="Oval 79"/>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8" name="Oval 80"/>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39" name="Oval 81"/>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40" name="Oval 82"/>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2141" name="Oval 83"/>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86" name="TextBox 85"/>
          <p:cNvSpPr txBox="1"/>
          <p:nvPr/>
        </p:nvSpPr>
        <p:spPr>
          <a:xfrm>
            <a:off x="7232650" y="4030663"/>
            <a:ext cx="369888" cy="461962"/>
          </a:xfrm>
          <a:prstGeom prst="rect">
            <a:avLst/>
          </a:prstGeom>
          <a:noFill/>
        </p:spPr>
        <p:txBody>
          <a:bodyPr wrap="none">
            <a:spAutoFit/>
          </a:bodyPr>
          <a:lstStyle/>
          <a:p>
            <a:pPr>
              <a:defRPr/>
            </a:pPr>
            <a:r>
              <a:rPr lang="en-US" dirty="0">
                <a:solidFill>
                  <a:schemeClr val="bg1"/>
                </a:solidFill>
                <a:latin typeface="Arial" pitchFamily="34" charset="0"/>
              </a:rPr>
              <a:t>3</a:t>
            </a:r>
          </a:p>
        </p:txBody>
      </p:sp>
      <p:sp>
        <p:nvSpPr>
          <p:cNvPr id="87" name="TextBox 86"/>
          <p:cNvSpPr txBox="1"/>
          <p:nvPr/>
        </p:nvSpPr>
        <p:spPr>
          <a:xfrm>
            <a:off x="7200900" y="2992438"/>
            <a:ext cx="356188" cy="461665"/>
          </a:xfrm>
          <a:prstGeom prst="rect">
            <a:avLst/>
          </a:prstGeom>
          <a:noFill/>
        </p:spPr>
        <p:txBody>
          <a:bodyPr wrap="none">
            <a:spAutoFit/>
          </a:bodyPr>
          <a:lstStyle/>
          <a:p>
            <a:pPr>
              <a:defRPr/>
            </a:pPr>
            <a:r>
              <a:rPr lang="en-US" dirty="0">
                <a:solidFill>
                  <a:schemeClr val="bg1"/>
                </a:solidFill>
                <a:latin typeface="Arial" pitchFamily="34" charset="0"/>
              </a:rPr>
              <a:t>2</a:t>
            </a:r>
          </a:p>
        </p:txBody>
      </p:sp>
      <p:sp>
        <p:nvSpPr>
          <p:cNvPr id="88" name="TextBox 87"/>
          <p:cNvSpPr txBox="1"/>
          <p:nvPr/>
        </p:nvSpPr>
        <p:spPr>
          <a:xfrm>
            <a:off x="7202488" y="2065338"/>
            <a:ext cx="356188" cy="461665"/>
          </a:xfrm>
          <a:prstGeom prst="rect">
            <a:avLst/>
          </a:prstGeom>
          <a:noFill/>
        </p:spPr>
        <p:txBody>
          <a:bodyPr wrap="none">
            <a:spAutoFit/>
          </a:bodyPr>
          <a:lstStyle/>
          <a:p>
            <a:pPr>
              <a:defRPr/>
            </a:pPr>
            <a:r>
              <a:rPr lang="en-US" dirty="0">
                <a:solidFill>
                  <a:schemeClr val="bg1"/>
                </a:solidFill>
                <a:latin typeface="Arial" pitchFamily="34" charset="0"/>
              </a:rPr>
              <a:t>1</a:t>
            </a:r>
          </a:p>
        </p:txBody>
      </p:sp>
      <p:sp>
        <p:nvSpPr>
          <p:cNvPr id="89" name="TextBox 88"/>
          <p:cNvSpPr txBox="1"/>
          <p:nvPr/>
        </p:nvSpPr>
        <p:spPr>
          <a:xfrm>
            <a:off x="7232650" y="4976813"/>
            <a:ext cx="369888" cy="460375"/>
          </a:xfrm>
          <a:prstGeom prst="rect">
            <a:avLst/>
          </a:prstGeom>
          <a:noFill/>
        </p:spPr>
        <p:txBody>
          <a:bodyPr wrap="none">
            <a:spAutoFit/>
          </a:bodyPr>
          <a:lstStyle/>
          <a:p>
            <a:pPr>
              <a:defRPr/>
            </a:pPr>
            <a:r>
              <a:rPr lang="en-US" dirty="0">
                <a:solidFill>
                  <a:schemeClr val="bg1"/>
                </a:solidFill>
                <a:latin typeface="Arial" pitchFamily="34" charset="0"/>
              </a:rPr>
              <a:t>4</a:t>
            </a:r>
          </a:p>
        </p:txBody>
      </p:sp>
      <p:sp>
        <p:nvSpPr>
          <p:cNvPr id="90" name="TextBox 89"/>
          <p:cNvSpPr txBox="1"/>
          <p:nvPr/>
        </p:nvSpPr>
        <p:spPr>
          <a:xfrm>
            <a:off x="8123238" y="2093913"/>
            <a:ext cx="356188" cy="461665"/>
          </a:xfrm>
          <a:prstGeom prst="rect">
            <a:avLst/>
          </a:prstGeom>
          <a:noFill/>
        </p:spPr>
        <p:txBody>
          <a:bodyPr wrap="none">
            <a:spAutoFit/>
          </a:bodyPr>
          <a:lstStyle/>
          <a:p>
            <a:pPr>
              <a:defRPr/>
            </a:pPr>
            <a:r>
              <a:rPr lang="en-US" dirty="0">
                <a:solidFill>
                  <a:schemeClr val="bg1"/>
                </a:solidFill>
                <a:latin typeface="Arial" pitchFamily="34" charset="0"/>
              </a:rPr>
              <a:t>5</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4"/>
          <p:cNvSpPr>
            <a:spLocks noGrp="1"/>
          </p:cNvSpPr>
          <p:nvPr>
            <p:ph type="ftr" sz="quarter" idx="10"/>
          </p:nvPr>
        </p:nvSpPr>
        <p:spPr/>
        <p:txBody>
          <a:bodyPr/>
          <a:lstStyle/>
          <a:p>
            <a:pPr>
              <a:defRPr/>
            </a:pPr>
            <a:r>
              <a:rPr lang="en-US"/>
              <a:t>Art of Multiprocessor Programming</a:t>
            </a:r>
          </a:p>
        </p:txBody>
      </p:sp>
      <p:sp>
        <p:nvSpPr>
          <p:cNvPr id="39" name="Slide Number Placeholder 5"/>
          <p:cNvSpPr>
            <a:spLocks noGrp="1"/>
          </p:cNvSpPr>
          <p:nvPr>
            <p:ph type="sldNum" sz="quarter" idx="11"/>
          </p:nvPr>
        </p:nvSpPr>
        <p:spPr/>
        <p:txBody>
          <a:bodyPr/>
          <a:lstStyle/>
          <a:p>
            <a:pPr>
              <a:defRPr/>
            </a:pPr>
            <a:fld id="{034F62F9-1D87-4F82-9759-CC9CF90FE389}" type="slidenum">
              <a:rPr lang="en-US"/>
              <a:pPr>
                <a:defRPr/>
              </a:pPr>
              <a:t>135</a:t>
            </a:fld>
            <a:endParaRPr lang="en-US"/>
          </a:p>
        </p:txBody>
      </p:sp>
      <p:sp>
        <p:nvSpPr>
          <p:cNvPr id="135172"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73"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74"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5175"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5176" name="Rectangle 6"/>
          <p:cNvSpPr>
            <a:spLocks noGrp="1" noChangeArrowheads="1"/>
          </p:cNvSpPr>
          <p:nvPr>
            <p:ph type="title"/>
          </p:nvPr>
        </p:nvSpPr>
        <p:spPr/>
        <p:txBody>
          <a:bodyPr/>
          <a:lstStyle/>
          <a:p>
            <a:r>
              <a:rPr lang="en-US"/>
              <a:t>Bitonic[k] Counting Network</a:t>
            </a:r>
          </a:p>
        </p:txBody>
      </p:sp>
      <p:sp>
        <p:nvSpPr>
          <p:cNvPr id="135177"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78"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79"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5180" name="AutoShape 10"/>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5181"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5182"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5183"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5184"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5185" name="Line 15"/>
          <p:cNvSpPr>
            <a:spLocks noChangeShapeType="1"/>
          </p:cNvSpPr>
          <p:nvPr/>
        </p:nvSpPr>
        <p:spPr bwMode="auto">
          <a:xfrm>
            <a:off x="28956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5186" name="Line 16"/>
          <p:cNvSpPr>
            <a:spLocks noChangeShapeType="1"/>
          </p:cNvSpPr>
          <p:nvPr/>
        </p:nvSpPr>
        <p:spPr bwMode="auto">
          <a:xfrm>
            <a:off x="28956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5187" name="Line 17"/>
          <p:cNvSpPr>
            <a:spLocks noChangeShapeType="1"/>
          </p:cNvSpPr>
          <p:nvPr/>
        </p:nvSpPr>
        <p:spPr bwMode="auto">
          <a:xfrm>
            <a:off x="39624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5188" name="Line 18"/>
          <p:cNvSpPr>
            <a:spLocks noChangeShapeType="1"/>
          </p:cNvSpPr>
          <p:nvPr/>
        </p:nvSpPr>
        <p:spPr bwMode="auto">
          <a:xfrm>
            <a:off x="50292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5189" name="Line 19"/>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5190" name="Line 25"/>
          <p:cNvSpPr>
            <a:spLocks noChangeShapeType="1"/>
          </p:cNvSpPr>
          <p:nvPr/>
        </p:nvSpPr>
        <p:spPr bwMode="auto">
          <a:xfrm>
            <a:off x="60960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5191" name="Oval 26"/>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192" name="Oval 27"/>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193" name="Oval 28"/>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194" name="Oval 29"/>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195" name="Oval 30"/>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196" name="Oval 31"/>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197" name="Oval 32"/>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198" name="Oval 33"/>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199" name="Oval 34"/>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200" name="Oval 35"/>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201" name="Oval 36"/>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5202" name="Oval 37"/>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lide Number Placeholder 5"/>
          <p:cNvSpPr txBox="1">
            <a:spLocks noGrp="1"/>
          </p:cNvSpPr>
          <p:nvPr/>
        </p:nvSpPr>
        <p:spPr bwMode="auto">
          <a:xfrm>
            <a:off x="6553200" y="6248400"/>
            <a:ext cx="1905000" cy="457200"/>
          </a:xfrm>
          <a:prstGeom prst="rect">
            <a:avLst/>
          </a:prstGeom>
          <a:noFill/>
          <a:ln>
            <a:miter lim="800000"/>
            <a:headEnd/>
            <a:tailEnd/>
          </a:ln>
        </p:spPr>
        <p:txBody>
          <a:bodyPr/>
          <a:lstStyle/>
          <a:p>
            <a:pPr algn="r">
              <a:spcBef>
                <a:spcPct val="0"/>
              </a:spcBef>
              <a:defRPr/>
            </a:pPr>
            <a:fld id="{CEFB0516-F385-4D73-9782-3AD433BFEFC9}" type="slidenum">
              <a:rPr lang="en-US" sz="1400" b="0">
                <a:solidFill>
                  <a:schemeClr val="tx1"/>
                </a:solidFill>
                <a:latin typeface="Arial" pitchFamily="34" charset="0"/>
              </a:rPr>
              <a:pPr algn="r">
                <a:spcBef>
                  <a:spcPct val="0"/>
                </a:spcBef>
                <a:defRPr/>
              </a:pPr>
              <a:t>136</a:t>
            </a:fld>
            <a:endParaRPr lang="en-US" sz="1400" b="0" dirty="0">
              <a:solidFill>
                <a:schemeClr val="tx1"/>
              </a:solidFill>
              <a:latin typeface="Arial" pitchFamily="34" charset="0"/>
            </a:endParaRPr>
          </a:p>
        </p:txBody>
      </p:sp>
      <p:grpSp>
        <p:nvGrpSpPr>
          <p:cNvPr id="562180" name="Group 2"/>
          <p:cNvGrpSpPr>
            <a:grpSpLocks/>
          </p:cNvGrpSpPr>
          <p:nvPr/>
        </p:nvGrpSpPr>
        <p:grpSpPr bwMode="auto">
          <a:xfrm>
            <a:off x="954088" y="2133600"/>
            <a:ext cx="1682750" cy="3460750"/>
            <a:chOff x="553" y="1296"/>
            <a:chExt cx="1060" cy="2180"/>
          </a:xfrm>
        </p:grpSpPr>
        <p:grpSp>
          <p:nvGrpSpPr>
            <p:cNvPr id="562181" name="Group 3"/>
            <p:cNvGrpSpPr>
              <a:grpSpLocks/>
            </p:cNvGrpSpPr>
            <p:nvPr/>
          </p:nvGrpSpPr>
          <p:grpSpPr bwMode="auto">
            <a:xfrm>
              <a:off x="553" y="3017"/>
              <a:ext cx="1060" cy="459"/>
              <a:chOff x="1233" y="2558"/>
              <a:chExt cx="1060" cy="459"/>
            </a:xfrm>
          </p:grpSpPr>
          <p:grpSp>
            <p:nvGrpSpPr>
              <p:cNvPr id="562182" name="Group 4"/>
              <p:cNvGrpSpPr>
                <a:grpSpLocks/>
              </p:cNvGrpSpPr>
              <p:nvPr/>
            </p:nvGrpSpPr>
            <p:grpSpPr bwMode="auto">
              <a:xfrm>
                <a:off x="1233" y="2558"/>
                <a:ext cx="868" cy="267"/>
                <a:chOff x="1313" y="2496"/>
                <a:chExt cx="1252" cy="427"/>
              </a:xfrm>
            </p:grpSpPr>
            <p:sp>
              <p:nvSpPr>
                <p:cNvPr id="562183" name="Freeform 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84" name="Freeform 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85" name="Oval 7"/>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86" name="Oval 8"/>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562187" name="Group 9"/>
              <p:cNvGrpSpPr>
                <a:grpSpLocks/>
              </p:cNvGrpSpPr>
              <p:nvPr/>
            </p:nvGrpSpPr>
            <p:grpSpPr bwMode="auto">
              <a:xfrm>
                <a:off x="1329" y="2654"/>
                <a:ext cx="868" cy="267"/>
                <a:chOff x="1313" y="2496"/>
                <a:chExt cx="1252" cy="427"/>
              </a:xfrm>
            </p:grpSpPr>
            <p:sp>
              <p:nvSpPr>
                <p:cNvPr id="562188" name="Freeform 1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89" name="Freeform 1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90" name="Oval 12"/>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91" name="Oval 13"/>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562192" name="Group 14"/>
              <p:cNvGrpSpPr>
                <a:grpSpLocks/>
              </p:cNvGrpSpPr>
              <p:nvPr/>
            </p:nvGrpSpPr>
            <p:grpSpPr bwMode="auto">
              <a:xfrm>
                <a:off x="1425" y="2750"/>
                <a:ext cx="868" cy="267"/>
                <a:chOff x="1313" y="2496"/>
                <a:chExt cx="1252" cy="427"/>
              </a:xfrm>
            </p:grpSpPr>
            <p:sp>
              <p:nvSpPr>
                <p:cNvPr id="562193" name="Freeform 1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94" name="Freeform 1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95" name="Oval 17"/>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196" name="Oval 18"/>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grpSp>
          <p:nvGrpSpPr>
            <p:cNvPr id="562197" name="Group 19"/>
            <p:cNvGrpSpPr>
              <a:grpSpLocks/>
            </p:cNvGrpSpPr>
            <p:nvPr/>
          </p:nvGrpSpPr>
          <p:grpSpPr bwMode="auto">
            <a:xfrm>
              <a:off x="601" y="1816"/>
              <a:ext cx="964" cy="363"/>
              <a:chOff x="3710" y="1883"/>
              <a:chExt cx="964" cy="363"/>
            </a:xfrm>
          </p:grpSpPr>
          <p:grpSp>
            <p:nvGrpSpPr>
              <p:cNvPr id="562198" name="Group 20"/>
              <p:cNvGrpSpPr>
                <a:grpSpLocks/>
              </p:cNvGrpSpPr>
              <p:nvPr/>
            </p:nvGrpSpPr>
            <p:grpSpPr bwMode="auto">
              <a:xfrm>
                <a:off x="3710" y="1883"/>
                <a:ext cx="868" cy="267"/>
                <a:chOff x="1313" y="2496"/>
                <a:chExt cx="1252" cy="427"/>
              </a:xfrm>
            </p:grpSpPr>
            <p:sp>
              <p:nvSpPr>
                <p:cNvPr id="562199"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00"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01" name="Oval 2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02" name="Oval 2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562203" name="Group 25"/>
              <p:cNvGrpSpPr>
                <a:grpSpLocks/>
              </p:cNvGrpSpPr>
              <p:nvPr/>
            </p:nvGrpSpPr>
            <p:grpSpPr bwMode="auto">
              <a:xfrm>
                <a:off x="3806" y="1979"/>
                <a:ext cx="868" cy="267"/>
                <a:chOff x="1313" y="2496"/>
                <a:chExt cx="1252" cy="427"/>
              </a:xfrm>
            </p:grpSpPr>
            <p:sp>
              <p:nvSpPr>
                <p:cNvPr id="562204" name="Freeform 2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05" name="Freeform 2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06" name="Oval 28"/>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07" name="Oval 29"/>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grpSp>
          <p:nvGrpSpPr>
            <p:cNvPr id="562208" name="Group 30"/>
            <p:cNvGrpSpPr>
              <a:grpSpLocks/>
            </p:cNvGrpSpPr>
            <p:nvPr/>
          </p:nvGrpSpPr>
          <p:grpSpPr bwMode="auto">
            <a:xfrm>
              <a:off x="649" y="1296"/>
              <a:ext cx="868" cy="267"/>
              <a:chOff x="1313" y="2496"/>
              <a:chExt cx="1252" cy="427"/>
            </a:xfrm>
          </p:grpSpPr>
          <p:sp>
            <p:nvSpPr>
              <p:cNvPr id="562209" name="Freeform 3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10" name="Freeform 3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11" name="Oval 3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2212" name="Oval 3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sp>
        <p:nvSpPr>
          <p:cNvPr id="562214" name="Line 36"/>
          <p:cNvSpPr>
            <a:spLocks noChangeShapeType="1"/>
          </p:cNvSpPr>
          <p:nvPr/>
        </p:nvSpPr>
        <p:spPr bwMode="auto">
          <a:xfrm>
            <a:off x="2349500" y="322421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562215" name="Line 37"/>
          <p:cNvSpPr>
            <a:spLocks noChangeShapeType="1"/>
          </p:cNvSpPr>
          <p:nvPr/>
        </p:nvSpPr>
        <p:spPr bwMode="auto">
          <a:xfrm>
            <a:off x="2349500" y="434181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562216" name="Oval 38"/>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562217" name="Oval 39"/>
          <p:cNvSpPr>
            <a:spLocks noChangeArrowheads="1"/>
          </p:cNvSpPr>
          <p:nvPr/>
        </p:nvSpPr>
        <p:spPr bwMode="auto">
          <a:xfrm>
            <a:off x="4827588" y="4632325"/>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562218" name="Rectangle 40"/>
          <p:cNvSpPr>
            <a:spLocks noGrp="1" noChangeArrowheads="1"/>
          </p:cNvSpPr>
          <p:nvPr>
            <p:ph type="title" idx="4294967295"/>
          </p:nvPr>
        </p:nvSpPr>
        <p:spPr/>
        <p:txBody>
          <a:bodyPr/>
          <a:lstStyle/>
          <a:p>
            <a:r>
              <a:rPr lang="en-US"/>
              <a:t>Bitonic[k] Counting Network</a:t>
            </a:r>
          </a:p>
        </p:txBody>
      </p:sp>
      <p:sp>
        <p:nvSpPr>
          <p:cNvPr id="562219" name="Line 41"/>
          <p:cNvSpPr>
            <a:spLocks noChangeShapeType="1"/>
          </p:cNvSpPr>
          <p:nvPr/>
        </p:nvSpPr>
        <p:spPr bwMode="auto">
          <a:xfrm>
            <a:off x="2349500" y="232886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562220" name="Line 42"/>
          <p:cNvSpPr>
            <a:spLocks noChangeShapeType="1"/>
          </p:cNvSpPr>
          <p:nvPr/>
        </p:nvSpPr>
        <p:spPr bwMode="auto">
          <a:xfrm>
            <a:off x="2349500" y="5178425"/>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562221" name="AutoShape 43"/>
          <p:cNvSpPr>
            <a:spLocks noChangeArrowheads="1"/>
          </p:cNvSpPr>
          <p:nvPr/>
        </p:nvSpPr>
        <p:spPr bwMode="auto">
          <a:xfrm>
            <a:off x="2835275" y="39497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562222" name="AutoShape 44"/>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562223" name="AutoShape 45"/>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562224" name="AutoShape 46"/>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562225" name="AutoShape 47"/>
          <p:cNvSpPr>
            <a:spLocks noChangeArrowheads="1"/>
          </p:cNvSpPr>
          <p:nvPr/>
        </p:nvSpPr>
        <p:spPr bwMode="auto">
          <a:xfrm>
            <a:off x="6015038" y="39497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562226" name="AutoShape 48"/>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1" name="Group 49"/>
          <p:cNvGrpSpPr>
            <a:grpSpLocks/>
          </p:cNvGrpSpPr>
          <p:nvPr/>
        </p:nvGrpSpPr>
        <p:grpSpPr bwMode="auto">
          <a:xfrm>
            <a:off x="954088" y="4865688"/>
            <a:ext cx="1377950" cy="423862"/>
            <a:chOff x="1313" y="2496"/>
            <a:chExt cx="1252" cy="427"/>
          </a:xfrm>
        </p:grpSpPr>
        <p:sp>
          <p:nvSpPr>
            <p:cNvPr id="562228" name="Freeform 5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29" name="Freeform 5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30" name="Oval 5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31" name="Oval 5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 name="Group 54"/>
          <p:cNvGrpSpPr>
            <a:grpSpLocks/>
          </p:cNvGrpSpPr>
          <p:nvPr/>
        </p:nvGrpSpPr>
        <p:grpSpPr bwMode="auto">
          <a:xfrm>
            <a:off x="1106488" y="5018088"/>
            <a:ext cx="1377950" cy="423862"/>
            <a:chOff x="1313" y="2496"/>
            <a:chExt cx="1252" cy="427"/>
          </a:xfrm>
        </p:grpSpPr>
        <p:sp>
          <p:nvSpPr>
            <p:cNvPr id="562233" name="Freeform 5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34" name="Freeform 5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35" name="Oval 5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36" name="Oval 5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 name="Group 59"/>
          <p:cNvGrpSpPr>
            <a:grpSpLocks/>
          </p:cNvGrpSpPr>
          <p:nvPr/>
        </p:nvGrpSpPr>
        <p:grpSpPr bwMode="auto">
          <a:xfrm>
            <a:off x="1258888" y="5170488"/>
            <a:ext cx="1377950" cy="423862"/>
            <a:chOff x="1313" y="2496"/>
            <a:chExt cx="1252" cy="427"/>
          </a:xfrm>
        </p:grpSpPr>
        <p:sp>
          <p:nvSpPr>
            <p:cNvPr id="562238" name="Freeform 6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39" name="Freeform 6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40" name="Oval 6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41" name="Oval 6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4" name="Group 64"/>
          <p:cNvGrpSpPr>
            <a:grpSpLocks/>
          </p:cNvGrpSpPr>
          <p:nvPr/>
        </p:nvGrpSpPr>
        <p:grpSpPr bwMode="auto">
          <a:xfrm>
            <a:off x="1030288" y="2959100"/>
            <a:ext cx="1377950" cy="423863"/>
            <a:chOff x="1313" y="2496"/>
            <a:chExt cx="1252" cy="427"/>
          </a:xfrm>
        </p:grpSpPr>
        <p:sp>
          <p:nvSpPr>
            <p:cNvPr id="562243" name="Freeform 6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44" name="Freeform 6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45" name="Oval 6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46" name="Oval 6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5" name="Group 69"/>
          <p:cNvGrpSpPr>
            <a:grpSpLocks/>
          </p:cNvGrpSpPr>
          <p:nvPr/>
        </p:nvGrpSpPr>
        <p:grpSpPr bwMode="auto">
          <a:xfrm>
            <a:off x="1106488" y="2133600"/>
            <a:ext cx="1377950" cy="423863"/>
            <a:chOff x="1313" y="2496"/>
            <a:chExt cx="1252" cy="427"/>
          </a:xfrm>
        </p:grpSpPr>
        <p:sp>
          <p:nvSpPr>
            <p:cNvPr id="562248" name="Freeform 7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49" name="Freeform 7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50" name="Oval 7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51" name="Oval 7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6" name="Group 76"/>
          <p:cNvGrpSpPr>
            <a:grpSpLocks/>
          </p:cNvGrpSpPr>
          <p:nvPr/>
        </p:nvGrpSpPr>
        <p:grpSpPr bwMode="auto">
          <a:xfrm>
            <a:off x="1182688" y="3111500"/>
            <a:ext cx="1377950" cy="423863"/>
            <a:chOff x="1313" y="2496"/>
            <a:chExt cx="1252" cy="427"/>
          </a:xfrm>
        </p:grpSpPr>
        <p:sp>
          <p:nvSpPr>
            <p:cNvPr id="562255" name="Freeform 7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56" name="Freeform 7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57" name="Oval 7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562258" name="Oval 8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62259" name="Oval 8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0" name="Oval 8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1" name="Oval 8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2" name="Oval 8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3" name="Oval 8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4" name="Oval 86"/>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5" name="Oval 8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6" name="Oval 8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7" name="Oval 8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8" name="Oval 9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69" name="Oval 9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62270" name="Oval 9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05556E-6 -5.55556E-6 L 0.66111 -0.00371 " pathEditMode="relative" ptsTypes="AA">
                                      <p:cBhvr>
                                        <p:cTn id="6" dur="2000" fill="hold"/>
                                        <p:tgtEl>
                                          <p:spTgt spid="15"/>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2.5E-6 2.96296E-6 L 0.66111 2.96296E-6 " pathEditMode="relative" ptsTypes="AA">
                                      <p:cBhvr>
                                        <p:cTn id="8" dur="2000" fill="hold"/>
                                        <p:tgtEl>
                                          <p:spTgt spid="14"/>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2.77778E-6 0.0 C -0.04497 0.0 -0.08959 0.00023 0.00798 -0.00139 C 0.10573 -0.00301 0.46701 0.01157 0.58698 -0.01019 C 0.70712 -0.03171 0.71736 -0.08148 0.72795 -0.13079 " pathEditMode="relative" rAng="0" ptsTypes="aaaA">
                                      <p:cBhvr>
                                        <p:cTn id="10" dur="2000" fill="hold"/>
                                        <p:tgtEl>
                                          <p:spTgt spid="16"/>
                                        </p:tgtEl>
                                        <p:attrNameLst>
                                          <p:attrName>ppt_x</p:attrName>
                                          <p:attrName>ppt_y</p:attrName>
                                        </p:attrNameLst>
                                      </p:cBhvr>
                                      <p:rCtr x="31900" y="-6000"/>
                                    </p:animMotion>
                                  </p:childTnLst>
                                </p:cTn>
                              </p:par>
                              <p:par>
                                <p:cTn id="11" presetID="0" presetClass="path" presetSubtype="0" accel="50000" decel="50000" fill="hold" nodeType="withEffect">
                                  <p:stCondLst>
                                    <p:cond delay="0"/>
                                  </p:stCondLst>
                                  <p:childTnLst>
                                    <p:animMotion origin="layout" path="M 0.03194 0.0037 L 0.68194 0.00926 " pathEditMode="relative" rAng="0" ptsTypes="AA">
                                      <p:cBhvr>
                                        <p:cTn id="12" dur="2000" fill="hold"/>
                                        <p:tgtEl>
                                          <p:spTgt spid="11"/>
                                        </p:tgtEl>
                                        <p:attrNameLst>
                                          <p:attrName>ppt_x</p:attrName>
                                          <p:attrName>ppt_y</p:attrName>
                                        </p:attrNameLst>
                                      </p:cBhvr>
                                      <p:rCtr x="32500" y="300"/>
                                    </p:animMotion>
                                  </p:childTnLst>
                                </p:cTn>
                              </p:par>
                              <p:par>
                                <p:cTn id="13" presetID="0" presetClass="path" presetSubtype="0" accel="50000" decel="50000" fill="hold" nodeType="withEffect">
                                  <p:stCondLst>
                                    <p:cond delay="0"/>
                                  </p:stCondLst>
                                  <p:childTnLst>
                                    <p:animMotion origin="layout" path="M 0.00834 -0.00185 C 0.05886 0.00903 0.10938 0.02014 0.1375 -0.00185 C 0.16563 -0.02384 0.09167 -0.11227 0.17778 -0.13333 C 0.26389 -0.1544 0.45903 -0.1412 0.65417 -0.12778 " pathEditMode="relative" rAng="0" ptsTypes="aaaA">
                                      <p:cBhvr>
                                        <p:cTn id="14" dur="2000" fill="hold"/>
                                        <p:tgtEl>
                                          <p:spTgt spid="12"/>
                                        </p:tgtEl>
                                        <p:attrNameLst>
                                          <p:attrName>ppt_x</p:attrName>
                                          <p:attrName>ppt_y</p:attrName>
                                        </p:attrNameLst>
                                      </p:cBhvr>
                                      <p:rCtr x="32300" y="-6500"/>
                                    </p:animMotion>
                                  </p:childTnLst>
                                </p:cTn>
                              </p:par>
                              <p:par>
                                <p:cTn id="15" presetID="0" presetClass="path" presetSubtype="0" accel="50000" decel="50000" fill="hold" nodeType="withEffect">
                                  <p:stCondLst>
                                    <p:cond delay="0"/>
                                  </p:stCondLst>
                                  <p:childTnLst>
                                    <p:animMotion origin="layout" path="M 3.05556E-6 4.07407E-6 C 0.0441 0.00648 0.08837 0.01296 0.10833 -0.01482 C 0.1283 -0.04259 0.09982 -0.13588 0.11944 -0.16667 C 0.13906 -0.19746 0.20746 -0.17709 0.22639 -0.2 C 0.24531 -0.22292 0.15121 -0.28241 0.23333 -0.30371 C 0.31545 -0.325 0.51736 -0.32639 0.71944 -0.32778 " pathEditMode="relative" ptsTypes="aaaaaA">
                                      <p:cBhvr>
                                        <p:cTn id="16" dur="20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4"/>
          <p:cNvSpPr>
            <a:spLocks noGrp="1"/>
          </p:cNvSpPr>
          <p:nvPr>
            <p:ph type="ftr" sz="quarter" idx="10"/>
          </p:nvPr>
        </p:nvSpPr>
        <p:spPr/>
        <p:txBody>
          <a:bodyPr/>
          <a:lstStyle/>
          <a:p>
            <a:pPr>
              <a:defRPr/>
            </a:pPr>
            <a:r>
              <a:rPr lang="en-US"/>
              <a:t>Art of Multiprocessor Programming</a:t>
            </a:r>
          </a:p>
        </p:txBody>
      </p:sp>
      <p:sp>
        <p:nvSpPr>
          <p:cNvPr id="39" name="Slide Number Placeholder 5"/>
          <p:cNvSpPr>
            <a:spLocks noGrp="1"/>
          </p:cNvSpPr>
          <p:nvPr>
            <p:ph type="sldNum" sz="quarter" idx="11"/>
          </p:nvPr>
        </p:nvSpPr>
        <p:spPr/>
        <p:txBody>
          <a:bodyPr/>
          <a:lstStyle/>
          <a:p>
            <a:pPr>
              <a:defRPr/>
            </a:pPr>
            <a:fld id="{D6A4B387-277F-4FDA-8A28-E0B37F5E142D}" type="slidenum">
              <a:rPr lang="en-US"/>
              <a:pPr>
                <a:defRPr/>
              </a:pPr>
              <a:t>137</a:t>
            </a:fld>
            <a:endParaRPr lang="en-US"/>
          </a:p>
        </p:txBody>
      </p:sp>
      <p:sp>
        <p:nvSpPr>
          <p:cNvPr id="136196"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197"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198"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6199"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6200" name="Rectangle 6"/>
          <p:cNvSpPr>
            <a:spLocks noGrp="1" noChangeArrowheads="1"/>
          </p:cNvSpPr>
          <p:nvPr>
            <p:ph type="title"/>
          </p:nvPr>
        </p:nvSpPr>
        <p:spPr/>
        <p:txBody>
          <a:bodyPr/>
          <a:lstStyle/>
          <a:p>
            <a:r>
              <a:rPr lang="en-US"/>
              <a:t>Bitonic[k] not Linearizable</a:t>
            </a:r>
          </a:p>
        </p:txBody>
      </p:sp>
      <p:sp>
        <p:nvSpPr>
          <p:cNvPr id="136201"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202"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203"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6204" name="AutoShape 10"/>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6205"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6206"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6207"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6208"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773135" name="Line 15"/>
          <p:cNvSpPr>
            <a:spLocks noChangeShapeType="1"/>
          </p:cNvSpPr>
          <p:nvPr/>
        </p:nvSpPr>
        <p:spPr bwMode="auto">
          <a:xfrm>
            <a:off x="28956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6210" name="Line 16"/>
          <p:cNvSpPr>
            <a:spLocks noChangeShapeType="1"/>
          </p:cNvSpPr>
          <p:nvPr/>
        </p:nvSpPr>
        <p:spPr bwMode="auto">
          <a:xfrm>
            <a:off x="28956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6211" name="Line 17"/>
          <p:cNvSpPr>
            <a:spLocks noChangeShapeType="1"/>
          </p:cNvSpPr>
          <p:nvPr/>
        </p:nvSpPr>
        <p:spPr bwMode="auto">
          <a:xfrm>
            <a:off x="39624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6212" name="Line 18"/>
          <p:cNvSpPr>
            <a:spLocks noChangeShapeType="1"/>
          </p:cNvSpPr>
          <p:nvPr/>
        </p:nvSpPr>
        <p:spPr bwMode="auto">
          <a:xfrm>
            <a:off x="50292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6213" name="Line 19"/>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2" name="Group 20"/>
          <p:cNvGrpSpPr>
            <a:grpSpLocks/>
          </p:cNvGrpSpPr>
          <p:nvPr/>
        </p:nvGrpSpPr>
        <p:grpSpPr bwMode="auto">
          <a:xfrm>
            <a:off x="1066800" y="2057400"/>
            <a:ext cx="1377950" cy="423863"/>
            <a:chOff x="1313" y="2496"/>
            <a:chExt cx="1252" cy="427"/>
          </a:xfrm>
        </p:grpSpPr>
        <p:sp>
          <p:nvSpPr>
            <p:cNvPr id="136228"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6229"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6230"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6231"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36215" name="Line 25"/>
          <p:cNvSpPr>
            <a:spLocks noChangeShapeType="1"/>
          </p:cNvSpPr>
          <p:nvPr/>
        </p:nvSpPr>
        <p:spPr bwMode="auto">
          <a:xfrm>
            <a:off x="60960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6216" name="Oval 26"/>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17" name="Oval 27"/>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18" name="Oval 28"/>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19" name="Oval 29"/>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20" name="Oval 30"/>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21" name="Oval 31"/>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22" name="Oval 32"/>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23" name="Oval 33"/>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24" name="Oval 34"/>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25" name="Oval 35"/>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26" name="Oval 36"/>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6227" name="Oval 37"/>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7.22222E-6 -6.2963E-6 L 0.30834 -6.2963E-6 " pathEditMode="relative" ptsTypes="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500"/>
                                  </p:stCondLst>
                                  <p:childTnLst>
                                    <p:animMotion origin="layout" path="M -3.33333E-6 -3.33333E-6 L -3.33333E-6 0.14445 " pathEditMode="relative" ptsTypes="AA">
                                      <p:cBhvr>
                                        <p:cTn id="8" dur="500" fill="hold"/>
                                        <p:tgtEl>
                                          <p:spTgt spid="77313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3135"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oter Placeholder 4"/>
          <p:cNvSpPr>
            <a:spLocks noGrp="1"/>
          </p:cNvSpPr>
          <p:nvPr>
            <p:ph type="ftr" sz="quarter" idx="10"/>
          </p:nvPr>
        </p:nvSpPr>
        <p:spPr/>
        <p:txBody>
          <a:bodyPr/>
          <a:lstStyle/>
          <a:p>
            <a:pPr>
              <a:defRPr/>
            </a:pPr>
            <a:r>
              <a:rPr lang="en-US"/>
              <a:t>Art of Multiprocessor Programming</a:t>
            </a:r>
          </a:p>
        </p:txBody>
      </p:sp>
      <p:sp>
        <p:nvSpPr>
          <p:cNvPr id="44" name="Slide Number Placeholder 5"/>
          <p:cNvSpPr>
            <a:spLocks noGrp="1"/>
          </p:cNvSpPr>
          <p:nvPr>
            <p:ph type="sldNum" sz="quarter" idx="11"/>
          </p:nvPr>
        </p:nvSpPr>
        <p:spPr/>
        <p:txBody>
          <a:bodyPr/>
          <a:lstStyle/>
          <a:p>
            <a:pPr>
              <a:defRPr/>
            </a:pPr>
            <a:fld id="{CB60616B-84F9-437A-B4CA-DFCB727FADB2}" type="slidenum">
              <a:rPr lang="en-US"/>
              <a:pPr>
                <a:defRPr/>
              </a:pPr>
              <a:t>138</a:t>
            </a:fld>
            <a:endParaRPr lang="en-US"/>
          </a:p>
        </p:txBody>
      </p:sp>
      <p:sp>
        <p:nvSpPr>
          <p:cNvPr id="137220"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21"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22"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7223"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7224" name="Rectangle 6"/>
          <p:cNvSpPr>
            <a:spLocks noGrp="1" noChangeArrowheads="1"/>
          </p:cNvSpPr>
          <p:nvPr>
            <p:ph type="title"/>
          </p:nvPr>
        </p:nvSpPr>
        <p:spPr/>
        <p:txBody>
          <a:bodyPr/>
          <a:lstStyle/>
          <a:p>
            <a:r>
              <a:rPr lang="en-US"/>
              <a:t>Bitonic[k] is not Linearizable</a:t>
            </a:r>
          </a:p>
        </p:txBody>
      </p:sp>
      <p:sp>
        <p:nvSpPr>
          <p:cNvPr id="137225"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26"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27"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7228" name="AutoShape 10"/>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7229"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7230"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7231"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7232"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775183" name="Line 15"/>
          <p:cNvSpPr>
            <a:spLocks noChangeShapeType="1"/>
          </p:cNvSpPr>
          <p:nvPr/>
        </p:nvSpPr>
        <p:spPr bwMode="auto">
          <a:xfrm>
            <a:off x="28956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7234" name="Line 16"/>
          <p:cNvSpPr>
            <a:spLocks noChangeShapeType="1"/>
          </p:cNvSpPr>
          <p:nvPr/>
        </p:nvSpPr>
        <p:spPr bwMode="auto">
          <a:xfrm>
            <a:off x="28956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75185" name="Line 17"/>
          <p:cNvSpPr>
            <a:spLocks noChangeShapeType="1"/>
          </p:cNvSpPr>
          <p:nvPr/>
        </p:nvSpPr>
        <p:spPr bwMode="auto">
          <a:xfrm>
            <a:off x="39624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7236" name="Line 18"/>
          <p:cNvSpPr>
            <a:spLocks noChangeShapeType="1"/>
          </p:cNvSpPr>
          <p:nvPr/>
        </p:nvSpPr>
        <p:spPr bwMode="auto">
          <a:xfrm>
            <a:off x="50292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7237" name="Line 19"/>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7238" name="Group 20"/>
          <p:cNvGrpSpPr>
            <a:grpSpLocks/>
          </p:cNvGrpSpPr>
          <p:nvPr/>
        </p:nvGrpSpPr>
        <p:grpSpPr bwMode="auto">
          <a:xfrm>
            <a:off x="3810000" y="2057400"/>
            <a:ext cx="1377950" cy="423863"/>
            <a:chOff x="1313" y="2496"/>
            <a:chExt cx="1252" cy="427"/>
          </a:xfrm>
        </p:grpSpPr>
        <p:sp>
          <p:nvSpPr>
            <p:cNvPr id="137257"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7258"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7259"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7260"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37239" name="Line 25"/>
          <p:cNvSpPr>
            <a:spLocks noChangeShapeType="1"/>
          </p:cNvSpPr>
          <p:nvPr/>
        </p:nvSpPr>
        <p:spPr bwMode="auto">
          <a:xfrm>
            <a:off x="60960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3" name="Group 26"/>
          <p:cNvGrpSpPr>
            <a:grpSpLocks/>
          </p:cNvGrpSpPr>
          <p:nvPr/>
        </p:nvGrpSpPr>
        <p:grpSpPr bwMode="auto">
          <a:xfrm>
            <a:off x="1365250" y="2895600"/>
            <a:ext cx="1377950" cy="423863"/>
            <a:chOff x="1313" y="2496"/>
            <a:chExt cx="1252" cy="427"/>
          </a:xfrm>
        </p:grpSpPr>
        <p:sp>
          <p:nvSpPr>
            <p:cNvPr id="137253"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7254"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7255" name="Oval 2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7256" name="Oval 3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37241" name="Oval 31"/>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42" name="Oval 32"/>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43" name="Oval 33"/>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44" name="Oval 34"/>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45" name="Oval 35"/>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46" name="Oval 36"/>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47" name="Oval 37"/>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48" name="Oval 38"/>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49" name="Oval 39"/>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50" name="Oval 40"/>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51" name="Oval 41"/>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7252" name="Oval 42"/>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77778E-6 2.59259E-6 L 0.41667 2.59259E-6 " pathEditMode="relative" ptsTypes="AA">
                                      <p:cBhvr>
                                        <p:cTn id="6" dur="2000" fill="hold"/>
                                        <p:tgtEl>
                                          <p:spTgt spid="3"/>
                                        </p:tgtEl>
                                        <p:attrNameLst>
                                          <p:attrName>ppt_x</p:attrName>
                                          <p:attrName>ppt_y</p:attrName>
                                        </p:attrNameLst>
                                      </p:cBhvr>
                                    </p:animMotion>
                                  </p:childTnLst>
                                </p:cTn>
                              </p:par>
                              <p:par>
                                <p:cTn id="7" presetID="0" presetClass="path" presetSubtype="0" accel="50000" decel="50000" fill="hold" grpId="0" nodeType="withEffect">
                                  <p:stCondLst>
                                    <p:cond delay="500"/>
                                  </p:stCondLst>
                                  <p:childTnLst>
                                    <p:animMotion origin="layout" path="M -3.33333E-6 3.33333E-6 L -3.33333E-6 -0.12223 " pathEditMode="relative" ptsTypes="AA">
                                      <p:cBhvr>
                                        <p:cTn id="8" dur="500" fill="hold"/>
                                        <p:tgtEl>
                                          <p:spTgt spid="775183"/>
                                        </p:tgtEl>
                                        <p:attrNameLst>
                                          <p:attrName>ppt_x</p:attrName>
                                          <p:attrName>ppt_y</p:attrName>
                                        </p:attrNameLst>
                                      </p:cBhvr>
                                    </p:animMotion>
                                  </p:childTnLst>
                                </p:cTn>
                              </p:par>
                              <p:par>
                                <p:cTn id="9" presetID="0" presetClass="path" presetSubtype="0" accel="50000" decel="50000" fill="hold" grpId="0" nodeType="withEffect">
                                  <p:stCondLst>
                                    <p:cond delay="1000"/>
                                  </p:stCondLst>
                                  <p:childTnLst>
                                    <p:animMotion origin="layout" path="M 0.0 3.33333E-6 L 0.0 0.15555 " pathEditMode="relative" ptsTypes="AA">
                                      <p:cBhvr>
                                        <p:cTn id="10" dur="500" fill="hold"/>
                                        <p:tgtEl>
                                          <p:spTgt spid="77518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183" grpId="0" animBg="1"/>
      <p:bldP spid="775185"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ooter Placeholder 4"/>
          <p:cNvSpPr>
            <a:spLocks noGrp="1"/>
          </p:cNvSpPr>
          <p:nvPr>
            <p:ph type="ftr" sz="quarter" idx="10"/>
          </p:nvPr>
        </p:nvSpPr>
        <p:spPr/>
        <p:txBody>
          <a:bodyPr/>
          <a:lstStyle/>
          <a:p>
            <a:pPr>
              <a:defRPr/>
            </a:pPr>
            <a:r>
              <a:rPr lang="en-US"/>
              <a:t>Art of Multiprocessor Programming</a:t>
            </a:r>
          </a:p>
        </p:txBody>
      </p:sp>
      <p:sp>
        <p:nvSpPr>
          <p:cNvPr id="50" name="Slide Number Placeholder 5"/>
          <p:cNvSpPr>
            <a:spLocks noGrp="1"/>
          </p:cNvSpPr>
          <p:nvPr>
            <p:ph type="sldNum" sz="quarter" idx="11"/>
          </p:nvPr>
        </p:nvSpPr>
        <p:spPr/>
        <p:txBody>
          <a:bodyPr/>
          <a:lstStyle/>
          <a:p>
            <a:pPr>
              <a:defRPr/>
            </a:pPr>
            <a:fld id="{82C0286E-7F91-4FC0-A786-3B38BF24CF31}" type="slidenum">
              <a:rPr lang="en-US"/>
              <a:pPr>
                <a:defRPr/>
              </a:pPr>
              <a:t>139</a:t>
            </a:fld>
            <a:endParaRPr lang="en-US"/>
          </a:p>
        </p:txBody>
      </p:sp>
      <p:sp>
        <p:nvSpPr>
          <p:cNvPr id="138244"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45"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46"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8247"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8248" name="Rectangle 6"/>
          <p:cNvSpPr>
            <a:spLocks noGrp="1" noChangeArrowheads="1"/>
          </p:cNvSpPr>
          <p:nvPr>
            <p:ph type="title"/>
          </p:nvPr>
        </p:nvSpPr>
        <p:spPr/>
        <p:txBody>
          <a:bodyPr/>
          <a:lstStyle/>
          <a:p>
            <a:r>
              <a:rPr lang="en-US"/>
              <a:t>Bitonic[k] is not Linearizable</a:t>
            </a:r>
          </a:p>
        </p:txBody>
      </p:sp>
      <p:sp>
        <p:nvSpPr>
          <p:cNvPr id="138249"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50"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51"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8252" name="AutoShape 10"/>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8253"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8254"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8255"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8256"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8257" name="Line 15"/>
          <p:cNvSpPr>
            <a:spLocks noChangeShapeType="1"/>
          </p:cNvSpPr>
          <p:nvPr/>
        </p:nvSpPr>
        <p:spPr bwMode="auto">
          <a:xfrm>
            <a:off x="28956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77232" name="Line 16"/>
          <p:cNvSpPr>
            <a:spLocks noChangeShapeType="1"/>
          </p:cNvSpPr>
          <p:nvPr/>
        </p:nvSpPr>
        <p:spPr bwMode="auto">
          <a:xfrm>
            <a:off x="28956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77233" name="Line 17"/>
          <p:cNvSpPr>
            <a:spLocks noChangeShapeType="1"/>
          </p:cNvSpPr>
          <p:nvPr/>
        </p:nvSpPr>
        <p:spPr bwMode="auto">
          <a:xfrm>
            <a:off x="39624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8260" name="Line 18"/>
          <p:cNvSpPr>
            <a:spLocks noChangeShapeType="1"/>
          </p:cNvSpPr>
          <p:nvPr/>
        </p:nvSpPr>
        <p:spPr bwMode="auto">
          <a:xfrm>
            <a:off x="50292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77235" name="Line 19"/>
          <p:cNvSpPr>
            <a:spLocks noChangeShapeType="1"/>
          </p:cNvSpPr>
          <p:nvPr/>
        </p:nvSpPr>
        <p:spPr bwMode="auto">
          <a:xfrm>
            <a:off x="6096000" y="4343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8262" name="Group 20"/>
          <p:cNvGrpSpPr>
            <a:grpSpLocks/>
          </p:cNvGrpSpPr>
          <p:nvPr/>
        </p:nvGrpSpPr>
        <p:grpSpPr bwMode="auto">
          <a:xfrm>
            <a:off x="3810000" y="2057400"/>
            <a:ext cx="1377950" cy="423863"/>
            <a:chOff x="1313" y="2496"/>
            <a:chExt cx="1252" cy="427"/>
          </a:xfrm>
        </p:grpSpPr>
        <p:sp>
          <p:nvSpPr>
            <p:cNvPr id="138287"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8288"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8289"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8290"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38263" name="Line 25"/>
          <p:cNvSpPr>
            <a:spLocks noChangeShapeType="1"/>
          </p:cNvSpPr>
          <p:nvPr/>
        </p:nvSpPr>
        <p:spPr bwMode="auto">
          <a:xfrm>
            <a:off x="60960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8264" name="Group 26"/>
          <p:cNvGrpSpPr>
            <a:grpSpLocks/>
          </p:cNvGrpSpPr>
          <p:nvPr/>
        </p:nvGrpSpPr>
        <p:grpSpPr bwMode="auto">
          <a:xfrm>
            <a:off x="5029200" y="2895600"/>
            <a:ext cx="1377950" cy="423863"/>
            <a:chOff x="1313" y="2496"/>
            <a:chExt cx="1252" cy="427"/>
          </a:xfrm>
        </p:grpSpPr>
        <p:sp>
          <p:nvSpPr>
            <p:cNvPr id="138283"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8284"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8285" name="Oval 2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8286" name="Oval 3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4" name="Group 31"/>
          <p:cNvGrpSpPr>
            <a:grpSpLocks/>
          </p:cNvGrpSpPr>
          <p:nvPr/>
        </p:nvGrpSpPr>
        <p:grpSpPr bwMode="auto">
          <a:xfrm>
            <a:off x="1295400" y="4038600"/>
            <a:ext cx="1377950" cy="423863"/>
            <a:chOff x="1313" y="2496"/>
            <a:chExt cx="1252" cy="427"/>
          </a:xfrm>
        </p:grpSpPr>
        <p:sp>
          <p:nvSpPr>
            <p:cNvPr id="138279" name="Freeform 3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38280" name="Freeform 3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38281" name="Oval 34"/>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38282" name="Oval 35"/>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77252" name="AutoShape 36"/>
          <p:cNvSpPr>
            <a:spLocks noChangeArrowheads="1"/>
          </p:cNvSpPr>
          <p:nvPr/>
        </p:nvSpPr>
        <p:spPr bwMode="auto">
          <a:xfrm>
            <a:off x="6934200" y="2743200"/>
            <a:ext cx="1447800" cy="990600"/>
          </a:xfrm>
          <a:prstGeom prst="cloudCallout">
            <a:avLst>
              <a:gd name="adj1" fmla="val -46051"/>
              <a:gd name="adj2" fmla="val 84134"/>
            </a:avLst>
          </a:prstGeom>
          <a:noFill/>
          <a:ln w="38100">
            <a:solidFill>
              <a:srgbClr val="FF0000"/>
            </a:solidFill>
            <a:round/>
            <a:headEnd/>
            <a:tailEnd/>
          </a:ln>
        </p:spPr>
        <p:txBody>
          <a:bodyPr anchor="ctr"/>
          <a:lstStyle/>
          <a:p>
            <a:pPr algn="ctr">
              <a:spcBef>
                <a:spcPct val="0"/>
              </a:spcBef>
            </a:pPr>
            <a:r>
              <a:rPr lang="en-US" sz="4000" b="0">
                <a:solidFill>
                  <a:srgbClr val="FF0000"/>
                </a:solidFill>
                <a:latin typeface="Arial" pitchFamily="34" charset="0"/>
                <a:cs typeface="Arial" pitchFamily="34" charset="0"/>
              </a:rPr>
              <a:t>2</a:t>
            </a:r>
          </a:p>
        </p:txBody>
      </p:sp>
      <p:sp>
        <p:nvSpPr>
          <p:cNvPr id="138267" name="Oval 37"/>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68" name="Oval 38"/>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69" name="Oval 39"/>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0" name="Oval 40"/>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1" name="Oval 41"/>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2" name="Oval 42"/>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3" name="Oval 43"/>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4" name="Oval 44"/>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5" name="Oval 45"/>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6" name="Oval 46"/>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7" name="Oval 47"/>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8278" name="Oval 48"/>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88889E-6 4.07407E-6 L 0.55799 4.07407E-6 " pathEditMode="relative" rAng="0" ptsTypes="AA">
                                      <p:cBhvr>
                                        <p:cTn id="6" dur="2000" fill="hold"/>
                                        <p:tgtEl>
                                          <p:spTgt spid="4"/>
                                        </p:tgtEl>
                                        <p:attrNameLst>
                                          <p:attrName>ppt_x</p:attrName>
                                          <p:attrName>ppt_y</p:attrName>
                                        </p:attrNameLst>
                                      </p:cBhvr>
                                      <p:rCtr x="279" y="0"/>
                                    </p:animMotion>
                                  </p:childTnLst>
                                </p:cTn>
                              </p:par>
                              <p:par>
                                <p:cTn id="7" presetID="0" presetClass="path" presetSubtype="0" accel="50000" decel="50000" fill="hold" grpId="0" nodeType="withEffect">
                                  <p:stCondLst>
                                    <p:cond delay="500"/>
                                  </p:stCondLst>
                                  <p:childTnLst>
                                    <p:animMotion origin="layout" path="M -3.33333E-6 -3.33333E-6 L -3.33333E-6 0.12223 " pathEditMode="relative" ptsTypes="AA">
                                      <p:cBhvr>
                                        <p:cTn id="8" dur="500" fill="hold"/>
                                        <p:tgtEl>
                                          <p:spTgt spid="777232"/>
                                        </p:tgtEl>
                                        <p:attrNameLst>
                                          <p:attrName>ppt_x</p:attrName>
                                          <p:attrName>ppt_y</p:attrName>
                                        </p:attrNameLst>
                                      </p:cBhvr>
                                    </p:animMotion>
                                  </p:childTnLst>
                                </p:cTn>
                              </p:par>
                              <p:par>
                                <p:cTn id="9" presetID="0" presetClass="path" presetSubtype="0" accel="50000" decel="50000" fill="hold" grpId="0" nodeType="withEffect">
                                  <p:stCondLst>
                                    <p:cond delay="1000"/>
                                  </p:stCondLst>
                                  <p:childTnLst>
                                    <p:animMotion origin="layout" path="M 0.0 -3.33333E-6 L 0.0 -0.16666 " pathEditMode="relative" ptsTypes="AA">
                                      <p:cBhvr>
                                        <p:cTn id="10" dur="500" fill="hold"/>
                                        <p:tgtEl>
                                          <p:spTgt spid="777233"/>
                                        </p:tgtEl>
                                        <p:attrNameLst>
                                          <p:attrName>ppt_x</p:attrName>
                                          <p:attrName>ppt_y</p:attrName>
                                        </p:attrNameLst>
                                      </p:cBhvr>
                                    </p:animMotion>
                                  </p:childTnLst>
                                </p:cTn>
                              </p:par>
                              <p:par>
                                <p:cTn id="11" presetID="0" presetClass="path" presetSubtype="0" accel="50000" decel="50000" fill="hold" grpId="0" nodeType="withEffect">
                                  <p:stCondLst>
                                    <p:cond delay="1500"/>
                                  </p:stCondLst>
                                  <p:childTnLst>
                                    <p:animMotion origin="layout" path="M -3.33333E-6 -3.33333E-6 L -3.33333E-6 0.12223 " pathEditMode="relative" ptsTypes="AA">
                                      <p:cBhvr>
                                        <p:cTn id="12" dur="500" fill="hold"/>
                                        <p:tgtEl>
                                          <p:spTgt spid="777235"/>
                                        </p:tgtEl>
                                        <p:attrNameLst>
                                          <p:attrName>ppt_x</p:attrName>
                                          <p:attrName>ppt_y</p:attrName>
                                        </p:attrNameLst>
                                      </p:cBhvr>
                                    </p:animMotion>
                                  </p:childTnLst>
                                </p:cTn>
                              </p:par>
                            </p:childTnLst>
                          </p:cTn>
                        </p:par>
                        <p:par>
                          <p:cTn id="13" fill="hold">
                            <p:stCondLst>
                              <p:cond delay="2000"/>
                            </p:stCondLst>
                            <p:childTnLst>
                              <p:par>
                                <p:cTn id="14" presetID="3" presetClass="entr" presetSubtype="10" fill="hold" grpId="0" nodeType="afterEffect">
                                  <p:stCondLst>
                                    <p:cond delay="0"/>
                                  </p:stCondLst>
                                  <p:childTnLst>
                                    <p:set>
                                      <p:cBhvr>
                                        <p:cTn id="15" dur="1" fill="hold">
                                          <p:stCondLst>
                                            <p:cond delay="0"/>
                                          </p:stCondLst>
                                        </p:cTn>
                                        <p:tgtEl>
                                          <p:spTgt spid="777252"/>
                                        </p:tgtEl>
                                        <p:attrNameLst>
                                          <p:attrName>style.visibility</p:attrName>
                                        </p:attrNameLst>
                                      </p:cBhvr>
                                      <p:to>
                                        <p:strVal val="visible"/>
                                      </p:to>
                                    </p:set>
                                    <p:animEffect transition="in" filter="blinds(horizontal)">
                                      <p:cBhvr>
                                        <p:cTn id="16" dur="500"/>
                                        <p:tgtEl>
                                          <p:spTgt spid="777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7232" grpId="0" animBg="1"/>
      <p:bldP spid="777233" grpId="0" animBg="1"/>
      <p:bldP spid="777235" grpId="0" animBg="1"/>
      <p:bldP spid="777252"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Footer Placeholder 4"/>
          <p:cNvSpPr>
            <a:spLocks noGrp="1"/>
          </p:cNvSpPr>
          <p:nvPr>
            <p:ph type="ftr" sz="quarter" idx="10"/>
          </p:nvPr>
        </p:nvSpPr>
        <p:spPr/>
        <p:txBody>
          <a:bodyPr/>
          <a:lstStyle/>
          <a:p>
            <a:pPr>
              <a:defRPr/>
            </a:pPr>
            <a:r>
              <a:rPr lang="en-US"/>
              <a:t>Art of Multiprocessor Programming</a:t>
            </a:r>
          </a:p>
        </p:txBody>
      </p:sp>
      <p:sp>
        <p:nvSpPr>
          <p:cNvPr id="56" name="Slide Number Placeholder 5"/>
          <p:cNvSpPr>
            <a:spLocks noGrp="1"/>
          </p:cNvSpPr>
          <p:nvPr>
            <p:ph type="sldNum" sz="quarter" idx="11"/>
          </p:nvPr>
        </p:nvSpPr>
        <p:spPr/>
        <p:txBody>
          <a:bodyPr/>
          <a:lstStyle/>
          <a:p>
            <a:pPr>
              <a:defRPr/>
            </a:pPr>
            <a:fld id="{C57F2782-6175-4662-9919-C5F864ECF771}" type="slidenum">
              <a:rPr lang="en-US"/>
              <a:pPr>
                <a:defRPr/>
              </a:pPr>
              <a:t>140</a:t>
            </a:fld>
            <a:endParaRPr lang="en-US"/>
          </a:p>
        </p:txBody>
      </p:sp>
      <p:sp>
        <p:nvSpPr>
          <p:cNvPr id="139268"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69"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70"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9271"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39272" name="Rectangle 6"/>
          <p:cNvSpPr>
            <a:spLocks noGrp="1" noChangeArrowheads="1"/>
          </p:cNvSpPr>
          <p:nvPr>
            <p:ph type="title"/>
          </p:nvPr>
        </p:nvSpPr>
        <p:spPr/>
        <p:txBody>
          <a:bodyPr/>
          <a:lstStyle/>
          <a:p>
            <a:r>
              <a:rPr lang="en-US"/>
              <a:t>Bitonic[k] is not Linearizable</a:t>
            </a:r>
          </a:p>
        </p:txBody>
      </p:sp>
      <p:sp>
        <p:nvSpPr>
          <p:cNvPr id="139273"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74"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75"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9276" name="AutoShape 10"/>
          <p:cNvSpPr>
            <a:spLocks noChangeArrowheads="1"/>
          </p:cNvSpPr>
          <p:nvPr/>
        </p:nvSpPr>
        <p:spPr bwMode="auto">
          <a:xfrm>
            <a:off x="2819400" y="19812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9277"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9278"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9279"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9280"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39281" name="Line 15"/>
          <p:cNvSpPr>
            <a:spLocks noChangeShapeType="1"/>
          </p:cNvSpPr>
          <p:nvPr/>
        </p:nvSpPr>
        <p:spPr bwMode="auto">
          <a:xfrm>
            <a:off x="28956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79280" name="Line 16"/>
          <p:cNvSpPr>
            <a:spLocks noChangeShapeType="1"/>
          </p:cNvSpPr>
          <p:nvPr/>
        </p:nvSpPr>
        <p:spPr bwMode="auto">
          <a:xfrm>
            <a:off x="2895600" y="5181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9283" name="Line 17"/>
          <p:cNvSpPr>
            <a:spLocks noChangeShapeType="1"/>
          </p:cNvSpPr>
          <p:nvPr/>
        </p:nvSpPr>
        <p:spPr bwMode="auto">
          <a:xfrm>
            <a:off x="3962400" y="32004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779282" name="Line 18"/>
          <p:cNvSpPr>
            <a:spLocks noChangeShapeType="1"/>
          </p:cNvSpPr>
          <p:nvPr/>
        </p:nvSpPr>
        <p:spPr bwMode="auto">
          <a:xfrm>
            <a:off x="50292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39285" name="Line 19"/>
          <p:cNvSpPr>
            <a:spLocks noChangeShapeType="1"/>
          </p:cNvSpPr>
          <p:nvPr/>
        </p:nvSpPr>
        <p:spPr bwMode="auto">
          <a:xfrm>
            <a:off x="6096000" y="5181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9286" name="Group 20"/>
          <p:cNvGrpSpPr>
            <a:grpSpLocks/>
          </p:cNvGrpSpPr>
          <p:nvPr/>
        </p:nvGrpSpPr>
        <p:grpSpPr bwMode="auto">
          <a:xfrm>
            <a:off x="3810000" y="2057400"/>
            <a:ext cx="1377950" cy="423863"/>
            <a:chOff x="1313" y="2496"/>
            <a:chExt cx="1252" cy="427"/>
          </a:xfrm>
        </p:grpSpPr>
        <p:sp>
          <p:nvSpPr>
            <p:cNvPr id="139317"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9318"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9319"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9320"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79289" name="Line 25"/>
          <p:cNvSpPr>
            <a:spLocks noChangeShapeType="1"/>
          </p:cNvSpPr>
          <p:nvPr/>
        </p:nvSpPr>
        <p:spPr bwMode="auto">
          <a:xfrm>
            <a:off x="6096000" y="22860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139288" name="Group 26"/>
          <p:cNvGrpSpPr>
            <a:grpSpLocks/>
          </p:cNvGrpSpPr>
          <p:nvPr/>
        </p:nvGrpSpPr>
        <p:grpSpPr bwMode="auto">
          <a:xfrm>
            <a:off x="5029200" y="2895600"/>
            <a:ext cx="1377950" cy="423863"/>
            <a:chOff x="1313" y="2496"/>
            <a:chExt cx="1252" cy="427"/>
          </a:xfrm>
        </p:grpSpPr>
        <p:sp>
          <p:nvSpPr>
            <p:cNvPr id="139313"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9314"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9315" name="Oval 2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39316" name="Oval 3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39289" name="Group 31"/>
          <p:cNvGrpSpPr>
            <a:grpSpLocks/>
          </p:cNvGrpSpPr>
          <p:nvPr/>
        </p:nvGrpSpPr>
        <p:grpSpPr bwMode="auto">
          <a:xfrm>
            <a:off x="6248400" y="4038600"/>
            <a:ext cx="1377950" cy="423863"/>
            <a:chOff x="1313" y="2496"/>
            <a:chExt cx="1252" cy="427"/>
          </a:xfrm>
        </p:grpSpPr>
        <p:sp>
          <p:nvSpPr>
            <p:cNvPr id="139309" name="Freeform 3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39310" name="Freeform 3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39311" name="Oval 34"/>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39312" name="Oval 35"/>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39290" name="AutoShape 36"/>
          <p:cNvSpPr>
            <a:spLocks noChangeArrowheads="1"/>
          </p:cNvSpPr>
          <p:nvPr/>
        </p:nvSpPr>
        <p:spPr bwMode="auto">
          <a:xfrm>
            <a:off x="6934200" y="2743200"/>
            <a:ext cx="1447800" cy="990600"/>
          </a:xfrm>
          <a:prstGeom prst="cloudCallout">
            <a:avLst>
              <a:gd name="adj1" fmla="val -46051"/>
              <a:gd name="adj2" fmla="val 84134"/>
            </a:avLst>
          </a:prstGeom>
          <a:noFill/>
          <a:ln w="38100">
            <a:solidFill>
              <a:srgbClr val="FF0000"/>
            </a:solidFill>
            <a:round/>
            <a:headEnd/>
            <a:tailEnd/>
          </a:ln>
        </p:spPr>
        <p:txBody>
          <a:bodyPr anchor="ctr"/>
          <a:lstStyle/>
          <a:p>
            <a:pPr algn="ctr">
              <a:spcBef>
                <a:spcPct val="0"/>
              </a:spcBef>
            </a:pPr>
            <a:r>
              <a:rPr lang="en-US" sz="4000" b="0">
                <a:solidFill>
                  <a:srgbClr val="FF0000"/>
                </a:solidFill>
                <a:latin typeface="Arial" pitchFamily="34" charset="0"/>
                <a:cs typeface="Arial" pitchFamily="34" charset="0"/>
              </a:rPr>
              <a:t>2</a:t>
            </a:r>
          </a:p>
        </p:txBody>
      </p:sp>
      <p:grpSp>
        <p:nvGrpSpPr>
          <p:cNvPr id="5" name="Group 37"/>
          <p:cNvGrpSpPr>
            <a:grpSpLocks/>
          </p:cNvGrpSpPr>
          <p:nvPr/>
        </p:nvGrpSpPr>
        <p:grpSpPr bwMode="auto">
          <a:xfrm>
            <a:off x="1219200" y="4986338"/>
            <a:ext cx="1377950" cy="423862"/>
            <a:chOff x="1313" y="2496"/>
            <a:chExt cx="1252" cy="427"/>
          </a:xfrm>
        </p:grpSpPr>
        <p:sp>
          <p:nvSpPr>
            <p:cNvPr id="139305" name="Freeform 3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39306" name="Freeform 3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39307" name="Oval 40"/>
            <p:cNvSpPr>
              <a:spLocks noChangeArrowheads="1"/>
            </p:cNvSpPr>
            <p:nvPr/>
          </p:nvSpPr>
          <p:spPr bwMode="auto">
            <a:xfrm>
              <a:off x="1722" y="2579"/>
              <a:ext cx="391" cy="344"/>
            </a:xfrm>
            <a:prstGeom prst="ellipse">
              <a:avLst/>
            </a:pr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39308" name="Oval 41"/>
            <p:cNvSpPr>
              <a:spLocks noChangeArrowheads="1"/>
            </p:cNvSpPr>
            <p:nvPr/>
          </p:nvSpPr>
          <p:spPr bwMode="auto">
            <a:xfrm>
              <a:off x="1945" y="2640"/>
              <a:ext cx="102" cy="96"/>
            </a:xfrm>
            <a:prstGeom prst="ellipse">
              <a:avLst/>
            </a:prstGeom>
            <a:solidFill>
              <a:srgbClr val="FFFF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79306" name="AutoShape 42"/>
          <p:cNvSpPr>
            <a:spLocks noChangeArrowheads="1"/>
          </p:cNvSpPr>
          <p:nvPr/>
        </p:nvSpPr>
        <p:spPr bwMode="auto">
          <a:xfrm>
            <a:off x="6324600" y="762000"/>
            <a:ext cx="1447800" cy="990600"/>
          </a:xfrm>
          <a:prstGeom prst="cloudCallout">
            <a:avLst>
              <a:gd name="adj1" fmla="val 3069"/>
              <a:gd name="adj2" fmla="val 80287"/>
            </a:avLst>
          </a:prstGeom>
          <a:solidFill>
            <a:srgbClr val="FFFF99"/>
          </a:solidFill>
          <a:ln w="38100">
            <a:solidFill>
              <a:schemeClr val="tx1"/>
            </a:solidFill>
            <a:round/>
            <a:headEnd/>
            <a:tailEnd/>
          </a:ln>
        </p:spPr>
        <p:txBody>
          <a:bodyPr anchor="ctr"/>
          <a:lstStyle/>
          <a:p>
            <a:pPr algn="ctr">
              <a:spcBef>
                <a:spcPct val="0"/>
              </a:spcBef>
            </a:pPr>
            <a:r>
              <a:rPr lang="en-US" sz="4000" b="0">
                <a:solidFill>
                  <a:schemeClr val="tx1"/>
                </a:solidFill>
                <a:latin typeface="Arial" pitchFamily="34" charset="0"/>
                <a:cs typeface="Arial" pitchFamily="34" charset="0"/>
              </a:rPr>
              <a:t>0</a:t>
            </a:r>
          </a:p>
        </p:txBody>
      </p:sp>
      <p:sp>
        <p:nvSpPr>
          <p:cNvPr id="139293" name="Oval 43"/>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294" name="Oval 44"/>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295" name="Oval 45"/>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296" name="Oval 46"/>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297" name="Oval 47"/>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298" name="Oval 48"/>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299" name="Oval 49"/>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300" name="Oval 50"/>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301" name="Oval 51"/>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302" name="Oval 52"/>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303" name="Oval 53"/>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39304" name="Oval 54"/>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77778E-6 -7.40741E-7 C 0.1493 0.02894 0.29878 0.0581 0.35833 -0.0037 C 0.41788 -0.06551 0.32239 -0.2993 0.35694 -0.37037 C 0.39149 -0.44143 0.4783 -0.43565 0.56528 -0.42963 " pathEditMode="relative" ptsTypes="aaaA">
                                      <p:cBhvr>
                                        <p:cTn id="6" dur="2000" fill="hold"/>
                                        <p:tgtEl>
                                          <p:spTgt spid="5"/>
                                        </p:tgtEl>
                                        <p:attrNameLst>
                                          <p:attrName>ppt_x</p:attrName>
                                          <p:attrName>ppt_y</p:attrName>
                                        </p:attrNameLst>
                                      </p:cBhvr>
                                    </p:animMotion>
                                  </p:childTnLst>
                                </p:cTn>
                              </p:par>
                              <p:par>
                                <p:cTn id="7" presetID="0" presetClass="path" presetSubtype="0" accel="50000" decel="50000" fill="hold" grpId="0" nodeType="withEffect">
                                  <p:stCondLst>
                                    <p:cond delay="500"/>
                                  </p:stCondLst>
                                  <p:childTnLst>
                                    <p:animMotion origin="layout" path="M -3.33333E-6 0.02222 L -3.33333E-6 -0.13334 " pathEditMode="relative" ptsTypes="AA">
                                      <p:cBhvr>
                                        <p:cTn id="8" dur="500" fill="hold"/>
                                        <p:tgtEl>
                                          <p:spTgt spid="779280"/>
                                        </p:tgtEl>
                                        <p:attrNameLst>
                                          <p:attrName>ppt_x</p:attrName>
                                          <p:attrName>ppt_y</p:attrName>
                                        </p:attrNameLst>
                                      </p:cBhvr>
                                    </p:animMotion>
                                  </p:childTnLst>
                                </p:cTn>
                              </p:par>
                              <p:par>
                                <p:cTn id="9" presetID="0" presetClass="path" presetSubtype="0" accel="50000" decel="50000" fill="hold" grpId="0" nodeType="withEffect">
                                  <p:stCondLst>
                                    <p:cond delay="1000"/>
                                  </p:stCondLst>
                                  <p:childTnLst>
                                    <p:animMotion origin="layout" path="M 3.33333E-6 -3.33333E-6 L 3.33333E-6 0.42223 " pathEditMode="relative" ptsTypes="AA">
                                      <p:cBhvr>
                                        <p:cTn id="10" dur="500" fill="hold"/>
                                        <p:tgtEl>
                                          <p:spTgt spid="779282"/>
                                        </p:tgtEl>
                                        <p:attrNameLst>
                                          <p:attrName>ppt_x</p:attrName>
                                          <p:attrName>ppt_y</p:attrName>
                                        </p:attrNameLst>
                                      </p:cBhvr>
                                    </p:animMotion>
                                  </p:childTnLst>
                                </p:cTn>
                              </p:par>
                              <p:par>
                                <p:cTn id="11" presetID="0" presetClass="path" presetSubtype="0" accel="50000" decel="50000" fill="hold" grpId="0" nodeType="withEffect">
                                  <p:stCondLst>
                                    <p:cond delay="1500"/>
                                  </p:stCondLst>
                                  <p:childTnLst>
                                    <p:animMotion origin="layout" path="M -3.33333E-6 0.01111 L -3.33333E-6 0.14445 " pathEditMode="relative" ptsTypes="AA">
                                      <p:cBhvr>
                                        <p:cTn id="12" dur="500" fill="hold"/>
                                        <p:tgtEl>
                                          <p:spTgt spid="779289"/>
                                        </p:tgtEl>
                                        <p:attrNameLst>
                                          <p:attrName>ppt_x</p:attrName>
                                          <p:attrName>ppt_y</p:attrName>
                                        </p:attrNameLst>
                                      </p:cBhvr>
                                    </p:animMotion>
                                  </p:childTnLst>
                                </p:cTn>
                              </p:par>
                            </p:childTnLst>
                          </p:cTn>
                        </p:par>
                        <p:par>
                          <p:cTn id="13" fill="hold">
                            <p:stCondLst>
                              <p:cond delay="2000"/>
                            </p:stCondLst>
                            <p:childTnLst>
                              <p:par>
                                <p:cTn id="14" presetID="3" presetClass="entr" presetSubtype="10" fill="hold" grpId="0" nodeType="afterEffect">
                                  <p:stCondLst>
                                    <p:cond delay="0"/>
                                  </p:stCondLst>
                                  <p:childTnLst>
                                    <p:set>
                                      <p:cBhvr>
                                        <p:cTn id="15" dur="1" fill="hold">
                                          <p:stCondLst>
                                            <p:cond delay="0"/>
                                          </p:stCondLst>
                                        </p:cTn>
                                        <p:tgtEl>
                                          <p:spTgt spid="779306"/>
                                        </p:tgtEl>
                                        <p:attrNameLst>
                                          <p:attrName>style.visibility</p:attrName>
                                        </p:attrNameLst>
                                      </p:cBhvr>
                                      <p:to>
                                        <p:strVal val="visible"/>
                                      </p:to>
                                    </p:set>
                                    <p:animEffect transition="in" filter="blinds(horizontal)">
                                      <p:cBhvr>
                                        <p:cTn id="16" dur="500"/>
                                        <p:tgtEl>
                                          <p:spTgt spid="779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280" grpId="0" animBg="1"/>
      <p:bldP spid="779282" grpId="0" animBg="1"/>
      <p:bldP spid="779289" grpId="0" animBg="1"/>
      <p:bldP spid="779306"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ooter Placeholder 4"/>
          <p:cNvSpPr>
            <a:spLocks noGrp="1"/>
          </p:cNvSpPr>
          <p:nvPr>
            <p:ph type="ftr" sz="quarter" idx="10"/>
          </p:nvPr>
        </p:nvSpPr>
        <p:spPr/>
        <p:txBody>
          <a:bodyPr/>
          <a:lstStyle/>
          <a:p>
            <a:pPr>
              <a:defRPr/>
            </a:pPr>
            <a:r>
              <a:rPr lang="en-US"/>
              <a:t>Art of Multiprocessor Programming</a:t>
            </a:r>
          </a:p>
        </p:txBody>
      </p:sp>
      <p:sp>
        <p:nvSpPr>
          <p:cNvPr id="58" name="Slide Number Placeholder 5"/>
          <p:cNvSpPr>
            <a:spLocks noGrp="1"/>
          </p:cNvSpPr>
          <p:nvPr>
            <p:ph type="sldNum" sz="quarter" idx="11"/>
          </p:nvPr>
        </p:nvSpPr>
        <p:spPr/>
        <p:txBody>
          <a:bodyPr/>
          <a:lstStyle/>
          <a:p>
            <a:pPr>
              <a:defRPr/>
            </a:pPr>
            <a:fld id="{9CDD11BB-47FE-49C9-84BB-E730D752F892}" type="slidenum">
              <a:rPr lang="en-US"/>
              <a:pPr>
                <a:defRPr/>
              </a:pPr>
              <a:t>141</a:t>
            </a:fld>
            <a:endParaRPr lang="en-US"/>
          </a:p>
        </p:txBody>
      </p:sp>
      <p:sp>
        <p:nvSpPr>
          <p:cNvPr id="140292"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293"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294"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40295"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40296" name="Rectangle 6"/>
          <p:cNvSpPr>
            <a:spLocks noGrp="1" noChangeArrowheads="1"/>
          </p:cNvSpPr>
          <p:nvPr>
            <p:ph type="title"/>
          </p:nvPr>
        </p:nvSpPr>
        <p:spPr/>
        <p:txBody>
          <a:bodyPr/>
          <a:lstStyle/>
          <a:p>
            <a:r>
              <a:rPr lang="en-US"/>
              <a:t>Bitonic[k] is not Linearizable</a:t>
            </a:r>
          </a:p>
        </p:txBody>
      </p:sp>
      <p:sp>
        <p:nvSpPr>
          <p:cNvPr id="140297"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298"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299" name="AutoShape 9"/>
          <p:cNvSpPr>
            <a:spLocks noChangeArrowheads="1"/>
          </p:cNvSpPr>
          <p:nvPr/>
        </p:nvSpPr>
        <p:spPr bwMode="auto">
          <a:xfrm>
            <a:off x="2835275" y="3873500"/>
            <a:ext cx="374650" cy="1628775"/>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00" name="AutoShape 10"/>
          <p:cNvSpPr>
            <a:spLocks noChangeArrowheads="1"/>
          </p:cNvSpPr>
          <p:nvPr/>
        </p:nvSpPr>
        <p:spPr bwMode="auto">
          <a:xfrm>
            <a:off x="2819400" y="1981200"/>
            <a:ext cx="374650" cy="1628775"/>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01" name="AutoShape 11"/>
          <p:cNvSpPr>
            <a:spLocks noChangeArrowheads="1"/>
          </p:cNvSpPr>
          <p:nvPr/>
        </p:nvSpPr>
        <p:spPr bwMode="auto">
          <a:xfrm>
            <a:off x="3908425" y="2938463"/>
            <a:ext cx="373063" cy="163036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02" name="AutoShape 12"/>
          <p:cNvSpPr>
            <a:spLocks noChangeArrowheads="1"/>
          </p:cNvSpPr>
          <p:nvPr/>
        </p:nvSpPr>
        <p:spPr bwMode="auto">
          <a:xfrm>
            <a:off x="4979988" y="2005013"/>
            <a:ext cx="373062" cy="349726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03" name="AutoShape 13"/>
          <p:cNvSpPr>
            <a:spLocks noChangeArrowheads="1"/>
          </p:cNvSpPr>
          <p:nvPr/>
        </p:nvSpPr>
        <p:spPr bwMode="auto">
          <a:xfrm>
            <a:off x="6053138" y="3873500"/>
            <a:ext cx="374650" cy="1628775"/>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04" name="AutoShape 14"/>
          <p:cNvSpPr>
            <a:spLocks noChangeArrowheads="1"/>
          </p:cNvSpPr>
          <p:nvPr/>
        </p:nvSpPr>
        <p:spPr bwMode="auto">
          <a:xfrm>
            <a:off x="6053138" y="2005013"/>
            <a:ext cx="374650" cy="1628775"/>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05" name="Line 15"/>
          <p:cNvSpPr>
            <a:spLocks noChangeShapeType="1"/>
          </p:cNvSpPr>
          <p:nvPr/>
        </p:nvSpPr>
        <p:spPr bwMode="auto">
          <a:xfrm>
            <a:off x="2895600" y="22860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40306" name="Line 16"/>
          <p:cNvSpPr>
            <a:spLocks noChangeShapeType="1"/>
          </p:cNvSpPr>
          <p:nvPr/>
        </p:nvSpPr>
        <p:spPr bwMode="auto">
          <a:xfrm>
            <a:off x="2895600" y="43434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40307" name="Line 17"/>
          <p:cNvSpPr>
            <a:spLocks noChangeShapeType="1"/>
          </p:cNvSpPr>
          <p:nvPr/>
        </p:nvSpPr>
        <p:spPr bwMode="auto">
          <a:xfrm>
            <a:off x="3962400" y="32004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40308" name="Line 18"/>
          <p:cNvSpPr>
            <a:spLocks noChangeShapeType="1"/>
          </p:cNvSpPr>
          <p:nvPr/>
        </p:nvSpPr>
        <p:spPr bwMode="auto">
          <a:xfrm>
            <a:off x="5029200" y="51816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40309" name="Line 19"/>
          <p:cNvSpPr>
            <a:spLocks noChangeShapeType="1"/>
          </p:cNvSpPr>
          <p:nvPr/>
        </p:nvSpPr>
        <p:spPr bwMode="auto">
          <a:xfrm>
            <a:off x="6096000" y="51816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0310" name="Group 20"/>
          <p:cNvGrpSpPr>
            <a:grpSpLocks/>
          </p:cNvGrpSpPr>
          <p:nvPr/>
        </p:nvGrpSpPr>
        <p:grpSpPr bwMode="auto">
          <a:xfrm>
            <a:off x="3810000" y="2057400"/>
            <a:ext cx="1377950" cy="423863"/>
            <a:chOff x="1313" y="2496"/>
            <a:chExt cx="1252" cy="427"/>
          </a:xfrm>
        </p:grpSpPr>
        <p:sp>
          <p:nvSpPr>
            <p:cNvPr id="140343"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44"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45" name="Oval 23"/>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46" name="Oval 24"/>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40311" name="Line 25"/>
          <p:cNvSpPr>
            <a:spLocks noChangeShapeType="1"/>
          </p:cNvSpPr>
          <p:nvPr/>
        </p:nvSpPr>
        <p:spPr bwMode="auto">
          <a:xfrm>
            <a:off x="6096000" y="32004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0312" name="Group 26"/>
          <p:cNvGrpSpPr>
            <a:grpSpLocks/>
          </p:cNvGrpSpPr>
          <p:nvPr/>
        </p:nvGrpSpPr>
        <p:grpSpPr bwMode="auto">
          <a:xfrm>
            <a:off x="5029200" y="2895600"/>
            <a:ext cx="1377950" cy="423863"/>
            <a:chOff x="1313" y="2496"/>
            <a:chExt cx="1252" cy="427"/>
          </a:xfrm>
        </p:grpSpPr>
        <p:sp>
          <p:nvSpPr>
            <p:cNvPr id="140339"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40"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41" name="Oval 29"/>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0342" name="Oval 30"/>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40313" name="Group 31"/>
          <p:cNvGrpSpPr>
            <a:grpSpLocks/>
          </p:cNvGrpSpPr>
          <p:nvPr/>
        </p:nvGrpSpPr>
        <p:grpSpPr bwMode="auto">
          <a:xfrm>
            <a:off x="6248400" y="4038600"/>
            <a:ext cx="1377950" cy="423863"/>
            <a:chOff x="1313" y="2496"/>
            <a:chExt cx="1252" cy="427"/>
          </a:xfrm>
        </p:grpSpPr>
        <p:sp>
          <p:nvSpPr>
            <p:cNvPr id="140335" name="Freeform 3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40336" name="Freeform 3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40337" name="Oval 34"/>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40338" name="Oval 35"/>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40314" name="AutoShape 36"/>
          <p:cNvSpPr>
            <a:spLocks noChangeArrowheads="1"/>
          </p:cNvSpPr>
          <p:nvPr/>
        </p:nvSpPr>
        <p:spPr bwMode="auto">
          <a:xfrm>
            <a:off x="6934200" y="2743200"/>
            <a:ext cx="1447800" cy="990600"/>
          </a:xfrm>
          <a:prstGeom prst="cloudCallout">
            <a:avLst>
              <a:gd name="adj1" fmla="val -46051"/>
              <a:gd name="adj2" fmla="val 84134"/>
            </a:avLst>
          </a:prstGeom>
          <a:noFill/>
          <a:ln w="38100">
            <a:solidFill>
              <a:srgbClr val="FF0000"/>
            </a:solidFill>
            <a:round/>
            <a:headEnd/>
            <a:tailEnd/>
          </a:ln>
        </p:spPr>
        <p:txBody>
          <a:bodyPr anchor="ctr"/>
          <a:lstStyle/>
          <a:p>
            <a:pPr algn="ctr">
              <a:spcBef>
                <a:spcPct val="0"/>
              </a:spcBef>
            </a:pPr>
            <a:r>
              <a:rPr lang="en-US" sz="4000" b="0">
                <a:solidFill>
                  <a:srgbClr val="FF0000"/>
                </a:solidFill>
                <a:latin typeface="Arial" pitchFamily="34" charset="0"/>
                <a:cs typeface="Arial" pitchFamily="34" charset="0"/>
              </a:rPr>
              <a:t>2</a:t>
            </a:r>
          </a:p>
        </p:txBody>
      </p:sp>
      <p:grpSp>
        <p:nvGrpSpPr>
          <p:cNvPr id="140315" name="Group 37"/>
          <p:cNvGrpSpPr>
            <a:grpSpLocks/>
          </p:cNvGrpSpPr>
          <p:nvPr/>
        </p:nvGrpSpPr>
        <p:grpSpPr bwMode="auto">
          <a:xfrm>
            <a:off x="6324600" y="2057400"/>
            <a:ext cx="1377950" cy="423863"/>
            <a:chOff x="1313" y="2496"/>
            <a:chExt cx="1252" cy="427"/>
          </a:xfrm>
        </p:grpSpPr>
        <p:sp>
          <p:nvSpPr>
            <p:cNvPr id="140331" name="Freeform 3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40332" name="Freeform 3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40333" name="Oval 40"/>
            <p:cNvSpPr>
              <a:spLocks noChangeArrowheads="1"/>
            </p:cNvSpPr>
            <p:nvPr/>
          </p:nvSpPr>
          <p:spPr bwMode="auto">
            <a:xfrm>
              <a:off x="1722" y="2579"/>
              <a:ext cx="391" cy="344"/>
            </a:xfrm>
            <a:prstGeom prst="ellipse">
              <a:avLst/>
            </a:pr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140334" name="Oval 41"/>
            <p:cNvSpPr>
              <a:spLocks noChangeArrowheads="1"/>
            </p:cNvSpPr>
            <p:nvPr/>
          </p:nvSpPr>
          <p:spPr bwMode="auto">
            <a:xfrm>
              <a:off x="1945" y="2640"/>
              <a:ext cx="102" cy="96"/>
            </a:xfrm>
            <a:prstGeom prst="ellipse">
              <a:avLst/>
            </a:prstGeom>
            <a:solidFill>
              <a:srgbClr val="FFFF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40317" name="AutoShape 43"/>
          <p:cNvSpPr>
            <a:spLocks noChangeArrowheads="1"/>
          </p:cNvSpPr>
          <p:nvPr/>
        </p:nvSpPr>
        <p:spPr bwMode="auto">
          <a:xfrm>
            <a:off x="6324600" y="762000"/>
            <a:ext cx="1447800" cy="990600"/>
          </a:xfrm>
          <a:prstGeom prst="cloudCallout">
            <a:avLst>
              <a:gd name="adj1" fmla="val 3069"/>
              <a:gd name="adj2" fmla="val 80287"/>
            </a:avLst>
          </a:prstGeom>
          <a:solidFill>
            <a:srgbClr val="FFFF99"/>
          </a:solidFill>
          <a:ln w="38100">
            <a:solidFill>
              <a:schemeClr val="tx1"/>
            </a:solidFill>
            <a:round/>
            <a:headEnd/>
            <a:tailEnd/>
          </a:ln>
        </p:spPr>
        <p:txBody>
          <a:bodyPr anchor="ctr"/>
          <a:lstStyle/>
          <a:p>
            <a:pPr algn="ctr">
              <a:spcBef>
                <a:spcPct val="0"/>
              </a:spcBef>
            </a:pPr>
            <a:r>
              <a:rPr lang="en-US" sz="4000" b="0">
                <a:solidFill>
                  <a:schemeClr val="tx1"/>
                </a:solidFill>
                <a:latin typeface="Arial" pitchFamily="34" charset="0"/>
                <a:cs typeface="Arial" pitchFamily="34" charset="0"/>
              </a:rPr>
              <a:t>0</a:t>
            </a:r>
          </a:p>
        </p:txBody>
      </p:sp>
      <p:sp>
        <p:nvSpPr>
          <p:cNvPr id="140318" name="Oval 44"/>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19" name="Oval 45"/>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0" name="Oval 46"/>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1" name="Oval 47"/>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2" name="Oval 48"/>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3" name="Oval 49"/>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4" name="Oval 50"/>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5" name="Oval 51"/>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6" name="Oval 52"/>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7" name="Oval 53"/>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8" name="Oval 54"/>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29" name="Oval 55"/>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0330" name="Text Box 56"/>
          <p:cNvSpPr txBox="1">
            <a:spLocks noChangeArrowheads="1"/>
          </p:cNvSpPr>
          <p:nvPr/>
        </p:nvSpPr>
        <p:spPr bwMode="auto">
          <a:xfrm>
            <a:off x="1447800" y="2590800"/>
            <a:ext cx="4917180" cy="1323439"/>
          </a:xfrm>
          <a:prstGeom prst="rect">
            <a:avLst/>
          </a:prstGeom>
          <a:solidFill>
            <a:schemeClr val="bg1">
              <a:alpha val="89803"/>
            </a:schemeClr>
          </a:solidFill>
          <a:ln w="38100" algn="ctr">
            <a:solidFill>
              <a:schemeClr val="tx1"/>
            </a:solidFill>
            <a:miter lim="800000"/>
            <a:headEnd/>
            <a:tailEnd/>
          </a:ln>
        </p:spPr>
        <p:txBody>
          <a:bodyPr wrap="none">
            <a:spAutoFit/>
          </a:bodyPr>
          <a:lstStyle/>
          <a:p>
            <a:pPr>
              <a:spcBef>
                <a:spcPct val="0"/>
              </a:spcBef>
            </a:pPr>
            <a:r>
              <a:rPr lang="en-US" sz="2000" dirty="0">
                <a:latin typeface="Arial" pitchFamily="34" charset="0"/>
                <a:cs typeface="Arial" pitchFamily="34" charset="0"/>
              </a:rPr>
              <a:t>Problem is:</a:t>
            </a:r>
          </a:p>
          <a:p>
            <a:pPr lvl="1">
              <a:spcBef>
                <a:spcPct val="0"/>
              </a:spcBef>
              <a:buFontTx/>
              <a:buChar char="•"/>
            </a:pPr>
            <a:r>
              <a:rPr lang="en-US" sz="2000" dirty="0">
                <a:latin typeface="Arial" pitchFamily="34" charset="0"/>
                <a:cs typeface="Arial" pitchFamily="34" charset="0"/>
              </a:rPr>
              <a:t>Red finished before Yellow started</a:t>
            </a:r>
          </a:p>
          <a:p>
            <a:pPr lvl="1">
              <a:spcBef>
                <a:spcPct val="0"/>
              </a:spcBef>
              <a:buFontTx/>
              <a:buChar char="•"/>
            </a:pPr>
            <a:r>
              <a:rPr lang="en-US" sz="2000" dirty="0">
                <a:latin typeface="Arial" pitchFamily="34" charset="0"/>
                <a:cs typeface="Arial" pitchFamily="34" charset="0"/>
              </a:rPr>
              <a:t>Red took 2</a:t>
            </a:r>
          </a:p>
          <a:p>
            <a:pPr lvl="1">
              <a:spcBef>
                <a:spcPct val="0"/>
              </a:spcBef>
              <a:buFontTx/>
              <a:buChar char="•"/>
            </a:pPr>
            <a:r>
              <a:rPr lang="en-US" sz="2000" dirty="0">
                <a:latin typeface="Arial" pitchFamily="34" charset="0"/>
                <a:cs typeface="Arial" pitchFamily="34" charset="0"/>
              </a:rPr>
              <a:t>Yellow took 0</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ooter Placeholder 4"/>
          <p:cNvSpPr>
            <a:spLocks noGrp="1"/>
          </p:cNvSpPr>
          <p:nvPr>
            <p:ph type="ftr" sz="quarter" idx="10"/>
          </p:nvPr>
        </p:nvSpPr>
        <p:spPr/>
        <p:txBody>
          <a:bodyPr/>
          <a:lstStyle/>
          <a:p>
            <a:pPr>
              <a:defRPr/>
            </a:pPr>
            <a:r>
              <a:rPr lang="en-US"/>
              <a:t>Art of Multiprocessor Programming</a:t>
            </a:r>
          </a:p>
        </p:txBody>
      </p:sp>
      <p:sp>
        <p:nvSpPr>
          <p:cNvPr id="58" name="Slide Number Placeholder 5"/>
          <p:cNvSpPr>
            <a:spLocks noGrp="1"/>
          </p:cNvSpPr>
          <p:nvPr>
            <p:ph type="sldNum" sz="quarter" idx="11"/>
          </p:nvPr>
        </p:nvSpPr>
        <p:spPr/>
        <p:txBody>
          <a:bodyPr/>
          <a:lstStyle/>
          <a:p>
            <a:pPr>
              <a:defRPr/>
            </a:pPr>
            <a:fld id="{08D365D1-A528-4BC1-AF7D-88706040E18A}" type="slidenum">
              <a:rPr lang="en-US"/>
              <a:pPr>
                <a:defRPr/>
              </a:pPr>
              <a:t>142</a:t>
            </a:fld>
            <a:endParaRPr lang="en-US"/>
          </a:p>
        </p:txBody>
      </p:sp>
      <p:sp>
        <p:nvSpPr>
          <p:cNvPr id="141316"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1317"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1318"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41319"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41320" name="Rectangle 6"/>
          <p:cNvSpPr>
            <a:spLocks noGrp="1" noChangeArrowheads="1"/>
          </p:cNvSpPr>
          <p:nvPr>
            <p:ph type="title"/>
          </p:nvPr>
        </p:nvSpPr>
        <p:spPr/>
        <p:txBody>
          <a:bodyPr/>
          <a:lstStyle/>
          <a:p>
            <a:r>
              <a:rPr lang="en-US"/>
              <a:t>But it is “Quiescently Consistent”</a:t>
            </a:r>
          </a:p>
        </p:txBody>
      </p:sp>
      <p:sp>
        <p:nvSpPr>
          <p:cNvPr id="141321"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1322"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1323" name="AutoShape 9"/>
          <p:cNvSpPr>
            <a:spLocks noChangeArrowheads="1"/>
          </p:cNvSpPr>
          <p:nvPr/>
        </p:nvSpPr>
        <p:spPr bwMode="auto">
          <a:xfrm>
            <a:off x="2835275" y="3873500"/>
            <a:ext cx="374650" cy="1628775"/>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24" name="AutoShape 10"/>
          <p:cNvSpPr>
            <a:spLocks noChangeArrowheads="1"/>
          </p:cNvSpPr>
          <p:nvPr/>
        </p:nvSpPr>
        <p:spPr bwMode="auto">
          <a:xfrm>
            <a:off x="2819400" y="1981200"/>
            <a:ext cx="374650" cy="1628775"/>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25" name="AutoShape 11"/>
          <p:cNvSpPr>
            <a:spLocks noChangeArrowheads="1"/>
          </p:cNvSpPr>
          <p:nvPr/>
        </p:nvSpPr>
        <p:spPr bwMode="auto">
          <a:xfrm>
            <a:off x="3908425" y="2938463"/>
            <a:ext cx="373063" cy="163036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26" name="AutoShape 12"/>
          <p:cNvSpPr>
            <a:spLocks noChangeArrowheads="1"/>
          </p:cNvSpPr>
          <p:nvPr/>
        </p:nvSpPr>
        <p:spPr bwMode="auto">
          <a:xfrm>
            <a:off x="4979988" y="2005013"/>
            <a:ext cx="373062" cy="349726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27" name="AutoShape 13"/>
          <p:cNvSpPr>
            <a:spLocks noChangeArrowheads="1"/>
          </p:cNvSpPr>
          <p:nvPr/>
        </p:nvSpPr>
        <p:spPr bwMode="auto">
          <a:xfrm>
            <a:off x="6053138" y="3873500"/>
            <a:ext cx="374650" cy="1628775"/>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28" name="AutoShape 14"/>
          <p:cNvSpPr>
            <a:spLocks noChangeArrowheads="1"/>
          </p:cNvSpPr>
          <p:nvPr/>
        </p:nvSpPr>
        <p:spPr bwMode="auto">
          <a:xfrm>
            <a:off x="6053138" y="2005013"/>
            <a:ext cx="374650" cy="1628775"/>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29" name="Line 15"/>
          <p:cNvSpPr>
            <a:spLocks noChangeShapeType="1"/>
          </p:cNvSpPr>
          <p:nvPr/>
        </p:nvSpPr>
        <p:spPr bwMode="auto">
          <a:xfrm>
            <a:off x="2895600" y="22860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41330" name="Line 16"/>
          <p:cNvSpPr>
            <a:spLocks noChangeShapeType="1"/>
          </p:cNvSpPr>
          <p:nvPr/>
        </p:nvSpPr>
        <p:spPr bwMode="auto">
          <a:xfrm>
            <a:off x="2895600" y="43434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41331" name="Line 17"/>
          <p:cNvSpPr>
            <a:spLocks noChangeShapeType="1"/>
          </p:cNvSpPr>
          <p:nvPr/>
        </p:nvSpPr>
        <p:spPr bwMode="auto">
          <a:xfrm>
            <a:off x="3962400" y="32004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41332" name="Line 18"/>
          <p:cNvSpPr>
            <a:spLocks noChangeShapeType="1"/>
          </p:cNvSpPr>
          <p:nvPr/>
        </p:nvSpPr>
        <p:spPr bwMode="auto">
          <a:xfrm>
            <a:off x="5029200" y="51816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41333" name="Line 19"/>
          <p:cNvSpPr>
            <a:spLocks noChangeShapeType="1"/>
          </p:cNvSpPr>
          <p:nvPr/>
        </p:nvSpPr>
        <p:spPr bwMode="auto">
          <a:xfrm>
            <a:off x="6096000" y="51816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1334" name="Group 20"/>
          <p:cNvGrpSpPr>
            <a:grpSpLocks/>
          </p:cNvGrpSpPr>
          <p:nvPr/>
        </p:nvGrpSpPr>
        <p:grpSpPr bwMode="auto">
          <a:xfrm>
            <a:off x="3810000" y="2057400"/>
            <a:ext cx="1377950" cy="423863"/>
            <a:chOff x="1313" y="2496"/>
            <a:chExt cx="1252" cy="427"/>
          </a:xfrm>
        </p:grpSpPr>
        <p:sp>
          <p:nvSpPr>
            <p:cNvPr id="141354"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55"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56" name="Oval 23"/>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57" name="Oval 24"/>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41335" name="Line 25"/>
          <p:cNvSpPr>
            <a:spLocks noChangeShapeType="1"/>
          </p:cNvSpPr>
          <p:nvPr/>
        </p:nvSpPr>
        <p:spPr bwMode="auto">
          <a:xfrm>
            <a:off x="6096000" y="3200400"/>
            <a:ext cx="304800"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1336" name="Group 26"/>
          <p:cNvGrpSpPr>
            <a:grpSpLocks/>
          </p:cNvGrpSpPr>
          <p:nvPr/>
        </p:nvGrpSpPr>
        <p:grpSpPr bwMode="auto">
          <a:xfrm>
            <a:off x="5029200" y="2895600"/>
            <a:ext cx="1377950" cy="423863"/>
            <a:chOff x="1313" y="2496"/>
            <a:chExt cx="1252" cy="427"/>
          </a:xfrm>
        </p:grpSpPr>
        <p:sp>
          <p:nvSpPr>
            <p:cNvPr id="141350"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51"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52" name="Oval 29"/>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41353" name="Oval 30"/>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41337" name="Oval 44"/>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38" name="Oval 45"/>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39" name="Oval 46"/>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0" name="Oval 47"/>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1" name="Oval 48"/>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2" name="Oval 49"/>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3" name="Oval 50"/>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4" name="Oval 51"/>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5" name="Oval 52"/>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6" name="Oval 53"/>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7" name="Oval 54"/>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41348" name="Oval 55"/>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59" name="AutoShape 58"/>
          <p:cNvSpPr>
            <a:spLocks noChangeArrowheads="1"/>
          </p:cNvSpPr>
          <p:nvPr/>
        </p:nvSpPr>
        <p:spPr bwMode="auto">
          <a:xfrm>
            <a:off x="1181100" y="4641850"/>
            <a:ext cx="7292975" cy="1720850"/>
          </a:xfrm>
          <a:prstGeom prst="wedgeRoundRectCallout">
            <a:avLst>
              <a:gd name="adj1" fmla="val 3157"/>
              <a:gd name="adj2" fmla="val -98852"/>
              <a:gd name="adj3" fmla="val 16667"/>
            </a:avLst>
          </a:prstGeom>
          <a:solidFill>
            <a:schemeClr val="bg1"/>
          </a:solidFill>
          <a:ln w="28575">
            <a:solidFill>
              <a:srgbClr val="0000FF"/>
            </a:solidFill>
            <a:miter lim="800000"/>
            <a:headEnd/>
            <a:tailEnd/>
          </a:ln>
        </p:spPr>
        <p:txBody>
          <a:bodyPr wrap="none" anchor="ctr"/>
          <a:lstStyle/>
          <a:p>
            <a:pPr algn="ctr">
              <a:spcBef>
                <a:spcPct val="0"/>
              </a:spcBef>
            </a:pPr>
            <a:r>
              <a:rPr lang="en-US" sz="2800" b="0" dirty="0">
                <a:latin typeface="Arial" pitchFamily="34" charset="0"/>
                <a:cs typeface="Arial" pitchFamily="34" charset="0"/>
              </a:rPr>
              <a:t>Has Step Property in any </a:t>
            </a:r>
            <a:r>
              <a:rPr lang="en-US" sz="2800" b="0" dirty="0">
                <a:solidFill>
                  <a:schemeClr val="tx1"/>
                </a:solidFill>
                <a:latin typeface="Arial" pitchFamily="34" charset="0"/>
                <a:cs typeface="Arial" pitchFamily="34" charset="0"/>
              </a:rPr>
              <a:t>quiescent</a:t>
            </a:r>
            <a:r>
              <a:rPr lang="en-US" sz="2800" b="0" dirty="0">
                <a:latin typeface="Arial" pitchFamily="34" charset="0"/>
                <a:cs typeface="Arial" pitchFamily="34" charset="0"/>
              </a:rPr>
              <a:t> State</a:t>
            </a:r>
          </a:p>
          <a:p>
            <a:pPr algn="ctr">
              <a:spcBef>
                <a:spcPct val="0"/>
              </a:spcBef>
            </a:pPr>
            <a:r>
              <a:rPr lang="en-US" sz="2800" b="0" dirty="0">
                <a:latin typeface="Arial" pitchFamily="34" charset="0"/>
                <a:cs typeface="Arial" pitchFamily="34" charset="0"/>
              </a:rPr>
              <a:t>(one in which all tokens have exited)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linds(horizontal)">
                                      <p:cBhvr>
                                        <p:cTn id="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9EDFF5E-A08E-4AEF-9BF1-C5E85C791791}" type="slidenum">
              <a:rPr lang="en-US"/>
              <a:pPr>
                <a:defRPr/>
              </a:pPr>
              <a:t>143</a:t>
            </a:fld>
            <a:endParaRPr lang="en-US"/>
          </a:p>
        </p:txBody>
      </p:sp>
      <p:sp>
        <p:nvSpPr>
          <p:cNvPr id="142340" name="Rectangle 2"/>
          <p:cNvSpPr>
            <a:spLocks noGrp="1" noChangeArrowheads="1"/>
          </p:cNvSpPr>
          <p:nvPr>
            <p:ph type="title"/>
          </p:nvPr>
        </p:nvSpPr>
        <p:spPr/>
        <p:txBody>
          <a:bodyPr/>
          <a:lstStyle/>
          <a:p>
            <a:r>
              <a:rPr lang="en-US" sz="4000"/>
              <a:t>Shared Memory Implementation</a:t>
            </a:r>
          </a:p>
        </p:txBody>
      </p:sp>
      <p:sp>
        <p:nvSpPr>
          <p:cNvPr id="142341" name="Rectangle 3"/>
          <p:cNvSpPr>
            <a:spLocks noChangeArrowheads="1"/>
          </p:cNvSpPr>
          <p:nvPr/>
        </p:nvSpPr>
        <p:spPr bwMode="auto">
          <a:xfrm>
            <a:off x="1447800" y="2057400"/>
            <a:ext cx="7153275" cy="4007251"/>
          </a:xfrm>
          <a:prstGeom prst="rect">
            <a:avLst/>
          </a:prstGeom>
          <a:solidFill>
            <a:srgbClr val="FFFFCC"/>
          </a:solidFill>
          <a:ln w="9525">
            <a:noFill/>
            <a:miter lim="800000"/>
            <a:headEnd/>
            <a:tailEnd/>
          </a:ln>
        </p:spPr>
        <p:txBody>
          <a:bodyPr>
            <a:spAutoFit/>
          </a:bodyPr>
          <a:lstStyle/>
          <a:p>
            <a:pPr marL="342900" indent="-342900"/>
            <a:r>
              <a:rPr lang="en-US" dirty="0">
                <a:solidFill>
                  <a:schemeClr val="tx1"/>
                </a:solidFill>
                <a:latin typeface="Courier New" pitchFamily="49" charset="0"/>
                <a:cs typeface="Courier New" pitchFamily="49" charset="0"/>
              </a:rPr>
              <a:t>class</a:t>
            </a:r>
            <a:r>
              <a:rPr lang="en-US" dirty="0">
                <a:latin typeface="Courier New" pitchFamily="49" charset="0"/>
                <a:cs typeface="Courier New" pitchFamily="49" charset="0"/>
              </a:rPr>
              <a:t> balancer {</a:t>
            </a:r>
          </a:p>
          <a:p>
            <a:pPr marL="342900" indent="-342900"/>
            <a:r>
              <a:rPr lang="en-US" dirty="0">
                <a:latin typeface="Courier New" pitchFamily="49" charset="0"/>
                <a:cs typeface="Courier New" pitchFamily="49" charset="0"/>
              </a:rPr>
              <a:t> </a:t>
            </a:r>
            <a:r>
              <a:rPr lang="en-US" dirty="0" err="1">
                <a:solidFill>
                  <a:schemeClr val="tx1"/>
                </a:solidFill>
                <a:latin typeface="Courier New" pitchFamily="49" charset="0"/>
                <a:cs typeface="Courier New" pitchFamily="49" charset="0"/>
              </a:rPr>
              <a:t>boolean</a:t>
            </a:r>
            <a:r>
              <a:rPr lang="en-US" dirty="0">
                <a:latin typeface="Courier New" pitchFamily="49" charset="0"/>
                <a:cs typeface="Courier New" pitchFamily="49" charset="0"/>
              </a:rPr>
              <a:t> toggle;</a:t>
            </a:r>
          </a:p>
          <a:p>
            <a:pPr marL="342900" indent="-342900"/>
            <a:r>
              <a:rPr lang="en-US" dirty="0">
                <a:latin typeface="Courier New" pitchFamily="49" charset="0"/>
                <a:cs typeface="Courier New" pitchFamily="49" charset="0"/>
              </a:rPr>
              <a:t> balancer[] next;</a:t>
            </a:r>
          </a:p>
          <a:p>
            <a:pPr marL="342900" indent="-342900"/>
            <a:r>
              <a:rPr lang="en-US" dirty="0">
                <a:latin typeface="Courier New" pitchFamily="49" charset="0"/>
                <a:cs typeface="Courier New" pitchFamily="49" charset="0"/>
              </a:rPr>
              <a:t> </a:t>
            </a:r>
          </a:p>
          <a:p>
            <a:pPr marL="342900" indent="-342900"/>
            <a:r>
              <a:rPr lang="en-US" dirty="0">
                <a:solidFill>
                  <a:schemeClr val="tx1"/>
                </a:solidFill>
                <a:latin typeface="Courier New" pitchFamily="49" charset="0"/>
                <a:cs typeface="Courier New" pitchFamily="49" charset="0"/>
              </a:rPr>
              <a:t>synchronized </a:t>
            </a:r>
            <a:r>
              <a:rPr lang="en-US" dirty="0" err="1">
                <a:solidFill>
                  <a:schemeClr val="tx1"/>
                </a:solidFill>
                <a:latin typeface="Courier New" pitchFamily="49" charset="0"/>
                <a:cs typeface="Courier New" pitchFamily="49" charset="0"/>
              </a:rPr>
              <a:t>boolean</a:t>
            </a:r>
            <a:r>
              <a:rPr lang="en-US" dirty="0">
                <a:latin typeface="Courier New" pitchFamily="49" charset="0"/>
                <a:cs typeface="Courier New" pitchFamily="49" charset="0"/>
              </a:rPr>
              <a:t> flip() {</a:t>
            </a:r>
          </a:p>
          <a:p>
            <a:pPr marL="342900" indent="-342900"/>
            <a:r>
              <a:rPr lang="en-US" dirty="0">
                <a:latin typeface="Courier New" pitchFamily="49" charset="0"/>
                <a:cs typeface="Courier New" pitchFamily="49" charset="0"/>
              </a:rPr>
              <a:t> </a:t>
            </a:r>
            <a:r>
              <a:rPr lang="en-US" dirty="0" err="1">
                <a:solidFill>
                  <a:schemeClr val="tx1"/>
                </a:solidFill>
                <a:latin typeface="Courier New" pitchFamily="49" charset="0"/>
                <a:cs typeface="Courier New" pitchFamily="49" charset="0"/>
              </a:rPr>
              <a:t>boolean</a:t>
            </a:r>
            <a:r>
              <a:rPr lang="en-US" dirty="0">
                <a:latin typeface="Courier New" pitchFamily="49" charset="0"/>
                <a:cs typeface="Courier New" pitchFamily="49" charset="0"/>
              </a:rPr>
              <a:t> </a:t>
            </a:r>
            <a:r>
              <a:rPr lang="en-US" dirty="0" err="1">
                <a:latin typeface="Courier New" pitchFamily="49" charset="0"/>
                <a:cs typeface="Courier New" pitchFamily="49" charset="0"/>
              </a:rPr>
              <a:t>oldValue</a:t>
            </a:r>
            <a:r>
              <a:rPr lang="en-US" dirty="0">
                <a:latin typeface="Courier New" pitchFamily="49" charset="0"/>
                <a:cs typeface="Courier New" pitchFamily="49" charset="0"/>
              </a:rPr>
              <a:t> = </a:t>
            </a:r>
            <a:r>
              <a:rPr lang="en-US" dirty="0" err="1">
                <a:solidFill>
                  <a:schemeClr val="tx1"/>
                </a:solidFill>
                <a:latin typeface="Courier New" pitchFamily="49" charset="0"/>
                <a:cs typeface="Courier New" pitchFamily="49" charset="0"/>
              </a:rPr>
              <a:t>this</a:t>
            </a:r>
            <a:r>
              <a:rPr lang="en-US" dirty="0" err="1">
                <a:latin typeface="Courier New" pitchFamily="49" charset="0"/>
                <a:cs typeface="Courier New" pitchFamily="49" charset="0"/>
              </a:rPr>
              <a:t>.toggle</a:t>
            </a:r>
            <a:r>
              <a:rPr lang="en-US" dirty="0">
                <a:latin typeface="Courier New" pitchFamily="49" charset="0"/>
                <a:cs typeface="Courier New" pitchFamily="49" charset="0"/>
              </a:rPr>
              <a:t>;</a:t>
            </a:r>
          </a:p>
          <a:p>
            <a:pPr marL="342900" indent="-342900"/>
            <a:r>
              <a:rPr lang="en-US" dirty="0">
                <a:latin typeface="Courier New" pitchFamily="49" charset="0"/>
                <a:cs typeface="Courier New" pitchFamily="49" charset="0"/>
              </a:rPr>
              <a:t> </a:t>
            </a:r>
            <a:r>
              <a:rPr lang="en-US" dirty="0" err="1">
                <a:solidFill>
                  <a:schemeClr val="tx1"/>
                </a:solidFill>
                <a:latin typeface="Courier New" pitchFamily="49" charset="0"/>
                <a:cs typeface="Courier New" pitchFamily="49" charset="0"/>
              </a:rPr>
              <a:t>this</a:t>
            </a:r>
            <a:r>
              <a:rPr lang="en-US" dirty="0" err="1">
                <a:latin typeface="Courier New" pitchFamily="49" charset="0"/>
                <a:cs typeface="Courier New" pitchFamily="49" charset="0"/>
              </a:rPr>
              <a:t>.toggle</a:t>
            </a:r>
            <a:r>
              <a:rPr lang="en-US" dirty="0">
                <a:latin typeface="Courier New" pitchFamily="49" charset="0"/>
                <a:cs typeface="Courier New" pitchFamily="49" charset="0"/>
              </a:rPr>
              <a:t> = !</a:t>
            </a:r>
            <a:r>
              <a:rPr lang="en-US" dirty="0" err="1">
                <a:solidFill>
                  <a:schemeClr val="tx1"/>
                </a:solidFill>
                <a:latin typeface="Courier New" pitchFamily="49" charset="0"/>
                <a:cs typeface="Courier New" pitchFamily="49" charset="0"/>
              </a:rPr>
              <a:t>this</a:t>
            </a:r>
            <a:r>
              <a:rPr lang="en-US" dirty="0" err="1">
                <a:latin typeface="Courier New" pitchFamily="49" charset="0"/>
                <a:cs typeface="Courier New" pitchFamily="49" charset="0"/>
              </a:rPr>
              <a:t>.toggle</a:t>
            </a:r>
            <a:r>
              <a:rPr lang="en-US" dirty="0">
                <a:latin typeface="Courier New" pitchFamily="49" charset="0"/>
                <a:cs typeface="Courier New" pitchFamily="49" charset="0"/>
              </a:rPr>
              <a:t>;</a:t>
            </a:r>
          </a:p>
          <a:p>
            <a:pPr marL="342900" indent="-342900"/>
            <a:r>
              <a:rPr lang="en-US" dirty="0">
                <a:latin typeface="Courier New" pitchFamily="49" charset="0"/>
                <a:cs typeface="Courier New" pitchFamily="49" charset="0"/>
              </a:rPr>
              <a:t> </a:t>
            </a:r>
            <a:r>
              <a:rPr lang="en-US" dirty="0">
                <a:solidFill>
                  <a:schemeClr val="tx1"/>
                </a:solidFill>
                <a:latin typeface="Courier New" pitchFamily="49" charset="0"/>
                <a:cs typeface="Courier New" pitchFamily="49" charset="0"/>
              </a:rPr>
              <a:t>return</a:t>
            </a:r>
            <a:r>
              <a:rPr lang="en-US" dirty="0">
                <a:latin typeface="Courier New" pitchFamily="49" charset="0"/>
                <a:cs typeface="Courier New" pitchFamily="49" charset="0"/>
              </a:rPr>
              <a:t> </a:t>
            </a:r>
            <a:r>
              <a:rPr lang="en-US" dirty="0" err="1">
                <a:latin typeface="Courier New" pitchFamily="49" charset="0"/>
                <a:cs typeface="Courier New" pitchFamily="49" charset="0"/>
              </a:rPr>
              <a:t>oldValue</a:t>
            </a:r>
            <a:r>
              <a:rPr lang="en-US" dirty="0">
                <a:latin typeface="Courier New" pitchFamily="49" charset="0"/>
                <a:cs typeface="Courier New" pitchFamily="49" charset="0"/>
              </a:rPr>
              <a:t>;</a:t>
            </a:r>
          </a:p>
          <a:p>
            <a:pPr marL="342900" indent="-342900"/>
            <a:r>
              <a:rPr lang="en-US" dirty="0">
                <a:latin typeface="Courier New" pitchFamily="49" charset="0"/>
                <a:cs typeface="Courier New" pitchFamily="49" charset="0"/>
              </a:rPr>
              <a:t>}</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13B675AE-9E5B-4F06-9344-6518BF6EABDF}" type="slidenum">
              <a:rPr lang="en-US"/>
              <a:pPr>
                <a:defRPr/>
              </a:pPr>
              <a:t>144</a:t>
            </a:fld>
            <a:endParaRPr lang="en-US"/>
          </a:p>
        </p:txBody>
      </p:sp>
      <p:sp>
        <p:nvSpPr>
          <p:cNvPr id="143364" name="Rectangle 2"/>
          <p:cNvSpPr>
            <a:spLocks noGrp="1" noChangeArrowheads="1"/>
          </p:cNvSpPr>
          <p:nvPr>
            <p:ph type="title"/>
          </p:nvPr>
        </p:nvSpPr>
        <p:spPr/>
        <p:txBody>
          <a:bodyPr/>
          <a:lstStyle/>
          <a:p>
            <a:r>
              <a:rPr lang="en-US" sz="4000"/>
              <a:t>Shared Memory Implementation</a:t>
            </a:r>
          </a:p>
        </p:txBody>
      </p:sp>
      <p:sp>
        <p:nvSpPr>
          <p:cNvPr id="143365" name="Rectangle 3"/>
          <p:cNvSpPr>
            <a:spLocks noChangeArrowheads="1"/>
          </p:cNvSpPr>
          <p:nvPr/>
        </p:nvSpPr>
        <p:spPr bwMode="auto">
          <a:xfrm>
            <a:off x="1447800" y="2057400"/>
            <a:ext cx="7153275" cy="4007251"/>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cs typeface="Courier New" pitchFamily="49" charset="0"/>
              </a:rPr>
              <a:t>class balancer {</a:t>
            </a:r>
          </a:p>
          <a:p>
            <a:pPr marL="342900" indent="-342900"/>
            <a:r>
              <a:rPr lang="en-US" dirty="0">
                <a:latin typeface="Courier New" pitchFamily="49" charset="0"/>
                <a:cs typeface="Courier New" pitchFamily="49" charset="0"/>
              </a:rPr>
              <a:t> </a:t>
            </a:r>
            <a:r>
              <a:rPr lang="en-US" dirty="0" err="1">
                <a:solidFill>
                  <a:schemeClr val="tx1"/>
                </a:solidFill>
                <a:latin typeface="Courier New" pitchFamily="49" charset="0"/>
                <a:cs typeface="Courier New" pitchFamily="49" charset="0"/>
              </a:rPr>
              <a:t>boolean</a:t>
            </a:r>
            <a:r>
              <a:rPr lang="en-US" dirty="0">
                <a:latin typeface="Courier New" pitchFamily="49" charset="0"/>
                <a:cs typeface="Courier New" pitchFamily="49" charset="0"/>
              </a:rPr>
              <a:t> toggle;</a:t>
            </a:r>
          </a:p>
          <a:p>
            <a:pPr marL="342900" indent="-342900"/>
            <a:r>
              <a:rPr lang="en-US" dirty="0">
                <a:latin typeface="Courier New" pitchFamily="49" charset="0"/>
                <a:cs typeface="Courier New" pitchFamily="49" charset="0"/>
              </a:rPr>
              <a:t> </a:t>
            </a:r>
            <a:r>
              <a:rPr lang="en-US" dirty="0">
                <a:solidFill>
                  <a:schemeClr val="folHlink"/>
                </a:solidFill>
                <a:latin typeface="Courier New" pitchFamily="49" charset="0"/>
                <a:cs typeface="Courier New" pitchFamily="49" charset="0"/>
              </a:rPr>
              <a:t>balancer[] next;</a:t>
            </a:r>
          </a:p>
          <a:p>
            <a:pPr marL="342900" indent="-342900"/>
            <a:r>
              <a:rPr lang="en-US" dirty="0">
                <a:solidFill>
                  <a:schemeClr val="folHlink"/>
                </a:solidFill>
                <a:latin typeface="Courier New" pitchFamily="49" charset="0"/>
                <a:cs typeface="Courier New" pitchFamily="49" charset="0"/>
              </a:rPr>
              <a:t> </a:t>
            </a:r>
          </a:p>
          <a:p>
            <a:pPr marL="342900" indent="-342900"/>
            <a:r>
              <a:rPr lang="en-US" dirty="0">
                <a:solidFill>
                  <a:schemeClr val="folHlink"/>
                </a:solidFill>
                <a:latin typeface="Courier New" pitchFamily="49" charset="0"/>
                <a:cs typeface="Courier New" pitchFamily="49" charset="0"/>
              </a:rPr>
              <a:t>synchronized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flip() {</a:t>
            </a:r>
          </a:p>
          <a:p>
            <a:pPr marL="342900" indent="-342900"/>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oldValue</a:t>
            </a:r>
            <a:r>
              <a:rPr lang="en-US" dirty="0">
                <a:solidFill>
                  <a:schemeClr val="folHlink"/>
                </a:solidFill>
                <a:latin typeface="Courier New" pitchFamily="49" charset="0"/>
                <a:cs typeface="Courier New" pitchFamily="49" charset="0"/>
              </a:rPr>
              <a:t> = </a:t>
            </a:r>
            <a:r>
              <a:rPr lang="en-US" dirty="0" err="1">
                <a:solidFill>
                  <a:schemeClr val="folHlink"/>
                </a:solidFill>
                <a:latin typeface="Courier New" pitchFamily="49" charset="0"/>
                <a:cs typeface="Courier New" pitchFamily="49" charset="0"/>
              </a:rPr>
              <a:t>this.toggle</a:t>
            </a:r>
            <a:r>
              <a:rPr lang="en-US" dirty="0">
                <a:solidFill>
                  <a:schemeClr val="folHlink"/>
                </a:solidFill>
                <a:latin typeface="Courier New" pitchFamily="49" charset="0"/>
                <a:cs typeface="Courier New" pitchFamily="49" charset="0"/>
              </a:rPr>
              <a:t>;</a:t>
            </a:r>
          </a:p>
          <a:p>
            <a:pPr marL="342900" indent="-342900"/>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this.toggle</a:t>
            </a:r>
            <a:r>
              <a:rPr lang="en-US" dirty="0">
                <a:solidFill>
                  <a:schemeClr val="folHlink"/>
                </a:solidFill>
                <a:latin typeface="Courier New" pitchFamily="49" charset="0"/>
                <a:cs typeface="Courier New" pitchFamily="49" charset="0"/>
              </a:rPr>
              <a:t> = !</a:t>
            </a:r>
            <a:r>
              <a:rPr lang="en-US" dirty="0" err="1">
                <a:solidFill>
                  <a:schemeClr val="folHlink"/>
                </a:solidFill>
                <a:latin typeface="Courier New" pitchFamily="49" charset="0"/>
                <a:cs typeface="Courier New" pitchFamily="49" charset="0"/>
              </a:rPr>
              <a:t>this.toggle</a:t>
            </a:r>
            <a:r>
              <a:rPr lang="en-US" dirty="0">
                <a:solidFill>
                  <a:schemeClr val="folHlink"/>
                </a:solidFill>
                <a:latin typeface="Courier New" pitchFamily="49" charset="0"/>
                <a:cs typeface="Courier New" pitchFamily="49" charset="0"/>
              </a:rPr>
              <a:t>;</a:t>
            </a:r>
          </a:p>
          <a:p>
            <a:pPr marL="342900" indent="-342900"/>
            <a:r>
              <a:rPr lang="en-US" dirty="0">
                <a:solidFill>
                  <a:schemeClr val="folHlink"/>
                </a:solidFill>
                <a:latin typeface="Courier New" pitchFamily="49" charset="0"/>
                <a:cs typeface="Courier New" pitchFamily="49" charset="0"/>
              </a:rPr>
              <a:t> return </a:t>
            </a:r>
            <a:r>
              <a:rPr lang="en-US" dirty="0" err="1">
                <a:solidFill>
                  <a:schemeClr val="folHlink"/>
                </a:solidFill>
                <a:latin typeface="Courier New" pitchFamily="49" charset="0"/>
                <a:cs typeface="Courier New" pitchFamily="49" charset="0"/>
              </a:rPr>
              <a:t>oldValue</a:t>
            </a:r>
            <a:r>
              <a:rPr lang="en-US" dirty="0">
                <a:solidFill>
                  <a:schemeClr val="folHlink"/>
                </a:solidFill>
                <a:latin typeface="Courier New" pitchFamily="49" charset="0"/>
                <a:cs typeface="Courier New" pitchFamily="49" charset="0"/>
              </a:rPr>
              <a:t>;</a:t>
            </a:r>
          </a:p>
          <a:p>
            <a:pPr marL="342900" indent="-342900"/>
            <a:r>
              <a:rPr lang="en-US" dirty="0">
                <a:solidFill>
                  <a:schemeClr val="folHlink"/>
                </a:solidFill>
                <a:latin typeface="Courier New" pitchFamily="49" charset="0"/>
                <a:cs typeface="Courier New" pitchFamily="49" charset="0"/>
              </a:rPr>
              <a:t>}</a:t>
            </a:r>
          </a:p>
        </p:txBody>
      </p:sp>
      <p:sp>
        <p:nvSpPr>
          <p:cNvPr id="143366" name="AutoShape 4"/>
          <p:cNvSpPr>
            <a:spLocks noChangeArrowheads="1"/>
          </p:cNvSpPr>
          <p:nvPr/>
        </p:nvSpPr>
        <p:spPr bwMode="auto">
          <a:xfrm>
            <a:off x="1447800" y="2522538"/>
            <a:ext cx="3405188" cy="560387"/>
          </a:xfrm>
          <a:prstGeom prst="wedgeRoundRectCallout">
            <a:avLst>
              <a:gd name="adj1" fmla="val 69461"/>
              <a:gd name="adj2" fmla="val 125073"/>
              <a:gd name="adj3" fmla="val 16667"/>
            </a:avLst>
          </a:prstGeom>
          <a:noFill/>
          <a:ln w="38100" algn="ctr">
            <a:solidFill>
              <a:srgbClr val="FF0000"/>
            </a:solidFill>
            <a:miter lim="800000"/>
            <a:headEnd/>
            <a:tailEnd/>
          </a:ln>
        </p:spPr>
        <p:txBody>
          <a:bodyPr/>
          <a:lstStyle/>
          <a:p>
            <a:pPr marL="342900" indent="-342900" algn="ctr"/>
            <a:endParaRPr lang="en-US" dirty="0">
              <a:latin typeface="Courier New" pitchFamily="49" charset="0"/>
            </a:endParaRPr>
          </a:p>
        </p:txBody>
      </p:sp>
      <p:sp>
        <p:nvSpPr>
          <p:cNvPr id="143367" name="Text Box 5"/>
          <p:cNvSpPr txBox="1">
            <a:spLocks noChangeArrowheads="1"/>
          </p:cNvSpPr>
          <p:nvPr/>
        </p:nvSpPr>
        <p:spPr bwMode="auto">
          <a:xfrm>
            <a:off x="5662382" y="3263255"/>
            <a:ext cx="904415" cy="461665"/>
          </a:xfrm>
          <a:prstGeom prst="rect">
            <a:avLst/>
          </a:prstGeom>
          <a:noFill/>
          <a:ln w="9525" algn="ctr">
            <a:noFill/>
            <a:miter lim="800000"/>
            <a:headEnd/>
            <a:tailEnd/>
          </a:ln>
        </p:spPr>
        <p:txBody>
          <a:bodyPr wrap="none">
            <a:spAutoFit/>
          </a:bodyPr>
          <a:lstStyle/>
          <a:p>
            <a:pPr marL="342900" indent="-342900"/>
            <a:r>
              <a:rPr lang="en-US" dirty="0">
                <a:solidFill>
                  <a:srgbClr val="FF0000"/>
                </a:solidFill>
                <a:latin typeface="Arial" pitchFamily="34" charset="0"/>
                <a:cs typeface="Arial" pitchFamily="34" charset="0"/>
              </a:rPr>
              <a:t>state</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83FB2E79-C067-4E9D-AF84-8C3D46476337}" type="slidenum">
              <a:rPr lang="en-US"/>
              <a:pPr>
                <a:defRPr/>
              </a:pPr>
              <a:t>145</a:t>
            </a:fld>
            <a:endParaRPr lang="en-US"/>
          </a:p>
        </p:txBody>
      </p:sp>
      <p:sp>
        <p:nvSpPr>
          <p:cNvPr id="144388" name="Rectangle 2"/>
          <p:cNvSpPr>
            <a:spLocks noGrp="1" noChangeArrowheads="1"/>
          </p:cNvSpPr>
          <p:nvPr>
            <p:ph type="title"/>
          </p:nvPr>
        </p:nvSpPr>
        <p:spPr/>
        <p:txBody>
          <a:bodyPr/>
          <a:lstStyle/>
          <a:p>
            <a:r>
              <a:rPr lang="en-US" sz="4000"/>
              <a:t>Shared Memory Implementation</a:t>
            </a:r>
          </a:p>
        </p:txBody>
      </p:sp>
      <p:sp>
        <p:nvSpPr>
          <p:cNvPr id="144389" name="Rectangle 3"/>
          <p:cNvSpPr>
            <a:spLocks noChangeArrowheads="1"/>
          </p:cNvSpPr>
          <p:nvPr/>
        </p:nvSpPr>
        <p:spPr bwMode="auto">
          <a:xfrm>
            <a:off x="1447800" y="2057400"/>
            <a:ext cx="7153275" cy="4007251"/>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cs typeface="Courier New" pitchFamily="49" charset="0"/>
              </a:rPr>
              <a:t>class balancer {</a:t>
            </a:r>
          </a:p>
          <a:p>
            <a:pPr marL="342900" indent="-342900"/>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toggle;</a:t>
            </a:r>
          </a:p>
          <a:p>
            <a:pPr marL="342900" indent="-342900"/>
            <a:r>
              <a:rPr lang="en-US" dirty="0">
                <a:latin typeface="Courier New" pitchFamily="49" charset="0"/>
                <a:cs typeface="Courier New" pitchFamily="49" charset="0"/>
              </a:rPr>
              <a:t> balancer[] next;</a:t>
            </a:r>
          </a:p>
          <a:p>
            <a:pPr marL="342900" indent="-342900"/>
            <a:r>
              <a:rPr lang="en-US" dirty="0">
                <a:latin typeface="Courier New" pitchFamily="49" charset="0"/>
                <a:cs typeface="Courier New" pitchFamily="49" charset="0"/>
              </a:rPr>
              <a:t> </a:t>
            </a:r>
          </a:p>
          <a:p>
            <a:pPr marL="342900" indent="-342900"/>
            <a:r>
              <a:rPr lang="en-US" dirty="0">
                <a:solidFill>
                  <a:schemeClr val="folHlink"/>
                </a:solidFill>
                <a:latin typeface="Courier New" pitchFamily="49" charset="0"/>
                <a:cs typeface="Courier New" pitchFamily="49" charset="0"/>
              </a:rPr>
              <a:t>synchronized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flip() {</a:t>
            </a:r>
          </a:p>
          <a:p>
            <a:pPr marL="342900" indent="-342900"/>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oldValue</a:t>
            </a:r>
            <a:r>
              <a:rPr lang="en-US" dirty="0">
                <a:solidFill>
                  <a:schemeClr val="folHlink"/>
                </a:solidFill>
                <a:latin typeface="Courier New" pitchFamily="49" charset="0"/>
                <a:cs typeface="Courier New" pitchFamily="49" charset="0"/>
              </a:rPr>
              <a:t> = </a:t>
            </a:r>
            <a:r>
              <a:rPr lang="en-US" dirty="0" err="1">
                <a:solidFill>
                  <a:schemeClr val="folHlink"/>
                </a:solidFill>
                <a:latin typeface="Courier New" pitchFamily="49" charset="0"/>
                <a:cs typeface="Courier New" pitchFamily="49" charset="0"/>
              </a:rPr>
              <a:t>this.toggle</a:t>
            </a:r>
            <a:r>
              <a:rPr lang="en-US" dirty="0">
                <a:solidFill>
                  <a:schemeClr val="folHlink"/>
                </a:solidFill>
                <a:latin typeface="Courier New" pitchFamily="49" charset="0"/>
                <a:cs typeface="Courier New" pitchFamily="49" charset="0"/>
              </a:rPr>
              <a:t>;</a:t>
            </a:r>
          </a:p>
          <a:p>
            <a:pPr marL="342900" indent="-342900"/>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this.toggle</a:t>
            </a:r>
            <a:r>
              <a:rPr lang="en-US" dirty="0">
                <a:solidFill>
                  <a:schemeClr val="folHlink"/>
                </a:solidFill>
                <a:latin typeface="Courier New" pitchFamily="49" charset="0"/>
                <a:cs typeface="Courier New" pitchFamily="49" charset="0"/>
              </a:rPr>
              <a:t> = !</a:t>
            </a:r>
            <a:r>
              <a:rPr lang="en-US" dirty="0" err="1">
                <a:solidFill>
                  <a:schemeClr val="folHlink"/>
                </a:solidFill>
                <a:latin typeface="Courier New" pitchFamily="49" charset="0"/>
                <a:cs typeface="Courier New" pitchFamily="49" charset="0"/>
              </a:rPr>
              <a:t>this.toggle</a:t>
            </a:r>
            <a:r>
              <a:rPr lang="en-US" dirty="0">
                <a:solidFill>
                  <a:schemeClr val="folHlink"/>
                </a:solidFill>
                <a:latin typeface="Courier New" pitchFamily="49" charset="0"/>
                <a:cs typeface="Courier New" pitchFamily="49" charset="0"/>
              </a:rPr>
              <a:t>;</a:t>
            </a:r>
          </a:p>
          <a:p>
            <a:pPr marL="342900" indent="-342900"/>
            <a:r>
              <a:rPr lang="en-US" dirty="0">
                <a:solidFill>
                  <a:schemeClr val="folHlink"/>
                </a:solidFill>
                <a:latin typeface="Courier New" pitchFamily="49" charset="0"/>
                <a:cs typeface="Courier New" pitchFamily="49" charset="0"/>
              </a:rPr>
              <a:t> return </a:t>
            </a:r>
            <a:r>
              <a:rPr lang="en-US" dirty="0" err="1">
                <a:solidFill>
                  <a:schemeClr val="folHlink"/>
                </a:solidFill>
                <a:latin typeface="Courier New" pitchFamily="49" charset="0"/>
                <a:cs typeface="Courier New" pitchFamily="49" charset="0"/>
              </a:rPr>
              <a:t>oldValue</a:t>
            </a:r>
            <a:r>
              <a:rPr lang="en-US" dirty="0">
                <a:solidFill>
                  <a:schemeClr val="folHlink"/>
                </a:solidFill>
                <a:latin typeface="Courier New" pitchFamily="49" charset="0"/>
                <a:cs typeface="Courier New" pitchFamily="49" charset="0"/>
              </a:rPr>
              <a:t>;</a:t>
            </a:r>
          </a:p>
          <a:p>
            <a:pPr marL="342900" indent="-342900"/>
            <a:r>
              <a:rPr lang="en-US" dirty="0">
                <a:solidFill>
                  <a:schemeClr val="folHlink"/>
                </a:solidFill>
                <a:latin typeface="Courier New" pitchFamily="49" charset="0"/>
                <a:cs typeface="Courier New" pitchFamily="49" charset="0"/>
              </a:rPr>
              <a:t>}</a:t>
            </a:r>
          </a:p>
        </p:txBody>
      </p:sp>
      <p:sp>
        <p:nvSpPr>
          <p:cNvPr id="144390" name="AutoShape 4"/>
          <p:cNvSpPr>
            <a:spLocks noChangeArrowheads="1"/>
          </p:cNvSpPr>
          <p:nvPr/>
        </p:nvSpPr>
        <p:spPr bwMode="auto">
          <a:xfrm>
            <a:off x="1447800" y="2979738"/>
            <a:ext cx="3405188" cy="560387"/>
          </a:xfrm>
          <a:prstGeom prst="wedgeRoundRectCallout">
            <a:avLst>
              <a:gd name="adj1" fmla="val 51028"/>
              <a:gd name="adj2" fmla="val -116287"/>
              <a:gd name="adj3" fmla="val 16667"/>
            </a:avLst>
          </a:prstGeom>
          <a:noFill/>
          <a:ln w="38100" algn="ctr">
            <a:solidFill>
              <a:srgbClr val="FF0000"/>
            </a:solidFill>
            <a:miter lim="800000"/>
            <a:headEnd/>
            <a:tailEnd/>
          </a:ln>
        </p:spPr>
        <p:txBody>
          <a:bodyPr/>
          <a:lstStyle/>
          <a:p>
            <a:pPr marL="342900" indent="-342900" algn="ctr"/>
            <a:endParaRPr lang="en-US" dirty="0">
              <a:latin typeface="Courier New" pitchFamily="49" charset="0"/>
            </a:endParaRPr>
          </a:p>
        </p:txBody>
      </p:sp>
      <p:sp>
        <p:nvSpPr>
          <p:cNvPr id="144391" name="Text Box 5"/>
          <p:cNvSpPr txBox="1">
            <a:spLocks noChangeArrowheads="1"/>
          </p:cNvSpPr>
          <p:nvPr/>
        </p:nvSpPr>
        <p:spPr bwMode="auto">
          <a:xfrm>
            <a:off x="4852988" y="2293938"/>
            <a:ext cx="3392487" cy="830997"/>
          </a:xfrm>
          <a:prstGeom prst="rect">
            <a:avLst/>
          </a:prstGeom>
          <a:noFill/>
          <a:ln w="9525" algn="ctr">
            <a:noFill/>
            <a:miter lim="800000"/>
            <a:headEnd/>
            <a:tailEnd/>
          </a:ln>
        </p:spPr>
        <p:txBody>
          <a:bodyPr>
            <a:spAutoFit/>
          </a:bodyPr>
          <a:lstStyle/>
          <a:p>
            <a:pPr marL="342900" indent="-342900" algn="ctr"/>
            <a:r>
              <a:rPr lang="en-US" dirty="0">
                <a:solidFill>
                  <a:srgbClr val="FF0000"/>
                </a:solidFill>
                <a:latin typeface="Arial" pitchFamily="34" charset="0"/>
                <a:cs typeface="Arial" pitchFamily="34" charset="0"/>
              </a:rPr>
              <a:t>Output connections to balancers</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8BDFF289-30AC-4EEA-9909-E8441BE7F684}" type="slidenum">
              <a:rPr lang="en-US"/>
              <a:pPr>
                <a:defRPr/>
              </a:pPr>
              <a:t>146</a:t>
            </a:fld>
            <a:endParaRPr lang="en-US"/>
          </a:p>
        </p:txBody>
      </p:sp>
      <p:sp>
        <p:nvSpPr>
          <p:cNvPr id="145412" name="Rectangle 2"/>
          <p:cNvSpPr>
            <a:spLocks noGrp="1" noChangeArrowheads="1"/>
          </p:cNvSpPr>
          <p:nvPr>
            <p:ph type="title"/>
          </p:nvPr>
        </p:nvSpPr>
        <p:spPr/>
        <p:txBody>
          <a:bodyPr/>
          <a:lstStyle/>
          <a:p>
            <a:r>
              <a:rPr lang="en-US" sz="4000"/>
              <a:t>Shared Memory Implementation</a:t>
            </a:r>
          </a:p>
        </p:txBody>
      </p:sp>
      <p:sp>
        <p:nvSpPr>
          <p:cNvPr id="145413" name="Rectangle 3"/>
          <p:cNvSpPr>
            <a:spLocks noChangeArrowheads="1"/>
          </p:cNvSpPr>
          <p:nvPr/>
        </p:nvSpPr>
        <p:spPr bwMode="auto">
          <a:xfrm>
            <a:off x="1447800" y="2057400"/>
            <a:ext cx="7153275" cy="4007251"/>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cs typeface="Courier New" pitchFamily="49" charset="0"/>
              </a:rPr>
              <a:t>class balancer {</a:t>
            </a:r>
          </a:p>
          <a:p>
            <a:pPr marL="342900" indent="-342900"/>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toggle;</a:t>
            </a:r>
          </a:p>
          <a:p>
            <a:pPr marL="342900" indent="-342900"/>
            <a:r>
              <a:rPr lang="en-US" dirty="0">
                <a:solidFill>
                  <a:schemeClr val="folHlink"/>
                </a:solidFill>
                <a:latin typeface="Courier New" pitchFamily="49" charset="0"/>
                <a:cs typeface="Courier New" pitchFamily="49" charset="0"/>
              </a:rPr>
              <a:t> balancer[] next;</a:t>
            </a:r>
          </a:p>
          <a:p>
            <a:pPr marL="342900" indent="-342900"/>
            <a:r>
              <a:rPr lang="en-US" dirty="0">
                <a:solidFill>
                  <a:schemeClr val="folHlink"/>
                </a:solidFill>
                <a:latin typeface="Courier New" pitchFamily="49" charset="0"/>
                <a:cs typeface="Courier New" pitchFamily="49" charset="0"/>
              </a:rPr>
              <a:t> </a:t>
            </a:r>
          </a:p>
          <a:p>
            <a:pPr marL="342900" indent="-342900"/>
            <a:r>
              <a:rPr lang="en-US" dirty="0">
                <a:solidFill>
                  <a:schemeClr val="folHlink"/>
                </a:solidFill>
                <a:latin typeface="Courier New" pitchFamily="49" charset="0"/>
                <a:cs typeface="Courier New" pitchFamily="49" charset="0"/>
              </a:rPr>
              <a:t>synchronized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flip() {</a:t>
            </a:r>
          </a:p>
          <a:p>
            <a:pPr marL="342900" indent="-342900"/>
            <a:r>
              <a:rPr lang="en-US" dirty="0">
                <a:latin typeface="Courier New" pitchFamily="49" charset="0"/>
                <a:cs typeface="Courier New" pitchFamily="49" charset="0"/>
              </a:rPr>
              <a:t> </a:t>
            </a:r>
            <a:r>
              <a:rPr lang="en-US" dirty="0" err="1">
                <a:solidFill>
                  <a:schemeClr val="tx1"/>
                </a:solidFill>
                <a:latin typeface="Courier New" pitchFamily="49" charset="0"/>
                <a:cs typeface="Courier New" pitchFamily="49" charset="0"/>
              </a:rPr>
              <a:t>boolean</a:t>
            </a:r>
            <a:r>
              <a:rPr lang="en-US" dirty="0">
                <a:latin typeface="Courier New" pitchFamily="49" charset="0"/>
                <a:cs typeface="Courier New" pitchFamily="49" charset="0"/>
              </a:rPr>
              <a:t> </a:t>
            </a:r>
            <a:r>
              <a:rPr lang="en-US" dirty="0" err="1">
                <a:latin typeface="Courier New" pitchFamily="49" charset="0"/>
                <a:cs typeface="Courier New" pitchFamily="49" charset="0"/>
              </a:rPr>
              <a:t>oldValue</a:t>
            </a:r>
            <a:r>
              <a:rPr lang="en-US" dirty="0">
                <a:latin typeface="Courier New" pitchFamily="49" charset="0"/>
                <a:cs typeface="Courier New" pitchFamily="49" charset="0"/>
              </a:rPr>
              <a:t> = </a:t>
            </a:r>
            <a:r>
              <a:rPr lang="en-US" dirty="0" err="1">
                <a:solidFill>
                  <a:schemeClr val="tx1"/>
                </a:solidFill>
                <a:latin typeface="Courier New" pitchFamily="49" charset="0"/>
                <a:cs typeface="Courier New" pitchFamily="49" charset="0"/>
              </a:rPr>
              <a:t>this</a:t>
            </a:r>
            <a:r>
              <a:rPr lang="en-US" dirty="0" err="1">
                <a:latin typeface="Courier New" pitchFamily="49" charset="0"/>
                <a:cs typeface="Courier New" pitchFamily="49" charset="0"/>
              </a:rPr>
              <a:t>.toggle</a:t>
            </a:r>
            <a:r>
              <a:rPr lang="en-US" dirty="0">
                <a:latin typeface="Courier New" pitchFamily="49" charset="0"/>
                <a:cs typeface="Courier New" pitchFamily="49" charset="0"/>
              </a:rPr>
              <a:t>;</a:t>
            </a:r>
          </a:p>
          <a:p>
            <a:pPr marL="342900" indent="-342900"/>
            <a:r>
              <a:rPr lang="en-US" dirty="0">
                <a:latin typeface="Courier New" pitchFamily="49" charset="0"/>
                <a:cs typeface="Courier New" pitchFamily="49" charset="0"/>
              </a:rPr>
              <a:t> </a:t>
            </a:r>
            <a:r>
              <a:rPr lang="en-US" dirty="0" err="1">
                <a:solidFill>
                  <a:schemeClr val="tx1"/>
                </a:solidFill>
                <a:latin typeface="Courier New" pitchFamily="49" charset="0"/>
                <a:cs typeface="Courier New" pitchFamily="49" charset="0"/>
              </a:rPr>
              <a:t>this</a:t>
            </a:r>
            <a:r>
              <a:rPr lang="en-US" dirty="0" err="1">
                <a:latin typeface="Courier New" pitchFamily="49" charset="0"/>
                <a:cs typeface="Courier New" pitchFamily="49" charset="0"/>
              </a:rPr>
              <a:t>.toggle</a:t>
            </a:r>
            <a:r>
              <a:rPr lang="en-US" dirty="0">
                <a:latin typeface="Courier New" pitchFamily="49" charset="0"/>
                <a:cs typeface="Courier New" pitchFamily="49" charset="0"/>
              </a:rPr>
              <a:t> = !</a:t>
            </a:r>
            <a:r>
              <a:rPr lang="en-US" dirty="0" err="1">
                <a:solidFill>
                  <a:schemeClr val="tx1"/>
                </a:solidFill>
                <a:latin typeface="Courier New" pitchFamily="49" charset="0"/>
                <a:cs typeface="Courier New" pitchFamily="49" charset="0"/>
              </a:rPr>
              <a:t>this</a:t>
            </a:r>
            <a:r>
              <a:rPr lang="en-US" dirty="0" err="1">
                <a:latin typeface="Courier New" pitchFamily="49" charset="0"/>
                <a:cs typeface="Courier New" pitchFamily="49" charset="0"/>
              </a:rPr>
              <a:t>.toggle</a:t>
            </a:r>
            <a:r>
              <a:rPr lang="en-US" dirty="0">
                <a:latin typeface="Courier New" pitchFamily="49" charset="0"/>
                <a:cs typeface="Courier New" pitchFamily="49" charset="0"/>
              </a:rPr>
              <a:t>;</a:t>
            </a:r>
          </a:p>
          <a:p>
            <a:pPr marL="342900" indent="-342900"/>
            <a:r>
              <a:rPr lang="en-US" dirty="0">
                <a:latin typeface="Courier New" pitchFamily="49" charset="0"/>
                <a:cs typeface="Courier New" pitchFamily="49" charset="0"/>
              </a:rPr>
              <a:t> </a:t>
            </a:r>
            <a:r>
              <a:rPr lang="en-US" dirty="0">
                <a:solidFill>
                  <a:schemeClr val="tx1"/>
                </a:solidFill>
                <a:latin typeface="Courier New" pitchFamily="49" charset="0"/>
                <a:cs typeface="Courier New" pitchFamily="49" charset="0"/>
              </a:rPr>
              <a:t>return</a:t>
            </a:r>
            <a:r>
              <a:rPr lang="en-US" dirty="0">
                <a:latin typeface="Courier New" pitchFamily="49" charset="0"/>
                <a:cs typeface="Courier New" pitchFamily="49" charset="0"/>
              </a:rPr>
              <a:t> </a:t>
            </a:r>
            <a:r>
              <a:rPr lang="en-US" dirty="0" err="1">
                <a:latin typeface="Courier New" pitchFamily="49" charset="0"/>
                <a:cs typeface="Courier New" pitchFamily="49" charset="0"/>
              </a:rPr>
              <a:t>oldValue</a:t>
            </a:r>
            <a:r>
              <a:rPr lang="en-US" dirty="0">
                <a:latin typeface="Courier New" pitchFamily="49" charset="0"/>
                <a:cs typeface="Courier New" pitchFamily="49" charset="0"/>
              </a:rPr>
              <a:t>;</a:t>
            </a:r>
          </a:p>
          <a:p>
            <a:pPr marL="342900" indent="-342900"/>
            <a:r>
              <a:rPr lang="en-US" dirty="0">
                <a:solidFill>
                  <a:schemeClr val="folHlink"/>
                </a:solidFill>
                <a:latin typeface="Courier New" pitchFamily="49" charset="0"/>
                <a:cs typeface="Courier New" pitchFamily="49" charset="0"/>
              </a:rPr>
              <a:t>}</a:t>
            </a:r>
          </a:p>
        </p:txBody>
      </p:sp>
      <p:sp>
        <p:nvSpPr>
          <p:cNvPr id="145414" name="AutoShape 4"/>
          <p:cNvSpPr>
            <a:spLocks noChangeArrowheads="1"/>
          </p:cNvSpPr>
          <p:nvPr/>
        </p:nvSpPr>
        <p:spPr bwMode="auto">
          <a:xfrm>
            <a:off x="1447800" y="4114800"/>
            <a:ext cx="6176963" cy="1489075"/>
          </a:xfrm>
          <a:prstGeom prst="wedgeRoundRectCallout">
            <a:avLst>
              <a:gd name="adj1" fmla="val 23116"/>
              <a:gd name="adj2" fmla="val -115458"/>
              <a:gd name="adj3" fmla="val 16667"/>
            </a:avLst>
          </a:prstGeom>
          <a:noFill/>
          <a:ln w="38100" algn="ctr">
            <a:solidFill>
              <a:srgbClr val="FF0000"/>
            </a:solidFill>
            <a:miter lim="800000"/>
            <a:headEnd/>
            <a:tailEnd/>
          </a:ln>
        </p:spPr>
        <p:txBody>
          <a:bodyPr/>
          <a:lstStyle/>
          <a:p>
            <a:pPr marL="342900" indent="-342900" algn="ctr"/>
            <a:endParaRPr lang="en-US" dirty="0">
              <a:latin typeface="Courier New" pitchFamily="49" charset="0"/>
            </a:endParaRPr>
          </a:p>
        </p:txBody>
      </p:sp>
      <p:sp>
        <p:nvSpPr>
          <p:cNvPr id="145415" name="Text Box 5"/>
          <p:cNvSpPr txBox="1">
            <a:spLocks noChangeArrowheads="1"/>
          </p:cNvSpPr>
          <p:nvPr/>
        </p:nvSpPr>
        <p:spPr bwMode="auto">
          <a:xfrm>
            <a:off x="4628136" y="2665663"/>
            <a:ext cx="3392487" cy="461665"/>
          </a:xfrm>
          <a:prstGeom prst="rect">
            <a:avLst/>
          </a:prstGeom>
          <a:noFill/>
          <a:ln w="9525" algn="ctr">
            <a:noFill/>
            <a:miter lim="800000"/>
            <a:headEnd/>
            <a:tailEnd/>
          </a:ln>
        </p:spPr>
        <p:txBody>
          <a:bodyPr>
            <a:spAutoFit/>
          </a:bodyPr>
          <a:lstStyle/>
          <a:p>
            <a:pPr marL="342900" indent="-342900" algn="ctr"/>
            <a:r>
              <a:rPr lang="en-US" dirty="0" err="1">
                <a:solidFill>
                  <a:srgbClr val="FF0000"/>
                </a:solidFill>
                <a:latin typeface="Arial" pitchFamily="34" charset="0"/>
                <a:cs typeface="Arial" pitchFamily="34" charset="0"/>
              </a:rPr>
              <a:t>getAndComplement</a:t>
            </a:r>
            <a:endParaRPr lang="en-US" dirty="0">
              <a:solidFill>
                <a:srgbClr val="FF0000"/>
              </a:solidFill>
              <a:latin typeface="Arial" pitchFamily="34" charset="0"/>
              <a:cs typeface="Arial" pitchFamily="34"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82D4BA0-5266-4A02-A216-BFA3EF842075}" type="slidenum">
              <a:rPr lang="en-US"/>
              <a:pPr>
                <a:defRPr/>
              </a:pPr>
              <a:t>147</a:t>
            </a:fld>
            <a:endParaRPr lang="en-US"/>
          </a:p>
        </p:txBody>
      </p:sp>
      <p:sp>
        <p:nvSpPr>
          <p:cNvPr id="146436" name="Rectangle 2"/>
          <p:cNvSpPr>
            <a:spLocks noGrp="1" noChangeArrowheads="1"/>
          </p:cNvSpPr>
          <p:nvPr>
            <p:ph type="title"/>
          </p:nvPr>
        </p:nvSpPr>
        <p:spPr/>
        <p:txBody>
          <a:bodyPr/>
          <a:lstStyle/>
          <a:p>
            <a:r>
              <a:rPr lang="en-US" sz="4000"/>
              <a:t>Shared Memory Implementation</a:t>
            </a:r>
          </a:p>
        </p:txBody>
      </p:sp>
      <p:sp>
        <p:nvSpPr>
          <p:cNvPr id="146437" name="Rectangle 3"/>
          <p:cNvSpPr>
            <a:spLocks noChangeArrowheads="1"/>
          </p:cNvSpPr>
          <p:nvPr/>
        </p:nvSpPr>
        <p:spPr bwMode="auto">
          <a:xfrm>
            <a:off x="1447800" y="2057400"/>
            <a:ext cx="7153275" cy="4007251"/>
          </a:xfrm>
          <a:prstGeom prst="rect">
            <a:avLst/>
          </a:prstGeom>
          <a:solidFill>
            <a:srgbClr val="FFFFCC"/>
          </a:solidFill>
          <a:ln w="9525">
            <a:noFill/>
            <a:miter lim="800000"/>
            <a:headEnd/>
            <a:tailEnd/>
          </a:ln>
        </p:spPr>
        <p:txBody>
          <a:bodyPr>
            <a:spAutoFit/>
          </a:bodyPr>
          <a:lstStyle/>
          <a:p>
            <a:pPr marL="342900" indent="-342900"/>
            <a:r>
              <a:rPr lang="en-US" dirty="0">
                <a:latin typeface="Courier New" pitchFamily="49" charset="0"/>
                <a:cs typeface="Courier New" pitchFamily="49" charset="0"/>
              </a:rPr>
              <a:t>Balancer traverse (Balancer b) {</a:t>
            </a:r>
          </a:p>
          <a:p>
            <a:pPr marL="342900" indent="-342900"/>
            <a:r>
              <a:rPr lang="en-US" dirty="0">
                <a:solidFill>
                  <a:schemeClr val="tx1"/>
                </a:solidFill>
                <a:latin typeface="Courier New" pitchFamily="49" charset="0"/>
                <a:cs typeface="Courier New" pitchFamily="49" charset="0"/>
              </a:rPr>
              <a:t> while</a:t>
            </a:r>
            <a:r>
              <a:rPr lang="en-US" dirty="0">
                <a:latin typeface="Courier New" pitchFamily="49" charset="0"/>
                <a:cs typeface="Courier New" pitchFamily="49" charset="0"/>
              </a:rPr>
              <a:t>(!</a:t>
            </a:r>
            <a:r>
              <a:rPr lang="en-US" dirty="0" err="1">
                <a:latin typeface="Courier New" pitchFamily="49" charset="0"/>
                <a:cs typeface="Courier New" pitchFamily="49" charset="0"/>
              </a:rPr>
              <a:t>b.isLeaf</a:t>
            </a:r>
            <a:r>
              <a:rPr lang="en-US" dirty="0">
                <a:latin typeface="Courier New" pitchFamily="49" charset="0"/>
                <a:cs typeface="Courier New" pitchFamily="49" charset="0"/>
              </a:rPr>
              <a:t>()) { </a:t>
            </a:r>
            <a:r>
              <a:rPr lang="he-IL" dirty="0">
                <a:latin typeface="Courier New" pitchFamily="49" charset="0"/>
                <a:cs typeface="Courier New" pitchFamily="49" charset="0"/>
              </a:rPr>
              <a:t> </a:t>
            </a:r>
            <a:endParaRPr lang="en-US" dirty="0">
              <a:latin typeface="Courier New" pitchFamily="49" charset="0"/>
              <a:cs typeface="Courier New" pitchFamily="49" charset="0"/>
            </a:endParaRPr>
          </a:p>
          <a:p>
            <a:pPr marL="342900" indent="-342900"/>
            <a:r>
              <a:rPr lang="en-US" dirty="0">
                <a:latin typeface="Courier New" pitchFamily="49" charset="0"/>
                <a:cs typeface="Courier New" pitchFamily="49" charset="0"/>
              </a:rPr>
              <a:t>  </a:t>
            </a:r>
            <a:r>
              <a:rPr lang="en-US" dirty="0" err="1">
                <a:solidFill>
                  <a:schemeClr val="tx1"/>
                </a:solidFill>
                <a:latin typeface="Courier New" pitchFamily="49" charset="0"/>
                <a:cs typeface="Courier New" pitchFamily="49" charset="0"/>
              </a:rPr>
              <a:t>boolean</a:t>
            </a:r>
            <a:r>
              <a:rPr lang="en-US" dirty="0">
                <a:latin typeface="Courier New" pitchFamily="49" charset="0"/>
                <a:cs typeface="Courier New" pitchFamily="49" charset="0"/>
              </a:rPr>
              <a:t> toggle = </a:t>
            </a:r>
            <a:r>
              <a:rPr lang="en-US" dirty="0" err="1">
                <a:latin typeface="Courier New" pitchFamily="49" charset="0"/>
                <a:cs typeface="Courier New" pitchFamily="49" charset="0"/>
              </a:rPr>
              <a:t>b.flip</a:t>
            </a:r>
            <a:r>
              <a:rPr lang="en-US" dirty="0">
                <a:latin typeface="Courier New" pitchFamily="49" charset="0"/>
                <a:cs typeface="Courier New" pitchFamily="49" charset="0"/>
              </a:rPr>
              <a:t>();</a:t>
            </a:r>
            <a:r>
              <a:rPr lang="he-IL" dirty="0">
                <a:latin typeface="Courier New" pitchFamily="49" charset="0"/>
                <a:cs typeface="Courier New" pitchFamily="49" charset="0"/>
              </a:rPr>
              <a:t> </a:t>
            </a:r>
            <a:endParaRPr lang="en-US" dirty="0">
              <a:latin typeface="Courier New" pitchFamily="49" charset="0"/>
              <a:cs typeface="Courier New" pitchFamily="49" charset="0"/>
            </a:endParaRPr>
          </a:p>
          <a:p>
            <a:pPr marL="342900" indent="-342900"/>
            <a:r>
              <a:rPr lang="en-US" dirty="0">
                <a:latin typeface="Courier New" pitchFamily="49" charset="0"/>
                <a:cs typeface="Courier New" pitchFamily="49" charset="0"/>
              </a:rPr>
              <a:t>  </a:t>
            </a:r>
            <a:r>
              <a:rPr lang="en-US" dirty="0">
                <a:solidFill>
                  <a:schemeClr val="tx1"/>
                </a:solidFill>
                <a:latin typeface="Courier New" pitchFamily="49" charset="0"/>
                <a:cs typeface="Courier New" pitchFamily="49" charset="0"/>
              </a:rPr>
              <a:t>if</a:t>
            </a:r>
            <a:r>
              <a:rPr lang="en-US" dirty="0">
                <a:latin typeface="Courier New" pitchFamily="49" charset="0"/>
                <a:cs typeface="Courier New" pitchFamily="49" charset="0"/>
              </a:rPr>
              <a:t> (toggle)</a:t>
            </a:r>
          </a:p>
          <a:p>
            <a:pPr marL="342900" indent="-342900"/>
            <a:r>
              <a:rPr lang="en-US" dirty="0">
                <a:latin typeface="Courier New" pitchFamily="49" charset="0"/>
                <a:cs typeface="Courier New" pitchFamily="49" charset="0"/>
              </a:rPr>
              <a:t>    b = </a:t>
            </a:r>
            <a:r>
              <a:rPr lang="en-US" dirty="0" err="1">
                <a:latin typeface="Courier New" pitchFamily="49" charset="0"/>
                <a:cs typeface="Courier New" pitchFamily="49" charset="0"/>
              </a:rPr>
              <a:t>b.next</a:t>
            </a:r>
            <a:r>
              <a:rPr lang="en-US" dirty="0">
                <a:latin typeface="Courier New" pitchFamily="49" charset="0"/>
                <a:cs typeface="Courier New" pitchFamily="49" charset="0"/>
              </a:rPr>
              <a:t>[0]</a:t>
            </a:r>
          </a:p>
          <a:p>
            <a:pPr marL="342900" indent="-342900"/>
            <a:r>
              <a:rPr lang="en-US" dirty="0">
                <a:latin typeface="Courier New" pitchFamily="49" charset="0"/>
                <a:cs typeface="Courier New" pitchFamily="49" charset="0"/>
              </a:rPr>
              <a:t>  </a:t>
            </a:r>
            <a:r>
              <a:rPr lang="en-US" dirty="0">
                <a:solidFill>
                  <a:schemeClr val="tx1"/>
                </a:solidFill>
                <a:latin typeface="Courier New" pitchFamily="49" charset="0"/>
                <a:cs typeface="Courier New" pitchFamily="49" charset="0"/>
              </a:rPr>
              <a:t>else</a:t>
            </a:r>
          </a:p>
          <a:p>
            <a:pPr marL="342900" indent="-342900"/>
            <a:r>
              <a:rPr lang="en-US" dirty="0">
                <a:latin typeface="Courier New" pitchFamily="49" charset="0"/>
                <a:cs typeface="Courier New" pitchFamily="49" charset="0"/>
              </a:rPr>
              <a:t>    b = </a:t>
            </a:r>
            <a:r>
              <a:rPr lang="en-US" dirty="0" err="1">
                <a:latin typeface="Courier New" pitchFamily="49" charset="0"/>
                <a:cs typeface="Courier New" pitchFamily="49" charset="0"/>
              </a:rPr>
              <a:t>b.next</a:t>
            </a:r>
            <a:r>
              <a:rPr lang="en-US" dirty="0">
                <a:latin typeface="Courier New" pitchFamily="49" charset="0"/>
                <a:cs typeface="Courier New" pitchFamily="49" charset="0"/>
              </a:rPr>
              <a:t>[1]</a:t>
            </a:r>
          </a:p>
          <a:p>
            <a:pPr marL="342900" indent="-342900"/>
            <a:r>
              <a:rPr lang="en-US" dirty="0">
                <a:solidFill>
                  <a:schemeClr val="tx1"/>
                </a:solidFill>
                <a:latin typeface="Courier New" pitchFamily="49" charset="0"/>
                <a:cs typeface="Courier New" pitchFamily="49" charset="0"/>
              </a:rPr>
              <a:t>  return</a:t>
            </a:r>
            <a:r>
              <a:rPr lang="en-US" dirty="0">
                <a:latin typeface="Courier New" pitchFamily="49" charset="0"/>
                <a:cs typeface="Courier New" pitchFamily="49" charset="0"/>
              </a:rPr>
              <a:t> b;</a:t>
            </a:r>
          </a:p>
          <a:p>
            <a:pPr marL="342900" indent="-342900"/>
            <a:r>
              <a:rPr lang="en-US" dirty="0">
                <a:latin typeface="Courier New" pitchFamily="49" charset="0"/>
                <a:cs typeface="Courier New" pitchFamily="49" charset="0"/>
              </a:rPr>
              <a:t>}</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B8F9BECD-CB86-42E4-8ECE-66FACAE0417D}" type="slidenum">
              <a:rPr lang="en-US"/>
              <a:pPr>
                <a:defRPr/>
              </a:pPr>
              <a:t>148</a:t>
            </a:fld>
            <a:endParaRPr lang="en-US"/>
          </a:p>
        </p:txBody>
      </p:sp>
      <p:sp>
        <p:nvSpPr>
          <p:cNvPr id="147460" name="Rectangle 2"/>
          <p:cNvSpPr>
            <a:spLocks noGrp="1" noChangeArrowheads="1"/>
          </p:cNvSpPr>
          <p:nvPr>
            <p:ph type="title"/>
          </p:nvPr>
        </p:nvSpPr>
        <p:spPr/>
        <p:txBody>
          <a:bodyPr/>
          <a:lstStyle/>
          <a:p>
            <a:r>
              <a:rPr lang="en-US" sz="4000"/>
              <a:t>Shared Memory Implementation</a:t>
            </a:r>
          </a:p>
        </p:txBody>
      </p:sp>
      <p:sp>
        <p:nvSpPr>
          <p:cNvPr id="147461" name="Rectangle 3"/>
          <p:cNvSpPr>
            <a:spLocks noChangeArrowheads="1"/>
          </p:cNvSpPr>
          <p:nvPr/>
        </p:nvSpPr>
        <p:spPr bwMode="auto">
          <a:xfrm>
            <a:off x="1447800" y="2057400"/>
            <a:ext cx="7153275" cy="4007251"/>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cs typeface="Courier New" pitchFamily="49" charset="0"/>
              </a:rPr>
              <a:t>Balancer traverse (Balancer b) {</a:t>
            </a:r>
          </a:p>
          <a:p>
            <a:pPr marL="342900" indent="-342900"/>
            <a:r>
              <a:rPr lang="en-US" dirty="0">
                <a:solidFill>
                  <a:schemeClr val="tx1"/>
                </a:solidFill>
                <a:latin typeface="Courier New" pitchFamily="49" charset="0"/>
                <a:cs typeface="Courier New" pitchFamily="49" charset="0"/>
              </a:rPr>
              <a:t> while</a:t>
            </a:r>
            <a:r>
              <a:rPr lang="en-US" dirty="0">
                <a:latin typeface="Courier New" pitchFamily="49" charset="0"/>
                <a:cs typeface="Courier New" pitchFamily="49" charset="0"/>
              </a:rPr>
              <a:t>(!</a:t>
            </a:r>
            <a:r>
              <a:rPr lang="en-US" dirty="0" err="1">
                <a:latin typeface="Courier New" pitchFamily="49" charset="0"/>
                <a:cs typeface="Courier New" pitchFamily="49" charset="0"/>
              </a:rPr>
              <a:t>b.isLeaf</a:t>
            </a:r>
            <a:r>
              <a:rPr lang="en-US" dirty="0">
                <a:latin typeface="Courier New" pitchFamily="49" charset="0"/>
                <a:cs typeface="Courier New" pitchFamily="49" charset="0"/>
              </a:rPr>
              <a:t>()) { </a:t>
            </a:r>
            <a:r>
              <a:rPr lang="he-IL" dirty="0">
                <a:latin typeface="Courier New" pitchFamily="49" charset="0"/>
                <a:cs typeface="Courier New" pitchFamily="49" charset="0"/>
              </a:rPr>
              <a:t> </a:t>
            </a:r>
            <a:endParaRPr lang="en-US" dirty="0">
              <a:latin typeface="Courier New" pitchFamily="49" charset="0"/>
              <a:cs typeface="Courier New" pitchFamily="49" charset="0"/>
            </a:endParaRPr>
          </a:p>
          <a:p>
            <a:pPr marL="342900" indent="-342900"/>
            <a:r>
              <a:rPr lang="en-US" dirty="0">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toggle = </a:t>
            </a:r>
            <a:r>
              <a:rPr lang="en-US" dirty="0" err="1">
                <a:solidFill>
                  <a:schemeClr val="folHlink"/>
                </a:solidFill>
                <a:latin typeface="Courier New" pitchFamily="49" charset="0"/>
                <a:cs typeface="Courier New" pitchFamily="49" charset="0"/>
              </a:rPr>
              <a:t>b.flip</a:t>
            </a:r>
            <a:r>
              <a:rPr lang="en-US" dirty="0">
                <a:solidFill>
                  <a:schemeClr val="folHlink"/>
                </a:solidFill>
                <a:latin typeface="Courier New" pitchFamily="49" charset="0"/>
                <a:cs typeface="Courier New" pitchFamily="49" charset="0"/>
              </a:rPr>
              <a:t>();</a:t>
            </a:r>
            <a:r>
              <a:rPr lang="he-IL" dirty="0">
                <a:solidFill>
                  <a:schemeClr val="folHlink"/>
                </a:solidFill>
                <a:latin typeface="Courier New" pitchFamily="49" charset="0"/>
                <a:cs typeface="Courier New" pitchFamily="49" charset="0"/>
              </a:rPr>
              <a:t> </a:t>
            </a:r>
            <a:endParaRPr lang="en-US" dirty="0">
              <a:solidFill>
                <a:schemeClr val="folHlink"/>
              </a:solidFill>
              <a:latin typeface="Courier New" pitchFamily="49" charset="0"/>
              <a:cs typeface="Courier New" pitchFamily="49" charset="0"/>
            </a:endParaRPr>
          </a:p>
          <a:p>
            <a:pPr marL="342900" indent="-342900"/>
            <a:r>
              <a:rPr lang="en-US" dirty="0">
                <a:solidFill>
                  <a:schemeClr val="folHlink"/>
                </a:solidFill>
                <a:latin typeface="Courier New" pitchFamily="49" charset="0"/>
                <a:cs typeface="Courier New" pitchFamily="49" charset="0"/>
              </a:rPr>
              <a:t>  if (toggle)</a:t>
            </a:r>
          </a:p>
          <a:p>
            <a:pPr marL="342900" indent="-342900"/>
            <a:r>
              <a:rPr lang="en-US" dirty="0">
                <a:solidFill>
                  <a:schemeClr val="folHlink"/>
                </a:solidFill>
                <a:latin typeface="Courier New" pitchFamily="49" charset="0"/>
                <a:cs typeface="Courier New" pitchFamily="49" charset="0"/>
              </a:rPr>
              <a:t>    b = </a:t>
            </a:r>
            <a:r>
              <a:rPr lang="en-US" dirty="0" err="1">
                <a:solidFill>
                  <a:schemeClr val="folHlink"/>
                </a:solidFill>
                <a:latin typeface="Courier New" pitchFamily="49" charset="0"/>
                <a:cs typeface="Courier New" pitchFamily="49" charset="0"/>
              </a:rPr>
              <a:t>b.next</a:t>
            </a:r>
            <a:r>
              <a:rPr lang="en-US" dirty="0">
                <a:solidFill>
                  <a:schemeClr val="folHlink"/>
                </a:solidFill>
                <a:latin typeface="Courier New" pitchFamily="49" charset="0"/>
                <a:cs typeface="Courier New" pitchFamily="49" charset="0"/>
              </a:rPr>
              <a:t>[0]</a:t>
            </a:r>
          </a:p>
          <a:p>
            <a:pPr marL="342900" indent="-342900"/>
            <a:r>
              <a:rPr lang="en-US" dirty="0">
                <a:solidFill>
                  <a:schemeClr val="folHlink"/>
                </a:solidFill>
                <a:latin typeface="Courier New" pitchFamily="49" charset="0"/>
                <a:cs typeface="Courier New" pitchFamily="49" charset="0"/>
              </a:rPr>
              <a:t>  else</a:t>
            </a:r>
          </a:p>
          <a:p>
            <a:pPr marL="342900" indent="-342900"/>
            <a:r>
              <a:rPr lang="en-US" dirty="0">
                <a:solidFill>
                  <a:schemeClr val="folHlink"/>
                </a:solidFill>
                <a:latin typeface="Courier New" pitchFamily="49" charset="0"/>
                <a:cs typeface="Courier New" pitchFamily="49" charset="0"/>
              </a:rPr>
              <a:t>    b = </a:t>
            </a:r>
            <a:r>
              <a:rPr lang="en-US" dirty="0" err="1">
                <a:solidFill>
                  <a:schemeClr val="folHlink"/>
                </a:solidFill>
                <a:latin typeface="Courier New" pitchFamily="49" charset="0"/>
                <a:cs typeface="Courier New" pitchFamily="49" charset="0"/>
              </a:rPr>
              <a:t>b.next</a:t>
            </a:r>
            <a:r>
              <a:rPr lang="en-US" dirty="0">
                <a:solidFill>
                  <a:schemeClr val="folHlink"/>
                </a:solidFill>
                <a:latin typeface="Courier New" pitchFamily="49" charset="0"/>
                <a:cs typeface="Courier New" pitchFamily="49" charset="0"/>
              </a:rPr>
              <a:t>[1]</a:t>
            </a:r>
          </a:p>
          <a:p>
            <a:pPr marL="342900" indent="-342900"/>
            <a:r>
              <a:rPr lang="en-US" dirty="0">
                <a:solidFill>
                  <a:schemeClr val="folHlink"/>
                </a:solidFill>
                <a:latin typeface="Courier New" pitchFamily="49" charset="0"/>
                <a:cs typeface="Courier New" pitchFamily="49" charset="0"/>
              </a:rPr>
              <a:t>  return b;</a:t>
            </a:r>
          </a:p>
          <a:p>
            <a:pPr marL="342900" indent="-342900"/>
            <a:r>
              <a:rPr lang="en-US" dirty="0">
                <a:solidFill>
                  <a:schemeClr val="folHlink"/>
                </a:solidFill>
                <a:latin typeface="Courier New" pitchFamily="49" charset="0"/>
                <a:cs typeface="Courier New" pitchFamily="49" charset="0"/>
              </a:rPr>
              <a:t>}</a:t>
            </a:r>
          </a:p>
        </p:txBody>
      </p:sp>
      <p:sp>
        <p:nvSpPr>
          <p:cNvPr id="147462" name="AutoShape 4"/>
          <p:cNvSpPr>
            <a:spLocks noChangeArrowheads="1"/>
          </p:cNvSpPr>
          <p:nvPr/>
        </p:nvSpPr>
        <p:spPr bwMode="auto">
          <a:xfrm>
            <a:off x="1271588" y="2444750"/>
            <a:ext cx="4451350" cy="622300"/>
          </a:xfrm>
          <a:prstGeom prst="wedgeRoundRectCallout">
            <a:avLst>
              <a:gd name="adj1" fmla="val 39514"/>
              <a:gd name="adj2" fmla="val 196171"/>
              <a:gd name="adj3" fmla="val 16667"/>
            </a:avLst>
          </a:prstGeom>
          <a:noFill/>
          <a:ln w="38100" algn="ctr">
            <a:solidFill>
              <a:srgbClr val="FF0000"/>
            </a:solidFill>
            <a:miter lim="800000"/>
            <a:headEnd/>
            <a:tailEnd/>
          </a:ln>
        </p:spPr>
        <p:txBody>
          <a:bodyPr/>
          <a:lstStyle/>
          <a:p>
            <a:pPr marL="342900" indent="-342900" algn="ctr"/>
            <a:endParaRPr lang="en-US" dirty="0">
              <a:latin typeface="Courier New" pitchFamily="49" charset="0"/>
            </a:endParaRPr>
          </a:p>
        </p:txBody>
      </p:sp>
      <p:sp>
        <p:nvSpPr>
          <p:cNvPr id="147463" name="Text Box 5"/>
          <p:cNvSpPr txBox="1">
            <a:spLocks noChangeArrowheads="1"/>
          </p:cNvSpPr>
          <p:nvPr/>
        </p:nvSpPr>
        <p:spPr bwMode="auto">
          <a:xfrm>
            <a:off x="3124200" y="3986213"/>
            <a:ext cx="5057775" cy="457200"/>
          </a:xfrm>
          <a:prstGeom prst="rect">
            <a:avLst/>
          </a:prstGeom>
          <a:noFill/>
          <a:ln w="9525" algn="ctr">
            <a:noFill/>
            <a:miter lim="800000"/>
            <a:headEnd/>
            <a:tailEnd/>
          </a:ln>
        </p:spPr>
        <p:txBody>
          <a:bodyPr>
            <a:spAutoFit/>
          </a:bodyPr>
          <a:lstStyle/>
          <a:p>
            <a:pPr marL="342900" indent="-342900" algn="ctr"/>
            <a:r>
              <a:rPr lang="en-US" dirty="0">
                <a:solidFill>
                  <a:srgbClr val="FF0000"/>
                </a:solidFill>
                <a:latin typeface="Arial" pitchFamily="34" charset="0"/>
                <a:cs typeface="Arial" pitchFamily="34" charset="0"/>
              </a:rPr>
              <a:t>Stop when we exit the network</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06F1ADC6-18B0-4B54-877F-ACF631FE7B1D}" type="slidenum">
              <a:rPr lang="en-US"/>
              <a:pPr>
                <a:defRPr/>
              </a:pPr>
              <a:t>149</a:t>
            </a:fld>
            <a:endParaRPr lang="en-US"/>
          </a:p>
        </p:txBody>
      </p:sp>
      <p:sp>
        <p:nvSpPr>
          <p:cNvPr id="148484" name="Rectangle 2"/>
          <p:cNvSpPr>
            <a:spLocks noGrp="1" noChangeArrowheads="1"/>
          </p:cNvSpPr>
          <p:nvPr>
            <p:ph type="title"/>
          </p:nvPr>
        </p:nvSpPr>
        <p:spPr/>
        <p:txBody>
          <a:bodyPr/>
          <a:lstStyle/>
          <a:p>
            <a:r>
              <a:rPr lang="en-US" sz="4000"/>
              <a:t>Shared Memory Implementation</a:t>
            </a:r>
          </a:p>
        </p:txBody>
      </p:sp>
      <p:sp>
        <p:nvSpPr>
          <p:cNvPr id="148485" name="Rectangle 3"/>
          <p:cNvSpPr>
            <a:spLocks noChangeArrowheads="1"/>
          </p:cNvSpPr>
          <p:nvPr/>
        </p:nvSpPr>
        <p:spPr bwMode="auto">
          <a:xfrm>
            <a:off x="1447800" y="2057400"/>
            <a:ext cx="7153275" cy="4007251"/>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cs typeface="Courier New" pitchFamily="49" charset="0"/>
              </a:rPr>
              <a:t>Balancer traverse (Balancer b) {</a:t>
            </a:r>
          </a:p>
          <a:p>
            <a:pPr marL="342900" indent="-342900"/>
            <a:r>
              <a:rPr lang="en-US" dirty="0">
                <a:solidFill>
                  <a:schemeClr val="folHlink"/>
                </a:solidFill>
                <a:latin typeface="Courier New" pitchFamily="49" charset="0"/>
                <a:cs typeface="Courier New" pitchFamily="49" charset="0"/>
              </a:rPr>
              <a:t> while(!</a:t>
            </a:r>
            <a:r>
              <a:rPr lang="en-US" dirty="0" err="1">
                <a:solidFill>
                  <a:schemeClr val="folHlink"/>
                </a:solidFill>
                <a:latin typeface="Courier New" pitchFamily="49" charset="0"/>
                <a:cs typeface="Courier New" pitchFamily="49" charset="0"/>
              </a:rPr>
              <a:t>b.isLeaf</a:t>
            </a:r>
            <a:r>
              <a:rPr lang="en-US" dirty="0">
                <a:solidFill>
                  <a:schemeClr val="folHlink"/>
                </a:solidFill>
                <a:latin typeface="Courier New" pitchFamily="49" charset="0"/>
                <a:cs typeface="Courier New" pitchFamily="49" charset="0"/>
              </a:rPr>
              <a:t>()) {</a:t>
            </a:r>
            <a:r>
              <a:rPr lang="en-US" dirty="0">
                <a:latin typeface="Courier New" pitchFamily="49" charset="0"/>
                <a:cs typeface="Courier New" pitchFamily="49" charset="0"/>
              </a:rPr>
              <a:t> </a:t>
            </a:r>
            <a:r>
              <a:rPr lang="he-IL" dirty="0">
                <a:latin typeface="Courier New" pitchFamily="49" charset="0"/>
                <a:cs typeface="Courier New" pitchFamily="49" charset="0"/>
              </a:rPr>
              <a:t> </a:t>
            </a:r>
            <a:endParaRPr lang="en-US" dirty="0">
              <a:latin typeface="Courier New" pitchFamily="49" charset="0"/>
              <a:cs typeface="Courier New" pitchFamily="49" charset="0"/>
            </a:endParaRPr>
          </a:p>
          <a:p>
            <a:pPr marL="342900" indent="-342900"/>
            <a:r>
              <a:rPr lang="en-US" dirty="0">
                <a:latin typeface="Courier New" pitchFamily="49" charset="0"/>
                <a:cs typeface="Courier New" pitchFamily="49" charset="0"/>
              </a:rPr>
              <a:t>  </a:t>
            </a:r>
            <a:r>
              <a:rPr lang="en-US" dirty="0" err="1">
                <a:solidFill>
                  <a:schemeClr val="tx1"/>
                </a:solidFill>
                <a:latin typeface="Courier New" pitchFamily="49" charset="0"/>
                <a:cs typeface="Courier New" pitchFamily="49" charset="0"/>
              </a:rPr>
              <a:t>boolean</a:t>
            </a:r>
            <a:r>
              <a:rPr lang="en-US" dirty="0">
                <a:latin typeface="Courier New" pitchFamily="49" charset="0"/>
                <a:cs typeface="Courier New" pitchFamily="49" charset="0"/>
              </a:rPr>
              <a:t> toggle = </a:t>
            </a:r>
            <a:r>
              <a:rPr lang="en-US" dirty="0" err="1">
                <a:latin typeface="Courier New" pitchFamily="49" charset="0"/>
                <a:cs typeface="Courier New" pitchFamily="49" charset="0"/>
              </a:rPr>
              <a:t>b.flip</a:t>
            </a:r>
            <a:r>
              <a:rPr lang="en-US" dirty="0">
                <a:latin typeface="Courier New" pitchFamily="49" charset="0"/>
                <a:cs typeface="Courier New" pitchFamily="49" charset="0"/>
              </a:rPr>
              <a:t>();</a:t>
            </a:r>
            <a:r>
              <a:rPr lang="he-IL" dirty="0">
                <a:latin typeface="Courier New" pitchFamily="49" charset="0"/>
                <a:cs typeface="Courier New" pitchFamily="49" charset="0"/>
              </a:rPr>
              <a:t> </a:t>
            </a:r>
            <a:endParaRPr lang="en-US" dirty="0">
              <a:latin typeface="Courier New" pitchFamily="49" charset="0"/>
              <a:cs typeface="Courier New" pitchFamily="49" charset="0"/>
            </a:endParaRPr>
          </a:p>
          <a:p>
            <a:pPr marL="342900" indent="-342900"/>
            <a:r>
              <a:rPr lang="en-US" dirty="0">
                <a:latin typeface="Courier New" pitchFamily="49" charset="0"/>
                <a:cs typeface="Courier New" pitchFamily="49" charset="0"/>
              </a:rPr>
              <a:t>  </a:t>
            </a:r>
            <a:r>
              <a:rPr lang="en-US" dirty="0">
                <a:solidFill>
                  <a:schemeClr val="folHlink"/>
                </a:solidFill>
                <a:latin typeface="Courier New" pitchFamily="49" charset="0"/>
                <a:cs typeface="Courier New" pitchFamily="49" charset="0"/>
              </a:rPr>
              <a:t>if (toggle)</a:t>
            </a:r>
          </a:p>
          <a:p>
            <a:pPr marL="342900" indent="-342900"/>
            <a:r>
              <a:rPr lang="en-US" dirty="0">
                <a:solidFill>
                  <a:schemeClr val="folHlink"/>
                </a:solidFill>
                <a:latin typeface="Courier New" pitchFamily="49" charset="0"/>
                <a:cs typeface="Courier New" pitchFamily="49" charset="0"/>
              </a:rPr>
              <a:t>    b = </a:t>
            </a:r>
            <a:r>
              <a:rPr lang="en-US" dirty="0" err="1">
                <a:solidFill>
                  <a:schemeClr val="folHlink"/>
                </a:solidFill>
                <a:latin typeface="Courier New" pitchFamily="49" charset="0"/>
                <a:cs typeface="Courier New" pitchFamily="49" charset="0"/>
              </a:rPr>
              <a:t>b.next</a:t>
            </a:r>
            <a:r>
              <a:rPr lang="en-US" dirty="0">
                <a:solidFill>
                  <a:schemeClr val="folHlink"/>
                </a:solidFill>
                <a:latin typeface="Courier New" pitchFamily="49" charset="0"/>
                <a:cs typeface="Courier New" pitchFamily="49" charset="0"/>
              </a:rPr>
              <a:t>[0]</a:t>
            </a:r>
          </a:p>
          <a:p>
            <a:pPr marL="342900" indent="-342900"/>
            <a:r>
              <a:rPr lang="en-US" dirty="0">
                <a:solidFill>
                  <a:schemeClr val="folHlink"/>
                </a:solidFill>
                <a:latin typeface="Courier New" pitchFamily="49" charset="0"/>
                <a:cs typeface="Courier New" pitchFamily="49" charset="0"/>
              </a:rPr>
              <a:t>  else</a:t>
            </a:r>
          </a:p>
          <a:p>
            <a:pPr marL="342900" indent="-342900"/>
            <a:r>
              <a:rPr lang="en-US" dirty="0">
                <a:solidFill>
                  <a:schemeClr val="folHlink"/>
                </a:solidFill>
                <a:latin typeface="Courier New" pitchFamily="49" charset="0"/>
                <a:cs typeface="Courier New" pitchFamily="49" charset="0"/>
              </a:rPr>
              <a:t>    b = </a:t>
            </a:r>
            <a:r>
              <a:rPr lang="en-US" dirty="0" err="1">
                <a:solidFill>
                  <a:schemeClr val="folHlink"/>
                </a:solidFill>
                <a:latin typeface="Courier New" pitchFamily="49" charset="0"/>
                <a:cs typeface="Courier New" pitchFamily="49" charset="0"/>
              </a:rPr>
              <a:t>b.next</a:t>
            </a:r>
            <a:r>
              <a:rPr lang="en-US" dirty="0">
                <a:solidFill>
                  <a:schemeClr val="folHlink"/>
                </a:solidFill>
                <a:latin typeface="Courier New" pitchFamily="49" charset="0"/>
                <a:cs typeface="Courier New" pitchFamily="49" charset="0"/>
              </a:rPr>
              <a:t>[1]</a:t>
            </a:r>
          </a:p>
          <a:p>
            <a:pPr marL="342900" indent="-342900"/>
            <a:r>
              <a:rPr lang="en-US" dirty="0">
                <a:solidFill>
                  <a:schemeClr val="folHlink"/>
                </a:solidFill>
                <a:latin typeface="Courier New" pitchFamily="49" charset="0"/>
                <a:cs typeface="Courier New" pitchFamily="49" charset="0"/>
              </a:rPr>
              <a:t>  return b;</a:t>
            </a:r>
          </a:p>
          <a:p>
            <a:pPr marL="342900" indent="-342900"/>
            <a:r>
              <a:rPr lang="en-US" dirty="0">
                <a:solidFill>
                  <a:schemeClr val="folHlink"/>
                </a:solidFill>
                <a:latin typeface="Courier New" pitchFamily="49" charset="0"/>
                <a:cs typeface="Courier New" pitchFamily="49" charset="0"/>
              </a:rPr>
              <a:t>}</a:t>
            </a:r>
          </a:p>
        </p:txBody>
      </p:sp>
      <p:sp>
        <p:nvSpPr>
          <p:cNvPr id="148486" name="AutoShape 4"/>
          <p:cNvSpPr>
            <a:spLocks noChangeArrowheads="1"/>
          </p:cNvSpPr>
          <p:nvPr/>
        </p:nvSpPr>
        <p:spPr bwMode="auto">
          <a:xfrm>
            <a:off x="1771650" y="2867025"/>
            <a:ext cx="5145088" cy="622300"/>
          </a:xfrm>
          <a:prstGeom prst="wedgeRoundRectCallout">
            <a:avLst>
              <a:gd name="adj1" fmla="val 27444"/>
              <a:gd name="adj2" fmla="val 196171"/>
              <a:gd name="adj3" fmla="val 16667"/>
            </a:avLst>
          </a:prstGeom>
          <a:noFill/>
          <a:ln w="38100" algn="ctr">
            <a:solidFill>
              <a:srgbClr val="FF0000"/>
            </a:solidFill>
            <a:miter lim="800000"/>
            <a:headEnd/>
            <a:tailEnd/>
          </a:ln>
        </p:spPr>
        <p:txBody>
          <a:bodyPr/>
          <a:lstStyle/>
          <a:p>
            <a:pPr marL="342900" indent="-342900" algn="ctr"/>
            <a:endParaRPr lang="en-US" dirty="0">
              <a:latin typeface="Courier New" pitchFamily="49" charset="0"/>
            </a:endParaRPr>
          </a:p>
        </p:txBody>
      </p:sp>
      <p:sp>
        <p:nvSpPr>
          <p:cNvPr id="148487" name="Text Box 5"/>
          <p:cNvSpPr txBox="1">
            <a:spLocks noChangeArrowheads="1"/>
          </p:cNvSpPr>
          <p:nvPr/>
        </p:nvSpPr>
        <p:spPr bwMode="auto">
          <a:xfrm>
            <a:off x="5065713" y="4398963"/>
            <a:ext cx="2470150" cy="457200"/>
          </a:xfrm>
          <a:prstGeom prst="rect">
            <a:avLst/>
          </a:prstGeom>
          <a:noFill/>
          <a:ln w="9525" algn="ctr">
            <a:noFill/>
            <a:miter lim="800000"/>
            <a:headEnd/>
            <a:tailEnd/>
          </a:ln>
        </p:spPr>
        <p:txBody>
          <a:bodyPr>
            <a:spAutoFit/>
          </a:bodyPr>
          <a:lstStyle/>
          <a:p>
            <a:pPr marL="342900" indent="-342900" algn="ctr"/>
            <a:r>
              <a:rPr lang="en-US" dirty="0">
                <a:solidFill>
                  <a:srgbClr val="FF0000"/>
                </a:solidFill>
                <a:latin typeface="Arial" pitchFamily="34" charset="0"/>
                <a:cs typeface="Arial" pitchFamily="34" charset="0"/>
              </a:rPr>
              <a:t>Flip state</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BE82C746-2843-4F41-8CE2-06BBF2369A80}" type="slidenum">
              <a:rPr lang="en-US"/>
              <a:pPr>
                <a:defRPr/>
              </a:pPr>
              <a:t>150</a:t>
            </a:fld>
            <a:endParaRPr lang="en-US"/>
          </a:p>
        </p:txBody>
      </p:sp>
      <p:sp>
        <p:nvSpPr>
          <p:cNvPr id="149508" name="Rectangle 2"/>
          <p:cNvSpPr>
            <a:spLocks noGrp="1" noChangeArrowheads="1"/>
          </p:cNvSpPr>
          <p:nvPr>
            <p:ph type="title"/>
          </p:nvPr>
        </p:nvSpPr>
        <p:spPr/>
        <p:txBody>
          <a:bodyPr/>
          <a:lstStyle/>
          <a:p>
            <a:r>
              <a:rPr lang="en-US" sz="4000"/>
              <a:t>Shared Memory Implementation</a:t>
            </a:r>
          </a:p>
        </p:txBody>
      </p:sp>
      <p:sp>
        <p:nvSpPr>
          <p:cNvPr id="149509" name="Rectangle 3"/>
          <p:cNvSpPr>
            <a:spLocks noChangeArrowheads="1"/>
          </p:cNvSpPr>
          <p:nvPr/>
        </p:nvSpPr>
        <p:spPr bwMode="auto">
          <a:xfrm>
            <a:off x="1447800" y="2057400"/>
            <a:ext cx="7153275" cy="4007251"/>
          </a:xfrm>
          <a:prstGeom prst="rect">
            <a:avLst/>
          </a:prstGeom>
          <a:solidFill>
            <a:srgbClr val="FFFFCC"/>
          </a:solidFill>
          <a:ln w="9525">
            <a:noFill/>
            <a:miter lim="800000"/>
            <a:headEnd/>
            <a:tailEnd/>
          </a:ln>
        </p:spPr>
        <p:txBody>
          <a:bodyPr>
            <a:spAutoFit/>
          </a:bodyPr>
          <a:lstStyle/>
          <a:p>
            <a:pPr marL="342900" indent="-342900"/>
            <a:r>
              <a:rPr lang="en-US" dirty="0">
                <a:solidFill>
                  <a:schemeClr val="folHlink"/>
                </a:solidFill>
                <a:latin typeface="Courier New" pitchFamily="49" charset="0"/>
                <a:cs typeface="Courier New" pitchFamily="49" charset="0"/>
              </a:rPr>
              <a:t>Balancer traverse (Balancer b) {</a:t>
            </a:r>
          </a:p>
          <a:p>
            <a:pPr marL="342900" indent="-342900"/>
            <a:r>
              <a:rPr lang="en-US" dirty="0">
                <a:solidFill>
                  <a:schemeClr val="folHlink"/>
                </a:solidFill>
                <a:latin typeface="Courier New" pitchFamily="49" charset="0"/>
                <a:cs typeface="Courier New" pitchFamily="49" charset="0"/>
              </a:rPr>
              <a:t> while(!</a:t>
            </a:r>
            <a:r>
              <a:rPr lang="en-US" dirty="0" err="1">
                <a:solidFill>
                  <a:schemeClr val="folHlink"/>
                </a:solidFill>
                <a:latin typeface="Courier New" pitchFamily="49" charset="0"/>
                <a:cs typeface="Courier New" pitchFamily="49" charset="0"/>
              </a:rPr>
              <a:t>b.isLeaf</a:t>
            </a:r>
            <a:r>
              <a:rPr lang="en-US" dirty="0">
                <a:solidFill>
                  <a:schemeClr val="folHlink"/>
                </a:solidFill>
                <a:latin typeface="Courier New" pitchFamily="49" charset="0"/>
                <a:cs typeface="Courier New" pitchFamily="49" charset="0"/>
              </a:rPr>
              <a:t>()) { </a:t>
            </a:r>
            <a:r>
              <a:rPr lang="he-IL" dirty="0">
                <a:solidFill>
                  <a:schemeClr val="folHlink"/>
                </a:solidFill>
                <a:latin typeface="Courier New" pitchFamily="49" charset="0"/>
                <a:cs typeface="Courier New" pitchFamily="49" charset="0"/>
              </a:rPr>
              <a:t> </a:t>
            </a:r>
            <a:endParaRPr lang="en-US" dirty="0">
              <a:solidFill>
                <a:schemeClr val="folHlink"/>
              </a:solidFill>
              <a:latin typeface="Courier New" pitchFamily="49" charset="0"/>
              <a:cs typeface="Courier New" pitchFamily="49" charset="0"/>
            </a:endParaRPr>
          </a:p>
          <a:p>
            <a:pPr marL="342900" indent="-342900"/>
            <a:r>
              <a:rPr lang="en-US" dirty="0">
                <a:solidFill>
                  <a:schemeClr val="folHlink"/>
                </a:solidFill>
                <a:latin typeface="Courier New" pitchFamily="49" charset="0"/>
                <a:cs typeface="Courier New" pitchFamily="49" charset="0"/>
              </a:rPr>
              <a:t>  </a:t>
            </a:r>
            <a:r>
              <a:rPr lang="en-US" dirty="0" err="1">
                <a:solidFill>
                  <a:schemeClr val="folHlink"/>
                </a:solidFill>
                <a:latin typeface="Courier New" pitchFamily="49" charset="0"/>
                <a:cs typeface="Courier New" pitchFamily="49" charset="0"/>
              </a:rPr>
              <a:t>boolean</a:t>
            </a:r>
            <a:r>
              <a:rPr lang="en-US" dirty="0">
                <a:solidFill>
                  <a:schemeClr val="folHlink"/>
                </a:solidFill>
                <a:latin typeface="Courier New" pitchFamily="49" charset="0"/>
                <a:cs typeface="Courier New" pitchFamily="49" charset="0"/>
              </a:rPr>
              <a:t> toggle = </a:t>
            </a:r>
            <a:r>
              <a:rPr lang="en-US" dirty="0" err="1">
                <a:solidFill>
                  <a:schemeClr val="folHlink"/>
                </a:solidFill>
                <a:latin typeface="Courier New" pitchFamily="49" charset="0"/>
                <a:cs typeface="Courier New" pitchFamily="49" charset="0"/>
              </a:rPr>
              <a:t>b.flip</a:t>
            </a:r>
            <a:r>
              <a:rPr lang="en-US" dirty="0">
                <a:solidFill>
                  <a:schemeClr val="folHlink"/>
                </a:solidFill>
                <a:latin typeface="Courier New" pitchFamily="49" charset="0"/>
                <a:cs typeface="Courier New" pitchFamily="49" charset="0"/>
              </a:rPr>
              <a:t>();</a:t>
            </a:r>
            <a:r>
              <a:rPr lang="he-IL" dirty="0">
                <a:latin typeface="Courier New" pitchFamily="49" charset="0"/>
                <a:cs typeface="Courier New" pitchFamily="49" charset="0"/>
              </a:rPr>
              <a:t> </a:t>
            </a:r>
            <a:endParaRPr lang="en-US" dirty="0">
              <a:latin typeface="Courier New" pitchFamily="49" charset="0"/>
              <a:cs typeface="Courier New" pitchFamily="49" charset="0"/>
            </a:endParaRPr>
          </a:p>
          <a:p>
            <a:pPr marL="342900" indent="-342900"/>
            <a:r>
              <a:rPr lang="en-US" dirty="0">
                <a:latin typeface="Courier New" pitchFamily="49" charset="0"/>
                <a:cs typeface="Courier New" pitchFamily="49" charset="0"/>
              </a:rPr>
              <a:t>  </a:t>
            </a:r>
            <a:r>
              <a:rPr lang="en-US" dirty="0">
                <a:solidFill>
                  <a:schemeClr val="tx1"/>
                </a:solidFill>
                <a:latin typeface="Courier New" pitchFamily="49" charset="0"/>
                <a:cs typeface="Courier New" pitchFamily="49" charset="0"/>
              </a:rPr>
              <a:t>if</a:t>
            </a:r>
            <a:r>
              <a:rPr lang="en-US" dirty="0">
                <a:latin typeface="Courier New" pitchFamily="49" charset="0"/>
                <a:cs typeface="Courier New" pitchFamily="49" charset="0"/>
              </a:rPr>
              <a:t> (toggle)</a:t>
            </a:r>
          </a:p>
          <a:p>
            <a:pPr marL="342900" indent="-342900"/>
            <a:r>
              <a:rPr lang="en-US" dirty="0">
                <a:latin typeface="Courier New" pitchFamily="49" charset="0"/>
                <a:cs typeface="Courier New" pitchFamily="49" charset="0"/>
              </a:rPr>
              <a:t>    b = </a:t>
            </a:r>
            <a:r>
              <a:rPr lang="en-US" dirty="0" err="1">
                <a:latin typeface="Courier New" pitchFamily="49" charset="0"/>
                <a:cs typeface="Courier New" pitchFamily="49" charset="0"/>
              </a:rPr>
              <a:t>b.next</a:t>
            </a:r>
            <a:r>
              <a:rPr lang="en-US" dirty="0">
                <a:latin typeface="Courier New" pitchFamily="49" charset="0"/>
                <a:cs typeface="Courier New" pitchFamily="49" charset="0"/>
              </a:rPr>
              <a:t>[0]</a:t>
            </a:r>
          </a:p>
          <a:p>
            <a:pPr marL="342900" indent="-342900"/>
            <a:r>
              <a:rPr lang="en-US" dirty="0">
                <a:latin typeface="Courier New" pitchFamily="49" charset="0"/>
                <a:cs typeface="Courier New" pitchFamily="49" charset="0"/>
              </a:rPr>
              <a:t>  </a:t>
            </a:r>
            <a:r>
              <a:rPr lang="en-US" dirty="0">
                <a:solidFill>
                  <a:schemeClr val="tx1"/>
                </a:solidFill>
                <a:latin typeface="Courier New" pitchFamily="49" charset="0"/>
                <a:cs typeface="Courier New" pitchFamily="49" charset="0"/>
              </a:rPr>
              <a:t>else</a:t>
            </a:r>
          </a:p>
          <a:p>
            <a:pPr marL="342900" indent="-342900"/>
            <a:r>
              <a:rPr lang="en-US" dirty="0">
                <a:latin typeface="Courier New" pitchFamily="49" charset="0"/>
                <a:cs typeface="Courier New" pitchFamily="49" charset="0"/>
              </a:rPr>
              <a:t>    b = </a:t>
            </a:r>
            <a:r>
              <a:rPr lang="en-US" dirty="0" err="1">
                <a:latin typeface="Courier New" pitchFamily="49" charset="0"/>
                <a:cs typeface="Courier New" pitchFamily="49" charset="0"/>
              </a:rPr>
              <a:t>b.next</a:t>
            </a:r>
            <a:r>
              <a:rPr lang="en-US" dirty="0">
                <a:latin typeface="Courier New" pitchFamily="49" charset="0"/>
                <a:cs typeface="Courier New" pitchFamily="49" charset="0"/>
              </a:rPr>
              <a:t>[1]</a:t>
            </a:r>
          </a:p>
          <a:p>
            <a:pPr marL="342900" indent="-342900"/>
            <a:r>
              <a:rPr lang="en-US" dirty="0">
                <a:solidFill>
                  <a:schemeClr val="tx1"/>
                </a:solidFill>
                <a:latin typeface="Courier New" pitchFamily="49" charset="0"/>
                <a:cs typeface="Courier New" pitchFamily="49" charset="0"/>
              </a:rPr>
              <a:t>  return</a:t>
            </a:r>
            <a:r>
              <a:rPr lang="en-US" dirty="0">
                <a:latin typeface="Courier New" pitchFamily="49" charset="0"/>
                <a:cs typeface="Courier New" pitchFamily="49" charset="0"/>
              </a:rPr>
              <a:t> b;</a:t>
            </a:r>
          </a:p>
          <a:p>
            <a:pPr marL="342900" indent="-342900"/>
            <a:r>
              <a:rPr lang="en-US" dirty="0">
                <a:latin typeface="Courier New" pitchFamily="49" charset="0"/>
                <a:cs typeface="Courier New" pitchFamily="49" charset="0"/>
              </a:rPr>
              <a:t>}</a:t>
            </a:r>
          </a:p>
        </p:txBody>
      </p:sp>
      <p:sp>
        <p:nvSpPr>
          <p:cNvPr id="149510" name="AutoShape 4"/>
          <p:cNvSpPr>
            <a:spLocks noChangeArrowheads="1"/>
          </p:cNvSpPr>
          <p:nvPr/>
        </p:nvSpPr>
        <p:spPr bwMode="auto">
          <a:xfrm>
            <a:off x="1447800" y="3240088"/>
            <a:ext cx="5468938" cy="2349500"/>
          </a:xfrm>
          <a:prstGeom prst="wedgeRoundRectCallout">
            <a:avLst>
              <a:gd name="adj1" fmla="val 33630"/>
              <a:gd name="adj2" fmla="val -61417"/>
              <a:gd name="adj3" fmla="val 16667"/>
            </a:avLst>
          </a:prstGeom>
          <a:noFill/>
          <a:ln w="38100" algn="ctr">
            <a:solidFill>
              <a:srgbClr val="FF0000"/>
            </a:solidFill>
            <a:miter lim="800000"/>
            <a:headEnd/>
            <a:tailEnd/>
          </a:ln>
        </p:spPr>
        <p:txBody>
          <a:bodyPr/>
          <a:lstStyle/>
          <a:p>
            <a:pPr marL="342900" indent="-342900" algn="ctr"/>
            <a:endParaRPr lang="en-US" dirty="0">
              <a:latin typeface="Courier New" pitchFamily="49" charset="0"/>
            </a:endParaRPr>
          </a:p>
        </p:txBody>
      </p:sp>
      <p:sp>
        <p:nvSpPr>
          <p:cNvPr id="149511" name="Text Box 5"/>
          <p:cNvSpPr txBox="1">
            <a:spLocks noChangeArrowheads="1"/>
          </p:cNvSpPr>
          <p:nvPr/>
        </p:nvSpPr>
        <p:spPr bwMode="auto">
          <a:xfrm>
            <a:off x="5318125" y="2355850"/>
            <a:ext cx="2470150" cy="457200"/>
          </a:xfrm>
          <a:prstGeom prst="rect">
            <a:avLst/>
          </a:prstGeom>
          <a:noFill/>
          <a:ln w="9525" algn="ctr">
            <a:noFill/>
            <a:miter lim="800000"/>
            <a:headEnd/>
            <a:tailEnd/>
          </a:ln>
        </p:spPr>
        <p:txBody>
          <a:bodyPr>
            <a:spAutoFit/>
          </a:bodyPr>
          <a:lstStyle/>
          <a:p>
            <a:pPr marL="342900" indent="-342900" algn="ctr"/>
            <a:r>
              <a:rPr lang="en-US" dirty="0">
                <a:solidFill>
                  <a:srgbClr val="FF0000"/>
                </a:solidFill>
                <a:latin typeface="Arial" pitchFamily="34" charset="0"/>
                <a:cs typeface="Arial" pitchFamily="34" charset="0"/>
              </a:rPr>
              <a:t>Exit on wire</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 name="Footer Placeholder 3"/>
          <p:cNvSpPr>
            <a:spLocks noGrp="1"/>
          </p:cNvSpPr>
          <p:nvPr>
            <p:ph type="ftr" sz="quarter" idx="10"/>
          </p:nvPr>
        </p:nvSpPr>
        <p:spPr/>
        <p:txBody>
          <a:bodyPr/>
          <a:lstStyle/>
          <a:p>
            <a:pPr>
              <a:defRPr/>
            </a:pPr>
            <a:r>
              <a:rPr lang="en-US"/>
              <a:t>Art of Multiprocessor Programming</a:t>
            </a:r>
          </a:p>
        </p:txBody>
      </p:sp>
      <p:sp>
        <p:nvSpPr>
          <p:cNvPr id="109" name="Slide Number Placeholder 4"/>
          <p:cNvSpPr>
            <a:spLocks noGrp="1"/>
          </p:cNvSpPr>
          <p:nvPr>
            <p:ph type="sldNum" sz="quarter" idx="11"/>
          </p:nvPr>
        </p:nvSpPr>
        <p:spPr/>
        <p:txBody>
          <a:bodyPr/>
          <a:lstStyle/>
          <a:p>
            <a:pPr>
              <a:defRPr/>
            </a:pPr>
            <a:fld id="{6654A3EE-E4D0-43B7-80FA-84E1984B4D7A}" type="slidenum">
              <a:rPr lang="en-US"/>
              <a:pPr>
                <a:defRPr/>
              </a:pPr>
              <a:t>151</a:t>
            </a:fld>
            <a:endParaRPr lang="en-US"/>
          </a:p>
        </p:txBody>
      </p:sp>
      <p:sp>
        <p:nvSpPr>
          <p:cNvPr id="150532" name="Freeform 2"/>
          <p:cNvSpPr>
            <a:spLocks/>
          </p:cNvSpPr>
          <p:nvPr/>
        </p:nvSpPr>
        <p:spPr bwMode="auto">
          <a:xfrm>
            <a:off x="2971800" y="2501900"/>
            <a:ext cx="5181600" cy="3810000"/>
          </a:xfrm>
          <a:custGeom>
            <a:avLst/>
            <a:gdLst>
              <a:gd name="T0" fmla="*/ 2147483647 w 3264"/>
              <a:gd name="T1" fmla="*/ 2147483647 h 2400"/>
              <a:gd name="T2" fmla="*/ 2147483647 w 3264"/>
              <a:gd name="T3" fmla="*/ 2147483647 h 2400"/>
              <a:gd name="T4" fmla="*/ 2147483647 w 3264"/>
              <a:gd name="T5" fmla="*/ 2147483647 h 2400"/>
              <a:gd name="T6" fmla="*/ 2147483647 w 3264"/>
              <a:gd name="T7" fmla="*/ 2147483647 h 2400"/>
              <a:gd name="T8" fmla="*/ 2147483647 w 3264"/>
              <a:gd name="T9" fmla="*/ 2147483647 h 2400"/>
              <a:gd name="T10" fmla="*/ 2147483647 w 3264"/>
              <a:gd name="T11" fmla="*/ 2147483647 h 2400"/>
              <a:gd name="T12" fmla="*/ 2147483647 w 3264"/>
              <a:gd name="T13" fmla="*/ 2147483647 h 2400"/>
              <a:gd name="T14" fmla="*/ 2147483647 w 3264"/>
              <a:gd name="T15" fmla="*/ 2147483647 h 2400"/>
              <a:gd name="T16" fmla="*/ 0 60000 65536"/>
              <a:gd name="T17" fmla="*/ 0 60000 65536"/>
              <a:gd name="T18" fmla="*/ 0 60000 65536"/>
              <a:gd name="T19" fmla="*/ 0 60000 65536"/>
              <a:gd name="T20" fmla="*/ 0 60000 65536"/>
              <a:gd name="T21" fmla="*/ 0 60000 65536"/>
              <a:gd name="T22" fmla="*/ 0 60000 65536"/>
              <a:gd name="T23" fmla="*/ 0 60000 65536"/>
              <a:gd name="T24" fmla="*/ 0 w 3264"/>
              <a:gd name="T25" fmla="*/ 0 h 2400"/>
              <a:gd name="T26" fmla="*/ 3264 w 3264"/>
              <a:gd name="T27" fmla="*/ 2400 h 24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64" h="2400">
                <a:moveTo>
                  <a:pt x="144" y="824"/>
                </a:moveTo>
                <a:cubicBezTo>
                  <a:pt x="72" y="828"/>
                  <a:pt x="0" y="832"/>
                  <a:pt x="192" y="824"/>
                </a:cubicBezTo>
                <a:cubicBezTo>
                  <a:pt x="384" y="816"/>
                  <a:pt x="960" y="912"/>
                  <a:pt x="1296" y="776"/>
                </a:cubicBezTo>
                <a:cubicBezTo>
                  <a:pt x="1632" y="640"/>
                  <a:pt x="1904" y="16"/>
                  <a:pt x="2208" y="8"/>
                </a:cubicBezTo>
                <a:cubicBezTo>
                  <a:pt x="2512" y="0"/>
                  <a:pt x="2976" y="480"/>
                  <a:pt x="3120" y="728"/>
                </a:cubicBezTo>
                <a:cubicBezTo>
                  <a:pt x="3264" y="976"/>
                  <a:pt x="3264" y="1224"/>
                  <a:pt x="3072" y="1496"/>
                </a:cubicBezTo>
                <a:cubicBezTo>
                  <a:pt x="2880" y="1768"/>
                  <a:pt x="2464" y="2400"/>
                  <a:pt x="1968" y="2360"/>
                </a:cubicBezTo>
                <a:cubicBezTo>
                  <a:pt x="1472" y="2320"/>
                  <a:pt x="784" y="1788"/>
                  <a:pt x="96" y="1256"/>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150533" name="Rectangle 3"/>
          <p:cNvSpPr>
            <a:spLocks noGrp="1" noChangeArrowheads="1"/>
          </p:cNvSpPr>
          <p:nvPr>
            <p:ph type="title"/>
          </p:nvPr>
        </p:nvSpPr>
        <p:spPr/>
        <p:txBody>
          <a:bodyPr/>
          <a:lstStyle/>
          <a:p>
            <a:r>
              <a:rPr lang="en-US" sz="4000"/>
              <a:t>Alternative Implementation: Message-Passing </a:t>
            </a:r>
          </a:p>
        </p:txBody>
      </p:sp>
      <p:grpSp>
        <p:nvGrpSpPr>
          <p:cNvPr id="150534" name="Group 4"/>
          <p:cNvGrpSpPr>
            <a:grpSpLocks/>
          </p:cNvGrpSpPr>
          <p:nvPr/>
        </p:nvGrpSpPr>
        <p:grpSpPr bwMode="auto">
          <a:xfrm>
            <a:off x="4495800" y="2058988"/>
            <a:ext cx="4038600" cy="3503612"/>
            <a:chOff x="2148" y="1776"/>
            <a:chExt cx="2544" cy="2207"/>
          </a:xfrm>
        </p:grpSpPr>
        <p:grpSp>
          <p:nvGrpSpPr>
            <p:cNvPr id="150545" name="Group 5"/>
            <p:cNvGrpSpPr>
              <a:grpSpLocks/>
            </p:cNvGrpSpPr>
            <p:nvPr/>
          </p:nvGrpSpPr>
          <p:grpSpPr bwMode="auto">
            <a:xfrm>
              <a:off x="2148" y="1776"/>
              <a:ext cx="2544" cy="623"/>
              <a:chOff x="2184" y="1776"/>
              <a:chExt cx="2544" cy="623"/>
            </a:xfrm>
          </p:grpSpPr>
          <p:grpSp>
            <p:nvGrpSpPr>
              <p:cNvPr id="150608" name="Group 6"/>
              <p:cNvGrpSpPr>
                <a:grpSpLocks/>
              </p:cNvGrpSpPr>
              <p:nvPr/>
            </p:nvGrpSpPr>
            <p:grpSpPr bwMode="auto">
              <a:xfrm>
                <a:off x="4032" y="1776"/>
                <a:ext cx="696" cy="623"/>
                <a:chOff x="1584" y="816"/>
                <a:chExt cx="912" cy="816"/>
              </a:xfrm>
            </p:grpSpPr>
            <p:sp>
              <p:nvSpPr>
                <p:cNvPr id="150629"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30"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31" name="Freeform 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32"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33"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34"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35" name="Freeform 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36" name="Freeform 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37" name="Freeform 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50609" name="Group 16"/>
              <p:cNvGrpSpPr>
                <a:grpSpLocks/>
              </p:cNvGrpSpPr>
              <p:nvPr/>
            </p:nvGrpSpPr>
            <p:grpSpPr bwMode="auto">
              <a:xfrm>
                <a:off x="3108" y="1776"/>
                <a:ext cx="696" cy="623"/>
                <a:chOff x="1584" y="816"/>
                <a:chExt cx="912" cy="816"/>
              </a:xfrm>
            </p:grpSpPr>
            <p:sp>
              <p:nvSpPr>
                <p:cNvPr id="150620"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21"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22" name="Freeform 1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23"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24"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25"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26" name="Freeform 2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27" name="Freeform 2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28" name="Freeform 2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50610" name="Group 26"/>
              <p:cNvGrpSpPr>
                <a:grpSpLocks/>
              </p:cNvGrpSpPr>
              <p:nvPr/>
            </p:nvGrpSpPr>
            <p:grpSpPr bwMode="auto">
              <a:xfrm>
                <a:off x="2184" y="1776"/>
                <a:ext cx="696" cy="623"/>
                <a:chOff x="1584" y="816"/>
                <a:chExt cx="912" cy="816"/>
              </a:xfrm>
            </p:grpSpPr>
            <p:sp>
              <p:nvSpPr>
                <p:cNvPr id="150611"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12"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13" name="Freeform 2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14"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15"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16"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17" name="Freeform 3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18" name="Freeform 3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19" name="Freeform 3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grpSp>
          <p:nvGrpSpPr>
            <p:cNvPr id="150546" name="Group 36"/>
            <p:cNvGrpSpPr>
              <a:grpSpLocks/>
            </p:cNvGrpSpPr>
            <p:nvPr/>
          </p:nvGrpSpPr>
          <p:grpSpPr bwMode="auto">
            <a:xfrm>
              <a:off x="2148" y="2568"/>
              <a:ext cx="2544" cy="623"/>
              <a:chOff x="2184" y="1776"/>
              <a:chExt cx="2544" cy="623"/>
            </a:xfrm>
          </p:grpSpPr>
          <p:grpSp>
            <p:nvGrpSpPr>
              <p:cNvPr id="150578" name="Group 37"/>
              <p:cNvGrpSpPr>
                <a:grpSpLocks/>
              </p:cNvGrpSpPr>
              <p:nvPr/>
            </p:nvGrpSpPr>
            <p:grpSpPr bwMode="auto">
              <a:xfrm>
                <a:off x="4032" y="1776"/>
                <a:ext cx="696" cy="623"/>
                <a:chOff x="1584" y="816"/>
                <a:chExt cx="912" cy="816"/>
              </a:xfrm>
            </p:grpSpPr>
            <p:sp>
              <p:nvSpPr>
                <p:cNvPr id="150599" name="Freeform 3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00" name="Freeform 3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01" name="Freeform 4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02" name="Freeform 4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03" name="Freeform 4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04" name="Freeform 4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605" name="Freeform 4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06" name="Freeform 4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607" name="Freeform 4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50579" name="Group 47"/>
              <p:cNvGrpSpPr>
                <a:grpSpLocks/>
              </p:cNvGrpSpPr>
              <p:nvPr/>
            </p:nvGrpSpPr>
            <p:grpSpPr bwMode="auto">
              <a:xfrm>
                <a:off x="3108" y="1776"/>
                <a:ext cx="696" cy="623"/>
                <a:chOff x="1584" y="816"/>
                <a:chExt cx="912" cy="816"/>
              </a:xfrm>
            </p:grpSpPr>
            <p:sp>
              <p:nvSpPr>
                <p:cNvPr id="150590" name="Freeform 4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91" name="Freeform 4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92" name="Freeform 5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93" name="Freeform 5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94" name="Freeform 5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95" name="Freeform 5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96" name="Freeform 5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97" name="Freeform 5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98" name="Freeform 5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50580" name="Group 57"/>
              <p:cNvGrpSpPr>
                <a:grpSpLocks/>
              </p:cNvGrpSpPr>
              <p:nvPr/>
            </p:nvGrpSpPr>
            <p:grpSpPr bwMode="auto">
              <a:xfrm>
                <a:off x="2184" y="1776"/>
                <a:ext cx="696" cy="623"/>
                <a:chOff x="1584" y="816"/>
                <a:chExt cx="912" cy="816"/>
              </a:xfrm>
            </p:grpSpPr>
            <p:sp>
              <p:nvSpPr>
                <p:cNvPr id="150581" name="Freeform 5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82" name="Freeform 5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83" name="Freeform 6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84" name="Freeform 6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85" name="Freeform 6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86" name="Freeform 6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87" name="Freeform 6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88" name="Freeform 6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89" name="Freeform 6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grpSp>
          <p:nvGrpSpPr>
            <p:cNvPr id="150547" name="Group 67"/>
            <p:cNvGrpSpPr>
              <a:grpSpLocks/>
            </p:cNvGrpSpPr>
            <p:nvPr/>
          </p:nvGrpSpPr>
          <p:grpSpPr bwMode="auto">
            <a:xfrm>
              <a:off x="2148" y="3360"/>
              <a:ext cx="2544" cy="623"/>
              <a:chOff x="2184" y="1776"/>
              <a:chExt cx="2544" cy="623"/>
            </a:xfrm>
          </p:grpSpPr>
          <p:grpSp>
            <p:nvGrpSpPr>
              <p:cNvPr id="150548" name="Group 68"/>
              <p:cNvGrpSpPr>
                <a:grpSpLocks/>
              </p:cNvGrpSpPr>
              <p:nvPr/>
            </p:nvGrpSpPr>
            <p:grpSpPr bwMode="auto">
              <a:xfrm>
                <a:off x="4032" y="1776"/>
                <a:ext cx="696" cy="623"/>
                <a:chOff x="1584" y="816"/>
                <a:chExt cx="912" cy="816"/>
              </a:xfrm>
            </p:grpSpPr>
            <p:sp>
              <p:nvSpPr>
                <p:cNvPr id="150569" name="Freeform 6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70" name="Freeform 7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71" name="Freeform 7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72" name="Freeform 7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73" name="Freeform 7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74" name="Freeform 7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75" name="Freeform 7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76" name="Freeform 7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77" name="Freeform 7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50549" name="Group 78"/>
              <p:cNvGrpSpPr>
                <a:grpSpLocks/>
              </p:cNvGrpSpPr>
              <p:nvPr/>
            </p:nvGrpSpPr>
            <p:grpSpPr bwMode="auto">
              <a:xfrm>
                <a:off x="3108" y="1776"/>
                <a:ext cx="696" cy="623"/>
                <a:chOff x="1584" y="816"/>
                <a:chExt cx="912" cy="816"/>
              </a:xfrm>
            </p:grpSpPr>
            <p:sp>
              <p:nvSpPr>
                <p:cNvPr id="150560" name="Freeform 7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61" name="Freeform 8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62" name="Freeform 8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63" name="Freeform 8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64" name="Freeform 8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65" name="Freeform 8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66" name="Freeform 8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67" name="Freeform 8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68" name="Freeform 8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50550" name="Group 88"/>
              <p:cNvGrpSpPr>
                <a:grpSpLocks/>
              </p:cNvGrpSpPr>
              <p:nvPr/>
            </p:nvGrpSpPr>
            <p:grpSpPr bwMode="auto">
              <a:xfrm>
                <a:off x="2184" y="1776"/>
                <a:ext cx="696" cy="623"/>
                <a:chOff x="1584" y="816"/>
                <a:chExt cx="912" cy="816"/>
              </a:xfrm>
            </p:grpSpPr>
            <p:sp>
              <p:nvSpPr>
                <p:cNvPr id="150551" name="Freeform 8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52" name="Freeform 9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53" name="Freeform 9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54" name="Freeform 9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55" name="Freeform 9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56" name="Freeform 9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50557" name="Freeform 9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58" name="Freeform 9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59" name="Freeform 9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grpSp>
      <p:grpSp>
        <p:nvGrpSpPr>
          <p:cNvPr id="150535" name="Group 98"/>
          <p:cNvGrpSpPr>
            <a:grpSpLocks/>
          </p:cNvGrpSpPr>
          <p:nvPr/>
        </p:nvGrpSpPr>
        <p:grpSpPr bwMode="auto">
          <a:xfrm>
            <a:off x="1600200" y="3200400"/>
            <a:ext cx="1447800" cy="1295400"/>
            <a:chOff x="1584" y="816"/>
            <a:chExt cx="912" cy="816"/>
          </a:xfrm>
        </p:grpSpPr>
        <p:sp>
          <p:nvSpPr>
            <p:cNvPr id="150536" name="Freeform 9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37" name="Freeform 10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38" name="Freeform 10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39" name="Freeform 10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50540" name="Freeform 10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50541" name="Freeform 10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Courier New" pitchFamily="49" charset="0"/>
              </a:endParaRPr>
            </a:p>
          </p:txBody>
        </p:sp>
        <p:sp>
          <p:nvSpPr>
            <p:cNvPr id="150542" name="Freeform 10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43" name="Freeform 10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0544" name="Freeform 10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3"/>
          <p:cNvSpPr>
            <a:spLocks noGrp="1"/>
          </p:cNvSpPr>
          <p:nvPr>
            <p:ph type="ftr" sz="quarter" idx="10"/>
          </p:nvPr>
        </p:nvSpPr>
        <p:spPr/>
        <p:txBody>
          <a:bodyPr/>
          <a:lstStyle/>
          <a:p>
            <a:pPr>
              <a:defRPr/>
            </a:pPr>
            <a:r>
              <a:rPr lang="en-US"/>
              <a:t>Art of Multiprocessor Programming</a:t>
            </a:r>
          </a:p>
        </p:txBody>
      </p:sp>
      <p:sp>
        <p:nvSpPr>
          <p:cNvPr id="15" name="Slide Number Placeholder 4"/>
          <p:cNvSpPr>
            <a:spLocks noGrp="1"/>
          </p:cNvSpPr>
          <p:nvPr>
            <p:ph type="sldNum" sz="quarter" idx="11"/>
          </p:nvPr>
        </p:nvSpPr>
        <p:spPr/>
        <p:txBody>
          <a:bodyPr/>
          <a:lstStyle/>
          <a:p>
            <a:pPr>
              <a:defRPr/>
            </a:pPr>
            <a:fld id="{7F503E0E-4367-4C45-B3F7-184EC6164FB5}" type="slidenum">
              <a:rPr lang="en-US"/>
              <a:pPr>
                <a:defRPr/>
              </a:pPr>
              <a:t>152</a:t>
            </a:fld>
            <a:endParaRPr lang="en-US"/>
          </a:p>
        </p:txBody>
      </p:sp>
      <p:sp>
        <p:nvSpPr>
          <p:cNvPr id="151556" name="Rectangle 2"/>
          <p:cNvSpPr>
            <a:spLocks noGrp="1" noChangeArrowheads="1"/>
          </p:cNvSpPr>
          <p:nvPr>
            <p:ph type="title"/>
          </p:nvPr>
        </p:nvSpPr>
        <p:spPr/>
        <p:txBody>
          <a:bodyPr/>
          <a:lstStyle/>
          <a:p>
            <a:r>
              <a:rPr lang="en-US"/>
              <a:t>Bitonic[2k] Inductive Structure</a:t>
            </a:r>
          </a:p>
        </p:txBody>
      </p:sp>
      <p:sp>
        <p:nvSpPr>
          <p:cNvPr id="151557" name="Rectangle 3"/>
          <p:cNvSpPr>
            <a:spLocks noChangeArrowheads="1"/>
          </p:cNvSpPr>
          <p:nvPr/>
        </p:nvSpPr>
        <p:spPr bwMode="auto">
          <a:xfrm>
            <a:off x="1371600" y="2438400"/>
            <a:ext cx="2743200" cy="1447800"/>
          </a:xfrm>
          <a:prstGeom prst="rect">
            <a:avLst/>
          </a:prstGeom>
          <a:solidFill>
            <a:srgbClr val="FF9999"/>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Bitonic[k]</a:t>
            </a:r>
          </a:p>
        </p:txBody>
      </p:sp>
      <p:sp>
        <p:nvSpPr>
          <p:cNvPr id="151558" name="Rectangle 4"/>
          <p:cNvSpPr>
            <a:spLocks noChangeArrowheads="1"/>
          </p:cNvSpPr>
          <p:nvPr/>
        </p:nvSpPr>
        <p:spPr bwMode="auto">
          <a:xfrm>
            <a:off x="1371600" y="4191000"/>
            <a:ext cx="2743200" cy="1447800"/>
          </a:xfrm>
          <a:prstGeom prst="rect">
            <a:avLst/>
          </a:prstGeom>
          <a:solidFill>
            <a:srgbClr val="FFFF99"/>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Bitonic[k]</a:t>
            </a:r>
          </a:p>
        </p:txBody>
      </p:sp>
      <p:sp>
        <p:nvSpPr>
          <p:cNvPr id="151559" name="Rectangle 5"/>
          <p:cNvSpPr>
            <a:spLocks noChangeArrowheads="1"/>
          </p:cNvSpPr>
          <p:nvPr/>
        </p:nvSpPr>
        <p:spPr bwMode="auto">
          <a:xfrm>
            <a:off x="4800600" y="2438400"/>
            <a:ext cx="2971800" cy="3200400"/>
          </a:xfrm>
          <a:prstGeom prst="rect">
            <a:avLst/>
          </a:prstGeom>
          <a:solidFill>
            <a:srgbClr val="99FF99"/>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Merger[2k]</a:t>
            </a:r>
          </a:p>
        </p:txBody>
      </p:sp>
      <p:sp>
        <p:nvSpPr>
          <p:cNvPr id="151560" name="Line 6"/>
          <p:cNvSpPr>
            <a:spLocks noChangeShapeType="1"/>
          </p:cNvSpPr>
          <p:nvPr/>
        </p:nvSpPr>
        <p:spPr bwMode="auto">
          <a:xfrm>
            <a:off x="4114800" y="26670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1" name="Line 7"/>
          <p:cNvSpPr>
            <a:spLocks noChangeShapeType="1"/>
          </p:cNvSpPr>
          <p:nvPr/>
        </p:nvSpPr>
        <p:spPr bwMode="auto">
          <a:xfrm>
            <a:off x="4114800" y="2971800"/>
            <a:ext cx="685800" cy="396875"/>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2" name="Line 8"/>
          <p:cNvSpPr>
            <a:spLocks noChangeShapeType="1"/>
          </p:cNvSpPr>
          <p:nvPr/>
        </p:nvSpPr>
        <p:spPr bwMode="auto">
          <a:xfrm>
            <a:off x="4114800" y="3276600"/>
            <a:ext cx="685800" cy="1219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3" name="Line 9"/>
          <p:cNvSpPr>
            <a:spLocks noChangeShapeType="1"/>
          </p:cNvSpPr>
          <p:nvPr/>
        </p:nvSpPr>
        <p:spPr bwMode="auto">
          <a:xfrm>
            <a:off x="4114800" y="3657600"/>
            <a:ext cx="6858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4" name="Line 10"/>
          <p:cNvSpPr>
            <a:spLocks noChangeShapeType="1"/>
          </p:cNvSpPr>
          <p:nvPr/>
        </p:nvSpPr>
        <p:spPr bwMode="auto">
          <a:xfrm flipV="1">
            <a:off x="4114800" y="2971800"/>
            <a:ext cx="6858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5" name="Line 11"/>
          <p:cNvSpPr>
            <a:spLocks noChangeShapeType="1"/>
          </p:cNvSpPr>
          <p:nvPr/>
        </p:nvSpPr>
        <p:spPr bwMode="auto">
          <a:xfrm flipV="1">
            <a:off x="4114800" y="3733800"/>
            <a:ext cx="6858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6" name="Line 12"/>
          <p:cNvSpPr>
            <a:spLocks noChangeShapeType="1"/>
          </p:cNvSpPr>
          <p:nvPr/>
        </p:nvSpPr>
        <p:spPr bwMode="auto">
          <a:xfrm flipV="1">
            <a:off x="4114800" y="4724400"/>
            <a:ext cx="6858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7" name="Line 13"/>
          <p:cNvSpPr>
            <a:spLocks noChangeShapeType="1"/>
          </p:cNvSpPr>
          <p:nvPr/>
        </p:nvSpPr>
        <p:spPr bwMode="auto">
          <a:xfrm>
            <a:off x="4114800"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8" name="Line 6"/>
          <p:cNvSpPr>
            <a:spLocks noChangeShapeType="1"/>
          </p:cNvSpPr>
          <p:nvPr/>
        </p:nvSpPr>
        <p:spPr bwMode="auto">
          <a:xfrm>
            <a:off x="685800" y="26670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69" name="Line 6"/>
          <p:cNvSpPr>
            <a:spLocks noChangeShapeType="1"/>
          </p:cNvSpPr>
          <p:nvPr/>
        </p:nvSpPr>
        <p:spPr bwMode="auto">
          <a:xfrm>
            <a:off x="685800" y="29718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0" name="Line 6"/>
          <p:cNvSpPr>
            <a:spLocks noChangeShapeType="1"/>
          </p:cNvSpPr>
          <p:nvPr/>
        </p:nvSpPr>
        <p:spPr bwMode="auto">
          <a:xfrm>
            <a:off x="685800" y="33686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1" name="Line 6"/>
          <p:cNvSpPr>
            <a:spLocks noChangeShapeType="1"/>
          </p:cNvSpPr>
          <p:nvPr/>
        </p:nvSpPr>
        <p:spPr bwMode="auto">
          <a:xfrm>
            <a:off x="685800" y="36576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2" name="Line 6"/>
          <p:cNvSpPr>
            <a:spLocks noChangeShapeType="1"/>
          </p:cNvSpPr>
          <p:nvPr/>
        </p:nvSpPr>
        <p:spPr bwMode="auto">
          <a:xfrm>
            <a:off x="685800" y="44196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3" name="Line 6"/>
          <p:cNvSpPr>
            <a:spLocks noChangeShapeType="1"/>
          </p:cNvSpPr>
          <p:nvPr/>
        </p:nvSpPr>
        <p:spPr bwMode="auto">
          <a:xfrm>
            <a:off x="685800" y="47244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4" name="Line 6"/>
          <p:cNvSpPr>
            <a:spLocks noChangeShapeType="1"/>
          </p:cNvSpPr>
          <p:nvPr/>
        </p:nvSpPr>
        <p:spPr bwMode="auto">
          <a:xfrm>
            <a:off x="685800" y="51212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5" name="Line 6"/>
          <p:cNvSpPr>
            <a:spLocks noChangeShapeType="1"/>
          </p:cNvSpPr>
          <p:nvPr/>
        </p:nvSpPr>
        <p:spPr bwMode="auto">
          <a:xfrm>
            <a:off x="685800"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6" name="Line 6"/>
          <p:cNvSpPr>
            <a:spLocks noChangeShapeType="1"/>
          </p:cNvSpPr>
          <p:nvPr/>
        </p:nvSpPr>
        <p:spPr bwMode="auto">
          <a:xfrm>
            <a:off x="7772400" y="27400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7" name="Line 6"/>
          <p:cNvSpPr>
            <a:spLocks noChangeShapeType="1"/>
          </p:cNvSpPr>
          <p:nvPr/>
        </p:nvSpPr>
        <p:spPr bwMode="auto">
          <a:xfrm>
            <a:off x="7772400" y="31003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8" name="Line 6"/>
          <p:cNvSpPr>
            <a:spLocks noChangeShapeType="1"/>
          </p:cNvSpPr>
          <p:nvPr/>
        </p:nvSpPr>
        <p:spPr bwMode="auto">
          <a:xfrm>
            <a:off x="7772400" y="34972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79" name="Line 6"/>
          <p:cNvSpPr>
            <a:spLocks noChangeShapeType="1"/>
          </p:cNvSpPr>
          <p:nvPr/>
        </p:nvSpPr>
        <p:spPr bwMode="auto">
          <a:xfrm>
            <a:off x="7772400" y="38592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80" name="Line 6"/>
          <p:cNvSpPr>
            <a:spLocks noChangeShapeType="1"/>
          </p:cNvSpPr>
          <p:nvPr/>
        </p:nvSpPr>
        <p:spPr bwMode="auto">
          <a:xfrm>
            <a:off x="7772400" y="42545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81" name="Line 6"/>
          <p:cNvSpPr>
            <a:spLocks noChangeShapeType="1"/>
          </p:cNvSpPr>
          <p:nvPr/>
        </p:nvSpPr>
        <p:spPr bwMode="auto">
          <a:xfrm>
            <a:off x="7772400" y="46513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82" name="Line 6"/>
          <p:cNvSpPr>
            <a:spLocks noChangeShapeType="1"/>
          </p:cNvSpPr>
          <p:nvPr/>
        </p:nvSpPr>
        <p:spPr bwMode="auto">
          <a:xfrm>
            <a:off x="7772400" y="504825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1583" name="Line 6"/>
          <p:cNvSpPr>
            <a:spLocks noChangeShapeType="1"/>
          </p:cNvSpPr>
          <p:nvPr/>
        </p:nvSpPr>
        <p:spPr bwMode="auto">
          <a:xfrm>
            <a:off x="7772400"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ooter Placeholder 4"/>
          <p:cNvSpPr>
            <a:spLocks noGrp="1"/>
          </p:cNvSpPr>
          <p:nvPr>
            <p:ph type="ftr" sz="quarter" idx="10"/>
          </p:nvPr>
        </p:nvSpPr>
        <p:spPr/>
        <p:txBody>
          <a:bodyPr/>
          <a:lstStyle/>
          <a:p>
            <a:pPr>
              <a:defRPr/>
            </a:pPr>
            <a:r>
              <a:rPr lang="en-US"/>
              <a:t>Art of Multiprocessor Programming</a:t>
            </a:r>
          </a:p>
        </p:txBody>
      </p:sp>
      <p:sp>
        <p:nvSpPr>
          <p:cNvPr id="58" name="Slide Number Placeholder 5"/>
          <p:cNvSpPr>
            <a:spLocks noGrp="1"/>
          </p:cNvSpPr>
          <p:nvPr>
            <p:ph type="sldNum" sz="quarter" idx="11"/>
          </p:nvPr>
        </p:nvSpPr>
        <p:spPr/>
        <p:txBody>
          <a:bodyPr/>
          <a:lstStyle/>
          <a:p>
            <a:pPr>
              <a:defRPr/>
            </a:pPr>
            <a:fld id="{E6641631-4753-4F1F-BF62-886463E1FDF7}" type="slidenum">
              <a:rPr lang="en-US"/>
              <a:pPr>
                <a:defRPr/>
              </a:pPr>
              <a:t>153</a:t>
            </a:fld>
            <a:endParaRPr lang="en-US"/>
          </a:p>
        </p:txBody>
      </p:sp>
      <p:sp>
        <p:nvSpPr>
          <p:cNvPr id="152580" name="Line 2"/>
          <p:cNvSpPr>
            <a:spLocks noChangeShapeType="1"/>
          </p:cNvSpPr>
          <p:nvPr/>
        </p:nvSpPr>
        <p:spPr bwMode="auto">
          <a:xfrm>
            <a:off x="2349500" y="3224213"/>
            <a:ext cx="45640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581" name="Line 3"/>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582" name="Rectangle 6"/>
          <p:cNvSpPr>
            <a:spLocks noGrp="1" noChangeArrowheads="1"/>
          </p:cNvSpPr>
          <p:nvPr>
            <p:ph type="title"/>
          </p:nvPr>
        </p:nvSpPr>
        <p:spPr>
          <a:xfrm>
            <a:off x="685800" y="547688"/>
            <a:ext cx="7772400" cy="1143000"/>
          </a:xfrm>
        </p:spPr>
        <p:txBody>
          <a:bodyPr/>
          <a:lstStyle/>
          <a:p>
            <a:r>
              <a:rPr lang="en-US"/>
              <a:t>Bitonic[4] Counting Network</a:t>
            </a:r>
          </a:p>
        </p:txBody>
      </p:sp>
      <p:sp>
        <p:nvSpPr>
          <p:cNvPr id="152583" name="Line 7"/>
          <p:cNvSpPr>
            <a:spLocks noChangeShapeType="1"/>
          </p:cNvSpPr>
          <p:nvPr/>
        </p:nvSpPr>
        <p:spPr bwMode="auto">
          <a:xfrm>
            <a:off x="2349500" y="2328863"/>
            <a:ext cx="45640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584" name="Line 8"/>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 name="Text Box 24"/>
          <p:cNvSpPr txBox="1">
            <a:spLocks noChangeArrowheads="1"/>
          </p:cNvSpPr>
          <p:nvPr/>
        </p:nvSpPr>
        <p:spPr bwMode="auto">
          <a:xfrm>
            <a:off x="7083425" y="3162300"/>
            <a:ext cx="2078038" cy="523875"/>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Merger[4]</a:t>
            </a:r>
          </a:p>
        </p:txBody>
      </p:sp>
      <p:sp>
        <p:nvSpPr>
          <p:cNvPr id="46" name="AutoShape 22"/>
          <p:cNvSpPr>
            <a:spLocks noChangeArrowheads="1"/>
          </p:cNvSpPr>
          <p:nvPr/>
        </p:nvSpPr>
        <p:spPr bwMode="auto">
          <a:xfrm>
            <a:off x="3533775" y="1836738"/>
            <a:ext cx="3430588" cy="3886200"/>
          </a:xfrm>
          <a:prstGeom prst="wedgeRoundRectCallout">
            <a:avLst>
              <a:gd name="adj1" fmla="val 74032"/>
              <a:gd name="adj2" fmla="val 1060"/>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2587"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152588"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152589" name="AutoShape 11"/>
          <p:cNvSpPr>
            <a:spLocks noChangeArrowheads="1"/>
          </p:cNvSpPr>
          <p:nvPr/>
        </p:nvSpPr>
        <p:spPr bwMode="auto">
          <a:xfrm>
            <a:off x="3908425" y="2938463"/>
            <a:ext cx="373063" cy="1630362"/>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2590" name="AutoShape 12"/>
          <p:cNvSpPr>
            <a:spLocks noChangeArrowheads="1"/>
          </p:cNvSpPr>
          <p:nvPr/>
        </p:nvSpPr>
        <p:spPr bwMode="auto">
          <a:xfrm>
            <a:off x="4979988" y="2005013"/>
            <a:ext cx="373062" cy="3497262"/>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2591" name="AutoShape 13"/>
          <p:cNvSpPr>
            <a:spLocks noChangeArrowheads="1"/>
          </p:cNvSpPr>
          <p:nvPr/>
        </p:nvSpPr>
        <p:spPr bwMode="auto">
          <a:xfrm>
            <a:off x="6053138" y="3873500"/>
            <a:ext cx="374650" cy="1628775"/>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2592" name="AutoShape 14"/>
          <p:cNvSpPr>
            <a:spLocks noChangeArrowheads="1"/>
          </p:cNvSpPr>
          <p:nvPr/>
        </p:nvSpPr>
        <p:spPr bwMode="auto">
          <a:xfrm>
            <a:off x="6053138" y="2005013"/>
            <a:ext cx="374650" cy="1628775"/>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2593" name="Line 17"/>
          <p:cNvSpPr>
            <a:spLocks noChangeShapeType="1"/>
          </p:cNvSpPr>
          <p:nvPr/>
        </p:nvSpPr>
        <p:spPr bwMode="auto">
          <a:xfrm>
            <a:off x="3962400" y="3200400"/>
            <a:ext cx="304800" cy="0"/>
          </a:xfrm>
          <a:prstGeom prst="line">
            <a:avLst/>
          </a:prstGeom>
          <a:noFill/>
          <a:ln w="5715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2594" name="Line 18"/>
          <p:cNvSpPr>
            <a:spLocks noChangeShapeType="1"/>
          </p:cNvSpPr>
          <p:nvPr/>
        </p:nvSpPr>
        <p:spPr bwMode="auto">
          <a:xfrm>
            <a:off x="5029200" y="5181600"/>
            <a:ext cx="304800" cy="0"/>
          </a:xfrm>
          <a:prstGeom prst="line">
            <a:avLst/>
          </a:prstGeom>
          <a:noFill/>
          <a:ln w="5715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2595" name="Line 19"/>
          <p:cNvSpPr>
            <a:spLocks noChangeShapeType="1"/>
          </p:cNvSpPr>
          <p:nvPr/>
        </p:nvSpPr>
        <p:spPr bwMode="auto">
          <a:xfrm>
            <a:off x="6096000" y="5181600"/>
            <a:ext cx="304800" cy="0"/>
          </a:xfrm>
          <a:prstGeom prst="line">
            <a:avLst/>
          </a:prstGeom>
          <a:noFill/>
          <a:ln w="5715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2596" name="Line 25"/>
          <p:cNvSpPr>
            <a:spLocks noChangeShapeType="1"/>
          </p:cNvSpPr>
          <p:nvPr/>
        </p:nvSpPr>
        <p:spPr bwMode="auto">
          <a:xfrm>
            <a:off x="6096000" y="3200400"/>
            <a:ext cx="304800" cy="0"/>
          </a:xfrm>
          <a:prstGeom prst="line">
            <a:avLst/>
          </a:prstGeom>
          <a:noFill/>
          <a:ln w="5715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2597" name="Oval 48"/>
          <p:cNvSpPr>
            <a:spLocks noChangeArrowheads="1"/>
          </p:cNvSpPr>
          <p:nvPr/>
        </p:nvSpPr>
        <p:spPr bwMode="auto">
          <a:xfrm>
            <a:off x="3971925" y="3128963"/>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598" name="Oval 49"/>
          <p:cNvSpPr>
            <a:spLocks noChangeArrowheads="1"/>
          </p:cNvSpPr>
          <p:nvPr/>
        </p:nvSpPr>
        <p:spPr bwMode="auto">
          <a:xfrm>
            <a:off x="3971925" y="4208463"/>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599" name="Oval 50"/>
          <p:cNvSpPr>
            <a:spLocks noChangeArrowheads="1"/>
          </p:cNvSpPr>
          <p:nvPr/>
        </p:nvSpPr>
        <p:spPr bwMode="auto">
          <a:xfrm>
            <a:off x="5053013" y="2200275"/>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600" name="Oval 51"/>
          <p:cNvSpPr>
            <a:spLocks noChangeArrowheads="1"/>
          </p:cNvSpPr>
          <p:nvPr/>
        </p:nvSpPr>
        <p:spPr bwMode="auto">
          <a:xfrm>
            <a:off x="5043488" y="50609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601" name="Oval 52"/>
          <p:cNvSpPr>
            <a:spLocks noChangeArrowheads="1"/>
          </p:cNvSpPr>
          <p:nvPr/>
        </p:nvSpPr>
        <p:spPr bwMode="auto">
          <a:xfrm>
            <a:off x="6097588" y="22161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602" name="Oval 53"/>
          <p:cNvSpPr>
            <a:spLocks noChangeArrowheads="1"/>
          </p:cNvSpPr>
          <p:nvPr/>
        </p:nvSpPr>
        <p:spPr bwMode="auto">
          <a:xfrm>
            <a:off x="6097588" y="30924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603" name="Oval 54"/>
          <p:cNvSpPr>
            <a:spLocks noChangeArrowheads="1"/>
          </p:cNvSpPr>
          <p:nvPr/>
        </p:nvSpPr>
        <p:spPr bwMode="auto">
          <a:xfrm>
            <a:off x="6097588" y="41973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604" name="Oval 55"/>
          <p:cNvSpPr>
            <a:spLocks noChangeArrowheads="1"/>
          </p:cNvSpPr>
          <p:nvPr/>
        </p:nvSpPr>
        <p:spPr bwMode="auto">
          <a:xfrm>
            <a:off x="6097588" y="50609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 name="Text Box 24"/>
          <p:cNvSpPr txBox="1">
            <a:spLocks noChangeArrowheads="1"/>
          </p:cNvSpPr>
          <p:nvPr/>
        </p:nvSpPr>
        <p:spPr bwMode="auto">
          <a:xfrm>
            <a:off x="0" y="2414588"/>
            <a:ext cx="1912938" cy="523875"/>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Bitonic[2]</a:t>
            </a:r>
          </a:p>
        </p:txBody>
      </p:sp>
      <p:sp>
        <p:nvSpPr>
          <p:cNvPr id="49" name="AutoShape 22"/>
          <p:cNvSpPr>
            <a:spLocks noChangeArrowheads="1"/>
          </p:cNvSpPr>
          <p:nvPr/>
        </p:nvSpPr>
        <p:spPr bwMode="auto">
          <a:xfrm>
            <a:off x="2192338" y="1836738"/>
            <a:ext cx="1341437" cy="1849437"/>
          </a:xfrm>
          <a:prstGeom prst="wedgeRoundRectCallout">
            <a:avLst>
              <a:gd name="adj1" fmla="val -73958"/>
              <a:gd name="adj2" fmla="val -875"/>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2607" name="AutoShape 10"/>
          <p:cNvSpPr>
            <a:spLocks noChangeArrowheads="1"/>
          </p:cNvSpPr>
          <p:nvPr/>
        </p:nvSpPr>
        <p:spPr bwMode="auto">
          <a:xfrm>
            <a:off x="2819400" y="1981200"/>
            <a:ext cx="374650" cy="1628775"/>
          </a:xfrm>
          <a:prstGeom prst="roundRect">
            <a:avLst>
              <a:gd name="adj" fmla="val 16667"/>
            </a:avLst>
          </a:prstGeom>
          <a:solidFill>
            <a:srgbClr val="FF99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2608" name="Line 15"/>
          <p:cNvSpPr>
            <a:spLocks noChangeShapeType="1"/>
          </p:cNvSpPr>
          <p:nvPr/>
        </p:nvSpPr>
        <p:spPr bwMode="auto">
          <a:xfrm>
            <a:off x="2895600" y="2286000"/>
            <a:ext cx="304800" cy="0"/>
          </a:xfrm>
          <a:prstGeom prst="line">
            <a:avLst/>
          </a:prstGeom>
          <a:noFill/>
          <a:ln w="5715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2609" name="Oval 44"/>
          <p:cNvSpPr>
            <a:spLocks noChangeArrowheads="1"/>
          </p:cNvSpPr>
          <p:nvPr/>
        </p:nvSpPr>
        <p:spPr bwMode="auto">
          <a:xfrm>
            <a:off x="2898775" y="22034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610" name="Oval 45"/>
          <p:cNvSpPr>
            <a:spLocks noChangeArrowheads="1"/>
          </p:cNvSpPr>
          <p:nvPr/>
        </p:nvSpPr>
        <p:spPr bwMode="auto">
          <a:xfrm>
            <a:off x="2898775" y="31051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0" name="Text Box 24"/>
          <p:cNvSpPr txBox="1">
            <a:spLocks noChangeArrowheads="1"/>
          </p:cNvSpPr>
          <p:nvPr/>
        </p:nvSpPr>
        <p:spPr bwMode="auto">
          <a:xfrm>
            <a:off x="31750" y="4343400"/>
            <a:ext cx="1914525" cy="523875"/>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Bitonic[2]</a:t>
            </a:r>
          </a:p>
        </p:txBody>
      </p:sp>
      <p:sp>
        <p:nvSpPr>
          <p:cNvPr id="51" name="AutoShape 22"/>
          <p:cNvSpPr>
            <a:spLocks noChangeArrowheads="1"/>
          </p:cNvSpPr>
          <p:nvPr/>
        </p:nvSpPr>
        <p:spPr bwMode="auto">
          <a:xfrm>
            <a:off x="2225675" y="3765550"/>
            <a:ext cx="1339850" cy="1849438"/>
          </a:xfrm>
          <a:prstGeom prst="wedgeRoundRectCallout">
            <a:avLst>
              <a:gd name="adj1" fmla="val -73958"/>
              <a:gd name="adj2" fmla="val -875"/>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2613" name="AutoShape 9"/>
          <p:cNvSpPr>
            <a:spLocks noChangeArrowheads="1"/>
          </p:cNvSpPr>
          <p:nvPr/>
        </p:nvSpPr>
        <p:spPr bwMode="auto">
          <a:xfrm>
            <a:off x="2835275" y="3873500"/>
            <a:ext cx="374650" cy="1628775"/>
          </a:xfrm>
          <a:prstGeom prst="roundRect">
            <a:avLst>
              <a:gd name="adj" fmla="val 16667"/>
            </a:avLst>
          </a:prstGeom>
          <a:solidFill>
            <a:srgbClr val="FF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2614" name="Line 16"/>
          <p:cNvSpPr>
            <a:spLocks noChangeShapeType="1"/>
          </p:cNvSpPr>
          <p:nvPr/>
        </p:nvSpPr>
        <p:spPr bwMode="auto">
          <a:xfrm>
            <a:off x="2895600" y="4343400"/>
            <a:ext cx="304800" cy="0"/>
          </a:xfrm>
          <a:prstGeom prst="line">
            <a:avLst/>
          </a:prstGeom>
          <a:noFill/>
          <a:ln w="5715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2615" name="Oval 46"/>
          <p:cNvSpPr>
            <a:spLocks noChangeArrowheads="1"/>
          </p:cNvSpPr>
          <p:nvPr/>
        </p:nvSpPr>
        <p:spPr bwMode="auto">
          <a:xfrm>
            <a:off x="2898775" y="41973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616" name="Oval 47"/>
          <p:cNvSpPr>
            <a:spLocks noChangeArrowheads="1"/>
          </p:cNvSpPr>
          <p:nvPr/>
        </p:nvSpPr>
        <p:spPr bwMode="auto">
          <a:xfrm>
            <a:off x="2898775" y="506095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6" grpId="0" animBg="1"/>
      <p:bldP spid="48" grpId="0"/>
      <p:bldP spid="49" grpId="0" animBg="1"/>
      <p:bldP spid="50" grpId="0"/>
      <p:bldP spid="51"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ooter Placeholder 3"/>
          <p:cNvSpPr>
            <a:spLocks noGrp="1"/>
          </p:cNvSpPr>
          <p:nvPr>
            <p:ph type="ftr" sz="quarter" idx="10"/>
          </p:nvPr>
        </p:nvSpPr>
        <p:spPr/>
        <p:txBody>
          <a:bodyPr/>
          <a:lstStyle/>
          <a:p>
            <a:pPr>
              <a:defRPr/>
            </a:pPr>
            <a:r>
              <a:rPr lang="en-US"/>
              <a:t>Art of Multiprocessor Programming</a:t>
            </a:r>
          </a:p>
        </p:txBody>
      </p:sp>
      <p:sp>
        <p:nvSpPr>
          <p:cNvPr id="37" name="Slide Number Placeholder 4"/>
          <p:cNvSpPr>
            <a:spLocks noGrp="1"/>
          </p:cNvSpPr>
          <p:nvPr>
            <p:ph type="sldNum" sz="quarter" idx="11"/>
          </p:nvPr>
        </p:nvSpPr>
        <p:spPr/>
        <p:txBody>
          <a:bodyPr/>
          <a:lstStyle/>
          <a:p>
            <a:pPr>
              <a:defRPr/>
            </a:pPr>
            <a:fld id="{53223072-F3F9-4DF6-BC46-F570F6A72F4A}" type="slidenum">
              <a:rPr lang="en-US"/>
              <a:pPr>
                <a:defRPr/>
              </a:pPr>
              <a:t>154</a:t>
            </a:fld>
            <a:endParaRPr lang="en-US"/>
          </a:p>
        </p:txBody>
      </p:sp>
      <p:sp>
        <p:nvSpPr>
          <p:cNvPr id="153604" name="Rectangle 2"/>
          <p:cNvSpPr>
            <a:spLocks noGrp="1" noChangeArrowheads="1"/>
          </p:cNvSpPr>
          <p:nvPr>
            <p:ph type="title"/>
          </p:nvPr>
        </p:nvSpPr>
        <p:spPr/>
        <p:txBody>
          <a:bodyPr/>
          <a:lstStyle/>
          <a:p>
            <a:r>
              <a:rPr lang="en-US"/>
              <a:t>Bitonic[8] Layout</a:t>
            </a:r>
          </a:p>
        </p:txBody>
      </p:sp>
      <p:sp>
        <p:nvSpPr>
          <p:cNvPr id="153605" name="Line 4"/>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3606" name="Line 5"/>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3607" name="Line 6"/>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3608" name="Line 7"/>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3609" name="Line 8"/>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3610" name="Line 9"/>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3611" name="Line 10"/>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3612" name="Line 11"/>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38" name="AutoShape 22"/>
          <p:cNvSpPr>
            <a:spLocks noChangeArrowheads="1"/>
          </p:cNvSpPr>
          <p:nvPr/>
        </p:nvSpPr>
        <p:spPr bwMode="auto">
          <a:xfrm>
            <a:off x="3405188" y="1905000"/>
            <a:ext cx="3389312" cy="3886200"/>
          </a:xfrm>
          <a:prstGeom prst="wedgeRoundRectCallout">
            <a:avLst>
              <a:gd name="adj1" fmla="val 74032"/>
              <a:gd name="adj2" fmla="val 1060"/>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3614" name="AutoShape 24"/>
          <p:cNvSpPr>
            <a:spLocks noChangeArrowheads="1"/>
          </p:cNvSpPr>
          <p:nvPr/>
        </p:nvSpPr>
        <p:spPr bwMode="auto">
          <a:xfrm>
            <a:off x="3549650" y="2133600"/>
            <a:ext cx="304800" cy="34290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15" name="AutoShape 25"/>
          <p:cNvSpPr>
            <a:spLocks noChangeArrowheads="1"/>
          </p:cNvSpPr>
          <p:nvPr/>
        </p:nvSpPr>
        <p:spPr bwMode="auto">
          <a:xfrm>
            <a:off x="6248400" y="21336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16" name="AutoShape 26"/>
          <p:cNvSpPr>
            <a:spLocks noChangeArrowheads="1"/>
          </p:cNvSpPr>
          <p:nvPr/>
        </p:nvSpPr>
        <p:spPr bwMode="auto">
          <a:xfrm>
            <a:off x="6248400" y="30734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17" name="AutoShape 27"/>
          <p:cNvSpPr>
            <a:spLocks noChangeArrowheads="1"/>
          </p:cNvSpPr>
          <p:nvPr/>
        </p:nvSpPr>
        <p:spPr bwMode="auto">
          <a:xfrm>
            <a:off x="6248400" y="40132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18" name="AutoShape 28"/>
          <p:cNvSpPr>
            <a:spLocks noChangeArrowheads="1"/>
          </p:cNvSpPr>
          <p:nvPr/>
        </p:nvSpPr>
        <p:spPr bwMode="auto">
          <a:xfrm>
            <a:off x="6248400" y="48768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19" name="AutoShape 29"/>
          <p:cNvSpPr>
            <a:spLocks noChangeArrowheads="1"/>
          </p:cNvSpPr>
          <p:nvPr/>
        </p:nvSpPr>
        <p:spPr bwMode="auto">
          <a:xfrm>
            <a:off x="4000500" y="2514600"/>
            <a:ext cx="304800" cy="26670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20" name="AutoShape 30"/>
          <p:cNvSpPr>
            <a:spLocks noChangeArrowheads="1"/>
          </p:cNvSpPr>
          <p:nvPr/>
        </p:nvSpPr>
        <p:spPr bwMode="auto">
          <a:xfrm>
            <a:off x="4449763" y="2895600"/>
            <a:ext cx="304800" cy="1828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21" name="AutoShape 31"/>
          <p:cNvSpPr>
            <a:spLocks noChangeArrowheads="1"/>
          </p:cNvSpPr>
          <p:nvPr/>
        </p:nvSpPr>
        <p:spPr bwMode="auto">
          <a:xfrm>
            <a:off x="4899025" y="3403600"/>
            <a:ext cx="304800" cy="9144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22" name="AutoShape 32"/>
          <p:cNvSpPr>
            <a:spLocks noChangeArrowheads="1"/>
          </p:cNvSpPr>
          <p:nvPr/>
        </p:nvSpPr>
        <p:spPr bwMode="auto">
          <a:xfrm>
            <a:off x="5348288" y="2133600"/>
            <a:ext cx="304800" cy="12192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23" name="AutoShape 33"/>
          <p:cNvSpPr>
            <a:spLocks noChangeArrowheads="1"/>
          </p:cNvSpPr>
          <p:nvPr/>
        </p:nvSpPr>
        <p:spPr bwMode="auto">
          <a:xfrm>
            <a:off x="5348288" y="4343400"/>
            <a:ext cx="304800" cy="12192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24" name="AutoShape 34"/>
          <p:cNvSpPr>
            <a:spLocks noChangeArrowheads="1"/>
          </p:cNvSpPr>
          <p:nvPr/>
        </p:nvSpPr>
        <p:spPr bwMode="auto">
          <a:xfrm>
            <a:off x="5797550" y="3886200"/>
            <a:ext cx="304800" cy="12954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3625" name="AutoShape 35"/>
          <p:cNvSpPr>
            <a:spLocks noChangeArrowheads="1"/>
          </p:cNvSpPr>
          <p:nvPr/>
        </p:nvSpPr>
        <p:spPr bwMode="auto">
          <a:xfrm>
            <a:off x="5791200" y="2438400"/>
            <a:ext cx="304800" cy="12954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39" name="Text Box 24"/>
          <p:cNvSpPr txBox="1">
            <a:spLocks noChangeArrowheads="1"/>
          </p:cNvSpPr>
          <p:nvPr/>
        </p:nvSpPr>
        <p:spPr bwMode="auto">
          <a:xfrm>
            <a:off x="7176524" y="3276600"/>
            <a:ext cx="1725151" cy="523220"/>
          </a:xfrm>
          <a:prstGeom prst="rect">
            <a:avLst/>
          </a:prstGeom>
          <a:noFill/>
          <a:ln w="9525" algn="ctr">
            <a:noFill/>
            <a:miter lim="800000"/>
            <a:headEnd/>
            <a:tailEnd/>
          </a:ln>
        </p:spPr>
        <p:txBody>
          <a:bodyPr wrap="none">
            <a:spAutoFit/>
          </a:bodyPr>
          <a:lstStyle/>
          <a:p>
            <a:pPr algn="ctr">
              <a:spcBef>
                <a:spcPct val="0"/>
              </a:spcBef>
            </a:pPr>
            <a:r>
              <a:rPr lang="en-US" sz="2800" b="0">
                <a:solidFill>
                  <a:srgbClr val="FF0000"/>
                </a:solidFill>
                <a:latin typeface="Arial" pitchFamily="34" charset="0"/>
                <a:cs typeface="Arial" pitchFamily="34" charset="0"/>
              </a:rPr>
              <a:t>Merger[8]</a:t>
            </a:r>
          </a:p>
        </p:txBody>
      </p:sp>
      <p:sp>
        <p:nvSpPr>
          <p:cNvPr id="40" name="Text Box 24"/>
          <p:cNvSpPr txBox="1">
            <a:spLocks noChangeArrowheads="1"/>
          </p:cNvSpPr>
          <p:nvPr/>
        </p:nvSpPr>
        <p:spPr bwMode="auto">
          <a:xfrm>
            <a:off x="0" y="871538"/>
            <a:ext cx="2814638" cy="522287"/>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Bitonic[4]</a:t>
            </a:r>
          </a:p>
        </p:txBody>
      </p:sp>
      <p:sp>
        <p:nvSpPr>
          <p:cNvPr id="41" name="AutoShape 22"/>
          <p:cNvSpPr>
            <a:spLocks noChangeArrowheads="1"/>
          </p:cNvSpPr>
          <p:nvPr/>
        </p:nvSpPr>
        <p:spPr bwMode="auto">
          <a:xfrm>
            <a:off x="1562100" y="1852613"/>
            <a:ext cx="1987550" cy="2033587"/>
          </a:xfrm>
          <a:prstGeom prst="wedgeRoundRectCallout">
            <a:avLst>
              <a:gd name="adj1" fmla="val -60176"/>
              <a:gd name="adj2" fmla="val -67935"/>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3629" name="AutoShape 12"/>
          <p:cNvSpPr>
            <a:spLocks noChangeArrowheads="1"/>
          </p:cNvSpPr>
          <p:nvPr/>
        </p:nvSpPr>
        <p:spPr bwMode="auto">
          <a:xfrm>
            <a:off x="1752600" y="2133600"/>
            <a:ext cx="304800" cy="685800"/>
          </a:xfrm>
          <a:prstGeom prst="roundRect">
            <a:avLst>
              <a:gd name="adj" fmla="val 16667"/>
            </a:avLst>
          </a:prstGeom>
          <a:solidFill>
            <a:srgbClr val="FF99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30" name="AutoShape 13"/>
          <p:cNvSpPr>
            <a:spLocks noChangeArrowheads="1"/>
          </p:cNvSpPr>
          <p:nvPr/>
        </p:nvSpPr>
        <p:spPr bwMode="auto">
          <a:xfrm>
            <a:off x="1752600" y="2997200"/>
            <a:ext cx="304800" cy="685800"/>
          </a:xfrm>
          <a:prstGeom prst="roundRect">
            <a:avLst>
              <a:gd name="adj" fmla="val 16667"/>
            </a:avLst>
          </a:prstGeom>
          <a:solidFill>
            <a:srgbClr val="FF99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31" name="AutoShape 18"/>
          <p:cNvSpPr>
            <a:spLocks noChangeArrowheads="1"/>
          </p:cNvSpPr>
          <p:nvPr/>
        </p:nvSpPr>
        <p:spPr bwMode="auto">
          <a:xfrm>
            <a:off x="3100388" y="2133600"/>
            <a:ext cx="304800" cy="685800"/>
          </a:xfrm>
          <a:prstGeom prst="roundRect">
            <a:avLst>
              <a:gd name="adj" fmla="val 16667"/>
            </a:avLst>
          </a:prstGeom>
          <a:solidFill>
            <a:srgbClr val="FF99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32" name="AutoShape 19"/>
          <p:cNvSpPr>
            <a:spLocks noChangeArrowheads="1"/>
          </p:cNvSpPr>
          <p:nvPr/>
        </p:nvSpPr>
        <p:spPr bwMode="auto">
          <a:xfrm>
            <a:off x="3100388" y="3048000"/>
            <a:ext cx="304800" cy="685800"/>
          </a:xfrm>
          <a:prstGeom prst="roundRect">
            <a:avLst>
              <a:gd name="adj" fmla="val 16667"/>
            </a:avLst>
          </a:prstGeom>
          <a:solidFill>
            <a:srgbClr val="FF99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33" name="AutoShape 20"/>
          <p:cNvSpPr>
            <a:spLocks noChangeArrowheads="1"/>
          </p:cNvSpPr>
          <p:nvPr/>
        </p:nvSpPr>
        <p:spPr bwMode="auto">
          <a:xfrm>
            <a:off x="2651125" y="2590800"/>
            <a:ext cx="304800" cy="685800"/>
          </a:xfrm>
          <a:prstGeom prst="roundRect">
            <a:avLst>
              <a:gd name="adj" fmla="val 16667"/>
            </a:avLst>
          </a:prstGeom>
          <a:solidFill>
            <a:srgbClr val="FF99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34" name="AutoShape 23"/>
          <p:cNvSpPr>
            <a:spLocks noChangeArrowheads="1"/>
          </p:cNvSpPr>
          <p:nvPr/>
        </p:nvSpPr>
        <p:spPr bwMode="auto">
          <a:xfrm>
            <a:off x="2201863" y="2133600"/>
            <a:ext cx="304800" cy="1600200"/>
          </a:xfrm>
          <a:prstGeom prst="roundRect">
            <a:avLst>
              <a:gd name="adj" fmla="val 16667"/>
            </a:avLst>
          </a:prstGeom>
          <a:solidFill>
            <a:srgbClr val="FF99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 name="Text Box 24"/>
          <p:cNvSpPr txBox="1">
            <a:spLocks noChangeArrowheads="1"/>
          </p:cNvSpPr>
          <p:nvPr/>
        </p:nvSpPr>
        <p:spPr bwMode="auto">
          <a:xfrm>
            <a:off x="1039813" y="6181725"/>
            <a:ext cx="2814637" cy="523875"/>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Bitonic[4]</a:t>
            </a:r>
          </a:p>
        </p:txBody>
      </p:sp>
      <p:sp>
        <p:nvSpPr>
          <p:cNvPr id="43" name="AutoShape 22"/>
          <p:cNvSpPr>
            <a:spLocks noChangeArrowheads="1"/>
          </p:cNvSpPr>
          <p:nvPr/>
        </p:nvSpPr>
        <p:spPr bwMode="auto">
          <a:xfrm>
            <a:off x="1562100" y="3859213"/>
            <a:ext cx="1987550" cy="2033587"/>
          </a:xfrm>
          <a:prstGeom prst="wedgeRoundRectCallout">
            <a:avLst>
              <a:gd name="adj1" fmla="val -912"/>
              <a:gd name="adj2" fmla="val 61625"/>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3637" name="AutoShape 14"/>
          <p:cNvSpPr>
            <a:spLocks noChangeArrowheads="1"/>
          </p:cNvSpPr>
          <p:nvPr/>
        </p:nvSpPr>
        <p:spPr bwMode="auto">
          <a:xfrm>
            <a:off x="1752600" y="3937000"/>
            <a:ext cx="304800" cy="685800"/>
          </a:xfrm>
          <a:prstGeom prst="roundRect">
            <a:avLst>
              <a:gd name="adj" fmla="val 16667"/>
            </a:avLst>
          </a:prstGeom>
          <a:solidFill>
            <a:srgbClr val="FFFF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38" name="AutoShape 15"/>
          <p:cNvSpPr>
            <a:spLocks noChangeArrowheads="1"/>
          </p:cNvSpPr>
          <p:nvPr/>
        </p:nvSpPr>
        <p:spPr bwMode="auto">
          <a:xfrm>
            <a:off x="1752600" y="4876800"/>
            <a:ext cx="304800" cy="685800"/>
          </a:xfrm>
          <a:prstGeom prst="roundRect">
            <a:avLst>
              <a:gd name="adj" fmla="val 16667"/>
            </a:avLst>
          </a:prstGeom>
          <a:solidFill>
            <a:srgbClr val="FFFF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39" name="AutoShape 16"/>
          <p:cNvSpPr>
            <a:spLocks noChangeArrowheads="1"/>
          </p:cNvSpPr>
          <p:nvPr/>
        </p:nvSpPr>
        <p:spPr bwMode="auto">
          <a:xfrm>
            <a:off x="3100388" y="3962400"/>
            <a:ext cx="304800" cy="685800"/>
          </a:xfrm>
          <a:prstGeom prst="roundRect">
            <a:avLst>
              <a:gd name="adj" fmla="val 16667"/>
            </a:avLst>
          </a:prstGeom>
          <a:solidFill>
            <a:srgbClr val="FFFF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40" name="AutoShape 17"/>
          <p:cNvSpPr>
            <a:spLocks noChangeArrowheads="1"/>
          </p:cNvSpPr>
          <p:nvPr/>
        </p:nvSpPr>
        <p:spPr bwMode="auto">
          <a:xfrm>
            <a:off x="3100388" y="4876800"/>
            <a:ext cx="304800" cy="685800"/>
          </a:xfrm>
          <a:prstGeom prst="roundRect">
            <a:avLst>
              <a:gd name="adj" fmla="val 16667"/>
            </a:avLst>
          </a:prstGeom>
          <a:solidFill>
            <a:srgbClr val="FFFF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41" name="AutoShape 21"/>
          <p:cNvSpPr>
            <a:spLocks noChangeArrowheads="1"/>
          </p:cNvSpPr>
          <p:nvPr/>
        </p:nvSpPr>
        <p:spPr bwMode="auto">
          <a:xfrm>
            <a:off x="2651125" y="4419600"/>
            <a:ext cx="304800" cy="685800"/>
          </a:xfrm>
          <a:prstGeom prst="roundRect">
            <a:avLst>
              <a:gd name="adj" fmla="val 16667"/>
            </a:avLst>
          </a:prstGeom>
          <a:solidFill>
            <a:srgbClr val="FFFF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642" name="AutoShape 22"/>
          <p:cNvSpPr>
            <a:spLocks noChangeArrowheads="1"/>
          </p:cNvSpPr>
          <p:nvPr/>
        </p:nvSpPr>
        <p:spPr bwMode="auto">
          <a:xfrm>
            <a:off x="2201863" y="3962400"/>
            <a:ext cx="304800" cy="1600200"/>
          </a:xfrm>
          <a:prstGeom prst="roundRect">
            <a:avLst>
              <a:gd name="adj" fmla="val 16667"/>
            </a:avLst>
          </a:prstGeom>
          <a:solidFill>
            <a:srgbClr val="FFFF99"/>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P spid="40" grpId="0"/>
      <p:bldP spid="41" grpId="0" animBg="1"/>
      <p:bldP spid="42" grpId="0"/>
      <p:bldP spid="43"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3"/>
          <p:cNvSpPr>
            <a:spLocks noGrp="1"/>
          </p:cNvSpPr>
          <p:nvPr>
            <p:ph type="ftr" sz="quarter" idx="10"/>
          </p:nvPr>
        </p:nvSpPr>
        <p:spPr/>
        <p:txBody>
          <a:bodyPr/>
          <a:lstStyle/>
          <a:p>
            <a:pPr>
              <a:defRPr/>
            </a:pPr>
            <a:r>
              <a:rPr lang="en-US"/>
              <a:t>Art of Multiprocessor Programming</a:t>
            </a:r>
          </a:p>
        </p:txBody>
      </p:sp>
      <p:sp>
        <p:nvSpPr>
          <p:cNvPr id="38" name="Slide Number Placeholder 4"/>
          <p:cNvSpPr>
            <a:spLocks noGrp="1"/>
          </p:cNvSpPr>
          <p:nvPr>
            <p:ph type="sldNum" sz="quarter" idx="11"/>
          </p:nvPr>
        </p:nvSpPr>
        <p:spPr/>
        <p:txBody>
          <a:bodyPr/>
          <a:lstStyle/>
          <a:p>
            <a:pPr>
              <a:defRPr/>
            </a:pPr>
            <a:fld id="{C17B215A-7C28-4684-B9D6-7513E6BEE731}" type="slidenum">
              <a:rPr lang="en-US"/>
              <a:pPr>
                <a:defRPr/>
              </a:pPr>
              <a:t>155</a:t>
            </a:fld>
            <a:endParaRPr lang="en-US"/>
          </a:p>
        </p:txBody>
      </p:sp>
      <p:sp>
        <p:nvSpPr>
          <p:cNvPr id="154628" name="Line 2"/>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29" name="Line 3"/>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30" name="Line 4"/>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31" name="Line 5"/>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32" name="Line 6"/>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33" name="Line 7"/>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34" name="Line 8"/>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35" name="Line 9"/>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36" name="AutoShape 10"/>
          <p:cNvSpPr>
            <a:spLocks noChangeArrowheads="1"/>
          </p:cNvSpPr>
          <p:nvPr/>
        </p:nvSpPr>
        <p:spPr bwMode="auto">
          <a:xfrm>
            <a:off x="1752600" y="2133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37" name="AutoShape 11"/>
          <p:cNvSpPr>
            <a:spLocks noChangeArrowheads="1"/>
          </p:cNvSpPr>
          <p:nvPr/>
        </p:nvSpPr>
        <p:spPr bwMode="auto">
          <a:xfrm>
            <a:off x="1752600" y="29972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38" name="AutoShape 12"/>
          <p:cNvSpPr>
            <a:spLocks noChangeArrowheads="1"/>
          </p:cNvSpPr>
          <p:nvPr/>
        </p:nvSpPr>
        <p:spPr bwMode="auto">
          <a:xfrm>
            <a:off x="1752600" y="39370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39" name="AutoShape 13"/>
          <p:cNvSpPr>
            <a:spLocks noChangeArrowheads="1"/>
          </p:cNvSpPr>
          <p:nvPr/>
        </p:nvSpPr>
        <p:spPr bwMode="auto">
          <a:xfrm>
            <a:off x="1752600" y="48768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0" name="AutoShape 14"/>
          <p:cNvSpPr>
            <a:spLocks noChangeArrowheads="1"/>
          </p:cNvSpPr>
          <p:nvPr/>
        </p:nvSpPr>
        <p:spPr bwMode="auto">
          <a:xfrm>
            <a:off x="3100388" y="39624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1" name="AutoShape 15"/>
          <p:cNvSpPr>
            <a:spLocks noChangeArrowheads="1"/>
          </p:cNvSpPr>
          <p:nvPr/>
        </p:nvSpPr>
        <p:spPr bwMode="auto">
          <a:xfrm>
            <a:off x="3100388" y="48768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2" name="AutoShape 16"/>
          <p:cNvSpPr>
            <a:spLocks noChangeArrowheads="1"/>
          </p:cNvSpPr>
          <p:nvPr/>
        </p:nvSpPr>
        <p:spPr bwMode="auto">
          <a:xfrm>
            <a:off x="3100388" y="2133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3" name="AutoShape 17"/>
          <p:cNvSpPr>
            <a:spLocks noChangeArrowheads="1"/>
          </p:cNvSpPr>
          <p:nvPr/>
        </p:nvSpPr>
        <p:spPr bwMode="auto">
          <a:xfrm>
            <a:off x="3100388" y="3051175"/>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4" name="AutoShape 18"/>
          <p:cNvSpPr>
            <a:spLocks noChangeArrowheads="1"/>
          </p:cNvSpPr>
          <p:nvPr/>
        </p:nvSpPr>
        <p:spPr bwMode="auto">
          <a:xfrm>
            <a:off x="2651125" y="25908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5" name="AutoShape 19"/>
          <p:cNvSpPr>
            <a:spLocks noChangeArrowheads="1"/>
          </p:cNvSpPr>
          <p:nvPr/>
        </p:nvSpPr>
        <p:spPr bwMode="auto">
          <a:xfrm>
            <a:off x="2651125" y="4419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6" name="AutoShape 20"/>
          <p:cNvSpPr>
            <a:spLocks noChangeArrowheads="1"/>
          </p:cNvSpPr>
          <p:nvPr/>
        </p:nvSpPr>
        <p:spPr bwMode="auto">
          <a:xfrm>
            <a:off x="2201863" y="3962400"/>
            <a:ext cx="304800" cy="16002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7" name="AutoShape 21"/>
          <p:cNvSpPr>
            <a:spLocks noChangeArrowheads="1"/>
          </p:cNvSpPr>
          <p:nvPr/>
        </p:nvSpPr>
        <p:spPr bwMode="auto">
          <a:xfrm>
            <a:off x="2201863" y="2133600"/>
            <a:ext cx="304800" cy="16002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4648" name="AutoShape 22"/>
          <p:cNvSpPr>
            <a:spLocks noChangeArrowheads="1"/>
          </p:cNvSpPr>
          <p:nvPr/>
        </p:nvSpPr>
        <p:spPr bwMode="auto">
          <a:xfrm>
            <a:off x="3352800" y="1905000"/>
            <a:ext cx="3441700" cy="3886200"/>
          </a:xfrm>
          <a:prstGeom prst="wedgeRoundRectCallout">
            <a:avLst>
              <a:gd name="adj1" fmla="val 74032"/>
              <a:gd name="adj2" fmla="val 1060"/>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dirty="0">
              <a:latin typeface="Arial" pitchFamily="34" charset="0"/>
            </a:endParaRPr>
          </a:p>
        </p:txBody>
      </p:sp>
      <p:sp>
        <p:nvSpPr>
          <p:cNvPr id="154649" name="Rectangle 23"/>
          <p:cNvSpPr>
            <a:spLocks noGrp="1" noChangeArrowheads="1"/>
          </p:cNvSpPr>
          <p:nvPr>
            <p:ph type="title"/>
          </p:nvPr>
        </p:nvSpPr>
        <p:spPr/>
        <p:txBody>
          <a:bodyPr/>
          <a:lstStyle/>
          <a:p>
            <a:r>
              <a:rPr lang="en-US"/>
              <a:t>Unfolded Bitonic[8] Network</a:t>
            </a:r>
          </a:p>
        </p:txBody>
      </p:sp>
      <p:sp>
        <p:nvSpPr>
          <p:cNvPr id="154650" name="Text Box 24"/>
          <p:cNvSpPr txBox="1">
            <a:spLocks noChangeArrowheads="1"/>
          </p:cNvSpPr>
          <p:nvPr/>
        </p:nvSpPr>
        <p:spPr bwMode="auto">
          <a:xfrm>
            <a:off x="7176524" y="3448050"/>
            <a:ext cx="1725151" cy="523220"/>
          </a:xfrm>
          <a:prstGeom prst="rect">
            <a:avLst/>
          </a:prstGeom>
          <a:noFill/>
          <a:ln w="9525" algn="ctr">
            <a:noFill/>
            <a:miter lim="800000"/>
            <a:headEnd/>
            <a:tailEnd/>
          </a:ln>
        </p:spPr>
        <p:txBody>
          <a:bodyPr wrap="none">
            <a:spAutoFit/>
          </a:bodyPr>
          <a:lstStyle/>
          <a:p>
            <a:pPr algn="ctr">
              <a:spcBef>
                <a:spcPct val="0"/>
              </a:spcBef>
            </a:pPr>
            <a:r>
              <a:rPr lang="en-US" sz="2800" b="0" dirty="0">
                <a:solidFill>
                  <a:srgbClr val="FF0000"/>
                </a:solidFill>
                <a:latin typeface="Arial" pitchFamily="34" charset="0"/>
                <a:cs typeface="Arial" pitchFamily="34" charset="0"/>
              </a:rPr>
              <a:t>Merger[8]</a:t>
            </a:r>
          </a:p>
        </p:txBody>
      </p:sp>
      <p:sp>
        <p:nvSpPr>
          <p:cNvPr id="154651" name="AutoShape 25"/>
          <p:cNvSpPr>
            <a:spLocks noChangeArrowheads="1"/>
          </p:cNvSpPr>
          <p:nvPr/>
        </p:nvSpPr>
        <p:spPr bwMode="auto">
          <a:xfrm>
            <a:off x="3549650" y="2133600"/>
            <a:ext cx="304800" cy="34290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52" name="AutoShape 26"/>
          <p:cNvSpPr>
            <a:spLocks noChangeArrowheads="1"/>
          </p:cNvSpPr>
          <p:nvPr/>
        </p:nvSpPr>
        <p:spPr bwMode="auto">
          <a:xfrm>
            <a:off x="6248400" y="21336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53" name="AutoShape 27"/>
          <p:cNvSpPr>
            <a:spLocks noChangeArrowheads="1"/>
          </p:cNvSpPr>
          <p:nvPr/>
        </p:nvSpPr>
        <p:spPr bwMode="auto">
          <a:xfrm>
            <a:off x="6248400" y="30734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54" name="AutoShape 28"/>
          <p:cNvSpPr>
            <a:spLocks noChangeArrowheads="1"/>
          </p:cNvSpPr>
          <p:nvPr/>
        </p:nvSpPr>
        <p:spPr bwMode="auto">
          <a:xfrm>
            <a:off x="6248400" y="40132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55" name="AutoShape 29"/>
          <p:cNvSpPr>
            <a:spLocks noChangeArrowheads="1"/>
          </p:cNvSpPr>
          <p:nvPr/>
        </p:nvSpPr>
        <p:spPr bwMode="auto">
          <a:xfrm>
            <a:off x="6248400" y="48768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56" name="AutoShape 30"/>
          <p:cNvSpPr>
            <a:spLocks noChangeArrowheads="1"/>
          </p:cNvSpPr>
          <p:nvPr/>
        </p:nvSpPr>
        <p:spPr bwMode="auto">
          <a:xfrm>
            <a:off x="4000500" y="2514600"/>
            <a:ext cx="304800" cy="26670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57" name="AutoShape 31"/>
          <p:cNvSpPr>
            <a:spLocks noChangeArrowheads="1"/>
          </p:cNvSpPr>
          <p:nvPr/>
        </p:nvSpPr>
        <p:spPr bwMode="auto">
          <a:xfrm>
            <a:off x="4449763" y="2895600"/>
            <a:ext cx="304800" cy="1828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58" name="AutoShape 32"/>
          <p:cNvSpPr>
            <a:spLocks noChangeArrowheads="1"/>
          </p:cNvSpPr>
          <p:nvPr/>
        </p:nvSpPr>
        <p:spPr bwMode="auto">
          <a:xfrm>
            <a:off x="4899025" y="3352800"/>
            <a:ext cx="304800" cy="9144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59" name="AutoShape 33"/>
          <p:cNvSpPr>
            <a:spLocks noChangeArrowheads="1"/>
          </p:cNvSpPr>
          <p:nvPr/>
        </p:nvSpPr>
        <p:spPr bwMode="auto">
          <a:xfrm>
            <a:off x="5348288" y="2133600"/>
            <a:ext cx="304800" cy="12192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60" name="AutoShape 34"/>
          <p:cNvSpPr>
            <a:spLocks noChangeArrowheads="1"/>
          </p:cNvSpPr>
          <p:nvPr/>
        </p:nvSpPr>
        <p:spPr bwMode="auto">
          <a:xfrm>
            <a:off x="5348288" y="4343400"/>
            <a:ext cx="304800" cy="12192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61" name="AutoShape 35"/>
          <p:cNvSpPr>
            <a:spLocks noChangeArrowheads="1"/>
          </p:cNvSpPr>
          <p:nvPr/>
        </p:nvSpPr>
        <p:spPr bwMode="auto">
          <a:xfrm>
            <a:off x="5797550" y="3886200"/>
            <a:ext cx="304800" cy="12954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4662" name="AutoShape 36"/>
          <p:cNvSpPr>
            <a:spLocks noChangeArrowheads="1"/>
          </p:cNvSpPr>
          <p:nvPr/>
        </p:nvSpPr>
        <p:spPr bwMode="auto">
          <a:xfrm>
            <a:off x="5791200" y="2438400"/>
            <a:ext cx="304800" cy="12954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3"/>
          <p:cNvSpPr>
            <a:spLocks noGrp="1"/>
          </p:cNvSpPr>
          <p:nvPr>
            <p:ph type="ftr" sz="quarter" idx="10"/>
          </p:nvPr>
        </p:nvSpPr>
        <p:spPr/>
        <p:txBody>
          <a:bodyPr/>
          <a:lstStyle/>
          <a:p>
            <a:pPr>
              <a:defRPr/>
            </a:pPr>
            <a:r>
              <a:rPr lang="en-US"/>
              <a:t>Art of Multiprocessor Programming</a:t>
            </a:r>
          </a:p>
        </p:txBody>
      </p:sp>
      <p:sp>
        <p:nvSpPr>
          <p:cNvPr id="41" name="Slide Number Placeholder 4"/>
          <p:cNvSpPr>
            <a:spLocks noGrp="1"/>
          </p:cNvSpPr>
          <p:nvPr>
            <p:ph type="sldNum" sz="quarter" idx="11"/>
          </p:nvPr>
        </p:nvSpPr>
        <p:spPr/>
        <p:txBody>
          <a:bodyPr/>
          <a:lstStyle/>
          <a:p>
            <a:pPr>
              <a:defRPr/>
            </a:pPr>
            <a:fld id="{FC7B8550-FA73-43BC-99FD-7A05FD3D071E}" type="slidenum">
              <a:rPr lang="en-US"/>
              <a:pPr>
                <a:defRPr/>
              </a:pPr>
              <a:t>156</a:t>
            </a:fld>
            <a:endParaRPr lang="en-US"/>
          </a:p>
        </p:txBody>
      </p:sp>
      <p:grpSp>
        <p:nvGrpSpPr>
          <p:cNvPr id="155652" name="Group 2"/>
          <p:cNvGrpSpPr>
            <a:grpSpLocks/>
          </p:cNvGrpSpPr>
          <p:nvPr/>
        </p:nvGrpSpPr>
        <p:grpSpPr bwMode="auto">
          <a:xfrm>
            <a:off x="1562100" y="2222500"/>
            <a:ext cx="5410200" cy="3124200"/>
            <a:chOff x="984" y="1400"/>
            <a:chExt cx="3408" cy="1968"/>
          </a:xfrm>
        </p:grpSpPr>
        <p:sp>
          <p:nvSpPr>
            <p:cNvPr id="155682" name="Line 3"/>
            <p:cNvSpPr>
              <a:spLocks noChangeShapeType="1"/>
            </p:cNvSpPr>
            <p:nvPr/>
          </p:nvSpPr>
          <p:spPr bwMode="auto">
            <a:xfrm>
              <a:off x="984" y="1400"/>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83" name="Line 4"/>
            <p:cNvSpPr>
              <a:spLocks noChangeShapeType="1"/>
            </p:cNvSpPr>
            <p:nvPr/>
          </p:nvSpPr>
          <p:spPr bwMode="auto">
            <a:xfrm>
              <a:off x="984" y="1681"/>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84" name="Line 5"/>
            <p:cNvSpPr>
              <a:spLocks noChangeShapeType="1"/>
            </p:cNvSpPr>
            <p:nvPr/>
          </p:nvSpPr>
          <p:spPr bwMode="auto">
            <a:xfrm>
              <a:off x="984" y="1962"/>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85" name="Line 6"/>
            <p:cNvSpPr>
              <a:spLocks noChangeShapeType="1"/>
            </p:cNvSpPr>
            <p:nvPr/>
          </p:nvSpPr>
          <p:spPr bwMode="auto">
            <a:xfrm>
              <a:off x="984" y="2243"/>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86" name="Line 7"/>
            <p:cNvSpPr>
              <a:spLocks noChangeShapeType="1"/>
            </p:cNvSpPr>
            <p:nvPr/>
          </p:nvSpPr>
          <p:spPr bwMode="auto">
            <a:xfrm>
              <a:off x="984" y="2524"/>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87" name="Line 8"/>
            <p:cNvSpPr>
              <a:spLocks noChangeShapeType="1"/>
            </p:cNvSpPr>
            <p:nvPr/>
          </p:nvSpPr>
          <p:spPr bwMode="auto">
            <a:xfrm>
              <a:off x="984" y="2805"/>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88" name="Line 9"/>
            <p:cNvSpPr>
              <a:spLocks noChangeShapeType="1"/>
            </p:cNvSpPr>
            <p:nvPr/>
          </p:nvSpPr>
          <p:spPr bwMode="auto">
            <a:xfrm>
              <a:off x="984" y="3086"/>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89" name="Line 10"/>
            <p:cNvSpPr>
              <a:spLocks noChangeShapeType="1"/>
            </p:cNvSpPr>
            <p:nvPr/>
          </p:nvSpPr>
          <p:spPr bwMode="auto">
            <a:xfrm>
              <a:off x="984" y="3368"/>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grpSp>
      <p:sp>
        <p:nvSpPr>
          <p:cNvPr id="155653" name="AutoShape 11"/>
          <p:cNvSpPr>
            <a:spLocks noChangeArrowheads="1"/>
          </p:cNvSpPr>
          <p:nvPr/>
        </p:nvSpPr>
        <p:spPr bwMode="auto">
          <a:xfrm>
            <a:off x="3549650" y="2133600"/>
            <a:ext cx="304800" cy="34290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54" name="AutoShape 12"/>
          <p:cNvSpPr>
            <a:spLocks noChangeArrowheads="1"/>
          </p:cNvSpPr>
          <p:nvPr/>
        </p:nvSpPr>
        <p:spPr bwMode="auto">
          <a:xfrm>
            <a:off x="6248400" y="2133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55" name="AutoShape 13"/>
          <p:cNvSpPr>
            <a:spLocks noChangeArrowheads="1"/>
          </p:cNvSpPr>
          <p:nvPr/>
        </p:nvSpPr>
        <p:spPr bwMode="auto">
          <a:xfrm>
            <a:off x="6248400" y="30734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56" name="AutoShape 14"/>
          <p:cNvSpPr>
            <a:spLocks noChangeArrowheads="1"/>
          </p:cNvSpPr>
          <p:nvPr/>
        </p:nvSpPr>
        <p:spPr bwMode="auto">
          <a:xfrm>
            <a:off x="6248400" y="40132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57" name="AutoShape 15"/>
          <p:cNvSpPr>
            <a:spLocks noChangeArrowheads="1"/>
          </p:cNvSpPr>
          <p:nvPr/>
        </p:nvSpPr>
        <p:spPr bwMode="auto">
          <a:xfrm>
            <a:off x="6248400" y="48768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58" name="AutoShape 16"/>
          <p:cNvSpPr>
            <a:spLocks noChangeArrowheads="1"/>
          </p:cNvSpPr>
          <p:nvPr/>
        </p:nvSpPr>
        <p:spPr bwMode="auto">
          <a:xfrm>
            <a:off x="4000500" y="2514600"/>
            <a:ext cx="304800" cy="26670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59" name="AutoShape 17"/>
          <p:cNvSpPr>
            <a:spLocks noChangeArrowheads="1"/>
          </p:cNvSpPr>
          <p:nvPr/>
        </p:nvSpPr>
        <p:spPr bwMode="auto">
          <a:xfrm>
            <a:off x="4449763" y="2895600"/>
            <a:ext cx="304800" cy="1828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0" name="AutoShape 18"/>
          <p:cNvSpPr>
            <a:spLocks noChangeArrowheads="1"/>
          </p:cNvSpPr>
          <p:nvPr/>
        </p:nvSpPr>
        <p:spPr bwMode="auto">
          <a:xfrm>
            <a:off x="4899025" y="3352800"/>
            <a:ext cx="304800" cy="9144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1" name="AutoShape 19"/>
          <p:cNvSpPr>
            <a:spLocks noChangeArrowheads="1"/>
          </p:cNvSpPr>
          <p:nvPr/>
        </p:nvSpPr>
        <p:spPr bwMode="auto">
          <a:xfrm>
            <a:off x="5348288" y="2133600"/>
            <a:ext cx="304800" cy="12192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2" name="AutoShape 20"/>
          <p:cNvSpPr>
            <a:spLocks noChangeArrowheads="1"/>
          </p:cNvSpPr>
          <p:nvPr/>
        </p:nvSpPr>
        <p:spPr bwMode="auto">
          <a:xfrm>
            <a:off x="5348288" y="4343400"/>
            <a:ext cx="304800" cy="12192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3" name="AutoShape 21"/>
          <p:cNvSpPr>
            <a:spLocks noChangeArrowheads="1"/>
          </p:cNvSpPr>
          <p:nvPr/>
        </p:nvSpPr>
        <p:spPr bwMode="auto">
          <a:xfrm>
            <a:off x="5797550" y="3886200"/>
            <a:ext cx="304800" cy="12954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4" name="AutoShape 22"/>
          <p:cNvSpPr>
            <a:spLocks noChangeArrowheads="1"/>
          </p:cNvSpPr>
          <p:nvPr/>
        </p:nvSpPr>
        <p:spPr bwMode="auto">
          <a:xfrm>
            <a:off x="5791200" y="2438400"/>
            <a:ext cx="304800" cy="12954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5" name="AutoShape 23"/>
          <p:cNvSpPr>
            <a:spLocks noChangeArrowheads="1"/>
          </p:cNvSpPr>
          <p:nvPr/>
        </p:nvSpPr>
        <p:spPr bwMode="auto">
          <a:xfrm>
            <a:off x="1752600" y="2133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6" name="AutoShape 24"/>
          <p:cNvSpPr>
            <a:spLocks noChangeArrowheads="1"/>
          </p:cNvSpPr>
          <p:nvPr/>
        </p:nvSpPr>
        <p:spPr bwMode="auto">
          <a:xfrm>
            <a:off x="1752600" y="29972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7" name="AutoShape 25"/>
          <p:cNvSpPr>
            <a:spLocks noChangeArrowheads="1"/>
          </p:cNvSpPr>
          <p:nvPr/>
        </p:nvSpPr>
        <p:spPr bwMode="auto">
          <a:xfrm>
            <a:off x="1752600" y="39370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8" name="AutoShape 26"/>
          <p:cNvSpPr>
            <a:spLocks noChangeArrowheads="1"/>
          </p:cNvSpPr>
          <p:nvPr/>
        </p:nvSpPr>
        <p:spPr bwMode="auto">
          <a:xfrm>
            <a:off x="1752600" y="48768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55669" name="AutoShape 27"/>
          <p:cNvSpPr>
            <a:spLocks noChangeArrowheads="1"/>
          </p:cNvSpPr>
          <p:nvPr/>
        </p:nvSpPr>
        <p:spPr bwMode="auto">
          <a:xfrm>
            <a:off x="2095500" y="1993900"/>
            <a:ext cx="1397000" cy="1816100"/>
          </a:xfrm>
          <a:prstGeom prst="wedgeRoundRectCallout">
            <a:avLst>
              <a:gd name="adj1" fmla="val 297384"/>
              <a:gd name="adj2" fmla="val -17657"/>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dirty="0">
              <a:latin typeface="Arial" pitchFamily="34" charset="0"/>
            </a:endParaRPr>
          </a:p>
        </p:txBody>
      </p:sp>
      <p:sp>
        <p:nvSpPr>
          <p:cNvPr id="155670" name="Rectangle 28"/>
          <p:cNvSpPr>
            <a:spLocks noGrp="1" noChangeArrowheads="1"/>
          </p:cNvSpPr>
          <p:nvPr>
            <p:ph type="title"/>
          </p:nvPr>
        </p:nvSpPr>
        <p:spPr/>
        <p:txBody>
          <a:bodyPr/>
          <a:lstStyle/>
          <a:p>
            <a:r>
              <a:rPr lang="en-US"/>
              <a:t>Unfolded Bitonic[8] Network</a:t>
            </a:r>
          </a:p>
        </p:txBody>
      </p:sp>
      <p:sp>
        <p:nvSpPr>
          <p:cNvPr id="155671" name="Text Box 29"/>
          <p:cNvSpPr txBox="1">
            <a:spLocks noChangeArrowheads="1"/>
          </p:cNvSpPr>
          <p:nvPr/>
        </p:nvSpPr>
        <p:spPr bwMode="auto">
          <a:xfrm>
            <a:off x="7087624" y="2266950"/>
            <a:ext cx="1725151" cy="523220"/>
          </a:xfrm>
          <a:prstGeom prst="rect">
            <a:avLst/>
          </a:prstGeom>
          <a:noFill/>
          <a:ln w="9525" algn="ctr">
            <a:noFill/>
            <a:miter lim="800000"/>
            <a:headEnd/>
            <a:tailEnd/>
          </a:ln>
        </p:spPr>
        <p:txBody>
          <a:bodyPr wrap="none">
            <a:spAutoFit/>
          </a:bodyPr>
          <a:lstStyle/>
          <a:p>
            <a:pPr algn="ctr">
              <a:spcBef>
                <a:spcPct val="0"/>
              </a:spcBef>
            </a:pPr>
            <a:r>
              <a:rPr lang="en-US" sz="2800" b="0">
                <a:solidFill>
                  <a:srgbClr val="FF0000"/>
                </a:solidFill>
                <a:latin typeface="Arial" pitchFamily="34" charset="0"/>
                <a:cs typeface="Arial" pitchFamily="34" charset="0"/>
              </a:rPr>
              <a:t>Merger[4]</a:t>
            </a:r>
          </a:p>
        </p:txBody>
      </p:sp>
      <p:sp>
        <p:nvSpPr>
          <p:cNvPr id="155672" name="AutoShape 30"/>
          <p:cNvSpPr>
            <a:spLocks noChangeArrowheads="1"/>
          </p:cNvSpPr>
          <p:nvPr/>
        </p:nvSpPr>
        <p:spPr bwMode="auto">
          <a:xfrm>
            <a:off x="3100388" y="21336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5673" name="AutoShape 31"/>
          <p:cNvSpPr>
            <a:spLocks noChangeArrowheads="1"/>
          </p:cNvSpPr>
          <p:nvPr/>
        </p:nvSpPr>
        <p:spPr bwMode="auto">
          <a:xfrm>
            <a:off x="3100388" y="3019425"/>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5674" name="AutoShape 32"/>
          <p:cNvSpPr>
            <a:spLocks noChangeArrowheads="1"/>
          </p:cNvSpPr>
          <p:nvPr/>
        </p:nvSpPr>
        <p:spPr bwMode="auto">
          <a:xfrm>
            <a:off x="2651125" y="25908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5675" name="AutoShape 33"/>
          <p:cNvSpPr>
            <a:spLocks noChangeArrowheads="1"/>
          </p:cNvSpPr>
          <p:nvPr/>
        </p:nvSpPr>
        <p:spPr bwMode="auto">
          <a:xfrm>
            <a:off x="2201863" y="2133600"/>
            <a:ext cx="304800" cy="16002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5676" name="AutoShape 34"/>
          <p:cNvSpPr>
            <a:spLocks noChangeArrowheads="1"/>
          </p:cNvSpPr>
          <p:nvPr/>
        </p:nvSpPr>
        <p:spPr bwMode="auto">
          <a:xfrm>
            <a:off x="2095500" y="3835400"/>
            <a:ext cx="1397000" cy="1879600"/>
          </a:xfrm>
          <a:prstGeom prst="wedgeRoundRectCallout">
            <a:avLst>
              <a:gd name="adj1" fmla="val 307384"/>
              <a:gd name="adj2" fmla="val -7940"/>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dirty="0">
              <a:latin typeface="Arial" pitchFamily="34" charset="0"/>
            </a:endParaRPr>
          </a:p>
        </p:txBody>
      </p:sp>
      <p:sp>
        <p:nvSpPr>
          <p:cNvPr id="155677" name="Text Box 35"/>
          <p:cNvSpPr txBox="1">
            <a:spLocks noChangeArrowheads="1"/>
          </p:cNvSpPr>
          <p:nvPr/>
        </p:nvSpPr>
        <p:spPr bwMode="auto">
          <a:xfrm>
            <a:off x="7163824" y="4387850"/>
            <a:ext cx="1725151" cy="523220"/>
          </a:xfrm>
          <a:prstGeom prst="rect">
            <a:avLst/>
          </a:prstGeom>
          <a:noFill/>
          <a:ln w="9525" algn="ctr">
            <a:noFill/>
            <a:miter lim="800000"/>
            <a:headEnd/>
            <a:tailEnd/>
          </a:ln>
        </p:spPr>
        <p:txBody>
          <a:bodyPr wrap="none">
            <a:spAutoFit/>
          </a:bodyPr>
          <a:lstStyle/>
          <a:p>
            <a:pPr algn="ctr">
              <a:spcBef>
                <a:spcPct val="0"/>
              </a:spcBef>
            </a:pPr>
            <a:r>
              <a:rPr lang="en-US" sz="2800" b="0">
                <a:solidFill>
                  <a:srgbClr val="FF0000"/>
                </a:solidFill>
                <a:latin typeface="Arial" pitchFamily="34" charset="0"/>
                <a:cs typeface="Arial" pitchFamily="34" charset="0"/>
              </a:rPr>
              <a:t>Merger[4]</a:t>
            </a:r>
          </a:p>
        </p:txBody>
      </p:sp>
      <p:sp>
        <p:nvSpPr>
          <p:cNvPr id="155678" name="AutoShape 36"/>
          <p:cNvSpPr>
            <a:spLocks noChangeArrowheads="1"/>
          </p:cNvSpPr>
          <p:nvPr/>
        </p:nvSpPr>
        <p:spPr bwMode="auto">
          <a:xfrm>
            <a:off x="3100388" y="39624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5679" name="AutoShape 37"/>
          <p:cNvSpPr>
            <a:spLocks noChangeArrowheads="1"/>
          </p:cNvSpPr>
          <p:nvPr/>
        </p:nvSpPr>
        <p:spPr bwMode="auto">
          <a:xfrm>
            <a:off x="3100388" y="48768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5680" name="AutoShape 38"/>
          <p:cNvSpPr>
            <a:spLocks noChangeArrowheads="1"/>
          </p:cNvSpPr>
          <p:nvPr/>
        </p:nvSpPr>
        <p:spPr bwMode="auto">
          <a:xfrm>
            <a:off x="2651125" y="44196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55681" name="AutoShape 39"/>
          <p:cNvSpPr>
            <a:spLocks noChangeArrowheads="1"/>
          </p:cNvSpPr>
          <p:nvPr/>
        </p:nvSpPr>
        <p:spPr bwMode="auto">
          <a:xfrm>
            <a:off x="2201863" y="3962400"/>
            <a:ext cx="304800" cy="16002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ooter Placeholder 3"/>
          <p:cNvSpPr>
            <a:spLocks noGrp="1"/>
          </p:cNvSpPr>
          <p:nvPr>
            <p:ph type="ftr" sz="quarter" idx="10"/>
          </p:nvPr>
        </p:nvSpPr>
        <p:spPr/>
        <p:txBody>
          <a:bodyPr/>
          <a:lstStyle/>
          <a:p>
            <a:pPr>
              <a:defRPr/>
            </a:pPr>
            <a:r>
              <a:rPr lang="en-US"/>
              <a:t>Art of Multiprocessor Programming</a:t>
            </a:r>
          </a:p>
        </p:txBody>
      </p:sp>
      <p:sp>
        <p:nvSpPr>
          <p:cNvPr id="45" name="Slide Number Placeholder 4"/>
          <p:cNvSpPr>
            <a:spLocks noGrp="1"/>
          </p:cNvSpPr>
          <p:nvPr>
            <p:ph type="sldNum" sz="quarter" idx="11"/>
          </p:nvPr>
        </p:nvSpPr>
        <p:spPr/>
        <p:txBody>
          <a:bodyPr/>
          <a:lstStyle/>
          <a:p>
            <a:pPr>
              <a:defRPr/>
            </a:pPr>
            <a:fld id="{C4AF261E-F07E-4F83-9FCB-FCCC845E5FCA}" type="slidenum">
              <a:rPr lang="en-US"/>
              <a:pPr>
                <a:defRPr/>
              </a:pPr>
              <a:t>157</a:t>
            </a:fld>
            <a:endParaRPr lang="en-US"/>
          </a:p>
        </p:txBody>
      </p:sp>
      <p:grpSp>
        <p:nvGrpSpPr>
          <p:cNvPr id="156676" name="Group 2"/>
          <p:cNvGrpSpPr>
            <a:grpSpLocks/>
          </p:cNvGrpSpPr>
          <p:nvPr/>
        </p:nvGrpSpPr>
        <p:grpSpPr bwMode="auto">
          <a:xfrm>
            <a:off x="1562100" y="2222500"/>
            <a:ext cx="5410200" cy="3124200"/>
            <a:chOff x="984" y="1400"/>
            <a:chExt cx="3408" cy="1968"/>
          </a:xfrm>
        </p:grpSpPr>
        <p:sp>
          <p:nvSpPr>
            <p:cNvPr id="156710" name="Line 3"/>
            <p:cNvSpPr>
              <a:spLocks noChangeShapeType="1"/>
            </p:cNvSpPr>
            <p:nvPr/>
          </p:nvSpPr>
          <p:spPr bwMode="auto">
            <a:xfrm>
              <a:off x="984" y="1400"/>
              <a:ext cx="340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6711" name="Line 4"/>
            <p:cNvSpPr>
              <a:spLocks noChangeShapeType="1"/>
            </p:cNvSpPr>
            <p:nvPr/>
          </p:nvSpPr>
          <p:spPr bwMode="auto">
            <a:xfrm>
              <a:off x="984" y="1681"/>
              <a:ext cx="340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6712" name="Line 5"/>
            <p:cNvSpPr>
              <a:spLocks noChangeShapeType="1"/>
            </p:cNvSpPr>
            <p:nvPr/>
          </p:nvSpPr>
          <p:spPr bwMode="auto">
            <a:xfrm>
              <a:off x="984" y="1962"/>
              <a:ext cx="340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6713" name="Line 6"/>
            <p:cNvSpPr>
              <a:spLocks noChangeShapeType="1"/>
            </p:cNvSpPr>
            <p:nvPr/>
          </p:nvSpPr>
          <p:spPr bwMode="auto">
            <a:xfrm>
              <a:off x="984" y="2243"/>
              <a:ext cx="340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6714" name="Line 7"/>
            <p:cNvSpPr>
              <a:spLocks noChangeShapeType="1"/>
            </p:cNvSpPr>
            <p:nvPr/>
          </p:nvSpPr>
          <p:spPr bwMode="auto">
            <a:xfrm>
              <a:off x="984" y="2524"/>
              <a:ext cx="340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6715" name="Line 8"/>
            <p:cNvSpPr>
              <a:spLocks noChangeShapeType="1"/>
            </p:cNvSpPr>
            <p:nvPr/>
          </p:nvSpPr>
          <p:spPr bwMode="auto">
            <a:xfrm>
              <a:off x="984" y="2805"/>
              <a:ext cx="340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6716" name="Line 9"/>
            <p:cNvSpPr>
              <a:spLocks noChangeShapeType="1"/>
            </p:cNvSpPr>
            <p:nvPr/>
          </p:nvSpPr>
          <p:spPr bwMode="auto">
            <a:xfrm>
              <a:off x="984" y="3086"/>
              <a:ext cx="340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6717" name="Line 10"/>
            <p:cNvSpPr>
              <a:spLocks noChangeShapeType="1"/>
            </p:cNvSpPr>
            <p:nvPr/>
          </p:nvSpPr>
          <p:spPr bwMode="auto">
            <a:xfrm>
              <a:off x="984" y="3368"/>
              <a:ext cx="340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sp>
        <p:nvSpPr>
          <p:cNvPr id="156677" name="AutoShape 11"/>
          <p:cNvSpPr>
            <a:spLocks noChangeArrowheads="1"/>
          </p:cNvSpPr>
          <p:nvPr/>
        </p:nvSpPr>
        <p:spPr bwMode="auto">
          <a:xfrm>
            <a:off x="3549650" y="2133600"/>
            <a:ext cx="304800" cy="34290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78" name="AutoShape 12"/>
          <p:cNvSpPr>
            <a:spLocks noChangeArrowheads="1"/>
          </p:cNvSpPr>
          <p:nvPr/>
        </p:nvSpPr>
        <p:spPr bwMode="auto">
          <a:xfrm>
            <a:off x="6248400" y="2133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79" name="AutoShape 13"/>
          <p:cNvSpPr>
            <a:spLocks noChangeArrowheads="1"/>
          </p:cNvSpPr>
          <p:nvPr/>
        </p:nvSpPr>
        <p:spPr bwMode="auto">
          <a:xfrm>
            <a:off x="6248400" y="30734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0" name="AutoShape 14"/>
          <p:cNvSpPr>
            <a:spLocks noChangeArrowheads="1"/>
          </p:cNvSpPr>
          <p:nvPr/>
        </p:nvSpPr>
        <p:spPr bwMode="auto">
          <a:xfrm>
            <a:off x="6248400" y="40132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1" name="AutoShape 15"/>
          <p:cNvSpPr>
            <a:spLocks noChangeArrowheads="1"/>
          </p:cNvSpPr>
          <p:nvPr/>
        </p:nvSpPr>
        <p:spPr bwMode="auto">
          <a:xfrm>
            <a:off x="6248400" y="48768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2" name="AutoShape 16"/>
          <p:cNvSpPr>
            <a:spLocks noChangeArrowheads="1"/>
          </p:cNvSpPr>
          <p:nvPr/>
        </p:nvSpPr>
        <p:spPr bwMode="auto">
          <a:xfrm>
            <a:off x="4000500" y="2514600"/>
            <a:ext cx="304800" cy="26670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3" name="AutoShape 17"/>
          <p:cNvSpPr>
            <a:spLocks noChangeArrowheads="1"/>
          </p:cNvSpPr>
          <p:nvPr/>
        </p:nvSpPr>
        <p:spPr bwMode="auto">
          <a:xfrm>
            <a:off x="4449763" y="2895600"/>
            <a:ext cx="304800" cy="1828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4" name="AutoShape 18"/>
          <p:cNvSpPr>
            <a:spLocks noChangeArrowheads="1"/>
          </p:cNvSpPr>
          <p:nvPr/>
        </p:nvSpPr>
        <p:spPr bwMode="auto">
          <a:xfrm>
            <a:off x="4899025" y="3352800"/>
            <a:ext cx="304800" cy="9144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5" name="AutoShape 19"/>
          <p:cNvSpPr>
            <a:spLocks noChangeArrowheads="1"/>
          </p:cNvSpPr>
          <p:nvPr/>
        </p:nvSpPr>
        <p:spPr bwMode="auto">
          <a:xfrm>
            <a:off x="5348288" y="2133600"/>
            <a:ext cx="304800" cy="12192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6" name="AutoShape 20"/>
          <p:cNvSpPr>
            <a:spLocks noChangeArrowheads="1"/>
          </p:cNvSpPr>
          <p:nvPr/>
        </p:nvSpPr>
        <p:spPr bwMode="auto">
          <a:xfrm>
            <a:off x="5348288" y="4343400"/>
            <a:ext cx="304800" cy="12192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7" name="AutoShape 21"/>
          <p:cNvSpPr>
            <a:spLocks noChangeArrowheads="1"/>
          </p:cNvSpPr>
          <p:nvPr/>
        </p:nvSpPr>
        <p:spPr bwMode="auto">
          <a:xfrm>
            <a:off x="5797550" y="3886200"/>
            <a:ext cx="304800" cy="12954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8" name="AutoShape 22"/>
          <p:cNvSpPr>
            <a:spLocks noChangeArrowheads="1"/>
          </p:cNvSpPr>
          <p:nvPr/>
        </p:nvSpPr>
        <p:spPr bwMode="auto">
          <a:xfrm>
            <a:off x="5791200" y="2438400"/>
            <a:ext cx="304800" cy="12954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89" name="Rectangle 23"/>
          <p:cNvSpPr>
            <a:spLocks noGrp="1" noChangeArrowheads="1"/>
          </p:cNvSpPr>
          <p:nvPr>
            <p:ph type="title"/>
          </p:nvPr>
        </p:nvSpPr>
        <p:spPr/>
        <p:txBody>
          <a:bodyPr/>
          <a:lstStyle/>
          <a:p>
            <a:r>
              <a:rPr lang="en-US"/>
              <a:t>Unfolded Bitonic[8] Network</a:t>
            </a:r>
          </a:p>
        </p:txBody>
      </p:sp>
      <p:sp>
        <p:nvSpPr>
          <p:cNvPr id="156690" name="Text Box 24"/>
          <p:cNvSpPr txBox="1">
            <a:spLocks noChangeArrowheads="1"/>
          </p:cNvSpPr>
          <p:nvPr/>
        </p:nvSpPr>
        <p:spPr bwMode="auto">
          <a:xfrm>
            <a:off x="7240024" y="2266950"/>
            <a:ext cx="1725151" cy="523220"/>
          </a:xfrm>
          <a:prstGeom prst="rect">
            <a:avLst/>
          </a:prstGeom>
          <a:noFill/>
          <a:ln w="9525" algn="ctr">
            <a:noFill/>
            <a:miter lim="800000"/>
            <a:headEnd/>
            <a:tailEnd/>
          </a:ln>
        </p:spPr>
        <p:txBody>
          <a:bodyPr wrap="none">
            <a:spAutoFit/>
          </a:bodyPr>
          <a:lstStyle/>
          <a:p>
            <a:pPr algn="ctr">
              <a:spcBef>
                <a:spcPct val="0"/>
              </a:spcBef>
            </a:pPr>
            <a:r>
              <a:rPr lang="en-US" sz="2800" b="0">
                <a:solidFill>
                  <a:srgbClr val="FF0000"/>
                </a:solidFill>
                <a:latin typeface="Arial" pitchFamily="34" charset="0"/>
                <a:cs typeface="Arial" pitchFamily="34" charset="0"/>
              </a:rPr>
              <a:t>Merger[2]</a:t>
            </a:r>
          </a:p>
        </p:txBody>
      </p:sp>
      <p:sp>
        <p:nvSpPr>
          <p:cNvPr id="156691" name="AutoShape 25"/>
          <p:cNvSpPr>
            <a:spLocks noChangeArrowheads="1"/>
          </p:cNvSpPr>
          <p:nvPr/>
        </p:nvSpPr>
        <p:spPr bwMode="auto">
          <a:xfrm>
            <a:off x="3100388" y="2133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2" name="AutoShape 26"/>
          <p:cNvSpPr>
            <a:spLocks noChangeArrowheads="1"/>
          </p:cNvSpPr>
          <p:nvPr/>
        </p:nvSpPr>
        <p:spPr bwMode="auto">
          <a:xfrm>
            <a:off x="3100388" y="2895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3" name="AutoShape 27"/>
          <p:cNvSpPr>
            <a:spLocks noChangeArrowheads="1"/>
          </p:cNvSpPr>
          <p:nvPr/>
        </p:nvSpPr>
        <p:spPr bwMode="auto">
          <a:xfrm>
            <a:off x="2651125" y="25908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4" name="AutoShape 28"/>
          <p:cNvSpPr>
            <a:spLocks noChangeArrowheads="1"/>
          </p:cNvSpPr>
          <p:nvPr/>
        </p:nvSpPr>
        <p:spPr bwMode="auto">
          <a:xfrm>
            <a:off x="2201863" y="2133600"/>
            <a:ext cx="304800" cy="16002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5" name="Text Box 29"/>
          <p:cNvSpPr txBox="1">
            <a:spLocks noChangeArrowheads="1"/>
          </p:cNvSpPr>
          <p:nvPr/>
        </p:nvSpPr>
        <p:spPr bwMode="auto">
          <a:xfrm>
            <a:off x="7240024" y="4387850"/>
            <a:ext cx="1725151" cy="523220"/>
          </a:xfrm>
          <a:prstGeom prst="rect">
            <a:avLst/>
          </a:prstGeom>
          <a:noFill/>
          <a:ln w="9525" algn="ctr">
            <a:noFill/>
            <a:miter lim="800000"/>
            <a:headEnd/>
            <a:tailEnd/>
          </a:ln>
        </p:spPr>
        <p:txBody>
          <a:bodyPr wrap="none">
            <a:spAutoFit/>
          </a:bodyPr>
          <a:lstStyle/>
          <a:p>
            <a:pPr algn="ctr">
              <a:spcBef>
                <a:spcPct val="0"/>
              </a:spcBef>
            </a:pPr>
            <a:r>
              <a:rPr lang="en-US" sz="2800" b="0">
                <a:solidFill>
                  <a:srgbClr val="FF0000"/>
                </a:solidFill>
                <a:latin typeface="Arial" pitchFamily="34" charset="0"/>
                <a:cs typeface="Arial" pitchFamily="34" charset="0"/>
              </a:rPr>
              <a:t>Merger[2]</a:t>
            </a:r>
          </a:p>
        </p:txBody>
      </p:sp>
      <p:sp>
        <p:nvSpPr>
          <p:cNvPr id="156696" name="AutoShape 30"/>
          <p:cNvSpPr>
            <a:spLocks noChangeArrowheads="1"/>
          </p:cNvSpPr>
          <p:nvPr/>
        </p:nvSpPr>
        <p:spPr bwMode="auto">
          <a:xfrm>
            <a:off x="3100388" y="39624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7" name="AutoShape 31"/>
          <p:cNvSpPr>
            <a:spLocks noChangeArrowheads="1"/>
          </p:cNvSpPr>
          <p:nvPr/>
        </p:nvSpPr>
        <p:spPr bwMode="auto">
          <a:xfrm>
            <a:off x="3100388" y="48768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8" name="AutoShape 32"/>
          <p:cNvSpPr>
            <a:spLocks noChangeArrowheads="1"/>
          </p:cNvSpPr>
          <p:nvPr/>
        </p:nvSpPr>
        <p:spPr bwMode="auto">
          <a:xfrm>
            <a:off x="2651125" y="4419600"/>
            <a:ext cx="304800" cy="685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699" name="AutoShape 33"/>
          <p:cNvSpPr>
            <a:spLocks noChangeArrowheads="1"/>
          </p:cNvSpPr>
          <p:nvPr/>
        </p:nvSpPr>
        <p:spPr bwMode="auto">
          <a:xfrm>
            <a:off x="2201863" y="3962400"/>
            <a:ext cx="304800" cy="16002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700" name="AutoShape 34"/>
          <p:cNvSpPr>
            <a:spLocks noChangeArrowheads="1"/>
          </p:cNvSpPr>
          <p:nvPr/>
        </p:nvSpPr>
        <p:spPr bwMode="auto">
          <a:xfrm>
            <a:off x="1625600" y="3810000"/>
            <a:ext cx="571500" cy="914400"/>
          </a:xfrm>
          <a:prstGeom prst="wedgeRoundRectCallout">
            <a:avLst>
              <a:gd name="adj1" fmla="val 921389"/>
              <a:gd name="adj2" fmla="val -38542"/>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6701" name="AutoShape 35"/>
          <p:cNvSpPr>
            <a:spLocks noChangeArrowheads="1"/>
          </p:cNvSpPr>
          <p:nvPr/>
        </p:nvSpPr>
        <p:spPr bwMode="auto">
          <a:xfrm>
            <a:off x="1651000" y="2882900"/>
            <a:ext cx="571500" cy="914400"/>
          </a:xfrm>
          <a:prstGeom prst="wedgeRoundRectCallout">
            <a:avLst>
              <a:gd name="adj1" fmla="val 892500"/>
              <a:gd name="adj2" fmla="val -13542"/>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6702" name="AutoShape 36"/>
          <p:cNvSpPr>
            <a:spLocks noChangeArrowheads="1"/>
          </p:cNvSpPr>
          <p:nvPr/>
        </p:nvSpPr>
        <p:spPr bwMode="auto">
          <a:xfrm>
            <a:off x="1676400" y="1955800"/>
            <a:ext cx="571500" cy="914400"/>
          </a:xfrm>
          <a:prstGeom prst="wedgeRoundRectCallout">
            <a:avLst>
              <a:gd name="adj1" fmla="val 894722"/>
              <a:gd name="adj2" fmla="val 10069"/>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6703" name="Text Box 37"/>
          <p:cNvSpPr txBox="1">
            <a:spLocks noChangeArrowheads="1"/>
          </p:cNvSpPr>
          <p:nvPr/>
        </p:nvSpPr>
        <p:spPr bwMode="auto">
          <a:xfrm>
            <a:off x="7240024" y="2973388"/>
            <a:ext cx="1725151" cy="523220"/>
          </a:xfrm>
          <a:prstGeom prst="rect">
            <a:avLst/>
          </a:prstGeom>
          <a:noFill/>
          <a:ln w="9525" algn="ctr">
            <a:noFill/>
            <a:miter lim="800000"/>
            <a:headEnd/>
            <a:tailEnd/>
          </a:ln>
        </p:spPr>
        <p:txBody>
          <a:bodyPr wrap="none">
            <a:spAutoFit/>
          </a:bodyPr>
          <a:lstStyle/>
          <a:p>
            <a:pPr algn="ctr">
              <a:spcBef>
                <a:spcPct val="0"/>
              </a:spcBef>
            </a:pPr>
            <a:r>
              <a:rPr lang="en-US" sz="2800" b="0">
                <a:solidFill>
                  <a:srgbClr val="FF0000"/>
                </a:solidFill>
                <a:latin typeface="Arial" pitchFamily="34" charset="0"/>
                <a:cs typeface="Arial" pitchFamily="34" charset="0"/>
              </a:rPr>
              <a:t>Merger[2]</a:t>
            </a:r>
          </a:p>
        </p:txBody>
      </p:sp>
      <p:sp>
        <p:nvSpPr>
          <p:cNvPr id="156704" name="Text Box 38"/>
          <p:cNvSpPr txBox="1">
            <a:spLocks noChangeArrowheads="1"/>
          </p:cNvSpPr>
          <p:nvPr/>
        </p:nvSpPr>
        <p:spPr bwMode="auto">
          <a:xfrm>
            <a:off x="7240024" y="3679825"/>
            <a:ext cx="1725151" cy="523220"/>
          </a:xfrm>
          <a:prstGeom prst="rect">
            <a:avLst/>
          </a:prstGeom>
          <a:noFill/>
          <a:ln w="9525" algn="ctr">
            <a:noFill/>
            <a:miter lim="800000"/>
            <a:headEnd/>
            <a:tailEnd/>
          </a:ln>
        </p:spPr>
        <p:txBody>
          <a:bodyPr wrap="none">
            <a:spAutoFit/>
          </a:bodyPr>
          <a:lstStyle/>
          <a:p>
            <a:pPr algn="ctr">
              <a:spcBef>
                <a:spcPct val="0"/>
              </a:spcBef>
            </a:pPr>
            <a:r>
              <a:rPr lang="en-US" sz="2800" b="0">
                <a:solidFill>
                  <a:srgbClr val="FF0000"/>
                </a:solidFill>
                <a:latin typeface="Arial" pitchFamily="34" charset="0"/>
                <a:cs typeface="Arial" pitchFamily="34" charset="0"/>
              </a:rPr>
              <a:t>Merger[2]</a:t>
            </a:r>
          </a:p>
        </p:txBody>
      </p:sp>
      <p:sp>
        <p:nvSpPr>
          <p:cNvPr id="156705" name="AutoShape 39"/>
          <p:cNvSpPr>
            <a:spLocks noChangeArrowheads="1"/>
          </p:cNvSpPr>
          <p:nvPr/>
        </p:nvSpPr>
        <p:spPr bwMode="auto">
          <a:xfrm>
            <a:off x="1600200" y="4737100"/>
            <a:ext cx="571500" cy="914400"/>
          </a:xfrm>
          <a:prstGeom prst="wedgeRoundRectCallout">
            <a:avLst>
              <a:gd name="adj1" fmla="val 919167"/>
              <a:gd name="adj2" fmla="val -53819"/>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56706" name="AutoShape 40"/>
          <p:cNvSpPr>
            <a:spLocks noChangeArrowheads="1"/>
          </p:cNvSpPr>
          <p:nvPr/>
        </p:nvSpPr>
        <p:spPr bwMode="auto">
          <a:xfrm>
            <a:off x="1752600" y="21336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6707" name="AutoShape 41"/>
          <p:cNvSpPr>
            <a:spLocks noChangeArrowheads="1"/>
          </p:cNvSpPr>
          <p:nvPr/>
        </p:nvSpPr>
        <p:spPr bwMode="auto">
          <a:xfrm>
            <a:off x="1752600" y="29972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6708" name="AutoShape 42"/>
          <p:cNvSpPr>
            <a:spLocks noChangeArrowheads="1"/>
          </p:cNvSpPr>
          <p:nvPr/>
        </p:nvSpPr>
        <p:spPr bwMode="auto">
          <a:xfrm>
            <a:off x="1752600" y="39370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
        <p:nvSpPr>
          <p:cNvPr id="156709" name="AutoShape 43"/>
          <p:cNvSpPr>
            <a:spLocks noChangeArrowheads="1"/>
          </p:cNvSpPr>
          <p:nvPr/>
        </p:nvSpPr>
        <p:spPr bwMode="auto">
          <a:xfrm>
            <a:off x="1752600" y="4876800"/>
            <a:ext cx="304800" cy="685800"/>
          </a:xfrm>
          <a:prstGeom prst="roundRect">
            <a:avLst>
              <a:gd name="adj" fmla="val 16667"/>
            </a:avLst>
          </a:prstGeom>
          <a:solidFill>
            <a:srgbClr val="99FF99"/>
          </a:solidFill>
          <a:ln w="38100" algn="ctr">
            <a:solidFill>
              <a:schemeClr val="tx1"/>
            </a:solidFill>
            <a:miter lim="800000"/>
            <a:headEnd/>
            <a:tailEnd/>
          </a:ln>
        </p:spPr>
        <p:txBody>
          <a:bodyPr wrap="none" anchor="ctr"/>
          <a:lstStyle/>
          <a:p>
            <a:pPr algn="ctr">
              <a:spcBef>
                <a:spcPct val="0"/>
              </a:spcBef>
            </a:pPr>
            <a:endParaRPr lang="en-US" sz="4000" b="0">
              <a:latin typeface="Arial" pitchFamily="34" charset="0"/>
              <a:cs typeface="Arial" pitchFamily="34"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8B299C7-29FC-4306-B6CD-BFFC66BBFF53}" type="slidenum">
              <a:rPr lang="en-US"/>
              <a:pPr>
                <a:defRPr/>
              </a:pPr>
              <a:t>158</a:t>
            </a:fld>
            <a:endParaRPr lang="en-US"/>
          </a:p>
        </p:txBody>
      </p:sp>
      <p:sp>
        <p:nvSpPr>
          <p:cNvPr id="157700" name="Rectangle 2"/>
          <p:cNvSpPr>
            <a:spLocks noGrp="1" noChangeArrowheads="1"/>
          </p:cNvSpPr>
          <p:nvPr>
            <p:ph type="title"/>
          </p:nvPr>
        </p:nvSpPr>
        <p:spPr/>
        <p:txBody>
          <a:bodyPr/>
          <a:lstStyle/>
          <a:p>
            <a:r>
              <a:rPr lang="en-US"/>
              <a:t>Bitonic[k] Depth</a:t>
            </a:r>
          </a:p>
        </p:txBody>
      </p:sp>
      <p:sp>
        <p:nvSpPr>
          <p:cNvPr id="157701" name="Rectangle 3"/>
          <p:cNvSpPr>
            <a:spLocks noGrp="1" noChangeArrowheads="1"/>
          </p:cNvSpPr>
          <p:nvPr>
            <p:ph type="body" idx="1"/>
          </p:nvPr>
        </p:nvSpPr>
        <p:spPr/>
        <p:txBody>
          <a:bodyPr/>
          <a:lstStyle/>
          <a:p>
            <a:r>
              <a:rPr lang="en-US"/>
              <a:t>Width </a:t>
            </a:r>
            <a:r>
              <a:rPr lang="en-US">
                <a:solidFill>
                  <a:schemeClr val="tx1"/>
                </a:solidFill>
              </a:rPr>
              <a:t>k</a:t>
            </a:r>
          </a:p>
          <a:p>
            <a:r>
              <a:rPr lang="en-US"/>
              <a:t>Depth is </a:t>
            </a:r>
            <a:r>
              <a:rPr lang="en-US">
                <a:solidFill>
                  <a:schemeClr val="tx1"/>
                </a:solidFill>
              </a:rPr>
              <a:t>(log</a:t>
            </a:r>
            <a:r>
              <a:rPr lang="en-US" baseline="-25000">
                <a:solidFill>
                  <a:schemeClr val="tx1"/>
                </a:solidFill>
              </a:rPr>
              <a:t>2</a:t>
            </a:r>
            <a:r>
              <a:rPr lang="en-US">
                <a:solidFill>
                  <a:schemeClr val="tx1"/>
                </a:solidFill>
              </a:rPr>
              <a:t> k)(log</a:t>
            </a:r>
            <a:r>
              <a:rPr lang="en-US" baseline="-25000">
                <a:solidFill>
                  <a:schemeClr val="tx1"/>
                </a:solidFill>
              </a:rPr>
              <a:t>2</a:t>
            </a:r>
            <a:r>
              <a:rPr lang="en-US">
                <a:solidFill>
                  <a:schemeClr val="tx1"/>
                </a:solidFill>
              </a:rPr>
              <a:t> k + 1)/2</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r>
              <a:rPr lang="en-US"/>
              <a:t>Proof by Induction</a:t>
            </a:r>
          </a:p>
        </p:txBody>
      </p:sp>
      <p:sp>
        <p:nvSpPr>
          <p:cNvPr id="564227" name="Rectangle 3"/>
          <p:cNvSpPr>
            <a:spLocks noGrp="1" noChangeArrowheads="1"/>
          </p:cNvSpPr>
          <p:nvPr>
            <p:ph type="body" idx="1"/>
          </p:nvPr>
        </p:nvSpPr>
        <p:spPr/>
        <p:txBody>
          <a:bodyPr/>
          <a:lstStyle/>
          <a:p>
            <a:r>
              <a:rPr lang="en-US" sz="3600"/>
              <a:t>Base:</a:t>
            </a:r>
          </a:p>
          <a:p>
            <a:pPr lvl="1"/>
            <a:r>
              <a:rPr lang="en-US" sz="3200">
                <a:solidFill>
                  <a:schemeClr val="tx1"/>
                </a:solidFill>
              </a:rPr>
              <a:t>Bitonic[2]</a:t>
            </a:r>
            <a:r>
              <a:rPr lang="en-US" sz="3200"/>
              <a:t> is single balancer</a:t>
            </a:r>
          </a:p>
          <a:p>
            <a:pPr lvl="1"/>
            <a:r>
              <a:rPr lang="en-US" sz="3200"/>
              <a:t>has step property by definition</a:t>
            </a:r>
          </a:p>
          <a:p>
            <a:r>
              <a:rPr lang="en-US" sz="3600"/>
              <a:t>Step:</a:t>
            </a:r>
          </a:p>
          <a:p>
            <a:pPr lvl="1"/>
            <a:r>
              <a:rPr lang="en-US" sz="3200"/>
              <a:t>If </a:t>
            </a:r>
            <a:r>
              <a:rPr lang="en-US" sz="3200">
                <a:solidFill>
                  <a:schemeClr val="tx1"/>
                </a:solidFill>
              </a:rPr>
              <a:t>Bitonic[k]</a:t>
            </a:r>
            <a:r>
              <a:rPr lang="en-US" sz="3200"/>
              <a:t> has step property …</a:t>
            </a:r>
          </a:p>
          <a:p>
            <a:pPr lvl="1"/>
            <a:r>
              <a:rPr lang="en-US" sz="3200"/>
              <a:t>So does </a:t>
            </a:r>
            <a:r>
              <a:rPr lang="en-US" sz="3200">
                <a:solidFill>
                  <a:schemeClr val="tx1"/>
                </a:solidFill>
              </a:rPr>
              <a:t>Bitonic[2k]</a:t>
            </a:r>
            <a:r>
              <a:rPr lang="en-US" sz="3200"/>
              <a:t> </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3"/>
          <p:cNvSpPr>
            <a:spLocks noGrp="1"/>
          </p:cNvSpPr>
          <p:nvPr>
            <p:ph type="ftr" sz="quarter" idx="10"/>
          </p:nvPr>
        </p:nvSpPr>
        <p:spPr/>
        <p:txBody>
          <a:bodyPr/>
          <a:lstStyle/>
          <a:p>
            <a:pPr>
              <a:defRPr/>
            </a:pPr>
            <a:r>
              <a:rPr lang="en-US"/>
              <a:t>Art of Multiprocessor Programming</a:t>
            </a:r>
          </a:p>
        </p:txBody>
      </p:sp>
      <p:sp>
        <p:nvSpPr>
          <p:cNvPr id="15" name="Slide Number Placeholder 4"/>
          <p:cNvSpPr>
            <a:spLocks noGrp="1"/>
          </p:cNvSpPr>
          <p:nvPr>
            <p:ph type="sldNum" sz="quarter" idx="11"/>
          </p:nvPr>
        </p:nvSpPr>
        <p:spPr/>
        <p:txBody>
          <a:bodyPr/>
          <a:lstStyle/>
          <a:p>
            <a:pPr>
              <a:defRPr/>
            </a:pPr>
            <a:fld id="{3F4FD93E-7F89-4B34-8C45-F3F7239657AC}" type="slidenum">
              <a:rPr lang="en-US"/>
              <a:pPr>
                <a:defRPr/>
              </a:pPr>
              <a:t>160</a:t>
            </a:fld>
            <a:endParaRPr lang="en-US"/>
          </a:p>
        </p:txBody>
      </p:sp>
      <p:sp>
        <p:nvSpPr>
          <p:cNvPr id="159748" name="Rectangle 2"/>
          <p:cNvSpPr>
            <a:spLocks noGrp="1" noChangeArrowheads="1"/>
          </p:cNvSpPr>
          <p:nvPr>
            <p:ph type="title"/>
          </p:nvPr>
        </p:nvSpPr>
        <p:spPr/>
        <p:txBody>
          <a:bodyPr/>
          <a:lstStyle/>
          <a:p>
            <a:r>
              <a:rPr lang="en-US"/>
              <a:t>Bitonic[2k] Schematic</a:t>
            </a:r>
          </a:p>
        </p:txBody>
      </p:sp>
      <p:sp>
        <p:nvSpPr>
          <p:cNvPr id="159749" name="Rectangle 3"/>
          <p:cNvSpPr>
            <a:spLocks noChangeArrowheads="1"/>
          </p:cNvSpPr>
          <p:nvPr/>
        </p:nvSpPr>
        <p:spPr bwMode="auto">
          <a:xfrm>
            <a:off x="1371600" y="2438400"/>
            <a:ext cx="2743200" cy="1447800"/>
          </a:xfrm>
          <a:prstGeom prst="rect">
            <a:avLst/>
          </a:prstGeom>
          <a:solidFill>
            <a:srgbClr val="FF9999"/>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Bitonic[k]</a:t>
            </a:r>
          </a:p>
        </p:txBody>
      </p:sp>
      <p:sp>
        <p:nvSpPr>
          <p:cNvPr id="159750" name="Rectangle 4"/>
          <p:cNvSpPr>
            <a:spLocks noChangeArrowheads="1"/>
          </p:cNvSpPr>
          <p:nvPr/>
        </p:nvSpPr>
        <p:spPr bwMode="auto">
          <a:xfrm>
            <a:off x="1371600" y="4191000"/>
            <a:ext cx="2743200" cy="1447800"/>
          </a:xfrm>
          <a:prstGeom prst="rect">
            <a:avLst/>
          </a:prstGeom>
          <a:solidFill>
            <a:srgbClr val="FFFF99"/>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Bitonic[k]</a:t>
            </a:r>
          </a:p>
        </p:txBody>
      </p:sp>
      <p:sp>
        <p:nvSpPr>
          <p:cNvPr id="159751" name="Rectangle 5"/>
          <p:cNvSpPr>
            <a:spLocks noChangeArrowheads="1"/>
          </p:cNvSpPr>
          <p:nvPr/>
        </p:nvSpPr>
        <p:spPr bwMode="auto">
          <a:xfrm>
            <a:off x="4800600" y="2438400"/>
            <a:ext cx="2971800" cy="3200400"/>
          </a:xfrm>
          <a:prstGeom prst="rect">
            <a:avLst/>
          </a:prstGeom>
          <a:solidFill>
            <a:srgbClr val="99FF99"/>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Merger[2k]</a:t>
            </a:r>
          </a:p>
        </p:txBody>
      </p:sp>
      <p:sp>
        <p:nvSpPr>
          <p:cNvPr id="159752" name="Line 6"/>
          <p:cNvSpPr>
            <a:spLocks noChangeShapeType="1"/>
          </p:cNvSpPr>
          <p:nvPr/>
        </p:nvSpPr>
        <p:spPr bwMode="auto">
          <a:xfrm>
            <a:off x="4114800" y="26670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53" name="Line 7"/>
          <p:cNvSpPr>
            <a:spLocks noChangeShapeType="1"/>
          </p:cNvSpPr>
          <p:nvPr/>
        </p:nvSpPr>
        <p:spPr bwMode="auto">
          <a:xfrm>
            <a:off x="4114800" y="2971800"/>
            <a:ext cx="685800" cy="396875"/>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54" name="Line 8"/>
          <p:cNvSpPr>
            <a:spLocks noChangeShapeType="1"/>
          </p:cNvSpPr>
          <p:nvPr/>
        </p:nvSpPr>
        <p:spPr bwMode="auto">
          <a:xfrm>
            <a:off x="4114800" y="3276600"/>
            <a:ext cx="685800" cy="1219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55" name="Line 9"/>
          <p:cNvSpPr>
            <a:spLocks noChangeShapeType="1"/>
          </p:cNvSpPr>
          <p:nvPr/>
        </p:nvSpPr>
        <p:spPr bwMode="auto">
          <a:xfrm>
            <a:off x="4114800" y="3657600"/>
            <a:ext cx="6858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56" name="Line 10"/>
          <p:cNvSpPr>
            <a:spLocks noChangeShapeType="1"/>
          </p:cNvSpPr>
          <p:nvPr/>
        </p:nvSpPr>
        <p:spPr bwMode="auto">
          <a:xfrm flipV="1">
            <a:off x="4114800" y="2971800"/>
            <a:ext cx="6858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57" name="Line 11"/>
          <p:cNvSpPr>
            <a:spLocks noChangeShapeType="1"/>
          </p:cNvSpPr>
          <p:nvPr/>
        </p:nvSpPr>
        <p:spPr bwMode="auto">
          <a:xfrm flipV="1">
            <a:off x="4114800" y="3733800"/>
            <a:ext cx="6858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58" name="Line 12"/>
          <p:cNvSpPr>
            <a:spLocks noChangeShapeType="1"/>
          </p:cNvSpPr>
          <p:nvPr/>
        </p:nvSpPr>
        <p:spPr bwMode="auto">
          <a:xfrm flipV="1">
            <a:off x="4114800" y="4724400"/>
            <a:ext cx="6858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59" name="Line 13"/>
          <p:cNvSpPr>
            <a:spLocks noChangeShapeType="1"/>
          </p:cNvSpPr>
          <p:nvPr/>
        </p:nvSpPr>
        <p:spPr bwMode="auto">
          <a:xfrm>
            <a:off x="4114800"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0" name="Line 6"/>
          <p:cNvSpPr>
            <a:spLocks noChangeShapeType="1"/>
          </p:cNvSpPr>
          <p:nvPr/>
        </p:nvSpPr>
        <p:spPr bwMode="auto">
          <a:xfrm>
            <a:off x="685800" y="26670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1" name="Line 6"/>
          <p:cNvSpPr>
            <a:spLocks noChangeShapeType="1"/>
          </p:cNvSpPr>
          <p:nvPr/>
        </p:nvSpPr>
        <p:spPr bwMode="auto">
          <a:xfrm>
            <a:off x="685800" y="29718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2" name="Line 6"/>
          <p:cNvSpPr>
            <a:spLocks noChangeShapeType="1"/>
          </p:cNvSpPr>
          <p:nvPr/>
        </p:nvSpPr>
        <p:spPr bwMode="auto">
          <a:xfrm>
            <a:off x="685800" y="33686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3" name="Line 6"/>
          <p:cNvSpPr>
            <a:spLocks noChangeShapeType="1"/>
          </p:cNvSpPr>
          <p:nvPr/>
        </p:nvSpPr>
        <p:spPr bwMode="auto">
          <a:xfrm>
            <a:off x="685800" y="36576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4" name="Line 6"/>
          <p:cNvSpPr>
            <a:spLocks noChangeShapeType="1"/>
          </p:cNvSpPr>
          <p:nvPr/>
        </p:nvSpPr>
        <p:spPr bwMode="auto">
          <a:xfrm>
            <a:off x="685800" y="44196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5" name="Line 6"/>
          <p:cNvSpPr>
            <a:spLocks noChangeShapeType="1"/>
          </p:cNvSpPr>
          <p:nvPr/>
        </p:nvSpPr>
        <p:spPr bwMode="auto">
          <a:xfrm>
            <a:off x="685800" y="47244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6" name="Line 6"/>
          <p:cNvSpPr>
            <a:spLocks noChangeShapeType="1"/>
          </p:cNvSpPr>
          <p:nvPr/>
        </p:nvSpPr>
        <p:spPr bwMode="auto">
          <a:xfrm>
            <a:off x="685800" y="51212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7" name="Line 6"/>
          <p:cNvSpPr>
            <a:spLocks noChangeShapeType="1"/>
          </p:cNvSpPr>
          <p:nvPr/>
        </p:nvSpPr>
        <p:spPr bwMode="auto">
          <a:xfrm>
            <a:off x="685800"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8" name="Line 6"/>
          <p:cNvSpPr>
            <a:spLocks noChangeShapeType="1"/>
          </p:cNvSpPr>
          <p:nvPr/>
        </p:nvSpPr>
        <p:spPr bwMode="auto">
          <a:xfrm>
            <a:off x="7772400" y="27400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69" name="Line 6"/>
          <p:cNvSpPr>
            <a:spLocks noChangeShapeType="1"/>
          </p:cNvSpPr>
          <p:nvPr/>
        </p:nvSpPr>
        <p:spPr bwMode="auto">
          <a:xfrm>
            <a:off x="7772400" y="31003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70" name="Line 6"/>
          <p:cNvSpPr>
            <a:spLocks noChangeShapeType="1"/>
          </p:cNvSpPr>
          <p:nvPr/>
        </p:nvSpPr>
        <p:spPr bwMode="auto">
          <a:xfrm>
            <a:off x="7772400" y="34972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71" name="Line 6"/>
          <p:cNvSpPr>
            <a:spLocks noChangeShapeType="1"/>
          </p:cNvSpPr>
          <p:nvPr/>
        </p:nvSpPr>
        <p:spPr bwMode="auto">
          <a:xfrm>
            <a:off x="7772400" y="38592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72" name="Line 6"/>
          <p:cNvSpPr>
            <a:spLocks noChangeShapeType="1"/>
          </p:cNvSpPr>
          <p:nvPr/>
        </p:nvSpPr>
        <p:spPr bwMode="auto">
          <a:xfrm>
            <a:off x="7772400" y="42545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73" name="Line 6"/>
          <p:cNvSpPr>
            <a:spLocks noChangeShapeType="1"/>
          </p:cNvSpPr>
          <p:nvPr/>
        </p:nvSpPr>
        <p:spPr bwMode="auto">
          <a:xfrm>
            <a:off x="7772400" y="46513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74" name="Line 6"/>
          <p:cNvSpPr>
            <a:spLocks noChangeShapeType="1"/>
          </p:cNvSpPr>
          <p:nvPr/>
        </p:nvSpPr>
        <p:spPr bwMode="auto">
          <a:xfrm>
            <a:off x="7772400" y="504825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9775" name="Line 6"/>
          <p:cNvSpPr>
            <a:spLocks noChangeShapeType="1"/>
          </p:cNvSpPr>
          <p:nvPr/>
        </p:nvSpPr>
        <p:spPr bwMode="auto">
          <a:xfrm>
            <a:off x="7772400"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4"/>
          <p:cNvSpPr>
            <a:spLocks noGrp="1"/>
          </p:cNvSpPr>
          <p:nvPr>
            <p:ph type="sldNum" sz="quarter" idx="11"/>
          </p:nvPr>
        </p:nvSpPr>
        <p:spPr/>
        <p:txBody>
          <a:bodyPr/>
          <a:lstStyle/>
          <a:p>
            <a:pPr>
              <a:defRPr/>
            </a:pPr>
            <a:fld id="{527BF4D1-8F60-4740-AFE9-A5FFD2050137}" type="slidenum">
              <a:rPr lang="en-US"/>
              <a:pPr>
                <a:defRPr/>
              </a:pPr>
              <a:t>161</a:t>
            </a:fld>
            <a:endParaRPr lang="en-US"/>
          </a:p>
        </p:txBody>
      </p:sp>
      <p:sp>
        <p:nvSpPr>
          <p:cNvPr id="160772" name="Rectangle 2"/>
          <p:cNvSpPr>
            <a:spLocks noGrp="1" noChangeArrowheads="1"/>
          </p:cNvSpPr>
          <p:nvPr>
            <p:ph type="title"/>
          </p:nvPr>
        </p:nvSpPr>
        <p:spPr>
          <a:xfrm>
            <a:off x="0" y="389471"/>
            <a:ext cx="8916988" cy="1143000"/>
          </a:xfrm>
        </p:spPr>
        <p:txBody>
          <a:bodyPr/>
          <a:lstStyle/>
          <a:p>
            <a:r>
              <a:rPr lang="en-US" dirty="0"/>
              <a:t>Need to Prove only Merger[2k]</a:t>
            </a:r>
          </a:p>
        </p:txBody>
      </p:sp>
      <p:sp>
        <p:nvSpPr>
          <p:cNvPr id="160773" name="Rectangle 5"/>
          <p:cNvSpPr>
            <a:spLocks noChangeArrowheads="1"/>
          </p:cNvSpPr>
          <p:nvPr/>
        </p:nvSpPr>
        <p:spPr bwMode="auto">
          <a:xfrm>
            <a:off x="3336925" y="2438400"/>
            <a:ext cx="2971800" cy="3200400"/>
          </a:xfrm>
          <a:prstGeom prst="rect">
            <a:avLst/>
          </a:prstGeom>
          <a:solidFill>
            <a:srgbClr val="99FF99"/>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Merger[2k]</a:t>
            </a:r>
          </a:p>
        </p:txBody>
      </p:sp>
      <p:sp>
        <p:nvSpPr>
          <p:cNvPr id="160774" name="Line 6"/>
          <p:cNvSpPr>
            <a:spLocks noChangeShapeType="1"/>
          </p:cNvSpPr>
          <p:nvPr/>
        </p:nvSpPr>
        <p:spPr bwMode="auto">
          <a:xfrm>
            <a:off x="2651125" y="26670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5" name="Line 7"/>
          <p:cNvSpPr>
            <a:spLocks noChangeShapeType="1"/>
          </p:cNvSpPr>
          <p:nvPr/>
        </p:nvSpPr>
        <p:spPr bwMode="auto">
          <a:xfrm>
            <a:off x="2651125" y="2971800"/>
            <a:ext cx="685800" cy="396875"/>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6" name="Line 8"/>
          <p:cNvSpPr>
            <a:spLocks noChangeShapeType="1"/>
          </p:cNvSpPr>
          <p:nvPr/>
        </p:nvSpPr>
        <p:spPr bwMode="auto">
          <a:xfrm>
            <a:off x="2651125" y="3276600"/>
            <a:ext cx="685800" cy="1219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7" name="Line 9"/>
          <p:cNvSpPr>
            <a:spLocks noChangeShapeType="1"/>
          </p:cNvSpPr>
          <p:nvPr/>
        </p:nvSpPr>
        <p:spPr bwMode="auto">
          <a:xfrm>
            <a:off x="2651125" y="3657600"/>
            <a:ext cx="6858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8" name="Line 10"/>
          <p:cNvSpPr>
            <a:spLocks noChangeShapeType="1"/>
          </p:cNvSpPr>
          <p:nvPr/>
        </p:nvSpPr>
        <p:spPr bwMode="auto">
          <a:xfrm flipV="1">
            <a:off x="2651125" y="2971800"/>
            <a:ext cx="6858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9" name="Line 11"/>
          <p:cNvSpPr>
            <a:spLocks noChangeShapeType="1"/>
          </p:cNvSpPr>
          <p:nvPr/>
        </p:nvSpPr>
        <p:spPr bwMode="auto">
          <a:xfrm flipV="1">
            <a:off x="2651125" y="3733800"/>
            <a:ext cx="6858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0" name="Line 12"/>
          <p:cNvSpPr>
            <a:spLocks noChangeShapeType="1"/>
          </p:cNvSpPr>
          <p:nvPr/>
        </p:nvSpPr>
        <p:spPr bwMode="auto">
          <a:xfrm flipV="1">
            <a:off x="2651125" y="4724400"/>
            <a:ext cx="6858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1" name="Line 13"/>
          <p:cNvSpPr>
            <a:spLocks noChangeShapeType="1"/>
          </p:cNvSpPr>
          <p:nvPr/>
        </p:nvSpPr>
        <p:spPr bwMode="auto">
          <a:xfrm>
            <a:off x="2651125"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2" name="Line 6"/>
          <p:cNvSpPr>
            <a:spLocks noChangeShapeType="1"/>
          </p:cNvSpPr>
          <p:nvPr/>
        </p:nvSpPr>
        <p:spPr bwMode="auto">
          <a:xfrm>
            <a:off x="6308725" y="27400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3" name="Line 6"/>
          <p:cNvSpPr>
            <a:spLocks noChangeShapeType="1"/>
          </p:cNvSpPr>
          <p:nvPr/>
        </p:nvSpPr>
        <p:spPr bwMode="auto">
          <a:xfrm>
            <a:off x="6308725" y="31003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4" name="Line 6"/>
          <p:cNvSpPr>
            <a:spLocks noChangeShapeType="1"/>
          </p:cNvSpPr>
          <p:nvPr/>
        </p:nvSpPr>
        <p:spPr bwMode="auto">
          <a:xfrm>
            <a:off x="6308725" y="34972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5" name="Line 6"/>
          <p:cNvSpPr>
            <a:spLocks noChangeShapeType="1"/>
          </p:cNvSpPr>
          <p:nvPr/>
        </p:nvSpPr>
        <p:spPr bwMode="auto">
          <a:xfrm>
            <a:off x="6308725" y="38592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6" name="Line 6"/>
          <p:cNvSpPr>
            <a:spLocks noChangeShapeType="1"/>
          </p:cNvSpPr>
          <p:nvPr/>
        </p:nvSpPr>
        <p:spPr bwMode="auto">
          <a:xfrm>
            <a:off x="6308725" y="42545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7" name="Line 6"/>
          <p:cNvSpPr>
            <a:spLocks noChangeShapeType="1"/>
          </p:cNvSpPr>
          <p:nvPr/>
        </p:nvSpPr>
        <p:spPr bwMode="auto">
          <a:xfrm>
            <a:off x="6308725" y="46513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8" name="Line 6"/>
          <p:cNvSpPr>
            <a:spLocks noChangeShapeType="1"/>
          </p:cNvSpPr>
          <p:nvPr/>
        </p:nvSpPr>
        <p:spPr bwMode="auto">
          <a:xfrm>
            <a:off x="6308725" y="504825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9" name="Line 6"/>
          <p:cNvSpPr>
            <a:spLocks noChangeShapeType="1"/>
          </p:cNvSpPr>
          <p:nvPr/>
        </p:nvSpPr>
        <p:spPr bwMode="auto">
          <a:xfrm>
            <a:off x="6308725"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60790" name="Group 31"/>
          <p:cNvGrpSpPr>
            <a:grpSpLocks/>
          </p:cNvGrpSpPr>
          <p:nvPr/>
        </p:nvGrpSpPr>
        <p:grpSpPr bwMode="auto">
          <a:xfrm>
            <a:off x="1355725" y="4287838"/>
            <a:ext cx="1066800" cy="1692275"/>
            <a:chOff x="2133600" y="3794760"/>
            <a:chExt cx="1066800" cy="1691640"/>
          </a:xfrm>
        </p:grpSpPr>
        <p:sp>
          <p:nvSpPr>
            <p:cNvPr id="160820" name="Oval 9"/>
            <p:cNvSpPr>
              <a:spLocks noChangeArrowheads="1"/>
            </p:cNvSpPr>
            <p:nvPr/>
          </p:nvSpPr>
          <p:spPr bwMode="auto">
            <a:xfrm flipH="1">
              <a:off x="22098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1" name="Oval 10"/>
            <p:cNvSpPr>
              <a:spLocks noChangeArrowheads="1"/>
            </p:cNvSpPr>
            <p:nvPr/>
          </p:nvSpPr>
          <p:spPr bwMode="auto">
            <a:xfrm flipH="1">
              <a:off x="22098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2" name="Oval 11"/>
            <p:cNvSpPr>
              <a:spLocks noChangeArrowheads="1"/>
            </p:cNvSpPr>
            <p:nvPr/>
          </p:nvSpPr>
          <p:spPr bwMode="auto">
            <a:xfrm flipH="1">
              <a:off x="22098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3" name="Oval 12"/>
            <p:cNvSpPr>
              <a:spLocks noChangeArrowheads="1"/>
            </p:cNvSpPr>
            <p:nvPr/>
          </p:nvSpPr>
          <p:spPr bwMode="auto">
            <a:xfrm flipH="1">
              <a:off x="22098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4" name="Oval 13"/>
            <p:cNvSpPr>
              <a:spLocks noChangeArrowheads="1"/>
            </p:cNvSpPr>
            <p:nvPr/>
          </p:nvSpPr>
          <p:spPr bwMode="auto">
            <a:xfrm flipH="1">
              <a:off x="25146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5" name="Oval 14"/>
            <p:cNvSpPr>
              <a:spLocks noChangeArrowheads="1"/>
            </p:cNvSpPr>
            <p:nvPr/>
          </p:nvSpPr>
          <p:spPr bwMode="auto">
            <a:xfrm flipH="1">
              <a:off x="25146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6" name="Oval 15"/>
            <p:cNvSpPr>
              <a:spLocks noChangeArrowheads="1"/>
            </p:cNvSpPr>
            <p:nvPr/>
          </p:nvSpPr>
          <p:spPr bwMode="auto">
            <a:xfrm flipH="1">
              <a:off x="25146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7" name="Oval 16"/>
            <p:cNvSpPr>
              <a:spLocks noChangeArrowheads="1"/>
            </p:cNvSpPr>
            <p:nvPr/>
          </p:nvSpPr>
          <p:spPr bwMode="auto">
            <a:xfrm flipH="1">
              <a:off x="25146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8" name="Oval 17"/>
            <p:cNvSpPr>
              <a:spLocks noChangeArrowheads="1"/>
            </p:cNvSpPr>
            <p:nvPr/>
          </p:nvSpPr>
          <p:spPr bwMode="auto">
            <a:xfrm flipH="1">
              <a:off x="28194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9" name="Oval 18"/>
            <p:cNvSpPr>
              <a:spLocks noChangeArrowheads="1"/>
            </p:cNvSpPr>
            <p:nvPr/>
          </p:nvSpPr>
          <p:spPr bwMode="auto">
            <a:xfrm flipH="1">
              <a:off x="28194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30" name="Oval 19"/>
            <p:cNvSpPr>
              <a:spLocks noChangeArrowheads="1"/>
            </p:cNvSpPr>
            <p:nvPr/>
          </p:nvSpPr>
          <p:spPr bwMode="auto">
            <a:xfrm flipH="1">
              <a:off x="28194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31" name="Freeform 20"/>
            <p:cNvSpPr>
              <a:spLocks/>
            </p:cNvSpPr>
            <p:nvPr/>
          </p:nvSpPr>
          <p:spPr bwMode="auto">
            <a:xfrm flipH="1">
              <a:off x="2133600" y="3794760"/>
              <a:ext cx="1066800" cy="1691640"/>
            </a:xfrm>
            <a:custGeom>
              <a:avLst/>
              <a:gdLst>
                <a:gd name="T0" fmla="*/ 0 w 672"/>
                <a:gd name="T1" fmla="*/ 2147483647 h 1536"/>
                <a:gd name="T2" fmla="*/ 0 w 672"/>
                <a:gd name="T3" fmla="*/ 2147483647 h 1536"/>
                <a:gd name="T4" fmla="*/ 2147483647 w 672"/>
                <a:gd name="T5" fmla="*/ 2147483647 h 1536"/>
                <a:gd name="T6" fmla="*/ 2147483647 w 672"/>
                <a:gd name="T7" fmla="*/ 2147483647 h 1536"/>
                <a:gd name="T8" fmla="*/ 2147483647 w 672"/>
                <a:gd name="T9" fmla="*/ 2147483647 h 1536"/>
                <a:gd name="T10" fmla="*/ 2147483647 w 672"/>
                <a:gd name="T11" fmla="*/ 0 h 1536"/>
                <a:gd name="T12" fmla="*/ 0 w 672"/>
                <a:gd name="T13" fmla="*/ 0 h 1536"/>
                <a:gd name="T14" fmla="*/ 0 60000 65536"/>
                <a:gd name="T15" fmla="*/ 0 60000 65536"/>
                <a:gd name="T16" fmla="*/ 0 60000 65536"/>
                <a:gd name="T17" fmla="*/ 0 60000 65536"/>
                <a:gd name="T18" fmla="*/ 0 60000 65536"/>
                <a:gd name="T19" fmla="*/ 0 60000 65536"/>
                <a:gd name="T20" fmla="*/ 0 60000 65536"/>
                <a:gd name="T21" fmla="*/ 0 w 672"/>
                <a:gd name="T22" fmla="*/ 0 h 1536"/>
                <a:gd name="T23" fmla="*/ 672 w 672"/>
                <a:gd name="T24" fmla="*/ 1536 h 15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2" h="1536">
                  <a:moveTo>
                    <a:pt x="0" y="48"/>
                  </a:moveTo>
                  <a:lnTo>
                    <a:pt x="0" y="1104"/>
                  </a:lnTo>
                  <a:lnTo>
                    <a:pt x="240" y="1104"/>
                  </a:lnTo>
                  <a:lnTo>
                    <a:pt x="240" y="1536"/>
                  </a:lnTo>
                  <a:lnTo>
                    <a:pt x="672" y="1536"/>
                  </a:lnTo>
                  <a:lnTo>
                    <a:pt x="672" y="0"/>
                  </a:lnTo>
                  <a:lnTo>
                    <a:pt x="0" y="0"/>
                  </a:lnTo>
                </a:path>
              </a:pathLst>
            </a:custGeom>
            <a:noFill/>
            <a:ln w="38100">
              <a:solidFill>
                <a:srgbClr val="FFFF00"/>
              </a:solidFill>
              <a:round/>
              <a:headEnd/>
              <a:tailEnd/>
            </a:ln>
          </p:spPr>
          <p:txBody>
            <a:bodyPr wrap="none" anchor="ctr"/>
            <a:lstStyle/>
            <a:p>
              <a:endParaRPr lang="en-US">
                <a:latin typeface="Arial" pitchFamily="34" charset="0"/>
                <a:cs typeface="Arial" pitchFamily="34" charset="0"/>
              </a:endParaRPr>
            </a:p>
          </p:txBody>
        </p:sp>
      </p:grpSp>
      <p:grpSp>
        <p:nvGrpSpPr>
          <p:cNvPr id="160791" name="Group 44"/>
          <p:cNvGrpSpPr>
            <a:grpSpLocks/>
          </p:cNvGrpSpPr>
          <p:nvPr/>
        </p:nvGrpSpPr>
        <p:grpSpPr bwMode="auto">
          <a:xfrm>
            <a:off x="1712913" y="2363788"/>
            <a:ext cx="774700" cy="1812925"/>
            <a:chOff x="1130300" y="2057400"/>
            <a:chExt cx="774700" cy="1813560"/>
          </a:xfrm>
        </p:grpSpPr>
        <p:sp>
          <p:nvSpPr>
            <p:cNvPr id="160813" name="Oval 3"/>
            <p:cNvSpPr>
              <a:spLocks noChangeArrowheads="1"/>
            </p:cNvSpPr>
            <p:nvPr/>
          </p:nvSpPr>
          <p:spPr bwMode="auto">
            <a:xfrm flipH="1">
              <a:off x="12827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4" name="Oval 4"/>
            <p:cNvSpPr>
              <a:spLocks noChangeArrowheads="1"/>
            </p:cNvSpPr>
            <p:nvPr/>
          </p:nvSpPr>
          <p:spPr bwMode="auto">
            <a:xfrm flipH="1">
              <a:off x="12827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5" name="Oval 5"/>
            <p:cNvSpPr>
              <a:spLocks noChangeArrowheads="1"/>
            </p:cNvSpPr>
            <p:nvPr/>
          </p:nvSpPr>
          <p:spPr bwMode="auto">
            <a:xfrm flipH="1">
              <a:off x="1282700" y="2996184"/>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6" name="Oval 6"/>
            <p:cNvSpPr>
              <a:spLocks noChangeArrowheads="1"/>
            </p:cNvSpPr>
            <p:nvPr/>
          </p:nvSpPr>
          <p:spPr bwMode="auto">
            <a:xfrm flipH="1">
              <a:off x="1282700" y="3389376"/>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7" name="Oval 7"/>
            <p:cNvSpPr>
              <a:spLocks noChangeArrowheads="1"/>
            </p:cNvSpPr>
            <p:nvPr/>
          </p:nvSpPr>
          <p:spPr bwMode="auto">
            <a:xfrm flipH="1">
              <a:off x="15875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8" name="Oval 8"/>
            <p:cNvSpPr>
              <a:spLocks noChangeArrowheads="1"/>
            </p:cNvSpPr>
            <p:nvPr/>
          </p:nvSpPr>
          <p:spPr bwMode="auto">
            <a:xfrm flipH="1">
              <a:off x="15875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9" name="Freeform 21"/>
            <p:cNvSpPr>
              <a:spLocks/>
            </p:cNvSpPr>
            <p:nvPr/>
          </p:nvSpPr>
          <p:spPr bwMode="auto">
            <a:xfrm flipH="1">
              <a:off x="1130300" y="2057400"/>
              <a:ext cx="774700" cy="1813560"/>
            </a:xfrm>
            <a:custGeom>
              <a:avLst/>
              <a:gdLst>
                <a:gd name="T0" fmla="*/ 2147483647 w 488"/>
                <a:gd name="T1" fmla="*/ 0 h 1632"/>
                <a:gd name="T2" fmla="*/ 0 w 488"/>
                <a:gd name="T3" fmla="*/ 2147483647 h 1632"/>
                <a:gd name="T4" fmla="*/ 2147483647 w 488"/>
                <a:gd name="T5" fmla="*/ 2147483647 h 1632"/>
                <a:gd name="T6" fmla="*/ 2147483647 w 488"/>
                <a:gd name="T7" fmla="*/ 2147483647 h 1632"/>
                <a:gd name="T8" fmla="*/ 2147483647 w 488"/>
                <a:gd name="T9" fmla="*/ 2147483647 h 1632"/>
                <a:gd name="T10" fmla="*/ 2147483647 w 488"/>
                <a:gd name="T11" fmla="*/ 0 h 1632"/>
                <a:gd name="T12" fmla="*/ 2147483647 w 488"/>
                <a:gd name="T13" fmla="*/ 0 h 1632"/>
                <a:gd name="T14" fmla="*/ 0 60000 65536"/>
                <a:gd name="T15" fmla="*/ 0 60000 65536"/>
                <a:gd name="T16" fmla="*/ 0 60000 65536"/>
                <a:gd name="T17" fmla="*/ 0 60000 65536"/>
                <a:gd name="T18" fmla="*/ 0 60000 65536"/>
                <a:gd name="T19" fmla="*/ 0 60000 65536"/>
                <a:gd name="T20" fmla="*/ 0 60000 65536"/>
                <a:gd name="T21" fmla="*/ 0 w 488"/>
                <a:gd name="T22" fmla="*/ 0 h 1632"/>
                <a:gd name="T23" fmla="*/ 488 w 488"/>
                <a:gd name="T24" fmla="*/ 1632 h 16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8" h="1632">
                  <a:moveTo>
                    <a:pt x="8" y="0"/>
                  </a:moveTo>
                  <a:lnTo>
                    <a:pt x="0" y="768"/>
                  </a:lnTo>
                  <a:lnTo>
                    <a:pt x="200" y="768"/>
                  </a:lnTo>
                  <a:lnTo>
                    <a:pt x="200" y="1632"/>
                  </a:lnTo>
                  <a:lnTo>
                    <a:pt x="488" y="1632"/>
                  </a:lnTo>
                  <a:lnTo>
                    <a:pt x="488" y="0"/>
                  </a:lnTo>
                  <a:lnTo>
                    <a:pt x="8" y="0"/>
                  </a:lnTo>
                  <a:close/>
                </a:path>
              </a:pathLst>
            </a:custGeom>
            <a:noFill/>
            <a:ln w="38100">
              <a:solidFill>
                <a:srgbClr val="FF9999"/>
              </a:solidFill>
              <a:round/>
              <a:headEnd/>
              <a:tailEnd/>
            </a:ln>
          </p:spPr>
          <p:txBody>
            <a:bodyPr wrap="none" anchor="ctr"/>
            <a:lstStyle/>
            <a:p>
              <a:endParaRPr lang="en-US">
                <a:latin typeface="Arial" pitchFamily="34" charset="0"/>
                <a:cs typeface="Arial" pitchFamily="34" charset="0"/>
              </a:endParaRPr>
            </a:p>
          </p:txBody>
        </p:sp>
      </p:grpSp>
      <p:grpSp>
        <p:nvGrpSpPr>
          <p:cNvPr id="160792" name="Group 42"/>
          <p:cNvGrpSpPr>
            <a:grpSpLocks/>
          </p:cNvGrpSpPr>
          <p:nvPr/>
        </p:nvGrpSpPr>
        <p:grpSpPr bwMode="auto">
          <a:xfrm flipH="1">
            <a:off x="7432675" y="2665413"/>
            <a:ext cx="896938" cy="2895600"/>
            <a:chOff x="5867400" y="1981200"/>
            <a:chExt cx="896938" cy="2895600"/>
          </a:xfrm>
        </p:grpSpPr>
        <p:sp>
          <p:nvSpPr>
            <p:cNvPr id="160796" name="Oval 21"/>
            <p:cNvSpPr>
              <a:spLocks noChangeArrowheads="1"/>
            </p:cNvSpPr>
            <p:nvPr/>
          </p:nvSpPr>
          <p:spPr bwMode="auto">
            <a:xfrm>
              <a:off x="6535738" y="1981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7" name="Oval 22"/>
            <p:cNvSpPr>
              <a:spLocks noChangeArrowheads="1"/>
            </p:cNvSpPr>
            <p:nvPr/>
          </p:nvSpPr>
          <p:spPr bwMode="auto">
            <a:xfrm>
              <a:off x="6535738" y="2362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8" name="Oval 23"/>
            <p:cNvSpPr>
              <a:spLocks noChangeArrowheads="1"/>
            </p:cNvSpPr>
            <p:nvPr/>
          </p:nvSpPr>
          <p:spPr bwMode="auto">
            <a:xfrm>
              <a:off x="6215063" y="1981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9" name="Oval 24"/>
            <p:cNvSpPr>
              <a:spLocks noChangeArrowheads="1"/>
            </p:cNvSpPr>
            <p:nvPr/>
          </p:nvSpPr>
          <p:spPr bwMode="auto">
            <a:xfrm>
              <a:off x="6535738" y="2743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0" name="Oval 25"/>
            <p:cNvSpPr>
              <a:spLocks noChangeArrowheads="1"/>
            </p:cNvSpPr>
            <p:nvPr/>
          </p:nvSpPr>
          <p:spPr bwMode="auto">
            <a:xfrm>
              <a:off x="6535738" y="3124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1" name="Oval 26"/>
            <p:cNvSpPr>
              <a:spLocks noChangeArrowheads="1"/>
            </p:cNvSpPr>
            <p:nvPr/>
          </p:nvSpPr>
          <p:spPr bwMode="auto">
            <a:xfrm>
              <a:off x="6215063" y="2743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2" name="Oval 27"/>
            <p:cNvSpPr>
              <a:spLocks noChangeArrowheads="1"/>
            </p:cNvSpPr>
            <p:nvPr/>
          </p:nvSpPr>
          <p:spPr bwMode="auto">
            <a:xfrm>
              <a:off x="6215063" y="3124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3" name="Oval 28"/>
            <p:cNvSpPr>
              <a:spLocks noChangeArrowheads="1"/>
            </p:cNvSpPr>
            <p:nvPr/>
          </p:nvSpPr>
          <p:spPr bwMode="auto">
            <a:xfrm>
              <a:off x="6215063" y="2362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4" name="Oval 30"/>
            <p:cNvSpPr>
              <a:spLocks noChangeArrowheads="1"/>
            </p:cNvSpPr>
            <p:nvPr/>
          </p:nvSpPr>
          <p:spPr bwMode="auto">
            <a:xfrm>
              <a:off x="6535738" y="3505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5" name="Oval 31"/>
            <p:cNvSpPr>
              <a:spLocks noChangeArrowheads="1"/>
            </p:cNvSpPr>
            <p:nvPr/>
          </p:nvSpPr>
          <p:spPr bwMode="auto">
            <a:xfrm>
              <a:off x="6535738" y="3886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6" name="Oval 32"/>
            <p:cNvSpPr>
              <a:spLocks noChangeArrowheads="1"/>
            </p:cNvSpPr>
            <p:nvPr/>
          </p:nvSpPr>
          <p:spPr bwMode="auto">
            <a:xfrm>
              <a:off x="6215063" y="3505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7" name="Oval 33"/>
            <p:cNvSpPr>
              <a:spLocks noChangeArrowheads="1"/>
            </p:cNvSpPr>
            <p:nvPr/>
          </p:nvSpPr>
          <p:spPr bwMode="auto">
            <a:xfrm>
              <a:off x="6535738" y="4267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8" name="Oval 34"/>
            <p:cNvSpPr>
              <a:spLocks noChangeArrowheads="1"/>
            </p:cNvSpPr>
            <p:nvPr/>
          </p:nvSpPr>
          <p:spPr bwMode="auto">
            <a:xfrm>
              <a:off x="6535738" y="4648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9" name="Oval 35"/>
            <p:cNvSpPr>
              <a:spLocks noChangeArrowheads="1"/>
            </p:cNvSpPr>
            <p:nvPr/>
          </p:nvSpPr>
          <p:spPr bwMode="auto">
            <a:xfrm>
              <a:off x="6215063" y="4267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0" name="Oval 36"/>
            <p:cNvSpPr>
              <a:spLocks noChangeArrowheads="1"/>
            </p:cNvSpPr>
            <p:nvPr/>
          </p:nvSpPr>
          <p:spPr bwMode="auto">
            <a:xfrm>
              <a:off x="6215063" y="4648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1" name="Oval 37"/>
            <p:cNvSpPr>
              <a:spLocks noChangeArrowheads="1"/>
            </p:cNvSpPr>
            <p:nvPr/>
          </p:nvSpPr>
          <p:spPr bwMode="auto">
            <a:xfrm>
              <a:off x="6215063" y="3886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2" name="Oval 38"/>
            <p:cNvSpPr>
              <a:spLocks noChangeArrowheads="1"/>
            </p:cNvSpPr>
            <p:nvPr/>
          </p:nvSpPr>
          <p:spPr bwMode="auto">
            <a:xfrm>
              <a:off x="5867400" y="1981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0793" name="Freeform 48"/>
          <p:cNvSpPr>
            <a:spLocks/>
          </p:cNvSpPr>
          <p:nvPr/>
        </p:nvSpPr>
        <p:spPr bwMode="auto">
          <a:xfrm>
            <a:off x="7354888" y="2579688"/>
            <a:ext cx="1103312" cy="3154362"/>
          </a:xfrm>
          <a:custGeom>
            <a:avLst/>
            <a:gdLst>
              <a:gd name="T0" fmla="*/ 0 w 816"/>
              <a:gd name="T1" fmla="*/ 0 h 2064"/>
              <a:gd name="T2" fmla="*/ 0 w 816"/>
              <a:gd name="T3" fmla="*/ 2147483647 h 2064"/>
              <a:gd name="T4" fmla="*/ 2147483647 w 816"/>
              <a:gd name="T5" fmla="*/ 2147483647 h 2064"/>
              <a:gd name="T6" fmla="*/ 2147483647 w 816"/>
              <a:gd name="T7" fmla="*/ 2147483647 h 2064"/>
              <a:gd name="T8" fmla="*/ 2147483647 w 816"/>
              <a:gd name="T9" fmla="*/ 2147483647 h 2064"/>
              <a:gd name="T10" fmla="*/ 2147483647 w 816"/>
              <a:gd name="T11" fmla="*/ 0 h 2064"/>
              <a:gd name="T12" fmla="*/ 0 w 816"/>
              <a:gd name="T13" fmla="*/ 0 h 2064"/>
              <a:gd name="T14" fmla="*/ 0 60000 65536"/>
              <a:gd name="T15" fmla="*/ 0 60000 65536"/>
              <a:gd name="T16" fmla="*/ 0 60000 65536"/>
              <a:gd name="T17" fmla="*/ 0 60000 65536"/>
              <a:gd name="T18" fmla="*/ 0 60000 65536"/>
              <a:gd name="T19" fmla="*/ 0 60000 65536"/>
              <a:gd name="T20" fmla="*/ 0 60000 65536"/>
              <a:gd name="T21" fmla="*/ 0 w 816"/>
              <a:gd name="T22" fmla="*/ 0 h 2064"/>
              <a:gd name="T23" fmla="*/ 816 w 816"/>
              <a:gd name="T24" fmla="*/ 2064 h 20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6" h="2064">
                <a:moveTo>
                  <a:pt x="0" y="0"/>
                </a:moveTo>
                <a:lnTo>
                  <a:pt x="0" y="2064"/>
                </a:lnTo>
                <a:lnTo>
                  <a:pt x="528" y="2064"/>
                </a:lnTo>
                <a:lnTo>
                  <a:pt x="528" y="288"/>
                </a:lnTo>
                <a:lnTo>
                  <a:pt x="816" y="288"/>
                </a:lnTo>
                <a:lnTo>
                  <a:pt x="816" y="0"/>
                </a:lnTo>
                <a:lnTo>
                  <a:pt x="0" y="0"/>
                </a:lnTo>
                <a:close/>
              </a:path>
            </a:pathLst>
          </a:custGeom>
          <a:noFill/>
          <a:ln w="38100">
            <a:solidFill>
              <a:srgbClr val="99FF99"/>
            </a:solidFill>
            <a:round/>
            <a:headEnd/>
            <a:tailEnd/>
          </a:ln>
        </p:spPr>
        <p:txBody>
          <a:bodyPr wrap="none" anchor="ctr"/>
          <a:lstStyle/>
          <a:p>
            <a:endParaRPr lang="en-US">
              <a:latin typeface="Arial" pitchFamily="34" charset="0"/>
              <a:cs typeface="Arial" pitchFamily="34" charset="0"/>
            </a:endParaRPr>
          </a:p>
        </p:txBody>
      </p:sp>
      <p:sp>
        <p:nvSpPr>
          <p:cNvPr id="72" name="TextBox 71"/>
          <p:cNvSpPr txBox="1"/>
          <p:nvPr/>
        </p:nvSpPr>
        <p:spPr>
          <a:xfrm>
            <a:off x="700088" y="1752600"/>
            <a:ext cx="3313112" cy="461963"/>
          </a:xfrm>
          <a:prstGeom prst="rect">
            <a:avLst/>
          </a:prstGeom>
          <a:noFill/>
        </p:spPr>
        <p:txBody>
          <a:bodyPr wrap="none">
            <a:spAutoFit/>
          </a:bodyPr>
          <a:lstStyle/>
          <a:p>
            <a:pPr>
              <a:defRPr/>
            </a:pPr>
            <a:r>
              <a:rPr lang="en-US" dirty="0">
                <a:latin typeface="Arial" pitchFamily="34" charset="0"/>
                <a:cs typeface="Arial" pitchFamily="34" charset="0"/>
              </a:rPr>
              <a:t>Induction Hypothesis</a:t>
            </a:r>
          </a:p>
        </p:txBody>
      </p:sp>
      <p:sp>
        <p:nvSpPr>
          <p:cNvPr id="73" name="TextBox 72"/>
          <p:cNvSpPr txBox="1"/>
          <p:nvPr/>
        </p:nvSpPr>
        <p:spPr>
          <a:xfrm>
            <a:off x="6591300" y="1752600"/>
            <a:ext cx="2236510" cy="461665"/>
          </a:xfrm>
          <a:prstGeom prst="rect">
            <a:avLst/>
          </a:prstGeom>
          <a:noFill/>
        </p:spPr>
        <p:txBody>
          <a:bodyPr wrap="none">
            <a:spAutoFit/>
          </a:bodyPr>
          <a:lstStyle/>
          <a:p>
            <a:pPr>
              <a:defRPr/>
            </a:pPr>
            <a:r>
              <a:rPr lang="en-US" dirty="0">
                <a:latin typeface="Arial" pitchFamily="34" charset="0"/>
                <a:cs typeface="Arial" pitchFamily="34" charset="0"/>
              </a:rPr>
              <a:t>Need to prove</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2"/>
          <p:cNvSpPr>
            <a:spLocks noGrp="1"/>
          </p:cNvSpPr>
          <p:nvPr>
            <p:ph type="ftr" sz="quarter" idx="10"/>
          </p:nvPr>
        </p:nvSpPr>
        <p:spPr/>
        <p:txBody>
          <a:bodyPr/>
          <a:lstStyle/>
          <a:p>
            <a:pPr>
              <a:defRPr/>
            </a:pPr>
            <a:r>
              <a:rPr lang="en-US"/>
              <a:t>Art of Multiprocessor Programming</a:t>
            </a:r>
          </a:p>
        </p:txBody>
      </p:sp>
      <p:sp>
        <p:nvSpPr>
          <p:cNvPr id="20" name="Slide Number Placeholder 3"/>
          <p:cNvSpPr>
            <a:spLocks noGrp="1"/>
          </p:cNvSpPr>
          <p:nvPr>
            <p:ph type="sldNum" sz="quarter" idx="11"/>
          </p:nvPr>
        </p:nvSpPr>
        <p:spPr/>
        <p:txBody>
          <a:bodyPr/>
          <a:lstStyle/>
          <a:p>
            <a:pPr>
              <a:defRPr/>
            </a:pPr>
            <a:fld id="{D5B70886-6129-4D05-8798-BEA768D160F4}" type="slidenum">
              <a:rPr lang="en-US"/>
              <a:pPr>
                <a:defRPr/>
              </a:pPr>
              <a:t>162</a:t>
            </a:fld>
            <a:endParaRPr lang="en-US"/>
          </a:p>
        </p:txBody>
      </p:sp>
      <p:sp>
        <p:nvSpPr>
          <p:cNvPr id="161796" name="Rectangle 2"/>
          <p:cNvSpPr>
            <a:spLocks noGrp="1" noChangeArrowheads="1"/>
          </p:cNvSpPr>
          <p:nvPr>
            <p:ph type="title"/>
          </p:nvPr>
        </p:nvSpPr>
        <p:spPr/>
        <p:txBody>
          <a:bodyPr/>
          <a:lstStyle/>
          <a:p>
            <a:r>
              <a:rPr lang="en-US"/>
              <a:t>Merger[2k] Schematic</a:t>
            </a:r>
          </a:p>
        </p:txBody>
      </p:sp>
      <p:grpSp>
        <p:nvGrpSpPr>
          <p:cNvPr id="161797" name="Group 3"/>
          <p:cNvGrpSpPr>
            <a:grpSpLocks/>
          </p:cNvGrpSpPr>
          <p:nvPr/>
        </p:nvGrpSpPr>
        <p:grpSpPr bwMode="auto">
          <a:xfrm>
            <a:off x="2286000" y="2133600"/>
            <a:ext cx="4038600" cy="3733800"/>
            <a:chOff x="1440" y="1344"/>
            <a:chExt cx="2544" cy="2352"/>
          </a:xfrm>
        </p:grpSpPr>
        <p:sp>
          <p:nvSpPr>
            <p:cNvPr id="161798" name="Rectangle 4"/>
            <p:cNvSpPr>
              <a:spLocks noChangeArrowheads="1"/>
            </p:cNvSpPr>
            <p:nvPr/>
          </p:nvSpPr>
          <p:spPr bwMode="auto">
            <a:xfrm>
              <a:off x="1584" y="1536"/>
              <a:ext cx="1728" cy="912"/>
            </a:xfrm>
            <a:prstGeom prst="rect">
              <a:avLst/>
            </a:prstGeom>
            <a:solidFill>
              <a:schemeClr val="accent1"/>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Merger[k]</a:t>
              </a:r>
            </a:p>
          </p:txBody>
        </p:sp>
        <p:sp>
          <p:nvSpPr>
            <p:cNvPr id="161799" name="Rectangle 5"/>
            <p:cNvSpPr>
              <a:spLocks noChangeArrowheads="1"/>
            </p:cNvSpPr>
            <p:nvPr/>
          </p:nvSpPr>
          <p:spPr bwMode="auto">
            <a:xfrm>
              <a:off x="1584" y="2640"/>
              <a:ext cx="1728" cy="912"/>
            </a:xfrm>
            <a:prstGeom prst="rect">
              <a:avLst/>
            </a:prstGeom>
            <a:solidFill>
              <a:srgbClr val="FF9900"/>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Merger[k]</a:t>
              </a:r>
            </a:p>
          </p:txBody>
        </p:sp>
        <p:sp>
          <p:nvSpPr>
            <p:cNvPr id="161800" name="AutoShape 6"/>
            <p:cNvSpPr>
              <a:spLocks noChangeArrowheads="1"/>
            </p:cNvSpPr>
            <p:nvPr/>
          </p:nvSpPr>
          <p:spPr bwMode="auto">
            <a:xfrm>
              <a:off x="3648" y="1536"/>
              <a:ext cx="192" cy="384"/>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01" name="AutoShape 7"/>
            <p:cNvSpPr>
              <a:spLocks noChangeArrowheads="1"/>
            </p:cNvSpPr>
            <p:nvPr/>
          </p:nvSpPr>
          <p:spPr bwMode="auto">
            <a:xfrm>
              <a:off x="3648" y="2016"/>
              <a:ext cx="192" cy="384"/>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02" name="AutoShape 8"/>
            <p:cNvSpPr>
              <a:spLocks noChangeArrowheads="1"/>
            </p:cNvSpPr>
            <p:nvPr/>
          </p:nvSpPr>
          <p:spPr bwMode="auto">
            <a:xfrm>
              <a:off x="3648" y="2640"/>
              <a:ext cx="192" cy="384"/>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03" name="AutoShape 9"/>
            <p:cNvSpPr>
              <a:spLocks noChangeArrowheads="1"/>
            </p:cNvSpPr>
            <p:nvPr/>
          </p:nvSpPr>
          <p:spPr bwMode="auto">
            <a:xfrm>
              <a:off x="3648" y="3120"/>
              <a:ext cx="192" cy="384"/>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804" name="Freeform 10"/>
            <p:cNvSpPr>
              <a:spLocks/>
            </p:cNvSpPr>
            <p:nvPr/>
          </p:nvSpPr>
          <p:spPr bwMode="auto">
            <a:xfrm>
              <a:off x="3312" y="1632"/>
              <a:ext cx="304" cy="1"/>
            </a:xfrm>
            <a:custGeom>
              <a:avLst/>
              <a:gdLst>
                <a:gd name="T0" fmla="*/ 0 w 304"/>
                <a:gd name="T1" fmla="*/ 0 h 1"/>
                <a:gd name="T2" fmla="*/ 304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1805" name="Freeform 11"/>
            <p:cNvSpPr>
              <a:spLocks/>
            </p:cNvSpPr>
            <p:nvPr/>
          </p:nvSpPr>
          <p:spPr bwMode="auto">
            <a:xfrm>
              <a:off x="3312" y="1872"/>
              <a:ext cx="288" cy="288"/>
            </a:xfrm>
            <a:custGeom>
              <a:avLst/>
              <a:gdLst>
                <a:gd name="T0" fmla="*/ 0 w 280"/>
                <a:gd name="T1" fmla="*/ 0 h 272"/>
                <a:gd name="T2" fmla="*/ 340 w 280"/>
                <a:gd name="T3" fmla="*/ 406 h 272"/>
                <a:gd name="T4" fmla="*/ 322 w 280"/>
                <a:gd name="T5" fmla="*/ 382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1806" name="Line 12"/>
            <p:cNvSpPr>
              <a:spLocks noChangeShapeType="1"/>
            </p:cNvSpPr>
            <p:nvPr/>
          </p:nvSpPr>
          <p:spPr bwMode="auto">
            <a:xfrm flipV="1">
              <a:off x="3312" y="1824"/>
              <a:ext cx="288" cy="96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1807" name="Line 13"/>
            <p:cNvSpPr>
              <a:spLocks noChangeShapeType="1"/>
            </p:cNvSpPr>
            <p:nvPr/>
          </p:nvSpPr>
          <p:spPr bwMode="auto">
            <a:xfrm flipV="1">
              <a:off x="3312" y="2304"/>
              <a:ext cx="288" cy="672"/>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1808" name="Line 14"/>
            <p:cNvSpPr>
              <a:spLocks noChangeShapeType="1"/>
            </p:cNvSpPr>
            <p:nvPr/>
          </p:nvSpPr>
          <p:spPr bwMode="auto">
            <a:xfrm flipV="1">
              <a:off x="3312" y="2928"/>
              <a:ext cx="288" cy="288"/>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1809" name="Line 15"/>
            <p:cNvSpPr>
              <a:spLocks noChangeShapeType="1"/>
            </p:cNvSpPr>
            <p:nvPr/>
          </p:nvSpPr>
          <p:spPr bwMode="auto">
            <a:xfrm>
              <a:off x="3312" y="3408"/>
              <a:ext cx="288"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1810" name="Line 16"/>
            <p:cNvSpPr>
              <a:spLocks noChangeShapeType="1"/>
            </p:cNvSpPr>
            <p:nvPr/>
          </p:nvSpPr>
          <p:spPr bwMode="auto">
            <a:xfrm>
              <a:off x="3312" y="2112"/>
              <a:ext cx="288" cy="624"/>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1811" name="Line 17"/>
            <p:cNvSpPr>
              <a:spLocks noChangeShapeType="1"/>
            </p:cNvSpPr>
            <p:nvPr/>
          </p:nvSpPr>
          <p:spPr bwMode="auto">
            <a:xfrm>
              <a:off x="3312" y="2352"/>
              <a:ext cx="288" cy="912"/>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1812" name="Rectangle 18"/>
            <p:cNvSpPr>
              <a:spLocks noChangeArrowheads="1"/>
            </p:cNvSpPr>
            <p:nvPr/>
          </p:nvSpPr>
          <p:spPr bwMode="auto">
            <a:xfrm>
              <a:off x="1440" y="1344"/>
              <a:ext cx="2544" cy="2352"/>
            </a:xfrm>
            <a:prstGeom prst="rect">
              <a:avLst/>
            </a:prstGeom>
            <a:noFill/>
            <a:ln w="38100" algn="ctr">
              <a:solidFill>
                <a:schemeClr val="tx1"/>
              </a:solidFill>
              <a:prstDash val="dash"/>
              <a:miter lim="800000"/>
              <a:headEnd/>
              <a:tailEnd/>
            </a:ln>
          </p:spPr>
          <p:txBody>
            <a:bodyPr wrap="none" anchor="ctr"/>
            <a:lstStyle/>
            <a:p>
              <a:endParaRPr lang="en-US">
                <a:latin typeface="Arial" pitchFamily="34" charset="0"/>
                <a:cs typeface="Arial" pitchFamily="34" charset="0"/>
              </a:endParaRPr>
            </a:p>
          </p:txBody>
        </p:sp>
      </p:gr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2"/>
          <p:cNvSpPr>
            <a:spLocks noGrp="1"/>
          </p:cNvSpPr>
          <p:nvPr>
            <p:ph type="ftr" sz="quarter" idx="10"/>
          </p:nvPr>
        </p:nvSpPr>
        <p:spPr/>
        <p:txBody>
          <a:bodyPr/>
          <a:lstStyle/>
          <a:p>
            <a:pPr>
              <a:defRPr/>
            </a:pPr>
            <a:r>
              <a:rPr lang="en-US"/>
              <a:t>Art of Multiprocessor Programming</a:t>
            </a:r>
          </a:p>
        </p:txBody>
      </p:sp>
      <p:sp>
        <p:nvSpPr>
          <p:cNvPr id="24" name="Slide Number Placeholder 3"/>
          <p:cNvSpPr>
            <a:spLocks noGrp="1"/>
          </p:cNvSpPr>
          <p:nvPr>
            <p:ph type="sldNum" sz="quarter" idx="11"/>
          </p:nvPr>
        </p:nvSpPr>
        <p:spPr/>
        <p:txBody>
          <a:bodyPr/>
          <a:lstStyle/>
          <a:p>
            <a:pPr>
              <a:defRPr/>
            </a:pPr>
            <a:fld id="{7FC01E6D-3F20-4A5F-9C7A-B455268E734B}" type="slidenum">
              <a:rPr lang="en-US"/>
              <a:pPr>
                <a:defRPr/>
              </a:pPr>
              <a:t>163</a:t>
            </a:fld>
            <a:endParaRPr lang="en-US"/>
          </a:p>
        </p:txBody>
      </p:sp>
      <p:sp>
        <p:nvSpPr>
          <p:cNvPr id="162820" name="Line 2"/>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21" name="Line 3"/>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22" name="Line 4"/>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23" name="Line 5"/>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24" name="Line 6"/>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25" name="Line 7"/>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26" name="Line 8"/>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27" name="Line 9"/>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28" name="Rectangle 10"/>
          <p:cNvSpPr>
            <a:spLocks noGrp="1" noChangeArrowheads="1"/>
          </p:cNvSpPr>
          <p:nvPr>
            <p:ph type="title"/>
          </p:nvPr>
        </p:nvSpPr>
        <p:spPr/>
        <p:txBody>
          <a:bodyPr/>
          <a:lstStyle/>
          <a:p>
            <a:r>
              <a:rPr lang="en-US"/>
              <a:t>Merger[2k] Layout</a:t>
            </a:r>
          </a:p>
        </p:txBody>
      </p:sp>
      <p:sp>
        <p:nvSpPr>
          <p:cNvPr id="162829" name="AutoShape 11"/>
          <p:cNvSpPr>
            <a:spLocks noChangeArrowheads="1"/>
          </p:cNvSpPr>
          <p:nvPr/>
        </p:nvSpPr>
        <p:spPr bwMode="auto">
          <a:xfrm>
            <a:off x="3549650" y="2133600"/>
            <a:ext cx="304800" cy="3429000"/>
          </a:xfrm>
          <a:prstGeom prst="roundRect">
            <a:avLst>
              <a:gd name="adj" fmla="val 16667"/>
            </a:avLst>
          </a:prstGeom>
          <a:solidFill>
            <a:schemeClr val="accent1"/>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62830" name="AutoShape 12"/>
          <p:cNvSpPr>
            <a:spLocks noChangeArrowheads="1"/>
          </p:cNvSpPr>
          <p:nvPr/>
        </p:nvSpPr>
        <p:spPr bwMode="auto">
          <a:xfrm>
            <a:off x="6248400" y="21336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62831" name="AutoShape 13"/>
          <p:cNvSpPr>
            <a:spLocks noChangeArrowheads="1"/>
          </p:cNvSpPr>
          <p:nvPr/>
        </p:nvSpPr>
        <p:spPr bwMode="auto">
          <a:xfrm>
            <a:off x="6248400" y="30734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62832" name="AutoShape 14"/>
          <p:cNvSpPr>
            <a:spLocks noChangeArrowheads="1"/>
          </p:cNvSpPr>
          <p:nvPr/>
        </p:nvSpPr>
        <p:spPr bwMode="auto">
          <a:xfrm>
            <a:off x="6248400" y="40132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62833" name="AutoShape 15"/>
          <p:cNvSpPr>
            <a:spLocks noChangeArrowheads="1"/>
          </p:cNvSpPr>
          <p:nvPr/>
        </p:nvSpPr>
        <p:spPr bwMode="auto">
          <a:xfrm>
            <a:off x="6248400" y="48768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62834" name="AutoShape 16"/>
          <p:cNvSpPr>
            <a:spLocks noChangeArrowheads="1"/>
          </p:cNvSpPr>
          <p:nvPr/>
        </p:nvSpPr>
        <p:spPr bwMode="auto">
          <a:xfrm>
            <a:off x="4000500" y="2514600"/>
            <a:ext cx="304800" cy="26670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62835" name="AutoShape 17"/>
          <p:cNvSpPr>
            <a:spLocks noChangeArrowheads="1"/>
          </p:cNvSpPr>
          <p:nvPr/>
        </p:nvSpPr>
        <p:spPr bwMode="auto">
          <a:xfrm>
            <a:off x="4449763" y="2895600"/>
            <a:ext cx="304800" cy="1828800"/>
          </a:xfrm>
          <a:prstGeom prst="roundRect">
            <a:avLst>
              <a:gd name="adj" fmla="val 16667"/>
            </a:avLst>
          </a:prstGeom>
          <a:solidFill>
            <a:schemeClr val="accent1"/>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62836" name="AutoShape 18"/>
          <p:cNvSpPr>
            <a:spLocks noChangeArrowheads="1"/>
          </p:cNvSpPr>
          <p:nvPr/>
        </p:nvSpPr>
        <p:spPr bwMode="auto">
          <a:xfrm>
            <a:off x="4899025" y="3352800"/>
            <a:ext cx="304800" cy="9144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62837" name="AutoShape 19"/>
          <p:cNvSpPr>
            <a:spLocks noChangeArrowheads="1"/>
          </p:cNvSpPr>
          <p:nvPr/>
        </p:nvSpPr>
        <p:spPr bwMode="auto">
          <a:xfrm>
            <a:off x="5348288" y="2133600"/>
            <a:ext cx="304800" cy="1219200"/>
          </a:xfrm>
          <a:prstGeom prst="roundRect">
            <a:avLst>
              <a:gd name="adj" fmla="val 16667"/>
            </a:avLst>
          </a:prstGeom>
          <a:solidFill>
            <a:schemeClr val="accent1"/>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62838" name="AutoShape 20"/>
          <p:cNvSpPr>
            <a:spLocks noChangeArrowheads="1"/>
          </p:cNvSpPr>
          <p:nvPr/>
        </p:nvSpPr>
        <p:spPr bwMode="auto">
          <a:xfrm>
            <a:off x="5348288" y="4343400"/>
            <a:ext cx="304800" cy="1219200"/>
          </a:xfrm>
          <a:prstGeom prst="roundRect">
            <a:avLst>
              <a:gd name="adj" fmla="val 16667"/>
            </a:avLst>
          </a:prstGeom>
          <a:solidFill>
            <a:schemeClr val="accent1"/>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62839" name="AutoShape 21"/>
          <p:cNvSpPr>
            <a:spLocks noChangeArrowheads="1"/>
          </p:cNvSpPr>
          <p:nvPr/>
        </p:nvSpPr>
        <p:spPr bwMode="auto">
          <a:xfrm>
            <a:off x="5797550" y="3886200"/>
            <a:ext cx="304800" cy="12954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62840" name="AutoShape 22"/>
          <p:cNvSpPr>
            <a:spLocks noChangeArrowheads="1"/>
          </p:cNvSpPr>
          <p:nvPr/>
        </p:nvSpPr>
        <p:spPr bwMode="auto">
          <a:xfrm>
            <a:off x="5791200" y="2438400"/>
            <a:ext cx="304800" cy="12954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r>
              <a:rPr lang="en-US" dirty="0"/>
              <a:t>Induction Step</a:t>
            </a:r>
          </a:p>
        </p:txBody>
      </p:sp>
      <p:sp>
        <p:nvSpPr>
          <p:cNvPr id="564227" name="Rectangle 3"/>
          <p:cNvSpPr>
            <a:spLocks noGrp="1" noChangeArrowheads="1"/>
          </p:cNvSpPr>
          <p:nvPr>
            <p:ph type="body" idx="1"/>
          </p:nvPr>
        </p:nvSpPr>
        <p:spPr/>
        <p:txBody>
          <a:bodyPr/>
          <a:lstStyle/>
          <a:p>
            <a:pPr lvl="1"/>
            <a:r>
              <a:rPr lang="en-US" sz="3200" dirty="0" err="1">
                <a:solidFill>
                  <a:schemeClr val="tx1"/>
                </a:solidFill>
              </a:rPr>
              <a:t>Bitonic</a:t>
            </a:r>
            <a:r>
              <a:rPr lang="en-US" sz="3200" dirty="0">
                <a:solidFill>
                  <a:schemeClr val="tx1"/>
                </a:solidFill>
              </a:rPr>
              <a:t>[k]</a:t>
            </a:r>
            <a:r>
              <a:rPr lang="en-US" sz="3200" dirty="0"/>
              <a:t> has step property …</a:t>
            </a:r>
          </a:p>
          <a:p>
            <a:pPr lvl="1"/>
            <a:r>
              <a:rPr lang="en-US" sz="3200" dirty="0"/>
              <a:t>Assume </a:t>
            </a:r>
            <a:r>
              <a:rPr lang="en-US" sz="3200" dirty="0">
                <a:solidFill>
                  <a:schemeClr val="tx1"/>
                </a:solidFill>
              </a:rPr>
              <a:t>Merger[k]</a:t>
            </a:r>
            <a:r>
              <a:rPr lang="en-US" sz="3200" dirty="0"/>
              <a:t> has step property if it gets </a:t>
            </a:r>
            <a:r>
              <a:rPr lang="en-US" sz="3200" dirty="0">
                <a:solidFill>
                  <a:schemeClr val="tx1"/>
                </a:solidFill>
              </a:rPr>
              <a:t>2</a:t>
            </a:r>
            <a:r>
              <a:rPr lang="en-US" sz="3200" dirty="0"/>
              <a:t> inputs with step property of size </a:t>
            </a:r>
            <a:r>
              <a:rPr lang="en-US" sz="3200" dirty="0">
                <a:solidFill>
                  <a:schemeClr val="tx1"/>
                </a:solidFill>
              </a:rPr>
              <a:t>k/2</a:t>
            </a:r>
            <a:r>
              <a:rPr lang="en-US" sz="3200" dirty="0"/>
              <a:t> and </a:t>
            </a:r>
          </a:p>
          <a:p>
            <a:pPr lvl="1"/>
            <a:r>
              <a:rPr lang="en-US" sz="3200" dirty="0"/>
              <a:t>prove </a:t>
            </a:r>
            <a:r>
              <a:rPr lang="en-US" sz="3200" dirty="0">
                <a:solidFill>
                  <a:schemeClr val="tx1"/>
                </a:solidFill>
              </a:rPr>
              <a:t>Merger[2k]</a:t>
            </a:r>
            <a:r>
              <a:rPr lang="en-US" sz="3200" dirty="0"/>
              <a:t> has step property</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4"/>
          <p:cNvSpPr>
            <a:spLocks noGrp="1"/>
          </p:cNvSpPr>
          <p:nvPr>
            <p:ph type="sldNum" sz="quarter" idx="11"/>
          </p:nvPr>
        </p:nvSpPr>
        <p:spPr/>
        <p:txBody>
          <a:bodyPr/>
          <a:lstStyle/>
          <a:p>
            <a:pPr>
              <a:defRPr/>
            </a:pPr>
            <a:fld id="{527BF4D1-8F60-4740-AFE9-A5FFD2050137}" type="slidenum">
              <a:rPr lang="en-US"/>
              <a:pPr>
                <a:defRPr/>
              </a:pPr>
              <a:t>165</a:t>
            </a:fld>
            <a:endParaRPr lang="en-US"/>
          </a:p>
        </p:txBody>
      </p:sp>
      <p:sp>
        <p:nvSpPr>
          <p:cNvPr id="160772" name="Rectangle 2"/>
          <p:cNvSpPr>
            <a:spLocks noGrp="1" noChangeArrowheads="1"/>
          </p:cNvSpPr>
          <p:nvPr>
            <p:ph type="title"/>
          </p:nvPr>
        </p:nvSpPr>
        <p:spPr>
          <a:xfrm>
            <a:off x="0" y="389471"/>
            <a:ext cx="8916988" cy="1143000"/>
          </a:xfrm>
        </p:spPr>
        <p:txBody>
          <a:bodyPr/>
          <a:lstStyle/>
          <a:p>
            <a:r>
              <a:rPr lang="en-US" dirty="0"/>
              <a:t>Assume </a:t>
            </a:r>
            <a:r>
              <a:rPr lang="en-US" dirty="0" err="1"/>
              <a:t>Bitonic</a:t>
            </a:r>
            <a:r>
              <a:rPr lang="en-US" dirty="0"/>
              <a:t>[k] and Merger[k] and Prove Merger[2k]</a:t>
            </a:r>
          </a:p>
        </p:txBody>
      </p:sp>
      <p:sp>
        <p:nvSpPr>
          <p:cNvPr id="160773" name="Rectangle 5"/>
          <p:cNvSpPr>
            <a:spLocks noChangeArrowheads="1"/>
          </p:cNvSpPr>
          <p:nvPr/>
        </p:nvSpPr>
        <p:spPr bwMode="auto">
          <a:xfrm>
            <a:off x="3336925" y="2438400"/>
            <a:ext cx="2971800" cy="3200400"/>
          </a:xfrm>
          <a:prstGeom prst="rect">
            <a:avLst/>
          </a:prstGeom>
          <a:solidFill>
            <a:srgbClr val="99FF99"/>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Merger[2k]</a:t>
            </a:r>
          </a:p>
        </p:txBody>
      </p:sp>
      <p:sp>
        <p:nvSpPr>
          <p:cNvPr id="160774" name="Line 6"/>
          <p:cNvSpPr>
            <a:spLocks noChangeShapeType="1"/>
          </p:cNvSpPr>
          <p:nvPr/>
        </p:nvSpPr>
        <p:spPr bwMode="auto">
          <a:xfrm>
            <a:off x="2651125" y="26670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5" name="Line 7"/>
          <p:cNvSpPr>
            <a:spLocks noChangeShapeType="1"/>
          </p:cNvSpPr>
          <p:nvPr/>
        </p:nvSpPr>
        <p:spPr bwMode="auto">
          <a:xfrm>
            <a:off x="2651125" y="2971800"/>
            <a:ext cx="685800" cy="396875"/>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6" name="Line 8"/>
          <p:cNvSpPr>
            <a:spLocks noChangeShapeType="1"/>
          </p:cNvSpPr>
          <p:nvPr/>
        </p:nvSpPr>
        <p:spPr bwMode="auto">
          <a:xfrm>
            <a:off x="2651125" y="3276600"/>
            <a:ext cx="685800" cy="1219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7" name="Line 9"/>
          <p:cNvSpPr>
            <a:spLocks noChangeShapeType="1"/>
          </p:cNvSpPr>
          <p:nvPr/>
        </p:nvSpPr>
        <p:spPr bwMode="auto">
          <a:xfrm>
            <a:off x="2651125" y="3657600"/>
            <a:ext cx="6858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8" name="Line 10"/>
          <p:cNvSpPr>
            <a:spLocks noChangeShapeType="1"/>
          </p:cNvSpPr>
          <p:nvPr/>
        </p:nvSpPr>
        <p:spPr bwMode="auto">
          <a:xfrm flipV="1">
            <a:off x="2651125" y="2971800"/>
            <a:ext cx="6858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79" name="Line 11"/>
          <p:cNvSpPr>
            <a:spLocks noChangeShapeType="1"/>
          </p:cNvSpPr>
          <p:nvPr/>
        </p:nvSpPr>
        <p:spPr bwMode="auto">
          <a:xfrm flipV="1">
            <a:off x="2651125" y="3733800"/>
            <a:ext cx="6858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0" name="Line 12"/>
          <p:cNvSpPr>
            <a:spLocks noChangeShapeType="1"/>
          </p:cNvSpPr>
          <p:nvPr/>
        </p:nvSpPr>
        <p:spPr bwMode="auto">
          <a:xfrm flipV="1">
            <a:off x="2651125" y="4724400"/>
            <a:ext cx="6858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1" name="Line 13"/>
          <p:cNvSpPr>
            <a:spLocks noChangeShapeType="1"/>
          </p:cNvSpPr>
          <p:nvPr/>
        </p:nvSpPr>
        <p:spPr bwMode="auto">
          <a:xfrm>
            <a:off x="2651125"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2" name="Line 6"/>
          <p:cNvSpPr>
            <a:spLocks noChangeShapeType="1"/>
          </p:cNvSpPr>
          <p:nvPr/>
        </p:nvSpPr>
        <p:spPr bwMode="auto">
          <a:xfrm>
            <a:off x="6308725" y="27400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3" name="Line 6"/>
          <p:cNvSpPr>
            <a:spLocks noChangeShapeType="1"/>
          </p:cNvSpPr>
          <p:nvPr/>
        </p:nvSpPr>
        <p:spPr bwMode="auto">
          <a:xfrm>
            <a:off x="6308725" y="31003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4" name="Line 6"/>
          <p:cNvSpPr>
            <a:spLocks noChangeShapeType="1"/>
          </p:cNvSpPr>
          <p:nvPr/>
        </p:nvSpPr>
        <p:spPr bwMode="auto">
          <a:xfrm>
            <a:off x="6308725" y="34972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5" name="Line 6"/>
          <p:cNvSpPr>
            <a:spLocks noChangeShapeType="1"/>
          </p:cNvSpPr>
          <p:nvPr/>
        </p:nvSpPr>
        <p:spPr bwMode="auto">
          <a:xfrm>
            <a:off x="6308725" y="38592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6" name="Line 6"/>
          <p:cNvSpPr>
            <a:spLocks noChangeShapeType="1"/>
          </p:cNvSpPr>
          <p:nvPr/>
        </p:nvSpPr>
        <p:spPr bwMode="auto">
          <a:xfrm>
            <a:off x="6308725" y="42545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7" name="Line 6"/>
          <p:cNvSpPr>
            <a:spLocks noChangeShapeType="1"/>
          </p:cNvSpPr>
          <p:nvPr/>
        </p:nvSpPr>
        <p:spPr bwMode="auto">
          <a:xfrm>
            <a:off x="6308725" y="46513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8" name="Line 6"/>
          <p:cNvSpPr>
            <a:spLocks noChangeShapeType="1"/>
          </p:cNvSpPr>
          <p:nvPr/>
        </p:nvSpPr>
        <p:spPr bwMode="auto">
          <a:xfrm>
            <a:off x="6308725" y="504825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0789" name="Line 6"/>
          <p:cNvSpPr>
            <a:spLocks noChangeShapeType="1"/>
          </p:cNvSpPr>
          <p:nvPr/>
        </p:nvSpPr>
        <p:spPr bwMode="auto">
          <a:xfrm>
            <a:off x="6308725" y="54102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 name="Group 31"/>
          <p:cNvGrpSpPr>
            <a:grpSpLocks/>
          </p:cNvGrpSpPr>
          <p:nvPr/>
        </p:nvGrpSpPr>
        <p:grpSpPr bwMode="auto">
          <a:xfrm>
            <a:off x="1355725" y="4287838"/>
            <a:ext cx="1066800" cy="1692275"/>
            <a:chOff x="2133600" y="3794760"/>
            <a:chExt cx="1066800" cy="1691640"/>
          </a:xfrm>
        </p:grpSpPr>
        <p:sp>
          <p:nvSpPr>
            <p:cNvPr id="160820" name="Oval 9"/>
            <p:cNvSpPr>
              <a:spLocks noChangeArrowheads="1"/>
            </p:cNvSpPr>
            <p:nvPr/>
          </p:nvSpPr>
          <p:spPr bwMode="auto">
            <a:xfrm flipH="1">
              <a:off x="22098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1" name="Oval 10"/>
            <p:cNvSpPr>
              <a:spLocks noChangeArrowheads="1"/>
            </p:cNvSpPr>
            <p:nvPr/>
          </p:nvSpPr>
          <p:spPr bwMode="auto">
            <a:xfrm flipH="1">
              <a:off x="22098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2" name="Oval 11"/>
            <p:cNvSpPr>
              <a:spLocks noChangeArrowheads="1"/>
            </p:cNvSpPr>
            <p:nvPr/>
          </p:nvSpPr>
          <p:spPr bwMode="auto">
            <a:xfrm flipH="1">
              <a:off x="22098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3" name="Oval 12"/>
            <p:cNvSpPr>
              <a:spLocks noChangeArrowheads="1"/>
            </p:cNvSpPr>
            <p:nvPr/>
          </p:nvSpPr>
          <p:spPr bwMode="auto">
            <a:xfrm flipH="1">
              <a:off x="22098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4" name="Oval 13"/>
            <p:cNvSpPr>
              <a:spLocks noChangeArrowheads="1"/>
            </p:cNvSpPr>
            <p:nvPr/>
          </p:nvSpPr>
          <p:spPr bwMode="auto">
            <a:xfrm flipH="1">
              <a:off x="25146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5" name="Oval 14"/>
            <p:cNvSpPr>
              <a:spLocks noChangeArrowheads="1"/>
            </p:cNvSpPr>
            <p:nvPr/>
          </p:nvSpPr>
          <p:spPr bwMode="auto">
            <a:xfrm flipH="1">
              <a:off x="25146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6" name="Oval 15"/>
            <p:cNvSpPr>
              <a:spLocks noChangeArrowheads="1"/>
            </p:cNvSpPr>
            <p:nvPr/>
          </p:nvSpPr>
          <p:spPr bwMode="auto">
            <a:xfrm flipH="1">
              <a:off x="25146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7" name="Oval 16"/>
            <p:cNvSpPr>
              <a:spLocks noChangeArrowheads="1"/>
            </p:cNvSpPr>
            <p:nvPr/>
          </p:nvSpPr>
          <p:spPr bwMode="auto">
            <a:xfrm flipH="1">
              <a:off x="25146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8" name="Oval 17"/>
            <p:cNvSpPr>
              <a:spLocks noChangeArrowheads="1"/>
            </p:cNvSpPr>
            <p:nvPr/>
          </p:nvSpPr>
          <p:spPr bwMode="auto">
            <a:xfrm flipH="1">
              <a:off x="28194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29" name="Oval 18"/>
            <p:cNvSpPr>
              <a:spLocks noChangeArrowheads="1"/>
            </p:cNvSpPr>
            <p:nvPr/>
          </p:nvSpPr>
          <p:spPr bwMode="auto">
            <a:xfrm flipH="1">
              <a:off x="28194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30" name="Oval 19"/>
            <p:cNvSpPr>
              <a:spLocks noChangeArrowheads="1"/>
            </p:cNvSpPr>
            <p:nvPr/>
          </p:nvSpPr>
          <p:spPr bwMode="auto">
            <a:xfrm flipH="1">
              <a:off x="28194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31" name="Freeform 20"/>
            <p:cNvSpPr>
              <a:spLocks/>
            </p:cNvSpPr>
            <p:nvPr/>
          </p:nvSpPr>
          <p:spPr bwMode="auto">
            <a:xfrm flipH="1">
              <a:off x="2133600" y="3794760"/>
              <a:ext cx="1066800" cy="1691640"/>
            </a:xfrm>
            <a:custGeom>
              <a:avLst/>
              <a:gdLst>
                <a:gd name="T0" fmla="*/ 0 w 672"/>
                <a:gd name="T1" fmla="*/ 2147483647 h 1536"/>
                <a:gd name="T2" fmla="*/ 0 w 672"/>
                <a:gd name="T3" fmla="*/ 2147483647 h 1536"/>
                <a:gd name="T4" fmla="*/ 2147483647 w 672"/>
                <a:gd name="T5" fmla="*/ 2147483647 h 1536"/>
                <a:gd name="T6" fmla="*/ 2147483647 w 672"/>
                <a:gd name="T7" fmla="*/ 2147483647 h 1536"/>
                <a:gd name="T8" fmla="*/ 2147483647 w 672"/>
                <a:gd name="T9" fmla="*/ 2147483647 h 1536"/>
                <a:gd name="T10" fmla="*/ 2147483647 w 672"/>
                <a:gd name="T11" fmla="*/ 0 h 1536"/>
                <a:gd name="T12" fmla="*/ 0 w 672"/>
                <a:gd name="T13" fmla="*/ 0 h 1536"/>
                <a:gd name="T14" fmla="*/ 0 60000 65536"/>
                <a:gd name="T15" fmla="*/ 0 60000 65536"/>
                <a:gd name="T16" fmla="*/ 0 60000 65536"/>
                <a:gd name="T17" fmla="*/ 0 60000 65536"/>
                <a:gd name="T18" fmla="*/ 0 60000 65536"/>
                <a:gd name="T19" fmla="*/ 0 60000 65536"/>
                <a:gd name="T20" fmla="*/ 0 60000 65536"/>
                <a:gd name="T21" fmla="*/ 0 w 672"/>
                <a:gd name="T22" fmla="*/ 0 h 1536"/>
                <a:gd name="T23" fmla="*/ 672 w 672"/>
                <a:gd name="T24" fmla="*/ 1536 h 15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2" h="1536">
                  <a:moveTo>
                    <a:pt x="0" y="48"/>
                  </a:moveTo>
                  <a:lnTo>
                    <a:pt x="0" y="1104"/>
                  </a:lnTo>
                  <a:lnTo>
                    <a:pt x="240" y="1104"/>
                  </a:lnTo>
                  <a:lnTo>
                    <a:pt x="240" y="1536"/>
                  </a:lnTo>
                  <a:lnTo>
                    <a:pt x="672" y="1536"/>
                  </a:lnTo>
                  <a:lnTo>
                    <a:pt x="672" y="0"/>
                  </a:lnTo>
                  <a:lnTo>
                    <a:pt x="0" y="0"/>
                  </a:lnTo>
                </a:path>
              </a:pathLst>
            </a:custGeom>
            <a:noFill/>
            <a:ln w="38100">
              <a:solidFill>
                <a:srgbClr val="FFFF00"/>
              </a:solidFill>
              <a:round/>
              <a:headEnd/>
              <a:tailEnd/>
            </a:ln>
          </p:spPr>
          <p:txBody>
            <a:bodyPr wrap="none" anchor="ctr"/>
            <a:lstStyle/>
            <a:p>
              <a:endParaRPr lang="en-US">
                <a:latin typeface="Arial" pitchFamily="34" charset="0"/>
                <a:cs typeface="Arial" pitchFamily="34" charset="0"/>
              </a:endParaRPr>
            </a:p>
          </p:txBody>
        </p:sp>
      </p:grpSp>
      <p:grpSp>
        <p:nvGrpSpPr>
          <p:cNvPr id="3" name="Group 44"/>
          <p:cNvGrpSpPr>
            <a:grpSpLocks/>
          </p:cNvGrpSpPr>
          <p:nvPr/>
        </p:nvGrpSpPr>
        <p:grpSpPr bwMode="auto">
          <a:xfrm>
            <a:off x="1712913" y="2363788"/>
            <a:ext cx="774700" cy="1812925"/>
            <a:chOff x="1130300" y="2057400"/>
            <a:chExt cx="774700" cy="1813560"/>
          </a:xfrm>
        </p:grpSpPr>
        <p:sp>
          <p:nvSpPr>
            <p:cNvPr id="160813" name="Oval 3"/>
            <p:cNvSpPr>
              <a:spLocks noChangeArrowheads="1"/>
            </p:cNvSpPr>
            <p:nvPr/>
          </p:nvSpPr>
          <p:spPr bwMode="auto">
            <a:xfrm flipH="1">
              <a:off x="12827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4" name="Oval 4"/>
            <p:cNvSpPr>
              <a:spLocks noChangeArrowheads="1"/>
            </p:cNvSpPr>
            <p:nvPr/>
          </p:nvSpPr>
          <p:spPr bwMode="auto">
            <a:xfrm flipH="1">
              <a:off x="12827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5" name="Oval 5"/>
            <p:cNvSpPr>
              <a:spLocks noChangeArrowheads="1"/>
            </p:cNvSpPr>
            <p:nvPr/>
          </p:nvSpPr>
          <p:spPr bwMode="auto">
            <a:xfrm flipH="1">
              <a:off x="1282700" y="2996184"/>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6" name="Oval 6"/>
            <p:cNvSpPr>
              <a:spLocks noChangeArrowheads="1"/>
            </p:cNvSpPr>
            <p:nvPr/>
          </p:nvSpPr>
          <p:spPr bwMode="auto">
            <a:xfrm flipH="1">
              <a:off x="1282700" y="3389376"/>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7" name="Oval 7"/>
            <p:cNvSpPr>
              <a:spLocks noChangeArrowheads="1"/>
            </p:cNvSpPr>
            <p:nvPr/>
          </p:nvSpPr>
          <p:spPr bwMode="auto">
            <a:xfrm flipH="1">
              <a:off x="15875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8" name="Oval 8"/>
            <p:cNvSpPr>
              <a:spLocks noChangeArrowheads="1"/>
            </p:cNvSpPr>
            <p:nvPr/>
          </p:nvSpPr>
          <p:spPr bwMode="auto">
            <a:xfrm flipH="1">
              <a:off x="15875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9" name="Freeform 21"/>
            <p:cNvSpPr>
              <a:spLocks/>
            </p:cNvSpPr>
            <p:nvPr/>
          </p:nvSpPr>
          <p:spPr bwMode="auto">
            <a:xfrm flipH="1">
              <a:off x="1130300" y="2057400"/>
              <a:ext cx="774700" cy="1813560"/>
            </a:xfrm>
            <a:custGeom>
              <a:avLst/>
              <a:gdLst>
                <a:gd name="T0" fmla="*/ 2147483647 w 488"/>
                <a:gd name="T1" fmla="*/ 0 h 1632"/>
                <a:gd name="T2" fmla="*/ 0 w 488"/>
                <a:gd name="T3" fmla="*/ 2147483647 h 1632"/>
                <a:gd name="T4" fmla="*/ 2147483647 w 488"/>
                <a:gd name="T5" fmla="*/ 2147483647 h 1632"/>
                <a:gd name="T6" fmla="*/ 2147483647 w 488"/>
                <a:gd name="T7" fmla="*/ 2147483647 h 1632"/>
                <a:gd name="T8" fmla="*/ 2147483647 w 488"/>
                <a:gd name="T9" fmla="*/ 2147483647 h 1632"/>
                <a:gd name="T10" fmla="*/ 2147483647 w 488"/>
                <a:gd name="T11" fmla="*/ 0 h 1632"/>
                <a:gd name="T12" fmla="*/ 2147483647 w 488"/>
                <a:gd name="T13" fmla="*/ 0 h 1632"/>
                <a:gd name="T14" fmla="*/ 0 60000 65536"/>
                <a:gd name="T15" fmla="*/ 0 60000 65536"/>
                <a:gd name="T16" fmla="*/ 0 60000 65536"/>
                <a:gd name="T17" fmla="*/ 0 60000 65536"/>
                <a:gd name="T18" fmla="*/ 0 60000 65536"/>
                <a:gd name="T19" fmla="*/ 0 60000 65536"/>
                <a:gd name="T20" fmla="*/ 0 60000 65536"/>
                <a:gd name="T21" fmla="*/ 0 w 488"/>
                <a:gd name="T22" fmla="*/ 0 h 1632"/>
                <a:gd name="T23" fmla="*/ 488 w 488"/>
                <a:gd name="T24" fmla="*/ 1632 h 16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8" h="1632">
                  <a:moveTo>
                    <a:pt x="8" y="0"/>
                  </a:moveTo>
                  <a:lnTo>
                    <a:pt x="0" y="768"/>
                  </a:lnTo>
                  <a:lnTo>
                    <a:pt x="200" y="768"/>
                  </a:lnTo>
                  <a:lnTo>
                    <a:pt x="200" y="1632"/>
                  </a:lnTo>
                  <a:lnTo>
                    <a:pt x="488" y="1632"/>
                  </a:lnTo>
                  <a:lnTo>
                    <a:pt x="488" y="0"/>
                  </a:lnTo>
                  <a:lnTo>
                    <a:pt x="8" y="0"/>
                  </a:lnTo>
                  <a:close/>
                </a:path>
              </a:pathLst>
            </a:custGeom>
            <a:noFill/>
            <a:ln w="38100">
              <a:solidFill>
                <a:srgbClr val="FF9999"/>
              </a:solidFill>
              <a:round/>
              <a:headEnd/>
              <a:tailEnd/>
            </a:ln>
          </p:spPr>
          <p:txBody>
            <a:bodyPr wrap="none" anchor="ctr"/>
            <a:lstStyle/>
            <a:p>
              <a:endParaRPr lang="en-US">
                <a:latin typeface="Arial" pitchFamily="34" charset="0"/>
                <a:cs typeface="Arial" pitchFamily="34" charset="0"/>
              </a:endParaRPr>
            </a:p>
          </p:txBody>
        </p:sp>
      </p:grpSp>
      <p:grpSp>
        <p:nvGrpSpPr>
          <p:cNvPr id="4" name="Group 42"/>
          <p:cNvGrpSpPr>
            <a:grpSpLocks/>
          </p:cNvGrpSpPr>
          <p:nvPr/>
        </p:nvGrpSpPr>
        <p:grpSpPr bwMode="auto">
          <a:xfrm flipH="1">
            <a:off x="7432675" y="2665413"/>
            <a:ext cx="896938" cy="2895600"/>
            <a:chOff x="5867400" y="1981200"/>
            <a:chExt cx="896938" cy="2895600"/>
          </a:xfrm>
        </p:grpSpPr>
        <p:sp>
          <p:nvSpPr>
            <p:cNvPr id="160796" name="Oval 21"/>
            <p:cNvSpPr>
              <a:spLocks noChangeArrowheads="1"/>
            </p:cNvSpPr>
            <p:nvPr/>
          </p:nvSpPr>
          <p:spPr bwMode="auto">
            <a:xfrm>
              <a:off x="6535738" y="1981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7" name="Oval 22"/>
            <p:cNvSpPr>
              <a:spLocks noChangeArrowheads="1"/>
            </p:cNvSpPr>
            <p:nvPr/>
          </p:nvSpPr>
          <p:spPr bwMode="auto">
            <a:xfrm>
              <a:off x="6535738" y="2362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8" name="Oval 23"/>
            <p:cNvSpPr>
              <a:spLocks noChangeArrowheads="1"/>
            </p:cNvSpPr>
            <p:nvPr/>
          </p:nvSpPr>
          <p:spPr bwMode="auto">
            <a:xfrm>
              <a:off x="6215063" y="1981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799" name="Oval 24"/>
            <p:cNvSpPr>
              <a:spLocks noChangeArrowheads="1"/>
            </p:cNvSpPr>
            <p:nvPr/>
          </p:nvSpPr>
          <p:spPr bwMode="auto">
            <a:xfrm>
              <a:off x="6535738" y="2743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0" name="Oval 25"/>
            <p:cNvSpPr>
              <a:spLocks noChangeArrowheads="1"/>
            </p:cNvSpPr>
            <p:nvPr/>
          </p:nvSpPr>
          <p:spPr bwMode="auto">
            <a:xfrm>
              <a:off x="6535738" y="3124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1" name="Oval 26"/>
            <p:cNvSpPr>
              <a:spLocks noChangeArrowheads="1"/>
            </p:cNvSpPr>
            <p:nvPr/>
          </p:nvSpPr>
          <p:spPr bwMode="auto">
            <a:xfrm>
              <a:off x="6215063" y="2743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2" name="Oval 27"/>
            <p:cNvSpPr>
              <a:spLocks noChangeArrowheads="1"/>
            </p:cNvSpPr>
            <p:nvPr/>
          </p:nvSpPr>
          <p:spPr bwMode="auto">
            <a:xfrm>
              <a:off x="6215063" y="3124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3" name="Oval 28"/>
            <p:cNvSpPr>
              <a:spLocks noChangeArrowheads="1"/>
            </p:cNvSpPr>
            <p:nvPr/>
          </p:nvSpPr>
          <p:spPr bwMode="auto">
            <a:xfrm>
              <a:off x="6215063" y="2362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4" name="Oval 30"/>
            <p:cNvSpPr>
              <a:spLocks noChangeArrowheads="1"/>
            </p:cNvSpPr>
            <p:nvPr/>
          </p:nvSpPr>
          <p:spPr bwMode="auto">
            <a:xfrm>
              <a:off x="6535738" y="3505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5" name="Oval 31"/>
            <p:cNvSpPr>
              <a:spLocks noChangeArrowheads="1"/>
            </p:cNvSpPr>
            <p:nvPr/>
          </p:nvSpPr>
          <p:spPr bwMode="auto">
            <a:xfrm>
              <a:off x="6535738" y="3886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6" name="Oval 32"/>
            <p:cNvSpPr>
              <a:spLocks noChangeArrowheads="1"/>
            </p:cNvSpPr>
            <p:nvPr/>
          </p:nvSpPr>
          <p:spPr bwMode="auto">
            <a:xfrm>
              <a:off x="6215063" y="35052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7" name="Oval 33"/>
            <p:cNvSpPr>
              <a:spLocks noChangeArrowheads="1"/>
            </p:cNvSpPr>
            <p:nvPr/>
          </p:nvSpPr>
          <p:spPr bwMode="auto">
            <a:xfrm>
              <a:off x="6535738" y="4267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8" name="Oval 34"/>
            <p:cNvSpPr>
              <a:spLocks noChangeArrowheads="1"/>
            </p:cNvSpPr>
            <p:nvPr/>
          </p:nvSpPr>
          <p:spPr bwMode="auto">
            <a:xfrm>
              <a:off x="6535738" y="4648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09" name="Oval 35"/>
            <p:cNvSpPr>
              <a:spLocks noChangeArrowheads="1"/>
            </p:cNvSpPr>
            <p:nvPr/>
          </p:nvSpPr>
          <p:spPr bwMode="auto">
            <a:xfrm>
              <a:off x="6215063" y="4267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0" name="Oval 36"/>
            <p:cNvSpPr>
              <a:spLocks noChangeArrowheads="1"/>
            </p:cNvSpPr>
            <p:nvPr/>
          </p:nvSpPr>
          <p:spPr bwMode="auto">
            <a:xfrm>
              <a:off x="6215063" y="4648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1" name="Oval 37"/>
            <p:cNvSpPr>
              <a:spLocks noChangeArrowheads="1"/>
            </p:cNvSpPr>
            <p:nvPr/>
          </p:nvSpPr>
          <p:spPr bwMode="auto">
            <a:xfrm>
              <a:off x="6215063" y="3886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812" name="Oval 38"/>
            <p:cNvSpPr>
              <a:spLocks noChangeArrowheads="1"/>
            </p:cNvSpPr>
            <p:nvPr/>
          </p:nvSpPr>
          <p:spPr bwMode="auto">
            <a:xfrm>
              <a:off x="5867400" y="19812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60793" name="Freeform 48"/>
          <p:cNvSpPr>
            <a:spLocks/>
          </p:cNvSpPr>
          <p:nvPr/>
        </p:nvSpPr>
        <p:spPr bwMode="auto">
          <a:xfrm>
            <a:off x="7354888" y="2579688"/>
            <a:ext cx="1103312" cy="3154362"/>
          </a:xfrm>
          <a:custGeom>
            <a:avLst/>
            <a:gdLst>
              <a:gd name="T0" fmla="*/ 0 w 816"/>
              <a:gd name="T1" fmla="*/ 0 h 2064"/>
              <a:gd name="T2" fmla="*/ 0 w 816"/>
              <a:gd name="T3" fmla="*/ 2147483647 h 2064"/>
              <a:gd name="T4" fmla="*/ 2147483647 w 816"/>
              <a:gd name="T5" fmla="*/ 2147483647 h 2064"/>
              <a:gd name="T6" fmla="*/ 2147483647 w 816"/>
              <a:gd name="T7" fmla="*/ 2147483647 h 2064"/>
              <a:gd name="T8" fmla="*/ 2147483647 w 816"/>
              <a:gd name="T9" fmla="*/ 2147483647 h 2064"/>
              <a:gd name="T10" fmla="*/ 2147483647 w 816"/>
              <a:gd name="T11" fmla="*/ 0 h 2064"/>
              <a:gd name="T12" fmla="*/ 0 w 816"/>
              <a:gd name="T13" fmla="*/ 0 h 2064"/>
              <a:gd name="T14" fmla="*/ 0 60000 65536"/>
              <a:gd name="T15" fmla="*/ 0 60000 65536"/>
              <a:gd name="T16" fmla="*/ 0 60000 65536"/>
              <a:gd name="T17" fmla="*/ 0 60000 65536"/>
              <a:gd name="T18" fmla="*/ 0 60000 65536"/>
              <a:gd name="T19" fmla="*/ 0 60000 65536"/>
              <a:gd name="T20" fmla="*/ 0 60000 65536"/>
              <a:gd name="T21" fmla="*/ 0 w 816"/>
              <a:gd name="T22" fmla="*/ 0 h 2064"/>
              <a:gd name="T23" fmla="*/ 816 w 816"/>
              <a:gd name="T24" fmla="*/ 2064 h 20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6" h="2064">
                <a:moveTo>
                  <a:pt x="0" y="0"/>
                </a:moveTo>
                <a:lnTo>
                  <a:pt x="0" y="2064"/>
                </a:lnTo>
                <a:lnTo>
                  <a:pt x="528" y="2064"/>
                </a:lnTo>
                <a:lnTo>
                  <a:pt x="528" y="288"/>
                </a:lnTo>
                <a:lnTo>
                  <a:pt x="816" y="288"/>
                </a:lnTo>
                <a:lnTo>
                  <a:pt x="816" y="0"/>
                </a:lnTo>
                <a:lnTo>
                  <a:pt x="0" y="0"/>
                </a:lnTo>
                <a:close/>
              </a:path>
            </a:pathLst>
          </a:custGeom>
          <a:noFill/>
          <a:ln w="38100">
            <a:solidFill>
              <a:srgbClr val="99FF99"/>
            </a:solidFill>
            <a:round/>
            <a:headEnd/>
            <a:tailEnd/>
          </a:ln>
        </p:spPr>
        <p:txBody>
          <a:bodyPr wrap="none" anchor="ctr"/>
          <a:lstStyle/>
          <a:p>
            <a:endParaRPr lang="en-US">
              <a:latin typeface="Arial" pitchFamily="34" charset="0"/>
              <a:cs typeface="Arial" pitchFamily="34" charset="0"/>
            </a:endParaRPr>
          </a:p>
        </p:txBody>
      </p:sp>
      <p:sp>
        <p:nvSpPr>
          <p:cNvPr id="72" name="TextBox 71"/>
          <p:cNvSpPr txBox="1"/>
          <p:nvPr/>
        </p:nvSpPr>
        <p:spPr>
          <a:xfrm>
            <a:off x="700088" y="1752600"/>
            <a:ext cx="3313112" cy="461963"/>
          </a:xfrm>
          <a:prstGeom prst="rect">
            <a:avLst/>
          </a:prstGeom>
          <a:noFill/>
        </p:spPr>
        <p:txBody>
          <a:bodyPr wrap="none">
            <a:spAutoFit/>
          </a:bodyPr>
          <a:lstStyle/>
          <a:p>
            <a:pPr>
              <a:defRPr/>
            </a:pPr>
            <a:r>
              <a:rPr lang="en-US" dirty="0">
                <a:latin typeface="Arial" pitchFamily="34" charset="0"/>
                <a:cs typeface="Arial" pitchFamily="34" charset="0"/>
              </a:rPr>
              <a:t>Induction Hypothesis</a:t>
            </a:r>
          </a:p>
        </p:txBody>
      </p:sp>
      <p:sp>
        <p:nvSpPr>
          <p:cNvPr id="73" name="TextBox 72"/>
          <p:cNvSpPr txBox="1"/>
          <p:nvPr/>
        </p:nvSpPr>
        <p:spPr>
          <a:xfrm>
            <a:off x="6591300" y="1752600"/>
            <a:ext cx="2236510" cy="461665"/>
          </a:xfrm>
          <a:prstGeom prst="rect">
            <a:avLst/>
          </a:prstGeom>
          <a:noFill/>
        </p:spPr>
        <p:txBody>
          <a:bodyPr wrap="none">
            <a:spAutoFit/>
          </a:bodyPr>
          <a:lstStyle/>
          <a:p>
            <a:pPr>
              <a:defRPr/>
            </a:pPr>
            <a:r>
              <a:rPr lang="en-US" dirty="0">
                <a:latin typeface="Arial" pitchFamily="34" charset="0"/>
                <a:cs typeface="Arial" pitchFamily="34" charset="0"/>
              </a:rPr>
              <a:t>Need to prove</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2"/>
          <p:cNvSpPr>
            <a:spLocks noGrp="1"/>
          </p:cNvSpPr>
          <p:nvPr>
            <p:ph type="ftr" sz="quarter" idx="10"/>
          </p:nvPr>
        </p:nvSpPr>
        <p:spPr/>
        <p:txBody>
          <a:bodyPr/>
          <a:lstStyle/>
          <a:p>
            <a:pPr>
              <a:defRPr/>
            </a:pPr>
            <a:r>
              <a:rPr lang="en-US"/>
              <a:t>Art of Multiprocessor Programming</a:t>
            </a:r>
          </a:p>
        </p:txBody>
      </p:sp>
      <p:sp>
        <p:nvSpPr>
          <p:cNvPr id="26" name="Slide Number Placeholder 3"/>
          <p:cNvSpPr>
            <a:spLocks noGrp="1"/>
          </p:cNvSpPr>
          <p:nvPr>
            <p:ph type="sldNum" sz="quarter" idx="11"/>
          </p:nvPr>
        </p:nvSpPr>
        <p:spPr/>
        <p:txBody>
          <a:bodyPr/>
          <a:lstStyle/>
          <a:p>
            <a:pPr>
              <a:defRPr/>
            </a:pPr>
            <a:fld id="{BC4D6AEE-3818-4145-8ED6-C064A2A2340F}" type="slidenum">
              <a:rPr lang="en-US"/>
              <a:pPr>
                <a:defRPr/>
              </a:pPr>
              <a:t>166</a:t>
            </a:fld>
            <a:endParaRPr lang="en-US"/>
          </a:p>
        </p:txBody>
      </p:sp>
      <p:sp>
        <p:nvSpPr>
          <p:cNvPr id="163844" name="Rectangle 2"/>
          <p:cNvSpPr>
            <a:spLocks noGrp="1" noChangeArrowheads="1"/>
          </p:cNvSpPr>
          <p:nvPr>
            <p:ph type="title"/>
          </p:nvPr>
        </p:nvSpPr>
        <p:spPr/>
        <p:txBody>
          <a:bodyPr/>
          <a:lstStyle/>
          <a:p>
            <a:r>
              <a:rPr lang="en-US"/>
              <a:t>Proof: Lemma 1</a:t>
            </a:r>
          </a:p>
        </p:txBody>
      </p:sp>
      <p:sp>
        <p:nvSpPr>
          <p:cNvPr id="163845" name="Oval 28"/>
          <p:cNvSpPr>
            <a:spLocks noChangeArrowheads="1"/>
          </p:cNvSpPr>
          <p:nvPr/>
        </p:nvSpPr>
        <p:spPr bwMode="auto">
          <a:xfrm>
            <a:off x="2032000" y="2209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46" name="Oval 29"/>
          <p:cNvSpPr>
            <a:spLocks noChangeArrowheads="1"/>
          </p:cNvSpPr>
          <p:nvPr/>
        </p:nvSpPr>
        <p:spPr bwMode="auto">
          <a:xfrm>
            <a:off x="2032000" y="2590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47" name="Oval 30"/>
          <p:cNvSpPr>
            <a:spLocks noChangeArrowheads="1"/>
          </p:cNvSpPr>
          <p:nvPr/>
        </p:nvSpPr>
        <p:spPr bwMode="auto">
          <a:xfrm>
            <a:off x="1657350" y="2209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48" name="Oval 31"/>
          <p:cNvSpPr>
            <a:spLocks noChangeArrowheads="1"/>
          </p:cNvSpPr>
          <p:nvPr/>
        </p:nvSpPr>
        <p:spPr bwMode="auto">
          <a:xfrm>
            <a:off x="2032000" y="2971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49" name="Oval 32"/>
          <p:cNvSpPr>
            <a:spLocks noChangeArrowheads="1"/>
          </p:cNvSpPr>
          <p:nvPr/>
        </p:nvSpPr>
        <p:spPr bwMode="auto">
          <a:xfrm>
            <a:off x="2032000" y="3352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0" name="Oval 33"/>
          <p:cNvSpPr>
            <a:spLocks noChangeArrowheads="1"/>
          </p:cNvSpPr>
          <p:nvPr/>
        </p:nvSpPr>
        <p:spPr bwMode="auto">
          <a:xfrm>
            <a:off x="1657350" y="2971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1" name="Oval 34"/>
          <p:cNvSpPr>
            <a:spLocks noChangeArrowheads="1"/>
          </p:cNvSpPr>
          <p:nvPr/>
        </p:nvSpPr>
        <p:spPr bwMode="auto">
          <a:xfrm>
            <a:off x="1657350" y="3352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2" name="Oval 35"/>
          <p:cNvSpPr>
            <a:spLocks noChangeArrowheads="1"/>
          </p:cNvSpPr>
          <p:nvPr/>
        </p:nvSpPr>
        <p:spPr bwMode="auto">
          <a:xfrm>
            <a:off x="1657350" y="2590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3" name="Oval 36"/>
          <p:cNvSpPr>
            <a:spLocks noChangeArrowheads="1"/>
          </p:cNvSpPr>
          <p:nvPr/>
        </p:nvSpPr>
        <p:spPr bwMode="auto">
          <a:xfrm>
            <a:off x="2030413" y="3733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4" name="Oval 37"/>
          <p:cNvSpPr>
            <a:spLocks noChangeArrowheads="1"/>
          </p:cNvSpPr>
          <p:nvPr/>
        </p:nvSpPr>
        <p:spPr bwMode="auto">
          <a:xfrm>
            <a:off x="2030413" y="4114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5" name="Oval 38"/>
          <p:cNvSpPr>
            <a:spLocks noChangeArrowheads="1"/>
          </p:cNvSpPr>
          <p:nvPr/>
        </p:nvSpPr>
        <p:spPr bwMode="auto">
          <a:xfrm>
            <a:off x="1657350" y="3733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6" name="Oval 39"/>
          <p:cNvSpPr>
            <a:spLocks noChangeArrowheads="1"/>
          </p:cNvSpPr>
          <p:nvPr/>
        </p:nvSpPr>
        <p:spPr bwMode="auto">
          <a:xfrm>
            <a:off x="2030413" y="4495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7" name="Oval 40"/>
          <p:cNvSpPr>
            <a:spLocks noChangeArrowheads="1"/>
          </p:cNvSpPr>
          <p:nvPr/>
        </p:nvSpPr>
        <p:spPr bwMode="auto">
          <a:xfrm>
            <a:off x="2030413" y="4876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8" name="Oval 41"/>
          <p:cNvSpPr>
            <a:spLocks noChangeArrowheads="1"/>
          </p:cNvSpPr>
          <p:nvPr/>
        </p:nvSpPr>
        <p:spPr bwMode="auto">
          <a:xfrm>
            <a:off x="1657350" y="4495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59" name="Oval 42"/>
          <p:cNvSpPr>
            <a:spLocks noChangeArrowheads="1"/>
          </p:cNvSpPr>
          <p:nvPr/>
        </p:nvSpPr>
        <p:spPr bwMode="auto">
          <a:xfrm>
            <a:off x="1657350" y="4876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60" name="Oval 43"/>
          <p:cNvSpPr>
            <a:spLocks noChangeArrowheads="1"/>
          </p:cNvSpPr>
          <p:nvPr/>
        </p:nvSpPr>
        <p:spPr bwMode="auto">
          <a:xfrm>
            <a:off x="1657350" y="4114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61" name="Oval 44"/>
          <p:cNvSpPr>
            <a:spLocks noChangeArrowheads="1"/>
          </p:cNvSpPr>
          <p:nvPr/>
        </p:nvSpPr>
        <p:spPr bwMode="auto">
          <a:xfrm>
            <a:off x="2397125" y="2209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62" name="Oval 45"/>
          <p:cNvSpPr>
            <a:spLocks noChangeArrowheads="1"/>
          </p:cNvSpPr>
          <p:nvPr/>
        </p:nvSpPr>
        <p:spPr bwMode="auto">
          <a:xfrm>
            <a:off x="2397125" y="2590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63" name="Oval 46"/>
          <p:cNvSpPr>
            <a:spLocks noChangeArrowheads="1"/>
          </p:cNvSpPr>
          <p:nvPr/>
        </p:nvSpPr>
        <p:spPr bwMode="auto">
          <a:xfrm>
            <a:off x="2397125" y="2971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64" name="Oval 47"/>
          <p:cNvSpPr>
            <a:spLocks noChangeArrowheads="1"/>
          </p:cNvSpPr>
          <p:nvPr/>
        </p:nvSpPr>
        <p:spPr bwMode="auto">
          <a:xfrm>
            <a:off x="2397125" y="3352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3865" name="Freeform 48"/>
          <p:cNvSpPr>
            <a:spLocks/>
          </p:cNvSpPr>
          <p:nvPr/>
        </p:nvSpPr>
        <p:spPr bwMode="auto">
          <a:xfrm>
            <a:off x="1482725" y="1989138"/>
            <a:ext cx="1231900" cy="3294062"/>
          </a:xfrm>
          <a:custGeom>
            <a:avLst/>
            <a:gdLst>
              <a:gd name="T0" fmla="*/ 0 w 776"/>
              <a:gd name="T1" fmla="*/ 0 h 2075"/>
              <a:gd name="T2" fmla="*/ 0 w 776"/>
              <a:gd name="T3" fmla="*/ 2147483647 h 2075"/>
              <a:gd name="T4" fmla="*/ 2147483647 w 776"/>
              <a:gd name="T5" fmla="*/ 2147483647 h 2075"/>
              <a:gd name="T6" fmla="*/ 2147483647 w 776"/>
              <a:gd name="T7" fmla="*/ 2147483647 h 2075"/>
              <a:gd name="T8" fmla="*/ 2147483647 w 776"/>
              <a:gd name="T9" fmla="*/ 2147483647 h 2075"/>
              <a:gd name="T10" fmla="*/ 2147483647 w 776"/>
              <a:gd name="T11" fmla="*/ 2147483647 h 2075"/>
              <a:gd name="T12" fmla="*/ 0 w 776"/>
              <a:gd name="T13" fmla="*/ 0 h 2075"/>
              <a:gd name="T14" fmla="*/ 0 60000 65536"/>
              <a:gd name="T15" fmla="*/ 0 60000 65536"/>
              <a:gd name="T16" fmla="*/ 0 60000 65536"/>
              <a:gd name="T17" fmla="*/ 0 60000 65536"/>
              <a:gd name="T18" fmla="*/ 0 60000 65536"/>
              <a:gd name="T19" fmla="*/ 0 60000 65536"/>
              <a:gd name="T20" fmla="*/ 0 60000 65536"/>
              <a:gd name="T21" fmla="*/ 0 w 776"/>
              <a:gd name="T22" fmla="*/ 0 h 2075"/>
              <a:gd name="T23" fmla="*/ 776 w 776"/>
              <a:gd name="T24" fmla="*/ 2075 h 20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76" h="2075">
                <a:moveTo>
                  <a:pt x="0" y="0"/>
                </a:moveTo>
                <a:lnTo>
                  <a:pt x="0" y="2071"/>
                </a:lnTo>
                <a:lnTo>
                  <a:pt x="593" y="2075"/>
                </a:lnTo>
                <a:lnTo>
                  <a:pt x="584" y="1142"/>
                </a:lnTo>
                <a:lnTo>
                  <a:pt x="776" y="1133"/>
                </a:lnTo>
                <a:lnTo>
                  <a:pt x="767" y="18"/>
                </a:lnTo>
                <a:lnTo>
                  <a:pt x="0" y="0"/>
                </a:lnTo>
                <a:close/>
              </a:path>
            </a:pathLst>
          </a:custGeom>
          <a:noFill/>
          <a:ln w="38100">
            <a:solidFill>
              <a:srgbClr val="FF0000"/>
            </a:solidFill>
            <a:round/>
            <a:headEnd/>
            <a:tailEnd/>
          </a:ln>
        </p:spPr>
        <p:txBody>
          <a:bodyPr wrap="none" anchor="ctr"/>
          <a:lstStyle/>
          <a:p>
            <a:endParaRPr lang="en-US" dirty="0">
              <a:latin typeface="Courier New" pitchFamily="49" charset="0"/>
            </a:endParaRPr>
          </a:p>
        </p:txBody>
      </p:sp>
      <p:sp>
        <p:nvSpPr>
          <p:cNvPr id="163866" name="Text Box 49"/>
          <p:cNvSpPr txBox="1">
            <a:spLocks noChangeArrowheads="1"/>
          </p:cNvSpPr>
          <p:nvPr/>
        </p:nvSpPr>
        <p:spPr bwMode="auto">
          <a:xfrm>
            <a:off x="3608388" y="2484438"/>
            <a:ext cx="3590925" cy="1754187"/>
          </a:xfrm>
          <a:prstGeom prst="rect">
            <a:avLst/>
          </a:prstGeom>
          <a:noFill/>
          <a:ln w="9525" algn="ctr">
            <a:noFill/>
            <a:miter lim="800000"/>
            <a:headEnd/>
            <a:tailEnd/>
          </a:ln>
        </p:spPr>
        <p:txBody>
          <a:bodyPr>
            <a:spAutoFit/>
          </a:bodyPr>
          <a:lstStyle/>
          <a:p>
            <a:pPr marL="342900" indent="-342900"/>
            <a:r>
              <a:rPr lang="en-US" sz="3600" b="0" dirty="0">
                <a:latin typeface="Arial" pitchFamily="34" charset="0"/>
                <a:cs typeface="Arial" pitchFamily="34" charset="0"/>
              </a:rPr>
              <a:t>If a sequence has the step property …</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2"/>
          <p:cNvSpPr>
            <a:spLocks noGrp="1"/>
          </p:cNvSpPr>
          <p:nvPr>
            <p:ph type="ftr" sz="quarter" idx="10"/>
          </p:nvPr>
        </p:nvSpPr>
        <p:spPr/>
        <p:txBody>
          <a:bodyPr/>
          <a:lstStyle/>
          <a:p>
            <a:pPr>
              <a:defRPr/>
            </a:pPr>
            <a:r>
              <a:rPr lang="en-US"/>
              <a:t>Art of Multiprocessor Programming</a:t>
            </a:r>
          </a:p>
        </p:txBody>
      </p:sp>
      <p:sp>
        <p:nvSpPr>
          <p:cNvPr id="26" name="Slide Number Placeholder 3"/>
          <p:cNvSpPr>
            <a:spLocks noGrp="1"/>
          </p:cNvSpPr>
          <p:nvPr>
            <p:ph type="sldNum" sz="quarter" idx="11"/>
          </p:nvPr>
        </p:nvSpPr>
        <p:spPr/>
        <p:txBody>
          <a:bodyPr/>
          <a:lstStyle/>
          <a:p>
            <a:pPr>
              <a:defRPr/>
            </a:pPr>
            <a:fld id="{EF376AC9-6D56-4E70-B7A0-0B8F6FE28385}" type="slidenum">
              <a:rPr lang="en-US"/>
              <a:pPr>
                <a:defRPr/>
              </a:pPr>
              <a:t>167</a:t>
            </a:fld>
            <a:endParaRPr lang="en-US"/>
          </a:p>
        </p:txBody>
      </p:sp>
      <p:sp>
        <p:nvSpPr>
          <p:cNvPr id="164868" name="Rectangle 2"/>
          <p:cNvSpPr>
            <a:spLocks noGrp="1" noChangeArrowheads="1"/>
          </p:cNvSpPr>
          <p:nvPr>
            <p:ph type="title"/>
          </p:nvPr>
        </p:nvSpPr>
        <p:spPr/>
        <p:txBody>
          <a:bodyPr/>
          <a:lstStyle/>
          <a:p>
            <a:r>
              <a:rPr lang="en-US"/>
              <a:t>Lemma 1</a:t>
            </a:r>
          </a:p>
        </p:txBody>
      </p:sp>
      <p:sp>
        <p:nvSpPr>
          <p:cNvPr id="164869" name="Text Box 24"/>
          <p:cNvSpPr txBox="1">
            <a:spLocks noChangeArrowheads="1"/>
          </p:cNvSpPr>
          <p:nvPr/>
        </p:nvSpPr>
        <p:spPr bwMode="auto">
          <a:xfrm>
            <a:off x="3608388" y="2752725"/>
            <a:ext cx="3892550" cy="1200150"/>
          </a:xfrm>
          <a:prstGeom prst="rect">
            <a:avLst/>
          </a:prstGeom>
          <a:noFill/>
          <a:ln w="9525" algn="ctr">
            <a:noFill/>
            <a:miter lim="800000"/>
            <a:headEnd/>
            <a:tailEnd/>
          </a:ln>
        </p:spPr>
        <p:txBody>
          <a:bodyPr>
            <a:spAutoFit/>
          </a:bodyPr>
          <a:lstStyle/>
          <a:p>
            <a:pPr marL="342900" indent="-342900"/>
            <a:r>
              <a:rPr lang="en-US" sz="3600" b="0" dirty="0">
                <a:latin typeface="Arial" pitchFamily="34" charset="0"/>
                <a:cs typeface="Arial" pitchFamily="34" charset="0"/>
              </a:rPr>
              <a:t>So does its even subsequence</a:t>
            </a:r>
          </a:p>
        </p:txBody>
      </p:sp>
      <p:sp>
        <p:nvSpPr>
          <p:cNvPr id="164870" name="Oval 25"/>
          <p:cNvSpPr>
            <a:spLocks noChangeArrowheads="1"/>
          </p:cNvSpPr>
          <p:nvPr/>
        </p:nvSpPr>
        <p:spPr bwMode="auto">
          <a:xfrm>
            <a:off x="2032000" y="2209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71" name="Oval 26"/>
          <p:cNvSpPr>
            <a:spLocks noChangeArrowheads="1"/>
          </p:cNvSpPr>
          <p:nvPr/>
        </p:nvSpPr>
        <p:spPr bwMode="auto">
          <a:xfrm>
            <a:off x="2032000" y="2590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72" name="Oval 27"/>
          <p:cNvSpPr>
            <a:spLocks noChangeArrowheads="1"/>
          </p:cNvSpPr>
          <p:nvPr/>
        </p:nvSpPr>
        <p:spPr bwMode="auto">
          <a:xfrm>
            <a:off x="1657350" y="2209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73" name="Oval 28"/>
          <p:cNvSpPr>
            <a:spLocks noChangeArrowheads="1"/>
          </p:cNvSpPr>
          <p:nvPr/>
        </p:nvSpPr>
        <p:spPr bwMode="auto">
          <a:xfrm>
            <a:off x="2032000" y="2971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74" name="Oval 29"/>
          <p:cNvSpPr>
            <a:spLocks noChangeArrowheads="1"/>
          </p:cNvSpPr>
          <p:nvPr/>
        </p:nvSpPr>
        <p:spPr bwMode="auto">
          <a:xfrm>
            <a:off x="2032000" y="3352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75" name="Oval 30"/>
          <p:cNvSpPr>
            <a:spLocks noChangeArrowheads="1"/>
          </p:cNvSpPr>
          <p:nvPr/>
        </p:nvSpPr>
        <p:spPr bwMode="auto">
          <a:xfrm>
            <a:off x="1657350" y="2971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76" name="Oval 31"/>
          <p:cNvSpPr>
            <a:spLocks noChangeArrowheads="1"/>
          </p:cNvSpPr>
          <p:nvPr/>
        </p:nvSpPr>
        <p:spPr bwMode="auto">
          <a:xfrm>
            <a:off x="1657350" y="3352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77" name="Oval 32"/>
          <p:cNvSpPr>
            <a:spLocks noChangeArrowheads="1"/>
          </p:cNvSpPr>
          <p:nvPr/>
        </p:nvSpPr>
        <p:spPr bwMode="auto">
          <a:xfrm>
            <a:off x="1657350" y="2590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78" name="Oval 33"/>
          <p:cNvSpPr>
            <a:spLocks noChangeArrowheads="1"/>
          </p:cNvSpPr>
          <p:nvPr/>
        </p:nvSpPr>
        <p:spPr bwMode="auto">
          <a:xfrm>
            <a:off x="2030413" y="3733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79" name="Oval 34"/>
          <p:cNvSpPr>
            <a:spLocks noChangeArrowheads="1"/>
          </p:cNvSpPr>
          <p:nvPr/>
        </p:nvSpPr>
        <p:spPr bwMode="auto">
          <a:xfrm>
            <a:off x="2030413" y="4114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80" name="Oval 35"/>
          <p:cNvSpPr>
            <a:spLocks noChangeArrowheads="1"/>
          </p:cNvSpPr>
          <p:nvPr/>
        </p:nvSpPr>
        <p:spPr bwMode="auto">
          <a:xfrm>
            <a:off x="1657350" y="3733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81" name="Oval 36"/>
          <p:cNvSpPr>
            <a:spLocks noChangeArrowheads="1"/>
          </p:cNvSpPr>
          <p:nvPr/>
        </p:nvSpPr>
        <p:spPr bwMode="auto">
          <a:xfrm>
            <a:off x="2030413" y="4495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82" name="Oval 37"/>
          <p:cNvSpPr>
            <a:spLocks noChangeArrowheads="1"/>
          </p:cNvSpPr>
          <p:nvPr/>
        </p:nvSpPr>
        <p:spPr bwMode="auto">
          <a:xfrm>
            <a:off x="2030413" y="4876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83" name="Oval 38"/>
          <p:cNvSpPr>
            <a:spLocks noChangeArrowheads="1"/>
          </p:cNvSpPr>
          <p:nvPr/>
        </p:nvSpPr>
        <p:spPr bwMode="auto">
          <a:xfrm>
            <a:off x="1657350" y="4495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84" name="Oval 39"/>
          <p:cNvSpPr>
            <a:spLocks noChangeArrowheads="1"/>
          </p:cNvSpPr>
          <p:nvPr/>
        </p:nvSpPr>
        <p:spPr bwMode="auto">
          <a:xfrm>
            <a:off x="1657350" y="4876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85" name="Oval 40"/>
          <p:cNvSpPr>
            <a:spLocks noChangeArrowheads="1"/>
          </p:cNvSpPr>
          <p:nvPr/>
        </p:nvSpPr>
        <p:spPr bwMode="auto">
          <a:xfrm>
            <a:off x="1657350" y="4114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86" name="Oval 41"/>
          <p:cNvSpPr>
            <a:spLocks noChangeArrowheads="1"/>
          </p:cNvSpPr>
          <p:nvPr/>
        </p:nvSpPr>
        <p:spPr bwMode="auto">
          <a:xfrm>
            <a:off x="2397125" y="2209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87" name="Oval 42"/>
          <p:cNvSpPr>
            <a:spLocks noChangeArrowheads="1"/>
          </p:cNvSpPr>
          <p:nvPr/>
        </p:nvSpPr>
        <p:spPr bwMode="auto">
          <a:xfrm>
            <a:off x="2397125" y="2590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88" name="Oval 43"/>
          <p:cNvSpPr>
            <a:spLocks noChangeArrowheads="1"/>
          </p:cNvSpPr>
          <p:nvPr/>
        </p:nvSpPr>
        <p:spPr bwMode="auto">
          <a:xfrm>
            <a:off x="2397125" y="2971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4889" name="Oval 44"/>
          <p:cNvSpPr>
            <a:spLocks noChangeArrowheads="1"/>
          </p:cNvSpPr>
          <p:nvPr/>
        </p:nvSpPr>
        <p:spPr bwMode="auto">
          <a:xfrm>
            <a:off x="2397125" y="3352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4890" name="Freeform 45"/>
          <p:cNvSpPr>
            <a:spLocks/>
          </p:cNvSpPr>
          <p:nvPr/>
        </p:nvSpPr>
        <p:spPr bwMode="auto">
          <a:xfrm>
            <a:off x="1517650" y="1989138"/>
            <a:ext cx="1231900" cy="3294062"/>
          </a:xfrm>
          <a:custGeom>
            <a:avLst/>
            <a:gdLst>
              <a:gd name="T0" fmla="*/ 0 w 776"/>
              <a:gd name="T1" fmla="*/ 0 h 2075"/>
              <a:gd name="T2" fmla="*/ 0 w 776"/>
              <a:gd name="T3" fmla="*/ 2147483647 h 2075"/>
              <a:gd name="T4" fmla="*/ 2147483647 w 776"/>
              <a:gd name="T5" fmla="*/ 2147483647 h 2075"/>
              <a:gd name="T6" fmla="*/ 2147483647 w 776"/>
              <a:gd name="T7" fmla="*/ 2147483647 h 2075"/>
              <a:gd name="T8" fmla="*/ 2147483647 w 776"/>
              <a:gd name="T9" fmla="*/ 2147483647 h 2075"/>
              <a:gd name="T10" fmla="*/ 2147483647 w 776"/>
              <a:gd name="T11" fmla="*/ 2147483647 h 2075"/>
              <a:gd name="T12" fmla="*/ 0 w 776"/>
              <a:gd name="T13" fmla="*/ 0 h 2075"/>
              <a:gd name="T14" fmla="*/ 0 60000 65536"/>
              <a:gd name="T15" fmla="*/ 0 60000 65536"/>
              <a:gd name="T16" fmla="*/ 0 60000 65536"/>
              <a:gd name="T17" fmla="*/ 0 60000 65536"/>
              <a:gd name="T18" fmla="*/ 0 60000 65536"/>
              <a:gd name="T19" fmla="*/ 0 60000 65536"/>
              <a:gd name="T20" fmla="*/ 0 60000 65536"/>
              <a:gd name="T21" fmla="*/ 0 w 776"/>
              <a:gd name="T22" fmla="*/ 0 h 2075"/>
              <a:gd name="T23" fmla="*/ 776 w 776"/>
              <a:gd name="T24" fmla="*/ 2075 h 20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76" h="2075">
                <a:moveTo>
                  <a:pt x="0" y="0"/>
                </a:moveTo>
                <a:lnTo>
                  <a:pt x="0" y="2071"/>
                </a:lnTo>
                <a:lnTo>
                  <a:pt x="593" y="2075"/>
                </a:lnTo>
                <a:lnTo>
                  <a:pt x="584" y="1142"/>
                </a:lnTo>
                <a:lnTo>
                  <a:pt x="776" y="1133"/>
                </a:lnTo>
                <a:lnTo>
                  <a:pt x="767" y="18"/>
                </a:lnTo>
                <a:lnTo>
                  <a:pt x="0" y="0"/>
                </a:lnTo>
                <a:close/>
              </a:path>
            </a:pathLst>
          </a:custGeom>
          <a:noFill/>
          <a:ln w="38100">
            <a:solidFill>
              <a:srgbClr val="FF0000"/>
            </a:solidFill>
            <a:round/>
            <a:headEnd/>
            <a:tailEnd/>
          </a:ln>
        </p:spPr>
        <p:txBody>
          <a:bodyPr wrap="none" anchor="ctr"/>
          <a:lstStyle/>
          <a:p>
            <a:endParaRPr lang="en-US" dirty="0">
              <a:latin typeface="Courier New" pitchFamily="49"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2"/>
          <p:cNvSpPr>
            <a:spLocks noGrp="1"/>
          </p:cNvSpPr>
          <p:nvPr>
            <p:ph type="ftr" sz="quarter" idx="10"/>
          </p:nvPr>
        </p:nvSpPr>
        <p:spPr/>
        <p:txBody>
          <a:bodyPr/>
          <a:lstStyle/>
          <a:p>
            <a:pPr>
              <a:defRPr/>
            </a:pPr>
            <a:r>
              <a:rPr lang="en-US"/>
              <a:t>Art of Multiprocessor Programming</a:t>
            </a:r>
          </a:p>
        </p:txBody>
      </p:sp>
      <p:sp>
        <p:nvSpPr>
          <p:cNvPr id="26" name="Slide Number Placeholder 3"/>
          <p:cNvSpPr>
            <a:spLocks noGrp="1"/>
          </p:cNvSpPr>
          <p:nvPr>
            <p:ph type="sldNum" sz="quarter" idx="11"/>
          </p:nvPr>
        </p:nvSpPr>
        <p:spPr/>
        <p:txBody>
          <a:bodyPr/>
          <a:lstStyle/>
          <a:p>
            <a:pPr>
              <a:defRPr/>
            </a:pPr>
            <a:fld id="{4982A03F-CF6F-4552-84E5-DF838436F9EB}" type="slidenum">
              <a:rPr lang="en-US"/>
              <a:pPr>
                <a:defRPr/>
              </a:pPr>
              <a:t>168</a:t>
            </a:fld>
            <a:endParaRPr lang="en-US"/>
          </a:p>
        </p:txBody>
      </p:sp>
      <p:sp>
        <p:nvSpPr>
          <p:cNvPr id="165892" name="Rectangle 2"/>
          <p:cNvSpPr>
            <a:spLocks noGrp="1" noChangeArrowheads="1"/>
          </p:cNvSpPr>
          <p:nvPr>
            <p:ph type="title"/>
          </p:nvPr>
        </p:nvSpPr>
        <p:spPr/>
        <p:txBody>
          <a:bodyPr/>
          <a:lstStyle/>
          <a:p>
            <a:r>
              <a:rPr lang="en-US"/>
              <a:t>Lemma 1</a:t>
            </a:r>
          </a:p>
        </p:txBody>
      </p:sp>
      <p:sp>
        <p:nvSpPr>
          <p:cNvPr id="165893" name="Text Box 24"/>
          <p:cNvSpPr txBox="1">
            <a:spLocks noChangeArrowheads="1"/>
          </p:cNvSpPr>
          <p:nvPr/>
        </p:nvSpPr>
        <p:spPr bwMode="auto">
          <a:xfrm>
            <a:off x="3608388" y="2825750"/>
            <a:ext cx="3590925" cy="1200150"/>
          </a:xfrm>
          <a:prstGeom prst="rect">
            <a:avLst/>
          </a:prstGeom>
          <a:noFill/>
          <a:ln w="9525" algn="ctr">
            <a:noFill/>
            <a:miter lim="800000"/>
            <a:headEnd/>
            <a:tailEnd/>
          </a:ln>
        </p:spPr>
        <p:txBody>
          <a:bodyPr>
            <a:spAutoFit/>
          </a:bodyPr>
          <a:lstStyle/>
          <a:p>
            <a:pPr marL="342900" indent="-342900"/>
            <a:r>
              <a:rPr lang="en-US" sz="3600" b="0" dirty="0">
                <a:latin typeface="Arial" pitchFamily="34" charset="0"/>
                <a:cs typeface="Arial" pitchFamily="34" charset="0"/>
              </a:rPr>
              <a:t>Also its odd subsequence</a:t>
            </a:r>
          </a:p>
        </p:txBody>
      </p:sp>
      <p:sp>
        <p:nvSpPr>
          <p:cNvPr id="165894" name="Oval 25"/>
          <p:cNvSpPr>
            <a:spLocks noChangeArrowheads="1"/>
          </p:cNvSpPr>
          <p:nvPr/>
        </p:nvSpPr>
        <p:spPr bwMode="auto">
          <a:xfrm>
            <a:off x="2032000" y="2209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895" name="Oval 26"/>
          <p:cNvSpPr>
            <a:spLocks noChangeArrowheads="1"/>
          </p:cNvSpPr>
          <p:nvPr/>
        </p:nvSpPr>
        <p:spPr bwMode="auto">
          <a:xfrm>
            <a:off x="2032000" y="2590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896" name="Oval 27"/>
          <p:cNvSpPr>
            <a:spLocks noChangeArrowheads="1"/>
          </p:cNvSpPr>
          <p:nvPr/>
        </p:nvSpPr>
        <p:spPr bwMode="auto">
          <a:xfrm>
            <a:off x="1657350" y="2209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897" name="Oval 28"/>
          <p:cNvSpPr>
            <a:spLocks noChangeArrowheads="1"/>
          </p:cNvSpPr>
          <p:nvPr/>
        </p:nvSpPr>
        <p:spPr bwMode="auto">
          <a:xfrm>
            <a:off x="2032000" y="2971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898" name="Oval 29"/>
          <p:cNvSpPr>
            <a:spLocks noChangeArrowheads="1"/>
          </p:cNvSpPr>
          <p:nvPr/>
        </p:nvSpPr>
        <p:spPr bwMode="auto">
          <a:xfrm>
            <a:off x="2032000" y="3352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899" name="Oval 30"/>
          <p:cNvSpPr>
            <a:spLocks noChangeArrowheads="1"/>
          </p:cNvSpPr>
          <p:nvPr/>
        </p:nvSpPr>
        <p:spPr bwMode="auto">
          <a:xfrm>
            <a:off x="1657350" y="2971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900" name="Oval 31"/>
          <p:cNvSpPr>
            <a:spLocks noChangeArrowheads="1"/>
          </p:cNvSpPr>
          <p:nvPr/>
        </p:nvSpPr>
        <p:spPr bwMode="auto">
          <a:xfrm>
            <a:off x="1657350" y="3352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901" name="Oval 32"/>
          <p:cNvSpPr>
            <a:spLocks noChangeArrowheads="1"/>
          </p:cNvSpPr>
          <p:nvPr/>
        </p:nvSpPr>
        <p:spPr bwMode="auto">
          <a:xfrm>
            <a:off x="1657350" y="2590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902" name="Oval 33"/>
          <p:cNvSpPr>
            <a:spLocks noChangeArrowheads="1"/>
          </p:cNvSpPr>
          <p:nvPr/>
        </p:nvSpPr>
        <p:spPr bwMode="auto">
          <a:xfrm>
            <a:off x="2030413" y="3733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903" name="Oval 34"/>
          <p:cNvSpPr>
            <a:spLocks noChangeArrowheads="1"/>
          </p:cNvSpPr>
          <p:nvPr/>
        </p:nvSpPr>
        <p:spPr bwMode="auto">
          <a:xfrm>
            <a:off x="2030413" y="4114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904" name="Oval 35"/>
          <p:cNvSpPr>
            <a:spLocks noChangeArrowheads="1"/>
          </p:cNvSpPr>
          <p:nvPr/>
        </p:nvSpPr>
        <p:spPr bwMode="auto">
          <a:xfrm>
            <a:off x="1657350" y="3733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905" name="Oval 36"/>
          <p:cNvSpPr>
            <a:spLocks noChangeArrowheads="1"/>
          </p:cNvSpPr>
          <p:nvPr/>
        </p:nvSpPr>
        <p:spPr bwMode="auto">
          <a:xfrm>
            <a:off x="2030413" y="4495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906" name="Oval 37"/>
          <p:cNvSpPr>
            <a:spLocks noChangeArrowheads="1"/>
          </p:cNvSpPr>
          <p:nvPr/>
        </p:nvSpPr>
        <p:spPr bwMode="auto">
          <a:xfrm>
            <a:off x="2030413" y="4876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907" name="Oval 38"/>
          <p:cNvSpPr>
            <a:spLocks noChangeArrowheads="1"/>
          </p:cNvSpPr>
          <p:nvPr/>
        </p:nvSpPr>
        <p:spPr bwMode="auto">
          <a:xfrm>
            <a:off x="1657350" y="4495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908" name="Oval 39"/>
          <p:cNvSpPr>
            <a:spLocks noChangeArrowheads="1"/>
          </p:cNvSpPr>
          <p:nvPr/>
        </p:nvSpPr>
        <p:spPr bwMode="auto">
          <a:xfrm>
            <a:off x="1657350" y="4876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909" name="Oval 40"/>
          <p:cNvSpPr>
            <a:spLocks noChangeArrowheads="1"/>
          </p:cNvSpPr>
          <p:nvPr/>
        </p:nvSpPr>
        <p:spPr bwMode="auto">
          <a:xfrm>
            <a:off x="1657350" y="4114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910" name="Oval 41"/>
          <p:cNvSpPr>
            <a:spLocks noChangeArrowheads="1"/>
          </p:cNvSpPr>
          <p:nvPr/>
        </p:nvSpPr>
        <p:spPr bwMode="auto">
          <a:xfrm>
            <a:off x="2397125" y="2209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911" name="Oval 42"/>
          <p:cNvSpPr>
            <a:spLocks noChangeArrowheads="1"/>
          </p:cNvSpPr>
          <p:nvPr/>
        </p:nvSpPr>
        <p:spPr bwMode="auto">
          <a:xfrm>
            <a:off x="2397125" y="2590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912" name="Oval 43"/>
          <p:cNvSpPr>
            <a:spLocks noChangeArrowheads="1"/>
          </p:cNvSpPr>
          <p:nvPr/>
        </p:nvSpPr>
        <p:spPr bwMode="auto">
          <a:xfrm>
            <a:off x="2397125" y="2971800"/>
            <a:ext cx="228600" cy="228600"/>
          </a:xfrm>
          <a:prstGeom prst="ellipse">
            <a:avLst/>
          </a:prstGeom>
          <a:solidFill>
            <a:srgbClr val="FFFF99">
              <a:alpha val="39999"/>
            </a:srgbClr>
          </a:solidFill>
          <a:ln w="9525" algn="ctr">
            <a:solidFill>
              <a:schemeClr val="folHlink"/>
            </a:solidFill>
            <a:round/>
            <a:headEnd/>
            <a:tailEnd/>
          </a:ln>
        </p:spPr>
        <p:txBody>
          <a:bodyPr wrap="none" anchor="ctr"/>
          <a:lstStyle/>
          <a:p>
            <a:endParaRPr lang="en-US" dirty="0">
              <a:latin typeface="Courier New" pitchFamily="49" charset="0"/>
            </a:endParaRPr>
          </a:p>
        </p:txBody>
      </p:sp>
      <p:sp>
        <p:nvSpPr>
          <p:cNvPr id="165913" name="Oval 44"/>
          <p:cNvSpPr>
            <a:spLocks noChangeArrowheads="1"/>
          </p:cNvSpPr>
          <p:nvPr/>
        </p:nvSpPr>
        <p:spPr bwMode="auto">
          <a:xfrm>
            <a:off x="2397125" y="3352800"/>
            <a:ext cx="228600" cy="228600"/>
          </a:xfrm>
          <a:prstGeom prst="ellipse">
            <a:avLst/>
          </a:prstGeom>
          <a:solidFill>
            <a:srgbClr val="FF7C80"/>
          </a:solidFill>
          <a:ln w="9525" algn="ctr">
            <a:solidFill>
              <a:schemeClr val="tx1"/>
            </a:solidFill>
            <a:round/>
            <a:headEnd/>
            <a:tailEnd/>
          </a:ln>
        </p:spPr>
        <p:txBody>
          <a:bodyPr wrap="none" anchor="ctr"/>
          <a:lstStyle/>
          <a:p>
            <a:endParaRPr lang="en-US" dirty="0">
              <a:latin typeface="Courier New" pitchFamily="49" charset="0"/>
            </a:endParaRPr>
          </a:p>
        </p:txBody>
      </p:sp>
      <p:sp>
        <p:nvSpPr>
          <p:cNvPr id="165914" name="Freeform 45"/>
          <p:cNvSpPr>
            <a:spLocks/>
          </p:cNvSpPr>
          <p:nvPr/>
        </p:nvSpPr>
        <p:spPr bwMode="auto">
          <a:xfrm>
            <a:off x="1482725" y="1989138"/>
            <a:ext cx="1231900" cy="3294062"/>
          </a:xfrm>
          <a:custGeom>
            <a:avLst/>
            <a:gdLst>
              <a:gd name="T0" fmla="*/ 0 w 776"/>
              <a:gd name="T1" fmla="*/ 0 h 2075"/>
              <a:gd name="T2" fmla="*/ 0 w 776"/>
              <a:gd name="T3" fmla="*/ 2147483647 h 2075"/>
              <a:gd name="T4" fmla="*/ 2147483647 w 776"/>
              <a:gd name="T5" fmla="*/ 2147483647 h 2075"/>
              <a:gd name="T6" fmla="*/ 2147483647 w 776"/>
              <a:gd name="T7" fmla="*/ 2147483647 h 2075"/>
              <a:gd name="T8" fmla="*/ 2147483647 w 776"/>
              <a:gd name="T9" fmla="*/ 2147483647 h 2075"/>
              <a:gd name="T10" fmla="*/ 2147483647 w 776"/>
              <a:gd name="T11" fmla="*/ 2147483647 h 2075"/>
              <a:gd name="T12" fmla="*/ 0 w 776"/>
              <a:gd name="T13" fmla="*/ 0 h 2075"/>
              <a:gd name="T14" fmla="*/ 0 60000 65536"/>
              <a:gd name="T15" fmla="*/ 0 60000 65536"/>
              <a:gd name="T16" fmla="*/ 0 60000 65536"/>
              <a:gd name="T17" fmla="*/ 0 60000 65536"/>
              <a:gd name="T18" fmla="*/ 0 60000 65536"/>
              <a:gd name="T19" fmla="*/ 0 60000 65536"/>
              <a:gd name="T20" fmla="*/ 0 60000 65536"/>
              <a:gd name="T21" fmla="*/ 0 w 776"/>
              <a:gd name="T22" fmla="*/ 0 h 2075"/>
              <a:gd name="T23" fmla="*/ 776 w 776"/>
              <a:gd name="T24" fmla="*/ 2075 h 20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76" h="2075">
                <a:moveTo>
                  <a:pt x="0" y="0"/>
                </a:moveTo>
                <a:lnTo>
                  <a:pt x="0" y="2071"/>
                </a:lnTo>
                <a:lnTo>
                  <a:pt x="593" y="2075"/>
                </a:lnTo>
                <a:lnTo>
                  <a:pt x="584" y="1142"/>
                </a:lnTo>
                <a:lnTo>
                  <a:pt x="776" y="1133"/>
                </a:lnTo>
                <a:lnTo>
                  <a:pt x="767" y="18"/>
                </a:lnTo>
                <a:lnTo>
                  <a:pt x="0" y="0"/>
                </a:lnTo>
                <a:close/>
              </a:path>
            </a:pathLst>
          </a:custGeom>
          <a:noFill/>
          <a:ln w="38100">
            <a:solidFill>
              <a:srgbClr val="FF0000"/>
            </a:solidFill>
            <a:round/>
            <a:headEnd/>
            <a:tailEnd/>
          </a:ln>
        </p:spPr>
        <p:txBody>
          <a:bodyPr wrap="none" anchor="ctr"/>
          <a:lstStyle/>
          <a:p>
            <a:endParaRPr lang="en-US" dirty="0">
              <a:latin typeface="Courier New" pitchFamily="49" charset="0"/>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AutoShape 22"/>
          <p:cNvSpPr>
            <a:spLocks noChangeArrowheads="1"/>
          </p:cNvSpPr>
          <p:nvPr/>
        </p:nvSpPr>
        <p:spPr bwMode="auto">
          <a:xfrm>
            <a:off x="5160963" y="4016375"/>
            <a:ext cx="1298575" cy="1733550"/>
          </a:xfrm>
          <a:prstGeom prst="wedgeRoundRectCallout">
            <a:avLst>
              <a:gd name="adj1" fmla="val 130866"/>
              <a:gd name="adj2" fmla="val -54162"/>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59" name="AutoShape 22"/>
          <p:cNvSpPr>
            <a:spLocks noChangeArrowheads="1"/>
          </p:cNvSpPr>
          <p:nvPr/>
        </p:nvSpPr>
        <p:spPr bwMode="auto">
          <a:xfrm>
            <a:off x="5160963" y="1951038"/>
            <a:ext cx="1282700" cy="1801812"/>
          </a:xfrm>
          <a:prstGeom prst="wedgeRoundRectCallout">
            <a:avLst>
              <a:gd name="adj1" fmla="val 132296"/>
              <a:gd name="adj2" fmla="val 35616"/>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46" name="Footer Placeholder 3"/>
          <p:cNvSpPr>
            <a:spLocks noGrp="1"/>
          </p:cNvSpPr>
          <p:nvPr>
            <p:ph type="ftr" sz="quarter" idx="10"/>
          </p:nvPr>
        </p:nvSpPr>
        <p:spPr/>
        <p:txBody>
          <a:bodyPr/>
          <a:lstStyle/>
          <a:p>
            <a:pPr>
              <a:defRPr/>
            </a:pPr>
            <a:r>
              <a:rPr lang="en-US"/>
              <a:t>Art of Multiprocessor Programming</a:t>
            </a:r>
          </a:p>
        </p:txBody>
      </p:sp>
      <p:sp>
        <p:nvSpPr>
          <p:cNvPr id="47" name="Slide Number Placeholder 4"/>
          <p:cNvSpPr>
            <a:spLocks noGrp="1"/>
          </p:cNvSpPr>
          <p:nvPr>
            <p:ph type="sldNum" sz="quarter" idx="11"/>
          </p:nvPr>
        </p:nvSpPr>
        <p:spPr/>
        <p:txBody>
          <a:bodyPr/>
          <a:lstStyle/>
          <a:p>
            <a:pPr>
              <a:defRPr/>
            </a:pPr>
            <a:fld id="{7D4B8E12-B502-49BA-89A8-863F4FBC2A4C}" type="slidenum">
              <a:rPr lang="en-US"/>
              <a:pPr>
                <a:defRPr/>
              </a:pPr>
              <a:t>169</a:t>
            </a:fld>
            <a:endParaRPr lang="en-US"/>
          </a:p>
        </p:txBody>
      </p:sp>
      <p:sp>
        <p:nvSpPr>
          <p:cNvPr id="166918" name="Rectangle 2"/>
          <p:cNvSpPr>
            <a:spLocks noGrp="1" noChangeArrowheads="1"/>
          </p:cNvSpPr>
          <p:nvPr>
            <p:ph type="title"/>
          </p:nvPr>
        </p:nvSpPr>
        <p:spPr>
          <a:xfrm>
            <a:off x="862013" y="411163"/>
            <a:ext cx="7772400" cy="1143000"/>
          </a:xfrm>
        </p:spPr>
        <p:txBody>
          <a:bodyPr/>
          <a:lstStyle/>
          <a:p>
            <a:r>
              <a:rPr lang="en-US"/>
              <a:t>Lemma 2</a:t>
            </a:r>
          </a:p>
        </p:txBody>
      </p:sp>
      <p:grpSp>
        <p:nvGrpSpPr>
          <p:cNvPr id="166919" name="Group 58"/>
          <p:cNvGrpSpPr>
            <a:grpSpLocks/>
          </p:cNvGrpSpPr>
          <p:nvPr/>
        </p:nvGrpSpPr>
        <p:grpSpPr bwMode="auto">
          <a:xfrm>
            <a:off x="708025" y="4287838"/>
            <a:ext cx="1066800" cy="1692275"/>
            <a:chOff x="2133600" y="3794760"/>
            <a:chExt cx="1066800" cy="1691640"/>
          </a:xfrm>
        </p:grpSpPr>
        <p:sp>
          <p:nvSpPr>
            <p:cNvPr id="166960" name="Oval 9"/>
            <p:cNvSpPr>
              <a:spLocks noChangeArrowheads="1"/>
            </p:cNvSpPr>
            <p:nvPr/>
          </p:nvSpPr>
          <p:spPr bwMode="auto">
            <a:xfrm flipH="1">
              <a:off x="22098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1" name="Oval 10"/>
            <p:cNvSpPr>
              <a:spLocks noChangeArrowheads="1"/>
            </p:cNvSpPr>
            <p:nvPr/>
          </p:nvSpPr>
          <p:spPr bwMode="auto">
            <a:xfrm flipH="1">
              <a:off x="22098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2" name="Oval 11"/>
            <p:cNvSpPr>
              <a:spLocks noChangeArrowheads="1"/>
            </p:cNvSpPr>
            <p:nvPr/>
          </p:nvSpPr>
          <p:spPr bwMode="auto">
            <a:xfrm flipH="1">
              <a:off x="22098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3" name="Oval 12"/>
            <p:cNvSpPr>
              <a:spLocks noChangeArrowheads="1"/>
            </p:cNvSpPr>
            <p:nvPr/>
          </p:nvSpPr>
          <p:spPr bwMode="auto">
            <a:xfrm flipH="1">
              <a:off x="22098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4" name="Oval 13"/>
            <p:cNvSpPr>
              <a:spLocks noChangeArrowheads="1"/>
            </p:cNvSpPr>
            <p:nvPr/>
          </p:nvSpPr>
          <p:spPr bwMode="auto">
            <a:xfrm flipH="1">
              <a:off x="25146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5" name="Oval 14"/>
            <p:cNvSpPr>
              <a:spLocks noChangeArrowheads="1"/>
            </p:cNvSpPr>
            <p:nvPr/>
          </p:nvSpPr>
          <p:spPr bwMode="auto">
            <a:xfrm flipH="1">
              <a:off x="25146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6" name="Oval 15"/>
            <p:cNvSpPr>
              <a:spLocks noChangeArrowheads="1"/>
            </p:cNvSpPr>
            <p:nvPr/>
          </p:nvSpPr>
          <p:spPr bwMode="auto">
            <a:xfrm flipH="1">
              <a:off x="25146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7" name="Oval 16"/>
            <p:cNvSpPr>
              <a:spLocks noChangeArrowheads="1"/>
            </p:cNvSpPr>
            <p:nvPr/>
          </p:nvSpPr>
          <p:spPr bwMode="auto">
            <a:xfrm flipH="1">
              <a:off x="25146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8" name="Oval 17"/>
            <p:cNvSpPr>
              <a:spLocks noChangeArrowheads="1"/>
            </p:cNvSpPr>
            <p:nvPr/>
          </p:nvSpPr>
          <p:spPr bwMode="auto">
            <a:xfrm flipH="1">
              <a:off x="28194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69" name="Oval 18"/>
            <p:cNvSpPr>
              <a:spLocks noChangeArrowheads="1"/>
            </p:cNvSpPr>
            <p:nvPr/>
          </p:nvSpPr>
          <p:spPr bwMode="auto">
            <a:xfrm flipH="1">
              <a:off x="28194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70" name="Oval 19"/>
            <p:cNvSpPr>
              <a:spLocks noChangeArrowheads="1"/>
            </p:cNvSpPr>
            <p:nvPr/>
          </p:nvSpPr>
          <p:spPr bwMode="auto">
            <a:xfrm flipH="1">
              <a:off x="28194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71" name="Freeform 20"/>
            <p:cNvSpPr>
              <a:spLocks/>
            </p:cNvSpPr>
            <p:nvPr/>
          </p:nvSpPr>
          <p:spPr bwMode="auto">
            <a:xfrm flipH="1">
              <a:off x="2133600" y="3794760"/>
              <a:ext cx="1066800" cy="1691640"/>
            </a:xfrm>
            <a:custGeom>
              <a:avLst/>
              <a:gdLst>
                <a:gd name="T0" fmla="*/ 0 w 672"/>
                <a:gd name="T1" fmla="*/ 2147483647 h 1536"/>
                <a:gd name="T2" fmla="*/ 0 w 672"/>
                <a:gd name="T3" fmla="*/ 2147483647 h 1536"/>
                <a:gd name="T4" fmla="*/ 2147483647 w 672"/>
                <a:gd name="T5" fmla="*/ 2147483647 h 1536"/>
                <a:gd name="T6" fmla="*/ 2147483647 w 672"/>
                <a:gd name="T7" fmla="*/ 2147483647 h 1536"/>
                <a:gd name="T8" fmla="*/ 2147483647 w 672"/>
                <a:gd name="T9" fmla="*/ 2147483647 h 1536"/>
                <a:gd name="T10" fmla="*/ 2147483647 w 672"/>
                <a:gd name="T11" fmla="*/ 0 h 1536"/>
                <a:gd name="T12" fmla="*/ 0 w 672"/>
                <a:gd name="T13" fmla="*/ 0 h 1536"/>
                <a:gd name="T14" fmla="*/ 0 60000 65536"/>
                <a:gd name="T15" fmla="*/ 0 60000 65536"/>
                <a:gd name="T16" fmla="*/ 0 60000 65536"/>
                <a:gd name="T17" fmla="*/ 0 60000 65536"/>
                <a:gd name="T18" fmla="*/ 0 60000 65536"/>
                <a:gd name="T19" fmla="*/ 0 60000 65536"/>
                <a:gd name="T20" fmla="*/ 0 60000 65536"/>
                <a:gd name="T21" fmla="*/ 0 w 672"/>
                <a:gd name="T22" fmla="*/ 0 h 1536"/>
                <a:gd name="T23" fmla="*/ 672 w 672"/>
                <a:gd name="T24" fmla="*/ 1536 h 15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2" h="1536">
                  <a:moveTo>
                    <a:pt x="0" y="48"/>
                  </a:moveTo>
                  <a:lnTo>
                    <a:pt x="0" y="1104"/>
                  </a:lnTo>
                  <a:lnTo>
                    <a:pt x="240" y="1104"/>
                  </a:lnTo>
                  <a:lnTo>
                    <a:pt x="240" y="1536"/>
                  </a:lnTo>
                  <a:lnTo>
                    <a:pt x="672" y="1536"/>
                  </a:lnTo>
                  <a:lnTo>
                    <a:pt x="672" y="0"/>
                  </a:lnTo>
                  <a:lnTo>
                    <a:pt x="0" y="0"/>
                  </a:lnTo>
                </a:path>
              </a:pathLst>
            </a:custGeom>
            <a:noFill/>
            <a:ln w="38100">
              <a:solidFill>
                <a:srgbClr val="FFFF00"/>
              </a:solidFill>
              <a:round/>
              <a:headEnd/>
              <a:tailEnd/>
            </a:ln>
          </p:spPr>
          <p:txBody>
            <a:bodyPr wrap="none" anchor="ctr"/>
            <a:lstStyle/>
            <a:p>
              <a:endParaRPr lang="en-US">
                <a:latin typeface="Arial" pitchFamily="34" charset="0"/>
                <a:cs typeface="Arial" pitchFamily="34" charset="0"/>
              </a:endParaRPr>
            </a:p>
          </p:txBody>
        </p:sp>
      </p:grpSp>
      <p:grpSp>
        <p:nvGrpSpPr>
          <p:cNvPr id="166920" name="Group 59"/>
          <p:cNvGrpSpPr>
            <a:grpSpLocks/>
          </p:cNvGrpSpPr>
          <p:nvPr/>
        </p:nvGrpSpPr>
        <p:grpSpPr bwMode="auto">
          <a:xfrm>
            <a:off x="747713" y="2057400"/>
            <a:ext cx="774700" cy="1812925"/>
            <a:chOff x="1130300" y="2057400"/>
            <a:chExt cx="774700" cy="1813560"/>
          </a:xfrm>
        </p:grpSpPr>
        <p:sp>
          <p:nvSpPr>
            <p:cNvPr id="166953" name="Oval 3"/>
            <p:cNvSpPr>
              <a:spLocks noChangeArrowheads="1"/>
            </p:cNvSpPr>
            <p:nvPr/>
          </p:nvSpPr>
          <p:spPr bwMode="auto">
            <a:xfrm flipH="1">
              <a:off x="12827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4" name="Oval 4"/>
            <p:cNvSpPr>
              <a:spLocks noChangeArrowheads="1"/>
            </p:cNvSpPr>
            <p:nvPr/>
          </p:nvSpPr>
          <p:spPr bwMode="auto">
            <a:xfrm flipH="1">
              <a:off x="12827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5" name="Oval 5"/>
            <p:cNvSpPr>
              <a:spLocks noChangeArrowheads="1"/>
            </p:cNvSpPr>
            <p:nvPr/>
          </p:nvSpPr>
          <p:spPr bwMode="auto">
            <a:xfrm flipH="1">
              <a:off x="1282700" y="2996184"/>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6" name="Oval 6"/>
            <p:cNvSpPr>
              <a:spLocks noChangeArrowheads="1"/>
            </p:cNvSpPr>
            <p:nvPr/>
          </p:nvSpPr>
          <p:spPr bwMode="auto">
            <a:xfrm flipH="1">
              <a:off x="1282700" y="3389376"/>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7" name="Oval 7"/>
            <p:cNvSpPr>
              <a:spLocks noChangeArrowheads="1"/>
            </p:cNvSpPr>
            <p:nvPr/>
          </p:nvSpPr>
          <p:spPr bwMode="auto">
            <a:xfrm flipH="1">
              <a:off x="15875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8" name="Oval 8"/>
            <p:cNvSpPr>
              <a:spLocks noChangeArrowheads="1"/>
            </p:cNvSpPr>
            <p:nvPr/>
          </p:nvSpPr>
          <p:spPr bwMode="auto">
            <a:xfrm flipH="1">
              <a:off x="15875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9" name="Freeform 21"/>
            <p:cNvSpPr>
              <a:spLocks/>
            </p:cNvSpPr>
            <p:nvPr/>
          </p:nvSpPr>
          <p:spPr bwMode="auto">
            <a:xfrm flipH="1">
              <a:off x="1130300" y="2057400"/>
              <a:ext cx="774700" cy="1813560"/>
            </a:xfrm>
            <a:custGeom>
              <a:avLst/>
              <a:gdLst>
                <a:gd name="T0" fmla="*/ 2147483647 w 488"/>
                <a:gd name="T1" fmla="*/ 0 h 1632"/>
                <a:gd name="T2" fmla="*/ 0 w 488"/>
                <a:gd name="T3" fmla="*/ 2147483647 h 1632"/>
                <a:gd name="T4" fmla="*/ 2147483647 w 488"/>
                <a:gd name="T5" fmla="*/ 2147483647 h 1632"/>
                <a:gd name="T6" fmla="*/ 2147483647 w 488"/>
                <a:gd name="T7" fmla="*/ 2147483647 h 1632"/>
                <a:gd name="T8" fmla="*/ 2147483647 w 488"/>
                <a:gd name="T9" fmla="*/ 2147483647 h 1632"/>
                <a:gd name="T10" fmla="*/ 2147483647 w 488"/>
                <a:gd name="T11" fmla="*/ 0 h 1632"/>
                <a:gd name="T12" fmla="*/ 2147483647 w 488"/>
                <a:gd name="T13" fmla="*/ 0 h 1632"/>
                <a:gd name="T14" fmla="*/ 0 60000 65536"/>
                <a:gd name="T15" fmla="*/ 0 60000 65536"/>
                <a:gd name="T16" fmla="*/ 0 60000 65536"/>
                <a:gd name="T17" fmla="*/ 0 60000 65536"/>
                <a:gd name="T18" fmla="*/ 0 60000 65536"/>
                <a:gd name="T19" fmla="*/ 0 60000 65536"/>
                <a:gd name="T20" fmla="*/ 0 60000 65536"/>
                <a:gd name="T21" fmla="*/ 0 w 488"/>
                <a:gd name="T22" fmla="*/ 0 h 1632"/>
                <a:gd name="T23" fmla="*/ 488 w 488"/>
                <a:gd name="T24" fmla="*/ 1632 h 16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8" h="1632">
                  <a:moveTo>
                    <a:pt x="8" y="0"/>
                  </a:moveTo>
                  <a:lnTo>
                    <a:pt x="0" y="768"/>
                  </a:lnTo>
                  <a:lnTo>
                    <a:pt x="200" y="768"/>
                  </a:lnTo>
                  <a:lnTo>
                    <a:pt x="200" y="1632"/>
                  </a:lnTo>
                  <a:lnTo>
                    <a:pt x="488" y="1632"/>
                  </a:lnTo>
                  <a:lnTo>
                    <a:pt x="488" y="0"/>
                  </a:lnTo>
                  <a:lnTo>
                    <a:pt x="8" y="0"/>
                  </a:lnTo>
                  <a:close/>
                </a:path>
              </a:pathLst>
            </a:custGeom>
            <a:noFill/>
            <a:ln w="38100">
              <a:solidFill>
                <a:srgbClr val="FF9999"/>
              </a:solidFill>
              <a:round/>
              <a:headEnd/>
              <a:tailEnd/>
            </a:ln>
          </p:spPr>
          <p:txBody>
            <a:bodyPr wrap="none" anchor="ctr"/>
            <a:lstStyle/>
            <a:p>
              <a:endParaRPr lang="en-US">
                <a:latin typeface="Arial" pitchFamily="34" charset="0"/>
                <a:cs typeface="Arial" pitchFamily="34" charset="0"/>
              </a:endParaRPr>
            </a:p>
          </p:txBody>
        </p:sp>
      </p:grpSp>
      <p:sp>
        <p:nvSpPr>
          <p:cNvPr id="166921" name="Text Box 40"/>
          <p:cNvSpPr txBox="1">
            <a:spLocks noChangeArrowheads="1"/>
          </p:cNvSpPr>
          <p:nvPr/>
        </p:nvSpPr>
        <p:spPr bwMode="auto">
          <a:xfrm>
            <a:off x="6429691" y="2209800"/>
            <a:ext cx="886782" cy="830997"/>
          </a:xfrm>
          <a:prstGeom prst="rect">
            <a:avLst/>
          </a:prstGeom>
          <a:noFill/>
          <a:ln w="9525" algn="ctr">
            <a:noFill/>
            <a:miter lim="800000"/>
            <a:headEnd/>
            <a:tailEnd/>
          </a:ln>
        </p:spPr>
        <p:txBody>
          <a:bodyPr wrap="none">
            <a:spAutoFit/>
          </a:bodyPr>
          <a:lstStyle/>
          <a:p>
            <a:pPr algn="ctr">
              <a:spcBef>
                <a:spcPct val="0"/>
              </a:spcBef>
            </a:pPr>
            <a:r>
              <a:rPr lang="en-US" b="0">
                <a:solidFill>
                  <a:srgbClr val="FF9999"/>
                </a:solidFill>
                <a:latin typeface="Arial" pitchFamily="34" charset="0"/>
                <a:cs typeface="Arial" pitchFamily="34" charset="0"/>
              </a:rPr>
              <a:t>Even</a:t>
            </a:r>
          </a:p>
          <a:p>
            <a:pPr algn="ctr">
              <a:spcBef>
                <a:spcPct val="0"/>
              </a:spcBef>
            </a:pPr>
            <a:r>
              <a:rPr lang="en-US" b="0">
                <a:solidFill>
                  <a:schemeClr val="tx1"/>
                </a:solidFill>
                <a:latin typeface="Arial" pitchFamily="34" charset="0"/>
                <a:cs typeface="Arial" pitchFamily="34" charset="0"/>
              </a:rPr>
              <a:t>+</a:t>
            </a:r>
          </a:p>
        </p:txBody>
      </p:sp>
      <p:sp>
        <p:nvSpPr>
          <p:cNvPr id="166922" name="Text Box 41"/>
          <p:cNvSpPr txBox="1">
            <a:spLocks noChangeArrowheads="1"/>
          </p:cNvSpPr>
          <p:nvPr/>
        </p:nvSpPr>
        <p:spPr bwMode="auto">
          <a:xfrm>
            <a:off x="6505575" y="2940050"/>
            <a:ext cx="703263" cy="457200"/>
          </a:xfrm>
          <a:prstGeom prst="rect">
            <a:avLst/>
          </a:prstGeom>
          <a:noFill/>
          <a:ln w="9525" algn="ctr">
            <a:noFill/>
            <a:miter lim="800000"/>
            <a:headEnd/>
            <a:tailEnd/>
          </a:ln>
        </p:spPr>
        <p:txBody>
          <a:bodyPr wrap="none">
            <a:spAutoFit/>
          </a:bodyPr>
          <a:lstStyle/>
          <a:p>
            <a:pPr algn="ctr">
              <a:spcBef>
                <a:spcPct val="0"/>
              </a:spcBef>
            </a:pPr>
            <a:r>
              <a:rPr lang="en-US" b="0">
                <a:solidFill>
                  <a:schemeClr val="tx1"/>
                </a:solidFill>
                <a:latin typeface="Arial" pitchFamily="34" charset="0"/>
                <a:cs typeface="Arial" pitchFamily="34" charset="0"/>
              </a:rPr>
              <a:t>odd</a:t>
            </a:r>
          </a:p>
        </p:txBody>
      </p:sp>
      <p:sp>
        <p:nvSpPr>
          <p:cNvPr id="166923" name="Text Box 43"/>
          <p:cNvSpPr txBox="1">
            <a:spLocks noChangeArrowheads="1"/>
          </p:cNvSpPr>
          <p:nvPr/>
        </p:nvSpPr>
        <p:spPr bwMode="auto">
          <a:xfrm>
            <a:off x="6463191" y="4779963"/>
            <a:ext cx="853119" cy="461665"/>
          </a:xfrm>
          <a:prstGeom prst="rect">
            <a:avLst/>
          </a:prstGeom>
          <a:noFill/>
          <a:ln w="9525" algn="ctr">
            <a:noFill/>
            <a:miter lim="800000"/>
            <a:headEnd/>
            <a:tailEnd/>
          </a:ln>
        </p:spPr>
        <p:txBody>
          <a:bodyPr wrap="none">
            <a:spAutoFit/>
          </a:bodyPr>
          <a:lstStyle/>
          <a:p>
            <a:pPr algn="ctr">
              <a:spcBef>
                <a:spcPct val="0"/>
              </a:spcBef>
            </a:pPr>
            <a:r>
              <a:rPr lang="en-US" b="0">
                <a:solidFill>
                  <a:schemeClr val="tx1"/>
                </a:solidFill>
                <a:latin typeface="Arial" pitchFamily="34" charset="0"/>
                <a:cs typeface="Arial" pitchFamily="34" charset="0"/>
              </a:rPr>
              <a:t>even</a:t>
            </a:r>
          </a:p>
        </p:txBody>
      </p:sp>
      <p:grpSp>
        <p:nvGrpSpPr>
          <p:cNvPr id="166924" name="Group 49"/>
          <p:cNvGrpSpPr>
            <a:grpSpLocks/>
          </p:cNvGrpSpPr>
          <p:nvPr/>
        </p:nvGrpSpPr>
        <p:grpSpPr bwMode="auto">
          <a:xfrm flipH="1">
            <a:off x="5365750" y="2170113"/>
            <a:ext cx="850900" cy="3352800"/>
            <a:chOff x="5181600" y="2133600"/>
            <a:chExt cx="850900" cy="3352800"/>
          </a:xfrm>
        </p:grpSpPr>
        <p:sp>
          <p:nvSpPr>
            <p:cNvPr id="166936" name="Oval 23"/>
            <p:cNvSpPr>
              <a:spLocks noChangeArrowheads="1"/>
            </p:cNvSpPr>
            <p:nvPr/>
          </p:nvSpPr>
          <p:spPr bwMode="auto">
            <a:xfrm>
              <a:off x="5797550" y="2133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37" name="Oval 24"/>
            <p:cNvSpPr>
              <a:spLocks noChangeArrowheads="1"/>
            </p:cNvSpPr>
            <p:nvPr/>
          </p:nvSpPr>
          <p:spPr bwMode="auto">
            <a:xfrm>
              <a:off x="5797550" y="2514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38" name="Oval 25"/>
            <p:cNvSpPr>
              <a:spLocks noChangeArrowheads="1"/>
            </p:cNvSpPr>
            <p:nvPr/>
          </p:nvSpPr>
          <p:spPr bwMode="auto">
            <a:xfrm>
              <a:off x="5492750" y="2133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39" name="Oval 26"/>
            <p:cNvSpPr>
              <a:spLocks noChangeArrowheads="1"/>
            </p:cNvSpPr>
            <p:nvPr/>
          </p:nvSpPr>
          <p:spPr bwMode="auto">
            <a:xfrm>
              <a:off x="5797550" y="2971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0" name="Oval 27"/>
            <p:cNvSpPr>
              <a:spLocks noChangeArrowheads="1"/>
            </p:cNvSpPr>
            <p:nvPr/>
          </p:nvSpPr>
          <p:spPr bwMode="auto">
            <a:xfrm>
              <a:off x="5797550" y="3276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1" name="Oval 28"/>
            <p:cNvSpPr>
              <a:spLocks noChangeArrowheads="1"/>
            </p:cNvSpPr>
            <p:nvPr/>
          </p:nvSpPr>
          <p:spPr bwMode="auto">
            <a:xfrm>
              <a:off x="5492750" y="2971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2" name="Oval 29"/>
            <p:cNvSpPr>
              <a:spLocks noChangeArrowheads="1"/>
            </p:cNvSpPr>
            <p:nvPr/>
          </p:nvSpPr>
          <p:spPr bwMode="auto">
            <a:xfrm>
              <a:off x="5492750" y="3276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3" name="Oval 30"/>
            <p:cNvSpPr>
              <a:spLocks noChangeArrowheads="1"/>
            </p:cNvSpPr>
            <p:nvPr/>
          </p:nvSpPr>
          <p:spPr bwMode="auto">
            <a:xfrm>
              <a:off x="5181600" y="2971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4" name="Oval 32"/>
            <p:cNvSpPr>
              <a:spLocks noChangeArrowheads="1"/>
            </p:cNvSpPr>
            <p:nvPr/>
          </p:nvSpPr>
          <p:spPr bwMode="auto">
            <a:xfrm>
              <a:off x="5803900" y="4114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5" name="Oval 33"/>
            <p:cNvSpPr>
              <a:spLocks noChangeArrowheads="1"/>
            </p:cNvSpPr>
            <p:nvPr/>
          </p:nvSpPr>
          <p:spPr bwMode="auto">
            <a:xfrm>
              <a:off x="5803900" y="4495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6" name="Oval 34"/>
            <p:cNvSpPr>
              <a:spLocks noChangeArrowheads="1"/>
            </p:cNvSpPr>
            <p:nvPr/>
          </p:nvSpPr>
          <p:spPr bwMode="auto">
            <a:xfrm>
              <a:off x="5499100" y="4114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7" name="Oval 35"/>
            <p:cNvSpPr>
              <a:spLocks noChangeArrowheads="1"/>
            </p:cNvSpPr>
            <p:nvPr/>
          </p:nvSpPr>
          <p:spPr bwMode="auto">
            <a:xfrm>
              <a:off x="5791200" y="4953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8" name="Oval 36"/>
            <p:cNvSpPr>
              <a:spLocks noChangeArrowheads="1"/>
            </p:cNvSpPr>
            <p:nvPr/>
          </p:nvSpPr>
          <p:spPr bwMode="auto">
            <a:xfrm>
              <a:off x="5791200" y="5257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49" name="Oval 37"/>
            <p:cNvSpPr>
              <a:spLocks noChangeArrowheads="1"/>
            </p:cNvSpPr>
            <p:nvPr/>
          </p:nvSpPr>
          <p:spPr bwMode="auto">
            <a:xfrm>
              <a:off x="5486400" y="4953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0" name="Oval 38"/>
            <p:cNvSpPr>
              <a:spLocks noChangeArrowheads="1"/>
            </p:cNvSpPr>
            <p:nvPr/>
          </p:nvSpPr>
          <p:spPr bwMode="auto">
            <a:xfrm>
              <a:off x="5486400" y="5257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1" name="Oval 39"/>
            <p:cNvSpPr>
              <a:spLocks noChangeArrowheads="1"/>
            </p:cNvSpPr>
            <p:nvPr/>
          </p:nvSpPr>
          <p:spPr bwMode="auto">
            <a:xfrm>
              <a:off x="5181600" y="4953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952" name="Oval 44"/>
            <p:cNvSpPr>
              <a:spLocks noChangeArrowheads="1"/>
            </p:cNvSpPr>
            <p:nvPr/>
          </p:nvSpPr>
          <p:spPr bwMode="auto">
            <a:xfrm>
              <a:off x="5181600" y="5257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6925" name="Group 60"/>
          <p:cNvGrpSpPr>
            <a:grpSpLocks/>
          </p:cNvGrpSpPr>
          <p:nvPr/>
        </p:nvGrpSpPr>
        <p:grpSpPr bwMode="auto">
          <a:xfrm>
            <a:off x="2732088" y="1951038"/>
            <a:ext cx="1739900" cy="3571875"/>
            <a:chOff x="4157980" y="2072767"/>
            <a:chExt cx="1739900" cy="3197225"/>
          </a:xfrm>
        </p:grpSpPr>
        <p:sp>
          <p:nvSpPr>
            <p:cNvPr id="166928" name="AutoShape 20"/>
            <p:cNvSpPr>
              <a:spLocks noChangeArrowheads="1"/>
            </p:cNvSpPr>
            <p:nvPr/>
          </p:nvSpPr>
          <p:spPr bwMode="auto">
            <a:xfrm>
              <a:off x="4337368" y="2310892"/>
              <a:ext cx="1295400" cy="381000"/>
            </a:xfrm>
            <a:prstGeom prst="rightArrow">
              <a:avLst>
                <a:gd name="adj1" fmla="val 50000"/>
                <a:gd name="adj2" fmla="val 85000"/>
              </a:avLst>
            </a:prstGeom>
            <a:solidFill>
              <a:srgbClr val="FF99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6929" name="AutoShape 21"/>
            <p:cNvSpPr>
              <a:spLocks noChangeArrowheads="1"/>
            </p:cNvSpPr>
            <p:nvPr/>
          </p:nvSpPr>
          <p:spPr bwMode="auto">
            <a:xfrm>
              <a:off x="4388168" y="4888992"/>
              <a:ext cx="1295400" cy="381000"/>
            </a:xfrm>
            <a:prstGeom prst="rightArrow">
              <a:avLst>
                <a:gd name="adj1" fmla="val 50000"/>
                <a:gd name="adj2" fmla="val 85000"/>
              </a:avLst>
            </a:prstGeom>
            <a:solidFill>
              <a:srgbClr val="FFFF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6930" name="AutoShape 22"/>
            <p:cNvSpPr>
              <a:spLocks noChangeArrowheads="1"/>
            </p:cNvSpPr>
            <p:nvPr/>
          </p:nvSpPr>
          <p:spPr bwMode="auto">
            <a:xfrm rot="-2800490">
              <a:off x="4152424" y="3708686"/>
              <a:ext cx="1814512" cy="381000"/>
            </a:xfrm>
            <a:prstGeom prst="rightArrow">
              <a:avLst>
                <a:gd name="adj1" fmla="val 50000"/>
                <a:gd name="adj2" fmla="val 119062"/>
              </a:avLst>
            </a:prstGeom>
            <a:solidFill>
              <a:srgbClr val="FFFF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6931" name="AutoShape 23"/>
            <p:cNvSpPr>
              <a:spLocks noChangeArrowheads="1"/>
            </p:cNvSpPr>
            <p:nvPr/>
          </p:nvSpPr>
          <p:spPr bwMode="auto">
            <a:xfrm rot="2427766">
              <a:off x="4157980" y="3433255"/>
              <a:ext cx="1739900" cy="381000"/>
            </a:xfrm>
            <a:prstGeom prst="rightArrow">
              <a:avLst>
                <a:gd name="adj1" fmla="val 50000"/>
                <a:gd name="adj2" fmla="val 114167"/>
              </a:avLst>
            </a:prstGeom>
            <a:solidFill>
              <a:srgbClr val="FF99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6932" name="Text Box 24"/>
            <p:cNvSpPr txBox="1">
              <a:spLocks noChangeArrowheads="1"/>
            </p:cNvSpPr>
            <p:nvPr/>
          </p:nvSpPr>
          <p:spPr bwMode="auto">
            <a:xfrm>
              <a:off x="4540568" y="2072767"/>
              <a:ext cx="769763" cy="358143"/>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even</a:t>
              </a:r>
            </a:p>
          </p:txBody>
        </p:sp>
        <p:sp>
          <p:nvSpPr>
            <p:cNvPr id="166933" name="Text Box 25"/>
            <p:cNvSpPr txBox="1">
              <a:spLocks noChangeArrowheads="1"/>
            </p:cNvSpPr>
            <p:nvPr/>
          </p:nvSpPr>
          <p:spPr bwMode="auto">
            <a:xfrm rot="18630171">
              <a:off x="4227945" y="3834862"/>
              <a:ext cx="587147" cy="400110"/>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odd</a:t>
              </a:r>
            </a:p>
          </p:txBody>
        </p:sp>
        <p:sp>
          <p:nvSpPr>
            <p:cNvPr id="166934" name="Text Box 26"/>
            <p:cNvSpPr txBox="1">
              <a:spLocks noChangeArrowheads="1"/>
            </p:cNvSpPr>
            <p:nvPr/>
          </p:nvSpPr>
          <p:spPr bwMode="auto">
            <a:xfrm rot="2580647">
              <a:off x="4526919" y="2984308"/>
              <a:ext cx="655949" cy="358143"/>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odd</a:t>
              </a:r>
            </a:p>
          </p:txBody>
        </p:sp>
        <p:sp>
          <p:nvSpPr>
            <p:cNvPr id="166935" name="Text Box 27"/>
            <p:cNvSpPr txBox="1">
              <a:spLocks noChangeArrowheads="1"/>
            </p:cNvSpPr>
            <p:nvPr/>
          </p:nvSpPr>
          <p:spPr bwMode="auto">
            <a:xfrm>
              <a:off x="4616768" y="4587367"/>
              <a:ext cx="769763" cy="358143"/>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even</a:t>
              </a:r>
            </a:p>
          </p:txBody>
        </p:sp>
      </p:grpSp>
      <p:sp>
        <p:nvSpPr>
          <p:cNvPr id="60" name="Text Box 24"/>
          <p:cNvSpPr txBox="1">
            <a:spLocks noChangeArrowheads="1"/>
          </p:cNvSpPr>
          <p:nvPr/>
        </p:nvSpPr>
        <p:spPr bwMode="auto">
          <a:xfrm>
            <a:off x="7466013" y="3233738"/>
            <a:ext cx="1492250" cy="954087"/>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Diff at most 1 </a:t>
            </a:r>
          </a:p>
        </p:txBody>
      </p:sp>
      <p:sp>
        <p:nvSpPr>
          <p:cNvPr id="166927" name="Text Box 42"/>
          <p:cNvSpPr txBox="1">
            <a:spLocks noChangeArrowheads="1"/>
          </p:cNvSpPr>
          <p:nvPr/>
        </p:nvSpPr>
        <p:spPr bwMode="auto">
          <a:xfrm>
            <a:off x="6505575" y="4094163"/>
            <a:ext cx="792163" cy="830262"/>
          </a:xfrm>
          <a:prstGeom prst="rect">
            <a:avLst/>
          </a:prstGeom>
          <a:noFill/>
          <a:ln w="9525" algn="ctr">
            <a:noFill/>
            <a:miter lim="800000"/>
            <a:headEnd/>
            <a:tailEnd/>
          </a:ln>
        </p:spPr>
        <p:txBody>
          <a:bodyPr wrap="none">
            <a:spAutoFit/>
          </a:bodyPr>
          <a:lstStyle/>
          <a:p>
            <a:pPr algn="ctr">
              <a:spcBef>
                <a:spcPct val="0"/>
              </a:spcBef>
            </a:pPr>
            <a:r>
              <a:rPr lang="en-US" b="0">
                <a:solidFill>
                  <a:srgbClr val="FF9999"/>
                </a:solidFill>
                <a:latin typeface="Arial" pitchFamily="34" charset="0"/>
                <a:cs typeface="Arial" pitchFamily="34" charset="0"/>
              </a:rPr>
              <a:t>Odd</a:t>
            </a:r>
          </a:p>
          <a:p>
            <a:pPr algn="ctr">
              <a:spcBef>
                <a:spcPct val="0"/>
              </a:spcBef>
            </a:pPr>
            <a:r>
              <a:rPr lang="en-US" b="0">
                <a:solidFill>
                  <a:schemeClr val="tx1"/>
                </a:solidFill>
                <a:latin typeface="Arial" pitchFamily="34" charset="0"/>
                <a:cs typeface="Arial"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59" grpId="0" animBg="1"/>
      <p:bldP spid="60"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2"/>
          <p:cNvSpPr>
            <a:spLocks noGrp="1"/>
          </p:cNvSpPr>
          <p:nvPr>
            <p:ph type="ftr" sz="quarter" idx="10"/>
          </p:nvPr>
        </p:nvSpPr>
        <p:spPr/>
        <p:txBody>
          <a:bodyPr/>
          <a:lstStyle/>
          <a:p>
            <a:pPr>
              <a:defRPr/>
            </a:pPr>
            <a:r>
              <a:rPr lang="en-US"/>
              <a:t>Art of Multiprocessor Programming</a:t>
            </a:r>
          </a:p>
        </p:txBody>
      </p:sp>
      <p:sp>
        <p:nvSpPr>
          <p:cNvPr id="29" name="Slide Number Placeholder 3"/>
          <p:cNvSpPr>
            <a:spLocks noGrp="1"/>
          </p:cNvSpPr>
          <p:nvPr>
            <p:ph type="sldNum" sz="quarter" idx="11"/>
          </p:nvPr>
        </p:nvSpPr>
        <p:spPr/>
        <p:txBody>
          <a:bodyPr/>
          <a:lstStyle/>
          <a:p>
            <a:pPr>
              <a:defRPr/>
            </a:pPr>
            <a:fld id="{38F64624-87C3-491F-858F-5B443AEABD3C}" type="slidenum">
              <a:rPr lang="en-US"/>
              <a:pPr>
                <a:defRPr/>
              </a:pPr>
              <a:t>170</a:t>
            </a:fld>
            <a:endParaRPr lang="en-US"/>
          </a:p>
        </p:txBody>
      </p:sp>
      <p:sp>
        <p:nvSpPr>
          <p:cNvPr id="167940" name="Rectangle 2"/>
          <p:cNvSpPr>
            <a:spLocks noGrp="1" noChangeArrowheads="1"/>
          </p:cNvSpPr>
          <p:nvPr>
            <p:ph type="title"/>
          </p:nvPr>
        </p:nvSpPr>
        <p:spPr>
          <a:xfrm>
            <a:off x="685800" y="379413"/>
            <a:ext cx="7772400" cy="1143000"/>
          </a:xfrm>
        </p:spPr>
        <p:txBody>
          <a:bodyPr/>
          <a:lstStyle/>
          <a:p>
            <a:r>
              <a:rPr lang="en-US"/>
              <a:t>Bitonic[2k] Layout Details</a:t>
            </a:r>
          </a:p>
        </p:txBody>
      </p:sp>
      <p:sp>
        <p:nvSpPr>
          <p:cNvPr id="167941" name="Rectangle 3"/>
          <p:cNvSpPr>
            <a:spLocks noChangeArrowheads="1"/>
          </p:cNvSpPr>
          <p:nvPr/>
        </p:nvSpPr>
        <p:spPr bwMode="auto">
          <a:xfrm>
            <a:off x="4419600" y="2438400"/>
            <a:ext cx="2743200" cy="1447800"/>
          </a:xfrm>
          <a:prstGeom prst="rect">
            <a:avLst/>
          </a:prstGeom>
          <a:solidFill>
            <a:schemeClr val="accent1"/>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Merger[k]</a:t>
            </a:r>
          </a:p>
        </p:txBody>
      </p:sp>
      <p:sp>
        <p:nvSpPr>
          <p:cNvPr id="167942" name="Rectangle 4"/>
          <p:cNvSpPr>
            <a:spLocks noChangeArrowheads="1"/>
          </p:cNvSpPr>
          <p:nvPr/>
        </p:nvSpPr>
        <p:spPr bwMode="auto">
          <a:xfrm>
            <a:off x="4419600" y="4191000"/>
            <a:ext cx="2743200" cy="1447800"/>
          </a:xfrm>
          <a:prstGeom prst="rect">
            <a:avLst/>
          </a:prstGeom>
          <a:solidFill>
            <a:srgbClr val="FF9900"/>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Merger[k]</a:t>
            </a:r>
          </a:p>
        </p:txBody>
      </p:sp>
      <p:sp>
        <p:nvSpPr>
          <p:cNvPr id="167943" name="AutoShape 5"/>
          <p:cNvSpPr>
            <a:spLocks noChangeArrowheads="1"/>
          </p:cNvSpPr>
          <p:nvPr/>
        </p:nvSpPr>
        <p:spPr bwMode="auto">
          <a:xfrm>
            <a:off x="7696200" y="2438400"/>
            <a:ext cx="304800" cy="6096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7944" name="AutoShape 6"/>
          <p:cNvSpPr>
            <a:spLocks noChangeArrowheads="1"/>
          </p:cNvSpPr>
          <p:nvPr/>
        </p:nvSpPr>
        <p:spPr bwMode="auto">
          <a:xfrm>
            <a:off x="7696200" y="3200400"/>
            <a:ext cx="304800" cy="6096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7945" name="AutoShape 7"/>
          <p:cNvSpPr>
            <a:spLocks noChangeArrowheads="1"/>
          </p:cNvSpPr>
          <p:nvPr/>
        </p:nvSpPr>
        <p:spPr bwMode="auto">
          <a:xfrm>
            <a:off x="7696200" y="4191000"/>
            <a:ext cx="304800" cy="6096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7946" name="AutoShape 8"/>
          <p:cNvSpPr>
            <a:spLocks noChangeArrowheads="1"/>
          </p:cNvSpPr>
          <p:nvPr/>
        </p:nvSpPr>
        <p:spPr bwMode="auto">
          <a:xfrm>
            <a:off x="7696200" y="4953000"/>
            <a:ext cx="304800" cy="6096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7947" name="Freeform 9"/>
          <p:cNvSpPr>
            <a:spLocks/>
          </p:cNvSpPr>
          <p:nvPr/>
        </p:nvSpPr>
        <p:spPr bwMode="auto">
          <a:xfrm>
            <a:off x="7162800" y="2590800"/>
            <a:ext cx="482600" cy="1588"/>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48" name="Freeform 10"/>
          <p:cNvSpPr>
            <a:spLocks/>
          </p:cNvSpPr>
          <p:nvPr/>
        </p:nvSpPr>
        <p:spPr bwMode="auto">
          <a:xfrm>
            <a:off x="7162800" y="2971800"/>
            <a:ext cx="457200" cy="457200"/>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49" name="Line 11"/>
          <p:cNvSpPr>
            <a:spLocks noChangeShapeType="1"/>
          </p:cNvSpPr>
          <p:nvPr/>
        </p:nvSpPr>
        <p:spPr bwMode="auto">
          <a:xfrm flipV="1">
            <a:off x="7162800" y="2895600"/>
            <a:ext cx="4572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50" name="Line 12"/>
          <p:cNvSpPr>
            <a:spLocks noChangeShapeType="1"/>
          </p:cNvSpPr>
          <p:nvPr/>
        </p:nvSpPr>
        <p:spPr bwMode="auto">
          <a:xfrm flipV="1">
            <a:off x="7162800" y="3657600"/>
            <a:ext cx="4572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51" name="Line 13"/>
          <p:cNvSpPr>
            <a:spLocks noChangeShapeType="1"/>
          </p:cNvSpPr>
          <p:nvPr/>
        </p:nvSpPr>
        <p:spPr bwMode="auto">
          <a:xfrm flipV="1">
            <a:off x="7162800" y="4648200"/>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52" name="Line 14"/>
          <p:cNvSpPr>
            <a:spLocks noChangeShapeType="1"/>
          </p:cNvSpPr>
          <p:nvPr/>
        </p:nvSpPr>
        <p:spPr bwMode="auto">
          <a:xfrm>
            <a:off x="7162800" y="5410200"/>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53" name="Line 15"/>
          <p:cNvSpPr>
            <a:spLocks noChangeShapeType="1"/>
          </p:cNvSpPr>
          <p:nvPr/>
        </p:nvSpPr>
        <p:spPr bwMode="auto">
          <a:xfrm>
            <a:off x="7162800" y="3352800"/>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54" name="Line 16"/>
          <p:cNvSpPr>
            <a:spLocks noChangeShapeType="1"/>
          </p:cNvSpPr>
          <p:nvPr/>
        </p:nvSpPr>
        <p:spPr bwMode="auto">
          <a:xfrm>
            <a:off x="7162800" y="3733800"/>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55" name="Rectangle 17"/>
          <p:cNvSpPr>
            <a:spLocks noChangeArrowheads="1"/>
          </p:cNvSpPr>
          <p:nvPr/>
        </p:nvSpPr>
        <p:spPr bwMode="auto">
          <a:xfrm>
            <a:off x="4191000" y="2133600"/>
            <a:ext cx="4038600" cy="3733800"/>
          </a:xfrm>
          <a:prstGeom prst="rect">
            <a:avLst/>
          </a:prstGeom>
          <a:noFill/>
          <a:ln w="38100" algn="ctr">
            <a:solidFill>
              <a:schemeClr val="tx1"/>
            </a:solidFill>
            <a:prstDash val="dash"/>
            <a:miter lim="800000"/>
            <a:headEnd/>
            <a:tailEnd/>
          </a:ln>
        </p:spPr>
        <p:txBody>
          <a:bodyPr wrap="none" anchor="ctr"/>
          <a:lstStyle/>
          <a:p>
            <a:endParaRPr lang="en-US">
              <a:latin typeface="Arial" pitchFamily="34" charset="0"/>
              <a:cs typeface="Arial" pitchFamily="34" charset="0"/>
            </a:endParaRPr>
          </a:p>
        </p:txBody>
      </p:sp>
      <p:sp>
        <p:nvSpPr>
          <p:cNvPr id="167956" name="Rectangle 18"/>
          <p:cNvSpPr>
            <a:spLocks noChangeArrowheads="1"/>
          </p:cNvSpPr>
          <p:nvPr/>
        </p:nvSpPr>
        <p:spPr bwMode="auto">
          <a:xfrm>
            <a:off x="914400" y="4316413"/>
            <a:ext cx="1752600" cy="1447800"/>
          </a:xfrm>
          <a:prstGeom prst="rect">
            <a:avLst/>
          </a:prstGeom>
          <a:solidFill>
            <a:srgbClr val="FFFF99"/>
          </a:solidFill>
          <a:ln w="38100" algn="ctr">
            <a:solidFill>
              <a:schemeClr val="tx1"/>
            </a:solidFill>
            <a:miter lim="800000"/>
            <a:headEnd/>
            <a:tailEnd/>
          </a:ln>
        </p:spPr>
        <p:txBody>
          <a:bodyPr wrap="none" anchor="ctr"/>
          <a:lstStyle/>
          <a:p>
            <a:pPr algn="ctr">
              <a:spcBef>
                <a:spcPct val="0"/>
              </a:spcBef>
            </a:pPr>
            <a:r>
              <a:rPr lang="en-US" b="0">
                <a:latin typeface="Arial" pitchFamily="34" charset="0"/>
                <a:cs typeface="Arial" pitchFamily="34" charset="0"/>
              </a:rPr>
              <a:t>Bitonic[k]</a:t>
            </a:r>
          </a:p>
        </p:txBody>
      </p:sp>
      <p:sp>
        <p:nvSpPr>
          <p:cNvPr id="167957" name="Rectangle 19"/>
          <p:cNvSpPr>
            <a:spLocks noChangeArrowheads="1"/>
          </p:cNvSpPr>
          <p:nvPr/>
        </p:nvSpPr>
        <p:spPr bwMode="auto">
          <a:xfrm>
            <a:off x="914400" y="2222500"/>
            <a:ext cx="1752600" cy="1447800"/>
          </a:xfrm>
          <a:prstGeom prst="rect">
            <a:avLst/>
          </a:prstGeom>
          <a:solidFill>
            <a:srgbClr val="FF9999"/>
          </a:solidFill>
          <a:ln w="38100" algn="ctr">
            <a:solidFill>
              <a:schemeClr val="tx1"/>
            </a:solidFill>
            <a:miter lim="800000"/>
            <a:headEnd/>
            <a:tailEnd/>
          </a:ln>
        </p:spPr>
        <p:txBody>
          <a:bodyPr wrap="none" anchor="ctr"/>
          <a:lstStyle/>
          <a:p>
            <a:pPr algn="ctr">
              <a:spcBef>
                <a:spcPct val="0"/>
              </a:spcBef>
            </a:pPr>
            <a:r>
              <a:rPr lang="en-US" b="0">
                <a:latin typeface="Arial" pitchFamily="34" charset="0"/>
                <a:cs typeface="Arial" pitchFamily="34" charset="0"/>
              </a:rPr>
              <a:t>Bitonic[k]</a:t>
            </a:r>
          </a:p>
        </p:txBody>
      </p:sp>
      <p:sp>
        <p:nvSpPr>
          <p:cNvPr id="167958" name="AutoShape 20"/>
          <p:cNvSpPr>
            <a:spLocks noChangeArrowheads="1"/>
          </p:cNvSpPr>
          <p:nvPr/>
        </p:nvSpPr>
        <p:spPr bwMode="auto">
          <a:xfrm>
            <a:off x="2782888" y="2603500"/>
            <a:ext cx="1295400" cy="381000"/>
          </a:xfrm>
          <a:prstGeom prst="rightArrow">
            <a:avLst>
              <a:gd name="adj1" fmla="val 50000"/>
              <a:gd name="adj2" fmla="val 85000"/>
            </a:avLst>
          </a:prstGeom>
          <a:solidFill>
            <a:srgbClr val="FF99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7959" name="AutoShape 21"/>
          <p:cNvSpPr>
            <a:spLocks noChangeArrowheads="1"/>
          </p:cNvSpPr>
          <p:nvPr/>
        </p:nvSpPr>
        <p:spPr bwMode="auto">
          <a:xfrm>
            <a:off x="2833688" y="5181600"/>
            <a:ext cx="1295400" cy="381000"/>
          </a:xfrm>
          <a:prstGeom prst="rightArrow">
            <a:avLst>
              <a:gd name="adj1" fmla="val 50000"/>
              <a:gd name="adj2" fmla="val 85000"/>
            </a:avLst>
          </a:prstGeom>
          <a:solidFill>
            <a:srgbClr val="FFFF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7960" name="AutoShape 22"/>
          <p:cNvSpPr>
            <a:spLocks noChangeArrowheads="1"/>
          </p:cNvSpPr>
          <p:nvPr/>
        </p:nvSpPr>
        <p:spPr bwMode="auto">
          <a:xfrm rot="-2800490">
            <a:off x="2597944" y="4001294"/>
            <a:ext cx="1814512" cy="381000"/>
          </a:xfrm>
          <a:prstGeom prst="rightArrow">
            <a:avLst>
              <a:gd name="adj1" fmla="val 50000"/>
              <a:gd name="adj2" fmla="val 119062"/>
            </a:avLst>
          </a:prstGeom>
          <a:solidFill>
            <a:srgbClr val="FFFF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7961" name="AutoShape 23"/>
          <p:cNvSpPr>
            <a:spLocks noChangeArrowheads="1"/>
          </p:cNvSpPr>
          <p:nvPr/>
        </p:nvSpPr>
        <p:spPr bwMode="auto">
          <a:xfrm rot="2427766">
            <a:off x="2603500" y="3725863"/>
            <a:ext cx="1739900" cy="381000"/>
          </a:xfrm>
          <a:prstGeom prst="rightArrow">
            <a:avLst>
              <a:gd name="adj1" fmla="val 50000"/>
              <a:gd name="adj2" fmla="val 114167"/>
            </a:avLst>
          </a:prstGeom>
          <a:solidFill>
            <a:srgbClr val="FF99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67962" name="Text Box 24"/>
          <p:cNvSpPr txBox="1">
            <a:spLocks noChangeArrowheads="1"/>
          </p:cNvSpPr>
          <p:nvPr/>
        </p:nvSpPr>
        <p:spPr bwMode="auto">
          <a:xfrm>
            <a:off x="2986088" y="2365375"/>
            <a:ext cx="769763" cy="400110"/>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even</a:t>
            </a:r>
          </a:p>
        </p:txBody>
      </p:sp>
      <p:sp>
        <p:nvSpPr>
          <p:cNvPr id="167963" name="Text Box 25"/>
          <p:cNvSpPr txBox="1">
            <a:spLocks noChangeArrowheads="1"/>
          </p:cNvSpPr>
          <p:nvPr/>
        </p:nvSpPr>
        <p:spPr bwMode="auto">
          <a:xfrm rot="-2969829">
            <a:off x="2639064" y="4127470"/>
            <a:ext cx="655949" cy="400110"/>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odd</a:t>
            </a:r>
          </a:p>
        </p:txBody>
      </p:sp>
      <p:sp>
        <p:nvSpPr>
          <p:cNvPr id="167964" name="Text Box 26"/>
          <p:cNvSpPr txBox="1">
            <a:spLocks noChangeArrowheads="1"/>
          </p:cNvSpPr>
          <p:nvPr/>
        </p:nvSpPr>
        <p:spPr bwMode="auto">
          <a:xfrm rot="2580647">
            <a:off x="2972439" y="3255933"/>
            <a:ext cx="655949" cy="400110"/>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odd</a:t>
            </a:r>
          </a:p>
        </p:txBody>
      </p:sp>
      <p:sp>
        <p:nvSpPr>
          <p:cNvPr id="167965" name="Text Box 27"/>
          <p:cNvSpPr txBox="1">
            <a:spLocks noChangeArrowheads="1"/>
          </p:cNvSpPr>
          <p:nvPr/>
        </p:nvSpPr>
        <p:spPr bwMode="auto">
          <a:xfrm>
            <a:off x="3062288" y="4879975"/>
            <a:ext cx="769763" cy="400110"/>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even</a:t>
            </a:r>
          </a:p>
        </p:txBody>
      </p:sp>
      <p:sp>
        <p:nvSpPr>
          <p:cNvPr id="167966" name="Rectangle 29"/>
          <p:cNvSpPr>
            <a:spLocks noChangeArrowheads="1"/>
          </p:cNvSpPr>
          <p:nvPr/>
        </p:nvSpPr>
        <p:spPr bwMode="auto">
          <a:xfrm>
            <a:off x="5169088" y="1487488"/>
            <a:ext cx="2390398" cy="646331"/>
          </a:xfrm>
          <a:prstGeom prst="rect">
            <a:avLst/>
          </a:prstGeom>
          <a:noFill/>
          <a:ln w="9525">
            <a:noFill/>
            <a:miter lim="800000"/>
            <a:headEnd/>
            <a:tailEnd/>
          </a:ln>
        </p:spPr>
        <p:txBody>
          <a:bodyPr wrap="none">
            <a:spAutoFit/>
          </a:bodyPr>
          <a:lstStyle/>
          <a:p>
            <a:pPr algn="ctr">
              <a:spcBef>
                <a:spcPct val="0"/>
              </a:spcBef>
            </a:pPr>
            <a:r>
              <a:rPr lang="en-US" sz="3600" b="0">
                <a:latin typeface="Arial" pitchFamily="34" charset="0"/>
                <a:cs typeface="Arial" pitchFamily="34" charset="0"/>
              </a:rPr>
              <a:t>Merger[2k]</a:t>
            </a:r>
          </a:p>
        </p:txBody>
      </p:sp>
      <p:sp>
        <p:nvSpPr>
          <p:cNvPr id="167967" name="Line 6"/>
          <p:cNvSpPr>
            <a:spLocks noChangeShapeType="1"/>
          </p:cNvSpPr>
          <p:nvPr/>
        </p:nvSpPr>
        <p:spPr bwMode="auto">
          <a:xfrm>
            <a:off x="8010525" y="25749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68" name="Line 6"/>
          <p:cNvSpPr>
            <a:spLocks noChangeShapeType="1"/>
          </p:cNvSpPr>
          <p:nvPr/>
        </p:nvSpPr>
        <p:spPr bwMode="auto">
          <a:xfrm>
            <a:off x="8010525" y="29352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69" name="Line 6"/>
          <p:cNvSpPr>
            <a:spLocks noChangeShapeType="1"/>
          </p:cNvSpPr>
          <p:nvPr/>
        </p:nvSpPr>
        <p:spPr bwMode="auto">
          <a:xfrm>
            <a:off x="8010525" y="33321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70" name="Line 6"/>
          <p:cNvSpPr>
            <a:spLocks noChangeShapeType="1"/>
          </p:cNvSpPr>
          <p:nvPr/>
        </p:nvSpPr>
        <p:spPr bwMode="auto">
          <a:xfrm>
            <a:off x="8010525" y="36941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71" name="Line 6"/>
          <p:cNvSpPr>
            <a:spLocks noChangeShapeType="1"/>
          </p:cNvSpPr>
          <p:nvPr/>
        </p:nvSpPr>
        <p:spPr bwMode="auto">
          <a:xfrm>
            <a:off x="8010525" y="43275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72" name="Line 6"/>
          <p:cNvSpPr>
            <a:spLocks noChangeShapeType="1"/>
          </p:cNvSpPr>
          <p:nvPr/>
        </p:nvSpPr>
        <p:spPr bwMode="auto">
          <a:xfrm>
            <a:off x="8010525" y="47244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73" name="Line 6"/>
          <p:cNvSpPr>
            <a:spLocks noChangeShapeType="1"/>
          </p:cNvSpPr>
          <p:nvPr/>
        </p:nvSpPr>
        <p:spPr bwMode="auto">
          <a:xfrm>
            <a:off x="8010525" y="51212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7974" name="Line 6"/>
          <p:cNvSpPr>
            <a:spLocks noChangeShapeType="1"/>
          </p:cNvSpPr>
          <p:nvPr/>
        </p:nvSpPr>
        <p:spPr bwMode="auto">
          <a:xfrm>
            <a:off x="8010525" y="54832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2"/>
          <p:cNvSpPr>
            <a:spLocks noGrp="1"/>
          </p:cNvSpPr>
          <p:nvPr>
            <p:ph type="ftr" sz="quarter" idx="10"/>
          </p:nvPr>
        </p:nvSpPr>
        <p:spPr/>
        <p:txBody>
          <a:bodyPr/>
          <a:lstStyle/>
          <a:p>
            <a:pPr>
              <a:defRPr/>
            </a:pPr>
            <a:r>
              <a:rPr lang="en-US" dirty="0"/>
              <a:t>Art of Multiprocessor Programming</a:t>
            </a:r>
          </a:p>
        </p:txBody>
      </p:sp>
      <p:sp>
        <p:nvSpPr>
          <p:cNvPr id="29" name="Slide Number Placeholder 3"/>
          <p:cNvSpPr>
            <a:spLocks noGrp="1"/>
          </p:cNvSpPr>
          <p:nvPr>
            <p:ph type="sldNum" sz="quarter" idx="11"/>
          </p:nvPr>
        </p:nvSpPr>
        <p:spPr/>
        <p:txBody>
          <a:bodyPr/>
          <a:lstStyle/>
          <a:p>
            <a:pPr>
              <a:defRPr/>
            </a:pPr>
            <a:fld id="{9411F06B-0E65-405C-9347-73AFE8052D2B}" type="slidenum">
              <a:rPr lang="en-US"/>
              <a:pPr>
                <a:defRPr/>
              </a:pPr>
              <a:t>171</a:t>
            </a:fld>
            <a:endParaRPr lang="en-US"/>
          </a:p>
        </p:txBody>
      </p:sp>
      <p:sp>
        <p:nvSpPr>
          <p:cNvPr id="168964" name="Rectangle 2"/>
          <p:cNvSpPr>
            <a:spLocks noGrp="1" noChangeArrowheads="1"/>
          </p:cNvSpPr>
          <p:nvPr>
            <p:ph type="title"/>
          </p:nvPr>
        </p:nvSpPr>
        <p:spPr>
          <a:xfrm>
            <a:off x="685800" y="379413"/>
            <a:ext cx="7772400" cy="1143000"/>
          </a:xfrm>
        </p:spPr>
        <p:txBody>
          <a:bodyPr/>
          <a:lstStyle/>
          <a:p>
            <a:r>
              <a:rPr lang="en-US"/>
              <a:t>By induction hypothesis</a:t>
            </a:r>
          </a:p>
        </p:txBody>
      </p:sp>
      <p:sp>
        <p:nvSpPr>
          <p:cNvPr id="163845" name="Rectangle 3"/>
          <p:cNvSpPr>
            <a:spLocks noChangeArrowheads="1"/>
          </p:cNvSpPr>
          <p:nvPr/>
        </p:nvSpPr>
        <p:spPr bwMode="auto">
          <a:xfrm>
            <a:off x="4419600" y="24384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63846" name="Rectangle 4"/>
          <p:cNvSpPr>
            <a:spLocks noChangeArrowheads="1"/>
          </p:cNvSpPr>
          <p:nvPr/>
        </p:nvSpPr>
        <p:spPr bwMode="auto">
          <a:xfrm>
            <a:off x="4419600" y="41910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63847" name="AutoShape 5"/>
          <p:cNvSpPr>
            <a:spLocks noChangeArrowheads="1"/>
          </p:cNvSpPr>
          <p:nvPr/>
        </p:nvSpPr>
        <p:spPr bwMode="auto">
          <a:xfrm>
            <a:off x="7696200" y="24384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63848" name="AutoShape 6"/>
          <p:cNvSpPr>
            <a:spLocks noChangeArrowheads="1"/>
          </p:cNvSpPr>
          <p:nvPr/>
        </p:nvSpPr>
        <p:spPr bwMode="auto">
          <a:xfrm>
            <a:off x="7696200" y="32004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63849" name="AutoShape 7"/>
          <p:cNvSpPr>
            <a:spLocks noChangeArrowheads="1"/>
          </p:cNvSpPr>
          <p:nvPr/>
        </p:nvSpPr>
        <p:spPr bwMode="auto">
          <a:xfrm>
            <a:off x="7696200" y="41910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63850" name="AutoShape 8"/>
          <p:cNvSpPr>
            <a:spLocks noChangeArrowheads="1"/>
          </p:cNvSpPr>
          <p:nvPr/>
        </p:nvSpPr>
        <p:spPr bwMode="auto">
          <a:xfrm>
            <a:off x="7696200" y="49530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68971" name="Freeform 9"/>
          <p:cNvSpPr>
            <a:spLocks/>
          </p:cNvSpPr>
          <p:nvPr/>
        </p:nvSpPr>
        <p:spPr bwMode="auto">
          <a:xfrm>
            <a:off x="7162800" y="2590800"/>
            <a:ext cx="482600" cy="1588"/>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3852" name="Freeform 10"/>
          <p:cNvSpPr>
            <a:spLocks/>
          </p:cNvSpPr>
          <p:nvPr/>
        </p:nvSpPr>
        <p:spPr bwMode="auto">
          <a:xfrm>
            <a:off x="7162800" y="2971800"/>
            <a:ext cx="457200" cy="457200"/>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solidFill>
            <a:schemeClr val="bg1">
              <a:lumMod val="95000"/>
            </a:schemeClr>
          </a:solidFill>
          <a:ln w="38100">
            <a:solidFill>
              <a:schemeClr val="tx1"/>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68973" name="Line 11"/>
          <p:cNvSpPr>
            <a:spLocks noChangeShapeType="1"/>
          </p:cNvSpPr>
          <p:nvPr/>
        </p:nvSpPr>
        <p:spPr bwMode="auto">
          <a:xfrm flipV="1">
            <a:off x="7162800" y="2895600"/>
            <a:ext cx="4572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74" name="Line 12"/>
          <p:cNvSpPr>
            <a:spLocks noChangeShapeType="1"/>
          </p:cNvSpPr>
          <p:nvPr/>
        </p:nvSpPr>
        <p:spPr bwMode="auto">
          <a:xfrm flipV="1">
            <a:off x="7162800" y="3657600"/>
            <a:ext cx="4572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75" name="Line 13"/>
          <p:cNvSpPr>
            <a:spLocks noChangeShapeType="1"/>
          </p:cNvSpPr>
          <p:nvPr/>
        </p:nvSpPr>
        <p:spPr bwMode="auto">
          <a:xfrm flipV="1">
            <a:off x="7162800" y="4648200"/>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76" name="Line 14"/>
          <p:cNvSpPr>
            <a:spLocks noChangeShapeType="1"/>
          </p:cNvSpPr>
          <p:nvPr/>
        </p:nvSpPr>
        <p:spPr bwMode="auto">
          <a:xfrm>
            <a:off x="7162800" y="5410200"/>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77" name="Line 15"/>
          <p:cNvSpPr>
            <a:spLocks noChangeShapeType="1"/>
          </p:cNvSpPr>
          <p:nvPr/>
        </p:nvSpPr>
        <p:spPr bwMode="auto">
          <a:xfrm>
            <a:off x="7162800" y="3352800"/>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78" name="Line 16"/>
          <p:cNvSpPr>
            <a:spLocks noChangeShapeType="1"/>
          </p:cNvSpPr>
          <p:nvPr/>
        </p:nvSpPr>
        <p:spPr bwMode="auto">
          <a:xfrm>
            <a:off x="7162800" y="3733800"/>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3860" name="Rectangle 18"/>
          <p:cNvSpPr>
            <a:spLocks noChangeArrowheads="1"/>
          </p:cNvSpPr>
          <p:nvPr/>
        </p:nvSpPr>
        <p:spPr bwMode="auto">
          <a:xfrm>
            <a:off x="914400" y="4316413"/>
            <a:ext cx="17526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b="0">
                <a:latin typeface="Arial" pitchFamily="34" charset="0"/>
                <a:cs typeface="Arial" pitchFamily="34" charset="0"/>
              </a:rPr>
              <a:t>Bitonic[k]</a:t>
            </a:r>
          </a:p>
        </p:txBody>
      </p:sp>
      <p:sp>
        <p:nvSpPr>
          <p:cNvPr id="163861" name="Rectangle 19"/>
          <p:cNvSpPr>
            <a:spLocks noChangeArrowheads="1"/>
          </p:cNvSpPr>
          <p:nvPr/>
        </p:nvSpPr>
        <p:spPr bwMode="auto">
          <a:xfrm>
            <a:off x="914400" y="2222500"/>
            <a:ext cx="17526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b="0">
                <a:latin typeface="Arial" pitchFamily="34" charset="0"/>
                <a:cs typeface="Arial" pitchFamily="34" charset="0"/>
              </a:rPr>
              <a:t>Bitonic[k]</a:t>
            </a:r>
          </a:p>
        </p:txBody>
      </p:sp>
      <p:sp>
        <p:nvSpPr>
          <p:cNvPr id="168981" name="Line 6"/>
          <p:cNvSpPr>
            <a:spLocks noChangeShapeType="1"/>
          </p:cNvSpPr>
          <p:nvPr/>
        </p:nvSpPr>
        <p:spPr bwMode="auto">
          <a:xfrm>
            <a:off x="8010525" y="25749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82" name="Line 6"/>
          <p:cNvSpPr>
            <a:spLocks noChangeShapeType="1"/>
          </p:cNvSpPr>
          <p:nvPr/>
        </p:nvSpPr>
        <p:spPr bwMode="auto">
          <a:xfrm>
            <a:off x="8010525" y="29352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83" name="Line 6"/>
          <p:cNvSpPr>
            <a:spLocks noChangeShapeType="1"/>
          </p:cNvSpPr>
          <p:nvPr/>
        </p:nvSpPr>
        <p:spPr bwMode="auto">
          <a:xfrm>
            <a:off x="8010525" y="33321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84" name="Line 6"/>
          <p:cNvSpPr>
            <a:spLocks noChangeShapeType="1"/>
          </p:cNvSpPr>
          <p:nvPr/>
        </p:nvSpPr>
        <p:spPr bwMode="auto">
          <a:xfrm>
            <a:off x="8010525" y="36941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85" name="Line 6"/>
          <p:cNvSpPr>
            <a:spLocks noChangeShapeType="1"/>
          </p:cNvSpPr>
          <p:nvPr/>
        </p:nvSpPr>
        <p:spPr bwMode="auto">
          <a:xfrm>
            <a:off x="8010525" y="43275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86" name="Line 6"/>
          <p:cNvSpPr>
            <a:spLocks noChangeShapeType="1"/>
          </p:cNvSpPr>
          <p:nvPr/>
        </p:nvSpPr>
        <p:spPr bwMode="auto">
          <a:xfrm>
            <a:off x="8010525" y="47244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87" name="Line 6"/>
          <p:cNvSpPr>
            <a:spLocks noChangeShapeType="1"/>
          </p:cNvSpPr>
          <p:nvPr/>
        </p:nvSpPr>
        <p:spPr bwMode="auto">
          <a:xfrm>
            <a:off x="8010525" y="51212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8988" name="Line 6"/>
          <p:cNvSpPr>
            <a:spLocks noChangeShapeType="1"/>
          </p:cNvSpPr>
          <p:nvPr/>
        </p:nvSpPr>
        <p:spPr bwMode="auto">
          <a:xfrm>
            <a:off x="8010525" y="54832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60" name="AutoShape 22"/>
          <p:cNvSpPr>
            <a:spLocks noChangeArrowheads="1"/>
          </p:cNvSpPr>
          <p:nvPr/>
        </p:nvSpPr>
        <p:spPr bwMode="auto">
          <a:xfrm>
            <a:off x="2667000" y="1735138"/>
            <a:ext cx="1752600" cy="4513262"/>
          </a:xfrm>
          <a:prstGeom prst="wedgeRoundRectCallout">
            <a:avLst>
              <a:gd name="adj1" fmla="val 139269"/>
              <a:gd name="adj2" fmla="val -48699"/>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61" name="Text Box 24"/>
          <p:cNvSpPr txBox="1">
            <a:spLocks noChangeArrowheads="1"/>
          </p:cNvSpPr>
          <p:nvPr/>
        </p:nvSpPr>
        <p:spPr bwMode="auto">
          <a:xfrm>
            <a:off x="4483100" y="1212850"/>
            <a:ext cx="5359400" cy="954088"/>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Outputs have step </a:t>
            </a:r>
          </a:p>
          <a:p>
            <a:pPr algn="ctr">
              <a:spcBef>
                <a:spcPct val="0"/>
              </a:spcBef>
            </a:pPr>
            <a:r>
              <a:rPr lang="en-US" sz="2800" b="0">
                <a:solidFill>
                  <a:srgbClr val="FF0000"/>
                </a:solidFill>
                <a:latin typeface="Arial" pitchFamily="34" charset="0"/>
                <a:cs typeface="Arial" pitchFamily="34" charset="0"/>
              </a:rPr>
              <a:t>property</a:t>
            </a:r>
          </a:p>
        </p:txBody>
      </p:sp>
      <p:grpSp>
        <p:nvGrpSpPr>
          <p:cNvPr id="168991" name="Group 58"/>
          <p:cNvGrpSpPr>
            <a:grpSpLocks/>
          </p:cNvGrpSpPr>
          <p:nvPr/>
        </p:nvGrpSpPr>
        <p:grpSpPr bwMode="auto">
          <a:xfrm>
            <a:off x="2924175" y="4287838"/>
            <a:ext cx="1066800" cy="1692275"/>
            <a:chOff x="2133600" y="3794760"/>
            <a:chExt cx="1066800" cy="1691640"/>
          </a:xfrm>
        </p:grpSpPr>
        <p:sp>
          <p:nvSpPr>
            <p:cNvPr id="169000" name="Oval 9"/>
            <p:cNvSpPr>
              <a:spLocks noChangeArrowheads="1"/>
            </p:cNvSpPr>
            <p:nvPr/>
          </p:nvSpPr>
          <p:spPr bwMode="auto">
            <a:xfrm flipH="1">
              <a:off x="22098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1" name="Oval 10"/>
            <p:cNvSpPr>
              <a:spLocks noChangeArrowheads="1"/>
            </p:cNvSpPr>
            <p:nvPr/>
          </p:nvSpPr>
          <p:spPr bwMode="auto">
            <a:xfrm flipH="1">
              <a:off x="22098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2" name="Oval 11"/>
            <p:cNvSpPr>
              <a:spLocks noChangeArrowheads="1"/>
            </p:cNvSpPr>
            <p:nvPr/>
          </p:nvSpPr>
          <p:spPr bwMode="auto">
            <a:xfrm flipH="1">
              <a:off x="22098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3" name="Oval 12"/>
            <p:cNvSpPr>
              <a:spLocks noChangeArrowheads="1"/>
            </p:cNvSpPr>
            <p:nvPr/>
          </p:nvSpPr>
          <p:spPr bwMode="auto">
            <a:xfrm flipH="1">
              <a:off x="22098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4" name="Oval 13"/>
            <p:cNvSpPr>
              <a:spLocks noChangeArrowheads="1"/>
            </p:cNvSpPr>
            <p:nvPr/>
          </p:nvSpPr>
          <p:spPr bwMode="auto">
            <a:xfrm flipH="1">
              <a:off x="25146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5" name="Oval 14"/>
            <p:cNvSpPr>
              <a:spLocks noChangeArrowheads="1"/>
            </p:cNvSpPr>
            <p:nvPr/>
          </p:nvSpPr>
          <p:spPr bwMode="auto">
            <a:xfrm flipH="1">
              <a:off x="25146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6" name="Oval 15"/>
            <p:cNvSpPr>
              <a:spLocks noChangeArrowheads="1"/>
            </p:cNvSpPr>
            <p:nvPr/>
          </p:nvSpPr>
          <p:spPr bwMode="auto">
            <a:xfrm flipH="1">
              <a:off x="25146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7" name="Oval 16"/>
            <p:cNvSpPr>
              <a:spLocks noChangeArrowheads="1"/>
            </p:cNvSpPr>
            <p:nvPr/>
          </p:nvSpPr>
          <p:spPr bwMode="auto">
            <a:xfrm flipH="1">
              <a:off x="25146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8" name="Oval 17"/>
            <p:cNvSpPr>
              <a:spLocks noChangeArrowheads="1"/>
            </p:cNvSpPr>
            <p:nvPr/>
          </p:nvSpPr>
          <p:spPr bwMode="auto">
            <a:xfrm flipH="1">
              <a:off x="28194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09" name="Oval 18"/>
            <p:cNvSpPr>
              <a:spLocks noChangeArrowheads="1"/>
            </p:cNvSpPr>
            <p:nvPr/>
          </p:nvSpPr>
          <p:spPr bwMode="auto">
            <a:xfrm flipH="1">
              <a:off x="28194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10" name="Oval 19"/>
            <p:cNvSpPr>
              <a:spLocks noChangeArrowheads="1"/>
            </p:cNvSpPr>
            <p:nvPr/>
          </p:nvSpPr>
          <p:spPr bwMode="auto">
            <a:xfrm flipH="1">
              <a:off x="28194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011" name="Freeform 20"/>
            <p:cNvSpPr>
              <a:spLocks/>
            </p:cNvSpPr>
            <p:nvPr/>
          </p:nvSpPr>
          <p:spPr bwMode="auto">
            <a:xfrm flipH="1">
              <a:off x="2133600" y="3794760"/>
              <a:ext cx="1066800" cy="1691640"/>
            </a:xfrm>
            <a:custGeom>
              <a:avLst/>
              <a:gdLst>
                <a:gd name="T0" fmla="*/ 0 w 672"/>
                <a:gd name="T1" fmla="*/ 2147483647 h 1536"/>
                <a:gd name="T2" fmla="*/ 0 w 672"/>
                <a:gd name="T3" fmla="*/ 2147483647 h 1536"/>
                <a:gd name="T4" fmla="*/ 2147483647 w 672"/>
                <a:gd name="T5" fmla="*/ 2147483647 h 1536"/>
                <a:gd name="T6" fmla="*/ 2147483647 w 672"/>
                <a:gd name="T7" fmla="*/ 2147483647 h 1536"/>
                <a:gd name="T8" fmla="*/ 2147483647 w 672"/>
                <a:gd name="T9" fmla="*/ 2147483647 h 1536"/>
                <a:gd name="T10" fmla="*/ 2147483647 w 672"/>
                <a:gd name="T11" fmla="*/ 0 h 1536"/>
                <a:gd name="T12" fmla="*/ 0 w 672"/>
                <a:gd name="T13" fmla="*/ 0 h 1536"/>
                <a:gd name="T14" fmla="*/ 0 60000 65536"/>
                <a:gd name="T15" fmla="*/ 0 60000 65536"/>
                <a:gd name="T16" fmla="*/ 0 60000 65536"/>
                <a:gd name="T17" fmla="*/ 0 60000 65536"/>
                <a:gd name="T18" fmla="*/ 0 60000 65536"/>
                <a:gd name="T19" fmla="*/ 0 60000 65536"/>
                <a:gd name="T20" fmla="*/ 0 60000 65536"/>
                <a:gd name="T21" fmla="*/ 0 w 672"/>
                <a:gd name="T22" fmla="*/ 0 h 1536"/>
                <a:gd name="T23" fmla="*/ 672 w 672"/>
                <a:gd name="T24" fmla="*/ 1536 h 15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2" h="1536">
                  <a:moveTo>
                    <a:pt x="0" y="48"/>
                  </a:moveTo>
                  <a:lnTo>
                    <a:pt x="0" y="1104"/>
                  </a:lnTo>
                  <a:lnTo>
                    <a:pt x="240" y="1104"/>
                  </a:lnTo>
                  <a:lnTo>
                    <a:pt x="240" y="1536"/>
                  </a:lnTo>
                  <a:lnTo>
                    <a:pt x="672" y="1536"/>
                  </a:lnTo>
                  <a:lnTo>
                    <a:pt x="672" y="0"/>
                  </a:lnTo>
                  <a:lnTo>
                    <a:pt x="0" y="0"/>
                  </a:lnTo>
                </a:path>
              </a:pathLst>
            </a:custGeom>
            <a:noFill/>
            <a:ln w="38100">
              <a:solidFill>
                <a:srgbClr val="FFFF00"/>
              </a:solidFill>
              <a:round/>
              <a:headEnd/>
              <a:tailEnd/>
            </a:ln>
          </p:spPr>
          <p:txBody>
            <a:bodyPr wrap="none" anchor="ctr"/>
            <a:lstStyle/>
            <a:p>
              <a:endParaRPr lang="en-US">
                <a:latin typeface="Arial" pitchFamily="34" charset="0"/>
                <a:cs typeface="Arial" pitchFamily="34" charset="0"/>
              </a:endParaRPr>
            </a:p>
          </p:txBody>
        </p:sp>
      </p:grpSp>
      <p:grpSp>
        <p:nvGrpSpPr>
          <p:cNvPr id="168992" name="Group 59"/>
          <p:cNvGrpSpPr>
            <a:grpSpLocks/>
          </p:cNvGrpSpPr>
          <p:nvPr/>
        </p:nvGrpSpPr>
        <p:grpSpPr bwMode="auto">
          <a:xfrm>
            <a:off x="2963863" y="2057400"/>
            <a:ext cx="774700" cy="1812925"/>
            <a:chOff x="1130300" y="2057400"/>
            <a:chExt cx="774700" cy="1813560"/>
          </a:xfrm>
        </p:grpSpPr>
        <p:sp>
          <p:nvSpPr>
            <p:cNvPr id="168993" name="Oval 3"/>
            <p:cNvSpPr>
              <a:spLocks noChangeArrowheads="1"/>
            </p:cNvSpPr>
            <p:nvPr/>
          </p:nvSpPr>
          <p:spPr bwMode="auto">
            <a:xfrm flipH="1">
              <a:off x="12827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8994" name="Oval 4"/>
            <p:cNvSpPr>
              <a:spLocks noChangeArrowheads="1"/>
            </p:cNvSpPr>
            <p:nvPr/>
          </p:nvSpPr>
          <p:spPr bwMode="auto">
            <a:xfrm flipH="1">
              <a:off x="12827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8995" name="Oval 5"/>
            <p:cNvSpPr>
              <a:spLocks noChangeArrowheads="1"/>
            </p:cNvSpPr>
            <p:nvPr/>
          </p:nvSpPr>
          <p:spPr bwMode="auto">
            <a:xfrm flipH="1">
              <a:off x="1282700" y="2996184"/>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8996" name="Oval 6"/>
            <p:cNvSpPr>
              <a:spLocks noChangeArrowheads="1"/>
            </p:cNvSpPr>
            <p:nvPr/>
          </p:nvSpPr>
          <p:spPr bwMode="auto">
            <a:xfrm flipH="1">
              <a:off x="1282700" y="3389376"/>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8997" name="Oval 7"/>
            <p:cNvSpPr>
              <a:spLocks noChangeArrowheads="1"/>
            </p:cNvSpPr>
            <p:nvPr/>
          </p:nvSpPr>
          <p:spPr bwMode="auto">
            <a:xfrm flipH="1">
              <a:off x="15875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8998" name="Oval 8"/>
            <p:cNvSpPr>
              <a:spLocks noChangeArrowheads="1"/>
            </p:cNvSpPr>
            <p:nvPr/>
          </p:nvSpPr>
          <p:spPr bwMode="auto">
            <a:xfrm flipH="1">
              <a:off x="15875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8999" name="Freeform 21"/>
            <p:cNvSpPr>
              <a:spLocks/>
            </p:cNvSpPr>
            <p:nvPr/>
          </p:nvSpPr>
          <p:spPr bwMode="auto">
            <a:xfrm flipH="1">
              <a:off x="1130300" y="2057400"/>
              <a:ext cx="774700" cy="1813560"/>
            </a:xfrm>
            <a:custGeom>
              <a:avLst/>
              <a:gdLst>
                <a:gd name="T0" fmla="*/ 2147483647 w 488"/>
                <a:gd name="T1" fmla="*/ 0 h 1632"/>
                <a:gd name="T2" fmla="*/ 0 w 488"/>
                <a:gd name="T3" fmla="*/ 2147483647 h 1632"/>
                <a:gd name="T4" fmla="*/ 2147483647 w 488"/>
                <a:gd name="T5" fmla="*/ 2147483647 h 1632"/>
                <a:gd name="T6" fmla="*/ 2147483647 w 488"/>
                <a:gd name="T7" fmla="*/ 2147483647 h 1632"/>
                <a:gd name="T8" fmla="*/ 2147483647 w 488"/>
                <a:gd name="T9" fmla="*/ 2147483647 h 1632"/>
                <a:gd name="T10" fmla="*/ 2147483647 w 488"/>
                <a:gd name="T11" fmla="*/ 0 h 1632"/>
                <a:gd name="T12" fmla="*/ 2147483647 w 488"/>
                <a:gd name="T13" fmla="*/ 0 h 1632"/>
                <a:gd name="T14" fmla="*/ 0 60000 65536"/>
                <a:gd name="T15" fmla="*/ 0 60000 65536"/>
                <a:gd name="T16" fmla="*/ 0 60000 65536"/>
                <a:gd name="T17" fmla="*/ 0 60000 65536"/>
                <a:gd name="T18" fmla="*/ 0 60000 65536"/>
                <a:gd name="T19" fmla="*/ 0 60000 65536"/>
                <a:gd name="T20" fmla="*/ 0 60000 65536"/>
                <a:gd name="T21" fmla="*/ 0 w 488"/>
                <a:gd name="T22" fmla="*/ 0 h 1632"/>
                <a:gd name="T23" fmla="*/ 488 w 488"/>
                <a:gd name="T24" fmla="*/ 1632 h 16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8" h="1632">
                  <a:moveTo>
                    <a:pt x="8" y="0"/>
                  </a:moveTo>
                  <a:lnTo>
                    <a:pt x="0" y="768"/>
                  </a:lnTo>
                  <a:lnTo>
                    <a:pt x="200" y="768"/>
                  </a:lnTo>
                  <a:lnTo>
                    <a:pt x="200" y="1632"/>
                  </a:lnTo>
                  <a:lnTo>
                    <a:pt x="488" y="1632"/>
                  </a:lnTo>
                  <a:lnTo>
                    <a:pt x="488" y="0"/>
                  </a:lnTo>
                  <a:lnTo>
                    <a:pt x="8" y="0"/>
                  </a:lnTo>
                  <a:close/>
                </a:path>
              </a:pathLst>
            </a:custGeom>
            <a:noFill/>
            <a:ln w="38100">
              <a:solidFill>
                <a:srgbClr val="FF9999"/>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986" name="Group 60"/>
          <p:cNvGrpSpPr>
            <a:grpSpLocks/>
          </p:cNvGrpSpPr>
          <p:nvPr/>
        </p:nvGrpSpPr>
        <p:grpSpPr bwMode="auto">
          <a:xfrm>
            <a:off x="1739900" y="2044700"/>
            <a:ext cx="1739900" cy="3494088"/>
            <a:chOff x="4157980" y="2072767"/>
            <a:chExt cx="1739900" cy="3127865"/>
          </a:xfrm>
        </p:grpSpPr>
        <p:sp>
          <p:nvSpPr>
            <p:cNvPr id="170052" name="AutoShape 20"/>
            <p:cNvSpPr>
              <a:spLocks noChangeArrowheads="1"/>
            </p:cNvSpPr>
            <p:nvPr/>
          </p:nvSpPr>
          <p:spPr bwMode="auto">
            <a:xfrm>
              <a:off x="4337368" y="2310892"/>
              <a:ext cx="1295400" cy="381000"/>
            </a:xfrm>
            <a:prstGeom prst="rightArrow">
              <a:avLst>
                <a:gd name="adj1" fmla="val 50000"/>
                <a:gd name="adj2" fmla="val 85000"/>
              </a:avLst>
            </a:prstGeom>
            <a:solidFill>
              <a:srgbClr val="FF99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0053" name="AutoShape 21"/>
            <p:cNvSpPr>
              <a:spLocks noChangeArrowheads="1"/>
            </p:cNvSpPr>
            <p:nvPr/>
          </p:nvSpPr>
          <p:spPr bwMode="auto">
            <a:xfrm>
              <a:off x="4388168" y="4819632"/>
              <a:ext cx="1295400" cy="381000"/>
            </a:xfrm>
            <a:prstGeom prst="rightArrow">
              <a:avLst>
                <a:gd name="adj1" fmla="val 50000"/>
                <a:gd name="adj2" fmla="val 85000"/>
              </a:avLst>
            </a:prstGeom>
            <a:solidFill>
              <a:srgbClr val="FFFF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0054" name="AutoShape 22"/>
            <p:cNvSpPr>
              <a:spLocks noChangeArrowheads="1"/>
            </p:cNvSpPr>
            <p:nvPr/>
          </p:nvSpPr>
          <p:spPr bwMode="auto">
            <a:xfrm rot="-2800490">
              <a:off x="4152424" y="3708686"/>
              <a:ext cx="1814512" cy="381000"/>
            </a:xfrm>
            <a:prstGeom prst="rightArrow">
              <a:avLst>
                <a:gd name="adj1" fmla="val 50000"/>
                <a:gd name="adj2" fmla="val 119062"/>
              </a:avLst>
            </a:prstGeom>
            <a:solidFill>
              <a:srgbClr val="FFFF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0055" name="AutoShape 23"/>
            <p:cNvSpPr>
              <a:spLocks noChangeArrowheads="1"/>
            </p:cNvSpPr>
            <p:nvPr/>
          </p:nvSpPr>
          <p:spPr bwMode="auto">
            <a:xfrm rot="2427766">
              <a:off x="4157980" y="3433255"/>
              <a:ext cx="1739900" cy="381000"/>
            </a:xfrm>
            <a:prstGeom prst="rightArrow">
              <a:avLst>
                <a:gd name="adj1" fmla="val 50000"/>
                <a:gd name="adj2" fmla="val 114167"/>
              </a:avLst>
            </a:prstGeom>
            <a:solidFill>
              <a:srgbClr val="FF99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0056" name="Text Box 24"/>
            <p:cNvSpPr txBox="1">
              <a:spLocks noChangeArrowheads="1"/>
            </p:cNvSpPr>
            <p:nvPr/>
          </p:nvSpPr>
          <p:spPr bwMode="auto">
            <a:xfrm>
              <a:off x="4540568" y="2072767"/>
              <a:ext cx="769763" cy="358174"/>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even</a:t>
              </a:r>
            </a:p>
          </p:txBody>
        </p:sp>
        <p:sp>
          <p:nvSpPr>
            <p:cNvPr id="170057" name="Text Box 25"/>
            <p:cNvSpPr txBox="1">
              <a:spLocks noChangeArrowheads="1"/>
            </p:cNvSpPr>
            <p:nvPr/>
          </p:nvSpPr>
          <p:spPr bwMode="auto">
            <a:xfrm rot="18630171">
              <a:off x="4227919" y="3834862"/>
              <a:ext cx="587198" cy="400110"/>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odd</a:t>
              </a:r>
            </a:p>
          </p:txBody>
        </p:sp>
        <p:sp>
          <p:nvSpPr>
            <p:cNvPr id="170058" name="Text Box 26"/>
            <p:cNvSpPr txBox="1">
              <a:spLocks noChangeArrowheads="1"/>
            </p:cNvSpPr>
            <p:nvPr/>
          </p:nvSpPr>
          <p:spPr bwMode="auto">
            <a:xfrm rot="2580647">
              <a:off x="4526919" y="2984292"/>
              <a:ext cx="655949" cy="358174"/>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odd</a:t>
              </a:r>
            </a:p>
          </p:txBody>
        </p:sp>
        <p:sp>
          <p:nvSpPr>
            <p:cNvPr id="170059" name="Text Box 27"/>
            <p:cNvSpPr txBox="1">
              <a:spLocks noChangeArrowheads="1"/>
            </p:cNvSpPr>
            <p:nvPr/>
          </p:nvSpPr>
          <p:spPr bwMode="auto">
            <a:xfrm>
              <a:off x="4616768" y="4518006"/>
              <a:ext cx="769763" cy="358174"/>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even</a:t>
              </a:r>
            </a:p>
          </p:txBody>
        </p:sp>
      </p:grpSp>
      <p:sp>
        <p:nvSpPr>
          <p:cNvPr id="145" name="Rectangle 3"/>
          <p:cNvSpPr>
            <a:spLocks noChangeArrowheads="1"/>
          </p:cNvSpPr>
          <p:nvPr/>
        </p:nvSpPr>
        <p:spPr bwMode="auto">
          <a:xfrm>
            <a:off x="4419600" y="24384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68" name="AutoShape 22"/>
          <p:cNvSpPr>
            <a:spLocks noChangeArrowheads="1"/>
          </p:cNvSpPr>
          <p:nvPr/>
        </p:nvSpPr>
        <p:spPr bwMode="auto">
          <a:xfrm>
            <a:off x="3214688" y="2044700"/>
            <a:ext cx="1204912" cy="3811588"/>
          </a:xfrm>
          <a:prstGeom prst="wedgeRoundRectCallout">
            <a:avLst>
              <a:gd name="adj1" fmla="val 139269"/>
              <a:gd name="adj2" fmla="val -48699"/>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28" name="Footer Placeholder 2"/>
          <p:cNvSpPr>
            <a:spLocks noGrp="1"/>
          </p:cNvSpPr>
          <p:nvPr>
            <p:ph type="ftr" sz="quarter" idx="10"/>
          </p:nvPr>
        </p:nvSpPr>
        <p:spPr/>
        <p:txBody>
          <a:bodyPr/>
          <a:lstStyle/>
          <a:p>
            <a:pPr>
              <a:defRPr/>
            </a:pPr>
            <a:r>
              <a:rPr lang="en-US" dirty="0"/>
              <a:t>Art of Multiprocessor Programming</a:t>
            </a:r>
          </a:p>
        </p:txBody>
      </p:sp>
      <p:sp>
        <p:nvSpPr>
          <p:cNvPr id="29" name="Slide Number Placeholder 3"/>
          <p:cNvSpPr>
            <a:spLocks noGrp="1"/>
          </p:cNvSpPr>
          <p:nvPr>
            <p:ph type="sldNum" sz="quarter" idx="11"/>
          </p:nvPr>
        </p:nvSpPr>
        <p:spPr/>
        <p:txBody>
          <a:bodyPr/>
          <a:lstStyle/>
          <a:p>
            <a:pPr>
              <a:defRPr/>
            </a:pPr>
            <a:fld id="{DBEE265A-B2D4-440A-9F0B-D87195507EE0}" type="slidenum">
              <a:rPr lang="en-US"/>
              <a:pPr>
                <a:defRPr/>
              </a:pPr>
              <a:t>172</a:t>
            </a:fld>
            <a:endParaRPr lang="en-US"/>
          </a:p>
        </p:txBody>
      </p:sp>
      <p:sp>
        <p:nvSpPr>
          <p:cNvPr id="169991" name="Rectangle 2"/>
          <p:cNvSpPr>
            <a:spLocks noGrp="1" noChangeArrowheads="1"/>
          </p:cNvSpPr>
          <p:nvPr>
            <p:ph type="title"/>
          </p:nvPr>
        </p:nvSpPr>
        <p:spPr>
          <a:xfrm>
            <a:off x="685800" y="379413"/>
            <a:ext cx="7772400" cy="1143000"/>
          </a:xfrm>
        </p:spPr>
        <p:txBody>
          <a:bodyPr/>
          <a:lstStyle/>
          <a:p>
            <a:r>
              <a:rPr lang="en-US"/>
              <a:t>By Lemma 1 </a:t>
            </a:r>
          </a:p>
        </p:txBody>
      </p:sp>
      <p:grpSp>
        <p:nvGrpSpPr>
          <p:cNvPr id="169992" name="Group 58"/>
          <p:cNvGrpSpPr>
            <a:grpSpLocks/>
          </p:cNvGrpSpPr>
          <p:nvPr/>
        </p:nvGrpSpPr>
        <p:grpSpPr bwMode="auto">
          <a:xfrm>
            <a:off x="661988" y="4117975"/>
            <a:ext cx="1066800" cy="1692275"/>
            <a:chOff x="2133600" y="3794760"/>
            <a:chExt cx="1066800" cy="1691640"/>
          </a:xfrm>
        </p:grpSpPr>
        <p:sp>
          <p:nvSpPr>
            <p:cNvPr id="170040" name="Oval 9"/>
            <p:cNvSpPr>
              <a:spLocks noChangeArrowheads="1"/>
            </p:cNvSpPr>
            <p:nvPr/>
          </p:nvSpPr>
          <p:spPr bwMode="auto">
            <a:xfrm flipH="1">
              <a:off x="22098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1" name="Oval 10"/>
            <p:cNvSpPr>
              <a:spLocks noChangeArrowheads="1"/>
            </p:cNvSpPr>
            <p:nvPr/>
          </p:nvSpPr>
          <p:spPr bwMode="auto">
            <a:xfrm flipH="1">
              <a:off x="22098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2" name="Oval 11"/>
            <p:cNvSpPr>
              <a:spLocks noChangeArrowheads="1"/>
            </p:cNvSpPr>
            <p:nvPr/>
          </p:nvSpPr>
          <p:spPr bwMode="auto">
            <a:xfrm flipH="1">
              <a:off x="22098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3" name="Oval 12"/>
            <p:cNvSpPr>
              <a:spLocks noChangeArrowheads="1"/>
            </p:cNvSpPr>
            <p:nvPr/>
          </p:nvSpPr>
          <p:spPr bwMode="auto">
            <a:xfrm flipH="1">
              <a:off x="22098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4" name="Oval 13"/>
            <p:cNvSpPr>
              <a:spLocks noChangeArrowheads="1"/>
            </p:cNvSpPr>
            <p:nvPr/>
          </p:nvSpPr>
          <p:spPr bwMode="auto">
            <a:xfrm flipH="1">
              <a:off x="25146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5" name="Oval 14"/>
            <p:cNvSpPr>
              <a:spLocks noChangeArrowheads="1"/>
            </p:cNvSpPr>
            <p:nvPr/>
          </p:nvSpPr>
          <p:spPr bwMode="auto">
            <a:xfrm flipH="1">
              <a:off x="25146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6" name="Oval 15"/>
            <p:cNvSpPr>
              <a:spLocks noChangeArrowheads="1"/>
            </p:cNvSpPr>
            <p:nvPr/>
          </p:nvSpPr>
          <p:spPr bwMode="auto">
            <a:xfrm flipH="1">
              <a:off x="25146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7" name="Oval 16"/>
            <p:cNvSpPr>
              <a:spLocks noChangeArrowheads="1"/>
            </p:cNvSpPr>
            <p:nvPr/>
          </p:nvSpPr>
          <p:spPr bwMode="auto">
            <a:xfrm flipH="1">
              <a:off x="25146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8" name="Oval 17"/>
            <p:cNvSpPr>
              <a:spLocks noChangeArrowheads="1"/>
            </p:cNvSpPr>
            <p:nvPr/>
          </p:nvSpPr>
          <p:spPr bwMode="auto">
            <a:xfrm flipH="1">
              <a:off x="28194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49" name="Oval 18"/>
            <p:cNvSpPr>
              <a:spLocks noChangeArrowheads="1"/>
            </p:cNvSpPr>
            <p:nvPr/>
          </p:nvSpPr>
          <p:spPr bwMode="auto">
            <a:xfrm flipH="1">
              <a:off x="28194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50" name="Oval 19"/>
            <p:cNvSpPr>
              <a:spLocks noChangeArrowheads="1"/>
            </p:cNvSpPr>
            <p:nvPr/>
          </p:nvSpPr>
          <p:spPr bwMode="auto">
            <a:xfrm flipH="1">
              <a:off x="28194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51" name="Freeform 20"/>
            <p:cNvSpPr>
              <a:spLocks/>
            </p:cNvSpPr>
            <p:nvPr/>
          </p:nvSpPr>
          <p:spPr bwMode="auto">
            <a:xfrm flipH="1">
              <a:off x="2133600" y="3794760"/>
              <a:ext cx="1066800" cy="1691640"/>
            </a:xfrm>
            <a:custGeom>
              <a:avLst/>
              <a:gdLst>
                <a:gd name="T0" fmla="*/ 0 w 672"/>
                <a:gd name="T1" fmla="*/ 2147483647 h 1536"/>
                <a:gd name="T2" fmla="*/ 0 w 672"/>
                <a:gd name="T3" fmla="*/ 2147483647 h 1536"/>
                <a:gd name="T4" fmla="*/ 2147483647 w 672"/>
                <a:gd name="T5" fmla="*/ 2147483647 h 1536"/>
                <a:gd name="T6" fmla="*/ 2147483647 w 672"/>
                <a:gd name="T7" fmla="*/ 2147483647 h 1536"/>
                <a:gd name="T8" fmla="*/ 2147483647 w 672"/>
                <a:gd name="T9" fmla="*/ 2147483647 h 1536"/>
                <a:gd name="T10" fmla="*/ 2147483647 w 672"/>
                <a:gd name="T11" fmla="*/ 0 h 1536"/>
                <a:gd name="T12" fmla="*/ 0 w 672"/>
                <a:gd name="T13" fmla="*/ 0 h 1536"/>
                <a:gd name="T14" fmla="*/ 0 60000 65536"/>
                <a:gd name="T15" fmla="*/ 0 60000 65536"/>
                <a:gd name="T16" fmla="*/ 0 60000 65536"/>
                <a:gd name="T17" fmla="*/ 0 60000 65536"/>
                <a:gd name="T18" fmla="*/ 0 60000 65536"/>
                <a:gd name="T19" fmla="*/ 0 60000 65536"/>
                <a:gd name="T20" fmla="*/ 0 60000 65536"/>
                <a:gd name="T21" fmla="*/ 0 w 672"/>
                <a:gd name="T22" fmla="*/ 0 h 1536"/>
                <a:gd name="T23" fmla="*/ 672 w 672"/>
                <a:gd name="T24" fmla="*/ 1536 h 15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2" h="1536">
                  <a:moveTo>
                    <a:pt x="0" y="48"/>
                  </a:moveTo>
                  <a:lnTo>
                    <a:pt x="0" y="1104"/>
                  </a:lnTo>
                  <a:lnTo>
                    <a:pt x="240" y="1104"/>
                  </a:lnTo>
                  <a:lnTo>
                    <a:pt x="240" y="1536"/>
                  </a:lnTo>
                  <a:lnTo>
                    <a:pt x="672" y="1536"/>
                  </a:lnTo>
                  <a:lnTo>
                    <a:pt x="672" y="0"/>
                  </a:lnTo>
                  <a:lnTo>
                    <a:pt x="0" y="0"/>
                  </a:lnTo>
                </a:path>
              </a:pathLst>
            </a:custGeom>
            <a:noFill/>
            <a:ln w="38100">
              <a:solidFill>
                <a:srgbClr val="FFFF00"/>
              </a:solidFill>
              <a:round/>
              <a:headEnd/>
              <a:tailEnd/>
            </a:ln>
          </p:spPr>
          <p:txBody>
            <a:bodyPr wrap="none" anchor="ctr"/>
            <a:lstStyle/>
            <a:p>
              <a:endParaRPr lang="en-US">
                <a:latin typeface="Arial" pitchFamily="34" charset="0"/>
                <a:cs typeface="Arial" pitchFamily="34" charset="0"/>
              </a:endParaRPr>
            </a:p>
          </p:txBody>
        </p:sp>
      </p:grpSp>
      <p:grpSp>
        <p:nvGrpSpPr>
          <p:cNvPr id="169993" name="Group 59"/>
          <p:cNvGrpSpPr>
            <a:grpSpLocks/>
          </p:cNvGrpSpPr>
          <p:nvPr/>
        </p:nvGrpSpPr>
        <p:grpSpPr bwMode="auto">
          <a:xfrm>
            <a:off x="933450" y="2197100"/>
            <a:ext cx="774700" cy="1812925"/>
            <a:chOff x="1130300" y="2057400"/>
            <a:chExt cx="774700" cy="1813560"/>
          </a:xfrm>
        </p:grpSpPr>
        <p:sp>
          <p:nvSpPr>
            <p:cNvPr id="170033" name="Oval 3"/>
            <p:cNvSpPr>
              <a:spLocks noChangeArrowheads="1"/>
            </p:cNvSpPr>
            <p:nvPr/>
          </p:nvSpPr>
          <p:spPr bwMode="auto">
            <a:xfrm flipH="1">
              <a:off x="12827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34" name="Oval 4"/>
            <p:cNvSpPr>
              <a:spLocks noChangeArrowheads="1"/>
            </p:cNvSpPr>
            <p:nvPr/>
          </p:nvSpPr>
          <p:spPr bwMode="auto">
            <a:xfrm flipH="1">
              <a:off x="12827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35" name="Oval 5"/>
            <p:cNvSpPr>
              <a:spLocks noChangeArrowheads="1"/>
            </p:cNvSpPr>
            <p:nvPr/>
          </p:nvSpPr>
          <p:spPr bwMode="auto">
            <a:xfrm flipH="1">
              <a:off x="1282700" y="2996184"/>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36" name="Oval 6"/>
            <p:cNvSpPr>
              <a:spLocks noChangeArrowheads="1"/>
            </p:cNvSpPr>
            <p:nvPr/>
          </p:nvSpPr>
          <p:spPr bwMode="auto">
            <a:xfrm flipH="1">
              <a:off x="1282700" y="3389376"/>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37" name="Oval 7"/>
            <p:cNvSpPr>
              <a:spLocks noChangeArrowheads="1"/>
            </p:cNvSpPr>
            <p:nvPr/>
          </p:nvSpPr>
          <p:spPr bwMode="auto">
            <a:xfrm flipH="1">
              <a:off x="15875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38" name="Oval 8"/>
            <p:cNvSpPr>
              <a:spLocks noChangeArrowheads="1"/>
            </p:cNvSpPr>
            <p:nvPr/>
          </p:nvSpPr>
          <p:spPr bwMode="auto">
            <a:xfrm flipH="1">
              <a:off x="15875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39" name="Freeform 21"/>
            <p:cNvSpPr>
              <a:spLocks/>
            </p:cNvSpPr>
            <p:nvPr/>
          </p:nvSpPr>
          <p:spPr bwMode="auto">
            <a:xfrm flipH="1">
              <a:off x="1130300" y="2057400"/>
              <a:ext cx="774700" cy="1813560"/>
            </a:xfrm>
            <a:custGeom>
              <a:avLst/>
              <a:gdLst>
                <a:gd name="T0" fmla="*/ 2147483647 w 488"/>
                <a:gd name="T1" fmla="*/ 0 h 1632"/>
                <a:gd name="T2" fmla="*/ 0 w 488"/>
                <a:gd name="T3" fmla="*/ 2147483647 h 1632"/>
                <a:gd name="T4" fmla="*/ 2147483647 w 488"/>
                <a:gd name="T5" fmla="*/ 2147483647 h 1632"/>
                <a:gd name="T6" fmla="*/ 2147483647 w 488"/>
                <a:gd name="T7" fmla="*/ 2147483647 h 1632"/>
                <a:gd name="T8" fmla="*/ 2147483647 w 488"/>
                <a:gd name="T9" fmla="*/ 2147483647 h 1632"/>
                <a:gd name="T10" fmla="*/ 2147483647 w 488"/>
                <a:gd name="T11" fmla="*/ 0 h 1632"/>
                <a:gd name="T12" fmla="*/ 2147483647 w 488"/>
                <a:gd name="T13" fmla="*/ 0 h 1632"/>
                <a:gd name="T14" fmla="*/ 0 60000 65536"/>
                <a:gd name="T15" fmla="*/ 0 60000 65536"/>
                <a:gd name="T16" fmla="*/ 0 60000 65536"/>
                <a:gd name="T17" fmla="*/ 0 60000 65536"/>
                <a:gd name="T18" fmla="*/ 0 60000 65536"/>
                <a:gd name="T19" fmla="*/ 0 60000 65536"/>
                <a:gd name="T20" fmla="*/ 0 60000 65536"/>
                <a:gd name="T21" fmla="*/ 0 w 488"/>
                <a:gd name="T22" fmla="*/ 0 h 1632"/>
                <a:gd name="T23" fmla="*/ 488 w 488"/>
                <a:gd name="T24" fmla="*/ 1632 h 16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8" h="1632">
                  <a:moveTo>
                    <a:pt x="8" y="0"/>
                  </a:moveTo>
                  <a:lnTo>
                    <a:pt x="0" y="768"/>
                  </a:lnTo>
                  <a:lnTo>
                    <a:pt x="200" y="768"/>
                  </a:lnTo>
                  <a:lnTo>
                    <a:pt x="200" y="1632"/>
                  </a:lnTo>
                  <a:lnTo>
                    <a:pt x="488" y="1632"/>
                  </a:lnTo>
                  <a:lnTo>
                    <a:pt x="488" y="0"/>
                  </a:lnTo>
                  <a:lnTo>
                    <a:pt x="8" y="0"/>
                  </a:lnTo>
                  <a:close/>
                </a:path>
              </a:pathLst>
            </a:custGeom>
            <a:noFill/>
            <a:ln w="38100">
              <a:solidFill>
                <a:srgbClr val="FF9999"/>
              </a:solidFill>
              <a:round/>
              <a:headEnd/>
              <a:tailEnd/>
            </a:ln>
          </p:spPr>
          <p:txBody>
            <a:bodyPr wrap="none" anchor="ctr"/>
            <a:lstStyle/>
            <a:p>
              <a:endParaRPr lang="en-US">
                <a:latin typeface="Arial" pitchFamily="34" charset="0"/>
                <a:cs typeface="Arial" pitchFamily="34" charset="0"/>
              </a:endParaRPr>
            </a:p>
          </p:txBody>
        </p:sp>
      </p:grpSp>
      <p:sp>
        <p:nvSpPr>
          <p:cNvPr id="169994" name="Oval 23"/>
          <p:cNvSpPr>
            <a:spLocks noChangeArrowheads="1"/>
          </p:cNvSpPr>
          <p:nvPr/>
        </p:nvSpPr>
        <p:spPr bwMode="auto">
          <a:xfrm flipH="1">
            <a:off x="3419475" y="22637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995" name="Oval 24"/>
          <p:cNvSpPr>
            <a:spLocks noChangeArrowheads="1"/>
          </p:cNvSpPr>
          <p:nvPr/>
        </p:nvSpPr>
        <p:spPr bwMode="auto">
          <a:xfrm flipH="1">
            <a:off x="3419475" y="26447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996" name="Oval 25"/>
          <p:cNvSpPr>
            <a:spLocks noChangeArrowheads="1"/>
          </p:cNvSpPr>
          <p:nvPr/>
        </p:nvSpPr>
        <p:spPr bwMode="auto">
          <a:xfrm flipH="1">
            <a:off x="3724275" y="22637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997" name="Oval 26"/>
          <p:cNvSpPr>
            <a:spLocks noChangeArrowheads="1"/>
          </p:cNvSpPr>
          <p:nvPr/>
        </p:nvSpPr>
        <p:spPr bwMode="auto">
          <a:xfrm flipH="1">
            <a:off x="3419475" y="31019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998" name="Oval 27"/>
          <p:cNvSpPr>
            <a:spLocks noChangeArrowheads="1"/>
          </p:cNvSpPr>
          <p:nvPr/>
        </p:nvSpPr>
        <p:spPr bwMode="auto">
          <a:xfrm flipH="1">
            <a:off x="3419475" y="34067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999" name="Oval 28"/>
          <p:cNvSpPr>
            <a:spLocks noChangeArrowheads="1"/>
          </p:cNvSpPr>
          <p:nvPr/>
        </p:nvSpPr>
        <p:spPr bwMode="auto">
          <a:xfrm flipH="1">
            <a:off x="3724275" y="31019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0" name="Oval 29"/>
          <p:cNvSpPr>
            <a:spLocks noChangeArrowheads="1"/>
          </p:cNvSpPr>
          <p:nvPr/>
        </p:nvSpPr>
        <p:spPr bwMode="auto">
          <a:xfrm flipH="1">
            <a:off x="3724275" y="34067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1" name="Oval 30"/>
          <p:cNvSpPr>
            <a:spLocks noChangeArrowheads="1"/>
          </p:cNvSpPr>
          <p:nvPr/>
        </p:nvSpPr>
        <p:spPr bwMode="auto">
          <a:xfrm flipH="1">
            <a:off x="4035425" y="31019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2" name="Oval 32"/>
          <p:cNvSpPr>
            <a:spLocks noChangeArrowheads="1"/>
          </p:cNvSpPr>
          <p:nvPr/>
        </p:nvSpPr>
        <p:spPr bwMode="auto">
          <a:xfrm flipH="1">
            <a:off x="3413125" y="40894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3" name="Oval 33"/>
          <p:cNvSpPr>
            <a:spLocks noChangeArrowheads="1"/>
          </p:cNvSpPr>
          <p:nvPr/>
        </p:nvSpPr>
        <p:spPr bwMode="auto">
          <a:xfrm flipH="1">
            <a:off x="3413125" y="44704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4" name="Oval 34"/>
          <p:cNvSpPr>
            <a:spLocks noChangeArrowheads="1"/>
          </p:cNvSpPr>
          <p:nvPr/>
        </p:nvSpPr>
        <p:spPr bwMode="auto">
          <a:xfrm flipH="1">
            <a:off x="3717925" y="40894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5" name="Oval 35"/>
          <p:cNvSpPr>
            <a:spLocks noChangeArrowheads="1"/>
          </p:cNvSpPr>
          <p:nvPr/>
        </p:nvSpPr>
        <p:spPr bwMode="auto">
          <a:xfrm flipH="1">
            <a:off x="3425825" y="4927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6" name="Oval 36"/>
          <p:cNvSpPr>
            <a:spLocks noChangeArrowheads="1"/>
          </p:cNvSpPr>
          <p:nvPr/>
        </p:nvSpPr>
        <p:spPr bwMode="auto">
          <a:xfrm flipH="1">
            <a:off x="3425825" y="5232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7" name="Oval 37"/>
          <p:cNvSpPr>
            <a:spLocks noChangeArrowheads="1"/>
          </p:cNvSpPr>
          <p:nvPr/>
        </p:nvSpPr>
        <p:spPr bwMode="auto">
          <a:xfrm flipH="1">
            <a:off x="3730625" y="4927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8" name="Oval 38"/>
          <p:cNvSpPr>
            <a:spLocks noChangeArrowheads="1"/>
          </p:cNvSpPr>
          <p:nvPr/>
        </p:nvSpPr>
        <p:spPr bwMode="auto">
          <a:xfrm flipH="1">
            <a:off x="3730625" y="5232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09" name="Oval 39"/>
          <p:cNvSpPr>
            <a:spLocks noChangeArrowheads="1"/>
          </p:cNvSpPr>
          <p:nvPr/>
        </p:nvSpPr>
        <p:spPr bwMode="auto">
          <a:xfrm flipH="1">
            <a:off x="4035425" y="4927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010" name="Oval 44"/>
          <p:cNvSpPr>
            <a:spLocks noChangeArrowheads="1"/>
          </p:cNvSpPr>
          <p:nvPr/>
        </p:nvSpPr>
        <p:spPr bwMode="auto">
          <a:xfrm flipH="1">
            <a:off x="4035425" y="5232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6" name="Rectangle 4"/>
          <p:cNvSpPr>
            <a:spLocks noChangeArrowheads="1"/>
          </p:cNvSpPr>
          <p:nvPr/>
        </p:nvSpPr>
        <p:spPr bwMode="auto">
          <a:xfrm>
            <a:off x="4419600" y="41910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47" name="AutoShape 5"/>
          <p:cNvSpPr>
            <a:spLocks noChangeArrowheads="1"/>
          </p:cNvSpPr>
          <p:nvPr/>
        </p:nvSpPr>
        <p:spPr bwMode="auto">
          <a:xfrm>
            <a:off x="7696200" y="24384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48" name="AutoShape 6"/>
          <p:cNvSpPr>
            <a:spLocks noChangeArrowheads="1"/>
          </p:cNvSpPr>
          <p:nvPr/>
        </p:nvSpPr>
        <p:spPr bwMode="auto">
          <a:xfrm>
            <a:off x="7696200" y="32004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49" name="AutoShape 7"/>
          <p:cNvSpPr>
            <a:spLocks noChangeArrowheads="1"/>
          </p:cNvSpPr>
          <p:nvPr/>
        </p:nvSpPr>
        <p:spPr bwMode="auto">
          <a:xfrm>
            <a:off x="7696200" y="41910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50" name="AutoShape 8"/>
          <p:cNvSpPr>
            <a:spLocks noChangeArrowheads="1"/>
          </p:cNvSpPr>
          <p:nvPr/>
        </p:nvSpPr>
        <p:spPr bwMode="auto">
          <a:xfrm>
            <a:off x="7696200" y="49530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0016" name="Freeform 9"/>
          <p:cNvSpPr>
            <a:spLocks/>
          </p:cNvSpPr>
          <p:nvPr/>
        </p:nvSpPr>
        <p:spPr bwMode="auto">
          <a:xfrm>
            <a:off x="7162800" y="2590800"/>
            <a:ext cx="482600" cy="1588"/>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2" name="Freeform 10"/>
          <p:cNvSpPr>
            <a:spLocks/>
          </p:cNvSpPr>
          <p:nvPr/>
        </p:nvSpPr>
        <p:spPr bwMode="auto">
          <a:xfrm>
            <a:off x="7162800" y="2971800"/>
            <a:ext cx="457200" cy="457200"/>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solidFill>
            <a:schemeClr val="bg1">
              <a:lumMod val="95000"/>
            </a:schemeClr>
          </a:solidFill>
          <a:ln w="38100">
            <a:solidFill>
              <a:schemeClr val="tx1"/>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0018" name="Line 11"/>
          <p:cNvSpPr>
            <a:spLocks noChangeShapeType="1"/>
          </p:cNvSpPr>
          <p:nvPr/>
        </p:nvSpPr>
        <p:spPr bwMode="auto">
          <a:xfrm flipV="1">
            <a:off x="7162800" y="2895600"/>
            <a:ext cx="4572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19" name="Line 12"/>
          <p:cNvSpPr>
            <a:spLocks noChangeShapeType="1"/>
          </p:cNvSpPr>
          <p:nvPr/>
        </p:nvSpPr>
        <p:spPr bwMode="auto">
          <a:xfrm flipV="1">
            <a:off x="7162800" y="3657600"/>
            <a:ext cx="4572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0" name="Line 13"/>
          <p:cNvSpPr>
            <a:spLocks noChangeShapeType="1"/>
          </p:cNvSpPr>
          <p:nvPr/>
        </p:nvSpPr>
        <p:spPr bwMode="auto">
          <a:xfrm flipV="1">
            <a:off x="7162800" y="4648200"/>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1" name="Line 14"/>
          <p:cNvSpPr>
            <a:spLocks noChangeShapeType="1"/>
          </p:cNvSpPr>
          <p:nvPr/>
        </p:nvSpPr>
        <p:spPr bwMode="auto">
          <a:xfrm>
            <a:off x="7162800" y="5410200"/>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2" name="Line 15"/>
          <p:cNvSpPr>
            <a:spLocks noChangeShapeType="1"/>
          </p:cNvSpPr>
          <p:nvPr/>
        </p:nvSpPr>
        <p:spPr bwMode="auto">
          <a:xfrm>
            <a:off x="7162800" y="3352800"/>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3" name="Line 16"/>
          <p:cNvSpPr>
            <a:spLocks noChangeShapeType="1"/>
          </p:cNvSpPr>
          <p:nvPr/>
        </p:nvSpPr>
        <p:spPr bwMode="auto">
          <a:xfrm>
            <a:off x="7162800" y="3733800"/>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4" name="Line 6"/>
          <p:cNvSpPr>
            <a:spLocks noChangeShapeType="1"/>
          </p:cNvSpPr>
          <p:nvPr/>
        </p:nvSpPr>
        <p:spPr bwMode="auto">
          <a:xfrm>
            <a:off x="8010525" y="25749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5" name="Line 6"/>
          <p:cNvSpPr>
            <a:spLocks noChangeShapeType="1"/>
          </p:cNvSpPr>
          <p:nvPr/>
        </p:nvSpPr>
        <p:spPr bwMode="auto">
          <a:xfrm>
            <a:off x="8010525" y="29352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6" name="Line 6"/>
          <p:cNvSpPr>
            <a:spLocks noChangeShapeType="1"/>
          </p:cNvSpPr>
          <p:nvPr/>
        </p:nvSpPr>
        <p:spPr bwMode="auto">
          <a:xfrm>
            <a:off x="8010525" y="33321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7" name="Line 6"/>
          <p:cNvSpPr>
            <a:spLocks noChangeShapeType="1"/>
          </p:cNvSpPr>
          <p:nvPr/>
        </p:nvSpPr>
        <p:spPr bwMode="auto">
          <a:xfrm>
            <a:off x="8010525" y="36941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8" name="Line 6"/>
          <p:cNvSpPr>
            <a:spLocks noChangeShapeType="1"/>
          </p:cNvSpPr>
          <p:nvPr/>
        </p:nvSpPr>
        <p:spPr bwMode="auto">
          <a:xfrm>
            <a:off x="8010525" y="43275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29" name="Line 6"/>
          <p:cNvSpPr>
            <a:spLocks noChangeShapeType="1"/>
          </p:cNvSpPr>
          <p:nvPr/>
        </p:nvSpPr>
        <p:spPr bwMode="auto">
          <a:xfrm>
            <a:off x="8010525" y="47244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30" name="Line 6"/>
          <p:cNvSpPr>
            <a:spLocks noChangeShapeType="1"/>
          </p:cNvSpPr>
          <p:nvPr/>
        </p:nvSpPr>
        <p:spPr bwMode="auto">
          <a:xfrm>
            <a:off x="8010525" y="51212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0031" name="Line 6"/>
          <p:cNvSpPr>
            <a:spLocks noChangeShapeType="1"/>
          </p:cNvSpPr>
          <p:nvPr/>
        </p:nvSpPr>
        <p:spPr bwMode="auto">
          <a:xfrm>
            <a:off x="8010525" y="54832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69" name="Text Box 24"/>
          <p:cNvSpPr txBox="1">
            <a:spLocks noChangeArrowheads="1"/>
          </p:cNvSpPr>
          <p:nvPr/>
        </p:nvSpPr>
        <p:spPr bwMode="auto">
          <a:xfrm>
            <a:off x="5273675" y="1395413"/>
            <a:ext cx="3684588" cy="954087"/>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All subsequences have step property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169"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1010" name="Group 60"/>
          <p:cNvGrpSpPr>
            <a:grpSpLocks/>
          </p:cNvGrpSpPr>
          <p:nvPr/>
        </p:nvGrpSpPr>
        <p:grpSpPr bwMode="auto">
          <a:xfrm>
            <a:off x="1739900" y="2044700"/>
            <a:ext cx="1739900" cy="3494088"/>
            <a:chOff x="4157980" y="2072767"/>
            <a:chExt cx="1739900" cy="3127865"/>
          </a:xfrm>
        </p:grpSpPr>
        <p:sp>
          <p:nvSpPr>
            <p:cNvPr id="171077" name="AutoShape 20"/>
            <p:cNvSpPr>
              <a:spLocks noChangeArrowheads="1"/>
            </p:cNvSpPr>
            <p:nvPr/>
          </p:nvSpPr>
          <p:spPr bwMode="auto">
            <a:xfrm>
              <a:off x="4337368" y="2310892"/>
              <a:ext cx="1295400" cy="381000"/>
            </a:xfrm>
            <a:prstGeom prst="rightArrow">
              <a:avLst>
                <a:gd name="adj1" fmla="val 50000"/>
                <a:gd name="adj2" fmla="val 85000"/>
              </a:avLst>
            </a:prstGeom>
            <a:solidFill>
              <a:srgbClr val="FF99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1078" name="AutoShape 21"/>
            <p:cNvSpPr>
              <a:spLocks noChangeArrowheads="1"/>
            </p:cNvSpPr>
            <p:nvPr/>
          </p:nvSpPr>
          <p:spPr bwMode="auto">
            <a:xfrm>
              <a:off x="4388168" y="4819632"/>
              <a:ext cx="1295400" cy="381000"/>
            </a:xfrm>
            <a:prstGeom prst="rightArrow">
              <a:avLst>
                <a:gd name="adj1" fmla="val 50000"/>
                <a:gd name="adj2" fmla="val 85000"/>
              </a:avLst>
            </a:prstGeom>
            <a:solidFill>
              <a:srgbClr val="FFFF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1079" name="AutoShape 22"/>
            <p:cNvSpPr>
              <a:spLocks noChangeArrowheads="1"/>
            </p:cNvSpPr>
            <p:nvPr/>
          </p:nvSpPr>
          <p:spPr bwMode="auto">
            <a:xfrm rot="-2800490">
              <a:off x="4152424" y="3708686"/>
              <a:ext cx="1814512" cy="381000"/>
            </a:xfrm>
            <a:prstGeom prst="rightArrow">
              <a:avLst>
                <a:gd name="adj1" fmla="val 50000"/>
                <a:gd name="adj2" fmla="val 119062"/>
              </a:avLst>
            </a:prstGeom>
            <a:solidFill>
              <a:srgbClr val="FFFF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1080" name="AutoShape 23"/>
            <p:cNvSpPr>
              <a:spLocks noChangeArrowheads="1"/>
            </p:cNvSpPr>
            <p:nvPr/>
          </p:nvSpPr>
          <p:spPr bwMode="auto">
            <a:xfrm rot="2427766">
              <a:off x="4157980" y="3433255"/>
              <a:ext cx="1739900" cy="381000"/>
            </a:xfrm>
            <a:prstGeom prst="rightArrow">
              <a:avLst>
                <a:gd name="adj1" fmla="val 50000"/>
                <a:gd name="adj2" fmla="val 114167"/>
              </a:avLst>
            </a:prstGeom>
            <a:solidFill>
              <a:srgbClr val="FF9999"/>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171081" name="Text Box 24"/>
            <p:cNvSpPr txBox="1">
              <a:spLocks noChangeArrowheads="1"/>
            </p:cNvSpPr>
            <p:nvPr/>
          </p:nvSpPr>
          <p:spPr bwMode="auto">
            <a:xfrm>
              <a:off x="4540568" y="2072767"/>
              <a:ext cx="769763" cy="358174"/>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even</a:t>
              </a:r>
            </a:p>
          </p:txBody>
        </p:sp>
        <p:sp>
          <p:nvSpPr>
            <p:cNvPr id="171082" name="Text Box 25"/>
            <p:cNvSpPr txBox="1">
              <a:spLocks noChangeArrowheads="1"/>
            </p:cNvSpPr>
            <p:nvPr/>
          </p:nvSpPr>
          <p:spPr bwMode="auto">
            <a:xfrm rot="18630171">
              <a:off x="4227919" y="3834862"/>
              <a:ext cx="587198" cy="400110"/>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odd</a:t>
              </a:r>
            </a:p>
          </p:txBody>
        </p:sp>
        <p:sp>
          <p:nvSpPr>
            <p:cNvPr id="171083" name="Text Box 26"/>
            <p:cNvSpPr txBox="1">
              <a:spLocks noChangeArrowheads="1"/>
            </p:cNvSpPr>
            <p:nvPr/>
          </p:nvSpPr>
          <p:spPr bwMode="auto">
            <a:xfrm rot="2580647">
              <a:off x="4526919" y="2984292"/>
              <a:ext cx="655949" cy="358174"/>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odd</a:t>
              </a:r>
            </a:p>
          </p:txBody>
        </p:sp>
        <p:sp>
          <p:nvSpPr>
            <p:cNvPr id="171084" name="Text Box 27"/>
            <p:cNvSpPr txBox="1">
              <a:spLocks noChangeArrowheads="1"/>
            </p:cNvSpPr>
            <p:nvPr/>
          </p:nvSpPr>
          <p:spPr bwMode="auto">
            <a:xfrm>
              <a:off x="4616768" y="4518006"/>
              <a:ext cx="769763" cy="358174"/>
            </a:xfrm>
            <a:prstGeom prst="rect">
              <a:avLst/>
            </a:prstGeom>
            <a:noFill/>
            <a:ln w="9525">
              <a:noFill/>
              <a:miter lim="800000"/>
              <a:headEnd/>
              <a:tailEnd/>
            </a:ln>
          </p:spPr>
          <p:txBody>
            <a:bodyPr wrap="none">
              <a:spAutoFit/>
            </a:bodyPr>
            <a:lstStyle/>
            <a:p>
              <a:pPr eaLnBrk="1" hangingPunct="1">
                <a:spcBef>
                  <a:spcPct val="0"/>
                </a:spcBef>
              </a:pPr>
              <a:r>
                <a:rPr lang="en-US" sz="2000">
                  <a:solidFill>
                    <a:schemeClr val="tx1"/>
                  </a:solidFill>
                  <a:latin typeface="Arial" pitchFamily="34" charset="0"/>
                  <a:cs typeface="Arial" pitchFamily="34" charset="0"/>
                </a:rPr>
                <a:t>even</a:t>
              </a:r>
            </a:p>
          </p:txBody>
        </p:sp>
      </p:grpSp>
      <p:sp>
        <p:nvSpPr>
          <p:cNvPr id="145" name="Rectangle 3"/>
          <p:cNvSpPr>
            <a:spLocks noChangeArrowheads="1"/>
          </p:cNvSpPr>
          <p:nvPr/>
        </p:nvSpPr>
        <p:spPr bwMode="auto">
          <a:xfrm>
            <a:off x="4419600" y="24384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71012" name="AutoShape 22"/>
          <p:cNvSpPr>
            <a:spLocks noChangeArrowheads="1"/>
          </p:cNvSpPr>
          <p:nvPr/>
        </p:nvSpPr>
        <p:spPr bwMode="auto">
          <a:xfrm>
            <a:off x="3214688" y="2044700"/>
            <a:ext cx="1204912" cy="1765300"/>
          </a:xfrm>
          <a:prstGeom prst="wedgeRoundRectCallout">
            <a:avLst>
              <a:gd name="adj1" fmla="val 193296"/>
              <a:gd name="adj2" fmla="val -52764"/>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28" name="Footer Placeholder 2"/>
          <p:cNvSpPr>
            <a:spLocks noGrp="1"/>
          </p:cNvSpPr>
          <p:nvPr>
            <p:ph type="ftr" sz="quarter" idx="10"/>
          </p:nvPr>
        </p:nvSpPr>
        <p:spPr/>
        <p:txBody>
          <a:bodyPr/>
          <a:lstStyle/>
          <a:p>
            <a:pPr>
              <a:defRPr/>
            </a:pPr>
            <a:r>
              <a:rPr lang="en-US" dirty="0"/>
              <a:t>Art of Multiprocessor Programming</a:t>
            </a:r>
          </a:p>
        </p:txBody>
      </p:sp>
      <p:sp>
        <p:nvSpPr>
          <p:cNvPr id="29" name="Slide Number Placeholder 3"/>
          <p:cNvSpPr>
            <a:spLocks noGrp="1"/>
          </p:cNvSpPr>
          <p:nvPr>
            <p:ph type="sldNum" sz="quarter" idx="11"/>
          </p:nvPr>
        </p:nvSpPr>
        <p:spPr/>
        <p:txBody>
          <a:bodyPr/>
          <a:lstStyle/>
          <a:p>
            <a:pPr>
              <a:defRPr/>
            </a:pPr>
            <a:fld id="{1491FFCD-4ED6-4BD8-B706-2F4CBF26E44E}" type="slidenum">
              <a:rPr lang="en-US"/>
              <a:pPr>
                <a:defRPr/>
              </a:pPr>
              <a:t>173</a:t>
            </a:fld>
            <a:endParaRPr lang="en-US"/>
          </a:p>
        </p:txBody>
      </p:sp>
      <p:sp>
        <p:nvSpPr>
          <p:cNvPr id="171015" name="Rectangle 2"/>
          <p:cNvSpPr>
            <a:spLocks noGrp="1" noChangeArrowheads="1"/>
          </p:cNvSpPr>
          <p:nvPr>
            <p:ph type="title"/>
          </p:nvPr>
        </p:nvSpPr>
        <p:spPr>
          <a:xfrm>
            <a:off x="685800" y="379413"/>
            <a:ext cx="7772400" cy="1143000"/>
          </a:xfrm>
        </p:spPr>
        <p:txBody>
          <a:bodyPr/>
          <a:lstStyle/>
          <a:p>
            <a:r>
              <a:rPr lang="en-US"/>
              <a:t>By Lemma 2</a:t>
            </a:r>
          </a:p>
        </p:txBody>
      </p:sp>
      <p:grpSp>
        <p:nvGrpSpPr>
          <p:cNvPr id="171016" name="Group 58"/>
          <p:cNvGrpSpPr>
            <a:grpSpLocks/>
          </p:cNvGrpSpPr>
          <p:nvPr/>
        </p:nvGrpSpPr>
        <p:grpSpPr bwMode="auto">
          <a:xfrm>
            <a:off x="661988" y="4117975"/>
            <a:ext cx="1066800" cy="1692275"/>
            <a:chOff x="2133600" y="3794760"/>
            <a:chExt cx="1066800" cy="1691640"/>
          </a:xfrm>
        </p:grpSpPr>
        <p:sp>
          <p:nvSpPr>
            <p:cNvPr id="171065" name="Oval 9"/>
            <p:cNvSpPr>
              <a:spLocks noChangeArrowheads="1"/>
            </p:cNvSpPr>
            <p:nvPr/>
          </p:nvSpPr>
          <p:spPr bwMode="auto">
            <a:xfrm flipH="1">
              <a:off x="22098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6" name="Oval 10"/>
            <p:cNvSpPr>
              <a:spLocks noChangeArrowheads="1"/>
            </p:cNvSpPr>
            <p:nvPr/>
          </p:nvSpPr>
          <p:spPr bwMode="auto">
            <a:xfrm flipH="1">
              <a:off x="22098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7" name="Oval 11"/>
            <p:cNvSpPr>
              <a:spLocks noChangeArrowheads="1"/>
            </p:cNvSpPr>
            <p:nvPr/>
          </p:nvSpPr>
          <p:spPr bwMode="auto">
            <a:xfrm flipH="1">
              <a:off x="22098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8" name="Oval 12"/>
            <p:cNvSpPr>
              <a:spLocks noChangeArrowheads="1"/>
            </p:cNvSpPr>
            <p:nvPr/>
          </p:nvSpPr>
          <p:spPr bwMode="auto">
            <a:xfrm flipH="1">
              <a:off x="22098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9" name="Oval 13"/>
            <p:cNvSpPr>
              <a:spLocks noChangeArrowheads="1"/>
            </p:cNvSpPr>
            <p:nvPr/>
          </p:nvSpPr>
          <p:spPr bwMode="auto">
            <a:xfrm flipH="1">
              <a:off x="25146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70" name="Oval 14"/>
            <p:cNvSpPr>
              <a:spLocks noChangeArrowheads="1"/>
            </p:cNvSpPr>
            <p:nvPr/>
          </p:nvSpPr>
          <p:spPr bwMode="auto">
            <a:xfrm flipH="1">
              <a:off x="25146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71" name="Oval 15"/>
            <p:cNvSpPr>
              <a:spLocks noChangeArrowheads="1"/>
            </p:cNvSpPr>
            <p:nvPr/>
          </p:nvSpPr>
          <p:spPr bwMode="auto">
            <a:xfrm flipH="1">
              <a:off x="25146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72" name="Oval 16"/>
            <p:cNvSpPr>
              <a:spLocks noChangeArrowheads="1"/>
            </p:cNvSpPr>
            <p:nvPr/>
          </p:nvSpPr>
          <p:spPr bwMode="auto">
            <a:xfrm flipH="1">
              <a:off x="2514600" y="5105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73" name="Oval 17"/>
            <p:cNvSpPr>
              <a:spLocks noChangeArrowheads="1"/>
            </p:cNvSpPr>
            <p:nvPr/>
          </p:nvSpPr>
          <p:spPr bwMode="auto">
            <a:xfrm flipH="1">
              <a:off x="2819400" y="426262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74" name="Oval 18"/>
            <p:cNvSpPr>
              <a:spLocks noChangeArrowheads="1"/>
            </p:cNvSpPr>
            <p:nvPr/>
          </p:nvSpPr>
          <p:spPr bwMode="auto">
            <a:xfrm flipH="1">
              <a:off x="2819400" y="387096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75" name="Oval 19"/>
            <p:cNvSpPr>
              <a:spLocks noChangeArrowheads="1"/>
            </p:cNvSpPr>
            <p:nvPr/>
          </p:nvSpPr>
          <p:spPr bwMode="auto">
            <a:xfrm flipH="1">
              <a:off x="2819400" y="465582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76" name="Freeform 20"/>
            <p:cNvSpPr>
              <a:spLocks/>
            </p:cNvSpPr>
            <p:nvPr/>
          </p:nvSpPr>
          <p:spPr bwMode="auto">
            <a:xfrm flipH="1">
              <a:off x="2133600" y="3794760"/>
              <a:ext cx="1066800" cy="1691640"/>
            </a:xfrm>
            <a:custGeom>
              <a:avLst/>
              <a:gdLst>
                <a:gd name="T0" fmla="*/ 0 w 672"/>
                <a:gd name="T1" fmla="*/ 2147483647 h 1536"/>
                <a:gd name="T2" fmla="*/ 0 w 672"/>
                <a:gd name="T3" fmla="*/ 2147483647 h 1536"/>
                <a:gd name="T4" fmla="*/ 2147483647 w 672"/>
                <a:gd name="T5" fmla="*/ 2147483647 h 1536"/>
                <a:gd name="T6" fmla="*/ 2147483647 w 672"/>
                <a:gd name="T7" fmla="*/ 2147483647 h 1536"/>
                <a:gd name="T8" fmla="*/ 2147483647 w 672"/>
                <a:gd name="T9" fmla="*/ 2147483647 h 1536"/>
                <a:gd name="T10" fmla="*/ 2147483647 w 672"/>
                <a:gd name="T11" fmla="*/ 0 h 1536"/>
                <a:gd name="T12" fmla="*/ 0 w 672"/>
                <a:gd name="T13" fmla="*/ 0 h 1536"/>
                <a:gd name="T14" fmla="*/ 0 60000 65536"/>
                <a:gd name="T15" fmla="*/ 0 60000 65536"/>
                <a:gd name="T16" fmla="*/ 0 60000 65536"/>
                <a:gd name="T17" fmla="*/ 0 60000 65536"/>
                <a:gd name="T18" fmla="*/ 0 60000 65536"/>
                <a:gd name="T19" fmla="*/ 0 60000 65536"/>
                <a:gd name="T20" fmla="*/ 0 60000 65536"/>
                <a:gd name="T21" fmla="*/ 0 w 672"/>
                <a:gd name="T22" fmla="*/ 0 h 1536"/>
                <a:gd name="T23" fmla="*/ 672 w 672"/>
                <a:gd name="T24" fmla="*/ 1536 h 15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2" h="1536">
                  <a:moveTo>
                    <a:pt x="0" y="48"/>
                  </a:moveTo>
                  <a:lnTo>
                    <a:pt x="0" y="1104"/>
                  </a:lnTo>
                  <a:lnTo>
                    <a:pt x="240" y="1104"/>
                  </a:lnTo>
                  <a:lnTo>
                    <a:pt x="240" y="1536"/>
                  </a:lnTo>
                  <a:lnTo>
                    <a:pt x="672" y="1536"/>
                  </a:lnTo>
                  <a:lnTo>
                    <a:pt x="672" y="0"/>
                  </a:lnTo>
                  <a:lnTo>
                    <a:pt x="0" y="0"/>
                  </a:lnTo>
                </a:path>
              </a:pathLst>
            </a:custGeom>
            <a:noFill/>
            <a:ln w="38100">
              <a:solidFill>
                <a:srgbClr val="FFFF00"/>
              </a:solidFill>
              <a:round/>
              <a:headEnd/>
              <a:tailEnd/>
            </a:ln>
          </p:spPr>
          <p:txBody>
            <a:bodyPr wrap="none" anchor="ctr"/>
            <a:lstStyle/>
            <a:p>
              <a:endParaRPr lang="en-US">
                <a:latin typeface="Arial" pitchFamily="34" charset="0"/>
                <a:cs typeface="Arial" pitchFamily="34" charset="0"/>
              </a:endParaRPr>
            </a:p>
          </p:txBody>
        </p:sp>
      </p:grpSp>
      <p:grpSp>
        <p:nvGrpSpPr>
          <p:cNvPr id="171017" name="Group 59"/>
          <p:cNvGrpSpPr>
            <a:grpSpLocks/>
          </p:cNvGrpSpPr>
          <p:nvPr/>
        </p:nvGrpSpPr>
        <p:grpSpPr bwMode="auto">
          <a:xfrm>
            <a:off x="933450" y="2197100"/>
            <a:ext cx="774700" cy="1812925"/>
            <a:chOff x="1130300" y="2057400"/>
            <a:chExt cx="774700" cy="1813560"/>
          </a:xfrm>
        </p:grpSpPr>
        <p:sp>
          <p:nvSpPr>
            <p:cNvPr id="171058" name="Oval 3"/>
            <p:cNvSpPr>
              <a:spLocks noChangeArrowheads="1"/>
            </p:cNvSpPr>
            <p:nvPr/>
          </p:nvSpPr>
          <p:spPr bwMode="auto">
            <a:xfrm flipH="1">
              <a:off x="12827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9" name="Oval 4"/>
            <p:cNvSpPr>
              <a:spLocks noChangeArrowheads="1"/>
            </p:cNvSpPr>
            <p:nvPr/>
          </p:nvSpPr>
          <p:spPr bwMode="auto">
            <a:xfrm flipH="1">
              <a:off x="12827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0" name="Oval 5"/>
            <p:cNvSpPr>
              <a:spLocks noChangeArrowheads="1"/>
            </p:cNvSpPr>
            <p:nvPr/>
          </p:nvSpPr>
          <p:spPr bwMode="auto">
            <a:xfrm flipH="1">
              <a:off x="1282700" y="2996184"/>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1" name="Oval 6"/>
            <p:cNvSpPr>
              <a:spLocks noChangeArrowheads="1"/>
            </p:cNvSpPr>
            <p:nvPr/>
          </p:nvSpPr>
          <p:spPr bwMode="auto">
            <a:xfrm flipH="1">
              <a:off x="1282700" y="3389376"/>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2" name="Oval 7"/>
            <p:cNvSpPr>
              <a:spLocks noChangeArrowheads="1"/>
            </p:cNvSpPr>
            <p:nvPr/>
          </p:nvSpPr>
          <p:spPr bwMode="auto">
            <a:xfrm flipH="1">
              <a:off x="1587500" y="2209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3" name="Oval 8"/>
            <p:cNvSpPr>
              <a:spLocks noChangeArrowheads="1"/>
            </p:cNvSpPr>
            <p:nvPr/>
          </p:nvSpPr>
          <p:spPr bwMode="auto">
            <a:xfrm flipH="1">
              <a:off x="1587500" y="2602992"/>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64" name="Freeform 21"/>
            <p:cNvSpPr>
              <a:spLocks/>
            </p:cNvSpPr>
            <p:nvPr/>
          </p:nvSpPr>
          <p:spPr bwMode="auto">
            <a:xfrm flipH="1">
              <a:off x="1130300" y="2057400"/>
              <a:ext cx="774700" cy="1813560"/>
            </a:xfrm>
            <a:custGeom>
              <a:avLst/>
              <a:gdLst>
                <a:gd name="T0" fmla="*/ 2147483647 w 488"/>
                <a:gd name="T1" fmla="*/ 0 h 1632"/>
                <a:gd name="T2" fmla="*/ 0 w 488"/>
                <a:gd name="T3" fmla="*/ 2147483647 h 1632"/>
                <a:gd name="T4" fmla="*/ 2147483647 w 488"/>
                <a:gd name="T5" fmla="*/ 2147483647 h 1632"/>
                <a:gd name="T6" fmla="*/ 2147483647 w 488"/>
                <a:gd name="T7" fmla="*/ 2147483647 h 1632"/>
                <a:gd name="T8" fmla="*/ 2147483647 w 488"/>
                <a:gd name="T9" fmla="*/ 2147483647 h 1632"/>
                <a:gd name="T10" fmla="*/ 2147483647 w 488"/>
                <a:gd name="T11" fmla="*/ 0 h 1632"/>
                <a:gd name="T12" fmla="*/ 2147483647 w 488"/>
                <a:gd name="T13" fmla="*/ 0 h 1632"/>
                <a:gd name="T14" fmla="*/ 0 60000 65536"/>
                <a:gd name="T15" fmla="*/ 0 60000 65536"/>
                <a:gd name="T16" fmla="*/ 0 60000 65536"/>
                <a:gd name="T17" fmla="*/ 0 60000 65536"/>
                <a:gd name="T18" fmla="*/ 0 60000 65536"/>
                <a:gd name="T19" fmla="*/ 0 60000 65536"/>
                <a:gd name="T20" fmla="*/ 0 60000 65536"/>
                <a:gd name="T21" fmla="*/ 0 w 488"/>
                <a:gd name="T22" fmla="*/ 0 h 1632"/>
                <a:gd name="T23" fmla="*/ 488 w 488"/>
                <a:gd name="T24" fmla="*/ 1632 h 16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8" h="1632">
                  <a:moveTo>
                    <a:pt x="8" y="0"/>
                  </a:moveTo>
                  <a:lnTo>
                    <a:pt x="0" y="768"/>
                  </a:lnTo>
                  <a:lnTo>
                    <a:pt x="200" y="768"/>
                  </a:lnTo>
                  <a:lnTo>
                    <a:pt x="200" y="1632"/>
                  </a:lnTo>
                  <a:lnTo>
                    <a:pt x="488" y="1632"/>
                  </a:lnTo>
                  <a:lnTo>
                    <a:pt x="488" y="0"/>
                  </a:lnTo>
                  <a:lnTo>
                    <a:pt x="8" y="0"/>
                  </a:lnTo>
                  <a:close/>
                </a:path>
              </a:pathLst>
            </a:custGeom>
            <a:noFill/>
            <a:ln w="38100">
              <a:solidFill>
                <a:srgbClr val="FF9999"/>
              </a:solidFill>
              <a:round/>
              <a:headEnd/>
              <a:tailEnd/>
            </a:ln>
          </p:spPr>
          <p:txBody>
            <a:bodyPr wrap="none" anchor="ctr"/>
            <a:lstStyle/>
            <a:p>
              <a:endParaRPr lang="en-US">
                <a:latin typeface="Arial" pitchFamily="34" charset="0"/>
                <a:cs typeface="Arial" pitchFamily="34" charset="0"/>
              </a:endParaRPr>
            </a:p>
          </p:txBody>
        </p:sp>
      </p:grpSp>
      <p:sp>
        <p:nvSpPr>
          <p:cNvPr id="171018" name="Oval 23"/>
          <p:cNvSpPr>
            <a:spLocks noChangeArrowheads="1"/>
          </p:cNvSpPr>
          <p:nvPr/>
        </p:nvSpPr>
        <p:spPr bwMode="auto">
          <a:xfrm flipH="1">
            <a:off x="3419475" y="22637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19" name="Oval 24"/>
          <p:cNvSpPr>
            <a:spLocks noChangeArrowheads="1"/>
          </p:cNvSpPr>
          <p:nvPr/>
        </p:nvSpPr>
        <p:spPr bwMode="auto">
          <a:xfrm flipH="1">
            <a:off x="3419475" y="26447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20" name="Oval 25"/>
          <p:cNvSpPr>
            <a:spLocks noChangeArrowheads="1"/>
          </p:cNvSpPr>
          <p:nvPr/>
        </p:nvSpPr>
        <p:spPr bwMode="auto">
          <a:xfrm flipH="1">
            <a:off x="3724275" y="22637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21" name="Oval 26"/>
          <p:cNvSpPr>
            <a:spLocks noChangeArrowheads="1"/>
          </p:cNvSpPr>
          <p:nvPr/>
        </p:nvSpPr>
        <p:spPr bwMode="auto">
          <a:xfrm flipH="1">
            <a:off x="3419475" y="31019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22" name="Oval 27"/>
          <p:cNvSpPr>
            <a:spLocks noChangeArrowheads="1"/>
          </p:cNvSpPr>
          <p:nvPr/>
        </p:nvSpPr>
        <p:spPr bwMode="auto">
          <a:xfrm flipH="1">
            <a:off x="3419475" y="34067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23" name="Oval 28"/>
          <p:cNvSpPr>
            <a:spLocks noChangeArrowheads="1"/>
          </p:cNvSpPr>
          <p:nvPr/>
        </p:nvSpPr>
        <p:spPr bwMode="auto">
          <a:xfrm flipH="1">
            <a:off x="3724275" y="31019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24" name="Oval 29"/>
          <p:cNvSpPr>
            <a:spLocks noChangeArrowheads="1"/>
          </p:cNvSpPr>
          <p:nvPr/>
        </p:nvSpPr>
        <p:spPr bwMode="auto">
          <a:xfrm flipH="1">
            <a:off x="3724275" y="34067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25" name="Oval 30"/>
          <p:cNvSpPr>
            <a:spLocks noChangeArrowheads="1"/>
          </p:cNvSpPr>
          <p:nvPr/>
        </p:nvSpPr>
        <p:spPr bwMode="auto">
          <a:xfrm flipH="1">
            <a:off x="4035425" y="31019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6" name="Rectangle 4"/>
          <p:cNvSpPr>
            <a:spLocks noChangeArrowheads="1"/>
          </p:cNvSpPr>
          <p:nvPr/>
        </p:nvSpPr>
        <p:spPr bwMode="auto">
          <a:xfrm>
            <a:off x="4419600" y="41910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47" name="AutoShape 5"/>
          <p:cNvSpPr>
            <a:spLocks noChangeArrowheads="1"/>
          </p:cNvSpPr>
          <p:nvPr/>
        </p:nvSpPr>
        <p:spPr bwMode="auto">
          <a:xfrm>
            <a:off x="7696200" y="24384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48" name="AutoShape 6"/>
          <p:cNvSpPr>
            <a:spLocks noChangeArrowheads="1"/>
          </p:cNvSpPr>
          <p:nvPr/>
        </p:nvSpPr>
        <p:spPr bwMode="auto">
          <a:xfrm>
            <a:off x="7696200" y="32004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49" name="AutoShape 7"/>
          <p:cNvSpPr>
            <a:spLocks noChangeArrowheads="1"/>
          </p:cNvSpPr>
          <p:nvPr/>
        </p:nvSpPr>
        <p:spPr bwMode="auto">
          <a:xfrm>
            <a:off x="7696200" y="41910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50" name="AutoShape 8"/>
          <p:cNvSpPr>
            <a:spLocks noChangeArrowheads="1"/>
          </p:cNvSpPr>
          <p:nvPr/>
        </p:nvSpPr>
        <p:spPr bwMode="auto">
          <a:xfrm>
            <a:off x="7696200" y="4953000"/>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1" name="Freeform 9"/>
          <p:cNvSpPr>
            <a:spLocks/>
          </p:cNvSpPr>
          <p:nvPr/>
        </p:nvSpPr>
        <p:spPr bwMode="auto">
          <a:xfrm>
            <a:off x="7162800" y="2590800"/>
            <a:ext cx="482600" cy="1588"/>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52" name="Freeform 10"/>
          <p:cNvSpPr>
            <a:spLocks/>
          </p:cNvSpPr>
          <p:nvPr/>
        </p:nvSpPr>
        <p:spPr bwMode="auto">
          <a:xfrm>
            <a:off x="7162800" y="2971800"/>
            <a:ext cx="457200" cy="457200"/>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solidFill>
            <a:schemeClr val="bg1">
              <a:lumMod val="95000"/>
            </a:schemeClr>
          </a:solidFill>
          <a:ln w="38100">
            <a:solidFill>
              <a:schemeClr val="tx1"/>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33" name="Line 11"/>
          <p:cNvSpPr>
            <a:spLocks noChangeShapeType="1"/>
          </p:cNvSpPr>
          <p:nvPr/>
        </p:nvSpPr>
        <p:spPr bwMode="auto">
          <a:xfrm flipV="1">
            <a:off x="7162800" y="2895600"/>
            <a:ext cx="4572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34" name="Line 12"/>
          <p:cNvSpPr>
            <a:spLocks noChangeShapeType="1"/>
          </p:cNvSpPr>
          <p:nvPr/>
        </p:nvSpPr>
        <p:spPr bwMode="auto">
          <a:xfrm flipV="1">
            <a:off x="7162800" y="3657600"/>
            <a:ext cx="4572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35" name="Line 13"/>
          <p:cNvSpPr>
            <a:spLocks noChangeShapeType="1"/>
          </p:cNvSpPr>
          <p:nvPr/>
        </p:nvSpPr>
        <p:spPr bwMode="auto">
          <a:xfrm flipV="1">
            <a:off x="7162800" y="4648200"/>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36" name="Line 14"/>
          <p:cNvSpPr>
            <a:spLocks noChangeShapeType="1"/>
          </p:cNvSpPr>
          <p:nvPr/>
        </p:nvSpPr>
        <p:spPr bwMode="auto">
          <a:xfrm>
            <a:off x="7162800" y="5410200"/>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37" name="Line 15"/>
          <p:cNvSpPr>
            <a:spLocks noChangeShapeType="1"/>
          </p:cNvSpPr>
          <p:nvPr/>
        </p:nvSpPr>
        <p:spPr bwMode="auto">
          <a:xfrm>
            <a:off x="7162800" y="3352800"/>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38" name="Line 16"/>
          <p:cNvSpPr>
            <a:spLocks noChangeShapeType="1"/>
          </p:cNvSpPr>
          <p:nvPr/>
        </p:nvSpPr>
        <p:spPr bwMode="auto">
          <a:xfrm>
            <a:off x="7162800" y="3733800"/>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39" name="Line 6"/>
          <p:cNvSpPr>
            <a:spLocks noChangeShapeType="1"/>
          </p:cNvSpPr>
          <p:nvPr/>
        </p:nvSpPr>
        <p:spPr bwMode="auto">
          <a:xfrm>
            <a:off x="8010525" y="25749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40" name="Line 6"/>
          <p:cNvSpPr>
            <a:spLocks noChangeShapeType="1"/>
          </p:cNvSpPr>
          <p:nvPr/>
        </p:nvSpPr>
        <p:spPr bwMode="auto">
          <a:xfrm>
            <a:off x="8010525" y="29352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41" name="Line 6"/>
          <p:cNvSpPr>
            <a:spLocks noChangeShapeType="1"/>
          </p:cNvSpPr>
          <p:nvPr/>
        </p:nvSpPr>
        <p:spPr bwMode="auto">
          <a:xfrm>
            <a:off x="8010525" y="33321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42" name="Line 6"/>
          <p:cNvSpPr>
            <a:spLocks noChangeShapeType="1"/>
          </p:cNvSpPr>
          <p:nvPr/>
        </p:nvSpPr>
        <p:spPr bwMode="auto">
          <a:xfrm>
            <a:off x="8010525" y="36941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43" name="Line 6"/>
          <p:cNvSpPr>
            <a:spLocks noChangeShapeType="1"/>
          </p:cNvSpPr>
          <p:nvPr/>
        </p:nvSpPr>
        <p:spPr bwMode="auto">
          <a:xfrm>
            <a:off x="8010525" y="43275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44" name="Line 6"/>
          <p:cNvSpPr>
            <a:spLocks noChangeShapeType="1"/>
          </p:cNvSpPr>
          <p:nvPr/>
        </p:nvSpPr>
        <p:spPr bwMode="auto">
          <a:xfrm>
            <a:off x="8010525" y="47244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45" name="Line 6"/>
          <p:cNvSpPr>
            <a:spLocks noChangeShapeType="1"/>
          </p:cNvSpPr>
          <p:nvPr/>
        </p:nvSpPr>
        <p:spPr bwMode="auto">
          <a:xfrm>
            <a:off x="8010525" y="51212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46" name="Line 6"/>
          <p:cNvSpPr>
            <a:spLocks noChangeShapeType="1"/>
          </p:cNvSpPr>
          <p:nvPr/>
        </p:nvSpPr>
        <p:spPr bwMode="auto">
          <a:xfrm>
            <a:off x="8010525" y="548322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1047" name="Text Box 24"/>
          <p:cNvSpPr txBox="1">
            <a:spLocks noChangeArrowheads="1"/>
          </p:cNvSpPr>
          <p:nvPr/>
        </p:nvSpPr>
        <p:spPr bwMode="auto">
          <a:xfrm>
            <a:off x="5273675" y="1260475"/>
            <a:ext cx="3684588" cy="523875"/>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Diff at most 1</a:t>
            </a:r>
          </a:p>
        </p:txBody>
      </p:sp>
      <p:sp>
        <p:nvSpPr>
          <p:cNvPr id="171048" name="AutoShape 22"/>
          <p:cNvSpPr>
            <a:spLocks noChangeArrowheads="1"/>
          </p:cNvSpPr>
          <p:nvPr/>
        </p:nvSpPr>
        <p:spPr bwMode="auto">
          <a:xfrm>
            <a:off x="3265488" y="3890963"/>
            <a:ext cx="1204912" cy="1766887"/>
          </a:xfrm>
          <a:prstGeom prst="wedgeRoundRectCallout">
            <a:avLst>
              <a:gd name="adj1" fmla="val 198440"/>
              <a:gd name="adj2" fmla="val -152815"/>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71049" name="Oval 32"/>
          <p:cNvSpPr>
            <a:spLocks noChangeArrowheads="1"/>
          </p:cNvSpPr>
          <p:nvPr/>
        </p:nvSpPr>
        <p:spPr bwMode="auto">
          <a:xfrm flipH="1">
            <a:off x="3413125" y="40894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0" name="Oval 33"/>
          <p:cNvSpPr>
            <a:spLocks noChangeArrowheads="1"/>
          </p:cNvSpPr>
          <p:nvPr/>
        </p:nvSpPr>
        <p:spPr bwMode="auto">
          <a:xfrm flipH="1">
            <a:off x="3413125" y="44704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1" name="Oval 34"/>
          <p:cNvSpPr>
            <a:spLocks noChangeArrowheads="1"/>
          </p:cNvSpPr>
          <p:nvPr/>
        </p:nvSpPr>
        <p:spPr bwMode="auto">
          <a:xfrm flipH="1">
            <a:off x="3717925" y="40894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2" name="Oval 35"/>
          <p:cNvSpPr>
            <a:spLocks noChangeArrowheads="1"/>
          </p:cNvSpPr>
          <p:nvPr/>
        </p:nvSpPr>
        <p:spPr bwMode="auto">
          <a:xfrm flipH="1">
            <a:off x="3425825" y="4927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3" name="Oval 36"/>
          <p:cNvSpPr>
            <a:spLocks noChangeArrowheads="1"/>
          </p:cNvSpPr>
          <p:nvPr/>
        </p:nvSpPr>
        <p:spPr bwMode="auto">
          <a:xfrm flipH="1">
            <a:off x="3425825" y="5232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4" name="Oval 37"/>
          <p:cNvSpPr>
            <a:spLocks noChangeArrowheads="1"/>
          </p:cNvSpPr>
          <p:nvPr/>
        </p:nvSpPr>
        <p:spPr bwMode="auto">
          <a:xfrm flipH="1">
            <a:off x="3730625" y="4927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5" name="Oval 38"/>
          <p:cNvSpPr>
            <a:spLocks noChangeArrowheads="1"/>
          </p:cNvSpPr>
          <p:nvPr/>
        </p:nvSpPr>
        <p:spPr bwMode="auto">
          <a:xfrm flipH="1">
            <a:off x="3730625" y="5232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6" name="Oval 39"/>
          <p:cNvSpPr>
            <a:spLocks noChangeArrowheads="1"/>
          </p:cNvSpPr>
          <p:nvPr/>
        </p:nvSpPr>
        <p:spPr bwMode="auto">
          <a:xfrm flipH="1">
            <a:off x="4035425" y="4927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57" name="Oval 44"/>
          <p:cNvSpPr>
            <a:spLocks noChangeArrowheads="1"/>
          </p:cNvSpPr>
          <p:nvPr/>
        </p:nvSpPr>
        <p:spPr bwMode="auto">
          <a:xfrm flipH="1">
            <a:off x="4035425" y="52324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Rectangle 3"/>
          <p:cNvSpPr>
            <a:spLocks noChangeArrowheads="1"/>
          </p:cNvSpPr>
          <p:nvPr/>
        </p:nvSpPr>
        <p:spPr bwMode="auto">
          <a:xfrm>
            <a:off x="4419600" y="24384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28" name="Footer Placeholder 2"/>
          <p:cNvSpPr>
            <a:spLocks noGrp="1"/>
          </p:cNvSpPr>
          <p:nvPr>
            <p:ph type="ftr" sz="quarter" idx="10"/>
          </p:nvPr>
        </p:nvSpPr>
        <p:spPr/>
        <p:txBody>
          <a:bodyPr/>
          <a:lstStyle/>
          <a:p>
            <a:pPr>
              <a:defRPr/>
            </a:pPr>
            <a:r>
              <a:rPr lang="en-US" dirty="0"/>
              <a:t>Art of Multiprocessor Programming</a:t>
            </a:r>
          </a:p>
        </p:txBody>
      </p:sp>
      <p:sp>
        <p:nvSpPr>
          <p:cNvPr id="29" name="Slide Number Placeholder 3"/>
          <p:cNvSpPr>
            <a:spLocks noGrp="1"/>
          </p:cNvSpPr>
          <p:nvPr>
            <p:ph type="sldNum" sz="quarter" idx="11"/>
          </p:nvPr>
        </p:nvSpPr>
        <p:spPr/>
        <p:txBody>
          <a:bodyPr/>
          <a:lstStyle/>
          <a:p>
            <a:pPr>
              <a:defRPr/>
            </a:pPr>
            <a:fld id="{0EDA4A97-A356-4436-8D51-6ACAFC7D6402}" type="slidenum">
              <a:rPr lang="en-US"/>
              <a:pPr>
                <a:defRPr/>
              </a:pPr>
              <a:t>174</a:t>
            </a:fld>
            <a:endParaRPr lang="en-US"/>
          </a:p>
        </p:txBody>
      </p:sp>
      <p:sp>
        <p:nvSpPr>
          <p:cNvPr id="172037" name="Rectangle 2"/>
          <p:cNvSpPr>
            <a:spLocks noGrp="1" noChangeArrowheads="1"/>
          </p:cNvSpPr>
          <p:nvPr>
            <p:ph type="title"/>
          </p:nvPr>
        </p:nvSpPr>
        <p:spPr>
          <a:xfrm>
            <a:off x="685800" y="379413"/>
            <a:ext cx="7772400" cy="1143000"/>
          </a:xfrm>
        </p:spPr>
        <p:txBody>
          <a:bodyPr/>
          <a:lstStyle/>
          <a:p>
            <a:r>
              <a:rPr lang="en-US"/>
              <a:t>By Induction Hypothesis</a:t>
            </a:r>
          </a:p>
        </p:txBody>
      </p:sp>
      <p:sp>
        <p:nvSpPr>
          <p:cNvPr id="146" name="Rectangle 4"/>
          <p:cNvSpPr>
            <a:spLocks noChangeArrowheads="1"/>
          </p:cNvSpPr>
          <p:nvPr/>
        </p:nvSpPr>
        <p:spPr bwMode="auto">
          <a:xfrm>
            <a:off x="4419600" y="41910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72039" name="AutoShape 22"/>
          <p:cNvSpPr>
            <a:spLocks noChangeArrowheads="1"/>
          </p:cNvSpPr>
          <p:nvPr/>
        </p:nvSpPr>
        <p:spPr bwMode="auto">
          <a:xfrm>
            <a:off x="7253288" y="2193925"/>
            <a:ext cx="1069975" cy="1765300"/>
          </a:xfrm>
          <a:prstGeom prst="wedgeRoundRectCallout">
            <a:avLst>
              <a:gd name="adj1" fmla="val -139866"/>
              <a:gd name="adj2" fmla="val -49255"/>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72040" name="Oval 23"/>
          <p:cNvSpPr>
            <a:spLocks noChangeArrowheads="1"/>
          </p:cNvSpPr>
          <p:nvPr/>
        </p:nvSpPr>
        <p:spPr bwMode="auto">
          <a:xfrm flipH="1">
            <a:off x="3122613" y="24161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41" name="Oval 24"/>
          <p:cNvSpPr>
            <a:spLocks noChangeArrowheads="1"/>
          </p:cNvSpPr>
          <p:nvPr/>
        </p:nvSpPr>
        <p:spPr bwMode="auto">
          <a:xfrm flipH="1">
            <a:off x="3122613" y="27971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42" name="Oval 25"/>
          <p:cNvSpPr>
            <a:spLocks noChangeArrowheads="1"/>
          </p:cNvSpPr>
          <p:nvPr/>
        </p:nvSpPr>
        <p:spPr bwMode="auto">
          <a:xfrm flipH="1">
            <a:off x="3427413" y="24161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43" name="Oval 26"/>
          <p:cNvSpPr>
            <a:spLocks noChangeArrowheads="1"/>
          </p:cNvSpPr>
          <p:nvPr/>
        </p:nvSpPr>
        <p:spPr bwMode="auto">
          <a:xfrm flipH="1">
            <a:off x="3122613" y="32543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44" name="Oval 27"/>
          <p:cNvSpPr>
            <a:spLocks noChangeArrowheads="1"/>
          </p:cNvSpPr>
          <p:nvPr/>
        </p:nvSpPr>
        <p:spPr bwMode="auto">
          <a:xfrm flipH="1">
            <a:off x="3122613" y="35591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45" name="Oval 28"/>
          <p:cNvSpPr>
            <a:spLocks noChangeArrowheads="1"/>
          </p:cNvSpPr>
          <p:nvPr/>
        </p:nvSpPr>
        <p:spPr bwMode="auto">
          <a:xfrm flipH="1">
            <a:off x="3427413" y="32543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46" name="Oval 29"/>
          <p:cNvSpPr>
            <a:spLocks noChangeArrowheads="1"/>
          </p:cNvSpPr>
          <p:nvPr/>
        </p:nvSpPr>
        <p:spPr bwMode="auto">
          <a:xfrm flipH="1">
            <a:off x="3427413" y="35591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47" name="Oval 30"/>
          <p:cNvSpPr>
            <a:spLocks noChangeArrowheads="1"/>
          </p:cNvSpPr>
          <p:nvPr/>
        </p:nvSpPr>
        <p:spPr bwMode="auto">
          <a:xfrm flipH="1">
            <a:off x="3738563" y="32543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48" name="AutoShape 22"/>
          <p:cNvSpPr>
            <a:spLocks noChangeArrowheads="1"/>
          </p:cNvSpPr>
          <p:nvPr/>
        </p:nvSpPr>
        <p:spPr bwMode="auto">
          <a:xfrm>
            <a:off x="7304088" y="4041775"/>
            <a:ext cx="1154112" cy="1765300"/>
          </a:xfrm>
          <a:prstGeom prst="wedgeRoundRectCallout">
            <a:avLst>
              <a:gd name="adj1" fmla="val -160449"/>
              <a:gd name="adj2" fmla="val -149301"/>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72049" name="Oval 32"/>
          <p:cNvSpPr>
            <a:spLocks noChangeArrowheads="1"/>
          </p:cNvSpPr>
          <p:nvPr/>
        </p:nvSpPr>
        <p:spPr bwMode="auto">
          <a:xfrm flipH="1">
            <a:off x="3116263" y="4241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50" name="Oval 33"/>
          <p:cNvSpPr>
            <a:spLocks noChangeArrowheads="1"/>
          </p:cNvSpPr>
          <p:nvPr/>
        </p:nvSpPr>
        <p:spPr bwMode="auto">
          <a:xfrm flipH="1">
            <a:off x="3116263" y="4622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51" name="Oval 34"/>
          <p:cNvSpPr>
            <a:spLocks noChangeArrowheads="1"/>
          </p:cNvSpPr>
          <p:nvPr/>
        </p:nvSpPr>
        <p:spPr bwMode="auto">
          <a:xfrm flipH="1">
            <a:off x="3421063" y="4241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52" name="Oval 35"/>
          <p:cNvSpPr>
            <a:spLocks noChangeArrowheads="1"/>
          </p:cNvSpPr>
          <p:nvPr/>
        </p:nvSpPr>
        <p:spPr bwMode="auto">
          <a:xfrm flipH="1">
            <a:off x="3128963" y="5080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53" name="Oval 36"/>
          <p:cNvSpPr>
            <a:spLocks noChangeArrowheads="1"/>
          </p:cNvSpPr>
          <p:nvPr/>
        </p:nvSpPr>
        <p:spPr bwMode="auto">
          <a:xfrm flipH="1">
            <a:off x="3128963" y="5384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54" name="Oval 37"/>
          <p:cNvSpPr>
            <a:spLocks noChangeArrowheads="1"/>
          </p:cNvSpPr>
          <p:nvPr/>
        </p:nvSpPr>
        <p:spPr bwMode="auto">
          <a:xfrm flipH="1">
            <a:off x="3433763" y="5080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55" name="Oval 38"/>
          <p:cNvSpPr>
            <a:spLocks noChangeArrowheads="1"/>
          </p:cNvSpPr>
          <p:nvPr/>
        </p:nvSpPr>
        <p:spPr bwMode="auto">
          <a:xfrm flipH="1">
            <a:off x="3433763" y="5384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56" name="Oval 39"/>
          <p:cNvSpPr>
            <a:spLocks noChangeArrowheads="1"/>
          </p:cNvSpPr>
          <p:nvPr/>
        </p:nvSpPr>
        <p:spPr bwMode="auto">
          <a:xfrm flipH="1">
            <a:off x="3738563" y="5080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57" name="Oval 44"/>
          <p:cNvSpPr>
            <a:spLocks noChangeArrowheads="1"/>
          </p:cNvSpPr>
          <p:nvPr/>
        </p:nvSpPr>
        <p:spPr bwMode="auto">
          <a:xfrm flipH="1">
            <a:off x="3738563" y="5384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72058" name="Group 54"/>
          <p:cNvGrpSpPr>
            <a:grpSpLocks/>
          </p:cNvGrpSpPr>
          <p:nvPr/>
        </p:nvGrpSpPr>
        <p:grpSpPr bwMode="auto">
          <a:xfrm flipH="1">
            <a:off x="7494588" y="2314575"/>
            <a:ext cx="828675" cy="3352800"/>
            <a:chOff x="5867400" y="2133600"/>
            <a:chExt cx="828675" cy="3352800"/>
          </a:xfrm>
        </p:grpSpPr>
        <p:sp>
          <p:nvSpPr>
            <p:cNvPr id="172060" name="Oval 29"/>
            <p:cNvSpPr>
              <a:spLocks noChangeArrowheads="1"/>
            </p:cNvSpPr>
            <p:nvPr/>
          </p:nvSpPr>
          <p:spPr bwMode="auto">
            <a:xfrm>
              <a:off x="6467475" y="2133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1" name="Oval 30"/>
            <p:cNvSpPr>
              <a:spLocks noChangeArrowheads="1"/>
            </p:cNvSpPr>
            <p:nvPr/>
          </p:nvSpPr>
          <p:spPr bwMode="auto">
            <a:xfrm>
              <a:off x="6467475" y="2514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2" name="Oval 31"/>
            <p:cNvSpPr>
              <a:spLocks noChangeArrowheads="1"/>
            </p:cNvSpPr>
            <p:nvPr/>
          </p:nvSpPr>
          <p:spPr bwMode="auto">
            <a:xfrm>
              <a:off x="6129338" y="2133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3" name="Oval 32"/>
            <p:cNvSpPr>
              <a:spLocks noChangeArrowheads="1"/>
            </p:cNvSpPr>
            <p:nvPr/>
          </p:nvSpPr>
          <p:spPr bwMode="auto">
            <a:xfrm>
              <a:off x="6467475" y="2895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4" name="Oval 33"/>
            <p:cNvSpPr>
              <a:spLocks noChangeArrowheads="1"/>
            </p:cNvSpPr>
            <p:nvPr/>
          </p:nvSpPr>
          <p:spPr bwMode="auto">
            <a:xfrm>
              <a:off x="6467475" y="3276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5" name="Oval 34"/>
            <p:cNvSpPr>
              <a:spLocks noChangeArrowheads="1"/>
            </p:cNvSpPr>
            <p:nvPr/>
          </p:nvSpPr>
          <p:spPr bwMode="auto">
            <a:xfrm>
              <a:off x="6129338" y="2895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6" name="Oval 35"/>
            <p:cNvSpPr>
              <a:spLocks noChangeArrowheads="1"/>
            </p:cNvSpPr>
            <p:nvPr/>
          </p:nvSpPr>
          <p:spPr bwMode="auto">
            <a:xfrm>
              <a:off x="6129338" y="3276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7" name="Oval 36"/>
            <p:cNvSpPr>
              <a:spLocks noChangeArrowheads="1"/>
            </p:cNvSpPr>
            <p:nvPr/>
          </p:nvSpPr>
          <p:spPr bwMode="auto">
            <a:xfrm>
              <a:off x="6129338" y="2514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8" name="Oval 38"/>
            <p:cNvSpPr>
              <a:spLocks noChangeArrowheads="1"/>
            </p:cNvSpPr>
            <p:nvPr/>
          </p:nvSpPr>
          <p:spPr bwMode="auto">
            <a:xfrm>
              <a:off x="6467475" y="4114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69" name="Oval 39"/>
            <p:cNvSpPr>
              <a:spLocks noChangeArrowheads="1"/>
            </p:cNvSpPr>
            <p:nvPr/>
          </p:nvSpPr>
          <p:spPr bwMode="auto">
            <a:xfrm>
              <a:off x="6467475" y="4495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70" name="Oval 40"/>
            <p:cNvSpPr>
              <a:spLocks noChangeArrowheads="1"/>
            </p:cNvSpPr>
            <p:nvPr/>
          </p:nvSpPr>
          <p:spPr bwMode="auto">
            <a:xfrm>
              <a:off x="6164263" y="4114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71" name="Oval 41"/>
            <p:cNvSpPr>
              <a:spLocks noChangeArrowheads="1"/>
            </p:cNvSpPr>
            <p:nvPr/>
          </p:nvSpPr>
          <p:spPr bwMode="auto">
            <a:xfrm>
              <a:off x="6467475" y="4876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72" name="Oval 42"/>
            <p:cNvSpPr>
              <a:spLocks noChangeArrowheads="1"/>
            </p:cNvSpPr>
            <p:nvPr/>
          </p:nvSpPr>
          <p:spPr bwMode="auto">
            <a:xfrm>
              <a:off x="6467475" y="5257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73" name="Oval 43"/>
            <p:cNvSpPr>
              <a:spLocks noChangeArrowheads="1"/>
            </p:cNvSpPr>
            <p:nvPr/>
          </p:nvSpPr>
          <p:spPr bwMode="auto">
            <a:xfrm>
              <a:off x="6164263" y="4876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74" name="Oval 44"/>
            <p:cNvSpPr>
              <a:spLocks noChangeArrowheads="1"/>
            </p:cNvSpPr>
            <p:nvPr/>
          </p:nvSpPr>
          <p:spPr bwMode="auto">
            <a:xfrm>
              <a:off x="6164263" y="5257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75" name="Oval 45"/>
            <p:cNvSpPr>
              <a:spLocks noChangeArrowheads="1"/>
            </p:cNvSpPr>
            <p:nvPr/>
          </p:nvSpPr>
          <p:spPr bwMode="auto">
            <a:xfrm>
              <a:off x="6164263" y="4495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2076" name="Oval 46"/>
            <p:cNvSpPr>
              <a:spLocks noChangeArrowheads="1"/>
            </p:cNvSpPr>
            <p:nvPr/>
          </p:nvSpPr>
          <p:spPr bwMode="auto">
            <a:xfrm>
              <a:off x="5867400" y="4114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2" name="Text Box 24"/>
          <p:cNvSpPr txBox="1">
            <a:spLocks noChangeArrowheads="1"/>
          </p:cNvSpPr>
          <p:nvPr/>
        </p:nvSpPr>
        <p:spPr bwMode="auto">
          <a:xfrm>
            <a:off x="2578100" y="1360488"/>
            <a:ext cx="3683000" cy="954087"/>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Outputs have step property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Rectangle 3"/>
          <p:cNvSpPr>
            <a:spLocks noChangeArrowheads="1"/>
          </p:cNvSpPr>
          <p:nvPr/>
        </p:nvSpPr>
        <p:spPr bwMode="auto">
          <a:xfrm>
            <a:off x="4419600" y="24384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28" name="Footer Placeholder 2"/>
          <p:cNvSpPr>
            <a:spLocks noGrp="1"/>
          </p:cNvSpPr>
          <p:nvPr>
            <p:ph type="ftr" sz="quarter" idx="10"/>
          </p:nvPr>
        </p:nvSpPr>
        <p:spPr/>
        <p:txBody>
          <a:bodyPr/>
          <a:lstStyle/>
          <a:p>
            <a:pPr>
              <a:defRPr/>
            </a:pPr>
            <a:r>
              <a:rPr lang="en-US" dirty="0"/>
              <a:t>Art of Multiprocessor Programming</a:t>
            </a:r>
          </a:p>
        </p:txBody>
      </p:sp>
      <p:sp>
        <p:nvSpPr>
          <p:cNvPr id="29" name="Slide Number Placeholder 3"/>
          <p:cNvSpPr>
            <a:spLocks noGrp="1"/>
          </p:cNvSpPr>
          <p:nvPr>
            <p:ph type="sldNum" sz="quarter" idx="11"/>
          </p:nvPr>
        </p:nvSpPr>
        <p:spPr/>
        <p:txBody>
          <a:bodyPr/>
          <a:lstStyle/>
          <a:p>
            <a:pPr>
              <a:defRPr/>
            </a:pPr>
            <a:fld id="{6EDFEF69-E94A-451C-8671-BA267B923044}" type="slidenum">
              <a:rPr lang="en-US"/>
              <a:pPr>
                <a:defRPr/>
              </a:pPr>
              <a:t>175</a:t>
            </a:fld>
            <a:endParaRPr lang="en-US"/>
          </a:p>
        </p:txBody>
      </p:sp>
      <p:sp>
        <p:nvSpPr>
          <p:cNvPr id="173061" name="Rectangle 2"/>
          <p:cNvSpPr>
            <a:spLocks noGrp="1" noChangeArrowheads="1"/>
          </p:cNvSpPr>
          <p:nvPr>
            <p:ph type="title"/>
          </p:nvPr>
        </p:nvSpPr>
        <p:spPr>
          <a:xfrm>
            <a:off x="685800" y="379413"/>
            <a:ext cx="7772400" cy="1143000"/>
          </a:xfrm>
        </p:spPr>
        <p:txBody>
          <a:bodyPr/>
          <a:lstStyle/>
          <a:p>
            <a:r>
              <a:rPr lang="en-US"/>
              <a:t>By Lemma 2</a:t>
            </a:r>
          </a:p>
        </p:txBody>
      </p:sp>
      <p:sp>
        <p:nvSpPr>
          <p:cNvPr id="146" name="Rectangle 4"/>
          <p:cNvSpPr>
            <a:spLocks noChangeArrowheads="1"/>
          </p:cNvSpPr>
          <p:nvPr/>
        </p:nvSpPr>
        <p:spPr bwMode="auto">
          <a:xfrm>
            <a:off x="4419600" y="4191000"/>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73063" name="AutoShape 22"/>
          <p:cNvSpPr>
            <a:spLocks noChangeArrowheads="1"/>
          </p:cNvSpPr>
          <p:nvPr/>
        </p:nvSpPr>
        <p:spPr bwMode="auto">
          <a:xfrm>
            <a:off x="7253288" y="2193925"/>
            <a:ext cx="1069975" cy="1765300"/>
          </a:xfrm>
          <a:prstGeom prst="wedgeRoundRectCallout">
            <a:avLst>
              <a:gd name="adj1" fmla="val -139866"/>
              <a:gd name="adj2" fmla="val -49255"/>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73064" name="Oval 23"/>
          <p:cNvSpPr>
            <a:spLocks noChangeArrowheads="1"/>
          </p:cNvSpPr>
          <p:nvPr/>
        </p:nvSpPr>
        <p:spPr bwMode="auto">
          <a:xfrm flipH="1">
            <a:off x="3122613" y="24161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65" name="Oval 24"/>
          <p:cNvSpPr>
            <a:spLocks noChangeArrowheads="1"/>
          </p:cNvSpPr>
          <p:nvPr/>
        </p:nvSpPr>
        <p:spPr bwMode="auto">
          <a:xfrm flipH="1">
            <a:off x="3122613" y="27971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66" name="Oval 25"/>
          <p:cNvSpPr>
            <a:spLocks noChangeArrowheads="1"/>
          </p:cNvSpPr>
          <p:nvPr/>
        </p:nvSpPr>
        <p:spPr bwMode="auto">
          <a:xfrm flipH="1">
            <a:off x="3427413" y="241617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67" name="Oval 26"/>
          <p:cNvSpPr>
            <a:spLocks noChangeArrowheads="1"/>
          </p:cNvSpPr>
          <p:nvPr/>
        </p:nvSpPr>
        <p:spPr bwMode="auto">
          <a:xfrm flipH="1">
            <a:off x="3122613" y="32543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68" name="Oval 27"/>
          <p:cNvSpPr>
            <a:spLocks noChangeArrowheads="1"/>
          </p:cNvSpPr>
          <p:nvPr/>
        </p:nvSpPr>
        <p:spPr bwMode="auto">
          <a:xfrm flipH="1">
            <a:off x="3122613" y="35591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69" name="Oval 28"/>
          <p:cNvSpPr>
            <a:spLocks noChangeArrowheads="1"/>
          </p:cNvSpPr>
          <p:nvPr/>
        </p:nvSpPr>
        <p:spPr bwMode="auto">
          <a:xfrm flipH="1">
            <a:off x="3427413" y="32543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0" name="Oval 29"/>
          <p:cNvSpPr>
            <a:spLocks noChangeArrowheads="1"/>
          </p:cNvSpPr>
          <p:nvPr/>
        </p:nvSpPr>
        <p:spPr bwMode="auto">
          <a:xfrm flipH="1">
            <a:off x="3427413" y="35591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1" name="Oval 30"/>
          <p:cNvSpPr>
            <a:spLocks noChangeArrowheads="1"/>
          </p:cNvSpPr>
          <p:nvPr/>
        </p:nvSpPr>
        <p:spPr bwMode="auto">
          <a:xfrm flipH="1">
            <a:off x="3738563" y="325437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2" name="AutoShape 22"/>
          <p:cNvSpPr>
            <a:spLocks noChangeArrowheads="1"/>
          </p:cNvSpPr>
          <p:nvPr/>
        </p:nvSpPr>
        <p:spPr bwMode="auto">
          <a:xfrm>
            <a:off x="7304088" y="4041775"/>
            <a:ext cx="1154112" cy="1765300"/>
          </a:xfrm>
          <a:prstGeom prst="wedgeRoundRectCallout">
            <a:avLst>
              <a:gd name="adj1" fmla="val -160449"/>
              <a:gd name="adj2" fmla="val -149301"/>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73073" name="Oval 32"/>
          <p:cNvSpPr>
            <a:spLocks noChangeArrowheads="1"/>
          </p:cNvSpPr>
          <p:nvPr/>
        </p:nvSpPr>
        <p:spPr bwMode="auto">
          <a:xfrm flipH="1">
            <a:off x="3116263" y="4241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4" name="Oval 33"/>
          <p:cNvSpPr>
            <a:spLocks noChangeArrowheads="1"/>
          </p:cNvSpPr>
          <p:nvPr/>
        </p:nvSpPr>
        <p:spPr bwMode="auto">
          <a:xfrm flipH="1">
            <a:off x="3116263" y="4622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5" name="Oval 34"/>
          <p:cNvSpPr>
            <a:spLocks noChangeArrowheads="1"/>
          </p:cNvSpPr>
          <p:nvPr/>
        </p:nvSpPr>
        <p:spPr bwMode="auto">
          <a:xfrm flipH="1">
            <a:off x="3421063" y="4241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6" name="Oval 35"/>
          <p:cNvSpPr>
            <a:spLocks noChangeArrowheads="1"/>
          </p:cNvSpPr>
          <p:nvPr/>
        </p:nvSpPr>
        <p:spPr bwMode="auto">
          <a:xfrm flipH="1">
            <a:off x="3128963" y="5080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7" name="Oval 36"/>
          <p:cNvSpPr>
            <a:spLocks noChangeArrowheads="1"/>
          </p:cNvSpPr>
          <p:nvPr/>
        </p:nvSpPr>
        <p:spPr bwMode="auto">
          <a:xfrm flipH="1">
            <a:off x="3128963" y="5384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8" name="Oval 37"/>
          <p:cNvSpPr>
            <a:spLocks noChangeArrowheads="1"/>
          </p:cNvSpPr>
          <p:nvPr/>
        </p:nvSpPr>
        <p:spPr bwMode="auto">
          <a:xfrm flipH="1">
            <a:off x="3433763" y="5080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79" name="Oval 38"/>
          <p:cNvSpPr>
            <a:spLocks noChangeArrowheads="1"/>
          </p:cNvSpPr>
          <p:nvPr/>
        </p:nvSpPr>
        <p:spPr bwMode="auto">
          <a:xfrm flipH="1">
            <a:off x="3433763" y="5384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80" name="Oval 39"/>
          <p:cNvSpPr>
            <a:spLocks noChangeArrowheads="1"/>
          </p:cNvSpPr>
          <p:nvPr/>
        </p:nvSpPr>
        <p:spPr bwMode="auto">
          <a:xfrm flipH="1">
            <a:off x="3738563" y="50800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81" name="Oval 44"/>
          <p:cNvSpPr>
            <a:spLocks noChangeArrowheads="1"/>
          </p:cNvSpPr>
          <p:nvPr/>
        </p:nvSpPr>
        <p:spPr bwMode="auto">
          <a:xfrm flipH="1">
            <a:off x="3738563" y="5384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73082" name="Group 54"/>
          <p:cNvGrpSpPr>
            <a:grpSpLocks/>
          </p:cNvGrpSpPr>
          <p:nvPr/>
        </p:nvGrpSpPr>
        <p:grpSpPr bwMode="auto">
          <a:xfrm flipH="1">
            <a:off x="7494588" y="2314575"/>
            <a:ext cx="828675" cy="3352800"/>
            <a:chOff x="5867400" y="2133600"/>
            <a:chExt cx="828675" cy="3352800"/>
          </a:xfrm>
        </p:grpSpPr>
        <p:sp>
          <p:nvSpPr>
            <p:cNvPr id="173084" name="Oval 29"/>
            <p:cNvSpPr>
              <a:spLocks noChangeArrowheads="1"/>
            </p:cNvSpPr>
            <p:nvPr/>
          </p:nvSpPr>
          <p:spPr bwMode="auto">
            <a:xfrm>
              <a:off x="6467475" y="2133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85" name="Oval 30"/>
            <p:cNvSpPr>
              <a:spLocks noChangeArrowheads="1"/>
            </p:cNvSpPr>
            <p:nvPr/>
          </p:nvSpPr>
          <p:spPr bwMode="auto">
            <a:xfrm>
              <a:off x="6467475" y="2514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86" name="Oval 31"/>
            <p:cNvSpPr>
              <a:spLocks noChangeArrowheads="1"/>
            </p:cNvSpPr>
            <p:nvPr/>
          </p:nvSpPr>
          <p:spPr bwMode="auto">
            <a:xfrm>
              <a:off x="6129338" y="21336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87" name="Oval 32"/>
            <p:cNvSpPr>
              <a:spLocks noChangeArrowheads="1"/>
            </p:cNvSpPr>
            <p:nvPr/>
          </p:nvSpPr>
          <p:spPr bwMode="auto">
            <a:xfrm>
              <a:off x="6467475" y="2895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88" name="Oval 33"/>
            <p:cNvSpPr>
              <a:spLocks noChangeArrowheads="1"/>
            </p:cNvSpPr>
            <p:nvPr/>
          </p:nvSpPr>
          <p:spPr bwMode="auto">
            <a:xfrm>
              <a:off x="6467475" y="3276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89" name="Oval 34"/>
            <p:cNvSpPr>
              <a:spLocks noChangeArrowheads="1"/>
            </p:cNvSpPr>
            <p:nvPr/>
          </p:nvSpPr>
          <p:spPr bwMode="auto">
            <a:xfrm>
              <a:off x="6129338" y="2895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0" name="Oval 35"/>
            <p:cNvSpPr>
              <a:spLocks noChangeArrowheads="1"/>
            </p:cNvSpPr>
            <p:nvPr/>
          </p:nvSpPr>
          <p:spPr bwMode="auto">
            <a:xfrm>
              <a:off x="6129338" y="3276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1" name="Oval 36"/>
            <p:cNvSpPr>
              <a:spLocks noChangeArrowheads="1"/>
            </p:cNvSpPr>
            <p:nvPr/>
          </p:nvSpPr>
          <p:spPr bwMode="auto">
            <a:xfrm>
              <a:off x="6129338" y="25146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2" name="Oval 38"/>
            <p:cNvSpPr>
              <a:spLocks noChangeArrowheads="1"/>
            </p:cNvSpPr>
            <p:nvPr/>
          </p:nvSpPr>
          <p:spPr bwMode="auto">
            <a:xfrm>
              <a:off x="6467475" y="4114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3" name="Oval 39"/>
            <p:cNvSpPr>
              <a:spLocks noChangeArrowheads="1"/>
            </p:cNvSpPr>
            <p:nvPr/>
          </p:nvSpPr>
          <p:spPr bwMode="auto">
            <a:xfrm>
              <a:off x="6467475" y="4495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4" name="Oval 40"/>
            <p:cNvSpPr>
              <a:spLocks noChangeArrowheads="1"/>
            </p:cNvSpPr>
            <p:nvPr/>
          </p:nvSpPr>
          <p:spPr bwMode="auto">
            <a:xfrm>
              <a:off x="6164263" y="41148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5" name="Oval 41"/>
            <p:cNvSpPr>
              <a:spLocks noChangeArrowheads="1"/>
            </p:cNvSpPr>
            <p:nvPr/>
          </p:nvSpPr>
          <p:spPr bwMode="auto">
            <a:xfrm>
              <a:off x="6467475" y="4876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6" name="Oval 42"/>
            <p:cNvSpPr>
              <a:spLocks noChangeArrowheads="1"/>
            </p:cNvSpPr>
            <p:nvPr/>
          </p:nvSpPr>
          <p:spPr bwMode="auto">
            <a:xfrm>
              <a:off x="6467475" y="5257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7" name="Oval 43"/>
            <p:cNvSpPr>
              <a:spLocks noChangeArrowheads="1"/>
            </p:cNvSpPr>
            <p:nvPr/>
          </p:nvSpPr>
          <p:spPr bwMode="auto">
            <a:xfrm>
              <a:off x="6164263" y="4876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8" name="Oval 44"/>
            <p:cNvSpPr>
              <a:spLocks noChangeArrowheads="1"/>
            </p:cNvSpPr>
            <p:nvPr/>
          </p:nvSpPr>
          <p:spPr bwMode="auto">
            <a:xfrm>
              <a:off x="6164263" y="5257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099" name="Oval 45"/>
            <p:cNvSpPr>
              <a:spLocks noChangeArrowheads="1"/>
            </p:cNvSpPr>
            <p:nvPr/>
          </p:nvSpPr>
          <p:spPr bwMode="auto">
            <a:xfrm>
              <a:off x="6164263" y="4495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3100" name="Oval 46"/>
            <p:cNvSpPr>
              <a:spLocks noChangeArrowheads="1"/>
            </p:cNvSpPr>
            <p:nvPr/>
          </p:nvSpPr>
          <p:spPr bwMode="auto">
            <a:xfrm>
              <a:off x="5867400" y="41148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82" name="Text Box 24"/>
          <p:cNvSpPr txBox="1">
            <a:spLocks noChangeArrowheads="1"/>
          </p:cNvSpPr>
          <p:nvPr/>
        </p:nvSpPr>
        <p:spPr bwMode="auto">
          <a:xfrm>
            <a:off x="2578100" y="1522413"/>
            <a:ext cx="3683000" cy="523875"/>
          </a:xfrm>
          <a:prstGeom prst="rect">
            <a:avLst/>
          </a:prstGeom>
          <a:no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At most one diff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3"/>
          <p:cNvSpPr>
            <a:spLocks noGrp="1"/>
          </p:cNvSpPr>
          <p:nvPr>
            <p:ph type="ftr" sz="quarter" idx="10"/>
          </p:nvPr>
        </p:nvSpPr>
        <p:spPr/>
        <p:txBody>
          <a:bodyPr/>
          <a:lstStyle/>
          <a:p>
            <a:pPr>
              <a:defRPr/>
            </a:pPr>
            <a:r>
              <a:rPr lang="en-US"/>
              <a:t>Art of Multiprocessor Programming</a:t>
            </a:r>
          </a:p>
        </p:txBody>
      </p:sp>
      <p:sp>
        <p:nvSpPr>
          <p:cNvPr id="41" name="Slide Number Placeholder 4"/>
          <p:cNvSpPr>
            <a:spLocks noGrp="1"/>
          </p:cNvSpPr>
          <p:nvPr>
            <p:ph type="sldNum" sz="quarter" idx="11"/>
          </p:nvPr>
        </p:nvSpPr>
        <p:spPr/>
        <p:txBody>
          <a:bodyPr/>
          <a:lstStyle/>
          <a:p>
            <a:pPr>
              <a:defRPr/>
            </a:pPr>
            <a:fld id="{19EB3018-0794-48A4-8182-5540A65AAFD4}" type="slidenum">
              <a:rPr lang="en-US"/>
              <a:pPr>
                <a:defRPr/>
              </a:pPr>
              <a:t>176</a:t>
            </a:fld>
            <a:endParaRPr lang="en-US"/>
          </a:p>
        </p:txBody>
      </p:sp>
      <p:sp>
        <p:nvSpPr>
          <p:cNvPr id="174084" name="Rectangle 2"/>
          <p:cNvSpPr>
            <a:spLocks noGrp="1" noChangeArrowheads="1"/>
          </p:cNvSpPr>
          <p:nvPr>
            <p:ph type="title"/>
          </p:nvPr>
        </p:nvSpPr>
        <p:spPr>
          <a:xfrm>
            <a:off x="685800" y="304800"/>
            <a:ext cx="7772400" cy="1143000"/>
          </a:xfrm>
        </p:spPr>
        <p:txBody>
          <a:bodyPr/>
          <a:lstStyle/>
          <a:p>
            <a:r>
              <a:rPr lang="en-US"/>
              <a:t>Last Row of Balancers</a:t>
            </a:r>
          </a:p>
        </p:txBody>
      </p:sp>
      <p:sp>
        <p:nvSpPr>
          <p:cNvPr id="174085" name="Text Box 11"/>
          <p:cNvSpPr txBox="1">
            <a:spLocks noChangeArrowheads="1"/>
          </p:cNvSpPr>
          <p:nvPr/>
        </p:nvSpPr>
        <p:spPr bwMode="auto">
          <a:xfrm>
            <a:off x="4016421" y="5332413"/>
            <a:ext cx="1435008" cy="707886"/>
          </a:xfrm>
          <a:prstGeom prst="rect">
            <a:avLst/>
          </a:prstGeom>
          <a:noFill/>
          <a:ln w="9525" algn="ctr">
            <a:noFill/>
            <a:miter lim="800000"/>
            <a:headEnd/>
            <a:tailEnd/>
          </a:ln>
        </p:spPr>
        <p:txBody>
          <a:bodyPr wrap="none">
            <a:spAutoFit/>
          </a:bodyPr>
          <a:lstStyle/>
          <a:p>
            <a:pPr algn="ctr">
              <a:spcBef>
                <a:spcPct val="0"/>
              </a:spcBef>
            </a:pPr>
            <a:r>
              <a:rPr lang="en-US" sz="2000" b="0">
                <a:latin typeface="Arial" pitchFamily="34" charset="0"/>
                <a:cs typeface="Arial" pitchFamily="34" charset="0"/>
              </a:rPr>
              <a:t>Outputs of </a:t>
            </a:r>
          </a:p>
          <a:p>
            <a:pPr algn="ctr">
              <a:spcBef>
                <a:spcPct val="0"/>
              </a:spcBef>
            </a:pPr>
            <a:r>
              <a:rPr lang="en-US" sz="2000" b="0">
                <a:latin typeface="Arial" pitchFamily="34" charset="0"/>
                <a:cs typeface="Arial" pitchFamily="34" charset="0"/>
              </a:rPr>
              <a:t>Merger[k]</a:t>
            </a:r>
          </a:p>
        </p:txBody>
      </p:sp>
      <p:sp>
        <p:nvSpPr>
          <p:cNvPr id="174086" name="Oval 3"/>
          <p:cNvSpPr>
            <a:spLocks noChangeArrowheads="1"/>
          </p:cNvSpPr>
          <p:nvPr/>
        </p:nvSpPr>
        <p:spPr bwMode="auto">
          <a:xfrm flipH="1">
            <a:off x="4430713"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87" name="Oval 4"/>
          <p:cNvSpPr>
            <a:spLocks noChangeArrowheads="1"/>
          </p:cNvSpPr>
          <p:nvPr/>
        </p:nvSpPr>
        <p:spPr bwMode="auto">
          <a:xfrm flipH="1">
            <a:off x="4430713" y="2236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88" name="Oval 5"/>
          <p:cNvSpPr>
            <a:spLocks noChangeArrowheads="1"/>
          </p:cNvSpPr>
          <p:nvPr/>
        </p:nvSpPr>
        <p:spPr bwMode="auto">
          <a:xfrm flipH="1">
            <a:off x="4768850"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89" name="Oval 6"/>
          <p:cNvSpPr>
            <a:spLocks noChangeArrowheads="1"/>
          </p:cNvSpPr>
          <p:nvPr/>
        </p:nvSpPr>
        <p:spPr bwMode="auto">
          <a:xfrm flipH="1">
            <a:off x="4430713"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0" name="Oval 7"/>
          <p:cNvSpPr>
            <a:spLocks noChangeArrowheads="1"/>
          </p:cNvSpPr>
          <p:nvPr/>
        </p:nvSpPr>
        <p:spPr bwMode="auto">
          <a:xfrm flipH="1">
            <a:off x="4430713"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1" name="Oval 8"/>
          <p:cNvSpPr>
            <a:spLocks noChangeArrowheads="1"/>
          </p:cNvSpPr>
          <p:nvPr/>
        </p:nvSpPr>
        <p:spPr bwMode="auto">
          <a:xfrm flipH="1">
            <a:off x="4768850"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2" name="Oval 9"/>
          <p:cNvSpPr>
            <a:spLocks noChangeArrowheads="1"/>
          </p:cNvSpPr>
          <p:nvPr/>
        </p:nvSpPr>
        <p:spPr bwMode="auto">
          <a:xfrm flipH="1">
            <a:off x="4768850"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3" name="Oval 10"/>
          <p:cNvSpPr>
            <a:spLocks noChangeArrowheads="1"/>
          </p:cNvSpPr>
          <p:nvPr/>
        </p:nvSpPr>
        <p:spPr bwMode="auto">
          <a:xfrm flipH="1">
            <a:off x="4768850" y="2236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4" name="Oval 12"/>
          <p:cNvSpPr>
            <a:spLocks noChangeArrowheads="1"/>
          </p:cNvSpPr>
          <p:nvPr/>
        </p:nvSpPr>
        <p:spPr bwMode="auto">
          <a:xfrm flipH="1">
            <a:off x="4430713"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5" name="Oval 13"/>
          <p:cNvSpPr>
            <a:spLocks noChangeArrowheads="1"/>
          </p:cNvSpPr>
          <p:nvPr/>
        </p:nvSpPr>
        <p:spPr bwMode="auto">
          <a:xfrm flipH="1">
            <a:off x="4430713" y="3797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6" name="Oval 14"/>
          <p:cNvSpPr>
            <a:spLocks noChangeArrowheads="1"/>
          </p:cNvSpPr>
          <p:nvPr/>
        </p:nvSpPr>
        <p:spPr bwMode="auto">
          <a:xfrm flipH="1">
            <a:off x="4733925"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7" name="Oval 15"/>
          <p:cNvSpPr>
            <a:spLocks noChangeArrowheads="1"/>
          </p:cNvSpPr>
          <p:nvPr/>
        </p:nvSpPr>
        <p:spPr bwMode="auto">
          <a:xfrm flipH="1">
            <a:off x="4430713"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8" name="Oval 16"/>
          <p:cNvSpPr>
            <a:spLocks noChangeArrowheads="1"/>
          </p:cNvSpPr>
          <p:nvPr/>
        </p:nvSpPr>
        <p:spPr bwMode="auto">
          <a:xfrm flipH="1">
            <a:off x="4430713"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099" name="Oval 17"/>
          <p:cNvSpPr>
            <a:spLocks noChangeArrowheads="1"/>
          </p:cNvSpPr>
          <p:nvPr/>
        </p:nvSpPr>
        <p:spPr bwMode="auto">
          <a:xfrm flipH="1">
            <a:off x="4733925"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100" name="Oval 18"/>
          <p:cNvSpPr>
            <a:spLocks noChangeArrowheads="1"/>
          </p:cNvSpPr>
          <p:nvPr/>
        </p:nvSpPr>
        <p:spPr bwMode="auto">
          <a:xfrm flipH="1">
            <a:off x="4733925"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101" name="Oval 19"/>
          <p:cNvSpPr>
            <a:spLocks noChangeArrowheads="1"/>
          </p:cNvSpPr>
          <p:nvPr/>
        </p:nvSpPr>
        <p:spPr bwMode="auto">
          <a:xfrm flipH="1">
            <a:off x="4733925" y="3797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102" name="Oval 20"/>
          <p:cNvSpPr>
            <a:spLocks noChangeArrowheads="1"/>
          </p:cNvSpPr>
          <p:nvPr/>
        </p:nvSpPr>
        <p:spPr bwMode="auto">
          <a:xfrm flipH="1">
            <a:off x="5030788" y="3416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4103" name="Text Box 29"/>
          <p:cNvSpPr txBox="1">
            <a:spLocks noChangeArrowheads="1"/>
          </p:cNvSpPr>
          <p:nvPr/>
        </p:nvSpPr>
        <p:spPr bwMode="auto">
          <a:xfrm>
            <a:off x="6951708" y="5332413"/>
            <a:ext cx="1435008" cy="707886"/>
          </a:xfrm>
          <a:prstGeom prst="rect">
            <a:avLst/>
          </a:prstGeom>
          <a:noFill/>
          <a:ln w="9525" algn="ctr">
            <a:noFill/>
            <a:miter lim="800000"/>
            <a:headEnd/>
            <a:tailEnd/>
          </a:ln>
        </p:spPr>
        <p:txBody>
          <a:bodyPr wrap="none">
            <a:spAutoFit/>
          </a:bodyPr>
          <a:lstStyle/>
          <a:p>
            <a:pPr algn="ctr">
              <a:spcBef>
                <a:spcPct val="0"/>
              </a:spcBef>
            </a:pPr>
            <a:r>
              <a:rPr lang="en-US" sz="2000" b="0">
                <a:latin typeface="Arial" pitchFamily="34" charset="0"/>
                <a:cs typeface="Arial" pitchFamily="34" charset="0"/>
              </a:rPr>
              <a:t>Outputs of </a:t>
            </a:r>
          </a:p>
          <a:p>
            <a:pPr algn="ctr">
              <a:spcBef>
                <a:spcPct val="0"/>
              </a:spcBef>
            </a:pPr>
            <a:r>
              <a:rPr lang="en-US" sz="2000" b="0">
                <a:latin typeface="Arial" pitchFamily="34" charset="0"/>
                <a:cs typeface="Arial" pitchFamily="34" charset="0"/>
              </a:rPr>
              <a:t>last layer</a:t>
            </a:r>
          </a:p>
        </p:txBody>
      </p:sp>
      <p:sp>
        <p:nvSpPr>
          <p:cNvPr id="171033" name="AutoShape 5"/>
          <p:cNvSpPr>
            <a:spLocks noChangeArrowheads="1"/>
          </p:cNvSpPr>
          <p:nvPr/>
        </p:nvSpPr>
        <p:spPr bwMode="auto">
          <a:xfrm>
            <a:off x="5964238" y="17668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4" name="AutoShape 6"/>
          <p:cNvSpPr>
            <a:spLocks noChangeArrowheads="1"/>
          </p:cNvSpPr>
          <p:nvPr/>
        </p:nvSpPr>
        <p:spPr bwMode="auto">
          <a:xfrm>
            <a:off x="5964238" y="25288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5" name="AutoShape 7"/>
          <p:cNvSpPr>
            <a:spLocks noChangeArrowheads="1"/>
          </p:cNvSpPr>
          <p:nvPr/>
        </p:nvSpPr>
        <p:spPr bwMode="auto">
          <a:xfrm>
            <a:off x="5964238" y="35194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6" name="AutoShape 8"/>
          <p:cNvSpPr>
            <a:spLocks noChangeArrowheads="1"/>
          </p:cNvSpPr>
          <p:nvPr/>
        </p:nvSpPr>
        <p:spPr bwMode="auto">
          <a:xfrm>
            <a:off x="5964238" y="42814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4108" name="Freeform 9"/>
          <p:cNvSpPr>
            <a:spLocks/>
          </p:cNvSpPr>
          <p:nvPr/>
        </p:nvSpPr>
        <p:spPr bwMode="auto">
          <a:xfrm>
            <a:off x="5430838" y="1919288"/>
            <a:ext cx="482600" cy="1587"/>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09" name="Freeform 10"/>
          <p:cNvSpPr>
            <a:spLocks/>
          </p:cNvSpPr>
          <p:nvPr/>
        </p:nvSpPr>
        <p:spPr bwMode="auto">
          <a:xfrm>
            <a:off x="5430838" y="2101850"/>
            <a:ext cx="457200" cy="655638"/>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0" name="Line 11"/>
          <p:cNvSpPr>
            <a:spLocks noChangeShapeType="1"/>
          </p:cNvSpPr>
          <p:nvPr/>
        </p:nvSpPr>
        <p:spPr bwMode="auto">
          <a:xfrm flipV="1">
            <a:off x="5430838" y="2224088"/>
            <a:ext cx="457200" cy="12954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1" name="Line 12"/>
          <p:cNvSpPr>
            <a:spLocks noChangeShapeType="1"/>
          </p:cNvSpPr>
          <p:nvPr/>
        </p:nvSpPr>
        <p:spPr bwMode="auto">
          <a:xfrm flipV="1">
            <a:off x="5430838" y="2986088"/>
            <a:ext cx="482600" cy="97155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2" name="Line 13"/>
          <p:cNvSpPr>
            <a:spLocks noChangeShapeType="1"/>
          </p:cNvSpPr>
          <p:nvPr/>
        </p:nvSpPr>
        <p:spPr bwMode="auto">
          <a:xfrm flipV="1">
            <a:off x="5430838" y="3976688"/>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3" name="Line 14"/>
          <p:cNvSpPr>
            <a:spLocks noChangeShapeType="1"/>
          </p:cNvSpPr>
          <p:nvPr/>
        </p:nvSpPr>
        <p:spPr bwMode="auto">
          <a:xfrm>
            <a:off x="5430838" y="4738688"/>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4" name="Line 15"/>
          <p:cNvSpPr>
            <a:spLocks noChangeShapeType="1"/>
          </p:cNvSpPr>
          <p:nvPr/>
        </p:nvSpPr>
        <p:spPr bwMode="auto">
          <a:xfrm>
            <a:off x="5430838" y="2681288"/>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5" name="Line 16"/>
          <p:cNvSpPr>
            <a:spLocks noChangeShapeType="1"/>
          </p:cNvSpPr>
          <p:nvPr/>
        </p:nvSpPr>
        <p:spPr bwMode="auto">
          <a:xfrm>
            <a:off x="5430838" y="3062288"/>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6" name="Line 6"/>
          <p:cNvSpPr>
            <a:spLocks noChangeShapeType="1"/>
          </p:cNvSpPr>
          <p:nvPr/>
        </p:nvSpPr>
        <p:spPr bwMode="auto">
          <a:xfrm>
            <a:off x="6278563" y="19034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7" name="Line 6"/>
          <p:cNvSpPr>
            <a:spLocks noChangeShapeType="1"/>
          </p:cNvSpPr>
          <p:nvPr/>
        </p:nvSpPr>
        <p:spPr bwMode="auto">
          <a:xfrm>
            <a:off x="6278563" y="22637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8" name="Line 6"/>
          <p:cNvSpPr>
            <a:spLocks noChangeShapeType="1"/>
          </p:cNvSpPr>
          <p:nvPr/>
        </p:nvSpPr>
        <p:spPr bwMode="auto">
          <a:xfrm>
            <a:off x="6278563" y="266065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19" name="Line 6"/>
          <p:cNvSpPr>
            <a:spLocks noChangeShapeType="1"/>
          </p:cNvSpPr>
          <p:nvPr/>
        </p:nvSpPr>
        <p:spPr bwMode="auto">
          <a:xfrm>
            <a:off x="6278563" y="30226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20" name="Line 6"/>
          <p:cNvSpPr>
            <a:spLocks noChangeShapeType="1"/>
          </p:cNvSpPr>
          <p:nvPr/>
        </p:nvSpPr>
        <p:spPr bwMode="auto">
          <a:xfrm>
            <a:off x="6278563" y="36560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21" name="Line 6"/>
          <p:cNvSpPr>
            <a:spLocks noChangeShapeType="1"/>
          </p:cNvSpPr>
          <p:nvPr/>
        </p:nvSpPr>
        <p:spPr bwMode="auto">
          <a:xfrm>
            <a:off x="6278563" y="40528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22" name="Line 6"/>
          <p:cNvSpPr>
            <a:spLocks noChangeShapeType="1"/>
          </p:cNvSpPr>
          <p:nvPr/>
        </p:nvSpPr>
        <p:spPr bwMode="auto">
          <a:xfrm>
            <a:off x="6278563" y="44497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4123" name="Line 6"/>
          <p:cNvSpPr>
            <a:spLocks noChangeShapeType="1"/>
          </p:cNvSpPr>
          <p:nvPr/>
        </p:nvSpPr>
        <p:spPr bwMode="auto">
          <a:xfrm>
            <a:off x="6278563" y="48117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65" name="Rectangle 3"/>
          <p:cNvSpPr>
            <a:spLocks noChangeArrowheads="1"/>
          </p:cNvSpPr>
          <p:nvPr/>
        </p:nvSpPr>
        <p:spPr bwMode="auto">
          <a:xfrm>
            <a:off x="1211263" y="17097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67" name="Rectangle 4"/>
          <p:cNvSpPr>
            <a:spLocks noChangeArrowheads="1"/>
          </p:cNvSpPr>
          <p:nvPr/>
        </p:nvSpPr>
        <p:spPr bwMode="auto">
          <a:xfrm>
            <a:off x="1211263" y="34623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3"/>
          <p:cNvSpPr>
            <a:spLocks noGrp="1"/>
          </p:cNvSpPr>
          <p:nvPr>
            <p:ph type="ftr" sz="quarter" idx="10"/>
          </p:nvPr>
        </p:nvSpPr>
        <p:spPr/>
        <p:txBody>
          <a:bodyPr/>
          <a:lstStyle/>
          <a:p>
            <a:pPr>
              <a:defRPr/>
            </a:pPr>
            <a:r>
              <a:rPr lang="en-US"/>
              <a:t>Art of Multiprocessor Programming</a:t>
            </a:r>
          </a:p>
        </p:txBody>
      </p:sp>
      <p:sp>
        <p:nvSpPr>
          <p:cNvPr id="41" name="Slide Number Placeholder 4"/>
          <p:cNvSpPr>
            <a:spLocks noGrp="1"/>
          </p:cNvSpPr>
          <p:nvPr>
            <p:ph type="sldNum" sz="quarter" idx="11"/>
          </p:nvPr>
        </p:nvSpPr>
        <p:spPr/>
        <p:txBody>
          <a:bodyPr/>
          <a:lstStyle/>
          <a:p>
            <a:pPr>
              <a:defRPr/>
            </a:pPr>
            <a:fld id="{F29329EE-A6D2-4171-A404-E404C80F9F63}" type="slidenum">
              <a:rPr lang="en-US"/>
              <a:pPr>
                <a:defRPr/>
              </a:pPr>
              <a:t>177</a:t>
            </a:fld>
            <a:endParaRPr lang="en-US"/>
          </a:p>
        </p:txBody>
      </p:sp>
      <p:sp>
        <p:nvSpPr>
          <p:cNvPr id="175108" name="Rectangle 2"/>
          <p:cNvSpPr>
            <a:spLocks noGrp="1" noChangeArrowheads="1"/>
          </p:cNvSpPr>
          <p:nvPr>
            <p:ph type="title"/>
          </p:nvPr>
        </p:nvSpPr>
        <p:spPr>
          <a:xfrm>
            <a:off x="685800" y="304800"/>
            <a:ext cx="7772400" cy="1143000"/>
          </a:xfrm>
        </p:spPr>
        <p:txBody>
          <a:bodyPr/>
          <a:lstStyle/>
          <a:p>
            <a:r>
              <a:rPr lang="en-US"/>
              <a:t>Last Row of Balancers</a:t>
            </a:r>
          </a:p>
        </p:txBody>
      </p:sp>
      <p:sp>
        <p:nvSpPr>
          <p:cNvPr id="175109" name="Oval 3"/>
          <p:cNvSpPr>
            <a:spLocks noChangeArrowheads="1"/>
          </p:cNvSpPr>
          <p:nvPr/>
        </p:nvSpPr>
        <p:spPr bwMode="auto">
          <a:xfrm flipH="1">
            <a:off x="4430713"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0" name="Oval 4"/>
          <p:cNvSpPr>
            <a:spLocks noChangeArrowheads="1"/>
          </p:cNvSpPr>
          <p:nvPr/>
        </p:nvSpPr>
        <p:spPr bwMode="auto">
          <a:xfrm flipH="1">
            <a:off x="4430713" y="2236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1" name="Oval 5"/>
          <p:cNvSpPr>
            <a:spLocks noChangeArrowheads="1"/>
          </p:cNvSpPr>
          <p:nvPr/>
        </p:nvSpPr>
        <p:spPr bwMode="auto">
          <a:xfrm flipH="1">
            <a:off x="4768850"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2" name="Oval 6"/>
          <p:cNvSpPr>
            <a:spLocks noChangeArrowheads="1"/>
          </p:cNvSpPr>
          <p:nvPr/>
        </p:nvSpPr>
        <p:spPr bwMode="auto">
          <a:xfrm flipH="1">
            <a:off x="4430713"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3" name="Oval 7"/>
          <p:cNvSpPr>
            <a:spLocks noChangeArrowheads="1"/>
          </p:cNvSpPr>
          <p:nvPr/>
        </p:nvSpPr>
        <p:spPr bwMode="auto">
          <a:xfrm flipH="1">
            <a:off x="4430713"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4" name="Oval 8"/>
          <p:cNvSpPr>
            <a:spLocks noChangeArrowheads="1"/>
          </p:cNvSpPr>
          <p:nvPr/>
        </p:nvSpPr>
        <p:spPr bwMode="auto">
          <a:xfrm flipH="1">
            <a:off x="4768850"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5" name="Oval 9"/>
          <p:cNvSpPr>
            <a:spLocks noChangeArrowheads="1"/>
          </p:cNvSpPr>
          <p:nvPr/>
        </p:nvSpPr>
        <p:spPr bwMode="auto">
          <a:xfrm flipH="1">
            <a:off x="4768850"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6" name="Oval 10"/>
          <p:cNvSpPr>
            <a:spLocks noChangeArrowheads="1"/>
          </p:cNvSpPr>
          <p:nvPr/>
        </p:nvSpPr>
        <p:spPr bwMode="auto">
          <a:xfrm flipH="1">
            <a:off x="4768850" y="2236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7" name="Oval 12"/>
          <p:cNvSpPr>
            <a:spLocks noChangeArrowheads="1"/>
          </p:cNvSpPr>
          <p:nvPr/>
        </p:nvSpPr>
        <p:spPr bwMode="auto">
          <a:xfrm flipH="1">
            <a:off x="4430713"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8" name="Oval 13"/>
          <p:cNvSpPr>
            <a:spLocks noChangeArrowheads="1"/>
          </p:cNvSpPr>
          <p:nvPr/>
        </p:nvSpPr>
        <p:spPr bwMode="auto">
          <a:xfrm flipH="1">
            <a:off x="4430713" y="3797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19" name="Oval 14"/>
          <p:cNvSpPr>
            <a:spLocks noChangeArrowheads="1"/>
          </p:cNvSpPr>
          <p:nvPr/>
        </p:nvSpPr>
        <p:spPr bwMode="auto">
          <a:xfrm flipH="1">
            <a:off x="4733925"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20" name="Oval 15"/>
          <p:cNvSpPr>
            <a:spLocks noChangeArrowheads="1"/>
          </p:cNvSpPr>
          <p:nvPr/>
        </p:nvSpPr>
        <p:spPr bwMode="auto">
          <a:xfrm flipH="1">
            <a:off x="4430713"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21" name="Oval 16"/>
          <p:cNvSpPr>
            <a:spLocks noChangeArrowheads="1"/>
          </p:cNvSpPr>
          <p:nvPr/>
        </p:nvSpPr>
        <p:spPr bwMode="auto">
          <a:xfrm flipH="1">
            <a:off x="4430713"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22" name="Oval 17"/>
          <p:cNvSpPr>
            <a:spLocks noChangeArrowheads="1"/>
          </p:cNvSpPr>
          <p:nvPr/>
        </p:nvSpPr>
        <p:spPr bwMode="auto">
          <a:xfrm flipH="1">
            <a:off x="4733925"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23" name="Oval 18"/>
          <p:cNvSpPr>
            <a:spLocks noChangeArrowheads="1"/>
          </p:cNvSpPr>
          <p:nvPr/>
        </p:nvSpPr>
        <p:spPr bwMode="auto">
          <a:xfrm flipH="1">
            <a:off x="4733925"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24" name="Oval 19"/>
          <p:cNvSpPr>
            <a:spLocks noChangeArrowheads="1"/>
          </p:cNvSpPr>
          <p:nvPr/>
        </p:nvSpPr>
        <p:spPr bwMode="auto">
          <a:xfrm flipH="1">
            <a:off x="4733925" y="3797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5125" name="Oval 20"/>
          <p:cNvSpPr>
            <a:spLocks noChangeArrowheads="1"/>
          </p:cNvSpPr>
          <p:nvPr/>
        </p:nvSpPr>
        <p:spPr bwMode="auto">
          <a:xfrm flipH="1">
            <a:off x="5030788" y="3416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34" name="AutoShape 6"/>
          <p:cNvSpPr>
            <a:spLocks noChangeArrowheads="1"/>
          </p:cNvSpPr>
          <p:nvPr/>
        </p:nvSpPr>
        <p:spPr bwMode="auto">
          <a:xfrm>
            <a:off x="5964238" y="2528888"/>
            <a:ext cx="304800" cy="609600"/>
          </a:xfrm>
          <a:prstGeom prst="roundRect">
            <a:avLst>
              <a:gd name="adj" fmla="val 16667"/>
            </a:avLst>
          </a:prstGeom>
          <a:solidFill>
            <a:schemeClr val="bg1">
              <a:lumMod val="95000"/>
            </a:schemeClr>
          </a:solidFill>
          <a:ln w="38100">
            <a:solidFill>
              <a:schemeClr val="bg1">
                <a:lumMod val="85000"/>
              </a:schemeClr>
            </a:solidFill>
            <a:round/>
            <a:headEnd/>
            <a:tailEnd/>
          </a:ln>
        </p:spPr>
        <p:txBody>
          <a:bodyPr wrap="none" anchor="ctr"/>
          <a:lstStyle/>
          <a:p>
            <a:pPr>
              <a:defRPr/>
            </a:pPr>
            <a:endParaRPr lang="en-US">
              <a:latin typeface="Arial" pitchFamily="34" charset="0"/>
              <a:cs typeface="Arial" pitchFamily="34" charset="0"/>
            </a:endParaRPr>
          </a:p>
        </p:txBody>
      </p:sp>
      <p:sp>
        <p:nvSpPr>
          <p:cNvPr id="171035" name="AutoShape 7"/>
          <p:cNvSpPr>
            <a:spLocks noChangeArrowheads="1"/>
          </p:cNvSpPr>
          <p:nvPr/>
        </p:nvSpPr>
        <p:spPr bwMode="auto">
          <a:xfrm>
            <a:off x="5964238" y="3519488"/>
            <a:ext cx="304800" cy="609600"/>
          </a:xfrm>
          <a:prstGeom prst="roundRect">
            <a:avLst>
              <a:gd name="adj" fmla="val 16667"/>
            </a:avLst>
          </a:prstGeom>
          <a:solidFill>
            <a:schemeClr val="bg1">
              <a:lumMod val="95000"/>
            </a:schemeClr>
          </a:solidFill>
          <a:ln w="38100">
            <a:solidFill>
              <a:schemeClr val="bg1">
                <a:lumMod val="85000"/>
              </a:schemeClr>
            </a:solidFill>
            <a:round/>
            <a:headEnd/>
            <a:tailEnd/>
          </a:ln>
        </p:spPr>
        <p:txBody>
          <a:bodyPr wrap="none" anchor="ctr"/>
          <a:lstStyle/>
          <a:p>
            <a:pPr>
              <a:defRPr/>
            </a:pPr>
            <a:endParaRPr lang="en-US">
              <a:latin typeface="Arial" pitchFamily="34" charset="0"/>
              <a:cs typeface="Arial" pitchFamily="34" charset="0"/>
            </a:endParaRPr>
          </a:p>
        </p:txBody>
      </p:sp>
      <p:sp>
        <p:nvSpPr>
          <p:cNvPr id="171036" name="AutoShape 8"/>
          <p:cNvSpPr>
            <a:spLocks noChangeArrowheads="1"/>
          </p:cNvSpPr>
          <p:nvPr/>
        </p:nvSpPr>
        <p:spPr bwMode="auto">
          <a:xfrm>
            <a:off x="5964238" y="4281488"/>
            <a:ext cx="304800" cy="609600"/>
          </a:xfrm>
          <a:prstGeom prst="roundRect">
            <a:avLst>
              <a:gd name="adj" fmla="val 16667"/>
            </a:avLst>
          </a:prstGeom>
          <a:solidFill>
            <a:schemeClr val="bg1">
              <a:lumMod val="95000"/>
            </a:schemeClr>
          </a:solidFill>
          <a:ln w="38100">
            <a:solidFill>
              <a:schemeClr val="bg1">
                <a:lumMod val="85000"/>
              </a:schemeClr>
            </a:solidFill>
            <a:round/>
            <a:headEnd/>
            <a:tailEnd/>
          </a:ln>
        </p:spPr>
        <p:txBody>
          <a:bodyPr wrap="none" anchor="ctr"/>
          <a:lstStyle/>
          <a:p>
            <a:pPr>
              <a:defRPr/>
            </a:pPr>
            <a:endParaRPr lang="en-US">
              <a:latin typeface="Arial" pitchFamily="34" charset="0"/>
              <a:cs typeface="Arial" pitchFamily="34" charset="0"/>
            </a:endParaRPr>
          </a:p>
        </p:txBody>
      </p:sp>
      <p:sp>
        <p:nvSpPr>
          <p:cNvPr id="171038" name="Freeform 10"/>
          <p:cNvSpPr>
            <a:spLocks/>
          </p:cNvSpPr>
          <p:nvPr/>
        </p:nvSpPr>
        <p:spPr bwMode="auto">
          <a:xfrm>
            <a:off x="5430838" y="2101850"/>
            <a:ext cx="457200" cy="655638"/>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40" name="Line 12"/>
          <p:cNvSpPr>
            <a:spLocks noChangeShapeType="1"/>
          </p:cNvSpPr>
          <p:nvPr/>
        </p:nvSpPr>
        <p:spPr bwMode="auto">
          <a:xfrm flipV="1">
            <a:off x="5430838" y="2986088"/>
            <a:ext cx="482600" cy="97155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41" name="Line 13"/>
          <p:cNvSpPr>
            <a:spLocks noChangeShapeType="1"/>
          </p:cNvSpPr>
          <p:nvPr/>
        </p:nvSpPr>
        <p:spPr bwMode="auto">
          <a:xfrm flipV="1">
            <a:off x="5430838" y="3976688"/>
            <a:ext cx="457200" cy="45720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42" name="Line 14"/>
          <p:cNvSpPr>
            <a:spLocks noChangeShapeType="1"/>
          </p:cNvSpPr>
          <p:nvPr/>
        </p:nvSpPr>
        <p:spPr bwMode="auto">
          <a:xfrm>
            <a:off x="5430838" y="4738688"/>
            <a:ext cx="457200" cy="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43" name="Line 15"/>
          <p:cNvSpPr>
            <a:spLocks noChangeShapeType="1"/>
          </p:cNvSpPr>
          <p:nvPr/>
        </p:nvSpPr>
        <p:spPr bwMode="auto">
          <a:xfrm>
            <a:off x="5430838" y="2681288"/>
            <a:ext cx="457200" cy="99060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44" name="Line 16"/>
          <p:cNvSpPr>
            <a:spLocks noChangeShapeType="1"/>
          </p:cNvSpPr>
          <p:nvPr/>
        </p:nvSpPr>
        <p:spPr bwMode="auto">
          <a:xfrm>
            <a:off x="5430838" y="3062288"/>
            <a:ext cx="457200" cy="144780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47" name="Line 6"/>
          <p:cNvSpPr>
            <a:spLocks noChangeShapeType="1"/>
          </p:cNvSpPr>
          <p:nvPr/>
        </p:nvSpPr>
        <p:spPr bwMode="auto">
          <a:xfrm>
            <a:off x="6278563" y="2660650"/>
            <a:ext cx="685800" cy="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48" name="Line 6"/>
          <p:cNvSpPr>
            <a:spLocks noChangeShapeType="1"/>
          </p:cNvSpPr>
          <p:nvPr/>
        </p:nvSpPr>
        <p:spPr bwMode="auto">
          <a:xfrm>
            <a:off x="6278563" y="3022600"/>
            <a:ext cx="685800" cy="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49" name="Line 6"/>
          <p:cNvSpPr>
            <a:spLocks noChangeShapeType="1"/>
          </p:cNvSpPr>
          <p:nvPr/>
        </p:nvSpPr>
        <p:spPr bwMode="auto">
          <a:xfrm>
            <a:off x="6278563" y="3656013"/>
            <a:ext cx="685800" cy="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50" name="Line 6"/>
          <p:cNvSpPr>
            <a:spLocks noChangeShapeType="1"/>
          </p:cNvSpPr>
          <p:nvPr/>
        </p:nvSpPr>
        <p:spPr bwMode="auto">
          <a:xfrm>
            <a:off x="6278563" y="4052888"/>
            <a:ext cx="685800" cy="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51" name="Line 6"/>
          <p:cNvSpPr>
            <a:spLocks noChangeShapeType="1"/>
          </p:cNvSpPr>
          <p:nvPr/>
        </p:nvSpPr>
        <p:spPr bwMode="auto">
          <a:xfrm>
            <a:off x="6278563" y="4449763"/>
            <a:ext cx="685800" cy="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171052" name="Line 6"/>
          <p:cNvSpPr>
            <a:spLocks noChangeShapeType="1"/>
          </p:cNvSpPr>
          <p:nvPr/>
        </p:nvSpPr>
        <p:spPr bwMode="auto">
          <a:xfrm>
            <a:off x="6278563" y="4811713"/>
            <a:ext cx="685800" cy="0"/>
          </a:xfrm>
          <a:prstGeom prst="line">
            <a:avLst/>
          </a:prstGeom>
          <a:noFill/>
          <a:ln w="38100">
            <a:solidFill>
              <a:schemeClr val="bg1">
                <a:lumMod val="85000"/>
              </a:schemeClr>
            </a:solidFill>
            <a:round/>
            <a:headEnd/>
            <a:tailEnd type="triangle" w="med" len="med"/>
          </a:ln>
        </p:spPr>
        <p:txBody>
          <a:bodyPr wrap="none" anchor="ctr"/>
          <a:lstStyle/>
          <a:p>
            <a:pPr>
              <a:defRPr/>
            </a:pPr>
            <a:endParaRPr lang="en-US">
              <a:latin typeface="Arial" pitchFamily="34" charset="0"/>
              <a:cs typeface="Arial" pitchFamily="34" charset="0"/>
            </a:endParaRPr>
          </a:p>
        </p:txBody>
      </p:sp>
      <p:sp>
        <p:nvSpPr>
          <p:cNvPr id="65" name="Rectangle 3"/>
          <p:cNvSpPr>
            <a:spLocks noChangeArrowheads="1"/>
          </p:cNvSpPr>
          <p:nvPr/>
        </p:nvSpPr>
        <p:spPr bwMode="auto">
          <a:xfrm>
            <a:off x="1211263" y="17097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dirty="0">
                <a:latin typeface="Arial" pitchFamily="34" charset="0"/>
                <a:cs typeface="Arial" pitchFamily="34" charset="0"/>
              </a:rPr>
              <a:t>Merger[k]</a:t>
            </a:r>
          </a:p>
        </p:txBody>
      </p:sp>
      <p:sp>
        <p:nvSpPr>
          <p:cNvPr id="67" name="Rectangle 4"/>
          <p:cNvSpPr>
            <a:spLocks noChangeArrowheads="1"/>
          </p:cNvSpPr>
          <p:nvPr/>
        </p:nvSpPr>
        <p:spPr bwMode="auto">
          <a:xfrm>
            <a:off x="1211263" y="34623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71033" name="AutoShape 5"/>
          <p:cNvSpPr>
            <a:spLocks noChangeArrowheads="1"/>
          </p:cNvSpPr>
          <p:nvPr/>
        </p:nvSpPr>
        <p:spPr bwMode="auto">
          <a:xfrm>
            <a:off x="5964238" y="1766888"/>
            <a:ext cx="304800" cy="609600"/>
          </a:xfrm>
          <a:prstGeom prst="roundRect">
            <a:avLst>
              <a:gd name="adj" fmla="val 16667"/>
            </a:avLst>
          </a:prstGeom>
          <a:solidFill>
            <a:schemeClr val="accent1">
              <a:lumMod val="40000"/>
              <a:lumOff val="60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5144" name="Freeform 9"/>
          <p:cNvSpPr>
            <a:spLocks/>
          </p:cNvSpPr>
          <p:nvPr/>
        </p:nvSpPr>
        <p:spPr bwMode="auto">
          <a:xfrm>
            <a:off x="5430838" y="1919288"/>
            <a:ext cx="482600" cy="1587"/>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5145" name="Line 11"/>
          <p:cNvSpPr>
            <a:spLocks noChangeShapeType="1"/>
          </p:cNvSpPr>
          <p:nvPr/>
        </p:nvSpPr>
        <p:spPr bwMode="auto">
          <a:xfrm flipV="1">
            <a:off x="5430838" y="2224088"/>
            <a:ext cx="457200" cy="12954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5146" name="Line 6"/>
          <p:cNvSpPr>
            <a:spLocks noChangeShapeType="1"/>
          </p:cNvSpPr>
          <p:nvPr/>
        </p:nvSpPr>
        <p:spPr bwMode="auto">
          <a:xfrm>
            <a:off x="6278563" y="19034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5147" name="Line 6"/>
          <p:cNvSpPr>
            <a:spLocks noChangeShapeType="1"/>
          </p:cNvSpPr>
          <p:nvPr/>
        </p:nvSpPr>
        <p:spPr bwMode="auto">
          <a:xfrm>
            <a:off x="6278563" y="22637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5148" name="Text Box 29"/>
          <p:cNvSpPr txBox="1">
            <a:spLocks noChangeArrowheads="1"/>
          </p:cNvSpPr>
          <p:nvPr/>
        </p:nvSpPr>
        <p:spPr bwMode="auto">
          <a:xfrm>
            <a:off x="4429656" y="1093788"/>
            <a:ext cx="1991251" cy="707886"/>
          </a:xfrm>
          <a:prstGeom prst="rect">
            <a:avLst/>
          </a:prstGeom>
          <a:noFill/>
          <a:ln w="9525" algn="ctr">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Wire i from one </a:t>
            </a:r>
          </a:p>
          <a:p>
            <a:pPr algn="ctr">
              <a:spcBef>
                <a:spcPct val="0"/>
              </a:spcBef>
            </a:pPr>
            <a:r>
              <a:rPr lang="en-US" sz="2000" b="0">
                <a:solidFill>
                  <a:schemeClr val="tx1"/>
                </a:solidFill>
                <a:latin typeface="Arial" pitchFamily="34" charset="0"/>
                <a:cs typeface="Arial" pitchFamily="34" charset="0"/>
              </a:rPr>
              <a:t>merger</a:t>
            </a:r>
          </a:p>
        </p:txBody>
      </p:sp>
      <p:sp>
        <p:nvSpPr>
          <p:cNvPr id="175149" name="Text Box 29"/>
          <p:cNvSpPr txBox="1">
            <a:spLocks noChangeArrowheads="1"/>
          </p:cNvSpPr>
          <p:nvPr/>
        </p:nvSpPr>
        <p:spPr bwMode="auto">
          <a:xfrm>
            <a:off x="5318698" y="3573463"/>
            <a:ext cx="2146742" cy="707886"/>
          </a:xfrm>
          <a:prstGeom prst="rect">
            <a:avLst/>
          </a:prstGeom>
          <a:noFill/>
          <a:ln w="9525" algn="ctr">
            <a:noFill/>
            <a:miter lim="800000"/>
            <a:headEnd/>
            <a:tailEnd/>
          </a:ln>
        </p:spPr>
        <p:txBody>
          <a:bodyPr wrap="none">
            <a:spAutoFit/>
          </a:bodyPr>
          <a:lstStyle/>
          <a:p>
            <a:pPr algn="ctr">
              <a:spcBef>
                <a:spcPct val="0"/>
              </a:spcBef>
            </a:pPr>
            <a:r>
              <a:rPr lang="en-US" sz="2000" b="0">
                <a:solidFill>
                  <a:schemeClr val="tx1"/>
                </a:solidFill>
                <a:latin typeface="Arial" pitchFamily="34" charset="0"/>
                <a:cs typeface="Arial" pitchFamily="34" charset="0"/>
              </a:rPr>
              <a:t>Wire i from other </a:t>
            </a:r>
          </a:p>
          <a:p>
            <a:pPr algn="ctr">
              <a:spcBef>
                <a:spcPct val="0"/>
              </a:spcBef>
            </a:pPr>
            <a:r>
              <a:rPr lang="en-US" sz="2000" b="0">
                <a:solidFill>
                  <a:schemeClr val="tx1"/>
                </a:solidFill>
                <a:latin typeface="Arial" pitchFamily="34" charset="0"/>
                <a:cs typeface="Arial" pitchFamily="34" charset="0"/>
              </a:rPr>
              <a:t>merger</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3"/>
          <p:cNvSpPr>
            <a:spLocks noGrp="1"/>
          </p:cNvSpPr>
          <p:nvPr>
            <p:ph type="ftr" sz="quarter" idx="10"/>
          </p:nvPr>
        </p:nvSpPr>
        <p:spPr/>
        <p:txBody>
          <a:bodyPr/>
          <a:lstStyle/>
          <a:p>
            <a:pPr>
              <a:defRPr/>
            </a:pPr>
            <a:r>
              <a:rPr lang="en-US"/>
              <a:t>Art of Multiprocessor Programming</a:t>
            </a:r>
          </a:p>
        </p:txBody>
      </p:sp>
      <p:sp>
        <p:nvSpPr>
          <p:cNvPr id="41" name="Slide Number Placeholder 4"/>
          <p:cNvSpPr>
            <a:spLocks noGrp="1"/>
          </p:cNvSpPr>
          <p:nvPr>
            <p:ph type="sldNum" sz="quarter" idx="11"/>
          </p:nvPr>
        </p:nvSpPr>
        <p:spPr/>
        <p:txBody>
          <a:bodyPr/>
          <a:lstStyle/>
          <a:p>
            <a:pPr>
              <a:defRPr/>
            </a:pPr>
            <a:fld id="{169C7284-2A5C-48D2-87FC-5D492AB5FB31}" type="slidenum">
              <a:rPr lang="en-US"/>
              <a:pPr>
                <a:defRPr/>
              </a:pPr>
              <a:t>178</a:t>
            </a:fld>
            <a:endParaRPr lang="en-US"/>
          </a:p>
        </p:txBody>
      </p:sp>
      <p:sp>
        <p:nvSpPr>
          <p:cNvPr id="176132" name="Rectangle 2"/>
          <p:cNvSpPr>
            <a:spLocks noGrp="1" noChangeArrowheads="1"/>
          </p:cNvSpPr>
          <p:nvPr>
            <p:ph type="title"/>
          </p:nvPr>
        </p:nvSpPr>
        <p:spPr>
          <a:xfrm>
            <a:off x="685800" y="304800"/>
            <a:ext cx="7772400" cy="1143000"/>
          </a:xfrm>
        </p:spPr>
        <p:txBody>
          <a:bodyPr/>
          <a:lstStyle/>
          <a:p>
            <a:r>
              <a:rPr lang="en-US"/>
              <a:t>Last Row of Balancers</a:t>
            </a:r>
          </a:p>
        </p:txBody>
      </p:sp>
      <p:sp>
        <p:nvSpPr>
          <p:cNvPr id="176133" name="Text Box 11"/>
          <p:cNvSpPr txBox="1">
            <a:spLocks noChangeArrowheads="1"/>
          </p:cNvSpPr>
          <p:nvPr/>
        </p:nvSpPr>
        <p:spPr bwMode="auto">
          <a:xfrm>
            <a:off x="4016421" y="5332413"/>
            <a:ext cx="1435008" cy="707886"/>
          </a:xfrm>
          <a:prstGeom prst="rect">
            <a:avLst/>
          </a:prstGeom>
          <a:noFill/>
          <a:ln w="9525" algn="ctr">
            <a:noFill/>
            <a:miter lim="800000"/>
            <a:headEnd/>
            <a:tailEnd/>
          </a:ln>
        </p:spPr>
        <p:txBody>
          <a:bodyPr wrap="none">
            <a:spAutoFit/>
          </a:bodyPr>
          <a:lstStyle/>
          <a:p>
            <a:pPr algn="ctr">
              <a:spcBef>
                <a:spcPct val="0"/>
              </a:spcBef>
            </a:pPr>
            <a:r>
              <a:rPr lang="en-US" sz="2000" b="0">
                <a:latin typeface="Arial" pitchFamily="34" charset="0"/>
                <a:cs typeface="Arial" pitchFamily="34" charset="0"/>
              </a:rPr>
              <a:t>Outputs of </a:t>
            </a:r>
          </a:p>
          <a:p>
            <a:pPr algn="ctr">
              <a:spcBef>
                <a:spcPct val="0"/>
              </a:spcBef>
            </a:pPr>
            <a:r>
              <a:rPr lang="en-US" sz="2000" b="0">
                <a:latin typeface="Arial" pitchFamily="34" charset="0"/>
                <a:cs typeface="Arial" pitchFamily="34" charset="0"/>
              </a:rPr>
              <a:t>Merger[k]</a:t>
            </a:r>
          </a:p>
        </p:txBody>
      </p:sp>
      <p:sp>
        <p:nvSpPr>
          <p:cNvPr id="176134" name="Oval 3"/>
          <p:cNvSpPr>
            <a:spLocks noChangeArrowheads="1"/>
          </p:cNvSpPr>
          <p:nvPr/>
        </p:nvSpPr>
        <p:spPr bwMode="auto">
          <a:xfrm flipH="1">
            <a:off x="4430713"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35" name="Oval 4"/>
          <p:cNvSpPr>
            <a:spLocks noChangeArrowheads="1"/>
          </p:cNvSpPr>
          <p:nvPr/>
        </p:nvSpPr>
        <p:spPr bwMode="auto">
          <a:xfrm flipH="1">
            <a:off x="4430713" y="2236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36" name="Oval 5"/>
          <p:cNvSpPr>
            <a:spLocks noChangeArrowheads="1"/>
          </p:cNvSpPr>
          <p:nvPr/>
        </p:nvSpPr>
        <p:spPr bwMode="auto">
          <a:xfrm flipH="1">
            <a:off x="4768850"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37" name="Oval 6"/>
          <p:cNvSpPr>
            <a:spLocks noChangeArrowheads="1"/>
          </p:cNvSpPr>
          <p:nvPr/>
        </p:nvSpPr>
        <p:spPr bwMode="auto">
          <a:xfrm flipH="1">
            <a:off x="4430713"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38" name="Oval 7"/>
          <p:cNvSpPr>
            <a:spLocks noChangeArrowheads="1"/>
          </p:cNvSpPr>
          <p:nvPr/>
        </p:nvSpPr>
        <p:spPr bwMode="auto">
          <a:xfrm flipH="1">
            <a:off x="4430713"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39" name="Oval 8"/>
          <p:cNvSpPr>
            <a:spLocks noChangeArrowheads="1"/>
          </p:cNvSpPr>
          <p:nvPr/>
        </p:nvSpPr>
        <p:spPr bwMode="auto">
          <a:xfrm flipH="1">
            <a:off x="4768850"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0" name="Oval 9"/>
          <p:cNvSpPr>
            <a:spLocks noChangeArrowheads="1"/>
          </p:cNvSpPr>
          <p:nvPr/>
        </p:nvSpPr>
        <p:spPr bwMode="auto">
          <a:xfrm flipH="1">
            <a:off x="4768850"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1" name="Oval 10"/>
          <p:cNvSpPr>
            <a:spLocks noChangeArrowheads="1"/>
          </p:cNvSpPr>
          <p:nvPr/>
        </p:nvSpPr>
        <p:spPr bwMode="auto">
          <a:xfrm flipH="1">
            <a:off x="4768850" y="2236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2" name="Oval 12"/>
          <p:cNvSpPr>
            <a:spLocks noChangeArrowheads="1"/>
          </p:cNvSpPr>
          <p:nvPr/>
        </p:nvSpPr>
        <p:spPr bwMode="auto">
          <a:xfrm flipH="1">
            <a:off x="4430713"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3" name="Oval 13"/>
          <p:cNvSpPr>
            <a:spLocks noChangeArrowheads="1"/>
          </p:cNvSpPr>
          <p:nvPr/>
        </p:nvSpPr>
        <p:spPr bwMode="auto">
          <a:xfrm flipH="1">
            <a:off x="4430713" y="3797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4" name="Oval 14"/>
          <p:cNvSpPr>
            <a:spLocks noChangeArrowheads="1"/>
          </p:cNvSpPr>
          <p:nvPr/>
        </p:nvSpPr>
        <p:spPr bwMode="auto">
          <a:xfrm flipH="1">
            <a:off x="4733925"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5" name="Oval 15"/>
          <p:cNvSpPr>
            <a:spLocks noChangeArrowheads="1"/>
          </p:cNvSpPr>
          <p:nvPr/>
        </p:nvSpPr>
        <p:spPr bwMode="auto">
          <a:xfrm flipH="1">
            <a:off x="4430713"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6" name="Oval 16"/>
          <p:cNvSpPr>
            <a:spLocks noChangeArrowheads="1"/>
          </p:cNvSpPr>
          <p:nvPr/>
        </p:nvSpPr>
        <p:spPr bwMode="auto">
          <a:xfrm flipH="1">
            <a:off x="4430713"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7" name="Oval 17"/>
          <p:cNvSpPr>
            <a:spLocks noChangeArrowheads="1"/>
          </p:cNvSpPr>
          <p:nvPr/>
        </p:nvSpPr>
        <p:spPr bwMode="auto">
          <a:xfrm flipH="1">
            <a:off x="4733925"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8" name="Oval 18"/>
          <p:cNvSpPr>
            <a:spLocks noChangeArrowheads="1"/>
          </p:cNvSpPr>
          <p:nvPr/>
        </p:nvSpPr>
        <p:spPr bwMode="auto">
          <a:xfrm flipH="1">
            <a:off x="4733925"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49" name="Oval 19"/>
          <p:cNvSpPr>
            <a:spLocks noChangeArrowheads="1"/>
          </p:cNvSpPr>
          <p:nvPr/>
        </p:nvSpPr>
        <p:spPr bwMode="auto">
          <a:xfrm flipH="1">
            <a:off x="4733925" y="3797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50" name="Oval 20"/>
          <p:cNvSpPr>
            <a:spLocks noChangeArrowheads="1"/>
          </p:cNvSpPr>
          <p:nvPr/>
        </p:nvSpPr>
        <p:spPr bwMode="auto">
          <a:xfrm flipH="1">
            <a:off x="5030788" y="3416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6151" name="Text Box 29"/>
          <p:cNvSpPr txBox="1">
            <a:spLocks noChangeArrowheads="1"/>
          </p:cNvSpPr>
          <p:nvPr/>
        </p:nvSpPr>
        <p:spPr bwMode="auto">
          <a:xfrm>
            <a:off x="6951708" y="5332413"/>
            <a:ext cx="1435008" cy="707886"/>
          </a:xfrm>
          <a:prstGeom prst="rect">
            <a:avLst/>
          </a:prstGeom>
          <a:noFill/>
          <a:ln w="9525" algn="ctr">
            <a:noFill/>
            <a:miter lim="800000"/>
            <a:headEnd/>
            <a:tailEnd/>
          </a:ln>
        </p:spPr>
        <p:txBody>
          <a:bodyPr wrap="none">
            <a:spAutoFit/>
          </a:bodyPr>
          <a:lstStyle/>
          <a:p>
            <a:pPr algn="ctr">
              <a:spcBef>
                <a:spcPct val="0"/>
              </a:spcBef>
            </a:pPr>
            <a:r>
              <a:rPr lang="en-US" sz="2000" b="0">
                <a:latin typeface="Arial" pitchFamily="34" charset="0"/>
                <a:cs typeface="Arial" pitchFamily="34" charset="0"/>
              </a:rPr>
              <a:t>Outputs of </a:t>
            </a:r>
          </a:p>
          <a:p>
            <a:pPr algn="ctr">
              <a:spcBef>
                <a:spcPct val="0"/>
              </a:spcBef>
            </a:pPr>
            <a:r>
              <a:rPr lang="en-US" sz="2000" b="0">
                <a:latin typeface="Arial" pitchFamily="34" charset="0"/>
                <a:cs typeface="Arial" pitchFamily="34" charset="0"/>
              </a:rPr>
              <a:t>last layer</a:t>
            </a:r>
          </a:p>
        </p:txBody>
      </p:sp>
      <p:sp>
        <p:nvSpPr>
          <p:cNvPr id="171033" name="AutoShape 5"/>
          <p:cNvSpPr>
            <a:spLocks noChangeArrowheads="1"/>
          </p:cNvSpPr>
          <p:nvPr/>
        </p:nvSpPr>
        <p:spPr bwMode="auto">
          <a:xfrm>
            <a:off x="5964238" y="17668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4" name="AutoShape 6"/>
          <p:cNvSpPr>
            <a:spLocks noChangeArrowheads="1"/>
          </p:cNvSpPr>
          <p:nvPr/>
        </p:nvSpPr>
        <p:spPr bwMode="auto">
          <a:xfrm>
            <a:off x="5964238" y="25288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5" name="AutoShape 7"/>
          <p:cNvSpPr>
            <a:spLocks noChangeArrowheads="1"/>
          </p:cNvSpPr>
          <p:nvPr/>
        </p:nvSpPr>
        <p:spPr bwMode="auto">
          <a:xfrm>
            <a:off x="5964238" y="35194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6" name="AutoShape 8"/>
          <p:cNvSpPr>
            <a:spLocks noChangeArrowheads="1"/>
          </p:cNvSpPr>
          <p:nvPr/>
        </p:nvSpPr>
        <p:spPr bwMode="auto">
          <a:xfrm>
            <a:off x="5964238" y="42814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6156" name="Freeform 9"/>
          <p:cNvSpPr>
            <a:spLocks/>
          </p:cNvSpPr>
          <p:nvPr/>
        </p:nvSpPr>
        <p:spPr bwMode="auto">
          <a:xfrm>
            <a:off x="5430838" y="1919288"/>
            <a:ext cx="482600" cy="1587"/>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57" name="Freeform 10"/>
          <p:cNvSpPr>
            <a:spLocks/>
          </p:cNvSpPr>
          <p:nvPr/>
        </p:nvSpPr>
        <p:spPr bwMode="auto">
          <a:xfrm>
            <a:off x="5430838" y="2101850"/>
            <a:ext cx="457200" cy="655638"/>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58" name="Line 11"/>
          <p:cNvSpPr>
            <a:spLocks noChangeShapeType="1"/>
          </p:cNvSpPr>
          <p:nvPr/>
        </p:nvSpPr>
        <p:spPr bwMode="auto">
          <a:xfrm flipV="1">
            <a:off x="5430838" y="2224088"/>
            <a:ext cx="457200" cy="12954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59" name="Line 12"/>
          <p:cNvSpPr>
            <a:spLocks noChangeShapeType="1"/>
          </p:cNvSpPr>
          <p:nvPr/>
        </p:nvSpPr>
        <p:spPr bwMode="auto">
          <a:xfrm flipV="1">
            <a:off x="5430838" y="2986088"/>
            <a:ext cx="482600" cy="97155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0" name="Line 13"/>
          <p:cNvSpPr>
            <a:spLocks noChangeShapeType="1"/>
          </p:cNvSpPr>
          <p:nvPr/>
        </p:nvSpPr>
        <p:spPr bwMode="auto">
          <a:xfrm flipV="1">
            <a:off x="5430838" y="3976688"/>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1" name="Line 14"/>
          <p:cNvSpPr>
            <a:spLocks noChangeShapeType="1"/>
          </p:cNvSpPr>
          <p:nvPr/>
        </p:nvSpPr>
        <p:spPr bwMode="auto">
          <a:xfrm>
            <a:off x="5430838" y="4738688"/>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2" name="Line 15"/>
          <p:cNvSpPr>
            <a:spLocks noChangeShapeType="1"/>
          </p:cNvSpPr>
          <p:nvPr/>
        </p:nvSpPr>
        <p:spPr bwMode="auto">
          <a:xfrm>
            <a:off x="5430838" y="2681288"/>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3" name="Line 16"/>
          <p:cNvSpPr>
            <a:spLocks noChangeShapeType="1"/>
          </p:cNvSpPr>
          <p:nvPr/>
        </p:nvSpPr>
        <p:spPr bwMode="auto">
          <a:xfrm>
            <a:off x="5430838" y="3062288"/>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4" name="Line 6"/>
          <p:cNvSpPr>
            <a:spLocks noChangeShapeType="1"/>
          </p:cNvSpPr>
          <p:nvPr/>
        </p:nvSpPr>
        <p:spPr bwMode="auto">
          <a:xfrm>
            <a:off x="6278563" y="19034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5" name="Line 6"/>
          <p:cNvSpPr>
            <a:spLocks noChangeShapeType="1"/>
          </p:cNvSpPr>
          <p:nvPr/>
        </p:nvSpPr>
        <p:spPr bwMode="auto">
          <a:xfrm>
            <a:off x="6278563" y="22637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6" name="Line 6"/>
          <p:cNvSpPr>
            <a:spLocks noChangeShapeType="1"/>
          </p:cNvSpPr>
          <p:nvPr/>
        </p:nvSpPr>
        <p:spPr bwMode="auto">
          <a:xfrm>
            <a:off x="6278563" y="266065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7" name="Line 6"/>
          <p:cNvSpPr>
            <a:spLocks noChangeShapeType="1"/>
          </p:cNvSpPr>
          <p:nvPr/>
        </p:nvSpPr>
        <p:spPr bwMode="auto">
          <a:xfrm>
            <a:off x="6278563" y="30226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8" name="Line 6"/>
          <p:cNvSpPr>
            <a:spLocks noChangeShapeType="1"/>
          </p:cNvSpPr>
          <p:nvPr/>
        </p:nvSpPr>
        <p:spPr bwMode="auto">
          <a:xfrm>
            <a:off x="6278563" y="36560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69" name="Line 6"/>
          <p:cNvSpPr>
            <a:spLocks noChangeShapeType="1"/>
          </p:cNvSpPr>
          <p:nvPr/>
        </p:nvSpPr>
        <p:spPr bwMode="auto">
          <a:xfrm>
            <a:off x="6278563" y="40528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70" name="Line 6"/>
          <p:cNvSpPr>
            <a:spLocks noChangeShapeType="1"/>
          </p:cNvSpPr>
          <p:nvPr/>
        </p:nvSpPr>
        <p:spPr bwMode="auto">
          <a:xfrm>
            <a:off x="6278563" y="44497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6171" name="Line 6"/>
          <p:cNvSpPr>
            <a:spLocks noChangeShapeType="1"/>
          </p:cNvSpPr>
          <p:nvPr/>
        </p:nvSpPr>
        <p:spPr bwMode="auto">
          <a:xfrm>
            <a:off x="6278563" y="48117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65" name="Rectangle 3"/>
          <p:cNvSpPr>
            <a:spLocks noChangeArrowheads="1"/>
          </p:cNvSpPr>
          <p:nvPr/>
        </p:nvSpPr>
        <p:spPr bwMode="auto">
          <a:xfrm>
            <a:off x="1211263" y="17097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67" name="Rectangle 4"/>
          <p:cNvSpPr>
            <a:spLocks noChangeArrowheads="1"/>
          </p:cNvSpPr>
          <p:nvPr/>
        </p:nvSpPr>
        <p:spPr bwMode="auto">
          <a:xfrm>
            <a:off x="1211263" y="34623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3"/>
          <p:cNvSpPr>
            <a:spLocks noGrp="1"/>
          </p:cNvSpPr>
          <p:nvPr>
            <p:ph type="ftr" sz="quarter" idx="10"/>
          </p:nvPr>
        </p:nvSpPr>
        <p:spPr/>
        <p:txBody>
          <a:bodyPr/>
          <a:lstStyle/>
          <a:p>
            <a:pPr>
              <a:defRPr/>
            </a:pPr>
            <a:r>
              <a:rPr lang="en-US"/>
              <a:t>Art of Multiprocessor Programming</a:t>
            </a:r>
          </a:p>
        </p:txBody>
      </p:sp>
      <p:sp>
        <p:nvSpPr>
          <p:cNvPr id="41" name="Slide Number Placeholder 4"/>
          <p:cNvSpPr>
            <a:spLocks noGrp="1"/>
          </p:cNvSpPr>
          <p:nvPr>
            <p:ph type="sldNum" sz="quarter" idx="11"/>
          </p:nvPr>
        </p:nvSpPr>
        <p:spPr/>
        <p:txBody>
          <a:bodyPr/>
          <a:lstStyle/>
          <a:p>
            <a:pPr>
              <a:defRPr/>
            </a:pPr>
            <a:fld id="{153B7275-2F79-40D4-92A2-65A9D48F49C3}" type="slidenum">
              <a:rPr lang="en-US"/>
              <a:pPr>
                <a:defRPr/>
              </a:pPr>
              <a:t>179</a:t>
            </a:fld>
            <a:endParaRPr lang="en-US"/>
          </a:p>
        </p:txBody>
      </p:sp>
      <p:sp>
        <p:nvSpPr>
          <p:cNvPr id="177156" name="Rectangle 2"/>
          <p:cNvSpPr>
            <a:spLocks noGrp="1" noChangeArrowheads="1"/>
          </p:cNvSpPr>
          <p:nvPr>
            <p:ph type="title"/>
          </p:nvPr>
        </p:nvSpPr>
        <p:spPr>
          <a:xfrm>
            <a:off x="685800" y="304800"/>
            <a:ext cx="7772400" cy="1143000"/>
          </a:xfrm>
        </p:spPr>
        <p:txBody>
          <a:bodyPr/>
          <a:lstStyle/>
          <a:p>
            <a:r>
              <a:rPr lang="en-US"/>
              <a:t>Last Row of Balancers</a:t>
            </a:r>
          </a:p>
        </p:txBody>
      </p:sp>
      <p:sp>
        <p:nvSpPr>
          <p:cNvPr id="177157" name="Oval 3"/>
          <p:cNvSpPr>
            <a:spLocks noChangeArrowheads="1"/>
          </p:cNvSpPr>
          <p:nvPr/>
        </p:nvSpPr>
        <p:spPr bwMode="auto">
          <a:xfrm flipH="1">
            <a:off x="4430713"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58" name="Oval 4"/>
          <p:cNvSpPr>
            <a:spLocks noChangeArrowheads="1"/>
          </p:cNvSpPr>
          <p:nvPr/>
        </p:nvSpPr>
        <p:spPr bwMode="auto">
          <a:xfrm flipH="1">
            <a:off x="4430713" y="2236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59" name="Oval 5"/>
          <p:cNvSpPr>
            <a:spLocks noChangeArrowheads="1"/>
          </p:cNvSpPr>
          <p:nvPr/>
        </p:nvSpPr>
        <p:spPr bwMode="auto">
          <a:xfrm flipH="1">
            <a:off x="4768850"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0" name="Oval 6"/>
          <p:cNvSpPr>
            <a:spLocks noChangeArrowheads="1"/>
          </p:cNvSpPr>
          <p:nvPr/>
        </p:nvSpPr>
        <p:spPr bwMode="auto">
          <a:xfrm flipH="1">
            <a:off x="4430713"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1" name="Oval 7"/>
          <p:cNvSpPr>
            <a:spLocks noChangeArrowheads="1"/>
          </p:cNvSpPr>
          <p:nvPr/>
        </p:nvSpPr>
        <p:spPr bwMode="auto">
          <a:xfrm flipH="1">
            <a:off x="4430713"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2" name="Oval 8"/>
          <p:cNvSpPr>
            <a:spLocks noChangeArrowheads="1"/>
          </p:cNvSpPr>
          <p:nvPr/>
        </p:nvSpPr>
        <p:spPr bwMode="auto">
          <a:xfrm flipH="1">
            <a:off x="4768850"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3" name="Oval 9"/>
          <p:cNvSpPr>
            <a:spLocks noChangeArrowheads="1"/>
          </p:cNvSpPr>
          <p:nvPr/>
        </p:nvSpPr>
        <p:spPr bwMode="auto">
          <a:xfrm flipH="1">
            <a:off x="4768850"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4" name="Oval 10"/>
          <p:cNvSpPr>
            <a:spLocks noChangeArrowheads="1"/>
          </p:cNvSpPr>
          <p:nvPr/>
        </p:nvSpPr>
        <p:spPr bwMode="auto">
          <a:xfrm flipH="1">
            <a:off x="4768850" y="2236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5" name="Oval 12"/>
          <p:cNvSpPr>
            <a:spLocks noChangeArrowheads="1"/>
          </p:cNvSpPr>
          <p:nvPr/>
        </p:nvSpPr>
        <p:spPr bwMode="auto">
          <a:xfrm flipH="1">
            <a:off x="4430713"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6" name="Oval 13"/>
          <p:cNvSpPr>
            <a:spLocks noChangeArrowheads="1"/>
          </p:cNvSpPr>
          <p:nvPr/>
        </p:nvSpPr>
        <p:spPr bwMode="auto">
          <a:xfrm flipH="1">
            <a:off x="4430713" y="3797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7" name="Oval 14"/>
          <p:cNvSpPr>
            <a:spLocks noChangeArrowheads="1"/>
          </p:cNvSpPr>
          <p:nvPr/>
        </p:nvSpPr>
        <p:spPr bwMode="auto">
          <a:xfrm flipH="1">
            <a:off x="4733925"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8" name="Oval 15"/>
          <p:cNvSpPr>
            <a:spLocks noChangeArrowheads="1"/>
          </p:cNvSpPr>
          <p:nvPr/>
        </p:nvSpPr>
        <p:spPr bwMode="auto">
          <a:xfrm flipH="1">
            <a:off x="4430713"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69" name="Oval 16"/>
          <p:cNvSpPr>
            <a:spLocks noChangeArrowheads="1"/>
          </p:cNvSpPr>
          <p:nvPr/>
        </p:nvSpPr>
        <p:spPr bwMode="auto">
          <a:xfrm flipH="1">
            <a:off x="4430713"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70" name="Oval 17"/>
          <p:cNvSpPr>
            <a:spLocks noChangeArrowheads="1"/>
          </p:cNvSpPr>
          <p:nvPr/>
        </p:nvSpPr>
        <p:spPr bwMode="auto">
          <a:xfrm flipH="1">
            <a:off x="4733925"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71" name="Oval 18"/>
          <p:cNvSpPr>
            <a:spLocks noChangeArrowheads="1"/>
          </p:cNvSpPr>
          <p:nvPr/>
        </p:nvSpPr>
        <p:spPr bwMode="auto">
          <a:xfrm flipH="1">
            <a:off x="4733925"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72" name="Oval 19"/>
          <p:cNvSpPr>
            <a:spLocks noChangeArrowheads="1"/>
          </p:cNvSpPr>
          <p:nvPr/>
        </p:nvSpPr>
        <p:spPr bwMode="auto">
          <a:xfrm flipH="1">
            <a:off x="4733925" y="3797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5" name="Rectangle 3"/>
          <p:cNvSpPr>
            <a:spLocks noChangeArrowheads="1"/>
          </p:cNvSpPr>
          <p:nvPr/>
        </p:nvSpPr>
        <p:spPr bwMode="auto">
          <a:xfrm>
            <a:off x="1211263" y="17097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dirty="0">
                <a:latin typeface="Arial" pitchFamily="34" charset="0"/>
                <a:cs typeface="Arial" pitchFamily="34" charset="0"/>
              </a:rPr>
              <a:t>Merger[k]</a:t>
            </a:r>
          </a:p>
        </p:txBody>
      </p:sp>
      <p:sp>
        <p:nvSpPr>
          <p:cNvPr id="67" name="Rectangle 4"/>
          <p:cNvSpPr>
            <a:spLocks noChangeArrowheads="1"/>
          </p:cNvSpPr>
          <p:nvPr/>
        </p:nvSpPr>
        <p:spPr bwMode="auto">
          <a:xfrm>
            <a:off x="1211263" y="34623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177175" name="Oval 21"/>
          <p:cNvSpPr>
            <a:spLocks noChangeArrowheads="1"/>
          </p:cNvSpPr>
          <p:nvPr/>
        </p:nvSpPr>
        <p:spPr bwMode="auto">
          <a:xfrm flipH="1">
            <a:off x="7135813" y="1765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76" name="Oval 22"/>
          <p:cNvSpPr>
            <a:spLocks noChangeArrowheads="1"/>
          </p:cNvSpPr>
          <p:nvPr/>
        </p:nvSpPr>
        <p:spPr bwMode="auto">
          <a:xfrm flipH="1">
            <a:off x="7135813" y="214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77" name="Oval 23"/>
          <p:cNvSpPr>
            <a:spLocks noChangeArrowheads="1"/>
          </p:cNvSpPr>
          <p:nvPr/>
        </p:nvSpPr>
        <p:spPr bwMode="auto">
          <a:xfrm flipH="1">
            <a:off x="7456488" y="1765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78" name="Oval 24"/>
          <p:cNvSpPr>
            <a:spLocks noChangeArrowheads="1"/>
          </p:cNvSpPr>
          <p:nvPr/>
        </p:nvSpPr>
        <p:spPr bwMode="auto">
          <a:xfrm flipH="1">
            <a:off x="7135813" y="2527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79" name="Oval 25"/>
          <p:cNvSpPr>
            <a:spLocks noChangeArrowheads="1"/>
          </p:cNvSpPr>
          <p:nvPr/>
        </p:nvSpPr>
        <p:spPr bwMode="auto">
          <a:xfrm flipH="1">
            <a:off x="7135813" y="290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0" name="Oval 26"/>
          <p:cNvSpPr>
            <a:spLocks noChangeArrowheads="1"/>
          </p:cNvSpPr>
          <p:nvPr/>
        </p:nvSpPr>
        <p:spPr bwMode="auto">
          <a:xfrm flipH="1">
            <a:off x="7456488" y="2527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1" name="Oval 27"/>
          <p:cNvSpPr>
            <a:spLocks noChangeArrowheads="1"/>
          </p:cNvSpPr>
          <p:nvPr/>
        </p:nvSpPr>
        <p:spPr bwMode="auto">
          <a:xfrm flipH="1">
            <a:off x="7456488" y="290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2" name="Oval 28"/>
          <p:cNvSpPr>
            <a:spLocks noChangeArrowheads="1"/>
          </p:cNvSpPr>
          <p:nvPr/>
        </p:nvSpPr>
        <p:spPr bwMode="auto">
          <a:xfrm flipH="1">
            <a:off x="7456488" y="2146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3" name="Oval 30"/>
          <p:cNvSpPr>
            <a:spLocks noChangeArrowheads="1"/>
          </p:cNvSpPr>
          <p:nvPr/>
        </p:nvSpPr>
        <p:spPr bwMode="auto">
          <a:xfrm flipH="1">
            <a:off x="7135813" y="353695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4" name="Oval 31"/>
          <p:cNvSpPr>
            <a:spLocks noChangeArrowheads="1"/>
          </p:cNvSpPr>
          <p:nvPr/>
        </p:nvSpPr>
        <p:spPr bwMode="auto">
          <a:xfrm flipH="1">
            <a:off x="7135813" y="391795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5" name="Oval 32"/>
          <p:cNvSpPr>
            <a:spLocks noChangeArrowheads="1"/>
          </p:cNvSpPr>
          <p:nvPr/>
        </p:nvSpPr>
        <p:spPr bwMode="auto">
          <a:xfrm flipH="1">
            <a:off x="7456488" y="353695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6" name="Oval 33"/>
          <p:cNvSpPr>
            <a:spLocks noChangeArrowheads="1"/>
          </p:cNvSpPr>
          <p:nvPr/>
        </p:nvSpPr>
        <p:spPr bwMode="auto">
          <a:xfrm flipH="1">
            <a:off x="7135813" y="429895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7" name="Oval 34"/>
          <p:cNvSpPr>
            <a:spLocks noChangeArrowheads="1"/>
          </p:cNvSpPr>
          <p:nvPr/>
        </p:nvSpPr>
        <p:spPr bwMode="auto">
          <a:xfrm flipH="1">
            <a:off x="7135813" y="467995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8" name="Oval 35"/>
          <p:cNvSpPr>
            <a:spLocks noChangeArrowheads="1"/>
          </p:cNvSpPr>
          <p:nvPr/>
        </p:nvSpPr>
        <p:spPr bwMode="auto">
          <a:xfrm flipH="1">
            <a:off x="7456488" y="429895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89" name="Oval 36"/>
          <p:cNvSpPr>
            <a:spLocks noChangeArrowheads="1"/>
          </p:cNvSpPr>
          <p:nvPr/>
        </p:nvSpPr>
        <p:spPr bwMode="auto">
          <a:xfrm flipH="1">
            <a:off x="7456488" y="467995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7190" name="Oval 37"/>
          <p:cNvSpPr>
            <a:spLocks noChangeArrowheads="1"/>
          </p:cNvSpPr>
          <p:nvPr/>
        </p:nvSpPr>
        <p:spPr bwMode="auto">
          <a:xfrm flipH="1">
            <a:off x="7456488" y="391795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30" name="Oval 20"/>
          <p:cNvSpPr>
            <a:spLocks noChangeArrowheads="1"/>
          </p:cNvSpPr>
          <p:nvPr/>
        </p:nvSpPr>
        <p:spPr bwMode="auto">
          <a:xfrm flipH="1">
            <a:off x="5030788" y="3416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 name="AutoShape 5"/>
          <p:cNvSpPr>
            <a:spLocks noChangeArrowheads="1"/>
          </p:cNvSpPr>
          <p:nvPr/>
        </p:nvSpPr>
        <p:spPr bwMode="auto">
          <a:xfrm>
            <a:off x="5964238" y="17668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66" name="AutoShape 6"/>
          <p:cNvSpPr>
            <a:spLocks noChangeArrowheads="1"/>
          </p:cNvSpPr>
          <p:nvPr/>
        </p:nvSpPr>
        <p:spPr bwMode="auto">
          <a:xfrm>
            <a:off x="5964238" y="25288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68" name="AutoShape 7"/>
          <p:cNvSpPr>
            <a:spLocks noChangeArrowheads="1"/>
          </p:cNvSpPr>
          <p:nvPr/>
        </p:nvSpPr>
        <p:spPr bwMode="auto">
          <a:xfrm>
            <a:off x="5964238" y="35194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69" name="AutoShape 8"/>
          <p:cNvSpPr>
            <a:spLocks noChangeArrowheads="1"/>
          </p:cNvSpPr>
          <p:nvPr/>
        </p:nvSpPr>
        <p:spPr bwMode="auto">
          <a:xfrm>
            <a:off x="5964238" y="42814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7196" name="Freeform 9"/>
          <p:cNvSpPr>
            <a:spLocks/>
          </p:cNvSpPr>
          <p:nvPr/>
        </p:nvSpPr>
        <p:spPr bwMode="auto">
          <a:xfrm>
            <a:off x="5430838" y="1919288"/>
            <a:ext cx="482600" cy="1587"/>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197" name="Freeform 10"/>
          <p:cNvSpPr>
            <a:spLocks/>
          </p:cNvSpPr>
          <p:nvPr/>
        </p:nvSpPr>
        <p:spPr bwMode="auto">
          <a:xfrm>
            <a:off x="5430838" y="2101850"/>
            <a:ext cx="457200" cy="655638"/>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198" name="Line 11"/>
          <p:cNvSpPr>
            <a:spLocks noChangeShapeType="1"/>
          </p:cNvSpPr>
          <p:nvPr/>
        </p:nvSpPr>
        <p:spPr bwMode="auto">
          <a:xfrm flipV="1">
            <a:off x="5430838" y="2224088"/>
            <a:ext cx="457200" cy="12954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199" name="Line 12"/>
          <p:cNvSpPr>
            <a:spLocks noChangeShapeType="1"/>
          </p:cNvSpPr>
          <p:nvPr/>
        </p:nvSpPr>
        <p:spPr bwMode="auto">
          <a:xfrm flipV="1">
            <a:off x="5430838" y="2986088"/>
            <a:ext cx="482600" cy="97155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0" name="Line 13"/>
          <p:cNvSpPr>
            <a:spLocks noChangeShapeType="1"/>
          </p:cNvSpPr>
          <p:nvPr/>
        </p:nvSpPr>
        <p:spPr bwMode="auto">
          <a:xfrm flipV="1">
            <a:off x="5430838" y="3976688"/>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1" name="Line 14"/>
          <p:cNvSpPr>
            <a:spLocks noChangeShapeType="1"/>
          </p:cNvSpPr>
          <p:nvPr/>
        </p:nvSpPr>
        <p:spPr bwMode="auto">
          <a:xfrm>
            <a:off x="5430838" y="4738688"/>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2" name="Line 15"/>
          <p:cNvSpPr>
            <a:spLocks noChangeShapeType="1"/>
          </p:cNvSpPr>
          <p:nvPr/>
        </p:nvSpPr>
        <p:spPr bwMode="auto">
          <a:xfrm>
            <a:off x="5430838" y="2681288"/>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3" name="Line 16"/>
          <p:cNvSpPr>
            <a:spLocks noChangeShapeType="1"/>
          </p:cNvSpPr>
          <p:nvPr/>
        </p:nvSpPr>
        <p:spPr bwMode="auto">
          <a:xfrm>
            <a:off x="5430838" y="3062288"/>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4" name="Line 6"/>
          <p:cNvSpPr>
            <a:spLocks noChangeShapeType="1"/>
          </p:cNvSpPr>
          <p:nvPr/>
        </p:nvSpPr>
        <p:spPr bwMode="auto">
          <a:xfrm>
            <a:off x="6278563" y="19034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5" name="Line 6"/>
          <p:cNvSpPr>
            <a:spLocks noChangeShapeType="1"/>
          </p:cNvSpPr>
          <p:nvPr/>
        </p:nvSpPr>
        <p:spPr bwMode="auto">
          <a:xfrm>
            <a:off x="6278563" y="22637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6" name="Line 6"/>
          <p:cNvSpPr>
            <a:spLocks noChangeShapeType="1"/>
          </p:cNvSpPr>
          <p:nvPr/>
        </p:nvSpPr>
        <p:spPr bwMode="auto">
          <a:xfrm>
            <a:off x="6278563" y="266065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7" name="Line 6"/>
          <p:cNvSpPr>
            <a:spLocks noChangeShapeType="1"/>
          </p:cNvSpPr>
          <p:nvPr/>
        </p:nvSpPr>
        <p:spPr bwMode="auto">
          <a:xfrm>
            <a:off x="6278563" y="30226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8" name="Line 6"/>
          <p:cNvSpPr>
            <a:spLocks noChangeShapeType="1"/>
          </p:cNvSpPr>
          <p:nvPr/>
        </p:nvSpPr>
        <p:spPr bwMode="auto">
          <a:xfrm>
            <a:off x="6278563" y="36560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09" name="Line 6"/>
          <p:cNvSpPr>
            <a:spLocks noChangeShapeType="1"/>
          </p:cNvSpPr>
          <p:nvPr/>
        </p:nvSpPr>
        <p:spPr bwMode="auto">
          <a:xfrm>
            <a:off x="6278563" y="40528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10" name="Line 6"/>
          <p:cNvSpPr>
            <a:spLocks noChangeShapeType="1"/>
          </p:cNvSpPr>
          <p:nvPr/>
        </p:nvSpPr>
        <p:spPr bwMode="auto">
          <a:xfrm>
            <a:off x="6278563" y="44497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7211" name="Line 6"/>
          <p:cNvSpPr>
            <a:spLocks noChangeShapeType="1"/>
          </p:cNvSpPr>
          <p:nvPr/>
        </p:nvSpPr>
        <p:spPr bwMode="auto">
          <a:xfrm>
            <a:off x="6278563" y="48117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35 3.46821E-7 C -0.00173 -0.00324 -0.00364 -0.00647 0.00591 -0.03607 C 0.01546 -0.06567 0.04011 -0.15075 0.05868 -0.17827 C 0.07709 -0.20578 0.10643 -0.19075 0.11684 -0.20093 C 0.12726 -0.2111 0.08907 -0.2326 0.12066 -0.23931 C 0.15226 -0.24601 0.22952 -0.24393 0.30677 -0.24162 " pathEditMode="relative" rAng="0" ptsTypes="aaaaaA">
                                      <p:cBhvr>
                                        <p:cTn id="6" dur="2000" fill="hold"/>
                                        <p:tgtEl>
                                          <p:spTgt spid="171030"/>
                                        </p:tgtEl>
                                        <p:attrNameLst>
                                          <p:attrName>ppt_x</p:attrName>
                                          <p:attrName>ppt_y</p:attrName>
                                        </p:attrNameLst>
                                      </p:cBhvr>
                                      <p:rCtr x="15100" y="-123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30"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3"/>
          <p:cNvSpPr>
            <a:spLocks noGrp="1"/>
          </p:cNvSpPr>
          <p:nvPr>
            <p:ph type="ftr" sz="quarter" idx="10"/>
          </p:nvPr>
        </p:nvSpPr>
        <p:spPr/>
        <p:txBody>
          <a:bodyPr/>
          <a:lstStyle/>
          <a:p>
            <a:pPr>
              <a:defRPr/>
            </a:pPr>
            <a:r>
              <a:rPr lang="en-US"/>
              <a:t>Art of Multiprocessor Programming</a:t>
            </a:r>
          </a:p>
        </p:txBody>
      </p:sp>
      <p:sp>
        <p:nvSpPr>
          <p:cNvPr id="41" name="Slide Number Placeholder 4"/>
          <p:cNvSpPr>
            <a:spLocks noGrp="1"/>
          </p:cNvSpPr>
          <p:nvPr>
            <p:ph type="sldNum" sz="quarter" idx="11"/>
          </p:nvPr>
        </p:nvSpPr>
        <p:spPr/>
        <p:txBody>
          <a:bodyPr/>
          <a:lstStyle/>
          <a:p>
            <a:pPr>
              <a:defRPr/>
            </a:pPr>
            <a:fld id="{66297F72-3D20-461A-A229-6E446CCC649D}" type="slidenum">
              <a:rPr lang="en-US"/>
              <a:pPr>
                <a:defRPr/>
              </a:pPr>
              <a:t>180</a:t>
            </a:fld>
            <a:endParaRPr lang="en-US"/>
          </a:p>
        </p:txBody>
      </p:sp>
      <p:sp>
        <p:nvSpPr>
          <p:cNvPr id="178180" name="Rectangle 2"/>
          <p:cNvSpPr>
            <a:spLocks noGrp="1" noChangeArrowheads="1"/>
          </p:cNvSpPr>
          <p:nvPr>
            <p:ph type="title"/>
          </p:nvPr>
        </p:nvSpPr>
        <p:spPr>
          <a:xfrm>
            <a:off x="685800" y="304800"/>
            <a:ext cx="7772400" cy="1143000"/>
          </a:xfrm>
        </p:spPr>
        <p:txBody>
          <a:bodyPr/>
          <a:lstStyle/>
          <a:p>
            <a:r>
              <a:rPr lang="en-US"/>
              <a:t>So Counting Networks Count</a:t>
            </a:r>
          </a:p>
        </p:txBody>
      </p:sp>
      <p:sp>
        <p:nvSpPr>
          <p:cNvPr id="178181" name="Oval 3"/>
          <p:cNvSpPr>
            <a:spLocks noChangeArrowheads="1"/>
          </p:cNvSpPr>
          <p:nvPr/>
        </p:nvSpPr>
        <p:spPr bwMode="auto">
          <a:xfrm flipH="1">
            <a:off x="4430713"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82" name="Oval 4"/>
          <p:cNvSpPr>
            <a:spLocks noChangeArrowheads="1"/>
          </p:cNvSpPr>
          <p:nvPr/>
        </p:nvSpPr>
        <p:spPr bwMode="auto">
          <a:xfrm flipH="1">
            <a:off x="4430713" y="2236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83" name="Oval 5"/>
          <p:cNvSpPr>
            <a:spLocks noChangeArrowheads="1"/>
          </p:cNvSpPr>
          <p:nvPr/>
        </p:nvSpPr>
        <p:spPr bwMode="auto">
          <a:xfrm flipH="1">
            <a:off x="4768850" y="18557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84" name="Oval 6"/>
          <p:cNvSpPr>
            <a:spLocks noChangeArrowheads="1"/>
          </p:cNvSpPr>
          <p:nvPr/>
        </p:nvSpPr>
        <p:spPr bwMode="auto">
          <a:xfrm flipH="1">
            <a:off x="4430713"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85" name="Oval 7"/>
          <p:cNvSpPr>
            <a:spLocks noChangeArrowheads="1"/>
          </p:cNvSpPr>
          <p:nvPr/>
        </p:nvSpPr>
        <p:spPr bwMode="auto">
          <a:xfrm flipH="1">
            <a:off x="4430713"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86" name="Oval 8"/>
          <p:cNvSpPr>
            <a:spLocks noChangeArrowheads="1"/>
          </p:cNvSpPr>
          <p:nvPr/>
        </p:nvSpPr>
        <p:spPr bwMode="auto">
          <a:xfrm flipH="1">
            <a:off x="4768850" y="2617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87" name="Oval 9"/>
          <p:cNvSpPr>
            <a:spLocks noChangeArrowheads="1"/>
          </p:cNvSpPr>
          <p:nvPr/>
        </p:nvSpPr>
        <p:spPr bwMode="auto">
          <a:xfrm flipH="1">
            <a:off x="4768850" y="2998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88" name="Oval 10"/>
          <p:cNvSpPr>
            <a:spLocks noChangeArrowheads="1"/>
          </p:cNvSpPr>
          <p:nvPr/>
        </p:nvSpPr>
        <p:spPr bwMode="auto">
          <a:xfrm flipH="1">
            <a:off x="4768850" y="22367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89" name="Oval 12"/>
          <p:cNvSpPr>
            <a:spLocks noChangeArrowheads="1"/>
          </p:cNvSpPr>
          <p:nvPr/>
        </p:nvSpPr>
        <p:spPr bwMode="auto">
          <a:xfrm flipH="1">
            <a:off x="4430713"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0" name="Oval 13"/>
          <p:cNvSpPr>
            <a:spLocks noChangeArrowheads="1"/>
          </p:cNvSpPr>
          <p:nvPr/>
        </p:nvSpPr>
        <p:spPr bwMode="auto">
          <a:xfrm flipH="1">
            <a:off x="4430713" y="3797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1" name="Oval 14"/>
          <p:cNvSpPr>
            <a:spLocks noChangeArrowheads="1"/>
          </p:cNvSpPr>
          <p:nvPr/>
        </p:nvSpPr>
        <p:spPr bwMode="auto">
          <a:xfrm flipH="1">
            <a:off x="4733925" y="3416300"/>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2" name="Oval 15"/>
          <p:cNvSpPr>
            <a:spLocks noChangeArrowheads="1"/>
          </p:cNvSpPr>
          <p:nvPr/>
        </p:nvSpPr>
        <p:spPr bwMode="auto">
          <a:xfrm flipH="1">
            <a:off x="4430713"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3" name="Oval 16"/>
          <p:cNvSpPr>
            <a:spLocks noChangeArrowheads="1"/>
          </p:cNvSpPr>
          <p:nvPr/>
        </p:nvSpPr>
        <p:spPr bwMode="auto">
          <a:xfrm flipH="1">
            <a:off x="4430713"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4" name="Oval 17"/>
          <p:cNvSpPr>
            <a:spLocks noChangeArrowheads="1"/>
          </p:cNvSpPr>
          <p:nvPr/>
        </p:nvSpPr>
        <p:spPr bwMode="auto">
          <a:xfrm flipH="1">
            <a:off x="4733925" y="4178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5" name="Oval 18"/>
          <p:cNvSpPr>
            <a:spLocks noChangeArrowheads="1"/>
          </p:cNvSpPr>
          <p:nvPr/>
        </p:nvSpPr>
        <p:spPr bwMode="auto">
          <a:xfrm flipH="1">
            <a:off x="4733925" y="4559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6" name="Oval 19"/>
          <p:cNvSpPr>
            <a:spLocks noChangeArrowheads="1"/>
          </p:cNvSpPr>
          <p:nvPr/>
        </p:nvSpPr>
        <p:spPr bwMode="auto">
          <a:xfrm flipH="1">
            <a:off x="4733925" y="3797300"/>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7" name="Oval 21"/>
          <p:cNvSpPr>
            <a:spLocks noChangeArrowheads="1"/>
          </p:cNvSpPr>
          <p:nvPr/>
        </p:nvSpPr>
        <p:spPr bwMode="auto">
          <a:xfrm flipH="1">
            <a:off x="7197725" y="17795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8" name="Oval 22"/>
          <p:cNvSpPr>
            <a:spLocks noChangeArrowheads="1"/>
          </p:cNvSpPr>
          <p:nvPr/>
        </p:nvSpPr>
        <p:spPr bwMode="auto">
          <a:xfrm flipH="1">
            <a:off x="7197725" y="21605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199" name="Oval 23"/>
          <p:cNvSpPr>
            <a:spLocks noChangeArrowheads="1"/>
          </p:cNvSpPr>
          <p:nvPr/>
        </p:nvSpPr>
        <p:spPr bwMode="auto">
          <a:xfrm flipH="1">
            <a:off x="7518400" y="1779588"/>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0" name="Oval 24"/>
          <p:cNvSpPr>
            <a:spLocks noChangeArrowheads="1"/>
          </p:cNvSpPr>
          <p:nvPr/>
        </p:nvSpPr>
        <p:spPr bwMode="auto">
          <a:xfrm flipH="1">
            <a:off x="7197725" y="25415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1" name="Oval 25"/>
          <p:cNvSpPr>
            <a:spLocks noChangeArrowheads="1"/>
          </p:cNvSpPr>
          <p:nvPr/>
        </p:nvSpPr>
        <p:spPr bwMode="auto">
          <a:xfrm flipH="1">
            <a:off x="7197725" y="29225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2" name="Oval 26"/>
          <p:cNvSpPr>
            <a:spLocks noChangeArrowheads="1"/>
          </p:cNvSpPr>
          <p:nvPr/>
        </p:nvSpPr>
        <p:spPr bwMode="auto">
          <a:xfrm flipH="1">
            <a:off x="7518400" y="25415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3" name="Oval 27"/>
          <p:cNvSpPr>
            <a:spLocks noChangeArrowheads="1"/>
          </p:cNvSpPr>
          <p:nvPr/>
        </p:nvSpPr>
        <p:spPr bwMode="auto">
          <a:xfrm flipH="1">
            <a:off x="7518400" y="29225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4" name="Oval 28"/>
          <p:cNvSpPr>
            <a:spLocks noChangeArrowheads="1"/>
          </p:cNvSpPr>
          <p:nvPr/>
        </p:nvSpPr>
        <p:spPr bwMode="auto">
          <a:xfrm flipH="1">
            <a:off x="7518400" y="21605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5" name="Oval 30"/>
          <p:cNvSpPr>
            <a:spLocks noChangeArrowheads="1"/>
          </p:cNvSpPr>
          <p:nvPr/>
        </p:nvSpPr>
        <p:spPr bwMode="auto">
          <a:xfrm flipH="1">
            <a:off x="7197725" y="355282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6" name="Oval 31"/>
          <p:cNvSpPr>
            <a:spLocks noChangeArrowheads="1"/>
          </p:cNvSpPr>
          <p:nvPr/>
        </p:nvSpPr>
        <p:spPr bwMode="auto">
          <a:xfrm flipH="1">
            <a:off x="7197725" y="393382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7" name="Oval 32"/>
          <p:cNvSpPr>
            <a:spLocks noChangeArrowheads="1"/>
          </p:cNvSpPr>
          <p:nvPr/>
        </p:nvSpPr>
        <p:spPr bwMode="auto">
          <a:xfrm flipH="1">
            <a:off x="7518400" y="3552825"/>
            <a:ext cx="228600" cy="228600"/>
          </a:xfrm>
          <a:prstGeom prst="ellipse">
            <a:avLst/>
          </a:prstGeom>
          <a:solidFill>
            <a:srgbClr val="FF99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8" name="Oval 33"/>
          <p:cNvSpPr>
            <a:spLocks noChangeArrowheads="1"/>
          </p:cNvSpPr>
          <p:nvPr/>
        </p:nvSpPr>
        <p:spPr bwMode="auto">
          <a:xfrm flipH="1">
            <a:off x="7197725" y="431482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09" name="Oval 34"/>
          <p:cNvSpPr>
            <a:spLocks noChangeArrowheads="1"/>
          </p:cNvSpPr>
          <p:nvPr/>
        </p:nvSpPr>
        <p:spPr bwMode="auto">
          <a:xfrm flipH="1">
            <a:off x="7197725" y="469582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10" name="Oval 35"/>
          <p:cNvSpPr>
            <a:spLocks noChangeArrowheads="1"/>
          </p:cNvSpPr>
          <p:nvPr/>
        </p:nvSpPr>
        <p:spPr bwMode="auto">
          <a:xfrm flipH="1">
            <a:off x="7518400" y="431482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11" name="Oval 36"/>
          <p:cNvSpPr>
            <a:spLocks noChangeArrowheads="1"/>
          </p:cNvSpPr>
          <p:nvPr/>
        </p:nvSpPr>
        <p:spPr bwMode="auto">
          <a:xfrm flipH="1">
            <a:off x="7518400" y="469582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12" name="Oval 37"/>
          <p:cNvSpPr>
            <a:spLocks noChangeArrowheads="1"/>
          </p:cNvSpPr>
          <p:nvPr/>
        </p:nvSpPr>
        <p:spPr bwMode="auto">
          <a:xfrm flipH="1">
            <a:off x="7518400" y="3933825"/>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8213" name="Oval 38"/>
          <p:cNvSpPr>
            <a:spLocks noChangeArrowheads="1"/>
          </p:cNvSpPr>
          <p:nvPr/>
        </p:nvSpPr>
        <p:spPr bwMode="auto">
          <a:xfrm flipH="1">
            <a:off x="7866063" y="1779588"/>
            <a:ext cx="228600" cy="228600"/>
          </a:xfrm>
          <a:prstGeom prst="ellipse">
            <a:avLst/>
          </a:prstGeom>
          <a:solidFill>
            <a:srgbClr val="FFFF99"/>
          </a:solidFill>
          <a:ln w="9525"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033" name="AutoShape 5"/>
          <p:cNvSpPr>
            <a:spLocks noChangeArrowheads="1"/>
          </p:cNvSpPr>
          <p:nvPr/>
        </p:nvSpPr>
        <p:spPr bwMode="auto">
          <a:xfrm>
            <a:off x="5964238" y="17668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4" name="AutoShape 6"/>
          <p:cNvSpPr>
            <a:spLocks noChangeArrowheads="1"/>
          </p:cNvSpPr>
          <p:nvPr/>
        </p:nvSpPr>
        <p:spPr bwMode="auto">
          <a:xfrm>
            <a:off x="5964238" y="25288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5" name="AutoShape 7"/>
          <p:cNvSpPr>
            <a:spLocks noChangeArrowheads="1"/>
          </p:cNvSpPr>
          <p:nvPr/>
        </p:nvSpPr>
        <p:spPr bwMode="auto">
          <a:xfrm>
            <a:off x="5964238" y="35194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1036" name="AutoShape 8"/>
          <p:cNvSpPr>
            <a:spLocks noChangeArrowheads="1"/>
          </p:cNvSpPr>
          <p:nvPr/>
        </p:nvSpPr>
        <p:spPr bwMode="auto">
          <a:xfrm>
            <a:off x="5964238" y="4281488"/>
            <a:ext cx="304800" cy="609600"/>
          </a:xfrm>
          <a:prstGeom prst="roundRect">
            <a:avLst>
              <a:gd name="adj" fmla="val 16667"/>
            </a:avLst>
          </a:prstGeom>
          <a:solidFill>
            <a:schemeClr val="bg1">
              <a:lumMod val="95000"/>
            </a:schemeClr>
          </a:solidFill>
          <a:ln w="38100">
            <a:solidFill>
              <a:schemeClr val="tx1"/>
            </a:solidFill>
            <a:round/>
            <a:headEnd/>
            <a:tailEnd/>
          </a:ln>
        </p:spPr>
        <p:txBody>
          <a:bodyPr wrap="none" anchor="ctr"/>
          <a:lstStyle/>
          <a:p>
            <a:pPr>
              <a:defRPr/>
            </a:pPr>
            <a:endParaRPr lang="en-US">
              <a:latin typeface="Arial" pitchFamily="34" charset="0"/>
              <a:cs typeface="Arial" pitchFamily="34" charset="0"/>
            </a:endParaRPr>
          </a:p>
        </p:txBody>
      </p:sp>
      <p:sp>
        <p:nvSpPr>
          <p:cNvPr id="178218" name="Freeform 9"/>
          <p:cNvSpPr>
            <a:spLocks/>
          </p:cNvSpPr>
          <p:nvPr/>
        </p:nvSpPr>
        <p:spPr bwMode="auto">
          <a:xfrm>
            <a:off x="5430838" y="1919288"/>
            <a:ext cx="482600" cy="1587"/>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19" name="Freeform 10"/>
          <p:cNvSpPr>
            <a:spLocks/>
          </p:cNvSpPr>
          <p:nvPr/>
        </p:nvSpPr>
        <p:spPr bwMode="auto">
          <a:xfrm>
            <a:off x="5430838" y="2101850"/>
            <a:ext cx="457200" cy="655638"/>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0" name="Line 11"/>
          <p:cNvSpPr>
            <a:spLocks noChangeShapeType="1"/>
          </p:cNvSpPr>
          <p:nvPr/>
        </p:nvSpPr>
        <p:spPr bwMode="auto">
          <a:xfrm flipV="1">
            <a:off x="5430838" y="2224088"/>
            <a:ext cx="457200" cy="12954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1" name="Line 12"/>
          <p:cNvSpPr>
            <a:spLocks noChangeShapeType="1"/>
          </p:cNvSpPr>
          <p:nvPr/>
        </p:nvSpPr>
        <p:spPr bwMode="auto">
          <a:xfrm flipV="1">
            <a:off x="5430838" y="2986088"/>
            <a:ext cx="482600" cy="97155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2" name="Line 13"/>
          <p:cNvSpPr>
            <a:spLocks noChangeShapeType="1"/>
          </p:cNvSpPr>
          <p:nvPr/>
        </p:nvSpPr>
        <p:spPr bwMode="auto">
          <a:xfrm flipV="1">
            <a:off x="5430838" y="3976688"/>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3" name="Line 14"/>
          <p:cNvSpPr>
            <a:spLocks noChangeShapeType="1"/>
          </p:cNvSpPr>
          <p:nvPr/>
        </p:nvSpPr>
        <p:spPr bwMode="auto">
          <a:xfrm>
            <a:off x="5430838" y="4738688"/>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4" name="Line 15"/>
          <p:cNvSpPr>
            <a:spLocks noChangeShapeType="1"/>
          </p:cNvSpPr>
          <p:nvPr/>
        </p:nvSpPr>
        <p:spPr bwMode="auto">
          <a:xfrm>
            <a:off x="5430838" y="2681288"/>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5" name="Line 16"/>
          <p:cNvSpPr>
            <a:spLocks noChangeShapeType="1"/>
          </p:cNvSpPr>
          <p:nvPr/>
        </p:nvSpPr>
        <p:spPr bwMode="auto">
          <a:xfrm>
            <a:off x="5430838" y="3062288"/>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6" name="Line 6"/>
          <p:cNvSpPr>
            <a:spLocks noChangeShapeType="1"/>
          </p:cNvSpPr>
          <p:nvPr/>
        </p:nvSpPr>
        <p:spPr bwMode="auto">
          <a:xfrm>
            <a:off x="6278563" y="19034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7" name="Line 6"/>
          <p:cNvSpPr>
            <a:spLocks noChangeShapeType="1"/>
          </p:cNvSpPr>
          <p:nvPr/>
        </p:nvSpPr>
        <p:spPr bwMode="auto">
          <a:xfrm>
            <a:off x="6278563" y="2263775"/>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8" name="Line 6"/>
          <p:cNvSpPr>
            <a:spLocks noChangeShapeType="1"/>
          </p:cNvSpPr>
          <p:nvPr/>
        </p:nvSpPr>
        <p:spPr bwMode="auto">
          <a:xfrm>
            <a:off x="6278563" y="266065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29" name="Line 6"/>
          <p:cNvSpPr>
            <a:spLocks noChangeShapeType="1"/>
          </p:cNvSpPr>
          <p:nvPr/>
        </p:nvSpPr>
        <p:spPr bwMode="auto">
          <a:xfrm>
            <a:off x="6278563" y="3022600"/>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30" name="Line 6"/>
          <p:cNvSpPr>
            <a:spLocks noChangeShapeType="1"/>
          </p:cNvSpPr>
          <p:nvPr/>
        </p:nvSpPr>
        <p:spPr bwMode="auto">
          <a:xfrm>
            <a:off x="6278563" y="36560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31" name="Line 6"/>
          <p:cNvSpPr>
            <a:spLocks noChangeShapeType="1"/>
          </p:cNvSpPr>
          <p:nvPr/>
        </p:nvSpPr>
        <p:spPr bwMode="auto">
          <a:xfrm>
            <a:off x="6278563" y="4052888"/>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32" name="Line 6"/>
          <p:cNvSpPr>
            <a:spLocks noChangeShapeType="1"/>
          </p:cNvSpPr>
          <p:nvPr/>
        </p:nvSpPr>
        <p:spPr bwMode="auto">
          <a:xfrm>
            <a:off x="6278563" y="444976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78233" name="Line 6"/>
          <p:cNvSpPr>
            <a:spLocks noChangeShapeType="1"/>
          </p:cNvSpPr>
          <p:nvPr/>
        </p:nvSpPr>
        <p:spPr bwMode="auto">
          <a:xfrm>
            <a:off x="6278563" y="4811713"/>
            <a:ext cx="6858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66" name="TextBox 65"/>
          <p:cNvSpPr txBox="1"/>
          <p:nvPr/>
        </p:nvSpPr>
        <p:spPr>
          <a:xfrm rot="19421212">
            <a:off x="7812088" y="3025775"/>
            <a:ext cx="1096962" cy="584200"/>
          </a:xfrm>
          <a:prstGeom prst="rect">
            <a:avLst/>
          </a:prstGeom>
          <a:noFill/>
        </p:spPr>
        <p:txBody>
          <a:bodyPr wrap="none">
            <a:spAutoFit/>
          </a:bodyPr>
          <a:lstStyle/>
          <a:p>
            <a:pPr>
              <a:defRPr/>
            </a:pPr>
            <a:r>
              <a:rPr lang="en-US" sz="3200" dirty="0">
                <a:latin typeface="Arial" pitchFamily="34" charset="0"/>
                <a:cs typeface="Arial" pitchFamily="34" charset="0"/>
              </a:rPr>
              <a:t>QED</a:t>
            </a:r>
          </a:p>
        </p:txBody>
      </p:sp>
      <p:sp>
        <p:nvSpPr>
          <p:cNvPr id="65" name="Rectangle 3"/>
          <p:cNvSpPr>
            <a:spLocks noChangeArrowheads="1"/>
          </p:cNvSpPr>
          <p:nvPr/>
        </p:nvSpPr>
        <p:spPr bwMode="auto">
          <a:xfrm>
            <a:off x="1211263" y="17097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
        <p:nvSpPr>
          <p:cNvPr id="67" name="Rectangle 4"/>
          <p:cNvSpPr>
            <a:spLocks noChangeArrowheads="1"/>
          </p:cNvSpPr>
          <p:nvPr/>
        </p:nvSpPr>
        <p:spPr bwMode="auto">
          <a:xfrm>
            <a:off x="1211263" y="3462338"/>
            <a:ext cx="2743200" cy="1447800"/>
          </a:xfrm>
          <a:prstGeom prst="rect">
            <a:avLst/>
          </a:prstGeom>
          <a:solidFill>
            <a:schemeClr val="bg1">
              <a:lumMod val="95000"/>
            </a:schemeClr>
          </a:solidFill>
          <a:ln w="38100" algn="ctr">
            <a:solidFill>
              <a:schemeClr val="tx1"/>
            </a:solidFill>
            <a:miter lim="800000"/>
            <a:headEnd/>
            <a:tailEnd/>
          </a:ln>
        </p:spPr>
        <p:txBody>
          <a:bodyPr wrap="none" anchor="ctr"/>
          <a:lstStyle/>
          <a:p>
            <a:pPr algn="ctr">
              <a:spcBef>
                <a:spcPct val="0"/>
              </a:spcBef>
              <a:defRPr/>
            </a:pPr>
            <a:r>
              <a:rPr lang="en-US" sz="4000" b="0">
                <a:latin typeface="Arial" pitchFamily="34" charset="0"/>
                <a:cs typeface="Arial" pitchFamily="34" charset="0"/>
              </a:rPr>
              <a:t>Merger[k]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3"/>
          <p:cNvSpPr>
            <a:spLocks noGrp="1"/>
          </p:cNvSpPr>
          <p:nvPr>
            <p:ph type="ftr" sz="quarter" idx="10"/>
          </p:nvPr>
        </p:nvSpPr>
        <p:spPr/>
        <p:txBody>
          <a:bodyPr/>
          <a:lstStyle/>
          <a:p>
            <a:pPr>
              <a:defRPr/>
            </a:pPr>
            <a:r>
              <a:rPr lang="en-US"/>
              <a:t>Art of Multiprocessor Programming</a:t>
            </a:r>
          </a:p>
        </p:txBody>
      </p:sp>
      <p:sp>
        <p:nvSpPr>
          <p:cNvPr id="32" name="Slide Number Placeholder 4"/>
          <p:cNvSpPr>
            <a:spLocks noGrp="1"/>
          </p:cNvSpPr>
          <p:nvPr>
            <p:ph type="sldNum" sz="quarter" idx="11"/>
          </p:nvPr>
        </p:nvSpPr>
        <p:spPr/>
        <p:txBody>
          <a:bodyPr/>
          <a:lstStyle/>
          <a:p>
            <a:pPr>
              <a:defRPr/>
            </a:pPr>
            <a:fld id="{4488A3AA-4014-4CF3-B4A2-1EE4C00174BD}" type="slidenum">
              <a:rPr lang="en-US"/>
              <a:pPr>
                <a:defRPr/>
              </a:pPr>
              <a:t>181</a:t>
            </a:fld>
            <a:endParaRPr lang="en-US"/>
          </a:p>
        </p:txBody>
      </p:sp>
      <p:sp>
        <p:nvSpPr>
          <p:cNvPr id="179204" name="Rectangle 2"/>
          <p:cNvSpPr>
            <a:spLocks noGrp="1" noChangeArrowheads="1"/>
          </p:cNvSpPr>
          <p:nvPr>
            <p:ph type="title"/>
          </p:nvPr>
        </p:nvSpPr>
        <p:spPr/>
        <p:txBody>
          <a:bodyPr/>
          <a:lstStyle/>
          <a:p>
            <a:r>
              <a:rPr lang="en-US"/>
              <a:t>Periodic Network Block</a:t>
            </a:r>
          </a:p>
        </p:txBody>
      </p:sp>
      <p:sp>
        <p:nvSpPr>
          <p:cNvPr id="179205" name="Line 3"/>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79206" name="Line 4"/>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79207" name="Line 5"/>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79208" name="Line 6"/>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79209" name="Line 7"/>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79210" name="Line 8"/>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79211" name="Line 9"/>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79212" name="Line 10"/>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79213" name="Group 11"/>
          <p:cNvGrpSpPr>
            <a:grpSpLocks/>
          </p:cNvGrpSpPr>
          <p:nvPr/>
        </p:nvGrpSpPr>
        <p:grpSpPr bwMode="auto">
          <a:xfrm>
            <a:off x="5638800" y="2133600"/>
            <a:ext cx="304800" cy="3429000"/>
            <a:chOff x="3936" y="1344"/>
            <a:chExt cx="192" cy="2160"/>
          </a:xfrm>
        </p:grpSpPr>
        <p:sp>
          <p:nvSpPr>
            <p:cNvPr id="179229" name="AutoShape 12"/>
            <p:cNvSpPr>
              <a:spLocks noChangeArrowheads="1"/>
            </p:cNvSpPr>
            <p:nvPr/>
          </p:nvSpPr>
          <p:spPr bwMode="auto">
            <a:xfrm>
              <a:off x="3936"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79230" name="AutoShape 13"/>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79231" name="AutoShape 14"/>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79232" name="AutoShape 15"/>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79214" name="AutoShape 16"/>
          <p:cNvSpPr>
            <a:spLocks noChangeArrowheads="1"/>
          </p:cNvSpPr>
          <p:nvPr/>
        </p:nvSpPr>
        <p:spPr bwMode="auto">
          <a:xfrm>
            <a:off x="4149725" y="3352800"/>
            <a:ext cx="304800" cy="9144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79215" name="Group 17"/>
          <p:cNvGrpSpPr>
            <a:grpSpLocks/>
          </p:cNvGrpSpPr>
          <p:nvPr/>
        </p:nvGrpSpPr>
        <p:grpSpPr bwMode="auto">
          <a:xfrm>
            <a:off x="5137150" y="2590800"/>
            <a:ext cx="311150" cy="2590800"/>
            <a:chOff x="3648" y="1632"/>
            <a:chExt cx="196" cy="1632"/>
          </a:xfrm>
        </p:grpSpPr>
        <p:sp>
          <p:nvSpPr>
            <p:cNvPr id="179227" name="AutoShape 18"/>
            <p:cNvSpPr>
              <a:spLocks noChangeArrowheads="1"/>
            </p:cNvSpPr>
            <p:nvPr/>
          </p:nvSpPr>
          <p:spPr bwMode="auto">
            <a:xfrm>
              <a:off x="3652" y="2736"/>
              <a:ext cx="192" cy="52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79228" name="AutoShape 19"/>
            <p:cNvSpPr>
              <a:spLocks noChangeArrowheads="1"/>
            </p:cNvSpPr>
            <p:nvPr/>
          </p:nvSpPr>
          <p:spPr bwMode="auto">
            <a:xfrm>
              <a:off x="3648" y="1632"/>
              <a:ext cx="192" cy="4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79216" name="Rectangle 20"/>
          <p:cNvSpPr>
            <a:spLocks noChangeArrowheads="1"/>
          </p:cNvSpPr>
          <p:nvPr/>
        </p:nvSpPr>
        <p:spPr bwMode="auto">
          <a:xfrm>
            <a:off x="2514600" y="2514600"/>
            <a:ext cx="533400" cy="2590800"/>
          </a:xfrm>
          <a:prstGeom prst="rect">
            <a:avLst/>
          </a:prstGeom>
          <a:solidFill>
            <a:schemeClr val="bg1"/>
          </a:solidFill>
          <a:ln w="38100" algn="ctr">
            <a:noFill/>
            <a:miter lim="800000"/>
            <a:headEnd/>
            <a:tailEnd/>
          </a:ln>
        </p:spPr>
        <p:txBody>
          <a:bodyPr wrap="none" anchor="ctr"/>
          <a:lstStyle/>
          <a:p>
            <a:endParaRPr lang="en-US" dirty="0">
              <a:latin typeface="Courier New" pitchFamily="49" charset="0"/>
            </a:endParaRPr>
          </a:p>
        </p:txBody>
      </p:sp>
      <p:sp>
        <p:nvSpPr>
          <p:cNvPr id="179217" name="AutoShape 21"/>
          <p:cNvSpPr>
            <a:spLocks noChangeArrowheads="1"/>
          </p:cNvSpPr>
          <p:nvPr/>
        </p:nvSpPr>
        <p:spPr bwMode="auto">
          <a:xfrm>
            <a:off x="2667000" y="2133600"/>
            <a:ext cx="304800" cy="34290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79218" name="Rectangle 22"/>
          <p:cNvSpPr>
            <a:spLocks noChangeArrowheads="1"/>
          </p:cNvSpPr>
          <p:nvPr/>
        </p:nvSpPr>
        <p:spPr bwMode="auto">
          <a:xfrm>
            <a:off x="4521200" y="25908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79219" name="Rectangle 23"/>
          <p:cNvSpPr>
            <a:spLocks noChangeArrowheads="1"/>
          </p:cNvSpPr>
          <p:nvPr/>
        </p:nvSpPr>
        <p:spPr bwMode="auto">
          <a:xfrm>
            <a:off x="4521200" y="43434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grpSp>
        <p:nvGrpSpPr>
          <p:cNvPr id="179220" name="Group 24"/>
          <p:cNvGrpSpPr>
            <a:grpSpLocks/>
          </p:cNvGrpSpPr>
          <p:nvPr/>
        </p:nvGrpSpPr>
        <p:grpSpPr bwMode="auto">
          <a:xfrm>
            <a:off x="4643438" y="2133600"/>
            <a:ext cx="304800" cy="3429000"/>
            <a:chOff x="3369" y="1344"/>
            <a:chExt cx="192" cy="2160"/>
          </a:xfrm>
        </p:grpSpPr>
        <p:sp>
          <p:nvSpPr>
            <p:cNvPr id="179225" name="AutoShape 25"/>
            <p:cNvSpPr>
              <a:spLocks noChangeArrowheads="1"/>
            </p:cNvSpPr>
            <p:nvPr/>
          </p:nvSpPr>
          <p:spPr bwMode="auto">
            <a:xfrm>
              <a:off x="3369"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79226" name="AutoShape 26"/>
            <p:cNvSpPr>
              <a:spLocks noChangeArrowheads="1"/>
            </p:cNvSpPr>
            <p:nvPr/>
          </p:nvSpPr>
          <p:spPr bwMode="auto">
            <a:xfrm>
              <a:off x="3369"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79221" name="Rectangle 27"/>
          <p:cNvSpPr>
            <a:spLocks noChangeArrowheads="1"/>
          </p:cNvSpPr>
          <p:nvPr/>
        </p:nvSpPr>
        <p:spPr bwMode="auto">
          <a:xfrm>
            <a:off x="3581400" y="3429000"/>
            <a:ext cx="4572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79222" name="AutoShape 28"/>
          <p:cNvSpPr>
            <a:spLocks noChangeArrowheads="1"/>
          </p:cNvSpPr>
          <p:nvPr/>
        </p:nvSpPr>
        <p:spPr bwMode="auto">
          <a:xfrm>
            <a:off x="3654425" y="2895600"/>
            <a:ext cx="304800" cy="1828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79223" name="Rectangle 29"/>
          <p:cNvSpPr>
            <a:spLocks noChangeArrowheads="1"/>
          </p:cNvSpPr>
          <p:nvPr/>
        </p:nvSpPr>
        <p:spPr bwMode="auto">
          <a:xfrm>
            <a:off x="3124200" y="3048000"/>
            <a:ext cx="381000" cy="16764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79224" name="AutoShape 30"/>
          <p:cNvSpPr>
            <a:spLocks noChangeArrowheads="1"/>
          </p:cNvSpPr>
          <p:nvPr/>
        </p:nvSpPr>
        <p:spPr bwMode="auto">
          <a:xfrm>
            <a:off x="3160713" y="2514600"/>
            <a:ext cx="304800" cy="26670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Placeholder 3"/>
          <p:cNvSpPr>
            <a:spLocks noGrp="1"/>
          </p:cNvSpPr>
          <p:nvPr>
            <p:ph type="ftr" sz="quarter" idx="10"/>
          </p:nvPr>
        </p:nvSpPr>
        <p:spPr/>
        <p:txBody>
          <a:bodyPr/>
          <a:lstStyle/>
          <a:p>
            <a:pPr>
              <a:defRPr/>
            </a:pPr>
            <a:r>
              <a:rPr lang="en-US"/>
              <a:t>Art of Multiprocessor Programming</a:t>
            </a:r>
          </a:p>
        </p:txBody>
      </p:sp>
      <p:sp>
        <p:nvSpPr>
          <p:cNvPr id="33" name="Slide Number Placeholder 4"/>
          <p:cNvSpPr>
            <a:spLocks noGrp="1"/>
          </p:cNvSpPr>
          <p:nvPr>
            <p:ph type="sldNum" sz="quarter" idx="11"/>
          </p:nvPr>
        </p:nvSpPr>
        <p:spPr/>
        <p:txBody>
          <a:bodyPr/>
          <a:lstStyle/>
          <a:p>
            <a:pPr>
              <a:defRPr/>
            </a:pPr>
            <a:fld id="{9BB9AA6C-8893-4AF7-8626-DE2A8BBC8612}" type="slidenum">
              <a:rPr lang="en-US"/>
              <a:pPr>
                <a:defRPr/>
              </a:pPr>
              <a:t>182</a:t>
            </a:fld>
            <a:endParaRPr lang="en-US"/>
          </a:p>
        </p:txBody>
      </p:sp>
      <p:sp>
        <p:nvSpPr>
          <p:cNvPr id="180228" name="Rectangle 2"/>
          <p:cNvSpPr>
            <a:spLocks noGrp="1" noChangeArrowheads="1"/>
          </p:cNvSpPr>
          <p:nvPr>
            <p:ph type="title"/>
          </p:nvPr>
        </p:nvSpPr>
        <p:spPr/>
        <p:txBody>
          <a:bodyPr/>
          <a:lstStyle/>
          <a:p>
            <a:r>
              <a:rPr lang="en-US"/>
              <a:t>Periodic Network Block</a:t>
            </a:r>
          </a:p>
        </p:txBody>
      </p:sp>
      <p:sp>
        <p:nvSpPr>
          <p:cNvPr id="180229" name="Line 3"/>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0230" name="Line 4"/>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0231" name="Line 5"/>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0232" name="Line 6"/>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0233" name="Line 7"/>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0234" name="Line 8"/>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0235" name="Line 9"/>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0236" name="Line 10"/>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80237" name="Group 11"/>
          <p:cNvGrpSpPr>
            <a:grpSpLocks/>
          </p:cNvGrpSpPr>
          <p:nvPr/>
        </p:nvGrpSpPr>
        <p:grpSpPr bwMode="auto">
          <a:xfrm>
            <a:off x="5638800" y="2133600"/>
            <a:ext cx="304800" cy="3429000"/>
            <a:chOff x="3936" y="1344"/>
            <a:chExt cx="192" cy="2160"/>
          </a:xfrm>
        </p:grpSpPr>
        <p:sp>
          <p:nvSpPr>
            <p:cNvPr id="180254" name="AutoShape 12"/>
            <p:cNvSpPr>
              <a:spLocks noChangeArrowheads="1"/>
            </p:cNvSpPr>
            <p:nvPr/>
          </p:nvSpPr>
          <p:spPr bwMode="auto">
            <a:xfrm>
              <a:off x="3936" y="1344"/>
              <a:ext cx="192" cy="43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0255" name="AutoShape 13"/>
            <p:cNvSpPr>
              <a:spLocks noChangeArrowheads="1"/>
            </p:cNvSpPr>
            <p:nvPr/>
          </p:nvSpPr>
          <p:spPr bwMode="auto">
            <a:xfrm>
              <a:off x="3936" y="1936"/>
              <a:ext cx="192" cy="43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0256" name="AutoShape 14"/>
            <p:cNvSpPr>
              <a:spLocks noChangeArrowheads="1"/>
            </p:cNvSpPr>
            <p:nvPr/>
          </p:nvSpPr>
          <p:spPr bwMode="auto">
            <a:xfrm>
              <a:off x="3936" y="2528"/>
              <a:ext cx="192" cy="43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0257" name="AutoShape 15"/>
            <p:cNvSpPr>
              <a:spLocks noChangeArrowheads="1"/>
            </p:cNvSpPr>
            <p:nvPr/>
          </p:nvSpPr>
          <p:spPr bwMode="auto">
            <a:xfrm>
              <a:off x="3936" y="3072"/>
              <a:ext cx="192" cy="43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0238" name="AutoShape 16"/>
          <p:cNvSpPr>
            <a:spLocks noChangeArrowheads="1"/>
          </p:cNvSpPr>
          <p:nvPr/>
        </p:nvSpPr>
        <p:spPr bwMode="auto">
          <a:xfrm>
            <a:off x="4149725" y="3352800"/>
            <a:ext cx="304800" cy="9144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0239" name="Group 17"/>
          <p:cNvGrpSpPr>
            <a:grpSpLocks/>
          </p:cNvGrpSpPr>
          <p:nvPr/>
        </p:nvGrpSpPr>
        <p:grpSpPr bwMode="auto">
          <a:xfrm>
            <a:off x="5137150" y="2590800"/>
            <a:ext cx="311150" cy="2590800"/>
            <a:chOff x="3648" y="1632"/>
            <a:chExt cx="196" cy="1632"/>
          </a:xfrm>
        </p:grpSpPr>
        <p:sp>
          <p:nvSpPr>
            <p:cNvPr id="180252" name="AutoShape 18"/>
            <p:cNvSpPr>
              <a:spLocks noChangeArrowheads="1"/>
            </p:cNvSpPr>
            <p:nvPr/>
          </p:nvSpPr>
          <p:spPr bwMode="auto">
            <a:xfrm>
              <a:off x="3652" y="2736"/>
              <a:ext cx="192" cy="528"/>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0253" name="AutoShape 19"/>
            <p:cNvSpPr>
              <a:spLocks noChangeArrowheads="1"/>
            </p:cNvSpPr>
            <p:nvPr/>
          </p:nvSpPr>
          <p:spPr bwMode="auto">
            <a:xfrm>
              <a:off x="3648" y="1632"/>
              <a:ext cx="192" cy="48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0240" name="Rectangle 20"/>
          <p:cNvSpPr>
            <a:spLocks noChangeArrowheads="1"/>
          </p:cNvSpPr>
          <p:nvPr/>
        </p:nvSpPr>
        <p:spPr bwMode="auto">
          <a:xfrm>
            <a:off x="2514600" y="2514600"/>
            <a:ext cx="533400" cy="2590800"/>
          </a:xfrm>
          <a:prstGeom prst="rect">
            <a:avLst/>
          </a:prstGeom>
          <a:solidFill>
            <a:schemeClr val="bg1"/>
          </a:solidFill>
          <a:ln w="38100" algn="ctr">
            <a:noFill/>
            <a:miter lim="800000"/>
            <a:headEnd/>
            <a:tailEnd/>
          </a:ln>
        </p:spPr>
        <p:txBody>
          <a:bodyPr wrap="none" anchor="ctr"/>
          <a:lstStyle/>
          <a:p>
            <a:endParaRPr lang="en-US" dirty="0">
              <a:latin typeface="Courier New" pitchFamily="49" charset="0"/>
            </a:endParaRPr>
          </a:p>
        </p:txBody>
      </p:sp>
      <p:sp>
        <p:nvSpPr>
          <p:cNvPr id="180241" name="AutoShape 21"/>
          <p:cNvSpPr>
            <a:spLocks noChangeArrowheads="1"/>
          </p:cNvSpPr>
          <p:nvPr/>
        </p:nvSpPr>
        <p:spPr bwMode="auto">
          <a:xfrm>
            <a:off x="2667000" y="2133600"/>
            <a:ext cx="304800" cy="34290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0242" name="Rectangle 22"/>
          <p:cNvSpPr>
            <a:spLocks noChangeArrowheads="1"/>
          </p:cNvSpPr>
          <p:nvPr/>
        </p:nvSpPr>
        <p:spPr bwMode="auto">
          <a:xfrm>
            <a:off x="4521200" y="25908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0243" name="Rectangle 23"/>
          <p:cNvSpPr>
            <a:spLocks noChangeArrowheads="1"/>
          </p:cNvSpPr>
          <p:nvPr/>
        </p:nvSpPr>
        <p:spPr bwMode="auto">
          <a:xfrm>
            <a:off x="4521200" y="43434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grpSp>
        <p:nvGrpSpPr>
          <p:cNvPr id="180244" name="Group 24"/>
          <p:cNvGrpSpPr>
            <a:grpSpLocks/>
          </p:cNvGrpSpPr>
          <p:nvPr/>
        </p:nvGrpSpPr>
        <p:grpSpPr bwMode="auto">
          <a:xfrm>
            <a:off x="4643438" y="2133600"/>
            <a:ext cx="304800" cy="3429000"/>
            <a:chOff x="3369" y="1344"/>
            <a:chExt cx="192" cy="2160"/>
          </a:xfrm>
        </p:grpSpPr>
        <p:sp>
          <p:nvSpPr>
            <p:cNvPr id="180250" name="AutoShape 25"/>
            <p:cNvSpPr>
              <a:spLocks noChangeArrowheads="1"/>
            </p:cNvSpPr>
            <p:nvPr/>
          </p:nvSpPr>
          <p:spPr bwMode="auto">
            <a:xfrm>
              <a:off x="3369" y="1344"/>
              <a:ext cx="192" cy="1008"/>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0251" name="AutoShape 26"/>
            <p:cNvSpPr>
              <a:spLocks noChangeArrowheads="1"/>
            </p:cNvSpPr>
            <p:nvPr/>
          </p:nvSpPr>
          <p:spPr bwMode="auto">
            <a:xfrm>
              <a:off x="3369" y="2496"/>
              <a:ext cx="192" cy="1008"/>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0245" name="Rectangle 27"/>
          <p:cNvSpPr>
            <a:spLocks noChangeArrowheads="1"/>
          </p:cNvSpPr>
          <p:nvPr/>
        </p:nvSpPr>
        <p:spPr bwMode="auto">
          <a:xfrm>
            <a:off x="3581400" y="3429000"/>
            <a:ext cx="4572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0246" name="AutoShape 28"/>
          <p:cNvSpPr>
            <a:spLocks noChangeArrowheads="1"/>
          </p:cNvSpPr>
          <p:nvPr/>
        </p:nvSpPr>
        <p:spPr bwMode="auto">
          <a:xfrm>
            <a:off x="3654425" y="2895600"/>
            <a:ext cx="304800" cy="1828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0247" name="Rectangle 29"/>
          <p:cNvSpPr>
            <a:spLocks noChangeArrowheads="1"/>
          </p:cNvSpPr>
          <p:nvPr/>
        </p:nvSpPr>
        <p:spPr bwMode="auto">
          <a:xfrm>
            <a:off x="3124200" y="3048000"/>
            <a:ext cx="381000" cy="16764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0248" name="AutoShape 30"/>
          <p:cNvSpPr>
            <a:spLocks noChangeArrowheads="1"/>
          </p:cNvSpPr>
          <p:nvPr/>
        </p:nvSpPr>
        <p:spPr bwMode="auto">
          <a:xfrm>
            <a:off x="3160713" y="2514600"/>
            <a:ext cx="304800" cy="26670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0249" name="Freeform 31"/>
          <p:cNvSpPr>
            <a:spLocks/>
          </p:cNvSpPr>
          <p:nvPr/>
        </p:nvSpPr>
        <p:spPr bwMode="auto">
          <a:xfrm>
            <a:off x="2438400" y="1828800"/>
            <a:ext cx="2438400" cy="4114800"/>
          </a:xfrm>
          <a:custGeom>
            <a:avLst/>
            <a:gdLst>
              <a:gd name="T0" fmla="*/ 0 w 1536"/>
              <a:gd name="T1" fmla="*/ 0 h 2592"/>
              <a:gd name="T2" fmla="*/ 2147483647 w 1536"/>
              <a:gd name="T3" fmla="*/ 2147483647 h 2592"/>
              <a:gd name="T4" fmla="*/ 2147483647 w 1536"/>
              <a:gd name="T5" fmla="*/ 2147483647 h 2592"/>
              <a:gd name="T6" fmla="*/ 2147483647 w 1536"/>
              <a:gd name="T7" fmla="*/ 2147483647 h 2592"/>
              <a:gd name="T8" fmla="*/ 0 60000 65536"/>
              <a:gd name="T9" fmla="*/ 0 60000 65536"/>
              <a:gd name="T10" fmla="*/ 0 60000 65536"/>
              <a:gd name="T11" fmla="*/ 0 60000 65536"/>
              <a:gd name="T12" fmla="*/ 0 w 1536"/>
              <a:gd name="T13" fmla="*/ 0 h 2592"/>
              <a:gd name="T14" fmla="*/ 1536 w 1536"/>
              <a:gd name="T15" fmla="*/ 2592 h 2592"/>
            </a:gdLst>
            <a:ahLst/>
            <a:cxnLst>
              <a:cxn ang="T8">
                <a:pos x="T0" y="T1"/>
              </a:cxn>
              <a:cxn ang="T9">
                <a:pos x="T2" y="T3"/>
              </a:cxn>
              <a:cxn ang="T10">
                <a:pos x="T4" y="T5"/>
              </a:cxn>
              <a:cxn ang="T11">
                <a:pos x="T6" y="T7"/>
              </a:cxn>
            </a:cxnLst>
            <a:rect l="T12" t="T13" r="T14" b="T15"/>
            <a:pathLst>
              <a:path w="1536" h="2592">
                <a:moveTo>
                  <a:pt x="0" y="0"/>
                </a:moveTo>
                <a:lnTo>
                  <a:pt x="1536" y="1248"/>
                </a:lnTo>
                <a:lnTo>
                  <a:pt x="48" y="2592"/>
                </a:lnTo>
                <a:lnTo>
                  <a:pt x="48" y="48"/>
                </a:lnTo>
              </a:path>
            </a:pathLst>
          </a:custGeom>
          <a:noFill/>
          <a:ln w="38100">
            <a:solidFill>
              <a:srgbClr val="FF0000"/>
            </a:solidFill>
            <a:prstDash val="dash"/>
            <a:round/>
            <a:headEnd/>
            <a:tailEnd/>
          </a:ln>
        </p:spPr>
        <p:txBody>
          <a:bodyPr wrap="none" anchor="ctr"/>
          <a:lstStyle/>
          <a:p>
            <a:endParaRPr lang="en-US" dirty="0">
              <a:latin typeface="Courier New" pitchFamily="49" charset="0"/>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3"/>
          <p:cNvSpPr>
            <a:spLocks noGrp="1"/>
          </p:cNvSpPr>
          <p:nvPr>
            <p:ph type="ftr" sz="quarter" idx="10"/>
          </p:nvPr>
        </p:nvSpPr>
        <p:spPr/>
        <p:txBody>
          <a:bodyPr/>
          <a:lstStyle/>
          <a:p>
            <a:pPr>
              <a:defRPr/>
            </a:pPr>
            <a:r>
              <a:rPr lang="en-US"/>
              <a:t>Art of Multiprocessor Programming</a:t>
            </a:r>
          </a:p>
        </p:txBody>
      </p:sp>
      <p:sp>
        <p:nvSpPr>
          <p:cNvPr id="34" name="Slide Number Placeholder 4"/>
          <p:cNvSpPr>
            <a:spLocks noGrp="1"/>
          </p:cNvSpPr>
          <p:nvPr>
            <p:ph type="sldNum" sz="quarter" idx="11"/>
          </p:nvPr>
        </p:nvSpPr>
        <p:spPr/>
        <p:txBody>
          <a:bodyPr/>
          <a:lstStyle/>
          <a:p>
            <a:pPr>
              <a:defRPr/>
            </a:pPr>
            <a:fld id="{31C2B8C5-91DE-476B-BA0D-8123A4771F8A}" type="slidenum">
              <a:rPr lang="en-US"/>
              <a:pPr>
                <a:defRPr/>
              </a:pPr>
              <a:t>183</a:t>
            </a:fld>
            <a:endParaRPr lang="en-US"/>
          </a:p>
        </p:txBody>
      </p:sp>
      <p:sp>
        <p:nvSpPr>
          <p:cNvPr id="181252" name="Rectangle 2"/>
          <p:cNvSpPr>
            <a:spLocks noGrp="1" noChangeArrowheads="1"/>
          </p:cNvSpPr>
          <p:nvPr>
            <p:ph type="title"/>
          </p:nvPr>
        </p:nvSpPr>
        <p:spPr/>
        <p:txBody>
          <a:bodyPr/>
          <a:lstStyle/>
          <a:p>
            <a:r>
              <a:rPr lang="en-US"/>
              <a:t>Periodic Network Block</a:t>
            </a:r>
          </a:p>
        </p:txBody>
      </p:sp>
      <p:sp>
        <p:nvSpPr>
          <p:cNvPr id="181253" name="Line 3"/>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1254" name="Line 4"/>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1255" name="Line 5"/>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1256" name="Line 6"/>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1257" name="Line 7"/>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1258" name="Line 8"/>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1259" name="Line 9"/>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1260" name="Line 10"/>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81261" name="Group 11"/>
          <p:cNvGrpSpPr>
            <a:grpSpLocks/>
          </p:cNvGrpSpPr>
          <p:nvPr/>
        </p:nvGrpSpPr>
        <p:grpSpPr bwMode="auto">
          <a:xfrm>
            <a:off x="5638800" y="2133600"/>
            <a:ext cx="304800" cy="3429000"/>
            <a:chOff x="3936" y="1344"/>
            <a:chExt cx="192" cy="2160"/>
          </a:xfrm>
        </p:grpSpPr>
        <p:sp>
          <p:nvSpPr>
            <p:cNvPr id="181279" name="AutoShape 12"/>
            <p:cNvSpPr>
              <a:spLocks noChangeArrowheads="1"/>
            </p:cNvSpPr>
            <p:nvPr/>
          </p:nvSpPr>
          <p:spPr bwMode="auto">
            <a:xfrm>
              <a:off x="3936" y="1344"/>
              <a:ext cx="192" cy="43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1280" name="AutoShape 13"/>
            <p:cNvSpPr>
              <a:spLocks noChangeArrowheads="1"/>
            </p:cNvSpPr>
            <p:nvPr/>
          </p:nvSpPr>
          <p:spPr bwMode="auto">
            <a:xfrm>
              <a:off x="3936" y="1936"/>
              <a:ext cx="192" cy="43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1281" name="AutoShape 14"/>
            <p:cNvSpPr>
              <a:spLocks noChangeArrowheads="1"/>
            </p:cNvSpPr>
            <p:nvPr/>
          </p:nvSpPr>
          <p:spPr bwMode="auto">
            <a:xfrm>
              <a:off x="3936" y="2528"/>
              <a:ext cx="192" cy="43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1282" name="AutoShape 15"/>
            <p:cNvSpPr>
              <a:spLocks noChangeArrowheads="1"/>
            </p:cNvSpPr>
            <p:nvPr/>
          </p:nvSpPr>
          <p:spPr bwMode="auto">
            <a:xfrm>
              <a:off x="3936" y="3072"/>
              <a:ext cx="192" cy="43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1262" name="AutoShape 16"/>
          <p:cNvSpPr>
            <a:spLocks noChangeArrowheads="1"/>
          </p:cNvSpPr>
          <p:nvPr/>
        </p:nvSpPr>
        <p:spPr bwMode="auto">
          <a:xfrm>
            <a:off x="4149725" y="3352800"/>
            <a:ext cx="304800" cy="9144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1263" name="Group 17"/>
          <p:cNvGrpSpPr>
            <a:grpSpLocks/>
          </p:cNvGrpSpPr>
          <p:nvPr/>
        </p:nvGrpSpPr>
        <p:grpSpPr bwMode="auto">
          <a:xfrm>
            <a:off x="5137150" y="2590800"/>
            <a:ext cx="311150" cy="2590800"/>
            <a:chOff x="3648" y="1632"/>
            <a:chExt cx="196" cy="1632"/>
          </a:xfrm>
        </p:grpSpPr>
        <p:sp>
          <p:nvSpPr>
            <p:cNvPr id="181277" name="AutoShape 18"/>
            <p:cNvSpPr>
              <a:spLocks noChangeArrowheads="1"/>
            </p:cNvSpPr>
            <p:nvPr/>
          </p:nvSpPr>
          <p:spPr bwMode="auto">
            <a:xfrm>
              <a:off x="3652" y="2736"/>
              <a:ext cx="192" cy="528"/>
            </a:xfrm>
            <a:prstGeom prst="roundRect">
              <a:avLst>
                <a:gd name="adj" fmla="val 16667"/>
              </a:avLst>
            </a:prstGeom>
            <a:solidFill>
              <a:srgbClr val="66FFFF"/>
            </a:solidFill>
            <a:ln w="38100">
              <a:solidFill>
                <a:schemeClr val="tx1"/>
              </a:solidFill>
              <a:round/>
              <a:headEnd/>
              <a:tailEnd/>
            </a:ln>
          </p:spPr>
          <p:txBody>
            <a:bodyPr wrap="none" anchor="ctr"/>
            <a:lstStyle/>
            <a:p>
              <a:endParaRPr lang="en-US" dirty="0">
                <a:latin typeface="Courier New" pitchFamily="49" charset="0"/>
              </a:endParaRPr>
            </a:p>
          </p:txBody>
        </p:sp>
        <p:sp>
          <p:nvSpPr>
            <p:cNvPr id="181278" name="AutoShape 19"/>
            <p:cNvSpPr>
              <a:spLocks noChangeArrowheads="1"/>
            </p:cNvSpPr>
            <p:nvPr/>
          </p:nvSpPr>
          <p:spPr bwMode="auto">
            <a:xfrm>
              <a:off x="3648" y="1632"/>
              <a:ext cx="192" cy="480"/>
            </a:xfrm>
            <a:prstGeom prst="roundRect">
              <a:avLst>
                <a:gd name="adj" fmla="val 16667"/>
              </a:avLst>
            </a:prstGeom>
            <a:solidFill>
              <a:srgbClr val="66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1264" name="Rectangle 20"/>
          <p:cNvSpPr>
            <a:spLocks noChangeArrowheads="1"/>
          </p:cNvSpPr>
          <p:nvPr/>
        </p:nvSpPr>
        <p:spPr bwMode="auto">
          <a:xfrm>
            <a:off x="2514600" y="2514600"/>
            <a:ext cx="533400" cy="2590800"/>
          </a:xfrm>
          <a:prstGeom prst="rect">
            <a:avLst/>
          </a:prstGeom>
          <a:solidFill>
            <a:schemeClr val="bg1"/>
          </a:solidFill>
          <a:ln w="38100" algn="ctr">
            <a:noFill/>
            <a:miter lim="800000"/>
            <a:headEnd/>
            <a:tailEnd/>
          </a:ln>
        </p:spPr>
        <p:txBody>
          <a:bodyPr wrap="none" anchor="ctr"/>
          <a:lstStyle/>
          <a:p>
            <a:endParaRPr lang="en-US" dirty="0">
              <a:latin typeface="Courier New" pitchFamily="49" charset="0"/>
            </a:endParaRPr>
          </a:p>
        </p:txBody>
      </p:sp>
      <p:sp>
        <p:nvSpPr>
          <p:cNvPr id="181265" name="AutoShape 21"/>
          <p:cNvSpPr>
            <a:spLocks noChangeArrowheads="1"/>
          </p:cNvSpPr>
          <p:nvPr/>
        </p:nvSpPr>
        <p:spPr bwMode="auto">
          <a:xfrm>
            <a:off x="2667000" y="2133600"/>
            <a:ext cx="304800" cy="34290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1266" name="Rectangle 22"/>
          <p:cNvSpPr>
            <a:spLocks noChangeArrowheads="1"/>
          </p:cNvSpPr>
          <p:nvPr/>
        </p:nvSpPr>
        <p:spPr bwMode="auto">
          <a:xfrm>
            <a:off x="4521200" y="25908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1267" name="Rectangle 23"/>
          <p:cNvSpPr>
            <a:spLocks noChangeArrowheads="1"/>
          </p:cNvSpPr>
          <p:nvPr/>
        </p:nvSpPr>
        <p:spPr bwMode="auto">
          <a:xfrm>
            <a:off x="4521200" y="43434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grpSp>
        <p:nvGrpSpPr>
          <p:cNvPr id="181268" name="Group 24"/>
          <p:cNvGrpSpPr>
            <a:grpSpLocks/>
          </p:cNvGrpSpPr>
          <p:nvPr/>
        </p:nvGrpSpPr>
        <p:grpSpPr bwMode="auto">
          <a:xfrm>
            <a:off x="4643438" y="2133600"/>
            <a:ext cx="304800" cy="3429000"/>
            <a:chOff x="3369" y="1344"/>
            <a:chExt cx="192" cy="2160"/>
          </a:xfrm>
        </p:grpSpPr>
        <p:sp>
          <p:nvSpPr>
            <p:cNvPr id="181275" name="AutoShape 25"/>
            <p:cNvSpPr>
              <a:spLocks noChangeArrowheads="1"/>
            </p:cNvSpPr>
            <p:nvPr/>
          </p:nvSpPr>
          <p:spPr bwMode="auto">
            <a:xfrm>
              <a:off x="3369" y="1344"/>
              <a:ext cx="192" cy="1008"/>
            </a:xfrm>
            <a:prstGeom prst="roundRect">
              <a:avLst>
                <a:gd name="adj" fmla="val 16667"/>
              </a:avLst>
            </a:prstGeom>
            <a:solidFill>
              <a:srgbClr val="66FFFF"/>
            </a:solidFill>
            <a:ln w="38100">
              <a:solidFill>
                <a:schemeClr val="tx1"/>
              </a:solidFill>
              <a:round/>
              <a:headEnd/>
              <a:tailEnd/>
            </a:ln>
          </p:spPr>
          <p:txBody>
            <a:bodyPr wrap="none" anchor="ctr"/>
            <a:lstStyle/>
            <a:p>
              <a:endParaRPr lang="en-US" dirty="0">
                <a:latin typeface="Courier New" pitchFamily="49" charset="0"/>
              </a:endParaRPr>
            </a:p>
          </p:txBody>
        </p:sp>
        <p:sp>
          <p:nvSpPr>
            <p:cNvPr id="181276" name="AutoShape 26"/>
            <p:cNvSpPr>
              <a:spLocks noChangeArrowheads="1"/>
            </p:cNvSpPr>
            <p:nvPr/>
          </p:nvSpPr>
          <p:spPr bwMode="auto">
            <a:xfrm>
              <a:off x="3369" y="2496"/>
              <a:ext cx="192" cy="1008"/>
            </a:xfrm>
            <a:prstGeom prst="roundRect">
              <a:avLst>
                <a:gd name="adj" fmla="val 16667"/>
              </a:avLst>
            </a:prstGeom>
            <a:solidFill>
              <a:srgbClr val="66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1269" name="Rectangle 27"/>
          <p:cNvSpPr>
            <a:spLocks noChangeArrowheads="1"/>
          </p:cNvSpPr>
          <p:nvPr/>
        </p:nvSpPr>
        <p:spPr bwMode="auto">
          <a:xfrm>
            <a:off x="3581400" y="3429000"/>
            <a:ext cx="4572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1270" name="AutoShape 28"/>
          <p:cNvSpPr>
            <a:spLocks noChangeArrowheads="1"/>
          </p:cNvSpPr>
          <p:nvPr/>
        </p:nvSpPr>
        <p:spPr bwMode="auto">
          <a:xfrm>
            <a:off x="3654425" y="2895600"/>
            <a:ext cx="304800" cy="1828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1271" name="Rectangle 29"/>
          <p:cNvSpPr>
            <a:spLocks noChangeArrowheads="1"/>
          </p:cNvSpPr>
          <p:nvPr/>
        </p:nvSpPr>
        <p:spPr bwMode="auto">
          <a:xfrm>
            <a:off x="3124200" y="3048000"/>
            <a:ext cx="381000" cy="16764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1272" name="AutoShape 30"/>
          <p:cNvSpPr>
            <a:spLocks noChangeArrowheads="1"/>
          </p:cNvSpPr>
          <p:nvPr/>
        </p:nvSpPr>
        <p:spPr bwMode="auto">
          <a:xfrm>
            <a:off x="3160713" y="2514600"/>
            <a:ext cx="304800" cy="26670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1273" name="Freeform 31"/>
          <p:cNvSpPr>
            <a:spLocks/>
          </p:cNvSpPr>
          <p:nvPr/>
        </p:nvSpPr>
        <p:spPr bwMode="auto">
          <a:xfrm>
            <a:off x="4495800" y="1981200"/>
            <a:ext cx="1143000" cy="1981200"/>
          </a:xfrm>
          <a:custGeom>
            <a:avLst/>
            <a:gdLst>
              <a:gd name="T0" fmla="*/ 0 w 1536"/>
              <a:gd name="T1" fmla="*/ 0 h 2592"/>
              <a:gd name="T2" fmla="*/ 2147483647 w 1536"/>
              <a:gd name="T3" fmla="*/ 2147483647 h 2592"/>
              <a:gd name="T4" fmla="*/ 2147483647 w 1536"/>
              <a:gd name="T5" fmla="*/ 2147483647 h 2592"/>
              <a:gd name="T6" fmla="*/ 2147483647 w 1536"/>
              <a:gd name="T7" fmla="*/ 2147483647 h 2592"/>
              <a:gd name="T8" fmla="*/ 0 60000 65536"/>
              <a:gd name="T9" fmla="*/ 0 60000 65536"/>
              <a:gd name="T10" fmla="*/ 0 60000 65536"/>
              <a:gd name="T11" fmla="*/ 0 60000 65536"/>
              <a:gd name="T12" fmla="*/ 0 w 1536"/>
              <a:gd name="T13" fmla="*/ 0 h 2592"/>
              <a:gd name="T14" fmla="*/ 1536 w 1536"/>
              <a:gd name="T15" fmla="*/ 2592 h 2592"/>
            </a:gdLst>
            <a:ahLst/>
            <a:cxnLst>
              <a:cxn ang="T8">
                <a:pos x="T0" y="T1"/>
              </a:cxn>
              <a:cxn ang="T9">
                <a:pos x="T2" y="T3"/>
              </a:cxn>
              <a:cxn ang="T10">
                <a:pos x="T4" y="T5"/>
              </a:cxn>
              <a:cxn ang="T11">
                <a:pos x="T6" y="T7"/>
              </a:cxn>
            </a:cxnLst>
            <a:rect l="T12" t="T13" r="T14" b="T15"/>
            <a:pathLst>
              <a:path w="1536" h="2592">
                <a:moveTo>
                  <a:pt x="0" y="0"/>
                </a:moveTo>
                <a:lnTo>
                  <a:pt x="1536" y="1248"/>
                </a:lnTo>
                <a:lnTo>
                  <a:pt x="48" y="2592"/>
                </a:lnTo>
                <a:lnTo>
                  <a:pt x="48" y="48"/>
                </a:lnTo>
              </a:path>
            </a:pathLst>
          </a:custGeom>
          <a:noFill/>
          <a:ln w="38100">
            <a:solidFill>
              <a:srgbClr val="FF0000"/>
            </a:solidFill>
            <a:prstDash val="dash"/>
            <a:round/>
            <a:headEnd/>
            <a:tailEnd/>
          </a:ln>
        </p:spPr>
        <p:txBody>
          <a:bodyPr wrap="none" anchor="ctr"/>
          <a:lstStyle/>
          <a:p>
            <a:endParaRPr lang="en-US" dirty="0">
              <a:latin typeface="Courier New" pitchFamily="49" charset="0"/>
            </a:endParaRPr>
          </a:p>
        </p:txBody>
      </p:sp>
      <p:sp>
        <p:nvSpPr>
          <p:cNvPr id="181274" name="Freeform 32"/>
          <p:cNvSpPr>
            <a:spLocks/>
          </p:cNvSpPr>
          <p:nvPr/>
        </p:nvSpPr>
        <p:spPr bwMode="auto">
          <a:xfrm>
            <a:off x="4572000" y="3886200"/>
            <a:ext cx="1143000" cy="1981200"/>
          </a:xfrm>
          <a:custGeom>
            <a:avLst/>
            <a:gdLst>
              <a:gd name="T0" fmla="*/ 0 w 1536"/>
              <a:gd name="T1" fmla="*/ 0 h 2592"/>
              <a:gd name="T2" fmla="*/ 2147483647 w 1536"/>
              <a:gd name="T3" fmla="*/ 2147483647 h 2592"/>
              <a:gd name="T4" fmla="*/ 2147483647 w 1536"/>
              <a:gd name="T5" fmla="*/ 2147483647 h 2592"/>
              <a:gd name="T6" fmla="*/ 2147483647 w 1536"/>
              <a:gd name="T7" fmla="*/ 2147483647 h 2592"/>
              <a:gd name="T8" fmla="*/ 0 60000 65536"/>
              <a:gd name="T9" fmla="*/ 0 60000 65536"/>
              <a:gd name="T10" fmla="*/ 0 60000 65536"/>
              <a:gd name="T11" fmla="*/ 0 60000 65536"/>
              <a:gd name="T12" fmla="*/ 0 w 1536"/>
              <a:gd name="T13" fmla="*/ 0 h 2592"/>
              <a:gd name="T14" fmla="*/ 1536 w 1536"/>
              <a:gd name="T15" fmla="*/ 2592 h 2592"/>
            </a:gdLst>
            <a:ahLst/>
            <a:cxnLst>
              <a:cxn ang="T8">
                <a:pos x="T0" y="T1"/>
              </a:cxn>
              <a:cxn ang="T9">
                <a:pos x="T2" y="T3"/>
              </a:cxn>
              <a:cxn ang="T10">
                <a:pos x="T4" y="T5"/>
              </a:cxn>
              <a:cxn ang="T11">
                <a:pos x="T6" y="T7"/>
              </a:cxn>
            </a:cxnLst>
            <a:rect l="T12" t="T13" r="T14" b="T15"/>
            <a:pathLst>
              <a:path w="1536" h="2592">
                <a:moveTo>
                  <a:pt x="0" y="0"/>
                </a:moveTo>
                <a:lnTo>
                  <a:pt x="1536" y="1248"/>
                </a:lnTo>
                <a:lnTo>
                  <a:pt x="48" y="2592"/>
                </a:lnTo>
                <a:lnTo>
                  <a:pt x="48" y="48"/>
                </a:lnTo>
              </a:path>
            </a:pathLst>
          </a:custGeom>
          <a:noFill/>
          <a:ln w="38100">
            <a:solidFill>
              <a:srgbClr val="FF0000"/>
            </a:solidFill>
            <a:prstDash val="dash"/>
            <a:round/>
            <a:headEnd/>
            <a:tailEnd/>
          </a:ln>
        </p:spPr>
        <p:txBody>
          <a:bodyPr wrap="none" anchor="ctr"/>
          <a:lstStyle/>
          <a:p>
            <a:endParaRPr lang="en-US" dirty="0">
              <a:latin typeface="Courier New" pitchFamily="49" charset="0"/>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3"/>
          <p:cNvSpPr>
            <a:spLocks noGrp="1"/>
          </p:cNvSpPr>
          <p:nvPr>
            <p:ph type="ftr" sz="quarter" idx="10"/>
          </p:nvPr>
        </p:nvSpPr>
        <p:spPr/>
        <p:txBody>
          <a:bodyPr/>
          <a:lstStyle/>
          <a:p>
            <a:pPr>
              <a:defRPr/>
            </a:pPr>
            <a:r>
              <a:rPr lang="en-US"/>
              <a:t>Art of Multiprocessor Programming</a:t>
            </a:r>
          </a:p>
        </p:txBody>
      </p:sp>
      <p:sp>
        <p:nvSpPr>
          <p:cNvPr id="36" name="Slide Number Placeholder 4"/>
          <p:cNvSpPr>
            <a:spLocks noGrp="1"/>
          </p:cNvSpPr>
          <p:nvPr>
            <p:ph type="sldNum" sz="quarter" idx="11"/>
          </p:nvPr>
        </p:nvSpPr>
        <p:spPr/>
        <p:txBody>
          <a:bodyPr/>
          <a:lstStyle/>
          <a:p>
            <a:pPr>
              <a:defRPr/>
            </a:pPr>
            <a:fld id="{36811E92-BC41-479C-A0BB-4CFC58F57504}" type="slidenum">
              <a:rPr lang="en-US"/>
              <a:pPr>
                <a:defRPr/>
              </a:pPr>
              <a:t>184</a:t>
            </a:fld>
            <a:endParaRPr lang="en-US"/>
          </a:p>
        </p:txBody>
      </p:sp>
      <p:sp>
        <p:nvSpPr>
          <p:cNvPr id="182276" name="Rectangle 2"/>
          <p:cNvSpPr>
            <a:spLocks noGrp="1" noChangeArrowheads="1"/>
          </p:cNvSpPr>
          <p:nvPr>
            <p:ph type="title"/>
          </p:nvPr>
        </p:nvSpPr>
        <p:spPr/>
        <p:txBody>
          <a:bodyPr/>
          <a:lstStyle/>
          <a:p>
            <a:r>
              <a:rPr lang="en-US"/>
              <a:t>Periodic Network Block</a:t>
            </a:r>
          </a:p>
        </p:txBody>
      </p:sp>
      <p:sp>
        <p:nvSpPr>
          <p:cNvPr id="182277" name="Line 3"/>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2278" name="Line 4"/>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2279" name="Line 5"/>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2280" name="Line 6"/>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2281" name="Line 7"/>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2282" name="Line 8"/>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2283" name="Line 9"/>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2284" name="Line 10"/>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82285" name="Group 11"/>
          <p:cNvGrpSpPr>
            <a:grpSpLocks/>
          </p:cNvGrpSpPr>
          <p:nvPr/>
        </p:nvGrpSpPr>
        <p:grpSpPr bwMode="auto">
          <a:xfrm>
            <a:off x="5638800" y="2133600"/>
            <a:ext cx="304800" cy="3429000"/>
            <a:chOff x="3936" y="1344"/>
            <a:chExt cx="192" cy="2160"/>
          </a:xfrm>
        </p:grpSpPr>
        <p:sp>
          <p:nvSpPr>
            <p:cNvPr id="182305" name="AutoShape 12"/>
            <p:cNvSpPr>
              <a:spLocks noChangeArrowheads="1"/>
            </p:cNvSpPr>
            <p:nvPr/>
          </p:nvSpPr>
          <p:spPr bwMode="auto">
            <a:xfrm>
              <a:off x="3936" y="1344"/>
              <a:ext cx="192" cy="432"/>
            </a:xfrm>
            <a:prstGeom prst="roundRect">
              <a:avLst>
                <a:gd name="adj" fmla="val 16667"/>
              </a:avLst>
            </a:prstGeom>
            <a:solidFill>
              <a:srgbClr val="66FFFF"/>
            </a:solidFill>
            <a:ln w="38100">
              <a:solidFill>
                <a:schemeClr val="tx1"/>
              </a:solidFill>
              <a:round/>
              <a:headEnd/>
              <a:tailEnd/>
            </a:ln>
          </p:spPr>
          <p:txBody>
            <a:bodyPr wrap="none" anchor="ctr"/>
            <a:lstStyle/>
            <a:p>
              <a:endParaRPr lang="en-US" dirty="0">
                <a:latin typeface="Courier New" pitchFamily="49" charset="0"/>
              </a:endParaRPr>
            </a:p>
          </p:txBody>
        </p:sp>
        <p:sp>
          <p:nvSpPr>
            <p:cNvPr id="182306" name="AutoShape 13"/>
            <p:cNvSpPr>
              <a:spLocks noChangeArrowheads="1"/>
            </p:cNvSpPr>
            <p:nvPr/>
          </p:nvSpPr>
          <p:spPr bwMode="auto">
            <a:xfrm>
              <a:off x="3936" y="1936"/>
              <a:ext cx="192" cy="432"/>
            </a:xfrm>
            <a:prstGeom prst="roundRect">
              <a:avLst>
                <a:gd name="adj" fmla="val 16667"/>
              </a:avLst>
            </a:prstGeom>
            <a:solidFill>
              <a:srgbClr val="66FFFF"/>
            </a:solidFill>
            <a:ln w="38100">
              <a:solidFill>
                <a:schemeClr val="tx1"/>
              </a:solidFill>
              <a:round/>
              <a:headEnd/>
              <a:tailEnd/>
            </a:ln>
          </p:spPr>
          <p:txBody>
            <a:bodyPr wrap="none" anchor="ctr"/>
            <a:lstStyle/>
            <a:p>
              <a:endParaRPr lang="en-US" dirty="0">
                <a:latin typeface="Courier New" pitchFamily="49" charset="0"/>
              </a:endParaRPr>
            </a:p>
          </p:txBody>
        </p:sp>
        <p:sp>
          <p:nvSpPr>
            <p:cNvPr id="182307" name="AutoShape 14"/>
            <p:cNvSpPr>
              <a:spLocks noChangeArrowheads="1"/>
            </p:cNvSpPr>
            <p:nvPr/>
          </p:nvSpPr>
          <p:spPr bwMode="auto">
            <a:xfrm>
              <a:off x="3936" y="2528"/>
              <a:ext cx="192" cy="432"/>
            </a:xfrm>
            <a:prstGeom prst="roundRect">
              <a:avLst>
                <a:gd name="adj" fmla="val 16667"/>
              </a:avLst>
            </a:prstGeom>
            <a:solidFill>
              <a:srgbClr val="66FFFF"/>
            </a:solidFill>
            <a:ln w="38100">
              <a:solidFill>
                <a:schemeClr val="tx1"/>
              </a:solidFill>
              <a:round/>
              <a:headEnd/>
              <a:tailEnd/>
            </a:ln>
          </p:spPr>
          <p:txBody>
            <a:bodyPr wrap="none" anchor="ctr"/>
            <a:lstStyle/>
            <a:p>
              <a:endParaRPr lang="en-US" dirty="0">
                <a:latin typeface="Courier New" pitchFamily="49" charset="0"/>
              </a:endParaRPr>
            </a:p>
          </p:txBody>
        </p:sp>
        <p:sp>
          <p:nvSpPr>
            <p:cNvPr id="182308" name="AutoShape 15"/>
            <p:cNvSpPr>
              <a:spLocks noChangeArrowheads="1"/>
            </p:cNvSpPr>
            <p:nvPr/>
          </p:nvSpPr>
          <p:spPr bwMode="auto">
            <a:xfrm>
              <a:off x="3936" y="3072"/>
              <a:ext cx="192" cy="432"/>
            </a:xfrm>
            <a:prstGeom prst="roundRect">
              <a:avLst>
                <a:gd name="adj" fmla="val 16667"/>
              </a:avLst>
            </a:prstGeom>
            <a:solidFill>
              <a:srgbClr val="66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2286" name="AutoShape 16"/>
          <p:cNvSpPr>
            <a:spLocks noChangeArrowheads="1"/>
          </p:cNvSpPr>
          <p:nvPr/>
        </p:nvSpPr>
        <p:spPr bwMode="auto">
          <a:xfrm>
            <a:off x="4149725" y="3352800"/>
            <a:ext cx="304800" cy="9144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2287" name="Group 17"/>
          <p:cNvGrpSpPr>
            <a:grpSpLocks/>
          </p:cNvGrpSpPr>
          <p:nvPr/>
        </p:nvGrpSpPr>
        <p:grpSpPr bwMode="auto">
          <a:xfrm>
            <a:off x="5137150" y="2590800"/>
            <a:ext cx="311150" cy="2590800"/>
            <a:chOff x="3648" y="1632"/>
            <a:chExt cx="196" cy="1632"/>
          </a:xfrm>
        </p:grpSpPr>
        <p:sp>
          <p:nvSpPr>
            <p:cNvPr id="182303" name="AutoShape 18"/>
            <p:cNvSpPr>
              <a:spLocks noChangeArrowheads="1"/>
            </p:cNvSpPr>
            <p:nvPr/>
          </p:nvSpPr>
          <p:spPr bwMode="auto">
            <a:xfrm>
              <a:off x="3652" y="2736"/>
              <a:ext cx="192" cy="528"/>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2304" name="AutoShape 19"/>
            <p:cNvSpPr>
              <a:spLocks noChangeArrowheads="1"/>
            </p:cNvSpPr>
            <p:nvPr/>
          </p:nvSpPr>
          <p:spPr bwMode="auto">
            <a:xfrm>
              <a:off x="3648" y="1632"/>
              <a:ext cx="192" cy="48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2288" name="Rectangle 20"/>
          <p:cNvSpPr>
            <a:spLocks noChangeArrowheads="1"/>
          </p:cNvSpPr>
          <p:nvPr/>
        </p:nvSpPr>
        <p:spPr bwMode="auto">
          <a:xfrm>
            <a:off x="2514600" y="2514600"/>
            <a:ext cx="533400" cy="2590800"/>
          </a:xfrm>
          <a:prstGeom prst="rect">
            <a:avLst/>
          </a:prstGeom>
          <a:solidFill>
            <a:schemeClr val="bg1"/>
          </a:solidFill>
          <a:ln w="38100" algn="ctr">
            <a:noFill/>
            <a:miter lim="800000"/>
            <a:headEnd/>
            <a:tailEnd/>
          </a:ln>
        </p:spPr>
        <p:txBody>
          <a:bodyPr wrap="none" anchor="ctr"/>
          <a:lstStyle/>
          <a:p>
            <a:endParaRPr lang="en-US" dirty="0">
              <a:latin typeface="Courier New" pitchFamily="49" charset="0"/>
            </a:endParaRPr>
          </a:p>
        </p:txBody>
      </p:sp>
      <p:sp>
        <p:nvSpPr>
          <p:cNvPr id="182289" name="AutoShape 21"/>
          <p:cNvSpPr>
            <a:spLocks noChangeArrowheads="1"/>
          </p:cNvSpPr>
          <p:nvPr/>
        </p:nvSpPr>
        <p:spPr bwMode="auto">
          <a:xfrm>
            <a:off x="2667000" y="2133600"/>
            <a:ext cx="304800" cy="34290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2290" name="Rectangle 22"/>
          <p:cNvSpPr>
            <a:spLocks noChangeArrowheads="1"/>
          </p:cNvSpPr>
          <p:nvPr/>
        </p:nvSpPr>
        <p:spPr bwMode="auto">
          <a:xfrm>
            <a:off x="4521200" y="25908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2291" name="Rectangle 23"/>
          <p:cNvSpPr>
            <a:spLocks noChangeArrowheads="1"/>
          </p:cNvSpPr>
          <p:nvPr/>
        </p:nvSpPr>
        <p:spPr bwMode="auto">
          <a:xfrm>
            <a:off x="4521200" y="43434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grpSp>
        <p:nvGrpSpPr>
          <p:cNvPr id="182292" name="Group 24"/>
          <p:cNvGrpSpPr>
            <a:grpSpLocks/>
          </p:cNvGrpSpPr>
          <p:nvPr/>
        </p:nvGrpSpPr>
        <p:grpSpPr bwMode="auto">
          <a:xfrm>
            <a:off x="4643438" y="2133600"/>
            <a:ext cx="304800" cy="3429000"/>
            <a:chOff x="3369" y="1344"/>
            <a:chExt cx="192" cy="2160"/>
          </a:xfrm>
        </p:grpSpPr>
        <p:sp>
          <p:nvSpPr>
            <p:cNvPr id="182301" name="AutoShape 25"/>
            <p:cNvSpPr>
              <a:spLocks noChangeArrowheads="1"/>
            </p:cNvSpPr>
            <p:nvPr/>
          </p:nvSpPr>
          <p:spPr bwMode="auto">
            <a:xfrm>
              <a:off x="3369" y="1344"/>
              <a:ext cx="192" cy="1008"/>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2302" name="AutoShape 26"/>
            <p:cNvSpPr>
              <a:spLocks noChangeArrowheads="1"/>
            </p:cNvSpPr>
            <p:nvPr/>
          </p:nvSpPr>
          <p:spPr bwMode="auto">
            <a:xfrm>
              <a:off x="3369" y="2496"/>
              <a:ext cx="192" cy="1008"/>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2293" name="Rectangle 27"/>
          <p:cNvSpPr>
            <a:spLocks noChangeArrowheads="1"/>
          </p:cNvSpPr>
          <p:nvPr/>
        </p:nvSpPr>
        <p:spPr bwMode="auto">
          <a:xfrm>
            <a:off x="3581400" y="3429000"/>
            <a:ext cx="4572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2294" name="AutoShape 28"/>
          <p:cNvSpPr>
            <a:spLocks noChangeArrowheads="1"/>
          </p:cNvSpPr>
          <p:nvPr/>
        </p:nvSpPr>
        <p:spPr bwMode="auto">
          <a:xfrm>
            <a:off x="3654425" y="2895600"/>
            <a:ext cx="304800" cy="18288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2295" name="Rectangle 29"/>
          <p:cNvSpPr>
            <a:spLocks noChangeArrowheads="1"/>
          </p:cNvSpPr>
          <p:nvPr/>
        </p:nvSpPr>
        <p:spPr bwMode="auto">
          <a:xfrm>
            <a:off x="3124200" y="3048000"/>
            <a:ext cx="381000" cy="16764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2296" name="AutoShape 30"/>
          <p:cNvSpPr>
            <a:spLocks noChangeArrowheads="1"/>
          </p:cNvSpPr>
          <p:nvPr/>
        </p:nvSpPr>
        <p:spPr bwMode="auto">
          <a:xfrm>
            <a:off x="3160713" y="2514600"/>
            <a:ext cx="304800" cy="2667000"/>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82297" name="Freeform 31"/>
          <p:cNvSpPr>
            <a:spLocks/>
          </p:cNvSpPr>
          <p:nvPr/>
        </p:nvSpPr>
        <p:spPr bwMode="auto">
          <a:xfrm>
            <a:off x="5638800" y="1981200"/>
            <a:ext cx="533400" cy="1066800"/>
          </a:xfrm>
          <a:custGeom>
            <a:avLst/>
            <a:gdLst>
              <a:gd name="T0" fmla="*/ 0 w 1536"/>
              <a:gd name="T1" fmla="*/ 0 h 2592"/>
              <a:gd name="T2" fmla="*/ 2147483647 w 1536"/>
              <a:gd name="T3" fmla="*/ 2147483647 h 2592"/>
              <a:gd name="T4" fmla="*/ 2147483647 w 1536"/>
              <a:gd name="T5" fmla="*/ 2147483647 h 2592"/>
              <a:gd name="T6" fmla="*/ 2147483647 w 1536"/>
              <a:gd name="T7" fmla="*/ 2147483647 h 2592"/>
              <a:gd name="T8" fmla="*/ 0 60000 65536"/>
              <a:gd name="T9" fmla="*/ 0 60000 65536"/>
              <a:gd name="T10" fmla="*/ 0 60000 65536"/>
              <a:gd name="T11" fmla="*/ 0 60000 65536"/>
              <a:gd name="T12" fmla="*/ 0 w 1536"/>
              <a:gd name="T13" fmla="*/ 0 h 2592"/>
              <a:gd name="T14" fmla="*/ 1536 w 1536"/>
              <a:gd name="T15" fmla="*/ 2592 h 2592"/>
            </a:gdLst>
            <a:ahLst/>
            <a:cxnLst>
              <a:cxn ang="T8">
                <a:pos x="T0" y="T1"/>
              </a:cxn>
              <a:cxn ang="T9">
                <a:pos x="T2" y="T3"/>
              </a:cxn>
              <a:cxn ang="T10">
                <a:pos x="T4" y="T5"/>
              </a:cxn>
              <a:cxn ang="T11">
                <a:pos x="T6" y="T7"/>
              </a:cxn>
            </a:cxnLst>
            <a:rect l="T12" t="T13" r="T14" b="T15"/>
            <a:pathLst>
              <a:path w="1536" h="2592">
                <a:moveTo>
                  <a:pt x="0" y="0"/>
                </a:moveTo>
                <a:lnTo>
                  <a:pt x="1536" y="1248"/>
                </a:lnTo>
                <a:lnTo>
                  <a:pt x="48" y="2592"/>
                </a:lnTo>
                <a:lnTo>
                  <a:pt x="48" y="48"/>
                </a:lnTo>
              </a:path>
            </a:pathLst>
          </a:custGeom>
          <a:noFill/>
          <a:ln w="38100">
            <a:solidFill>
              <a:srgbClr val="FF0000"/>
            </a:solidFill>
            <a:prstDash val="dash"/>
            <a:round/>
            <a:headEnd/>
            <a:tailEnd/>
          </a:ln>
        </p:spPr>
        <p:txBody>
          <a:bodyPr wrap="none" anchor="ctr"/>
          <a:lstStyle/>
          <a:p>
            <a:endParaRPr lang="en-US" dirty="0">
              <a:latin typeface="Courier New" pitchFamily="49" charset="0"/>
            </a:endParaRPr>
          </a:p>
        </p:txBody>
      </p:sp>
      <p:sp>
        <p:nvSpPr>
          <p:cNvPr id="182298" name="Freeform 32"/>
          <p:cNvSpPr>
            <a:spLocks/>
          </p:cNvSpPr>
          <p:nvPr/>
        </p:nvSpPr>
        <p:spPr bwMode="auto">
          <a:xfrm>
            <a:off x="5638800" y="2895600"/>
            <a:ext cx="533400" cy="1066800"/>
          </a:xfrm>
          <a:custGeom>
            <a:avLst/>
            <a:gdLst>
              <a:gd name="T0" fmla="*/ 0 w 1536"/>
              <a:gd name="T1" fmla="*/ 0 h 2592"/>
              <a:gd name="T2" fmla="*/ 2147483647 w 1536"/>
              <a:gd name="T3" fmla="*/ 2147483647 h 2592"/>
              <a:gd name="T4" fmla="*/ 2147483647 w 1536"/>
              <a:gd name="T5" fmla="*/ 2147483647 h 2592"/>
              <a:gd name="T6" fmla="*/ 2147483647 w 1536"/>
              <a:gd name="T7" fmla="*/ 2147483647 h 2592"/>
              <a:gd name="T8" fmla="*/ 0 60000 65536"/>
              <a:gd name="T9" fmla="*/ 0 60000 65536"/>
              <a:gd name="T10" fmla="*/ 0 60000 65536"/>
              <a:gd name="T11" fmla="*/ 0 60000 65536"/>
              <a:gd name="T12" fmla="*/ 0 w 1536"/>
              <a:gd name="T13" fmla="*/ 0 h 2592"/>
              <a:gd name="T14" fmla="*/ 1536 w 1536"/>
              <a:gd name="T15" fmla="*/ 2592 h 2592"/>
            </a:gdLst>
            <a:ahLst/>
            <a:cxnLst>
              <a:cxn ang="T8">
                <a:pos x="T0" y="T1"/>
              </a:cxn>
              <a:cxn ang="T9">
                <a:pos x="T2" y="T3"/>
              </a:cxn>
              <a:cxn ang="T10">
                <a:pos x="T4" y="T5"/>
              </a:cxn>
              <a:cxn ang="T11">
                <a:pos x="T6" y="T7"/>
              </a:cxn>
            </a:cxnLst>
            <a:rect l="T12" t="T13" r="T14" b="T15"/>
            <a:pathLst>
              <a:path w="1536" h="2592">
                <a:moveTo>
                  <a:pt x="0" y="0"/>
                </a:moveTo>
                <a:lnTo>
                  <a:pt x="1536" y="1248"/>
                </a:lnTo>
                <a:lnTo>
                  <a:pt x="48" y="2592"/>
                </a:lnTo>
                <a:lnTo>
                  <a:pt x="48" y="48"/>
                </a:lnTo>
              </a:path>
            </a:pathLst>
          </a:custGeom>
          <a:noFill/>
          <a:ln w="38100">
            <a:solidFill>
              <a:srgbClr val="FF0000"/>
            </a:solidFill>
            <a:prstDash val="dash"/>
            <a:round/>
            <a:headEnd/>
            <a:tailEnd/>
          </a:ln>
        </p:spPr>
        <p:txBody>
          <a:bodyPr wrap="none" anchor="ctr"/>
          <a:lstStyle/>
          <a:p>
            <a:endParaRPr lang="en-US" dirty="0">
              <a:latin typeface="Courier New" pitchFamily="49" charset="0"/>
            </a:endParaRPr>
          </a:p>
        </p:txBody>
      </p:sp>
      <p:sp>
        <p:nvSpPr>
          <p:cNvPr id="182299" name="Freeform 33"/>
          <p:cNvSpPr>
            <a:spLocks/>
          </p:cNvSpPr>
          <p:nvPr/>
        </p:nvSpPr>
        <p:spPr bwMode="auto">
          <a:xfrm>
            <a:off x="5638800" y="3810000"/>
            <a:ext cx="533400" cy="1066800"/>
          </a:xfrm>
          <a:custGeom>
            <a:avLst/>
            <a:gdLst>
              <a:gd name="T0" fmla="*/ 0 w 1536"/>
              <a:gd name="T1" fmla="*/ 0 h 2592"/>
              <a:gd name="T2" fmla="*/ 2147483647 w 1536"/>
              <a:gd name="T3" fmla="*/ 2147483647 h 2592"/>
              <a:gd name="T4" fmla="*/ 2147483647 w 1536"/>
              <a:gd name="T5" fmla="*/ 2147483647 h 2592"/>
              <a:gd name="T6" fmla="*/ 2147483647 w 1536"/>
              <a:gd name="T7" fmla="*/ 2147483647 h 2592"/>
              <a:gd name="T8" fmla="*/ 0 60000 65536"/>
              <a:gd name="T9" fmla="*/ 0 60000 65536"/>
              <a:gd name="T10" fmla="*/ 0 60000 65536"/>
              <a:gd name="T11" fmla="*/ 0 60000 65536"/>
              <a:gd name="T12" fmla="*/ 0 w 1536"/>
              <a:gd name="T13" fmla="*/ 0 h 2592"/>
              <a:gd name="T14" fmla="*/ 1536 w 1536"/>
              <a:gd name="T15" fmla="*/ 2592 h 2592"/>
            </a:gdLst>
            <a:ahLst/>
            <a:cxnLst>
              <a:cxn ang="T8">
                <a:pos x="T0" y="T1"/>
              </a:cxn>
              <a:cxn ang="T9">
                <a:pos x="T2" y="T3"/>
              </a:cxn>
              <a:cxn ang="T10">
                <a:pos x="T4" y="T5"/>
              </a:cxn>
              <a:cxn ang="T11">
                <a:pos x="T6" y="T7"/>
              </a:cxn>
            </a:cxnLst>
            <a:rect l="T12" t="T13" r="T14" b="T15"/>
            <a:pathLst>
              <a:path w="1536" h="2592">
                <a:moveTo>
                  <a:pt x="0" y="0"/>
                </a:moveTo>
                <a:lnTo>
                  <a:pt x="1536" y="1248"/>
                </a:lnTo>
                <a:lnTo>
                  <a:pt x="48" y="2592"/>
                </a:lnTo>
                <a:lnTo>
                  <a:pt x="48" y="48"/>
                </a:lnTo>
              </a:path>
            </a:pathLst>
          </a:custGeom>
          <a:noFill/>
          <a:ln w="38100">
            <a:solidFill>
              <a:srgbClr val="FF0000"/>
            </a:solidFill>
            <a:prstDash val="dash"/>
            <a:round/>
            <a:headEnd/>
            <a:tailEnd/>
          </a:ln>
        </p:spPr>
        <p:txBody>
          <a:bodyPr wrap="none" anchor="ctr"/>
          <a:lstStyle/>
          <a:p>
            <a:endParaRPr lang="en-US" dirty="0">
              <a:latin typeface="Courier New" pitchFamily="49" charset="0"/>
            </a:endParaRPr>
          </a:p>
        </p:txBody>
      </p:sp>
      <p:sp>
        <p:nvSpPr>
          <p:cNvPr id="182300" name="Freeform 34"/>
          <p:cNvSpPr>
            <a:spLocks/>
          </p:cNvSpPr>
          <p:nvPr/>
        </p:nvSpPr>
        <p:spPr bwMode="auto">
          <a:xfrm>
            <a:off x="5638800" y="4724400"/>
            <a:ext cx="533400" cy="1066800"/>
          </a:xfrm>
          <a:custGeom>
            <a:avLst/>
            <a:gdLst>
              <a:gd name="T0" fmla="*/ 0 w 1536"/>
              <a:gd name="T1" fmla="*/ 0 h 2592"/>
              <a:gd name="T2" fmla="*/ 2147483647 w 1536"/>
              <a:gd name="T3" fmla="*/ 2147483647 h 2592"/>
              <a:gd name="T4" fmla="*/ 2147483647 w 1536"/>
              <a:gd name="T5" fmla="*/ 2147483647 h 2592"/>
              <a:gd name="T6" fmla="*/ 2147483647 w 1536"/>
              <a:gd name="T7" fmla="*/ 2147483647 h 2592"/>
              <a:gd name="T8" fmla="*/ 0 60000 65536"/>
              <a:gd name="T9" fmla="*/ 0 60000 65536"/>
              <a:gd name="T10" fmla="*/ 0 60000 65536"/>
              <a:gd name="T11" fmla="*/ 0 60000 65536"/>
              <a:gd name="T12" fmla="*/ 0 w 1536"/>
              <a:gd name="T13" fmla="*/ 0 h 2592"/>
              <a:gd name="T14" fmla="*/ 1536 w 1536"/>
              <a:gd name="T15" fmla="*/ 2592 h 2592"/>
            </a:gdLst>
            <a:ahLst/>
            <a:cxnLst>
              <a:cxn ang="T8">
                <a:pos x="T0" y="T1"/>
              </a:cxn>
              <a:cxn ang="T9">
                <a:pos x="T2" y="T3"/>
              </a:cxn>
              <a:cxn ang="T10">
                <a:pos x="T4" y="T5"/>
              </a:cxn>
              <a:cxn ang="T11">
                <a:pos x="T6" y="T7"/>
              </a:cxn>
            </a:cxnLst>
            <a:rect l="T12" t="T13" r="T14" b="T15"/>
            <a:pathLst>
              <a:path w="1536" h="2592">
                <a:moveTo>
                  <a:pt x="0" y="0"/>
                </a:moveTo>
                <a:lnTo>
                  <a:pt x="1536" y="1248"/>
                </a:lnTo>
                <a:lnTo>
                  <a:pt x="48" y="2592"/>
                </a:lnTo>
                <a:lnTo>
                  <a:pt x="48" y="48"/>
                </a:lnTo>
              </a:path>
            </a:pathLst>
          </a:custGeom>
          <a:noFill/>
          <a:ln w="38100">
            <a:solidFill>
              <a:srgbClr val="FF0000"/>
            </a:solidFill>
            <a:prstDash val="dash"/>
            <a:round/>
            <a:headEnd/>
            <a:tailEnd/>
          </a:ln>
        </p:spPr>
        <p:txBody>
          <a:bodyPr wrap="none" anchor="ctr"/>
          <a:lstStyle/>
          <a:p>
            <a:endParaRPr lang="en-US" dirty="0">
              <a:latin typeface="Courier New" pitchFamily="49" charset="0"/>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2"/>
          <p:cNvSpPr>
            <a:spLocks noGrp="1"/>
          </p:cNvSpPr>
          <p:nvPr>
            <p:ph type="ftr" sz="quarter" idx="10"/>
          </p:nvPr>
        </p:nvSpPr>
        <p:spPr/>
        <p:txBody>
          <a:bodyPr/>
          <a:lstStyle/>
          <a:p>
            <a:pPr>
              <a:defRPr/>
            </a:pPr>
            <a:r>
              <a:rPr lang="en-US"/>
              <a:t>Art of Multiprocessor Programming</a:t>
            </a:r>
          </a:p>
        </p:txBody>
      </p:sp>
      <p:sp>
        <p:nvSpPr>
          <p:cNvPr id="19" name="Slide Number Placeholder 3"/>
          <p:cNvSpPr>
            <a:spLocks noGrp="1"/>
          </p:cNvSpPr>
          <p:nvPr>
            <p:ph type="sldNum" sz="quarter" idx="11"/>
          </p:nvPr>
        </p:nvSpPr>
        <p:spPr/>
        <p:txBody>
          <a:bodyPr/>
          <a:lstStyle/>
          <a:p>
            <a:pPr>
              <a:defRPr/>
            </a:pPr>
            <a:fld id="{E6F98E27-7E47-42CA-AF3E-2C724502B4ED}" type="slidenum">
              <a:rPr lang="en-US"/>
              <a:pPr>
                <a:defRPr/>
              </a:pPr>
              <a:t>185</a:t>
            </a:fld>
            <a:endParaRPr lang="en-US"/>
          </a:p>
        </p:txBody>
      </p:sp>
      <p:sp>
        <p:nvSpPr>
          <p:cNvPr id="183300" name="Rectangle 2"/>
          <p:cNvSpPr>
            <a:spLocks noGrp="1" noChangeArrowheads="1"/>
          </p:cNvSpPr>
          <p:nvPr>
            <p:ph type="title"/>
          </p:nvPr>
        </p:nvSpPr>
        <p:spPr/>
        <p:txBody>
          <a:bodyPr/>
          <a:lstStyle/>
          <a:p>
            <a:r>
              <a:rPr lang="en-US"/>
              <a:t>Block[2k] Schematic</a:t>
            </a:r>
          </a:p>
        </p:txBody>
      </p:sp>
      <p:sp>
        <p:nvSpPr>
          <p:cNvPr id="183301" name="Rectangle 3"/>
          <p:cNvSpPr>
            <a:spLocks noChangeArrowheads="1"/>
          </p:cNvSpPr>
          <p:nvPr/>
        </p:nvSpPr>
        <p:spPr bwMode="auto">
          <a:xfrm>
            <a:off x="2514600" y="2438400"/>
            <a:ext cx="2743200" cy="1447800"/>
          </a:xfrm>
          <a:prstGeom prst="rect">
            <a:avLst/>
          </a:prstGeom>
          <a:solidFill>
            <a:schemeClr val="accent1"/>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Block[k]</a:t>
            </a:r>
          </a:p>
        </p:txBody>
      </p:sp>
      <p:sp>
        <p:nvSpPr>
          <p:cNvPr id="183302" name="Rectangle 4"/>
          <p:cNvSpPr>
            <a:spLocks noChangeArrowheads="1"/>
          </p:cNvSpPr>
          <p:nvPr/>
        </p:nvSpPr>
        <p:spPr bwMode="auto">
          <a:xfrm>
            <a:off x="2514600" y="4191000"/>
            <a:ext cx="2743200" cy="1447800"/>
          </a:xfrm>
          <a:prstGeom prst="rect">
            <a:avLst/>
          </a:prstGeom>
          <a:solidFill>
            <a:srgbClr val="FF9900"/>
          </a:solidFill>
          <a:ln w="38100" algn="ctr">
            <a:solidFill>
              <a:schemeClr val="tx1"/>
            </a:solidFill>
            <a:miter lim="800000"/>
            <a:headEnd/>
            <a:tailEnd/>
          </a:ln>
        </p:spPr>
        <p:txBody>
          <a:bodyPr wrap="none" anchor="ctr"/>
          <a:lstStyle/>
          <a:p>
            <a:pPr algn="ctr">
              <a:spcBef>
                <a:spcPct val="0"/>
              </a:spcBef>
            </a:pPr>
            <a:r>
              <a:rPr lang="en-US" sz="4000" b="0">
                <a:latin typeface="Arial" pitchFamily="34" charset="0"/>
                <a:cs typeface="Arial" pitchFamily="34" charset="0"/>
              </a:rPr>
              <a:t>Block[k]</a:t>
            </a:r>
          </a:p>
        </p:txBody>
      </p:sp>
      <p:sp>
        <p:nvSpPr>
          <p:cNvPr id="183303" name="AutoShape 5"/>
          <p:cNvSpPr>
            <a:spLocks noChangeArrowheads="1"/>
          </p:cNvSpPr>
          <p:nvPr/>
        </p:nvSpPr>
        <p:spPr bwMode="auto">
          <a:xfrm>
            <a:off x="5791200" y="2438400"/>
            <a:ext cx="304800" cy="6096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04" name="AutoShape 6"/>
          <p:cNvSpPr>
            <a:spLocks noChangeArrowheads="1"/>
          </p:cNvSpPr>
          <p:nvPr/>
        </p:nvSpPr>
        <p:spPr bwMode="auto">
          <a:xfrm>
            <a:off x="5791200" y="3200400"/>
            <a:ext cx="304800" cy="6096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05" name="AutoShape 7"/>
          <p:cNvSpPr>
            <a:spLocks noChangeArrowheads="1"/>
          </p:cNvSpPr>
          <p:nvPr/>
        </p:nvSpPr>
        <p:spPr bwMode="auto">
          <a:xfrm>
            <a:off x="5791200" y="4191000"/>
            <a:ext cx="304800" cy="6096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06" name="AutoShape 8"/>
          <p:cNvSpPr>
            <a:spLocks noChangeArrowheads="1"/>
          </p:cNvSpPr>
          <p:nvPr/>
        </p:nvSpPr>
        <p:spPr bwMode="auto">
          <a:xfrm>
            <a:off x="5791200" y="4953000"/>
            <a:ext cx="304800" cy="6096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307" name="Freeform 9"/>
          <p:cNvSpPr>
            <a:spLocks/>
          </p:cNvSpPr>
          <p:nvPr/>
        </p:nvSpPr>
        <p:spPr bwMode="auto">
          <a:xfrm>
            <a:off x="5257800" y="2590800"/>
            <a:ext cx="482600" cy="1588"/>
          </a:xfrm>
          <a:custGeom>
            <a:avLst/>
            <a:gdLst>
              <a:gd name="T0" fmla="*/ 0 w 304"/>
              <a:gd name="T1" fmla="*/ 0 h 1"/>
              <a:gd name="T2" fmla="*/ 2147483647 w 304"/>
              <a:gd name="T3" fmla="*/ 0 h 1"/>
              <a:gd name="T4" fmla="*/ 0 60000 65536"/>
              <a:gd name="T5" fmla="*/ 0 60000 65536"/>
              <a:gd name="T6" fmla="*/ 0 w 304"/>
              <a:gd name="T7" fmla="*/ 0 h 1"/>
              <a:gd name="T8" fmla="*/ 304 w 304"/>
              <a:gd name="T9" fmla="*/ 1 h 1"/>
            </a:gdLst>
            <a:ahLst/>
            <a:cxnLst>
              <a:cxn ang="T4">
                <a:pos x="T0" y="T1"/>
              </a:cxn>
              <a:cxn ang="T5">
                <a:pos x="T2" y="T3"/>
              </a:cxn>
            </a:cxnLst>
            <a:rect l="T6" t="T7" r="T8" b="T9"/>
            <a:pathLst>
              <a:path w="304" h="1">
                <a:moveTo>
                  <a:pt x="0" y="0"/>
                </a:moveTo>
                <a:lnTo>
                  <a:pt x="304" y="0"/>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08" name="Freeform 10"/>
          <p:cNvSpPr>
            <a:spLocks/>
          </p:cNvSpPr>
          <p:nvPr/>
        </p:nvSpPr>
        <p:spPr bwMode="auto">
          <a:xfrm>
            <a:off x="5257800" y="2971800"/>
            <a:ext cx="457200" cy="457200"/>
          </a:xfrm>
          <a:custGeom>
            <a:avLst/>
            <a:gdLst>
              <a:gd name="T0" fmla="*/ 0 w 280"/>
              <a:gd name="T1" fmla="*/ 0 h 272"/>
              <a:gd name="T2" fmla="*/ 2147483647 w 280"/>
              <a:gd name="T3" fmla="*/ 2147483647 h 272"/>
              <a:gd name="T4" fmla="*/ 2147483647 w 280"/>
              <a:gd name="T5" fmla="*/ 2147483647 h 272"/>
              <a:gd name="T6" fmla="*/ 0 60000 65536"/>
              <a:gd name="T7" fmla="*/ 0 60000 65536"/>
              <a:gd name="T8" fmla="*/ 0 60000 65536"/>
              <a:gd name="T9" fmla="*/ 0 w 280"/>
              <a:gd name="T10" fmla="*/ 0 h 272"/>
              <a:gd name="T11" fmla="*/ 280 w 280"/>
              <a:gd name="T12" fmla="*/ 272 h 272"/>
            </a:gdLst>
            <a:ahLst/>
            <a:cxnLst>
              <a:cxn ang="T6">
                <a:pos x="T0" y="T1"/>
              </a:cxn>
              <a:cxn ang="T7">
                <a:pos x="T2" y="T3"/>
              </a:cxn>
              <a:cxn ang="T8">
                <a:pos x="T4" y="T5"/>
              </a:cxn>
            </a:cxnLst>
            <a:rect l="T9" t="T10" r="T11" b="T12"/>
            <a:pathLst>
              <a:path w="280" h="272">
                <a:moveTo>
                  <a:pt x="0" y="0"/>
                </a:moveTo>
                <a:lnTo>
                  <a:pt x="280" y="272"/>
                </a:lnTo>
                <a:lnTo>
                  <a:pt x="264" y="256"/>
                </a:lnTo>
              </a:path>
            </a:pathLst>
          </a:cu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09" name="Line 11"/>
          <p:cNvSpPr>
            <a:spLocks noChangeShapeType="1"/>
          </p:cNvSpPr>
          <p:nvPr/>
        </p:nvSpPr>
        <p:spPr bwMode="auto">
          <a:xfrm flipV="1">
            <a:off x="5257800" y="2895600"/>
            <a:ext cx="457200" cy="15240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10" name="Line 12"/>
          <p:cNvSpPr>
            <a:spLocks noChangeShapeType="1"/>
          </p:cNvSpPr>
          <p:nvPr/>
        </p:nvSpPr>
        <p:spPr bwMode="auto">
          <a:xfrm flipV="1">
            <a:off x="5257800" y="3657600"/>
            <a:ext cx="457200" cy="1066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11" name="Line 13"/>
          <p:cNvSpPr>
            <a:spLocks noChangeShapeType="1"/>
          </p:cNvSpPr>
          <p:nvPr/>
        </p:nvSpPr>
        <p:spPr bwMode="auto">
          <a:xfrm flipV="1">
            <a:off x="5257800" y="4648200"/>
            <a:ext cx="457200" cy="4572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12" name="Line 14"/>
          <p:cNvSpPr>
            <a:spLocks noChangeShapeType="1"/>
          </p:cNvSpPr>
          <p:nvPr/>
        </p:nvSpPr>
        <p:spPr bwMode="auto">
          <a:xfrm>
            <a:off x="5257800" y="5410200"/>
            <a:ext cx="457200"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13" name="Line 15"/>
          <p:cNvSpPr>
            <a:spLocks noChangeShapeType="1"/>
          </p:cNvSpPr>
          <p:nvPr/>
        </p:nvSpPr>
        <p:spPr bwMode="auto">
          <a:xfrm>
            <a:off x="5257800" y="3352800"/>
            <a:ext cx="457200" cy="9906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14" name="Line 16"/>
          <p:cNvSpPr>
            <a:spLocks noChangeShapeType="1"/>
          </p:cNvSpPr>
          <p:nvPr/>
        </p:nvSpPr>
        <p:spPr bwMode="auto">
          <a:xfrm>
            <a:off x="5257800" y="3733800"/>
            <a:ext cx="457200" cy="144780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83315" name="Rectangle 17"/>
          <p:cNvSpPr>
            <a:spLocks noChangeArrowheads="1"/>
          </p:cNvSpPr>
          <p:nvPr/>
        </p:nvSpPr>
        <p:spPr bwMode="auto">
          <a:xfrm>
            <a:off x="2286000" y="2133600"/>
            <a:ext cx="4038600" cy="3733800"/>
          </a:xfrm>
          <a:prstGeom prst="rect">
            <a:avLst/>
          </a:prstGeom>
          <a:noFill/>
          <a:ln w="38100" algn="ctr">
            <a:solidFill>
              <a:schemeClr val="tx1"/>
            </a:solidFill>
            <a:prstDash val="dash"/>
            <a:miter lim="800000"/>
            <a:headEnd/>
            <a:tailEnd/>
          </a:ln>
        </p:spPr>
        <p:txBody>
          <a:bodyPr wrap="none" anchor="ctr"/>
          <a:lstStyle/>
          <a:p>
            <a:endParaRPr lang="en-US">
              <a:latin typeface="Arial" pitchFamily="34" charset="0"/>
              <a:cs typeface="Arial" pitchFamily="34" charset="0"/>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3"/>
          <p:cNvSpPr>
            <a:spLocks noGrp="1"/>
          </p:cNvSpPr>
          <p:nvPr>
            <p:ph type="ftr" sz="quarter" idx="10"/>
          </p:nvPr>
        </p:nvSpPr>
        <p:spPr/>
        <p:txBody>
          <a:bodyPr/>
          <a:lstStyle/>
          <a:p>
            <a:pPr>
              <a:defRPr/>
            </a:pPr>
            <a:r>
              <a:rPr lang="en-US"/>
              <a:t>Art of Multiprocessor Programming</a:t>
            </a:r>
          </a:p>
        </p:txBody>
      </p:sp>
      <p:sp>
        <p:nvSpPr>
          <p:cNvPr id="32" name="Slide Number Placeholder 4"/>
          <p:cNvSpPr>
            <a:spLocks noGrp="1"/>
          </p:cNvSpPr>
          <p:nvPr>
            <p:ph type="sldNum" sz="quarter" idx="11"/>
          </p:nvPr>
        </p:nvSpPr>
        <p:spPr/>
        <p:txBody>
          <a:bodyPr/>
          <a:lstStyle/>
          <a:p>
            <a:pPr>
              <a:defRPr/>
            </a:pPr>
            <a:fld id="{7F93D390-7EE9-43C0-9826-7295ABFC5982}" type="slidenum">
              <a:rPr lang="en-US"/>
              <a:pPr>
                <a:defRPr/>
              </a:pPr>
              <a:t>186</a:t>
            </a:fld>
            <a:endParaRPr lang="en-US"/>
          </a:p>
        </p:txBody>
      </p:sp>
      <p:sp>
        <p:nvSpPr>
          <p:cNvPr id="184324" name="Rectangle 2"/>
          <p:cNvSpPr>
            <a:spLocks noGrp="1" noChangeArrowheads="1"/>
          </p:cNvSpPr>
          <p:nvPr>
            <p:ph type="title"/>
          </p:nvPr>
        </p:nvSpPr>
        <p:spPr/>
        <p:txBody>
          <a:bodyPr/>
          <a:lstStyle/>
          <a:p>
            <a:r>
              <a:rPr lang="en-US"/>
              <a:t>Block[2k] Layout</a:t>
            </a:r>
          </a:p>
        </p:txBody>
      </p:sp>
      <p:sp>
        <p:nvSpPr>
          <p:cNvPr id="184325" name="Line 3"/>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4326" name="Line 4"/>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4327" name="Line 5"/>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4328" name="Line 6"/>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4329" name="Line 7"/>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4330" name="Line 8"/>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4331" name="Line 9"/>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4332" name="Line 10"/>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84333" name="Group 11"/>
          <p:cNvGrpSpPr>
            <a:grpSpLocks/>
          </p:cNvGrpSpPr>
          <p:nvPr/>
        </p:nvGrpSpPr>
        <p:grpSpPr bwMode="auto">
          <a:xfrm>
            <a:off x="5638800" y="2133600"/>
            <a:ext cx="304800" cy="3429000"/>
            <a:chOff x="3936" y="1344"/>
            <a:chExt cx="192" cy="2160"/>
          </a:xfrm>
        </p:grpSpPr>
        <p:sp>
          <p:nvSpPr>
            <p:cNvPr id="184349" name="AutoShape 12"/>
            <p:cNvSpPr>
              <a:spLocks noChangeArrowheads="1"/>
            </p:cNvSpPr>
            <p:nvPr/>
          </p:nvSpPr>
          <p:spPr bwMode="auto">
            <a:xfrm>
              <a:off x="3936"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4350" name="AutoShape 13"/>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4351" name="AutoShape 14"/>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4352" name="AutoShape 15"/>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4334" name="AutoShape 16"/>
          <p:cNvSpPr>
            <a:spLocks noChangeArrowheads="1"/>
          </p:cNvSpPr>
          <p:nvPr/>
        </p:nvSpPr>
        <p:spPr bwMode="auto">
          <a:xfrm>
            <a:off x="4149725" y="3352800"/>
            <a:ext cx="304800" cy="9144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4335" name="Group 17"/>
          <p:cNvGrpSpPr>
            <a:grpSpLocks/>
          </p:cNvGrpSpPr>
          <p:nvPr/>
        </p:nvGrpSpPr>
        <p:grpSpPr bwMode="auto">
          <a:xfrm>
            <a:off x="5137150" y="2590800"/>
            <a:ext cx="311150" cy="2590800"/>
            <a:chOff x="3648" y="1632"/>
            <a:chExt cx="196" cy="1632"/>
          </a:xfrm>
        </p:grpSpPr>
        <p:sp>
          <p:nvSpPr>
            <p:cNvPr id="184347" name="AutoShape 18"/>
            <p:cNvSpPr>
              <a:spLocks noChangeArrowheads="1"/>
            </p:cNvSpPr>
            <p:nvPr/>
          </p:nvSpPr>
          <p:spPr bwMode="auto">
            <a:xfrm>
              <a:off x="3652" y="2736"/>
              <a:ext cx="192" cy="528"/>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4348" name="AutoShape 19"/>
            <p:cNvSpPr>
              <a:spLocks noChangeArrowheads="1"/>
            </p:cNvSpPr>
            <p:nvPr/>
          </p:nvSpPr>
          <p:spPr bwMode="auto">
            <a:xfrm>
              <a:off x="3648" y="1632"/>
              <a:ext cx="192" cy="48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4336" name="Rectangle 20"/>
          <p:cNvSpPr>
            <a:spLocks noChangeArrowheads="1"/>
          </p:cNvSpPr>
          <p:nvPr/>
        </p:nvSpPr>
        <p:spPr bwMode="auto">
          <a:xfrm>
            <a:off x="2514600" y="2514600"/>
            <a:ext cx="533400" cy="2590800"/>
          </a:xfrm>
          <a:prstGeom prst="rect">
            <a:avLst/>
          </a:prstGeom>
          <a:solidFill>
            <a:schemeClr val="bg1"/>
          </a:solidFill>
          <a:ln w="38100" algn="ctr">
            <a:noFill/>
            <a:miter lim="800000"/>
            <a:headEnd/>
            <a:tailEnd/>
          </a:ln>
        </p:spPr>
        <p:txBody>
          <a:bodyPr wrap="none" anchor="ctr"/>
          <a:lstStyle/>
          <a:p>
            <a:endParaRPr lang="en-US" dirty="0">
              <a:latin typeface="Courier New" pitchFamily="49" charset="0"/>
            </a:endParaRPr>
          </a:p>
        </p:txBody>
      </p:sp>
      <p:sp>
        <p:nvSpPr>
          <p:cNvPr id="184337" name="Rectangle 21"/>
          <p:cNvSpPr>
            <a:spLocks noChangeArrowheads="1"/>
          </p:cNvSpPr>
          <p:nvPr/>
        </p:nvSpPr>
        <p:spPr bwMode="auto">
          <a:xfrm>
            <a:off x="4521200" y="25908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4338" name="Rectangle 22"/>
          <p:cNvSpPr>
            <a:spLocks noChangeArrowheads="1"/>
          </p:cNvSpPr>
          <p:nvPr/>
        </p:nvSpPr>
        <p:spPr bwMode="auto">
          <a:xfrm>
            <a:off x="4521200" y="4343400"/>
            <a:ext cx="5080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4339" name="Rectangle 23"/>
          <p:cNvSpPr>
            <a:spLocks noChangeArrowheads="1"/>
          </p:cNvSpPr>
          <p:nvPr/>
        </p:nvSpPr>
        <p:spPr bwMode="auto">
          <a:xfrm>
            <a:off x="3581400" y="3429000"/>
            <a:ext cx="457200" cy="7620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4340" name="Rectangle 24"/>
          <p:cNvSpPr>
            <a:spLocks noChangeArrowheads="1"/>
          </p:cNvSpPr>
          <p:nvPr/>
        </p:nvSpPr>
        <p:spPr bwMode="auto">
          <a:xfrm>
            <a:off x="3124200" y="3048000"/>
            <a:ext cx="381000" cy="1676400"/>
          </a:xfrm>
          <a:prstGeom prst="rect">
            <a:avLst/>
          </a:prstGeom>
          <a:solidFill>
            <a:schemeClr val="bg1"/>
          </a:solidFill>
          <a:ln w="38100" algn="ctr">
            <a:solidFill>
              <a:schemeClr val="bg1"/>
            </a:solidFill>
            <a:miter lim="800000"/>
            <a:headEnd/>
            <a:tailEnd/>
          </a:ln>
        </p:spPr>
        <p:txBody>
          <a:bodyPr wrap="none" anchor="ctr"/>
          <a:lstStyle/>
          <a:p>
            <a:endParaRPr lang="en-US" dirty="0">
              <a:latin typeface="Courier New" pitchFamily="49" charset="0"/>
            </a:endParaRPr>
          </a:p>
        </p:txBody>
      </p:sp>
      <p:sp>
        <p:nvSpPr>
          <p:cNvPr id="184341" name="AutoShape 25"/>
          <p:cNvSpPr>
            <a:spLocks noChangeArrowheads="1"/>
          </p:cNvSpPr>
          <p:nvPr/>
        </p:nvSpPr>
        <p:spPr bwMode="auto">
          <a:xfrm>
            <a:off x="2667000" y="2133600"/>
            <a:ext cx="304800" cy="3429000"/>
          </a:xfrm>
          <a:prstGeom prst="roundRect">
            <a:avLst>
              <a:gd name="adj" fmla="val 16667"/>
            </a:avLst>
          </a:prstGeom>
          <a:solidFill>
            <a:schemeClr val="accent1"/>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84342" name="AutoShape 26"/>
          <p:cNvSpPr>
            <a:spLocks noChangeArrowheads="1"/>
          </p:cNvSpPr>
          <p:nvPr/>
        </p:nvSpPr>
        <p:spPr bwMode="auto">
          <a:xfrm>
            <a:off x="3160713" y="2514600"/>
            <a:ext cx="304800" cy="26670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4343" name="AutoShape 27"/>
          <p:cNvSpPr>
            <a:spLocks noChangeArrowheads="1"/>
          </p:cNvSpPr>
          <p:nvPr/>
        </p:nvSpPr>
        <p:spPr bwMode="auto">
          <a:xfrm>
            <a:off x="3654425" y="2895600"/>
            <a:ext cx="304800" cy="1828800"/>
          </a:xfrm>
          <a:prstGeom prst="roundRect">
            <a:avLst>
              <a:gd name="adj" fmla="val 16667"/>
            </a:avLst>
          </a:prstGeom>
          <a:solidFill>
            <a:schemeClr val="accent1"/>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grpSp>
        <p:nvGrpSpPr>
          <p:cNvPr id="184344" name="Group 28"/>
          <p:cNvGrpSpPr>
            <a:grpSpLocks/>
          </p:cNvGrpSpPr>
          <p:nvPr/>
        </p:nvGrpSpPr>
        <p:grpSpPr bwMode="auto">
          <a:xfrm>
            <a:off x="4643438" y="2133600"/>
            <a:ext cx="304800" cy="3429000"/>
            <a:chOff x="3369" y="1344"/>
            <a:chExt cx="192" cy="2160"/>
          </a:xfrm>
        </p:grpSpPr>
        <p:sp>
          <p:nvSpPr>
            <p:cNvPr id="184345" name="AutoShape 29"/>
            <p:cNvSpPr>
              <a:spLocks noChangeArrowheads="1"/>
            </p:cNvSpPr>
            <p:nvPr/>
          </p:nvSpPr>
          <p:spPr bwMode="auto">
            <a:xfrm>
              <a:off x="3369" y="1344"/>
              <a:ext cx="192" cy="1008"/>
            </a:xfrm>
            <a:prstGeom prst="roundRect">
              <a:avLst>
                <a:gd name="adj" fmla="val 16667"/>
              </a:avLst>
            </a:prstGeom>
            <a:solidFill>
              <a:schemeClr val="accent1"/>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sp>
          <p:nvSpPr>
            <p:cNvPr id="184346" name="AutoShape 30"/>
            <p:cNvSpPr>
              <a:spLocks noChangeArrowheads="1"/>
            </p:cNvSpPr>
            <p:nvPr/>
          </p:nvSpPr>
          <p:spPr bwMode="auto">
            <a:xfrm>
              <a:off x="3369" y="2496"/>
              <a:ext cx="192" cy="1008"/>
            </a:xfrm>
            <a:prstGeom prst="roundRect">
              <a:avLst>
                <a:gd name="adj" fmla="val 16667"/>
              </a:avLst>
            </a:prstGeom>
            <a:solidFill>
              <a:schemeClr val="accent1"/>
            </a:solidFill>
            <a:ln w="38100" algn="ctr">
              <a:solidFill>
                <a:schemeClr val="tx1"/>
              </a:solidFill>
              <a:miter lim="800000"/>
              <a:headEnd/>
              <a:tailEnd/>
            </a:ln>
          </p:spPr>
          <p:txBody>
            <a:bodyPr wrap="none" anchor="ctr"/>
            <a:lstStyle/>
            <a:p>
              <a:pPr algn="ctr">
                <a:spcBef>
                  <a:spcPct val="0"/>
                </a:spcBef>
              </a:pPr>
              <a:endParaRPr lang="en-US" sz="4000" b="0" dirty="0">
                <a:latin typeface="Arial" pitchFamily="34" charset="0"/>
              </a:endParaRPr>
            </a:p>
          </p:txBody>
        </p:sp>
      </p:gr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ooter Placeholder 3"/>
          <p:cNvSpPr>
            <a:spLocks noGrp="1"/>
          </p:cNvSpPr>
          <p:nvPr>
            <p:ph type="ftr" sz="quarter" idx="10"/>
          </p:nvPr>
        </p:nvSpPr>
        <p:spPr/>
        <p:txBody>
          <a:bodyPr/>
          <a:lstStyle/>
          <a:p>
            <a:pPr>
              <a:defRPr/>
            </a:pPr>
            <a:r>
              <a:rPr lang="en-US"/>
              <a:t>Art of Multiprocessor Programming</a:t>
            </a:r>
          </a:p>
        </p:txBody>
      </p:sp>
      <p:sp>
        <p:nvSpPr>
          <p:cNvPr id="108" name="Slide Number Placeholder 4"/>
          <p:cNvSpPr>
            <a:spLocks noGrp="1"/>
          </p:cNvSpPr>
          <p:nvPr>
            <p:ph type="sldNum" sz="quarter" idx="11"/>
          </p:nvPr>
        </p:nvSpPr>
        <p:spPr/>
        <p:txBody>
          <a:bodyPr/>
          <a:lstStyle/>
          <a:p>
            <a:pPr>
              <a:defRPr/>
            </a:pPr>
            <a:fld id="{99F2B93F-FBB5-4791-8E9A-525E1D9EB4D3}" type="slidenum">
              <a:rPr lang="en-US"/>
              <a:pPr>
                <a:defRPr/>
              </a:pPr>
              <a:t>187</a:t>
            </a:fld>
            <a:endParaRPr lang="en-US"/>
          </a:p>
        </p:txBody>
      </p:sp>
      <p:sp>
        <p:nvSpPr>
          <p:cNvPr id="185348" name="Line 2"/>
          <p:cNvSpPr>
            <a:spLocks noChangeShapeType="1"/>
          </p:cNvSpPr>
          <p:nvPr/>
        </p:nvSpPr>
        <p:spPr bwMode="auto">
          <a:xfrm>
            <a:off x="1638300" y="2286000"/>
            <a:ext cx="64389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349" name="Line 3"/>
          <p:cNvSpPr>
            <a:spLocks noChangeShapeType="1"/>
          </p:cNvSpPr>
          <p:nvPr/>
        </p:nvSpPr>
        <p:spPr bwMode="auto">
          <a:xfrm>
            <a:off x="1638300" y="2743200"/>
            <a:ext cx="64389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350" name="Line 4"/>
          <p:cNvSpPr>
            <a:spLocks noChangeShapeType="1"/>
          </p:cNvSpPr>
          <p:nvPr/>
        </p:nvSpPr>
        <p:spPr bwMode="auto">
          <a:xfrm>
            <a:off x="1638300" y="3200400"/>
            <a:ext cx="64389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351" name="Line 5"/>
          <p:cNvSpPr>
            <a:spLocks noChangeShapeType="1"/>
          </p:cNvSpPr>
          <p:nvPr/>
        </p:nvSpPr>
        <p:spPr bwMode="auto">
          <a:xfrm>
            <a:off x="1638300" y="3657600"/>
            <a:ext cx="64389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352" name="Line 6"/>
          <p:cNvSpPr>
            <a:spLocks noChangeShapeType="1"/>
          </p:cNvSpPr>
          <p:nvPr/>
        </p:nvSpPr>
        <p:spPr bwMode="auto">
          <a:xfrm>
            <a:off x="1638300" y="4114800"/>
            <a:ext cx="64389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353" name="Line 7"/>
          <p:cNvSpPr>
            <a:spLocks noChangeShapeType="1"/>
          </p:cNvSpPr>
          <p:nvPr/>
        </p:nvSpPr>
        <p:spPr bwMode="auto">
          <a:xfrm>
            <a:off x="1638300" y="4572000"/>
            <a:ext cx="64389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354" name="Line 8"/>
          <p:cNvSpPr>
            <a:spLocks noChangeShapeType="1"/>
          </p:cNvSpPr>
          <p:nvPr/>
        </p:nvSpPr>
        <p:spPr bwMode="auto">
          <a:xfrm>
            <a:off x="1638300" y="5029200"/>
            <a:ext cx="64389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355" name="Line 9"/>
          <p:cNvSpPr>
            <a:spLocks noChangeShapeType="1"/>
          </p:cNvSpPr>
          <p:nvPr/>
        </p:nvSpPr>
        <p:spPr bwMode="auto">
          <a:xfrm>
            <a:off x="1638300" y="5486400"/>
            <a:ext cx="64389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356" name="Rectangle 10"/>
          <p:cNvSpPr>
            <a:spLocks noGrp="1" noChangeArrowheads="1"/>
          </p:cNvSpPr>
          <p:nvPr>
            <p:ph type="title"/>
          </p:nvPr>
        </p:nvSpPr>
        <p:spPr/>
        <p:txBody>
          <a:bodyPr/>
          <a:lstStyle/>
          <a:p>
            <a:r>
              <a:rPr lang="en-US"/>
              <a:t>Periodic[8]</a:t>
            </a:r>
          </a:p>
        </p:txBody>
      </p:sp>
      <p:sp>
        <p:nvSpPr>
          <p:cNvPr id="185357" name="AutoShape 11"/>
          <p:cNvSpPr>
            <a:spLocks noChangeArrowheads="1"/>
          </p:cNvSpPr>
          <p:nvPr/>
        </p:nvSpPr>
        <p:spPr bwMode="auto">
          <a:xfrm>
            <a:off x="1752600" y="2133600"/>
            <a:ext cx="231775" cy="34290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5358" name="Group 12"/>
          <p:cNvGrpSpPr>
            <a:grpSpLocks/>
          </p:cNvGrpSpPr>
          <p:nvPr/>
        </p:nvGrpSpPr>
        <p:grpSpPr bwMode="auto">
          <a:xfrm>
            <a:off x="3489325" y="2133600"/>
            <a:ext cx="231775" cy="3429000"/>
            <a:chOff x="3936" y="1344"/>
            <a:chExt cx="192" cy="2160"/>
          </a:xfrm>
        </p:grpSpPr>
        <p:sp>
          <p:nvSpPr>
            <p:cNvPr id="185428" name="AutoShape 13"/>
            <p:cNvSpPr>
              <a:spLocks noChangeArrowheads="1"/>
            </p:cNvSpPr>
            <p:nvPr/>
          </p:nvSpPr>
          <p:spPr bwMode="auto">
            <a:xfrm>
              <a:off x="3936"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5429" name="AutoShape 14"/>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5430" name="AutoShape 15"/>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5431" name="AutoShape 16"/>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5359" name="AutoShape 17"/>
          <p:cNvSpPr>
            <a:spLocks noChangeArrowheads="1"/>
          </p:cNvSpPr>
          <p:nvPr/>
        </p:nvSpPr>
        <p:spPr bwMode="auto">
          <a:xfrm>
            <a:off x="2041525" y="2514600"/>
            <a:ext cx="230188" cy="26670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5360" name="AutoShape 18"/>
          <p:cNvSpPr>
            <a:spLocks noChangeArrowheads="1"/>
          </p:cNvSpPr>
          <p:nvPr/>
        </p:nvSpPr>
        <p:spPr bwMode="auto">
          <a:xfrm>
            <a:off x="2328863" y="2895600"/>
            <a:ext cx="231775" cy="1828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5361" name="AutoShape 19"/>
          <p:cNvSpPr>
            <a:spLocks noChangeArrowheads="1"/>
          </p:cNvSpPr>
          <p:nvPr/>
        </p:nvSpPr>
        <p:spPr bwMode="auto">
          <a:xfrm>
            <a:off x="2617788" y="3352800"/>
            <a:ext cx="231775" cy="9144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5362" name="Group 20"/>
          <p:cNvGrpSpPr>
            <a:grpSpLocks/>
          </p:cNvGrpSpPr>
          <p:nvPr/>
        </p:nvGrpSpPr>
        <p:grpSpPr bwMode="auto">
          <a:xfrm>
            <a:off x="2906713" y="2133600"/>
            <a:ext cx="231775" cy="3429000"/>
            <a:chOff x="3369" y="1344"/>
            <a:chExt cx="192" cy="2160"/>
          </a:xfrm>
        </p:grpSpPr>
        <p:sp>
          <p:nvSpPr>
            <p:cNvPr id="185426" name="AutoShape 21"/>
            <p:cNvSpPr>
              <a:spLocks noChangeArrowheads="1"/>
            </p:cNvSpPr>
            <p:nvPr/>
          </p:nvSpPr>
          <p:spPr bwMode="auto">
            <a:xfrm>
              <a:off x="3369"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5427" name="AutoShape 22"/>
            <p:cNvSpPr>
              <a:spLocks noChangeArrowheads="1"/>
            </p:cNvSpPr>
            <p:nvPr/>
          </p:nvSpPr>
          <p:spPr bwMode="auto">
            <a:xfrm>
              <a:off x="3369"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185363" name="Group 23"/>
          <p:cNvGrpSpPr>
            <a:grpSpLocks/>
          </p:cNvGrpSpPr>
          <p:nvPr/>
        </p:nvGrpSpPr>
        <p:grpSpPr bwMode="auto">
          <a:xfrm>
            <a:off x="3195638" y="2590800"/>
            <a:ext cx="234950" cy="2590800"/>
            <a:chOff x="3648" y="1632"/>
            <a:chExt cx="196" cy="1632"/>
          </a:xfrm>
        </p:grpSpPr>
        <p:sp>
          <p:nvSpPr>
            <p:cNvPr id="185424" name="AutoShape 24"/>
            <p:cNvSpPr>
              <a:spLocks noChangeArrowheads="1"/>
            </p:cNvSpPr>
            <p:nvPr/>
          </p:nvSpPr>
          <p:spPr bwMode="auto">
            <a:xfrm>
              <a:off x="3652" y="2736"/>
              <a:ext cx="192" cy="52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5425" name="AutoShape 25"/>
            <p:cNvSpPr>
              <a:spLocks noChangeArrowheads="1"/>
            </p:cNvSpPr>
            <p:nvPr/>
          </p:nvSpPr>
          <p:spPr bwMode="auto">
            <a:xfrm>
              <a:off x="3648" y="1632"/>
              <a:ext cx="192" cy="4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5364" name="AutoShape 41"/>
          <p:cNvSpPr>
            <a:spLocks noChangeArrowheads="1"/>
          </p:cNvSpPr>
          <p:nvPr/>
        </p:nvSpPr>
        <p:spPr bwMode="auto">
          <a:xfrm>
            <a:off x="5911850" y="2133600"/>
            <a:ext cx="231775" cy="34290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5365" name="Group 42"/>
          <p:cNvGrpSpPr>
            <a:grpSpLocks/>
          </p:cNvGrpSpPr>
          <p:nvPr/>
        </p:nvGrpSpPr>
        <p:grpSpPr bwMode="auto">
          <a:xfrm>
            <a:off x="7648575" y="2133600"/>
            <a:ext cx="231775" cy="3429000"/>
            <a:chOff x="3936" y="1344"/>
            <a:chExt cx="192" cy="2160"/>
          </a:xfrm>
        </p:grpSpPr>
        <p:sp>
          <p:nvSpPr>
            <p:cNvPr id="185420" name="AutoShape 43"/>
            <p:cNvSpPr>
              <a:spLocks noChangeArrowheads="1"/>
            </p:cNvSpPr>
            <p:nvPr/>
          </p:nvSpPr>
          <p:spPr bwMode="auto">
            <a:xfrm>
              <a:off x="3936" y="1344"/>
              <a:ext cx="192" cy="432"/>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421" name="AutoShape 44"/>
            <p:cNvSpPr>
              <a:spLocks noChangeArrowheads="1"/>
            </p:cNvSpPr>
            <p:nvPr/>
          </p:nvSpPr>
          <p:spPr bwMode="auto">
            <a:xfrm>
              <a:off x="3936" y="1936"/>
              <a:ext cx="192" cy="432"/>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422" name="AutoShape 45"/>
            <p:cNvSpPr>
              <a:spLocks noChangeArrowheads="1"/>
            </p:cNvSpPr>
            <p:nvPr/>
          </p:nvSpPr>
          <p:spPr bwMode="auto">
            <a:xfrm>
              <a:off x="3936" y="2528"/>
              <a:ext cx="192" cy="432"/>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423" name="AutoShape 46"/>
            <p:cNvSpPr>
              <a:spLocks noChangeArrowheads="1"/>
            </p:cNvSpPr>
            <p:nvPr/>
          </p:nvSpPr>
          <p:spPr bwMode="auto">
            <a:xfrm>
              <a:off x="3936" y="3072"/>
              <a:ext cx="192" cy="432"/>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5366" name="AutoShape 47"/>
          <p:cNvSpPr>
            <a:spLocks noChangeArrowheads="1"/>
          </p:cNvSpPr>
          <p:nvPr/>
        </p:nvSpPr>
        <p:spPr bwMode="auto">
          <a:xfrm>
            <a:off x="6200775" y="2514600"/>
            <a:ext cx="231775" cy="26670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367" name="AutoShape 48"/>
          <p:cNvSpPr>
            <a:spLocks noChangeArrowheads="1"/>
          </p:cNvSpPr>
          <p:nvPr/>
        </p:nvSpPr>
        <p:spPr bwMode="auto">
          <a:xfrm>
            <a:off x="6488113" y="2895600"/>
            <a:ext cx="231775" cy="18288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368" name="AutoShape 49"/>
          <p:cNvSpPr>
            <a:spLocks noChangeArrowheads="1"/>
          </p:cNvSpPr>
          <p:nvPr/>
        </p:nvSpPr>
        <p:spPr bwMode="auto">
          <a:xfrm>
            <a:off x="6778625" y="3352800"/>
            <a:ext cx="231775" cy="9144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5369" name="Group 50"/>
          <p:cNvGrpSpPr>
            <a:grpSpLocks/>
          </p:cNvGrpSpPr>
          <p:nvPr/>
        </p:nvGrpSpPr>
        <p:grpSpPr bwMode="auto">
          <a:xfrm>
            <a:off x="7065963" y="2133600"/>
            <a:ext cx="231775" cy="3429000"/>
            <a:chOff x="3369" y="1344"/>
            <a:chExt cx="192" cy="2160"/>
          </a:xfrm>
        </p:grpSpPr>
        <p:sp>
          <p:nvSpPr>
            <p:cNvPr id="185418" name="AutoShape 51"/>
            <p:cNvSpPr>
              <a:spLocks noChangeArrowheads="1"/>
            </p:cNvSpPr>
            <p:nvPr/>
          </p:nvSpPr>
          <p:spPr bwMode="auto">
            <a:xfrm>
              <a:off x="3369" y="1344"/>
              <a:ext cx="192" cy="1008"/>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419" name="AutoShape 52"/>
            <p:cNvSpPr>
              <a:spLocks noChangeArrowheads="1"/>
            </p:cNvSpPr>
            <p:nvPr/>
          </p:nvSpPr>
          <p:spPr bwMode="auto">
            <a:xfrm>
              <a:off x="3369" y="2496"/>
              <a:ext cx="192" cy="1008"/>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185370" name="Group 53"/>
          <p:cNvGrpSpPr>
            <a:grpSpLocks/>
          </p:cNvGrpSpPr>
          <p:nvPr/>
        </p:nvGrpSpPr>
        <p:grpSpPr bwMode="auto">
          <a:xfrm>
            <a:off x="7354888" y="2590800"/>
            <a:ext cx="236537" cy="2590800"/>
            <a:chOff x="3648" y="1632"/>
            <a:chExt cx="196" cy="1632"/>
          </a:xfrm>
        </p:grpSpPr>
        <p:sp>
          <p:nvSpPr>
            <p:cNvPr id="185416" name="AutoShape 54"/>
            <p:cNvSpPr>
              <a:spLocks noChangeArrowheads="1"/>
            </p:cNvSpPr>
            <p:nvPr/>
          </p:nvSpPr>
          <p:spPr bwMode="auto">
            <a:xfrm>
              <a:off x="3652" y="2736"/>
              <a:ext cx="192" cy="528"/>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417" name="AutoShape 55"/>
            <p:cNvSpPr>
              <a:spLocks noChangeArrowheads="1"/>
            </p:cNvSpPr>
            <p:nvPr/>
          </p:nvSpPr>
          <p:spPr bwMode="auto">
            <a:xfrm>
              <a:off x="3648" y="1632"/>
              <a:ext cx="192" cy="48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5371" name="AutoShape 78"/>
          <p:cNvSpPr>
            <a:spLocks noChangeArrowheads="1"/>
          </p:cNvSpPr>
          <p:nvPr/>
        </p:nvSpPr>
        <p:spPr bwMode="auto">
          <a:xfrm>
            <a:off x="5911850" y="2133600"/>
            <a:ext cx="231775" cy="34290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372" name="AutoShape 79"/>
          <p:cNvSpPr>
            <a:spLocks noChangeArrowheads="1"/>
          </p:cNvSpPr>
          <p:nvPr/>
        </p:nvSpPr>
        <p:spPr bwMode="auto">
          <a:xfrm>
            <a:off x="6200775" y="2514600"/>
            <a:ext cx="231775" cy="26670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373" name="AutoShape 80"/>
          <p:cNvSpPr>
            <a:spLocks noChangeArrowheads="1"/>
          </p:cNvSpPr>
          <p:nvPr/>
        </p:nvSpPr>
        <p:spPr bwMode="auto">
          <a:xfrm>
            <a:off x="6488113" y="2895600"/>
            <a:ext cx="231775" cy="18288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374" name="AutoShape 81"/>
          <p:cNvSpPr>
            <a:spLocks noChangeArrowheads="1"/>
          </p:cNvSpPr>
          <p:nvPr/>
        </p:nvSpPr>
        <p:spPr bwMode="auto">
          <a:xfrm>
            <a:off x="6778625" y="3352800"/>
            <a:ext cx="231775" cy="9144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5375" name="Group 82"/>
          <p:cNvGrpSpPr>
            <a:grpSpLocks/>
          </p:cNvGrpSpPr>
          <p:nvPr/>
        </p:nvGrpSpPr>
        <p:grpSpPr bwMode="auto">
          <a:xfrm>
            <a:off x="7065963" y="2133600"/>
            <a:ext cx="231775" cy="3429000"/>
            <a:chOff x="3369" y="1344"/>
            <a:chExt cx="192" cy="2160"/>
          </a:xfrm>
        </p:grpSpPr>
        <p:sp>
          <p:nvSpPr>
            <p:cNvPr id="185414" name="AutoShape 83"/>
            <p:cNvSpPr>
              <a:spLocks noChangeArrowheads="1"/>
            </p:cNvSpPr>
            <p:nvPr/>
          </p:nvSpPr>
          <p:spPr bwMode="auto">
            <a:xfrm>
              <a:off x="3369" y="1344"/>
              <a:ext cx="192" cy="1008"/>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415" name="AutoShape 84"/>
            <p:cNvSpPr>
              <a:spLocks noChangeArrowheads="1"/>
            </p:cNvSpPr>
            <p:nvPr/>
          </p:nvSpPr>
          <p:spPr bwMode="auto">
            <a:xfrm>
              <a:off x="3369" y="2496"/>
              <a:ext cx="192" cy="1008"/>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185376" name="Group 85"/>
          <p:cNvGrpSpPr>
            <a:grpSpLocks/>
          </p:cNvGrpSpPr>
          <p:nvPr/>
        </p:nvGrpSpPr>
        <p:grpSpPr bwMode="auto">
          <a:xfrm>
            <a:off x="7354888" y="2590800"/>
            <a:ext cx="236537" cy="2590800"/>
            <a:chOff x="3648" y="1632"/>
            <a:chExt cx="196" cy="1632"/>
          </a:xfrm>
        </p:grpSpPr>
        <p:sp>
          <p:nvSpPr>
            <p:cNvPr id="185412" name="AutoShape 86"/>
            <p:cNvSpPr>
              <a:spLocks noChangeArrowheads="1"/>
            </p:cNvSpPr>
            <p:nvPr/>
          </p:nvSpPr>
          <p:spPr bwMode="auto">
            <a:xfrm>
              <a:off x="3652" y="2736"/>
              <a:ext cx="192" cy="528"/>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413" name="AutoShape 87"/>
            <p:cNvSpPr>
              <a:spLocks noChangeArrowheads="1"/>
            </p:cNvSpPr>
            <p:nvPr/>
          </p:nvSpPr>
          <p:spPr bwMode="auto">
            <a:xfrm>
              <a:off x="3648" y="1632"/>
              <a:ext cx="192" cy="48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5377" name="AutoShape 88"/>
          <p:cNvSpPr>
            <a:spLocks noChangeArrowheads="1"/>
          </p:cNvSpPr>
          <p:nvPr/>
        </p:nvSpPr>
        <p:spPr bwMode="auto">
          <a:xfrm>
            <a:off x="5911850" y="2133600"/>
            <a:ext cx="231775" cy="34290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378" name="AutoShape 89"/>
          <p:cNvSpPr>
            <a:spLocks noChangeArrowheads="1"/>
          </p:cNvSpPr>
          <p:nvPr/>
        </p:nvSpPr>
        <p:spPr bwMode="auto">
          <a:xfrm>
            <a:off x="6200775" y="2514600"/>
            <a:ext cx="231775" cy="26670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379" name="AutoShape 90"/>
          <p:cNvSpPr>
            <a:spLocks noChangeArrowheads="1"/>
          </p:cNvSpPr>
          <p:nvPr/>
        </p:nvSpPr>
        <p:spPr bwMode="auto">
          <a:xfrm>
            <a:off x="6488113" y="2895600"/>
            <a:ext cx="231775" cy="18288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sp>
        <p:nvSpPr>
          <p:cNvPr id="185380" name="AutoShape 91"/>
          <p:cNvSpPr>
            <a:spLocks noChangeArrowheads="1"/>
          </p:cNvSpPr>
          <p:nvPr/>
        </p:nvSpPr>
        <p:spPr bwMode="auto">
          <a:xfrm>
            <a:off x="6778625" y="3352800"/>
            <a:ext cx="231775" cy="914400"/>
          </a:xfrm>
          <a:prstGeom prst="roundRect">
            <a:avLst>
              <a:gd name="adj" fmla="val 16667"/>
            </a:avLst>
          </a:prstGeom>
          <a:solidFill>
            <a:srgbClr val="33CC33"/>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5381" name="Group 92"/>
          <p:cNvGrpSpPr>
            <a:grpSpLocks/>
          </p:cNvGrpSpPr>
          <p:nvPr/>
        </p:nvGrpSpPr>
        <p:grpSpPr bwMode="auto">
          <a:xfrm>
            <a:off x="7648575" y="2133600"/>
            <a:ext cx="231775" cy="3429000"/>
            <a:chOff x="3936" y="1344"/>
            <a:chExt cx="192" cy="2160"/>
          </a:xfrm>
        </p:grpSpPr>
        <p:sp>
          <p:nvSpPr>
            <p:cNvPr id="185408" name="AutoShape 93"/>
            <p:cNvSpPr>
              <a:spLocks noChangeArrowheads="1"/>
            </p:cNvSpPr>
            <p:nvPr/>
          </p:nvSpPr>
          <p:spPr bwMode="auto">
            <a:xfrm>
              <a:off x="3936" y="1344"/>
              <a:ext cx="192" cy="432"/>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5409" name="AutoShape 94"/>
            <p:cNvSpPr>
              <a:spLocks noChangeArrowheads="1"/>
            </p:cNvSpPr>
            <p:nvPr/>
          </p:nvSpPr>
          <p:spPr bwMode="auto">
            <a:xfrm>
              <a:off x="3936" y="1936"/>
              <a:ext cx="192" cy="432"/>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5410" name="AutoShape 95"/>
            <p:cNvSpPr>
              <a:spLocks noChangeArrowheads="1"/>
            </p:cNvSpPr>
            <p:nvPr/>
          </p:nvSpPr>
          <p:spPr bwMode="auto">
            <a:xfrm>
              <a:off x="3936" y="2528"/>
              <a:ext cx="192" cy="432"/>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5411" name="AutoShape 96"/>
            <p:cNvSpPr>
              <a:spLocks noChangeArrowheads="1"/>
            </p:cNvSpPr>
            <p:nvPr/>
          </p:nvSpPr>
          <p:spPr bwMode="auto">
            <a:xfrm>
              <a:off x="3936" y="3072"/>
              <a:ext cx="192" cy="432"/>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185382" name="Group 97"/>
          <p:cNvGrpSpPr>
            <a:grpSpLocks/>
          </p:cNvGrpSpPr>
          <p:nvPr/>
        </p:nvGrpSpPr>
        <p:grpSpPr bwMode="auto">
          <a:xfrm>
            <a:off x="7065963" y="2133600"/>
            <a:ext cx="231775" cy="3429000"/>
            <a:chOff x="3369" y="1344"/>
            <a:chExt cx="192" cy="2160"/>
          </a:xfrm>
        </p:grpSpPr>
        <p:sp>
          <p:nvSpPr>
            <p:cNvPr id="185406" name="AutoShape 98"/>
            <p:cNvSpPr>
              <a:spLocks noChangeArrowheads="1"/>
            </p:cNvSpPr>
            <p:nvPr/>
          </p:nvSpPr>
          <p:spPr bwMode="auto">
            <a:xfrm>
              <a:off x="3369" y="1344"/>
              <a:ext cx="192" cy="1008"/>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5407" name="AutoShape 99"/>
            <p:cNvSpPr>
              <a:spLocks noChangeArrowheads="1"/>
            </p:cNvSpPr>
            <p:nvPr/>
          </p:nvSpPr>
          <p:spPr bwMode="auto">
            <a:xfrm>
              <a:off x="3369" y="2496"/>
              <a:ext cx="192" cy="1008"/>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185383" name="Group 100"/>
          <p:cNvGrpSpPr>
            <a:grpSpLocks/>
          </p:cNvGrpSpPr>
          <p:nvPr/>
        </p:nvGrpSpPr>
        <p:grpSpPr bwMode="auto">
          <a:xfrm>
            <a:off x="7354888" y="2590800"/>
            <a:ext cx="236537" cy="2590800"/>
            <a:chOff x="3648" y="1632"/>
            <a:chExt cx="196" cy="1632"/>
          </a:xfrm>
        </p:grpSpPr>
        <p:sp>
          <p:nvSpPr>
            <p:cNvPr id="185404" name="AutoShape 101"/>
            <p:cNvSpPr>
              <a:spLocks noChangeArrowheads="1"/>
            </p:cNvSpPr>
            <p:nvPr/>
          </p:nvSpPr>
          <p:spPr bwMode="auto">
            <a:xfrm>
              <a:off x="3652" y="2736"/>
              <a:ext cx="192" cy="528"/>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5405" name="AutoShape 102"/>
            <p:cNvSpPr>
              <a:spLocks noChangeArrowheads="1"/>
            </p:cNvSpPr>
            <p:nvPr/>
          </p:nvSpPr>
          <p:spPr bwMode="auto">
            <a:xfrm>
              <a:off x="3648" y="1632"/>
              <a:ext cx="192" cy="48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5384" name="AutoShape 103"/>
          <p:cNvSpPr>
            <a:spLocks noChangeArrowheads="1"/>
          </p:cNvSpPr>
          <p:nvPr/>
        </p:nvSpPr>
        <p:spPr bwMode="auto">
          <a:xfrm>
            <a:off x="5911850" y="2133600"/>
            <a:ext cx="231775" cy="34290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5385" name="AutoShape 104"/>
          <p:cNvSpPr>
            <a:spLocks noChangeArrowheads="1"/>
          </p:cNvSpPr>
          <p:nvPr/>
        </p:nvSpPr>
        <p:spPr bwMode="auto">
          <a:xfrm>
            <a:off x="6200775" y="2514600"/>
            <a:ext cx="231775" cy="26670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5386" name="AutoShape 105"/>
          <p:cNvSpPr>
            <a:spLocks noChangeArrowheads="1"/>
          </p:cNvSpPr>
          <p:nvPr/>
        </p:nvSpPr>
        <p:spPr bwMode="auto">
          <a:xfrm>
            <a:off x="6488113" y="2895600"/>
            <a:ext cx="231775" cy="18288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sp>
        <p:nvSpPr>
          <p:cNvPr id="185387" name="AutoShape 106"/>
          <p:cNvSpPr>
            <a:spLocks noChangeArrowheads="1"/>
          </p:cNvSpPr>
          <p:nvPr/>
        </p:nvSpPr>
        <p:spPr bwMode="auto">
          <a:xfrm>
            <a:off x="6778625" y="3352800"/>
            <a:ext cx="231775" cy="914400"/>
          </a:xfrm>
          <a:prstGeom prst="roundRect">
            <a:avLst>
              <a:gd name="adj" fmla="val 16667"/>
            </a:avLst>
          </a:prstGeom>
          <a:solidFill>
            <a:srgbClr val="FF9900"/>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5388" name="Group 123"/>
          <p:cNvGrpSpPr>
            <a:grpSpLocks/>
          </p:cNvGrpSpPr>
          <p:nvPr/>
        </p:nvGrpSpPr>
        <p:grpSpPr bwMode="auto">
          <a:xfrm>
            <a:off x="3824288" y="2133600"/>
            <a:ext cx="1968500" cy="3429000"/>
            <a:chOff x="3752850" y="2146300"/>
            <a:chExt cx="1968500" cy="3429000"/>
          </a:xfrm>
        </p:grpSpPr>
        <p:grpSp>
          <p:nvGrpSpPr>
            <p:cNvPr id="185389" name="Group 63"/>
            <p:cNvGrpSpPr>
              <a:grpSpLocks/>
            </p:cNvGrpSpPr>
            <p:nvPr/>
          </p:nvGrpSpPr>
          <p:grpSpPr bwMode="auto">
            <a:xfrm>
              <a:off x="5489575" y="2146300"/>
              <a:ext cx="231775" cy="3429000"/>
              <a:chOff x="3936" y="1344"/>
              <a:chExt cx="192" cy="2160"/>
            </a:xfrm>
          </p:grpSpPr>
          <p:sp>
            <p:nvSpPr>
              <p:cNvPr id="185400" name="AutoShape 64"/>
              <p:cNvSpPr>
                <a:spLocks noChangeArrowheads="1"/>
              </p:cNvSpPr>
              <p:nvPr/>
            </p:nvSpPr>
            <p:spPr bwMode="auto">
              <a:xfrm>
                <a:off x="3936" y="1344"/>
                <a:ext cx="192" cy="432"/>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185401" name="AutoShape 65"/>
              <p:cNvSpPr>
                <a:spLocks noChangeArrowheads="1"/>
              </p:cNvSpPr>
              <p:nvPr/>
            </p:nvSpPr>
            <p:spPr bwMode="auto">
              <a:xfrm>
                <a:off x="3936" y="1936"/>
                <a:ext cx="192" cy="432"/>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185402" name="AutoShape 66"/>
              <p:cNvSpPr>
                <a:spLocks noChangeArrowheads="1"/>
              </p:cNvSpPr>
              <p:nvPr/>
            </p:nvSpPr>
            <p:spPr bwMode="auto">
              <a:xfrm>
                <a:off x="3936" y="2528"/>
                <a:ext cx="192" cy="432"/>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185403" name="AutoShape 67"/>
              <p:cNvSpPr>
                <a:spLocks noChangeArrowheads="1"/>
              </p:cNvSpPr>
              <p:nvPr/>
            </p:nvSpPr>
            <p:spPr bwMode="auto">
              <a:xfrm>
                <a:off x="3936" y="3072"/>
                <a:ext cx="192" cy="432"/>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185390" name="Group 68"/>
            <p:cNvGrpSpPr>
              <a:grpSpLocks/>
            </p:cNvGrpSpPr>
            <p:nvPr/>
          </p:nvGrpSpPr>
          <p:grpSpPr bwMode="auto">
            <a:xfrm>
              <a:off x="5195888" y="2603500"/>
              <a:ext cx="236537" cy="2590800"/>
              <a:chOff x="3648" y="1632"/>
              <a:chExt cx="196" cy="1632"/>
            </a:xfrm>
          </p:grpSpPr>
          <p:sp>
            <p:nvSpPr>
              <p:cNvPr id="185398" name="AutoShape 69"/>
              <p:cNvSpPr>
                <a:spLocks noChangeArrowheads="1"/>
              </p:cNvSpPr>
              <p:nvPr/>
            </p:nvSpPr>
            <p:spPr bwMode="auto">
              <a:xfrm>
                <a:off x="3652" y="2736"/>
                <a:ext cx="192" cy="528"/>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185399" name="AutoShape 70"/>
              <p:cNvSpPr>
                <a:spLocks noChangeArrowheads="1"/>
              </p:cNvSpPr>
              <p:nvPr/>
            </p:nvSpPr>
            <p:spPr bwMode="auto">
              <a:xfrm>
                <a:off x="3648" y="1632"/>
                <a:ext cx="192" cy="480"/>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grpSp>
        <p:sp>
          <p:nvSpPr>
            <p:cNvPr id="185391" name="AutoShape 71"/>
            <p:cNvSpPr>
              <a:spLocks noChangeArrowheads="1"/>
            </p:cNvSpPr>
            <p:nvPr/>
          </p:nvSpPr>
          <p:spPr bwMode="auto">
            <a:xfrm>
              <a:off x="3752850" y="2146300"/>
              <a:ext cx="231775" cy="3429000"/>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185392" name="AutoShape 72"/>
            <p:cNvSpPr>
              <a:spLocks noChangeArrowheads="1"/>
            </p:cNvSpPr>
            <p:nvPr/>
          </p:nvSpPr>
          <p:spPr bwMode="auto">
            <a:xfrm>
              <a:off x="4041775" y="2527300"/>
              <a:ext cx="231775" cy="2667000"/>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185393" name="AutoShape 73"/>
            <p:cNvSpPr>
              <a:spLocks noChangeArrowheads="1"/>
            </p:cNvSpPr>
            <p:nvPr/>
          </p:nvSpPr>
          <p:spPr bwMode="auto">
            <a:xfrm>
              <a:off x="4329113" y="2908300"/>
              <a:ext cx="231775" cy="1828800"/>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185394" name="AutoShape 74"/>
            <p:cNvSpPr>
              <a:spLocks noChangeArrowheads="1"/>
            </p:cNvSpPr>
            <p:nvPr/>
          </p:nvSpPr>
          <p:spPr bwMode="auto">
            <a:xfrm>
              <a:off x="4619625" y="3365500"/>
              <a:ext cx="230188" cy="914400"/>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5395" name="Group 75"/>
            <p:cNvGrpSpPr>
              <a:grpSpLocks/>
            </p:cNvGrpSpPr>
            <p:nvPr/>
          </p:nvGrpSpPr>
          <p:grpSpPr bwMode="auto">
            <a:xfrm>
              <a:off x="4906963" y="2146300"/>
              <a:ext cx="231775" cy="3429000"/>
              <a:chOff x="3369" y="1344"/>
              <a:chExt cx="192" cy="2160"/>
            </a:xfrm>
          </p:grpSpPr>
          <p:sp>
            <p:nvSpPr>
              <p:cNvPr id="185396" name="AutoShape 76"/>
              <p:cNvSpPr>
                <a:spLocks noChangeArrowheads="1"/>
              </p:cNvSpPr>
              <p:nvPr/>
            </p:nvSpPr>
            <p:spPr bwMode="auto">
              <a:xfrm>
                <a:off x="3369" y="1344"/>
                <a:ext cx="192" cy="1008"/>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185397" name="AutoShape 77"/>
              <p:cNvSpPr>
                <a:spLocks noChangeArrowheads="1"/>
              </p:cNvSpPr>
              <p:nvPr/>
            </p:nvSpPr>
            <p:spPr bwMode="auto">
              <a:xfrm>
                <a:off x="3369" y="2496"/>
                <a:ext cx="192" cy="1008"/>
              </a:xfrm>
              <a:prstGeom prst="roundRect">
                <a:avLst>
                  <a:gd name="adj" fmla="val 16667"/>
                </a:avLst>
              </a:pr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grpSp>
      </p:gr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7925FCF4-3D66-4590-87EB-20D4C1B2CBF2}" type="slidenum">
              <a:rPr lang="en-US"/>
              <a:pPr>
                <a:defRPr/>
              </a:pPr>
              <a:t>188</a:t>
            </a:fld>
            <a:endParaRPr lang="en-US"/>
          </a:p>
        </p:txBody>
      </p:sp>
      <p:sp>
        <p:nvSpPr>
          <p:cNvPr id="186372" name="Rectangle 2"/>
          <p:cNvSpPr>
            <a:spLocks noGrp="1" noChangeArrowheads="1"/>
          </p:cNvSpPr>
          <p:nvPr>
            <p:ph type="title"/>
          </p:nvPr>
        </p:nvSpPr>
        <p:spPr/>
        <p:txBody>
          <a:bodyPr/>
          <a:lstStyle/>
          <a:p>
            <a:r>
              <a:rPr lang="en-US"/>
              <a:t>Network Depth</a:t>
            </a:r>
          </a:p>
        </p:txBody>
      </p:sp>
      <p:sp>
        <p:nvSpPr>
          <p:cNvPr id="186373" name="Rectangle 3"/>
          <p:cNvSpPr>
            <a:spLocks noGrp="1" noChangeArrowheads="1"/>
          </p:cNvSpPr>
          <p:nvPr>
            <p:ph type="body" idx="1"/>
          </p:nvPr>
        </p:nvSpPr>
        <p:spPr/>
        <p:txBody>
          <a:bodyPr/>
          <a:lstStyle/>
          <a:p>
            <a:r>
              <a:rPr lang="en-US"/>
              <a:t>Each </a:t>
            </a:r>
            <a:r>
              <a:rPr lang="en-US">
                <a:solidFill>
                  <a:schemeClr val="tx1"/>
                </a:solidFill>
              </a:rPr>
              <a:t>block[k]</a:t>
            </a:r>
            <a:r>
              <a:rPr lang="en-US"/>
              <a:t> has depth </a:t>
            </a:r>
            <a:r>
              <a:rPr lang="en-US">
                <a:solidFill>
                  <a:schemeClr val="tx1"/>
                </a:solidFill>
              </a:rPr>
              <a:t>log</a:t>
            </a:r>
            <a:r>
              <a:rPr lang="en-US" baseline="-25000">
                <a:solidFill>
                  <a:schemeClr val="tx1"/>
                </a:solidFill>
              </a:rPr>
              <a:t>2</a:t>
            </a:r>
            <a:r>
              <a:rPr lang="en-US">
                <a:solidFill>
                  <a:schemeClr val="tx1"/>
                </a:solidFill>
              </a:rPr>
              <a:t> k</a:t>
            </a:r>
          </a:p>
          <a:p>
            <a:r>
              <a:rPr lang="en-US"/>
              <a:t>Need </a:t>
            </a:r>
            <a:r>
              <a:rPr lang="en-US">
                <a:solidFill>
                  <a:schemeClr val="tx1"/>
                </a:solidFill>
              </a:rPr>
              <a:t>log</a:t>
            </a:r>
            <a:r>
              <a:rPr lang="en-US" baseline="-25000">
                <a:solidFill>
                  <a:schemeClr val="tx1"/>
                </a:solidFill>
              </a:rPr>
              <a:t>2</a:t>
            </a:r>
            <a:r>
              <a:rPr lang="en-US">
                <a:solidFill>
                  <a:schemeClr val="tx1"/>
                </a:solidFill>
              </a:rPr>
              <a:t> k</a:t>
            </a:r>
            <a:r>
              <a:rPr lang="en-US"/>
              <a:t> blocks</a:t>
            </a:r>
          </a:p>
          <a:p>
            <a:r>
              <a:rPr lang="en-US"/>
              <a:t>Grand total of </a:t>
            </a:r>
            <a:r>
              <a:rPr lang="en-US">
                <a:solidFill>
                  <a:schemeClr val="tx1"/>
                </a:solidFill>
              </a:rPr>
              <a:t>(log</a:t>
            </a:r>
            <a:r>
              <a:rPr lang="en-US" baseline="-25000">
                <a:solidFill>
                  <a:schemeClr val="tx1"/>
                </a:solidFill>
              </a:rPr>
              <a:t>2</a:t>
            </a:r>
            <a:r>
              <a:rPr lang="en-US">
                <a:solidFill>
                  <a:schemeClr val="tx1"/>
                </a:solidFill>
              </a:rPr>
              <a:t> k)</a:t>
            </a:r>
            <a:r>
              <a:rPr lang="en-US" baseline="30000">
                <a:solidFill>
                  <a:schemeClr val="tx1"/>
                </a:solidFill>
              </a:rPr>
              <a:t>2</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3145C2D-C468-42CA-BF2B-2F0826932447}" type="slidenum">
              <a:rPr lang="en-US"/>
              <a:pPr>
                <a:defRPr/>
              </a:pPr>
              <a:t>189</a:t>
            </a:fld>
            <a:endParaRPr lang="en-US"/>
          </a:p>
        </p:txBody>
      </p:sp>
      <p:sp>
        <p:nvSpPr>
          <p:cNvPr id="187396" name="Rectangle 2"/>
          <p:cNvSpPr>
            <a:spLocks noGrp="1" noChangeArrowheads="1"/>
          </p:cNvSpPr>
          <p:nvPr>
            <p:ph type="title"/>
          </p:nvPr>
        </p:nvSpPr>
        <p:spPr>
          <a:xfrm>
            <a:off x="685800" y="381000"/>
            <a:ext cx="7772400" cy="1143000"/>
          </a:xfrm>
        </p:spPr>
        <p:txBody>
          <a:bodyPr/>
          <a:lstStyle/>
          <a:p>
            <a:r>
              <a:rPr lang="en-US"/>
              <a:t>Lower Bound on Depth</a:t>
            </a:r>
          </a:p>
        </p:txBody>
      </p:sp>
      <p:sp>
        <p:nvSpPr>
          <p:cNvPr id="187397" name="Rectangle 3"/>
          <p:cNvSpPr>
            <a:spLocks noGrp="1" noChangeArrowheads="1"/>
          </p:cNvSpPr>
          <p:nvPr>
            <p:ph type="body" idx="1"/>
          </p:nvPr>
        </p:nvSpPr>
        <p:spPr>
          <a:xfrm>
            <a:off x="762000" y="1600200"/>
            <a:ext cx="7772400" cy="4114800"/>
          </a:xfrm>
        </p:spPr>
        <p:txBody>
          <a:bodyPr/>
          <a:lstStyle/>
          <a:p>
            <a:pPr>
              <a:buFontTx/>
              <a:buNone/>
            </a:pPr>
            <a:r>
              <a:rPr lang="en-US" sz="2800">
                <a:solidFill>
                  <a:schemeClr val="tx1"/>
                </a:solidFill>
              </a:rPr>
              <a:t>Theorem</a:t>
            </a:r>
            <a:r>
              <a:rPr lang="en-US" sz="2800">
                <a:solidFill>
                  <a:schemeClr val="accent2"/>
                </a:solidFill>
              </a:rPr>
              <a:t>:</a:t>
            </a:r>
            <a:r>
              <a:rPr lang="en-US" sz="2800"/>
              <a:t> The depth of any width </a:t>
            </a:r>
            <a:r>
              <a:rPr lang="en-US" sz="2800">
                <a:solidFill>
                  <a:schemeClr val="tx1"/>
                </a:solidFill>
              </a:rPr>
              <a:t>w</a:t>
            </a:r>
            <a:r>
              <a:rPr lang="en-US" sz="2800"/>
              <a:t> counting network is at least </a:t>
            </a:r>
            <a:r>
              <a:rPr lang="el-GR" sz="2800">
                <a:solidFill>
                  <a:schemeClr val="tx1"/>
                </a:solidFill>
              </a:rPr>
              <a:t>Ω</a:t>
            </a:r>
            <a:r>
              <a:rPr lang="en-US" sz="2800">
                <a:solidFill>
                  <a:schemeClr val="tx1"/>
                </a:solidFill>
                <a:cs typeface="Guttman Rashi" pitchFamily="2" charset="-79"/>
              </a:rPr>
              <a:t>(</a:t>
            </a:r>
            <a:r>
              <a:rPr lang="en-US" sz="2800">
                <a:solidFill>
                  <a:schemeClr val="tx1"/>
                </a:solidFill>
              </a:rPr>
              <a:t>log w).</a:t>
            </a:r>
          </a:p>
          <a:p>
            <a:pPr>
              <a:buFontTx/>
              <a:buNone/>
            </a:pPr>
            <a:r>
              <a:rPr lang="en-US" sz="2800">
                <a:solidFill>
                  <a:schemeClr val="tx1"/>
                </a:solidFill>
              </a:rPr>
              <a:t>Theorem</a:t>
            </a:r>
            <a:r>
              <a:rPr lang="en-US" sz="2800">
                <a:solidFill>
                  <a:schemeClr val="accent2"/>
                </a:solidFill>
              </a:rPr>
              <a:t>:</a:t>
            </a:r>
            <a:r>
              <a:rPr lang="en-US" sz="2800"/>
              <a:t> there exists a counting network of </a:t>
            </a:r>
            <a:r>
              <a:rPr lang="el-GR" sz="2800">
                <a:solidFill>
                  <a:schemeClr val="tx1"/>
                </a:solidFill>
              </a:rPr>
              <a:t>θ</a:t>
            </a:r>
            <a:r>
              <a:rPr lang="en-US" sz="2800">
                <a:solidFill>
                  <a:schemeClr val="tx1"/>
                </a:solidFill>
              </a:rPr>
              <a:t>(log w)</a:t>
            </a:r>
            <a:r>
              <a:rPr lang="en-US" sz="2800"/>
              <a:t> depth.</a:t>
            </a:r>
            <a:endParaRPr lang="el-GR" sz="2800"/>
          </a:p>
          <a:p>
            <a:pPr>
              <a:buFontTx/>
              <a:buNone/>
            </a:pPr>
            <a:r>
              <a:rPr lang="en-US" sz="2800">
                <a:solidFill>
                  <a:srgbClr val="FF3300"/>
                </a:solidFill>
              </a:rPr>
              <a:t>Unfortunately, proof is non-constructive and constants in the 1000s.</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91365F6D-3516-4F23-B815-B96548FA417A}" type="slidenum">
              <a:rPr lang="en-US"/>
              <a:pPr>
                <a:defRPr/>
              </a:pPr>
              <a:t>190</a:t>
            </a:fld>
            <a:endParaRPr lang="en-US"/>
          </a:p>
        </p:txBody>
      </p:sp>
      <p:sp>
        <p:nvSpPr>
          <p:cNvPr id="188420" name="Rectangle 2"/>
          <p:cNvSpPr>
            <a:spLocks noGrp="1" noChangeArrowheads="1"/>
          </p:cNvSpPr>
          <p:nvPr>
            <p:ph type="title"/>
          </p:nvPr>
        </p:nvSpPr>
        <p:spPr/>
        <p:txBody>
          <a:bodyPr/>
          <a:lstStyle/>
          <a:p>
            <a:r>
              <a:rPr lang="en-US"/>
              <a:t>Sequential Theorem</a:t>
            </a:r>
          </a:p>
        </p:txBody>
      </p:sp>
      <p:sp>
        <p:nvSpPr>
          <p:cNvPr id="188421" name="Rectangle 3"/>
          <p:cNvSpPr>
            <a:spLocks noGrp="1" noChangeArrowheads="1"/>
          </p:cNvSpPr>
          <p:nvPr>
            <p:ph type="body" idx="1"/>
          </p:nvPr>
        </p:nvSpPr>
        <p:spPr/>
        <p:txBody>
          <a:bodyPr/>
          <a:lstStyle/>
          <a:p>
            <a:r>
              <a:rPr lang="en-US"/>
              <a:t>If a balancing network counts</a:t>
            </a:r>
          </a:p>
          <a:p>
            <a:pPr lvl="1"/>
            <a:r>
              <a:rPr lang="en-US"/>
              <a:t>Sequentially, meaning that</a:t>
            </a:r>
          </a:p>
          <a:p>
            <a:pPr lvl="1"/>
            <a:r>
              <a:rPr lang="en-US"/>
              <a:t>Tokens traverse one at a time</a:t>
            </a:r>
          </a:p>
          <a:p>
            <a:r>
              <a:rPr lang="en-US"/>
              <a:t>Then it counts</a:t>
            </a:r>
          </a:p>
          <a:p>
            <a:pPr lvl="1"/>
            <a:r>
              <a:rPr lang="en-US"/>
              <a:t>Even if tokens traverse concurrently</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ooter Placeholder 4"/>
          <p:cNvSpPr>
            <a:spLocks noGrp="1"/>
          </p:cNvSpPr>
          <p:nvPr>
            <p:ph type="ftr" sz="quarter" idx="10"/>
          </p:nvPr>
        </p:nvSpPr>
        <p:spPr/>
        <p:txBody>
          <a:bodyPr/>
          <a:lstStyle/>
          <a:p>
            <a:pPr>
              <a:defRPr/>
            </a:pPr>
            <a:r>
              <a:rPr lang="en-US"/>
              <a:t>Art of Multiprocessor Programming</a:t>
            </a:r>
          </a:p>
        </p:txBody>
      </p:sp>
      <p:sp>
        <p:nvSpPr>
          <p:cNvPr id="45" name="Slide Number Placeholder 5"/>
          <p:cNvSpPr>
            <a:spLocks noGrp="1"/>
          </p:cNvSpPr>
          <p:nvPr>
            <p:ph type="sldNum" sz="quarter" idx="11"/>
          </p:nvPr>
        </p:nvSpPr>
        <p:spPr/>
        <p:txBody>
          <a:bodyPr/>
          <a:lstStyle/>
          <a:p>
            <a:pPr>
              <a:defRPr/>
            </a:pPr>
            <a:fld id="{4BFD16FA-B256-4BAE-BDBD-6BC617E1EB9A}" type="slidenum">
              <a:rPr lang="en-US"/>
              <a:pPr>
                <a:defRPr/>
              </a:pPr>
              <a:t>191</a:t>
            </a:fld>
            <a:endParaRPr lang="en-US"/>
          </a:p>
        </p:txBody>
      </p:sp>
      <p:sp>
        <p:nvSpPr>
          <p:cNvPr id="189444" name="Line 2"/>
          <p:cNvSpPr>
            <a:spLocks noChangeShapeType="1"/>
          </p:cNvSpPr>
          <p:nvPr/>
        </p:nvSpPr>
        <p:spPr bwMode="auto">
          <a:xfrm>
            <a:off x="2349500" y="3297238"/>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45" name="Line 3"/>
          <p:cNvSpPr>
            <a:spLocks noChangeShapeType="1"/>
          </p:cNvSpPr>
          <p:nvPr/>
        </p:nvSpPr>
        <p:spPr bwMode="auto">
          <a:xfrm>
            <a:off x="2349500" y="431641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46"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89447"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89448" name="Rectangle 6"/>
          <p:cNvSpPr>
            <a:spLocks noGrp="1" noChangeArrowheads="1"/>
          </p:cNvSpPr>
          <p:nvPr>
            <p:ph type="title"/>
          </p:nvPr>
        </p:nvSpPr>
        <p:spPr/>
        <p:txBody>
          <a:bodyPr/>
          <a:lstStyle/>
          <a:p>
            <a:r>
              <a:rPr lang="en-US"/>
              <a:t>Red First, Blue Second</a:t>
            </a:r>
          </a:p>
        </p:txBody>
      </p:sp>
      <p:sp>
        <p:nvSpPr>
          <p:cNvPr id="189449" name="Line 7"/>
          <p:cNvSpPr>
            <a:spLocks noChangeShapeType="1"/>
          </p:cNvSpPr>
          <p:nvPr/>
        </p:nvSpPr>
        <p:spPr bwMode="auto">
          <a:xfrm>
            <a:off x="2349500" y="2270125"/>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50" name="Line 8"/>
          <p:cNvSpPr>
            <a:spLocks noChangeShapeType="1"/>
          </p:cNvSpPr>
          <p:nvPr/>
        </p:nvSpPr>
        <p:spPr bwMode="auto">
          <a:xfrm>
            <a:off x="2349500" y="5178425"/>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51"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9452" name="AutoShape 10"/>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9453"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9454"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9455"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89456"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89457" name="Group 15"/>
          <p:cNvGrpSpPr>
            <a:grpSpLocks/>
          </p:cNvGrpSpPr>
          <p:nvPr/>
        </p:nvGrpSpPr>
        <p:grpSpPr bwMode="auto">
          <a:xfrm>
            <a:off x="1219200" y="4038600"/>
            <a:ext cx="1377950" cy="423863"/>
            <a:chOff x="1313" y="2496"/>
            <a:chExt cx="1252" cy="427"/>
          </a:xfrm>
        </p:grpSpPr>
        <p:sp>
          <p:nvSpPr>
            <p:cNvPr id="189482" name="Freeform 1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9483" name="Freeform 1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9484" name="Oval 1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9485" name="Oval 1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89458" name="Group 20"/>
          <p:cNvGrpSpPr>
            <a:grpSpLocks/>
          </p:cNvGrpSpPr>
          <p:nvPr/>
        </p:nvGrpSpPr>
        <p:grpSpPr bwMode="auto">
          <a:xfrm>
            <a:off x="1219200" y="4953000"/>
            <a:ext cx="1377950" cy="423863"/>
            <a:chOff x="1313" y="2496"/>
            <a:chExt cx="1252" cy="427"/>
          </a:xfrm>
        </p:grpSpPr>
        <p:sp>
          <p:nvSpPr>
            <p:cNvPr id="189478"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79"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80" name="Oval 23"/>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81" name="Oval 24"/>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89459" name="Freeform 25"/>
          <p:cNvSpPr>
            <a:spLocks/>
          </p:cNvSpPr>
          <p:nvPr/>
        </p:nvSpPr>
        <p:spPr bwMode="auto">
          <a:xfrm>
            <a:off x="2667000" y="2209800"/>
            <a:ext cx="4495800" cy="3124200"/>
          </a:xfrm>
          <a:custGeom>
            <a:avLst/>
            <a:gdLst>
              <a:gd name="T0" fmla="*/ 0 w 2832"/>
              <a:gd name="T1" fmla="*/ 2147483647 h 1968"/>
              <a:gd name="T2" fmla="*/ 2147483647 w 2832"/>
              <a:gd name="T3" fmla="*/ 2147483647 h 1968"/>
              <a:gd name="T4" fmla="*/ 2147483647 w 2832"/>
              <a:gd name="T5" fmla="*/ 2147483647 h 1968"/>
              <a:gd name="T6" fmla="*/ 2147483647 w 2832"/>
              <a:gd name="T7" fmla="*/ 2147483647 h 1968"/>
              <a:gd name="T8" fmla="*/ 2147483647 w 2832"/>
              <a:gd name="T9" fmla="*/ 2147483647 h 1968"/>
              <a:gd name="T10" fmla="*/ 2147483647 w 2832"/>
              <a:gd name="T11" fmla="*/ 2147483647 h 1968"/>
              <a:gd name="T12" fmla="*/ 2147483647 w 2832"/>
              <a:gd name="T13" fmla="*/ 2147483647 h 1968"/>
              <a:gd name="T14" fmla="*/ 2147483647 w 2832"/>
              <a:gd name="T15" fmla="*/ 2147483647 h 1968"/>
              <a:gd name="T16" fmla="*/ 0 60000 65536"/>
              <a:gd name="T17" fmla="*/ 0 60000 65536"/>
              <a:gd name="T18" fmla="*/ 0 60000 65536"/>
              <a:gd name="T19" fmla="*/ 0 60000 65536"/>
              <a:gd name="T20" fmla="*/ 0 60000 65536"/>
              <a:gd name="T21" fmla="*/ 0 60000 65536"/>
              <a:gd name="T22" fmla="*/ 0 60000 65536"/>
              <a:gd name="T23" fmla="*/ 0 60000 65536"/>
              <a:gd name="T24" fmla="*/ 0 w 2832"/>
              <a:gd name="T25" fmla="*/ 0 h 1968"/>
              <a:gd name="T26" fmla="*/ 2832 w 2832"/>
              <a:gd name="T27" fmla="*/ 1968 h 19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32" h="1968">
                <a:moveTo>
                  <a:pt x="0" y="1872"/>
                </a:moveTo>
                <a:cubicBezTo>
                  <a:pt x="76" y="1920"/>
                  <a:pt x="152" y="1968"/>
                  <a:pt x="192" y="1872"/>
                </a:cubicBezTo>
                <a:cubicBezTo>
                  <a:pt x="232" y="1776"/>
                  <a:pt x="128" y="1396"/>
                  <a:pt x="240" y="1296"/>
                </a:cubicBezTo>
                <a:cubicBezTo>
                  <a:pt x="352" y="1196"/>
                  <a:pt x="744" y="1376"/>
                  <a:pt x="864" y="1272"/>
                </a:cubicBezTo>
                <a:cubicBezTo>
                  <a:pt x="984" y="1168"/>
                  <a:pt x="736" y="780"/>
                  <a:pt x="960" y="672"/>
                </a:cubicBezTo>
                <a:cubicBezTo>
                  <a:pt x="1184" y="564"/>
                  <a:pt x="1984" y="720"/>
                  <a:pt x="2208" y="624"/>
                </a:cubicBezTo>
                <a:cubicBezTo>
                  <a:pt x="2432" y="528"/>
                  <a:pt x="2200" y="192"/>
                  <a:pt x="2304" y="96"/>
                </a:cubicBezTo>
                <a:cubicBezTo>
                  <a:pt x="2408" y="0"/>
                  <a:pt x="2722" y="58"/>
                  <a:pt x="2832" y="48"/>
                </a:cubicBezTo>
              </a:path>
            </a:pathLst>
          </a:cu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811034" name="Freeform 26"/>
          <p:cNvSpPr>
            <a:spLocks/>
          </p:cNvSpPr>
          <p:nvPr/>
        </p:nvSpPr>
        <p:spPr bwMode="auto">
          <a:xfrm>
            <a:off x="2590800" y="2151063"/>
            <a:ext cx="4267200" cy="3322637"/>
          </a:xfrm>
          <a:custGeom>
            <a:avLst/>
            <a:gdLst>
              <a:gd name="T0" fmla="*/ 0 w 2688"/>
              <a:gd name="T1" fmla="*/ 2147483647 h 2093"/>
              <a:gd name="T2" fmla="*/ 2147483647 w 2688"/>
              <a:gd name="T3" fmla="*/ 2147483647 h 2093"/>
              <a:gd name="T4" fmla="*/ 2147483647 w 2688"/>
              <a:gd name="T5" fmla="*/ 2147483647 h 2093"/>
              <a:gd name="T6" fmla="*/ 2147483647 w 2688"/>
              <a:gd name="T7" fmla="*/ 2147483647 h 2093"/>
              <a:gd name="T8" fmla="*/ 2147483647 w 2688"/>
              <a:gd name="T9" fmla="*/ 2147483647 h 2093"/>
              <a:gd name="T10" fmla="*/ 2147483647 w 2688"/>
              <a:gd name="T11" fmla="*/ 2147483647 h 2093"/>
              <a:gd name="T12" fmla="*/ 2147483647 w 2688"/>
              <a:gd name="T13" fmla="*/ 2147483647 h 2093"/>
              <a:gd name="T14" fmla="*/ 2147483647 w 2688"/>
              <a:gd name="T15" fmla="*/ 2147483647 h 2093"/>
              <a:gd name="T16" fmla="*/ 0 60000 65536"/>
              <a:gd name="T17" fmla="*/ 0 60000 65536"/>
              <a:gd name="T18" fmla="*/ 0 60000 65536"/>
              <a:gd name="T19" fmla="*/ 0 60000 65536"/>
              <a:gd name="T20" fmla="*/ 0 60000 65536"/>
              <a:gd name="T21" fmla="*/ 0 60000 65536"/>
              <a:gd name="T22" fmla="*/ 0 60000 65536"/>
              <a:gd name="T23" fmla="*/ 0 60000 65536"/>
              <a:gd name="T24" fmla="*/ 0 w 2688"/>
              <a:gd name="T25" fmla="*/ 0 h 2093"/>
              <a:gd name="T26" fmla="*/ 2688 w 2688"/>
              <a:gd name="T27" fmla="*/ 2093 h 20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88" h="2093">
                <a:moveTo>
                  <a:pt x="0" y="1285"/>
                </a:moveTo>
                <a:cubicBezTo>
                  <a:pt x="96" y="1237"/>
                  <a:pt x="188" y="1181"/>
                  <a:pt x="240" y="1285"/>
                </a:cubicBezTo>
                <a:cubicBezTo>
                  <a:pt x="292" y="1389"/>
                  <a:pt x="83" y="1820"/>
                  <a:pt x="312" y="1909"/>
                </a:cubicBezTo>
                <a:cubicBezTo>
                  <a:pt x="541" y="1998"/>
                  <a:pt x="1400" y="2093"/>
                  <a:pt x="1616" y="1821"/>
                </a:cubicBezTo>
                <a:cubicBezTo>
                  <a:pt x="1832" y="1549"/>
                  <a:pt x="1499" y="554"/>
                  <a:pt x="1608" y="277"/>
                </a:cubicBezTo>
                <a:cubicBezTo>
                  <a:pt x="1717" y="0"/>
                  <a:pt x="2160" y="85"/>
                  <a:pt x="2272" y="157"/>
                </a:cubicBezTo>
                <a:cubicBezTo>
                  <a:pt x="2384" y="229"/>
                  <a:pt x="2211" y="609"/>
                  <a:pt x="2280" y="709"/>
                </a:cubicBezTo>
                <a:cubicBezTo>
                  <a:pt x="2349" y="809"/>
                  <a:pt x="2603" y="747"/>
                  <a:pt x="2688" y="757"/>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grpSp>
        <p:nvGrpSpPr>
          <p:cNvPr id="189461" name="Group 27"/>
          <p:cNvGrpSpPr>
            <a:grpSpLocks/>
          </p:cNvGrpSpPr>
          <p:nvPr/>
        </p:nvGrpSpPr>
        <p:grpSpPr bwMode="auto">
          <a:xfrm>
            <a:off x="7073900" y="2057400"/>
            <a:ext cx="1377950" cy="423863"/>
            <a:chOff x="1313" y="2496"/>
            <a:chExt cx="1252" cy="427"/>
          </a:xfrm>
        </p:grpSpPr>
        <p:sp>
          <p:nvSpPr>
            <p:cNvPr id="189474" name="Freeform 2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75" name="Freeform 2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76" name="Oval 30"/>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77" name="Oval 31"/>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 name="Group 32"/>
          <p:cNvGrpSpPr>
            <a:grpSpLocks/>
          </p:cNvGrpSpPr>
          <p:nvPr/>
        </p:nvGrpSpPr>
        <p:grpSpPr bwMode="auto">
          <a:xfrm>
            <a:off x="7073900" y="3086100"/>
            <a:ext cx="1377950" cy="423863"/>
            <a:chOff x="1313" y="2496"/>
            <a:chExt cx="1252" cy="427"/>
          </a:xfrm>
        </p:grpSpPr>
        <p:sp>
          <p:nvSpPr>
            <p:cNvPr id="18947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947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947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947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811045" name="Freeform 37"/>
          <p:cNvSpPr>
            <a:spLocks/>
          </p:cNvSpPr>
          <p:nvPr/>
        </p:nvSpPr>
        <p:spPr bwMode="auto">
          <a:xfrm>
            <a:off x="2667000" y="2209800"/>
            <a:ext cx="4495800" cy="3124200"/>
          </a:xfrm>
          <a:custGeom>
            <a:avLst/>
            <a:gdLst>
              <a:gd name="T0" fmla="*/ 0 w 2832"/>
              <a:gd name="T1" fmla="*/ 2147483647 h 1968"/>
              <a:gd name="T2" fmla="*/ 2147483647 w 2832"/>
              <a:gd name="T3" fmla="*/ 2147483647 h 1968"/>
              <a:gd name="T4" fmla="*/ 2147483647 w 2832"/>
              <a:gd name="T5" fmla="*/ 2147483647 h 1968"/>
              <a:gd name="T6" fmla="*/ 2147483647 w 2832"/>
              <a:gd name="T7" fmla="*/ 2147483647 h 1968"/>
              <a:gd name="T8" fmla="*/ 2147483647 w 2832"/>
              <a:gd name="T9" fmla="*/ 2147483647 h 1968"/>
              <a:gd name="T10" fmla="*/ 2147483647 w 2832"/>
              <a:gd name="T11" fmla="*/ 2147483647 h 1968"/>
              <a:gd name="T12" fmla="*/ 2147483647 w 2832"/>
              <a:gd name="T13" fmla="*/ 2147483647 h 1968"/>
              <a:gd name="T14" fmla="*/ 2147483647 w 2832"/>
              <a:gd name="T15" fmla="*/ 2147483647 h 1968"/>
              <a:gd name="T16" fmla="*/ 0 60000 65536"/>
              <a:gd name="T17" fmla="*/ 0 60000 65536"/>
              <a:gd name="T18" fmla="*/ 0 60000 65536"/>
              <a:gd name="T19" fmla="*/ 0 60000 65536"/>
              <a:gd name="T20" fmla="*/ 0 60000 65536"/>
              <a:gd name="T21" fmla="*/ 0 60000 65536"/>
              <a:gd name="T22" fmla="*/ 0 60000 65536"/>
              <a:gd name="T23" fmla="*/ 0 60000 65536"/>
              <a:gd name="T24" fmla="*/ 0 w 2832"/>
              <a:gd name="T25" fmla="*/ 0 h 1968"/>
              <a:gd name="T26" fmla="*/ 2832 w 2832"/>
              <a:gd name="T27" fmla="*/ 1968 h 19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32" h="1968">
                <a:moveTo>
                  <a:pt x="0" y="1872"/>
                </a:moveTo>
                <a:cubicBezTo>
                  <a:pt x="76" y="1920"/>
                  <a:pt x="152" y="1968"/>
                  <a:pt x="192" y="1872"/>
                </a:cubicBezTo>
                <a:cubicBezTo>
                  <a:pt x="232" y="1776"/>
                  <a:pt x="128" y="1396"/>
                  <a:pt x="240" y="1296"/>
                </a:cubicBezTo>
                <a:cubicBezTo>
                  <a:pt x="352" y="1196"/>
                  <a:pt x="744" y="1376"/>
                  <a:pt x="864" y="1272"/>
                </a:cubicBezTo>
                <a:cubicBezTo>
                  <a:pt x="984" y="1168"/>
                  <a:pt x="736" y="780"/>
                  <a:pt x="960" y="672"/>
                </a:cubicBezTo>
                <a:cubicBezTo>
                  <a:pt x="1184" y="564"/>
                  <a:pt x="1984" y="720"/>
                  <a:pt x="2208" y="624"/>
                </a:cubicBezTo>
                <a:cubicBezTo>
                  <a:pt x="2432" y="528"/>
                  <a:pt x="2200" y="192"/>
                  <a:pt x="2304" y="96"/>
                </a:cubicBezTo>
                <a:cubicBezTo>
                  <a:pt x="2408" y="0"/>
                  <a:pt x="2722" y="58"/>
                  <a:pt x="2832" y="48"/>
                </a:cubicBezTo>
              </a:path>
            </a:pathLst>
          </a:cu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6" name="Group 38"/>
          <p:cNvGrpSpPr>
            <a:grpSpLocks/>
          </p:cNvGrpSpPr>
          <p:nvPr/>
        </p:nvGrpSpPr>
        <p:grpSpPr bwMode="auto">
          <a:xfrm>
            <a:off x="7073900" y="2057400"/>
            <a:ext cx="1377950" cy="423863"/>
            <a:chOff x="1313" y="2496"/>
            <a:chExt cx="1252" cy="427"/>
          </a:xfrm>
        </p:grpSpPr>
        <p:sp>
          <p:nvSpPr>
            <p:cNvPr id="189466" name="Freeform 39"/>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67" name="Freeform 40"/>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68" name="Oval 41"/>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89469" name="Oval 42"/>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89465" name="Text Box 43"/>
          <p:cNvSpPr txBox="1">
            <a:spLocks noChangeArrowheads="1"/>
          </p:cNvSpPr>
          <p:nvPr/>
        </p:nvSpPr>
        <p:spPr bwMode="auto">
          <a:xfrm>
            <a:off x="8169275" y="6234113"/>
            <a:ext cx="730250" cy="304800"/>
          </a:xfrm>
          <a:prstGeom prst="rect">
            <a:avLst/>
          </a:prstGeom>
          <a:noFill/>
          <a:ln w="9525" algn="ctr">
            <a:noFill/>
            <a:miter lim="800000"/>
            <a:headEnd/>
            <a:tailEnd/>
          </a:ln>
        </p:spPr>
        <p:txBody>
          <a:bodyPr>
            <a:spAutoFit/>
          </a:bodyPr>
          <a:lstStyle/>
          <a:p>
            <a:pPr algn="ctr">
              <a:spcBef>
                <a:spcPct val="50000"/>
              </a:spcBef>
            </a:pPr>
            <a:r>
              <a:rPr lang="en-US" sz="1400" b="0" dirty="0">
                <a:solidFill>
                  <a:schemeClr val="tx1"/>
                </a:solidFill>
                <a:latin typeface="Arial" pitchFamily="34" charset="0"/>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1045"/>
                                        </p:tgtEl>
                                        <p:attrNameLst>
                                          <p:attrName>style.visibility</p:attrName>
                                        </p:attrNameLst>
                                      </p:cBhvr>
                                      <p:to>
                                        <p:strVal val="visible"/>
                                      </p:to>
                                    </p:set>
                                    <p:animEffect transition="in" filter="blinds(horizontal)">
                                      <p:cBhvr>
                                        <p:cTn id="7" dur="500"/>
                                        <p:tgtEl>
                                          <p:spTgt spid="81104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11034"/>
                                        </p:tgtEl>
                                        <p:attrNameLst>
                                          <p:attrName>style.visibility</p:attrName>
                                        </p:attrNameLst>
                                      </p:cBhvr>
                                      <p:to>
                                        <p:strVal val="visible"/>
                                      </p:to>
                                    </p:set>
                                    <p:animEffect transition="in" filter="blinds(horizontal)">
                                      <p:cBhvr>
                                        <p:cTn id="15" dur="500"/>
                                        <p:tgtEl>
                                          <p:spTgt spid="811034"/>
                                        </p:tgtEl>
                                      </p:cBhvr>
                                    </p:animEffect>
                                  </p:childTnLst>
                                </p:cTn>
                              </p:par>
                              <p:par>
                                <p:cTn id="16" presetID="3" presetClass="entr" presetSubtype="1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34" grpId="0" animBg="1"/>
      <p:bldP spid="811045"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ooter Placeholder 4"/>
          <p:cNvSpPr>
            <a:spLocks noGrp="1"/>
          </p:cNvSpPr>
          <p:nvPr>
            <p:ph type="ftr" sz="quarter" idx="10"/>
          </p:nvPr>
        </p:nvSpPr>
        <p:spPr/>
        <p:txBody>
          <a:bodyPr/>
          <a:lstStyle/>
          <a:p>
            <a:pPr>
              <a:defRPr/>
            </a:pPr>
            <a:r>
              <a:rPr lang="en-US"/>
              <a:t>Art of Multiprocessor Programming</a:t>
            </a:r>
          </a:p>
        </p:txBody>
      </p:sp>
      <p:sp>
        <p:nvSpPr>
          <p:cNvPr id="50" name="Slide Number Placeholder 5"/>
          <p:cNvSpPr>
            <a:spLocks noGrp="1"/>
          </p:cNvSpPr>
          <p:nvPr>
            <p:ph type="sldNum" sz="quarter" idx="11"/>
          </p:nvPr>
        </p:nvSpPr>
        <p:spPr/>
        <p:txBody>
          <a:bodyPr/>
          <a:lstStyle/>
          <a:p>
            <a:pPr>
              <a:defRPr/>
            </a:pPr>
            <a:fld id="{F69957B9-A60D-4999-80F1-EE2CBC890471}" type="slidenum">
              <a:rPr lang="en-US"/>
              <a:pPr>
                <a:defRPr/>
              </a:pPr>
              <a:t>192</a:t>
            </a:fld>
            <a:endParaRPr lang="en-US"/>
          </a:p>
        </p:txBody>
      </p:sp>
      <p:sp>
        <p:nvSpPr>
          <p:cNvPr id="190468" name="Line 2"/>
          <p:cNvSpPr>
            <a:spLocks noChangeShapeType="1"/>
          </p:cNvSpPr>
          <p:nvPr/>
        </p:nvSpPr>
        <p:spPr bwMode="auto">
          <a:xfrm>
            <a:off x="2289175" y="34337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69" name="Line 3"/>
          <p:cNvSpPr>
            <a:spLocks noChangeShapeType="1"/>
          </p:cNvSpPr>
          <p:nvPr/>
        </p:nvSpPr>
        <p:spPr bwMode="auto">
          <a:xfrm>
            <a:off x="2289175" y="23082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70" name="Line 4"/>
          <p:cNvSpPr>
            <a:spLocks noChangeShapeType="1"/>
          </p:cNvSpPr>
          <p:nvPr/>
        </p:nvSpPr>
        <p:spPr bwMode="auto">
          <a:xfrm>
            <a:off x="2289175"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71" name="Line 5"/>
          <p:cNvSpPr>
            <a:spLocks noChangeShapeType="1"/>
          </p:cNvSpPr>
          <p:nvPr/>
        </p:nvSpPr>
        <p:spPr bwMode="auto">
          <a:xfrm>
            <a:off x="2319338" y="5178425"/>
            <a:ext cx="4564062"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90472" name="Line 6"/>
          <p:cNvSpPr>
            <a:spLocks noChangeShapeType="1"/>
          </p:cNvSpPr>
          <p:nvPr/>
        </p:nvSpPr>
        <p:spPr bwMode="auto">
          <a:xfrm>
            <a:off x="2319338" y="2308225"/>
            <a:ext cx="4564062"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90473" name="Line 7"/>
          <p:cNvSpPr>
            <a:spLocks noChangeShapeType="1"/>
          </p:cNvSpPr>
          <p:nvPr/>
        </p:nvSpPr>
        <p:spPr bwMode="auto">
          <a:xfrm>
            <a:off x="2319338" y="3433763"/>
            <a:ext cx="4564062"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90474" name="Line 8"/>
          <p:cNvSpPr>
            <a:spLocks noChangeShapeType="1"/>
          </p:cNvSpPr>
          <p:nvPr/>
        </p:nvSpPr>
        <p:spPr bwMode="auto">
          <a:xfrm>
            <a:off x="2319338" y="4316413"/>
            <a:ext cx="4564062"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90475" name="Line 9"/>
          <p:cNvSpPr>
            <a:spLocks noChangeShapeType="1"/>
          </p:cNvSpPr>
          <p:nvPr/>
        </p:nvSpPr>
        <p:spPr bwMode="auto">
          <a:xfrm>
            <a:off x="2349500" y="34337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76" name="Line 10"/>
          <p:cNvSpPr>
            <a:spLocks noChangeShapeType="1"/>
          </p:cNvSpPr>
          <p:nvPr/>
        </p:nvSpPr>
        <p:spPr bwMode="auto">
          <a:xfrm>
            <a:off x="2349500"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77" name="Oval 11"/>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90478" name="Oval 12"/>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90479" name="Rectangle 13"/>
          <p:cNvSpPr>
            <a:spLocks noGrp="1" noChangeArrowheads="1"/>
          </p:cNvSpPr>
          <p:nvPr>
            <p:ph type="title"/>
          </p:nvPr>
        </p:nvSpPr>
        <p:spPr/>
        <p:txBody>
          <a:bodyPr/>
          <a:lstStyle/>
          <a:p>
            <a:r>
              <a:rPr lang="en-US"/>
              <a:t>Blue First, Red Second</a:t>
            </a:r>
          </a:p>
        </p:txBody>
      </p:sp>
      <p:sp>
        <p:nvSpPr>
          <p:cNvPr id="190480" name="Line 14"/>
          <p:cNvSpPr>
            <a:spLocks noChangeShapeType="1"/>
          </p:cNvSpPr>
          <p:nvPr/>
        </p:nvSpPr>
        <p:spPr bwMode="auto">
          <a:xfrm>
            <a:off x="2349500" y="23082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81" name="Line 15"/>
          <p:cNvSpPr>
            <a:spLocks noChangeShapeType="1"/>
          </p:cNvSpPr>
          <p:nvPr/>
        </p:nvSpPr>
        <p:spPr bwMode="auto">
          <a:xfrm>
            <a:off x="2349500" y="5178425"/>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190482" name="Group 16"/>
          <p:cNvGrpSpPr>
            <a:grpSpLocks/>
          </p:cNvGrpSpPr>
          <p:nvPr/>
        </p:nvGrpSpPr>
        <p:grpSpPr bwMode="auto">
          <a:xfrm>
            <a:off x="1219200" y="4038600"/>
            <a:ext cx="1377950" cy="423863"/>
            <a:chOff x="1313" y="2496"/>
            <a:chExt cx="1252" cy="427"/>
          </a:xfrm>
        </p:grpSpPr>
        <p:sp>
          <p:nvSpPr>
            <p:cNvPr id="190511" name="Freeform 1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0512" name="Freeform 1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0513" name="Oval 1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0514" name="Oval 2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90483" name="Group 21"/>
          <p:cNvGrpSpPr>
            <a:grpSpLocks/>
          </p:cNvGrpSpPr>
          <p:nvPr/>
        </p:nvGrpSpPr>
        <p:grpSpPr bwMode="auto">
          <a:xfrm>
            <a:off x="1219200" y="4953000"/>
            <a:ext cx="1377950" cy="423863"/>
            <a:chOff x="1313" y="2496"/>
            <a:chExt cx="1252" cy="427"/>
          </a:xfrm>
        </p:grpSpPr>
        <p:sp>
          <p:nvSpPr>
            <p:cNvPr id="190507" name="Freeform 2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0508" name="Freeform 2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0509" name="Oval 24"/>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0510" name="Oval 25"/>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4" name="Group 26"/>
          <p:cNvGrpSpPr>
            <a:grpSpLocks/>
          </p:cNvGrpSpPr>
          <p:nvPr/>
        </p:nvGrpSpPr>
        <p:grpSpPr bwMode="auto">
          <a:xfrm>
            <a:off x="6908800" y="2095500"/>
            <a:ext cx="1377950" cy="423863"/>
            <a:chOff x="1313" y="2496"/>
            <a:chExt cx="1252" cy="427"/>
          </a:xfrm>
        </p:grpSpPr>
        <p:sp>
          <p:nvSpPr>
            <p:cNvPr id="190503" name="Freeform 2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0504" name="Freeform 2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0505" name="Oval 2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0506" name="Oval 3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 name="Group 31"/>
          <p:cNvGrpSpPr>
            <a:grpSpLocks/>
          </p:cNvGrpSpPr>
          <p:nvPr/>
        </p:nvGrpSpPr>
        <p:grpSpPr bwMode="auto">
          <a:xfrm>
            <a:off x="6908800" y="3213100"/>
            <a:ext cx="1377950" cy="423863"/>
            <a:chOff x="1313" y="2496"/>
            <a:chExt cx="1252" cy="427"/>
          </a:xfrm>
        </p:grpSpPr>
        <p:sp>
          <p:nvSpPr>
            <p:cNvPr id="190499" name="Freeform 3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0500" name="Freeform 3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0501" name="Oval 34"/>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0502" name="Oval 35"/>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90486" name="Line 36"/>
          <p:cNvSpPr>
            <a:spLocks noChangeShapeType="1"/>
          </p:cNvSpPr>
          <p:nvPr/>
        </p:nvSpPr>
        <p:spPr bwMode="auto">
          <a:xfrm>
            <a:off x="2289175" y="343376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87" name="Line 37"/>
          <p:cNvSpPr>
            <a:spLocks noChangeShapeType="1"/>
          </p:cNvSpPr>
          <p:nvPr/>
        </p:nvSpPr>
        <p:spPr bwMode="auto">
          <a:xfrm>
            <a:off x="2289175" y="4316413"/>
            <a:ext cx="4564063"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88" name="AutoShape 38"/>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0489" name="AutoShape 39"/>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0490" name="AutoShape 40"/>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0491" name="AutoShape 41"/>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0492" name="AutoShape 42"/>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0493" name="Text Box 43"/>
          <p:cNvSpPr txBox="1">
            <a:spLocks noChangeArrowheads="1"/>
          </p:cNvSpPr>
          <p:nvPr/>
        </p:nvSpPr>
        <p:spPr bwMode="auto">
          <a:xfrm>
            <a:off x="8169275" y="6234113"/>
            <a:ext cx="730250" cy="304800"/>
          </a:xfrm>
          <a:prstGeom prst="rect">
            <a:avLst/>
          </a:prstGeom>
          <a:noFill/>
          <a:ln w="9525" algn="ctr">
            <a:noFill/>
            <a:miter lim="800000"/>
            <a:headEnd/>
            <a:tailEnd/>
          </a:ln>
        </p:spPr>
        <p:txBody>
          <a:bodyPr>
            <a:spAutoFit/>
          </a:bodyPr>
          <a:lstStyle/>
          <a:p>
            <a:pPr algn="ctr">
              <a:spcBef>
                <a:spcPct val="50000"/>
              </a:spcBef>
            </a:pPr>
            <a:r>
              <a:rPr lang="en-US" sz="1400" b="0" dirty="0">
                <a:solidFill>
                  <a:schemeClr val="tx1"/>
                </a:solidFill>
                <a:latin typeface="Arial" pitchFamily="34" charset="0"/>
              </a:rPr>
              <a:t>(2)</a:t>
            </a:r>
          </a:p>
        </p:txBody>
      </p:sp>
      <p:sp>
        <p:nvSpPr>
          <p:cNvPr id="190494" name="Oval 44"/>
          <p:cNvSpPr>
            <a:spLocks noChangeArrowheads="1"/>
          </p:cNvSpPr>
          <p:nvPr/>
        </p:nvSpPr>
        <p:spPr bwMode="auto">
          <a:xfrm>
            <a:off x="4800600" y="3319463"/>
            <a:ext cx="658813"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90495" name="Oval 45"/>
          <p:cNvSpPr>
            <a:spLocks noChangeArrowheads="1"/>
          </p:cNvSpPr>
          <p:nvPr/>
        </p:nvSpPr>
        <p:spPr bwMode="auto">
          <a:xfrm>
            <a:off x="4800600" y="4191000"/>
            <a:ext cx="658813"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90496" name="AutoShape 46"/>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813103" name="Freeform 47"/>
          <p:cNvSpPr>
            <a:spLocks/>
          </p:cNvSpPr>
          <p:nvPr/>
        </p:nvSpPr>
        <p:spPr bwMode="auto">
          <a:xfrm>
            <a:off x="2667000" y="2120900"/>
            <a:ext cx="4330700" cy="3316288"/>
          </a:xfrm>
          <a:custGeom>
            <a:avLst/>
            <a:gdLst>
              <a:gd name="T0" fmla="*/ 0 w 2728"/>
              <a:gd name="T1" fmla="*/ 2147483647 h 2089"/>
              <a:gd name="T2" fmla="*/ 2147483647 w 2728"/>
              <a:gd name="T3" fmla="*/ 2147483647 h 2089"/>
              <a:gd name="T4" fmla="*/ 2147483647 w 2728"/>
              <a:gd name="T5" fmla="*/ 2147483647 h 2089"/>
              <a:gd name="T6" fmla="*/ 2147483647 w 2728"/>
              <a:gd name="T7" fmla="*/ 2147483647 h 2089"/>
              <a:gd name="T8" fmla="*/ 2147483647 w 2728"/>
              <a:gd name="T9" fmla="*/ 2147483647 h 2089"/>
              <a:gd name="T10" fmla="*/ 2147483647 w 2728"/>
              <a:gd name="T11" fmla="*/ 2147483647 h 2089"/>
              <a:gd name="T12" fmla="*/ 0 60000 65536"/>
              <a:gd name="T13" fmla="*/ 0 60000 65536"/>
              <a:gd name="T14" fmla="*/ 0 60000 65536"/>
              <a:gd name="T15" fmla="*/ 0 60000 65536"/>
              <a:gd name="T16" fmla="*/ 0 60000 65536"/>
              <a:gd name="T17" fmla="*/ 0 60000 65536"/>
              <a:gd name="T18" fmla="*/ 0 w 2728"/>
              <a:gd name="T19" fmla="*/ 0 h 2089"/>
              <a:gd name="T20" fmla="*/ 2728 w 2728"/>
              <a:gd name="T21" fmla="*/ 2089 h 2089"/>
            </a:gdLst>
            <a:ahLst/>
            <a:cxnLst>
              <a:cxn ang="T12">
                <a:pos x="T0" y="T1"/>
              </a:cxn>
              <a:cxn ang="T13">
                <a:pos x="T2" y="T3"/>
              </a:cxn>
              <a:cxn ang="T14">
                <a:pos x="T4" y="T5"/>
              </a:cxn>
              <a:cxn ang="T15">
                <a:pos x="T6" y="T7"/>
              </a:cxn>
              <a:cxn ang="T16">
                <a:pos x="T8" y="T9"/>
              </a:cxn>
              <a:cxn ang="T17">
                <a:pos x="T10" y="T11"/>
              </a:cxn>
            </a:cxnLst>
            <a:rect l="T18" t="T19" r="T20" b="T21"/>
            <a:pathLst>
              <a:path w="2728" h="2089">
                <a:moveTo>
                  <a:pt x="0" y="1832"/>
                </a:moveTo>
                <a:cubicBezTo>
                  <a:pt x="245" y="1832"/>
                  <a:pt x="1209" y="2089"/>
                  <a:pt x="1472" y="1832"/>
                </a:cubicBezTo>
                <a:cubicBezTo>
                  <a:pt x="1735" y="1575"/>
                  <a:pt x="1461" y="576"/>
                  <a:pt x="1576" y="288"/>
                </a:cubicBezTo>
                <a:cubicBezTo>
                  <a:pt x="1691" y="0"/>
                  <a:pt x="2047" y="37"/>
                  <a:pt x="2160" y="104"/>
                </a:cubicBezTo>
                <a:cubicBezTo>
                  <a:pt x="2273" y="171"/>
                  <a:pt x="2161" y="576"/>
                  <a:pt x="2256" y="688"/>
                </a:cubicBezTo>
                <a:cubicBezTo>
                  <a:pt x="2351" y="800"/>
                  <a:pt x="2630" y="758"/>
                  <a:pt x="2728" y="776"/>
                </a:cubicBezTo>
              </a:path>
            </a:pathLst>
          </a:custGeom>
          <a:noFill/>
          <a:ln w="76200">
            <a:solidFill>
              <a:srgbClr val="FF5050"/>
            </a:solidFill>
            <a:round/>
            <a:headEnd/>
            <a:tailEnd type="triangle" w="med" len="med"/>
          </a:ln>
        </p:spPr>
        <p:txBody>
          <a:bodyPr wrap="none" anchor="ctr"/>
          <a:lstStyle/>
          <a:p>
            <a:endParaRPr lang="en-US" dirty="0">
              <a:latin typeface="Courier New" pitchFamily="49" charset="0"/>
            </a:endParaRPr>
          </a:p>
        </p:txBody>
      </p:sp>
      <p:sp>
        <p:nvSpPr>
          <p:cNvPr id="813104" name="Freeform 48"/>
          <p:cNvSpPr>
            <a:spLocks/>
          </p:cNvSpPr>
          <p:nvPr/>
        </p:nvSpPr>
        <p:spPr bwMode="auto">
          <a:xfrm>
            <a:off x="2667000" y="2020888"/>
            <a:ext cx="4343400" cy="2322512"/>
          </a:xfrm>
          <a:custGeom>
            <a:avLst/>
            <a:gdLst>
              <a:gd name="T0" fmla="*/ 0 w 2736"/>
              <a:gd name="T1" fmla="*/ 2147483647 h 1463"/>
              <a:gd name="T2" fmla="*/ 2147483647 w 2736"/>
              <a:gd name="T3" fmla="*/ 2147483647 h 1463"/>
              <a:gd name="T4" fmla="*/ 2147483647 w 2736"/>
              <a:gd name="T5" fmla="*/ 2147483647 h 1463"/>
              <a:gd name="T6" fmla="*/ 2147483647 w 2736"/>
              <a:gd name="T7" fmla="*/ 2147483647 h 1463"/>
              <a:gd name="T8" fmla="*/ 2147483647 w 2736"/>
              <a:gd name="T9" fmla="*/ 2147483647 h 1463"/>
              <a:gd name="T10" fmla="*/ 2147483647 w 2736"/>
              <a:gd name="T11" fmla="*/ 2147483647 h 1463"/>
              <a:gd name="T12" fmla="*/ 0 60000 65536"/>
              <a:gd name="T13" fmla="*/ 0 60000 65536"/>
              <a:gd name="T14" fmla="*/ 0 60000 65536"/>
              <a:gd name="T15" fmla="*/ 0 60000 65536"/>
              <a:gd name="T16" fmla="*/ 0 60000 65536"/>
              <a:gd name="T17" fmla="*/ 0 60000 65536"/>
              <a:gd name="T18" fmla="*/ 0 w 2736"/>
              <a:gd name="T19" fmla="*/ 0 h 1463"/>
              <a:gd name="T20" fmla="*/ 2736 w 2736"/>
              <a:gd name="T21" fmla="*/ 1463 h 1463"/>
            </a:gdLst>
            <a:ahLst/>
            <a:cxnLst>
              <a:cxn ang="T12">
                <a:pos x="T0" y="T1"/>
              </a:cxn>
              <a:cxn ang="T13">
                <a:pos x="T2" y="T3"/>
              </a:cxn>
              <a:cxn ang="T14">
                <a:pos x="T4" y="T5"/>
              </a:cxn>
              <a:cxn ang="T15">
                <a:pos x="T6" y="T7"/>
              </a:cxn>
              <a:cxn ang="T16">
                <a:pos x="T8" y="T9"/>
              </a:cxn>
              <a:cxn ang="T17">
                <a:pos x="T10" y="T11"/>
              </a:cxn>
            </a:cxnLst>
            <a:rect l="T18" t="T19" r="T20" b="T21"/>
            <a:pathLst>
              <a:path w="2736" h="1463">
                <a:moveTo>
                  <a:pt x="0" y="1367"/>
                </a:moveTo>
                <a:cubicBezTo>
                  <a:pt x="332" y="1415"/>
                  <a:pt x="664" y="1463"/>
                  <a:pt x="816" y="1367"/>
                </a:cubicBezTo>
                <a:cubicBezTo>
                  <a:pt x="968" y="1271"/>
                  <a:pt x="692" y="872"/>
                  <a:pt x="912" y="791"/>
                </a:cubicBezTo>
                <a:cubicBezTo>
                  <a:pt x="1132" y="710"/>
                  <a:pt x="1907" y="990"/>
                  <a:pt x="2136" y="879"/>
                </a:cubicBezTo>
                <a:cubicBezTo>
                  <a:pt x="2365" y="768"/>
                  <a:pt x="2188" y="254"/>
                  <a:pt x="2288" y="127"/>
                </a:cubicBezTo>
                <a:cubicBezTo>
                  <a:pt x="2388" y="0"/>
                  <a:pt x="2643" y="121"/>
                  <a:pt x="2736" y="119"/>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3104"/>
                                        </p:tgtEl>
                                        <p:attrNameLst>
                                          <p:attrName>style.visibility</p:attrName>
                                        </p:attrNameLst>
                                      </p:cBhvr>
                                      <p:to>
                                        <p:strVal val="visible"/>
                                      </p:to>
                                    </p:set>
                                    <p:animEffect transition="in" filter="blinds(horizontal)">
                                      <p:cBhvr>
                                        <p:cTn id="7" dur="500"/>
                                        <p:tgtEl>
                                          <p:spTgt spid="813104"/>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13103"/>
                                        </p:tgtEl>
                                        <p:attrNameLst>
                                          <p:attrName>style.visibility</p:attrName>
                                        </p:attrNameLst>
                                      </p:cBhvr>
                                      <p:to>
                                        <p:strVal val="visible"/>
                                      </p:to>
                                    </p:set>
                                    <p:animEffect transition="in" filter="blinds(horizontal)">
                                      <p:cBhvr>
                                        <p:cTn id="15" dur="500"/>
                                        <p:tgtEl>
                                          <p:spTgt spid="813103"/>
                                        </p:tgtEl>
                                      </p:cBhvr>
                                    </p:animEffect>
                                  </p:childTnLst>
                                </p:cTn>
                              </p:par>
                              <p:par>
                                <p:cTn id="16" presetID="3" presetClass="entr" presetSubtype="1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103" grpId="0" animBg="1"/>
      <p:bldP spid="813104" grpId="0" animBg="1"/>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oter Placeholder 4"/>
          <p:cNvSpPr>
            <a:spLocks noGrp="1"/>
          </p:cNvSpPr>
          <p:nvPr>
            <p:ph type="ftr" sz="quarter" idx="10"/>
          </p:nvPr>
        </p:nvSpPr>
        <p:spPr/>
        <p:txBody>
          <a:bodyPr/>
          <a:lstStyle/>
          <a:p>
            <a:pPr>
              <a:defRPr/>
            </a:pPr>
            <a:r>
              <a:rPr lang="en-US"/>
              <a:t>Art of Multiprocessor Programming</a:t>
            </a:r>
          </a:p>
        </p:txBody>
      </p:sp>
      <p:sp>
        <p:nvSpPr>
          <p:cNvPr id="44" name="Slide Number Placeholder 5"/>
          <p:cNvSpPr>
            <a:spLocks noGrp="1"/>
          </p:cNvSpPr>
          <p:nvPr>
            <p:ph type="sldNum" sz="quarter" idx="11"/>
          </p:nvPr>
        </p:nvSpPr>
        <p:spPr/>
        <p:txBody>
          <a:bodyPr/>
          <a:lstStyle/>
          <a:p>
            <a:pPr>
              <a:defRPr/>
            </a:pPr>
            <a:fld id="{E6D0AD97-2993-479B-A80B-2AD0CA353CD3}" type="slidenum">
              <a:rPr lang="en-US"/>
              <a:pPr>
                <a:defRPr/>
              </a:pPr>
              <a:t>193</a:t>
            </a:fld>
            <a:endParaRPr lang="en-US"/>
          </a:p>
        </p:txBody>
      </p:sp>
      <p:sp>
        <p:nvSpPr>
          <p:cNvPr id="191492" name="Line 2"/>
          <p:cNvSpPr>
            <a:spLocks noChangeShapeType="1"/>
          </p:cNvSpPr>
          <p:nvPr/>
        </p:nvSpPr>
        <p:spPr bwMode="auto">
          <a:xfrm>
            <a:off x="2349500" y="322421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91493" name="Line 3"/>
          <p:cNvSpPr>
            <a:spLocks noChangeShapeType="1"/>
          </p:cNvSpPr>
          <p:nvPr/>
        </p:nvSpPr>
        <p:spPr bwMode="auto">
          <a:xfrm>
            <a:off x="2349500" y="4316413"/>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91494"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91495"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191496" name="Rectangle 6"/>
          <p:cNvSpPr>
            <a:spLocks noGrp="1" noChangeArrowheads="1"/>
          </p:cNvSpPr>
          <p:nvPr>
            <p:ph type="title"/>
          </p:nvPr>
        </p:nvSpPr>
        <p:spPr/>
        <p:txBody>
          <a:bodyPr/>
          <a:lstStyle/>
          <a:p>
            <a:r>
              <a:rPr lang="en-US"/>
              <a:t>Either Way</a:t>
            </a:r>
          </a:p>
        </p:txBody>
      </p:sp>
      <p:sp>
        <p:nvSpPr>
          <p:cNvPr id="191497" name="Line 7"/>
          <p:cNvSpPr>
            <a:spLocks noChangeShapeType="1"/>
          </p:cNvSpPr>
          <p:nvPr/>
        </p:nvSpPr>
        <p:spPr bwMode="auto">
          <a:xfrm>
            <a:off x="2349500" y="2330450"/>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91498" name="Line 8"/>
          <p:cNvSpPr>
            <a:spLocks noChangeShapeType="1"/>
          </p:cNvSpPr>
          <p:nvPr/>
        </p:nvSpPr>
        <p:spPr bwMode="auto">
          <a:xfrm>
            <a:off x="2349500" y="5178425"/>
            <a:ext cx="4564063"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191499"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1500" name="AutoShape 10"/>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1501"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1502"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1503"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191504"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191505" name="Group 15"/>
          <p:cNvGrpSpPr>
            <a:grpSpLocks/>
          </p:cNvGrpSpPr>
          <p:nvPr/>
        </p:nvGrpSpPr>
        <p:grpSpPr bwMode="auto">
          <a:xfrm>
            <a:off x="6985000" y="1968500"/>
            <a:ext cx="1377950" cy="423863"/>
            <a:chOff x="1313" y="2496"/>
            <a:chExt cx="1252" cy="427"/>
          </a:xfrm>
        </p:grpSpPr>
        <p:sp>
          <p:nvSpPr>
            <p:cNvPr id="191529" name="Freeform 1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1530" name="Freeform 1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1531" name="Oval 18"/>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1532" name="Oval 19"/>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91506" name="Group 20"/>
          <p:cNvGrpSpPr>
            <a:grpSpLocks/>
          </p:cNvGrpSpPr>
          <p:nvPr/>
        </p:nvGrpSpPr>
        <p:grpSpPr bwMode="auto">
          <a:xfrm>
            <a:off x="6985000" y="2882900"/>
            <a:ext cx="1377950" cy="423863"/>
            <a:chOff x="1313" y="2496"/>
            <a:chExt cx="1252" cy="427"/>
          </a:xfrm>
        </p:grpSpPr>
        <p:sp>
          <p:nvSpPr>
            <p:cNvPr id="191525"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1526"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1527" name="Oval 23"/>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191528" name="Oval 24"/>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91507" name="Group 25"/>
          <p:cNvGrpSpPr>
            <a:grpSpLocks/>
          </p:cNvGrpSpPr>
          <p:nvPr/>
        </p:nvGrpSpPr>
        <p:grpSpPr bwMode="auto">
          <a:xfrm>
            <a:off x="2413000" y="3949700"/>
            <a:ext cx="2159000" cy="889000"/>
            <a:chOff x="1520" y="2488"/>
            <a:chExt cx="1360" cy="560"/>
          </a:xfrm>
        </p:grpSpPr>
        <p:sp>
          <p:nvSpPr>
            <p:cNvPr id="191522" name="AutoShape 26"/>
            <p:cNvSpPr>
              <a:spLocks noChangeArrowheads="1"/>
            </p:cNvSpPr>
            <p:nvPr/>
          </p:nvSpPr>
          <p:spPr bwMode="auto">
            <a:xfrm>
              <a:off x="1520" y="2488"/>
              <a:ext cx="1360" cy="560"/>
            </a:xfrm>
            <a:prstGeom prst="wedgeRoundRectCallout">
              <a:avLst>
                <a:gd name="adj1" fmla="val -59046"/>
                <a:gd name="adj2" fmla="val -160000"/>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dirty="0">
                <a:latin typeface="Arial" pitchFamily="34" charset="0"/>
              </a:endParaRPr>
            </a:p>
          </p:txBody>
        </p:sp>
        <p:sp>
          <p:nvSpPr>
            <p:cNvPr id="191523" name="Line 27"/>
            <p:cNvSpPr>
              <a:spLocks noChangeShapeType="1"/>
            </p:cNvSpPr>
            <p:nvPr/>
          </p:nvSpPr>
          <p:spPr bwMode="auto">
            <a:xfrm>
              <a:off x="1808" y="2720"/>
              <a:ext cx="192"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91524" name="Line 28"/>
            <p:cNvSpPr>
              <a:spLocks noChangeShapeType="1"/>
            </p:cNvSpPr>
            <p:nvPr/>
          </p:nvSpPr>
          <p:spPr bwMode="auto">
            <a:xfrm>
              <a:off x="2496" y="2720"/>
              <a:ext cx="192"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grpSp>
        <p:nvGrpSpPr>
          <p:cNvPr id="191508" name="Group 29"/>
          <p:cNvGrpSpPr>
            <a:grpSpLocks/>
          </p:cNvGrpSpPr>
          <p:nvPr/>
        </p:nvGrpSpPr>
        <p:grpSpPr bwMode="auto">
          <a:xfrm>
            <a:off x="1219200" y="4038600"/>
            <a:ext cx="1377950" cy="423863"/>
            <a:chOff x="1313" y="2496"/>
            <a:chExt cx="1252" cy="427"/>
          </a:xfrm>
        </p:grpSpPr>
        <p:sp>
          <p:nvSpPr>
            <p:cNvPr id="191518" name="Freeform 3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1519" name="Freeform 3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1520" name="Oval 3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1521" name="Oval 3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91509" name="Group 34"/>
          <p:cNvGrpSpPr>
            <a:grpSpLocks/>
          </p:cNvGrpSpPr>
          <p:nvPr/>
        </p:nvGrpSpPr>
        <p:grpSpPr bwMode="auto">
          <a:xfrm>
            <a:off x="1219200" y="4953000"/>
            <a:ext cx="1377950" cy="423863"/>
            <a:chOff x="1313" y="2496"/>
            <a:chExt cx="1252" cy="427"/>
          </a:xfrm>
        </p:grpSpPr>
        <p:sp>
          <p:nvSpPr>
            <p:cNvPr id="191514" name="Freeform 3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1515" name="Freeform 3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1516" name="Oval 37"/>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191517" name="Oval 38"/>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91510" name="Text Box 39"/>
          <p:cNvSpPr txBox="1">
            <a:spLocks noChangeArrowheads="1"/>
          </p:cNvSpPr>
          <p:nvPr/>
        </p:nvSpPr>
        <p:spPr bwMode="auto">
          <a:xfrm>
            <a:off x="546100" y="2433638"/>
            <a:ext cx="3244850" cy="457200"/>
          </a:xfrm>
          <a:prstGeom prst="rect">
            <a:avLst/>
          </a:prstGeom>
          <a:solidFill>
            <a:schemeClr val="bg1">
              <a:alpha val="74901"/>
            </a:schemeClr>
          </a:solidFill>
          <a:ln w="9525" algn="ctr">
            <a:noFill/>
            <a:miter lim="800000"/>
            <a:headEnd/>
            <a:tailEnd/>
          </a:ln>
        </p:spPr>
        <p:txBody>
          <a:bodyPr wrap="none">
            <a:spAutoFit/>
          </a:bodyPr>
          <a:lstStyle/>
          <a:p>
            <a:pPr algn="ctr">
              <a:spcBef>
                <a:spcPct val="0"/>
              </a:spcBef>
            </a:pPr>
            <a:r>
              <a:rPr lang="en-US" b="0" dirty="0">
                <a:latin typeface="Arial" pitchFamily="34" charset="0"/>
                <a:cs typeface="Arial" pitchFamily="34" charset="0"/>
              </a:rPr>
              <a:t>Same balancer states</a:t>
            </a:r>
          </a:p>
        </p:txBody>
      </p:sp>
      <p:sp>
        <p:nvSpPr>
          <p:cNvPr id="191511" name="AutoShape 40"/>
          <p:cNvSpPr>
            <a:spLocks noChangeArrowheads="1"/>
          </p:cNvSpPr>
          <p:nvPr/>
        </p:nvSpPr>
        <p:spPr bwMode="auto">
          <a:xfrm>
            <a:off x="4572000" y="1841500"/>
            <a:ext cx="2159000" cy="889000"/>
          </a:xfrm>
          <a:prstGeom prst="wedgeRoundRectCallout">
            <a:avLst>
              <a:gd name="adj1" fmla="val -86102"/>
              <a:gd name="adj2" fmla="val 38569"/>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dirty="0">
              <a:latin typeface="Arial" pitchFamily="34" charset="0"/>
            </a:endParaRPr>
          </a:p>
        </p:txBody>
      </p:sp>
      <p:sp>
        <p:nvSpPr>
          <p:cNvPr id="191512" name="Line 41"/>
          <p:cNvSpPr>
            <a:spLocks noChangeShapeType="1"/>
          </p:cNvSpPr>
          <p:nvPr/>
        </p:nvSpPr>
        <p:spPr bwMode="auto">
          <a:xfrm>
            <a:off x="5054600" y="233045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91513" name="Line 42"/>
          <p:cNvSpPr>
            <a:spLocks noChangeShapeType="1"/>
          </p:cNvSpPr>
          <p:nvPr/>
        </p:nvSpPr>
        <p:spPr bwMode="auto">
          <a:xfrm>
            <a:off x="6134100" y="233045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ooter Placeholder 4"/>
          <p:cNvSpPr>
            <a:spLocks noGrp="1"/>
          </p:cNvSpPr>
          <p:nvPr>
            <p:ph type="ftr" sz="quarter" idx="10"/>
          </p:nvPr>
        </p:nvSpPr>
        <p:spPr/>
        <p:txBody>
          <a:bodyPr/>
          <a:lstStyle/>
          <a:p>
            <a:pPr>
              <a:defRPr/>
            </a:pPr>
            <a:r>
              <a:rPr lang="en-US"/>
              <a:t>Art of Multiprocessor Programming</a:t>
            </a:r>
          </a:p>
        </p:txBody>
      </p:sp>
      <p:sp>
        <p:nvSpPr>
          <p:cNvPr id="47" name="Slide Number Placeholder 5"/>
          <p:cNvSpPr>
            <a:spLocks noGrp="1"/>
          </p:cNvSpPr>
          <p:nvPr>
            <p:ph type="sldNum" sz="quarter" idx="11"/>
          </p:nvPr>
        </p:nvSpPr>
        <p:spPr/>
        <p:txBody>
          <a:bodyPr/>
          <a:lstStyle/>
          <a:p>
            <a:pPr>
              <a:defRPr/>
            </a:pPr>
            <a:fld id="{4EF6D391-EE3F-431A-8C94-961317D2A494}" type="slidenum">
              <a:rPr lang="en-US"/>
              <a:pPr>
                <a:defRPr/>
              </a:pPr>
              <a:t>194</a:t>
            </a:fld>
            <a:endParaRPr lang="en-US"/>
          </a:p>
        </p:txBody>
      </p:sp>
      <p:sp>
        <p:nvSpPr>
          <p:cNvPr id="192516" name="Line 2"/>
          <p:cNvSpPr>
            <a:spLocks noChangeShapeType="1"/>
          </p:cNvSpPr>
          <p:nvPr/>
        </p:nvSpPr>
        <p:spPr bwMode="auto">
          <a:xfrm>
            <a:off x="2349500" y="3224213"/>
            <a:ext cx="4564063"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2517" name="Line 3"/>
          <p:cNvSpPr>
            <a:spLocks noChangeShapeType="1"/>
          </p:cNvSpPr>
          <p:nvPr/>
        </p:nvSpPr>
        <p:spPr bwMode="auto">
          <a:xfrm>
            <a:off x="2349500" y="4316413"/>
            <a:ext cx="4564063"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2518" name="Oval 4"/>
          <p:cNvSpPr>
            <a:spLocks noChangeArrowheads="1"/>
          </p:cNvSpPr>
          <p:nvPr/>
        </p:nvSpPr>
        <p:spPr bwMode="auto">
          <a:xfrm>
            <a:off x="4827588" y="3117850"/>
            <a:ext cx="658812" cy="261938"/>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192519" name="Oval 5"/>
          <p:cNvSpPr>
            <a:spLocks noChangeArrowheads="1"/>
          </p:cNvSpPr>
          <p:nvPr/>
        </p:nvSpPr>
        <p:spPr bwMode="auto">
          <a:xfrm>
            <a:off x="4827588" y="4202113"/>
            <a:ext cx="658812" cy="261937"/>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192520" name="Rectangle 6"/>
          <p:cNvSpPr>
            <a:spLocks noGrp="1" noChangeArrowheads="1"/>
          </p:cNvSpPr>
          <p:nvPr>
            <p:ph type="title"/>
          </p:nvPr>
        </p:nvSpPr>
        <p:spPr/>
        <p:txBody>
          <a:bodyPr/>
          <a:lstStyle/>
          <a:p>
            <a:r>
              <a:rPr lang="en-US"/>
              <a:t>Order Doesn’t Matter</a:t>
            </a:r>
          </a:p>
        </p:txBody>
      </p:sp>
      <p:sp>
        <p:nvSpPr>
          <p:cNvPr id="192521" name="Line 7"/>
          <p:cNvSpPr>
            <a:spLocks noChangeShapeType="1"/>
          </p:cNvSpPr>
          <p:nvPr/>
        </p:nvSpPr>
        <p:spPr bwMode="auto">
          <a:xfrm>
            <a:off x="2349500" y="2330450"/>
            <a:ext cx="4564063"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2522" name="Line 8"/>
          <p:cNvSpPr>
            <a:spLocks noChangeShapeType="1"/>
          </p:cNvSpPr>
          <p:nvPr/>
        </p:nvSpPr>
        <p:spPr bwMode="auto">
          <a:xfrm>
            <a:off x="2349500" y="5178425"/>
            <a:ext cx="4564063" cy="0"/>
          </a:xfrm>
          <a:prstGeom prst="line">
            <a:avLst/>
          </a:prstGeom>
          <a:noFill/>
          <a:ln w="381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192523" name="AutoShape 9"/>
          <p:cNvSpPr>
            <a:spLocks noChangeArrowheads="1"/>
          </p:cNvSpPr>
          <p:nvPr/>
        </p:nvSpPr>
        <p:spPr bwMode="auto">
          <a:xfrm>
            <a:off x="2835275"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24" name="AutoShape 10"/>
          <p:cNvSpPr>
            <a:spLocks noChangeArrowheads="1"/>
          </p:cNvSpPr>
          <p:nvPr/>
        </p:nvSpPr>
        <p:spPr bwMode="auto">
          <a:xfrm>
            <a:off x="2835275"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25" name="AutoShape 11"/>
          <p:cNvSpPr>
            <a:spLocks noChangeArrowheads="1"/>
          </p:cNvSpPr>
          <p:nvPr/>
        </p:nvSpPr>
        <p:spPr bwMode="auto">
          <a:xfrm>
            <a:off x="3908425" y="2938463"/>
            <a:ext cx="373063" cy="1630362"/>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26" name="AutoShape 12"/>
          <p:cNvSpPr>
            <a:spLocks noChangeArrowheads="1"/>
          </p:cNvSpPr>
          <p:nvPr/>
        </p:nvSpPr>
        <p:spPr bwMode="auto">
          <a:xfrm>
            <a:off x="4979988" y="2005013"/>
            <a:ext cx="373062" cy="3497262"/>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27" name="AutoShape 13"/>
          <p:cNvSpPr>
            <a:spLocks noChangeArrowheads="1"/>
          </p:cNvSpPr>
          <p:nvPr/>
        </p:nvSpPr>
        <p:spPr bwMode="auto">
          <a:xfrm>
            <a:off x="6053138" y="387350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28" name="AutoShape 14"/>
          <p:cNvSpPr>
            <a:spLocks noChangeArrowheads="1"/>
          </p:cNvSpPr>
          <p:nvPr/>
        </p:nvSpPr>
        <p:spPr bwMode="auto">
          <a:xfrm>
            <a:off x="6053138" y="2005013"/>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92529" name="Group 15"/>
          <p:cNvGrpSpPr>
            <a:grpSpLocks/>
          </p:cNvGrpSpPr>
          <p:nvPr/>
        </p:nvGrpSpPr>
        <p:grpSpPr bwMode="auto">
          <a:xfrm>
            <a:off x="2413000" y="3949700"/>
            <a:ext cx="2159000" cy="889000"/>
            <a:chOff x="1520" y="2488"/>
            <a:chExt cx="1360" cy="560"/>
          </a:xfrm>
        </p:grpSpPr>
        <p:sp>
          <p:nvSpPr>
            <p:cNvPr id="192557" name="AutoShape 16"/>
            <p:cNvSpPr>
              <a:spLocks noChangeArrowheads="1"/>
            </p:cNvSpPr>
            <p:nvPr/>
          </p:nvSpPr>
          <p:spPr bwMode="auto">
            <a:xfrm>
              <a:off x="1520" y="2488"/>
              <a:ext cx="1360" cy="560"/>
            </a:xfrm>
            <a:prstGeom prst="wedgeRoundRectCallout">
              <a:avLst>
                <a:gd name="adj1" fmla="val -59046"/>
                <a:gd name="adj2" fmla="val -160000"/>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92558" name="Line 17"/>
            <p:cNvSpPr>
              <a:spLocks noChangeShapeType="1"/>
            </p:cNvSpPr>
            <p:nvPr/>
          </p:nvSpPr>
          <p:spPr bwMode="auto">
            <a:xfrm>
              <a:off x="1808" y="2720"/>
              <a:ext cx="192"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92559" name="Line 18"/>
            <p:cNvSpPr>
              <a:spLocks noChangeShapeType="1"/>
            </p:cNvSpPr>
            <p:nvPr/>
          </p:nvSpPr>
          <p:spPr bwMode="auto">
            <a:xfrm>
              <a:off x="2496" y="2720"/>
              <a:ext cx="192"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grpSp>
      <p:grpSp>
        <p:nvGrpSpPr>
          <p:cNvPr id="192530" name="Group 19"/>
          <p:cNvGrpSpPr>
            <a:grpSpLocks/>
          </p:cNvGrpSpPr>
          <p:nvPr/>
        </p:nvGrpSpPr>
        <p:grpSpPr bwMode="auto">
          <a:xfrm>
            <a:off x="1219200" y="4038600"/>
            <a:ext cx="1377950" cy="423863"/>
            <a:chOff x="1313" y="2496"/>
            <a:chExt cx="1252" cy="427"/>
          </a:xfrm>
        </p:grpSpPr>
        <p:sp>
          <p:nvSpPr>
            <p:cNvPr id="192553" name="Freeform 2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54" name="Freeform 2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55" name="Oval 2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56" name="Oval 2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2531" name="Group 24"/>
          <p:cNvGrpSpPr>
            <a:grpSpLocks/>
          </p:cNvGrpSpPr>
          <p:nvPr/>
        </p:nvGrpSpPr>
        <p:grpSpPr bwMode="auto">
          <a:xfrm>
            <a:off x="1219200" y="4953000"/>
            <a:ext cx="1377950" cy="423863"/>
            <a:chOff x="1313" y="2496"/>
            <a:chExt cx="1252" cy="427"/>
          </a:xfrm>
        </p:grpSpPr>
        <p:sp>
          <p:nvSpPr>
            <p:cNvPr id="192549" name="Freeform 2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50" name="Freeform 2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51" name="Oval 27"/>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52" name="Oval 28"/>
            <p:cNvSpPr>
              <a:spLocks noChangeArrowheads="1"/>
            </p:cNvSpPr>
            <p:nvPr/>
          </p:nvSpPr>
          <p:spPr bwMode="auto">
            <a:xfrm>
              <a:off x="1945" y="2640"/>
              <a:ext cx="102" cy="96"/>
            </a:xfrm>
            <a:prstGeom prst="ellipse">
              <a:avLst/>
            </a:prstGeom>
            <a:solidFill>
              <a:srgbClr val="FF9999"/>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2532" name="Text Box 29"/>
          <p:cNvSpPr txBox="1">
            <a:spLocks noChangeArrowheads="1"/>
          </p:cNvSpPr>
          <p:nvPr/>
        </p:nvSpPr>
        <p:spPr bwMode="auto">
          <a:xfrm>
            <a:off x="546100" y="2433638"/>
            <a:ext cx="3244850" cy="457200"/>
          </a:xfrm>
          <a:prstGeom prst="rect">
            <a:avLst/>
          </a:prstGeom>
          <a:solidFill>
            <a:schemeClr val="bg1">
              <a:alpha val="74901"/>
            </a:schemeClr>
          </a:solidFill>
          <a:ln w="9525" algn="ctr">
            <a:noFill/>
            <a:miter lim="800000"/>
            <a:headEnd/>
            <a:tailEnd/>
          </a:ln>
        </p:spPr>
        <p:txBody>
          <a:bodyPr wrap="none">
            <a:spAutoFit/>
          </a:bodyPr>
          <a:lstStyle/>
          <a:p>
            <a:pPr algn="ctr">
              <a:spcBef>
                <a:spcPct val="0"/>
              </a:spcBef>
            </a:pPr>
            <a:r>
              <a:rPr lang="en-US" b="0" dirty="0">
                <a:latin typeface="Arial" pitchFamily="34" charset="0"/>
                <a:cs typeface="Arial" pitchFamily="34" charset="0"/>
              </a:rPr>
              <a:t>Same balancer states</a:t>
            </a:r>
          </a:p>
        </p:txBody>
      </p:sp>
      <p:sp>
        <p:nvSpPr>
          <p:cNvPr id="192533" name="AutoShape 30"/>
          <p:cNvSpPr>
            <a:spLocks noChangeArrowheads="1"/>
          </p:cNvSpPr>
          <p:nvPr/>
        </p:nvSpPr>
        <p:spPr bwMode="auto">
          <a:xfrm>
            <a:off x="4572000" y="1841500"/>
            <a:ext cx="2159000" cy="889000"/>
          </a:xfrm>
          <a:prstGeom prst="wedgeRoundRectCallout">
            <a:avLst>
              <a:gd name="adj1" fmla="val -86102"/>
              <a:gd name="adj2" fmla="val 38569"/>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92534" name="Line 31"/>
          <p:cNvSpPr>
            <a:spLocks noChangeShapeType="1"/>
          </p:cNvSpPr>
          <p:nvPr/>
        </p:nvSpPr>
        <p:spPr bwMode="auto">
          <a:xfrm>
            <a:off x="5054600" y="2330450"/>
            <a:ext cx="304800"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192535" name="Line 32"/>
          <p:cNvSpPr>
            <a:spLocks noChangeShapeType="1"/>
          </p:cNvSpPr>
          <p:nvPr/>
        </p:nvSpPr>
        <p:spPr bwMode="auto">
          <a:xfrm>
            <a:off x="6134100" y="2330450"/>
            <a:ext cx="304800"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192536" name="Group 33"/>
          <p:cNvGrpSpPr>
            <a:grpSpLocks/>
          </p:cNvGrpSpPr>
          <p:nvPr/>
        </p:nvGrpSpPr>
        <p:grpSpPr bwMode="auto">
          <a:xfrm>
            <a:off x="6540500" y="1866900"/>
            <a:ext cx="2352675" cy="3124201"/>
            <a:chOff x="4120" y="1176"/>
            <a:chExt cx="1482" cy="1968"/>
          </a:xfrm>
        </p:grpSpPr>
        <p:sp>
          <p:nvSpPr>
            <p:cNvPr id="192537" name="AutoShape 34"/>
            <p:cNvSpPr>
              <a:spLocks noChangeArrowheads="1"/>
            </p:cNvSpPr>
            <p:nvPr/>
          </p:nvSpPr>
          <p:spPr bwMode="auto">
            <a:xfrm>
              <a:off x="4120" y="1176"/>
              <a:ext cx="1360" cy="1080"/>
            </a:xfrm>
            <a:prstGeom prst="wedgeRoundRectCallout">
              <a:avLst>
                <a:gd name="adj1" fmla="val -1986"/>
                <a:gd name="adj2" fmla="val 88519"/>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grpSp>
          <p:nvGrpSpPr>
            <p:cNvPr id="192538" name="Group 35"/>
            <p:cNvGrpSpPr>
              <a:grpSpLocks/>
            </p:cNvGrpSpPr>
            <p:nvPr/>
          </p:nvGrpSpPr>
          <p:grpSpPr bwMode="auto">
            <a:xfrm>
              <a:off x="4400" y="1264"/>
              <a:ext cx="868" cy="267"/>
              <a:chOff x="1313" y="2496"/>
              <a:chExt cx="1252" cy="427"/>
            </a:xfrm>
          </p:grpSpPr>
          <p:sp>
            <p:nvSpPr>
              <p:cNvPr id="192545" name="Freeform 3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46" name="Freeform 3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47" name="Oval 38"/>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48" name="Oval 39"/>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2539" name="Group 40"/>
            <p:cNvGrpSpPr>
              <a:grpSpLocks/>
            </p:cNvGrpSpPr>
            <p:nvPr/>
          </p:nvGrpSpPr>
          <p:grpSpPr bwMode="auto">
            <a:xfrm>
              <a:off x="4400" y="1840"/>
              <a:ext cx="868" cy="267"/>
              <a:chOff x="1313" y="2496"/>
              <a:chExt cx="1252" cy="427"/>
            </a:xfrm>
          </p:grpSpPr>
          <p:sp>
            <p:nvSpPr>
              <p:cNvPr id="192541" name="Freeform 4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42" name="Freeform 4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43" name="Oval 43"/>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544" name="Oval 44"/>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2540" name="Text Box 45"/>
            <p:cNvSpPr txBox="1">
              <a:spLocks noChangeArrowheads="1"/>
            </p:cNvSpPr>
            <p:nvPr/>
          </p:nvSpPr>
          <p:spPr bwMode="auto">
            <a:xfrm>
              <a:off x="4151" y="2621"/>
              <a:ext cx="1451" cy="523"/>
            </a:xfrm>
            <a:prstGeom prst="rect">
              <a:avLst/>
            </a:prstGeom>
            <a:solidFill>
              <a:schemeClr val="bg1">
                <a:alpha val="74901"/>
              </a:schemeClr>
            </a:solidFill>
            <a:ln w="9525" algn="ctr">
              <a:noFill/>
              <a:miter lim="800000"/>
              <a:headEnd/>
              <a:tailEnd/>
            </a:ln>
          </p:spPr>
          <p:txBody>
            <a:bodyPr>
              <a:spAutoFit/>
            </a:bodyPr>
            <a:lstStyle/>
            <a:p>
              <a:pPr algn="ctr">
                <a:spcBef>
                  <a:spcPct val="0"/>
                </a:spcBef>
              </a:pPr>
              <a:r>
                <a:rPr lang="en-US" b="0">
                  <a:latin typeface="Arial" pitchFamily="34" charset="0"/>
                  <a:cs typeface="Arial" pitchFamily="34" charset="0"/>
                </a:rPr>
                <a:t>Same output distribution</a:t>
              </a:r>
            </a:p>
          </p:txBody>
        </p:sp>
      </p:gr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Art of Multiprocessor Programming</a:t>
            </a:r>
          </a:p>
        </p:txBody>
      </p:sp>
      <p:sp>
        <p:nvSpPr>
          <p:cNvPr id="5" name="Slide Number Placeholder 5"/>
          <p:cNvSpPr>
            <a:spLocks noGrp="1"/>
          </p:cNvSpPr>
          <p:nvPr>
            <p:ph type="sldNum" sz="quarter" idx="11"/>
          </p:nvPr>
        </p:nvSpPr>
        <p:spPr/>
        <p:txBody>
          <a:bodyPr/>
          <a:lstStyle/>
          <a:p>
            <a:pPr>
              <a:defRPr/>
            </a:pPr>
            <a:fld id="{E918DA9D-4CA4-4C64-B291-27919664FD2D}" type="slidenum">
              <a:rPr lang="en-US"/>
              <a:pPr>
                <a:defRPr/>
              </a:pPr>
              <a:t>195</a:t>
            </a:fld>
            <a:endParaRPr lang="en-US"/>
          </a:p>
        </p:txBody>
      </p:sp>
      <p:sp>
        <p:nvSpPr>
          <p:cNvPr id="193540" name="Rectangle 2"/>
          <p:cNvSpPr>
            <a:spLocks noGrp="1" noChangeArrowheads="1"/>
          </p:cNvSpPr>
          <p:nvPr>
            <p:ph type="title"/>
          </p:nvPr>
        </p:nvSpPr>
        <p:spPr/>
        <p:txBody>
          <a:bodyPr/>
          <a:lstStyle/>
          <a:p>
            <a:r>
              <a:rPr lang="en-US" sz="4000"/>
              <a:t>Index Distribution Benchmark</a:t>
            </a:r>
          </a:p>
        </p:txBody>
      </p:sp>
      <p:sp>
        <p:nvSpPr>
          <p:cNvPr id="193541" name="Rectangle 3"/>
          <p:cNvSpPr>
            <a:spLocks noChangeArrowheads="1"/>
          </p:cNvSpPr>
          <p:nvPr/>
        </p:nvSpPr>
        <p:spPr bwMode="auto">
          <a:xfrm>
            <a:off x="947738" y="1981200"/>
            <a:ext cx="7586662" cy="2677656"/>
          </a:xfrm>
          <a:prstGeom prst="rect">
            <a:avLst/>
          </a:prstGeom>
          <a:solidFill>
            <a:srgbClr val="FFFFCC"/>
          </a:solidFill>
          <a:ln w="9525">
            <a:noFill/>
            <a:miter lim="800000"/>
            <a:headEnd/>
            <a:tailEnd/>
          </a:ln>
        </p:spPr>
        <p:txBody>
          <a:bodyPr>
            <a:spAutoFit/>
          </a:bodyPr>
          <a:lstStyle/>
          <a:p>
            <a:pPr marL="342900" indent="-342900"/>
            <a:r>
              <a:rPr lang="en-US" dirty="0">
                <a:solidFill>
                  <a:schemeClr val="tx1"/>
                </a:solidFill>
                <a:latin typeface="Courier New" pitchFamily="49" charset="0"/>
              </a:rPr>
              <a:t>void</a:t>
            </a:r>
            <a:r>
              <a:rPr lang="en-US" dirty="0">
                <a:latin typeface="Courier New" pitchFamily="49" charset="0"/>
              </a:rPr>
              <a:t> </a:t>
            </a:r>
            <a:r>
              <a:rPr lang="en-US" dirty="0" err="1">
                <a:latin typeface="Courier New" pitchFamily="49" charset="0"/>
              </a:rPr>
              <a:t>indexBench</a:t>
            </a:r>
            <a:r>
              <a:rPr lang="en-US" dirty="0">
                <a:latin typeface="Courier New" pitchFamily="49" charset="0"/>
              </a:rPr>
              <a:t>(</a:t>
            </a:r>
            <a:r>
              <a:rPr lang="en-US" dirty="0" err="1">
                <a:solidFill>
                  <a:schemeClr val="tx1"/>
                </a:solidFill>
                <a:latin typeface="Courier New" pitchFamily="49" charset="0"/>
              </a:rPr>
              <a:t>int</a:t>
            </a:r>
            <a:r>
              <a:rPr lang="en-US" dirty="0">
                <a:latin typeface="Courier New" pitchFamily="49" charset="0"/>
              </a:rPr>
              <a:t> </a:t>
            </a:r>
            <a:r>
              <a:rPr lang="en-US" dirty="0" err="1">
                <a:latin typeface="Courier New" pitchFamily="49" charset="0"/>
              </a:rPr>
              <a:t>iters</a:t>
            </a:r>
            <a:r>
              <a:rPr lang="en-US" dirty="0">
                <a:latin typeface="Courier New" pitchFamily="49" charset="0"/>
              </a:rPr>
              <a:t>, </a:t>
            </a:r>
            <a:r>
              <a:rPr lang="en-US" dirty="0" err="1">
                <a:solidFill>
                  <a:schemeClr val="tx1"/>
                </a:solidFill>
                <a:latin typeface="Courier New" pitchFamily="49" charset="0"/>
              </a:rPr>
              <a:t>int</a:t>
            </a:r>
            <a:r>
              <a:rPr lang="en-US" dirty="0">
                <a:latin typeface="Courier New" pitchFamily="49" charset="0"/>
              </a:rPr>
              <a:t> work) {</a:t>
            </a:r>
          </a:p>
          <a:p>
            <a:pPr marL="342900" indent="-342900"/>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a:t>
            </a:r>
            <a:r>
              <a:rPr lang="en-US" dirty="0" err="1">
                <a:solidFill>
                  <a:schemeClr val="tx1"/>
                </a:solidFill>
                <a:latin typeface="Courier New" pitchFamily="49" charset="0"/>
              </a:rPr>
              <a:t>int</a:t>
            </a:r>
            <a:r>
              <a:rPr lang="en-US" dirty="0">
                <a:latin typeface="Courier New" pitchFamily="49" charset="0"/>
              </a:rPr>
              <a:t> </a:t>
            </a:r>
            <a:r>
              <a:rPr lang="en-US" dirty="0" err="1">
                <a:latin typeface="Courier New" pitchFamily="49" charset="0"/>
              </a:rPr>
              <a:t>i</a:t>
            </a:r>
            <a:r>
              <a:rPr lang="en-US" dirty="0">
                <a:latin typeface="Courier New" pitchFamily="49" charset="0"/>
              </a:rPr>
              <a:t> = 0 &lt; </a:t>
            </a:r>
            <a:r>
              <a:rPr lang="en-US" dirty="0" err="1">
                <a:latin typeface="Courier New" pitchFamily="49" charset="0"/>
              </a:rPr>
              <a:t>iters</a:t>
            </a:r>
            <a:r>
              <a:rPr lang="en-US" dirty="0">
                <a:latin typeface="Courier New" pitchFamily="49" charset="0"/>
              </a:rPr>
              <a:t>) {</a:t>
            </a:r>
          </a:p>
          <a:p>
            <a:pPr marL="342900" indent="-342900"/>
            <a:r>
              <a:rPr lang="en-US" dirty="0">
                <a:latin typeface="Courier New" pitchFamily="49" charset="0"/>
              </a:rPr>
              <a:t>  </a:t>
            </a:r>
            <a:r>
              <a:rPr lang="en-US" dirty="0" err="1">
                <a:latin typeface="Courier New" pitchFamily="49" charset="0"/>
              </a:rPr>
              <a:t>i</a:t>
            </a:r>
            <a:r>
              <a:rPr lang="en-US" dirty="0">
                <a:latin typeface="Courier New" pitchFamily="49" charset="0"/>
              </a:rPr>
              <a:t> = </a:t>
            </a:r>
            <a:r>
              <a:rPr lang="en-US" dirty="0" err="1">
                <a:latin typeface="Courier New" pitchFamily="49" charset="0"/>
              </a:rPr>
              <a:t>fetch&amp;inc</a:t>
            </a:r>
            <a:r>
              <a:rPr lang="en-US" dirty="0">
                <a:latin typeface="Courier New" pitchFamily="49" charset="0"/>
              </a:rPr>
              <a:t>();</a:t>
            </a:r>
          </a:p>
          <a:p>
            <a:pPr marL="342900" indent="-342900"/>
            <a:r>
              <a:rPr lang="en-US" dirty="0">
                <a:latin typeface="Courier New" pitchFamily="49" charset="0"/>
              </a:rPr>
              <a:t>  </a:t>
            </a:r>
            <a:r>
              <a:rPr lang="en-US" dirty="0" err="1">
                <a:latin typeface="Courier New" pitchFamily="49" charset="0"/>
              </a:rPr>
              <a:t>Thread.sleep</a:t>
            </a:r>
            <a:r>
              <a:rPr lang="en-US" dirty="0">
                <a:latin typeface="Courier New" pitchFamily="49" charset="0"/>
              </a:rPr>
              <a:t>(random() % work);</a:t>
            </a:r>
          </a:p>
          <a:p>
            <a:pPr marL="342900" indent="-342900"/>
            <a:r>
              <a:rPr lang="en-US" dirty="0">
                <a:latin typeface="Courier New" pitchFamily="49" charset="0"/>
              </a:rPr>
              <a:t> }</a:t>
            </a:r>
          </a:p>
          <a:p>
            <a:pPr marL="342900" indent="-342900"/>
            <a:r>
              <a:rPr lang="en-US" dirty="0">
                <a:latin typeface="Courier New" pitchFamily="49" charset="0"/>
              </a:rPr>
              <a:t>}</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3"/>
          <p:cNvSpPr>
            <a:spLocks noGrp="1"/>
          </p:cNvSpPr>
          <p:nvPr>
            <p:ph type="ftr" sz="quarter" idx="10"/>
          </p:nvPr>
        </p:nvSpPr>
        <p:spPr/>
        <p:txBody>
          <a:bodyPr/>
          <a:lstStyle/>
          <a:p>
            <a:pPr>
              <a:defRPr/>
            </a:pPr>
            <a:r>
              <a:rPr lang="en-US"/>
              <a:t>Art of Multiprocessor Programming</a:t>
            </a:r>
          </a:p>
        </p:txBody>
      </p:sp>
      <p:sp>
        <p:nvSpPr>
          <p:cNvPr id="14" name="Slide Number Placeholder 4"/>
          <p:cNvSpPr>
            <a:spLocks noGrp="1"/>
          </p:cNvSpPr>
          <p:nvPr>
            <p:ph type="sldNum" sz="quarter" idx="11"/>
          </p:nvPr>
        </p:nvSpPr>
        <p:spPr/>
        <p:txBody>
          <a:bodyPr/>
          <a:lstStyle/>
          <a:p>
            <a:pPr>
              <a:defRPr/>
            </a:pPr>
            <a:fld id="{4473A6A4-1679-40ED-936B-3778C9E1B880}" type="slidenum">
              <a:rPr lang="en-US"/>
              <a:pPr>
                <a:defRPr/>
              </a:pPr>
              <a:t>196</a:t>
            </a:fld>
            <a:endParaRPr lang="en-US"/>
          </a:p>
        </p:txBody>
      </p:sp>
      <p:sp>
        <p:nvSpPr>
          <p:cNvPr id="194564" name="Rectangle 2"/>
          <p:cNvSpPr>
            <a:spLocks noGrp="1" noChangeArrowheads="1"/>
          </p:cNvSpPr>
          <p:nvPr>
            <p:ph type="title"/>
          </p:nvPr>
        </p:nvSpPr>
        <p:spPr>
          <a:xfrm>
            <a:off x="685800" y="73025"/>
            <a:ext cx="7772400" cy="1143000"/>
          </a:xfrm>
        </p:spPr>
        <p:txBody>
          <a:bodyPr/>
          <a:lstStyle/>
          <a:p>
            <a:r>
              <a:rPr lang="en-US"/>
              <a:t>Performance (Simulated)</a:t>
            </a:r>
          </a:p>
        </p:txBody>
      </p:sp>
      <p:sp>
        <p:nvSpPr>
          <p:cNvPr id="194565" name="Text Box 3"/>
          <p:cNvSpPr txBox="1">
            <a:spLocks noChangeArrowheads="1"/>
          </p:cNvSpPr>
          <p:nvPr/>
        </p:nvSpPr>
        <p:spPr bwMode="auto">
          <a:xfrm>
            <a:off x="517525" y="5443538"/>
            <a:ext cx="4168642" cy="276999"/>
          </a:xfrm>
          <a:prstGeom prst="rect">
            <a:avLst/>
          </a:prstGeom>
          <a:noFill/>
          <a:ln w="9525">
            <a:noFill/>
            <a:miter lim="800000"/>
            <a:headEnd/>
            <a:tailEnd/>
          </a:ln>
        </p:spPr>
        <p:txBody>
          <a:bodyPr wrap="none">
            <a:spAutoFit/>
          </a:bodyPr>
          <a:lstStyle/>
          <a:p>
            <a:pPr eaLnBrk="1" hangingPunct="1">
              <a:spcBef>
                <a:spcPct val="0"/>
              </a:spcBef>
            </a:pPr>
            <a:r>
              <a:rPr lang="en-US" sz="1200" b="0">
                <a:solidFill>
                  <a:schemeClr val="tx1"/>
                </a:solidFill>
                <a:latin typeface="Arial" pitchFamily="34" charset="0"/>
                <a:cs typeface="Arial" pitchFamily="34" charset="0"/>
              </a:rPr>
              <a:t>* All graphs taken from Herlihy,Lim,Shavit, copyright ACM. </a:t>
            </a:r>
          </a:p>
        </p:txBody>
      </p:sp>
      <p:sp>
        <p:nvSpPr>
          <p:cNvPr id="194566" name="Line 4"/>
          <p:cNvSpPr>
            <a:spLocks noChangeShapeType="1"/>
          </p:cNvSpPr>
          <p:nvPr/>
        </p:nvSpPr>
        <p:spPr bwMode="auto">
          <a:xfrm flipV="1">
            <a:off x="1663700" y="1431925"/>
            <a:ext cx="0" cy="336550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4567" name="Line 5"/>
          <p:cNvSpPr>
            <a:spLocks noChangeShapeType="1"/>
          </p:cNvSpPr>
          <p:nvPr/>
        </p:nvSpPr>
        <p:spPr bwMode="auto">
          <a:xfrm>
            <a:off x="1651000" y="4746625"/>
            <a:ext cx="3302000" cy="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4568" name="Freeform 6"/>
          <p:cNvSpPr>
            <a:spLocks/>
          </p:cNvSpPr>
          <p:nvPr/>
        </p:nvSpPr>
        <p:spPr bwMode="auto">
          <a:xfrm>
            <a:off x="1714500" y="3159125"/>
            <a:ext cx="3213100" cy="1409700"/>
          </a:xfrm>
          <a:custGeom>
            <a:avLst/>
            <a:gdLst>
              <a:gd name="T0" fmla="*/ 0 w 2024"/>
              <a:gd name="T1" fmla="*/ 0 h 888"/>
              <a:gd name="T2" fmla="*/ 2147483647 w 2024"/>
              <a:gd name="T3" fmla="*/ 2147483647 h 888"/>
              <a:gd name="T4" fmla="*/ 2147483647 w 2024"/>
              <a:gd name="T5" fmla="*/ 2147483647 h 888"/>
              <a:gd name="T6" fmla="*/ 2147483647 w 2024"/>
              <a:gd name="T7" fmla="*/ 2147483647 h 888"/>
              <a:gd name="T8" fmla="*/ 2147483647 w 2024"/>
              <a:gd name="T9" fmla="*/ 2147483647 h 888"/>
              <a:gd name="T10" fmla="*/ 2147483647 w 2024"/>
              <a:gd name="T11" fmla="*/ 2147483647 h 888"/>
              <a:gd name="T12" fmla="*/ 2147483647 w 2024"/>
              <a:gd name="T13" fmla="*/ 2147483647 h 888"/>
              <a:gd name="T14" fmla="*/ 2147483647 w 2024"/>
              <a:gd name="T15" fmla="*/ 2147483647 h 888"/>
              <a:gd name="T16" fmla="*/ 0 60000 65536"/>
              <a:gd name="T17" fmla="*/ 0 60000 65536"/>
              <a:gd name="T18" fmla="*/ 0 60000 65536"/>
              <a:gd name="T19" fmla="*/ 0 60000 65536"/>
              <a:gd name="T20" fmla="*/ 0 60000 65536"/>
              <a:gd name="T21" fmla="*/ 0 60000 65536"/>
              <a:gd name="T22" fmla="*/ 0 60000 65536"/>
              <a:gd name="T23" fmla="*/ 0 60000 65536"/>
              <a:gd name="T24" fmla="*/ 0 w 2024"/>
              <a:gd name="T25" fmla="*/ 0 h 888"/>
              <a:gd name="T26" fmla="*/ 2024 w 2024"/>
              <a:gd name="T27" fmla="*/ 888 h 8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4" h="888">
                <a:moveTo>
                  <a:pt x="0" y="0"/>
                </a:moveTo>
                <a:cubicBezTo>
                  <a:pt x="8" y="324"/>
                  <a:pt x="16" y="648"/>
                  <a:pt x="32" y="768"/>
                </a:cubicBezTo>
                <a:cubicBezTo>
                  <a:pt x="48" y="888"/>
                  <a:pt x="60" y="720"/>
                  <a:pt x="96" y="720"/>
                </a:cubicBezTo>
                <a:cubicBezTo>
                  <a:pt x="132" y="720"/>
                  <a:pt x="185" y="764"/>
                  <a:pt x="248" y="768"/>
                </a:cubicBezTo>
                <a:cubicBezTo>
                  <a:pt x="311" y="772"/>
                  <a:pt x="348" y="741"/>
                  <a:pt x="472" y="744"/>
                </a:cubicBezTo>
                <a:cubicBezTo>
                  <a:pt x="596" y="747"/>
                  <a:pt x="820" y="776"/>
                  <a:pt x="992" y="784"/>
                </a:cubicBezTo>
                <a:cubicBezTo>
                  <a:pt x="1164" y="792"/>
                  <a:pt x="1332" y="788"/>
                  <a:pt x="1504" y="792"/>
                </a:cubicBezTo>
                <a:cubicBezTo>
                  <a:pt x="1676" y="796"/>
                  <a:pt x="1850" y="802"/>
                  <a:pt x="2024" y="808"/>
                </a:cubicBezTo>
              </a:path>
            </a:pathLst>
          </a:custGeom>
          <a:noFill/>
          <a:ln w="38100">
            <a:solidFill>
              <a:srgbClr val="FF6600"/>
            </a:solidFill>
            <a:round/>
            <a:headEnd/>
            <a:tailEnd/>
          </a:ln>
        </p:spPr>
        <p:txBody>
          <a:bodyPr wrap="none" anchor="ctr"/>
          <a:lstStyle/>
          <a:p>
            <a:endParaRPr lang="en-US">
              <a:latin typeface="Arial" pitchFamily="34" charset="0"/>
              <a:cs typeface="Arial" pitchFamily="34" charset="0"/>
            </a:endParaRPr>
          </a:p>
        </p:txBody>
      </p:sp>
      <p:sp>
        <p:nvSpPr>
          <p:cNvPr id="194569" name="Text Box 7"/>
          <p:cNvSpPr txBox="1">
            <a:spLocks noChangeArrowheads="1"/>
          </p:cNvSpPr>
          <p:nvPr/>
        </p:nvSpPr>
        <p:spPr bwMode="auto">
          <a:xfrm>
            <a:off x="5036632" y="4229100"/>
            <a:ext cx="1877438" cy="369332"/>
          </a:xfrm>
          <a:prstGeom prst="rect">
            <a:avLst/>
          </a:prstGeom>
          <a:noFill/>
          <a:ln w="9525" algn="ctr">
            <a:noFill/>
            <a:miter lim="800000"/>
            <a:headEnd/>
            <a:tailEnd/>
          </a:ln>
        </p:spPr>
        <p:txBody>
          <a:bodyPr wrap="none">
            <a:spAutoFit/>
          </a:bodyPr>
          <a:lstStyle/>
          <a:p>
            <a:pPr algn="ctr">
              <a:spcBef>
                <a:spcPct val="0"/>
              </a:spcBef>
            </a:pPr>
            <a:r>
              <a:rPr lang="en-US" sz="1800" b="0" dirty="0">
                <a:solidFill>
                  <a:srgbClr val="FF6600"/>
                </a:solidFill>
                <a:latin typeface="Arial" pitchFamily="34" charset="0"/>
                <a:cs typeface="Arial" pitchFamily="34" charset="0"/>
              </a:rPr>
              <a:t>MCS queue lock</a:t>
            </a:r>
          </a:p>
        </p:txBody>
      </p:sp>
      <p:sp>
        <p:nvSpPr>
          <p:cNvPr id="194570" name="Freeform 8"/>
          <p:cNvSpPr>
            <a:spLocks/>
          </p:cNvSpPr>
          <p:nvPr/>
        </p:nvSpPr>
        <p:spPr bwMode="auto">
          <a:xfrm>
            <a:off x="1701800" y="2803525"/>
            <a:ext cx="3213100" cy="1892300"/>
          </a:xfrm>
          <a:custGeom>
            <a:avLst/>
            <a:gdLst>
              <a:gd name="T0" fmla="*/ 0 w 2024"/>
              <a:gd name="T1" fmla="*/ 0 h 1192"/>
              <a:gd name="T2" fmla="*/ 2147483647 w 2024"/>
              <a:gd name="T3" fmla="*/ 2147483647 h 1192"/>
              <a:gd name="T4" fmla="*/ 2147483647 w 2024"/>
              <a:gd name="T5" fmla="*/ 2147483647 h 1192"/>
              <a:gd name="T6" fmla="*/ 2147483647 w 2024"/>
              <a:gd name="T7" fmla="*/ 2147483647 h 1192"/>
              <a:gd name="T8" fmla="*/ 2147483647 w 2024"/>
              <a:gd name="T9" fmla="*/ 2147483647 h 1192"/>
              <a:gd name="T10" fmla="*/ 2147483647 w 2024"/>
              <a:gd name="T11" fmla="*/ 2147483647 h 1192"/>
              <a:gd name="T12" fmla="*/ 2147483647 w 2024"/>
              <a:gd name="T13" fmla="*/ 2147483647 h 1192"/>
              <a:gd name="T14" fmla="*/ 2147483647 w 2024"/>
              <a:gd name="T15" fmla="*/ 2147483647 h 1192"/>
              <a:gd name="T16" fmla="*/ 0 60000 65536"/>
              <a:gd name="T17" fmla="*/ 0 60000 65536"/>
              <a:gd name="T18" fmla="*/ 0 60000 65536"/>
              <a:gd name="T19" fmla="*/ 0 60000 65536"/>
              <a:gd name="T20" fmla="*/ 0 60000 65536"/>
              <a:gd name="T21" fmla="*/ 0 60000 65536"/>
              <a:gd name="T22" fmla="*/ 0 60000 65536"/>
              <a:gd name="T23" fmla="*/ 0 60000 65536"/>
              <a:gd name="T24" fmla="*/ 0 w 2024"/>
              <a:gd name="T25" fmla="*/ 0 h 1192"/>
              <a:gd name="T26" fmla="*/ 2024 w 2024"/>
              <a:gd name="T27" fmla="*/ 1192 h 11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4" h="1192">
                <a:moveTo>
                  <a:pt x="0" y="0"/>
                </a:moveTo>
                <a:cubicBezTo>
                  <a:pt x="14" y="128"/>
                  <a:pt x="28" y="256"/>
                  <a:pt x="48" y="352"/>
                </a:cubicBezTo>
                <a:cubicBezTo>
                  <a:pt x="68" y="448"/>
                  <a:pt x="88" y="493"/>
                  <a:pt x="120" y="576"/>
                </a:cubicBezTo>
                <a:cubicBezTo>
                  <a:pt x="152" y="659"/>
                  <a:pt x="176" y="789"/>
                  <a:pt x="240" y="848"/>
                </a:cubicBezTo>
                <a:cubicBezTo>
                  <a:pt x="304" y="907"/>
                  <a:pt x="376" y="881"/>
                  <a:pt x="504" y="928"/>
                </a:cubicBezTo>
                <a:cubicBezTo>
                  <a:pt x="632" y="975"/>
                  <a:pt x="839" y="1088"/>
                  <a:pt x="1008" y="1128"/>
                </a:cubicBezTo>
                <a:cubicBezTo>
                  <a:pt x="1177" y="1168"/>
                  <a:pt x="1351" y="1157"/>
                  <a:pt x="1520" y="1168"/>
                </a:cubicBezTo>
                <a:cubicBezTo>
                  <a:pt x="1689" y="1179"/>
                  <a:pt x="1940" y="1187"/>
                  <a:pt x="2024" y="1192"/>
                </a:cubicBezTo>
              </a:path>
            </a:pathLst>
          </a:custGeom>
          <a:noFill/>
          <a:ln w="38100">
            <a:solidFill>
              <a:srgbClr val="00FF99"/>
            </a:solidFill>
            <a:round/>
            <a:headEnd/>
            <a:tailEnd/>
          </a:ln>
        </p:spPr>
        <p:txBody>
          <a:bodyPr wrap="none" anchor="ctr"/>
          <a:lstStyle/>
          <a:p>
            <a:endParaRPr lang="en-US">
              <a:latin typeface="Arial" pitchFamily="34" charset="0"/>
              <a:cs typeface="Arial" pitchFamily="34" charset="0"/>
            </a:endParaRPr>
          </a:p>
        </p:txBody>
      </p:sp>
      <p:sp>
        <p:nvSpPr>
          <p:cNvPr id="194571" name="Text Box 9"/>
          <p:cNvSpPr txBox="1">
            <a:spLocks noChangeArrowheads="1"/>
          </p:cNvSpPr>
          <p:nvPr/>
        </p:nvSpPr>
        <p:spPr bwMode="auto">
          <a:xfrm>
            <a:off x="5064125" y="4559300"/>
            <a:ext cx="1139825" cy="366713"/>
          </a:xfrm>
          <a:prstGeom prst="rect">
            <a:avLst/>
          </a:prstGeom>
          <a:noFill/>
          <a:ln w="9525" algn="ctr">
            <a:noFill/>
            <a:miter lim="800000"/>
            <a:headEnd/>
            <a:tailEnd/>
          </a:ln>
        </p:spPr>
        <p:txBody>
          <a:bodyPr wrap="none">
            <a:spAutoFit/>
          </a:bodyPr>
          <a:lstStyle/>
          <a:p>
            <a:pPr algn="ctr">
              <a:spcBef>
                <a:spcPct val="0"/>
              </a:spcBef>
            </a:pPr>
            <a:r>
              <a:rPr lang="en-US" sz="1800" b="0">
                <a:solidFill>
                  <a:srgbClr val="00FF99"/>
                </a:solidFill>
                <a:latin typeface="Arial" pitchFamily="34" charset="0"/>
                <a:cs typeface="Arial" pitchFamily="34" charset="0"/>
              </a:rPr>
              <a:t>Spin lock</a:t>
            </a:r>
          </a:p>
        </p:txBody>
      </p:sp>
      <p:sp>
        <p:nvSpPr>
          <p:cNvPr id="194572" name="Text Box 10"/>
          <p:cNvSpPr txBox="1">
            <a:spLocks noChangeArrowheads="1"/>
          </p:cNvSpPr>
          <p:nvPr/>
        </p:nvSpPr>
        <p:spPr bwMode="auto">
          <a:xfrm>
            <a:off x="2058988" y="4927600"/>
            <a:ext cx="2260600" cy="366713"/>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Number processors</a:t>
            </a:r>
          </a:p>
        </p:txBody>
      </p:sp>
      <p:sp>
        <p:nvSpPr>
          <p:cNvPr id="194573" name="Text Box 11"/>
          <p:cNvSpPr txBox="1">
            <a:spLocks noChangeArrowheads="1"/>
          </p:cNvSpPr>
          <p:nvPr/>
        </p:nvSpPr>
        <p:spPr bwMode="auto">
          <a:xfrm rot="-5400000">
            <a:off x="552044" y="2953822"/>
            <a:ext cx="1364476" cy="369332"/>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Throughput</a:t>
            </a:r>
          </a:p>
        </p:txBody>
      </p:sp>
      <p:sp>
        <p:nvSpPr>
          <p:cNvPr id="194574" name="Text Box 12"/>
          <p:cNvSpPr txBox="1">
            <a:spLocks noChangeArrowheads="1"/>
          </p:cNvSpPr>
          <p:nvPr/>
        </p:nvSpPr>
        <p:spPr bwMode="auto">
          <a:xfrm>
            <a:off x="3118013" y="2686050"/>
            <a:ext cx="2723823" cy="523220"/>
          </a:xfrm>
          <a:prstGeom prst="rect">
            <a:avLst/>
          </a:prstGeom>
          <a:noFill/>
          <a:ln w="9525" algn="ctr">
            <a:noFill/>
            <a:miter lim="800000"/>
            <a:headEnd/>
            <a:tailEnd/>
          </a:ln>
        </p:spPr>
        <p:txBody>
          <a:bodyPr wrap="none">
            <a:spAutoFit/>
          </a:bodyPr>
          <a:lstStyle/>
          <a:p>
            <a:pPr algn="ctr">
              <a:spcBef>
                <a:spcPct val="0"/>
              </a:spcBef>
            </a:pPr>
            <a:r>
              <a:rPr lang="en-US" sz="2800" b="0" dirty="0">
                <a:latin typeface="Arial" pitchFamily="34" charset="0"/>
                <a:cs typeface="Arial" pitchFamily="34" charset="0"/>
              </a:rPr>
              <a:t>Higher is better!</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3"/>
          <p:cNvSpPr>
            <a:spLocks noGrp="1"/>
          </p:cNvSpPr>
          <p:nvPr>
            <p:ph type="ftr" sz="quarter" idx="10"/>
          </p:nvPr>
        </p:nvSpPr>
        <p:spPr/>
        <p:txBody>
          <a:bodyPr/>
          <a:lstStyle/>
          <a:p>
            <a:pPr>
              <a:defRPr/>
            </a:pPr>
            <a:r>
              <a:rPr lang="en-US"/>
              <a:t>Art of Multiprocessor Programming</a:t>
            </a:r>
          </a:p>
        </p:txBody>
      </p:sp>
      <p:sp>
        <p:nvSpPr>
          <p:cNvPr id="18" name="Slide Number Placeholder 4"/>
          <p:cNvSpPr>
            <a:spLocks noGrp="1"/>
          </p:cNvSpPr>
          <p:nvPr>
            <p:ph type="sldNum" sz="quarter" idx="11"/>
          </p:nvPr>
        </p:nvSpPr>
        <p:spPr/>
        <p:txBody>
          <a:bodyPr/>
          <a:lstStyle/>
          <a:p>
            <a:pPr>
              <a:defRPr/>
            </a:pPr>
            <a:fld id="{2AC731C8-0333-499C-BB1A-302CC0EE214B}" type="slidenum">
              <a:rPr lang="en-US"/>
              <a:pPr>
                <a:defRPr/>
              </a:pPr>
              <a:t>197</a:t>
            </a:fld>
            <a:endParaRPr lang="en-US"/>
          </a:p>
        </p:txBody>
      </p:sp>
      <p:sp>
        <p:nvSpPr>
          <p:cNvPr id="195588" name="Rectangle 2"/>
          <p:cNvSpPr>
            <a:spLocks noGrp="1" noChangeArrowheads="1"/>
          </p:cNvSpPr>
          <p:nvPr>
            <p:ph type="title"/>
          </p:nvPr>
        </p:nvSpPr>
        <p:spPr>
          <a:xfrm>
            <a:off x="685800" y="290513"/>
            <a:ext cx="7772400" cy="1143000"/>
          </a:xfrm>
        </p:spPr>
        <p:txBody>
          <a:bodyPr/>
          <a:lstStyle/>
          <a:p>
            <a:r>
              <a:rPr lang="en-US"/>
              <a:t>Performance (Simulated)</a:t>
            </a:r>
          </a:p>
        </p:txBody>
      </p:sp>
      <p:sp>
        <p:nvSpPr>
          <p:cNvPr id="195589" name="Line 4"/>
          <p:cNvSpPr>
            <a:spLocks noChangeShapeType="1"/>
          </p:cNvSpPr>
          <p:nvPr/>
        </p:nvSpPr>
        <p:spPr bwMode="auto">
          <a:xfrm flipV="1">
            <a:off x="1663700" y="1649413"/>
            <a:ext cx="0" cy="336550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5590" name="Line 5"/>
          <p:cNvSpPr>
            <a:spLocks noChangeShapeType="1"/>
          </p:cNvSpPr>
          <p:nvPr/>
        </p:nvSpPr>
        <p:spPr bwMode="auto">
          <a:xfrm>
            <a:off x="1651000" y="4964113"/>
            <a:ext cx="3302000" cy="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5591" name="Freeform 6"/>
          <p:cNvSpPr>
            <a:spLocks/>
          </p:cNvSpPr>
          <p:nvPr/>
        </p:nvSpPr>
        <p:spPr bwMode="auto">
          <a:xfrm>
            <a:off x="1714500" y="3376613"/>
            <a:ext cx="3213100" cy="1409700"/>
          </a:xfrm>
          <a:custGeom>
            <a:avLst/>
            <a:gdLst>
              <a:gd name="T0" fmla="*/ 0 w 2024"/>
              <a:gd name="T1" fmla="*/ 0 h 888"/>
              <a:gd name="T2" fmla="*/ 2147483647 w 2024"/>
              <a:gd name="T3" fmla="*/ 2147483647 h 888"/>
              <a:gd name="T4" fmla="*/ 2147483647 w 2024"/>
              <a:gd name="T5" fmla="*/ 2147483647 h 888"/>
              <a:gd name="T6" fmla="*/ 2147483647 w 2024"/>
              <a:gd name="T7" fmla="*/ 2147483647 h 888"/>
              <a:gd name="T8" fmla="*/ 2147483647 w 2024"/>
              <a:gd name="T9" fmla="*/ 2147483647 h 888"/>
              <a:gd name="T10" fmla="*/ 2147483647 w 2024"/>
              <a:gd name="T11" fmla="*/ 2147483647 h 888"/>
              <a:gd name="T12" fmla="*/ 2147483647 w 2024"/>
              <a:gd name="T13" fmla="*/ 2147483647 h 888"/>
              <a:gd name="T14" fmla="*/ 2147483647 w 2024"/>
              <a:gd name="T15" fmla="*/ 2147483647 h 888"/>
              <a:gd name="T16" fmla="*/ 0 60000 65536"/>
              <a:gd name="T17" fmla="*/ 0 60000 65536"/>
              <a:gd name="T18" fmla="*/ 0 60000 65536"/>
              <a:gd name="T19" fmla="*/ 0 60000 65536"/>
              <a:gd name="T20" fmla="*/ 0 60000 65536"/>
              <a:gd name="T21" fmla="*/ 0 60000 65536"/>
              <a:gd name="T22" fmla="*/ 0 60000 65536"/>
              <a:gd name="T23" fmla="*/ 0 60000 65536"/>
              <a:gd name="T24" fmla="*/ 0 w 2024"/>
              <a:gd name="T25" fmla="*/ 0 h 888"/>
              <a:gd name="T26" fmla="*/ 2024 w 2024"/>
              <a:gd name="T27" fmla="*/ 888 h 8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4" h="888">
                <a:moveTo>
                  <a:pt x="0" y="0"/>
                </a:moveTo>
                <a:cubicBezTo>
                  <a:pt x="8" y="324"/>
                  <a:pt x="16" y="648"/>
                  <a:pt x="32" y="768"/>
                </a:cubicBezTo>
                <a:cubicBezTo>
                  <a:pt x="48" y="888"/>
                  <a:pt x="60" y="720"/>
                  <a:pt x="96" y="720"/>
                </a:cubicBezTo>
                <a:cubicBezTo>
                  <a:pt x="132" y="720"/>
                  <a:pt x="185" y="764"/>
                  <a:pt x="248" y="768"/>
                </a:cubicBezTo>
                <a:cubicBezTo>
                  <a:pt x="311" y="772"/>
                  <a:pt x="348" y="741"/>
                  <a:pt x="472" y="744"/>
                </a:cubicBezTo>
                <a:cubicBezTo>
                  <a:pt x="596" y="747"/>
                  <a:pt x="820" y="776"/>
                  <a:pt x="992" y="784"/>
                </a:cubicBezTo>
                <a:cubicBezTo>
                  <a:pt x="1164" y="792"/>
                  <a:pt x="1332" y="788"/>
                  <a:pt x="1504" y="792"/>
                </a:cubicBezTo>
                <a:cubicBezTo>
                  <a:pt x="1676" y="796"/>
                  <a:pt x="1850" y="802"/>
                  <a:pt x="2024" y="808"/>
                </a:cubicBezTo>
              </a:path>
            </a:pathLst>
          </a:custGeom>
          <a:no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95592" name="Text Box 7"/>
          <p:cNvSpPr txBox="1">
            <a:spLocks noChangeArrowheads="1"/>
          </p:cNvSpPr>
          <p:nvPr/>
        </p:nvSpPr>
        <p:spPr bwMode="auto">
          <a:xfrm>
            <a:off x="5036632" y="4446588"/>
            <a:ext cx="1877438" cy="369332"/>
          </a:xfrm>
          <a:prstGeom prst="rect">
            <a:avLst/>
          </a:prstGeom>
          <a:noFill/>
          <a:ln w="9525" algn="ctr">
            <a:noFill/>
            <a:miter lim="800000"/>
            <a:headEnd/>
            <a:tailEnd/>
          </a:ln>
        </p:spPr>
        <p:txBody>
          <a:bodyPr wrap="none">
            <a:spAutoFit/>
          </a:bodyPr>
          <a:lstStyle/>
          <a:p>
            <a:pPr algn="ctr">
              <a:spcBef>
                <a:spcPct val="0"/>
              </a:spcBef>
            </a:pPr>
            <a:r>
              <a:rPr lang="en-US" sz="1800" b="0">
                <a:solidFill>
                  <a:schemeClr val="bg2"/>
                </a:solidFill>
                <a:latin typeface="Arial" pitchFamily="34" charset="0"/>
                <a:cs typeface="Arial" pitchFamily="34" charset="0"/>
              </a:rPr>
              <a:t>MCS queue lock</a:t>
            </a:r>
          </a:p>
        </p:txBody>
      </p:sp>
      <p:sp>
        <p:nvSpPr>
          <p:cNvPr id="195593" name="Freeform 8"/>
          <p:cNvSpPr>
            <a:spLocks/>
          </p:cNvSpPr>
          <p:nvPr/>
        </p:nvSpPr>
        <p:spPr bwMode="auto">
          <a:xfrm>
            <a:off x="1701800" y="3021013"/>
            <a:ext cx="3213100" cy="1892300"/>
          </a:xfrm>
          <a:custGeom>
            <a:avLst/>
            <a:gdLst>
              <a:gd name="T0" fmla="*/ 0 w 2024"/>
              <a:gd name="T1" fmla="*/ 0 h 1192"/>
              <a:gd name="T2" fmla="*/ 2147483647 w 2024"/>
              <a:gd name="T3" fmla="*/ 2147483647 h 1192"/>
              <a:gd name="T4" fmla="*/ 2147483647 w 2024"/>
              <a:gd name="T5" fmla="*/ 2147483647 h 1192"/>
              <a:gd name="T6" fmla="*/ 2147483647 w 2024"/>
              <a:gd name="T7" fmla="*/ 2147483647 h 1192"/>
              <a:gd name="T8" fmla="*/ 2147483647 w 2024"/>
              <a:gd name="T9" fmla="*/ 2147483647 h 1192"/>
              <a:gd name="T10" fmla="*/ 2147483647 w 2024"/>
              <a:gd name="T11" fmla="*/ 2147483647 h 1192"/>
              <a:gd name="T12" fmla="*/ 2147483647 w 2024"/>
              <a:gd name="T13" fmla="*/ 2147483647 h 1192"/>
              <a:gd name="T14" fmla="*/ 2147483647 w 2024"/>
              <a:gd name="T15" fmla="*/ 2147483647 h 1192"/>
              <a:gd name="T16" fmla="*/ 0 60000 65536"/>
              <a:gd name="T17" fmla="*/ 0 60000 65536"/>
              <a:gd name="T18" fmla="*/ 0 60000 65536"/>
              <a:gd name="T19" fmla="*/ 0 60000 65536"/>
              <a:gd name="T20" fmla="*/ 0 60000 65536"/>
              <a:gd name="T21" fmla="*/ 0 60000 65536"/>
              <a:gd name="T22" fmla="*/ 0 60000 65536"/>
              <a:gd name="T23" fmla="*/ 0 60000 65536"/>
              <a:gd name="T24" fmla="*/ 0 w 2024"/>
              <a:gd name="T25" fmla="*/ 0 h 1192"/>
              <a:gd name="T26" fmla="*/ 2024 w 2024"/>
              <a:gd name="T27" fmla="*/ 1192 h 11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4" h="1192">
                <a:moveTo>
                  <a:pt x="0" y="0"/>
                </a:moveTo>
                <a:cubicBezTo>
                  <a:pt x="14" y="128"/>
                  <a:pt x="28" y="256"/>
                  <a:pt x="48" y="352"/>
                </a:cubicBezTo>
                <a:cubicBezTo>
                  <a:pt x="68" y="448"/>
                  <a:pt x="88" y="493"/>
                  <a:pt x="120" y="576"/>
                </a:cubicBezTo>
                <a:cubicBezTo>
                  <a:pt x="152" y="659"/>
                  <a:pt x="176" y="789"/>
                  <a:pt x="240" y="848"/>
                </a:cubicBezTo>
                <a:cubicBezTo>
                  <a:pt x="304" y="907"/>
                  <a:pt x="376" y="881"/>
                  <a:pt x="504" y="928"/>
                </a:cubicBezTo>
                <a:cubicBezTo>
                  <a:pt x="632" y="975"/>
                  <a:pt x="839" y="1088"/>
                  <a:pt x="1008" y="1128"/>
                </a:cubicBezTo>
                <a:cubicBezTo>
                  <a:pt x="1177" y="1168"/>
                  <a:pt x="1351" y="1157"/>
                  <a:pt x="1520" y="1168"/>
                </a:cubicBezTo>
                <a:cubicBezTo>
                  <a:pt x="1689" y="1179"/>
                  <a:pt x="1940" y="1187"/>
                  <a:pt x="2024" y="1192"/>
                </a:cubicBezTo>
              </a:path>
            </a:pathLst>
          </a:custGeom>
          <a:no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95594" name="Text Box 9"/>
          <p:cNvSpPr txBox="1">
            <a:spLocks noChangeArrowheads="1"/>
          </p:cNvSpPr>
          <p:nvPr/>
        </p:nvSpPr>
        <p:spPr bwMode="auto">
          <a:xfrm>
            <a:off x="5064125" y="4776788"/>
            <a:ext cx="1139825" cy="366712"/>
          </a:xfrm>
          <a:prstGeom prst="rect">
            <a:avLst/>
          </a:prstGeom>
          <a:noFill/>
          <a:ln w="9525" algn="ctr">
            <a:noFill/>
            <a:miter lim="800000"/>
            <a:headEnd/>
            <a:tailEnd/>
          </a:ln>
        </p:spPr>
        <p:txBody>
          <a:bodyPr wrap="none">
            <a:spAutoFit/>
          </a:bodyPr>
          <a:lstStyle/>
          <a:p>
            <a:pPr algn="ctr">
              <a:spcBef>
                <a:spcPct val="0"/>
              </a:spcBef>
            </a:pPr>
            <a:r>
              <a:rPr lang="en-US" sz="1800" b="0">
                <a:solidFill>
                  <a:schemeClr val="bg2"/>
                </a:solidFill>
                <a:latin typeface="Arial" pitchFamily="34" charset="0"/>
                <a:cs typeface="Arial" pitchFamily="34" charset="0"/>
              </a:rPr>
              <a:t>Spin lock</a:t>
            </a:r>
          </a:p>
        </p:txBody>
      </p:sp>
      <p:sp>
        <p:nvSpPr>
          <p:cNvPr id="195595" name="Text Box 10"/>
          <p:cNvSpPr txBox="1">
            <a:spLocks noChangeArrowheads="1"/>
          </p:cNvSpPr>
          <p:nvPr/>
        </p:nvSpPr>
        <p:spPr bwMode="auto">
          <a:xfrm>
            <a:off x="2063750" y="5145088"/>
            <a:ext cx="2260600" cy="366712"/>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Number processors</a:t>
            </a:r>
          </a:p>
        </p:txBody>
      </p:sp>
      <p:sp>
        <p:nvSpPr>
          <p:cNvPr id="195596" name="Text Box 11"/>
          <p:cNvSpPr txBox="1">
            <a:spLocks noChangeArrowheads="1"/>
          </p:cNvSpPr>
          <p:nvPr/>
        </p:nvSpPr>
        <p:spPr bwMode="auto">
          <a:xfrm rot="-5400000">
            <a:off x="552044" y="3171309"/>
            <a:ext cx="1364476" cy="369332"/>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Throughput</a:t>
            </a:r>
          </a:p>
        </p:txBody>
      </p:sp>
      <p:sp>
        <p:nvSpPr>
          <p:cNvPr id="195597" name="Freeform 12"/>
          <p:cNvSpPr>
            <a:spLocks/>
          </p:cNvSpPr>
          <p:nvPr/>
        </p:nvSpPr>
        <p:spPr bwMode="auto">
          <a:xfrm>
            <a:off x="1739900" y="1966913"/>
            <a:ext cx="3200400" cy="2895600"/>
          </a:xfrm>
          <a:custGeom>
            <a:avLst/>
            <a:gdLst>
              <a:gd name="T0" fmla="*/ 2147483647 w 2016"/>
              <a:gd name="T1" fmla="*/ 0 h 1824"/>
              <a:gd name="T2" fmla="*/ 2147483647 w 2016"/>
              <a:gd name="T3" fmla="*/ 2147483647 h 1824"/>
              <a:gd name="T4" fmla="*/ 2147483647 w 2016"/>
              <a:gd name="T5" fmla="*/ 2147483647 h 1824"/>
              <a:gd name="T6" fmla="*/ 2147483647 w 2016"/>
              <a:gd name="T7" fmla="*/ 2147483647 h 1824"/>
              <a:gd name="T8" fmla="*/ 2147483647 w 2016"/>
              <a:gd name="T9" fmla="*/ 2147483647 h 1824"/>
              <a:gd name="T10" fmla="*/ 2147483647 w 2016"/>
              <a:gd name="T11" fmla="*/ 2147483647 h 1824"/>
              <a:gd name="T12" fmla="*/ 2147483647 w 2016"/>
              <a:gd name="T13" fmla="*/ 2147483647 h 1824"/>
              <a:gd name="T14" fmla="*/ 0 w 2016"/>
              <a:gd name="T15" fmla="*/ 2147483647 h 1824"/>
              <a:gd name="T16" fmla="*/ 0 60000 65536"/>
              <a:gd name="T17" fmla="*/ 0 60000 65536"/>
              <a:gd name="T18" fmla="*/ 0 60000 65536"/>
              <a:gd name="T19" fmla="*/ 0 60000 65536"/>
              <a:gd name="T20" fmla="*/ 0 60000 65536"/>
              <a:gd name="T21" fmla="*/ 0 60000 65536"/>
              <a:gd name="T22" fmla="*/ 0 60000 65536"/>
              <a:gd name="T23" fmla="*/ 0 60000 65536"/>
              <a:gd name="T24" fmla="*/ 0 w 2016"/>
              <a:gd name="T25" fmla="*/ 0 h 1824"/>
              <a:gd name="T26" fmla="*/ 2016 w 2016"/>
              <a:gd name="T27" fmla="*/ 1824 h 18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16" h="1824">
                <a:moveTo>
                  <a:pt x="2016" y="0"/>
                </a:moveTo>
                <a:cubicBezTo>
                  <a:pt x="1923" y="19"/>
                  <a:pt x="1656" y="112"/>
                  <a:pt x="1456" y="112"/>
                </a:cubicBezTo>
                <a:cubicBezTo>
                  <a:pt x="1304" y="368"/>
                  <a:pt x="1131" y="587"/>
                  <a:pt x="960" y="768"/>
                </a:cubicBezTo>
                <a:cubicBezTo>
                  <a:pt x="789" y="949"/>
                  <a:pt x="560" y="1072"/>
                  <a:pt x="432" y="1200"/>
                </a:cubicBezTo>
                <a:cubicBezTo>
                  <a:pt x="304" y="1328"/>
                  <a:pt x="248" y="1448"/>
                  <a:pt x="192" y="1536"/>
                </a:cubicBezTo>
                <a:cubicBezTo>
                  <a:pt x="136" y="1624"/>
                  <a:pt x="120" y="1688"/>
                  <a:pt x="96" y="1728"/>
                </a:cubicBezTo>
                <a:cubicBezTo>
                  <a:pt x="72" y="1768"/>
                  <a:pt x="64" y="1760"/>
                  <a:pt x="48" y="1776"/>
                </a:cubicBezTo>
                <a:cubicBezTo>
                  <a:pt x="32" y="1792"/>
                  <a:pt x="16" y="1808"/>
                  <a:pt x="0" y="1824"/>
                </a:cubicBezTo>
              </a:path>
            </a:pathLst>
          </a:custGeom>
          <a:noFill/>
          <a:ln w="38100">
            <a:solidFill>
              <a:srgbClr val="FF5050"/>
            </a:solidFill>
            <a:round/>
            <a:headEnd/>
            <a:tailEnd/>
          </a:ln>
        </p:spPr>
        <p:txBody>
          <a:bodyPr wrap="none" anchor="ctr"/>
          <a:lstStyle/>
          <a:p>
            <a:endParaRPr lang="en-US">
              <a:latin typeface="Arial" pitchFamily="34" charset="0"/>
              <a:cs typeface="Arial" pitchFamily="34" charset="0"/>
            </a:endParaRPr>
          </a:p>
        </p:txBody>
      </p:sp>
      <p:sp>
        <p:nvSpPr>
          <p:cNvPr id="195598" name="Freeform 13"/>
          <p:cNvSpPr>
            <a:spLocks/>
          </p:cNvSpPr>
          <p:nvPr/>
        </p:nvSpPr>
        <p:spPr bwMode="auto">
          <a:xfrm>
            <a:off x="1739900" y="1738313"/>
            <a:ext cx="3124200" cy="3124200"/>
          </a:xfrm>
          <a:custGeom>
            <a:avLst/>
            <a:gdLst>
              <a:gd name="T0" fmla="*/ 2147483647 w 1968"/>
              <a:gd name="T1" fmla="*/ 0 h 1968"/>
              <a:gd name="T2" fmla="*/ 2147483647 w 1968"/>
              <a:gd name="T3" fmla="*/ 2147483647 h 1968"/>
              <a:gd name="T4" fmla="*/ 2147483647 w 1968"/>
              <a:gd name="T5" fmla="*/ 2147483647 h 1968"/>
              <a:gd name="T6" fmla="*/ 2147483647 w 1968"/>
              <a:gd name="T7" fmla="*/ 2147483647 h 1968"/>
              <a:gd name="T8" fmla="*/ 2147483647 w 1968"/>
              <a:gd name="T9" fmla="*/ 2147483647 h 1968"/>
              <a:gd name="T10" fmla="*/ 2147483647 w 1968"/>
              <a:gd name="T11" fmla="*/ 2147483647 h 1968"/>
              <a:gd name="T12" fmla="*/ 0 w 1968"/>
              <a:gd name="T13" fmla="*/ 2147483647 h 1968"/>
              <a:gd name="T14" fmla="*/ 0 60000 65536"/>
              <a:gd name="T15" fmla="*/ 0 60000 65536"/>
              <a:gd name="T16" fmla="*/ 0 60000 65536"/>
              <a:gd name="T17" fmla="*/ 0 60000 65536"/>
              <a:gd name="T18" fmla="*/ 0 60000 65536"/>
              <a:gd name="T19" fmla="*/ 0 60000 65536"/>
              <a:gd name="T20" fmla="*/ 0 60000 65536"/>
              <a:gd name="T21" fmla="*/ 0 w 1968"/>
              <a:gd name="T22" fmla="*/ 0 h 1968"/>
              <a:gd name="T23" fmla="*/ 1968 w 1968"/>
              <a:gd name="T24" fmla="*/ 1968 h 19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8" h="1968">
                <a:moveTo>
                  <a:pt x="1968" y="0"/>
                </a:moveTo>
                <a:cubicBezTo>
                  <a:pt x="1788" y="176"/>
                  <a:pt x="1608" y="352"/>
                  <a:pt x="1440" y="528"/>
                </a:cubicBezTo>
                <a:cubicBezTo>
                  <a:pt x="1272" y="704"/>
                  <a:pt x="1120" y="888"/>
                  <a:pt x="960" y="1056"/>
                </a:cubicBezTo>
                <a:cubicBezTo>
                  <a:pt x="800" y="1224"/>
                  <a:pt x="608" y="1416"/>
                  <a:pt x="480" y="1536"/>
                </a:cubicBezTo>
                <a:cubicBezTo>
                  <a:pt x="352" y="1656"/>
                  <a:pt x="256" y="1712"/>
                  <a:pt x="192" y="1776"/>
                </a:cubicBezTo>
                <a:cubicBezTo>
                  <a:pt x="128" y="1840"/>
                  <a:pt x="128" y="1888"/>
                  <a:pt x="96" y="1920"/>
                </a:cubicBezTo>
                <a:cubicBezTo>
                  <a:pt x="64" y="1952"/>
                  <a:pt x="32" y="1960"/>
                  <a:pt x="0" y="1968"/>
                </a:cubicBezTo>
              </a:path>
            </a:pathLst>
          </a:custGeom>
          <a:noFill/>
          <a:ln w="38100">
            <a:solidFill>
              <a:schemeClr val="accent2"/>
            </a:solidFill>
            <a:round/>
            <a:headEnd/>
            <a:tailEnd/>
          </a:ln>
        </p:spPr>
        <p:txBody>
          <a:bodyPr wrap="none" anchor="ctr"/>
          <a:lstStyle/>
          <a:p>
            <a:endParaRPr lang="en-US">
              <a:latin typeface="Arial" pitchFamily="34" charset="0"/>
              <a:cs typeface="Arial" pitchFamily="34" charset="0"/>
            </a:endParaRPr>
          </a:p>
        </p:txBody>
      </p:sp>
      <p:sp>
        <p:nvSpPr>
          <p:cNvPr id="195599" name="Text Box 14"/>
          <p:cNvSpPr txBox="1">
            <a:spLocks noChangeArrowheads="1"/>
          </p:cNvSpPr>
          <p:nvPr/>
        </p:nvSpPr>
        <p:spPr bwMode="auto">
          <a:xfrm>
            <a:off x="4952023" y="1509713"/>
            <a:ext cx="2467342" cy="369332"/>
          </a:xfrm>
          <a:prstGeom prst="rect">
            <a:avLst/>
          </a:prstGeom>
          <a:noFill/>
          <a:ln w="9525" algn="ctr">
            <a:noFill/>
            <a:miter lim="800000"/>
            <a:headEnd/>
            <a:tailEnd/>
          </a:ln>
        </p:spPr>
        <p:txBody>
          <a:bodyPr wrap="none">
            <a:spAutoFit/>
          </a:bodyPr>
          <a:lstStyle/>
          <a:p>
            <a:pPr algn="ctr">
              <a:spcBef>
                <a:spcPct val="0"/>
              </a:spcBef>
            </a:pPr>
            <a:r>
              <a:rPr lang="en-US" sz="1800" b="0">
                <a:latin typeface="Arial" pitchFamily="34" charset="0"/>
                <a:cs typeface="Arial" pitchFamily="34" charset="0"/>
              </a:rPr>
              <a:t>64-leaf combining tree</a:t>
            </a:r>
          </a:p>
        </p:txBody>
      </p:sp>
      <p:sp>
        <p:nvSpPr>
          <p:cNvPr id="195600" name="Text Box 15"/>
          <p:cNvSpPr txBox="1">
            <a:spLocks noChangeArrowheads="1"/>
          </p:cNvSpPr>
          <p:nvPr/>
        </p:nvSpPr>
        <p:spPr bwMode="auto">
          <a:xfrm>
            <a:off x="4995258" y="1827213"/>
            <a:ext cx="3211135" cy="369332"/>
          </a:xfrm>
          <a:prstGeom prst="rect">
            <a:avLst/>
          </a:prstGeom>
          <a:noFill/>
          <a:ln w="9525" algn="ctr">
            <a:noFill/>
            <a:miter lim="800000"/>
            <a:headEnd/>
            <a:tailEnd/>
          </a:ln>
        </p:spPr>
        <p:txBody>
          <a:bodyPr wrap="none">
            <a:spAutoFit/>
          </a:bodyPr>
          <a:lstStyle/>
          <a:p>
            <a:pPr algn="ctr">
              <a:spcBef>
                <a:spcPct val="0"/>
              </a:spcBef>
            </a:pPr>
            <a:r>
              <a:rPr lang="en-US" sz="1800" b="0">
                <a:solidFill>
                  <a:srgbClr val="FF0000"/>
                </a:solidFill>
                <a:latin typeface="Arial" pitchFamily="34" charset="0"/>
                <a:cs typeface="Arial" pitchFamily="34" charset="0"/>
              </a:rPr>
              <a:t>80-balancer counting network</a:t>
            </a:r>
          </a:p>
        </p:txBody>
      </p:sp>
      <p:sp>
        <p:nvSpPr>
          <p:cNvPr id="195601" name="Text Box 16"/>
          <p:cNvSpPr txBox="1">
            <a:spLocks noChangeArrowheads="1"/>
          </p:cNvSpPr>
          <p:nvPr/>
        </p:nvSpPr>
        <p:spPr bwMode="auto">
          <a:xfrm>
            <a:off x="4210213" y="3500438"/>
            <a:ext cx="2723823" cy="523220"/>
          </a:xfrm>
          <a:prstGeom prst="rect">
            <a:avLst/>
          </a:prstGeom>
          <a:noFill/>
          <a:ln w="9525" algn="ctr">
            <a:noFill/>
            <a:miter lim="800000"/>
            <a:headEnd/>
            <a:tailEnd/>
          </a:ln>
        </p:spPr>
        <p:txBody>
          <a:bodyPr wrap="none">
            <a:spAutoFit/>
          </a:bodyPr>
          <a:lstStyle/>
          <a:p>
            <a:pPr algn="ctr">
              <a:spcBef>
                <a:spcPct val="0"/>
              </a:spcBef>
            </a:pPr>
            <a:r>
              <a:rPr lang="en-US" sz="2800" b="0">
                <a:latin typeface="Arial" pitchFamily="34" charset="0"/>
                <a:cs typeface="Arial" pitchFamily="34" charset="0"/>
              </a:rPr>
              <a:t>Higher is better!</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3"/>
          <p:cNvSpPr>
            <a:spLocks noGrp="1"/>
          </p:cNvSpPr>
          <p:nvPr>
            <p:ph type="ftr" sz="quarter" idx="10"/>
          </p:nvPr>
        </p:nvSpPr>
        <p:spPr/>
        <p:txBody>
          <a:bodyPr/>
          <a:lstStyle/>
          <a:p>
            <a:pPr>
              <a:defRPr/>
            </a:pPr>
            <a:r>
              <a:rPr lang="en-US"/>
              <a:t>Art of Multiprocessor Programming</a:t>
            </a:r>
          </a:p>
        </p:txBody>
      </p:sp>
      <p:sp>
        <p:nvSpPr>
          <p:cNvPr id="19" name="Slide Number Placeholder 4"/>
          <p:cNvSpPr>
            <a:spLocks noGrp="1"/>
          </p:cNvSpPr>
          <p:nvPr>
            <p:ph type="sldNum" sz="quarter" idx="11"/>
          </p:nvPr>
        </p:nvSpPr>
        <p:spPr/>
        <p:txBody>
          <a:bodyPr/>
          <a:lstStyle/>
          <a:p>
            <a:pPr>
              <a:defRPr/>
            </a:pPr>
            <a:fld id="{889A12F2-F91A-4191-98E0-767B9F756AF6}" type="slidenum">
              <a:rPr lang="en-US"/>
              <a:pPr>
                <a:defRPr/>
              </a:pPr>
              <a:t>198</a:t>
            </a:fld>
            <a:endParaRPr lang="en-US"/>
          </a:p>
        </p:txBody>
      </p:sp>
      <p:sp>
        <p:nvSpPr>
          <p:cNvPr id="196612" name="Rectangle 2"/>
          <p:cNvSpPr>
            <a:spLocks noGrp="1" noChangeArrowheads="1"/>
          </p:cNvSpPr>
          <p:nvPr>
            <p:ph type="title"/>
          </p:nvPr>
        </p:nvSpPr>
        <p:spPr>
          <a:xfrm>
            <a:off x="685800" y="276225"/>
            <a:ext cx="7772400" cy="1143000"/>
          </a:xfrm>
        </p:spPr>
        <p:txBody>
          <a:bodyPr/>
          <a:lstStyle/>
          <a:p>
            <a:r>
              <a:rPr lang="en-US"/>
              <a:t>Performance (Simulated)</a:t>
            </a:r>
          </a:p>
        </p:txBody>
      </p:sp>
      <p:sp>
        <p:nvSpPr>
          <p:cNvPr id="196613" name="Line 4"/>
          <p:cNvSpPr>
            <a:spLocks noChangeShapeType="1"/>
          </p:cNvSpPr>
          <p:nvPr/>
        </p:nvSpPr>
        <p:spPr bwMode="auto">
          <a:xfrm flipV="1">
            <a:off x="1663700" y="1635125"/>
            <a:ext cx="0" cy="336550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6614" name="Line 5"/>
          <p:cNvSpPr>
            <a:spLocks noChangeShapeType="1"/>
          </p:cNvSpPr>
          <p:nvPr/>
        </p:nvSpPr>
        <p:spPr bwMode="auto">
          <a:xfrm>
            <a:off x="1651000" y="4949825"/>
            <a:ext cx="3302000" cy="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6615" name="Freeform 6"/>
          <p:cNvSpPr>
            <a:spLocks/>
          </p:cNvSpPr>
          <p:nvPr/>
        </p:nvSpPr>
        <p:spPr bwMode="auto">
          <a:xfrm>
            <a:off x="1714500" y="3362325"/>
            <a:ext cx="3213100" cy="1409700"/>
          </a:xfrm>
          <a:custGeom>
            <a:avLst/>
            <a:gdLst>
              <a:gd name="T0" fmla="*/ 0 w 2024"/>
              <a:gd name="T1" fmla="*/ 0 h 888"/>
              <a:gd name="T2" fmla="*/ 2147483647 w 2024"/>
              <a:gd name="T3" fmla="*/ 2147483647 h 888"/>
              <a:gd name="T4" fmla="*/ 2147483647 w 2024"/>
              <a:gd name="T5" fmla="*/ 2147483647 h 888"/>
              <a:gd name="T6" fmla="*/ 2147483647 w 2024"/>
              <a:gd name="T7" fmla="*/ 2147483647 h 888"/>
              <a:gd name="T8" fmla="*/ 2147483647 w 2024"/>
              <a:gd name="T9" fmla="*/ 2147483647 h 888"/>
              <a:gd name="T10" fmla="*/ 2147483647 w 2024"/>
              <a:gd name="T11" fmla="*/ 2147483647 h 888"/>
              <a:gd name="T12" fmla="*/ 2147483647 w 2024"/>
              <a:gd name="T13" fmla="*/ 2147483647 h 888"/>
              <a:gd name="T14" fmla="*/ 2147483647 w 2024"/>
              <a:gd name="T15" fmla="*/ 2147483647 h 888"/>
              <a:gd name="T16" fmla="*/ 0 60000 65536"/>
              <a:gd name="T17" fmla="*/ 0 60000 65536"/>
              <a:gd name="T18" fmla="*/ 0 60000 65536"/>
              <a:gd name="T19" fmla="*/ 0 60000 65536"/>
              <a:gd name="T20" fmla="*/ 0 60000 65536"/>
              <a:gd name="T21" fmla="*/ 0 60000 65536"/>
              <a:gd name="T22" fmla="*/ 0 60000 65536"/>
              <a:gd name="T23" fmla="*/ 0 60000 65536"/>
              <a:gd name="T24" fmla="*/ 0 w 2024"/>
              <a:gd name="T25" fmla="*/ 0 h 888"/>
              <a:gd name="T26" fmla="*/ 2024 w 2024"/>
              <a:gd name="T27" fmla="*/ 888 h 8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4" h="888">
                <a:moveTo>
                  <a:pt x="0" y="0"/>
                </a:moveTo>
                <a:cubicBezTo>
                  <a:pt x="8" y="324"/>
                  <a:pt x="16" y="648"/>
                  <a:pt x="32" y="768"/>
                </a:cubicBezTo>
                <a:cubicBezTo>
                  <a:pt x="48" y="888"/>
                  <a:pt x="60" y="720"/>
                  <a:pt x="96" y="720"/>
                </a:cubicBezTo>
                <a:cubicBezTo>
                  <a:pt x="132" y="720"/>
                  <a:pt x="185" y="764"/>
                  <a:pt x="248" y="768"/>
                </a:cubicBezTo>
                <a:cubicBezTo>
                  <a:pt x="311" y="772"/>
                  <a:pt x="348" y="741"/>
                  <a:pt x="472" y="744"/>
                </a:cubicBezTo>
                <a:cubicBezTo>
                  <a:pt x="596" y="747"/>
                  <a:pt x="820" y="776"/>
                  <a:pt x="992" y="784"/>
                </a:cubicBezTo>
                <a:cubicBezTo>
                  <a:pt x="1164" y="792"/>
                  <a:pt x="1332" y="788"/>
                  <a:pt x="1504" y="792"/>
                </a:cubicBezTo>
                <a:cubicBezTo>
                  <a:pt x="1676" y="796"/>
                  <a:pt x="1850" y="802"/>
                  <a:pt x="2024" y="808"/>
                </a:cubicBezTo>
              </a:path>
            </a:pathLst>
          </a:custGeom>
          <a:no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96616" name="Text Box 7"/>
          <p:cNvSpPr txBox="1">
            <a:spLocks noChangeArrowheads="1"/>
          </p:cNvSpPr>
          <p:nvPr/>
        </p:nvSpPr>
        <p:spPr bwMode="auto">
          <a:xfrm>
            <a:off x="5036632" y="4432300"/>
            <a:ext cx="1877438" cy="369332"/>
          </a:xfrm>
          <a:prstGeom prst="rect">
            <a:avLst/>
          </a:prstGeom>
          <a:noFill/>
          <a:ln w="9525" algn="ctr">
            <a:noFill/>
            <a:miter lim="800000"/>
            <a:headEnd/>
            <a:tailEnd/>
          </a:ln>
        </p:spPr>
        <p:txBody>
          <a:bodyPr wrap="none">
            <a:spAutoFit/>
          </a:bodyPr>
          <a:lstStyle/>
          <a:p>
            <a:pPr algn="ctr">
              <a:spcBef>
                <a:spcPct val="0"/>
              </a:spcBef>
            </a:pPr>
            <a:r>
              <a:rPr lang="en-US" sz="1800" b="0">
                <a:solidFill>
                  <a:schemeClr val="bg2"/>
                </a:solidFill>
                <a:latin typeface="Arial" pitchFamily="34" charset="0"/>
                <a:cs typeface="Arial" pitchFamily="34" charset="0"/>
              </a:rPr>
              <a:t>MCS queue lock</a:t>
            </a:r>
          </a:p>
        </p:txBody>
      </p:sp>
      <p:sp>
        <p:nvSpPr>
          <p:cNvPr id="196617" name="Freeform 8"/>
          <p:cNvSpPr>
            <a:spLocks/>
          </p:cNvSpPr>
          <p:nvPr/>
        </p:nvSpPr>
        <p:spPr bwMode="auto">
          <a:xfrm>
            <a:off x="1701800" y="3006725"/>
            <a:ext cx="3213100" cy="1892300"/>
          </a:xfrm>
          <a:custGeom>
            <a:avLst/>
            <a:gdLst>
              <a:gd name="T0" fmla="*/ 0 w 2024"/>
              <a:gd name="T1" fmla="*/ 0 h 1192"/>
              <a:gd name="T2" fmla="*/ 2147483647 w 2024"/>
              <a:gd name="T3" fmla="*/ 2147483647 h 1192"/>
              <a:gd name="T4" fmla="*/ 2147483647 w 2024"/>
              <a:gd name="T5" fmla="*/ 2147483647 h 1192"/>
              <a:gd name="T6" fmla="*/ 2147483647 w 2024"/>
              <a:gd name="T7" fmla="*/ 2147483647 h 1192"/>
              <a:gd name="T8" fmla="*/ 2147483647 w 2024"/>
              <a:gd name="T9" fmla="*/ 2147483647 h 1192"/>
              <a:gd name="T10" fmla="*/ 2147483647 w 2024"/>
              <a:gd name="T11" fmla="*/ 2147483647 h 1192"/>
              <a:gd name="T12" fmla="*/ 2147483647 w 2024"/>
              <a:gd name="T13" fmla="*/ 2147483647 h 1192"/>
              <a:gd name="T14" fmla="*/ 2147483647 w 2024"/>
              <a:gd name="T15" fmla="*/ 2147483647 h 1192"/>
              <a:gd name="T16" fmla="*/ 0 60000 65536"/>
              <a:gd name="T17" fmla="*/ 0 60000 65536"/>
              <a:gd name="T18" fmla="*/ 0 60000 65536"/>
              <a:gd name="T19" fmla="*/ 0 60000 65536"/>
              <a:gd name="T20" fmla="*/ 0 60000 65536"/>
              <a:gd name="T21" fmla="*/ 0 60000 65536"/>
              <a:gd name="T22" fmla="*/ 0 60000 65536"/>
              <a:gd name="T23" fmla="*/ 0 60000 65536"/>
              <a:gd name="T24" fmla="*/ 0 w 2024"/>
              <a:gd name="T25" fmla="*/ 0 h 1192"/>
              <a:gd name="T26" fmla="*/ 2024 w 2024"/>
              <a:gd name="T27" fmla="*/ 1192 h 11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4" h="1192">
                <a:moveTo>
                  <a:pt x="0" y="0"/>
                </a:moveTo>
                <a:cubicBezTo>
                  <a:pt x="14" y="128"/>
                  <a:pt x="28" y="256"/>
                  <a:pt x="48" y="352"/>
                </a:cubicBezTo>
                <a:cubicBezTo>
                  <a:pt x="68" y="448"/>
                  <a:pt x="88" y="493"/>
                  <a:pt x="120" y="576"/>
                </a:cubicBezTo>
                <a:cubicBezTo>
                  <a:pt x="152" y="659"/>
                  <a:pt x="176" y="789"/>
                  <a:pt x="240" y="848"/>
                </a:cubicBezTo>
                <a:cubicBezTo>
                  <a:pt x="304" y="907"/>
                  <a:pt x="376" y="881"/>
                  <a:pt x="504" y="928"/>
                </a:cubicBezTo>
                <a:cubicBezTo>
                  <a:pt x="632" y="975"/>
                  <a:pt x="839" y="1088"/>
                  <a:pt x="1008" y="1128"/>
                </a:cubicBezTo>
                <a:cubicBezTo>
                  <a:pt x="1177" y="1168"/>
                  <a:pt x="1351" y="1157"/>
                  <a:pt x="1520" y="1168"/>
                </a:cubicBezTo>
                <a:cubicBezTo>
                  <a:pt x="1689" y="1179"/>
                  <a:pt x="1940" y="1187"/>
                  <a:pt x="2024" y="1192"/>
                </a:cubicBezTo>
              </a:path>
            </a:pathLst>
          </a:custGeom>
          <a:no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96618" name="Text Box 9"/>
          <p:cNvSpPr txBox="1">
            <a:spLocks noChangeArrowheads="1"/>
          </p:cNvSpPr>
          <p:nvPr/>
        </p:nvSpPr>
        <p:spPr bwMode="auto">
          <a:xfrm>
            <a:off x="5064125" y="4762500"/>
            <a:ext cx="1139825" cy="366713"/>
          </a:xfrm>
          <a:prstGeom prst="rect">
            <a:avLst/>
          </a:prstGeom>
          <a:noFill/>
          <a:ln w="9525" algn="ctr">
            <a:noFill/>
            <a:miter lim="800000"/>
            <a:headEnd/>
            <a:tailEnd/>
          </a:ln>
        </p:spPr>
        <p:txBody>
          <a:bodyPr wrap="none">
            <a:spAutoFit/>
          </a:bodyPr>
          <a:lstStyle/>
          <a:p>
            <a:pPr algn="ctr">
              <a:spcBef>
                <a:spcPct val="0"/>
              </a:spcBef>
            </a:pPr>
            <a:r>
              <a:rPr lang="en-US" sz="1800" b="0">
                <a:solidFill>
                  <a:schemeClr val="bg2"/>
                </a:solidFill>
                <a:latin typeface="Arial" pitchFamily="34" charset="0"/>
                <a:cs typeface="Arial" pitchFamily="34" charset="0"/>
              </a:rPr>
              <a:t>Spin lock</a:t>
            </a:r>
          </a:p>
        </p:txBody>
      </p:sp>
      <p:sp>
        <p:nvSpPr>
          <p:cNvPr id="196619" name="Text Box 10"/>
          <p:cNvSpPr txBox="1">
            <a:spLocks noChangeArrowheads="1"/>
          </p:cNvSpPr>
          <p:nvPr/>
        </p:nvSpPr>
        <p:spPr bwMode="auto">
          <a:xfrm>
            <a:off x="2058988" y="5130800"/>
            <a:ext cx="2260600" cy="366713"/>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Number processors</a:t>
            </a:r>
          </a:p>
        </p:txBody>
      </p:sp>
      <p:sp>
        <p:nvSpPr>
          <p:cNvPr id="196620" name="Text Box 11"/>
          <p:cNvSpPr txBox="1">
            <a:spLocks noChangeArrowheads="1"/>
          </p:cNvSpPr>
          <p:nvPr/>
        </p:nvSpPr>
        <p:spPr bwMode="auto">
          <a:xfrm rot="-5400000">
            <a:off x="552044" y="3157022"/>
            <a:ext cx="1364476" cy="369332"/>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Throughput</a:t>
            </a:r>
          </a:p>
        </p:txBody>
      </p:sp>
      <p:sp>
        <p:nvSpPr>
          <p:cNvPr id="196621" name="Freeform 12"/>
          <p:cNvSpPr>
            <a:spLocks/>
          </p:cNvSpPr>
          <p:nvPr/>
        </p:nvSpPr>
        <p:spPr bwMode="auto">
          <a:xfrm>
            <a:off x="1739900" y="1952625"/>
            <a:ext cx="3200400" cy="2895600"/>
          </a:xfrm>
          <a:custGeom>
            <a:avLst/>
            <a:gdLst>
              <a:gd name="T0" fmla="*/ 2147483647 w 2016"/>
              <a:gd name="T1" fmla="*/ 0 h 1824"/>
              <a:gd name="T2" fmla="*/ 2147483647 w 2016"/>
              <a:gd name="T3" fmla="*/ 2147483647 h 1824"/>
              <a:gd name="T4" fmla="*/ 2147483647 w 2016"/>
              <a:gd name="T5" fmla="*/ 2147483647 h 1824"/>
              <a:gd name="T6" fmla="*/ 2147483647 w 2016"/>
              <a:gd name="T7" fmla="*/ 2147483647 h 1824"/>
              <a:gd name="T8" fmla="*/ 2147483647 w 2016"/>
              <a:gd name="T9" fmla="*/ 2147483647 h 1824"/>
              <a:gd name="T10" fmla="*/ 2147483647 w 2016"/>
              <a:gd name="T11" fmla="*/ 2147483647 h 1824"/>
              <a:gd name="T12" fmla="*/ 2147483647 w 2016"/>
              <a:gd name="T13" fmla="*/ 2147483647 h 1824"/>
              <a:gd name="T14" fmla="*/ 0 w 2016"/>
              <a:gd name="T15" fmla="*/ 2147483647 h 1824"/>
              <a:gd name="T16" fmla="*/ 0 60000 65536"/>
              <a:gd name="T17" fmla="*/ 0 60000 65536"/>
              <a:gd name="T18" fmla="*/ 0 60000 65536"/>
              <a:gd name="T19" fmla="*/ 0 60000 65536"/>
              <a:gd name="T20" fmla="*/ 0 60000 65536"/>
              <a:gd name="T21" fmla="*/ 0 60000 65536"/>
              <a:gd name="T22" fmla="*/ 0 60000 65536"/>
              <a:gd name="T23" fmla="*/ 0 60000 65536"/>
              <a:gd name="T24" fmla="*/ 0 w 2016"/>
              <a:gd name="T25" fmla="*/ 0 h 1824"/>
              <a:gd name="T26" fmla="*/ 2016 w 2016"/>
              <a:gd name="T27" fmla="*/ 1824 h 18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16" h="1824">
                <a:moveTo>
                  <a:pt x="2016" y="0"/>
                </a:moveTo>
                <a:cubicBezTo>
                  <a:pt x="1923" y="19"/>
                  <a:pt x="1656" y="112"/>
                  <a:pt x="1456" y="112"/>
                </a:cubicBezTo>
                <a:cubicBezTo>
                  <a:pt x="1304" y="368"/>
                  <a:pt x="1131" y="587"/>
                  <a:pt x="960" y="768"/>
                </a:cubicBezTo>
                <a:cubicBezTo>
                  <a:pt x="789" y="949"/>
                  <a:pt x="560" y="1072"/>
                  <a:pt x="432" y="1200"/>
                </a:cubicBezTo>
                <a:cubicBezTo>
                  <a:pt x="304" y="1328"/>
                  <a:pt x="248" y="1448"/>
                  <a:pt x="192" y="1536"/>
                </a:cubicBezTo>
                <a:cubicBezTo>
                  <a:pt x="136" y="1624"/>
                  <a:pt x="120" y="1688"/>
                  <a:pt x="96" y="1728"/>
                </a:cubicBezTo>
                <a:cubicBezTo>
                  <a:pt x="72" y="1768"/>
                  <a:pt x="64" y="1760"/>
                  <a:pt x="48" y="1776"/>
                </a:cubicBezTo>
                <a:cubicBezTo>
                  <a:pt x="32" y="1792"/>
                  <a:pt x="16" y="1808"/>
                  <a:pt x="0" y="1824"/>
                </a:cubicBezTo>
              </a:path>
            </a:pathLst>
          </a:custGeom>
          <a:noFill/>
          <a:ln w="38100">
            <a:solidFill>
              <a:srgbClr val="FF5050"/>
            </a:solidFill>
            <a:round/>
            <a:headEnd/>
            <a:tailEnd/>
          </a:ln>
        </p:spPr>
        <p:txBody>
          <a:bodyPr wrap="none" anchor="ctr"/>
          <a:lstStyle/>
          <a:p>
            <a:endParaRPr lang="en-US">
              <a:latin typeface="Arial" pitchFamily="34" charset="0"/>
              <a:cs typeface="Arial" pitchFamily="34" charset="0"/>
            </a:endParaRPr>
          </a:p>
        </p:txBody>
      </p:sp>
      <p:sp>
        <p:nvSpPr>
          <p:cNvPr id="196622" name="Freeform 13"/>
          <p:cNvSpPr>
            <a:spLocks/>
          </p:cNvSpPr>
          <p:nvPr/>
        </p:nvSpPr>
        <p:spPr bwMode="auto">
          <a:xfrm>
            <a:off x="1739900" y="1724025"/>
            <a:ext cx="3124200" cy="3124200"/>
          </a:xfrm>
          <a:custGeom>
            <a:avLst/>
            <a:gdLst>
              <a:gd name="T0" fmla="*/ 2147483647 w 1968"/>
              <a:gd name="T1" fmla="*/ 0 h 1968"/>
              <a:gd name="T2" fmla="*/ 2147483647 w 1968"/>
              <a:gd name="T3" fmla="*/ 2147483647 h 1968"/>
              <a:gd name="T4" fmla="*/ 2147483647 w 1968"/>
              <a:gd name="T5" fmla="*/ 2147483647 h 1968"/>
              <a:gd name="T6" fmla="*/ 2147483647 w 1968"/>
              <a:gd name="T7" fmla="*/ 2147483647 h 1968"/>
              <a:gd name="T8" fmla="*/ 2147483647 w 1968"/>
              <a:gd name="T9" fmla="*/ 2147483647 h 1968"/>
              <a:gd name="T10" fmla="*/ 2147483647 w 1968"/>
              <a:gd name="T11" fmla="*/ 2147483647 h 1968"/>
              <a:gd name="T12" fmla="*/ 0 w 1968"/>
              <a:gd name="T13" fmla="*/ 2147483647 h 1968"/>
              <a:gd name="T14" fmla="*/ 0 60000 65536"/>
              <a:gd name="T15" fmla="*/ 0 60000 65536"/>
              <a:gd name="T16" fmla="*/ 0 60000 65536"/>
              <a:gd name="T17" fmla="*/ 0 60000 65536"/>
              <a:gd name="T18" fmla="*/ 0 60000 65536"/>
              <a:gd name="T19" fmla="*/ 0 60000 65536"/>
              <a:gd name="T20" fmla="*/ 0 60000 65536"/>
              <a:gd name="T21" fmla="*/ 0 w 1968"/>
              <a:gd name="T22" fmla="*/ 0 h 1968"/>
              <a:gd name="T23" fmla="*/ 1968 w 1968"/>
              <a:gd name="T24" fmla="*/ 1968 h 19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8" h="1968">
                <a:moveTo>
                  <a:pt x="1968" y="0"/>
                </a:moveTo>
                <a:cubicBezTo>
                  <a:pt x="1788" y="176"/>
                  <a:pt x="1608" y="352"/>
                  <a:pt x="1440" y="528"/>
                </a:cubicBezTo>
                <a:cubicBezTo>
                  <a:pt x="1272" y="704"/>
                  <a:pt x="1120" y="888"/>
                  <a:pt x="960" y="1056"/>
                </a:cubicBezTo>
                <a:cubicBezTo>
                  <a:pt x="800" y="1224"/>
                  <a:pt x="608" y="1416"/>
                  <a:pt x="480" y="1536"/>
                </a:cubicBezTo>
                <a:cubicBezTo>
                  <a:pt x="352" y="1656"/>
                  <a:pt x="256" y="1712"/>
                  <a:pt x="192" y="1776"/>
                </a:cubicBezTo>
                <a:cubicBezTo>
                  <a:pt x="128" y="1840"/>
                  <a:pt x="128" y="1888"/>
                  <a:pt x="96" y="1920"/>
                </a:cubicBezTo>
                <a:cubicBezTo>
                  <a:pt x="64" y="1952"/>
                  <a:pt x="32" y="1960"/>
                  <a:pt x="0" y="1968"/>
                </a:cubicBezTo>
              </a:path>
            </a:pathLst>
          </a:custGeom>
          <a:noFill/>
          <a:ln w="38100">
            <a:solidFill>
              <a:schemeClr val="accent2"/>
            </a:solidFill>
            <a:round/>
            <a:headEnd/>
            <a:tailEnd/>
          </a:ln>
        </p:spPr>
        <p:txBody>
          <a:bodyPr wrap="none" anchor="ctr"/>
          <a:lstStyle/>
          <a:p>
            <a:endParaRPr lang="en-US">
              <a:latin typeface="Arial" pitchFamily="34" charset="0"/>
              <a:cs typeface="Arial" pitchFamily="34" charset="0"/>
            </a:endParaRPr>
          </a:p>
        </p:txBody>
      </p:sp>
      <p:sp>
        <p:nvSpPr>
          <p:cNvPr id="196623" name="Text Box 14"/>
          <p:cNvSpPr txBox="1">
            <a:spLocks noChangeArrowheads="1"/>
          </p:cNvSpPr>
          <p:nvPr/>
        </p:nvSpPr>
        <p:spPr bwMode="auto">
          <a:xfrm>
            <a:off x="4952023" y="1495425"/>
            <a:ext cx="2467342" cy="369332"/>
          </a:xfrm>
          <a:prstGeom prst="rect">
            <a:avLst/>
          </a:prstGeom>
          <a:noFill/>
          <a:ln w="9525" algn="ctr">
            <a:noFill/>
            <a:miter lim="800000"/>
            <a:headEnd/>
            <a:tailEnd/>
          </a:ln>
        </p:spPr>
        <p:txBody>
          <a:bodyPr wrap="none">
            <a:spAutoFit/>
          </a:bodyPr>
          <a:lstStyle/>
          <a:p>
            <a:pPr algn="ctr">
              <a:spcBef>
                <a:spcPct val="0"/>
              </a:spcBef>
            </a:pPr>
            <a:r>
              <a:rPr lang="en-US" sz="1800" b="0">
                <a:latin typeface="Arial" pitchFamily="34" charset="0"/>
                <a:cs typeface="Arial" pitchFamily="34" charset="0"/>
              </a:rPr>
              <a:t>64-leaf combining tree</a:t>
            </a:r>
          </a:p>
        </p:txBody>
      </p:sp>
      <p:sp>
        <p:nvSpPr>
          <p:cNvPr id="196624" name="Text Box 15"/>
          <p:cNvSpPr txBox="1">
            <a:spLocks noChangeArrowheads="1"/>
          </p:cNvSpPr>
          <p:nvPr/>
        </p:nvSpPr>
        <p:spPr bwMode="auto">
          <a:xfrm>
            <a:off x="4995258" y="1812925"/>
            <a:ext cx="3211135" cy="369332"/>
          </a:xfrm>
          <a:prstGeom prst="rect">
            <a:avLst/>
          </a:prstGeom>
          <a:noFill/>
          <a:ln w="9525" algn="ctr">
            <a:noFill/>
            <a:miter lim="800000"/>
            <a:headEnd/>
            <a:tailEnd/>
          </a:ln>
        </p:spPr>
        <p:txBody>
          <a:bodyPr wrap="none">
            <a:spAutoFit/>
          </a:bodyPr>
          <a:lstStyle/>
          <a:p>
            <a:pPr algn="ctr">
              <a:spcBef>
                <a:spcPct val="0"/>
              </a:spcBef>
            </a:pPr>
            <a:r>
              <a:rPr lang="en-US" sz="1800" b="0">
                <a:solidFill>
                  <a:srgbClr val="FF0000"/>
                </a:solidFill>
                <a:latin typeface="Arial" pitchFamily="34" charset="0"/>
                <a:cs typeface="Arial" pitchFamily="34" charset="0"/>
              </a:rPr>
              <a:t>80-balancer counting network</a:t>
            </a:r>
          </a:p>
        </p:txBody>
      </p:sp>
      <p:sp>
        <p:nvSpPr>
          <p:cNvPr id="196625" name="AutoShape 16"/>
          <p:cNvSpPr>
            <a:spLocks noChangeArrowheads="1"/>
          </p:cNvSpPr>
          <p:nvPr/>
        </p:nvSpPr>
        <p:spPr bwMode="auto">
          <a:xfrm>
            <a:off x="4813300" y="1279525"/>
            <a:ext cx="3594100" cy="1066800"/>
          </a:xfrm>
          <a:prstGeom prst="wedgeRoundRectCallout">
            <a:avLst>
              <a:gd name="adj1" fmla="val -926"/>
              <a:gd name="adj2" fmla="val 108630"/>
              <a:gd name="adj3" fmla="val 16667"/>
            </a:avLst>
          </a:prstGeom>
          <a:noFill/>
          <a:ln w="38100" algn="ctr">
            <a:solidFill>
              <a:schemeClr val="accent1"/>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96626" name="Text Box 17"/>
          <p:cNvSpPr txBox="1">
            <a:spLocks noChangeArrowheads="1"/>
          </p:cNvSpPr>
          <p:nvPr/>
        </p:nvSpPr>
        <p:spPr bwMode="auto">
          <a:xfrm>
            <a:off x="4572000" y="2913063"/>
            <a:ext cx="3846513" cy="830997"/>
          </a:xfrm>
          <a:prstGeom prst="rect">
            <a:avLst/>
          </a:prstGeom>
          <a:noFill/>
          <a:ln w="9525" algn="ctr">
            <a:noFill/>
            <a:miter lim="800000"/>
            <a:headEnd/>
            <a:tailEnd/>
          </a:ln>
        </p:spPr>
        <p:txBody>
          <a:bodyPr>
            <a:spAutoFit/>
          </a:bodyPr>
          <a:lstStyle/>
          <a:p>
            <a:pPr algn="ctr">
              <a:spcBef>
                <a:spcPct val="0"/>
              </a:spcBef>
            </a:pPr>
            <a:r>
              <a:rPr lang="en-US" b="0">
                <a:solidFill>
                  <a:schemeClr val="accent1"/>
                </a:solidFill>
                <a:latin typeface="Arial" pitchFamily="34" charset="0"/>
                <a:cs typeface="Arial" pitchFamily="34" charset="0"/>
              </a:rPr>
              <a:t>Combining and counting are pretty close</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3"/>
          <p:cNvSpPr>
            <a:spLocks noGrp="1"/>
          </p:cNvSpPr>
          <p:nvPr>
            <p:ph type="ftr" sz="quarter" idx="10"/>
          </p:nvPr>
        </p:nvSpPr>
        <p:spPr/>
        <p:txBody>
          <a:bodyPr/>
          <a:lstStyle/>
          <a:p>
            <a:pPr>
              <a:defRPr/>
            </a:pPr>
            <a:r>
              <a:rPr lang="en-US"/>
              <a:t>Art of Multiprocessor Programming</a:t>
            </a:r>
          </a:p>
        </p:txBody>
      </p:sp>
      <p:sp>
        <p:nvSpPr>
          <p:cNvPr id="19" name="Slide Number Placeholder 4"/>
          <p:cNvSpPr>
            <a:spLocks noGrp="1"/>
          </p:cNvSpPr>
          <p:nvPr>
            <p:ph type="sldNum" sz="quarter" idx="11"/>
          </p:nvPr>
        </p:nvSpPr>
        <p:spPr/>
        <p:txBody>
          <a:bodyPr/>
          <a:lstStyle/>
          <a:p>
            <a:pPr>
              <a:defRPr/>
            </a:pPr>
            <a:fld id="{97883176-925E-42BF-B321-15CADD82591D}" type="slidenum">
              <a:rPr lang="en-US"/>
              <a:pPr>
                <a:defRPr/>
              </a:pPr>
              <a:t>199</a:t>
            </a:fld>
            <a:endParaRPr lang="en-US"/>
          </a:p>
        </p:txBody>
      </p:sp>
      <p:sp>
        <p:nvSpPr>
          <p:cNvPr id="197636" name="Rectangle 2"/>
          <p:cNvSpPr>
            <a:spLocks noGrp="1" noChangeArrowheads="1"/>
          </p:cNvSpPr>
          <p:nvPr>
            <p:ph type="title"/>
          </p:nvPr>
        </p:nvSpPr>
        <p:spPr>
          <a:xfrm>
            <a:off x="685800" y="160338"/>
            <a:ext cx="7772400" cy="1143000"/>
          </a:xfrm>
        </p:spPr>
        <p:txBody>
          <a:bodyPr/>
          <a:lstStyle/>
          <a:p>
            <a:r>
              <a:rPr lang="en-US"/>
              <a:t>Performance (Simulated)</a:t>
            </a:r>
          </a:p>
        </p:txBody>
      </p:sp>
      <p:sp>
        <p:nvSpPr>
          <p:cNvPr id="197637" name="Line 4"/>
          <p:cNvSpPr>
            <a:spLocks noChangeShapeType="1"/>
          </p:cNvSpPr>
          <p:nvPr/>
        </p:nvSpPr>
        <p:spPr bwMode="auto">
          <a:xfrm flipV="1">
            <a:off x="1663700" y="1519238"/>
            <a:ext cx="0" cy="336550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7638" name="Line 5"/>
          <p:cNvSpPr>
            <a:spLocks noChangeShapeType="1"/>
          </p:cNvSpPr>
          <p:nvPr/>
        </p:nvSpPr>
        <p:spPr bwMode="auto">
          <a:xfrm>
            <a:off x="1651000" y="4833938"/>
            <a:ext cx="3302000" cy="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7639" name="Freeform 6"/>
          <p:cNvSpPr>
            <a:spLocks/>
          </p:cNvSpPr>
          <p:nvPr/>
        </p:nvSpPr>
        <p:spPr bwMode="auto">
          <a:xfrm>
            <a:off x="1714500" y="3246438"/>
            <a:ext cx="3213100" cy="1409700"/>
          </a:xfrm>
          <a:custGeom>
            <a:avLst/>
            <a:gdLst>
              <a:gd name="T0" fmla="*/ 0 w 2024"/>
              <a:gd name="T1" fmla="*/ 0 h 888"/>
              <a:gd name="T2" fmla="*/ 2147483647 w 2024"/>
              <a:gd name="T3" fmla="*/ 2147483647 h 888"/>
              <a:gd name="T4" fmla="*/ 2147483647 w 2024"/>
              <a:gd name="T5" fmla="*/ 2147483647 h 888"/>
              <a:gd name="T6" fmla="*/ 2147483647 w 2024"/>
              <a:gd name="T7" fmla="*/ 2147483647 h 888"/>
              <a:gd name="T8" fmla="*/ 2147483647 w 2024"/>
              <a:gd name="T9" fmla="*/ 2147483647 h 888"/>
              <a:gd name="T10" fmla="*/ 2147483647 w 2024"/>
              <a:gd name="T11" fmla="*/ 2147483647 h 888"/>
              <a:gd name="T12" fmla="*/ 2147483647 w 2024"/>
              <a:gd name="T13" fmla="*/ 2147483647 h 888"/>
              <a:gd name="T14" fmla="*/ 2147483647 w 2024"/>
              <a:gd name="T15" fmla="*/ 2147483647 h 888"/>
              <a:gd name="T16" fmla="*/ 0 60000 65536"/>
              <a:gd name="T17" fmla="*/ 0 60000 65536"/>
              <a:gd name="T18" fmla="*/ 0 60000 65536"/>
              <a:gd name="T19" fmla="*/ 0 60000 65536"/>
              <a:gd name="T20" fmla="*/ 0 60000 65536"/>
              <a:gd name="T21" fmla="*/ 0 60000 65536"/>
              <a:gd name="T22" fmla="*/ 0 60000 65536"/>
              <a:gd name="T23" fmla="*/ 0 60000 65536"/>
              <a:gd name="T24" fmla="*/ 0 w 2024"/>
              <a:gd name="T25" fmla="*/ 0 h 888"/>
              <a:gd name="T26" fmla="*/ 2024 w 2024"/>
              <a:gd name="T27" fmla="*/ 888 h 8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4" h="888">
                <a:moveTo>
                  <a:pt x="0" y="0"/>
                </a:moveTo>
                <a:cubicBezTo>
                  <a:pt x="8" y="324"/>
                  <a:pt x="16" y="648"/>
                  <a:pt x="32" y="768"/>
                </a:cubicBezTo>
                <a:cubicBezTo>
                  <a:pt x="48" y="888"/>
                  <a:pt x="60" y="720"/>
                  <a:pt x="96" y="720"/>
                </a:cubicBezTo>
                <a:cubicBezTo>
                  <a:pt x="132" y="720"/>
                  <a:pt x="185" y="764"/>
                  <a:pt x="248" y="768"/>
                </a:cubicBezTo>
                <a:cubicBezTo>
                  <a:pt x="311" y="772"/>
                  <a:pt x="348" y="741"/>
                  <a:pt x="472" y="744"/>
                </a:cubicBezTo>
                <a:cubicBezTo>
                  <a:pt x="596" y="747"/>
                  <a:pt x="820" y="776"/>
                  <a:pt x="992" y="784"/>
                </a:cubicBezTo>
                <a:cubicBezTo>
                  <a:pt x="1164" y="792"/>
                  <a:pt x="1332" y="788"/>
                  <a:pt x="1504" y="792"/>
                </a:cubicBezTo>
                <a:cubicBezTo>
                  <a:pt x="1676" y="796"/>
                  <a:pt x="1850" y="802"/>
                  <a:pt x="2024" y="808"/>
                </a:cubicBezTo>
              </a:path>
            </a:pathLst>
          </a:custGeom>
          <a:no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97640" name="Text Box 7"/>
          <p:cNvSpPr txBox="1">
            <a:spLocks noChangeArrowheads="1"/>
          </p:cNvSpPr>
          <p:nvPr/>
        </p:nvSpPr>
        <p:spPr bwMode="auto">
          <a:xfrm>
            <a:off x="5036632" y="4316413"/>
            <a:ext cx="1877438" cy="369332"/>
          </a:xfrm>
          <a:prstGeom prst="rect">
            <a:avLst/>
          </a:prstGeom>
          <a:noFill/>
          <a:ln w="9525" algn="ctr">
            <a:noFill/>
            <a:miter lim="800000"/>
            <a:headEnd/>
            <a:tailEnd/>
          </a:ln>
        </p:spPr>
        <p:txBody>
          <a:bodyPr wrap="none">
            <a:spAutoFit/>
          </a:bodyPr>
          <a:lstStyle/>
          <a:p>
            <a:pPr algn="ctr">
              <a:spcBef>
                <a:spcPct val="0"/>
              </a:spcBef>
            </a:pPr>
            <a:r>
              <a:rPr lang="en-US" sz="1800" b="0">
                <a:solidFill>
                  <a:schemeClr val="bg2"/>
                </a:solidFill>
                <a:latin typeface="Arial" pitchFamily="34" charset="0"/>
                <a:cs typeface="Arial" pitchFamily="34" charset="0"/>
              </a:rPr>
              <a:t>MCS queue lock</a:t>
            </a:r>
          </a:p>
        </p:txBody>
      </p:sp>
      <p:sp>
        <p:nvSpPr>
          <p:cNvPr id="197641" name="Freeform 8"/>
          <p:cNvSpPr>
            <a:spLocks/>
          </p:cNvSpPr>
          <p:nvPr/>
        </p:nvSpPr>
        <p:spPr bwMode="auto">
          <a:xfrm>
            <a:off x="1701800" y="2890838"/>
            <a:ext cx="3213100" cy="1892300"/>
          </a:xfrm>
          <a:custGeom>
            <a:avLst/>
            <a:gdLst>
              <a:gd name="T0" fmla="*/ 0 w 2024"/>
              <a:gd name="T1" fmla="*/ 0 h 1192"/>
              <a:gd name="T2" fmla="*/ 2147483647 w 2024"/>
              <a:gd name="T3" fmla="*/ 2147483647 h 1192"/>
              <a:gd name="T4" fmla="*/ 2147483647 w 2024"/>
              <a:gd name="T5" fmla="*/ 2147483647 h 1192"/>
              <a:gd name="T6" fmla="*/ 2147483647 w 2024"/>
              <a:gd name="T7" fmla="*/ 2147483647 h 1192"/>
              <a:gd name="T8" fmla="*/ 2147483647 w 2024"/>
              <a:gd name="T9" fmla="*/ 2147483647 h 1192"/>
              <a:gd name="T10" fmla="*/ 2147483647 w 2024"/>
              <a:gd name="T11" fmla="*/ 2147483647 h 1192"/>
              <a:gd name="T12" fmla="*/ 2147483647 w 2024"/>
              <a:gd name="T13" fmla="*/ 2147483647 h 1192"/>
              <a:gd name="T14" fmla="*/ 2147483647 w 2024"/>
              <a:gd name="T15" fmla="*/ 2147483647 h 1192"/>
              <a:gd name="T16" fmla="*/ 0 60000 65536"/>
              <a:gd name="T17" fmla="*/ 0 60000 65536"/>
              <a:gd name="T18" fmla="*/ 0 60000 65536"/>
              <a:gd name="T19" fmla="*/ 0 60000 65536"/>
              <a:gd name="T20" fmla="*/ 0 60000 65536"/>
              <a:gd name="T21" fmla="*/ 0 60000 65536"/>
              <a:gd name="T22" fmla="*/ 0 60000 65536"/>
              <a:gd name="T23" fmla="*/ 0 60000 65536"/>
              <a:gd name="T24" fmla="*/ 0 w 2024"/>
              <a:gd name="T25" fmla="*/ 0 h 1192"/>
              <a:gd name="T26" fmla="*/ 2024 w 2024"/>
              <a:gd name="T27" fmla="*/ 1192 h 11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24" h="1192">
                <a:moveTo>
                  <a:pt x="0" y="0"/>
                </a:moveTo>
                <a:cubicBezTo>
                  <a:pt x="14" y="128"/>
                  <a:pt x="28" y="256"/>
                  <a:pt x="48" y="352"/>
                </a:cubicBezTo>
                <a:cubicBezTo>
                  <a:pt x="68" y="448"/>
                  <a:pt x="88" y="493"/>
                  <a:pt x="120" y="576"/>
                </a:cubicBezTo>
                <a:cubicBezTo>
                  <a:pt x="152" y="659"/>
                  <a:pt x="176" y="789"/>
                  <a:pt x="240" y="848"/>
                </a:cubicBezTo>
                <a:cubicBezTo>
                  <a:pt x="304" y="907"/>
                  <a:pt x="376" y="881"/>
                  <a:pt x="504" y="928"/>
                </a:cubicBezTo>
                <a:cubicBezTo>
                  <a:pt x="632" y="975"/>
                  <a:pt x="839" y="1088"/>
                  <a:pt x="1008" y="1128"/>
                </a:cubicBezTo>
                <a:cubicBezTo>
                  <a:pt x="1177" y="1168"/>
                  <a:pt x="1351" y="1157"/>
                  <a:pt x="1520" y="1168"/>
                </a:cubicBezTo>
                <a:cubicBezTo>
                  <a:pt x="1689" y="1179"/>
                  <a:pt x="1940" y="1187"/>
                  <a:pt x="2024" y="1192"/>
                </a:cubicBezTo>
              </a:path>
            </a:pathLst>
          </a:custGeom>
          <a:noFill/>
          <a:ln w="38100">
            <a:solidFill>
              <a:schemeClr val="folHlink"/>
            </a:solidFill>
            <a:round/>
            <a:headEnd/>
            <a:tailEnd/>
          </a:ln>
        </p:spPr>
        <p:txBody>
          <a:bodyPr wrap="none" anchor="ctr"/>
          <a:lstStyle/>
          <a:p>
            <a:endParaRPr lang="en-US">
              <a:latin typeface="Arial" pitchFamily="34" charset="0"/>
              <a:cs typeface="Arial" pitchFamily="34" charset="0"/>
            </a:endParaRPr>
          </a:p>
        </p:txBody>
      </p:sp>
      <p:sp>
        <p:nvSpPr>
          <p:cNvPr id="197642" name="Text Box 9"/>
          <p:cNvSpPr txBox="1">
            <a:spLocks noChangeArrowheads="1"/>
          </p:cNvSpPr>
          <p:nvPr/>
        </p:nvSpPr>
        <p:spPr bwMode="auto">
          <a:xfrm>
            <a:off x="5064125" y="4646613"/>
            <a:ext cx="1139825" cy="366712"/>
          </a:xfrm>
          <a:prstGeom prst="rect">
            <a:avLst/>
          </a:prstGeom>
          <a:noFill/>
          <a:ln w="9525" algn="ctr">
            <a:noFill/>
            <a:miter lim="800000"/>
            <a:headEnd/>
            <a:tailEnd/>
          </a:ln>
        </p:spPr>
        <p:txBody>
          <a:bodyPr wrap="none">
            <a:spAutoFit/>
          </a:bodyPr>
          <a:lstStyle/>
          <a:p>
            <a:pPr algn="ctr">
              <a:spcBef>
                <a:spcPct val="0"/>
              </a:spcBef>
            </a:pPr>
            <a:r>
              <a:rPr lang="en-US" sz="1800" b="0">
                <a:solidFill>
                  <a:schemeClr val="bg2"/>
                </a:solidFill>
                <a:latin typeface="Arial" pitchFamily="34" charset="0"/>
                <a:cs typeface="Arial" pitchFamily="34" charset="0"/>
              </a:rPr>
              <a:t>Spin lock</a:t>
            </a:r>
          </a:p>
        </p:txBody>
      </p:sp>
      <p:sp>
        <p:nvSpPr>
          <p:cNvPr id="197643" name="Text Box 10"/>
          <p:cNvSpPr txBox="1">
            <a:spLocks noChangeArrowheads="1"/>
          </p:cNvSpPr>
          <p:nvPr/>
        </p:nvSpPr>
        <p:spPr bwMode="auto">
          <a:xfrm>
            <a:off x="2054225" y="5014913"/>
            <a:ext cx="2270125" cy="376237"/>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Number processors</a:t>
            </a:r>
          </a:p>
        </p:txBody>
      </p:sp>
      <p:sp>
        <p:nvSpPr>
          <p:cNvPr id="197644" name="Text Box 11"/>
          <p:cNvSpPr txBox="1">
            <a:spLocks noChangeArrowheads="1"/>
          </p:cNvSpPr>
          <p:nvPr/>
        </p:nvSpPr>
        <p:spPr bwMode="auto">
          <a:xfrm rot="-5400000">
            <a:off x="556805" y="3041135"/>
            <a:ext cx="1364476" cy="369332"/>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Throughput</a:t>
            </a:r>
          </a:p>
        </p:txBody>
      </p:sp>
      <p:sp>
        <p:nvSpPr>
          <p:cNvPr id="197645" name="Freeform 12"/>
          <p:cNvSpPr>
            <a:spLocks/>
          </p:cNvSpPr>
          <p:nvPr/>
        </p:nvSpPr>
        <p:spPr bwMode="auto">
          <a:xfrm>
            <a:off x="1739900" y="1836738"/>
            <a:ext cx="3200400" cy="2895600"/>
          </a:xfrm>
          <a:custGeom>
            <a:avLst/>
            <a:gdLst>
              <a:gd name="T0" fmla="*/ 2147483647 w 2016"/>
              <a:gd name="T1" fmla="*/ 0 h 1824"/>
              <a:gd name="T2" fmla="*/ 2147483647 w 2016"/>
              <a:gd name="T3" fmla="*/ 2147483647 h 1824"/>
              <a:gd name="T4" fmla="*/ 2147483647 w 2016"/>
              <a:gd name="T5" fmla="*/ 2147483647 h 1824"/>
              <a:gd name="T6" fmla="*/ 2147483647 w 2016"/>
              <a:gd name="T7" fmla="*/ 2147483647 h 1824"/>
              <a:gd name="T8" fmla="*/ 2147483647 w 2016"/>
              <a:gd name="T9" fmla="*/ 2147483647 h 1824"/>
              <a:gd name="T10" fmla="*/ 2147483647 w 2016"/>
              <a:gd name="T11" fmla="*/ 2147483647 h 1824"/>
              <a:gd name="T12" fmla="*/ 2147483647 w 2016"/>
              <a:gd name="T13" fmla="*/ 2147483647 h 1824"/>
              <a:gd name="T14" fmla="*/ 0 w 2016"/>
              <a:gd name="T15" fmla="*/ 2147483647 h 1824"/>
              <a:gd name="T16" fmla="*/ 0 60000 65536"/>
              <a:gd name="T17" fmla="*/ 0 60000 65536"/>
              <a:gd name="T18" fmla="*/ 0 60000 65536"/>
              <a:gd name="T19" fmla="*/ 0 60000 65536"/>
              <a:gd name="T20" fmla="*/ 0 60000 65536"/>
              <a:gd name="T21" fmla="*/ 0 60000 65536"/>
              <a:gd name="T22" fmla="*/ 0 60000 65536"/>
              <a:gd name="T23" fmla="*/ 0 60000 65536"/>
              <a:gd name="T24" fmla="*/ 0 w 2016"/>
              <a:gd name="T25" fmla="*/ 0 h 1824"/>
              <a:gd name="T26" fmla="*/ 2016 w 2016"/>
              <a:gd name="T27" fmla="*/ 1824 h 18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16" h="1824">
                <a:moveTo>
                  <a:pt x="2016" y="0"/>
                </a:moveTo>
                <a:cubicBezTo>
                  <a:pt x="1923" y="19"/>
                  <a:pt x="1656" y="112"/>
                  <a:pt x="1456" y="112"/>
                </a:cubicBezTo>
                <a:cubicBezTo>
                  <a:pt x="1304" y="368"/>
                  <a:pt x="1131" y="587"/>
                  <a:pt x="960" y="768"/>
                </a:cubicBezTo>
                <a:cubicBezTo>
                  <a:pt x="789" y="949"/>
                  <a:pt x="560" y="1072"/>
                  <a:pt x="432" y="1200"/>
                </a:cubicBezTo>
                <a:cubicBezTo>
                  <a:pt x="304" y="1328"/>
                  <a:pt x="248" y="1448"/>
                  <a:pt x="192" y="1536"/>
                </a:cubicBezTo>
                <a:cubicBezTo>
                  <a:pt x="136" y="1624"/>
                  <a:pt x="120" y="1688"/>
                  <a:pt x="96" y="1728"/>
                </a:cubicBezTo>
                <a:cubicBezTo>
                  <a:pt x="72" y="1768"/>
                  <a:pt x="64" y="1760"/>
                  <a:pt x="48" y="1776"/>
                </a:cubicBezTo>
                <a:cubicBezTo>
                  <a:pt x="32" y="1792"/>
                  <a:pt x="16" y="1808"/>
                  <a:pt x="0" y="1824"/>
                </a:cubicBezTo>
              </a:path>
            </a:pathLst>
          </a:custGeom>
          <a:noFill/>
          <a:ln w="38100">
            <a:solidFill>
              <a:srgbClr val="FF5050"/>
            </a:solidFill>
            <a:round/>
            <a:headEnd/>
            <a:tailEnd/>
          </a:ln>
        </p:spPr>
        <p:txBody>
          <a:bodyPr wrap="none" anchor="ctr"/>
          <a:lstStyle/>
          <a:p>
            <a:endParaRPr lang="en-US">
              <a:latin typeface="Arial" pitchFamily="34" charset="0"/>
              <a:cs typeface="Arial" pitchFamily="34" charset="0"/>
            </a:endParaRPr>
          </a:p>
        </p:txBody>
      </p:sp>
      <p:sp>
        <p:nvSpPr>
          <p:cNvPr id="197646" name="Freeform 13"/>
          <p:cNvSpPr>
            <a:spLocks/>
          </p:cNvSpPr>
          <p:nvPr/>
        </p:nvSpPr>
        <p:spPr bwMode="auto">
          <a:xfrm>
            <a:off x="1739900" y="1608138"/>
            <a:ext cx="3124200" cy="3124200"/>
          </a:xfrm>
          <a:custGeom>
            <a:avLst/>
            <a:gdLst>
              <a:gd name="T0" fmla="*/ 2147483647 w 1968"/>
              <a:gd name="T1" fmla="*/ 0 h 1968"/>
              <a:gd name="T2" fmla="*/ 2147483647 w 1968"/>
              <a:gd name="T3" fmla="*/ 2147483647 h 1968"/>
              <a:gd name="T4" fmla="*/ 2147483647 w 1968"/>
              <a:gd name="T5" fmla="*/ 2147483647 h 1968"/>
              <a:gd name="T6" fmla="*/ 2147483647 w 1968"/>
              <a:gd name="T7" fmla="*/ 2147483647 h 1968"/>
              <a:gd name="T8" fmla="*/ 2147483647 w 1968"/>
              <a:gd name="T9" fmla="*/ 2147483647 h 1968"/>
              <a:gd name="T10" fmla="*/ 2147483647 w 1968"/>
              <a:gd name="T11" fmla="*/ 2147483647 h 1968"/>
              <a:gd name="T12" fmla="*/ 0 w 1968"/>
              <a:gd name="T13" fmla="*/ 2147483647 h 1968"/>
              <a:gd name="T14" fmla="*/ 0 60000 65536"/>
              <a:gd name="T15" fmla="*/ 0 60000 65536"/>
              <a:gd name="T16" fmla="*/ 0 60000 65536"/>
              <a:gd name="T17" fmla="*/ 0 60000 65536"/>
              <a:gd name="T18" fmla="*/ 0 60000 65536"/>
              <a:gd name="T19" fmla="*/ 0 60000 65536"/>
              <a:gd name="T20" fmla="*/ 0 60000 65536"/>
              <a:gd name="T21" fmla="*/ 0 w 1968"/>
              <a:gd name="T22" fmla="*/ 0 h 1968"/>
              <a:gd name="T23" fmla="*/ 1968 w 1968"/>
              <a:gd name="T24" fmla="*/ 1968 h 19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8" h="1968">
                <a:moveTo>
                  <a:pt x="1968" y="0"/>
                </a:moveTo>
                <a:cubicBezTo>
                  <a:pt x="1788" y="176"/>
                  <a:pt x="1608" y="352"/>
                  <a:pt x="1440" y="528"/>
                </a:cubicBezTo>
                <a:cubicBezTo>
                  <a:pt x="1272" y="704"/>
                  <a:pt x="1120" y="888"/>
                  <a:pt x="960" y="1056"/>
                </a:cubicBezTo>
                <a:cubicBezTo>
                  <a:pt x="800" y="1224"/>
                  <a:pt x="608" y="1416"/>
                  <a:pt x="480" y="1536"/>
                </a:cubicBezTo>
                <a:cubicBezTo>
                  <a:pt x="352" y="1656"/>
                  <a:pt x="256" y="1712"/>
                  <a:pt x="192" y="1776"/>
                </a:cubicBezTo>
                <a:cubicBezTo>
                  <a:pt x="128" y="1840"/>
                  <a:pt x="128" y="1888"/>
                  <a:pt x="96" y="1920"/>
                </a:cubicBezTo>
                <a:cubicBezTo>
                  <a:pt x="64" y="1952"/>
                  <a:pt x="32" y="1960"/>
                  <a:pt x="0" y="1968"/>
                </a:cubicBezTo>
              </a:path>
            </a:pathLst>
          </a:custGeom>
          <a:noFill/>
          <a:ln w="38100">
            <a:solidFill>
              <a:schemeClr val="accent2"/>
            </a:solidFill>
            <a:round/>
            <a:headEnd/>
            <a:tailEnd/>
          </a:ln>
        </p:spPr>
        <p:txBody>
          <a:bodyPr wrap="none" anchor="ctr"/>
          <a:lstStyle/>
          <a:p>
            <a:endParaRPr lang="en-US">
              <a:latin typeface="Arial" pitchFamily="34" charset="0"/>
              <a:cs typeface="Arial" pitchFamily="34" charset="0"/>
            </a:endParaRPr>
          </a:p>
        </p:txBody>
      </p:sp>
      <p:sp>
        <p:nvSpPr>
          <p:cNvPr id="197647" name="Text Box 14"/>
          <p:cNvSpPr txBox="1">
            <a:spLocks noChangeArrowheads="1"/>
          </p:cNvSpPr>
          <p:nvPr/>
        </p:nvSpPr>
        <p:spPr bwMode="auto">
          <a:xfrm>
            <a:off x="4952023" y="1379538"/>
            <a:ext cx="2467342" cy="369332"/>
          </a:xfrm>
          <a:prstGeom prst="rect">
            <a:avLst/>
          </a:prstGeom>
          <a:noFill/>
          <a:ln w="9525" algn="ctr">
            <a:noFill/>
            <a:miter lim="800000"/>
            <a:headEnd/>
            <a:tailEnd/>
          </a:ln>
        </p:spPr>
        <p:txBody>
          <a:bodyPr wrap="none">
            <a:spAutoFit/>
          </a:bodyPr>
          <a:lstStyle/>
          <a:p>
            <a:pPr algn="ctr">
              <a:spcBef>
                <a:spcPct val="0"/>
              </a:spcBef>
            </a:pPr>
            <a:r>
              <a:rPr lang="en-US" sz="1800" b="0">
                <a:latin typeface="Arial" pitchFamily="34" charset="0"/>
                <a:cs typeface="Arial" pitchFamily="34" charset="0"/>
              </a:rPr>
              <a:t>64-leaf combining tree</a:t>
            </a:r>
          </a:p>
        </p:txBody>
      </p:sp>
      <p:sp>
        <p:nvSpPr>
          <p:cNvPr id="197648" name="Text Box 15"/>
          <p:cNvSpPr txBox="1">
            <a:spLocks noChangeArrowheads="1"/>
          </p:cNvSpPr>
          <p:nvPr/>
        </p:nvSpPr>
        <p:spPr bwMode="auto">
          <a:xfrm>
            <a:off x="4995258" y="1697038"/>
            <a:ext cx="3211135" cy="369332"/>
          </a:xfrm>
          <a:prstGeom prst="rect">
            <a:avLst/>
          </a:prstGeom>
          <a:noFill/>
          <a:ln w="9525" algn="ctr">
            <a:noFill/>
            <a:miter lim="800000"/>
            <a:headEnd/>
            <a:tailEnd/>
          </a:ln>
        </p:spPr>
        <p:txBody>
          <a:bodyPr wrap="none">
            <a:spAutoFit/>
          </a:bodyPr>
          <a:lstStyle/>
          <a:p>
            <a:pPr algn="ctr">
              <a:spcBef>
                <a:spcPct val="0"/>
              </a:spcBef>
            </a:pPr>
            <a:r>
              <a:rPr lang="en-US" sz="1800" b="0">
                <a:solidFill>
                  <a:srgbClr val="FF0000"/>
                </a:solidFill>
                <a:latin typeface="Arial" pitchFamily="34" charset="0"/>
                <a:cs typeface="Arial" pitchFamily="34" charset="0"/>
              </a:rPr>
              <a:t>80-balancer counting network</a:t>
            </a:r>
          </a:p>
        </p:txBody>
      </p:sp>
      <p:sp>
        <p:nvSpPr>
          <p:cNvPr id="197649" name="AutoShape 16"/>
          <p:cNvSpPr>
            <a:spLocks noChangeArrowheads="1"/>
          </p:cNvSpPr>
          <p:nvPr/>
        </p:nvSpPr>
        <p:spPr bwMode="auto">
          <a:xfrm>
            <a:off x="4813300" y="4046538"/>
            <a:ext cx="2247900" cy="1066800"/>
          </a:xfrm>
          <a:prstGeom prst="wedgeRoundRectCallout">
            <a:avLst>
              <a:gd name="adj1" fmla="val 25069"/>
              <a:gd name="adj2" fmla="val -133037"/>
              <a:gd name="adj3" fmla="val 16667"/>
            </a:avLst>
          </a:prstGeom>
          <a:noFill/>
          <a:ln w="38100" algn="ctr">
            <a:solidFill>
              <a:schemeClr val="accent1"/>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197650" name="Text Box 17"/>
          <p:cNvSpPr txBox="1">
            <a:spLocks noChangeArrowheads="1"/>
          </p:cNvSpPr>
          <p:nvPr/>
        </p:nvSpPr>
        <p:spPr bwMode="auto">
          <a:xfrm>
            <a:off x="4572000" y="2339975"/>
            <a:ext cx="3846513" cy="830997"/>
          </a:xfrm>
          <a:prstGeom prst="rect">
            <a:avLst/>
          </a:prstGeom>
          <a:noFill/>
          <a:ln w="9525" algn="ctr">
            <a:noFill/>
            <a:miter lim="800000"/>
            <a:headEnd/>
            <a:tailEnd/>
          </a:ln>
        </p:spPr>
        <p:txBody>
          <a:bodyPr>
            <a:spAutoFit/>
          </a:bodyPr>
          <a:lstStyle/>
          <a:p>
            <a:pPr algn="ctr">
              <a:spcBef>
                <a:spcPct val="0"/>
              </a:spcBef>
            </a:pPr>
            <a:r>
              <a:rPr lang="en-US" b="0">
                <a:solidFill>
                  <a:schemeClr val="accent1"/>
                </a:solidFill>
                <a:latin typeface="Arial" pitchFamily="34" charset="0"/>
                <a:cs typeface="Arial" pitchFamily="34" charset="0"/>
              </a:rPr>
              <a:t>But they beat the hell out of the competition!</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Footer Placeholder 3"/>
          <p:cNvSpPr>
            <a:spLocks noGrp="1"/>
          </p:cNvSpPr>
          <p:nvPr>
            <p:ph type="ftr" sz="quarter" idx="10"/>
          </p:nvPr>
        </p:nvSpPr>
        <p:spPr/>
        <p:txBody>
          <a:bodyPr/>
          <a:lstStyle/>
          <a:p>
            <a:pPr>
              <a:defRPr/>
            </a:pPr>
            <a:r>
              <a:rPr lang="en-US"/>
              <a:t>Art of Multiprocessor Programming</a:t>
            </a:r>
          </a:p>
        </p:txBody>
      </p:sp>
      <p:sp>
        <p:nvSpPr>
          <p:cNvPr id="315" name="Slide Number Placeholder 4"/>
          <p:cNvSpPr>
            <a:spLocks noGrp="1"/>
          </p:cNvSpPr>
          <p:nvPr>
            <p:ph type="sldNum" sz="quarter" idx="11"/>
          </p:nvPr>
        </p:nvSpPr>
        <p:spPr/>
        <p:txBody>
          <a:bodyPr/>
          <a:lstStyle/>
          <a:p>
            <a:pPr>
              <a:defRPr/>
            </a:pPr>
            <a:fld id="{C51AB544-637B-4C64-A7C9-967E0867C0E1}" type="slidenum">
              <a:rPr lang="en-US"/>
              <a:pPr>
                <a:defRPr/>
              </a:pPr>
              <a:t>200</a:t>
            </a:fld>
            <a:endParaRPr lang="en-US"/>
          </a:p>
        </p:txBody>
      </p:sp>
      <p:sp>
        <p:nvSpPr>
          <p:cNvPr id="198660" name="Rectangle 2"/>
          <p:cNvSpPr>
            <a:spLocks noGrp="1" noChangeArrowheads="1"/>
          </p:cNvSpPr>
          <p:nvPr>
            <p:ph type="title"/>
          </p:nvPr>
        </p:nvSpPr>
        <p:spPr>
          <a:xfrm>
            <a:off x="457200" y="228600"/>
            <a:ext cx="7772400" cy="1143000"/>
          </a:xfrm>
        </p:spPr>
        <p:txBody>
          <a:bodyPr/>
          <a:lstStyle/>
          <a:p>
            <a:r>
              <a:rPr lang="en-US"/>
              <a:t>Saturation and Performance</a:t>
            </a:r>
          </a:p>
        </p:txBody>
      </p:sp>
      <p:grpSp>
        <p:nvGrpSpPr>
          <p:cNvPr id="198661" name="Group 3"/>
          <p:cNvGrpSpPr>
            <a:grpSpLocks/>
          </p:cNvGrpSpPr>
          <p:nvPr/>
        </p:nvGrpSpPr>
        <p:grpSpPr bwMode="auto">
          <a:xfrm>
            <a:off x="1700213" y="1606550"/>
            <a:ext cx="1576387" cy="1289050"/>
            <a:chOff x="1502" y="2927"/>
            <a:chExt cx="1228" cy="1113"/>
          </a:xfrm>
        </p:grpSpPr>
        <p:sp>
          <p:nvSpPr>
            <p:cNvPr id="198911" name="Line 4"/>
            <p:cNvSpPr>
              <a:spLocks noChangeShapeType="1"/>
            </p:cNvSpPr>
            <p:nvPr/>
          </p:nvSpPr>
          <p:spPr bwMode="auto">
            <a:xfrm>
              <a:off x="2639" y="2982"/>
              <a:ext cx="91"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12" name="Line 5"/>
            <p:cNvSpPr>
              <a:spLocks noChangeShapeType="1"/>
            </p:cNvSpPr>
            <p:nvPr/>
          </p:nvSpPr>
          <p:spPr bwMode="auto">
            <a:xfrm>
              <a:off x="2639" y="3056"/>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13" name="Line 6"/>
            <p:cNvSpPr>
              <a:spLocks noChangeShapeType="1"/>
            </p:cNvSpPr>
            <p:nvPr/>
          </p:nvSpPr>
          <p:spPr bwMode="auto">
            <a:xfrm>
              <a:off x="2639" y="3291"/>
              <a:ext cx="91"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14" name="Line 7"/>
            <p:cNvSpPr>
              <a:spLocks noChangeShapeType="1"/>
            </p:cNvSpPr>
            <p:nvPr/>
          </p:nvSpPr>
          <p:spPr bwMode="auto">
            <a:xfrm>
              <a:off x="2639" y="3364"/>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15" name="Line 8"/>
            <p:cNvSpPr>
              <a:spLocks noChangeShapeType="1"/>
            </p:cNvSpPr>
            <p:nvPr/>
          </p:nvSpPr>
          <p:spPr bwMode="auto">
            <a:xfrm>
              <a:off x="2639" y="3600"/>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16" name="Line 9"/>
            <p:cNvSpPr>
              <a:spLocks noChangeShapeType="1"/>
            </p:cNvSpPr>
            <p:nvPr/>
          </p:nvSpPr>
          <p:spPr bwMode="auto">
            <a:xfrm>
              <a:off x="2639" y="3673"/>
              <a:ext cx="91"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17" name="Line 10"/>
            <p:cNvSpPr>
              <a:spLocks noChangeShapeType="1"/>
            </p:cNvSpPr>
            <p:nvPr/>
          </p:nvSpPr>
          <p:spPr bwMode="auto">
            <a:xfrm>
              <a:off x="2639" y="3908"/>
              <a:ext cx="91"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18" name="Line 11"/>
            <p:cNvSpPr>
              <a:spLocks noChangeShapeType="1"/>
            </p:cNvSpPr>
            <p:nvPr/>
          </p:nvSpPr>
          <p:spPr bwMode="auto">
            <a:xfrm>
              <a:off x="2639" y="3981"/>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19" name="Line 12"/>
            <p:cNvSpPr>
              <a:spLocks noChangeShapeType="1"/>
            </p:cNvSpPr>
            <p:nvPr/>
          </p:nvSpPr>
          <p:spPr bwMode="auto">
            <a:xfrm>
              <a:off x="1502" y="2977"/>
              <a:ext cx="93"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20" name="Line 13"/>
            <p:cNvSpPr>
              <a:spLocks noChangeShapeType="1"/>
            </p:cNvSpPr>
            <p:nvPr/>
          </p:nvSpPr>
          <p:spPr bwMode="auto">
            <a:xfrm>
              <a:off x="1502" y="3050"/>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21" name="Line 14"/>
            <p:cNvSpPr>
              <a:spLocks noChangeShapeType="1"/>
            </p:cNvSpPr>
            <p:nvPr/>
          </p:nvSpPr>
          <p:spPr bwMode="auto">
            <a:xfrm>
              <a:off x="1502" y="3286"/>
              <a:ext cx="93"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22" name="Line 15"/>
            <p:cNvSpPr>
              <a:spLocks noChangeShapeType="1"/>
            </p:cNvSpPr>
            <p:nvPr/>
          </p:nvSpPr>
          <p:spPr bwMode="auto">
            <a:xfrm>
              <a:off x="1502" y="3358"/>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23" name="Line 16"/>
            <p:cNvSpPr>
              <a:spLocks noChangeShapeType="1"/>
            </p:cNvSpPr>
            <p:nvPr/>
          </p:nvSpPr>
          <p:spPr bwMode="auto">
            <a:xfrm>
              <a:off x="1502" y="3593"/>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24" name="Line 17"/>
            <p:cNvSpPr>
              <a:spLocks noChangeShapeType="1"/>
            </p:cNvSpPr>
            <p:nvPr/>
          </p:nvSpPr>
          <p:spPr bwMode="auto">
            <a:xfrm>
              <a:off x="1502" y="3665"/>
              <a:ext cx="93"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25" name="Line 18"/>
            <p:cNvSpPr>
              <a:spLocks noChangeShapeType="1"/>
            </p:cNvSpPr>
            <p:nvPr/>
          </p:nvSpPr>
          <p:spPr bwMode="auto">
            <a:xfrm>
              <a:off x="1502" y="3903"/>
              <a:ext cx="93" cy="1"/>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26" name="Line 19"/>
            <p:cNvSpPr>
              <a:spLocks noChangeShapeType="1"/>
            </p:cNvSpPr>
            <p:nvPr/>
          </p:nvSpPr>
          <p:spPr bwMode="auto">
            <a:xfrm>
              <a:off x="1502" y="3975"/>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grpSp>
          <p:nvGrpSpPr>
            <p:cNvPr id="198927" name="Group 20"/>
            <p:cNvGrpSpPr>
              <a:grpSpLocks/>
            </p:cNvGrpSpPr>
            <p:nvPr/>
          </p:nvGrpSpPr>
          <p:grpSpPr bwMode="auto">
            <a:xfrm>
              <a:off x="1588" y="2927"/>
              <a:ext cx="1050" cy="1113"/>
              <a:chOff x="1588" y="2927"/>
              <a:chExt cx="1050" cy="1113"/>
            </a:xfrm>
          </p:grpSpPr>
          <p:sp>
            <p:nvSpPr>
              <p:cNvPr id="198928" name="Freeform 21"/>
              <p:cNvSpPr>
                <a:spLocks/>
              </p:cNvSpPr>
              <p:nvPr/>
            </p:nvSpPr>
            <p:spPr bwMode="auto">
              <a:xfrm>
                <a:off x="1686" y="3034"/>
                <a:ext cx="225" cy="246"/>
              </a:xfrm>
              <a:custGeom>
                <a:avLst/>
                <a:gdLst>
                  <a:gd name="T0" fmla="*/ 0 w 225"/>
                  <a:gd name="T1" fmla="*/ 0 h 246"/>
                  <a:gd name="T2" fmla="*/ 16 w 225"/>
                  <a:gd name="T3" fmla="*/ 0 h 246"/>
                  <a:gd name="T4" fmla="*/ 40 w 225"/>
                  <a:gd name="T5" fmla="*/ 0 h 246"/>
                  <a:gd name="T6" fmla="*/ 56 w 225"/>
                  <a:gd name="T7" fmla="*/ 0 h 246"/>
                  <a:gd name="T8" fmla="*/ 144 w 225"/>
                  <a:gd name="T9" fmla="*/ 245 h 246"/>
                  <a:gd name="T10" fmla="*/ 224 w 225"/>
                  <a:gd name="T11" fmla="*/ 245 h 246"/>
                  <a:gd name="T12" fmla="*/ 0 60000 65536"/>
                  <a:gd name="T13" fmla="*/ 0 60000 65536"/>
                  <a:gd name="T14" fmla="*/ 0 60000 65536"/>
                  <a:gd name="T15" fmla="*/ 0 60000 65536"/>
                  <a:gd name="T16" fmla="*/ 0 60000 65536"/>
                  <a:gd name="T17" fmla="*/ 0 60000 65536"/>
                  <a:gd name="T18" fmla="*/ 0 w 225"/>
                  <a:gd name="T19" fmla="*/ 0 h 246"/>
                  <a:gd name="T20" fmla="*/ 225 w 225"/>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5" h="246">
                    <a:moveTo>
                      <a:pt x="0" y="0"/>
                    </a:moveTo>
                    <a:lnTo>
                      <a:pt x="16" y="0"/>
                    </a:lnTo>
                    <a:lnTo>
                      <a:pt x="40" y="0"/>
                    </a:lnTo>
                    <a:lnTo>
                      <a:pt x="56" y="0"/>
                    </a:lnTo>
                    <a:lnTo>
                      <a:pt x="144" y="245"/>
                    </a:lnTo>
                    <a:lnTo>
                      <a:pt x="224"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29" name="Freeform 22"/>
              <p:cNvSpPr>
                <a:spLocks/>
              </p:cNvSpPr>
              <p:nvPr/>
            </p:nvSpPr>
            <p:spPr bwMode="auto">
              <a:xfrm>
                <a:off x="1981" y="2970"/>
                <a:ext cx="222" cy="81"/>
              </a:xfrm>
              <a:custGeom>
                <a:avLst/>
                <a:gdLst>
                  <a:gd name="T0" fmla="*/ 0 w 222"/>
                  <a:gd name="T1" fmla="*/ 80 h 81"/>
                  <a:gd name="T2" fmla="*/ 16 w 222"/>
                  <a:gd name="T3" fmla="*/ 80 h 81"/>
                  <a:gd name="T4" fmla="*/ 39 w 222"/>
                  <a:gd name="T5" fmla="*/ 80 h 81"/>
                  <a:gd name="T6" fmla="*/ 55 w 222"/>
                  <a:gd name="T7" fmla="*/ 80 h 81"/>
                  <a:gd name="T8" fmla="*/ 142 w 222"/>
                  <a:gd name="T9" fmla="*/ 0 h 81"/>
                  <a:gd name="T10" fmla="*/ 221 w 222"/>
                  <a:gd name="T11" fmla="*/ 0 h 81"/>
                  <a:gd name="T12" fmla="*/ 0 60000 65536"/>
                  <a:gd name="T13" fmla="*/ 0 60000 65536"/>
                  <a:gd name="T14" fmla="*/ 0 60000 65536"/>
                  <a:gd name="T15" fmla="*/ 0 60000 65536"/>
                  <a:gd name="T16" fmla="*/ 0 60000 65536"/>
                  <a:gd name="T17" fmla="*/ 0 60000 65536"/>
                  <a:gd name="T18" fmla="*/ 0 w 222"/>
                  <a:gd name="T19" fmla="*/ 0 h 81"/>
                  <a:gd name="T20" fmla="*/ 222 w 222"/>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222" h="81">
                    <a:moveTo>
                      <a:pt x="0" y="80"/>
                    </a:moveTo>
                    <a:lnTo>
                      <a:pt x="16" y="80"/>
                    </a:lnTo>
                    <a:lnTo>
                      <a:pt x="39" y="80"/>
                    </a:lnTo>
                    <a:lnTo>
                      <a:pt x="55" y="80"/>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30" name="Line 23"/>
              <p:cNvSpPr>
                <a:spLocks noChangeShapeType="1"/>
              </p:cNvSpPr>
              <p:nvPr/>
            </p:nvSpPr>
            <p:spPr bwMode="auto">
              <a:xfrm>
                <a:off x="1695" y="2979"/>
                <a:ext cx="215"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31" name="Line 24"/>
              <p:cNvSpPr>
                <a:spLocks noChangeShapeType="1"/>
              </p:cNvSpPr>
              <p:nvPr/>
            </p:nvSpPr>
            <p:spPr bwMode="auto">
              <a:xfrm>
                <a:off x="1691" y="3348"/>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32" name="Freeform 25"/>
              <p:cNvSpPr>
                <a:spLocks/>
              </p:cNvSpPr>
              <p:nvPr/>
            </p:nvSpPr>
            <p:spPr bwMode="auto">
              <a:xfrm>
                <a:off x="1686" y="3645"/>
                <a:ext cx="225" cy="246"/>
              </a:xfrm>
              <a:custGeom>
                <a:avLst/>
                <a:gdLst>
                  <a:gd name="T0" fmla="*/ 0 w 225"/>
                  <a:gd name="T1" fmla="*/ 0 h 246"/>
                  <a:gd name="T2" fmla="*/ 16 w 225"/>
                  <a:gd name="T3" fmla="*/ 0 h 246"/>
                  <a:gd name="T4" fmla="*/ 40 w 225"/>
                  <a:gd name="T5" fmla="*/ 0 h 246"/>
                  <a:gd name="T6" fmla="*/ 56 w 225"/>
                  <a:gd name="T7" fmla="*/ 0 h 246"/>
                  <a:gd name="T8" fmla="*/ 144 w 225"/>
                  <a:gd name="T9" fmla="*/ 245 h 246"/>
                  <a:gd name="T10" fmla="*/ 224 w 225"/>
                  <a:gd name="T11" fmla="*/ 245 h 246"/>
                  <a:gd name="T12" fmla="*/ 0 60000 65536"/>
                  <a:gd name="T13" fmla="*/ 0 60000 65536"/>
                  <a:gd name="T14" fmla="*/ 0 60000 65536"/>
                  <a:gd name="T15" fmla="*/ 0 60000 65536"/>
                  <a:gd name="T16" fmla="*/ 0 60000 65536"/>
                  <a:gd name="T17" fmla="*/ 0 60000 65536"/>
                  <a:gd name="T18" fmla="*/ 0 w 225"/>
                  <a:gd name="T19" fmla="*/ 0 h 246"/>
                  <a:gd name="T20" fmla="*/ 225 w 225"/>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5" h="246">
                    <a:moveTo>
                      <a:pt x="0" y="0"/>
                    </a:moveTo>
                    <a:lnTo>
                      <a:pt x="16" y="0"/>
                    </a:lnTo>
                    <a:lnTo>
                      <a:pt x="40" y="0"/>
                    </a:lnTo>
                    <a:lnTo>
                      <a:pt x="56" y="0"/>
                    </a:lnTo>
                    <a:lnTo>
                      <a:pt x="144" y="245"/>
                    </a:lnTo>
                    <a:lnTo>
                      <a:pt x="224"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33" name="Freeform 26"/>
              <p:cNvSpPr>
                <a:spLocks/>
              </p:cNvSpPr>
              <p:nvPr/>
            </p:nvSpPr>
            <p:spPr bwMode="auto">
              <a:xfrm>
                <a:off x="1695" y="3654"/>
                <a:ext cx="233" cy="234"/>
              </a:xfrm>
              <a:custGeom>
                <a:avLst/>
                <a:gdLst>
                  <a:gd name="T0" fmla="*/ 0 w 233"/>
                  <a:gd name="T1" fmla="*/ 233 h 234"/>
                  <a:gd name="T2" fmla="*/ 17 w 233"/>
                  <a:gd name="T3" fmla="*/ 233 h 234"/>
                  <a:gd name="T4" fmla="*/ 41 w 233"/>
                  <a:gd name="T5" fmla="*/ 233 h 234"/>
                  <a:gd name="T6" fmla="*/ 58 w 233"/>
                  <a:gd name="T7" fmla="*/ 233 h 234"/>
                  <a:gd name="T8" fmla="*/ 149 w 233"/>
                  <a:gd name="T9" fmla="*/ 0 h 234"/>
                  <a:gd name="T10" fmla="*/ 232 w 233"/>
                  <a:gd name="T11" fmla="*/ 0 h 234"/>
                  <a:gd name="T12" fmla="*/ 0 60000 65536"/>
                  <a:gd name="T13" fmla="*/ 0 60000 65536"/>
                  <a:gd name="T14" fmla="*/ 0 60000 65536"/>
                  <a:gd name="T15" fmla="*/ 0 60000 65536"/>
                  <a:gd name="T16" fmla="*/ 0 60000 65536"/>
                  <a:gd name="T17" fmla="*/ 0 60000 65536"/>
                  <a:gd name="T18" fmla="*/ 0 w 233"/>
                  <a:gd name="T19" fmla="*/ 0 h 234"/>
                  <a:gd name="T20" fmla="*/ 233 w 233"/>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3" h="234">
                    <a:moveTo>
                      <a:pt x="0" y="233"/>
                    </a:moveTo>
                    <a:lnTo>
                      <a:pt x="17" y="233"/>
                    </a:lnTo>
                    <a:lnTo>
                      <a:pt x="41" y="233"/>
                    </a:lnTo>
                    <a:lnTo>
                      <a:pt x="58" y="233"/>
                    </a:lnTo>
                    <a:lnTo>
                      <a:pt x="149" y="0"/>
                    </a:lnTo>
                    <a:lnTo>
                      <a:pt x="232"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34" name="Line 27"/>
              <p:cNvSpPr>
                <a:spLocks noChangeShapeType="1"/>
              </p:cNvSpPr>
              <p:nvPr/>
            </p:nvSpPr>
            <p:spPr bwMode="auto">
              <a:xfrm>
                <a:off x="1686" y="3591"/>
                <a:ext cx="230"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35" name="Line 28"/>
              <p:cNvSpPr>
                <a:spLocks noChangeShapeType="1"/>
              </p:cNvSpPr>
              <p:nvPr/>
            </p:nvSpPr>
            <p:spPr bwMode="auto">
              <a:xfrm>
                <a:off x="1691" y="3959"/>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36" name="Freeform 29"/>
              <p:cNvSpPr>
                <a:spLocks/>
              </p:cNvSpPr>
              <p:nvPr/>
            </p:nvSpPr>
            <p:spPr bwMode="auto">
              <a:xfrm>
                <a:off x="1985" y="2973"/>
                <a:ext cx="227" cy="613"/>
              </a:xfrm>
              <a:custGeom>
                <a:avLst/>
                <a:gdLst>
                  <a:gd name="T0" fmla="*/ 0 w 227"/>
                  <a:gd name="T1" fmla="*/ 0 h 613"/>
                  <a:gd name="T2" fmla="*/ 16 w 227"/>
                  <a:gd name="T3" fmla="*/ 0 h 613"/>
                  <a:gd name="T4" fmla="*/ 40 w 227"/>
                  <a:gd name="T5" fmla="*/ 0 h 613"/>
                  <a:gd name="T6" fmla="*/ 57 w 227"/>
                  <a:gd name="T7" fmla="*/ 0 h 613"/>
                  <a:gd name="T8" fmla="*/ 145 w 227"/>
                  <a:gd name="T9" fmla="*/ 612 h 613"/>
                  <a:gd name="T10" fmla="*/ 226 w 227"/>
                  <a:gd name="T11" fmla="*/ 612 h 613"/>
                  <a:gd name="T12" fmla="*/ 0 60000 65536"/>
                  <a:gd name="T13" fmla="*/ 0 60000 65536"/>
                  <a:gd name="T14" fmla="*/ 0 60000 65536"/>
                  <a:gd name="T15" fmla="*/ 0 60000 65536"/>
                  <a:gd name="T16" fmla="*/ 0 60000 65536"/>
                  <a:gd name="T17" fmla="*/ 0 60000 65536"/>
                  <a:gd name="T18" fmla="*/ 0 w 227"/>
                  <a:gd name="T19" fmla="*/ 0 h 613"/>
                  <a:gd name="T20" fmla="*/ 227 w 227"/>
                  <a:gd name="T21" fmla="*/ 613 h 613"/>
                </a:gdLst>
                <a:ahLst/>
                <a:cxnLst>
                  <a:cxn ang="T12">
                    <a:pos x="T0" y="T1"/>
                  </a:cxn>
                  <a:cxn ang="T13">
                    <a:pos x="T2" y="T3"/>
                  </a:cxn>
                  <a:cxn ang="T14">
                    <a:pos x="T4" y="T5"/>
                  </a:cxn>
                  <a:cxn ang="T15">
                    <a:pos x="T6" y="T7"/>
                  </a:cxn>
                  <a:cxn ang="T16">
                    <a:pos x="T8" y="T9"/>
                  </a:cxn>
                  <a:cxn ang="T17">
                    <a:pos x="T10" y="T11"/>
                  </a:cxn>
                </a:cxnLst>
                <a:rect l="T18" t="T19" r="T20" b="T21"/>
                <a:pathLst>
                  <a:path w="227" h="613">
                    <a:moveTo>
                      <a:pt x="0" y="0"/>
                    </a:moveTo>
                    <a:lnTo>
                      <a:pt x="16" y="0"/>
                    </a:lnTo>
                    <a:lnTo>
                      <a:pt x="40" y="0"/>
                    </a:lnTo>
                    <a:lnTo>
                      <a:pt x="57" y="0"/>
                    </a:lnTo>
                    <a:lnTo>
                      <a:pt x="145" y="612"/>
                    </a:lnTo>
                    <a:lnTo>
                      <a:pt x="226" y="612"/>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37" name="Freeform 30"/>
              <p:cNvSpPr>
                <a:spLocks/>
              </p:cNvSpPr>
              <p:nvPr/>
            </p:nvSpPr>
            <p:spPr bwMode="auto">
              <a:xfrm>
                <a:off x="1981" y="3352"/>
                <a:ext cx="235" cy="234"/>
              </a:xfrm>
              <a:custGeom>
                <a:avLst/>
                <a:gdLst>
                  <a:gd name="T0" fmla="*/ 0 w 235"/>
                  <a:gd name="T1" fmla="*/ 233 h 234"/>
                  <a:gd name="T2" fmla="*/ 17 w 235"/>
                  <a:gd name="T3" fmla="*/ 233 h 234"/>
                  <a:gd name="T4" fmla="*/ 42 w 235"/>
                  <a:gd name="T5" fmla="*/ 233 h 234"/>
                  <a:gd name="T6" fmla="*/ 59 w 235"/>
                  <a:gd name="T7" fmla="*/ 233 h 234"/>
                  <a:gd name="T8" fmla="*/ 150 w 235"/>
                  <a:gd name="T9" fmla="*/ 0 h 234"/>
                  <a:gd name="T10" fmla="*/ 234 w 235"/>
                  <a:gd name="T11" fmla="*/ 0 h 234"/>
                  <a:gd name="T12" fmla="*/ 0 60000 65536"/>
                  <a:gd name="T13" fmla="*/ 0 60000 65536"/>
                  <a:gd name="T14" fmla="*/ 0 60000 65536"/>
                  <a:gd name="T15" fmla="*/ 0 60000 65536"/>
                  <a:gd name="T16" fmla="*/ 0 60000 65536"/>
                  <a:gd name="T17" fmla="*/ 0 60000 65536"/>
                  <a:gd name="T18" fmla="*/ 0 w 235"/>
                  <a:gd name="T19" fmla="*/ 0 h 234"/>
                  <a:gd name="T20" fmla="*/ 235 w 235"/>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5" h="234">
                    <a:moveTo>
                      <a:pt x="0" y="233"/>
                    </a:moveTo>
                    <a:lnTo>
                      <a:pt x="17" y="233"/>
                    </a:lnTo>
                    <a:lnTo>
                      <a:pt x="42" y="233"/>
                    </a:lnTo>
                    <a:lnTo>
                      <a:pt x="59" y="233"/>
                    </a:lnTo>
                    <a:lnTo>
                      <a:pt x="150" y="0"/>
                    </a:lnTo>
                    <a:lnTo>
                      <a:pt x="234"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38" name="Freeform 31"/>
              <p:cNvSpPr>
                <a:spLocks/>
              </p:cNvSpPr>
              <p:nvPr/>
            </p:nvSpPr>
            <p:spPr bwMode="auto">
              <a:xfrm>
                <a:off x="1981" y="3050"/>
                <a:ext cx="235" cy="234"/>
              </a:xfrm>
              <a:custGeom>
                <a:avLst/>
                <a:gdLst>
                  <a:gd name="T0" fmla="*/ 0 w 235"/>
                  <a:gd name="T1" fmla="*/ 233 h 234"/>
                  <a:gd name="T2" fmla="*/ 17 w 235"/>
                  <a:gd name="T3" fmla="*/ 233 h 234"/>
                  <a:gd name="T4" fmla="*/ 42 w 235"/>
                  <a:gd name="T5" fmla="*/ 233 h 234"/>
                  <a:gd name="T6" fmla="*/ 59 w 235"/>
                  <a:gd name="T7" fmla="*/ 233 h 234"/>
                  <a:gd name="T8" fmla="*/ 150 w 235"/>
                  <a:gd name="T9" fmla="*/ 0 h 234"/>
                  <a:gd name="T10" fmla="*/ 234 w 235"/>
                  <a:gd name="T11" fmla="*/ 0 h 234"/>
                  <a:gd name="T12" fmla="*/ 0 60000 65536"/>
                  <a:gd name="T13" fmla="*/ 0 60000 65536"/>
                  <a:gd name="T14" fmla="*/ 0 60000 65536"/>
                  <a:gd name="T15" fmla="*/ 0 60000 65536"/>
                  <a:gd name="T16" fmla="*/ 0 60000 65536"/>
                  <a:gd name="T17" fmla="*/ 0 60000 65536"/>
                  <a:gd name="T18" fmla="*/ 0 w 235"/>
                  <a:gd name="T19" fmla="*/ 0 h 234"/>
                  <a:gd name="T20" fmla="*/ 235 w 235"/>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5" h="234">
                    <a:moveTo>
                      <a:pt x="0" y="233"/>
                    </a:moveTo>
                    <a:lnTo>
                      <a:pt x="17" y="233"/>
                    </a:lnTo>
                    <a:lnTo>
                      <a:pt x="42" y="233"/>
                    </a:lnTo>
                    <a:lnTo>
                      <a:pt x="59" y="233"/>
                    </a:lnTo>
                    <a:lnTo>
                      <a:pt x="150" y="0"/>
                    </a:lnTo>
                    <a:lnTo>
                      <a:pt x="234"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39" name="Freeform 32"/>
              <p:cNvSpPr>
                <a:spLocks/>
              </p:cNvSpPr>
              <p:nvPr/>
            </p:nvSpPr>
            <p:spPr bwMode="auto">
              <a:xfrm>
                <a:off x="1988" y="3660"/>
                <a:ext cx="219" cy="331"/>
              </a:xfrm>
              <a:custGeom>
                <a:avLst/>
                <a:gdLst>
                  <a:gd name="T0" fmla="*/ 0 w 219"/>
                  <a:gd name="T1" fmla="*/ 0 h 331"/>
                  <a:gd name="T2" fmla="*/ 16 w 219"/>
                  <a:gd name="T3" fmla="*/ 0 h 331"/>
                  <a:gd name="T4" fmla="*/ 39 w 219"/>
                  <a:gd name="T5" fmla="*/ 0 h 331"/>
                  <a:gd name="T6" fmla="*/ 55 w 219"/>
                  <a:gd name="T7" fmla="*/ 0 h 331"/>
                  <a:gd name="T8" fmla="*/ 140 w 219"/>
                  <a:gd name="T9" fmla="*/ 330 h 331"/>
                  <a:gd name="T10" fmla="*/ 218 w 219"/>
                  <a:gd name="T11" fmla="*/ 330 h 331"/>
                  <a:gd name="T12" fmla="*/ 0 60000 65536"/>
                  <a:gd name="T13" fmla="*/ 0 60000 65536"/>
                  <a:gd name="T14" fmla="*/ 0 60000 65536"/>
                  <a:gd name="T15" fmla="*/ 0 60000 65536"/>
                  <a:gd name="T16" fmla="*/ 0 60000 65536"/>
                  <a:gd name="T17" fmla="*/ 0 60000 65536"/>
                  <a:gd name="T18" fmla="*/ 0 w 219"/>
                  <a:gd name="T19" fmla="*/ 0 h 331"/>
                  <a:gd name="T20" fmla="*/ 219 w 219"/>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19" h="331">
                    <a:moveTo>
                      <a:pt x="0" y="0"/>
                    </a:moveTo>
                    <a:lnTo>
                      <a:pt x="16" y="0"/>
                    </a:lnTo>
                    <a:lnTo>
                      <a:pt x="39" y="0"/>
                    </a:lnTo>
                    <a:lnTo>
                      <a:pt x="55" y="0"/>
                    </a:lnTo>
                    <a:lnTo>
                      <a:pt x="140" y="330"/>
                    </a:lnTo>
                    <a:lnTo>
                      <a:pt x="218" y="33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40" name="Freeform 33"/>
              <p:cNvSpPr>
                <a:spLocks/>
              </p:cNvSpPr>
              <p:nvPr/>
            </p:nvSpPr>
            <p:spPr bwMode="auto">
              <a:xfrm>
                <a:off x="1981" y="3273"/>
                <a:ext cx="222" cy="632"/>
              </a:xfrm>
              <a:custGeom>
                <a:avLst/>
                <a:gdLst>
                  <a:gd name="T0" fmla="*/ 0 w 222"/>
                  <a:gd name="T1" fmla="*/ 631 h 632"/>
                  <a:gd name="T2" fmla="*/ 16 w 222"/>
                  <a:gd name="T3" fmla="*/ 631 h 632"/>
                  <a:gd name="T4" fmla="*/ 39 w 222"/>
                  <a:gd name="T5" fmla="*/ 631 h 632"/>
                  <a:gd name="T6" fmla="*/ 55 w 222"/>
                  <a:gd name="T7" fmla="*/ 631 h 632"/>
                  <a:gd name="T8" fmla="*/ 142 w 222"/>
                  <a:gd name="T9" fmla="*/ 0 h 632"/>
                  <a:gd name="T10" fmla="*/ 221 w 222"/>
                  <a:gd name="T11" fmla="*/ 0 h 632"/>
                  <a:gd name="T12" fmla="*/ 0 60000 65536"/>
                  <a:gd name="T13" fmla="*/ 0 60000 65536"/>
                  <a:gd name="T14" fmla="*/ 0 60000 65536"/>
                  <a:gd name="T15" fmla="*/ 0 60000 65536"/>
                  <a:gd name="T16" fmla="*/ 0 60000 65536"/>
                  <a:gd name="T17" fmla="*/ 0 60000 65536"/>
                  <a:gd name="T18" fmla="*/ 0 w 222"/>
                  <a:gd name="T19" fmla="*/ 0 h 632"/>
                  <a:gd name="T20" fmla="*/ 222 w 222"/>
                  <a:gd name="T21" fmla="*/ 632 h 632"/>
                </a:gdLst>
                <a:ahLst/>
                <a:cxnLst>
                  <a:cxn ang="T12">
                    <a:pos x="T0" y="T1"/>
                  </a:cxn>
                  <a:cxn ang="T13">
                    <a:pos x="T2" y="T3"/>
                  </a:cxn>
                  <a:cxn ang="T14">
                    <a:pos x="T4" y="T5"/>
                  </a:cxn>
                  <a:cxn ang="T15">
                    <a:pos x="T6" y="T7"/>
                  </a:cxn>
                  <a:cxn ang="T16">
                    <a:pos x="T8" y="T9"/>
                  </a:cxn>
                  <a:cxn ang="T17">
                    <a:pos x="T10" y="T11"/>
                  </a:cxn>
                </a:cxnLst>
                <a:rect l="T18" t="T19" r="T20" b="T21"/>
                <a:pathLst>
                  <a:path w="222" h="632">
                    <a:moveTo>
                      <a:pt x="0" y="631"/>
                    </a:moveTo>
                    <a:lnTo>
                      <a:pt x="16" y="631"/>
                    </a:lnTo>
                    <a:lnTo>
                      <a:pt x="39" y="631"/>
                    </a:lnTo>
                    <a:lnTo>
                      <a:pt x="55" y="631"/>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41" name="Freeform 34"/>
              <p:cNvSpPr>
                <a:spLocks/>
              </p:cNvSpPr>
              <p:nvPr/>
            </p:nvSpPr>
            <p:spPr bwMode="auto">
              <a:xfrm>
                <a:off x="1691" y="3050"/>
                <a:ext cx="234" cy="234"/>
              </a:xfrm>
              <a:custGeom>
                <a:avLst/>
                <a:gdLst>
                  <a:gd name="T0" fmla="*/ 0 w 234"/>
                  <a:gd name="T1" fmla="*/ 233 h 234"/>
                  <a:gd name="T2" fmla="*/ 17 w 234"/>
                  <a:gd name="T3" fmla="*/ 233 h 234"/>
                  <a:gd name="T4" fmla="*/ 42 w 234"/>
                  <a:gd name="T5" fmla="*/ 233 h 234"/>
                  <a:gd name="T6" fmla="*/ 58 w 234"/>
                  <a:gd name="T7" fmla="*/ 233 h 234"/>
                  <a:gd name="T8" fmla="*/ 150 w 234"/>
                  <a:gd name="T9" fmla="*/ 0 h 234"/>
                  <a:gd name="T10" fmla="*/ 233 w 234"/>
                  <a:gd name="T11" fmla="*/ 0 h 234"/>
                  <a:gd name="T12" fmla="*/ 0 60000 65536"/>
                  <a:gd name="T13" fmla="*/ 0 60000 65536"/>
                  <a:gd name="T14" fmla="*/ 0 60000 65536"/>
                  <a:gd name="T15" fmla="*/ 0 60000 65536"/>
                  <a:gd name="T16" fmla="*/ 0 60000 65536"/>
                  <a:gd name="T17" fmla="*/ 0 60000 65536"/>
                  <a:gd name="T18" fmla="*/ 0 w 234"/>
                  <a:gd name="T19" fmla="*/ 0 h 234"/>
                  <a:gd name="T20" fmla="*/ 234 w 234"/>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4" h="234">
                    <a:moveTo>
                      <a:pt x="0" y="233"/>
                    </a:moveTo>
                    <a:lnTo>
                      <a:pt x="17" y="233"/>
                    </a:lnTo>
                    <a:lnTo>
                      <a:pt x="42" y="233"/>
                    </a:lnTo>
                    <a:lnTo>
                      <a:pt x="58" y="233"/>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42" name="Freeform 35"/>
              <p:cNvSpPr>
                <a:spLocks/>
              </p:cNvSpPr>
              <p:nvPr/>
            </p:nvSpPr>
            <p:spPr bwMode="auto">
              <a:xfrm>
                <a:off x="1985" y="3352"/>
                <a:ext cx="218" cy="330"/>
              </a:xfrm>
              <a:custGeom>
                <a:avLst/>
                <a:gdLst>
                  <a:gd name="T0" fmla="*/ 0 w 218"/>
                  <a:gd name="T1" fmla="*/ 0 h 330"/>
                  <a:gd name="T2" fmla="*/ 16 w 218"/>
                  <a:gd name="T3" fmla="*/ 0 h 330"/>
                  <a:gd name="T4" fmla="*/ 39 w 218"/>
                  <a:gd name="T5" fmla="*/ 0 h 330"/>
                  <a:gd name="T6" fmla="*/ 54 w 218"/>
                  <a:gd name="T7" fmla="*/ 0 h 330"/>
                  <a:gd name="T8" fmla="*/ 140 w 218"/>
                  <a:gd name="T9" fmla="*/ 329 h 330"/>
                  <a:gd name="T10" fmla="*/ 217 w 218"/>
                  <a:gd name="T11" fmla="*/ 329 h 330"/>
                  <a:gd name="T12" fmla="*/ 0 60000 65536"/>
                  <a:gd name="T13" fmla="*/ 0 60000 65536"/>
                  <a:gd name="T14" fmla="*/ 0 60000 65536"/>
                  <a:gd name="T15" fmla="*/ 0 60000 65536"/>
                  <a:gd name="T16" fmla="*/ 0 60000 65536"/>
                  <a:gd name="T17" fmla="*/ 0 60000 65536"/>
                  <a:gd name="T18" fmla="*/ 0 w 218"/>
                  <a:gd name="T19" fmla="*/ 0 h 330"/>
                  <a:gd name="T20" fmla="*/ 218 w 218"/>
                  <a:gd name="T21" fmla="*/ 330 h 330"/>
                </a:gdLst>
                <a:ahLst/>
                <a:cxnLst>
                  <a:cxn ang="T12">
                    <a:pos x="T0" y="T1"/>
                  </a:cxn>
                  <a:cxn ang="T13">
                    <a:pos x="T2" y="T3"/>
                  </a:cxn>
                  <a:cxn ang="T14">
                    <a:pos x="T4" y="T5"/>
                  </a:cxn>
                  <a:cxn ang="T15">
                    <a:pos x="T6" y="T7"/>
                  </a:cxn>
                  <a:cxn ang="T16">
                    <a:pos x="T8" y="T9"/>
                  </a:cxn>
                  <a:cxn ang="T17">
                    <a:pos x="T10" y="T11"/>
                  </a:cxn>
                </a:cxnLst>
                <a:rect l="T18" t="T19" r="T20" b="T21"/>
                <a:pathLst>
                  <a:path w="218" h="330">
                    <a:moveTo>
                      <a:pt x="0" y="0"/>
                    </a:moveTo>
                    <a:lnTo>
                      <a:pt x="16" y="0"/>
                    </a:lnTo>
                    <a:lnTo>
                      <a:pt x="39" y="0"/>
                    </a:lnTo>
                    <a:lnTo>
                      <a:pt x="54" y="0"/>
                    </a:lnTo>
                    <a:lnTo>
                      <a:pt x="140" y="329"/>
                    </a:lnTo>
                    <a:lnTo>
                      <a:pt x="217" y="329"/>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43" name="Freeform 36"/>
              <p:cNvSpPr>
                <a:spLocks/>
              </p:cNvSpPr>
              <p:nvPr/>
            </p:nvSpPr>
            <p:spPr bwMode="auto">
              <a:xfrm>
                <a:off x="1985" y="3903"/>
                <a:ext cx="222" cy="79"/>
              </a:xfrm>
              <a:custGeom>
                <a:avLst/>
                <a:gdLst>
                  <a:gd name="T0" fmla="*/ 0 w 222"/>
                  <a:gd name="T1" fmla="*/ 78 h 79"/>
                  <a:gd name="T2" fmla="*/ 16 w 222"/>
                  <a:gd name="T3" fmla="*/ 78 h 79"/>
                  <a:gd name="T4" fmla="*/ 39 w 222"/>
                  <a:gd name="T5" fmla="*/ 78 h 79"/>
                  <a:gd name="T6" fmla="*/ 55 w 222"/>
                  <a:gd name="T7" fmla="*/ 78 h 79"/>
                  <a:gd name="T8" fmla="*/ 142 w 222"/>
                  <a:gd name="T9" fmla="*/ 0 h 79"/>
                  <a:gd name="T10" fmla="*/ 221 w 222"/>
                  <a:gd name="T11" fmla="*/ 0 h 79"/>
                  <a:gd name="T12" fmla="*/ 0 60000 65536"/>
                  <a:gd name="T13" fmla="*/ 0 60000 65536"/>
                  <a:gd name="T14" fmla="*/ 0 60000 65536"/>
                  <a:gd name="T15" fmla="*/ 0 60000 65536"/>
                  <a:gd name="T16" fmla="*/ 0 60000 65536"/>
                  <a:gd name="T17" fmla="*/ 0 60000 65536"/>
                  <a:gd name="T18" fmla="*/ 0 w 222"/>
                  <a:gd name="T19" fmla="*/ 0 h 79"/>
                  <a:gd name="T20" fmla="*/ 222 w 222"/>
                  <a:gd name="T21" fmla="*/ 79 h 79"/>
                </a:gdLst>
                <a:ahLst/>
                <a:cxnLst>
                  <a:cxn ang="T12">
                    <a:pos x="T0" y="T1"/>
                  </a:cxn>
                  <a:cxn ang="T13">
                    <a:pos x="T2" y="T3"/>
                  </a:cxn>
                  <a:cxn ang="T14">
                    <a:pos x="T4" y="T5"/>
                  </a:cxn>
                  <a:cxn ang="T15">
                    <a:pos x="T6" y="T7"/>
                  </a:cxn>
                  <a:cxn ang="T16">
                    <a:pos x="T8" y="T9"/>
                  </a:cxn>
                  <a:cxn ang="T17">
                    <a:pos x="T10" y="T11"/>
                  </a:cxn>
                </a:cxnLst>
                <a:rect l="T18" t="T19" r="T20" b="T21"/>
                <a:pathLst>
                  <a:path w="222" h="79">
                    <a:moveTo>
                      <a:pt x="0" y="78"/>
                    </a:moveTo>
                    <a:lnTo>
                      <a:pt x="16" y="78"/>
                    </a:lnTo>
                    <a:lnTo>
                      <a:pt x="39" y="78"/>
                    </a:lnTo>
                    <a:lnTo>
                      <a:pt x="55" y="78"/>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44" name="Freeform 37"/>
              <p:cNvSpPr>
                <a:spLocks/>
              </p:cNvSpPr>
              <p:nvPr/>
            </p:nvSpPr>
            <p:spPr bwMode="auto">
              <a:xfrm>
                <a:off x="2307" y="3355"/>
                <a:ext cx="224" cy="246"/>
              </a:xfrm>
              <a:custGeom>
                <a:avLst/>
                <a:gdLst>
                  <a:gd name="T0" fmla="*/ 0 w 224"/>
                  <a:gd name="T1" fmla="*/ 0 h 246"/>
                  <a:gd name="T2" fmla="*/ 16 w 224"/>
                  <a:gd name="T3" fmla="*/ 0 h 246"/>
                  <a:gd name="T4" fmla="*/ 40 w 224"/>
                  <a:gd name="T5" fmla="*/ 0 h 246"/>
                  <a:gd name="T6" fmla="*/ 56 w 224"/>
                  <a:gd name="T7" fmla="*/ 0 h 246"/>
                  <a:gd name="T8" fmla="*/ 143 w 224"/>
                  <a:gd name="T9" fmla="*/ 245 h 246"/>
                  <a:gd name="T10" fmla="*/ 223 w 224"/>
                  <a:gd name="T11" fmla="*/ 245 h 246"/>
                  <a:gd name="T12" fmla="*/ 0 60000 65536"/>
                  <a:gd name="T13" fmla="*/ 0 60000 65536"/>
                  <a:gd name="T14" fmla="*/ 0 60000 65536"/>
                  <a:gd name="T15" fmla="*/ 0 60000 65536"/>
                  <a:gd name="T16" fmla="*/ 0 60000 65536"/>
                  <a:gd name="T17" fmla="*/ 0 60000 65536"/>
                  <a:gd name="T18" fmla="*/ 0 w 224"/>
                  <a:gd name="T19" fmla="*/ 0 h 246"/>
                  <a:gd name="T20" fmla="*/ 224 w 22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4" h="246">
                    <a:moveTo>
                      <a:pt x="0" y="0"/>
                    </a:moveTo>
                    <a:lnTo>
                      <a:pt x="16" y="0"/>
                    </a:lnTo>
                    <a:lnTo>
                      <a:pt x="40" y="0"/>
                    </a:lnTo>
                    <a:lnTo>
                      <a:pt x="56" y="0"/>
                    </a:lnTo>
                    <a:lnTo>
                      <a:pt x="143" y="245"/>
                    </a:lnTo>
                    <a:lnTo>
                      <a:pt x="223"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45" name="Freeform 38"/>
              <p:cNvSpPr>
                <a:spLocks/>
              </p:cNvSpPr>
              <p:nvPr/>
            </p:nvSpPr>
            <p:spPr bwMode="auto">
              <a:xfrm>
                <a:off x="2312" y="3358"/>
                <a:ext cx="233" cy="246"/>
              </a:xfrm>
              <a:custGeom>
                <a:avLst/>
                <a:gdLst>
                  <a:gd name="T0" fmla="*/ 0 w 233"/>
                  <a:gd name="T1" fmla="*/ 245 h 246"/>
                  <a:gd name="T2" fmla="*/ 17 w 233"/>
                  <a:gd name="T3" fmla="*/ 245 h 246"/>
                  <a:gd name="T4" fmla="*/ 41 w 233"/>
                  <a:gd name="T5" fmla="*/ 245 h 246"/>
                  <a:gd name="T6" fmla="*/ 58 w 233"/>
                  <a:gd name="T7" fmla="*/ 245 h 246"/>
                  <a:gd name="T8" fmla="*/ 149 w 233"/>
                  <a:gd name="T9" fmla="*/ 0 h 246"/>
                  <a:gd name="T10" fmla="*/ 232 w 233"/>
                  <a:gd name="T11" fmla="*/ 0 h 246"/>
                  <a:gd name="T12" fmla="*/ 0 60000 65536"/>
                  <a:gd name="T13" fmla="*/ 0 60000 65536"/>
                  <a:gd name="T14" fmla="*/ 0 60000 65536"/>
                  <a:gd name="T15" fmla="*/ 0 60000 65536"/>
                  <a:gd name="T16" fmla="*/ 0 60000 65536"/>
                  <a:gd name="T17" fmla="*/ 0 60000 65536"/>
                  <a:gd name="T18" fmla="*/ 0 w 233"/>
                  <a:gd name="T19" fmla="*/ 0 h 246"/>
                  <a:gd name="T20" fmla="*/ 233 w 233"/>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3" h="246">
                    <a:moveTo>
                      <a:pt x="0" y="245"/>
                    </a:moveTo>
                    <a:lnTo>
                      <a:pt x="17" y="245"/>
                    </a:lnTo>
                    <a:lnTo>
                      <a:pt x="41" y="245"/>
                    </a:lnTo>
                    <a:lnTo>
                      <a:pt x="58" y="245"/>
                    </a:lnTo>
                    <a:lnTo>
                      <a:pt x="149" y="0"/>
                    </a:lnTo>
                    <a:lnTo>
                      <a:pt x="232"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grpSp>
            <p:nvGrpSpPr>
              <p:cNvPr id="198946" name="Group 39"/>
              <p:cNvGrpSpPr>
                <a:grpSpLocks/>
              </p:cNvGrpSpPr>
              <p:nvPr/>
            </p:nvGrpSpPr>
            <p:grpSpPr bwMode="auto">
              <a:xfrm>
                <a:off x="2209" y="2927"/>
                <a:ext cx="109" cy="1107"/>
                <a:chOff x="2209" y="2927"/>
                <a:chExt cx="109" cy="1107"/>
              </a:xfrm>
            </p:grpSpPr>
            <p:sp>
              <p:nvSpPr>
                <p:cNvPr id="198968" name="Rectangle 40"/>
                <p:cNvSpPr>
                  <a:spLocks noChangeArrowheads="1"/>
                </p:cNvSpPr>
                <p:nvPr/>
              </p:nvSpPr>
              <p:spPr bwMode="auto">
                <a:xfrm>
                  <a:off x="2209" y="2927"/>
                  <a:ext cx="109"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69" name="Rectangle 41"/>
                <p:cNvSpPr>
                  <a:spLocks noChangeArrowheads="1"/>
                </p:cNvSpPr>
                <p:nvPr/>
              </p:nvSpPr>
              <p:spPr bwMode="auto">
                <a:xfrm>
                  <a:off x="2209" y="3237"/>
                  <a:ext cx="109" cy="180"/>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70" name="Rectangle 42"/>
                <p:cNvSpPr>
                  <a:spLocks noChangeArrowheads="1"/>
                </p:cNvSpPr>
                <p:nvPr/>
              </p:nvSpPr>
              <p:spPr bwMode="auto">
                <a:xfrm>
                  <a:off x="2209" y="3543"/>
                  <a:ext cx="109"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71" name="Rectangle 43"/>
                <p:cNvSpPr>
                  <a:spLocks noChangeArrowheads="1"/>
                </p:cNvSpPr>
                <p:nvPr/>
              </p:nvSpPr>
              <p:spPr bwMode="auto">
                <a:xfrm>
                  <a:off x="2209" y="3852"/>
                  <a:ext cx="109"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nvGrpSpPr>
              <p:cNvPr id="198947" name="Group 44"/>
              <p:cNvGrpSpPr>
                <a:grpSpLocks/>
              </p:cNvGrpSpPr>
              <p:nvPr/>
            </p:nvGrpSpPr>
            <p:grpSpPr bwMode="auto">
              <a:xfrm>
                <a:off x="1588" y="2933"/>
                <a:ext cx="111" cy="1107"/>
                <a:chOff x="1588" y="2933"/>
                <a:chExt cx="111" cy="1107"/>
              </a:xfrm>
            </p:grpSpPr>
            <p:sp>
              <p:nvSpPr>
                <p:cNvPr id="198964" name="Rectangle 45"/>
                <p:cNvSpPr>
                  <a:spLocks noChangeArrowheads="1"/>
                </p:cNvSpPr>
                <p:nvPr/>
              </p:nvSpPr>
              <p:spPr bwMode="auto">
                <a:xfrm>
                  <a:off x="1588" y="2933"/>
                  <a:ext cx="111"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65" name="Rectangle 46"/>
                <p:cNvSpPr>
                  <a:spLocks noChangeArrowheads="1"/>
                </p:cNvSpPr>
                <p:nvPr/>
              </p:nvSpPr>
              <p:spPr bwMode="auto">
                <a:xfrm>
                  <a:off x="1588" y="3242"/>
                  <a:ext cx="111"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66" name="Rectangle 47"/>
                <p:cNvSpPr>
                  <a:spLocks noChangeArrowheads="1"/>
                </p:cNvSpPr>
                <p:nvPr/>
              </p:nvSpPr>
              <p:spPr bwMode="auto">
                <a:xfrm>
                  <a:off x="1588" y="3549"/>
                  <a:ext cx="111"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67" name="Rectangle 48"/>
                <p:cNvSpPr>
                  <a:spLocks noChangeArrowheads="1"/>
                </p:cNvSpPr>
                <p:nvPr/>
              </p:nvSpPr>
              <p:spPr bwMode="auto">
                <a:xfrm>
                  <a:off x="1588" y="3857"/>
                  <a:ext cx="111" cy="183"/>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nvGrpSpPr>
              <p:cNvPr id="198948" name="Group 49"/>
              <p:cNvGrpSpPr>
                <a:grpSpLocks/>
              </p:cNvGrpSpPr>
              <p:nvPr/>
            </p:nvGrpSpPr>
            <p:grpSpPr bwMode="auto">
              <a:xfrm>
                <a:off x="1882" y="2927"/>
                <a:ext cx="112" cy="1107"/>
                <a:chOff x="1882" y="2927"/>
                <a:chExt cx="112" cy="1107"/>
              </a:xfrm>
            </p:grpSpPr>
            <p:sp>
              <p:nvSpPr>
                <p:cNvPr id="198960" name="Rectangle 50"/>
                <p:cNvSpPr>
                  <a:spLocks noChangeArrowheads="1"/>
                </p:cNvSpPr>
                <p:nvPr/>
              </p:nvSpPr>
              <p:spPr bwMode="auto">
                <a:xfrm>
                  <a:off x="1882" y="2927"/>
                  <a:ext cx="112"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61" name="Rectangle 51"/>
                <p:cNvSpPr>
                  <a:spLocks noChangeArrowheads="1"/>
                </p:cNvSpPr>
                <p:nvPr/>
              </p:nvSpPr>
              <p:spPr bwMode="auto">
                <a:xfrm>
                  <a:off x="1882" y="3237"/>
                  <a:ext cx="112" cy="180"/>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62" name="Rectangle 52"/>
                <p:cNvSpPr>
                  <a:spLocks noChangeArrowheads="1"/>
                </p:cNvSpPr>
                <p:nvPr/>
              </p:nvSpPr>
              <p:spPr bwMode="auto">
                <a:xfrm>
                  <a:off x="1882" y="3543"/>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63" name="Rectangle 53"/>
                <p:cNvSpPr>
                  <a:spLocks noChangeArrowheads="1"/>
                </p:cNvSpPr>
                <p:nvPr/>
              </p:nvSpPr>
              <p:spPr bwMode="auto">
                <a:xfrm>
                  <a:off x="1882" y="3852"/>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sp>
            <p:nvSpPr>
              <p:cNvPr id="198949" name="Freeform 54"/>
              <p:cNvSpPr>
                <a:spLocks/>
              </p:cNvSpPr>
              <p:nvPr/>
            </p:nvSpPr>
            <p:spPr bwMode="auto">
              <a:xfrm>
                <a:off x="2315" y="3037"/>
                <a:ext cx="224" cy="247"/>
              </a:xfrm>
              <a:custGeom>
                <a:avLst/>
                <a:gdLst>
                  <a:gd name="T0" fmla="*/ 0 w 224"/>
                  <a:gd name="T1" fmla="*/ 0 h 247"/>
                  <a:gd name="T2" fmla="*/ 16 w 224"/>
                  <a:gd name="T3" fmla="*/ 0 h 247"/>
                  <a:gd name="T4" fmla="*/ 40 w 224"/>
                  <a:gd name="T5" fmla="*/ 0 h 247"/>
                  <a:gd name="T6" fmla="*/ 56 w 224"/>
                  <a:gd name="T7" fmla="*/ 0 h 247"/>
                  <a:gd name="T8" fmla="*/ 143 w 224"/>
                  <a:gd name="T9" fmla="*/ 246 h 247"/>
                  <a:gd name="T10" fmla="*/ 223 w 224"/>
                  <a:gd name="T11" fmla="*/ 246 h 247"/>
                  <a:gd name="T12" fmla="*/ 0 60000 65536"/>
                  <a:gd name="T13" fmla="*/ 0 60000 65536"/>
                  <a:gd name="T14" fmla="*/ 0 60000 65536"/>
                  <a:gd name="T15" fmla="*/ 0 60000 65536"/>
                  <a:gd name="T16" fmla="*/ 0 60000 65536"/>
                  <a:gd name="T17" fmla="*/ 0 60000 65536"/>
                  <a:gd name="T18" fmla="*/ 0 w 224"/>
                  <a:gd name="T19" fmla="*/ 0 h 247"/>
                  <a:gd name="T20" fmla="*/ 224 w 224"/>
                  <a:gd name="T21" fmla="*/ 247 h 247"/>
                </a:gdLst>
                <a:ahLst/>
                <a:cxnLst>
                  <a:cxn ang="T12">
                    <a:pos x="T0" y="T1"/>
                  </a:cxn>
                  <a:cxn ang="T13">
                    <a:pos x="T2" y="T3"/>
                  </a:cxn>
                  <a:cxn ang="T14">
                    <a:pos x="T4" y="T5"/>
                  </a:cxn>
                  <a:cxn ang="T15">
                    <a:pos x="T6" y="T7"/>
                  </a:cxn>
                  <a:cxn ang="T16">
                    <a:pos x="T8" y="T9"/>
                  </a:cxn>
                  <a:cxn ang="T17">
                    <a:pos x="T10" y="T11"/>
                  </a:cxn>
                </a:cxnLst>
                <a:rect l="T18" t="T19" r="T20" b="T21"/>
                <a:pathLst>
                  <a:path w="224" h="247">
                    <a:moveTo>
                      <a:pt x="0" y="0"/>
                    </a:moveTo>
                    <a:lnTo>
                      <a:pt x="16" y="0"/>
                    </a:lnTo>
                    <a:lnTo>
                      <a:pt x="40" y="0"/>
                    </a:lnTo>
                    <a:lnTo>
                      <a:pt x="56" y="0"/>
                    </a:lnTo>
                    <a:lnTo>
                      <a:pt x="143" y="246"/>
                    </a:lnTo>
                    <a:lnTo>
                      <a:pt x="223" y="246"/>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50" name="Line 55"/>
              <p:cNvSpPr>
                <a:spLocks noChangeShapeType="1"/>
              </p:cNvSpPr>
              <p:nvPr/>
            </p:nvSpPr>
            <p:spPr bwMode="auto">
              <a:xfrm>
                <a:off x="2323" y="2982"/>
                <a:ext cx="215"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51" name="Freeform 56"/>
              <p:cNvSpPr>
                <a:spLocks/>
              </p:cNvSpPr>
              <p:nvPr/>
            </p:nvSpPr>
            <p:spPr bwMode="auto">
              <a:xfrm>
                <a:off x="2320" y="3041"/>
                <a:ext cx="234" cy="246"/>
              </a:xfrm>
              <a:custGeom>
                <a:avLst/>
                <a:gdLst>
                  <a:gd name="T0" fmla="*/ 0 w 234"/>
                  <a:gd name="T1" fmla="*/ 245 h 246"/>
                  <a:gd name="T2" fmla="*/ 17 w 234"/>
                  <a:gd name="T3" fmla="*/ 245 h 246"/>
                  <a:gd name="T4" fmla="*/ 42 w 234"/>
                  <a:gd name="T5" fmla="*/ 245 h 246"/>
                  <a:gd name="T6" fmla="*/ 58 w 234"/>
                  <a:gd name="T7" fmla="*/ 245 h 246"/>
                  <a:gd name="T8" fmla="*/ 150 w 234"/>
                  <a:gd name="T9" fmla="*/ 0 h 246"/>
                  <a:gd name="T10" fmla="*/ 233 w 234"/>
                  <a:gd name="T11" fmla="*/ 0 h 246"/>
                  <a:gd name="T12" fmla="*/ 0 60000 65536"/>
                  <a:gd name="T13" fmla="*/ 0 60000 65536"/>
                  <a:gd name="T14" fmla="*/ 0 60000 65536"/>
                  <a:gd name="T15" fmla="*/ 0 60000 65536"/>
                  <a:gd name="T16" fmla="*/ 0 60000 65536"/>
                  <a:gd name="T17" fmla="*/ 0 60000 65536"/>
                  <a:gd name="T18" fmla="*/ 0 w 234"/>
                  <a:gd name="T19" fmla="*/ 0 h 246"/>
                  <a:gd name="T20" fmla="*/ 234 w 23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4" h="246">
                    <a:moveTo>
                      <a:pt x="0" y="245"/>
                    </a:moveTo>
                    <a:lnTo>
                      <a:pt x="17" y="245"/>
                    </a:lnTo>
                    <a:lnTo>
                      <a:pt x="42" y="245"/>
                    </a:lnTo>
                    <a:lnTo>
                      <a:pt x="58" y="245"/>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52" name="Freeform 57"/>
              <p:cNvSpPr>
                <a:spLocks/>
              </p:cNvSpPr>
              <p:nvPr/>
            </p:nvSpPr>
            <p:spPr bwMode="auto">
              <a:xfrm>
                <a:off x="2315" y="3690"/>
                <a:ext cx="224" cy="246"/>
              </a:xfrm>
              <a:custGeom>
                <a:avLst/>
                <a:gdLst>
                  <a:gd name="T0" fmla="*/ 0 w 224"/>
                  <a:gd name="T1" fmla="*/ 0 h 246"/>
                  <a:gd name="T2" fmla="*/ 16 w 224"/>
                  <a:gd name="T3" fmla="*/ 0 h 246"/>
                  <a:gd name="T4" fmla="*/ 40 w 224"/>
                  <a:gd name="T5" fmla="*/ 0 h 246"/>
                  <a:gd name="T6" fmla="*/ 56 w 224"/>
                  <a:gd name="T7" fmla="*/ 0 h 246"/>
                  <a:gd name="T8" fmla="*/ 143 w 224"/>
                  <a:gd name="T9" fmla="*/ 245 h 246"/>
                  <a:gd name="T10" fmla="*/ 223 w 224"/>
                  <a:gd name="T11" fmla="*/ 245 h 246"/>
                  <a:gd name="T12" fmla="*/ 0 60000 65536"/>
                  <a:gd name="T13" fmla="*/ 0 60000 65536"/>
                  <a:gd name="T14" fmla="*/ 0 60000 65536"/>
                  <a:gd name="T15" fmla="*/ 0 60000 65536"/>
                  <a:gd name="T16" fmla="*/ 0 60000 65536"/>
                  <a:gd name="T17" fmla="*/ 0 60000 65536"/>
                  <a:gd name="T18" fmla="*/ 0 w 224"/>
                  <a:gd name="T19" fmla="*/ 0 h 246"/>
                  <a:gd name="T20" fmla="*/ 224 w 22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4" h="246">
                    <a:moveTo>
                      <a:pt x="0" y="0"/>
                    </a:moveTo>
                    <a:lnTo>
                      <a:pt x="16" y="0"/>
                    </a:lnTo>
                    <a:lnTo>
                      <a:pt x="40" y="0"/>
                    </a:lnTo>
                    <a:lnTo>
                      <a:pt x="56" y="0"/>
                    </a:lnTo>
                    <a:lnTo>
                      <a:pt x="143" y="245"/>
                    </a:lnTo>
                    <a:lnTo>
                      <a:pt x="223"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953" name="Line 58"/>
              <p:cNvSpPr>
                <a:spLocks noChangeShapeType="1"/>
              </p:cNvSpPr>
              <p:nvPr/>
            </p:nvSpPr>
            <p:spPr bwMode="auto">
              <a:xfrm>
                <a:off x="2320" y="4004"/>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954" name="Freeform 59"/>
              <p:cNvSpPr>
                <a:spLocks/>
              </p:cNvSpPr>
              <p:nvPr/>
            </p:nvSpPr>
            <p:spPr bwMode="auto">
              <a:xfrm>
                <a:off x="2320" y="3694"/>
                <a:ext cx="234" cy="246"/>
              </a:xfrm>
              <a:custGeom>
                <a:avLst/>
                <a:gdLst>
                  <a:gd name="T0" fmla="*/ 0 w 234"/>
                  <a:gd name="T1" fmla="*/ 245 h 246"/>
                  <a:gd name="T2" fmla="*/ 17 w 234"/>
                  <a:gd name="T3" fmla="*/ 245 h 246"/>
                  <a:gd name="T4" fmla="*/ 42 w 234"/>
                  <a:gd name="T5" fmla="*/ 245 h 246"/>
                  <a:gd name="T6" fmla="*/ 58 w 234"/>
                  <a:gd name="T7" fmla="*/ 245 h 246"/>
                  <a:gd name="T8" fmla="*/ 150 w 234"/>
                  <a:gd name="T9" fmla="*/ 0 h 246"/>
                  <a:gd name="T10" fmla="*/ 233 w 234"/>
                  <a:gd name="T11" fmla="*/ 0 h 246"/>
                  <a:gd name="T12" fmla="*/ 0 60000 65536"/>
                  <a:gd name="T13" fmla="*/ 0 60000 65536"/>
                  <a:gd name="T14" fmla="*/ 0 60000 65536"/>
                  <a:gd name="T15" fmla="*/ 0 60000 65536"/>
                  <a:gd name="T16" fmla="*/ 0 60000 65536"/>
                  <a:gd name="T17" fmla="*/ 0 60000 65536"/>
                  <a:gd name="T18" fmla="*/ 0 w 234"/>
                  <a:gd name="T19" fmla="*/ 0 h 246"/>
                  <a:gd name="T20" fmla="*/ 234 w 23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4" h="246">
                    <a:moveTo>
                      <a:pt x="0" y="245"/>
                    </a:moveTo>
                    <a:lnTo>
                      <a:pt x="17" y="245"/>
                    </a:lnTo>
                    <a:lnTo>
                      <a:pt x="42" y="245"/>
                    </a:lnTo>
                    <a:lnTo>
                      <a:pt x="58" y="245"/>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grpSp>
            <p:nvGrpSpPr>
              <p:cNvPr id="198955" name="Group 60"/>
              <p:cNvGrpSpPr>
                <a:grpSpLocks/>
              </p:cNvGrpSpPr>
              <p:nvPr/>
            </p:nvGrpSpPr>
            <p:grpSpPr bwMode="auto">
              <a:xfrm>
                <a:off x="2526" y="2933"/>
                <a:ext cx="112" cy="1107"/>
                <a:chOff x="2526" y="2933"/>
                <a:chExt cx="112" cy="1107"/>
              </a:xfrm>
            </p:grpSpPr>
            <p:sp>
              <p:nvSpPr>
                <p:cNvPr id="198956" name="Rectangle 61"/>
                <p:cNvSpPr>
                  <a:spLocks noChangeArrowheads="1"/>
                </p:cNvSpPr>
                <p:nvPr/>
              </p:nvSpPr>
              <p:spPr bwMode="auto">
                <a:xfrm>
                  <a:off x="2526" y="2933"/>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57" name="Rectangle 62"/>
                <p:cNvSpPr>
                  <a:spLocks noChangeArrowheads="1"/>
                </p:cNvSpPr>
                <p:nvPr/>
              </p:nvSpPr>
              <p:spPr bwMode="auto">
                <a:xfrm>
                  <a:off x="2526" y="3242"/>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58" name="Rectangle 63"/>
                <p:cNvSpPr>
                  <a:spLocks noChangeArrowheads="1"/>
                </p:cNvSpPr>
                <p:nvPr/>
              </p:nvSpPr>
              <p:spPr bwMode="auto">
                <a:xfrm>
                  <a:off x="2526" y="3549"/>
                  <a:ext cx="112"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59" name="Rectangle 64"/>
                <p:cNvSpPr>
                  <a:spLocks noChangeArrowheads="1"/>
                </p:cNvSpPr>
                <p:nvPr/>
              </p:nvSpPr>
              <p:spPr bwMode="auto">
                <a:xfrm>
                  <a:off x="2526" y="3857"/>
                  <a:ext cx="112" cy="183"/>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grpSp>
      <p:sp>
        <p:nvSpPr>
          <p:cNvPr id="198662" name="Oval 65"/>
          <p:cNvSpPr>
            <a:spLocks noChangeArrowheads="1"/>
          </p:cNvSpPr>
          <p:nvPr/>
        </p:nvSpPr>
        <p:spPr bwMode="auto">
          <a:xfrm>
            <a:off x="1828800" y="16764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63" name="Oval 66"/>
          <p:cNvSpPr>
            <a:spLocks noChangeArrowheads="1"/>
          </p:cNvSpPr>
          <p:nvPr/>
        </p:nvSpPr>
        <p:spPr bwMode="auto">
          <a:xfrm>
            <a:off x="2209800" y="20574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64" name="Oval 67"/>
          <p:cNvSpPr>
            <a:spLocks noChangeArrowheads="1"/>
          </p:cNvSpPr>
          <p:nvPr/>
        </p:nvSpPr>
        <p:spPr bwMode="auto">
          <a:xfrm>
            <a:off x="2619375" y="23288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65" name="Oval 68"/>
          <p:cNvSpPr>
            <a:spLocks noChangeArrowheads="1"/>
          </p:cNvSpPr>
          <p:nvPr/>
        </p:nvSpPr>
        <p:spPr bwMode="auto">
          <a:xfrm>
            <a:off x="2624138" y="24241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66" name="Oval 69"/>
          <p:cNvSpPr>
            <a:spLocks noChangeArrowheads="1"/>
          </p:cNvSpPr>
          <p:nvPr/>
        </p:nvSpPr>
        <p:spPr bwMode="auto">
          <a:xfrm>
            <a:off x="3062288" y="21002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67" name="Oval 70"/>
          <p:cNvSpPr>
            <a:spLocks noChangeArrowheads="1"/>
          </p:cNvSpPr>
          <p:nvPr/>
        </p:nvSpPr>
        <p:spPr bwMode="auto">
          <a:xfrm>
            <a:off x="3048000" y="28098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68" name="Oval 71"/>
          <p:cNvSpPr>
            <a:spLocks noChangeArrowheads="1"/>
          </p:cNvSpPr>
          <p:nvPr/>
        </p:nvSpPr>
        <p:spPr bwMode="auto">
          <a:xfrm>
            <a:off x="2205038" y="27860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grpSp>
        <p:nvGrpSpPr>
          <p:cNvPr id="198669" name="Group 72"/>
          <p:cNvGrpSpPr>
            <a:grpSpLocks/>
          </p:cNvGrpSpPr>
          <p:nvPr/>
        </p:nvGrpSpPr>
        <p:grpSpPr bwMode="auto">
          <a:xfrm>
            <a:off x="1676400" y="3200400"/>
            <a:ext cx="1576388" cy="1289050"/>
            <a:chOff x="1502" y="2927"/>
            <a:chExt cx="1228" cy="1113"/>
          </a:xfrm>
        </p:grpSpPr>
        <p:sp>
          <p:nvSpPr>
            <p:cNvPr id="198850" name="Line 73"/>
            <p:cNvSpPr>
              <a:spLocks noChangeShapeType="1"/>
            </p:cNvSpPr>
            <p:nvPr/>
          </p:nvSpPr>
          <p:spPr bwMode="auto">
            <a:xfrm>
              <a:off x="2639" y="2982"/>
              <a:ext cx="91"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1" name="Line 74"/>
            <p:cNvSpPr>
              <a:spLocks noChangeShapeType="1"/>
            </p:cNvSpPr>
            <p:nvPr/>
          </p:nvSpPr>
          <p:spPr bwMode="auto">
            <a:xfrm>
              <a:off x="2639" y="3056"/>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2" name="Line 75"/>
            <p:cNvSpPr>
              <a:spLocks noChangeShapeType="1"/>
            </p:cNvSpPr>
            <p:nvPr/>
          </p:nvSpPr>
          <p:spPr bwMode="auto">
            <a:xfrm>
              <a:off x="2639" y="3291"/>
              <a:ext cx="91"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3" name="Line 76"/>
            <p:cNvSpPr>
              <a:spLocks noChangeShapeType="1"/>
            </p:cNvSpPr>
            <p:nvPr/>
          </p:nvSpPr>
          <p:spPr bwMode="auto">
            <a:xfrm>
              <a:off x="2639" y="3364"/>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4" name="Line 77"/>
            <p:cNvSpPr>
              <a:spLocks noChangeShapeType="1"/>
            </p:cNvSpPr>
            <p:nvPr/>
          </p:nvSpPr>
          <p:spPr bwMode="auto">
            <a:xfrm>
              <a:off x="2639" y="3600"/>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5" name="Line 78"/>
            <p:cNvSpPr>
              <a:spLocks noChangeShapeType="1"/>
            </p:cNvSpPr>
            <p:nvPr/>
          </p:nvSpPr>
          <p:spPr bwMode="auto">
            <a:xfrm>
              <a:off x="2639" y="3673"/>
              <a:ext cx="91"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6" name="Line 79"/>
            <p:cNvSpPr>
              <a:spLocks noChangeShapeType="1"/>
            </p:cNvSpPr>
            <p:nvPr/>
          </p:nvSpPr>
          <p:spPr bwMode="auto">
            <a:xfrm>
              <a:off x="2639" y="3908"/>
              <a:ext cx="91"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7" name="Line 80"/>
            <p:cNvSpPr>
              <a:spLocks noChangeShapeType="1"/>
            </p:cNvSpPr>
            <p:nvPr/>
          </p:nvSpPr>
          <p:spPr bwMode="auto">
            <a:xfrm>
              <a:off x="2639" y="3981"/>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8" name="Line 81"/>
            <p:cNvSpPr>
              <a:spLocks noChangeShapeType="1"/>
            </p:cNvSpPr>
            <p:nvPr/>
          </p:nvSpPr>
          <p:spPr bwMode="auto">
            <a:xfrm>
              <a:off x="1502" y="2977"/>
              <a:ext cx="93"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59" name="Line 82"/>
            <p:cNvSpPr>
              <a:spLocks noChangeShapeType="1"/>
            </p:cNvSpPr>
            <p:nvPr/>
          </p:nvSpPr>
          <p:spPr bwMode="auto">
            <a:xfrm>
              <a:off x="1502" y="3050"/>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60" name="Line 83"/>
            <p:cNvSpPr>
              <a:spLocks noChangeShapeType="1"/>
            </p:cNvSpPr>
            <p:nvPr/>
          </p:nvSpPr>
          <p:spPr bwMode="auto">
            <a:xfrm>
              <a:off x="1502" y="3286"/>
              <a:ext cx="93"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61" name="Line 84"/>
            <p:cNvSpPr>
              <a:spLocks noChangeShapeType="1"/>
            </p:cNvSpPr>
            <p:nvPr/>
          </p:nvSpPr>
          <p:spPr bwMode="auto">
            <a:xfrm>
              <a:off x="1502" y="3358"/>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62" name="Line 85"/>
            <p:cNvSpPr>
              <a:spLocks noChangeShapeType="1"/>
            </p:cNvSpPr>
            <p:nvPr/>
          </p:nvSpPr>
          <p:spPr bwMode="auto">
            <a:xfrm>
              <a:off x="1502" y="3593"/>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63" name="Line 86"/>
            <p:cNvSpPr>
              <a:spLocks noChangeShapeType="1"/>
            </p:cNvSpPr>
            <p:nvPr/>
          </p:nvSpPr>
          <p:spPr bwMode="auto">
            <a:xfrm>
              <a:off x="1502" y="3665"/>
              <a:ext cx="93"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64" name="Line 87"/>
            <p:cNvSpPr>
              <a:spLocks noChangeShapeType="1"/>
            </p:cNvSpPr>
            <p:nvPr/>
          </p:nvSpPr>
          <p:spPr bwMode="auto">
            <a:xfrm>
              <a:off x="1502" y="3903"/>
              <a:ext cx="93" cy="1"/>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65" name="Line 88"/>
            <p:cNvSpPr>
              <a:spLocks noChangeShapeType="1"/>
            </p:cNvSpPr>
            <p:nvPr/>
          </p:nvSpPr>
          <p:spPr bwMode="auto">
            <a:xfrm>
              <a:off x="1502" y="3975"/>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grpSp>
          <p:nvGrpSpPr>
            <p:cNvPr id="198866" name="Group 89"/>
            <p:cNvGrpSpPr>
              <a:grpSpLocks/>
            </p:cNvGrpSpPr>
            <p:nvPr/>
          </p:nvGrpSpPr>
          <p:grpSpPr bwMode="auto">
            <a:xfrm>
              <a:off x="1588" y="2927"/>
              <a:ext cx="1050" cy="1113"/>
              <a:chOff x="1588" y="2927"/>
              <a:chExt cx="1050" cy="1113"/>
            </a:xfrm>
          </p:grpSpPr>
          <p:sp>
            <p:nvSpPr>
              <p:cNvPr id="198867" name="Freeform 90"/>
              <p:cNvSpPr>
                <a:spLocks/>
              </p:cNvSpPr>
              <p:nvPr/>
            </p:nvSpPr>
            <p:spPr bwMode="auto">
              <a:xfrm>
                <a:off x="1686" y="3034"/>
                <a:ext cx="225" cy="246"/>
              </a:xfrm>
              <a:custGeom>
                <a:avLst/>
                <a:gdLst>
                  <a:gd name="T0" fmla="*/ 0 w 225"/>
                  <a:gd name="T1" fmla="*/ 0 h 246"/>
                  <a:gd name="T2" fmla="*/ 16 w 225"/>
                  <a:gd name="T3" fmla="*/ 0 h 246"/>
                  <a:gd name="T4" fmla="*/ 40 w 225"/>
                  <a:gd name="T5" fmla="*/ 0 h 246"/>
                  <a:gd name="T6" fmla="*/ 56 w 225"/>
                  <a:gd name="T7" fmla="*/ 0 h 246"/>
                  <a:gd name="T8" fmla="*/ 144 w 225"/>
                  <a:gd name="T9" fmla="*/ 245 h 246"/>
                  <a:gd name="T10" fmla="*/ 224 w 225"/>
                  <a:gd name="T11" fmla="*/ 245 h 246"/>
                  <a:gd name="T12" fmla="*/ 0 60000 65536"/>
                  <a:gd name="T13" fmla="*/ 0 60000 65536"/>
                  <a:gd name="T14" fmla="*/ 0 60000 65536"/>
                  <a:gd name="T15" fmla="*/ 0 60000 65536"/>
                  <a:gd name="T16" fmla="*/ 0 60000 65536"/>
                  <a:gd name="T17" fmla="*/ 0 60000 65536"/>
                  <a:gd name="T18" fmla="*/ 0 w 225"/>
                  <a:gd name="T19" fmla="*/ 0 h 246"/>
                  <a:gd name="T20" fmla="*/ 225 w 225"/>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5" h="246">
                    <a:moveTo>
                      <a:pt x="0" y="0"/>
                    </a:moveTo>
                    <a:lnTo>
                      <a:pt x="16" y="0"/>
                    </a:lnTo>
                    <a:lnTo>
                      <a:pt x="40" y="0"/>
                    </a:lnTo>
                    <a:lnTo>
                      <a:pt x="56" y="0"/>
                    </a:lnTo>
                    <a:lnTo>
                      <a:pt x="144" y="245"/>
                    </a:lnTo>
                    <a:lnTo>
                      <a:pt x="224"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68" name="Freeform 91"/>
              <p:cNvSpPr>
                <a:spLocks/>
              </p:cNvSpPr>
              <p:nvPr/>
            </p:nvSpPr>
            <p:spPr bwMode="auto">
              <a:xfrm>
                <a:off x="1981" y="2970"/>
                <a:ext cx="222" cy="81"/>
              </a:xfrm>
              <a:custGeom>
                <a:avLst/>
                <a:gdLst>
                  <a:gd name="T0" fmla="*/ 0 w 222"/>
                  <a:gd name="T1" fmla="*/ 80 h 81"/>
                  <a:gd name="T2" fmla="*/ 16 w 222"/>
                  <a:gd name="T3" fmla="*/ 80 h 81"/>
                  <a:gd name="T4" fmla="*/ 39 w 222"/>
                  <a:gd name="T5" fmla="*/ 80 h 81"/>
                  <a:gd name="T6" fmla="*/ 55 w 222"/>
                  <a:gd name="T7" fmla="*/ 80 h 81"/>
                  <a:gd name="T8" fmla="*/ 142 w 222"/>
                  <a:gd name="T9" fmla="*/ 0 h 81"/>
                  <a:gd name="T10" fmla="*/ 221 w 222"/>
                  <a:gd name="T11" fmla="*/ 0 h 81"/>
                  <a:gd name="T12" fmla="*/ 0 60000 65536"/>
                  <a:gd name="T13" fmla="*/ 0 60000 65536"/>
                  <a:gd name="T14" fmla="*/ 0 60000 65536"/>
                  <a:gd name="T15" fmla="*/ 0 60000 65536"/>
                  <a:gd name="T16" fmla="*/ 0 60000 65536"/>
                  <a:gd name="T17" fmla="*/ 0 60000 65536"/>
                  <a:gd name="T18" fmla="*/ 0 w 222"/>
                  <a:gd name="T19" fmla="*/ 0 h 81"/>
                  <a:gd name="T20" fmla="*/ 222 w 222"/>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222" h="81">
                    <a:moveTo>
                      <a:pt x="0" y="80"/>
                    </a:moveTo>
                    <a:lnTo>
                      <a:pt x="16" y="80"/>
                    </a:lnTo>
                    <a:lnTo>
                      <a:pt x="39" y="80"/>
                    </a:lnTo>
                    <a:lnTo>
                      <a:pt x="55" y="80"/>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69" name="Line 92"/>
              <p:cNvSpPr>
                <a:spLocks noChangeShapeType="1"/>
              </p:cNvSpPr>
              <p:nvPr/>
            </p:nvSpPr>
            <p:spPr bwMode="auto">
              <a:xfrm>
                <a:off x="1695" y="2979"/>
                <a:ext cx="215"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70" name="Line 93"/>
              <p:cNvSpPr>
                <a:spLocks noChangeShapeType="1"/>
              </p:cNvSpPr>
              <p:nvPr/>
            </p:nvSpPr>
            <p:spPr bwMode="auto">
              <a:xfrm>
                <a:off x="1691" y="3348"/>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71" name="Freeform 94"/>
              <p:cNvSpPr>
                <a:spLocks/>
              </p:cNvSpPr>
              <p:nvPr/>
            </p:nvSpPr>
            <p:spPr bwMode="auto">
              <a:xfrm>
                <a:off x="1686" y="3645"/>
                <a:ext cx="225" cy="246"/>
              </a:xfrm>
              <a:custGeom>
                <a:avLst/>
                <a:gdLst>
                  <a:gd name="T0" fmla="*/ 0 w 225"/>
                  <a:gd name="T1" fmla="*/ 0 h 246"/>
                  <a:gd name="T2" fmla="*/ 16 w 225"/>
                  <a:gd name="T3" fmla="*/ 0 h 246"/>
                  <a:gd name="T4" fmla="*/ 40 w 225"/>
                  <a:gd name="T5" fmla="*/ 0 h 246"/>
                  <a:gd name="T6" fmla="*/ 56 w 225"/>
                  <a:gd name="T7" fmla="*/ 0 h 246"/>
                  <a:gd name="T8" fmla="*/ 144 w 225"/>
                  <a:gd name="T9" fmla="*/ 245 h 246"/>
                  <a:gd name="T10" fmla="*/ 224 w 225"/>
                  <a:gd name="T11" fmla="*/ 245 h 246"/>
                  <a:gd name="T12" fmla="*/ 0 60000 65536"/>
                  <a:gd name="T13" fmla="*/ 0 60000 65536"/>
                  <a:gd name="T14" fmla="*/ 0 60000 65536"/>
                  <a:gd name="T15" fmla="*/ 0 60000 65536"/>
                  <a:gd name="T16" fmla="*/ 0 60000 65536"/>
                  <a:gd name="T17" fmla="*/ 0 60000 65536"/>
                  <a:gd name="T18" fmla="*/ 0 w 225"/>
                  <a:gd name="T19" fmla="*/ 0 h 246"/>
                  <a:gd name="T20" fmla="*/ 225 w 225"/>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5" h="246">
                    <a:moveTo>
                      <a:pt x="0" y="0"/>
                    </a:moveTo>
                    <a:lnTo>
                      <a:pt x="16" y="0"/>
                    </a:lnTo>
                    <a:lnTo>
                      <a:pt x="40" y="0"/>
                    </a:lnTo>
                    <a:lnTo>
                      <a:pt x="56" y="0"/>
                    </a:lnTo>
                    <a:lnTo>
                      <a:pt x="144" y="245"/>
                    </a:lnTo>
                    <a:lnTo>
                      <a:pt x="224"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72" name="Freeform 95"/>
              <p:cNvSpPr>
                <a:spLocks/>
              </p:cNvSpPr>
              <p:nvPr/>
            </p:nvSpPr>
            <p:spPr bwMode="auto">
              <a:xfrm>
                <a:off x="1695" y="3654"/>
                <a:ext cx="233" cy="234"/>
              </a:xfrm>
              <a:custGeom>
                <a:avLst/>
                <a:gdLst>
                  <a:gd name="T0" fmla="*/ 0 w 233"/>
                  <a:gd name="T1" fmla="*/ 233 h 234"/>
                  <a:gd name="T2" fmla="*/ 17 w 233"/>
                  <a:gd name="T3" fmla="*/ 233 h 234"/>
                  <a:gd name="T4" fmla="*/ 41 w 233"/>
                  <a:gd name="T5" fmla="*/ 233 h 234"/>
                  <a:gd name="T6" fmla="*/ 58 w 233"/>
                  <a:gd name="T7" fmla="*/ 233 h 234"/>
                  <a:gd name="T8" fmla="*/ 149 w 233"/>
                  <a:gd name="T9" fmla="*/ 0 h 234"/>
                  <a:gd name="T10" fmla="*/ 232 w 233"/>
                  <a:gd name="T11" fmla="*/ 0 h 234"/>
                  <a:gd name="T12" fmla="*/ 0 60000 65536"/>
                  <a:gd name="T13" fmla="*/ 0 60000 65536"/>
                  <a:gd name="T14" fmla="*/ 0 60000 65536"/>
                  <a:gd name="T15" fmla="*/ 0 60000 65536"/>
                  <a:gd name="T16" fmla="*/ 0 60000 65536"/>
                  <a:gd name="T17" fmla="*/ 0 60000 65536"/>
                  <a:gd name="T18" fmla="*/ 0 w 233"/>
                  <a:gd name="T19" fmla="*/ 0 h 234"/>
                  <a:gd name="T20" fmla="*/ 233 w 233"/>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3" h="234">
                    <a:moveTo>
                      <a:pt x="0" y="233"/>
                    </a:moveTo>
                    <a:lnTo>
                      <a:pt x="17" y="233"/>
                    </a:lnTo>
                    <a:lnTo>
                      <a:pt x="41" y="233"/>
                    </a:lnTo>
                    <a:lnTo>
                      <a:pt x="58" y="233"/>
                    </a:lnTo>
                    <a:lnTo>
                      <a:pt x="149" y="0"/>
                    </a:lnTo>
                    <a:lnTo>
                      <a:pt x="232"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73" name="Line 96"/>
              <p:cNvSpPr>
                <a:spLocks noChangeShapeType="1"/>
              </p:cNvSpPr>
              <p:nvPr/>
            </p:nvSpPr>
            <p:spPr bwMode="auto">
              <a:xfrm>
                <a:off x="1686" y="3591"/>
                <a:ext cx="230"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74" name="Line 97"/>
              <p:cNvSpPr>
                <a:spLocks noChangeShapeType="1"/>
              </p:cNvSpPr>
              <p:nvPr/>
            </p:nvSpPr>
            <p:spPr bwMode="auto">
              <a:xfrm>
                <a:off x="1691" y="3959"/>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75" name="Freeform 98"/>
              <p:cNvSpPr>
                <a:spLocks/>
              </p:cNvSpPr>
              <p:nvPr/>
            </p:nvSpPr>
            <p:spPr bwMode="auto">
              <a:xfrm>
                <a:off x="1985" y="2973"/>
                <a:ext cx="227" cy="613"/>
              </a:xfrm>
              <a:custGeom>
                <a:avLst/>
                <a:gdLst>
                  <a:gd name="T0" fmla="*/ 0 w 227"/>
                  <a:gd name="T1" fmla="*/ 0 h 613"/>
                  <a:gd name="T2" fmla="*/ 16 w 227"/>
                  <a:gd name="T3" fmla="*/ 0 h 613"/>
                  <a:gd name="T4" fmla="*/ 40 w 227"/>
                  <a:gd name="T5" fmla="*/ 0 h 613"/>
                  <a:gd name="T6" fmla="*/ 57 w 227"/>
                  <a:gd name="T7" fmla="*/ 0 h 613"/>
                  <a:gd name="T8" fmla="*/ 145 w 227"/>
                  <a:gd name="T9" fmla="*/ 612 h 613"/>
                  <a:gd name="T10" fmla="*/ 226 w 227"/>
                  <a:gd name="T11" fmla="*/ 612 h 613"/>
                  <a:gd name="T12" fmla="*/ 0 60000 65536"/>
                  <a:gd name="T13" fmla="*/ 0 60000 65536"/>
                  <a:gd name="T14" fmla="*/ 0 60000 65536"/>
                  <a:gd name="T15" fmla="*/ 0 60000 65536"/>
                  <a:gd name="T16" fmla="*/ 0 60000 65536"/>
                  <a:gd name="T17" fmla="*/ 0 60000 65536"/>
                  <a:gd name="T18" fmla="*/ 0 w 227"/>
                  <a:gd name="T19" fmla="*/ 0 h 613"/>
                  <a:gd name="T20" fmla="*/ 227 w 227"/>
                  <a:gd name="T21" fmla="*/ 613 h 613"/>
                </a:gdLst>
                <a:ahLst/>
                <a:cxnLst>
                  <a:cxn ang="T12">
                    <a:pos x="T0" y="T1"/>
                  </a:cxn>
                  <a:cxn ang="T13">
                    <a:pos x="T2" y="T3"/>
                  </a:cxn>
                  <a:cxn ang="T14">
                    <a:pos x="T4" y="T5"/>
                  </a:cxn>
                  <a:cxn ang="T15">
                    <a:pos x="T6" y="T7"/>
                  </a:cxn>
                  <a:cxn ang="T16">
                    <a:pos x="T8" y="T9"/>
                  </a:cxn>
                  <a:cxn ang="T17">
                    <a:pos x="T10" y="T11"/>
                  </a:cxn>
                </a:cxnLst>
                <a:rect l="T18" t="T19" r="T20" b="T21"/>
                <a:pathLst>
                  <a:path w="227" h="613">
                    <a:moveTo>
                      <a:pt x="0" y="0"/>
                    </a:moveTo>
                    <a:lnTo>
                      <a:pt x="16" y="0"/>
                    </a:lnTo>
                    <a:lnTo>
                      <a:pt x="40" y="0"/>
                    </a:lnTo>
                    <a:lnTo>
                      <a:pt x="57" y="0"/>
                    </a:lnTo>
                    <a:lnTo>
                      <a:pt x="145" y="612"/>
                    </a:lnTo>
                    <a:lnTo>
                      <a:pt x="226" y="612"/>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76" name="Freeform 99"/>
              <p:cNvSpPr>
                <a:spLocks/>
              </p:cNvSpPr>
              <p:nvPr/>
            </p:nvSpPr>
            <p:spPr bwMode="auto">
              <a:xfrm>
                <a:off x="1981" y="3352"/>
                <a:ext cx="235" cy="234"/>
              </a:xfrm>
              <a:custGeom>
                <a:avLst/>
                <a:gdLst>
                  <a:gd name="T0" fmla="*/ 0 w 235"/>
                  <a:gd name="T1" fmla="*/ 233 h 234"/>
                  <a:gd name="T2" fmla="*/ 17 w 235"/>
                  <a:gd name="T3" fmla="*/ 233 h 234"/>
                  <a:gd name="T4" fmla="*/ 42 w 235"/>
                  <a:gd name="T5" fmla="*/ 233 h 234"/>
                  <a:gd name="T6" fmla="*/ 59 w 235"/>
                  <a:gd name="T7" fmla="*/ 233 h 234"/>
                  <a:gd name="T8" fmla="*/ 150 w 235"/>
                  <a:gd name="T9" fmla="*/ 0 h 234"/>
                  <a:gd name="T10" fmla="*/ 234 w 235"/>
                  <a:gd name="T11" fmla="*/ 0 h 234"/>
                  <a:gd name="T12" fmla="*/ 0 60000 65536"/>
                  <a:gd name="T13" fmla="*/ 0 60000 65536"/>
                  <a:gd name="T14" fmla="*/ 0 60000 65536"/>
                  <a:gd name="T15" fmla="*/ 0 60000 65536"/>
                  <a:gd name="T16" fmla="*/ 0 60000 65536"/>
                  <a:gd name="T17" fmla="*/ 0 60000 65536"/>
                  <a:gd name="T18" fmla="*/ 0 w 235"/>
                  <a:gd name="T19" fmla="*/ 0 h 234"/>
                  <a:gd name="T20" fmla="*/ 235 w 235"/>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5" h="234">
                    <a:moveTo>
                      <a:pt x="0" y="233"/>
                    </a:moveTo>
                    <a:lnTo>
                      <a:pt x="17" y="233"/>
                    </a:lnTo>
                    <a:lnTo>
                      <a:pt x="42" y="233"/>
                    </a:lnTo>
                    <a:lnTo>
                      <a:pt x="59" y="233"/>
                    </a:lnTo>
                    <a:lnTo>
                      <a:pt x="150" y="0"/>
                    </a:lnTo>
                    <a:lnTo>
                      <a:pt x="234"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77" name="Freeform 100"/>
              <p:cNvSpPr>
                <a:spLocks/>
              </p:cNvSpPr>
              <p:nvPr/>
            </p:nvSpPr>
            <p:spPr bwMode="auto">
              <a:xfrm>
                <a:off x="1981" y="3050"/>
                <a:ext cx="235" cy="234"/>
              </a:xfrm>
              <a:custGeom>
                <a:avLst/>
                <a:gdLst>
                  <a:gd name="T0" fmla="*/ 0 w 235"/>
                  <a:gd name="T1" fmla="*/ 233 h 234"/>
                  <a:gd name="T2" fmla="*/ 17 w 235"/>
                  <a:gd name="T3" fmla="*/ 233 h 234"/>
                  <a:gd name="T4" fmla="*/ 42 w 235"/>
                  <a:gd name="T5" fmla="*/ 233 h 234"/>
                  <a:gd name="T6" fmla="*/ 59 w 235"/>
                  <a:gd name="T7" fmla="*/ 233 h 234"/>
                  <a:gd name="T8" fmla="*/ 150 w 235"/>
                  <a:gd name="T9" fmla="*/ 0 h 234"/>
                  <a:gd name="T10" fmla="*/ 234 w 235"/>
                  <a:gd name="T11" fmla="*/ 0 h 234"/>
                  <a:gd name="T12" fmla="*/ 0 60000 65536"/>
                  <a:gd name="T13" fmla="*/ 0 60000 65536"/>
                  <a:gd name="T14" fmla="*/ 0 60000 65536"/>
                  <a:gd name="T15" fmla="*/ 0 60000 65536"/>
                  <a:gd name="T16" fmla="*/ 0 60000 65536"/>
                  <a:gd name="T17" fmla="*/ 0 60000 65536"/>
                  <a:gd name="T18" fmla="*/ 0 w 235"/>
                  <a:gd name="T19" fmla="*/ 0 h 234"/>
                  <a:gd name="T20" fmla="*/ 235 w 235"/>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5" h="234">
                    <a:moveTo>
                      <a:pt x="0" y="233"/>
                    </a:moveTo>
                    <a:lnTo>
                      <a:pt x="17" y="233"/>
                    </a:lnTo>
                    <a:lnTo>
                      <a:pt x="42" y="233"/>
                    </a:lnTo>
                    <a:lnTo>
                      <a:pt x="59" y="233"/>
                    </a:lnTo>
                    <a:lnTo>
                      <a:pt x="150" y="0"/>
                    </a:lnTo>
                    <a:lnTo>
                      <a:pt x="234"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78" name="Freeform 101"/>
              <p:cNvSpPr>
                <a:spLocks/>
              </p:cNvSpPr>
              <p:nvPr/>
            </p:nvSpPr>
            <p:spPr bwMode="auto">
              <a:xfrm>
                <a:off x="1988" y="3660"/>
                <a:ext cx="219" cy="331"/>
              </a:xfrm>
              <a:custGeom>
                <a:avLst/>
                <a:gdLst>
                  <a:gd name="T0" fmla="*/ 0 w 219"/>
                  <a:gd name="T1" fmla="*/ 0 h 331"/>
                  <a:gd name="T2" fmla="*/ 16 w 219"/>
                  <a:gd name="T3" fmla="*/ 0 h 331"/>
                  <a:gd name="T4" fmla="*/ 39 w 219"/>
                  <a:gd name="T5" fmla="*/ 0 h 331"/>
                  <a:gd name="T6" fmla="*/ 55 w 219"/>
                  <a:gd name="T7" fmla="*/ 0 h 331"/>
                  <a:gd name="T8" fmla="*/ 140 w 219"/>
                  <a:gd name="T9" fmla="*/ 330 h 331"/>
                  <a:gd name="T10" fmla="*/ 218 w 219"/>
                  <a:gd name="T11" fmla="*/ 330 h 331"/>
                  <a:gd name="T12" fmla="*/ 0 60000 65536"/>
                  <a:gd name="T13" fmla="*/ 0 60000 65536"/>
                  <a:gd name="T14" fmla="*/ 0 60000 65536"/>
                  <a:gd name="T15" fmla="*/ 0 60000 65536"/>
                  <a:gd name="T16" fmla="*/ 0 60000 65536"/>
                  <a:gd name="T17" fmla="*/ 0 60000 65536"/>
                  <a:gd name="T18" fmla="*/ 0 w 219"/>
                  <a:gd name="T19" fmla="*/ 0 h 331"/>
                  <a:gd name="T20" fmla="*/ 219 w 219"/>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19" h="331">
                    <a:moveTo>
                      <a:pt x="0" y="0"/>
                    </a:moveTo>
                    <a:lnTo>
                      <a:pt x="16" y="0"/>
                    </a:lnTo>
                    <a:lnTo>
                      <a:pt x="39" y="0"/>
                    </a:lnTo>
                    <a:lnTo>
                      <a:pt x="55" y="0"/>
                    </a:lnTo>
                    <a:lnTo>
                      <a:pt x="140" y="330"/>
                    </a:lnTo>
                    <a:lnTo>
                      <a:pt x="218" y="33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79" name="Freeform 102"/>
              <p:cNvSpPr>
                <a:spLocks/>
              </p:cNvSpPr>
              <p:nvPr/>
            </p:nvSpPr>
            <p:spPr bwMode="auto">
              <a:xfrm>
                <a:off x="1981" y="3273"/>
                <a:ext cx="222" cy="632"/>
              </a:xfrm>
              <a:custGeom>
                <a:avLst/>
                <a:gdLst>
                  <a:gd name="T0" fmla="*/ 0 w 222"/>
                  <a:gd name="T1" fmla="*/ 631 h 632"/>
                  <a:gd name="T2" fmla="*/ 16 w 222"/>
                  <a:gd name="T3" fmla="*/ 631 h 632"/>
                  <a:gd name="T4" fmla="*/ 39 w 222"/>
                  <a:gd name="T5" fmla="*/ 631 h 632"/>
                  <a:gd name="T6" fmla="*/ 55 w 222"/>
                  <a:gd name="T7" fmla="*/ 631 h 632"/>
                  <a:gd name="T8" fmla="*/ 142 w 222"/>
                  <a:gd name="T9" fmla="*/ 0 h 632"/>
                  <a:gd name="T10" fmla="*/ 221 w 222"/>
                  <a:gd name="T11" fmla="*/ 0 h 632"/>
                  <a:gd name="T12" fmla="*/ 0 60000 65536"/>
                  <a:gd name="T13" fmla="*/ 0 60000 65536"/>
                  <a:gd name="T14" fmla="*/ 0 60000 65536"/>
                  <a:gd name="T15" fmla="*/ 0 60000 65536"/>
                  <a:gd name="T16" fmla="*/ 0 60000 65536"/>
                  <a:gd name="T17" fmla="*/ 0 60000 65536"/>
                  <a:gd name="T18" fmla="*/ 0 w 222"/>
                  <a:gd name="T19" fmla="*/ 0 h 632"/>
                  <a:gd name="T20" fmla="*/ 222 w 222"/>
                  <a:gd name="T21" fmla="*/ 632 h 632"/>
                </a:gdLst>
                <a:ahLst/>
                <a:cxnLst>
                  <a:cxn ang="T12">
                    <a:pos x="T0" y="T1"/>
                  </a:cxn>
                  <a:cxn ang="T13">
                    <a:pos x="T2" y="T3"/>
                  </a:cxn>
                  <a:cxn ang="T14">
                    <a:pos x="T4" y="T5"/>
                  </a:cxn>
                  <a:cxn ang="T15">
                    <a:pos x="T6" y="T7"/>
                  </a:cxn>
                  <a:cxn ang="T16">
                    <a:pos x="T8" y="T9"/>
                  </a:cxn>
                  <a:cxn ang="T17">
                    <a:pos x="T10" y="T11"/>
                  </a:cxn>
                </a:cxnLst>
                <a:rect l="T18" t="T19" r="T20" b="T21"/>
                <a:pathLst>
                  <a:path w="222" h="632">
                    <a:moveTo>
                      <a:pt x="0" y="631"/>
                    </a:moveTo>
                    <a:lnTo>
                      <a:pt x="16" y="631"/>
                    </a:lnTo>
                    <a:lnTo>
                      <a:pt x="39" y="631"/>
                    </a:lnTo>
                    <a:lnTo>
                      <a:pt x="55" y="631"/>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80" name="Freeform 103"/>
              <p:cNvSpPr>
                <a:spLocks/>
              </p:cNvSpPr>
              <p:nvPr/>
            </p:nvSpPr>
            <p:spPr bwMode="auto">
              <a:xfrm>
                <a:off x="1691" y="3050"/>
                <a:ext cx="234" cy="234"/>
              </a:xfrm>
              <a:custGeom>
                <a:avLst/>
                <a:gdLst>
                  <a:gd name="T0" fmla="*/ 0 w 234"/>
                  <a:gd name="T1" fmla="*/ 233 h 234"/>
                  <a:gd name="T2" fmla="*/ 17 w 234"/>
                  <a:gd name="T3" fmla="*/ 233 h 234"/>
                  <a:gd name="T4" fmla="*/ 42 w 234"/>
                  <a:gd name="T5" fmla="*/ 233 h 234"/>
                  <a:gd name="T6" fmla="*/ 58 w 234"/>
                  <a:gd name="T7" fmla="*/ 233 h 234"/>
                  <a:gd name="T8" fmla="*/ 150 w 234"/>
                  <a:gd name="T9" fmla="*/ 0 h 234"/>
                  <a:gd name="T10" fmla="*/ 233 w 234"/>
                  <a:gd name="T11" fmla="*/ 0 h 234"/>
                  <a:gd name="T12" fmla="*/ 0 60000 65536"/>
                  <a:gd name="T13" fmla="*/ 0 60000 65536"/>
                  <a:gd name="T14" fmla="*/ 0 60000 65536"/>
                  <a:gd name="T15" fmla="*/ 0 60000 65536"/>
                  <a:gd name="T16" fmla="*/ 0 60000 65536"/>
                  <a:gd name="T17" fmla="*/ 0 60000 65536"/>
                  <a:gd name="T18" fmla="*/ 0 w 234"/>
                  <a:gd name="T19" fmla="*/ 0 h 234"/>
                  <a:gd name="T20" fmla="*/ 234 w 234"/>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4" h="234">
                    <a:moveTo>
                      <a:pt x="0" y="233"/>
                    </a:moveTo>
                    <a:lnTo>
                      <a:pt x="17" y="233"/>
                    </a:lnTo>
                    <a:lnTo>
                      <a:pt x="42" y="233"/>
                    </a:lnTo>
                    <a:lnTo>
                      <a:pt x="58" y="233"/>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81" name="Freeform 104"/>
              <p:cNvSpPr>
                <a:spLocks/>
              </p:cNvSpPr>
              <p:nvPr/>
            </p:nvSpPr>
            <p:spPr bwMode="auto">
              <a:xfrm>
                <a:off x="1985" y="3352"/>
                <a:ext cx="218" cy="330"/>
              </a:xfrm>
              <a:custGeom>
                <a:avLst/>
                <a:gdLst>
                  <a:gd name="T0" fmla="*/ 0 w 218"/>
                  <a:gd name="T1" fmla="*/ 0 h 330"/>
                  <a:gd name="T2" fmla="*/ 16 w 218"/>
                  <a:gd name="T3" fmla="*/ 0 h 330"/>
                  <a:gd name="T4" fmla="*/ 39 w 218"/>
                  <a:gd name="T5" fmla="*/ 0 h 330"/>
                  <a:gd name="T6" fmla="*/ 54 w 218"/>
                  <a:gd name="T7" fmla="*/ 0 h 330"/>
                  <a:gd name="T8" fmla="*/ 140 w 218"/>
                  <a:gd name="T9" fmla="*/ 329 h 330"/>
                  <a:gd name="T10" fmla="*/ 217 w 218"/>
                  <a:gd name="T11" fmla="*/ 329 h 330"/>
                  <a:gd name="T12" fmla="*/ 0 60000 65536"/>
                  <a:gd name="T13" fmla="*/ 0 60000 65536"/>
                  <a:gd name="T14" fmla="*/ 0 60000 65536"/>
                  <a:gd name="T15" fmla="*/ 0 60000 65536"/>
                  <a:gd name="T16" fmla="*/ 0 60000 65536"/>
                  <a:gd name="T17" fmla="*/ 0 60000 65536"/>
                  <a:gd name="T18" fmla="*/ 0 w 218"/>
                  <a:gd name="T19" fmla="*/ 0 h 330"/>
                  <a:gd name="T20" fmla="*/ 218 w 218"/>
                  <a:gd name="T21" fmla="*/ 330 h 330"/>
                </a:gdLst>
                <a:ahLst/>
                <a:cxnLst>
                  <a:cxn ang="T12">
                    <a:pos x="T0" y="T1"/>
                  </a:cxn>
                  <a:cxn ang="T13">
                    <a:pos x="T2" y="T3"/>
                  </a:cxn>
                  <a:cxn ang="T14">
                    <a:pos x="T4" y="T5"/>
                  </a:cxn>
                  <a:cxn ang="T15">
                    <a:pos x="T6" y="T7"/>
                  </a:cxn>
                  <a:cxn ang="T16">
                    <a:pos x="T8" y="T9"/>
                  </a:cxn>
                  <a:cxn ang="T17">
                    <a:pos x="T10" y="T11"/>
                  </a:cxn>
                </a:cxnLst>
                <a:rect l="T18" t="T19" r="T20" b="T21"/>
                <a:pathLst>
                  <a:path w="218" h="330">
                    <a:moveTo>
                      <a:pt x="0" y="0"/>
                    </a:moveTo>
                    <a:lnTo>
                      <a:pt x="16" y="0"/>
                    </a:lnTo>
                    <a:lnTo>
                      <a:pt x="39" y="0"/>
                    </a:lnTo>
                    <a:lnTo>
                      <a:pt x="54" y="0"/>
                    </a:lnTo>
                    <a:lnTo>
                      <a:pt x="140" y="329"/>
                    </a:lnTo>
                    <a:lnTo>
                      <a:pt x="217" y="329"/>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82" name="Freeform 105"/>
              <p:cNvSpPr>
                <a:spLocks/>
              </p:cNvSpPr>
              <p:nvPr/>
            </p:nvSpPr>
            <p:spPr bwMode="auto">
              <a:xfrm>
                <a:off x="1985" y="3903"/>
                <a:ext cx="222" cy="79"/>
              </a:xfrm>
              <a:custGeom>
                <a:avLst/>
                <a:gdLst>
                  <a:gd name="T0" fmla="*/ 0 w 222"/>
                  <a:gd name="T1" fmla="*/ 78 h 79"/>
                  <a:gd name="T2" fmla="*/ 16 w 222"/>
                  <a:gd name="T3" fmla="*/ 78 h 79"/>
                  <a:gd name="T4" fmla="*/ 39 w 222"/>
                  <a:gd name="T5" fmla="*/ 78 h 79"/>
                  <a:gd name="T6" fmla="*/ 55 w 222"/>
                  <a:gd name="T7" fmla="*/ 78 h 79"/>
                  <a:gd name="T8" fmla="*/ 142 w 222"/>
                  <a:gd name="T9" fmla="*/ 0 h 79"/>
                  <a:gd name="T10" fmla="*/ 221 w 222"/>
                  <a:gd name="T11" fmla="*/ 0 h 79"/>
                  <a:gd name="T12" fmla="*/ 0 60000 65536"/>
                  <a:gd name="T13" fmla="*/ 0 60000 65536"/>
                  <a:gd name="T14" fmla="*/ 0 60000 65536"/>
                  <a:gd name="T15" fmla="*/ 0 60000 65536"/>
                  <a:gd name="T16" fmla="*/ 0 60000 65536"/>
                  <a:gd name="T17" fmla="*/ 0 60000 65536"/>
                  <a:gd name="T18" fmla="*/ 0 w 222"/>
                  <a:gd name="T19" fmla="*/ 0 h 79"/>
                  <a:gd name="T20" fmla="*/ 222 w 222"/>
                  <a:gd name="T21" fmla="*/ 79 h 79"/>
                </a:gdLst>
                <a:ahLst/>
                <a:cxnLst>
                  <a:cxn ang="T12">
                    <a:pos x="T0" y="T1"/>
                  </a:cxn>
                  <a:cxn ang="T13">
                    <a:pos x="T2" y="T3"/>
                  </a:cxn>
                  <a:cxn ang="T14">
                    <a:pos x="T4" y="T5"/>
                  </a:cxn>
                  <a:cxn ang="T15">
                    <a:pos x="T6" y="T7"/>
                  </a:cxn>
                  <a:cxn ang="T16">
                    <a:pos x="T8" y="T9"/>
                  </a:cxn>
                  <a:cxn ang="T17">
                    <a:pos x="T10" y="T11"/>
                  </a:cxn>
                </a:cxnLst>
                <a:rect l="T18" t="T19" r="T20" b="T21"/>
                <a:pathLst>
                  <a:path w="222" h="79">
                    <a:moveTo>
                      <a:pt x="0" y="78"/>
                    </a:moveTo>
                    <a:lnTo>
                      <a:pt x="16" y="78"/>
                    </a:lnTo>
                    <a:lnTo>
                      <a:pt x="39" y="78"/>
                    </a:lnTo>
                    <a:lnTo>
                      <a:pt x="55" y="78"/>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83" name="Freeform 106"/>
              <p:cNvSpPr>
                <a:spLocks/>
              </p:cNvSpPr>
              <p:nvPr/>
            </p:nvSpPr>
            <p:spPr bwMode="auto">
              <a:xfrm>
                <a:off x="2307" y="3355"/>
                <a:ext cx="224" cy="246"/>
              </a:xfrm>
              <a:custGeom>
                <a:avLst/>
                <a:gdLst>
                  <a:gd name="T0" fmla="*/ 0 w 224"/>
                  <a:gd name="T1" fmla="*/ 0 h 246"/>
                  <a:gd name="T2" fmla="*/ 16 w 224"/>
                  <a:gd name="T3" fmla="*/ 0 h 246"/>
                  <a:gd name="T4" fmla="*/ 40 w 224"/>
                  <a:gd name="T5" fmla="*/ 0 h 246"/>
                  <a:gd name="T6" fmla="*/ 56 w 224"/>
                  <a:gd name="T7" fmla="*/ 0 h 246"/>
                  <a:gd name="T8" fmla="*/ 143 w 224"/>
                  <a:gd name="T9" fmla="*/ 245 h 246"/>
                  <a:gd name="T10" fmla="*/ 223 w 224"/>
                  <a:gd name="T11" fmla="*/ 245 h 246"/>
                  <a:gd name="T12" fmla="*/ 0 60000 65536"/>
                  <a:gd name="T13" fmla="*/ 0 60000 65536"/>
                  <a:gd name="T14" fmla="*/ 0 60000 65536"/>
                  <a:gd name="T15" fmla="*/ 0 60000 65536"/>
                  <a:gd name="T16" fmla="*/ 0 60000 65536"/>
                  <a:gd name="T17" fmla="*/ 0 60000 65536"/>
                  <a:gd name="T18" fmla="*/ 0 w 224"/>
                  <a:gd name="T19" fmla="*/ 0 h 246"/>
                  <a:gd name="T20" fmla="*/ 224 w 22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4" h="246">
                    <a:moveTo>
                      <a:pt x="0" y="0"/>
                    </a:moveTo>
                    <a:lnTo>
                      <a:pt x="16" y="0"/>
                    </a:lnTo>
                    <a:lnTo>
                      <a:pt x="40" y="0"/>
                    </a:lnTo>
                    <a:lnTo>
                      <a:pt x="56" y="0"/>
                    </a:lnTo>
                    <a:lnTo>
                      <a:pt x="143" y="245"/>
                    </a:lnTo>
                    <a:lnTo>
                      <a:pt x="223"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84" name="Freeform 107"/>
              <p:cNvSpPr>
                <a:spLocks/>
              </p:cNvSpPr>
              <p:nvPr/>
            </p:nvSpPr>
            <p:spPr bwMode="auto">
              <a:xfrm>
                <a:off x="2312" y="3358"/>
                <a:ext cx="233" cy="246"/>
              </a:xfrm>
              <a:custGeom>
                <a:avLst/>
                <a:gdLst>
                  <a:gd name="T0" fmla="*/ 0 w 233"/>
                  <a:gd name="T1" fmla="*/ 245 h 246"/>
                  <a:gd name="T2" fmla="*/ 17 w 233"/>
                  <a:gd name="T3" fmla="*/ 245 h 246"/>
                  <a:gd name="T4" fmla="*/ 41 w 233"/>
                  <a:gd name="T5" fmla="*/ 245 h 246"/>
                  <a:gd name="T6" fmla="*/ 58 w 233"/>
                  <a:gd name="T7" fmla="*/ 245 h 246"/>
                  <a:gd name="T8" fmla="*/ 149 w 233"/>
                  <a:gd name="T9" fmla="*/ 0 h 246"/>
                  <a:gd name="T10" fmla="*/ 232 w 233"/>
                  <a:gd name="T11" fmla="*/ 0 h 246"/>
                  <a:gd name="T12" fmla="*/ 0 60000 65536"/>
                  <a:gd name="T13" fmla="*/ 0 60000 65536"/>
                  <a:gd name="T14" fmla="*/ 0 60000 65536"/>
                  <a:gd name="T15" fmla="*/ 0 60000 65536"/>
                  <a:gd name="T16" fmla="*/ 0 60000 65536"/>
                  <a:gd name="T17" fmla="*/ 0 60000 65536"/>
                  <a:gd name="T18" fmla="*/ 0 w 233"/>
                  <a:gd name="T19" fmla="*/ 0 h 246"/>
                  <a:gd name="T20" fmla="*/ 233 w 233"/>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3" h="246">
                    <a:moveTo>
                      <a:pt x="0" y="245"/>
                    </a:moveTo>
                    <a:lnTo>
                      <a:pt x="17" y="245"/>
                    </a:lnTo>
                    <a:lnTo>
                      <a:pt x="41" y="245"/>
                    </a:lnTo>
                    <a:lnTo>
                      <a:pt x="58" y="245"/>
                    </a:lnTo>
                    <a:lnTo>
                      <a:pt x="149" y="0"/>
                    </a:lnTo>
                    <a:lnTo>
                      <a:pt x="232"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grpSp>
            <p:nvGrpSpPr>
              <p:cNvPr id="198885" name="Group 108"/>
              <p:cNvGrpSpPr>
                <a:grpSpLocks/>
              </p:cNvGrpSpPr>
              <p:nvPr/>
            </p:nvGrpSpPr>
            <p:grpSpPr bwMode="auto">
              <a:xfrm>
                <a:off x="2209" y="2927"/>
                <a:ext cx="109" cy="1107"/>
                <a:chOff x="2209" y="2927"/>
                <a:chExt cx="109" cy="1107"/>
              </a:xfrm>
            </p:grpSpPr>
            <p:sp>
              <p:nvSpPr>
                <p:cNvPr id="198907" name="Rectangle 109"/>
                <p:cNvSpPr>
                  <a:spLocks noChangeArrowheads="1"/>
                </p:cNvSpPr>
                <p:nvPr/>
              </p:nvSpPr>
              <p:spPr bwMode="auto">
                <a:xfrm>
                  <a:off x="2209" y="2927"/>
                  <a:ext cx="109"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08" name="Rectangle 110"/>
                <p:cNvSpPr>
                  <a:spLocks noChangeArrowheads="1"/>
                </p:cNvSpPr>
                <p:nvPr/>
              </p:nvSpPr>
              <p:spPr bwMode="auto">
                <a:xfrm>
                  <a:off x="2209" y="3237"/>
                  <a:ext cx="109" cy="180"/>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09" name="Rectangle 111"/>
                <p:cNvSpPr>
                  <a:spLocks noChangeArrowheads="1"/>
                </p:cNvSpPr>
                <p:nvPr/>
              </p:nvSpPr>
              <p:spPr bwMode="auto">
                <a:xfrm>
                  <a:off x="2209" y="3543"/>
                  <a:ext cx="109"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10" name="Rectangle 112"/>
                <p:cNvSpPr>
                  <a:spLocks noChangeArrowheads="1"/>
                </p:cNvSpPr>
                <p:nvPr/>
              </p:nvSpPr>
              <p:spPr bwMode="auto">
                <a:xfrm>
                  <a:off x="2209" y="3852"/>
                  <a:ext cx="109"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nvGrpSpPr>
              <p:cNvPr id="198886" name="Group 113"/>
              <p:cNvGrpSpPr>
                <a:grpSpLocks/>
              </p:cNvGrpSpPr>
              <p:nvPr/>
            </p:nvGrpSpPr>
            <p:grpSpPr bwMode="auto">
              <a:xfrm>
                <a:off x="1588" y="2933"/>
                <a:ext cx="111" cy="1107"/>
                <a:chOff x="1588" y="2933"/>
                <a:chExt cx="111" cy="1107"/>
              </a:xfrm>
            </p:grpSpPr>
            <p:sp>
              <p:nvSpPr>
                <p:cNvPr id="198903" name="Rectangle 114"/>
                <p:cNvSpPr>
                  <a:spLocks noChangeArrowheads="1"/>
                </p:cNvSpPr>
                <p:nvPr/>
              </p:nvSpPr>
              <p:spPr bwMode="auto">
                <a:xfrm>
                  <a:off x="1588" y="2933"/>
                  <a:ext cx="111"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04" name="Rectangle 115"/>
                <p:cNvSpPr>
                  <a:spLocks noChangeArrowheads="1"/>
                </p:cNvSpPr>
                <p:nvPr/>
              </p:nvSpPr>
              <p:spPr bwMode="auto">
                <a:xfrm>
                  <a:off x="1588" y="3242"/>
                  <a:ext cx="111"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05" name="Rectangle 116"/>
                <p:cNvSpPr>
                  <a:spLocks noChangeArrowheads="1"/>
                </p:cNvSpPr>
                <p:nvPr/>
              </p:nvSpPr>
              <p:spPr bwMode="auto">
                <a:xfrm>
                  <a:off x="1588" y="3549"/>
                  <a:ext cx="111"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06" name="Rectangle 117"/>
                <p:cNvSpPr>
                  <a:spLocks noChangeArrowheads="1"/>
                </p:cNvSpPr>
                <p:nvPr/>
              </p:nvSpPr>
              <p:spPr bwMode="auto">
                <a:xfrm>
                  <a:off x="1588" y="3857"/>
                  <a:ext cx="111" cy="183"/>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nvGrpSpPr>
              <p:cNvPr id="198887" name="Group 118"/>
              <p:cNvGrpSpPr>
                <a:grpSpLocks/>
              </p:cNvGrpSpPr>
              <p:nvPr/>
            </p:nvGrpSpPr>
            <p:grpSpPr bwMode="auto">
              <a:xfrm>
                <a:off x="1882" y="2927"/>
                <a:ext cx="112" cy="1107"/>
                <a:chOff x="1882" y="2927"/>
                <a:chExt cx="112" cy="1107"/>
              </a:xfrm>
            </p:grpSpPr>
            <p:sp>
              <p:nvSpPr>
                <p:cNvPr id="198899" name="Rectangle 119"/>
                <p:cNvSpPr>
                  <a:spLocks noChangeArrowheads="1"/>
                </p:cNvSpPr>
                <p:nvPr/>
              </p:nvSpPr>
              <p:spPr bwMode="auto">
                <a:xfrm>
                  <a:off x="1882" y="2927"/>
                  <a:ext cx="112"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00" name="Rectangle 120"/>
                <p:cNvSpPr>
                  <a:spLocks noChangeArrowheads="1"/>
                </p:cNvSpPr>
                <p:nvPr/>
              </p:nvSpPr>
              <p:spPr bwMode="auto">
                <a:xfrm>
                  <a:off x="1882" y="3237"/>
                  <a:ext cx="112" cy="180"/>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01" name="Rectangle 121"/>
                <p:cNvSpPr>
                  <a:spLocks noChangeArrowheads="1"/>
                </p:cNvSpPr>
                <p:nvPr/>
              </p:nvSpPr>
              <p:spPr bwMode="auto">
                <a:xfrm>
                  <a:off x="1882" y="3543"/>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902" name="Rectangle 122"/>
                <p:cNvSpPr>
                  <a:spLocks noChangeArrowheads="1"/>
                </p:cNvSpPr>
                <p:nvPr/>
              </p:nvSpPr>
              <p:spPr bwMode="auto">
                <a:xfrm>
                  <a:off x="1882" y="3852"/>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sp>
            <p:nvSpPr>
              <p:cNvPr id="198888" name="Freeform 123"/>
              <p:cNvSpPr>
                <a:spLocks/>
              </p:cNvSpPr>
              <p:nvPr/>
            </p:nvSpPr>
            <p:spPr bwMode="auto">
              <a:xfrm>
                <a:off x="2315" y="3037"/>
                <a:ext cx="224" cy="247"/>
              </a:xfrm>
              <a:custGeom>
                <a:avLst/>
                <a:gdLst>
                  <a:gd name="T0" fmla="*/ 0 w 224"/>
                  <a:gd name="T1" fmla="*/ 0 h 247"/>
                  <a:gd name="T2" fmla="*/ 16 w 224"/>
                  <a:gd name="T3" fmla="*/ 0 h 247"/>
                  <a:gd name="T4" fmla="*/ 40 w 224"/>
                  <a:gd name="T5" fmla="*/ 0 h 247"/>
                  <a:gd name="T6" fmla="*/ 56 w 224"/>
                  <a:gd name="T7" fmla="*/ 0 h 247"/>
                  <a:gd name="T8" fmla="*/ 143 w 224"/>
                  <a:gd name="T9" fmla="*/ 246 h 247"/>
                  <a:gd name="T10" fmla="*/ 223 w 224"/>
                  <a:gd name="T11" fmla="*/ 246 h 247"/>
                  <a:gd name="T12" fmla="*/ 0 60000 65536"/>
                  <a:gd name="T13" fmla="*/ 0 60000 65536"/>
                  <a:gd name="T14" fmla="*/ 0 60000 65536"/>
                  <a:gd name="T15" fmla="*/ 0 60000 65536"/>
                  <a:gd name="T16" fmla="*/ 0 60000 65536"/>
                  <a:gd name="T17" fmla="*/ 0 60000 65536"/>
                  <a:gd name="T18" fmla="*/ 0 w 224"/>
                  <a:gd name="T19" fmla="*/ 0 h 247"/>
                  <a:gd name="T20" fmla="*/ 224 w 224"/>
                  <a:gd name="T21" fmla="*/ 247 h 247"/>
                </a:gdLst>
                <a:ahLst/>
                <a:cxnLst>
                  <a:cxn ang="T12">
                    <a:pos x="T0" y="T1"/>
                  </a:cxn>
                  <a:cxn ang="T13">
                    <a:pos x="T2" y="T3"/>
                  </a:cxn>
                  <a:cxn ang="T14">
                    <a:pos x="T4" y="T5"/>
                  </a:cxn>
                  <a:cxn ang="T15">
                    <a:pos x="T6" y="T7"/>
                  </a:cxn>
                  <a:cxn ang="T16">
                    <a:pos x="T8" y="T9"/>
                  </a:cxn>
                  <a:cxn ang="T17">
                    <a:pos x="T10" y="T11"/>
                  </a:cxn>
                </a:cxnLst>
                <a:rect l="T18" t="T19" r="T20" b="T21"/>
                <a:pathLst>
                  <a:path w="224" h="247">
                    <a:moveTo>
                      <a:pt x="0" y="0"/>
                    </a:moveTo>
                    <a:lnTo>
                      <a:pt x="16" y="0"/>
                    </a:lnTo>
                    <a:lnTo>
                      <a:pt x="40" y="0"/>
                    </a:lnTo>
                    <a:lnTo>
                      <a:pt x="56" y="0"/>
                    </a:lnTo>
                    <a:lnTo>
                      <a:pt x="143" y="246"/>
                    </a:lnTo>
                    <a:lnTo>
                      <a:pt x="223" y="246"/>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89" name="Line 124"/>
              <p:cNvSpPr>
                <a:spLocks noChangeShapeType="1"/>
              </p:cNvSpPr>
              <p:nvPr/>
            </p:nvSpPr>
            <p:spPr bwMode="auto">
              <a:xfrm>
                <a:off x="2323" y="2982"/>
                <a:ext cx="215"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90" name="Freeform 125"/>
              <p:cNvSpPr>
                <a:spLocks/>
              </p:cNvSpPr>
              <p:nvPr/>
            </p:nvSpPr>
            <p:spPr bwMode="auto">
              <a:xfrm>
                <a:off x="2320" y="3041"/>
                <a:ext cx="234" cy="246"/>
              </a:xfrm>
              <a:custGeom>
                <a:avLst/>
                <a:gdLst>
                  <a:gd name="T0" fmla="*/ 0 w 234"/>
                  <a:gd name="T1" fmla="*/ 245 h 246"/>
                  <a:gd name="T2" fmla="*/ 17 w 234"/>
                  <a:gd name="T3" fmla="*/ 245 h 246"/>
                  <a:gd name="T4" fmla="*/ 42 w 234"/>
                  <a:gd name="T5" fmla="*/ 245 h 246"/>
                  <a:gd name="T6" fmla="*/ 58 w 234"/>
                  <a:gd name="T7" fmla="*/ 245 h 246"/>
                  <a:gd name="T8" fmla="*/ 150 w 234"/>
                  <a:gd name="T9" fmla="*/ 0 h 246"/>
                  <a:gd name="T10" fmla="*/ 233 w 234"/>
                  <a:gd name="T11" fmla="*/ 0 h 246"/>
                  <a:gd name="T12" fmla="*/ 0 60000 65536"/>
                  <a:gd name="T13" fmla="*/ 0 60000 65536"/>
                  <a:gd name="T14" fmla="*/ 0 60000 65536"/>
                  <a:gd name="T15" fmla="*/ 0 60000 65536"/>
                  <a:gd name="T16" fmla="*/ 0 60000 65536"/>
                  <a:gd name="T17" fmla="*/ 0 60000 65536"/>
                  <a:gd name="T18" fmla="*/ 0 w 234"/>
                  <a:gd name="T19" fmla="*/ 0 h 246"/>
                  <a:gd name="T20" fmla="*/ 234 w 23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4" h="246">
                    <a:moveTo>
                      <a:pt x="0" y="245"/>
                    </a:moveTo>
                    <a:lnTo>
                      <a:pt x="17" y="245"/>
                    </a:lnTo>
                    <a:lnTo>
                      <a:pt x="42" y="245"/>
                    </a:lnTo>
                    <a:lnTo>
                      <a:pt x="58" y="245"/>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91" name="Freeform 126"/>
              <p:cNvSpPr>
                <a:spLocks/>
              </p:cNvSpPr>
              <p:nvPr/>
            </p:nvSpPr>
            <p:spPr bwMode="auto">
              <a:xfrm>
                <a:off x="2315" y="3690"/>
                <a:ext cx="224" cy="246"/>
              </a:xfrm>
              <a:custGeom>
                <a:avLst/>
                <a:gdLst>
                  <a:gd name="T0" fmla="*/ 0 w 224"/>
                  <a:gd name="T1" fmla="*/ 0 h 246"/>
                  <a:gd name="T2" fmla="*/ 16 w 224"/>
                  <a:gd name="T3" fmla="*/ 0 h 246"/>
                  <a:gd name="T4" fmla="*/ 40 w 224"/>
                  <a:gd name="T5" fmla="*/ 0 h 246"/>
                  <a:gd name="T6" fmla="*/ 56 w 224"/>
                  <a:gd name="T7" fmla="*/ 0 h 246"/>
                  <a:gd name="T8" fmla="*/ 143 w 224"/>
                  <a:gd name="T9" fmla="*/ 245 h 246"/>
                  <a:gd name="T10" fmla="*/ 223 w 224"/>
                  <a:gd name="T11" fmla="*/ 245 h 246"/>
                  <a:gd name="T12" fmla="*/ 0 60000 65536"/>
                  <a:gd name="T13" fmla="*/ 0 60000 65536"/>
                  <a:gd name="T14" fmla="*/ 0 60000 65536"/>
                  <a:gd name="T15" fmla="*/ 0 60000 65536"/>
                  <a:gd name="T16" fmla="*/ 0 60000 65536"/>
                  <a:gd name="T17" fmla="*/ 0 60000 65536"/>
                  <a:gd name="T18" fmla="*/ 0 w 224"/>
                  <a:gd name="T19" fmla="*/ 0 h 246"/>
                  <a:gd name="T20" fmla="*/ 224 w 22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4" h="246">
                    <a:moveTo>
                      <a:pt x="0" y="0"/>
                    </a:moveTo>
                    <a:lnTo>
                      <a:pt x="16" y="0"/>
                    </a:lnTo>
                    <a:lnTo>
                      <a:pt x="40" y="0"/>
                    </a:lnTo>
                    <a:lnTo>
                      <a:pt x="56" y="0"/>
                    </a:lnTo>
                    <a:lnTo>
                      <a:pt x="143" y="245"/>
                    </a:lnTo>
                    <a:lnTo>
                      <a:pt x="223"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92" name="Line 127"/>
              <p:cNvSpPr>
                <a:spLocks noChangeShapeType="1"/>
              </p:cNvSpPr>
              <p:nvPr/>
            </p:nvSpPr>
            <p:spPr bwMode="auto">
              <a:xfrm>
                <a:off x="2320" y="4004"/>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93" name="Freeform 128"/>
              <p:cNvSpPr>
                <a:spLocks/>
              </p:cNvSpPr>
              <p:nvPr/>
            </p:nvSpPr>
            <p:spPr bwMode="auto">
              <a:xfrm>
                <a:off x="2320" y="3694"/>
                <a:ext cx="234" cy="246"/>
              </a:xfrm>
              <a:custGeom>
                <a:avLst/>
                <a:gdLst>
                  <a:gd name="T0" fmla="*/ 0 w 234"/>
                  <a:gd name="T1" fmla="*/ 245 h 246"/>
                  <a:gd name="T2" fmla="*/ 17 w 234"/>
                  <a:gd name="T3" fmla="*/ 245 h 246"/>
                  <a:gd name="T4" fmla="*/ 42 w 234"/>
                  <a:gd name="T5" fmla="*/ 245 h 246"/>
                  <a:gd name="T6" fmla="*/ 58 w 234"/>
                  <a:gd name="T7" fmla="*/ 245 h 246"/>
                  <a:gd name="T8" fmla="*/ 150 w 234"/>
                  <a:gd name="T9" fmla="*/ 0 h 246"/>
                  <a:gd name="T10" fmla="*/ 233 w 234"/>
                  <a:gd name="T11" fmla="*/ 0 h 246"/>
                  <a:gd name="T12" fmla="*/ 0 60000 65536"/>
                  <a:gd name="T13" fmla="*/ 0 60000 65536"/>
                  <a:gd name="T14" fmla="*/ 0 60000 65536"/>
                  <a:gd name="T15" fmla="*/ 0 60000 65536"/>
                  <a:gd name="T16" fmla="*/ 0 60000 65536"/>
                  <a:gd name="T17" fmla="*/ 0 60000 65536"/>
                  <a:gd name="T18" fmla="*/ 0 w 234"/>
                  <a:gd name="T19" fmla="*/ 0 h 246"/>
                  <a:gd name="T20" fmla="*/ 234 w 23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4" h="246">
                    <a:moveTo>
                      <a:pt x="0" y="245"/>
                    </a:moveTo>
                    <a:lnTo>
                      <a:pt x="17" y="245"/>
                    </a:lnTo>
                    <a:lnTo>
                      <a:pt x="42" y="245"/>
                    </a:lnTo>
                    <a:lnTo>
                      <a:pt x="58" y="245"/>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grpSp>
            <p:nvGrpSpPr>
              <p:cNvPr id="198894" name="Group 129"/>
              <p:cNvGrpSpPr>
                <a:grpSpLocks/>
              </p:cNvGrpSpPr>
              <p:nvPr/>
            </p:nvGrpSpPr>
            <p:grpSpPr bwMode="auto">
              <a:xfrm>
                <a:off x="2526" y="2933"/>
                <a:ext cx="112" cy="1107"/>
                <a:chOff x="2526" y="2933"/>
                <a:chExt cx="112" cy="1107"/>
              </a:xfrm>
            </p:grpSpPr>
            <p:sp>
              <p:nvSpPr>
                <p:cNvPr id="198895" name="Rectangle 130"/>
                <p:cNvSpPr>
                  <a:spLocks noChangeArrowheads="1"/>
                </p:cNvSpPr>
                <p:nvPr/>
              </p:nvSpPr>
              <p:spPr bwMode="auto">
                <a:xfrm>
                  <a:off x="2526" y="2933"/>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96" name="Rectangle 131"/>
                <p:cNvSpPr>
                  <a:spLocks noChangeArrowheads="1"/>
                </p:cNvSpPr>
                <p:nvPr/>
              </p:nvSpPr>
              <p:spPr bwMode="auto">
                <a:xfrm>
                  <a:off x="2526" y="3242"/>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97" name="Rectangle 132"/>
                <p:cNvSpPr>
                  <a:spLocks noChangeArrowheads="1"/>
                </p:cNvSpPr>
                <p:nvPr/>
              </p:nvSpPr>
              <p:spPr bwMode="auto">
                <a:xfrm>
                  <a:off x="2526" y="3549"/>
                  <a:ext cx="112"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98" name="Rectangle 133"/>
                <p:cNvSpPr>
                  <a:spLocks noChangeArrowheads="1"/>
                </p:cNvSpPr>
                <p:nvPr/>
              </p:nvSpPr>
              <p:spPr bwMode="auto">
                <a:xfrm>
                  <a:off x="2526" y="3857"/>
                  <a:ext cx="112" cy="183"/>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grpSp>
      <p:sp>
        <p:nvSpPr>
          <p:cNvPr id="198670" name="Oval 134"/>
          <p:cNvSpPr>
            <a:spLocks noChangeArrowheads="1"/>
          </p:cNvSpPr>
          <p:nvPr/>
        </p:nvSpPr>
        <p:spPr bwMode="auto">
          <a:xfrm>
            <a:off x="1804988" y="32702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71" name="Oval 135"/>
          <p:cNvSpPr>
            <a:spLocks noChangeArrowheads="1"/>
          </p:cNvSpPr>
          <p:nvPr/>
        </p:nvSpPr>
        <p:spPr bwMode="auto">
          <a:xfrm>
            <a:off x="2185988" y="36512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72" name="Oval 136"/>
          <p:cNvSpPr>
            <a:spLocks noChangeArrowheads="1"/>
          </p:cNvSpPr>
          <p:nvPr/>
        </p:nvSpPr>
        <p:spPr bwMode="auto">
          <a:xfrm>
            <a:off x="2595563" y="39227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73" name="Oval 137"/>
          <p:cNvSpPr>
            <a:spLocks noChangeArrowheads="1"/>
          </p:cNvSpPr>
          <p:nvPr/>
        </p:nvSpPr>
        <p:spPr bwMode="auto">
          <a:xfrm>
            <a:off x="2600325" y="40179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74" name="Oval 138"/>
          <p:cNvSpPr>
            <a:spLocks noChangeArrowheads="1"/>
          </p:cNvSpPr>
          <p:nvPr/>
        </p:nvSpPr>
        <p:spPr bwMode="auto">
          <a:xfrm>
            <a:off x="3038475" y="36941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75" name="Oval 139"/>
          <p:cNvSpPr>
            <a:spLocks noChangeArrowheads="1"/>
          </p:cNvSpPr>
          <p:nvPr/>
        </p:nvSpPr>
        <p:spPr bwMode="auto">
          <a:xfrm>
            <a:off x="3024188" y="44037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76" name="Oval 140"/>
          <p:cNvSpPr>
            <a:spLocks noChangeArrowheads="1"/>
          </p:cNvSpPr>
          <p:nvPr/>
        </p:nvSpPr>
        <p:spPr bwMode="auto">
          <a:xfrm>
            <a:off x="2181225" y="43799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grpSp>
        <p:nvGrpSpPr>
          <p:cNvPr id="198677" name="Group 141"/>
          <p:cNvGrpSpPr>
            <a:grpSpLocks/>
          </p:cNvGrpSpPr>
          <p:nvPr/>
        </p:nvGrpSpPr>
        <p:grpSpPr bwMode="auto">
          <a:xfrm>
            <a:off x="1652588" y="4794250"/>
            <a:ext cx="1576387" cy="1289050"/>
            <a:chOff x="1502" y="2927"/>
            <a:chExt cx="1228" cy="1113"/>
          </a:xfrm>
        </p:grpSpPr>
        <p:sp>
          <p:nvSpPr>
            <p:cNvPr id="198789" name="Line 142"/>
            <p:cNvSpPr>
              <a:spLocks noChangeShapeType="1"/>
            </p:cNvSpPr>
            <p:nvPr/>
          </p:nvSpPr>
          <p:spPr bwMode="auto">
            <a:xfrm>
              <a:off x="2639" y="2982"/>
              <a:ext cx="91"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0" name="Line 143"/>
            <p:cNvSpPr>
              <a:spLocks noChangeShapeType="1"/>
            </p:cNvSpPr>
            <p:nvPr/>
          </p:nvSpPr>
          <p:spPr bwMode="auto">
            <a:xfrm>
              <a:off x="2639" y="3056"/>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1" name="Line 144"/>
            <p:cNvSpPr>
              <a:spLocks noChangeShapeType="1"/>
            </p:cNvSpPr>
            <p:nvPr/>
          </p:nvSpPr>
          <p:spPr bwMode="auto">
            <a:xfrm>
              <a:off x="2639" y="3291"/>
              <a:ext cx="91"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2" name="Line 145"/>
            <p:cNvSpPr>
              <a:spLocks noChangeShapeType="1"/>
            </p:cNvSpPr>
            <p:nvPr/>
          </p:nvSpPr>
          <p:spPr bwMode="auto">
            <a:xfrm>
              <a:off x="2639" y="3364"/>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3" name="Line 146"/>
            <p:cNvSpPr>
              <a:spLocks noChangeShapeType="1"/>
            </p:cNvSpPr>
            <p:nvPr/>
          </p:nvSpPr>
          <p:spPr bwMode="auto">
            <a:xfrm>
              <a:off x="2639" y="3600"/>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4" name="Line 147"/>
            <p:cNvSpPr>
              <a:spLocks noChangeShapeType="1"/>
            </p:cNvSpPr>
            <p:nvPr/>
          </p:nvSpPr>
          <p:spPr bwMode="auto">
            <a:xfrm>
              <a:off x="2639" y="3673"/>
              <a:ext cx="91"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5" name="Line 148"/>
            <p:cNvSpPr>
              <a:spLocks noChangeShapeType="1"/>
            </p:cNvSpPr>
            <p:nvPr/>
          </p:nvSpPr>
          <p:spPr bwMode="auto">
            <a:xfrm>
              <a:off x="2639" y="3908"/>
              <a:ext cx="91"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6" name="Line 149"/>
            <p:cNvSpPr>
              <a:spLocks noChangeShapeType="1"/>
            </p:cNvSpPr>
            <p:nvPr/>
          </p:nvSpPr>
          <p:spPr bwMode="auto">
            <a:xfrm>
              <a:off x="2639" y="3981"/>
              <a:ext cx="91"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7" name="Line 150"/>
            <p:cNvSpPr>
              <a:spLocks noChangeShapeType="1"/>
            </p:cNvSpPr>
            <p:nvPr/>
          </p:nvSpPr>
          <p:spPr bwMode="auto">
            <a:xfrm>
              <a:off x="1502" y="2977"/>
              <a:ext cx="93"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8" name="Line 151"/>
            <p:cNvSpPr>
              <a:spLocks noChangeShapeType="1"/>
            </p:cNvSpPr>
            <p:nvPr/>
          </p:nvSpPr>
          <p:spPr bwMode="auto">
            <a:xfrm>
              <a:off x="1502" y="3050"/>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799" name="Line 152"/>
            <p:cNvSpPr>
              <a:spLocks noChangeShapeType="1"/>
            </p:cNvSpPr>
            <p:nvPr/>
          </p:nvSpPr>
          <p:spPr bwMode="auto">
            <a:xfrm>
              <a:off x="1502" y="3286"/>
              <a:ext cx="93" cy="2"/>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00" name="Line 153"/>
            <p:cNvSpPr>
              <a:spLocks noChangeShapeType="1"/>
            </p:cNvSpPr>
            <p:nvPr/>
          </p:nvSpPr>
          <p:spPr bwMode="auto">
            <a:xfrm>
              <a:off x="1502" y="3358"/>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01" name="Line 154"/>
            <p:cNvSpPr>
              <a:spLocks noChangeShapeType="1"/>
            </p:cNvSpPr>
            <p:nvPr/>
          </p:nvSpPr>
          <p:spPr bwMode="auto">
            <a:xfrm>
              <a:off x="1502" y="3593"/>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02" name="Line 155"/>
            <p:cNvSpPr>
              <a:spLocks noChangeShapeType="1"/>
            </p:cNvSpPr>
            <p:nvPr/>
          </p:nvSpPr>
          <p:spPr bwMode="auto">
            <a:xfrm>
              <a:off x="1502" y="3665"/>
              <a:ext cx="93" cy="4"/>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03" name="Line 156"/>
            <p:cNvSpPr>
              <a:spLocks noChangeShapeType="1"/>
            </p:cNvSpPr>
            <p:nvPr/>
          </p:nvSpPr>
          <p:spPr bwMode="auto">
            <a:xfrm>
              <a:off x="1502" y="3903"/>
              <a:ext cx="93" cy="1"/>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04" name="Line 157"/>
            <p:cNvSpPr>
              <a:spLocks noChangeShapeType="1"/>
            </p:cNvSpPr>
            <p:nvPr/>
          </p:nvSpPr>
          <p:spPr bwMode="auto">
            <a:xfrm>
              <a:off x="1502" y="3975"/>
              <a:ext cx="93" cy="3"/>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grpSp>
          <p:nvGrpSpPr>
            <p:cNvPr id="198805" name="Group 158"/>
            <p:cNvGrpSpPr>
              <a:grpSpLocks/>
            </p:cNvGrpSpPr>
            <p:nvPr/>
          </p:nvGrpSpPr>
          <p:grpSpPr bwMode="auto">
            <a:xfrm>
              <a:off x="1588" y="2927"/>
              <a:ext cx="1050" cy="1113"/>
              <a:chOff x="1588" y="2927"/>
              <a:chExt cx="1050" cy="1113"/>
            </a:xfrm>
          </p:grpSpPr>
          <p:sp>
            <p:nvSpPr>
              <p:cNvPr id="198806" name="Freeform 159"/>
              <p:cNvSpPr>
                <a:spLocks/>
              </p:cNvSpPr>
              <p:nvPr/>
            </p:nvSpPr>
            <p:spPr bwMode="auto">
              <a:xfrm>
                <a:off x="1686" y="3034"/>
                <a:ext cx="225" cy="246"/>
              </a:xfrm>
              <a:custGeom>
                <a:avLst/>
                <a:gdLst>
                  <a:gd name="T0" fmla="*/ 0 w 225"/>
                  <a:gd name="T1" fmla="*/ 0 h 246"/>
                  <a:gd name="T2" fmla="*/ 16 w 225"/>
                  <a:gd name="T3" fmla="*/ 0 h 246"/>
                  <a:gd name="T4" fmla="*/ 40 w 225"/>
                  <a:gd name="T5" fmla="*/ 0 h 246"/>
                  <a:gd name="T6" fmla="*/ 56 w 225"/>
                  <a:gd name="T7" fmla="*/ 0 h 246"/>
                  <a:gd name="T8" fmla="*/ 144 w 225"/>
                  <a:gd name="T9" fmla="*/ 245 h 246"/>
                  <a:gd name="T10" fmla="*/ 224 w 225"/>
                  <a:gd name="T11" fmla="*/ 245 h 246"/>
                  <a:gd name="T12" fmla="*/ 0 60000 65536"/>
                  <a:gd name="T13" fmla="*/ 0 60000 65536"/>
                  <a:gd name="T14" fmla="*/ 0 60000 65536"/>
                  <a:gd name="T15" fmla="*/ 0 60000 65536"/>
                  <a:gd name="T16" fmla="*/ 0 60000 65536"/>
                  <a:gd name="T17" fmla="*/ 0 60000 65536"/>
                  <a:gd name="T18" fmla="*/ 0 w 225"/>
                  <a:gd name="T19" fmla="*/ 0 h 246"/>
                  <a:gd name="T20" fmla="*/ 225 w 225"/>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5" h="246">
                    <a:moveTo>
                      <a:pt x="0" y="0"/>
                    </a:moveTo>
                    <a:lnTo>
                      <a:pt x="16" y="0"/>
                    </a:lnTo>
                    <a:lnTo>
                      <a:pt x="40" y="0"/>
                    </a:lnTo>
                    <a:lnTo>
                      <a:pt x="56" y="0"/>
                    </a:lnTo>
                    <a:lnTo>
                      <a:pt x="144" y="245"/>
                    </a:lnTo>
                    <a:lnTo>
                      <a:pt x="224"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07" name="Freeform 160"/>
              <p:cNvSpPr>
                <a:spLocks/>
              </p:cNvSpPr>
              <p:nvPr/>
            </p:nvSpPr>
            <p:spPr bwMode="auto">
              <a:xfrm>
                <a:off x="1981" y="2970"/>
                <a:ext cx="222" cy="81"/>
              </a:xfrm>
              <a:custGeom>
                <a:avLst/>
                <a:gdLst>
                  <a:gd name="T0" fmla="*/ 0 w 222"/>
                  <a:gd name="T1" fmla="*/ 80 h 81"/>
                  <a:gd name="T2" fmla="*/ 16 w 222"/>
                  <a:gd name="T3" fmla="*/ 80 h 81"/>
                  <a:gd name="T4" fmla="*/ 39 w 222"/>
                  <a:gd name="T5" fmla="*/ 80 h 81"/>
                  <a:gd name="T6" fmla="*/ 55 w 222"/>
                  <a:gd name="T7" fmla="*/ 80 h 81"/>
                  <a:gd name="T8" fmla="*/ 142 w 222"/>
                  <a:gd name="T9" fmla="*/ 0 h 81"/>
                  <a:gd name="T10" fmla="*/ 221 w 222"/>
                  <a:gd name="T11" fmla="*/ 0 h 81"/>
                  <a:gd name="T12" fmla="*/ 0 60000 65536"/>
                  <a:gd name="T13" fmla="*/ 0 60000 65536"/>
                  <a:gd name="T14" fmla="*/ 0 60000 65536"/>
                  <a:gd name="T15" fmla="*/ 0 60000 65536"/>
                  <a:gd name="T16" fmla="*/ 0 60000 65536"/>
                  <a:gd name="T17" fmla="*/ 0 60000 65536"/>
                  <a:gd name="T18" fmla="*/ 0 w 222"/>
                  <a:gd name="T19" fmla="*/ 0 h 81"/>
                  <a:gd name="T20" fmla="*/ 222 w 222"/>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222" h="81">
                    <a:moveTo>
                      <a:pt x="0" y="80"/>
                    </a:moveTo>
                    <a:lnTo>
                      <a:pt x="16" y="80"/>
                    </a:lnTo>
                    <a:lnTo>
                      <a:pt x="39" y="80"/>
                    </a:lnTo>
                    <a:lnTo>
                      <a:pt x="55" y="80"/>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08" name="Line 161"/>
              <p:cNvSpPr>
                <a:spLocks noChangeShapeType="1"/>
              </p:cNvSpPr>
              <p:nvPr/>
            </p:nvSpPr>
            <p:spPr bwMode="auto">
              <a:xfrm>
                <a:off x="1695" y="2979"/>
                <a:ext cx="215"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09" name="Line 162"/>
              <p:cNvSpPr>
                <a:spLocks noChangeShapeType="1"/>
              </p:cNvSpPr>
              <p:nvPr/>
            </p:nvSpPr>
            <p:spPr bwMode="auto">
              <a:xfrm>
                <a:off x="1691" y="3348"/>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10" name="Freeform 163"/>
              <p:cNvSpPr>
                <a:spLocks/>
              </p:cNvSpPr>
              <p:nvPr/>
            </p:nvSpPr>
            <p:spPr bwMode="auto">
              <a:xfrm>
                <a:off x="1686" y="3645"/>
                <a:ext cx="225" cy="246"/>
              </a:xfrm>
              <a:custGeom>
                <a:avLst/>
                <a:gdLst>
                  <a:gd name="T0" fmla="*/ 0 w 225"/>
                  <a:gd name="T1" fmla="*/ 0 h 246"/>
                  <a:gd name="T2" fmla="*/ 16 w 225"/>
                  <a:gd name="T3" fmla="*/ 0 h 246"/>
                  <a:gd name="T4" fmla="*/ 40 w 225"/>
                  <a:gd name="T5" fmla="*/ 0 h 246"/>
                  <a:gd name="T6" fmla="*/ 56 w 225"/>
                  <a:gd name="T7" fmla="*/ 0 h 246"/>
                  <a:gd name="T8" fmla="*/ 144 w 225"/>
                  <a:gd name="T9" fmla="*/ 245 h 246"/>
                  <a:gd name="T10" fmla="*/ 224 w 225"/>
                  <a:gd name="T11" fmla="*/ 245 h 246"/>
                  <a:gd name="T12" fmla="*/ 0 60000 65536"/>
                  <a:gd name="T13" fmla="*/ 0 60000 65536"/>
                  <a:gd name="T14" fmla="*/ 0 60000 65536"/>
                  <a:gd name="T15" fmla="*/ 0 60000 65536"/>
                  <a:gd name="T16" fmla="*/ 0 60000 65536"/>
                  <a:gd name="T17" fmla="*/ 0 60000 65536"/>
                  <a:gd name="T18" fmla="*/ 0 w 225"/>
                  <a:gd name="T19" fmla="*/ 0 h 246"/>
                  <a:gd name="T20" fmla="*/ 225 w 225"/>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5" h="246">
                    <a:moveTo>
                      <a:pt x="0" y="0"/>
                    </a:moveTo>
                    <a:lnTo>
                      <a:pt x="16" y="0"/>
                    </a:lnTo>
                    <a:lnTo>
                      <a:pt x="40" y="0"/>
                    </a:lnTo>
                    <a:lnTo>
                      <a:pt x="56" y="0"/>
                    </a:lnTo>
                    <a:lnTo>
                      <a:pt x="144" y="245"/>
                    </a:lnTo>
                    <a:lnTo>
                      <a:pt x="224"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11" name="Freeform 164"/>
              <p:cNvSpPr>
                <a:spLocks/>
              </p:cNvSpPr>
              <p:nvPr/>
            </p:nvSpPr>
            <p:spPr bwMode="auto">
              <a:xfrm>
                <a:off x="1695" y="3654"/>
                <a:ext cx="233" cy="234"/>
              </a:xfrm>
              <a:custGeom>
                <a:avLst/>
                <a:gdLst>
                  <a:gd name="T0" fmla="*/ 0 w 233"/>
                  <a:gd name="T1" fmla="*/ 233 h 234"/>
                  <a:gd name="T2" fmla="*/ 17 w 233"/>
                  <a:gd name="T3" fmla="*/ 233 h 234"/>
                  <a:gd name="T4" fmla="*/ 41 w 233"/>
                  <a:gd name="T5" fmla="*/ 233 h 234"/>
                  <a:gd name="T6" fmla="*/ 58 w 233"/>
                  <a:gd name="T7" fmla="*/ 233 h 234"/>
                  <a:gd name="T8" fmla="*/ 149 w 233"/>
                  <a:gd name="T9" fmla="*/ 0 h 234"/>
                  <a:gd name="T10" fmla="*/ 232 w 233"/>
                  <a:gd name="T11" fmla="*/ 0 h 234"/>
                  <a:gd name="T12" fmla="*/ 0 60000 65536"/>
                  <a:gd name="T13" fmla="*/ 0 60000 65536"/>
                  <a:gd name="T14" fmla="*/ 0 60000 65536"/>
                  <a:gd name="T15" fmla="*/ 0 60000 65536"/>
                  <a:gd name="T16" fmla="*/ 0 60000 65536"/>
                  <a:gd name="T17" fmla="*/ 0 60000 65536"/>
                  <a:gd name="T18" fmla="*/ 0 w 233"/>
                  <a:gd name="T19" fmla="*/ 0 h 234"/>
                  <a:gd name="T20" fmla="*/ 233 w 233"/>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3" h="234">
                    <a:moveTo>
                      <a:pt x="0" y="233"/>
                    </a:moveTo>
                    <a:lnTo>
                      <a:pt x="17" y="233"/>
                    </a:lnTo>
                    <a:lnTo>
                      <a:pt x="41" y="233"/>
                    </a:lnTo>
                    <a:lnTo>
                      <a:pt x="58" y="233"/>
                    </a:lnTo>
                    <a:lnTo>
                      <a:pt x="149" y="0"/>
                    </a:lnTo>
                    <a:lnTo>
                      <a:pt x="232"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12" name="Line 165"/>
              <p:cNvSpPr>
                <a:spLocks noChangeShapeType="1"/>
              </p:cNvSpPr>
              <p:nvPr/>
            </p:nvSpPr>
            <p:spPr bwMode="auto">
              <a:xfrm>
                <a:off x="1686" y="3591"/>
                <a:ext cx="230"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13" name="Line 166"/>
              <p:cNvSpPr>
                <a:spLocks noChangeShapeType="1"/>
              </p:cNvSpPr>
              <p:nvPr/>
            </p:nvSpPr>
            <p:spPr bwMode="auto">
              <a:xfrm>
                <a:off x="1691" y="3959"/>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14" name="Freeform 167"/>
              <p:cNvSpPr>
                <a:spLocks/>
              </p:cNvSpPr>
              <p:nvPr/>
            </p:nvSpPr>
            <p:spPr bwMode="auto">
              <a:xfrm>
                <a:off x="1985" y="2973"/>
                <a:ext cx="227" cy="613"/>
              </a:xfrm>
              <a:custGeom>
                <a:avLst/>
                <a:gdLst>
                  <a:gd name="T0" fmla="*/ 0 w 227"/>
                  <a:gd name="T1" fmla="*/ 0 h 613"/>
                  <a:gd name="T2" fmla="*/ 16 w 227"/>
                  <a:gd name="T3" fmla="*/ 0 h 613"/>
                  <a:gd name="T4" fmla="*/ 40 w 227"/>
                  <a:gd name="T5" fmla="*/ 0 h 613"/>
                  <a:gd name="T6" fmla="*/ 57 w 227"/>
                  <a:gd name="T7" fmla="*/ 0 h 613"/>
                  <a:gd name="T8" fmla="*/ 145 w 227"/>
                  <a:gd name="T9" fmla="*/ 612 h 613"/>
                  <a:gd name="T10" fmla="*/ 226 w 227"/>
                  <a:gd name="T11" fmla="*/ 612 h 613"/>
                  <a:gd name="T12" fmla="*/ 0 60000 65536"/>
                  <a:gd name="T13" fmla="*/ 0 60000 65536"/>
                  <a:gd name="T14" fmla="*/ 0 60000 65536"/>
                  <a:gd name="T15" fmla="*/ 0 60000 65536"/>
                  <a:gd name="T16" fmla="*/ 0 60000 65536"/>
                  <a:gd name="T17" fmla="*/ 0 60000 65536"/>
                  <a:gd name="T18" fmla="*/ 0 w 227"/>
                  <a:gd name="T19" fmla="*/ 0 h 613"/>
                  <a:gd name="T20" fmla="*/ 227 w 227"/>
                  <a:gd name="T21" fmla="*/ 613 h 613"/>
                </a:gdLst>
                <a:ahLst/>
                <a:cxnLst>
                  <a:cxn ang="T12">
                    <a:pos x="T0" y="T1"/>
                  </a:cxn>
                  <a:cxn ang="T13">
                    <a:pos x="T2" y="T3"/>
                  </a:cxn>
                  <a:cxn ang="T14">
                    <a:pos x="T4" y="T5"/>
                  </a:cxn>
                  <a:cxn ang="T15">
                    <a:pos x="T6" y="T7"/>
                  </a:cxn>
                  <a:cxn ang="T16">
                    <a:pos x="T8" y="T9"/>
                  </a:cxn>
                  <a:cxn ang="T17">
                    <a:pos x="T10" y="T11"/>
                  </a:cxn>
                </a:cxnLst>
                <a:rect l="T18" t="T19" r="T20" b="T21"/>
                <a:pathLst>
                  <a:path w="227" h="613">
                    <a:moveTo>
                      <a:pt x="0" y="0"/>
                    </a:moveTo>
                    <a:lnTo>
                      <a:pt x="16" y="0"/>
                    </a:lnTo>
                    <a:lnTo>
                      <a:pt x="40" y="0"/>
                    </a:lnTo>
                    <a:lnTo>
                      <a:pt x="57" y="0"/>
                    </a:lnTo>
                    <a:lnTo>
                      <a:pt x="145" y="612"/>
                    </a:lnTo>
                    <a:lnTo>
                      <a:pt x="226" y="612"/>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15" name="Freeform 168"/>
              <p:cNvSpPr>
                <a:spLocks/>
              </p:cNvSpPr>
              <p:nvPr/>
            </p:nvSpPr>
            <p:spPr bwMode="auto">
              <a:xfrm>
                <a:off x="1981" y="3352"/>
                <a:ext cx="235" cy="234"/>
              </a:xfrm>
              <a:custGeom>
                <a:avLst/>
                <a:gdLst>
                  <a:gd name="T0" fmla="*/ 0 w 235"/>
                  <a:gd name="T1" fmla="*/ 233 h 234"/>
                  <a:gd name="T2" fmla="*/ 17 w 235"/>
                  <a:gd name="T3" fmla="*/ 233 h 234"/>
                  <a:gd name="T4" fmla="*/ 42 w 235"/>
                  <a:gd name="T5" fmla="*/ 233 h 234"/>
                  <a:gd name="T6" fmla="*/ 59 w 235"/>
                  <a:gd name="T7" fmla="*/ 233 h 234"/>
                  <a:gd name="T8" fmla="*/ 150 w 235"/>
                  <a:gd name="T9" fmla="*/ 0 h 234"/>
                  <a:gd name="T10" fmla="*/ 234 w 235"/>
                  <a:gd name="T11" fmla="*/ 0 h 234"/>
                  <a:gd name="T12" fmla="*/ 0 60000 65536"/>
                  <a:gd name="T13" fmla="*/ 0 60000 65536"/>
                  <a:gd name="T14" fmla="*/ 0 60000 65536"/>
                  <a:gd name="T15" fmla="*/ 0 60000 65536"/>
                  <a:gd name="T16" fmla="*/ 0 60000 65536"/>
                  <a:gd name="T17" fmla="*/ 0 60000 65536"/>
                  <a:gd name="T18" fmla="*/ 0 w 235"/>
                  <a:gd name="T19" fmla="*/ 0 h 234"/>
                  <a:gd name="T20" fmla="*/ 235 w 235"/>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5" h="234">
                    <a:moveTo>
                      <a:pt x="0" y="233"/>
                    </a:moveTo>
                    <a:lnTo>
                      <a:pt x="17" y="233"/>
                    </a:lnTo>
                    <a:lnTo>
                      <a:pt x="42" y="233"/>
                    </a:lnTo>
                    <a:lnTo>
                      <a:pt x="59" y="233"/>
                    </a:lnTo>
                    <a:lnTo>
                      <a:pt x="150" y="0"/>
                    </a:lnTo>
                    <a:lnTo>
                      <a:pt x="234"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16" name="Freeform 169"/>
              <p:cNvSpPr>
                <a:spLocks/>
              </p:cNvSpPr>
              <p:nvPr/>
            </p:nvSpPr>
            <p:spPr bwMode="auto">
              <a:xfrm>
                <a:off x="1981" y="3050"/>
                <a:ext cx="235" cy="234"/>
              </a:xfrm>
              <a:custGeom>
                <a:avLst/>
                <a:gdLst>
                  <a:gd name="T0" fmla="*/ 0 w 235"/>
                  <a:gd name="T1" fmla="*/ 233 h 234"/>
                  <a:gd name="T2" fmla="*/ 17 w 235"/>
                  <a:gd name="T3" fmla="*/ 233 h 234"/>
                  <a:gd name="T4" fmla="*/ 42 w 235"/>
                  <a:gd name="T5" fmla="*/ 233 h 234"/>
                  <a:gd name="T6" fmla="*/ 59 w 235"/>
                  <a:gd name="T7" fmla="*/ 233 h 234"/>
                  <a:gd name="T8" fmla="*/ 150 w 235"/>
                  <a:gd name="T9" fmla="*/ 0 h 234"/>
                  <a:gd name="T10" fmla="*/ 234 w 235"/>
                  <a:gd name="T11" fmla="*/ 0 h 234"/>
                  <a:gd name="T12" fmla="*/ 0 60000 65536"/>
                  <a:gd name="T13" fmla="*/ 0 60000 65536"/>
                  <a:gd name="T14" fmla="*/ 0 60000 65536"/>
                  <a:gd name="T15" fmla="*/ 0 60000 65536"/>
                  <a:gd name="T16" fmla="*/ 0 60000 65536"/>
                  <a:gd name="T17" fmla="*/ 0 60000 65536"/>
                  <a:gd name="T18" fmla="*/ 0 w 235"/>
                  <a:gd name="T19" fmla="*/ 0 h 234"/>
                  <a:gd name="T20" fmla="*/ 235 w 235"/>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5" h="234">
                    <a:moveTo>
                      <a:pt x="0" y="233"/>
                    </a:moveTo>
                    <a:lnTo>
                      <a:pt x="17" y="233"/>
                    </a:lnTo>
                    <a:lnTo>
                      <a:pt x="42" y="233"/>
                    </a:lnTo>
                    <a:lnTo>
                      <a:pt x="59" y="233"/>
                    </a:lnTo>
                    <a:lnTo>
                      <a:pt x="150" y="0"/>
                    </a:lnTo>
                    <a:lnTo>
                      <a:pt x="234"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17" name="Freeform 170"/>
              <p:cNvSpPr>
                <a:spLocks/>
              </p:cNvSpPr>
              <p:nvPr/>
            </p:nvSpPr>
            <p:spPr bwMode="auto">
              <a:xfrm>
                <a:off x="1988" y="3660"/>
                <a:ext cx="219" cy="331"/>
              </a:xfrm>
              <a:custGeom>
                <a:avLst/>
                <a:gdLst>
                  <a:gd name="T0" fmla="*/ 0 w 219"/>
                  <a:gd name="T1" fmla="*/ 0 h 331"/>
                  <a:gd name="T2" fmla="*/ 16 w 219"/>
                  <a:gd name="T3" fmla="*/ 0 h 331"/>
                  <a:gd name="T4" fmla="*/ 39 w 219"/>
                  <a:gd name="T5" fmla="*/ 0 h 331"/>
                  <a:gd name="T6" fmla="*/ 55 w 219"/>
                  <a:gd name="T7" fmla="*/ 0 h 331"/>
                  <a:gd name="T8" fmla="*/ 140 w 219"/>
                  <a:gd name="T9" fmla="*/ 330 h 331"/>
                  <a:gd name="T10" fmla="*/ 218 w 219"/>
                  <a:gd name="T11" fmla="*/ 330 h 331"/>
                  <a:gd name="T12" fmla="*/ 0 60000 65536"/>
                  <a:gd name="T13" fmla="*/ 0 60000 65536"/>
                  <a:gd name="T14" fmla="*/ 0 60000 65536"/>
                  <a:gd name="T15" fmla="*/ 0 60000 65536"/>
                  <a:gd name="T16" fmla="*/ 0 60000 65536"/>
                  <a:gd name="T17" fmla="*/ 0 60000 65536"/>
                  <a:gd name="T18" fmla="*/ 0 w 219"/>
                  <a:gd name="T19" fmla="*/ 0 h 331"/>
                  <a:gd name="T20" fmla="*/ 219 w 219"/>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19" h="331">
                    <a:moveTo>
                      <a:pt x="0" y="0"/>
                    </a:moveTo>
                    <a:lnTo>
                      <a:pt x="16" y="0"/>
                    </a:lnTo>
                    <a:lnTo>
                      <a:pt x="39" y="0"/>
                    </a:lnTo>
                    <a:lnTo>
                      <a:pt x="55" y="0"/>
                    </a:lnTo>
                    <a:lnTo>
                      <a:pt x="140" y="330"/>
                    </a:lnTo>
                    <a:lnTo>
                      <a:pt x="218" y="33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18" name="Freeform 171"/>
              <p:cNvSpPr>
                <a:spLocks/>
              </p:cNvSpPr>
              <p:nvPr/>
            </p:nvSpPr>
            <p:spPr bwMode="auto">
              <a:xfrm>
                <a:off x="1981" y="3273"/>
                <a:ext cx="222" cy="632"/>
              </a:xfrm>
              <a:custGeom>
                <a:avLst/>
                <a:gdLst>
                  <a:gd name="T0" fmla="*/ 0 w 222"/>
                  <a:gd name="T1" fmla="*/ 631 h 632"/>
                  <a:gd name="T2" fmla="*/ 16 w 222"/>
                  <a:gd name="T3" fmla="*/ 631 h 632"/>
                  <a:gd name="T4" fmla="*/ 39 w 222"/>
                  <a:gd name="T5" fmla="*/ 631 h 632"/>
                  <a:gd name="T6" fmla="*/ 55 w 222"/>
                  <a:gd name="T7" fmla="*/ 631 h 632"/>
                  <a:gd name="T8" fmla="*/ 142 w 222"/>
                  <a:gd name="T9" fmla="*/ 0 h 632"/>
                  <a:gd name="T10" fmla="*/ 221 w 222"/>
                  <a:gd name="T11" fmla="*/ 0 h 632"/>
                  <a:gd name="T12" fmla="*/ 0 60000 65536"/>
                  <a:gd name="T13" fmla="*/ 0 60000 65536"/>
                  <a:gd name="T14" fmla="*/ 0 60000 65536"/>
                  <a:gd name="T15" fmla="*/ 0 60000 65536"/>
                  <a:gd name="T16" fmla="*/ 0 60000 65536"/>
                  <a:gd name="T17" fmla="*/ 0 60000 65536"/>
                  <a:gd name="T18" fmla="*/ 0 w 222"/>
                  <a:gd name="T19" fmla="*/ 0 h 632"/>
                  <a:gd name="T20" fmla="*/ 222 w 222"/>
                  <a:gd name="T21" fmla="*/ 632 h 632"/>
                </a:gdLst>
                <a:ahLst/>
                <a:cxnLst>
                  <a:cxn ang="T12">
                    <a:pos x="T0" y="T1"/>
                  </a:cxn>
                  <a:cxn ang="T13">
                    <a:pos x="T2" y="T3"/>
                  </a:cxn>
                  <a:cxn ang="T14">
                    <a:pos x="T4" y="T5"/>
                  </a:cxn>
                  <a:cxn ang="T15">
                    <a:pos x="T6" y="T7"/>
                  </a:cxn>
                  <a:cxn ang="T16">
                    <a:pos x="T8" y="T9"/>
                  </a:cxn>
                  <a:cxn ang="T17">
                    <a:pos x="T10" y="T11"/>
                  </a:cxn>
                </a:cxnLst>
                <a:rect l="T18" t="T19" r="T20" b="T21"/>
                <a:pathLst>
                  <a:path w="222" h="632">
                    <a:moveTo>
                      <a:pt x="0" y="631"/>
                    </a:moveTo>
                    <a:lnTo>
                      <a:pt x="16" y="631"/>
                    </a:lnTo>
                    <a:lnTo>
                      <a:pt x="39" y="631"/>
                    </a:lnTo>
                    <a:lnTo>
                      <a:pt x="55" y="631"/>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19" name="Freeform 172"/>
              <p:cNvSpPr>
                <a:spLocks/>
              </p:cNvSpPr>
              <p:nvPr/>
            </p:nvSpPr>
            <p:spPr bwMode="auto">
              <a:xfrm>
                <a:off x="1691" y="3050"/>
                <a:ext cx="234" cy="234"/>
              </a:xfrm>
              <a:custGeom>
                <a:avLst/>
                <a:gdLst>
                  <a:gd name="T0" fmla="*/ 0 w 234"/>
                  <a:gd name="T1" fmla="*/ 233 h 234"/>
                  <a:gd name="T2" fmla="*/ 17 w 234"/>
                  <a:gd name="T3" fmla="*/ 233 h 234"/>
                  <a:gd name="T4" fmla="*/ 42 w 234"/>
                  <a:gd name="T5" fmla="*/ 233 h 234"/>
                  <a:gd name="T6" fmla="*/ 58 w 234"/>
                  <a:gd name="T7" fmla="*/ 233 h 234"/>
                  <a:gd name="T8" fmla="*/ 150 w 234"/>
                  <a:gd name="T9" fmla="*/ 0 h 234"/>
                  <a:gd name="T10" fmla="*/ 233 w 234"/>
                  <a:gd name="T11" fmla="*/ 0 h 234"/>
                  <a:gd name="T12" fmla="*/ 0 60000 65536"/>
                  <a:gd name="T13" fmla="*/ 0 60000 65536"/>
                  <a:gd name="T14" fmla="*/ 0 60000 65536"/>
                  <a:gd name="T15" fmla="*/ 0 60000 65536"/>
                  <a:gd name="T16" fmla="*/ 0 60000 65536"/>
                  <a:gd name="T17" fmla="*/ 0 60000 65536"/>
                  <a:gd name="T18" fmla="*/ 0 w 234"/>
                  <a:gd name="T19" fmla="*/ 0 h 234"/>
                  <a:gd name="T20" fmla="*/ 234 w 234"/>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34" h="234">
                    <a:moveTo>
                      <a:pt x="0" y="233"/>
                    </a:moveTo>
                    <a:lnTo>
                      <a:pt x="17" y="233"/>
                    </a:lnTo>
                    <a:lnTo>
                      <a:pt x="42" y="233"/>
                    </a:lnTo>
                    <a:lnTo>
                      <a:pt x="58" y="233"/>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20" name="Freeform 173"/>
              <p:cNvSpPr>
                <a:spLocks/>
              </p:cNvSpPr>
              <p:nvPr/>
            </p:nvSpPr>
            <p:spPr bwMode="auto">
              <a:xfrm>
                <a:off x="1985" y="3352"/>
                <a:ext cx="218" cy="330"/>
              </a:xfrm>
              <a:custGeom>
                <a:avLst/>
                <a:gdLst>
                  <a:gd name="T0" fmla="*/ 0 w 218"/>
                  <a:gd name="T1" fmla="*/ 0 h 330"/>
                  <a:gd name="T2" fmla="*/ 16 w 218"/>
                  <a:gd name="T3" fmla="*/ 0 h 330"/>
                  <a:gd name="T4" fmla="*/ 39 w 218"/>
                  <a:gd name="T5" fmla="*/ 0 h 330"/>
                  <a:gd name="T6" fmla="*/ 54 w 218"/>
                  <a:gd name="T7" fmla="*/ 0 h 330"/>
                  <a:gd name="T8" fmla="*/ 140 w 218"/>
                  <a:gd name="T9" fmla="*/ 329 h 330"/>
                  <a:gd name="T10" fmla="*/ 217 w 218"/>
                  <a:gd name="T11" fmla="*/ 329 h 330"/>
                  <a:gd name="T12" fmla="*/ 0 60000 65536"/>
                  <a:gd name="T13" fmla="*/ 0 60000 65536"/>
                  <a:gd name="T14" fmla="*/ 0 60000 65536"/>
                  <a:gd name="T15" fmla="*/ 0 60000 65536"/>
                  <a:gd name="T16" fmla="*/ 0 60000 65536"/>
                  <a:gd name="T17" fmla="*/ 0 60000 65536"/>
                  <a:gd name="T18" fmla="*/ 0 w 218"/>
                  <a:gd name="T19" fmla="*/ 0 h 330"/>
                  <a:gd name="T20" fmla="*/ 218 w 218"/>
                  <a:gd name="T21" fmla="*/ 330 h 330"/>
                </a:gdLst>
                <a:ahLst/>
                <a:cxnLst>
                  <a:cxn ang="T12">
                    <a:pos x="T0" y="T1"/>
                  </a:cxn>
                  <a:cxn ang="T13">
                    <a:pos x="T2" y="T3"/>
                  </a:cxn>
                  <a:cxn ang="T14">
                    <a:pos x="T4" y="T5"/>
                  </a:cxn>
                  <a:cxn ang="T15">
                    <a:pos x="T6" y="T7"/>
                  </a:cxn>
                  <a:cxn ang="T16">
                    <a:pos x="T8" y="T9"/>
                  </a:cxn>
                  <a:cxn ang="T17">
                    <a:pos x="T10" y="T11"/>
                  </a:cxn>
                </a:cxnLst>
                <a:rect l="T18" t="T19" r="T20" b="T21"/>
                <a:pathLst>
                  <a:path w="218" h="330">
                    <a:moveTo>
                      <a:pt x="0" y="0"/>
                    </a:moveTo>
                    <a:lnTo>
                      <a:pt x="16" y="0"/>
                    </a:lnTo>
                    <a:lnTo>
                      <a:pt x="39" y="0"/>
                    </a:lnTo>
                    <a:lnTo>
                      <a:pt x="54" y="0"/>
                    </a:lnTo>
                    <a:lnTo>
                      <a:pt x="140" y="329"/>
                    </a:lnTo>
                    <a:lnTo>
                      <a:pt x="217" y="329"/>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21" name="Freeform 174"/>
              <p:cNvSpPr>
                <a:spLocks/>
              </p:cNvSpPr>
              <p:nvPr/>
            </p:nvSpPr>
            <p:spPr bwMode="auto">
              <a:xfrm>
                <a:off x="1985" y="3903"/>
                <a:ext cx="222" cy="79"/>
              </a:xfrm>
              <a:custGeom>
                <a:avLst/>
                <a:gdLst>
                  <a:gd name="T0" fmla="*/ 0 w 222"/>
                  <a:gd name="T1" fmla="*/ 78 h 79"/>
                  <a:gd name="T2" fmla="*/ 16 w 222"/>
                  <a:gd name="T3" fmla="*/ 78 h 79"/>
                  <a:gd name="T4" fmla="*/ 39 w 222"/>
                  <a:gd name="T5" fmla="*/ 78 h 79"/>
                  <a:gd name="T6" fmla="*/ 55 w 222"/>
                  <a:gd name="T7" fmla="*/ 78 h 79"/>
                  <a:gd name="T8" fmla="*/ 142 w 222"/>
                  <a:gd name="T9" fmla="*/ 0 h 79"/>
                  <a:gd name="T10" fmla="*/ 221 w 222"/>
                  <a:gd name="T11" fmla="*/ 0 h 79"/>
                  <a:gd name="T12" fmla="*/ 0 60000 65536"/>
                  <a:gd name="T13" fmla="*/ 0 60000 65536"/>
                  <a:gd name="T14" fmla="*/ 0 60000 65536"/>
                  <a:gd name="T15" fmla="*/ 0 60000 65536"/>
                  <a:gd name="T16" fmla="*/ 0 60000 65536"/>
                  <a:gd name="T17" fmla="*/ 0 60000 65536"/>
                  <a:gd name="T18" fmla="*/ 0 w 222"/>
                  <a:gd name="T19" fmla="*/ 0 h 79"/>
                  <a:gd name="T20" fmla="*/ 222 w 222"/>
                  <a:gd name="T21" fmla="*/ 79 h 79"/>
                </a:gdLst>
                <a:ahLst/>
                <a:cxnLst>
                  <a:cxn ang="T12">
                    <a:pos x="T0" y="T1"/>
                  </a:cxn>
                  <a:cxn ang="T13">
                    <a:pos x="T2" y="T3"/>
                  </a:cxn>
                  <a:cxn ang="T14">
                    <a:pos x="T4" y="T5"/>
                  </a:cxn>
                  <a:cxn ang="T15">
                    <a:pos x="T6" y="T7"/>
                  </a:cxn>
                  <a:cxn ang="T16">
                    <a:pos x="T8" y="T9"/>
                  </a:cxn>
                  <a:cxn ang="T17">
                    <a:pos x="T10" y="T11"/>
                  </a:cxn>
                </a:cxnLst>
                <a:rect l="T18" t="T19" r="T20" b="T21"/>
                <a:pathLst>
                  <a:path w="222" h="79">
                    <a:moveTo>
                      <a:pt x="0" y="78"/>
                    </a:moveTo>
                    <a:lnTo>
                      <a:pt x="16" y="78"/>
                    </a:lnTo>
                    <a:lnTo>
                      <a:pt x="39" y="78"/>
                    </a:lnTo>
                    <a:lnTo>
                      <a:pt x="55" y="78"/>
                    </a:lnTo>
                    <a:lnTo>
                      <a:pt x="142" y="0"/>
                    </a:lnTo>
                    <a:lnTo>
                      <a:pt x="221"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22" name="Freeform 175"/>
              <p:cNvSpPr>
                <a:spLocks/>
              </p:cNvSpPr>
              <p:nvPr/>
            </p:nvSpPr>
            <p:spPr bwMode="auto">
              <a:xfrm>
                <a:off x="2307" y="3355"/>
                <a:ext cx="224" cy="246"/>
              </a:xfrm>
              <a:custGeom>
                <a:avLst/>
                <a:gdLst>
                  <a:gd name="T0" fmla="*/ 0 w 224"/>
                  <a:gd name="T1" fmla="*/ 0 h 246"/>
                  <a:gd name="T2" fmla="*/ 16 w 224"/>
                  <a:gd name="T3" fmla="*/ 0 h 246"/>
                  <a:gd name="T4" fmla="*/ 40 w 224"/>
                  <a:gd name="T5" fmla="*/ 0 h 246"/>
                  <a:gd name="T6" fmla="*/ 56 w 224"/>
                  <a:gd name="T7" fmla="*/ 0 h 246"/>
                  <a:gd name="T8" fmla="*/ 143 w 224"/>
                  <a:gd name="T9" fmla="*/ 245 h 246"/>
                  <a:gd name="T10" fmla="*/ 223 w 224"/>
                  <a:gd name="T11" fmla="*/ 245 h 246"/>
                  <a:gd name="T12" fmla="*/ 0 60000 65536"/>
                  <a:gd name="T13" fmla="*/ 0 60000 65536"/>
                  <a:gd name="T14" fmla="*/ 0 60000 65536"/>
                  <a:gd name="T15" fmla="*/ 0 60000 65536"/>
                  <a:gd name="T16" fmla="*/ 0 60000 65536"/>
                  <a:gd name="T17" fmla="*/ 0 60000 65536"/>
                  <a:gd name="T18" fmla="*/ 0 w 224"/>
                  <a:gd name="T19" fmla="*/ 0 h 246"/>
                  <a:gd name="T20" fmla="*/ 224 w 22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4" h="246">
                    <a:moveTo>
                      <a:pt x="0" y="0"/>
                    </a:moveTo>
                    <a:lnTo>
                      <a:pt x="16" y="0"/>
                    </a:lnTo>
                    <a:lnTo>
                      <a:pt x="40" y="0"/>
                    </a:lnTo>
                    <a:lnTo>
                      <a:pt x="56" y="0"/>
                    </a:lnTo>
                    <a:lnTo>
                      <a:pt x="143" y="245"/>
                    </a:lnTo>
                    <a:lnTo>
                      <a:pt x="223"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23" name="Freeform 176"/>
              <p:cNvSpPr>
                <a:spLocks/>
              </p:cNvSpPr>
              <p:nvPr/>
            </p:nvSpPr>
            <p:spPr bwMode="auto">
              <a:xfrm>
                <a:off x="2312" y="3358"/>
                <a:ext cx="233" cy="246"/>
              </a:xfrm>
              <a:custGeom>
                <a:avLst/>
                <a:gdLst>
                  <a:gd name="T0" fmla="*/ 0 w 233"/>
                  <a:gd name="T1" fmla="*/ 245 h 246"/>
                  <a:gd name="T2" fmla="*/ 17 w 233"/>
                  <a:gd name="T3" fmla="*/ 245 h 246"/>
                  <a:gd name="T4" fmla="*/ 41 w 233"/>
                  <a:gd name="T5" fmla="*/ 245 h 246"/>
                  <a:gd name="T6" fmla="*/ 58 w 233"/>
                  <a:gd name="T7" fmla="*/ 245 h 246"/>
                  <a:gd name="T8" fmla="*/ 149 w 233"/>
                  <a:gd name="T9" fmla="*/ 0 h 246"/>
                  <a:gd name="T10" fmla="*/ 232 w 233"/>
                  <a:gd name="T11" fmla="*/ 0 h 246"/>
                  <a:gd name="T12" fmla="*/ 0 60000 65536"/>
                  <a:gd name="T13" fmla="*/ 0 60000 65536"/>
                  <a:gd name="T14" fmla="*/ 0 60000 65536"/>
                  <a:gd name="T15" fmla="*/ 0 60000 65536"/>
                  <a:gd name="T16" fmla="*/ 0 60000 65536"/>
                  <a:gd name="T17" fmla="*/ 0 60000 65536"/>
                  <a:gd name="T18" fmla="*/ 0 w 233"/>
                  <a:gd name="T19" fmla="*/ 0 h 246"/>
                  <a:gd name="T20" fmla="*/ 233 w 233"/>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3" h="246">
                    <a:moveTo>
                      <a:pt x="0" y="245"/>
                    </a:moveTo>
                    <a:lnTo>
                      <a:pt x="17" y="245"/>
                    </a:lnTo>
                    <a:lnTo>
                      <a:pt x="41" y="245"/>
                    </a:lnTo>
                    <a:lnTo>
                      <a:pt x="58" y="245"/>
                    </a:lnTo>
                    <a:lnTo>
                      <a:pt x="149" y="0"/>
                    </a:lnTo>
                    <a:lnTo>
                      <a:pt x="232"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grpSp>
            <p:nvGrpSpPr>
              <p:cNvPr id="198824" name="Group 177"/>
              <p:cNvGrpSpPr>
                <a:grpSpLocks/>
              </p:cNvGrpSpPr>
              <p:nvPr/>
            </p:nvGrpSpPr>
            <p:grpSpPr bwMode="auto">
              <a:xfrm>
                <a:off x="2209" y="2927"/>
                <a:ext cx="109" cy="1107"/>
                <a:chOff x="2209" y="2927"/>
                <a:chExt cx="109" cy="1107"/>
              </a:xfrm>
            </p:grpSpPr>
            <p:sp>
              <p:nvSpPr>
                <p:cNvPr id="198846" name="Rectangle 178"/>
                <p:cNvSpPr>
                  <a:spLocks noChangeArrowheads="1"/>
                </p:cNvSpPr>
                <p:nvPr/>
              </p:nvSpPr>
              <p:spPr bwMode="auto">
                <a:xfrm>
                  <a:off x="2209" y="2927"/>
                  <a:ext cx="109"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47" name="Rectangle 179"/>
                <p:cNvSpPr>
                  <a:spLocks noChangeArrowheads="1"/>
                </p:cNvSpPr>
                <p:nvPr/>
              </p:nvSpPr>
              <p:spPr bwMode="auto">
                <a:xfrm>
                  <a:off x="2209" y="3237"/>
                  <a:ext cx="109" cy="180"/>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48" name="Rectangle 180"/>
                <p:cNvSpPr>
                  <a:spLocks noChangeArrowheads="1"/>
                </p:cNvSpPr>
                <p:nvPr/>
              </p:nvSpPr>
              <p:spPr bwMode="auto">
                <a:xfrm>
                  <a:off x="2209" y="3543"/>
                  <a:ext cx="109"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49" name="Rectangle 181"/>
                <p:cNvSpPr>
                  <a:spLocks noChangeArrowheads="1"/>
                </p:cNvSpPr>
                <p:nvPr/>
              </p:nvSpPr>
              <p:spPr bwMode="auto">
                <a:xfrm>
                  <a:off x="2209" y="3852"/>
                  <a:ext cx="109"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nvGrpSpPr>
              <p:cNvPr id="198825" name="Group 182"/>
              <p:cNvGrpSpPr>
                <a:grpSpLocks/>
              </p:cNvGrpSpPr>
              <p:nvPr/>
            </p:nvGrpSpPr>
            <p:grpSpPr bwMode="auto">
              <a:xfrm>
                <a:off x="1588" y="2933"/>
                <a:ext cx="111" cy="1107"/>
                <a:chOff x="1588" y="2933"/>
                <a:chExt cx="111" cy="1107"/>
              </a:xfrm>
            </p:grpSpPr>
            <p:sp>
              <p:nvSpPr>
                <p:cNvPr id="198842" name="Rectangle 183"/>
                <p:cNvSpPr>
                  <a:spLocks noChangeArrowheads="1"/>
                </p:cNvSpPr>
                <p:nvPr/>
              </p:nvSpPr>
              <p:spPr bwMode="auto">
                <a:xfrm>
                  <a:off x="1588" y="2933"/>
                  <a:ext cx="111"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43" name="Rectangle 184"/>
                <p:cNvSpPr>
                  <a:spLocks noChangeArrowheads="1"/>
                </p:cNvSpPr>
                <p:nvPr/>
              </p:nvSpPr>
              <p:spPr bwMode="auto">
                <a:xfrm>
                  <a:off x="1588" y="3242"/>
                  <a:ext cx="111"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44" name="Rectangle 185"/>
                <p:cNvSpPr>
                  <a:spLocks noChangeArrowheads="1"/>
                </p:cNvSpPr>
                <p:nvPr/>
              </p:nvSpPr>
              <p:spPr bwMode="auto">
                <a:xfrm>
                  <a:off x="1588" y="3549"/>
                  <a:ext cx="111"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45" name="Rectangle 186"/>
                <p:cNvSpPr>
                  <a:spLocks noChangeArrowheads="1"/>
                </p:cNvSpPr>
                <p:nvPr/>
              </p:nvSpPr>
              <p:spPr bwMode="auto">
                <a:xfrm>
                  <a:off x="1588" y="3857"/>
                  <a:ext cx="111" cy="183"/>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nvGrpSpPr>
              <p:cNvPr id="198826" name="Group 187"/>
              <p:cNvGrpSpPr>
                <a:grpSpLocks/>
              </p:cNvGrpSpPr>
              <p:nvPr/>
            </p:nvGrpSpPr>
            <p:grpSpPr bwMode="auto">
              <a:xfrm>
                <a:off x="1882" y="2927"/>
                <a:ext cx="112" cy="1107"/>
                <a:chOff x="1882" y="2927"/>
                <a:chExt cx="112" cy="1107"/>
              </a:xfrm>
            </p:grpSpPr>
            <p:sp>
              <p:nvSpPr>
                <p:cNvPr id="198838" name="Rectangle 188"/>
                <p:cNvSpPr>
                  <a:spLocks noChangeArrowheads="1"/>
                </p:cNvSpPr>
                <p:nvPr/>
              </p:nvSpPr>
              <p:spPr bwMode="auto">
                <a:xfrm>
                  <a:off x="1882" y="2927"/>
                  <a:ext cx="112"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39" name="Rectangle 189"/>
                <p:cNvSpPr>
                  <a:spLocks noChangeArrowheads="1"/>
                </p:cNvSpPr>
                <p:nvPr/>
              </p:nvSpPr>
              <p:spPr bwMode="auto">
                <a:xfrm>
                  <a:off x="1882" y="3237"/>
                  <a:ext cx="112" cy="180"/>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40" name="Rectangle 190"/>
                <p:cNvSpPr>
                  <a:spLocks noChangeArrowheads="1"/>
                </p:cNvSpPr>
                <p:nvPr/>
              </p:nvSpPr>
              <p:spPr bwMode="auto">
                <a:xfrm>
                  <a:off x="1882" y="3543"/>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41" name="Rectangle 191"/>
                <p:cNvSpPr>
                  <a:spLocks noChangeArrowheads="1"/>
                </p:cNvSpPr>
                <p:nvPr/>
              </p:nvSpPr>
              <p:spPr bwMode="auto">
                <a:xfrm>
                  <a:off x="1882" y="3852"/>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sp>
            <p:nvSpPr>
              <p:cNvPr id="198827" name="Freeform 192"/>
              <p:cNvSpPr>
                <a:spLocks/>
              </p:cNvSpPr>
              <p:nvPr/>
            </p:nvSpPr>
            <p:spPr bwMode="auto">
              <a:xfrm>
                <a:off x="2315" y="3037"/>
                <a:ext cx="224" cy="247"/>
              </a:xfrm>
              <a:custGeom>
                <a:avLst/>
                <a:gdLst>
                  <a:gd name="T0" fmla="*/ 0 w 224"/>
                  <a:gd name="T1" fmla="*/ 0 h 247"/>
                  <a:gd name="T2" fmla="*/ 16 w 224"/>
                  <a:gd name="T3" fmla="*/ 0 h 247"/>
                  <a:gd name="T4" fmla="*/ 40 w 224"/>
                  <a:gd name="T5" fmla="*/ 0 h 247"/>
                  <a:gd name="T6" fmla="*/ 56 w 224"/>
                  <a:gd name="T7" fmla="*/ 0 h 247"/>
                  <a:gd name="T8" fmla="*/ 143 w 224"/>
                  <a:gd name="T9" fmla="*/ 246 h 247"/>
                  <a:gd name="T10" fmla="*/ 223 w 224"/>
                  <a:gd name="T11" fmla="*/ 246 h 247"/>
                  <a:gd name="T12" fmla="*/ 0 60000 65536"/>
                  <a:gd name="T13" fmla="*/ 0 60000 65536"/>
                  <a:gd name="T14" fmla="*/ 0 60000 65536"/>
                  <a:gd name="T15" fmla="*/ 0 60000 65536"/>
                  <a:gd name="T16" fmla="*/ 0 60000 65536"/>
                  <a:gd name="T17" fmla="*/ 0 60000 65536"/>
                  <a:gd name="T18" fmla="*/ 0 w 224"/>
                  <a:gd name="T19" fmla="*/ 0 h 247"/>
                  <a:gd name="T20" fmla="*/ 224 w 224"/>
                  <a:gd name="T21" fmla="*/ 247 h 247"/>
                </a:gdLst>
                <a:ahLst/>
                <a:cxnLst>
                  <a:cxn ang="T12">
                    <a:pos x="T0" y="T1"/>
                  </a:cxn>
                  <a:cxn ang="T13">
                    <a:pos x="T2" y="T3"/>
                  </a:cxn>
                  <a:cxn ang="T14">
                    <a:pos x="T4" y="T5"/>
                  </a:cxn>
                  <a:cxn ang="T15">
                    <a:pos x="T6" y="T7"/>
                  </a:cxn>
                  <a:cxn ang="T16">
                    <a:pos x="T8" y="T9"/>
                  </a:cxn>
                  <a:cxn ang="T17">
                    <a:pos x="T10" y="T11"/>
                  </a:cxn>
                </a:cxnLst>
                <a:rect l="T18" t="T19" r="T20" b="T21"/>
                <a:pathLst>
                  <a:path w="224" h="247">
                    <a:moveTo>
                      <a:pt x="0" y="0"/>
                    </a:moveTo>
                    <a:lnTo>
                      <a:pt x="16" y="0"/>
                    </a:lnTo>
                    <a:lnTo>
                      <a:pt x="40" y="0"/>
                    </a:lnTo>
                    <a:lnTo>
                      <a:pt x="56" y="0"/>
                    </a:lnTo>
                    <a:lnTo>
                      <a:pt x="143" y="246"/>
                    </a:lnTo>
                    <a:lnTo>
                      <a:pt x="223" y="246"/>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28" name="Line 193"/>
              <p:cNvSpPr>
                <a:spLocks noChangeShapeType="1"/>
              </p:cNvSpPr>
              <p:nvPr/>
            </p:nvSpPr>
            <p:spPr bwMode="auto">
              <a:xfrm>
                <a:off x="2323" y="2982"/>
                <a:ext cx="215"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29" name="Freeform 194"/>
              <p:cNvSpPr>
                <a:spLocks/>
              </p:cNvSpPr>
              <p:nvPr/>
            </p:nvSpPr>
            <p:spPr bwMode="auto">
              <a:xfrm>
                <a:off x="2320" y="3041"/>
                <a:ext cx="234" cy="246"/>
              </a:xfrm>
              <a:custGeom>
                <a:avLst/>
                <a:gdLst>
                  <a:gd name="T0" fmla="*/ 0 w 234"/>
                  <a:gd name="T1" fmla="*/ 245 h 246"/>
                  <a:gd name="T2" fmla="*/ 17 w 234"/>
                  <a:gd name="T3" fmla="*/ 245 h 246"/>
                  <a:gd name="T4" fmla="*/ 42 w 234"/>
                  <a:gd name="T5" fmla="*/ 245 h 246"/>
                  <a:gd name="T6" fmla="*/ 58 w 234"/>
                  <a:gd name="T7" fmla="*/ 245 h 246"/>
                  <a:gd name="T8" fmla="*/ 150 w 234"/>
                  <a:gd name="T9" fmla="*/ 0 h 246"/>
                  <a:gd name="T10" fmla="*/ 233 w 234"/>
                  <a:gd name="T11" fmla="*/ 0 h 246"/>
                  <a:gd name="T12" fmla="*/ 0 60000 65536"/>
                  <a:gd name="T13" fmla="*/ 0 60000 65536"/>
                  <a:gd name="T14" fmla="*/ 0 60000 65536"/>
                  <a:gd name="T15" fmla="*/ 0 60000 65536"/>
                  <a:gd name="T16" fmla="*/ 0 60000 65536"/>
                  <a:gd name="T17" fmla="*/ 0 60000 65536"/>
                  <a:gd name="T18" fmla="*/ 0 w 234"/>
                  <a:gd name="T19" fmla="*/ 0 h 246"/>
                  <a:gd name="T20" fmla="*/ 234 w 23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4" h="246">
                    <a:moveTo>
                      <a:pt x="0" y="245"/>
                    </a:moveTo>
                    <a:lnTo>
                      <a:pt x="17" y="245"/>
                    </a:lnTo>
                    <a:lnTo>
                      <a:pt x="42" y="245"/>
                    </a:lnTo>
                    <a:lnTo>
                      <a:pt x="58" y="245"/>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30" name="Freeform 195"/>
              <p:cNvSpPr>
                <a:spLocks/>
              </p:cNvSpPr>
              <p:nvPr/>
            </p:nvSpPr>
            <p:spPr bwMode="auto">
              <a:xfrm>
                <a:off x="2315" y="3690"/>
                <a:ext cx="224" cy="246"/>
              </a:xfrm>
              <a:custGeom>
                <a:avLst/>
                <a:gdLst>
                  <a:gd name="T0" fmla="*/ 0 w 224"/>
                  <a:gd name="T1" fmla="*/ 0 h 246"/>
                  <a:gd name="T2" fmla="*/ 16 w 224"/>
                  <a:gd name="T3" fmla="*/ 0 h 246"/>
                  <a:gd name="T4" fmla="*/ 40 w 224"/>
                  <a:gd name="T5" fmla="*/ 0 h 246"/>
                  <a:gd name="T6" fmla="*/ 56 w 224"/>
                  <a:gd name="T7" fmla="*/ 0 h 246"/>
                  <a:gd name="T8" fmla="*/ 143 w 224"/>
                  <a:gd name="T9" fmla="*/ 245 h 246"/>
                  <a:gd name="T10" fmla="*/ 223 w 224"/>
                  <a:gd name="T11" fmla="*/ 245 h 246"/>
                  <a:gd name="T12" fmla="*/ 0 60000 65536"/>
                  <a:gd name="T13" fmla="*/ 0 60000 65536"/>
                  <a:gd name="T14" fmla="*/ 0 60000 65536"/>
                  <a:gd name="T15" fmla="*/ 0 60000 65536"/>
                  <a:gd name="T16" fmla="*/ 0 60000 65536"/>
                  <a:gd name="T17" fmla="*/ 0 60000 65536"/>
                  <a:gd name="T18" fmla="*/ 0 w 224"/>
                  <a:gd name="T19" fmla="*/ 0 h 246"/>
                  <a:gd name="T20" fmla="*/ 224 w 22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24" h="246">
                    <a:moveTo>
                      <a:pt x="0" y="0"/>
                    </a:moveTo>
                    <a:lnTo>
                      <a:pt x="16" y="0"/>
                    </a:lnTo>
                    <a:lnTo>
                      <a:pt x="40" y="0"/>
                    </a:lnTo>
                    <a:lnTo>
                      <a:pt x="56" y="0"/>
                    </a:lnTo>
                    <a:lnTo>
                      <a:pt x="143" y="245"/>
                    </a:lnTo>
                    <a:lnTo>
                      <a:pt x="223" y="245"/>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831" name="Line 196"/>
              <p:cNvSpPr>
                <a:spLocks noChangeShapeType="1"/>
              </p:cNvSpPr>
              <p:nvPr/>
            </p:nvSpPr>
            <p:spPr bwMode="auto">
              <a:xfrm>
                <a:off x="2320" y="4004"/>
                <a:ext cx="221" cy="0"/>
              </a:xfrm>
              <a:prstGeom prst="line">
                <a:avLst/>
              </a:prstGeom>
              <a:noFill/>
              <a:ln w="25400">
                <a:solidFill>
                  <a:schemeClr val="tx2"/>
                </a:solidFill>
                <a:round/>
                <a:headEnd/>
                <a:tailEnd/>
              </a:ln>
            </p:spPr>
            <p:txBody>
              <a:bodyPr/>
              <a:lstStyle/>
              <a:p>
                <a:endParaRPr lang="en-US">
                  <a:latin typeface="Arial" pitchFamily="34" charset="0"/>
                  <a:cs typeface="Arial" pitchFamily="34" charset="0"/>
                </a:endParaRPr>
              </a:p>
            </p:txBody>
          </p:sp>
          <p:sp>
            <p:nvSpPr>
              <p:cNvPr id="198832" name="Freeform 197"/>
              <p:cNvSpPr>
                <a:spLocks/>
              </p:cNvSpPr>
              <p:nvPr/>
            </p:nvSpPr>
            <p:spPr bwMode="auto">
              <a:xfrm>
                <a:off x="2320" y="3694"/>
                <a:ext cx="234" cy="246"/>
              </a:xfrm>
              <a:custGeom>
                <a:avLst/>
                <a:gdLst>
                  <a:gd name="T0" fmla="*/ 0 w 234"/>
                  <a:gd name="T1" fmla="*/ 245 h 246"/>
                  <a:gd name="T2" fmla="*/ 17 w 234"/>
                  <a:gd name="T3" fmla="*/ 245 h 246"/>
                  <a:gd name="T4" fmla="*/ 42 w 234"/>
                  <a:gd name="T5" fmla="*/ 245 h 246"/>
                  <a:gd name="T6" fmla="*/ 58 w 234"/>
                  <a:gd name="T7" fmla="*/ 245 h 246"/>
                  <a:gd name="T8" fmla="*/ 150 w 234"/>
                  <a:gd name="T9" fmla="*/ 0 h 246"/>
                  <a:gd name="T10" fmla="*/ 233 w 234"/>
                  <a:gd name="T11" fmla="*/ 0 h 246"/>
                  <a:gd name="T12" fmla="*/ 0 60000 65536"/>
                  <a:gd name="T13" fmla="*/ 0 60000 65536"/>
                  <a:gd name="T14" fmla="*/ 0 60000 65536"/>
                  <a:gd name="T15" fmla="*/ 0 60000 65536"/>
                  <a:gd name="T16" fmla="*/ 0 60000 65536"/>
                  <a:gd name="T17" fmla="*/ 0 60000 65536"/>
                  <a:gd name="T18" fmla="*/ 0 w 234"/>
                  <a:gd name="T19" fmla="*/ 0 h 246"/>
                  <a:gd name="T20" fmla="*/ 234 w 234"/>
                  <a:gd name="T21" fmla="*/ 246 h 246"/>
                </a:gdLst>
                <a:ahLst/>
                <a:cxnLst>
                  <a:cxn ang="T12">
                    <a:pos x="T0" y="T1"/>
                  </a:cxn>
                  <a:cxn ang="T13">
                    <a:pos x="T2" y="T3"/>
                  </a:cxn>
                  <a:cxn ang="T14">
                    <a:pos x="T4" y="T5"/>
                  </a:cxn>
                  <a:cxn ang="T15">
                    <a:pos x="T6" y="T7"/>
                  </a:cxn>
                  <a:cxn ang="T16">
                    <a:pos x="T8" y="T9"/>
                  </a:cxn>
                  <a:cxn ang="T17">
                    <a:pos x="T10" y="T11"/>
                  </a:cxn>
                </a:cxnLst>
                <a:rect l="T18" t="T19" r="T20" b="T21"/>
                <a:pathLst>
                  <a:path w="234" h="246">
                    <a:moveTo>
                      <a:pt x="0" y="245"/>
                    </a:moveTo>
                    <a:lnTo>
                      <a:pt x="17" y="245"/>
                    </a:lnTo>
                    <a:lnTo>
                      <a:pt x="42" y="245"/>
                    </a:lnTo>
                    <a:lnTo>
                      <a:pt x="58" y="245"/>
                    </a:lnTo>
                    <a:lnTo>
                      <a:pt x="150" y="0"/>
                    </a:lnTo>
                    <a:lnTo>
                      <a:pt x="233" y="0"/>
                    </a:lnTo>
                  </a:path>
                </a:pathLst>
              </a:custGeom>
              <a:noFill/>
              <a:ln w="25400" cap="rnd">
                <a:solidFill>
                  <a:schemeClr val="tx2"/>
                </a:solidFill>
                <a:round/>
                <a:headEnd/>
                <a:tailEnd/>
              </a:ln>
            </p:spPr>
            <p:txBody>
              <a:bodyPr/>
              <a:lstStyle/>
              <a:p>
                <a:endParaRPr lang="en-US">
                  <a:latin typeface="Arial" pitchFamily="34" charset="0"/>
                  <a:cs typeface="Arial" pitchFamily="34" charset="0"/>
                </a:endParaRPr>
              </a:p>
            </p:txBody>
          </p:sp>
          <p:grpSp>
            <p:nvGrpSpPr>
              <p:cNvPr id="198833" name="Group 198"/>
              <p:cNvGrpSpPr>
                <a:grpSpLocks/>
              </p:cNvGrpSpPr>
              <p:nvPr/>
            </p:nvGrpSpPr>
            <p:grpSpPr bwMode="auto">
              <a:xfrm>
                <a:off x="2526" y="2933"/>
                <a:ext cx="112" cy="1107"/>
                <a:chOff x="2526" y="2933"/>
                <a:chExt cx="112" cy="1107"/>
              </a:xfrm>
            </p:grpSpPr>
            <p:sp>
              <p:nvSpPr>
                <p:cNvPr id="198834" name="Rectangle 199"/>
                <p:cNvSpPr>
                  <a:spLocks noChangeArrowheads="1"/>
                </p:cNvSpPr>
                <p:nvPr/>
              </p:nvSpPr>
              <p:spPr bwMode="auto">
                <a:xfrm>
                  <a:off x="2526" y="2933"/>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35" name="Rectangle 200"/>
                <p:cNvSpPr>
                  <a:spLocks noChangeArrowheads="1"/>
                </p:cNvSpPr>
                <p:nvPr/>
              </p:nvSpPr>
              <p:spPr bwMode="auto">
                <a:xfrm>
                  <a:off x="2526" y="3242"/>
                  <a:ext cx="112" cy="182"/>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36" name="Rectangle 201"/>
                <p:cNvSpPr>
                  <a:spLocks noChangeArrowheads="1"/>
                </p:cNvSpPr>
                <p:nvPr/>
              </p:nvSpPr>
              <p:spPr bwMode="auto">
                <a:xfrm>
                  <a:off x="2526" y="3549"/>
                  <a:ext cx="112" cy="181"/>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sp>
              <p:nvSpPr>
                <p:cNvPr id="198837" name="Rectangle 202"/>
                <p:cNvSpPr>
                  <a:spLocks noChangeArrowheads="1"/>
                </p:cNvSpPr>
                <p:nvPr/>
              </p:nvSpPr>
              <p:spPr bwMode="auto">
                <a:xfrm>
                  <a:off x="2526" y="3857"/>
                  <a:ext cx="112" cy="183"/>
                </a:xfrm>
                <a:prstGeom prst="rect">
                  <a:avLst/>
                </a:prstGeom>
                <a:solidFill>
                  <a:schemeClr val="accent1"/>
                </a:solidFill>
                <a:ln w="12700">
                  <a:solidFill>
                    <a:schemeClr val="tx2"/>
                  </a:solidFill>
                  <a:miter lim="800000"/>
                  <a:headEnd/>
                  <a:tailEnd/>
                </a:ln>
              </p:spPr>
              <p:txBody>
                <a:bodyPr wrap="none" anchor="ctr"/>
                <a:lstStyle/>
                <a:p>
                  <a:endParaRPr lang="en-US">
                    <a:latin typeface="Arial" pitchFamily="34" charset="0"/>
                    <a:cs typeface="Arial" pitchFamily="34" charset="0"/>
                  </a:endParaRPr>
                </a:p>
              </p:txBody>
            </p:sp>
          </p:grpSp>
        </p:grpSp>
      </p:grpSp>
      <p:sp>
        <p:nvSpPr>
          <p:cNvPr id="198678" name="Oval 203"/>
          <p:cNvSpPr>
            <a:spLocks noChangeArrowheads="1"/>
          </p:cNvSpPr>
          <p:nvPr/>
        </p:nvSpPr>
        <p:spPr bwMode="auto">
          <a:xfrm>
            <a:off x="1781175" y="48641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79" name="Oval 204"/>
          <p:cNvSpPr>
            <a:spLocks noChangeArrowheads="1"/>
          </p:cNvSpPr>
          <p:nvPr/>
        </p:nvSpPr>
        <p:spPr bwMode="auto">
          <a:xfrm>
            <a:off x="2162175" y="52451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0" name="Oval 205"/>
          <p:cNvSpPr>
            <a:spLocks noChangeArrowheads="1"/>
          </p:cNvSpPr>
          <p:nvPr/>
        </p:nvSpPr>
        <p:spPr bwMode="auto">
          <a:xfrm>
            <a:off x="2571750" y="55165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1" name="Oval 206"/>
          <p:cNvSpPr>
            <a:spLocks noChangeArrowheads="1"/>
          </p:cNvSpPr>
          <p:nvPr/>
        </p:nvSpPr>
        <p:spPr bwMode="auto">
          <a:xfrm>
            <a:off x="2576513" y="56118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2" name="Oval 207"/>
          <p:cNvSpPr>
            <a:spLocks noChangeArrowheads="1"/>
          </p:cNvSpPr>
          <p:nvPr/>
        </p:nvSpPr>
        <p:spPr bwMode="auto">
          <a:xfrm>
            <a:off x="3014663" y="52879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3" name="Oval 208"/>
          <p:cNvSpPr>
            <a:spLocks noChangeArrowheads="1"/>
          </p:cNvSpPr>
          <p:nvPr/>
        </p:nvSpPr>
        <p:spPr bwMode="auto">
          <a:xfrm>
            <a:off x="3000375" y="59975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4" name="Oval 209"/>
          <p:cNvSpPr>
            <a:spLocks noChangeArrowheads="1"/>
          </p:cNvSpPr>
          <p:nvPr/>
        </p:nvSpPr>
        <p:spPr bwMode="auto">
          <a:xfrm>
            <a:off x="2157413" y="59737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5" name="Oval 210"/>
          <p:cNvSpPr>
            <a:spLocks noChangeArrowheads="1"/>
          </p:cNvSpPr>
          <p:nvPr/>
        </p:nvSpPr>
        <p:spPr bwMode="auto">
          <a:xfrm>
            <a:off x="2200275" y="40370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6" name="Oval 211"/>
          <p:cNvSpPr>
            <a:spLocks noChangeArrowheads="1"/>
          </p:cNvSpPr>
          <p:nvPr/>
        </p:nvSpPr>
        <p:spPr bwMode="auto">
          <a:xfrm>
            <a:off x="2616200" y="43799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7" name="Oval 212"/>
          <p:cNvSpPr>
            <a:spLocks noChangeArrowheads="1"/>
          </p:cNvSpPr>
          <p:nvPr/>
        </p:nvSpPr>
        <p:spPr bwMode="auto">
          <a:xfrm>
            <a:off x="2616200" y="430053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8" name="Oval 213"/>
          <p:cNvSpPr>
            <a:spLocks noChangeArrowheads="1"/>
          </p:cNvSpPr>
          <p:nvPr/>
        </p:nvSpPr>
        <p:spPr bwMode="auto">
          <a:xfrm>
            <a:off x="3025775" y="40370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89" name="Oval 214"/>
          <p:cNvSpPr>
            <a:spLocks noChangeArrowheads="1"/>
          </p:cNvSpPr>
          <p:nvPr/>
        </p:nvSpPr>
        <p:spPr bwMode="auto">
          <a:xfrm>
            <a:off x="3025775" y="395763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0" name="Oval 215"/>
          <p:cNvSpPr>
            <a:spLocks noChangeArrowheads="1"/>
          </p:cNvSpPr>
          <p:nvPr/>
        </p:nvSpPr>
        <p:spPr bwMode="auto">
          <a:xfrm>
            <a:off x="1828800" y="438943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1" name="Oval 216"/>
          <p:cNvSpPr>
            <a:spLocks noChangeArrowheads="1"/>
          </p:cNvSpPr>
          <p:nvPr/>
        </p:nvSpPr>
        <p:spPr bwMode="auto">
          <a:xfrm>
            <a:off x="1831975" y="40274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2" name="Oval 217"/>
          <p:cNvSpPr>
            <a:spLocks noChangeArrowheads="1"/>
          </p:cNvSpPr>
          <p:nvPr/>
        </p:nvSpPr>
        <p:spPr bwMode="auto">
          <a:xfrm>
            <a:off x="2209800" y="39624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3" name="Oval 218"/>
          <p:cNvSpPr>
            <a:spLocks noChangeArrowheads="1"/>
          </p:cNvSpPr>
          <p:nvPr/>
        </p:nvSpPr>
        <p:spPr bwMode="auto">
          <a:xfrm>
            <a:off x="1828800" y="39624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4" name="Oval 219"/>
          <p:cNvSpPr>
            <a:spLocks noChangeArrowheads="1"/>
          </p:cNvSpPr>
          <p:nvPr/>
        </p:nvSpPr>
        <p:spPr bwMode="auto">
          <a:xfrm>
            <a:off x="1828800" y="36576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5" name="Oval 220"/>
          <p:cNvSpPr>
            <a:spLocks noChangeArrowheads="1"/>
          </p:cNvSpPr>
          <p:nvPr/>
        </p:nvSpPr>
        <p:spPr bwMode="auto">
          <a:xfrm>
            <a:off x="1828800" y="33528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6" name="Oval 221"/>
          <p:cNvSpPr>
            <a:spLocks noChangeArrowheads="1"/>
          </p:cNvSpPr>
          <p:nvPr/>
        </p:nvSpPr>
        <p:spPr bwMode="auto">
          <a:xfrm>
            <a:off x="1828800" y="35877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7" name="Oval 222"/>
          <p:cNvSpPr>
            <a:spLocks noChangeArrowheads="1"/>
          </p:cNvSpPr>
          <p:nvPr/>
        </p:nvSpPr>
        <p:spPr bwMode="auto">
          <a:xfrm>
            <a:off x="2203450" y="35718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8" name="Oval 223"/>
          <p:cNvSpPr>
            <a:spLocks noChangeArrowheads="1"/>
          </p:cNvSpPr>
          <p:nvPr/>
        </p:nvSpPr>
        <p:spPr bwMode="auto">
          <a:xfrm>
            <a:off x="3041650" y="36068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699" name="Oval 224"/>
          <p:cNvSpPr>
            <a:spLocks noChangeArrowheads="1"/>
          </p:cNvSpPr>
          <p:nvPr/>
        </p:nvSpPr>
        <p:spPr bwMode="auto">
          <a:xfrm>
            <a:off x="2189163" y="32543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0" name="Oval 225"/>
          <p:cNvSpPr>
            <a:spLocks noChangeArrowheads="1"/>
          </p:cNvSpPr>
          <p:nvPr/>
        </p:nvSpPr>
        <p:spPr bwMode="auto">
          <a:xfrm>
            <a:off x="2212975" y="33369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1" name="Oval 226"/>
          <p:cNvSpPr>
            <a:spLocks noChangeArrowheads="1"/>
          </p:cNvSpPr>
          <p:nvPr/>
        </p:nvSpPr>
        <p:spPr bwMode="auto">
          <a:xfrm>
            <a:off x="2613025" y="3235325"/>
            <a:ext cx="96838" cy="74613"/>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2" name="Oval 227"/>
          <p:cNvSpPr>
            <a:spLocks noChangeArrowheads="1"/>
          </p:cNvSpPr>
          <p:nvPr/>
        </p:nvSpPr>
        <p:spPr bwMode="auto">
          <a:xfrm>
            <a:off x="2597150" y="33210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3" name="Oval 228"/>
          <p:cNvSpPr>
            <a:spLocks noChangeArrowheads="1"/>
          </p:cNvSpPr>
          <p:nvPr/>
        </p:nvSpPr>
        <p:spPr bwMode="auto">
          <a:xfrm>
            <a:off x="2590800" y="35814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4" name="Oval 229"/>
          <p:cNvSpPr>
            <a:spLocks noChangeArrowheads="1"/>
          </p:cNvSpPr>
          <p:nvPr/>
        </p:nvSpPr>
        <p:spPr bwMode="auto">
          <a:xfrm>
            <a:off x="2590800" y="36576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5" name="Oval 230"/>
          <p:cNvSpPr>
            <a:spLocks noChangeArrowheads="1"/>
          </p:cNvSpPr>
          <p:nvPr/>
        </p:nvSpPr>
        <p:spPr bwMode="auto">
          <a:xfrm>
            <a:off x="3024188" y="32702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6" name="Oval 231"/>
          <p:cNvSpPr>
            <a:spLocks noChangeArrowheads="1"/>
          </p:cNvSpPr>
          <p:nvPr/>
        </p:nvSpPr>
        <p:spPr bwMode="auto">
          <a:xfrm>
            <a:off x="3048000" y="33528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7" name="Oval 232"/>
          <p:cNvSpPr>
            <a:spLocks noChangeArrowheads="1"/>
          </p:cNvSpPr>
          <p:nvPr/>
        </p:nvSpPr>
        <p:spPr bwMode="auto">
          <a:xfrm>
            <a:off x="3024188" y="43053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8" name="Oval 233"/>
          <p:cNvSpPr>
            <a:spLocks noChangeArrowheads="1"/>
          </p:cNvSpPr>
          <p:nvPr/>
        </p:nvSpPr>
        <p:spPr bwMode="auto">
          <a:xfrm>
            <a:off x="2198688" y="42957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09" name="Oval 234"/>
          <p:cNvSpPr>
            <a:spLocks noChangeArrowheads="1"/>
          </p:cNvSpPr>
          <p:nvPr/>
        </p:nvSpPr>
        <p:spPr bwMode="auto">
          <a:xfrm>
            <a:off x="1827213" y="42957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0" name="Oval 235"/>
          <p:cNvSpPr>
            <a:spLocks noChangeArrowheads="1"/>
          </p:cNvSpPr>
          <p:nvPr/>
        </p:nvSpPr>
        <p:spPr bwMode="auto">
          <a:xfrm>
            <a:off x="1752600" y="48228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1" name="Oval 236"/>
          <p:cNvSpPr>
            <a:spLocks noChangeArrowheads="1"/>
          </p:cNvSpPr>
          <p:nvPr/>
        </p:nvSpPr>
        <p:spPr bwMode="auto">
          <a:xfrm>
            <a:off x="2133600" y="52038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2" name="Oval 237"/>
          <p:cNvSpPr>
            <a:spLocks noChangeArrowheads="1"/>
          </p:cNvSpPr>
          <p:nvPr/>
        </p:nvSpPr>
        <p:spPr bwMode="auto">
          <a:xfrm>
            <a:off x="2543175" y="54752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3" name="Oval 238"/>
          <p:cNvSpPr>
            <a:spLocks noChangeArrowheads="1"/>
          </p:cNvSpPr>
          <p:nvPr/>
        </p:nvSpPr>
        <p:spPr bwMode="auto">
          <a:xfrm>
            <a:off x="2547938" y="557053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4" name="Oval 239"/>
          <p:cNvSpPr>
            <a:spLocks noChangeArrowheads="1"/>
          </p:cNvSpPr>
          <p:nvPr/>
        </p:nvSpPr>
        <p:spPr bwMode="auto">
          <a:xfrm>
            <a:off x="2986088" y="52466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5" name="Oval 240"/>
          <p:cNvSpPr>
            <a:spLocks noChangeArrowheads="1"/>
          </p:cNvSpPr>
          <p:nvPr/>
        </p:nvSpPr>
        <p:spPr bwMode="auto">
          <a:xfrm>
            <a:off x="2971800" y="59563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6" name="Oval 241"/>
          <p:cNvSpPr>
            <a:spLocks noChangeArrowheads="1"/>
          </p:cNvSpPr>
          <p:nvPr/>
        </p:nvSpPr>
        <p:spPr bwMode="auto">
          <a:xfrm>
            <a:off x="2128838" y="59324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7" name="Oval 242"/>
          <p:cNvSpPr>
            <a:spLocks noChangeArrowheads="1"/>
          </p:cNvSpPr>
          <p:nvPr/>
        </p:nvSpPr>
        <p:spPr bwMode="auto">
          <a:xfrm>
            <a:off x="2147888" y="55895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8" name="Oval 243"/>
          <p:cNvSpPr>
            <a:spLocks noChangeArrowheads="1"/>
          </p:cNvSpPr>
          <p:nvPr/>
        </p:nvSpPr>
        <p:spPr bwMode="auto">
          <a:xfrm>
            <a:off x="2563813" y="59324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19" name="Oval 244"/>
          <p:cNvSpPr>
            <a:spLocks noChangeArrowheads="1"/>
          </p:cNvSpPr>
          <p:nvPr/>
        </p:nvSpPr>
        <p:spPr bwMode="auto">
          <a:xfrm>
            <a:off x="2563813" y="58531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0" name="Oval 245"/>
          <p:cNvSpPr>
            <a:spLocks noChangeArrowheads="1"/>
          </p:cNvSpPr>
          <p:nvPr/>
        </p:nvSpPr>
        <p:spPr bwMode="auto">
          <a:xfrm>
            <a:off x="2973388" y="55895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1" name="Oval 246"/>
          <p:cNvSpPr>
            <a:spLocks noChangeArrowheads="1"/>
          </p:cNvSpPr>
          <p:nvPr/>
        </p:nvSpPr>
        <p:spPr bwMode="auto">
          <a:xfrm>
            <a:off x="2973388" y="55102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2" name="Oval 247"/>
          <p:cNvSpPr>
            <a:spLocks noChangeArrowheads="1"/>
          </p:cNvSpPr>
          <p:nvPr/>
        </p:nvSpPr>
        <p:spPr bwMode="auto">
          <a:xfrm>
            <a:off x="1776413" y="59420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3" name="Oval 248"/>
          <p:cNvSpPr>
            <a:spLocks noChangeArrowheads="1"/>
          </p:cNvSpPr>
          <p:nvPr/>
        </p:nvSpPr>
        <p:spPr bwMode="auto">
          <a:xfrm>
            <a:off x="1779588" y="55800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4" name="Oval 249"/>
          <p:cNvSpPr>
            <a:spLocks noChangeArrowheads="1"/>
          </p:cNvSpPr>
          <p:nvPr/>
        </p:nvSpPr>
        <p:spPr bwMode="auto">
          <a:xfrm>
            <a:off x="2157413" y="55149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5" name="Oval 250"/>
          <p:cNvSpPr>
            <a:spLocks noChangeArrowheads="1"/>
          </p:cNvSpPr>
          <p:nvPr/>
        </p:nvSpPr>
        <p:spPr bwMode="auto">
          <a:xfrm>
            <a:off x="1776413" y="55149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6" name="Oval 251"/>
          <p:cNvSpPr>
            <a:spLocks noChangeArrowheads="1"/>
          </p:cNvSpPr>
          <p:nvPr/>
        </p:nvSpPr>
        <p:spPr bwMode="auto">
          <a:xfrm>
            <a:off x="1776413" y="52101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7" name="Oval 252"/>
          <p:cNvSpPr>
            <a:spLocks noChangeArrowheads="1"/>
          </p:cNvSpPr>
          <p:nvPr/>
        </p:nvSpPr>
        <p:spPr bwMode="auto">
          <a:xfrm>
            <a:off x="1776413" y="49053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8" name="Oval 253"/>
          <p:cNvSpPr>
            <a:spLocks noChangeArrowheads="1"/>
          </p:cNvSpPr>
          <p:nvPr/>
        </p:nvSpPr>
        <p:spPr bwMode="auto">
          <a:xfrm>
            <a:off x="1776413" y="51403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29" name="Oval 254"/>
          <p:cNvSpPr>
            <a:spLocks noChangeArrowheads="1"/>
          </p:cNvSpPr>
          <p:nvPr/>
        </p:nvSpPr>
        <p:spPr bwMode="auto">
          <a:xfrm>
            <a:off x="2151063" y="51244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0" name="Oval 255"/>
          <p:cNvSpPr>
            <a:spLocks noChangeArrowheads="1"/>
          </p:cNvSpPr>
          <p:nvPr/>
        </p:nvSpPr>
        <p:spPr bwMode="auto">
          <a:xfrm>
            <a:off x="2989263" y="51593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1" name="Oval 256"/>
          <p:cNvSpPr>
            <a:spLocks noChangeArrowheads="1"/>
          </p:cNvSpPr>
          <p:nvPr/>
        </p:nvSpPr>
        <p:spPr bwMode="auto">
          <a:xfrm>
            <a:off x="2136775" y="48069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2" name="Oval 257"/>
          <p:cNvSpPr>
            <a:spLocks noChangeArrowheads="1"/>
          </p:cNvSpPr>
          <p:nvPr/>
        </p:nvSpPr>
        <p:spPr bwMode="auto">
          <a:xfrm>
            <a:off x="2160588" y="48895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3" name="Oval 258"/>
          <p:cNvSpPr>
            <a:spLocks noChangeArrowheads="1"/>
          </p:cNvSpPr>
          <p:nvPr/>
        </p:nvSpPr>
        <p:spPr bwMode="auto">
          <a:xfrm>
            <a:off x="2560638" y="4787900"/>
            <a:ext cx="96837" cy="74613"/>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4" name="Oval 259"/>
          <p:cNvSpPr>
            <a:spLocks noChangeArrowheads="1"/>
          </p:cNvSpPr>
          <p:nvPr/>
        </p:nvSpPr>
        <p:spPr bwMode="auto">
          <a:xfrm>
            <a:off x="2544763" y="48736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5" name="Oval 260"/>
          <p:cNvSpPr>
            <a:spLocks noChangeArrowheads="1"/>
          </p:cNvSpPr>
          <p:nvPr/>
        </p:nvSpPr>
        <p:spPr bwMode="auto">
          <a:xfrm>
            <a:off x="2538413" y="51339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6" name="Oval 261"/>
          <p:cNvSpPr>
            <a:spLocks noChangeArrowheads="1"/>
          </p:cNvSpPr>
          <p:nvPr/>
        </p:nvSpPr>
        <p:spPr bwMode="auto">
          <a:xfrm>
            <a:off x="2538413" y="52101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7" name="Oval 262"/>
          <p:cNvSpPr>
            <a:spLocks noChangeArrowheads="1"/>
          </p:cNvSpPr>
          <p:nvPr/>
        </p:nvSpPr>
        <p:spPr bwMode="auto">
          <a:xfrm>
            <a:off x="2971800" y="48228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8" name="Oval 263"/>
          <p:cNvSpPr>
            <a:spLocks noChangeArrowheads="1"/>
          </p:cNvSpPr>
          <p:nvPr/>
        </p:nvSpPr>
        <p:spPr bwMode="auto">
          <a:xfrm>
            <a:off x="2995613" y="49053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39" name="Oval 264"/>
          <p:cNvSpPr>
            <a:spLocks noChangeArrowheads="1"/>
          </p:cNvSpPr>
          <p:nvPr/>
        </p:nvSpPr>
        <p:spPr bwMode="auto">
          <a:xfrm>
            <a:off x="2971800" y="58578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0" name="Oval 265"/>
          <p:cNvSpPr>
            <a:spLocks noChangeArrowheads="1"/>
          </p:cNvSpPr>
          <p:nvPr/>
        </p:nvSpPr>
        <p:spPr bwMode="auto">
          <a:xfrm>
            <a:off x="2146300" y="58483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1" name="Oval 266"/>
          <p:cNvSpPr>
            <a:spLocks noChangeArrowheads="1"/>
          </p:cNvSpPr>
          <p:nvPr/>
        </p:nvSpPr>
        <p:spPr bwMode="auto">
          <a:xfrm>
            <a:off x="1774825" y="58483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2" name="Oval 267"/>
          <p:cNvSpPr>
            <a:spLocks noChangeArrowheads="1"/>
          </p:cNvSpPr>
          <p:nvPr/>
        </p:nvSpPr>
        <p:spPr bwMode="auto">
          <a:xfrm>
            <a:off x="2185988" y="56308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3" name="Oval 268"/>
          <p:cNvSpPr>
            <a:spLocks noChangeArrowheads="1"/>
          </p:cNvSpPr>
          <p:nvPr/>
        </p:nvSpPr>
        <p:spPr bwMode="auto">
          <a:xfrm>
            <a:off x="2157413" y="55895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4" name="Oval 269"/>
          <p:cNvSpPr>
            <a:spLocks noChangeArrowheads="1"/>
          </p:cNvSpPr>
          <p:nvPr/>
        </p:nvSpPr>
        <p:spPr bwMode="auto">
          <a:xfrm>
            <a:off x="2174875" y="55054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5" name="Oval 270"/>
          <p:cNvSpPr>
            <a:spLocks noChangeArrowheads="1"/>
          </p:cNvSpPr>
          <p:nvPr/>
        </p:nvSpPr>
        <p:spPr bwMode="auto">
          <a:xfrm>
            <a:off x="2214563" y="52879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6" name="Oval 271"/>
          <p:cNvSpPr>
            <a:spLocks noChangeArrowheads="1"/>
          </p:cNvSpPr>
          <p:nvPr/>
        </p:nvSpPr>
        <p:spPr bwMode="auto">
          <a:xfrm>
            <a:off x="2185988" y="52466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7" name="Oval 272"/>
          <p:cNvSpPr>
            <a:spLocks noChangeArrowheads="1"/>
          </p:cNvSpPr>
          <p:nvPr/>
        </p:nvSpPr>
        <p:spPr bwMode="auto">
          <a:xfrm>
            <a:off x="2203450" y="51625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8" name="Oval 273"/>
          <p:cNvSpPr>
            <a:spLocks noChangeArrowheads="1"/>
          </p:cNvSpPr>
          <p:nvPr/>
        </p:nvSpPr>
        <p:spPr bwMode="auto">
          <a:xfrm>
            <a:off x="2566988" y="52339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49" name="Oval 274"/>
          <p:cNvSpPr>
            <a:spLocks noChangeArrowheads="1"/>
          </p:cNvSpPr>
          <p:nvPr/>
        </p:nvSpPr>
        <p:spPr bwMode="auto">
          <a:xfrm>
            <a:off x="2554288" y="49133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0" name="Oval 275"/>
          <p:cNvSpPr>
            <a:spLocks noChangeArrowheads="1"/>
          </p:cNvSpPr>
          <p:nvPr/>
        </p:nvSpPr>
        <p:spPr bwMode="auto">
          <a:xfrm>
            <a:off x="2209800" y="48768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1" name="Oval 276"/>
          <p:cNvSpPr>
            <a:spLocks noChangeArrowheads="1"/>
          </p:cNvSpPr>
          <p:nvPr/>
        </p:nvSpPr>
        <p:spPr bwMode="auto">
          <a:xfrm>
            <a:off x="1716088" y="371951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2" name="Oval 277"/>
          <p:cNvSpPr>
            <a:spLocks noChangeArrowheads="1"/>
          </p:cNvSpPr>
          <p:nvPr/>
        </p:nvSpPr>
        <p:spPr bwMode="auto">
          <a:xfrm>
            <a:off x="2098675" y="492760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3" name="Oval 278"/>
          <p:cNvSpPr>
            <a:spLocks noChangeArrowheads="1"/>
          </p:cNvSpPr>
          <p:nvPr/>
        </p:nvSpPr>
        <p:spPr bwMode="auto">
          <a:xfrm>
            <a:off x="2951163" y="49704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4" name="Oval 279"/>
          <p:cNvSpPr>
            <a:spLocks noChangeArrowheads="1"/>
          </p:cNvSpPr>
          <p:nvPr/>
        </p:nvSpPr>
        <p:spPr bwMode="auto">
          <a:xfrm>
            <a:off x="2070100" y="48863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5" name="Oval 280"/>
          <p:cNvSpPr>
            <a:spLocks noChangeArrowheads="1"/>
          </p:cNvSpPr>
          <p:nvPr/>
        </p:nvSpPr>
        <p:spPr bwMode="auto">
          <a:xfrm>
            <a:off x="2922588" y="49291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6" name="Oval 281"/>
          <p:cNvSpPr>
            <a:spLocks noChangeArrowheads="1"/>
          </p:cNvSpPr>
          <p:nvPr/>
        </p:nvSpPr>
        <p:spPr bwMode="auto">
          <a:xfrm>
            <a:off x="1712913" y="48926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7" name="Oval 282"/>
          <p:cNvSpPr>
            <a:spLocks noChangeArrowheads="1"/>
          </p:cNvSpPr>
          <p:nvPr/>
        </p:nvSpPr>
        <p:spPr bwMode="auto">
          <a:xfrm>
            <a:off x="1712913" y="482282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8" name="Oval 283"/>
          <p:cNvSpPr>
            <a:spLocks noChangeArrowheads="1"/>
          </p:cNvSpPr>
          <p:nvPr/>
        </p:nvSpPr>
        <p:spPr bwMode="auto">
          <a:xfrm>
            <a:off x="2087563" y="48069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59" name="Oval 284"/>
          <p:cNvSpPr>
            <a:spLocks noChangeArrowheads="1"/>
          </p:cNvSpPr>
          <p:nvPr/>
        </p:nvSpPr>
        <p:spPr bwMode="auto">
          <a:xfrm>
            <a:off x="2925763" y="48418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0" name="Oval 285"/>
          <p:cNvSpPr>
            <a:spLocks noChangeArrowheads="1"/>
          </p:cNvSpPr>
          <p:nvPr/>
        </p:nvSpPr>
        <p:spPr bwMode="auto">
          <a:xfrm>
            <a:off x="2474913" y="48164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1" name="Oval 286"/>
          <p:cNvSpPr>
            <a:spLocks noChangeArrowheads="1"/>
          </p:cNvSpPr>
          <p:nvPr/>
        </p:nvSpPr>
        <p:spPr bwMode="auto">
          <a:xfrm>
            <a:off x="2474913" y="4892675"/>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2" name="Oval 287"/>
          <p:cNvSpPr>
            <a:spLocks noChangeArrowheads="1"/>
          </p:cNvSpPr>
          <p:nvPr/>
        </p:nvSpPr>
        <p:spPr bwMode="auto">
          <a:xfrm>
            <a:off x="2151063" y="4970463"/>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3" name="Oval 288"/>
          <p:cNvSpPr>
            <a:spLocks noChangeArrowheads="1"/>
          </p:cNvSpPr>
          <p:nvPr/>
        </p:nvSpPr>
        <p:spPr bwMode="auto">
          <a:xfrm>
            <a:off x="2122488" y="49291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4" name="Oval 289"/>
          <p:cNvSpPr>
            <a:spLocks noChangeArrowheads="1"/>
          </p:cNvSpPr>
          <p:nvPr/>
        </p:nvSpPr>
        <p:spPr bwMode="auto">
          <a:xfrm>
            <a:off x="2139950" y="4845050"/>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5" name="Oval 290"/>
          <p:cNvSpPr>
            <a:spLocks noChangeArrowheads="1"/>
          </p:cNvSpPr>
          <p:nvPr/>
        </p:nvSpPr>
        <p:spPr bwMode="auto">
          <a:xfrm>
            <a:off x="2503488" y="4916488"/>
            <a:ext cx="79375" cy="69850"/>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6" name="Oval 291"/>
          <p:cNvSpPr>
            <a:spLocks noChangeArrowheads="1"/>
          </p:cNvSpPr>
          <p:nvPr/>
        </p:nvSpPr>
        <p:spPr bwMode="auto">
          <a:xfrm flipH="1">
            <a:off x="2587625" y="5922963"/>
            <a:ext cx="74613"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7" name="Oval 292"/>
          <p:cNvSpPr>
            <a:spLocks noChangeArrowheads="1"/>
          </p:cNvSpPr>
          <p:nvPr/>
        </p:nvSpPr>
        <p:spPr bwMode="auto">
          <a:xfrm flipH="1">
            <a:off x="2592388" y="6018213"/>
            <a:ext cx="74612"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8" name="Oval 293"/>
          <p:cNvSpPr>
            <a:spLocks noChangeArrowheads="1"/>
          </p:cNvSpPr>
          <p:nvPr/>
        </p:nvSpPr>
        <p:spPr bwMode="auto">
          <a:xfrm flipH="1">
            <a:off x="2559050" y="5881688"/>
            <a:ext cx="74613"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69" name="Oval 294"/>
          <p:cNvSpPr>
            <a:spLocks noChangeArrowheads="1"/>
          </p:cNvSpPr>
          <p:nvPr/>
        </p:nvSpPr>
        <p:spPr bwMode="auto">
          <a:xfrm flipH="1">
            <a:off x="2563813" y="5976938"/>
            <a:ext cx="74612"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0" name="Oval 295"/>
          <p:cNvSpPr>
            <a:spLocks noChangeArrowheads="1"/>
          </p:cNvSpPr>
          <p:nvPr/>
        </p:nvSpPr>
        <p:spPr bwMode="auto">
          <a:xfrm flipH="1">
            <a:off x="2163763" y="5995988"/>
            <a:ext cx="74612"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1" name="Oval 296"/>
          <p:cNvSpPr>
            <a:spLocks noChangeArrowheads="1"/>
          </p:cNvSpPr>
          <p:nvPr/>
        </p:nvSpPr>
        <p:spPr bwMode="auto">
          <a:xfrm flipH="1">
            <a:off x="2989263" y="5995988"/>
            <a:ext cx="74612"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2" name="Oval 297"/>
          <p:cNvSpPr>
            <a:spLocks noChangeArrowheads="1"/>
          </p:cNvSpPr>
          <p:nvPr/>
        </p:nvSpPr>
        <p:spPr bwMode="auto">
          <a:xfrm flipH="1">
            <a:off x="2989263" y="5916613"/>
            <a:ext cx="74612"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3" name="Oval 298"/>
          <p:cNvSpPr>
            <a:spLocks noChangeArrowheads="1"/>
          </p:cNvSpPr>
          <p:nvPr/>
        </p:nvSpPr>
        <p:spPr bwMode="auto">
          <a:xfrm flipH="1">
            <a:off x="1795463" y="5986463"/>
            <a:ext cx="74612"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4" name="Oval 299"/>
          <p:cNvSpPr>
            <a:spLocks noChangeArrowheads="1"/>
          </p:cNvSpPr>
          <p:nvPr/>
        </p:nvSpPr>
        <p:spPr bwMode="auto">
          <a:xfrm flipH="1">
            <a:off x="2173288" y="5921375"/>
            <a:ext cx="74612" cy="74613"/>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5" name="Oval 300"/>
          <p:cNvSpPr>
            <a:spLocks noChangeArrowheads="1"/>
          </p:cNvSpPr>
          <p:nvPr/>
        </p:nvSpPr>
        <p:spPr bwMode="auto">
          <a:xfrm flipH="1">
            <a:off x="1792288" y="5921375"/>
            <a:ext cx="74612" cy="74613"/>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6" name="Oval 301"/>
          <p:cNvSpPr>
            <a:spLocks noChangeArrowheads="1"/>
          </p:cNvSpPr>
          <p:nvPr/>
        </p:nvSpPr>
        <p:spPr bwMode="auto">
          <a:xfrm flipH="1">
            <a:off x="2201863" y="6037263"/>
            <a:ext cx="74612"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7" name="Oval 302"/>
          <p:cNvSpPr>
            <a:spLocks noChangeArrowheads="1"/>
          </p:cNvSpPr>
          <p:nvPr/>
        </p:nvSpPr>
        <p:spPr bwMode="auto">
          <a:xfrm flipH="1">
            <a:off x="2173288" y="5995988"/>
            <a:ext cx="74612" cy="74612"/>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8" name="Oval 303"/>
          <p:cNvSpPr>
            <a:spLocks noChangeArrowheads="1"/>
          </p:cNvSpPr>
          <p:nvPr/>
        </p:nvSpPr>
        <p:spPr bwMode="auto">
          <a:xfrm flipH="1">
            <a:off x="2190750" y="5911850"/>
            <a:ext cx="74613" cy="74613"/>
          </a:xfrm>
          <a:prstGeom prst="ellipse">
            <a:avLst/>
          </a:prstGeom>
          <a:solidFill>
            <a:srgbClr val="FF3300"/>
          </a:solidFill>
          <a:ln w="12700">
            <a:solidFill>
              <a:schemeClr val="tx2"/>
            </a:solidFill>
            <a:round/>
            <a:headEnd/>
            <a:tailEnd/>
          </a:ln>
        </p:spPr>
        <p:txBody>
          <a:bodyPr wrap="none" anchor="ctr"/>
          <a:lstStyle/>
          <a:p>
            <a:endParaRPr lang="en-US">
              <a:latin typeface="Arial" pitchFamily="34" charset="0"/>
              <a:cs typeface="Arial" pitchFamily="34" charset="0"/>
            </a:endParaRPr>
          </a:p>
        </p:txBody>
      </p:sp>
      <p:sp>
        <p:nvSpPr>
          <p:cNvPr id="198779" name="Text Box 304"/>
          <p:cNvSpPr txBox="1">
            <a:spLocks noChangeArrowheads="1"/>
          </p:cNvSpPr>
          <p:nvPr/>
        </p:nvSpPr>
        <p:spPr bwMode="auto">
          <a:xfrm>
            <a:off x="4022725" y="1951038"/>
            <a:ext cx="4186238" cy="457200"/>
          </a:xfrm>
          <a:prstGeom prst="rect">
            <a:avLst/>
          </a:prstGeom>
          <a:noFill/>
          <a:ln w="9525">
            <a:noFill/>
            <a:miter lim="800000"/>
            <a:headEnd/>
            <a:tailEnd/>
          </a:ln>
        </p:spPr>
        <p:txBody>
          <a:bodyPr wrap="none">
            <a:spAutoFit/>
          </a:bodyPr>
          <a:lstStyle/>
          <a:p>
            <a:pPr eaLnBrk="1" hangingPunct="1">
              <a:spcBef>
                <a:spcPct val="0"/>
              </a:spcBef>
            </a:pPr>
            <a:r>
              <a:rPr lang="en-US" b="0">
                <a:solidFill>
                  <a:schemeClr val="accent2"/>
                </a:solidFill>
                <a:latin typeface="Arial" pitchFamily="34" charset="0"/>
                <a:cs typeface="Arial" pitchFamily="34" charset="0"/>
              </a:rPr>
              <a:t>Undersaturated   </a:t>
            </a:r>
            <a:r>
              <a:rPr lang="en-US" b="0">
                <a:solidFill>
                  <a:schemeClr val="tx1"/>
                </a:solidFill>
                <a:latin typeface="Arial" pitchFamily="34" charset="0"/>
                <a:cs typeface="Arial" pitchFamily="34" charset="0"/>
              </a:rPr>
              <a:t>P &lt; w log w</a:t>
            </a:r>
          </a:p>
        </p:txBody>
      </p:sp>
      <p:sp>
        <p:nvSpPr>
          <p:cNvPr id="198780" name="Text Box 305"/>
          <p:cNvSpPr txBox="1">
            <a:spLocks noChangeArrowheads="1"/>
          </p:cNvSpPr>
          <p:nvPr/>
        </p:nvSpPr>
        <p:spPr bwMode="auto">
          <a:xfrm>
            <a:off x="4038600" y="3586163"/>
            <a:ext cx="4227513" cy="457200"/>
          </a:xfrm>
          <a:prstGeom prst="rect">
            <a:avLst/>
          </a:prstGeom>
          <a:noFill/>
          <a:ln w="9525">
            <a:noFill/>
            <a:miter lim="800000"/>
            <a:headEnd/>
            <a:tailEnd/>
          </a:ln>
        </p:spPr>
        <p:txBody>
          <a:bodyPr wrap="none">
            <a:spAutoFit/>
          </a:bodyPr>
          <a:lstStyle/>
          <a:p>
            <a:pPr eaLnBrk="1" hangingPunct="1">
              <a:spcBef>
                <a:spcPct val="0"/>
              </a:spcBef>
            </a:pPr>
            <a:r>
              <a:rPr lang="en-US" b="0">
                <a:solidFill>
                  <a:schemeClr val="accent2"/>
                </a:solidFill>
                <a:latin typeface="Arial" pitchFamily="34" charset="0"/>
                <a:cs typeface="Arial" pitchFamily="34" charset="0"/>
              </a:rPr>
              <a:t>Saturated            </a:t>
            </a:r>
            <a:r>
              <a:rPr lang="en-US" b="0">
                <a:solidFill>
                  <a:schemeClr val="tx1"/>
                </a:solidFill>
                <a:latin typeface="Arial" pitchFamily="34" charset="0"/>
                <a:cs typeface="Arial" pitchFamily="34" charset="0"/>
              </a:rPr>
              <a:t>P = w log w</a:t>
            </a:r>
          </a:p>
        </p:txBody>
      </p:sp>
      <p:sp>
        <p:nvSpPr>
          <p:cNvPr id="198781" name="Text Box 306"/>
          <p:cNvSpPr txBox="1">
            <a:spLocks noChangeArrowheads="1"/>
          </p:cNvSpPr>
          <p:nvPr/>
        </p:nvSpPr>
        <p:spPr bwMode="auto">
          <a:xfrm>
            <a:off x="4038600" y="5262563"/>
            <a:ext cx="4103688" cy="457200"/>
          </a:xfrm>
          <a:prstGeom prst="rect">
            <a:avLst/>
          </a:prstGeom>
          <a:noFill/>
          <a:ln w="9525">
            <a:noFill/>
            <a:miter lim="800000"/>
            <a:headEnd/>
            <a:tailEnd/>
          </a:ln>
        </p:spPr>
        <p:txBody>
          <a:bodyPr wrap="none">
            <a:spAutoFit/>
          </a:bodyPr>
          <a:lstStyle/>
          <a:p>
            <a:pPr eaLnBrk="1" hangingPunct="1">
              <a:spcBef>
                <a:spcPct val="0"/>
              </a:spcBef>
            </a:pPr>
            <a:r>
              <a:rPr lang="en-US" b="0">
                <a:solidFill>
                  <a:schemeClr val="accent2"/>
                </a:solidFill>
                <a:latin typeface="Arial" pitchFamily="34" charset="0"/>
                <a:cs typeface="Arial" pitchFamily="34" charset="0"/>
              </a:rPr>
              <a:t>Oversaturated    </a:t>
            </a:r>
            <a:r>
              <a:rPr lang="en-US" b="0">
                <a:solidFill>
                  <a:schemeClr val="tx1"/>
                </a:solidFill>
                <a:latin typeface="Arial" pitchFamily="34" charset="0"/>
                <a:cs typeface="Arial" pitchFamily="34" charset="0"/>
              </a:rPr>
              <a:t>P &gt; w log w</a:t>
            </a:r>
          </a:p>
        </p:txBody>
      </p:sp>
      <p:grpSp>
        <p:nvGrpSpPr>
          <p:cNvPr id="20" name="Group 307"/>
          <p:cNvGrpSpPr>
            <a:grpSpLocks/>
          </p:cNvGrpSpPr>
          <p:nvPr/>
        </p:nvGrpSpPr>
        <p:grpSpPr bwMode="auto">
          <a:xfrm>
            <a:off x="4038600" y="3241675"/>
            <a:ext cx="3084513" cy="427038"/>
            <a:chOff x="2544" y="2042"/>
            <a:chExt cx="1943" cy="269"/>
          </a:xfrm>
        </p:grpSpPr>
        <p:grpSp>
          <p:nvGrpSpPr>
            <p:cNvPr id="198783" name="Group 308"/>
            <p:cNvGrpSpPr>
              <a:grpSpLocks/>
            </p:cNvGrpSpPr>
            <p:nvPr/>
          </p:nvGrpSpPr>
          <p:grpSpPr bwMode="auto">
            <a:xfrm>
              <a:off x="2544" y="2064"/>
              <a:ext cx="336" cy="247"/>
              <a:chOff x="2544" y="2064"/>
              <a:chExt cx="336" cy="247"/>
            </a:xfrm>
          </p:grpSpPr>
          <p:sp>
            <p:nvSpPr>
              <p:cNvPr id="198785" name="Freeform 309"/>
              <p:cNvSpPr>
                <a:spLocks/>
              </p:cNvSpPr>
              <p:nvPr/>
            </p:nvSpPr>
            <p:spPr bwMode="auto">
              <a:xfrm>
                <a:off x="2552" y="2120"/>
                <a:ext cx="279" cy="191"/>
              </a:xfrm>
              <a:custGeom>
                <a:avLst/>
                <a:gdLst>
                  <a:gd name="T0" fmla="*/ 4350 w 137"/>
                  <a:gd name="T1" fmla="*/ 6012 h 105"/>
                  <a:gd name="T2" fmla="*/ 0 w 137"/>
                  <a:gd name="T3" fmla="*/ 0 h 105"/>
                  <a:gd name="T4" fmla="*/ 7702 w 137"/>
                  <a:gd name="T5" fmla="*/ 2166 h 105"/>
                  <a:gd name="T6" fmla="*/ 9842 w 137"/>
                  <a:gd name="T7" fmla="*/ 0 h 105"/>
                  <a:gd name="T8" fmla="*/ 13209 w 137"/>
                  <a:gd name="T9" fmla="*/ 2166 h 105"/>
                  <a:gd name="T10" fmla="*/ 19762 w 137"/>
                  <a:gd name="T11" fmla="*/ 484 h 105"/>
                  <a:gd name="T12" fmla="*/ 14258 w 137"/>
                  <a:gd name="T13" fmla="*/ 6856 h 105"/>
                  <a:gd name="T14" fmla="*/ 4350 w 137"/>
                  <a:gd name="T15" fmla="*/ 6012 h 105"/>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105"/>
                  <a:gd name="T26" fmla="*/ 137 w 137"/>
                  <a:gd name="T27" fmla="*/ 105 h 1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105">
                    <a:moveTo>
                      <a:pt x="30" y="91"/>
                    </a:moveTo>
                    <a:lnTo>
                      <a:pt x="0" y="0"/>
                    </a:lnTo>
                    <a:lnTo>
                      <a:pt x="53" y="33"/>
                    </a:lnTo>
                    <a:lnTo>
                      <a:pt x="68" y="0"/>
                    </a:lnTo>
                    <a:lnTo>
                      <a:pt x="91" y="33"/>
                    </a:lnTo>
                    <a:lnTo>
                      <a:pt x="136" y="7"/>
                    </a:lnTo>
                    <a:lnTo>
                      <a:pt x="98" y="104"/>
                    </a:lnTo>
                    <a:lnTo>
                      <a:pt x="30" y="91"/>
                    </a:lnTo>
                  </a:path>
                </a:pathLst>
              </a:custGeom>
              <a:solidFill>
                <a:srgbClr val="FFCC00"/>
              </a:solidFill>
              <a:ln w="25400" cap="rnd">
                <a:solidFill>
                  <a:schemeClr val="tx2"/>
                </a:solidFill>
                <a:round/>
                <a:headEnd/>
                <a:tailEnd/>
              </a:ln>
            </p:spPr>
            <p:txBody>
              <a:bodyPr/>
              <a:lstStyle/>
              <a:p>
                <a:endParaRPr lang="en-US">
                  <a:latin typeface="Arial" pitchFamily="34" charset="0"/>
                  <a:cs typeface="Arial" pitchFamily="34" charset="0"/>
                </a:endParaRPr>
              </a:p>
            </p:txBody>
          </p:sp>
          <p:sp>
            <p:nvSpPr>
              <p:cNvPr id="198786" name="Oval 310"/>
              <p:cNvSpPr>
                <a:spLocks noChangeArrowheads="1"/>
              </p:cNvSpPr>
              <p:nvPr/>
            </p:nvSpPr>
            <p:spPr bwMode="auto">
              <a:xfrm>
                <a:off x="2544" y="2064"/>
                <a:ext cx="48" cy="48"/>
              </a:xfrm>
              <a:prstGeom prst="ellipse">
                <a:avLst/>
              </a:prstGeom>
              <a:solidFill>
                <a:srgbClr val="FFCC00"/>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8787" name="Oval 311"/>
              <p:cNvSpPr>
                <a:spLocks noChangeArrowheads="1"/>
              </p:cNvSpPr>
              <p:nvPr/>
            </p:nvSpPr>
            <p:spPr bwMode="auto">
              <a:xfrm>
                <a:off x="2688" y="2064"/>
                <a:ext cx="48" cy="48"/>
              </a:xfrm>
              <a:prstGeom prst="ellipse">
                <a:avLst/>
              </a:prstGeom>
              <a:solidFill>
                <a:srgbClr val="FFCC00"/>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8788" name="Oval 312"/>
              <p:cNvSpPr>
                <a:spLocks noChangeArrowheads="1"/>
              </p:cNvSpPr>
              <p:nvPr/>
            </p:nvSpPr>
            <p:spPr bwMode="auto">
              <a:xfrm>
                <a:off x="2832" y="2112"/>
                <a:ext cx="48" cy="48"/>
              </a:xfrm>
              <a:prstGeom prst="ellipse">
                <a:avLst/>
              </a:prstGeom>
              <a:solidFill>
                <a:srgbClr val="FFCC00"/>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198784" name="Text Box 313"/>
            <p:cNvSpPr txBox="1">
              <a:spLocks noChangeArrowheads="1"/>
            </p:cNvSpPr>
            <p:nvPr/>
          </p:nvSpPr>
          <p:spPr bwMode="auto">
            <a:xfrm>
              <a:off x="3014" y="2042"/>
              <a:ext cx="1473" cy="233"/>
            </a:xfrm>
            <a:prstGeom prst="rect">
              <a:avLst/>
            </a:prstGeom>
            <a:solidFill>
              <a:srgbClr val="FFCC00"/>
            </a:solidFill>
            <a:ln w="9525">
              <a:noFill/>
              <a:miter lim="800000"/>
              <a:headEnd/>
              <a:tailEnd/>
            </a:ln>
          </p:spPr>
          <p:txBody>
            <a:bodyPr wrap="none">
              <a:spAutoFit/>
            </a:bodyPr>
            <a:lstStyle/>
            <a:p>
              <a:pPr eaLnBrk="1" hangingPunct="1">
                <a:spcBef>
                  <a:spcPct val="0"/>
                </a:spcBef>
              </a:pPr>
              <a:r>
                <a:rPr lang="en-US" sz="1800" b="0">
                  <a:solidFill>
                    <a:schemeClr val="tx1"/>
                  </a:solidFill>
                  <a:latin typeface="Arial" pitchFamily="34" charset="0"/>
                  <a:cs typeface="Arial" pitchFamily="34" charset="0"/>
                </a:rPr>
                <a:t>Optimal performance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heckerboard(across)">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4"/>
          <p:cNvSpPr>
            <a:spLocks noGrp="1"/>
          </p:cNvSpPr>
          <p:nvPr>
            <p:ph type="ftr" sz="quarter" idx="10"/>
          </p:nvPr>
        </p:nvSpPr>
        <p:spPr/>
        <p:txBody>
          <a:bodyPr/>
          <a:lstStyle/>
          <a:p>
            <a:pPr>
              <a:defRPr/>
            </a:pPr>
            <a:r>
              <a:rPr lang="en-US"/>
              <a:t>Art of Multiprocessor Programming</a:t>
            </a:r>
          </a:p>
        </p:txBody>
      </p:sp>
      <p:sp>
        <p:nvSpPr>
          <p:cNvPr id="14" name="Slide Number Placeholder 5"/>
          <p:cNvSpPr>
            <a:spLocks noGrp="1"/>
          </p:cNvSpPr>
          <p:nvPr>
            <p:ph type="sldNum" sz="quarter" idx="11"/>
          </p:nvPr>
        </p:nvSpPr>
        <p:spPr/>
        <p:txBody>
          <a:bodyPr/>
          <a:lstStyle/>
          <a:p>
            <a:pPr>
              <a:defRPr/>
            </a:pPr>
            <a:fld id="{119845FD-40B5-45FE-AA35-25E0DAEA7E18}" type="slidenum">
              <a:rPr lang="en-US"/>
              <a:pPr>
                <a:defRPr/>
              </a:pPr>
              <a:t>201</a:t>
            </a:fld>
            <a:endParaRPr lang="en-US"/>
          </a:p>
        </p:txBody>
      </p:sp>
      <p:sp>
        <p:nvSpPr>
          <p:cNvPr id="199684" name="Rectangle 2"/>
          <p:cNvSpPr>
            <a:spLocks noGrp="1" noChangeArrowheads="1"/>
          </p:cNvSpPr>
          <p:nvPr>
            <p:ph type="title"/>
          </p:nvPr>
        </p:nvSpPr>
        <p:spPr>
          <a:xfrm>
            <a:off x="685800" y="457200"/>
            <a:ext cx="7772400" cy="1143000"/>
          </a:xfrm>
        </p:spPr>
        <p:txBody>
          <a:bodyPr/>
          <a:lstStyle/>
          <a:p>
            <a:r>
              <a:rPr lang="en-US"/>
              <a:t>Throughput vs. Size</a:t>
            </a:r>
          </a:p>
        </p:txBody>
      </p:sp>
      <p:grpSp>
        <p:nvGrpSpPr>
          <p:cNvPr id="199685" name="Group 14"/>
          <p:cNvGrpSpPr>
            <a:grpSpLocks/>
          </p:cNvGrpSpPr>
          <p:nvPr/>
        </p:nvGrpSpPr>
        <p:grpSpPr bwMode="auto">
          <a:xfrm>
            <a:off x="1746175" y="1905000"/>
            <a:ext cx="5815089" cy="3831755"/>
            <a:chOff x="1740434" y="1905000"/>
            <a:chExt cx="4857216" cy="3011218"/>
          </a:xfrm>
        </p:grpSpPr>
        <p:sp>
          <p:nvSpPr>
            <p:cNvPr id="199686" name="Line 3"/>
            <p:cNvSpPr>
              <a:spLocks noChangeShapeType="1"/>
            </p:cNvSpPr>
            <p:nvPr/>
          </p:nvSpPr>
          <p:spPr bwMode="auto">
            <a:xfrm flipV="1">
              <a:off x="2324100" y="1917700"/>
              <a:ext cx="0" cy="273050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9687" name="Line 4"/>
            <p:cNvSpPr>
              <a:spLocks noChangeShapeType="1"/>
            </p:cNvSpPr>
            <p:nvPr/>
          </p:nvSpPr>
          <p:spPr bwMode="auto">
            <a:xfrm>
              <a:off x="2298700" y="4635500"/>
              <a:ext cx="2794000" cy="12700"/>
            </a:xfrm>
            <a:prstGeom prst="line">
              <a:avLst/>
            </a:prstGeom>
            <a:noFill/>
            <a:ln w="38100">
              <a:solidFill>
                <a:srgbClr val="3399FF"/>
              </a:solidFill>
              <a:round/>
              <a:headEnd/>
              <a:tailEnd type="triangle" w="med" len="med"/>
            </a:ln>
          </p:spPr>
          <p:txBody>
            <a:bodyPr wrap="none" anchor="ctr"/>
            <a:lstStyle/>
            <a:p>
              <a:endParaRPr lang="en-US">
                <a:latin typeface="Arial" pitchFamily="34" charset="0"/>
                <a:cs typeface="Arial" pitchFamily="34" charset="0"/>
              </a:endParaRPr>
            </a:p>
          </p:txBody>
        </p:sp>
        <p:sp>
          <p:nvSpPr>
            <p:cNvPr id="199688" name="Freeform 5"/>
            <p:cNvSpPr>
              <a:spLocks/>
            </p:cNvSpPr>
            <p:nvPr/>
          </p:nvSpPr>
          <p:spPr bwMode="auto">
            <a:xfrm>
              <a:off x="2400300" y="1905000"/>
              <a:ext cx="2641600" cy="2717800"/>
            </a:xfrm>
            <a:custGeom>
              <a:avLst/>
              <a:gdLst>
                <a:gd name="T0" fmla="*/ 0 w 1664"/>
                <a:gd name="T1" fmla="*/ 2147483647 h 1712"/>
                <a:gd name="T2" fmla="*/ 2147483647 w 1664"/>
                <a:gd name="T3" fmla="*/ 2147483647 h 1712"/>
                <a:gd name="T4" fmla="*/ 2147483647 w 1664"/>
                <a:gd name="T5" fmla="*/ 2147483647 h 1712"/>
                <a:gd name="T6" fmla="*/ 2147483647 w 1664"/>
                <a:gd name="T7" fmla="*/ 2147483647 h 1712"/>
                <a:gd name="T8" fmla="*/ 2147483647 w 1664"/>
                <a:gd name="T9" fmla="*/ 2147483647 h 1712"/>
                <a:gd name="T10" fmla="*/ 2147483647 w 1664"/>
                <a:gd name="T11" fmla="*/ 2147483647 h 1712"/>
                <a:gd name="T12" fmla="*/ 2147483647 w 1664"/>
                <a:gd name="T13" fmla="*/ 2147483647 h 1712"/>
                <a:gd name="T14" fmla="*/ 2147483647 w 1664"/>
                <a:gd name="T15" fmla="*/ 0 h 1712"/>
                <a:gd name="T16" fmla="*/ 0 60000 65536"/>
                <a:gd name="T17" fmla="*/ 0 60000 65536"/>
                <a:gd name="T18" fmla="*/ 0 60000 65536"/>
                <a:gd name="T19" fmla="*/ 0 60000 65536"/>
                <a:gd name="T20" fmla="*/ 0 60000 65536"/>
                <a:gd name="T21" fmla="*/ 0 60000 65536"/>
                <a:gd name="T22" fmla="*/ 0 60000 65536"/>
                <a:gd name="T23" fmla="*/ 0 60000 65536"/>
                <a:gd name="T24" fmla="*/ 0 w 1664"/>
                <a:gd name="T25" fmla="*/ 0 h 1712"/>
                <a:gd name="T26" fmla="*/ 1664 w 1664"/>
                <a:gd name="T27" fmla="*/ 1712 h 17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64" h="1712">
                  <a:moveTo>
                    <a:pt x="0" y="1712"/>
                  </a:moveTo>
                  <a:cubicBezTo>
                    <a:pt x="8" y="1694"/>
                    <a:pt x="17" y="1677"/>
                    <a:pt x="40" y="1656"/>
                  </a:cubicBezTo>
                  <a:cubicBezTo>
                    <a:pt x="63" y="1635"/>
                    <a:pt x="91" y="1637"/>
                    <a:pt x="136" y="1584"/>
                  </a:cubicBezTo>
                  <a:cubicBezTo>
                    <a:pt x="181" y="1531"/>
                    <a:pt x="228" y="1409"/>
                    <a:pt x="312" y="1336"/>
                  </a:cubicBezTo>
                  <a:cubicBezTo>
                    <a:pt x="396" y="1263"/>
                    <a:pt x="527" y="1239"/>
                    <a:pt x="640" y="1144"/>
                  </a:cubicBezTo>
                  <a:cubicBezTo>
                    <a:pt x="753" y="1049"/>
                    <a:pt x="876" y="843"/>
                    <a:pt x="992" y="768"/>
                  </a:cubicBezTo>
                  <a:cubicBezTo>
                    <a:pt x="1108" y="693"/>
                    <a:pt x="1224" y="824"/>
                    <a:pt x="1336" y="696"/>
                  </a:cubicBezTo>
                  <a:cubicBezTo>
                    <a:pt x="1448" y="568"/>
                    <a:pt x="1609" y="112"/>
                    <a:pt x="1664" y="0"/>
                  </a:cubicBezTo>
                </a:path>
              </a:pathLst>
            </a:custGeom>
            <a:noFill/>
            <a:ln w="38100">
              <a:solidFill>
                <a:srgbClr val="FF0000"/>
              </a:solidFill>
              <a:round/>
              <a:headEnd/>
              <a:tailEnd/>
            </a:ln>
          </p:spPr>
          <p:txBody>
            <a:bodyPr wrap="none" anchor="ctr"/>
            <a:lstStyle/>
            <a:p>
              <a:endParaRPr lang="en-US">
                <a:latin typeface="Arial" pitchFamily="34" charset="0"/>
                <a:cs typeface="Arial" pitchFamily="34" charset="0"/>
              </a:endParaRPr>
            </a:p>
          </p:txBody>
        </p:sp>
        <p:sp>
          <p:nvSpPr>
            <p:cNvPr id="199689" name="Rectangle 6"/>
            <p:cNvSpPr>
              <a:spLocks noChangeArrowheads="1"/>
            </p:cNvSpPr>
            <p:nvPr/>
          </p:nvSpPr>
          <p:spPr bwMode="auto">
            <a:xfrm>
              <a:off x="4692650" y="1917700"/>
              <a:ext cx="1905000" cy="266056"/>
            </a:xfrm>
            <a:prstGeom prst="rect">
              <a:avLst/>
            </a:prstGeom>
            <a:noFill/>
            <a:ln w="9525">
              <a:noFill/>
              <a:miter lim="800000"/>
              <a:headEnd/>
              <a:tailEnd/>
            </a:ln>
          </p:spPr>
          <p:txBody>
            <a:bodyPr>
              <a:spAutoFit/>
            </a:bodyPr>
            <a:lstStyle/>
            <a:p>
              <a:pPr algn="ctr" eaLnBrk="1" hangingPunct="1">
                <a:spcBef>
                  <a:spcPct val="0"/>
                </a:spcBef>
              </a:pPr>
              <a:r>
                <a:rPr lang="en-US" sz="1600" b="0">
                  <a:solidFill>
                    <a:srgbClr val="FF0000"/>
                  </a:solidFill>
                  <a:latin typeface="Arial" pitchFamily="34" charset="0"/>
                  <a:cs typeface="Arial" pitchFamily="34" charset="0"/>
                </a:rPr>
                <a:t>Bitonic[16]</a:t>
              </a:r>
            </a:p>
          </p:txBody>
        </p:sp>
        <p:sp>
          <p:nvSpPr>
            <p:cNvPr id="199690" name="Freeform 7"/>
            <p:cNvSpPr>
              <a:spLocks/>
            </p:cNvSpPr>
            <p:nvPr/>
          </p:nvSpPr>
          <p:spPr bwMode="auto">
            <a:xfrm>
              <a:off x="2336800" y="3886200"/>
              <a:ext cx="2692400" cy="723900"/>
            </a:xfrm>
            <a:custGeom>
              <a:avLst/>
              <a:gdLst>
                <a:gd name="T0" fmla="*/ 0 w 1696"/>
                <a:gd name="T1" fmla="*/ 2147483647 h 456"/>
                <a:gd name="T2" fmla="*/ 2147483647 w 1696"/>
                <a:gd name="T3" fmla="*/ 2147483647 h 456"/>
                <a:gd name="T4" fmla="*/ 2147483647 w 1696"/>
                <a:gd name="T5" fmla="*/ 2147483647 h 456"/>
                <a:gd name="T6" fmla="*/ 2147483647 w 1696"/>
                <a:gd name="T7" fmla="*/ 2147483647 h 456"/>
                <a:gd name="T8" fmla="*/ 2147483647 w 1696"/>
                <a:gd name="T9" fmla="*/ 2147483647 h 456"/>
                <a:gd name="T10" fmla="*/ 2147483647 w 1696"/>
                <a:gd name="T11" fmla="*/ 0 h 456"/>
                <a:gd name="T12" fmla="*/ 2147483647 w 1696"/>
                <a:gd name="T13" fmla="*/ 2147483647 h 456"/>
                <a:gd name="T14" fmla="*/ 0 60000 65536"/>
                <a:gd name="T15" fmla="*/ 0 60000 65536"/>
                <a:gd name="T16" fmla="*/ 0 60000 65536"/>
                <a:gd name="T17" fmla="*/ 0 60000 65536"/>
                <a:gd name="T18" fmla="*/ 0 60000 65536"/>
                <a:gd name="T19" fmla="*/ 0 60000 65536"/>
                <a:gd name="T20" fmla="*/ 0 60000 65536"/>
                <a:gd name="T21" fmla="*/ 0 w 1696"/>
                <a:gd name="T22" fmla="*/ 0 h 456"/>
                <a:gd name="T23" fmla="*/ 1696 w 1696"/>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96" h="456">
                  <a:moveTo>
                    <a:pt x="0" y="456"/>
                  </a:moveTo>
                  <a:cubicBezTo>
                    <a:pt x="25" y="369"/>
                    <a:pt x="51" y="283"/>
                    <a:pt x="80" y="216"/>
                  </a:cubicBezTo>
                  <a:cubicBezTo>
                    <a:pt x="109" y="149"/>
                    <a:pt x="132" y="81"/>
                    <a:pt x="176" y="56"/>
                  </a:cubicBezTo>
                  <a:cubicBezTo>
                    <a:pt x="220" y="31"/>
                    <a:pt x="257" y="65"/>
                    <a:pt x="344" y="64"/>
                  </a:cubicBezTo>
                  <a:cubicBezTo>
                    <a:pt x="431" y="63"/>
                    <a:pt x="580" y="59"/>
                    <a:pt x="696" y="48"/>
                  </a:cubicBezTo>
                  <a:cubicBezTo>
                    <a:pt x="812" y="37"/>
                    <a:pt x="873" y="0"/>
                    <a:pt x="1040" y="0"/>
                  </a:cubicBezTo>
                  <a:cubicBezTo>
                    <a:pt x="1207" y="0"/>
                    <a:pt x="1451" y="24"/>
                    <a:pt x="1696" y="48"/>
                  </a:cubicBezTo>
                </a:path>
              </a:pathLst>
            </a:custGeom>
            <a:noFill/>
            <a:ln w="38100">
              <a:solidFill>
                <a:srgbClr val="FFCC00"/>
              </a:solidFill>
              <a:round/>
              <a:headEnd/>
              <a:tailEnd/>
            </a:ln>
          </p:spPr>
          <p:txBody>
            <a:bodyPr wrap="none" anchor="ctr"/>
            <a:lstStyle/>
            <a:p>
              <a:endParaRPr lang="en-US">
                <a:latin typeface="Arial" pitchFamily="34" charset="0"/>
                <a:cs typeface="Arial" pitchFamily="34" charset="0"/>
              </a:endParaRPr>
            </a:p>
          </p:txBody>
        </p:sp>
        <p:sp>
          <p:nvSpPr>
            <p:cNvPr id="199691" name="Rectangle 8"/>
            <p:cNvSpPr>
              <a:spLocks noChangeArrowheads="1"/>
            </p:cNvSpPr>
            <p:nvPr/>
          </p:nvSpPr>
          <p:spPr bwMode="auto">
            <a:xfrm>
              <a:off x="4692650" y="3937000"/>
              <a:ext cx="1905000" cy="266056"/>
            </a:xfrm>
            <a:prstGeom prst="rect">
              <a:avLst/>
            </a:prstGeom>
            <a:noFill/>
            <a:ln w="9525">
              <a:noFill/>
              <a:miter lim="800000"/>
              <a:headEnd/>
              <a:tailEnd/>
            </a:ln>
          </p:spPr>
          <p:txBody>
            <a:bodyPr>
              <a:spAutoFit/>
            </a:bodyPr>
            <a:lstStyle/>
            <a:p>
              <a:pPr algn="ctr" eaLnBrk="1" hangingPunct="1">
                <a:spcBef>
                  <a:spcPct val="0"/>
                </a:spcBef>
              </a:pPr>
              <a:r>
                <a:rPr lang="en-US" sz="1600" b="0">
                  <a:solidFill>
                    <a:srgbClr val="FFCC00"/>
                  </a:solidFill>
                  <a:latin typeface="Arial" pitchFamily="34" charset="0"/>
                  <a:cs typeface="Arial" pitchFamily="34" charset="0"/>
                </a:rPr>
                <a:t>Bitonic[4]</a:t>
              </a:r>
            </a:p>
          </p:txBody>
        </p:sp>
        <p:sp>
          <p:nvSpPr>
            <p:cNvPr id="199692" name="Freeform 9"/>
            <p:cNvSpPr>
              <a:spLocks/>
            </p:cNvSpPr>
            <p:nvPr/>
          </p:nvSpPr>
          <p:spPr bwMode="auto">
            <a:xfrm>
              <a:off x="2349500" y="3109913"/>
              <a:ext cx="2705100" cy="1525587"/>
            </a:xfrm>
            <a:custGeom>
              <a:avLst/>
              <a:gdLst>
                <a:gd name="T0" fmla="*/ 0 w 1704"/>
                <a:gd name="T1" fmla="*/ 2147483647 h 961"/>
                <a:gd name="T2" fmla="*/ 2147483647 w 1704"/>
                <a:gd name="T3" fmla="*/ 2147483647 h 961"/>
                <a:gd name="T4" fmla="*/ 2147483647 w 1704"/>
                <a:gd name="T5" fmla="*/ 2147483647 h 961"/>
                <a:gd name="T6" fmla="*/ 2147483647 w 1704"/>
                <a:gd name="T7" fmla="*/ 2147483647 h 961"/>
                <a:gd name="T8" fmla="*/ 2147483647 w 1704"/>
                <a:gd name="T9" fmla="*/ 2147483647 h 961"/>
                <a:gd name="T10" fmla="*/ 2147483647 w 1704"/>
                <a:gd name="T11" fmla="*/ 2147483647 h 961"/>
                <a:gd name="T12" fmla="*/ 0 60000 65536"/>
                <a:gd name="T13" fmla="*/ 0 60000 65536"/>
                <a:gd name="T14" fmla="*/ 0 60000 65536"/>
                <a:gd name="T15" fmla="*/ 0 60000 65536"/>
                <a:gd name="T16" fmla="*/ 0 60000 65536"/>
                <a:gd name="T17" fmla="*/ 0 60000 65536"/>
                <a:gd name="T18" fmla="*/ 0 w 1704"/>
                <a:gd name="T19" fmla="*/ 0 h 961"/>
                <a:gd name="T20" fmla="*/ 1704 w 1704"/>
                <a:gd name="T21" fmla="*/ 961 h 961"/>
              </a:gdLst>
              <a:ahLst/>
              <a:cxnLst>
                <a:cxn ang="T12">
                  <a:pos x="T0" y="T1"/>
                </a:cxn>
                <a:cxn ang="T13">
                  <a:pos x="T2" y="T3"/>
                </a:cxn>
                <a:cxn ang="T14">
                  <a:pos x="T4" y="T5"/>
                </a:cxn>
                <a:cxn ang="T15">
                  <a:pos x="T6" y="T7"/>
                </a:cxn>
                <a:cxn ang="T16">
                  <a:pos x="T8" y="T9"/>
                </a:cxn>
                <a:cxn ang="T17">
                  <a:pos x="T10" y="T11"/>
                </a:cxn>
              </a:cxnLst>
              <a:rect l="T18" t="T19" r="T20" b="T21"/>
              <a:pathLst>
                <a:path w="1704" h="961">
                  <a:moveTo>
                    <a:pt x="0" y="961"/>
                  </a:moveTo>
                  <a:cubicBezTo>
                    <a:pt x="59" y="821"/>
                    <a:pt x="119" y="682"/>
                    <a:pt x="184" y="617"/>
                  </a:cubicBezTo>
                  <a:cubicBezTo>
                    <a:pt x="249" y="552"/>
                    <a:pt x="307" y="592"/>
                    <a:pt x="392" y="569"/>
                  </a:cubicBezTo>
                  <a:cubicBezTo>
                    <a:pt x="477" y="546"/>
                    <a:pt x="589" y="565"/>
                    <a:pt x="696" y="481"/>
                  </a:cubicBezTo>
                  <a:cubicBezTo>
                    <a:pt x="803" y="397"/>
                    <a:pt x="864" y="130"/>
                    <a:pt x="1032" y="65"/>
                  </a:cubicBezTo>
                  <a:cubicBezTo>
                    <a:pt x="1200" y="0"/>
                    <a:pt x="1452" y="44"/>
                    <a:pt x="1704" y="89"/>
                  </a:cubicBezTo>
                </a:path>
              </a:pathLst>
            </a:custGeom>
            <a:noFill/>
            <a:ln w="38100">
              <a:solidFill>
                <a:schemeClr val="accent1"/>
              </a:solidFill>
              <a:round/>
              <a:headEnd/>
              <a:tailEnd/>
            </a:ln>
          </p:spPr>
          <p:txBody>
            <a:bodyPr wrap="none" anchor="ctr"/>
            <a:lstStyle/>
            <a:p>
              <a:endParaRPr lang="en-US">
                <a:latin typeface="Arial" pitchFamily="34" charset="0"/>
                <a:cs typeface="Arial" pitchFamily="34" charset="0"/>
              </a:endParaRPr>
            </a:p>
          </p:txBody>
        </p:sp>
        <p:sp>
          <p:nvSpPr>
            <p:cNvPr id="199693" name="Rectangle 10"/>
            <p:cNvSpPr>
              <a:spLocks noChangeArrowheads="1"/>
            </p:cNvSpPr>
            <p:nvPr/>
          </p:nvSpPr>
          <p:spPr bwMode="auto">
            <a:xfrm>
              <a:off x="4692650" y="3225800"/>
              <a:ext cx="1905000" cy="266056"/>
            </a:xfrm>
            <a:prstGeom prst="rect">
              <a:avLst/>
            </a:prstGeom>
            <a:noFill/>
            <a:ln w="9525">
              <a:noFill/>
              <a:miter lim="800000"/>
              <a:headEnd/>
              <a:tailEnd/>
            </a:ln>
          </p:spPr>
          <p:txBody>
            <a:bodyPr>
              <a:spAutoFit/>
            </a:bodyPr>
            <a:lstStyle/>
            <a:p>
              <a:pPr algn="ctr" eaLnBrk="1" hangingPunct="1">
                <a:spcBef>
                  <a:spcPct val="0"/>
                </a:spcBef>
              </a:pPr>
              <a:r>
                <a:rPr lang="en-US" sz="1600" b="0">
                  <a:solidFill>
                    <a:schemeClr val="accent1"/>
                  </a:solidFill>
                  <a:latin typeface="Arial" pitchFamily="34" charset="0"/>
                  <a:cs typeface="Arial" pitchFamily="34" charset="0"/>
                </a:rPr>
                <a:t>Bitonic[8]</a:t>
              </a:r>
            </a:p>
          </p:txBody>
        </p:sp>
        <p:sp>
          <p:nvSpPr>
            <p:cNvPr id="199694" name="Text Box 11"/>
            <p:cNvSpPr txBox="1">
              <a:spLocks noChangeArrowheads="1"/>
            </p:cNvSpPr>
            <p:nvPr/>
          </p:nvSpPr>
          <p:spPr bwMode="auto">
            <a:xfrm>
              <a:off x="2715801" y="4625975"/>
              <a:ext cx="1835973" cy="290243"/>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Number processors</a:t>
              </a:r>
            </a:p>
          </p:txBody>
        </p:sp>
        <p:sp>
          <p:nvSpPr>
            <p:cNvPr id="199695" name="Text Box 12"/>
            <p:cNvSpPr txBox="1">
              <a:spLocks noChangeArrowheads="1"/>
            </p:cNvSpPr>
            <p:nvPr/>
          </p:nvSpPr>
          <p:spPr bwMode="auto">
            <a:xfrm rot="16200000">
              <a:off x="1358539" y="3025515"/>
              <a:ext cx="1072285" cy="308495"/>
            </a:xfrm>
            <a:prstGeom prst="rect">
              <a:avLst/>
            </a:prstGeom>
            <a:noFill/>
            <a:ln w="9525" algn="ctr">
              <a:noFill/>
              <a:miter lim="800000"/>
              <a:headEnd/>
              <a:tailEnd/>
            </a:ln>
          </p:spPr>
          <p:txBody>
            <a:bodyPr wrap="none">
              <a:spAutoFit/>
            </a:bodyPr>
            <a:lstStyle/>
            <a:p>
              <a:pPr algn="ctr">
                <a:spcBef>
                  <a:spcPct val="0"/>
                </a:spcBef>
              </a:pPr>
              <a:r>
                <a:rPr lang="en-US" sz="1800" b="0">
                  <a:solidFill>
                    <a:srgbClr val="3399FF"/>
                  </a:solidFill>
                  <a:latin typeface="Arial" pitchFamily="34" charset="0"/>
                  <a:cs typeface="Arial" pitchFamily="34" charset="0"/>
                </a:rPr>
                <a:t>Throughput</a:t>
              </a:r>
            </a:p>
          </p:txBody>
        </p:sp>
      </p:gr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1"/>
          <p:cNvGrpSpPr>
            <a:grpSpLocks/>
          </p:cNvGrpSpPr>
          <p:nvPr/>
        </p:nvGrpSpPr>
        <p:grpSpPr bwMode="auto">
          <a:xfrm>
            <a:off x="2017713" y="3625850"/>
            <a:ext cx="1363662" cy="1293813"/>
            <a:chOff x="2162968" y="5564188"/>
            <a:chExt cx="1363663" cy="1293812"/>
          </a:xfrm>
        </p:grpSpPr>
        <p:sp>
          <p:nvSpPr>
            <p:cNvPr id="200798" name="Line 7"/>
            <p:cNvSpPr>
              <a:spLocks noChangeShapeType="1"/>
            </p:cNvSpPr>
            <p:nvPr/>
          </p:nvSpPr>
          <p:spPr bwMode="auto">
            <a:xfrm>
              <a:off x="2162968" y="6020931"/>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9" name="Line 8"/>
            <p:cNvSpPr>
              <a:spLocks noChangeShapeType="1"/>
            </p:cNvSpPr>
            <p:nvPr/>
          </p:nvSpPr>
          <p:spPr bwMode="auto">
            <a:xfrm>
              <a:off x="2162968" y="6422257"/>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00" name="Oval 9"/>
            <p:cNvSpPr>
              <a:spLocks noChangeArrowheads="1"/>
            </p:cNvSpPr>
            <p:nvPr/>
          </p:nvSpPr>
          <p:spPr bwMode="auto">
            <a:xfrm>
              <a:off x="2903378" y="5981848"/>
              <a:ext cx="196842" cy="96249"/>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0801" name="Oval 10"/>
            <p:cNvSpPr>
              <a:spLocks noChangeArrowheads="1"/>
            </p:cNvSpPr>
            <p:nvPr/>
          </p:nvSpPr>
          <p:spPr bwMode="auto">
            <a:xfrm>
              <a:off x="2903378" y="6380258"/>
              <a:ext cx="196842" cy="96248"/>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0802" name="Line 12"/>
            <p:cNvSpPr>
              <a:spLocks noChangeShapeType="1"/>
            </p:cNvSpPr>
            <p:nvPr/>
          </p:nvSpPr>
          <p:spPr bwMode="auto">
            <a:xfrm>
              <a:off x="2162968" y="5691936"/>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03" name="Line 13"/>
            <p:cNvSpPr>
              <a:spLocks noChangeShapeType="1"/>
            </p:cNvSpPr>
            <p:nvPr/>
          </p:nvSpPr>
          <p:spPr bwMode="auto">
            <a:xfrm>
              <a:off x="2162968" y="6739002"/>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04" name="AutoShape 14"/>
            <p:cNvSpPr>
              <a:spLocks noChangeArrowheads="1"/>
            </p:cNvSpPr>
            <p:nvPr/>
          </p:nvSpPr>
          <p:spPr bwMode="auto">
            <a:xfrm>
              <a:off x="2308109" y="6259510"/>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05" name="AutoShape 15"/>
            <p:cNvSpPr>
              <a:spLocks noChangeArrowheads="1"/>
            </p:cNvSpPr>
            <p:nvPr/>
          </p:nvSpPr>
          <p:spPr bwMode="auto">
            <a:xfrm>
              <a:off x="2303366" y="5564188"/>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06" name="AutoShape 16"/>
            <p:cNvSpPr>
              <a:spLocks noChangeArrowheads="1"/>
            </p:cNvSpPr>
            <p:nvPr/>
          </p:nvSpPr>
          <p:spPr bwMode="auto">
            <a:xfrm>
              <a:off x="2628748" y="5915932"/>
              <a:ext cx="111465" cy="599073"/>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07" name="AutoShape 17"/>
            <p:cNvSpPr>
              <a:spLocks noChangeArrowheads="1"/>
            </p:cNvSpPr>
            <p:nvPr/>
          </p:nvSpPr>
          <p:spPr bwMode="auto">
            <a:xfrm>
              <a:off x="2948912" y="5572938"/>
              <a:ext cx="111464" cy="1285062"/>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08" name="AutoShape 18"/>
            <p:cNvSpPr>
              <a:spLocks noChangeArrowheads="1"/>
            </p:cNvSpPr>
            <p:nvPr/>
          </p:nvSpPr>
          <p:spPr bwMode="auto">
            <a:xfrm>
              <a:off x="3269551" y="6259510"/>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09" name="AutoShape 19"/>
            <p:cNvSpPr>
              <a:spLocks noChangeArrowheads="1"/>
            </p:cNvSpPr>
            <p:nvPr/>
          </p:nvSpPr>
          <p:spPr bwMode="auto">
            <a:xfrm>
              <a:off x="3269551" y="5572938"/>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10" name="Line 20"/>
            <p:cNvSpPr>
              <a:spLocks noChangeShapeType="1"/>
            </p:cNvSpPr>
            <p:nvPr/>
          </p:nvSpPr>
          <p:spPr bwMode="auto">
            <a:xfrm>
              <a:off x="2326133" y="5704186"/>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811" name="Line 21"/>
            <p:cNvSpPr>
              <a:spLocks noChangeShapeType="1"/>
            </p:cNvSpPr>
            <p:nvPr/>
          </p:nvSpPr>
          <p:spPr bwMode="auto">
            <a:xfrm>
              <a:off x="2328979" y="67436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812" name="Line 22"/>
            <p:cNvSpPr>
              <a:spLocks noChangeShapeType="1"/>
            </p:cNvSpPr>
            <p:nvPr/>
          </p:nvSpPr>
          <p:spPr bwMode="auto">
            <a:xfrm>
              <a:off x="2953655" y="67436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813" name="Line 24"/>
            <p:cNvSpPr>
              <a:spLocks noChangeShapeType="1"/>
            </p:cNvSpPr>
            <p:nvPr/>
          </p:nvSpPr>
          <p:spPr bwMode="auto">
            <a:xfrm>
              <a:off x="3282357" y="5704186"/>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814" name="Line 25"/>
            <p:cNvSpPr>
              <a:spLocks noChangeShapeType="1"/>
            </p:cNvSpPr>
            <p:nvPr/>
          </p:nvSpPr>
          <p:spPr bwMode="auto">
            <a:xfrm>
              <a:off x="3282357" y="67401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815" name="Oval 61"/>
            <p:cNvSpPr>
              <a:spLocks noChangeArrowheads="1"/>
            </p:cNvSpPr>
            <p:nvPr/>
          </p:nvSpPr>
          <p:spPr bwMode="auto">
            <a:xfrm>
              <a:off x="2327082" y="5645853"/>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16" name="Oval 62"/>
            <p:cNvSpPr>
              <a:spLocks noChangeArrowheads="1"/>
            </p:cNvSpPr>
            <p:nvPr/>
          </p:nvSpPr>
          <p:spPr bwMode="auto">
            <a:xfrm>
              <a:off x="2327082" y="597718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17" name="Oval 63"/>
            <p:cNvSpPr>
              <a:spLocks noChangeArrowheads="1"/>
            </p:cNvSpPr>
            <p:nvPr/>
          </p:nvSpPr>
          <p:spPr bwMode="auto">
            <a:xfrm>
              <a:off x="2327082" y="6378508"/>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18" name="Oval 64"/>
            <p:cNvSpPr>
              <a:spLocks noChangeArrowheads="1"/>
            </p:cNvSpPr>
            <p:nvPr/>
          </p:nvSpPr>
          <p:spPr bwMode="auto">
            <a:xfrm>
              <a:off x="2327082"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19" name="Oval 65"/>
            <p:cNvSpPr>
              <a:spLocks noChangeArrowheads="1"/>
            </p:cNvSpPr>
            <p:nvPr/>
          </p:nvSpPr>
          <p:spPr bwMode="auto">
            <a:xfrm>
              <a:off x="2647720" y="598593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20" name="Oval 66"/>
            <p:cNvSpPr>
              <a:spLocks noChangeArrowheads="1"/>
            </p:cNvSpPr>
            <p:nvPr/>
          </p:nvSpPr>
          <p:spPr bwMode="auto">
            <a:xfrm>
              <a:off x="2647720" y="638259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21" name="Oval 67"/>
            <p:cNvSpPr>
              <a:spLocks noChangeArrowheads="1"/>
            </p:cNvSpPr>
            <p:nvPr/>
          </p:nvSpPr>
          <p:spPr bwMode="auto">
            <a:xfrm>
              <a:off x="2970731" y="5644687"/>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22" name="Oval 68"/>
            <p:cNvSpPr>
              <a:spLocks noChangeArrowheads="1"/>
            </p:cNvSpPr>
            <p:nvPr/>
          </p:nvSpPr>
          <p:spPr bwMode="auto">
            <a:xfrm>
              <a:off x="2967885"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23" name="Oval 69"/>
            <p:cNvSpPr>
              <a:spLocks noChangeArrowheads="1"/>
            </p:cNvSpPr>
            <p:nvPr/>
          </p:nvSpPr>
          <p:spPr bwMode="auto">
            <a:xfrm>
              <a:off x="3282832" y="5650520"/>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24" name="Oval 70"/>
            <p:cNvSpPr>
              <a:spLocks noChangeArrowheads="1"/>
            </p:cNvSpPr>
            <p:nvPr/>
          </p:nvSpPr>
          <p:spPr bwMode="auto">
            <a:xfrm>
              <a:off x="3282832" y="5972515"/>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25" name="Oval 71"/>
            <p:cNvSpPr>
              <a:spLocks noChangeArrowheads="1"/>
            </p:cNvSpPr>
            <p:nvPr/>
          </p:nvSpPr>
          <p:spPr bwMode="auto">
            <a:xfrm>
              <a:off x="3282832" y="6378508"/>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26" name="Oval 72"/>
            <p:cNvSpPr>
              <a:spLocks noChangeArrowheads="1"/>
            </p:cNvSpPr>
            <p:nvPr/>
          </p:nvSpPr>
          <p:spPr bwMode="auto">
            <a:xfrm>
              <a:off x="3282832"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827" name="Line 23"/>
            <p:cNvSpPr>
              <a:spLocks noChangeShapeType="1"/>
            </p:cNvSpPr>
            <p:nvPr/>
          </p:nvSpPr>
          <p:spPr bwMode="auto">
            <a:xfrm>
              <a:off x="2647720" y="6027347"/>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grpSp>
      <p:grpSp>
        <p:nvGrpSpPr>
          <p:cNvPr id="3" name="Group 92"/>
          <p:cNvGrpSpPr>
            <a:grpSpLocks/>
          </p:cNvGrpSpPr>
          <p:nvPr/>
        </p:nvGrpSpPr>
        <p:grpSpPr bwMode="auto">
          <a:xfrm>
            <a:off x="5519738" y="3155950"/>
            <a:ext cx="1363662" cy="1293813"/>
            <a:chOff x="2162968" y="5564188"/>
            <a:chExt cx="1363663" cy="1293812"/>
          </a:xfrm>
        </p:grpSpPr>
        <p:sp>
          <p:nvSpPr>
            <p:cNvPr id="200768" name="Line 7"/>
            <p:cNvSpPr>
              <a:spLocks noChangeShapeType="1"/>
            </p:cNvSpPr>
            <p:nvPr/>
          </p:nvSpPr>
          <p:spPr bwMode="auto">
            <a:xfrm>
              <a:off x="2162968" y="6020931"/>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9" name="Line 8"/>
            <p:cNvSpPr>
              <a:spLocks noChangeShapeType="1"/>
            </p:cNvSpPr>
            <p:nvPr/>
          </p:nvSpPr>
          <p:spPr bwMode="auto">
            <a:xfrm>
              <a:off x="2162968" y="6422257"/>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70" name="Oval 9"/>
            <p:cNvSpPr>
              <a:spLocks noChangeArrowheads="1"/>
            </p:cNvSpPr>
            <p:nvPr/>
          </p:nvSpPr>
          <p:spPr bwMode="auto">
            <a:xfrm>
              <a:off x="2903378" y="5981848"/>
              <a:ext cx="196842" cy="96249"/>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0771" name="Oval 10"/>
            <p:cNvSpPr>
              <a:spLocks noChangeArrowheads="1"/>
            </p:cNvSpPr>
            <p:nvPr/>
          </p:nvSpPr>
          <p:spPr bwMode="auto">
            <a:xfrm>
              <a:off x="2903378" y="6380258"/>
              <a:ext cx="196842" cy="96248"/>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00772" name="Line 12"/>
            <p:cNvSpPr>
              <a:spLocks noChangeShapeType="1"/>
            </p:cNvSpPr>
            <p:nvPr/>
          </p:nvSpPr>
          <p:spPr bwMode="auto">
            <a:xfrm>
              <a:off x="2162968" y="5691936"/>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73" name="Line 13"/>
            <p:cNvSpPr>
              <a:spLocks noChangeShapeType="1"/>
            </p:cNvSpPr>
            <p:nvPr/>
          </p:nvSpPr>
          <p:spPr bwMode="auto">
            <a:xfrm>
              <a:off x="2162968" y="6739002"/>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74" name="AutoShape 14"/>
            <p:cNvSpPr>
              <a:spLocks noChangeArrowheads="1"/>
            </p:cNvSpPr>
            <p:nvPr/>
          </p:nvSpPr>
          <p:spPr bwMode="auto">
            <a:xfrm>
              <a:off x="2308109" y="6259510"/>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75" name="AutoShape 15"/>
            <p:cNvSpPr>
              <a:spLocks noChangeArrowheads="1"/>
            </p:cNvSpPr>
            <p:nvPr/>
          </p:nvSpPr>
          <p:spPr bwMode="auto">
            <a:xfrm>
              <a:off x="2303366" y="5564188"/>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76" name="AutoShape 16"/>
            <p:cNvSpPr>
              <a:spLocks noChangeArrowheads="1"/>
            </p:cNvSpPr>
            <p:nvPr/>
          </p:nvSpPr>
          <p:spPr bwMode="auto">
            <a:xfrm>
              <a:off x="2628748" y="5915932"/>
              <a:ext cx="111465" cy="599073"/>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77" name="AutoShape 17"/>
            <p:cNvSpPr>
              <a:spLocks noChangeArrowheads="1"/>
            </p:cNvSpPr>
            <p:nvPr/>
          </p:nvSpPr>
          <p:spPr bwMode="auto">
            <a:xfrm>
              <a:off x="2948912" y="5572938"/>
              <a:ext cx="111464" cy="1285062"/>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78" name="AutoShape 18"/>
            <p:cNvSpPr>
              <a:spLocks noChangeArrowheads="1"/>
            </p:cNvSpPr>
            <p:nvPr/>
          </p:nvSpPr>
          <p:spPr bwMode="auto">
            <a:xfrm>
              <a:off x="3269551" y="6259510"/>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79" name="AutoShape 19"/>
            <p:cNvSpPr>
              <a:spLocks noChangeArrowheads="1"/>
            </p:cNvSpPr>
            <p:nvPr/>
          </p:nvSpPr>
          <p:spPr bwMode="auto">
            <a:xfrm>
              <a:off x="3269551" y="5572938"/>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80" name="Line 20"/>
            <p:cNvSpPr>
              <a:spLocks noChangeShapeType="1"/>
            </p:cNvSpPr>
            <p:nvPr/>
          </p:nvSpPr>
          <p:spPr bwMode="auto">
            <a:xfrm>
              <a:off x="2326133" y="5704186"/>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781" name="Line 21"/>
            <p:cNvSpPr>
              <a:spLocks noChangeShapeType="1"/>
            </p:cNvSpPr>
            <p:nvPr/>
          </p:nvSpPr>
          <p:spPr bwMode="auto">
            <a:xfrm>
              <a:off x="2328979" y="67436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782" name="Line 22"/>
            <p:cNvSpPr>
              <a:spLocks noChangeShapeType="1"/>
            </p:cNvSpPr>
            <p:nvPr/>
          </p:nvSpPr>
          <p:spPr bwMode="auto">
            <a:xfrm>
              <a:off x="2953655" y="67436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783" name="Line 24"/>
            <p:cNvSpPr>
              <a:spLocks noChangeShapeType="1"/>
            </p:cNvSpPr>
            <p:nvPr/>
          </p:nvSpPr>
          <p:spPr bwMode="auto">
            <a:xfrm>
              <a:off x="3282357" y="5704186"/>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784" name="Line 25"/>
            <p:cNvSpPr>
              <a:spLocks noChangeShapeType="1"/>
            </p:cNvSpPr>
            <p:nvPr/>
          </p:nvSpPr>
          <p:spPr bwMode="auto">
            <a:xfrm>
              <a:off x="3282357" y="67401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785" name="Oval 61"/>
            <p:cNvSpPr>
              <a:spLocks noChangeArrowheads="1"/>
            </p:cNvSpPr>
            <p:nvPr/>
          </p:nvSpPr>
          <p:spPr bwMode="auto">
            <a:xfrm>
              <a:off x="2327082" y="5645853"/>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86" name="Oval 62"/>
            <p:cNvSpPr>
              <a:spLocks noChangeArrowheads="1"/>
            </p:cNvSpPr>
            <p:nvPr/>
          </p:nvSpPr>
          <p:spPr bwMode="auto">
            <a:xfrm>
              <a:off x="2327082" y="597718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87" name="Oval 63"/>
            <p:cNvSpPr>
              <a:spLocks noChangeArrowheads="1"/>
            </p:cNvSpPr>
            <p:nvPr/>
          </p:nvSpPr>
          <p:spPr bwMode="auto">
            <a:xfrm>
              <a:off x="2327082" y="6378508"/>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88" name="Oval 64"/>
            <p:cNvSpPr>
              <a:spLocks noChangeArrowheads="1"/>
            </p:cNvSpPr>
            <p:nvPr/>
          </p:nvSpPr>
          <p:spPr bwMode="auto">
            <a:xfrm>
              <a:off x="2327082"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89" name="Oval 65"/>
            <p:cNvSpPr>
              <a:spLocks noChangeArrowheads="1"/>
            </p:cNvSpPr>
            <p:nvPr/>
          </p:nvSpPr>
          <p:spPr bwMode="auto">
            <a:xfrm>
              <a:off x="2647720" y="598593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0" name="Oval 66"/>
            <p:cNvSpPr>
              <a:spLocks noChangeArrowheads="1"/>
            </p:cNvSpPr>
            <p:nvPr/>
          </p:nvSpPr>
          <p:spPr bwMode="auto">
            <a:xfrm>
              <a:off x="2647720" y="638259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1" name="Oval 67"/>
            <p:cNvSpPr>
              <a:spLocks noChangeArrowheads="1"/>
            </p:cNvSpPr>
            <p:nvPr/>
          </p:nvSpPr>
          <p:spPr bwMode="auto">
            <a:xfrm>
              <a:off x="2970731" y="5644687"/>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2" name="Oval 68"/>
            <p:cNvSpPr>
              <a:spLocks noChangeArrowheads="1"/>
            </p:cNvSpPr>
            <p:nvPr/>
          </p:nvSpPr>
          <p:spPr bwMode="auto">
            <a:xfrm>
              <a:off x="2967885"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3" name="Oval 69"/>
            <p:cNvSpPr>
              <a:spLocks noChangeArrowheads="1"/>
            </p:cNvSpPr>
            <p:nvPr/>
          </p:nvSpPr>
          <p:spPr bwMode="auto">
            <a:xfrm>
              <a:off x="3282832" y="5650520"/>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4" name="Oval 70"/>
            <p:cNvSpPr>
              <a:spLocks noChangeArrowheads="1"/>
            </p:cNvSpPr>
            <p:nvPr/>
          </p:nvSpPr>
          <p:spPr bwMode="auto">
            <a:xfrm>
              <a:off x="3282832" y="5972515"/>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5" name="Oval 71"/>
            <p:cNvSpPr>
              <a:spLocks noChangeArrowheads="1"/>
            </p:cNvSpPr>
            <p:nvPr/>
          </p:nvSpPr>
          <p:spPr bwMode="auto">
            <a:xfrm>
              <a:off x="3282832" y="6378508"/>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6" name="Oval 72"/>
            <p:cNvSpPr>
              <a:spLocks noChangeArrowheads="1"/>
            </p:cNvSpPr>
            <p:nvPr/>
          </p:nvSpPr>
          <p:spPr bwMode="auto">
            <a:xfrm>
              <a:off x="3282832"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97" name="Line 23"/>
            <p:cNvSpPr>
              <a:spLocks noChangeShapeType="1"/>
            </p:cNvSpPr>
            <p:nvPr/>
          </p:nvSpPr>
          <p:spPr bwMode="auto">
            <a:xfrm>
              <a:off x="2647720" y="6027347"/>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grpSp>
      <p:sp>
        <p:nvSpPr>
          <p:cNvPr id="60" name="Footer Placeholder 3"/>
          <p:cNvSpPr>
            <a:spLocks noGrp="1"/>
          </p:cNvSpPr>
          <p:nvPr>
            <p:ph type="ftr" sz="quarter" idx="10"/>
          </p:nvPr>
        </p:nvSpPr>
        <p:spPr/>
        <p:txBody>
          <a:bodyPr/>
          <a:lstStyle/>
          <a:p>
            <a:pPr>
              <a:defRPr/>
            </a:pPr>
            <a:r>
              <a:rPr lang="en-US"/>
              <a:t>Art of Multiprocessor Programming</a:t>
            </a:r>
          </a:p>
        </p:txBody>
      </p:sp>
      <p:sp>
        <p:nvSpPr>
          <p:cNvPr id="61" name="Slide Number Placeholder 4"/>
          <p:cNvSpPr>
            <a:spLocks noGrp="1"/>
          </p:cNvSpPr>
          <p:nvPr>
            <p:ph type="sldNum" sz="quarter" idx="11"/>
          </p:nvPr>
        </p:nvSpPr>
        <p:spPr/>
        <p:txBody>
          <a:bodyPr/>
          <a:lstStyle/>
          <a:p>
            <a:pPr>
              <a:defRPr/>
            </a:pPr>
            <a:fld id="{5413CA10-A55B-40B3-BB73-698C3F242B47}" type="slidenum">
              <a:rPr lang="en-US"/>
              <a:pPr>
                <a:defRPr/>
              </a:pPr>
              <a:t>202</a:t>
            </a:fld>
            <a:endParaRPr lang="en-US"/>
          </a:p>
        </p:txBody>
      </p:sp>
      <p:sp>
        <p:nvSpPr>
          <p:cNvPr id="200710" name="Rectangle 2"/>
          <p:cNvSpPr>
            <a:spLocks noGrp="1" noChangeArrowheads="1"/>
          </p:cNvSpPr>
          <p:nvPr>
            <p:ph type="title"/>
          </p:nvPr>
        </p:nvSpPr>
        <p:spPr>
          <a:xfrm>
            <a:off x="795338" y="571500"/>
            <a:ext cx="7772400" cy="1143000"/>
          </a:xfrm>
        </p:spPr>
        <p:txBody>
          <a:bodyPr/>
          <a:lstStyle/>
          <a:p>
            <a:r>
              <a:rPr lang="en-US"/>
              <a:t>Shared Pool</a:t>
            </a:r>
          </a:p>
        </p:txBody>
      </p:sp>
      <p:grpSp>
        <p:nvGrpSpPr>
          <p:cNvPr id="200711" name="Group 3"/>
          <p:cNvGrpSpPr>
            <a:grpSpLocks/>
          </p:cNvGrpSpPr>
          <p:nvPr/>
        </p:nvGrpSpPr>
        <p:grpSpPr bwMode="auto">
          <a:xfrm>
            <a:off x="660400" y="2374900"/>
            <a:ext cx="1447800" cy="1295400"/>
            <a:chOff x="1584" y="816"/>
            <a:chExt cx="912" cy="816"/>
          </a:xfrm>
        </p:grpSpPr>
        <p:sp>
          <p:nvSpPr>
            <p:cNvPr id="200759"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0"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1"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2"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3"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4"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5"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6"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67"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0712" name="Group 13"/>
          <p:cNvGrpSpPr>
            <a:grpSpLocks/>
          </p:cNvGrpSpPr>
          <p:nvPr/>
        </p:nvGrpSpPr>
        <p:grpSpPr bwMode="auto">
          <a:xfrm>
            <a:off x="6121400" y="4914900"/>
            <a:ext cx="1447800" cy="1295400"/>
            <a:chOff x="1584" y="816"/>
            <a:chExt cx="912" cy="816"/>
          </a:xfrm>
        </p:grpSpPr>
        <p:sp>
          <p:nvSpPr>
            <p:cNvPr id="200750" name="Freeform 1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51" name="Freeform 1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52" name="Freeform 1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53" name="Freeform 1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54" name="Freeform 1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55" name="Freeform 1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56" name="Freeform 2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57" name="Freeform 2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58" name="Freeform 2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0713" name="Rectangle 23"/>
          <p:cNvSpPr>
            <a:spLocks noChangeArrowheads="1"/>
          </p:cNvSpPr>
          <p:nvPr/>
        </p:nvSpPr>
        <p:spPr bwMode="auto">
          <a:xfrm>
            <a:off x="3708400" y="2133600"/>
            <a:ext cx="914400" cy="3657600"/>
          </a:xfrm>
          <a:prstGeom prst="rect">
            <a:avLst/>
          </a:prstGeom>
          <a:solidFill>
            <a:srgbClr val="FF7C8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0714" name="Line 24"/>
          <p:cNvSpPr>
            <a:spLocks noChangeShapeType="1"/>
          </p:cNvSpPr>
          <p:nvPr/>
        </p:nvSpPr>
        <p:spPr bwMode="auto">
          <a:xfrm>
            <a:off x="3708400" y="31369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15" name="Line 25"/>
          <p:cNvSpPr>
            <a:spLocks noChangeShapeType="1"/>
          </p:cNvSpPr>
          <p:nvPr/>
        </p:nvSpPr>
        <p:spPr bwMode="auto">
          <a:xfrm>
            <a:off x="3708400" y="36703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16" name="Line 26"/>
          <p:cNvSpPr>
            <a:spLocks noChangeShapeType="1"/>
          </p:cNvSpPr>
          <p:nvPr/>
        </p:nvSpPr>
        <p:spPr bwMode="auto">
          <a:xfrm>
            <a:off x="3708400" y="42037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17" name="Line 27"/>
          <p:cNvSpPr>
            <a:spLocks noChangeShapeType="1"/>
          </p:cNvSpPr>
          <p:nvPr/>
        </p:nvSpPr>
        <p:spPr bwMode="auto">
          <a:xfrm>
            <a:off x="3708400" y="53340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00718" name="Group 28"/>
          <p:cNvGrpSpPr>
            <a:grpSpLocks/>
          </p:cNvGrpSpPr>
          <p:nvPr/>
        </p:nvGrpSpPr>
        <p:grpSpPr bwMode="auto">
          <a:xfrm>
            <a:off x="3951288" y="3746500"/>
            <a:ext cx="430212" cy="341313"/>
            <a:chOff x="2828" y="3460"/>
            <a:chExt cx="271" cy="215"/>
          </a:xfrm>
        </p:grpSpPr>
        <p:sp>
          <p:nvSpPr>
            <p:cNvPr id="200748" name="Oval 29"/>
            <p:cNvSpPr>
              <a:spLocks noChangeArrowheads="1"/>
            </p:cNvSpPr>
            <p:nvPr/>
          </p:nvSpPr>
          <p:spPr bwMode="auto">
            <a:xfrm>
              <a:off x="2828" y="3460"/>
              <a:ext cx="271" cy="215"/>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49" name="Oval 30"/>
            <p:cNvSpPr>
              <a:spLocks noChangeArrowheads="1"/>
            </p:cNvSpPr>
            <p:nvPr/>
          </p:nvSpPr>
          <p:spPr bwMode="auto">
            <a:xfrm>
              <a:off x="2982" y="3498"/>
              <a:ext cx="71" cy="60"/>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 name="Group 31"/>
          <p:cNvGrpSpPr>
            <a:grpSpLocks/>
          </p:cNvGrpSpPr>
          <p:nvPr/>
        </p:nvGrpSpPr>
        <p:grpSpPr bwMode="auto">
          <a:xfrm>
            <a:off x="2235200" y="3263900"/>
            <a:ext cx="879475" cy="1905000"/>
            <a:chOff x="2663" y="2544"/>
            <a:chExt cx="554" cy="1200"/>
          </a:xfrm>
        </p:grpSpPr>
        <p:sp>
          <p:nvSpPr>
            <p:cNvPr id="200740" name="AutoShape 32"/>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41" name="AutoShape 33"/>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0742" name="Oval 34"/>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43" name="Line 35"/>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200744" name="Line 36"/>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200745" name="Text Box 37"/>
            <p:cNvSpPr txBox="1">
              <a:spLocks noChangeArrowheads="1"/>
            </p:cNvSpPr>
            <p:nvPr/>
          </p:nvSpPr>
          <p:spPr bwMode="auto">
            <a:xfrm>
              <a:off x="2824" y="2736"/>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19</a:t>
              </a:r>
            </a:p>
          </p:txBody>
        </p:sp>
        <p:sp>
          <p:nvSpPr>
            <p:cNvPr id="200746" name="Text Box 38"/>
            <p:cNvSpPr txBox="1">
              <a:spLocks noChangeArrowheads="1"/>
            </p:cNvSpPr>
            <p:nvPr/>
          </p:nvSpPr>
          <p:spPr bwMode="auto">
            <a:xfrm>
              <a:off x="2776" y="3110"/>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20</a:t>
              </a:r>
            </a:p>
          </p:txBody>
        </p:sp>
        <p:sp>
          <p:nvSpPr>
            <p:cNvPr id="200747" name="Text Box 39"/>
            <p:cNvSpPr txBox="1">
              <a:spLocks noChangeArrowheads="1"/>
            </p:cNvSpPr>
            <p:nvPr/>
          </p:nvSpPr>
          <p:spPr bwMode="auto">
            <a:xfrm>
              <a:off x="2824" y="3456"/>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21</a:t>
              </a:r>
            </a:p>
          </p:txBody>
        </p:sp>
      </p:grpSp>
      <p:sp>
        <p:nvSpPr>
          <p:cNvPr id="200720" name="Freeform 40"/>
          <p:cNvSpPr>
            <a:spLocks/>
          </p:cNvSpPr>
          <p:nvPr/>
        </p:nvSpPr>
        <p:spPr bwMode="auto">
          <a:xfrm>
            <a:off x="1955800" y="3403600"/>
            <a:ext cx="1930400" cy="1589088"/>
          </a:xfrm>
          <a:custGeom>
            <a:avLst/>
            <a:gdLst>
              <a:gd name="T0" fmla="*/ 0 w 1216"/>
              <a:gd name="T1" fmla="*/ 0 h 1001"/>
              <a:gd name="T2" fmla="*/ 2147483647 w 1216"/>
              <a:gd name="T3" fmla="*/ 2147483647 h 1001"/>
              <a:gd name="T4" fmla="*/ 2147483647 w 1216"/>
              <a:gd name="T5" fmla="*/ 2147483647 h 1001"/>
              <a:gd name="T6" fmla="*/ 0 60000 65536"/>
              <a:gd name="T7" fmla="*/ 0 60000 65536"/>
              <a:gd name="T8" fmla="*/ 0 60000 65536"/>
              <a:gd name="T9" fmla="*/ 0 w 1216"/>
              <a:gd name="T10" fmla="*/ 0 h 1001"/>
              <a:gd name="T11" fmla="*/ 1216 w 1216"/>
              <a:gd name="T12" fmla="*/ 1001 h 1001"/>
            </a:gdLst>
            <a:ahLst/>
            <a:cxnLst>
              <a:cxn ang="T6">
                <a:pos x="T0" y="T1"/>
              </a:cxn>
              <a:cxn ang="T7">
                <a:pos x="T2" y="T3"/>
              </a:cxn>
              <a:cxn ang="T8">
                <a:pos x="T4" y="T5"/>
              </a:cxn>
            </a:cxnLst>
            <a:rect l="T9" t="T10" r="T11" b="T12"/>
            <a:pathLst>
              <a:path w="1216" h="1001">
                <a:moveTo>
                  <a:pt x="0" y="0"/>
                </a:moveTo>
                <a:cubicBezTo>
                  <a:pt x="84" y="155"/>
                  <a:pt x="301" y="855"/>
                  <a:pt x="504" y="928"/>
                </a:cubicBezTo>
                <a:cubicBezTo>
                  <a:pt x="707" y="1001"/>
                  <a:pt x="1068" y="542"/>
                  <a:pt x="1216" y="440"/>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00721" name="Freeform 41"/>
          <p:cNvSpPr>
            <a:spLocks/>
          </p:cNvSpPr>
          <p:nvPr/>
        </p:nvSpPr>
        <p:spPr bwMode="auto">
          <a:xfrm>
            <a:off x="4546600" y="2806700"/>
            <a:ext cx="2043113" cy="2082800"/>
          </a:xfrm>
          <a:custGeom>
            <a:avLst/>
            <a:gdLst>
              <a:gd name="T0" fmla="*/ 2147483647 w 1287"/>
              <a:gd name="T1" fmla="*/ 2147483647 h 1312"/>
              <a:gd name="T2" fmla="*/ 2147483647 w 1287"/>
              <a:gd name="T3" fmla="*/ 2147483647 h 1312"/>
              <a:gd name="T4" fmla="*/ 0 w 1287"/>
              <a:gd name="T5" fmla="*/ 0 h 1312"/>
              <a:gd name="T6" fmla="*/ 0 60000 65536"/>
              <a:gd name="T7" fmla="*/ 0 60000 65536"/>
              <a:gd name="T8" fmla="*/ 0 60000 65536"/>
              <a:gd name="T9" fmla="*/ 0 w 1287"/>
              <a:gd name="T10" fmla="*/ 0 h 1312"/>
              <a:gd name="T11" fmla="*/ 1287 w 1287"/>
              <a:gd name="T12" fmla="*/ 1312 h 1312"/>
            </a:gdLst>
            <a:ahLst/>
            <a:cxnLst>
              <a:cxn ang="T6">
                <a:pos x="T0" y="T1"/>
              </a:cxn>
              <a:cxn ang="T7">
                <a:pos x="T2" y="T3"/>
              </a:cxn>
              <a:cxn ang="T8">
                <a:pos x="T4" y="T5"/>
              </a:cxn>
            </a:cxnLst>
            <a:rect l="T9" t="T10" r="T11" b="T12"/>
            <a:pathLst>
              <a:path w="1287" h="1312">
                <a:moveTo>
                  <a:pt x="1096" y="1312"/>
                </a:moveTo>
                <a:cubicBezTo>
                  <a:pt x="1097" y="1157"/>
                  <a:pt x="1287" y="603"/>
                  <a:pt x="1104" y="384"/>
                </a:cubicBezTo>
                <a:cubicBezTo>
                  <a:pt x="921" y="165"/>
                  <a:pt x="230" y="80"/>
                  <a:pt x="0"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200722" name="AutoShape 43"/>
          <p:cNvSpPr>
            <a:spLocks noChangeArrowheads="1"/>
          </p:cNvSpPr>
          <p:nvPr/>
        </p:nvSpPr>
        <p:spPr bwMode="auto">
          <a:xfrm>
            <a:off x="6527800" y="3733800"/>
            <a:ext cx="2235200" cy="685800"/>
          </a:xfrm>
          <a:prstGeom prst="cloudCallout">
            <a:avLst>
              <a:gd name="adj1" fmla="val -34801"/>
              <a:gd name="adj2" fmla="val 112500"/>
            </a:avLst>
          </a:prstGeom>
          <a:noFill/>
          <a:ln w="38100">
            <a:solidFill>
              <a:schemeClr val="accent2"/>
            </a:solidFill>
            <a:round/>
            <a:headEnd/>
            <a:tailEnd/>
          </a:ln>
        </p:spPr>
        <p:txBody>
          <a:bodyPr anchor="ctr"/>
          <a:lstStyle/>
          <a:p>
            <a:pPr algn="ctr">
              <a:spcBef>
                <a:spcPct val="0"/>
              </a:spcBef>
            </a:pPr>
            <a:r>
              <a:rPr lang="en-US" sz="2800">
                <a:solidFill>
                  <a:schemeClr val="accent2"/>
                </a:solidFill>
                <a:latin typeface="Arial" pitchFamily="34" charset="0"/>
                <a:cs typeface="Arial" pitchFamily="34" charset="0"/>
              </a:rPr>
              <a:t>remove</a:t>
            </a:r>
          </a:p>
        </p:txBody>
      </p:sp>
      <p:sp>
        <p:nvSpPr>
          <p:cNvPr id="200723" name="AutoShape 44"/>
          <p:cNvSpPr>
            <a:spLocks noChangeArrowheads="1"/>
          </p:cNvSpPr>
          <p:nvPr/>
        </p:nvSpPr>
        <p:spPr bwMode="auto">
          <a:xfrm>
            <a:off x="2006600" y="1714500"/>
            <a:ext cx="1524000" cy="685800"/>
          </a:xfrm>
          <a:prstGeom prst="cloudCallout">
            <a:avLst>
              <a:gd name="adj1" fmla="val -58542"/>
              <a:gd name="adj2" fmla="val 77315"/>
            </a:avLst>
          </a:prstGeom>
          <a:noFill/>
          <a:ln w="38100">
            <a:solidFill>
              <a:srgbClr val="FF5050"/>
            </a:solidFill>
            <a:round/>
            <a:headEnd/>
            <a:tailEnd/>
          </a:ln>
        </p:spPr>
        <p:txBody>
          <a:bodyPr anchor="ctr"/>
          <a:lstStyle/>
          <a:p>
            <a:pPr algn="ctr">
              <a:spcBef>
                <a:spcPct val="0"/>
              </a:spcBef>
            </a:pPr>
            <a:r>
              <a:rPr lang="en-US" sz="2800">
                <a:solidFill>
                  <a:srgbClr val="FF5050"/>
                </a:solidFill>
                <a:latin typeface="Arial" pitchFamily="34" charset="0"/>
                <a:cs typeface="Arial" pitchFamily="34" charset="0"/>
              </a:rPr>
              <a:t>put</a:t>
            </a:r>
          </a:p>
        </p:txBody>
      </p:sp>
      <p:grpSp>
        <p:nvGrpSpPr>
          <p:cNvPr id="200724" name="Group 45"/>
          <p:cNvGrpSpPr>
            <a:grpSpLocks/>
          </p:cNvGrpSpPr>
          <p:nvPr/>
        </p:nvGrpSpPr>
        <p:grpSpPr bwMode="auto">
          <a:xfrm>
            <a:off x="3951288" y="2679700"/>
            <a:ext cx="430212" cy="341313"/>
            <a:chOff x="2828" y="3460"/>
            <a:chExt cx="271" cy="215"/>
          </a:xfrm>
        </p:grpSpPr>
        <p:sp>
          <p:nvSpPr>
            <p:cNvPr id="200738" name="Oval 46"/>
            <p:cNvSpPr>
              <a:spLocks noChangeArrowheads="1"/>
            </p:cNvSpPr>
            <p:nvPr/>
          </p:nvSpPr>
          <p:spPr bwMode="auto">
            <a:xfrm>
              <a:off x="2828" y="3460"/>
              <a:ext cx="271" cy="215"/>
            </a:xfrm>
            <a:prstGeom prst="ellipse">
              <a:avLst/>
            </a:pr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39" name="Oval 47"/>
            <p:cNvSpPr>
              <a:spLocks noChangeArrowheads="1"/>
            </p:cNvSpPr>
            <p:nvPr/>
          </p:nvSpPr>
          <p:spPr bwMode="auto">
            <a:xfrm>
              <a:off x="2982" y="3498"/>
              <a:ext cx="71" cy="60"/>
            </a:xfrm>
            <a:prstGeom prst="ellipse">
              <a:avLst/>
            </a:prstGeom>
            <a:solidFill>
              <a:srgbClr val="FFFF99"/>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0725" name="Group 48"/>
          <p:cNvGrpSpPr>
            <a:grpSpLocks/>
          </p:cNvGrpSpPr>
          <p:nvPr/>
        </p:nvGrpSpPr>
        <p:grpSpPr bwMode="auto">
          <a:xfrm>
            <a:off x="3951288" y="3213100"/>
            <a:ext cx="430212" cy="341313"/>
            <a:chOff x="2828" y="3460"/>
            <a:chExt cx="271" cy="215"/>
          </a:xfrm>
        </p:grpSpPr>
        <p:sp>
          <p:nvSpPr>
            <p:cNvPr id="200736" name="Oval 49"/>
            <p:cNvSpPr>
              <a:spLocks noChangeArrowheads="1"/>
            </p:cNvSpPr>
            <p:nvPr/>
          </p:nvSpPr>
          <p:spPr bwMode="auto">
            <a:xfrm>
              <a:off x="2828" y="3460"/>
              <a:ext cx="271" cy="215"/>
            </a:xfrm>
            <a:prstGeom prst="ellipse">
              <a:avLst/>
            </a:prstGeom>
            <a:solidFill>
              <a:srgbClr val="FF505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37" name="Oval 50"/>
            <p:cNvSpPr>
              <a:spLocks noChangeArrowheads="1"/>
            </p:cNvSpPr>
            <p:nvPr/>
          </p:nvSpPr>
          <p:spPr bwMode="auto">
            <a:xfrm>
              <a:off x="2982" y="3498"/>
              <a:ext cx="71" cy="60"/>
            </a:xfrm>
            <a:prstGeom prst="ellipse">
              <a:avLst/>
            </a:prstGeom>
            <a:solidFill>
              <a:srgbClr val="FF9999"/>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 name="Group 51"/>
          <p:cNvGrpSpPr>
            <a:grpSpLocks/>
          </p:cNvGrpSpPr>
          <p:nvPr/>
        </p:nvGrpSpPr>
        <p:grpSpPr bwMode="auto">
          <a:xfrm>
            <a:off x="5689600" y="2819400"/>
            <a:ext cx="879475" cy="1905000"/>
            <a:chOff x="2663" y="2544"/>
            <a:chExt cx="554" cy="1200"/>
          </a:xfrm>
        </p:grpSpPr>
        <p:sp>
          <p:nvSpPr>
            <p:cNvPr id="200728" name="AutoShape 52"/>
            <p:cNvSpPr>
              <a:spLocks noChangeArrowheads="1"/>
            </p:cNvSpPr>
            <p:nvPr/>
          </p:nvSpPr>
          <p:spPr bwMode="auto">
            <a:xfrm rot="5400000">
              <a:off x="2547" y="2706"/>
              <a:ext cx="831" cy="508"/>
            </a:xfrm>
            <a:prstGeom prst="wave">
              <a:avLst>
                <a:gd name="adj1" fmla="val 13005"/>
                <a:gd name="adj2" fmla="val 0"/>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29" name="AutoShape 53"/>
            <p:cNvSpPr>
              <a:spLocks noChangeArrowheads="1"/>
            </p:cNvSpPr>
            <p:nvPr/>
          </p:nvSpPr>
          <p:spPr bwMode="auto">
            <a:xfrm rot="5400000">
              <a:off x="2825" y="3398"/>
              <a:ext cx="300" cy="392"/>
            </a:xfrm>
            <a:prstGeom prst="doubleWave">
              <a:avLst>
                <a:gd name="adj1" fmla="val 6500"/>
                <a:gd name="adj2" fmla="val 0"/>
              </a:avLst>
            </a:prstGeom>
            <a:no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0730" name="Oval 54"/>
            <p:cNvSpPr>
              <a:spLocks noChangeArrowheads="1"/>
            </p:cNvSpPr>
            <p:nvPr/>
          </p:nvSpPr>
          <p:spPr bwMode="auto">
            <a:xfrm rot="5400000">
              <a:off x="2571" y="2636"/>
              <a:ext cx="369" cy="185"/>
            </a:xfrm>
            <a:prstGeom prst="ellips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731" name="Line 55"/>
            <p:cNvSpPr>
              <a:spLocks noChangeShapeType="1"/>
            </p:cNvSpPr>
            <p:nvPr/>
          </p:nvSpPr>
          <p:spPr bwMode="auto">
            <a:xfrm>
              <a:off x="2848" y="2682"/>
              <a:ext cx="369"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200732" name="Line 56"/>
            <p:cNvSpPr>
              <a:spLocks noChangeShapeType="1"/>
            </p:cNvSpPr>
            <p:nvPr/>
          </p:nvSpPr>
          <p:spPr bwMode="auto">
            <a:xfrm>
              <a:off x="2732" y="3052"/>
              <a:ext cx="370" cy="0"/>
            </a:xfrm>
            <a:prstGeom prst="line">
              <a:avLst/>
            </a:prstGeom>
            <a:noFill/>
            <a:ln w="38100">
              <a:solidFill>
                <a:schemeClr val="tx1"/>
              </a:solidFill>
              <a:prstDash val="sysDot"/>
              <a:round/>
              <a:headEnd/>
              <a:tailEnd/>
            </a:ln>
          </p:spPr>
          <p:txBody>
            <a:bodyPr wrap="none" anchor="ctr"/>
            <a:lstStyle/>
            <a:p>
              <a:endParaRPr lang="en-US">
                <a:latin typeface="Arial" pitchFamily="34" charset="0"/>
                <a:cs typeface="Arial" pitchFamily="34" charset="0"/>
              </a:endParaRPr>
            </a:p>
          </p:txBody>
        </p:sp>
        <p:sp>
          <p:nvSpPr>
            <p:cNvPr id="200733" name="Text Box 57"/>
            <p:cNvSpPr txBox="1">
              <a:spLocks noChangeArrowheads="1"/>
            </p:cNvSpPr>
            <p:nvPr/>
          </p:nvSpPr>
          <p:spPr bwMode="auto">
            <a:xfrm>
              <a:off x="2824" y="2736"/>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19</a:t>
              </a:r>
            </a:p>
          </p:txBody>
        </p:sp>
        <p:sp>
          <p:nvSpPr>
            <p:cNvPr id="200734" name="Text Box 58"/>
            <p:cNvSpPr txBox="1">
              <a:spLocks noChangeArrowheads="1"/>
            </p:cNvSpPr>
            <p:nvPr/>
          </p:nvSpPr>
          <p:spPr bwMode="auto">
            <a:xfrm>
              <a:off x="2776" y="3110"/>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20</a:t>
              </a:r>
            </a:p>
          </p:txBody>
        </p:sp>
        <p:sp>
          <p:nvSpPr>
            <p:cNvPr id="200735" name="Text Box 59"/>
            <p:cNvSpPr txBox="1">
              <a:spLocks noChangeArrowheads="1"/>
            </p:cNvSpPr>
            <p:nvPr/>
          </p:nvSpPr>
          <p:spPr bwMode="auto">
            <a:xfrm>
              <a:off x="2824" y="3456"/>
              <a:ext cx="296" cy="252"/>
            </a:xfrm>
            <a:prstGeom prst="rect">
              <a:avLst/>
            </a:prstGeom>
            <a:noFill/>
            <a:ln w="9525">
              <a:noFill/>
              <a:miter lim="800000"/>
              <a:headEnd/>
              <a:tailEnd/>
            </a:ln>
          </p:spPr>
          <p:txBody>
            <a:bodyPr wrap="none">
              <a:spAutoFit/>
            </a:bodyPr>
            <a:lstStyle/>
            <a:p>
              <a:pPr algn="r">
                <a:spcBef>
                  <a:spcPct val="0"/>
                </a:spcBef>
              </a:pPr>
              <a:r>
                <a:rPr lang="en-US" sz="2000" b="0">
                  <a:solidFill>
                    <a:schemeClr val="tx1"/>
                  </a:solidFill>
                  <a:latin typeface="Arial" pitchFamily="34" charset="0"/>
                  <a:cs typeface="Arial" pitchFamily="34" charset="0"/>
                </a:rPr>
                <a:t>21</a:t>
              </a:r>
            </a:p>
          </p:txBody>
        </p:sp>
      </p:grpSp>
      <p:sp>
        <p:nvSpPr>
          <p:cNvPr id="200727" name="Line 60"/>
          <p:cNvSpPr>
            <a:spLocks noChangeShapeType="1"/>
          </p:cNvSpPr>
          <p:nvPr/>
        </p:nvSpPr>
        <p:spPr bwMode="auto">
          <a:xfrm>
            <a:off x="3708400" y="25781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0"/>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3E23B19-F80F-425E-9AA0-131D92FCB443}" type="slidenum">
              <a:rPr lang="en-US"/>
              <a:pPr>
                <a:defRPr/>
              </a:pPr>
              <a:t>203</a:t>
            </a:fld>
            <a:endParaRPr lang="en-US"/>
          </a:p>
        </p:txBody>
      </p:sp>
      <p:sp>
        <p:nvSpPr>
          <p:cNvPr id="201732" name="Rectangle 2"/>
          <p:cNvSpPr>
            <a:spLocks noGrp="1" noChangeArrowheads="1"/>
          </p:cNvSpPr>
          <p:nvPr>
            <p:ph type="title"/>
          </p:nvPr>
        </p:nvSpPr>
        <p:spPr/>
        <p:txBody>
          <a:bodyPr/>
          <a:lstStyle/>
          <a:p>
            <a:r>
              <a:rPr lang="en-US"/>
              <a:t>What About</a:t>
            </a:r>
          </a:p>
        </p:txBody>
      </p:sp>
      <p:sp>
        <p:nvSpPr>
          <p:cNvPr id="201733" name="Rectangle 3"/>
          <p:cNvSpPr>
            <a:spLocks noGrp="1" noChangeArrowheads="1"/>
          </p:cNvSpPr>
          <p:nvPr>
            <p:ph type="body" idx="1"/>
          </p:nvPr>
        </p:nvSpPr>
        <p:spPr/>
        <p:txBody>
          <a:bodyPr/>
          <a:lstStyle/>
          <a:p>
            <a:r>
              <a:rPr lang="en-US"/>
              <a:t>Decrements</a:t>
            </a:r>
          </a:p>
          <a:p>
            <a:r>
              <a:rPr lang="en-US"/>
              <a:t>Adding arbitrary values</a:t>
            </a:r>
          </a:p>
          <a:p>
            <a:r>
              <a:rPr lang="en-US"/>
              <a:t>Other operations</a:t>
            </a:r>
          </a:p>
          <a:p>
            <a:pPr lvl="1"/>
            <a:r>
              <a:rPr lang="en-US"/>
              <a:t>Multiplication</a:t>
            </a:r>
          </a:p>
          <a:p>
            <a:pPr lvl="1"/>
            <a:r>
              <a:rPr lang="en-US"/>
              <a:t>Vector addition</a:t>
            </a:r>
          </a:p>
          <a:p>
            <a:pPr lvl="1"/>
            <a:r>
              <a:rPr lang="en-US"/>
              <a:t>Horoscope casting …</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90DE3E3-926B-4021-BFFB-B3BEC61C1DAA}" type="slidenum">
              <a:rPr lang="en-US"/>
              <a:pPr>
                <a:defRPr/>
              </a:pPr>
              <a:t>204</a:t>
            </a:fld>
            <a:endParaRPr lang="en-US"/>
          </a:p>
        </p:txBody>
      </p:sp>
      <p:sp>
        <p:nvSpPr>
          <p:cNvPr id="202756" name="Rectangle 2"/>
          <p:cNvSpPr>
            <a:spLocks noGrp="1" noChangeArrowheads="1"/>
          </p:cNvSpPr>
          <p:nvPr>
            <p:ph type="title"/>
          </p:nvPr>
        </p:nvSpPr>
        <p:spPr/>
        <p:txBody>
          <a:bodyPr/>
          <a:lstStyle/>
          <a:p>
            <a:r>
              <a:rPr lang="en-US"/>
              <a:t>First Step</a:t>
            </a:r>
          </a:p>
        </p:txBody>
      </p:sp>
      <p:sp>
        <p:nvSpPr>
          <p:cNvPr id="202757" name="Rectangle 3"/>
          <p:cNvSpPr>
            <a:spLocks noGrp="1" noChangeArrowheads="1"/>
          </p:cNvSpPr>
          <p:nvPr>
            <p:ph type="body" idx="1"/>
          </p:nvPr>
        </p:nvSpPr>
        <p:spPr/>
        <p:txBody>
          <a:bodyPr/>
          <a:lstStyle/>
          <a:p>
            <a:r>
              <a:rPr lang="en-US"/>
              <a:t>Can we decrement as well as increment?</a:t>
            </a:r>
          </a:p>
          <a:p>
            <a:r>
              <a:rPr lang="en-US"/>
              <a:t>What goes up, must come down …</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4"/>
          <p:cNvSpPr>
            <a:spLocks noGrp="1"/>
          </p:cNvSpPr>
          <p:nvPr>
            <p:ph type="ftr" sz="quarter" idx="10"/>
          </p:nvPr>
        </p:nvSpPr>
        <p:spPr/>
        <p:txBody>
          <a:bodyPr/>
          <a:lstStyle/>
          <a:p>
            <a:pPr>
              <a:defRPr/>
            </a:pPr>
            <a:r>
              <a:rPr lang="en-US"/>
              <a:t>Art of Multiprocessor Programming</a:t>
            </a:r>
          </a:p>
        </p:txBody>
      </p:sp>
      <p:sp>
        <p:nvSpPr>
          <p:cNvPr id="18" name="Slide Number Placeholder 5"/>
          <p:cNvSpPr>
            <a:spLocks noGrp="1"/>
          </p:cNvSpPr>
          <p:nvPr>
            <p:ph type="sldNum" sz="quarter" idx="11"/>
          </p:nvPr>
        </p:nvSpPr>
        <p:spPr/>
        <p:txBody>
          <a:bodyPr/>
          <a:lstStyle/>
          <a:p>
            <a:pPr>
              <a:defRPr/>
            </a:pPr>
            <a:fld id="{B6CF3D66-C2EA-4362-8E2B-7EDAB24300D5}" type="slidenum">
              <a:rPr lang="en-US"/>
              <a:pPr>
                <a:defRPr/>
              </a:pPr>
              <a:t>205</a:t>
            </a:fld>
            <a:endParaRPr lang="en-US"/>
          </a:p>
        </p:txBody>
      </p:sp>
      <p:sp>
        <p:nvSpPr>
          <p:cNvPr id="203780" name="Line 2"/>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3781" name="Line 3"/>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3782" name="AutoShape 4"/>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203783" name="Group 5"/>
          <p:cNvGrpSpPr>
            <a:grpSpLocks/>
          </p:cNvGrpSpPr>
          <p:nvPr/>
        </p:nvGrpSpPr>
        <p:grpSpPr bwMode="auto">
          <a:xfrm>
            <a:off x="1978025" y="2336800"/>
            <a:ext cx="1377950" cy="423863"/>
            <a:chOff x="1313" y="2496"/>
            <a:chExt cx="1252" cy="427"/>
          </a:xfrm>
        </p:grpSpPr>
        <p:sp>
          <p:nvSpPr>
            <p:cNvPr id="203791" name="Freeform 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3792" name="Freeform 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3793" name="Oval 8"/>
            <p:cNvSpPr>
              <a:spLocks noChangeArrowheads="1"/>
            </p:cNvSpPr>
            <p:nvPr/>
          </p:nvSpPr>
          <p:spPr bwMode="auto">
            <a:xfrm>
              <a:off x="1722" y="2579"/>
              <a:ext cx="391" cy="344"/>
            </a:xfrm>
            <a:prstGeom prst="ellipse">
              <a:avLst/>
            </a:pr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3794" name="Oval 9"/>
            <p:cNvSpPr>
              <a:spLocks noChangeArrowheads="1"/>
            </p:cNvSpPr>
            <p:nvPr/>
          </p:nvSpPr>
          <p:spPr bwMode="auto">
            <a:xfrm>
              <a:off x="1945" y="2640"/>
              <a:ext cx="102" cy="96"/>
            </a:xfrm>
            <a:prstGeom prst="ellipse">
              <a:avLst/>
            </a:prstGeom>
            <a:solidFill>
              <a:schemeClr val="bg2"/>
            </a:solidFill>
            <a:ln w="19050">
              <a:solidFill>
                <a:schemeClr val="bg2"/>
              </a:solidFill>
              <a:round/>
              <a:headEnd/>
              <a:tailEnd/>
            </a:ln>
          </p:spPr>
          <p:txBody>
            <a:bodyPr wrap="none" anchor="ctr"/>
            <a:lstStyle/>
            <a:p>
              <a:endParaRPr lang="en-US" dirty="0">
                <a:latin typeface="Courier New" pitchFamily="49" charset="0"/>
              </a:endParaRPr>
            </a:p>
          </p:txBody>
        </p:sp>
      </p:grpSp>
      <p:sp>
        <p:nvSpPr>
          <p:cNvPr id="203784" name="Rectangle 10"/>
          <p:cNvSpPr>
            <a:spLocks noGrp="1" noChangeArrowheads="1"/>
          </p:cNvSpPr>
          <p:nvPr>
            <p:ph type="title"/>
          </p:nvPr>
        </p:nvSpPr>
        <p:spPr/>
        <p:txBody>
          <a:bodyPr/>
          <a:lstStyle/>
          <a:p>
            <a:r>
              <a:rPr lang="en-US"/>
              <a:t>Anti-Tokens</a:t>
            </a:r>
          </a:p>
        </p:txBody>
      </p:sp>
      <p:sp>
        <p:nvSpPr>
          <p:cNvPr id="835595" name="Line 11"/>
          <p:cNvSpPr>
            <a:spLocks noChangeShapeType="1"/>
          </p:cNvSpPr>
          <p:nvPr/>
        </p:nvSpPr>
        <p:spPr bwMode="auto">
          <a:xfrm>
            <a:off x="4432300" y="251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3" name="Group 12"/>
          <p:cNvGrpSpPr>
            <a:grpSpLocks/>
          </p:cNvGrpSpPr>
          <p:nvPr/>
        </p:nvGrpSpPr>
        <p:grpSpPr bwMode="auto">
          <a:xfrm>
            <a:off x="1990725" y="2336800"/>
            <a:ext cx="1377950" cy="423863"/>
            <a:chOff x="1313" y="2496"/>
            <a:chExt cx="1252" cy="427"/>
          </a:xfrm>
        </p:grpSpPr>
        <p:sp>
          <p:nvSpPr>
            <p:cNvPr id="203787" name="Freeform 1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3788" name="Freeform 1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3789" name="Oval 15"/>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3790" name="Oval 16"/>
            <p:cNvSpPr>
              <a:spLocks noChangeArrowheads="1"/>
            </p:cNvSpPr>
            <p:nvPr/>
          </p:nvSpPr>
          <p:spPr bwMode="auto">
            <a:xfrm>
              <a:off x="1945" y="2640"/>
              <a:ext cx="102" cy="96"/>
            </a:xfrm>
            <a:prstGeom prst="ellipse">
              <a:avLst/>
            </a:prstGeom>
            <a:solidFill>
              <a:srgbClr val="FF6600"/>
            </a:solidFill>
            <a:ln w="19050">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0.00278 0.00555 L -0.00278 0.18518 " pathEditMode="relative" rAng="0" ptsTypes="AA">
                                      <p:cBhvr>
                                        <p:cTn id="6" dur="2000" fill="hold"/>
                                        <p:tgtEl>
                                          <p:spTgt spid="835595"/>
                                        </p:tgtEl>
                                        <p:attrNameLst>
                                          <p:attrName>ppt_x</p:attrName>
                                          <p:attrName>ppt_y</p:attrName>
                                        </p:attrNameLst>
                                      </p:cBhvr>
                                      <p:rCtr x="0" y="90"/>
                                    </p:animMotion>
                                  </p:childTnLst>
                                </p:cTn>
                              </p:par>
                              <p:par>
                                <p:cTn id="7" presetID="0" presetClass="path" presetSubtype="0" accel="50000" decel="50000" fill="hold" nodeType="withEffect">
                                  <p:stCondLst>
                                    <p:cond delay="0"/>
                                  </p:stCondLst>
                                  <p:childTnLst>
                                    <p:animMotion origin="layout" path="M -2.22222E-6 -3.7037E-6 C 0.07812 -0.0162 0.15625 -0.03241 0.19028 -0.00555 C 0.2243 0.0213 0.17795 0.12708 0.20416 0.16111 C 0.23038 0.19514 0.28871 0.19653 0.34722 0.19815 " pathEditMode="relative" ptsTypes="aaaA">
                                      <p:cBhvr>
                                        <p:cTn id="8" dur="20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595" grpId="0" animBg="1"/>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4"/>
          <p:cNvSpPr>
            <a:spLocks noGrp="1"/>
          </p:cNvSpPr>
          <p:nvPr>
            <p:ph type="ftr" sz="quarter" idx="10"/>
          </p:nvPr>
        </p:nvSpPr>
        <p:spPr/>
        <p:txBody>
          <a:bodyPr/>
          <a:lstStyle/>
          <a:p>
            <a:pPr>
              <a:defRPr/>
            </a:pPr>
            <a:r>
              <a:rPr lang="en-US"/>
              <a:t>Art of Multiprocessor Programming</a:t>
            </a:r>
          </a:p>
        </p:txBody>
      </p:sp>
      <p:sp>
        <p:nvSpPr>
          <p:cNvPr id="29" name="Slide Number Placeholder 5"/>
          <p:cNvSpPr>
            <a:spLocks noGrp="1"/>
          </p:cNvSpPr>
          <p:nvPr>
            <p:ph type="sldNum" sz="quarter" idx="11"/>
          </p:nvPr>
        </p:nvSpPr>
        <p:spPr/>
        <p:txBody>
          <a:bodyPr/>
          <a:lstStyle/>
          <a:p>
            <a:pPr>
              <a:defRPr/>
            </a:pPr>
            <a:fld id="{8986C880-957D-4EC2-9A44-0B33E24DB285}" type="slidenum">
              <a:rPr lang="en-US"/>
              <a:pPr>
                <a:defRPr/>
              </a:pPr>
              <a:t>206</a:t>
            </a:fld>
            <a:endParaRPr lang="en-US"/>
          </a:p>
        </p:txBody>
      </p:sp>
      <p:sp>
        <p:nvSpPr>
          <p:cNvPr id="204804" name="Line 2"/>
          <p:cNvSpPr>
            <a:spLocks noChangeShapeType="1"/>
          </p:cNvSpPr>
          <p:nvPr/>
        </p:nvSpPr>
        <p:spPr bwMode="auto">
          <a:xfrm>
            <a:off x="4419600" y="2514600"/>
            <a:ext cx="304800" cy="0"/>
          </a:xfrm>
          <a:prstGeom prst="line">
            <a:avLst/>
          </a:prstGeom>
          <a:noFill/>
          <a:ln w="57150">
            <a:solidFill>
              <a:srgbClr val="0000FF"/>
            </a:solidFill>
            <a:round/>
            <a:headEnd/>
            <a:tailEnd type="triangle" w="med" len="med"/>
          </a:ln>
        </p:spPr>
        <p:txBody>
          <a:bodyPr wrap="none" anchor="ctr"/>
          <a:lstStyle/>
          <a:p>
            <a:endParaRPr lang="en-US" dirty="0">
              <a:latin typeface="Courier New" pitchFamily="49" charset="0"/>
            </a:endParaRPr>
          </a:p>
        </p:txBody>
      </p:sp>
      <p:grpSp>
        <p:nvGrpSpPr>
          <p:cNvPr id="204805" name="Group 3"/>
          <p:cNvGrpSpPr>
            <a:grpSpLocks/>
          </p:cNvGrpSpPr>
          <p:nvPr/>
        </p:nvGrpSpPr>
        <p:grpSpPr bwMode="auto">
          <a:xfrm>
            <a:off x="1787525" y="2209800"/>
            <a:ext cx="1377950" cy="423863"/>
            <a:chOff x="1313" y="2496"/>
            <a:chExt cx="1252" cy="427"/>
          </a:xfrm>
        </p:grpSpPr>
        <p:sp>
          <p:nvSpPr>
            <p:cNvPr id="204826" name="Freeform 4"/>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4827" name="Freeform 5"/>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4828" name="Oval 6"/>
            <p:cNvSpPr>
              <a:spLocks noChangeArrowheads="1"/>
            </p:cNvSpPr>
            <p:nvPr/>
          </p:nvSpPr>
          <p:spPr bwMode="auto">
            <a:xfrm>
              <a:off x="1722" y="2579"/>
              <a:ext cx="391" cy="344"/>
            </a:xfrm>
            <a:prstGeom prst="ellipse">
              <a:avLst/>
            </a:pr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4829" name="Oval 7"/>
            <p:cNvSpPr>
              <a:spLocks noChangeArrowheads="1"/>
            </p:cNvSpPr>
            <p:nvPr/>
          </p:nvSpPr>
          <p:spPr bwMode="auto">
            <a:xfrm>
              <a:off x="1945" y="2640"/>
              <a:ext cx="102" cy="96"/>
            </a:xfrm>
            <a:prstGeom prst="ellipse">
              <a:avLst/>
            </a:prstGeom>
            <a:solidFill>
              <a:schemeClr val="bg2"/>
            </a:solidFill>
            <a:ln w="19050">
              <a:solidFill>
                <a:schemeClr val="bg2"/>
              </a:solidFill>
              <a:round/>
              <a:headEnd/>
              <a:tailEnd/>
            </a:ln>
          </p:spPr>
          <p:txBody>
            <a:bodyPr wrap="none" anchor="ctr"/>
            <a:lstStyle/>
            <a:p>
              <a:endParaRPr lang="en-US" dirty="0">
                <a:latin typeface="Courier New" pitchFamily="49" charset="0"/>
              </a:endParaRPr>
            </a:p>
          </p:txBody>
        </p:sp>
      </p:grpSp>
      <p:grpSp>
        <p:nvGrpSpPr>
          <p:cNvPr id="204806" name="Group 8"/>
          <p:cNvGrpSpPr>
            <a:grpSpLocks/>
          </p:cNvGrpSpPr>
          <p:nvPr/>
        </p:nvGrpSpPr>
        <p:grpSpPr bwMode="auto">
          <a:xfrm>
            <a:off x="1978025" y="2336800"/>
            <a:ext cx="1377950" cy="423863"/>
            <a:chOff x="1313" y="2496"/>
            <a:chExt cx="1252" cy="427"/>
          </a:xfrm>
        </p:grpSpPr>
        <p:sp>
          <p:nvSpPr>
            <p:cNvPr id="204822" name="Freeform 9"/>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4823" name="Freeform 10"/>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4824" name="Oval 11"/>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4825" name="Oval 12"/>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04807" name="Rectangle 13"/>
          <p:cNvSpPr>
            <a:spLocks noGrp="1" noChangeArrowheads="1"/>
          </p:cNvSpPr>
          <p:nvPr>
            <p:ph type="title"/>
          </p:nvPr>
        </p:nvSpPr>
        <p:spPr/>
        <p:txBody>
          <a:bodyPr/>
          <a:lstStyle/>
          <a:p>
            <a:r>
              <a:rPr lang="en-US"/>
              <a:t>Tokens &amp; Anti-Tokens Cancel</a:t>
            </a:r>
          </a:p>
        </p:txBody>
      </p:sp>
      <p:sp>
        <p:nvSpPr>
          <p:cNvPr id="204808" name="Line 14"/>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4809" name="Line 15"/>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4810" name="AutoShape 16"/>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837649" name="Line 17"/>
          <p:cNvSpPr>
            <a:spLocks noChangeShapeType="1"/>
          </p:cNvSpPr>
          <p:nvPr/>
        </p:nvSpPr>
        <p:spPr bwMode="auto">
          <a:xfrm>
            <a:off x="4419600" y="251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204812" name="Group 18"/>
          <p:cNvGrpSpPr>
            <a:grpSpLocks/>
          </p:cNvGrpSpPr>
          <p:nvPr/>
        </p:nvGrpSpPr>
        <p:grpSpPr bwMode="auto">
          <a:xfrm>
            <a:off x="1800225" y="2209800"/>
            <a:ext cx="1377950" cy="423863"/>
            <a:chOff x="1313" y="2496"/>
            <a:chExt cx="1252" cy="427"/>
          </a:xfrm>
        </p:grpSpPr>
        <p:sp>
          <p:nvSpPr>
            <p:cNvPr id="204818" name="Freeform 19"/>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4819" name="Freeform 20"/>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4820" name="Oval 21"/>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4821" name="Oval 22"/>
            <p:cNvSpPr>
              <a:spLocks noChangeArrowheads="1"/>
            </p:cNvSpPr>
            <p:nvPr/>
          </p:nvSpPr>
          <p:spPr bwMode="auto">
            <a:xfrm>
              <a:off x="1945" y="2640"/>
              <a:ext cx="102" cy="96"/>
            </a:xfrm>
            <a:prstGeom prst="ellipse">
              <a:avLst/>
            </a:prstGeom>
            <a:solidFill>
              <a:srgbClr val="FF6600"/>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 name="Group 23"/>
          <p:cNvGrpSpPr>
            <a:grpSpLocks/>
          </p:cNvGrpSpPr>
          <p:nvPr/>
        </p:nvGrpSpPr>
        <p:grpSpPr bwMode="auto">
          <a:xfrm>
            <a:off x="1965325" y="2336800"/>
            <a:ext cx="1377950" cy="423863"/>
            <a:chOff x="1313" y="2496"/>
            <a:chExt cx="1252" cy="427"/>
          </a:xfrm>
        </p:grpSpPr>
        <p:sp>
          <p:nvSpPr>
            <p:cNvPr id="204814" name="Freeform 24"/>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4815" name="Freeform 25"/>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4816" name="Oval 26"/>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4817" name="Oval 27"/>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22222E-6 8.67362E-19 L 0.4 8.67362E-19 " pathEditMode="relative" ptsTypes="AA">
                                      <p:cBhvr>
                                        <p:cTn id="6" dur="2000" fill="hold"/>
                                        <p:tgtEl>
                                          <p:spTgt spid="5"/>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 0.00555 L 0.0 0.18703 " pathEditMode="relative" rAng="0" ptsTypes="AA">
                                      <p:cBhvr>
                                        <p:cTn id="8" dur="2000" fill="hold"/>
                                        <p:tgtEl>
                                          <p:spTgt spid="837649"/>
                                        </p:tgtEl>
                                        <p:attrNameLst>
                                          <p:attrName>ppt_x</p:attrName>
                                          <p:attrName>ppt_y</p:attrName>
                                        </p:attrNameLst>
                                      </p:cBhvr>
                                      <p:rCtr x="0" y="9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49" grpId="0" animBg="1"/>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ooter Placeholder 4"/>
          <p:cNvSpPr>
            <a:spLocks noGrp="1"/>
          </p:cNvSpPr>
          <p:nvPr>
            <p:ph type="ftr" sz="quarter" idx="10"/>
          </p:nvPr>
        </p:nvSpPr>
        <p:spPr/>
        <p:txBody>
          <a:bodyPr/>
          <a:lstStyle/>
          <a:p>
            <a:pPr>
              <a:defRPr/>
            </a:pPr>
            <a:r>
              <a:rPr lang="en-US"/>
              <a:t>Art of Multiprocessor Programming</a:t>
            </a:r>
          </a:p>
        </p:txBody>
      </p:sp>
      <p:sp>
        <p:nvSpPr>
          <p:cNvPr id="28" name="Slide Number Placeholder 5"/>
          <p:cNvSpPr>
            <a:spLocks noGrp="1"/>
          </p:cNvSpPr>
          <p:nvPr>
            <p:ph type="sldNum" sz="quarter" idx="11"/>
          </p:nvPr>
        </p:nvSpPr>
        <p:spPr/>
        <p:txBody>
          <a:bodyPr/>
          <a:lstStyle/>
          <a:p>
            <a:pPr>
              <a:defRPr/>
            </a:pPr>
            <a:fld id="{F637597A-5D4C-43E1-A002-AABF742215F4}" type="slidenum">
              <a:rPr lang="en-US"/>
              <a:pPr>
                <a:defRPr/>
              </a:pPr>
              <a:t>207</a:t>
            </a:fld>
            <a:endParaRPr lang="en-US"/>
          </a:p>
        </p:txBody>
      </p:sp>
      <p:sp>
        <p:nvSpPr>
          <p:cNvPr id="205828" name="Line 2"/>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5829" name="Line 3"/>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5830" name="AutoShape 4"/>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205831" name="Group 5"/>
          <p:cNvGrpSpPr>
            <a:grpSpLocks/>
          </p:cNvGrpSpPr>
          <p:nvPr/>
        </p:nvGrpSpPr>
        <p:grpSpPr bwMode="auto">
          <a:xfrm>
            <a:off x="1787525" y="2209800"/>
            <a:ext cx="1377950" cy="423863"/>
            <a:chOff x="1313" y="2496"/>
            <a:chExt cx="1252" cy="427"/>
          </a:xfrm>
        </p:grpSpPr>
        <p:sp>
          <p:nvSpPr>
            <p:cNvPr id="205849" name="Freeform 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5850" name="Freeform 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5851" name="Oval 8"/>
            <p:cNvSpPr>
              <a:spLocks noChangeArrowheads="1"/>
            </p:cNvSpPr>
            <p:nvPr/>
          </p:nvSpPr>
          <p:spPr bwMode="auto">
            <a:xfrm>
              <a:off x="1722" y="2579"/>
              <a:ext cx="391" cy="344"/>
            </a:xfrm>
            <a:prstGeom prst="ellipse">
              <a:avLst/>
            </a:pr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5852" name="Oval 9"/>
            <p:cNvSpPr>
              <a:spLocks noChangeArrowheads="1"/>
            </p:cNvSpPr>
            <p:nvPr/>
          </p:nvSpPr>
          <p:spPr bwMode="auto">
            <a:xfrm>
              <a:off x="1945" y="2640"/>
              <a:ext cx="102" cy="96"/>
            </a:xfrm>
            <a:prstGeom prst="ellipse">
              <a:avLst/>
            </a:prstGeom>
            <a:solidFill>
              <a:schemeClr val="bg2"/>
            </a:solidFill>
            <a:ln w="19050">
              <a:solidFill>
                <a:schemeClr val="bg2"/>
              </a:solidFill>
              <a:round/>
              <a:headEnd/>
              <a:tailEnd/>
            </a:ln>
          </p:spPr>
          <p:txBody>
            <a:bodyPr wrap="none" anchor="ctr"/>
            <a:lstStyle/>
            <a:p>
              <a:endParaRPr lang="en-US" dirty="0">
                <a:latin typeface="Courier New" pitchFamily="49" charset="0"/>
              </a:endParaRPr>
            </a:p>
          </p:txBody>
        </p:sp>
      </p:grpSp>
      <p:grpSp>
        <p:nvGrpSpPr>
          <p:cNvPr id="205832" name="Group 10"/>
          <p:cNvGrpSpPr>
            <a:grpSpLocks/>
          </p:cNvGrpSpPr>
          <p:nvPr/>
        </p:nvGrpSpPr>
        <p:grpSpPr bwMode="auto">
          <a:xfrm>
            <a:off x="1978025" y="2336800"/>
            <a:ext cx="1377950" cy="423863"/>
            <a:chOff x="1313" y="2496"/>
            <a:chExt cx="1252" cy="427"/>
          </a:xfrm>
        </p:grpSpPr>
        <p:sp>
          <p:nvSpPr>
            <p:cNvPr id="205845" name="Freeform 1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5846" name="Freeform 1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5847" name="Oval 13"/>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5848" name="Oval 14"/>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05833" name="Rectangle 15"/>
          <p:cNvSpPr>
            <a:spLocks noGrp="1" noChangeArrowheads="1"/>
          </p:cNvSpPr>
          <p:nvPr>
            <p:ph type="title"/>
          </p:nvPr>
        </p:nvSpPr>
        <p:spPr/>
        <p:txBody>
          <a:bodyPr/>
          <a:lstStyle/>
          <a:p>
            <a:r>
              <a:rPr lang="en-US"/>
              <a:t>Tokens &amp; Anti-Tokens Cancel</a:t>
            </a:r>
          </a:p>
        </p:txBody>
      </p:sp>
      <p:grpSp>
        <p:nvGrpSpPr>
          <p:cNvPr id="205834" name="Group 16"/>
          <p:cNvGrpSpPr>
            <a:grpSpLocks/>
          </p:cNvGrpSpPr>
          <p:nvPr/>
        </p:nvGrpSpPr>
        <p:grpSpPr bwMode="auto">
          <a:xfrm>
            <a:off x="5622925" y="2336800"/>
            <a:ext cx="1377950" cy="423863"/>
            <a:chOff x="1313" y="2496"/>
            <a:chExt cx="1252" cy="427"/>
          </a:xfrm>
        </p:grpSpPr>
        <p:sp>
          <p:nvSpPr>
            <p:cNvPr id="205841" name="Freeform 1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5842" name="Freeform 1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5843" name="Oval 1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5844" name="Oval 2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839701" name="Line 21"/>
          <p:cNvSpPr>
            <a:spLocks noChangeShapeType="1"/>
          </p:cNvSpPr>
          <p:nvPr/>
        </p:nvSpPr>
        <p:spPr bwMode="auto">
          <a:xfrm>
            <a:off x="4419600" y="37719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5" name="Group 22"/>
          <p:cNvGrpSpPr>
            <a:grpSpLocks/>
          </p:cNvGrpSpPr>
          <p:nvPr/>
        </p:nvGrpSpPr>
        <p:grpSpPr bwMode="auto">
          <a:xfrm>
            <a:off x="1800225" y="2209800"/>
            <a:ext cx="1377950" cy="423863"/>
            <a:chOff x="1313" y="2496"/>
            <a:chExt cx="1252" cy="427"/>
          </a:xfrm>
        </p:grpSpPr>
        <p:sp>
          <p:nvSpPr>
            <p:cNvPr id="205837" name="Freeform 2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5838" name="Freeform 2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5839" name="Oval 25"/>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5840" name="Oval 26"/>
            <p:cNvSpPr>
              <a:spLocks noChangeArrowheads="1"/>
            </p:cNvSpPr>
            <p:nvPr/>
          </p:nvSpPr>
          <p:spPr bwMode="auto">
            <a:xfrm>
              <a:off x="1945" y="2640"/>
              <a:ext cx="102" cy="96"/>
            </a:xfrm>
            <a:prstGeom prst="ellipse">
              <a:avLst/>
            </a:prstGeom>
            <a:solidFill>
              <a:srgbClr val="FF6600"/>
            </a:solidFill>
            <a:ln w="19050">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22222E-6 7.40741E-7 L 0.40417 7.40741E-7 " pathEditMode="relative" rAng="0" ptsTypes="AA">
                                      <p:cBhvr>
                                        <p:cTn id="6" dur="2000" fill="hold"/>
                                        <p:tgtEl>
                                          <p:spTgt spid="5"/>
                                        </p:tgtEl>
                                        <p:attrNameLst>
                                          <p:attrName>ppt_x</p:attrName>
                                          <p:attrName>ppt_y</p:attrName>
                                        </p:attrNameLst>
                                      </p:cBhvr>
                                      <p:rCtr x="202" y="0"/>
                                    </p:animMotion>
                                  </p:childTnLst>
                                </p:cTn>
                              </p:par>
                              <p:par>
                                <p:cTn id="7" presetID="0" presetClass="path" presetSubtype="0" accel="50000" decel="50000" fill="hold" grpId="0" nodeType="withEffect">
                                  <p:stCondLst>
                                    <p:cond delay="0"/>
                                  </p:stCondLst>
                                  <p:childTnLst>
                                    <p:animMotion origin="layout" path="M 0.0 0.0 L 0.0 -0.18519 " pathEditMode="relative" rAng="0" ptsTypes="AA">
                                      <p:cBhvr>
                                        <p:cTn id="8" dur="2000" fill="hold"/>
                                        <p:tgtEl>
                                          <p:spTgt spid="839701"/>
                                        </p:tgtEl>
                                        <p:attrNameLst>
                                          <p:attrName>ppt_x</p:attrName>
                                          <p:attrName>ppt_y</p:attrName>
                                        </p:attrNameLst>
                                      </p:cBhvr>
                                      <p:rCtr x="0"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1" grpId="0" animBg="1"/>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4"/>
          <p:cNvSpPr>
            <a:spLocks noGrp="1"/>
          </p:cNvSpPr>
          <p:nvPr>
            <p:ph type="ftr" sz="quarter" idx="10"/>
          </p:nvPr>
        </p:nvSpPr>
        <p:spPr/>
        <p:txBody>
          <a:bodyPr/>
          <a:lstStyle/>
          <a:p>
            <a:pPr>
              <a:defRPr/>
            </a:pPr>
            <a:r>
              <a:rPr lang="en-US"/>
              <a:t>Art of Multiprocessor Programming</a:t>
            </a:r>
          </a:p>
        </p:txBody>
      </p:sp>
      <p:sp>
        <p:nvSpPr>
          <p:cNvPr id="31" name="Slide Number Placeholder 5"/>
          <p:cNvSpPr>
            <a:spLocks noGrp="1"/>
          </p:cNvSpPr>
          <p:nvPr>
            <p:ph type="sldNum" sz="quarter" idx="11"/>
          </p:nvPr>
        </p:nvSpPr>
        <p:spPr/>
        <p:txBody>
          <a:bodyPr/>
          <a:lstStyle/>
          <a:p>
            <a:pPr>
              <a:defRPr/>
            </a:pPr>
            <a:fld id="{171E7423-2C53-40A9-8D10-7DBA42965BA2}" type="slidenum">
              <a:rPr lang="en-US"/>
              <a:pPr>
                <a:defRPr/>
              </a:pPr>
              <a:t>208</a:t>
            </a:fld>
            <a:endParaRPr lang="en-US"/>
          </a:p>
        </p:txBody>
      </p:sp>
      <p:grpSp>
        <p:nvGrpSpPr>
          <p:cNvPr id="206852" name="Group 2"/>
          <p:cNvGrpSpPr>
            <a:grpSpLocks/>
          </p:cNvGrpSpPr>
          <p:nvPr/>
        </p:nvGrpSpPr>
        <p:grpSpPr bwMode="auto">
          <a:xfrm>
            <a:off x="1787525" y="2209800"/>
            <a:ext cx="1377950" cy="423863"/>
            <a:chOff x="1313" y="2496"/>
            <a:chExt cx="1252" cy="427"/>
          </a:xfrm>
        </p:grpSpPr>
        <p:sp>
          <p:nvSpPr>
            <p:cNvPr id="206876"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6877"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6878" name="Oval 5"/>
            <p:cNvSpPr>
              <a:spLocks noChangeArrowheads="1"/>
            </p:cNvSpPr>
            <p:nvPr/>
          </p:nvSpPr>
          <p:spPr bwMode="auto">
            <a:xfrm>
              <a:off x="1722" y="2579"/>
              <a:ext cx="391" cy="344"/>
            </a:xfrm>
            <a:prstGeom prst="ellipse">
              <a:avLst/>
            </a:pr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6879" name="Oval 6"/>
            <p:cNvSpPr>
              <a:spLocks noChangeArrowheads="1"/>
            </p:cNvSpPr>
            <p:nvPr/>
          </p:nvSpPr>
          <p:spPr bwMode="auto">
            <a:xfrm>
              <a:off x="1945" y="2640"/>
              <a:ext cx="102" cy="96"/>
            </a:xfrm>
            <a:prstGeom prst="ellipse">
              <a:avLst/>
            </a:prstGeom>
            <a:solidFill>
              <a:schemeClr val="bg2"/>
            </a:solidFill>
            <a:ln w="19050">
              <a:solidFill>
                <a:schemeClr val="bg2"/>
              </a:solidFill>
              <a:round/>
              <a:headEnd/>
              <a:tailEnd/>
            </a:ln>
          </p:spPr>
          <p:txBody>
            <a:bodyPr wrap="none" anchor="ctr"/>
            <a:lstStyle/>
            <a:p>
              <a:endParaRPr lang="en-US" dirty="0">
                <a:latin typeface="Courier New" pitchFamily="49" charset="0"/>
              </a:endParaRPr>
            </a:p>
          </p:txBody>
        </p:sp>
      </p:grpSp>
      <p:grpSp>
        <p:nvGrpSpPr>
          <p:cNvPr id="206853" name="Group 7"/>
          <p:cNvGrpSpPr>
            <a:grpSpLocks/>
          </p:cNvGrpSpPr>
          <p:nvPr/>
        </p:nvGrpSpPr>
        <p:grpSpPr bwMode="auto">
          <a:xfrm>
            <a:off x="1978025" y="2336800"/>
            <a:ext cx="1377950" cy="423863"/>
            <a:chOff x="1313" y="2496"/>
            <a:chExt cx="1252" cy="427"/>
          </a:xfrm>
        </p:grpSpPr>
        <p:sp>
          <p:nvSpPr>
            <p:cNvPr id="206872" name="Freeform 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6873" name="Freeform 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6874" name="Oval 1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6875" name="Oval 1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06854" name="Rectangle 12"/>
          <p:cNvSpPr>
            <a:spLocks noGrp="1" noChangeArrowheads="1"/>
          </p:cNvSpPr>
          <p:nvPr>
            <p:ph type="title"/>
          </p:nvPr>
        </p:nvSpPr>
        <p:spPr/>
        <p:txBody>
          <a:bodyPr/>
          <a:lstStyle/>
          <a:p>
            <a:r>
              <a:rPr lang="en-US"/>
              <a:t>Tokens &amp; Anti-Tokens Cancel</a:t>
            </a:r>
          </a:p>
        </p:txBody>
      </p:sp>
      <p:sp>
        <p:nvSpPr>
          <p:cNvPr id="206855" name="Line 13"/>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6856" name="Line 14"/>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6857" name="AutoShape 15"/>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4" name="Group 16"/>
          <p:cNvGrpSpPr>
            <a:grpSpLocks/>
          </p:cNvGrpSpPr>
          <p:nvPr/>
        </p:nvGrpSpPr>
        <p:grpSpPr bwMode="auto">
          <a:xfrm>
            <a:off x="5622925" y="2336800"/>
            <a:ext cx="1377950" cy="423863"/>
            <a:chOff x="1313" y="2496"/>
            <a:chExt cx="1252" cy="427"/>
          </a:xfrm>
        </p:grpSpPr>
        <p:sp>
          <p:nvSpPr>
            <p:cNvPr id="206868" name="Freeform 1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6869" name="Freeform 1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6870" name="Oval 1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06871" name="Oval 2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 name="Group 21"/>
          <p:cNvGrpSpPr>
            <a:grpSpLocks/>
          </p:cNvGrpSpPr>
          <p:nvPr/>
        </p:nvGrpSpPr>
        <p:grpSpPr bwMode="auto">
          <a:xfrm>
            <a:off x="5473700" y="2209800"/>
            <a:ext cx="1377950" cy="423863"/>
            <a:chOff x="1313" y="2496"/>
            <a:chExt cx="1252" cy="427"/>
          </a:xfrm>
        </p:grpSpPr>
        <p:sp>
          <p:nvSpPr>
            <p:cNvPr id="206864" name="Freeform 2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6865" name="Freeform 2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6866" name="Oval 24"/>
            <p:cNvSpPr>
              <a:spLocks noChangeArrowheads="1"/>
            </p:cNvSpPr>
            <p:nvPr/>
          </p:nvSpPr>
          <p:spPr bwMode="auto">
            <a:xfrm>
              <a:off x="1722" y="2579"/>
              <a:ext cx="391" cy="344"/>
            </a:xfrm>
            <a:prstGeom prst="ellipse">
              <a:avLst/>
            </a:pr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06867" name="Oval 25"/>
            <p:cNvSpPr>
              <a:spLocks noChangeArrowheads="1"/>
            </p:cNvSpPr>
            <p:nvPr/>
          </p:nvSpPr>
          <p:spPr bwMode="auto">
            <a:xfrm>
              <a:off x="1945" y="2640"/>
              <a:ext cx="102" cy="96"/>
            </a:xfrm>
            <a:prstGeom prst="ellipse">
              <a:avLst/>
            </a:prstGeom>
            <a:solidFill>
              <a:srgbClr val="FF6600"/>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 name="Group 26"/>
          <p:cNvGrpSpPr>
            <a:grpSpLocks/>
          </p:cNvGrpSpPr>
          <p:nvPr/>
        </p:nvGrpSpPr>
        <p:grpSpPr bwMode="auto">
          <a:xfrm>
            <a:off x="4953000" y="1562100"/>
            <a:ext cx="3022600" cy="1955800"/>
            <a:chOff x="3120" y="984"/>
            <a:chExt cx="1904" cy="1232"/>
          </a:xfrm>
        </p:grpSpPr>
        <p:sp>
          <p:nvSpPr>
            <p:cNvPr id="206862" name="Freeform 27"/>
            <p:cNvSpPr>
              <a:spLocks/>
            </p:cNvSpPr>
            <p:nvPr/>
          </p:nvSpPr>
          <p:spPr bwMode="auto">
            <a:xfrm>
              <a:off x="3120" y="984"/>
              <a:ext cx="1904" cy="1232"/>
            </a:xfrm>
            <a:custGeom>
              <a:avLst/>
              <a:gdLst>
                <a:gd name="T0" fmla="*/ 760 w 1904"/>
                <a:gd name="T1" fmla="*/ 328 h 1232"/>
                <a:gd name="T2" fmla="*/ 560 w 1904"/>
                <a:gd name="T3" fmla="*/ 72 h 1232"/>
                <a:gd name="T4" fmla="*/ 536 w 1904"/>
                <a:gd name="T5" fmla="*/ 360 h 1232"/>
                <a:gd name="T6" fmla="*/ 0 w 1904"/>
                <a:gd name="T7" fmla="*/ 160 h 1232"/>
                <a:gd name="T8" fmla="*/ 368 w 1904"/>
                <a:gd name="T9" fmla="*/ 624 h 1232"/>
                <a:gd name="T10" fmla="*/ 168 w 1904"/>
                <a:gd name="T11" fmla="*/ 1064 h 1232"/>
                <a:gd name="T12" fmla="*/ 600 w 1904"/>
                <a:gd name="T13" fmla="*/ 784 h 1232"/>
                <a:gd name="T14" fmla="*/ 1144 w 1904"/>
                <a:gd name="T15" fmla="*/ 1232 h 1232"/>
                <a:gd name="T16" fmla="*/ 1000 w 1904"/>
                <a:gd name="T17" fmla="*/ 848 h 1232"/>
                <a:gd name="T18" fmla="*/ 1904 w 1904"/>
                <a:gd name="T19" fmla="*/ 912 h 1232"/>
                <a:gd name="T20" fmla="*/ 1168 w 1904"/>
                <a:gd name="T21" fmla="*/ 560 h 1232"/>
                <a:gd name="T22" fmla="*/ 1808 w 1904"/>
                <a:gd name="T23" fmla="*/ 160 h 1232"/>
                <a:gd name="T24" fmla="*/ 1040 w 1904"/>
                <a:gd name="T25" fmla="*/ 384 h 1232"/>
                <a:gd name="T26" fmla="*/ 952 w 1904"/>
                <a:gd name="T27" fmla="*/ 0 h 1232"/>
                <a:gd name="T28" fmla="*/ 760 w 1904"/>
                <a:gd name="T29" fmla="*/ 328 h 1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04"/>
                <a:gd name="T46" fmla="*/ 0 h 1232"/>
                <a:gd name="T47" fmla="*/ 1904 w 1904"/>
                <a:gd name="T48" fmla="*/ 1232 h 12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04" h="1232">
                  <a:moveTo>
                    <a:pt x="760" y="328"/>
                  </a:moveTo>
                  <a:lnTo>
                    <a:pt x="560" y="72"/>
                  </a:lnTo>
                  <a:lnTo>
                    <a:pt x="536" y="360"/>
                  </a:lnTo>
                  <a:lnTo>
                    <a:pt x="0" y="160"/>
                  </a:lnTo>
                  <a:lnTo>
                    <a:pt x="368" y="624"/>
                  </a:lnTo>
                  <a:lnTo>
                    <a:pt x="168" y="1064"/>
                  </a:lnTo>
                  <a:lnTo>
                    <a:pt x="600" y="784"/>
                  </a:lnTo>
                  <a:lnTo>
                    <a:pt x="1144" y="1232"/>
                  </a:lnTo>
                  <a:lnTo>
                    <a:pt x="1000" y="848"/>
                  </a:lnTo>
                  <a:lnTo>
                    <a:pt x="1904" y="912"/>
                  </a:lnTo>
                  <a:lnTo>
                    <a:pt x="1168" y="560"/>
                  </a:lnTo>
                  <a:lnTo>
                    <a:pt x="1808" y="160"/>
                  </a:lnTo>
                  <a:lnTo>
                    <a:pt x="1040" y="384"/>
                  </a:lnTo>
                  <a:lnTo>
                    <a:pt x="952" y="0"/>
                  </a:lnTo>
                  <a:lnTo>
                    <a:pt x="760" y="328"/>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sp>
          <p:nvSpPr>
            <p:cNvPr id="206863" name="Text Box 28"/>
            <p:cNvSpPr txBox="1">
              <a:spLocks noChangeArrowheads="1"/>
            </p:cNvSpPr>
            <p:nvPr/>
          </p:nvSpPr>
          <p:spPr bwMode="auto">
            <a:xfrm>
              <a:off x="3683" y="1323"/>
              <a:ext cx="379" cy="442"/>
            </a:xfrm>
            <a:prstGeom prst="rect">
              <a:avLst/>
            </a:prstGeom>
            <a:noFill/>
            <a:ln w="9525" algn="ctr">
              <a:noFill/>
              <a:miter lim="800000"/>
              <a:headEnd/>
              <a:tailEnd/>
            </a:ln>
          </p:spPr>
          <p:txBody>
            <a:bodyPr wrap="none">
              <a:spAutoFit/>
            </a:bodyPr>
            <a:lstStyle/>
            <a:p>
              <a:pPr algn="r">
                <a:spcBef>
                  <a:spcPct val="0"/>
                </a:spcBef>
              </a:pPr>
              <a:r>
                <a:rPr lang="el-GR" sz="4000" b="0" dirty="0">
                  <a:solidFill>
                    <a:srgbClr val="FF0000"/>
                  </a:solidFill>
                  <a:latin typeface="Arial" pitchFamily="34" charset="0"/>
                  <a:sym typeface="Symbol" pitchFamily="18" charset="2"/>
                </a:rPr>
                <a:t></a:t>
              </a:r>
            </a:p>
          </p:txBody>
        </p:sp>
      </p:grpSp>
      <p:sp>
        <p:nvSpPr>
          <p:cNvPr id="206861" name="Line 29"/>
          <p:cNvSpPr>
            <a:spLocks noChangeShapeType="1"/>
          </p:cNvSpPr>
          <p:nvPr/>
        </p:nvSpPr>
        <p:spPr bwMode="auto">
          <a:xfrm>
            <a:off x="4419600" y="2489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3" presetClass="exit" presetSubtype="10" fill="hold" nodeType="withEffect">
                                  <p:stCondLst>
                                    <p:cond delay="0"/>
                                  </p:stCondLst>
                                  <p:childTnLst>
                                    <p:animEffect transition="out" filter="blinds(horizontal)">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linds(horizontal)">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4"/>
          <p:cNvSpPr>
            <a:spLocks noGrp="1"/>
          </p:cNvSpPr>
          <p:nvPr>
            <p:ph type="ftr" sz="quarter" idx="10"/>
          </p:nvPr>
        </p:nvSpPr>
        <p:spPr/>
        <p:txBody>
          <a:bodyPr/>
          <a:lstStyle/>
          <a:p>
            <a:pPr>
              <a:defRPr/>
            </a:pPr>
            <a:r>
              <a:rPr lang="en-US"/>
              <a:t>Art of Multiprocessor Programming</a:t>
            </a:r>
          </a:p>
        </p:txBody>
      </p:sp>
      <p:sp>
        <p:nvSpPr>
          <p:cNvPr id="21" name="Slide Number Placeholder 5"/>
          <p:cNvSpPr>
            <a:spLocks noGrp="1"/>
          </p:cNvSpPr>
          <p:nvPr>
            <p:ph type="sldNum" sz="quarter" idx="11"/>
          </p:nvPr>
        </p:nvSpPr>
        <p:spPr/>
        <p:txBody>
          <a:bodyPr/>
          <a:lstStyle/>
          <a:p>
            <a:pPr>
              <a:defRPr/>
            </a:pPr>
            <a:fld id="{71453364-0FFD-4845-B8A3-8A5CCED7044B}" type="slidenum">
              <a:rPr lang="en-US"/>
              <a:pPr>
                <a:defRPr/>
              </a:pPr>
              <a:t>209</a:t>
            </a:fld>
            <a:endParaRPr lang="en-US"/>
          </a:p>
        </p:txBody>
      </p:sp>
      <p:sp>
        <p:nvSpPr>
          <p:cNvPr id="207876" name="AutoShape 2"/>
          <p:cNvSpPr>
            <a:spLocks noChangeArrowheads="1"/>
          </p:cNvSpPr>
          <p:nvPr/>
        </p:nvSpPr>
        <p:spPr bwMode="auto">
          <a:xfrm>
            <a:off x="6515100" y="1854200"/>
            <a:ext cx="673100" cy="393700"/>
          </a:xfrm>
          <a:prstGeom prst="cloudCallout">
            <a:avLst>
              <a:gd name="adj1" fmla="val -100236"/>
              <a:gd name="adj2" fmla="val 112097"/>
            </a:avLst>
          </a:prstGeom>
          <a:solidFill>
            <a:schemeClr val="folHlink"/>
          </a:solidFill>
          <a:ln w="9525">
            <a:solidFill>
              <a:schemeClr val="folHlink"/>
            </a:solidFill>
            <a:round/>
            <a:headEnd/>
            <a:tailEnd/>
          </a:ln>
        </p:spPr>
        <p:txBody>
          <a:bodyPr anchor="ctr"/>
          <a:lstStyle/>
          <a:p>
            <a:pPr algn="ctr">
              <a:spcBef>
                <a:spcPct val="0"/>
              </a:spcBef>
            </a:pPr>
            <a:endParaRPr lang="en-US" sz="4000" b="0" dirty="0">
              <a:latin typeface="Arial" pitchFamily="34" charset="0"/>
            </a:endParaRPr>
          </a:p>
        </p:txBody>
      </p:sp>
      <p:grpSp>
        <p:nvGrpSpPr>
          <p:cNvPr id="207877" name="Group 3"/>
          <p:cNvGrpSpPr>
            <a:grpSpLocks/>
          </p:cNvGrpSpPr>
          <p:nvPr/>
        </p:nvGrpSpPr>
        <p:grpSpPr bwMode="auto">
          <a:xfrm>
            <a:off x="1787525" y="2209800"/>
            <a:ext cx="1377950" cy="423863"/>
            <a:chOff x="1313" y="2496"/>
            <a:chExt cx="1252" cy="427"/>
          </a:xfrm>
        </p:grpSpPr>
        <p:sp>
          <p:nvSpPr>
            <p:cNvPr id="207890" name="Freeform 4"/>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7891" name="Freeform 5"/>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7892" name="Oval 6"/>
            <p:cNvSpPr>
              <a:spLocks noChangeArrowheads="1"/>
            </p:cNvSpPr>
            <p:nvPr/>
          </p:nvSpPr>
          <p:spPr bwMode="auto">
            <a:xfrm>
              <a:off x="1722" y="2579"/>
              <a:ext cx="391" cy="344"/>
            </a:xfrm>
            <a:prstGeom prst="ellipse">
              <a:avLst/>
            </a:prstGeom>
            <a:solidFill>
              <a:schemeClr val="bg2"/>
            </a:solidFill>
            <a:ln w="38100">
              <a:solidFill>
                <a:schemeClr val="bg2"/>
              </a:solidFill>
              <a:round/>
              <a:headEnd/>
              <a:tailEnd/>
            </a:ln>
          </p:spPr>
          <p:txBody>
            <a:bodyPr wrap="none" anchor="ctr"/>
            <a:lstStyle/>
            <a:p>
              <a:endParaRPr lang="en-US" dirty="0">
                <a:latin typeface="Courier New" pitchFamily="49" charset="0"/>
              </a:endParaRPr>
            </a:p>
          </p:txBody>
        </p:sp>
        <p:sp>
          <p:nvSpPr>
            <p:cNvPr id="207893" name="Oval 7"/>
            <p:cNvSpPr>
              <a:spLocks noChangeArrowheads="1"/>
            </p:cNvSpPr>
            <p:nvPr/>
          </p:nvSpPr>
          <p:spPr bwMode="auto">
            <a:xfrm>
              <a:off x="1945" y="2640"/>
              <a:ext cx="102" cy="96"/>
            </a:xfrm>
            <a:prstGeom prst="ellipse">
              <a:avLst/>
            </a:prstGeom>
            <a:solidFill>
              <a:schemeClr val="bg2"/>
            </a:solidFill>
            <a:ln w="19050">
              <a:solidFill>
                <a:schemeClr val="bg2"/>
              </a:solidFill>
              <a:round/>
              <a:headEnd/>
              <a:tailEnd/>
            </a:ln>
          </p:spPr>
          <p:txBody>
            <a:bodyPr wrap="none" anchor="ctr"/>
            <a:lstStyle/>
            <a:p>
              <a:endParaRPr lang="en-US" dirty="0">
                <a:latin typeface="Courier New" pitchFamily="49" charset="0"/>
              </a:endParaRPr>
            </a:p>
          </p:txBody>
        </p:sp>
      </p:grpSp>
      <p:grpSp>
        <p:nvGrpSpPr>
          <p:cNvPr id="207878" name="Group 8"/>
          <p:cNvGrpSpPr>
            <a:grpSpLocks/>
          </p:cNvGrpSpPr>
          <p:nvPr/>
        </p:nvGrpSpPr>
        <p:grpSpPr bwMode="auto">
          <a:xfrm>
            <a:off x="1978025" y="2336800"/>
            <a:ext cx="1377950" cy="423863"/>
            <a:chOff x="1313" y="2496"/>
            <a:chExt cx="1252" cy="427"/>
          </a:xfrm>
        </p:grpSpPr>
        <p:sp>
          <p:nvSpPr>
            <p:cNvPr id="207886" name="Freeform 9"/>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7887" name="Freeform 10"/>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7888" name="Oval 11"/>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7889" name="Oval 12"/>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07879" name="Rectangle 13"/>
          <p:cNvSpPr>
            <a:spLocks noGrp="1" noChangeArrowheads="1"/>
          </p:cNvSpPr>
          <p:nvPr>
            <p:ph type="title"/>
          </p:nvPr>
        </p:nvSpPr>
        <p:spPr/>
        <p:txBody>
          <a:bodyPr/>
          <a:lstStyle/>
          <a:p>
            <a:r>
              <a:rPr lang="en-US"/>
              <a:t>Tokens &amp; Anti-Tokens Cancel</a:t>
            </a:r>
          </a:p>
        </p:txBody>
      </p:sp>
      <p:sp>
        <p:nvSpPr>
          <p:cNvPr id="207880" name="Line 14"/>
          <p:cNvSpPr>
            <a:spLocks noChangeShapeType="1"/>
          </p:cNvSpPr>
          <p:nvPr/>
        </p:nvSpPr>
        <p:spPr bwMode="auto">
          <a:xfrm>
            <a:off x="3294063" y="2516188"/>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7881" name="Line 15"/>
          <p:cNvSpPr>
            <a:spLocks noChangeShapeType="1"/>
          </p:cNvSpPr>
          <p:nvPr/>
        </p:nvSpPr>
        <p:spPr bwMode="auto">
          <a:xfrm>
            <a:off x="3294063" y="3794125"/>
            <a:ext cx="25542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7882" name="AutoShape 16"/>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845841" name="AutoShape 17"/>
          <p:cNvSpPr>
            <a:spLocks noChangeArrowheads="1"/>
          </p:cNvSpPr>
          <p:nvPr/>
        </p:nvSpPr>
        <p:spPr bwMode="auto">
          <a:xfrm>
            <a:off x="3962400" y="1803400"/>
            <a:ext cx="2755900" cy="1079500"/>
          </a:xfrm>
          <a:prstGeom prst="wedgeRoundRectCallout">
            <a:avLst>
              <a:gd name="adj1" fmla="val 25403"/>
              <a:gd name="adj2" fmla="val 208824"/>
              <a:gd name="adj3" fmla="val 16667"/>
            </a:avLst>
          </a:prstGeom>
          <a:noFill/>
          <a:ln w="38100" algn="ctr">
            <a:solidFill>
              <a:srgbClr val="FF0000"/>
            </a:solidFill>
            <a:miter lim="800000"/>
            <a:headEnd/>
            <a:tailEnd/>
          </a:ln>
        </p:spPr>
        <p:txBody>
          <a:bodyPr anchor="ctr"/>
          <a:lstStyle/>
          <a:p>
            <a:pPr algn="ctr">
              <a:spcBef>
                <a:spcPct val="0"/>
              </a:spcBef>
            </a:pPr>
            <a:endParaRPr lang="en-US" sz="4000" b="0" dirty="0">
              <a:latin typeface="Arial" pitchFamily="34" charset="0"/>
            </a:endParaRPr>
          </a:p>
        </p:txBody>
      </p:sp>
      <p:sp>
        <p:nvSpPr>
          <p:cNvPr id="845842" name="Text Box 18"/>
          <p:cNvSpPr txBox="1">
            <a:spLocks noChangeArrowheads="1"/>
          </p:cNvSpPr>
          <p:nvPr/>
        </p:nvSpPr>
        <p:spPr bwMode="auto">
          <a:xfrm>
            <a:off x="4075113" y="4814888"/>
            <a:ext cx="3992562" cy="519112"/>
          </a:xfrm>
          <a:prstGeom prst="rect">
            <a:avLst/>
          </a:prstGeom>
          <a:noFill/>
          <a:ln w="9525" algn="ctr">
            <a:noFill/>
            <a:miter lim="800000"/>
            <a:headEnd/>
            <a:tailEnd/>
          </a:ln>
        </p:spPr>
        <p:txBody>
          <a:bodyPr wrap="none">
            <a:spAutoFit/>
          </a:bodyPr>
          <a:lstStyle/>
          <a:p>
            <a:pPr algn="ctr">
              <a:spcBef>
                <a:spcPct val="0"/>
              </a:spcBef>
            </a:pPr>
            <a:r>
              <a:rPr lang="en-US" sz="2800" b="0" dirty="0">
                <a:solidFill>
                  <a:srgbClr val="FF0000"/>
                </a:solidFill>
                <a:latin typeface="Arial" pitchFamily="34" charset="0"/>
                <a:cs typeface="Arial" pitchFamily="34" charset="0"/>
              </a:rPr>
              <a:t>As if nothing happened</a:t>
            </a:r>
          </a:p>
        </p:txBody>
      </p:sp>
      <p:sp>
        <p:nvSpPr>
          <p:cNvPr id="207885" name="Line 19"/>
          <p:cNvSpPr>
            <a:spLocks noChangeShapeType="1"/>
          </p:cNvSpPr>
          <p:nvPr/>
        </p:nvSpPr>
        <p:spPr bwMode="auto">
          <a:xfrm>
            <a:off x="4419600" y="2489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5841"/>
                                        </p:tgtEl>
                                        <p:attrNameLst>
                                          <p:attrName>style.visibility</p:attrName>
                                        </p:attrNameLst>
                                      </p:cBhvr>
                                      <p:to>
                                        <p:strVal val="visible"/>
                                      </p:to>
                                    </p:set>
                                    <p:animEffect transition="in" filter="blinds(horizontal)">
                                      <p:cBhvr>
                                        <p:cTn id="7" dur="500"/>
                                        <p:tgtEl>
                                          <p:spTgt spid="84584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45842"/>
                                        </p:tgtEl>
                                        <p:attrNameLst>
                                          <p:attrName>style.visibility</p:attrName>
                                        </p:attrNameLst>
                                      </p:cBhvr>
                                      <p:to>
                                        <p:strVal val="visible"/>
                                      </p:to>
                                    </p:set>
                                    <p:animEffect transition="in" filter="blinds(horizontal)">
                                      <p:cBhvr>
                                        <p:cTn id="10" dur="500"/>
                                        <p:tgtEl>
                                          <p:spTgt spid="84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41" grpId="0" animBg="1"/>
      <p:bldP spid="845842"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t>Art of Multiprocessor Programming</a:t>
            </a:r>
          </a:p>
        </p:txBody>
      </p:sp>
      <p:sp>
        <p:nvSpPr>
          <p:cNvPr id="6" name="Slide Number Placeholder 5"/>
          <p:cNvSpPr>
            <a:spLocks noGrp="1"/>
          </p:cNvSpPr>
          <p:nvPr>
            <p:ph type="sldNum" sz="quarter" idx="11"/>
          </p:nvPr>
        </p:nvSpPr>
        <p:spPr/>
        <p:txBody>
          <a:bodyPr/>
          <a:lstStyle/>
          <a:p>
            <a:pPr>
              <a:defRPr/>
            </a:pPr>
            <a:fld id="{75544253-AF33-4A23-8EAA-4A108126D8A6}" type="slidenum">
              <a:rPr lang="en-US"/>
              <a:pPr>
                <a:defRPr/>
              </a:pPr>
              <a:t>210</a:t>
            </a:fld>
            <a:endParaRPr lang="en-US"/>
          </a:p>
        </p:txBody>
      </p:sp>
      <p:sp>
        <p:nvSpPr>
          <p:cNvPr id="208900" name="Rectangle 2"/>
          <p:cNvSpPr>
            <a:spLocks noGrp="1" noChangeArrowheads="1"/>
          </p:cNvSpPr>
          <p:nvPr>
            <p:ph type="title"/>
          </p:nvPr>
        </p:nvSpPr>
        <p:spPr/>
        <p:txBody>
          <a:bodyPr/>
          <a:lstStyle/>
          <a:p>
            <a:r>
              <a:rPr lang="en-US"/>
              <a:t>Tokens vs Antitokens</a:t>
            </a:r>
          </a:p>
        </p:txBody>
      </p:sp>
      <p:sp>
        <p:nvSpPr>
          <p:cNvPr id="208901" name="Rectangle 3"/>
          <p:cNvSpPr>
            <a:spLocks noGrp="1" noChangeArrowheads="1"/>
          </p:cNvSpPr>
          <p:nvPr>
            <p:ph type="body" sz="half" idx="1"/>
          </p:nvPr>
        </p:nvSpPr>
        <p:spPr/>
        <p:txBody>
          <a:bodyPr/>
          <a:lstStyle/>
          <a:p>
            <a:r>
              <a:rPr lang="en-US"/>
              <a:t>Tokens</a:t>
            </a:r>
          </a:p>
          <a:p>
            <a:pPr lvl="1"/>
            <a:r>
              <a:rPr lang="en-US"/>
              <a:t>read balancer</a:t>
            </a:r>
          </a:p>
          <a:p>
            <a:pPr lvl="1"/>
            <a:r>
              <a:rPr lang="en-US"/>
              <a:t>flip</a:t>
            </a:r>
          </a:p>
          <a:p>
            <a:pPr lvl="1"/>
            <a:r>
              <a:rPr lang="en-US"/>
              <a:t>proceed</a:t>
            </a:r>
          </a:p>
        </p:txBody>
      </p:sp>
      <p:sp>
        <p:nvSpPr>
          <p:cNvPr id="208902" name="Rectangle 4"/>
          <p:cNvSpPr>
            <a:spLocks noGrp="1" noChangeArrowheads="1"/>
          </p:cNvSpPr>
          <p:nvPr>
            <p:ph type="body" sz="half" idx="2"/>
          </p:nvPr>
        </p:nvSpPr>
        <p:spPr/>
        <p:txBody>
          <a:bodyPr/>
          <a:lstStyle/>
          <a:p>
            <a:r>
              <a:rPr lang="en-US">
                <a:solidFill>
                  <a:srgbClr val="FF0000"/>
                </a:solidFill>
              </a:rPr>
              <a:t>Antitokens</a:t>
            </a:r>
          </a:p>
          <a:p>
            <a:pPr lvl="1"/>
            <a:r>
              <a:rPr lang="en-US">
                <a:solidFill>
                  <a:srgbClr val="FF0000"/>
                </a:solidFill>
              </a:rPr>
              <a:t>flip balancer</a:t>
            </a:r>
          </a:p>
          <a:p>
            <a:pPr lvl="1"/>
            <a:r>
              <a:rPr lang="en-US">
                <a:solidFill>
                  <a:srgbClr val="FF0000"/>
                </a:solidFill>
              </a:rPr>
              <a:t>read</a:t>
            </a:r>
          </a:p>
          <a:p>
            <a:pPr lvl="1"/>
            <a:r>
              <a:rPr lang="en-US">
                <a:solidFill>
                  <a:srgbClr val="FF0000"/>
                </a:solidFill>
              </a:rPr>
              <a:t>proceed</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Footer Placeholder 3"/>
          <p:cNvSpPr>
            <a:spLocks noGrp="1"/>
          </p:cNvSpPr>
          <p:nvPr>
            <p:ph type="ftr" sz="quarter" idx="10"/>
          </p:nvPr>
        </p:nvSpPr>
        <p:spPr/>
        <p:txBody>
          <a:bodyPr/>
          <a:lstStyle/>
          <a:p>
            <a:pPr>
              <a:defRPr/>
            </a:pPr>
            <a:r>
              <a:rPr lang="en-US"/>
              <a:t>Art of Multiprocessor Programming</a:t>
            </a:r>
          </a:p>
        </p:txBody>
      </p:sp>
      <p:sp>
        <p:nvSpPr>
          <p:cNvPr id="95" name="Slide Number Placeholder 4"/>
          <p:cNvSpPr>
            <a:spLocks noGrp="1"/>
          </p:cNvSpPr>
          <p:nvPr>
            <p:ph type="sldNum" sz="quarter" idx="11"/>
          </p:nvPr>
        </p:nvSpPr>
        <p:spPr/>
        <p:txBody>
          <a:bodyPr/>
          <a:lstStyle/>
          <a:p>
            <a:pPr>
              <a:defRPr/>
            </a:pPr>
            <a:fld id="{66AAA9FB-08F3-4067-95A8-FB50D21B861B}" type="slidenum">
              <a:rPr lang="en-US"/>
              <a:pPr>
                <a:defRPr/>
              </a:pPr>
              <a:t>211</a:t>
            </a:fld>
            <a:endParaRPr lang="en-US"/>
          </a:p>
        </p:txBody>
      </p:sp>
      <p:sp>
        <p:nvSpPr>
          <p:cNvPr id="209924" name="Rectangle 2"/>
          <p:cNvSpPr>
            <a:spLocks noGrp="1" noChangeArrowheads="1"/>
          </p:cNvSpPr>
          <p:nvPr>
            <p:ph type="title"/>
          </p:nvPr>
        </p:nvSpPr>
        <p:spPr/>
        <p:txBody>
          <a:bodyPr/>
          <a:lstStyle/>
          <a:p>
            <a:r>
              <a:rPr lang="en-US"/>
              <a:t>Pumping Lemma</a:t>
            </a:r>
          </a:p>
        </p:txBody>
      </p:sp>
      <p:sp>
        <p:nvSpPr>
          <p:cNvPr id="209925" name="Rectangle 3"/>
          <p:cNvSpPr>
            <a:spLocks noChangeArrowheads="1"/>
          </p:cNvSpPr>
          <p:nvPr/>
        </p:nvSpPr>
        <p:spPr bwMode="auto">
          <a:xfrm>
            <a:off x="2743200" y="2590800"/>
            <a:ext cx="4140200" cy="2743200"/>
          </a:xfrm>
          <a:prstGeom prst="rect">
            <a:avLst/>
          </a:prstGeom>
          <a:solidFill>
            <a:schemeClr val="hlink">
              <a:alpha val="89803"/>
            </a:schemeClr>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09926" name="Line 4"/>
          <p:cNvSpPr>
            <a:spLocks noChangeShapeType="1"/>
          </p:cNvSpPr>
          <p:nvPr/>
        </p:nvSpPr>
        <p:spPr bwMode="auto">
          <a:xfrm>
            <a:off x="914400" y="3238500"/>
            <a:ext cx="1778000"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9927" name="Group 5"/>
          <p:cNvGrpSpPr>
            <a:grpSpLocks/>
          </p:cNvGrpSpPr>
          <p:nvPr/>
        </p:nvGrpSpPr>
        <p:grpSpPr bwMode="auto">
          <a:xfrm>
            <a:off x="822325" y="2552700"/>
            <a:ext cx="1377950" cy="423863"/>
            <a:chOff x="1313" y="2496"/>
            <a:chExt cx="1252" cy="427"/>
          </a:xfrm>
        </p:grpSpPr>
        <p:sp>
          <p:nvSpPr>
            <p:cNvPr id="210012" name="Freeform 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13" name="Freeform 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14" name="Oval 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15" name="Oval 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28" name="Group 10"/>
          <p:cNvGrpSpPr>
            <a:grpSpLocks/>
          </p:cNvGrpSpPr>
          <p:nvPr/>
        </p:nvGrpSpPr>
        <p:grpSpPr bwMode="auto">
          <a:xfrm>
            <a:off x="974725" y="2705100"/>
            <a:ext cx="1377950" cy="423863"/>
            <a:chOff x="1313" y="2496"/>
            <a:chExt cx="1252" cy="427"/>
          </a:xfrm>
        </p:grpSpPr>
        <p:sp>
          <p:nvSpPr>
            <p:cNvPr id="210008" name="Freeform 1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09" name="Freeform 1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10" name="Oval 1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11" name="Oval 1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29" name="Group 15"/>
          <p:cNvGrpSpPr>
            <a:grpSpLocks/>
          </p:cNvGrpSpPr>
          <p:nvPr/>
        </p:nvGrpSpPr>
        <p:grpSpPr bwMode="auto">
          <a:xfrm>
            <a:off x="657225" y="1968500"/>
            <a:ext cx="1377950" cy="423863"/>
            <a:chOff x="1313" y="2496"/>
            <a:chExt cx="1252" cy="427"/>
          </a:xfrm>
        </p:grpSpPr>
        <p:sp>
          <p:nvSpPr>
            <p:cNvPr id="210004" name="Freeform 1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05" name="Freeform 1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06" name="Oval 1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07" name="Oval 1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30" name="Group 20"/>
          <p:cNvGrpSpPr>
            <a:grpSpLocks/>
          </p:cNvGrpSpPr>
          <p:nvPr/>
        </p:nvGrpSpPr>
        <p:grpSpPr bwMode="auto">
          <a:xfrm>
            <a:off x="1406525" y="2247900"/>
            <a:ext cx="1377950" cy="423863"/>
            <a:chOff x="1313" y="2496"/>
            <a:chExt cx="1252" cy="427"/>
          </a:xfrm>
        </p:grpSpPr>
        <p:sp>
          <p:nvSpPr>
            <p:cNvPr id="21000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0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0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00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31" name="Group 25"/>
          <p:cNvGrpSpPr>
            <a:grpSpLocks/>
          </p:cNvGrpSpPr>
          <p:nvPr/>
        </p:nvGrpSpPr>
        <p:grpSpPr bwMode="auto">
          <a:xfrm>
            <a:off x="733425" y="2209800"/>
            <a:ext cx="1377950" cy="423863"/>
            <a:chOff x="1313" y="2496"/>
            <a:chExt cx="1252" cy="427"/>
          </a:xfrm>
        </p:grpSpPr>
        <p:sp>
          <p:nvSpPr>
            <p:cNvPr id="209996" name="Freeform 2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97" name="Freeform 2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98" name="Oval 2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99" name="Oval 2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32" name="Group 30"/>
          <p:cNvGrpSpPr>
            <a:grpSpLocks/>
          </p:cNvGrpSpPr>
          <p:nvPr/>
        </p:nvGrpSpPr>
        <p:grpSpPr bwMode="auto">
          <a:xfrm>
            <a:off x="936625" y="2374900"/>
            <a:ext cx="1377950" cy="423863"/>
            <a:chOff x="1313" y="2496"/>
            <a:chExt cx="1252" cy="427"/>
          </a:xfrm>
        </p:grpSpPr>
        <p:sp>
          <p:nvSpPr>
            <p:cNvPr id="209992" name="Freeform 3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93" name="Freeform 3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94" name="Oval 3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95" name="Oval 3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33" name="Group 35"/>
          <p:cNvGrpSpPr>
            <a:grpSpLocks/>
          </p:cNvGrpSpPr>
          <p:nvPr/>
        </p:nvGrpSpPr>
        <p:grpSpPr bwMode="auto">
          <a:xfrm>
            <a:off x="1724025" y="2654300"/>
            <a:ext cx="1377950" cy="423863"/>
            <a:chOff x="1313" y="2496"/>
            <a:chExt cx="1252" cy="427"/>
          </a:xfrm>
        </p:grpSpPr>
        <p:sp>
          <p:nvSpPr>
            <p:cNvPr id="209988" name="Freeform 3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9" name="Freeform 3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90" name="Oval 3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91" name="Oval 3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09934" name="Line 40"/>
          <p:cNvSpPr>
            <a:spLocks noChangeShapeType="1"/>
          </p:cNvSpPr>
          <p:nvPr/>
        </p:nvSpPr>
        <p:spPr bwMode="auto">
          <a:xfrm>
            <a:off x="6934200" y="3136900"/>
            <a:ext cx="1003300"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9935" name="Line 41"/>
          <p:cNvSpPr>
            <a:spLocks noChangeShapeType="1"/>
          </p:cNvSpPr>
          <p:nvPr/>
        </p:nvSpPr>
        <p:spPr bwMode="auto">
          <a:xfrm>
            <a:off x="6934200" y="3822700"/>
            <a:ext cx="1003300"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9936" name="Line 42"/>
          <p:cNvSpPr>
            <a:spLocks noChangeShapeType="1"/>
          </p:cNvSpPr>
          <p:nvPr/>
        </p:nvSpPr>
        <p:spPr bwMode="auto">
          <a:xfrm>
            <a:off x="6934200" y="4508500"/>
            <a:ext cx="1003300"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209937" name="Line 43"/>
          <p:cNvSpPr>
            <a:spLocks noChangeShapeType="1"/>
          </p:cNvSpPr>
          <p:nvPr/>
        </p:nvSpPr>
        <p:spPr bwMode="auto">
          <a:xfrm>
            <a:off x="6934200" y="5194300"/>
            <a:ext cx="1003300" cy="0"/>
          </a:xfrm>
          <a:prstGeom prst="line">
            <a:avLst/>
          </a:pr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grpSp>
        <p:nvGrpSpPr>
          <p:cNvPr id="209938" name="Group 44"/>
          <p:cNvGrpSpPr>
            <a:grpSpLocks/>
          </p:cNvGrpSpPr>
          <p:nvPr/>
        </p:nvGrpSpPr>
        <p:grpSpPr bwMode="auto">
          <a:xfrm>
            <a:off x="6727825" y="2489200"/>
            <a:ext cx="1377950" cy="423863"/>
            <a:chOff x="1313" y="2496"/>
            <a:chExt cx="1252" cy="427"/>
          </a:xfrm>
        </p:grpSpPr>
        <p:sp>
          <p:nvSpPr>
            <p:cNvPr id="209984" name="Freeform 4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5" name="Freeform 4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6" name="Oval 4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7" name="Oval 4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39" name="Group 49"/>
          <p:cNvGrpSpPr>
            <a:grpSpLocks/>
          </p:cNvGrpSpPr>
          <p:nvPr/>
        </p:nvGrpSpPr>
        <p:grpSpPr bwMode="auto">
          <a:xfrm>
            <a:off x="6880225" y="2641600"/>
            <a:ext cx="1377950" cy="423863"/>
            <a:chOff x="1313" y="2496"/>
            <a:chExt cx="1252" cy="427"/>
          </a:xfrm>
        </p:grpSpPr>
        <p:sp>
          <p:nvSpPr>
            <p:cNvPr id="209980" name="Freeform 5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1" name="Freeform 5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2" name="Oval 5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83" name="Oval 5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40" name="Group 54"/>
          <p:cNvGrpSpPr>
            <a:grpSpLocks/>
          </p:cNvGrpSpPr>
          <p:nvPr/>
        </p:nvGrpSpPr>
        <p:grpSpPr bwMode="auto">
          <a:xfrm>
            <a:off x="6702425" y="3924300"/>
            <a:ext cx="1377950" cy="423863"/>
            <a:chOff x="1313" y="2496"/>
            <a:chExt cx="1252" cy="427"/>
          </a:xfrm>
        </p:grpSpPr>
        <p:sp>
          <p:nvSpPr>
            <p:cNvPr id="209976" name="Freeform 5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7" name="Freeform 5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8" name="Oval 5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9" name="Oval 5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41" name="Group 59"/>
          <p:cNvGrpSpPr>
            <a:grpSpLocks/>
          </p:cNvGrpSpPr>
          <p:nvPr/>
        </p:nvGrpSpPr>
        <p:grpSpPr bwMode="auto">
          <a:xfrm>
            <a:off x="6613525" y="4635500"/>
            <a:ext cx="1377950" cy="423863"/>
            <a:chOff x="1313" y="2496"/>
            <a:chExt cx="1252" cy="427"/>
          </a:xfrm>
        </p:grpSpPr>
        <p:sp>
          <p:nvSpPr>
            <p:cNvPr id="209972" name="Freeform 6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3" name="Freeform 6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4" name="Oval 6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5" name="Oval 6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42" name="Group 64"/>
          <p:cNvGrpSpPr>
            <a:grpSpLocks/>
          </p:cNvGrpSpPr>
          <p:nvPr/>
        </p:nvGrpSpPr>
        <p:grpSpPr bwMode="auto">
          <a:xfrm>
            <a:off x="6765925" y="4787900"/>
            <a:ext cx="1377950" cy="423863"/>
            <a:chOff x="1313" y="2496"/>
            <a:chExt cx="1252" cy="427"/>
          </a:xfrm>
        </p:grpSpPr>
        <p:sp>
          <p:nvSpPr>
            <p:cNvPr id="209968" name="Freeform 6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9" name="Freeform 6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0" name="Oval 6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71" name="Oval 6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43" name="Group 69"/>
          <p:cNvGrpSpPr>
            <a:grpSpLocks/>
          </p:cNvGrpSpPr>
          <p:nvPr/>
        </p:nvGrpSpPr>
        <p:grpSpPr bwMode="auto">
          <a:xfrm>
            <a:off x="7032625" y="2794000"/>
            <a:ext cx="1377950" cy="423863"/>
            <a:chOff x="1313" y="2496"/>
            <a:chExt cx="1252" cy="427"/>
          </a:xfrm>
        </p:grpSpPr>
        <p:sp>
          <p:nvSpPr>
            <p:cNvPr id="209964" name="Freeform 7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5" name="Freeform 7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6" name="Oval 7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7" name="Oval 7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44" name="Group 74"/>
          <p:cNvGrpSpPr>
            <a:grpSpLocks/>
          </p:cNvGrpSpPr>
          <p:nvPr/>
        </p:nvGrpSpPr>
        <p:grpSpPr bwMode="auto">
          <a:xfrm>
            <a:off x="1419225" y="2082800"/>
            <a:ext cx="1377950" cy="423863"/>
            <a:chOff x="1313" y="2496"/>
            <a:chExt cx="1252" cy="427"/>
          </a:xfrm>
        </p:grpSpPr>
        <p:sp>
          <p:nvSpPr>
            <p:cNvPr id="209960" name="Freeform 75"/>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1" name="Freeform 76"/>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2" name="Oval 77"/>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63" name="Oval 78"/>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9945" name="Group 79"/>
          <p:cNvGrpSpPr>
            <a:grpSpLocks/>
          </p:cNvGrpSpPr>
          <p:nvPr/>
        </p:nvGrpSpPr>
        <p:grpSpPr bwMode="auto">
          <a:xfrm>
            <a:off x="1571625" y="2235200"/>
            <a:ext cx="1377950" cy="423863"/>
            <a:chOff x="1313" y="2496"/>
            <a:chExt cx="1252" cy="427"/>
          </a:xfrm>
        </p:grpSpPr>
        <p:sp>
          <p:nvSpPr>
            <p:cNvPr id="209956" name="Freeform 8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57" name="Freeform 8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58" name="Oval 8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9959" name="Oval 8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850004" name="AutoShape 84"/>
          <p:cNvSpPr>
            <a:spLocks noChangeArrowheads="1"/>
          </p:cNvSpPr>
          <p:nvPr/>
        </p:nvSpPr>
        <p:spPr bwMode="auto">
          <a:xfrm>
            <a:off x="647700" y="1714500"/>
            <a:ext cx="2349500" cy="1701800"/>
          </a:xfrm>
          <a:prstGeom prst="wedgeRoundRectCallout">
            <a:avLst>
              <a:gd name="adj1" fmla="val 23852"/>
              <a:gd name="adj2" fmla="val 161009"/>
              <a:gd name="adj3" fmla="val 16667"/>
            </a:avLst>
          </a:prstGeom>
          <a:no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850005" name="Text Box 85"/>
          <p:cNvSpPr txBox="1">
            <a:spLocks noChangeArrowheads="1"/>
          </p:cNvSpPr>
          <p:nvPr/>
        </p:nvSpPr>
        <p:spPr bwMode="auto">
          <a:xfrm>
            <a:off x="881063" y="5419725"/>
            <a:ext cx="6777037" cy="519113"/>
          </a:xfrm>
          <a:prstGeom prst="rect">
            <a:avLst/>
          </a:prstGeom>
          <a:solidFill>
            <a:schemeClr val="bg1">
              <a:alpha val="85097"/>
            </a:schemeClr>
          </a:solid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Keep pumping tokens through one wire</a:t>
            </a:r>
          </a:p>
        </p:txBody>
      </p:sp>
      <p:sp>
        <p:nvSpPr>
          <p:cNvPr id="850006" name="AutoShape 86"/>
          <p:cNvSpPr>
            <a:spLocks noChangeArrowheads="1"/>
          </p:cNvSpPr>
          <p:nvPr/>
        </p:nvSpPr>
        <p:spPr bwMode="auto">
          <a:xfrm>
            <a:off x="3930650" y="3441700"/>
            <a:ext cx="1765300" cy="1384300"/>
          </a:xfrm>
          <a:prstGeom prst="wedgeRoundRectCallout">
            <a:avLst>
              <a:gd name="adj1" fmla="val 79588"/>
              <a:gd name="adj2" fmla="val -122708"/>
              <a:gd name="adj3" fmla="val 16667"/>
            </a:avLst>
          </a:prstGeom>
          <a:solidFill>
            <a:schemeClr val="bg1">
              <a:alpha val="45882"/>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850007" name="Text Box 87"/>
          <p:cNvSpPr txBox="1">
            <a:spLocks noChangeArrowheads="1"/>
          </p:cNvSpPr>
          <p:nvPr/>
        </p:nvSpPr>
        <p:spPr bwMode="auto">
          <a:xfrm>
            <a:off x="3230563" y="1498600"/>
            <a:ext cx="5126037" cy="946150"/>
          </a:xfrm>
          <a:prstGeom prst="rect">
            <a:avLst/>
          </a:prstGeom>
          <a:solidFill>
            <a:schemeClr val="bg1">
              <a:alpha val="85097"/>
            </a:schemeClr>
          </a:solidFill>
          <a:ln w="9525" algn="ctr">
            <a:noFill/>
            <a:miter lim="800000"/>
            <a:headEnd/>
            <a:tailEnd/>
          </a:ln>
        </p:spPr>
        <p:txBody>
          <a:bodyPr>
            <a:spAutoFit/>
          </a:bodyPr>
          <a:lstStyle/>
          <a:p>
            <a:pPr algn="ctr">
              <a:spcBef>
                <a:spcPct val="0"/>
              </a:spcBef>
            </a:pPr>
            <a:r>
              <a:rPr lang="en-US" sz="2800" b="0">
                <a:solidFill>
                  <a:srgbClr val="FF0000"/>
                </a:solidFill>
                <a:latin typeface="Arial" pitchFamily="34" charset="0"/>
                <a:cs typeface="Arial" pitchFamily="34" charset="0"/>
              </a:rPr>
              <a:t>Eventually, after </a:t>
            </a:r>
            <a:r>
              <a:rPr lang="en-US" sz="2800" b="0">
                <a:solidFill>
                  <a:schemeClr val="tx2"/>
                </a:solidFill>
                <a:latin typeface="Arial" pitchFamily="34" charset="0"/>
                <a:cs typeface="Arial" pitchFamily="34" charset="0"/>
              </a:rPr>
              <a:t>Ω</a:t>
            </a:r>
            <a:r>
              <a:rPr lang="en-US" sz="2800" b="0">
                <a:solidFill>
                  <a:srgbClr val="FF0000"/>
                </a:solidFill>
                <a:latin typeface="Arial" pitchFamily="34" charset="0"/>
                <a:cs typeface="Arial" pitchFamily="34" charset="0"/>
              </a:rPr>
              <a:t> tokens, network repeats a state</a:t>
            </a:r>
          </a:p>
        </p:txBody>
      </p:sp>
      <p:sp>
        <p:nvSpPr>
          <p:cNvPr id="850008" name="Oval 88"/>
          <p:cNvSpPr>
            <a:spLocks noChangeArrowheads="1"/>
          </p:cNvSpPr>
          <p:nvPr/>
        </p:nvSpPr>
        <p:spPr bwMode="auto">
          <a:xfrm>
            <a:off x="4165600" y="3733800"/>
            <a:ext cx="355600" cy="355600"/>
          </a:xfrm>
          <a:prstGeom prst="ellipse">
            <a:avLst/>
          </a:prstGeom>
          <a:solidFill>
            <a:schemeClr val="folHlink"/>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850009" name="Oval 89"/>
          <p:cNvSpPr>
            <a:spLocks noChangeArrowheads="1"/>
          </p:cNvSpPr>
          <p:nvPr/>
        </p:nvSpPr>
        <p:spPr bwMode="auto">
          <a:xfrm>
            <a:off x="4902200" y="3733800"/>
            <a:ext cx="355600" cy="355600"/>
          </a:xfrm>
          <a:prstGeom prst="ellipse">
            <a:avLst/>
          </a:prstGeom>
          <a:solidFill>
            <a:schemeClr val="folHlink"/>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850010" name="Oval 90"/>
          <p:cNvSpPr>
            <a:spLocks noChangeArrowheads="1"/>
          </p:cNvSpPr>
          <p:nvPr/>
        </p:nvSpPr>
        <p:spPr bwMode="auto">
          <a:xfrm>
            <a:off x="4521200" y="4381500"/>
            <a:ext cx="355600" cy="355600"/>
          </a:xfrm>
          <a:prstGeom prst="ellipse">
            <a:avLst/>
          </a:prstGeom>
          <a:solidFill>
            <a:schemeClr val="folHlink"/>
          </a:solidFill>
          <a:ln w="381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850011" name="Freeform 91"/>
          <p:cNvSpPr>
            <a:spLocks/>
          </p:cNvSpPr>
          <p:nvPr/>
        </p:nvSpPr>
        <p:spPr bwMode="auto">
          <a:xfrm>
            <a:off x="4483100" y="3549650"/>
            <a:ext cx="495300" cy="196850"/>
          </a:xfrm>
          <a:custGeom>
            <a:avLst/>
            <a:gdLst>
              <a:gd name="T0" fmla="*/ 0 w 224"/>
              <a:gd name="T1" fmla="*/ 2147483647 h 76"/>
              <a:gd name="T2" fmla="*/ 2147483647 w 224"/>
              <a:gd name="T3" fmla="*/ 2147483647 h 76"/>
              <a:gd name="T4" fmla="*/ 2147483647 w 224"/>
              <a:gd name="T5" fmla="*/ 2147483647 h 76"/>
              <a:gd name="T6" fmla="*/ 0 60000 65536"/>
              <a:gd name="T7" fmla="*/ 0 60000 65536"/>
              <a:gd name="T8" fmla="*/ 0 60000 65536"/>
              <a:gd name="T9" fmla="*/ 0 w 224"/>
              <a:gd name="T10" fmla="*/ 0 h 76"/>
              <a:gd name="T11" fmla="*/ 224 w 224"/>
              <a:gd name="T12" fmla="*/ 76 h 76"/>
            </a:gdLst>
            <a:ahLst/>
            <a:cxnLst>
              <a:cxn ang="T6">
                <a:pos x="T0" y="T1"/>
              </a:cxn>
              <a:cxn ang="T7">
                <a:pos x="T2" y="T3"/>
              </a:cxn>
              <a:cxn ang="T8">
                <a:pos x="T4" y="T5"/>
              </a:cxn>
            </a:cxnLst>
            <a:rect l="T9" t="T10" r="T11" b="T12"/>
            <a:pathLst>
              <a:path w="224" h="76">
                <a:moveTo>
                  <a:pt x="0" y="76"/>
                </a:moveTo>
                <a:cubicBezTo>
                  <a:pt x="41" y="42"/>
                  <a:pt x="83" y="8"/>
                  <a:pt x="120" y="4"/>
                </a:cubicBezTo>
                <a:cubicBezTo>
                  <a:pt x="157" y="0"/>
                  <a:pt x="190" y="26"/>
                  <a:pt x="224" y="52"/>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850012" name="Freeform 92"/>
          <p:cNvSpPr>
            <a:spLocks/>
          </p:cNvSpPr>
          <p:nvPr/>
        </p:nvSpPr>
        <p:spPr bwMode="auto">
          <a:xfrm rot="7200000">
            <a:off x="4851400" y="4311650"/>
            <a:ext cx="495300" cy="196850"/>
          </a:xfrm>
          <a:custGeom>
            <a:avLst/>
            <a:gdLst>
              <a:gd name="T0" fmla="*/ 0 w 224"/>
              <a:gd name="T1" fmla="*/ 2147483647 h 76"/>
              <a:gd name="T2" fmla="*/ 2147483647 w 224"/>
              <a:gd name="T3" fmla="*/ 2147483647 h 76"/>
              <a:gd name="T4" fmla="*/ 2147483647 w 224"/>
              <a:gd name="T5" fmla="*/ 2147483647 h 76"/>
              <a:gd name="T6" fmla="*/ 0 60000 65536"/>
              <a:gd name="T7" fmla="*/ 0 60000 65536"/>
              <a:gd name="T8" fmla="*/ 0 60000 65536"/>
              <a:gd name="T9" fmla="*/ 0 w 224"/>
              <a:gd name="T10" fmla="*/ 0 h 76"/>
              <a:gd name="T11" fmla="*/ 224 w 224"/>
              <a:gd name="T12" fmla="*/ 76 h 76"/>
            </a:gdLst>
            <a:ahLst/>
            <a:cxnLst>
              <a:cxn ang="T6">
                <a:pos x="T0" y="T1"/>
              </a:cxn>
              <a:cxn ang="T7">
                <a:pos x="T2" y="T3"/>
              </a:cxn>
              <a:cxn ang="T8">
                <a:pos x="T4" y="T5"/>
              </a:cxn>
            </a:cxnLst>
            <a:rect l="T9" t="T10" r="T11" b="T12"/>
            <a:pathLst>
              <a:path w="224" h="76">
                <a:moveTo>
                  <a:pt x="0" y="76"/>
                </a:moveTo>
                <a:cubicBezTo>
                  <a:pt x="41" y="42"/>
                  <a:pt x="83" y="8"/>
                  <a:pt x="120" y="4"/>
                </a:cubicBezTo>
                <a:cubicBezTo>
                  <a:pt x="157" y="0"/>
                  <a:pt x="190" y="26"/>
                  <a:pt x="224" y="52"/>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
        <p:nvSpPr>
          <p:cNvPr id="850013" name="Freeform 93"/>
          <p:cNvSpPr>
            <a:spLocks/>
          </p:cNvSpPr>
          <p:nvPr/>
        </p:nvSpPr>
        <p:spPr bwMode="auto">
          <a:xfrm rot="-6886945">
            <a:off x="4086225" y="4276725"/>
            <a:ext cx="495300" cy="196850"/>
          </a:xfrm>
          <a:custGeom>
            <a:avLst/>
            <a:gdLst>
              <a:gd name="T0" fmla="*/ 0 w 224"/>
              <a:gd name="T1" fmla="*/ 2147483647 h 76"/>
              <a:gd name="T2" fmla="*/ 2147483647 w 224"/>
              <a:gd name="T3" fmla="*/ 2147483647 h 76"/>
              <a:gd name="T4" fmla="*/ 2147483647 w 224"/>
              <a:gd name="T5" fmla="*/ 2147483647 h 76"/>
              <a:gd name="T6" fmla="*/ 0 60000 65536"/>
              <a:gd name="T7" fmla="*/ 0 60000 65536"/>
              <a:gd name="T8" fmla="*/ 0 60000 65536"/>
              <a:gd name="T9" fmla="*/ 0 w 224"/>
              <a:gd name="T10" fmla="*/ 0 h 76"/>
              <a:gd name="T11" fmla="*/ 224 w 224"/>
              <a:gd name="T12" fmla="*/ 76 h 76"/>
            </a:gdLst>
            <a:ahLst/>
            <a:cxnLst>
              <a:cxn ang="T6">
                <a:pos x="T0" y="T1"/>
              </a:cxn>
              <a:cxn ang="T7">
                <a:pos x="T2" y="T3"/>
              </a:cxn>
              <a:cxn ang="T8">
                <a:pos x="T4" y="T5"/>
              </a:cxn>
            </a:cxnLst>
            <a:rect l="T9" t="T10" r="T11" b="T12"/>
            <a:pathLst>
              <a:path w="224" h="76">
                <a:moveTo>
                  <a:pt x="0" y="76"/>
                </a:moveTo>
                <a:cubicBezTo>
                  <a:pt x="41" y="42"/>
                  <a:pt x="83" y="8"/>
                  <a:pt x="120" y="4"/>
                </a:cubicBezTo>
                <a:cubicBezTo>
                  <a:pt x="157" y="0"/>
                  <a:pt x="190" y="26"/>
                  <a:pt x="224" y="52"/>
                </a:cubicBezTo>
              </a:path>
            </a:pathLst>
          </a:custGeom>
          <a:noFill/>
          <a:ln w="76200">
            <a:solidFill>
              <a:schemeClr val="tx1"/>
            </a:solidFill>
            <a:round/>
            <a:headEnd/>
            <a:tailEnd type="triangle" w="med" len="me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0004"/>
                                        </p:tgtEl>
                                        <p:attrNameLst>
                                          <p:attrName>style.visibility</p:attrName>
                                        </p:attrNameLst>
                                      </p:cBhvr>
                                      <p:to>
                                        <p:strVal val="visible"/>
                                      </p:to>
                                    </p:set>
                                    <p:animEffect transition="in" filter="blinds(horizontal)">
                                      <p:cBhvr>
                                        <p:cTn id="7" dur="500"/>
                                        <p:tgtEl>
                                          <p:spTgt spid="85000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50005"/>
                                        </p:tgtEl>
                                        <p:attrNameLst>
                                          <p:attrName>style.visibility</p:attrName>
                                        </p:attrNameLst>
                                      </p:cBhvr>
                                      <p:to>
                                        <p:strVal val="visible"/>
                                      </p:to>
                                    </p:set>
                                    <p:animEffect transition="in" filter="blinds(horizontal)">
                                      <p:cBhvr>
                                        <p:cTn id="10" dur="500"/>
                                        <p:tgtEl>
                                          <p:spTgt spid="85000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50007"/>
                                        </p:tgtEl>
                                        <p:attrNameLst>
                                          <p:attrName>style.visibility</p:attrName>
                                        </p:attrNameLst>
                                      </p:cBhvr>
                                      <p:to>
                                        <p:strVal val="visible"/>
                                      </p:to>
                                    </p:set>
                                    <p:animEffect transition="in" filter="blinds(horizontal)">
                                      <p:cBhvr>
                                        <p:cTn id="15" dur="500"/>
                                        <p:tgtEl>
                                          <p:spTgt spid="85000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50006"/>
                                        </p:tgtEl>
                                        <p:attrNameLst>
                                          <p:attrName>style.visibility</p:attrName>
                                        </p:attrNameLst>
                                      </p:cBhvr>
                                      <p:to>
                                        <p:strVal val="visible"/>
                                      </p:to>
                                    </p:set>
                                    <p:animEffect transition="in" filter="blinds(horizontal)">
                                      <p:cBhvr>
                                        <p:cTn id="18" dur="500"/>
                                        <p:tgtEl>
                                          <p:spTgt spid="850006"/>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50008"/>
                                        </p:tgtEl>
                                        <p:attrNameLst>
                                          <p:attrName>style.visibility</p:attrName>
                                        </p:attrNameLst>
                                      </p:cBhvr>
                                      <p:to>
                                        <p:strVal val="visible"/>
                                      </p:to>
                                    </p:set>
                                    <p:animEffect transition="in" filter="blinds(horizontal)">
                                      <p:cBhvr>
                                        <p:cTn id="21" dur="500"/>
                                        <p:tgtEl>
                                          <p:spTgt spid="85000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50011"/>
                                        </p:tgtEl>
                                        <p:attrNameLst>
                                          <p:attrName>style.visibility</p:attrName>
                                        </p:attrNameLst>
                                      </p:cBhvr>
                                      <p:to>
                                        <p:strVal val="visible"/>
                                      </p:to>
                                    </p:set>
                                    <p:animEffect transition="in" filter="blinds(horizontal)">
                                      <p:cBhvr>
                                        <p:cTn id="24" dur="500"/>
                                        <p:tgtEl>
                                          <p:spTgt spid="850011"/>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850009"/>
                                        </p:tgtEl>
                                        <p:attrNameLst>
                                          <p:attrName>style.visibility</p:attrName>
                                        </p:attrNameLst>
                                      </p:cBhvr>
                                      <p:to>
                                        <p:strVal val="visible"/>
                                      </p:to>
                                    </p:set>
                                    <p:animEffect transition="in" filter="blinds(horizontal)">
                                      <p:cBhvr>
                                        <p:cTn id="27" dur="500"/>
                                        <p:tgtEl>
                                          <p:spTgt spid="850009"/>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850012"/>
                                        </p:tgtEl>
                                        <p:attrNameLst>
                                          <p:attrName>style.visibility</p:attrName>
                                        </p:attrNameLst>
                                      </p:cBhvr>
                                      <p:to>
                                        <p:strVal val="visible"/>
                                      </p:to>
                                    </p:set>
                                    <p:animEffect transition="in" filter="blinds(horizontal)">
                                      <p:cBhvr>
                                        <p:cTn id="30" dur="500"/>
                                        <p:tgtEl>
                                          <p:spTgt spid="850012"/>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850010"/>
                                        </p:tgtEl>
                                        <p:attrNameLst>
                                          <p:attrName>style.visibility</p:attrName>
                                        </p:attrNameLst>
                                      </p:cBhvr>
                                      <p:to>
                                        <p:strVal val="visible"/>
                                      </p:to>
                                    </p:set>
                                    <p:animEffect transition="in" filter="blinds(horizontal)">
                                      <p:cBhvr>
                                        <p:cTn id="33" dur="500"/>
                                        <p:tgtEl>
                                          <p:spTgt spid="850010"/>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850013"/>
                                        </p:tgtEl>
                                        <p:attrNameLst>
                                          <p:attrName>style.visibility</p:attrName>
                                        </p:attrNameLst>
                                      </p:cBhvr>
                                      <p:to>
                                        <p:strVal val="visible"/>
                                      </p:to>
                                    </p:set>
                                    <p:animEffect transition="in" filter="blinds(horizontal)">
                                      <p:cBhvr>
                                        <p:cTn id="36" dur="500"/>
                                        <p:tgtEl>
                                          <p:spTgt spid="850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04" grpId="0" animBg="1"/>
      <p:bldP spid="850005" grpId="0" animBg="1"/>
      <p:bldP spid="850006" grpId="0" animBg="1"/>
      <p:bldP spid="850007" grpId="0" animBg="1"/>
      <p:bldP spid="850008" grpId="0" animBg="1"/>
      <p:bldP spid="850009" grpId="0" animBg="1"/>
      <p:bldP spid="850010" grpId="0" animBg="1"/>
      <p:bldP spid="850011" grpId="0" animBg="1"/>
      <p:bldP spid="850012" grpId="0" animBg="1"/>
      <p:bldP spid="850013" grpId="0" animBg="1"/>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2"/>
          <p:cNvSpPr>
            <a:spLocks noGrp="1"/>
          </p:cNvSpPr>
          <p:nvPr>
            <p:ph type="ftr" sz="quarter" idx="10"/>
          </p:nvPr>
        </p:nvSpPr>
        <p:spPr/>
        <p:txBody>
          <a:bodyPr/>
          <a:lstStyle/>
          <a:p>
            <a:pPr>
              <a:defRPr/>
            </a:pPr>
            <a:r>
              <a:rPr lang="en-US"/>
              <a:t>Art of Multiprocessor Programming</a:t>
            </a:r>
          </a:p>
        </p:txBody>
      </p:sp>
      <p:sp>
        <p:nvSpPr>
          <p:cNvPr id="22" name="Slide Number Placeholder 3"/>
          <p:cNvSpPr>
            <a:spLocks noGrp="1"/>
          </p:cNvSpPr>
          <p:nvPr>
            <p:ph type="sldNum" sz="quarter" idx="11"/>
          </p:nvPr>
        </p:nvSpPr>
        <p:spPr/>
        <p:txBody>
          <a:bodyPr/>
          <a:lstStyle/>
          <a:p>
            <a:pPr>
              <a:defRPr/>
            </a:pPr>
            <a:fld id="{D1C3E9A6-0735-41A7-BBA4-173888404995}" type="slidenum">
              <a:rPr lang="en-US"/>
              <a:pPr>
                <a:defRPr/>
              </a:pPr>
              <a:t>212</a:t>
            </a:fld>
            <a:endParaRPr lang="en-US"/>
          </a:p>
        </p:txBody>
      </p:sp>
      <p:sp>
        <p:nvSpPr>
          <p:cNvPr id="210948" name="Rectangle 2"/>
          <p:cNvSpPr>
            <a:spLocks noGrp="1" noChangeArrowheads="1"/>
          </p:cNvSpPr>
          <p:nvPr>
            <p:ph type="title"/>
          </p:nvPr>
        </p:nvSpPr>
        <p:spPr/>
        <p:txBody>
          <a:bodyPr/>
          <a:lstStyle/>
          <a:p>
            <a:r>
              <a:rPr lang="en-US"/>
              <a:t>Anti-Token Effect</a:t>
            </a:r>
          </a:p>
        </p:txBody>
      </p:sp>
      <p:grpSp>
        <p:nvGrpSpPr>
          <p:cNvPr id="210949" name="Group 3"/>
          <p:cNvGrpSpPr>
            <a:grpSpLocks/>
          </p:cNvGrpSpPr>
          <p:nvPr/>
        </p:nvGrpSpPr>
        <p:grpSpPr bwMode="auto">
          <a:xfrm>
            <a:off x="2825750" y="2565400"/>
            <a:ext cx="4140200" cy="609600"/>
            <a:chOff x="1732" y="1968"/>
            <a:chExt cx="2608" cy="384"/>
          </a:xfrm>
        </p:grpSpPr>
        <p:sp>
          <p:nvSpPr>
            <p:cNvPr id="210965" name="Oval 4"/>
            <p:cNvSpPr>
              <a:spLocks noChangeArrowheads="1"/>
            </p:cNvSpPr>
            <p:nvPr/>
          </p:nvSpPr>
          <p:spPr bwMode="auto">
            <a:xfrm>
              <a:off x="1732" y="1968"/>
              <a:ext cx="616" cy="384"/>
            </a:xfrm>
            <a:prstGeom prst="ellipse">
              <a:avLst/>
            </a:prstGeom>
            <a:solidFill>
              <a:schemeClr val="accent1"/>
            </a:solidFill>
            <a:ln w="38100" algn="ctr">
              <a:solidFill>
                <a:schemeClr val="tx1"/>
              </a:solidFill>
              <a:round/>
              <a:headEnd/>
              <a:tailEnd/>
            </a:ln>
          </p:spPr>
          <p:txBody>
            <a:bodyPr wrap="none" anchor="ctr"/>
            <a:lstStyle/>
            <a:p>
              <a:endParaRPr lang="en-US" dirty="0">
                <a:latin typeface="Courier New" pitchFamily="49" charset="0"/>
              </a:endParaRPr>
            </a:p>
          </p:txBody>
        </p:sp>
        <p:sp>
          <p:nvSpPr>
            <p:cNvPr id="210966" name="Oval 5"/>
            <p:cNvSpPr>
              <a:spLocks noChangeArrowheads="1"/>
            </p:cNvSpPr>
            <p:nvPr/>
          </p:nvSpPr>
          <p:spPr bwMode="auto">
            <a:xfrm>
              <a:off x="3724" y="1968"/>
              <a:ext cx="616" cy="384"/>
            </a:xfrm>
            <a:prstGeom prst="ellipse">
              <a:avLst/>
            </a:prstGeom>
            <a:solidFill>
              <a:schemeClr val="accent1"/>
            </a:solidFill>
            <a:ln w="38100" algn="ctr">
              <a:solidFill>
                <a:schemeClr val="tx1"/>
              </a:solidFill>
              <a:round/>
              <a:headEnd/>
              <a:tailEnd/>
            </a:ln>
          </p:spPr>
          <p:txBody>
            <a:bodyPr wrap="none" anchor="ctr"/>
            <a:lstStyle/>
            <a:p>
              <a:endParaRPr lang="en-US" dirty="0">
                <a:latin typeface="Courier New" pitchFamily="49" charset="0"/>
              </a:endParaRPr>
            </a:p>
          </p:txBody>
        </p:sp>
      </p:grpSp>
      <p:grpSp>
        <p:nvGrpSpPr>
          <p:cNvPr id="210950" name="Group 6"/>
          <p:cNvGrpSpPr>
            <a:grpSpLocks/>
          </p:cNvGrpSpPr>
          <p:nvPr/>
        </p:nvGrpSpPr>
        <p:grpSpPr bwMode="auto">
          <a:xfrm>
            <a:off x="2825750" y="4025900"/>
            <a:ext cx="4140200" cy="609600"/>
            <a:chOff x="1732" y="1968"/>
            <a:chExt cx="2608" cy="384"/>
          </a:xfrm>
        </p:grpSpPr>
        <p:sp>
          <p:nvSpPr>
            <p:cNvPr id="210963" name="Oval 7"/>
            <p:cNvSpPr>
              <a:spLocks noChangeArrowheads="1"/>
            </p:cNvSpPr>
            <p:nvPr/>
          </p:nvSpPr>
          <p:spPr bwMode="auto">
            <a:xfrm>
              <a:off x="1732" y="1968"/>
              <a:ext cx="616" cy="384"/>
            </a:xfrm>
            <a:prstGeom prst="ellipse">
              <a:avLst/>
            </a:prstGeom>
            <a:solidFill>
              <a:schemeClr val="accent1"/>
            </a:solidFill>
            <a:ln w="38100" algn="ctr">
              <a:solidFill>
                <a:schemeClr val="tx1"/>
              </a:solidFill>
              <a:round/>
              <a:headEnd/>
              <a:tailEnd/>
            </a:ln>
          </p:spPr>
          <p:txBody>
            <a:bodyPr wrap="none" anchor="ctr"/>
            <a:lstStyle/>
            <a:p>
              <a:endParaRPr lang="en-US" dirty="0">
                <a:latin typeface="Courier New" pitchFamily="49" charset="0"/>
              </a:endParaRPr>
            </a:p>
          </p:txBody>
        </p:sp>
        <p:sp>
          <p:nvSpPr>
            <p:cNvPr id="210964" name="Oval 8"/>
            <p:cNvSpPr>
              <a:spLocks noChangeArrowheads="1"/>
            </p:cNvSpPr>
            <p:nvPr/>
          </p:nvSpPr>
          <p:spPr bwMode="auto">
            <a:xfrm>
              <a:off x="3724" y="1968"/>
              <a:ext cx="616" cy="384"/>
            </a:xfrm>
            <a:prstGeom prst="ellipse">
              <a:avLst/>
            </a:prstGeom>
            <a:solidFill>
              <a:schemeClr val="accent1"/>
            </a:solidFill>
            <a:ln w="38100" algn="ctr">
              <a:solidFill>
                <a:schemeClr val="tx1"/>
              </a:solidFill>
              <a:round/>
              <a:headEnd/>
              <a:tailEnd/>
            </a:ln>
          </p:spPr>
          <p:txBody>
            <a:bodyPr wrap="none" anchor="ctr"/>
            <a:lstStyle/>
            <a:p>
              <a:endParaRPr lang="en-US" dirty="0">
                <a:latin typeface="Courier New" pitchFamily="49" charset="0"/>
              </a:endParaRPr>
            </a:p>
          </p:txBody>
        </p:sp>
      </p:grpSp>
      <p:sp>
        <p:nvSpPr>
          <p:cNvPr id="210951" name="Line 9"/>
          <p:cNvSpPr>
            <a:spLocks noChangeShapeType="1"/>
          </p:cNvSpPr>
          <p:nvPr/>
        </p:nvSpPr>
        <p:spPr bwMode="auto">
          <a:xfrm>
            <a:off x="6502400" y="3295650"/>
            <a:ext cx="0" cy="647700"/>
          </a:xfrm>
          <a:prstGeom prst="line">
            <a:avLst/>
          </a:pr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10952" name="Line 10"/>
          <p:cNvSpPr>
            <a:spLocks noChangeShapeType="1"/>
          </p:cNvSpPr>
          <p:nvPr/>
        </p:nvSpPr>
        <p:spPr bwMode="auto">
          <a:xfrm>
            <a:off x="3251200" y="3295650"/>
            <a:ext cx="0" cy="647700"/>
          </a:xfrm>
          <a:prstGeom prst="line">
            <a:avLst/>
          </a:prstGeom>
          <a:noFill/>
          <a:ln w="76200">
            <a:solidFill>
              <a:schemeClr val="accent2"/>
            </a:solidFill>
            <a:round/>
            <a:headEnd type="triangle" w="med" len="med"/>
            <a:tailEnd/>
          </a:ln>
        </p:spPr>
        <p:txBody>
          <a:bodyPr wrap="none" anchor="ctr"/>
          <a:lstStyle/>
          <a:p>
            <a:endParaRPr lang="en-US" dirty="0">
              <a:latin typeface="Courier New" pitchFamily="49" charset="0"/>
            </a:endParaRPr>
          </a:p>
        </p:txBody>
      </p:sp>
      <p:grpSp>
        <p:nvGrpSpPr>
          <p:cNvPr id="210953" name="Group 11"/>
          <p:cNvGrpSpPr>
            <a:grpSpLocks/>
          </p:cNvGrpSpPr>
          <p:nvPr/>
        </p:nvGrpSpPr>
        <p:grpSpPr bwMode="auto">
          <a:xfrm>
            <a:off x="3314700" y="4675188"/>
            <a:ext cx="3111500" cy="730250"/>
            <a:chOff x="2096" y="3129"/>
            <a:chExt cx="1960" cy="460"/>
          </a:xfrm>
        </p:grpSpPr>
        <p:sp>
          <p:nvSpPr>
            <p:cNvPr id="210960" name="Oval 12"/>
            <p:cNvSpPr>
              <a:spLocks noChangeArrowheads="1"/>
            </p:cNvSpPr>
            <p:nvPr/>
          </p:nvSpPr>
          <p:spPr bwMode="auto">
            <a:xfrm>
              <a:off x="2768" y="3205"/>
              <a:ext cx="616" cy="384"/>
            </a:xfrm>
            <a:prstGeom prst="ellipse">
              <a:avLst/>
            </a:prstGeom>
            <a:solidFill>
              <a:schemeClr val="accent1"/>
            </a:solidFill>
            <a:ln w="38100" algn="ctr">
              <a:solidFill>
                <a:schemeClr val="tx1"/>
              </a:solidFill>
              <a:round/>
              <a:headEnd/>
              <a:tailEnd/>
            </a:ln>
          </p:spPr>
          <p:txBody>
            <a:bodyPr wrap="none" anchor="ctr"/>
            <a:lstStyle/>
            <a:p>
              <a:endParaRPr lang="en-US" dirty="0">
                <a:latin typeface="Courier New" pitchFamily="49" charset="0"/>
              </a:endParaRPr>
            </a:p>
          </p:txBody>
        </p:sp>
        <p:sp>
          <p:nvSpPr>
            <p:cNvPr id="210961" name="Freeform 13"/>
            <p:cNvSpPr>
              <a:spLocks/>
            </p:cNvSpPr>
            <p:nvPr/>
          </p:nvSpPr>
          <p:spPr bwMode="auto">
            <a:xfrm flipV="1">
              <a:off x="3472" y="3129"/>
              <a:ext cx="584" cy="295"/>
            </a:xfrm>
            <a:custGeom>
              <a:avLst/>
              <a:gdLst>
                <a:gd name="T0" fmla="*/ 0 w 584"/>
                <a:gd name="T1" fmla="*/ 15 h 295"/>
                <a:gd name="T2" fmla="*/ 392 w 584"/>
                <a:gd name="T3" fmla="*/ 47 h 295"/>
                <a:gd name="T4" fmla="*/ 584 w 584"/>
                <a:gd name="T5" fmla="*/ 295 h 295"/>
                <a:gd name="T6" fmla="*/ 0 60000 65536"/>
                <a:gd name="T7" fmla="*/ 0 60000 65536"/>
                <a:gd name="T8" fmla="*/ 0 60000 65536"/>
                <a:gd name="T9" fmla="*/ 0 w 584"/>
                <a:gd name="T10" fmla="*/ 0 h 295"/>
                <a:gd name="T11" fmla="*/ 584 w 584"/>
                <a:gd name="T12" fmla="*/ 295 h 295"/>
              </a:gdLst>
              <a:ahLst/>
              <a:cxnLst>
                <a:cxn ang="T6">
                  <a:pos x="T0" y="T1"/>
                </a:cxn>
                <a:cxn ang="T7">
                  <a:pos x="T2" y="T3"/>
                </a:cxn>
                <a:cxn ang="T8">
                  <a:pos x="T4" y="T5"/>
                </a:cxn>
              </a:cxnLst>
              <a:rect l="T9" t="T10" r="T11" b="T12"/>
              <a:pathLst>
                <a:path w="584" h="295">
                  <a:moveTo>
                    <a:pt x="0" y="15"/>
                  </a:moveTo>
                  <a:cubicBezTo>
                    <a:pt x="147" y="7"/>
                    <a:pt x="295" y="0"/>
                    <a:pt x="392" y="47"/>
                  </a:cubicBezTo>
                  <a:cubicBezTo>
                    <a:pt x="489" y="94"/>
                    <a:pt x="536" y="194"/>
                    <a:pt x="584" y="295"/>
                  </a:cubicBezTo>
                </a:path>
              </a:pathLst>
            </a:custGeom>
            <a:noFill/>
            <a:ln w="76200">
              <a:solidFill>
                <a:schemeClr val="accent2"/>
              </a:solidFill>
              <a:round/>
              <a:headEnd type="triangle" w="med" len="med"/>
              <a:tailEnd/>
            </a:ln>
          </p:spPr>
          <p:txBody>
            <a:bodyPr wrap="none" anchor="ctr"/>
            <a:lstStyle/>
            <a:p>
              <a:endParaRPr lang="en-US" dirty="0">
                <a:latin typeface="Courier New" pitchFamily="49" charset="0"/>
              </a:endParaRPr>
            </a:p>
          </p:txBody>
        </p:sp>
        <p:sp>
          <p:nvSpPr>
            <p:cNvPr id="210962" name="Freeform 14"/>
            <p:cNvSpPr>
              <a:spLocks/>
            </p:cNvSpPr>
            <p:nvPr/>
          </p:nvSpPr>
          <p:spPr bwMode="auto">
            <a:xfrm flipH="1" flipV="1">
              <a:off x="2096" y="3129"/>
              <a:ext cx="584" cy="295"/>
            </a:xfrm>
            <a:custGeom>
              <a:avLst/>
              <a:gdLst>
                <a:gd name="T0" fmla="*/ 0 w 584"/>
                <a:gd name="T1" fmla="*/ 15 h 295"/>
                <a:gd name="T2" fmla="*/ 392 w 584"/>
                <a:gd name="T3" fmla="*/ 47 h 295"/>
                <a:gd name="T4" fmla="*/ 584 w 584"/>
                <a:gd name="T5" fmla="*/ 295 h 295"/>
                <a:gd name="T6" fmla="*/ 0 60000 65536"/>
                <a:gd name="T7" fmla="*/ 0 60000 65536"/>
                <a:gd name="T8" fmla="*/ 0 60000 65536"/>
                <a:gd name="T9" fmla="*/ 0 w 584"/>
                <a:gd name="T10" fmla="*/ 0 h 295"/>
                <a:gd name="T11" fmla="*/ 584 w 584"/>
                <a:gd name="T12" fmla="*/ 295 h 295"/>
              </a:gdLst>
              <a:ahLst/>
              <a:cxnLst>
                <a:cxn ang="T6">
                  <a:pos x="T0" y="T1"/>
                </a:cxn>
                <a:cxn ang="T7">
                  <a:pos x="T2" y="T3"/>
                </a:cxn>
                <a:cxn ang="T8">
                  <a:pos x="T4" y="T5"/>
                </a:cxn>
              </a:cxnLst>
              <a:rect l="T9" t="T10" r="T11" b="T12"/>
              <a:pathLst>
                <a:path w="584" h="295">
                  <a:moveTo>
                    <a:pt x="0" y="15"/>
                  </a:moveTo>
                  <a:cubicBezTo>
                    <a:pt x="147" y="7"/>
                    <a:pt x="295" y="0"/>
                    <a:pt x="392" y="47"/>
                  </a:cubicBezTo>
                  <a:cubicBezTo>
                    <a:pt x="489" y="94"/>
                    <a:pt x="536" y="194"/>
                    <a:pt x="584" y="295"/>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grpSp>
      <p:sp>
        <p:nvSpPr>
          <p:cNvPr id="210954" name="Oval 15"/>
          <p:cNvSpPr>
            <a:spLocks noChangeArrowheads="1"/>
          </p:cNvSpPr>
          <p:nvPr/>
        </p:nvSpPr>
        <p:spPr bwMode="auto">
          <a:xfrm>
            <a:off x="4381500" y="1747838"/>
            <a:ext cx="977900" cy="609600"/>
          </a:xfrm>
          <a:prstGeom prst="ellipse">
            <a:avLst/>
          </a:prstGeom>
          <a:solidFill>
            <a:schemeClr val="accent1"/>
          </a:solidFill>
          <a:ln w="38100" algn="ctr">
            <a:solidFill>
              <a:schemeClr val="tx1"/>
            </a:solidFill>
            <a:round/>
            <a:headEnd/>
            <a:tailEnd/>
          </a:ln>
        </p:spPr>
        <p:txBody>
          <a:bodyPr wrap="none" anchor="ctr"/>
          <a:lstStyle/>
          <a:p>
            <a:endParaRPr lang="en-US" dirty="0">
              <a:latin typeface="Courier New" pitchFamily="49" charset="0"/>
            </a:endParaRPr>
          </a:p>
        </p:txBody>
      </p:sp>
      <p:sp>
        <p:nvSpPr>
          <p:cNvPr id="210955" name="Freeform 16"/>
          <p:cNvSpPr>
            <a:spLocks/>
          </p:cNvSpPr>
          <p:nvPr/>
        </p:nvSpPr>
        <p:spPr bwMode="auto">
          <a:xfrm>
            <a:off x="5499100" y="2046288"/>
            <a:ext cx="927100" cy="468312"/>
          </a:xfrm>
          <a:custGeom>
            <a:avLst/>
            <a:gdLst>
              <a:gd name="T0" fmla="*/ 0 w 584"/>
              <a:gd name="T1" fmla="*/ 2147483647 h 295"/>
              <a:gd name="T2" fmla="*/ 2147483647 w 584"/>
              <a:gd name="T3" fmla="*/ 2147483647 h 295"/>
              <a:gd name="T4" fmla="*/ 2147483647 w 584"/>
              <a:gd name="T5" fmla="*/ 2147483647 h 295"/>
              <a:gd name="T6" fmla="*/ 0 60000 65536"/>
              <a:gd name="T7" fmla="*/ 0 60000 65536"/>
              <a:gd name="T8" fmla="*/ 0 60000 65536"/>
              <a:gd name="T9" fmla="*/ 0 w 584"/>
              <a:gd name="T10" fmla="*/ 0 h 295"/>
              <a:gd name="T11" fmla="*/ 584 w 584"/>
              <a:gd name="T12" fmla="*/ 295 h 295"/>
            </a:gdLst>
            <a:ahLst/>
            <a:cxnLst>
              <a:cxn ang="T6">
                <a:pos x="T0" y="T1"/>
              </a:cxn>
              <a:cxn ang="T7">
                <a:pos x="T2" y="T3"/>
              </a:cxn>
              <a:cxn ang="T8">
                <a:pos x="T4" y="T5"/>
              </a:cxn>
            </a:cxnLst>
            <a:rect l="T9" t="T10" r="T11" b="T12"/>
            <a:pathLst>
              <a:path w="584" h="295">
                <a:moveTo>
                  <a:pt x="0" y="15"/>
                </a:moveTo>
                <a:cubicBezTo>
                  <a:pt x="147" y="7"/>
                  <a:pt x="295" y="0"/>
                  <a:pt x="392" y="47"/>
                </a:cubicBezTo>
                <a:cubicBezTo>
                  <a:pt x="489" y="94"/>
                  <a:pt x="536" y="194"/>
                  <a:pt x="584" y="295"/>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10956" name="Freeform 17"/>
          <p:cNvSpPr>
            <a:spLocks/>
          </p:cNvSpPr>
          <p:nvPr/>
        </p:nvSpPr>
        <p:spPr bwMode="auto">
          <a:xfrm flipH="1">
            <a:off x="3314700" y="2046288"/>
            <a:ext cx="927100" cy="468312"/>
          </a:xfrm>
          <a:custGeom>
            <a:avLst/>
            <a:gdLst>
              <a:gd name="T0" fmla="*/ 0 w 584"/>
              <a:gd name="T1" fmla="*/ 2147483647 h 295"/>
              <a:gd name="T2" fmla="*/ 2147483647 w 584"/>
              <a:gd name="T3" fmla="*/ 2147483647 h 295"/>
              <a:gd name="T4" fmla="*/ 2147483647 w 584"/>
              <a:gd name="T5" fmla="*/ 2147483647 h 295"/>
              <a:gd name="T6" fmla="*/ 0 60000 65536"/>
              <a:gd name="T7" fmla="*/ 0 60000 65536"/>
              <a:gd name="T8" fmla="*/ 0 60000 65536"/>
              <a:gd name="T9" fmla="*/ 0 w 584"/>
              <a:gd name="T10" fmla="*/ 0 h 295"/>
              <a:gd name="T11" fmla="*/ 584 w 584"/>
              <a:gd name="T12" fmla="*/ 295 h 295"/>
            </a:gdLst>
            <a:ahLst/>
            <a:cxnLst>
              <a:cxn ang="T6">
                <a:pos x="T0" y="T1"/>
              </a:cxn>
              <a:cxn ang="T7">
                <a:pos x="T2" y="T3"/>
              </a:cxn>
              <a:cxn ang="T8">
                <a:pos x="T4" y="T5"/>
              </a:cxn>
            </a:cxnLst>
            <a:rect l="T9" t="T10" r="T11" b="T12"/>
            <a:pathLst>
              <a:path w="584" h="295">
                <a:moveTo>
                  <a:pt x="0" y="15"/>
                </a:moveTo>
                <a:cubicBezTo>
                  <a:pt x="147" y="7"/>
                  <a:pt x="295" y="0"/>
                  <a:pt x="392" y="47"/>
                </a:cubicBezTo>
                <a:cubicBezTo>
                  <a:pt x="489" y="94"/>
                  <a:pt x="536" y="194"/>
                  <a:pt x="584" y="295"/>
                </a:cubicBezTo>
              </a:path>
            </a:pathLst>
          </a:custGeom>
          <a:noFill/>
          <a:ln w="76200">
            <a:solidFill>
              <a:schemeClr val="accent2"/>
            </a:solidFill>
            <a:round/>
            <a:headEnd type="triangle" w="med" len="med"/>
            <a:tailEnd/>
          </a:ln>
        </p:spPr>
        <p:txBody>
          <a:bodyPr wrap="none" anchor="ctr"/>
          <a:lstStyle/>
          <a:p>
            <a:endParaRPr lang="en-US" dirty="0">
              <a:latin typeface="Courier New" pitchFamily="49" charset="0"/>
            </a:endParaRPr>
          </a:p>
        </p:txBody>
      </p:sp>
      <p:sp>
        <p:nvSpPr>
          <p:cNvPr id="210957" name="Text Box 18"/>
          <p:cNvSpPr txBox="1">
            <a:spLocks noChangeArrowheads="1"/>
          </p:cNvSpPr>
          <p:nvPr/>
        </p:nvSpPr>
        <p:spPr bwMode="auto">
          <a:xfrm>
            <a:off x="2340224" y="1647825"/>
            <a:ext cx="1064715" cy="523220"/>
          </a:xfrm>
          <a:prstGeom prst="rect">
            <a:avLst/>
          </a:prstGeom>
          <a:noFill/>
          <a:ln w="38100" algn="ctr">
            <a:noFill/>
            <a:miter lim="800000"/>
            <a:headEnd/>
            <a:tailEnd/>
          </a:ln>
        </p:spPr>
        <p:txBody>
          <a:bodyPr wrap="none">
            <a:spAutoFit/>
          </a:bodyPr>
          <a:lstStyle/>
          <a:p>
            <a:pPr algn="ctr">
              <a:spcBef>
                <a:spcPct val="0"/>
              </a:spcBef>
            </a:pPr>
            <a:r>
              <a:rPr lang="en-US" sz="2800" b="0" dirty="0">
                <a:latin typeface="Arial" pitchFamily="34" charset="0"/>
                <a:cs typeface="Arial" pitchFamily="34" charset="0"/>
              </a:rPr>
              <a:t>token</a:t>
            </a:r>
          </a:p>
        </p:txBody>
      </p:sp>
      <p:sp>
        <p:nvSpPr>
          <p:cNvPr id="850963" name="Freeform 19"/>
          <p:cNvSpPr>
            <a:spLocks/>
          </p:cNvSpPr>
          <p:nvPr/>
        </p:nvSpPr>
        <p:spPr bwMode="auto">
          <a:xfrm flipH="1">
            <a:off x="3632200" y="2251075"/>
            <a:ext cx="622300" cy="314325"/>
          </a:xfrm>
          <a:custGeom>
            <a:avLst/>
            <a:gdLst>
              <a:gd name="T0" fmla="*/ 0 w 584"/>
              <a:gd name="T1" fmla="*/ 2147483647 h 295"/>
              <a:gd name="T2" fmla="*/ 2147483647 w 584"/>
              <a:gd name="T3" fmla="*/ 2147483647 h 295"/>
              <a:gd name="T4" fmla="*/ 2147483647 w 584"/>
              <a:gd name="T5" fmla="*/ 2147483647 h 295"/>
              <a:gd name="T6" fmla="*/ 0 60000 65536"/>
              <a:gd name="T7" fmla="*/ 0 60000 65536"/>
              <a:gd name="T8" fmla="*/ 0 60000 65536"/>
              <a:gd name="T9" fmla="*/ 0 w 584"/>
              <a:gd name="T10" fmla="*/ 0 h 295"/>
              <a:gd name="T11" fmla="*/ 584 w 584"/>
              <a:gd name="T12" fmla="*/ 295 h 295"/>
            </a:gdLst>
            <a:ahLst/>
            <a:cxnLst>
              <a:cxn ang="T6">
                <a:pos x="T0" y="T1"/>
              </a:cxn>
              <a:cxn ang="T7">
                <a:pos x="T2" y="T3"/>
              </a:cxn>
              <a:cxn ang="T8">
                <a:pos x="T4" y="T5"/>
              </a:cxn>
            </a:cxnLst>
            <a:rect l="T9" t="T10" r="T11" b="T12"/>
            <a:pathLst>
              <a:path w="584" h="295">
                <a:moveTo>
                  <a:pt x="0" y="15"/>
                </a:moveTo>
                <a:cubicBezTo>
                  <a:pt x="147" y="7"/>
                  <a:pt x="295" y="0"/>
                  <a:pt x="392" y="47"/>
                </a:cubicBezTo>
                <a:cubicBezTo>
                  <a:pt x="489" y="94"/>
                  <a:pt x="536" y="194"/>
                  <a:pt x="584" y="295"/>
                </a:cubicBezTo>
              </a:path>
            </a:pathLst>
          </a:cu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850964" name="Text Box 20"/>
          <p:cNvSpPr txBox="1">
            <a:spLocks noChangeArrowheads="1"/>
          </p:cNvSpPr>
          <p:nvPr/>
        </p:nvSpPr>
        <p:spPr bwMode="auto">
          <a:xfrm>
            <a:off x="3958468" y="2359025"/>
            <a:ext cx="1765227" cy="523220"/>
          </a:xfrm>
          <a:prstGeom prst="rect">
            <a:avLst/>
          </a:prstGeom>
          <a:noFill/>
          <a:ln w="38100" algn="ctr">
            <a:noFill/>
            <a:miter lim="800000"/>
            <a:headEnd/>
            <a:tailEnd/>
          </a:ln>
        </p:spPr>
        <p:txBody>
          <a:bodyPr wrap="none">
            <a:spAutoFit/>
          </a:bodyPr>
          <a:lstStyle/>
          <a:p>
            <a:pPr algn="ctr">
              <a:spcBef>
                <a:spcPct val="0"/>
              </a:spcBef>
            </a:pPr>
            <a:r>
              <a:rPr lang="en-US" sz="2800" b="0" dirty="0">
                <a:solidFill>
                  <a:srgbClr val="FF0000"/>
                </a:solidFill>
                <a:latin typeface="Arial" pitchFamily="34" charset="0"/>
                <a:cs typeface="Arial" pitchFamily="34" charset="0"/>
              </a:rPr>
              <a:t>anti-token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0963"/>
                                        </p:tgtEl>
                                        <p:attrNameLst>
                                          <p:attrName>style.visibility</p:attrName>
                                        </p:attrNameLst>
                                      </p:cBhvr>
                                      <p:to>
                                        <p:strVal val="visible"/>
                                      </p:to>
                                    </p:set>
                                    <p:animEffect transition="in" filter="blinds(horizontal)">
                                      <p:cBhvr>
                                        <p:cTn id="7" dur="500"/>
                                        <p:tgtEl>
                                          <p:spTgt spid="85096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50964"/>
                                        </p:tgtEl>
                                        <p:attrNameLst>
                                          <p:attrName>style.visibility</p:attrName>
                                        </p:attrNameLst>
                                      </p:cBhvr>
                                      <p:to>
                                        <p:strVal val="visible"/>
                                      </p:to>
                                    </p:set>
                                    <p:animEffect transition="in" filter="blinds(horizontal)">
                                      <p:cBhvr>
                                        <p:cTn id="10" dur="500"/>
                                        <p:tgtEl>
                                          <p:spTgt spid="850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63" grpId="0" animBg="1"/>
      <p:bldP spid="850964"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A7E4CB9-FC16-4D30-830C-CEF6D266BEBB}" type="slidenum">
              <a:rPr lang="en-US"/>
              <a:pPr>
                <a:defRPr/>
              </a:pPr>
              <a:t>213</a:t>
            </a:fld>
            <a:endParaRPr lang="en-US"/>
          </a:p>
        </p:txBody>
      </p:sp>
      <p:sp>
        <p:nvSpPr>
          <p:cNvPr id="211972" name="Rectangle 2"/>
          <p:cNvSpPr>
            <a:spLocks noGrp="1" noChangeArrowheads="1"/>
          </p:cNvSpPr>
          <p:nvPr>
            <p:ph type="title"/>
          </p:nvPr>
        </p:nvSpPr>
        <p:spPr/>
        <p:txBody>
          <a:bodyPr/>
          <a:lstStyle/>
          <a:p>
            <a:r>
              <a:rPr lang="en-US"/>
              <a:t>Observation</a:t>
            </a:r>
          </a:p>
        </p:txBody>
      </p:sp>
      <p:sp>
        <p:nvSpPr>
          <p:cNvPr id="211973" name="Rectangle 3"/>
          <p:cNvSpPr>
            <a:spLocks noGrp="1" noChangeArrowheads="1"/>
          </p:cNvSpPr>
          <p:nvPr>
            <p:ph type="body" idx="1"/>
          </p:nvPr>
        </p:nvSpPr>
        <p:spPr/>
        <p:txBody>
          <a:bodyPr/>
          <a:lstStyle/>
          <a:p>
            <a:r>
              <a:rPr lang="en-US"/>
              <a:t>Each anti-token on wire</a:t>
            </a:r>
            <a:r>
              <a:rPr lang="en-US">
                <a:solidFill>
                  <a:schemeClr val="tx1"/>
                </a:solidFill>
              </a:rPr>
              <a:t> i</a:t>
            </a:r>
          </a:p>
          <a:p>
            <a:pPr lvl="1"/>
            <a:r>
              <a:rPr lang="en-US"/>
              <a:t>Has same effect as </a:t>
            </a:r>
            <a:r>
              <a:rPr lang="el-GR">
                <a:solidFill>
                  <a:schemeClr val="tx1"/>
                </a:solidFill>
              </a:rPr>
              <a:t>Ω</a:t>
            </a:r>
            <a:r>
              <a:rPr lang="en-US">
                <a:solidFill>
                  <a:schemeClr val="tx1"/>
                </a:solidFill>
              </a:rPr>
              <a:t>-1</a:t>
            </a:r>
            <a:r>
              <a:rPr lang="en-US"/>
              <a:t> tokens on wire i</a:t>
            </a:r>
          </a:p>
          <a:p>
            <a:pPr lvl="1"/>
            <a:r>
              <a:rPr lang="en-US"/>
              <a:t>So network still in legal state</a:t>
            </a:r>
            <a:endParaRPr lang="en-US">
              <a:solidFill>
                <a:schemeClr val="tx2"/>
              </a:solidFill>
            </a:endParaRPr>
          </a:p>
          <a:p>
            <a:r>
              <a:rPr lang="en-US"/>
              <a:t>Moreover, network width </a:t>
            </a:r>
            <a:r>
              <a:rPr lang="en-US">
                <a:solidFill>
                  <a:schemeClr val="tx1"/>
                </a:solidFill>
              </a:rPr>
              <a:t>w</a:t>
            </a:r>
            <a:r>
              <a:rPr lang="en-US"/>
              <a:t> divides </a:t>
            </a:r>
            <a:r>
              <a:rPr lang="el-GR">
                <a:solidFill>
                  <a:schemeClr val="tx1"/>
                </a:solidFill>
              </a:rPr>
              <a:t>Ω</a:t>
            </a:r>
            <a:endParaRPr lang="en-US">
              <a:solidFill>
                <a:schemeClr val="tx1"/>
              </a:solidFill>
            </a:endParaRPr>
          </a:p>
          <a:p>
            <a:pPr lvl="1"/>
            <a:r>
              <a:rPr lang="en-US"/>
              <a:t>So </a:t>
            </a:r>
            <a:r>
              <a:rPr lang="el-GR">
                <a:solidFill>
                  <a:schemeClr val="tx1"/>
                </a:solidFill>
              </a:rPr>
              <a:t>Ω</a:t>
            </a:r>
            <a:r>
              <a:rPr lang="en-US">
                <a:solidFill>
                  <a:schemeClr val="tx1"/>
                </a:solidFill>
              </a:rPr>
              <a:t>-1</a:t>
            </a:r>
            <a:r>
              <a:rPr lang="en-US"/>
              <a:t> tokens </a:t>
            </a:r>
            <a:endParaRPr lang="en-US">
              <a:solidFill>
                <a:schemeClr val="tx2"/>
              </a:solidFill>
            </a:endParaRPr>
          </a:p>
          <a:p>
            <a:pPr lvl="1"/>
            <a:endParaRPr lang="el-G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3"/>
          <p:cNvSpPr>
            <a:spLocks noGrp="1"/>
          </p:cNvSpPr>
          <p:nvPr>
            <p:ph type="ftr" sz="quarter" idx="10"/>
          </p:nvPr>
        </p:nvSpPr>
        <p:spPr/>
        <p:txBody>
          <a:bodyPr/>
          <a:lstStyle/>
          <a:p>
            <a:pPr>
              <a:defRPr/>
            </a:pPr>
            <a:r>
              <a:rPr lang="en-US"/>
              <a:t>Art of Multiprocessor Programming</a:t>
            </a:r>
          </a:p>
        </p:txBody>
      </p:sp>
      <p:sp>
        <p:nvSpPr>
          <p:cNvPr id="18" name="Slide Number Placeholder 4"/>
          <p:cNvSpPr>
            <a:spLocks noGrp="1"/>
          </p:cNvSpPr>
          <p:nvPr>
            <p:ph type="sldNum" sz="quarter" idx="11"/>
          </p:nvPr>
        </p:nvSpPr>
        <p:spPr/>
        <p:txBody>
          <a:bodyPr/>
          <a:lstStyle/>
          <a:p>
            <a:pPr>
              <a:defRPr/>
            </a:pPr>
            <a:fld id="{06A995B8-2541-4D59-B318-4C643404AA90}" type="slidenum">
              <a:rPr lang="en-US"/>
              <a:pPr>
                <a:defRPr/>
              </a:pPr>
              <a:t>214</a:t>
            </a:fld>
            <a:endParaRPr lang="en-US"/>
          </a:p>
        </p:txBody>
      </p:sp>
      <p:sp>
        <p:nvSpPr>
          <p:cNvPr id="212996" name="Rectangle 2"/>
          <p:cNvSpPr>
            <a:spLocks noGrp="1" noChangeArrowheads="1"/>
          </p:cNvSpPr>
          <p:nvPr>
            <p:ph type="title"/>
          </p:nvPr>
        </p:nvSpPr>
        <p:spPr/>
        <p:txBody>
          <a:bodyPr/>
          <a:lstStyle/>
          <a:p>
            <a:r>
              <a:rPr lang="en-US"/>
              <a:t>Before Antitoken</a:t>
            </a:r>
          </a:p>
        </p:txBody>
      </p:sp>
      <p:grpSp>
        <p:nvGrpSpPr>
          <p:cNvPr id="212997" name="Group 3"/>
          <p:cNvGrpSpPr>
            <a:grpSpLocks/>
          </p:cNvGrpSpPr>
          <p:nvPr/>
        </p:nvGrpSpPr>
        <p:grpSpPr bwMode="auto">
          <a:xfrm>
            <a:off x="2711450" y="2363788"/>
            <a:ext cx="2760663" cy="2130425"/>
            <a:chOff x="1480" y="1248"/>
            <a:chExt cx="2875" cy="2218"/>
          </a:xfrm>
        </p:grpSpPr>
        <p:sp>
          <p:nvSpPr>
            <p:cNvPr id="212999" name="Line 4"/>
            <p:cNvSpPr>
              <a:spLocks noChangeShapeType="1"/>
            </p:cNvSpPr>
            <p:nvPr/>
          </p:nvSpPr>
          <p:spPr bwMode="auto">
            <a:xfrm>
              <a:off x="1480" y="2031"/>
              <a:ext cx="2875"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3000" name="Line 5"/>
            <p:cNvSpPr>
              <a:spLocks noChangeShapeType="1"/>
            </p:cNvSpPr>
            <p:nvPr/>
          </p:nvSpPr>
          <p:spPr bwMode="auto">
            <a:xfrm>
              <a:off x="1480" y="2719"/>
              <a:ext cx="2875"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3001" name="Oval 6"/>
            <p:cNvSpPr>
              <a:spLocks noChangeArrowheads="1"/>
            </p:cNvSpPr>
            <p:nvPr/>
          </p:nvSpPr>
          <p:spPr bwMode="auto">
            <a:xfrm>
              <a:off x="3041" y="1964"/>
              <a:ext cx="415" cy="165"/>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213002" name="Oval 7"/>
            <p:cNvSpPr>
              <a:spLocks noChangeArrowheads="1"/>
            </p:cNvSpPr>
            <p:nvPr/>
          </p:nvSpPr>
          <p:spPr bwMode="auto">
            <a:xfrm>
              <a:off x="3041" y="2647"/>
              <a:ext cx="415" cy="165"/>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213003" name="Line 8"/>
            <p:cNvSpPr>
              <a:spLocks noChangeShapeType="1"/>
            </p:cNvSpPr>
            <p:nvPr/>
          </p:nvSpPr>
          <p:spPr bwMode="auto">
            <a:xfrm>
              <a:off x="1480" y="1467"/>
              <a:ext cx="2875"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3004" name="Line 9"/>
            <p:cNvSpPr>
              <a:spLocks noChangeShapeType="1"/>
            </p:cNvSpPr>
            <p:nvPr/>
          </p:nvSpPr>
          <p:spPr bwMode="auto">
            <a:xfrm>
              <a:off x="1480" y="3262"/>
              <a:ext cx="2875"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3005" name="AutoShape 10"/>
            <p:cNvSpPr>
              <a:spLocks noChangeArrowheads="1"/>
            </p:cNvSpPr>
            <p:nvPr/>
          </p:nvSpPr>
          <p:spPr bwMode="auto">
            <a:xfrm>
              <a:off x="1786" y="2440"/>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3006" name="AutoShape 11"/>
            <p:cNvSpPr>
              <a:spLocks noChangeArrowheads="1"/>
            </p:cNvSpPr>
            <p:nvPr/>
          </p:nvSpPr>
          <p:spPr bwMode="auto">
            <a:xfrm>
              <a:off x="1776" y="1248"/>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3007" name="AutoShape 12"/>
            <p:cNvSpPr>
              <a:spLocks noChangeArrowheads="1"/>
            </p:cNvSpPr>
            <p:nvPr/>
          </p:nvSpPr>
          <p:spPr bwMode="auto">
            <a:xfrm>
              <a:off x="2462" y="1851"/>
              <a:ext cx="235" cy="1027"/>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3008" name="AutoShape 13"/>
            <p:cNvSpPr>
              <a:spLocks noChangeArrowheads="1"/>
            </p:cNvSpPr>
            <p:nvPr/>
          </p:nvSpPr>
          <p:spPr bwMode="auto">
            <a:xfrm>
              <a:off x="3137" y="1263"/>
              <a:ext cx="235" cy="220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3009" name="AutoShape 14"/>
            <p:cNvSpPr>
              <a:spLocks noChangeArrowheads="1"/>
            </p:cNvSpPr>
            <p:nvPr/>
          </p:nvSpPr>
          <p:spPr bwMode="auto">
            <a:xfrm>
              <a:off x="3813" y="2440"/>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3010" name="AutoShape 15"/>
            <p:cNvSpPr>
              <a:spLocks noChangeArrowheads="1"/>
            </p:cNvSpPr>
            <p:nvPr/>
          </p:nvSpPr>
          <p:spPr bwMode="auto">
            <a:xfrm>
              <a:off x="3813" y="1263"/>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212998" name="Freeform 16"/>
          <p:cNvSpPr>
            <a:spLocks/>
          </p:cNvSpPr>
          <p:nvPr/>
        </p:nvSpPr>
        <p:spPr bwMode="auto">
          <a:xfrm>
            <a:off x="5562600" y="2514600"/>
            <a:ext cx="838200" cy="1828800"/>
          </a:xfrm>
          <a:custGeom>
            <a:avLst/>
            <a:gdLst>
              <a:gd name="T0" fmla="*/ 0 w 528"/>
              <a:gd name="T1" fmla="*/ 0 h 1152"/>
              <a:gd name="T2" fmla="*/ 0 w 528"/>
              <a:gd name="T3" fmla="*/ 2147483647 h 1152"/>
              <a:gd name="T4" fmla="*/ 2147483647 w 528"/>
              <a:gd name="T5" fmla="*/ 2147483647 h 1152"/>
              <a:gd name="T6" fmla="*/ 2147483647 w 528"/>
              <a:gd name="T7" fmla="*/ 2147483647 h 1152"/>
              <a:gd name="T8" fmla="*/ 2147483647 w 528"/>
              <a:gd name="T9" fmla="*/ 2147483647 h 1152"/>
              <a:gd name="T10" fmla="*/ 2147483647 w 528"/>
              <a:gd name="T11" fmla="*/ 0 h 1152"/>
              <a:gd name="T12" fmla="*/ 0 w 528"/>
              <a:gd name="T13" fmla="*/ 0 h 1152"/>
              <a:gd name="T14" fmla="*/ 0 60000 65536"/>
              <a:gd name="T15" fmla="*/ 0 60000 65536"/>
              <a:gd name="T16" fmla="*/ 0 60000 65536"/>
              <a:gd name="T17" fmla="*/ 0 60000 65536"/>
              <a:gd name="T18" fmla="*/ 0 60000 65536"/>
              <a:gd name="T19" fmla="*/ 0 60000 65536"/>
              <a:gd name="T20" fmla="*/ 0 60000 65536"/>
              <a:gd name="T21" fmla="*/ 0 w 528"/>
              <a:gd name="T22" fmla="*/ 0 h 1152"/>
              <a:gd name="T23" fmla="*/ 528 w 528"/>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1152">
                <a:moveTo>
                  <a:pt x="0" y="0"/>
                </a:moveTo>
                <a:lnTo>
                  <a:pt x="0" y="1152"/>
                </a:lnTo>
                <a:lnTo>
                  <a:pt x="264" y="1152"/>
                </a:lnTo>
                <a:lnTo>
                  <a:pt x="264" y="576"/>
                </a:lnTo>
                <a:lnTo>
                  <a:pt x="528" y="584"/>
                </a:lnTo>
                <a:lnTo>
                  <a:pt x="528" y="0"/>
                </a:lnTo>
                <a:lnTo>
                  <a:pt x="0"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3"/>
          <p:cNvSpPr>
            <a:spLocks noGrp="1"/>
          </p:cNvSpPr>
          <p:nvPr>
            <p:ph type="ftr" sz="quarter" idx="10"/>
          </p:nvPr>
        </p:nvSpPr>
        <p:spPr/>
        <p:txBody>
          <a:bodyPr/>
          <a:lstStyle/>
          <a:p>
            <a:pPr>
              <a:defRPr/>
            </a:pPr>
            <a:r>
              <a:rPr lang="en-US"/>
              <a:t>Art of Multiprocessor Programming</a:t>
            </a:r>
          </a:p>
        </p:txBody>
      </p:sp>
      <p:sp>
        <p:nvSpPr>
          <p:cNvPr id="24" name="Slide Number Placeholder 4"/>
          <p:cNvSpPr>
            <a:spLocks noGrp="1"/>
          </p:cNvSpPr>
          <p:nvPr>
            <p:ph type="sldNum" sz="quarter" idx="11"/>
          </p:nvPr>
        </p:nvSpPr>
        <p:spPr/>
        <p:txBody>
          <a:bodyPr/>
          <a:lstStyle/>
          <a:p>
            <a:pPr>
              <a:defRPr/>
            </a:pPr>
            <a:fld id="{230D092D-A0E2-4636-B7EE-408ECCF21EA4}" type="slidenum">
              <a:rPr lang="en-US"/>
              <a:pPr>
                <a:defRPr/>
              </a:pPr>
              <a:t>215</a:t>
            </a:fld>
            <a:endParaRPr lang="en-US"/>
          </a:p>
        </p:txBody>
      </p:sp>
      <p:sp>
        <p:nvSpPr>
          <p:cNvPr id="214020" name="Rectangle 2"/>
          <p:cNvSpPr>
            <a:spLocks noGrp="1" noChangeArrowheads="1"/>
          </p:cNvSpPr>
          <p:nvPr>
            <p:ph type="title"/>
          </p:nvPr>
        </p:nvSpPr>
        <p:spPr/>
        <p:txBody>
          <a:bodyPr/>
          <a:lstStyle/>
          <a:p>
            <a:r>
              <a:rPr lang="en-US"/>
              <a:t>Balancer states as if …</a:t>
            </a:r>
          </a:p>
        </p:txBody>
      </p:sp>
      <p:grpSp>
        <p:nvGrpSpPr>
          <p:cNvPr id="214021" name="Group 3"/>
          <p:cNvGrpSpPr>
            <a:grpSpLocks/>
          </p:cNvGrpSpPr>
          <p:nvPr/>
        </p:nvGrpSpPr>
        <p:grpSpPr bwMode="auto">
          <a:xfrm>
            <a:off x="2711450" y="2363788"/>
            <a:ext cx="2760663" cy="2130425"/>
            <a:chOff x="1480" y="1248"/>
            <a:chExt cx="2875" cy="2218"/>
          </a:xfrm>
        </p:grpSpPr>
        <p:sp>
          <p:nvSpPr>
            <p:cNvPr id="214029" name="Line 4"/>
            <p:cNvSpPr>
              <a:spLocks noChangeShapeType="1"/>
            </p:cNvSpPr>
            <p:nvPr/>
          </p:nvSpPr>
          <p:spPr bwMode="auto">
            <a:xfrm>
              <a:off x="1480" y="2031"/>
              <a:ext cx="2875"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30" name="Line 5"/>
            <p:cNvSpPr>
              <a:spLocks noChangeShapeType="1"/>
            </p:cNvSpPr>
            <p:nvPr/>
          </p:nvSpPr>
          <p:spPr bwMode="auto">
            <a:xfrm>
              <a:off x="1480" y="2719"/>
              <a:ext cx="2875"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31" name="Oval 6"/>
            <p:cNvSpPr>
              <a:spLocks noChangeArrowheads="1"/>
            </p:cNvSpPr>
            <p:nvPr/>
          </p:nvSpPr>
          <p:spPr bwMode="auto">
            <a:xfrm>
              <a:off x="3041" y="1964"/>
              <a:ext cx="415" cy="165"/>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14032" name="Oval 7"/>
            <p:cNvSpPr>
              <a:spLocks noChangeArrowheads="1"/>
            </p:cNvSpPr>
            <p:nvPr/>
          </p:nvSpPr>
          <p:spPr bwMode="auto">
            <a:xfrm>
              <a:off x="3041" y="2647"/>
              <a:ext cx="415" cy="165"/>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14033" name="Line 8"/>
            <p:cNvSpPr>
              <a:spLocks noChangeShapeType="1"/>
            </p:cNvSpPr>
            <p:nvPr/>
          </p:nvSpPr>
          <p:spPr bwMode="auto">
            <a:xfrm>
              <a:off x="1480" y="1467"/>
              <a:ext cx="2875"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34" name="Line 9"/>
            <p:cNvSpPr>
              <a:spLocks noChangeShapeType="1"/>
            </p:cNvSpPr>
            <p:nvPr/>
          </p:nvSpPr>
          <p:spPr bwMode="auto">
            <a:xfrm>
              <a:off x="1480" y="3262"/>
              <a:ext cx="2875"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35" name="AutoShape 10"/>
            <p:cNvSpPr>
              <a:spLocks noChangeArrowheads="1"/>
            </p:cNvSpPr>
            <p:nvPr/>
          </p:nvSpPr>
          <p:spPr bwMode="auto">
            <a:xfrm>
              <a:off x="1786" y="2440"/>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36" name="AutoShape 11"/>
            <p:cNvSpPr>
              <a:spLocks noChangeArrowheads="1"/>
            </p:cNvSpPr>
            <p:nvPr/>
          </p:nvSpPr>
          <p:spPr bwMode="auto">
            <a:xfrm>
              <a:off x="1776" y="1248"/>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37" name="AutoShape 12"/>
            <p:cNvSpPr>
              <a:spLocks noChangeArrowheads="1"/>
            </p:cNvSpPr>
            <p:nvPr/>
          </p:nvSpPr>
          <p:spPr bwMode="auto">
            <a:xfrm>
              <a:off x="2462" y="1851"/>
              <a:ext cx="235" cy="102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38" name="AutoShape 13"/>
            <p:cNvSpPr>
              <a:spLocks noChangeArrowheads="1"/>
            </p:cNvSpPr>
            <p:nvPr/>
          </p:nvSpPr>
          <p:spPr bwMode="auto">
            <a:xfrm>
              <a:off x="3137" y="1263"/>
              <a:ext cx="235" cy="2203"/>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39" name="AutoShape 14"/>
            <p:cNvSpPr>
              <a:spLocks noChangeArrowheads="1"/>
            </p:cNvSpPr>
            <p:nvPr/>
          </p:nvSpPr>
          <p:spPr bwMode="auto">
            <a:xfrm>
              <a:off x="3813" y="2440"/>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40" name="AutoShape 15"/>
            <p:cNvSpPr>
              <a:spLocks noChangeArrowheads="1"/>
            </p:cNvSpPr>
            <p:nvPr/>
          </p:nvSpPr>
          <p:spPr bwMode="auto">
            <a:xfrm>
              <a:off x="3813" y="1263"/>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14022" name="Freeform 16"/>
          <p:cNvSpPr>
            <a:spLocks/>
          </p:cNvSpPr>
          <p:nvPr/>
        </p:nvSpPr>
        <p:spPr bwMode="auto">
          <a:xfrm>
            <a:off x="5562600" y="2514600"/>
            <a:ext cx="838200" cy="1828800"/>
          </a:xfrm>
          <a:custGeom>
            <a:avLst/>
            <a:gdLst>
              <a:gd name="T0" fmla="*/ 0 w 528"/>
              <a:gd name="T1" fmla="*/ 0 h 1152"/>
              <a:gd name="T2" fmla="*/ 0 w 528"/>
              <a:gd name="T3" fmla="*/ 2147483647 h 1152"/>
              <a:gd name="T4" fmla="*/ 2147483647 w 528"/>
              <a:gd name="T5" fmla="*/ 2147483647 h 1152"/>
              <a:gd name="T6" fmla="*/ 2147483647 w 528"/>
              <a:gd name="T7" fmla="*/ 2147483647 h 1152"/>
              <a:gd name="T8" fmla="*/ 2147483647 w 528"/>
              <a:gd name="T9" fmla="*/ 2147483647 h 1152"/>
              <a:gd name="T10" fmla="*/ 2147483647 w 528"/>
              <a:gd name="T11" fmla="*/ 0 h 1152"/>
              <a:gd name="T12" fmla="*/ 0 w 528"/>
              <a:gd name="T13" fmla="*/ 0 h 1152"/>
              <a:gd name="T14" fmla="*/ 0 60000 65536"/>
              <a:gd name="T15" fmla="*/ 0 60000 65536"/>
              <a:gd name="T16" fmla="*/ 0 60000 65536"/>
              <a:gd name="T17" fmla="*/ 0 60000 65536"/>
              <a:gd name="T18" fmla="*/ 0 60000 65536"/>
              <a:gd name="T19" fmla="*/ 0 60000 65536"/>
              <a:gd name="T20" fmla="*/ 0 60000 65536"/>
              <a:gd name="T21" fmla="*/ 0 w 528"/>
              <a:gd name="T22" fmla="*/ 0 h 1152"/>
              <a:gd name="T23" fmla="*/ 528 w 528"/>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1152">
                <a:moveTo>
                  <a:pt x="0" y="0"/>
                </a:moveTo>
                <a:lnTo>
                  <a:pt x="0" y="1152"/>
                </a:lnTo>
                <a:lnTo>
                  <a:pt x="264" y="1152"/>
                </a:lnTo>
                <a:lnTo>
                  <a:pt x="264" y="576"/>
                </a:lnTo>
                <a:lnTo>
                  <a:pt x="528" y="584"/>
                </a:lnTo>
                <a:lnTo>
                  <a:pt x="528" y="0"/>
                </a:lnTo>
                <a:lnTo>
                  <a:pt x="0" y="0"/>
                </a:lnTo>
                <a:close/>
              </a:path>
            </a:pathLst>
          </a:custGeom>
          <a:solidFill>
            <a:schemeClr val="accent1"/>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4023" name="AutoShape 17"/>
          <p:cNvSpPr>
            <a:spLocks noChangeArrowheads="1"/>
          </p:cNvSpPr>
          <p:nvPr/>
        </p:nvSpPr>
        <p:spPr bwMode="auto">
          <a:xfrm>
            <a:off x="762000" y="2209800"/>
            <a:ext cx="1828800" cy="685800"/>
          </a:xfrm>
          <a:prstGeom prst="rightArrow">
            <a:avLst>
              <a:gd name="adj1" fmla="val 50000"/>
              <a:gd name="adj2" fmla="val 66667"/>
            </a:avLst>
          </a:prstGeom>
          <a:solidFill>
            <a:srgbClr val="FFFF00"/>
          </a:solidFill>
          <a:ln w="38100" algn="ctr">
            <a:solidFill>
              <a:schemeClr val="tx1"/>
            </a:solidFill>
            <a:miter lim="800000"/>
            <a:headEnd/>
            <a:tailEnd/>
          </a:ln>
        </p:spPr>
        <p:txBody>
          <a:bodyPr wrap="none" anchor="ctr"/>
          <a:lstStyle/>
          <a:p>
            <a:pPr algn="ctr">
              <a:spcBef>
                <a:spcPct val="0"/>
              </a:spcBef>
            </a:pPr>
            <a:r>
              <a:rPr lang="el-GR" sz="2000" b="0">
                <a:solidFill>
                  <a:schemeClr val="tx1"/>
                </a:solidFill>
                <a:latin typeface="Arial" pitchFamily="34" charset="0"/>
                <a:cs typeface="Arial" pitchFamily="34" charset="0"/>
              </a:rPr>
              <a:t>Ω</a:t>
            </a:r>
            <a:r>
              <a:rPr lang="en-US" sz="2000" b="0">
                <a:solidFill>
                  <a:schemeClr val="tx1"/>
                </a:solidFill>
                <a:latin typeface="Arial" pitchFamily="34" charset="0"/>
                <a:cs typeface="Arial" pitchFamily="34" charset="0"/>
              </a:rPr>
              <a:t>-1</a:t>
            </a:r>
          </a:p>
        </p:txBody>
      </p:sp>
      <p:sp>
        <p:nvSpPr>
          <p:cNvPr id="214024" name="Rectangle 18"/>
          <p:cNvSpPr>
            <a:spLocks noChangeArrowheads="1"/>
          </p:cNvSpPr>
          <p:nvPr/>
        </p:nvSpPr>
        <p:spPr bwMode="auto">
          <a:xfrm>
            <a:off x="5943600" y="3429000"/>
            <a:ext cx="457200" cy="914400"/>
          </a:xfrm>
          <a:prstGeom prst="rect">
            <a:avLst/>
          </a:prstGeom>
          <a:solidFill>
            <a:srgbClr val="FFFF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14025" name="Rectangle 19"/>
          <p:cNvSpPr>
            <a:spLocks noChangeArrowheads="1"/>
          </p:cNvSpPr>
          <p:nvPr/>
        </p:nvSpPr>
        <p:spPr bwMode="auto">
          <a:xfrm>
            <a:off x="6400800" y="2514600"/>
            <a:ext cx="457200" cy="457200"/>
          </a:xfrm>
          <a:prstGeom prst="rect">
            <a:avLst/>
          </a:prstGeom>
          <a:solidFill>
            <a:srgbClr val="FFFF00"/>
          </a:solidFill>
          <a:ln w="38100" algn="ctr">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14026" name="Rectangle 20"/>
          <p:cNvSpPr>
            <a:spLocks noChangeArrowheads="1"/>
          </p:cNvSpPr>
          <p:nvPr/>
        </p:nvSpPr>
        <p:spPr bwMode="auto">
          <a:xfrm>
            <a:off x="6400800" y="2971800"/>
            <a:ext cx="457200" cy="457200"/>
          </a:xfrm>
          <a:prstGeom prst="rect">
            <a:avLst/>
          </a:prstGeom>
          <a:noFill/>
          <a:ln w="38100" algn="ctr">
            <a:solidFill>
              <a:schemeClr val="tx1"/>
            </a:solidFill>
            <a:prstDash val="sysDot"/>
            <a:miter lim="800000"/>
            <a:headEnd/>
            <a:tailEnd/>
          </a:ln>
        </p:spPr>
        <p:txBody>
          <a:bodyPr wrap="none" anchor="ctr"/>
          <a:lstStyle/>
          <a:p>
            <a:endParaRPr lang="en-US">
              <a:latin typeface="Arial" pitchFamily="34" charset="0"/>
              <a:cs typeface="Arial" pitchFamily="34" charset="0"/>
            </a:endParaRPr>
          </a:p>
        </p:txBody>
      </p:sp>
      <p:sp>
        <p:nvSpPr>
          <p:cNvPr id="214027" name="Text Box 21"/>
          <p:cNvSpPr txBox="1">
            <a:spLocks noChangeArrowheads="1"/>
          </p:cNvSpPr>
          <p:nvPr/>
        </p:nvSpPr>
        <p:spPr bwMode="auto">
          <a:xfrm>
            <a:off x="6172200" y="4416425"/>
            <a:ext cx="2714625" cy="954107"/>
          </a:xfrm>
          <a:prstGeom prst="rect">
            <a:avLst/>
          </a:prstGeom>
          <a:noFill/>
          <a:ln w="38100" algn="ctr">
            <a:noFill/>
            <a:miter lim="800000"/>
            <a:headEnd/>
            <a:tailEnd/>
          </a:ln>
        </p:spPr>
        <p:txBody>
          <a:bodyPr>
            <a:spAutoFit/>
          </a:bodyPr>
          <a:lstStyle/>
          <a:p>
            <a:pPr algn="ctr">
              <a:spcBef>
                <a:spcPct val="0"/>
              </a:spcBef>
            </a:pPr>
            <a:r>
              <a:rPr lang="el-GR" sz="2800" b="0">
                <a:solidFill>
                  <a:schemeClr val="tx1"/>
                </a:solidFill>
                <a:latin typeface="Arial" pitchFamily="34" charset="0"/>
                <a:cs typeface="Arial" pitchFamily="34" charset="0"/>
              </a:rPr>
              <a:t>Ω</a:t>
            </a:r>
            <a:r>
              <a:rPr lang="en-US" sz="2800" b="0">
                <a:solidFill>
                  <a:schemeClr val="tx1"/>
                </a:solidFill>
                <a:latin typeface="Arial" pitchFamily="34" charset="0"/>
                <a:cs typeface="Arial" pitchFamily="34" charset="0"/>
              </a:rPr>
              <a:t>-1</a:t>
            </a:r>
            <a:r>
              <a:rPr lang="en-US" sz="2800" b="0">
                <a:latin typeface="Arial" pitchFamily="34" charset="0"/>
                <a:cs typeface="Arial" pitchFamily="34" charset="0"/>
              </a:rPr>
              <a:t> is one brick shy of a load</a:t>
            </a:r>
          </a:p>
        </p:txBody>
      </p:sp>
      <p:sp>
        <p:nvSpPr>
          <p:cNvPr id="214028" name="AutoShape 22"/>
          <p:cNvSpPr>
            <a:spLocks noChangeArrowheads="1"/>
          </p:cNvSpPr>
          <p:nvPr/>
        </p:nvSpPr>
        <p:spPr bwMode="auto">
          <a:xfrm>
            <a:off x="6172200" y="2819400"/>
            <a:ext cx="914400" cy="838200"/>
          </a:xfrm>
          <a:prstGeom prst="wedgeRoundRectCallout">
            <a:avLst>
              <a:gd name="adj1" fmla="val 72917"/>
              <a:gd name="adj2" fmla="val 136741"/>
              <a:gd name="adj3" fmla="val 16667"/>
            </a:avLst>
          </a:prstGeom>
          <a:noFill/>
          <a:ln w="38100" algn="ctr">
            <a:solidFill>
              <a:srgbClr val="FF0000"/>
            </a:solidFill>
            <a:miter lim="800000"/>
            <a:headEnd/>
            <a:tailEnd/>
          </a:ln>
        </p:spPr>
        <p:txBody>
          <a:bodyPr/>
          <a:lstStyle/>
          <a:p>
            <a:pPr algn="ctr">
              <a:spcBef>
                <a:spcPct val="0"/>
              </a:spcBef>
            </a:pPr>
            <a:endParaRPr lang="en-US" sz="2800" b="0">
              <a:latin typeface="Arial" pitchFamily="34" charset="0"/>
              <a:cs typeface="Arial" pitchFamily="34" charset="0"/>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3"/>
          <p:cNvSpPr>
            <a:spLocks noGrp="1"/>
          </p:cNvSpPr>
          <p:nvPr>
            <p:ph type="ftr" sz="quarter" idx="10"/>
          </p:nvPr>
        </p:nvSpPr>
        <p:spPr/>
        <p:txBody>
          <a:bodyPr/>
          <a:lstStyle/>
          <a:p>
            <a:pPr>
              <a:defRPr/>
            </a:pPr>
            <a:r>
              <a:rPr lang="en-US"/>
              <a:t>Art of Multiprocessor Programming</a:t>
            </a:r>
          </a:p>
        </p:txBody>
      </p:sp>
      <p:sp>
        <p:nvSpPr>
          <p:cNvPr id="21" name="Slide Number Placeholder 4"/>
          <p:cNvSpPr>
            <a:spLocks noGrp="1"/>
          </p:cNvSpPr>
          <p:nvPr>
            <p:ph type="sldNum" sz="quarter" idx="11"/>
          </p:nvPr>
        </p:nvSpPr>
        <p:spPr/>
        <p:txBody>
          <a:bodyPr/>
          <a:lstStyle/>
          <a:p>
            <a:pPr>
              <a:defRPr/>
            </a:pPr>
            <a:fld id="{111B794F-FF55-4CC3-B0DE-7A5D1A9FA832}" type="slidenum">
              <a:rPr lang="en-US"/>
              <a:pPr>
                <a:defRPr/>
              </a:pPr>
              <a:t>216</a:t>
            </a:fld>
            <a:endParaRPr lang="en-US"/>
          </a:p>
        </p:txBody>
      </p:sp>
      <p:sp>
        <p:nvSpPr>
          <p:cNvPr id="215044" name="Rectangle 2"/>
          <p:cNvSpPr>
            <a:spLocks noGrp="1" noChangeArrowheads="1"/>
          </p:cNvSpPr>
          <p:nvPr>
            <p:ph type="title"/>
          </p:nvPr>
        </p:nvSpPr>
        <p:spPr/>
        <p:txBody>
          <a:bodyPr/>
          <a:lstStyle/>
          <a:p>
            <a:r>
              <a:rPr lang="en-US"/>
              <a:t>Post Antitoken</a:t>
            </a:r>
          </a:p>
        </p:txBody>
      </p:sp>
      <p:grpSp>
        <p:nvGrpSpPr>
          <p:cNvPr id="215045" name="Group 3"/>
          <p:cNvGrpSpPr>
            <a:grpSpLocks/>
          </p:cNvGrpSpPr>
          <p:nvPr/>
        </p:nvGrpSpPr>
        <p:grpSpPr bwMode="auto">
          <a:xfrm>
            <a:off x="2711450" y="2363788"/>
            <a:ext cx="2760663" cy="2130425"/>
            <a:chOff x="1480" y="1248"/>
            <a:chExt cx="2875" cy="2218"/>
          </a:xfrm>
        </p:grpSpPr>
        <p:sp>
          <p:nvSpPr>
            <p:cNvPr id="215050" name="Line 4"/>
            <p:cNvSpPr>
              <a:spLocks noChangeShapeType="1"/>
            </p:cNvSpPr>
            <p:nvPr/>
          </p:nvSpPr>
          <p:spPr bwMode="auto">
            <a:xfrm>
              <a:off x="1480" y="2031"/>
              <a:ext cx="2875"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5051" name="Line 5"/>
            <p:cNvSpPr>
              <a:spLocks noChangeShapeType="1"/>
            </p:cNvSpPr>
            <p:nvPr/>
          </p:nvSpPr>
          <p:spPr bwMode="auto">
            <a:xfrm>
              <a:off x="1480" y="2719"/>
              <a:ext cx="2875"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5052" name="Oval 6"/>
            <p:cNvSpPr>
              <a:spLocks noChangeArrowheads="1"/>
            </p:cNvSpPr>
            <p:nvPr/>
          </p:nvSpPr>
          <p:spPr bwMode="auto">
            <a:xfrm>
              <a:off x="3041" y="1964"/>
              <a:ext cx="415" cy="165"/>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215053" name="Oval 7"/>
            <p:cNvSpPr>
              <a:spLocks noChangeArrowheads="1"/>
            </p:cNvSpPr>
            <p:nvPr/>
          </p:nvSpPr>
          <p:spPr bwMode="auto">
            <a:xfrm>
              <a:off x="3041" y="2647"/>
              <a:ext cx="415" cy="165"/>
            </a:xfrm>
            <a:prstGeom prst="ellipse">
              <a:avLst/>
            </a:prstGeom>
            <a:solidFill>
              <a:schemeClr val="bg1"/>
            </a:solidFill>
            <a:ln w="9525">
              <a:solidFill>
                <a:schemeClr val="bg1"/>
              </a:solidFill>
              <a:round/>
              <a:headEnd/>
              <a:tailEnd/>
            </a:ln>
          </p:spPr>
          <p:txBody>
            <a:bodyPr wrap="none" anchor="ctr"/>
            <a:lstStyle/>
            <a:p>
              <a:endParaRPr lang="en-US" dirty="0">
                <a:latin typeface="Courier New" pitchFamily="49" charset="0"/>
              </a:endParaRPr>
            </a:p>
          </p:txBody>
        </p:sp>
        <p:sp>
          <p:nvSpPr>
            <p:cNvPr id="215054" name="Line 8"/>
            <p:cNvSpPr>
              <a:spLocks noChangeShapeType="1"/>
            </p:cNvSpPr>
            <p:nvPr/>
          </p:nvSpPr>
          <p:spPr bwMode="auto">
            <a:xfrm>
              <a:off x="1480" y="1467"/>
              <a:ext cx="2875"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5055" name="Line 9"/>
            <p:cNvSpPr>
              <a:spLocks noChangeShapeType="1"/>
            </p:cNvSpPr>
            <p:nvPr/>
          </p:nvSpPr>
          <p:spPr bwMode="auto">
            <a:xfrm>
              <a:off x="1480" y="3262"/>
              <a:ext cx="2875"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5056" name="AutoShape 10"/>
            <p:cNvSpPr>
              <a:spLocks noChangeArrowheads="1"/>
            </p:cNvSpPr>
            <p:nvPr/>
          </p:nvSpPr>
          <p:spPr bwMode="auto">
            <a:xfrm>
              <a:off x="1786" y="2440"/>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5057" name="AutoShape 11"/>
            <p:cNvSpPr>
              <a:spLocks noChangeArrowheads="1"/>
            </p:cNvSpPr>
            <p:nvPr/>
          </p:nvSpPr>
          <p:spPr bwMode="auto">
            <a:xfrm>
              <a:off x="1776" y="1248"/>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5058" name="AutoShape 12"/>
            <p:cNvSpPr>
              <a:spLocks noChangeArrowheads="1"/>
            </p:cNvSpPr>
            <p:nvPr/>
          </p:nvSpPr>
          <p:spPr bwMode="auto">
            <a:xfrm>
              <a:off x="2462" y="1851"/>
              <a:ext cx="235" cy="1027"/>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5059" name="AutoShape 13"/>
            <p:cNvSpPr>
              <a:spLocks noChangeArrowheads="1"/>
            </p:cNvSpPr>
            <p:nvPr/>
          </p:nvSpPr>
          <p:spPr bwMode="auto">
            <a:xfrm>
              <a:off x="3137" y="1263"/>
              <a:ext cx="235" cy="220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5060" name="AutoShape 14"/>
            <p:cNvSpPr>
              <a:spLocks noChangeArrowheads="1"/>
            </p:cNvSpPr>
            <p:nvPr/>
          </p:nvSpPr>
          <p:spPr bwMode="auto">
            <a:xfrm>
              <a:off x="3813" y="2440"/>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15061" name="AutoShape 15"/>
            <p:cNvSpPr>
              <a:spLocks noChangeArrowheads="1"/>
            </p:cNvSpPr>
            <p:nvPr/>
          </p:nvSpPr>
          <p:spPr bwMode="auto">
            <a:xfrm>
              <a:off x="3813" y="1263"/>
              <a:ext cx="236" cy="102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215046" name="Freeform 16"/>
          <p:cNvSpPr>
            <a:spLocks/>
          </p:cNvSpPr>
          <p:nvPr/>
        </p:nvSpPr>
        <p:spPr bwMode="auto">
          <a:xfrm>
            <a:off x="5562600" y="2514600"/>
            <a:ext cx="838200" cy="1828800"/>
          </a:xfrm>
          <a:custGeom>
            <a:avLst/>
            <a:gdLst>
              <a:gd name="T0" fmla="*/ 0 w 528"/>
              <a:gd name="T1" fmla="*/ 0 h 1152"/>
              <a:gd name="T2" fmla="*/ 0 w 528"/>
              <a:gd name="T3" fmla="*/ 2147483647 h 1152"/>
              <a:gd name="T4" fmla="*/ 2147483647 w 528"/>
              <a:gd name="T5" fmla="*/ 2147483647 h 1152"/>
              <a:gd name="T6" fmla="*/ 2147483647 w 528"/>
              <a:gd name="T7" fmla="*/ 2147483647 h 1152"/>
              <a:gd name="T8" fmla="*/ 2147483647 w 528"/>
              <a:gd name="T9" fmla="*/ 2147483647 h 1152"/>
              <a:gd name="T10" fmla="*/ 2147483647 w 528"/>
              <a:gd name="T11" fmla="*/ 0 h 1152"/>
              <a:gd name="T12" fmla="*/ 0 w 528"/>
              <a:gd name="T13" fmla="*/ 0 h 1152"/>
              <a:gd name="T14" fmla="*/ 0 60000 65536"/>
              <a:gd name="T15" fmla="*/ 0 60000 65536"/>
              <a:gd name="T16" fmla="*/ 0 60000 65536"/>
              <a:gd name="T17" fmla="*/ 0 60000 65536"/>
              <a:gd name="T18" fmla="*/ 0 60000 65536"/>
              <a:gd name="T19" fmla="*/ 0 60000 65536"/>
              <a:gd name="T20" fmla="*/ 0 60000 65536"/>
              <a:gd name="T21" fmla="*/ 0 w 528"/>
              <a:gd name="T22" fmla="*/ 0 h 1152"/>
              <a:gd name="T23" fmla="*/ 528 w 528"/>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1152">
                <a:moveTo>
                  <a:pt x="0" y="0"/>
                </a:moveTo>
                <a:lnTo>
                  <a:pt x="0" y="1152"/>
                </a:lnTo>
                <a:lnTo>
                  <a:pt x="264" y="1152"/>
                </a:lnTo>
                <a:lnTo>
                  <a:pt x="264" y="576"/>
                </a:lnTo>
                <a:lnTo>
                  <a:pt x="528" y="584"/>
                </a:lnTo>
                <a:lnTo>
                  <a:pt x="528" y="0"/>
                </a:lnTo>
                <a:lnTo>
                  <a:pt x="0"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15047" name="Rectangle 17"/>
          <p:cNvSpPr>
            <a:spLocks noChangeArrowheads="1"/>
          </p:cNvSpPr>
          <p:nvPr/>
        </p:nvSpPr>
        <p:spPr bwMode="auto">
          <a:xfrm>
            <a:off x="5943600" y="2971800"/>
            <a:ext cx="457200" cy="457200"/>
          </a:xfrm>
          <a:prstGeom prst="rect">
            <a:avLst/>
          </a:prstGeom>
          <a:noFill/>
          <a:ln w="38100" algn="ctr">
            <a:solidFill>
              <a:schemeClr val="tx1"/>
            </a:solidFill>
            <a:prstDash val="sysDot"/>
            <a:miter lim="800000"/>
            <a:headEnd/>
            <a:tailEnd/>
          </a:ln>
        </p:spPr>
        <p:txBody>
          <a:bodyPr wrap="none" anchor="ctr"/>
          <a:lstStyle/>
          <a:p>
            <a:endParaRPr lang="en-US" dirty="0">
              <a:latin typeface="Courier New" pitchFamily="49" charset="0"/>
            </a:endParaRPr>
          </a:p>
        </p:txBody>
      </p:sp>
      <p:sp>
        <p:nvSpPr>
          <p:cNvPr id="215048" name="Text Box 18"/>
          <p:cNvSpPr txBox="1">
            <a:spLocks noChangeArrowheads="1"/>
          </p:cNvSpPr>
          <p:nvPr/>
        </p:nvSpPr>
        <p:spPr bwMode="auto">
          <a:xfrm>
            <a:off x="6172200" y="4416425"/>
            <a:ext cx="2714625" cy="946150"/>
          </a:xfrm>
          <a:prstGeom prst="rect">
            <a:avLst/>
          </a:prstGeom>
          <a:noFill/>
          <a:ln w="38100" algn="ctr">
            <a:noFill/>
            <a:miter lim="800000"/>
            <a:headEnd/>
            <a:tailEnd/>
          </a:ln>
        </p:spPr>
        <p:txBody>
          <a:bodyPr>
            <a:spAutoFit/>
          </a:bodyPr>
          <a:lstStyle/>
          <a:p>
            <a:pPr algn="ctr">
              <a:spcBef>
                <a:spcPct val="0"/>
              </a:spcBef>
            </a:pPr>
            <a:r>
              <a:rPr lang="en-US" sz="2800" b="0" dirty="0">
                <a:latin typeface="Arial" pitchFamily="34" charset="0"/>
                <a:cs typeface="Arial" pitchFamily="34" charset="0"/>
              </a:rPr>
              <a:t>Next token shows up here</a:t>
            </a:r>
          </a:p>
        </p:txBody>
      </p:sp>
      <p:sp>
        <p:nvSpPr>
          <p:cNvPr id="215049" name="AutoShape 19"/>
          <p:cNvSpPr>
            <a:spLocks noChangeArrowheads="1"/>
          </p:cNvSpPr>
          <p:nvPr/>
        </p:nvSpPr>
        <p:spPr bwMode="auto">
          <a:xfrm>
            <a:off x="5791200" y="2819400"/>
            <a:ext cx="914400" cy="838200"/>
          </a:xfrm>
          <a:prstGeom prst="wedgeRoundRectCallout">
            <a:avLst>
              <a:gd name="adj1" fmla="val 72917"/>
              <a:gd name="adj2" fmla="val 144319"/>
              <a:gd name="adj3" fmla="val 16667"/>
            </a:avLst>
          </a:prstGeom>
          <a:noFill/>
          <a:ln w="38100" algn="ctr">
            <a:solidFill>
              <a:srgbClr val="FF0000"/>
            </a:solidFill>
            <a:miter lim="800000"/>
            <a:headEnd/>
            <a:tailEnd/>
          </a:ln>
        </p:spPr>
        <p:txBody>
          <a:bodyPr/>
          <a:lstStyle/>
          <a:p>
            <a:pPr algn="ctr">
              <a:spcBef>
                <a:spcPct val="0"/>
              </a:spcBef>
            </a:pPr>
            <a:endParaRPr lang="en-US" sz="2800" b="0" dirty="0">
              <a:latin typeface="Arial" pitchFamily="34" charset="0"/>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B5E76554-1738-4827-BEDE-D563B7DF5225}" type="slidenum">
              <a:rPr lang="en-US"/>
              <a:pPr>
                <a:defRPr/>
              </a:pPr>
              <a:t>217</a:t>
            </a:fld>
            <a:endParaRPr lang="en-US"/>
          </a:p>
        </p:txBody>
      </p:sp>
      <p:sp>
        <p:nvSpPr>
          <p:cNvPr id="216068" name="Rectangle 2"/>
          <p:cNvSpPr>
            <a:spLocks noGrp="1" noChangeArrowheads="1"/>
          </p:cNvSpPr>
          <p:nvPr>
            <p:ph type="title"/>
          </p:nvPr>
        </p:nvSpPr>
        <p:spPr/>
        <p:txBody>
          <a:bodyPr/>
          <a:lstStyle/>
          <a:p>
            <a:r>
              <a:rPr lang="en-US"/>
              <a:t>Implication</a:t>
            </a:r>
          </a:p>
        </p:txBody>
      </p:sp>
      <p:sp>
        <p:nvSpPr>
          <p:cNvPr id="216069" name="Rectangle 3"/>
          <p:cNvSpPr>
            <a:spLocks noGrp="1" noChangeArrowheads="1"/>
          </p:cNvSpPr>
          <p:nvPr>
            <p:ph type="body" idx="1"/>
          </p:nvPr>
        </p:nvSpPr>
        <p:spPr/>
        <p:txBody>
          <a:bodyPr/>
          <a:lstStyle/>
          <a:p>
            <a:pPr>
              <a:lnSpc>
                <a:spcPct val="90000"/>
              </a:lnSpc>
            </a:pPr>
            <a:r>
              <a:rPr lang="en-US"/>
              <a:t>Counting networks with</a:t>
            </a:r>
          </a:p>
          <a:p>
            <a:pPr lvl="1">
              <a:lnSpc>
                <a:spcPct val="90000"/>
              </a:lnSpc>
            </a:pPr>
            <a:r>
              <a:rPr lang="en-US"/>
              <a:t>Tokens (</a:t>
            </a:r>
            <a:r>
              <a:rPr lang="en-US">
                <a:solidFill>
                  <a:schemeClr val="tx2"/>
                </a:solidFill>
              </a:rPr>
              <a:t>+1</a:t>
            </a:r>
            <a:r>
              <a:rPr lang="en-US"/>
              <a:t>)</a:t>
            </a:r>
          </a:p>
          <a:p>
            <a:pPr lvl="1">
              <a:lnSpc>
                <a:spcPct val="90000"/>
              </a:lnSpc>
            </a:pPr>
            <a:r>
              <a:rPr lang="en-US"/>
              <a:t>Anti-tokens (</a:t>
            </a:r>
            <a:r>
              <a:rPr lang="en-US">
                <a:solidFill>
                  <a:schemeClr val="tx2"/>
                </a:solidFill>
              </a:rPr>
              <a:t>-1</a:t>
            </a:r>
            <a:r>
              <a:rPr lang="en-US"/>
              <a:t>)</a:t>
            </a:r>
          </a:p>
          <a:p>
            <a:pPr>
              <a:lnSpc>
                <a:spcPct val="90000"/>
              </a:lnSpc>
            </a:pPr>
            <a:r>
              <a:rPr lang="en-US"/>
              <a:t>Give</a:t>
            </a:r>
          </a:p>
          <a:p>
            <a:pPr lvl="1">
              <a:lnSpc>
                <a:spcPct val="90000"/>
              </a:lnSpc>
            </a:pPr>
            <a:r>
              <a:rPr lang="en-US"/>
              <a:t>Highly concurrent</a:t>
            </a:r>
          </a:p>
          <a:p>
            <a:pPr lvl="1">
              <a:lnSpc>
                <a:spcPct val="90000"/>
              </a:lnSpc>
            </a:pPr>
            <a:r>
              <a:rPr lang="en-US"/>
              <a:t>Low contention</a:t>
            </a:r>
          </a:p>
          <a:p>
            <a:pPr>
              <a:lnSpc>
                <a:spcPct val="90000"/>
              </a:lnSpc>
            </a:pPr>
            <a:r>
              <a:rPr lang="en-US"/>
              <a:t>getAndIncrement + getAndDecrement methods</a:t>
            </a:r>
          </a:p>
        </p:txBody>
      </p:sp>
      <p:sp>
        <p:nvSpPr>
          <p:cNvPr id="856068" name="Text Box 4"/>
          <p:cNvSpPr txBox="1">
            <a:spLocks noChangeArrowheads="1"/>
          </p:cNvSpPr>
          <p:nvPr/>
        </p:nvSpPr>
        <p:spPr bwMode="auto">
          <a:xfrm rot="-1427000">
            <a:off x="5271221" y="3843407"/>
            <a:ext cx="1295546" cy="707886"/>
          </a:xfrm>
          <a:prstGeom prst="rect">
            <a:avLst/>
          </a:prstGeom>
          <a:noFill/>
          <a:ln w="38100" algn="ctr">
            <a:solidFill>
              <a:srgbClr val="FF0000"/>
            </a:solidFill>
            <a:miter lim="800000"/>
            <a:headEnd/>
            <a:tailEnd/>
          </a:ln>
        </p:spPr>
        <p:txBody>
          <a:bodyPr wrap="none">
            <a:spAutoFit/>
          </a:bodyPr>
          <a:lstStyle/>
          <a:p>
            <a:pPr algn="ctr">
              <a:spcBef>
                <a:spcPct val="0"/>
              </a:spcBef>
            </a:pPr>
            <a:r>
              <a:rPr lang="en-US" sz="4000" b="0">
                <a:solidFill>
                  <a:srgbClr val="FF0000"/>
                </a:solidFill>
                <a:latin typeface="Arial" pitchFamily="34" charset="0"/>
                <a:cs typeface="Arial" pitchFamily="34" charset="0"/>
              </a:rPr>
              <a:t>QED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6068"/>
                                        </p:tgtEl>
                                        <p:attrNameLst>
                                          <p:attrName>style.visibility</p:attrName>
                                        </p:attrNameLst>
                                      </p:cBhvr>
                                      <p:to>
                                        <p:strVal val="visible"/>
                                      </p:to>
                                    </p:set>
                                    <p:animEffect transition="in" filter="blinds(horizontal)">
                                      <p:cBhvr>
                                        <p:cTn id="7" dur="500"/>
                                        <p:tgtEl>
                                          <p:spTgt spid="856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68" grpId="0" animBg="1"/>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87C05735-1D80-4CBE-B37F-D36A977C722F}" type="slidenum">
              <a:rPr lang="en-US"/>
              <a:pPr>
                <a:defRPr/>
              </a:pPr>
              <a:t>218</a:t>
            </a:fld>
            <a:endParaRPr lang="en-US"/>
          </a:p>
        </p:txBody>
      </p:sp>
      <p:sp>
        <p:nvSpPr>
          <p:cNvPr id="217092" name="Rectangle 2"/>
          <p:cNvSpPr>
            <a:spLocks noGrp="1" noChangeArrowheads="1"/>
          </p:cNvSpPr>
          <p:nvPr>
            <p:ph type="title"/>
          </p:nvPr>
        </p:nvSpPr>
        <p:spPr/>
        <p:txBody>
          <a:bodyPr/>
          <a:lstStyle/>
          <a:p>
            <a:r>
              <a:rPr lang="en-US"/>
              <a:t>Adding Networks</a:t>
            </a:r>
          </a:p>
        </p:txBody>
      </p:sp>
      <p:sp>
        <p:nvSpPr>
          <p:cNvPr id="217093" name="Rectangle 3"/>
          <p:cNvSpPr>
            <a:spLocks noGrp="1" noChangeArrowheads="1"/>
          </p:cNvSpPr>
          <p:nvPr>
            <p:ph type="body" idx="1"/>
          </p:nvPr>
        </p:nvSpPr>
        <p:spPr/>
        <p:txBody>
          <a:bodyPr/>
          <a:lstStyle/>
          <a:p>
            <a:r>
              <a:rPr lang="en-US"/>
              <a:t>Combining trees implement	</a:t>
            </a:r>
          </a:p>
          <a:p>
            <a:pPr lvl="1"/>
            <a:r>
              <a:rPr lang="en-US"/>
              <a:t>Fetch&amp;add</a:t>
            </a:r>
          </a:p>
          <a:p>
            <a:pPr lvl="1"/>
            <a:r>
              <a:rPr lang="en-US"/>
              <a:t>Add any number, not just 1</a:t>
            </a:r>
          </a:p>
          <a:p>
            <a:r>
              <a:rPr lang="en-US"/>
              <a:t>What about counting networks?</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46D621AC-F5B0-4F83-95AB-481D24000B68}" type="slidenum">
              <a:rPr lang="en-US"/>
              <a:pPr>
                <a:defRPr/>
              </a:pPr>
              <a:t>219</a:t>
            </a:fld>
            <a:endParaRPr lang="en-US"/>
          </a:p>
        </p:txBody>
      </p:sp>
      <p:sp>
        <p:nvSpPr>
          <p:cNvPr id="218116" name="Rectangle 2"/>
          <p:cNvSpPr>
            <a:spLocks noGrp="1" noChangeArrowheads="1"/>
          </p:cNvSpPr>
          <p:nvPr>
            <p:ph type="title"/>
          </p:nvPr>
        </p:nvSpPr>
        <p:spPr/>
        <p:txBody>
          <a:bodyPr/>
          <a:lstStyle/>
          <a:p>
            <a:r>
              <a:rPr lang="en-US"/>
              <a:t>Fetch-and-add</a:t>
            </a:r>
          </a:p>
        </p:txBody>
      </p:sp>
      <p:sp>
        <p:nvSpPr>
          <p:cNvPr id="218117" name="Rectangle 3"/>
          <p:cNvSpPr>
            <a:spLocks noGrp="1" noChangeArrowheads="1"/>
          </p:cNvSpPr>
          <p:nvPr>
            <p:ph type="body" idx="1"/>
          </p:nvPr>
        </p:nvSpPr>
        <p:spPr/>
        <p:txBody>
          <a:bodyPr/>
          <a:lstStyle/>
          <a:p>
            <a:pPr>
              <a:lnSpc>
                <a:spcPct val="90000"/>
              </a:lnSpc>
            </a:pPr>
            <a:r>
              <a:rPr lang="en-US"/>
              <a:t>Beyond getAndIncrement + getAndDecrement</a:t>
            </a:r>
          </a:p>
          <a:p>
            <a:pPr>
              <a:lnSpc>
                <a:spcPct val="90000"/>
              </a:lnSpc>
            </a:pPr>
            <a:r>
              <a:rPr lang="en-US"/>
              <a:t>What about getAndAdd(</a:t>
            </a:r>
            <a:r>
              <a:rPr lang="en-US">
                <a:solidFill>
                  <a:schemeClr val="tx2"/>
                </a:solidFill>
              </a:rPr>
              <a:t>x</a:t>
            </a:r>
            <a:r>
              <a:rPr lang="en-US"/>
              <a:t>)?</a:t>
            </a:r>
          </a:p>
          <a:p>
            <a:pPr lvl="1">
              <a:lnSpc>
                <a:spcPct val="90000"/>
              </a:lnSpc>
            </a:pPr>
            <a:r>
              <a:rPr lang="en-US"/>
              <a:t>Atomically returns prior value</a:t>
            </a:r>
          </a:p>
          <a:p>
            <a:pPr lvl="1">
              <a:lnSpc>
                <a:spcPct val="90000"/>
              </a:lnSpc>
            </a:pPr>
            <a:r>
              <a:rPr lang="en-US"/>
              <a:t>And adds </a:t>
            </a:r>
            <a:r>
              <a:rPr lang="en-US">
                <a:solidFill>
                  <a:schemeClr val="tx2"/>
                </a:solidFill>
              </a:rPr>
              <a:t>x</a:t>
            </a:r>
            <a:r>
              <a:rPr lang="en-US"/>
              <a:t> to value?</a:t>
            </a:r>
          </a:p>
          <a:p>
            <a:pPr>
              <a:lnSpc>
                <a:spcPct val="90000"/>
              </a:lnSpc>
            </a:pPr>
            <a:r>
              <a:rPr lang="en-US"/>
              <a:t>Not to mention</a:t>
            </a:r>
          </a:p>
          <a:p>
            <a:pPr lvl="1">
              <a:lnSpc>
                <a:spcPct val="90000"/>
              </a:lnSpc>
            </a:pPr>
            <a:r>
              <a:rPr lang="en-US"/>
              <a:t>getAndMultiply</a:t>
            </a:r>
          </a:p>
          <a:p>
            <a:pPr lvl="1">
              <a:lnSpc>
                <a:spcPct val="90000"/>
              </a:lnSpc>
            </a:pPr>
            <a:r>
              <a:rPr lang="en-US"/>
              <a:t>getAndFourierTransform?		</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2827B6C-2EC2-4E96-AE24-429AF1BC48E8}" type="slidenum">
              <a:rPr lang="en-US"/>
              <a:pPr>
                <a:defRPr/>
              </a:pPr>
              <a:t>220</a:t>
            </a:fld>
            <a:endParaRPr lang="en-US"/>
          </a:p>
        </p:txBody>
      </p:sp>
      <p:sp>
        <p:nvSpPr>
          <p:cNvPr id="219140" name="Rectangle 2"/>
          <p:cNvSpPr>
            <a:spLocks noGrp="1" noChangeArrowheads="1"/>
          </p:cNvSpPr>
          <p:nvPr>
            <p:ph type="title"/>
          </p:nvPr>
        </p:nvSpPr>
        <p:spPr/>
        <p:txBody>
          <a:bodyPr/>
          <a:lstStyle/>
          <a:p>
            <a:r>
              <a:rPr lang="en-US"/>
              <a:t>Bad News</a:t>
            </a:r>
          </a:p>
        </p:txBody>
      </p:sp>
      <p:sp>
        <p:nvSpPr>
          <p:cNvPr id="219141" name="Rectangle 3"/>
          <p:cNvSpPr>
            <a:spLocks noGrp="1" noChangeArrowheads="1"/>
          </p:cNvSpPr>
          <p:nvPr>
            <p:ph type="body" idx="1"/>
          </p:nvPr>
        </p:nvSpPr>
        <p:spPr/>
        <p:txBody>
          <a:bodyPr/>
          <a:lstStyle/>
          <a:p>
            <a:r>
              <a:rPr lang="en-US"/>
              <a:t>If an adding network </a:t>
            </a:r>
          </a:p>
          <a:p>
            <a:pPr lvl="1"/>
            <a:r>
              <a:rPr lang="en-US"/>
              <a:t>Supports </a:t>
            </a:r>
            <a:r>
              <a:rPr lang="en-US">
                <a:solidFill>
                  <a:schemeClr val="tx1"/>
                </a:solidFill>
              </a:rPr>
              <a:t>n</a:t>
            </a:r>
            <a:r>
              <a:rPr lang="en-US"/>
              <a:t> concurrent tokens</a:t>
            </a:r>
          </a:p>
          <a:p>
            <a:r>
              <a:rPr lang="en-US"/>
              <a:t>Then every token must traverse</a:t>
            </a:r>
          </a:p>
          <a:p>
            <a:pPr lvl="1"/>
            <a:r>
              <a:rPr lang="en-US"/>
              <a:t>At least </a:t>
            </a:r>
            <a:r>
              <a:rPr lang="en-US">
                <a:solidFill>
                  <a:schemeClr val="tx1"/>
                </a:solidFill>
              </a:rPr>
              <a:t>n-1</a:t>
            </a:r>
            <a:r>
              <a:rPr lang="en-US"/>
              <a:t> balancers</a:t>
            </a:r>
          </a:p>
          <a:p>
            <a:pPr lvl="1"/>
            <a:r>
              <a:rPr lang="en-US"/>
              <a:t>In sequential executions</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413B6D2B-71DB-4C21-8C78-C31FE1461863}" type="slidenum">
              <a:rPr lang="en-US"/>
              <a:pPr>
                <a:defRPr/>
              </a:pPr>
              <a:t>221</a:t>
            </a:fld>
            <a:endParaRPr lang="en-US"/>
          </a:p>
        </p:txBody>
      </p:sp>
      <p:sp>
        <p:nvSpPr>
          <p:cNvPr id="220164" name="Rectangle 2"/>
          <p:cNvSpPr>
            <a:spLocks noGrp="1" noChangeArrowheads="1"/>
          </p:cNvSpPr>
          <p:nvPr>
            <p:ph type="title"/>
          </p:nvPr>
        </p:nvSpPr>
        <p:spPr/>
        <p:txBody>
          <a:bodyPr/>
          <a:lstStyle/>
          <a:p>
            <a:r>
              <a:rPr lang="en-US"/>
              <a:t>Uh-Oh</a:t>
            </a:r>
          </a:p>
        </p:txBody>
      </p:sp>
      <p:sp>
        <p:nvSpPr>
          <p:cNvPr id="220165" name="Rectangle 3"/>
          <p:cNvSpPr>
            <a:spLocks noGrp="1" noChangeArrowheads="1"/>
          </p:cNvSpPr>
          <p:nvPr>
            <p:ph type="body" idx="1"/>
          </p:nvPr>
        </p:nvSpPr>
        <p:spPr/>
        <p:txBody>
          <a:bodyPr/>
          <a:lstStyle/>
          <a:p>
            <a:r>
              <a:rPr lang="en-US"/>
              <a:t>Adding network size depends on </a:t>
            </a:r>
            <a:r>
              <a:rPr lang="en-US">
                <a:solidFill>
                  <a:schemeClr val="tx1"/>
                </a:solidFill>
              </a:rPr>
              <a:t>n</a:t>
            </a:r>
          </a:p>
          <a:p>
            <a:pPr lvl="1"/>
            <a:r>
              <a:rPr lang="en-US"/>
              <a:t>Like combining trees</a:t>
            </a:r>
          </a:p>
          <a:p>
            <a:pPr lvl="1"/>
            <a:r>
              <a:rPr lang="en-US"/>
              <a:t>Unlike counting networks</a:t>
            </a:r>
          </a:p>
          <a:p>
            <a:r>
              <a:rPr lang="en-US"/>
              <a:t>High latency</a:t>
            </a:r>
          </a:p>
          <a:p>
            <a:pPr lvl="1"/>
            <a:r>
              <a:rPr lang="en-US"/>
              <a:t>Depth linear in </a:t>
            </a:r>
            <a:r>
              <a:rPr lang="en-US">
                <a:solidFill>
                  <a:schemeClr val="tx1"/>
                </a:solidFill>
              </a:rPr>
              <a:t>n</a:t>
            </a:r>
          </a:p>
          <a:p>
            <a:pPr lvl="1"/>
            <a:r>
              <a:rPr lang="en-US"/>
              <a:t>Not logarithmic in </a:t>
            </a:r>
            <a:r>
              <a:rPr lang="en-US">
                <a:solidFill>
                  <a:schemeClr val="tx1"/>
                </a:solidFill>
              </a:rPr>
              <a:t>w</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3"/>
          <p:cNvSpPr>
            <a:spLocks noGrp="1"/>
          </p:cNvSpPr>
          <p:nvPr>
            <p:ph type="ftr" sz="quarter" idx="10"/>
          </p:nvPr>
        </p:nvSpPr>
        <p:spPr/>
        <p:txBody>
          <a:bodyPr/>
          <a:lstStyle/>
          <a:p>
            <a:pPr>
              <a:defRPr/>
            </a:pPr>
            <a:r>
              <a:rPr lang="en-US"/>
              <a:t>Art of Multiprocessor Programming</a:t>
            </a:r>
          </a:p>
        </p:txBody>
      </p:sp>
      <p:sp>
        <p:nvSpPr>
          <p:cNvPr id="64" name="Slide Number Placeholder 4"/>
          <p:cNvSpPr>
            <a:spLocks noGrp="1"/>
          </p:cNvSpPr>
          <p:nvPr>
            <p:ph type="sldNum" sz="quarter" idx="11"/>
          </p:nvPr>
        </p:nvSpPr>
        <p:spPr/>
        <p:txBody>
          <a:bodyPr/>
          <a:lstStyle/>
          <a:p>
            <a:pPr>
              <a:defRPr/>
            </a:pPr>
            <a:fld id="{5EA892A3-5A8B-469C-8826-DA0BD4E33736}" type="slidenum">
              <a:rPr lang="en-US"/>
              <a:pPr>
                <a:defRPr/>
              </a:pPr>
              <a:t>222</a:t>
            </a:fld>
            <a:endParaRPr lang="en-US"/>
          </a:p>
        </p:txBody>
      </p:sp>
      <p:sp>
        <p:nvSpPr>
          <p:cNvPr id="221188" name="Rectangle 2"/>
          <p:cNvSpPr>
            <a:spLocks noGrp="1" noChangeArrowheads="1"/>
          </p:cNvSpPr>
          <p:nvPr>
            <p:ph type="title"/>
          </p:nvPr>
        </p:nvSpPr>
        <p:spPr/>
        <p:txBody>
          <a:bodyPr/>
          <a:lstStyle/>
          <a:p>
            <a:r>
              <a:rPr lang="en-US"/>
              <a:t>Generic Counting Network</a:t>
            </a:r>
          </a:p>
        </p:txBody>
      </p:sp>
      <p:grpSp>
        <p:nvGrpSpPr>
          <p:cNvPr id="221189" name="Group 3"/>
          <p:cNvGrpSpPr>
            <a:grpSpLocks/>
          </p:cNvGrpSpPr>
          <p:nvPr/>
        </p:nvGrpSpPr>
        <p:grpSpPr bwMode="auto">
          <a:xfrm>
            <a:off x="1562100" y="2133600"/>
            <a:ext cx="5410200" cy="3429000"/>
            <a:chOff x="984" y="1344"/>
            <a:chExt cx="3408" cy="2160"/>
          </a:xfrm>
        </p:grpSpPr>
        <p:sp>
          <p:nvSpPr>
            <p:cNvPr id="221217" name="Line 4"/>
            <p:cNvSpPr>
              <a:spLocks noChangeShapeType="1"/>
            </p:cNvSpPr>
            <p:nvPr/>
          </p:nvSpPr>
          <p:spPr bwMode="auto">
            <a:xfrm>
              <a:off x="984" y="1440"/>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1218" name="Line 5"/>
            <p:cNvSpPr>
              <a:spLocks noChangeShapeType="1"/>
            </p:cNvSpPr>
            <p:nvPr/>
          </p:nvSpPr>
          <p:spPr bwMode="auto">
            <a:xfrm>
              <a:off x="984" y="1721"/>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1219" name="Line 6"/>
            <p:cNvSpPr>
              <a:spLocks noChangeShapeType="1"/>
            </p:cNvSpPr>
            <p:nvPr/>
          </p:nvSpPr>
          <p:spPr bwMode="auto">
            <a:xfrm>
              <a:off x="984" y="2002"/>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1220" name="Line 7"/>
            <p:cNvSpPr>
              <a:spLocks noChangeShapeType="1"/>
            </p:cNvSpPr>
            <p:nvPr/>
          </p:nvSpPr>
          <p:spPr bwMode="auto">
            <a:xfrm>
              <a:off x="984" y="2283"/>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1221" name="Line 8"/>
            <p:cNvSpPr>
              <a:spLocks noChangeShapeType="1"/>
            </p:cNvSpPr>
            <p:nvPr/>
          </p:nvSpPr>
          <p:spPr bwMode="auto">
            <a:xfrm>
              <a:off x="984" y="2564"/>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1222" name="Line 9"/>
            <p:cNvSpPr>
              <a:spLocks noChangeShapeType="1"/>
            </p:cNvSpPr>
            <p:nvPr/>
          </p:nvSpPr>
          <p:spPr bwMode="auto">
            <a:xfrm>
              <a:off x="984" y="2845"/>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1223" name="Line 10"/>
            <p:cNvSpPr>
              <a:spLocks noChangeShapeType="1"/>
            </p:cNvSpPr>
            <p:nvPr/>
          </p:nvSpPr>
          <p:spPr bwMode="auto">
            <a:xfrm>
              <a:off x="984" y="3126"/>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1224" name="Line 11"/>
            <p:cNvSpPr>
              <a:spLocks noChangeShapeType="1"/>
            </p:cNvSpPr>
            <p:nvPr/>
          </p:nvSpPr>
          <p:spPr bwMode="auto">
            <a:xfrm>
              <a:off x="984" y="3408"/>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1225" name="AutoShape 12"/>
            <p:cNvSpPr>
              <a:spLocks noChangeArrowheads="1"/>
            </p:cNvSpPr>
            <p:nvPr/>
          </p:nvSpPr>
          <p:spPr bwMode="auto">
            <a:xfrm>
              <a:off x="1104"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26" name="AutoShape 13"/>
            <p:cNvSpPr>
              <a:spLocks noChangeArrowheads="1"/>
            </p:cNvSpPr>
            <p:nvPr/>
          </p:nvSpPr>
          <p:spPr bwMode="auto">
            <a:xfrm>
              <a:off x="1104" y="188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27" name="AutoShape 14"/>
            <p:cNvSpPr>
              <a:spLocks noChangeArrowheads="1"/>
            </p:cNvSpPr>
            <p:nvPr/>
          </p:nvSpPr>
          <p:spPr bwMode="auto">
            <a:xfrm>
              <a:off x="1104" y="2480"/>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28" name="AutoShape 15"/>
            <p:cNvSpPr>
              <a:spLocks noChangeArrowheads="1"/>
            </p:cNvSpPr>
            <p:nvPr/>
          </p:nvSpPr>
          <p:spPr bwMode="auto">
            <a:xfrm>
              <a:off x="1104"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29" name="AutoShape 16"/>
            <p:cNvSpPr>
              <a:spLocks noChangeArrowheads="1"/>
            </p:cNvSpPr>
            <p:nvPr/>
          </p:nvSpPr>
          <p:spPr bwMode="auto">
            <a:xfrm>
              <a:off x="1953" y="249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0" name="AutoShape 17"/>
            <p:cNvSpPr>
              <a:spLocks noChangeArrowheads="1"/>
            </p:cNvSpPr>
            <p:nvPr/>
          </p:nvSpPr>
          <p:spPr bwMode="auto">
            <a:xfrm>
              <a:off x="1953"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1" name="AutoShape 18"/>
            <p:cNvSpPr>
              <a:spLocks noChangeArrowheads="1"/>
            </p:cNvSpPr>
            <p:nvPr/>
          </p:nvSpPr>
          <p:spPr bwMode="auto">
            <a:xfrm>
              <a:off x="1953"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2" name="AutoShape 19"/>
            <p:cNvSpPr>
              <a:spLocks noChangeArrowheads="1"/>
            </p:cNvSpPr>
            <p:nvPr/>
          </p:nvSpPr>
          <p:spPr bwMode="auto">
            <a:xfrm>
              <a:off x="1953" y="182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3" name="AutoShape 20"/>
            <p:cNvSpPr>
              <a:spLocks noChangeArrowheads="1"/>
            </p:cNvSpPr>
            <p:nvPr/>
          </p:nvSpPr>
          <p:spPr bwMode="auto">
            <a:xfrm>
              <a:off x="1670" y="163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4" name="AutoShape 21"/>
            <p:cNvSpPr>
              <a:spLocks noChangeArrowheads="1"/>
            </p:cNvSpPr>
            <p:nvPr/>
          </p:nvSpPr>
          <p:spPr bwMode="auto">
            <a:xfrm>
              <a:off x="1670" y="278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5" name="AutoShape 22"/>
            <p:cNvSpPr>
              <a:spLocks noChangeArrowheads="1"/>
            </p:cNvSpPr>
            <p:nvPr/>
          </p:nvSpPr>
          <p:spPr bwMode="auto">
            <a:xfrm>
              <a:off x="1387"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6" name="AutoShape 23"/>
            <p:cNvSpPr>
              <a:spLocks noChangeArrowheads="1"/>
            </p:cNvSpPr>
            <p:nvPr/>
          </p:nvSpPr>
          <p:spPr bwMode="auto">
            <a:xfrm>
              <a:off x="1387"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7" name="AutoShape 24"/>
            <p:cNvSpPr>
              <a:spLocks noChangeArrowheads="1"/>
            </p:cNvSpPr>
            <p:nvPr/>
          </p:nvSpPr>
          <p:spPr bwMode="auto">
            <a:xfrm>
              <a:off x="2236" y="1344"/>
              <a:ext cx="192" cy="216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8" name="AutoShape 25"/>
            <p:cNvSpPr>
              <a:spLocks noChangeArrowheads="1"/>
            </p:cNvSpPr>
            <p:nvPr/>
          </p:nvSpPr>
          <p:spPr bwMode="auto">
            <a:xfrm>
              <a:off x="3936"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39" name="AutoShape 26"/>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0" name="AutoShape 27"/>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1" name="AutoShape 28"/>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2" name="AutoShape 29"/>
            <p:cNvSpPr>
              <a:spLocks noChangeArrowheads="1"/>
            </p:cNvSpPr>
            <p:nvPr/>
          </p:nvSpPr>
          <p:spPr bwMode="auto">
            <a:xfrm>
              <a:off x="2520" y="1584"/>
              <a:ext cx="192" cy="16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3" name="AutoShape 30"/>
            <p:cNvSpPr>
              <a:spLocks noChangeArrowheads="1"/>
            </p:cNvSpPr>
            <p:nvPr/>
          </p:nvSpPr>
          <p:spPr bwMode="auto">
            <a:xfrm>
              <a:off x="2803" y="1824"/>
              <a:ext cx="192" cy="115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4" name="AutoShape 31"/>
            <p:cNvSpPr>
              <a:spLocks noChangeArrowheads="1"/>
            </p:cNvSpPr>
            <p:nvPr/>
          </p:nvSpPr>
          <p:spPr bwMode="auto">
            <a:xfrm>
              <a:off x="3086" y="2112"/>
              <a:ext cx="192" cy="57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5" name="AutoShape 32"/>
            <p:cNvSpPr>
              <a:spLocks noChangeArrowheads="1"/>
            </p:cNvSpPr>
            <p:nvPr/>
          </p:nvSpPr>
          <p:spPr bwMode="auto">
            <a:xfrm>
              <a:off x="3369" y="1344"/>
              <a:ext cx="192" cy="76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6" name="AutoShape 33"/>
            <p:cNvSpPr>
              <a:spLocks noChangeArrowheads="1"/>
            </p:cNvSpPr>
            <p:nvPr/>
          </p:nvSpPr>
          <p:spPr bwMode="auto">
            <a:xfrm>
              <a:off x="3369" y="2736"/>
              <a:ext cx="192" cy="76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7" name="AutoShape 34"/>
            <p:cNvSpPr>
              <a:spLocks noChangeArrowheads="1"/>
            </p:cNvSpPr>
            <p:nvPr/>
          </p:nvSpPr>
          <p:spPr bwMode="auto">
            <a:xfrm>
              <a:off x="3652" y="2448"/>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1248" name="AutoShape 35"/>
            <p:cNvSpPr>
              <a:spLocks noChangeArrowheads="1"/>
            </p:cNvSpPr>
            <p:nvPr/>
          </p:nvSpPr>
          <p:spPr bwMode="auto">
            <a:xfrm>
              <a:off x="3648" y="1536"/>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221190" name="Group 36"/>
          <p:cNvGrpSpPr>
            <a:grpSpLocks/>
          </p:cNvGrpSpPr>
          <p:nvPr/>
        </p:nvGrpSpPr>
        <p:grpSpPr bwMode="auto">
          <a:xfrm>
            <a:off x="365125" y="3813175"/>
            <a:ext cx="1377950" cy="423863"/>
            <a:chOff x="1313" y="2496"/>
            <a:chExt cx="1252" cy="427"/>
          </a:xfrm>
        </p:grpSpPr>
        <p:sp>
          <p:nvSpPr>
            <p:cNvPr id="221213" name="Freeform 3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14" name="Freeform 3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15" name="Oval 3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16" name="Oval 4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1191" name="Group 41"/>
          <p:cNvGrpSpPr>
            <a:grpSpLocks/>
          </p:cNvGrpSpPr>
          <p:nvPr/>
        </p:nvGrpSpPr>
        <p:grpSpPr bwMode="auto">
          <a:xfrm>
            <a:off x="365125" y="4684713"/>
            <a:ext cx="1377950" cy="423862"/>
            <a:chOff x="1313" y="2496"/>
            <a:chExt cx="1252" cy="427"/>
          </a:xfrm>
        </p:grpSpPr>
        <p:sp>
          <p:nvSpPr>
            <p:cNvPr id="221209" name="Freeform 4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10" name="Freeform 4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11" name="Oval 4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12" name="Oval 4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1192" name="Group 46"/>
          <p:cNvGrpSpPr>
            <a:grpSpLocks/>
          </p:cNvGrpSpPr>
          <p:nvPr/>
        </p:nvGrpSpPr>
        <p:grpSpPr bwMode="auto">
          <a:xfrm>
            <a:off x="365125" y="2070100"/>
            <a:ext cx="1377950" cy="465138"/>
            <a:chOff x="230" y="1304"/>
            <a:chExt cx="868" cy="293"/>
          </a:xfrm>
        </p:grpSpPr>
        <p:sp>
          <p:nvSpPr>
            <p:cNvPr id="221204" name="Freeform 47"/>
            <p:cNvSpPr>
              <a:spLocks/>
            </p:cNvSpPr>
            <p:nvPr/>
          </p:nvSpPr>
          <p:spPr bwMode="auto">
            <a:xfrm>
              <a:off x="668" y="1308"/>
              <a:ext cx="430" cy="263"/>
            </a:xfrm>
            <a:custGeom>
              <a:avLst/>
              <a:gdLst>
                <a:gd name="T0" fmla="*/ 106 w 348"/>
                <a:gd name="T1" fmla="*/ 243 h 228"/>
                <a:gd name="T2" fmla="*/ 542 w 348"/>
                <a:gd name="T3" fmla="*/ 0 h 228"/>
                <a:gd name="T4" fmla="*/ 1530 w 348"/>
                <a:gd name="T5" fmla="*/ 621 h 228"/>
                <a:gd name="T6" fmla="*/ 938 w 348"/>
                <a:gd name="T7" fmla="*/ 358 h 228"/>
                <a:gd name="T8" fmla="*/ 1187 w 348"/>
                <a:gd name="T9" fmla="*/ 554 h 228"/>
                <a:gd name="T10" fmla="*/ 634 w 348"/>
                <a:gd name="T11" fmla="*/ 341 h 228"/>
                <a:gd name="T12" fmla="*/ 991 w 348"/>
                <a:gd name="T13" fmla="*/ 520 h 228"/>
                <a:gd name="T14" fmla="*/ 0 w 348"/>
                <a:gd name="T15" fmla="*/ 302 h 228"/>
                <a:gd name="T16" fmla="*/ 106 w 348"/>
                <a:gd name="T17" fmla="*/ 243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1205" name="Freeform 48"/>
            <p:cNvSpPr>
              <a:spLocks/>
            </p:cNvSpPr>
            <p:nvPr/>
          </p:nvSpPr>
          <p:spPr bwMode="auto">
            <a:xfrm>
              <a:off x="230" y="1304"/>
              <a:ext cx="430" cy="267"/>
            </a:xfrm>
            <a:custGeom>
              <a:avLst/>
              <a:gdLst>
                <a:gd name="T0" fmla="*/ 1415 w 348"/>
                <a:gd name="T1" fmla="*/ 240 h 231"/>
                <a:gd name="T2" fmla="*/ 991 w 348"/>
                <a:gd name="T3" fmla="*/ 0 h 231"/>
                <a:gd name="T4" fmla="*/ 0 w 348"/>
                <a:gd name="T5" fmla="*/ 637 h 231"/>
                <a:gd name="T6" fmla="*/ 660 w 348"/>
                <a:gd name="T7" fmla="*/ 370 h 231"/>
                <a:gd name="T8" fmla="*/ 344 w 348"/>
                <a:gd name="T9" fmla="*/ 571 h 231"/>
                <a:gd name="T10" fmla="*/ 938 w 348"/>
                <a:gd name="T11" fmla="*/ 366 h 231"/>
                <a:gd name="T12" fmla="*/ 609 w 348"/>
                <a:gd name="T13" fmla="*/ 547 h 231"/>
                <a:gd name="T14" fmla="*/ 1530 w 348"/>
                <a:gd name="T15" fmla="*/ 317 h 231"/>
                <a:gd name="T16" fmla="*/ 1415 w 348"/>
                <a:gd name="T17" fmla="*/ 240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1206" name="Oval 49"/>
            <p:cNvSpPr>
              <a:spLocks noChangeArrowheads="1"/>
            </p:cNvSpPr>
            <p:nvPr/>
          </p:nvSpPr>
          <p:spPr bwMode="auto">
            <a:xfrm>
              <a:off x="514" y="1356"/>
              <a:ext cx="271" cy="215"/>
            </a:xfrm>
            <a:prstGeom prst="ellipse">
              <a:avLst/>
            </a:pr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1207" name="Oval 50"/>
            <p:cNvSpPr>
              <a:spLocks noChangeArrowheads="1"/>
            </p:cNvSpPr>
            <p:nvPr/>
          </p:nvSpPr>
          <p:spPr bwMode="auto">
            <a:xfrm>
              <a:off x="668" y="1394"/>
              <a:ext cx="71" cy="60"/>
            </a:xfrm>
            <a:prstGeom prst="ellipse">
              <a:avLst/>
            </a:prstGeom>
            <a:solidFill>
              <a:srgbClr val="FFFF00"/>
            </a:solidFill>
            <a:ln w="19050">
              <a:solidFill>
                <a:schemeClr val="tx1"/>
              </a:solidFill>
              <a:round/>
              <a:headEnd/>
              <a:tailEnd/>
            </a:ln>
          </p:spPr>
          <p:txBody>
            <a:bodyPr wrap="none" anchor="ctr"/>
            <a:lstStyle/>
            <a:p>
              <a:endParaRPr lang="en-US" dirty="0">
                <a:latin typeface="Courier New" pitchFamily="49" charset="0"/>
              </a:endParaRPr>
            </a:p>
          </p:txBody>
        </p:sp>
        <p:sp>
          <p:nvSpPr>
            <p:cNvPr id="221208" name="Text Box 51"/>
            <p:cNvSpPr txBox="1">
              <a:spLocks noChangeArrowheads="1"/>
            </p:cNvSpPr>
            <p:nvPr/>
          </p:nvSpPr>
          <p:spPr bwMode="auto">
            <a:xfrm>
              <a:off x="500" y="1347"/>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+1</a:t>
              </a:r>
            </a:p>
          </p:txBody>
        </p:sp>
      </p:grpSp>
      <p:grpSp>
        <p:nvGrpSpPr>
          <p:cNvPr id="221193" name="Group 52"/>
          <p:cNvGrpSpPr>
            <a:grpSpLocks/>
          </p:cNvGrpSpPr>
          <p:nvPr/>
        </p:nvGrpSpPr>
        <p:grpSpPr bwMode="auto">
          <a:xfrm>
            <a:off x="365125" y="2941638"/>
            <a:ext cx="1377950" cy="444500"/>
            <a:chOff x="230" y="1853"/>
            <a:chExt cx="868" cy="280"/>
          </a:xfrm>
        </p:grpSpPr>
        <p:grpSp>
          <p:nvGrpSpPr>
            <p:cNvPr id="221198" name="Group 53"/>
            <p:cNvGrpSpPr>
              <a:grpSpLocks/>
            </p:cNvGrpSpPr>
            <p:nvPr/>
          </p:nvGrpSpPr>
          <p:grpSpPr bwMode="auto">
            <a:xfrm>
              <a:off x="230" y="1853"/>
              <a:ext cx="868" cy="267"/>
              <a:chOff x="1313" y="2496"/>
              <a:chExt cx="1252" cy="427"/>
            </a:xfrm>
          </p:grpSpPr>
          <p:sp>
            <p:nvSpPr>
              <p:cNvPr id="221200" name="Freeform 54"/>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01" name="Freeform 55"/>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02" name="Oval 56"/>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1203" name="Oval 57"/>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21199" name="Text Box 58"/>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221194" name="Text Box 59"/>
          <p:cNvSpPr txBox="1">
            <a:spLocks noChangeArrowheads="1"/>
          </p:cNvSpPr>
          <p:nvPr/>
        </p:nvSpPr>
        <p:spPr bwMode="auto">
          <a:xfrm>
            <a:off x="806450" y="38528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21195" name="Text Box 60"/>
          <p:cNvSpPr txBox="1">
            <a:spLocks noChangeArrowheads="1"/>
          </p:cNvSpPr>
          <p:nvPr/>
        </p:nvSpPr>
        <p:spPr bwMode="auto">
          <a:xfrm>
            <a:off x="884238" y="4284663"/>
            <a:ext cx="339725"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21196" name="Text Box 61"/>
          <p:cNvSpPr txBox="1">
            <a:spLocks noChangeArrowheads="1"/>
          </p:cNvSpPr>
          <p:nvPr/>
        </p:nvSpPr>
        <p:spPr bwMode="auto">
          <a:xfrm>
            <a:off x="806450" y="47164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21197" name="Text Box 62"/>
          <p:cNvSpPr txBox="1">
            <a:spLocks noChangeArrowheads="1"/>
          </p:cNvSpPr>
          <p:nvPr/>
        </p:nvSpPr>
        <p:spPr bwMode="auto">
          <a:xfrm>
            <a:off x="884238" y="5148263"/>
            <a:ext cx="339725"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pPr>
              <a:defRPr/>
            </a:pPr>
            <a:r>
              <a:rPr lang="en-US"/>
              <a:t>Art of Multiprocessor Programming</a:t>
            </a:r>
          </a:p>
        </p:txBody>
      </p:sp>
      <p:sp>
        <p:nvSpPr>
          <p:cNvPr id="63" name="Slide Number Placeholder 4"/>
          <p:cNvSpPr>
            <a:spLocks noGrp="1"/>
          </p:cNvSpPr>
          <p:nvPr>
            <p:ph type="sldNum" sz="quarter" idx="11"/>
          </p:nvPr>
        </p:nvSpPr>
        <p:spPr/>
        <p:txBody>
          <a:bodyPr/>
          <a:lstStyle/>
          <a:p>
            <a:pPr>
              <a:defRPr/>
            </a:pPr>
            <a:fld id="{D92DC7A7-FB3B-48CA-861A-4120D6EF59F3}" type="slidenum">
              <a:rPr lang="en-US"/>
              <a:pPr>
                <a:defRPr/>
              </a:pPr>
              <a:t>223</a:t>
            </a:fld>
            <a:endParaRPr lang="en-US"/>
          </a:p>
        </p:txBody>
      </p:sp>
      <p:sp>
        <p:nvSpPr>
          <p:cNvPr id="222212" name="Rectangle 2"/>
          <p:cNvSpPr>
            <a:spLocks noGrp="1" noChangeArrowheads="1"/>
          </p:cNvSpPr>
          <p:nvPr>
            <p:ph type="title"/>
          </p:nvPr>
        </p:nvSpPr>
        <p:spPr/>
        <p:txBody>
          <a:bodyPr/>
          <a:lstStyle/>
          <a:p>
            <a:r>
              <a:rPr lang="en-US"/>
              <a:t>First Token</a:t>
            </a:r>
          </a:p>
        </p:txBody>
      </p:sp>
      <p:sp>
        <p:nvSpPr>
          <p:cNvPr id="222213" name="Line 3"/>
          <p:cNvSpPr>
            <a:spLocks noChangeShapeType="1"/>
          </p:cNvSpPr>
          <p:nvPr/>
        </p:nvSpPr>
        <p:spPr bwMode="auto">
          <a:xfrm>
            <a:off x="1562100" y="22860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2214" name="Line 4"/>
          <p:cNvSpPr>
            <a:spLocks noChangeShapeType="1"/>
          </p:cNvSpPr>
          <p:nvPr/>
        </p:nvSpPr>
        <p:spPr bwMode="auto">
          <a:xfrm>
            <a:off x="1562100" y="273208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2215" name="Line 5"/>
          <p:cNvSpPr>
            <a:spLocks noChangeShapeType="1"/>
          </p:cNvSpPr>
          <p:nvPr/>
        </p:nvSpPr>
        <p:spPr bwMode="auto">
          <a:xfrm>
            <a:off x="1562100" y="317817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2216" name="Line 6"/>
          <p:cNvSpPr>
            <a:spLocks noChangeShapeType="1"/>
          </p:cNvSpPr>
          <p:nvPr/>
        </p:nvSpPr>
        <p:spPr bwMode="auto">
          <a:xfrm>
            <a:off x="1562100" y="3624263"/>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2217" name="Line 7"/>
          <p:cNvSpPr>
            <a:spLocks noChangeShapeType="1"/>
          </p:cNvSpPr>
          <p:nvPr/>
        </p:nvSpPr>
        <p:spPr bwMode="auto">
          <a:xfrm>
            <a:off x="1562100" y="407035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2218" name="Line 8"/>
          <p:cNvSpPr>
            <a:spLocks noChangeShapeType="1"/>
          </p:cNvSpPr>
          <p:nvPr/>
        </p:nvSpPr>
        <p:spPr bwMode="auto">
          <a:xfrm>
            <a:off x="1562100" y="4516438"/>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2219" name="Line 9"/>
          <p:cNvSpPr>
            <a:spLocks noChangeShapeType="1"/>
          </p:cNvSpPr>
          <p:nvPr/>
        </p:nvSpPr>
        <p:spPr bwMode="auto">
          <a:xfrm>
            <a:off x="1562100" y="4962525"/>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2220" name="Line 10"/>
          <p:cNvSpPr>
            <a:spLocks noChangeShapeType="1"/>
          </p:cNvSpPr>
          <p:nvPr/>
        </p:nvSpPr>
        <p:spPr bwMode="auto">
          <a:xfrm>
            <a:off x="1562100" y="5410200"/>
            <a:ext cx="5410200"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2221" name="AutoShape 11"/>
          <p:cNvSpPr>
            <a:spLocks noChangeArrowheads="1"/>
          </p:cNvSpPr>
          <p:nvPr/>
        </p:nvSpPr>
        <p:spPr bwMode="auto">
          <a:xfrm>
            <a:off x="1752600" y="2133600"/>
            <a:ext cx="304800" cy="685800"/>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2222" name="AutoShape 12"/>
          <p:cNvSpPr>
            <a:spLocks noChangeArrowheads="1"/>
          </p:cNvSpPr>
          <p:nvPr/>
        </p:nvSpPr>
        <p:spPr bwMode="auto">
          <a:xfrm>
            <a:off x="1752600" y="29972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23" name="AutoShape 13"/>
          <p:cNvSpPr>
            <a:spLocks noChangeArrowheads="1"/>
          </p:cNvSpPr>
          <p:nvPr/>
        </p:nvSpPr>
        <p:spPr bwMode="auto">
          <a:xfrm>
            <a:off x="1752600" y="39370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24" name="AutoShape 14"/>
          <p:cNvSpPr>
            <a:spLocks noChangeArrowheads="1"/>
          </p:cNvSpPr>
          <p:nvPr/>
        </p:nvSpPr>
        <p:spPr bwMode="auto">
          <a:xfrm>
            <a:off x="1752600" y="48768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25" name="AutoShape 15"/>
          <p:cNvSpPr>
            <a:spLocks noChangeArrowheads="1"/>
          </p:cNvSpPr>
          <p:nvPr/>
        </p:nvSpPr>
        <p:spPr bwMode="auto">
          <a:xfrm>
            <a:off x="3100388" y="39624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26" name="AutoShape 16"/>
          <p:cNvSpPr>
            <a:spLocks noChangeArrowheads="1"/>
          </p:cNvSpPr>
          <p:nvPr/>
        </p:nvSpPr>
        <p:spPr bwMode="auto">
          <a:xfrm>
            <a:off x="3100388" y="48768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27" name="AutoShape 17"/>
          <p:cNvSpPr>
            <a:spLocks noChangeArrowheads="1"/>
          </p:cNvSpPr>
          <p:nvPr/>
        </p:nvSpPr>
        <p:spPr bwMode="auto">
          <a:xfrm>
            <a:off x="3100388" y="21336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28" name="AutoShape 18"/>
          <p:cNvSpPr>
            <a:spLocks noChangeArrowheads="1"/>
          </p:cNvSpPr>
          <p:nvPr/>
        </p:nvSpPr>
        <p:spPr bwMode="auto">
          <a:xfrm>
            <a:off x="3100388" y="28956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29" name="AutoShape 19"/>
          <p:cNvSpPr>
            <a:spLocks noChangeArrowheads="1"/>
          </p:cNvSpPr>
          <p:nvPr/>
        </p:nvSpPr>
        <p:spPr bwMode="auto">
          <a:xfrm>
            <a:off x="2651125" y="2590800"/>
            <a:ext cx="304800" cy="685800"/>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2230" name="AutoShape 20"/>
          <p:cNvSpPr>
            <a:spLocks noChangeArrowheads="1"/>
          </p:cNvSpPr>
          <p:nvPr/>
        </p:nvSpPr>
        <p:spPr bwMode="auto">
          <a:xfrm>
            <a:off x="2651125" y="44196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31" name="AutoShape 21"/>
          <p:cNvSpPr>
            <a:spLocks noChangeArrowheads="1"/>
          </p:cNvSpPr>
          <p:nvPr/>
        </p:nvSpPr>
        <p:spPr bwMode="auto">
          <a:xfrm>
            <a:off x="2201863" y="3962400"/>
            <a:ext cx="304800" cy="16002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32" name="AutoShape 22"/>
          <p:cNvSpPr>
            <a:spLocks noChangeArrowheads="1"/>
          </p:cNvSpPr>
          <p:nvPr/>
        </p:nvSpPr>
        <p:spPr bwMode="auto">
          <a:xfrm>
            <a:off x="2201863" y="2133600"/>
            <a:ext cx="304800" cy="16002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33" name="AutoShape 23"/>
          <p:cNvSpPr>
            <a:spLocks noChangeArrowheads="1"/>
          </p:cNvSpPr>
          <p:nvPr/>
        </p:nvSpPr>
        <p:spPr bwMode="auto">
          <a:xfrm>
            <a:off x="3549650" y="2133600"/>
            <a:ext cx="304800" cy="34290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34" name="AutoShape 24"/>
          <p:cNvSpPr>
            <a:spLocks noChangeArrowheads="1"/>
          </p:cNvSpPr>
          <p:nvPr/>
        </p:nvSpPr>
        <p:spPr bwMode="auto">
          <a:xfrm>
            <a:off x="6248400" y="2133600"/>
            <a:ext cx="304800" cy="685800"/>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2235" name="AutoShape 25"/>
          <p:cNvSpPr>
            <a:spLocks noChangeArrowheads="1"/>
          </p:cNvSpPr>
          <p:nvPr/>
        </p:nvSpPr>
        <p:spPr bwMode="auto">
          <a:xfrm>
            <a:off x="6248400" y="30734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36" name="AutoShape 26"/>
          <p:cNvSpPr>
            <a:spLocks noChangeArrowheads="1"/>
          </p:cNvSpPr>
          <p:nvPr/>
        </p:nvSpPr>
        <p:spPr bwMode="auto">
          <a:xfrm>
            <a:off x="6248400" y="40132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37" name="AutoShape 27"/>
          <p:cNvSpPr>
            <a:spLocks noChangeArrowheads="1"/>
          </p:cNvSpPr>
          <p:nvPr/>
        </p:nvSpPr>
        <p:spPr bwMode="auto">
          <a:xfrm>
            <a:off x="6248400" y="4876800"/>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38" name="AutoShape 28"/>
          <p:cNvSpPr>
            <a:spLocks noChangeArrowheads="1"/>
          </p:cNvSpPr>
          <p:nvPr/>
        </p:nvSpPr>
        <p:spPr bwMode="auto">
          <a:xfrm>
            <a:off x="4000500" y="2514600"/>
            <a:ext cx="304800" cy="26670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39" name="AutoShape 29"/>
          <p:cNvSpPr>
            <a:spLocks noChangeArrowheads="1"/>
          </p:cNvSpPr>
          <p:nvPr/>
        </p:nvSpPr>
        <p:spPr bwMode="auto">
          <a:xfrm>
            <a:off x="4449763" y="2895600"/>
            <a:ext cx="304800" cy="1828800"/>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2240" name="AutoShape 30"/>
          <p:cNvSpPr>
            <a:spLocks noChangeArrowheads="1"/>
          </p:cNvSpPr>
          <p:nvPr/>
        </p:nvSpPr>
        <p:spPr bwMode="auto">
          <a:xfrm>
            <a:off x="4899025" y="3352800"/>
            <a:ext cx="304800" cy="9144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41" name="AutoShape 31"/>
          <p:cNvSpPr>
            <a:spLocks noChangeArrowheads="1"/>
          </p:cNvSpPr>
          <p:nvPr/>
        </p:nvSpPr>
        <p:spPr bwMode="auto">
          <a:xfrm>
            <a:off x="5348288" y="2133600"/>
            <a:ext cx="304800" cy="1219200"/>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2242" name="AutoShape 32"/>
          <p:cNvSpPr>
            <a:spLocks noChangeArrowheads="1"/>
          </p:cNvSpPr>
          <p:nvPr/>
        </p:nvSpPr>
        <p:spPr bwMode="auto">
          <a:xfrm>
            <a:off x="5348288" y="4343400"/>
            <a:ext cx="304800" cy="12192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43" name="AutoShape 33"/>
          <p:cNvSpPr>
            <a:spLocks noChangeArrowheads="1"/>
          </p:cNvSpPr>
          <p:nvPr/>
        </p:nvSpPr>
        <p:spPr bwMode="auto">
          <a:xfrm>
            <a:off x="5797550" y="3886200"/>
            <a:ext cx="304800" cy="12954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2244" name="AutoShape 34"/>
          <p:cNvSpPr>
            <a:spLocks noChangeArrowheads="1"/>
          </p:cNvSpPr>
          <p:nvPr/>
        </p:nvSpPr>
        <p:spPr bwMode="auto">
          <a:xfrm>
            <a:off x="5791200" y="2438400"/>
            <a:ext cx="304800" cy="12954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222245" name="Group 35"/>
          <p:cNvGrpSpPr>
            <a:grpSpLocks/>
          </p:cNvGrpSpPr>
          <p:nvPr/>
        </p:nvGrpSpPr>
        <p:grpSpPr bwMode="auto">
          <a:xfrm>
            <a:off x="365125" y="3813175"/>
            <a:ext cx="1377950" cy="423863"/>
            <a:chOff x="1313" y="2496"/>
            <a:chExt cx="1252" cy="427"/>
          </a:xfrm>
        </p:grpSpPr>
        <p:sp>
          <p:nvSpPr>
            <p:cNvPr id="222268" name="Freeform 3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69" name="Freeform 3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70" name="Oval 38"/>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71" name="Oval 39"/>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2246" name="Group 40"/>
          <p:cNvGrpSpPr>
            <a:grpSpLocks/>
          </p:cNvGrpSpPr>
          <p:nvPr/>
        </p:nvGrpSpPr>
        <p:grpSpPr bwMode="auto">
          <a:xfrm>
            <a:off x="365125" y="4684713"/>
            <a:ext cx="1377950" cy="423862"/>
            <a:chOff x="1313" y="2496"/>
            <a:chExt cx="1252" cy="427"/>
          </a:xfrm>
        </p:grpSpPr>
        <p:sp>
          <p:nvSpPr>
            <p:cNvPr id="222264" name="Freeform 4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65" name="Freeform 4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66" name="Oval 43"/>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67" name="Oval 44"/>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2247" name="Group 45"/>
          <p:cNvGrpSpPr>
            <a:grpSpLocks/>
          </p:cNvGrpSpPr>
          <p:nvPr/>
        </p:nvGrpSpPr>
        <p:grpSpPr bwMode="auto">
          <a:xfrm>
            <a:off x="365125" y="2070100"/>
            <a:ext cx="1377950" cy="465138"/>
            <a:chOff x="230" y="1304"/>
            <a:chExt cx="868" cy="293"/>
          </a:xfrm>
        </p:grpSpPr>
        <p:sp>
          <p:nvSpPr>
            <p:cNvPr id="222259" name="Freeform 46"/>
            <p:cNvSpPr>
              <a:spLocks/>
            </p:cNvSpPr>
            <p:nvPr/>
          </p:nvSpPr>
          <p:spPr bwMode="auto">
            <a:xfrm>
              <a:off x="668" y="1308"/>
              <a:ext cx="430" cy="263"/>
            </a:xfrm>
            <a:custGeom>
              <a:avLst/>
              <a:gdLst>
                <a:gd name="T0" fmla="*/ 106 w 348"/>
                <a:gd name="T1" fmla="*/ 243 h 228"/>
                <a:gd name="T2" fmla="*/ 542 w 348"/>
                <a:gd name="T3" fmla="*/ 0 h 228"/>
                <a:gd name="T4" fmla="*/ 1530 w 348"/>
                <a:gd name="T5" fmla="*/ 621 h 228"/>
                <a:gd name="T6" fmla="*/ 938 w 348"/>
                <a:gd name="T7" fmla="*/ 358 h 228"/>
                <a:gd name="T8" fmla="*/ 1187 w 348"/>
                <a:gd name="T9" fmla="*/ 554 h 228"/>
                <a:gd name="T10" fmla="*/ 634 w 348"/>
                <a:gd name="T11" fmla="*/ 341 h 228"/>
                <a:gd name="T12" fmla="*/ 991 w 348"/>
                <a:gd name="T13" fmla="*/ 520 h 228"/>
                <a:gd name="T14" fmla="*/ 0 w 348"/>
                <a:gd name="T15" fmla="*/ 302 h 228"/>
                <a:gd name="T16" fmla="*/ 106 w 348"/>
                <a:gd name="T17" fmla="*/ 243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2260" name="Freeform 47"/>
            <p:cNvSpPr>
              <a:spLocks/>
            </p:cNvSpPr>
            <p:nvPr/>
          </p:nvSpPr>
          <p:spPr bwMode="auto">
            <a:xfrm>
              <a:off x="230" y="1304"/>
              <a:ext cx="430" cy="267"/>
            </a:xfrm>
            <a:custGeom>
              <a:avLst/>
              <a:gdLst>
                <a:gd name="T0" fmla="*/ 1415 w 348"/>
                <a:gd name="T1" fmla="*/ 240 h 231"/>
                <a:gd name="T2" fmla="*/ 991 w 348"/>
                <a:gd name="T3" fmla="*/ 0 h 231"/>
                <a:gd name="T4" fmla="*/ 0 w 348"/>
                <a:gd name="T5" fmla="*/ 637 h 231"/>
                <a:gd name="T6" fmla="*/ 660 w 348"/>
                <a:gd name="T7" fmla="*/ 370 h 231"/>
                <a:gd name="T8" fmla="*/ 344 w 348"/>
                <a:gd name="T9" fmla="*/ 571 h 231"/>
                <a:gd name="T10" fmla="*/ 938 w 348"/>
                <a:gd name="T11" fmla="*/ 366 h 231"/>
                <a:gd name="T12" fmla="*/ 609 w 348"/>
                <a:gd name="T13" fmla="*/ 547 h 231"/>
                <a:gd name="T14" fmla="*/ 1530 w 348"/>
                <a:gd name="T15" fmla="*/ 317 h 231"/>
                <a:gd name="T16" fmla="*/ 1415 w 348"/>
                <a:gd name="T17" fmla="*/ 240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2261" name="Oval 48"/>
            <p:cNvSpPr>
              <a:spLocks noChangeArrowheads="1"/>
            </p:cNvSpPr>
            <p:nvPr/>
          </p:nvSpPr>
          <p:spPr bwMode="auto">
            <a:xfrm>
              <a:off x="514" y="1356"/>
              <a:ext cx="271" cy="215"/>
            </a:xfrm>
            <a:prstGeom prst="ellipse">
              <a:avLst/>
            </a:pr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2262" name="Oval 49"/>
            <p:cNvSpPr>
              <a:spLocks noChangeArrowheads="1"/>
            </p:cNvSpPr>
            <p:nvPr/>
          </p:nvSpPr>
          <p:spPr bwMode="auto">
            <a:xfrm>
              <a:off x="668" y="1394"/>
              <a:ext cx="71" cy="60"/>
            </a:xfrm>
            <a:prstGeom prst="ellipse">
              <a:avLst/>
            </a:prstGeom>
            <a:solidFill>
              <a:srgbClr val="FFFF00"/>
            </a:solidFill>
            <a:ln w="19050">
              <a:solidFill>
                <a:schemeClr val="tx1"/>
              </a:solidFill>
              <a:round/>
              <a:headEnd/>
              <a:tailEnd/>
            </a:ln>
          </p:spPr>
          <p:txBody>
            <a:bodyPr wrap="none" anchor="ctr"/>
            <a:lstStyle/>
            <a:p>
              <a:endParaRPr lang="en-US" dirty="0">
                <a:latin typeface="Courier New" pitchFamily="49" charset="0"/>
              </a:endParaRPr>
            </a:p>
          </p:txBody>
        </p:sp>
        <p:sp>
          <p:nvSpPr>
            <p:cNvPr id="222263" name="Text Box 50"/>
            <p:cNvSpPr txBox="1">
              <a:spLocks noChangeArrowheads="1"/>
            </p:cNvSpPr>
            <p:nvPr/>
          </p:nvSpPr>
          <p:spPr bwMode="auto">
            <a:xfrm>
              <a:off x="500" y="1347"/>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+1</a:t>
              </a:r>
            </a:p>
          </p:txBody>
        </p:sp>
      </p:grpSp>
      <p:grpSp>
        <p:nvGrpSpPr>
          <p:cNvPr id="222248" name="Group 51"/>
          <p:cNvGrpSpPr>
            <a:grpSpLocks/>
          </p:cNvGrpSpPr>
          <p:nvPr/>
        </p:nvGrpSpPr>
        <p:grpSpPr bwMode="auto">
          <a:xfrm>
            <a:off x="365125" y="2941638"/>
            <a:ext cx="1377950" cy="444500"/>
            <a:chOff x="230" y="1853"/>
            <a:chExt cx="868" cy="280"/>
          </a:xfrm>
        </p:grpSpPr>
        <p:grpSp>
          <p:nvGrpSpPr>
            <p:cNvPr id="222253" name="Group 52"/>
            <p:cNvGrpSpPr>
              <a:grpSpLocks/>
            </p:cNvGrpSpPr>
            <p:nvPr/>
          </p:nvGrpSpPr>
          <p:grpSpPr bwMode="auto">
            <a:xfrm>
              <a:off x="230" y="1853"/>
              <a:ext cx="868" cy="267"/>
              <a:chOff x="1313" y="2496"/>
              <a:chExt cx="1252" cy="427"/>
            </a:xfrm>
          </p:grpSpPr>
          <p:sp>
            <p:nvSpPr>
              <p:cNvPr id="222255" name="Freeform 5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56" name="Freeform 5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57" name="Oval 55"/>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2258" name="Oval 56"/>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22254" name="Text Box 57"/>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222249" name="Text Box 58"/>
          <p:cNvSpPr txBox="1">
            <a:spLocks noChangeArrowheads="1"/>
          </p:cNvSpPr>
          <p:nvPr/>
        </p:nvSpPr>
        <p:spPr bwMode="auto">
          <a:xfrm>
            <a:off x="806450" y="38528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22250" name="Text Box 59"/>
          <p:cNvSpPr txBox="1">
            <a:spLocks noChangeArrowheads="1"/>
          </p:cNvSpPr>
          <p:nvPr/>
        </p:nvSpPr>
        <p:spPr bwMode="auto">
          <a:xfrm>
            <a:off x="806450" y="47164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22251" name="Freeform 60"/>
          <p:cNvSpPr>
            <a:spLocks/>
          </p:cNvSpPr>
          <p:nvPr/>
        </p:nvSpPr>
        <p:spPr bwMode="auto">
          <a:xfrm>
            <a:off x="12446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prstDash val="sysDot"/>
            <a:round/>
            <a:headEnd/>
            <a:tailEnd type="triangle" w="med" len="med"/>
          </a:ln>
        </p:spPr>
        <p:txBody>
          <a:bodyPr wrap="none" anchor="ctr"/>
          <a:lstStyle/>
          <a:p>
            <a:endParaRPr lang="en-US" dirty="0">
              <a:latin typeface="Courier New" pitchFamily="49" charset="0"/>
            </a:endParaRPr>
          </a:p>
        </p:txBody>
      </p:sp>
      <p:sp>
        <p:nvSpPr>
          <p:cNvPr id="862269" name="Text Box 61"/>
          <p:cNvSpPr txBox="1">
            <a:spLocks noChangeArrowheads="1"/>
          </p:cNvSpPr>
          <p:nvPr/>
        </p:nvSpPr>
        <p:spPr bwMode="auto">
          <a:xfrm>
            <a:off x="2289175" y="3552825"/>
            <a:ext cx="5132388" cy="984250"/>
          </a:xfrm>
          <a:prstGeom prst="rect">
            <a:avLst/>
          </a:prstGeom>
          <a:solidFill>
            <a:schemeClr val="bg1">
              <a:alpha val="94901"/>
            </a:schemeClr>
          </a:solidFill>
          <a:ln w="38100" algn="ctr">
            <a:solidFill>
              <a:schemeClr val="accent1"/>
            </a:solidFill>
            <a:miter lim="800000"/>
            <a:headEnd/>
            <a:tailEnd/>
          </a:ln>
        </p:spPr>
        <p:txBody>
          <a:bodyPr>
            <a:spAutoFit/>
          </a:bodyPr>
          <a:lstStyle/>
          <a:p>
            <a:pPr algn="ctr">
              <a:spcBef>
                <a:spcPct val="0"/>
              </a:spcBef>
            </a:pPr>
            <a:r>
              <a:rPr lang="en-US" sz="2800" b="0" dirty="0">
                <a:solidFill>
                  <a:schemeClr val="accent1"/>
                </a:solidFill>
                <a:latin typeface="Arial" pitchFamily="34" charset="0"/>
                <a:cs typeface="Arial" pitchFamily="34" charset="0"/>
              </a:rPr>
              <a:t>First token would visit green balancers if it runs solo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2269"/>
                                        </p:tgtEl>
                                        <p:attrNameLst>
                                          <p:attrName>style.visibility</p:attrName>
                                        </p:attrNameLst>
                                      </p:cBhvr>
                                      <p:to>
                                        <p:strVal val="visible"/>
                                      </p:to>
                                    </p:set>
                                    <p:animEffect transition="in" filter="blinds(horizontal)">
                                      <p:cBhvr>
                                        <p:cTn id="7" dur="500"/>
                                        <p:tgtEl>
                                          <p:spTgt spid="862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69" grpId="0" animBg="1"/>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F31ACBEE-B1D3-41B4-B515-32ACBD4A2DCC}" type="slidenum">
              <a:rPr lang="en-US"/>
              <a:pPr>
                <a:defRPr/>
              </a:pPr>
              <a:t>224</a:t>
            </a:fld>
            <a:endParaRPr lang="en-US"/>
          </a:p>
        </p:txBody>
      </p:sp>
      <p:sp>
        <p:nvSpPr>
          <p:cNvPr id="223236" name="Rectangle 2"/>
          <p:cNvSpPr>
            <a:spLocks noGrp="1" noChangeArrowheads="1"/>
          </p:cNvSpPr>
          <p:nvPr>
            <p:ph type="title"/>
          </p:nvPr>
        </p:nvSpPr>
        <p:spPr/>
        <p:txBody>
          <a:bodyPr/>
          <a:lstStyle/>
          <a:p>
            <a:r>
              <a:rPr lang="en-US"/>
              <a:t>Claim</a:t>
            </a:r>
          </a:p>
        </p:txBody>
      </p:sp>
      <p:sp>
        <p:nvSpPr>
          <p:cNvPr id="223237" name="Rectangle 3"/>
          <p:cNvSpPr>
            <a:spLocks noGrp="1" noChangeArrowheads="1"/>
          </p:cNvSpPr>
          <p:nvPr>
            <p:ph type="body" idx="1"/>
          </p:nvPr>
        </p:nvSpPr>
        <p:spPr/>
        <p:txBody>
          <a:bodyPr/>
          <a:lstStyle/>
          <a:p>
            <a:r>
              <a:rPr lang="en-US"/>
              <a:t>Look at path of +1 token</a:t>
            </a:r>
          </a:p>
          <a:p>
            <a:r>
              <a:rPr lang="en-US"/>
              <a:t>All other +2 tokens must visit some balancer on +1 token’s path</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ooter Placeholder 3"/>
          <p:cNvSpPr>
            <a:spLocks noGrp="1"/>
          </p:cNvSpPr>
          <p:nvPr>
            <p:ph type="ftr" sz="quarter" idx="10"/>
          </p:nvPr>
        </p:nvSpPr>
        <p:spPr/>
        <p:txBody>
          <a:bodyPr/>
          <a:lstStyle/>
          <a:p>
            <a:pPr>
              <a:defRPr/>
            </a:pPr>
            <a:r>
              <a:rPr lang="en-US"/>
              <a:t>Art of Multiprocessor Programming</a:t>
            </a:r>
          </a:p>
        </p:txBody>
      </p:sp>
      <p:sp>
        <p:nvSpPr>
          <p:cNvPr id="70" name="Slide Number Placeholder 4"/>
          <p:cNvSpPr>
            <a:spLocks noGrp="1"/>
          </p:cNvSpPr>
          <p:nvPr>
            <p:ph type="sldNum" sz="quarter" idx="11"/>
          </p:nvPr>
        </p:nvSpPr>
        <p:spPr/>
        <p:txBody>
          <a:bodyPr/>
          <a:lstStyle/>
          <a:p>
            <a:pPr>
              <a:defRPr/>
            </a:pPr>
            <a:fld id="{B841C535-F6EA-44DC-ADB0-E20D05D812FE}" type="slidenum">
              <a:rPr lang="en-US"/>
              <a:pPr>
                <a:defRPr/>
              </a:pPr>
              <a:t>225</a:t>
            </a:fld>
            <a:endParaRPr lang="en-US"/>
          </a:p>
        </p:txBody>
      </p:sp>
      <p:grpSp>
        <p:nvGrpSpPr>
          <p:cNvPr id="224260" name="Group 2"/>
          <p:cNvGrpSpPr>
            <a:grpSpLocks/>
          </p:cNvGrpSpPr>
          <p:nvPr/>
        </p:nvGrpSpPr>
        <p:grpSpPr bwMode="auto">
          <a:xfrm>
            <a:off x="365125" y="2941638"/>
            <a:ext cx="1377950" cy="423862"/>
            <a:chOff x="1313" y="2496"/>
            <a:chExt cx="1252" cy="427"/>
          </a:xfrm>
        </p:grpSpPr>
        <p:sp>
          <p:nvSpPr>
            <p:cNvPr id="224323"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4324"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4325"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4326"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24261" name="Rectangle 7"/>
          <p:cNvSpPr>
            <a:spLocks noGrp="1" noChangeArrowheads="1"/>
          </p:cNvSpPr>
          <p:nvPr>
            <p:ph type="title"/>
          </p:nvPr>
        </p:nvSpPr>
        <p:spPr/>
        <p:txBody>
          <a:bodyPr/>
          <a:lstStyle/>
          <a:p>
            <a:r>
              <a:rPr lang="en-US"/>
              <a:t>Second Token</a:t>
            </a:r>
          </a:p>
        </p:txBody>
      </p:sp>
      <p:grpSp>
        <p:nvGrpSpPr>
          <p:cNvPr id="224262" name="Group 8"/>
          <p:cNvGrpSpPr>
            <a:grpSpLocks/>
          </p:cNvGrpSpPr>
          <p:nvPr/>
        </p:nvGrpSpPr>
        <p:grpSpPr bwMode="auto">
          <a:xfrm>
            <a:off x="1562100" y="2133600"/>
            <a:ext cx="5410200" cy="3429000"/>
            <a:chOff x="984" y="1344"/>
            <a:chExt cx="3408" cy="2160"/>
          </a:xfrm>
        </p:grpSpPr>
        <p:sp>
          <p:nvSpPr>
            <p:cNvPr id="224291" name="Line 9"/>
            <p:cNvSpPr>
              <a:spLocks noChangeShapeType="1"/>
            </p:cNvSpPr>
            <p:nvPr/>
          </p:nvSpPr>
          <p:spPr bwMode="auto">
            <a:xfrm>
              <a:off x="984" y="1440"/>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4292" name="Line 10"/>
            <p:cNvSpPr>
              <a:spLocks noChangeShapeType="1"/>
            </p:cNvSpPr>
            <p:nvPr/>
          </p:nvSpPr>
          <p:spPr bwMode="auto">
            <a:xfrm>
              <a:off x="984" y="1721"/>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4293" name="Line 11"/>
            <p:cNvSpPr>
              <a:spLocks noChangeShapeType="1"/>
            </p:cNvSpPr>
            <p:nvPr/>
          </p:nvSpPr>
          <p:spPr bwMode="auto">
            <a:xfrm>
              <a:off x="984" y="2002"/>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4294" name="Line 12"/>
            <p:cNvSpPr>
              <a:spLocks noChangeShapeType="1"/>
            </p:cNvSpPr>
            <p:nvPr/>
          </p:nvSpPr>
          <p:spPr bwMode="auto">
            <a:xfrm>
              <a:off x="984" y="2283"/>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4295" name="Line 13"/>
            <p:cNvSpPr>
              <a:spLocks noChangeShapeType="1"/>
            </p:cNvSpPr>
            <p:nvPr/>
          </p:nvSpPr>
          <p:spPr bwMode="auto">
            <a:xfrm>
              <a:off x="984" y="2564"/>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4296" name="Line 14"/>
            <p:cNvSpPr>
              <a:spLocks noChangeShapeType="1"/>
            </p:cNvSpPr>
            <p:nvPr/>
          </p:nvSpPr>
          <p:spPr bwMode="auto">
            <a:xfrm>
              <a:off x="984" y="2845"/>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4297" name="Line 15"/>
            <p:cNvSpPr>
              <a:spLocks noChangeShapeType="1"/>
            </p:cNvSpPr>
            <p:nvPr/>
          </p:nvSpPr>
          <p:spPr bwMode="auto">
            <a:xfrm>
              <a:off x="984" y="3126"/>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4298" name="Line 16"/>
            <p:cNvSpPr>
              <a:spLocks noChangeShapeType="1"/>
            </p:cNvSpPr>
            <p:nvPr/>
          </p:nvSpPr>
          <p:spPr bwMode="auto">
            <a:xfrm>
              <a:off x="984" y="3408"/>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4299" name="AutoShape 17"/>
            <p:cNvSpPr>
              <a:spLocks noChangeArrowheads="1"/>
            </p:cNvSpPr>
            <p:nvPr/>
          </p:nvSpPr>
          <p:spPr bwMode="auto">
            <a:xfrm>
              <a:off x="1104"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4300" name="AutoShape 18"/>
            <p:cNvSpPr>
              <a:spLocks noChangeArrowheads="1"/>
            </p:cNvSpPr>
            <p:nvPr/>
          </p:nvSpPr>
          <p:spPr bwMode="auto">
            <a:xfrm>
              <a:off x="1104" y="188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01" name="AutoShape 19"/>
            <p:cNvSpPr>
              <a:spLocks noChangeArrowheads="1"/>
            </p:cNvSpPr>
            <p:nvPr/>
          </p:nvSpPr>
          <p:spPr bwMode="auto">
            <a:xfrm>
              <a:off x="1104" y="2480"/>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02" name="AutoShape 20"/>
            <p:cNvSpPr>
              <a:spLocks noChangeArrowheads="1"/>
            </p:cNvSpPr>
            <p:nvPr/>
          </p:nvSpPr>
          <p:spPr bwMode="auto">
            <a:xfrm>
              <a:off x="1104"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03" name="AutoShape 21"/>
            <p:cNvSpPr>
              <a:spLocks noChangeArrowheads="1"/>
            </p:cNvSpPr>
            <p:nvPr/>
          </p:nvSpPr>
          <p:spPr bwMode="auto">
            <a:xfrm>
              <a:off x="1953" y="249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04" name="AutoShape 22"/>
            <p:cNvSpPr>
              <a:spLocks noChangeArrowheads="1"/>
            </p:cNvSpPr>
            <p:nvPr/>
          </p:nvSpPr>
          <p:spPr bwMode="auto">
            <a:xfrm>
              <a:off x="1953"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05" name="AutoShape 23"/>
            <p:cNvSpPr>
              <a:spLocks noChangeArrowheads="1"/>
            </p:cNvSpPr>
            <p:nvPr/>
          </p:nvSpPr>
          <p:spPr bwMode="auto">
            <a:xfrm>
              <a:off x="1953"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06" name="AutoShape 24"/>
            <p:cNvSpPr>
              <a:spLocks noChangeArrowheads="1"/>
            </p:cNvSpPr>
            <p:nvPr/>
          </p:nvSpPr>
          <p:spPr bwMode="auto">
            <a:xfrm>
              <a:off x="1953" y="182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07" name="AutoShape 25"/>
            <p:cNvSpPr>
              <a:spLocks noChangeArrowheads="1"/>
            </p:cNvSpPr>
            <p:nvPr/>
          </p:nvSpPr>
          <p:spPr bwMode="auto">
            <a:xfrm>
              <a:off x="1670" y="1632"/>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4308" name="AutoShape 26"/>
            <p:cNvSpPr>
              <a:spLocks noChangeArrowheads="1"/>
            </p:cNvSpPr>
            <p:nvPr/>
          </p:nvSpPr>
          <p:spPr bwMode="auto">
            <a:xfrm>
              <a:off x="1670" y="278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09" name="AutoShape 27"/>
            <p:cNvSpPr>
              <a:spLocks noChangeArrowheads="1"/>
            </p:cNvSpPr>
            <p:nvPr/>
          </p:nvSpPr>
          <p:spPr bwMode="auto">
            <a:xfrm>
              <a:off x="1387"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10" name="AutoShape 28"/>
            <p:cNvSpPr>
              <a:spLocks noChangeArrowheads="1"/>
            </p:cNvSpPr>
            <p:nvPr/>
          </p:nvSpPr>
          <p:spPr bwMode="auto">
            <a:xfrm>
              <a:off x="1387"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11" name="AutoShape 29"/>
            <p:cNvSpPr>
              <a:spLocks noChangeArrowheads="1"/>
            </p:cNvSpPr>
            <p:nvPr/>
          </p:nvSpPr>
          <p:spPr bwMode="auto">
            <a:xfrm>
              <a:off x="2236" y="1344"/>
              <a:ext cx="192" cy="216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12" name="AutoShape 30"/>
            <p:cNvSpPr>
              <a:spLocks noChangeArrowheads="1"/>
            </p:cNvSpPr>
            <p:nvPr/>
          </p:nvSpPr>
          <p:spPr bwMode="auto">
            <a:xfrm>
              <a:off x="3936"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4313" name="AutoShape 31"/>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14" name="AutoShape 32"/>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15" name="AutoShape 33"/>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16" name="AutoShape 34"/>
            <p:cNvSpPr>
              <a:spLocks noChangeArrowheads="1"/>
            </p:cNvSpPr>
            <p:nvPr/>
          </p:nvSpPr>
          <p:spPr bwMode="auto">
            <a:xfrm>
              <a:off x="2520" y="1584"/>
              <a:ext cx="192" cy="16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17" name="AutoShape 35"/>
            <p:cNvSpPr>
              <a:spLocks noChangeArrowheads="1"/>
            </p:cNvSpPr>
            <p:nvPr/>
          </p:nvSpPr>
          <p:spPr bwMode="auto">
            <a:xfrm>
              <a:off x="2803" y="1824"/>
              <a:ext cx="192" cy="115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4318" name="AutoShape 36"/>
            <p:cNvSpPr>
              <a:spLocks noChangeArrowheads="1"/>
            </p:cNvSpPr>
            <p:nvPr/>
          </p:nvSpPr>
          <p:spPr bwMode="auto">
            <a:xfrm>
              <a:off x="3086" y="2112"/>
              <a:ext cx="192" cy="57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19" name="AutoShape 37"/>
            <p:cNvSpPr>
              <a:spLocks noChangeArrowheads="1"/>
            </p:cNvSpPr>
            <p:nvPr/>
          </p:nvSpPr>
          <p:spPr bwMode="auto">
            <a:xfrm>
              <a:off x="3369" y="1344"/>
              <a:ext cx="192" cy="768"/>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4320" name="AutoShape 38"/>
            <p:cNvSpPr>
              <a:spLocks noChangeArrowheads="1"/>
            </p:cNvSpPr>
            <p:nvPr/>
          </p:nvSpPr>
          <p:spPr bwMode="auto">
            <a:xfrm>
              <a:off x="3369" y="2736"/>
              <a:ext cx="192" cy="76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21" name="AutoShape 39"/>
            <p:cNvSpPr>
              <a:spLocks noChangeArrowheads="1"/>
            </p:cNvSpPr>
            <p:nvPr/>
          </p:nvSpPr>
          <p:spPr bwMode="auto">
            <a:xfrm>
              <a:off x="3652" y="2448"/>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4322" name="AutoShape 40"/>
            <p:cNvSpPr>
              <a:spLocks noChangeArrowheads="1"/>
            </p:cNvSpPr>
            <p:nvPr/>
          </p:nvSpPr>
          <p:spPr bwMode="auto">
            <a:xfrm>
              <a:off x="3648" y="1536"/>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224263" name="Group 41"/>
          <p:cNvGrpSpPr>
            <a:grpSpLocks/>
          </p:cNvGrpSpPr>
          <p:nvPr/>
        </p:nvGrpSpPr>
        <p:grpSpPr bwMode="auto">
          <a:xfrm>
            <a:off x="365125" y="3813175"/>
            <a:ext cx="1377950" cy="423863"/>
            <a:chOff x="1313" y="2496"/>
            <a:chExt cx="1252" cy="427"/>
          </a:xfrm>
        </p:grpSpPr>
        <p:sp>
          <p:nvSpPr>
            <p:cNvPr id="224287" name="Freeform 4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4288" name="Freeform 4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4289" name="Oval 44"/>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4290" name="Oval 45"/>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4264" name="Group 46"/>
          <p:cNvGrpSpPr>
            <a:grpSpLocks/>
          </p:cNvGrpSpPr>
          <p:nvPr/>
        </p:nvGrpSpPr>
        <p:grpSpPr bwMode="auto">
          <a:xfrm>
            <a:off x="365125" y="4684713"/>
            <a:ext cx="1377950" cy="423862"/>
            <a:chOff x="1313" y="2496"/>
            <a:chExt cx="1252" cy="427"/>
          </a:xfrm>
        </p:grpSpPr>
        <p:sp>
          <p:nvSpPr>
            <p:cNvPr id="224283" name="Freeform 4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4284" name="Freeform 4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4285" name="Oval 49"/>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4286" name="Oval 50"/>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4265" name="Group 51"/>
          <p:cNvGrpSpPr>
            <a:grpSpLocks/>
          </p:cNvGrpSpPr>
          <p:nvPr/>
        </p:nvGrpSpPr>
        <p:grpSpPr bwMode="auto">
          <a:xfrm>
            <a:off x="365125" y="2070100"/>
            <a:ext cx="1377950" cy="465138"/>
            <a:chOff x="230" y="1304"/>
            <a:chExt cx="868" cy="293"/>
          </a:xfrm>
        </p:grpSpPr>
        <p:sp>
          <p:nvSpPr>
            <p:cNvPr id="224278" name="Freeform 52"/>
            <p:cNvSpPr>
              <a:spLocks/>
            </p:cNvSpPr>
            <p:nvPr/>
          </p:nvSpPr>
          <p:spPr bwMode="auto">
            <a:xfrm>
              <a:off x="668" y="1308"/>
              <a:ext cx="430" cy="263"/>
            </a:xfrm>
            <a:custGeom>
              <a:avLst/>
              <a:gdLst>
                <a:gd name="T0" fmla="*/ 106 w 348"/>
                <a:gd name="T1" fmla="*/ 243 h 228"/>
                <a:gd name="T2" fmla="*/ 542 w 348"/>
                <a:gd name="T3" fmla="*/ 0 h 228"/>
                <a:gd name="T4" fmla="*/ 1530 w 348"/>
                <a:gd name="T5" fmla="*/ 621 h 228"/>
                <a:gd name="T6" fmla="*/ 938 w 348"/>
                <a:gd name="T7" fmla="*/ 358 h 228"/>
                <a:gd name="T8" fmla="*/ 1187 w 348"/>
                <a:gd name="T9" fmla="*/ 554 h 228"/>
                <a:gd name="T10" fmla="*/ 634 w 348"/>
                <a:gd name="T11" fmla="*/ 341 h 228"/>
                <a:gd name="T12" fmla="*/ 991 w 348"/>
                <a:gd name="T13" fmla="*/ 520 h 228"/>
                <a:gd name="T14" fmla="*/ 0 w 348"/>
                <a:gd name="T15" fmla="*/ 302 h 228"/>
                <a:gd name="T16" fmla="*/ 106 w 348"/>
                <a:gd name="T17" fmla="*/ 243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4279" name="Freeform 53"/>
            <p:cNvSpPr>
              <a:spLocks/>
            </p:cNvSpPr>
            <p:nvPr/>
          </p:nvSpPr>
          <p:spPr bwMode="auto">
            <a:xfrm>
              <a:off x="230" y="1304"/>
              <a:ext cx="430" cy="267"/>
            </a:xfrm>
            <a:custGeom>
              <a:avLst/>
              <a:gdLst>
                <a:gd name="T0" fmla="*/ 1415 w 348"/>
                <a:gd name="T1" fmla="*/ 240 h 231"/>
                <a:gd name="T2" fmla="*/ 991 w 348"/>
                <a:gd name="T3" fmla="*/ 0 h 231"/>
                <a:gd name="T4" fmla="*/ 0 w 348"/>
                <a:gd name="T5" fmla="*/ 637 h 231"/>
                <a:gd name="T6" fmla="*/ 660 w 348"/>
                <a:gd name="T7" fmla="*/ 370 h 231"/>
                <a:gd name="T8" fmla="*/ 344 w 348"/>
                <a:gd name="T9" fmla="*/ 571 h 231"/>
                <a:gd name="T10" fmla="*/ 938 w 348"/>
                <a:gd name="T11" fmla="*/ 366 h 231"/>
                <a:gd name="T12" fmla="*/ 609 w 348"/>
                <a:gd name="T13" fmla="*/ 547 h 231"/>
                <a:gd name="T14" fmla="*/ 1530 w 348"/>
                <a:gd name="T15" fmla="*/ 317 h 231"/>
                <a:gd name="T16" fmla="*/ 1415 w 348"/>
                <a:gd name="T17" fmla="*/ 240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4280" name="Oval 54"/>
            <p:cNvSpPr>
              <a:spLocks noChangeArrowheads="1"/>
            </p:cNvSpPr>
            <p:nvPr/>
          </p:nvSpPr>
          <p:spPr bwMode="auto">
            <a:xfrm>
              <a:off x="514" y="1356"/>
              <a:ext cx="271" cy="215"/>
            </a:xfrm>
            <a:prstGeom prst="ellipse">
              <a:avLst/>
            </a:pr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4281" name="Oval 55"/>
            <p:cNvSpPr>
              <a:spLocks noChangeArrowheads="1"/>
            </p:cNvSpPr>
            <p:nvPr/>
          </p:nvSpPr>
          <p:spPr bwMode="auto">
            <a:xfrm>
              <a:off x="668" y="1394"/>
              <a:ext cx="71" cy="60"/>
            </a:xfrm>
            <a:prstGeom prst="ellipse">
              <a:avLst/>
            </a:prstGeom>
            <a:solidFill>
              <a:srgbClr val="FFFF00"/>
            </a:solidFill>
            <a:ln w="19050">
              <a:solidFill>
                <a:schemeClr val="tx1"/>
              </a:solidFill>
              <a:round/>
              <a:headEnd/>
              <a:tailEnd/>
            </a:ln>
          </p:spPr>
          <p:txBody>
            <a:bodyPr wrap="none" anchor="ctr"/>
            <a:lstStyle/>
            <a:p>
              <a:endParaRPr lang="en-US" dirty="0">
                <a:latin typeface="Courier New" pitchFamily="49" charset="0"/>
              </a:endParaRPr>
            </a:p>
          </p:txBody>
        </p:sp>
        <p:sp>
          <p:nvSpPr>
            <p:cNvPr id="224282" name="Text Box 56"/>
            <p:cNvSpPr txBox="1">
              <a:spLocks noChangeArrowheads="1"/>
            </p:cNvSpPr>
            <p:nvPr/>
          </p:nvSpPr>
          <p:spPr bwMode="auto">
            <a:xfrm>
              <a:off x="500" y="1347"/>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+1</a:t>
              </a:r>
            </a:p>
          </p:txBody>
        </p:sp>
      </p:grpSp>
      <p:sp>
        <p:nvSpPr>
          <p:cNvPr id="224266" name="Freeform 57"/>
          <p:cNvSpPr>
            <a:spLocks/>
          </p:cNvSpPr>
          <p:nvPr/>
        </p:nvSpPr>
        <p:spPr bwMode="auto">
          <a:xfrm>
            <a:off x="12446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prstDash val="sysDot"/>
            <a:round/>
            <a:headEnd/>
            <a:tailEnd type="triangle" w="med" len="med"/>
          </a:ln>
        </p:spPr>
        <p:txBody>
          <a:bodyPr wrap="none" anchor="ctr"/>
          <a:lstStyle/>
          <a:p>
            <a:endParaRPr lang="en-US" dirty="0">
              <a:latin typeface="Courier New" pitchFamily="49" charset="0"/>
            </a:endParaRPr>
          </a:p>
        </p:txBody>
      </p:sp>
      <p:sp>
        <p:nvSpPr>
          <p:cNvPr id="864314" name="Freeform 58"/>
          <p:cNvSpPr>
            <a:spLocks/>
          </p:cNvSpPr>
          <p:nvPr/>
        </p:nvSpPr>
        <p:spPr bwMode="auto">
          <a:xfrm>
            <a:off x="1524000" y="3136900"/>
            <a:ext cx="5511800" cy="1098550"/>
          </a:xfrm>
          <a:custGeom>
            <a:avLst/>
            <a:gdLst>
              <a:gd name="T0" fmla="*/ 0 w 3472"/>
              <a:gd name="T1" fmla="*/ 0 h 692"/>
              <a:gd name="T2" fmla="*/ 2147483647 w 3472"/>
              <a:gd name="T3" fmla="*/ 2147483647 h 692"/>
              <a:gd name="T4" fmla="*/ 2147483647 w 3472"/>
              <a:gd name="T5" fmla="*/ 2147483647 h 692"/>
              <a:gd name="T6" fmla="*/ 2147483647 w 3472"/>
              <a:gd name="T7" fmla="*/ 2147483647 h 692"/>
              <a:gd name="T8" fmla="*/ 2147483647 w 3472"/>
              <a:gd name="T9" fmla="*/ 2147483647 h 692"/>
              <a:gd name="T10" fmla="*/ 2147483647 w 3472"/>
              <a:gd name="T11" fmla="*/ 2147483647 h 692"/>
              <a:gd name="T12" fmla="*/ 0 60000 65536"/>
              <a:gd name="T13" fmla="*/ 0 60000 65536"/>
              <a:gd name="T14" fmla="*/ 0 60000 65536"/>
              <a:gd name="T15" fmla="*/ 0 60000 65536"/>
              <a:gd name="T16" fmla="*/ 0 60000 65536"/>
              <a:gd name="T17" fmla="*/ 0 60000 65536"/>
              <a:gd name="T18" fmla="*/ 0 w 3472"/>
              <a:gd name="T19" fmla="*/ 0 h 692"/>
              <a:gd name="T20" fmla="*/ 3472 w 3472"/>
              <a:gd name="T21" fmla="*/ 692 h 692"/>
            </a:gdLst>
            <a:ahLst/>
            <a:cxnLst>
              <a:cxn ang="T12">
                <a:pos x="T0" y="T1"/>
              </a:cxn>
              <a:cxn ang="T13">
                <a:pos x="T2" y="T3"/>
              </a:cxn>
              <a:cxn ang="T14">
                <a:pos x="T4" y="T5"/>
              </a:cxn>
              <a:cxn ang="T15">
                <a:pos x="T6" y="T7"/>
              </a:cxn>
              <a:cxn ang="T16">
                <a:pos x="T8" y="T9"/>
              </a:cxn>
              <a:cxn ang="T17">
                <a:pos x="T10" y="T11"/>
              </a:cxn>
            </a:cxnLst>
            <a:rect l="T18" t="T19" r="T20" b="T21"/>
            <a:pathLst>
              <a:path w="3472" h="692">
                <a:moveTo>
                  <a:pt x="0" y="0"/>
                </a:moveTo>
                <a:cubicBezTo>
                  <a:pt x="41" y="9"/>
                  <a:pt x="177" y="7"/>
                  <a:pt x="248" y="56"/>
                </a:cubicBezTo>
                <a:cubicBezTo>
                  <a:pt x="319" y="105"/>
                  <a:pt x="112" y="247"/>
                  <a:pt x="425" y="296"/>
                </a:cubicBezTo>
                <a:cubicBezTo>
                  <a:pt x="738" y="345"/>
                  <a:pt x="1803" y="295"/>
                  <a:pt x="2127" y="352"/>
                </a:cubicBezTo>
                <a:cubicBezTo>
                  <a:pt x="2451" y="409"/>
                  <a:pt x="2146" y="588"/>
                  <a:pt x="2370" y="640"/>
                </a:cubicBezTo>
                <a:cubicBezTo>
                  <a:pt x="2595" y="692"/>
                  <a:pt x="3242" y="659"/>
                  <a:pt x="3472" y="664"/>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864315" name="Text Box 59"/>
          <p:cNvSpPr txBox="1">
            <a:spLocks noChangeArrowheads="1"/>
          </p:cNvSpPr>
          <p:nvPr/>
        </p:nvSpPr>
        <p:spPr bwMode="auto">
          <a:xfrm>
            <a:off x="6987353" y="4352925"/>
            <a:ext cx="1424043" cy="523220"/>
          </a:xfrm>
          <a:prstGeom prst="rect">
            <a:avLst/>
          </a:prstGeom>
          <a:noFill/>
          <a:ln w="9525" algn="ctr">
            <a:noFill/>
            <a:miter lim="800000"/>
            <a:headEnd/>
            <a:tailEnd/>
          </a:ln>
        </p:spPr>
        <p:txBody>
          <a:bodyPr wrap="none">
            <a:spAutoFit/>
          </a:bodyPr>
          <a:lstStyle/>
          <a:p>
            <a:pPr algn="ctr">
              <a:spcBef>
                <a:spcPct val="0"/>
              </a:spcBef>
            </a:pPr>
            <a:r>
              <a:rPr lang="en-US" sz="2800" b="0" dirty="0">
                <a:latin typeface="Arial" pitchFamily="34" charset="0"/>
                <a:cs typeface="Arial" pitchFamily="34" charset="0"/>
              </a:rPr>
              <a:t>Takes 0</a:t>
            </a:r>
          </a:p>
        </p:txBody>
      </p:sp>
      <p:grpSp>
        <p:nvGrpSpPr>
          <p:cNvPr id="7" name="Group 60"/>
          <p:cNvGrpSpPr>
            <a:grpSpLocks/>
          </p:cNvGrpSpPr>
          <p:nvPr/>
        </p:nvGrpSpPr>
        <p:grpSpPr bwMode="auto">
          <a:xfrm>
            <a:off x="365125" y="2941638"/>
            <a:ext cx="1377950" cy="444500"/>
            <a:chOff x="230" y="1853"/>
            <a:chExt cx="868" cy="280"/>
          </a:xfrm>
        </p:grpSpPr>
        <p:grpSp>
          <p:nvGrpSpPr>
            <p:cNvPr id="224272" name="Group 61"/>
            <p:cNvGrpSpPr>
              <a:grpSpLocks/>
            </p:cNvGrpSpPr>
            <p:nvPr/>
          </p:nvGrpSpPr>
          <p:grpSpPr bwMode="auto">
            <a:xfrm>
              <a:off x="230" y="1853"/>
              <a:ext cx="868" cy="267"/>
              <a:chOff x="1313" y="2496"/>
              <a:chExt cx="1252" cy="427"/>
            </a:xfrm>
          </p:grpSpPr>
          <p:sp>
            <p:nvSpPr>
              <p:cNvPr id="224274" name="Freeform 6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4275" name="Freeform 6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4276" name="Oval 6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4277" name="Oval 6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24273" name="Text Box 66"/>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224270" name="Text Box 67"/>
          <p:cNvSpPr txBox="1">
            <a:spLocks noChangeArrowheads="1"/>
          </p:cNvSpPr>
          <p:nvPr/>
        </p:nvSpPr>
        <p:spPr bwMode="auto">
          <a:xfrm>
            <a:off x="806450" y="38528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24271" name="Text Box 68"/>
          <p:cNvSpPr txBox="1">
            <a:spLocks noChangeArrowheads="1"/>
          </p:cNvSpPr>
          <p:nvPr/>
        </p:nvSpPr>
        <p:spPr bwMode="auto">
          <a:xfrm>
            <a:off x="806450" y="47164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22222E-6 2.22222E-6 C 0.03785 -0.00463 0.07587 -0.00926 0.09167 -0.00185 C 0.10747 0.00556 0.03733 0.0331 0.09444 0.04444 C 0.15156 0.05579 0.37708 0.05301 0.43472 0.06667 C 0.49236 0.08032 0.40278 0.11319 0.44028 0.12593 C 0.47778 0.13866 0.56875 0.14051 0.65972 0.14259 " pathEditMode="relative" ptsTypes="aaaaaA">
                                      <p:cBhvr>
                                        <p:cTn id="6" dur="2000" fill="hold"/>
                                        <p:tgtEl>
                                          <p:spTgt spid="7"/>
                                        </p:tgtEl>
                                        <p:attrNameLst>
                                          <p:attrName>ppt_x</p:attrName>
                                          <p:attrName>ppt_y</p:attrName>
                                        </p:attrNameLst>
                                      </p:cBhvr>
                                    </p:animMotion>
                                  </p:childTnLst>
                                </p:cTn>
                              </p:par>
                              <p:par>
                                <p:cTn id="7" presetID="3" presetClass="entr" presetSubtype="10" fill="hold" grpId="0" nodeType="withEffect">
                                  <p:stCondLst>
                                    <p:cond delay="0"/>
                                  </p:stCondLst>
                                  <p:childTnLst>
                                    <p:set>
                                      <p:cBhvr>
                                        <p:cTn id="8" dur="1" fill="hold">
                                          <p:stCondLst>
                                            <p:cond delay="0"/>
                                          </p:stCondLst>
                                        </p:cTn>
                                        <p:tgtEl>
                                          <p:spTgt spid="864314"/>
                                        </p:tgtEl>
                                        <p:attrNameLst>
                                          <p:attrName>style.visibility</p:attrName>
                                        </p:attrNameLst>
                                      </p:cBhvr>
                                      <p:to>
                                        <p:strVal val="visible"/>
                                      </p:to>
                                    </p:set>
                                    <p:animEffect transition="in" filter="blinds(horizontal)">
                                      <p:cBhvr>
                                        <p:cTn id="9" dur="500"/>
                                        <p:tgtEl>
                                          <p:spTgt spid="864314"/>
                                        </p:tgtEl>
                                      </p:cBhvr>
                                    </p:animEffect>
                                  </p:childTnLst>
                                </p:cTn>
                              </p:par>
                            </p:childTnLst>
                          </p:cTn>
                        </p:par>
                        <p:par>
                          <p:cTn id="10" fill="hold">
                            <p:stCondLst>
                              <p:cond delay="2000"/>
                            </p:stCondLst>
                            <p:childTnLst>
                              <p:par>
                                <p:cTn id="11" presetID="3" presetClass="entr" presetSubtype="10" fill="hold" grpId="0" nodeType="afterEffect">
                                  <p:stCondLst>
                                    <p:cond delay="0"/>
                                  </p:stCondLst>
                                  <p:childTnLst>
                                    <p:set>
                                      <p:cBhvr>
                                        <p:cTn id="12" dur="1" fill="hold">
                                          <p:stCondLst>
                                            <p:cond delay="0"/>
                                          </p:stCondLst>
                                        </p:cTn>
                                        <p:tgtEl>
                                          <p:spTgt spid="864315"/>
                                        </p:tgtEl>
                                        <p:attrNameLst>
                                          <p:attrName>style.visibility</p:attrName>
                                        </p:attrNameLst>
                                      </p:cBhvr>
                                      <p:to>
                                        <p:strVal val="visible"/>
                                      </p:to>
                                    </p:set>
                                    <p:animEffect transition="in" filter="blinds(horizontal)">
                                      <p:cBhvr>
                                        <p:cTn id="13" dur="500"/>
                                        <p:tgtEl>
                                          <p:spTgt spid="864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314" grpId="0" animBg="1"/>
      <p:bldP spid="864315" grpId="0"/>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Footer Placeholder 3"/>
          <p:cNvSpPr>
            <a:spLocks noGrp="1"/>
          </p:cNvSpPr>
          <p:nvPr>
            <p:ph type="ftr" sz="quarter" idx="10"/>
          </p:nvPr>
        </p:nvSpPr>
        <p:spPr/>
        <p:txBody>
          <a:bodyPr/>
          <a:lstStyle/>
          <a:p>
            <a:pPr>
              <a:defRPr/>
            </a:pPr>
            <a:r>
              <a:rPr lang="en-US"/>
              <a:t>Art of Multiprocessor Programming</a:t>
            </a:r>
          </a:p>
        </p:txBody>
      </p:sp>
      <p:sp>
        <p:nvSpPr>
          <p:cNvPr id="78" name="Slide Number Placeholder 4"/>
          <p:cNvSpPr>
            <a:spLocks noGrp="1"/>
          </p:cNvSpPr>
          <p:nvPr>
            <p:ph type="sldNum" sz="quarter" idx="11"/>
          </p:nvPr>
        </p:nvSpPr>
        <p:spPr/>
        <p:txBody>
          <a:bodyPr/>
          <a:lstStyle/>
          <a:p>
            <a:pPr>
              <a:defRPr/>
            </a:pPr>
            <a:fld id="{8D6AE711-3073-43B4-B320-1FFCA3C4F55B}" type="slidenum">
              <a:rPr lang="en-US"/>
              <a:pPr>
                <a:defRPr/>
              </a:pPr>
              <a:t>226</a:t>
            </a:fld>
            <a:endParaRPr lang="en-US"/>
          </a:p>
        </p:txBody>
      </p:sp>
      <p:grpSp>
        <p:nvGrpSpPr>
          <p:cNvPr id="225284" name="Group 2"/>
          <p:cNvGrpSpPr>
            <a:grpSpLocks/>
          </p:cNvGrpSpPr>
          <p:nvPr/>
        </p:nvGrpSpPr>
        <p:grpSpPr bwMode="auto">
          <a:xfrm>
            <a:off x="365125" y="2078038"/>
            <a:ext cx="1377950" cy="423862"/>
            <a:chOff x="1313" y="2496"/>
            <a:chExt cx="1252" cy="427"/>
          </a:xfrm>
        </p:grpSpPr>
        <p:sp>
          <p:nvSpPr>
            <p:cNvPr id="225355"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5356"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5357"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5358"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225285" name="Group 7"/>
          <p:cNvGrpSpPr>
            <a:grpSpLocks/>
          </p:cNvGrpSpPr>
          <p:nvPr/>
        </p:nvGrpSpPr>
        <p:grpSpPr bwMode="auto">
          <a:xfrm>
            <a:off x="365125" y="2941638"/>
            <a:ext cx="1377950" cy="423862"/>
            <a:chOff x="1313" y="2496"/>
            <a:chExt cx="1252" cy="427"/>
          </a:xfrm>
        </p:grpSpPr>
        <p:sp>
          <p:nvSpPr>
            <p:cNvPr id="225351" name="Freeform 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5352" name="Freeform 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5353" name="Oval 1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5354" name="Oval 1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25286" name="Rectangle 12"/>
          <p:cNvSpPr>
            <a:spLocks noGrp="1" noChangeArrowheads="1"/>
          </p:cNvSpPr>
          <p:nvPr>
            <p:ph type="title"/>
          </p:nvPr>
        </p:nvSpPr>
        <p:spPr/>
        <p:txBody>
          <a:bodyPr/>
          <a:lstStyle/>
          <a:p>
            <a:r>
              <a:rPr lang="en-US"/>
              <a:t>Second Token</a:t>
            </a:r>
          </a:p>
        </p:txBody>
      </p:sp>
      <p:grpSp>
        <p:nvGrpSpPr>
          <p:cNvPr id="225287" name="Group 13"/>
          <p:cNvGrpSpPr>
            <a:grpSpLocks/>
          </p:cNvGrpSpPr>
          <p:nvPr/>
        </p:nvGrpSpPr>
        <p:grpSpPr bwMode="auto">
          <a:xfrm>
            <a:off x="1562100" y="2133600"/>
            <a:ext cx="5410200" cy="3429000"/>
            <a:chOff x="984" y="1344"/>
            <a:chExt cx="3408" cy="2160"/>
          </a:xfrm>
        </p:grpSpPr>
        <p:sp>
          <p:nvSpPr>
            <p:cNvPr id="225319" name="Line 14"/>
            <p:cNvSpPr>
              <a:spLocks noChangeShapeType="1"/>
            </p:cNvSpPr>
            <p:nvPr/>
          </p:nvSpPr>
          <p:spPr bwMode="auto">
            <a:xfrm>
              <a:off x="984" y="1440"/>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0" name="Line 15"/>
            <p:cNvSpPr>
              <a:spLocks noChangeShapeType="1"/>
            </p:cNvSpPr>
            <p:nvPr/>
          </p:nvSpPr>
          <p:spPr bwMode="auto">
            <a:xfrm>
              <a:off x="984" y="1721"/>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1" name="Line 16"/>
            <p:cNvSpPr>
              <a:spLocks noChangeShapeType="1"/>
            </p:cNvSpPr>
            <p:nvPr/>
          </p:nvSpPr>
          <p:spPr bwMode="auto">
            <a:xfrm>
              <a:off x="984" y="2002"/>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2" name="Line 17"/>
            <p:cNvSpPr>
              <a:spLocks noChangeShapeType="1"/>
            </p:cNvSpPr>
            <p:nvPr/>
          </p:nvSpPr>
          <p:spPr bwMode="auto">
            <a:xfrm>
              <a:off x="984" y="2283"/>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3" name="Line 18"/>
            <p:cNvSpPr>
              <a:spLocks noChangeShapeType="1"/>
            </p:cNvSpPr>
            <p:nvPr/>
          </p:nvSpPr>
          <p:spPr bwMode="auto">
            <a:xfrm>
              <a:off x="984" y="2564"/>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4" name="Line 19"/>
            <p:cNvSpPr>
              <a:spLocks noChangeShapeType="1"/>
            </p:cNvSpPr>
            <p:nvPr/>
          </p:nvSpPr>
          <p:spPr bwMode="auto">
            <a:xfrm>
              <a:off x="984" y="2845"/>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5" name="Line 20"/>
            <p:cNvSpPr>
              <a:spLocks noChangeShapeType="1"/>
            </p:cNvSpPr>
            <p:nvPr/>
          </p:nvSpPr>
          <p:spPr bwMode="auto">
            <a:xfrm>
              <a:off x="984" y="3126"/>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6" name="Line 21"/>
            <p:cNvSpPr>
              <a:spLocks noChangeShapeType="1"/>
            </p:cNvSpPr>
            <p:nvPr/>
          </p:nvSpPr>
          <p:spPr bwMode="auto">
            <a:xfrm>
              <a:off x="984" y="3408"/>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7" name="AutoShape 22"/>
            <p:cNvSpPr>
              <a:spLocks noChangeArrowheads="1"/>
            </p:cNvSpPr>
            <p:nvPr/>
          </p:nvSpPr>
          <p:spPr bwMode="auto">
            <a:xfrm>
              <a:off x="1104"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5328" name="AutoShape 23"/>
            <p:cNvSpPr>
              <a:spLocks noChangeArrowheads="1"/>
            </p:cNvSpPr>
            <p:nvPr/>
          </p:nvSpPr>
          <p:spPr bwMode="auto">
            <a:xfrm>
              <a:off x="1104" y="188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29" name="AutoShape 24"/>
            <p:cNvSpPr>
              <a:spLocks noChangeArrowheads="1"/>
            </p:cNvSpPr>
            <p:nvPr/>
          </p:nvSpPr>
          <p:spPr bwMode="auto">
            <a:xfrm>
              <a:off x="1104" y="2480"/>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0" name="AutoShape 25"/>
            <p:cNvSpPr>
              <a:spLocks noChangeArrowheads="1"/>
            </p:cNvSpPr>
            <p:nvPr/>
          </p:nvSpPr>
          <p:spPr bwMode="auto">
            <a:xfrm>
              <a:off x="1104"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1" name="AutoShape 26"/>
            <p:cNvSpPr>
              <a:spLocks noChangeArrowheads="1"/>
            </p:cNvSpPr>
            <p:nvPr/>
          </p:nvSpPr>
          <p:spPr bwMode="auto">
            <a:xfrm>
              <a:off x="1953" y="249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2" name="AutoShape 27"/>
            <p:cNvSpPr>
              <a:spLocks noChangeArrowheads="1"/>
            </p:cNvSpPr>
            <p:nvPr/>
          </p:nvSpPr>
          <p:spPr bwMode="auto">
            <a:xfrm>
              <a:off x="1953"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3" name="AutoShape 28"/>
            <p:cNvSpPr>
              <a:spLocks noChangeArrowheads="1"/>
            </p:cNvSpPr>
            <p:nvPr/>
          </p:nvSpPr>
          <p:spPr bwMode="auto">
            <a:xfrm>
              <a:off x="1953"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4" name="AutoShape 29"/>
            <p:cNvSpPr>
              <a:spLocks noChangeArrowheads="1"/>
            </p:cNvSpPr>
            <p:nvPr/>
          </p:nvSpPr>
          <p:spPr bwMode="auto">
            <a:xfrm>
              <a:off x="1953" y="182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5" name="AutoShape 30"/>
            <p:cNvSpPr>
              <a:spLocks noChangeArrowheads="1"/>
            </p:cNvSpPr>
            <p:nvPr/>
          </p:nvSpPr>
          <p:spPr bwMode="auto">
            <a:xfrm>
              <a:off x="1670" y="1632"/>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5336" name="AutoShape 31"/>
            <p:cNvSpPr>
              <a:spLocks noChangeArrowheads="1"/>
            </p:cNvSpPr>
            <p:nvPr/>
          </p:nvSpPr>
          <p:spPr bwMode="auto">
            <a:xfrm>
              <a:off x="1670" y="278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7" name="AutoShape 32"/>
            <p:cNvSpPr>
              <a:spLocks noChangeArrowheads="1"/>
            </p:cNvSpPr>
            <p:nvPr/>
          </p:nvSpPr>
          <p:spPr bwMode="auto">
            <a:xfrm>
              <a:off x="1387"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8" name="AutoShape 33"/>
            <p:cNvSpPr>
              <a:spLocks noChangeArrowheads="1"/>
            </p:cNvSpPr>
            <p:nvPr/>
          </p:nvSpPr>
          <p:spPr bwMode="auto">
            <a:xfrm>
              <a:off x="1387"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9" name="AutoShape 34"/>
            <p:cNvSpPr>
              <a:spLocks noChangeArrowheads="1"/>
            </p:cNvSpPr>
            <p:nvPr/>
          </p:nvSpPr>
          <p:spPr bwMode="auto">
            <a:xfrm>
              <a:off x="2236" y="1344"/>
              <a:ext cx="192" cy="216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40" name="AutoShape 35"/>
            <p:cNvSpPr>
              <a:spLocks noChangeArrowheads="1"/>
            </p:cNvSpPr>
            <p:nvPr/>
          </p:nvSpPr>
          <p:spPr bwMode="auto">
            <a:xfrm>
              <a:off x="3936"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5341" name="AutoShape 36"/>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42" name="AutoShape 37"/>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43" name="AutoShape 38"/>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44" name="AutoShape 39"/>
            <p:cNvSpPr>
              <a:spLocks noChangeArrowheads="1"/>
            </p:cNvSpPr>
            <p:nvPr/>
          </p:nvSpPr>
          <p:spPr bwMode="auto">
            <a:xfrm>
              <a:off x="2520" y="1584"/>
              <a:ext cx="192" cy="16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45" name="AutoShape 40"/>
            <p:cNvSpPr>
              <a:spLocks noChangeArrowheads="1"/>
            </p:cNvSpPr>
            <p:nvPr/>
          </p:nvSpPr>
          <p:spPr bwMode="auto">
            <a:xfrm>
              <a:off x="2803" y="1824"/>
              <a:ext cx="192" cy="115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5346" name="AutoShape 41"/>
            <p:cNvSpPr>
              <a:spLocks noChangeArrowheads="1"/>
            </p:cNvSpPr>
            <p:nvPr/>
          </p:nvSpPr>
          <p:spPr bwMode="auto">
            <a:xfrm>
              <a:off x="3086" y="2112"/>
              <a:ext cx="192" cy="57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47" name="AutoShape 42"/>
            <p:cNvSpPr>
              <a:spLocks noChangeArrowheads="1"/>
            </p:cNvSpPr>
            <p:nvPr/>
          </p:nvSpPr>
          <p:spPr bwMode="auto">
            <a:xfrm>
              <a:off x="3369" y="1344"/>
              <a:ext cx="192" cy="768"/>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5348" name="AutoShape 43"/>
            <p:cNvSpPr>
              <a:spLocks noChangeArrowheads="1"/>
            </p:cNvSpPr>
            <p:nvPr/>
          </p:nvSpPr>
          <p:spPr bwMode="auto">
            <a:xfrm>
              <a:off x="3369" y="2736"/>
              <a:ext cx="192" cy="76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49" name="AutoShape 44"/>
            <p:cNvSpPr>
              <a:spLocks noChangeArrowheads="1"/>
            </p:cNvSpPr>
            <p:nvPr/>
          </p:nvSpPr>
          <p:spPr bwMode="auto">
            <a:xfrm>
              <a:off x="3652" y="2448"/>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50" name="AutoShape 45"/>
            <p:cNvSpPr>
              <a:spLocks noChangeArrowheads="1"/>
            </p:cNvSpPr>
            <p:nvPr/>
          </p:nvSpPr>
          <p:spPr bwMode="auto">
            <a:xfrm>
              <a:off x="3648" y="1536"/>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225288" name="Group 46"/>
          <p:cNvGrpSpPr>
            <a:grpSpLocks/>
          </p:cNvGrpSpPr>
          <p:nvPr/>
        </p:nvGrpSpPr>
        <p:grpSpPr bwMode="auto">
          <a:xfrm>
            <a:off x="365125" y="3813175"/>
            <a:ext cx="1377950" cy="423863"/>
            <a:chOff x="1313" y="2496"/>
            <a:chExt cx="1252" cy="427"/>
          </a:xfrm>
        </p:grpSpPr>
        <p:sp>
          <p:nvSpPr>
            <p:cNvPr id="225315" name="Freeform 4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316" name="Freeform 4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317" name="Oval 49"/>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318" name="Oval 50"/>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5289" name="Group 51"/>
          <p:cNvGrpSpPr>
            <a:grpSpLocks/>
          </p:cNvGrpSpPr>
          <p:nvPr/>
        </p:nvGrpSpPr>
        <p:grpSpPr bwMode="auto">
          <a:xfrm>
            <a:off x="365125" y="4684713"/>
            <a:ext cx="1377950" cy="423862"/>
            <a:chOff x="1313" y="2496"/>
            <a:chExt cx="1252" cy="427"/>
          </a:xfrm>
        </p:grpSpPr>
        <p:sp>
          <p:nvSpPr>
            <p:cNvPr id="225311" name="Freeform 5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312" name="Freeform 5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313" name="Oval 54"/>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314" name="Oval 55"/>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25290" name="Freeform 56"/>
          <p:cNvSpPr>
            <a:spLocks/>
          </p:cNvSpPr>
          <p:nvPr/>
        </p:nvSpPr>
        <p:spPr bwMode="auto">
          <a:xfrm>
            <a:off x="12446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prstDash val="sysDot"/>
            <a:round/>
            <a:headEnd/>
            <a:tailEnd type="triangle" w="med" len="med"/>
          </a:ln>
        </p:spPr>
        <p:txBody>
          <a:bodyPr wrap="none" anchor="ctr"/>
          <a:lstStyle/>
          <a:p>
            <a:endParaRPr lang="en-US" dirty="0">
              <a:latin typeface="Courier New" pitchFamily="49" charset="0"/>
            </a:endParaRPr>
          </a:p>
        </p:txBody>
      </p:sp>
      <p:sp>
        <p:nvSpPr>
          <p:cNvPr id="225291" name="Freeform 57"/>
          <p:cNvSpPr>
            <a:spLocks/>
          </p:cNvSpPr>
          <p:nvPr/>
        </p:nvSpPr>
        <p:spPr bwMode="auto">
          <a:xfrm>
            <a:off x="1524000" y="3136900"/>
            <a:ext cx="5511800" cy="1098550"/>
          </a:xfrm>
          <a:custGeom>
            <a:avLst/>
            <a:gdLst>
              <a:gd name="T0" fmla="*/ 0 w 3472"/>
              <a:gd name="T1" fmla="*/ 0 h 692"/>
              <a:gd name="T2" fmla="*/ 2147483647 w 3472"/>
              <a:gd name="T3" fmla="*/ 2147483647 h 692"/>
              <a:gd name="T4" fmla="*/ 2147483647 w 3472"/>
              <a:gd name="T5" fmla="*/ 2147483647 h 692"/>
              <a:gd name="T6" fmla="*/ 2147483647 w 3472"/>
              <a:gd name="T7" fmla="*/ 2147483647 h 692"/>
              <a:gd name="T8" fmla="*/ 2147483647 w 3472"/>
              <a:gd name="T9" fmla="*/ 2147483647 h 692"/>
              <a:gd name="T10" fmla="*/ 2147483647 w 3472"/>
              <a:gd name="T11" fmla="*/ 2147483647 h 692"/>
              <a:gd name="T12" fmla="*/ 0 60000 65536"/>
              <a:gd name="T13" fmla="*/ 0 60000 65536"/>
              <a:gd name="T14" fmla="*/ 0 60000 65536"/>
              <a:gd name="T15" fmla="*/ 0 60000 65536"/>
              <a:gd name="T16" fmla="*/ 0 60000 65536"/>
              <a:gd name="T17" fmla="*/ 0 60000 65536"/>
              <a:gd name="T18" fmla="*/ 0 w 3472"/>
              <a:gd name="T19" fmla="*/ 0 h 692"/>
              <a:gd name="T20" fmla="*/ 3472 w 3472"/>
              <a:gd name="T21" fmla="*/ 692 h 692"/>
            </a:gdLst>
            <a:ahLst/>
            <a:cxnLst>
              <a:cxn ang="T12">
                <a:pos x="T0" y="T1"/>
              </a:cxn>
              <a:cxn ang="T13">
                <a:pos x="T2" y="T3"/>
              </a:cxn>
              <a:cxn ang="T14">
                <a:pos x="T4" y="T5"/>
              </a:cxn>
              <a:cxn ang="T15">
                <a:pos x="T6" y="T7"/>
              </a:cxn>
              <a:cxn ang="T16">
                <a:pos x="T8" y="T9"/>
              </a:cxn>
              <a:cxn ang="T17">
                <a:pos x="T10" y="T11"/>
              </a:cxn>
            </a:cxnLst>
            <a:rect l="T18" t="T19" r="T20" b="T21"/>
            <a:pathLst>
              <a:path w="3472" h="692">
                <a:moveTo>
                  <a:pt x="0" y="0"/>
                </a:moveTo>
                <a:cubicBezTo>
                  <a:pt x="41" y="9"/>
                  <a:pt x="177" y="7"/>
                  <a:pt x="248" y="56"/>
                </a:cubicBezTo>
                <a:cubicBezTo>
                  <a:pt x="319" y="105"/>
                  <a:pt x="112" y="247"/>
                  <a:pt x="425" y="296"/>
                </a:cubicBezTo>
                <a:cubicBezTo>
                  <a:pt x="738" y="345"/>
                  <a:pt x="1803" y="295"/>
                  <a:pt x="2127" y="352"/>
                </a:cubicBezTo>
                <a:cubicBezTo>
                  <a:pt x="2451" y="409"/>
                  <a:pt x="2146" y="588"/>
                  <a:pt x="2370" y="640"/>
                </a:cubicBezTo>
                <a:cubicBezTo>
                  <a:pt x="2595" y="692"/>
                  <a:pt x="3242" y="659"/>
                  <a:pt x="3472" y="664"/>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225292" name="Text Box 58"/>
          <p:cNvSpPr txBox="1">
            <a:spLocks noChangeArrowheads="1"/>
          </p:cNvSpPr>
          <p:nvPr/>
        </p:nvSpPr>
        <p:spPr bwMode="auto">
          <a:xfrm>
            <a:off x="6987353" y="4352925"/>
            <a:ext cx="1424043" cy="523220"/>
          </a:xfrm>
          <a:prstGeom prst="rect">
            <a:avLst/>
          </a:prstGeom>
          <a:noFill/>
          <a:ln w="9525" algn="ctr">
            <a:noFill/>
            <a:miter lim="800000"/>
            <a:headEnd/>
            <a:tailEnd/>
          </a:ln>
        </p:spPr>
        <p:txBody>
          <a:bodyPr wrap="none">
            <a:spAutoFit/>
          </a:bodyPr>
          <a:lstStyle/>
          <a:p>
            <a:pPr algn="ctr">
              <a:spcBef>
                <a:spcPct val="0"/>
              </a:spcBef>
            </a:pPr>
            <a:r>
              <a:rPr lang="en-US" sz="2800" b="0">
                <a:latin typeface="Arial" pitchFamily="34" charset="0"/>
                <a:cs typeface="Arial" pitchFamily="34" charset="0"/>
              </a:rPr>
              <a:t>Takes 0</a:t>
            </a:r>
          </a:p>
        </p:txBody>
      </p:sp>
      <p:grpSp>
        <p:nvGrpSpPr>
          <p:cNvPr id="225293" name="Group 59"/>
          <p:cNvGrpSpPr>
            <a:grpSpLocks/>
          </p:cNvGrpSpPr>
          <p:nvPr/>
        </p:nvGrpSpPr>
        <p:grpSpPr bwMode="auto">
          <a:xfrm>
            <a:off x="6410325" y="3983038"/>
            <a:ext cx="1377950" cy="444500"/>
            <a:chOff x="230" y="1853"/>
            <a:chExt cx="868" cy="280"/>
          </a:xfrm>
        </p:grpSpPr>
        <p:grpSp>
          <p:nvGrpSpPr>
            <p:cNvPr id="225305" name="Group 60"/>
            <p:cNvGrpSpPr>
              <a:grpSpLocks/>
            </p:cNvGrpSpPr>
            <p:nvPr/>
          </p:nvGrpSpPr>
          <p:grpSpPr bwMode="auto">
            <a:xfrm>
              <a:off x="230" y="1853"/>
              <a:ext cx="868" cy="267"/>
              <a:chOff x="1313" y="2496"/>
              <a:chExt cx="1252" cy="427"/>
            </a:xfrm>
          </p:grpSpPr>
          <p:sp>
            <p:nvSpPr>
              <p:cNvPr id="225307" name="Freeform 6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5308" name="Freeform 6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5309" name="Oval 6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5310" name="Oval 6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25306" name="Text Box 65"/>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865346" name="Freeform 66"/>
          <p:cNvSpPr>
            <a:spLocks/>
          </p:cNvSpPr>
          <p:nvPr/>
        </p:nvSpPr>
        <p:spPr bwMode="auto">
          <a:xfrm>
            <a:off x="12573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round/>
            <a:headEnd/>
            <a:tailEnd type="triangle" w="med" len="med"/>
          </a:ln>
        </p:spPr>
        <p:txBody>
          <a:bodyPr wrap="none" anchor="ctr"/>
          <a:lstStyle/>
          <a:p>
            <a:endParaRPr lang="en-US" dirty="0">
              <a:latin typeface="Courier New" pitchFamily="49" charset="0"/>
            </a:endParaRPr>
          </a:p>
        </p:txBody>
      </p:sp>
      <p:grpSp>
        <p:nvGrpSpPr>
          <p:cNvPr id="9" name="Group 67"/>
          <p:cNvGrpSpPr>
            <a:grpSpLocks/>
          </p:cNvGrpSpPr>
          <p:nvPr/>
        </p:nvGrpSpPr>
        <p:grpSpPr bwMode="auto">
          <a:xfrm>
            <a:off x="365125" y="2070100"/>
            <a:ext cx="1377950" cy="465138"/>
            <a:chOff x="230" y="1304"/>
            <a:chExt cx="868" cy="293"/>
          </a:xfrm>
        </p:grpSpPr>
        <p:sp>
          <p:nvSpPr>
            <p:cNvPr id="225300" name="Freeform 68"/>
            <p:cNvSpPr>
              <a:spLocks/>
            </p:cNvSpPr>
            <p:nvPr/>
          </p:nvSpPr>
          <p:spPr bwMode="auto">
            <a:xfrm>
              <a:off x="668" y="1308"/>
              <a:ext cx="430" cy="263"/>
            </a:xfrm>
            <a:custGeom>
              <a:avLst/>
              <a:gdLst>
                <a:gd name="T0" fmla="*/ 106 w 348"/>
                <a:gd name="T1" fmla="*/ 243 h 228"/>
                <a:gd name="T2" fmla="*/ 542 w 348"/>
                <a:gd name="T3" fmla="*/ 0 h 228"/>
                <a:gd name="T4" fmla="*/ 1530 w 348"/>
                <a:gd name="T5" fmla="*/ 621 h 228"/>
                <a:gd name="T6" fmla="*/ 938 w 348"/>
                <a:gd name="T7" fmla="*/ 358 h 228"/>
                <a:gd name="T8" fmla="*/ 1187 w 348"/>
                <a:gd name="T9" fmla="*/ 554 h 228"/>
                <a:gd name="T10" fmla="*/ 634 w 348"/>
                <a:gd name="T11" fmla="*/ 341 h 228"/>
                <a:gd name="T12" fmla="*/ 991 w 348"/>
                <a:gd name="T13" fmla="*/ 520 h 228"/>
                <a:gd name="T14" fmla="*/ 0 w 348"/>
                <a:gd name="T15" fmla="*/ 302 h 228"/>
                <a:gd name="T16" fmla="*/ 106 w 348"/>
                <a:gd name="T17" fmla="*/ 243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5301" name="Freeform 69"/>
            <p:cNvSpPr>
              <a:spLocks/>
            </p:cNvSpPr>
            <p:nvPr/>
          </p:nvSpPr>
          <p:spPr bwMode="auto">
            <a:xfrm>
              <a:off x="230" y="1304"/>
              <a:ext cx="430" cy="267"/>
            </a:xfrm>
            <a:custGeom>
              <a:avLst/>
              <a:gdLst>
                <a:gd name="T0" fmla="*/ 1415 w 348"/>
                <a:gd name="T1" fmla="*/ 240 h 231"/>
                <a:gd name="T2" fmla="*/ 991 w 348"/>
                <a:gd name="T3" fmla="*/ 0 h 231"/>
                <a:gd name="T4" fmla="*/ 0 w 348"/>
                <a:gd name="T5" fmla="*/ 637 h 231"/>
                <a:gd name="T6" fmla="*/ 660 w 348"/>
                <a:gd name="T7" fmla="*/ 370 h 231"/>
                <a:gd name="T8" fmla="*/ 344 w 348"/>
                <a:gd name="T9" fmla="*/ 571 h 231"/>
                <a:gd name="T10" fmla="*/ 938 w 348"/>
                <a:gd name="T11" fmla="*/ 366 h 231"/>
                <a:gd name="T12" fmla="*/ 609 w 348"/>
                <a:gd name="T13" fmla="*/ 547 h 231"/>
                <a:gd name="T14" fmla="*/ 1530 w 348"/>
                <a:gd name="T15" fmla="*/ 317 h 231"/>
                <a:gd name="T16" fmla="*/ 1415 w 348"/>
                <a:gd name="T17" fmla="*/ 240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5302" name="Oval 70"/>
            <p:cNvSpPr>
              <a:spLocks noChangeArrowheads="1"/>
            </p:cNvSpPr>
            <p:nvPr/>
          </p:nvSpPr>
          <p:spPr bwMode="auto">
            <a:xfrm>
              <a:off x="514" y="1356"/>
              <a:ext cx="271" cy="215"/>
            </a:xfrm>
            <a:prstGeom prst="ellipse">
              <a:avLst/>
            </a:pr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5303" name="Oval 71"/>
            <p:cNvSpPr>
              <a:spLocks noChangeArrowheads="1"/>
            </p:cNvSpPr>
            <p:nvPr/>
          </p:nvSpPr>
          <p:spPr bwMode="auto">
            <a:xfrm>
              <a:off x="668" y="1394"/>
              <a:ext cx="71" cy="60"/>
            </a:xfrm>
            <a:prstGeom prst="ellipse">
              <a:avLst/>
            </a:prstGeom>
            <a:solidFill>
              <a:srgbClr val="FFFF00"/>
            </a:solidFill>
            <a:ln w="19050">
              <a:solidFill>
                <a:schemeClr val="tx1"/>
              </a:solidFill>
              <a:round/>
              <a:headEnd/>
              <a:tailEnd/>
            </a:ln>
          </p:spPr>
          <p:txBody>
            <a:bodyPr wrap="none" anchor="ctr"/>
            <a:lstStyle/>
            <a:p>
              <a:endParaRPr lang="en-US" dirty="0">
                <a:latin typeface="Courier New" pitchFamily="49" charset="0"/>
              </a:endParaRPr>
            </a:p>
          </p:txBody>
        </p:sp>
        <p:sp>
          <p:nvSpPr>
            <p:cNvPr id="225304" name="Text Box 72"/>
            <p:cNvSpPr txBox="1">
              <a:spLocks noChangeArrowheads="1"/>
            </p:cNvSpPr>
            <p:nvPr/>
          </p:nvSpPr>
          <p:spPr bwMode="auto">
            <a:xfrm>
              <a:off x="500" y="1347"/>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+1</a:t>
              </a:r>
            </a:p>
          </p:txBody>
        </p:sp>
      </p:grpSp>
      <p:sp>
        <p:nvSpPr>
          <p:cNvPr id="865353" name="Text Box 73"/>
          <p:cNvSpPr txBox="1">
            <a:spLocks noChangeArrowheads="1"/>
          </p:cNvSpPr>
          <p:nvPr/>
        </p:nvSpPr>
        <p:spPr bwMode="auto">
          <a:xfrm>
            <a:off x="7012753" y="2994025"/>
            <a:ext cx="1424043" cy="523220"/>
          </a:xfrm>
          <a:prstGeom prst="rect">
            <a:avLst/>
          </a:prstGeom>
          <a:noFill/>
          <a:ln w="9525" algn="ctr">
            <a:noFill/>
            <a:miter lim="800000"/>
            <a:headEnd/>
            <a:tailEnd/>
          </a:ln>
        </p:spPr>
        <p:txBody>
          <a:bodyPr wrap="none">
            <a:spAutoFit/>
          </a:bodyPr>
          <a:lstStyle/>
          <a:p>
            <a:pPr algn="ctr">
              <a:spcBef>
                <a:spcPct val="0"/>
              </a:spcBef>
            </a:pPr>
            <a:r>
              <a:rPr lang="en-US" sz="2800" b="0" dirty="0">
                <a:solidFill>
                  <a:srgbClr val="FF9933"/>
                </a:solidFill>
                <a:latin typeface="Arial" pitchFamily="34" charset="0"/>
                <a:cs typeface="Arial" pitchFamily="34" charset="0"/>
              </a:rPr>
              <a:t>Takes 0</a:t>
            </a:r>
          </a:p>
        </p:txBody>
      </p:sp>
      <p:sp>
        <p:nvSpPr>
          <p:cNvPr id="865354" name="Text Box 74"/>
          <p:cNvSpPr txBox="1">
            <a:spLocks noChangeArrowheads="1"/>
          </p:cNvSpPr>
          <p:nvPr/>
        </p:nvSpPr>
        <p:spPr bwMode="auto">
          <a:xfrm>
            <a:off x="1984375" y="5292725"/>
            <a:ext cx="4852988" cy="523220"/>
          </a:xfrm>
          <a:prstGeom prst="rect">
            <a:avLst/>
          </a:prstGeom>
          <a:solidFill>
            <a:schemeClr val="bg1">
              <a:alpha val="94116"/>
            </a:schemeClr>
          </a:solidFill>
          <a:ln w="38100" algn="ctr">
            <a:solidFill>
              <a:schemeClr val="accent2"/>
            </a:solidFill>
            <a:miter lim="800000"/>
            <a:headEnd/>
            <a:tailEnd/>
          </a:ln>
        </p:spPr>
        <p:txBody>
          <a:bodyPr>
            <a:spAutoFit/>
          </a:bodyPr>
          <a:lstStyle/>
          <a:p>
            <a:pPr algn="ctr">
              <a:spcBef>
                <a:spcPct val="0"/>
              </a:spcBef>
            </a:pPr>
            <a:r>
              <a:rPr lang="en-US" sz="2800" b="0">
                <a:solidFill>
                  <a:schemeClr val="accent2"/>
                </a:solidFill>
                <a:latin typeface="Arial" pitchFamily="34" charset="0"/>
                <a:cs typeface="Arial" pitchFamily="34" charset="0"/>
              </a:rPr>
              <a:t>They can’t both take zero!</a:t>
            </a:r>
          </a:p>
        </p:txBody>
      </p:sp>
      <p:sp>
        <p:nvSpPr>
          <p:cNvPr id="225298" name="Text Box 75"/>
          <p:cNvSpPr txBox="1">
            <a:spLocks noChangeArrowheads="1"/>
          </p:cNvSpPr>
          <p:nvPr/>
        </p:nvSpPr>
        <p:spPr bwMode="auto">
          <a:xfrm>
            <a:off x="806450" y="38528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25299" name="Text Box 76"/>
          <p:cNvSpPr txBox="1">
            <a:spLocks noChangeArrowheads="1"/>
          </p:cNvSpPr>
          <p:nvPr/>
        </p:nvSpPr>
        <p:spPr bwMode="auto">
          <a:xfrm>
            <a:off x="806450" y="47164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5346"/>
                                        </p:tgtEl>
                                        <p:attrNameLst>
                                          <p:attrName>style.visibility</p:attrName>
                                        </p:attrNameLst>
                                      </p:cBhvr>
                                      <p:to>
                                        <p:strVal val="visible"/>
                                      </p:to>
                                    </p:set>
                                    <p:animEffect transition="in" filter="blinds(horizontal)">
                                      <p:cBhvr>
                                        <p:cTn id="7" dur="500"/>
                                        <p:tgtEl>
                                          <p:spTgt spid="865346"/>
                                        </p:tgtEl>
                                      </p:cBhvr>
                                    </p:animEffect>
                                  </p:childTnLst>
                                </p:cTn>
                              </p:par>
                              <p:par>
                                <p:cTn id="8" presetID="0" presetClass="path" presetSubtype="0" accel="50000" decel="50000" fill="hold" nodeType="withEffect">
                                  <p:stCondLst>
                                    <p:cond delay="0"/>
                                  </p:stCondLst>
                                  <p:childTnLst>
                                    <p:animMotion origin="layout" path="M 2.22222E-6 0.00416 C 0.03177 -0.00162 0.06371 -0.00741 0.08038 -0.00116 C 0.09739 0.00509 0.08264 0.03125 0.10035 0.04166 C 0.11823 0.05231 0.17187 0.05231 0.18802 0.06134 C 0.20434 0.0706 0.14774 0.08981 0.19809 0.09722 C 0.24844 0.1044 0.43871 0.12245 0.48958 0.10602 C 0.54045 0.08981 0.47396 0.02129 0.50243 -0.00116 C 0.5309 -0.02338 0.59583 -0.0257 0.66111 -0.02778 " pathEditMode="relative" rAng="0" ptsTypes="aaaaaaaA">
                                      <p:cBhvr>
                                        <p:cTn id="9" dur="2000" fill="hold"/>
                                        <p:tgtEl>
                                          <p:spTgt spid="9"/>
                                        </p:tgtEl>
                                        <p:attrNameLst>
                                          <p:attrName>ppt_x</p:attrName>
                                          <p:attrName>ppt_y</p:attrName>
                                        </p:attrNameLst>
                                      </p:cBhvr>
                                      <p:rCtr x="33100" y="4300"/>
                                    </p:animMotion>
                                  </p:childTnLst>
                                </p:cTn>
                              </p:par>
                            </p:childTnLst>
                          </p:cTn>
                        </p:par>
                        <p:par>
                          <p:cTn id="10" fill="hold">
                            <p:stCondLst>
                              <p:cond delay="2000"/>
                            </p:stCondLst>
                            <p:childTnLst>
                              <p:par>
                                <p:cTn id="11" presetID="3" presetClass="entr" presetSubtype="10" fill="hold" grpId="0" nodeType="afterEffect">
                                  <p:stCondLst>
                                    <p:cond delay="0"/>
                                  </p:stCondLst>
                                  <p:childTnLst>
                                    <p:set>
                                      <p:cBhvr>
                                        <p:cTn id="12" dur="1" fill="hold">
                                          <p:stCondLst>
                                            <p:cond delay="0"/>
                                          </p:stCondLst>
                                        </p:cTn>
                                        <p:tgtEl>
                                          <p:spTgt spid="865353"/>
                                        </p:tgtEl>
                                        <p:attrNameLst>
                                          <p:attrName>style.visibility</p:attrName>
                                        </p:attrNameLst>
                                      </p:cBhvr>
                                      <p:to>
                                        <p:strVal val="visible"/>
                                      </p:to>
                                    </p:set>
                                    <p:animEffect transition="in" filter="blinds(horizontal)">
                                      <p:cBhvr>
                                        <p:cTn id="13" dur="500"/>
                                        <p:tgtEl>
                                          <p:spTgt spid="865353"/>
                                        </p:tgtEl>
                                      </p:cBhvr>
                                    </p:animEffect>
                                  </p:childTnLst>
                                </p:cTn>
                              </p:par>
                            </p:childTnLst>
                          </p:cTn>
                        </p:par>
                        <p:par>
                          <p:cTn id="14" fill="hold">
                            <p:stCondLst>
                              <p:cond delay="2500"/>
                            </p:stCondLst>
                            <p:childTnLst>
                              <p:par>
                                <p:cTn id="15" presetID="3" presetClass="entr" presetSubtype="10" fill="hold" grpId="0" nodeType="afterEffect">
                                  <p:stCondLst>
                                    <p:cond delay="0"/>
                                  </p:stCondLst>
                                  <p:childTnLst>
                                    <p:set>
                                      <p:cBhvr>
                                        <p:cTn id="16" dur="1" fill="hold">
                                          <p:stCondLst>
                                            <p:cond delay="0"/>
                                          </p:stCondLst>
                                        </p:cTn>
                                        <p:tgtEl>
                                          <p:spTgt spid="865354"/>
                                        </p:tgtEl>
                                        <p:attrNameLst>
                                          <p:attrName>style.visibility</p:attrName>
                                        </p:attrNameLst>
                                      </p:cBhvr>
                                      <p:to>
                                        <p:strVal val="visible"/>
                                      </p:to>
                                    </p:set>
                                    <p:animEffect transition="in" filter="blinds(horizontal)">
                                      <p:cBhvr>
                                        <p:cTn id="17" dur="500"/>
                                        <p:tgtEl>
                                          <p:spTgt spid="865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5346" grpId="0" animBg="1"/>
      <p:bldP spid="865353" grpId="0"/>
      <p:bldP spid="865354" grpId="0" animBg="1"/>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F4560739-E71B-4191-B590-2CBEE48C94FC}" type="slidenum">
              <a:rPr lang="en-US"/>
              <a:pPr>
                <a:defRPr/>
              </a:pPr>
              <a:t>227</a:t>
            </a:fld>
            <a:endParaRPr lang="en-US"/>
          </a:p>
        </p:txBody>
      </p:sp>
      <p:sp>
        <p:nvSpPr>
          <p:cNvPr id="226308" name="Rectangle 2"/>
          <p:cNvSpPr>
            <a:spLocks noGrp="1" noChangeArrowheads="1"/>
          </p:cNvSpPr>
          <p:nvPr>
            <p:ph type="title"/>
          </p:nvPr>
        </p:nvSpPr>
        <p:spPr/>
        <p:txBody>
          <a:bodyPr/>
          <a:lstStyle/>
          <a:p>
            <a:r>
              <a:rPr lang="en-US" sz="4000"/>
              <a:t>If Second avoids First’s Path</a:t>
            </a:r>
          </a:p>
        </p:txBody>
      </p:sp>
      <p:sp>
        <p:nvSpPr>
          <p:cNvPr id="226309" name="Rectangle 3"/>
          <p:cNvSpPr>
            <a:spLocks noGrp="1" noChangeArrowheads="1"/>
          </p:cNvSpPr>
          <p:nvPr>
            <p:ph type="body" idx="1"/>
          </p:nvPr>
        </p:nvSpPr>
        <p:spPr/>
        <p:txBody>
          <a:bodyPr/>
          <a:lstStyle/>
          <a:p>
            <a:pPr>
              <a:lnSpc>
                <a:spcPct val="90000"/>
              </a:lnSpc>
            </a:pPr>
            <a:r>
              <a:rPr lang="en-US"/>
              <a:t>Second token</a:t>
            </a:r>
          </a:p>
          <a:p>
            <a:pPr lvl="1">
              <a:lnSpc>
                <a:spcPct val="90000"/>
              </a:lnSpc>
            </a:pPr>
            <a:r>
              <a:rPr lang="en-US"/>
              <a:t>Doesn’t observe first</a:t>
            </a:r>
          </a:p>
          <a:p>
            <a:pPr lvl="1">
              <a:lnSpc>
                <a:spcPct val="90000"/>
              </a:lnSpc>
            </a:pPr>
            <a:r>
              <a:rPr lang="en-US"/>
              <a:t>First hasn’t run</a:t>
            </a:r>
          </a:p>
          <a:p>
            <a:pPr lvl="1">
              <a:lnSpc>
                <a:spcPct val="90000"/>
              </a:lnSpc>
            </a:pPr>
            <a:r>
              <a:rPr lang="en-US"/>
              <a:t>Chooses 0</a:t>
            </a:r>
          </a:p>
          <a:p>
            <a:pPr>
              <a:lnSpc>
                <a:spcPct val="90000"/>
              </a:lnSpc>
            </a:pPr>
            <a:r>
              <a:rPr lang="en-US"/>
              <a:t>First token</a:t>
            </a:r>
          </a:p>
          <a:p>
            <a:pPr lvl="1">
              <a:lnSpc>
                <a:spcPct val="90000"/>
              </a:lnSpc>
            </a:pPr>
            <a:r>
              <a:rPr lang="en-US"/>
              <a:t>Doesn’t observe second</a:t>
            </a:r>
          </a:p>
          <a:p>
            <a:pPr lvl="1">
              <a:lnSpc>
                <a:spcPct val="90000"/>
              </a:lnSpc>
            </a:pPr>
            <a:r>
              <a:rPr lang="en-US"/>
              <a:t>Disjoint paths</a:t>
            </a:r>
          </a:p>
          <a:p>
            <a:pPr lvl="1">
              <a:lnSpc>
                <a:spcPct val="90000"/>
              </a:lnSpc>
            </a:pPr>
            <a:r>
              <a:rPr lang="en-US"/>
              <a:t>Chooses 0</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637FE56B-D4F4-49A0-8B5C-FEB5FE63BAF5}" type="slidenum">
              <a:rPr lang="en-US"/>
              <a:pPr>
                <a:defRPr/>
              </a:pPr>
              <a:t>228</a:t>
            </a:fld>
            <a:endParaRPr lang="en-US"/>
          </a:p>
        </p:txBody>
      </p:sp>
      <p:sp>
        <p:nvSpPr>
          <p:cNvPr id="227332" name="Rectangle 2"/>
          <p:cNvSpPr>
            <a:spLocks noGrp="1" noChangeArrowheads="1"/>
          </p:cNvSpPr>
          <p:nvPr>
            <p:ph type="title"/>
          </p:nvPr>
        </p:nvSpPr>
        <p:spPr/>
        <p:txBody>
          <a:bodyPr/>
          <a:lstStyle/>
          <a:p>
            <a:r>
              <a:rPr lang="en-US" sz="4000"/>
              <a:t>If Second avoids First’s Path</a:t>
            </a:r>
          </a:p>
        </p:txBody>
      </p:sp>
      <p:sp>
        <p:nvSpPr>
          <p:cNvPr id="227333" name="Rectangle 3"/>
          <p:cNvSpPr>
            <a:spLocks noGrp="1" noChangeArrowheads="1"/>
          </p:cNvSpPr>
          <p:nvPr>
            <p:ph type="body" idx="1"/>
          </p:nvPr>
        </p:nvSpPr>
        <p:spPr/>
        <p:txBody>
          <a:bodyPr/>
          <a:lstStyle/>
          <a:p>
            <a:r>
              <a:rPr lang="en-US"/>
              <a:t>Because +1 token chooses 0</a:t>
            </a:r>
          </a:p>
          <a:p>
            <a:pPr lvl="1"/>
            <a:r>
              <a:rPr lang="en-US"/>
              <a:t>It must be ordered first</a:t>
            </a:r>
          </a:p>
          <a:p>
            <a:pPr lvl="1"/>
            <a:r>
              <a:rPr lang="en-US"/>
              <a:t>So +2 token ordered second</a:t>
            </a:r>
          </a:p>
          <a:p>
            <a:pPr lvl="1"/>
            <a:r>
              <a:rPr lang="en-US"/>
              <a:t>So +2 token should return 1</a:t>
            </a:r>
          </a:p>
          <a:p>
            <a:r>
              <a:rPr lang="en-US"/>
              <a:t>Something’s  wrong! </a:t>
            </a:r>
          </a:p>
          <a:p>
            <a:pPr lvl="1"/>
            <a:endParaRPr 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ooter Placeholder 3"/>
          <p:cNvSpPr>
            <a:spLocks noGrp="1"/>
          </p:cNvSpPr>
          <p:nvPr>
            <p:ph type="ftr" sz="quarter" idx="10"/>
          </p:nvPr>
        </p:nvSpPr>
        <p:spPr/>
        <p:txBody>
          <a:bodyPr/>
          <a:lstStyle/>
          <a:p>
            <a:pPr>
              <a:defRPr/>
            </a:pPr>
            <a:r>
              <a:rPr lang="en-US"/>
              <a:t>Art of Multiprocessor Programming</a:t>
            </a:r>
          </a:p>
        </p:txBody>
      </p:sp>
      <p:sp>
        <p:nvSpPr>
          <p:cNvPr id="69" name="Slide Number Placeholder 4"/>
          <p:cNvSpPr>
            <a:spLocks noGrp="1"/>
          </p:cNvSpPr>
          <p:nvPr>
            <p:ph type="sldNum" sz="quarter" idx="11"/>
          </p:nvPr>
        </p:nvSpPr>
        <p:spPr/>
        <p:txBody>
          <a:bodyPr/>
          <a:lstStyle/>
          <a:p>
            <a:pPr>
              <a:defRPr/>
            </a:pPr>
            <a:fld id="{07AFDE6D-A9C7-4D07-B363-BA894266E59A}" type="slidenum">
              <a:rPr lang="en-US"/>
              <a:pPr>
                <a:defRPr/>
              </a:pPr>
              <a:t>229</a:t>
            </a:fld>
            <a:endParaRPr lang="en-US"/>
          </a:p>
        </p:txBody>
      </p:sp>
      <p:grpSp>
        <p:nvGrpSpPr>
          <p:cNvPr id="228356" name="Group 2"/>
          <p:cNvGrpSpPr>
            <a:grpSpLocks/>
          </p:cNvGrpSpPr>
          <p:nvPr/>
        </p:nvGrpSpPr>
        <p:grpSpPr bwMode="auto">
          <a:xfrm>
            <a:off x="365125" y="2941638"/>
            <a:ext cx="1377950" cy="423862"/>
            <a:chOff x="1313" y="2496"/>
            <a:chExt cx="1252" cy="427"/>
          </a:xfrm>
        </p:grpSpPr>
        <p:sp>
          <p:nvSpPr>
            <p:cNvPr id="228418"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8419"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8420"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8421"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28357" name="Rectangle 7"/>
          <p:cNvSpPr>
            <a:spLocks noGrp="1" noChangeArrowheads="1"/>
          </p:cNvSpPr>
          <p:nvPr>
            <p:ph type="title"/>
          </p:nvPr>
        </p:nvSpPr>
        <p:spPr/>
        <p:txBody>
          <a:bodyPr/>
          <a:lstStyle/>
          <a:p>
            <a:r>
              <a:rPr lang="en-US"/>
              <a:t>Second Token</a:t>
            </a:r>
          </a:p>
        </p:txBody>
      </p:sp>
      <p:grpSp>
        <p:nvGrpSpPr>
          <p:cNvPr id="228358" name="Group 8"/>
          <p:cNvGrpSpPr>
            <a:grpSpLocks/>
          </p:cNvGrpSpPr>
          <p:nvPr/>
        </p:nvGrpSpPr>
        <p:grpSpPr bwMode="auto">
          <a:xfrm>
            <a:off x="1562100" y="2133600"/>
            <a:ext cx="5410200" cy="3429000"/>
            <a:chOff x="984" y="1344"/>
            <a:chExt cx="3408" cy="2160"/>
          </a:xfrm>
        </p:grpSpPr>
        <p:sp>
          <p:nvSpPr>
            <p:cNvPr id="228386" name="Line 9"/>
            <p:cNvSpPr>
              <a:spLocks noChangeShapeType="1"/>
            </p:cNvSpPr>
            <p:nvPr/>
          </p:nvSpPr>
          <p:spPr bwMode="auto">
            <a:xfrm>
              <a:off x="984" y="1440"/>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8387" name="Line 10"/>
            <p:cNvSpPr>
              <a:spLocks noChangeShapeType="1"/>
            </p:cNvSpPr>
            <p:nvPr/>
          </p:nvSpPr>
          <p:spPr bwMode="auto">
            <a:xfrm>
              <a:off x="984" y="1721"/>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8388" name="Line 11"/>
            <p:cNvSpPr>
              <a:spLocks noChangeShapeType="1"/>
            </p:cNvSpPr>
            <p:nvPr/>
          </p:nvSpPr>
          <p:spPr bwMode="auto">
            <a:xfrm>
              <a:off x="984" y="2002"/>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8389" name="Line 12"/>
            <p:cNvSpPr>
              <a:spLocks noChangeShapeType="1"/>
            </p:cNvSpPr>
            <p:nvPr/>
          </p:nvSpPr>
          <p:spPr bwMode="auto">
            <a:xfrm>
              <a:off x="984" y="2283"/>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8390" name="Line 13"/>
            <p:cNvSpPr>
              <a:spLocks noChangeShapeType="1"/>
            </p:cNvSpPr>
            <p:nvPr/>
          </p:nvSpPr>
          <p:spPr bwMode="auto">
            <a:xfrm>
              <a:off x="984" y="2564"/>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8391" name="Line 14"/>
            <p:cNvSpPr>
              <a:spLocks noChangeShapeType="1"/>
            </p:cNvSpPr>
            <p:nvPr/>
          </p:nvSpPr>
          <p:spPr bwMode="auto">
            <a:xfrm>
              <a:off x="984" y="2845"/>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8392" name="Line 15"/>
            <p:cNvSpPr>
              <a:spLocks noChangeShapeType="1"/>
            </p:cNvSpPr>
            <p:nvPr/>
          </p:nvSpPr>
          <p:spPr bwMode="auto">
            <a:xfrm>
              <a:off x="984" y="3126"/>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8393" name="Line 16"/>
            <p:cNvSpPr>
              <a:spLocks noChangeShapeType="1"/>
            </p:cNvSpPr>
            <p:nvPr/>
          </p:nvSpPr>
          <p:spPr bwMode="auto">
            <a:xfrm>
              <a:off x="984" y="3408"/>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8394" name="AutoShape 17"/>
            <p:cNvSpPr>
              <a:spLocks noChangeArrowheads="1"/>
            </p:cNvSpPr>
            <p:nvPr/>
          </p:nvSpPr>
          <p:spPr bwMode="auto">
            <a:xfrm>
              <a:off x="1104"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8395" name="AutoShape 18"/>
            <p:cNvSpPr>
              <a:spLocks noChangeArrowheads="1"/>
            </p:cNvSpPr>
            <p:nvPr/>
          </p:nvSpPr>
          <p:spPr bwMode="auto">
            <a:xfrm>
              <a:off x="1104" y="188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396" name="AutoShape 19"/>
            <p:cNvSpPr>
              <a:spLocks noChangeArrowheads="1"/>
            </p:cNvSpPr>
            <p:nvPr/>
          </p:nvSpPr>
          <p:spPr bwMode="auto">
            <a:xfrm>
              <a:off x="1104" y="2480"/>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397" name="AutoShape 20"/>
            <p:cNvSpPr>
              <a:spLocks noChangeArrowheads="1"/>
            </p:cNvSpPr>
            <p:nvPr/>
          </p:nvSpPr>
          <p:spPr bwMode="auto">
            <a:xfrm>
              <a:off x="1104"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398" name="AutoShape 21"/>
            <p:cNvSpPr>
              <a:spLocks noChangeArrowheads="1"/>
            </p:cNvSpPr>
            <p:nvPr/>
          </p:nvSpPr>
          <p:spPr bwMode="auto">
            <a:xfrm>
              <a:off x="1953" y="249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399" name="AutoShape 22"/>
            <p:cNvSpPr>
              <a:spLocks noChangeArrowheads="1"/>
            </p:cNvSpPr>
            <p:nvPr/>
          </p:nvSpPr>
          <p:spPr bwMode="auto">
            <a:xfrm>
              <a:off x="1953"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00" name="AutoShape 23"/>
            <p:cNvSpPr>
              <a:spLocks noChangeArrowheads="1"/>
            </p:cNvSpPr>
            <p:nvPr/>
          </p:nvSpPr>
          <p:spPr bwMode="auto">
            <a:xfrm>
              <a:off x="1953"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01" name="AutoShape 24"/>
            <p:cNvSpPr>
              <a:spLocks noChangeArrowheads="1"/>
            </p:cNvSpPr>
            <p:nvPr/>
          </p:nvSpPr>
          <p:spPr bwMode="auto">
            <a:xfrm>
              <a:off x="1953" y="182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02" name="AutoShape 25"/>
            <p:cNvSpPr>
              <a:spLocks noChangeArrowheads="1"/>
            </p:cNvSpPr>
            <p:nvPr/>
          </p:nvSpPr>
          <p:spPr bwMode="auto">
            <a:xfrm>
              <a:off x="1670" y="1632"/>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8403" name="AutoShape 26"/>
            <p:cNvSpPr>
              <a:spLocks noChangeArrowheads="1"/>
            </p:cNvSpPr>
            <p:nvPr/>
          </p:nvSpPr>
          <p:spPr bwMode="auto">
            <a:xfrm>
              <a:off x="1670" y="278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04" name="AutoShape 27"/>
            <p:cNvSpPr>
              <a:spLocks noChangeArrowheads="1"/>
            </p:cNvSpPr>
            <p:nvPr/>
          </p:nvSpPr>
          <p:spPr bwMode="auto">
            <a:xfrm>
              <a:off x="1387"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05" name="AutoShape 28"/>
            <p:cNvSpPr>
              <a:spLocks noChangeArrowheads="1"/>
            </p:cNvSpPr>
            <p:nvPr/>
          </p:nvSpPr>
          <p:spPr bwMode="auto">
            <a:xfrm>
              <a:off x="1387"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06" name="AutoShape 29"/>
            <p:cNvSpPr>
              <a:spLocks noChangeArrowheads="1"/>
            </p:cNvSpPr>
            <p:nvPr/>
          </p:nvSpPr>
          <p:spPr bwMode="auto">
            <a:xfrm>
              <a:off x="2236" y="1344"/>
              <a:ext cx="192" cy="216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07" name="AutoShape 30"/>
            <p:cNvSpPr>
              <a:spLocks noChangeArrowheads="1"/>
            </p:cNvSpPr>
            <p:nvPr/>
          </p:nvSpPr>
          <p:spPr bwMode="auto">
            <a:xfrm>
              <a:off x="3936"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8408" name="AutoShape 31"/>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09" name="AutoShape 32"/>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10" name="AutoShape 33"/>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11" name="AutoShape 34"/>
            <p:cNvSpPr>
              <a:spLocks noChangeArrowheads="1"/>
            </p:cNvSpPr>
            <p:nvPr/>
          </p:nvSpPr>
          <p:spPr bwMode="auto">
            <a:xfrm>
              <a:off x="2520" y="1584"/>
              <a:ext cx="192" cy="16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12" name="AutoShape 35"/>
            <p:cNvSpPr>
              <a:spLocks noChangeArrowheads="1"/>
            </p:cNvSpPr>
            <p:nvPr/>
          </p:nvSpPr>
          <p:spPr bwMode="auto">
            <a:xfrm>
              <a:off x="2803" y="1824"/>
              <a:ext cx="192" cy="115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8413" name="AutoShape 36"/>
            <p:cNvSpPr>
              <a:spLocks noChangeArrowheads="1"/>
            </p:cNvSpPr>
            <p:nvPr/>
          </p:nvSpPr>
          <p:spPr bwMode="auto">
            <a:xfrm>
              <a:off x="3086" y="2112"/>
              <a:ext cx="192" cy="57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14" name="AutoShape 37"/>
            <p:cNvSpPr>
              <a:spLocks noChangeArrowheads="1"/>
            </p:cNvSpPr>
            <p:nvPr/>
          </p:nvSpPr>
          <p:spPr bwMode="auto">
            <a:xfrm>
              <a:off x="3369" y="1344"/>
              <a:ext cx="192" cy="768"/>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8415" name="AutoShape 38"/>
            <p:cNvSpPr>
              <a:spLocks noChangeArrowheads="1"/>
            </p:cNvSpPr>
            <p:nvPr/>
          </p:nvSpPr>
          <p:spPr bwMode="auto">
            <a:xfrm>
              <a:off x="3369" y="2736"/>
              <a:ext cx="192" cy="76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16" name="AutoShape 39"/>
            <p:cNvSpPr>
              <a:spLocks noChangeArrowheads="1"/>
            </p:cNvSpPr>
            <p:nvPr/>
          </p:nvSpPr>
          <p:spPr bwMode="auto">
            <a:xfrm>
              <a:off x="3652" y="2448"/>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8417" name="AutoShape 40"/>
            <p:cNvSpPr>
              <a:spLocks noChangeArrowheads="1"/>
            </p:cNvSpPr>
            <p:nvPr/>
          </p:nvSpPr>
          <p:spPr bwMode="auto">
            <a:xfrm>
              <a:off x="3648" y="1536"/>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228359" name="Group 41"/>
          <p:cNvGrpSpPr>
            <a:grpSpLocks/>
          </p:cNvGrpSpPr>
          <p:nvPr/>
        </p:nvGrpSpPr>
        <p:grpSpPr bwMode="auto">
          <a:xfrm>
            <a:off x="365125" y="3813175"/>
            <a:ext cx="1377950" cy="423863"/>
            <a:chOff x="1313" y="2496"/>
            <a:chExt cx="1252" cy="427"/>
          </a:xfrm>
        </p:grpSpPr>
        <p:sp>
          <p:nvSpPr>
            <p:cNvPr id="228382" name="Freeform 4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8383" name="Freeform 4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8384" name="Oval 44"/>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8385" name="Oval 45"/>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8360" name="Group 46"/>
          <p:cNvGrpSpPr>
            <a:grpSpLocks/>
          </p:cNvGrpSpPr>
          <p:nvPr/>
        </p:nvGrpSpPr>
        <p:grpSpPr bwMode="auto">
          <a:xfrm>
            <a:off x="365125" y="4684713"/>
            <a:ext cx="1377950" cy="423862"/>
            <a:chOff x="1313" y="2496"/>
            <a:chExt cx="1252" cy="427"/>
          </a:xfrm>
        </p:grpSpPr>
        <p:sp>
          <p:nvSpPr>
            <p:cNvPr id="228378" name="Freeform 4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8379" name="Freeform 4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8380" name="Oval 49"/>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8381" name="Oval 50"/>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8361" name="Group 51"/>
          <p:cNvGrpSpPr>
            <a:grpSpLocks/>
          </p:cNvGrpSpPr>
          <p:nvPr/>
        </p:nvGrpSpPr>
        <p:grpSpPr bwMode="auto">
          <a:xfrm>
            <a:off x="365125" y="2070100"/>
            <a:ext cx="1377950" cy="465138"/>
            <a:chOff x="230" y="1304"/>
            <a:chExt cx="868" cy="293"/>
          </a:xfrm>
        </p:grpSpPr>
        <p:sp>
          <p:nvSpPr>
            <p:cNvPr id="228373" name="Freeform 52"/>
            <p:cNvSpPr>
              <a:spLocks/>
            </p:cNvSpPr>
            <p:nvPr/>
          </p:nvSpPr>
          <p:spPr bwMode="auto">
            <a:xfrm>
              <a:off x="668" y="1308"/>
              <a:ext cx="430" cy="263"/>
            </a:xfrm>
            <a:custGeom>
              <a:avLst/>
              <a:gdLst>
                <a:gd name="T0" fmla="*/ 106 w 348"/>
                <a:gd name="T1" fmla="*/ 243 h 228"/>
                <a:gd name="T2" fmla="*/ 542 w 348"/>
                <a:gd name="T3" fmla="*/ 0 h 228"/>
                <a:gd name="T4" fmla="*/ 1530 w 348"/>
                <a:gd name="T5" fmla="*/ 621 h 228"/>
                <a:gd name="T6" fmla="*/ 938 w 348"/>
                <a:gd name="T7" fmla="*/ 358 h 228"/>
                <a:gd name="T8" fmla="*/ 1187 w 348"/>
                <a:gd name="T9" fmla="*/ 554 h 228"/>
                <a:gd name="T10" fmla="*/ 634 w 348"/>
                <a:gd name="T11" fmla="*/ 341 h 228"/>
                <a:gd name="T12" fmla="*/ 991 w 348"/>
                <a:gd name="T13" fmla="*/ 520 h 228"/>
                <a:gd name="T14" fmla="*/ 0 w 348"/>
                <a:gd name="T15" fmla="*/ 302 h 228"/>
                <a:gd name="T16" fmla="*/ 106 w 348"/>
                <a:gd name="T17" fmla="*/ 243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8374" name="Freeform 53"/>
            <p:cNvSpPr>
              <a:spLocks/>
            </p:cNvSpPr>
            <p:nvPr/>
          </p:nvSpPr>
          <p:spPr bwMode="auto">
            <a:xfrm>
              <a:off x="230" y="1304"/>
              <a:ext cx="430" cy="267"/>
            </a:xfrm>
            <a:custGeom>
              <a:avLst/>
              <a:gdLst>
                <a:gd name="T0" fmla="*/ 1415 w 348"/>
                <a:gd name="T1" fmla="*/ 240 h 231"/>
                <a:gd name="T2" fmla="*/ 991 w 348"/>
                <a:gd name="T3" fmla="*/ 0 h 231"/>
                <a:gd name="T4" fmla="*/ 0 w 348"/>
                <a:gd name="T5" fmla="*/ 637 h 231"/>
                <a:gd name="T6" fmla="*/ 660 w 348"/>
                <a:gd name="T7" fmla="*/ 370 h 231"/>
                <a:gd name="T8" fmla="*/ 344 w 348"/>
                <a:gd name="T9" fmla="*/ 571 h 231"/>
                <a:gd name="T10" fmla="*/ 938 w 348"/>
                <a:gd name="T11" fmla="*/ 366 h 231"/>
                <a:gd name="T12" fmla="*/ 609 w 348"/>
                <a:gd name="T13" fmla="*/ 547 h 231"/>
                <a:gd name="T14" fmla="*/ 1530 w 348"/>
                <a:gd name="T15" fmla="*/ 317 h 231"/>
                <a:gd name="T16" fmla="*/ 1415 w 348"/>
                <a:gd name="T17" fmla="*/ 240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8375" name="Oval 54"/>
            <p:cNvSpPr>
              <a:spLocks noChangeArrowheads="1"/>
            </p:cNvSpPr>
            <p:nvPr/>
          </p:nvSpPr>
          <p:spPr bwMode="auto">
            <a:xfrm>
              <a:off x="514" y="1356"/>
              <a:ext cx="271" cy="215"/>
            </a:xfrm>
            <a:prstGeom prst="ellipse">
              <a:avLst/>
            </a:pr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8376" name="Oval 55"/>
            <p:cNvSpPr>
              <a:spLocks noChangeArrowheads="1"/>
            </p:cNvSpPr>
            <p:nvPr/>
          </p:nvSpPr>
          <p:spPr bwMode="auto">
            <a:xfrm>
              <a:off x="668" y="1394"/>
              <a:ext cx="71" cy="60"/>
            </a:xfrm>
            <a:prstGeom prst="ellipse">
              <a:avLst/>
            </a:prstGeom>
            <a:solidFill>
              <a:srgbClr val="FFFF00"/>
            </a:solidFill>
            <a:ln w="19050">
              <a:solidFill>
                <a:schemeClr val="tx1"/>
              </a:solidFill>
              <a:round/>
              <a:headEnd/>
              <a:tailEnd/>
            </a:ln>
          </p:spPr>
          <p:txBody>
            <a:bodyPr wrap="none" anchor="ctr"/>
            <a:lstStyle/>
            <a:p>
              <a:endParaRPr lang="en-US" dirty="0">
                <a:latin typeface="Courier New" pitchFamily="49" charset="0"/>
              </a:endParaRPr>
            </a:p>
          </p:txBody>
        </p:sp>
        <p:sp>
          <p:nvSpPr>
            <p:cNvPr id="228377" name="Text Box 56"/>
            <p:cNvSpPr txBox="1">
              <a:spLocks noChangeArrowheads="1"/>
            </p:cNvSpPr>
            <p:nvPr/>
          </p:nvSpPr>
          <p:spPr bwMode="auto">
            <a:xfrm>
              <a:off x="500" y="1347"/>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+1</a:t>
              </a:r>
            </a:p>
          </p:txBody>
        </p:sp>
      </p:grpSp>
      <p:grpSp>
        <p:nvGrpSpPr>
          <p:cNvPr id="7" name="Group 57"/>
          <p:cNvGrpSpPr>
            <a:grpSpLocks/>
          </p:cNvGrpSpPr>
          <p:nvPr/>
        </p:nvGrpSpPr>
        <p:grpSpPr bwMode="auto">
          <a:xfrm>
            <a:off x="352425" y="2941638"/>
            <a:ext cx="1377950" cy="444500"/>
            <a:chOff x="230" y="1853"/>
            <a:chExt cx="868" cy="280"/>
          </a:xfrm>
        </p:grpSpPr>
        <p:grpSp>
          <p:nvGrpSpPr>
            <p:cNvPr id="228367" name="Group 58"/>
            <p:cNvGrpSpPr>
              <a:grpSpLocks/>
            </p:cNvGrpSpPr>
            <p:nvPr/>
          </p:nvGrpSpPr>
          <p:grpSpPr bwMode="auto">
            <a:xfrm>
              <a:off x="230" y="1853"/>
              <a:ext cx="868" cy="267"/>
              <a:chOff x="1313" y="2496"/>
              <a:chExt cx="1252" cy="427"/>
            </a:xfrm>
          </p:grpSpPr>
          <p:sp>
            <p:nvSpPr>
              <p:cNvPr id="228369" name="Freeform 59"/>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8370" name="Freeform 60"/>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8371" name="Oval 61"/>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8372" name="Oval 62"/>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28368" name="Text Box 63"/>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868416" name="Text Box 64"/>
          <p:cNvSpPr txBox="1">
            <a:spLocks noChangeArrowheads="1"/>
          </p:cNvSpPr>
          <p:nvPr/>
        </p:nvSpPr>
        <p:spPr bwMode="auto">
          <a:xfrm>
            <a:off x="2238375" y="5216525"/>
            <a:ext cx="4852988" cy="984250"/>
          </a:xfrm>
          <a:prstGeom prst="rect">
            <a:avLst/>
          </a:prstGeom>
          <a:solidFill>
            <a:schemeClr val="bg1">
              <a:alpha val="94116"/>
            </a:schemeClr>
          </a:solidFill>
          <a:ln w="38100" algn="ctr">
            <a:solidFill>
              <a:schemeClr val="accent2"/>
            </a:solidFill>
            <a:miter lim="800000"/>
            <a:headEnd/>
            <a:tailEnd/>
          </a:ln>
        </p:spPr>
        <p:txBody>
          <a:bodyPr>
            <a:spAutoFit/>
          </a:bodyPr>
          <a:lstStyle/>
          <a:p>
            <a:pPr algn="ctr">
              <a:spcBef>
                <a:spcPct val="0"/>
              </a:spcBef>
            </a:pPr>
            <a:r>
              <a:rPr lang="en-US" sz="2800" b="0" dirty="0">
                <a:solidFill>
                  <a:schemeClr val="accent2"/>
                </a:solidFill>
                <a:latin typeface="Arial" pitchFamily="34" charset="0"/>
                <a:cs typeface="Arial" pitchFamily="34" charset="0"/>
              </a:rPr>
              <a:t>Halt blue token before first green balancer</a:t>
            </a:r>
          </a:p>
        </p:txBody>
      </p:sp>
      <p:sp>
        <p:nvSpPr>
          <p:cNvPr id="228364" name="Freeform 65"/>
          <p:cNvSpPr>
            <a:spLocks/>
          </p:cNvSpPr>
          <p:nvPr/>
        </p:nvSpPr>
        <p:spPr bwMode="auto">
          <a:xfrm>
            <a:off x="12446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prstDash val="sysDot"/>
            <a:round/>
            <a:headEnd/>
            <a:tailEnd type="triangle" w="med" len="med"/>
          </a:ln>
        </p:spPr>
        <p:txBody>
          <a:bodyPr wrap="none" anchor="ctr"/>
          <a:lstStyle/>
          <a:p>
            <a:endParaRPr lang="en-US" dirty="0">
              <a:latin typeface="Courier New" pitchFamily="49" charset="0"/>
            </a:endParaRPr>
          </a:p>
        </p:txBody>
      </p:sp>
      <p:sp>
        <p:nvSpPr>
          <p:cNvPr id="228365" name="Text Box 66"/>
          <p:cNvSpPr txBox="1">
            <a:spLocks noChangeArrowheads="1"/>
          </p:cNvSpPr>
          <p:nvPr/>
        </p:nvSpPr>
        <p:spPr bwMode="auto">
          <a:xfrm>
            <a:off x="806450" y="38528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28366" name="Text Box 67"/>
          <p:cNvSpPr txBox="1">
            <a:spLocks noChangeArrowheads="1"/>
          </p:cNvSpPr>
          <p:nvPr/>
        </p:nvSpPr>
        <p:spPr bwMode="auto">
          <a:xfrm>
            <a:off x="806450" y="47164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11111E-6 6.66667E-6 L 0.15139 -0.0037 " pathEditMode="relative" ptsTypes="AA">
                                      <p:cBhvr>
                                        <p:cTn id="6" dur="2000" fill="hold"/>
                                        <p:tgtEl>
                                          <p:spTgt spid="7"/>
                                        </p:tgtEl>
                                        <p:attrNameLst>
                                          <p:attrName>ppt_x</p:attrName>
                                          <p:attrName>ppt_y</p:attrName>
                                        </p:attrNameLst>
                                      </p:cBhvr>
                                    </p:animMotion>
                                  </p:childTnLst>
                                </p:cTn>
                              </p:par>
                            </p:childTnLst>
                          </p:cTn>
                        </p:par>
                        <p:par>
                          <p:cTn id="7" fill="hold">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868416"/>
                                        </p:tgtEl>
                                        <p:attrNameLst>
                                          <p:attrName>style.visibility</p:attrName>
                                        </p:attrNameLst>
                                      </p:cBhvr>
                                      <p:to>
                                        <p:strVal val="visible"/>
                                      </p:to>
                                    </p:set>
                                    <p:animEffect transition="in" filter="blinds(horizontal)">
                                      <p:cBhvr>
                                        <p:cTn id="10" dur="500"/>
                                        <p:tgtEl>
                                          <p:spTgt spid="868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416" grpId="0" animBg="1"/>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Footer Placeholder 3"/>
          <p:cNvSpPr>
            <a:spLocks noGrp="1"/>
          </p:cNvSpPr>
          <p:nvPr>
            <p:ph type="ftr" sz="quarter" idx="10"/>
          </p:nvPr>
        </p:nvSpPr>
        <p:spPr/>
        <p:txBody>
          <a:bodyPr/>
          <a:lstStyle/>
          <a:p>
            <a:pPr>
              <a:defRPr/>
            </a:pPr>
            <a:r>
              <a:rPr lang="en-US"/>
              <a:t>Art of Multiprocessor Programming</a:t>
            </a:r>
          </a:p>
        </p:txBody>
      </p:sp>
      <p:sp>
        <p:nvSpPr>
          <p:cNvPr id="76" name="Slide Number Placeholder 4"/>
          <p:cNvSpPr>
            <a:spLocks noGrp="1"/>
          </p:cNvSpPr>
          <p:nvPr>
            <p:ph type="sldNum" sz="quarter" idx="11"/>
          </p:nvPr>
        </p:nvSpPr>
        <p:spPr/>
        <p:txBody>
          <a:bodyPr/>
          <a:lstStyle/>
          <a:p>
            <a:pPr>
              <a:defRPr/>
            </a:pPr>
            <a:fld id="{4F1F67E2-DC71-4A77-BAFF-66465C7169C9}" type="slidenum">
              <a:rPr lang="en-US"/>
              <a:pPr>
                <a:defRPr/>
              </a:pPr>
              <a:t>230</a:t>
            </a:fld>
            <a:endParaRPr lang="en-US"/>
          </a:p>
        </p:txBody>
      </p:sp>
      <p:grpSp>
        <p:nvGrpSpPr>
          <p:cNvPr id="229380" name="Group 2"/>
          <p:cNvGrpSpPr>
            <a:grpSpLocks/>
          </p:cNvGrpSpPr>
          <p:nvPr/>
        </p:nvGrpSpPr>
        <p:grpSpPr bwMode="auto">
          <a:xfrm>
            <a:off x="377825" y="3881438"/>
            <a:ext cx="1377950" cy="423862"/>
            <a:chOff x="1313" y="2496"/>
            <a:chExt cx="1252" cy="427"/>
          </a:xfrm>
        </p:grpSpPr>
        <p:sp>
          <p:nvSpPr>
            <p:cNvPr id="229449"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9450"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9451"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9452"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29381" name="Rectangle 7"/>
          <p:cNvSpPr>
            <a:spLocks noGrp="1" noChangeArrowheads="1"/>
          </p:cNvSpPr>
          <p:nvPr>
            <p:ph type="title"/>
          </p:nvPr>
        </p:nvSpPr>
        <p:spPr/>
        <p:txBody>
          <a:bodyPr/>
          <a:lstStyle/>
          <a:p>
            <a:r>
              <a:rPr lang="en-US"/>
              <a:t>Third Token</a:t>
            </a:r>
          </a:p>
        </p:txBody>
      </p:sp>
      <p:grpSp>
        <p:nvGrpSpPr>
          <p:cNvPr id="229382" name="Group 8"/>
          <p:cNvGrpSpPr>
            <a:grpSpLocks/>
          </p:cNvGrpSpPr>
          <p:nvPr/>
        </p:nvGrpSpPr>
        <p:grpSpPr bwMode="auto">
          <a:xfrm>
            <a:off x="1562100" y="2133600"/>
            <a:ext cx="5410200" cy="3429000"/>
            <a:chOff x="984" y="1344"/>
            <a:chExt cx="3408" cy="2160"/>
          </a:xfrm>
        </p:grpSpPr>
        <p:sp>
          <p:nvSpPr>
            <p:cNvPr id="229417" name="Line 9"/>
            <p:cNvSpPr>
              <a:spLocks noChangeShapeType="1"/>
            </p:cNvSpPr>
            <p:nvPr/>
          </p:nvSpPr>
          <p:spPr bwMode="auto">
            <a:xfrm>
              <a:off x="984" y="1440"/>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9418" name="Line 10"/>
            <p:cNvSpPr>
              <a:spLocks noChangeShapeType="1"/>
            </p:cNvSpPr>
            <p:nvPr/>
          </p:nvSpPr>
          <p:spPr bwMode="auto">
            <a:xfrm>
              <a:off x="984" y="1721"/>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9419" name="Line 11"/>
            <p:cNvSpPr>
              <a:spLocks noChangeShapeType="1"/>
            </p:cNvSpPr>
            <p:nvPr/>
          </p:nvSpPr>
          <p:spPr bwMode="auto">
            <a:xfrm>
              <a:off x="984" y="2002"/>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9420" name="Line 12"/>
            <p:cNvSpPr>
              <a:spLocks noChangeShapeType="1"/>
            </p:cNvSpPr>
            <p:nvPr/>
          </p:nvSpPr>
          <p:spPr bwMode="auto">
            <a:xfrm>
              <a:off x="984" y="2283"/>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9421" name="Line 13"/>
            <p:cNvSpPr>
              <a:spLocks noChangeShapeType="1"/>
            </p:cNvSpPr>
            <p:nvPr/>
          </p:nvSpPr>
          <p:spPr bwMode="auto">
            <a:xfrm>
              <a:off x="984" y="2564"/>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9422" name="Line 14"/>
            <p:cNvSpPr>
              <a:spLocks noChangeShapeType="1"/>
            </p:cNvSpPr>
            <p:nvPr/>
          </p:nvSpPr>
          <p:spPr bwMode="auto">
            <a:xfrm>
              <a:off x="984" y="2845"/>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9423" name="Line 15"/>
            <p:cNvSpPr>
              <a:spLocks noChangeShapeType="1"/>
            </p:cNvSpPr>
            <p:nvPr/>
          </p:nvSpPr>
          <p:spPr bwMode="auto">
            <a:xfrm>
              <a:off x="984" y="3126"/>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9424" name="Line 16"/>
            <p:cNvSpPr>
              <a:spLocks noChangeShapeType="1"/>
            </p:cNvSpPr>
            <p:nvPr/>
          </p:nvSpPr>
          <p:spPr bwMode="auto">
            <a:xfrm>
              <a:off x="984" y="3408"/>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29425" name="AutoShape 17"/>
            <p:cNvSpPr>
              <a:spLocks noChangeArrowheads="1"/>
            </p:cNvSpPr>
            <p:nvPr/>
          </p:nvSpPr>
          <p:spPr bwMode="auto">
            <a:xfrm>
              <a:off x="1104"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9426" name="AutoShape 18"/>
            <p:cNvSpPr>
              <a:spLocks noChangeArrowheads="1"/>
            </p:cNvSpPr>
            <p:nvPr/>
          </p:nvSpPr>
          <p:spPr bwMode="auto">
            <a:xfrm>
              <a:off x="1104" y="188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27" name="AutoShape 19"/>
            <p:cNvSpPr>
              <a:spLocks noChangeArrowheads="1"/>
            </p:cNvSpPr>
            <p:nvPr/>
          </p:nvSpPr>
          <p:spPr bwMode="auto">
            <a:xfrm>
              <a:off x="1104" y="2480"/>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28" name="AutoShape 20"/>
            <p:cNvSpPr>
              <a:spLocks noChangeArrowheads="1"/>
            </p:cNvSpPr>
            <p:nvPr/>
          </p:nvSpPr>
          <p:spPr bwMode="auto">
            <a:xfrm>
              <a:off x="1104"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29" name="AutoShape 21"/>
            <p:cNvSpPr>
              <a:spLocks noChangeArrowheads="1"/>
            </p:cNvSpPr>
            <p:nvPr/>
          </p:nvSpPr>
          <p:spPr bwMode="auto">
            <a:xfrm>
              <a:off x="1953" y="249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30" name="AutoShape 22"/>
            <p:cNvSpPr>
              <a:spLocks noChangeArrowheads="1"/>
            </p:cNvSpPr>
            <p:nvPr/>
          </p:nvSpPr>
          <p:spPr bwMode="auto">
            <a:xfrm>
              <a:off x="1953"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31" name="AutoShape 23"/>
            <p:cNvSpPr>
              <a:spLocks noChangeArrowheads="1"/>
            </p:cNvSpPr>
            <p:nvPr/>
          </p:nvSpPr>
          <p:spPr bwMode="auto">
            <a:xfrm>
              <a:off x="1953"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32" name="AutoShape 24"/>
            <p:cNvSpPr>
              <a:spLocks noChangeArrowheads="1"/>
            </p:cNvSpPr>
            <p:nvPr/>
          </p:nvSpPr>
          <p:spPr bwMode="auto">
            <a:xfrm>
              <a:off x="1953" y="182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33" name="AutoShape 25"/>
            <p:cNvSpPr>
              <a:spLocks noChangeArrowheads="1"/>
            </p:cNvSpPr>
            <p:nvPr/>
          </p:nvSpPr>
          <p:spPr bwMode="auto">
            <a:xfrm>
              <a:off x="1670" y="1632"/>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9434" name="AutoShape 26"/>
            <p:cNvSpPr>
              <a:spLocks noChangeArrowheads="1"/>
            </p:cNvSpPr>
            <p:nvPr/>
          </p:nvSpPr>
          <p:spPr bwMode="auto">
            <a:xfrm>
              <a:off x="1670" y="278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35" name="AutoShape 27"/>
            <p:cNvSpPr>
              <a:spLocks noChangeArrowheads="1"/>
            </p:cNvSpPr>
            <p:nvPr/>
          </p:nvSpPr>
          <p:spPr bwMode="auto">
            <a:xfrm>
              <a:off x="1387"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36" name="AutoShape 28"/>
            <p:cNvSpPr>
              <a:spLocks noChangeArrowheads="1"/>
            </p:cNvSpPr>
            <p:nvPr/>
          </p:nvSpPr>
          <p:spPr bwMode="auto">
            <a:xfrm>
              <a:off x="1387"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37" name="AutoShape 29"/>
            <p:cNvSpPr>
              <a:spLocks noChangeArrowheads="1"/>
            </p:cNvSpPr>
            <p:nvPr/>
          </p:nvSpPr>
          <p:spPr bwMode="auto">
            <a:xfrm>
              <a:off x="2236" y="1344"/>
              <a:ext cx="192" cy="216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38" name="AutoShape 30"/>
            <p:cNvSpPr>
              <a:spLocks noChangeArrowheads="1"/>
            </p:cNvSpPr>
            <p:nvPr/>
          </p:nvSpPr>
          <p:spPr bwMode="auto">
            <a:xfrm>
              <a:off x="3936"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9439" name="AutoShape 31"/>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40" name="AutoShape 32"/>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41" name="AutoShape 33"/>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42" name="AutoShape 34"/>
            <p:cNvSpPr>
              <a:spLocks noChangeArrowheads="1"/>
            </p:cNvSpPr>
            <p:nvPr/>
          </p:nvSpPr>
          <p:spPr bwMode="auto">
            <a:xfrm>
              <a:off x="2520" y="1584"/>
              <a:ext cx="192" cy="16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43" name="AutoShape 35"/>
            <p:cNvSpPr>
              <a:spLocks noChangeArrowheads="1"/>
            </p:cNvSpPr>
            <p:nvPr/>
          </p:nvSpPr>
          <p:spPr bwMode="auto">
            <a:xfrm>
              <a:off x="2803" y="1824"/>
              <a:ext cx="192" cy="115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9444" name="AutoShape 36"/>
            <p:cNvSpPr>
              <a:spLocks noChangeArrowheads="1"/>
            </p:cNvSpPr>
            <p:nvPr/>
          </p:nvSpPr>
          <p:spPr bwMode="auto">
            <a:xfrm>
              <a:off x="3086" y="2112"/>
              <a:ext cx="192" cy="57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45" name="AutoShape 37"/>
            <p:cNvSpPr>
              <a:spLocks noChangeArrowheads="1"/>
            </p:cNvSpPr>
            <p:nvPr/>
          </p:nvSpPr>
          <p:spPr bwMode="auto">
            <a:xfrm>
              <a:off x="3369" y="1344"/>
              <a:ext cx="192" cy="768"/>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9446" name="AutoShape 38"/>
            <p:cNvSpPr>
              <a:spLocks noChangeArrowheads="1"/>
            </p:cNvSpPr>
            <p:nvPr/>
          </p:nvSpPr>
          <p:spPr bwMode="auto">
            <a:xfrm>
              <a:off x="3369" y="2736"/>
              <a:ext cx="192" cy="76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47" name="AutoShape 39"/>
            <p:cNvSpPr>
              <a:spLocks noChangeArrowheads="1"/>
            </p:cNvSpPr>
            <p:nvPr/>
          </p:nvSpPr>
          <p:spPr bwMode="auto">
            <a:xfrm>
              <a:off x="3652" y="2448"/>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29448" name="AutoShape 40"/>
            <p:cNvSpPr>
              <a:spLocks noChangeArrowheads="1"/>
            </p:cNvSpPr>
            <p:nvPr/>
          </p:nvSpPr>
          <p:spPr bwMode="auto">
            <a:xfrm>
              <a:off x="3648" y="1536"/>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229383" name="Group 41"/>
          <p:cNvGrpSpPr>
            <a:grpSpLocks/>
          </p:cNvGrpSpPr>
          <p:nvPr/>
        </p:nvGrpSpPr>
        <p:grpSpPr bwMode="auto">
          <a:xfrm>
            <a:off x="365125" y="4684713"/>
            <a:ext cx="1377950" cy="423862"/>
            <a:chOff x="1313" y="2496"/>
            <a:chExt cx="1252" cy="427"/>
          </a:xfrm>
        </p:grpSpPr>
        <p:sp>
          <p:nvSpPr>
            <p:cNvPr id="229413" name="Freeform 4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9414" name="Freeform 4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9415" name="Oval 44"/>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9416" name="Oval 45"/>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29384" name="Group 46"/>
          <p:cNvGrpSpPr>
            <a:grpSpLocks/>
          </p:cNvGrpSpPr>
          <p:nvPr/>
        </p:nvGrpSpPr>
        <p:grpSpPr bwMode="auto">
          <a:xfrm>
            <a:off x="365125" y="2070100"/>
            <a:ext cx="1377950" cy="465138"/>
            <a:chOff x="230" y="1304"/>
            <a:chExt cx="868" cy="293"/>
          </a:xfrm>
        </p:grpSpPr>
        <p:sp>
          <p:nvSpPr>
            <p:cNvPr id="229408" name="Freeform 47"/>
            <p:cNvSpPr>
              <a:spLocks/>
            </p:cNvSpPr>
            <p:nvPr/>
          </p:nvSpPr>
          <p:spPr bwMode="auto">
            <a:xfrm>
              <a:off x="668" y="1308"/>
              <a:ext cx="430" cy="263"/>
            </a:xfrm>
            <a:custGeom>
              <a:avLst/>
              <a:gdLst>
                <a:gd name="T0" fmla="*/ 106 w 348"/>
                <a:gd name="T1" fmla="*/ 243 h 228"/>
                <a:gd name="T2" fmla="*/ 542 w 348"/>
                <a:gd name="T3" fmla="*/ 0 h 228"/>
                <a:gd name="T4" fmla="*/ 1530 w 348"/>
                <a:gd name="T5" fmla="*/ 621 h 228"/>
                <a:gd name="T6" fmla="*/ 938 w 348"/>
                <a:gd name="T7" fmla="*/ 358 h 228"/>
                <a:gd name="T8" fmla="*/ 1187 w 348"/>
                <a:gd name="T9" fmla="*/ 554 h 228"/>
                <a:gd name="T10" fmla="*/ 634 w 348"/>
                <a:gd name="T11" fmla="*/ 341 h 228"/>
                <a:gd name="T12" fmla="*/ 991 w 348"/>
                <a:gd name="T13" fmla="*/ 520 h 228"/>
                <a:gd name="T14" fmla="*/ 0 w 348"/>
                <a:gd name="T15" fmla="*/ 302 h 228"/>
                <a:gd name="T16" fmla="*/ 106 w 348"/>
                <a:gd name="T17" fmla="*/ 243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9409" name="Freeform 48"/>
            <p:cNvSpPr>
              <a:spLocks/>
            </p:cNvSpPr>
            <p:nvPr/>
          </p:nvSpPr>
          <p:spPr bwMode="auto">
            <a:xfrm>
              <a:off x="230" y="1304"/>
              <a:ext cx="430" cy="267"/>
            </a:xfrm>
            <a:custGeom>
              <a:avLst/>
              <a:gdLst>
                <a:gd name="T0" fmla="*/ 1415 w 348"/>
                <a:gd name="T1" fmla="*/ 240 h 231"/>
                <a:gd name="T2" fmla="*/ 991 w 348"/>
                <a:gd name="T3" fmla="*/ 0 h 231"/>
                <a:gd name="T4" fmla="*/ 0 w 348"/>
                <a:gd name="T5" fmla="*/ 637 h 231"/>
                <a:gd name="T6" fmla="*/ 660 w 348"/>
                <a:gd name="T7" fmla="*/ 370 h 231"/>
                <a:gd name="T8" fmla="*/ 344 w 348"/>
                <a:gd name="T9" fmla="*/ 571 h 231"/>
                <a:gd name="T10" fmla="*/ 938 w 348"/>
                <a:gd name="T11" fmla="*/ 366 h 231"/>
                <a:gd name="T12" fmla="*/ 609 w 348"/>
                <a:gd name="T13" fmla="*/ 547 h 231"/>
                <a:gd name="T14" fmla="*/ 1530 w 348"/>
                <a:gd name="T15" fmla="*/ 317 h 231"/>
                <a:gd name="T16" fmla="*/ 1415 w 348"/>
                <a:gd name="T17" fmla="*/ 240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9410" name="Oval 49"/>
            <p:cNvSpPr>
              <a:spLocks noChangeArrowheads="1"/>
            </p:cNvSpPr>
            <p:nvPr/>
          </p:nvSpPr>
          <p:spPr bwMode="auto">
            <a:xfrm>
              <a:off x="514" y="1356"/>
              <a:ext cx="271" cy="215"/>
            </a:xfrm>
            <a:prstGeom prst="ellipse">
              <a:avLst/>
            </a:pr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29411" name="Oval 50"/>
            <p:cNvSpPr>
              <a:spLocks noChangeArrowheads="1"/>
            </p:cNvSpPr>
            <p:nvPr/>
          </p:nvSpPr>
          <p:spPr bwMode="auto">
            <a:xfrm>
              <a:off x="668" y="1394"/>
              <a:ext cx="71" cy="60"/>
            </a:xfrm>
            <a:prstGeom prst="ellipse">
              <a:avLst/>
            </a:prstGeom>
            <a:solidFill>
              <a:srgbClr val="FFFF00"/>
            </a:solidFill>
            <a:ln w="19050">
              <a:solidFill>
                <a:schemeClr val="tx1"/>
              </a:solidFill>
              <a:round/>
              <a:headEnd/>
              <a:tailEnd/>
            </a:ln>
          </p:spPr>
          <p:txBody>
            <a:bodyPr wrap="none" anchor="ctr"/>
            <a:lstStyle/>
            <a:p>
              <a:endParaRPr lang="en-US" dirty="0">
                <a:latin typeface="Courier New" pitchFamily="49" charset="0"/>
              </a:endParaRPr>
            </a:p>
          </p:txBody>
        </p:sp>
        <p:sp>
          <p:nvSpPr>
            <p:cNvPr id="229412" name="Text Box 51"/>
            <p:cNvSpPr txBox="1">
              <a:spLocks noChangeArrowheads="1"/>
            </p:cNvSpPr>
            <p:nvPr/>
          </p:nvSpPr>
          <p:spPr bwMode="auto">
            <a:xfrm>
              <a:off x="500" y="1347"/>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+1</a:t>
              </a:r>
            </a:p>
          </p:txBody>
        </p:sp>
      </p:grpSp>
      <p:sp>
        <p:nvSpPr>
          <p:cNvPr id="229385" name="Freeform 52"/>
          <p:cNvSpPr>
            <a:spLocks/>
          </p:cNvSpPr>
          <p:nvPr/>
        </p:nvSpPr>
        <p:spPr bwMode="auto">
          <a:xfrm>
            <a:off x="12446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prstDash val="sysDot"/>
            <a:round/>
            <a:headEnd/>
            <a:tailEnd type="triangle" w="med" len="med"/>
          </a:ln>
        </p:spPr>
        <p:txBody>
          <a:bodyPr wrap="none" anchor="ctr"/>
          <a:lstStyle/>
          <a:p>
            <a:endParaRPr lang="en-US" dirty="0">
              <a:latin typeface="Courier New" pitchFamily="49" charset="0"/>
            </a:endParaRPr>
          </a:p>
        </p:txBody>
      </p:sp>
      <p:sp>
        <p:nvSpPr>
          <p:cNvPr id="869429" name="Freeform 53"/>
          <p:cNvSpPr>
            <a:spLocks/>
          </p:cNvSpPr>
          <p:nvPr/>
        </p:nvSpPr>
        <p:spPr bwMode="auto">
          <a:xfrm>
            <a:off x="1244600" y="4032250"/>
            <a:ext cx="5588000" cy="1009650"/>
          </a:xfrm>
          <a:custGeom>
            <a:avLst/>
            <a:gdLst>
              <a:gd name="T0" fmla="*/ 0 w 3520"/>
              <a:gd name="T1" fmla="*/ 2147483647 h 636"/>
              <a:gd name="T2" fmla="*/ 2147483647 w 3520"/>
              <a:gd name="T3" fmla="*/ 2147483647 h 636"/>
              <a:gd name="T4" fmla="*/ 2147483647 w 3520"/>
              <a:gd name="T5" fmla="*/ 2147483647 h 636"/>
              <a:gd name="T6" fmla="*/ 2147483647 w 3520"/>
              <a:gd name="T7" fmla="*/ 2147483647 h 636"/>
              <a:gd name="T8" fmla="*/ 2147483647 w 3520"/>
              <a:gd name="T9" fmla="*/ 2147483647 h 636"/>
              <a:gd name="T10" fmla="*/ 2147483647 w 3520"/>
              <a:gd name="T11" fmla="*/ 2147483647 h 636"/>
              <a:gd name="T12" fmla="*/ 0 60000 65536"/>
              <a:gd name="T13" fmla="*/ 0 60000 65536"/>
              <a:gd name="T14" fmla="*/ 0 60000 65536"/>
              <a:gd name="T15" fmla="*/ 0 60000 65536"/>
              <a:gd name="T16" fmla="*/ 0 60000 65536"/>
              <a:gd name="T17" fmla="*/ 0 60000 65536"/>
              <a:gd name="T18" fmla="*/ 0 w 3520"/>
              <a:gd name="T19" fmla="*/ 0 h 636"/>
              <a:gd name="T20" fmla="*/ 3520 w 3520"/>
              <a:gd name="T21" fmla="*/ 636 h 636"/>
            </a:gdLst>
            <a:ahLst/>
            <a:cxnLst>
              <a:cxn ang="T12">
                <a:pos x="T0" y="T1"/>
              </a:cxn>
              <a:cxn ang="T13">
                <a:pos x="T2" y="T3"/>
              </a:cxn>
              <a:cxn ang="T14">
                <a:pos x="T4" y="T5"/>
              </a:cxn>
              <a:cxn ang="T15">
                <a:pos x="T6" y="T7"/>
              </a:cxn>
              <a:cxn ang="T16">
                <a:pos x="T8" y="T9"/>
              </a:cxn>
              <a:cxn ang="T17">
                <a:pos x="T10" y="T11"/>
              </a:cxn>
            </a:cxnLst>
            <a:rect l="T18" t="T19" r="T20" b="T21"/>
            <a:pathLst>
              <a:path w="3520" h="636">
                <a:moveTo>
                  <a:pt x="0" y="12"/>
                </a:moveTo>
                <a:cubicBezTo>
                  <a:pt x="139" y="6"/>
                  <a:pt x="279" y="0"/>
                  <a:pt x="352" y="44"/>
                </a:cubicBezTo>
                <a:cubicBezTo>
                  <a:pt x="425" y="88"/>
                  <a:pt x="336" y="228"/>
                  <a:pt x="440" y="276"/>
                </a:cubicBezTo>
                <a:cubicBezTo>
                  <a:pt x="544" y="324"/>
                  <a:pt x="861" y="283"/>
                  <a:pt x="976" y="332"/>
                </a:cubicBezTo>
                <a:cubicBezTo>
                  <a:pt x="1091" y="381"/>
                  <a:pt x="704" y="521"/>
                  <a:pt x="1128" y="572"/>
                </a:cubicBezTo>
                <a:cubicBezTo>
                  <a:pt x="1552" y="623"/>
                  <a:pt x="3022" y="623"/>
                  <a:pt x="3520" y="636"/>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sp>
        <p:nvSpPr>
          <p:cNvPr id="869430" name="Text Box 54"/>
          <p:cNvSpPr txBox="1">
            <a:spLocks noChangeArrowheads="1"/>
          </p:cNvSpPr>
          <p:nvPr/>
        </p:nvSpPr>
        <p:spPr bwMode="auto">
          <a:xfrm>
            <a:off x="6510338" y="5521325"/>
            <a:ext cx="1735137" cy="946150"/>
          </a:xfrm>
          <a:prstGeom prst="rect">
            <a:avLst/>
          </a:prstGeom>
          <a:noFill/>
          <a:ln w="9525" algn="ctr">
            <a:noFill/>
            <a:miter lim="800000"/>
            <a:headEnd/>
            <a:tailEnd/>
          </a:ln>
        </p:spPr>
        <p:txBody>
          <a:bodyPr>
            <a:spAutoFit/>
          </a:bodyPr>
          <a:lstStyle/>
          <a:p>
            <a:pPr algn="ctr">
              <a:spcBef>
                <a:spcPct val="0"/>
              </a:spcBef>
            </a:pPr>
            <a:r>
              <a:rPr lang="en-US" sz="2800" b="0" dirty="0">
                <a:latin typeface="Arial" pitchFamily="34" charset="0"/>
                <a:cs typeface="Arial" pitchFamily="34" charset="0"/>
              </a:rPr>
              <a:t>Takes 0 or 2</a:t>
            </a:r>
          </a:p>
        </p:txBody>
      </p:sp>
      <p:grpSp>
        <p:nvGrpSpPr>
          <p:cNvPr id="229388" name="Group 55"/>
          <p:cNvGrpSpPr>
            <a:grpSpLocks/>
          </p:cNvGrpSpPr>
          <p:nvPr/>
        </p:nvGrpSpPr>
        <p:grpSpPr bwMode="auto">
          <a:xfrm>
            <a:off x="365125" y="2941638"/>
            <a:ext cx="1377950" cy="423862"/>
            <a:chOff x="1313" y="2496"/>
            <a:chExt cx="1252" cy="427"/>
          </a:xfrm>
        </p:grpSpPr>
        <p:sp>
          <p:nvSpPr>
            <p:cNvPr id="229404" name="Freeform 5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9405" name="Freeform 5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9406" name="Oval 58"/>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29407" name="Oval 59"/>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229389" name="Group 60"/>
          <p:cNvGrpSpPr>
            <a:grpSpLocks/>
          </p:cNvGrpSpPr>
          <p:nvPr/>
        </p:nvGrpSpPr>
        <p:grpSpPr bwMode="auto">
          <a:xfrm>
            <a:off x="1343025" y="2941638"/>
            <a:ext cx="1377950" cy="444500"/>
            <a:chOff x="230" y="1853"/>
            <a:chExt cx="868" cy="280"/>
          </a:xfrm>
        </p:grpSpPr>
        <p:grpSp>
          <p:nvGrpSpPr>
            <p:cNvPr id="229398" name="Group 61"/>
            <p:cNvGrpSpPr>
              <a:grpSpLocks/>
            </p:cNvGrpSpPr>
            <p:nvPr/>
          </p:nvGrpSpPr>
          <p:grpSpPr bwMode="auto">
            <a:xfrm>
              <a:off x="230" y="1853"/>
              <a:ext cx="868" cy="267"/>
              <a:chOff x="1313" y="2496"/>
              <a:chExt cx="1252" cy="427"/>
            </a:xfrm>
          </p:grpSpPr>
          <p:sp>
            <p:nvSpPr>
              <p:cNvPr id="229400" name="Freeform 6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9401" name="Freeform 6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9402" name="Oval 6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9403" name="Oval 6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29399" name="Text Box 66"/>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229390" name="Text Box 67"/>
          <p:cNvSpPr txBox="1">
            <a:spLocks noChangeArrowheads="1"/>
          </p:cNvSpPr>
          <p:nvPr/>
        </p:nvSpPr>
        <p:spPr bwMode="auto">
          <a:xfrm>
            <a:off x="806450" y="47164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nvGrpSpPr>
          <p:cNvPr id="9" name="Group 68"/>
          <p:cNvGrpSpPr>
            <a:grpSpLocks/>
          </p:cNvGrpSpPr>
          <p:nvPr/>
        </p:nvGrpSpPr>
        <p:grpSpPr bwMode="auto">
          <a:xfrm>
            <a:off x="352425" y="3868738"/>
            <a:ext cx="1377950" cy="444500"/>
            <a:chOff x="230" y="1853"/>
            <a:chExt cx="868" cy="280"/>
          </a:xfrm>
        </p:grpSpPr>
        <p:grpSp>
          <p:nvGrpSpPr>
            <p:cNvPr id="229392" name="Group 69"/>
            <p:cNvGrpSpPr>
              <a:grpSpLocks/>
            </p:cNvGrpSpPr>
            <p:nvPr/>
          </p:nvGrpSpPr>
          <p:grpSpPr bwMode="auto">
            <a:xfrm>
              <a:off x="230" y="1853"/>
              <a:ext cx="868" cy="267"/>
              <a:chOff x="1313" y="2496"/>
              <a:chExt cx="1252" cy="427"/>
            </a:xfrm>
          </p:grpSpPr>
          <p:sp>
            <p:nvSpPr>
              <p:cNvPr id="229394" name="Freeform 70"/>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9395" name="Freeform 71"/>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9396" name="Oval 72"/>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29397" name="Oval 73"/>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29393" name="Text Box 74"/>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869429"/>
                                        </p:tgtEl>
                                        <p:attrNameLst>
                                          <p:attrName>style.visibility</p:attrName>
                                        </p:attrNameLst>
                                      </p:cBhvr>
                                      <p:to>
                                        <p:strVal val="visible"/>
                                      </p:to>
                                    </p:set>
                                    <p:animEffect transition="in" filter="blinds(horizontal)">
                                      <p:cBhvr>
                                        <p:cTn id="7" dur="500"/>
                                        <p:tgtEl>
                                          <p:spTgt spid="869429"/>
                                        </p:tgtEl>
                                      </p:cBhvr>
                                    </p:animEffect>
                                  </p:childTnLst>
                                </p:cTn>
                              </p:par>
                              <p:par>
                                <p:cTn id="8" presetID="0" presetClass="path" presetSubtype="0" accel="50000" decel="50000" fill="hold" nodeType="withEffect">
                                  <p:stCondLst>
                                    <p:cond delay="0"/>
                                  </p:stCondLst>
                                  <p:childTnLst>
                                    <p:animMotion origin="layout" path="M 1.11111E-6 -3.7037E-6 C 0.03733 0.00278 0.07483 0.00579 0.09028 0.01667 C 0.10573 0.02755 0.0783 0.05371 0.09305 0.06482 C 0.10781 0.07593 0.16267 0.07153 0.17917 0.08333 C 0.19566 0.09514 0.15851 0.12199 0.19167 0.13519 C 0.22483 0.14838 0.2993 0.15949 0.37778 0.16296 C 0.45625 0.16644 0.55937 0.16088 0.6625 0.15556 " pathEditMode="relative" ptsTypes="aaaaaaA">
                                      <p:cBhvr>
                                        <p:cTn id="9" dur="2000" fill="hold"/>
                                        <p:tgtEl>
                                          <p:spTgt spid="9"/>
                                        </p:tgtEl>
                                        <p:attrNameLst>
                                          <p:attrName>ppt_x</p:attrName>
                                          <p:attrName>ppt_y</p:attrName>
                                        </p:attrNameLst>
                                      </p:cBhvr>
                                    </p:animMotion>
                                  </p:childTnLst>
                                </p:cTn>
                              </p:par>
                            </p:childTnLst>
                          </p:cTn>
                        </p:par>
                        <p:par>
                          <p:cTn id="10" fill="hold">
                            <p:stCondLst>
                              <p:cond delay="2000"/>
                            </p:stCondLst>
                            <p:childTnLst>
                              <p:par>
                                <p:cTn id="11" presetID="3" presetClass="entr" presetSubtype="10" fill="hold" grpId="0" nodeType="afterEffect">
                                  <p:stCondLst>
                                    <p:cond delay="0"/>
                                  </p:stCondLst>
                                  <p:childTnLst>
                                    <p:set>
                                      <p:cBhvr>
                                        <p:cTn id="12" dur="1" fill="hold">
                                          <p:stCondLst>
                                            <p:cond delay="0"/>
                                          </p:stCondLst>
                                        </p:cTn>
                                        <p:tgtEl>
                                          <p:spTgt spid="869430"/>
                                        </p:tgtEl>
                                        <p:attrNameLst>
                                          <p:attrName>style.visibility</p:attrName>
                                        </p:attrNameLst>
                                      </p:cBhvr>
                                      <p:to>
                                        <p:strVal val="visible"/>
                                      </p:to>
                                    </p:set>
                                    <p:animEffect transition="in" filter="blinds(horizontal)">
                                      <p:cBhvr>
                                        <p:cTn id="13" dur="500"/>
                                        <p:tgtEl>
                                          <p:spTgt spid="869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429" grpId="0" animBg="1"/>
      <p:bldP spid="869430" grpId="0"/>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Footer Placeholder 3"/>
          <p:cNvSpPr>
            <a:spLocks noGrp="1"/>
          </p:cNvSpPr>
          <p:nvPr>
            <p:ph type="ftr" sz="quarter" idx="10"/>
          </p:nvPr>
        </p:nvSpPr>
        <p:spPr/>
        <p:txBody>
          <a:bodyPr/>
          <a:lstStyle/>
          <a:p>
            <a:pPr>
              <a:defRPr/>
            </a:pPr>
            <a:r>
              <a:rPr lang="en-US"/>
              <a:t>Art of Multiprocessor Programming</a:t>
            </a:r>
          </a:p>
        </p:txBody>
      </p:sp>
      <p:sp>
        <p:nvSpPr>
          <p:cNvPr id="84" name="Slide Number Placeholder 4"/>
          <p:cNvSpPr>
            <a:spLocks noGrp="1"/>
          </p:cNvSpPr>
          <p:nvPr>
            <p:ph type="sldNum" sz="quarter" idx="11"/>
          </p:nvPr>
        </p:nvSpPr>
        <p:spPr/>
        <p:txBody>
          <a:bodyPr/>
          <a:lstStyle/>
          <a:p>
            <a:pPr>
              <a:defRPr/>
            </a:pPr>
            <a:fld id="{8E0C0C47-0103-4B6D-804D-851C624B4209}" type="slidenum">
              <a:rPr lang="en-US"/>
              <a:pPr>
                <a:defRPr/>
              </a:pPr>
              <a:t>231</a:t>
            </a:fld>
            <a:endParaRPr lang="en-US"/>
          </a:p>
        </p:txBody>
      </p:sp>
      <p:grpSp>
        <p:nvGrpSpPr>
          <p:cNvPr id="230404" name="Group 2"/>
          <p:cNvGrpSpPr>
            <a:grpSpLocks/>
          </p:cNvGrpSpPr>
          <p:nvPr/>
        </p:nvGrpSpPr>
        <p:grpSpPr bwMode="auto">
          <a:xfrm>
            <a:off x="390525" y="3830638"/>
            <a:ext cx="1377950" cy="423862"/>
            <a:chOff x="1313" y="2496"/>
            <a:chExt cx="1252" cy="427"/>
          </a:xfrm>
        </p:grpSpPr>
        <p:sp>
          <p:nvSpPr>
            <p:cNvPr id="230481"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82"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83"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84"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230405" name="Group 7"/>
          <p:cNvGrpSpPr>
            <a:grpSpLocks/>
          </p:cNvGrpSpPr>
          <p:nvPr/>
        </p:nvGrpSpPr>
        <p:grpSpPr bwMode="auto">
          <a:xfrm>
            <a:off x="365125" y="2078038"/>
            <a:ext cx="1377950" cy="423862"/>
            <a:chOff x="1313" y="2496"/>
            <a:chExt cx="1252" cy="427"/>
          </a:xfrm>
        </p:grpSpPr>
        <p:sp>
          <p:nvSpPr>
            <p:cNvPr id="230477" name="Freeform 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78" name="Freeform 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79" name="Oval 1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80" name="Oval 1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30406" name="Rectangle 12"/>
          <p:cNvSpPr>
            <a:spLocks noGrp="1" noChangeArrowheads="1"/>
          </p:cNvSpPr>
          <p:nvPr>
            <p:ph type="title"/>
          </p:nvPr>
        </p:nvSpPr>
        <p:spPr/>
        <p:txBody>
          <a:bodyPr/>
          <a:lstStyle/>
          <a:p>
            <a:r>
              <a:rPr lang="en-US"/>
              <a:t>Third Token</a:t>
            </a:r>
          </a:p>
        </p:txBody>
      </p:sp>
      <p:grpSp>
        <p:nvGrpSpPr>
          <p:cNvPr id="230407" name="Group 13"/>
          <p:cNvGrpSpPr>
            <a:grpSpLocks/>
          </p:cNvGrpSpPr>
          <p:nvPr/>
        </p:nvGrpSpPr>
        <p:grpSpPr bwMode="auto">
          <a:xfrm>
            <a:off x="1562100" y="2133600"/>
            <a:ext cx="5410200" cy="3429000"/>
            <a:chOff x="984" y="1344"/>
            <a:chExt cx="3408" cy="2160"/>
          </a:xfrm>
        </p:grpSpPr>
        <p:sp>
          <p:nvSpPr>
            <p:cNvPr id="230445" name="Line 14"/>
            <p:cNvSpPr>
              <a:spLocks noChangeShapeType="1"/>
            </p:cNvSpPr>
            <p:nvPr/>
          </p:nvSpPr>
          <p:spPr bwMode="auto">
            <a:xfrm>
              <a:off x="984" y="1440"/>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0446" name="Line 15"/>
            <p:cNvSpPr>
              <a:spLocks noChangeShapeType="1"/>
            </p:cNvSpPr>
            <p:nvPr/>
          </p:nvSpPr>
          <p:spPr bwMode="auto">
            <a:xfrm>
              <a:off x="984" y="1721"/>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0447" name="Line 16"/>
            <p:cNvSpPr>
              <a:spLocks noChangeShapeType="1"/>
            </p:cNvSpPr>
            <p:nvPr/>
          </p:nvSpPr>
          <p:spPr bwMode="auto">
            <a:xfrm>
              <a:off x="984" y="2002"/>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0448" name="Line 17"/>
            <p:cNvSpPr>
              <a:spLocks noChangeShapeType="1"/>
            </p:cNvSpPr>
            <p:nvPr/>
          </p:nvSpPr>
          <p:spPr bwMode="auto">
            <a:xfrm>
              <a:off x="984" y="2283"/>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0449" name="Line 18"/>
            <p:cNvSpPr>
              <a:spLocks noChangeShapeType="1"/>
            </p:cNvSpPr>
            <p:nvPr/>
          </p:nvSpPr>
          <p:spPr bwMode="auto">
            <a:xfrm>
              <a:off x="984" y="2564"/>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0450" name="Line 19"/>
            <p:cNvSpPr>
              <a:spLocks noChangeShapeType="1"/>
            </p:cNvSpPr>
            <p:nvPr/>
          </p:nvSpPr>
          <p:spPr bwMode="auto">
            <a:xfrm>
              <a:off x="984" y="2845"/>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0451" name="Line 20"/>
            <p:cNvSpPr>
              <a:spLocks noChangeShapeType="1"/>
            </p:cNvSpPr>
            <p:nvPr/>
          </p:nvSpPr>
          <p:spPr bwMode="auto">
            <a:xfrm>
              <a:off x="984" y="3126"/>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0452" name="Line 21"/>
            <p:cNvSpPr>
              <a:spLocks noChangeShapeType="1"/>
            </p:cNvSpPr>
            <p:nvPr/>
          </p:nvSpPr>
          <p:spPr bwMode="auto">
            <a:xfrm>
              <a:off x="984" y="3408"/>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0453" name="AutoShape 22"/>
            <p:cNvSpPr>
              <a:spLocks noChangeArrowheads="1"/>
            </p:cNvSpPr>
            <p:nvPr/>
          </p:nvSpPr>
          <p:spPr bwMode="auto">
            <a:xfrm>
              <a:off x="1104"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0454" name="AutoShape 23"/>
            <p:cNvSpPr>
              <a:spLocks noChangeArrowheads="1"/>
            </p:cNvSpPr>
            <p:nvPr/>
          </p:nvSpPr>
          <p:spPr bwMode="auto">
            <a:xfrm>
              <a:off x="1104" y="188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55" name="AutoShape 24"/>
            <p:cNvSpPr>
              <a:spLocks noChangeArrowheads="1"/>
            </p:cNvSpPr>
            <p:nvPr/>
          </p:nvSpPr>
          <p:spPr bwMode="auto">
            <a:xfrm>
              <a:off x="1104" y="2480"/>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56" name="AutoShape 25"/>
            <p:cNvSpPr>
              <a:spLocks noChangeArrowheads="1"/>
            </p:cNvSpPr>
            <p:nvPr/>
          </p:nvSpPr>
          <p:spPr bwMode="auto">
            <a:xfrm>
              <a:off x="1104"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57" name="AutoShape 26"/>
            <p:cNvSpPr>
              <a:spLocks noChangeArrowheads="1"/>
            </p:cNvSpPr>
            <p:nvPr/>
          </p:nvSpPr>
          <p:spPr bwMode="auto">
            <a:xfrm>
              <a:off x="1953" y="249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58" name="AutoShape 27"/>
            <p:cNvSpPr>
              <a:spLocks noChangeArrowheads="1"/>
            </p:cNvSpPr>
            <p:nvPr/>
          </p:nvSpPr>
          <p:spPr bwMode="auto">
            <a:xfrm>
              <a:off x="1953"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59" name="AutoShape 28"/>
            <p:cNvSpPr>
              <a:spLocks noChangeArrowheads="1"/>
            </p:cNvSpPr>
            <p:nvPr/>
          </p:nvSpPr>
          <p:spPr bwMode="auto">
            <a:xfrm>
              <a:off x="1953"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60" name="AutoShape 29"/>
            <p:cNvSpPr>
              <a:spLocks noChangeArrowheads="1"/>
            </p:cNvSpPr>
            <p:nvPr/>
          </p:nvSpPr>
          <p:spPr bwMode="auto">
            <a:xfrm>
              <a:off x="1953" y="182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61" name="AutoShape 30"/>
            <p:cNvSpPr>
              <a:spLocks noChangeArrowheads="1"/>
            </p:cNvSpPr>
            <p:nvPr/>
          </p:nvSpPr>
          <p:spPr bwMode="auto">
            <a:xfrm>
              <a:off x="1670" y="1632"/>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0462" name="AutoShape 31"/>
            <p:cNvSpPr>
              <a:spLocks noChangeArrowheads="1"/>
            </p:cNvSpPr>
            <p:nvPr/>
          </p:nvSpPr>
          <p:spPr bwMode="auto">
            <a:xfrm>
              <a:off x="1670" y="278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63" name="AutoShape 32"/>
            <p:cNvSpPr>
              <a:spLocks noChangeArrowheads="1"/>
            </p:cNvSpPr>
            <p:nvPr/>
          </p:nvSpPr>
          <p:spPr bwMode="auto">
            <a:xfrm>
              <a:off x="1387"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64" name="AutoShape 33"/>
            <p:cNvSpPr>
              <a:spLocks noChangeArrowheads="1"/>
            </p:cNvSpPr>
            <p:nvPr/>
          </p:nvSpPr>
          <p:spPr bwMode="auto">
            <a:xfrm>
              <a:off x="1387"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65" name="AutoShape 34"/>
            <p:cNvSpPr>
              <a:spLocks noChangeArrowheads="1"/>
            </p:cNvSpPr>
            <p:nvPr/>
          </p:nvSpPr>
          <p:spPr bwMode="auto">
            <a:xfrm>
              <a:off x="2236" y="1344"/>
              <a:ext cx="192" cy="216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66" name="AutoShape 35"/>
            <p:cNvSpPr>
              <a:spLocks noChangeArrowheads="1"/>
            </p:cNvSpPr>
            <p:nvPr/>
          </p:nvSpPr>
          <p:spPr bwMode="auto">
            <a:xfrm>
              <a:off x="3936"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0467" name="AutoShape 36"/>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68" name="AutoShape 37"/>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69" name="AutoShape 38"/>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70" name="AutoShape 39"/>
            <p:cNvSpPr>
              <a:spLocks noChangeArrowheads="1"/>
            </p:cNvSpPr>
            <p:nvPr/>
          </p:nvSpPr>
          <p:spPr bwMode="auto">
            <a:xfrm>
              <a:off x="2520" y="1584"/>
              <a:ext cx="192" cy="16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71" name="AutoShape 40"/>
            <p:cNvSpPr>
              <a:spLocks noChangeArrowheads="1"/>
            </p:cNvSpPr>
            <p:nvPr/>
          </p:nvSpPr>
          <p:spPr bwMode="auto">
            <a:xfrm>
              <a:off x="2803" y="1824"/>
              <a:ext cx="192" cy="115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0472" name="AutoShape 41"/>
            <p:cNvSpPr>
              <a:spLocks noChangeArrowheads="1"/>
            </p:cNvSpPr>
            <p:nvPr/>
          </p:nvSpPr>
          <p:spPr bwMode="auto">
            <a:xfrm>
              <a:off x="3086" y="2112"/>
              <a:ext cx="192" cy="57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73" name="AutoShape 42"/>
            <p:cNvSpPr>
              <a:spLocks noChangeArrowheads="1"/>
            </p:cNvSpPr>
            <p:nvPr/>
          </p:nvSpPr>
          <p:spPr bwMode="auto">
            <a:xfrm>
              <a:off x="3369" y="1344"/>
              <a:ext cx="192" cy="768"/>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0474" name="AutoShape 43"/>
            <p:cNvSpPr>
              <a:spLocks noChangeArrowheads="1"/>
            </p:cNvSpPr>
            <p:nvPr/>
          </p:nvSpPr>
          <p:spPr bwMode="auto">
            <a:xfrm>
              <a:off x="3369" y="2736"/>
              <a:ext cx="192" cy="76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75" name="AutoShape 44"/>
            <p:cNvSpPr>
              <a:spLocks noChangeArrowheads="1"/>
            </p:cNvSpPr>
            <p:nvPr/>
          </p:nvSpPr>
          <p:spPr bwMode="auto">
            <a:xfrm>
              <a:off x="3652" y="2448"/>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0476" name="AutoShape 45"/>
            <p:cNvSpPr>
              <a:spLocks noChangeArrowheads="1"/>
            </p:cNvSpPr>
            <p:nvPr/>
          </p:nvSpPr>
          <p:spPr bwMode="auto">
            <a:xfrm>
              <a:off x="3648" y="1536"/>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230408" name="Group 46"/>
          <p:cNvGrpSpPr>
            <a:grpSpLocks/>
          </p:cNvGrpSpPr>
          <p:nvPr/>
        </p:nvGrpSpPr>
        <p:grpSpPr bwMode="auto">
          <a:xfrm>
            <a:off x="365125" y="4684713"/>
            <a:ext cx="1377950" cy="423862"/>
            <a:chOff x="1313" y="2496"/>
            <a:chExt cx="1252" cy="427"/>
          </a:xfrm>
        </p:grpSpPr>
        <p:sp>
          <p:nvSpPr>
            <p:cNvPr id="230441" name="Freeform 4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0442" name="Freeform 4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0443" name="Oval 49"/>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0444" name="Oval 50"/>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30409" name="Text Box 51"/>
          <p:cNvSpPr txBox="1">
            <a:spLocks noChangeArrowheads="1"/>
          </p:cNvSpPr>
          <p:nvPr/>
        </p:nvSpPr>
        <p:spPr bwMode="auto">
          <a:xfrm>
            <a:off x="806450" y="47164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30410" name="Freeform 52"/>
          <p:cNvSpPr>
            <a:spLocks/>
          </p:cNvSpPr>
          <p:nvPr/>
        </p:nvSpPr>
        <p:spPr bwMode="auto">
          <a:xfrm>
            <a:off x="12446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prstDash val="sysDot"/>
            <a:round/>
            <a:headEnd/>
            <a:tailEnd type="triangle" w="med" len="med"/>
          </a:ln>
        </p:spPr>
        <p:txBody>
          <a:bodyPr wrap="none" anchor="ctr"/>
          <a:lstStyle/>
          <a:p>
            <a:endParaRPr lang="en-US" dirty="0">
              <a:latin typeface="Courier New" pitchFamily="49" charset="0"/>
            </a:endParaRPr>
          </a:p>
        </p:txBody>
      </p:sp>
      <p:sp>
        <p:nvSpPr>
          <p:cNvPr id="870453" name="Freeform 53"/>
          <p:cNvSpPr>
            <a:spLocks/>
          </p:cNvSpPr>
          <p:nvPr/>
        </p:nvSpPr>
        <p:spPr bwMode="auto">
          <a:xfrm>
            <a:off x="12573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round/>
            <a:headEnd/>
            <a:tailEnd type="triangle" w="med" len="med"/>
          </a:ln>
        </p:spPr>
        <p:txBody>
          <a:bodyPr wrap="none" anchor="ctr"/>
          <a:lstStyle/>
          <a:p>
            <a:endParaRPr lang="en-US" dirty="0">
              <a:latin typeface="Courier New" pitchFamily="49" charset="0"/>
            </a:endParaRPr>
          </a:p>
        </p:txBody>
      </p:sp>
      <p:grpSp>
        <p:nvGrpSpPr>
          <p:cNvPr id="6" name="Group 54"/>
          <p:cNvGrpSpPr>
            <a:grpSpLocks/>
          </p:cNvGrpSpPr>
          <p:nvPr/>
        </p:nvGrpSpPr>
        <p:grpSpPr bwMode="auto">
          <a:xfrm>
            <a:off x="365125" y="2070100"/>
            <a:ext cx="1377950" cy="465138"/>
            <a:chOff x="230" y="1304"/>
            <a:chExt cx="868" cy="293"/>
          </a:xfrm>
        </p:grpSpPr>
        <p:sp>
          <p:nvSpPr>
            <p:cNvPr id="230436" name="Freeform 55"/>
            <p:cNvSpPr>
              <a:spLocks/>
            </p:cNvSpPr>
            <p:nvPr/>
          </p:nvSpPr>
          <p:spPr bwMode="auto">
            <a:xfrm>
              <a:off x="668" y="1308"/>
              <a:ext cx="430" cy="263"/>
            </a:xfrm>
            <a:custGeom>
              <a:avLst/>
              <a:gdLst>
                <a:gd name="T0" fmla="*/ 106 w 348"/>
                <a:gd name="T1" fmla="*/ 243 h 228"/>
                <a:gd name="T2" fmla="*/ 542 w 348"/>
                <a:gd name="T3" fmla="*/ 0 h 228"/>
                <a:gd name="T4" fmla="*/ 1530 w 348"/>
                <a:gd name="T5" fmla="*/ 621 h 228"/>
                <a:gd name="T6" fmla="*/ 938 w 348"/>
                <a:gd name="T7" fmla="*/ 358 h 228"/>
                <a:gd name="T8" fmla="*/ 1187 w 348"/>
                <a:gd name="T9" fmla="*/ 554 h 228"/>
                <a:gd name="T10" fmla="*/ 634 w 348"/>
                <a:gd name="T11" fmla="*/ 341 h 228"/>
                <a:gd name="T12" fmla="*/ 991 w 348"/>
                <a:gd name="T13" fmla="*/ 520 h 228"/>
                <a:gd name="T14" fmla="*/ 0 w 348"/>
                <a:gd name="T15" fmla="*/ 302 h 228"/>
                <a:gd name="T16" fmla="*/ 106 w 348"/>
                <a:gd name="T17" fmla="*/ 243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30437" name="Freeform 56"/>
            <p:cNvSpPr>
              <a:spLocks/>
            </p:cNvSpPr>
            <p:nvPr/>
          </p:nvSpPr>
          <p:spPr bwMode="auto">
            <a:xfrm>
              <a:off x="230" y="1304"/>
              <a:ext cx="430" cy="267"/>
            </a:xfrm>
            <a:custGeom>
              <a:avLst/>
              <a:gdLst>
                <a:gd name="T0" fmla="*/ 1415 w 348"/>
                <a:gd name="T1" fmla="*/ 240 h 231"/>
                <a:gd name="T2" fmla="*/ 991 w 348"/>
                <a:gd name="T3" fmla="*/ 0 h 231"/>
                <a:gd name="T4" fmla="*/ 0 w 348"/>
                <a:gd name="T5" fmla="*/ 637 h 231"/>
                <a:gd name="T6" fmla="*/ 660 w 348"/>
                <a:gd name="T7" fmla="*/ 370 h 231"/>
                <a:gd name="T8" fmla="*/ 344 w 348"/>
                <a:gd name="T9" fmla="*/ 571 h 231"/>
                <a:gd name="T10" fmla="*/ 938 w 348"/>
                <a:gd name="T11" fmla="*/ 366 h 231"/>
                <a:gd name="T12" fmla="*/ 609 w 348"/>
                <a:gd name="T13" fmla="*/ 547 h 231"/>
                <a:gd name="T14" fmla="*/ 1530 w 348"/>
                <a:gd name="T15" fmla="*/ 317 h 231"/>
                <a:gd name="T16" fmla="*/ 1415 w 348"/>
                <a:gd name="T17" fmla="*/ 240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30438" name="Oval 57"/>
            <p:cNvSpPr>
              <a:spLocks noChangeArrowheads="1"/>
            </p:cNvSpPr>
            <p:nvPr/>
          </p:nvSpPr>
          <p:spPr bwMode="auto">
            <a:xfrm>
              <a:off x="514" y="1356"/>
              <a:ext cx="271" cy="215"/>
            </a:xfrm>
            <a:prstGeom prst="ellipse">
              <a:avLst/>
            </a:pr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30439" name="Oval 58"/>
            <p:cNvSpPr>
              <a:spLocks noChangeArrowheads="1"/>
            </p:cNvSpPr>
            <p:nvPr/>
          </p:nvSpPr>
          <p:spPr bwMode="auto">
            <a:xfrm>
              <a:off x="668" y="1394"/>
              <a:ext cx="71" cy="60"/>
            </a:xfrm>
            <a:prstGeom prst="ellipse">
              <a:avLst/>
            </a:prstGeom>
            <a:solidFill>
              <a:srgbClr val="FFFF00"/>
            </a:solidFill>
            <a:ln w="19050">
              <a:solidFill>
                <a:schemeClr val="tx1"/>
              </a:solidFill>
              <a:round/>
              <a:headEnd/>
              <a:tailEnd/>
            </a:ln>
          </p:spPr>
          <p:txBody>
            <a:bodyPr wrap="none" anchor="ctr"/>
            <a:lstStyle/>
            <a:p>
              <a:endParaRPr lang="en-US" dirty="0">
                <a:latin typeface="Courier New" pitchFamily="49" charset="0"/>
              </a:endParaRPr>
            </a:p>
          </p:txBody>
        </p:sp>
        <p:sp>
          <p:nvSpPr>
            <p:cNvPr id="230440" name="Text Box 59"/>
            <p:cNvSpPr txBox="1">
              <a:spLocks noChangeArrowheads="1"/>
            </p:cNvSpPr>
            <p:nvPr/>
          </p:nvSpPr>
          <p:spPr bwMode="auto">
            <a:xfrm>
              <a:off x="500" y="1347"/>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+1</a:t>
              </a:r>
            </a:p>
          </p:txBody>
        </p:sp>
      </p:grpSp>
      <p:sp>
        <p:nvSpPr>
          <p:cNvPr id="870460" name="Text Box 60"/>
          <p:cNvSpPr txBox="1">
            <a:spLocks noChangeArrowheads="1"/>
          </p:cNvSpPr>
          <p:nvPr/>
        </p:nvSpPr>
        <p:spPr bwMode="auto">
          <a:xfrm>
            <a:off x="7012753" y="2638425"/>
            <a:ext cx="1424043" cy="523220"/>
          </a:xfrm>
          <a:prstGeom prst="rect">
            <a:avLst/>
          </a:prstGeom>
          <a:noFill/>
          <a:ln w="9525" algn="ctr">
            <a:noFill/>
            <a:miter lim="800000"/>
            <a:headEnd/>
            <a:tailEnd/>
          </a:ln>
        </p:spPr>
        <p:txBody>
          <a:bodyPr wrap="none">
            <a:spAutoFit/>
          </a:bodyPr>
          <a:lstStyle/>
          <a:p>
            <a:pPr algn="ctr">
              <a:spcBef>
                <a:spcPct val="0"/>
              </a:spcBef>
            </a:pPr>
            <a:r>
              <a:rPr lang="en-US" sz="2800" b="0">
                <a:solidFill>
                  <a:srgbClr val="FF9933"/>
                </a:solidFill>
                <a:latin typeface="Arial" pitchFamily="34" charset="0"/>
                <a:cs typeface="Arial" pitchFamily="34" charset="0"/>
              </a:rPr>
              <a:t>Takes 0</a:t>
            </a:r>
          </a:p>
        </p:txBody>
      </p:sp>
      <p:grpSp>
        <p:nvGrpSpPr>
          <p:cNvPr id="230414" name="Group 61"/>
          <p:cNvGrpSpPr>
            <a:grpSpLocks/>
          </p:cNvGrpSpPr>
          <p:nvPr/>
        </p:nvGrpSpPr>
        <p:grpSpPr bwMode="auto">
          <a:xfrm>
            <a:off x="365125" y="2941638"/>
            <a:ext cx="1377950" cy="423862"/>
            <a:chOff x="1313" y="2496"/>
            <a:chExt cx="1252" cy="427"/>
          </a:xfrm>
        </p:grpSpPr>
        <p:sp>
          <p:nvSpPr>
            <p:cNvPr id="230432" name="Freeform 6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33" name="Freeform 6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34" name="Oval 64"/>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0435" name="Oval 65"/>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230415" name="Group 66"/>
          <p:cNvGrpSpPr>
            <a:grpSpLocks/>
          </p:cNvGrpSpPr>
          <p:nvPr/>
        </p:nvGrpSpPr>
        <p:grpSpPr bwMode="auto">
          <a:xfrm>
            <a:off x="1343025" y="2941638"/>
            <a:ext cx="1377950" cy="444500"/>
            <a:chOff x="230" y="1853"/>
            <a:chExt cx="868" cy="280"/>
          </a:xfrm>
        </p:grpSpPr>
        <p:grpSp>
          <p:nvGrpSpPr>
            <p:cNvPr id="230426" name="Group 67"/>
            <p:cNvGrpSpPr>
              <a:grpSpLocks/>
            </p:cNvGrpSpPr>
            <p:nvPr/>
          </p:nvGrpSpPr>
          <p:grpSpPr bwMode="auto">
            <a:xfrm>
              <a:off x="230" y="1853"/>
              <a:ext cx="868" cy="267"/>
              <a:chOff x="1313" y="2496"/>
              <a:chExt cx="1252" cy="427"/>
            </a:xfrm>
          </p:grpSpPr>
          <p:sp>
            <p:nvSpPr>
              <p:cNvPr id="230428" name="Freeform 6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0429" name="Freeform 6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0430" name="Oval 7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0431" name="Oval 7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30427" name="Text Box 72"/>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230416" name="Freeform 73"/>
          <p:cNvSpPr>
            <a:spLocks/>
          </p:cNvSpPr>
          <p:nvPr/>
        </p:nvSpPr>
        <p:spPr bwMode="auto">
          <a:xfrm>
            <a:off x="1244600" y="4032250"/>
            <a:ext cx="5588000" cy="1009650"/>
          </a:xfrm>
          <a:custGeom>
            <a:avLst/>
            <a:gdLst>
              <a:gd name="T0" fmla="*/ 0 w 3520"/>
              <a:gd name="T1" fmla="*/ 2147483647 h 636"/>
              <a:gd name="T2" fmla="*/ 2147483647 w 3520"/>
              <a:gd name="T3" fmla="*/ 2147483647 h 636"/>
              <a:gd name="T4" fmla="*/ 2147483647 w 3520"/>
              <a:gd name="T5" fmla="*/ 2147483647 h 636"/>
              <a:gd name="T6" fmla="*/ 2147483647 w 3520"/>
              <a:gd name="T7" fmla="*/ 2147483647 h 636"/>
              <a:gd name="T8" fmla="*/ 2147483647 w 3520"/>
              <a:gd name="T9" fmla="*/ 2147483647 h 636"/>
              <a:gd name="T10" fmla="*/ 2147483647 w 3520"/>
              <a:gd name="T11" fmla="*/ 2147483647 h 636"/>
              <a:gd name="T12" fmla="*/ 0 60000 65536"/>
              <a:gd name="T13" fmla="*/ 0 60000 65536"/>
              <a:gd name="T14" fmla="*/ 0 60000 65536"/>
              <a:gd name="T15" fmla="*/ 0 60000 65536"/>
              <a:gd name="T16" fmla="*/ 0 60000 65536"/>
              <a:gd name="T17" fmla="*/ 0 60000 65536"/>
              <a:gd name="T18" fmla="*/ 0 w 3520"/>
              <a:gd name="T19" fmla="*/ 0 h 636"/>
              <a:gd name="T20" fmla="*/ 3520 w 3520"/>
              <a:gd name="T21" fmla="*/ 636 h 636"/>
            </a:gdLst>
            <a:ahLst/>
            <a:cxnLst>
              <a:cxn ang="T12">
                <a:pos x="T0" y="T1"/>
              </a:cxn>
              <a:cxn ang="T13">
                <a:pos x="T2" y="T3"/>
              </a:cxn>
              <a:cxn ang="T14">
                <a:pos x="T4" y="T5"/>
              </a:cxn>
              <a:cxn ang="T15">
                <a:pos x="T6" y="T7"/>
              </a:cxn>
              <a:cxn ang="T16">
                <a:pos x="T8" y="T9"/>
              </a:cxn>
              <a:cxn ang="T17">
                <a:pos x="T10" y="T11"/>
              </a:cxn>
            </a:cxnLst>
            <a:rect l="T18" t="T19" r="T20" b="T21"/>
            <a:pathLst>
              <a:path w="3520" h="636">
                <a:moveTo>
                  <a:pt x="0" y="12"/>
                </a:moveTo>
                <a:cubicBezTo>
                  <a:pt x="139" y="6"/>
                  <a:pt x="279" y="0"/>
                  <a:pt x="352" y="44"/>
                </a:cubicBezTo>
                <a:cubicBezTo>
                  <a:pt x="425" y="88"/>
                  <a:pt x="336" y="228"/>
                  <a:pt x="440" y="276"/>
                </a:cubicBezTo>
                <a:cubicBezTo>
                  <a:pt x="544" y="324"/>
                  <a:pt x="861" y="283"/>
                  <a:pt x="976" y="332"/>
                </a:cubicBezTo>
                <a:cubicBezTo>
                  <a:pt x="1091" y="381"/>
                  <a:pt x="704" y="521"/>
                  <a:pt x="1128" y="572"/>
                </a:cubicBezTo>
                <a:cubicBezTo>
                  <a:pt x="1552" y="623"/>
                  <a:pt x="3022" y="623"/>
                  <a:pt x="3520" y="636"/>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grpSp>
        <p:nvGrpSpPr>
          <p:cNvPr id="230417" name="Group 74"/>
          <p:cNvGrpSpPr>
            <a:grpSpLocks/>
          </p:cNvGrpSpPr>
          <p:nvPr/>
        </p:nvGrpSpPr>
        <p:grpSpPr bwMode="auto">
          <a:xfrm>
            <a:off x="6867525" y="4783138"/>
            <a:ext cx="1377950" cy="444500"/>
            <a:chOff x="230" y="1853"/>
            <a:chExt cx="868" cy="280"/>
          </a:xfrm>
        </p:grpSpPr>
        <p:grpSp>
          <p:nvGrpSpPr>
            <p:cNvPr id="230420" name="Group 75"/>
            <p:cNvGrpSpPr>
              <a:grpSpLocks/>
            </p:cNvGrpSpPr>
            <p:nvPr/>
          </p:nvGrpSpPr>
          <p:grpSpPr bwMode="auto">
            <a:xfrm>
              <a:off x="230" y="1853"/>
              <a:ext cx="868" cy="267"/>
              <a:chOff x="1313" y="2496"/>
              <a:chExt cx="1252" cy="427"/>
            </a:xfrm>
          </p:grpSpPr>
          <p:sp>
            <p:nvSpPr>
              <p:cNvPr id="230422" name="Freeform 76"/>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0423" name="Freeform 77"/>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0424" name="Oval 78"/>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0425" name="Oval 79"/>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30421" name="Text Box 80"/>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230418" name="Text Box 81"/>
          <p:cNvSpPr txBox="1">
            <a:spLocks noChangeArrowheads="1"/>
          </p:cNvSpPr>
          <p:nvPr/>
        </p:nvSpPr>
        <p:spPr bwMode="auto">
          <a:xfrm>
            <a:off x="6599238" y="5419725"/>
            <a:ext cx="1646237" cy="946150"/>
          </a:xfrm>
          <a:prstGeom prst="rect">
            <a:avLst/>
          </a:prstGeom>
          <a:noFill/>
          <a:ln w="9525" algn="ctr">
            <a:noFill/>
            <a:miter lim="800000"/>
            <a:headEnd/>
            <a:tailEnd/>
          </a:ln>
        </p:spPr>
        <p:txBody>
          <a:bodyPr>
            <a:spAutoFit/>
          </a:bodyPr>
          <a:lstStyle/>
          <a:p>
            <a:pPr algn="ctr">
              <a:spcBef>
                <a:spcPct val="0"/>
              </a:spcBef>
            </a:pPr>
            <a:r>
              <a:rPr lang="en-US" sz="2800" b="0">
                <a:latin typeface="Arial" pitchFamily="34" charset="0"/>
                <a:cs typeface="Arial" pitchFamily="34" charset="0"/>
              </a:rPr>
              <a:t>Takes 0 or 2</a:t>
            </a:r>
          </a:p>
        </p:txBody>
      </p:sp>
      <p:sp>
        <p:nvSpPr>
          <p:cNvPr id="870482" name="Text Box 82"/>
          <p:cNvSpPr txBox="1">
            <a:spLocks noChangeArrowheads="1"/>
          </p:cNvSpPr>
          <p:nvPr/>
        </p:nvSpPr>
        <p:spPr bwMode="auto">
          <a:xfrm>
            <a:off x="1704975" y="3489325"/>
            <a:ext cx="4852988" cy="984250"/>
          </a:xfrm>
          <a:prstGeom prst="rect">
            <a:avLst/>
          </a:prstGeom>
          <a:solidFill>
            <a:schemeClr val="bg1">
              <a:alpha val="94116"/>
            </a:schemeClr>
          </a:solidFill>
          <a:ln w="38100" algn="ctr">
            <a:solidFill>
              <a:schemeClr val="accent2"/>
            </a:solidFill>
            <a:miter lim="800000"/>
            <a:headEnd/>
            <a:tailEnd/>
          </a:ln>
        </p:spPr>
        <p:txBody>
          <a:bodyPr>
            <a:spAutoFit/>
          </a:bodyPr>
          <a:lstStyle/>
          <a:p>
            <a:pPr algn="ctr">
              <a:spcBef>
                <a:spcPct val="0"/>
              </a:spcBef>
            </a:pPr>
            <a:r>
              <a:rPr lang="en-US" sz="2800" b="0">
                <a:solidFill>
                  <a:schemeClr val="accent2"/>
                </a:solidFill>
                <a:latin typeface="Arial" pitchFamily="34" charset="0"/>
                <a:cs typeface="Arial" pitchFamily="34" charset="0"/>
              </a:rPr>
              <a:t>They can’t both take zero, and they can’t take 0 and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0453"/>
                                        </p:tgtEl>
                                        <p:attrNameLst>
                                          <p:attrName>style.visibility</p:attrName>
                                        </p:attrNameLst>
                                      </p:cBhvr>
                                      <p:to>
                                        <p:strVal val="visible"/>
                                      </p:to>
                                    </p:set>
                                    <p:animEffect transition="in" filter="blinds(horizontal)">
                                      <p:cBhvr>
                                        <p:cTn id="7" dur="500"/>
                                        <p:tgtEl>
                                          <p:spTgt spid="870453"/>
                                        </p:tgtEl>
                                      </p:cBhvr>
                                    </p:animEffect>
                                  </p:childTnLst>
                                </p:cTn>
                              </p:par>
                              <p:par>
                                <p:cTn id="8" presetID="0" presetClass="path" presetSubtype="0" accel="50000" decel="50000" fill="hold" nodeType="withEffect">
                                  <p:stCondLst>
                                    <p:cond delay="0"/>
                                  </p:stCondLst>
                                  <p:childTnLst>
                                    <p:animMotion origin="layout" path="M 2.22222E-6 0.00416 C 0.03177 -0.00162 0.06371 -0.00741 0.08038 -0.00116 C 0.09739 0.00509 0.08264 0.03125 0.10035 0.04166 C 0.11823 0.05231 0.17187 0.05231 0.18802 0.06134 C 0.20434 0.0706 0.14774 0.08981 0.19809 0.09722 C 0.24844 0.1044 0.43871 0.12245 0.48958 0.10602 C 0.54045 0.08981 0.47396 0.02129 0.50243 -0.00116 C 0.5309 -0.02338 0.59583 -0.0257 0.66111 -0.02778 " pathEditMode="relative" rAng="0" ptsTypes="aaaaaaaA">
                                      <p:cBhvr>
                                        <p:cTn id="9" dur="2000" fill="hold"/>
                                        <p:tgtEl>
                                          <p:spTgt spid="6"/>
                                        </p:tgtEl>
                                        <p:attrNameLst>
                                          <p:attrName>ppt_x</p:attrName>
                                          <p:attrName>ppt_y</p:attrName>
                                        </p:attrNameLst>
                                      </p:cBhvr>
                                      <p:rCtr x="33100" y="4300"/>
                                    </p:animMotion>
                                  </p:childTnLst>
                                </p:cTn>
                              </p:par>
                            </p:childTnLst>
                          </p:cTn>
                        </p:par>
                        <p:par>
                          <p:cTn id="10" fill="hold">
                            <p:stCondLst>
                              <p:cond delay="2000"/>
                            </p:stCondLst>
                            <p:childTnLst>
                              <p:par>
                                <p:cTn id="11" presetID="3" presetClass="entr" presetSubtype="10" fill="hold" grpId="0" nodeType="afterEffect">
                                  <p:stCondLst>
                                    <p:cond delay="0"/>
                                  </p:stCondLst>
                                  <p:childTnLst>
                                    <p:set>
                                      <p:cBhvr>
                                        <p:cTn id="12" dur="1" fill="hold">
                                          <p:stCondLst>
                                            <p:cond delay="0"/>
                                          </p:stCondLst>
                                        </p:cTn>
                                        <p:tgtEl>
                                          <p:spTgt spid="870460"/>
                                        </p:tgtEl>
                                        <p:attrNameLst>
                                          <p:attrName>style.visibility</p:attrName>
                                        </p:attrNameLst>
                                      </p:cBhvr>
                                      <p:to>
                                        <p:strVal val="visible"/>
                                      </p:to>
                                    </p:set>
                                    <p:animEffect transition="in" filter="blinds(horizontal)">
                                      <p:cBhvr>
                                        <p:cTn id="13" dur="500"/>
                                        <p:tgtEl>
                                          <p:spTgt spid="870460"/>
                                        </p:tgtEl>
                                      </p:cBhvr>
                                    </p:animEffect>
                                  </p:childTnLst>
                                </p:cTn>
                              </p:par>
                            </p:childTnLst>
                          </p:cTn>
                        </p:par>
                        <p:par>
                          <p:cTn id="14" fill="hold">
                            <p:stCondLst>
                              <p:cond delay="2500"/>
                            </p:stCondLst>
                            <p:childTnLst>
                              <p:par>
                                <p:cTn id="15" presetID="3" presetClass="entr" presetSubtype="10" fill="hold" grpId="0" nodeType="afterEffect">
                                  <p:stCondLst>
                                    <p:cond delay="0"/>
                                  </p:stCondLst>
                                  <p:childTnLst>
                                    <p:set>
                                      <p:cBhvr>
                                        <p:cTn id="16" dur="1" fill="hold">
                                          <p:stCondLst>
                                            <p:cond delay="0"/>
                                          </p:stCondLst>
                                        </p:cTn>
                                        <p:tgtEl>
                                          <p:spTgt spid="870482"/>
                                        </p:tgtEl>
                                        <p:attrNameLst>
                                          <p:attrName>style.visibility</p:attrName>
                                        </p:attrNameLst>
                                      </p:cBhvr>
                                      <p:to>
                                        <p:strVal val="visible"/>
                                      </p:to>
                                    </p:set>
                                    <p:animEffect transition="in" filter="blinds(horizontal)">
                                      <p:cBhvr>
                                        <p:cTn id="17" dur="500"/>
                                        <p:tgtEl>
                                          <p:spTgt spid="87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3" grpId="0" animBg="1"/>
      <p:bldP spid="870460" grpId="0"/>
      <p:bldP spid="870482" grpId="0" animBg="1"/>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4188AF9-3FF8-4DB6-8819-3B486FC5104B}" type="slidenum">
              <a:rPr lang="en-US"/>
              <a:pPr>
                <a:defRPr/>
              </a:pPr>
              <a:t>232</a:t>
            </a:fld>
            <a:endParaRPr lang="en-US"/>
          </a:p>
        </p:txBody>
      </p:sp>
      <p:sp>
        <p:nvSpPr>
          <p:cNvPr id="231428" name="Rectangle 2"/>
          <p:cNvSpPr>
            <a:spLocks noGrp="1" noChangeArrowheads="1"/>
          </p:cNvSpPr>
          <p:nvPr>
            <p:ph type="title"/>
          </p:nvPr>
        </p:nvSpPr>
        <p:spPr/>
        <p:txBody>
          <a:bodyPr/>
          <a:lstStyle/>
          <a:p>
            <a:r>
              <a:rPr lang="en-US" sz="4000"/>
              <a:t>First,Second, &amp; Third Tokens must be Ordered</a:t>
            </a:r>
          </a:p>
        </p:txBody>
      </p:sp>
      <p:sp>
        <p:nvSpPr>
          <p:cNvPr id="231429" name="Rectangle 3"/>
          <p:cNvSpPr>
            <a:spLocks noGrp="1" noChangeArrowheads="1"/>
          </p:cNvSpPr>
          <p:nvPr>
            <p:ph type="body" idx="1"/>
          </p:nvPr>
        </p:nvSpPr>
        <p:spPr/>
        <p:txBody>
          <a:bodyPr/>
          <a:lstStyle/>
          <a:p>
            <a:r>
              <a:rPr lang="en-US"/>
              <a:t>Third (+2) token</a:t>
            </a:r>
          </a:p>
          <a:p>
            <a:pPr lvl="1"/>
            <a:r>
              <a:rPr lang="en-US"/>
              <a:t>Did not observe +1 token</a:t>
            </a:r>
          </a:p>
          <a:p>
            <a:pPr lvl="1"/>
            <a:r>
              <a:rPr lang="en-US"/>
              <a:t>May have observed earlier +2 token</a:t>
            </a:r>
          </a:p>
          <a:p>
            <a:pPr lvl="1"/>
            <a:r>
              <a:rPr lang="en-US"/>
              <a:t>Takes an even number</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EDAD871B-2402-4031-A407-B5F8BCF717C7}" type="slidenum">
              <a:rPr lang="en-US"/>
              <a:pPr>
                <a:defRPr/>
              </a:pPr>
              <a:t>233</a:t>
            </a:fld>
            <a:endParaRPr lang="en-US"/>
          </a:p>
        </p:txBody>
      </p:sp>
      <p:sp>
        <p:nvSpPr>
          <p:cNvPr id="232452" name="Rectangle 2"/>
          <p:cNvSpPr>
            <a:spLocks noGrp="1" noChangeArrowheads="1"/>
          </p:cNvSpPr>
          <p:nvPr>
            <p:ph type="title"/>
          </p:nvPr>
        </p:nvSpPr>
        <p:spPr/>
        <p:txBody>
          <a:bodyPr/>
          <a:lstStyle/>
          <a:p>
            <a:r>
              <a:rPr lang="en-US" sz="4000"/>
              <a:t>First,Second, &amp; Third Tokens must be Ordered</a:t>
            </a:r>
          </a:p>
        </p:txBody>
      </p:sp>
      <p:sp>
        <p:nvSpPr>
          <p:cNvPr id="232453" name="Rectangle 3"/>
          <p:cNvSpPr>
            <a:spLocks noGrp="1" noChangeArrowheads="1"/>
          </p:cNvSpPr>
          <p:nvPr>
            <p:ph type="body" idx="1"/>
          </p:nvPr>
        </p:nvSpPr>
        <p:spPr/>
        <p:txBody>
          <a:bodyPr/>
          <a:lstStyle/>
          <a:p>
            <a:r>
              <a:rPr lang="en-US"/>
              <a:t>Because +1 token’s path is disjoint</a:t>
            </a:r>
          </a:p>
          <a:p>
            <a:pPr lvl="1"/>
            <a:r>
              <a:rPr lang="en-US"/>
              <a:t>It chooses 0</a:t>
            </a:r>
          </a:p>
          <a:p>
            <a:pPr lvl="1"/>
            <a:r>
              <a:rPr lang="en-US"/>
              <a:t>Ordered first</a:t>
            </a:r>
          </a:p>
          <a:p>
            <a:pPr lvl="1"/>
            <a:r>
              <a:rPr lang="en-US"/>
              <a:t>Rest take odd numbers</a:t>
            </a:r>
          </a:p>
          <a:p>
            <a:r>
              <a:rPr lang="en-US"/>
              <a:t>But last token takes an even number</a:t>
            </a:r>
          </a:p>
          <a:p>
            <a:r>
              <a:rPr lang="en-US"/>
              <a:t>Something’s wrong!</a:t>
            </a:r>
          </a:p>
          <a:p>
            <a:pPr lvl="1"/>
            <a:endParaRPr lang="en-US"/>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Footer Placeholder 3"/>
          <p:cNvSpPr>
            <a:spLocks noGrp="1"/>
          </p:cNvSpPr>
          <p:nvPr>
            <p:ph type="ftr" sz="quarter" idx="10"/>
          </p:nvPr>
        </p:nvSpPr>
        <p:spPr/>
        <p:txBody>
          <a:bodyPr/>
          <a:lstStyle/>
          <a:p>
            <a:pPr>
              <a:defRPr/>
            </a:pPr>
            <a:r>
              <a:rPr lang="en-US"/>
              <a:t>Art of Multiprocessor Programming</a:t>
            </a:r>
          </a:p>
        </p:txBody>
      </p:sp>
      <p:sp>
        <p:nvSpPr>
          <p:cNvPr id="76" name="Slide Number Placeholder 4"/>
          <p:cNvSpPr>
            <a:spLocks noGrp="1"/>
          </p:cNvSpPr>
          <p:nvPr>
            <p:ph type="sldNum" sz="quarter" idx="11"/>
          </p:nvPr>
        </p:nvSpPr>
        <p:spPr/>
        <p:txBody>
          <a:bodyPr/>
          <a:lstStyle/>
          <a:p>
            <a:pPr>
              <a:defRPr/>
            </a:pPr>
            <a:fld id="{65DEB3EC-F713-428E-9D2F-9A1AD9CA45D2}" type="slidenum">
              <a:rPr lang="en-US"/>
              <a:pPr>
                <a:defRPr/>
              </a:pPr>
              <a:t>234</a:t>
            </a:fld>
            <a:endParaRPr lang="en-US"/>
          </a:p>
        </p:txBody>
      </p:sp>
      <p:grpSp>
        <p:nvGrpSpPr>
          <p:cNvPr id="233476" name="Group 2"/>
          <p:cNvGrpSpPr>
            <a:grpSpLocks/>
          </p:cNvGrpSpPr>
          <p:nvPr/>
        </p:nvGrpSpPr>
        <p:grpSpPr bwMode="auto">
          <a:xfrm>
            <a:off x="377825" y="3881438"/>
            <a:ext cx="1377950" cy="423862"/>
            <a:chOff x="1313" y="2496"/>
            <a:chExt cx="1252" cy="427"/>
          </a:xfrm>
        </p:grpSpPr>
        <p:sp>
          <p:nvSpPr>
            <p:cNvPr id="233545"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3546"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3547"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3548"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233477" name="Rectangle 7"/>
          <p:cNvSpPr>
            <a:spLocks noGrp="1" noChangeArrowheads="1"/>
          </p:cNvSpPr>
          <p:nvPr>
            <p:ph type="title"/>
          </p:nvPr>
        </p:nvSpPr>
        <p:spPr/>
        <p:txBody>
          <a:bodyPr/>
          <a:lstStyle/>
          <a:p>
            <a:r>
              <a:rPr lang="en-US"/>
              <a:t>Third Token</a:t>
            </a:r>
          </a:p>
        </p:txBody>
      </p:sp>
      <p:grpSp>
        <p:nvGrpSpPr>
          <p:cNvPr id="233478" name="Group 8"/>
          <p:cNvGrpSpPr>
            <a:grpSpLocks/>
          </p:cNvGrpSpPr>
          <p:nvPr/>
        </p:nvGrpSpPr>
        <p:grpSpPr bwMode="auto">
          <a:xfrm>
            <a:off x="1562100" y="2133600"/>
            <a:ext cx="5410200" cy="3429000"/>
            <a:chOff x="984" y="1344"/>
            <a:chExt cx="3408" cy="2160"/>
          </a:xfrm>
        </p:grpSpPr>
        <p:sp>
          <p:nvSpPr>
            <p:cNvPr id="233513" name="Line 9"/>
            <p:cNvSpPr>
              <a:spLocks noChangeShapeType="1"/>
            </p:cNvSpPr>
            <p:nvPr/>
          </p:nvSpPr>
          <p:spPr bwMode="auto">
            <a:xfrm>
              <a:off x="984" y="1440"/>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3514" name="Line 10"/>
            <p:cNvSpPr>
              <a:spLocks noChangeShapeType="1"/>
            </p:cNvSpPr>
            <p:nvPr/>
          </p:nvSpPr>
          <p:spPr bwMode="auto">
            <a:xfrm>
              <a:off x="984" y="1721"/>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3515" name="Line 11"/>
            <p:cNvSpPr>
              <a:spLocks noChangeShapeType="1"/>
            </p:cNvSpPr>
            <p:nvPr/>
          </p:nvSpPr>
          <p:spPr bwMode="auto">
            <a:xfrm>
              <a:off x="984" y="2002"/>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3516" name="Line 12"/>
            <p:cNvSpPr>
              <a:spLocks noChangeShapeType="1"/>
            </p:cNvSpPr>
            <p:nvPr/>
          </p:nvSpPr>
          <p:spPr bwMode="auto">
            <a:xfrm>
              <a:off x="984" y="2283"/>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3517" name="Line 13"/>
            <p:cNvSpPr>
              <a:spLocks noChangeShapeType="1"/>
            </p:cNvSpPr>
            <p:nvPr/>
          </p:nvSpPr>
          <p:spPr bwMode="auto">
            <a:xfrm>
              <a:off x="984" y="2564"/>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3518" name="Line 14"/>
            <p:cNvSpPr>
              <a:spLocks noChangeShapeType="1"/>
            </p:cNvSpPr>
            <p:nvPr/>
          </p:nvSpPr>
          <p:spPr bwMode="auto">
            <a:xfrm>
              <a:off x="984" y="2845"/>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3519" name="Line 15"/>
            <p:cNvSpPr>
              <a:spLocks noChangeShapeType="1"/>
            </p:cNvSpPr>
            <p:nvPr/>
          </p:nvSpPr>
          <p:spPr bwMode="auto">
            <a:xfrm>
              <a:off x="984" y="3126"/>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3520" name="Line 16"/>
            <p:cNvSpPr>
              <a:spLocks noChangeShapeType="1"/>
            </p:cNvSpPr>
            <p:nvPr/>
          </p:nvSpPr>
          <p:spPr bwMode="auto">
            <a:xfrm>
              <a:off x="984" y="3408"/>
              <a:ext cx="3408" cy="0"/>
            </a:xfrm>
            <a:prstGeom prst="line">
              <a:avLst/>
            </a:prstGeom>
            <a:noFill/>
            <a:ln w="38100">
              <a:solidFill>
                <a:schemeClr val="tx1"/>
              </a:solidFill>
              <a:round/>
              <a:headEnd/>
              <a:tailEnd type="triangle" w="med" len="med"/>
            </a:ln>
          </p:spPr>
          <p:txBody>
            <a:bodyPr wrap="none" anchor="ctr"/>
            <a:lstStyle/>
            <a:p>
              <a:endParaRPr lang="en-US" dirty="0">
                <a:latin typeface="Courier New" pitchFamily="49" charset="0"/>
              </a:endParaRPr>
            </a:p>
          </p:txBody>
        </p:sp>
        <p:sp>
          <p:nvSpPr>
            <p:cNvPr id="233521" name="AutoShape 17"/>
            <p:cNvSpPr>
              <a:spLocks noChangeArrowheads="1"/>
            </p:cNvSpPr>
            <p:nvPr/>
          </p:nvSpPr>
          <p:spPr bwMode="auto">
            <a:xfrm>
              <a:off x="1104"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3522" name="AutoShape 18"/>
            <p:cNvSpPr>
              <a:spLocks noChangeArrowheads="1"/>
            </p:cNvSpPr>
            <p:nvPr/>
          </p:nvSpPr>
          <p:spPr bwMode="auto">
            <a:xfrm>
              <a:off x="1104" y="188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23" name="AutoShape 19"/>
            <p:cNvSpPr>
              <a:spLocks noChangeArrowheads="1"/>
            </p:cNvSpPr>
            <p:nvPr/>
          </p:nvSpPr>
          <p:spPr bwMode="auto">
            <a:xfrm>
              <a:off x="1104" y="2480"/>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24" name="AutoShape 20"/>
            <p:cNvSpPr>
              <a:spLocks noChangeArrowheads="1"/>
            </p:cNvSpPr>
            <p:nvPr/>
          </p:nvSpPr>
          <p:spPr bwMode="auto">
            <a:xfrm>
              <a:off x="1104"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25" name="AutoShape 21"/>
            <p:cNvSpPr>
              <a:spLocks noChangeArrowheads="1"/>
            </p:cNvSpPr>
            <p:nvPr/>
          </p:nvSpPr>
          <p:spPr bwMode="auto">
            <a:xfrm>
              <a:off x="1953" y="249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26" name="AutoShape 22"/>
            <p:cNvSpPr>
              <a:spLocks noChangeArrowheads="1"/>
            </p:cNvSpPr>
            <p:nvPr/>
          </p:nvSpPr>
          <p:spPr bwMode="auto">
            <a:xfrm>
              <a:off x="1953"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27" name="AutoShape 23"/>
            <p:cNvSpPr>
              <a:spLocks noChangeArrowheads="1"/>
            </p:cNvSpPr>
            <p:nvPr/>
          </p:nvSpPr>
          <p:spPr bwMode="auto">
            <a:xfrm>
              <a:off x="1953" y="134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28" name="AutoShape 24"/>
            <p:cNvSpPr>
              <a:spLocks noChangeArrowheads="1"/>
            </p:cNvSpPr>
            <p:nvPr/>
          </p:nvSpPr>
          <p:spPr bwMode="auto">
            <a:xfrm>
              <a:off x="1953" y="182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29" name="AutoShape 25"/>
            <p:cNvSpPr>
              <a:spLocks noChangeArrowheads="1"/>
            </p:cNvSpPr>
            <p:nvPr/>
          </p:nvSpPr>
          <p:spPr bwMode="auto">
            <a:xfrm>
              <a:off x="1670" y="1632"/>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3530" name="AutoShape 26"/>
            <p:cNvSpPr>
              <a:spLocks noChangeArrowheads="1"/>
            </p:cNvSpPr>
            <p:nvPr/>
          </p:nvSpPr>
          <p:spPr bwMode="auto">
            <a:xfrm>
              <a:off x="1670" y="2784"/>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31" name="AutoShape 27"/>
            <p:cNvSpPr>
              <a:spLocks noChangeArrowheads="1"/>
            </p:cNvSpPr>
            <p:nvPr/>
          </p:nvSpPr>
          <p:spPr bwMode="auto">
            <a:xfrm>
              <a:off x="1387" y="2496"/>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32" name="AutoShape 28"/>
            <p:cNvSpPr>
              <a:spLocks noChangeArrowheads="1"/>
            </p:cNvSpPr>
            <p:nvPr/>
          </p:nvSpPr>
          <p:spPr bwMode="auto">
            <a:xfrm>
              <a:off x="1387" y="1344"/>
              <a:ext cx="192" cy="100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33" name="AutoShape 29"/>
            <p:cNvSpPr>
              <a:spLocks noChangeArrowheads="1"/>
            </p:cNvSpPr>
            <p:nvPr/>
          </p:nvSpPr>
          <p:spPr bwMode="auto">
            <a:xfrm>
              <a:off x="2236" y="1344"/>
              <a:ext cx="192" cy="216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34" name="AutoShape 30"/>
            <p:cNvSpPr>
              <a:spLocks noChangeArrowheads="1"/>
            </p:cNvSpPr>
            <p:nvPr/>
          </p:nvSpPr>
          <p:spPr bwMode="auto">
            <a:xfrm>
              <a:off x="3936" y="1344"/>
              <a:ext cx="192" cy="43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3535" name="AutoShape 31"/>
            <p:cNvSpPr>
              <a:spLocks noChangeArrowheads="1"/>
            </p:cNvSpPr>
            <p:nvPr/>
          </p:nvSpPr>
          <p:spPr bwMode="auto">
            <a:xfrm>
              <a:off x="3936" y="1936"/>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36" name="AutoShape 32"/>
            <p:cNvSpPr>
              <a:spLocks noChangeArrowheads="1"/>
            </p:cNvSpPr>
            <p:nvPr/>
          </p:nvSpPr>
          <p:spPr bwMode="auto">
            <a:xfrm>
              <a:off x="3936" y="2528"/>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37" name="AutoShape 33"/>
            <p:cNvSpPr>
              <a:spLocks noChangeArrowheads="1"/>
            </p:cNvSpPr>
            <p:nvPr/>
          </p:nvSpPr>
          <p:spPr bwMode="auto">
            <a:xfrm>
              <a:off x="3936" y="3072"/>
              <a:ext cx="192" cy="432"/>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38" name="AutoShape 34"/>
            <p:cNvSpPr>
              <a:spLocks noChangeArrowheads="1"/>
            </p:cNvSpPr>
            <p:nvPr/>
          </p:nvSpPr>
          <p:spPr bwMode="auto">
            <a:xfrm>
              <a:off x="2520" y="1584"/>
              <a:ext cx="192" cy="168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39" name="AutoShape 35"/>
            <p:cNvSpPr>
              <a:spLocks noChangeArrowheads="1"/>
            </p:cNvSpPr>
            <p:nvPr/>
          </p:nvSpPr>
          <p:spPr bwMode="auto">
            <a:xfrm>
              <a:off x="2803" y="1824"/>
              <a:ext cx="192" cy="1152"/>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3540" name="AutoShape 36"/>
            <p:cNvSpPr>
              <a:spLocks noChangeArrowheads="1"/>
            </p:cNvSpPr>
            <p:nvPr/>
          </p:nvSpPr>
          <p:spPr bwMode="auto">
            <a:xfrm>
              <a:off x="3086" y="2112"/>
              <a:ext cx="192" cy="57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41" name="AutoShape 37"/>
            <p:cNvSpPr>
              <a:spLocks noChangeArrowheads="1"/>
            </p:cNvSpPr>
            <p:nvPr/>
          </p:nvSpPr>
          <p:spPr bwMode="auto">
            <a:xfrm>
              <a:off x="3369" y="1344"/>
              <a:ext cx="192" cy="768"/>
            </a:xfrm>
            <a:prstGeom prst="roundRect">
              <a:avLst>
                <a:gd name="adj" fmla="val 16667"/>
              </a:avLst>
            </a:pr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33542" name="AutoShape 38"/>
            <p:cNvSpPr>
              <a:spLocks noChangeArrowheads="1"/>
            </p:cNvSpPr>
            <p:nvPr/>
          </p:nvSpPr>
          <p:spPr bwMode="auto">
            <a:xfrm>
              <a:off x="3369" y="2736"/>
              <a:ext cx="192" cy="768"/>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43" name="AutoShape 39"/>
            <p:cNvSpPr>
              <a:spLocks noChangeArrowheads="1"/>
            </p:cNvSpPr>
            <p:nvPr/>
          </p:nvSpPr>
          <p:spPr bwMode="auto">
            <a:xfrm>
              <a:off x="3652" y="2448"/>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3544" name="AutoShape 40"/>
            <p:cNvSpPr>
              <a:spLocks noChangeArrowheads="1"/>
            </p:cNvSpPr>
            <p:nvPr/>
          </p:nvSpPr>
          <p:spPr bwMode="auto">
            <a:xfrm>
              <a:off x="3648" y="1536"/>
              <a:ext cx="192" cy="816"/>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grpSp>
        <p:nvGrpSpPr>
          <p:cNvPr id="233479" name="Group 41"/>
          <p:cNvGrpSpPr>
            <a:grpSpLocks/>
          </p:cNvGrpSpPr>
          <p:nvPr/>
        </p:nvGrpSpPr>
        <p:grpSpPr bwMode="auto">
          <a:xfrm>
            <a:off x="365125" y="4684713"/>
            <a:ext cx="1377950" cy="423862"/>
            <a:chOff x="1313" y="2496"/>
            <a:chExt cx="1252" cy="427"/>
          </a:xfrm>
        </p:grpSpPr>
        <p:sp>
          <p:nvSpPr>
            <p:cNvPr id="233509" name="Freeform 4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3510" name="Freeform 4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3511" name="Oval 44"/>
            <p:cNvSpPr>
              <a:spLocks noChangeArrowheads="1"/>
            </p:cNvSpPr>
            <p:nvPr/>
          </p:nvSpPr>
          <p:spPr bwMode="auto">
            <a:xfrm>
              <a:off x="1722" y="2579"/>
              <a:ext cx="391" cy="344"/>
            </a:xfrm>
            <a:prstGeom prst="ellipse">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33512" name="Oval 45"/>
            <p:cNvSpPr>
              <a:spLocks noChangeArrowheads="1"/>
            </p:cNvSpPr>
            <p:nvPr/>
          </p:nvSpPr>
          <p:spPr bwMode="auto">
            <a:xfrm>
              <a:off x="1945" y="2640"/>
              <a:ext cx="102" cy="96"/>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33480" name="Group 46"/>
          <p:cNvGrpSpPr>
            <a:grpSpLocks/>
          </p:cNvGrpSpPr>
          <p:nvPr/>
        </p:nvGrpSpPr>
        <p:grpSpPr bwMode="auto">
          <a:xfrm>
            <a:off x="365125" y="2070100"/>
            <a:ext cx="1377950" cy="465138"/>
            <a:chOff x="230" y="1304"/>
            <a:chExt cx="868" cy="293"/>
          </a:xfrm>
        </p:grpSpPr>
        <p:sp>
          <p:nvSpPr>
            <p:cNvPr id="233504" name="Freeform 47"/>
            <p:cNvSpPr>
              <a:spLocks/>
            </p:cNvSpPr>
            <p:nvPr/>
          </p:nvSpPr>
          <p:spPr bwMode="auto">
            <a:xfrm>
              <a:off x="668" y="1308"/>
              <a:ext cx="430" cy="263"/>
            </a:xfrm>
            <a:custGeom>
              <a:avLst/>
              <a:gdLst>
                <a:gd name="T0" fmla="*/ 106 w 348"/>
                <a:gd name="T1" fmla="*/ 243 h 228"/>
                <a:gd name="T2" fmla="*/ 542 w 348"/>
                <a:gd name="T3" fmla="*/ 0 h 228"/>
                <a:gd name="T4" fmla="*/ 1530 w 348"/>
                <a:gd name="T5" fmla="*/ 621 h 228"/>
                <a:gd name="T6" fmla="*/ 938 w 348"/>
                <a:gd name="T7" fmla="*/ 358 h 228"/>
                <a:gd name="T8" fmla="*/ 1187 w 348"/>
                <a:gd name="T9" fmla="*/ 554 h 228"/>
                <a:gd name="T10" fmla="*/ 634 w 348"/>
                <a:gd name="T11" fmla="*/ 341 h 228"/>
                <a:gd name="T12" fmla="*/ 991 w 348"/>
                <a:gd name="T13" fmla="*/ 520 h 228"/>
                <a:gd name="T14" fmla="*/ 0 w 348"/>
                <a:gd name="T15" fmla="*/ 302 h 228"/>
                <a:gd name="T16" fmla="*/ 106 w 348"/>
                <a:gd name="T17" fmla="*/ 243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33505" name="Freeform 48"/>
            <p:cNvSpPr>
              <a:spLocks/>
            </p:cNvSpPr>
            <p:nvPr/>
          </p:nvSpPr>
          <p:spPr bwMode="auto">
            <a:xfrm>
              <a:off x="230" y="1304"/>
              <a:ext cx="430" cy="267"/>
            </a:xfrm>
            <a:custGeom>
              <a:avLst/>
              <a:gdLst>
                <a:gd name="T0" fmla="*/ 1415 w 348"/>
                <a:gd name="T1" fmla="*/ 240 h 231"/>
                <a:gd name="T2" fmla="*/ 991 w 348"/>
                <a:gd name="T3" fmla="*/ 0 h 231"/>
                <a:gd name="T4" fmla="*/ 0 w 348"/>
                <a:gd name="T5" fmla="*/ 637 h 231"/>
                <a:gd name="T6" fmla="*/ 660 w 348"/>
                <a:gd name="T7" fmla="*/ 370 h 231"/>
                <a:gd name="T8" fmla="*/ 344 w 348"/>
                <a:gd name="T9" fmla="*/ 571 h 231"/>
                <a:gd name="T10" fmla="*/ 938 w 348"/>
                <a:gd name="T11" fmla="*/ 366 h 231"/>
                <a:gd name="T12" fmla="*/ 609 w 348"/>
                <a:gd name="T13" fmla="*/ 547 h 231"/>
                <a:gd name="T14" fmla="*/ 1530 w 348"/>
                <a:gd name="T15" fmla="*/ 317 h 231"/>
                <a:gd name="T16" fmla="*/ 1415 w 348"/>
                <a:gd name="T17" fmla="*/ 240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33506" name="Oval 49"/>
            <p:cNvSpPr>
              <a:spLocks noChangeArrowheads="1"/>
            </p:cNvSpPr>
            <p:nvPr/>
          </p:nvSpPr>
          <p:spPr bwMode="auto">
            <a:xfrm>
              <a:off x="514" y="1356"/>
              <a:ext cx="271" cy="215"/>
            </a:xfrm>
            <a:prstGeom prst="ellipse">
              <a:avLst/>
            </a:prstGeom>
            <a:solidFill>
              <a:srgbClr val="FF9933"/>
            </a:solidFill>
            <a:ln w="38100">
              <a:solidFill>
                <a:schemeClr val="tx1"/>
              </a:solidFill>
              <a:round/>
              <a:headEnd/>
              <a:tailEnd/>
            </a:ln>
          </p:spPr>
          <p:txBody>
            <a:bodyPr wrap="none" anchor="ctr"/>
            <a:lstStyle/>
            <a:p>
              <a:endParaRPr lang="en-US" dirty="0">
                <a:latin typeface="Courier New" pitchFamily="49" charset="0"/>
              </a:endParaRPr>
            </a:p>
          </p:txBody>
        </p:sp>
        <p:sp>
          <p:nvSpPr>
            <p:cNvPr id="233507" name="Oval 50"/>
            <p:cNvSpPr>
              <a:spLocks noChangeArrowheads="1"/>
            </p:cNvSpPr>
            <p:nvPr/>
          </p:nvSpPr>
          <p:spPr bwMode="auto">
            <a:xfrm>
              <a:off x="668" y="1394"/>
              <a:ext cx="71" cy="60"/>
            </a:xfrm>
            <a:prstGeom prst="ellipse">
              <a:avLst/>
            </a:prstGeom>
            <a:solidFill>
              <a:srgbClr val="FFFF00"/>
            </a:solidFill>
            <a:ln w="19050">
              <a:solidFill>
                <a:schemeClr val="tx1"/>
              </a:solidFill>
              <a:round/>
              <a:headEnd/>
              <a:tailEnd/>
            </a:ln>
          </p:spPr>
          <p:txBody>
            <a:bodyPr wrap="none" anchor="ctr"/>
            <a:lstStyle/>
            <a:p>
              <a:endParaRPr lang="en-US" dirty="0">
                <a:latin typeface="Courier New" pitchFamily="49" charset="0"/>
              </a:endParaRPr>
            </a:p>
          </p:txBody>
        </p:sp>
        <p:sp>
          <p:nvSpPr>
            <p:cNvPr id="233508" name="Text Box 51"/>
            <p:cNvSpPr txBox="1">
              <a:spLocks noChangeArrowheads="1"/>
            </p:cNvSpPr>
            <p:nvPr/>
          </p:nvSpPr>
          <p:spPr bwMode="auto">
            <a:xfrm>
              <a:off x="500" y="1347"/>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+1</a:t>
              </a:r>
            </a:p>
          </p:txBody>
        </p:sp>
      </p:grpSp>
      <p:sp>
        <p:nvSpPr>
          <p:cNvPr id="233481" name="Text Box 52"/>
          <p:cNvSpPr txBox="1">
            <a:spLocks noChangeArrowheads="1"/>
          </p:cNvSpPr>
          <p:nvPr/>
        </p:nvSpPr>
        <p:spPr bwMode="auto">
          <a:xfrm>
            <a:off x="806450" y="4716463"/>
            <a:ext cx="495300" cy="396875"/>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sp>
        <p:nvSpPr>
          <p:cNvPr id="233482" name="Freeform 53"/>
          <p:cNvSpPr>
            <a:spLocks/>
          </p:cNvSpPr>
          <p:nvPr/>
        </p:nvSpPr>
        <p:spPr bwMode="auto">
          <a:xfrm>
            <a:off x="1244600" y="2151063"/>
            <a:ext cx="5702300" cy="1035050"/>
          </a:xfrm>
          <a:custGeom>
            <a:avLst/>
            <a:gdLst>
              <a:gd name="T0" fmla="*/ 0 w 3592"/>
              <a:gd name="T1" fmla="*/ 2147483647 h 652"/>
              <a:gd name="T2" fmla="*/ 2147483647 w 3592"/>
              <a:gd name="T3" fmla="*/ 2147483647 h 652"/>
              <a:gd name="T4" fmla="*/ 2147483647 w 3592"/>
              <a:gd name="T5" fmla="*/ 2147483647 h 652"/>
              <a:gd name="T6" fmla="*/ 2147483647 w 3592"/>
              <a:gd name="T7" fmla="*/ 2147483647 h 652"/>
              <a:gd name="T8" fmla="*/ 2147483647 w 3592"/>
              <a:gd name="T9" fmla="*/ 2147483647 h 652"/>
              <a:gd name="T10" fmla="*/ 2147483647 w 3592"/>
              <a:gd name="T11" fmla="*/ 2147483647 h 652"/>
              <a:gd name="T12" fmla="*/ 2147483647 w 3592"/>
              <a:gd name="T13" fmla="*/ 2147483647 h 652"/>
              <a:gd name="T14" fmla="*/ 2147483647 w 3592"/>
              <a:gd name="T15" fmla="*/ 2147483647 h 652"/>
              <a:gd name="T16" fmla="*/ 0 60000 65536"/>
              <a:gd name="T17" fmla="*/ 0 60000 65536"/>
              <a:gd name="T18" fmla="*/ 0 60000 65536"/>
              <a:gd name="T19" fmla="*/ 0 60000 65536"/>
              <a:gd name="T20" fmla="*/ 0 60000 65536"/>
              <a:gd name="T21" fmla="*/ 0 60000 65536"/>
              <a:gd name="T22" fmla="*/ 0 60000 65536"/>
              <a:gd name="T23" fmla="*/ 0 60000 65536"/>
              <a:gd name="T24" fmla="*/ 0 w 3592"/>
              <a:gd name="T25" fmla="*/ 0 h 652"/>
              <a:gd name="T26" fmla="*/ 3592 w 3592"/>
              <a:gd name="T27" fmla="*/ 652 h 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92" h="652">
                <a:moveTo>
                  <a:pt x="0" y="93"/>
                </a:moveTo>
                <a:cubicBezTo>
                  <a:pt x="162" y="88"/>
                  <a:pt x="325" y="84"/>
                  <a:pt x="392" y="117"/>
                </a:cubicBezTo>
                <a:cubicBezTo>
                  <a:pt x="459" y="150"/>
                  <a:pt x="303" y="250"/>
                  <a:pt x="400" y="293"/>
                </a:cubicBezTo>
                <a:cubicBezTo>
                  <a:pt x="497" y="336"/>
                  <a:pt x="859" y="328"/>
                  <a:pt x="976" y="373"/>
                </a:cubicBezTo>
                <a:cubicBezTo>
                  <a:pt x="1093" y="418"/>
                  <a:pt x="841" y="532"/>
                  <a:pt x="1104" y="565"/>
                </a:cubicBezTo>
                <a:cubicBezTo>
                  <a:pt x="1367" y="598"/>
                  <a:pt x="2279" y="652"/>
                  <a:pt x="2552" y="573"/>
                </a:cubicBezTo>
                <a:cubicBezTo>
                  <a:pt x="2825" y="494"/>
                  <a:pt x="2571" y="186"/>
                  <a:pt x="2744" y="93"/>
                </a:cubicBezTo>
                <a:cubicBezTo>
                  <a:pt x="2917" y="0"/>
                  <a:pt x="3415" y="30"/>
                  <a:pt x="3592" y="13"/>
                </a:cubicBezTo>
              </a:path>
            </a:pathLst>
          </a:custGeom>
          <a:noFill/>
          <a:ln w="76200">
            <a:solidFill>
              <a:srgbClr val="FF9966"/>
            </a:solidFill>
            <a:prstDash val="sysDot"/>
            <a:round/>
            <a:headEnd/>
            <a:tailEnd type="triangle" w="med" len="med"/>
          </a:ln>
        </p:spPr>
        <p:txBody>
          <a:bodyPr wrap="none" anchor="ctr"/>
          <a:lstStyle/>
          <a:p>
            <a:endParaRPr lang="en-US" dirty="0">
              <a:latin typeface="Courier New" pitchFamily="49" charset="0"/>
            </a:endParaRPr>
          </a:p>
        </p:txBody>
      </p:sp>
      <p:sp>
        <p:nvSpPr>
          <p:cNvPr id="873526" name="Freeform 54"/>
          <p:cNvSpPr>
            <a:spLocks/>
          </p:cNvSpPr>
          <p:nvPr/>
        </p:nvSpPr>
        <p:spPr bwMode="auto">
          <a:xfrm>
            <a:off x="1244600" y="4032250"/>
            <a:ext cx="3162300" cy="531813"/>
          </a:xfrm>
          <a:custGeom>
            <a:avLst/>
            <a:gdLst>
              <a:gd name="T0" fmla="*/ 0 w 1992"/>
              <a:gd name="T1" fmla="*/ 2147483647 h 335"/>
              <a:gd name="T2" fmla="*/ 2147483647 w 1992"/>
              <a:gd name="T3" fmla="*/ 2147483647 h 335"/>
              <a:gd name="T4" fmla="*/ 2147483647 w 1992"/>
              <a:gd name="T5" fmla="*/ 2147483647 h 335"/>
              <a:gd name="T6" fmla="*/ 2147483647 w 1992"/>
              <a:gd name="T7" fmla="*/ 2147483647 h 335"/>
              <a:gd name="T8" fmla="*/ 2147483647 w 1992"/>
              <a:gd name="T9" fmla="*/ 2147483647 h 335"/>
              <a:gd name="T10" fmla="*/ 2147483647 w 1992"/>
              <a:gd name="T11" fmla="*/ 2147483647 h 335"/>
              <a:gd name="T12" fmla="*/ 0 60000 65536"/>
              <a:gd name="T13" fmla="*/ 0 60000 65536"/>
              <a:gd name="T14" fmla="*/ 0 60000 65536"/>
              <a:gd name="T15" fmla="*/ 0 60000 65536"/>
              <a:gd name="T16" fmla="*/ 0 60000 65536"/>
              <a:gd name="T17" fmla="*/ 0 60000 65536"/>
              <a:gd name="T18" fmla="*/ 0 w 1992"/>
              <a:gd name="T19" fmla="*/ 0 h 335"/>
              <a:gd name="T20" fmla="*/ 1992 w 1992"/>
              <a:gd name="T21" fmla="*/ 335 h 335"/>
            </a:gdLst>
            <a:ahLst/>
            <a:cxnLst>
              <a:cxn ang="T12">
                <a:pos x="T0" y="T1"/>
              </a:cxn>
              <a:cxn ang="T13">
                <a:pos x="T2" y="T3"/>
              </a:cxn>
              <a:cxn ang="T14">
                <a:pos x="T4" y="T5"/>
              </a:cxn>
              <a:cxn ang="T15">
                <a:pos x="T6" y="T7"/>
              </a:cxn>
              <a:cxn ang="T16">
                <a:pos x="T8" y="T9"/>
              </a:cxn>
              <a:cxn ang="T17">
                <a:pos x="T10" y="T11"/>
              </a:cxn>
            </a:cxnLst>
            <a:rect l="T18" t="T19" r="T20" b="T21"/>
            <a:pathLst>
              <a:path w="1992" h="335">
                <a:moveTo>
                  <a:pt x="0" y="12"/>
                </a:moveTo>
                <a:cubicBezTo>
                  <a:pt x="139" y="6"/>
                  <a:pt x="279" y="0"/>
                  <a:pt x="352" y="44"/>
                </a:cubicBezTo>
                <a:cubicBezTo>
                  <a:pt x="425" y="88"/>
                  <a:pt x="336" y="228"/>
                  <a:pt x="440" y="276"/>
                </a:cubicBezTo>
                <a:cubicBezTo>
                  <a:pt x="544" y="324"/>
                  <a:pt x="840" y="335"/>
                  <a:pt x="976" y="332"/>
                </a:cubicBezTo>
                <a:cubicBezTo>
                  <a:pt x="1112" y="329"/>
                  <a:pt x="1087" y="261"/>
                  <a:pt x="1256" y="260"/>
                </a:cubicBezTo>
                <a:cubicBezTo>
                  <a:pt x="1425" y="259"/>
                  <a:pt x="1839" y="311"/>
                  <a:pt x="1992" y="324"/>
                </a:cubicBezTo>
              </a:path>
            </a:pathLst>
          </a:custGeom>
          <a:noFill/>
          <a:ln w="76200">
            <a:solidFill>
              <a:schemeClr val="accent2"/>
            </a:solidFill>
            <a:round/>
            <a:headEnd/>
            <a:tailEnd type="triangle" w="med" len="med"/>
          </a:ln>
        </p:spPr>
        <p:txBody>
          <a:bodyPr wrap="none" anchor="ctr"/>
          <a:lstStyle/>
          <a:p>
            <a:endParaRPr lang="en-US" dirty="0">
              <a:latin typeface="Courier New" pitchFamily="49" charset="0"/>
            </a:endParaRPr>
          </a:p>
        </p:txBody>
      </p:sp>
      <p:grpSp>
        <p:nvGrpSpPr>
          <p:cNvPr id="6" name="Group 55"/>
          <p:cNvGrpSpPr>
            <a:grpSpLocks/>
          </p:cNvGrpSpPr>
          <p:nvPr/>
        </p:nvGrpSpPr>
        <p:grpSpPr bwMode="auto">
          <a:xfrm>
            <a:off x="377825" y="3894138"/>
            <a:ext cx="1377950" cy="444500"/>
            <a:chOff x="230" y="1853"/>
            <a:chExt cx="868" cy="280"/>
          </a:xfrm>
        </p:grpSpPr>
        <p:grpSp>
          <p:nvGrpSpPr>
            <p:cNvPr id="233498" name="Group 56"/>
            <p:cNvGrpSpPr>
              <a:grpSpLocks/>
            </p:cNvGrpSpPr>
            <p:nvPr/>
          </p:nvGrpSpPr>
          <p:grpSpPr bwMode="auto">
            <a:xfrm>
              <a:off x="230" y="1853"/>
              <a:ext cx="868" cy="267"/>
              <a:chOff x="1313" y="2496"/>
              <a:chExt cx="1252" cy="427"/>
            </a:xfrm>
          </p:grpSpPr>
          <p:sp>
            <p:nvSpPr>
              <p:cNvPr id="233500" name="Freeform 5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3501" name="Freeform 5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3502" name="Oval 5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3503" name="Oval 6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33499" name="Text Box 61"/>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grpSp>
        <p:nvGrpSpPr>
          <p:cNvPr id="233485" name="Group 62"/>
          <p:cNvGrpSpPr>
            <a:grpSpLocks/>
          </p:cNvGrpSpPr>
          <p:nvPr/>
        </p:nvGrpSpPr>
        <p:grpSpPr bwMode="auto">
          <a:xfrm>
            <a:off x="365125" y="2941638"/>
            <a:ext cx="1377950" cy="423862"/>
            <a:chOff x="1313" y="2496"/>
            <a:chExt cx="1252" cy="427"/>
          </a:xfrm>
        </p:grpSpPr>
        <p:sp>
          <p:nvSpPr>
            <p:cNvPr id="233494" name="Freeform 6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3495" name="Freeform 6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3496" name="Oval 6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33497" name="Oval 6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233486" name="Group 67"/>
          <p:cNvGrpSpPr>
            <a:grpSpLocks/>
          </p:cNvGrpSpPr>
          <p:nvPr/>
        </p:nvGrpSpPr>
        <p:grpSpPr bwMode="auto">
          <a:xfrm>
            <a:off x="1343025" y="2941638"/>
            <a:ext cx="1377950" cy="444500"/>
            <a:chOff x="230" y="1853"/>
            <a:chExt cx="868" cy="280"/>
          </a:xfrm>
        </p:grpSpPr>
        <p:grpSp>
          <p:nvGrpSpPr>
            <p:cNvPr id="233488" name="Group 68"/>
            <p:cNvGrpSpPr>
              <a:grpSpLocks/>
            </p:cNvGrpSpPr>
            <p:nvPr/>
          </p:nvGrpSpPr>
          <p:grpSpPr bwMode="auto">
            <a:xfrm>
              <a:off x="230" y="1853"/>
              <a:ext cx="868" cy="267"/>
              <a:chOff x="1313" y="2496"/>
              <a:chExt cx="1252" cy="427"/>
            </a:xfrm>
          </p:grpSpPr>
          <p:sp>
            <p:nvSpPr>
              <p:cNvPr id="233490" name="Freeform 69"/>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3491" name="Freeform 70"/>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3492" name="Oval 71"/>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33493" name="Oval 72"/>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33489" name="Text Box 73"/>
            <p:cNvSpPr txBox="1">
              <a:spLocks noChangeArrowheads="1"/>
            </p:cNvSpPr>
            <p:nvPr/>
          </p:nvSpPr>
          <p:spPr bwMode="auto">
            <a:xfrm>
              <a:off x="508" y="1883"/>
              <a:ext cx="312" cy="250"/>
            </a:xfrm>
            <a:prstGeom prst="rect">
              <a:avLst/>
            </a:prstGeom>
            <a:noFill/>
            <a:ln w="9525">
              <a:noFill/>
              <a:miter lim="800000"/>
              <a:headEnd/>
              <a:tailEnd/>
            </a:ln>
          </p:spPr>
          <p:txBody>
            <a:bodyPr wrap="none">
              <a:spAutoFit/>
            </a:bodyPr>
            <a:lstStyle/>
            <a:p>
              <a:pPr algn="ctr">
                <a:spcBef>
                  <a:spcPct val="0"/>
                </a:spcBef>
              </a:pPr>
              <a:r>
                <a:rPr lang="en-US" sz="2000" dirty="0">
                  <a:solidFill>
                    <a:schemeClr val="bg1"/>
                  </a:solidFill>
                  <a:latin typeface="Arial" pitchFamily="34" charset="0"/>
                </a:rPr>
                <a:t>+2</a:t>
              </a:r>
            </a:p>
          </p:txBody>
        </p:sp>
      </p:grpSp>
      <p:sp>
        <p:nvSpPr>
          <p:cNvPr id="873546" name="Text Box 74"/>
          <p:cNvSpPr txBox="1">
            <a:spLocks noChangeArrowheads="1"/>
          </p:cNvSpPr>
          <p:nvPr/>
        </p:nvSpPr>
        <p:spPr bwMode="auto">
          <a:xfrm>
            <a:off x="2238375" y="5216525"/>
            <a:ext cx="4852988" cy="984250"/>
          </a:xfrm>
          <a:prstGeom prst="rect">
            <a:avLst/>
          </a:prstGeom>
          <a:solidFill>
            <a:schemeClr val="bg1">
              <a:alpha val="94116"/>
            </a:schemeClr>
          </a:solidFill>
          <a:ln w="38100" algn="ctr">
            <a:solidFill>
              <a:schemeClr val="accent2"/>
            </a:solidFill>
            <a:miter lim="800000"/>
            <a:headEnd/>
            <a:tailEnd/>
          </a:ln>
        </p:spPr>
        <p:txBody>
          <a:bodyPr>
            <a:spAutoFit/>
          </a:bodyPr>
          <a:lstStyle/>
          <a:p>
            <a:pPr algn="ctr">
              <a:spcBef>
                <a:spcPct val="0"/>
              </a:spcBef>
            </a:pPr>
            <a:r>
              <a:rPr lang="en-US" sz="2800" b="0" dirty="0">
                <a:solidFill>
                  <a:schemeClr val="accent2"/>
                </a:solidFill>
                <a:latin typeface="Arial" pitchFamily="34" charset="0"/>
                <a:cs typeface="Arial" pitchFamily="34" charset="0"/>
              </a:rPr>
              <a:t>Halt blue token before first green balancer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11111E-6 4.07407E-6 C 0.02535 -0.00649 0.05087 -0.01274 0.06666 -0.00556 C 0.08246 0.00162 0.07517 0.03078 0.09444 0.04259 C 0.11371 0.05439 0.1585 0.0655 0.18177 0.06481 C 0.20538 0.06412 0.20955 0.0405 0.23455 0.03888 C 0.25972 0.03726 0.29583 0.04629 0.33194 0.05555 " pathEditMode="relative" ptsTypes="aaaaaA">
                                      <p:cBhvr>
                                        <p:cTn id="6" dur="2000" fill="hold"/>
                                        <p:tgtEl>
                                          <p:spTgt spid="6"/>
                                        </p:tgtEl>
                                        <p:attrNameLst>
                                          <p:attrName>ppt_x</p:attrName>
                                          <p:attrName>ppt_y</p:attrName>
                                        </p:attrNameLst>
                                      </p:cBhvr>
                                    </p:animMotion>
                                  </p:childTnLst>
                                </p:cTn>
                              </p:par>
                              <p:par>
                                <p:cTn id="7" presetID="3" presetClass="entr" presetSubtype="10" fill="hold" grpId="0" nodeType="withEffect">
                                  <p:stCondLst>
                                    <p:cond delay="0"/>
                                  </p:stCondLst>
                                  <p:childTnLst>
                                    <p:set>
                                      <p:cBhvr>
                                        <p:cTn id="8" dur="1" fill="hold">
                                          <p:stCondLst>
                                            <p:cond delay="0"/>
                                          </p:stCondLst>
                                        </p:cTn>
                                        <p:tgtEl>
                                          <p:spTgt spid="873526"/>
                                        </p:tgtEl>
                                        <p:attrNameLst>
                                          <p:attrName>style.visibility</p:attrName>
                                        </p:attrNameLst>
                                      </p:cBhvr>
                                      <p:to>
                                        <p:strVal val="visible"/>
                                      </p:to>
                                    </p:set>
                                    <p:animEffect transition="in" filter="blinds(horizontal)">
                                      <p:cBhvr>
                                        <p:cTn id="9" dur="500"/>
                                        <p:tgtEl>
                                          <p:spTgt spid="873526"/>
                                        </p:tgtEl>
                                      </p:cBhvr>
                                    </p:animEffect>
                                  </p:childTnLst>
                                </p:cTn>
                              </p:par>
                            </p:childTnLst>
                          </p:cTn>
                        </p:par>
                        <p:par>
                          <p:cTn id="10" fill="hold">
                            <p:stCondLst>
                              <p:cond delay="2000"/>
                            </p:stCondLst>
                            <p:childTnLst>
                              <p:par>
                                <p:cTn id="11" presetID="3" presetClass="entr" presetSubtype="10" fill="hold" grpId="0" nodeType="afterEffect">
                                  <p:stCondLst>
                                    <p:cond delay="0"/>
                                  </p:stCondLst>
                                  <p:childTnLst>
                                    <p:set>
                                      <p:cBhvr>
                                        <p:cTn id="12" dur="1" fill="hold">
                                          <p:stCondLst>
                                            <p:cond delay="0"/>
                                          </p:stCondLst>
                                        </p:cTn>
                                        <p:tgtEl>
                                          <p:spTgt spid="873546"/>
                                        </p:tgtEl>
                                        <p:attrNameLst>
                                          <p:attrName>style.visibility</p:attrName>
                                        </p:attrNameLst>
                                      </p:cBhvr>
                                      <p:to>
                                        <p:strVal val="visible"/>
                                      </p:to>
                                    </p:set>
                                    <p:animEffect transition="in" filter="blinds(horizontal)">
                                      <p:cBhvr>
                                        <p:cTn id="13" dur="500"/>
                                        <p:tgtEl>
                                          <p:spTgt spid="873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526" grpId="0" animBg="1"/>
      <p:bldP spid="873546" grpId="0" animBg="1"/>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0C0512D1-2DE3-4A63-9C79-24F79B6FDE74}" type="slidenum">
              <a:rPr lang="en-US"/>
              <a:pPr>
                <a:defRPr/>
              </a:pPr>
              <a:t>235</a:t>
            </a:fld>
            <a:endParaRPr lang="en-US"/>
          </a:p>
        </p:txBody>
      </p:sp>
      <p:sp>
        <p:nvSpPr>
          <p:cNvPr id="234500" name="Rectangle 2"/>
          <p:cNvSpPr>
            <a:spLocks noGrp="1" noChangeArrowheads="1"/>
          </p:cNvSpPr>
          <p:nvPr>
            <p:ph type="title"/>
          </p:nvPr>
        </p:nvSpPr>
        <p:spPr/>
        <p:txBody>
          <a:bodyPr/>
          <a:lstStyle/>
          <a:p>
            <a:r>
              <a:rPr lang="en-US"/>
              <a:t>Continuing in this way</a:t>
            </a:r>
          </a:p>
        </p:txBody>
      </p:sp>
      <p:sp>
        <p:nvSpPr>
          <p:cNvPr id="234501" name="Rectangle 3"/>
          <p:cNvSpPr>
            <a:spLocks noGrp="1" noChangeArrowheads="1"/>
          </p:cNvSpPr>
          <p:nvPr>
            <p:ph type="body" idx="1"/>
          </p:nvPr>
        </p:nvSpPr>
        <p:spPr/>
        <p:txBody>
          <a:bodyPr/>
          <a:lstStyle/>
          <a:p>
            <a:r>
              <a:rPr lang="en-US"/>
              <a:t>We can “park” a token</a:t>
            </a:r>
          </a:p>
          <a:p>
            <a:pPr lvl="1"/>
            <a:r>
              <a:rPr lang="en-US"/>
              <a:t>In front of a balancer</a:t>
            </a:r>
          </a:p>
          <a:p>
            <a:pPr lvl="1"/>
            <a:r>
              <a:rPr lang="en-US"/>
              <a:t>That token #1 will visit</a:t>
            </a:r>
          </a:p>
          <a:p>
            <a:r>
              <a:rPr lang="en-US"/>
              <a:t>There are </a:t>
            </a:r>
            <a:r>
              <a:rPr lang="en-US">
                <a:solidFill>
                  <a:schemeClr val="tx1"/>
                </a:solidFill>
              </a:rPr>
              <a:t>n-1</a:t>
            </a:r>
            <a:r>
              <a:rPr lang="en-US"/>
              <a:t> other tokens</a:t>
            </a:r>
          </a:p>
          <a:p>
            <a:pPr lvl="1"/>
            <a:r>
              <a:rPr lang="en-US"/>
              <a:t>Two wires per balancer</a:t>
            </a:r>
          </a:p>
          <a:p>
            <a:pPr lvl="1"/>
            <a:r>
              <a:rPr lang="en-US"/>
              <a:t>Path includes </a:t>
            </a:r>
            <a:r>
              <a:rPr lang="en-US">
                <a:solidFill>
                  <a:schemeClr val="tx1"/>
                </a:solidFill>
              </a:rPr>
              <a:t>n-1</a:t>
            </a:r>
            <a:r>
              <a:rPr lang="en-US"/>
              <a:t> balancers!</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AD7B937-BD08-4B1B-8335-7DF523070E93}" type="slidenum">
              <a:rPr lang="en-US"/>
              <a:pPr>
                <a:defRPr/>
              </a:pPr>
              <a:t>236</a:t>
            </a:fld>
            <a:endParaRPr lang="en-US"/>
          </a:p>
        </p:txBody>
      </p:sp>
      <p:sp>
        <p:nvSpPr>
          <p:cNvPr id="235524" name="Rectangle 2"/>
          <p:cNvSpPr>
            <a:spLocks noGrp="1" noChangeArrowheads="1"/>
          </p:cNvSpPr>
          <p:nvPr>
            <p:ph type="title"/>
          </p:nvPr>
        </p:nvSpPr>
        <p:spPr/>
        <p:txBody>
          <a:bodyPr/>
          <a:lstStyle/>
          <a:p>
            <a:r>
              <a:rPr lang="en-US"/>
              <a:t>Theorem</a:t>
            </a:r>
          </a:p>
        </p:txBody>
      </p:sp>
      <p:sp>
        <p:nvSpPr>
          <p:cNvPr id="235525" name="Rectangle 3"/>
          <p:cNvSpPr>
            <a:spLocks noGrp="1" noChangeArrowheads="1"/>
          </p:cNvSpPr>
          <p:nvPr>
            <p:ph type="body" idx="1"/>
          </p:nvPr>
        </p:nvSpPr>
        <p:spPr/>
        <p:txBody>
          <a:bodyPr/>
          <a:lstStyle/>
          <a:p>
            <a:r>
              <a:rPr lang="en-US"/>
              <a:t>In any adding network</a:t>
            </a:r>
          </a:p>
          <a:p>
            <a:pPr lvl="1"/>
            <a:r>
              <a:rPr lang="en-US"/>
              <a:t>In sequential executions</a:t>
            </a:r>
          </a:p>
          <a:p>
            <a:pPr lvl="1"/>
            <a:r>
              <a:rPr lang="en-US"/>
              <a:t>Tokens traverse at least n-1 balancers</a:t>
            </a:r>
          </a:p>
          <a:p>
            <a:r>
              <a:rPr lang="en-US"/>
              <a:t>Same arguments apply to</a:t>
            </a:r>
          </a:p>
          <a:p>
            <a:pPr lvl="1"/>
            <a:r>
              <a:rPr lang="en-US"/>
              <a:t>Linearizable counting networks</a:t>
            </a:r>
          </a:p>
          <a:p>
            <a:pPr lvl="1"/>
            <a:r>
              <a:rPr lang="en-US"/>
              <a:t>Multiplying networks</a:t>
            </a:r>
          </a:p>
          <a:p>
            <a:pPr lvl="1"/>
            <a:r>
              <a:rPr lang="en-US"/>
              <a:t>And others</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546" name="Group 61"/>
          <p:cNvGrpSpPr>
            <a:grpSpLocks/>
          </p:cNvGrpSpPr>
          <p:nvPr/>
        </p:nvGrpSpPr>
        <p:grpSpPr bwMode="auto">
          <a:xfrm>
            <a:off x="2017713" y="3625850"/>
            <a:ext cx="1363662" cy="1293813"/>
            <a:chOff x="2162968" y="5564188"/>
            <a:chExt cx="1363663" cy="1293812"/>
          </a:xfrm>
        </p:grpSpPr>
        <p:sp>
          <p:nvSpPr>
            <p:cNvPr id="236623" name="Line 7"/>
            <p:cNvSpPr>
              <a:spLocks noChangeShapeType="1"/>
            </p:cNvSpPr>
            <p:nvPr/>
          </p:nvSpPr>
          <p:spPr bwMode="auto">
            <a:xfrm>
              <a:off x="2162968" y="6020931"/>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24" name="Line 8"/>
            <p:cNvSpPr>
              <a:spLocks noChangeShapeType="1"/>
            </p:cNvSpPr>
            <p:nvPr/>
          </p:nvSpPr>
          <p:spPr bwMode="auto">
            <a:xfrm>
              <a:off x="2162968" y="6422257"/>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25" name="Oval 9"/>
            <p:cNvSpPr>
              <a:spLocks noChangeArrowheads="1"/>
            </p:cNvSpPr>
            <p:nvPr/>
          </p:nvSpPr>
          <p:spPr bwMode="auto">
            <a:xfrm>
              <a:off x="2903378" y="5981848"/>
              <a:ext cx="196842" cy="96249"/>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36626" name="Oval 10"/>
            <p:cNvSpPr>
              <a:spLocks noChangeArrowheads="1"/>
            </p:cNvSpPr>
            <p:nvPr/>
          </p:nvSpPr>
          <p:spPr bwMode="auto">
            <a:xfrm>
              <a:off x="2903378" y="6380258"/>
              <a:ext cx="196842" cy="96248"/>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36627" name="Line 12"/>
            <p:cNvSpPr>
              <a:spLocks noChangeShapeType="1"/>
            </p:cNvSpPr>
            <p:nvPr/>
          </p:nvSpPr>
          <p:spPr bwMode="auto">
            <a:xfrm>
              <a:off x="2162968" y="5691936"/>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28" name="Line 13"/>
            <p:cNvSpPr>
              <a:spLocks noChangeShapeType="1"/>
            </p:cNvSpPr>
            <p:nvPr/>
          </p:nvSpPr>
          <p:spPr bwMode="auto">
            <a:xfrm>
              <a:off x="2162968" y="6739002"/>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29" name="AutoShape 14"/>
            <p:cNvSpPr>
              <a:spLocks noChangeArrowheads="1"/>
            </p:cNvSpPr>
            <p:nvPr/>
          </p:nvSpPr>
          <p:spPr bwMode="auto">
            <a:xfrm>
              <a:off x="2308109" y="6259510"/>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30" name="AutoShape 15"/>
            <p:cNvSpPr>
              <a:spLocks noChangeArrowheads="1"/>
            </p:cNvSpPr>
            <p:nvPr/>
          </p:nvSpPr>
          <p:spPr bwMode="auto">
            <a:xfrm>
              <a:off x="2303366" y="5564188"/>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31" name="AutoShape 16"/>
            <p:cNvSpPr>
              <a:spLocks noChangeArrowheads="1"/>
            </p:cNvSpPr>
            <p:nvPr/>
          </p:nvSpPr>
          <p:spPr bwMode="auto">
            <a:xfrm>
              <a:off x="2628748" y="5915932"/>
              <a:ext cx="111465" cy="599073"/>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32" name="AutoShape 17"/>
            <p:cNvSpPr>
              <a:spLocks noChangeArrowheads="1"/>
            </p:cNvSpPr>
            <p:nvPr/>
          </p:nvSpPr>
          <p:spPr bwMode="auto">
            <a:xfrm>
              <a:off x="2948912" y="5572938"/>
              <a:ext cx="111464" cy="1285062"/>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33" name="AutoShape 18"/>
            <p:cNvSpPr>
              <a:spLocks noChangeArrowheads="1"/>
            </p:cNvSpPr>
            <p:nvPr/>
          </p:nvSpPr>
          <p:spPr bwMode="auto">
            <a:xfrm>
              <a:off x="3269551" y="6259510"/>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34" name="AutoShape 19"/>
            <p:cNvSpPr>
              <a:spLocks noChangeArrowheads="1"/>
            </p:cNvSpPr>
            <p:nvPr/>
          </p:nvSpPr>
          <p:spPr bwMode="auto">
            <a:xfrm>
              <a:off x="3269551" y="5572938"/>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35" name="Line 20"/>
            <p:cNvSpPr>
              <a:spLocks noChangeShapeType="1"/>
            </p:cNvSpPr>
            <p:nvPr/>
          </p:nvSpPr>
          <p:spPr bwMode="auto">
            <a:xfrm>
              <a:off x="2326133" y="5704186"/>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36" name="Line 21"/>
            <p:cNvSpPr>
              <a:spLocks noChangeShapeType="1"/>
            </p:cNvSpPr>
            <p:nvPr/>
          </p:nvSpPr>
          <p:spPr bwMode="auto">
            <a:xfrm>
              <a:off x="2328979" y="67436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37" name="Line 22"/>
            <p:cNvSpPr>
              <a:spLocks noChangeShapeType="1"/>
            </p:cNvSpPr>
            <p:nvPr/>
          </p:nvSpPr>
          <p:spPr bwMode="auto">
            <a:xfrm>
              <a:off x="2953655" y="67436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38" name="Line 24"/>
            <p:cNvSpPr>
              <a:spLocks noChangeShapeType="1"/>
            </p:cNvSpPr>
            <p:nvPr/>
          </p:nvSpPr>
          <p:spPr bwMode="auto">
            <a:xfrm>
              <a:off x="3282357" y="5704186"/>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39" name="Line 25"/>
            <p:cNvSpPr>
              <a:spLocks noChangeShapeType="1"/>
            </p:cNvSpPr>
            <p:nvPr/>
          </p:nvSpPr>
          <p:spPr bwMode="auto">
            <a:xfrm>
              <a:off x="3282357" y="67401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40" name="Oval 61"/>
            <p:cNvSpPr>
              <a:spLocks noChangeArrowheads="1"/>
            </p:cNvSpPr>
            <p:nvPr/>
          </p:nvSpPr>
          <p:spPr bwMode="auto">
            <a:xfrm>
              <a:off x="2327082" y="5645853"/>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1" name="Oval 62"/>
            <p:cNvSpPr>
              <a:spLocks noChangeArrowheads="1"/>
            </p:cNvSpPr>
            <p:nvPr/>
          </p:nvSpPr>
          <p:spPr bwMode="auto">
            <a:xfrm>
              <a:off x="2327082" y="597718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2" name="Oval 63"/>
            <p:cNvSpPr>
              <a:spLocks noChangeArrowheads="1"/>
            </p:cNvSpPr>
            <p:nvPr/>
          </p:nvSpPr>
          <p:spPr bwMode="auto">
            <a:xfrm>
              <a:off x="2327082" y="6378508"/>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3" name="Oval 64"/>
            <p:cNvSpPr>
              <a:spLocks noChangeArrowheads="1"/>
            </p:cNvSpPr>
            <p:nvPr/>
          </p:nvSpPr>
          <p:spPr bwMode="auto">
            <a:xfrm>
              <a:off x="2327082"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4" name="Oval 65"/>
            <p:cNvSpPr>
              <a:spLocks noChangeArrowheads="1"/>
            </p:cNvSpPr>
            <p:nvPr/>
          </p:nvSpPr>
          <p:spPr bwMode="auto">
            <a:xfrm>
              <a:off x="2647720" y="598593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5" name="Oval 66"/>
            <p:cNvSpPr>
              <a:spLocks noChangeArrowheads="1"/>
            </p:cNvSpPr>
            <p:nvPr/>
          </p:nvSpPr>
          <p:spPr bwMode="auto">
            <a:xfrm>
              <a:off x="2647720" y="638259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6" name="Oval 67"/>
            <p:cNvSpPr>
              <a:spLocks noChangeArrowheads="1"/>
            </p:cNvSpPr>
            <p:nvPr/>
          </p:nvSpPr>
          <p:spPr bwMode="auto">
            <a:xfrm>
              <a:off x="2970731" y="5644687"/>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7" name="Oval 68"/>
            <p:cNvSpPr>
              <a:spLocks noChangeArrowheads="1"/>
            </p:cNvSpPr>
            <p:nvPr/>
          </p:nvSpPr>
          <p:spPr bwMode="auto">
            <a:xfrm>
              <a:off x="2967885"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8" name="Oval 69"/>
            <p:cNvSpPr>
              <a:spLocks noChangeArrowheads="1"/>
            </p:cNvSpPr>
            <p:nvPr/>
          </p:nvSpPr>
          <p:spPr bwMode="auto">
            <a:xfrm>
              <a:off x="3282832" y="5650520"/>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49" name="Oval 70"/>
            <p:cNvSpPr>
              <a:spLocks noChangeArrowheads="1"/>
            </p:cNvSpPr>
            <p:nvPr/>
          </p:nvSpPr>
          <p:spPr bwMode="auto">
            <a:xfrm>
              <a:off x="3282832" y="5972515"/>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50" name="Oval 71"/>
            <p:cNvSpPr>
              <a:spLocks noChangeArrowheads="1"/>
            </p:cNvSpPr>
            <p:nvPr/>
          </p:nvSpPr>
          <p:spPr bwMode="auto">
            <a:xfrm>
              <a:off x="3282832" y="6378508"/>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51" name="Oval 72"/>
            <p:cNvSpPr>
              <a:spLocks noChangeArrowheads="1"/>
            </p:cNvSpPr>
            <p:nvPr/>
          </p:nvSpPr>
          <p:spPr bwMode="auto">
            <a:xfrm>
              <a:off x="3282832"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52" name="Line 23"/>
            <p:cNvSpPr>
              <a:spLocks noChangeShapeType="1"/>
            </p:cNvSpPr>
            <p:nvPr/>
          </p:nvSpPr>
          <p:spPr bwMode="auto">
            <a:xfrm>
              <a:off x="2647720" y="6027347"/>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grpSp>
      <p:grpSp>
        <p:nvGrpSpPr>
          <p:cNvPr id="236547" name="Group 92"/>
          <p:cNvGrpSpPr>
            <a:grpSpLocks/>
          </p:cNvGrpSpPr>
          <p:nvPr/>
        </p:nvGrpSpPr>
        <p:grpSpPr bwMode="auto">
          <a:xfrm>
            <a:off x="5519738" y="3155950"/>
            <a:ext cx="1363662" cy="1293813"/>
            <a:chOff x="2162968" y="5564188"/>
            <a:chExt cx="1363663" cy="1293812"/>
          </a:xfrm>
        </p:grpSpPr>
        <p:sp>
          <p:nvSpPr>
            <p:cNvPr id="236593" name="Line 7"/>
            <p:cNvSpPr>
              <a:spLocks noChangeShapeType="1"/>
            </p:cNvSpPr>
            <p:nvPr/>
          </p:nvSpPr>
          <p:spPr bwMode="auto">
            <a:xfrm>
              <a:off x="2162968" y="6020931"/>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94" name="Line 8"/>
            <p:cNvSpPr>
              <a:spLocks noChangeShapeType="1"/>
            </p:cNvSpPr>
            <p:nvPr/>
          </p:nvSpPr>
          <p:spPr bwMode="auto">
            <a:xfrm>
              <a:off x="2162968" y="6422257"/>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95" name="Oval 9"/>
            <p:cNvSpPr>
              <a:spLocks noChangeArrowheads="1"/>
            </p:cNvSpPr>
            <p:nvPr/>
          </p:nvSpPr>
          <p:spPr bwMode="auto">
            <a:xfrm>
              <a:off x="2903378" y="5981848"/>
              <a:ext cx="196842" cy="96249"/>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36596" name="Oval 10"/>
            <p:cNvSpPr>
              <a:spLocks noChangeArrowheads="1"/>
            </p:cNvSpPr>
            <p:nvPr/>
          </p:nvSpPr>
          <p:spPr bwMode="auto">
            <a:xfrm>
              <a:off x="2903378" y="6380258"/>
              <a:ext cx="196842" cy="96248"/>
            </a:xfrm>
            <a:prstGeom prst="ellipse">
              <a:avLst/>
            </a:prstGeom>
            <a:solidFill>
              <a:schemeClr val="bg1"/>
            </a:solidFill>
            <a:ln w="9525">
              <a:solidFill>
                <a:schemeClr val="bg1"/>
              </a:solidFill>
              <a:round/>
              <a:headEnd/>
              <a:tailEnd/>
            </a:ln>
          </p:spPr>
          <p:txBody>
            <a:bodyPr wrap="none" anchor="ctr"/>
            <a:lstStyle/>
            <a:p>
              <a:endParaRPr lang="en-US">
                <a:latin typeface="Arial" pitchFamily="34" charset="0"/>
                <a:cs typeface="Arial" pitchFamily="34" charset="0"/>
              </a:endParaRPr>
            </a:p>
          </p:txBody>
        </p:sp>
        <p:sp>
          <p:nvSpPr>
            <p:cNvPr id="236597" name="Line 12"/>
            <p:cNvSpPr>
              <a:spLocks noChangeShapeType="1"/>
            </p:cNvSpPr>
            <p:nvPr/>
          </p:nvSpPr>
          <p:spPr bwMode="auto">
            <a:xfrm>
              <a:off x="2162968" y="5691936"/>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98" name="Line 13"/>
            <p:cNvSpPr>
              <a:spLocks noChangeShapeType="1"/>
            </p:cNvSpPr>
            <p:nvPr/>
          </p:nvSpPr>
          <p:spPr bwMode="auto">
            <a:xfrm>
              <a:off x="2162968" y="6739002"/>
              <a:ext cx="1363663" cy="0"/>
            </a:xfrm>
            <a:prstGeom prst="line">
              <a:avLst/>
            </a:prstGeom>
            <a:no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99" name="AutoShape 14"/>
            <p:cNvSpPr>
              <a:spLocks noChangeArrowheads="1"/>
            </p:cNvSpPr>
            <p:nvPr/>
          </p:nvSpPr>
          <p:spPr bwMode="auto">
            <a:xfrm>
              <a:off x="2308109" y="6259510"/>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00" name="AutoShape 15"/>
            <p:cNvSpPr>
              <a:spLocks noChangeArrowheads="1"/>
            </p:cNvSpPr>
            <p:nvPr/>
          </p:nvSpPr>
          <p:spPr bwMode="auto">
            <a:xfrm>
              <a:off x="2303366" y="5564188"/>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01" name="AutoShape 16"/>
            <p:cNvSpPr>
              <a:spLocks noChangeArrowheads="1"/>
            </p:cNvSpPr>
            <p:nvPr/>
          </p:nvSpPr>
          <p:spPr bwMode="auto">
            <a:xfrm>
              <a:off x="2628748" y="5915932"/>
              <a:ext cx="111465" cy="599073"/>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02" name="AutoShape 17"/>
            <p:cNvSpPr>
              <a:spLocks noChangeArrowheads="1"/>
            </p:cNvSpPr>
            <p:nvPr/>
          </p:nvSpPr>
          <p:spPr bwMode="auto">
            <a:xfrm>
              <a:off x="2948912" y="5572938"/>
              <a:ext cx="111464" cy="1285062"/>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03" name="AutoShape 18"/>
            <p:cNvSpPr>
              <a:spLocks noChangeArrowheads="1"/>
            </p:cNvSpPr>
            <p:nvPr/>
          </p:nvSpPr>
          <p:spPr bwMode="auto">
            <a:xfrm>
              <a:off x="3269551" y="6259510"/>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04" name="AutoShape 19"/>
            <p:cNvSpPr>
              <a:spLocks noChangeArrowheads="1"/>
            </p:cNvSpPr>
            <p:nvPr/>
          </p:nvSpPr>
          <p:spPr bwMode="auto">
            <a:xfrm>
              <a:off x="3269551" y="5572938"/>
              <a:ext cx="111939" cy="59849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05" name="Line 20"/>
            <p:cNvSpPr>
              <a:spLocks noChangeShapeType="1"/>
            </p:cNvSpPr>
            <p:nvPr/>
          </p:nvSpPr>
          <p:spPr bwMode="auto">
            <a:xfrm>
              <a:off x="2326133" y="5704186"/>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06" name="Line 21"/>
            <p:cNvSpPr>
              <a:spLocks noChangeShapeType="1"/>
            </p:cNvSpPr>
            <p:nvPr/>
          </p:nvSpPr>
          <p:spPr bwMode="auto">
            <a:xfrm>
              <a:off x="2328979" y="67436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07" name="Line 22"/>
            <p:cNvSpPr>
              <a:spLocks noChangeShapeType="1"/>
            </p:cNvSpPr>
            <p:nvPr/>
          </p:nvSpPr>
          <p:spPr bwMode="auto">
            <a:xfrm>
              <a:off x="2953655" y="67436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08" name="Line 24"/>
            <p:cNvSpPr>
              <a:spLocks noChangeShapeType="1"/>
            </p:cNvSpPr>
            <p:nvPr/>
          </p:nvSpPr>
          <p:spPr bwMode="auto">
            <a:xfrm>
              <a:off x="3282357" y="5704186"/>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09" name="Line 25"/>
            <p:cNvSpPr>
              <a:spLocks noChangeShapeType="1"/>
            </p:cNvSpPr>
            <p:nvPr/>
          </p:nvSpPr>
          <p:spPr bwMode="auto">
            <a:xfrm>
              <a:off x="3282357" y="6740169"/>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610" name="Oval 61"/>
            <p:cNvSpPr>
              <a:spLocks noChangeArrowheads="1"/>
            </p:cNvSpPr>
            <p:nvPr/>
          </p:nvSpPr>
          <p:spPr bwMode="auto">
            <a:xfrm>
              <a:off x="2327082" y="5645853"/>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1" name="Oval 62"/>
            <p:cNvSpPr>
              <a:spLocks noChangeArrowheads="1"/>
            </p:cNvSpPr>
            <p:nvPr/>
          </p:nvSpPr>
          <p:spPr bwMode="auto">
            <a:xfrm>
              <a:off x="2327082" y="597718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2" name="Oval 63"/>
            <p:cNvSpPr>
              <a:spLocks noChangeArrowheads="1"/>
            </p:cNvSpPr>
            <p:nvPr/>
          </p:nvSpPr>
          <p:spPr bwMode="auto">
            <a:xfrm>
              <a:off x="2327082" y="6378508"/>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3" name="Oval 64"/>
            <p:cNvSpPr>
              <a:spLocks noChangeArrowheads="1"/>
            </p:cNvSpPr>
            <p:nvPr/>
          </p:nvSpPr>
          <p:spPr bwMode="auto">
            <a:xfrm>
              <a:off x="2327082"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4" name="Oval 65"/>
            <p:cNvSpPr>
              <a:spLocks noChangeArrowheads="1"/>
            </p:cNvSpPr>
            <p:nvPr/>
          </p:nvSpPr>
          <p:spPr bwMode="auto">
            <a:xfrm>
              <a:off x="2647720" y="598593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5" name="Oval 66"/>
            <p:cNvSpPr>
              <a:spLocks noChangeArrowheads="1"/>
            </p:cNvSpPr>
            <p:nvPr/>
          </p:nvSpPr>
          <p:spPr bwMode="auto">
            <a:xfrm>
              <a:off x="2647720" y="6382591"/>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6" name="Oval 67"/>
            <p:cNvSpPr>
              <a:spLocks noChangeArrowheads="1"/>
            </p:cNvSpPr>
            <p:nvPr/>
          </p:nvSpPr>
          <p:spPr bwMode="auto">
            <a:xfrm>
              <a:off x="2970731" y="5644687"/>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7" name="Oval 68"/>
            <p:cNvSpPr>
              <a:spLocks noChangeArrowheads="1"/>
            </p:cNvSpPr>
            <p:nvPr/>
          </p:nvSpPr>
          <p:spPr bwMode="auto">
            <a:xfrm>
              <a:off x="2967885"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8" name="Oval 69"/>
            <p:cNvSpPr>
              <a:spLocks noChangeArrowheads="1"/>
            </p:cNvSpPr>
            <p:nvPr/>
          </p:nvSpPr>
          <p:spPr bwMode="auto">
            <a:xfrm>
              <a:off x="3282832" y="5650520"/>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19" name="Oval 70"/>
            <p:cNvSpPr>
              <a:spLocks noChangeArrowheads="1"/>
            </p:cNvSpPr>
            <p:nvPr/>
          </p:nvSpPr>
          <p:spPr bwMode="auto">
            <a:xfrm>
              <a:off x="3282832" y="5972515"/>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20" name="Oval 71"/>
            <p:cNvSpPr>
              <a:spLocks noChangeArrowheads="1"/>
            </p:cNvSpPr>
            <p:nvPr/>
          </p:nvSpPr>
          <p:spPr bwMode="auto">
            <a:xfrm>
              <a:off x="3282832" y="6378508"/>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21" name="Oval 72"/>
            <p:cNvSpPr>
              <a:spLocks noChangeArrowheads="1"/>
            </p:cNvSpPr>
            <p:nvPr/>
          </p:nvSpPr>
          <p:spPr bwMode="auto">
            <a:xfrm>
              <a:off x="3282832" y="6695836"/>
              <a:ext cx="73994" cy="90998"/>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622" name="Line 23"/>
            <p:cNvSpPr>
              <a:spLocks noChangeShapeType="1"/>
            </p:cNvSpPr>
            <p:nvPr/>
          </p:nvSpPr>
          <p:spPr bwMode="auto">
            <a:xfrm>
              <a:off x="2647720" y="6027347"/>
              <a:ext cx="91069"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grpSp>
      <p:sp>
        <p:nvSpPr>
          <p:cNvPr id="60" name="Footer Placeholder 3"/>
          <p:cNvSpPr>
            <a:spLocks noGrp="1"/>
          </p:cNvSpPr>
          <p:nvPr>
            <p:ph type="ftr" sz="quarter" idx="10"/>
          </p:nvPr>
        </p:nvSpPr>
        <p:spPr/>
        <p:txBody>
          <a:bodyPr/>
          <a:lstStyle/>
          <a:p>
            <a:pPr>
              <a:defRPr/>
            </a:pPr>
            <a:r>
              <a:rPr lang="en-US"/>
              <a:t>Art of Multiprocessor Programming</a:t>
            </a:r>
          </a:p>
        </p:txBody>
      </p:sp>
      <p:sp>
        <p:nvSpPr>
          <p:cNvPr id="61" name="Slide Number Placeholder 4"/>
          <p:cNvSpPr>
            <a:spLocks noGrp="1"/>
          </p:cNvSpPr>
          <p:nvPr>
            <p:ph type="sldNum" sz="quarter" idx="11"/>
          </p:nvPr>
        </p:nvSpPr>
        <p:spPr/>
        <p:txBody>
          <a:bodyPr/>
          <a:lstStyle/>
          <a:p>
            <a:pPr>
              <a:defRPr/>
            </a:pPr>
            <a:fld id="{AE54AE81-0D20-41A1-BD89-28DF042D8234}" type="slidenum">
              <a:rPr lang="en-US"/>
              <a:pPr>
                <a:defRPr/>
              </a:pPr>
              <a:t>237</a:t>
            </a:fld>
            <a:endParaRPr lang="en-US"/>
          </a:p>
        </p:txBody>
      </p:sp>
      <p:sp>
        <p:nvSpPr>
          <p:cNvPr id="236550" name="Rectangle 2"/>
          <p:cNvSpPr>
            <a:spLocks noGrp="1" noChangeArrowheads="1"/>
          </p:cNvSpPr>
          <p:nvPr>
            <p:ph type="title"/>
          </p:nvPr>
        </p:nvSpPr>
        <p:spPr>
          <a:xfrm>
            <a:off x="795338" y="571500"/>
            <a:ext cx="7772400" cy="1143000"/>
          </a:xfrm>
        </p:spPr>
        <p:txBody>
          <a:bodyPr/>
          <a:lstStyle/>
          <a:p>
            <a:r>
              <a:rPr lang="en-US"/>
              <a:t>Shared Pool</a:t>
            </a:r>
          </a:p>
        </p:txBody>
      </p:sp>
      <p:grpSp>
        <p:nvGrpSpPr>
          <p:cNvPr id="236551" name="Group 3"/>
          <p:cNvGrpSpPr>
            <a:grpSpLocks/>
          </p:cNvGrpSpPr>
          <p:nvPr/>
        </p:nvGrpSpPr>
        <p:grpSpPr bwMode="auto">
          <a:xfrm>
            <a:off x="660400" y="2374900"/>
            <a:ext cx="1447800" cy="1295400"/>
            <a:chOff x="1584" y="816"/>
            <a:chExt cx="912" cy="816"/>
          </a:xfrm>
        </p:grpSpPr>
        <p:sp>
          <p:nvSpPr>
            <p:cNvPr id="236584"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5"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6" name="Freeform 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7"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8"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9"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90" name="Freeform 1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91" name="Freeform 1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92" name="Freeform 1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36552" name="Group 13"/>
          <p:cNvGrpSpPr>
            <a:grpSpLocks/>
          </p:cNvGrpSpPr>
          <p:nvPr/>
        </p:nvGrpSpPr>
        <p:grpSpPr bwMode="auto">
          <a:xfrm>
            <a:off x="6121400" y="4914900"/>
            <a:ext cx="1447800" cy="1295400"/>
            <a:chOff x="1584" y="816"/>
            <a:chExt cx="912" cy="816"/>
          </a:xfrm>
        </p:grpSpPr>
        <p:sp>
          <p:nvSpPr>
            <p:cNvPr id="236575" name="Freeform 1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76" name="Freeform 1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77" name="Freeform 16"/>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78" name="Freeform 1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79" name="Freeform 1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0" name="Freeform 1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1" name="Freeform 20"/>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2" name="Freeform 21"/>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83" name="Freeform 22"/>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36553" name="Rectangle 23"/>
          <p:cNvSpPr>
            <a:spLocks noChangeArrowheads="1"/>
          </p:cNvSpPr>
          <p:nvPr/>
        </p:nvSpPr>
        <p:spPr bwMode="auto">
          <a:xfrm>
            <a:off x="3708400" y="2133600"/>
            <a:ext cx="914400" cy="3657600"/>
          </a:xfrm>
          <a:prstGeom prst="rect">
            <a:avLst/>
          </a:prstGeom>
          <a:solidFill>
            <a:srgbClr val="FF7C80"/>
          </a:solidFill>
          <a:ln w="38100">
            <a:solidFill>
              <a:schemeClr val="tx1"/>
            </a:solidFill>
            <a:miter lim="800000"/>
            <a:headEnd/>
            <a:tailEnd/>
          </a:ln>
        </p:spPr>
        <p:txBody>
          <a:bodyPr wrap="none" anchor="ctr"/>
          <a:lstStyle/>
          <a:p>
            <a:endParaRPr lang="en-US">
              <a:latin typeface="Arial" pitchFamily="34" charset="0"/>
              <a:cs typeface="Arial" pitchFamily="34" charset="0"/>
            </a:endParaRPr>
          </a:p>
        </p:txBody>
      </p:sp>
      <p:sp>
        <p:nvSpPr>
          <p:cNvPr id="236554" name="Line 24"/>
          <p:cNvSpPr>
            <a:spLocks noChangeShapeType="1"/>
          </p:cNvSpPr>
          <p:nvPr/>
        </p:nvSpPr>
        <p:spPr bwMode="auto">
          <a:xfrm>
            <a:off x="3708400" y="31369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55" name="Line 25"/>
          <p:cNvSpPr>
            <a:spLocks noChangeShapeType="1"/>
          </p:cNvSpPr>
          <p:nvPr/>
        </p:nvSpPr>
        <p:spPr bwMode="auto">
          <a:xfrm>
            <a:off x="3708400" y="36703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56" name="Line 26"/>
          <p:cNvSpPr>
            <a:spLocks noChangeShapeType="1"/>
          </p:cNvSpPr>
          <p:nvPr/>
        </p:nvSpPr>
        <p:spPr bwMode="auto">
          <a:xfrm>
            <a:off x="3708400" y="42037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57" name="Line 27"/>
          <p:cNvSpPr>
            <a:spLocks noChangeShapeType="1"/>
          </p:cNvSpPr>
          <p:nvPr/>
        </p:nvSpPr>
        <p:spPr bwMode="auto">
          <a:xfrm>
            <a:off x="3708400" y="53340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236558" name="Group 28"/>
          <p:cNvGrpSpPr>
            <a:grpSpLocks/>
          </p:cNvGrpSpPr>
          <p:nvPr/>
        </p:nvGrpSpPr>
        <p:grpSpPr bwMode="auto">
          <a:xfrm>
            <a:off x="3951288" y="3746500"/>
            <a:ext cx="430212" cy="341313"/>
            <a:chOff x="2828" y="3460"/>
            <a:chExt cx="271" cy="215"/>
          </a:xfrm>
        </p:grpSpPr>
        <p:sp>
          <p:nvSpPr>
            <p:cNvPr id="236573" name="Oval 29"/>
            <p:cNvSpPr>
              <a:spLocks noChangeArrowheads="1"/>
            </p:cNvSpPr>
            <p:nvPr/>
          </p:nvSpPr>
          <p:spPr bwMode="auto">
            <a:xfrm>
              <a:off x="2828" y="3460"/>
              <a:ext cx="271" cy="215"/>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74" name="Oval 30"/>
            <p:cNvSpPr>
              <a:spLocks noChangeArrowheads="1"/>
            </p:cNvSpPr>
            <p:nvPr/>
          </p:nvSpPr>
          <p:spPr bwMode="auto">
            <a:xfrm>
              <a:off x="2982" y="3498"/>
              <a:ext cx="71" cy="60"/>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36559" name="Freeform 40"/>
          <p:cNvSpPr>
            <a:spLocks/>
          </p:cNvSpPr>
          <p:nvPr/>
        </p:nvSpPr>
        <p:spPr bwMode="auto">
          <a:xfrm>
            <a:off x="1955800" y="3403600"/>
            <a:ext cx="1930400" cy="1589088"/>
          </a:xfrm>
          <a:custGeom>
            <a:avLst/>
            <a:gdLst>
              <a:gd name="T0" fmla="*/ 0 w 1216"/>
              <a:gd name="T1" fmla="*/ 0 h 1001"/>
              <a:gd name="T2" fmla="*/ 2147483647 w 1216"/>
              <a:gd name="T3" fmla="*/ 2147483647 h 1001"/>
              <a:gd name="T4" fmla="*/ 2147483647 w 1216"/>
              <a:gd name="T5" fmla="*/ 2147483647 h 1001"/>
              <a:gd name="T6" fmla="*/ 0 60000 65536"/>
              <a:gd name="T7" fmla="*/ 0 60000 65536"/>
              <a:gd name="T8" fmla="*/ 0 60000 65536"/>
              <a:gd name="T9" fmla="*/ 0 w 1216"/>
              <a:gd name="T10" fmla="*/ 0 h 1001"/>
              <a:gd name="T11" fmla="*/ 1216 w 1216"/>
              <a:gd name="T12" fmla="*/ 1001 h 1001"/>
            </a:gdLst>
            <a:ahLst/>
            <a:cxnLst>
              <a:cxn ang="T6">
                <a:pos x="T0" y="T1"/>
              </a:cxn>
              <a:cxn ang="T7">
                <a:pos x="T2" y="T3"/>
              </a:cxn>
              <a:cxn ang="T8">
                <a:pos x="T4" y="T5"/>
              </a:cxn>
            </a:cxnLst>
            <a:rect l="T9" t="T10" r="T11" b="T12"/>
            <a:pathLst>
              <a:path w="1216" h="1001">
                <a:moveTo>
                  <a:pt x="0" y="0"/>
                </a:moveTo>
                <a:cubicBezTo>
                  <a:pt x="84" y="155"/>
                  <a:pt x="301" y="855"/>
                  <a:pt x="504" y="928"/>
                </a:cubicBezTo>
                <a:cubicBezTo>
                  <a:pt x="707" y="1001"/>
                  <a:pt x="1068" y="542"/>
                  <a:pt x="1216" y="440"/>
                </a:cubicBezTo>
              </a:path>
            </a:pathLst>
          </a:custGeom>
          <a:noFill/>
          <a:ln w="7620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236560" name="Freeform 41"/>
          <p:cNvSpPr>
            <a:spLocks/>
          </p:cNvSpPr>
          <p:nvPr/>
        </p:nvSpPr>
        <p:spPr bwMode="auto">
          <a:xfrm>
            <a:off x="4546600" y="2806700"/>
            <a:ext cx="2043113" cy="2082800"/>
          </a:xfrm>
          <a:custGeom>
            <a:avLst/>
            <a:gdLst>
              <a:gd name="T0" fmla="*/ 2147483647 w 1287"/>
              <a:gd name="T1" fmla="*/ 2147483647 h 1312"/>
              <a:gd name="T2" fmla="*/ 2147483647 w 1287"/>
              <a:gd name="T3" fmla="*/ 2147483647 h 1312"/>
              <a:gd name="T4" fmla="*/ 0 w 1287"/>
              <a:gd name="T5" fmla="*/ 0 h 1312"/>
              <a:gd name="T6" fmla="*/ 0 60000 65536"/>
              <a:gd name="T7" fmla="*/ 0 60000 65536"/>
              <a:gd name="T8" fmla="*/ 0 60000 65536"/>
              <a:gd name="T9" fmla="*/ 0 w 1287"/>
              <a:gd name="T10" fmla="*/ 0 h 1312"/>
              <a:gd name="T11" fmla="*/ 1287 w 1287"/>
              <a:gd name="T12" fmla="*/ 1312 h 1312"/>
            </a:gdLst>
            <a:ahLst/>
            <a:cxnLst>
              <a:cxn ang="T6">
                <a:pos x="T0" y="T1"/>
              </a:cxn>
              <a:cxn ang="T7">
                <a:pos x="T2" y="T3"/>
              </a:cxn>
              <a:cxn ang="T8">
                <a:pos x="T4" y="T5"/>
              </a:cxn>
            </a:cxnLst>
            <a:rect l="T9" t="T10" r="T11" b="T12"/>
            <a:pathLst>
              <a:path w="1287" h="1312">
                <a:moveTo>
                  <a:pt x="1096" y="1312"/>
                </a:moveTo>
                <a:cubicBezTo>
                  <a:pt x="1097" y="1157"/>
                  <a:pt x="1287" y="603"/>
                  <a:pt x="1104" y="384"/>
                </a:cubicBezTo>
                <a:cubicBezTo>
                  <a:pt x="921" y="165"/>
                  <a:pt x="230" y="80"/>
                  <a:pt x="0" y="0"/>
                </a:cubicBezTo>
              </a:path>
            </a:pathLst>
          </a:custGeom>
          <a:noFill/>
          <a:ln w="76200">
            <a:solidFill>
              <a:schemeClr val="accent2"/>
            </a:solidFill>
            <a:round/>
            <a:headEnd/>
            <a:tailEnd type="triangle" w="med" len="med"/>
          </a:ln>
        </p:spPr>
        <p:txBody>
          <a:bodyPr wrap="none" anchor="ctr"/>
          <a:lstStyle/>
          <a:p>
            <a:endParaRPr lang="en-US">
              <a:latin typeface="Arial" pitchFamily="34" charset="0"/>
              <a:cs typeface="Arial" pitchFamily="34" charset="0"/>
            </a:endParaRPr>
          </a:p>
        </p:txBody>
      </p:sp>
      <p:sp>
        <p:nvSpPr>
          <p:cNvPr id="236561" name="AutoShape 43"/>
          <p:cNvSpPr>
            <a:spLocks noChangeArrowheads="1"/>
          </p:cNvSpPr>
          <p:nvPr/>
        </p:nvSpPr>
        <p:spPr bwMode="auto">
          <a:xfrm>
            <a:off x="6527800" y="3733800"/>
            <a:ext cx="2235200" cy="685800"/>
          </a:xfrm>
          <a:prstGeom prst="cloudCallout">
            <a:avLst>
              <a:gd name="adj1" fmla="val -34801"/>
              <a:gd name="adj2" fmla="val 112500"/>
            </a:avLst>
          </a:prstGeom>
          <a:noFill/>
          <a:ln w="38100">
            <a:solidFill>
              <a:schemeClr val="accent2"/>
            </a:solidFill>
            <a:round/>
            <a:headEnd/>
            <a:tailEnd/>
          </a:ln>
        </p:spPr>
        <p:txBody>
          <a:bodyPr anchor="ctr"/>
          <a:lstStyle/>
          <a:p>
            <a:pPr algn="ctr">
              <a:spcBef>
                <a:spcPct val="0"/>
              </a:spcBef>
            </a:pPr>
            <a:r>
              <a:rPr lang="en-US" sz="2800">
                <a:solidFill>
                  <a:schemeClr val="accent2"/>
                </a:solidFill>
                <a:latin typeface="Arial" pitchFamily="34" charset="0"/>
                <a:cs typeface="Arial" pitchFamily="34" charset="0"/>
              </a:rPr>
              <a:t>remove</a:t>
            </a:r>
          </a:p>
        </p:txBody>
      </p:sp>
      <p:sp>
        <p:nvSpPr>
          <p:cNvPr id="236562" name="AutoShape 44"/>
          <p:cNvSpPr>
            <a:spLocks noChangeArrowheads="1"/>
          </p:cNvSpPr>
          <p:nvPr/>
        </p:nvSpPr>
        <p:spPr bwMode="auto">
          <a:xfrm>
            <a:off x="2006600" y="1714500"/>
            <a:ext cx="1524000" cy="685800"/>
          </a:xfrm>
          <a:prstGeom prst="cloudCallout">
            <a:avLst>
              <a:gd name="adj1" fmla="val -58542"/>
              <a:gd name="adj2" fmla="val 77315"/>
            </a:avLst>
          </a:prstGeom>
          <a:noFill/>
          <a:ln w="38100">
            <a:solidFill>
              <a:srgbClr val="FF5050"/>
            </a:solidFill>
            <a:round/>
            <a:headEnd/>
            <a:tailEnd/>
          </a:ln>
        </p:spPr>
        <p:txBody>
          <a:bodyPr anchor="ctr"/>
          <a:lstStyle/>
          <a:p>
            <a:pPr algn="ctr">
              <a:spcBef>
                <a:spcPct val="0"/>
              </a:spcBef>
            </a:pPr>
            <a:r>
              <a:rPr lang="en-US" sz="2800">
                <a:solidFill>
                  <a:srgbClr val="FF5050"/>
                </a:solidFill>
                <a:latin typeface="Arial" pitchFamily="34" charset="0"/>
                <a:cs typeface="Arial" pitchFamily="34" charset="0"/>
              </a:rPr>
              <a:t>put</a:t>
            </a:r>
          </a:p>
        </p:txBody>
      </p:sp>
      <p:grpSp>
        <p:nvGrpSpPr>
          <p:cNvPr id="236563" name="Group 45"/>
          <p:cNvGrpSpPr>
            <a:grpSpLocks/>
          </p:cNvGrpSpPr>
          <p:nvPr/>
        </p:nvGrpSpPr>
        <p:grpSpPr bwMode="auto">
          <a:xfrm>
            <a:off x="3951288" y="2679700"/>
            <a:ext cx="430212" cy="341313"/>
            <a:chOff x="2828" y="3460"/>
            <a:chExt cx="271" cy="215"/>
          </a:xfrm>
        </p:grpSpPr>
        <p:sp>
          <p:nvSpPr>
            <p:cNvPr id="236571" name="Oval 46"/>
            <p:cNvSpPr>
              <a:spLocks noChangeArrowheads="1"/>
            </p:cNvSpPr>
            <p:nvPr/>
          </p:nvSpPr>
          <p:spPr bwMode="auto">
            <a:xfrm>
              <a:off x="2828" y="3460"/>
              <a:ext cx="271" cy="215"/>
            </a:xfrm>
            <a:prstGeom prst="ellipse">
              <a:avLst/>
            </a:prstGeom>
            <a:solidFill>
              <a:srgbClr val="FF990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72" name="Oval 47"/>
            <p:cNvSpPr>
              <a:spLocks noChangeArrowheads="1"/>
            </p:cNvSpPr>
            <p:nvPr/>
          </p:nvSpPr>
          <p:spPr bwMode="auto">
            <a:xfrm>
              <a:off x="2982" y="3498"/>
              <a:ext cx="71" cy="60"/>
            </a:xfrm>
            <a:prstGeom prst="ellipse">
              <a:avLst/>
            </a:prstGeom>
            <a:solidFill>
              <a:srgbClr val="FFFF99"/>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36564" name="Group 48"/>
          <p:cNvGrpSpPr>
            <a:grpSpLocks/>
          </p:cNvGrpSpPr>
          <p:nvPr/>
        </p:nvGrpSpPr>
        <p:grpSpPr bwMode="auto">
          <a:xfrm>
            <a:off x="3951288" y="3213100"/>
            <a:ext cx="430212" cy="341313"/>
            <a:chOff x="2828" y="3460"/>
            <a:chExt cx="271" cy="215"/>
          </a:xfrm>
        </p:grpSpPr>
        <p:sp>
          <p:nvSpPr>
            <p:cNvPr id="236569" name="Oval 49"/>
            <p:cNvSpPr>
              <a:spLocks noChangeArrowheads="1"/>
            </p:cNvSpPr>
            <p:nvPr/>
          </p:nvSpPr>
          <p:spPr bwMode="auto">
            <a:xfrm>
              <a:off x="2828" y="3460"/>
              <a:ext cx="271" cy="215"/>
            </a:xfrm>
            <a:prstGeom prst="ellipse">
              <a:avLst/>
            </a:prstGeom>
            <a:solidFill>
              <a:srgbClr val="FF5050"/>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70" name="Oval 50"/>
            <p:cNvSpPr>
              <a:spLocks noChangeArrowheads="1"/>
            </p:cNvSpPr>
            <p:nvPr/>
          </p:nvSpPr>
          <p:spPr bwMode="auto">
            <a:xfrm>
              <a:off x="2982" y="3498"/>
              <a:ext cx="71" cy="60"/>
            </a:xfrm>
            <a:prstGeom prst="ellipse">
              <a:avLst/>
            </a:prstGeom>
            <a:solidFill>
              <a:srgbClr val="FF9999"/>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236565" name="Line 60"/>
          <p:cNvSpPr>
            <a:spLocks noChangeShapeType="1"/>
          </p:cNvSpPr>
          <p:nvPr/>
        </p:nvSpPr>
        <p:spPr bwMode="auto">
          <a:xfrm>
            <a:off x="3708400" y="2578100"/>
            <a:ext cx="914400" cy="0"/>
          </a:xfrm>
          <a:prstGeom prst="line">
            <a:avLst/>
          </a:prstGeom>
          <a:noFill/>
          <a:ln w="9525">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566" name="Right Brace 123"/>
          <p:cNvSpPr>
            <a:spLocks/>
          </p:cNvSpPr>
          <p:nvPr/>
        </p:nvSpPr>
        <p:spPr bwMode="auto">
          <a:xfrm rot="5400000">
            <a:off x="2438400" y="5314255"/>
            <a:ext cx="546100" cy="483989"/>
          </a:xfrm>
          <a:prstGeom prst="rightBrace">
            <a:avLst>
              <a:gd name="adj1" fmla="val 8328"/>
              <a:gd name="adj2" fmla="val 47898"/>
            </a:avLst>
          </a:prstGeom>
          <a:noFill/>
          <a:ln w="28575" algn="ctr">
            <a:solidFill>
              <a:schemeClr val="tx1"/>
            </a:solidFill>
            <a:round/>
            <a:headEnd/>
            <a:tailEnd/>
          </a:ln>
        </p:spPr>
        <p:txBody>
          <a:bodyPr>
            <a:spAutoFit/>
          </a:bodyPr>
          <a:lstStyle/>
          <a:p>
            <a:pPr marL="342900" indent="-342900"/>
            <a:endParaRPr lang="en-US">
              <a:latin typeface="Arial" pitchFamily="34" charset="0"/>
              <a:cs typeface="Arial" pitchFamily="34" charset="0"/>
            </a:endParaRPr>
          </a:p>
        </p:txBody>
      </p:sp>
      <p:sp>
        <p:nvSpPr>
          <p:cNvPr id="125" name="TextBox 124"/>
          <p:cNvSpPr txBox="1"/>
          <p:nvPr/>
        </p:nvSpPr>
        <p:spPr>
          <a:xfrm>
            <a:off x="1803400" y="5905500"/>
            <a:ext cx="1944688" cy="461963"/>
          </a:xfrm>
          <a:prstGeom prst="rect">
            <a:avLst/>
          </a:prstGeom>
          <a:noFill/>
        </p:spPr>
        <p:txBody>
          <a:bodyPr wrap="none">
            <a:spAutoFit/>
          </a:bodyPr>
          <a:lstStyle/>
          <a:p>
            <a:pPr>
              <a:defRPr/>
            </a:pPr>
            <a:r>
              <a:rPr lang="en-US" dirty="0">
                <a:solidFill>
                  <a:schemeClr val="tx1"/>
                </a:solidFill>
                <a:latin typeface="Arial" pitchFamily="34" charset="0"/>
                <a:ea typeface="Kozuka Gothic Pro H" pitchFamily="34" charset="-128"/>
                <a:cs typeface="Arial" pitchFamily="34" charset="0"/>
              </a:rPr>
              <a:t>Depth log</a:t>
            </a:r>
            <a:r>
              <a:rPr lang="en-US" baseline="30000" dirty="0">
                <a:solidFill>
                  <a:schemeClr val="tx1"/>
                </a:solidFill>
                <a:latin typeface="Arial" pitchFamily="34" charset="0"/>
                <a:ea typeface="Kozuka Gothic Pro H" pitchFamily="34" charset="-128"/>
                <a:cs typeface="Arial" pitchFamily="34" charset="0"/>
              </a:rPr>
              <a:t>2</a:t>
            </a:r>
            <a:r>
              <a:rPr lang="en-US" dirty="0">
                <a:solidFill>
                  <a:schemeClr val="tx1"/>
                </a:solidFill>
                <a:latin typeface="Arial" pitchFamily="34" charset="0"/>
                <a:ea typeface="Kozuka Gothic Pro H" pitchFamily="34" charset="-128"/>
                <a:cs typeface="Arial" pitchFamily="34" charset="0"/>
              </a:rPr>
              <a:t>w</a:t>
            </a:r>
          </a:p>
        </p:txBody>
      </p:sp>
      <p:sp>
        <p:nvSpPr>
          <p:cNvPr id="126" name="TextBox 125"/>
          <p:cNvSpPr txBox="1"/>
          <p:nvPr/>
        </p:nvSpPr>
        <p:spPr>
          <a:xfrm rot="20939870">
            <a:off x="3832225" y="5097463"/>
            <a:ext cx="2717800" cy="1200150"/>
          </a:xfrm>
          <a:prstGeom prst="rect">
            <a:avLst/>
          </a:prstGeom>
          <a:solidFill>
            <a:schemeClr val="bg1"/>
          </a:solidFill>
          <a:ln w="28575">
            <a:solidFill>
              <a:schemeClr val="tx1"/>
            </a:solidFill>
          </a:ln>
        </p:spPr>
        <p:txBody>
          <a:bodyPr>
            <a:spAutoFit/>
          </a:bodyPr>
          <a:lstStyle/>
          <a:p>
            <a:pPr>
              <a:defRPr/>
            </a:pPr>
            <a:r>
              <a:rPr lang="en-US" sz="3600" dirty="0">
                <a:solidFill>
                  <a:schemeClr val="tx1"/>
                </a:solidFill>
                <a:latin typeface="Arial" pitchFamily="34" charset="0"/>
                <a:ea typeface="Kozuka Gothic Pro H" pitchFamily="34" charset="-128"/>
                <a:cs typeface="Arial" pitchFamily="34" charset="0"/>
              </a:rPr>
              <a:t>Can we do better?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Line 9"/>
          <p:cNvSpPr>
            <a:spLocks noChangeShapeType="1"/>
          </p:cNvSpPr>
          <p:nvPr/>
        </p:nvSpPr>
        <p:spPr bwMode="auto">
          <a:xfrm>
            <a:off x="3295651" y="3075709"/>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 name="Line 9"/>
          <p:cNvSpPr>
            <a:spLocks noChangeShapeType="1"/>
          </p:cNvSpPr>
          <p:nvPr/>
        </p:nvSpPr>
        <p:spPr bwMode="auto">
          <a:xfrm>
            <a:off x="4297363" y="2514600"/>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 name="Footer Placeholder 4"/>
          <p:cNvSpPr>
            <a:spLocks noGrp="1"/>
          </p:cNvSpPr>
          <p:nvPr>
            <p:ph type="ftr" sz="quarter" idx="10"/>
          </p:nvPr>
        </p:nvSpPr>
        <p:spPr/>
        <p:txBody>
          <a:bodyPr/>
          <a:lstStyle/>
          <a:p>
            <a:pPr>
              <a:defRPr/>
            </a:pPr>
            <a:r>
              <a:rPr lang="en-US"/>
              <a:t>Art of Multiprocessor Programming</a:t>
            </a:r>
          </a:p>
        </p:txBody>
      </p:sp>
      <p:sp>
        <p:nvSpPr>
          <p:cNvPr id="21" name="Slide Number Placeholder 5"/>
          <p:cNvSpPr>
            <a:spLocks noGrp="1"/>
          </p:cNvSpPr>
          <p:nvPr>
            <p:ph type="sldNum" sz="quarter" idx="11"/>
          </p:nvPr>
        </p:nvSpPr>
        <p:spPr/>
        <p:txBody>
          <a:bodyPr/>
          <a:lstStyle/>
          <a:p>
            <a:pPr>
              <a:defRPr/>
            </a:pPr>
            <a:fld id="{B7F15EA2-BF88-4B97-8AD8-4C0321DD5E58}" type="slidenum">
              <a:rPr lang="en-US"/>
              <a:pPr>
                <a:defRPr/>
              </a:pPr>
              <a:t>238</a:t>
            </a:fld>
            <a:endParaRPr lang="en-US"/>
          </a:p>
        </p:txBody>
      </p:sp>
      <p:grpSp>
        <p:nvGrpSpPr>
          <p:cNvPr id="2" name="Group 2"/>
          <p:cNvGrpSpPr>
            <a:grpSpLocks/>
          </p:cNvGrpSpPr>
          <p:nvPr/>
        </p:nvGrpSpPr>
        <p:grpSpPr bwMode="auto">
          <a:xfrm>
            <a:off x="2084190" y="2651846"/>
            <a:ext cx="1377950" cy="423863"/>
            <a:chOff x="1313" y="2496"/>
            <a:chExt cx="1252" cy="427"/>
          </a:xfrm>
        </p:grpSpPr>
        <p:sp>
          <p:nvSpPr>
            <p:cNvPr id="118802"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8803"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8804"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8805"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18789" name="Rectangle 7"/>
          <p:cNvSpPr>
            <a:spLocks noGrp="1" noChangeArrowheads="1"/>
          </p:cNvSpPr>
          <p:nvPr>
            <p:ph type="title"/>
          </p:nvPr>
        </p:nvSpPr>
        <p:spPr/>
        <p:txBody>
          <a:bodyPr/>
          <a:lstStyle/>
          <a:p>
            <a:r>
              <a:rPr lang="en-US" dirty="0"/>
              <a:t>Counting Trees</a:t>
            </a:r>
          </a:p>
        </p:txBody>
      </p:sp>
      <p:sp>
        <p:nvSpPr>
          <p:cNvPr id="118791" name="Line 9"/>
          <p:cNvSpPr>
            <a:spLocks noChangeShapeType="1"/>
          </p:cNvSpPr>
          <p:nvPr/>
        </p:nvSpPr>
        <p:spPr bwMode="auto">
          <a:xfrm>
            <a:off x="4297363" y="3794125"/>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8792" name="AutoShape 10"/>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740369" name="Line 17"/>
          <p:cNvSpPr>
            <a:spLocks noChangeShapeType="1"/>
          </p:cNvSpPr>
          <p:nvPr/>
        </p:nvSpPr>
        <p:spPr bwMode="auto">
          <a:xfrm>
            <a:off x="4419600" y="251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sp>
        <p:nvSpPr>
          <p:cNvPr id="118795" name="Oval 18"/>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18796" name="Oval 19"/>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grpSp>
        <p:nvGrpSpPr>
          <p:cNvPr id="3" name="Group 12"/>
          <p:cNvGrpSpPr>
            <a:grpSpLocks/>
          </p:cNvGrpSpPr>
          <p:nvPr/>
        </p:nvGrpSpPr>
        <p:grpSpPr bwMode="auto">
          <a:xfrm>
            <a:off x="2096890" y="2651846"/>
            <a:ext cx="1377950" cy="423863"/>
            <a:chOff x="1313" y="2496"/>
            <a:chExt cx="1252" cy="427"/>
          </a:xfrm>
        </p:grpSpPr>
        <p:sp>
          <p:nvSpPr>
            <p:cNvPr id="118798" name="Freeform 1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8799" name="Freeform 1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8800" name="Oval 1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8801" name="Oval 1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9" name="AutoShape 58"/>
          <p:cNvSpPr>
            <a:spLocks noChangeArrowheads="1"/>
          </p:cNvSpPr>
          <p:nvPr/>
        </p:nvSpPr>
        <p:spPr bwMode="auto">
          <a:xfrm>
            <a:off x="619125" y="4611688"/>
            <a:ext cx="3397250" cy="623887"/>
          </a:xfrm>
          <a:prstGeom prst="wedgeRoundRectCallout">
            <a:avLst>
              <a:gd name="adj1" fmla="val 47389"/>
              <a:gd name="adj2" fmla="val -259686"/>
              <a:gd name="adj3" fmla="val 16667"/>
            </a:avLst>
          </a:prstGeom>
          <a:noFill/>
          <a:ln w="28575">
            <a:solidFill>
              <a:schemeClr val="accent2"/>
            </a:solidFill>
            <a:miter lim="800000"/>
            <a:headEnd/>
            <a:tailEnd/>
          </a:ln>
        </p:spPr>
        <p:txBody>
          <a:bodyPr wrap="none" anchor="ctr"/>
          <a:lstStyle/>
          <a:p>
            <a:pPr algn="ctr">
              <a:spcBef>
                <a:spcPct val="0"/>
              </a:spcBef>
            </a:pPr>
            <a:r>
              <a:rPr lang="en-US" sz="2800" b="0">
                <a:latin typeface="Arial" pitchFamily="34" charset="0"/>
                <a:cs typeface="Arial" pitchFamily="34" charset="0"/>
              </a:rPr>
              <a:t>Single input wire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66667E-6 -2.93247E-6 C 0.06823 0.00925 0.13663 0.0185 0.16615 0.00347 C 0.19566 -0.01157 0.15 -0.07447 0.17656 -0.08997 C 0.20312 -0.10546 0.26441 -0.09783 0.32587 -0.08997 " pathEditMode="relative" ptsTypes="aaaA">
                                      <p:cBhvr>
                                        <p:cTn id="6" dur="2000" fill="hold"/>
                                        <p:tgtEl>
                                          <p:spTgt spid="3"/>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0556 0.0074 L -0.00556 0.19259 " pathEditMode="relative" ptsTypes="AA">
                                      <p:cBhvr>
                                        <p:cTn id="8" dur="2000" fill="hold"/>
                                        <p:tgtEl>
                                          <p:spTgt spid="740369"/>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blinds(horizontal)">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69" grpId="0" animBg="1"/>
      <p:bldP spid="29" grpId="0" animBg="1"/>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Line 9"/>
          <p:cNvSpPr>
            <a:spLocks noChangeShapeType="1"/>
          </p:cNvSpPr>
          <p:nvPr/>
        </p:nvSpPr>
        <p:spPr bwMode="auto">
          <a:xfrm>
            <a:off x="3295651" y="3075709"/>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2" name="Line 9"/>
          <p:cNvSpPr>
            <a:spLocks noChangeShapeType="1"/>
          </p:cNvSpPr>
          <p:nvPr/>
        </p:nvSpPr>
        <p:spPr bwMode="auto">
          <a:xfrm>
            <a:off x="4297363" y="2514600"/>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3" name="Line 9"/>
          <p:cNvSpPr>
            <a:spLocks noChangeShapeType="1"/>
          </p:cNvSpPr>
          <p:nvPr/>
        </p:nvSpPr>
        <p:spPr bwMode="auto">
          <a:xfrm>
            <a:off x="4297363" y="3794125"/>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9" name="Footer Placeholder 4"/>
          <p:cNvSpPr>
            <a:spLocks noGrp="1"/>
          </p:cNvSpPr>
          <p:nvPr>
            <p:ph type="ftr" sz="quarter" idx="10"/>
          </p:nvPr>
        </p:nvSpPr>
        <p:spPr/>
        <p:txBody>
          <a:bodyPr/>
          <a:lstStyle/>
          <a:p>
            <a:pPr>
              <a:defRPr/>
            </a:pPr>
            <a:r>
              <a:rPr lang="en-US"/>
              <a:t>Art of Multiprocessor Programming</a:t>
            </a:r>
          </a:p>
        </p:txBody>
      </p:sp>
      <p:sp>
        <p:nvSpPr>
          <p:cNvPr id="30" name="Slide Number Placeholder 5"/>
          <p:cNvSpPr>
            <a:spLocks noGrp="1"/>
          </p:cNvSpPr>
          <p:nvPr>
            <p:ph type="sldNum" sz="quarter" idx="11"/>
          </p:nvPr>
        </p:nvSpPr>
        <p:spPr/>
        <p:txBody>
          <a:bodyPr/>
          <a:lstStyle/>
          <a:p>
            <a:pPr>
              <a:defRPr/>
            </a:pPr>
            <a:fld id="{34AFD9EB-E3A4-4D47-9FD2-3BE108D0697F}" type="slidenum">
              <a:rPr lang="en-US"/>
              <a:pPr>
                <a:defRPr/>
              </a:pPr>
              <a:t>239</a:t>
            </a:fld>
            <a:endParaRPr lang="en-US"/>
          </a:p>
        </p:txBody>
      </p:sp>
      <p:grpSp>
        <p:nvGrpSpPr>
          <p:cNvPr id="2" name="Group 2"/>
          <p:cNvGrpSpPr>
            <a:grpSpLocks/>
          </p:cNvGrpSpPr>
          <p:nvPr/>
        </p:nvGrpSpPr>
        <p:grpSpPr bwMode="auto">
          <a:xfrm>
            <a:off x="1489952" y="3103923"/>
            <a:ext cx="1377950" cy="423863"/>
            <a:chOff x="1313" y="2496"/>
            <a:chExt cx="1252" cy="427"/>
          </a:xfrm>
        </p:grpSpPr>
        <p:sp>
          <p:nvSpPr>
            <p:cNvPr id="119835"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6"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7"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19838"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19814" name="Rectangle 12"/>
          <p:cNvSpPr>
            <a:spLocks noGrp="1" noChangeArrowheads="1"/>
          </p:cNvSpPr>
          <p:nvPr>
            <p:ph type="title"/>
          </p:nvPr>
        </p:nvSpPr>
        <p:spPr/>
        <p:txBody>
          <a:bodyPr/>
          <a:lstStyle/>
          <a:p>
            <a:r>
              <a:rPr lang="en-US" dirty="0"/>
              <a:t>Counting Trees</a:t>
            </a:r>
          </a:p>
        </p:txBody>
      </p:sp>
      <p:sp>
        <p:nvSpPr>
          <p:cNvPr id="119817" name="AutoShape 15"/>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4" name="Group 16"/>
          <p:cNvGrpSpPr>
            <a:grpSpLocks/>
          </p:cNvGrpSpPr>
          <p:nvPr/>
        </p:nvGrpSpPr>
        <p:grpSpPr bwMode="auto">
          <a:xfrm>
            <a:off x="5724525" y="2336800"/>
            <a:ext cx="1377950" cy="423863"/>
            <a:chOff x="1313" y="2496"/>
            <a:chExt cx="1252" cy="427"/>
          </a:xfrm>
        </p:grpSpPr>
        <p:sp>
          <p:nvSpPr>
            <p:cNvPr id="119827" name="Freeform 1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8" name="Freeform 1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9" name="Oval 1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30" name="Oval 2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42421" name="Line 21"/>
          <p:cNvSpPr>
            <a:spLocks noChangeShapeType="1"/>
          </p:cNvSpPr>
          <p:nvPr/>
        </p:nvSpPr>
        <p:spPr bwMode="auto">
          <a:xfrm>
            <a:off x="4419600" y="37592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5" name="Group 22"/>
          <p:cNvGrpSpPr>
            <a:grpSpLocks/>
          </p:cNvGrpSpPr>
          <p:nvPr/>
        </p:nvGrpSpPr>
        <p:grpSpPr bwMode="auto">
          <a:xfrm>
            <a:off x="1489952" y="3103923"/>
            <a:ext cx="1377950" cy="423863"/>
            <a:chOff x="1313" y="2496"/>
            <a:chExt cx="1252" cy="427"/>
          </a:xfrm>
        </p:grpSpPr>
        <p:sp>
          <p:nvSpPr>
            <p:cNvPr id="119823" name="Freeform 2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4" name="Freeform 2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5" name="Oval 2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19826" name="Oval 2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19821" name="Oval 27"/>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19822" name="Oval 28"/>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grpSp>
        <p:nvGrpSpPr>
          <p:cNvPr id="44" name="Group 2"/>
          <p:cNvGrpSpPr>
            <a:grpSpLocks/>
          </p:cNvGrpSpPr>
          <p:nvPr/>
        </p:nvGrpSpPr>
        <p:grpSpPr bwMode="auto">
          <a:xfrm>
            <a:off x="2084190" y="2651846"/>
            <a:ext cx="1377950" cy="423863"/>
            <a:chOff x="1313" y="2496"/>
            <a:chExt cx="1252" cy="427"/>
          </a:xfrm>
        </p:grpSpPr>
        <p:sp>
          <p:nvSpPr>
            <p:cNvPr id="45"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46"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47"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48"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556 -0.00185 L -0.00556 -0.17778 " pathEditMode="relative" ptsTypes="AA">
                                      <p:cBhvr>
                                        <p:cTn id="6" dur="2000" fill="hold"/>
                                        <p:tgtEl>
                                          <p:spTgt spid="742421"/>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00903 -0.00694 C 0.10451 -0.01989 0.2 -0.03261 0.2467 -0.01735 C 0.2934 -0.00209 0.25712 0.06891 0.28958 0.08464 C 0.32205 0.10037 0.38177 0.08903 0.44149 0.0777 " pathEditMode="relative" rAng="0" ptsTypes="aaaA">
                                      <p:cBhvr>
                                        <p:cTn id="8" dur="2000" fill="hold"/>
                                        <p:tgtEl>
                                          <p:spTgt spid="5"/>
                                        </p:tgtEl>
                                        <p:attrNameLst>
                                          <p:attrName>ppt_x</p:attrName>
                                          <p:attrName>ppt_y</p:attrName>
                                        </p:attrNameLst>
                                      </p:cBhvr>
                                      <p:rCtr x="21600" y="4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21" grpId="0" animBg="1"/>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Line 9"/>
          <p:cNvSpPr>
            <a:spLocks noChangeShapeType="1"/>
          </p:cNvSpPr>
          <p:nvPr/>
        </p:nvSpPr>
        <p:spPr bwMode="auto">
          <a:xfrm>
            <a:off x="3295651" y="3075709"/>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2" name="Line 9"/>
          <p:cNvSpPr>
            <a:spLocks noChangeShapeType="1"/>
          </p:cNvSpPr>
          <p:nvPr/>
        </p:nvSpPr>
        <p:spPr bwMode="auto">
          <a:xfrm>
            <a:off x="4297363" y="2514600"/>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 name="Line 9"/>
          <p:cNvSpPr>
            <a:spLocks noChangeShapeType="1"/>
          </p:cNvSpPr>
          <p:nvPr/>
        </p:nvSpPr>
        <p:spPr bwMode="auto">
          <a:xfrm>
            <a:off x="4297363" y="3794125"/>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9" name="Footer Placeholder 4"/>
          <p:cNvSpPr>
            <a:spLocks noGrp="1"/>
          </p:cNvSpPr>
          <p:nvPr>
            <p:ph type="ftr" sz="quarter" idx="10"/>
          </p:nvPr>
        </p:nvSpPr>
        <p:spPr/>
        <p:txBody>
          <a:bodyPr/>
          <a:lstStyle/>
          <a:p>
            <a:pPr>
              <a:defRPr/>
            </a:pPr>
            <a:r>
              <a:rPr lang="en-US"/>
              <a:t>Art of Multiprocessor Programming</a:t>
            </a:r>
          </a:p>
        </p:txBody>
      </p:sp>
      <p:sp>
        <p:nvSpPr>
          <p:cNvPr id="40" name="Slide Number Placeholder 5"/>
          <p:cNvSpPr>
            <a:spLocks noGrp="1"/>
          </p:cNvSpPr>
          <p:nvPr>
            <p:ph type="sldNum" sz="quarter" idx="11"/>
          </p:nvPr>
        </p:nvSpPr>
        <p:spPr/>
        <p:txBody>
          <a:bodyPr/>
          <a:lstStyle/>
          <a:p>
            <a:pPr>
              <a:defRPr/>
            </a:pPr>
            <a:fld id="{2733952E-8B85-406A-9B4F-A616FDA1EA1F}" type="slidenum">
              <a:rPr lang="en-US"/>
              <a:pPr>
                <a:defRPr/>
              </a:pPr>
              <a:t>240</a:t>
            </a:fld>
            <a:endParaRPr lang="en-US"/>
          </a:p>
        </p:txBody>
      </p:sp>
      <p:sp>
        <p:nvSpPr>
          <p:cNvPr id="120838" name="Rectangle 12"/>
          <p:cNvSpPr>
            <a:spLocks noGrp="1" noChangeArrowheads="1"/>
          </p:cNvSpPr>
          <p:nvPr>
            <p:ph type="title"/>
          </p:nvPr>
        </p:nvSpPr>
        <p:spPr/>
        <p:txBody>
          <a:bodyPr/>
          <a:lstStyle/>
          <a:p>
            <a:r>
              <a:rPr lang="en-US" dirty="0"/>
              <a:t>Counting Trees</a:t>
            </a:r>
          </a:p>
        </p:txBody>
      </p:sp>
      <p:sp>
        <p:nvSpPr>
          <p:cNvPr id="120841" name="AutoShape 15"/>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4" name="Group 16"/>
          <p:cNvGrpSpPr>
            <a:grpSpLocks/>
          </p:cNvGrpSpPr>
          <p:nvPr/>
        </p:nvGrpSpPr>
        <p:grpSpPr bwMode="auto">
          <a:xfrm>
            <a:off x="5724525" y="2336800"/>
            <a:ext cx="1377950" cy="423863"/>
            <a:chOff x="1313" y="2496"/>
            <a:chExt cx="1252" cy="427"/>
          </a:xfrm>
        </p:grpSpPr>
        <p:sp>
          <p:nvSpPr>
            <p:cNvPr id="120861" name="Freeform 17"/>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62" name="Freeform 18"/>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63" name="Oval 19"/>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64" name="Oval 20"/>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44469" name="Line 21"/>
          <p:cNvSpPr>
            <a:spLocks noChangeShapeType="1"/>
          </p:cNvSpPr>
          <p:nvPr/>
        </p:nvSpPr>
        <p:spPr bwMode="auto">
          <a:xfrm>
            <a:off x="4419600" y="251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5" name="Group 22"/>
          <p:cNvGrpSpPr>
            <a:grpSpLocks/>
          </p:cNvGrpSpPr>
          <p:nvPr/>
        </p:nvGrpSpPr>
        <p:grpSpPr bwMode="auto">
          <a:xfrm>
            <a:off x="5737225" y="3556000"/>
            <a:ext cx="1377950" cy="423863"/>
            <a:chOff x="1313" y="2496"/>
            <a:chExt cx="1252" cy="427"/>
          </a:xfrm>
        </p:grpSpPr>
        <p:sp>
          <p:nvSpPr>
            <p:cNvPr id="120857" name="Freeform 2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8" name="Freeform 2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9" name="Oval 2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60" name="Oval 2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 name="Group 27"/>
          <p:cNvGrpSpPr>
            <a:grpSpLocks/>
          </p:cNvGrpSpPr>
          <p:nvPr/>
        </p:nvGrpSpPr>
        <p:grpSpPr bwMode="auto">
          <a:xfrm>
            <a:off x="2143125" y="3708400"/>
            <a:ext cx="1377950" cy="423863"/>
            <a:chOff x="1313" y="2496"/>
            <a:chExt cx="1252" cy="427"/>
          </a:xfrm>
        </p:grpSpPr>
        <p:sp>
          <p:nvSpPr>
            <p:cNvPr id="120853" name="Freeform 2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54" name="Freeform 2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55" name="Oval 3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0856" name="Oval 3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7" name="Group 32"/>
          <p:cNvGrpSpPr>
            <a:grpSpLocks/>
          </p:cNvGrpSpPr>
          <p:nvPr/>
        </p:nvGrpSpPr>
        <p:grpSpPr bwMode="auto">
          <a:xfrm>
            <a:off x="2143125" y="3708400"/>
            <a:ext cx="1377950" cy="423863"/>
            <a:chOff x="1313" y="2496"/>
            <a:chExt cx="1252" cy="427"/>
          </a:xfrm>
        </p:grpSpPr>
        <p:sp>
          <p:nvSpPr>
            <p:cNvPr id="12084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085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0847" name="Oval 37"/>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0848" name="Oval 38"/>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grpSp>
        <p:nvGrpSpPr>
          <p:cNvPr id="44" name="Group 2"/>
          <p:cNvGrpSpPr>
            <a:grpSpLocks/>
          </p:cNvGrpSpPr>
          <p:nvPr/>
        </p:nvGrpSpPr>
        <p:grpSpPr bwMode="auto">
          <a:xfrm>
            <a:off x="2084190" y="2651846"/>
            <a:ext cx="1377950" cy="423863"/>
            <a:chOff x="1313" y="2496"/>
            <a:chExt cx="1252" cy="427"/>
          </a:xfrm>
        </p:grpSpPr>
        <p:sp>
          <p:nvSpPr>
            <p:cNvPr id="45"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46"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47"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48"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49" name="Group 2"/>
          <p:cNvGrpSpPr>
            <a:grpSpLocks/>
          </p:cNvGrpSpPr>
          <p:nvPr/>
        </p:nvGrpSpPr>
        <p:grpSpPr bwMode="auto">
          <a:xfrm>
            <a:off x="1489952" y="3103923"/>
            <a:ext cx="1377950" cy="423863"/>
            <a:chOff x="1313" y="2496"/>
            <a:chExt cx="1252" cy="427"/>
          </a:xfrm>
        </p:grpSpPr>
        <p:sp>
          <p:nvSpPr>
            <p:cNvPr id="50"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1"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2"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3"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3611 -0.00741 C 0.0316 0.00879 0.09948 0.02523 0.13195 -0.00926 C 0.16441 -0.04375 0.11268 -0.1882 0.15834 -0.21482 C 0.204 -0.24144 0.30469 -0.20509 0.40556 -0.16852 " pathEditMode="relative" rAng="0" ptsTypes="aaaA">
                                      <p:cBhvr>
                                        <p:cTn id="6" dur="2000" fill="hold"/>
                                        <p:tgtEl>
                                          <p:spTgt spid="7"/>
                                        </p:tgtEl>
                                        <p:attrNameLst>
                                          <p:attrName>ppt_x</p:attrName>
                                          <p:attrName>ppt_y</p:attrName>
                                        </p:attrNameLst>
                                      </p:cBhvr>
                                      <p:rCtr x="221" y="-101"/>
                                    </p:animMotion>
                                  </p:childTnLst>
                                </p:cTn>
                              </p:par>
                              <p:par>
                                <p:cTn id="7" presetID="0" presetClass="path" presetSubtype="0" accel="50000" decel="50000" fill="hold" grpId="0" nodeType="withEffect">
                                  <p:stCondLst>
                                    <p:cond delay="0"/>
                                  </p:stCondLst>
                                  <p:childTnLst>
                                    <p:animMotion origin="layout" path="M -0.00417 0.0037 L -0.00417 0.18148 " pathEditMode="relative" rAng="0" ptsTypes="AA">
                                      <p:cBhvr>
                                        <p:cTn id="8" dur="2000" fill="hold"/>
                                        <p:tgtEl>
                                          <p:spTgt spid="744469"/>
                                        </p:tgtEl>
                                        <p:attrNameLst>
                                          <p:attrName>ppt_x</p:attrName>
                                          <p:attrName>ppt_y</p:attrName>
                                        </p:attrNameLst>
                                      </p:cBhvr>
                                      <p:rCtr x="0" y="8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4469" grpId="0" animBg="1"/>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Line 9"/>
          <p:cNvSpPr>
            <a:spLocks noChangeShapeType="1"/>
          </p:cNvSpPr>
          <p:nvPr/>
        </p:nvSpPr>
        <p:spPr bwMode="auto">
          <a:xfrm>
            <a:off x="3295651" y="3075709"/>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2" name="Line 9"/>
          <p:cNvSpPr>
            <a:spLocks noChangeShapeType="1"/>
          </p:cNvSpPr>
          <p:nvPr/>
        </p:nvSpPr>
        <p:spPr bwMode="auto">
          <a:xfrm>
            <a:off x="4297363" y="2514600"/>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3" name="Line 9"/>
          <p:cNvSpPr>
            <a:spLocks noChangeShapeType="1"/>
          </p:cNvSpPr>
          <p:nvPr/>
        </p:nvSpPr>
        <p:spPr bwMode="auto">
          <a:xfrm>
            <a:off x="4297363" y="3794125"/>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9" name="Footer Placeholder 4"/>
          <p:cNvSpPr>
            <a:spLocks noGrp="1"/>
          </p:cNvSpPr>
          <p:nvPr>
            <p:ph type="ftr" sz="quarter" idx="10"/>
          </p:nvPr>
        </p:nvSpPr>
        <p:spPr/>
        <p:txBody>
          <a:bodyPr/>
          <a:lstStyle/>
          <a:p>
            <a:pPr>
              <a:defRPr/>
            </a:pPr>
            <a:r>
              <a:rPr lang="en-US"/>
              <a:t>Art of Multiprocessor Programming</a:t>
            </a:r>
          </a:p>
        </p:txBody>
      </p:sp>
      <p:sp>
        <p:nvSpPr>
          <p:cNvPr id="50" name="Slide Number Placeholder 5"/>
          <p:cNvSpPr>
            <a:spLocks noGrp="1"/>
          </p:cNvSpPr>
          <p:nvPr>
            <p:ph type="sldNum" sz="quarter" idx="11"/>
          </p:nvPr>
        </p:nvSpPr>
        <p:spPr/>
        <p:txBody>
          <a:bodyPr/>
          <a:lstStyle/>
          <a:p>
            <a:pPr>
              <a:defRPr/>
            </a:pPr>
            <a:fld id="{0DD9153A-F12E-482A-B83E-ABFD7ABB273F}" type="slidenum">
              <a:rPr lang="en-US"/>
              <a:pPr>
                <a:defRPr/>
              </a:pPr>
              <a:t>241</a:t>
            </a:fld>
            <a:endParaRPr lang="en-US"/>
          </a:p>
        </p:txBody>
      </p:sp>
      <p:grpSp>
        <p:nvGrpSpPr>
          <p:cNvPr id="2" name="Group 2"/>
          <p:cNvGrpSpPr>
            <a:grpSpLocks/>
          </p:cNvGrpSpPr>
          <p:nvPr/>
        </p:nvGrpSpPr>
        <p:grpSpPr bwMode="auto">
          <a:xfrm>
            <a:off x="2295525" y="3860800"/>
            <a:ext cx="1377950" cy="423863"/>
            <a:chOff x="1313" y="2496"/>
            <a:chExt cx="1252" cy="427"/>
          </a:xfrm>
        </p:grpSpPr>
        <p:sp>
          <p:nvSpPr>
            <p:cNvPr id="121903"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4"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5"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906"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1863" name="Rectangle 17"/>
          <p:cNvSpPr>
            <a:spLocks noGrp="1" noChangeArrowheads="1"/>
          </p:cNvSpPr>
          <p:nvPr>
            <p:ph type="title"/>
          </p:nvPr>
        </p:nvSpPr>
        <p:spPr/>
        <p:txBody>
          <a:bodyPr/>
          <a:lstStyle/>
          <a:p>
            <a:r>
              <a:rPr lang="en-US" dirty="0"/>
              <a:t>Counting Trees</a:t>
            </a:r>
          </a:p>
        </p:txBody>
      </p:sp>
      <p:sp>
        <p:nvSpPr>
          <p:cNvPr id="121866" name="AutoShape 20"/>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5" name="Group 21"/>
          <p:cNvGrpSpPr>
            <a:grpSpLocks/>
          </p:cNvGrpSpPr>
          <p:nvPr/>
        </p:nvGrpSpPr>
        <p:grpSpPr bwMode="auto">
          <a:xfrm>
            <a:off x="5724525" y="2336800"/>
            <a:ext cx="1377950" cy="423863"/>
            <a:chOff x="1313" y="2496"/>
            <a:chExt cx="1252" cy="427"/>
          </a:xfrm>
        </p:grpSpPr>
        <p:sp>
          <p:nvSpPr>
            <p:cNvPr id="121891" name="Freeform 2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92" name="Freeform 2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93" name="Oval 2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94" name="Oval 2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46522" name="Line 26"/>
          <p:cNvSpPr>
            <a:spLocks noChangeShapeType="1"/>
          </p:cNvSpPr>
          <p:nvPr/>
        </p:nvSpPr>
        <p:spPr bwMode="auto">
          <a:xfrm>
            <a:off x="4419600" y="378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6" name="Group 27"/>
          <p:cNvGrpSpPr>
            <a:grpSpLocks/>
          </p:cNvGrpSpPr>
          <p:nvPr/>
        </p:nvGrpSpPr>
        <p:grpSpPr bwMode="auto">
          <a:xfrm>
            <a:off x="5737225" y="3556000"/>
            <a:ext cx="1377950" cy="423863"/>
            <a:chOff x="1313" y="2496"/>
            <a:chExt cx="1252" cy="427"/>
          </a:xfrm>
        </p:grpSpPr>
        <p:sp>
          <p:nvSpPr>
            <p:cNvPr id="121887" name="Freeform 2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8" name="Freeform 2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9" name="Oval 3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90" name="Oval 3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7" name="Group 32"/>
          <p:cNvGrpSpPr>
            <a:grpSpLocks/>
          </p:cNvGrpSpPr>
          <p:nvPr/>
        </p:nvGrpSpPr>
        <p:grpSpPr bwMode="auto">
          <a:xfrm>
            <a:off x="2143125" y="3708400"/>
            <a:ext cx="1377950" cy="423863"/>
            <a:chOff x="1313" y="2496"/>
            <a:chExt cx="1252" cy="427"/>
          </a:xfrm>
        </p:grpSpPr>
        <p:sp>
          <p:nvSpPr>
            <p:cNvPr id="12188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8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85" name="Oval 3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1886" name="Oval 3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8" name="Group 37"/>
          <p:cNvGrpSpPr>
            <a:grpSpLocks/>
          </p:cNvGrpSpPr>
          <p:nvPr/>
        </p:nvGrpSpPr>
        <p:grpSpPr bwMode="auto">
          <a:xfrm>
            <a:off x="5864225" y="2565400"/>
            <a:ext cx="1377950" cy="423863"/>
            <a:chOff x="1313" y="2496"/>
            <a:chExt cx="1252" cy="427"/>
          </a:xfrm>
        </p:grpSpPr>
        <p:sp>
          <p:nvSpPr>
            <p:cNvPr id="121879" name="Freeform 3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0" name="Freeform 3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1" name="Oval 4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82" name="Oval 4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9" name="Group 42"/>
          <p:cNvGrpSpPr>
            <a:grpSpLocks/>
          </p:cNvGrpSpPr>
          <p:nvPr/>
        </p:nvGrpSpPr>
        <p:grpSpPr bwMode="auto">
          <a:xfrm>
            <a:off x="2295525" y="3860800"/>
            <a:ext cx="1377950" cy="423863"/>
            <a:chOff x="1313" y="2496"/>
            <a:chExt cx="1252" cy="427"/>
          </a:xfrm>
        </p:grpSpPr>
        <p:sp>
          <p:nvSpPr>
            <p:cNvPr id="121875" name="Freeform 4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76" name="Freeform 4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77" name="Oval 4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1878" name="Oval 4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1873" name="Oval 47"/>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1874" name="Oval 48"/>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grpSp>
        <p:nvGrpSpPr>
          <p:cNvPr id="54" name="Group 2"/>
          <p:cNvGrpSpPr>
            <a:grpSpLocks/>
          </p:cNvGrpSpPr>
          <p:nvPr/>
        </p:nvGrpSpPr>
        <p:grpSpPr bwMode="auto">
          <a:xfrm>
            <a:off x="2084190" y="2651846"/>
            <a:ext cx="1377950" cy="423863"/>
            <a:chOff x="1313" y="2496"/>
            <a:chExt cx="1252" cy="427"/>
          </a:xfrm>
        </p:grpSpPr>
        <p:sp>
          <p:nvSpPr>
            <p:cNvPr id="55"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6"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7"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58"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59" name="Group 2"/>
          <p:cNvGrpSpPr>
            <a:grpSpLocks/>
          </p:cNvGrpSpPr>
          <p:nvPr/>
        </p:nvGrpSpPr>
        <p:grpSpPr bwMode="auto">
          <a:xfrm>
            <a:off x="1489952" y="3103923"/>
            <a:ext cx="1377950" cy="423863"/>
            <a:chOff x="1313" y="2496"/>
            <a:chExt cx="1252" cy="427"/>
          </a:xfrm>
        </p:grpSpPr>
        <p:sp>
          <p:nvSpPr>
            <p:cNvPr id="60"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61"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62"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63"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11111E-6 1.11022E-16 L 0.39167 -0.01296 " pathEditMode="relative" rAng="0" ptsTypes="AA">
                                      <p:cBhvr>
                                        <p:cTn id="6" dur="2000" fill="hold"/>
                                        <p:tgtEl>
                                          <p:spTgt spid="9"/>
                                        </p:tgtEl>
                                        <p:attrNameLst>
                                          <p:attrName>ppt_x</p:attrName>
                                          <p:attrName>ppt_y</p:attrName>
                                        </p:attrNameLst>
                                      </p:cBhvr>
                                      <p:rCtr x="19600" y="-600"/>
                                    </p:animMotion>
                                  </p:childTnLst>
                                </p:cTn>
                              </p:par>
                              <p:par>
                                <p:cTn id="7" presetID="0" presetClass="path" presetSubtype="0" accel="50000" decel="50000" fill="hold" grpId="0" nodeType="withEffect">
                                  <p:stCondLst>
                                    <p:cond delay="0"/>
                                  </p:stCondLst>
                                  <p:childTnLst>
                                    <p:animMotion origin="layout" path="M -0.00556 0.00185 L -0.00556 -0.18518 " pathEditMode="relative" ptsTypes="AA">
                                      <p:cBhvr>
                                        <p:cTn id="8" dur="2000" fill="hold"/>
                                        <p:tgtEl>
                                          <p:spTgt spid="7465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522" grpId="0" animBg="1"/>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Line 9"/>
          <p:cNvSpPr>
            <a:spLocks noChangeShapeType="1"/>
          </p:cNvSpPr>
          <p:nvPr/>
        </p:nvSpPr>
        <p:spPr bwMode="auto">
          <a:xfrm>
            <a:off x="3295651" y="3075709"/>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5" name="Line 9"/>
          <p:cNvSpPr>
            <a:spLocks noChangeShapeType="1"/>
          </p:cNvSpPr>
          <p:nvPr/>
        </p:nvSpPr>
        <p:spPr bwMode="auto">
          <a:xfrm>
            <a:off x="4297363" y="2514600"/>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6" name="Line 9"/>
          <p:cNvSpPr>
            <a:spLocks noChangeShapeType="1"/>
          </p:cNvSpPr>
          <p:nvPr/>
        </p:nvSpPr>
        <p:spPr bwMode="auto">
          <a:xfrm>
            <a:off x="4297363" y="3794125"/>
            <a:ext cx="1550987"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9" name="Footer Placeholder 4"/>
          <p:cNvSpPr>
            <a:spLocks noGrp="1"/>
          </p:cNvSpPr>
          <p:nvPr>
            <p:ph type="ftr" sz="quarter" idx="10"/>
          </p:nvPr>
        </p:nvSpPr>
        <p:spPr/>
        <p:txBody>
          <a:bodyPr/>
          <a:lstStyle/>
          <a:p>
            <a:pPr>
              <a:defRPr/>
            </a:pPr>
            <a:r>
              <a:rPr lang="en-US"/>
              <a:t>Art of Multiprocessor Programming</a:t>
            </a:r>
          </a:p>
        </p:txBody>
      </p:sp>
      <p:sp>
        <p:nvSpPr>
          <p:cNvPr id="60" name="Slide Number Placeholder 5"/>
          <p:cNvSpPr>
            <a:spLocks noGrp="1"/>
          </p:cNvSpPr>
          <p:nvPr>
            <p:ph type="sldNum" sz="quarter" idx="11"/>
          </p:nvPr>
        </p:nvSpPr>
        <p:spPr/>
        <p:txBody>
          <a:bodyPr/>
          <a:lstStyle/>
          <a:p>
            <a:pPr>
              <a:defRPr/>
            </a:pPr>
            <a:fld id="{F489A987-81BD-4716-BF68-AFD78CF5EB10}" type="slidenum">
              <a:rPr lang="en-US"/>
              <a:pPr>
                <a:defRPr/>
              </a:pPr>
              <a:t>242</a:t>
            </a:fld>
            <a:endParaRPr lang="en-US"/>
          </a:p>
        </p:txBody>
      </p:sp>
      <p:grpSp>
        <p:nvGrpSpPr>
          <p:cNvPr id="2" name="Group 2"/>
          <p:cNvGrpSpPr>
            <a:grpSpLocks/>
          </p:cNvGrpSpPr>
          <p:nvPr/>
        </p:nvGrpSpPr>
        <p:grpSpPr bwMode="auto">
          <a:xfrm>
            <a:off x="2295525" y="3860800"/>
            <a:ext cx="1377950" cy="423863"/>
            <a:chOff x="1313" y="2496"/>
            <a:chExt cx="1252" cy="427"/>
          </a:xfrm>
        </p:grpSpPr>
        <p:sp>
          <p:nvSpPr>
            <p:cNvPr id="122937"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8"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39"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40"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122887" name="Rectangle 17"/>
          <p:cNvSpPr>
            <a:spLocks noGrp="1" noChangeArrowheads="1"/>
          </p:cNvSpPr>
          <p:nvPr>
            <p:ph type="title"/>
          </p:nvPr>
        </p:nvSpPr>
        <p:spPr/>
        <p:txBody>
          <a:bodyPr/>
          <a:lstStyle/>
          <a:p>
            <a:r>
              <a:rPr lang="en-US" dirty="0"/>
              <a:t>Counting Trees</a:t>
            </a:r>
          </a:p>
        </p:txBody>
      </p:sp>
      <p:sp>
        <p:nvSpPr>
          <p:cNvPr id="122890" name="AutoShape 20"/>
          <p:cNvSpPr>
            <a:spLocks noChangeArrowheads="1"/>
          </p:cNvSpPr>
          <p:nvPr/>
        </p:nvSpPr>
        <p:spPr bwMode="auto">
          <a:xfrm>
            <a:off x="4297363" y="2108200"/>
            <a:ext cx="549275" cy="2093913"/>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5" name="Group 21"/>
          <p:cNvGrpSpPr>
            <a:grpSpLocks/>
          </p:cNvGrpSpPr>
          <p:nvPr/>
        </p:nvGrpSpPr>
        <p:grpSpPr bwMode="auto">
          <a:xfrm>
            <a:off x="5724525" y="2336800"/>
            <a:ext cx="1377950" cy="423863"/>
            <a:chOff x="1313" y="2496"/>
            <a:chExt cx="1252" cy="427"/>
          </a:xfrm>
        </p:grpSpPr>
        <p:sp>
          <p:nvSpPr>
            <p:cNvPr id="122925" name="Freeform 22"/>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6" name="Freeform 23"/>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7" name="Oval 24"/>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8" name="Oval 25"/>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48570" name="Line 26"/>
          <p:cNvSpPr>
            <a:spLocks noChangeShapeType="1"/>
          </p:cNvSpPr>
          <p:nvPr/>
        </p:nvSpPr>
        <p:spPr bwMode="auto">
          <a:xfrm>
            <a:off x="4419600" y="2514600"/>
            <a:ext cx="304800" cy="0"/>
          </a:xfrm>
          <a:prstGeom prst="line">
            <a:avLst/>
          </a:prstGeom>
          <a:noFill/>
          <a:ln w="57150">
            <a:solidFill>
              <a:srgbClr val="FF0000"/>
            </a:solidFill>
            <a:round/>
            <a:headEnd/>
            <a:tailEnd type="triangle" w="med" len="med"/>
          </a:ln>
        </p:spPr>
        <p:txBody>
          <a:bodyPr wrap="none" anchor="ctr"/>
          <a:lstStyle/>
          <a:p>
            <a:endParaRPr lang="en-US" dirty="0">
              <a:latin typeface="Courier New" pitchFamily="49" charset="0"/>
            </a:endParaRPr>
          </a:p>
        </p:txBody>
      </p:sp>
      <p:grpSp>
        <p:nvGrpSpPr>
          <p:cNvPr id="6" name="Group 27"/>
          <p:cNvGrpSpPr>
            <a:grpSpLocks/>
          </p:cNvGrpSpPr>
          <p:nvPr/>
        </p:nvGrpSpPr>
        <p:grpSpPr bwMode="auto">
          <a:xfrm>
            <a:off x="5737225" y="3556000"/>
            <a:ext cx="1377950" cy="423863"/>
            <a:chOff x="1313" y="2496"/>
            <a:chExt cx="1252" cy="427"/>
          </a:xfrm>
        </p:grpSpPr>
        <p:sp>
          <p:nvSpPr>
            <p:cNvPr id="122921" name="Freeform 2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2" name="Freeform 2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3" name="Oval 3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24" name="Oval 3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8" name="Group 37"/>
          <p:cNvGrpSpPr>
            <a:grpSpLocks/>
          </p:cNvGrpSpPr>
          <p:nvPr/>
        </p:nvGrpSpPr>
        <p:grpSpPr bwMode="auto">
          <a:xfrm>
            <a:off x="5870575" y="2565400"/>
            <a:ext cx="1377950" cy="423863"/>
            <a:chOff x="1313" y="2496"/>
            <a:chExt cx="1252" cy="427"/>
          </a:xfrm>
        </p:grpSpPr>
        <p:sp>
          <p:nvSpPr>
            <p:cNvPr id="122913" name="Freeform 3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4" name="Freeform 3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5" name="Oval 40"/>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6" name="Oval 41"/>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9" name="Group 42"/>
          <p:cNvGrpSpPr>
            <a:grpSpLocks/>
          </p:cNvGrpSpPr>
          <p:nvPr/>
        </p:nvGrpSpPr>
        <p:grpSpPr bwMode="auto">
          <a:xfrm>
            <a:off x="5870575" y="3822700"/>
            <a:ext cx="1377950" cy="423863"/>
            <a:chOff x="1313" y="2496"/>
            <a:chExt cx="1252" cy="427"/>
          </a:xfrm>
        </p:grpSpPr>
        <p:sp>
          <p:nvSpPr>
            <p:cNvPr id="122909" name="Freeform 4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0" name="Freeform 4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1" name="Oval 4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12" name="Oval 4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0" name="Group 47"/>
          <p:cNvGrpSpPr>
            <a:grpSpLocks/>
          </p:cNvGrpSpPr>
          <p:nvPr/>
        </p:nvGrpSpPr>
        <p:grpSpPr bwMode="auto">
          <a:xfrm>
            <a:off x="2447925" y="4013200"/>
            <a:ext cx="1377950" cy="423863"/>
            <a:chOff x="1313" y="2496"/>
            <a:chExt cx="1252" cy="427"/>
          </a:xfrm>
        </p:grpSpPr>
        <p:sp>
          <p:nvSpPr>
            <p:cNvPr id="122905" name="Freeform 48"/>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06" name="Freeform 49"/>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07" name="Oval 50"/>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22908" name="Oval 51"/>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11" name="Group 52"/>
          <p:cNvGrpSpPr>
            <a:grpSpLocks/>
          </p:cNvGrpSpPr>
          <p:nvPr/>
        </p:nvGrpSpPr>
        <p:grpSpPr bwMode="auto">
          <a:xfrm>
            <a:off x="2428875" y="4000500"/>
            <a:ext cx="1377950" cy="423863"/>
            <a:chOff x="1313" y="2496"/>
            <a:chExt cx="1252" cy="427"/>
          </a:xfrm>
        </p:grpSpPr>
        <p:sp>
          <p:nvSpPr>
            <p:cNvPr id="122901" name="Freeform 5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02" name="Freeform 5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03" name="Oval 5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22904" name="Oval 5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22899" name="Oval 57"/>
          <p:cNvSpPr>
            <a:spLocks noChangeArrowheads="1"/>
          </p:cNvSpPr>
          <p:nvPr/>
        </p:nvSpPr>
        <p:spPr bwMode="auto">
          <a:xfrm>
            <a:off x="4375150" y="23495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sp>
        <p:nvSpPr>
          <p:cNvPr id="122900" name="Oval 58"/>
          <p:cNvSpPr>
            <a:spLocks noChangeArrowheads="1"/>
          </p:cNvSpPr>
          <p:nvPr/>
        </p:nvSpPr>
        <p:spPr bwMode="auto">
          <a:xfrm>
            <a:off x="4375150" y="3594100"/>
            <a:ext cx="393700" cy="393700"/>
          </a:xfrm>
          <a:prstGeom prst="ellipse">
            <a:avLst/>
          </a:prstGeom>
          <a:noFill/>
          <a:ln w="12700" algn="ctr">
            <a:solidFill>
              <a:schemeClr val="tx1"/>
            </a:solidFill>
            <a:round/>
            <a:headEnd/>
            <a:tailEnd/>
          </a:ln>
        </p:spPr>
        <p:txBody>
          <a:bodyPr wrap="none" anchor="ctr"/>
          <a:lstStyle/>
          <a:p>
            <a:endParaRPr lang="en-US" dirty="0">
              <a:latin typeface="Courier New" pitchFamily="49" charset="0"/>
            </a:endParaRPr>
          </a:p>
        </p:txBody>
      </p:sp>
      <p:grpSp>
        <p:nvGrpSpPr>
          <p:cNvPr id="67" name="Group 2"/>
          <p:cNvGrpSpPr>
            <a:grpSpLocks/>
          </p:cNvGrpSpPr>
          <p:nvPr/>
        </p:nvGrpSpPr>
        <p:grpSpPr bwMode="auto">
          <a:xfrm>
            <a:off x="2084190" y="2651846"/>
            <a:ext cx="1377950" cy="423863"/>
            <a:chOff x="1313" y="2496"/>
            <a:chExt cx="1252" cy="427"/>
          </a:xfrm>
        </p:grpSpPr>
        <p:sp>
          <p:nvSpPr>
            <p:cNvPr id="68"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69"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70"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71"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grpSp>
        <p:nvGrpSpPr>
          <p:cNvPr id="72" name="Group 2"/>
          <p:cNvGrpSpPr>
            <a:grpSpLocks/>
          </p:cNvGrpSpPr>
          <p:nvPr/>
        </p:nvGrpSpPr>
        <p:grpSpPr bwMode="auto">
          <a:xfrm>
            <a:off x="1489952" y="3103923"/>
            <a:ext cx="1377950" cy="423863"/>
            <a:chOff x="1313" y="2496"/>
            <a:chExt cx="1252" cy="427"/>
          </a:xfrm>
        </p:grpSpPr>
        <p:sp>
          <p:nvSpPr>
            <p:cNvPr id="73" name="Freeform 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74" name="Freeform 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75" name="Oval 5"/>
            <p:cNvSpPr>
              <a:spLocks noChangeArrowheads="1"/>
            </p:cNvSpPr>
            <p:nvPr/>
          </p:nvSpPr>
          <p:spPr bwMode="auto">
            <a:xfrm>
              <a:off x="1722" y="2579"/>
              <a:ext cx="391" cy="344"/>
            </a:xfrm>
            <a:prstGeom prst="ellipse">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76" name="Oval 6"/>
            <p:cNvSpPr>
              <a:spLocks noChangeArrowheads="1"/>
            </p:cNvSpPr>
            <p:nvPr/>
          </p:nvSpPr>
          <p:spPr bwMode="auto">
            <a:xfrm>
              <a:off x="1945" y="2640"/>
              <a:ext cx="102" cy="96"/>
            </a:xfrm>
            <a:prstGeom prst="ellipse">
              <a:avLst/>
            </a:prstGeom>
            <a:solidFill>
              <a:schemeClr val="folHlink"/>
            </a:solidFill>
            <a:ln w="19050">
              <a:solidFill>
                <a:schemeClr val="folHlink"/>
              </a:solidFill>
              <a:round/>
              <a:headEnd/>
              <a:tailEnd/>
            </a:ln>
          </p:spPr>
          <p:txBody>
            <a:bodyPr wrap="none" anchor="ctr"/>
            <a:lstStyle/>
            <a:p>
              <a:endParaRPr lang="en-US" dirty="0">
                <a:latin typeface="Courier New" pitchFamily="49" charset="0"/>
              </a:endParaRPr>
            </a:p>
          </p:txBody>
        </p:sp>
      </p:grpSp>
      <p:sp>
        <p:nvSpPr>
          <p:cNvPr id="77" name="AutoShape 58"/>
          <p:cNvSpPr>
            <a:spLocks noChangeArrowheads="1"/>
          </p:cNvSpPr>
          <p:nvPr/>
        </p:nvSpPr>
        <p:spPr bwMode="auto">
          <a:xfrm>
            <a:off x="2630488" y="5543550"/>
            <a:ext cx="5800725" cy="623888"/>
          </a:xfrm>
          <a:prstGeom prst="wedgeRoundRectCallout">
            <a:avLst>
              <a:gd name="adj1" fmla="val 8349"/>
              <a:gd name="adj2" fmla="val -239012"/>
              <a:gd name="adj3" fmla="val 16667"/>
            </a:avLst>
          </a:prstGeom>
          <a:noFill/>
          <a:ln w="28575">
            <a:solidFill>
              <a:schemeClr val="accent2"/>
            </a:solidFill>
            <a:miter lim="800000"/>
            <a:headEnd/>
            <a:tailEnd/>
          </a:ln>
        </p:spPr>
        <p:txBody>
          <a:bodyPr wrap="none" anchor="ctr"/>
          <a:lstStyle/>
          <a:p>
            <a:pPr algn="ctr">
              <a:spcBef>
                <a:spcPct val="0"/>
              </a:spcBef>
            </a:pPr>
            <a:r>
              <a:rPr lang="en-US" sz="2800" b="0">
                <a:latin typeface="Arial" pitchFamily="34" charset="0"/>
                <a:cs typeface="Arial" pitchFamily="34" charset="0"/>
              </a:rPr>
              <a:t>Step property in quiescent state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22222E-6 -3.7037E-7 C 0.05452 -0.00694 0.10955 -0.01343 0.1375 -0.05069 C 0.16545 -0.08819 0.12292 -0.20116 0.16719 -0.22361 C 0.21146 -0.24606 0.36337 -0.19167 0.40278 -0.18518 " pathEditMode="relative" rAng="0" ptsTypes="aaaA">
                                      <p:cBhvr>
                                        <p:cTn id="6" dur="2000" fill="hold"/>
                                        <p:tgtEl>
                                          <p:spTgt spid="11"/>
                                        </p:tgtEl>
                                        <p:attrNameLst>
                                          <p:attrName>ppt_x</p:attrName>
                                          <p:attrName>ppt_y</p:attrName>
                                        </p:attrNameLst>
                                      </p:cBhvr>
                                      <p:rCtr x="20100" y="-12300"/>
                                    </p:animMotion>
                                  </p:childTnLst>
                                </p:cTn>
                              </p:par>
                              <p:par>
                                <p:cTn id="7" presetID="0" presetClass="path" presetSubtype="0" accel="50000" decel="50000" fill="hold" grpId="0" nodeType="withEffect">
                                  <p:stCondLst>
                                    <p:cond delay="0"/>
                                  </p:stCondLst>
                                  <p:childTnLst>
                                    <p:animMotion origin="layout" path="M -0.00556 0.00185 L -0.00556 0.18889 " pathEditMode="relative" ptsTypes="AA">
                                      <p:cBhvr>
                                        <p:cTn id="8" dur="2000" fill="hold"/>
                                        <p:tgtEl>
                                          <p:spTgt spid="74857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blinds(horizontal)">
                                      <p:cBhvr>
                                        <p:cTn id="13"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570" grpId="0" animBg="1"/>
      <p:bldP spid="77" grpId="0" animBg="1"/>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176338" y="360363"/>
            <a:ext cx="7162800" cy="1143000"/>
          </a:xfrm>
          <a:prstGeom prst="rect">
            <a:avLst/>
          </a:prstGeom>
          <a:noFill/>
          <a:ln w="12700">
            <a:noFill/>
            <a:miter lim="800000"/>
            <a:headEnd/>
            <a:tailEnd/>
          </a:ln>
          <a:effectLst/>
        </p:spPr>
        <p:txBody>
          <a:bodyPr lIns="57150" tIns="46038" rIns="57150" bIns="46038" anchor="ctr"/>
          <a:lstStyle/>
          <a:p>
            <a:pPr algn="ctr">
              <a:defRPr/>
            </a:pPr>
            <a:r>
              <a:rPr lang="en-US" sz="4400" b="0" dirty="0">
                <a:solidFill>
                  <a:schemeClr val="tx2"/>
                </a:solidFill>
                <a:latin typeface="Arial" pitchFamily="34" charset="0"/>
              </a:rPr>
              <a:t>Counting Trees </a:t>
            </a:r>
          </a:p>
        </p:txBody>
      </p:sp>
      <p:sp>
        <p:nvSpPr>
          <p:cNvPr id="25645" name="Line 45"/>
          <p:cNvSpPr>
            <a:spLocks noChangeShapeType="1"/>
          </p:cNvSpPr>
          <p:nvPr/>
        </p:nvSpPr>
        <p:spPr bwMode="auto">
          <a:xfrm>
            <a:off x="3343275" y="3338513"/>
            <a:ext cx="223838" cy="1587"/>
          </a:xfrm>
          <a:prstGeom prst="line">
            <a:avLst/>
          </a:prstGeom>
          <a:noFill/>
          <a:ln w="25400">
            <a:solidFill>
              <a:schemeClr val="tx2"/>
            </a:solidFill>
            <a:round/>
            <a:headEnd/>
            <a:tailEnd/>
          </a:ln>
          <a:effectLst/>
        </p:spPr>
        <p:txBody>
          <a:bodyPr wrap="none" anchor="ctr"/>
          <a:lstStyle/>
          <a:p>
            <a:pPr>
              <a:defRPr/>
            </a:pPr>
            <a:endParaRPr lang="en-US" sz="2000" dirty="0">
              <a:latin typeface="Arial" pitchFamily="34" charset="0"/>
            </a:endParaRPr>
          </a:p>
        </p:txBody>
      </p:sp>
      <p:sp>
        <p:nvSpPr>
          <p:cNvPr id="25649" name="Freeform 49"/>
          <p:cNvSpPr>
            <a:spLocks/>
          </p:cNvSpPr>
          <p:nvPr/>
        </p:nvSpPr>
        <p:spPr bwMode="auto">
          <a:xfrm>
            <a:off x="3897313" y="2881313"/>
            <a:ext cx="566737" cy="320675"/>
          </a:xfrm>
          <a:custGeom>
            <a:avLst/>
            <a:gdLst/>
            <a:ahLst/>
            <a:cxnLst>
              <a:cxn ang="0">
                <a:pos x="0" y="138"/>
              </a:cxn>
              <a:cxn ang="0">
                <a:pos x="99" y="138"/>
              </a:cxn>
              <a:cxn ang="0">
                <a:pos x="99" y="0"/>
              </a:cxn>
              <a:cxn ang="0">
                <a:pos x="255" y="0"/>
              </a:cxn>
              <a:cxn ang="0">
                <a:pos x="255" y="0"/>
              </a:cxn>
            </a:cxnLst>
            <a:rect l="0" t="0" r="r" b="b"/>
            <a:pathLst>
              <a:path w="256" h="139">
                <a:moveTo>
                  <a:pt x="0" y="138"/>
                </a:moveTo>
                <a:lnTo>
                  <a:pt x="99" y="138"/>
                </a:lnTo>
                <a:lnTo>
                  <a:pt x="99" y="0"/>
                </a:lnTo>
                <a:lnTo>
                  <a:pt x="255" y="0"/>
                </a:lnTo>
                <a:lnTo>
                  <a:pt x="255"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dirty="0">
              <a:latin typeface="Arial" pitchFamily="34" charset="0"/>
            </a:endParaRPr>
          </a:p>
        </p:txBody>
      </p:sp>
      <p:sp>
        <p:nvSpPr>
          <p:cNvPr id="25650" name="Freeform 50"/>
          <p:cNvSpPr>
            <a:spLocks/>
          </p:cNvSpPr>
          <p:nvPr/>
        </p:nvSpPr>
        <p:spPr bwMode="auto">
          <a:xfrm>
            <a:off x="4794250" y="2152650"/>
            <a:ext cx="503238" cy="609600"/>
          </a:xfrm>
          <a:custGeom>
            <a:avLst/>
            <a:gdLst/>
            <a:ahLst/>
            <a:cxnLst>
              <a:cxn ang="0">
                <a:pos x="0" y="264"/>
              </a:cxn>
              <a:cxn ang="0">
                <a:pos x="87" y="264"/>
              </a:cxn>
              <a:cxn ang="0">
                <a:pos x="87" y="0"/>
              </a:cxn>
              <a:cxn ang="0">
                <a:pos x="226" y="0"/>
              </a:cxn>
              <a:cxn ang="0">
                <a:pos x="226" y="0"/>
              </a:cxn>
            </a:cxnLst>
            <a:rect l="0" t="0" r="r" b="b"/>
            <a:pathLst>
              <a:path w="227" h="265">
                <a:moveTo>
                  <a:pt x="0" y="264"/>
                </a:moveTo>
                <a:lnTo>
                  <a:pt x="87" y="264"/>
                </a:lnTo>
                <a:lnTo>
                  <a:pt x="87" y="0"/>
                </a:lnTo>
                <a:lnTo>
                  <a:pt x="226" y="0"/>
                </a:lnTo>
                <a:lnTo>
                  <a:pt x="226"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dirty="0">
              <a:latin typeface="Arial" pitchFamily="34" charset="0"/>
            </a:endParaRPr>
          </a:p>
        </p:txBody>
      </p:sp>
      <p:sp>
        <p:nvSpPr>
          <p:cNvPr id="25651" name="Freeform 51"/>
          <p:cNvSpPr>
            <a:spLocks/>
          </p:cNvSpPr>
          <p:nvPr/>
        </p:nvSpPr>
        <p:spPr bwMode="auto">
          <a:xfrm>
            <a:off x="3897313" y="3503613"/>
            <a:ext cx="503237" cy="307975"/>
          </a:xfrm>
          <a:custGeom>
            <a:avLst/>
            <a:gdLst/>
            <a:ahLst/>
            <a:cxnLst>
              <a:cxn ang="0">
                <a:pos x="0" y="0"/>
              </a:cxn>
              <a:cxn ang="0">
                <a:pos x="87" y="0"/>
              </a:cxn>
              <a:cxn ang="0">
                <a:pos x="87" y="134"/>
              </a:cxn>
              <a:cxn ang="0">
                <a:pos x="226" y="134"/>
              </a:cxn>
              <a:cxn ang="0">
                <a:pos x="226" y="134"/>
              </a:cxn>
            </a:cxnLst>
            <a:rect l="0" t="0" r="r" b="b"/>
            <a:pathLst>
              <a:path w="227" h="135">
                <a:moveTo>
                  <a:pt x="0" y="0"/>
                </a:moveTo>
                <a:lnTo>
                  <a:pt x="87" y="0"/>
                </a:lnTo>
                <a:lnTo>
                  <a:pt x="87" y="134"/>
                </a:lnTo>
                <a:lnTo>
                  <a:pt x="226" y="134"/>
                </a:lnTo>
                <a:lnTo>
                  <a:pt x="226" y="134"/>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dirty="0">
              <a:latin typeface="Arial" pitchFamily="34" charset="0"/>
            </a:endParaRPr>
          </a:p>
        </p:txBody>
      </p:sp>
      <p:sp>
        <p:nvSpPr>
          <p:cNvPr id="25653" name="Freeform 53"/>
          <p:cNvSpPr>
            <a:spLocks/>
          </p:cNvSpPr>
          <p:nvPr/>
        </p:nvSpPr>
        <p:spPr bwMode="auto">
          <a:xfrm>
            <a:off x="4756150" y="3952875"/>
            <a:ext cx="555625" cy="700088"/>
          </a:xfrm>
          <a:custGeom>
            <a:avLst/>
            <a:gdLst/>
            <a:ahLst/>
            <a:cxnLst>
              <a:cxn ang="0">
                <a:pos x="0" y="0"/>
              </a:cxn>
              <a:cxn ang="0">
                <a:pos x="96" y="0"/>
              </a:cxn>
              <a:cxn ang="0">
                <a:pos x="96" y="304"/>
              </a:cxn>
              <a:cxn ang="0">
                <a:pos x="249" y="304"/>
              </a:cxn>
              <a:cxn ang="0">
                <a:pos x="249" y="304"/>
              </a:cxn>
            </a:cxnLst>
            <a:rect l="0" t="0" r="r" b="b"/>
            <a:pathLst>
              <a:path w="250" h="305">
                <a:moveTo>
                  <a:pt x="0" y="0"/>
                </a:moveTo>
                <a:lnTo>
                  <a:pt x="96" y="0"/>
                </a:lnTo>
                <a:lnTo>
                  <a:pt x="96" y="304"/>
                </a:lnTo>
                <a:lnTo>
                  <a:pt x="249" y="304"/>
                </a:lnTo>
                <a:lnTo>
                  <a:pt x="249" y="304"/>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dirty="0">
              <a:latin typeface="Arial" pitchFamily="34" charset="0"/>
            </a:endParaRPr>
          </a:p>
        </p:txBody>
      </p:sp>
      <p:sp>
        <p:nvSpPr>
          <p:cNvPr id="25654" name="Freeform 54"/>
          <p:cNvSpPr>
            <a:spLocks/>
          </p:cNvSpPr>
          <p:nvPr/>
        </p:nvSpPr>
        <p:spPr bwMode="auto">
          <a:xfrm>
            <a:off x="4741863" y="3735388"/>
            <a:ext cx="569912" cy="85725"/>
          </a:xfrm>
          <a:custGeom>
            <a:avLst/>
            <a:gdLst/>
            <a:ahLst/>
            <a:cxnLst>
              <a:cxn ang="0">
                <a:pos x="0" y="0"/>
              </a:cxn>
              <a:cxn ang="0">
                <a:pos x="99" y="0"/>
              </a:cxn>
              <a:cxn ang="0">
                <a:pos x="99" y="37"/>
              </a:cxn>
              <a:cxn ang="0">
                <a:pos x="256" y="37"/>
              </a:cxn>
              <a:cxn ang="0">
                <a:pos x="256" y="37"/>
              </a:cxn>
            </a:cxnLst>
            <a:rect l="0" t="0" r="r" b="b"/>
            <a:pathLst>
              <a:path w="257" h="38">
                <a:moveTo>
                  <a:pt x="0" y="0"/>
                </a:moveTo>
                <a:lnTo>
                  <a:pt x="99" y="0"/>
                </a:lnTo>
                <a:lnTo>
                  <a:pt x="99" y="37"/>
                </a:lnTo>
                <a:lnTo>
                  <a:pt x="256" y="37"/>
                </a:lnTo>
                <a:lnTo>
                  <a:pt x="256" y="37"/>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dirty="0">
              <a:latin typeface="Arial" pitchFamily="34" charset="0"/>
            </a:endParaRPr>
          </a:p>
        </p:txBody>
      </p:sp>
      <p:sp>
        <p:nvSpPr>
          <p:cNvPr id="25655" name="Freeform 55"/>
          <p:cNvSpPr>
            <a:spLocks/>
          </p:cNvSpPr>
          <p:nvPr/>
        </p:nvSpPr>
        <p:spPr bwMode="auto">
          <a:xfrm>
            <a:off x="4783138" y="2943225"/>
            <a:ext cx="565150" cy="84138"/>
          </a:xfrm>
          <a:custGeom>
            <a:avLst/>
            <a:gdLst/>
            <a:ahLst/>
            <a:cxnLst>
              <a:cxn ang="0">
                <a:pos x="0" y="37"/>
              </a:cxn>
              <a:cxn ang="0">
                <a:pos x="98" y="37"/>
              </a:cxn>
              <a:cxn ang="0">
                <a:pos x="98" y="0"/>
              </a:cxn>
              <a:cxn ang="0">
                <a:pos x="254" y="0"/>
              </a:cxn>
              <a:cxn ang="0">
                <a:pos x="254" y="0"/>
              </a:cxn>
            </a:cxnLst>
            <a:rect l="0" t="0" r="r" b="b"/>
            <a:pathLst>
              <a:path w="255" h="38">
                <a:moveTo>
                  <a:pt x="0" y="37"/>
                </a:moveTo>
                <a:lnTo>
                  <a:pt x="98" y="37"/>
                </a:lnTo>
                <a:lnTo>
                  <a:pt x="98" y="0"/>
                </a:lnTo>
                <a:lnTo>
                  <a:pt x="254" y="0"/>
                </a:lnTo>
                <a:lnTo>
                  <a:pt x="254"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dirty="0">
              <a:latin typeface="Arial" pitchFamily="34" charset="0"/>
            </a:endParaRPr>
          </a:p>
        </p:txBody>
      </p:sp>
      <p:grpSp>
        <p:nvGrpSpPr>
          <p:cNvPr id="238630" name="Group 63"/>
          <p:cNvGrpSpPr>
            <a:grpSpLocks/>
          </p:cNvGrpSpPr>
          <p:nvPr/>
        </p:nvGrpSpPr>
        <p:grpSpPr bwMode="auto">
          <a:xfrm>
            <a:off x="5334000" y="1870075"/>
            <a:ext cx="304800" cy="3024188"/>
            <a:chOff x="5272026" y="1808142"/>
            <a:chExt cx="304800" cy="3429000"/>
          </a:xfrm>
        </p:grpSpPr>
        <p:sp>
          <p:nvSpPr>
            <p:cNvPr id="238644" name="AutoShape 12"/>
            <p:cNvSpPr>
              <a:spLocks noChangeArrowheads="1"/>
            </p:cNvSpPr>
            <p:nvPr/>
          </p:nvSpPr>
          <p:spPr bwMode="auto">
            <a:xfrm>
              <a:off x="5272026" y="18081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8645" name="AutoShape 13"/>
            <p:cNvSpPr>
              <a:spLocks noChangeArrowheads="1"/>
            </p:cNvSpPr>
            <p:nvPr/>
          </p:nvSpPr>
          <p:spPr bwMode="auto">
            <a:xfrm>
              <a:off x="5272026" y="27479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8646" name="AutoShape 14"/>
            <p:cNvSpPr>
              <a:spLocks noChangeArrowheads="1"/>
            </p:cNvSpPr>
            <p:nvPr/>
          </p:nvSpPr>
          <p:spPr bwMode="auto">
            <a:xfrm>
              <a:off x="5272026" y="36877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8647" name="AutoShape 15"/>
            <p:cNvSpPr>
              <a:spLocks noChangeArrowheads="1"/>
            </p:cNvSpPr>
            <p:nvPr/>
          </p:nvSpPr>
          <p:spPr bwMode="auto">
            <a:xfrm>
              <a:off x="5272026" y="45513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sp>
        <p:nvSpPr>
          <p:cNvPr id="238631" name="AutoShape 12"/>
          <p:cNvSpPr>
            <a:spLocks noChangeArrowheads="1"/>
          </p:cNvSpPr>
          <p:nvPr/>
        </p:nvSpPr>
        <p:spPr bwMode="auto">
          <a:xfrm>
            <a:off x="4451350" y="2649538"/>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8632" name="AutoShape 13"/>
          <p:cNvSpPr>
            <a:spLocks noChangeArrowheads="1"/>
          </p:cNvSpPr>
          <p:nvPr/>
        </p:nvSpPr>
        <p:spPr bwMode="auto">
          <a:xfrm>
            <a:off x="4451350" y="347821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238633" name="AutoShape 14"/>
          <p:cNvSpPr>
            <a:spLocks noChangeArrowheads="1"/>
          </p:cNvSpPr>
          <p:nvPr/>
        </p:nvSpPr>
        <p:spPr bwMode="auto">
          <a:xfrm>
            <a:off x="3567113" y="302736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54" name="Text Box 24"/>
          <p:cNvSpPr txBox="1">
            <a:spLocks noChangeArrowheads="1"/>
          </p:cNvSpPr>
          <p:nvPr/>
        </p:nvSpPr>
        <p:spPr bwMode="auto">
          <a:xfrm>
            <a:off x="3567113" y="5602288"/>
            <a:ext cx="4911725" cy="523875"/>
          </a:xfrm>
          <a:prstGeom prst="rect">
            <a:avLst/>
          </a:prstGeom>
          <a:noFill/>
          <a:ln w="9525" algn="ctr">
            <a:noFill/>
            <a:miter lim="800000"/>
            <a:headEnd/>
            <a:tailEnd/>
          </a:ln>
        </p:spPr>
        <p:txBody>
          <a:bodyPr>
            <a:spAutoFit/>
          </a:bodyPr>
          <a:lstStyle/>
          <a:p>
            <a:pPr algn="ctr">
              <a:spcBef>
                <a:spcPct val="0"/>
              </a:spcBef>
            </a:pPr>
            <a:r>
              <a:rPr lang="en-US" sz="2800" b="0" dirty="0">
                <a:solidFill>
                  <a:srgbClr val="FF0000"/>
                </a:solidFill>
                <a:latin typeface="Arial" pitchFamily="34" charset="0"/>
                <a:cs typeface="Arial" pitchFamily="34" charset="0"/>
              </a:rPr>
              <a:t>Interleaved output wires</a:t>
            </a:r>
          </a:p>
        </p:txBody>
      </p:sp>
      <p:sp>
        <p:nvSpPr>
          <p:cNvPr id="55" name="AutoShape 22"/>
          <p:cNvSpPr>
            <a:spLocks noChangeArrowheads="1"/>
          </p:cNvSpPr>
          <p:nvPr/>
        </p:nvSpPr>
        <p:spPr bwMode="auto">
          <a:xfrm>
            <a:off x="5481638" y="1719263"/>
            <a:ext cx="900112" cy="3175000"/>
          </a:xfrm>
          <a:prstGeom prst="wedgeRoundRectCallout">
            <a:avLst>
              <a:gd name="adj1" fmla="val 59514"/>
              <a:gd name="adj2" fmla="val 67454"/>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dirty="0">
              <a:latin typeface="Arial" pitchFamily="34" charset="0"/>
            </a:endParaRPr>
          </a:p>
        </p:txBody>
      </p:sp>
      <p:sp>
        <p:nvSpPr>
          <p:cNvPr id="25652" name="Line 52"/>
          <p:cNvSpPr>
            <a:spLocks noChangeShapeType="1"/>
          </p:cNvSpPr>
          <p:nvPr/>
        </p:nvSpPr>
        <p:spPr bwMode="auto">
          <a:xfrm>
            <a:off x="5638800" y="1976438"/>
            <a:ext cx="709613" cy="46037"/>
          </a:xfrm>
          <a:prstGeom prst="line">
            <a:avLst/>
          </a:prstGeom>
          <a:noFill/>
          <a:ln w="25400">
            <a:solidFill>
              <a:schemeClr val="tx2"/>
            </a:solidFill>
            <a:round/>
            <a:headEnd/>
            <a:tailEnd type="triangle" w="med" len="med"/>
          </a:ln>
          <a:effectLst/>
        </p:spPr>
        <p:txBody>
          <a:bodyPr wrap="none" anchor="ctr"/>
          <a:lstStyle/>
          <a:p>
            <a:pPr>
              <a:defRPr/>
            </a:pPr>
            <a:endParaRPr lang="en-US" sz="2000" dirty="0">
              <a:latin typeface="Arial" pitchFamily="34" charset="0"/>
            </a:endParaRPr>
          </a:p>
        </p:txBody>
      </p:sp>
      <p:sp>
        <p:nvSpPr>
          <p:cNvPr id="25670" name="Freeform 70"/>
          <p:cNvSpPr>
            <a:spLocks/>
          </p:cNvSpPr>
          <p:nvPr/>
        </p:nvSpPr>
        <p:spPr bwMode="auto">
          <a:xfrm>
            <a:off x="5653088" y="2297113"/>
            <a:ext cx="688975" cy="1428750"/>
          </a:xfrm>
          <a:custGeom>
            <a:avLst/>
            <a:gdLst/>
            <a:ahLst/>
            <a:cxnLst>
              <a:cxn ang="0">
                <a:pos x="0" y="0"/>
              </a:cxn>
              <a:cxn ang="0">
                <a:pos x="120" y="0"/>
              </a:cxn>
              <a:cxn ang="0">
                <a:pos x="201" y="621"/>
              </a:cxn>
              <a:cxn ang="0">
                <a:pos x="310" y="621"/>
              </a:cxn>
              <a:cxn ang="0">
                <a:pos x="310" y="621"/>
              </a:cxn>
            </a:cxnLst>
            <a:rect l="0" t="0" r="r" b="b"/>
            <a:pathLst>
              <a:path w="311" h="622">
                <a:moveTo>
                  <a:pt x="0" y="0"/>
                </a:moveTo>
                <a:lnTo>
                  <a:pt x="120" y="0"/>
                </a:lnTo>
                <a:lnTo>
                  <a:pt x="201" y="621"/>
                </a:lnTo>
                <a:lnTo>
                  <a:pt x="310" y="621"/>
                </a:lnTo>
                <a:lnTo>
                  <a:pt x="310" y="621"/>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dirty="0">
              <a:latin typeface="Arial" pitchFamily="34" charset="0"/>
            </a:endParaRPr>
          </a:p>
        </p:txBody>
      </p:sp>
      <p:sp>
        <p:nvSpPr>
          <p:cNvPr id="25671" name="Line 71"/>
          <p:cNvSpPr>
            <a:spLocks noChangeShapeType="1"/>
          </p:cNvSpPr>
          <p:nvPr/>
        </p:nvSpPr>
        <p:spPr bwMode="auto">
          <a:xfrm>
            <a:off x="5659438" y="2805113"/>
            <a:ext cx="674687" cy="4762"/>
          </a:xfrm>
          <a:prstGeom prst="line">
            <a:avLst/>
          </a:prstGeom>
          <a:noFill/>
          <a:ln w="25400">
            <a:solidFill>
              <a:schemeClr val="tx2"/>
            </a:solidFill>
            <a:round/>
            <a:headEnd/>
            <a:tailEnd type="triangle" w="med" len="med"/>
          </a:ln>
          <a:effectLst/>
        </p:spPr>
        <p:txBody>
          <a:bodyPr wrap="none" anchor="ctr"/>
          <a:lstStyle/>
          <a:p>
            <a:pPr>
              <a:defRPr/>
            </a:pPr>
            <a:endParaRPr lang="en-US" sz="2000" dirty="0">
              <a:latin typeface="Arial" pitchFamily="34" charset="0"/>
            </a:endParaRPr>
          </a:p>
        </p:txBody>
      </p:sp>
      <p:sp>
        <p:nvSpPr>
          <p:cNvPr id="25672" name="Freeform 72"/>
          <p:cNvSpPr>
            <a:spLocks/>
          </p:cNvSpPr>
          <p:nvPr/>
        </p:nvSpPr>
        <p:spPr bwMode="auto">
          <a:xfrm>
            <a:off x="5653088" y="3076575"/>
            <a:ext cx="696912" cy="1497013"/>
          </a:xfrm>
          <a:custGeom>
            <a:avLst/>
            <a:gdLst/>
            <a:ahLst/>
            <a:cxnLst>
              <a:cxn ang="0">
                <a:pos x="0" y="0"/>
              </a:cxn>
              <a:cxn ang="0">
                <a:pos x="60" y="0"/>
              </a:cxn>
              <a:cxn ang="0">
                <a:pos x="209" y="651"/>
              </a:cxn>
              <a:cxn ang="0">
                <a:pos x="313" y="651"/>
              </a:cxn>
              <a:cxn ang="0">
                <a:pos x="313" y="651"/>
              </a:cxn>
            </a:cxnLst>
            <a:rect l="0" t="0" r="r" b="b"/>
            <a:pathLst>
              <a:path w="314" h="652">
                <a:moveTo>
                  <a:pt x="0" y="0"/>
                </a:moveTo>
                <a:lnTo>
                  <a:pt x="60" y="0"/>
                </a:lnTo>
                <a:lnTo>
                  <a:pt x="209" y="651"/>
                </a:lnTo>
                <a:lnTo>
                  <a:pt x="313" y="651"/>
                </a:lnTo>
                <a:lnTo>
                  <a:pt x="313" y="651"/>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dirty="0">
              <a:latin typeface="Arial" pitchFamily="34" charset="0"/>
            </a:endParaRPr>
          </a:p>
        </p:txBody>
      </p:sp>
      <p:sp>
        <p:nvSpPr>
          <p:cNvPr id="25673" name="Line 73"/>
          <p:cNvSpPr>
            <a:spLocks noChangeShapeType="1"/>
          </p:cNvSpPr>
          <p:nvPr/>
        </p:nvSpPr>
        <p:spPr bwMode="auto">
          <a:xfrm flipV="1">
            <a:off x="5659438" y="4754563"/>
            <a:ext cx="657225" cy="46037"/>
          </a:xfrm>
          <a:prstGeom prst="line">
            <a:avLst/>
          </a:prstGeom>
          <a:noFill/>
          <a:ln w="25400">
            <a:solidFill>
              <a:schemeClr val="tx2"/>
            </a:solidFill>
            <a:round/>
            <a:headEnd/>
            <a:tailEnd type="triangle" w="med" len="med"/>
          </a:ln>
          <a:effectLst/>
        </p:spPr>
        <p:txBody>
          <a:bodyPr wrap="none" anchor="ctr"/>
          <a:lstStyle/>
          <a:p>
            <a:pPr>
              <a:defRPr/>
            </a:pPr>
            <a:endParaRPr lang="en-US" sz="2000" dirty="0">
              <a:latin typeface="Arial" pitchFamily="34" charset="0"/>
            </a:endParaRPr>
          </a:p>
        </p:txBody>
      </p:sp>
      <p:sp>
        <p:nvSpPr>
          <p:cNvPr id="25674" name="Line 74"/>
          <p:cNvSpPr>
            <a:spLocks noChangeShapeType="1"/>
          </p:cNvSpPr>
          <p:nvPr/>
        </p:nvSpPr>
        <p:spPr bwMode="auto">
          <a:xfrm>
            <a:off x="5672138" y="3940175"/>
            <a:ext cx="671512" cy="3175"/>
          </a:xfrm>
          <a:prstGeom prst="line">
            <a:avLst/>
          </a:prstGeom>
          <a:noFill/>
          <a:ln w="25400">
            <a:solidFill>
              <a:schemeClr val="tx2"/>
            </a:solidFill>
            <a:round/>
            <a:headEnd/>
            <a:tailEnd type="triangle" w="med" len="med"/>
          </a:ln>
          <a:effectLst/>
        </p:spPr>
        <p:txBody>
          <a:bodyPr wrap="none" anchor="ctr"/>
          <a:lstStyle/>
          <a:p>
            <a:pPr>
              <a:defRPr/>
            </a:pPr>
            <a:endParaRPr lang="en-US" sz="2000" dirty="0">
              <a:latin typeface="Arial" pitchFamily="34" charset="0"/>
            </a:endParaRPr>
          </a:p>
        </p:txBody>
      </p:sp>
      <p:sp>
        <p:nvSpPr>
          <p:cNvPr id="25675" name="Freeform 75"/>
          <p:cNvSpPr>
            <a:spLocks/>
          </p:cNvSpPr>
          <p:nvPr/>
        </p:nvSpPr>
        <p:spPr bwMode="auto">
          <a:xfrm>
            <a:off x="5653088" y="3094038"/>
            <a:ext cx="682625" cy="1447800"/>
          </a:xfrm>
          <a:custGeom>
            <a:avLst/>
            <a:gdLst/>
            <a:ahLst/>
            <a:cxnLst>
              <a:cxn ang="0">
                <a:pos x="0" y="631"/>
              </a:cxn>
              <a:cxn ang="0">
                <a:pos x="59" y="631"/>
              </a:cxn>
              <a:cxn ang="0">
                <a:pos x="205" y="0"/>
              </a:cxn>
              <a:cxn ang="0">
                <a:pos x="307" y="0"/>
              </a:cxn>
              <a:cxn ang="0">
                <a:pos x="307" y="0"/>
              </a:cxn>
            </a:cxnLst>
            <a:rect l="0" t="0" r="r" b="b"/>
            <a:pathLst>
              <a:path w="308" h="632">
                <a:moveTo>
                  <a:pt x="0" y="631"/>
                </a:moveTo>
                <a:lnTo>
                  <a:pt x="59" y="631"/>
                </a:lnTo>
                <a:lnTo>
                  <a:pt x="205" y="0"/>
                </a:lnTo>
                <a:lnTo>
                  <a:pt x="307" y="0"/>
                </a:lnTo>
                <a:lnTo>
                  <a:pt x="307" y="0"/>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dirty="0">
              <a:latin typeface="Arial" pitchFamily="34" charset="0"/>
            </a:endParaRPr>
          </a:p>
        </p:txBody>
      </p:sp>
      <p:sp>
        <p:nvSpPr>
          <p:cNvPr id="25676" name="Freeform 76"/>
          <p:cNvSpPr>
            <a:spLocks/>
          </p:cNvSpPr>
          <p:nvPr/>
        </p:nvSpPr>
        <p:spPr bwMode="auto">
          <a:xfrm>
            <a:off x="5653088" y="2303463"/>
            <a:ext cx="688975" cy="1411287"/>
          </a:xfrm>
          <a:custGeom>
            <a:avLst/>
            <a:gdLst/>
            <a:ahLst/>
            <a:cxnLst>
              <a:cxn ang="0">
                <a:pos x="0" y="614"/>
              </a:cxn>
              <a:cxn ang="0">
                <a:pos x="60" y="614"/>
              </a:cxn>
              <a:cxn ang="0">
                <a:pos x="207" y="0"/>
              </a:cxn>
              <a:cxn ang="0">
                <a:pos x="310" y="0"/>
              </a:cxn>
              <a:cxn ang="0">
                <a:pos x="310" y="0"/>
              </a:cxn>
            </a:cxnLst>
            <a:rect l="0" t="0" r="r" b="b"/>
            <a:pathLst>
              <a:path w="311" h="615">
                <a:moveTo>
                  <a:pt x="0" y="614"/>
                </a:moveTo>
                <a:lnTo>
                  <a:pt x="60" y="614"/>
                </a:lnTo>
                <a:lnTo>
                  <a:pt x="207" y="0"/>
                </a:lnTo>
                <a:lnTo>
                  <a:pt x="310" y="0"/>
                </a:lnTo>
                <a:lnTo>
                  <a:pt x="310" y="0"/>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dirty="0">
              <a:latin typeface="Arial" pitchFamily="34" charset="0"/>
            </a:endParaRPr>
          </a:p>
        </p:txBody>
      </p:sp>
      <p:grpSp>
        <p:nvGrpSpPr>
          <p:cNvPr id="61" name="Group 32"/>
          <p:cNvGrpSpPr>
            <a:grpSpLocks/>
          </p:cNvGrpSpPr>
          <p:nvPr/>
        </p:nvGrpSpPr>
        <p:grpSpPr bwMode="auto">
          <a:xfrm>
            <a:off x="1312239" y="3449103"/>
            <a:ext cx="863600" cy="265647"/>
            <a:chOff x="1313" y="2496"/>
            <a:chExt cx="1252" cy="427"/>
          </a:xfrm>
        </p:grpSpPr>
        <p:sp>
          <p:nvSpPr>
            <p:cNvPr id="6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6" name="Group 32"/>
          <p:cNvGrpSpPr>
            <a:grpSpLocks/>
          </p:cNvGrpSpPr>
          <p:nvPr/>
        </p:nvGrpSpPr>
        <p:grpSpPr bwMode="auto">
          <a:xfrm>
            <a:off x="2662578" y="4084638"/>
            <a:ext cx="863600" cy="265647"/>
            <a:chOff x="1313" y="2496"/>
            <a:chExt cx="1252" cy="427"/>
          </a:xfrm>
        </p:grpSpPr>
        <p:sp>
          <p:nvSpPr>
            <p:cNvPr id="6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1" name="Group 32"/>
          <p:cNvGrpSpPr>
            <a:grpSpLocks/>
          </p:cNvGrpSpPr>
          <p:nvPr/>
        </p:nvGrpSpPr>
        <p:grpSpPr bwMode="auto">
          <a:xfrm>
            <a:off x="1687396" y="4023778"/>
            <a:ext cx="863600" cy="265647"/>
            <a:chOff x="1313" y="2496"/>
            <a:chExt cx="1252" cy="427"/>
          </a:xfrm>
        </p:grpSpPr>
        <p:sp>
          <p:nvSpPr>
            <p:cNvPr id="7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6" name="Group 32"/>
          <p:cNvGrpSpPr>
            <a:grpSpLocks/>
          </p:cNvGrpSpPr>
          <p:nvPr/>
        </p:nvGrpSpPr>
        <p:grpSpPr bwMode="auto">
          <a:xfrm>
            <a:off x="884578" y="3980540"/>
            <a:ext cx="863600" cy="265647"/>
            <a:chOff x="1313" y="2496"/>
            <a:chExt cx="1252" cy="427"/>
          </a:xfrm>
        </p:grpSpPr>
        <p:sp>
          <p:nvSpPr>
            <p:cNvPr id="7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1" name="Group 32"/>
          <p:cNvGrpSpPr>
            <a:grpSpLocks/>
          </p:cNvGrpSpPr>
          <p:nvPr/>
        </p:nvGrpSpPr>
        <p:grpSpPr bwMode="auto">
          <a:xfrm>
            <a:off x="2045999" y="3650189"/>
            <a:ext cx="863600" cy="265647"/>
            <a:chOff x="1313" y="2496"/>
            <a:chExt cx="1252" cy="427"/>
          </a:xfrm>
        </p:grpSpPr>
        <p:sp>
          <p:nvSpPr>
            <p:cNvPr id="8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6" name="Group 32"/>
          <p:cNvGrpSpPr>
            <a:grpSpLocks/>
          </p:cNvGrpSpPr>
          <p:nvPr/>
        </p:nvGrpSpPr>
        <p:grpSpPr bwMode="auto">
          <a:xfrm>
            <a:off x="1537715" y="2946175"/>
            <a:ext cx="863600" cy="265647"/>
            <a:chOff x="1313" y="2496"/>
            <a:chExt cx="1252" cy="427"/>
          </a:xfrm>
        </p:grpSpPr>
        <p:sp>
          <p:nvSpPr>
            <p:cNvPr id="8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1" name="Group 32"/>
          <p:cNvGrpSpPr>
            <a:grpSpLocks/>
          </p:cNvGrpSpPr>
          <p:nvPr/>
        </p:nvGrpSpPr>
        <p:grpSpPr bwMode="auto">
          <a:xfrm>
            <a:off x="2199819" y="3027363"/>
            <a:ext cx="863600" cy="265647"/>
            <a:chOff x="1313" y="2496"/>
            <a:chExt cx="1252" cy="427"/>
          </a:xfrm>
        </p:grpSpPr>
        <p:sp>
          <p:nvSpPr>
            <p:cNvPr id="9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6" name="Group 32"/>
          <p:cNvGrpSpPr>
            <a:grpSpLocks/>
          </p:cNvGrpSpPr>
          <p:nvPr/>
        </p:nvGrpSpPr>
        <p:grpSpPr bwMode="auto">
          <a:xfrm>
            <a:off x="2353639" y="3345389"/>
            <a:ext cx="863600" cy="265647"/>
            <a:chOff x="1313" y="2496"/>
            <a:chExt cx="1252" cy="427"/>
          </a:xfrm>
        </p:grpSpPr>
        <p:sp>
          <p:nvSpPr>
            <p:cNvPr id="9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1" name="Group 32"/>
          <p:cNvGrpSpPr>
            <a:grpSpLocks/>
          </p:cNvGrpSpPr>
          <p:nvPr/>
        </p:nvGrpSpPr>
        <p:grpSpPr bwMode="auto">
          <a:xfrm>
            <a:off x="2859935" y="3688289"/>
            <a:ext cx="863600" cy="265647"/>
            <a:chOff x="1313" y="2496"/>
            <a:chExt cx="1252" cy="427"/>
          </a:xfrm>
        </p:grpSpPr>
        <p:sp>
          <p:nvSpPr>
            <p:cNvPr id="10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6" name="Group 32"/>
          <p:cNvGrpSpPr>
            <a:grpSpLocks/>
          </p:cNvGrpSpPr>
          <p:nvPr/>
        </p:nvGrpSpPr>
        <p:grpSpPr bwMode="auto">
          <a:xfrm>
            <a:off x="2490216" y="2748489"/>
            <a:ext cx="863600" cy="265647"/>
            <a:chOff x="1313" y="2496"/>
            <a:chExt cx="1252" cy="427"/>
          </a:xfrm>
        </p:grpSpPr>
        <p:sp>
          <p:nvSpPr>
            <p:cNvPr id="10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7" name="Group 186"/>
          <p:cNvGrpSpPr/>
          <p:nvPr/>
        </p:nvGrpSpPr>
        <p:grpSpPr>
          <a:xfrm>
            <a:off x="6381750" y="1811856"/>
            <a:ext cx="863600" cy="3082407"/>
            <a:chOff x="7709575" y="1756828"/>
            <a:chExt cx="863600" cy="3082407"/>
          </a:xfrm>
        </p:grpSpPr>
        <p:grpSp>
          <p:nvGrpSpPr>
            <p:cNvPr id="56" name="Group 32"/>
            <p:cNvGrpSpPr>
              <a:grpSpLocks/>
            </p:cNvGrpSpPr>
            <p:nvPr/>
          </p:nvGrpSpPr>
          <p:grpSpPr bwMode="auto">
            <a:xfrm>
              <a:off x="7709575" y="1756828"/>
              <a:ext cx="863600" cy="265647"/>
              <a:chOff x="1313" y="2496"/>
              <a:chExt cx="1252" cy="427"/>
            </a:xfrm>
          </p:grpSpPr>
          <p:sp>
            <p:nvSpPr>
              <p:cNvPr id="5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 name="Group 32"/>
            <p:cNvGrpSpPr>
              <a:grpSpLocks/>
            </p:cNvGrpSpPr>
            <p:nvPr/>
          </p:nvGrpSpPr>
          <p:grpSpPr bwMode="auto">
            <a:xfrm>
              <a:off x="7709575" y="2159222"/>
              <a:ext cx="863600" cy="265647"/>
              <a:chOff x="1313" y="2496"/>
              <a:chExt cx="1252" cy="427"/>
            </a:xfrm>
          </p:grpSpPr>
          <p:sp>
            <p:nvSpPr>
              <p:cNvPr id="11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7" name="Group 32"/>
            <p:cNvGrpSpPr>
              <a:grpSpLocks/>
            </p:cNvGrpSpPr>
            <p:nvPr/>
          </p:nvGrpSpPr>
          <p:grpSpPr bwMode="auto">
            <a:xfrm>
              <a:off x="7709575" y="2561616"/>
              <a:ext cx="863600" cy="265647"/>
              <a:chOff x="1313" y="2496"/>
              <a:chExt cx="1252" cy="427"/>
            </a:xfrm>
          </p:grpSpPr>
          <p:sp>
            <p:nvSpPr>
              <p:cNvPr id="11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2" name="Group 32"/>
            <p:cNvGrpSpPr>
              <a:grpSpLocks/>
            </p:cNvGrpSpPr>
            <p:nvPr/>
          </p:nvGrpSpPr>
          <p:grpSpPr bwMode="auto">
            <a:xfrm>
              <a:off x="7709575" y="2964010"/>
              <a:ext cx="863600" cy="265647"/>
              <a:chOff x="1313" y="2496"/>
              <a:chExt cx="1252" cy="427"/>
            </a:xfrm>
          </p:grpSpPr>
          <p:sp>
            <p:nvSpPr>
              <p:cNvPr id="12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7" name="Group 32"/>
            <p:cNvGrpSpPr>
              <a:grpSpLocks/>
            </p:cNvGrpSpPr>
            <p:nvPr/>
          </p:nvGrpSpPr>
          <p:grpSpPr bwMode="auto">
            <a:xfrm>
              <a:off x="7709575" y="3366404"/>
              <a:ext cx="863600" cy="265647"/>
              <a:chOff x="1313" y="2496"/>
              <a:chExt cx="1252" cy="427"/>
            </a:xfrm>
          </p:grpSpPr>
          <p:sp>
            <p:nvSpPr>
              <p:cNvPr id="12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2" name="Group 32"/>
            <p:cNvGrpSpPr>
              <a:grpSpLocks/>
            </p:cNvGrpSpPr>
            <p:nvPr/>
          </p:nvGrpSpPr>
          <p:grpSpPr bwMode="auto">
            <a:xfrm>
              <a:off x="7709575" y="3768798"/>
              <a:ext cx="863600" cy="265647"/>
              <a:chOff x="1313" y="2496"/>
              <a:chExt cx="1252" cy="427"/>
            </a:xfrm>
          </p:grpSpPr>
          <p:sp>
            <p:nvSpPr>
              <p:cNvPr id="13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7" name="Group 32"/>
            <p:cNvGrpSpPr>
              <a:grpSpLocks/>
            </p:cNvGrpSpPr>
            <p:nvPr/>
          </p:nvGrpSpPr>
          <p:grpSpPr bwMode="auto">
            <a:xfrm>
              <a:off x="7709575" y="4171192"/>
              <a:ext cx="863600" cy="265647"/>
              <a:chOff x="1313" y="2496"/>
              <a:chExt cx="1252" cy="427"/>
            </a:xfrm>
          </p:grpSpPr>
          <p:sp>
            <p:nvSpPr>
              <p:cNvPr id="13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42" name="Group 32"/>
            <p:cNvGrpSpPr>
              <a:grpSpLocks/>
            </p:cNvGrpSpPr>
            <p:nvPr/>
          </p:nvGrpSpPr>
          <p:grpSpPr bwMode="auto">
            <a:xfrm>
              <a:off x="7709575" y="4573588"/>
              <a:ext cx="863600" cy="265647"/>
              <a:chOff x="1313" y="2496"/>
              <a:chExt cx="1252" cy="427"/>
            </a:xfrm>
          </p:grpSpPr>
          <p:sp>
            <p:nvSpPr>
              <p:cNvPr id="14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188" name="Group 187"/>
          <p:cNvGrpSpPr/>
          <p:nvPr/>
        </p:nvGrpSpPr>
        <p:grpSpPr>
          <a:xfrm>
            <a:off x="7297413" y="1811856"/>
            <a:ext cx="863600" cy="1875223"/>
            <a:chOff x="8896087" y="1811856"/>
            <a:chExt cx="863600" cy="1875223"/>
          </a:xfrm>
        </p:grpSpPr>
        <p:grpSp>
          <p:nvGrpSpPr>
            <p:cNvPr id="147" name="Group 32"/>
            <p:cNvGrpSpPr>
              <a:grpSpLocks/>
            </p:cNvGrpSpPr>
            <p:nvPr/>
          </p:nvGrpSpPr>
          <p:grpSpPr bwMode="auto">
            <a:xfrm>
              <a:off x="8896087" y="1811856"/>
              <a:ext cx="863600" cy="265647"/>
              <a:chOff x="1313" y="2496"/>
              <a:chExt cx="1252" cy="427"/>
            </a:xfrm>
          </p:grpSpPr>
          <p:sp>
            <p:nvSpPr>
              <p:cNvPr id="14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2" name="Group 32"/>
            <p:cNvGrpSpPr>
              <a:grpSpLocks/>
            </p:cNvGrpSpPr>
            <p:nvPr/>
          </p:nvGrpSpPr>
          <p:grpSpPr bwMode="auto">
            <a:xfrm>
              <a:off x="8896087" y="2214250"/>
              <a:ext cx="863600" cy="265647"/>
              <a:chOff x="1313" y="2496"/>
              <a:chExt cx="1252" cy="427"/>
            </a:xfrm>
          </p:grpSpPr>
          <p:sp>
            <p:nvSpPr>
              <p:cNvPr id="15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7" name="Group 32"/>
            <p:cNvGrpSpPr>
              <a:grpSpLocks/>
            </p:cNvGrpSpPr>
            <p:nvPr/>
          </p:nvGrpSpPr>
          <p:grpSpPr bwMode="auto">
            <a:xfrm>
              <a:off x="8896087" y="2616644"/>
              <a:ext cx="863600" cy="265647"/>
              <a:chOff x="1313" y="2496"/>
              <a:chExt cx="1252" cy="427"/>
            </a:xfrm>
          </p:grpSpPr>
          <p:sp>
            <p:nvSpPr>
              <p:cNvPr id="15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2" name="Group 32"/>
            <p:cNvGrpSpPr>
              <a:grpSpLocks/>
            </p:cNvGrpSpPr>
            <p:nvPr/>
          </p:nvGrpSpPr>
          <p:grpSpPr bwMode="auto">
            <a:xfrm>
              <a:off x="8896087" y="3019038"/>
              <a:ext cx="863600" cy="265647"/>
              <a:chOff x="1313" y="2496"/>
              <a:chExt cx="1252" cy="427"/>
            </a:xfrm>
          </p:grpSpPr>
          <p:sp>
            <p:nvSpPr>
              <p:cNvPr id="16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7" name="Group 32"/>
            <p:cNvGrpSpPr>
              <a:grpSpLocks/>
            </p:cNvGrpSpPr>
            <p:nvPr/>
          </p:nvGrpSpPr>
          <p:grpSpPr bwMode="auto">
            <a:xfrm>
              <a:off x="8896087" y="3421432"/>
              <a:ext cx="863600" cy="265647"/>
              <a:chOff x="1313" y="2496"/>
              <a:chExt cx="1252" cy="427"/>
            </a:xfrm>
          </p:grpSpPr>
          <p:sp>
            <p:nvSpPr>
              <p:cNvPr id="16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189" name="Group 32"/>
          <p:cNvGrpSpPr>
            <a:grpSpLocks/>
          </p:cNvGrpSpPr>
          <p:nvPr/>
        </p:nvGrpSpPr>
        <p:grpSpPr bwMode="auto">
          <a:xfrm>
            <a:off x="1798978" y="2516714"/>
            <a:ext cx="863600" cy="265647"/>
            <a:chOff x="1313" y="2496"/>
            <a:chExt cx="1252" cy="427"/>
          </a:xfrm>
        </p:grpSpPr>
        <p:sp>
          <p:nvSpPr>
            <p:cNvPr id="19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4" name="Group 32"/>
          <p:cNvGrpSpPr>
            <a:grpSpLocks/>
          </p:cNvGrpSpPr>
          <p:nvPr/>
        </p:nvGrpSpPr>
        <p:grpSpPr bwMode="auto">
          <a:xfrm>
            <a:off x="572800" y="2761716"/>
            <a:ext cx="863600" cy="265647"/>
            <a:chOff x="1313" y="2496"/>
            <a:chExt cx="1252" cy="427"/>
          </a:xfrm>
        </p:grpSpPr>
        <p:sp>
          <p:nvSpPr>
            <p:cNvPr id="19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animBg="1"/>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AutoShape 22"/>
          <p:cNvSpPr>
            <a:spLocks noChangeArrowheads="1"/>
          </p:cNvSpPr>
          <p:nvPr/>
        </p:nvSpPr>
        <p:spPr bwMode="auto">
          <a:xfrm>
            <a:off x="2563560" y="3575050"/>
            <a:ext cx="2028491" cy="1317996"/>
          </a:xfrm>
          <a:prstGeom prst="wedgeRoundRectCallout">
            <a:avLst>
              <a:gd name="adj1" fmla="val 66443"/>
              <a:gd name="adj2" fmla="val 51034"/>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28678" name="Freeform 6"/>
          <p:cNvSpPr>
            <a:spLocks/>
          </p:cNvSpPr>
          <p:nvPr/>
        </p:nvSpPr>
        <p:spPr bwMode="auto">
          <a:xfrm>
            <a:off x="3311525" y="3171825"/>
            <a:ext cx="879475" cy="615950"/>
          </a:xfrm>
          <a:custGeom>
            <a:avLst/>
            <a:gdLst/>
            <a:ahLst/>
            <a:cxnLst>
              <a:cxn ang="0">
                <a:pos x="0" y="0"/>
              </a:cxn>
              <a:cxn ang="0">
                <a:pos x="160" y="0"/>
              </a:cxn>
              <a:cxn ang="0">
                <a:pos x="160" y="303"/>
              </a:cxn>
              <a:cxn ang="0">
                <a:pos x="414" y="303"/>
              </a:cxn>
              <a:cxn ang="0">
                <a:pos x="414" y="303"/>
              </a:cxn>
            </a:cxnLst>
            <a:rect l="0" t="0" r="r" b="b"/>
            <a:pathLst>
              <a:path w="415" h="304">
                <a:moveTo>
                  <a:pt x="0" y="0"/>
                </a:moveTo>
                <a:lnTo>
                  <a:pt x="160" y="0"/>
                </a:lnTo>
                <a:lnTo>
                  <a:pt x="160" y="303"/>
                </a:lnTo>
                <a:lnTo>
                  <a:pt x="414" y="303"/>
                </a:lnTo>
                <a:lnTo>
                  <a:pt x="414" y="303"/>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a:latin typeface="Arial" pitchFamily="34" charset="0"/>
              <a:cs typeface="Arial" pitchFamily="34" charset="0"/>
            </a:endParaRPr>
          </a:p>
        </p:txBody>
      </p:sp>
      <p:sp>
        <p:nvSpPr>
          <p:cNvPr id="28674" name="Rectangle 2"/>
          <p:cNvSpPr>
            <a:spLocks noGrp="1" noChangeArrowheads="1"/>
          </p:cNvSpPr>
          <p:nvPr>
            <p:ph type="title"/>
          </p:nvPr>
        </p:nvSpPr>
        <p:spPr>
          <a:xfrm>
            <a:off x="808038" y="261938"/>
            <a:ext cx="7772400" cy="1143000"/>
          </a:xfrm>
        </p:spPr>
        <p:txBody>
          <a:bodyPr/>
          <a:lstStyle/>
          <a:p>
            <a:pPr>
              <a:defRPr/>
            </a:pPr>
            <a:r>
              <a:rPr lang="en-US" dirty="0"/>
              <a:t>Inductive Construction</a:t>
            </a:r>
          </a:p>
        </p:txBody>
      </p:sp>
      <p:sp>
        <p:nvSpPr>
          <p:cNvPr id="28675" name="Rectangle 3"/>
          <p:cNvSpPr>
            <a:spLocks noChangeArrowheads="1"/>
          </p:cNvSpPr>
          <p:nvPr/>
        </p:nvSpPr>
        <p:spPr bwMode="auto">
          <a:xfrm>
            <a:off x="1173313" y="5594350"/>
            <a:ext cx="6797374" cy="459100"/>
          </a:xfrm>
          <a:prstGeom prst="rect">
            <a:avLst/>
          </a:prstGeom>
          <a:noFill/>
          <a:ln w="25400">
            <a:noFill/>
            <a:miter lim="800000"/>
            <a:headEnd/>
            <a:tailEnd/>
          </a:ln>
          <a:effectLst/>
        </p:spPr>
        <p:txBody>
          <a:bodyPr wrap="none" lIns="88900" tIns="44450" rIns="88900" bIns="44450">
            <a:spAutoFit/>
          </a:bodyPr>
          <a:lstStyle/>
          <a:p>
            <a:pPr defTabSz="858838">
              <a:defRPr/>
            </a:pPr>
            <a:r>
              <a:rPr lang="en-US" dirty="0">
                <a:latin typeface="Arial" pitchFamily="34" charset="0"/>
                <a:cs typeface="Arial" pitchFamily="34" charset="0"/>
              </a:rPr>
              <a:t>Tree[2k] has step property in quiescent state.</a:t>
            </a:r>
          </a:p>
        </p:txBody>
      </p:sp>
      <p:sp>
        <p:nvSpPr>
          <p:cNvPr id="28676" name="Line 4"/>
          <p:cNvSpPr>
            <a:spLocks noChangeShapeType="1"/>
          </p:cNvSpPr>
          <p:nvPr/>
        </p:nvSpPr>
        <p:spPr bwMode="auto">
          <a:xfrm>
            <a:off x="2463800" y="2976563"/>
            <a:ext cx="365125" cy="3175"/>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81" name="Rectangle 9"/>
          <p:cNvSpPr>
            <a:spLocks noChangeArrowheads="1"/>
          </p:cNvSpPr>
          <p:nvPr/>
        </p:nvSpPr>
        <p:spPr bwMode="auto">
          <a:xfrm>
            <a:off x="733425" y="1847850"/>
            <a:ext cx="1670970" cy="481541"/>
          </a:xfrm>
          <a:prstGeom prst="rect">
            <a:avLst/>
          </a:prstGeom>
          <a:noFill/>
          <a:ln w="25400">
            <a:noFill/>
            <a:miter lim="800000"/>
            <a:headEnd/>
            <a:tailEnd/>
          </a:ln>
          <a:effectLst/>
        </p:spPr>
        <p:txBody>
          <a:bodyPr wrap="none" lIns="111125" tIns="55562" rIns="111125" bIns="55562">
            <a:spAutoFit/>
          </a:bodyPr>
          <a:lstStyle/>
          <a:p>
            <a:pPr defTabSz="1314450">
              <a:defRPr/>
            </a:pPr>
            <a:r>
              <a:rPr lang="en-US" dirty="0">
                <a:latin typeface="Arial" pitchFamily="34" charset="0"/>
                <a:cs typeface="Arial" pitchFamily="34" charset="0"/>
              </a:rPr>
              <a:t>Tree[2k] =</a:t>
            </a:r>
          </a:p>
        </p:txBody>
      </p:sp>
      <p:sp>
        <p:nvSpPr>
          <p:cNvPr id="28682" name="Line 10"/>
          <p:cNvSpPr>
            <a:spLocks noChangeShapeType="1"/>
          </p:cNvSpPr>
          <p:nvPr/>
        </p:nvSpPr>
        <p:spPr bwMode="auto">
          <a:xfrm>
            <a:off x="5722938" y="1912938"/>
            <a:ext cx="438150"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83" name="Line 11"/>
          <p:cNvSpPr>
            <a:spLocks noChangeShapeType="1"/>
          </p:cNvSpPr>
          <p:nvPr/>
        </p:nvSpPr>
        <p:spPr bwMode="auto">
          <a:xfrm>
            <a:off x="5722938" y="2098675"/>
            <a:ext cx="438150"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grpSp>
        <p:nvGrpSpPr>
          <p:cNvPr id="239626" name="Group 15"/>
          <p:cNvGrpSpPr>
            <a:grpSpLocks/>
          </p:cNvGrpSpPr>
          <p:nvPr/>
        </p:nvGrpSpPr>
        <p:grpSpPr bwMode="auto">
          <a:xfrm>
            <a:off x="5734054" y="1941513"/>
            <a:ext cx="305998" cy="726638"/>
            <a:chOff x="2416" y="2212"/>
            <a:chExt cx="145" cy="359"/>
          </a:xfrm>
        </p:grpSpPr>
        <p:sp>
          <p:nvSpPr>
            <p:cNvPr id="28684" name="Rectangle 12"/>
            <p:cNvSpPr>
              <a:spLocks noChangeArrowheads="1"/>
            </p:cNvSpPr>
            <p:nvPr/>
          </p:nvSpPr>
          <p:spPr bwMode="auto">
            <a:xfrm>
              <a:off x="2416" y="2212"/>
              <a:ext cx="145" cy="230"/>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sp>
          <p:nvSpPr>
            <p:cNvPr id="28685" name="Rectangle 13"/>
            <p:cNvSpPr>
              <a:spLocks noChangeArrowheads="1"/>
            </p:cNvSpPr>
            <p:nvPr/>
          </p:nvSpPr>
          <p:spPr bwMode="auto">
            <a:xfrm>
              <a:off x="2416" y="2272"/>
              <a:ext cx="145" cy="230"/>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sp>
          <p:nvSpPr>
            <p:cNvPr id="28686" name="Rectangle 14"/>
            <p:cNvSpPr>
              <a:spLocks noChangeArrowheads="1"/>
            </p:cNvSpPr>
            <p:nvPr/>
          </p:nvSpPr>
          <p:spPr bwMode="auto">
            <a:xfrm>
              <a:off x="2416" y="2341"/>
              <a:ext cx="145" cy="230"/>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grpSp>
      <p:grpSp>
        <p:nvGrpSpPr>
          <p:cNvPr id="239627" name="Group 19"/>
          <p:cNvGrpSpPr>
            <a:grpSpLocks/>
          </p:cNvGrpSpPr>
          <p:nvPr/>
        </p:nvGrpSpPr>
        <p:grpSpPr bwMode="auto">
          <a:xfrm>
            <a:off x="5753104" y="3386138"/>
            <a:ext cx="305998" cy="727075"/>
            <a:chOff x="2425" y="2926"/>
            <a:chExt cx="145" cy="360"/>
          </a:xfrm>
        </p:grpSpPr>
        <p:sp>
          <p:nvSpPr>
            <p:cNvPr id="28688" name="Rectangle 16"/>
            <p:cNvSpPr>
              <a:spLocks noChangeArrowheads="1"/>
            </p:cNvSpPr>
            <p:nvPr/>
          </p:nvSpPr>
          <p:spPr bwMode="auto">
            <a:xfrm>
              <a:off x="2425" y="2926"/>
              <a:ext cx="145" cy="231"/>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sp>
          <p:nvSpPr>
            <p:cNvPr id="28689" name="Rectangle 17"/>
            <p:cNvSpPr>
              <a:spLocks noChangeArrowheads="1"/>
            </p:cNvSpPr>
            <p:nvPr/>
          </p:nvSpPr>
          <p:spPr bwMode="auto">
            <a:xfrm>
              <a:off x="2425" y="2986"/>
              <a:ext cx="145" cy="231"/>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sp>
          <p:nvSpPr>
            <p:cNvPr id="28690" name="Rectangle 18"/>
            <p:cNvSpPr>
              <a:spLocks noChangeArrowheads="1"/>
            </p:cNvSpPr>
            <p:nvPr/>
          </p:nvSpPr>
          <p:spPr bwMode="auto">
            <a:xfrm>
              <a:off x="2425" y="3055"/>
              <a:ext cx="145" cy="231"/>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grpSp>
      <p:sp>
        <p:nvSpPr>
          <p:cNvPr id="28692" name="Line 20"/>
          <p:cNvSpPr>
            <a:spLocks noChangeShapeType="1"/>
          </p:cNvSpPr>
          <p:nvPr/>
        </p:nvSpPr>
        <p:spPr bwMode="auto">
          <a:xfrm>
            <a:off x="5715000" y="3405188"/>
            <a:ext cx="439738"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93" name="Line 21"/>
          <p:cNvSpPr>
            <a:spLocks noChangeShapeType="1"/>
          </p:cNvSpPr>
          <p:nvPr/>
        </p:nvSpPr>
        <p:spPr bwMode="auto">
          <a:xfrm>
            <a:off x="5715000" y="3575050"/>
            <a:ext cx="439738"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94" name="Line 22"/>
          <p:cNvSpPr>
            <a:spLocks noChangeShapeType="1"/>
          </p:cNvSpPr>
          <p:nvPr/>
        </p:nvSpPr>
        <p:spPr bwMode="auto">
          <a:xfrm>
            <a:off x="5734050" y="2620963"/>
            <a:ext cx="436563"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95" name="Line 23"/>
          <p:cNvSpPr>
            <a:spLocks noChangeShapeType="1"/>
          </p:cNvSpPr>
          <p:nvPr/>
        </p:nvSpPr>
        <p:spPr bwMode="auto">
          <a:xfrm>
            <a:off x="5715000" y="4048125"/>
            <a:ext cx="439738"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96" name="AutoShape 24"/>
          <p:cNvSpPr>
            <a:spLocks noChangeArrowheads="1"/>
          </p:cNvSpPr>
          <p:nvPr/>
        </p:nvSpPr>
        <p:spPr bwMode="auto">
          <a:xfrm rot="16200000">
            <a:off x="4272756" y="1666082"/>
            <a:ext cx="1228725" cy="1262062"/>
          </a:xfrm>
          <a:prstGeom prst="triangle">
            <a:avLst>
              <a:gd name="adj" fmla="val 49995"/>
            </a:avLst>
          </a:prstGeom>
          <a:solidFill>
            <a:srgbClr val="8CF4EA"/>
          </a:solidFill>
          <a:ln w="12700">
            <a:solidFill>
              <a:schemeClr val="tx2"/>
            </a:solid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28697" name="AutoShape 25"/>
          <p:cNvSpPr>
            <a:spLocks noChangeArrowheads="1"/>
          </p:cNvSpPr>
          <p:nvPr/>
        </p:nvSpPr>
        <p:spPr bwMode="auto">
          <a:xfrm rot="16200000">
            <a:off x="4224337" y="3124201"/>
            <a:ext cx="1285875" cy="1301750"/>
          </a:xfrm>
          <a:prstGeom prst="triangle">
            <a:avLst>
              <a:gd name="adj" fmla="val 49995"/>
            </a:avLst>
          </a:prstGeom>
          <a:solidFill>
            <a:srgbClr val="8CF4EA"/>
          </a:solidFill>
          <a:ln w="12700">
            <a:solidFill>
              <a:schemeClr val="tx2"/>
            </a:solidFill>
            <a:miter lim="800000"/>
            <a:headEnd/>
            <a:tailEnd/>
          </a:ln>
          <a:effectLst/>
        </p:spPr>
        <p:txBody>
          <a:bodyPr vert="eaVert" wrap="none" lIns="111125" tIns="55562" rIns="111125" bIns="55562" anchor="ctr"/>
          <a:lstStyle/>
          <a:p>
            <a:pPr algn="ctr" defTabSz="1314450">
              <a:defRPr/>
            </a:pPr>
            <a:r>
              <a:rPr lang="en-US" sz="2300">
                <a:latin typeface="Arial" pitchFamily="34" charset="0"/>
                <a:cs typeface="Arial" pitchFamily="34" charset="0"/>
              </a:rPr>
              <a:t>  </a:t>
            </a:r>
          </a:p>
        </p:txBody>
      </p:sp>
      <p:sp>
        <p:nvSpPr>
          <p:cNvPr id="28698" name="Rectangle 26"/>
          <p:cNvSpPr>
            <a:spLocks noChangeArrowheads="1"/>
          </p:cNvSpPr>
          <p:nvPr/>
        </p:nvSpPr>
        <p:spPr bwMode="auto">
          <a:xfrm>
            <a:off x="4467225" y="2119313"/>
            <a:ext cx="1066061" cy="389208"/>
          </a:xfrm>
          <a:prstGeom prst="rect">
            <a:avLst/>
          </a:prstGeom>
          <a:noFill/>
          <a:ln w="25400">
            <a:noFill/>
            <a:miter lim="800000"/>
            <a:headEnd/>
            <a:tailEnd/>
          </a:ln>
          <a:effectLst/>
        </p:spPr>
        <p:txBody>
          <a:bodyPr wrap="none" lIns="111125" tIns="55562" rIns="111125" bIns="55562">
            <a:spAutoFit/>
          </a:bodyPr>
          <a:lstStyle/>
          <a:p>
            <a:pPr defTabSz="1314450">
              <a:defRPr/>
            </a:pPr>
            <a:r>
              <a:rPr lang="en-US" sz="1800" dirty="0">
                <a:latin typeface="Arial" pitchFamily="34" charset="0"/>
                <a:cs typeface="Arial" pitchFamily="34" charset="0"/>
              </a:rPr>
              <a:t>Tree</a:t>
            </a:r>
            <a:r>
              <a:rPr lang="en-US" sz="1800" baseline="-25000" dirty="0">
                <a:latin typeface="Arial" pitchFamily="34" charset="0"/>
                <a:cs typeface="Arial" pitchFamily="34" charset="0"/>
              </a:rPr>
              <a:t>0</a:t>
            </a:r>
            <a:r>
              <a:rPr lang="en-US" sz="1800" dirty="0">
                <a:latin typeface="Arial" pitchFamily="34" charset="0"/>
                <a:cs typeface="Arial" pitchFamily="34" charset="0"/>
              </a:rPr>
              <a:t>[k]</a:t>
            </a:r>
          </a:p>
        </p:txBody>
      </p:sp>
      <p:sp>
        <p:nvSpPr>
          <p:cNvPr id="28699" name="Rectangle 27"/>
          <p:cNvSpPr>
            <a:spLocks noChangeArrowheads="1"/>
          </p:cNvSpPr>
          <p:nvPr/>
        </p:nvSpPr>
        <p:spPr bwMode="auto">
          <a:xfrm>
            <a:off x="4416425" y="3605213"/>
            <a:ext cx="1066061" cy="389208"/>
          </a:xfrm>
          <a:prstGeom prst="rect">
            <a:avLst/>
          </a:prstGeom>
          <a:noFill/>
          <a:ln w="25400">
            <a:noFill/>
            <a:miter lim="800000"/>
            <a:headEnd/>
            <a:tailEnd/>
          </a:ln>
          <a:effectLst/>
        </p:spPr>
        <p:txBody>
          <a:bodyPr wrap="none" lIns="111125" tIns="55562" rIns="111125" bIns="55562">
            <a:spAutoFit/>
          </a:bodyPr>
          <a:lstStyle/>
          <a:p>
            <a:pPr defTabSz="1314450">
              <a:defRPr/>
            </a:pPr>
            <a:r>
              <a:rPr lang="en-US" sz="1800" dirty="0">
                <a:latin typeface="Arial" pitchFamily="34" charset="0"/>
                <a:cs typeface="Arial" pitchFamily="34" charset="0"/>
              </a:rPr>
              <a:t>Tree</a:t>
            </a:r>
            <a:r>
              <a:rPr lang="en-US" sz="1800" baseline="-25000" dirty="0">
                <a:latin typeface="Arial" pitchFamily="34" charset="0"/>
                <a:cs typeface="Arial" pitchFamily="34" charset="0"/>
              </a:rPr>
              <a:t>1</a:t>
            </a:r>
            <a:r>
              <a:rPr lang="en-US" sz="1800" dirty="0">
                <a:latin typeface="Arial" pitchFamily="34" charset="0"/>
                <a:cs typeface="Arial" pitchFamily="34" charset="0"/>
              </a:rPr>
              <a:t>[k]</a:t>
            </a:r>
          </a:p>
        </p:txBody>
      </p:sp>
      <p:sp>
        <p:nvSpPr>
          <p:cNvPr id="28700" name="Rectangle 28"/>
          <p:cNvSpPr>
            <a:spLocks noChangeArrowheads="1"/>
          </p:cNvSpPr>
          <p:nvPr/>
        </p:nvSpPr>
        <p:spPr bwMode="auto">
          <a:xfrm>
            <a:off x="6846600" y="2292821"/>
            <a:ext cx="1070806" cy="721607"/>
          </a:xfrm>
          <a:prstGeom prst="rect">
            <a:avLst/>
          </a:prstGeom>
          <a:noFill/>
          <a:ln w="25400">
            <a:noFill/>
            <a:miter lim="800000"/>
            <a:headEnd/>
            <a:tailEnd/>
          </a:ln>
          <a:effectLst/>
        </p:spPr>
        <p:txBody>
          <a:bodyPr wrap="none" lIns="111125" tIns="55562" rIns="111125" bIns="55562">
            <a:spAutoFit/>
          </a:bodyPr>
          <a:lstStyle/>
          <a:p>
            <a:pPr defTabSz="1314450">
              <a:defRPr/>
            </a:pPr>
            <a:r>
              <a:rPr lang="en-US" sz="1800" dirty="0">
                <a:latin typeface="Arial" pitchFamily="34" charset="0"/>
                <a:cs typeface="Arial" pitchFamily="34" charset="0"/>
              </a:rPr>
              <a:t>k even </a:t>
            </a:r>
          </a:p>
          <a:p>
            <a:pPr defTabSz="1314450">
              <a:defRPr/>
            </a:pPr>
            <a:r>
              <a:rPr lang="en-US" sz="1800" dirty="0">
                <a:latin typeface="Arial" pitchFamily="34" charset="0"/>
                <a:cs typeface="Arial" pitchFamily="34" charset="0"/>
              </a:rPr>
              <a:t>outputs</a:t>
            </a:r>
          </a:p>
        </p:txBody>
      </p:sp>
      <p:sp>
        <p:nvSpPr>
          <p:cNvPr id="28701" name="Rectangle 29"/>
          <p:cNvSpPr>
            <a:spLocks noChangeArrowheads="1"/>
          </p:cNvSpPr>
          <p:nvPr/>
        </p:nvSpPr>
        <p:spPr bwMode="auto">
          <a:xfrm>
            <a:off x="6846600" y="3832376"/>
            <a:ext cx="1070806" cy="721607"/>
          </a:xfrm>
          <a:prstGeom prst="rect">
            <a:avLst/>
          </a:prstGeom>
          <a:noFill/>
          <a:ln w="25400">
            <a:noFill/>
            <a:miter lim="800000"/>
            <a:headEnd/>
            <a:tailEnd/>
          </a:ln>
          <a:effectLst/>
        </p:spPr>
        <p:txBody>
          <a:bodyPr wrap="none" lIns="111125" tIns="55562" rIns="111125" bIns="55562">
            <a:spAutoFit/>
          </a:bodyPr>
          <a:lstStyle/>
          <a:p>
            <a:pPr defTabSz="1314450">
              <a:defRPr/>
            </a:pPr>
            <a:r>
              <a:rPr lang="en-US" sz="1800" dirty="0">
                <a:latin typeface="Arial" pitchFamily="34" charset="0"/>
                <a:cs typeface="Arial" pitchFamily="34" charset="0"/>
              </a:rPr>
              <a:t>k odd </a:t>
            </a:r>
          </a:p>
          <a:p>
            <a:pPr defTabSz="1314450">
              <a:defRPr/>
            </a:pPr>
            <a:r>
              <a:rPr lang="en-US" sz="1800" dirty="0">
                <a:latin typeface="Arial" pitchFamily="34" charset="0"/>
                <a:cs typeface="Arial" pitchFamily="34" charset="0"/>
              </a:rPr>
              <a:t>outputs</a:t>
            </a:r>
          </a:p>
        </p:txBody>
      </p:sp>
      <p:sp>
        <p:nvSpPr>
          <p:cNvPr id="28710" name="Rectangle 38"/>
          <p:cNvSpPr>
            <a:spLocks noChangeArrowheads="1"/>
          </p:cNvSpPr>
          <p:nvPr/>
        </p:nvSpPr>
        <p:spPr bwMode="auto">
          <a:xfrm>
            <a:off x="706438" y="4010025"/>
            <a:ext cx="246062" cy="117475"/>
          </a:xfrm>
          <a:prstGeom prst="rect">
            <a:avLst/>
          </a:prstGeom>
          <a:noFill/>
          <a:ln w="12700">
            <a:no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41" name="Text Box 24"/>
          <p:cNvSpPr txBox="1">
            <a:spLocks noChangeArrowheads="1"/>
          </p:cNvSpPr>
          <p:nvPr/>
        </p:nvSpPr>
        <p:spPr bwMode="auto">
          <a:xfrm>
            <a:off x="3398838" y="4873625"/>
            <a:ext cx="5648325" cy="523220"/>
          </a:xfrm>
          <a:prstGeom prst="rect">
            <a:avLst/>
          </a:prstGeom>
          <a:noFill/>
          <a:ln w="9525" algn="ctr">
            <a:noFill/>
            <a:miter lim="800000"/>
            <a:headEnd/>
            <a:tailEnd/>
          </a:ln>
        </p:spPr>
        <p:txBody>
          <a:bodyPr wrap="square">
            <a:spAutoFit/>
          </a:bodyPr>
          <a:lstStyle/>
          <a:p>
            <a:pPr algn="ctr">
              <a:spcBef>
                <a:spcPct val="0"/>
              </a:spcBef>
            </a:pPr>
            <a:r>
              <a:rPr lang="en-US" sz="2800" b="0" dirty="0">
                <a:solidFill>
                  <a:srgbClr val="FF0000"/>
                </a:solidFill>
                <a:latin typeface="Arial" pitchFamily="34" charset="0"/>
                <a:cs typeface="Arial" pitchFamily="34" charset="0"/>
              </a:rPr>
              <a:t>At most 1 more token in top wire</a:t>
            </a:r>
          </a:p>
        </p:txBody>
      </p:sp>
      <p:sp>
        <p:nvSpPr>
          <p:cNvPr id="28677" name="Freeform 5"/>
          <p:cNvSpPr>
            <a:spLocks/>
          </p:cNvSpPr>
          <p:nvPr/>
        </p:nvSpPr>
        <p:spPr bwMode="auto">
          <a:xfrm>
            <a:off x="3311525" y="2325688"/>
            <a:ext cx="920750" cy="461962"/>
          </a:xfrm>
          <a:custGeom>
            <a:avLst/>
            <a:gdLst/>
            <a:ahLst/>
            <a:cxnLst>
              <a:cxn ang="0">
                <a:pos x="0" y="228"/>
              </a:cxn>
              <a:cxn ang="0">
                <a:pos x="157" y="228"/>
              </a:cxn>
              <a:cxn ang="0">
                <a:pos x="157" y="0"/>
              </a:cxn>
              <a:cxn ang="0">
                <a:pos x="406" y="0"/>
              </a:cxn>
              <a:cxn ang="0">
                <a:pos x="406" y="0"/>
              </a:cxn>
            </a:cxnLst>
            <a:rect l="0" t="0" r="r" b="b"/>
            <a:pathLst>
              <a:path w="407" h="229">
                <a:moveTo>
                  <a:pt x="0" y="228"/>
                </a:moveTo>
                <a:lnTo>
                  <a:pt x="157" y="228"/>
                </a:lnTo>
                <a:lnTo>
                  <a:pt x="157" y="0"/>
                </a:lnTo>
                <a:lnTo>
                  <a:pt x="406" y="0"/>
                </a:lnTo>
                <a:lnTo>
                  <a:pt x="406"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a:latin typeface="Arial" pitchFamily="34" charset="0"/>
              <a:cs typeface="Arial" pitchFamily="34" charset="0"/>
            </a:endParaRPr>
          </a:p>
        </p:txBody>
      </p:sp>
      <p:sp>
        <p:nvSpPr>
          <p:cNvPr id="40" name="AutoShape 22"/>
          <p:cNvSpPr>
            <a:spLocks noChangeArrowheads="1"/>
          </p:cNvSpPr>
          <p:nvPr/>
        </p:nvSpPr>
        <p:spPr bwMode="auto">
          <a:xfrm>
            <a:off x="2617632" y="1056905"/>
            <a:ext cx="2028491" cy="1317996"/>
          </a:xfrm>
          <a:prstGeom prst="wedgeRoundRectCallout">
            <a:avLst>
              <a:gd name="adj1" fmla="val 88104"/>
              <a:gd name="adj2" fmla="val 235742"/>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grpSp>
        <p:nvGrpSpPr>
          <p:cNvPr id="104" name="Group 103"/>
          <p:cNvGrpSpPr/>
          <p:nvPr/>
        </p:nvGrpSpPr>
        <p:grpSpPr>
          <a:xfrm>
            <a:off x="406244" y="2747963"/>
            <a:ext cx="2129177" cy="1239075"/>
            <a:chOff x="572800" y="2516714"/>
            <a:chExt cx="3150735" cy="1833571"/>
          </a:xfrm>
        </p:grpSpPr>
        <p:sp>
          <p:nvSpPr>
            <p:cNvPr id="43" name="Line 45"/>
            <p:cNvSpPr>
              <a:spLocks noChangeShapeType="1"/>
            </p:cNvSpPr>
            <p:nvPr/>
          </p:nvSpPr>
          <p:spPr bwMode="auto">
            <a:xfrm>
              <a:off x="3343275" y="3338513"/>
              <a:ext cx="223838" cy="1587"/>
            </a:xfrm>
            <a:prstGeom prst="line">
              <a:avLst/>
            </a:prstGeom>
            <a:noFill/>
            <a:ln w="25400">
              <a:solidFill>
                <a:schemeClr val="tx2"/>
              </a:solidFill>
              <a:round/>
              <a:headEnd/>
              <a:tailEnd/>
            </a:ln>
            <a:effectLst/>
          </p:spPr>
          <p:txBody>
            <a:bodyPr wrap="none" anchor="ctr"/>
            <a:lstStyle/>
            <a:p>
              <a:pPr>
                <a:defRPr/>
              </a:pPr>
              <a:endParaRPr lang="en-US" sz="2000" dirty="0">
                <a:latin typeface="Arial" pitchFamily="34" charset="0"/>
              </a:endParaRPr>
            </a:p>
          </p:txBody>
        </p:sp>
        <p:grpSp>
          <p:nvGrpSpPr>
            <p:cNvPr id="44" name="Group 32"/>
            <p:cNvGrpSpPr>
              <a:grpSpLocks/>
            </p:cNvGrpSpPr>
            <p:nvPr/>
          </p:nvGrpSpPr>
          <p:grpSpPr bwMode="auto">
            <a:xfrm>
              <a:off x="1312239" y="3449103"/>
              <a:ext cx="863600" cy="265647"/>
              <a:chOff x="1313" y="2496"/>
              <a:chExt cx="1252" cy="427"/>
            </a:xfrm>
          </p:grpSpPr>
          <p:sp>
            <p:nvSpPr>
              <p:cNvPr id="4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9" name="Group 32"/>
            <p:cNvGrpSpPr>
              <a:grpSpLocks/>
            </p:cNvGrpSpPr>
            <p:nvPr/>
          </p:nvGrpSpPr>
          <p:grpSpPr bwMode="auto">
            <a:xfrm>
              <a:off x="2662578" y="4084638"/>
              <a:ext cx="863600" cy="265647"/>
              <a:chOff x="1313" y="2496"/>
              <a:chExt cx="1252" cy="427"/>
            </a:xfrm>
          </p:grpSpPr>
          <p:sp>
            <p:nvSpPr>
              <p:cNvPr id="5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4" name="Group 32"/>
            <p:cNvGrpSpPr>
              <a:grpSpLocks/>
            </p:cNvGrpSpPr>
            <p:nvPr/>
          </p:nvGrpSpPr>
          <p:grpSpPr bwMode="auto">
            <a:xfrm>
              <a:off x="1687396" y="4023778"/>
              <a:ext cx="863600" cy="265647"/>
              <a:chOff x="1313" y="2496"/>
              <a:chExt cx="1252" cy="427"/>
            </a:xfrm>
          </p:grpSpPr>
          <p:sp>
            <p:nvSpPr>
              <p:cNvPr id="5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9" name="Group 32"/>
            <p:cNvGrpSpPr>
              <a:grpSpLocks/>
            </p:cNvGrpSpPr>
            <p:nvPr/>
          </p:nvGrpSpPr>
          <p:grpSpPr bwMode="auto">
            <a:xfrm>
              <a:off x="884578" y="3980540"/>
              <a:ext cx="863600" cy="265647"/>
              <a:chOff x="1313" y="2496"/>
              <a:chExt cx="1252" cy="427"/>
            </a:xfrm>
          </p:grpSpPr>
          <p:sp>
            <p:nvSpPr>
              <p:cNvPr id="6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4" name="Group 32"/>
            <p:cNvGrpSpPr>
              <a:grpSpLocks/>
            </p:cNvGrpSpPr>
            <p:nvPr/>
          </p:nvGrpSpPr>
          <p:grpSpPr bwMode="auto">
            <a:xfrm>
              <a:off x="2045999" y="3650189"/>
              <a:ext cx="863600" cy="265647"/>
              <a:chOff x="1313" y="2496"/>
              <a:chExt cx="1252" cy="427"/>
            </a:xfrm>
          </p:grpSpPr>
          <p:sp>
            <p:nvSpPr>
              <p:cNvPr id="6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9" name="Group 32"/>
            <p:cNvGrpSpPr>
              <a:grpSpLocks/>
            </p:cNvGrpSpPr>
            <p:nvPr/>
          </p:nvGrpSpPr>
          <p:grpSpPr bwMode="auto">
            <a:xfrm>
              <a:off x="1537715" y="2946175"/>
              <a:ext cx="863600" cy="265647"/>
              <a:chOff x="1313" y="2496"/>
              <a:chExt cx="1252" cy="427"/>
            </a:xfrm>
          </p:grpSpPr>
          <p:sp>
            <p:nvSpPr>
              <p:cNvPr id="7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4" name="Group 32"/>
            <p:cNvGrpSpPr>
              <a:grpSpLocks/>
            </p:cNvGrpSpPr>
            <p:nvPr/>
          </p:nvGrpSpPr>
          <p:grpSpPr bwMode="auto">
            <a:xfrm>
              <a:off x="2199819" y="3027363"/>
              <a:ext cx="863600" cy="265647"/>
              <a:chOff x="1313" y="2496"/>
              <a:chExt cx="1252" cy="427"/>
            </a:xfrm>
          </p:grpSpPr>
          <p:sp>
            <p:nvSpPr>
              <p:cNvPr id="7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9" name="Group 32"/>
            <p:cNvGrpSpPr>
              <a:grpSpLocks/>
            </p:cNvGrpSpPr>
            <p:nvPr/>
          </p:nvGrpSpPr>
          <p:grpSpPr bwMode="auto">
            <a:xfrm>
              <a:off x="2353639" y="3345389"/>
              <a:ext cx="863600" cy="265647"/>
              <a:chOff x="1313" y="2496"/>
              <a:chExt cx="1252" cy="427"/>
            </a:xfrm>
          </p:grpSpPr>
          <p:sp>
            <p:nvSpPr>
              <p:cNvPr id="8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4" name="Group 32"/>
            <p:cNvGrpSpPr>
              <a:grpSpLocks/>
            </p:cNvGrpSpPr>
            <p:nvPr/>
          </p:nvGrpSpPr>
          <p:grpSpPr bwMode="auto">
            <a:xfrm>
              <a:off x="2859935" y="3688289"/>
              <a:ext cx="863600" cy="265647"/>
              <a:chOff x="1313" y="2496"/>
              <a:chExt cx="1252" cy="427"/>
            </a:xfrm>
          </p:grpSpPr>
          <p:sp>
            <p:nvSpPr>
              <p:cNvPr id="8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9" name="Group 32"/>
            <p:cNvGrpSpPr>
              <a:grpSpLocks/>
            </p:cNvGrpSpPr>
            <p:nvPr/>
          </p:nvGrpSpPr>
          <p:grpSpPr bwMode="auto">
            <a:xfrm>
              <a:off x="2490216" y="2748489"/>
              <a:ext cx="863600" cy="265647"/>
              <a:chOff x="1313" y="2496"/>
              <a:chExt cx="1252" cy="427"/>
            </a:xfrm>
          </p:grpSpPr>
          <p:sp>
            <p:nvSpPr>
              <p:cNvPr id="9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4" name="Group 32"/>
            <p:cNvGrpSpPr>
              <a:grpSpLocks/>
            </p:cNvGrpSpPr>
            <p:nvPr/>
          </p:nvGrpSpPr>
          <p:grpSpPr bwMode="auto">
            <a:xfrm>
              <a:off x="1798978" y="2516714"/>
              <a:ext cx="863600" cy="265647"/>
              <a:chOff x="1313" y="2496"/>
              <a:chExt cx="1252" cy="427"/>
            </a:xfrm>
          </p:grpSpPr>
          <p:sp>
            <p:nvSpPr>
              <p:cNvPr id="9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9" name="Group 32"/>
            <p:cNvGrpSpPr>
              <a:grpSpLocks/>
            </p:cNvGrpSpPr>
            <p:nvPr/>
          </p:nvGrpSpPr>
          <p:grpSpPr bwMode="auto">
            <a:xfrm>
              <a:off x="572800" y="2761716"/>
              <a:ext cx="863600" cy="265647"/>
              <a:chOff x="1313" y="2496"/>
              <a:chExt cx="1252" cy="427"/>
            </a:xfrm>
          </p:grpSpPr>
          <p:sp>
            <p:nvSpPr>
              <p:cNvPr id="10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229" name="Group 228"/>
          <p:cNvGrpSpPr/>
          <p:nvPr/>
        </p:nvGrpSpPr>
        <p:grpSpPr>
          <a:xfrm>
            <a:off x="2617632" y="1352776"/>
            <a:ext cx="1638455" cy="705832"/>
            <a:chOff x="5311932" y="7658863"/>
            <a:chExt cx="1879331" cy="809599"/>
          </a:xfrm>
        </p:grpSpPr>
        <p:grpSp>
          <p:nvGrpSpPr>
            <p:cNvPr id="169" name="Group 32"/>
            <p:cNvGrpSpPr>
              <a:grpSpLocks/>
            </p:cNvGrpSpPr>
            <p:nvPr/>
          </p:nvGrpSpPr>
          <p:grpSpPr bwMode="auto">
            <a:xfrm>
              <a:off x="5811624" y="8288945"/>
              <a:ext cx="583596" cy="179517"/>
              <a:chOff x="1313" y="2496"/>
              <a:chExt cx="1252" cy="427"/>
            </a:xfrm>
          </p:grpSpPr>
          <p:sp>
            <p:nvSpPr>
              <p:cNvPr id="22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4" name="Group 32"/>
            <p:cNvGrpSpPr>
              <a:grpSpLocks/>
            </p:cNvGrpSpPr>
            <p:nvPr/>
          </p:nvGrpSpPr>
          <p:grpSpPr bwMode="auto">
            <a:xfrm>
              <a:off x="5963994" y="7949080"/>
              <a:ext cx="583596" cy="179517"/>
              <a:chOff x="1313" y="2496"/>
              <a:chExt cx="1252" cy="427"/>
            </a:xfrm>
          </p:grpSpPr>
          <p:sp>
            <p:nvSpPr>
              <p:cNvPr id="20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5" name="Group 32"/>
            <p:cNvGrpSpPr>
              <a:grpSpLocks/>
            </p:cNvGrpSpPr>
            <p:nvPr/>
          </p:nvGrpSpPr>
          <p:grpSpPr bwMode="auto">
            <a:xfrm>
              <a:off x="6411425" y="8003945"/>
              <a:ext cx="583596" cy="179517"/>
              <a:chOff x="1313" y="2496"/>
              <a:chExt cx="1252" cy="427"/>
            </a:xfrm>
          </p:grpSpPr>
          <p:sp>
            <p:nvSpPr>
              <p:cNvPr id="20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6" name="Group 32"/>
            <p:cNvGrpSpPr>
              <a:grpSpLocks/>
            </p:cNvGrpSpPr>
            <p:nvPr/>
          </p:nvGrpSpPr>
          <p:grpSpPr bwMode="auto">
            <a:xfrm>
              <a:off x="6515372" y="8218858"/>
              <a:ext cx="583596" cy="179517"/>
              <a:chOff x="1313" y="2496"/>
              <a:chExt cx="1252" cy="427"/>
            </a:xfrm>
          </p:grpSpPr>
          <p:sp>
            <p:nvSpPr>
              <p:cNvPr id="19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8" name="Group 32"/>
            <p:cNvGrpSpPr>
              <a:grpSpLocks/>
            </p:cNvGrpSpPr>
            <p:nvPr/>
          </p:nvGrpSpPr>
          <p:grpSpPr bwMode="auto">
            <a:xfrm>
              <a:off x="6607667" y="7815490"/>
              <a:ext cx="583596" cy="179517"/>
              <a:chOff x="1313" y="2496"/>
              <a:chExt cx="1252" cy="427"/>
            </a:xfrm>
          </p:grpSpPr>
          <p:sp>
            <p:nvSpPr>
              <p:cNvPr id="18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9" name="Group 32"/>
            <p:cNvGrpSpPr>
              <a:grpSpLocks/>
            </p:cNvGrpSpPr>
            <p:nvPr/>
          </p:nvGrpSpPr>
          <p:grpSpPr bwMode="auto">
            <a:xfrm>
              <a:off x="6140548" y="7658863"/>
              <a:ext cx="583596" cy="179517"/>
              <a:chOff x="1313" y="2496"/>
              <a:chExt cx="1252" cy="427"/>
            </a:xfrm>
          </p:grpSpPr>
          <p:sp>
            <p:nvSpPr>
              <p:cNvPr id="18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0" name="Group 32"/>
            <p:cNvGrpSpPr>
              <a:grpSpLocks/>
            </p:cNvGrpSpPr>
            <p:nvPr/>
          </p:nvGrpSpPr>
          <p:grpSpPr bwMode="auto">
            <a:xfrm>
              <a:off x="5311932" y="7824428"/>
              <a:ext cx="583596" cy="179517"/>
              <a:chOff x="1313" y="2496"/>
              <a:chExt cx="1252" cy="427"/>
            </a:xfrm>
          </p:grpSpPr>
          <p:sp>
            <p:nvSpPr>
              <p:cNvPr id="18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67" name="AutoShape 14"/>
          <p:cNvSpPr>
            <a:spLocks noChangeArrowheads="1"/>
          </p:cNvSpPr>
          <p:nvPr/>
        </p:nvSpPr>
        <p:spPr bwMode="auto">
          <a:xfrm>
            <a:off x="2959772" y="270564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268" name="Group 267"/>
          <p:cNvGrpSpPr/>
          <p:nvPr/>
        </p:nvGrpSpPr>
        <p:grpSpPr>
          <a:xfrm>
            <a:off x="2665177" y="3916692"/>
            <a:ext cx="1638455" cy="705832"/>
            <a:chOff x="5311932" y="7658863"/>
            <a:chExt cx="1879331" cy="809599"/>
          </a:xfrm>
        </p:grpSpPr>
        <p:grpSp>
          <p:nvGrpSpPr>
            <p:cNvPr id="269" name="Group 32"/>
            <p:cNvGrpSpPr>
              <a:grpSpLocks/>
            </p:cNvGrpSpPr>
            <p:nvPr/>
          </p:nvGrpSpPr>
          <p:grpSpPr bwMode="auto">
            <a:xfrm>
              <a:off x="5811624" y="8288945"/>
              <a:ext cx="583596" cy="179517"/>
              <a:chOff x="1313" y="2496"/>
              <a:chExt cx="1252" cy="427"/>
            </a:xfrm>
          </p:grpSpPr>
          <p:sp>
            <p:nvSpPr>
              <p:cNvPr id="30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0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0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0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70" name="Group 32"/>
            <p:cNvGrpSpPr>
              <a:grpSpLocks/>
            </p:cNvGrpSpPr>
            <p:nvPr/>
          </p:nvGrpSpPr>
          <p:grpSpPr bwMode="auto">
            <a:xfrm>
              <a:off x="5963994" y="7949080"/>
              <a:ext cx="583596" cy="179517"/>
              <a:chOff x="1313" y="2496"/>
              <a:chExt cx="1252" cy="427"/>
            </a:xfrm>
          </p:grpSpPr>
          <p:sp>
            <p:nvSpPr>
              <p:cNvPr id="29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71" name="Group 32"/>
            <p:cNvGrpSpPr>
              <a:grpSpLocks/>
            </p:cNvGrpSpPr>
            <p:nvPr/>
          </p:nvGrpSpPr>
          <p:grpSpPr bwMode="auto">
            <a:xfrm>
              <a:off x="6411425" y="8003945"/>
              <a:ext cx="583596" cy="179517"/>
              <a:chOff x="1313" y="2496"/>
              <a:chExt cx="1252" cy="427"/>
            </a:xfrm>
          </p:grpSpPr>
          <p:sp>
            <p:nvSpPr>
              <p:cNvPr id="29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72" name="Group 32"/>
            <p:cNvGrpSpPr>
              <a:grpSpLocks/>
            </p:cNvGrpSpPr>
            <p:nvPr/>
          </p:nvGrpSpPr>
          <p:grpSpPr bwMode="auto">
            <a:xfrm>
              <a:off x="6515372" y="8218858"/>
              <a:ext cx="583596" cy="179517"/>
              <a:chOff x="1313" y="2496"/>
              <a:chExt cx="1252" cy="427"/>
            </a:xfrm>
          </p:grpSpPr>
          <p:sp>
            <p:nvSpPr>
              <p:cNvPr id="28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73" name="Group 32"/>
            <p:cNvGrpSpPr>
              <a:grpSpLocks/>
            </p:cNvGrpSpPr>
            <p:nvPr/>
          </p:nvGrpSpPr>
          <p:grpSpPr bwMode="auto">
            <a:xfrm>
              <a:off x="6607667" y="7815490"/>
              <a:ext cx="583596" cy="179517"/>
              <a:chOff x="1313" y="2496"/>
              <a:chExt cx="1252" cy="427"/>
            </a:xfrm>
          </p:grpSpPr>
          <p:sp>
            <p:nvSpPr>
              <p:cNvPr id="28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74" name="Group 32"/>
            <p:cNvGrpSpPr>
              <a:grpSpLocks/>
            </p:cNvGrpSpPr>
            <p:nvPr/>
          </p:nvGrpSpPr>
          <p:grpSpPr bwMode="auto">
            <a:xfrm>
              <a:off x="6140548" y="7658863"/>
              <a:ext cx="583596" cy="179517"/>
              <a:chOff x="1313" y="2496"/>
              <a:chExt cx="1252" cy="427"/>
            </a:xfrm>
          </p:grpSpPr>
          <p:sp>
            <p:nvSpPr>
              <p:cNvPr id="28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75" name="Group 32"/>
            <p:cNvGrpSpPr>
              <a:grpSpLocks/>
            </p:cNvGrpSpPr>
            <p:nvPr/>
          </p:nvGrpSpPr>
          <p:grpSpPr bwMode="auto">
            <a:xfrm>
              <a:off x="5311932" y="7824428"/>
              <a:ext cx="583596" cy="179517"/>
              <a:chOff x="1313" y="2496"/>
              <a:chExt cx="1252" cy="427"/>
            </a:xfrm>
          </p:grpSpPr>
          <p:sp>
            <p:nvSpPr>
              <p:cNvPr id="27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7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7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7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363" name="Group 362"/>
          <p:cNvGrpSpPr/>
          <p:nvPr/>
        </p:nvGrpSpPr>
        <p:grpSpPr>
          <a:xfrm>
            <a:off x="6170613" y="3251715"/>
            <a:ext cx="1086867" cy="934963"/>
            <a:chOff x="9567021" y="1893776"/>
            <a:chExt cx="1086867" cy="934963"/>
          </a:xfrm>
        </p:grpSpPr>
        <p:grpSp>
          <p:nvGrpSpPr>
            <p:cNvPr id="340" name="Group 339"/>
            <p:cNvGrpSpPr/>
            <p:nvPr/>
          </p:nvGrpSpPr>
          <p:grpSpPr>
            <a:xfrm>
              <a:off x="9567021" y="1893776"/>
              <a:ext cx="508796" cy="934963"/>
              <a:chOff x="9567021" y="1893776"/>
              <a:chExt cx="508796" cy="934963"/>
            </a:xfrm>
          </p:grpSpPr>
          <p:grpSp>
            <p:nvGrpSpPr>
              <p:cNvPr id="305" name="Group 32"/>
              <p:cNvGrpSpPr>
                <a:grpSpLocks/>
              </p:cNvGrpSpPr>
              <p:nvPr/>
            </p:nvGrpSpPr>
            <p:grpSpPr bwMode="auto">
              <a:xfrm>
                <a:off x="9567021" y="2412746"/>
                <a:ext cx="508796" cy="156508"/>
                <a:chOff x="1313" y="2496"/>
                <a:chExt cx="1252" cy="427"/>
              </a:xfrm>
            </p:grpSpPr>
            <p:sp>
              <p:nvSpPr>
                <p:cNvPr id="33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08" name="Group 32"/>
              <p:cNvGrpSpPr>
                <a:grpSpLocks/>
              </p:cNvGrpSpPr>
              <p:nvPr/>
            </p:nvGrpSpPr>
            <p:grpSpPr bwMode="auto">
              <a:xfrm>
                <a:off x="9567021" y="2672231"/>
                <a:ext cx="508796" cy="156508"/>
                <a:chOff x="1313" y="2496"/>
                <a:chExt cx="1252" cy="427"/>
              </a:xfrm>
            </p:grpSpPr>
            <p:sp>
              <p:nvSpPr>
                <p:cNvPr id="32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2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2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2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10" name="Group 32"/>
              <p:cNvGrpSpPr>
                <a:grpSpLocks/>
              </p:cNvGrpSpPr>
              <p:nvPr/>
            </p:nvGrpSpPr>
            <p:grpSpPr bwMode="auto">
              <a:xfrm>
                <a:off x="9567021" y="1893776"/>
                <a:ext cx="508796" cy="156508"/>
                <a:chOff x="1313" y="2496"/>
                <a:chExt cx="1252" cy="427"/>
              </a:xfrm>
            </p:grpSpPr>
            <p:sp>
              <p:nvSpPr>
                <p:cNvPr id="31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11" name="Group 32"/>
              <p:cNvGrpSpPr>
                <a:grpSpLocks/>
              </p:cNvGrpSpPr>
              <p:nvPr/>
            </p:nvGrpSpPr>
            <p:grpSpPr bwMode="auto">
              <a:xfrm>
                <a:off x="9567021" y="2153261"/>
                <a:ext cx="508796" cy="156508"/>
                <a:chOff x="1313" y="2496"/>
                <a:chExt cx="1252" cy="427"/>
              </a:xfrm>
            </p:grpSpPr>
            <p:sp>
              <p:nvSpPr>
                <p:cNvPr id="31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362" name="Group 361"/>
            <p:cNvGrpSpPr/>
            <p:nvPr/>
          </p:nvGrpSpPr>
          <p:grpSpPr>
            <a:xfrm>
              <a:off x="10145092" y="1893776"/>
              <a:ext cx="508796" cy="415993"/>
              <a:chOff x="10228217" y="2070527"/>
              <a:chExt cx="508796" cy="415993"/>
            </a:xfrm>
          </p:grpSpPr>
          <p:grpSp>
            <p:nvGrpSpPr>
              <p:cNvPr id="344" name="Group 32"/>
              <p:cNvGrpSpPr>
                <a:grpSpLocks/>
              </p:cNvGrpSpPr>
              <p:nvPr/>
            </p:nvGrpSpPr>
            <p:grpSpPr bwMode="auto">
              <a:xfrm>
                <a:off x="10228217" y="2070527"/>
                <a:ext cx="508796" cy="156508"/>
                <a:chOff x="1313" y="2496"/>
                <a:chExt cx="1252" cy="427"/>
              </a:xfrm>
            </p:grpSpPr>
            <p:sp>
              <p:nvSpPr>
                <p:cNvPr id="35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5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5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5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45" name="Group 32"/>
              <p:cNvGrpSpPr>
                <a:grpSpLocks/>
              </p:cNvGrpSpPr>
              <p:nvPr/>
            </p:nvGrpSpPr>
            <p:grpSpPr bwMode="auto">
              <a:xfrm>
                <a:off x="10228217" y="2330012"/>
                <a:ext cx="508796" cy="156508"/>
                <a:chOff x="1313" y="2496"/>
                <a:chExt cx="1252" cy="427"/>
              </a:xfrm>
            </p:grpSpPr>
            <p:sp>
              <p:nvSpPr>
                <p:cNvPr id="34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4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4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4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grpSp>
        <p:nvGrpSpPr>
          <p:cNvPr id="397" name="Group 396"/>
          <p:cNvGrpSpPr/>
          <p:nvPr/>
        </p:nvGrpSpPr>
        <p:grpSpPr>
          <a:xfrm>
            <a:off x="6420929" y="1893996"/>
            <a:ext cx="1086867" cy="934963"/>
            <a:chOff x="9567021" y="1893776"/>
            <a:chExt cx="1086867" cy="934963"/>
          </a:xfrm>
        </p:grpSpPr>
        <p:grpSp>
          <p:nvGrpSpPr>
            <p:cNvPr id="398" name="Group 397"/>
            <p:cNvGrpSpPr/>
            <p:nvPr/>
          </p:nvGrpSpPr>
          <p:grpSpPr>
            <a:xfrm>
              <a:off x="9567021" y="1893776"/>
              <a:ext cx="508796" cy="934963"/>
              <a:chOff x="9567021" y="1893776"/>
              <a:chExt cx="508796" cy="934963"/>
            </a:xfrm>
          </p:grpSpPr>
          <p:grpSp>
            <p:nvGrpSpPr>
              <p:cNvPr id="410" name="Group 32"/>
              <p:cNvGrpSpPr>
                <a:grpSpLocks/>
              </p:cNvGrpSpPr>
              <p:nvPr/>
            </p:nvGrpSpPr>
            <p:grpSpPr bwMode="auto">
              <a:xfrm>
                <a:off x="9567021" y="2412746"/>
                <a:ext cx="508796" cy="156508"/>
                <a:chOff x="1313" y="2496"/>
                <a:chExt cx="1252" cy="427"/>
              </a:xfrm>
            </p:grpSpPr>
            <p:sp>
              <p:nvSpPr>
                <p:cNvPr id="42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11" name="Group 32"/>
              <p:cNvGrpSpPr>
                <a:grpSpLocks/>
              </p:cNvGrpSpPr>
              <p:nvPr/>
            </p:nvGrpSpPr>
            <p:grpSpPr bwMode="auto">
              <a:xfrm>
                <a:off x="9567021" y="2672231"/>
                <a:ext cx="508796" cy="156508"/>
                <a:chOff x="1313" y="2496"/>
                <a:chExt cx="1252" cy="427"/>
              </a:xfrm>
            </p:grpSpPr>
            <p:sp>
              <p:nvSpPr>
                <p:cNvPr id="42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12" name="Group 32"/>
              <p:cNvGrpSpPr>
                <a:grpSpLocks/>
              </p:cNvGrpSpPr>
              <p:nvPr/>
            </p:nvGrpSpPr>
            <p:grpSpPr bwMode="auto">
              <a:xfrm>
                <a:off x="9567021" y="1893776"/>
                <a:ext cx="508796" cy="156508"/>
                <a:chOff x="1313" y="2496"/>
                <a:chExt cx="1252" cy="427"/>
              </a:xfrm>
            </p:grpSpPr>
            <p:sp>
              <p:nvSpPr>
                <p:cNvPr id="41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13" name="Group 32"/>
              <p:cNvGrpSpPr>
                <a:grpSpLocks/>
              </p:cNvGrpSpPr>
              <p:nvPr/>
            </p:nvGrpSpPr>
            <p:grpSpPr bwMode="auto">
              <a:xfrm>
                <a:off x="9567021" y="2153261"/>
                <a:ext cx="508796" cy="156508"/>
                <a:chOff x="1313" y="2496"/>
                <a:chExt cx="1252" cy="427"/>
              </a:xfrm>
            </p:grpSpPr>
            <p:sp>
              <p:nvSpPr>
                <p:cNvPr id="41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399" name="Group 398"/>
            <p:cNvGrpSpPr/>
            <p:nvPr/>
          </p:nvGrpSpPr>
          <p:grpSpPr>
            <a:xfrm>
              <a:off x="10145092" y="1893776"/>
              <a:ext cx="508796" cy="415993"/>
              <a:chOff x="10228217" y="2070527"/>
              <a:chExt cx="508796" cy="415993"/>
            </a:xfrm>
          </p:grpSpPr>
          <p:grpSp>
            <p:nvGrpSpPr>
              <p:cNvPr id="400" name="Group 32"/>
              <p:cNvGrpSpPr>
                <a:grpSpLocks/>
              </p:cNvGrpSpPr>
              <p:nvPr/>
            </p:nvGrpSpPr>
            <p:grpSpPr bwMode="auto">
              <a:xfrm>
                <a:off x="10228217" y="2070527"/>
                <a:ext cx="508796" cy="156508"/>
                <a:chOff x="1313" y="2496"/>
                <a:chExt cx="1252" cy="427"/>
              </a:xfrm>
            </p:grpSpPr>
            <p:sp>
              <p:nvSpPr>
                <p:cNvPr id="40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01" name="Group 32"/>
              <p:cNvGrpSpPr>
                <a:grpSpLocks/>
              </p:cNvGrpSpPr>
              <p:nvPr/>
            </p:nvGrpSpPr>
            <p:grpSpPr bwMode="auto">
              <a:xfrm>
                <a:off x="10228217" y="2330012"/>
                <a:ext cx="508796" cy="156508"/>
                <a:chOff x="1313" y="2496"/>
                <a:chExt cx="1252" cy="427"/>
              </a:xfrm>
            </p:grpSpPr>
            <p:sp>
              <p:nvSpPr>
                <p:cNvPr id="40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grpSp>
        <p:nvGrpSpPr>
          <p:cNvPr id="505" name="Group 504"/>
          <p:cNvGrpSpPr/>
          <p:nvPr/>
        </p:nvGrpSpPr>
        <p:grpSpPr>
          <a:xfrm>
            <a:off x="7988561" y="1885917"/>
            <a:ext cx="1058602" cy="2146452"/>
            <a:chOff x="9831093" y="2325688"/>
            <a:chExt cx="1058602" cy="2146452"/>
          </a:xfrm>
        </p:grpSpPr>
        <p:grpSp>
          <p:nvGrpSpPr>
            <p:cNvPr id="504" name="Group 503"/>
            <p:cNvGrpSpPr/>
            <p:nvPr/>
          </p:nvGrpSpPr>
          <p:grpSpPr>
            <a:xfrm>
              <a:off x="9831093" y="2325688"/>
              <a:ext cx="508796" cy="2146452"/>
              <a:chOff x="9831093" y="2325688"/>
              <a:chExt cx="508796" cy="2146452"/>
            </a:xfrm>
          </p:grpSpPr>
          <p:grpSp>
            <p:nvGrpSpPr>
              <p:cNvPr id="377" name="Group 32"/>
              <p:cNvGrpSpPr>
                <a:grpSpLocks/>
              </p:cNvGrpSpPr>
              <p:nvPr/>
            </p:nvGrpSpPr>
            <p:grpSpPr bwMode="auto">
              <a:xfrm>
                <a:off x="9831093" y="2894244"/>
                <a:ext cx="508796" cy="156508"/>
                <a:chOff x="1313" y="2496"/>
                <a:chExt cx="1252" cy="427"/>
              </a:xfrm>
            </p:grpSpPr>
            <p:sp>
              <p:nvSpPr>
                <p:cNvPr id="39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78" name="Group 32"/>
              <p:cNvGrpSpPr>
                <a:grpSpLocks/>
              </p:cNvGrpSpPr>
              <p:nvPr/>
            </p:nvGrpSpPr>
            <p:grpSpPr bwMode="auto">
              <a:xfrm>
                <a:off x="9831093" y="3178522"/>
                <a:ext cx="508796" cy="156508"/>
                <a:chOff x="1313" y="2496"/>
                <a:chExt cx="1252" cy="427"/>
              </a:xfrm>
            </p:grpSpPr>
            <p:sp>
              <p:nvSpPr>
                <p:cNvPr id="38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79" name="Group 32"/>
              <p:cNvGrpSpPr>
                <a:grpSpLocks/>
              </p:cNvGrpSpPr>
              <p:nvPr/>
            </p:nvGrpSpPr>
            <p:grpSpPr bwMode="auto">
              <a:xfrm>
                <a:off x="9831093" y="2325688"/>
                <a:ext cx="508796" cy="156508"/>
                <a:chOff x="1313" y="2496"/>
                <a:chExt cx="1252" cy="427"/>
              </a:xfrm>
            </p:grpSpPr>
            <p:sp>
              <p:nvSpPr>
                <p:cNvPr id="38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80" name="Group 32"/>
              <p:cNvGrpSpPr>
                <a:grpSpLocks/>
              </p:cNvGrpSpPr>
              <p:nvPr/>
            </p:nvGrpSpPr>
            <p:grpSpPr bwMode="auto">
              <a:xfrm>
                <a:off x="9831093" y="2609966"/>
                <a:ext cx="508796" cy="156508"/>
                <a:chOff x="1313" y="2496"/>
                <a:chExt cx="1252" cy="427"/>
              </a:xfrm>
            </p:grpSpPr>
            <p:sp>
              <p:nvSpPr>
                <p:cNvPr id="38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43" name="Group 32"/>
              <p:cNvGrpSpPr>
                <a:grpSpLocks/>
              </p:cNvGrpSpPr>
              <p:nvPr/>
            </p:nvGrpSpPr>
            <p:grpSpPr bwMode="auto">
              <a:xfrm>
                <a:off x="9831093" y="4031356"/>
                <a:ext cx="508796" cy="156508"/>
                <a:chOff x="1313" y="2496"/>
                <a:chExt cx="1252" cy="427"/>
              </a:xfrm>
            </p:grpSpPr>
            <p:sp>
              <p:nvSpPr>
                <p:cNvPr id="45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44" name="Group 32"/>
              <p:cNvGrpSpPr>
                <a:grpSpLocks/>
              </p:cNvGrpSpPr>
              <p:nvPr/>
            </p:nvGrpSpPr>
            <p:grpSpPr bwMode="auto">
              <a:xfrm>
                <a:off x="9831093" y="4315632"/>
                <a:ext cx="508796" cy="156508"/>
                <a:chOff x="1313" y="2496"/>
                <a:chExt cx="1252" cy="427"/>
              </a:xfrm>
            </p:grpSpPr>
            <p:sp>
              <p:nvSpPr>
                <p:cNvPr id="45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45" name="Group 32"/>
              <p:cNvGrpSpPr>
                <a:grpSpLocks/>
              </p:cNvGrpSpPr>
              <p:nvPr/>
            </p:nvGrpSpPr>
            <p:grpSpPr bwMode="auto">
              <a:xfrm>
                <a:off x="9831093" y="3462800"/>
                <a:ext cx="508796" cy="156508"/>
                <a:chOff x="1313" y="2496"/>
                <a:chExt cx="1252" cy="427"/>
              </a:xfrm>
            </p:grpSpPr>
            <p:sp>
              <p:nvSpPr>
                <p:cNvPr id="45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46" name="Group 32"/>
              <p:cNvGrpSpPr>
                <a:grpSpLocks/>
              </p:cNvGrpSpPr>
              <p:nvPr/>
            </p:nvGrpSpPr>
            <p:grpSpPr bwMode="auto">
              <a:xfrm>
                <a:off x="9831093" y="3747078"/>
                <a:ext cx="508796" cy="156508"/>
                <a:chOff x="1313" y="2496"/>
                <a:chExt cx="1252" cy="427"/>
              </a:xfrm>
            </p:grpSpPr>
            <p:sp>
              <p:nvSpPr>
                <p:cNvPr id="44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503" name="Group 502"/>
            <p:cNvGrpSpPr/>
            <p:nvPr/>
          </p:nvGrpSpPr>
          <p:grpSpPr>
            <a:xfrm>
              <a:off x="10380899" y="2325688"/>
              <a:ext cx="508796" cy="1009342"/>
              <a:chOff x="11212149" y="2407531"/>
              <a:chExt cx="508796" cy="1009342"/>
            </a:xfrm>
          </p:grpSpPr>
          <p:grpSp>
            <p:nvGrpSpPr>
              <p:cNvPr id="463" name="Group 32"/>
              <p:cNvGrpSpPr>
                <a:grpSpLocks/>
              </p:cNvGrpSpPr>
              <p:nvPr/>
            </p:nvGrpSpPr>
            <p:grpSpPr bwMode="auto">
              <a:xfrm>
                <a:off x="11212149" y="2976087"/>
                <a:ext cx="508796" cy="156508"/>
                <a:chOff x="1313" y="2496"/>
                <a:chExt cx="1252" cy="427"/>
              </a:xfrm>
            </p:grpSpPr>
            <p:sp>
              <p:nvSpPr>
                <p:cNvPr id="46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68" name="Group 32"/>
              <p:cNvGrpSpPr>
                <a:grpSpLocks/>
              </p:cNvGrpSpPr>
              <p:nvPr/>
            </p:nvGrpSpPr>
            <p:grpSpPr bwMode="auto">
              <a:xfrm>
                <a:off x="11212149" y="3260365"/>
                <a:ext cx="508796" cy="156508"/>
                <a:chOff x="1313" y="2496"/>
                <a:chExt cx="1252" cy="427"/>
              </a:xfrm>
            </p:grpSpPr>
            <p:sp>
              <p:nvSpPr>
                <p:cNvPr id="46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73" name="Group 32"/>
              <p:cNvGrpSpPr>
                <a:grpSpLocks/>
              </p:cNvGrpSpPr>
              <p:nvPr/>
            </p:nvGrpSpPr>
            <p:grpSpPr bwMode="auto">
              <a:xfrm>
                <a:off x="11212149" y="2407531"/>
                <a:ext cx="508796" cy="156508"/>
                <a:chOff x="1313" y="2496"/>
                <a:chExt cx="1252" cy="427"/>
              </a:xfrm>
            </p:grpSpPr>
            <p:sp>
              <p:nvSpPr>
                <p:cNvPr id="47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478" name="Group 32"/>
              <p:cNvGrpSpPr>
                <a:grpSpLocks/>
              </p:cNvGrpSpPr>
              <p:nvPr/>
            </p:nvGrpSpPr>
            <p:grpSpPr bwMode="auto">
              <a:xfrm>
                <a:off x="11212149" y="2691809"/>
                <a:ext cx="508796" cy="156508"/>
                <a:chOff x="1313" y="2496"/>
                <a:chExt cx="1252" cy="427"/>
              </a:xfrm>
            </p:grpSpPr>
            <p:sp>
              <p:nvSpPr>
                <p:cNvPr id="47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0" animBg="1"/>
      <p:bldP spid="41" grpId="0"/>
      <p:bldP spid="40" grpId="0" animBg="1"/>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7" name="AutoShape 25"/>
          <p:cNvSpPr>
            <a:spLocks noChangeArrowheads="1"/>
          </p:cNvSpPr>
          <p:nvPr/>
        </p:nvSpPr>
        <p:spPr bwMode="auto">
          <a:xfrm rot="16200000">
            <a:off x="4224337" y="3124201"/>
            <a:ext cx="1285875" cy="1301750"/>
          </a:xfrm>
          <a:prstGeom prst="triangle">
            <a:avLst>
              <a:gd name="adj" fmla="val 49995"/>
            </a:avLst>
          </a:prstGeom>
          <a:solidFill>
            <a:srgbClr val="8CF4EA"/>
          </a:solidFill>
          <a:ln w="12700">
            <a:solidFill>
              <a:schemeClr val="tx2"/>
            </a:solidFill>
            <a:miter lim="800000"/>
            <a:headEnd/>
            <a:tailEnd/>
          </a:ln>
          <a:effectLst/>
        </p:spPr>
        <p:txBody>
          <a:bodyPr vert="eaVert" wrap="none" lIns="111125" tIns="55562" rIns="111125" bIns="55562" anchor="ctr"/>
          <a:lstStyle/>
          <a:p>
            <a:pPr algn="ctr" defTabSz="1314450">
              <a:defRPr/>
            </a:pPr>
            <a:r>
              <a:rPr lang="en-US" sz="2300">
                <a:latin typeface="Arial" pitchFamily="34" charset="0"/>
                <a:cs typeface="Arial" pitchFamily="34" charset="0"/>
              </a:rPr>
              <a:t>  </a:t>
            </a:r>
          </a:p>
        </p:txBody>
      </p:sp>
      <p:sp>
        <p:nvSpPr>
          <p:cNvPr id="28699" name="Rectangle 27"/>
          <p:cNvSpPr>
            <a:spLocks noChangeArrowheads="1"/>
          </p:cNvSpPr>
          <p:nvPr/>
        </p:nvSpPr>
        <p:spPr bwMode="auto">
          <a:xfrm>
            <a:off x="4416425" y="3605213"/>
            <a:ext cx="1066061" cy="389208"/>
          </a:xfrm>
          <a:prstGeom prst="rect">
            <a:avLst/>
          </a:prstGeom>
          <a:noFill/>
          <a:ln w="25400">
            <a:noFill/>
            <a:miter lim="800000"/>
            <a:headEnd/>
            <a:tailEnd/>
          </a:ln>
          <a:effectLst/>
        </p:spPr>
        <p:txBody>
          <a:bodyPr wrap="none" lIns="111125" tIns="55562" rIns="111125" bIns="55562">
            <a:spAutoFit/>
          </a:bodyPr>
          <a:lstStyle/>
          <a:p>
            <a:pPr defTabSz="1314450">
              <a:defRPr/>
            </a:pPr>
            <a:r>
              <a:rPr lang="en-US" sz="1800" dirty="0">
                <a:latin typeface="Arial" pitchFamily="34" charset="0"/>
                <a:cs typeface="Arial" pitchFamily="34" charset="0"/>
              </a:rPr>
              <a:t>Tree</a:t>
            </a:r>
            <a:r>
              <a:rPr lang="en-US" sz="1800" baseline="-25000" dirty="0">
                <a:latin typeface="Arial" pitchFamily="34" charset="0"/>
                <a:cs typeface="Arial" pitchFamily="34" charset="0"/>
              </a:rPr>
              <a:t>1</a:t>
            </a:r>
            <a:r>
              <a:rPr lang="en-US" sz="1800" dirty="0">
                <a:latin typeface="Arial" pitchFamily="34" charset="0"/>
                <a:cs typeface="Arial" pitchFamily="34" charset="0"/>
              </a:rPr>
              <a:t>[k]</a:t>
            </a:r>
          </a:p>
        </p:txBody>
      </p:sp>
      <p:sp>
        <p:nvSpPr>
          <p:cNvPr id="306" name="AutoShape 22"/>
          <p:cNvSpPr>
            <a:spLocks noChangeArrowheads="1"/>
          </p:cNvSpPr>
          <p:nvPr/>
        </p:nvSpPr>
        <p:spPr bwMode="auto">
          <a:xfrm>
            <a:off x="6086474" y="3073400"/>
            <a:ext cx="1830931" cy="1419479"/>
          </a:xfrm>
          <a:prstGeom prst="wedgeRoundRectCallout">
            <a:avLst>
              <a:gd name="adj1" fmla="val -137024"/>
              <a:gd name="adj2" fmla="val 75406"/>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307" name="AutoShape 22"/>
          <p:cNvSpPr>
            <a:spLocks noChangeArrowheads="1"/>
          </p:cNvSpPr>
          <p:nvPr/>
        </p:nvSpPr>
        <p:spPr bwMode="auto">
          <a:xfrm>
            <a:off x="6083534" y="1712659"/>
            <a:ext cx="1830931" cy="1419479"/>
          </a:xfrm>
          <a:prstGeom prst="wedgeRoundRectCallout">
            <a:avLst>
              <a:gd name="adj1" fmla="val -134429"/>
              <a:gd name="adj2" fmla="val 162412"/>
              <a:gd name="adj3" fmla="val 16667"/>
            </a:avLst>
          </a:prstGeom>
          <a:solidFill>
            <a:schemeClr val="bg1">
              <a:alpha val="74901"/>
            </a:schemeClr>
          </a:solidFill>
          <a:ln w="38100" algn="ctr">
            <a:solidFill>
              <a:srgbClr val="FF0000"/>
            </a:solidFill>
            <a:miter lim="800000"/>
            <a:headEnd/>
            <a:tailEnd/>
          </a:ln>
        </p:spPr>
        <p:txBody>
          <a:bodyPr anchor="ctr"/>
          <a:lstStyle/>
          <a:p>
            <a:pPr algn="ctr">
              <a:spcBef>
                <a:spcPct val="0"/>
              </a:spcBef>
            </a:pPr>
            <a:endParaRPr lang="en-US" sz="4000" b="0">
              <a:latin typeface="Arial" pitchFamily="34" charset="0"/>
              <a:cs typeface="Arial" pitchFamily="34" charset="0"/>
            </a:endParaRPr>
          </a:p>
        </p:txBody>
      </p:sp>
      <p:sp>
        <p:nvSpPr>
          <p:cNvPr id="28678" name="Freeform 6"/>
          <p:cNvSpPr>
            <a:spLocks/>
          </p:cNvSpPr>
          <p:nvPr/>
        </p:nvSpPr>
        <p:spPr bwMode="auto">
          <a:xfrm>
            <a:off x="3311525" y="3171825"/>
            <a:ext cx="879475" cy="615950"/>
          </a:xfrm>
          <a:custGeom>
            <a:avLst/>
            <a:gdLst/>
            <a:ahLst/>
            <a:cxnLst>
              <a:cxn ang="0">
                <a:pos x="0" y="0"/>
              </a:cxn>
              <a:cxn ang="0">
                <a:pos x="160" y="0"/>
              </a:cxn>
              <a:cxn ang="0">
                <a:pos x="160" y="303"/>
              </a:cxn>
              <a:cxn ang="0">
                <a:pos x="414" y="303"/>
              </a:cxn>
              <a:cxn ang="0">
                <a:pos x="414" y="303"/>
              </a:cxn>
            </a:cxnLst>
            <a:rect l="0" t="0" r="r" b="b"/>
            <a:pathLst>
              <a:path w="415" h="304">
                <a:moveTo>
                  <a:pt x="0" y="0"/>
                </a:moveTo>
                <a:lnTo>
                  <a:pt x="160" y="0"/>
                </a:lnTo>
                <a:lnTo>
                  <a:pt x="160" y="303"/>
                </a:lnTo>
                <a:lnTo>
                  <a:pt x="414" y="303"/>
                </a:lnTo>
                <a:lnTo>
                  <a:pt x="414" y="303"/>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a:latin typeface="Arial" pitchFamily="34" charset="0"/>
              <a:cs typeface="Arial" pitchFamily="34" charset="0"/>
            </a:endParaRPr>
          </a:p>
        </p:txBody>
      </p:sp>
      <p:sp>
        <p:nvSpPr>
          <p:cNvPr id="28674" name="Rectangle 2"/>
          <p:cNvSpPr>
            <a:spLocks noGrp="1" noChangeArrowheads="1"/>
          </p:cNvSpPr>
          <p:nvPr>
            <p:ph type="title"/>
          </p:nvPr>
        </p:nvSpPr>
        <p:spPr>
          <a:xfrm>
            <a:off x="808038" y="261938"/>
            <a:ext cx="7772400" cy="1143000"/>
          </a:xfrm>
        </p:spPr>
        <p:txBody>
          <a:bodyPr/>
          <a:lstStyle/>
          <a:p>
            <a:pPr>
              <a:defRPr/>
            </a:pPr>
            <a:r>
              <a:rPr lang="en-US" dirty="0"/>
              <a:t>Inductive Construction</a:t>
            </a:r>
          </a:p>
        </p:txBody>
      </p:sp>
      <p:sp>
        <p:nvSpPr>
          <p:cNvPr id="28676" name="Line 4"/>
          <p:cNvSpPr>
            <a:spLocks noChangeShapeType="1"/>
          </p:cNvSpPr>
          <p:nvPr/>
        </p:nvSpPr>
        <p:spPr bwMode="auto">
          <a:xfrm>
            <a:off x="2463800" y="2976563"/>
            <a:ext cx="365125" cy="3175"/>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81" name="Rectangle 9"/>
          <p:cNvSpPr>
            <a:spLocks noChangeArrowheads="1"/>
          </p:cNvSpPr>
          <p:nvPr/>
        </p:nvSpPr>
        <p:spPr bwMode="auto">
          <a:xfrm>
            <a:off x="733425" y="1847850"/>
            <a:ext cx="1670970" cy="481541"/>
          </a:xfrm>
          <a:prstGeom prst="rect">
            <a:avLst/>
          </a:prstGeom>
          <a:noFill/>
          <a:ln w="25400">
            <a:noFill/>
            <a:miter lim="800000"/>
            <a:headEnd/>
            <a:tailEnd/>
          </a:ln>
          <a:effectLst/>
        </p:spPr>
        <p:txBody>
          <a:bodyPr wrap="none" lIns="111125" tIns="55562" rIns="111125" bIns="55562">
            <a:spAutoFit/>
          </a:bodyPr>
          <a:lstStyle/>
          <a:p>
            <a:pPr defTabSz="1314450">
              <a:defRPr/>
            </a:pPr>
            <a:r>
              <a:rPr lang="en-US" dirty="0">
                <a:latin typeface="Arial" pitchFamily="34" charset="0"/>
                <a:cs typeface="Arial" pitchFamily="34" charset="0"/>
              </a:rPr>
              <a:t>Tree[2k] =</a:t>
            </a:r>
          </a:p>
        </p:txBody>
      </p:sp>
      <p:sp>
        <p:nvSpPr>
          <p:cNvPr id="28682" name="Line 10"/>
          <p:cNvSpPr>
            <a:spLocks noChangeShapeType="1"/>
          </p:cNvSpPr>
          <p:nvPr/>
        </p:nvSpPr>
        <p:spPr bwMode="auto">
          <a:xfrm>
            <a:off x="5722938" y="1912938"/>
            <a:ext cx="438150"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83" name="Line 11"/>
          <p:cNvSpPr>
            <a:spLocks noChangeShapeType="1"/>
          </p:cNvSpPr>
          <p:nvPr/>
        </p:nvSpPr>
        <p:spPr bwMode="auto">
          <a:xfrm>
            <a:off x="5722938" y="2098675"/>
            <a:ext cx="438150"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grpSp>
        <p:nvGrpSpPr>
          <p:cNvPr id="2" name="Group 15"/>
          <p:cNvGrpSpPr>
            <a:grpSpLocks/>
          </p:cNvGrpSpPr>
          <p:nvPr/>
        </p:nvGrpSpPr>
        <p:grpSpPr bwMode="auto">
          <a:xfrm>
            <a:off x="5734054" y="1941513"/>
            <a:ext cx="305998" cy="726638"/>
            <a:chOff x="2416" y="2212"/>
            <a:chExt cx="145" cy="359"/>
          </a:xfrm>
        </p:grpSpPr>
        <p:sp>
          <p:nvSpPr>
            <p:cNvPr id="28684" name="Rectangle 12"/>
            <p:cNvSpPr>
              <a:spLocks noChangeArrowheads="1"/>
            </p:cNvSpPr>
            <p:nvPr/>
          </p:nvSpPr>
          <p:spPr bwMode="auto">
            <a:xfrm>
              <a:off x="2416" y="2212"/>
              <a:ext cx="145" cy="230"/>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sp>
          <p:nvSpPr>
            <p:cNvPr id="28685" name="Rectangle 13"/>
            <p:cNvSpPr>
              <a:spLocks noChangeArrowheads="1"/>
            </p:cNvSpPr>
            <p:nvPr/>
          </p:nvSpPr>
          <p:spPr bwMode="auto">
            <a:xfrm>
              <a:off x="2416" y="2272"/>
              <a:ext cx="145" cy="230"/>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sp>
          <p:nvSpPr>
            <p:cNvPr id="28686" name="Rectangle 14"/>
            <p:cNvSpPr>
              <a:spLocks noChangeArrowheads="1"/>
            </p:cNvSpPr>
            <p:nvPr/>
          </p:nvSpPr>
          <p:spPr bwMode="auto">
            <a:xfrm>
              <a:off x="2416" y="2341"/>
              <a:ext cx="145" cy="230"/>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grpSp>
      <p:grpSp>
        <p:nvGrpSpPr>
          <p:cNvPr id="3" name="Group 19"/>
          <p:cNvGrpSpPr>
            <a:grpSpLocks/>
          </p:cNvGrpSpPr>
          <p:nvPr/>
        </p:nvGrpSpPr>
        <p:grpSpPr bwMode="auto">
          <a:xfrm>
            <a:off x="5753104" y="3386138"/>
            <a:ext cx="305998" cy="727075"/>
            <a:chOff x="2425" y="2926"/>
            <a:chExt cx="145" cy="360"/>
          </a:xfrm>
        </p:grpSpPr>
        <p:sp>
          <p:nvSpPr>
            <p:cNvPr id="28688" name="Rectangle 16"/>
            <p:cNvSpPr>
              <a:spLocks noChangeArrowheads="1"/>
            </p:cNvSpPr>
            <p:nvPr/>
          </p:nvSpPr>
          <p:spPr bwMode="auto">
            <a:xfrm>
              <a:off x="2425" y="2926"/>
              <a:ext cx="145" cy="231"/>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sp>
          <p:nvSpPr>
            <p:cNvPr id="28689" name="Rectangle 17"/>
            <p:cNvSpPr>
              <a:spLocks noChangeArrowheads="1"/>
            </p:cNvSpPr>
            <p:nvPr/>
          </p:nvSpPr>
          <p:spPr bwMode="auto">
            <a:xfrm>
              <a:off x="2425" y="2986"/>
              <a:ext cx="145" cy="231"/>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sp>
          <p:nvSpPr>
            <p:cNvPr id="28690" name="Rectangle 18"/>
            <p:cNvSpPr>
              <a:spLocks noChangeArrowheads="1"/>
            </p:cNvSpPr>
            <p:nvPr/>
          </p:nvSpPr>
          <p:spPr bwMode="auto">
            <a:xfrm>
              <a:off x="2425" y="3055"/>
              <a:ext cx="145" cy="231"/>
            </a:xfrm>
            <a:prstGeom prst="rect">
              <a:avLst/>
            </a:prstGeom>
            <a:noFill/>
            <a:ln w="25400">
              <a:noFill/>
              <a:miter lim="800000"/>
              <a:headEnd/>
              <a:tailEnd/>
            </a:ln>
            <a:effectLst/>
          </p:spPr>
          <p:txBody>
            <a:bodyPr wrap="none" lIns="111125" tIns="55562" rIns="111125" bIns="55562">
              <a:spAutoFit/>
            </a:bodyPr>
            <a:lstStyle/>
            <a:p>
              <a:pPr defTabSz="1314450">
                <a:defRPr/>
              </a:pPr>
              <a:r>
                <a:rPr lang="en-US" sz="2300">
                  <a:solidFill>
                    <a:schemeClr val="tx2"/>
                  </a:solidFill>
                  <a:latin typeface="Arial" pitchFamily="34" charset="0"/>
                  <a:cs typeface="Arial" pitchFamily="34" charset="0"/>
                </a:rPr>
                <a:t>.</a:t>
              </a:r>
            </a:p>
          </p:txBody>
        </p:sp>
      </p:grpSp>
      <p:sp>
        <p:nvSpPr>
          <p:cNvPr id="28692" name="Line 20"/>
          <p:cNvSpPr>
            <a:spLocks noChangeShapeType="1"/>
          </p:cNvSpPr>
          <p:nvPr/>
        </p:nvSpPr>
        <p:spPr bwMode="auto">
          <a:xfrm>
            <a:off x="5715000" y="3405188"/>
            <a:ext cx="439738"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93" name="Line 21"/>
          <p:cNvSpPr>
            <a:spLocks noChangeShapeType="1"/>
          </p:cNvSpPr>
          <p:nvPr/>
        </p:nvSpPr>
        <p:spPr bwMode="auto">
          <a:xfrm>
            <a:off x="5715000" y="3575050"/>
            <a:ext cx="439738"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94" name="Line 22"/>
          <p:cNvSpPr>
            <a:spLocks noChangeShapeType="1"/>
          </p:cNvSpPr>
          <p:nvPr/>
        </p:nvSpPr>
        <p:spPr bwMode="auto">
          <a:xfrm>
            <a:off x="5734050" y="2620963"/>
            <a:ext cx="436563"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95" name="Line 23"/>
          <p:cNvSpPr>
            <a:spLocks noChangeShapeType="1"/>
          </p:cNvSpPr>
          <p:nvPr/>
        </p:nvSpPr>
        <p:spPr bwMode="auto">
          <a:xfrm>
            <a:off x="5715000" y="4048125"/>
            <a:ext cx="439738" cy="0"/>
          </a:xfrm>
          <a:prstGeom prst="line">
            <a:avLst/>
          </a:prstGeom>
          <a:noFill/>
          <a:ln w="25400">
            <a:solidFill>
              <a:schemeClr val="tx2"/>
            </a:solidFill>
            <a:round/>
            <a:headEnd/>
            <a:tailEnd/>
          </a:ln>
          <a:effectLst/>
        </p:spPr>
        <p:txBody>
          <a:bodyPr wrap="none" anchor="ctr"/>
          <a:lstStyle/>
          <a:p>
            <a:pPr>
              <a:defRPr/>
            </a:pPr>
            <a:endParaRPr lang="en-US">
              <a:latin typeface="Arial" pitchFamily="34" charset="0"/>
              <a:cs typeface="Arial" pitchFamily="34" charset="0"/>
            </a:endParaRPr>
          </a:p>
        </p:txBody>
      </p:sp>
      <p:sp>
        <p:nvSpPr>
          <p:cNvPr id="28696" name="AutoShape 24"/>
          <p:cNvSpPr>
            <a:spLocks noChangeArrowheads="1"/>
          </p:cNvSpPr>
          <p:nvPr/>
        </p:nvSpPr>
        <p:spPr bwMode="auto">
          <a:xfrm rot="16200000">
            <a:off x="4272756" y="1666082"/>
            <a:ext cx="1228725" cy="1262062"/>
          </a:xfrm>
          <a:prstGeom prst="triangle">
            <a:avLst>
              <a:gd name="adj" fmla="val 49995"/>
            </a:avLst>
          </a:prstGeom>
          <a:solidFill>
            <a:srgbClr val="8CF4EA"/>
          </a:solidFill>
          <a:ln w="12700">
            <a:solidFill>
              <a:schemeClr val="tx2"/>
            </a:solid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28698" name="Rectangle 26"/>
          <p:cNvSpPr>
            <a:spLocks noChangeArrowheads="1"/>
          </p:cNvSpPr>
          <p:nvPr/>
        </p:nvSpPr>
        <p:spPr bwMode="auto">
          <a:xfrm>
            <a:off x="4467225" y="2119313"/>
            <a:ext cx="1066061" cy="389208"/>
          </a:xfrm>
          <a:prstGeom prst="rect">
            <a:avLst/>
          </a:prstGeom>
          <a:noFill/>
          <a:ln w="25400">
            <a:noFill/>
            <a:miter lim="800000"/>
            <a:headEnd/>
            <a:tailEnd/>
          </a:ln>
          <a:effectLst/>
        </p:spPr>
        <p:txBody>
          <a:bodyPr wrap="none" lIns="111125" tIns="55562" rIns="111125" bIns="55562">
            <a:spAutoFit/>
          </a:bodyPr>
          <a:lstStyle/>
          <a:p>
            <a:pPr defTabSz="1314450">
              <a:defRPr/>
            </a:pPr>
            <a:r>
              <a:rPr lang="en-US" sz="1800" dirty="0">
                <a:latin typeface="Arial" pitchFamily="34" charset="0"/>
                <a:cs typeface="Arial" pitchFamily="34" charset="0"/>
              </a:rPr>
              <a:t>Tree</a:t>
            </a:r>
            <a:r>
              <a:rPr lang="en-US" sz="1800" baseline="-25000" dirty="0">
                <a:latin typeface="Arial" pitchFamily="34" charset="0"/>
                <a:cs typeface="Arial" pitchFamily="34" charset="0"/>
              </a:rPr>
              <a:t>0</a:t>
            </a:r>
            <a:r>
              <a:rPr lang="en-US" sz="1800" dirty="0">
                <a:latin typeface="Arial" pitchFamily="34" charset="0"/>
                <a:cs typeface="Arial" pitchFamily="34" charset="0"/>
              </a:rPr>
              <a:t>[k]</a:t>
            </a:r>
          </a:p>
        </p:txBody>
      </p:sp>
      <p:sp>
        <p:nvSpPr>
          <p:cNvPr id="28700" name="Rectangle 28"/>
          <p:cNvSpPr>
            <a:spLocks noChangeArrowheads="1"/>
          </p:cNvSpPr>
          <p:nvPr/>
        </p:nvSpPr>
        <p:spPr bwMode="auto">
          <a:xfrm>
            <a:off x="6846600" y="2292821"/>
            <a:ext cx="1070806" cy="721607"/>
          </a:xfrm>
          <a:prstGeom prst="rect">
            <a:avLst/>
          </a:prstGeom>
          <a:noFill/>
          <a:ln w="25400">
            <a:noFill/>
            <a:miter lim="800000"/>
            <a:headEnd/>
            <a:tailEnd/>
          </a:ln>
          <a:effectLst/>
        </p:spPr>
        <p:txBody>
          <a:bodyPr wrap="none" lIns="111125" tIns="55562" rIns="111125" bIns="55562">
            <a:spAutoFit/>
          </a:bodyPr>
          <a:lstStyle/>
          <a:p>
            <a:pPr defTabSz="1314450">
              <a:defRPr/>
            </a:pPr>
            <a:r>
              <a:rPr lang="en-US" sz="1800" dirty="0">
                <a:latin typeface="Arial" pitchFamily="34" charset="0"/>
                <a:cs typeface="Arial" pitchFamily="34" charset="0"/>
              </a:rPr>
              <a:t>k even </a:t>
            </a:r>
          </a:p>
          <a:p>
            <a:pPr defTabSz="1314450">
              <a:defRPr/>
            </a:pPr>
            <a:r>
              <a:rPr lang="en-US" sz="1800" dirty="0">
                <a:latin typeface="Arial" pitchFamily="34" charset="0"/>
                <a:cs typeface="Arial" pitchFamily="34" charset="0"/>
              </a:rPr>
              <a:t>outputs</a:t>
            </a:r>
          </a:p>
        </p:txBody>
      </p:sp>
      <p:sp>
        <p:nvSpPr>
          <p:cNvPr id="28701" name="Rectangle 29"/>
          <p:cNvSpPr>
            <a:spLocks noChangeArrowheads="1"/>
          </p:cNvSpPr>
          <p:nvPr/>
        </p:nvSpPr>
        <p:spPr bwMode="auto">
          <a:xfrm>
            <a:off x="6846600" y="3832376"/>
            <a:ext cx="1070806" cy="721607"/>
          </a:xfrm>
          <a:prstGeom prst="rect">
            <a:avLst/>
          </a:prstGeom>
          <a:noFill/>
          <a:ln w="25400">
            <a:noFill/>
            <a:miter lim="800000"/>
            <a:headEnd/>
            <a:tailEnd/>
          </a:ln>
          <a:effectLst/>
        </p:spPr>
        <p:txBody>
          <a:bodyPr wrap="none" lIns="111125" tIns="55562" rIns="111125" bIns="55562">
            <a:spAutoFit/>
          </a:bodyPr>
          <a:lstStyle/>
          <a:p>
            <a:pPr defTabSz="1314450">
              <a:defRPr/>
            </a:pPr>
            <a:r>
              <a:rPr lang="en-US" sz="1800" dirty="0">
                <a:latin typeface="Arial" pitchFamily="34" charset="0"/>
                <a:cs typeface="Arial" pitchFamily="34" charset="0"/>
              </a:rPr>
              <a:t>k odd </a:t>
            </a:r>
          </a:p>
          <a:p>
            <a:pPr defTabSz="1314450">
              <a:defRPr/>
            </a:pPr>
            <a:r>
              <a:rPr lang="en-US" sz="1800" dirty="0">
                <a:latin typeface="Arial" pitchFamily="34" charset="0"/>
                <a:cs typeface="Arial" pitchFamily="34" charset="0"/>
              </a:rPr>
              <a:t>outputs</a:t>
            </a:r>
          </a:p>
        </p:txBody>
      </p:sp>
      <p:sp>
        <p:nvSpPr>
          <p:cNvPr id="28710" name="Rectangle 38"/>
          <p:cNvSpPr>
            <a:spLocks noChangeArrowheads="1"/>
          </p:cNvSpPr>
          <p:nvPr/>
        </p:nvSpPr>
        <p:spPr bwMode="auto">
          <a:xfrm>
            <a:off x="706438" y="4010025"/>
            <a:ext cx="246062" cy="117475"/>
          </a:xfrm>
          <a:prstGeom prst="rect">
            <a:avLst/>
          </a:prstGeom>
          <a:noFill/>
          <a:ln w="12700">
            <a:noFill/>
            <a:miter lim="800000"/>
            <a:headEnd/>
            <a:tailEnd/>
          </a:ln>
          <a:effectLst/>
        </p:spPr>
        <p:txBody>
          <a:bodyPr wrap="none" anchor="ctr"/>
          <a:lstStyle/>
          <a:p>
            <a:pPr>
              <a:defRPr/>
            </a:pPr>
            <a:endParaRPr lang="en-US">
              <a:latin typeface="Arial" pitchFamily="34" charset="0"/>
              <a:cs typeface="Arial" pitchFamily="34" charset="0"/>
            </a:endParaRPr>
          </a:p>
        </p:txBody>
      </p:sp>
      <p:sp>
        <p:nvSpPr>
          <p:cNvPr id="28677" name="Freeform 5"/>
          <p:cNvSpPr>
            <a:spLocks/>
          </p:cNvSpPr>
          <p:nvPr/>
        </p:nvSpPr>
        <p:spPr bwMode="auto">
          <a:xfrm>
            <a:off x="3311525" y="2325688"/>
            <a:ext cx="920750" cy="461962"/>
          </a:xfrm>
          <a:custGeom>
            <a:avLst/>
            <a:gdLst/>
            <a:ahLst/>
            <a:cxnLst>
              <a:cxn ang="0">
                <a:pos x="0" y="228"/>
              </a:cxn>
              <a:cxn ang="0">
                <a:pos x="157" y="228"/>
              </a:cxn>
              <a:cxn ang="0">
                <a:pos x="157" y="0"/>
              </a:cxn>
              <a:cxn ang="0">
                <a:pos x="406" y="0"/>
              </a:cxn>
              <a:cxn ang="0">
                <a:pos x="406" y="0"/>
              </a:cxn>
            </a:cxnLst>
            <a:rect l="0" t="0" r="r" b="b"/>
            <a:pathLst>
              <a:path w="407" h="229">
                <a:moveTo>
                  <a:pt x="0" y="228"/>
                </a:moveTo>
                <a:lnTo>
                  <a:pt x="157" y="228"/>
                </a:lnTo>
                <a:lnTo>
                  <a:pt x="157" y="0"/>
                </a:lnTo>
                <a:lnTo>
                  <a:pt x="406" y="0"/>
                </a:lnTo>
                <a:lnTo>
                  <a:pt x="406"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a:latin typeface="Arial" pitchFamily="34" charset="0"/>
              <a:cs typeface="Arial" pitchFamily="34" charset="0"/>
            </a:endParaRPr>
          </a:p>
        </p:txBody>
      </p:sp>
      <p:grpSp>
        <p:nvGrpSpPr>
          <p:cNvPr id="4" name="Group 103"/>
          <p:cNvGrpSpPr/>
          <p:nvPr/>
        </p:nvGrpSpPr>
        <p:grpSpPr>
          <a:xfrm>
            <a:off x="406244" y="2747963"/>
            <a:ext cx="2129177" cy="1239075"/>
            <a:chOff x="572800" y="2516714"/>
            <a:chExt cx="3150735" cy="1833571"/>
          </a:xfrm>
        </p:grpSpPr>
        <p:sp>
          <p:nvSpPr>
            <p:cNvPr id="43" name="Line 45"/>
            <p:cNvSpPr>
              <a:spLocks noChangeShapeType="1"/>
            </p:cNvSpPr>
            <p:nvPr/>
          </p:nvSpPr>
          <p:spPr bwMode="auto">
            <a:xfrm>
              <a:off x="3343275" y="3338513"/>
              <a:ext cx="223838" cy="1587"/>
            </a:xfrm>
            <a:prstGeom prst="line">
              <a:avLst/>
            </a:prstGeom>
            <a:noFill/>
            <a:ln w="25400">
              <a:solidFill>
                <a:schemeClr val="tx2"/>
              </a:solidFill>
              <a:round/>
              <a:headEnd/>
              <a:tailEnd/>
            </a:ln>
            <a:effectLst/>
          </p:spPr>
          <p:txBody>
            <a:bodyPr wrap="none" anchor="ctr"/>
            <a:lstStyle/>
            <a:p>
              <a:pPr>
                <a:defRPr/>
              </a:pPr>
              <a:endParaRPr lang="en-US" sz="2000" dirty="0">
                <a:latin typeface="Arial" pitchFamily="34" charset="0"/>
              </a:endParaRPr>
            </a:p>
          </p:txBody>
        </p:sp>
        <p:grpSp>
          <p:nvGrpSpPr>
            <p:cNvPr id="5" name="Group 32"/>
            <p:cNvGrpSpPr>
              <a:grpSpLocks/>
            </p:cNvGrpSpPr>
            <p:nvPr/>
          </p:nvGrpSpPr>
          <p:grpSpPr bwMode="auto">
            <a:xfrm>
              <a:off x="1312239" y="3449103"/>
              <a:ext cx="863600" cy="265647"/>
              <a:chOff x="1313" y="2496"/>
              <a:chExt cx="1252" cy="427"/>
            </a:xfrm>
          </p:grpSpPr>
          <p:sp>
            <p:nvSpPr>
              <p:cNvPr id="4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 name="Group 32"/>
            <p:cNvGrpSpPr>
              <a:grpSpLocks/>
            </p:cNvGrpSpPr>
            <p:nvPr/>
          </p:nvGrpSpPr>
          <p:grpSpPr bwMode="auto">
            <a:xfrm>
              <a:off x="2662578" y="4084638"/>
              <a:ext cx="863600" cy="265647"/>
              <a:chOff x="1313" y="2496"/>
              <a:chExt cx="1252" cy="427"/>
            </a:xfrm>
          </p:grpSpPr>
          <p:sp>
            <p:nvSpPr>
              <p:cNvPr id="5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 name="Group 32"/>
            <p:cNvGrpSpPr>
              <a:grpSpLocks/>
            </p:cNvGrpSpPr>
            <p:nvPr/>
          </p:nvGrpSpPr>
          <p:grpSpPr bwMode="auto">
            <a:xfrm>
              <a:off x="1687396" y="4023778"/>
              <a:ext cx="863600" cy="265647"/>
              <a:chOff x="1313" y="2496"/>
              <a:chExt cx="1252" cy="427"/>
            </a:xfrm>
          </p:grpSpPr>
          <p:sp>
            <p:nvSpPr>
              <p:cNvPr id="5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 name="Group 32"/>
            <p:cNvGrpSpPr>
              <a:grpSpLocks/>
            </p:cNvGrpSpPr>
            <p:nvPr/>
          </p:nvGrpSpPr>
          <p:grpSpPr bwMode="auto">
            <a:xfrm>
              <a:off x="884578" y="3980540"/>
              <a:ext cx="863600" cy="265647"/>
              <a:chOff x="1313" y="2496"/>
              <a:chExt cx="1252" cy="427"/>
            </a:xfrm>
          </p:grpSpPr>
          <p:sp>
            <p:nvSpPr>
              <p:cNvPr id="6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 name="Group 32"/>
            <p:cNvGrpSpPr>
              <a:grpSpLocks/>
            </p:cNvGrpSpPr>
            <p:nvPr/>
          </p:nvGrpSpPr>
          <p:grpSpPr bwMode="auto">
            <a:xfrm>
              <a:off x="2045999" y="3650189"/>
              <a:ext cx="863600" cy="265647"/>
              <a:chOff x="1313" y="2496"/>
              <a:chExt cx="1252" cy="427"/>
            </a:xfrm>
          </p:grpSpPr>
          <p:sp>
            <p:nvSpPr>
              <p:cNvPr id="6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 name="Group 32"/>
            <p:cNvGrpSpPr>
              <a:grpSpLocks/>
            </p:cNvGrpSpPr>
            <p:nvPr/>
          </p:nvGrpSpPr>
          <p:grpSpPr bwMode="auto">
            <a:xfrm>
              <a:off x="1537715" y="2946175"/>
              <a:ext cx="863600" cy="265647"/>
              <a:chOff x="1313" y="2496"/>
              <a:chExt cx="1252" cy="427"/>
            </a:xfrm>
          </p:grpSpPr>
          <p:sp>
            <p:nvSpPr>
              <p:cNvPr id="7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 name="Group 32"/>
            <p:cNvGrpSpPr>
              <a:grpSpLocks/>
            </p:cNvGrpSpPr>
            <p:nvPr/>
          </p:nvGrpSpPr>
          <p:grpSpPr bwMode="auto">
            <a:xfrm>
              <a:off x="2199819" y="3027363"/>
              <a:ext cx="863600" cy="265647"/>
              <a:chOff x="1313" y="2496"/>
              <a:chExt cx="1252" cy="427"/>
            </a:xfrm>
          </p:grpSpPr>
          <p:sp>
            <p:nvSpPr>
              <p:cNvPr id="7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7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 name="Group 32"/>
            <p:cNvGrpSpPr>
              <a:grpSpLocks/>
            </p:cNvGrpSpPr>
            <p:nvPr/>
          </p:nvGrpSpPr>
          <p:grpSpPr bwMode="auto">
            <a:xfrm>
              <a:off x="2353639" y="3345389"/>
              <a:ext cx="863600" cy="265647"/>
              <a:chOff x="1313" y="2496"/>
              <a:chExt cx="1252" cy="427"/>
            </a:xfrm>
          </p:grpSpPr>
          <p:sp>
            <p:nvSpPr>
              <p:cNvPr id="8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 name="Group 32"/>
            <p:cNvGrpSpPr>
              <a:grpSpLocks/>
            </p:cNvGrpSpPr>
            <p:nvPr/>
          </p:nvGrpSpPr>
          <p:grpSpPr bwMode="auto">
            <a:xfrm>
              <a:off x="2859935" y="3688289"/>
              <a:ext cx="863600" cy="265647"/>
              <a:chOff x="1313" y="2496"/>
              <a:chExt cx="1252" cy="427"/>
            </a:xfrm>
          </p:grpSpPr>
          <p:sp>
            <p:nvSpPr>
              <p:cNvPr id="8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8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4" name="Group 32"/>
            <p:cNvGrpSpPr>
              <a:grpSpLocks/>
            </p:cNvGrpSpPr>
            <p:nvPr/>
          </p:nvGrpSpPr>
          <p:grpSpPr bwMode="auto">
            <a:xfrm>
              <a:off x="2490216" y="2748489"/>
              <a:ext cx="863600" cy="265647"/>
              <a:chOff x="1313" y="2496"/>
              <a:chExt cx="1252" cy="427"/>
            </a:xfrm>
          </p:grpSpPr>
          <p:sp>
            <p:nvSpPr>
              <p:cNvPr id="9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 name="Group 32"/>
            <p:cNvGrpSpPr>
              <a:grpSpLocks/>
            </p:cNvGrpSpPr>
            <p:nvPr/>
          </p:nvGrpSpPr>
          <p:grpSpPr bwMode="auto">
            <a:xfrm>
              <a:off x="1798978" y="2516714"/>
              <a:ext cx="863600" cy="265647"/>
              <a:chOff x="1313" y="2496"/>
              <a:chExt cx="1252" cy="427"/>
            </a:xfrm>
          </p:grpSpPr>
          <p:sp>
            <p:nvSpPr>
              <p:cNvPr id="9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9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6" name="Group 32"/>
            <p:cNvGrpSpPr>
              <a:grpSpLocks/>
            </p:cNvGrpSpPr>
            <p:nvPr/>
          </p:nvGrpSpPr>
          <p:grpSpPr bwMode="auto">
            <a:xfrm>
              <a:off x="572800" y="2761716"/>
              <a:ext cx="863600" cy="265647"/>
              <a:chOff x="1313" y="2496"/>
              <a:chExt cx="1252" cy="427"/>
            </a:xfrm>
          </p:grpSpPr>
          <p:sp>
            <p:nvSpPr>
              <p:cNvPr id="10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0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17" name="Group 228"/>
          <p:cNvGrpSpPr/>
          <p:nvPr/>
        </p:nvGrpSpPr>
        <p:grpSpPr>
          <a:xfrm>
            <a:off x="2617632" y="1352776"/>
            <a:ext cx="1638455" cy="705832"/>
            <a:chOff x="5311932" y="7658863"/>
            <a:chExt cx="1879331" cy="809599"/>
          </a:xfrm>
        </p:grpSpPr>
        <p:grpSp>
          <p:nvGrpSpPr>
            <p:cNvPr id="18" name="Group 32"/>
            <p:cNvGrpSpPr>
              <a:grpSpLocks/>
            </p:cNvGrpSpPr>
            <p:nvPr/>
          </p:nvGrpSpPr>
          <p:grpSpPr bwMode="auto">
            <a:xfrm>
              <a:off x="5811624" y="8288945"/>
              <a:ext cx="583596" cy="179517"/>
              <a:chOff x="1313" y="2496"/>
              <a:chExt cx="1252" cy="427"/>
            </a:xfrm>
          </p:grpSpPr>
          <p:sp>
            <p:nvSpPr>
              <p:cNvPr id="22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 name="Group 32"/>
            <p:cNvGrpSpPr>
              <a:grpSpLocks/>
            </p:cNvGrpSpPr>
            <p:nvPr/>
          </p:nvGrpSpPr>
          <p:grpSpPr bwMode="auto">
            <a:xfrm>
              <a:off x="5963994" y="7949080"/>
              <a:ext cx="583596" cy="179517"/>
              <a:chOff x="1313" y="2496"/>
              <a:chExt cx="1252" cy="427"/>
            </a:xfrm>
          </p:grpSpPr>
          <p:sp>
            <p:nvSpPr>
              <p:cNvPr id="20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 name="Group 32"/>
            <p:cNvGrpSpPr>
              <a:grpSpLocks/>
            </p:cNvGrpSpPr>
            <p:nvPr/>
          </p:nvGrpSpPr>
          <p:grpSpPr bwMode="auto">
            <a:xfrm>
              <a:off x="6411425" y="8003945"/>
              <a:ext cx="583596" cy="179517"/>
              <a:chOff x="1313" y="2496"/>
              <a:chExt cx="1252" cy="427"/>
            </a:xfrm>
          </p:grpSpPr>
          <p:sp>
            <p:nvSpPr>
              <p:cNvPr id="20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1" name="Group 32"/>
            <p:cNvGrpSpPr>
              <a:grpSpLocks/>
            </p:cNvGrpSpPr>
            <p:nvPr/>
          </p:nvGrpSpPr>
          <p:grpSpPr bwMode="auto">
            <a:xfrm>
              <a:off x="6515372" y="8218858"/>
              <a:ext cx="583596" cy="179517"/>
              <a:chOff x="1313" y="2496"/>
              <a:chExt cx="1252" cy="427"/>
            </a:xfrm>
          </p:grpSpPr>
          <p:sp>
            <p:nvSpPr>
              <p:cNvPr id="19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2" name="Group 32"/>
            <p:cNvGrpSpPr>
              <a:grpSpLocks/>
            </p:cNvGrpSpPr>
            <p:nvPr/>
          </p:nvGrpSpPr>
          <p:grpSpPr bwMode="auto">
            <a:xfrm>
              <a:off x="6607667" y="7815490"/>
              <a:ext cx="583596" cy="179517"/>
              <a:chOff x="1313" y="2496"/>
              <a:chExt cx="1252" cy="427"/>
            </a:xfrm>
          </p:grpSpPr>
          <p:sp>
            <p:nvSpPr>
              <p:cNvPr id="18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3" name="Group 32"/>
            <p:cNvGrpSpPr>
              <a:grpSpLocks/>
            </p:cNvGrpSpPr>
            <p:nvPr/>
          </p:nvGrpSpPr>
          <p:grpSpPr bwMode="auto">
            <a:xfrm>
              <a:off x="6140548" y="7658863"/>
              <a:ext cx="583596" cy="179517"/>
              <a:chOff x="1313" y="2496"/>
              <a:chExt cx="1252" cy="427"/>
            </a:xfrm>
          </p:grpSpPr>
          <p:sp>
            <p:nvSpPr>
              <p:cNvPr id="18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4" name="Group 32"/>
            <p:cNvGrpSpPr>
              <a:grpSpLocks/>
            </p:cNvGrpSpPr>
            <p:nvPr/>
          </p:nvGrpSpPr>
          <p:grpSpPr bwMode="auto">
            <a:xfrm>
              <a:off x="5311932" y="7824428"/>
              <a:ext cx="583596" cy="179517"/>
              <a:chOff x="1313" y="2496"/>
              <a:chExt cx="1252" cy="427"/>
            </a:xfrm>
          </p:grpSpPr>
          <p:sp>
            <p:nvSpPr>
              <p:cNvPr id="18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sp>
        <p:nvSpPr>
          <p:cNvPr id="267" name="AutoShape 14"/>
          <p:cNvSpPr>
            <a:spLocks noChangeArrowheads="1"/>
          </p:cNvSpPr>
          <p:nvPr/>
        </p:nvSpPr>
        <p:spPr bwMode="auto">
          <a:xfrm>
            <a:off x="2959772" y="270564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grpSp>
        <p:nvGrpSpPr>
          <p:cNvPr id="25" name="Group 267"/>
          <p:cNvGrpSpPr/>
          <p:nvPr/>
        </p:nvGrpSpPr>
        <p:grpSpPr>
          <a:xfrm>
            <a:off x="2665177" y="3916692"/>
            <a:ext cx="1638455" cy="705832"/>
            <a:chOff x="5311932" y="7658863"/>
            <a:chExt cx="1879331" cy="809599"/>
          </a:xfrm>
        </p:grpSpPr>
        <p:grpSp>
          <p:nvGrpSpPr>
            <p:cNvPr id="26" name="Group 32"/>
            <p:cNvGrpSpPr>
              <a:grpSpLocks/>
            </p:cNvGrpSpPr>
            <p:nvPr/>
          </p:nvGrpSpPr>
          <p:grpSpPr bwMode="auto">
            <a:xfrm>
              <a:off x="5811624" y="8288945"/>
              <a:ext cx="583596" cy="179517"/>
              <a:chOff x="1313" y="2496"/>
              <a:chExt cx="1252" cy="427"/>
            </a:xfrm>
          </p:grpSpPr>
          <p:sp>
            <p:nvSpPr>
              <p:cNvPr id="30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0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0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0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7" name="Group 32"/>
            <p:cNvGrpSpPr>
              <a:grpSpLocks/>
            </p:cNvGrpSpPr>
            <p:nvPr/>
          </p:nvGrpSpPr>
          <p:grpSpPr bwMode="auto">
            <a:xfrm>
              <a:off x="5963994" y="7949080"/>
              <a:ext cx="583596" cy="179517"/>
              <a:chOff x="1313" y="2496"/>
              <a:chExt cx="1252" cy="427"/>
            </a:xfrm>
          </p:grpSpPr>
          <p:sp>
            <p:nvSpPr>
              <p:cNvPr id="29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 name="Group 32"/>
            <p:cNvGrpSpPr>
              <a:grpSpLocks/>
            </p:cNvGrpSpPr>
            <p:nvPr/>
          </p:nvGrpSpPr>
          <p:grpSpPr bwMode="auto">
            <a:xfrm>
              <a:off x="6411425" y="8003945"/>
              <a:ext cx="583596" cy="179517"/>
              <a:chOff x="1313" y="2496"/>
              <a:chExt cx="1252" cy="427"/>
            </a:xfrm>
          </p:grpSpPr>
          <p:sp>
            <p:nvSpPr>
              <p:cNvPr id="29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9" name="Group 32"/>
            <p:cNvGrpSpPr>
              <a:grpSpLocks/>
            </p:cNvGrpSpPr>
            <p:nvPr/>
          </p:nvGrpSpPr>
          <p:grpSpPr bwMode="auto">
            <a:xfrm>
              <a:off x="6515372" y="8218858"/>
              <a:ext cx="583596" cy="179517"/>
              <a:chOff x="1313" y="2496"/>
              <a:chExt cx="1252" cy="427"/>
            </a:xfrm>
          </p:grpSpPr>
          <p:sp>
            <p:nvSpPr>
              <p:cNvPr id="28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9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0" name="Group 32"/>
            <p:cNvGrpSpPr>
              <a:grpSpLocks/>
            </p:cNvGrpSpPr>
            <p:nvPr/>
          </p:nvGrpSpPr>
          <p:grpSpPr bwMode="auto">
            <a:xfrm>
              <a:off x="6607667" y="7815490"/>
              <a:ext cx="583596" cy="179517"/>
              <a:chOff x="1313" y="2496"/>
              <a:chExt cx="1252" cy="427"/>
            </a:xfrm>
          </p:grpSpPr>
          <p:sp>
            <p:nvSpPr>
              <p:cNvPr id="28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1" name="Group 32"/>
            <p:cNvGrpSpPr>
              <a:grpSpLocks/>
            </p:cNvGrpSpPr>
            <p:nvPr/>
          </p:nvGrpSpPr>
          <p:grpSpPr bwMode="auto">
            <a:xfrm>
              <a:off x="6140548" y="7658863"/>
              <a:ext cx="583596" cy="179517"/>
              <a:chOff x="1313" y="2496"/>
              <a:chExt cx="1252" cy="427"/>
            </a:xfrm>
          </p:grpSpPr>
          <p:sp>
            <p:nvSpPr>
              <p:cNvPr id="28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8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04" name="Group 32"/>
            <p:cNvGrpSpPr>
              <a:grpSpLocks/>
            </p:cNvGrpSpPr>
            <p:nvPr/>
          </p:nvGrpSpPr>
          <p:grpSpPr bwMode="auto">
            <a:xfrm>
              <a:off x="5311932" y="7824428"/>
              <a:ext cx="583596" cy="179517"/>
              <a:chOff x="1313" y="2496"/>
              <a:chExt cx="1252" cy="427"/>
            </a:xfrm>
          </p:grpSpPr>
          <p:sp>
            <p:nvSpPr>
              <p:cNvPr id="27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7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7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7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28705" name="Group 362"/>
          <p:cNvGrpSpPr/>
          <p:nvPr/>
        </p:nvGrpSpPr>
        <p:grpSpPr>
          <a:xfrm>
            <a:off x="6170613" y="3251715"/>
            <a:ext cx="1086867" cy="934963"/>
            <a:chOff x="9567021" y="1893776"/>
            <a:chExt cx="1086867" cy="934963"/>
          </a:xfrm>
        </p:grpSpPr>
        <p:grpSp>
          <p:nvGrpSpPr>
            <p:cNvPr id="28706" name="Group 339"/>
            <p:cNvGrpSpPr/>
            <p:nvPr/>
          </p:nvGrpSpPr>
          <p:grpSpPr>
            <a:xfrm>
              <a:off x="9567021" y="1893776"/>
              <a:ext cx="508796" cy="934963"/>
              <a:chOff x="9567021" y="1893776"/>
              <a:chExt cx="508796" cy="934963"/>
            </a:xfrm>
          </p:grpSpPr>
          <p:grpSp>
            <p:nvGrpSpPr>
              <p:cNvPr id="28707" name="Group 32"/>
              <p:cNvGrpSpPr>
                <a:grpSpLocks/>
              </p:cNvGrpSpPr>
              <p:nvPr/>
            </p:nvGrpSpPr>
            <p:grpSpPr bwMode="auto">
              <a:xfrm>
                <a:off x="9567021" y="2412746"/>
                <a:ext cx="508796" cy="156508"/>
                <a:chOff x="1313" y="2496"/>
                <a:chExt cx="1252" cy="427"/>
              </a:xfrm>
            </p:grpSpPr>
            <p:sp>
              <p:nvSpPr>
                <p:cNvPr id="33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3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08" name="Group 32"/>
              <p:cNvGrpSpPr>
                <a:grpSpLocks/>
              </p:cNvGrpSpPr>
              <p:nvPr/>
            </p:nvGrpSpPr>
            <p:grpSpPr bwMode="auto">
              <a:xfrm>
                <a:off x="9567021" y="2672231"/>
                <a:ext cx="508796" cy="156508"/>
                <a:chOff x="1313" y="2496"/>
                <a:chExt cx="1252" cy="427"/>
              </a:xfrm>
            </p:grpSpPr>
            <p:sp>
              <p:nvSpPr>
                <p:cNvPr id="32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2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2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2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09" name="Group 32"/>
              <p:cNvGrpSpPr>
                <a:grpSpLocks/>
              </p:cNvGrpSpPr>
              <p:nvPr/>
            </p:nvGrpSpPr>
            <p:grpSpPr bwMode="auto">
              <a:xfrm>
                <a:off x="9567021" y="1893776"/>
                <a:ext cx="508796" cy="156508"/>
                <a:chOff x="1313" y="2496"/>
                <a:chExt cx="1252" cy="427"/>
              </a:xfrm>
            </p:grpSpPr>
            <p:sp>
              <p:nvSpPr>
                <p:cNvPr id="31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11" name="Group 32"/>
              <p:cNvGrpSpPr>
                <a:grpSpLocks/>
              </p:cNvGrpSpPr>
              <p:nvPr/>
            </p:nvGrpSpPr>
            <p:grpSpPr bwMode="auto">
              <a:xfrm>
                <a:off x="9567021" y="2153261"/>
                <a:ext cx="508796" cy="156508"/>
                <a:chOff x="1313" y="2496"/>
                <a:chExt cx="1252" cy="427"/>
              </a:xfrm>
            </p:grpSpPr>
            <p:sp>
              <p:nvSpPr>
                <p:cNvPr id="31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1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28712" name="Group 361"/>
            <p:cNvGrpSpPr/>
            <p:nvPr/>
          </p:nvGrpSpPr>
          <p:grpSpPr>
            <a:xfrm>
              <a:off x="10145092" y="1893776"/>
              <a:ext cx="508796" cy="415993"/>
              <a:chOff x="10228217" y="2070527"/>
              <a:chExt cx="508796" cy="415993"/>
            </a:xfrm>
          </p:grpSpPr>
          <p:grpSp>
            <p:nvGrpSpPr>
              <p:cNvPr id="28713" name="Group 32"/>
              <p:cNvGrpSpPr>
                <a:grpSpLocks/>
              </p:cNvGrpSpPr>
              <p:nvPr/>
            </p:nvGrpSpPr>
            <p:grpSpPr bwMode="auto">
              <a:xfrm>
                <a:off x="10228217" y="2070527"/>
                <a:ext cx="508796" cy="156508"/>
                <a:chOff x="1313" y="2496"/>
                <a:chExt cx="1252" cy="427"/>
              </a:xfrm>
            </p:grpSpPr>
            <p:sp>
              <p:nvSpPr>
                <p:cNvPr id="350"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51"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52"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53"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14" name="Group 32"/>
              <p:cNvGrpSpPr>
                <a:grpSpLocks/>
              </p:cNvGrpSpPr>
              <p:nvPr/>
            </p:nvGrpSpPr>
            <p:grpSpPr bwMode="auto">
              <a:xfrm>
                <a:off x="10228217" y="2330012"/>
                <a:ext cx="508796" cy="156508"/>
                <a:chOff x="1313" y="2496"/>
                <a:chExt cx="1252" cy="427"/>
              </a:xfrm>
            </p:grpSpPr>
            <p:sp>
              <p:nvSpPr>
                <p:cNvPr id="34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4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4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4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grpSp>
        <p:nvGrpSpPr>
          <p:cNvPr id="28715" name="Group 396"/>
          <p:cNvGrpSpPr/>
          <p:nvPr/>
        </p:nvGrpSpPr>
        <p:grpSpPr>
          <a:xfrm>
            <a:off x="6420929" y="1893996"/>
            <a:ext cx="1086867" cy="934963"/>
            <a:chOff x="9567021" y="1893776"/>
            <a:chExt cx="1086867" cy="934963"/>
          </a:xfrm>
        </p:grpSpPr>
        <p:grpSp>
          <p:nvGrpSpPr>
            <p:cNvPr id="28716" name="Group 397"/>
            <p:cNvGrpSpPr/>
            <p:nvPr/>
          </p:nvGrpSpPr>
          <p:grpSpPr>
            <a:xfrm>
              <a:off x="9567021" y="1893776"/>
              <a:ext cx="508796" cy="934963"/>
              <a:chOff x="9567021" y="1893776"/>
              <a:chExt cx="508796" cy="934963"/>
            </a:xfrm>
          </p:grpSpPr>
          <p:grpSp>
            <p:nvGrpSpPr>
              <p:cNvPr id="28717" name="Group 32"/>
              <p:cNvGrpSpPr>
                <a:grpSpLocks/>
              </p:cNvGrpSpPr>
              <p:nvPr/>
            </p:nvGrpSpPr>
            <p:grpSpPr bwMode="auto">
              <a:xfrm>
                <a:off x="9567021" y="2412746"/>
                <a:ext cx="508796" cy="156508"/>
                <a:chOff x="1313" y="2496"/>
                <a:chExt cx="1252" cy="427"/>
              </a:xfrm>
            </p:grpSpPr>
            <p:sp>
              <p:nvSpPr>
                <p:cNvPr id="42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18" name="Group 32"/>
              <p:cNvGrpSpPr>
                <a:grpSpLocks/>
              </p:cNvGrpSpPr>
              <p:nvPr/>
            </p:nvGrpSpPr>
            <p:grpSpPr bwMode="auto">
              <a:xfrm>
                <a:off x="9567021" y="2672231"/>
                <a:ext cx="508796" cy="156508"/>
                <a:chOff x="1313" y="2496"/>
                <a:chExt cx="1252" cy="427"/>
              </a:xfrm>
            </p:grpSpPr>
            <p:sp>
              <p:nvSpPr>
                <p:cNvPr id="42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19" name="Group 32"/>
              <p:cNvGrpSpPr>
                <a:grpSpLocks/>
              </p:cNvGrpSpPr>
              <p:nvPr/>
            </p:nvGrpSpPr>
            <p:grpSpPr bwMode="auto">
              <a:xfrm>
                <a:off x="9567021" y="1893776"/>
                <a:ext cx="508796" cy="156508"/>
                <a:chOff x="1313" y="2496"/>
                <a:chExt cx="1252" cy="427"/>
              </a:xfrm>
            </p:grpSpPr>
            <p:sp>
              <p:nvSpPr>
                <p:cNvPr id="418"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9"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0"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21"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20" name="Group 32"/>
              <p:cNvGrpSpPr>
                <a:grpSpLocks/>
              </p:cNvGrpSpPr>
              <p:nvPr/>
            </p:nvGrpSpPr>
            <p:grpSpPr bwMode="auto">
              <a:xfrm>
                <a:off x="9567021" y="2153261"/>
                <a:ext cx="508796" cy="156508"/>
                <a:chOff x="1313" y="2496"/>
                <a:chExt cx="1252" cy="427"/>
              </a:xfrm>
            </p:grpSpPr>
            <p:sp>
              <p:nvSpPr>
                <p:cNvPr id="41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1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28721" name="Group 398"/>
            <p:cNvGrpSpPr/>
            <p:nvPr/>
          </p:nvGrpSpPr>
          <p:grpSpPr>
            <a:xfrm>
              <a:off x="10145092" y="1893776"/>
              <a:ext cx="508796" cy="415993"/>
              <a:chOff x="10228217" y="2070527"/>
              <a:chExt cx="508796" cy="415993"/>
            </a:xfrm>
          </p:grpSpPr>
          <p:grpSp>
            <p:nvGrpSpPr>
              <p:cNvPr id="28722" name="Group 32"/>
              <p:cNvGrpSpPr>
                <a:grpSpLocks/>
              </p:cNvGrpSpPr>
              <p:nvPr/>
            </p:nvGrpSpPr>
            <p:grpSpPr bwMode="auto">
              <a:xfrm>
                <a:off x="10228217" y="2070527"/>
                <a:ext cx="508796" cy="156508"/>
                <a:chOff x="1313" y="2496"/>
                <a:chExt cx="1252" cy="427"/>
              </a:xfrm>
            </p:grpSpPr>
            <p:sp>
              <p:nvSpPr>
                <p:cNvPr id="406"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7"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8"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9"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23" name="Group 32"/>
              <p:cNvGrpSpPr>
                <a:grpSpLocks/>
              </p:cNvGrpSpPr>
              <p:nvPr/>
            </p:nvGrpSpPr>
            <p:grpSpPr bwMode="auto">
              <a:xfrm>
                <a:off x="10228217" y="2330012"/>
                <a:ext cx="508796" cy="156508"/>
                <a:chOff x="1313" y="2496"/>
                <a:chExt cx="1252" cy="427"/>
              </a:xfrm>
            </p:grpSpPr>
            <p:sp>
              <p:nvSpPr>
                <p:cNvPr id="402"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3"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4"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05"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grpSp>
        <p:nvGrpSpPr>
          <p:cNvPr id="28724" name="Group 504"/>
          <p:cNvGrpSpPr/>
          <p:nvPr/>
        </p:nvGrpSpPr>
        <p:grpSpPr>
          <a:xfrm>
            <a:off x="7988561" y="1885917"/>
            <a:ext cx="1058602" cy="2146452"/>
            <a:chOff x="9831093" y="2325688"/>
            <a:chExt cx="1058602" cy="2146452"/>
          </a:xfrm>
        </p:grpSpPr>
        <p:grpSp>
          <p:nvGrpSpPr>
            <p:cNvPr id="28725" name="Group 503"/>
            <p:cNvGrpSpPr/>
            <p:nvPr/>
          </p:nvGrpSpPr>
          <p:grpSpPr>
            <a:xfrm>
              <a:off x="9831093" y="2325688"/>
              <a:ext cx="508796" cy="2146452"/>
              <a:chOff x="9831093" y="2325688"/>
              <a:chExt cx="508796" cy="2146452"/>
            </a:xfrm>
          </p:grpSpPr>
          <p:grpSp>
            <p:nvGrpSpPr>
              <p:cNvPr id="28726" name="Group 32"/>
              <p:cNvGrpSpPr>
                <a:grpSpLocks/>
              </p:cNvGrpSpPr>
              <p:nvPr/>
            </p:nvGrpSpPr>
            <p:grpSpPr bwMode="auto">
              <a:xfrm>
                <a:off x="9831093" y="2894244"/>
                <a:ext cx="508796" cy="156508"/>
                <a:chOff x="1313" y="2496"/>
                <a:chExt cx="1252" cy="427"/>
              </a:xfrm>
            </p:grpSpPr>
            <p:sp>
              <p:nvSpPr>
                <p:cNvPr id="39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27" name="Group 32"/>
              <p:cNvGrpSpPr>
                <a:grpSpLocks/>
              </p:cNvGrpSpPr>
              <p:nvPr/>
            </p:nvGrpSpPr>
            <p:grpSpPr bwMode="auto">
              <a:xfrm>
                <a:off x="9831093" y="3178522"/>
                <a:ext cx="508796" cy="156508"/>
                <a:chOff x="1313" y="2496"/>
                <a:chExt cx="1252" cy="427"/>
              </a:xfrm>
            </p:grpSpPr>
            <p:sp>
              <p:nvSpPr>
                <p:cNvPr id="38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9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28" name="Group 32"/>
              <p:cNvGrpSpPr>
                <a:grpSpLocks/>
              </p:cNvGrpSpPr>
              <p:nvPr/>
            </p:nvGrpSpPr>
            <p:grpSpPr bwMode="auto">
              <a:xfrm>
                <a:off x="9831093" y="2325688"/>
                <a:ext cx="508796" cy="156508"/>
                <a:chOff x="1313" y="2496"/>
                <a:chExt cx="1252" cy="427"/>
              </a:xfrm>
            </p:grpSpPr>
            <p:sp>
              <p:nvSpPr>
                <p:cNvPr id="38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29" name="Group 32"/>
              <p:cNvGrpSpPr>
                <a:grpSpLocks/>
              </p:cNvGrpSpPr>
              <p:nvPr/>
            </p:nvGrpSpPr>
            <p:grpSpPr bwMode="auto">
              <a:xfrm>
                <a:off x="9831093" y="2609966"/>
                <a:ext cx="508796" cy="156508"/>
                <a:chOff x="1313" y="2496"/>
                <a:chExt cx="1252" cy="427"/>
              </a:xfrm>
            </p:grpSpPr>
            <p:sp>
              <p:nvSpPr>
                <p:cNvPr id="38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38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30" name="Group 32"/>
              <p:cNvGrpSpPr>
                <a:grpSpLocks/>
              </p:cNvGrpSpPr>
              <p:nvPr/>
            </p:nvGrpSpPr>
            <p:grpSpPr bwMode="auto">
              <a:xfrm>
                <a:off x="9831093" y="4031356"/>
                <a:ext cx="508796" cy="156508"/>
                <a:chOff x="1313" y="2496"/>
                <a:chExt cx="1252" cy="427"/>
              </a:xfrm>
            </p:grpSpPr>
            <p:sp>
              <p:nvSpPr>
                <p:cNvPr id="45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31" name="Group 32"/>
              <p:cNvGrpSpPr>
                <a:grpSpLocks/>
              </p:cNvGrpSpPr>
              <p:nvPr/>
            </p:nvGrpSpPr>
            <p:grpSpPr bwMode="auto">
              <a:xfrm>
                <a:off x="9831093" y="4315632"/>
                <a:ext cx="508796" cy="156508"/>
                <a:chOff x="1313" y="2496"/>
                <a:chExt cx="1252" cy="427"/>
              </a:xfrm>
            </p:grpSpPr>
            <p:sp>
              <p:nvSpPr>
                <p:cNvPr id="45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32" name="Group 32"/>
              <p:cNvGrpSpPr>
                <a:grpSpLocks/>
              </p:cNvGrpSpPr>
              <p:nvPr/>
            </p:nvGrpSpPr>
            <p:grpSpPr bwMode="auto">
              <a:xfrm>
                <a:off x="9831093" y="3462800"/>
                <a:ext cx="508796" cy="156508"/>
                <a:chOff x="1313" y="2496"/>
                <a:chExt cx="1252" cy="427"/>
              </a:xfrm>
            </p:grpSpPr>
            <p:sp>
              <p:nvSpPr>
                <p:cNvPr id="45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8733" name="Group 32"/>
              <p:cNvGrpSpPr>
                <a:grpSpLocks/>
              </p:cNvGrpSpPr>
              <p:nvPr/>
            </p:nvGrpSpPr>
            <p:grpSpPr bwMode="auto">
              <a:xfrm>
                <a:off x="9831093" y="3747078"/>
                <a:ext cx="508796" cy="156508"/>
                <a:chOff x="1313" y="2496"/>
                <a:chExt cx="1252" cy="427"/>
              </a:xfrm>
            </p:grpSpPr>
            <p:sp>
              <p:nvSpPr>
                <p:cNvPr id="44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4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5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28734" name="Group 502"/>
            <p:cNvGrpSpPr/>
            <p:nvPr/>
          </p:nvGrpSpPr>
          <p:grpSpPr>
            <a:xfrm>
              <a:off x="10380899" y="2325688"/>
              <a:ext cx="508796" cy="1009342"/>
              <a:chOff x="11212149" y="2407531"/>
              <a:chExt cx="508796" cy="1009342"/>
            </a:xfrm>
          </p:grpSpPr>
          <p:grpSp>
            <p:nvGrpSpPr>
              <p:cNvPr id="28735" name="Group 32"/>
              <p:cNvGrpSpPr>
                <a:grpSpLocks/>
              </p:cNvGrpSpPr>
              <p:nvPr/>
            </p:nvGrpSpPr>
            <p:grpSpPr bwMode="auto">
              <a:xfrm>
                <a:off x="11212149" y="2976087"/>
                <a:ext cx="508796" cy="156508"/>
                <a:chOff x="1313" y="2496"/>
                <a:chExt cx="1252" cy="427"/>
              </a:xfrm>
            </p:grpSpPr>
            <p:sp>
              <p:nvSpPr>
                <p:cNvPr id="46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6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2" name="Group 32"/>
              <p:cNvGrpSpPr>
                <a:grpSpLocks/>
              </p:cNvGrpSpPr>
              <p:nvPr/>
            </p:nvGrpSpPr>
            <p:grpSpPr bwMode="auto">
              <a:xfrm>
                <a:off x="11212149" y="3260365"/>
                <a:ext cx="508796" cy="156508"/>
                <a:chOff x="1313" y="2496"/>
                <a:chExt cx="1252" cy="427"/>
              </a:xfrm>
            </p:grpSpPr>
            <p:sp>
              <p:nvSpPr>
                <p:cNvPr id="46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3" name="Group 32"/>
              <p:cNvGrpSpPr>
                <a:grpSpLocks/>
              </p:cNvGrpSpPr>
              <p:nvPr/>
            </p:nvGrpSpPr>
            <p:grpSpPr bwMode="auto">
              <a:xfrm>
                <a:off x="11212149" y="2407531"/>
                <a:ext cx="508796" cy="156508"/>
                <a:chOff x="1313" y="2496"/>
                <a:chExt cx="1252" cy="427"/>
              </a:xfrm>
            </p:grpSpPr>
            <p:sp>
              <p:nvSpPr>
                <p:cNvPr id="47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7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34" name="Group 32"/>
              <p:cNvGrpSpPr>
                <a:grpSpLocks/>
              </p:cNvGrpSpPr>
              <p:nvPr/>
            </p:nvGrpSpPr>
            <p:grpSpPr bwMode="auto">
              <a:xfrm>
                <a:off x="11212149" y="2691809"/>
                <a:ext cx="508796" cy="156508"/>
                <a:chOff x="1313" y="2496"/>
                <a:chExt cx="1252" cy="427"/>
              </a:xfrm>
            </p:grpSpPr>
            <p:sp>
              <p:nvSpPr>
                <p:cNvPr id="47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48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sp>
        <p:nvSpPr>
          <p:cNvPr id="304" name="Text Box 24"/>
          <p:cNvSpPr txBox="1">
            <a:spLocks noChangeArrowheads="1"/>
          </p:cNvSpPr>
          <p:nvPr/>
        </p:nvSpPr>
        <p:spPr bwMode="auto">
          <a:xfrm>
            <a:off x="1217613" y="4730750"/>
            <a:ext cx="6076950" cy="954088"/>
          </a:xfrm>
          <a:prstGeom prst="rect">
            <a:avLst/>
          </a:prstGeom>
          <a:noFill/>
          <a:ln w="9525" algn="ctr">
            <a:noFill/>
            <a:miter lim="800000"/>
            <a:headEnd/>
            <a:tailEnd/>
          </a:ln>
        </p:spPr>
        <p:txBody>
          <a:bodyPr>
            <a:spAutoFit/>
          </a:bodyPr>
          <a:lstStyle/>
          <a:p>
            <a:pPr algn="ctr">
              <a:spcBef>
                <a:spcPct val="0"/>
              </a:spcBef>
            </a:pPr>
            <a:r>
              <a:rPr lang="en-US" sz="2800" b="0" dirty="0">
                <a:solidFill>
                  <a:srgbClr val="FF0000"/>
                </a:solidFill>
                <a:latin typeface="Arial" pitchFamily="34" charset="0"/>
                <a:cs typeface="Arial" pitchFamily="34" charset="0"/>
              </a:rPr>
              <a:t>Top step sequence has at most one extra on last wire of step</a:t>
            </a:r>
          </a:p>
        </p:txBody>
      </p:sp>
      <p:sp>
        <p:nvSpPr>
          <p:cNvPr id="308" name="Rectangle 3"/>
          <p:cNvSpPr>
            <a:spLocks noChangeArrowheads="1"/>
          </p:cNvSpPr>
          <p:nvPr/>
        </p:nvSpPr>
        <p:spPr bwMode="auto">
          <a:xfrm>
            <a:off x="1173313" y="5594350"/>
            <a:ext cx="6797374" cy="459100"/>
          </a:xfrm>
          <a:prstGeom prst="rect">
            <a:avLst/>
          </a:prstGeom>
          <a:noFill/>
          <a:ln w="25400">
            <a:noFill/>
            <a:miter lim="800000"/>
            <a:headEnd/>
            <a:tailEnd/>
          </a:ln>
          <a:effectLst/>
        </p:spPr>
        <p:txBody>
          <a:bodyPr wrap="none" lIns="88900" tIns="44450" rIns="88900" bIns="44450">
            <a:spAutoFit/>
          </a:bodyPr>
          <a:lstStyle/>
          <a:p>
            <a:pPr defTabSz="858838">
              <a:defRPr/>
            </a:pPr>
            <a:r>
              <a:rPr lang="en-US" dirty="0">
                <a:latin typeface="Arial" pitchFamily="34" charset="0"/>
                <a:cs typeface="Arial" pitchFamily="34" charset="0"/>
              </a:rPr>
              <a:t>Tree[2k] has step property in quiescent state.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 grpId="0" animBg="1"/>
      <p:bldP spid="307" grpId="0" animBg="1"/>
      <p:bldP spid="304" grpId="0"/>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584200" y="282575"/>
            <a:ext cx="8353425" cy="1143000"/>
          </a:xfrm>
          <a:prstGeom prst="rect">
            <a:avLst/>
          </a:prstGeom>
          <a:noFill/>
          <a:ln w="12700">
            <a:noFill/>
            <a:miter lim="800000"/>
            <a:headEnd/>
            <a:tailEnd/>
          </a:ln>
          <a:effectLst/>
        </p:spPr>
        <p:txBody>
          <a:bodyPr lIns="57150" tIns="46038" rIns="57150" bIns="46038" anchor="ctr"/>
          <a:lstStyle/>
          <a:p>
            <a:pPr algn="ctr">
              <a:defRPr/>
            </a:pPr>
            <a:r>
              <a:rPr lang="en-US" sz="4400" b="0" dirty="0">
                <a:solidFill>
                  <a:schemeClr val="tx2"/>
                </a:solidFill>
                <a:latin typeface="Arial" pitchFamily="34" charset="0"/>
                <a:cs typeface="Arial" pitchFamily="34" charset="0"/>
              </a:rPr>
              <a:t>Implementing Counting Trees </a:t>
            </a:r>
          </a:p>
        </p:txBody>
      </p:sp>
      <p:sp>
        <p:nvSpPr>
          <p:cNvPr id="25645" name="Line 45"/>
          <p:cNvSpPr>
            <a:spLocks noChangeShapeType="1"/>
          </p:cNvSpPr>
          <p:nvPr/>
        </p:nvSpPr>
        <p:spPr bwMode="auto">
          <a:xfrm>
            <a:off x="3343275" y="3338513"/>
            <a:ext cx="223838" cy="1587"/>
          </a:xfrm>
          <a:prstGeom prst="line">
            <a:avLst/>
          </a:prstGeom>
          <a:noFill/>
          <a:ln w="25400">
            <a:solidFill>
              <a:schemeClr val="tx2"/>
            </a:solidFill>
            <a:round/>
            <a:headEnd/>
            <a:tailEnd/>
          </a:ln>
          <a:effectLst/>
        </p:spPr>
        <p:txBody>
          <a:bodyPr wrap="none" anchor="ctr"/>
          <a:lstStyle/>
          <a:p>
            <a:pPr>
              <a:defRPr/>
            </a:pPr>
            <a:endParaRPr lang="en-US" sz="2000">
              <a:latin typeface="Arial" pitchFamily="34" charset="0"/>
              <a:cs typeface="Arial" pitchFamily="34" charset="0"/>
            </a:endParaRPr>
          </a:p>
        </p:txBody>
      </p:sp>
      <p:sp>
        <p:nvSpPr>
          <p:cNvPr id="25649" name="Freeform 49"/>
          <p:cNvSpPr>
            <a:spLocks/>
          </p:cNvSpPr>
          <p:nvPr/>
        </p:nvSpPr>
        <p:spPr bwMode="auto">
          <a:xfrm>
            <a:off x="3897313" y="2881313"/>
            <a:ext cx="566737" cy="320675"/>
          </a:xfrm>
          <a:custGeom>
            <a:avLst/>
            <a:gdLst/>
            <a:ahLst/>
            <a:cxnLst>
              <a:cxn ang="0">
                <a:pos x="0" y="138"/>
              </a:cxn>
              <a:cxn ang="0">
                <a:pos x="99" y="138"/>
              </a:cxn>
              <a:cxn ang="0">
                <a:pos x="99" y="0"/>
              </a:cxn>
              <a:cxn ang="0">
                <a:pos x="255" y="0"/>
              </a:cxn>
              <a:cxn ang="0">
                <a:pos x="255" y="0"/>
              </a:cxn>
            </a:cxnLst>
            <a:rect l="0" t="0" r="r" b="b"/>
            <a:pathLst>
              <a:path w="256" h="139">
                <a:moveTo>
                  <a:pt x="0" y="138"/>
                </a:moveTo>
                <a:lnTo>
                  <a:pt x="99" y="138"/>
                </a:lnTo>
                <a:lnTo>
                  <a:pt x="99" y="0"/>
                </a:lnTo>
                <a:lnTo>
                  <a:pt x="255" y="0"/>
                </a:lnTo>
                <a:lnTo>
                  <a:pt x="255"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0" name="Freeform 50"/>
          <p:cNvSpPr>
            <a:spLocks/>
          </p:cNvSpPr>
          <p:nvPr/>
        </p:nvSpPr>
        <p:spPr bwMode="auto">
          <a:xfrm>
            <a:off x="4794250" y="2152650"/>
            <a:ext cx="503238" cy="609600"/>
          </a:xfrm>
          <a:custGeom>
            <a:avLst/>
            <a:gdLst/>
            <a:ahLst/>
            <a:cxnLst>
              <a:cxn ang="0">
                <a:pos x="0" y="264"/>
              </a:cxn>
              <a:cxn ang="0">
                <a:pos x="87" y="264"/>
              </a:cxn>
              <a:cxn ang="0">
                <a:pos x="87" y="0"/>
              </a:cxn>
              <a:cxn ang="0">
                <a:pos x="226" y="0"/>
              </a:cxn>
              <a:cxn ang="0">
                <a:pos x="226" y="0"/>
              </a:cxn>
            </a:cxnLst>
            <a:rect l="0" t="0" r="r" b="b"/>
            <a:pathLst>
              <a:path w="227" h="265">
                <a:moveTo>
                  <a:pt x="0" y="264"/>
                </a:moveTo>
                <a:lnTo>
                  <a:pt x="87" y="264"/>
                </a:lnTo>
                <a:lnTo>
                  <a:pt x="87" y="0"/>
                </a:lnTo>
                <a:lnTo>
                  <a:pt x="226" y="0"/>
                </a:lnTo>
                <a:lnTo>
                  <a:pt x="226"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1" name="Freeform 51"/>
          <p:cNvSpPr>
            <a:spLocks/>
          </p:cNvSpPr>
          <p:nvPr/>
        </p:nvSpPr>
        <p:spPr bwMode="auto">
          <a:xfrm>
            <a:off x="3897313" y="3503613"/>
            <a:ext cx="503237" cy="307975"/>
          </a:xfrm>
          <a:custGeom>
            <a:avLst/>
            <a:gdLst/>
            <a:ahLst/>
            <a:cxnLst>
              <a:cxn ang="0">
                <a:pos x="0" y="0"/>
              </a:cxn>
              <a:cxn ang="0">
                <a:pos x="87" y="0"/>
              </a:cxn>
              <a:cxn ang="0">
                <a:pos x="87" y="134"/>
              </a:cxn>
              <a:cxn ang="0">
                <a:pos x="226" y="134"/>
              </a:cxn>
              <a:cxn ang="0">
                <a:pos x="226" y="134"/>
              </a:cxn>
            </a:cxnLst>
            <a:rect l="0" t="0" r="r" b="b"/>
            <a:pathLst>
              <a:path w="227" h="135">
                <a:moveTo>
                  <a:pt x="0" y="0"/>
                </a:moveTo>
                <a:lnTo>
                  <a:pt x="87" y="0"/>
                </a:lnTo>
                <a:lnTo>
                  <a:pt x="87" y="134"/>
                </a:lnTo>
                <a:lnTo>
                  <a:pt x="226" y="134"/>
                </a:lnTo>
                <a:lnTo>
                  <a:pt x="226" y="134"/>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2" name="Line 52"/>
          <p:cNvSpPr>
            <a:spLocks noChangeShapeType="1"/>
          </p:cNvSpPr>
          <p:nvPr/>
        </p:nvSpPr>
        <p:spPr bwMode="auto">
          <a:xfrm flipV="1">
            <a:off x="5659438" y="1979613"/>
            <a:ext cx="668337" cy="39687"/>
          </a:xfrm>
          <a:prstGeom prst="line">
            <a:avLst/>
          </a:prstGeom>
          <a:noFill/>
          <a:ln w="25400">
            <a:solidFill>
              <a:schemeClr val="tx2"/>
            </a:solidFill>
            <a:round/>
            <a:headEnd/>
            <a:tailEnd type="triangle" w="med" len="med"/>
          </a:ln>
          <a:effectLst/>
        </p:spPr>
        <p:txBody>
          <a:bodyPr wrap="none" anchor="ctr"/>
          <a:lstStyle/>
          <a:p>
            <a:pPr>
              <a:defRPr/>
            </a:pPr>
            <a:endParaRPr lang="en-US" sz="2000">
              <a:latin typeface="Arial" pitchFamily="34" charset="0"/>
              <a:cs typeface="Arial" pitchFamily="34" charset="0"/>
            </a:endParaRPr>
          </a:p>
        </p:txBody>
      </p:sp>
      <p:sp>
        <p:nvSpPr>
          <p:cNvPr id="25653" name="Freeform 53"/>
          <p:cNvSpPr>
            <a:spLocks/>
          </p:cNvSpPr>
          <p:nvPr/>
        </p:nvSpPr>
        <p:spPr bwMode="auto">
          <a:xfrm>
            <a:off x="4756150" y="3952875"/>
            <a:ext cx="555625" cy="700088"/>
          </a:xfrm>
          <a:custGeom>
            <a:avLst/>
            <a:gdLst/>
            <a:ahLst/>
            <a:cxnLst>
              <a:cxn ang="0">
                <a:pos x="0" y="0"/>
              </a:cxn>
              <a:cxn ang="0">
                <a:pos x="96" y="0"/>
              </a:cxn>
              <a:cxn ang="0">
                <a:pos x="96" y="304"/>
              </a:cxn>
              <a:cxn ang="0">
                <a:pos x="249" y="304"/>
              </a:cxn>
              <a:cxn ang="0">
                <a:pos x="249" y="304"/>
              </a:cxn>
            </a:cxnLst>
            <a:rect l="0" t="0" r="r" b="b"/>
            <a:pathLst>
              <a:path w="250" h="305">
                <a:moveTo>
                  <a:pt x="0" y="0"/>
                </a:moveTo>
                <a:lnTo>
                  <a:pt x="96" y="0"/>
                </a:lnTo>
                <a:lnTo>
                  <a:pt x="96" y="304"/>
                </a:lnTo>
                <a:lnTo>
                  <a:pt x="249" y="304"/>
                </a:lnTo>
                <a:lnTo>
                  <a:pt x="249" y="304"/>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4" name="Freeform 54"/>
          <p:cNvSpPr>
            <a:spLocks/>
          </p:cNvSpPr>
          <p:nvPr/>
        </p:nvSpPr>
        <p:spPr bwMode="auto">
          <a:xfrm>
            <a:off x="4741863" y="3735388"/>
            <a:ext cx="569912" cy="85725"/>
          </a:xfrm>
          <a:custGeom>
            <a:avLst/>
            <a:gdLst/>
            <a:ahLst/>
            <a:cxnLst>
              <a:cxn ang="0">
                <a:pos x="0" y="0"/>
              </a:cxn>
              <a:cxn ang="0">
                <a:pos x="99" y="0"/>
              </a:cxn>
              <a:cxn ang="0">
                <a:pos x="99" y="37"/>
              </a:cxn>
              <a:cxn ang="0">
                <a:pos x="256" y="37"/>
              </a:cxn>
              <a:cxn ang="0">
                <a:pos x="256" y="37"/>
              </a:cxn>
            </a:cxnLst>
            <a:rect l="0" t="0" r="r" b="b"/>
            <a:pathLst>
              <a:path w="257" h="38">
                <a:moveTo>
                  <a:pt x="0" y="0"/>
                </a:moveTo>
                <a:lnTo>
                  <a:pt x="99" y="0"/>
                </a:lnTo>
                <a:lnTo>
                  <a:pt x="99" y="37"/>
                </a:lnTo>
                <a:lnTo>
                  <a:pt x="256" y="37"/>
                </a:lnTo>
                <a:lnTo>
                  <a:pt x="256" y="37"/>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5" name="Freeform 55"/>
          <p:cNvSpPr>
            <a:spLocks/>
          </p:cNvSpPr>
          <p:nvPr/>
        </p:nvSpPr>
        <p:spPr bwMode="auto">
          <a:xfrm>
            <a:off x="4783138" y="2943225"/>
            <a:ext cx="565150" cy="84138"/>
          </a:xfrm>
          <a:custGeom>
            <a:avLst/>
            <a:gdLst/>
            <a:ahLst/>
            <a:cxnLst>
              <a:cxn ang="0">
                <a:pos x="0" y="37"/>
              </a:cxn>
              <a:cxn ang="0">
                <a:pos x="98" y="37"/>
              </a:cxn>
              <a:cxn ang="0">
                <a:pos x="98" y="0"/>
              </a:cxn>
              <a:cxn ang="0">
                <a:pos x="254" y="0"/>
              </a:cxn>
              <a:cxn ang="0">
                <a:pos x="254" y="0"/>
              </a:cxn>
            </a:cxnLst>
            <a:rect l="0" t="0" r="r" b="b"/>
            <a:pathLst>
              <a:path w="255" h="38">
                <a:moveTo>
                  <a:pt x="0" y="37"/>
                </a:moveTo>
                <a:lnTo>
                  <a:pt x="98" y="37"/>
                </a:lnTo>
                <a:lnTo>
                  <a:pt x="98" y="0"/>
                </a:lnTo>
                <a:lnTo>
                  <a:pt x="254" y="0"/>
                </a:lnTo>
                <a:lnTo>
                  <a:pt x="254"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70" name="Freeform 70"/>
          <p:cNvSpPr>
            <a:spLocks/>
          </p:cNvSpPr>
          <p:nvPr/>
        </p:nvSpPr>
        <p:spPr bwMode="auto">
          <a:xfrm>
            <a:off x="5653088" y="2297113"/>
            <a:ext cx="688975" cy="1428750"/>
          </a:xfrm>
          <a:custGeom>
            <a:avLst/>
            <a:gdLst/>
            <a:ahLst/>
            <a:cxnLst>
              <a:cxn ang="0">
                <a:pos x="0" y="0"/>
              </a:cxn>
              <a:cxn ang="0">
                <a:pos x="120" y="0"/>
              </a:cxn>
              <a:cxn ang="0">
                <a:pos x="201" y="621"/>
              </a:cxn>
              <a:cxn ang="0">
                <a:pos x="310" y="621"/>
              </a:cxn>
              <a:cxn ang="0">
                <a:pos x="310" y="621"/>
              </a:cxn>
            </a:cxnLst>
            <a:rect l="0" t="0" r="r" b="b"/>
            <a:pathLst>
              <a:path w="311" h="622">
                <a:moveTo>
                  <a:pt x="0" y="0"/>
                </a:moveTo>
                <a:lnTo>
                  <a:pt x="120" y="0"/>
                </a:lnTo>
                <a:lnTo>
                  <a:pt x="201" y="621"/>
                </a:lnTo>
                <a:lnTo>
                  <a:pt x="310" y="621"/>
                </a:lnTo>
                <a:lnTo>
                  <a:pt x="310" y="621"/>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a:latin typeface="Arial" pitchFamily="34" charset="0"/>
              <a:cs typeface="Arial" pitchFamily="34" charset="0"/>
            </a:endParaRPr>
          </a:p>
        </p:txBody>
      </p:sp>
      <p:sp>
        <p:nvSpPr>
          <p:cNvPr id="25671" name="Line 71"/>
          <p:cNvSpPr>
            <a:spLocks noChangeShapeType="1"/>
          </p:cNvSpPr>
          <p:nvPr/>
        </p:nvSpPr>
        <p:spPr bwMode="auto">
          <a:xfrm>
            <a:off x="5659438" y="2805113"/>
            <a:ext cx="674687" cy="4762"/>
          </a:xfrm>
          <a:prstGeom prst="line">
            <a:avLst/>
          </a:prstGeom>
          <a:noFill/>
          <a:ln w="25400">
            <a:solidFill>
              <a:schemeClr val="tx2"/>
            </a:solidFill>
            <a:round/>
            <a:headEnd/>
            <a:tailEnd type="triangle" w="med" len="med"/>
          </a:ln>
          <a:effectLst/>
        </p:spPr>
        <p:txBody>
          <a:bodyPr wrap="none" anchor="ctr"/>
          <a:lstStyle/>
          <a:p>
            <a:pPr>
              <a:defRPr/>
            </a:pPr>
            <a:endParaRPr lang="en-US" sz="2000">
              <a:latin typeface="Arial" pitchFamily="34" charset="0"/>
              <a:cs typeface="Arial" pitchFamily="34" charset="0"/>
            </a:endParaRPr>
          </a:p>
        </p:txBody>
      </p:sp>
      <p:sp>
        <p:nvSpPr>
          <p:cNvPr id="25672" name="Freeform 72"/>
          <p:cNvSpPr>
            <a:spLocks/>
          </p:cNvSpPr>
          <p:nvPr/>
        </p:nvSpPr>
        <p:spPr bwMode="auto">
          <a:xfrm>
            <a:off x="5653088" y="3076575"/>
            <a:ext cx="696912" cy="1497013"/>
          </a:xfrm>
          <a:custGeom>
            <a:avLst/>
            <a:gdLst/>
            <a:ahLst/>
            <a:cxnLst>
              <a:cxn ang="0">
                <a:pos x="0" y="0"/>
              </a:cxn>
              <a:cxn ang="0">
                <a:pos x="60" y="0"/>
              </a:cxn>
              <a:cxn ang="0">
                <a:pos x="209" y="651"/>
              </a:cxn>
              <a:cxn ang="0">
                <a:pos x="313" y="651"/>
              </a:cxn>
              <a:cxn ang="0">
                <a:pos x="313" y="651"/>
              </a:cxn>
            </a:cxnLst>
            <a:rect l="0" t="0" r="r" b="b"/>
            <a:pathLst>
              <a:path w="314" h="652">
                <a:moveTo>
                  <a:pt x="0" y="0"/>
                </a:moveTo>
                <a:lnTo>
                  <a:pt x="60" y="0"/>
                </a:lnTo>
                <a:lnTo>
                  <a:pt x="209" y="651"/>
                </a:lnTo>
                <a:lnTo>
                  <a:pt x="313" y="651"/>
                </a:lnTo>
                <a:lnTo>
                  <a:pt x="313" y="651"/>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a:latin typeface="Arial" pitchFamily="34" charset="0"/>
              <a:cs typeface="Arial" pitchFamily="34" charset="0"/>
            </a:endParaRPr>
          </a:p>
        </p:txBody>
      </p:sp>
      <p:sp>
        <p:nvSpPr>
          <p:cNvPr id="25673" name="Line 73"/>
          <p:cNvSpPr>
            <a:spLocks noChangeShapeType="1"/>
          </p:cNvSpPr>
          <p:nvPr/>
        </p:nvSpPr>
        <p:spPr bwMode="auto">
          <a:xfrm flipV="1">
            <a:off x="5659438" y="4754563"/>
            <a:ext cx="657225" cy="46037"/>
          </a:xfrm>
          <a:prstGeom prst="line">
            <a:avLst/>
          </a:prstGeom>
          <a:noFill/>
          <a:ln w="25400">
            <a:solidFill>
              <a:schemeClr val="tx2"/>
            </a:solidFill>
            <a:round/>
            <a:headEnd/>
            <a:tailEnd type="triangle" w="med" len="med"/>
          </a:ln>
          <a:effectLst/>
        </p:spPr>
        <p:txBody>
          <a:bodyPr wrap="none" anchor="ctr"/>
          <a:lstStyle/>
          <a:p>
            <a:pPr>
              <a:defRPr/>
            </a:pPr>
            <a:endParaRPr lang="en-US" sz="2000">
              <a:latin typeface="Arial" pitchFamily="34" charset="0"/>
              <a:cs typeface="Arial" pitchFamily="34" charset="0"/>
            </a:endParaRPr>
          </a:p>
        </p:txBody>
      </p:sp>
      <p:sp>
        <p:nvSpPr>
          <p:cNvPr id="25674" name="Line 74"/>
          <p:cNvSpPr>
            <a:spLocks noChangeShapeType="1"/>
          </p:cNvSpPr>
          <p:nvPr/>
        </p:nvSpPr>
        <p:spPr bwMode="auto">
          <a:xfrm>
            <a:off x="5672138" y="3940175"/>
            <a:ext cx="671512" cy="3175"/>
          </a:xfrm>
          <a:prstGeom prst="line">
            <a:avLst/>
          </a:prstGeom>
          <a:noFill/>
          <a:ln w="25400">
            <a:solidFill>
              <a:schemeClr val="tx2"/>
            </a:solidFill>
            <a:round/>
            <a:headEnd/>
            <a:tailEnd type="triangle" w="med" len="med"/>
          </a:ln>
          <a:effectLst/>
        </p:spPr>
        <p:txBody>
          <a:bodyPr wrap="none" anchor="ctr"/>
          <a:lstStyle/>
          <a:p>
            <a:pPr>
              <a:defRPr/>
            </a:pPr>
            <a:endParaRPr lang="en-US" sz="2000">
              <a:latin typeface="Arial" pitchFamily="34" charset="0"/>
              <a:cs typeface="Arial" pitchFamily="34" charset="0"/>
            </a:endParaRPr>
          </a:p>
        </p:txBody>
      </p:sp>
      <p:sp>
        <p:nvSpPr>
          <p:cNvPr id="25675" name="Freeform 75"/>
          <p:cNvSpPr>
            <a:spLocks/>
          </p:cNvSpPr>
          <p:nvPr/>
        </p:nvSpPr>
        <p:spPr bwMode="auto">
          <a:xfrm>
            <a:off x="5653088" y="3094038"/>
            <a:ext cx="682625" cy="1447800"/>
          </a:xfrm>
          <a:custGeom>
            <a:avLst/>
            <a:gdLst/>
            <a:ahLst/>
            <a:cxnLst>
              <a:cxn ang="0">
                <a:pos x="0" y="631"/>
              </a:cxn>
              <a:cxn ang="0">
                <a:pos x="59" y="631"/>
              </a:cxn>
              <a:cxn ang="0">
                <a:pos x="205" y="0"/>
              </a:cxn>
              <a:cxn ang="0">
                <a:pos x="307" y="0"/>
              </a:cxn>
              <a:cxn ang="0">
                <a:pos x="307" y="0"/>
              </a:cxn>
            </a:cxnLst>
            <a:rect l="0" t="0" r="r" b="b"/>
            <a:pathLst>
              <a:path w="308" h="632">
                <a:moveTo>
                  <a:pt x="0" y="631"/>
                </a:moveTo>
                <a:lnTo>
                  <a:pt x="59" y="631"/>
                </a:lnTo>
                <a:lnTo>
                  <a:pt x="205" y="0"/>
                </a:lnTo>
                <a:lnTo>
                  <a:pt x="307" y="0"/>
                </a:lnTo>
                <a:lnTo>
                  <a:pt x="307" y="0"/>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a:latin typeface="Arial" pitchFamily="34" charset="0"/>
              <a:cs typeface="Arial" pitchFamily="34" charset="0"/>
            </a:endParaRPr>
          </a:p>
        </p:txBody>
      </p:sp>
      <p:sp>
        <p:nvSpPr>
          <p:cNvPr id="25676" name="Freeform 76"/>
          <p:cNvSpPr>
            <a:spLocks/>
          </p:cNvSpPr>
          <p:nvPr/>
        </p:nvSpPr>
        <p:spPr bwMode="auto">
          <a:xfrm>
            <a:off x="5653088" y="2303463"/>
            <a:ext cx="688975" cy="1411287"/>
          </a:xfrm>
          <a:custGeom>
            <a:avLst/>
            <a:gdLst/>
            <a:ahLst/>
            <a:cxnLst>
              <a:cxn ang="0">
                <a:pos x="0" y="614"/>
              </a:cxn>
              <a:cxn ang="0">
                <a:pos x="60" y="614"/>
              </a:cxn>
              <a:cxn ang="0">
                <a:pos x="207" y="0"/>
              </a:cxn>
              <a:cxn ang="0">
                <a:pos x="310" y="0"/>
              </a:cxn>
              <a:cxn ang="0">
                <a:pos x="310" y="0"/>
              </a:cxn>
            </a:cxnLst>
            <a:rect l="0" t="0" r="r" b="b"/>
            <a:pathLst>
              <a:path w="311" h="615">
                <a:moveTo>
                  <a:pt x="0" y="614"/>
                </a:moveTo>
                <a:lnTo>
                  <a:pt x="60" y="614"/>
                </a:lnTo>
                <a:lnTo>
                  <a:pt x="207" y="0"/>
                </a:lnTo>
                <a:lnTo>
                  <a:pt x="310" y="0"/>
                </a:lnTo>
                <a:lnTo>
                  <a:pt x="310" y="0"/>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a:latin typeface="Arial" pitchFamily="34" charset="0"/>
              <a:cs typeface="Arial" pitchFamily="34" charset="0"/>
            </a:endParaRPr>
          </a:p>
        </p:txBody>
      </p:sp>
      <p:grpSp>
        <p:nvGrpSpPr>
          <p:cNvPr id="2" name="Group 63"/>
          <p:cNvGrpSpPr>
            <a:grpSpLocks/>
          </p:cNvGrpSpPr>
          <p:nvPr/>
        </p:nvGrpSpPr>
        <p:grpSpPr bwMode="auto">
          <a:xfrm>
            <a:off x="5334000" y="1870075"/>
            <a:ext cx="304800" cy="3024188"/>
            <a:chOff x="5272026" y="1808142"/>
            <a:chExt cx="304800" cy="3429000"/>
          </a:xfrm>
        </p:grpSpPr>
        <p:sp>
          <p:nvSpPr>
            <p:cNvPr id="241754" name="AutoShape 12"/>
            <p:cNvSpPr>
              <a:spLocks noChangeArrowheads="1"/>
            </p:cNvSpPr>
            <p:nvPr/>
          </p:nvSpPr>
          <p:spPr bwMode="auto">
            <a:xfrm>
              <a:off x="5272026" y="18081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1755" name="AutoShape 13"/>
            <p:cNvSpPr>
              <a:spLocks noChangeArrowheads="1"/>
            </p:cNvSpPr>
            <p:nvPr/>
          </p:nvSpPr>
          <p:spPr bwMode="auto">
            <a:xfrm>
              <a:off x="5272026" y="27479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1756" name="AutoShape 14"/>
            <p:cNvSpPr>
              <a:spLocks noChangeArrowheads="1"/>
            </p:cNvSpPr>
            <p:nvPr/>
          </p:nvSpPr>
          <p:spPr bwMode="auto">
            <a:xfrm>
              <a:off x="5272026" y="36877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1757" name="AutoShape 15"/>
            <p:cNvSpPr>
              <a:spLocks noChangeArrowheads="1"/>
            </p:cNvSpPr>
            <p:nvPr/>
          </p:nvSpPr>
          <p:spPr bwMode="auto">
            <a:xfrm>
              <a:off x="5272026" y="45513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6" name="AutoShape 12"/>
          <p:cNvSpPr>
            <a:spLocks noChangeArrowheads="1"/>
          </p:cNvSpPr>
          <p:nvPr/>
        </p:nvSpPr>
        <p:spPr bwMode="auto">
          <a:xfrm>
            <a:off x="4451350" y="2649538"/>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 name="AutoShape 13"/>
          <p:cNvSpPr>
            <a:spLocks noChangeArrowheads="1"/>
          </p:cNvSpPr>
          <p:nvPr/>
        </p:nvSpPr>
        <p:spPr bwMode="auto">
          <a:xfrm>
            <a:off x="4451350" y="347821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8" name="AutoShape 14"/>
          <p:cNvSpPr>
            <a:spLocks noChangeArrowheads="1"/>
          </p:cNvSpPr>
          <p:nvPr/>
        </p:nvSpPr>
        <p:spPr bwMode="auto">
          <a:xfrm>
            <a:off x="3567113" y="302736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171" name="Group 170"/>
          <p:cNvGrpSpPr/>
          <p:nvPr/>
        </p:nvGrpSpPr>
        <p:grpSpPr>
          <a:xfrm>
            <a:off x="1096584" y="2683736"/>
            <a:ext cx="2129177" cy="1239075"/>
            <a:chOff x="406244" y="2747963"/>
            <a:chExt cx="2129177" cy="1239075"/>
          </a:xfrm>
        </p:grpSpPr>
        <p:grpSp>
          <p:nvGrpSpPr>
            <p:cNvPr id="111" name="Group 32"/>
            <p:cNvGrpSpPr>
              <a:grpSpLocks/>
            </p:cNvGrpSpPr>
            <p:nvPr/>
          </p:nvGrpSpPr>
          <p:grpSpPr bwMode="auto">
            <a:xfrm>
              <a:off x="905936" y="3378045"/>
              <a:ext cx="583596" cy="179517"/>
              <a:chOff x="1313" y="2496"/>
              <a:chExt cx="1252" cy="427"/>
            </a:xfrm>
          </p:grpSpPr>
          <p:sp>
            <p:nvSpPr>
              <p:cNvPr id="16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2" name="Group 32"/>
            <p:cNvGrpSpPr>
              <a:grpSpLocks/>
            </p:cNvGrpSpPr>
            <p:nvPr/>
          </p:nvGrpSpPr>
          <p:grpSpPr bwMode="auto">
            <a:xfrm>
              <a:off x="1818456" y="3807521"/>
              <a:ext cx="583596" cy="179517"/>
              <a:chOff x="1313" y="2496"/>
              <a:chExt cx="1252" cy="427"/>
            </a:xfrm>
          </p:grpSpPr>
          <p:sp>
            <p:nvSpPr>
              <p:cNvPr id="16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3" name="Group 32"/>
            <p:cNvGrpSpPr>
              <a:grpSpLocks/>
            </p:cNvGrpSpPr>
            <p:nvPr/>
          </p:nvGrpSpPr>
          <p:grpSpPr bwMode="auto">
            <a:xfrm>
              <a:off x="1159456" y="3766394"/>
              <a:ext cx="583596" cy="179517"/>
              <a:chOff x="1313" y="2496"/>
              <a:chExt cx="1252" cy="427"/>
            </a:xfrm>
          </p:grpSpPr>
          <p:sp>
            <p:nvSpPr>
              <p:cNvPr id="15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4" name="Group 32"/>
            <p:cNvGrpSpPr>
              <a:grpSpLocks/>
            </p:cNvGrpSpPr>
            <p:nvPr/>
          </p:nvGrpSpPr>
          <p:grpSpPr bwMode="auto">
            <a:xfrm>
              <a:off x="616935" y="3737175"/>
              <a:ext cx="583596" cy="179517"/>
              <a:chOff x="1313" y="2496"/>
              <a:chExt cx="1252" cy="427"/>
            </a:xfrm>
          </p:grpSpPr>
          <p:sp>
            <p:nvSpPr>
              <p:cNvPr id="15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5" name="Group 32"/>
            <p:cNvGrpSpPr>
              <a:grpSpLocks/>
            </p:cNvGrpSpPr>
            <p:nvPr/>
          </p:nvGrpSpPr>
          <p:grpSpPr bwMode="auto">
            <a:xfrm>
              <a:off x="1401790" y="3513933"/>
              <a:ext cx="583596" cy="179517"/>
              <a:chOff x="1313" y="2496"/>
              <a:chExt cx="1252" cy="427"/>
            </a:xfrm>
          </p:grpSpPr>
          <p:sp>
            <p:nvSpPr>
              <p:cNvPr id="15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6" name="Group 32"/>
            <p:cNvGrpSpPr>
              <a:grpSpLocks/>
            </p:cNvGrpSpPr>
            <p:nvPr/>
          </p:nvGrpSpPr>
          <p:grpSpPr bwMode="auto">
            <a:xfrm>
              <a:off x="1058306" y="3038180"/>
              <a:ext cx="583596" cy="179517"/>
              <a:chOff x="1313" y="2496"/>
              <a:chExt cx="1252" cy="427"/>
            </a:xfrm>
          </p:grpSpPr>
          <p:sp>
            <p:nvSpPr>
              <p:cNvPr id="14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7" name="Group 32"/>
            <p:cNvGrpSpPr>
              <a:grpSpLocks/>
            </p:cNvGrpSpPr>
            <p:nvPr/>
          </p:nvGrpSpPr>
          <p:grpSpPr bwMode="auto">
            <a:xfrm>
              <a:off x="1505737" y="3093045"/>
              <a:ext cx="583596" cy="179517"/>
              <a:chOff x="1313" y="2496"/>
              <a:chExt cx="1252" cy="427"/>
            </a:xfrm>
          </p:grpSpPr>
          <p:sp>
            <p:nvSpPr>
              <p:cNvPr id="14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8" name="Group 32"/>
            <p:cNvGrpSpPr>
              <a:grpSpLocks/>
            </p:cNvGrpSpPr>
            <p:nvPr/>
          </p:nvGrpSpPr>
          <p:grpSpPr bwMode="auto">
            <a:xfrm>
              <a:off x="1609684" y="3307958"/>
              <a:ext cx="583596" cy="179517"/>
              <a:chOff x="1313" y="2496"/>
              <a:chExt cx="1252" cy="427"/>
            </a:xfrm>
          </p:grpSpPr>
          <p:sp>
            <p:nvSpPr>
              <p:cNvPr id="13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9" name="Group 32"/>
            <p:cNvGrpSpPr>
              <a:grpSpLocks/>
            </p:cNvGrpSpPr>
            <p:nvPr/>
          </p:nvGrpSpPr>
          <p:grpSpPr bwMode="auto">
            <a:xfrm>
              <a:off x="1951825" y="3539680"/>
              <a:ext cx="583596" cy="179517"/>
              <a:chOff x="1313" y="2496"/>
              <a:chExt cx="1252" cy="427"/>
            </a:xfrm>
          </p:grpSpPr>
          <p:sp>
            <p:nvSpPr>
              <p:cNvPr id="13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0" name="Group 32"/>
            <p:cNvGrpSpPr>
              <a:grpSpLocks/>
            </p:cNvGrpSpPr>
            <p:nvPr/>
          </p:nvGrpSpPr>
          <p:grpSpPr bwMode="auto">
            <a:xfrm>
              <a:off x="1701979" y="2904590"/>
              <a:ext cx="583596" cy="179517"/>
              <a:chOff x="1313" y="2496"/>
              <a:chExt cx="1252" cy="427"/>
            </a:xfrm>
          </p:grpSpPr>
          <p:sp>
            <p:nvSpPr>
              <p:cNvPr id="13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1" name="Group 32"/>
            <p:cNvGrpSpPr>
              <a:grpSpLocks/>
            </p:cNvGrpSpPr>
            <p:nvPr/>
          </p:nvGrpSpPr>
          <p:grpSpPr bwMode="auto">
            <a:xfrm>
              <a:off x="1234860" y="2747963"/>
              <a:ext cx="583596" cy="179517"/>
              <a:chOff x="1313" y="2496"/>
              <a:chExt cx="1252" cy="427"/>
            </a:xfrm>
          </p:grpSpPr>
          <p:sp>
            <p:nvSpPr>
              <p:cNvPr id="12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2" name="Group 32"/>
            <p:cNvGrpSpPr>
              <a:grpSpLocks/>
            </p:cNvGrpSpPr>
            <p:nvPr/>
          </p:nvGrpSpPr>
          <p:grpSpPr bwMode="auto">
            <a:xfrm>
              <a:off x="406244" y="2913528"/>
              <a:ext cx="583596" cy="179517"/>
              <a:chOff x="1313" y="2496"/>
              <a:chExt cx="1252" cy="427"/>
            </a:xfrm>
          </p:grpSpPr>
          <p:sp>
            <p:nvSpPr>
              <p:cNvPr id="12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173" name="Group 32"/>
          <p:cNvGrpSpPr>
            <a:grpSpLocks/>
          </p:cNvGrpSpPr>
          <p:nvPr/>
        </p:nvGrpSpPr>
        <p:grpSpPr bwMode="auto">
          <a:xfrm>
            <a:off x="6711013" y="3467063"/>
            <a:ext cx="583596" cy="179517"/>
            <a:chOff x="1313" y="2496"/>
            <a:chExt cx="1252" cy="427"/>
          </a:xfrm>
        </p:grpSpPr>
        <p:sp>
          <p:nvSpPr>
            <p:cNvPr id="22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4" name="Group 32"/>
          <p:cNvGrpSpPr>
            <a:grpSpLocks/>
          </p:cNvGrpSpPr>
          <p:nvPr/>
        </p:nvGrpSpPr>
        <p:grpSpPr bwMode="auto">
          <a:xfrm>
            <a:off x="6711013" y="4265557"/>
            <a:ext cx="583596" cy="179517"/>
            <a:chOff x="1313" y="2496"/>
            <a:chExt cx="1252" cy="427"/>
          </a:xfrm>
        </p:grpSpPr>
        <p:sp>
          <p:nvSpPr>
            <p:cNvPr id="22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5" name="Group 32"/>
          <p:cNvGrpSpPr>
            <a:grpSpLocks/>
          </p:cNvGrpSpPr>
          <p:nvPr/>
        </p:nvGrpSpPr>
        <p:grpSpPr bwMode="auto">
          <a:xfrm>
            <a:off x="6711013" y="3866310"/>
            <a:ext cx="583596" cy="179517"/>
            <a:chOff x="1313" y="2496"/>
            <a:chExt cx="1252" cy="427"/>
          </a:xfrm>
        </p:grpSpPr>
        <p:sp>
          <p:nvSpPr>
            <p:cNvPr id="22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6" name="Group 32"/>
          <p:cNvGrpSpPr>
            <a:grpSpLocks/>
          </p:cNvGrpSpPr>
          <p:nvPr/>
        </p:nvGrpSpPr>
        <p:grpSpPr bwMode="auto">
          <a:xfrm>
            <a:off x="6711013" y="3067816"/>
            <a:ext cx="583596" cy="179517"/>
            <a:chOff x="1313" y="2496"/>
            <a:chExt cx="1252" cy="427"/>
          </a:xfrm>
        </p:grpSpPr>
        <p:sp>
          <p:nvSpPr>
            <p:cNvPr id="21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8" name="Group 32"/>
          <p:cNvGrpSpPr>
            <a:grpSpLocks/>
          </p:cNvGrpSpPr>
          <p:nvPr/>
        </p:nvGrpSpPr>
        <p:grpSpPr bwMode="auto">
          <a:xfrm>
            <a:off x="6711013" y="2668569"/>
            <a:ext cx="583596" cy="179517"/>
            <a:chOff x="1313" y="2496"/>
            <a:chExt cx="1252" cy="427"/>
          </a:xfrm>
        </p:grpSpPr>
        <p:sp>
          <p:nvSpPr>
            <p:cNvPr id="20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1" name="Group 32"/>
          <p:cNvGrpSpPr>
            <a:grpSpLocks/>
          </p:cNvGrpSpPr>
          <p:nvPr/>
        </p:nvGrpSpPr>
        <p:grpSpPr bwMode="auto">
          <a:xfrm>
            <a:off x="6711013" y="4664804"/>
            <a:ext cx="583596" cy="179517"/>
            <a:chOff x="1313" y="2496"/>
            <a:chExt cx="1252" cy="427"/>
          </a:xfrm>
        </p:grpSpPr>
        <p:sp>
          <p:nvSpPr>
            <p:cNvPr id="19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3" name="Group 32"/>
          <p:cNvGrpSpPr>
            <a:grpSpLocks/>
          </p:cNvGrpSpPr>
          <p:nvPr/>
        </p:nvGrpSpPr>
        <p:grpSpPr bwMode="auto">
          <a:xfrm>
            <a:off x="6711013" y="1870075"/>
            <a:ext cx="583596" cy="179517"/>
            <a:chOff x="1313" y="2496"/>
            <a:chExt cx="1252" cy="427"/>
          </a:xfrm>
        </p:grpSpPr>
        <p:sp>
          <p:nvSpPr>
            <p:cNvPr id="18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4" name="Group 32"/>
          <p:cNvGrpSpPr>
            <a:grpSpLocks/>
          </p:cNvGrpSpPr>
          <p:nvPr/>
        </p:nvGrpSpPr>
        <p:grpSpPr bwMode="auto">
          <a:xfrm>
            <a:off x="6711013" y="2269322"/>
            <a:ext cx="583596" cy="179517"/>
            <a:chOff x="1313" y="2496"/>
            <a:chExt cx="1252" cy="427"/>
          </a:xfrm>
        </p:grpSpPr>
        <p:sp>
          <p:nvSpPr>
            <p:cNvPr id="18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33" name="Group 32"/>
          <p:cNvGrpSpPr>
            <a:grpSpLocks/>
          </p:cNvGrpSpPr>
          <p:nvPr/>
        </p:nvGrpSpPr>
        <p:grpSpPr bwMode="auto">
          <a:xfrm>
            <a:off x="7447009" y="3141599"/>
            <a:ext cx="583596" cy="179517"/>
            <a:chOff x="1313" y="2496"/>
            <a:chExt cx="1252" cy="427"/>
          </a:xfrm>
        </p:grpSpPr>
        <p:sp>
          <p:nvSpPr>
            <p:cNvPr id="23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38" name="Group 32"/>
          <p:cNvGrpSpPr>
            <a:grpSpLocks/>
          </p:cNvGrpSpPr>
          <p:nvPr/>
        </p:nvGrpSpPr>
        <p:grpSpPr bwMode="auto">
          <a:xfrm>
            <a:off x="7447009" y="2742352"/>
            <a:ext cx="583596" cy="179517"/>
            <a:chOff x="1313" y="2496"/>
            <a:chExt cx="1252" cy="427"/>
          </a:xfrm>
        </p:grpSpPr>
        <p:sp>
          <p:nvSpPr>
            <p:cNvPr id="23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43" name="Group 32"/>
          <p:cNvGrpSpPr>
            <a:grpSpLocks/>
          </p:cNvGrpSpPr>
          <p:nvPr/>
        </p:nvGrpSpPr>
        <p:grpSpPr bwMode="auto">
          <a:xfrm>
            <a:off x="7447009" y="1943858"/>
            <a:ext cx="583596" cy="179517"/>
            <a:chOff x="1313" y="2496"/>
            <a:chExt cx="1252" cy="427"/>
          </a:xfrm>
        </p:grpSpPr>
        <p:sp>
          <p:nvSpPr>
            <p:cNvPr id="24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48" name="Group 32"/>
          <p:cNvGrpSpPr>
            <a:grpSpLocks/>
          </p:cNvGrpSpPr>
          <p:nvPr/>
        </p:nvGrpSpPr>
        <p:grpSpPr bwMode="auto">
          <a:xfrm>
            <a:off x="7447009" y="2343105"/>
            <a:ext cx="583596" cy="179517"/>
            <a:chOff x="1313" y="2496"/>
            <a:chExt cx="1252" cy="427"/>
          </a:xfrm>
        </p:grpSpPr>
        <p:sp>
          <p:nvSpPr>
            <p:cNvPr id="24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5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5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5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AutoShape 10"/>
          <p:cNvSpPr>
            <a:spLocks noChangeArrowheads="1"/>
          </p:cNvSpPr>
          <p:nvPr/>
        </p:nvSpPr>
        <p:spPr bwMode="auto">
          <a:xfrm>
            <a:off x="2724933" y="2886142"/>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2690" name="Rectangle 2"/>
          <p:cNvSpPr>
            <a:spLocks noGrp="1" noChangeArrowheads="1"/>
          </p:cNvSpPr>
          <p:nvPr>
            <p:ph type="title"/>
          </p:nvPr>
        </p:nvSpPr>
        <p:spPr>
          <a:xfrm>
            <a:off x="1073150" y="354013"/>
            <a:ext cx="7162800" cy="1143000"/>
          </a:xfrm>
          <a:noFill/>
        </p:spPr>
        <p:txBody>
          <a:bodyPr/>
          <a:lstStyle/>
          <a:p>
            <a:r>
              <a:rPr lang="en-US"/>
              <a:t>Example </a:t>
            </a:r>
          </a:p>
        </p:txBody>
      </p:sp>
      <p:sp>
        <p:nvSpPr>
          <p:cNvPr id="55" name="Line 15"/>
          <p:cNvSpPr>
            <a:spLocks noChangeShapeType="1"/>
          </p:cNvSpPr>
          <p:nvPr/>
        </p:nvSpPr>
        <p:spPr bwMode="auto">
          <a:xfrm>
            <a:off x="2801133" y="3190942"/>
            <a:ext cx="304800"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56" name="Oval 26"/>
          <p:cNvSpPr>
            <a:spLocks noChangeArrowheads="1"/>
          </p:cNvSpPr>
          <p:nvPr/>
        </p:nvSpPr>
        <p:spPr bwMode="auto">
          <a:xfrm>
            <a:off x="2804308" y="3108392"/>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 name="Oval 27"/>
          <p:cNvSpPr>
            <a:spLocks noChangeArrowheads="1"/>
          </p:cNvSpPr>
          <p:nvPr/>
        </p:nvSpPr>
        <p:spPr bwMode="auto">
          <a:xfrm>
            <a:off x="2804308" y="4010092"/>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 name="AutoShape 10"/>
          <p:cNvSpPr>
            <a:spLocks noChangeArrowheads="1"/>
          </p:cNvSpPr>
          <p:nvPr/>
        </p:nvSpPr>
        <p:spPr bwMode="auto">
          <a:xfrm>
            <a:off x="4428506" y="216705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 name="Line 15"/>
          <p:cNvSpPr>
            <a:spLocks noChangeShapeType="1"/>
          </p:cNvSpPr>
          <p:nvPr/>
        </p:nvSpPr>
        <p:spPr bwMode="auto">
          <a:xfrm>
            <a:off x="4504706" y="2471850"/>
            <a:ext cx="304800"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60" name="Oval 26"/>
          <p:cNvSpPr>
            <a:spLocks noChangeArrowheads="1"/>
          </p:cNvSpPr>
          <p:nvPr/>
        </p:nvSpPr>
        <p:spPr bwMode="auto">
          <a:xfrm>
            <a:off x="4507881" y="238930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 name="Oval 27"/>
          <p:cNvSpPr>
            <a:spLocks noChangeArrowheads="1"/>
          </p:cNvSpPr>
          <p:nvPr/>
        </p:nvSpPr>
        <p:spPr bwMode="auto">
          <a:xfrm>
            <a:off x="4507881" y="329100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 name="AutoShape 10"/>
          <p:cNvSpPr>
            <a:spLocks noChangeArrowheads="1"/>
          </p:cNvSpPr>
          <p:nvPr/>
        </p:nvSpPr>
        <p:spPr bwMode="auto">
          <a:xfrm>
            <a:off x="4434856" y="398145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 name="Line 15"/>
          <p:cNvSpPr>
            <a:spLocks noChangeShapeType="1"/>
          </p:cNvSpPr>
          <p:nvPr/>
        </p:nvSpPr>
        <p:spPr bwMode="auto">
          <a:xfrm>
            <a:off x="4511056" y="4286250"/>
            <a:ext cx="304800"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64" name="Oval 26"/>
          <p:cNvSpPr>
            <a:spLocks noChangeArrowheads="1"/>
          </p:cNvSpPr>
          <p:nvPr/>
        </p:nvSpPr>
        <p:spPr bwMode="auto">
          <a:xfrm>
            <a:off x="4514231" y="420370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5" name="Oval 27"/>
          <p:cNvSpPr>
            <a:spLocks noChangeArrowheads="1"/>
          </p:cNvSpPr>
          <p:nvPr/>
        </p:nvSpPr>
        <p:spPr bwMode="auto">
          <a:xfrm>
            <a:off x="4514231" y="510540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 name="Freeform 65"/>
          <p:cNvSpPr/>
          <p:nvPr/>
        </p:nvSpPr>
        <p:spPr bwMode="auto">
          <a:xfrm>
            <a:off x="3194462" y="2541319"/>
            <a:ext cx="1175657" cy="461665"/>
          </a:xfrm>
          <a:custGeom>
            <a:avLst/>
            <a:gdLst>
              <a:gd name="connsiteX0" fmla="*/ 0 w 1175657"/>
              <a:gd name="connsiteY0" fmla="*/ 688769 h 688769"/>
              <a:gd name="connsiteX1" fmla="*/ 570016 w 1175657"/>
              <a:gd name="connsiteY1" fmla="*/ 190006 h 688769"/>
              <a:gd name="connsiteX2" fmla="*/ 1175657 w 1175657"/>
              <a:gd name="connsiteY2" fmla="*/ 0 h 688769"/>
            </a:gdLst>
            <a:ahLst/>
            <a:cxnLst>
              <a:cxn ang="0">
                <a:pos x="connsiteX0" y="connsiteY0"/>
              </a:cxn>
              <a:cxn ang="0">
                <a:pos x="connsiteX1" y="connsiteY1"/>
              </a:cxn>
              <a:cxn ang="0">
                <a:pos x="connsiteX2" y="connsiteY2"/>
              </a:cxn>
            </a:cxnLst>
            <a:rect l="l" t="t" r="r" b="b"/>
            <a:pathLst>
              <a:path w="1175657" h="688769">
                <a:moveTo>
                  <a:pt x="0" y="688769"/>
                </a:moveTo>
                <a:cubicBezTo>
                  <a:pt x="187036" y="496785"/>
                  <a:pt x="374073" y="304801"/>
                  <a:pt x="570016" y="190006"/>
                </a:cubicBezTo>
                <a:cubicBezTo>
                  <a:pt x="765959" y="75211"/>
                  <a:pt x="970808" y="37605"/>
                  <a:pt x="1175657" y="0"/>
                </a:cubicBezTo>
              </a:path>
            </a:pathLst>
          </a:cu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342900" marR="0" indent="-342900" algn="l" defTabSz="914400" rtl="0" eaLnBrk="0" fontAlgn="base" latinLnBrk="0" hangingPunct="0">
              <a:lnSpc>
                <a:spcPct val="100000"/>
              </a:lnSpc>
              <a:spcBef>
                <a:spcPct val="20000"/>
              </a:spcBef>
              <a:spcAft>
                <a:spcPct val="0"/>
              </a:spcAft>
              <a:buClrTx/>
              <a:buSzTx/>
              <a:buFontTx/>
              <a:buNone/>
              <a:tabLst/>
            </a:pPr>
            <a:endParaRPr kumimoji="0" lang="en-US" sz="2400" b="1" i="0" u="none" strike="noStrike" cap="none" normalizeH="0" baseline="0" dirty="0">
              <a:ln>
                <a:noFill/>
              </a:ln>
              <a:solidFill>
                <a:srgbClr val="0000FF"/>
              </a:solidFill>
              <a:effectLst/>
              <a:latin typeface="Courier New" pitchFamily="49" charset="0"/>
            </a:endParaRPr>
          </a:p>
        </p:txBody>
      </p:sp>
      <p:sp>
        <p:nvSpPr>
          <p:cNvPr id="67" name="Freeform 66"/>
          <p:cNvSpPr/>
          <p:nvPr/>
        </p:nvSpPr>
        <p:spPr bwMode="auto">
          <a:xfrm flipV="1">
            <a:off x="3194462" y="4106965"/>
            <a:ext cx="1175657" cy="461665"/>
          </a:xfrm>
          <a:custGeom>
            <a:avLst/>
            <a:gdLst>
              <a:gd name="connsiteX0" fmla="*/ 0 w 1175657"/>
              <a:gd name="connsiteY0" fmla="*/ 688769 h 688769"/>
              <a:gd name="connsiteX1" fmla="*/ 570016 w 1175657"/>
              <a:gd name="connsiteY1" fmla="*/ 190006 h 688769"/>
              <a:gd name="connsiteX2" fmla="*/ 1175657 w 1175657"/>
              <a:gd name="connsiteY2" fmla="*/ 0 h 688769"/>
            </a:gdLst>
            <a:ahLst/>
            <a:cxnLst>
              <a:cxn ang="0">
                <a:pos x="connsiteX0" y="connsiteY0"/>
              </a:cxn>
              <a:cxn ang="0">
                <a:pos x="connsiteX1" y="connsiteY1"/>
              </a:cxn>
              <a:cxn ang="0">
                <a:pos x="connsiteX2" y="connsiteY2"/>
              </a:cxn>
            </a:cxnLst>
            <a:rect l="l" t="t" r="r" b="b"/>
            <a:pathLst>
              <a:path w="1175657" h="688769">
                <a:moveTo>
                  <a:pt x="0" y="688769"/>
                </a:moveTo>
                <a:cubicBezTo>
                  <a:pt x="187036" y="496785"/>
                  <a:pt x="374073" y="304801"/>
                  <a:pt x="570016" y="190006"/>
                </a:cubicBezTo>
                <a:cubicBezTo>
                  <a:pt x="765959" y="75211"/>
                  <a:pt x="970808" y="37605"/>
                  <a:pt x="1175657" y="0"/>
                </a:cubicBezTo>
              </a:path>
            </a:pathLst>
          </a:cu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342900" marR="0" indent="-342900" algn="l" defTabSz="914400" rtl="0" eaLnBrk="0" fontAlgn="base" latinLnBrk="0" hangingPunct="0">
              <a:lnSpc>
                <a:spcPct val="100000"/>
              </a:lnSpc>
              <a:spcBef>
                <a:spcPct val="20000"/>
              </a:spcBef>
              <a:spcAft>
                <a:spcPct val="0"/>
              </a:spcAft>
              <a:buClrTx/>
              <a:buSzTx/>
              <a:buFontTx/>
              <a:buNone/>
              <a:tabLst/>
            </a:pPr>
            <a:endParaRPr kumimoji="0" lang="en-US" sz="2400" b="1" i="0" u="none" strike="noStrike" cap="none" normalizeH="0" baseline="0" dirty="0">
              <a:ln>
                <a:noFill/>
              </a:ln>
              <a:solidFill>
                <a:srgbClr val="0000FF"/>
              </a:solidFill>
              <a:effectLst/>
              <a:latin typeface="Courier New" pitchFamily="49" charset="0"/>
            </a:endParaRPr>
          </a:p>
        </p:txBody>
      </p:sp>
      <p:cxnSp>
        <p:nvCxnSpPr>
          <p:cNvPr id="74" name="Straight Connector 73"/>
          <p:cNvCxnSpPr/>
          <p:nvPr/>
        </p:nvCxnSpPr>
        <p:spPr bwMode="auto">
          <a:xfrm>
            <a:off x="4761881" y="2471850"/>
            <a:ext cx="1175657" cy="0"/>
          </a:xfrm>
          <a:prstGeom prst="line">
            <a:avLst/>
          </a:prstGeom>
          <a:solidFill>
            <a:srgbClr val="FFFFCC"/>
          </a:solidFill>
          <a:ln w="57150" cap="flat" cmpd="sng" algn="ctr">
            <a:solidFill>
              <a:schemeClr val="tx1"/>
            </a:solidFill>
            <a:prstDash val="solid"/>
            <a:round/>
            <a:headEnd type="none" w="med" len="med"/>
            <a:tailEnd type="none" w="med" len="med"/>
          </a:ln>
          <a:effectLst/>
        </p:spPr>
      </p:cxnSp>
      <p:cxnSp>
        <p:nvCxnSpPr>
          <p:cNvPr id="75" name="Straight Connector 74"/>
          <p:cNvCxnSpPr/>
          <p:nvPr/>
        </p:nvCxnSpPr>
        <p:spPr bwMode="auto">
          <a:xfrm>
            <a:off x="4761881" y="5200400"/>
            <a:ext cx="973777" cy="0"/>
          </a:xfrm>
          <a:prstGeom prst="line">
            <a:avLst/>
          </a:prstGeom>
          <a:solidFill>
            <a:srgbClr val="FFFFCC"/>
          </a:solidFill>
          <a:ln w="57150" cap="flat" cmpd="sng" algn="ctr">
            <a:solidFill>
              <a:schemeClr val="tx1"/>
            </a:solidFill>
            <a:prstDash val="solid"/>
            <a:round/>
            <a:headEnd type="none" w="med" len="med"/>
            <a:tailEnd type="none" w="med" len="med"/>
          </a:ln>
          <a:effectLst/>
        </p:spPr>
      </p:cxnSp>
      <p:sp>
        <p:nvSpPr>
          <p:cNvPr id="85" name="Freeform 84"/>
          <p:cNvSpPr/>
          <p:nvPr/>
        </p:nvSpPr>
        <p:spPr bwMode="auto">
          <a:xfrm>
            <a:off x="4761881" y="3334987"/>
            <a:ext cx="973777" cy="1011382"/>
          </a:xfrm>
          <a:custGeom>
            <a:avLst/>
            <a:gdLst>
              <a:gd name="connsiteX0" fmla="*/ 0 w 973777"/>
              <a:gd name="connsiteY0" fmla="*/ 73231 h 1011382"/>
              <a:gd name="connsiteX1" fmla="*/ 368136 w 973777"/>
              <a:gd name="connsiteY1" fmla="*/ 132608 h 1011382"/>
              <a:gd name="connsiteX2" fmla="*/ 676894 w 973777"/>
              <a:gd name="connsiteY2" fmla="*/ 868878 h 1011382"/>
              <a:gd name="connsiteX3" fmla="*/ 950026 w 973777"/>
              <a:gd name="connsiteY3" fmla="*/ 987631 h 1011382"/>
              <a:gd name="connsiteX4" fmla="*/ 950026 w 973777"/>
              <a:gd name="connsiteY4" fmla="*/ 987631 h 1011382"/>
              <a:gd name="connsiteX5" fmla="*/ 973777 w 973777"/>
              <a:gd name="connsiteY5" fmla="*/ 975756 h 1011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777" h="1011382">
                <a:moveTo>
                  <a:pt x="0" y="73231"/>
                </a:moveTo>
                <a:cubicBezTo>
                  <a:pt x="127660" y="36615"/>
                  <a:pt x="255320" y="0"/>
                  <a:pt x="368136" y="132608"/>
                </a:cubicBezTo>
                <a:cubicBezTo>
                  <a:pt x="480952" y="265216"/>
                  <a:pt x="579912" y="726374"/>
                  <a:pt x="676894" y="868878"/>
                </a:cubicBezTo>
                <a:cubicBezTo>
                  <a:pt x="773876" y="1011382"/>
                  <a:pt x="950026" y="987631"/>
                  <a:pt x="950026" y="987631"/>
                </a:cubicBezTo>
                <a:lnTo>
                  <a:pt x="950026" y="987631"/>
                </a:lnTo>
                <a:lnTo>
                  <a:pt x="973777" y="975756"/>
                </a:lnTo>
              </a:path>
            </a:pathLst>
          </a:custGeom>
          <a:noFill/>
          <a:ln w="57150" cap="flat" cmpd="sng" algn="ctr">
            <a:solidFill>
              <a:schemeClr val="tx1"/>
            </a:solidFill>
            <a:prstDash val="solid"/>
            <a:round/>
            <a:headEnd type="none" w="med" len="med"/>
            <a:tailEnd type="none" w="med" len="med"/>
          </a:ln>
          <a:effectLst/>
        </p:spPr>
        <p:txBody>
          <a:bodyPr rtlCol="0" anchor="ctr"/>
          <a:lstStyle/>
          <a:p>
            <a:pPr algn="ctr"/>
            <a:endParaRPr lang="en-US" dirty="0">
              <a:latin typeface="Courier New" pitchFamily="49" charset="0"/>
            </a:endParaRPr>
          </a:p>
        </p:txBody>
      </p:sp>
      <p:sp>
        <p:nvSpPr>
          <p:cNvPr id="86" name="Freeform 85"/>
          <p:cNvSpPr/>
          <p:nvPr/>
        </p:nvSpPr>
        <p:spPr bwMode="auto">
          <a:xfrm flipV="1">
            <a:off x="4761881" y="3411144"/>
            <a:ext cx="973777" cy="1011382"/>
          </a:xfrm>
          <a:custGeom>
            <a:avLst/>
            <a:gdLst>
              <a:gd name="connsiteX0" fmla="*/ 0 w 973777"/>
              <a:gd name="connsiteY0" fmla="*/ 73231 h 1011382"/>
              <a:gd name="connsiteX1" fmla="*/ 368136 w 973777"/>
              <a:gd name="connsiteY1" fmla="*/ 132608 h 1011382"/>
              <a:gd name="connsiteX2" fmla="*/ 676894 w 973777"/>
              <a:gd name="connsiteY2" fmla="*/ 868878 h 1011382"/>
              <a:gd name="connsiteX3" fmla="*/ 950026 w 973777"/>
              <a:gd name="connsiteY3" fmla="*/ 987631 h 1011382"/>
              <a:gd name="connsiteX4" fmla="*/ 950026 w 973777"/>
              <a:gd name="connsiteY4" fmla="*/ 987631 h 1011382"/>
              <a:gd name="connsiteX5" fmla="*/ 973777 w 973777"/>
              <a:gd name="connsiteY5" fmla="*/ 975756 h 1011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777" h="1011382">
                <a:moveTo>
                  <a:pt x="0" y="73231"/>
                </a:moveTo>
                <a:cubicBezTo>
                  <a:pt x="127660" y="36615"/>
                  <a:pt x="255320" y="0"/>
                  <a:pt x="368136" y="132608"/>
                </a:cubicBezTo>
                <a:cubicBezTo>
                  <a:pt x="480952" y="265216"/>
                  <a:pt x="579912" y="726374"/>
                  <a:pt x="676894" y="868878"/>
                </a:cubicBezTo>
                <a:cubicBezTo>
                  <a:pt x="773876" y="1011382"/>
                  <a:pt x="950026" y="987631"/>
                  <a:pt x="950026" y="987631"/>
                </a:cubicBezTo>
                <a:lnTo>
                  <a:pt x="950026" y="987631"/>
                </a:lnTo>
                <a:lnTo>
                  <a:pt x="973777" y="975756"/>
                </a:lnTo>
              </a:path>
            </a:pathLst>
          </a:custGeom>
          <a:noFill/>
          <a:ln w="57150" cap="flat" cmpd="sng" algn="ctr">
            <a:solidFill>
              <a:schemeClr val="tx1"/>
            </a:solidFill>
            <a:prstDash val="solid"/>
            <a:round/>
            <a:headEnd type="none" w="med" len="med"/>
            <a:tailEnd type="none" w="med" len="med"/>
          </a:ln>
          <a:effectLst/>
        </p:spPr>
        <p:txBody>
          <a:bodyPr rtlCol="0" anchor="ctr"/>
          <a:lstStyle/>
          <a:p>
            <a:pPr algn="ctr"/>
            <a:endParaRPr lang="en-US" dirty="0">
              <a:latin typeface="Courier New" pitchFamily="49" charset="0"/>
            </a:endParaRPr>
          </a:p>
        </p:txBody>
      </p:sp>
      <p:grpSp>
        <p:nvGrpSpPr>
          <p:cNvPr id="89" name="Group 20"/>
          <p:cNvGrpSpPr>
            <a:grpSpLocks/>
          </p:cNvGrpSpPr>
          <p:nvPr/>
        </p:nvGrpSpPr>
        <p:grpSpPr bwMode="auto">
          <a:xfrm>
            <a:off x="539750" y="3557588"/>
            <a:ext cx="1377950" cy="423862"/>
            <a:chOff x="1313" y="2496"/>
            <a:chExt cx="1252" cy="427"/>
          </a:xfrm>
        </p:grpSpPr>
        <p:sp>
          <p:nvSpPr>
            <p:cNvPr id="9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2" name="Group 20"/>
          <p:cNvGrpSpPr>
            <a:grpSpLocks/>
          </p:cNvGrpSpPr>
          <p:nvPr/>
        </p:nvGrpSpPr>
        <p:grpSpPr bwMode="auto">
          <a:xfrm>
            <a:off x="387350" y="3405188"/>
            <a:ext cx="1377950" cy="423862"/>
            <a:chOff x="1313" y="2496"/>
            <a:chExt cx="1252" cy="427"/>
          </a:xfrm>
        </p:grpSpPr>
        <p:sp>
          <p:nvSpPr>
            <p:cNvPr id="242702"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42703"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42704"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42705"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1.94444E-6 -3.33333E-6 C 0.104 0.00672 0.20799 0.01366 0.26667 -3.33333E-6 C 0.32535 -0.01365 0.32275 -0.06736 0.35243 -0.08264 C 0.38212 -0.09791 0.42066 -0.08102 0.44531 -0.09213 C 0.46997 -0.10324 0.46945 -0.14027 0.5 -0.1493 C 0.53056 -0.15833 0.57952 -0.15231 0.62865 -0.14606 " pathEditMode="relative" rAng="0" ptsTypes="aaaaaA">
                                      <p:cBhvr>
                                        <p:cTn id="6" dur="2000" fill="hold"/>
                                        <p:tgtEl>
                                          <p:spTgt spid="12"/>
                                        </p:tgtEl>
                                        <p:attrNameLst>
                                          <p:attrName>ppt_x</p:attrName>
                                          <p:attrName>ppt_y</p:attrName>
                                        </p:attrNameLst>
                                      </p:cBhvr>
                                      <p:rCtr x="31400" y="-7200"/>
                                    </p:animMotion>
                                  </p:childTnLst>
                                </p:cTn>
                              </p:par>
                              <p:par>
                                <p:cTn id="7" presetID="0" presetClass="path" presetSubtype="0" accel="50000" decel="50000" fill="hold" grpId="0" nodeType="withEffect">
                                  <p:stCondLst>
                                    <p:cond delay="0"/>
                                  </p:stCondLst>
                                  <p:childTnLst>
                                    <p:animMotion origin="layout" path="M 0.00173 0.0074 L 0.00173 0.13714 " pathEditMode="relative" ptsTypes="AA">
                                      <p:cBhvr>
                                        <p:cTn id="8" dur="2000" fill="hold"/>
                                        <p:tgtEl>
                                          <p:spTgt spid="55"/>
                                        </p:tgtEl>
                                        <p:attrNameLst>
                                          <p:attrName>ppt_x</p:attrName>
                                          <p:attrName>ppt_y</p:attrName>
                                        </p:attrNameLst>
                                      </p:cBhvr>
                                    </p:animMotion>
                                  </p:childTnLst>
                                </p:cTn>
                              </p:par>
                            </p:childTnLst>
                          </p:cTn>
                        </p:par>
                        <p:par>
                          <p:cTn id="9" fill="hold">
                            <p:stCondLst>
                              <p:cond delay="2000"/>
                            </p:stCondLst>
                            <p:childTnLst>
                              <p:par>
                                <p:cTn id="10" presetID="0" presetClass="path" presetSubtype="0" accel="50000" decel="50000" fill="hold" grpId="0" nodeType="afterEffect">
                                  <p:stCondLst>
                                    <p:cond delay="0"/>
                                  </p:stCondLst>
                                  <p:childTnLst>
                                    <p:animMotion origin="layout" path="M 0.00173 0.0074 L 0.00173 0.13714 " pathEditMode="relative" ptsTypes="AA">
                                      <p:cBhvr>
                                        <p:cTn id="11" dur="2000" fill="hold"/>
                                        <p:tgtEl>
                                          <p:spTgt spid="5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9" grpId="0" animBg="1"/>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AutoShape 10"/>
          <p:cNvSpPr>
            <a:spLocks noChangeArrowheads="1"/>
          </p:cNvSpPr>
          <p:nvPr/>
        </p:nvSpPr>
        <p:spPr bwMode="auto">
          <a:xfrm>
            <a:off x="2731283" y="2886142"/>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2690" name="Rectangle 2"/>
          <p:cNvSpPr>
            <a:spLocks noGrp="1" noChangeArrowheads="1"/>
          </p:cNvSpPr>
          <p:nvPr>
            <p:ph type="title"/>
          </p:nvPr>
        </p:nvSpPr>
        <p:spPr>
          <a:xfrm>
            <a:off x="1073150" y="354013"/>
            <a:ext cx="7162800" cy="1143000"/>
          </a:xfrm>
          <a:noFill/>
        </p:spPr>
        <p:txBody>
          <a:bodyPr/>
          <a:lstStyle/>
          <a:p>
            <a:r>
              <a:rPr lang="en-US"/>
              <a:t>Example </a:t>
            </a:r>
          </a:p>
        </p:txBody>
      </p:sp>
      <p:grpSp>
        <p:nvGrpSpPr>
          <p:cNvPr id="2" name="Group 20"/>
          <p:cNvGrpSpPr>
            <a:grpSpLocks/>
          </p:cNvGrpSpPr>
          <p:nvPr/>
        </p:nvGrpSpPr>
        <p:grpSpPr bwMode="auto">
          <a:xfrm>
            <a:off x="539750" y="3557588"/>
            <a:ext cx="1377950" cy="423862"/>
            <a:chOff x="1313" y="2496"/>
            <a:chExt cx="1252" cy="427"/>
          </a:xfrm>
        </p:grpSpPr>
        <p:sp>
          <p:nvSpPr>
            <p:cNvPr id="24271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4271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4271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4271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5" name="Line 15"/>
          <p:cNvSpPr>
            <a:spLocks noChangeShapeType="1"/>
          </p:cNvSpPr>
          <p:nvPr/>
        </p:nvSpPr>
        <p:spPr bwMode="auto">
          <a:xfrm>
            <a:off x="2801133" y="4152817"/>
            <a:ext cx="304800"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56" name="Oval 26"/>
          <p:cNvSpPr>
            <a:spLocks noChangeArrowheads="1"/>
          </p:cNvSpPr>
          <p:nvPr/>
        </p:nvSpPr>
        <p:spPr bwMode="auto">
          <a:xfrm>
            <a:off x="2804308" y="3108392"/>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7" name="Oval 27"/>
          <p:cNvSpPr>
            <a:spLocks noChangeArrowheads="1"/>
          </p:cNvSpPr>
          <p:nvPr/>
        </p:nvSpPr>
        <p:spPr bwMode="auto">
          <a:xfrm>
            <a:off x="2804308" y="4010092"/>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58" name="AutoShape 10"/>
          <p:cNvSpPr>
            <a:spLocks noChangeArrowheads="1"/>
          </p:cNvSpPr>
          <p:nvPr/>
        </p:nvSpPr>
        <p:spPr bwMode="auto">
          <a:xfrm>
            <a:off x="4428506" y="216705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59" name="Line 15"/>
          <p:cNvSpPr>
            <a:spLocks noChangeShapeType="1"/>
          </p:cNvSpPr>
          <p:nvPr/>
        </p:nvSpPr>
        <p:spPr bwMode="auto">
          <a:xfrm>
            <a:off x="4514231" y="3382862"/>
            <a:ext cx="304800"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60" name="Oval 26"/>
          <p:cNvSpPr>
            <a:spLocks noChangeArrowheads="1"/>
          </p:cNvSpPr>
          <p:nvPr/>
        </p:nvSpPr>
        <p:spPr bwMode="auto">
          <a:xfrm>
            <a:off x="4507881" y="238930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1" name="Oval 27"/>
          <p:cNvSpPr>
            <a:spLocks noChangeArrowheads="1"/>
          </p:cNvSpPr>
          <p:nvPr/>
        </p:nvSpPr>
        <p:spPr bwMode="auto">
          <a:xfrm>
            <a:off x="4507881" y="329100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2" name="AutoShape 10"/>
          <p:cNvSpPr>
            <a:spLocks noChangeArrowheads="1"/>
          </p:cNvSpPr>
          <p:nvPr/>
        </p:nvSpPr>
        <p:spPr bwMode="auto">
          <a:xfrm>
            <a:off x="4434856" y="3981450"/>
            <a:ext cx="374650" cy="1628775"/>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3" name="Line 15"/>
          <p:cNvSpPr>
            <a:spLocks noChangeShapeType="1"/>
          </p:cNvSpPr>
          <p:nvPr/>
        </p:nvSpPr>
        <p:spPr bwMode="auto">
          <a:xfrm>
            <a:off x="4511056" y="4286250"/>
            <a:ext cx="304800" cy="0"/>
          </a:xfrm>
          <a:prstGeom prst="line">
            <a:avLst/>
          </a:prstGeom>
          <a:noFill/>
          <a:ln w="57150">
            <a:solidFill>
              <a:srgbClr val="FF0000"/>
            </a:solidFill>
            <a:round/>
            <a:headEnd/>
            <a:tailEnd type="triangle" w="med" len="med"/>
          </a:ln>
        </p:spPr>
        <p:txBody>
          <a:bodyPr wrap="none" anchor="ctr"/>
          <a:lstStyle/>
          <a:p>
            <a:endParaRPr lang="en-US">
              <a:latin typeface="Arial" pitchFamily="34" charset="0"/>
              <a:cs typeface="Arial" pitchFamily="34" charset="0"/>
            </a:endParaRPr>
          </a:p>
        </p:txBody>
      </p:sp>
      <p:sp>
        <p:nvSpPr>
          <p:cNvPr id="64" name="Oval 26"/>
          <p:cNvSpPr>
            <a:spLocks noChangeArrowheads="1"/>
          </p:cNvSpPr>
          <p:nvPr/>
        </p:nvSpPr>
        <p:spPr bwMode="auto">
          <a:xfrm>
            <a:off x="4514231" y="420370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5" name="Oval 27"/>
          <p:cNvSpPr>
            <a:spLocks noChangeArrowheads="1"/>
          </p:cNvSpPr>
          <p:nvPr/>
        </p:nvSpPr>
        <p:spPr bwMode="auto">
          <a:xfrm>
            <a:off x="4514231" y="5105400"/>
            <a:ext cx="247650" cy="247650"/>
          </a:xfrm>
          <a:prstGeom prst="ellipse">
            <a:avLst/>
          </a:prstGeom>
          <a:noFill/>
          <a:ln w="12700" algn="ctr">
            <a:solidFill>
              <a:schemeClr val="tx1"/>
            </a:solidFill>
            <a:round/>
            <a:headEnd/>
            <a:tailEnd/>
          </a:ln>
        </p:spPr>
        <p:txBody>
          <a:bodyPr wrap="none" anchor="ctr"/>
          <a:lstStyle/>
          <a:p>
            <a:endParaRPr lang="en-US">
              <a:latin typeface="Arial" pitchFamily="34" charset="0"/>
              <a:cs typeface="Arial" pitchFamily="34" charset="0"/>
            </a:endParaRPr>
          </a:p>
        </p:txBody>
      </p:sp>
      <p:sp>
        <p:nvSpPr>
          <p:cNvPr id="66" name="Freeform 65"/>
          <p:cNvSpPr/>
          <p:nvPr/>
        </p:nvSpPr>
        <p:spPr bwMode="auto">
          <a:xfrm>
            <a:off x="3194462" y="2541319"/>
            <a:ext cx="1175657" cy="461665"/>
          </a:xfrm>
          <a:custGeom>
            <a:avLst/>
            <a:gdLst>
              <a:gd name="connsiteX0" fmla="*/ 0 w 1175657"/>
              <a:gd name="connsiteY0" fmla="*/ 688769 h 688769"/>
              <a:gd name="connsiteX1" fmla="*/ 570016 w 1175657"/>
              <a:gd name="connsiteY1" fmla="*/ 190006 h 688769"/>
              <a:gd name="connsiteX2" fmla="*/ 1175657 w 1175657"/>
              <a:gd name="connsiteY2" fmla="*/ 0 h 688769"/>
            </a:gdLst>
            <a:ahLst/>
            <a:cxnLst>
              <a:cxn ang="0">
                <a:pos x="connsiteX0" y="connsiteY0"/>
              </a:cxn>
              <a:cxn ang="0">
                <a:pos x="connsiteX1" y="connsiteY1"/>
              </a:cxn>
              <a:cxn ang="0">
                <a:pos x="connsiteX2" y="connsiteY2"/>
              </a:cxn>
            </a:cxnLst>
            <a:rect l="l" t="t" r="r" b="b"/>
            <a:pathLst>
              <a:path w="1175657" h="688769">
                <a:moveTo>
                  <a:pt x="0" y="688769"/>
                </a:moveTo>
                <a:cubicBezTo>
                  <a:pt x="187036" y="496785"/>
                  <a:pt x="374073" y="304801"/>
                  <a:pt x="570016" y="190006"/>
                </a:cubicBezTo>
                <a:cubicBezTo>
                  <a:pt x="765959" y="75211"/>
                  <a:pt x="970808" y="37605"/>
                  <a:pt x="1175657" y="0"/>
                </a:cubicBezTo>
              </a:path>
            </a:pathLst>
          </a:custGeom>
          <a:solidFill>
            <a:srgbClr val="FFFFCC"/>
          </a:solid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342900" marR="0" indent="-342900" algn="l" defTabSz="914400" rtl="0" eaLnBrk="0" fontAlgn="base" latinLnBrk="0" hangingPunct="0">
              <a:lnSpc>
                <a:spcPct val="100000"/>
              </a:lnSpc>
              <a:spcBef>
                <a:spcPct val="20000"/>
              </a:spcBef>
              <a:spcAft>
                <a:spcPct val="0"/>
              </a:spcAft>
              <a:buClrTx/>
              <a:buSzTx/>
              <a:buFontTx/>
              <a:buNone/>
              <a:tabLst/>
            </a:pPr>
            <a:endParaRPr kumimoji="0" lang="en-US" sz="2400" b="1" i="0" u="none" strike="noStrike" cap="none" normalizeH="0" baseline="0" dirty="0">
              <a:ln>
                <a:noFill/>
              </a:ln>
              <a:solidFill>
                <a:srgbClr val="0000FF"/>
              </a:solidFill>
              <a:effectLst/>
              <a:latin typeface="Courier New" pitchFamily="49" charset="0"/>
            </a:endParaRPr>
          </a:p>
        </p:txBody>
      </p:sp>
      <p:sp>
        <p:nvSpPr>
          <p:cNvPr id="67" name="Freeform 66"/>
          <p:cNvSpPr/>
          <p:nvPr/>
        </p:nvSpPr>
        <p:spPr bwMode="auto">
          <a:xfrm flipV="1">
            <a:off x="3194462" y="4106965"/>
            <a:ext cx="1175657" cy="461665"/>
          </a:xfrm>
          <a:custGeom>
            <a:avLst/>
            <a:gdLst>
              <a:gd name="connsiteX0" fmla="*/ 0 w 1175657"/>
              <a:gd name="connsiteY0" fmla="*/ 688769 h 688769"/>
              <a:gd name="connsiteX1" fmla="*/ 570016 w 1175657"/>
              <a:gd name="connsiteY1" fmla="*/ 190006 h 688769"/>
              <a:gd name="connsiteX2" fmla="*/ 1175657 w 1175657"/>
              <a:gd name="connsiteY2" fmla="*/ 0 h 688769"/>
            </a:gdLst>
            <a:ahLst/>
            <a:cxnLst>
              <a:cxn ang="0">
                <a:pos x="connsiteX0" y="connsiteY0"/>
              </a:cxn>
              <a:cxn ang="0">
                <a:pos x="connsiteX1" y="connsiteY1"/>
              </a:cxn>
              <a:cxn ang="0">
                <a:pos x="connsiteX2" y="connsiteY2"/>
              </a:cxn>
            </a:cxnLst>
            <a:rect l="l" t="t" r="r" b="b"/>
            <a:pathLst>
              <a:path w="1175657" h="688769">
                <a:moveTo>
                  <a:pt x="0" y="688769"/>
                </a:moveTo>
                <a:cubicBezTo>
                  <a:pt x="187036" y="496785"/>
                  <a:pt x="374073" y="304801"/>
                  <a:pt x="570016" y="190006"/>
                </a:cubicBezTo>
                <a:cubicBezTo>
                  <a:pt x="765959" y="75211"/>
                  <a:pt x="970808" y="37605"/>
                  <a:pt x="1175657" y="0"/>
                </a:cubicBezTo>
              </a:path>
            </a:pathLst>
          </a:custGeom>
          <a:solidFill>
            <a:srgbClr val="FFFFCC"/>
          </a:solid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342900" marR="0" indent="-342900" algn="l" defTabSz="914400" rtl="0" eaLnBrk="0" fontAlgn="base" latinLnBrk="0" hangingPunct="0">
              <a:lnSpc>
                <a:spcPct val="100000"/>
              </a:lnSpc>
              <a:spcBef>
                <a:spcPct val="20000"/>
              </a:spcBef>
              <a:spcAft>
                <a:spcPct val="0"/>
              </a:spcAft>
              <a:buClrTx/>
              <a:buSzTx/>
              <a:buFontTx/>
              <a:buNone/>
              <a:tabLst/>
            </a:pPr>
            <a:endParaRPr kumimoji="0" lang="en-US" sz="2400" b="1" i="0" u="none" strike="noStrike" cap="none" normalizeH="0" baseline="0" dirty="0">
              <a:ln>
                <a:noFill/>
              </a:ln>
              <a:solidFill>
                <a:srgbClr val="0000FF"/>
              </a:solidFill>
              <a:effectLst/>
              <a:latin typeface="Courier New" pitchFamily="49" charset="0"/>
            </a:endParaRPr>
          </a:p>
        </p:txBody>
      </p:sp>
      <p:cxnSp>
        <p:nvCxnSpPr>
          <p:cNvPr id="37" name="Straight Connector 36"/>
          <p:cNvCxnSpPr/>
          <p:nvPr/>
        </p:nvCxnSpPr>
        <p:spPr bwMode="auto">
          <a:xfrm>
            <a:off x="4761881" y="2471850"/>
            <a:ext cx="1175657" cy="0"/>
          </a:xfrm>
          <a:prstGeom prst="line">
            <a:avLst/>
          </a:prstGeom>
          <a:solidFill>
            <a:srgbClr val="FFFFCC"/>
          </a:solidFill>
          <a:ln w="57150" cap="flat" cmpd="sng" algn="ctr">
            <a:solidFill>
              <a:schemeClr val="tx1"/>
            </a:solidFill>
            <a:prstDash val="solid"/>
            <a:round/>
            <a:headEnd type="none" w="med" len="med"/>
            <a:tailEnd type="none" w="med" len="med"/>
          </a:ln>
          <a:effectLst/>
        </p:spPr>
      </p:cxnSp>
      <p:cxnSp>
        <p:nvCxnSpPr>
          <p:cNvPr id="38" name="Straight Connector 37"/>
          <p:cNvCxnSpPr/>
          <p:nvPr/>
        </p:nvCxnSpPr>
        <p:spPr bwMode="auto">
          <a:xfrm>
            <a:off x="4761881" y="5200400"/>
            <a:ext cx="973777" cy="0"/>
          </a:xfrm>
          <a:prstGeom prst="line">
            <a:avLst/>
          </a:prstGeom>
          <a:solidFill>
            <a:srgbClr val="FFFFCC"/>
          </a:solidFill>
          <a:ln w="57150" cap="flat" cmpd="sng" algn="ctr">
            <a:solidFill>
              <a:schemeClr val="tx1"/>
            </a:solidFill>
            <a:prstDash val="solid"/>
            <a:round/>
            <a:headEnd type="none" w="med" len="med"/>
            <a:tailEnd type="none" w="med" len="med"/>
          </a:ln>
          <a:effectLst/>
        </p:spPr>
      </p:cxnSp>
      <p:sp>
        <p:nvSpPr>
          <p:cNvPr id="39" name="Freeform 38"/>
          <p:cNvSpPr/>
          <p:nvPr/>
        </p:nvSpPr>
        <p:spPr bwMode="auto">
          <a:xfrm>
            <a:off x="4761881" y="3334987"/>
            <a:ext cx="973777" cy="1011382"/>
          </a:xfrm>
          <a:custGeom>
            <a:avLst/>
            <a:gdLst>
              <a:gd name="connsiteX0" fmla="*/ 0 w 973777"/>
              <a:gd name="connsiteY0" fmla="*/ 73231 h 1011382"/>
              <a:gd name="connsiteX1" fmla="*/ 368136 w 973777"/>
              <a:gd name="connsiteY1" fmla="*/ 132608 h 1011382"/>
              <a:gd name="connsiteX2" fmla="*/ 676894 w 973777"/>
              <a:gd name="connsiteY2" fmla="*/ 868878 h 1011382"/>
              <a:gd name="connsiteX3" fmla="*/ 950026 w 973777"/>
              <a:gd name="connsiteY3" fmla="*/ 987631 h 1011382"/>
              <a:gd name="connsiteX4" fmla="*/ 950026 w 973777"/>
              <a:gd name="connsiteY4" fmla="*/ 987631 h 1011382"/>
              <a:gd name="connsiteX5" fmla="*/ 973777 w 973777"/>
              <a:gd name="connsiteY5" fmla="*/ 975756 h 1011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777" h="1011382">
                <a:moveTo>
                  <a:pt x="0" y="73231"/>
                </a:moveTo>
                <a:cubicBezTo>
                  <a:pt x="127660" y="36615"/>
                  <a:pt x="255320" y="0"/>
                  <a:pt x="368136" y="132608"/>
                </a:cubicBezTo>
                <a:cubicBezTo>
                  <a:pt x="480952" y="265216"/>
                  <a:pt x="579912" y="726374"/>
                  <a:pt x="676894" y="868878"/>
                </a:cubicBezTo>
                <a:cubicBezTo>
                  <a:pt x="773876" y="1011382"/>
                  <a:pt x="950026" y="987631"/>
                  <a:pt x="950026" y="987631"/>
                </a:cubicBezTo>
                <a:lnTo>
                  <a:pt x="950026" y="987631"/>
                </a:lnTo>
                <a:lnTo>
                  <a:pt x="973777" y="975756"/>
                </a:lnTo>
              </a:path>
            </a:pathLst>
          </a:custGeom>
          <a:noFill/>
          <a:ln w="57150" cap="flat" cmpd="sng" algn="ctr">
            <a:solidFill>
              <a:schemeClr val="tx1"/>
            </a:solidFill>
            <a:prstDash val="solid"/>
            <a:round/>
            <a:headEnd type="none" w="med" len="med"/>
            <a:tailEnd type="none" w="med" len="med"/>
          </a:ln>
          <a:effectLst/>
        </p:spPr>
        <p:txBody>
          <a:bodyPr rtlCol="0" anchor="ctr"/>
          <a:lstStyle/>
          <a:p>
            <a:pPr algn="ctr"/>
            <a:endParaRPr lang="en-US" dirty="0">
              <a:latin typeface="Courier New" pitchFamily="49" charset="0"/>
            </a:endParaRPr>
          </a:p>
        </p:txBody>
      </p:sp>
      <p:sp>
        <p:nvSpPr>
          <p:cNvPr id="40" name="Freeform 39"/>
          <p:cNvSpPr/>
          <p:nvPr/>
        </p:nvSpPr>
        <p:spPr bwMode="auto">
          <a:xfrm flipV="1">
            <a:off x="4761881" y="3411144"/>
            <a:ext cx="973777" cy="1011382"/>
          </a:xfrm>
          <a:custGeom>
            <a:avLst/>
            <a:gdLst>
              <a:gd name="connsiteX0" fmla="*/ 0 w 973777"/>
              <a:gd name="connsiteY0" fmla="*/ 73231 h 1011382"/>
              <a:gd name="connsiteX1" fmla="*/ 368136 w 973777"/>
              <a:gd name="connsiteY1" fmla="*/ 132608 h 1011382"/>
              <a:gd name="connsiteX2" fmla="*/ 676894 w 973777"/>
              <a:gd name="connsiteY2" fmla="*/ 868878 h 1011382"/>
              <a:gd name="connsiteX3" fmla="*/ 950026 w 973777"/>
              <a:gd name="connsiteY3" fmla="*/ 987631 h 1011382"/>
              <a:gd name="connsiteX4" fmla="*/ 950026 w 973777"/>
              <a:gd name="connsiteY4" fmla="*/ 987631 h 1011382"/>
              <a:gd name="connsiteX5" fmla="*/ 973777 w 973777"/>
              <a:gd name="connsiteY5" fmla="*/ 975756 h 1011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777" h="1011382">
                <a:moveTo>
                  <a:pt x="0" y="73231"/>
                </a:moveTo>
                <a:cubicBezTo>
                  <a:pt x="127660" y="36615"/>
                  <a:pt x="255320" y="0"/>
                  <a:pt x="368136" y="132608"/>
                </a:cubicBezTo>
                <a:cubicBezTo>
                  <a:pt x="480952" y="265216"/>
                  <a:pt x="579912" y="726374"/>
                  <a:pt x="676894" y="868878"/>
                </a:cubicBezTo>
                <a:cubicBezTo>
                  <a:pt x="773876" y="1011382"/>
                  <a:pt x="950026" y="987631"/>
                  <a:pt x="950026" y="987631"/>
                </a:cubicBezTo>
                <a:lnTo>
                  <a:pt x="950026" y="987631"/>
                </a:lnTo>
                <a:lnTo>
                  <a:pt x="973777" y="975756"/>
                </a:lnTo>
              </a:path>
            </a:pathLst>
          </a:custGeom>
          <a:noFill/>
          <a:ln w="57150" cap="flat" cmpd="sng" algn="ctr">
            <a:solidFill>
              <a:schemeClr val="tx1"/>
            </a:solidFill>
            <a:prstDash val="solid"/>
            <a:round/>
            <a:headEnd type="none" w="med" len="med"/>
            <a:tailEnd type="none" w="med" len="med"/>
          </a:ln>
          <a:effectLst/>
        </p:spPr>
        <p:txBody>
          <a:bodyPr rtlCol="0" anchor="ctr"/>
          <a:lstStyle/>
          <a:p>
            <a:pPr algn="ctr"/>
            <a:endParaRPr lang="en-US" dirty="0">
              <a:latin typeface="Courier New" pitchFamily="49" charset="0"/>
            </a:endParaRPr>
          </a:p>
        </p:txBody>
      </p:sp>
      <p:grpSp>
        <p:nvGrpSpPr>
          <p:cNvPr id="42" name="Group 20"/>
          <p:cNvGrpSpPr>
            <a:grpSpLocks/>
          </p:cNvGrpSpPr>
          <p:nvPr/>
        </p:nvGrpSpPr>
        <p:grpSpPr bwMode="auto">
          <a:xfrm>
            <a:off x="6186726" y="2329388"/>
            <a:ext cx="1377950" cy="423862"/>
            <a:chOff x="1313" y="2496"/>
            <a:chExt cx="1252" cy="427"/>
          </a:xfrm>
        </p:grpSpPr>
        <p:sp>
          <p:nvSpPr>
            <p:cNvPr id="43"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44"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45"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46"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1441 1.32285E-6 C 0.09792 -0.01156 0.18212 -0.03492 0.22639 -0.01596 C 0.27066 0.00301 0.24254 0.09343 0.27987 0.11355 C 0.31719 0.13367 0.40382 0.14362 0.45001 0.10499 C 0.49619 0.06637 0.53039 -0.08118 0.5573 -0.11772 C 0.58421 -0.15426 0.5981 -0.12974 0.61198 -0.11425 " pathEditMode="relative" rAng="0" ptsTypes="aaaaaa">
                                      <p:cBhvr>
                                        <p:cTn id="6" dur="2000" fill="hold"/>
                                        <p:tgtEl>
                                          <p:spTgt spid="2"/>
                                        </p:tgtEl>
                                        <p:attrNameLst>
                                          <p:attrName>ppt_x</p:attrName>
                                          <p:attrName>ppt_y</p:attrName>
                                        </p:attrNameLst>
                                      </p:cBhvr>
                                      <p:rCtr x="29900" y="-500"/>
                                    </p:animMotion>
                                  </p:childTnLst>
                                </p:cTn>
                              </p:par>
                              <p:par>
                                <p:cTn id="7" presetID="0" presetClass="path" presetSubtype="0" accel="50000" decel="50000" fill="hold" grpId="0" nodeType="withEffect">
                                  <p:stCondLst>
                                    <p:cond delay="0"/>
                                  </p:stCondLst>
                                  <p:childTnLst>
                                    <p:animMotion origin="layout" path="M -0.00209 0.00231 L -0.00209 -0.12396 " pathEditMode="relative" ptsTypes="AA">
                                      <p:cBhvr>
                                        <p:cTn id="8" dur="2000" fill="hold"/>
                                        <p:tgtEl>
                                          <p:spTgt spid="55"/>
                                        </p:tgtEl>
                                        <p:attrNameLst>
                                          <p:attrName>ppt_x</p:attrName>
                                          <p:attrName>ppt_y</p:attrName>
                                        </p:attrNameLst>
                                      </p:cBhvr>
                                    </p:animMotion>
                                  </p:childTnLst>
                                </p:cTn>
                              </p:par>
                            </p:childTnLst>
                          </p:cTn>
                        </p:par>
                        <p:par>
                          <p:cTn id="9" fill="hold">
                            <p:stCondLst>
                              <p:cond delay="2000"/>
                            </p:stCondLst>
                            <p:childTnLst>
                              <p:par>
                                <p:cTn id="10" presetID="0" presetClass="path" presetSubtype="0" accel="50000" decel="50000" fill="hold" grpId="0" nodeType="afterEffect">
                                  <p:stCondLst>
                                    <p:cond delay="0"/>
                                  </p:stCondLst>
                                  <p:childTnLst>
                                    <p:animMotion origin="layout" path="M 0.00173 0.0074 L 0.00173 0.13714 " pathEditMode="relative" ptsTypes="AA">
                                      <p:cBhvr>
                                        <p:cTn id="11" dur="2000" fill="hold"/>
                                        <p:tgtEl>
                                          <p:spTgt spid="6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63" grpId="0" animBg="1"/>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584200" y="282575"/>
            <a:ext cx="8353425" cy="1143000"/>
          </a:xfrm>
          <a:prstGeom prst="rect">
            <a:avLst/>
          </a:prstGeom>
          <a:noFill/>
          <a:ln w="12700">
            <a:noFill/>
            <a:miter lim="800000"/>
            <a:headEnd/>
            <a:tailEnd/>
          </a:ln>
          <a:effectLst/>
        </p:spPr>
        <p:txBody>
          <a:bodyPr lIns="57150" tIns="46038" rIns="57150" bIns="46038" anchor="ctr"/>
          <a:lstStyle/>
          <a:p>
            <a:pPr algn="ctr">
              <a:defRPr/>
            </a:pPr>
            <a:r>
              <a:rPr lang="en-US" sz="4400" b="0" dirty="0">
                <a:solidFill>
                  <a:schemeClr val="tx2"/>
                </a:solidFill>
                <a:latin typeface="Arial" pitchFamily="34" charset="0"/>
                <a:cs typeface="Arial" pitchFamily="34" charset="0"/>
              </a:rPr>
              <a:t>Implementing Counting Trees </a:t>
            </a:r>
          </a:p>
        </p:txBody>
      </p:sp>
      <p:sp>
        <p:nvSpPr>
          <p:cNvPr id="25645" name="Line 45"/>
          <p:cNvSpPr>
            <a:spLocks noChangeShapeType="1"/>
          </p:cNvSpPr>
          <p:nvPr/>
        </p:nvSpPr>
        <p:spPr bwMode="auto">
          <a:xfrm>
            <a:off x="3343275" y="3338513"/>
            <a:ext cx="223838" cy="1587"/>
          </a:xfrm>
          <a:prstGeom prst="line">
            <a:avLst/>
          </a:prstGeom>
          <a:noFill/>
          <a:ln w="25400">
            <a:solidFill>
              <a:schemeClr val="tx2"/>
            </a:solidFill>
            <a:round/>
            <a:headEnd/>
            <a:tailEnd/>
          </a:ln>
          <a:effectLst/>
        </p:spPr>
        <p:txBody>
          <a:bodyPr wrap="none" anchor="ctr"/>
          <a:lstStyle/>
          <a:p>
            <a:pPr>
              <a:defRPr/>
            </a:pPr>
            <a:endParaRPr lang="en-US" sz="2000">
              <a:latin typeface="Arial" pitchFamily="34" charset="0"/>
              <a:cs typeface="Arial" pitchFamily="34" charset="0"/>
            </a:endParaRPr>
          </a:p>
        </p:txBody>
      </p:sp>
      <p:sp>
        <p:nvSpPr>
          <p:cNvPr id="25649" name="Freeform 49"/>
          <p:cNvSpPr>
            <a:spLocks/>
          </p:cNvSpPr>
          <p:nvPr/>
        </p:nvSpPr>
        <p:spPr bwMode="auto">
          <a:xfrm>
            <a:off x="3897313" y="2881313"/>
            <a:ext cx="566737" cy="320675"/>
          </a:xfrm>
          <a:custGeom>
            <a:avLst/>
            <a:gdLst/>
            <a:ahLst/>
            <a:cxnLst>
              <a:cxn ang="0">
                <a:pos x="0" y="138"/>
              </a:cxn>
              <a:cxn ang="0">
                <a:pos x="99" y="138"/>
              </a:cxn>
              <a:cxn ang="0">
                <a:pos x="99" y="0"/>
              </a:cxn>
              <a:cxn ang="0">
                <a:pos x="255" y="0"/>
              </a:cxn>
              <a:cxn ang="0">
                <a:pos x="255" y="0"/>
              </a:cxn>
            </a:cxnLst>
            <a:rect l="0" t="0" r="r" b="b"/>
            <a:pathLst>
              <a:path w="256" h="139">
                <a:moveTo>
                  <a:pt x="0" y="138"/>
                </a:moveTo>
                <a:lnTo>
                  <a:pt x="99" y="138"/>
                </a:lnTo>
                <a:lnTo>
                  <a:pt x="99" y="0"/>
                </a:lnTo>
                <a:lnTo>
                  <a:pt x="255" y="0"/>
                </a:lnTo>
                <a:lnTo>
                  <a:pt x="255"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0" name="Freeform 50"/>
          <p:cNvSpPr>
            <a:spLocks/>
          </p:cNvSpPr>
          <p:nvPr/>
        </p:nvSpPr>
        <p:spPr bwMode="auto">
          <a:xfrm>
            <a:off x="4794250" y="2152650"/>
            <a:ext cx="503238" cy="609600"/>
          </a:xfrm>
          <a:custGeom>
            <a:avLst/>
            <a:gdLst/>
            <a:ahLst/>
            <a:cxnLst>
              <a:cxn ang="0">
                <a:pos x="0" y="264"/>
              </a:cxn>
              <a:cxn ang="0">
                <a:pos x="87" y="264"/>
              </a:cxn>
              <a:cxn ang="0">
                <a:pos x="87" y="0"/>
              </a:cxn>
              <a:cxn ang="0">
                <a:pos x="226" y="0"/>
              </a:cxn>
              <a:cxn ang="0">
                <a:pos x="226" y="0"/>
              </a:cxn>
            </a:cxnLst>
            <a:rect l="0" t="0" r="r" b="b"/>
            <a:pathLst>
              <a:path w="227" h="265">
                <a:moveTo>
                  <a:pt x="0" y="264"/>
                </a:moveTo>
                <a:lnTo>
                  <a:pt x="87" y="264"/>
                </a:lnTo>
                <a:lnTo>
                  <a:pt x="87" y="0"/>
                </a:lnTo>
                <a:lnTo>
                  <a:pt x="226" y="0"/>
                </a:lnTo>
                <a:lnTo>
                  <a:pt x="226"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1" name="Freeform 51"/>
          <p:cNvSpPr>
            <a:spLocks/>
          </p:cNvSpPr>
          <p:nvPr/>
        </p:nvSpPr>
        <p:spPr bwMode="auto">
          <a:xfrm>
            <a:off x="3897313" y="3503613"/>
            <a:ext cx="503237" cy="307975"/>
          </a:xfrm>
          <a:custGeom>
            <a:avLst/>
            <a:gdLst/>
            <a:ahLst/>
            <a:cxnLst>
              <a:cxn ang="0">
                <a:pos x="0" y="0"/>
              </a:cxn>
              <a:cxn ang="0">
                <a:pos x="87" y="0"/>
              </a:cxn>
              <a:cxn ang="0">
                <a:pos x="87" y="134"/>
              </a:cxn>
              <a:cxn ang="0">
                <a:pos x="226" y="134"/>
              </a:cxn>
              <a:cxn ang="0">
                <a:pos x="226" y="134"/>
              </a:cxn>
            </a:cxnLst>
            <a:rect l="0" t="0" r="r" b="b"/>
            <a:pathLst>
              <a:path w="227" h="135">
                <a:moveTo>
                  <a:pt x="0" y="0"/>
                </a:moveTo>
                <a:lnTo>
                  <a:pt x="87" y="0"/>
                </a:lnTo>
                <a:lnTo>
                  <a:pt x="87" y="134"/>
                </a:lnTo>
                <a:lnTo>
                  <a:pt x="226" y="134"/>
                </a:lnTo>
                <a:lnTo>
                  <a:pt x="226" y="134"/>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2" name="Line 52"/>
          <p:cNvSpPr>
            <a:spLocks noChangeShapeType="1"/>
          </p:cNvSpPr>
          <p:nvPr/>
        </p:nvSpPr>
        <p:spPr bwMode="auto">
          <a:xfrm flipV="1">
            <a:off x="5659438" y="1979613"/>
            <a:ext cx="668337" cy="39687"/>
          </a:xfrm>
          <a:prstGeom prst="line">
            <a:avLst/>
          </a:prstGeom>
          <a:noFill/>
          <a:ln w="25400">
            <a:solidFill>
              <a:schemeClr val="tx2"/>
            </a:solidFill>
            <a:round/>
            <a:headEnd/>
            <a:tailEnd type="triangle" w="med" len="med"/>
          </a:ln>
          <a:effectLst/>
        </p:spPr>
        <p:txBody>
          <a:bodyPr wrap="none" anchor="ctr"/>
          <a:lstStyle/>
          <a:p>
            <a:pPr>
              <a:defRPr/>
            </a:pPr>
            <a:endParaRPr lang="en-US" sz="2000">
              <a:latin typeface="Arial" pitchFamily="34" charset="0"/>
              <a:cs typeface="Arial" pitchFamily="34" charset="0"/>
            </a:endParaRPr>
          </a:p>
        </p:txBody>
      </p:sp>
      <p:sp>
        <p:nvSpPr>
          <p:cNvPr id="25653" name="Freeform 53"/>
          <p:cNvSpPr>
            <a:spLocks/>
          </p:cNvSpPr>
          <p:nvPr/>
        </p:nvSpPr>
        <p:spPr bwMode="auto">
          <a:xfrm>
            <a:off x="4756150" y="3952875"/>
            <a:ext cx="555625" cy="700088"/>
          </a:xfrm>
          <a:custGeom>
            <a:avLst/>
            <a:gdLst/>
            <a:ahLst/>
            <a:cxnLst>
              <a:cxn ang="0">
                <a:pos x="0" y="0"/>
              </a:cxn>
              <a:cxn ang="0">
                <a:pos x="96" y="0"/>
              </a:cxn>
              <a:cxn ang="0">
                <a:pos x="96" y="304"/>
              </a:cxn>
              <a:cxn ang="0">
                <a:pos x="249" y="304"/>
              </a:cxn>
              <a:cxn ang="0">
                <a:pos x="249" y="304"/>
              </a:cxn>
            </a:cxnLst>
            <a:rect l="0" t="0" r="r" b="b"/>
            <a:pathLst>
              <a:path w="250" h="305">
                <a:moveTo>
                  <a:pt x="0" y="0"/>
                </a:moveTo>
                <a:lnTo>
                  <a:pt x="96" y="0"/>
                </a:lnTo>
                <a:lnTo>
                  <a:pt x="96" y="304"/>
                </a:lnTo>
                <a:lnTo>
                  <a:pt x="249" y="304"/>
                </a:lnTo>
                <a:lnTo>
                  <a:pt x="249" y="304"/>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4" name="Freeform 54"/>
          <p:cNvSpPr>
            <a:spLocks/>
          </p:cNvSpPr>
          <p:nvPr/>
        </p:nvSpPr>
        <p:spPr bwMode="auto">
          <a:xfrm>
            <a:off x="4741863" y="3735388"/>
            <a:ext cx="569912" cy="85725"/>
          </a:xfrm>
          <a:custGeom>
            <a:avLst/>
            <a:gdLst/>
            <a:ahLst/>
            <a:cxnLst>
              <a:cxn ang="0">
                <a:pos x="0" y="0"/>
              </a:cxn>
              <a:cxn ang="0">
                <a:pos x="99" y="0"/>
              </a:cxn>
              <a:cxn ang="0">
                <a:pos x="99" y="37"/>
              </a:cxn>
              <a:cxn ang="0">
                <a:pos x="256" y="37"/>
              </a:cxn>
              <a:cxn ang="0">
                <a:pos x="256" y="37"/>
              </a:cxn>
            </a:cxnLst>
            <a:rect l="0" t="0" r="r" b="b"/>
            <a:pathLst>
              <a:path w="257" h="38">
                <a:moveTo>
                  <a:pt x="0" y="0"/>
                </a:moveTo>
                <a:lnTo>
                  <a:pt x="99" y="0"/>
                </a:lnTo>
                <a:lnTo>
                  <a:pt x="99" y="37"/>
                </a:lnTo>
                <a:lnTo>
                  <a:pt x="256" y="37"/>
                </a:lnTo>
                <a:lnTo>
                  <a:pt x="256" y="37"/>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55" name="Freeform 55"/>
          <p:cNvSpPr>
            <a:spLocks/>
          </p:cNvSpPr>
          <p:nvPr/>
        </p:nvSpPr>
        <p:spPr bwMode="auto">
          <a:xfrm>
            <a:off x="4783138" y="2943225"/>
            <a:ext cx="565150" cy="84138"/>
          </a:xfrm>
          <a:custGeom>
            <a:avLst/>
            <a:gdLst/>
            <a:ahLst/>
            <a:cxnLst>
              <a:cxn ang="0">
                <a:pos x="0" y="37"/>
              </a:cxn>
              <a:cxn ang="0">
                <a:pos x="98" y="37"/>
              </a:cxn>
              <a:cxn ang="0">
                <a:pos x="98" y="0"/>
              </a:cxn>
              <a:cxn ang="0">
                <a:pos x="254" y="0"/>
              </a:cxn>
              <a:cxn ang="0">
                <a:pos x="254" y="0"/>
              </a:cxn>
            </a:cxnLst>
            <a:rect l="0" t="0" r="r" b="b"/>
            <a:pathLst>
              <a:path w="255" h="38">
                <a:moveTo>
                  <a:pt x="0" y="37"/>
                </a:moveTo>
                <a:lnTo>
                  <a:pt x="98" y="37"/>
                </a:lnTo>
                <a:lnTo>
                  <a:pt x="98" y="0"/>
                </a:lnTo>
                <a:lnTo>
                  <a:pt x="254" y="0"/>
                </a:lnTo>
                <a:lnTo>
                  <a:pt x="254" y="0"/>
                </a:lnTo>
              </a:path>
            </a:pathLst>
          </a:custGeom>
          <a:noFill/>
          <a:ln w="25400" cap="rnd" cmpd="sng">
            <a:solidFill>
              <a:schemeClr val="tx2"/>
            </a:solidFill>
            <a:prstDash val="solid"/>
            <a:round/>
            <a:headEnd type="none" w="med" len="med"/>
            <a:tailEnd type="none" w="med" len="med"/>
          </a:ln>
          <a:effectLst/>
        </p:spPr>
        <p:txBody>
          <a:bodyPr/>
          <a:lstStyle/>
          <a:p>
            <a:pPr>
              <a:defRPr/>
            </a:pPr>
            <a:endParaRPr lang="en-US" sz="2000">
              <a:latin typeface="Arial" pitchFamily="34" charset="0"/>
              <a:cs typeface="Arial" pitchFamily="34" charset="0"/>
            </a:endParaRPr>
          </a:p>
        </p:txBody>
      </p:sp>
      <p:sp>
        <p:nvSpPr>
          <p:cNvPr id="25670" name="Freeform 70"/>
          <p:cNvSpPr>
            <a:spLocks/>
          </p:cNvSpPr>
          <p:nvPr/>
        </p:nvSpPr>
        <p:spPr bwMode="auto">
          <a:xfrm>
            <a:off x="5653088" y="2297113"/>
            <a:ext cx="688975" cy="1428750"/>
          </a:xfrm>
          <a:custGeom>
            <a:avLst/>
            <a:gdLst/>
            <a:ahLst/>
            <a:cxnLst>
              <a:cxn ang="0">
                <a:pos x="0" y="0"/>
              </a:cxn>
              <a:cxn ang="0">
                <a:pos x="120" y="0"/>
              </a:cxn>
              <a:cxn ang="0">
                <a:pos x="201" y="621"/>
              </a:cxn>
              <a:cxn ang="0">
                <a:pos x="310" y="621"/>
              </a:cxn>
              <a:cxn ang="0">
                <a:pos x="310" y="621"/>
              </a:cxn>
            </a:cxnLst>
            <a:rect l="0" t="0" r="r" b="b"/>
            <a:pathLst>
              <a:path w="311" h="622">
                <a:moveTo>
                  <a:pt x="0" y="0"/>
                </a:moveTo>
                <a:lnTo>
                  <a:pt x="120" y="0"/>
                </a:lnTo>
                <a:lnTo>
                  <a:pt x="201" y="621"/>
                </a:lnTo>
                <a:lnTo>
                  <a:pt x="310" y="621"/>
                </a:lnTo>
                <a:lnTo>
                  <a:pt x="310" y="621"/>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a:latin typeface="Arial" pitchFamily="34" charset="0"/>
              <a:cs typeface="Arial" pitchFamily="34" charset="0"/>
            </a:endParaRPr>
          </a:p>
        </p:txBody>
      </p:sp>
      <p:sp>
        <p:nvSpPr>
          <p:cNvPr id="25671" name="Line 71"/>
          <p:cNvSpPr>
            <a:spLocks noChangeShapeType="1"/>
          </p:cNvSpPr>
          <p:nvPr/>
        </p:nvSpPr>
        <p:spPr bwMode="auto">
          <a:xfrm>
            <a:off x="5659438" y="2805113"/>
            <a:ext cx="674687" cy="4762"/>
          </a:xfrm>
          <a:prstGeom prst="line">
            <a:avLst/>
          </a:prstGeom>
          <a:noFill/>
          <a:ln w="25400">
            <a:solidFill>
              <a:schemeClr val="tx2"/>
            </a:solidFill>
            <a:round/>
            <a:headEnd/>
            <a:tailEnd type="triangle" w="med" len="med"/>
          </a:ln>
          <a:effectLst/>
        </p:spPr>
        <p:txBody>
          <a:bodyPr wrap="none" anchor="ctr"/>
          <a:lstStyle/>
          <a:p>
            <a:pPr>
              <a:defRPr/>
            </a:pPr>
            <a:endParaRPr lang="en-US" sz="2000">
              <a:latin typeface="Arial" pitchFamily="34" charset="0"/>
              <a:cs typeface="Arial" pitchFamily="34" charset="0"/>
            </a:endParaRPr>
          </a:p>
        </p:txBody>
      </p:sp>
      <p:sp>
        <p:nvSpPr>
          <p:cNvPr id="25672" name="Freeform 72"/>
          <p:cNvSpPr>
            <a:spLocks/>
          </p:cNvSpPr>
          <p:nvPr/>
        </p:nvSpPr>
        <p:spPr bwMode="auto">
          <a:xfrm>
            <a:off x="5653088" y="3076575"/>
            <a:ext cx="696912" cy="1497013"/>
          </a:xfrm>
          <a:custGeom>
            <a:avLst/>
            <a:gdLst/>
            <a:ahLst/>
            <a:cxnLst>
              <a:cxn ang="0">
                <a:pos x="0" y="0"/>
              </a:cxn>
              <a:cxn ang="0">
                <a:pos x="60" y="0"/>
              </a:cxn>
              <a:cxn ang="0">
                <a:pos x="209" y="651"/>
              </a:cxn>
              <a:cxn ang="0">
                <a:pos x="313" y="651"/>
              </a:cxn>
              <a:cxn ang="0">
                <a:pos x="313" y="651"/>
              </a:cxn>
            </a:cxnLst>
            <a:rect l="0" t="0" r="r" b="b"/>
            <a:pathLst>
              <a:path w="314" h="652">
                <a:moveTo>
                  <a:pt x="0" y="0"/>
                </a:moveTo>
                <a:lnTo>
                  <a:pt x="60" y="0"/>
                </a:lnTo>
                <a:lnTo>
                  <a:pt x="209" y="651"/>
                </a:lnTo>
                <a:lnTo>
                  <a:pt x="313" y="651"/>
                </a:lnTo>
                <a:lnTo>
                  <a:pt x="313" y="651"/>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a:latin typeface="Arial" pitchFamily="34" charset="0"/>
              <a:cs typeface="Arial" pitchFamily="34" charset="0"/>
            </a:endParaRPr>
          </a:p>
        </p:txBody>
      </p:sp>
      <p:sp>
        <p:nvSpPr>
          <p:cNvPr id="25673" name="Line 73"/>
          <p:cNvSpPr>
            <a:spLocks noChangeShapeType="1"/>
          </p:cNvSpPr>
          <p:nvPr/>
        </p:nvSpPr>
        <p:spPr bwMode="auto">
          <a:xfrm flipV="1">
            <a:off x="5659438" y="4754563"/>
            <a:ext cx="657225" cy="46037"/>
          </a:xfrm>
          <a:prstGeom prst="line">
            <a:avLst/>
          </a:prstGeom>
          <a:noFill/>
          <a:ln w="25400">
            <a:solidFill>
              <a:schemeClr val="tx2"/>
            </a:solidFill>
            <a:round/>
            <a:headEnd/>
            <a:tailEnd type="triangle" w="med" len="med"/>
          </a:ln>
          <a:effectLst/>
        </p:spPr>
        <p:txBody>
          <a:bodyPr wrap="none" anchor="ctr"/>
          <a:lstStyle/>
          <a:p>
            <a:pPr>
              <a:defRPr/>
            </a:pPr>
            <a:endParaRPr lang="en-US" sz="2000">
              <a:latin typeface="Arial" pitchFamily="34" charset="0"/>
              <a:cs typeface="Arial" pitchFamily="34" charset="0"/>
            </a:endParaRPr>
          </a:p>
        </p:txBody>
      </p:sp>
      <p:sp>
        <p:nvSpPr>
          <p:cNvPr id="25674" name="Line 74"/>
          <p:cNvSpPr>
            <a:spLocks noChangeShapeType="1"/>
          </p:cNvSpPr>
          <p:nvPr/>
        </p:nvSpPr>
        <p:spPr bwMode="auto">
          <a:xfrm>
            <a:off x="5672138" y="3940175"/>
            <a:ext cx="671512" cy="3175"/>
          </a:xfrm>
          <a:prstGeom prst="line">
            <a:avLst/>
          </a:prstGeom>
          <a:noFill/>
          <a:ln w="25400">
            <a:solidFill>
              <a:schemeClr val="tx2"/>
            </a:solidFill>
            <a:round/>
            <a:headEnd/>
            <a:tailEnd type="triangle" w="med" len="med"/>
          </a:ln>
          <a:effectLst/>
        </p:spPr>
        <p:txBody>
          <a:bodyPr wrap="none" anchor="ctr"/>
          <a:lstStyle/>
          <a:p>
            <a:pPr>
              <a:defRPr/>
            </a:pPr>
            <a:endParaRPr lang="en-US" sz="2000">
              <a:latin typeface="Arial" pitchFamily="34" charset="0"/>
              <a:cs typeface="Arial" pitchFamily="34" charset="0"/>
            </a:endParaRPr>
          </a:p>
        </p:txBody>
      </p:sp>
      <p:sp>
        <p:nvSpPr>
          <p:cNvPr id="25675" name="Freeform 75"/>
          <p:cNvSpPr>
            <a:spLocks/>
          </p:cNvSpPr>
          <p:nvPr/>
        </p:nvSpPr>
        <p:spPr bwMode="auto">
          <a:xfrm>
            <a:off x="5653088" y="3094038"/>
            <a:ext cx="682625" cy="1447800"/>
          </a:xfrm>
          <a:custGeom>
            <a:avLst/>
            <a:gdLst/>
            <a:ahLst/>
            <a:cxnLst>
              <a:cxn ang="0">
                <a:pos x="0" y="631"/>
              </a:cxn>
              <a:cxn ang="0">
                <a:pos x="59" y="631"/>
              </a:cxn>
              <a:cxn ang="0">
                <a:pos x="205" y="0"/>
              </a:cxn>
              <a:cxn ang="0">
                <a:pos x="307" y="0"/>
              </a:cxn>
              <a:cxn ang="0">
                <a:pos x="307" y="0"/>
              </a:cxn>
            </a:cxnLst>
            <a:rect l="0" t="0" r="r" b="b"/>
            <a:pathLst>
              <a:path w="308" h="632">
                <a:moveTo>
                  <a:pt x="0" y="631"/>
                </a:moveTo>
                <a:lnTo>
                  <a:pt x="59" y="631"/>
                </a:lnTo>
                <a:lnTo>
                  <a:pt x="205" y="0"/>
                </a:lnTo>
                <a:lnTo>
                  <a:pt x="307" y="0"/>
                </a:lnTo>
                <a:lnTo>
                  <a:pt x="307" y="0"/>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a:latin typeface="Arial" pitchFamily="34" charset="0"/>
              <a:cs typeface="Arial" pitchFamily="34" charset="0"/>
            </a:endParaRPr>
          </a:p>
        </p:txBody>
      </p:sp>
      <p:sp>
        <p:nvSpPr>
          <p:cNvPr id="25676" name="Freeform 76"/>
          <p:cNvSpPr>
            <a:spLocks/>
          </p:cNvSpPr>
          <p:nvPr/>
        </p:nvSpPr>
        <p:spPr bwMode="auto">
          <a:xfrm>
            <a:off x="5653088" y="2303463"/>
            <a:ext cx="688975" cy="1411287"/>
          </a:xfrm>
          <a:custGeom>
            <a:avLst/>
            <a:gdLst/>
            <a:ahLst/>
            <a:cxnLst>
              <a:cxn ang="0">
                <a:pos x="0" y="614"/>
              </a:cxn>
              <a:cxn ang="0">
                <a:pos x="60" y="614"/>
              </a:cxn>
              <a:cxn ang="0">
                <a:pos x="207" y="0"/>
              </a:cxn>
              <a:cxn ang="0">
                <a:pos x="310" y="0"/>
              </a:cxn>
              <a:cxn ang="0">
                <a:pos x="310" y="0"/>
              </a:cxn>
            </a:cxnLst>
            <a:rect l="0" t="0" r="r" b="b"/>
            <a:pathLst>
              <a:path w="311" h="615">
                <a:moveTo>
                  <a:pt x="0" y="614"/>
                </a:moveTo>
                <a:lnTo>
                  <a:pt x="60" y="614"/>
                </a:lnTo>
                <a:lnTo>
                  <a:pt x="207" y="0"/>
                </a:lnTo>
                <a:lnTo>
                  <a:pt x="310" y="0"/>
                </a:lnTo>
                <a:lnTo>
                  <a:pt x="310" y="0"/>
                </a:lnTo>
              </a:path>
            </a:pathLst>
          </a:custGeom>
          <a:noFill/>
          <a:ln w="25400" cap="rnd" cmpd="sng">
            <a:solidFill>
              <a:schemeClr val="tx2"/>
            </a:solidFill>
            <a:prstDash val="solid"/>
            <a:round/>
            <a:headEnd type="none" w="med" len="med"/>
            <a:tailEnd type="triangle" w="med" len="med"/>
          </a:ln>
          <a:effectLst/>
        </p:spPr>
        <p:txBody>
          <a:bodyPr/>
          <a:lstStyle/>
          <a:p>
            <a:pPr>
              <a:defRPr/>
            </a:pPr>
            <a:endParaRPr lang="en-US" sz="2000">
              <a:latin typeface="Arial" pitchFamily="34" charset="0"/>
              <a:cs typeface="Arial" pitchFamily="34" charset="0"/>
            </a:endParaRPr>
          </a:p>
        </p:txBody>
      </p:sp>
      <p:grpSp>
        <p:nvGrpSpPr>
          <p:cNvPr id="2" name="Group 63"/>
          <p:cNvGrpSpPr>
            <a:grpSpLocks/>
          </p:cNvGrpSpPr>
          <p:nvPr/>
        </p:nvGrpSpPr>
        <p:grpSpPr bwMode="auto">
          <a:xfrm>
            <a:off x="5334000" y="1870075"/>
            <a:ext cx="304800" cy="3024188"/>
            <a:chOff x="5272026" y="1808142"/>
            <a:chExt cx="304800" cy="3429000"/>
          </a:xfrm>
        </p:grpSpPr>
        <p:sp>
          <p:nvSpPr>
            <p:cNvPr id="241754" name="AutoShape 12"/>
            <p:cNvSpPr>
              <a:spLocks noChangeArrowheads="1"/>
            </p:cNvSpPr>
            <p:nvPr/>
          </p:nvSpPr>
          <p:spPr bwMode="auto">
            <a:xfrm>
              <a:off x="5272026" y="18081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1755" name="AutoShape 13"/>
            <p:cNvSpPr>
              <a:spLocks noChangeArrowheads="1"/>
            </p:cNvSpPr>
            <p:nvPr/>
          </p:nvSpPr>
          <p:spPr bwMode="auto">
            <a:xfrm>
              <a:off x="5272026" y="27479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1756" name="AutoShape 14"/>
            <p:cNvSpPr>
              <a:spLocks noChangeArrowheads="1"/>
            </p:cNvSpPr>
            <p:nvPr/>
          </p:nvSpPr>
          <p:spPr bwMode="auto">
            <a:xfrm>
              <a:off x="5272026" y="36877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1757" name="AutoShape 15"/>
            <p:cNvSpPr>
              <a:spLocks noChangeArrowheads="1"/>
            </p:cNvSpPr>
            <p:nvPr/>
          </p:nvSpPr>
          <p:spPr bwMode="auto">
            <a:xfrm>
              <a:off x="5272026" y="4551342"/>
              <a:ext cx="304800" cy="685800"/>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sp>
        <p:nvSpPr>
          <p:cNvPr id="66" name="AutoShape 12"/>
          <p:cNvSpPr>
            <a:spLocks noChangeArrowheads="1"/>
          </p:cNvSpPr>
          <p:nvPr/>
        </p:nvSpPr>
        <p:spPr bwMode="auto">
          <a:xfrm>
            <a:off x="4451350" y="2649538"/>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7" name="AutoShape 13"/>
          <p:cNvSpPr>
            <a:spLocks noChangeArrowheads="1"/>
          </p:cNvSpPr>
          <p:nvPr/>
        </p:nvSpPr>
        <p:spPr bwMode="auto">
          <a:xfrm>
            <a:off x="4451350" y="347821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68" name="AutoShape 14"/>
          <p:cNvSpPr>
            <a:spLocks noChangeArrowheads="1"/>
          </p:cNvSpPr>
          <p:nvPr/>
        </p:nvSpPr>
        <p:spPr bwMode="auto">
          <a:xfrm>
            <a:off x="3567113" y="302736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grpSp>
        <p:nvGrpSpPr>
          <p:cNvPr id="3" name="Group 170"/>
          <p:cNvGrpSpPr/>
          <p:nvPr/>
        </p:nvGrpSpPr>
        <p:grpSpPr>
          <a:xfrm>
            <a:off x="1096584" y="2683736"/>
            <a:ext cx="2129177" cy="1239075"/>
            <a:chOff x="406244" y="2747963"/>
            <a:chExt cx="2129177" cy="1239075"/>
          </a:xfrm>
        </p:grpSpPr>
        <p:grpSp>
          <p:nvGrpSpPr>
            <p:cNvPr id="4" name="Group 32"/>
            <p:cNvGrpSpPr>
              <a:grpSpLocks/>
            </p:cNvGrpSpPr>
            <p:nvPr/>
          </p:nvGrpSpPr>
          <p:grpSpPr bwMode="auto">
            <a:xfrm>
              <a:off x="905936" y="3378045"/>
              <a:ext cx="583596" cy="179517"/>
              <a:chOff x="1313" y="2496"/>
              <a:chExt cx="1252" cy="427"/>
            </a:xfrm>
          </p:grpSpPr>
          <p:sp>
            <p:nvSpPr>
              <p:cNvPr id="16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7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5" name="Group 32"/>
            <p:cNvGrpSpPr>
              <a:grpSpLocks/>
            </p:cNvGrpSpPr>
            <p:nvPr/>
          </p:nvGrpSpPr>
          <p:grpSpPr bwMode="auto">
            <a:xfrm>
              <a:off x="1818456" y="3807521"/>
              <a:ext cx="583596" cy="179517"/>
              <a:chOff x="1313" y="2496"/>
              <a:chExt cx="1252" cy="427"/>
            </a:xfrm>
          </p:grpSpPr>
          <p:sp>
            <p:nvSpPr>
              <p:cNvPr id="16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6" name="Group 32"/>
            <p:cNvGrpSpPr>
              <a:grpSpLocks/>
            </p:cNvGrpSpPr>
            <p:nvPr/>
          </p:nvGrpSpPr>
          <p:grpSpPr bwMode="auto">
            <a:xfrm>
              <a:off x="1159456" y="3766394"/>
              <a:ext cx="583596" cy="179517"/>
              <a:chOff x="1313" y="2496"/>
              <a:chExt cx="1252" cy="427"/>
            </a:xfrm>
          </p:grpSpPr>
          <p:sp>
            <p:nvSpPr>
              <p:cNvPr id="15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6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7" name="Group 32"/>
            <p:cNvGrpSpPr>
              <a:grpSpLocks/>
            </p:cNvGrpSpPr>
            <p:nvPr/>
          </p:nvGrpSpPr>
          <p:grpSpPr bwMode="auto">
            <a:xfrm>
              <a:off x="616935" y="3737175"/>
              <a:ext cx="583596" cy="179517"/>
              <a:chOff x="1313" y="2496"/>
              <a:chExt cx="1252" cy="427"/>
            </a:xfrm>
          </p:grpSpPr>
          <p:sp>
            <p:nvSpPr>
              <p:cNvPr id="15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8" name="Group 32"/>
            <p:cNvGrpSpPr>
              <a:grpSpLocks/>
            </p:cNvGrpSpPr>
            <p:nvPr/>
          </p:nvGrpSpPr>
          <p:grpSpPr bwMode="auto">
            <a:xfrm>
              <a:off x="1401790" y="3513933"/>
              <a:ext cx="583596" cy="179517"/>
              <a:chOff x="1313" y="2496"/>
              <a:chExt cx="1252" cy="427"/>
            </a:xfrm>
          </p:grpSpPr>
          <p:sp>
            <p:nvSpPr>
              <p:cNvPr id="15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9" name="Group 32"/>
            <p:cNvGrpSpPr>
              <a:grpSpLocks/>
            </p:cNvGrpSpPr>
            <p:nvPr/>
          </p:nvGrpSpPr>
          <p:grpSpPr bwMode="auto">
            <a:xfrm>
              <a:off x="1058306" y="3038180"/>
              <a:ext cx="583596" cy="179517"/>
              <a:chOff x="1313" y="2496"/>
              <a:chExt cx="1252" cy="427"/>
            </a:xfrm>
          </p:grpSpPr>
          <p:sp>
            <p:nvSpPr>
              <p:cNvPr id="14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5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0" name="Group 32"/>
            <p:cNvGrpSpPr>
              <a:grpSpLocks/>
            </p:cNvGrpSpPr>
            <p:nvPr/>
          </p:nvGrpSpPr>
          <p:grpSpPr bwMode="auto">
            <a:xfrm>
              <a:off x="1505737" y="3093045"/>
              <a:ext cx="583596" cy="179517"/>
              <a:chOff x="1313" y="2496"/>
              <a:chExt cx="1252" cy="427"/>
            </a:xfrm>
          </p:grpSpPr>
          <p:sp>
            <p:nvSpPr>
              <p:cNvPr id="14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1" name="Group 32"/>
            <p:cNvGrpSpPr>
              <a:grpSpLocks/>
            </p:cNvGrpSpPr>
            <p:nvPr/>
          </p:nvGrpSpPr>
          <p:grpSpPr bwMode="auto">
            <a:xfrm>
              <a:off x="1609684" y="3307958"/>
              <a:ext cx="583596" cy="179517"/>
              <a:chOff x="1313" y="2496"/>
              <a:chExt cx="1252" cy="427"/>
            </a:xfrm>
          </p:grpSpPr>
          <p:sp>
            <p:nvSpPr>
              <p:cNvPr id="13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4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2" name="Group 32"/>
            <p:cNvGrpSpPr>
              <a:grpSpLocks/>
            </p:cNvGrpSpPr>
            <p:nvPr/>
          </p:nvGrpSpPr>
          <p:grpSpPr bwMode="auto">
            <a:xfrm>
              <a:off x="1951825" y="3539680"/>
              <a:ext cx="583596" cy="179517"/>
              <a:chOff x="1313" y="2496"/>
              <a:chExt cx="1252" cy="427"/>
            </a:xfrm>
          </p:grpSpPr>
          <p:sp>
            <p:nvSpPr>
              <p:cNvPr id="13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3" name="Group 32"/>
            <p:cNvGrpSpPr>
              <a:grpSpLocks/>
            </p:cNvGrpSpPr>
            <p:nvPr/>
          </p:nvGrpSpPr>
          <p:grpSpPr bwMode="auto">
            <a:xfrm>
              <a:off x="1701979" y="2904590"/>
              <a:ext cx="583596" cy="179517"/>
              <a:chOff x="1313" y="2496"/>
              <a:chExt cx="1252" cy="427"/>
            </a:xfrm>
          </p:grpSpPr>
          <p:sp>
            <p:nvSpPr>
              <p:cNvPr id="13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4" name="Group 32"/>
            <p:cNvGrpSpPr>
              <a:grpSpLocks/>
            </p:cNvGrpSpPr>
            <p:nvPr/>
          </p:nvGrpSpPr>
          <p:grpSpPr bwMode="auto">
            <a:xfrm>
              <a:off x="1234860" y="2747963"/>
              <a:ext cx="583596" cy="179517"/>
              <a:chOff x="1313" y="2496"/>
              <a:chExt cx="1252" cy="427"/>
            </a:xfrm>
          </p:grpSpPr>
          <p:sp>
            <p:nvSpPr>
              <p:cNvPr id="12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3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5" name="Group 32"/>
            <p:cNvGrpSpPr>
              <a:grpSpLocks/>
            </p:cNvGrpSpPr>
            <p:nvPr/>
          </p:nvGrpSpPr>
          <p:grpSpPr bwMode="auto">
            <a:xfrm>
              <a:off x="406244" y="2913528"/>
              <a:ext cx="583596" cy="179517"/>
              <a:chOff x="1313" y="2496"/>
              <a:chExt cx="1252" cy="427"/>
            </a:xfrm>
          </p:grpSpPr>
          <p:sp>
            <p:nvSpPr>
              <p:cNvPr id="123"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4"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5"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26"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grpSp>
        <p:nvGrpSpPr>
          <p:cNvPr id="16" name="Group 32"/>
          <p:cNvGrpSpPr>
            <a:grpSpLocks/>
          </p:cNvGrpSpPr>
          <p:nvPr/>
        </p:nvGrpSpPr>
        <p:grpSpPr bwMode="auto">
          <a:xfrm>
            <a:off x="6711013" y="3467063"/>
            <a:ext cx="583596" cy="179517"/>
            <a:chOff x="1313" y="2496"/>
            <a:chExt cx="1252" cy="427"/>
          </a:xfrm>
        </p:grpSpPr>
        <p:sp>
          <p:nvSpPr>
            <p:cNvPr id="22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 name="Group 32"/>
          <p:cNvGrpSpPr>
            <a:grpSpLocks/>
          </p:cNvGrpSpPr>
          <p:nvPr/>
        </p:nvGrpSpPr>
        <p:grpSpPr bwMode="auto">
          <a:xfrm>
            <a:off x="6711013" y="4265557"/>
            <a:ext cx="583596" cy="179517"/>
            <a:chOff x="1313" y="2496"/>
            <a:chExt cx="1252" cy="427"/>
          </a:xfrm>
        </p:grpSpPr>
        <p:sp>
          <p:nvSpPr>
            <p:cNvPr id="22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8" name="Group 32"/>
          <p:cNvGrpSpPr>
            <a:grpSpLocks/>
          </p:cNvGrpSpPr>
          <p:nvPr/>
        </p:nvGrpSpPr>
        <p:grpSpPr bwMode="auto">
          <a:xfrm>
            <a:off x="6711013" y="3866310"/>
            <a:ext cx="583596" cy="179517"/>
            <a:chOff x="1313" y="2496"/>
            <a:chExt cx="1252" cy="427"/>
          </a:xfrm>
        </p:grpSpPr>
        <p:sp>
          <p:nvSpPr>
            <p:cNvPr id="221"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2"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3"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4"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9" name="Group 32"/>
          <p:cNvGrpSpPr>
            <a:grpSpLocks/>
          </p:cNvGrpSpPr>
          <p:nvPr/>
        </p:nvGrpSpPr>
        <p:grpSpPr bwMode="auto">
          <a:xfrm>
            <a:off x="6711013" y="3067816"/>
            <a:ext cx="583596" cy="179517"/>
            <a:chOff x="1313" y="2496"/>
            <a:chExt cx="1252" cy="427"/>
          </a:xfrm>
        </p:grpSpPr>
        <p:sp>
          <p:nvSpPr>
            <p:cNvPr id="21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2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0" name="Group 32"/>
          <p:cNvGrpSpPr>
            <a:grpSpLocks/>
          </p:cNvGrpSpPr>
          <p:nvPr/>
        </p:nvGrpSpPr>
        <p:grpSpPr bwMode="auto">
          <a:xfrm>
            <a:off x="6711013" y="2668569"/>
            <a:ext cx="583596" cy="179517"/>
            <a:chOff x="1313" y="2496"/>
            <a:chExt cx="1252" cy="427"/>
          </a:xfrm>
        </p:grpSpPr>
        <p:sp>
          <p:nvSpPr>
            <p:cNvPr id="20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1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1" name="Group 32"/>
          <p:cNvGrpSpPr>
            <a:grpSpLocks/>
          </p:cNvGrpSpPr>
          <p:nvPr/>
        </p:nvGrpSpPr>
        <p:grpSpPr bwMode="auto">
          <a:xfrm>
            <a:off x="6711013" y="4664804"/>
            <a:ext cx="583596" cy="179517"/>
            <a:chOff x="1313" y="2496"/>
            <a:chExt cx="1252" cy="427"/>
          </a:xfrm>
        </p:grpSpPr>
        <p:sp>
          <p:nvSpPr>
            <p:cNvPr id="197"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8"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9"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00"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2" name="Group 32"/>
          <p:cNvGrpSpPr>
            <a:grpSpLocks/>
          </p:cNvGrpSpPr>
          <p:nvPr/>
        </p:nvGrpSpPr>
        <p:grpSpPr bwMode="auto">
          <a:xfrm>
            <a:off x="6711013" y="1870075"/>
            <a:ext cx="583596" cy="179517"/>
            <a:chOff x="1313" y="2496"/>
            <a:chExt cx="1252" cy="427"/>
          </a:xfrm>
        </p:grpSpPr>
        <p:sp>
          <p:nvSpPr>
            <p:cNvPr id="18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9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3" name="Group 32"/>
          <p:cNvGrpSpPr>
            <a:grpSpLocks/>
          </p:cNvGrpSpPr>
          <p:nvPr/>
        </p:nvGrpSpPr>
        <p:grpSpPr bwMode="auto">
          <a:xfrm>
            <a:off x="6711013" y="2269322"/>
            <a:ext cx="583596" cy="179517"/>
            <a:chOff x="1313" y="2496"/>
            <a:chExt cx="1252" cy="427"/>
          </a:xfrm>
        </p:grpSpPr>
        <p:sp>
          <p:nvSpPr>
            <p:cNvPr id="185"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6"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7"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88"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4" name="Group 32"/>
          <p:cNvGrpSpPr>
            <a:grpSpLocks/>
          </p:cNvGrpSpPr>
          <p:nvPr/>
        </p:nvGrpSpPr>
        <p:grpSpPr bwMode="auto">
          <a:xfrm>
            <a:off x="7447009" y="3141599"/>
            <a:ext cx="583596" cy="179517"/>
            <a:chOff x="1313" y="2496"/>
            <a:chExt cx="1252" cy="427"/>
          </a:xfrm>
        </p:grpSpPr>
        <p:sp>
          <p:nvSpPr>
            <p:cNvPr id="23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3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5" name="Group 32"/>
          <p:cNvGrpSpPr>
            <a:grpSpLocks/>
          </p:cNvGrpSpPr>
          <p:nvPr/>
        </p:nvGrpSpPr>
        <p:grpSpPr bwMode="auto">
          <a:xfrm>
            <a:off x="7447009" y="2742352"/>
            <a:ext cx="583596" cy="179517"/>
            <a:chOff x="1313" y="2496"/>
            <a:chExt cx="1252" cy="427"/>
          </a:xfrm>
        </p:grpSpPr>
        <p:sp>
          <p:nvSpPr>
            <p:cNvPr id="23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6" name="Group 32"/>
          <p:cNvGrpSpPr>
            <a:grpSpLocks/>
          </p:cNvGrpSpPr>
          <p:nvPr/>
        </p:nvGrpSpPr>
        <p:grpSpPr bwMode="auto">
          <a:xfrm>
            <a:off x="7447009" y="1943858"/>
            <a:ext cx="583596" cy="179517"/>
            <a:chOff x="1313" y="2496"/>
            <a:chExt cx="1252" cy="427"/>
          </a:xfrm>
        </p:grpSpPr>
        <p:sp>
          <p:nvSpPr>
            <p:cNvPr id="244"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5"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6"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47"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27" name="Group 32"/>
          <p:cNvGrpSpPr>
            <a:grpSpLocks/>
          </p:cNvGrpSpPr>
          <p:nvPr/>
        </p:nvGrpSpPr>
        <p:grpSpPr bwMode="auto">
          <a:xfrm>
            <a:off x="7447009" y="2343105"/>
            <a:ext cx="583596" cy="179517"/>
            <a:chOff x="1313" y="2496"/>
            <a:chExt cx="1252" cy="427"/>
          </a:xfrm>
        </p:grpSpPr>
        <p:sp>
          <p:nvSpPr>
            <p:cNvPr id="249" name="Freeform 33"/>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50" name="Freeform 34"/>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51" name="Oval 35"/>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252" name="Oval 36"/>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a:latin typeface="Arial" pitchFamily="34" charset="0"/>
                <a:cs typeface="Arial" pitchFamily="34" charset="0"/>
              </a:endParaRPr>
            </a:p>
          </p:txBody>
        </p:sp>
      </p:grpSp>
      <p:grpSp>
        <p:nvGrpSpPr>
          <p:cNvPr id="171" name="Group 41"/>
          <p:cNvGrpSpPr>
            <a:grpSpLocks/>
          </p:cNvGrpSpPr>
          <p:nvPr/>
        </p:nvGrpSpPr>
        <p:grpSpPr bwMode="auto">
          <a:xfrm>
            <a:off x="3369738" y="2034343"/>
            <a:ext cx="750888" cy="1095375"/>
            <a:chOff x="3696" y="960"/>
            <a:chExt cx="309" cy="441"/>
          </a:xfrm>
        </p:grpSpPr>
        <p:sp>
          <p:nvSpPr>
            <p:cNvPr id="172" name="Freeform 42"/>
            <p:cNvSpPr>
              <a:spLocks/>
            </p:cNvSpPr>
            <p:nvPr/>
          </p:nvSpPr>
          <p:spPr bwMode="auto">
            <a:xfrm>
              <a:off x="3696" y="960"/>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pitchFamily="34" charset="0"/>
                <a:cs typeface="Arial" pitchFamily="34" charset="0"/>
              </a:endParaRPr>
            </a:p>
          </p:txBody>
        </p:sp>
        <p:sp>
          <p:nvSpPr>
            <p:cNvPr id="173" name="Freeform 43"/>
            <p:cNvSpPr>
              <a:spLocks/>
            </p:cNvSpPr>
            <p:nvPr/>
          </p:nvSpPr>
          <p:spPr bwMode="auto">
            <a:xfrm>
              <a:off x="3802" y="1105"/>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174" name="Freeform 44"/>
            <p:cNvSpPr>
              <a:spLocks/>
            </p:cNvSpPr>
            <p:nvPr/>
          </p:nvSpPr>
          <p:spPr bwMode="auto">
            <a:xfrm>
              <a:off x="3737" y="998"/>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a:latin typeface="Arial" pitchFamily="34" charset="0"/>
                <a:cs typeface="Arial" pitchFamily="34" charset="0"/>
              </a:endParaRPr>
            </a:p>
          </p:txBody>
        </p:sp>
        <p:sp>
          <p:nvSpPr>
            <p:cNvPr id="175" name="Freeform 45"/>
            <p:cNvSpPr>
              <a:spLocks/>
            </p:cNvSpPr>
            <p:nvPr/>
          </p:nvSpPr>
          <p:spPr bwMode="auto">
            <a:xfrm>
              <a:off x="3816" y="1093"/>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176" name="Freeform 46"/>
            <p:cNvSpPr>
              <a:spLocks/>
            </p:cNvSpPr>
            <p:nvPr/>
          </p:nvSpPr>
          <p:spPr bwMode="auto">
            <a:xfrm>
              <a:off x="3710" y="1045"/>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a:latin typeface="Arial" pitchFamily="34" charset="0"/>
                <a:cs typeface="Arial" pitchFamily="34" charset="0"/>
              </a:endParaRPr>
            </a:p>
          </p:txBody>
        </p:sp>
        <p:sp>
          <p:nvSpPr>
            <p:cNvPr id="177" name="Freeform 47"/>
            <p:cNvSpPr>
              <a:spLocks/>
            </p:cNvSpPr>
            <p:nvPr/>
          </p:nvSpPr>
          <p:spPr bwMode="auto">
            <a:xfrm>
              <a:off x="3787" y="1002"/>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178" name="Freeform 48"/>
            <p:cNvSpPr>
              <a:spLocks/>
            </p:cNvSpPr>
            <p:nvPr/>
          </p:nvSpPr>
          <p:spPr bwMode="auto">
            <a:xfrm>
              <a:off x="3840" y="1255"/>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a:latin typeface="Arial" pitchFamily="34" charset="0"/>
                <a:cs typeface="Arial" pitchFamily="34" charset="0"/>
              </a:endParaRPr>
            </a:p>
          </p:txBody>
        </p:sp>
      </p:grpSp>
      <p:grpSp>
        <p:nvGrpSpPr>
          <p:cNvPr id="179" name="Group 41"/>
          <p:cNvGrpSpPr>
            <a:grpSpLocks/>
          </p:cNvGrpSpPr>
          <p:nvPr/>
        </p:nvGrpSpPr>
        <p:grpSpPr bwMode="auto">
          <a:xfrm>
            <a:off x="4347150" y="2304216"/>
            <a:ext cx="530225" cy="539750"/>
            <a:chOff x="3696" y="960"/>
            <a:chExt cx="309" cy="441"/>
          </a:xfrm>
        </p:grpSpPr>
        <p:sp>
          <p:nvSpPr>
            <p:cNvPr id="180" name="Freeform 42"/>
            <p:cNvSpPr>
              <a:spLocks/>
            </p:cNvSpPr>
            <p:nvPr/>
          </p:nvSpPr>
          <p:spPr bwMode="auto">
            <a:xfrm>
              <a:off x="3696" y="960"/>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pitchFamily="34" charset="0"/>
                <a:cs typeface="Arial" pitchFamily="34" charset="0"/>
              </a:endParaRPr>
            </a:p>
          </p:txBody>
        </p:sp>
        <p:sp>
          <p:nvSpPr>
            <p:cNvPr id="181" name="Freeform 43"/>
            <p:cNvSpPr>
              <a:spLocks/>
            </p:cNvSpPr>
            <p:nvPr/>
          </p:nvSpPr>
          <p:spPr bwMode="auto">
            <a:xfrm>
              <a:off x="3802" y="1105"/>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182" name="Freeform 44"/>
            <p:cNvSpPr>
              <a:spLocks/>
            </p:cNvSpPr>
            <p:nvPr/>
          </p:nvSpPr>
          <p:spPr bwMode="auto">
            <a:xfrm>
              <a:off x="3737" y="998"/>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a:latin typeface="Arial" pitchFamily="34" charset="0"/>
                <a:cs typeface="Arial" pitchFamily="34" charset="0"/>
              </a:endParaRPr>
            </a:p>
          </p:txBody>
        </p:sp>
        <p:sp>
          <p:nvSpPr>
            <p:cNvPr id="183" name="Freeform 45"/>
            <p:cNvSpPr>
              <a:spLocks/>
            </p:cNvSpPr>
            <p:nvPr/>
          </p:nvSpPr>
          <p:spPr bwMode="auto">
            <a:xfrm>
              <a:off x="3816" y="1093"/>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184" name="Freeform 46"/>
            <p:cNvSpPr>
              <a:spLocks/>
            </p:cNvSpPr>
            <p:nvPr/>
          </p:nvSpPr>
          <p:spPr bwMode="auto">
            <a:xfrm>
              <a:off x="3710" y="1045"/>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a:latin typeface="Arial" pitchFamily="34" charset="0"/>
                <a:cs typeface="Arial" pitchFamily="34" charset="0"/>
              </a:endParaRPr>
            </a:p>
          </p:txBody>
        </p:sp>
        <p:sp>
          <p:nvSpPr>
            <p:cNvPr id="193" name="Freeform 47"/>
            <p:cNvSpPr>
              <a:spLocks/>
            </p:cNvSpPr>
            <p:nvPr/>
          </p:nvSpPr>
          <p:spPr bwMode="auto">
            <a:xfrm>
              <a:off x="3787" y="1002"/>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194" name="Freeform 48"/>
            <p:cNvSpPr>
              <a:spLocks/>
            </p:cNvSpPr>
            <p:nvPr/>
          </p:nvSpPr>
          <p:spPr bwMode="auto">
            <a:xfrm>
              <a:off x="3840" y="1255"/>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a:latin typeface="Arial" pitchFamily="34" charset="0"/>
                <a:cs typeface="Arial" pitchFamily="34" charset="0"/>
              </a:endParaRPr>
            </a:p>
          </p:txBody>
        </p:sp>
      </p:grpSp>
      <p:grpSp>
        <p:nvGrpSpPr>
          <p:cNvPr id="195" name="Group 41"/>
          <p:cNvGrpSpPr>
            <a:grpSpLocks/>
          </p:cNvGrpSpPr>
          <p:nvPr/>
        </p:nvGrpSpPr>
        <p:grpSpPr bwMode="auto">
          <a:xfrm>
            <a:off x="5371442" y="1641580"/>
            <a:ext cx="307975" cy="304800"/>
            <a:chOff x="3696" y="960"/>
            <a:chExt cx="309" cy="441"/>
          </a:xfrm>
        </p:grpSpPr>
        <p:sp>
          <p:nvSpPr>
            <p:cNvPr id="196" name="Freeform 42"/>
            <p:cNvSpPr>
              <a:spLocks/>
            </p:cNvSpPr>
            <p:nvPr/>
          </p:nvSpPr>
          <p:spPr bwMode="auto">
            <a:xfrm>
              <a:off x="3696" y="960"/>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pitchFamily="34" charset="0"/>
                <a:cs typeface="Arial" pitchFamily="34" charset="0"/>
              </a:endParaRPr>
            </a:p>
          </p:txBody>
        </p:sp>
        <p:sp>
          <p:nvSpPr>
            <p:cNvPr id="201" name="Freeform 43"/>
            <p:cNvSpPr>
              <a:spLocks/>
            </p:cNvSpPr>
            <p:nvPr/>
          </p:nvSpPr>
          <p:spPr bwMode="auto">
            <a:xfrm>
              <a:off x="3802" y="1105"/>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202" name="Freeform 44"/>
            <p:cNvSpPr>
              <a:spLocks/>
            </p:cNvSpPr>
            <p:nvPr/>
          </p:nvSpPr>
          <p:spPr bwMode="auto">
            <a:xfrm>
              <a:off x="3737" y="998"/>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3300"/>
            </a:solidFill>
            <a:ln w="25400" cap="rnd">
              <a:solidFill>
                <a:srgbClr val="FAFD00"/>
              </a:solidFill>
              <a:round/>
              <a:headEnd/>
              <a:tailEnd/>
            </a:ln>
          </p:spPr>
          <p:txBody>
            <a:bodyPr/>
            <a:lstStyle/>
            <a:p>
              <a:endParaRPr lang="en-US">
                <a:latin typeface="Arial" pitchFamily="34" charset="0"/>
                <a:cs typeface="Arial" pitchFamily="34" charset="0"/>
              </a:endParaRPr>
            </a:p>
          </p:txBody>
        </p:sp>
        <p:sp>
          <p:nvSpPr>
            <p:cNvPr id="203" name="Freeform 45"/>
            <p:cNvSpPr>
              <a:spLocks/>
            </p:cNvSpPr>
            <p:nvPr/>
          </p:nvSpPr>
          <p:spPr bwMode="auto">
            <a:xfrm>
              <a:off x="3816" y="1093"/>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204" name="Freeform 46"/>
            <p:cNvSpPr>
              <a:spLocks/>
            </p:cNvSpPr>
            <p:nvPr/>
          </p:nvSpPr>
          <p:spPr bwMode="auto">
            <a:xfrm>
              <a:off x="3710" y="1045"/>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3300"/>
            </a:solidFill>
            <a:ln w="25400" cap="rnd">
              <a:solidFill>
                <a:srgbClr val="EF9100"/>
              </a:solidFill>
              <a:round/>
              <a:headEnd/>
              <a:tailEnd/>
            </a:ln>
          </p:spPr>
          <p:txBody>
            <a:bodyPr/>
            <a:lstStyle/>
            <a:p>
              <a:endParaRPr lang="en-US">
                <a:latin typeface="Arial" pitchFamily="34" charset="0"/>
                <a:cs typeface="Arial" pitchFamily="34" charset="0"/>
              </a:endParaRPr>
            </a:p>
          </p:txBody>
        </p:sp>
        <p:sp>
          <p:nvSpPr>
            <p:cNvPr id="205" name="Freeform 47"/>
            <p:cNvSpPr>
              <a:spLocks/>
            </p:cNvSpPr>
            <p:nvPr/>
          </p:nvSpPr>
          <p:spPr bwMode="auto">
            <a:xfrm>
              <a:off x="3787" y="1002"/>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CC00"/>
            </a:solidFill>
            <a:ln w="25400" cap="rnd">
              <a:solidFill>
                <a:srgbClr val="FE9B03"/>
              </a:solidFill>
              <a:round/>
              <a:headEnd/>
              <a:tailEnd/>
            </a:ln>
          </p:spPr>
          <p:txBody>
            <a:bodyPr/>
            <a:lstStyle/>
            <a:p>
              <a:endParaRPr lang="en-US">
                <a:latin typeface="Arial" pitchFamily="34" charset="0"/>
                <a:cs typeface="Arial" pitchFamily="34" charset="0"/>
              </a:endParaRPr>
            </a:p>
          </p:txBody>
        </p:sp>
        <p:sp>
          <p:nvSpPr>
            <p:cNvPr id="206" name="Freeform 48"/>
            <p:cNvSpPr>
              <a:spLocks/>
            </p:cNvSpPr>
            <p:nvPr/>
          </p:nvSpPr>
          <p:spPr bwMode="auto">
            <a:xfrm>
              <a:off x="3840" y="1255"/>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3300"/>
            </a:solidFill>
            <a:ln w="25400" cap="rnd">
              <a:solidFill>
                <a:srgbClr val="FFCC00"/>
              </a:solidFill>
              <a:round/>
              <a:headEnd/>
              <a:tailEnd/>
            </a:ln>
          </p:spPr>
          <p:txBody>
            <a:bodyPr/>
            <a:lstStyle/>
            <a:p>
              <a:endParaRPr lang="en-US">
                <a:latin typeface="Arial" pitchFamily="34" charset="0"/>
                <a:cs typeface="Arial" pitchFamily="34" charset="0"/>
              </a:endParaRPr>
            </a:p>
          </p:txBody>
        </p:sp>
      </p:grpSp>
      <p:sp>
        <p:nvSpPr>
          <p:cNvPr id="207" name="Text Box 24"/>
          <p:cNvSpPr txBox="1">
            <a:spLocks noChangeArrowheads="1"/>
          </p:cNvSpPr>
          <p:nvPr/>
        </p:nvSpPr>
        <p:spPr bwMode="auto">
          <a:xfrm>
            <a:off x="356896" y="4463734"/>
            <a:ext cx="3112474" cy="523220"/>
          </a:xfrm>
          <a:prstGeom prst="rect">
            <a:avLst/>
          </a:prstGeom>
          <a:noFill/>
          <a:ln w="9525" algn="ctr">
            <a:noFill/>
            <a:miter lim="800000"/>
            <a:headEnd/>
            <a:tailEnd/>
          </a:ln>
        </p:spPr>
        <p:txBody>
          <a:bodyPr wrap="square">
            <a:spAutoFit/>
          </a:bodyPr>
          <a:lstStyle/>
          <a:p>
            <a:pPr algn="ctr">
              <a:spcBef>
                <a:spcPct val="0"/>
              </a:spcBef>
            </a:pPr>
            <a:r>
              <a:rPr lang="en-US" sz="2800" b="0" dirty="0">
                <a:solidFill>
                  <a:srgbClr val="FF0000"/>
                </a:solidFill>
                <a:latin typeface="Arial" pitchFamily="34" charset="0"/>
                <a:cs typeface="Arial" pitchFamily="34" charset="0"/>
              </a:rPr>
              <a:t>Contention</a:t>
            </a:r>
          </a:p>
        </p:txBody>
      </p:sp>
      <p:sp>
        <p:nvSpPr>
          <p:cNvPr id="208" name="Text Box 24"/>
          <p:cNvSpPr txBox="1">
            <a:spLocks noChangeArrowheads="1"/>
          </p:cNvSpPr>
          <p:nvPr/>
        </p:nvSpPr>
        <p:spPr bwMode="auto">
          <a:xfrm>
            <a:off x="2490672" y="5213268"/>
            <a:ext cx="6076950" cy="523220"/>
          </a:xfrm>
          <a:prstGeom prst="rect">
            <a:avLst/>
          </a:prstGeom>
          <a:noFill/>
          <a:ln w="9525" algn="ctr">
            <a:noFill/>
            <a:miter lim="800000"/>
            <a:headEnd/>
            <a:tailEnd/>
          </a:ln>
        </p:spPr>
        <p:txBody>
          <a:bodyPr>
            <a:spAutoFit/>
          </a:bodyPr>
          <a:lstStyle/>
          <a:p>
            <a:pPr algn="ctr">
              <a:spcBef>
                <a:spcPct val="0"/>
              </a:spcBef>
            </a:pPr>
            <a:r>
              <a:rPr lang="en-US" sz="2800" b="0" dirty="0">
                <a:solidFill>
                  <a:srgbClr val="FF0000"/>
                </a:solidFill>
                <a:latin typeface="Arial" pitchFamily="34" charset="0"/>
                <a:cs typeface="Arial" pitchFamily="34" charset="0"/>
              </a:rPr>
              <a:t>Sequential bottleneck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7"/>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17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95"/>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p:bldP spid="208" grpId="0"/>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685800" y="219075"/>
            <a:ext cx="7772400" cy="1143000"/>
          </a:xfrm>
          <a:noFill/>
        </p:spPr>
        <p:txBody>
          <a:bodyPr/>
          <a:lstStyle/>
          <a:p>
            <a:r>
              <a:rPr lang="en-US"/>
              <a:t>Diffraction Balancing</a:t>
            </a:r>
          </a:p>
        </p:txBody>
      </p:sp>
      <p:sp>
        <p:nvSpPr>
          <p:cNvPr id="30810" name="Rectangle 90"/>
          <p:cNvSpPr>
            <a:spLocks noChangeArrowheads="1"/>
          </p:cNvSpPr>
          <p:nvPr/>
        </p:nvSpPr>
        <p:spPr bwMode="auto">
          <a:xfrm>
            <a:off x="685800" y="1362075"/>
            <a:ext cx="7406602" cy="828432"/>
          </a:xfrm>
          <a:prstGeom prst="rect">
            <a:avLst/>
          </a:prstGeom>
          <a:noFill/>
          <a:ln w="25400">
            <a:noFill/>
            <a:miter lim="800000"/>
            <a:headEnd/>
            <a:tailEnd/>
          </a:ln>
          <a:effectLst/>
        </p:spPr>
        <p:txBody>
          <a:bodyPr wrap="square" lIns="90488" tIns="44450" rIns="90488" bIns="44450">
            <a:spAutoFit/>
          </a:bodyPr>
          <a:lstStyle/>
          <a:p>
            <a:pPr>
              <a:defRPr/>
            </a:pPr>
            <a:r>
              <a:rPr lang="en-US" dirty="0">
                <a:latin typeface="Arial" pitchFamily="34" charset="0"/>
                <a:cs typeface="Arial" pitchFamily="34" charset="0"/>
              </a:rPr>
              <a:t>If an </a:t>
            </a:r>
            <a:r>
              <a:rPr lang="en-US" dirty="0">
                <a:solidFill>
                  <a:schemeClr val="tx1"/>
                </a:solidFill>
                <a:latin typeface="Arial" pitchFamily="34" charset="0"/>
                <a:cs typeface="Arial" pitchFamily="34" charset="0"/>
              </a:rPr>
              <a:t>even</a:t>
            </a:r>
            <a:r>
              <a:rPr lang="en-US" dirty="0">
                <a:latin typeface="Arial" pitchFamily="34" charset="0"/>
                <a:cs typeface="Arial" pitchFamily="34" charset="0"/>
              </a:rPr>
              <a:t> number of tokens visit a balancer, the toggle bit remains unchanged! </a:t>
            </a:r>
          </a:p>
        </p:txBody>
      </p:sp>
      <p:sp>
        <p:nvSpPr>
          <p:cNvPr id="30811" name="Rectangle 91"/>
          <p:cNvSpPr>
            <a:spLocks noChangeArrowheads="1"/>
          </p:cNvSpPr>
          <p:nvPr/>
        </p:nvSpPr>
        <p:spPr bwMode="auto">
          <a:xfrm>
            <a:off x="7153013" y="4729162"/>
            <a:ext cx="1025923" cy="335989"/>
          </a:xfrm>
          <a:prstGeom prst="rect">
            <a:avLst/>
          </a:prstGeom>
          <a:noFill/>
          <a:ln w="25400">
            <a:noFill/>
            <a:miter lim="800000"/>
            <a:headEnd/>
            <a:tailEnd/>
          </a:ln>
          <a:effectLst/>
        </p:spPr>
        <p:txBody>
          <a:bodyPr wrap="none" lIns="90488" tIns="44450" rIns="90488" bIns="44450">
            <a:spAutoFit/>
          </a:bodyPr>
          <a:lstStyle/>
          <a:p>
            <a:pPr>
              <a:defRPr/>
            </a:pPr>
            <a:r>
              <a:rPr lang="en-US" sz="1600" dirty="0">
                <a:latin typeface="Arial" pitchFamily="34" charset="0"/>
                <a:cs typeface="Arial" pitchFamily="34" charset="0"/>
              </a:rPr>
              <a:t>balancer</a:t>
            </a:r>
          </a:p>
        </p:txBody>
      </p:sp>
      <p:sp>
        <p:nvSpPr>
          <p:cNvPr id="30812" name="Freeform 92"/>
          <p:cNvSpPr>
            <a:spLocks/>
          </p:cNvSpPr>
          <p:nvPr/>
        </p:nvSpPr>
        <p:spPr bwMode="auto">
          <a:xfrm>
            <a:off x="3197494" y="3940269"/>
            <a:ext cx="551157" cy="2140301"/>
          </a:xfrm>
          <a:custGeom>
            <a:avLst/>
            <a:gdLst/>
            <a:ahLst/>
            <a:cxnLst>
              <a:cxn ang="0">
                <a:pos x="0" y="0"/>
              </a:cxn>
              <a:cxn ang="0">
                <a:pos x="0" y="859"/>
              </a:cxn>
              <a:cxn ang="0">
                <a:pos x="200" y="1056"/>
              </a:cxn>
              <a:cxn ang="0">
                <a:pos x="199" y="146"/>
              </a:cxn>
              <a:cxn ang="0">
                <a:pos x="0" y="0"/>
              </a:cxn>
            </a:cxnLst>
            <a:rect l="0" t="0" r="r" b="b"/>
            <a:pathLst>
              <a:path w="201" h="1057">
                <a:moveTo>
                  <a:pt x="0" y="0"/>
                </a:moveTo>
                <a:lnTo>
                  <a:pt x="0" y="859"/>
                </a:lnTo>
                <a:lnTo>
                  <a:pt x="200" y="1056"/>
                </a:lnTo>
                <a:lnTo>
                  <a:pt x="199" y="146"/>
                </a:lnTo>
                <a:lnTo>
                  <a:pt x="0" y="0"/>
                </a:lnTo>
              </a:path>
            </a:pathLst>
          </a:custGeom>
          <a:solidFill>
            <a:srgbClr val="FCFEB9"/>
          </a:solidFill>
          <a:ln w="25400" cap="rnd" cmpd="sng">
            <a:solidFill>
              <a:schemeClr val="tx2"/>
            </a:solidFill>
            <a:prstDash val="solid"/>
            <a:round/>
            <a:headEnd type="none" w="med" len="med"/>
            <a:tailEnd type="none" w="med" len="med"/>
          </a:ln>
          <a:effectLst/>
        </p:spPr>
        <p:txBody>
          <a:bodyPr/>
          <a:lstStyle/>
          <a:p>
            <a:pPr>
              <a:defRPr/>
            </a:pPr>
            <a:endParaRPr lang="en-US">
              <a:latin typeface="Arial" pitchFamily="34" charset="0"/>
              <a:cs typeface="Arial" pitchFamily="34" charset="0"/>
            </a:endParaRPr>
          </a:p>
        </p:txBody>
      </p:sp>
      <p:sp>
        <p:nvSpPr>
          <p:cNvPr id="30814" name="Freeform 94"/>
          <p:cNvSpPr>
            <a:spLocks/>
          </p:cNvSpPr>
          <p:nvPr/>
        </p:nvSpPr>
        <p:spPr bwMode="auto">
          <a:xfrm>
            <a:off x="3745643" y="3808650"/>
            <a:ext cx="353976" cy="2286059"/>
          </a:xfrm>
          <a:custGeom>
            <a:avLst/>
            <a:gdLst>
              <a:gd name="connsiteX0" fmla="*/ 10177 w 10177"/>
              <a:gd name="connsiteY0" fmla="*/ 0 h 9991"/>
              <a:gd name="connsiteX1" fmla="*/ 10177 w 10177"/>
              <a:gd name="connsiteY1" fmla="*/ 8317 h 9991"/>
              <a:gd name="connsiteX2" fmla="*/ 255 w 10177"/>
              <a:gd name="connsiteY2" fmla="*/ 9991 h 9991"/>
              <a:gd name="connsiteX3" fmla="*/ 0 w 10177"/>
              <a:gd name="connsiteY3" fmla="*/ 2191 h 9991"/>
              <a:gd name="connsiteX4" fmla="*/ 10177 w 10177"/>
              <a:gd name="connsiteY4" fmla="*/ 0 h 9991"/>
              <a:gd name="connsiteX0" fmla="*/ 9833 w 9833"/>
              <a:gd name="connsiteY0" fmla="*/ 0 h 10000"/>
              <a:gd name="connsiteX1" fmla="*/ 9833 w 9833"/>
              <a:gd name="connsiteY1" fmla="*/ 8324 h 10000"/>
              <a:gd name="connsiteX2" fmla="*/ 84 w 9833"/>
              <a:gd name="connsiteY2" fmla="*/ 10000 h 10000"/>
              <a:gd name="connsiteX3" fmla="*/ 767 w 9833"/>
              <a:gd name="connsiteY3" fmla="*/ 1818 h 10000"/>
              <a:gd name="connsiteX4" fmla="*/ 9833 w 983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3" h="10000">
                <a:moveTo>
                  <a:pt x="9833" y="0"/>
                </a:moveTo>
                <a:lnTo>
                  <a:pt x="9833" y="8324"/>
                </a:lnTo>
                <a:lnTo>
                  <a:pt x="84" y="10000"/>
                </a:lnTo>
                <a:cubicBezTo>
                  <a:pt x="0" y="7398"/>
                  <a:pt x="851" y="4420"/>
                  <a:pt x="767" y="1818"/>
                </a:cubicBezTo>
                <a:lnTo>
                  <a:pt x="9833" y="0"/>
                </a:lnTo>
              </a:path>
            </a:pathLst>
          </a:custGeom>
          <a:solidFill>
            <a:srgbClr val="B3B900"/>
          </a:solidFill>
          <a:ln w="25400" cap="rnd" cmpd="sng">
            <a:solidFill>
              <a:schemeClr val="tx2"/>
            </a:solidFill>
            <a:prstDash val="solid"/>
            <a:round/>
            <a:headEnd type="none" w="med" len="med"/>
            <a:tailEnd type="none" w="med" len="med"/>
          </a:ln>
          <a:effectLst/>
        </p:spPr>
        <p:txBody>
          <a:bodyPr/>
          <a:lstStyle/>
          <a:p>
            <a:pPr>
              <a:defRPr/>
            </a:pPr>
            <a:endParaRPr lang="en-US">
              <a:latin typeface="Arial" pitchFamily="34" charset="0"/>
              <a:cs typeface="Arial" pitchFamily="34" charset="0"/>
            </a:endParaRPr>
          </a:p>
        </p:txBody>
      </p:sp>
      <p:sp>
        <p:nvSpPr>
          <p:cNvPr id="30820" name="Line 100"/>
          <p:cNvSpPr>
            <a:spLocks noChangeShapeType="1"/>
          </p:cNvSpPr>
          <p:nvPr/>
        </p:nvSpPr>
        <p:spPr bwMode="auto">
          <a:xfrm>
            <a:off x="2012950" y="4167187"/>
            <a:ext cx="1227138" cy="322262"/>
          </a:xfrm>
          <a:prstGeom prst="line">
            <a:avLst/>
          </a:prstGeom>
          <a:noFill/>
          <a:ln w="25400">
            <a:solidFill>
              <a:srgbClr val="438E00"/>
            </a:solidFill>
            <a:round/>
            <a:headEnd/>
            <a:tailEnd/>
          </a:ln>
          <a:effectLst/>
        </p:spPr>
        <p:txBody>
          <a:bodyPr wrap="none" anchor="ctr"/>
          <a:lstStyle/>
          <a:p>
            <a:pPr>
              <a:defRPr/>
            </a:pPr>
            <a:endParaRPr lang="en-US">
              <a:latin typeface="Arial" pitchFamily="34" charset="0"/>
              <a:cs typeface="Arial" pitchFamily="34" charset="0"/>
            </a:endParaRPr>
          </a:p>
        </p:txBody>
      </p:sp>
      <p:sp>
        <p:nvSpPr>
          <p:cNvPr id="30821" name="Line 101"/>
          <p:cNvSpPr>
            <a:spLocks noChangeShapeType="1"/>
          </p:cNvSpPr>
          <p:nvPr/>
        </p:nvSpPr>
        <p:spPr bwMode="auto">
          <a:xfrm flipV="1">
            <a:off x="2033588" y="4765675"/>
            <a:ext cx="1206500" cy="388937"/>
          </a:xfrm>
          <a:prstGeom prst="line">
            <a:avLst/>
          </a:prstGeom>
          <a:noFill/>
          <a:ln w="25400">
            <a:solidFill>
              <a:srgbClr val="438E00"/>
            </a:solidFill>
            <a:round/>
            <a:headEnd/>
            <a:tailEnd/>
          </a:ln>
          <a:effectLst/>
        </p:spPr>
        <p:txBody>
          <a:bodyPr wrap="none" anchor="ctr"/>
          <a:lstStyle/>
          <a:p>
            <a:pPr>
              <a:defRPr/>
            </a:pPr>
            <a:endParaRPr lang="en-US">
              <a:latin typeface="Arial" pitchFamily="34" charset="0"/>
              <a:cs typeface="Arial" pitchFamily="34" charset="0"/>
            </a:endParaRPr>
          </a:p>
        </p:txBody>
      </p:sp>
      <p:sp>
        <p:nvSpPr>
          <p:cNvPr id="30822" name="Line 102"/>
          <p:cNvSpPr>
            <a:spLocks noChangeShapeType="1"/>
          </p:cNvSpPr>
          <p:nvPr/>
        </p:nvSpPr>
        <p:spPr bwMode="auto">
          <a:xfrm flipV="1">
            <a:off x="3856038" y="3648075"/>
            <a:ext cx="3290887" cy="873125"/>
          </a:xfrm>
          <a:prstGeom prst="line">
            <a:avLst/>
          </a:prstGeom>
          <a:noFill/>
          <a:ln w="25400">
            <a:solidFill>
              <a:srgbClr val="438E00"/>
            </a:solidFill>
            <a:round/>
            <a:headEnd/>
            <a:tailEnd type="triangle" w="med" len="med"/>
          </a:ln>
          <a:effectLst/>
        </p:spPr>
        <p:txBody>
          <a:bodyPr wrap="none" anchor="ctr"/>
          <a:lstStyle/>
          <a:p>
            <a:pPr>
              <a:defRPr/>
            </a:pPr>
            <a:endParaRPr lang="en-US">
              <a:latin typeface="Arial" pitchFamily="34" charset="0"/>
              <a:cs typeface="Arial" pitchFamily="34" charset="0"/>
            </a:endParaRPr>
          </a:p>
        </p:txBody>
      </p:sp>
      <p:sp>
        <p:nvSpPr>
          <p:cNvPr id="30823" name="Line 103"/>
          <p:cNvSpPr>
            <a:spLocks noChangeShapeType="1"/>
          </p:cNvSpPr>
          <p:nvPr/>
        </p:nvSpPr>
        <p:spPr bwMode="auto">
          <a:xfrm>
            <a:off x="3810001" y="4781551"/>
            <a:ext cx="3205163" cy="971550"/>
          </a:xfrm>
          <a:prstGeom prst="line">
            <a:avLst/>
          </a:prstGeom>
          <a:noFill/>
          <a:ln w="25400">
            <a:solidFill>
              <a:srgbClr val="438E00"/>
            </a:solidFill>
            <a:round/>
            <a:headEnd/>
            <a:tailEnd type="triangle" w="med" len="med"/>
          </a:ln>
          <a:effectLst/>
        </p:spPr>
        <p:txBody>
          <a:bodyPr wrap="none" anchor="ctr"/>
          <a:lstStyle/>
          <a:p>
            <a:pPr>
              <a:defRPr/>
            </a:pPr>
            <a:endParaRPr lang="en-US">
              <a:latin typeface="Arial" pitchFamily="34" charset="0"/>
              <a:cs typeface="Arial" pitchFamily="34" charset="0"/>
            </a:endParaRPr>
          </a:p>
        </p:txBody>
      </p:sp>
      <p:sp>
        <p:nvSpPr>
          <p:cNvPr id="30828" name="Line 108"/>
          <p:cNvSpPr>
            <a:spLocks noChangeShapeType="1"/>
          </p:cNvSpPr>
          <p:nvPr/>
        </p:nvSpPr>
        <p:spPr bwMode="auto">
          <a:xfrm>
            <a:off x="1966913" y="4732337"/>
            <a:ext cx="1231900" cy="323850"/>
          </a:xfrm>
          <a:prstGeom prst="line">
            <a:avLst/>
          </a:prstGeom>
          <a:noFill/>
          <a:ln w="25400">
            <a:solidFill>
              <a:srgbClr val="438E00"/>
            </a:solidFill>
            <a:round/>
            <a:headEnd/>
            <a:tailEnd/>
          </a:ln>
          <a:effectLst/>
        </p:spPr>
        <p:txBody>
          <a:bodyPr wrap="none" anchor="ctr"/>
          <a:lstStyle/>
          <a:p>
            <a:pPr>
              <a:defRPr/>
            </a:pPr>
            <a:endParaRPr lang="en-US">
              <a:latin typeface="Arial" pitchFamily="34" charset="0"/>
              <a:cs typeface="Arial" pitchFamily="34" charset="0"/>
            </a:endParaRPr>
          </a:p>
        </p:txBody>
      </p:sp>
      <p:sp>
        <p:nvSpPr>
          <p:cNvPr id="30829" name="Line 109"/>
          <p:cNvSpPr>
            <a:spLocks noChangeShapeType="1"/>
          </p:cNvSpPr>
          <p:nvPr/>
        </p:nvSpPr>
        <p:spPr bwMode="auto">
          <a:xfrm flipV="1">
            <a:off x="1990726" y="5202238"/>
            <a:ext cx="1184275" cy="404812"/>
          </a:xfrm>
          <a:prstGeom prst="line">
            <a:avLst/>
          </a:prstGeom>
          <a:noFill/>
          <a:ln w="25400">
            <a:solidFill>
              <a:srgbClr val="438E00"/>
            </a:solidFill>
            <a:round/>
            <a:headEnd/>
            <a:tailEnd/>
          </a:ln>
          <a:effectLst/>
        </p:spPr>
        <p:txBody>
          <a:bodyPr wrap="none" anchor="ctr"/>
          <a:lstStyle/>
          <a:p>
            <a:pPr>
              <a:defRPr/>
            </a:pPr>
            <a:endParaRPr lang="en-US">
              <a:latin typeface="Arial" pitchFamily="34" charset="0"/>
              <a:cs typeface="Arial" pitchFamily="34" charset="0"/>
            </a:endParaRPr>
          </a:p>
        </p:txBody>
      </p:sp>
      <p:sp>
        <p:nvSpPr>
          <p:cNvPr id="30830" name="Line 110"/>
          <p:cNvSpPr>
            <a:spLocks noChangeShapeType="1"/>
          </p:cNvSpPr>
          <p:nvPr/>
        </p:nvSpPr>
        <p:spPr bwMode="auto">
          <a:xfrm flipV="1">
            <a:off x="3856038" y="4214814"/>
            <a:ext cx="3243262" cy="841375"/>
          </a:xfrm>
          <a:prstGeom prst="line">
            <a:avLst/>
          </a:prstGeom>
          <a:noFill/>
          <a:ln w="25400">
            <a:solidFill>
              <a:srgbClr val="438E00"/>
            </a:solidFill>
            <a:round/>
            <a:headEnd/>
            <a:tailEnd type="triangle" w="med" len="med"/>
          </a:ln>
          <a:effectLst/>
        </p:spPr>
        <p:txBody>
          <a:bodyPr wrap="none" anchor="ctr"/>
          <a:lstStyle/>
          <a:p>
            <a:pPr>
              <a:defRPr/>
            </a:pPr>
            <a:endParaRPr lang="en-US">
              <a:latin typeface="Arial" pitchFamily="34" charset="0"/>
              <a:cs typeface="Arial" pitchFamily="34" charset="0"/>
            </a:endParaRPr>
          </a:p>
        </p:txBody>
      </p:sp>
      <p:sp>
        <p:nvSpPr>
          <p:cNvPr id="30831" name="Line 111"/>
          <p:cNvSpPr>
            <a:spLocks noChangeShapeType="1"/>
          </p:cNvSpPr>
          <p:nvPr/>
        </p:nvSpPr>
        <p:spPr bwMode="auto">
          <a:xfrm>
            <a:off x="3876674" y="5300663"/>
            <a:ext cx="3203575" cy="971550"/>
          </a:xfrm>
          <a:prstGeom prst="line">
            <a:avLst/>
          </a:prstGeom>
          <a:noFill/>
          <a:ln w="25400">
            <a:solidFill>
              <a:srgbClr val="438E00"/>
            </a:solidFill>
            <a:round/>
            <a:headEnd/>
            <a:tailEnd type="triangle" w="med" len="med"/>
          </a:ln>
          <a:effectLst/>
        </p:spPr>
        <p:txBody>
          <a:bodyPr wrap="none" anchor="ctr"/>
          <a:lstStyle/>
          <a:p>
            <a:pPr>
              <a:defRPr/>
            </a:pPr>
            <a:endParaRPr lang="en-US">
              <a:latin typeface="Arial" pitchFamily="34" charset="0"/>
              <a:cs typeface="Arial" pitchFamily="34" charset="0"/>
            </a:endParaRPr>
          </a:p>
        </p:txBody>
      </p:sp>
      <p:sp>
        <p:nvSpPr>
          <p:cNvPr id="30832" name="Rectangle 112"/>
          <p:cNvSpPr>
            <a:spLocks noChangeArrowheads="1"/>
          </p:cNvSpPr>
          <p:nvPr/>
        </p:nvSpPr>
        <p:spPr bwMode="auto">
          <a:xfrm>
            <a:off x="2622550" y="3281363"/>
            <a:ext cx="1482202" cy="366767"/>
          </a:xfrm>
          <a:prstGeom prst="rect">
            <a:avLst/>
          </a:prstGeom>
          <a:noFill/>
          <a:ln w="25400">
            <a:noFill/>
            <a:miter lim="800000"/>
            <a:headEnd/>
            <a:tailEnd/>
          </a:ln>
          <a:effectLst/>
        </p:spPr>
        <p:txBody>
          <a:bodyPr wrap="none" lIns="90488" tIns="44450" rIns="90488" bIns="44450">
            <a:spAutoFit/>
          </a:bodyPr>
          <a:lstStyle/>
          <a:p>
            <a:pPr>
              <a:defRPr/>
            </a:pPr>
            <a:r>
              <a:rPr lang="en-US" sz="1800">
                <a:solidFill>
                  <a:srgbClr val="AD6900"/>
                </a:solidFill>
                <a:effectLst>
                  <a:outerShdw blurRad="38100" dist="38100" dir="2700000" algn="tl">
                    <a:srgbClr val="C0C0C0"/>
                  </a:outerShdw>
                </a:effectLst>
                <a:latin typeface="Arial" pitchFamily="34" charset="0"/>
                <a:cs typeface="Arial" pitchFamily="34" charset="0"/>
              </a:rPr>
              <a:t>Prism Array</a:t>
            </a:r>
          </a:p>
        </p:txBody>
      </p:sp>
      <p:sp>
        <p:nvSpPr>
          <p:cNvPr id="30834" name="Line 114"/>
          <p:cNvSpPr>
            <a:spLocks noChangeShapeType="1"/>
          </p:cNvSpPr>
          <p:nvPr/>
        </p:nvSpPr>
        <p:spPr bwMode="auto">
          <a:xfrm flipV="1">
            <a:off x="2012950" y="5689601"/>
            <a:ext cx="1468437" cy="450850"/>
          </a:xfrm>
          <a:prstGeom prst="line">
            <a:avLst/>
          </a:prstGeom>
          <a:noFill/>
          <a:ln w="25400">
            <a:solidFill>
              <a:srgbClr val="438E00"/>
            </a:solidFill>
            <a:round/>
            <a:headEnd/>
            <a:tailEnd/>
          </a:ln>
          <a:effectLst/>
        </p:spPr>
        <p:txBody>
          <a:bodyPr wrap="none" anchor="ctr"/>
          <a:lstStyle/>
          <a:p>
            <a:pPr>
              <a:defRPr/>
            </a:pPr>
            <a:endParaRPr lang="en-US">
              <a:latin typeface="Arial" pitchFamily="34" charset="0"/>
              <a:cs typeface="Arial" pitchFamily="34" charset="0"/>
            </a:endParaRPr>
          </a:p>
        </p:txBody>
      </p:sp>
      <p:sp>
        <p:nvSpPr>
          <p:cNvPr id="30835" name="Line 115"/>
          <p:cNvSpPr>
            <a:spLocks noChangeShapeType="1"/>
          </p:cNvSpPr>
          <p:nvPr/>
        </p:nvSpPr>
        <p:spPr bwMode="auto">
          <a:xfrm flipV="1">
            <a:off x="3897313" y="5024438"/>
            <a:ext cx="2151062" cy="582611"/>
          </a:xfrm>
          <a:prstGeom prst="line">
            <a:avLst/>
          </a:prstGeom>
          <a:noFill/>
          <a:ln w="25400">
            <a:solidFill>
              <a:srgbClr val="438E00"/>
            </a:solidFill>
            <a:round/>
            <a:headEnd/>
            <a:tailEnd type="triangle" w="med" len="med"/>
          </a:ln>
          <a:effectLst/>
        </p:spPr>
        <p:txBody>
          <a:bodyPr wrap="none" anchor="ctr"/>
          <a:lstStyle/>
          <a:p>
            <a:pPr>
              <a:defRPr/>
            </a:pPr>
            <a:endParaRPr lang="en-US">
              <a:latin typeface="Arial" pitchFamily="34" charset="0"/>
              <a:cs typeface="Arial" pitchFamily="34" charset="0"/>
            </a:endParaRPr>
          </a:p>
        </p:txBody>
      </p:sp>
      <p:sp>
        <p:nvSpPr>
          <p:cNvPr id="30836" name="Line 116"/>
          <p:cNvSpPr>
            <a:spLocks noChangeShapeType="1"/>
          </p:cNvSpPr>
          <p:nvPr/>
        </p:nvSpPr>
        <p:spPr bwMode="auto">
          <a:xfrm flipV="1">
            <a:off x="7119675" y="4441825"/>
            <a:ext cx="1095375" cy="315912"/>
          </a:xfrm>
          <a:prstGeom prst="line">
            <a:avLst/>
          </a:prstGeom>
          <a:noFill/>
          <a:ln w="25400">
            <a:solidFill>
              <a:srgbClr val="438E00"/>
            </a:solidFill>
            <a:round/>
            <a:headEnd/>
            <a:tailEnd type="triangle" w="med" len="med"/>
          </a:ln>
          <a:effectLst/>
        </p:spPr>
        <p:txBody>
          <a:bodyPr wrap="none" anchor="ctr"/>
          <a:lstStyle/>
          <a:p>
            <a:pPr>
              <a:defRPr/>
            </a:pPr>
            <a:endParaRPr lang="en-US">
              <a:latin typeface="Arial" pitchFamily="34" charset="0"/>
              <a:cs typeface="Arial" pitchFamily="34" charset="0"/>
            </a:endParaRPr>
          </a:p>
        </p:txBody>
      </p:sp>
      <p:sp>
        <p:nvSpPr>
          <p:cNvPr id="30837" name="Line 117"/>
          <p:cNvSpPr>
            <a:spLocks noChangeShapeType="1"/>
          </p:cNvSpPr>
          <p:nvPr/>
        </p:nvSpPr>
        <p:spPr bwMode="auto">
          <a:xfrm>
            <a:off x="7086338" y="5195888"/>
            <a:ext cx="1095375" cy="411161"/>
          </a:xfrm>
          <a:prstGeom prst="line">
            <a:avLst/>
          </a:prstGeom>
          <a:noFill/>
          <a:ln w="25400">
            <a:solidFill>
              <a:srgbClr val="438E00"/>
            </a:solidFill>
            <a:round/>
            <a:headEnd/>
            <a:tailEnd type="triangle" w="med" len="med"/>
          </a:ln>
          <a:effectLst/>
        </p:spPr>
        <p:txBody>
          <a:bodyPr wrap="none" anchor="ctr"/>
          <a:lstStyle/>
          <a:p>
            <a:pPr>
              <a:defRPr/>
            </a:pPr>
            <a:endParaRPr lang="en-US">
              <a:latin typeface="Arial" pitchFamily="34" charset="0"/>
              <a:cs typeface="Arial" pitchFamily="34" charset="0"/>
            </a:endParaRPr>
          </a:p>
        </p:txBody>
      </p:sp>
      <p:grpSp>
        <p:nvGrpSpPr>
          <p:cNvPr id="146" name="Group 20"/>
          <p:cNvGrpSpPr>
            <a:grpSpLocks/>
          </p:cNvGrpSpPr>
          <p:nvPr/>
        </p:nvGrpSpPr>
        <p:grpSpPr bwMode="auto">
          <a:xfrm>
            <a:off x="1335761" y="3943685"/>
            <a:ext cx="912062" cy="280553"/>
            <a:chOff x="1313" y="2496"/>
            <a:chExt cx="1252" cy="427"/>
          </a:xfrm>
        </p:grpSpPr>
        <p:sp>
          <p:nvSpPr>
            <p:cNvPr id="147"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48"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49"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50"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61" name="Group 20"/>
          <p:cNvGrpSpPr>
            <a:grpSpLocks/>
          </p:cNvGrpSpPr>
          <p:nvPr/>
        </p:nvGrpSpPr>
        <p:grpSpPr bwMode="auto">
          <a:xfrm>
            <a:off x="1335761" y="4427681"/>
            <a:ext cx="912062" cy="280553"/>
            <a:chOff x="1313" y="2496"/>
            <a:chExt cx="1252" cy="427"/>
          </a:xfrm>
        </p:grpSpPr>
        <p:sp>
          <p:nvSpPr>
            <p:cNvPr id="162"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63"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64"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65"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66" name="Group 20"/>
          <p:cNvGrpSpPr>
            <a:grpSpLocks/>
          </p:cNvGrpSpPr>
          <p:nvPr/>
        </p:nvGrpSpPr>
        <p:grpSpPr bwMode="auto">
          <a:xfrm>
            <a:off x="1335761" y="4911677"/>
            <a:ext cx="912062" cy="280553"/>
            <a:chOff x="1313" y="2496"/>
            <a:chExt cx="1252" cy="427"/>
          </a:xfrm>
        </p:grpSpPr>
        <p:sp>
          <p:nvSpPr>
            <p:cNvPr id="167"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68"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69"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70"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71" name="Group 20"/>
          <p:cNvGrpSpPr>
            <a:grpSpLocks/>
          </p:cNvGrpSpPr>
          <p:nvPr/>
        </p:nvGrpSpPr>
        <p:grpSpPr bwMode="auto">
          <a:xfrm>
            <a:off x="1335761" y="5395673"/>
            <a:ext cx="912062" cy="280553"/>
            <a:chOff x="1313" y="2496"/>
            <a:chExt cx="1252" cy="427"/>
          </a:xfrm>
        </p:grpSpPr>
        <p:sp>
          <p:nvSpPr>
            <p:cNvPr id="172"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73"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74"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75"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76" name="Group 20"/>
          <p:cNvGrpSpPr>
            <a:grpSpLocks/>
          </p:cNvGrpSpPr>
          <p:nvPr/>
        </p:nvGrpSpPr>
        <p:grpSpPr bwMode="auto">
          <a:xfrm>
            <a:off x="1335761" y="5879671"/>
            <a:ext cx="912062" cy="280553"/>
            <a:chOff x="1313" y="2496"/>
            <a:chExt cx="1252" cy="427"/>
          </a:xfrm>
        </p:grpSpPr>
        <p:sp>
          <p:nvSpPr>
            <p:cNvPr id="177"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78"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79"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0"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81" name="Freeform 180"/>
          <p:cNvSpPr/>
          <p:nvPr/>
        </p:nvSpPr>
        <p:spPr bwMode="auto">
          <a:xfrm>
            <a:off x="3206338" y="3811979"/>
            <a:ext cx="902524" cy="427512"/>
          </a:xfrm>
          <a:custGeom>
            <a:avLst/>
            <a:gdLst>
              <a:gd name="connsiteX0" fmla="*/ 0 w 902524"/>
              <a:gd name="connsiteY0" fmla="*/ 118753 h 427512"/>
              <a:gd name="connsiteX1" fmla="*/ 902524 w 902524"/>
              <a:gd name="connsiteY1" fmla="*/ 0 h 427512"/>
              <a:gd name="connsiteX2" fmla="*/ 534389 w 902524"/>
              <a:gd name="connsiteY2" fmla="*/ 427512 h 427512"/>
              <a:gd name="connsiteX3" fmla="*/ 0 w 902524"/>
              <a:gd name="connsiteY3" fmla="*/ 118753 h 427512"/>
            </a:gdLst>
            <a:ahLst/>
            <a:cxnLst>
              <a:cxn ang="0">
                <a:pos x="connsiteX0" y="connsiteY0"/>
              </a:cxn>
              <a:cxn ang="0">
                <a:pos x="connsiteX1" y="connsiteY1"/>
              </a:cxn>
              <a:cxn ang="0">
                <a:pos x="connsiteX2" y="connsiteY2"/>
              </a:cxn>
              <a:cxn ang="0">
                <a:pos x="connsiteX3" y="connsiteY3"/>
              </a:cxn>
            </a:cxnLst>
            <a:rect l="l" t="t" r="r" b="b"/>
            <a:pathLst>
              <a:path w="902524" h="427512">
                <a:moveTo>
                  <a:pt x="0" y="118753"/>
                </a:moveTo>
                <a:lnTo>
                  <a:pt x="902524" y="0"/>
                </a:lnTo>
                <a:lnTo>
                  <a:pt x="534389" y="427512"/>
                </a:lnTo>
                <a:lnTo>
                  <a:pt x="0" y="118753"/>
                </a:lnTo>
                <a:close/>
              </a:path>
            </a:pathLst>
          </a:custGeom>
          <a:solidFill>
            <a:srgbClr val="FFFF00"/>
          </a:solidFill>
          <a:ln w="28575" cap="flat" cmpd="sng" algn="ctr">
            <a:solidFill>
              <a:schemeClr val="tx1"/>
            </a:solidFill>
            <a:prstDash val="solid"/>
            <a:round/>
            <a:headEnd type="none" w="med" len="med"/>
            <a:tailEnd type="none" w="med" len="med"/>
          </a:ln>
          <a:effectLst/>
        </p:spPr>
        <p:txBody>
          <a:bodyPr rtlCol="0" anchor="ctr"/>
          <a:lstStyle/>
          <a:p>
            <a:pPr algn="ctr"/>
            <a:endParaRPr lang="en-US" dirty="0">
              <a:latin typeface="Courier New" pitchFamily="49" charset="0"/>
            </a:endParaRPr>
          </a:p>
        </p:txBody>
      </p:sp>
      <p:grpSp>
        <p:nvGrpSpPr>
          <p:cNvPr id="195" name="Group 194"/>
          <p:cNvGrpSpPr/>
          <p:nvPr/>
        </p:nvGrpSpPr>
        <p:grpSpPr>
          <a:xfrm>
            <a:off x="2872371" y="3811979"/>
            <a:ext cx="1835703" cy="1187808"/>
            <a:chOff x="67085" y="2162518"/>
            <a:chExt cx="2192317" cy="1418558"/>
          </a:xfrm>
        </p:grpSpPr>
        <p:sp>
          <p:nvSpPr>
            <p:cNvPr id="193" name="Freeform 27"/>
            <p:cNvSpPr>
              <a:spLocks/>
            </p:cNvSpPr>
            <p:nvPr/>
          </p:nvSpPr>
          <p:spPr bwMode="auto">
            <a:xfrm>
              <a:off x="67085" y="2162518"/>
              <a:ext cx="2192317" cy="1418558"/>
            </a:xfrm>
            <a:custGeom>
              <a:avLst/>
              <a:gdLst>
                <a:gd name="T0" fmla="*/ 760 w 1904"/>
                <a:gd name="T1" fmla="*/ 328 h 1232"/>
                <a:gd name="T2" fmla="*/ 560 w 1904"/>
                <a:gd name="T3" fmla="*/ 72 h 1232"/>
                <a:gd name="T4" fmla="*/ 536 w 1904"/>
                <a:gd name="T5" fmla="*/ 360 h 1232"/>
                <a:gd name="T6" fmla="*/ 0 w 1904"/>
                <a:gd name="T7" fmla="*/ 160 h 1232"/>
                <a:gd name="T8" fmla="*/ 368 w 1904"/>
                <a:gd name="T9" fmla="*/ 624 h 1232"/>
                <a:gd name="T10" fmla="*/ 168 w 1904"/>
                <a:gd name="T11" fmla="*/ 1064 h 1232"/>
                <a:gd name="T12" fmla="*/ 600 w 1904"/>
                <a:gd name="T13" fmla="*/ 784 h 1232"/>
                <a:gd name="T14" fmla="*/ 1144 w 1904"/>
                <a:gd name="T15" fmla="*/ 1232 h 1232"/>
                <a:gd name="T16" fmla="*/ 1000 w 1904"/>
                <a:gd name="T17" fmla="*/ 848 h 1232"/>
                <a:gd name="T18" fmla="*/ 1904 w 1904"/>
                <a:gd name="T19" fmla="*/ 912 h 1232"/>
                <a:gd name="T20" fmla="*/ 1168 w 1904"/>
                <a:gd name="T21" fmla="*/ 560 h 1232"/>
                <a:gd name="T22" fmla="*/ 1808 w 1904"/>
                <a:gd name="T23" fmla="*/ 160 h 1232"/>
                <a:gd name="T24" fmla="*/ 1040 w 1904"/>
                <a:gd name="T25" fmla="*/ 384 h 1232"/>
                <a:gd name="T26" fmla="*/ 952 w 1904"/>
                <a:gd name="T27" fmla="*/ 0 h 1232"/>
                <a:gd name="T28" fmla="*/ 760 w 1904"/>
                <a:gd name="T29" fmla="*/ 328 h 1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04"/>
                <a:gd name="T46" fmla="*/ 0 h 1232"/>
                <a:gd name="T47" fmla="*/ 1904 w 1904"/>
                <a:gd name="T48" fmla="*/ 1232 h 12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04" h="1232">
                  <a:moveTo>
                    <a:pt x="760" y="328"/>
                  </a:moveTo>
                  <a:lnTo>
                    <a:pt x="560" y="72"/>
                  </a:lnTo>
                  <a:lnTo>
                    <a:pt x="536" y="360"/>
                  </a:lnTo>
                  <a:lnTo>
                    <a:pt x="0" y="160"/>
                  </a:lnTo>
                  <a:lnTo>
                    <a:pt x="368" y="624"/>
                  </a:lnTo>
                  <a:lnTo>
                    <a:pt x="168" y="1064"/>
                  </a:lnTo>
                  <a:lnTo>
                    <a:pt x="600" y="784"/>
                  </a:lnTo>
                  <a:lnTo>
                    <a:pt x="1144" y="1232"/>
                  </a:lnTo>
                  <a:lnTo>
                    <a:pt x="1000" y="848"/>
                  </a:lnTo>
                  <a:lnTo>
                    <a:pt x="1904" y="912"/>
                  </a:lnTo>
                  <a:lnTo>
                    <a:pt x="1168" y="560"/>
                  </a:lnTo>
                  <a:lnTo>
                    <a:pt x="1808" y="160"/>
                  </a:lnTo>
                  <a:lnTo>
                    <a:pt x="1040" y="384"/>
                  </a:lnTo>
                  <a:lnTo>
                    <a:pt x="952" y="0"/>
                  </a:lnTo>
                  <a:lnTo>
                    <a:pt x="760" y="328"/>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182" name="Group 20"/>
            <p:cNvGrpSpPr>
              <a:grpSpLocks/>
            </p:cNvGrpSpPr>
            <p:nvPr/>
          </p:nvGrpSpPr>
          <p:grpSpPr bwMode="auto">
            <a:xfrm>
              <a:off x="423699" y="2604068"/>
              <a:ext cx="912062" cy="280553"/>
              <a:chOff x="1313" y="2496"/>
              <a:chExt cx="1252" cy="427"/>
            </a:xfrm>
          </p:grpSpPr>
          <p:sp>
            <p:nvSpPr>
              <p:cNvPr id="183"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4"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5"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6"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87" name="Group 20"/>
            <p:cNvGrpSpPr>
              <a:grpSpLocks/>
            </p:cNvGrpSpPr>
            <p:nvPr/>
          </p:nvGrpSpPr>
          <p:grpSpPr bwMode="auto">
            <a:xfrm>
              <a:off x="628728" y="2761756"/>
              <a:ext cx="912062" cy="280553"/>
              <a:chOff x="1313" y="2496"/>
              <a:chExt cx="1252" cy="427"/>
            </a:xfrm>
          </p:grpSpPr>
          <p:sp>
            <p:nvSpPr>
              <p:cNvPr id="188"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89"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0"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91"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grpSp>
        <p:nvGrpSpPr>
          <p:cNvPr id="208" name="Group 207"/>
          <p:cNvGrpSpPr/>
          <p:nvPr/>
        </p:nvGrpSpPr>
        <p:grpSpPr>
          <a:xfrm>
            <a:off x="2872530" y="4786476"/>
            <a:ext cx="1835703" cy="1187808"/>
            <a:chOff x="67085" y="2162518"/>
            <a:chExt cx="2192317" cy="1418558"/>
          </a:xfrm>
        </p:grpSpPr>
        <p:sp>
          <p:nvSpPr>
            <p:cNvPr id="209" name="Freeform 27"/>
            <p:cNvSpPr>
              <a:spLocks/>
            </p:cNvSpPr>
            <p:nvPr/>
          </p:nvSpPr>
          <p:spPr bwMode="auto">
            <a:xfrm>
              <a:off x="67085" y="2162518"/>
              <a:ext cx="2192317" cy="1418558"/>
            </a:xfrm>
            <a:custGeom>
              <a:avLst/>
              <a:gdLst>
                <a:gd name="T0" fmla="*/ 760 w 1904"/>
                <a:gd name="T1" fmla="*/ 328 h 1232"/>
                <a:gd name="T2" fmla="*/ 560 w 1904"/>
                <a:gd name="T3" fmla="*/ 72 h 1232"/>
                <a:gd name="T4" fmla="*/ 536 w 1904"/>
                <a:gd name="T5" fmla="*/ 360 h 1232"/>
                <a:gd name="T6" fmla="*/ 0 w 1904"/>
                <a:gd name="T7" fmla="*/ 160 h 1232"/>
                <a:gd name="T8" fmla="*/ 368 w 1904"/>
                <a:gd name="T9" fmla="*/ 624 h 1232"/>
                <a:gd name="T10" fmla="*/ 168 w 1904"/>
                <a:gd name="T11" fmla="*/ 1064 h 1232"/>
                <a:gd name="T12" fmla="*/ 600 w 1904"/>
                <a:gd name="T13" fmla="*/ 784 h 1232"/>
                <a:gd name="T14" fmla="*/ 1144 w 1904"/>
                <a:gd name="T15" fmla="*/ 1232 h 1232"/>
                <a:gd name="T16" fmla="*/ 1000 w 1904"/>
                <a:gd name="T17" fmla="*/ 848 h 1232"/>
                <a:gd name="T18" fmla="*/ 1904 w 1904"/>
                <a:gd name="T19" fmla="*/ 912 h 1232"/>
                <a:gd name="T20" fmla="*/ 1168 w 1904"/>
                <a:gd name="T21" fmla="*/ 560 h 1232"/>
                <a:gd name="T22" fmla="*/ 1808 w 1904"/>
                <a:gd name="T23" fmla="*/ 160 h 1232"/>
                <a:gd name="T24" fmla="*/ 1040 w 1904"/>
                <a:gd name="T25" fmla="*/ 384 h 1232"/>
                <a:gd name="T26" fmla="*/ 952 w 1904"/>
                <a:gd name="T27" fmla="*/ 0 h 1232"/>
                <a:gd name="T28" fmla="*/ 760 w 1904"/>
                <a:gd name="T29" fmla="*/ 328 h 1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04"/>
                <a:gd name="T46" fmla="*/ 0 h 1232"/>
                <a:gd name="T47" fmla="*/ 1904 w 1904"/>
                <a:gd name="T48" fmla="*/ 1232 h 12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04" h="1232">
                  <a:moveTo>
                    <a:pt x="760" y="328"/>
                  </a:moveTo>
                  <a:lnTo>
                    <a:pt x="560" y="72"/>
                  </a:lnTo>
                  <a:lnTo>
                    <a:pt x="536" y="360"/>
                  </a:lnTo>
                  <a:lnTo>
                    <a:pt x="0" y="160"/>
                  </a:lnTo>
                  <a:lnTo>
                    <a:pt x="368" y="624"/>
                  </a:lnTo>
                  <a:lnTo>
                    <a:pt x="168" y="1064"/>
                  </a:lnTo>
                  <a:lnTo>
                    <a:pt x="600" y="784"/>
                  </a:lnTo>
                  <a:lnTo>
                    <a:pt x="1144" y="1232"/>
                  </a:lnTo>
                  <a:lnTo>
                    <a:pt x="1000" y="848"/>
                  </a:lnTo>
                  <a:lnTo>
                    <a:pt x="1904" y="912"/>
                  </a:lnTo>
                  <a:lnTo>
                    <a:pt x="1168" y="560"/>
                  </a:lnTo>
                  <a:lnTo>
                    <a:pt x="1808" y="160"/>
                  </a:lnTo>
                  <a:lnTo>
                    <a:pt x="1040" y="384"/>
                  </a:lnTo>
                  <a:lnTo>
                    <a:pt x="952" y="0"/>
                  </a:lnTo>
                  <a:lnTo>
                    <a:pt x="760" y="328"/>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210" name="Group 20"/>
            <p:cNvGrpSpPr>
              <a:grpSpLocks/>
            </p:cNvGrpSpPr>
            <p:nvPr/>
          </p:nvGrpSpPr>
          <p:grpSpPr bwMode="auto">
            <a:xfrm>
              <a:off x="423699" y="2604068"/>
              <a:ext cx="912062" cy="280553"/>
              <a:chOff x="1313" y="2496"/>
              <a:chExt cx="1252" cy="427"/>
            </a:xfrm>
          </p:grpSpPr>
          <p:sp>
            <p:nvSpPr>
              <p:cNvPr id="216"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17"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18"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19"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211" name="Group 20"/>
            <p:cNvGrpSpPr>
              <a:grpSpLocks/>
            </p:cNvGrpSpPr>
            <p:nvPr/>
          </p:nvGrpSpPr>
          <p:grpSpPr bwMode="auto">
            <a:xfrm>
              <a:off x="628728" y="2761756"/>
              <a:ext cx="912062" cy="280553"/>
              <a:chOff x="1313" y="2496"/>
              <a:chExt cx="1252" cy="427"/>
            </a:xfrm>
          </p:grpSpPr>
          <p:sp>
            <p:nvSpPr>
              <p:cNvPr id="212"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13"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14"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215"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sp>
        <p:nvSpPr>
          <p:cNvPr id="220" name="AutoShape 14"/>
          <p:cNvSpPr>
            <a:spLocks noChangeArrowheads="1"/>
          </p:cNvSpPr>
          <p:nvPr/>
        </p:nvSpPr>
        <p:spPr bwMode="auto">
          <a:xfrm>
            <a:off x="6540873" y="4630587"/>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5"/>
                                        </p:tgtEl>
                                        <p:attrNameLst>
                                          <p:attrName>style.visibility</p:attrName>
                                        </p:attrNameLst>
                                      </p:cBhvr>
                                      <p:to>
                                        <p:strVal val="visible"/>
                                      </p:to>
                                    </p:set>
                                    <p:animEffect transition="in" filter="blinds(horizontal)">
                                      <p:cBhvr>
                                        <p:cTn id="7" dur="500"/>
                                        <p:tgtEl>
                                          <p:spTgt spid="195"/>
                                        </p:tgtEl>
                                      </p:cBhvr>
                                    </p:animEffect>
                                  </p:childTnLst>
                                </p:cTn>
                              </p:par>
                              <p:par>
                                <p:cTn id="8" presetID="3" presetClass="entr" presetSubtype="10" fill="hold" nodeType="withEffect">
                                  <p:stCondLst>
                                    <p:cond delay="0"/>
                                  </p:stCondLst>
                                  <p:childTnLst>
                                    <p:set>
                                      <p:cBhvr>
                                        <p:cTn id="9" dur="1" fill="hold">
                                          <p:stCondLst>
                                            <p:cond delay="0"/>
                                          </p:stCondLst>
                                        </p:cTn>
                                        <p:tgtEl>
                                          <p:spTgt spid="208"/>
                                        </p:tgtEl>
                                        <p:attrNameLst>
                                          <p:attrName>style.visibility</p:attrName>
                                        </p:attrNameLst>
                                      </p:cBhvr>
                                      <p:to>
                                        <p:strVal val="visible"/>
                                      </p:to>
                                    </p:set>
                                    <p:animEffect transition="in" filter="blinds(horizontal)">
                                      <p:cBhvr>
                                        <p:cTn id="10"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930275" y="266700"/>
            <a:ext cx="7162800" cy="1143000"/>
          </a:xfrm>
          <a:prstGeom prst="rect">
            <a:avLst/>
          </a:prstGeom>
          <a:noFill/>
          <a:ln w="12700">
            <a:noFill/>
            <a:miter lim="800000"/>
            <a:headEnd/>
            <a:tailEnd/>
          </a:ln>
          <a:effectLst/>
        </p:spPr>
        <p:txBody>
          <a:bodyPr lIns="57150" tIns="46038" rIns="57150" bIns="46038" anchor="ctr"/>
          <a:lstStyle/>
          <a:p>
            <a:pPr algn="ctr">
              <a:defRPr/>
            </a:pPr>
            <a:r>
              <a:rPr lang="en-US" sz="4000" b="0" dirty="0">
                <a:solidFill>
                  <a:schemeClr val="tx2"/>
                </a:solidFill>
                <a:latin typeface="Arial" pitchFamily="34" charset="0"/>
                <a:cs typeface="Arial" pitchFamily="34" charset="0"/>
              </a:rPr>
              <a:t>Diffracting Tree</a:t>
            </a:r>
          </a:p>
        </p:txBody>
      </p:sp>
      <p:sp>
        <p:nvSpPr>
          <p:cNvPr id="32771" name="Rectangle 3"/>
          <p:cNvSpPr>
            <a:spLocks noChangeArrowheads="1"/>
          </p:cNvSpPr>
          <p:nvPr/>
        </p:nvSpPr>
        <p:spPr bwMode="auto">
          <a:xfrm>
            <a:off x="1675053" y="6059488"/>
            <a:ext cx="5793895" cy="459100"/>
          </a:xfrm>
          <a:prstGeom prst="rect">
            <a:avLst/>
          </a:prstGeom>
          <a:noFill/>
          <a:ln w="12700">
            <a:noFill/>
            <a:miter lim="800000"/>
            <a:headEnd/>
            <a:tailEnd/>
          </a:ln>
          <a:effectLst/>
        </p:spPr>
        <p:txBody>
          <a:bodyPr wrap="none" lIns="90488" tIns="44450" rIns="90488" bIns="44450">
            <a:spAutoFit/>
          </a:bodyPr>
          <a:lstStyle/>
          <a:p>
            <a:pPr>
              <a:defRPr/>
            </a:pPr>
            <a:r>
              <a:rPr lang="en-US" dirty="0">
                <a:latin typeface="Arial" pitchFamily="34" charset="0"/>
                <a:cs typeface="Arial" pitchFamily="34" charset="0"/>
              </a:rPr>
              <a:t>Diffracting balancer same as balancer.</a:t>
            </a:r>
          </a:p>
        </p:txBody>
      </p:sp>
      <p:sp>
        <p:nvSpPr>
          <p:cNvPr id="32778" name="Freeform 10"/>
          <p:cNvSpPr>
            <a:spLocks/>
          </p:cNvSpPr>
          <p:nvPr/>
        </p:nvSpPr>
        <p:spPr bwMode="auto">
          <a:xfrm>
            <a:off x="3794538" y="2455442"/>
            <a:ext cx="972798" cy="875721"/>
          </a:xfrm>
          <a:custGeom>
            <a:avLst/>
            <a:gdLst/>
            <a:ahLst/>
            <a:cxnLst>
              <a:cxn ang="0">
                <a:pos x="0" y="375"/>
              </a:cxn>
              <a:cxn ang="0">
                <a:pos x="148" y="375"/>
              </a:cxn>
              <a:cxn ang="0">
                <a:pos x="148" y="0"/>
              </a:cxn>
              <a:cxn ang="0">
                <a:pos x="369" y="0"/>
              </a:cxn>
            </a:cxnLst>
            <a:rect l="0" t="0" r="r" b="b"/>
            <a:pathLst>
              <a:path w="370" h="376">
                <a:moveTo>
                  <a:pt x="0" y="375"/>
                </a:moveTo>
                <a:lnTo>
                  <a:pt x="148" y="375"/>
                </a:lnTo>
                <a:lnTo>
                  <a:pt x="148" y="0"/>
                </a:lnTo>
                <a:lnTo>
                  <a:pt x="369" y="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779" name="Freeform 11"/>
          <p:cNvSpPr>
            <a:spLocks/>
          </p:cNvSpPr>
          <p:nvPr/>
        </p:nvSpPr>
        <p:spPr bwMode="auto">
          <a:xfrm>
            <a:off x="3818201" y="4050838"/>
            <a:ext cx="972798" cy="875721"/>
          </a:xfrm>
          <a:custGeom>
            <a:avLst/>
            <a:gdLst/>
            <a:ahLst/>
            <a:cxnLst>
              <a:cxn ang="0">
                <a:pos x="0" y="0"/>
              </a:cxn>
              <a:cxn ang="0">
                <a:pos x="148" y="0"/>
              </a:cxn>
              <a:cxn ang="0">
                <a:pos x="148" y="375"/>
              </a:cxn>
              <a:cxn ang="0">
                <a:pos x="369" y="375"/>
              </a:cxn>
            </a:cxnLst>
            <a:rect l="0" t="0" r="r" b="b"/>
            <a:pathLst>
              <a:path w="370" h="376">
                <a:moveTo>
                  <a:pt x="0" y="0"/>
                </a:moveTo>
                <a:lnTo>
                  <a:pt x="148" y="0"/>
                </a:lnTo>
                <a:lnTo>
                  <a:pt x="148" y="375"/>
                </a:lnTo>
                <a:lnTo>
                  <a:pt x="369" y="375"/>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780" name="Rectangle 12"/>
          <p:cNvSpPr>
            <a:spLocks noChangeArrowheads="1"/>
          </p:cNvSpPr>
          <p:nvPr/>
        </p:nvSpPr>
        <p:spPr bwMode="auto">
          <a:xfrm>
            <a:off x="4775224" y="3934386"/>
            <a:ext cx="2013955" cy="1579093"/>
          </a:xfrm>
          <a:prstGeom prst="rect">
            <a:avLst/>
          </a:prstGeom>
          <a:solidFill>
            <a:srgbClr val="C0FEF9"/>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781" name="Rectangle 13"/>
          <p:cNvSpPr>
            <a:spLocks noChangeArrowheads="1"/>
          </p:cNvSpPr>
          <p:nvPr/>
        </p:nvSpPr>
        <p:spPr bwMode="auto">
          <a:xfrm>
            <a:off x="4775224" y="1805638"/>
            <a:ext cx="2061280" cy="1579093"/>
          </a:xfrm>
          <a:prstGeom prst="rect">
            <a:avLst/>
          </a:prstGeom>
          <a:solidFill>
            <a:srgbClr val="C0FEF9"/>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782" name="Rectangle 14"/>
          <p:cNvSpPr>
            <a:spLocks noChangeArrowheads="1"/>
          </p:cNvSpPr>
          <p:nvPr/>
        </p:nvSpPr>
        <p:spPr bwMode="auto">
          <a:xfrm>
            <a:off x="1848942" y="2797811"/>
            <a:ext cx="2061280" cy="1579093"/>
          </a:xfrm>
          <a:prstGeom prst="rect">
            <a:avLst/>
          </a:prstGeom>
          <a:solidFill>
            <a:srgbClr val="C0FEF9"/>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784" name="Rectangle 16"/>
          <p:cNvSpPr>
            <a:spLocks noChangeArrowheads="1"/>
          </p:cNvSpPr>
          <p:nvPr/>
        </p:nvSpPr>
        <p:spPr bwMode="auto">
          <a:xfrm>
            <a:off x="2153927" y="3226356"/>
            <a:ext cx="257660" cy="1003819"/>
          </a:xfrm>
          <a:prstGeom prst="rect">
            <a:avLst/>
          </a:prstGeom>
          <a:solidFill>
            <a:srgbClr val="FAFD00"/>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785" name="Line 17"/>
          <p:cNvSpPr>
            <a:spLocks noChangeShapeType="1"/>
          </p:cNvSpPr>
          <p:nvPr/>
        </p:nvSpPr>
        <p:spPr bwMode="auto">
          <a:xfrm>
            <a:off x="2153927" y="3382402"/>
            <a:ext cx="236627"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86" name="Line 18"/>
          <p:cNvSpPr>
            <a:spLocks noChangeShapeType="1"/>
          </p:cNvSpPr>
          <p:nvPr/>
        </p:nvSpPr>
        <p:spPr bwMode="auto">
          <a:xfrm>
            <a:off x="2153927" y="3557080"/>
            <a:ext cx="236627"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87" name="Line 19"/>
          <p:cNvSpPr>
            <a:spLocks noChangeShapeType="1"/>
          </p:cNvSpPr>
          <p:nvPr/>
        </p:nvSpPr>
        <p:spPr bwMode="auto">
          <a:xfrm>
            <a:off x="2167073" y="3720114"/>
            <a:ext cx="228739" cy="2329"/>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88" name="Line 20"/>
          <p:cNvSpPr>
            <a:spLocks noChangeShapeType="1"/>
          </p:cNvSpPr>
          <p:nvPr/>
        </p:nvSpPr>
        <p:spPr bwMode="auto">
          <a:xfrm>
            <a:off x="2164444" y="3908766"/>
            <a:ext cx="236627" cy="2329"/>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89" name="Line 21"/>
          <p:cNvSpPr>
            <a:spLocks noChangeShapeType="1"/>
          </p:cNvSpPr>
          <p:nvPr/>
        </p:nvSpPr>
        <p:spPr bwMode="auto">
          <a:xfrm>
            <a:off x="2153927" y="4081116"/>
            <a:ext cx="236627"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90" name="Rectangle 22"/>
          <p:cNvSpPr>
            <a:spLocks noChangeArrowheads="1"/>
          </p:cNvSpPr>
          <p:nvPr/>
        </p:nvSpPr>
        <p:spPr bwMode="auto">
          <a:xfrm>
            <a:off x="2424733" y="3179775"/>
            <a:ext cx="255031"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1</a:t>
            </a:r>
          </a:p>
        </p:txBody>
      </p:sp>
      <p:sp>
        <p:nvSpPr>
          <p:cNvPr id="32791" name="Rectangle 23"/>
          <p:cNvSpPr>
            <a:spLocks noChangeArrowheads="1"/>
          </p:cNvSpPr>
          <p:nvPr/>
        </p:nvSpPr>
        <p:spPr bwMode="auto">
          <a:xfrm>
            <a:off x="2424733" y="3349795"/>
            <a:ext cx="255031"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2</a:t>
            </a:r>
          </a:p>
        </p:txBody>
      </p:sp>
      <p:sp>
        <p:nvSpPr>
          <p:cNvPr id="32792" name="Rectangle 24"/>
          <p:cNvSpPr>
            <a:spLocks noChangeArrowheads="1"/>
          </p:cNvSpPr>
          <p:nvPr/>
        </p:nvSpPr>
        <p:spPr bwMode="auto">
          <a:xfrm>
            <a:off x="2416845" y="4039193"/>
            <a:ext cx="255031"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k</a:t>
            </a:r>
          </a:p>
        </p:txBody>
      </p:sp>
      <p:sp>
        <p:nvSpPr>
          <p:cNvPr id="32793" name="Rectangle 25"/>
          <p:cNvSpPr>
            <a:spLocks noChangeArrowheads="1"/>
          </p:cNvSpPr>
          <p:nvPr/>
        </p:nvSpPr>
        <p:spPr bwMode="auto">
          <a:xfrm>
            <a:off x="2448396" y="3459261"/>
            <a:ext cx="199818"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794" name="Rectangle 26"/>
          <p:cNvSpPr>
            <a:spLocks noChangeArrowheads="1"/>
          </p:cNvSpPr>
          <p:nvPr/>
        </p:nvSpPr>
        <p:spPr bwMode="auto">
          <a:xfrm>
            <a:off x="2448396" y="3526803"/>
            <a:ext cx="199818"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795" name="Rectangle 27"/>
          <p:cNvSpPr>
            <a:spLocks noChangeArrowheads="1"/>
          </p:cNvSpPr>
          <p:nvPr/>
        </p:nvSpPr>
        <p:spPr bwMode="auto">
          <a:xfrm>
            <a:off x="2453654" y="3699152"/>
            <a:ext cx="210335"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796" name="Rectangle 28"/>
          <p:cNvSpPr>
            <a:spLocks noChangeArrowheads="1"/>
          </p:cNvSpPr>
          <p:nvPr/>
        </p:nvSpPr>
        <p:spPr bwMode="auto">
          <a:xfrm>
            <a:off x="2453654" y="3873831"/>
            <a:ext cx="210335"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797" name="Rectangle 29"/>
          <p:cNvSpPr>
            <a:spLocks noChangeArrowheads="1"/>
          </p:cNvSpPr>
          <p:nvPr/>
        </p:nvSpPr>
        <p:spPr bwMode="auto">
          <a:xfrm>
            <a:off x="1888379" y="2921251"/>
            <a:ext cx="770351" cy="347028"/>
          </a:xfrm>
          <a:prstGeom prst="rect">
            <a:avLst/>
          </a:prstGeom>
          <a:noFill/>
          <a:ln w="25400">
            <a:noFill/>
            <a:miter lim="800000"/>
            <a:headEnd/>
            <a:tailEnd/>
          </a:ln>
          <a:effectLst/>
        </p:spPr>
        <p:txBody>
          <a:bodyPr wrap="none" lIns="69850" tIns="34925" rIns="69850" bIns="34925">
            <a:spAutoFit/>
          </a:bodyPr>
          <a:lstStyle/>
          <a:p>
            <a:pPr defTabSz="514350">
              <a:defRPr/>
            </a:pPr>
            <a:r>
              <a:rPr lang="en-US" sz="1800">
                <a:latin typeface="Arial" pitchFamily="34" charset="0"/>
                <a:cs typeface="Arial" pitchFamily="34" charset="0"/>
              </a:rPr>
              <a:t>prism</a:t>
            </a:r>
          </a:p>
        </p:txBody>
      </p:sp>
      <p:grpSp>
        <p:nvGrpSpPr>
          <p:cNvPr id="245788" name="Group 42"/>
          <p:cNvGrpSpPr>
            <a:grpSpLocks/>
          </p:cNvGrpSpPr>
          <p:nvPr/>
        </p:nvGrpSpPr>
        <p:grpSpPr bwMode="auto">
          <a:xfrm>
            <a:off x="5140680" y="2299396"/>
            <a:ext cx="849227" cy="889696"/>
            <a:chOff x="2213" y="1547"/>
            <a:chExt cx="323" cy="382"/>
          </a:xfrm>
        </p:grpSpPr>
        <p:sp>
          <p:nvSpPr>
            <p:cNvPr id="32801" name="Rectangle 33"/>
            <p:cNvSpPr>
              <a:spLocks noChangeArrowheads="1"/>
            </p:cNvSpPr>
            <p:nvPr/>
          </p:nvSpPr>
          <p:spPr bwMode="auto">
            <a:xfrm>
              <a:off x="2213" y="1566"/>
              <a:ext cx="99" cy="288"/>
            </a:xfrm>
            <a:prstGeom prst="rect">
              <a:avLst/>
            </a:prstGeom>
            <a:solidFill>
              <a:srgbClr val="FAFD00"/>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802" name="Line 34"/>
            <p:cNvSpPr>
              <a:spLocks noChangeShapeType="1"/>
            </p:cNvSpPr>
            <p:nvPr/>
          </p:nvSpPr>
          <p:spPr bwMode="auto">
            <a:xfrm>
              <a:off x="2213" y="1633"/>
              <a:ext cx="91"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03" name="Line 35"/>
            <p:cNvSpPr>
              <a:spLocks noChangeShapeType="1"/>
            </p:cNvSpPr>
            <p:nvPr/>
          </p:nvSpPr>
          <p:spPr bwMode="auto">
            <a:xfrm>
              <a:off x="2213" y="1705"/>
              <a:ext cx="91"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04" name="Line 36"/>
            <p:cNvSpPr>
              <a:spLocks noChangeShapeType="1"/>
            </p:cNvSpPr>
            <p:nvPr/>
          </p:nvSpPr>
          <p:spPr bwMode="auto">
            <a:xfrm>
              <a:off x="2219" y="1779"/>
              <a:ext cx="87" cy="1"/>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05" name="Rectangle 37"/>
            <p:cNvSpPr>
              <a:spLocks noChangeArrowheads="1"/>
            </p:cNvSpPr>
            <p:nvPr/>
          </p:nvSpPr>
          <p:spPr bwMode="auto">
            <a:xfrm>
              <a:off x="2317" y="1547"/>
              <a:ext cx="97"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1</a:t>
              </a:r>
            </a:p>
          </p:txBody>
        </p:sp>
        <p:sp>
          <p:nvSpPr>
            <p:cNvPr id="32806" name="Rectangle 38"/>
            <p:cNvSpPr>
              <a:spLocks noChangeArrowheads="1"/>
            </p:cNvSpPr>
            <p:nvPr/>
          </p:nvSpPr>
          <p:spPr bwMode="auto">
            <a:xfrm>
              <a:off x="2317" y="1618"/>
              <a:ext cx="97"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2</a:t>
              </a:r>
            </a:p>
          </p:txBody>
        </p:sp>
        <p:sp>
          <p:nvSpPr>
            <p:cNvPr id="32807" name="Rectangle 39"/>
            <p:cNvSpPr>
              <a:spLocks noChangeArrowheads="1"/>
            </p:cNvSpPr>
            <p:nvPr/>
          </p:nvSpPr>
          <p:spPr bwMode="auto">
            <a:xfrm>
              <a:off x="2330" y="1793"/>
              <a:ext cx="20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k / 2</a:t>
              </a:r>
            </a:p>
          </p:txBody>
        </p:sp>
        <p:sp>
          <p:nvSpPr>
            <p:cNvPr id="32808" name="Rectangle 40"/>
            <p:cNvSpPr>
              <a:spLocks noChangeArrowheads="1"/>
            </p:cNvSpPr>
            <p:nvPr/>
          </p:nvSpPr>
          <p:spPr bwMode="auto">
            <a:xfrm>
              <a:off x="2326" y="1666"/>
              <a:ext cx="7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809" name="Rectangle 41"/>
            <p:cNvSpPr>
              <a:spLocks noChangeArrowheads="1"/>
            </p:cNvSpPr>
            <p:nvPr/>
          </p:nvSpPr>
          <p:spPr bwMode="auto">
            <a:xfrm>
              <a:off x="2326" y="1696"/>
              <a:ext cx="7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grpSp>
      <p:sp>
        <p:nvSpPr>
          <p:cNvPr id="32811" name="Rectangle 43"/>
          <p:cNvSpPr>
            <a:spLocks noChangeArrowheads="1"/>
          </p:cNvSpPr>
          <p:nvPr/>
        </p:nvSpPr>
        <p:spPr bwMode="auto">
          <a:xfrm>
            <a:off x="4940862" y="1835915"/>
            <a:ext cx="770351" cy="347028"/>
          </a:xfrm>
          <a:prstGeom prst="rect">
            <a:avLst/>
          </a:prstGeom>
          <a:noFill/>
          <a:ln w="25400">
            <a:noFill/>
            <a:miter lim="800000"/>
            <a:headEnd/>
            <a:tailEnd/>
          </a:ln>
          <a:effectLst/>
        </p:spPr>
        <p:txBody>
          <a:bodyPr wrap="none" lIns="69850" tIns="34925" rIns="69850" bIns="34925">
            <a:spAutoFit/>
          </a:bodyPr>
          <a:lstStyle/>
          <a:p>
            <a:pPr defTabSz="514350">
              <a:defRPr/>
            </a:pPr>
            <a:r>
              <a:rPr lang="en-US" sz="1800">
                <a:latin typeface="Arial" pitchFamily="34" charset="0"/>
                <a:cs typeface="Arial" pitchFamily="34" charset="0"/>
              </a:rPr>
              <a:t>prism</a:t>
            </a:r>
          </a:p>
        </p:txBody>
      </p:sp>
      <p:sp>
        <p:nvSpPr>
          <p:cNvPr id="32815" name="Rectangle 47"/>
          <p:cNvSpPr>
            <a:spLocks noChangeArrowheads="1"/>
          </p:cNvSpPr>
          <p:nvPr/>
        </p:nvSpPr>
        <p:spPr bwMode="auto">
          <a:xfrm>
            <a:off x="4935604" y="3962335"/>
            <a:ext cx="770351" cy="347028"/>
          </a:xfrm>
          <a:prstGeom prst="rect">
            <a:avLst/>
          </a:prstGeom>
          <a:noFill/>
          <a:ln w="25400">
            <a:noFill/>
            <a:miter lim="800000"/>
            <a:headEnd/>
            <a:tailEnd/>
          </a:ln>
          <a:effectLst/>
        </p:spPr>
        <p:txBody>
          <a:bodyPr wrap="none" lIns="69850" tIns="34925" rIns="69850" bIns="34925">
            <a:spAutoFit/>
          </a:bodyPr>
          <a:lstStyle/>
          <a:p>
            <a:pPr defTabSz="514350">
              <a:defRPr/>
            </a:pPr>
            <a:r>
              <a:rPr lang="en-US" sz="1800">
                <a:latin typeface="Arial" pitchFamily="34" charset="0"/>
                <a:cs typeface="Arial" pitchFamily="34" charset="0"/>
              </a:rPr>
              <a:t>prism</a:t>
            </a:r>
          </a:p>
        </p:txBody>
      </p:sp>
      <p:sp>
        <p:nvSpPr>
          <p:cNvPr id="32816" name="Freeform 48"/>
          <p:cNvSpPr>
            <a:spLocks/>
          </p:cNvSpPr>
          <p:nvPr/>
        </p:nvSpPr>
        <p:spPr bwMode="auto">
          <a:xfrm>
            <a:off x="6870684" y="2257473"/>
            <a:ext cx="1477602" cy="2329"/>
          </a:xfrm>
          <a:custGeom>
            <a:avLst/>
            <a:gdLst/>
            <a:ahLst/>
            <a:cxnLst>
              <a:cxn ang="0">
                <a:pos x="0" y="0"/>
              </a:cxn>
              <a:cxn ang="0">
                <a:pos x="561" y="0"/>
              </a:cxn>
            </a:cxnLst>
            <a:rect l="0" t="0" r="r" b="b"/>
            <a:pathLst>
              <a:path w="562" h="1">
                <a:moveTo>
                  <a:pt x="0" y="0"/>
                </a:moveTo>
                <a:lnTo>
                  <a:pt x="561" y="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17" name="Freeform 49"/>
          <p:cNvSpPr>
            <a:spLocks/>
          </p:cNvSpPr>
          <p:nvPr/>
        </p:nvSpPr>
        <p:spPr bwMode="auto">
          <a:xfrm>
            <a:off x="6823358" y="5029038"/>
            <a:ext cx="1480231" cy="2329"/>
          </a:xfrm>
          <a:custGeom>
            <a:avLst/>
            <a:gdLst/>
            <a:ahLst/>
            <a:cxnLst>
              <a:cxn ang="0">
                <a:pos x="0" y="0"/>
              </a:cxn>
              <a:cxn ang="0">
                <a:pos x="562" y="0"/>
              </a:cxn>
            </a:cxnLst>
            <a:rect l="0" t="0" r="r" b="b"/>
            <a:pathLst>
              <a:path w="563" h="1">
                <a:moveTo>
                  <a:pt x="0" y="0"/>
                </a:moveTo>
                <a:lnTo>
                  <a:pt x="562" y="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18" name="Freeform 50"/>
          <p:cNvSpPr>
            <a:spLocks/>
          </p:cNvSpPr>
          <p:nvPr/>
        </p:nvSpPr>
        <p:spPr bwMode="auto">
          <a:xfrm>
            <a:off x="6823358" y="2944541"/>
            <a:ext cx="1503893" cy="1462641"/>
          </a:xfrm>
          <a:custGeom>
            <a:avLst/>
            <a:gdLst/>
            <a:ahLst/>
            <a:cxnLst>
              <a:cxn ang="0">
                <a:pos x="0" y="630"/>
              </a:cxn>
              <a:cxn ang="0">
                <a:pos x="166" y="630"/>
              </a:cxn>
              <a:cxn ang="0">
                <a:pos x="332" y="0"/>
              </a:cxn>
              <a:cxn ang="0">
                <a:pos x="571" y="0"/>
              </a:cxn>
            </a:cxnLst>
            <a:rect l="0" t="0" r="r" b="b"/>
            <a:pathLst>
              <a:path w="572" h="631">
                <a:moveTo>
                  <a:pt x="0" y="630"/>
                </a:moveTo>
                <a:lnTo>
                  <a:pt x="166" y="630"/>
                </a:lnTo>
                <a:lnTo>
                  <a:pt x="332" y="0"/>
                </a:lnTo>
                <a:lnTo>
                  <a:pt x="571" y="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19" name="Freeform 51"/>
          <p:cNvSpPr>
            <a:spLocks/>
          </p:cNvSpPr>
          <p:nvPr/>
        </p:nvSpPr>
        <p:spPr bwMode="auto">
          <a:xfrm>
            <a:off x="6870684" y="2923580"/>
            <a:ext cx="1501264" cy="1467299"/>
          </a:xfrm>
          <a:custGeom>
            <a:avLst/>
            <a:gdLst/>
            <a:ahLst/>
            <a:cxnLst>
              <a:cxn ang="0">
                <a:pos x="0" y="0"/>
              </a:cxn>
              <a:cxn ang="0">
                <a:pos x="166" y="0"/>
              </a:cxn>
              <a:cxn ang="0">
                <a:pos x="332" y="630"/>
              </a:cxn>
              <a:cxn ang="0">
                <a:pos x="571" y="630"/>
              </a:cxn>
            </a:cxnLst>
            <a:rect l="0" t="0" r="r" b="b"/>
            <a:pathLst>
              <a:path w="572" h="631">
                <a:moveTo>
                  <a:pt x="0" y="0"/>
                </a:moveTo>
                <a:lnTo>
                  <a:pt x="166" y="0"/>
                </a:lnTo>
                <a:lnTo>
                  <a:pt x="332" y="630"/>
                </a:lnTo>
                <a:lnTo>
                  <a:pt x="571" y="63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20" name="Line 52"/>
          <p:cNvSpPr>
            <a:spLocks noChangeShapeType="1"/>
          </p:cNvSpPr>
          <p:nvPr/>
        </p:nvSpPr>
        <p:spPr bwMode="auto">
          <a:xfrm flipH="1">
            <a:off x="1144320" y="3710798"/>
            <a:ext cx="578421" cy="0"/>
          </a:xfrm>
          <a:prstGeom prst="line">
            <a:avLst/>
          </a:prstGeom>
          <a:noFill/>
          <a:ln w="12700">
            <a:solidFill>
              <a:schemeClr val="tx2"/>
            </a:solidFill>
            <a:round/>
            <a:headEnd type="triangle" w="med" len="med"/>
            <a:tailEnd/>
          </a:ln>
          <a:effectLst/>
        </p:spPr>
        <p:txBody>
          <a:bodyPr wrap="none" anchor="ctr"/>
          <a:lstStyle/>
          <a:p>
            <a:pPr>
              <a:defRPr/>
            </a:pPr>
            <a:endParaRPr lang="en-US" sz="3600">
              <a:latin typeface="Arial" pitchFamily="34" charset="0"/>
              <a:cs typeface="Arial" pitchFamily="34" charset="0"/>
            </a:endParaRPr>
          </a:p>
        </p:txBody>
      </p:sp>
      <p:sp>
        <p:nvSpPr>
          <p:cNvPr id="32823" name="Rectangle 55"/>
          <p:cNvSpPr>
            <a:spLocks noChangeArrowheads="1"/>
          </p:cNvSpPr>
          <p:nvPr/>
        </p:nvSpPr>
        <p:spPr bwMode="auto">
          <a:xfrm>
            <a:off x="1722741" y="4390879"/>
            <a:ext cx="2333972" cy="347531"/>
          </a:xfrm>
          <a:prstGeom prst="rect">
            <a:avLst/>
          </a:prstGeom>
          <a:noFill/>
          <a:ln w="12700">
            <a:noFill/>
            <a:miter lim="800000"/>
            <a:headEnd/>
            <a:tailEnd/>
          </a:ln>
          <a:effectLst/>
        </p:spPr>
        <p:txBody>
          <a:bodyPr wrap="none" lIns="69850" tIns="34925" rIns="69850" bIns="34925">
            <a:spAutoFit/>
          </a:bodyPr>
          <a:lstStyle/>
          <a:p>
            <a:pPr defTabSz="514350">
              <a:defRPr/>
            </a:pPr>
            <a:r>
              <a:rPr lang="en-US" sz="1800" dirty="0">
                <a:latin typeface="Arial" pitchFamily="34" charset="0"/>
                <a:cs typeface="Arial" pitchFamily="34" charset="0"/>
              </a:rPr>
              <a:t>Diffracting Balancer</a:t>
            </a:r>
          </a:p>
        </p:txBody>
      </p:sp>
      <p:grpSp>
        <p:nvGrpSpPr>
          <p:cNvPr id="245809" name="Group 74"/>
          <p:cNvGrpSpPr>
            <a:grpSpLocks/>
          </p:cNvGrpSpPr>
          <p:nvPr/>
        </p:nvGrpSpPr>
        <p:grpSpPr bwMode="auto">
          <a:xfrm>
            <a:off x="5161714" y="4404853"/>
            <a:ext cx="849227" cy="894354"/>
            <a:chOff x="2221" y="2451"/>
            <a:chExt cx="323" cy="384"/>
          </a:xfrm>
        </p:grpSpPr>
        <p:sp>
          <p:nvSpPr>
            <p:cNvPr id="32833" name="Rectangle 65"/>
            <p:cNvSpPr>
              <a:spLocks noChangeArrowheads="1"/>
            </p:cNvSpPr>
            <p:nvPr/>
          </p:nvSpPr>
          <p:spPr bwMode="auto">
            <a:xfrm>
              <a:off x="2221" y="2471"/>
              <a:ext cx="99" cy="287"/>
            </a:xfrm>
            <a:prstGeom prst="rect">
              <a:avLst/>
            </a:prstGeom>
            <a:solidFill>
              <a:srgbClr val="FAFD00"/>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834" name="Line 66"/>
            <p:cNvSpPr>
              <a:spLocks noChangeShapeType="1"/>
            </p:cNvSpPr>
            <p:nvPr/>
          </p:nvSpPr>
          <p:spPr bwMode="auto">
            <a:xfrm>
              <a:off x="2221" y="2537"/>
              <a:ext cx="91"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35" name="Line 67"/>
            <p:cNvSpPr>
              <a:spLocks noChangeShapeType="1"/>
            </p:cNvSpPr>
            <p:nvPr/>
          </p:nvSpPr>
          <p:spPr bwMode="auto">
            <a:xfrm>
              <a:off x="2221" y="2611"/>
              <a:ext cx="91"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36" name="Line 68"/>
            <p:cNvSpPr>
              <a:spLocks noChangeShapeType="1"/>
            </p:cNvSpPr>
            <p:nvPr/>
          </p:nvSpPr>
          <p:spPr bwMode="auto">
            <a:xfrm>
              <a:off x="2227" y="2683"/>
              <a:ext cx="87" cy="1"/>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37" name="Rectangle 69"/>
            <p:cNvSpPr>
              <a:spLocks noChangeArrowheads="1"/>
            </p:cNvSpPr>
            <p:nvPr/>
          </p:nvSpPr>
          <p:spPr bwMode="auto">
            <a:xfrm>
              <a:off x="2325" y="2451"/>
              <a:ext cx="97"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1</a:t>
              </a:r>
            </a:p>
          </p:txBody>
        </p:sp>
        <p:sp>
          <p:nvSpPr>
            <p:cNvPr id="32838" name="Rectangle 70"/>
            <p:cNvSpPr>
              <a:spLocks noChangeArrowheads="1"/>
            </p:cNvSpPr>
            <p:nvPr/>
          </p:nvSpPr>
          <p:spPr bwMode="auto">
            <a:xfrm>
              <a:off x="2325" y="2523"/>
              <a:ext cx="97"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2</a:t>
              </a:r>
            </a:p>
          </p:txBody>
        </p:sp>
        <p:sp>
          <p:nvSpPr>
            <p:cNvPr id="32839" name="Rectangle 71"/>
            <p:cNvSpPr>
              <a:spLocks noChangeArrowheads="1"/>
            </p:cNvSpPr>
            <p:nvPr/>
          </p:nvSpPr>
          <p:spPr bwMode="auto">
            <a:xfrm>
              <a:off x="2338" y="2699"/>
              <a:ext cx="20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k / 2</a:t>
              </a:r>
            </a:p>
          </p:txBody>
        </p:sp>
        <p:sp>
          <p:nvSpPr>
            <p:cNvPr id="32840" name="Rectangle 72"/>
            <p:cNvSpPr>
              <a:spLocks noChangeArrowheads="1"/>
            </p:cNvSpPr>
            <p:nvPr/>
          </p:nvSpPr>
          <p:spPr bwMode="auto">
            <a:xfrm>
              <a:off x="2334" y="2570"/>
              <a:ext cx="7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841" name="Rectangle 73"/>
            <p:cNvSpPr>
              <a:spLocks noChangeArrowheads="1"/>
            </p:cNvSpPr>
            <p:nvPr/>
          </p:nvSpPr>
          <p:spPr bwMode="auto">
            <a:xfrm>
              <a:off x="2334" y="2601"/>
              <a:ext cx="7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grpSp>
      <p:sp>
        <p:nvSpPr>
          <p:cNvPr id="32843" name="Freeform 75"/>
          <p:cNvSpPr>
            <a:spLocks/>
          </p:cNvSpPr>
          <p:nvPr/>
        </p:nvSpPr>
        <p:spPr bwMode="auto">
          <a:xfrm>
            <a:off x="1215308" y="3519816"/>
            <a:ext cx="2124381" cy="619526"/>
          </a:xfrm>
          <a:custGeom>
            <a:avLst/>
            <a:gdLst/>
            <a:ahLst/>
            <a:cxnLst>
              <a:cxn ang="0">
                <a:pos x="0" y="168"/>
              </a:cxn>
              <a:cxn ang="0">
                <a:pos x="428" y="0"/>
              </a:cxn>
              <a:cxn ang="0">
                <a:pos x="808" y="265"/>
              </a:cxn>
            </a:cxnLst>
            <a:rect l="0" t="0" r="r" b="b"/>
            <a:pathLst>
              <a:path w="809" h="266">
                <a:moveTo>
                  <a:pt x="0" y="168"/>
                </a:moveTo>
                <a:lnTo>
                  <a:pt x="428" y="0"/>
                </a:lnTo>
                <a:lnTo>
                  <a:pt x="808" y="265"/>
                </a:lnTo>
              </a:path>
            </a:pathLst>
          </a:custGeom>
          <a:noFill/>
          <a:ln w="25400" cap="rnd" cmpd="sng">
            <a:solidFill>
              <a:srgbClr val="00AE00"/>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44" name="Freeform 76"/>
          <p:cNvSpPr>
            <a:spLocks/>
          </p:cNvSpPr>
          <p:nvPr/>
        </p:nvSpPr>
        <p:spPr bwMode="auto">
          <a:xfrm>
            <a:off x="1215308" y="3137852"/>
            <a:ext cx="2169077" cy="358673"/>
          </a:xfrm>
          <a:custGeom>
            <a:avLst/>
            <a:gdLst/>
            <a:ahLst/>
            <a:cxnLst>
              <a:cxn ang="0">
                <a:pos x="0" y="29"/>
              </a:cxn>
              <a:cxn ang="0">
                <a:pos x="418" y="153"/>
              </a:cxn>
              <a:cxn ang="0">
                <a:pos x="824" y="0"/>
              </a:cxn>
            </a:cxnLst>
            <a:rect l="0" t="0" r="r" b="b"/>
            <a:pathLst>
              <a:path w="825" h="154">
                <a:moveTo>
                  <a:pt x="0" y="29"/>
                </a:moveTo>
                <a:lnTo>
                  <a:pt x="418" y="153"/>
                </a:lnTo>
                <a:lnTo>
                  <a:pt x="824" y="0"/>
                </a:lnTo>
              </a:path>
            </a:pathLst>
          </a:custGeom>
          <a:noFill/>
          <a:ln w="25400" cap="rnd" cmpd="sng">
            <a:solidFill>
              <a:srgbClr val="00AE00"/>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45" name="Freeform 77"/>
          <p:cNvSpPr>
            <a:spLocks/>
          </p:cNvSpPr>
          <p:nvPr/>
        </p:nvSpPr>
        <p:spPr bwMode="auto">
          <a:xfrm>
            <a:off x="1215308" y="3512829"/>
            <a:ext cx="1748408" cy="510061"/>
          </a:xfrm>
          <a:custGeom>
            <a:avLst/>
            <a:gdLst/>
            <a:ahLst/>
            <a:cxnLst>
              <a:cxn ang="0">
                <a:pos x="0" y="0"/>
              </a:cxn>
              <a:cxn ang="0">
                <a:pos x="396" y="219"/>
              </a:cxn>
              <a:cxn ang="0">
                <a:pos x="664" y="68"/>
              </a:cxn>
            </a:cxnLst>
            <a:rect l="0" t="0" r="r" b="b"/>
            <a:pathLst>
              <a:path w="665" h="220">
                <a:moveTo>
                  <a:pt x="0" y="0"/>
                </a:moveTo>
                <a:lnTo>
                  <a:pt x="396" y="219"/>
                </a:lnTo>
                <a:lnTo>
                  <a:pt x="664" y="68"/>
                </a:lnTo>
              </a:path>
            </a:pathLst>
          </a:custGeom>
          <a:noFill/>
          <a:ln w="25400" cap="rnd" cmpd="sng">
            <a:solidFill>
              <a:srgbClr val="00AE00"/>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grpSp>
        <p:nvGrpSpPr>
          <p:cNvPr id="79" name="Group 20"/>
          <p:cNvGrpSpPr>
            <a:grpSpLocks/>
          </p:cNvGrpSpPr>
          <p:nvPr/>
        </p:nvGrpSpPr>
        <p:grpSpPr bwMode="auto">
          <a:xfrm>
            <a:off x="381233" y="3044690"/>
            <a:ext cx="912062" cy="280553"/>
            <a:chOff x="1313" y="2496"/>
            <a:chExt cx="1252" cy="427"/>
          </a:xfrm>
        </p:grpSpPr>
        <p:sp>
          <p:nvSpPr>
            <p:cNvPr id="8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84" name="Group 20"/>
          <p:cNvGrpSpPr>
            <a:grpSpLocks/>
          </p:cNvGrpSpPr>
          <p:nvPr/>
        </p:nvGrpSpPr>
        <p:grpSpPr bwMode="auto">
          <a:xfrm>
            <a:off x="381233" y="3372552"/>
            <a:ext cx="912062" cy="280553"/>
            <a:chOff x="1313" y="2496"/>
            <a:chExt cx="1252" cy="427"/>
          </a:xfrm>
        </p:grpSpPr>
        <p:sp>
          <p:nvSpPr>
            <p:cNvPr id="85"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6"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7"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8"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89" name="Group 20"/>
          <p:cNvGrpSpPr>
            <a:grpSpLocks/>
          </p:cNvGrpSpPr>
          <p:nvPr/>
        </p:nvGrpSpPr>
        <p:grpSpPr bwMode="auto">
          <a:xfrm>
            <a:off x="381233" y="3822058"/>
            <a:ext cx="912062" cy="280553"/>
            <a:chOff x="1313" y="2496"/>
            <a:chExt cx="1252" cy="427"/>
          </a:xfrm>
        </p:grpSpPr>
        <p:sp>
          <p:nvSpPr>
            <p:cNvPr id="9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94" name="Group 20"/>
          <p:cNvGrpSpPr>
            <a:grpSpLocks/>
          </p:cNvGrpSpPr>
          <p:nvPr/>
        </p:nvGrpSpPr>
        <p:grpSpPr bwMode="auto">
          <a:xfrm>
            <a:off x="8227567" y="2063095"/>
            <a:ext cx="912062" cy="280553"/>
            <a:chOff x="1313" y="2496"/>
            <a:chExt cx="1252" cy="427"/>
          </a:xfrm>
        </p:grpSpPr>
        <p:sp>
          <p:nvSpPr>
            <p:cNvPr id="95"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6"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7"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8"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99" name="Group 20"/>
          <p:cNvGrpSpPr>
            <a:grpSpLocks/>
          </p:cNvGrpSpPr>
          <p:nvPr/>
        </p:nvGrpSpPr>
        <p:grpSpPr bwMode="auto">
          <a:xfrm>
            <a:off x="8227567" y="2842064"/>
            <a:ext cx="912062" cy="280553"/>
            <a:chOff x="1313" y="2496"/>
            <a:chExt cx="1252" cy="427"/>
          </a:xfrm>
        </p:grpSpPr>
        <p:sp>
          <p:nvSpPr>
            <p:cNvPr id="10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104" name="Group 20"/>
          <p:cNvGrpSpPr>
            <a:grpSpLocks/>
          </p:cNvGrpSpPr>
          <p:nvPr/>
        </p:nvGrpSpPr>
        <p:grpSpPr bwMode="auto">
          <a:xfrm>
            <a:off x="8227567" y="4266905"/>
            <a:ext cx="912062" cy="280553"/>
            <a:chOff x="1313" y="2496"/>
            <a:chExt cx="1252" cy="427"/>
          </a:xfrm>
        </p:grpSpPr>
        <p:sp>
          <p:nvSpPr>
            <p:cNvPr id="105"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6"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7"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8"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09" name="AutoShape 14"/>
          <p:cNvSpPr>
            <a:spLocks noChangeArrowheads="1"/>
          </p:cNvSpPr>
          <p:nvPr/>
        </p:nvSpPr>
        <p:spPr bwMode="auto">
          <a:xfrm>
            <a:off x="6300243" y="2331840"/>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0" name="AutoShape 14"/>
          <p:cNvSpPr>
            <a:spLocks noChangeArrowheads="1"/>
          </p:cNvSpPr>
          <p:nvPr/>
        </p:nvSpPr>
        <p:spPr bwMode="auto">
          <a:xfrm>
            <a:off x="6236073" y="4451434"/>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1" name="AutoShape 14"/>
          <p:cNvSpPr>
            <a:spLocks noChangeArrowheads="1"/>
          </p:cNvSpPr>
          <p:nvPr/>
        </p:nvSpPr>
        <p:spPr bwMode="auto">
          <a:xfrm>
            <a:off x="3384385" y="332524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 name="Rectangle 55"/>
          <p:cNvSpPr>
            <a:spLocks noChangeArrowheads="1"/>
          </p:cNvSpPr>
          <p:nvPr/>
        </p:nvSpPr>
        <p:spPr bwMode="auto">
          <a:xfrm>
            <a:off x="4544227" y="5513479"/>
            <a:ext cx="2333972" cy="347531"/>
          </a:xfrm>
          <a:prstGeom prst="rect">
            <a:avLst/>
          </a:prstGeom>
          <a:noFill/>
          <a:ln w="12700">
            <a:noFill/>
            <a:miter lim="800000"/>
            <a:headEnd/>
            <a:tailEnd/>
          </a:ln>
          <a:effectLst/>
        </p:spPr>
        <p:txBody>
          <a:bodyPr wrap="none" lIns="69850" tIns="34925" rIns="69850" bIns="34925">
            <a:spAutoFit/>
          </a:bodyPr>
          <a:lstStyle/>
          <a:p>
            <a:pPr defTabSz="514350">
              <a:defRPr/>
            </a:pPr>
            <a:r>
              <a:rPr lang="en-US" sz="1800" dirty="0">
                <a:latin typeface="Arial" pitchFamily="34" charset="0"/>
                <a:cs typeface="Arial" pitchFamily="34" charset="0"/>
              </a:rPr>
              <a:t>Diffracting Balancer</a:t>
            </a:r>
          </a:p>
        </p:txBody>
      </p:sp>
      <p:sp>
        <p:nvSpPr>
          <p:cNvPr id="113" name="Rectangle 55"/>
          <p:cNvSpPr>
            <a:spLocks noChangeArrowheads="1"/>
          </p:cNvSpPr>
          <p:nvPr/>
        </p:nvSpPr>
        <p:spPr bwMode="auto">
          <a:xfrm>
            <a:off x="4767336" y="3428480"/>
            <a:ext cx="2333972" cy="347531"/>
          </a:xfrm>
          <a:prstGeom prst="rect">
            <a:avLst/>
          </a:prstGeom>
          <a:noFill/>
          <a:ln w="12700">
            <a:noFill/>
            <a:miter lim="800000"/>
            <a:headEnd/>
            <a:tailEnd/>
          </a:ln>
          <a:effectLst/>
        </p:spPr>
        <p:txBody>
          <a:bodyPr wrap="none" lIns="69850" tIns="34925" rIns="69850" bIns="34925">
            <a:spAutoFit/>
          </a:bodyPr>
          <a:lstStyle/>
          <a:p>
            <a:pPr defTabSz="514350">
              <a:defRPr/>
            </a:pPr>
            <a:r>
              <a:rPr lang="en-US" sz="1800" dirty="0">
                <a:latin typeface="Arial" pitchFamily="34" charset="0"/>
                <a:cs typeface="Arial" pitchFamily="34" charset="0"/>
              </a:rPr>
              <a:t>Diffracting Balancer</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930275" y="266700"/>
            <a:ext cx="7162800" cy="1143000"/>
          </a:xfrm>
          <a:prstGeom prst="rect">
            <a:avLst/>
          </a:prstGeom>
          <a:noFill/>
          <a:ln w="12700">
            <a:noFill/>
            <a:miter lim="800000"/>
            <a:headEnd/>
            <a:tailEnd/>
          </a:ln>
          <a:effectLst/>
        </p:spPr>
        <p:txBody>
          <a:bodyPr lIns="57150" tIns="46038" rIns="57150" bIns="46038" anchor="ctr"/>
          <a:lstStyle/>
          <a:p>
            <a:pPr algn="ctr">
              <a:defRPr/>
            </a:pPr>
            <a:r>
              <a:rPr lang="en-US" sz="4000" b="0" dirty="0">
                <a:solidFill>
                  <a:schemeClr val="tx2"/>
                </a:solidFill>
                <a:latin typeface="Arial" pitchFamily="34" charset="0"/>
                <a:cs typeface="Arial" pitchFamily="34" charset="0"/>
              </a:rPr>
              <a:t>Diffracting Tree</a:t>
            </a:r>
          </a:p>
        </p:txBody>
      </p:sp>
      <p:grpSp>
        <p:nvGrpSpPr>
          <p:cNvPr id="89" name="Group 88"/>
          <p:cNvGrpSpPr/>
          <p:nvPr/>
        </p:nvGrpSpPr>
        <p:grpSpPr>
          <a:xfrm>
            <a:off x="1197463" y="1615710"/>
            <a:ext cx="6749075" cy="3125003"/>
            <a:chOff x="381233" y="1805638"/>
            <a:chExt cx="8758396" cy="4055372"/>
          </a:xfrm>
        </p:grpSpPr>
        <p:sp>
          <p:nvSpPr>
            <p:cNvPr id="32778" name="Freeform 10"/>
            <p:cNvSpPr>
              <a:spLocks/>
            </p:cNvSpPr>
            <p:nvPr/>
          </p:nvSpPr>
          <p:spPr bwMode="auto">
            <a:xfrm>
              <a:off x="3794538" y="2455442"/>
              <a:ext cx="972798" cy="875721"/>
            </a:xfrm>
            <a:custGeom>
              <a:avLst/>
              <a:gdLst/>
              <a:ahLst/>
              <a:cxnLst>
                <a:cxn ang="0">
                  <a:pos x="0" y="375"/>
                </a:cxn>
                <a:cxn ang="0">
                  <a:pos x="148" y="375"/>
                </a:cxn>
                <a:cxn ang="0">
                  <a:pos x="148" y="0"/>
                </a:cxn>
                <a:cxn ang="0">
                  <a:pos x="369" y="0"/>
                </a:cxn>
              </a:cxnLst>
              <a:rect l="0" t="0" r="r" b="b"/>
              <a:pathLst>
                <a:path w="370" h="376">
                  <a:moveTo>
                    <a:pt x="0" y="375"/>
                  </a:moveTo>
                  <a:lnTo>
                    <a:pt x="148" y="375"/>
                  </a:lnTo>
                  <a:lnTo>
                    <a:pt x="148" y="0"/>
                  </a:lnTo>
                  <a:lnTo>
                    <a:pt x="369" y="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779" name="Freeform 11"/>
            <p:cNvSpPr>
              <a:spLocks/>
            </p:cNvSpPr>
            <p:nvPr/>
          </p:nvSpPr>
          <p:spPr bwMode="auto">
            <a:xfrm>
              <a:off x="3818201" y="4050838"/>
              <a:ext cx="972798" cy="875721"/>
            </a:xfrm>
            <a:custGeom>
              <a:avLst/>
              <a:gdLst/>
              <a:ahLst/>
              <a:cxnLst>
                <a:cxn ang="0">
                  <a:pos x="0" y="0"/>
                </a:cxn>
                <a:cxn ang="0">
                  <a:pos x="148" y="0"/>
                </a:cxn>
                <a:cxn ang="0">
                  <a:pos x="148" y="375"/>
                </a:cxn>
                <a:cxn ang="0">
                  <a:pos x="369" y="375"/>
                </a:cxn>
              </a:cxnLst>
              <a:rect l="0" t="0" r="r" b="b"/>
              <a:pathLst>
                <a:path w="370" h="376">
                  <a:moveTo>
                    <a:pt x="0" y="0"/>
                  </a:moveTo>
                  <a:lnTo>
                    <a:pt x="148" y="0"/>
                  </a:lnTo>
                  <a:lnTo>
                    <a:pt x="148" y="375"/>
                  </a:lnTo>
                  <a:lnTo>
                    <a:pt x="369" y="375"/>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780" name="Rectangle 12"/>
            <p:cNvSpPr>
              <a:spLocks noChangeArrowheads="1"/>
            </p:cNvSpPr>
            <p:nvPr/>
          </p:nvSpPr>
          <p:spPr bwMode="auto">
            <a:xfrm>
              <a:off x="4775224" y="3934386"/>
              <a:ext cx="2013955" cy="1579093"/>
            </a:xfrm>
            <a:prstGeom prst="rect">
              <a:avLst/>
            </a:prstGeom>
            <a:solidFill>
              <a:srgbClr val="C0FEF9"/>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781" name="Rectangle 13"/>
            <p:cNvSpPr>
              <a:spLocks noChangeArrowheads="1"/>
            </p:cNvSpPr>
            <p:nvPr/>
          </p:nvSpPr>
          <p:spPr bwMode="auto">
            <a:xfrm>
              <a:off x="4775224" y="1805638"/>
              <a:ext cx="2061280" cy="1579093"/>
            </a:xfrm>
            <a:prstGeom prst="rect">
              <a:avLst/>
            </a:prstGeom>
            <a:solidFill>
              <a:srgbClr val="C0FEF9"/>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782" name="Rectangle 14"/>
            <p:cNvSpPr>
              <a:spLocks noChangeArrowheads="1"/>
            </p:cNvSpPr>
            <p:nvPr/>
          </p:nvSpPr>
          <p:spPr bwMode="auto">
            <a:xfrm>
              <a:off x="1848942" y="2797811"/>
              <a:ext cx="2061280" cy="1579093"/>
            </a:xfrm>
            <a:prstGeom prst="rect">
              <a:avLst/>
            </a:prstGeom>
            <a:solidFill>
              <a:srgbClr val="C0FEF9"/>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784" name="Rectangle 16"/>
            <p:cNvSpPr>
              <a:spLocks noChangeArrowheads="1"/>
            </p:cNvSpPr>
            <p:nvPr/>
          </p:nvSpPr>
          <p:spPr bwMode="auto">
            <a:xfrm>
              <a:off x="2153927" y="3226356"/>
              <a:ext cx="257660" cy="1003819"/>
            </a:xfrm>
            <a:prstGeom prst="rect">
              <a:avLst/>
            </a:prstGeom>
            <a:solidFill>
              <a:srgbClr val="FAFD00"/>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785" name="Line 17"/>
            <p:cNvSpPr>
              <a:spLocks noChangeShapeType="1"/>
            </p:cNvSpPr>
            <p:nvPr/>
          </p:nvSpPr>
          <p:spPr bwMode="auto">
            <a:xfrm>
              <a:off x="2153927" y="3382402"/>
              <a:ext cx="236627"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86" name="Line 18"/>
            <p:cNvSpPr>
              <a:spLocks noChangeShapeType="1"/>
            </p:cNvSpPr>
            <p:nvPr/>
          </p:nvSpPr>
          <p:spPr bwMode="auto">
            <a:xfrm>
              <a:off x="2153927" y="3557080"/>
              <a:ext cx="236627"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87" name="Line 19"/>
            <p:cNvSpPr>
              <a:spLocks noChangeShapeType="1"/>
            </p:cNvSpPr>
            <p:nvPr/>
          </p:nvSpPr>
          <p:spPr bwMode="auto">
            <a:xfrm>
              <a:off x="2167073" y="3720114"/>
              <a:ext cx="228739" cy="2329"/>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88" name="Line 20"/>
            <p:cNvSpPr>
              <a:spLocks noChangeShapeType="1"/>
            </p:cNvSpPr>
            <p:nvPr/>
          </p:nvSpPr>
          <p:spPr bwMode="auto">
            <a:xfrm>
              <a:off x="2164444" y="3908766"/>
              <a:ext cx="236627" cy="2329"/>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89" name="Line 21"/>
            <p:cNvSpPr>
              <a:spLocks noChangeShapeType="1"/>
            </p:cNvSpPr>
            <p:nvPr/>
          </p:nvSpPr>
          <p:spPr bwMode="auto">
            <a:xfrm>
              <a:off x="2153927" y="4081116"/>
              <a:ext cx="236627"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790" name="Rectangle 22"/>
            <p:cNvSpPr>
              <a:spLocks noChangeArrowheads="1"/>
            </p:cNvSpPr>
            <p:nvPr/>
          </p:nvSpPr>
          <p:spPr bwMode="auto">
            <a:xfrm>
              <a:off x="2424733" y="3179775"/>
              <a:ext cx="255031"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1</a:t>
              </a:r>
            </a:p>
          </p:txBody>
        </p:sp>
        <p:sp>
          <p:nvSpPr>
            <p:cNvPr id="32791" name="Rectangle 23"/>
            <p:cNvSpPr>
              <a:spLocks noChangeArrowheads="1"/>
            </p:cNvSpPr>
            <p:nvPr/>
          </p:nvSpPr>
          <p:spPr bwMode="auto">
            <a:xfrm>
              <a:off x="2424733" y="3349795"/>
              <a:ext cx="255031"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2</a:t>
              </a:r>
            </a:p>
          </p:txBody>
        </p:sp>
        <p:sp>
          <p:nvSpPr>
            <p:cNvPr id="32792" name="Rectangle 24"/>
            <p:cNvSpPr>
              <a:spLocks noChangeArrowheads="1"/>
            </p:cNvSpPr>
            <p:nvPr/>
          </p:nvSpPr>
          <p:spPr bwMode="auto">
            <a:xfrm>
              <a:off x="2416845" y="4039193"/>
              <a:ext cx="255031"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k</a:t>
              </a:r>
            </a:p>
          </p:txBody>
        </p:sp>
        <p:sp>
          <p:nvSpPr>
            <p:cNvPr id="32793" name="Rectangle 25"/>
            <p:cNvSpPr>
              <a:spLocks noChangeArrowheads="1"/>
            </p:cNvSpPr>
            <p:nvPr/>
          </p:nvSpPr>
          <p:spPr bwMode="auto">
            <a:xfrm>
              <a:off x="2448396" y="3459261"/>
              <a:ext cx="199818"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794" name="Rectangle 26"/>
            <p:cNvSpPr>
              <a:spLocks noChangeArrowheads="1"/>
            </p:cNvSpPr>
            <p:nvPr/>
          </p:nvSpPr>
          <p:spPr bwMode="auto">
            <a:xfrm>
              <a:off x="2448396" y="3526803"/>
              <a:ext cx="199818"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795" name="Rectangle 27"/>
            <p:cNvSpPr>
              <a:spLocks noChangeArrowheads="1"/>
            </p:cNvSpPr>
            <p:nvPr/>
          </p:nvSpPr>
          <p:spPr bwMode="auto">
            <a:xfrm>
              <a:off x="2453654" y="3699152"/>
              <a:ext cx="210335"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796" name="Rectangle 28"/>
            <p:cNvSpPr>
              <a:spLocks noChangeArrowheads="1"/>
            </p:cNvSpPr>
            <p:nvPr/>
          </p:nvSpPr>
          <p:spPr bwMode="auto">
            <a:xfrm>
              <a:off x="2453654" y="3873831"/>
              <a:ext cx="210335" cy="316750"/>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797" name="Rectangle 29"/>
            <p:cNvSpPr>
              <a:spLocks noChangeArrowheads="1"/>
            </p:cNvSpPr>
            <p:nvPr/>
          </p:nvSpPr>
          <p:spPr bwMode="auto">
            <a:xfrm>
              <a:off x="1888379" y="2921251"/>
              <a:ext cx="770351" cy="347028"/>
            </a:xfrm>
            <a:prstGeom prst="rect">
              <a:avLst/>
            </a:prstGeom>
            <a:noFill/>
            <a:ln w="25400">
              <a:noFill/>
              <a:miter lim="800000"/>
              <a:headEnd/>
              <a:tailEnd/>
            </a:ln>
            <a:effectLst/>
          </p:spPr>
          <p:txBody>
            <a:bodyPr wrap="none" lIns="69850" tIns="34925" rIns="69850" bIns="34925">
              <a:spAutoFit/>
            </a:bodyPr>
            <a:lstStyle/>
            <a:p>
              <a:pPr defTabSz="514350">
                <a:defRPr/>
              </a:pPr>
              <a:r>
                <a:rPr lang="en-US" sz="1800">
                  <a:latin typeface="Arial" pitchFamily="34" charset="0"/>
                  <a:cs typeface="Arial" pitchFamily="34" charset="0"/>
                </a:rPr>
                <a:t>prism</a:t>
              </a:r>
            </a:p>
          </p:txBody>
        </p:sp>
        <p:grpSp>
          <p:nvGrpSpPr>
            <p:cNvPr id="2" name="Group 42"/>
            <p:cNvGrpSpPr>
              <a:grpSpLocks/>
            </p:cNvGrpSpPr>
            <p:nvPr/>
          </p:nvGrpSpPr>
          <p:grpSpPr bwMode="auto">
            <a:xfrm>
              <a:off x="5140680" y="2299396"/>
              <a:ext cx="849227" cy="889696"/>
              <a:chOff x="2213" y="1547"/>
              <a:chExt cx="323" cy="382"/>
            </a:xfrm>
          </p:grpSpPr>
          <p:sp>
            <p:nvSpPr>
              <p:cNvPr id="32801" name="Rectangle 33"/>
              <p:cNvSpPr>
                <a:spLocks noChangeArrowheads="1"/>
              </p:cNvSpPr>
              <p:nvPr/>
            </p:nvSpPr>
            <p:spPr bwMode="auto">
              <a:xfrm>
                <a:off x="2213" y="1566"/>
                <a:ext cx="99" cy="288"/>
              </a:xfrm>
              <a:prstGeom prst="rect">
                <a:avLst/>
              </a:prstGeom>
              <a:solidFill>
                <a:srgbClr val="FAFD00"/>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802" name="Line 34"/>
              <p:cNvSpPr>
                <a:spLocks noChangeShapeType="1"/>
              </p:cNvSpPr>
              <p:nvPr/>
            </p:nvSpPr>
            <p:spPr bwMode="auto">
              <a:xfrm>
                <a:off x="2213" y="1633"/>
                <a:ext cx="91"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03" name="Line 35"/>
              <p:cNvSpPr>
                <a:spLocks noChangeShapeType="1"/>
              </p:cNvSpPr>
              <p:nvPr/>
            </p:nvSpPr>
            <p:spPr bwMode="auto">
              <a:xfrm>
                <a:off x="2213" y="1705"/>
                <a:ext cx="91"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04" name="Line 36"/>
              <p:cNvSpPr>
                <a:spLocks noChangeShapeType="1"/>
              </p:cNvSpPr>
              <p:nvPr/>
            </p:nvSpPr>
            <p:spPr bwMode="auto">
              <a:xfrm>
                <a:off x="2219" y="1779"/>
                <a:ext cx="87" cy="1"/>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05" name="Rectangle 37"/>
              <p:cNvSpPr>
                <a:spLocks noChangeArrowheads="1"/>
              </p:cNvSpPr>
              <p:nvPr/>
            </p:nvSpPr>
            <p:spPr bwMode="auto">
              <a:xfrm>
                <a:off x="2317" y="1547"/>
                <a:ext cx="97"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1</a:t>
                </a:r>
              </a:p>
            </p:txBody>
          </p:sp>
          <p:sp>
            <p:nvSpPr>
              <p:cNvPr id="32806" name="Rectangle 38"/>
              <p:cNvSpPr>
                <a:spLocks noChangeArrowheads="1"/>
              </p:cNvSpPr>
              <p:nvPr/>
            </p:nvSpPr>
            <p:spPr bwMode="auto">
              <a:xfrm>
                <a:off x="2317" y="1618"/>
                <a:ext cx="97"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2</a:t>
                </a:r>
              </a:p>
            </p:txBody>
          </p:sp>
          <p:sp>
            <p:nvSpPr>
              <p:cNvPr id="32807" name="Rectangle 39"/>
              <p:cNvSpPr>
                <a:spLocks noChangeArrowheads="1"/>
              </p:cNvSpPr>
              <p:nvPr/>
            </p:nvSpPr>
            <p:spPr bwMode="auto">
              <a:xfrm>
                <a:off x="2330" y="1793"/>
                <a:ext cx="20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k / 2</a:t>
                </a:r>
              </a:p>
            </p:txBody>
          </p:sp>
          <p:sp>
            <p:nvSpPr>
              <p:cNvPr id="32808" name="Rectangle 40"/>
              <p:cNvSpPr>
                <a:spLocks noChangeArrowheads="1"/>
              </p:cNvSpPr>
              <p:nvPr/>
            </p:nvSpPr>
            <p:spPr bwMode="auto">
              <a:xfrm>
                <a:off x="2326" y="1666"/>
                <a:ext cx="7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809" name="Rectangle 41"/>
              <p:cNvSpPr>
                <a:spLocks noChangeArrowheads="1"/>
              </p:cNvSpPr>
              <p:nvPr/>
            </p:nvSpPr>
            <p:spPr bwMode="auto">
              <a:xfrm>
                <a:off x="2326" y="1696"/>
                <a:ext cx="7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grpSp>
        <p:sp>
          <p:nvSpPr>
            <p:cNvPr id="32811" name="Rectangle 43"/>
            <p:cNvSpPr>
              <a:spLocks noChangeArrowheads="1"/>
            </p:cNvSpPr>
            <p:nvPr/>
          </p:nvSpPr>
          <p:spPr bwMode="auto">
            <a:xfrm>
              <a:off x="4940862" y="1835915"/>
              <a:ext cx="770351" cy="347028"/>
            </a:xfrm>
            <a:prstGeom prst="rect">
              <a:avLst/>
            </a:prstGeom>
            <a:noFill/>
            <a:ln w="25400">
              <a:noFill/>
              <a:miter lim="800000"/>
              <a:headEnd/>
              <a:tailEnd/>
            </a:ln>
            <a:effectLst/>
          </p:spPr>
          <p:txBody>
            <a:bodyPr wrap="none" lIns="69850" tIns="34925" rIns="69850" bIns="34925">
              <a:spAutoFit/>
            </a:bodyPr>
            <a:lstStyle/>
            <a:p>
              <a:pPr defTabSz="514350">
                <a:defRPr/>
              </a:pPr>
              <a:r>
                <a:rPr lang="en-US" sz="1800">
                  <a:latin typeface="Arial" pitchFamily="34" charset="0"/>
                  <a:cs typeface="Arial" pitchFamily="34" charset="0"/>
                </a:rPr>
                <a:t>prism</a:t>
              </a:r>
            </a:p>
          </p:txBody>
        </p:sp>
        <p:sp>
          <p:nvSpPr>
            <p:cNvPr id="32815" name="Rectangle 47"/>
            <p:cNvSpPr>
              <a:spLocks noChangeArrowheads="1"/>
            </p:cNvSpPr>
            <p:nvPr/>
          </p:nvSpPr>
          <p:spPr bwMode="auto">
            <a:xfrm>
              <a:off x="4935604" y="3962335"/>
              <a:ext cx="770351" cy="347028"/>
            </a:xfrm>
            <a:prstGeom prst="rect">
              <a:avLst/>
            </a:prstGeom>
            <a:noFill/>
            <a:ln w="25400">
              <a:noFill/>
              <a:miter lim="800000"/>
              <a:headEnd/>
              <a:tailEnd/>
            </a:ln>
            <a:effectLst/>
          </p:spPr>
          <p:txBody>
            <a:bodyPr wrap="none" lIns="69850" tIns="34925" rIns="69850" bIns="34925">
              <a:spAutoFit/>
            </a:bodyPr>
            <a:lstStyle/>
            <a:p>
              <a:pPr defTabSz="514350">
                <a:defRPr/>
              </a:pPr>
              <a:r>
                <a:rPr lang="en-US" sz="1800">
                  <a:latin typeface="Arial" pitchFamily="34" charset="0"/>
                  <a:cs typeface="Arial" pitchFamily="34" charset="0"/>
                </a:rPr>
                <a:t>prism</a:t>
              </a:r>
            </a:p>
          </p:txBody>
        </p:sp>
        <p:sp>
          <p:nvSpPr>
            <p:cNvPr id="32816" name="Freeform 48"/>
            <p:cNvSpPr>
              <a:spLocks/>
            </p:cNvSpPr>
            <p:nvPr/>
          </p:nvSpPr>
          <p:spPr bwMode="auto">
            <a:xfrm>
              <a:off x="6870684" y="2257473"/>
              <a:ext cx="1477602" cy="2329"/>
            </a:xfrm>
            <a:custGeom>
              <a:avLst/>
              <a:gdLst/>
              <a:ahLst/>
              <a:cxnLst>
                <a:cxn ang="0">
                  <a:pos x="0" y="0"/>
                </a:cxn>
                <a:cxn ang="0">
                  <a:pos x="561" y="0"/>
                </a:cxn>
              </a:cxnLst>
              <a:rect l="0" t="0" r="r" b="b"/>
              <a:pathLst>
                <a:path w="562" h="1">
                  <a:moveTo>
                    <a:pt x="0" y="0"/>
                  </a:moveTo>
                  <a:lnTo>
                    <a:pt x="561" y="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17" name="Freeform 49"/>
            <p:cNvSpPr>
              <a:spLocks/>
            </p:cNvSpPr>
            <p:nvPr/>
          </p:nvSpPr>
          <p:spPr bwMode="auto">
            <a:xfrm>
              <a:off x="6823358" y="5029038"/>
              <a:ext cx="1480231" cy="2329"/>
            </a:xfrm>
            <a:custGeom>
              <a:avLst/>
              <a:gdLst/>
              <a:ahLst/>
              <a:cxnLst>
                <a:cxn ang="0">
                  <a:pos x="0" y="0"/>
                </a:cxn>
                <a:cxn ang="0">
                  <a:pos x="562" y="0"/>
                </a:cxn>
              </a:cxnLst>
              <a:rect l="0" t="0" r="r" b="b"/>
              <a:pathLst>
                <a:path w="563" h="1">
                  <a:moveTo>
                    <a:pt x="0" y="0"/>
                  </a:moveTo>
                  <a:lnTo>
                    <a:pt x="562" y="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18" name="Freeform 50"/>
            <p:cNvSpPr>
              <a:spLocks/>
            </p:cNvSpPr>
            <p:nvPr/>
          </p:nvSpPr>
          <p:spPr bwMode="auto">
            <a:xfrm>
              <a:off x="6823358" y="2944541"/>
              <a:ext cx="1503893" cy="1462641"/>
            </a:xfrm>
            <a:custGeom>
              <a:avLst/>
              <a:gdLst/>
              <a:ahLst/>
              <a:cxnLst>
                <a:cxn ang="0">
                  <a:pos x="0" y="630"/>
                </a:cxn>
                <a:cxn ang="0">
                  <a:pos x="166" y="630"/>
                </a:cxn>
                <a:cxn ang="0">
                  <a:pos x="332" y="0"/>
                </a:cxn>
                <a:cxn ang="0">
                  <a:pos x="571" y="0"/>
                </a:cxn>
              </a:cxnLst>
              <a:rect l="0" t="0" r="r" b="b"/>
              <a:pathLst>
                <a:path w="572" h="631">
                  <a:moveTo>
                    <a:pt x="0" y="630"/>
                  </a:moveTo>
                  <a:lnTo>
                    <a:pt x="166" y="630"/>
                  </a:lnTo>
                  <a:lnTo>
                    <a:pt x="332" y="0"/>
                  </a:lnTo>
                  <a:lnTo>
                    <a:pt x="571" y="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19" name="Freeform 51"/>
            <p:cNvSpPr>
              <a:spLocks/>
            </p:cNvSpPr>
            <p:nvPr/>
          </p:nvSpPr>
          <p:spPr bwMode="auto">
            <a:xfrm>
              <a:off x="6870684" y="2923580"/>
              <a:ext cx="1501264" cy="1467299"/>
            </a:xfrm>
            <a:custGeom>
              <a:avLst/>
              <a:gdLst/>
              <a:ahLst/>
              <a:cxnLst>
                <a:cxn ang="0">
                  <a:pos x="0" y="0"/>
                </a:cxn>
                <a:cxn ang="0">
                  <a:pos x="166" y="0"/>
                </a:cxn>
                <a:cxn ang="0">
                  <a:pos x="332" y="630"/>
                </a:cxn>
                <a:cxn ang="0">
                  <a:pos x="571" y="630"/>
                </a:cxn>
              </a:cxnLst>
              <a:rect l="0" t="0" r="r" b="b"/>
              <a:pathLst>
                <a:path w="572" h="631">
                  <a:moveTo>
                    <a:pt x="0" y="0"/>
                  </a:moveTo>
                  <a:lnTo>
                    <a:pt x="166" y="0"/>
                  </a:lnTo>
                  <a:lnTo>
                    <a:pt x="332" y="630"/>
                  </a:lnTo>
                  <a:lnTo>
                    <a:pt x="571" y="630"/>
                  </a:lnTo>
                </a:path>
              </a:pathLst>
            </a:custGeom>
            <a:noFill/>
            <a:ln w="12700" cap="rnd" cmpd="sng">
              <a:solidFill>
                <a:schemeClr val="tx2"/>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20" name="Line 52"/>
            <p:cNvSpPr>
              <a:spLocks noChangeShapeType="1"/>
            </p:cNvSpPr>
            <p:nvPr/>
          </p:nvSpPr>
          <p:spPr bwMode="auto">
            <a:xfrm flipH="1">
              <a:off x="1144320" y="3710798"/>
              <a:ext cx="578421" cy="0"/>
            </a:xfrm>
            <a:prstGeom prst="line">
              <a:avLst/>
            </a:prstGeom>
            <a:noFill/>
            <a:ln w="12700">
              <a:solidFill>
                <a:schemeClr val="tx2"/>
              </a:solidFill>
              <a:round/>
              <a:headEnd type="triangle" w="med" len="med"/>
              <a:tailEnd/>
            </a:ln>
            <a:effectLst/>
          </p:spPr>
          <p:txBody>
            <a:bodyPr wrap="none" anchor="ctr"/>
            <a:lstStyle/>
            <a:p>
              <a:pPr>
                <a:defRPr/>
              </a:pPr>
              <a:endParaRPr lang="en-US" sz="3600">
                <a:latin typeface="Arial" pitchFamily="34" charset="0"/>
                <a:cs typeface="Arial" pitchFamily="34" charset="0"/>
              </a:endParaRPr>
            </a:p>
          </p:txBody>
        </p:sp>
        <p:sp>
          <p:nvSpPr>
            <p:cNvPr id="32823" name="Rectangle 55"/>
            <p:cNvSpPr>
              <a:spLocks noChangeArrowheads="1"/>
            </p:cNvSpPr>
            <p:nvPr/>
          </p:nvSpPr>
          <p:spPr bwMode="auto">
            <a:xfrm>
              <a:off x="1722741" y="4390879"/>
              <a:ext cx="2333972" cy="347531"/>
            </a:xfrm>
            <a:prstGeom prst="rect">
              <a:avLst/>
            </a:prstGeom>
            <a:noFill/>
            <a:ln w="12700">
              <a:noFill/>
              <a:miter lim="800000"/>
              <a:headEnd/>
              <a:tailEnd/>
            </a:ln>
            <a:effectLst/>
          </p:spPr>
          <p:txBody>
            <a:bodyPr wrap="none" lIns="69850" tIns="34925" rIns="69850" bIns="34925">
              <a:spAutoFit/>
            </a:bodyPr>
            <a:lstStyle/>
            <a:p>
              <a:pPr defTabSz="514350">
                <a:defRPr/>
              </a:pPr>
              <a:r>
                <a:rPr lang="en-US" sz="1800" dirty="0">
                  <a:latin typeface="Arial" pitchFamily="34" charset="0"/>
                  <a:cs typeface="Arial" pitchFamily="34" charset="0"/>
                </a:rPr>
                <a:t>Diffracting Balancer</a:t>
              </a:r>
            </a:p>
          </p:txBody>
        </p:sp>
        <p:grpSp>
          <p:nvGrpSpPr>
            <p:cNvPr id="3" name="Group 74"/>
            <p:cNvGrpSpPr>
              <a:grpSpLocks/>
            </p:cNvGrpSpPr>
            <p:nvPr/>
          </p:nvGrpSpPr>
          <p:grpSpPr bwMode="auto">
            <a:xfrm>
              <a:off x="5161714" y="4404853"/>
              <a:ext cx="849227" cy="894354"/>
              <a:chOff x="2221" y="2451"/>
              <a:chExt cx="323" cy="384"/>
            </a:xfrm>
          </p:grpSpPr>
          <p:sp>
            <p:nvSpPr>
              <p:cNvPr id="32833" name="Rectangle 65"/>
              <p:cNvSpPr>
                <a:spLocks noChangeArrowheads="1"/>
              </p:cNvSpPr>
              <p:nvPr/>
            </p:nvSpPr>
            <p:spPr bwMode="auto">
              <a:xfrm>
                <a:off x="2221" y="2471"/>
                <a:ext cx="99" cy="287"/>
              </a:xfrm>
              <a:prstGeom prst="rect">
                <a:avLst/>
              </a:prstGeom>
              <a:solidFill>
                <a:srgbClr val="FAFD00"/>
              </a:solidFill>
              <a:ln w="12700">
                <a:solidFill>
                  <a:schemeClr val="tx2"/>
                </a:solidFill>
                <a:miter lim="800000"/>
                <a:headEnd/>
                <a:tailEnd/>
              </a:ln>
              <a:effectLst/>
            </p:spPr>
            <p:txBody>
              <a:bodyPr wrap="none" anchor="ctr"/>
              <a:lstStyle/>
              <a:p>
                <a:pPr>
                  <a:defRPr/>
                </a:pPr>
                <a:endParaRPr lang="en-US" sz="3600">
                  <a:latin typeface="Arial" pitchFamily="34" charset="0"/>
                  <a:cs typeface="Arial" pitchFamily="34" charset="0"/>
                </a:endParaRPr>
              </a:p>
            </p:txBody>
          </p:sp>
          <p:sp>
            <p:nvSpPr>
              <p:cNvPr id="32834" name="Line 66"/>
              <p:cNvSpPr>
                <a:spLocks noChangeShapeType="1"/>
              </p:cNvSpPr>
              <p:nvPr/>
            </p:nvSpPr>
            <p:spPr bwMode="auto">
              <a:xfrm>
                <a:off x="2221" y="2537"/>
                <a:ext cx="91"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35" name="Line 67"/>
              <p:cNvSpPr>
                <a:spLocks noChangeShapeType="1"/>
              </p:cNvSpPr>
              <p:nvPr/>
            </p:nvSpPr>
            <p:spPr bwMode="auto">
              <a:xfrm>
                <a:off x="2221" y="2611"/>
                <a:ext cx="91" cy="0"/>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36" name="Line 68"/>
              <p:cNvSpPr>
                <a:spLocks noChangeShapeType="1"/>
              </p:cNvSpPr>
              <p:nvPr/>
            </p:nvSpPr>
            <p:spPr bwMode="auto">
              <a:xfrm>
                <a:off x="2227" y="2683"/>
                <a:ext cx="87" cy="1"/>
              </a:xfrm>
              <a:prstGeom prst="line">
                <a:avLst/>
              </a:prstGeom>
              <a:noFill/>
              <a:ln w="12700">
                <a:solidFill>
                  <a:schemeClr val="tx2"/>
                </a:solidFill>
                <a:round/>
                <a:headEnd/>
                <a:tailEnd/>
              </a:ln>
              <a:effectLst/>
            </p:spPr>
            <p:txBody>
              <a:bodyPr wrap="none" anchor="ctr"/>
              <a:lstStyle/>
              <a:p>
                <a:pPr>
                  <a:defRPr/>
                </a:pPr>
                <a:endParaRPr lang="en-US" sz="3600">
                  <a:latin typeface="Arial" pitchFamily="34" charset="0"/>
                  <a:cs typeface="Arial" pitchFamily="34" charset="0"/>
                </a:endParaRPr>
              </a:p>
            </p:txBody>
          </p:sp>
          <p:sp>
            <p:nvSpPr>
              <p:cNvPr id="32837" name="Rectangle 69"/>
              <p:cNvSpPr>
                <a:spLocks noChangeArrowheads="1"/>
              </p:cNvSpPr>
              <p:nvPr/>
            </p:nvSpPr>
            <p:spPr bwMode="auto">
              <a:xfrm>
                <a:off x="2325" y="2451"/>
                <a:ext cx="97"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1</a:t>
                </a:r>
              </a:p>
            </p:txBody>
          </p:sp>
          <p:sp>
            <p:nvSpPr>
              <p:cNvPr id="32838" name="Rectangle 70"/>
              <p:cNvSpPr>
                <a:spLocks noChangeArrowheads="1"/>
              </p:cNvSpPr>
              <p:nvPr/>
            </p:nvSpPr>
            <p:spPr bwMode="auto">
              <a:xfrm>
                <a:off x="2325" y="2523"/>
                <a:ext cx="97"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2</a:t>
                </a:r>
              </a:p>
            </p:txBody>
          </p:sp>
          <p:sp>
            <p:nvSpPr>
              <p:cNvPr id="32839" name="Rectangle 71"/>
              <p:cNvSpPr>
                <a:spLocks noChangeArrowheads="1"/>
              </p:cNvSpPr>
              <p:nvPr/>
            </p:nvSpPr>
            <p:spPr bwMode="auto">
              <a:xfrm>
                <a:off x="2338" y="2699"/>
                <a:ext cx="20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k / 2</a:t>
                </a:r>
              </a:p>
            </p:txBody>
          </p:sp>
          <p:sp>
            <p:nvSpPr>
              <p:cNvPr id="32840" name="Rectangle 72"/>
              <p:cNvSpPr>
                <a:spLocks noChangeArrowheads="1"/>
              </p:cNvSpPr>
              <p:nvPr/>
            </p:nvSpPr>
            <p:spPr bwMode="auto">
              <a:xfrm>
                <a:off x="2334" y="2570"/>
                <a:ext cx="7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sp>
            <p:nvSpPr>
              <p:cNvPr id="32841" name="Rectangle 73"/>
              <p:cNvSpPr>
                <a:spLocks noChangeArrowheads="1"/>
              </p:cNvSpPr>
              <p:nvPr/>
            </p:nvSpPr>
            <p:spPr bwMode="auto">
              <a:xfrm>
                <a:off x="2334" y="2601"/>
                <a:ext cx="76" cy="136"/>
              </a:xfrm>
              <a:prstGeom prst="rect">
                <a:avLst/>
              </a:prstGeom>
              <a:noFill/>
              <a:ln w="25400">
                <a:noFill/>
                <a:miter lim="800000"/>
                <a:headEnd/>
                <a:tailEnd/>
              </a:ln>
              <a:effectLst/>
            </p:spPr>
            <p:txBody>
              <a:bodyPr wrap="none" lIns="69850" tIns="34925" rIns="69850" bIns="34925">
                <a:spAutoFit/>
              </a:bodyPr>
              <a:lstStyle/>
              <a:p>
                <a:pPr defTabSz="514350">
                  <a:defRPr/>
                </a:pPr>
                <a:r>
                  <a:rPr lang="en-US" sz="1600">
                    <a:solidFill>
                      <a:schemeClr val="tx2"/>
                    </a:solidFill>
                    <a:latin typeface="Arial" pitchFamily="34" charset="0"/>
                    <a:cs typeface="Arial" pitchFamily="34" charset="0"/>
                  </a:rPr>
                  <a:t>.</a:t>
                </a:r>
              </a:p>
            </p:txBody>
          </p:sp>
        </p:grpSp>
        <p:sp>
          <p:nvSpPr>
            <p:cNvPr id="32843" name="Freeform 75"/>
            <p:cNvSpPr>
              <a:spLocks/>
            </p:cNvSpPr>
            <p:nvPr/>
          </p:nvSpPr>
          <p:spPr bwMode="auto">
            <a:xfrm>
              <a:off x="1215308" y="3519816"/>
              <a:ext cx="2124381" cy="619526"/>
            </a:xfrm>
            <a:custGeom>
              <a:avLst/>
              <a:gdLst/>
              <a:ahLst/>
              <a:cxnLst>
                <a:cxn ang="0">
                  <a:pos x="0" y="168"/>
                </a:cxn>
                <a:cxn ang="0">
                  <a:pos x="428" y="0"/>
                </a:cxn>
                <a:cxn ang="0">
                  <a:pos x="808" y="265"/>
                </a:cxn>
              </a:cxnLst>
              <a:rect l="0" t="0" r="r" b="b"/>
              <a:pathLst>
                <a:path w="809" h="266">
                  <a:moveTo>
                    <a:pt x="0" y="168"/>
                  </a:moveTo>
                  <a:lnTo>
                    <a:pt x="428" y="0"/>
                  </a:lnTo>
                  <a:lnTo>
                    <a:pt x="808" y="265"/>
                  </a:lnTo>
                </a:path>
              </a:pathLst>
            </a:custGeom>
            <a:noFill/>
            <a:ln w="25400" cap="rnd" cmpd="sng">
              <a:solidFill>
                <a:srgbClr val="00AE00"/>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44" name="Freeform 76"/>
            <p:cNvSpPr>
              <a:spLocks/>
            </p:cNvSpPr>
            <p:nvPr/>
          </p:nvSpPr>
          <p:spPr bwMode="auto">
            <a:xfrm>
              <a:off x="1215308" y="3137852"/>
              <a:ext cx="2169077" cy="358673"/>
            </a:xfrm>
            <a:custGeom>
              <a:avLst/>
              <a:gdLst/>
              <a:ahLst/>
              <a:cxnLst>
                <a:cxn ang="0">
                  <a:pos x="0" y="29"/>
                </a:cxn>
                <a:cxn ang="0">
                  <a:pos x="418" y="153"/>
                </a:cxn>
                <a:cxn ang="0">
                  <a:pos x="824" y="0"/>
                </a:cxn>
              </a:cxnLst>
              <a:rect l="0" t="0" r="r" b="b"/>
              <a:pathLst>
                <a:path w="825" h="154">
                  <a:moveTo>
                    <a:pt x="0" y="29"/>
                  </a:moveTo>
                  <a:lnTo>
                    <a:pt x="418" y="153"/>
                  </a:lnTo>
                  <a:lnTo>
                    <a:pt x="824" y="0"/>
                  </a:lnTo>
                </a:path>
              </a:pathLst>
            </a:custGeom>
            <a:noFill/>
            <a:ln w="25400" cap="rnd" cmpd="sng">
              <a:solidFill>
                <a:srgbClr val="00AE00"/>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sp>
          <p:nvSpPr>
            <p:cNvPr id="32845" name="Freeform 77"/>
            <p:cNvSpPr>
              <a:spLocks/>
            </p:cNvSpPr>
            <p:nvPr/>
          </p:nvSpPr>
          <p:spPr bwMode="auto">
            <a:xfrm>
              <a:off x="1215308" y="3512829"/>
              <a:ext cx="1748408" cy="510061"/>
            </a:xfrm>
            <a:custGeom>
              <a:avLst/>
              <a:gdLst/>
              <a:ahLst/>
              <a:cxnLst>
                <a:cxn ang="0">
                  <a:pos x="0" y="0"/>
                </a:cxn>
                <a:cxn ang="0">
                  <a:pos x="396" y="219"/>
                </a:cxn>
                <a:cxn ang="0">
                  <a:pos x="664" y="68"/>
                </a:cxn>
              </a:cxnLst>
              <a:rect l="0" t="0" r="r" b="b"/>
              <a:pathLst>
                <a:path w="665" h="220">
                  <a:moveTo>
                    <a:pt x="0" y="0"/>
                  </a:moveTo>
                  <a:lnTo>
                    <a:pt x="396" y="219"/>
                  </a:lnTo>
                  <a:lnTo>
                    <a:pt x="664" y="68"/>
                  </a:lnTo>
                </a:path>
              </a:pathLst>
            </a:custGeom>
            <a:noFill/>
            <a:ln w="25400" cap="rnd" cmpd="sng">
              <a:solidFill>
                <a:srgbClr val="00AE00"/>
              </a:solidFill>
              <a:prstDash val="solid"/>
              <a:round/>
              <a:headEnd type="none" w="med" len="med"/>
              <a:tailEnd type="triangle" w="med" len="med"/>
            </a:ln>
            <a:effectLst/>
          </p:spPr>
          <p:txBody>
            <a:bodyPr/>
            <a:lstStyle/>
            <a:p>
              <a:pPr>
                <a:defRPr/>
              </a:pPr>
              <a:endParaRPr lang="en-US" sz="3600">
                <a:latin typeface="Arial" pitchFamily="34" charset="0"/>
                <a:cs typeface="Arial" pitchFamily="34" charset="0"/>
              </a:endParaRPr>
            </a:p>
          </p:txBody>
        </p:sp>
        <p:grpSp>
          <p:nvGrpSpPr>
            <p:cNvPr id="4" name="Group 20"/>
            <p:cNvGrpSpPr>
              <a:grpSpLocks/>
            </p:cNvGrpSpPr>
            <p:nvPr/>
          </p:nvGrpSpPr>
          <p:grpSpPr bwMode="auto">
            <a:xfrm>
              <a:off x="381233" y="3044690"/>
              <a:ext cx="912062" cy="280553"/>
              <a:chOff x="1313" y="2496"/>
              <a:chExt cx="1252" cy="427"/>
            </a:xfrm>
          </p:grpSpPr>
          <p:sp>
            <p:nvSpPr>
              <p:cNvPr id="8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 name="Group 20"/>
            <p:cNvGrpSpPr>
              <a:grpSpLocks/>
            </p:cNvGrpSpPr>
            <p:nvPr/>
          </p:nvGrpSpPr>
          <p:grpSpPr bwMode="auto">
            <a:xfrm>
              <a:off x="381233" y="3372552"/>
              <a:ext cx="912062" cy="280553"/>
              <a:chOff x="1313" y="2496"/>
              <a:chExt cx="1252" cy="427"/>
            </a:xfrm>
          </p:grpSpPr>
          <p:sp>
            <p:nvSpPr>
              <p:cNvPr id="85"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6"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7"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88"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 name="Group 20"/>
            <p:cNvGrpSpPr>
              <a:grpSpLocks/>
            </p:cNvGrpSpPr>
            <p:nvPr/>
          </p:nvGrpSpPr>
          <p:grpSpPr bwMode="auto">
            <a:xfrm>
              <a:off x="381233" y="3822058"/>
              <a:ext cx="912062" cy="280553"/>
              <a:chOff x="1313" y="2496"/>
              <a:chExt cx="1252" cy="427"/>
            </a:xfrm>
          </p:grpSpPr>
          <p:sp>
            <p:nvSpPr>
              <p:cNvPr id="9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7" name="Group 20"/>
            <p:cNvGrpSpPr>
              <a:grpSpLocks/>
            </p:cNvGrpSpPr>
            <p:nvPr/>
          </p:nvGrpSpPr>
          <p:grpSpPr bwMode="auto">
            <a:xfrm>
              <a:off x="8227567" y="2063095"/>
              <a:ext cx="912062" cy="280553"/>
              <a:chOff x="1313" y="2496"/>
              <a:chExt cx="1252" cy="427"/>
            </a:xfrm>
          </p:grpSpPr>
          <p:sp>
            <p:nvSpPr>
              <p:cNvPr id="95"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6"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7"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98"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8" name="Group 20"/>
            <p:cNvGrpSpPr>
              <a:grpSpLocks/>
            </p:cNvGrpSpPr>
            <p:nvPr/>
          </p:nvGrpSpPr>
          <p:grpSpPr bwMode="auto">
            <a:xfrm>
              <a:off x="8227567" y="2842064"/>
              <a:ext cx="912062" cy="280553"/>
              <a:chOff x="1313" y="2496"/>
              <a:chExt cx="1252" cy="427"/>
            </a:xfrm>
          </p:grpSpPr>
          <p:sp>
            <p:nvSpPr>
              <p:cNvPr id="100"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1"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2"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3"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9" name="Group 20"/>
            <p:cNvGrpSpPr>
              <a:grpSpLocks/>
            </p:cNvGrpSpPr>
            <p:nvPr/>
          </p:nvGrpSpPr>
          <p:grpSpPr bwMode="auto">
            <a:xfrm>
              <a:off x="8227567" y="4266905"/>
              <a:ext cx="912062" cy="280553"/>
              <a:chOff x="1313" y="2496"/>
              <a:chExt cx="1252" cy="427"/>
            </a:xfrm>
          </p:grpSpPr>
          <p:sp>
            <p:nvSpPr>
              <p:cNvPr id="105" name="Freeform 21"/>
              <p:cNvSpPr>
                <a:spLocks/>
              </p:cNvSpPr>
              <p:nvPr/>
            </p:nvSpPr>
            <p:spPr bwMode="auto">
              <a:xfrm>
                <a:off x="1945" y="2502"/>
                <a:ext cx="620" cy="421"/>
              </a:xfrm>
              <a:custGeom>
                <a:avLst/>
                <a:gdLst>
                  <a:gd name="T0" fmla="*/ 1381 w 348"/>
                  <a:gd name="T1" fmla="*/ 6590 h 228"/>
                  <a:gd name="T2" fmla="*/ 7002 w 348"/>
                  <a:gd name="T3" fmla="*/ 0 h 228"/>
                  <a:gd name="T4" fmla="*/ 19838 w 348"/>
                  <a:gd name="T5" fmla="*/ 16683 h 228"/>
                  <a:gd name="T6" fmla="*/ 12119 w 348"/>
                  <a:gd name="T7" fmla="*/ 9683 h 228"/>
                  <a:gd name="T8" fmla="*/ 15388 w 348"/>
                  <a:gd name="T9" fmla="*/ 14940 h 228"/>
                  <a:gd name="T10" fmla="*/ 8220 w 348"/>
                  <a:gd name="T11" fmla="*/ 9229 h 228"/>
                  <a:gd name="T12" fmla="*/ 12813 w 348"/>
                  <a:gd name="T13" fmla="*/ 14078 h 228"/>
                  <a:gd name="T14" fmla="*/ 0 w 348"/>
                  <a:gd name="T15" fmla="*/ 8141 h 228"/>
                  <a:gd name="T16" fmla="*/ 1381 w 348"/>
                  <a:gd name="T17" fmla="*/ 6590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6" name="Freeform 22"/>
              <p:cNvSpPr>
                <a:spLocks/>
              </p:cNvSpPr>
              <p:nvPr/>
            </p:nvSpPr>
            <p:spPr bwMode="auto">
              <a:xfrm>
                <a:off x="1313" y="2496"/>
                <a:ext cx="620" cy="427"/>
              </a:xfrm>
              <a:custGeom>
                <a:avLst/>
                <a:gdLst>
                  <a:gd name="T0" fmla="*/ 18290 w 348"/>
                  <a:gd name="T1" fmla="*/ 6438 h 231"/>
                  <a:gd name="T2" fmla="*/ 12813 w 348"/>
                  <a:gd name="T3" fmla="*/ 0 h 231"/>
                  <a:gd name="T4" fmla="*/ 0 w 348"/>
                  <a:gd name="T5" fmla="*/ 17023 h 231"/>
                  <a:gd name="T6" fmla="*/ 8545 w 348"/>
                  <a:gd name="T7" fmla="*/ 9974 h 231"/>
                  <a:gd name="T8" fmla="*/ 4450 w 348"/>
                  <a:gd name="T9" fmla="*/ 15283 h 231"/>
                  <a:gd name="T10" fmla="*/ 12119 w 348"/>
                  <a:gd name="T11" fmla="*/ 9738 h 231"/>
                  <a:gd name="T12" fmla="*/ 7859 w 348"/>
                  <a:gd name="T13" fmla="*/ 14603 h 231"/>
                  <a:gd name="T14" fmla="*/ 19838 w 348"/>
                  <a:gd name="T15" fmla="*/ 8420 h 231"/>
                  <a:gd name="T16" fmla="*/ 18290 w 348"/>
                  <a:gd name="T17" fmla="*/ 643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7" name="Oval 23"/>
              <p:cNvSpPr>
                <a:spLocks noChangeArrowheads="1"/>
              </p:cNvSpPr>
              <p:nvPr/>
            </p:nvSpPr>
            <p:spPr bwMode="auto">
              <a:xfrm>
                <a:off x="1722" y="2579"/>
                <a:ext cx="391" cy="344"/>
              </a:xfrm>
              <a:prstGeom prst="ellipse">
                <a:avLst/>
              </a:prstGeom>
              <a:solidFill>
                <a:srgbClr val="3399FF"/>
              </a:solidFill>
              <a:ln w="38100">
                <a:solidFill>
                  <a:schemeClr val="tx1"/>
                </a:solidFill>
                <a:round/>
                <a:headEnd/>
                <a:tailEnd/>
              </a:ln>
            </p:spPr>
            <p:txBody>
              <a:bodyPr wrap="none" anchor="ctr"/>
              <a:lstStyle/>
              <a:p>
                <a:endParaRPr lang="en-US" dirty="0">
                  <a:latin typeface="Courier New" pitchFamily="49" charset="0"/>
                </a:endParaRPr>
              </a:p>
            </p:txBody>
          </p:sp>
          <p:sp>
            <p:nvSpPr>
              <p:cNvPr id="108" name="Oval 24"/>
              <p:cNvSpPr>
                <a:spLocks noChangeArrowheads="1"/>
              </p:cNvSpPr>
              <p:nvPr/>
            </p:nvSpPr>
            <p:spPr bwMode="auto">
              <a:xfrm>
                <a:off x="1945" y="2640"/>
                <a:ext cx="102" cy="96"/>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09" name="AutoShape 14"/>
            <p:cNvSpPr>
              <a:spLocks noChangeArrowheads="1"/>
            </p:cNvSpPr>
            <p:nvPr/>
          </p:nvSpPr>
          <p:spPr bwMode="auto">
            <a:xfrm>
              <a:off x="6300243" y="2331840"/>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0" name="AutoShape 14"/>
            <p:cNvSpPr>
              <a:spLocks noChangeArrowheads="1"/>
            </p:cNvSpPr>
            <p:nvPr/>
          </p:nvSpPr>
          <p:spPr bwMode="auto">
            <a:xfrm>
              <a:off x="6236073" y="4451434"/>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1" name="AutoShape 14"/>
            <p:cNvSpPr>
              <a:spLocks noChangeArrowheads="1"/>
            </p:cNvSpPr>
            <p:nvPr/>
          </p:nvSpPr>
          <p:spPr bwMode="auto">
            <a:xfrm>
              <a:off x="3384385" y="3325243"/>
              <a:ext cx="304800" cy="604837"/>
            </a:xfrm>
            <a:prstGeom prst="roundRect">
              <a:avLst>
                <a:gd name="adj" fmla="val 16667"/>
              </a:avLst>
            </a:prstGeom>
            <a:solidFill>
              <a:srgbClr val="00FFFF"/>
            </a:solidFill>
            <a:ln w="38100">
              <a:solidFill>
                <a:schemeClr val="tx1"/>
              </a:solidFill>
              <a:round/>
              <a:headEnd/>
              <a:tailEnd/>
            </a:ln>
          </p:spPr>
          <p:txBody>
            <a:bodyPr wrap="none" anchor="ctr"/>
            <a:lstStyle/>
            <a:p>
              <a:endParaRPr lang="en-US">
                <a:latin typeface="Arial" pitchFamily="34" charset="0"/>
                <a:cs typeface="Arial" pitchFamily="34" charset="0"/>
              </a:endParaRPr>
            </a:p>
          </p:txBody>
        </p:sp>
        <p:sp>
          <p:nvSpPr>
            <p:cNvPr id="112" name="Rectangle 55"/>
            <p:cNvSpPr>
              <a:spLocks noChangeArrowheads="1"/>
            </p:cNvSpPr>
            <p:nvPr/>
          </p:nvSpPr>
          <p:spPr bwMode="auto">
            <a:xfrm>
              <a:off x="4544227" y="5513479"/>
              <a:ext cx="2333972" cy="347531"/>
            </a:xfrm>
            <a:prstGeom prst="rect">
              <a:avLst/>
            </a:prstGeom>
            <a:noFill/>
            <a:ln w="12700">
              <a:noFill/>
              <a:miter lim="800000"/>
              <a:headEnd/>
              <a:tailEnd/>
            </a:ln>
            <a:effectLst/>
          </p:spPr>
          <p:txBody>
            <a:bodyPr wrap="none" lIns="69850" tIns="34925" rIns="69850" bIns="34925">
              <a:spAutoFit/>
            </a:bodyPr>
            <a:lstStyle/>
            <a:p>
              <a:pPr defTabSz="514350">
                <a:defRPr/>
              </a:pPr>
              <a:r>
                <a:rPr lang="en-US" sz="1800" dirty="0">
                  <a:latin typeface="Arial" pitchFamily="34" charset="0"/>
                  <a:cs typeface="Arial" pitchFamily="34" charset="0"/>
                </a:rPr>
                <a:t>Diffracting Balancer</a:t>
              </a:r>
            </a:p>
          </p:txBody>
        </p:sp>
        <p:sp>
          <p:nvSpPr>
            <p:cNvPr id="113" name="Rectangle 55"/>
            <p:cNvSpPr>
              <a:spLocks noChangeArrowheads="1"/>
            </p:cNvSpPr>
            <p:nvPr/>
          </p:nvSpPr>
          <p:spPr bwMode="auto">
            <a:xfrm>
              <a:off x="4767336" y="3428480"/>
              <a:ext cx="2333972" cy="347531"/>
            </a:xfrm>
            <a:prstGeom prst="rect">
              <a:avLst/>
            </a:prstGeom>
            <a:noFill/>
            <a:ln w="12700">
              <a:noFill/>
              <a:miter lim="800000"/>
              <a:headEnd/>
              <a:tailEnd/>
            </a:ln>
            <a:effectLst/>
          </p:spPr>
          <p:txBody>
            <a:bodyPr wrap="none" lIns="69850" tIns="34925" rIns="69850" bIns="34925">
              <a:spAutoFit/>
            </a:bodyPr>
            <a:lstStyle/>
            <a:p>
              <a:pPr defTabSz="514350">
                <a:defRPr/>
              </a:pPr>
              <a:r>
                <a:rPr lang="en-US" sz="1800" dirty="0">
                  <a:latin typeface="Arial" pitchFamily="34" charset="0"/>
                  <a:cs typeface="Arial" pitchFamily="34" charset="0"/>
                </a:rPr>
                <a:t>Diffracting Balancer</a:t>
              </a:r>
            </a:p>
          </p:txBody>
        </p:sp>
      </p:grpSp>
      <p:sp>
        <p:nvSpPr>
          <p:cNvPr id="94" name="Rectangle 4"/>
          <p:cNvSpPr>
            <a:spLocks noChangeArrowheads="1"/>
          </p:cNvSpPr>
          <p:nvPr/>
        </p:nvSpPr>
        <p:spPr bwMode="auto">
          <a:xfrm>
            <a:off x="1030336" y="4764463"/>
            <a:ext cx="7012755" cy="459100"/>
          </a:xfrm>
          <a:prstGeom prst="rect">
            <a:avLst/>
          </a:prstGeom>
          <a:noFill/>
          <a:ln w="12700">
            <a:noFill/>
            <a:miter lim="800000"/>
            <a:headEnd/>
            <a:tailEnd/>
          </a:ln>
          <a:effectLst/>
        </p:spPr>
        <p:txBody>
          <a:bodyPr wrap="none" lIns="90488" tIns="44450" rIns="90488" bIns="44450">
            <a:spAutoFit/>
          </a:bodyPr>
          <a:lstStyle/>
          <a:p>
            <a:pPr>
              <a:defRPr/>
            </a:pPr>
            <a:r>
              <a:rPr lang="en-US" dirty="0">
                <a:latin typeface="Arial" pitchFamily="34" charset="0"/>
                <a:cs typeface="Arial" pitchFamily="34" charset="0"/>
              </a:rPr>
              <a:t>High load      Lots of Diffraction + Few Toggles </a:t>
            </a:r>
          </a:p>
        </p:txBody>
      </p:sp>
      <p:sp>
        <p:nvSpPr>
          <p:cNvPr id="99" name="Rectangle 5"/>
          <p:cNvSpPr>
            <a:spLocks noChangeArrowheads="1"/>
          </p:cNvSpPr>
          <p:nvPr/>
        </p:nvSpPr>
        <p:spPr bwMode="auto">
          <a:xfrm>
            <a:off x="1049386" y="5156575"/>
            <a:ext cx="6533456" cy="459100"/>
          </a:xfrm>
          <a:prstGeom prst="rect">
            <a:avLst/>
          </a:prstGeom>
          <a:noFill/>
          <a:ln w="12700">
            <a:noFill/>
            <a:miter lim="800000"/>
            <a:headEnd/>
            <a:tailEnd/>
          </a:ln>
          <a:effectLst/>
        </p:spPr>
        <p:txBody>
          <a:bodyPr wrap="none" lIns="90488" tIns="44450" rIns="90488" bIns="44450">
            <a:spAutoFit/>
          </a:bodyPr>
          <a:lstStyle/>
          <a:p>
            <a:pPr>
              <a:defRPr/>
            </a:pPr>
            <a:r>
              <a:rPr lang="en-US">
                <a:latin typeface="Arial" pitchFamily="34" charset="0"/>
                <a:cs typeface="Arial" pitchFamily="34" charset="0"/>
              </a:rPr>
              <a:t>Low load       Low Diffraction + Few Toggles</a:t>
            </a:r>
          </a:p>
        </p:txBody>
      </p:sp>
      <p:sp>
        <p:nvSpPr>
          <p:cNvPr id="104" name="AutoShape 6"/>
          <p:cNvSpPr>
            <a:spLocks noChangeArrowheads="1"/>
          </p:cNvSpPr>
          <p:nvPr/>
        </p:nvSpPr>
        <p:spPr bwMode="auto">
          <a:xfrm>
            <a:off x="2593531" y="4958138"/>
            <a:ext cx="309562" cy="125412"/>
          </a:xfrm>
          <a:prstGeom prst="rightArrow">
            <a:avLst>
              <a:gd name="adj1" fmla="val 50000"/>
              <a:gd name="adj2" fmla="val 94453"/>
            </a:avLst>
          </a:prstGeom>
          <a:solidFill>
            <a:schemeClr val="tx1"/>
          </a:solidFill>
          <a:ln w="12700">
            <a:solidFill>
              <a:schemeClr val="tx1"/>
            </a:solidFill>
            <a:miter lim="800000"/>
            <a:headEnd/>
            <a:tailEnd/>
          </a:ln>
          <a:effectLst/>
        </p:spPr>
        <p:txBody>
          <a:bodyPr wrap="none" anchor="ctr"/>
          <a:lstStyle/>
          <a:p>
            <a:pPr>
              <a:defRPr/>
            </a:pPr>
            <a:endParaRPr lang="en-US" sz="2800">
              <a:latin typeface="Arial" pitchFamily="34" charset="0"/>
              <a:cs typeface="Arial" pitchFamily="34" charset="0"/>
            </a:endParaRPr>
          </a:p>
        </p:txBody>
      </p:sp>
      <p:sp>
        <p:nvSpPr>
          <p:cNvPr id="114" name="AutoShape 7"/>
          <p:cNvSpPr>
            <a:spLocks noChangeArrowheads="1"/>
          </p:cNvSpPr>
          <p:nvPr/>
        </p:nvSpPr>
        <p:spPr bwMode="auto">
          <a:xfrm>
            <a:off x="2615756" y="5335963"/>
            <a:ext cx="309562" cy="125412"/>
          </a:xfrm>
          <a:prstGeom prst="rightArrow">
            <a:avLst>
              <a:gd name="adj1" fmla="val 50000"/>
              <a:gd name="adj2" fmla="val 94453"/>
            </a:avLst>
          </a:prstGeom>
          <a:solidFill>
            <a:schemeClr val="tx1"/>
          </a:solidFill>
          <a:ln w="12700">
            <a:solidFill>
              <a:schemeClr val="tx1"/>
            </a:solidFill>
            <a:miter lim="800000"/>
            <a:headEnd/>
            <a:tailEnd/>
          </a:ln>
          <a:effectLst/>
        </p:spPr>
        <p:txBody>
          <a:bodyPr wrap="none" anchor="ctr"/>
          <a:lstStyle/>
          <a:p>
            <a:pPr>
              <a:defRPr/>
            </a:pPr>
            <a:endParaRPr lang="en-US" sz="2800">
              <a:latin typeface="Arial" pitchFamily="34" charset="0"/>
              <a:cs typeface="Arial" pitchFamily="34" charset="0"/>
            </a:endParaRPr>
          </a:p>
        </p:txBody>
      </p:sp>
      <p:sp>
        <p:nvSpPr>
          <p:cNvPr id="115" name="AutoShape 8"/>
          <p:cNvSpPr>
            <a:spLocks noChangeArrowheads="1"/>
          </p:cNvSpPr>
          <p:nvPr/>
        </p:nvSpPr>
        <p:spPr bwMode="auto">
          <a:xfrm rot="16200000" flipH="1">
            <a:off x="5092117" y="5167394"/>
            <a:ext cx="252412" cy="1314450"/>
          </a:xfrm>
          <a:prstGeom prst="rightArrow">
            <a:avLst>
              <a:gd name="adj1" fmla="val 50000"/>
              <a:gd name="adj2" fmla="val 50005"/>
            </a:avLst>
          </a:prstGeom>
          <a:solidFill>
            <a:schemeClr val="tx1"/>
          </a:solidFill>
          <a:ln w="12700">
            <a:solidFill>
              <a:schemeClr val="tx1"/>
            </a:solidFill>
            <a:miter lim="800000"/>
            <a:headEnd/>
            <a:tailEnd/>
          </a:ln>
          <a:effectLst/>
        </p:spPr>
        <p:txBody>
          <a:bodyPr wrap="none" anchor="ctr"/>
          <a:lstStyle/>
          <a:p>
            <a:pPr>
              <a:defRPr/>
            </a:pPr>
            <a:endParaRPr lang="en-US" sz="2800">
              <a:latin typeface="Arial" pitchFamily="34" charset="0"/>
              <a:cs typeface="Arial" pitchFamily="34" charset="0"/>
            </a:endParaRPr>
          </a:p>
        </p:txBody>
      </p:sp>
      <p:sp>
        <p:nvSpPr>
          <p:cNvPr id="116" name="Rectangle 9"/>
          <p:cNvSpPr>
            <a:spLocks noChangeArrowheads="1"/>
          </p:cNvSpPr>
          <p:nvPr/>
        </p:nvSpPr>
        <p:spPr bwMode="auto">
          <a:xfrm>
            <a:off x="2303673" y="5968288"/>
            <a:ext cx="5595938" cy="458787"/>
          </a:xfrm>
          <a:prstGeom prst="rect">
            <a:avLst/>
          </a:prstGeom>
          <a:noFill/>
          <a:ln w="12700">
            <a:noFill/>
            <a:miter lim="800000"/>
            <a:headEnd/>
            <a:tailEnd/>
          </a:ln>
          <a:effectLst/>
        </p:spPr>
        <p:txBody>
          <a:bodyPr wrap="none" lIns="90488" tIns="44450" rIns="90488" bIns="44450">
            <a:spAutoFit/>
          </a:bodyPr>
          <a:lstStyle/>
          <a:p>
            <a:pPr>
              <a:defRPr/>
            </a:pPr>
            <a:r>
              <a:rPr lang="en-US" dirty="0">
                <a:solidFill>
                  <a:srgbClr val="C00000"/>
                </a:solidFill>
                <a:latin typeface="Arial" pitchFamily="34" charset="0"/>
                <a:cs typeface="Arial" pitchFamily="34" charset="0"/>
              </a:rPr>
              <a:t>High </a:t>
            </a:r>
            <a:r>
              <a:rPr lang="en-US" dirty="0" err="1">
                <a:solidFill>
                  <a:srgbClr val="C00000"/>
                </a:solidFill>
                <a:latin typeface="Arial" pitchFamily="34" charset="0"/>
                <a:cs typeface="Arial" pitchFamily="34" charset="0"/>
              </a:rPr>
              <a:t>Throuhput</a:t>
            </a:r>
            <a:r>
              <a:rPr lang="en-US" dirty="0">
                <a:solidFill>
                  <a:srgbClr val="C00000"/>
                </a:solidFill>
                <a:latin typeface="Arial" pitchFamily="34" charset="0"/>
                <a:cs typeface="Arial" pitchFamily="34" charset="0"/>
              </a:rPr>
              <a:t> with Low Contention</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889000" y="188913"/>
            <a:ext cx="7162800" cy="1143000"/>
          </a:xfrm>
          <a:noFill/>
        </p:spPr>
        <p:txBody>
          <a:bodyPr/>
          <a:lstStyle/>
          <a:p>
            <a:r>
              <a:rPr lang="en-US" sz="4000"/>
              <a:t>Performance</a:t>
            </a:r>
          </a:p>
        </p:txBody>
      </p:sp>
      <p:grpSp>
        <p:nvGrpSpPr>
          <p:cNvPr id="247811" name="Group 102"/>
          <p:cNvGrpSpPr>
            <a:grpSpLocks/>
          </p:cNvGrpSpPr>
          <p:nvPr/>
        </p:nvGrpSpPr>
        <p:grpSpPr bwMode="auto">
          <a:xfrm>
            <a:off x="522288" y="1830388"/>
            <a:ext cx="8104187" cy="4027487"/>
            <a:chOff x="136" y="1331"/>
            <a:chExt cx="4203" cy="2696"/>
          </a:xfrm>
        </p:grpSpPr>
        <p:sp>
          <p:nvSpPr>
            <p:cNvPr id="247812" name="Rectangle 3"/>
            <p:cNvSpPr>
              <a:spLocks noChangeArrowheads="1"/>
            </p:cNvSpPr>
            <p:nvPr/>
          </p:nvSpPr>
          <p:spPr bwMode="auto">
            <a:xfrm>
              <a:off x="2534" y="1582"/>
              <a:ext cx="1460" cy="2000"/>
            </a:xfrm>
            <a:prstGeom prst="rect">
              <a:avLst/>
            </a:prstGeom>
            <a:noFill/>
            <a:ln w="12700">
              <a:solidFill>
                <a:schemeClr val="tx2"/>
              </a:solidFill>
              <a:miter lim="800000"/>
              <a:headEnd/>
              <a:tailEnd/>
            </a:ln>
          </p:spPr>
          <p:txBody>
            <a:bodyPr wrap="none" anchor="ctr"/>
            <a:lstStyle/>
            <a:p>
              <a:endParaRPr lang="en-US" sz="2000" dirty="0">
                <a:latin typeface="Courier New" pitchFamily="49" charset="0"/>
              </a:endParaRPr>
            </a:p>
          </p:txBody>
        </p:sp>
        <p:sp>
          <p:nvSpPr>
            <p:cNvPr id="247813" name="Rectangle 4"/>
            <p:cNvSpPr>
              <a:spLocks noChangeArrowheads="1"/>
            </p:cNvSpPr>
            <p:nvPr/>
          </p:nvSpPr>
          <p:spPr bwMode="auto">
            <a:xfrm>
              <a:off x="542" y="1596"/>
              <a:ext cx="1460" cy="1992"/>
            </a:xfrm>
            <a:prstGeom prst="rect">
              <a:avLst/>
            </a:prstGeom>
            <a:noFill/>
            <a:ln w="12700">
              <a:solidFill>
                <a:schemeClr val="tx2"/>
              </a:solidFill>
              <a:miter lim="800000"/>
              <a:headEnd/>
              <a:tailEnd/>
            </a:ln>
          </p:spPr>
          <p:txBody>
            <a:bodyPr wrap="none" anchor="ctr"/>
            <a:lstStyle/>
            <a:p>
              <a:endParaRPr lang="en-US" sz="2000" dirty="0">
                <a:latin typeface="Courier New" pitchFamily="49" charset="0"/>
              </a:endParaRPr>
            </a:p>
          </p:txBody>
        </p:sp>
        <p:sp>
          <p:nvSpPr>
            <p:cNvPr id="247814" name="Rectangle 5"/>
            <p:cNvSpPr>
              <a:spLocks noChangeArrowheads="1"/>
            </p:cNvSpPr>
            <p:nvPr/>
          </p:nvSpPr>
          <p:spPr bwMode="auto">
            <a:xfrm>
              <a:off x="765" y="1331"/>
              <a:ext cx="735" cy="225"/>
            </a:xfrm>
            <a:prstGeom prst="rect">
              <a:avLst/>
            </a:prstGeom>
            <a:solidFill>
              <a:schemeClr val="bg1"/>
            </a:solidFill>
            <a:ln w="25400">
              <a:noFill/>
              <a:miter lim="800000"/>
              <a:headEnd/>
              <a:tailEnd/>
            </a:ln>
          </p:spPr>
          <p:txBody>
            <a:bodyPr wrap="none" lIns="90488" tIns="44450" rIns="90488" bIns="44450">
              <a:spAutoFit/>
            </a:bodyPr>
            <a:lstStyle/>
            <a:p>
              <a:r>
                <a:rPr lang="en-US" sz="1600" u="sng" dirty="0">
                  <a:solidFill>
                    <a:schemeClr val="tx2"/>
                  </a:solidFill>
                  <a:latin typeface="Courier New" pitchFamily="49" charset="0"/>
                </a:rPr>
                <a:t>Throughput</a:t>
              </a:r>
            </a:p>
          </p:txBody>
        </p:sp>
        <p:sp>
          <p:nvSpPr>
            <p:cNvPr id="247815" name="Rectangle 6"/>
            <p:cNvSpPr>
              <a:spLocks noChangeArrowheads="1"/>
            </p:cNvSpPr>
            <p:nvPr/>
          </p:nvSpPr>
          <p:spPr bwMode="auto">
            <a:xfrm>
              <a:off x="2997" y="1331"/>
              <a:ext cx="543" cy="225"/>
            </a:xfrm>
            <a:prstGeom prst="rect">
              <a:avLst/>
            </a:prstGeom>
            <a:solidFill>
              <a:schemeClr val="bg1"/>
            </a:solidFill>
            <a:ln w="25400">
              <a:noFill/>
              <a:miter lim="800000"/>
              <a:headEnd/>
              <a:tailEnd/>
            </a:ln>
          </p:spPr>
          <p:txBody>
            <a:bodyPr wrap="none" lIns="90488" tIns="44450" rIns="90488" bIns="44450">
              <a:spAutoFit/>
            </a:bodyPr>
            <a:lstStyle/>
            <a:p>
              <a:r>
                <a:rPr lang="en-US" sz="1600" u="sng" dirty="0">
                  <a:solidFill>
                    <a:schemeClr val="tx2"/>
                  </a:solidFill>
                  <a:latin typeface="Courier New" pitchFamily="49" charset="0"/>
                </a:rPr>
                <a:t>Latency</a:t>
              </a:r>
            </a:p>
          </p:txBody>
        </p:sp>
        <p:sp>
          <p:nvSpPr>
            <p:cNvPr id="247816" name="Rectangle 17"/>
            <p:cNvSpPr>
              <a:spLocks noChangeArrowheads="1"/>
            </p:cNvSpPr>
            <p:nvPr/>
          </p:nvSpPr>
          <p:spPr bwMode="auto">
            <a:xfrm>
              <a:off x="1829" y="2705"/>
              <a:ext cx="494" cy="266"/>
            </a:xfrm>
            <a:prstGeom prst="rect">
              <a:avLst/>
            </a:prstGeom>
            <a:noFill/>
            <a:ln w="25400">
              <a:noFill/>
              <a:miter lim="800000"/>
              <a:headEnd/>
              <a:tailEnd/>
            </a:ln>
          </p:spPr>
          <p:txBody>
            <a:bodyPr wrap="none" lIns="90488" tIns="44450" rIns="90488" bIns="44450">
              <a:spAutoFit/>
            </a:bodyPr>
            <a:lstStyle/>
            <a:p>
              <a:r>
                <a:rPr lang="en-US" sz="2000" dirty="0" err="1">
                  <a:solidFill>
                    <a:schemeClr val="accent1"/>
                  </a:solidFill>
                  <a:latin typeface="Courier New" pitchFamily="49" charset="0"/>
                </a:rPr>
                <a:t>Dtree</a:t>
              </a:r>
              <a:endParaRPr lang="en-US" sz="2000" dirty="0">
                <a:solidFill>
                  <a:schemeClr val="accent1"/>
                </a:solidFill>
                <a:latin typeface="Courier New" pitchFamily="49" charset="0"/>
              </a:endParaRPr>
            </a:p>
          </p:txBody>
        </p:sp>
        <p:sp>
          <p:nvSpPr>
            <p:cNvPr id="247817" name="Rectangle 18"/>
            <p:cNvSpPr>
              <a:spLocks noChangeArrowheads="1"/>
            </p:cNvSpPr>
            <p:nvPr/>
          </p:nvSpPr>
          <p:spPr bwMode="auto">
            <a:xfrm>
              <a:off x="1813" y="3221"/>
              <a:ext cx="494" cy="266"/>
            </a:xfrm>
            <a:prstGeom prst="rect">
              <a:avLst/>
            </a:prstGeom>
            <a:noFill/>
            <a:ln w="25400">
              <a:noFill/>
              <a:miter lim="800000"/>
              <a:headEnd/>
              <a:tailEnd/>
            </a:ln>
          </p:spPr>
          <p:txBody>
            <a:bodyPr wrap="none" lIns="90488" tIns="44450" rIns="90488" bIns="44450">
              <a:spAutoFit/>
            </a:bodyPr>
            <a:lstStyle/>
            <a:p>
              <a:r>
                <a:rPr lang="en-US" sz="2000" dirty="0" err="1">
                  <a:solidFill>
                    <a:schemeClr val="tx2"/>
                  </a:solidFill>
                  <a:latin typeface="Courier New" pitchFamily="49" charset="0"/>
                </a:rPr>
                <a:t>Ctree</a:t>
              </a:r>
              <a:endParaRPr lang="en-US" sz="2000" dirty="0">
                <a:solidFill>
                  <a:schemeClr val="tx2"/>
                </a:solidFill>
                <a:latin typeface="Courier New" pitchFamily="49" charset="0"/>
              </a:endParaRPr>
            </a:p>
          </p:txBody>
        </p:sp>
        <p:sp>
          <p:nvSpPr>
            <p:cNvPr id="247818" name="Rectangle 20"/>
            <p:cNvSpPr>
              <a:spLocks noChangeArrowheads="1"/>
            </p:cNvSpPr>
            <p:nvPr/>
          </p:nvSpPr>
          <p:spPr bwMode="auto">
            <a:xfrm>
              <a:off x="3845" y="2757"/>
              <a:ext cx="494" cy="266"/>
            </a:xfrm>
            <a:prstGeom prst="rect">
              <a:avLst/>
            </a:prstGeom>
            <a:noFill/>
            <a:ln w="25400">
              <a:noFill/>
              <a:miter lim="800000"/>
              <a:headEnd/>
              <a:tailEnd/>
            </a:ln>
          </p:spPr>
          <p:txBody>
            <a:bodyPr wrap="none" lIns="90488" tIns="44450" rIns="90488" bIns="44450">
              <a:spAutoFit/>
            </a:bodyPr>
            <a:lstStyle/>
            <a:p>
              <a:r>
                <a:rPr lang="en-US" sz="2000" dirty="0" err="1">
                  <a:solidFill>
                    <a:schemeClr val="accent1"/>
                  </a:solidFill>
                  <a:latin typeface="Courier New" pitchFamily="49" charset="0"/>
                </a:rPr>
                <a:t>Dtree</a:t>
              </a:r>
              <a:endParaRPr lang="en-US" sz="2000" dirty="0">
                <a:solidFill>
                  <a:schemeClr val="accent1"/>
                </a:solidFill>
                <a:latin typeface="Courier New" pitchFamily="49" charset="0"/>
              </a:endParaRPr>
            </a:p>
          </p:txBody>
        </p:sp>
        <p:sp>
          <p:nvSpPr>
            <p:cNvPr id="247819" name="Rectangle 21"/>
            <p:cNvSpPr>
              <a:spLocks noChangeArrowheads="1"/>
            </p:cNvSpPr>
            <p:nvPr/>
          </p:nvSpPr>
          <p:spPr bwMode="auto">
            <a:xfrm>
              <a:off x="3821" y="1537"/>
              <a:ext cx="494" cy="266"/>
            </a:xfrm>
            <a:prstGeom prst="rect">
              <a:avLst/>
            </a:prstGeom>
            <a:noFill/>
            <a:ln w="25400">
              <a:noFill/>
              <a:miter lim="800000"/>
              <a:headEnd/>
              <a:tailEnd/>
            </a:ln>
          </p:spPr>
          <p:txBody>
            <a:bodyPr wrap="none" lIns="90488" tIns="44450" rIns="90488" bIns="44450">
              <a:spAutoFit/>
            </a:bodyPr>
            <a:lstStyle/>
            <a:p>
              <a:r>
                <a:rPr lang="en-US" sz="2000" dirty="0" err="1">
                  <a:solidFill>
                    <a:schemeClr val="tx2"/>
                  </a:solidFill>
                  <a:latin typeface="Courier New" pitchFamily="49" charset="0"/>
                </a:rPr>
                <a:t>Ctree</a:t>
              </a:r>
              <a:endParaRPr lang="en-US" sz="2000" dirty="0">
                <a:solidFill>
                  <a:schemeClr val="tx2"/>
                </a:solidFill>
                <a:latin typeface="Courier New" pitchFamily="49" charset="0"/>
              </a:endParaRPr>
            </a:p>
          </p:txBody>
        </p:sp>
        <p:sp>
          <p:nvSpPr>
            <p:cNvPr id="247820" name="Rectangle 22"/>
            <p:cNvSpPr>
              <a:spLocks noChangeArrowheads="1"/>
            </p:cNvSpPr>
            <p:nvPr/>
          </p:nvSpPr>
          <p:spPr bwMode="auto">
            <a:xfrm>
              <a:off x="2537" y="1449"/>
              <a:ext cx="334" cy="266"/>
            </a:xfrm>
            <a:prstGeom prst="rect">
              <a:avLst/>
            </a:prstGeom>
            <a:noFill/>
            <a:ln w="25400">
              <a:noFill/>
              <a:miter lim="800000"/>
              <a:headEnd/>
              <a:tailEnd/>
            </a:ln>
          </p:spPr>
          <p:txBody>
            <a:bodyPr wrap="none" lIns="90488" tIns="44450" rIns="90488" bIns="44450">
              <a:spAutoFit/>
            </a:bodyPr>
            <a:lstStyle/>
            <a:p>
              <a:r>
                <a:rPr lang="en-US" sz="2000" dirty="0">
                  <a:solidFill>
                    <a:schemeClr val="tx2"/>
                  </a:solidFill>
                  <a:latin typeface="Courier New" pitchFamily="49" charset="0"/>
                </a:rPr>
                <a:t>MCS</a:t>
              </a:r>
            </a:p>
          </p:txBody>
        </p:sp>
        <p:sp>
          <p:nvSpPr>
            <p:cNvPr id="247821" name="Rectangle 23"/>
            <p:cNvSpPr>
              <a:spLocks noChangeArrowheads="1"/>
            </p:cNvSpPr>
            <p:nvPr/>
          </p:nvSpPr>
          <p:spPr bwMode="auto">
            <a:xfrm>
              <a:off x="881" y="3753"/>
              <a:ext cx="1132" cy="266"/>
            </a:xfrm>
            <a:prstGeom prst="rect">
              <a:avLst/>
            </a:prstGeom>
            <a:solidFill>
              <a:schemeClr val="bg1"/>
            </a:solidFill>
            <a:ln w="25400">
              <a:noFill/>
              <a:miter lim="800000"/>
              <a:headEnd/>
              <a:tailEnd/>
            </a:ln>
          </p:spPr>
          <p:txBody>
            <a:bodyPr wrap="none" lIns="90488" tIns="44450" rIns="90488" bIns="44450">
              <a:spAutoFit/>
            </a:bodyPr>
            <a:lstStyle/>
            <a:p>
              <a:r>
                <a:rPr lang="en-US" sz="2000" dirty="0">
                  <a:solidFill>
                    <a:schemeClr val="tx2"/>
                  </a:solidFill>
                  <a:latin typeface="Courier New" pitchFamily="49" charset="0"/>
                </a:rPr>
                <a:t>P=Concurrency</a:t>
              </a:r>
            </a:p>
          </p:txBody>
        </p:sp>
        <p:sp>
          <p:nvSpPr>
            <p:cNvPr id="247822" name="Rectangle 24"/>
            <p:cNvSpPr>
              <a:spLocks noChangeArrowheads="1"/>
            </p:cNvSpPr>
            <p:nvPr/>
          </p:nvSpPr>
          <p:spPr bwMode="auto">
            <a:xfrm>
              <a:off x="2937" y="3761"/>
              <a:ext cx="1132" cy="266"/>
            </a:xfrm>
            <a:prstGeom prst="rect">
              <a:avLst/>
            </a:prstGeom>
            <a:solidFill>
              <a:schemeClr val="bg1"/>
            </a:solidFill>
            <a:ln w="25400">
              <a:noFill/>
              <a:miter lim="800000"/>
              <a:headEnd/>
              <a:tailEnd/>
            </a:ln>
          </p:spPr>
          <p:txBody>
            <a:bodyPr wrap="none" lIns="90488" tIns="44450" rIns="90488" bIns="44450">
              <a:spAutoFit/>
            </a:bodyPr>
            <a:lstStyle/>
            <a:p>
              <a:r>
                <a:rPr lang="en-US" sz="2000" dirty="0">
                  <a:solidFill>
                    <a:schemeClr val="tx2"/>
                  </a:solidFill>
                  <a:latin typeface="Courier New" pitchFamily="49" charset="0"/>
                </a:rPr>
                <a:t>P=Concurrency</a:t>
              </a:r>
            </a:p>
          </p:txBody>
        </p:sp>
        <p:grpSp>
          <p:nvGrpSpPr>
            <p:cNvPr id="247823" name="Group 32"/>
            <p:cNvGrpSpPr>
              <a:grpSpLocks/>
            </p:cNvGrpSpPr>
            <p:nvPr/>
          </p:nvGrpSpPr>
          <p:grpSpPr bwMode="auto">
            <a:xfrm>
              <a:off x="2505" y="3605"/>
              <a:ext cx="1546" cy="153"/>
              <a:chOff x="2505" y="3605"/>
              <a:chExt cx="1546" cy="153"/>
            </a:xfrm>
          </p:grpSpPr>
          <p:sp>
            <p:nvSpPr>
              <p:cNvPr id="247890" name="Rectangle 25"/>
              <p:cNvSpPr>
                <a:spLocks noChangeArrowheads="1"/>
              </p:cNvSpPr>
              <p:nvPr/>
            </p:nvSpPr>
            <p:spPr bwMode="auto">
              <a:xfrm>
                <a:off x="2505" y="3605"/>
                <a:ext cx="166"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latin typeface="Courier New" pitchFamily="49" charset="0"/>
                  </a:rPr>
                  <a:t>0 </a:t>
                </a:r>
              </a:p>
            </p:txBody>
          </p:sp>
          <p:sp>
            <p:nvSpPr>
              <p:cNvPr id="247891" name="Rectangle 26"/>
              <p:cNvSpPr>
                <a:spLocks noChangeArrowheads="1"/>
              </p:cNvSpPr>
              <p:nvPr/>
            </p:nvSpPr>
            <p:spPr bwMode="auto">
              <a:xfrm>
                <a:off x="2689" y="3605"/>
                <a:ext cx="202"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latin typeface="Courier New" pitchFamily="49" charset="0"/>
                  </a:rPr>
                  <a:t>50 </a:t>
                </a:r>
              </a:p>
            </p:txBody>
          </p:sp>
          <p:sp>
            <p:nvSpPr>
              <p:cNvPr id="247892" name="Rectangle 27"/>
              <p:cNvSpPr>
                <a:spLocks noChangeArrowheads="1"/>
              </p:cNvSpPr>
              <p:nvPr/>
            </p:nvSpPr>
            <p:spPr bwMode="auto">
              <a:xfrm>
                <a:off x="2921" y="3605"/>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latin typeface="Courier New" pitchFamily="49" charset="0"/>
                  </a:rPr>
                  <a:t>100 </a:t>
                </a:r>
              </a:p>
            </p:txBody>
          </p:sp>
          <p:sp>
            <p:nvSpPr>
              <p:cNvPr id="247893" name="Rectangle 28"/>
              <p:cNvSpPr>
                <a:spLocks noChangeArrowheads="1"/>
              </p:cNvSpPr>
              <p:nvPr/>
            </p:nvSpPr>
            <p:spPr bwMode="auto">
              <a:xfrm>
                <a:off x="3145" y="3605"/>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latin typeface="Courier New" pitchFamily="49" charset="0"/>
                  </a:rPr>
                  <a:t>150 </a:t>
                </a:r>
              </a:p>
            </p:txBody>
          </p:sp>
          <p:sp>
            <p:nvSpPr>
              <p:cNvPr id="247894" name="Rectangle 29"/>
              <p:cNvSpPr>
                <a:spLocks noChangeArrowheads="1"/>
              </p:cNvSpPr>
              <p:nvPr/>
            </p:nvSpPr>
            <p:spPr bwMode="auto">
              <a:xfrm>
                <a:off x="3385" y="3605"/>
                <a:ext cx="274"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latin typeface="Courier New" pitchFamily="49" charset="0"/>
                  </a:rPr>
                  <a:t>200  </a:t>
                </a:r>
              </a:p>
            </p:txBody>
          </p:sp>
          <p:sp>
            <p:nvSpPr>
              <p:cNvPr id="247895" name="Rectangle 30"/>
              <p:cNvSpPr>
                <a:spLocks noChangeArrowheads="1"/>
              </p:cNvSpPr>
              <p:nvPr/>
            </p:nvSpPr>
            <p:spPr bwMode="auto">
              <a:xfrm>
                <a:off x="3617" y="3605"/>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latin typeface="Courier New" pitchFamily="49" charset="0"/>
                  </a:rPr>
                  <a:t>250 </a:t>
                </a:r>
              </a:p>
            </p:txBody>
          </p:sp>
          <p:sp>
            <p:nvSpPr>
              <p:cNvPr id="247896" name="Rectangle 31"/>
              <p:cNvSpPr>
                <a:spLocks noChangeArrowheads="1"/>
              </p:cNvSpPr>
              <p:nvPr/>
            </p:nvSpPr>
            <p:spPr bwMode="auto">
              <a:xfrm>
                <a:off x="3849" y="3605"/>
                <a:ext cx="202"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latin typeface="Courier New" pitchFamily="49" charset="0"/>
                  </a:rPr>
                  <a:t>300</a:t>
                </a:r>
              </a:p>
            </p:txBody>
          </p:sp>
        </p:grpSp>
        <p:sp>
          <p:nvSpPr>
            <p:cNvPr id="247824" name="Line 33"/>
            <p:cNvSpPr>
              <a:spLocks noChangeShapeType="1"/>
            </p:cNvSpPr>
            <p:nvPr/>
          </p:nvSpPr>
          <p:spPr bwMode="auto">
            <a:xfrm>
              <a:off x="2790" y="3530"/>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25" name="Line 34"/>
            <p:cNvSpPr>
              <a:spLocks noChangeShapeType="1"/>
            </p:cNvSpPr>
            <p:nvPr/>
          </p:nvSpPr>
          <p:spPr bwMode="auto">
            <a:xfrm>
              <a:off x="3034" y="3530"/>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26" name="Line 35"/>
            <p:cNvSpPr>
              <a:spLocks noChangeShapeType="1"/>
            </p:cNvSpPr>
            <p:nvPr/>
          </p:nvSpPr>
          <p:spPr bwMode="auto">
            <a:xfrm>
              <a:off x="3270" y="3530"/>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27" name="Line 36"/>
            <p:cNvSpPr>
              <a:spLocks noChangeShapeType="1"/>
            </p:cNvSpPr>
            <p:nvPr/>
          </p:nvSpPr>
          <p:spPr bwMode="auto">
            <a:xfrm>
              <a:off x="3522" y="3530"/>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28" name="Line 37"/>
            <p:cNvSpPr>
              <a:spLocks noChangeShapeType="1"/>
            </p:cNvSpPr>
            <p:nvPr/>
          </p:nvSpPr>
          <p:spPr bwMode="auto">
            <a:xfrm>
              <a:off x="3766" y="3530"/>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grpSp>
          <p:nvGrpSpPr>
            <p:cNvPr id="247829" name="Group 45"/>
            <p:cNvGrpSpPr>
              <a:grpSpLocks/>
            </p:cNvGrpSpPr>
            <p:nvPr/>
          </p:nvGrpSpPr>
          <p:grpSpPr bwMode="auto">
            <a:xfrm>
              <a:off x="529" y="3621"/>
              <a:ext cx="1546" cy="153"/>
              <a:chOff x="529" y="3621"/>
              <a:chExt cx="1546" cy="153"/>
            </a:xfrm>
          </p:grpSpPr>
          <p:sp>
            <p:nvSpPr>
              <p:cNvPr id="247883" name="Rectangle 38"/>
              <p:cNvSpPr>
                <a:spLocks noChangeArrowheads="1"/>
              </p:cNvSpPr>
              <p:nvPr/>
            </p:nvSpPr>
            <p:spPr bwMode="auto">
              <a:xfrm>
                <a:off x="529" y="3621"/>
                <a:ext cx="166"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0 </a:t>
                </a:r>
              </a:p>
            </p:txBody>
          </p:sp>
          <p:sp>
            <p:nvSpPr>
              <p:cNvPr id="247884" name="Rectangle 39"/>
              <p:cNvSpPr>
                <a:spLocks noChangeArrowheads="1"/>
              </p:cNvSpPr>
              <p:nvPr/>
            </p:nvSpPr>
            <p:spPr bwMode="auto">
              <a:xfrm>
                <a:off x="713" y="3621"/>
                <a:ext cx="202"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50 </a:t>
                </a:r>
              </a:p>
            </p:txBody>
          </p:sp>
          <p:sp>
            <p:nvSpPr>
              <p:cNvPr id="247885" name="Rectangle 40"/>
              <p:cNvSpPr>
                <a:spLocks noChangeArrowheads="1"/>
              </p:cNvSpPr>
              <p:nvPr/>
            </p:nvSpPr>
            <p:spPr bwMode="auto">
              <a:xfrm>
                <a:off x="945" y="3621"/>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100 </a:t>
                </a:r>
              </a:p>
            </p:txBody>
          </p:sp>
          <p:sp>
            <p:nvSpPr>
              <p:cNvPr id="247886" name="Rectangle 41"/>
              <p:cNvSpPr>
                <a:spLocks noChangeArrowheads="1"/>
              </p:cNvSpPr>
              <p:nvPr/>
            </p:nvSpPr>
            <p:spPr bwMode="auto">
              <a:xfrm>
                <a:off x="1169" y="3621"/>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150 </a:t>
                </a:r>
              </a:p>
            </p:txBody>
          </p:sp>
          <p:sp>
            <p:nvSpPr>
              <p:cNvPr id="247887" name="Rectangle 42"/>
              <p:cNvSpPr>
                <a:spLocks noChangeArrowheads="1"/>
              </p:cNvSpPr>
              <p:nvPr/>
            </p:nvSpPr>
            <p:spPr bwMode="auto">
              <a:xfrm>
                <a:off x="1409" y="3621"/>
                <a:ext cx="274"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200  </a:t>
                </a:r>
              </a:p>
            </p:txBody>
          </p:sp>
          <p:sp>
            <p:nvSpPr>
              <p:cNvPr id="247888" name="Rectangle 43"/>
              <p:cNvSpPr>
                <a:spLocks noChangeArrowheads="1"/>
              </p:cNvSpPr>
              <p:nvPr/>
            </p:nvSpPr>
            <p:spPr bwMode="auto">
              <a:xfrm>
                <a:off x="1641" y="3621"/>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250 </a:t>
                </a:r>
              </a:p>
            </p:txBody>
          </p:sp>
          <p:sp>
            <p:nvSpPr>
              <p:cNvPr id="247889" name="Rectangle 44"/>
              <p:cNvSpPr>
                <a:spLocks noChangeArrowheads="1"/>
              </p:cNvSpPr>
              <p:nvPr/>
            </p:nvSpPr>
            <p:spPr bwMode="auto">
              <a:xfrm>
                <a:off x="1873" y="3621"/>
                <a:ext cx="202"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300</a:t>
                </a:r>
              </a:p>
            </p:txBody>
          </p:sp>
        </p:grpSp>
        <p:sp>
          <p:nvSpPr>
            <p:cNvPr id="247830" name="Line 46"/>
            <p:cNvSpPr>
              <a:spLocks noChangeShapeType="1"/>
            </p:cNvSpPr>
            <p:nvPr/>
          </p:nvSpPr>
          <p:spPr bwMode="auto">
            <a:xfrm>
              <a:off x="818" y="3542"/>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31" name="Line 47"/>
            <p:cNvSpPr>
              <a:spLocks noChangeShapeType="1"/>
            </p:cNvSpPr>
            <p:nvPr/>
          </p:nvSpPr>
          <p:spPr bwMode="auto">
            <a:xfrm>
              <a:off x="1058" y="3542"/>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32" name="Line 48"/>
            <p:cNvSpPr>
              <a:spLocks noChangeShapeType="1"/>
            </p:cNvSpPr>
            <p:nvPr/>
          </p:nvSpPr>
          <p:spPr bwMode="auto">
            <a:xfrm>
              <a:off x="1298" y="3538"/>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33" name="Line 49"/>
            <p:cNvSpPr>
              <a:spLocks noChangeShapeType="1"/>
            </p:cNvSpPr>
            <p:nvPr/>
          </p:nvSpPr>
          <p:spPr bwMode="auto">
            <a:xfrm>
              <a:off x="1550" y="3538"/>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34" name="Line 50"/>
            <p:cNvSpPr>
              <a:spLocks noChangeShapeType="1"/>
            </p:cNvSpPr>
            <p:nvPr/>
          </p:nvSpPr>
          <p:spPr bwMode="auto">
            <a:xfrm>
              <a:off x="1790" y="3538"/>
              <a:ext cx="0" cy="44"/>
            </a:xfrm>
            <a:prstGeom prst="line">
              <a:avLst/>
            </a:prstGeom>
            <a:noFill/>
            <a:ln w="12700">
              <a:solidFill>
                <a:schemeClr val="tx2"/>
              </a:solidFill>
              <a:round/>
              <a:headEnd/>
              <a:tailEnd/>
            </a:ln>
          </p:spPr>
          <p:txBody>
            <a:bodyPr wrap="none" anchor="ctr"/>
            <a:lstStyle/>
            <a:p>
              <a:endParaRPr lang="en-US" dirty="0">
                <a:latin typeface="Courier New" pitchFamily="49" charset="0"/>
              </a:endParaRPr>
            </a:p>
          </p:txBody>
        </p:sp>
        <p:sp>
          <p:nvSpPr>
            <p:cNvPr id="247835" name="Rectangle 51"/>
            <p:cNvSpPr>
              <a:spLocks noChangeArrowheads="1"/>
            </p:cNvSpPr>
            <p:nvPr/>
          </p:nvSpPr>
          <p:spPr bwMode="auto">
            <a:xfrm>
              <a:off x="136" y="2025"/>
              <a:ext cx="309"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120000</a:t>
              </a:r>
            </a:p>
          </p:txBody>
        </p:sp>
        <p:sp>
          <p:nvSpPr>
            <p:cNvPr id="247836" name="Rectangle 52"/>
            <p:cNvSpPr>
              <a:spLocks noChangeArrowheads="1"/>
            </p:cNvSpPr>
            <p:nvPr/>
          </p:nvSpPr>
          <p:spPr bwMode="auto">
            <a:xfrm>
              <a:off x="136" y="1557"/>
              <a:ext cx="309"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160000</a:t>
              </a:r>
            </a:p>
          </p:txBody>
        </p:sp>
        <p:sp>
          <p:nvSpPr>
            <p:cNvPr id="247837" name="Rectangle 53"/>
            <p:cNvSpPr>
              <a:spLocks noChangeArrowheads="1"/>
            </p:cNvSpPr>
            <p:nvPr/>
          </p:nvSpPr>
          <p:spPr bwMode="auto">
            <a:xfrm>
              <a:off x="189" y="2829"/>
              <a:ext cx="274"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60000</a:t>
              </a:r>
            </a:p>
          </p:txBody>
        </p:sp>
        <p:sp>
          <p:nvSpPr>
            <p:cNvPr id="247838" name="Rectangle 54"/>
            <p:cNvSpPr>
              <a:spLocks noChangeArrowheads="1"/>
            </p:cNvSpPr>
            <p:nvPr/>
          </p:nvSpPr>
          <p:spPr bwMode="auto">
            <a:xfrm>
              <a:off x="189" y="3069"/>
              <a:ext cx="274"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40000</a:t>
              </a:r>
            </a:p>
          </p:txBody>
        </p:sp>
        <p:sp>
          <p:nvSpPr>
            <p:cNvPr id="247839" name="Rectangle 55"/>
            <p:cNvSpPr>
              <a:spLocks noChangeArrowheads="1"/>
            </p:cNvSpPr>
            <p:nvPr/>
          </p:nvSpPr>
          <p:spPr bwMode="auto">
            <a:xfrm>
              <a:off x="189" y="2541"/>
              <a:ext cx="274"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80000</a:t>
              </a:r>
            </a:p>
          </p:txBody>
        </p:sp>
        <p:sp>
          <p:nvSpPr>
            <p:cNvPr id="247840" name="Rectangle 56"/>
            <p:cNvSpPr>
              <a:spLocks noChangeArrowheads="1"/>
            </p:cNvSpPr>
            <p:nvPr/>
          </p:nvSpPr>
          <p:spPr bwMode="auto">
            <a:xfrm>
              <a:off x="351" y="3481"/>
              <a:ext cx="131" cy="153"/>
            </a:xfrm>
            <a:prstGeom prst="rect">
              <a:avLst/>
            </a:prstGeom>
            <a:noFill/>
            <a:ln w="127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0</a:t>
              </a:r>
            </a:p>
          </p:txBody>
        </p:sp>
        <p:sp>
          <p:nvSpPr>
            <p:cNvPr id="247841" name="Rectangle 57"/>
            <p:cNvSpPr>
              <a:spLocks noChangeArrowheads="1"/>
            </p:cNvSpPr>
            <p:nvPr/>
          </p:nvSpPr>
          <p:spPr bwMode="auto">
            <a:xfrm>
              <a:off x="148" y="2285"/>
              <a:ext cx="465" cy="153"/>
            </a:xfrm>
            <a:prstGeom prst="rect">
              <a:avLst/>
            </a:prstGeom>
            <a:noFill/>
            <a:ln w="25400">
              <a:noFill/>
              <a:miter lim="800000"/>
              <a:headEnd/>
              <a:tailEnd/>
            </a:ln>
          </p:spPr>
          <p:txBody>
            <a:bodyPr lIns="90488" tIns="44450" rIns="90488" bIns="44450">
              <a:spAutoFit/>
            </a:bodyPr>
            <a:lstStyle/>
            <a:p>
              <a:r>
                <a:rPr lang="en-US" sz="900" dirty="0">
                  <a:solidFill>
                    <a:schemeClr val="tx2"/>
                  </a:solidFill>
                  <a:latin typeface="Courier New" pitchFamily="49" charset="0"/>
                </a:rPr>
                <a:t>100000</a:t>
              </a:r>
            </a:p>
          </p:txBody>
        </p:sp>
        <p:sp>
          <p:nvSpPr>
            <p:cNvPr id="247842" name="Rectangle 58"/>
            <p:cNvSpPr>
              <a:spLocks noChangeArrowheads="1"/>
            </p:cNvSpPr>
            <p:nvPr/>
          </p:nvSpPr>
          <p:spPr bwMode="auto">
            <a:xfrm>
              <a:off x="189" y="3289"/>
              <a:ext cx="274"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20000</a:t>
              </a:r>
            </a:p>
          </p:txBody>
        </p:sp>
        <p:sp>
          <p:nvSpPr>
            <p:cNvPr id="247843" name="Freeform 59"/>
            <p:cNvSpPr>
              <a:spLocks/>
            </p:cNvSpPr>
            <p:nvPr/>
          </p:nvSpPr>
          <p:spPr bwMode="auto">
            <a:xfrm>
              <a:off x="630" y="3300"/>
              <a:ext cx="1193" cy="253"/>
            </a:xfrm>
            <a:custGeom>
              <a:avLst/>
              <a:gdLst>
                <a:gd name="T0" fmla="*/ 0 w 1193"/>
                <a:gd name="T1" fmla="*/ 252 h 253"/>
                <a:gd name="T2" fmla="*/ 80 w 1193"/>
                <a:gd name="T3" fmla="*/ 224 h 253"/>
                <a:gd name="T4" fmla="*/ 244 w 1193"/>
                <a:gd name="T5" fmla="*/ 188 h 253"/>
                <a:gd name="T6" fmla="*/ 560 w 1193"/>
                <a:gd name="T7" fmla="*/ 116 h 253"/>
                <a:gd name="T8" fmla="*/ 1192 w 1193"/>
                <a:gd name="T9" fmla="*/ 0 h 253"/>
                <a:gd name="T10" fmla="*/ 0 60000 65536"/>
                <a:gd name="T11" fmla="*/ 0 60000 65536"/>
                <a:gd name="T12" fmla="*/ 0 60000 65536"/>
                <a:gd name="T13" fmla="*/ 0 60000 65536"/>
                <a:gd name="T14" fmla="*/ 0 60000 65536"/>
                <a:gd name="T15" fmla="*/ 0 w 1193"/>
                <a:gd name="T16" fmla="*/ 0 h 253"/>
                <a:gd name="T17" fmla="*/ 1193 w 1193"/>
                <a:gd name="T18" fmla="*/ 253 h 253"/>
              </a:gdLst>
              <a:ahLst/>
              <a:cxnLst>
                <a:cxn ang="T10">
                  <a:pos x="T0" y="T1"/>
                </a:cxn>
                <a:cxn ang="T11">
                  <a:pos x="T2" y="T3"/>
                </a:cxn>
                <a:cxn ang="T12">
                  <a:pos x="T4" y="T5"/>
                </a:cxn>
                <a:cxn ang="T13">
                  <a:pos x="T6" y="T7"/>
                </a:cxn>
                <a:cxn ang="T14">
                  <a:pos x="T8" y="T9"/>
                </a:cxn>
              </a:cxnLst>
              <a:rect l="T15" t="T16" r="T17" b="T18"/>
              <a:pathLst>
                <a:path w="1193" h="253">
                  <a:moveTo>
                    <a:pt x="0" y="252"/>
                  </a:moveTo>
                  <a:lnTo>
                    <a:pt x="80" y="224"/>
                  </a:lnTo>
                  <a:lnTo>
                    <a:pt x="244" y="188"/>
                  </a:lnTo>
                  <a:lnTo>
                    <a:pt x="560" y="116"/>
                  </a:lnTo>
                  <a:lnTo>
                    <a:pt x="1192" y="0"/>
                  </a:lnTo>
                </a:path>
              </a:pathLst>
            </a:custGeom>
            <a:noFill/>
            <a:ln w="25400" cap="rnd">
              <a:solidFill>
                <a:schemeClr val="tx2"/>
              </a:solidFill>
              <a:round/>
              <a:headEnd/>
              <a:tailEnd/>
            </a:ln>
          </p:spPr>
          <p:txBody>
            <a:bodyPr/>
            <a:lstStyle/>
            <a:p>
              <a:endParaRPr lang="en-US" sz="2000" dirty="0">
                <a:latin typeface="Courier New" pitchFamily="49" charset="0"/>
              </a:endParaRPr>
            </a:p>
          </p:txBody>
        </p:sp>
        <p:sp>
          <p:nvSpPr>
            <p:cNvPr id="247844" name="Freeform 60"/>
            <p:cNvSpPr>
              <a:spLocks/>
            </p:cNvSpPr>
            <p:nvPr/>
          </p:nvSpPr>
          <p:spPr bwMode="auto">
            <a:xfrm>
              <a:off x="630" y="2804"/>
              <a:ext cx="1173" cy="741"/>
            </a:xfrm>
            <a:custGeom>
              <a:avLst/>
              <a:gdLst>
                <a:gd name="T0" fmla="*/ 0 w 1173"/>
                <a:gd name="T1" fmla="*/ 740 h 741"/>
                <a:gd name="T2" fmla="*/ 236 w 1173"/>
                <a:gd name="T3" fmla="*/ 620 h 741"/>
                <a:gd name="T4" fmla="*/ 548 w 1173"/>
                <a:gd name="T5" fmla="*/ 404 h 741"/>
                <a:gd name="T6" fmla="*/ 1172 w 1173"/>
                <a:gd name="T7" fmla="*/ 0 h 741"/>
                <a:gd name="T8" fmla="*/ 0 60000 65536"/>
                <a:gd name="T9" fmla="*/ 0 60000 65536"/>
                <a:gd name="T10" fmla="*/ 0 60000 65536"/>
                <a:gd name="T11" fmla="*/ 0 60000 65536"/>
                <a:gd name="T12" fmla="*/ 0 w 1173"/>
                <a:gd name="T13" fmla="*/ 0 h 741"/>
                <a:gd name="T14" fmla="*/ 1173 w 1173"/>
                <a:gd name="T15" fmla="*/ 741 h 741"/>
              </a:gdLst>
              <a:ahLst/>
              <a:cxnLst>
                <a:cxn ang="T8">
                  <a:pos x="T0" y="T1"/>
                </a:cxn>
                <a:cxn ang="T9">
                  <a:pos x="T2" y="T3"/>
                </a:cxn>
                <a:cxn ang="T10">
                  <a:pos x="T4" y="T5"/>
                </a:cxn>
                <a:cxn ang="T11">
                  <a:pos x="T6" y="T7"/>
                </a:cxn>
              </a:cxnLst>
              <a:rect l="T12" t="T13" r="T14" b="T15"/>
              <a:pathLst>
                <a:path w="1173" h="741">
                  <a:moveTo>
                    <a:pt x="0" y="740"/>
                  </a:moveTo>
                  <a:lnTo>
                    <a:pt x="236" y="620"/>
                  </a:lnTo>
                  <a:lnTo>
                    <a:pt x="548" y="404"/>
                  </a:lnTo>
                  <a:lnTo>
                    <a:pt x="1172" y="0"/>
                  </a:lnTo>
                </a:path>
              </a:pathLst>
            </a:custGeom>
            <a:noFill/>
            <a:ln w="25400" cap="rnd">
              <a:solidFill>
                <a:schemeClr val="accent1"/>
              </a:solidFill>
              <a:round/>
              <a:headEnd/>
              <a:tailEnd/>
            </a:ln>
          </p:spPr>
          <p:txBody>
            <a:bodyPr/>
            <a:lstStyle/>
            <a:p>
              <a:endParaRPr lang="en-US" sz="2000" dirty="0">
                <a:latin typeface="Courier New" pitchFamily="49" charset="0"/>
              </a:endParaRPr>
            </a:p>
          </p:txBody>
        </p:sp>
        <p:sp>
          <p:nvSpPr>
            <p:cNvPr id="247845" name="Freeform 61"/>
            <p:cNvSpPr>
              <a:spLocks/>
            </p:cNvSpPr>
            <p:nvPr/>
          </p:nvSpPr>
          <p:spPr bwMode="auto">
            <a:xfrm>
              <a:off x="626" y="3484"/>
              <a:ext cx="1185" cy="37"/>
            </a:xfrm>
            <a:custGeom>
              <a:avLst/>
              <a:gdLst>
                <a:gd name="T0" fmla="*/ 0 w 1185"/>
                <a:gd name="T1" fmla="*/ 0 h 37"/>
                <a:gd name="T2" fmla="*/ 244 w 1185"/>
                <a:gd name="T3" fmla="*/ 36 h 37"/>
                <a:gd name="T4" fmla="*/ 564 w 1185"/>
                <a:gd name="T5" fmla="*/ 36 h 37"/>
                <a:gd name="T6" fmla="*/ 1184 w 1185"/>
                <a:gd name="T7" fmla="*/ 32 h 37"/>
                <a:gd name="T8" fmla="*/ 1184 w 1185"/>
                <a:gd name="T9" fmla="*/ 32 h 37"/>
                <a:gd name="T10" fmla="*/ 0 60000 65536"/>
                <a:gd name="T11" fmla="*/ 0 60000 65536"/>
                <a:gd name="T12" fmla="*/ 0 60000 65536"/>
                <a:gd name="T13" fmla="*/ 0 60000 65536"/>
                <a:gd name="T14" fmla="*/ 0 60000 65536"/>
                <a:gd name="T15" fmla="*/ 0 w 1185"/>
                <a:gd name="T16" fmla="*/ 0 h 37"/>
                <a:gd name="T17" fmla="*/ 1185 w 1185"/>
                <a:gd name="T18" fmla="*/ 37 h 37"/>
              </a:gdLst>
              <a:ahLst/>
              <a:cxnLst>
                <a:cxn ang="T10">
                  <a:pos x="T0" y="T1"/>
                </a:cxn>
                <a:cxn ang="T11">
                  <a:pos x="T2" y="T3"/>
                </a:cxn>
                <a:cxn ang="T12">
                  <a:pos x="T4" y="T5"/>
                </a:cxn>
                <a:cxn ang="T13">
                  <a:pos x="T6" y="T7"/>
                </a:cxn>
                <a:cxn ang="T14">
                  <a:pos x="T8" y="T9"/>
                </a:cxn>
              </a:cxnLst>
              <a:rect l="T15" t="T16" r="T17" b="T18"/>
              <a:pathLst>
                <a:path w="1185" h="37">
                  <a:moveTo>
                    <a:pt x="0" y="0"/>
                  </a:moveTo>
                  <a:lnTo>
                    <a:pt x="244" y="36"/>
                  </a:lnTo>
                  <a:lnTo>
                    <a:pt x="564" y="36"/>
                  </a:lnTo>
                  <a:lnTo>
                    <a:pt x="1184" y="32"/>
                  </a:lnTo>
                </a:path>
              </a:pathLst>
            </a:custGeom>
            <a:noFill/>
            <a:ln w="25400" cap="rnd">
              <a:solidFill>
                <a:schemeClr val="tx2"/>
              </a:solidFill>
              <a:round/>
              <a:headEnd/>
              <a:tailEnd/>
            </a:ln>
          </p:spPr>
          <p:txBody>
            <a:bodyPr/>
            <a:lstStyle/>
            <a:p>
              <a:endParaRPr lang="en-US" sz="2000" dirty="0">
                <a:latin typeface="Courier New" pitchFamily="49" charset="0"/>
              </a:endParaRPr>
            </a:p>
          </p:txBody>
        </p:sp>
        <p:sp>
          <p:nvSpPr>
            <p:cNvPr id="247846" name="Oval 62"/>
            <p:cNvSpPr>
              <a:spLocks noChangeArrowheads="1"/>
            </p:cNvSpPr>
            <p:nvPr/>
          </p:nvSpPr>
          <p:spPr bwMode="auto">
            <a:xfrm>
              <a:off x="614" y="3536"/>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47" name="Oval 63"/>
            <p:cNvSpPr>
              <a:spLocks noChangeArrowheads="1"/>
            </p:cNvSpPr>
            <p:nvPr/>
          </p:nvSpPr>
          <p:spPr bwMode="auto">
            <a:xfrm>
              <a:off x="686" y="3492"/>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sp>
          <p:nvSpPr>
            <p:cNvPr id="247848" name="Oval 64"/>
            <p:cNvSpPr>
              <a:spLocks noChangeArrowheads="1"/>
            </p:cNvSpPr>
            <p:nvPr/>
          </p:nvSpPr>
          <p:spPr bwMode="auto">
            <a:xfrm>
              <a:off x="842" y="3468"/>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49" name="Oval 65"/>
            <p:cNvSpPr>
              <a:spLocks noChangeArrowheads="1"/>
            </p:cNvSpPr>
            <p:nvPr/>
          </p:nvSpPr>
          <p:spPr bwMode="auto">
            <a:xfrm>
              <a:off x="1162" y="3396"/>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50" name="Oval 66"/>
            <p:cNvSpPr>
              <a:spLocks noChangeArrowheads="1"/>
            </p:cNvSpPr>
            <p:nvPr/>
          </p:nvSpPr>
          <p:spPr bwMode="auto">
            <a:xfrm>
              <a:off x="1786" y="3284"/>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51" name="Oval 67"/>
            <p:cNvSpPr>
              <a:spLocks noChangeArrowheads="1"/>
            </p:cNvSpPr>
            <p:nvPr/>
          </p:nvSpPr>
          <p:spPr bwMode="auto">
            <a:xfrm>
              <a:off x="614" y="3468"/>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52" name="Oval 68"/>
            <p:cNvSpPr>
              <a:spLocks noChangeArrowheads="1"/>
            </p:cNvSpPr>
            <p:nvPr/>
          </p:nvSpPr>
          <p:spPr bwMode="auto">
            <a:xfrm>
              <a:off x="846" y="3504"/>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53" name="Oval 69"/>
            <p:cNvSpPr>
              <a:spLocks noChangeArrowheads="1"/>
            </p:cNvSpPr>
            <p:nvPr/>
          </p:nvSpPr>
          <p:spPr bwMode="auto">
            <a:xfrm>
              <a:off x="1162" y="3504"/>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54" name="Oval 70"/>
            <p:cNvSpPr>
              <a:spLocks noChangeArrowheads="1"/>
            </p:cNvSpPr>
            <p:nvPr/>
          </p:nvSpPr>
          <p:spPr bwMode="auto">
            <a:xfrm>
              <a:off x="1790" y="3492"/>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55" name="Rectangle 74"/>
            <p:cNvSpPr>
              <a:spLocks noChangeArrowheads="1"/>
            </p:cNvSpPr>
            <p:nvPr/>
          </p:nvSpPr>
          <p:spPr bwMode="auto">
            <a:xfrm>
              <a:off x="2359" y="3497"/>
              <a:ext cx="131"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0</a:t>
              </a:r>
            </a:p>
          </p:txBody>
        </p:sp>
        <p:sp>
          <p:nvSpPr>
            <p:cNvPr id="247856" name="Rectangle 75"/>
            <p:cNvSpPr>
              <a:spLocks noChangeArrowheads="1"/>
            </p:cNvSpPr>
            <p:nvPr/>
          </p:nvSpPr>
          <p:spPr bwMode="auto">
            <a:xfrm>
              <a:off x="2181" y="1709"/>
              <a:ext cx="274"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10000</a:t>
              </a:r>
            </a:p>
          </p:txBody>
        </p:sp>
        <p:sp>
          <p:nvSpPr>
            <p:cNvPr id="247857" name="Rectangle 76"/>
            <p:cNvSpPr>
              <a:spLocks noChangeArrowheads="1"/>
            </p:cNvSpPr>
            <p:nvPr/>
          </p:nvSpPr>
          <p:spPr bwMode="auto">
            <a:xfrm>
              <a:off x="2225" y="2061"/>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8000</a:t>
              </a:r>
            </a:p>
          </p:txBody>
        </p:sp>
        <p:sp>
          <p:nvSpPr>
            <p:cNvPr id="247858" name="Rectangle 77"/>
            <p:cNvSpPr>
              <a:spLocks noChangeArrowheads="1"/>
            </p:cNvSpPr>
            <p:nvPr/>
          </p:nvSpPr>
          <p:spPr bwMode="auto">
            <a:xfrm>
              <a:off x="2225" y="3165"/>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2000</a:t>
              </a:r>
            </a:p>
          </p:txBody>
        </p:sp>
        <p:sp>
          <p:nvSpPr>
            <p:cNvPr id="247859" name="Rectangle 78"/>
            <p:cNvSpPr>
              <a:spLocks noChangeArrowheads="1"/>
            </p:cNvSpPr>
            <p:nvPr/>
          </p:nvSpPr>
          <p:spPr bwMode="auto">
            <a:xfrm>
              <a:off x="2225" y="2437"/>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6000</a:t>
              </a:r>
            </a:p>
          </p:txBody>
        </p:sp>
        <p:sp>
          <p:nvSpPr>
            <p:cNvPr id="247860" name="Rectangle 79"/>
            <p:cNvSpPr>
              <a:spLocks noChangeArrowheads="1"/>
            </p:cNvSpPr>
            <p:nvPr/>
          </p:nvSpPr>
          <p:spPr bwMode="auto">
            <a:xfrm>
              <a:off x="2225" y="2813"/>
              <a:ext cx="238" cy="153"/>
            </a:xfrm>
            <a:prstGeom prst="rect">
              <a:avLst/>
            </a:prstGeom>
            <a:solidFill>
              <a:schemeClr val="bg1"/>
            </a:solid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4000</a:t>
              </a:r>
            </a:p>
          </p:txBody>
        </p:sp>
        <p:sp>
          <p:nvSpPr>
            <p:cNvPr id="247861" name="Rectangle 80"/>
            <p:cNvSpPr>
              <a:spLocks noChangeArrowheads="1"/>
            </p:cNvSpPr>
            <p:nvPr/>
          </p:nvSpPr>
          <p:spPr bwMode="auto">
            <a:xfrm>
              <a:off x="144" y="1777"/>
              <a:ext cx="309" cy="153"/>
            </a:xfrm>
            <a:prstGeom prst="rect">
              <a:avLst/>
            </a:prstGeom>
            <a:noFill/>
            <a:ln w="25400">
              <a:noFill/>
              <a:miter lim="800000"/>
              <a:headEnd/>
              <a:tailEnd/>
            </a:ln>
          </p:spPr>
          <p:txBody>
            <a:bodyPr wrap="none" lIns="90488" tIns="44450" rIns="90488" bIns="44450">
              <a:spAutoFit/>
            </a:bodyPr>
            <a:lstStyle/>
            <a:p>
              <a:r>
                <a:rPr lang="en-US" sz="900" dirty="0">
                  <a:solidFill>
                    <a:schemeClr val="tx2"/>
                  </a:solidFill>
                  <a:latin typeface="Courier New" pitchFamily="49" charset="0"/>
                </a:rPr>
                <a:t>140000</a:t>
              </a:r>
            </a:p>
          </p:txBody>
        </p:sp>
        <p:sp>
          <p:nvSpPr>
            <p:cNvPr id="247862" name="Freeform 81"/>
            <p:cNvSpPr>
              <a:spLocks/>
            </p:cNvSpPr>
            <p:nvPr/>
          </p:nvSpPr>
          <p:spPr bwMode="auto">
            <a:xfrm>
              <a:off x="2614" y="2716"/>
              <a:ext cx="1181" cy="157"/>
            </a:xfrm>
            <a:custGeom>
              <a:avLst/>
              <a:gdLst>
                <a:gd name="T0" fmla="*/ 0 w 1181"/>
                <a:gd name="T1" fmla="*/ 156 h 157"/>
                <a:gd name="T2" fmla="*/ 80 w 1181"/>
                <a:gd name="T3" fmla="*/ 0 h 157"/>
                <a:gd name="T4" fmla="*/ 232 w 1181"/>
                <a:gd name="T5" fmla="*/ 16 h 157"/>
                <a:gd name="T6" fmla="*/ 552 w 1181"/>
                <a:gd name="T7" fmla="*/ 112 h 157"/>
                <a:gd name="T8" fmla="*/ 1180 w 1181"/>
                <a:gd name="T9" fmla="*/ 124 h 157"/>
                <a:gd name="T10" fmla="*/ 0 60000 65536"/>
                <a:gd name="T11" fmla="*/ 0 60000 65536"/>
                <a:gd name="T12" fmla="*/ 0 60000 65536"/>
                <a:gd name="T13" fmla="*/ 0 60000 65536"/>
                <a:gd name="T14" fmla="*/ 0 60000 65536"/>
                <a:gd name="T15" fmla="*/ 0 w 1181"/>
                <a:gd name="T16" fmla="*/ 0 h 157"/>
                <a:gd name="T17" fmla="*/ 1181 w 1181"/>
                <a:gd name="T18" fmla="*/ 157 h 157"/>
              </a:gdLst>
              <a:ahLst/>
              <a:cxnLst>
                <a:cxn ang="T10">
                  <a:pos x="T0" y="T1"/>
                </a:cxn>
                <a:cxn ang="T11">
                  <a:pos x="T2" y="T3"/>
                </a:cxn>
                <a:cxn ang="T12">
                  <a:pos x="T4" y="T5"/>
                </a:cxn>
                <a:cxn ang="T13">
                  <a:pos x="T6" y="T7"/>
                </a:cxn>
                <a:cxn ang="T14">
                  <a:pos x="T8" y="T9"/>
                </a:cxn>
              </a:cxnLst>
              <a:rect l="T15" t="T16" r="T17" b="T18"/>
              <a:pathLst>
                <a:path w="1181" h="157">
                  <a:moveTo>
                    <a:pt x="0" y="156"/>
                  </a:moveTo>
                  <a:lnTo>
                    <a:pt x="80" y="0"/>
                  </a:lnTo>
                  <a:lnTo>
                    <a:pt x="232" y="16"/>
                  </a:lnTo>
                  <a:lnTo>
                    <a:pt x="552" y="112"/>
                  </a:lnTo>
                  <a:lnTo>
                    <a:pt x="1180" y="124"/>
                  </a:lnTo>
                </a:path>
              </a:pathLst>
            </a:custGeom>
            <a:noFill/>
            <a:ln w="25400" cap="rnd">
              <a:solidFill>
                <a:schemeClr val="accent1"/>
              </a:solidFill>
              <a:round/>
              <a:headEnd/>
              <a:tailEnd/>
            </a:ln>
          </p:spPr>
          <p:txBody>
            <a:bodyPr/>
            <a:lstStyle/>
            <a:p>
              <a:endParaRPr lang="en-US" sz="2000" dirty="0">
                <a:latin typeface="Courier New" pitchFamily="49" charset="0"/>
              </a:endParaRPr>
            </a:p>
          </p:txBody>
        </p:sp>
        <p:sp>
          <p:nvSpPr>
            <p:cNvPr id="247863" name="Freeform 82"/>
            <p:cNvSpPr>
              <a:spLocks/>
            </p:cNvSpPr>
            <p:nvPr/>
          </p:nvSpPr>
          <p:spPr bwMode="auto">
            <a:xfrm>
              <a:off x="2618" y="1576"/>
              <a:ext cx="1157" cy="1293"/>
            </a:xfrm>
            <a:custGeom>
              <a:avLst/>
              <a:gdLst>
                <a:gd name="T0" fmla="*/ 0 w 1157"/>
                <a:gd name="T1" fmla="*/ 1292 h 1293"/>
                <a:gd name="T2" fmla="*/ 72 w 1157"/>
                <a:gd name="T3" fmla="*/ 1044 h 1293"/>
                <a:gd name="T4" fmla="*/ 228 w 1157"/>
                <a:gd name="T5" fmla="*/ 692 h 1293"/>
                <a:gd name="T6" fmla="*/ 544 w 1157"/>
                <a:gd name="T7" fmla="*/ 400 h 1293"/>
                <a:gd name="T8" fmla="*/ 1156 w 1157"/>
                <a:gd name="T9" fmla="*/ 0 h 1293"/>
                <a:gd name="T10" fmla="*/ 0 60000 65536"/>
                <a:gd name="T11" fmla="*/ 0 60000 65536"/>
                <a:gd name="T12" fmla="*/ 0 60000 65536"/>
                <a:gd name="T13" fmla="*/ 0 60000 65536"/>
                <a:gd name="T14" fmla="*/ 0 60000 65536"/>
                <a:gd name="T15" fmla="*/ 0 w 1157"/>
                <a:gd name="T16" fmla="*/ 0 h 1293"/>
                <a:gd name="T17" fmla="*/ 1157 w 1157"/>
                <a:gd name="T18" fmla="*/ 1293 h 1293"/>
              </a:gdLst>
              <a:ahLst/>
              <a:cxnLst>
                <a:cxn ang="T10">
                  <a:pos x="T0" y="T1"/>
                </a:cxn>
                <a:cxn ang="T11">
                  <a:pos x="T2" y="T3"/>
                </a:cxn>
                <a:cxn ang="T12">
                  <a:pos x="T4" y="T5"/>
                </a:cxn>
                <a:cxn ang="T13">
                  <a:pos x="T6" y="T7"/>
                </a:cxn>
                <a:cxn ang="T14">
                  <a:pos x="T8" y="T9"/>
                </a:cxn>
              </a:cxnLst>
              <a:rect l="T15" t="T16" r="T17" b="T18"/>
              <a:pathLst>
                <a:path w="1157" h="1293">
                  <a:moveTo>
                    <a:pt x="0" y="1292"/>
                  </a:moveTo>
                  <a:lnTo>
                    <a:pt x="72" y="1044"/>
                  </a:lnTo>
                  <a:lnTo>
                    <a:pt x="228" y="692"/>
                  </a:lnTo>
                  <a:lnTo>
                    <a:pt x="544" y="400"/>
                  </a:lnTo>
                  <a:lnTo>
                    <a:pt x="1156" y="0"/>
                  </a:lnTo>
                </a:path>
              </a:pathLst>
            </a:custGeom>
            <a:noFill/>
            <a:ln w="25400" cap="rnd">
              <a:solidFill>
                <a:schemeClr val="tx2"/>
              </a:solidFill>
              <a:round/>
              <a:headEnd/>
              <a:tailEnd/>
            </a:ln>
          </p:spPr>
          <p:txBody>
            <a:bodyPr/>
            <a:lstStyle/>
            <a:p>
              <a:endParaRPr lang="en-US" sz="2000" dirty="0">
                <a:latin typeface="Courier New" pitchFamily="49" charset="0"/>
              </a:endParaRPr>
            </a:p>
          </p:txBody>
        </p:sp>
        <p:sp>
          <p:nvSpPr>
            <p:cNvPr id="247864" name="Freeform 83"/>
            <p:cNvSpPr>
              <a:spLocks/>
            </p:cNvSpPr>
            <p:nvPr/>
          </p:nvSpPr>
          <p:spPr bwMode="auto">
            <a:xfrm>
              <a:off x="2618" y="1580"/>
              <a:ext cx="249" cy="1701"/>
            </a:xfrm>
            <a:custGeom>
              <a:avLst/>
              <a:gdLst>
                <a:gd name="T0" fmla="*/ 0 w 249"/>
                <a:gd name="T1" fmla="*/ 1700 h 1701"/>
                <a:gd name="T2" fmla="*/ 72 w 249"/>
                <a:gd name="T3" fmla="*/ 1212 h 1701"/>
                <a:gd name="T4" fmla="*/ 220 w 249"/>
                <a:gd name="T5" fmla="*/ 168 h 1701"/>
                <a:gd name="T6" fmla="*/ 248 w 249"/>
                <a:gd name="T7" fmla="*/ 0 h 1701"/>
                <a:gd name="T8" fmla="*/ 0 60000 65536"/>
                <a:gd name="T9" fmla="*/ 0 60000 65536"/>
                <a:gd name="T10" fmla="*/ 0 60000 65536"/>
                <a:gd name="T11" fmla="*/ 0 60000 65536"/>
                <a:gd name="T12" fmla="*/ 0 w 249"/>
                <a:gd name="T13" fmla="*/ 0 h 1701"/>
                <a:gd name="T14" fmla="*/ 249 w 249"/>
                <a:gd name="T15" fmla="*/ 1701 h 1701"/>
              </a:gdLst>
              <a:ahLst/>
              <a:cxnLst>
                <a:cxn ang="T8">
                  <a:pos x="T0" y="T1"/>
                </a:cxn>
                <a:cxn ang="T9">
                  <a:pos x="T2" y="T3"/>
                </a:cxn>
                <a:cxn ang="T10">
                  <a:pos x="T4" y="T5"/>
                </a:cxn>
                <a:cxn ang="T11">
                  <a:pos x="T6" y="T7"/>
                </a:cxn>
              </a:cxnLst>
              <a:rect l="T12" t="T13" r="T14" b="T15"/>
              <a:pathLst>
                <a:path w="249" h="1701">
                  <a:moveTo>
                    <a:pt x="0" y="1700"/>
                  </a:moveTo>
                  <a:lnTo>
                    <a:pt x="72" y="1212"/>
                  </a:lnTo>
                  <a:lnTo>
                    <a:pt x="220" y="168"/>
                  </a:lnTo>
                  <a:lnTo>
                    <a:pt x="248" y="0"/>
                  </a:lnTo>
                </a:path>
              </a:pathLst>
            </a:custGeom>
            <a:noFill/>
            <a:ln w="25400" cap="rnd">
              <a:solidFill>
                <a:schemeClr val="tx2"/>
              </a:solidFill>
              <a:round/>
              <a:headEnd/>
              <a:tailEnd/>
            </a:ln>
          </p:spPr>
          <p:txBody>
            <a:bodyPr/>
            <a:lstStyle/>
            <a:p>
              <a:endParaRPr lang="en-US" sz="2000" dirty="0">
                <a:latin typeface="Courier New" pitchFamily="49" charset="0"/>
              </a:endParaRPr>
            </a:p>
          </p:txBody>
        </p:sp>
        <p:sp>
          <p:nvSpPr>
            <p:cNvPr id="247865" name="Oval 84"/>
            <p:cNvSpPr>
              <a:spLocks noChangeArrowheads="1"/>
            </p:cNvSpPr>
            <p:nvPr/>
          </p:nvSpPr>
          <p:spPr bwMode="auto">
            <a:xfrm>
              <a:off x="2594" y="2844"/>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66" name="Oval 85"/>
            <p:cNvSpPr>
              <a:spLocks noChangeArrowheads="1"/>
            </p:cNvSpPr>
            <p:nvPr/>
          </p:nvSpPr>
          <p:spPr bwMode="auto">
            <a:xfrm>
              <a:off x="2674" y="2700"/>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67" name="Oval 86"/>
            <p:cNvSpPr>
              <a:spLocks noChangeArrowheads="1"/>
            </p:cNvSpPr>
            <p:nvPr/>
          </p:nvSpPr>
          <p:spPr bwMode="auto">
            <a:xfrm>
              <a:off x="2670" y="2600"/>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68" name="Oval 87"/>
            <p:cNvSpPr>
              <a:spLocks noChangeArrowheads="1"/>
            </p:cNvSpPr>
            <p:nvPr/>
          </p:nvSpPr>
          <p:spPr bwMode="auto">
            <a:xfrm>
              <a:off x="2822" y="2260"/>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69" name="Oval 88"/>
            <p:cNvSpPr>
              <a:spLocks noChangeArrowheads="1"/>
            </p:cNvSpPr>
            <p:nvPr/>
          </p:nvSpPr>
          <p:spPr bwMode="auto">
            <a:xfrm>
              <a:off x="3138" y="1960"/>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70" name="Oval 89"/>
            <p:cNvSpPr>
              <a:spLocks noChangeArrowheads="1"/>
            </p:cNvSpPr>
            <p:nvPr/>
          </p:nvSpPr>
          <p:spPr bwMode="auto">
            <a:xfrm>
              <a:off x="3754" y="1564"/>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71" name="Oval 90"/>
            <p:cNvSpPr>
              <a:spLocks noChangeArrowheads="1"/>
            </p:cNvSpPr>
            <p:nvPr/>
          </p:nvSpPr>
          <p:spPr bwMode="auto">
            <a:xfrm>
              <a:off x="2822" y="1724"/>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72" name="Oval 91"/>
            <p:cNvSpPr>
              <a:spLocks noChangeArrowheads="1"/>
            </p:cNvSpPr>
            <p:nvPr/>
          </p:nvSpPr>
          <p:spPr bwMode="auto">
            <a:xfrm>
              <a:off x="2594" y="3260"/>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73" name="Oval 92"/>
            <p:cNvSpPr>
              <a:spLocks noChangeArrowheads="1"/>
            </p:cNvSpPr>
            <p:nvPr/>
          </p:nvSpPr>
          <p:spPr bwMode="auto">
            <a:xfrm>
              <a:off x="2670" y="2780"/>
              <a:ext cx="40" cy="36"/>
            </a:xfrm>
            <a:prstGeom prst="ellipse">
              <a:avLst/>
            </a:prstGeom>
            <a:solidFill>
              <a:schemeClr val="tx2"/>
            </a:solidFill>
            <a:ln w="25400">
              <a:solidFill>
                <a:schemeClr val="tx2"/>
              </a:solidFill>
              <a:round/>
              <a:headEnd/>
              <a:tailEnd/>
            </a:ln>
          </p:spPr>
          <p:txBody>
            <a:bodyPr wrap="none" anchor="ctr"/>
            <a:lstStyle/>
            <a:p>
              <a:endParaRPr lang="en-US" sz="2000" dirty="0">
                <a:latin typeface="Courier New" pitchFamily="49" charset="0"/>
              </a:endParaRPr>
            </a:p>
          </p:txBody>
        </p:sp>
        <p:sp>
          <p:nvSpPr>
            <p:cNvPr id="247874" name="Rectangle 93"/>
            <p:cNvSpPr>
              <a:spLocks noChangeArrowheads="1"/>
            </p:cNvSpPr>
            <p:nvPr/>
          </p:nvSpPr>
          <p:spPr bwMode="auto">
            <a:xfrm>
              <a:off x="1825" y="3441"/>
              <a:ext cx="334" cy="266"/>
            </a:xfrm>
            <a:prstGeom prst="rect">
              <a:avLst/>
            </a:prstGeom>
            <a:noFill/>
            <a:ln w="25400">
              <a:noFill/>
              <a:miter lim="800000"/>
              <a:headEnd/>
              <a:tailEnd/>
            </a:ln>
          </p:spPr>
          <p:txBody>
            <a:bodyPr wrap="none" lIns="90488" tIns="44450" rIns="90488" bIns="44450">
              <a:spAutoFit/>
            </a:bodyPr>
            <a:lstStyle/>
            <a:p>
              <a:r>
                <a:rPr lang="en-US" sz="2000" dirty="0">
                  <a:solidFill>
                    <a:schemeClr val="tx2"/>
                  </a:solidFill>
                  <a:latin typeface="Courier New" pitchFamily="49" charset="0"/>
                </a:rPr>
                <a:t>MCS</a:t>
              </a:r>
            </a:p>
          </p:txBody>
        </p:sp>
        <p:sp>
          <p:nvSpPr>
            <p:cNvPr id="247875" name="Oval 94"/>
            <p:cNvSpPr>
              <a:spLocks noChangeArrowheads="1"/>
            </p:cNvSpPr>
            <p:nvPr/>
          </p:nvSpPr>
          <p:spPr bwMode="auto">
            <a:xfrm>
              <a:off x="1782" y="2788"/>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sp>
          <p:nvSpPr>
            <p:cNvPr id="247876" name="Oval 95"/>
            <p:cNvSpPr>
              <a:spLocks noChangeArrowheads="1"/>
            </p:cNvSpPr>
            <p:nvPr/>
          </p:nvSpPr>
          <p:spPr bwMode="auto">
            <a:xfrm>
              <a:off x="1166" y="3180"/>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sp>
          <p:nvSpPr>
            <p:cNvPr id="247877" name="Oval 96"/>
            <p:cNvSpPr>
              <a:spLocks noChangeArrowheads="1"/>
            </p:cNvSpPr>
            <p:nvPr/>
          </p:nvSpPr>
          <p:spPr bwMode="auto">
            <a:xfrm>
              <a:off x="846" y="3396"/>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sp>
          <p:nvSpPr>
            <p:cNvPr id="247878" name="Oval 97"/>
            <p:cNvSpPr>
              <a:spLocks noChangeArrowheads="1"/>
            </p:cNvSpPr>
            <p:nvPr/>
          </p:nvSpPr>
          <p:spPr bwMode="auto">
            <a:xfrm>
              <a:off x="3774" y="2812"/>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sp>
          <p:nvSpPr>
            <p:cNvPr id="247879" name="Oval 98"/>
            <p:cNvSpPr>
              <a:spLocks noChangeArrowheads="1"/>
            </p:cNvSpPr>
            <p:nvPr/>
          </p:nvSpPr>
          <p:spPr bwMode="auto">
            <a:xfrm>
              <a:off x="3150" y="2804"/>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sp>
          <p:nvSpPr>
            <p:cNvPr id="247880" name="Oval 99"/>
            <p:cNvSpPr>
              <a:spLocks noChangeArrowheads="1"/>
            </p:cNvSpPr>
            <p:nvPr/>
          </p:nvSpPr>
          <p:spPr bwMode="auto">
            <a:xfrm>
              <a:off x="2830" y="2716"/>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sp>
          <p:nvSpPr>
            <p:cNvPr id="247881" name="Oval 100"/>
            <p:cNvSpPr>
              <a:spLocks noChangeArrowheads="1"/>
            </p:cNvSpPr>
            <p:nvPr/>
          </p:nvSpPr>
          <p:spPr bwMode="auto">
            <a:xfrm>
              <a:off x="2678" y="2716"/>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sp>
          <p:nvSpPr>
            <p:cNvPr id="247882" name="Oval 101"/>
            <p:cNvSpPr>
              <a:spLocks noChangeArrowheads="1"/>
            </p:cNvSpPr>
            <p:nvPr/>
          </p:nvSpPr>
          <p:spPr bwMode="auto">
            <a:xfrm>
              <a:off x="2590" y="2844"/>
              <a:ext cx="40" cy="36"/>
            </a:xfrm>
            <a:prstGeom prst="ellipse">
              <a:avLst/>
            </a:prstGeom>
            <a:solidFill>
              <a:schemeClr val="accent1"/>
            </a:solidFill>
            <a:ln w="25400">
              <a:solidFill>
                <a:schemeClr val="accent1"/>
              </a:solidFill>
              <a:round/>
              <a:headEnd/>
              <a:tailEnd/>
            </a:ln>
          </p:spPr>
          <p:txBody>
            <a:bodyPr wrap="none" anchor="ctr"/>
            <a:lstStyle/>
            <a:p>
              <a:endParaRPr lang="en-US" sz="2000" dirty="0">
                <a:latin typeface="Courier New" pitchFamily="49" charset="0"/>
              </a:endParaRPr>
            </a:p>
          </p:txBody>
        </p:sp>
      </p:gr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685440" y="174259"/>
            <a:ext cx="7773120" cy="1143480"/>
          </a:xfrm>
        </p:spPr>
        <p:txBody>
          <a:bodyPr rtlCol="0">
            <a:normAutofit/>
          </a:bodyPr>
          <a:lstStyle/>
          <a:p>
            <a:pPr defTabSz="914305" rtl="1" fontAlgn="auto">
              <a:spcAft>
                <a:spcPts val="0"/>
              </a:spcAft>
              <a:defRPr/>
            </a:pPr>
            <a:r>
              <a:rPr lang="en-US" dirty="0">
                <a:latin typeface="Arial"/>
                <a:cs typeface="Arial"/>
              </a:rPr>
              <a:t>Amdahl’s Law Works</a:t>
            </a:r>
            <a:endParaRPr lang="en-US" dirty="0"/>
          </a:p>
        </p:txBody>
      </p:sp>
      <p:sp>
        <p:nvSpPr>
          <p:cNvPr id="335875" name="Rectangle 3"/>
          <p:cNvSpPr>
            <a:spLocks noChangeArrowheads="1"/>
          </p:cNvSpPr>
          <p:nvPr/>
        </p:nvSpPr>
        <p:spPr bwMode="auto">
          <a:xfrm>
            <a:off x="1445760" y="4308932"/>
            <a:ext cx="1736640" cy="2189030"/>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dirty="0">
              <a:latin typeface="Arial" panose="020B0604020202020204" pitchFamily="34" charset="0"/>
            </a:endParaRPr>
          </a:p>
        </p:txBody>
      </p:sp>
      <p:sp>
        <p:nvSpPr>
          <p:cNvPr id="335876" name="Rectangle 4"/>
          <p:cNvSpPr>
            <a:spLocks noChangeArrowheads="1"/>
          </p:cNvSpPr>
          <p:nvPr/>
        </p:nvSpPr>
        <p:spPr bwMode="auto">
          <a:xfrm>
            <a:off x="1424160" y="3092005"/>
            <a:ext cx="1749600" cy="1009546"/>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dirty="0">
              <a:latin typeface="Arial" panose="020B0604020202020204" pitchFamily="34" charset="0"/>
            </a:endParaRPr>
          </a:p>
        </p:txBody>
      </p:sp>
      <p:sp>
        <p:nvSpPr>
          <p:cNvPr id="335877" name="Text Box 5"/>
          <p:cNvSpPr txBox="1">
            <a:spLocks noChangeArrowheads="1"/>
          </p:cNvSpPr>
          <p:nvPr/>
        </p:nvSpPr>
        <p:spPr bwMode="auto">
          <a:xfrm>
            <a:off x="3289768" y="4866077"/>
            <a:ext cx="1369265" cy="769431"/>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Arial" panose="020B0604020202020204" pitchFamily="34" charset="0"/>
              </a:rPr>
              <a:t>75%</a:t>
            </a:r>
          </a:p>
          <a:p>
            <a:pPr algn="ctr">
              <a:defRPr/>
            </a:pPr>
            <a:r>
              <a:rPr lang="en-US" sz="2000" dirty="0">
                <a:latin typeface="Arial" panose="020B0604020202020204" pitchFamily="34" charset="0"/>
              </a:rPr>
              <a:t>Unshared</a:t>
            </a:r>
          </a:p>
        </p:txBody>
      </p:sp>
      <p:sp>
        <p:nvSpPr>
          <p:cNvPr id="335878" name="Text Box 6"/>
          <p:cNvSpPr txBox="1">
            <a:spLocks noChangeArrowheads="1"/>
          </p:cNvSpPr>
          <p:nvPr/>
        </p:nvSpPr>
        <p:spPr bwMode="auto">
          <a:xfrm>
            <a:off x="3305729" y="3243747"/>
            <a:ext cx="1069504" cy="769431"/>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Arial" panose="020B0604020202020204" pitchFamily="34" charset="0"/>
              </a:rPr>
              <a:t>25%</a:t>
            </a:r>
          </a:p>
          <a:p>
            <a:pPr algn="ctr">
              <a:defRPr/>
            </a:pPr>
            <a:r>
              <a:rPr lang="en-US" sz="2000" dirty="0">
                <a:latin typeface="Arial" panose="020B0604020202020204" pitchFamily="34" charset="0"/>
              </a:rPr>
              <a:t>Shared</a:t>
            </a:r>
          </a:p>
        </p:txBody>
      </p:sp>
      <p:sp>
        <p:nvSpPr>
          <p:cNvPr id="335911" name="Text Box 39"/>
          <p:cNvSpPr txBox="1">
            <a:spLocks noChangeArrowheads="1"/>
          </p:cNvSpPr>
          <p:nvPr/>
        </p:nvSpPr>
        <p:spPr bwMode="auto">
          <a:xfrm>
            <a:off x="268130" y="2612961"/>
            <a:ext cx="1152861" cy="769431"/>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Arial" panose="020B0604020202020204" pitchFamily="34" charset="0"/>
              </a:rPr>
              <a:t>Coarse</a:t>
            </a:r>
          </a:p>
          <a:p>
            <a:pPr algn="ctr">
              <a:defRPr/>
            </a:pPr>
            <a:r>
              <a:rPr lang="en-US" sz="2000" dirty="0">
                <a:latin typeface="Arial" panose="020B0604020202020204" pitchFamily="34" charset="0"/>
              </a:rPr>
              <a:t>Grained</a:t>
            </a:r>
          </a:p>
        </p:txBody>
      </p:sp>
      <p:sp>
        <p:nvSpPr>
          <p:cNvPr id="335937" name="Rectangle 65"/>
          <p:cNvSpPr>
            <a:spLocks noChangeArrowheads="1"/>
          </p:cNvSpPr>
          <p:nvPr/>
        </p:nvSpPr>
        <p:spPr bwMode="auto">
          <a:xfrm>
            <a:off x="5464801" y="4264289"/>
            <a:ext cx="1736640" cy="2232234"/>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dirty="0">
              <a:latin typeface="Arial" panose="020B0604020202020204" pitchFamily="34" charset="0"/>
            </a:endParaRPr>
          </a:p>
        </p:txBody>
      </p:sp>
      <p:sp>
        <p:nvSpPr>
          <p:cNvPr id="335938" name="Rectangle 66"/>
          <p:cNvSpPr>
            <a:spLocks noChangeArrowheads="1"/>
          </p:cNvSpPr>
          <p:nvPr/>
        </p:nvSpPr>
        <p:spPr bwMode="auto">
          <a:xfrm>
            <a:off x="5441760" y="3050240"/>
            <a:ext cx="1749600" cy="1008106"/>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dirty="0">
              <a:latin typeface="Arial" panose="020B0604020202020204" pitchFamily="34" charset="0"/>
            </a:endParaRPr>
          </a:p>
        </p:txBody>
      </p:sp>
      <p:sp>
        <p:nvSpPr>
          <p:cNvPr id="335964" name="Text Box 92"/>
          <p:cNvSpPr txBox="1">
            <a:spLocks noChangeArrowheads="1"/>
          </p:cNvSpPr>
          <p:nvPr/>
        </p:nvSpPr>
        <p:spPr bwMode="auto">
          <a:xfrm>
            <a:off x="4156130" y="2597118"/>
            <a:ext cx="1152861" cy="769431"/>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Arial" panose="020B0604020202020204" pitchFamily="34" charset="0"/>
              </a:rPr>
              <a:t>Fine</a:t>
            </a:r>
          </a:p>
          <a:p>
            <a:pPr algn="ctr">
              <a:defRPr/>
            </a:pPr>
            <a:r>
              <a:rPr lang="en-US" sz="2000" dirty="0">
                <a:latin typeface="Arial" panose="020B0604020202020204" pitchFamily="34" charset="0"/>
              </a:rPr>
              <a:t>Grained</a:t>
            </a:r>
          </a:p>
        </p:txBody>
      </p:sp>
      <p:sp>
        <p:nvSpPr>
          <p:cNvPr id="336048" name="Line 176"/>
          <p:cNvSpPr>
            <a:spLocks noChangeShapeType="1"/>
          </p:cNvSpPr>
          <p:nvPr/>
        </p:nvSpPr>
        <p:spPr bwMode="auto">
          <a:xfrm flipH="1">
            <a:off x="6429288" y="2025810"/>
            <a:ext cx="283879" cy="956024"/>
          </a:xfrm>
          <a:prstGeom prst="line">
            <a:avLst/>
          </a:prstGeom>
          <a:noFill/>
          <a:ln w="38100">
            <a:solidFill>
              <a:srgbClr val="CC0000"/>
            </a:solidFill>
            <a:round/>
            <a:headEnd/>
            <a:tailEnd type="triangle" w="med" len="med"/>
          </a:ln>
          <a:effectLst/>
        </p:spPr>
        <p:txBody>
          <a:bodyPr wrap="none" anchor="ctr"/>
          <a:lstStyle/>
          <a:p>
            <a:pPr algn="ctr">
              <a:defRPr/>
            </a:pPr>
            <a:endParaRPr lang="en-US" dirty="0">
              <a:latin typeface="Arial" panose="020B0604020202020204" pitchFamily="34" charset="0"/>
            </a:endParaRPr>
          </a:p>
        </p:txBody>
      </p:sp>
      <p:sp>
        <p:nvSpPr>
          <p:cNvPr id="336049" name="Text Box 177"/>
          <p:cNvSpPr txBox="1">
            <a:spLocks noChangeArrowheads="1"/>
          </p:cNvSpPr>
          <p:nvPr/>
        </p:nvSpPr>
        <p:spPr bwMode="auto">
          <a:xfrm>
            <a:off x="7272808" y="4837274"/>
            <a:ext cx="1369265" cy="769431"/>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Arial" panose="020B0604020202020204" pitchFamily="34" charset="0"/>
              </a:rPr>
              <a:t>75%</a:t>
            </a:r>
          </a:p>
          <a:p>
            <a:pPr algn="ctr">
              <a:defRPr/>
            </a:pPr>
            <a:r>
              <a:rPr lang="en-US" sz="2000" dirty="0">
                <a:latin typeface="Arial" panose="020B0604020202020204" pitchFamily="34" charset="0"/>
              </a:rPr>
              <a:t>Unshared</a:t>
            </a:r>
          </a:p>
        </p:txBody>
      </p:sp>
      <p:sp>
        <p:nvSpPr>
          <p:cNvPr id="336050" name="Text Box 178"/>
          <p:cNvSpPr txBox="1">
            <a:spLocks noChangeArrowheads="1"/>
          </p:cNvSpPr>
          <p:nvPr/>
        </p:nvSpPr>
        <p:spPr bwMode="auto">
          <a:xfrm>
            <a:off x="7288769" y="3214944"/>
            <a:ext cx="1069504" cy="769431"/>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Arial" panose="020B0604020202020204" pitchFamily="34" charset="0"/>
              </a:rPr>
              <a:t>25%</a:t>
            </a:r>
          </a:p>
          <a:p>
            <a:pPr algn="ctr">
              <a:defRPr/>
            </a:pPr>
            <a:r>
              <a:rPr lang="en-US" sz="2000" dirty="0">
                <a:latin typeface="Arial" panose="020B0604020202020204" pitchFamily="34" charset="0"/>
              </a:rPr>
              <a:t>Shared</a:t>
            </a:r>
          </a:p>
        </p:txBody>
      </p:sp>
      <p:grpSp>
        <p:nvGrpSpPr>
          <p:cNvPr id="182" name="Group 24"/>
          <p:cNvGrpSpPr>
            <a:grpSpLocks/>
          </p:cNvGrpSpPr>
          <p:nvPr/>
        </p:nvGrpSpPr>
        <p:grpSpPr bwMode="auto">
          <a:xfrm>
            <a:off x="1524000" y="3200400"/>
            <a:ext cx="204787" cy="298586"/>
            <a:chOff x="2208" y="1920"/>
            <a:chExt cx="1152" cy="1680"/>
          </a:xfrm>
        </p:grpSpPr>
        <p:sp>
          <p:nvSpPr>
            <p:cNvPr id="183"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84"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85"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86"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87" name="Group 24"/>
          <p:cNvGrpSpPr>
            <a:grpSpLocks/>
          </p:cNvGrpSpPr>
          <p:nvPr/>
        </p:nvGrpSpPr>
        <p:grpSpPr bwMode="auto">
          <a:xfrm>
            <a:off x="5486400" y="3124200"/>
            <a:ext cx="204787" cy="298586"/>
            <a:chOff x="2208" y="1920"/>
            <a:chExt cx="1152" cy="1680"/>
          </a:xfrm>
        </p:grpSpPr>
        <p:sp>
          <p:nvSpPr>
            <p:cNvPr id="188"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89"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90"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91"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92" name="Group 24"/>
          <p:cNvGrpSpPr>
            <a:grpSpLocks/>
          </p:cNvGrpSpPr>
          <p:nvPr/>
        </p:nvGrpSpPr>
        <p:grpSpPr bwMode="auto">
          <a:xfrm>
            <a:off x="6490288" y="3005037"/>
            <a:ext cx="204787" cy="298586"/>
            <a:chOff x="2208" y="1920"/>
            <a:chExt cx="1152" cy="1680"/>
          </a:xfrm>
        </p:grpSpPr>
        <p:sp>
          <p:nvSpPr>
            <p:cNvPr id="193"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94"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95"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96"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239" name="Group 13"/>
          <p:cNvGrpSpPr>
            <a:grpSpLocks/>
          </p:cNvGrpSpPr>
          <p:nvPr/>
        </p:nvGrpSpPr>
        <p:grpSpPr bwMode="auto">
          <a:xfrm flipH="1">
            <a:off x="1904310" y="3265874"/>
            <a:ext cx="789299" cy="706215"/>
            <a:chOff x="864" y="1968"/>
            <a:chExt cx="912" cy="816"/>
          </a:xfrm>
        </p:grpSpPr>
        <p:sp>
          <p:nvSpPr>
            <p:cNvPr id="240"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1"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2"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3"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4"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5"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6"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7"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8"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0"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51" name="Group 13"/>
          <p:cNvGrpSpPr>
            <a:grpSpLocks/>
          </p:cNvGrpSpPr>
          <p:nvPr/>
        </p:nvGrpSpPr>
        <p:grpSpPr bwMode="auto">
          <a:xfrm flipH="1">
            <a:off x="6687103" y="3069678"/>
            <a:ext cx="789299" cy="706215"/>
            <a:chOff x="864" y="1968"/>
            <a:chExt cx="912" cy="816"/>
          </a:xfrm>
        </p:grpSpPr>
        <p:sp>
          <p:nvSpPr>
            <p:cNvPr id="25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5"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9"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60"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61"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62"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63" name="Group 24"/>
          <p:cNvGrpSpPr>
            <a:grpSpLocks/>
          </p:cNvGrpSpPr>
          <p:nvPr/>
        </p:nvGrpSpPr>
        <p:grpSpPr bwMode="auto">
          <a:xfrm>
            <a:off x="6208777" y="3909053"/>
            <a:ext cx="204787" cy="298586"/>
            <a:chOff x="2208" y="1920"/>
            <a:chExt cx="1152" cy="1680"/>
          </a:xfrm>
        </p:grpSpPr>
        <p:sp>
          <p:nvSpPr>
            <p:cNvPr id="26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26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26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26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268" name="Group 13"/>
          <p:cNvGrpSpPr>
            <a:grpSpLocks/>
          </p:cNvGrpSpPr>
          <p:nvPr/>
        </p:nvGrpSpPr>
        <p:grpSpPr bwMode="auto">
          <a:xfrm flipH="1">
            <a:off x="5639990" y="3280777"/>
            <a:ext cx="789299" cy="706215"/>
            <a:chOff x="864" y="1968"/>
            <a:chExt cx="912" cy="816"/>
          </a:xfrm>
        </p:grpSpPr>
        <p:sp>
          <p:nvSpPr>
            <p:cNvPr id="269"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0"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1"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2"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3"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4"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5"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6"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7"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8"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9"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80" name="Group 13"/>
          <p:cNvGrpSpPr>
            <a:grpSpLocks/>
          </p:cNvGrpSpPr>
          <p:nvPr/>
        </p:nvGrpSpPr>
        <p:grpSpPr bwMode="auto">
          <a:xfrm flipH="1">
            <a:off x="6540077" y="3651266"/>
            <a:ext cx="789299" cy="706215"/>
            <a:chOff x="864" y="1968"/>
            <a:chExt cx="912" cy="816"/>
          </a:xfrm>
        </p:grpSpPr>
        <p:sp>
          <p:nvSpPr>
            <p:cNvPr id="28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16" name="Group 13"/>
          <p:cNvGrpSpPr>
            <a:grpSpLocks/>
          </p:cNvGrpSpPr>
          <p:nvPr/>
        </p:nvGrpSpPr>
        <p:grpSpPr bwMode="auto">
          <a:xfrm flipH="1">
            <a:off x="1468117" y="4523805"/>
            <a:ext cx="789299" cy="706215"/>
            <a:chOff x="864" y="1968"/>
            <a:chExt cx="912" cy="816"/>
          </a:xfrm>
        </p:grpSpPr>
        <p:sp>
          <p:nvSpPr>
            <p:cNvPr id="31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1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1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40" name="Group 13"/>
          <p:cNvGrpSpPr>
            <a:grpSpLocks/>
          </p:cNvGrpSpPr>
          <p:nvPr/>
        </p:nvGrpSpPr>
        <p:grpSpPr bwMode="auto">
          <a:xfrm flipH="1">
            <a:off x="1468117" y="5487047"/>
            <a:ext cx="789299" cy="706215"/>
            <a:chOff x="864" y="1968"/>
            <a:chExt cx="912" cy="816"/>
          </a:xfrm>
        </p:grpSpPr>
        <p:sp>
          <p:nvSpPr>
            <p:cNvPr id="34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52" name="Group 13"/>
          <p:cNvGrpSpPr>
            <a:grpSpLocks/>
          </p:cNvGrpSpPr>
          <p:nvPr/>
        </p:nvGrpSpPr>
        <p:grpSpPr bwMode="auto">
          <a:xfrm flipH="1">
            <a:off x="2258701" y="4572000"/>
            <a:ext cx="789299" cy="706215"/>
            <a:chOff x="864" y="1968"/>
            <a:chExt cx="912" cy="816"/>
          </a:xfrm>
        </p:grpSpPr>
        <p:sp>
          <p:nvSpPr>
            <p:cNvPr id="35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64" name="Group 13"/>
          <p:cNvGrpSpPr>
            <a:grpSpLocks/>
          </p:cNvGrpSpPr>
          <p:nvPr/>
        </p:nvGrpSpPr>
        <p:grpSpPr bwMode="auto">
          <a:xfrm flipH="1">
            <a:off x="2258701" y="5535242"/>
            <a:ext cx="789299" cy="706215"/>
            <a:chOff x="864" y="1968"/>
            <a:chExt cx="912" cy="816"/>
          </a:xfrm>
        </p:grpSpPr>
        <p:sp>
          <p:nvSpPr>
            <p:cNvPr id="365"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6"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7"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8"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9"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0"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1"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2"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3"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4"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5"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76" name="Group 13"/>
          <p:cNvGrpSpPr>
            <a:grpSpLocks/>
          </p:cNvGrpSpPr>
          <p:nvPr/>
        </p:nvGrpSpPr>
        <p:grpSpPr bwMode="auto">
          <a:xfrm flipH="1">
            <a:off x="5566426" y="4475147"/>
            <a:ext cx="789299" cy="706215"/>
            <a:chOff x="864" y="1968"/>
            <a:chExt cx="912" cy="816"/>
          </a:xfrm>
        </p:grpSpPr>
        <p:sp>
          <p:nvSpPr>
            <p:cNvPr id="37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88" name="Group 13"/>
          <p:cNvGrpSpPr>
            <a:grpSpLocks/>
          </p:cNvGrpSpPr>
          <p:nvPr/>
        </p:nvGrpSpPr>
        <p:grpSpPr bwMode="auto">
          <a:xfrm flipH="1">
            <a:off x="5566426" y="5438389"/>
            <a:ext cx="789299" cy="706215"/>
            <a:chOff x="864" y="1968"/>
            <a:chExt cx="912" cy="816"/>
          </a:xfrm>
        </p:grpSpPr>
        <p:sp>
          <p:nvSpPr>
            <p:cNvPr id="389"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0"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1"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2"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3"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4"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5"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6"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7"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8"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9"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400" name="Group 13"/>
          <p:cNvGrpSpPr>
            <a:grpSpLocks/>
          </p:cNvGrpSpPr>
          <p:nvPr/>
        </p:nvGrpSpPr>
        <p:grpSpPr bwMode="auto">
          <a:xfrm flipH="1">
            <a:off x="6357010" y="4523342"/>
            <a:ext cx="789299" cy="706215"/>
            <a:chOff x="864" y="1968"/>
            <a:chExt cx="912" cy="816"/>
          </a:xfrm>
        </p:grpSpPr>
        <p:sp>
          <p:nvSpPr>
            <p:cNvPr id="40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412" name="Group 13"/>
          <p:cNvGrpSpPr>
            <a:grpSpLocks/>
          </p:cNvGrpSpPr>
          <p:nvPr/>
        </p:nvGrpSpPr>
        <p:grpSpPr bwMode="auto">
          <a:xfrm flipH="1">
            <a:off x="6357010" y="5486584"/>
            <a:ext cx="789299" cy="706215"/>
            <a:chOff x="864" y="1968"/>
            <a:chExt cx="912" cy="816"/>
          </a:xfrm>
        </p:grpSpPr>
        <p:sp>
          <p:nvSpPr>
            <p:cNvPr id="41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15" name="Group 13"/>
          <p:cNvGrpSpPr>
            <a:grpSpLocks/>
          </p:cNvGrpSpPr>
          <p:nvPr/>
        </p:nvGrpSpPr>
        <p:grpSpPr bwMode="auto">
          <a:xfrm flipH="1">
            <a:off x="1981536" y="2129666"/>
            <a:ext cx="789299" cy="706215"/>
            <a:chOff x="864" y="1968"/>
            <a:chExt cx="912" cy="816"/>
          </a:xfrm>
        </p:grpSpPr>
        <p:sp>
          <p:nvSpPr>
            <p:cNvPr id="216"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17"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18"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19"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0"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1"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2"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3"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4"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5"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6"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27" name="Group 13"/>
          <p:cNvGrpSpPr>
            <a:grpSpLocks/>
          </p:cNvGrpSpPr>
          <p:nvPr/>
        </p:nvGrpSpPr>
        <p:grpSpPr bwMode="auto">
          <a:xfrm flipH="1">
            <a:off x="2705925" y="1797328"/>
            <a:ext cx="789299" cy="706215"/>
            <a:chOff x="864" y="1968"/>
            <a:chExt cx="912" cy="816"/>
          </a:xfrm>
        </p:grpSpPr>
        <p:sp>
          <p:nvSpPr>
            <p:cNvPr id="22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1"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5"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6"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7"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8"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92" name="Group 13"/>
          <p:cNvGrpSpPr>
            <a:grpSpLocks/>
          </p:cNvGrpSpPr>
          <p:nvPr/>
        </p:nvGrpSpPr>
        <p:grpSpPr bwMode="auto">
          <a:xfrm flipH="1">
            <a:off x="3403095" y="1444221"/>
            <a:ext cx="789299" cy="706215"/>
            <a:chOff x="864" y="1968"/>
            <a:chExt cx="912" cy="816"/>
          </a:xfrm>
        </p:grpSpPr>
        <p:sp>
          <p:nvSpPr>
            <p:cNvPr id="29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0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0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0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0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308" name="Text Box 175"/>
          <p:cNvSpPr txBox="1">
            <a:spLocks noChangeArrowheads="1"/>
          </p:cNvSpPr>
          <p:nvPr/>
        </p:nvSpPr>
        <p:spPr bwMode="auto">
          <a:xfrm>
            <a:off x="4761012" y="1145046"/>
            <a:ext cx="3851117" cy="1347311"/>
          </a:xfrm>
          <a:prstGeom prst="rect">
            <a:avLst/>
          </a:prstGeom>
          <a:solidFill>
            <a:schemeClr val="bg1"/>
          </a:solidFill>
          <a:ln w="28575">
            <a:noFill/>
            <a:miter lim="800000"/>
            <a:headEnd/>
            <a:tailEnd/>
          </a:ln>
          <a:effectLst/>
        </p:spPr>
        <p:txBody>
          <a:bodyPr wrap="square" anchor="ctr">
            <a:spAutoFit/>
          </a:bodyPr>
          <a:lstStyle/>
          <a:p>
            <a:pPr algn="ctr">
              <a:defRPr/>
            </a:pPr>
            <a:r>
              <a:rPr lang="en-US" dirty="0">
                <a:solidFill>
                  <a:srgbClr val="CC0000"/>
                </a:solidFill>
                <a:latin typeface="Arial"/>
                <a:cs typeface="Arial"/>
              </a:rPr>
              <a:t>Fine grained parallelism </a:t>
            </a:r>
          </a:p>
          <a:p>
            <a:pPr algn="ctr">
              <a:defRPr/>
            </a:pPr>
            <a:r>
              <a:rPr lang="en-US" dirty="0">
                <a:solidFill>
                  <a:srgbClr val="CC0000"/>
                </a:solidFill>
                <a:latin typeface="Arial"/>
                <a:cs typeface="Arial"/>
              </a:rPr>
              <a:t>gives great performance </a:t>
            </a:r>
          </a:p>
          <a:p>
            <a:pPr algn="ctr">
              <a:defRPr/>
            </a:pPr>
            <a:r>
              <a:rPr lang="en-US" dirty="0">
                <a:solidFill>
                  <a:srgbClr val="CC0000"/>
                </a:solidFill>
                <a:latin typeface="Arial"/>
                <a:cs typeface="Arial"/>
              </a:rPr>
              <a:t>benefit</a:t>
            </a:r>
          </a:p>
        </p:txBody>
      </p:sp>
    </p:spTree>
    <p:extLst>
      <p:ext uri="{BB962C8B-B14F-4D97-AF65-F5344CB8AC3E}">
        <p14:creationId xmlns:p14="http://schemas.microsoft.com/office/powerpoint/2010/main" val="335182109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a:xfrm>
            <a:off x="619200" y="253467"/>
            <a:ext cx="8000640" cy="1143480"/>
          </a:xfrm>
          <a:noFill/>
        </p:spPr>
        <p:txBody>
          <a:bodyPr/>
          <a:lstStyle/>
          <a:p>
            <a:pPr eaLnBrk="1" hangingPunct="1"/>
            <a:r>
              <a:rPr lang="en-US" dirty="0"/>
              <a:t>But…</a:t>
            </a:r>
          </a:p>
        </p:txBody>
      </p:sp>
      <p:sp>
        <p:nvSpPr>
          <p:cNvPr id="10243" name="Rectangle 3"/>
          <p:cNvSpPr>
            <a:spLocks noGrp="1" noChangeArrowheads="1"/>
          </p:cNvSpPr>
          <p:nvPr>
            <p:ph idx="1"/>
          </p:nvPr>
        </p:nvSpPr>
        <p:spPr>
          <a:xfrm>
            <a:off x="456997" y="1273296"/>
            <a:ext cx="8231040" cy="3854046"/>
          </a:xfrm>
        </p:spPr>
        <p:txBody>
          <a:bodyPr/>
          <a:lstStyle/>
          <a:p>
            <a:pPr eaLnBrk="1" hangingPunct="1"/>
            <a:endParaRPr lang="en-US" sz="3300" dirty="0"/>
          </a:p>
          <a:p>
            <a:pPr eaLnBrk="1" hangingPunct="1"/>
            <a:r>
              <a:rPr lang="en-US" sz="3300" dirty="0"/>
              <a:t>Can we always draw the right conclusions from </a:t>
            </a:r>
            <a:r>
              <a:rPr lang="en-US" sz="3300" dirty="0">
                <a:solidFill>
                  <a:srgbClr val="3F51D7"/>
                </a:solidFill>
              </a:rPr>
              <a:t>Amdahl’s law</a:t>
            </a:r>
            <a:r>
              <a:rPr lang="en-US" sz="3300" dirty="0"/>
              <a:t>?</a:t>
            </a:r>
          </a:p>
          <a:p>
            <a:pPr eaLnBrk="1" hangingPunct="1"/>
            <a:r>
              <a:rPr lang="en-US" sz="3300" dirty="0"/>
              <a:t>Claim: sometimes the </a:t>
            </a:r>
            <a:r>
              <a:rPr lang="en-US" sz="3300" dirty="0">
                <a:solidFill>
                  <a:srgbClr val="FF0000"/>
                </a:solidFill>
              </a:rPr>
              <a:t>overhead</a:t>
            </a:r>
            <a:r>
              <a:rPr lang="en-US" sz="3300" dirty="0"/>
              <a:t> </a:t>
            </a:r>
            <a:r>
              <a:rPr lang="en-US" sz="3300" dirty="0">
                <a:solidFill>
                  <a:srgbClr val="FF0000"/>
                </a:solidFill>
              </a:rPr>
              <a:t>of fine-grained synchronization </a:t>
            </a:r>
            <a:r>
              <a:rPr lang="en-US" sz="3300" dirty="0"/>
              <a:t>is so high…that it is better to have </a:t>
            </a:r>
            <a:r>
              <a:rPr lang="en-US" sz="3300" dirty="0">
                <a:solidFill>
                  <a:srgbClr val="3F51D7"/>
                </a:solidFill>
              </a:rPr>
              <a:t>a single thread do all the work sequentially </a:t>
            </a:r>
            <a:r>
              <a:rPr lang="en-US" sz="3300" dirty="0"/>
              <a:t>in order to avoid it</a:t>
            </a:r>
          </a:p>
          <a:p>
            <a:pPr eaLnBrk="1" hangingPunct="1"/>
            <a:endParaRPr lang="en-US" sz="3300" dirty="0"/>
          </a:p>
          <a:p>
            <a:pPr eaLnBrk="1" hangingPunct="1"/>
            <a:endParaRPr lang="en-US" sz="3300" dirty="0"/>
          </a:p>
        </p:txBody>
      </p:sp>
    </p:spTree>
    <p:extLst>
      <p:ext uri="{BB962C8B-B14F-4D97-AF65-F5344CB8AC3E}">
        <p14:creationId xmlns:p14="http://schemas.microsoft.com/office/powerpoint/2010/main" val="384766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Rounded Rectangle 298"/>
          <p:cNvSpPr/>
          <p:nvPr/>
        </p:nvSpPr>
        <p:spPr>
          <a:xfrm>
            <a:off x="3984142" y="1165841"/>
            <a:ext cx="718492" cy="391946"/>
          </a:xfrm>
          <a:prstGeom prst="round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endParaRPr lang="en-US">
              <a:latin typeface="Arial"/>
              <a:cs typeface="Arial"/>
            </a:endParaRPr>
          </a:p>
        </p:txBody>
      </p:sp>
      <p:sp>
        <p:nvSpPr>
          <p:cNvPr id="238" name="Slide Number Placeholder 3"/>
          <p:cNvSpPr>
            <a:spLocks noGrp="1"/>
          </p:cNvSpPr>
          <p:nvPr>
            <p:ph type="sldNum" sz="quarter" idx="11"/>
          </p:nvPr>
        </p:nvSpPr>
        <p:spPr>
          <a:xfrm>
            <a:off x="6553200" y="6010296"/>
            <a:ext cx="1905000" cy="457200"/>
          </a:xfrm>
        </p:spPr>
        <p:txBody>
          <a:bodyPr/>
          <a:lstStyle/>
          <a:p>
            <a:pPr>
              <a:defRPr/>
            </a:pPr>
            <a:fld id="{DF6C15A2-14F4-484B-9E28-D1E737C73416}" type="slidenum">
              <a:rPr lang="en-US">
                <a:latin typeface="Arial"/>
                <a:cs typeface="Arial"/>
              </a:rPr>
              <a:pPr>
                <a:defRPr/>
              </a:pPr>
              <a:t>256</a:t>
            </a:fld>
            <a:endParaRPr lang="en-US">
              <a:latin typeface="Arial"/>
              <a:cs typeface="Arial"/>
            </a:endParaRPr>
          </a:p>
        </p:txBody>
      </p:sp>
      <p:sp>
        <p:nvSpPr>
          <p:cNvPr id="18436" name="Rectangle 4"/>
          <p:cNvSpPr>
            <a:spLocks noGrp="1" noChangeArrowheads="1"/>
          </p:cNvSpPr>
          <p:nvPr>
            <p:ph type="title"/>
          </p:nvPr>
        </p:nvSpPr>
        <p:spPr>
          <a:xfrm>
            <a:off x="1004173" y="162793"/>
            <a:ext cx="6964336" cy="1142039"/>
          </a:xfrm>
        </p:spPr>
        <p:txBody>
          <a:bodyPr/>
          <a:lstStyle/>
          <a:p>
            <a:pPr algn="l"/>
            <a:r>
              <a:rPr lang="en-US" dirty="0"/>
              <a:t>Software Combining Tree</a:t>
            </a:r>
          </a:p>
        </p:txBody>
      </p:sp>
      <p:grpSp>
        <p:nvGrpSpPr>
          <p:cNvPr id="2" name="Group 5"/>
          <p:cNvGrpSpPr>
            <a:grpSpLocks/>
          </p:cNvGrpSpPr>
          <p:nvPr/>
        </p:nvGrpSpPr>
        <p:grpSpPr bwMode="auto">
          <a:xfrm>
            <a:off x="4256088" y="1971574"/>
            <a:ext cx="520700" cy="504825"/>
            <a:chOff x="3575" y="2386"/>
            <a:chExt cx="454" cy="440"/>
          </a:xfrm>
        </p:grpSpPr>
        <p:grpSp>
          <p:nvGrpSpPr>
            <p:cNvPr id="3" name="Group 6"/>
            <p:cNvGrpSpPr>
              <a:grpSpLocks/>
            </p:cNvGrpSpPr>
            <p:nvPr/>
          </p:nvGrpSpPr>
          <p:grpSpPr bwMode="auto">
            <a:xfrm>
              <a:off x="3575" y="2602"/>
              <a:ext cx="309" cy="224"/>
              <a:chOff x="3552" y="2634"/>
              <a:chExt cx="309" cy="224"/>
            </a:xfrm>
          </p:grpSpPr>
          <p:sp>
            <p:nvSpPr>
              <p:cNvPr id="18669" name="AutoShape 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a:cs typeface="Arial"/>
                </a:endParaRPr>
              </a:p>
            </p:txBody>
          </p:sp>
          <p:sp>
            <p:nvSpPr>
              <p:cNvPr id="18670" name="Line 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a:cs typeface="Arial"/>
                </a:endParaRPr>
              </a:p>
            </p:txBody>
          </p:sp>
        </p:grpSp>
        <p:grpSp>
          <p:nvGrpSpPr>
            <p:cNvPr id="4" name="Group 9"/>
            <p:cNvGrpSpPr>
              <a:grpSpLocks/>
            </p:cNvGrpSpPr>
            <p:nvPr/>
          </p:nvGrpSpPr>
          <p:grpSpPr bwMode="auto">
            <a:xfrm>
              <a:off x="3809" y="2386"/>
              <a:ext cx="220" cy="315"/>
              <a:chOff x="4593" y="2251"/>
              <a:chExt cx="220" cy="315"/>
            </a:xfrm>
          </p:grpSpPr>
          <p:sp>
            <p:nvSpPr>
              <p:cNvPr id="18664" name="Oval 1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65" name="Oval 1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66" name="Oval 1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67" name="Oval 1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68" name="AutoShape 1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grpSp>
        <p:nvGrpSpPr>
          <p:cNvPr id="6" name="Group 15"/>
          <p:cNvGrpSpPr>
            <a:grpSpLocks/>
          </p:cNvGrpSpPr>
          <p:nvPr/>
        </p:nvGrpSpPr>
        <p:grpSpPr bwMode="auto">
          <a:xfrm>
            <a:off x="2906713" y="3100286"/>
            <a:ext cx="520699" cy="504825"/>
            <a:chOff x="3575" y="2386"/>
            <a:chExt cx="454" cy="440"/>
          </a:xfrm>
        </p:grpSpPr>
        <p:grpSp>
          <p:nvGrpSpPr>
            <p:cNvPr id="7" name="Group 16"/>
            <p:cNvGrpSpPr>
              <a:grpSpLocks/>
            </p:cNvGrpSpPr>
            <p:nvPr/>
          </p:nvGrpSpPr>
          <p:grpSpPr bwMode="auto">
            <a:xfrm>
              <a:off x="3575" y="2602"/>
              <a:ext cx="309" cy="224"/>
              <a:chOff x="3552" y="2634"/>
              <a:chExt cx="309" cy="224"/>
            </a:xfrm>
          </p:grpSpPr>
          <p:sp>
            <p:nvSpPr>
              <p:cNvPr id="18660" name="AutoShape 1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a:cs typeface="Arial"/>
                </a:endParaRPr>
              </a:p>
            </p:txBody>
          </p:sp>
          <p:sp>
            <p:nvSpPr>
              <p:cNvPr id="18661" name="Line 1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a:cs typeface="Arial"/>
                </a:endParaRPr>
              </a:p>
            </p:txBody>
          </p:sp>
        </p:grpSp>
        <p:grpSp>
          <p:nvGrpSpPr>
            <p:cNvPr id="8" name="Group 19"/>
            <p:cNvGrpSpPr>
              <a:grpSpLocks/>
            </p:cNvGrpSpPr>
            <p:nvPr/>
          </p:nvGrpSpPr>
          <p:grpSpPr bwMode="auto">
            <a:xfrm>
              <a:off x="3809" y="2386"/>
              <a:ext cx="220" cy="315"/>
              <a:chOff x="4593" y="2251"/>
              <a:chExt cx="220" cy="315"/>
            </a:xfrm>
          </p:grpSpPr>
          <p:sp>
            <p:nvSpPr>
              <p:cNvPr id="18655" name="Oval 2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56" name="Oval 2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57" name="Oval 2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58" name="Oval 2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59" name="AutoShape 2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grpSp>
        <p:nvGrpSpPr>
          <p:cNvPr id="10" name="Group 26"/>
          <p:cNvGrpSpPr>
            <a:grpSpLocks/>
          </p:cNvGrpSpPr>
          <p:nvPr/>
        </p:nvGrpSpPr>
        <p:grpSpPr bwMode="auto">
          <a:xfrm>
            <a:off x="5603879" y="3348111"/>
            <a:ext cx="354397" cy="257002"/>
            <a:chOff x="3552" y="2634"/>
            <a:chExt cx="309" cy="224"/>
          </a:xfrm>
        </p:grpSpPr>
        <p:sp>
          <p:nvSpPr>
            <p:cNvPr id="18651" name="AutoShape 2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a:cs typeface="Arial"/>
              </a:endParaRPr>
            </a:p>
          </p:txBody>
        </p:sp>
        <p:sp>
          <p:nvSpPr>
            <p:cNvPr id="18652" name="Line 2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a:cs typeface="Arial"/>
              </a:endParaRPr>
            </a:p>
          </p:txBody>
        </p:sp>
      </p:grpSp>
      <p:grpSp>
        <p:nvGrpSpPr>
          <p:cNvPr id="11" name="Group 29"/>
          <p:cNvGrpSpPr>
            <a:grpSpLocks/>
          </p:cNvGrpSpPr>
          <p:nvPr/>
        </p:nvGrpSpPr>
        <p:grpSpPr bwMode="auto">
          <a:xfrm>
            <a:off x="5813032" y="3070764"/>
            <a:ext cx="252322" cy="361409"/>
            <a:chOff x="4593" y="2251"/>
            <a:chExt cx="220" cy="315"/>
          </a:xfrm>
        </p:grpSpPr>
        <p:sp>
          <p:nvSpPr>
            <p:cNvPr id="18646" name="Oval 3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47" name="Oval 3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48" name="Oval 3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49" name="Oval 3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50" name="AutoShape 3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nvGrpSpPr>
          <p:cNvPr id="12" name="Group 75"/>
          <p:cNvGrpSpPr>
            <a:grpSpLocks/>
          </p:cNvGrpSpPr>
          <p:nvPr/>
        </p:nvGrpSpPr>
        <p:grpSpPr bwMode="auto">
          <a:xfrm>
            <a:off x="2038350" y="4230598"/>
            <a:ext cx="4954588" cy="506413"/>
            <a:chOff x="1284" y="2726"/>
            <a:chExt cx="3121" cy="319"/>
          </a:xfrm>
        </p:grpSpPr>
        <p:grpSp>
          <p:nvGrpSpPr>
            <p:cNvPr id="13" name="Group 35"/>
            <p:cNvGrpSpPr>
              <a:grpSpLocks/>
            </p:cNvGrpSpPr>
            <p:nvPr/>
          </p:nvGrpSpPr>
          <p:grpSpPr bwMode="auto">
            <a:xfrm>
              <a:off x="3146" y="2727"/>
              <a:ext cx="328" cy="318"/>
              <a:chOff x="3575" y="2386"/>
              <a:chExt cx="454" cy="440"/>
            </a:xfrm>
          </p:grpSpPr>
          <p:grpSp>
            <p:nvGrpSpPr>
              <p:cNvPr id="14" name="Group 36"/>
              <p:cNvGrpSpPr>
                <a:grpSpLocks/>
              </p:cNvGrpSpPr>
              <p:nvPr/>
            </p:nvGrpSpPr>
            <p:grpSpPr bwMode="auto">
              <a:xfrm>
                <a:off x="3575" y="2602"/>
                <a:ext cx="309" cy="224"/>
                <a:chOff x="3552" y="2634"/>
                <a:chExt cx="309" cy="224"/>
              </a:xfrm>
            </p:grpSpPr>
            <p:sp>
              <p:nvSpPr>
                <p:cNvPr id="18640" name="AutoShape 3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a:cs typeface="Arial"/>
                  </a:endParaRPr>
                </a:p>
              </p:txBody>
            </p:sp>
            <p:sp>
              <p:nvSpPr>
                <p:cNvPr id="18641" name="Line 3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a:cs typeface="Arial"/>
                  </a:endParaRPr>
                </a:p>
              </p:txBody>
            </p:sp>
          </p:grpSp>
          <p:grpSp>
            <p:nvGrpSpPr>
              <p:cNvPr id="15" name="Group 39"/>
              <p:cNvGrpSpPr>
                <a:grpSpLocks/>
              </p:cNvGrpSpPr>
              <p:nvPr/>
            </p:nvGrpSpPr>
            <p:grpSpPr bwMode="auto">
              <a:xfrm>
                <a:off x="3809" y="2386"/>
                <a:ext cx="220" cy="315"/>
                <a:chOff x="4593" y="2251"/>
                <a:chExt cx="220" cy="315"/>
              </a:xfrm>
            </p:grpSpPr>
            <p:sp>
              <p:nvSpPr>
                <p:cNvPr id="18635" name="Oval 4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36" name="Oval 4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37" name="Oval 4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38" name="Oval 4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39" name="AutoShape 4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grpSp>
          <p:nvGrpSpPr>
            <p:cNvPr id="16" name="Group 45"/>
            <p:cNvGrpSpPr>
              <a:grpSpLocks/>
            </p:cNvGrpSpPr>
            <p:nvPr/>
          </p:nvGrpSpPr>
          <p:grpSpPr bwMode="auto">
            <a:xfrm>
              <a:off x="4077" y="2727"/>
              <a:ext cx="328" cy="318"/>
              <a:chOff x="3575" y="2386"/>
              <a:chExt cx="454" cy="440"/>
            </a:xfrm>
          </p:grpSpPr>
          <p:grpSp>
            <p:nvGrpSpPr>
              <p:cNvPr id="17" name="Group 46"/>
              <p:cNvGrpSpPr>
                <a:grpSpLocks/>
              </p:cNvGrpSpPr>
              <p:nvPr/>
            </p:nvGrpSpPr>
            <p:grpSpPr bwMode="auto">
              <a:xfrm>
                <a:off x="3575" y="2602"/>
                <a:ext cx="309" cy="224"/>
                <a:chOff x="3552" y="2634"/>
                <a:chExt cx="309" cy="224"/>
              </a:xfrm>
            </p:grpSpPr>
            <p:sp>
              <p:nvSpPr>
                <p:cNvPr id="18631" name="AutoShape 4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a:cs typeface="Arial"/>
                  </a:endParaRPr>
                </a:p>
              </p:txBody>
            </p:sp>
            <p:sp>
              <p:nvSpPr>
                <p:cNvPr id="18632" name="Line 4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a:cs typeface="Arial"/>
                  </a:endParaRPr>
                </a:p>
              </p:txBody>
            </p:sp>
          </p:grpSp>
          <p:grpSp>
            <p:nvGrpSpPr>
              <p:cNvPr id="18" name="Group 49"/>
              <p:cNvGrpSpPr>
                <a:grpSpLocks/>
              </p:cNvGrpSpPr>
              <p:nvPr/>
            </p:nvGrpSpPr>
            <p:grpSpPr bwMode="auto">
              <a:xfrm>
                <a:off x="3809" y="2386"/>
                <a:ext cx="220" cy="315"/>
                <a:chOff x="4593" y="2251"/>
                <a:chExt cx="220" cy="315"/>
              </a:xfrm>
            </p:grpSpPr>
            <p:sp>
              <p:nvSpPr>
                <p:cNvPr id="18626" name="Oval 5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27" name="Oval 5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28" name="Oval 5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29" name="Oval 5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30" name="AutoShape 5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grpSp>
          <p:nvGrpSpPr>
            <p:cNvPr id="19" name="Group 55"/>
            <p:cNvGrpSpPr>
              <a:grpSpLocks/>
            </p:cNvGrpSpPr>
            <p:nvPr/>
          </p:nvGrpSpPr>
          <p:grpSpPr bwMode="auto">
            <a:xfrm>
              <a:off x="1284" y="2726"/>
              <a:ext cx="328" cy="318"/>
              <a:chOff x="3575" y="2386"/>
              <a:chExt cx="454" cy="440"/>
            </a:xfrm>
          </p:grpSpPr>
          <p:grpSp>
            <p:nvGrpSpPr>
              <p:cNvPr id="20" name="Group 56"/>
              <p:cNvGrpSpPr>
                <a:grpSpLocks/>
              </p:cNvGrpSpPr>
              <p:nvPr/>
            </p:nvGrpSpPr>
            <p:grpSpPr bwMode="auto">
              <a:xfrm>
                <a:off x="3575" y="2602"/>
                <a:ext cx="309" cy="224"/>
                <a:chOff x="3552" y="2634"/>
                <a:chExt cx="309" cy="224"/>
              </a:xfrm>
            </p:grpSpPr>
            <p:sp>
              <p:nvSpPr>
                <p:cNvPr id="18622" name="AutoShape 5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a:cs typeface="Arial"/>
                  </a:endParaRPr>
                </a:p>
              </p:txBody>
            </p:sp>
            <p:sp>
              <p:nvSpPr>
                <p:cNvPr id="18623" name="Line 5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a:cs typeface="Arial"/>
                  </a:endParaRPr>
                </a:p>
              </p:txBody>
            </p:sp>
          </p:grpSp>
          <p:grpSp>
            <p:nvGrpSpPr>
              <p:cNvPr id="21" name="Group 59"/>
              <p:cNvGrpSpPr>
                <a:grpSpLocks/>
              </p:cNvGrpSpPr>
              <p:nvPr/>
            </p:nvGrpSpPr>
            <p:grpSpPr bwMode="auto">
              <a:xfrm>
                <a:off x="3809" y="2386"/>
                <a:ext cx="220" cy="315"/>
                <a:chOff x="4593" y="2251"/>
                <a:chExt cx="220" cy="315"/>
              </a:xfrm>
            </p:grpSpPr>
            <p:sp>
              <p:nvSpPr>
                <p:cNvPr id="18617" name="Oval 6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18" name="Oval 6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19" name="Oval 6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20" name="Oval 6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21" name="AutoShape 6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grpSp>
          <p:nvGrpSpPr>
            <p:cNvPr id="22" name="Group 65"/>
            <p:cNvGrpSpPr>
              <a:grpSpLocks/>
            </p:cNvGrpSpPr>
            <p:nvPr/>
          </p:nvGrpSpPr>
          <p:grpSpPr bwMode="auto">
            <a:xfrm>
              <a:off x="2215" y="2726"/>
              <a:ext cx="328" cy="318"/>
              <a:chOff x="3575" y="2386"/>
              <a:chExt cx="454" cy="440"/>
            </a:xfrm>
          </p:grpSpPr>
          <p:grpSp>
            <p:nvGrpSpPr>
              <p:cNvPr id="23" name="Group 66"/>
              <p:cNvGrpSpPr>
                <a:grpSpLocks/>
              </p:cNvGrpSpPr>
              <p:nvPr/>
            </p:nvGrpSpPr>
            <p:grpSpPr bwMode="auto">
              <a:xfrm>
                <a:off x="3575" y="2602"/>
                <a:ext cx="309" cy="224"/>
                <a:chOff x="3552" y="2634"/>
                <a:chExt cx="309" cy="224"/>
              </a:xfrm>
            </p:grpSpPr>
            <p:sp>
              <p:nvSpPr>
                <p:cNvPr id="18613" name="AutoShape 67"/>
                <p:cNvSpPr>
                  <a:spLocks noChangeArrowheads="1"/>
                </p:cNvSpPr>
                <p:nvPr/>
              </p:nvSpPr>
              <p:spPr bwMode="auto">
                <a:xfrm>
                  <a:off x="3552" y="2634"/>
                  <a:ext cx="309" cy="224"/>
                </a:xfrm>
                <a:prstGeom prst="roundRect">
                  <a:avLst>
                    <a:gd name="adj" fmla="val 16667"/>
                  </a:avLst>
                </a:prstGeom>
                <a:solidFill>
                  <a:srgbClr val="66FFFF"/>
                </a:solidFill>
                <a:ln w="38100" algn="ctr">
                  <a:solidFill>
                    <a:schemeClr val="tx1"/>
                  </a:solidFill>
                  <a:round/>
                  <a:headEnd/>
                  <a:tailEnd/>
                </a:ln>
              </p:spPr>
              <p:txBody>
                <a:bodyPr wrap="none" anchor="ctr"/>
                <a:lstStyle/>
                <a:p>
                  <a:endParaRPr lang="en-US">
                    <a:latin typeface="Arial"/>
                    <a:cs typeface="Arial"/>
                  </a:endParaRPr>
                </a:p>
              </p:txBody>
            </p:sp>
            <p:sp>
              <p:nvSpPr>
                <p:cNvPr id="18614" name="Line 68"/>
                <p:cNvSpPr>
                  <a:spLocks noChangeShapeType="1"/>
                </p:cNvSpPr>
                <p:nvPr/>
              </p:nvSpPr>
              <p:spPr bwMode="auto">
                <a:xfrm>
                  <a:off x="3709" y="2636"/>
                  <a:ext cx="0" cy="206"/>
                </a:xfrm>
                <a:prstGeom prst="line">
                  <a:avLst/>
                </a:prstGeom>
                <a:noFill/>
                <a:ln w="38100">
                  <a:solidFill>
                    <a:schemeClr val="tx1"/>
                  </a:solidFill>
                  <a:round/>
                  <a:headEnd/>
                  <a:tailEnd/>
                </a:ln>
              </p:spPr>
              <p:txBody>
                <a:bodyPr/>
                <a:lstStyle/>
                <a:p>
                  <a:endParaRPr lang="en-US">
                    <a:latin typeface="Arial"/>
                    <a:cs typeface="Arial"/>
                  </a:endParaRPr>
                </a:p>
              </p:txBody>
            </p:sp>
          </p:grpSp>
          <p:grpSp>
            <p:nvGrpSpPr>
              <p:cNvPr id="24" name="Group 69"/>
              <p:cNvGrpSpPr>
                <a:grpSpLocks/>
              </p:cNvGrpSpPr>
              <p:nvPr/>
            </p:nvGrpSpPr>
            <p:grpSpPr bwMode="auto">
              <a:xfrm>
                <a:off x="3809" y="2386"/>
                <a:ext cx="220" cy="315"/>
                <a:chOff x="4593" y="2251"/>
                <a:chExt cx="220" cy="315"/>
              </a:xfrm>
            </p:grpSpPr>
            <p:sp>
              <p:nvSpPr>
                <p:cNvPr id="18608" name="Oval 70"/>
                <p:cNvSpPr>
                  <a:spLocks noChangeArrowheads="1"/>
                </p:cNvSpPr>
                <p:nvPr/>
              </p:nvSpPr>
              <p:spPr bwMode="auto">
                <a:xfrm>
                  <a:off x="4593" y="2251"/>
                  <a:ext cx="220" cy="228"/>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09" name="Oval 71"/>
                <p:cNvSpPr>
                  <a:spLocks noChangeArrowheads="1"/>
                </p:cNvSpPr>
                <p:nvPr/>
              </p:nvSpPr>
              <p:spPr bwMode="auto">
                <a:xfrm>
                  <a:off x="4625" y="2282"/>
                  <a:ext cx="154" cy="179"/>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10" name="Oval 72"/>
                <p:cNvSpPr>
                  <a:spLocks noChangeArrowheads="1"/>
                </p:cNvSpPr>
                <p:nvPr/>
              </p:nvSpPr>
              <p:spPr bwMode="auto">
                <a:xfrm>
                  <a:off x="4595" y="2343"/>
                  <a:ext cx="218" cy="223"/>
                </a:xfrm>
                <a:prstGeom prst="ellipse">
                  <a:avLst/>
                </a:prstGeom>
                <a:solidFill>
                  <a:schemeClr val="tx2"/>
                </a:solidFill>
                <a:ln w="12700">
                  <a:solidFill>
                    <a:schemeClr val="tx2"/>
                  </a:solidFill>
                  <a:round/>
                  <a:headEnd/>
                  <a:tailEnd/>
                </a:ln>
              </p:spPr>
              <p:txBody>
                <a:bodyPr wrap="none" anchor="ctr"/>
                <a:lstStyle/>
                <a:p>
                  <a:endParaRPr lang="en-US">
                    <a:latin typeface="Arial"/>
                    <a:cs typeface="Arial"/>
                  </a:endParaRPr>
                </a:p>
              </p:txBody>
            </p:sp>
            <p:sp>
              <p:nvSpPr>
                <p:cNvPr id="18611" name="Oval 73"/>
                <p:cNvSpPr>
                  <a:spLocks noChangeArrowheads="1"/>
                </p:cNvSpPr>
                <p:nvPr/>
              </p:nvSpPr>
              <p:spPr bwMode="auto">
                <a:xfrm>
                  <a:off x="4663" y="2389"/>
                  <a:ext cx="79" cy="76"/>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sp>
              <p:nvSpPr>
                <p:cNvPr id="18612" name="AutoShape 74"/>
                <p:cNvSpPr>
                  <a:spLocks noChangeArrowheads="1"/>
                </p:cNvSpPr>
                <p:nvPr/>
              </p:nvSpPr>
              <p:spPr bwMode="auto">
                <a:xfrm flipV="1">
                  <a:off x="4679" y="2452"/>
                  <a:ext cx="53" cy="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3 h 21600"/>
                    <a:gd name="T14" fmla="*/ 17117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Arial"/>
                    <a:cs typeface="Arial"/>
                  </a:endParaRPr>
                </a:p>
              </p:txBody>
            </p:sp>
          </p:grpSp>
        </p:grpSp>
      </p:grpSp>
      <p:grpSp>
        <p:nvGrpSpPr>
          <p:cNvPr id="25" name="Group 77"/>
          <p:cNvGrpSpPr>
            <a:grpSpLocks/>
          </p:cNvGrpSpPr>
          <p:nvPr/>
        </p:nvGrpSpPr>
        <p:grpSpPr bwMode="auto">
          <a:xfrm flipH="1">
            <a:off x="1525588" y="4962429"/>
            <a:ext cx="512762" cy="384175"/>
            <a:chOff x="1584" y="816"/>
            <a:chExt cx="912" cy="816"/>
          </a:xfrm>
        </p:grpSpPr>
        <p:sp>
          <p:nvSpPr>
            <p:cNvPr id="1859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9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95" name="Freeform 8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9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9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9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99" name="Freeform 8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600" name="Freeform 8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601" name="Freeform 8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6" name="Group 87"/>
          <p:cNvGrpSpPr>
            <a:grpSpLocks/>
          </p:cNvGrpSpPr>
          <p:nvPr/>
        </p:nvGrpSpPr>
        <p:grpSpPr bwMode="auto">
          <a:xfrm>
            <a:off x="1525592" y="4473486"/>
            <a:ext cx="415925" cy="238125"/>
            <a:chOff x="1184" y="1264"/>
            <a:chExt cx="262" cy="150"/>
          </a:xfrm>
        </p:grpSpPr>
        <p:sp>
          <p:nvSpPr>
            <p:cNvPr id="18575" name="Oval 88"/>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576" name="Oval 89"/>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577" name="Oval 90"/>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578" name="Rectangle 91"/>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79" name="Rectangle 92"/>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80" name="Rectangle 93"/>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81" name="Rectangle 94"/>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82" name="Rectangle 95"/>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83" name="Rectangle 96"/>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84" name="Oval 97"/>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585" name="Oval 98"/>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586" name="Rectangle 99"/>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87" name="Rectangle 100"/>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88" name="Arc 101"/>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589" name="Arc 102"/>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590" name="Oval 103"/>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591" name="Oval 104"/>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592" name="Freeform 105"/>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grpSp>
        <p:nvGrpSpPr>
          <p:cNvPr id="27" name="Group 106"/>
          <p:cNvGrpSpPr>
            <a:grpSpLocks/>
          </p:cNvGrpSpPr>
          <p:nvPr/>
        </p:nvGrpSpPr>
        <p:grpSpPr bwMode="auto">
          <a:xfrm flipH="1">
            <a:off x="3757613" y="2608166"/>
            <a:ext cx="512762" cy="384175"/>
            <a:chOff x="1584" y="816"/>
            <a:chExt cx="912" cy="816"/>
          </a:xfrm>
        </p:grpSpPr>
        <p:sp>
          <p:nvSpPr>
            <p:cNvPr id="18566" name="Freeform 10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67" name="Freeform 10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68" name="Freeform 109"/>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69" name="Freeform 1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70" name="Freeform 1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71" name="Freeform 1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72" name="Freeform 113"/>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73" name="Freeform 114"/>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74" name="Freeform 115"/>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8" name="Group 117"/>
          <p:cNvGrpSpPr>
            <a:grpSpLocks/>
          </p:cNvGrpSpPr>
          <p:nvPr/>
        </p:nvGrpSpPr>
        <p:grpSpPr bwMode="auto">
          <a:xfrm flipH="1">
            <a:off x="5164138" y="3733702"/>
            <a:ext cx="512762" cy="384175"/>
            <a:chOff x="1584" y="816"/>
            <a:chExt cx="912" cy="816"/>
          </a:xfrm>
        </p:grpSpPr>
        <p:sp>
          <p:nvSpPr>
            <p:cNvPr id="18557" name="Freeform 11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58" name="Freeform 11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59" name="Freeform 12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60" name="Freeform 12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61" name="Freeform 12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62" name="Freeform 12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63" name="Freeform 12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64" name="Freeform 12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65" name="Freeform 12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9" name="Group 127"/>
          <p:cNvGrpSpPr>
            <a:grpSpLocks/>
          </p:cNvGrpSpPr>
          <p:nvPr/>
        </p:nvGrpSpPr>
        <p:grpSpPr bwMode="auto">
          <a:xfrm>
            <a:off x="6838952" y="4929091"/>
            <a:ext cx="512763" cy="384175"/>
            <a:chOff x="1584" y="816"/>
            <a:chExt cx="912" cy="816"/>
          </a:xfrm>
        </p:grpSpPr>
        <p:sp>
          <p:nvSpPr>
            <p:cNvPr id="18548" name="Freeform 1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49" name="Freeform 1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50" name="Freeform 13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51" name="Freeform 1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52" name="Freeform 1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53" name="Freeform 1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54" name="Freeform 13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55" name="Freeform 13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56" name="Freeform 13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8446" name="Freeform 137"/>
          <p:cNvSpPr>
            <a:spLocks/>
          </p:cNvSpPr>
          <p:nvPr/>
        </p:nvSpPr>
        <p:spPr bwMode="auto">
          <a:xfrm>
            <a:off x="2203452" y="4082949"/>
            <a:ext cx="452438" cy="1131887"/>
          </a:xfrm>
          <a:custGeom>
            <a:avLst/>
            <a:gdLst>
              <a:gd name="T0" fmla="*/ 2147483647 w 285"/>
              <a:gd name="T1" fmla="*/ 2147483647 h 713"/>
              <a:gd name="T2" fmla="*/ 2147483647 w 285"/>
              <a:gd name="T3" fmla="*/ 2147483647 h 713"/>
              <a:gd name="T4" fmla="*/ 2147483647 w 285"/>
              <a:gd name="T5" fmla="*/ 0 h 713"/>
              <a:gd name="T6" fmla="*/ 0 60000 65536"/>
              <a:gd name="T7" fmla="*/ 0 60000 65536"/>
              <a:gd name="T8" fmla="*/ 0 60000 65536"/>
              <a:gd name="T9" fmla="*/ 0 w 285"/>
              <a:gd name="T10" fmla="*/ 0 h 713"/>
              <a:gd name="T11" fmla="*/ 285 w 285"/>
              <a:gd name="T12" fmla="*/ 713 h 713"/>
            </a:gdLst>
            <a:ahLst/>
            <a:cxnLst>
              <a:cxn ang="T6">
                <a:pos x="T0" y="T1"/>
              </a:cxn>
              <a:cxn ang="T7">
                <a:pos x="T2" y="T3"/>
              </a:cxn>
              <a:cxn ang="T8">
                <a:pos x="T4" y="T5"/>
              </a:cxn>
            </a:cxnLst>
            <a:rect l="T9" t="T10" r="T11" b="T12"/>
            <a:pathLst>
              <a:path w="285" h="713">
                <a:moveTo>
                  <a:pt x="285" y="713"/>
                </a:moveTo>
                <a:cubicBezTo>
                  <a:pt x="145" y="608"/>
                  <a:pt x="22" y="485"/>
                  <a:pt x="11" y="366"/>
                </a:cubicBezTo>
                <a:cubicBezTo>
                  <a:pt x="0" y="247"/>
                  <a:pt x="177" y="76"/>
                  <a:pt x="221" y="0"/>
                </a:cubicBezTo>
              </a:path>
            </a:pathLst>
          </a:custGeom>
          <a:noFill/>
          <a:ln w="38100">
            <a:solidFill>
              <a:srgbClr val="0066FF"/>
            </a:solidFill>
            <a:prstDash val="sysDot"/>
            <a:round/>
            <a:headEnd/>
            <a:tailEnd type="triangle" w="med" len="med"/>
          </a:ln>
        </p:spPr>
        <p:txBody>
          <a:bodyPr lIns="91311" tIns="45658" rIns="91311" bIns="45658"/>
          <a:lstStyle/>
          <a:p>
            <a:endParaRPr lang="en-US">
              <a:latin typeface="Arial"/>
              <a:cs typeface="Arial"/>
            </a:endParaRPr>
          </a:p>
        </p:txBody>
      </p:sp>
      <p:grpSp>
        <p:nvGrpSpPr>
          <p:cNvPr id="30" name="Group 138"/>
          <p:cNvGrpSpPr>
            <a:grpSpLocks/>
          </p:cNvGrpSpPr>
          <p:nvPr/>
        </p:nvGrpSpPr>
        <p:grpSpPr bwMode="auto">
          <a:xfrm flipH="1">
            <a:off x="2500313" y="3668611"/>
            <a:ext cx="512762" cy="384175"/>
            <a:chOff x="1584" y="816"/>
            <a:chExt cx="912" cy="816"/>
          </a:xfrm>
        </p:grpSpPr>
        <p:sp>
          <p:nvSpPr>
            <p:cNvPr id="18539" name="Freeform 1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40" name="Freeform 1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41" name="Freeform 141"/>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42" name="Freeform 1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43" name="Freeform 1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44" name="Freeform 1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45" name="Freeform 145"/>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46" name="Freeform 146"/>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47" name="Freeform 147"/>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31" name="Group 148"/>
          <p:cNvGrpSpPr>
            <a:grpSpLocks/>
          </p:cNvGrpSpPr>
          <p:nvPr/>
        </p:nvGrpSpPr>
        <p:grpSpPr bwMode="auto">
          <a:xfrm>
            <a:off x="2344743" y="3333661"/>
            <a:ext cx="415925" cy="238125"/>
            <a:chOff x="1184" y="1264"/>
            <a:chExt cx="262" cy="150"/>
          </a:xfrm>
        </p:grpSpPr>
        <p:sp>
          <p:nvSpPr>
            <p:cNvPr id="18521" name="Oval 149"/>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522" name="Oval 150"/>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523" name="Oval 151"/>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524" name="Rectangle 152"/>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25" name="Rectangle 153"/>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26" name="Rectangle 154"/>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27" name="Rectangle 155"/>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28" name="Rectangle 156"/>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29" name="Rectangle 157"/>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30" name="Oval 158"/>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531" name="Oval 159"/>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532" name="Rectangle 160"/>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33" name="Rectangle 161"/>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34" name="Arc 162"/>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535" name="Arc 163"/>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536" name="Oval 164"/>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537" name="Oval 165"/>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538" name="Freeform 166"/>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grpSp>
        <p:nvGrpSpPr>
          <p:cNvPr id="18602" name="Group 167"/>
          <p:cNvGrpSpPr>
            <a:grpSpLocks/>
          </p:cNvGrpSpPr>
          <p:nvPr/>
        </p:nvGrpSpPr>
        <p:grpSpPr bwMode="auto">
          <a:xfrm flipH="1">
            <a:off x="5076825" y="1571524"/>
            <a:ext cx="512763" cy="384175"/>
            <a:chOff x="1584" y="816"/>
            <a:chExt cx="912" cy="816"/>
          </a:xfrm>
        </p:grpSpPr>
        <p:sp>
          <p:nvSpPr>
            <p:cNvPr id="18512" name="Freeform 16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13" name="Freeform 16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14" name="Freeform 170"/>
            <p:cNvSpPr>
              <a:spLocks/>
            </p:cNvSpPr>
            <p:nvPr/>
          </p:nvSpPr>
          <p:spPr bwMode="auto">
            <a:xfrm>
              <a:off x="1920" y="8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15" name="Freeform 17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16" name="Freeform 17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17" name="Freeform 17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endParaRPr lang="en-US">
                <a:latin typeface="Arial"/>
                <a:cs typeface="Arial"/>
              </a:endParaRPr>
            </a:p>
          </p:txBody>
        </p:sp>
        <p:sp>
          <p:nvSpPr>
            <p:cNvPr id="18518" name="Freeform 174"/>
            <p:cNvSpPr>
              <a:spLocks/>
            </p:cNvSpPr>
            <p:nvPr/>
          </p:nvSpPr>
          <p:spPr bwMode="auto">
            <a:xfrm>
              <a:off x="1920" y="1296"/>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19" name="Freeform 175"/>
            <p:cNvSpPr>
              <a:spLocks/>
            </p:cNvSpPr>
            <p:nvPr/>
          </p:nvSpPr>
          <p:spPr bwMode="auto">
            <a:xfrm>
              <a:off x="1728" y="11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20" name="Freeform 176"/>
            <p:cNvSpPr>
              <a:spLocks/>
            </p:cNvSpPr>
            <p:nvPr/>
          </p:nvSpPr>
          <p:spPr bwMode="auto">
            <a:xfrm>
              <a:off x="1584" y="10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8603" name="Group 177"/>
          <p:cNvGrpSpPr>
            <a:grpSpLocks/>
          </p:cNvGrpSpPr>
          <p:nvPr/>
        </p:nvGrpSpPr>
        <p:grpSpPr bwMode="auto">
          <a:xfrm>
            <a:off x="3614738" y="2252574"/>
            <a:ext cx="415925" cy="238125"/>
            <a:chOff x="1184" y="1264"/>
            <a:chExt cx="262" cy="150"/>
          </a:xfrm>
        </p:grpSpPr>
        <p:sp>
          <p:nvSpPr>
            <p:cNvPr id="18494" name="Oval 178"/>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95" name="Oval 179"/>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96" name="Oval 180"/>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97" name="Rectangle 181"/>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98" name="Rectangle 182"/>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99" name="Rectangle 183"/>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00" name="Rectangle 184"/>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01" name="Rectangle 185"/>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02" name="Rectangle 186"/>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03" name="Oval 187"/>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504" name="Oval 188"/>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505" name="Rectangle 189"/>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06" name="Rectangle 190"/>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507" name="Arc 191"/>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508" name="Arc 192"/>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509" name="Oval 193"/>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510" name="Oval 194"/>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511" name="Freeform 195"/>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sp>
        <p:nvSpPr>
          <p:cNvPr id="18451" name="Freeform 196"/>
          <p:cNvSpPr>
            <a:spLocks/>
          </p:cNvSpPr>
          <p:nvPr/>
        </p:nvSpPr>
        <p:spPr bwMode="auto">
          <a:xfrm>
            <a:off x="3224217" y="3009801"/>
            <a:ext cx="833437" cy="2068512"/>
          </a:xfrm>
          <a:custGeom>
            <a:avLst/>
            <a:gdLst>
              <a:gd name="T0" fmla="*/ 2147483647 w 525"/>
              <a:gd name="T1" fmla="*/ 2147483647 h 1303"/>
              <a:gd name="T2" fmla="*/ 2147483647 w 525"/>
              <a:gd name="T3" fmla="*/ 2147483647 h 1303"/>
              <a:gd name="T4" fmla="*/ 2147483647 w 525"/>
              <a:gd name="T5" fmla="*/ 2147483647 h 1303"/>
              <a:gd name="T6" fmla="*/ 2147483647 w 525"/>
              <a:gd name="T7" fmla="*/ 2147483647 h 1303"/>
              <a:gd name="T8" fmla="*/ 2147483647 w 525"/>
              <a:gd name="T9" fmla="*/ 0 h 1303"/>
              <a:gd name="T10" fmla="*/ 0 60000 65536"/>
              <a:gd name="T11" fmla="*/ 0 60000 65536"/>
              <a:gd name="T12" fmla="*/ 0 60000 65536"/>
              <a:gd name="T13" fmla="*/ 0 60000 65536"/>
              <a:gd name="T14" fmla="*/ 0 60000 65536"/>
              <a:gd name="T15" fmla="*/ 0 w 525"/>
              <a:gd name="T16" fmla="*/ 0 h 1303"/>
              <a:gd name="T17" fmla="*/ 525 w 525"/>
              <a:gd name="T18" fmla="*/ 1303 h 1303"/>
            </a:gdLst>
            <a:ahLst/>
            <a:cxnLst>
              <a:cxn ang="T10">
                <a:pos x="T0" y="T1"/>
              </a:cxn>
              <a:cxn ang="T11">
                <a:pos x="T2" y="T3"/>
              </a:cxn>
              <a:cxn ang="T12">
                <a:pos x="T4" y="T5"/>
              </a:cxn>
              <a:cxn ang="T13">
                <a:pos x="T6" y="T7"/>
              </a:cxn>
              <a:cxn ang="T14">
                <a:pos x="T8" y="T9"/>
              </a:cxn>
            </a:cxnLst>
            <a:rect l="T15" t="T16" r="T17" b="T18"/>
            <a:pathLst>
              <a:path w="525" h="1303">
                <a:moveTo>
                  <a:pt x="525" y="1303"/>
                </a:moveTo>
                <a:cubicBezTo>
                  <a:pt x="475" y="1259"/>
                  <a:pt x="305" y="1129"/>
                  <a:pt x="227" y="1042"/>
                </a:cubicBezTo>
                <a:cubicBezTo>
                  <a:pt x="149" y="955"/>
                  <a:pt x="84" y="887"/>
                  <a:pt x="54" y="777"/>
                </a:cubicBezTo>
                <a:cubicBezTo>
                  <a:pt x="24" y="667"/>
                  <a:pt x="0" y="513"/>
                  <a:pt x="44" y="384"/>
                </a:cubicBezTo>
                <a:cubicBezTo>
                  <a:pt x="88" y="255"/>
                  <a:pt x="262" y="80"/>
                  <a:pt x="319" y="0"/>
                </a:cubicBezTo>
              </a:path>
            </a:pathLst>
          </a:custGeom>
          <a:noFill/>
          <a:ln w="38100">
            <a:solidFill>
              <a:srgbClr val="0066FF"/>
            </a:solidFill>
            <a:prstDash val="sysDot"/>
            <a:round/>
            <a:headEnd/>
            <a:tailEnd type="triangle" w="med" len="med"/>
          </a:ln>
        </p:spPr>
        <p:txBody>
          <a:bodyPr lIns="91311" tIns="45658" rIns="91311" bIns="45658"/>
          <a:lstStyle/>
          <a:p>
            <a:endParaRPr lang="en-US">
              <a:latin typeface="Arial"/>
              <a:cs typeface="Arial"/>
            </a:endParaRPr>
          </a:p>
        </p:txBody>
      </p:sp>
      <p:sp>
        <p:nvSpPr>
          <p:cNvPr id="18452" name="Freeform 197"/>
          <p:cNvSpPr>
            <a:spLocks/>
          </p:cNvSpPr>
          <p:nvPr/>
        </p:nvSpPr>
        <p:spPr bwMode="auto">
          <a:xfrm>
            <a:off x="4410077" y="1906486"/>
            <a:ext cx="2239963" cy="3149600"/>
          </a:xfrm>
          <a:custGeom>
            <a:avLst/>
            <a:gdLst>
              <a:gd name="T0" fmla="*/ 2147483647 w 1411"/>
              <a:gd name="T1" fmla="*/ 2147483647 h 1984"/>
              <a:gd name="T2" fmla="*/ 2147483647 w 1411"/>
              <a:gd name="T3" fmla="*/ 2147483647 h 1984"/>
              <a:gd name="T4" fmla="*/ 2147483647 w 1411"/>
              <a:gd name="T5" fmla="*/ 2147483647 h 1984"/>
              <a:gd name="T6" fmla="*/ 2147483647 w 1411"/>
              <a:gd name="T7" fmla="*/ 2147483647 h 1984"/>
              <a:gd name="T8" fmla="*/ 2147483647 w 1411"/>
              <a:gd name="T9" fmla="*/ 0 h 1984"/>
              <a:gd name="T10" fmla="*/ 0 60000 65536"/>
              <a:gd name="T11" fmla="*/ 0 60000 65536"/>
              <a:gd name="T12" fmla="*/ 0 60000 65536"/>
              <a:gd name="T13" fmla="*/ 0 60000 65536"/>
              <a:gd name="T14" fmla="*/ 0 60000 65536"/>
              <a:gd name="T15" fmla="*/ 0 w 1411"/>
              <a:gd name="T16" fmla="*/ 0 h 1984"/>
              <a:gd name="T17" fmla="*/ 1411 w 1411"/>
              <a:gd name="T18" fmla="*/ 1984 h 1984"/>
            </a:gdLst>
            <a:ahLst/>
            <a:cxnLst>
              <a:cxn ang="T10">
                <a:pos x="T0" y="T1"/>
              </a:cxn>
              <a:cxn ang="T11">
                <a:pos x="T2" y="T3"/>
              </a:cxn>
              <a:cxn ang="T12">
                <a:pos x="T4" y="T5"/>
              </a:cxn>
              <a:cxn ang="T13">
                <a:pos x="T6" y="T7"/>
              </a:cxn>
              <a:cxn ang="T14">
                <a:pos x="T8" y="T9"/>
              </a:cxn>
            </a:cxnLst>
            <a:rect l="T15" t="T16" r="T17" b="T18"/>
            <a:pathLst>
              <a:path w="1411" h="1984">
                <a:moveTo>
                  <a:pt x="1144" y="1984"/>
                </a:moveTo>
                <a:cubicBezTo>
                  <a:pt x="1277" y="1919"/>
                  <a:pt x="1411" y="1854"/>
                  <a:pt x="1373" y="1700"/>
                </a:cubicBezTo>
                <a:cubicBezTo>
                  <a:pt x="1335" y="1546"/>
                  <a:pt x="1126" y="1288"/>
                  <a:pt x="916" y="1060"/>
                </a:cubicBezTo>
                <a:cubicBezTo>
                  <a:pt x="706" y="832"/>
                  <a:pt x="222" y="506"/>
                  <a:pt x="111" y="329"/>
                </a:cubicBezTo>
                <a:cubicBezTo>
                  <a:pt x="0" y="152"/>
                  <a:pt x="124" y="76"/>
                  <a:pt x="248" y="0"/>
                </a:cubicBezTo>
              </a:path>
            </a:pathLst>
          </a:custGeom>
          <a:noFill/>
          <a:ln w="38100">
            <a:solidFill>
              <a:srgbClr val="0066FF"/>
            </a:solidFill>
            <a:prstDash val="sysDot"/>
            <a:round/>
            <a:headEnd/>
            <a:tailEnd type="triangle" w="med" len="med"/>
          </a:ln>
        </p:spPr>
        <p:txBody>
          <a:bodyPr lIns="91311" tIns="45658" rIns="91311" bIns="45658"/>
          <a:lstStyle/>
          <a:p>
            <a:endParaRPr lang="en-US">
              <a:latin typeface="Arial"/>
              <a:cs typeface="Arial"/>
            </a:endParaRPr>
          </a:p>
        </p:txBody>
      </p:sp>
      <p:grpSp>
        <p:nvGrpSpPr>
          <p:cNvPr id="18604" name="Group 198"/>
          <p:cNvGrpSpPr>
            <a:grpSpLocks/>
          </p:cNvGrpSpPr>
          <p:nvPr/>
        </p:nvGrpSpPr>
        <p:grpSpPr bwMode="auto">
          <a:xfrm>
            <a:off x="5059363" y="3363823"/>
            <a:ext cx="415925" cy="238125"/>
            <a:chOff x="1184" y="1264"/>
            <a:chExt cx="262" cy="150"/>
          </a:xfrm>
        </p:grpSpPr>
        <p:sp>
          <p:nvSpPr>
            <p:cNvPr id="18476" name="Oval 199"/>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77" name="Oval 200"/>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78" name="Oval 201"/>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79" name="Rectangle 202"/>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80" name="Rectangle 203"/>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81" name="Rectangle 204"/>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82" name="Rectangle 205"/>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83" name="Rectangle 206"/>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84" name="Rectangle 207"/>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85" name="Oval 208"/>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486" name="Oval 209"/>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487" name="Rectangle 210"/>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88" name="Rectangle 211"/>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89" name="Arc 212"/>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490" name="Arc 213"/>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491" name="Oval 214"/>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492" name="Oval 215"/>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493" name="Freeform 216"/>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sp>
        <p:nvSpPr>
          <p:cNvPr id="18455" name="Text Box 218"/>
          <p:cNvSpPr txBox="1">
            <a:spLocks noChangeArrowheads="1"/>
          </p:cNvSpPr>
          <p:nvPr/>
        </p:nvSpPr>
        <p:spPr bwMode="auto">
          <a:xfrm>
            <a:off x="6466207" y="1753760"/>
            <a:ext cx="1763572" cy="1815756"/>
          </a:xfrm>
          <a:prstGeom prst="rect">
            <a:avLst/>
          </a:prstGeom>
          <a:noFill/>
          <a:ln w="38100" algn="ctr">
            <a:noFill/>
            <a:miter lim="800000"/>
            <a:headEnd/>
            <a:tailEnd/>
          </a:ln>
        </p:spPr>
        <p:txBody>
          <a:bodyPr wrap="square" lIns="91311" tIns="45658" rIns="91311" bIns="45658">
            <a:spAutoFit/>
          </a:bodyPr>
          <a:lstStyle/>
          <a:p>
            <a:pPr algn="ctr">
              <a:spcBef>
                <a:spcPct val="0"/>
              </a:spcBef>
            </a:pPr>
            <a:r>
              <a:rPr lang="en-US" sz="2800" i="1" dirty="0">
                <a:solidFill>
                  <a:schemeClr val="tx1"/>
                </a:solidFill>
                <a:latin typeface="Arial"/>
                <a:cs typeface="Arial"/>
              </a:rPr>
              <a:t>n</a:t>
            </a:r>
            <a:r>
              <a:rPr lang="en-US" sz="2800" dirty="0">
                <a:latin typeface="Arial"/>
                <a:cs typeface="Arial"/>
              </a:rPr>
              <a:t> requests in </a:t>
            </a:r>
            <a:r>
              <a:rPr lang="en-US" sz="2800" i="1" dirty="0">
                <a:solidFill>
                  <a:schemeClr val="tx1"/>
                </a:solidFill>
                <a:latin typeface="Arial"/>
                <a:cs typeface="Arial"/>
              </a:rPr>
              <a:t>log n</a:t>
            </a:r>
          </a:p>
          <a:p>
            <a:pPr algn="ctr">
              <a:spcBef>
                <a:spcPct val="0"/>
              </a:spcBef>
            </a:pPr>
            <a:r>
              <a:rPr lang="en-US" sz="2800" dirty="0">
                <a:latin typeface="Arial"/>
                <a:cs typeface="Arial"/>
              </a:rPr>
              <a:t>time</a:t>
            </a:r>
          </a:p>
        </p:txBody>
      </p:sp>
      <p:sp>
        <p:nvSpPr>
          <p:cNvPr id="18456" name="Freeform 219"/>
          <p:cNvSpPr>
            <a:spLocks/>
          </p:cNvSpPr>
          <p:nvPr/>
        </p:nvSpPr>
        <p:spPr bwMode="auto">
          <a:xfrm>
            <a:off x="4806952" y="4092477"/>
            <a:ext cx="452438" cy="1131887"/>
          </a:xfrm>
          <a:custGeom>
            <a:avLst/>
            <a:gdLst>
              <a:gd name="T0" fmla="*/ 2147483647 w 285"/>
              <a:gd name="T1" fmla="*/ 2147483647 h 713"/>
              <a:gd name="T2" fmla="*/ 2147483647 w 285"/>
              <a:gd name="T3" fmla="*/ 2147483647 h 713"/>
              <a:gd name="T4" fmla="*/ 2147483647 w 285"/>
              <a:gd name="T5" fmla="*/ 0 h 713"/>
              <a:gd name="T6" fmla="*/ 0 60000 65536"/>
              <a:gd name="T7" fmla="*/ 0 60000 65536"/>
              <a:gd name="T8" fmla="*/ 0 60000 65536"/>
              <a:gd name="T9" fmla="*/ 0 w 285"/>
              <a:gd name="T10" fmla="*/ 0 h 713"/>
              <a:gd name="T11" fmla="*/ 285 w 285"/>
              <a:gd name="T12" fmla="*/ 713 h 713"/>
            </a:gdLst>
            <a:ahLst/>
            <a:cxnLst>
              <a:cxn ang="T6">
                <a:pos x="T0" y="T1"/>
              </a:cxn>
              <a:cxn ang="T7">
                <a:pos x="T2" y="T3"/>
              </a:cxn>
              <a:cxn ang="T8">
                <a:pos x="T4" y="T5"/>
              </a:cxn>
            </a:cxnLst>
            <a:rect l="T9" t="T10" r="T11" b="T12"/>
            <a:pathLst>
              <a:path w="285" h="713">
                <a:moveTo>
                  <a:pt x="285" y="713"/>
                </a:moveTo>
                <a:cubicBezTo>
                  <a:pt x="145" y="608"/>
                  <a:pt x="22" y="485"/>
                  <a:pt x="11" y="366"/>
                </a:cubicBezTo>
                <a:cubicBezTo>
                  <a:pt x="0" y="247"/>
                  <a:pt x="177" y="76"/>
                  <a:pt x="221" y="0"/>
                </a:cubicBezTo>
              </a:path>
            </a:pathLst>
          </a:custGeom>
          <a:noFill/>
          <a:ln w="38100">
            <a:solidFill>
              <a:srgbClr val="0066FF"/>
            </a:solidFill>
            <a:prstDash val="sysDot"/>
            <a:round/>
            <a:headEnd/>
            <a:tailEnd type="triangle" w="med" len="med"/>
          </a:ln>
        </p:spPr>
        <p:txBody>
          <a:bodyPr lIns="91311" tIns="45658" rIns="91311" bIns="45658"/>
          <a:lstStyle/>
          <a:p>
            <a:endParaRPr lang="en-US">
              <a:latin typeface="Arial"/>
              <a:cs typeface="Arial"/>
            </a:endParaRPr>
          </a:p>
        </p:txBody>
      </p:sp>
      <p:grpSp>
        <p:nvGrpSpPr>
          <p:cNvPr id="18605" name="Group 220"/>
          <p:cNvGrpSpPr>
            <a:grpSpLocks/>
          </p:cNvGrpSpPr>
          <p:nvPr/>
        </p:nvGrpSpPr>
        <p:grpSpPr bwMode="auto">
          <a:xfrm>
            <a:off x="7070725" y="4503648"/>
            <a:ext cx="415925" cy="238125"/>
            <a:chOff x="1184" y="1264"/>
            <a:chExt cx="262" cy="150"/>
          </a:xfrm>
        </p:grpSpPr>
        <p:sp>
          <p:nvSpPr>
            <p:cNvPr id="18458" name="Oval 221"/>
            <p:cNvSpPr>
              <a:spLocks noChangeArrowheads="1"/>
            </p:cNvSpPr>
            <p:nvPr/>
          </p:nvSpPr>
          <p:spPr bwMode="auto">
            <a:xfrm>
              <a:off x="1261" y="1365"/>
              <a:ext cx="106" cy="4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59" name="Oval 222"/>
            <p:cNvSpPr>
              <a:spLocks noChangeArrowheads="1"/>
            </p:cNvSpPr>
            <p:nvPr/>
          </p:nvSpPr>
          <p:spPr bwMode="auto">
            <a:xfrm>
              <a:off x="1242" y="1313"/>
              <a:ext cx="167" cy="67"/>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60" name="Oval 223"/>
            <p:cNvSpPr>
              <a:spLocks noChangeArrowheads="1"/>
            </p:cNvSpPr>
            <p:nvPr/>
          </p:nvSpPr>
          <p:spPr bwMode="auto">
            <a:xfrm>
              <a:off x="1221" y="1264"/>
              <a:ext cx="225" cy="65"/>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8461" name="Rectangle 224"/>
            <p:cNvSpPr>
              <a:spLocks noChangeArrowheads="1"/>
            </p:cNvSpPr>
            <p:nvPr/>
          </p:nvSpPr>
          <p:spPr bwMode="auto">
            <a:xfrm>
              <a:off x="1184" y="1337"/>
              <a:ext cx="43"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62" name="Rectangle 225"/>
            <p:cNvSpPr>
              <a:spLocks noChangeArrowheads="1"/>
            </p:cNvSpPr>
            <p:nvPr/>
          </p:nvSpPr>
          <p:spPr bwMode="auto">
            <a:xfrm>
              <a:off x="1223" y="1357"/>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63" name="Rectangle 226"/>
            <p:cNvSpPr>
              <a:spLocks noChangeArrowheads="1"/>
            </p:cNvSpPr>
            <p:nvPr/>
          </p:nvSpPr>
          <p:spPr bwMode="auto">
            <a:xfrm>
              <a:off x="1221" y="1381"/>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64" name="Rectangle 227"/>
            <p:cNvSpPr>
              <a:spLocks noChangeArrowheads="1"/>
            </p:cNvSpPr>
            <p:nvPr/>
          </p:nvSpPr>
          <p:spPr bwMode="auto">
            <a:xfrm>
              <a:off x="1258" y="1404"/>
              <a:ext cx="45"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65" name="Rectangle 228"/>
            <p:cNvSpPr>
              <a:spLocks noChangeArrowheads="1"/>
            </p:cNvSpPr>
            <p:nvPr/>
          </p:nvSpPr>
          <p:spPr bwMode="auto">
            <a:xfrm>
              <a:off x="1220" y="1342"/>
              <a:ext cx="44"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66" name="Rectangle 229"/>
            <p:cNvSpPr>
              <a:spLocks noChangeArrowheads="1"/>
            </p:cNvSpPr>
            <p:nvPr/>
          </p:nvSpPr>
          <p:spPr bwMode="auto">
            <a:xfrm>
              <a:off x="1214" y="1319"/>
              <a:ext cx="45" cy="9"/>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67" name="Oval 230"/>
            <p:cNvSpPr>
              <a:spLocks noChangeArrowheads="1"/>
            </p:cNvSpPr>
            <p:nvPr/>
          </p:nvSpPr>
          <p:spPr bwMode="auto">
            <a:xfrm>
              <a:off x="1280" y="1371"/>
              <a:ext cx="12" cy="4"/>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468" name="Oval 231"/>
            <p:cNvSpPr>
              <a:spLocks noChangeArrowheads="1"/>
            </p:cNvSpPr>
            <p:nvPr/>
          </p:nvSpPr>
          <p:spPr bwMode="auto">
            <a:xfrm>
              <a:off x="1289" y="1366"/>
              <a:ext cx="30" cy="13"/>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469" name="Rectangle 232"/>
            <p:cNvSpPr>
              <a:spLocks noChangeArrowheads="1"/>
            </p:cNvSpPr>
            <p:nvPr/>
          </p:nvSpPr>
          <p:spPr bwMode="auto">
            <a:xfrm>
              <a:off x="1208" y="1304"/>
              <a:ext cx="43" cy="11"/>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70" name="Rectangle 233"/>
            <p:cNvSpPr>
              <a:spLocks noChangeArrowheads="1"/>
            </p:cNvSpPr>
            <p:nvPr/>
          </p:nvSpPr>
          <p:spPr bwMode="auto">
            <a:xfrm>
              <a:off x="1206" y="1282"/>
              <a:ext cx="44" cy="1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8471" name="Arc 234"/>
            <p:cNvSpPr>
              <a:spLocks/>
            </p:cNvSpPr>
            <p:nvPr/>
          </p:nvSpPr>
          <p:spPr bwMode="auto">
            <a:xfrm>
              <a:off x="1189" y="1319"/>
              <a:ext cx="36" cy="28"/>
            </a:xfrm>
            <a:custGeom>
              <a:avLst/>
              <a:gdLst>
                <a:gd name="T0" fmla="*/ 0 w 21600"/>
                <a:gd name="T1" fmla="*/ 0 h 22385"/>
                <a:gd name="T2" fmla="*/ 0 w 21600"/>
                <a:gd name="T3" fmla="*/ 0 h 22385"/>
                <a:gd name="T4" fmla="*/ 0 w 21600"/>
                <a:gd name="T5" fmla="*/ 0 h 22385"/>
                <a:gd name="T6" fmla="*/ 0 60000 65536"/>
                <a:gd name="T7" fmla="*/ 0 60000 65536"/>
                <a:gd name="T8" fmla="*/ 0 60000 65536"/>
                <a:gd name="T9" fmla="*/ 0 w 21600"/>
                <a:gd name="T10" fmla="*/ 0 h 22385"/>
                <a:gd name="T11" fmla="*/ 21600 w 21600"/>
                <a:gd name="T12" fmla="*/ 22385 h 22385"/>
              </a:gdLst>
              <a:ahLst/>
              <a:cxnLst>
                <a:cxn ang="T6">
                  <a:pos x="T0" y="T1"/>
                </a:cxn>
                <a:cxn ang="T7">
                  <a:pos x="T2" y="T3"/>
                </a:cxn>
                <a:cxn ang="T8">
                  <a:pos x="T4" y="T5"/>
                </a:cxn>
              </a:cxnLst>
              <a:rect l="T9" t="T10" r="T11" b="T12"/>
              <a:pathLst>
                <a:path w="21600" h="22385" fill="none" extrusionOk="0">
                  <a:moveTo>
                    <a:pt x="21600" y="22385"/>
                  </a:moveTo>
                  <a:cubicBezTo>
                    <a:pt x="9670" y="22385"/>
                    <a:pt x="0" y="12714"/>
                    <a:pt x="0" y="785"/>
                  </a:cubicBezTo>
                  <a:cubicBezTo>
                    <a:pt x="-1" y="523"/>
                    <a:pt x="4" y="261"/>
                    <a:pt x="14" y="0"/>
                  </a:cubicBezTo>
                </a:path>
                <a:path w="21600" h="22385" stroke="0" extrusionOk="0">
                  <a:moveTo>
                    <a:pt x="21600" y="22385"/>
                  </a:moveTo>
                  <a:cubicBezTo>
                    <a:pt x="9670" y="22385"/>
                    <a:pt x="0" y="12714"/>
                    <a:pt x="0" y="785"/>
                  </a:cubicBezTo>
                  <a:cubicBezTo>
                    <a:pt x="-1" y="523"/>
                    <a:pt x="4" y="261"/>
                    <a:pt x="14" y="0"/>
                  </a:cubicBezTo>
                  <a:lnTo>
                    <a:pt x="21600" y="785"/>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472" name="Arc 235"/>
            <p:cNvSpPr>
              <a:spLocks/>
            </p:cNvSpPr>
            <p:nvPr/>
          </p:nvSpPr>
          <p:spPr bwMode="auto">
            <a:xfrm>
              <a:off x="1189" y="1267"/>
              <a:ext cx="139" cy="55"/>
            </a:xfrm>
            <a:custGeom>
              <a:avLst/>
              <a:gdLst>
                <a:gd name="T0" fmla="*/ 0 w 21596"/>
                <a:gd name="T1" fmla="*/ 0 h 21599"/>
                <a:gd name="T2" fmla="*/ 0 w 21596"/>
                <a:gd name="T3" fmla="*/ 0 h 21599"/>
                <a:gd name="T4" fmla="*/ 0 w 21596"/>
                <a:gd name="T5" fmla="*/ 0 h 21599"/>
                <a:gd name="T6" fmla="*/ 0 60000 65536"/>
                <a:gd name="T7" fmla="*/ 0 60000 65536"/>
                <a:gd name="T8" fmla="*/ 0 60000 65536"/>
                <a:gd name="T9" fmla="*/ 0 w 21596"/>
                <a:gd name="T10" fmla="*/ 0 h 21599"/>
                <a:gd name="T11" fmla="*/ 21596 w 21596"/>
                <a:gd name="T12" fmla="*/ 21599 h 21599"/>
              </a:gdLst>
              <a:ahLst/>
              <a:cxnLst>
                <a:cxn ang="T6">
                  <a:pos x="T0" y="T1"/>
                </a:cxn>
                <a:cxn ang="T7">
                  <a:pos x="T2" y="T3"/>
                </a:cxn>
                <a:cxn ang="T8">
                  <a:pos x="T4" y="T5"/>
                </a:cxn>
              </a:cxnLst>
              <a:rect l="T9" t="T10" r="T11" b="T12"/>
              <a:pathLst>
                <a:path w="21596" h="21599" fill="none" extrusionOk="0">
                  <a:moveTo>
                    <a:pt x="-1" y="21209"/>
                  </a:moveTo>
                  <a:cubicBezTo>
                    <a:pt x="210" y="9494"/>
                    <a:pt x="9724" y="83"/>
                    <a:pt x="21441" y="-1"/>
                  </a:cubicBezTo>
                </a:path>
                <a:path w="21596" h="21599" stroke="0" extrusionOk="0">
                  <a:moveTo>
                    <a:pt x="-1" y="21209"/>
                  </a:moveTo>
                  <a:cubicBezTo>
                    <a:pt x="210" y="9494"/>
                    <a:pt x="9724" y="83"/>
                    <a:pt x="21441" y="-1"/>
                  </a:cubicBezTo>
                  <a:lnTo>
                    <a:pt x="21596" y="21599"/>
                  </a:lnTo>
                  <a:close/>
                </a:path>
              </a:pathLst>
            </a:custGeom>
            <a:noFill/>
            <a:ln w="25400" cap="rnd">
              <a:solidFill>
                <a:schemeClr val="tx2"/>
              </a:solidFill>
              <a:round/>
              <a:headEnd/>
              <a:tailEnd/>
            </a:ln>
          </p:spPr>
          <p:txBody>
            <a:bodyPr wrap="none" anchor="ctr"/>
            <a:lstStyle/>
            <a:p>
              <a:endParaRPr lang="en-US">
                <a:latin typeface="Arial"/>
                <a:cs typeface="Arial"/>
              </a:endParaRPr>
            </a:p>
          </p:txBody>
        </p:sp>
        <p:sp>
          <p:nvSpPr>
            <p:cNvPr id="18473" name="Oval 236"/>
            <p:cNvSpPr>
              <a:spLocks noChangeArrowheads="1"/>
            </p:cNvSpPr>
            <p:nvPr/>
          </p:nvSpPr>
          <p:spPr bwMode="auto">
            <a:xfrm>
              <a:off x="1271" y="1320"/>
              <a:ext cx="8" cy="5"/>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8474" name="Oval 237"/>
            <p:cNvSpPr>
              <a:spLocks noChangeArrowheads="1"/>
            </p:cNvSpPr>
            <p:nvPr/>
          </p:nvSpPr>
          <p:spPr bwMode="auto">
            <a:xfrm>
              <a:off x="1281" y="1316"/>
              <a:ext cx="2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8475" name="Freeform 238"/>
            <p:cNvSpPr>
              <a:spLocks/>
            </p:cNvSpPr>
            <p:nvPr/>
          </p:nvSpPr>
          <p:spPr bwMode="auto">
            <a:xfrm>
              <a:off x="1206" y="1341"/>
              <a:ext cx="50" cy="21"/>
            </a:xfrm>
            <a:custGeom>
              <a:avLst/>
              <a:gdLst>
                <a:gd name="T0" fmla="*/ 3 w 50"/>
                <a:gd name="T1" fmla="*/ 0 h 21"/>
                <a:gd name="T2" fmla="*/ 49 w 50"/>
                <a:gd name="T3" fmla="*/ 11 h 21"/>
                <a:gd name="T4" fmla="*/ 0 w 50"/>
                <a:gd name="T5" fmla="*/ 20 h 21"/>
                <a:gd name="T6" fmla="*/ 3 w 50"/>
                <a:gd name="T7" fmla="*/ 0 h 21"/>
                <a:gd name="T8" fmla="*/ 0 60000 65536"/>
                <a:gd name="T9" fmla="*/ 0 60000 65536"/>
                <a:gd name="T10" fmla="*/ 0 60000 65536"/>
                <a:gd name="T11" fmla="*/ 0 60000 65536"/>
                <a:gd name="T12" fmla="*/ 0 w 50"/>
                <a:gd name="T13" fmla="*/ 0 h 21"/>
                <a:gd name="T14" fmla="*/ 50 w 50"/>
                <a:gd name="T15" fmla="*/ 21 h 21"/>
              </a:gdLst>
              <a:ahLst/>
              <a:cxnLst>
                <a:cxn ang="T8">
                  <a:pos x="T0" y="T1"/>
                </a:cxn>
                <a:cxn ang="T9">
                  <a:pos x="T2" y="T3"/>
                </a:cxn>
                <a:cxn ang="T10">
                  <a:pos x="T4" y="T5"/>
                </a:cxn>
                <a:cxn ang="T11">
                  <a:pos x="T6" y="T7"/>
                </a:cxn>
              </a:cxnLst>
              <a:rect l="T12" t="T13" r="T14" b="T15"/>
              <a:pathLst>
                <a:path w="50" h="21">
                  <a:moveTo>
                    <a:pt x="3" y="0"/>
                  </a:moveTo>
                  <a:lnTo>
                    <a:pt x="49" y="11"/>
                  </a:lnTo>
                  <a:lnTo>
                    <a:pt x="0" y="20"/>
                  </a:lnTo>
                  <a:lnTo>
                    <a:pt x="3"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sp>
        <p:nvSpPr>
          <p:cNvPr id="240" name="Text Box 11"/>
          <p:cNvSpPr txBox="1">
            <a:spLocks noChangeArrowheads="1"/>
          </p:cNvSpPr>
          <p:nvPr/>
        </p:nvSpPr>
        <p:spPr bwMode="auto">
          <a:xfrm>
            <a:off x="3004381" y="1165841"/>
            <a:ext cx="1049526" cy="430762"/>
          </a:xfrm>
          <a:prstGeom prst="rect">
            <a:avLst/>
          </a:prstGeom>
          <a:noFill/>
          <a:ln w="9525">
            <a:noFill/>
            <a:miter lim="800000"/>
            <a:headEnd/>
            <a:tailEnd/>
          </a:ln>
        </p:spPr>
        <p:txBody>
          <a:bodyPr wrap="none" lIns="91311" tIns="45658" rIns="91311" bIns="45658">
            <a:spAutoFit/>
          </a:bodyPr>
          <a:lstStyle/>
          <a:p>
            <a:r>
              <a:rPr lang="en-US" sz="2200" dirty="0">
                <a:latin typeface="Arial"/>
                <a:cs typeface="Arial"/>
              </a:rPr>
              <a:t>object</a:t>
            </a:r>
          </a:p>
        </p:txBody>
      </p:sp>
      <p:grpSp>
        <p:nvGrpSpPr>
          <p:cNvPr id="241" name="Group 67"/>
          <p:cNvGrpSpPr>
            <a:grpSpLocks/>
          </p:cNvGrpSpPr>
          <p:nvPr/>
        </p:nvGrpSpPr>
        <p:grpSpPr bwMode="auto">
          <a:xfrm>
            <a:off x="2220575" y="3844139"/>
            <a:ext cx="292613" cy="477500"/>
            <a:chOff x="2571" y="1098"/>
            <a:chExt cx="412" cy="328"/>
          </a:xfrm>
        </p:grpSpPr>
        <p:sp>
          <p:nvSpPr>
            <p:cNvPr id="242" name="Freeform 68"/>
            <p:cNvSpPr>
              <a:spLocks/>
            </p:cNvSpPr>
            <p:nvPr/>
          </p:nvSpPr>
          <p:spPr bwMode="auto">
            <a:xfrm>
              <a:off x="2571" y="1098"/>
              <a:ext cx="188" cy="321"/>
            </a:xfrm>
            <a:custGeom>
              <a:avLst/>
              <a:gdLst>
                <a:gd name="T0" fmla="*/ 15547 w 141"/>
                <a:gd name="T1" fmla="*/ 4 h 428"/>
                <a:gd name="T2" fmla="*/ 15035 w 141"/>
                <a:gd name="T3" fmla="*/ 4 h 428"/>
                <a:gd name="T4" fmla="*/ 12857 w 141"/>
                <a:gd name="T5" fmla="*/ 4 h 428"/>
                <a:gd name="T6" fmla="*/ 10817 w 141"/>
                <a:gd name="T7" fmla="*/ 3 h 428"/>
                <a:gd name="T8" fmla="*/ 9257 w 141"/>
                <a:gd name="T9" fmla="*/ 3 h 428"/>
                <a:gd name="T10" fmla="*/ 7681 w 141"/>
                <a:gd name="T11" fmla="*/ 3 h 428"/>
                <a:gd name="T12" fmla="*/ 6271 w 141"/>
                <a:gd name="T13" fmla="*/ 3 h 428"/>
                <a:gd name="T14" fmla="*/ 4703 w 141"/>
                <a:gd name="T15" fmla="*/ 3 h 428"/>
                <a:gd name="T16" fmla="*/ 3051 w 141"/>
                <a:gd name="T17" fmla="*/ 3 h 428"/>
                <a:gd name="T18" fmla="*/ 2069 w 141"/>
                <a:gd name="T19" fmla="*/ 3 h 428"/>
                <a:gd name="T20" fmla="*/ 1552 w 141"/>
                <a:gd name="T21" fmla="*/ 2 h 428"/>
                <a:gd name="T22" fmla="*/ 491 w 141"/>
                <a:gd name="T23" fmla="*/ 2 h 428"/>
                <a:gd name="T24" fmla="*/ 0 w 141"/>
                <a:gd name="T25" fmla="*/ 2 h 428"/>
                <a:gd name="T26" fmla="*/ 491 w 141"/>
                <a:gd name="T27" fmla="*/ 2 h 428"/>
                <a:gd name="T28" fmla="*/ 1129 w 141"/>
                <a:gd name="T29" fmla="*/ 2 h 428"/>
                <a:gd name="T30" fmla="*/ 2069 w 141"/>
                <a:gd name="T31" fmla="*/ 2 h 428"/>
                <a:gd name="T32" fmla="*/ 2491 w 141"/>
                <a:gd name="T33" fmla="*/ 2 h 428"/>
                <a:gd name="T34" fmla="*/ 3051 w 141"/>
                <a:gd name="T35" fmla="*/ 2 h 428"/>
                <a:gd name="T36" fmla="*/ 3568 w 141"/>
                <a:gd name="T37" fmla="*/ 2 h 428"/>
                <a:gd name="T38" fmla="*/ 4703 w 141"/>
                <a:gd name="T39" fmla="*/ 2 h 428"/>
                <a:gd name="T40" fmla="*/ 5185 w 141"/>
                <a:gd name="T41" fmla="*/ 2 h 428"/>
                <a:gd name="T42" fmla="*/ 5687 w 141"/>
                <a:gd name="T43" fmla="*/ 2 h 428"/>
                <a:gd name="T44" fmla="*/ 6271 w 141"/>
                <a:gd name="T45" fmla="*/ 2 h 428"/>
                <a:gd name="T46" fmla="*/ 6805 w 141"/>
                <a:gd name="T47" fmla="*/ 2 h 428"/>
                <a:gd name="T48" fmla="*/ 7681 w 141"/>
                <a:gd name="T49" fmla="*/ 2 h 428"/>
                <a:gd name="T50" fmla="*/ 8308 w 141"/>
                <a:gd name="T51" fmla="*/ 0 h 428"/>
                <a:gd name="T52" fmla="*/ 8745 w 141"/>
                <a:gd name="T53" fmla="*/ 2 h 428"/>
                <a:gd name="T54" fmla="*/ 8745 w 141"/>
                <a:gd name="T55" fmla="*/ 2 h 428"/>
                <a:gd name="T56" fmla="*/ 8745 w 141"/>
                <a:gd name="T57" fmla="*/ 2 h 428"/>
                <a:gd name="T58" fmla="*/ 9257 w 141"/>
                <a:gd name="T59" fmla="*/ 2 h 428"/>
                <a:gd name="T60" fmla="*/ 10389 w 141"/>
                <a:gd name="T61" fmla="*/ 2 h 428"/>
                <a:gd name="T62" fmla="*/ 11456 w 141"/>
                <a:gd name="T63" fmla="*/ 2 h 428"/>
                <a:gd name="T64" fmla="*/ 12857 w 141"/>
                <a:gd name="T65" fmla="*/ 2 h 428"/>
                <a:gd name="T66" fmla="*/ 14423 w 141"/>
                <a:gd name="T67" fmla="*/ 2 h 428"/>
                <a:gd name="T68" fmla="*/ 15547 w 141"/>
                <a:gd name="T69" fmla="*/ 2 h 428"/>
                <a:gd name="T70" fmla="*/ 16457 w 141"/>
                <a:gd name="T71" fmla="*/ 2 h 428"/>
                <a:gd name="T72" fmla="*/ 17535 w 141"/>
                <a:gd name="T73" fmla="*/ 2 h 428"/>
                <a:gd name="T74" fmla="*/ 18017 w 141"/>
                <a:gd name="T75" fmla="*/ 2 h 428"/>
                <a:gd name="T76" fmla="*/ 18660 w 141"/>
                <a:gd name="T77" fmla="*/ 2 h 428"/>
                <a:gd name="T78" fmla="*/ 18660 w 141"/>
                <a:gd name="T79" fmla="*/ 2 h 428"/>
                <a:gd name="T80" fmla="*/ 18660 w 141"/>
                <a:gd name="T81" fmla="*/ 2 h 428"/>
                <a:gd name="T82" fmla="*/ 18660 w 141"/>
                <a:gd name="T83" fmla="*/ 2 h 428"/>
                <a:gd name="T84" fmla="*/ 18660 w 141"/>
                <a:gd name="T85" fmla="*/ 3 h 428"/>
                <a:gd name="T86" fmla="*/ 18017 w 141"/>
                <a:gd name="T87" fmla="*/ 3 h 428"/>
                <a:gd name="T88" fmla="*/ 18017 w 141"/>
                <a:gd name="T89" fmla="*/ 3 h 428"/>
                <a:gd name="T90" fmla="*/ 18017 w 141"/>
                <a:gd name="T91" fmla="*/ 3 h 428"/>
                <a:gd name="T92" fmla="*/ 17535 w 141"/>
                <a:gd name="T93" fmla="*/ 3 h 428"/>
                <a:gd name="T94" fmla="*/ 17055 w 141"/>
                <a:gd name="T95" fmla="*/ 3 h 428"/>
                <a:gd name="T96" fmla="*/ 17055 w 141"/>
                <a:gd name="T97" fmla="*/ 4 h 428"/>
                <a:gd name="T98" fmla="*/ 16457 w 141"/>
                <a:gd name="T99" fmla="*/ 4 h 428"/>
                <a:gd name="T100" fmla="*/ 15547 w 141"/>
                <a:gd name="T101" fmla="*/ 4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a:cs typeface="Arial"/>
              </a:endParaRPr>
            </a:p>
          </p:txBody>
        </p:sp>
        <p:sp>
          <p:nvSpPr>
            <p:cNvPr id="243" name="Freeform 69"/>
            <p:cNvSpPr>
              <a:spLocks/>
            </p:cNvSpPr>
            <p:nvPr/>
          </p:nvSpPr>
          <p:spPr bwMode="auto">
            <a:xfrm>
              <a:off x="2712" y="1207"/>
              <a:ext cx="194" cy="219"/>
            </a:xfrm>
            <a:custGeom>
              <a:avLst/>
              <a:gdLst>
                <a:gd name="T0" fmla="*/ 3424 w 145"/>
                <a:gd name="T1" fmla="*/ 2 h 292"/>
                <a:gd name="T2" fmla="*/ 3954 w 145"/>
                <a:gd name="T3" fmla="*/ 2 h 292"/>
                <a:gd name="T4" fmla="*/ 6251 w 145"/>
                <a:gd name="T5" fmla="*/ 2 h 292"/>
                <a:gd name="T6" fmla="*/ 8424 w 145"/>
                <a:gd name="T7" fmla="*/ 2 h 292"/>
                <a:gd name="T8" fmla="*/ 10051 w 145"/>
                <a:gd name="T9" fmla="*/ 2 h 292"/>
                <a:gd name="T10" fmla="*/ 11859 w 145"/>
                <a:gd name="T11" fmla="*/ 2 h 292"/>
                <a:gd name="T12" fmla="*/ 13448 w 145"/>
                <a:gd name="T13" fmla="*/ 2 h 292"/>
                <a:gd name="T14" fmla="*/ 15194 w 145"/>
                <a:gd name="T15" fmla="*/ 2 h 292"/>
                <a:gd name="T16" fmla="*/ 16952 w 145"/>
                <a:gd name="T17" fmla="*/ 2 h 292"/>
                <a:gd name="T18" fmla="*/ 17992 w 145"/>
                <a:gd name="T19" fmla="*/ 2 h 292"/>
                <a:gd name="T20" fmla="*/ 18660 w 145"/>
                <a:gd name="T21" fmla="*/ 2 h 292"/>
                <a:gd name="T22" fmla="*/ 19668 w 145"/>
                <a:gd name="T23" fmla="*/ 2 h 292"/>
                <a:gd name="T24" fmla="*/ 20329 w 145"/>
                <a:gd name="T25" fmla="*/ 2 h 292"/>
                <a:gd name="T26" fmla="*/ 19668 w 145"/>
                <a:gd name="T27" fmla="*/ 2 h 292"/>
                <a:gd name="T28" fmla="*/ 19193 w 145"/>
                <a:gd name="T29" fmla="*/ 2 h 292"/>
                <a:gd name="T30" fmla="*/ 17992 w 145"/>
                <a:gd name="T31" fmla="*/ 2 h 292"/>
                <a:gd name="T32" fmla="*/ 17468 w 145"/>
                <a:gd name="T33" fmla="*/ 2 h 292"/>
                <a:gd name="T34" fmla="*/ 16952 w 145"/>
                <a:gd name="T35" fmla="*/ 2 h 292"/>
                <a:gd name="T36" fmla="*/ 16313 w 145"/>
                <a:gd name="T37" fmla="*/ 2 h 292"/>
                <a:gd name="T38" fmla="*/ 15194 w 145"/>
                <a:gd name="T39" fmla="*/ 2 h 292"/>
                <a:gd name="T40" fmla="*/ 14678 w 145"/>
                <a:gd name="T41" fmla="*/ 2 h 292"/>
                <a:gd name="T42" fmla="*/ 14099 w 145"/>
                <a:gd name="T43" fmla="*/ 2 h 292"/>
                <a:gd name="T44" fmla="*/ 13448 w 145"/>
                <a:gd name="T45" fmla="*/ 2 h 292"/>
                <a:gd name="T46" fmla="*/ 13038 w 145"/>
                <a:gd name="T47" fmla="*/ 2 h 292"/>
                <a:gd name="T48" fmla="*/ 11859 w 145"/>
                <a:gd name="T49" fmla="*/ 2 h 292"/>
                <a:gd name="T50" fmla="*/ 11271 w 145"/>
                <a:gd name="T51" fmla="*/ 0 h 292"/>
                <a:gd name="T52" fmla="*/ 10722 w 145"/>
                <a:gd name="T53" fmla="*/ 2 h 292"/>
                <a:gd name="T54" fmla="*/ 10722 w 145"/>
                <a:gd name="T55" fmla="*/ 2 h 292"/>
                <a:gd name="T56" fmla="*/ 10722 w 145"/>
                <a:gd name="T57" fmla="*/ 2 h 292"/>
                <a:gd name="T58" fmla="*/ 10051 w 145"/>
                <a:gd name="T59" fmla="*/ 2 h 292"/>
                <a:gd name="T60" fmla="*/ 9081 w 145"/>
                <a:gd name="T61" fmla="*/ 2 h 292"/>
                <a:gd name="T62" fmla="*/ 7876 w 145"/>
                <a:gd name="T63" fmla="*/ 2 h 292"/>
                <a:gd name="T64" fmla="*/ 6251 w 145"/>
                <a:gd name="T65" fmla="*/ 2 h 292"/>
                <a:gd name="T66" fmla="*/ 4581 w 145"/>
                <a:gd name="T67" fmla="*/ 2 h 292"/>
                <a:gd name="T68" fmla="*/ 3424 w 145"/>
                <a:gd name="T69" fmla="*/ 2 h 292"/>
                <a:gd name="T70" fmla="*/ 2209 w 145"/>
                <a:gd name="T71" fmla="*/ 2 h 292"/>
                <a:gd name="T72" fmla="*/ 1183 w 145"/>
                <a:gd name="T73" fmla="*/ 2 h 292"/>
                <a:gd name="T74" fmla="*/ 515 w 145"/>
                <a:gd name="T75" fmla="*/ 2 h 292"/>
                <a:gd name="T76" fmla="*/ 0 w 145"/>
                <a:gd name="T77" fmla="*/ 2 h 292"/>
                <a:gd name="T78" fmla="*/ 0 w 145"/>
                <a:gd name="T79" fmla="*/ 2 h 292"/>
                <a:gd name="T80" fmla="*/ 0 w 145"/>
                <a:gd name="T81" fmla="*/ 2 h 292"/>
                <a:gd name="T82" fmla="*/ 0 w 145"/>
                <a:gd name="T83" fmla="*/ 2 h 292"/>
                <a:gd name="T84" fmla="*/ 0 w 145"/>
                <a:gd name="T85" fmla="*/ 2 h 292"/>
                <a:gd name="T86" fmla="*/ 515 w 145"/>
                <a:gd name="T87" fmla="*/ 2 h 292"/>
                <a:gd name="T88" fmla="*/ 515 w 145"/>
                <a:gd name="T89" fmla="*/ 2 h 292"/>
                <a:gd name="T90" fmla="*/ 515 w 145"/>
                <a:gd name="T91" fmla="*/ 2 h 292"/>
                <a:gd name="T92" fmla="*/ 1183 w 145"/>
                <a:gd name="T93" fmla="*/ 2 h 292"/>
                <a:gd name="T94" fmla="*/ 1651 w 145"/>
                <a:gd name="T95" fmla="*/ 2 h 292"/>
                <a:gd name="T96" fmla="*/ 1651 w 145"/>
                <a:gd name="T97" fmla="*/ 2 h 292"/>
                <a:gd name="T98" fmla="*/ 2209 w 145"/>
                <a:gd name="T99" fmla="*/ 2 h 292"/>
                <a:gd name="T100" fmla="*/ 3424 w 145"/>
                <a:gd name="T101" fmla="*/ 2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44" name="Freeform 70"/>
            <p:cNvSpPr>
              <a:spLocks/>
            </p:cNvSpPr>
            <p:nvPr/>
          </p:nvSpPr>
          <p:spPr bwMode="auto">
            <a:xfrm>
              <a:off x="2626" y="1127"/>
              <a:ext cx="309" cy="234"/>
            </a:xfrm>
            <a:custGeom>
              <a:avLst/>
              <a:gdLst>
                <a:gd name="T0" fmla="*/ 12209 w 232"/>
                <a:gd name="T1" fmla="*/ 2 h 313"/>
                <a:gd name="T2" fmla="*/ 12839 w 232"/>
                <a:gd name="T3" fmla="*/ 2 h 313"/>
                <a:gd name="T4" fmla="*/ 15303 w 232"/>
                <a:gd name="T5" fmla="*/ 2 h 313"/>
                <a:gd name="T6" fmla="*/ 17676 w 232"/>
                <a:gd name="T7" fmla="*/ 1 h 313"/>
                <a:gd name="T8" fmla="*/ 19472 w 232"/>
                <a:gd name="T9" fmla="*/ 1 h 313"/>
                <a:gd name="T10" fmla="*/ 21220 w 232"/>
                <a:gd name="T11" fmla="*/ 1 h 313"/>
                <a:gd name="T12" fmla="*/ 23123 w 232"/>
                <a:gd name="T13" fmla="*/ 1 h 313"/>
                <a:gd name="T14" fmla="*/ 24804 w 232"/>
                <a:gd name="T15" fmla="*/ 1 h 313"/>
                <a:gd name="T16" fmla="*/ 26503 w 232"/>
                <a:gd name="T17" fmla="*/ 1 h 313"/>
                <a:gd name="T18" fmla="*/ 27783 w 232"/>
                <a:gd name="T19" fmla="*/ 1 h 313"/>
                <a:gd name="T20" fmla="*/ 28425 w 232"/>
                <a:gd name="T21" fmla="*/ 1 h 313"/>
                <a:gd name="T22" fmla="*/ 29521 w 232"/>
                <a:gd name="T23" fmla="*/ 1 h 313"/>
                <a:gd name="T24" fmla="*/ 30170 w 232"/>
                <a:gd name="T25" fmla="*/ 1 h 313"/>
                <a:gd name="T26" fmla="*/ 29521 w 232"/>
                <a:gd name="T27" fmla="*/ 1 h 313"/>
                <a:gd name="T28" fmla="*/ 28846 w 232"/>
                <a:gd name="T29" fmla="*/ 1 h 313"/>
                <a:gd name="T30" fmla="*/ 27783 w 232"/>
                <a:gd name="T31" fmla="*/ 1 h 313"/>
                <a:gd name="T32" fmla="*/ 27147 w 232"/>
                <a:gd name="T33" fmla="*/ 1 h 313"/>
                <a:gd name="T34" fmla="*/ 26503 w 232"/>
                <a:gd name="T35" fmla="*/ 1 h 313"/>
                <a:gd name="T36" fmla="*/ 26025 w 232"/>
                <a:gd name="T37" fmla="*/ 1 h 313"/>
                <a:gd name="T38" fmla="*/ 24804 w 232"/>
                <a:gd name="T39" fmla="*/ 1 h 313"/>
                <a:gd name="T40" fmla="*/ 24149 w 232"/>
                <a:gd name="T41" fmla="*/ 1 h 313"/>
                <a:gd name="T42" fmla="*/ 23543 w 232"/>
                <a:gd name="T43" fmla="*/ 1 h 313"/>
                <a:gd name="T44" fmla="*/ 23662 w 232"/>
                <a:gd name="T45" fmla="*/ 1 h 313"/>
                <a:gd name="T46" fmla="*/ 22465 w 232"/>
                <a:gd name="T47" fmla="*/ 1 h 313"/>
                <a:gd name="T48" fmla="*/ 21220 w 232"/>
                <a:gd name="T49" fmla="*/ 1 h 313"/>
                <a:gd name="T50" fmla="*/ 20638 w 232"/>
                <a:gd name="T51" fmla="*/ 0 h 313"/>
                <a:gd name="T52" fmla="*/ 20113 w 232"/>
                <a:gd name="T53" fmla="*/ 1 h 313"/>
                <a:gd name="T54" fmla="*/ 20113 w 232"/>
                <a:gd name="T55" fmla="*/ 1 h 313"/>
                <a:gd name="T56" fmla="*/ 20113 w 232"/>
                <a:gd name="T57" fmla="*/ 1 h 313"/>
                <a:gd name="T58" fmla="*/ 19472 w 232"/>
                <a:gd name="T59" fmla="*/ 1 h 313"/>
                <a:gd name="T60" fmla="*/ 18131 w 232"/>
                <a:gd name="T61" fmla="*/ 1 h 313"/>
                <a:gd name="T62" fmla="*/ 17100 w 232"/>
                <a:gd name="T63" fmla="*/ 1 h 313"/>
                <a:gd name="T64" fmla="*/ 15303 w 232"/>
                <a:gd name="T65" fmla="*/ 1 h 313"/>
                <a:gd name="T66" fmla="*/ 13375 w 232"/>
                <a:gd name="T67" fmla="*/ 1 h 313"/>
                <a:gd name="T68" fmla="*/ 12209 w 232"/>
                <a:gd name="T69" fmla="*/ 1 h 313"/>
                <a:gd name="T70" fmla="*/ 11124 w 232"/>
                <a:gd name="T71" fmla="*/ 1 h 313"/>
                <a:gd name="T72" fmla="*/ 9964 w 232"/>
                <a:gd name="T73" fmla="*/ 1 h 313"/>
                <a:gd name="T74" fmla="*/ 9369 w 232"/>
                <a:gd name="T75" fmla="*/ 1 h 313"/>
                <a:gd name="T76" fmla="*/ 8735 w 232"/>
                <a:gd name="T77" fmla="*/ 1 h 313"/>
                <a:gd name="T78" fmla="*/ 8735 w 232"/>
                <a:gd name="T79" fmla="*/ 1 h 313"/>
                <a:gd name="T80" fmla="*/ 8735 w 232"/>
                <a:gd name="T81" fmla="*/ 1 h 313"/>
                <a:gd name="T82" fmla="*/ 8735 w 232"/>
                <a:gd name="T83" fmla="*/ 1 h 313"/>
                <a:gd name="T84" fmla="*/ 8735 w 232"/>
                <a:gd name="T85" fmla="*/ 1 h 313"/>
                <a:gd name="T86" fmla="*/ 9369 w 232"/>
                <a:gd name="T87" fmla="*/ 1 h 313"/>
                <a:gd name="T88" fmla="*/ 9369 w 232"/>
                <a:gd name="T89" fmla="*/ 1 h 313"/>
                <a:gd name="T90" fmla="*/ 9369 w 232"/>
                <a:gd name="T91" fmla="*/ 1 h 313"/>
                <a:gd name="T92" fmla="*/ 9964 w 232"/>
                <a:gd name="T93" fmla="*/ 1 h 313"/>
                <a:gd name="T94" fmla="*/ 10498 w 232"/>
                <a:gd name="T95" fmla="*/ 1 h 313"/>
                <a:gd name="T96" fmla="*/ 10498 w 232"/>
                <a:gd name="T97" fmla="*/ 1 h 313"/>
                <a:gd name="T98" fmla="*/ 11124 w 232"/>
                <a:gd name="T99" fmla="*/ 2 h 313"/>
                <a:gd name="T100" fmla="*/ 12209 w 232"/>
                <a:gd name="T101" fmla="*/ 2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45" name="Freeform 71"/>
            <p:cNvSpPr>
              <a:spLocks/>
            </p:cNvSpPr>
            <p:nvPr/>
          </p:nvSpPr>
          <p:spPr bwMode="auto">
            <a:xfrm>
              <a:off x="2731" y="1198"/>
              <a:ext cx="252" cy="218"/>
            </a:xfrm>
            <a:custGeom>
              <a:avLst/>
              <a:gdLst>
                <a:gd name="T0" fmla="*/ 4068 w 189"/>
                <a:gd name="T1" fmla="*/ 2 h 291"/>
                <a:gd name="T2" fmla="*/ 4905 w 189"/>
                <a:gd name="T3" fmla="*/ 1 h 291"/>
                <a:gd name="T4" fmla="*/ 7583 w 189"/>
                <a:gd name="T5" fmla="*/ 1 h 291"/>
                <a:gd name="T6" fmla="*/ 10389 w 189"/>
                <a:gd name="T7" fmla="*/ 1 h 291"/>
                <a:gd name="T8" fmla="*/ 12503 w 189"/>
                <a:gd name="T9" fmla="*/ 1 h 291"/>
                <a:gd name="T10" fmla="*/ 14651 w 189"/>
                <a:gd name="T11" fmla="*/ 1 h 291"/>
                <a:gd name="T12" fmla="*/ 16671 w 189"/>
                <a:gd name="T13" fmla="*/ 1 h 291"/>
                <a:gd name="T14" fmla="*/ 18815 w 189"/>
                <a:gd name="T15" fmla="*/ 1 h 291"/>
                <a:gd name="T16" fmla="*/ 20863 w 189"/>
                <a:gd name="T17" fmla="*/ 1 h 291"/>
                <a:gd name="T18" fmla="*/ 22228 w 189"/>
                <a:gd name="T19" fmla="*/ 1 h 291"/>
                <a:gd name="T20" fmla="*/ 22857 w 189"/>
                <a:gd name="T21" fmla="*/ 1 h 291"/>
                <a:gd name="T22" fmla="*/ 24276 w 189"/>
                <a:gd name="T23" fmla="*/ 1 h 291"/>
                <a:gd name="T24" fmla="*/ 25087 w 189"/>
                <a:gd name="T25" fmla="*/ 1 h 291"/>
                <a:gd name="T26" fmla="*/ 24276 w 189"/>
                <a:gd name="T27" fmla="*/ 1 h 291"/>
                <a:gd name="T28" fmla="*/ 23601 w 189"/>
                <a:gd name="T29" fmla="*/ 1 h 291"/>
                <a:gd name="T30" fmla="*/ 22228 w 189"/>
                <a:gd name="T31" fmla="*/ 1 h 291"/>
                <a:gd name="T32" fmla="*/ 21577 w 189"/>
                <a:gd name="T33" fmla="*/ 1 h 291"/>
                <a:gd name="T34" fmla="*/ 20863 w 189"/>
                <a:gd name="T35" fmla="*/ 1 h 291"/>
                <a:gd name="T36" fmla="*/ 20047 w 189"/>
                <a:gd name="T37" fmla="*/ 1 h 291"/>
                <a:gd name="T38" fmla="*/ 18815 w 189"/>
                <a:gd name="T39" fmla="*/ 1 h 291"/>
                <a:gd name="T40" fmla="*/ 18017 w 189"/>
                <a:gd name="T41" fmla="*/ 1 h 291"/>
                <a:gd name="T42" fmla="*/ 17463 w 189"/>
                <a:gd name="T43" fmla="*/ 1 h 291"/>
                <a:gd name="T44" fmla="*/ 16671 w 189"/>
                <a:gd name="T45" fmla="*/ 1 h 291"/>
                <a:gd name="T46" fmla="*/ 15931 w 189"/>
                <a:gd name="T47" fmla="*/ 1 h 291"/>
                <a:gd name="T48" fmla="*/ 14651 w 189"/>
                <a:gd name="T49" fmla="*/ 1 h 291"/>
                <a:gd name="T50" fmla="*/ 13852 w 189"/>
                <a:gd name="T51" fmla="*/ 0 h 291"/>
                <a:gd name="T52" fmla="*/ 13151 w 189"/>
                <a:gd name="T53" fmla="*/ 1 h 291"/>
                <a:gd name="T54" fmla="*/ 13151 w 189"/>
                <a:gd name="T55" fmla="*/ 1 h 291"/>
                <a:gd name="T56" fmla="*/ 13151 w 189"/>
                <a:gd name="T57" fmla="*/ 1 h 291"/>
                <a:gd name="T58" fmla="*/ 12503 w 189"/>
                <a:gd name="T59" fmla="*/ 1 h 291"/>
                <a:gd name="T60" fmla="*/ 11148 w 189"/>
                <a:gd name="T61" fmla="*/ 1 h 291"/>
                <a:gd name="T62" fmla="*/ 9643 w 189"/>
                <a:gd name="T63" fmla="*/ 1 h 291"/>
                <a:gd name="T64" fmla="*/ 7583 w 189"/>
                <a:gd name="T65" fmla="*/ 1 h 291"/>
                <a:gd name="T66" fmla="*/ 5596 w 189"/>
                <a:gd name="T67" fmla="*/ 1 h 291"/>
                <a:gd name="T68" fmla="*/ 4068 w 189"/>
                <a:gd name="T69" fmla="*/ 1 h 291"/>
                <a:gd name="T70" fmla="*/ 2759 w 189"/>
                <a:gd name="T71" fmla="*/ 1 h 291"/>
                <a:gd name="T72" fmla="*/ 1287 w 189"/>
                <a:gd name="T73" fmla="*/ 1 h 291"/>
                <a:gd name="T74" fmla="*/ 655 w 189"/>
                <a:gd name="T75" fmla="*/ 1 h 291"/>
                <a:gd name="T76" fmla="*/ 0 w 189"/>
                <a:gd name="T77" fmla="*/ 1 h 291"/>
                <a:gd name="T78" fmla="*/ 0 w 189"/>
                <a:gd name="T79" fmla="*/ 1 h 291"/>
                <a:gd name="T80" fmla="*/ 0 w 189"/>
                <a:gd name="T81" fmla="*/ 1 h 291"/>
                <a:gd name="T82" fmla="*/ 0 w 189"/>
                <a:gd name="T83" fmla="*/ 1 h 291"/>
                <a:gd name="T84" fmla="*/ 0 w 189"/>
                <a:gd name="T85" fmla="*/ 1 h 291"/>
                <a:gd name="T86" fmla="*/ 655 w 189"/>
                <a:gd name="T87" fmla="*/ 1 h 291"/>
                <a:gd name="T88" fmla="*/ 655 w 189"/>
                <a:gd name="T89" fmla="*/ 1 h 291"/>
                <a:gd name="T90" fmla="*/ 655 w 189"/>
                <a:gd name="T91" fmla="*/ 1 h 291"/>
                <a:gd name="T92" fmla="*/ 1287 w 189"/>
                <a:gd name="T93" fmla="*/ 1 h 291"/>
                <a:gd name="T94" fmla="*/ 2069 w 189"/>
                <a:gd name="T95" fmla="*/ 1 h 291"/>
                <a:gd name="T96" fmla="*/ 2069 w 189"/>
                <a:gd name="T97" fmla="*/ 1 h 291"/>
                <a:gd name="T98" fmla="*/ 2759 w 189"/>
                <a:gd name="T99" fmla="*/ 1 h 291"/>
                <a:gd name="T100" fmla="*/ 4068 w 189"/>
                <a:gd name="T101" fmla="*/ 2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46" name="Freeform 72"/>
            <p:cNvSpPr>
              <a:spLocks/>
            </p:cNvSpPr>
            <p:nvPr/>
          </p:nvSpPr>
          <p:spPr bwMode="auto">
            <a:xfrm>
              <a:off x="2592" y="1152"/>
              <a:ext cx="226" cy="267"/>
            </a:xfrm>
            <a:custGeom>
              <a:avLst/>
              <a:gdLst>
                <a:gd name="T0" fmla="*/ 17829 w 170"/>
                <a:gd name="T1" fmla="*/ 2 h 356"/>
                <a:gd name="T2" fmla="*/ 17208 w 170"/>
                <a:gd name="T3" fmla="*/ 2 h 356"/>
                <a:gd name="T4" fmla="*/ 14834 w 170"/>
                <a:gd name="T5" fmla="*/ 2 h 356"/>
                <a:gd name="T6" fmla="*/ 12566 w 170"/>
                <a:gd name="T7" fmla="*/ 2 h 356"/>
                <a:gd name="T8" fmla="*/ 10723 w 170"/>
                <a:gd name="T9" fmla="*/ 2 h 356"/>
                <a:gd name="T10" fmla="*/ 8863 w 170"/>
                <a:gd name="T11" fmla="*/ 2 h 356"/>
                <a:gd name="T12" fmla="*/ 7018 w 170"/>
                <a:gd name="T13" fmla="*/ 2 h 356"/>
                <a:gd name="T14" fmla="*/ 5279 w 170"/>
                <a:gd name="T15" fmla="*/ 2 h 356"/>
                <a:gd name="T16" fmla="*/ 3496 w 170"/>
                <a:gd name="T17" fmla="*/ 2 h 356"/>
                <a:gd name="T18" fmla="*/ 2345 w 170"/>
                <a:gd name="T19" fmla="*/ 2 h 356"/>
                <a:gd name="T20" fmla="*/ 1764 w 170"/>
                <a:gd name="T21" fmla="*/ 2 h 356"/>
                <a:gd name="T22" fmla="*/ 633 w 170"/>
                <a:gd name="T23" fmla="*/ 2 h 356"/>
                <a:gd name="T24" fmla="*/ 0 w 170"/>
                <a:gd name="T25" fmla="*/ 2 h 356"/>
                <a:gd name="T26" fmla="*/ 633 w 170"/>
                <a:gd name="T27" fmla="*/ 2 h 356"/>
                <a:gd name="T28" fmla="*/ 1119 w 170"/>
                <a:gd name="T29" fmla="*/ 2 h 356"/>
                <a:gd name="T30" fmla="*/ 2345 w 170"/>
                <a:gd name="T31" fmla="*/ 2 h 356"/>
                <a:gd name="T32" fmla="*/ 2946 w 170"/>
                <a:gd name="T33" fmla="*/ 2 h 356"/>
                <a:gd name="T34" fmla="*/ 3496 w 170"/>
                <a:gd name="T35" fmla="*/ 2 h 356"/>
                <a:gd name="T36" fmla="*/ 4144 w 170"/>
                <a:gd name="T37" fmla="*/ 2 h 356"/>
                <a:gd name="T38" fmla="*/ 5279 w 170"/>
                <a:gd name="T39" fmla="*/ 2 h 356"/>
                <a:gd name="T40" fmla="*/ 5900 w 170"/>
                <a:gd name="T41" fmla="*/ 2 h 356"/>
                <a:gd name="T42" fmla="*/ 6546 w 170"/>
                <a:gd name="T43" fmla="*/ 2 h 356"/>
                <a:gd name="T44" fmla="*/ 7018 w 170"/>
                <a:gd name="T45" fmla="*/ 2 h 356"/>
                <a:gd name="T46" fmla="*/ 7748 w 170"/>
                <a:gd name="T47" fmla="*/ 2 h 356"/>
                <a:gd name="T48" fmla="*/ 8863 w 170"/>
                <a:gd name="T49" fmla="*/ 2 h 356"/>
                <a:gd name="T50" fmla="*/ 9529 w 170"/>
                <a:gd name="T51" fmla="*/ 0 h 356"/>
                <a:gd name="T52" fmla="*/ 10088 w 170"/>
                <a:gd name="T53" fmla="*/ 2 h 356"/>
                <a:gd name="T54" fmla="*/ 10088 w 170"/>
                <a:gd name="T55" fmla="*/ 2 h 356"/>
                <a:gd name="T56" fmla="*/ 10088 w 170"/>
                <a:gd name="T57" fmla="*/ 2 h 356"/>
                <a:gd name="T58" fmla="*/ 10723 w 170"/>
                <a:gd name="T59" fmla="*/ 2 h 356"/>
                <a:gd name="T60" fmla="*/ 11926 w 170"/>
                <a:gd name="T61" fmla="*/ 2 h 356"/>
                <a:gd name="T62" fmla="*/ 13036 w 170"/>
                <a:gd name="T63" fmla="*/ 2 h 356"/>
                <a:gd name="T64" fmla="*/ 14834 w 170"/>
                <a:gd name="T65" fmla="*/ 2 h 356"/>
                <a:gd name="T66" fmla="*/ 16535 w 170"/>
                <a:gd name="T67" fmla="*/ 2 h 356"/>
                <a:gd name="T68" fmla="*/ 17829 w 170"/>
                <a:gd name="T69" fmla="*/ 2 h 356"/>
                <a:gd name="T70" fmla="*/ 18951 w 170"/>
                <a:gd name="T71" fmla="*/ 2 h 356"/>
                <a:gd name="T72" fmla="*/ 20264 w 170"/>
                <a:gd name="T73" fmla="*/ 2 h 356"/>
                <a:gd name="T74" fmla="*/ 20791 w 170"/>
                <a:gd name="T75" fmla="*/ 2 h 356"/>
                <a:gd name="T76" fmla="*/ 21381 w 170"/>
                <a:gd name="T77" fmla="*/ 2 h 356"/>
                <a:gd name="T78" fmla="*/ 21381 w 170"/>
                <a:gd name="T79" fmla="*/ 2 h 356"/>
                <a:gd name="T80" fmla="*/ 21381 w 170"/>
                <a:gd name="T81" fmla="*/ 2 h 356"/>
                <a:gd name="T82" fmla="*/ 21381 w 170"/>
                <a:gd name="T83" fmla="*/ 2 h 356"/>
                <a:gd name="T84" fmla="*/ 21381 w 170"/>
                <a:gd name="T85" fmla="*/ 2 h 356"/>
                <a:gd name="T86" fmla="*/ 20791 w 170"/>
                <a:gd name="T87" fmla="*/ 2 h 356"/>
                <a:gd name="T88" fmla="*/ 20791 w 170"/>
                <a:gd name="T89" fmla="*/ 2 h 356"/>
                <a:gd name="T90" fmla="*/ 20791 w 170"/>
                <a:gd name="T91" fmla="*/ 2 h 356"/>
                <a:gd name="T92" fmla="*/ 20264 w 170"/>
                <a:gd name="T93" fmla="*/ 2 h 356"/>
                <a:gd name="T94" fmla="*/ 19606 w 170"/>
                <a:gd name="T95" fmla="*/ 2 h 356"/>
                <a:gd name="T96" fmla="*/ 19606 w 170"/>
                <a:gd name="T97" fmla="*/ 2 h 356"/>
                <a:gd name="T98" fmla="*/ 18951 w 170"/>
                <a:gd name="T99" fmla="*/ 2 h 356"/>
                <a:gd name="T100" fmla="*/ 17829 w 170"/>
                <a:gd name="T101" fmla="*/ 2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6600"/>
            </a:solidFill>
            <a:ln w="25400" cap="rnd">
              <a:solidFill>
                <a:srgbClr val="FF0000"/>
              </a:solidFill>
              <a:round/>
              <a:headEnd/>
              <a:tailEnd/>
            </a:ln>
          </p:spPr>
          <p:txBody>
            <a:bodyPr/>
            <a:lstStyle/>
            <a:p>
              <a:endParaRPr lang="en-US">
                <a:latin typeface="Arial"/>
                <a:cs typeface="Arial"/>
              </a:endParaRPr>
            </a:p>
          </p:txBody>
        </p:sp>
        <p:sp>
          <p:nvSpPr>
            <p:cNvPr id="247" name="Freeform 73"/>
            <p:cNvSpPr>
              <a:spLocks/>
            </p:cNvSpPr>
            <p:nvPr/>
          </p:nvSpPr>
          <p:spPr bwMode="auto">
            <a:xfrm>
              <a:off x="2692" y="1130"/>
              <a:ext cx="150" cy="289"/>
            </a:xfrm>
            <a:custGeom>
              <a:avLst/>
              <a:gdLst>
                <a:gd name="T0" fmla="*/ 2626 w 112"/>
                <a:gd name="T1" fmla="*/ 3 h 386"/>
                <a:gd name="T2" fmla="*/ 3139 w 112"/>
                <a:gd name="T3" fmla="*/ 2 h 386"/>
                <a:gd name="T4" fmla="*/ 4979 w 112"/>
                <a:gd name="T5" fmla="*/ 2 h 386"/>
                <a:gd name="T6" fmla="*/ 6668 w 112"/>
                <a:gd name="T7" fmla="*/ 2 h 386"/>
                <a:gd name="T8" fmla="*/ 7978 w 112"/>
                <a:gd name="T9" fmla="*/ 2 h 386"/>
                <a:gd name="T10" fmla="*/ 9359 w 112"/>
                <a:gd name="T11" fmla="*/ 2 h 386"/>
                <a:gd name="T12" fmla="*/ 10619 w 112"/>
                <a:gd name="T13" fmla="*/ 2 h 386"/>
                <a:gd name="T14" fmla="*/ 11960 w 112"/>
                <a:gd name="T15" fmla="*/ 2 h 386"/>
                <a:gd name="T16" fmla="*/ 13393 w 112"/>
                <a:gd name="T17" fmla="*/ 1 h 386"/>
                <a:gd name="T18" fmla="*/ 14222 w 112"/>
                <a:gd name="T19" fmla="*/ 1 h 386"/>
                <a:gd name="T20" fmla="*/ 14626 w 112"/>
                <a:gd name="T21" fmla="*/ 1 h 386"/>
                <a:gd name="T22" fmla="*/ 15530 w 112"/>
                <a:gd name="T23" fmla="*/ 1 h 386"/>
                <a:gd name="T24" fmla="*/ 16018 w 112"/>
                <a:gd name="T25" fmla="*/ 1 h 386"/>
                <a:gd name="T26" fmla="*/ 15530 w 112"/>
                <a:gd name="T27" fmla="*/ 1 h 386"/>
                <a:gd name="T28" fmla="*/ 15108 w 112"/>
                <a:gd name="T29" fmla="*/ 1 h 386"/>
                <a:gd name="T30" fmla="*/ 14222 w 112"/>
                <a:gd name="T31" fmla="*/ 1 h 386"/>
                <a:gd name="T32" fmla="*/ 13856 w 112"/>
                <a:gd name="T33" fmla="*/ 1 h 386"/>
                <a:gd name="T34" fmla="*/ 13393 w 112"/>
                <a:gd name="T35" fmla="*/ 1 h 386"/>
                <a:gd name="T36" fmla="*/ 12742 w 112"/>
                <a:gd name="T37" fmla="*/ 1 h 386"/>
                <a:gd name="T38" fmla="*/ 11960 w 112"/>
                <a:gd name="T39" fmla="*/ 1 h 386"/>
                <a:gd name="T40" fmla="*/ 11444 w 112"/>
                <a:gd name="T41" fmla="*/ 1 h 386"/>
                <a:gd name="T42" fmla="*/ 11069 w 112"/>
                <a:gd name="T43" fmla="*/ 1 h 386"/>
                <a:gd name="T44" fmla="*/ 10619 w 112"/>
                <a:gd name="T45" fmla="*/ 1 h 386"/>
                <a:gd name="T46" fmla="*/ 10134 w 112"/>
                <a:gd name="T47" fmla="*/ 1 h 386"/>
                <a:gd name="T48" fmla="*/ 9359 w 112"/>
                <a:gd name="T49" fmla="*/ 1 h 386"/>
                <a:gd name="T50" fmla="*/ 8930 w 112"/>
                <a:gd name="T51" fmla="*/ 0 h 386"/>
                <a:gd name="T52" fmla="*/ 8448 w 112"/>
                <a:gd name="T53" fmla="*/ 1 h 386"/>
                <a:gd name="T54" fmla="*/ 8448 w 112"/>
                <a:gd name="T55" fmla="*/ 1 h 386"/>
                <a:gd name="T56" fmla="*/ 8448 w 112"/>
                <a:gd name="T57" fmla="*/ 1 h 386"/>
                <a:gd name="T58" fmla="*/ 7978 w 112"/>
                <a:gd name="T59" fmla="*/ 1 h 386"/>
                <a:gd name="T60" fmla="*/ 7058 w 112"/>
                <a:gd name="T61" fmla="*/ 1 h 386"/>
                <a:gd name="T62" fmla="*/ 6181 w 112"/>
                <a:gd name="T63" fmla="*/ 1 h 386"/>
                <a:gd name="T64" fmla="*/ 4979 w 112"/>
                <a:gd name="T65" fmla="*/ 1 h 386"/>
                <a:gd name="T66" fmla="*/ 3517 w 112"/>
                <a:gd name="T67" fmla="*/ 1 h 386"/>
                <a:gd name="T68" fmla="*/ 2626 w 112"/>
                <a:gd name="T69" fmla="*/ 1 h 386"/>
                <a:gd name="T70" fmla="*/ 1686 w 112"/>
                <a:gd name="T71" fmla="*/ 1 h 386"/>
                <a:gd name="T72" fmla="*/ 889 w 112"/>
                <a:gd name="T73" fmla="*/ 1 h 386"/>
                <a:gd name="T74" fmla="*/ 391 w 112"/>
                <a:gd name="T75" fmla="*/ 1 h 386"/>
                <a:gd name="T76" fmla="*/ 0 w 112"/>
                <a:gd name="T77" fmla="*/ 1 h 386"/>
                <a:gd name="T78" fmla="*/ 0 w 112"/>
                <a:gd name="T79" fmla="*/ 1 h 386"/>
                <a:gd name="T80" fmla="*/ 0 w 112"/>
                <a:gd name="T81" fmla="*/ 1 h 386"/>
                <a:gd name="T82" fmla="*/ 0 w 112"/>
                <a:gd name="T83" fmla="*/ 1 h 386"/>
                <a:gd name="T84" fmla="*/ 0 w 112"/>
                <a:gd name="T85" fmla="*/ 1 h 386"/>
                <a:gd name="T86" fmla="*/ 391 w 112"/>
                <a:gd name="T87" fmla="*/ 1 h 386"/>
                <a:gd name="T88" fmla="*/ 391 w 112"/>
                <a:gd name="T89" fmla="*/ 2 h 386"/>
                <a:gd name="T90" fmla="*/ 391 w 112"/>
                <a:gd name="T91" fmla="*/ 2 h 386"/>
                <a:gd name="T92" fmla="*/ 889 w 112"/>
                <a:gd name="T93" fmla="*/ 2 h 386"/>
                <a:gd name="T94" fmla="*/ 1259 w 112"/>
                <a:gd name="T95" fmla="*/ 2 h 386"/>
                <a:gd name="T96" fmla="*/ 1259 w 112"/>
                <a:gd name="T97" fmla="*/ 2 h 386"/>
                <a:gd name="T98" fmla="*/ 1686 w 112"/>
                <a:gd name="T99" fmla="*/ 2 h 386"/>
                <a:gd name="T100" fmla="*/ 2626 w 112"/>
                <a:gd name="T101" fmla="*/ 3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F6600"/>
              </a:solidFill>
              <a:round/>
              <a:headEnd/>
              <a:tailEnd/>
            </a:ln>
          </p:spPr>
          <p:txBody>
            <a:bodyPr/>
            <a:lstStyle/>
            <a:p>
              <a:endParaRPr lang="en-US">
                <a:latin typeface="Arial"/>
                <a:cs typeface="Arial"/>
              </a:endParaRPr>
            </a:p>
          </p:txBody>
        </p:sp>
        <p:sp>
          <p:nvSpPr>
            <p:cNvPr id="248" name="Freeform 74"/>
            <p:cNvSpPr>
              <a:spLocks/>
            </p:cNvSpPr>
            <p:nvPr/>
          </p:nvSpPr>
          <p:spPr bwMode="auto">
            <a:xfrm>
              <a:off x="2763" y="1319"/>
              <a:ext cx="169" cy="97"/>
            </a:xfrm>
            <a:custGeom>
              <a:avLst/>
              <a:gdLst>
                <a:gd name="T0" fmla="*/ 0 w 127"/>
                <a:gd name="T1" fmla="*/ 2 h 129"/>
                <a:gd name="T2" fmla="*/ 1273 w 127"/>
                <a:gd name="T3" fmla="*/ 2 h 129"/>
                <a:gd name="T4" fmla="*/ 1965 w 127"/>
                <a:gd name="T5" fmla="*/ 2 h 129"/>
                <a:gd name="T6" fmla="*/ 3101 w 127"/>
                <a:gd name="T7" fmla="*/ 2 h 129"/>
                <a:gd name="T8" fmla="*/ 4362 w 127"/>
                <a:gd name="T9" fmla="*/ 2 h 129"/>
                <a:gd name="T10" fmla="*/ 5742 w 127"/>
                <a:gd name="T11" fmla="*/ 2 h 129"/>
                <a:gd name="T12" fmla="*/ 6163 w 127"/>
                <a:gd name="T13" fmla="*/ 2 h 129"/>
                <a:gd name="T14" fmla="*/ 7433 w 127"/>
                <a:gd name="T15" fmla="*/ 2 h 129"/>
                <a:gd name="T16" fmla="*/ 8113 w 127"/>
                <a:gd name="T17" fmla="*/ 2 h 129"/>
                <a:gd name="T18" fmla="*/ 8743 w 127"/>
                <a:gd name="T19" fmla="*/ 2 h 129"/>
                <a:gd name="T20" fmla="*/ 10056 w 127"/>
                <a:gd name="T21" fmla="*/ 2 h 129"/>
                <a:gd name="T22" fmla="*/ 10056 w 127"/>
                <a:gd name="T23" fmla="*/ 2 h 129"/>
                <a:gd name="T24" fmla="*/ 11201 w 127"/>
                <a:gd name="T25" fmla="*/ 2 h 129"/>
                <a:gd name="T26" fmla="*/ 11201 w 127"/>
                <a:gd name="T27" fmla="*/ 2 h 129"/>
                <a:gd name="T28" fmla="*/ 11201 w 127"/>
                <a:gd name="T29" fmla="*/ 2 h 129"/>
                <a:gd name="T30" fmla="*/ 11775 w 127"/>
                <a:gd name="T31" fmla="*/ 2 h 129"/>
                <a:gd name="T32" fmla="*/ 13162 w 127"/>
                <a:gd name="T33" fmla="*/ 2 h 129"/>
                <a:gd name="T34" fmla="*/ 13162 w 127"/>
                <a:gd name="T35" fmla="*/ 2 h 129"/>
                <a:gd name="T36" fmla="*/ 13738 w 127"/>
                <a:gd name="T37" fmla="*/ 2 h 129"/>
                <a:gd name="T38" fmla="*/ 13738 w 127"/>
                <a:gd name="T39" fmla="*/ 2 h 129"/>
                <a:gd name="T40" fmla="*/ 14905 w 127"/>
                <a:gd name="T41" fmla="*/ 0 h 129"/>
                <a:gd name="T42" fmla="*/ 14905 w 127"/>
                <a:gd name="T43" fmla="*/ 2 h 129"/>
                <a:gd name="T44" fmla="*/ 14905 w 127"/>
                <a:gd name="T45" fmla="*/ 2 h 129"/>
                <a:gd name="T46" fmla="*/ 15548 w 127"/>
                <a:gd name="T47" fmla="*/ 2 h 129"/>
                <a:gd name="T48" fmla="*/ 15548 w 127"/>
                <a:gd name="T49" fmla="*/ 2 h 129"/>
                <a:gd name="T50" fmla="*/ 15548 w 127"/>
                <a:gd name="T51" fmla="*/ 2 h 129"/>
                <a:gd name="T52" fmla="*/ 16268 w 127"/>
                <a:gd name="T53" fmla="*/ 2 h 129"/>
                <a:gd name="T54" fmla="*/ 16268 w 127"/>
                <a:gd name="T55" fmla="*/ 2 h 129"/>
                <a:gd name="T56" fmla="*/ 16268 w 127"/>
                <a:gd name="T57" fmla="*/ 2 h 129"/>
                <a:gd name="T58" fmla="*/ 16268 w 127"/>
                <a:gd name="T59" fmla="*/ 2 h 129"/>
                <a:gd name="T60" fmla="*/ 16268 w 127"/>
                <a:gd name="T61" fmla="*/ 2 h 129"/>
                <a:gd name="T62" fmla="*/ 15548 w 127"/>
                <a:gd name="T63" fmla="*/ 2 h 129"/>
                <a:gd name="T64" fmla="*/ 14298 w 127"/>
                <a:gd name="T65" fmla="*/ 2 h 129"/>
                <a:gd name="T66" fmla="*/ 13738 w 127"/>
                <a:gd name="T67" fmla="*/ 2 h 129"/>
                <a:gd name="T68" fmla="*/ 12514 w 127"/>
                <a:gd name="T69" fmla="*/ 2 h 129"/>
                <a:gd name="T70" fmla="*/ 11201 w 127"/>
                <a:gd name="T71" fmla="*/ 2 h 129"/>
                <a:gd name="T72" fmla="*/ 10056 w 127"/>
                <a:gd name="T73" fmla="*/ 2 h 129"/>
                <a:gd name="T74" fmla="*/ 8743 w 127"/>
                <a:gd name="T75" fmla="*/ 2 h 129"/>
                <a:gd name="T76" fmla="*/ 7433 w 127"/>
                <a:gd name="T77" fmla="*/ 2 h 129"/>
                <a:gd name="T78" fmla="*/ 6163 w 127"/>
                <a:gd name="T79" fmla="*/ 2 h 129"/>
                <a:gd name="T80" fmla="*/ 4997 w 127"/>
                <a:gd name="T81" fmla="*/ 2 h 129"/>
                <a:gd name="T82" fmla="*/ 3755 w 127"/>
                <a:gd name="T83" fmla="*/ 2 h 129"/>
                <a:gd name="T84" fmla="*/ 2437 w 127"/>
                <a:gd name="T85" fmla="*/ 2 h 129"/>
                <a:gd name="T86" fmla="*/ 1273 w 127"/>
                <a:gd name="T87" fmla="*/ 2 h 129"/>
                <a:gd name="T88" fmla="*/ 0 w 127"/>
                <a:gd name="T89" fmla="*/ 2 h 129"/>
                <a:gd name="T90" fmla="*/ 8113 w 127"/>
                <a:gd name="T91" fmla="*/ 2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FF00"/>
            </a:solidFill>
            <a:ln w="25400" cap="rnd">
              <a:solidFill>
                <a:srgbClr val="FF0000"/>
              </a:solidFill>
              <a:round/>
              <a:headEnd/>
              <a:tailEnd/>
            </a:ln>
          </p:spPr>
          <p:txBody>
            <a:bodyPr/>
            <a:lstStyle/>
            <a:p>
              <a:endParaRPr lang="en-US">
                <a:latin typeface="Arial"/>
                <a:cs typeface="Arial"/>
              </a:endParaRPr>
            </a:p>
          </p:txBody>
        </p:sp>
      </p:grpSp>
      <p:grpSp>
        <p:nvGrpSpPr>
          <p:cNvPr id="249" name="Group 67"/>
          <p:cNvGrpSpPr>
            <a:grpSpLocks/>
          </p:cNvGrpSpPr>
          <p:nvPr/>
        </p:nvGrpSpPr>
        <p:grpSpPr bwMode="auto">
          <a:xfrm>
            <a:off x="3135019" y="2668301"/>
            <a:ext cx="292613" cy="477500"/>
            <a:chOff x="2571" y="1098"/>
            <a:chExt cx="412" cy="328"/>
          </a:xfrm>
        </p:grpSpPr>
        <p:sp>
          <p:nvSpPr>
            <p:cNvPr id="250" name="Freeform 68"/>
            <p:cNvSpPr>
              <a:spLocks/>
            </p:cNvSpPr>
            <p:nvPr/>
          </p:nvSpPr>
          <p:spPr bwMode="auto">
            <a:xfrm>
              <a:off x="2571" y="1098"/>
              <a:ext cx="188" cy="321"/>
            </a:xfrm>
            <a:custGeom>
              <a:avLst/>
              <a:gdLst>
                <a:gd name="T0" fmla="*/ 15547 w 141"/>
                <a:gd name="T1" fmla="*/ 4 h 428"/>
                <a:gd name="T2" fmla="*/ 15035 w 141"/>
                <a:gd name="T3" fmla="*/ 4 h 428"/>
                <a:gd name="T4" fmla="*/ 12857 w 141"/>
                <a:gd name="T5" fmla="*/ 4 h 428"/>
                <a:gd name="T6" fmla="*/ 10817 w 141"/>
                <a:gd name="T7" fmla="*/ 3 h 428"/>
                <a:gd name="T8" fmla="*/ 9257 w 141"/>
                <a:gd name="T9" fmla="*/ 3 h 428"/>
                <a:gd name="T10" fmla="*/ 7681 w 141"/>
                <a:gd name="T11" fmla="*/ 3 h 428"/>
                <a:gd name="T12" fmla="*/ 6271 w 141"/>
                <a:gd name="T13" fmla="*/ 3 h 428"/>
                <a:gd name="T14" fmla="*/ 4703 w 141"/>
                <a:gd name="T15" fmla="*/ 3 h 428"/>
                <a:gd name="T16" fmla="*/ 3051 w 141"/>
                <a:gd name="T17" fmla="*/ 3 h 428"/>
                <a:gd name="T18" fmla="*/ 2069 w 141"/>
                <a:gd name="T19" fmla="*/ 3 h 428"/>
                <a:gd name="T20" fmla="*/ 1552 w 141"/>
                <a:gd name="T21" fmla="*/ 2 h 428"/>
                <a:gd name="T22" fmla="*/ 491 w 141"/>
                <a:gd name="T23" fmla="*/ 2 h 428"/>
                <a:gd name="T24" fmla="*/ 0 w 141"/>
                <a:gd name="T25" fmla="*/ 2 h 428"/>
                <a:gd name="T26" fmla="*/ 491 w 141"/>
                <a:gd name="T27" fmla="*/ 2 h 428"/>
                <a:gd name="T28" fmla="*/ 1129 w 141"/>
                <a:gd name="T29" fmla="*/ 2 h 428"/>
                <a:gd name="T30" fmla="*/ 2069 w 141"/>
                <a:gd name="T31" fmla="*/ 2 h 428"/>
                <a:gd name="T32" fmla="*/ 2491 w 141"/>
                <a:gd name="T33" fmla="*/ 2 h 428"/>
                <a:gd name="T34" fmla="*/ 3051 w 141"/>
                <a:gd name="T35" fmla="*/ 2 h 428"/>
                <a:gd name="T36" fmla="*/ 3568 w 141"/>
                <a:gd name="T37" fmla="*/ 2 h 428"/>
                <a:gd name="T38" fmla="*/ 4703 w 141"/>
                <a:gd name="T39" fmla="*/ 2 h 428"/>
                <a:gd name="T40" fmla="*/ 5185 w 141"/>
                <a:gd name="T41" fmla="*/ 2 h 428"/>
                <a:gd name="T42" fmla="*/ 5687 w 141"/>
                <a:gd name="T43" fmla="*/ 2 h 428"/>
                <a:gd name="T44" fmla="*/ 6271 w 141"/>
                <a:gd name="T45" fmla="*/ 2 h 428"/>
                <a:gd name="T46" fmla="*/ 6805 w 141"/>
                <a:gd name="T47" fmla="*/ 2 h 428"/>
                <a:gd name="T48" fmla="*/ 7681 w 141"/>
                <a:gd name="T49" fmla="*/ 2 h 428"/>
                <a:gd name="T50" fmla="*/ 8308 w 141"/>
                <a:gd name="T51" fmla="*/ 0 h 428"/>
                <a:gd name="T52" fmla="*/ 8745 w 141"/>
                <a:gd name="T53" fmla="*/ 2 h 428"/>
                <a:gd name="T54" fmla="*/ 8745 w 141"/>
                <a:gd name="T55" fmla="*/ 2 h 428"/>
                <a:gd name="T56" fmla="*/ 8745 w 141"/>
                <a:gd name="T57" fmla="*/ 2 h 428"/>
                <a:gd name="T58" fmla="*/ 9257 w 141"/>
                <a:gd name="T59" fmla="*/ 2 h 428"/>
                <a:gd name="T60" fmla="*/ 10389 w 141"/>
                <a:gd name="T61" fmla="*/ 2 h 428"/>
                <a:gd name="T62" fmla="*/ 11456 w 141"/>
                <a:gd name="T63" fmla="*/ 2 h 428"/>
                <a:gd name="T64" fmla="*/ 12857 w 141"/>
                <a:gd name="T65" fmla="*/ 2 h 428"/>
                <a:gd name="T66" fmla="*/ 14423 w 141"/>
                <a:gd name="T67" fmla="*/ 2 h 428"/>
                <a:gd name="T68" fmla="*/ 15547 w 141"/>
                <a:gd name="T69" fmla="*/ 2 h 428"/>
                <a:gd name="T70" fmla="*/ 16457 w 141"/>
                <a:gd name="T71" fmla="*/ 2 h 428"/>
                <a:gd name="T72" fmla="*/ 17535 w 141"/>
                <a:gd name="T73" fmla="*/ 2 h 428"/>
                <a:gd name="T74" fmla="*/ 18017 w 141"/>
                <a:gd name="T75" fmla="*/ 2 h 428"/>
                <a:gd name="T76" fmla="*/ 18660 w 141"/>
                <a:gd name="T77" fmla="*/ 2 h 428"/>
                <a:gd name="T78" fmla="*/ 18660 w 141"/>
                <a:gd name="T79" fmla="*/ 2 h 428"/>
                <a:gd name="T80" fmla="*/ 18660 w 141"/>
                <a:gd name="T81" fmla="*/ 2 h 428"/>
                <a:gd name="T82" fmla="*/ 18660 w 141"/>
                <a:gd name="T83" fmla="*/ 2 h 428"/>
                <a:gd name="T84" fmla="*/ 18660 w 141"/>
                <a:gd name="T85" fmla="*/ 3 h 428"/>
                <a:gd name="T86" fmla="*/ 18017 w 141"/>
                <a:gd name="T87" fmla="*/ 3 h 428"/>
                <a:gd name="T88" fmla="*/ 18017 w 141"/>
                <a:gd name="T89" fmla="*/ 3 h 428"/>
                <a:gd name="T90" fmla="*/ 18017 w 141"/>
                <a:gd name="T91" fmla="*/ 3 h 428"/>
                <a:gd name="T92" fmla="*/ 17535 w 141"/>
                <a:gd name="T93" fmla="*/ 3 h 428"/>
                <a:gd name="T94" fmla="*/ 17055 w 141"/>
                <a:gd name="T95" fmla="*/ 3 h 428"/>
                <a:gd name="T96" fmla="*/ 17055 w 141"/>
                <a:gd name="T97" fmla="*/ 4 h 428"/>
                <a:gd name="T98" fmla="*/ 16457 w 141"/>
                <a:gd name="T99" fmla="*/ 4 h 428"/>
                <a:gd name="T100" fmla="*/ 15547 w 141"/>
                <a:gd name="T101" fmla="*/ 4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a:cs typeface="Arial"/>
              </a:endParaRPr>
            </a:p>
          </p:txBody>
        </p:sp>
        <p:sp>
          <p:nvSpPr>
            <p:cNvPr id="251" name="Freeform 69"/>
            <p:cNvSpPr>
              <a:spLocks/>
            </p:cNvSpPr>
            <p:nvPr/>
          </p:nvSpPr>
          <p:spPr bwMode="auto">
            <a:xfrm>
              <a:off x="2712" y="1207"/>
              <a:ext cx="194" cy="219"/>
            </a:xfrm>
            <a:custGeom>
              <a:avLst/>
              <a:gdLst>
                <a:gd name="T0" fmla="*/ 3424 w 145"/>
                <a:gd name="T1" fmla="*/ 2 h 292"/>
                <a:gd name="T2" fmla="*/ 3954 w 145"/>
                <a:gd name="T3" fmla="*/ 2 h 292"/>
                <a:gd name="T4" fmla="*/ 6251 w 145"/>
                <a:gd name="T5" fmla="*/ 2 h 292"/>
                <a:gd name="T6" fmla="*/ 8424 w 145"/>
                <a:gd name="T7" fmla="*/ 2 h 292"/>
                <a:gd name="T8" fmla="*/ 10051 w 145"/>
                <a:gd name="T9" fmla="*/ 2 h 292"/>
                <a:gd name="T10" fmla="*/ 11859 w 145"/>
                <a:gd name="T11" fmla="*/ 2 h 292"/>
                <a:gd name="T12" fmla="*/ 13448 w 145"/>
                <a:gd name="T13" fmla="*/ 2 h 292"/>
                <a:gd name="T14" fmla="*/ 15194 w 145"/>
                <a:gd name="T15" fmla="*/ 2 h 292"/>
                <a:gd name="T16" fmla="*/ 16952 w 145"/>
                <a:gd name="T17" fmla="*/ 2 h 292"/>
                <a:gd name="T18" fmla="*/ 17992 w 145"/>
                <a:gd name="T19" fmla="*/ 2 h 292"/>
                <a:gd name="T20" fmla="*/ 18660 w 145"/>
                <a:gd name="T21" fmla="*/ 2 h 292"/>
                <a:gd name="T22" fmla="*/ 19668 w 145"/>
                <a:gd name="T23" fmla="*/ 2 h 292"/>
                <a:gd name="T24" fmla="*/ 20329 w 145"/>
                <a:gd name="T25" fmla="*/ 2 h 292"/>
                <a:gd name="T26" fmla="*/ 19668 w 145"/>
                <a:gd name="T27" fmla="*/ 2 h 292"/>
                <a:gd name="T28" fmla="*/ 19193 w 145"/>
                <a:gd name="T29" fmla="*/ 2 h 292"/>
                <a:gd name="T30" fmla="*/ 17992 w 145"/>
                <a:gd name="T31" fmla="*/ 2 h 292"/>
                <a:gd name="T32" fmla="*/ 17468 w 145"/>
                <a:gd name="T33" fmla="*/ 2 h 292"/>
                <a:gd name="T34" fmla="*/ 16952 w 145"/>
                <a:gd name="T35" fmla="*/ 2 h 292"/>
                <a:gd name="T36" fmla="*/ 16313 w 145"/>
                <a:gd name="T37" fmla="*/ 2 h 292"/>
                <a:gd name="T38" fmla="*/ 15194 w 145"/>
                <a:gd name="T39" fmla="*/ 2 h 292"/>
                <a:gd name="T40" fmla="*/ 14678 w 145"/>
                <a:gd name="T41" fmla="*/ 2 h 292"/>
                <a:gd name="T42" fmla="*/ 14099 w 145"/>
                <a:gd name="T43" fmla="*/ 2 h 292"/>
                <a:gd name="T44" fmla="*/ 13448 w 145"/>
                <a:gd name="T45" fmla="*/ 2 h 292"/>
                <a:gd name="T46" fmla="*/ 13038 w 145"/>
                <a:gd name="T47" fmla="*/ 2 h 292"/>
                <a:gd name="T48" fmla="*/ 11859 w 145"/>
                <a:gd name="T49" fmla="*/ 2 h 292"/>
                <a:gd name="T50" fmla="*/ 11271 w 145"/>
                <a:gd name="T51" fmla="*/ 0 h 292"/>
                <a:gd name="T52" fmla="*/ 10722 w 145"/>
                <a:gd name="T53" fmla="*/ 2 h 292"/>
                <a:gd name="T54" fmla="*/ 10722 w 145"/>
                <a:gd name="T55" fmla="*/ 2 h 292"/>
                <a:gd name="T56" fmla="*/ 10722 w 145"/>
                <a:gd name="T57" fmla="*/ 2 h 292"/>
                <a:gd name="T58" fmla="*/ 10051 w 145"/>
                <a:gd name="T59" fmla="*/ 2 h 292"/>
                <a:gd name="T60" fmla="*/ 9081 w 145"/>
                <a:gd name="T61" fmla="*/ 2 h 292"/>
                <a:gd name="T62" fmla="*/ 7876 w 145"/>
                <a:gd name="T63" fmla="*/ 2 h 292"/>
                <a:gd name="T64" fmla="*/ 6251 w 145"/>
                <a:gd name="T65" fmla="*/ 2 h 292"/>
                <a:gd name="T66" fmla="*/ 4581 w 145"/>
                <a:gd name="T67" fmla="*/ 2 h 292"/>
                <a:gd name="T68" fmla="*/ 3424 w 145"/>
                <a:gd name="T69" fmla="*/ 2 h 292"/>
                <a:gd name="T70" fmla="*/ 2209 w 145"/>
                <a:gd name="T71" fmla="*/ 2 h 292"/>
                <a:gd name="T72" fmla="*/ 1183 w 145"/>
                <a:gd name="T73" fmla="*/ 2 h 292"/>
                <a:gd name="T74" fmla="*/ 515 w 145"/>
                <a:gd name="T75" fmla="*/ 2 h 292"/>
                <a:gd name="T76" fmla="*/ 0 w 145"/>
                <a:gd name="T77" fmla="*/ 2 h 292"/>
                <a:gd name="T78" fmla="*/ 0 w 145"/>
                <a:gd name="T79" fmla="*/ 2 h 292"/>
                <a:gd name="T80" fmla="*/ 0 w 145"/>
                <a:gd name="T81" fmla="*/ 2 h 292"/>
                <a:gd name="T82" fmla="*/ 0 w 145"/>
                <a:gd name="T83" fmla="*/ 2 h 292"/>
                <a:gd name="T84" fmla="*/ 0 w 145"/>
                <a:gd name="T85" fmla="*/ 2 h 292"/>
                <a:gd name="T86" fmla="*/ 515 w 145"/>
                <a:gd name="T87" fmla="*/ 2 h 292"/>
                <a:gd name="T88" fmla="*/ 515 w 145"/>
                <a:gd name="T89" fmla="*/ 2 h 292"/>
                <a:gd name="T90" fmla="*/ 515 w 145"/>
                <a:gd name="T91" fmla="*/ 2 h 292"/>
                <a:gd name="T92" fmla="*/ 1183 w 145"/>
                <a:gd name="T93" fmla="*/ 2 h 292"/>
                <a:gd name="T94" fmla="*/ 1651 w 145"/>
                <a:gd name="T95" fmla="*/ 2 h 292"/>
                <a:gd name="T96" fmla="*/ 1651 w 145"/>
                <a:gd name="T97" fmla="*/ 2 h 292"/>
                <a:gd name="T98" fmla="*/ 2209 w 145"/>
                <a:gd name="T99" fmla="*/ 2 h 292"/>
                <a:gd name="T100" fmla="*/ 3424 w 145"/>
                <a:gd name="T101" fmla="*/ 2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52" name="Freeform 70"/>
            <p:cNvSpPr>
              <a:spLocks/>
            </p:cNvSpPr>
            <p:nvPr/>
          </p:nvSpPr>
          <p:spPr bwMode="auto">
            <a:xfrm>
              <a:off x="2626" y="1127"/>
              <a:ext cx="309" cy="234"/>
            </a:xfrm>
            <a:custGeom>
              <a:avLst/>
              <a:gdLst>
                <a:gd name="T0" fmla="*/ 12209 w 232"/>
                <a:gd name="T1" fmla="*/ 2 h 313"/>
                <a:gd name="T2" fmla="*/ 12839 w 232"/>
                <a:gd name="T3" fmla="*/ 2 h 313"/>
                <a:gd name="T4" fmla="*/ 15303 w 232"/>
                <a:gd name="T5" fmla="*/ 2 h 313"/>
                <a:gd name="T6" fmla="*/ 17676 w 232"/>
                <a:gd name="T7" fmla="*/ 1 h 313"/>
                <a:gd name="T8" fmla="*/ 19472 w 232"/>
                <a:gd name="T9" fmla="*/ 1 h 313"/>
                <a:gd name="T10" fmla="*/ 21220 w 232"/>
                <a:gd name="T11" fmla="*/ 1 h 313"/>
                <a:gd name="T12" fmla="*/ 23123 w 232"/>
                <a:gd name="T13" fmla="*/ 1 h 313"/>
                <a:gd name="T14" fmla="*/ 24804 w 232"/>
                <a:gd name="T15" fmla="*/ 1 h 313"/>
                <a:gd name="T16" fmla="*/ 26503 w 232"/>
                <a:gd name="T17" fmla="*/ 1 h 313"/>
                <a:gd name="T18" fmla="*/ 27783 w 232"/>
                <a:gd name="T19" fmla="*/ 1 h 313"/>
                <a:gd name="T20" fmla="*/ 28425 w 232"/>
                <a:gd name="T21" fmla="*/ 1 h 313"/>
                <a:gd name="T22" fmla="*/ 29521 w 232"/>
                <a:gd name="T23" fmla="*/ 1 h 313"/>
                <a:gd name="T24" fmla="*/ 30170 w 232"/>
                <a:gd name="T25" fmla="*/ 1 h 313"/>
                <a:gd name="T26" fmla="*/ 29521 w 232"/>
                <a:gd name="T27" fmla="*/ 1 h 313"/>
                <a:gd name="T28" fmla="*/ 28846 w 232"/>
                <a:gd name="T29" fmla="*/ 1 h 313"/>
                <a:gd name="T30" fmla="*/ 27783 w 232"/>
                <a:gd name="T31" fmla="*/ 1 h 313"/>
                <a:gd name="T32" fmla="*/ 27147 w 232"/>
                <a:gd name="T33" fmla="*/ 1 h 313"/>
                <a:gd name="T34" fmla="*/ 26503 w 232"/>
                <a:gd name="T35" fmla="*/ 1 h 313"/>
                <a:gd name="T36" fmla="*/ 26025 w 232"/>
                <a:gd name="T37" fmla="*/ 1 h 313"/>
                <a:gd name="T38" fmla="*/ 24804 w 232"/>
                <a:gd name="T39" fmla="*/ 1 h 313"/>
                <a:gd name="T40" fmla="*/ 24149 w 232"/>
                <a:gd name="T41" fmla="*/ 1 h 313"/>
                <a:gd name="T42" fmla="*/ 23543 w 232"/>
                <a:gd name="T43" fmla="*/ 1 h 313"/>
                <a:gd name="T44" fmla="*/ 23662 w 232"/>
                <a:gd name="T45" fmla="*/ 1 h 313"/>
                <a:gd name="T46" fmla="*/ 22465 w 232"/>
                <a:gd name="T47" fmla="*/ 1 h 313"/>
                <a:gd name="T48" fmla="*/ 21220 w 232"/>
                <a:gd name="T49" fmla="*/ 1 h 313"/>
                <a:gd name="T50" fmla="*/ 20638 w 232"/>
                <a:gd name="T51" fmla="*/ 0 h 313"/>
                <a:gd name="T52" fmla="*/ 20113 w 232"/>
                <a:gd name="T53" fmla="*/ 1 h 313"/>
                <a:gd name="T54" fmla="*/ 20113 w 232"/>
                <a:gd name="T55" fmla="*/ 1 h 313"/>
                <a:gd name="T56" fmla="*/ 20113 w 232"/>
                <a:gd name="T57" fmla="*/ 1 h 313"/>
                <a:gd name="T58" fmla="*/ 19472 w 232"/>
                <a:gd name="T59" fmla="*/ 1 h 313"/>
                <a:gd name="T60" fmla="*/ 18131 w 232"/>
                <a:gd name="T61" fmla="*/ 1 h 313"/>
                <a:gd name="T62" fmla="*/ 17100 w 232"/>
                <a:gd name="T63" fmla="*/ 1 h 313"/>
                <a:gd name="T64" fmla="*/ 15303 w 232"/>
                <a:gd name="T65" fmla="*/ 1 h 313"/>
                <a:gd name="T66" fmla="*/ 13375 w 232"/>
                <a:gd name="T67" fmla="*/ 1 h 313"/>
                <a:gd name="T68" fmla="*/ 12209 w 232"/>
                <a:gd name="T69" fmla="*/ 1 h 313"/>
                <a:gd name="T70" fmla="*/ 11124 w 232"/>
                <a:gd name="T71" fmla="*/ 1 h 313"/>
                <a:gd name="T72" fmla="*/ 9964 w 232"/>
                <a:gd name="T73" fmla="*/ 1 h 313"/>
                <a:gd name="T74" fmla="*/ 9369 w 232"/>
                <a:gd name="T75" fmla="*/ 1 h 313"/>
                <a:gd name="T76" fmla="*/ 8735 w 232"/>
                <a:gd name="T77" fmla="*/ 1 h 313"/>
                <a:gd name="T78" fmla="*/ 8735 w 232"/>
                <a:gd name="T79" fmla="*/ 1 h 313"/>
                <a:gd name="T80" fmla="*/ 8735 w 232"/>
                <a:gd name="T81" fmla="*/ 1 h 313"/>
                <a:gd name="T82" fmla="*/ 8735 w 232"/>
                <a:gd name="T83" fmla="*/ 1 h 313"/>
                <a:gd name="T84" fmla="*/ 8735 w 232"/>
                <a:gd name="T85" fmla="*/ 1 h 313"/>
                <a:gd name="T86" fmla="*/ 9369 w 232"/>
                <a:gd name="T87" fmla="*/ 1 h 313"/>
                <a:gd name="T88" fmla="*/ 9369 w 232"/>
                <a:gd name="T89" fmla="*/ 1 h 313"/>
                <a:gd name="T90" fmla="*/ 9369 w 232"/>
                <a:gd name="T91" fmla="*/ 1 h 313"/>
                <a:gd name="T92" fmla="*/ 9964 w 232"/>
                <a:gd name="T93" fmla="*/ 1 h 313"/>
                <a:gd name="T94" fmla="*/ 10498 w 232"/>
                <a:gd name="T95" fmla="*/ 1 h 313"/>
                <a:gd name="T96" fmla="*/ 10498 w 232"/>
                <a:gd name="T97" fmla="*/ 1 h 313"/>
                <a:gd name="T98" fmla="*/ 11124 w 232"/>
                <a:gd name="T99" fmla="*/ 2 h 313"/>
                <a:gd name="T100" fmla="*/ 12209 w 232"/>
                <a:gd name="T101" fmla="*/ 2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53" name="Freeform 71"/>
            <p:cNvSpPr>
              <a:spLocks/>
            </p:cNvSpPr>
            <p:nvPr/>
          </p:nvSpPr>
          <p:spPr bwMode="auto">
            <a:xfrm>
              <a:off x="2731" y="1198"/>
              <a:ext cx="252" cy="218"/>
            </a:xfrm>
            <a:custGeom>
              <a:avLst/>
              <a:gdLst>
                <a:gd name="T0" fmla="*/ 4068 w 189"/>
                <a:gd name="T1" fmla="*/ 2 h 291"/>
                <a:gd name="T2" fmla="*/ 4905 w 189"/>
                <a:gd name="T3" fmla="*/ 1 h 291"/>
                <a:gd name="T4" fmla="*/ 7583 w 189"/>
                <a:gd name="T5" fmla="*/ 1 h 291"/>
                <a:gd name="T6" fmla="*/ 10389 w 189"/>
                <a:gd name="T7" fmla="*/ 1 h 291"/>
                <a:gd name="T8" fmla="*/ 12503 w 189"/>
                <a:gd name="T9" fmla="*/ 1 h 291"/>
                <a:gd name="T10" fmla="*/ 14651 w 189"/>
                <a:gd name="T11" fmla="*/ 1 h 291"/>
                <a:gd name="T12" fmla="*/ 16671 w 189"/>
                <a:gd name="T13" fmla="*/ 1 h 291"/>
                <a:gd name="T14" fmla="*/ 18815 w 189"/>
                <a:gd name="T15" fmla="*/ 1 h 291"/>
                <a:gd name="T16" fmla="*/ 20863 w 189"/>
                <a:gd name="T17" fmla="*/ 1 h 291"/>
                <a:gd name="T18" fmla="*/ 22228 w 189"/>
                <a:gd name="T19" fmla="*/ 1 h 291"/>
                <a:gd name="T20" fmla="*/ 22857 w 189"/>
                <a:gd name="T21" fmla="*/ 1 h 291"/>
                <a:gd name="T22" fmla="*/ 24276 w 189"/>
                <a:gd name="T23" fmla="*/ 1 h 291"/>
                <a:gd name="T24" fmla="*/ 25087 w 189"/>
                <a:gd name="T25" fmla="*/ 1 h 291"/>
                <a:gd name="T26" fmla="*/ 24276 w 189"/>
                <a:gd name="T27" fmla="*/ 1 h 291"/>
                <a:gd name="T28" fmla="*/ 23601 w 189"/>
                <a:gd name="T29" fmla="*/ 1 h 291"/>
                <a:gd name="T30" fmla="*/ 22228 w 189"/>
                <a:gd name="T31" fmla="*/ 1 h 291"/>
                <a:gd name="T32" fmla="*/ 21577 w 189"/>
                <a:gd name="T33" fmla="*/ 1 h 291"/>
                <a:gd name="T34" fmla="*/ 20863 w 189"/>
                <a:gd name="T35" fmla="*/ 1 h 291"/>
                <a:gd name="T36" fmla="*/ 20047 w 189"/>
                <a:gd name="T37" fmla="*/ 1 h 291"/>
                <a:gd name="T38" fmla="*/ 18815 w 189"/>
                <a:gd name="T39" fmla="*/ 1 h 291"/>
                <a:gd name="T40" fmla="*/ 18017 w 189"/>
                <a:gd name="T41" fmla="*/ 1 h 291"/>
                <a:gd name="T42" fmla="*/ 17463 w 189"/>
                <a:gd name="T43" fmla="*/ 1 h 291"/>
                <a:gd name="T44" fmla="*/ 16671 w 189"/>
                <a:gd name="T45" fmla="*/ 1 h 291"/>
                <a:gd name="T46" fmla="*/ 15931 w 189"/>
                <a:gd name="T47" fmla="*/ 1 h 291"/>
                <a:gd name="T48" fmla="*/ 14651 w 189"/>
                <a:gd name="T49" fmla="*/ 1 h 291"/>
                <a:gd name="T50" fmla="*/ 13852 w 189"/>
                <a:gd name="T51" fmla="*/ 0 h 291"/>
                <a:gd name="T52" fmla="*/ 13151 w 189"/>
                <a:gd name="T53" fmla="*/ 1 h 291"/>
                <a:gd name="T54" fmla="*/ 13151 w 189"/>
                <a:gd name="T55" fmla="*/ 1 h 291"/>
                <a:gd name="T56" fmla="*/ 13151 w 189"/>
                <a:gd name="T57" fmla="*/ 1 h 291"/>
                <a:gd name="T58" fmla="*/ 12503 w 189"/>
                <a:gd name="T59" fmla="*/ 1 h 291"/>
                <a:gd name="T60" fmla="*/ 11148 w 189"/>
                <a:gd name="T61" fmla="*/ 1 h 291"/>
                <a:gd name="T62" fmla="*/ 9643 w 189"/>
                <a:gd name="T63" fmla="*/ 1 h 291"/>
                <a:gd name="T64" fmla="*/ 7583 w 189"/>
                <a:gd name="T65" fmla="*/ 1 h 291"/>
                <a:gd name="T66" fmla="*/ 5596 w 189"/>
                <a:gd name="T67" fmla="*/ 1 h 291"/>
                <a:gd name="T68" fmla="*/ 4068 w 189"/>
                <a:gd name="T69" fmla="*/ 1 h 291"/>
                <a:gd name="T70" fmla="*/ 2759 w 189"/>
                <a:gd name="T71" fmla="*/ 1 h 291"/>
                <a:gd name="T72" fmla="*/ 1287 w 189"/>
                <a:gd name="T73" fmla="*/ 1 h 291"/>
                <a:gd name="T74" fmla="*/ 655 w 189"/>
                <a:gd name="T75" fmla="*/ 1 h 291"/>
                <a:gd name="T76" fmla="*/ 0 w 189"/>
                <a:gd name="T77" fmla="*/ 1 h 291"/>
                <a:gd name="T78" fmla="*/ 0 w 189"/>
                <a:gd name="T79" fmla="*/ 1 h 291"/>
                <a:gd name="T80" fmla="*/ 0 w 189"/>
                <a:gd name="T81" fmla="*/ 1 h 291"/>
                <a:gd name="T82" fmla="*/ 0 w 189"/>
                <a:gd name="T83" fmla="*/ 1 h 291"/>
                <a:gd name="T84" fmla="*/ 0 w 189"/>
                <a:gd name="T85" fmla="*/ 1 h 291"/>
                <a:gd name="T86" fmla="*/ 655 w 189"/>
                <a:gd name="T87" fmla="*/ 1 h 291"/>
                <a:gd name="T88" fmla="*/ 655 w 189"/>
                <a:gd name="T89" fmla="*/ 1 h 291"/>
                <a:gd name="T90" fmla="*/ 655 w 189"/>
                <a:gd name="T91" fmla="*/ 1 h 291"/>
                <a:gd name="T92" fmla="*/ 1287 w 189"/>
                <a:gd name="T93" fmla="*/ 1 h 291"/>
                <a:gd name="T94" fmla="*/ 2069 w 189"/>
                <a:gd name="T95" fmla="*/ 1 h 291"/>
                <a:gd name="T96" fmla="*/ 2069 w 189"/>
                <a:gd name="T97" fmla="*/ 1 h 291"/>
                <a:gd name="T98" fmla="*/ 2759 w 189"/>
                <a:gd name="T99" fmla="*/ 1 h 291"/>
                <a:gd name="T100" fmla="*/ 4068 w 189"/>
                <a:gd name="T101" fmla="*/ 2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54" name="Freeform 72"/>
            <p:cNvSpPr>
              <a:spLocks/>
            </p:cNvSpPr>
            <p:nvPr/>
          </p:nvSpPr>
          <p:spPr bwMode="auto">
            <a:xfrm>
              <a:off x="2592" y="1152"/>
              <a:ext cx="226" cy="267"/>
            </a:xfrm>
            <a:custGeom>
              <a:avLst/>
              <a:gdLst>
                <a:gd name="T0" fmla="*/ 17829 w 170"/>
                <a:gd name="T1" fmla="*/ 2 h 356"/>
                <a:gd name="T2" fmla="*/ 17208 w 170"/>
                <a:gd name="T3" fmla="*/ 2 h 356"/>
                <a:gd name="T4" fmla="*/ 14834 w 170"/>
                <a:gd name="T5" fmla="*/ 2 h 356"/>
                <a:gd name="T6" fmla="*/ 12566 w 170"/>
                <a:gd name="T7" fmla="*/ 2 h 356"/>
                <a:gd name="T8" fmla="*/ 10723 w 170"/>
                <a:gd name="T9" fmla="*/ 2 h 356"/>
                <a:gd name="T10" fmla="*/ 8863 w 170"/>
                <a:gd name="T11" fmla="*/ 2 h 356"/>
                <a:gd name="T12" fmla="*/ 7018 w 170"/>
                <a:gd name="T13" fmla="*/ 2 h 356"/>
                <a:gd name="T14" fmla="*/ 5279 w 170"/>
                <a:gd name="T15" fmla="*/ 2 h 356"/>
                <a:gd name="T16" fmla="*/ 3496 w 170"/>
                <a:gd name="T17" fmla="*/ 2 h 356"/>
                <a:gd name="T18" fmla="*/ 2345 w 170"/>
                <a:gd name="T19" fmla="*/ 2 h 356"/>
                <a:gd name="T20" fmla="*/ 1764 w 170"/>
                <a:gd name="T21" fmla="*/ 2 h 356"/>
                <a:gd name="T22" fmla="*/ 633 w 170"/>
                <a:gd name="T23" fmla="*/ 2 h 356"/>
                <a:gd name="T24" fmla="*/ 0 w 170"/>
                <a:gd name="T25" fmla="*/ 2 h 356"/>
                <a:gd name="T26" fmla="*/ 633 w 170"/>
                <a:gd name="T27" fmla="*/ 2 h 356"/>
                <a:gd name="T28" fmla="*/ 1119 w 170"/>
                <a:gd name="T29" fmla="*/ 2 h 356"/>
                <a:gd name="T30" fmla="*/ 2345 w 170"/>
                <a:gd name="T31" fmla="*/ 2 h 356"/>
                <a:gd name="T32" fmla="*/ 2946 w 170"/>
                <a:gd name="T33" fmla="*/ 2 h 356"/>
                <a:gd name="T34" fmla="*/ 3496 w 170"/>
                <a:gd name="T35" fmla="*/ 2 h 356"/>
                <a:gd name="T36" fmla="*/ 4144 w 170"/>
                <a:gd name="T37" fmla="*/ 2 h 356"/>
                <a:gd name="T38" fmla="*/ 5279 w 170"/>
                <a:gd name="T39" fmla="*/ 2 h 356"/>
                <a:gd name="T40" fmla="*/ 5900 w 170"/>
                <a:gd name="T41" fmla="*/ 2 h 356"/>
                <a:gd name="T42" fmla="*/ 6546 w 170"/>
                <a:gd name="T43" fmla="*/ 2 h 356"/>
                <a:gd name="T44" fmla="*/ 7018 w 170"/>
                <a:gd name="T45" fmla="*/ 2 h 356"/>
                <a:gd name="T46" fmla="*/ 7748 w 170"/>
                <a:gd name="T47" fmla="*/ 2 h 356"/>
                <a:gd name="T48" fmla="*/ 8863 w 170"/>
                <a:gd name="T49" fmla="*/ 2 h 356"/>
                <a:gd name="T50" fmla="*/ 9529 w 170"/>
                <a:gd name="T51" fmla="*/ 0 h 356"/>
                <a:gd name="T52" fmla="*/ 10088 w 170"/>
                <a:gd name="T53" fmla="*/ 2 h 356"/>
                <a:gd name="T54" fmla="*/ 10088 w 170"/>
                <a:gd name="T55" fmla="*/ 2 h 356"/>
                <a:gd name="T56" fmla="*/ 10088 w 170"/>
                <a:gd name="T57" fmla="*/ 2 h 356"/>
                <a:gd name="T58" fmla="*/ 10723 w 170"/>
                <a:gd name="T59" fmla="*/ 2 h 356"/>
                <a:gd name="T60" fmla="*/ 11926 w 170"/>
                <a:gd name="T61" fmla="*/ 2 h 356"/>
                <a:gd name="T62" fmla="*/ 13036 w 170"/>
                <a:gd name="T63" fmla="*/ 2 h 356"/>
                <a:gd name="T64" fmla="*/ 14834 w 170"/>
                <a:gd name="T65" fmla="*/ 2 h 356"/>
                <a:gd name="T66" fmla="*/ 16535 w 170"/>
                <a:gd name="T67" fmla="*/ 2 h 356"/>
                <a:gd name="T68" fmla="*/ 17829 w 170"/>
                <a:gd name="T69" fmla="*/ 2 h 356"/>
                <a:gd name="T70" fmla="*/ 18951 w 170"/>
                <a:gd name="T71" fmla="*/ 2 h 356"/>
                <a:gd name="T72" fmla="*/ 20264 w 170"/>
                <a:gd name="T73" fmla="*/ 2 h 356"/>
                <a:gd name="T74" fmla="*/ 20791 w 170"/>
                <a:gd name="T75" fmla="*/ 2 h 356"/>
                <a:gd name="T76" fmla="*/ 21381 w 170"/>
                <a:gd name="T77" fmla="*/ 2 h 356"/>
                <a:gd name="T78" fmla="*/ 21381 w 170"/>
                <a:gd name="T79" fmla="*/ 2 h 356"/>
                <a:gd name="T80" fmla="*/ 21381 w 170"/>
                <a:gd name="T81" fmla="*/ 2 h 356"/>
                <a:gd name="T82" fmla="*/ 21381 w 170"/>
                <a:gd name="T83" fmla="*/ 2 h 356"/>
                <a:gd name="T84" fmla="*/ 21381 w 170"/>
                <a:gd name="T85" fmla="*/ 2 h 356"/>
                <a:gd name="T86" fmla="*/ 20791 w 170"/>
                <a:gd name="T87" fmla="*/ 2 h 356"/>
                <a:gd name="T88" fmla="*/ 20791 w 170"/>
                <a:gd name="T89" fmla="*/ 2 h 356"/>
                <a:gd name="T90" fmla="*/ 20791 w 170"/>
                <a:gd name="T91" fmla="*/ 2 h 356"/>
                <a:gd name="T92" fmla="*/ 20264 w 170"/>
                <a:gd name="T93" fmla="*/ 2 h 356"/>
                <a:gd name="T94" fmla="*/ 19606 w 170"/>
                <a:gd name="T95" fmla="*/ 2 h 356"/>
                <a:gd name="T96" fmla="*/ 19606 w 170"/>
                <a:gd name="T97" fmla="*/ 2 h 356"/>
                <a:gd name="T98" fmla="*/ 18951 w 170"/>
                <a:gd name="T99" fmla="*/ 2 h 356"/>
                <a:gd name="T100" fmla="*/ 17829 w 170"/>
                <a:gd name="T101" fmla="*/ 2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6600"/>
            </a:solidFill>
            <a:ln w="25400" cap="rnd">
              <a:solidFill>
                <a:srgbClr val="FF0000"/>
              </a:solidFill>
              <a:round/>
              <a:headEnd/>
              <a:tailEnd/>
            </a:ln>
          </p:spPr>
          <p:txBody>
            <a:bodyPr/>
            <a:lstStyle/>
            <a:p>
              <a:endParaRPr lang="en-US">
                <a:latin typeface="Arial"/>
                <a:cs typeface="Arial"/>
              </a:endParaRPr>
            </a:p>
          </p:txBody>
        </p:sp>
        <p:sp>
          <p:nvSpPr>
            <p:cNvPr id="255" name="Freeform 73"/>
            <p:cNvSpPr>
              <a:spLocks/>
            </p:cNvSpPr>
            <p:nvPr/>
          </p:nvSpPr>
          <p:spPr bwMode="auto">
            <a:xfrm>
              <a:off x="2692" y="1130"/>
              <a:ext cx="150" cy="289"/>
            </a:xfrm>
            <a:custGeom>
              <a:avLst/>
              <a:gdLst>
                <a:gd name="T0" fmla="*/ 2626 w 112"/>
                <a:gd name="T1" fmla="*/ 3 h 386"/>
                <a:gd name="T2" fmla="*/ 3139 w 112"/>
                <a:gd name="T3" fmla="*/ 2 h 386"/>
                <a:gd name="T4" fmla="*/ 4979 w 112"/>
                <a:gd name="T5" fmla="*/ 2 h 386"/>
                <a:gd name="T6" fmla="*/ 6668 w 112"/>
                <a:gd name="T7" fmla="*/ 2 h 386"/>
                <a:gd name="T8" fmla="*/ 7978 w 112"/>
                <a:gd name="T9" fmla="*/ 2 h 386"/>
                <a:gd name="T10" fmla="*/ 9359 w 112"/>
                <a:gd name="T11" fmla="*/ 2 h 386"/>
                <a:gd name="T12" fmla="*/ 10619 w 112"/>
                <a:gd name="T13" fmla="*/ 2 h 386"/>
                <a:gd name="T14" fmla="*/ 11960 w 112"/>
                <a:gd name="T15" fmla="*/ 2 h 386"/>
                <a:gd name="T16" fmla="*/ 13393 w 112"/>
                <a:gd name="T17" fmla="*/ 1 h 386"/>
                <a:gd name="T18" fmla="*/ 14222 w 112"/>
                <a:gd name="T19" fmla="*/ 1 h 386"/>
                <a:gd name="T20" fmla="*/ 14626 w 112"/>
                <a:gd name="T21" fmla="*/ 1 h 386"/>
                <a:gd name="T22" fmla="*/ 15530 w 112"/>
                <a:gd name="T23" fmla="*/ 1 h 386"/>
                <a:gd name="T24" fmla="*/ 16018 w 112"/>
                <a:gd name="T25" fmla="*/ 1 h 386"/>
                <a:gd name="T26" fmla="*/ 15530 w 112"/>
                <a:gd name="T27" fmla="*/ 1 h 386"/>
                <a:gd name="T28" fmla="*/ 15108 w 112"/>
                <a:gd name="T29" fmla="*/ 1 h 386"/>
                <a:gd name="T30" fmla="*/ 14222 w 112"/>
                <a:gd name="T31" fmla="*/ 1 h 386"/>
                <a:gd name="T32" fmla="*/ 13856 w 112"/>
                <a:gd name="T33" fmla="*/ 1 h 386"/>
                <a:gd name="T34" fmla="*/ 13393 w 112"/>
                <a:gd name="T35" fmla="*/ 1 h 386"/>
                <a:gd name="T36" fmla="*/ 12742 w 112"/>
                <a:gd name="T37" fmla="*/ 1 h 386"/>
                <a:gd name="T38" fmla="*/ 11960 w 112"/>
                <a:gd name="T39" fmla="*/ 1 h 386"/>
                <a:gd name="T40" fmla="*/ 11444 w 112"/>
                <a:gd name="T41" fmla="*/ 1 h 386"/>
                <a:gd name="T42" fmla="*/ 11069 w 112"/>
                <a:gd name="T43" fmla="*/ 1 h 386"/>
                <a:gd name="T44" fmla="*/ 10619 w 112"/>
                <a:gd name="T45" fmla="*/ 1 h 386"/>
                <a:gd name="T46" fmla="*/ 10134 w 112"/>
                <a:gd name="T47" fmla="*/ 1 h 386"/>
                <a:gd name="T48" fmla="*/ 9359 w 112"/>
                <a:gd name="T49" fmla="*/ 1 h 386"/>
                <a:gd name="T50" fmla="*/ 8930 w 112"/>
                <a:gd name="T51" fmla="*/ 0 h 386"/>
                <a:gd name="T52" fmla="*/ 8448 w 112"/>
                <a:gd name="T53" fmla="*/ 1 h 386"/>
                <a:gd name="T54" fmla="*/ 8448 w 112"/>
                <a:gd name="T55" fmla="*/ 1 h 386"/>
                <a:gd name="T56" fmla="*/ 8448 w 112"/>
                <a:gd name="T57" fmla="*/ 1 h 386"/>
                <a:gd name="T58" fmla="*/ 7978 w 112"/>
                <a:gd name="T59" fmla="*/ 1 h 386"/>
                <a:gd name="T60" fmla="*/ 7058 w 112"/>
                <a:gd name="T61" fmla="*/ 1 h 386"/>
                <a:gd name="T62" fmla="*/ 6181 w 112"/>
                <a:gd name="T63" fmla="*/ 1 h 386"/>
                <a:gd name="T64" fmla="*/ 4979 w 112"/>
                <a:gd name="T65" fmla="*/ 1 h 386"/>
                <a:gd name="T66" fmla="*/ 3517 w 112"/>
                <a:gd name="T67" fmla="*/ 1 h 386"/>
                <a:gd name="T68" fmla="*/ 2626 w 112"/>
                <a:gd name="T69" fmla="*/ 1 h 386"/>
                <a:gd name="T70" fmla="*/ 1686 w 112"/>
                <a:gd name="T71" fmla="*/ 1 h 386"/>
                <a:gd name="T72" fmla="*/ 889 w 112"/>
                <a:gd name="T73" fmla="*/ 1 h 386"/>
                <a:gd name="T74" fmla="*/ 391 w 112"/>
                <a:gd name="T75" fmla="*/ 1 h 386"/>
                <a:gd name="T76" fmla="*/ 0 w 112"/>
                <a:gd name="T77" fmla="*/ 1 h 386"/>
                <a:gd name="T78" fmla="*/ 0 w 112"/>
                <a:gd name="T79" fmla="*/ 1 h 386"/>
                <a:gd name="T80" fmla="*/ 0 w 112"/>
                <a:gd name="T81" fmla="*/ 1 h 386"/>
                <a:gd name="T82" fmla="*/ 0 w 112"/>
                <a:gd name="T83" fmla="*/ 1 h 386"/>
                <a:gd name="T84" fmla="*/ 0 w 112"/>
                <a:gd name="T85" fmla="*/ 1 h 386"/>
                <a:gd name="T86" fmla="*/ 391 w 112"/>
                <a:gd name="T87" fmla="*/ 1 h 386"/>
                <a:gd name="T88" fmla="*/ 391 w 112"/>
                <a:gd name="T89" fmla="*/ 2 h 386"/>
                <a:gd name="T90" fmla="*/ 391 w 112"/>
                <a:gd name="T91" fmla="*/ 2 h 386"/>
                <a:gd name="T92" fmla="*/ 889 w 112"/>
                <a:gd name="T93" fmla="*/ 2 h 386"/>
                <a:gd name="T94" fmla="*/ 1259 w 112"/>
                <a:gd name="T95" fmla="*/ 2 h 386"/>
                <a:gd name="T96" fmla="*/ 1259 w 112"/>
                <a:gd name="T97" fmla="*/ 2 h 386"/>
                <a:gd name="T98" fmla="*/ 1686 w 112"/>
                <a:gd name="T99" fmla="*/ 2 h 386"/>
                <a:gd name="T100" fmla="*/ 2626 w 112"/>
                <a:gd name="T101" fmla="*/ 3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F6600"/>
              </a:solidFill>
              <a:round/>
              <a:headEnd/>
              <a:tailEnd/>
            </a:ln>
          </p:spPr>
          <p:txBody>
            <a:bodyPr/>
            <a:lstStyle/>
            <a:p>
              <a:endParaRPr lang="en-US">
                <a:latin typeface="Arial"/>
                <a:cs typeface="Arial"/>
              </a:endParaRPr>
            </a:p>
          </p:txBody>
        </p:sp>
        <p:sp>
          <p:nvSpPr>
            <p:cNvPr id="256" name="Freeform 74"/>
            <p:cNvSpPr>
              <a:spLocks/>
            </p:cNvSpPr>
            <p:nvPr/>
          </p:nvSpPr>
          <p:spPr bwMode="auto">
            <a:xfrm>
              <a:off x="2763" y="1319"/>
              <a:ext cx="169" cy="97"/>
            </a:xfrm>
            <a:custGeom>
              <a:avLst/>
              <a:gdLst>
                <a:gd name="T0" fmla="*/ 0 w 127"/>
                <a:gd name="T1" fmla="*/ 2 h 129"/>
                <a:gd name="T2" fmla="*/ 1273 w 127"/>
                <a:gd name="T3" fmla="*/ 2 h 129"/>
                <a:gd name="T4" fmla="*/ 1965 w 127"/>
                <a:gd name="T5" fmla="*/ 2 h 129"/>
                <a:gd name="T6" fmla="*/ 3101 w 127"/>
                <a:gd name="T7" fmla="*/ 2 h 129"/>
                <a:gd name="T8" fmla="*/ 4362 w 127"/>
                <a:gd name="T9" fmla="*/ 2 h 129"/>
                <a:gd name="T10" fmla="*/ 5742 w 127"/>
                <a:gd name="T11" fmla="*/ 2 h 129"/>
                <a:gd name="T12" fmla="*/ 6163 w 127"/>
                <a:gd name="T13" fmla="*/ 2 h 129"/>
                <a:gd name="T14" fmla="*/ 7433 w 127"/>
                <a:gd name="T15" fmla="*/ 2 h 129"/>
                <a:gd name="T16" fmla="*/ 8113 w 127"/>
                <a:gd name="T17" fmla="*/ 2 h 129"/>
                <a:gd name="T18" fmla="*/ 8743 w 127"/>
                <a:gd name="T19" fmla="*/ 2 h 129"/>
                <a:gd name="T20" fmla="*/ 10056 w 127"/>
                <a:gd name="T21" fmla="*/ 2 h 129"/>
                <a:gd name="T22" fmla="*/ 10056 w 127"/>
                <a:gd name="T23" fmla="*/ 2 h 129"/>
                <a:gd name="T24" fmla="*/ 11201 w 127"/>
                <a:gd name="T25" fmla="*/ 2 h 129"/>
                <a:gd name="T26" fmla="*/ 11201 w 127"/>
                <a:gd name="T27" fmla="*/ 2 h 129"/>
                <a:gd name="T28" fmla="*/ 11201 w 127"/>
                <a:gd name="T29" fmla="*/ 2 h 129"/>
                <a:gd name="T30" fmla="*/ 11775 w 127"/>
                <a:gd name="T31" fmla="*/ 2 h 129"/>
                <a:gd name="T32" fmla="*/ 13162 w 127"/>
                <a:gd name="T33" fmla="*/ 2 h 129"/>
                <a:gd name="T34" fmla="*/ 13162 w 127"/>
                <a:gd name="T35" fmla="*/ 2 h 129"/>
                <a:gd name="T36" fmla="*/ 13738 w 127"/>
                <a:gd name="T37" fmla="*/ 2 h 129"/>
                <a:gd name="T38" fmla="*/ 13738 w 127"/>
                <a:gd name="T39" fmla="*/ 2 h 129"/>
                <a:gd name="T40" fmla="*/ 14905 w 127"/>
                <a:gd name="T41" fmla="*/ 0 h 129"/>
                <a:gd name="T42" fmla="*/ 14905 w 127"/>
                <a:gd name="T43" fmla="*/ 2 h 129"/>
                <a:gd name="T44" fmla="*/ 14905 w 127"/>
                <a:gd name="T45" fmla="*/ 2 h 129"/>
                <a:gd name="T46" fmla="*/ 15548 w 127"/>
                <a:gd name="T47" fmla="*/ 2 h 129"/>
                <a:gd name="T48" fmla="*/ 15548 w 127"/>
                <a:gd name="T49" fmla="*/ 2 h 129"/>
                <a:gd name="T50" fmla="*/ 15548 w 127"/>
                <a:gd name="T51" fmla="*/ 2 h 129"/>
                <a:gd name="T52" fmla="*/ 16268 w 127"/>
                <a:gd name="T53" fmla="*/ 2 h 129"/>
                <a:gd name="T54" fmla="*/ 16268 w 127"/>
                <a:gd name="T55" fmla="*/ 2 h 129"/>
                <a:gd name="T56" fmla="*/ 16268 w 127"/>
                <a:gd name="T57" fmla="*/ 2 h 129"/>
                <a:gd name="T58" fmla="*/ 16268 w 127"/>
                <a:gd name="T59" fmla="*/ 2 h 129"/>
                <a:gd name="T60" fmla="*/ 16268 w 127"/>
                <a:gd name="T61" fmla="*/ 2 h 129"/>
                <a:gd name="T62" fmla="*/ 15548 w 127"/>
                <a:gd name="T63" fmla="*/ 2 h 129"/>
                <a:gd name="T64" fmla="*/ 14298 w 127"/>
                <a:gd name="T65" fmla="*/ 2 h 129"/>
                <a:gd name="T66" fmla="*/ 13738 w 127"/>
                <a:gd name="T67" fmla="*/ 2 h 129"/>
                <a:gd name="T68" fmla="*/ 12514 w 127"/>
                <a:gd name="T69" fmla="*/ 2 h 129"/>
                <a:gd name="T70" fmla="*/ 11201 w 127"/>
                <a:gd name="T71" fmla="*/ 2 h 129"/>
                <a:gd name="T72" fmla="*/ 10056 w 127"/>
                <a:gd name="T73" fmla="*/ 2 h 129"/>
                <a:gd name="T74" fmla="*/ 8743 w 127"/>
                <a:gd name="T75" fmla="*/ 2 h 129"/>
                <a:gd name="T76" fmla="*/ 7433 w 127"/>
                <a:gd name="T77" fmla="*/ 2 h 129"/>
                <a:gd name="T78" fmla="*/ 6163 w 127"/>
                <a:gd name="T79" fmla="*/ 2 h 129"/>
                <a:gd name="T80" fmla="*/ 4997 w 127"/>
                <a:gd name="T81" fmla="*/ 2 h 129"/>
                <a:gd name="T82" fmla="*/ 3755 w 127"/>
                <a:gd name="T83" fmla="*/ 2 h 129"/>
                <a:gd name="T84" fmla="*/ 2437 w 127"/>
                <a:gd name="T85" fmla="*/ 2 h 129"/>
                <a:gd name="T86" fmla="*/ 1273 w 127"/>
                <a:gd name="T87" fmla="*/ 2 h 129"/>
                <a:gd name="T88" fmla="*/ 0 w 127"/>
                <a:gd name="T89" fmla="*/ 2 h 129"/>
                <a:gd name="T90" fmla="*/ 8113 w 127"/>
                <a:gd name="T91" fmla="*/ 2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FF00"/>
            </a:solidFill>
            <a:ln w="25400" cap="rnd">
              <a:solidFill>
                <a:srgbClr val="FF0000"/>
              </a:solidFill>
              <a:round/>
              <a:headEnd/>
              <a:tailEnd/>
            </a:ln>
          </p:spPr>
          <p:txBody>
            <a:bodyPr/>
            <a:lstStyle/>
            <a:p>
              <a:endParaRPr lang="en-US">
                <a:latin typeface="Arial"/>
                <a:cs typeface="Arial"/>
              </a:endParaRPr>
            </a:p>
          </p:txBody>
        </p:sp>
      </p:grpSp>
      <p:grpSp>
        <p:nvGrpSpPr>
          <p:cNvPr id="257" name="Group 67"/>
          <p:cNvGrpSpPr>
            <a:grpSpLocks/>
          </p:cNvGrpSpPr>
          <p:nvPr/>
        </p:nvGrpSpPr>
        <p:grpSpPr bwMode="auto">
          <a:xfrm>
            <a:off x="4506682" y="1623111"/>
            <a:ext cx="292613" cy="477500"/>
            <a:chOff x="2571" y="1098"/>
            <a:chExt cx="412" cy="328"/>
          </a:xfrm>
        </p:grpSpPr>
        <p:sp>
          <p:nvSpPr>
            <p:cNvPr id="258" name="Freeform 68"/>
            <p:cNvSpPr>
              <a:spLocks/>
            </p:cNvSpPr>
            <p:nvPr/>
          </p:nvSpPr>
          <p:spPr bwMode="auto">
            <a:xfrm>
              <a:off x="2571" y="1098"/>
              <a:ext cx="188" cy="321"/>
            </a:xfrm>
            <a:custGeom>
              <a:avLst/>
              <a:gdLst>
                <a:gd name="T0" fmla="*/ 15547 w 141"/>
                <a:gd name="T1" fmla="*/ 4 h 428"/>
                <a:gd name="T2" fmla="*/ 15035 w 141"/>
                <a:gd name="T3" fmla="*/ 4 h 428"/>
                <a:gd name="T4" fmla="*/ 12857 w 141"/>
                <a:gd name="T5" fmla="*/ 4 h 428"/>
                <a:gd name="T6" fmla="*/ 10817 w 141"/>
                <a:gd name="T7" fmla="*/ 3 h 428"/>
                <a:gd name="T8" fmla="*/ 9257 w 141"/>
                <a:gd name="T9" fmla="*/ 3 h 428"/>
                <a:gd name="T10" fmla="*/ 7681 w 141"/>
                <a:gd name="T11" fmla="*/ 3 h 428"/>
                <a:gd name="T12" fmla="*/ 6271 w 141"/>
                <a:gd name="T13" fmla="*/ 3 h 428"/>
                <a:gd name="T14" fmla="*/ 4703 w 141"/>
                <a:gd name="T15" fmla="*/ 3 h 428"/>
                <a:gd name="T16" fmla="*/ 3051 w 141"/>
                <a:gd name="T17" fmla="*/ 3 h 428"/>
                <a:gd name="T18" fmla="*/ 2069 w 141"/>
                <a:gd name="T19" fmla="*/ 3 h 428"/>
                <a:gd name="T20" fmla="*/ 1552 w 141"/>
                <a:gd name="T21" fmla="*/ 2 h 428"/>
                <a:gd name="T22" fmla="*/ 491 w 141"/>
                <a:gd name="T23" fmla="*/ 2 h 428"/>
                <a:gd name="T24" fmla="*/ 0 w 141"/>
                <a:gd name="T25" fmla="*/ 2 h 428"/>
                <a:gd name="T26" fmla="*/ 491 w 141"/>
                <a:gd name="T27" fmla="*/ 2 h 428"/>
                <a:gd name="T28" fmla="*/ 1129 w 141"/>
                <a:gd name="T29" fmla="*/ 2 h 428"/>
                <a:gd name="T30" fmla="*/ 2069 w 141"/>
                <a:gd name="T31" fmla="*/ 2 h 428"/>
                <a:gd name="T32" fmla="*/ 2491 w 141"/>
                <a:gd name="T33" fmla="*/ 2 h 428"/>
                <a:gd name="T34" fmla="*/ 3051 w 141"/>
                <a:gd name="T35" fmla="*/ 2 h 428"/>
                <a:gd name="T36" fmla="*/ 3568 w 141"/>
                <a:gd name="T37" fmla="*/ 2 h 428"/>
                <a:gd name="T38" fmla="*/ 4703 w 141"/>
                <a:gd name="T39" fmla="*/ 2 h 428"/>
                <a:gd name="T40" fmla="*/ 5185 w 141"/>
                <a:gd name="T41" fmla="*/ 2 h 428"/>
                <a:gd name="T42" fmla="*/ 5687 w 141"/>
                <a:gd name="T43" fmla="*/ 2 h 428"/>
                <a:gd name="T44" fmla="*/ 6271 w 141"/>
                <a:gd name="T45" fmla="*/ 2 h 428"/>
                <a:gd name="T46" fmla="*/ 6805 w 141"/>
                <a:gd name="T47" fmla="*/ 2 h 428"/>
                <a:gd name="T48" fmla="*/ 7681 w 141"/>
                <a:gd name="T49" fmla="*/ 2 h 428"/>
                <a:gd name="T50" fmla="*/ 8308 w 141"/>
                <a:gd name="T51" fmla="*/ 0 h 428"/>
                <a:gd name="T52" fmla="*/ 8745 w 141"/>
                <a:gd name="T53" fmla="*/ 2 h 428"/>
                <a:gd name="T54" fmla="*/ 8745 w 141"/>
                <a:gd name="T55" fmla="*/ 2 h 428"/>
                <a:gd name="T56" fmla="*/ 8745 w 141"/>
                <a:gd name="T57" fmla="*/ 2 h 428"/>
                <a:gd name="T58" fmla="*/ 9257 w 141"/>
                <a:gd name="T59" fmla="*/ 2 h 428"/>
                <a:gd name="T60" fmla="*/ 10389 w 141"/>
                <a:gd name="T61" fmla="*/ 2 h 428"/>
                <a:gd name="T62" fmla="*/ 11456 w 141"/>
                <a:gd name="T63" fmla="*/ 2 h 428"/>
                <a:gd name="T64" fmla="*/ 12857 w 141"/>
                <a:gd name="T65" fmla="*/ 2 h 428"/>
                <a:gd name="T66" fmla="*/ 14423 w 141"/>
                <a:gd name="T67" fmla="*/ 2 h 428"/>
                <a:gd name="T68" fmla="*/ 15547 w 141"/>
                <a:gd name="T69" fmla="*/ 2 h 428"/>
                <a:gd name="T70" fmla="*/ 16457 w 141"/>
                <a:gd name="T71" fmla="*/ 2 h 428"/>
                <a:gd name="T72" fmla="*/ 17535 w 141"/>
                <a:gd name="T73" fmla="*/ 2 h 428"/>
                <a:gd name="T74" fmla="*/ 18017 w 141"/>
                <a:gd name="T75" fmla="*/ 2 h 428"/>
                <a:gd name="T76" fmla="*/ 18660 w 141"/>
                <a:gd name="T77" fmla="*/ 2 h 428"/>
                <a:gd name="T78" fmla="*/ 18660 w 141"/>
                <a:gd name="T79" fmla="*/ 2 h 428"/>
                <a:gd name="T80" fmla="*/ 18660 w 141"/>
                <a:gd name="T81" fmla="*/ 2 h 428"/>
                <a:gd name="T82" fmla="*/ 18660 w 141"/>
                <a:gd name="T83" fmla="*/ 2 h 428"/>
                <a:gd name="T84" fmla="*/ 18660 w 141"/>
                <a:gd name="T85" fmla="*/ 3 h 428"/>
                <a:gd name="T86" fmla="*/ 18017 w 141"/>
                <a:gd name="T87" fmla="*/ 3 h 428"/>
                <a:gd name="T88" fmla="*/ 18017 w 141"/>
                <a:gd name="T89" fmla="*/ 3 h 428"/>
                <a:gd name="T90" fmla="*/ 18017 w 141"/>
                <a:gd name="T91" fmla="*/ 3 h 428"/>
                <a:gd name="T92" fmla="*/ 17535 w 141"/>
                <a:gd name="T93" fmla="*/ 3 h 428"/>
                <a:gd name="T94" fmla="*/ 17055 w 141"/>
                <a:gd name="T95" fmla="*/ 3 h 428"/>
                <a:gd name="T96" fmla="*/ 17055 w 141"/>
                <a:gd name="T97" fmla="*/ 4 h 428"/>
                <a:gd name="T98" fmla="*/ 16457 w 141"/>
                <a:gd name="T99" fmla="*/ 4 h 428"/>
                <a:gd name="T100" fmla="*/ 15547 w 141"/>
                <a:gd name="T101" fmla="*/ 4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a:cs typeface="Arial"/>
              </a:endParaRPr>
            </a:p>
          </p:txBody>
        </p:sp>
        <p:sp>
          <p:nvSpPr>
            <p:cNvPr id="259" name="Freeform 69"/>
            <p:cNvSpPr>
              <a:spLocks/>
            </p:cNvSpPr>
            <p:nvPr/>
          </p:nvSpPr>
          <p:spPr bwMode="auto">
            <a:xfrm>
              <a:off x="2712" y="1207"/>
              <a:ext cx="194" cy="219"/>
            </a:xfrm>
            <a:custGeom>
              <a:avLst/>
              <a:gdLst>
                <a:gd name="T0" fmla="*/ 3424 w 145"/>
                <a:gd name="T1" fmla="*/ 2 h 292"/>
                <a:gd name="T2" fmla="*/ 3954 w 145"/>
                <a:gd name="T3" fmla="*/ 2 h 292"/>
                <a:gd name="T4" fmla="*/ 6251 w 145"/>
                <a:gd name="T5" fmla="*/ 2 h 292"/>
                <a:gd name="T6" fmla="*/ 8424 w 145"/>
                <a:gd name="T7" fmla="*/ 2 h 292"/>
                <a:gd name="T8" fmla="*/ 10051 w 145"/>
                <a:gd name="T9" fmla="*/ 2 h 292"/>
                <a:gd name="T10" fmla="*/ 11859 w 145"/>
                <a:gd name="T11" fmla="*/ 2 h 292"/>
                <a:gd name="T12" fmla="*/ 13448 w 145"/>
                <a:gd name="T13" fmla="*/ 2 h 292"/>
                <a:gd name="T14" fmla="*/ 15194 w 145"/>
                <a:gd name="T15" fmla="*/ 2 h 292"/>
                <a:gd name="T16" fmla="*/ 16952 w 145"/>
                <a:gd name="T17" fmla="*/ 2 h 292"/>
                <a:gd name="T18" fmla="*/ 17992 w 145"/>
                <a:gd name="T19" fmla="*/ 2 h 292"/>
                <a:gd name="T20" fmla="*/ 18660 w 145"/>
                <a:gd name="T21" fmla="*/ 2 h 292"/>
                <a:gd name="T22" fmla="*/ 19668 w 145"/>
                <a:gd name="T23" fmla="*/ 2 h 292"/>
                <a:gd name="T24" fmla="*/ 20329 w 145"/>
                <a:gd name="T25" fmla="*/ 2 h 292"/>
                <a:gd name="T26" fmla="*/ 19668 w 145"/>
                <a:gd name="T27" fmla="*/ 2 h 292"/>
                <a:gd name="T28" fmla="*/ 19193 w 145"/>
                <a:gd name="T29" fmla="*/ 2 h 292"/>
                <a:gd name="T30" fmla="*/ 17992 w 145"/>
                <a:gd name="T31" fmla="*/ 2 h 292"/>
                <a:gd name="T32" fmla="*/ 17468 w 145"/>
                <a:gd name="T33" fmla="*/ 2 h 292"/>
                <a:gd name="T34" fmla="*/ 16952 w 145"/>
                <a:gd name="T35" fmla="*/ 2 h 292"/>
                <a:gd name="T36" fmla="*/ 16313 w 145"/>
                <a:gd name="T37" fmla="*/ 2 h 292"/>
                <a:gd name="T38" fmla="*/ 15194 w 145"/>
                <a:gd name="T39" fmla="*/ 2 h 292"/>
                <a:gd name="T40" fmla="*/ 14678 w 145"/>
                <a:gd name="T41" fmla="*/ 2 h 292"/>
                <a:gd name="T42" fmla="*/ 14099 w 145"/>
                <a:gd name="T43" fmla="*/ 2 h 292"/>
                <a:gd name="T44" fmla="*/ 13448 w 145"/>
                <a:gd name="T45" fmla="*/ 2 h 292"/>
                <a:gd name="T46" fmla="*/ 13038 w 145"/>
                <a:gd name="T47" fmla="*/ 2 h 292"/>
                <a:gd name="T48" fmla="*/ 11859 w 145"/>
                <a:gd name="T49" fmla="*/ 2 h 292"/>
                <a:gd name="T50" fmla="*/ 11271 w 145"/>
                <a:gd name="T51" fmla="*/ 0 h 292"/>
                <a:gd name="T52" fmla="*/ 10722 w 145"/>
                <a:gd name="T53" fmla="*/ 2 h 292"/>
                <a:gd name="T54" fmla="*/ 10722 w 145"/>
                <a:gd name="T55" fmla="*/ 2 h 292"/>
                <a:gd name="T56" fmla="*/ 10722 w 145"/>
                <a:gd name="T57" fmla="*/ 2 h 292"/>
                <a:gd name="T58" fmla="*/ 10051 w 145"/>
                <a:gd name="T59" fmla="*/ 2 h 292"/>
                <a:gd name="T60" fmla="*/ 9081 w 145"/>
                <a:gd name="T61" fmla="*/ 2 h 292"/>
                <a:gd name="T62" fmla="*/ 7876 w 145"/>
                <a:gd name="T63" fmla="*/ 2 h 292"/>
                <a:gd name="T64" fmla="*/ 6251 w 145"/>
                <a:gd name="T65" fmla="*/ 2 h 292"/>
                <a:gd name="T66" fmla="*/ 4581 w 145"/>
                <a:gd name="T67" fmla="*/ 2 h 292"/>
                <a:gd name="T68" fmla="*/ 3424 w 145"/>
                <a:gd name="T69" fmla="*/ 2 h 292"/>
                <a:gd name="T70" fmla="*/ 2209 w 145"/>
                <a:gd name="T71" fmla="*/ 2 h 292"/>
                <a:gd name="T72" fmla="*/ 1183 w 145"/>
                <a:gd name="T73" fmla="*/ 2 h 292"/>
                <a:gd name="T74" fmla="*/ 515 w 145"/>
                <a:gd name="T75" fmla="*/ 2 h 292"/>
                <a:gd name="T76" fmla="*/ 0 w 145"/>
                <a:gd name="T77" fmla="*/ 2 h 292"/>
                <a:gd name="T78" fmla="*/ 0 w 145"/>
                <a:gd name="T79" fmla="*/ 2 h 292"/>
                <a:gd name="T80" fmla="*/ 0 w 145"/>
                <a:gd name="T81" fmla="*/ 2 h 292"/>
                <a:gd name="T82" fmla="*/ 0 w 145"/>
                <a:gd name="T83" fmla="*/ 2 h 292"/>
                <a:gd name="T84" fmla="*/ 0 w 145"/>
                <a:gd name="T85" fmla="*/ 2 h 292"/>
                <a:gd name="T86" fmla="*/ 515 w 145"/>
                <a:gd name="T87" fmla="*/ 2 h 292"/>
                <a:gd name="T88" fmla="*/ 515 w 145"/>
                <a:gd name="T89" fmla="*/ 2 h 292"/>
                <a:gd name="T90" fmla="*/ 515 w 145"/>
                <a:gd name="T91" fmla="*/ 2 h 292"/>
                <a:gd name="T92" fmla="*/ 1183 w 145"/>
                <a:gd name="T93" fmla="*/ 2 h 292"/>
                <a:gd name="T94" fmla="*/ 1651 w 145"/>
                <a:gd name="T95" fmla="*/ 2 h 292"/>
                <a:gd name="T96" fmla="*/ 1651 w 145"/>
                <a:gd name="T97" fmla="*/ 2 h 292"/>
                <a:gd name="T98" fmla="*/ 2209 w 145"/>
                <a:gd name="T99" fmla="*/ 2 h 292"/>
                <a:gd name="T100" fmla="*/ 3424 w 145"/>
                <a:gd name="T101" fmla="*/ 2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60" name="Freeform 70"/>
            <p:cNvSpPr>
              <a:spLocks/>
            </p:cNvSpPr>
            <p:nvPr/>
          </p:nvSpPr>
          <p:spPr bwMode="auto">
            <a:xfrm>
              <a:off x="2626" y="1127"/>
              <a:ext cx="309" cy="234"/>
            </a:xfrm>
            <a:custGeom>
              <a:avLst/>
              <a:gdLst>
                <a:gd name="T0" fmla="*/ 12209 w 232"/>
                <a:gd name="T1" fmla="*/ 2 h 313"/>
                <a:gd name="T2" fmla="*/ 12839 w 232"/>
                <a:gd name="T3" fmla="*/ 2 h 313"/>
                <a:gd name="T4" fmla="*/ 15303 w 232"/>
                <a:gd name="T5" fmla="*/ 2 h 313"/>
                <a:gd name="T6" fmla="*/ 17676 w 232"/>
                <a:gd name="T7" fmla="*/ 1 h 313"/>
                <a:gd name="T8" fmla="*/ 19472 w 232"/>
                <a:gd name="T9" fmla="*/ 1 h 313"/>
                <a:gd name="T10" fmla="*/ 21220 w 232"/>
                <a:gd name="T11" fmla="*/ 1 h 313"/>
                <a:gd name="T12" fmla="*/ 23123 w 232"/>
                <a:gd name="T13" fmla="*/ 1 h 313"/>
                <a:gd name="T14" fmla="*/ 24804 w 232"/>
                <a:gd name="T15" fmla="*/ 1 h 313"/>
                <a:gd name="T16" fmla="*/ 26503 w 232"/>
                <a:gd name="T17" fmla="*/ 1 h 313"/>
                <a:gd name="T18" fmla="*/ 27783 w 232"/>
                <a:gd name="T19" fmla="*/ 1 h 313"/>
                <a:gd name="T20" fmla="*/ 28425 w 232"/>
                <a:gd name="T21" fmla="*/ 1 h 313"/>
                <a:gd name="T22" fmla="*/ 29521 w 232"/>
                <a:gd name="T23" fmla="*/ 1 h 313"/>
                <a:gd name="T24" fmla="*/ 30170 w 232"/>
                <a:gd name="T25" fmla="*/ 1 h 313"/>
                <a:gd name="T26" fmla="*/ 29521 w 232"/>
                <a:gd name="T27" fmla="*/ 1 h 313"/>
                <a:gd name="T28" fmla="*/ 28846 w 232"/>
                <a:gd name="T29" fmla="*/ 1 h 313"/>
                <a:gd name="T30" fmla="*/ 27783 w 232"/>
                <a:gd name="T31" fmla="*/ 1 h 313"/>
                <a:gd name="T32" fmla="*/ 27147 w 232"/>
                <a:gd name="T33" fmla="*/ 1 h 313"/>
                <a:gd name="T34" fmla="*/ 26503 w 232"/>
                <a:gd name="T35" fmla="*/ 1 h 313"/>
                <a:gd name="T36" fmla="*/ 26025 w 232"/>
                <a:gd name="T37" fmla="*/ 1 h 313"/>
                <a:gd name="T38" fmla="*/ 24804 w 232"/>
                <a:gd name="T39" fmla="*/ 1 h 313"/>
                <a:gd name="T40" fmla="*/ 24149 w 232"/>
                <a:gd name="T41" fmla="*/ 1 h 313"/>
                <a:gd name="T42" fmla="*/ 23543 w 232"/>
                <a:gd name="T43" fmla="*/ 1 h 313"/>
                <a:gd name="T44" fmla="*/ 23662 w 232"/>
                <a:gd name="T45" fmla="*/ 1 h 313"/>
                <a:gd name="T46" fmla="*/ 22465 w 232"/>
                <a:gd name="T47" fmla="*/ 1 h 313"/>
                <a:gd name="T48" fmla="*/ 21220 w 232"/>
                <a:gd name="T49" fmla="*/ 1 h 313"/>
                <a:gd name="T50" fmla="*/ 20638 w 232"/>
                <a:gd name="T51" fmla="*/ 0 h 313"/>
                <a:gd name="T52" fmla="*/ 20113 w 232"/>
                <a:gd name="T53" fmla="*/ 1 h 313"/>
                <a:gd name="T54" fmla="*/ 20113 w 232"/>
                <a:gd name="T55" fmla="*/ 1 h 313"/>
                <a:gd name="T56" fmla="*/ 20113 w 232"/>
                <a:gd name="T57" fmla="*/ 1 h 313"/>
                <a:gd name="T58" fmla="*/ 19472 w 232"/>
                <a:gd name="T59" fmla="*/ 1 h 313"/>
                <a:gd name="T60" fmla="*/ 18131 w 232"/>
                <a:gd name="T61" fmla="*/ 1 h 313"/>
                <a:gd name="T62" fmla="*/ 17100 w 232"/>
                <a:gd name="T63" fmla="*/ 1 h 313"/>
                <a:gd name="T64" fmla="*/ 15303 w 232"/>
                <a:gd name="T65" fmla="*/ 1 h 313"/>
                <a:gd name="T66" fmla="*/ 13375 w 232"/>
                <a:gd name="T67" fmla="*/ 1 h 313"/>
                <a:gd name="T68" fmla="*/ 12209 w 232"/>
                <a:gd name="T69" fmla="*/ 1 h 313"/>
                <a:gd name="T70" fmla="*/ 11124 w 232"/>
                <a:gd name="T71" fmla="*/ 1 h 313"/>
                <a:gd name="T72" fmla="*/ 9964 w 232"/>
                <a:gd name="T73" fmla="*/ 1 h 313"/>
                <a:gd name="T74" fmla="*/ 9369 w 232"/>
                <a:gd name="T75" fmla="*/ 1 h 313"/>
                <a:gd name="T76" fmla="*/ 8735 w 232"/>
                <a:gd name="T77" fmla="*/ 1 h 313"/>
                <a:gd name="T78" fmla="*/ 8735 w 232"/>
                <a:gd name="T79" fmla="*/ 1 h 313"/>
                <a:gd name="T80" fmla="*/ 8735 w 232"/>
                <a:gd name="T81" fmla="*/ 1 h 313"/>
                <a:gd name="T82" fmla="*/ 8735 w 232"/>
                <a:gd name="T83" fmla="*/ 1 h 313"/>
                <a:gd name="T84" fmla="*/ 8735 w 232"/>
                <a:gd name="T85" fmla="*/ 1 h 313"/>
                <a:gd name="T86" fmla="*/ 9369 w 232"/>
                <a:gd name="T87" fmla="*/ 1 h 313"/>
                <a:gd name="T88" fmla="*/ 9369 w 232"/>
                <a:gd name="T89" fmla="*/ 1 h 313"/>
                <a:gd name="T90" fmla="*/ 9369 w 232"/>
                <a:gd name="T91" fmla="*/ 1 h 313"/>
                <a:gd name="T92" fmla="*/ 9964 w 232"/>
                <a:gd name="T93" fmla="*/ 1 h 313"/>
                <a:gd name="T94" fmla="*/ 10498 w 232"/>
                <a:gd name="T95" fmla="*/ 1 h 313"/>
                <a:gd name="T96" fmla="*/ 10498 w 232"/>
                <a:gd name="T97" fmla="*/ 1 h 313"/>
                <a:gd name="T98" fmla="*/ 11124 w 232"/>
                <a:gd name="T99" fmla="*/ 2 h 313"/>
                <a:gd name="T100" fmla="*/ 12209 w 232"/>
                <a:gd name="T101" fmla="*/ 2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61" name="Freeform 71"/>
            <p:cNvSpPr>
              <a:spLocks/>
            </p:cNvSpPr>
            <p:nvPr/>
          </p:nvSpPr>
          <p:spPr bwMode="auto">
            <a:xfrm>
              <a:off x="2731" y="1198"/>
              <a:ext cx="252" cy="218"/>
            </a:xfrm>
            <a:custGeom>
              <a:avLst/>
              <a:gdLst>
                <a:gd name="T0" fmla="*/ 4068 w 189"/>
                <a:gd name="T1" fmla="*/ 2 h 291"/>
                <a:gd name="T2" fmla="*/ 4905 w 189"/>
                <a:gd name="T3" fmla="*/ 1 h 291"/>
                <a:gd name="T4" fmla="*/ 7583 w 189"/>
                <a:gd name="T5" fmla="*/ 1 h 291"/>
                <a:gd name="T6" fmla="*/ 10389 w 189"/>
                <a:gd name="T7" fmla="*/ 1 h 291"/>
                <a:gd name="T8" fmla="*/ 12503 w 189"/>
                <a:gd name="T9" fmla="*/ 1 h 291"/>
                <a:gd name="T10" fmla="*/ 14651 w 189"/>
                <a:gd name="T11" fmla="*/ 1 h 291"/>
                <a:gd name="T12" fmla="*/ 16671 w 189"/>
                <a:gd name="T13" fmla="*/ 1 h 291"/>
                <a:gd name="T14" fmla="*/ 18815 w 189"/>
                <a:gd name="T15" fmla="*/ 1 h 291"/>
                <a:gd name="T16" fmla="*/ 20863 w 189"/>
                <a:gd name="T17" fmla="*/ 1 h 291"/>
                <a:gd name="T18" fmla="*/ 22228 w 189"/>
                <a:gd name="T19" fmla="*/ 1 h 291"/>
                <a:gd name="T20" fmla="*/ 22857 w 189"/>
                <a:gd name="T21" fmla="*/ 1 h 291"/>
                <a:gd name="T22" fmla="*/ 24276 w 189"/>
                <a:gd name="T23" fmla="*/ 1 h 291"/>
                <a:gd name="T24" fmla="*/ 25087 w 189"/>
                <a:gd name="T25" fmla="*/ 1 h 291"/>
                <a:gd name="T26" fmla="*/ 24276 w 189"/>
                <a:gd name="T27" fmla="*/ 1 h 291"/>
                <a:gd name="T28" fmla="*/ 23601 w 189"/>
                <a:gd name="T29" fmla="*/ 1 h 291"/>
                <a:gd name="T30" fmla="*/ 22228 w 189"/>
                <a:gd name="T31" fmla="*/ 1 h 291"/>
                <a:gd name="T32" fmla="*/ 21577 w 189"/>
                <a:gd name="T33" fmla="*/ 1 h 291"/>
                <a:gd name="T34" fmla="*/ 20863 w 189"/>
                <a:gd name="T35" fmla="*/ 1 h 291"/>
                <a:gd name="T36" fmla="*/ 20047 w 189"/>
                <a:gd name="T37" fmla="*/ 1 h 291"/>
                <a:gd name="T38" fmla="*/ 18815 w 189"/>
                <a:gd name="T39" fmla="*/ 1 h 291"/>
                <a:gd name="T40" fmla="*/ 18017 w 189"/>
                <a:gd name="T41" fmla="*/ 1 h 291"/>
                <a:gd name="T42" fmla="*/ 17463 w 189"/>
                <a:gd name="T43" fmla="*/ 1 h 291"/>
                <a:gd name="T44" fmla="*/ 16671 w 189"/>
                <a:gd name="T45" fmla="*/ 1 h 291"/>
                <a:gd name="T46" fmla="*/ 15931 w 189"/>
                <a:gd name="T47" fmla="*/ 1 h 291"/>
                <a:gd name="T48" fmla="*/ 14651 w 189"/>
                <a:gd name="T49" fmla="*/ 1 h 291"/>
                <a:gd name="T50" fmla="*/ 13852 w 189"/>
                <a:gd name="T51" fmla="*/ 0 h 291"/>
                <a:gd name="T52" fmla="*/ 13151 w 189"/>
                <a:gd name="T53" fmla="*/ 1 h 291"/>
                <a:gd name="T54" fmla="*/ 13151 w 189"/>
                <a:gd name="T55" fmla="*/ 1 h 291"/>
                <a:gd name="T56" fmla="*/ 13151 w 189"/>
                <a:gd name="T57" fmla="*/ 1 h 291"/>
                <a:gd name="T58" fmla="*/ 12503 w 189"/>
                <a:gd name="T59" fmla="*/ 1 h 291"/>
                <a:gd name="T60" fmla="*/ 11148 w 189"/>
                <a:gd name="T61" fmla="*/ 1 h 291"/>
                <a:gd name="T62" fmla="*/ 9643 w 189"/>
                <a:gd name="T63" fmla="*/ 1 h 291"/>
                <a:gd name="T64" fmla="*/ 7583 w 189"/>
                <a:gd name="T65" fmla="*/ 1 h 291"/>
                <a:gd name="T66" fmla="*/ 5596 w 189"/>
                <a:gd name="T67" fmla="*/ 1 h 291"/>
                <a:gd name="T68" fmla="*/ 4068 w 189"/>
                <a:gd name="T69" fmla="*/ 1 h 291"/>
                <a:gd name="T70" fmla="*/ 2759 w 189"/>
                <a:gd name="T71" fmla="*/ 1 h 291"/>
                <a:gd name="T72" fmla="*/ 1287 w 189"/>
                <a:gd name="T73" fmla="*/ 1 h 291"/>
                <a:gd name="T74" fmla="*/ 655 w 189"/>
                <a:gd name="T75" fmla="*/ 1 h 291"/>
                <a:gd name="T76" fmla="*/ 0 w 189"/>
                <a:gd name="T77" fmla="*/ 1 h 291"/>
                <a:gd name="T78" fmla="*/ 0 w 189"/>
                <a:gd name="T79" fmla="*/ 1 h 291"/>
                <a:gd name="T80" fmla="*/ 0 w 189"/>
                <a:gd name="T81" fmla="*/ 1 h 291"/>
                <a:gd name="T82" fmla="*/ 0 w 189"/>
                <a:gd name="T83" fmla="*/ 1 h 291"/>
                <a:gd name="T84" fmla="*/ 0 w 189"/>
                <a:gd name="T85" fmla="*/ 1 h 291"/>
                <a:gd name="T86" fmla="*/ 655 w 189"/>
                <a:gd name="T87" fmla="*/ 1 h 291"/>
                <a:gd name="T88" fmla="*/ 655 w 189"/>
                <a:gd name="T89" fmla="*/ 1 h 291"/>
                <a:gd name="T90" fmla="*/ 655 w 189"/>
                <a:gd name="T91" fmla="*/ 1 h 291"/>
                <a:gd name="T92" fmla="*/ 1287 w 189"/>
                <a:gd name="T93" fmla="*/ 1 h 291"/>
                <a:gd name="T94" fmla="*/ 2069 w 189"/>
                <a:gd name="T95" fmla="*/ 1 h 291"/>
                <a:gd name="T96" fmla="*/ 2069 w 189"/>
                <a:gd name="T97" fmla="*/ 1 h 291"/>
                <a:gd name="T98" fmla="*/ 2759 w 189"/>
                <a:gd name="T99" fmla="*/ 1 h 291"/>
                <a:gd name="T100" fmla="*/ 4068 w 189"/>
                <a:gd name="T101" fmla="*/ 2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62" name="Freeform 72"/>
            <p:cNvSpPr>
              <a:spLocks/>
            </p:cNvSpPr>
            <p:nvPr/>
          </p:nvSpPr>
          <p:spPr bwMode="auto">
            <a:xfrm>
              <a:off x="2592" y="1152"/>
              <a:ext cx="226" cy="267"/>
            </a:xfrm>
            <a:custGeom>
              <a:avLst/>
              <a:gdLst>
                <a:gd name="T0" fmla="*/ 17829 w 170"/>
                <a:gd name="T1" fmla="*/ 2 h 356"/>
                <a:gd name="T2" fmla="*/ 17208 w 170"/>
                <a:gd name="T3" fmla="*/ 2 h 356"/>
                <a:gd name="T4" fmla="*/ 14834 w 170"/>
                <a:gd name="T5" fmla="*/ 2 h 356"/>
                <a:gd name="T6" fmla="*/ 12566 w 170"/>
                <a:gd name="T7" fmla="*/ 2 h 356"/>
                <a:gd name="T8" fmla="*/ 10723 w 170"/>
                <a:gd name="T9" fmla="*/ 2 h 356"/>
                <a:gd name="T10" fmla="*/ 8863 w 170"/>
                <a:gd name="T11" fmla="*/ 2 h 356"/>
                <a:gd name="T12" fmla="*/ 7018 w 170"/>
                <a:gd name="T13" fmla="*/ 2 h 356"/>
                <a:gd name="T14" fmla="*/ 5279 w 170"/>
                <a:gd name="T15" fmla="*/ 2 h 356"/>
                <a:gd name="T16" fmla="*/ 3496 w 170"/>
                <a:gd name="T17" fmla="*/ 2 h 356"/>
                <a:gd name="T18" fmla="*/ 2345 w 170"/>
                <a:gd name="T19" fmla="*/ 2 h 356"/>
                <a:gd name="T20" fmla="*/ 1764 w 170"/>
                <a:gd name="T21" fmla="*/ 2 h 356"/>
                <a:gd name="T22" fmla="*/ 633 w 170"/>
                <a:gd name="T23" fmla="*/ 2 h 356"/>
                <a:gd name="T24" fmla="*/ 0 w 170"/>
                <a:gd name="T25" fmla="*/ 2 h 356"/>
                <a:gd name="T26" fmla="*/ 633 w 170"/>
                <a:gd name="T27" fmla="*/ 2 h 356"/>
                <a:gd name="T28" fmla="*/ 1119 w 170"/>
                <a:gd name="T29" fmla="*/ 2 h 356"/>
                <a:gd name="T30" fmla="*/ 2345 w 170"/>
                <a:gd name="T31" fmla="*/ 2 h 356"/>
                <a:gd name="T32" fmla="*/ 2946 w 170"/>
                <a:gd name="T33" fmla="*/ 2 h 356"/>
                <a:gd name="T34" fmla="*/ 3496 w 170"/>
                <a:gd name="T35" fmla="*/ 2 h 356"/>
                <a:gd name="T36" fmla="*/ 4144 w 170"/>
                <a:gd name="T37" fmla="*/ 2 h 356"/>
                <a:gd name="T38" fmla="*/ 5279 w 170"/>
                <a:gd name="T39" fmla="*/ 2 h 356"/>
                <a:gd name="T40" fmla="*/ 5900 w 170"/>
                <a:gd name="T41" fmla="*/ 2 h 356"/>
                <a:gd name="T42" fmla="*/ 6546 w 170"/>
                <a:gd name="T43" fmla="*/ 2 h 356"/>
                <a:gd name="T44" fmla="*/ 7018 w 170"/>
                <a:gd name="T45" fmla="*/ 2 h 356"/>
                <a:gd name="T46" fmla="*/ 7748 w 170"/>
                <a:gd name="T47" fmla="*/ 2 h 356"/>
                <a:gd name="T48" fmla="*/ 8863 w 170"/>
                <a:gd name="T49" fmla="*/ 2 h 356"/>
                <a:gd name="T50" fmla="*/ 9529 w 170"/>
                <a:gd name="T51" fmla="*/ 0 h 356"/>
                <a:gd name="T52" fmla="*/ 10088 w 170"/>
                <a:gd name="T53" fmla="*/ 2 h 356"/>
                <a:gd name="T54" fmla="*/ 10088 w 170"/>
                <a:gd name="T55" fmla="*/ 2 h 356"/>
                <a:gd name="T56" fmla="*/ 10088 w 170"/>
                <a:gd name="T57" fmla="*/ 2 h 356"/>
                <a:gd name="T58" fmla="*/ 10723 w 170"/>
                <a:gd name="T59" fmla="*/ 2 h 356"/>
                <a:gd name="T60" fmla="*/ 11926 w 170"/>
                <a:gd name="T61" fmla="*/ 2 h 356"/>
                <a:gd name="T62" fmla="*/ 13036 w 170"/>
                <a:gd name="T63" fmla="*/ 2 h 356"/>
                <a:gd name="T64" fmla="*/ 14834 w 170"/>
                <a:gd name="T65" fmla="*/ 2 h 356"/>
                <a:gd name="T66" fmla="*/ 16535 w 170"/>
                <a:gd name="T67" fmla="*/ 2 h 356"/>
                <a:gd name="T68" fmla="*/ 17829 w 170"/>
                <a:gd name="T69" fmla="*/ 2 h 356"/>
                <a:gd name="T70" fmla="*/ 18951 w 170"/>
                <a:gd name="T71" fmla="*/ 2 h 356"/>
                <a:gd name="T72" fmla="*/ 20264 w 170"/>
                <a:gd name="T73" fmla="*/ 2 h 356"/>
                <a:gd name="T74" fmla="*/ 20791 w 170"/>
                <a:gd name="T75" fmla="*/ 2 h 356"/>
                <a:gd name="T76" fmla="*/ 21381 w 170"/>
                <a:gd name="T77" fmla="*/ 2 h 356"/>
                <a:gd name="T78" fmla="*/ 21381 w 170"/>
                <a:gd name="T79" fmla="*/ 2 h 356"/>
                <a:gd name="T80" fmla="*/ 21381 w 170"/>
                <a:gd name="T81" fmla="*/ 2 h 356"/>
                <a:gd name="T82" fmla="*/ 21381 w 170"/>
                <a:gd name="T83" fmla="*/ 2 h 356"/>
                <a:gd name="T84" fmla="*/ 21381 w 170"/>
                <a:gd name="T85" fmla="*/ 2 h 356"/>
                <a:gd name="T86" fmla="*/ 20791 w 170"/>
                <a:gd name="T87" fmla="*/ 2 h 356"/>
                <a:gd name="T88" fmla="*/ 20791 w 170"/>
                <a:gd name="T89" fmla="*/ 2 h 356"/>
                <a:gd name="T90" fmla="*/ 20791 w 170"/>
                <a:gd name="T91" fmla="*/ 2 h 356"/>
                <a:gd name="T92" fmla="*/ 20264 w 170"/>
                <a:gd name="T93" fmla="*/ 2 h 356"/>
                <a:gd name="T94" fmla="*/ 19606 w 170"/>
                <a:gd name="T95" fmla="*/ 2 h 356"/>
                <a:gd name="T96" fmla="*/ 19606 w 170"/>
                <a:gd name="T97" fmla="*/ 2 h 356"/>
                <a:gd name="T98" fmla="*/ 18951 w 170"/>
                <a:gd name="T99" fmla="*/ 2 h 356"/>
                <a:gd name="T100" fmla="*/ 17829 w 170"/>
                <a:gd name="T101" fmla="*/ 2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6600"/>
            </a:solidFill>
            <a:ln w="25400" cap="rnd">
              <a:solidFill>
                <a:srgbClr val="FF0000"/>
              </a:solidFill>
              <a:round/>
              <a:headEnd/>
              <a:tailEnd/>
            </a:ln>
          </p:spPr>
          <p:txBody>
            <a:bodyPr/>
            <a:lstStyle/>
            <a:p>
              <a:endParaRPr lang="en-US">
                <a:latin typeface="Arial"/>
                <a:cs typeface="Arial"/>
              </a:endParaRPr>
            </a:p>
          </p:txBody>
        </p:sp>
        <p:sp>
          <p:nvSpPr>
            <p:cNvPr id="263" name="Freeform 73"/>
            <p:cNvSpPr>
              <a:spLocks/>
            </p:cNvSpPr>
            <p:nvPr/>
          </p:nvSpPr>
          <p:spPr bwMode="auto">
            <a:xfrm>
              <a:off x="2692" y="1130"/>
              <a:ext cx="150" cy="289"/>
            </a:xfrm>
            <a:custGeom>
              <a:avLst/>
              <a:gdLst>
                <a:gd name="T0" fmla="*/ 2626 w 112"/>
                <a:gd name="T1" fmla="*/ 3 h 386"/>
                <a:gd name="T2" fmla="*/ 3139 w 112"/>
                <a:gd name="T3" fmla="*/ 2 h 386"/>
                <a:gd name="T4" fmla="*/ 4979 w 112"/>
                <a:gd name="T5" fmla="*/ 2 h 386"/>
                <a:gd name="T6" fmla="*/ 6668 w 112"/>
                <a:gd name="T7" fmla="*/ 2 h 386"/>
                <a:gd name="T8" fmla="*/ 7978 w 112"/>
                <a:gd name="T9" fmla="*/ 2 h 386"/>
                <a:gd name="T10" fmla="*/ 9359 w 112"/>
                <a:gd name="T11" fmla="*/ 2 h 386"/>
                <a:gd name="T12" fmla="*/ 10619 w 112"/>
                <a:gd name="T13" fmla="*/ 2 h 386"/>
                <a:gd name="T14" fmla="*/ 11960 w 112"/>
                <a:gd name="T15" fmla="*/ 2 h 386"/>
                <a:gd name="T16" fmla="*/ 13393 w 112"/>
                <a:gd name="T17" fmla="*/ 1 h 386"/>
                <a:gd name="T18" fmla="*/ 14222 w 112"/>
                <a:gd name="T19" fmla="*/ 1 h 386"/>
                <a:gd name="T20" fmla="*/ 14626 w 112"/>
                <a:gd name="T21" fmla="*/ 1 h 386"/>
                <a:gd name="T22" fmla="*/ 15530 w 112"/>
                <a:gd name="T23" fmla="*/ 1 h 386"/>
                <a:gd name="T24" fmla="*/ 16018 w 112"/>
                <a:gd name="T25" fmla="*/ 1 h 386"/>
                <a:gd name="T26" fmla="*/ 15530 w 112"/>
                <a:gd name="T27" fmla="*/ 1 h 386"/>
                <a:gd name="T28" fmla="*/ 15108 w 112"/>
                <a:gd name="T29" fmla="*/ 1 h 386"/>
                <a:gd name="T30" fmla="*/ 14222 w 112"/>
                <a:gd name="T31" fmla="*/ 1 h 386"/>
                <a:gd name="T32" fmla="*/ 13856 w 112"/>
                <a:gd name="T33" fmla="*/ 1 h 386"/>
                <a:gd name="T34" fmla="*/ 13393 w 112"/>
                <a:gd name="T35" fmla="*/ 1 h 386"/>
                <a:gd name="T36" fmla="*/ 12742 w 112"/>
                <a:gd name="T37" fmla="*/ 1 h 386"/>
                <a:gd name="T38" fmla="*/ 11960 w 112"/>
                <a:gd name="T39" fmla="*/ 1 h 386"/>
                <a:gd name="T40" fmla="*/ 11444 w 112"/>
                <a:gd name="T41" fmla="*/ 1 h 386"/>
                <a:gd name="T42" fmla="*/ 11069 w 112"/>
                <a:gd name="T43" fmla="*/ 1 h 386"/>
                <a:gd name="T44" fmla="*/ 10619 w 112"/>
                <a:gd name="T45" fmla="*/ 1 h 386"/>
                <a:gd name="T46" fmla="*/ 10134 w 112"/>
                <a:gd name="T47" fmla="*/ 1 h 386"/>
                <a:gd name="T48" fmla="*/ 9359 w 112"/>
                <a:gd name="T49" fmla="*/ 1 h 386"/>
                <a:gd name="T50" fmla="*/ 8930 w 112"/>
                <a:gd name="T51" fmla="*/ 0 h 386"/>
                <a:gd name="T52" fmla="*/ 8448 w 112"/>
                <a:gd name="T53" fmla="*/ 1 h 386"/>
                <a:gd name="T54" fmla="*/ 8448 w 112"/>
                <a:gd name="T55" fmla="*/ 1 h 386"/>
                <a:gd name="T56" fmla="*/ 8448 w 112"/>
                <a:gd name="T57" fmla="*/ 1 h 386"/>
                <a:gd name="T58" fmla="*/ 7978 w 112"/>
                <a:gd name="T59" fmla="*/ 1 h 386"/>
                <a:gd name="T60" fmla="*/ 7058 w 112"/>
                <a:gd name="T61" fmla="*/ 1 h 386"/>
                <a:gd name="T62" fmla="*/ 6181 w 112"/>
                <a:gd name="T63" fmla="*/ 1 h 386"/>
                <a:gd name="T64" fmla="*/ 4979 w 112"/>
                <a:gd name="T65" fmla="*/ 1 h 386"/>
                <a:gd name="T66" fmla="*/ 3517 w 112"/>
                <a:gd name="T67" fmla="*/ 1 h 386"/>
                <a:gd name="T68" fmla="*/ 2626 w 112"/>
                <a:gd name="T69" fmla="*/ 1 h 386"/>
                <a:gd name="T70" fmla="*/ 1686 w 112"/>
                <a:gd name="T71" fmla="*/ 1 h 386"/>
                <a:gd name="T72" fmla="*/ 889 w 112"/>
                <a:gd name="T73" fmla="*/ 1 h 386"/>
                <a:gd name="T74" fmla="*/ 391 w 112"/>
                <a:gd name="T75" fmla="*/ 1 h 386"/>
                <a:gd name="T76" fmla="*/ 0 w 112"/>
                <a:gd name="T77" fmla="*/ 1 h 386"/>
                <a:gd name="T78" fmla="*/ 0 w 112"/>
                <a:gd name="T79" fmla="*/ 1 h 386"/>
                <a:gd name="T80" fmla="*/ 0 w 112"/>
                <a:gd name="T81" fmla="*/ 1 h 386"/>
                <a:gd name="T82" fmla="*/ 0 w 112"/>
                <a:gd name="T83" fmla="*/ 1 h 386"/>
                <a:gd name="T84" fmla="*/ 0 w 112"/>
                <a:gd name="T85" fmla="*/ 1 h 386"/>
                <a:gd name="T86" fmla="*/ 391 w 112"/>
                <a:gd name="T87" fmla="*/ 1 h 386"/>
                <a:gd name="T88" fmla="*/ 391 w 112"/>
                <a:gd name="T89" fmla="*/ 2 h 386"/>
                <a:gd name="T90" fmla="*/ 391 w 112"/>
                <a:gd name="T91" fmla="*/ 2 h 386"/>
                <a:gd name="T92" fmla="*/ 889 w 112"/>
                <a:gd name="T93" fmla="*/ 2 h 386"/>
                <a:gd name="T94" fmla="*/ 1259 w 112"/>
                <a:gd name="T95" fmla="*/ 2 h 386"/>
                <a:gd name="T96" fmla="*/ 1259 w 112"/>
                <a:gd name="T97" fmla="*/ 2 h 386"/>
                <a:gd name="T98" fmla="*/ 1686 w 112"/>
                <a:gd name="T99" fmla="*/ 2 h 386"/>
                <a:gd name="T100" fmla="*/ 2626 w 112"/>
                <a:gd name="T101" fmla="*/ 3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F6600"/>
              </a:solidFill>
              <a:round/>
              <a:headEnd/>
              <a:tailEnd/>
            </a:ln>
          </p:spPr>
          <p:txBody>
            <a:bodyPr/>
            <a:lstStyle/>
            <a:p>
              <a:endParaRPr lang="en-US">
                <a:latin typeface="Arial"/>
                <a:cs typeface="Arial"/>
              </a:endParaRPr>
            </a:p>
          </p:txBody>
        </p:sp>
        <p:sp>
          <p:nvSpPr>
            <p:cNvPr id="264" name="Freeform 74"/>
            <p:cNvSpPr>
              <a:spLocks/>
            </p:cNvSpPr>
            <p:nvPr/>
          </p:nvSpPr>
          <p:spPr bwMode="auto">
            <a:xfrm>
              <a:off x="2763" y="1319"/>
              <a:ext cx="169" cy="97"/>
            </a:xfrm>
            <a:custGeom>
              <a:avLst/>
              <a:gdLst>
                <a:gd name="T0" fmla="*/ 0 w 127"/>
                <a:gd name="T1" fmla="*/ 2 h 129"/>
                <a:gd name="T2" fmla="*/ 1273 w 127"/>
                <a:gd name="T3" fmla="*/ 2 h 129"/>
                <a:gd name="T4" fmla="*/ 1965 w 127"/>
                <a:gd name="T5" fmla="*/ 2 h 129"/>
                <a:gd name="T6" fmla="*/ 3101 w 127"/>
                <a:gd name="T7" fmla="*/ 2 h 129"/>
                <a:gd name="T8" fmla="*/ 4362 w 127"/>
                <a:gd name="T9" fmla="*/ 2 h 129"/>
                <a:gd name="T10" fmla="*/ 5742 w 127"/>
                <a:gd name="T11" fmla="*/ 2 h 129"/>
                <a:gd name="T12" fmla="*/ 6163 w 127"/>
                <a:gd name="T13" fmla="*/ 2 h 129"/>
                <a:gd name="T14" fmla="*/ 7433 w 127"/>
                <a:gd name="T15" fmla="*/ 2 h 129"/>
                <a:gd name="T16" fmla="*/ 8113 w 127"/>
                <a:gd name="T17" fmla="*/ 2 h 129"/>
                <a:gd name="T18" fmla="*/ 8743 w 127"/>
                <a:gd name="T19" fmla="*/ 2 h 129"/>
                <a:gd name="T20" fmla="*/ 10056 w 127"/>
                <a:gd name="T21" fmla="*/ 2 h 129"/>
                <a:gd name="T22" fmla="*/ 10056 w 127"/>
                <a:gd name="T23" fmla="*/ 2 h 129"/>
                <a:gd name="T24" fmla="*/ 11201 w 127"/>
                <a:gd name="T25" fmla="*/ 2 h 129"/>
                <a:gd name="T26" fmla="*/ 11201 w 127"/>
                <a:gd name="T27" fmla="*/ 2 h 129"/>
                <a:gd name="T28" fmla="*/ 11201 w 127"/>
                <a:gd name="T29" fmla="*/ 2 h 129"/>
                <a:gd name="T30" fmla="*/ 11775 w 127"/>
                <a:gd name="T31" fmla="*/ 2 h 129"/>
                <a:gd name="T32" fmla="*/ 13162 w 127"/>
                <a:gd name="T33" fmla="*/ 2 h 129"/>
                <a:gd name="T34" fmla="*/ 13162 w 127"/>
                <a:gd name="T35" fmla="*/ 2 h 129"/>
                <a:gd name="T36" fmla="*/ 13738 w 127"/>
                <a:gd name="T37" fmla="*/ 2 h 129"/>
                <a:gd name="T38" fmla="*/ 13738 w 127"/>
                <a:gd name="T39" fmla="*/ 2 h 129"/>
                <a:gd name="T40" fmla="*/ 14905 w 127"/>
                <a:gd name="T41" fmla="*/ 0 h 129"/>
                <a:gd name="T42" fmla="*/ 14905 w 127"/>
                <a:gd name="T43" fmla="*/ 2 h 129"/>
                <a:gd name="T44" fmla="*/ 14905 w 127"/>
                <a:gd name="T45" fmla="*/ 2 h 129"/>
                <a:gd name="T46" fmla="*/ 15548 w 127"/>
                <a:gd name="T47" fmla="*/ 2 h 129"/>
                <a:gd name="T48" fmla="*/ 15548 w 127"/>
                <a:gd name="T49" fmla="*/ 2 h 129"/>
                <a:gd name="T50" fmla="*/ 15548 w 127"/>
                <a:gd name="T51" fmla="*/ 2 h 129"/>
                <a:gd name="T52" fmla="*/ 16268 w 127"/>
                <a:gd name="T53" fmla="*/ 2 h 129"/>
                <a:gd name="T54" fmla="*/ 16268 w 127"/>
                <a:gd name="T55" fmla="*/ 2 h 129"/>
                <a:gd name="T56" fmla="*/ 16268 w 127"/>
                <a:gd name="T57" fmla="*/ 2 h 129"/>
                <a:gd name="T58" fmla="*/ 16268 w 127"/>
                <a:gd name="T59" fmla="*/ 2 h 129"/>
                <a:gd name="T60" fmla="*/ 16268 w 127"/>
                <a:gd name="T61" fmla="*/ 2 h 129"/>
                <a:gd name="T62" fmla="*/ 15548 w 127"/>
                <a:gd name="T63" fmla="*/ 2 h 129"/>
                <a:gd name="T64" fmla="*/ 14298 w 127"/>
                <a:gd name="T65" fmla="*/ 2 h 129"/>
                <a:gd name="T66" fmla="*/ 13738 w 127"/>
                <a:gd name="T67" fmla="*/ 2 h 129"/>
                <a:gd name="T68" fmla="*/ 12514 w 127"/>
                <a:gd name="T69" fmla="*/ 2 h 129"/>
                <a:gd name="T70" fmla="*/ 11201 w 127"/>
                <a:gd name="T71" fmla="*/ 2 h 129"/>
                <a:gd name="T72" fmla="*/ 10056 w 127"/>
                <a:gd name="T73" fmla="*/ 2 h 129"/>
                <a:gd name="T74" fmla="*/ 8743 w 127"/>
                <a:gd name="T75" fmla="*/ 2 h 129"/>
                <a:gd name="T76" fmla="*/ 7433 w 127"/>
                <a:gd name="T77" fmla="*/ 2 h 129"/>
                <a:gd name="T78" fmla="*/ 6163 w 127"/>
                <a:gd name="T79" fmla="*/ 2 h 129"/>
                <a:gd name="T80" fmla="*/ 4997 w 127"/>
                <a:gd name="T81" fmla="*/ 2 h 129"/>
                <a:gd name="T82" fmla="*/ 3755 w 127"/>
                <a:gd name="T83" fmla="*/ 2 h 129"/>
                <a:gd name="T84" fmla="*/ 2437 w 127"/>
                <a:gd name="T85" fmla="*/ 2 h 129"/>
                <a:gd name="T86" fmla="*/ 1273 w 127"/>
                <a:gd name="T87" fmla="*/ 2 h 129"/>
                <a:gd name="T88" fmla="*/ 0 w 127"/>
                <a:gd name="T89" fmla="*/ 2 h 129"/>
                <a:gd name="T90" fmla="*/ 8113 w 127"/>
                <a:gd name="T91" fmla="*/ 2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FF00"/>
            </a:solidFill>
            <a:ln w="25400" cap="rnd">
              <a:solidFill>
                <a:srgbClr val="FF0000"/>
              </a:solidFill>
              <a:round/>
              <a:headEnd/>
              <a:tailEnd/>
            </a:ln>
          </p:spPr>
          <p:txBody>
            <a:bodyPr/>
            <a:lstStyle/>
            <a:p>
              <a:endParaRPr lang="en-US">
                <a:latin typeface="Arial"/>
                <a:cs typeface="Arial"/>
              </a:endParaRPr>
            </a:p>
          </p:txBody>
        </p:sp>
      </p:grpSp>
      <p:grpSp>
        <p:nvGrpSpPr>
          <p:cNvPr id="265" name="Group 67"/>
          <p:cNvGrpSpPr>
            <a:grpSpLocks/>
          </p:cNvGrpSpPr>
          <p:nvPr/>
        </p:nvGrpSpPr>
        <p:grpSpPr bwMode="auto">
          <a:xfrm>
            <a:off x="3788193" y="3844139"/>
            <a:ext cx="292613" cy="477500"/>
            <a:chOff x="2571" y="1098"/>
            <a:chExt cx="412" cy="328"/>
          </a:xfrm>
        </p:grpSpPr>
        <p:sp>
          <p:nvSpPr>
            <p:cNvPr id="266" name="Freeform 68"/>
            <p:cNvSpPr>
              <a:spLocks/>
            </p:cNvSpPr>
            <p:nvPr/>
          </p:nvSpPr>
          <p:spPr bwMode="auto">
            <a:xfrm>
              <a:off x="2571" y="1098"/>
              <a:ext cx="188" cy="321"/>
            </a:xfrm>
            <a:custGeom>
              <a:avLst/>
              <a:gdLst>
                <a:gd name="T0" fmla="*/ 15547 w 141"/>
                <a:gd name="T1" fmla="*/ 4 h 428"/>
                <a:gd name="T2" fmla="*/ 15035 w 141"/>
                <a:gd name="T3" fmla="*/ 4 h 428"/>
                <a:gd name="T4" fmla="*/ 12857 w 141"/>
                <a:gd name="T5" fmla="*/ 4 h 428"/>
                <a:gd name="T6" fmla="*/ 10817 w 141"/>
                <a:gd name="T7" fmla="*/ 3 h 428"/>
                <a:gd name="T8" fmla="*/ 9257 w 141"/>
                <a:gd name="T9" fmla="*/ 3 h 428"/>
                <a:gd name="T10" fmla="*/ 7681 w 141"/>
                <a:gd name="T11" fmla="*/ 3 h 428"/>
                <a:gd name="T12" fmla="*/ 6271 w 141"/>
                <a:gd name="T13" fmla="*/ 3 h 428"/>
                <a:gd name="T14" fmla="*/ 4703 w 141"/>
                <a:gd name="T15" fmla="*/ 3 h 428"/>
                <a:gd name="T16" fmla="*/ 3051 w 141"/>
                <a:gd name="T17" fmla="*/ 3 h 428"/>
                <a:gd name="T18" fmla="*/ 2069 w 141"/>
                <a:gd name="T19" fmla="*/ 3 h 428"/>
                <a:gd name="T20" fmla="*/ 1552 w 141"/>
                <a:gd name="T21" fmla="*/ 2 h 428"/>
                <a:gd name="T22" fmla="*/ 491 w 141"/>
                <a:gd name="T23" fmla="*/ 2 h 428"/>
                <a:gd name="T24" fmla="*/ 0 w 141"/>
                <a:gd name="T25" fmla="*/ 2 h 428"/>
                <a:gd name="T26" fmla="*/ 491 w 141"/>
                <a:gd name="T27" fmla="*/ 2 h 428"/>
                <a:gd name="T28" fmla="*/ 1129 w 141"/>
                <a:gd name="T29" fmla="*/ 2 h 428"/>
                <a:gd name="T30" fmla="*/ 2069 w 141"/>
                <a:gd name="T31" fmla="*/ 2 h 428"/>
                <a:gd name="T32" fmla="*/ 2491 w 141"/>
                <a:gd name="T33" fmla="*/ 2 h 428"/>
                <a:gd name="T34" fmla="*/ 3051 w 141"/>
                <a:gd name="T35" fmla="*/ 2 h 428"/>
                <a:gd name="T36" fmla="*/ 3568 w 141"/>
                <a:gd name="T37" fmla="*/ 2 h 428"/>
                <a:gd name="T38" fmla="*/ 4703 w 141"/>
                <a:gd name="T39" fmla="*/ 2 h 428"/>
                <a:gd name="T40" fmla="*/ 5185 w 141"/>
                <a:gd name="T41" fmla="*/ 2 h 428"/>
                <a:gd name="T42" fmla="*/ 5687 w 141"/>
                <a:gd name="T43" fmla="*/ 2 h 428"/>
                <a:gd name="T44" fmla="*/ 6271 w 141"/>
                <a:gd name="T45" fmla="*/ 2 h 428"/>
                <a:gd name="T46" fmla="*/ 6805 w 141"/>
                <a:gd name="T47" fmla="*/ 2 h 428"/>
                <a:gd name="T48" fmla="*/ 7681 w 141"/>
                <a:gd name="T49" fmla="*/ 2 h 428"/>
                <a:gd name="T50" fmla="*/ 8308 w 141"/>
                <a:gd name="T51" fmla="*/ 0 h 428"/>
                <a:gd name="T52" fmla="*/ 8745 w 141"/>
                <a:gd name="T53" fmla="*/ 2 h 428"/>
                <a:gd name="T54" fmla="*/ 8745 w 141"/>
                <a:gd name="T55" fmla="*/ 2 h 428"/>
                <a:gd name="T56" fmla="*/ 8745 w 141"/>
                <a:gd name="T57" fmla="*/ 2 h 428"/>
                <a:gd name="T58" fmla="*/ 9257 w 141"/>
                <a:gd name="T59" fmla="*/ 2 h 428"/>
                <a:gd name="T60" fmla="*/ 10389 w 141"/>
                <a:gd name="T61" fmla="*/ 2 h 428"/>
                <a:gd name="T62" fmla="*/ 11456 w 141"/>
                <a:gd name="T63" fmla="*/ 2 h 428"/>
                <a:gd name="T64" fmla="*/ 12857 w 141"/>
                <a:gd name="T65" fmla="*/ 2 h 428"/>
                <a:gd name="T66" fmla="*/ 14423 w 141"/>
                <a:gd name="T67" fmla="*/ 2 h 428"/>
                <a:gd name="T68" fmla="*/ 15547 w 141"/>
                <a:gd name="T69" fmla="*/ 2 h 428"/>
                <a:gd name="T70" fmla="*/ 16457 w 141"/>
                <a:gd name="T71" fmla="*/ 2 h 428"/>
                <a:gd name="T72" fmla="*/ 17535 w 141"/>
                <a:gd name="T73" fmla="*/ 2 h 428"/>
                <a:gd name="T74" fmla="*/ 18017 w 141"/>
                <a:gd name="T75" fmla="*/ 2 h 428"/>
                <a:gd name="T76" fmla="*/ 18660 w 141"/>
                <a:gd name="T77" fmla="*/ 2 h 428"/>
                <a:gd name="T78" fmla="*/ 18660 w 141"/>
                <a:gd name="T79" fmla="*/ 2 h 428"/>
                <a:gd name="T80" fmla="*/ 18660 w 141"/>
                <a:gd name="T81" fmla="*/ 2 h 428"/>
                <a:gd name="T82" fmla="*/ 18660 w 141"/>
                <a:gd name="T83" fmla="*/ 2 h 428"/>
                <a:gd name="T84" fmla="*/ 18660 w 141"/>
                <a:gd name="T85" fmla="*/ 3 h 428"/>
                <a:gd name="T86" fmla="*/ 18017 w 141"/>
                <a:gd name="T87" fmla="*/ 3 h 428"/>
                <a:gd name="T88" fmla="*/ 18017 w 141"/>
                <a:gd name="T89" fmla="*/ 3 h 428"/>
                <a:gd name="T90" fmla="*/ 18017 w 141"/>
                <a:gd name="T91" fmla="*/ 3 h 428"/>
                <a:gd name="T92" fmla="*/ 17535 w 141"/>
                <a:gd name="T93" fmla="*/ 3 h 428"/>
                <a:gd name="T94" fmla="*/ 17055 w 141"/>
                <a:gd name="T95" fmla="*/ 3 h 428"/>
                <a:gd name="T96" fmla="*/ 17055 w 141"/>
                <a:gd name="T97" fmla="*/ 4 h 428"/>
                <a:gd name="T98" fmla="*/ 16457 w 141"/>
                <a:gd name="T99" fmla="*/ 4 h 428"/>
                <a:gd name="T100" fmla="*/ 15547 w 141"/>
                <a:gd name="T101" fmla="*/ 4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a:cs typeface="Arial"/>
              </a:endParaRPr>
            </a:p>
          </p:txBody>
        </p:sp>
        <p:sp>
          <p:nvSpPr>
            <p:cNvPr id="267" name="Freeform 69"/>
            <p:cNvSpPr>
              <a:spLocks/>
            </p:cNvSpPr>
            <p:nvPr/>
          </p:nvSpPr>
          <p:spPr bwMode="auto">
            <a:xfrm>
              <a:off x="2712" y="1207"/>
              <a:ext cx="194" cy="219"/>
            </a:xfrm>
            <a:custGeom>
              <a:avLst/>
              <a:gdLst>
                <a:gd name="T0" fmla="*/ 3424 w 145"/>
                <a:gd name="T1" fmla="*/ 2 h 292"/>
                <a:gd name="T2" fmla="*/ 3954 w 145"/>
                <a:gd name="T3" fmla="*/ 2 h 292"/>
                <a:gd name="T4" fmla="*/ 6251 w 145"/>
                <a:gd name="T5" fmla="*/ 2 h 292"/>
                <a:gd name="T6" fmla="*/ 8424 w 145"/>
                <a:gd name="T7" fmla="*/ 2 h 292"/>
                <a:gd name="T8" fmla="*/ 10051 w 145"/>
                <a:gd name="T9" fmla="*/ 2 h 292"/>
                <a:gd name="T10" fmla="*/ 11859 w 145"/>
                <a:gd name="T11" fmla="*/ 2 h 292"/>
                <a:gd name="T12" fmla="*/ 13448 w 145"/>
                <a:gd name="T13" fmla="*/ 2 h 292"/>
                <a:gd name="T14" fmla="*/ 15194 w 145"/>
                <a:gd name="T15" fmla="*/ 2 h 292"/>
                <a:gd name="T16" fmla="*/ 16952 w 145"/>
                <a:gd name="T17" fmla="*/ 2 h 292"/>
                <a:gd name="T18" fmla="*/ 17992 w 145"/>
                <a:gd name="T19" fmla="*/ 2 h 292"/>
                <a:gd name="T20" fmla="*/ 18660 w 145"/>
                <a:gd name="T21" fmla="*/ 2 h 292"/>
                <a:gd name="T22" fmla="*/ 19668 w 145"/>
                <a:gd name="T23" fmla="*/ 2 h 292"/>
                <a:gd name="T24" fmla="*/ 20329 w 145"/>
                <a:gd name="T25" fmla="*/ 2 h 292"/>
                <a:gd name="T26" fmla="*/ 19668 w 145"/>
                <a:gd name="T27" fmla="*/ 2 h 292"/>
                <a:gd name="T28" fmla="*/ 19193 w 145"/>
                <a:gd name="T29" fmla="*/ 2 h 292"/>
                <a:gd name="T30" fmla="*/ 17992 w 145"/>
                <a:gd name="T31" fmla="*/ 2 h 292"/>
                <a:gd name="T32" fmla="*/ 17468 w 145"/>
                <a:gd name="T33" fmla="*/ 2 h 292"/>
                <a:gd name="T34" fmla="*/ 16952 w 145"/>
                <a:gd name="T35" fmla="*/ 2 h 292"/>
                <a:gd name="T36" fmla="*/ 16313 w 145"/>
                <a:gd name="T37" fmla="*/ 2 h 292"/>
                <a:gd name="T38" fmla="*/ 15194 w 145"/>
                <a:gd name="T39" fmla="*/ 2 h 292"/>
                <a:gd name="T40" fmla="*/ 14678 w 145"/>
                <a:gd name="T41" fmla="*/ 2 h 292"/>
                <a:gd name="T42" fmla="*/ 14099 w 145"/>
                <a:gd name="T43" fmla="*/ 2 h 292"/>
                <a:gd name="T44" fmla="*/ 13448 w 145"/>
                <a:gd name="T45" fmla="*/ 2 h 292"/>
                <a:gd name="T46" fmla="*/ 13038 w 145"/>
                <a:gd name="T47" fmla="*/ 2 h 292"/>
                <a:gd name="T48" fmla="*/ 11859 w 145"/>
                <a:gd name="T49" fmla="*/ 2 h 292"/>
                <a:gd name="T50" fmla="*/ 11271 w 145"/>
                <a:gd name="T51" fmla="*/ 0 h 292"/>
                <a:gd name="T52" fmla="*/ 10722 w 145"/>
                <a:gd name="T53" fmla="*/ 2 h 292"/>
                <a:gd name="T54" fmla="*/ 10722 w 145"/>
                <a:gd name="T55" fmla="*/ 2 h 292"/>
                <a:gd name="T56" fmla="*/ 10722 w 145"/>
                <a:gd name="T57" fmla="*/ 2 h 292"/>
                <a:gd name="T58" fmla="*/ 10051 w 145"/>
                <a:gd name="T59" fmla="*/ 2 h 292"/>
                <a:gd name="T60" fmla="*/ 9081 w 145"/>
                <a:gd name="T61" fmla="*/ 2 h 292"/>
                <a:gd name="T62" fmla="*/ 7876 w 145"/>
                <a:gd name="T63" fmla="*/ 2 h 292"/>
                <a:gd name="T64" fmla="*/ 6251 w 145"/>
                <a:gd name="T65" fmla="*/ 2 h 292"/>
                <a:gd name="T66" fmla="*/ 4581 w 145"/>
                <a:gd name="T67" fmla="*/ 2 h 292"/>
                <a:gd name="T68" fmla="*/ 3424 w 145"/>
                <a:gd name="T69" fmla="*/ 2 h 292"/>
                <a:gd name="T70" fmla="*/ 2209 w 145"/>
                <a:gd name="T71" fmla="*/ 2 h 292"/>
                <a:gd name="T72" fmla="*/ 1183 w 145"/>
                <a:gd name="T73" fmla="*/ 2 h 292"/>
                <a:gd name="T74" fmla="*/ 515 w 145"/>
                <a:gd name="T75" fmla="*/ 2 h 292"/>
                <a:gd name="T76" fmla="*/ 0 w 145"/>
                <a:gd name="T77" fmla="*/ 2 h 292"/>
                <a:gd name="T78" fmla="*/ 0 w 145"/>
                <a:gd name="T79" fmla="*/ 2 h 292"/>
                <a:gd name="T80" fmla="*/ 0 w 145"/>
                <a:gd name="T81" fmla="*/ 2 h 292"/>
                <a:gd name="T82" fmla="*/ 0 w 145"/>
                <a:gd name="T83" fmla="*/ 2 h 292"/>
                <a:gd name="T84" fmla="*/ 0 w 145"/>
                <a:gd name="T85" fmla="*/ 2 h 292"/>
                <a:gd name="T86" fmla="*/ 515 w 145"/>
                <a:gd name="T87" fmla="*/ 2 h 292"/>
                <a:gd name="T88" fmla="*/ 515 w 145"/>
                <a:gd name="T89" fmla="*/ 2 h 292"/>
                <a:gd name="T90" fmla="*/ 515 w 145"/>
                <a:gd name="T91" fmla="*/ 2 h 292"/>
                <a:gd name="T92" fmla="*/ 1183 w 145"/>
                <a:gd name="T93" fmla="*/ 2 h 292"/>
                <a:gd name="T94" fmla="*/ 1651 w 145"/>
                <a:gd name="T95" fmla="*/ 2 h 292"/>
                <a:gd name="T96" fmla="*/ 1651 w 145"/>
                <a:gd name="T97" fmla="*/ 2 h 292"/>
                <a:gd name="T98" fmla="*/ 2209 w 145"/>
                <a:gd name="T99" fmla="*/ 2 h 292"/>
                <a:gd name="T100" fmla="*/ 3424 w 145"/>
                <a:gd name="T101" fmla="*/ 2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68" name="Freeform 70"/>
            <p:cNvSpPr>
              <a:spLocks/>
            </p:cNvSpPr>
            <p:nvPr/>
          </p:nvSpPr>
          <p:spPr bwMode="auto">
            <a:xfrm>
              <a:off x="2626" y="1127"/>
              <a:ext cx="309" cy="234"/>
            </a:xfrm>
            <a:custGeom>
              <a:avLst/>
              <a:gdLst>
                <a:gd name="T0" fmla="*/ 12209 w 232"/>
                <a:gd name="T1" fmla="*/ 2 h 313"/>
                <a:gd name="T2" fmla="*/ 12839 w 232"/>
                <a:gd name="T3" fmla="*/ 2 h 313"/>
                <a:gd name="T4" fmla="*/ 15303 w 232"/>
                <a:gd name="T5" fmla="*/ 2 h 313"/>
                <a:gd name="T6" fmla="*/ 17676 w 232"/>
                <a:gd name="T7" fmla="*/ 1 h 313"/>
                <a:gd name="T8" fmla="*/ 19472 w 232"/>
                <a:gd name="T9" fmla="*/ 1 h 313"/>
                <a:gd name="T10" fmla="*/ 21220 w 232"/>
                <a:gd name="T11" fmla="*/ 1 h 313"/>
                <a:gd name="T12" fmla="*/ 23123 w 232"/>
                <a:gd name="T13" fmla="*/ 1 h 313"/>
                <a:gd name="T14" fmla="*/ 24804 w 232"/>
                <a:gd name="T15" fmla="*/ 1 h 313"/>
                <a:gd name="T16" fmla="*/ 26503 w 232"/>
                <a:gd name="T17" fmla="*/ 1 h 313"/>
                <a:gd name="T18" fmla="*/ 27783 w 232"/>
                <a:gd name="T19" fmla="*/ 1 h 313"/>
                <a:gd name="T20" fmla="*/ 28425 w 232"/>
                <a:gd name="T21" fmla="*/ 1 h 313"/>
                <a:gd name="T22" fmla="*/ 29521 w 232"/>
                <a:gd name="T23" fmla="*/ 1 h 313"/>
                <a:gd name="T24" fmla="*/ 30170 w 232"/>
                <a:gd name="T25" fmla="*/ 1 h 313"/>
                <a:gd name="T26" fmla="*/ 29521 w 232"/>
                <a:gd name="T27" fmla="*/ 1 h 313"/>
                <a:gd name="T28" fmla="*/ 28846 w 232"/>
                <a:gd name="T29" fmla="*/ 1 h 313"/>
                <a:gd name="T30" fmla="*/ 27783 w 232"/>
                <a:gd name="T31" fmla="*/ 1 h 313"/>
                <a:gd name="T32" fmla="*/ 27147 w 232"/>
                <a:gd name="T33" fmla="*/ 1 h 313"/>
                <a:gd name="T34" fmla="*/ 26503 w 232"/>
                <a:gd name="T35" fmla="*/ 1 h 313"/>
                <a:gd name="T36" fmla="*/ 26025 w 232"/>
                <a:gd name="T37" fmla="*/ 1 h 313"/>
                <a:gd name="T38" fmla="*/ 24804 w 232"/>
                <a:gd name="T39" fmla="*/ 1 h 313"/>
                <a:gd name="T40" fmla="*/ 24149 w 232"/>
                <a:gd name="T41" fmla="*/ 1 h 313"/>
                <a:gd name="T42" fmla="*/ 23543 w 232"/>
                <a:gd name="T43" fmla="*/ 1 h 313"/>
                <a:gd name="T44" fmla="*/ 23662 w 232"/>
                <a:gd name="T45" fmla="*/ 1 h 313"/>
                <a:gd name="T46" fmla="*/ 22465 w 232"/>
                <a:gd name="T47" fmla="*/ 1 h 313"/>
                <a:gd name="T48" fmla="*/ 21220 w 232"/>
                <a:gd name="T49" fmla="*/ 1 h 313"/>
                <a:gd name="T50" fmla="*/ 20638 w 232"/>
                <a:gd name="T51" fmla="*/ 0 h 313"/>
                <a:gd name="T52" fmla="*/ 20113 w 232"/>
                <a:gd name="T53" fmla="*/ 1 h 313"/>
                <a:gd name="T54" fmla="*/ 20113 w 232"/>
                <a:gd name="T55" fmla="*/ 1 h 313"/>
                <a:gd name="T56" fmla="*/ 20113 w 232"/>
                <a:gd name="T57" fmla="*/ 1 h 313"/>
                <a:gd name="T58" fmla="*/ 19472 w 232"/>
                <a:gd name="T59" fmla="*/ 1 h 313"/>
                <a:gd name="T60" fmla="*/ 18131 w 232"/>
                <a:gd name="T61" fmla="*/ 1 h 313"/>
                <a:gd name="T62" fmla="*/ 17100 w 232"/>
                <a:gd name="T63" fmla="*/ 1 h 313"/>
                <a:gd name="T64" fmla="*/ 15303 w 232"/>
                <a:gd name="T65" fmla="*/ 1 h 313"/>
                <a:gd name="T66" fmla="*/ 13375 w 232"/>
                <a:gd name="T67" fmla="*/ 1 h 313"/>
                <a:gd name="T68" fmla="*/ 12209 w 232"/>
                <a:gd name="T69" fmla="*/ 1 h 313"/>
                <a:gd name="T70" fmla="*/ 11124 w 232"/>
                <a:gd name="T71" fmla="*/ 1 h 313"/>
                <a:gd name="T72" fmla="*/ 9964 w 232"/>
                <a:gd name="T73" fmla="*/ 1 h 313"/>
                <a:gd name="T74" fmla="*/ 9369 w 232"/>
                <a:gd name="T75" fmla="*/ 1 h 313"/>
                <a:gd name="T76" fmla="*/ 8735 w 232"/>
                <a:gd name="T77" fmla="*/ 1 h 313"/>
                <a:gd name="T78" fmla="*/ 8735 w 232"/>
                <a:gd name="T79" fmla="*/ 1 h 313"/>
                <a:gd name="T80" fmla="*/ 8735 w 232"/>
                <a:gd name="T81" fmla="*/ 1 h 313"/>
                <a:gd name="T82" fmla="*/ 8735 w 232"/>
                <a:gd name="T83" fmla="*/ 1 h 313"/>
                <a:gd name="T84" fmla="*/ 8735 w 232"/>
                <a:gd name="T85" fmla="*/ 1 h 313"/>
                <a:gd name="T86" fmla="*/ 9369 w 232"/>
                <a:gd name="T87" fmla="*/ 1 h 313"/>
                <a:gd name="T88" fmla="*/ 9369 w 232"/>
                <a:gd name="T89" fmla="*/ 1 h 313"/>
                <a:gd name="T90" fmla="*/ 9369 w 232"/>
                <a:gd name="T91" fmla="*/ 1 h 313"/>
                <a:gd name="T92" fmla="*/ 9964 w 232"/>
                <a:gd name="T93" fmla="*/ 1 h 313"/>
                <a:gd name="T94" fmla="*/ 10498 w 232"/>
                <a:gd name="T95" fmla="*/ 1 h 313"/>
                <a:gd name="T96" fmla="*/ 10498 w 232"/>
                <a:gd name="T97" fmla="*/ 1 h 313"/>
                <a:gd name="T98" fmla="*/ 11124 w 232"/>
                <a:gd name="T99" fmla="*/ 2 h 313"/>
                <a:gd name="T100" fmla="*/ 12209 w 232"/>
                <a:gd name="T101" fmla="*/ 2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69" name="Freeform 71"/>
            <p:cNvSpPr>
              <a:spLocks/>
            </p:cNvSpPr>
            <p:nvPr/>
          </p:nvSpPr>
          <p:spPr bwMode="auto">
            <a:xfrm>
              <a:off x="2731" y="1198"/>
              <a:ext cx="252" cy="218"/>
            </a:xfrm>
            <a:custGeom>
              <a:avLst/>
              <a:gdLst>
                <a:gd name="T0" fmla="*/ 4068 w 189"/>
                <a:gd name="T1" fmla="*/ 2 h 291"/>
                <a:gd name="T2" fmla="*/ 4905 w 189"/>
                <a:gd name="T3" fmla="*/ 1 h 291"/>
                <a:gd name="T4" fmla="*/ 7583 w 189"/>
                <a:gd name="T5" fmla="*/ 1 h 291"/>
                <a:gd name="T6" fmla="*/ 10389 w 189"/>
                <a:gd name="T7" fmla="*/ 1 h 291"/>
                <a:gd name="T8" fmla="*/ 12503 w 189"/>
                <a:gd name="T9" fmla="*/ 1 h 291"/>
                <a:gd name="T10" fmla="*/ 14651 w 189"/>
                <a:gd name="T11" fmla="*/ 1 h 291"/>
                <a:gd name="T12" fmla="*/ 16671 w 189"/>
                <a:gd name="T13" fmla="*/ 1 h 291"/>
                <a:gd name="T14" fmla="*/ 18815 w 189"/>
                <a:gd name="T15" fmla="*/ 1 h 291"/>
                <a:gd name="T16" fmla="*/ 20863 w 189"/>
                <a:gd name="T17" fmla="*/ 1 h 291"/>
                <a:gd name="T18" fmla="*/ 22228 w 189"/>
                <a:gd name="T19" fmla="*/ 1 h 291"/>
                <a:gd name="T20" fmla="*/ 22857 w 189"/>
                <a:gd name="T21" fmla="*/ 1 h 291"/>
                <a:gd name="T22" fmla="*/ 24276 w 189"/>
                <a:gd name="T23" fmla="*/ 1 h 291"/>
                <a:gd name="T24" fmla="*/ 25087 w 189"/>
                <a:gd name="T25" fmla="*/ 1 h 291"/>
                <a:gd name="T26" fmla="*/ 24276 w 189"/>
                <a:gd name="T27" fmla="*/ 1 h 291"/>
                <a:gd name="T28" fmla="*/ 23601 w 189"/>
                <a:gd name="T29" fmla="*/ 1 h 291"/>
                <a:gd name="T30" fmla="*/ 22228 w 189"/>
                <a:gd name="T31" fmla="*/ 1 h 291"/>
                <a:gd name="T32" fmla="*/ 21577 w 189"/>
                <a:gd name="T33" fmla="*/ 1 h 291"/>
                <a:gd name="T34" fmla="*/ 20863 w 189"/>
                <a:gd name="T35" fmla="*/ 1 h 291"/>
                <a:gd name="T36" fmla="*/ 20047 w 189"/>
                <a:gd name="T37" fmla="*/ 1 h 291"/>
                <a:gd name="T38" fmla="*/ 18815 w 189"/>
                <a:gd name="T39" fmla="*/ 1 h 291"/>
                <a:gd name="T40" fmla="*/ 18017 w 189"/>
                <a:gd name="T41" fmla="*/ 1 h 291"/>
                <a:gd name="T42" fmla="*/ 17463 w 189"/>
                <a:gd name="T43" fmla="*/ 1 h 291"/>
                <a:gd name="T44" fmla="*/ 16671 w 189"/>
                <a:gd name="T45" fmla="*/ 1 h 291"/>
                <a:gd name="T46" fmla="*/ 15931 w 189"/>
                <a:gd name="T47" fmla="*/ 1 h 291"/>
                <a:gd name="T48" fmla="*/ 14651 w 189"/>
                <a:gd name="T49" fmla="*/ 1 h 291"/>
                <a:gd name="T50" fmla="*/ 13852 w 189"/>
                <a:gd name="T51" fmla="*/ 0 h 291"/>
                <a:gd name="T52" fmla="*/ 13151 w 189"/>
                <a:gd name="T53" fmla="*/ 1 h 291"/>
                <a:gd name="T54" fmla="*/ 13151 w 189"/>
                <a:gd name="T55" fmla="*/ 1 h 291"/>
                <a:gd name="T56" fmla="*/ 13151 w 189"/>
                <a:gd name="T57" fmla="*/ 1 h 291"/>
                <a:gd name="T58" fmla="*/ 12503 w 189"/>
                <a:gd name="T59" fmla="*/ 1 h 291"/>
                <a:gd name="T60" fmla="*/ 11148 w 189"/>
                <a:gd name="T61" fmla="*/ 1 h 291"/>
                <a:gd name="T62" fmla="*/ 9643 w 189"/>
                <a:gd name="T63" fmla="*/ 1 h 291"/>
                <a:gd name="T64" fmla="*/ 7583 w 189"/>
                <a:gd name="T65" fmla="*/ 1 h 291"/>
                <a:gd name="T66" fmla="*/ 5596 w 189"/>
                <a:gd name="T67" fmla="*/ 1 h 291"/>
                <a:gd name="T68" fmla="*/ 4068 w 189"/>
                <a:gd name="T69" fmla="*/ 1 h 291"/>
                <a:gd name="T70" fmla="*/ 2759 w 189"/>
                <a:gd name="T71" fmla="*/ 1 h 291"/>
                <a:gd name="T72" fmla="*/ 1287 w 189"/>
                <a:gd name="T73" fmla="*/ 1 h 291"/>
                <a:gd name="T74" fmla="*/ 655 w 189"/>
                <a:gd name="T75" fmla="*/ 1 h 291"/>
                <a:gd name="T76" fmla="*/ 0 w 189"/>
                <a:gd name="T77" fmla="*/ 1 h 291"/>
                <a:gd name="T78" fmla="*/ 0 w 189"/>
                <a:gd name="T79" fmla="*/ 1 h 291"/>
                <a:gd name="T80" fmla="*/ 0 w 189"/>
                <a:gd name="T81" fmla="*/ 1 h 291"/>
                <a:gd name="T82" fmla="*/ 0 w 189"/>
                <a:gd name="T83" fmla="*/ 1 h 291"/>
                <a:gd name="T84" fmla="*/ 0 w 189"/>
                <a:gd name="T85" fmla="*/ 1 h 291"/>
                <a:gd name="T86" fmla="*/ 655 w 189"/>
                <a:gd name="T87" fmla="*/ 1 h 291"/>
                <a:gd name="T88" fmla="*/ 655 w 189"/>
                <a:gd name="T89" fmla="*/ 1 h 291"/>
                <a:gd name="T90" fmla="*/ 655 w 189"/>
                <a:gd name="T91" fmla="*/ 1 h 291"/>
                <a:gd name="T92" fmla="*/ 1287 w 189"/>
                <a:gd name="T93" fmla="*/ 1 h 291"/>
                <a:gd name="T94" fmla="*/ 2069 w 189"/>
                <a:gd name="T95" fmla="*/ 1 h 291"/>
                <a:gd name="T96" fmla="*/ 2069 w 189"/>
                <a:gd name="T97" fmla="*/ 1 h 291"/>
                <a:gd name="T98" fmla="*/ 2759 w 189"/>
                <a:gd name="T99" fmla="*/ 1 h 291"/>
                <a:gd name="T100" fmla="*/ 4068 w 189"/>
                <a:gd name="T101" fmla="*/ 2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70" name="Freeform 72"/>
            <p:cNvSpPr>
              <a:spLocks/>
            </p:cNvSpPr>
            <p:nvPr/>
          </p:nvSpPr>
          <p:spPr bwMode="auto">
            <a:xfrm>
              <a:off x="2592" y="1152"/>
              <a:ext cx="226" cy="267"/>
            </a:xfrm>
            <a:custGeom>
              <a:avLst/>
              <a:gdLst>
                <a:gd name="T0" fmla="*/ 17829 w 170"/>
                <a:gd name="T1" fmla="*/ 2 h 356"/>
                <a:gd name="T2" fmla="*/ 17208 w 170"/>
                <a:gd name="T3" fmla="*/ 2 h 356"/>
                <a:gd name="T4" fmla="*/ 14834 w 170"/>
                <a:gd name="T5" fmla="*/ 2 h 356"/>
                <a:gd name="T6" fmla="*/ 12566 w 170"/>
                <a:gd name="T7" fmla="*/ 2 h 356"/>
                <a:gd name="T8" fmla="*/ 10723 w 170"/>
                <a:gd name="T9" fmla="*/ 2 h 356"/>
                <a:gd name="T10" fmla="*/ 8863 w 170"/>
                <a:gd name="T11" fmla="*/ 2 h 356"/>
                <a:gd name="T12" fmla="*/ 7018 w 170"/>
                <a:gd name="T13" fmla="*/ 2 h 356"/>
                <a:gd name="T14" fmla="*/ 5279 w 170"/>
                <a:gd name="T15" fmla="*/ 2 h 356"/>
                <a:gd name="T16" fmla="*/ 3496 w 170"/>
                <a:gd name="T17" fmla="*/ 2 h 356"/>
                <a:gd name="T18" fmla="*/ 2345 w 170"/>
                <a:gd name="T19" fmla="*/ 2 h 356"/>
                <a:gd name="T20" fmla="*/ 1764 w 170"/>
                <a:gd name="T21" fmla="*/ 2 h 356"/>
                <a:gd name="T22" fmla="*/ 633 w 170"/>
                <a:gd name="T23" fmla="*/ 2 h 356"/>
                <a:gd name="T24" fmla="*/ 0 w 170"/>
                <a:gd name="T25" fmla="*/ 2 h 356"/>
                <a:gd name="T26" fmla="*/ 633 w 170"/>
                <a:gd name="T27" fmla="*/ 2 h 356"/>
                <a:gd name="T28" fmla="*/ 1119 w 170"/>
                <a:gd name="T29" fmla="*/ 2 h 356"/>
                <a:gd name="T30" fmla="*/ 2345 w 170"/>
                <a:gd name="T31" fmla="*/ 2 h 356"/>
                <a:gd name="T32" fmla="*/ 2946 w 170"/>
                <a:gd name="T33" fmla="*/ 2 h 356"/>
                <a:gd name="T34" fmla="*/ 3496 w 170"/>
                <a:gd name="T35" fmla="*/ 2 h 356"/>
                <a:gd name="T36" fmla="*/ 4144 w 170"/>
                <a:gd name="T37" fmla="*/ 2 h 356"/>
                <a:gd name="T38" fmla="*/ 5279 w 170"/>
                <a:gd name="T39" fmla="*/ 2 h 356"/>
                <a:gd name="T40" fmla="*/ 5900 w 170"/>
                <a:gd name="T41" fmla="*/ 2 h 356"/>
                <a:gd name="T42" fmla="*/ 6546 w 170"/>
                <a:gd name="T43" fmla="*/ 2 h 356"/>
                <a:gd name="T44" fmla="*/ 7018 w 170"/>
                <a:gd name="T45" fmla="*/ 2 h 356"/>
                <a:gd name="T46" fmla="*/ 7748 w 170"/>
                <a:gd name="T47" fmla="*/ 2 h 356"/>
                <a:gd name="T48" fmla="*/ 8863 w 170"/>
                <a:gd name="T49" fmla="*/ 2 h 356"/>
                <a:gd name="T50" fmla="*/ 9529 w 170"/>
                <a:gd name="T51" fmla="*/ 0 h 356"/>
                <a:gd name="T52" fmla="*/ 10088 w 170"/>
                <a:gd name="T53" fmla="*/ 2 h 356"/>
                <a:gd name="T54" fmla="*/ 10088 w 170"/>
                <a:gd name="T55" fmla="*/ 2 h 356"/>
                <a:gd name="T56" fmla="*/ 10088 w 170"/>
                <a:gd name="T57" fmla="*/ 2 h 356"/>
                <a:gd name="T58" fmla="*/ 10723 w 170"/>
                <a:gd name="T59" fmla="*/ 2 h 356"/>
                <a:gd name="T60" fmla="*/ 11926 w 170"/>
                <a:gd name="T61" fmla="*/ 2 h 356"/>
                <a:gd name="T62" fmla="*/ 13036 w 170"/>
                <a:gd name="T63" fmla="*/ 2 h 356"/>
                <a:gd name="T64" fmla="*/ 14834 w 170"/>
                <a:gd name="T65" fmla="*/ 2 h 356"/>
                <a:gd name="T66" fmla="*/ 16535 w 170"/>
                <a:gd name="T67" fmla="*/ 2 h 356"/>
                <a:gd name="T68" fmla="*/ 17829 w 170"/>
                <a:gd name="T69" fmla="*/ 2 h 356"/>
                <a:gd name="T70" fmla="*/ 18951 w 170"/>
                <a:gd name="T71" fmla="*/ 2 h 356"/>
                <a:gd name="T72" fmla="*/ 20264 w 170"/>
                <a:gd name="T73" fmla="*/ 2 h 356"/>
                <a:gd name="T74" fmla="*/ 20791 w 170"/>
                <a:gd name="T75" fmla="*/ 2 h 356"/>
                <a:gd name="T76" fmla="*/ 21381 w 170"/>
                <a:gd name="T77" fmla="*/ 2 h 356"/>
                <a:gd name="T78" fmla="*/ 21381 w 170"/>
                <a:gd name="T79" fmla="*/ 2 h 356"/>
                <a:gd name="T80" fmla="*/ 21381 w 170"/>
                <a:gd name="T81" fmla="*/ 2 h 356"/>
                <a:gd name="T82" fmla="*/ 21381 w 170"/>
                <a:gd name="T83" fmla="*/ 2 h 356"/>
                <a:gd name="T84" fmla="*/ 21381 w 170"/>
                <a:gd name="T85" fmla="*/ 2 h 356"/>
                <a:gd name="T86" fmla="*/ 20791 w 170"/>
                <a:gd name="T87" fmla="*/ 2 h 356"/>
                <a:gd name="T88" fmla="*/ 20791 w 170"/>
                <a:gd name="T89" fmla="*/ 2 h 356"/>
                <a:gd name="T90" fmla="*/ 20791 w 170"/>
                <a:gd name="T91" fmla="*/ 2 h 356"/>
                <a:gd name="T92" fmla="*/ 20264 w 170"/>
                <a:gd name="T93" fmla="*/ 2 h 356"/>
                <a:gd name="T94" fmla="*/ 19606 w 170"/>
                <a:gd name="T95" fmla="*/ 2 h 356"/>
                <a:gd name="T96" fmla="*/ 19606 w 170"/>
                <a:gd name="T97" fmla="*/ 2 h 356"/>
                <a:gd name="T98" fmla="*/ 18951 w 170"/>
                <a:gd name="T99" fmla="*/ 2 h 356"/>
                <a:gd name="T100" fmla="*/ 17829 w 170"/>
                <a:gd name="T101" fmla="*/ 2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6600"/>
            </a:solidFill>
            <a:ln w="25400" cap="rnd">
              <a:solidFill>
                <a:srgbClr val="FF0000"/>
              </a:solidFill>
              <a:round/>
              <a:headEnd/>
              <a:tailEnd/>
            </a:ln>
          </p:spPr>
          <p:txBody>
            <a:bodyPr/>
            <a:lstStyle/>
            <a:p>
              <a:endParaRPr lang="en-US">
                <a:latin typeface="Arial"/>
                <a:cs typeface="Arial"/>
              </a:endParaRPr>
            </a:p>
          </p:txBody>
        </p:sp>
        <p:sp>
          <p:nvSpPr>
            <p:cNvPr id="271" name="Freeform 73"/>
            <p:cNvSpPr>
              <a:spLocks/>
            </p:cNvSpPr>
            <p:nvPr/>
          </p:nvSpPr>
          <p:spPr bwMode="auto">
            <a:xfrm>
              <a:off x="2692" y="1130"/>
              <a:ext cx="150" cy="289"/>
            </a:xfrm>
            <a:custGeom>
              <a:avLst/>
              <a:gdLst>
                <a:gd name="T0" fmla="*/ 2626 w 112"/>
                <a:gd name="T1" fmla="*/ 3 h 386"/>
                <a:gd name="T2" fmla="*/ 3139 w 112"/>
                <a:gd name="T3" fmla="*/ 2 h 386"/>
                <a:gd name="T4" fmla="*/ 4979 w 112"/>
                <a:gd name="T5" fmla="*/ 2 h 386"/>
                <a:gd name="T6" fmla="*/ 6668 w 112"/>
                <a:gd name="T7" fmla="*/ 2 h 386"/>
                <a:gd name="T8" fmla="*/ 7978 w 112"/>
                <a:gd name="T9" fmla="*/ 2 h 386"/>
                <a:gd name="T10" fmla="*/ 9359 w 112"/>
                <a:gd name="T11" fmla="*/ 2 h 386"/>
                <a:gd name="T12" fmla="*/ 10619 w 112"/>
                <a:gd name="T13" fmla="*/ 2 h 386"/>
                <a:gd name="T14" fmla="*/ 11960 w 112"/>
                <a:gd name="T15" fmla="*/ 2 h 386"/>
                <a:gd name="T16" fmla="*/ 13393 w 112"/>
                <a:gd name="T17" fmla="*/ 1 h 386"/>
                <a:gd name="T18" fmla="*/ 14222 w 112"/>
                <a:gd name="T19" fmla="*/ 1 h 386"/>
                <a:gd name="T20" fmla="*/ 14626 w 112"/>
                <a:gd name="T21" fmla="*/ 1 h 386"/>
                <a:gd name="T22" fmla="*/ 15530 w 112"/>
                <a:gd name="T23" fmla="*/ 1 h 386"/>
                <a:gd name="T24" fmla="*/ 16018 w 112"/>
                <a:gd name="T25" fmla="*/ 1 h 386"/>
                <a:gd name="T26" fmla="*/ 15530 w 112"/>
                <a:gd name="T27" fmla="*/ 1 h 386"/>
                <a:gd name="T28" fmla="*/ 15108 w 112"/>
                <a:gd name="T29" fmla="*/ 1 h 386"/>
                <a:gd name="T30" fmla="*/ 14222 w 112"/>
                <a:gd name="T31" fmla="*/ 1 h 386"/>
                <a:gd name="T32" fmla="*/ 13856 w 112"/>
                <a:gd name="T33" fmla="*/ 1 h 386"/>
                <a:gd name="T34" fmla="*/ 13393 w 112"/>
                <a:gd name="T35" fmla="*/ 1 h 386"/>
                <a:gd name="T36" fmla="*/ 12742 w 112"/>
                <a:gd name="T37" fmla="*/ 1 h 386"/>
                <a:gd name="T38" fmla="*/ 11960 w 112"/>
                <a:gd name="T39" fmla="*/ 1 h 386"/>
                <a:gd name="T40" fmla="*/ 11444 w 112"/>
                <a:gd name="T41" fmla="*/ 1 h 386"/>
                <a:gd name="T42" fmla="*/ 11069 w 112"/>
                <a:gd name="T43" fmla="*/ 1 h 386"/>
                <a:gd name="T44" fmla="*/ 10619 w 112"/>
                <a:gd name="T45" fmla="*/ 1 h 386"/>
                <a:gd name="T46" fmla="*/ 10134 w 112"/>
                <a:gd name="T47" fmla="*/ 1 h 386"/>
                <a:gd name="T48" fmla="*/ 9359 w 112"/>
                <a:gd name="T49" fmla="*/ 1 h 386"/>
                <a:gd name="T50" fmla="*/ 8930 w 112"/>
                <a:gd name="T51" fmla="*/ 0 h 386"/>
                <a:gd name="T52" fmla="*/ 8448 w 112"/>
                <a:gd name="T53" fmla="*/ 1 h 386"/>
                <a:gd name="T54" fmla="*/ 8448 w 112"/>
                <a:gd name="T55" fmla="*/ 1 h 386"/>
                <a:gd name="T56" fmla="*/ 8448 w 112"/>
                <a:gd name="T57" fmla="*/ 1 h 386"/>
                <a:gd name="T58" fmla="*/ 7978 w 112"/>
                <a:gd name="T59" fmla="*/ 1 h 386"/>
                <a:gd name="T60" fmla="*/ 7058 w 112"/>
                <a:gd name="T61" fmla="*/ 1 h 386"/>
                <a:gd name="T62" fmla="*/ 6181 w 112"/>
                <a:gd name="T63" fmla="*/ 1 h 386"/>
                <a:gd name="T64" fmla="*/ 4979 w 112"/>
                <a:gd name="T65" fmla="*/ 1 h 386"/>
                <a:gd name="T66" fmla="*/ 3517 w 112"/>
                <a:gd name="T67" fmla="*/ 1 h 386"/>
                <a:gd name="T68" fmla="*/ 2626 w 112"/>
                <a:gd name="T69" fmla="*/ 1 h 386"/>
                <a:gd name="T70" fmla="*/ 1686 w 112"/>
                <a:gd name="T71" fmla="*/ 1 h 386"/>
                <a:gd name="T72" fmla="*/ 889 w 112"/>
                <a:gd name="T73" fmla="*/ 1 h 386"/>
                <a:gd name="T74" fmla="*/ 391 w 112"/>
                <a:gd name="T75" fmla="*/ 1 h 386"/>
                <a:gd name="T76" fmla="*/ 0 w 112"/>
                <a:gd name="T77" fmla="*/ 1 h 386"/>
                <a:gd name="T78" fmla="*/ 0 w 112"/>
                <a:gd name="T79" fmla="*/ 1 h 386"/>
                <a:gd name="T80" fmla="*/ 0 w 112"/>
                <a:gd name="T81" fmla="*/ 1 h 386"/>
                <a:gd name="T82" fmla="*/ 0 w 112"/>
                <a:gd name="T83" fmla="*/ 1 h 386"/>
                <a:gd name="T84" fmla="*/ 0 w 112"/>
                <a:gd name="T85" fmla="*/ 1 h 386"/>
                <a:gd name="T86" fmla="*/ 391 w 112"/>
                <a:gd name="T87" fmla="*/ 1 h 386"/>
                <a:gd name="T88" fmla="*/ 391 w 112"/>
                <a:gd name="T89" fmla="*/ 2 h 386"/>
                <a:gd name="T90" fmla="*/ 391 w 112"/>
                <a:gd name="T91" fmla="*/ 2 h 386"/>
                <a:gd name="T92" fmla="*/ 889 w 112"/>
                <a:gd name="T93" fmla="*/ 2 h 386"/>
                <a:gd name="T94" fmla="*/ 1259 w 112"/>
                <a:gd name="T95" fmla="*/ 2 h 386"/>
                <a:gd name="T96" fmla="*/ 1259 w 112"/>
                <a:gd name="T97" fmla="*/ 2 h 386"/>
                <a:gd name="T98" fmla="*/ 1686 w 112"/>
                <a:gd name="T99" fmla="*/ 2 h 386"/>
                <a:gd name="T100" fmla="*/ 2626 w 112"/>
                <a:gd name="T101" fmla="*/ 3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F6600"/>
              </a:solidFill>
              <a:round/>
              <a:headEnd/>
              <a:tailEnd/>
            </a:ln>
          </p:spPr>
          <p:txBody>
            <a:bodyPr/>
            <a:lstStyle/>
            <a:p>
              <a:endParaRPr lang="en-US">
                <a:latin typeface="Arial"/>
                <a:cs typeface="Arial"/>
              </a:endParaRPr>
            </a:p>
          </p:txBody>
        </p:sp>
        <p:sp>
          <p:nvSpPr>
            <p:cNvPr id="272" name="Freeform 74"/>
            <p:cNvSpPr>
              <a:spLocks/>
            </p:cNvSpPr>
            <p:nvPr/>
          </p:nvSpPr>
          <p:spPr bwMode="auto">
            <a:xfrm>
              <a:off x="2763" y="1319"/>
              <a:ext cx="169" cy="97"/>
            </a:xfrm>
            <a:custGeom>
              <a:avLst/>
              <a:gdLst>
                <a:gd name="T0" fmla="*/ 0 w 127"/>
                <a:gd name="T1" fmla="*/ 2 h 129"/>
                <a:gd name="T2" fmla="*/ 1273 w 127"/>
                <a:gd name="T3" fmla="*/ 2 h 129"/>
                <a:gd name="T4" fmla="*/ 1965 w 127"/>
                <a:gd name="T5" fmla="*/ 2 h 129"/>
                <a:gd name="T6" fmla="*/ 3101 w 127"/>
                <a:gd name="T7" fmla="*/ 2 h 129"/>
                <a:gd name="T8" fmla="*/ 4362 w 127"/>
                <a:gd name="T9" fmla="*/ 2 h 129"/>
                <a:gd name="T10" fmla="*/ 5742 w 127"/>
                <a:gd name="T11" fmla="*/ 2 h 129"/>
                <a:gd name="T12" fmla="*/ 6163 w 127"/>
                <a:gd name="T13" fmla="*/ 2 h 129"/>
                <a:gd name="T14" fmla="*/ 7433 w 127"/>
                <a:gd name="T15" fmla="*/ 2 h 129"/>
                <a:gd name="T16" fmla="*/ 8113 w 127"/>
                <a:gd name="T17" fmla="*/ 2 h 129"/>
                <a:gd name="T18" fmla="*/ 8743 w 127"/>
                <a:gd name="T19" fmla="*/ 2 h 129"/>
                <a:gd name="T20" fmla="*/ 10056 w 127"/>
                <a:gd name="T21" fmla="*/ 2 h 129"/>
                <a:gd name="T22" fmla="*/ 10056 w 127"/>
                <a:gd name="T23" fmla="*/ 2 h 129"/>
                <a:gd name="T24" fmla="*/ 11201 w 127"/>
                <a:gd name="T25" fmla="*/ 2 h 129"/>
                <a:gd name="T26" fmla="*/ 11201 w 127"/>
                <a:gd name="T27" fmla="*/ 2 h 129"/>
                <a:gd name="T28" fmla="*/ 11201 w 127"/>
                <a:gd name="T29" fmla="*/ 2 h 129"/>
                <a:gd name="T30" fmla="*/ 11775 w 127"/>
                <a:gd name="T31" fmla="*/ 2 h 129"/>
                <a:gd name="T32" fmla="*/ 13162 w 127"/>
                <a:gd name="T33" fmla="*/ 2 h 129"/>
                <a:gd name="T34" fmla="*/ 13162 w 127"/>
                <a:gd name="T35" fmla="*/ 2 h 129"/>
                <a:gd name="T36" fmla="*/ 13738 w 127"/>
                <a:gd name="T37" fmla="*/ 2 h 129"/>
                <a:gd name="T38" fmla="*/ 13738 w 127"/>
                <a:gd name="T39" fmla="*/ 2 h 129"/>
                <a:gd name="T40" fmla="*/ 14905 w 127"/>
                <a:gd name="T41" fmla="*/ 0 h 129"/>
                <a:gd name="T42" fmla="*/ 14905 w 127"/>
                <a:gd name="T43" fmla="*/ 2 h 129"/>
                <a:gd name="T44" fmla="*/ 14905 w 127"/>
                <a:gd name="T45" fmla="*/ 2 h 129"/>
                <a:gd name="T46" fmla="*/ 15548 w 127"/>
                <a:gd name="T47" fmla="*/ 2 h 129"/>
                <a:gd name="T48" fmla="*/ 15548 w 127"/>
                <a:gd name="T49" fmla="*/ 2 h 129"/>
                <a:gd name="T50" fmla="*/ 15548 w 127"/>
                <a:gd name="T51" fmla="*/ 2 h 129"/>
                <a:gd name="T52" fmla="*/ 16268 w 127"/>
                <a:gd name="T53" fmla="*/ 2 h 129"/>
                <a:gd name="T54" fmla="*/ 16268 w 127"/>
                <a:gd name="T55" fmla="*/ 2 h 129"/>
                <a:gd name="T56" fmla="*/ 16268 w 127"/>
                <a:gd name="T57" fmla="*/ 2 h 129"/>
                <a:gd name="T58" fmla="*/ 16268 w 127"/>
                <a:gd name="T59" fmla="*/ 2 h 129"/>
                <a:gd name="T60" fmla="*/ 16268 w 127"/>
                <a:gd name="T61" fmla="*/ 2 h 129"/>
                <a:gd name="T62" fmla="*/ 15548 w 127"/>
                <a:gd name="T63" fmla="*/ 2 h 129"/>
                <a:gd name="T64" fmla="*/ 14298 w 127"/>
                <a:gd name="T65" fmla="*/ 2 h 129"/>
                <a:gd name="T66" fmla="*/ 13738 w 127"/>
                <a:gd name="T67" fmla="*/ 2 h 129"/>
                <a:gd name="T68" fmla="*/ 12514 w 127"/>
                <a:gd name="T69" fmla="*/ 2 h 129"/>
                <a:gd name="T70" fmla="*/ 11201 w 127"/>
                <a:gd name="T71" fmla="*/ 2 h 129"/>
                <a:gd name="T72" fmla="*/ 10056 w 127"/>
                <a:gd name="T73" fmla="*/ 2 h 129"/>
                <a:gd name="T74" fmla="*/ 8743 w 127"/>
                <a:gd name="T75" fmla="*/ 2 h 129"/>
                <a:gd name="T76" fmla="*/ 7433 w 127"/>
                <a:gd name="T77" fmla="*/ 2 h 129"/>
                <a:gd name="T78" fmla="*/ 6163 w 127"/>
                <a:gd name="T79" fmla="*/ 2 h 129"/>
                <a:gd name="T80" fmla="*/ 4997 w 127"/>
                <a:gd name="T81" fmla="*/ 2 h 129"/>
                <a:gd name="T82" fmla="*/ 3755 w 127"/>
                <a:gd name="T83" fmla="*/ 2 h 129"/>
                <a:gd name="T84" fmla="*/ 2437 w 127"/>
                <a:gd name="T85" fmla="*/ 2 h 129"/>
                <a:gd name="T86" fmla="*/ 1273 w 127"/>
                <a:gd name="T87" fmla="*/ 2 h 129"/>
                <a:gd name="T88" fmla="*/ 0 w 127"/>
                <a:gd name="T89" fmla="*/ 2 h 129"/>
                <a:gd name="T90" fmla="*/ 8113 w 127"/>
                <a:gd name="T91" fmla="*/ 2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FF00"/>
            </a:solidFill>
            <a:ln w="25400" cap="rnd">
              <a:solidFill>
                <a:srgbClr val="FF0000"/>
              </a:solidFill>
              <a:round/>
              <a:headEnd/>
              <a:tailEnd/>
            </a:ln>
          </p:spPr>
          <p:txBody>
            <a:bodyPr/>
            <a:lstStyle/>
            <a:p>
              <a:endParaRPr lang="en-US">
                <a:latin typeface="Arial"/>
                <a:cs typeface="Arial"/>
              </a:endParaRPr>
            </a:p>
          </p:txBody>
        </p:sp>
      </p:grpSp>
      <p:grpSp>
        <p:nvGrpSpPr>
          <p:cNvPr id="273" name="Group 67"/>
          <p:cNvGrpSpPr>
            <a:grpSpLocks/>
          </p:cNvGrpSpPr>
          <p:nvPr/>
        </p:nvGrpSpPr>
        <p:grpSpPr bwMode="auto">
          <a:xfrm>
            <a:off x="5813032" y="2668301"/>
            <a:ext cx="292613" cy="477500"/>
            <a:chOff x="2571" y="1098"/>
            <a:chExt cx="412" cy="328"/>
          </a:xfrm>
        </p:grpSpPr>
        <p:sp>
          <p:nvSpPr>
            <p:cNvPr id="274" name="Freeform 68"/>
            <p:cNvSpPr>
              <a:spLocks/>
            </p:cNvSpPr>
            <p:nvPr/>
          </p:nvSpPr>
          <p:spPr bwMode="auto">
            <a:xfrm>
              <a:off x="2571" y="1098"/>
              <a:ext cx="188" cy="321"/>
            </a:xfrm>
            <a:custGeom>
              <a:avLst/>
              <a:gdLst>
                <a:gd name="T0" fmla="*/ 15547 w 141"/>
                <a:gd name="T1" fmla="*/ 4 h 428"/>
                <a:gd name="T2" fmla="*/ 15035 w 141"/>
                <a:gd name="T3" fmla="*/ 4 h 428"/>
                <a:gd name="T4" fmla="*/ 12857 w 141"/>
                <a:gd name="T5" fmla="*/ 4 h 428"/>
                <a:gd name="T6" fmla="*/ 10817 w 141"/>
                <a:gd name="T7" fmla="*/ 3 h 428"/>
                <a:gd name="T8" fmla="*/ 9257 w 141"/>
                <a:gd name="T9" fmla="*/ 3 h 428"/>
                <a:gd name="T10" fmla="*/ 7681 w 141"/>
                <a:gd name="T11" fmla="*/ 3 h 428"/>
                <a:gd name="T12" fmla="*/ 6271 w 141"/>
                <a:gd name="T13" fmla="*/ 3 h 428"/>
                <a:gd name="T14" fmla="*/ 4703 w 141"/>
                <a:gd name="T15" fmla="*/ 3 h 428"/>
                <a:gd name="T16" fmla="*/ 3051 w 141"/>
                <a:gd name="T17" fmla="*/ 3 h 428"/>
                <a:gd name="T18" fmla="*/ 2069 w 141"/>
                <a:gd name="T19" fmla="*/ 3 h 428"/>
                <a:gd name="T20" fmla="*/ 1552 w 141"/>
                <a:gd name="T21" fmla="*/ 2 h 428"/>
                <a:gd name="T22" fmla="*/ 491 w 141"/>
                <a:gd name="T23" fmla="*/ 2 h 428"/>
                <a:gd name="T24" fmla="*/ 0 w 141"/>
                <a:gd name="T25" fmla="*/ 2 h 428"/>
                <a:gd name="T26" fmla="*/ 491 w 141"/>
                <a:gd name="T27" fmla="*/ 2 h 428"/>
                <a:gd name="T28" fmla="*/ 1129 w 141"/>
                <a:gd name="T29" fmla="*/ 2 h 428"/>
                <a:gd name="T30" fmla="*/ 2069 w 141"/>
                <a:gd name="T31" fmla="*/ 2 h 428"/>
                <a:gd name="T32" fmla="*/ 2491 w 141"/>
                <a:gd name="T33" fmla="*/ 2 h 428"/>
                <a:gd name="T34" fmla="*/ 3051 w 141"/>
                <a:gd name="T35" fmla="*/ 2 h 428"/>
                <a:gd name="T36" fmla="*/ 3568 w 141"/>
                <a:gd name="T37" fmla="*/ 2 h 428"/>
                <a:gd name="T38" fmla="*/ 4703 w 141"/>
                <a:gd name="T39" fmla="*/ 2 h 428"/>
                <a:gd name="T40" fmla="*/ 5185 w 141"/>
                <a:gd name="T41" fmla="*/ 2 h 428"/>
                <a:gd name="T42" fmla="*/ 5687 w 141"/>
                <a:gd name="T43" fmla="*/ 2 h 428"/>
                <a:gd name="T44" fmla="*/ 6271 w 141"/>
                <a:gd name="T45" fmla="*/ 2 h 428"/>
                <a:gd name="T46" fmla="*/ 6805 w 141"/>
                <a:gd name="T47" fmla="*/ 2 h 428"/>
                <a:gd name="T48" fmla="*/ 7681 w 141"/>
                <a:gd name="T49" fmla="*/ 2 h 428"/>
                <a:gd name="T50" fmla="*/ 8308 w 141"/>
                <a:gd name="T51" fmla="*/ 0 h 428"/>
                <a:gd name="T52" fmla="*/ 8745 w 141"/>
                <a:gd name="T53" fmla="*/ 2 h 428"/>
                <a:gd name="T54" fmla="*/ 8745 w 141"/>
                <a:gd name="T55" fmla="*/ 2 h 428"/>
                <a:gd name="T56" fmla="*/ 8745 w 141"/>
                <a:gd name="T57" fmla="*/ 2 h 428"/>
                <a:gd name="T58" fmla="*/ 9257 w 141"/>
                <a:gd name="T59" fmla="*/ 2 h 428"/>
                <a:gd name="T60" fmla="*/ 10389 w 141"/>
                <a:gd name="T61" fmla="*/ 2 h 428"/>
                <a:gd name="T62" fmla="*/ 11456 w 141"/>
                <a:gd name="T63" fmla="*/ 2 h 428"/>
                <a:gd name="T64" fmla="*/ 12857 w 141"/>
                <a:gd name="T65" fmla="*/ 2 h 428"/>
                <a:gd name="T66" fmla="*/ 14423 w 141"/>
                <a:gd name="T67" fmla="*/ 2 h 428"/>
                <a:gd name="T68" fmla="*/ 15547 w 141"/>
                <a:gd name="T69" fmla="*/ 2 h 428"/>
                <a:gd name="T70" fmla="*/ 16457 w 141"/>
                <a:gd name="T71" fmla="*/ 2 h 428"/>
                <a:gd name="T72" fmla="*/ 17535 w 141"/>
                <a:gd name="T73" fmla="*/ 2 h 428"/>
                <a:gd name="T74" fmla="*/ 18017 w 141"/>
                <a:gd name="T75" fmla="*/ 2 h 428"/>
                <a:gd name="T76" fmla="*/ 18660 w 141"/>
                <a:gd name="T77" fmla="*/ 2 h 428"/>
                <a:gd name="T78" fmla="*/ 18660 w 141"/>
                <a:gd name="T79" fmla="*/ 2 h 428"/>
                <a:gd name="T80" fmla="*/ 18660 w 141"/>
                <a:gd name="T81" fmla="*/ 2 h 428"/>
                <a:gd name="T82" fmla="*/ 18660 w 141"/>
                <a:gd name="T83" fmla="*/ 2 h 428"/>
                <a:gd name="T84" fmla="*/ 18660 w 141"/>
                <a:gd name="T85" fmla="*/ 3 h 428"/>
                <a:gd name="T86" fmla="*/ 18017 w 141"/>
                <a:gd name="T87" fmla="*/ 3 h 428"/>
                <a:gd name="T88" fmla="*/ 18017 w 141"/>
                <a:gd name="T89" fmla="*/ 3 h 428"/>
                <a:gd name="T90" fmla="*/ 18017 w 141"/>
                <a:gd name="T91" fmla="*/ 3 h 428"/>
                <a:gd name="T92" fmla="*/ 17535 w 141"/>
                <a:gd name="T93" fmla="*/ 3 h 428"/>
                <a:gd name="T94" fmla="*/ 17055 w 141"/>
                <a:gd name="T95" fmla="*/ 3 h 428"/>
                <a:gd name="T96" fmla="*/ 17055 w 141"/>
                <a:gd name="T97" fmla="*/ 4 h 428"/>
                <a:gd name="T98" fmla="*/ 16457 w 141"/>
                <a:gd name="T99" fmla="*/ 4 h 428"/>
                <a:gd name="T100" fmla="*/ 15547 w 141"/>
                <a:gd name="T101" fmla="*/ 4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a:cs typeface="Arial"/>
              </a:endParaRPr>
            </a:p>
          </p:txBody>
        </p:sp>
        <p:sp>
          <p:nvSpPr>
            <p:cNvPr id="275" name="Freeform 69"/>
            <p:cNvSpPr>
              <a:spLocks/>
            </p:cNvSpPr>
            <p:nvPr/>
          </p:nvSpPr>
          <p:spPr bwMode="auto">
            <a:xfrm>
              <a:off x="2712" y="1207"/>
              <a:ext cx="194" cy="219"/>
            </a:xfrm>
            <a:custGeom>
              <a:avLst/>
              <a:gdLst>
                <a:gd name="T0" fmla="*/ 3424 w 145"/>
                <a:gd name="T1" fmla="*/ 2 h 292"/>
                <a:gd name="T2" fmla="*/ 3954 w 145"/>
                <a:gd name="T3" fmla="*/ 2 h 292"/>
                <a:gd name="T4" fmla="*/ 6251 w 145"/>
                <a:gd name="T5" fmla="*/ 2 h 292"/>
                <a:gd name="T6" fmla="*/ 8424 w 145"/>
                <a:gd name="T7" fmla="*/ 2 h 292"/>
                <a:gd name="T8" fmla="*/ 10051 w 145"/>
                <a:gd name="T9" fmla="*/ 2 h 292"/>
                <a:gd name="T10" fmla="*/ 11859 w 145"/>
                <a:gd name="T11" fmla="*/ 2 h 292"/>
                <a:gd name="T12" fmla="*/ 13448 w 145"/>
                <a:gd name="T13" fmla="*/ 2 h 292"/>
                <a:gd name="T14" fmla="*/ 15194 w 145"/>
                <a:gd name="T15" fmla="*/ 2 h 292"/>
                <a:gd name="T16" fmla="*/ 16952 w 145"/>
                <a:gd name="T17" fmla="*/ 2 h 292"/>
                <a:gd name="T18" fmla="*/ 17992 w 145"/>
                <a:gd name="T19" fmla="*/ 2 h 292"/>
                <a:gd name="T20" fmla="*/ 18660 w 145"/>
                <a:gd name="T21" fmla="*/ 2 h 292"/>
                <a:gd name="T22" fmla="*/ 19668 w 145"/>
                <a:gd name="T23" fmla="*/ 2 h 292"/>
                <a:gd name="T24" fmla="*/ 20329 w 145"/>
                <a:gd name="T25" fmla="*/ 2 h 292"/>
                <a:gd name="T26" fmla="*/ 19668 w 145"/>
                <a:gd name="T27" fmla="*/ 2 h 292"/>
                <a:gd name="T28" fmla="*/ 19193 w 145"/>
                <a:gd name="T29" fmla="*/ 2 h 292"/>
                <a:gd name="T30" fmla="*/ 17992 w 145"/>
                <a:gd name="T31" fmla="*/ 2 h 292"/>
                <a:gd name="T32" fmla="*/ 17468 w 145"/>
                <a:gd name="T33" fmla="*/ 2 h 292"/>
                <a:gd name="T34" fmla="*/ 16952 w 145"/>
                <a:gd name="T35" fmla="*/ 2 h 292"/>
                <a:gd name="T36" fmla="*/ 16313 w 145"/>
                <a:gd name="T37" fmla="*/ 2 h 292"/>
                <a:gd name="T38" fmla="*/ 15194 w 145"/>
                <a:gd name="T39" fmla="*/ 2 h 292"/>
                <a:gd name="T40" fmla="*/ 14678 w 145"/>
                <a:gd name="T41" fmla="*/ 2 h 292"/>
                <a:gd name="T42" fmla="*/ 14099 w 145"/>
                <a:gd name="T43" fmla="*/ 2 h 292"/>
                <a:gd name="T44" fmla="*/ 13448 w 145"/>
                <a:gd name="T45" fmla="*/ 2 h 292"/>
                <a:gd name="T46" fmla="*/ 13038 w 145"/>
                <a:gd name="T47" fmla="*/ 2 h 292"/>
                <a:gd name="T48" fmla="*/ 11859 w 145"/>
                <a:gd name="T49" fmla="*/ 2 h 292"/>
                <a:gd name="T50" fmla="*/ 11271 w 145"/>
                <a:gd name="T51" fmla="*/ 0 h 292"/>
                <a:gd name="T52" fmla="*/ 10722 w 145"/>
                <a:gd name="T53" fmla="*/ 2 h 292"/>
                <a:gd name="T54" fmla="*/ 10722 w 145"/>
                <a:gd name="T55" fmla="*/ 2 h 292"/>
                <a:gd name="T56" fmla="*/ 10722 w 145"/>
                <a:gd name="T57" fmla="*/ 2 h 292"/>
                <a:gd name="T58" fmla="*/ 10051 w 145"/>
                <a:gd name="T59" fmla="*/ 2 h 292"/>
                <a:gd name="T60" fmla="*/ 9081 w 145"/>
                <a:gd name="T61" fmla="*/ 2 h 292"/>
                <a:gd name="T62" fmla="*/ 7876 w 145"/>
                <a:gd name="T63" fmla="*/ 2 h 292"/>
                <a:gd name="T64" fmla="*/ 6251 w 145"/>
                <a:gd name="T65" fmla="*/ 2 h 292"/>
                <a:gd name="T66" fmla="*/ 4581 w 145"/>
                <a:gd name="T67" fmla="*/ 2 h 292"/>
                <a:gd name="T68" fmla="*/ 3424 w 145"/>
                <a:gd name="T69" fmla="*/ 2 h 292"/>
                <a:gd name="T70" fmla="*/ 2209 w 145"/>
                <a:gd name="T71" fmla="*/ 2 h 292"/>
                <a:gd name="T72" fmla="*/ 1183 w 145"/>
                <a:gd name="T73" fmla="*/ 2 h 292"/>
                <a:gd name="T74" fmla="*/ 515 w 145"/>
                <a:gd name="T75" fmla="*/ 2 h 292"/>
                <a:gd name="T76" fmla="*/ 0 w 145"/>
                <a:gd name="T77" fmla="*/ 2 h 292"/>
                <a:gd name="T78" fmla="*/ 0 w 145"/>
                <a:gd name="T79" fmla="*/ 2 h 292"/>
                <a:gd name="T80" fmla="*/ 0 w 145"/>
                <a:gd name="T81" fmla="*/ 2 h 292"/>
                <a:gd name="T82" fmla="*/ 0 w 145"/>
                <a:gd name="T83" fmla="*/ 2 h 292"/>
                <a:gd name="T84" fmla="*/ 0 w 145"/>
                <a:gd name="T85" fmla="*/ 2 h 292"/>
                <a:gd name="T86" fmla="*/ 515 w 145"/>
                <a:gd name="T87" fmla="*/ 2 h 292"/>
                <a:gd name="T88" fmla="*/ 515 w 145"/>
                <a:gd name="T89" fmla="*/ 2 h 292"/>
                <a:gd name="T90" fmla="*/ 515 w 145"/>
                <a:gd name="T91" fmla="*/ 2 h 292"/>
                <a:gd name="T92" fmla="*/ 1183 w 145"/>
                <a:gd name="T93" fmla="*/ 2 h 292"/>
                <a:gd name="T94" fmla="*/ 1651 w 145"/>
                <a:gd name="T95" fmla="*/ 2 h 292"/>
                <a:gd name="T96" fmla="*/ 1651 w 145"/>
                <a:gd name="T97" fmla="*/ 2 h 292"/>
                <a:gd name="T98" fmla="*/ 2209 w 145"/>
                <a:gd name="T99" fmla="*/ 2 h 292"/>
                <a:gd name="T100" fmla="*/ 3424 w 145"/>
                <a:gd name="T101" fmla="*/ 2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76" name="Freeform 70"/>
            <p:cNvSpPr>
              <a:spLocks/>
            </p:cNvSpPr>
            <p:nvPr/>
          </p:nvSpPr>
          <p:spPr bwMode="auto">
            <a:xfrm>
              <a:off x="2626" y="1127"/>
              <a:ext cx="309" cy="234"/>
            </a:xfrm>
            <a:custGeom>
              <a:avLst/>
              <a:gdLst>
                <a:gd name="T0" fmla="*/ 12209 w 232"/>
                <a:gd name="T1" fmla="*/ 2 h 313"/>
                <a:gd name="T2" fmla="*/ 12839 w 232"/>
                <a:gd name="T3" fmla="*/ 2 h 313"/>
                <a:gd name="T4" fmla="*/ 15303 w 232"/>
                <a:gd name="T5" fmla="*/ 2 h 313"/>
                <a:gd name="T6" fmla="*/ 17676 w 232"/>
                <a:gd name="T7" fmla="*/ 1 h 313"/>
                <a:gd name="T8" fmla="*/ 19472 w 232"/>
                <a:gd name="T9" fmla="*/ 1 h 313"/>
                <a:gd name="T10" fmla="*/ 21220 w 232"/>
                <a:gd name="T11" fmla="*/ 1 h 313"/>
                <a:gd name="T12" fmla="*/ 23123 w 232"/>
                <a:gd name="T13" fmla="*/ 1 h 313"/>
                <a:gd name="T14" fmla="*/ 24804 w 232"/>
                <a:gd name="T15" fmla="*/ 1 h 313"/>
                <a:gd name="T16" fmla="*/ 26503 w 232"/>
                <a:gd name="T17" fmla="*/ 1 h 313"/>
                <a:gd name="T18" fmla="*/ 27783 w 232"/>
                <a:gd name="T19" fmla="*/ 1 h 313"/>
                <a:gd name="T20" fmla="*/ 28425 w 232"/>
                <a:gd name="T21" fmla="*/ 1 h 313"/>
                <a:gd name="T22" fmla="*/ 29521 w 232"/>
                <a:gd name="T23" fmla="*/ 1 h 313"/>
                <a:gd name="T24" fmla="*/ 30170 w 232"/>
                <a:gd name="T25" fmla="*/ 1 h 313"/>
                <a:gd name="T26" fmla="*/ 29521 w 232"/>
                <a:gd name="T27" fmla="*/ 1 h 313"/>
                <a:gd name="T28" fmla="*/ 28846 w 232"/>
                <a:gd name="T29" fmla="*/ 1 h 313"/>
                <a:gd name="T30" fmla="*/ 27783 w 232"/>
                <a:gd name="T31" fmla="*/ 1 h 313"/>
                <a:gd name="T32" fmla="*/ 27147 w 232"/>
                <a:gd name="T33" fmla="*/ 1 h 313"/>
                <a:gd name="T34" fmla="*/ 26503 w 232"/>
                <a:gd name="T35" fmla="*/ 1 h 313"/>
                <a:gd name="T36" fmla="*/ 26025 w 232"/>
                <a:gd name="T37" fmla="*/ 1 h 313"/>
                <a:gd name="T38" fmla="*/ 24804 w 232"/>
                <a:gd name="T39" fmla="*/ 1 h 313"/>
                <a:gd name="T40" fmla="*/ 24149 w 232"/>
                <a:gd name="T41" fmla="*/ 1 h 313"/>
                <a:gd name="T42" fmla="*/ 23543 w 232"/>
                <a:gd name="T43" fmla="*/ 1 h 313"/>
                <a:gd name="T44" fmla="*/ 23662 w 232"/>
                <a:gd name="T45" fmla="*/ 1 h 313"/>
                <a:gd name="T46" fmla="*/ 22465 w 232"/>
                <a:gd name="T47" fmla="*/ 1 h 313"/>
                <a:gd name="T48" fmla="*/ 21220 w 232"/>
                <a:gd name="T49" fmla="*/ 1 h 313"/>
                <a:gd name="T50" fmla="*/ 20638 w 232"/>
                <a:gd name="T51" fmla="*/ 0 h 313"/>
                <a:gd name="T52" fmla="*/ 20113 w 232"/>
                <a:gd name="T53" fmla="*/ 1 h 313"/>
                <a:gd name="T54" fmla="*/ 20113 w 232"/>
                <a:gd name="T55" fmla="*/ 1 h 313"/>
                <a:gd name="T56" fmla="*/ 20113 w 232"/>
                <a:gd name="T57" fmla="*/ 1 h 313"/>
                <a:gd name="T58" fmla="*/ 19472 w 232"/>
                <a:gd name="T59" fmla="*/ 1 h 313"/>
                <a:gd name="T60" fmla="*/ 18131 w 232"/>
                <a:gd name="T61" fmla="*/ 1 h 313"/>
                <a:gd name="T62" fmla="*/ 17100 w 232"/>
                <a:gd name="T63" fmla="*/ 1 h 313"/>
                <a:gd name="T64" fmla="*/ 15303 w 232"/>
                <a:gd name="T65" fmla="*/ 1 h 313"/>
                <a:gd name="T66" fmla="*/ 13375 w 232"/>
                <a:gd name="T67" fmla="*/ 1 h 313"/>
                <a:gd name="T68" fmla="*/ 12209 w 232"/>
                <a:gd name="T69" fmla="*/ 1 h 313"/>
                <a:gd name="T70" fmla="*/ 11124 w 232"/>
                <a:gd name="T71" fmla="*/ 1 h 313"/>
                <a:gd name="T72" fmla="*/ 9964 w 232"/>
                <a:gd name="T73" fmla="*/ 1 h 313"/>
                <a:gd name="T74" fmla="*/ 9369 w 232"/>
                <a:gd name="T75" fmla="*/ 1 h 313"/>
                <a:gd name="T76" fmla="*/ 8735 w 232"/>
                <a:gd name="T77" fmla="*/ 1 h 313"/>
                <a:gd name="T78" fmla="*/ 8735 w 232"/>
                <a:gd name="T79" fmla="*/ 1 h 313"/>
                <a:gd name="T80" fmla="*/ 8735 w 232"/>
                <a:gd name="T81" fmla="*/ 1 h 313"/>
                <a:gd name="T82" fmla="*/ 8735 w 232"/>
                <a:gd name="T83" fmla="*/ 1 h 313"/>
                <a:gd name="T84" fmla="*/ 8735 w 232"/>
                <a:gd name="T85" fmla="*/ 1 h 313"/>
                <a:gd name="T86" fmla="*/ 9369 w 232"/>
                <a:gd name="T87" fmla="*/ 1 h 313"/>
                <a:gd name="T88" fmla="*/ 9369 w 232"/>
                <a:gd name="T89" fmla="*/ 1 h 313"/>
                <a:gd name="T90" fmla="*/ 9369 w 232"/>
                <a:gd name="T91" fmla="*/ 1 h 313"/>
                <a:gd name="T92" fmla="*/ 9964 w 232"/>
                <a:gd name="T93" fmla="*/ 1 h 313"/>
                <a:gd name="T94" fmla="*/ 10498 w 232"/>
                <a:gd name="T95" fmla="*/ 1 h 313"/>
                <a:gd name="T96" fmla="*/ 10498 w 232"/>
                <a:gd name="T97" fmla="*/ 1 h 313"/>
                <a:gd name="T98" fmla="*/ 11124 w 232"/>
                <a:gd name="T99" fmla="*/ 2 h 313"/>
                <a:gd name="T100" fmla="*/ 12209 w 232"/>
                <a:gd name="T101" fmla="*/ 2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77" name="Freeform 71"/>
            <p:cNvSpPr>
              <a:spLocks/>
            </p:cNvSpPr>
            <p:nvPr/>
          </p:nvSpPr>
          <p:spPr bwMode="auto">
            <a:xfrm>
              <a:off x="2731" y="1198"/>
              <a:ext cx="252" cy="218"/>
            </a:xfrm>
            <a:custGeom>
              <a:avLst/>
              <a:gdLst>
                <a:gd name="T0" fmla="*/ 4068 w 189"/>
                <a:gd name="T1" fmla="*/ 2 h 291"/>
                <a:gd name="T2" fmla="*/ 4905 w 189"/>
                <a:gd name="T3" fmla="*/ 1 h 291"/>
                <a:gd name="T4" fmla="*/ 7583 w 189"/>
                <a:gd name="T5" fmla="*/ 1 h 291"/>
                <a:gd name="T6" fmla="*/ 10389 w 189"/>
                <a:gd name="T7" fmla="*/ 1 h 291"/>
                <a:gd name="T8" fmla="*/ 12503 w 189"/>
                <a:gd name="T9" fmla="*/ 1 h 291"/>
                <a:gd name="T10" fmla="*/ 14651 w 189"/>
                <a:gd name="T11" fmla="*/ 1 h 291"/>
                <a:gd name="T12" fmla="*/ 16671 w 189"/>
                <a:gd name="T13" fmla="*/ 1 h 291"/>
                <a:gd name="T14" fmla="*/ 18815 w 189"/>
                <a:gd name="T15" fmla="*/ 1 h 291"/>
                <a:gd name="T16" fmla="*/ 20863 w 189"/>
                <a:gd name="T17" fmla="*/ 1 h 291"/>
                <a:gd name="T18" fmla="*/ 22228 w 189"/>
                <a:gd name="T19" fmla="*/ 1 h 291"/>
                <a:gd name="T20" fmla="*/ 22857 w 189"/>
                <a:gd name="T21" fmla="*/ 1 h 291"/>
                <a:gd name="T22" fmla="*/ 24276 w 189"/>
                <a:gd name="T23" fmla="*/ 1 h 291"/>
                <a:gd name="T24" fmla="*/ 25087 w 189"/>
                <a:gd name="T25" fmla="*/ 1 h 291"/>
                <a:gd name="T26" fmla="*/ 24276 w 189"/>
                <a:gd name="T27" fmla="*/ 1 h 291"/>
                <a:gd name="T28" fmla="*/ 23601 w 189"/>
                <a:gd name="T29" fmla="*/ 1 h 291"/>
                <a:gd name="T30" fmla="*/ 22228 w 189"/>
                <a:gd name="T31" fmla="*/ 1 h 291"/>
                <a:gd name="T32" fmla="*/ 21577 w 189"/>
                <a:gd name="T33" fmla="*/ 1 h 291"/>
                <a:gd name="T34" fmla="*/ 20863 w 189"/>
                <a:gd name="T35" fmla="*/ 1 h 291"/>
                <a:gd name="T36" fmla="*/ 20047 w 189"/>
                <a:gd name="T37" fmla="*/ 1 h 291"/>
                <a:gd name="T38" fmla="*/ 18815 w 189"/>
                <a:gd name="T39" fmla="*/ 1 h 291"/>
                <a:gd name="T40" fmla="*/ 18017 w 189"/>
                <a:gd name="T41" fmla="*/ 1 h 291"/>
                <a:gd name="T42" fmla="*/ 17463 w 189"/>
                <a:gd name="T43" fmla="*/ 1 h 291"/>
                <a:gd name="T44" fmla="*/ 16671 w 189"/>
                <a:gd name="T45" fmla="*/ 1 h 291"/>
                <a:gd name="T46" fmla="*/ 15931 w 189"/>
                <a:gd name="T47" fmla="*/ 1 h 291"/>
                <a:gd name="T48" fmla="*/ 14651 w 189"/>
                <a:gd name="T49" fmla="*/ 1 h 291"/>
                <a:gd name="T50" fmla="*/ 13852 w 189"/>
                <a:gd name="T51" fmla="*/ 0 h 291"/>
                <a:gd name="T52" fmla="*/ 13151 w 189"/>
                <a:gd name="T53" fmla="*/ 1 h 291"/>
                <a:gd name="T54" fmla="*/ 13151 w 189"/>
                <a:gd name="T55" fmla="*/ 1 h 291"/>
                <a:gd name="T56" fmla="*/ 13151 w 189"/>
                <a:gd name="T57" fmla="*/ 1 h 291"/>
                <a:gd name="T58" fmla="*/ 12503 w 189"/>
                <a:gd name="T59" fmla="*/ 1 h 291"/>
                <a:gd name="T60" fmla="*/ 11148 w 189"/>
                <a:gd name="T61" fmla="*/ 1 h 291"/>
                <a:gd name="T62" fmla="*/ 9643 w 189"/>
                <a:gd name="T63" fmla="*/ 1 h 291"/>
                <a:gd name="T64" fmla="*/ 7583 w 189"/>
                <a:gd name="T65" fmla="*/ 1 h 291"/>
                <a:gd name="T66" fmla="*/ 5596 w 189"/>
                <a:gd name="T67" fmla="*/ 1 h 291"/>
                <a:gd name="T68" fmla="*/ 4068 w 189"/>
                <a:gd name="T69" fmla="*/ 1 h 291"/>
                <a:gd name="T70" fmla="*/ 2759 w 189"/>
                <a:gd name="T71" fmla="*/ 1 h 291"/>
                <a:gd name="T72" fmla="*/ 1287 w 189"/>
                <a:gd name="T73" fmla="*/ 1 h 291"/>
                <a:gd name="T74" fmla="*/ 655 w 189"/>
                <a:gd name="T75" fmla="*/ 1 h 291"/>
                <a:gd name="T76" fmla="*/ 0 w 189"/>
                <a:gd name="T77" fmla="*/ 1 h 291"/>
                <a:gd name="T78" fmla="*/ 0 w 189"/>
                <a:gd name="T79" fmla="*/ 1 h 291"/>
                <a:gd name="T80" fmla="*/ 0 w 189"/>
                <a:gd name="T81" fmla="*/ 1 h 291"/>
                <a:gd name="T82" fmla="*/ 0 w 189"/>
                <a:gd name="T83" fmla="*/ 1 h 291"/>
                <a:gd name="T84" fmla="*/ 0 w 189"/>
                <a:gd name="T85" fmla="*/ 1 h 291"/>
                <a:gd name="T86" fmla="*/ 655 w 189"/>
                <a:gd name="T87" fmla="*/ 1 h 291"/>
                <a:gd name="T88" fmla="*/ 655 w 189"/>
                <a:gd name="T89" fmla="*/ 1 h 291"/>
                <a:gd name="T90" fmla="*/ 655 w 189"/>
                <a:gd name="T91" fmla="*/ 1 h 291"/>
                <a:gd name="T92" fmla="*/ 1287 w 189"/>
                <a:gd name="T93" fmla="*/ 1 h 291"/>
                <a:gd name="T94" fmla="*/ 2069 w 189"/>
                <a:gd name="T95" fmla="*/ 1 h 291"/>
                <a:gd name="T96" fmla="*/ 2069 w 189"/>
                <a:gd name="T97" fmla="*/ 1 h 291"/>
                <a:gd name="T98" fmla="*/ 2759 w 189"/>
                <a:gd name="T99" fmla="*/ 1 h 291"/>
                <a:gd name="T100" fmla="*/ 4068 w 189"/>
                <a:gd name="T101" fmla="*/ 2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78" name="Freeform 72"/>
            <p:cNvSpPr>
              <a:spLocks/>
            </p:cNvSpPr>
            <p:nvPr/>
          </p:nvSpPr>
          <p:spPr bwMode="auto">
            <a:xfrm>
              <a:off x="2592" y="1152"/>
              <a:ext cx="226" cy="267"/>
            </a:xfrm>
            <a:custGeom>
              <a:avLst/>
              <a:gdLst>
                <a:gd name="T0" fmla="*/ 17829 w 170"/>
                <a:gd name="T1" fmla="*/ 2 h 356"/>
                <a:gd name="T2" fmla="*/ 17208 w 170"/>
                <a:gd name="T3" fmla="*/ 2 h 356"/>
                <a:gd name="T4" fmla="*/ 14834 w 170"/>
                <a:gd name="T5" fmla="*/ 2 h 356"/>
                <a:gd name="T6" fmla="*/ 12566 w 170"/>
                <a:gd name="T7" fmla="*/ 2 h 356"/>
                <a:gd name="T8" fmla="*/ 10723 w 170"/>
                <a:gd name="T9" fmla="*/ 2 h 356"/>
                <a:gd name="T10" fmla="*/ 8863 w 170"/>
                <a:gd name="T11" fmla="*/ 2 h 356"/>
                <a:gd name="T12" fmla="*/ 7018 w 170"/>
                <a:gd name="T13" fmla="*/ 2 h 356"/>
                <a:gd name="T14" fmla="*/ 5279 w 170"/>
                <a:gd name="T15" fmla="*/ 2 h 356"/>
                <a:gd name="T16" fmla="*/ 3496 w 170"/>
                <a:gd name="T17" fmla="*/ 2 h 356"/>
                <a:gd name="T18" fmla="*/ 2345 w 170"/>
                <a:gd name="T19" fmla="*/ 2 h 356"/>
                <a:gd name="T20" fmla="*/ 1764 w 170"/>
                <a:gd name="T21" fmla="*/ 2 h 356"/>
                <a:gd name="T22" fmla="*/ 633 w 170"/>
                <a:gd name="T23" fmla="*/ 2 h 356"/>
                <a:gd name="T24" fmla="*/ 0 w 170"/>
                <a:gd name="T25" fmla="*/ 2 h 356"/>
                <a:gd name="T26" fmla="*/ 633 w 170"/>
                <a:gd name="T27" fmla="*/ 2 h 356"/>
                <a:gd name="T28" fmla="*/ 1119 w 170"/>
                <a:gd name="T29" fmla="*/ 2 h 356"/>
                <a:gd name="T30" fmla="*/ 2345 w 170"/>
                <a:gd name="T31" fmla="*/ 2 h 356"/>
                <a:gd name="T32" fmla="*/ 2946 w 170"/>
                <a:gd name="T33" fmla="*/ 2 h 356"/>
                <a:gd name="T34" fmla="*/ 3496 w 170"/>
                <a:gd name="T35" fmla="*/ 2 h 356"/>
                <a:gd name="T36" fmla="*/ 4144 w 170"/>
                <a:gd name="T37" fmla="*/ 2 h 356"/>
                <a:gd name="T38" fmla="*/ 5279 w 170"/>
                <a:gd name="T39" fmla="*/ 2 h 356"/>
                <a:gd name="T40" fmla="*/ 5900 w 170"/>
                <a:gd name="T41" fmla="*/ 2 h 356"/>
                <a:gd name="T42" fmla="*/ 6546 w 170"/>
                <a:gd name="T43" fmla="*/ 2 h 356"/>
                <a:gd name="T44" fmla="*/ 7018 w 170"/>
                <a:gd name="T45" fmla="*/ 2 h 356"/>
                <a:gd name="T46" fmla="*/ 7748 w 170"/>
                <a:gd name="T47" fmla="*/ 2 h 356"/>
                <a:gd name="T48" fmla="*/ 8863 w 170"/>
                <a:gd name="T49" fmla="*/ 2 h 356"/>
                <a:gd name="T50" fmla="*/ 9529 w 170"/>
                <a:gd name="T51" fmla="*/ 0 h 356"/>
                <a:gd name="T52" fmla="*/ 10088 w 170"/>
                <a:gd name="T53" fmla="*/ 2 h 356"/>
                <a:gd name="T54" fmla="*/ 10088 w 170"/>
                <a:gd name="T55" fmla="*/ 2 h 356"/>
                <a:gd name="T56" fmla="*/ 10088 w 170"/>
                <a:gd name="T57" fmla="*/ 2 h 356"/>
                <a:gd name="T58" fmla="*/ 10723 w 170"/>
                <a:gd name="T59" fmla="*/ 2 h 356"/>
                <a:gd name="T60" fmla="*/ 11926 w 170"/>
                <a:gd name="T61" fmla="*/ 2 h 356"/>
                <a:gd name="T62" fmla="*/ 13036 w 170"/>
                <a:gd name="T63" fmla="*/ 2 h 356"/>
                <a:gd name="T64" fmla="*/ 14834 w 170"/>
                <a:gd name="T65" fmla="*/ 2 h 356"/>
                <a:gd name="T66" fmla="*/ 16535 w 170"/>
                <a:gd name="T67" fmla="*/ 2 h 356"/>
                <a:gd name="T68" fmla="*/ 17829 w 170"/>
                <a:gd name="T69" fmla="*/ 2 h 356"/>
                <a:gd name="T70" fmla="*/ 18951 w 170"/>
                <a:gd name="T71" fmla="*/ 2 h 356"/>
                <a:gd name="T72" fmla="*/ 20264 w 170"/>
                <a:gd name="T73" fmla="*/ 2 h 356"/>
                <a:gd name="T74" fmla="*/ 20791 w 170"/>
                <a:gd name="T75" fmla="*/ 2 h 356"/>
                <a:gd name="T76" fmla="*/ 21381 w 170"/>
                <a:gd name="T77" fmla="*/ 2 h 356"/>
                <a:gd name="T78" fmla="*/ 21381 w 170"/>
                <a:gd name="T79" fmla="*/ 2 h 356"/>
                <a:gd name="T80" fmla="*/ 21381 w 170"/>
                <a:gd name="T81" fmla="*/ 2 h 356"/>
                <a:gd name="T82" fmla="*/ 21381 w 170"/>
                <a:gd name="T83" fmla="*/ 2 h 356"/>
                <a:gd name="T84" fmla="*/ 21381 w 170"/>
                <a:gd name="T85" fmla="*/ 2 h 356"/>
                <a:gd name="T86" fmla="*/ 20791 w 170"/>
                <a:gd name="T87" fmla="*/ 2 h 356"/>
                <a:gd name="T88" fmla="*/ 20791 w 170"/>
                <a:gd name="T89" fmla="*/ 2 h 356"/>
                <a:gd name="T90" fmla="*/ 20791 w 170"/>
                <a:gd name="T91" fmla="*/ 2 h 356"/>
                <a:gd name="T92" fmla="*/ 20264 w 170"/>
                <a:gd name="T93" fmla="*/ 2 h 356"/>
                <a:gd name="T94" fmla="*/ 19606 w 170"/>
                <a:gd name="T95" fmla="*/ 2 h 356"/>
                <a:gd name="T96" fmla="*/ 19606 w 170"/>
                <a:gd name="T97" fmla="*/ 2 h 356"/>
                <a:gd name="T98" fmla="*/ 18951 w 170"/>
                <a:gd name="T99" fmla="*/ 2 h 356"/>
                <a:gd name="T100" fmla="*/ 17829 w 170"/>
                <a:gd name="T101" fmla="*/ 2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6600"/>
            </a:solidFill>
            <a:ln w="25400" cap="rnd">
              <a:solidFill>
                <a:srgbClr val="FF0000"/>
              </a:solidFill>
              <a:round/>
              <a:headEnd/>
              <a:tailEnd/>
            </a:ln>
          </p:spPr>
          <p:txBody>
            <a:bodyPr/>
            <a:lstStyle/>
            <a:p>
              <a:endParaRPr lang="en-US">
                <a:latin typeface="Arial"/>
                <a:cs typeface="Arial"/>
              </a:endParaRPr>
            </a:p>
          </p:txBody>
        </p:sp>
        <p:sp>
          <p:nvSpPr>
            <p:cNvPr id="279" name="Freeform 73"/>
            <p:cNvSpPr>
              <a:spLocks/>
            </p:cNvSpPr>
            <p:nvPr/>
          </p:nvSpPr>
          <p:spPr bwMode="auto">
            <a:xfrm>
              <a:off x="2692" y="1130"/>
              <a:ext cx="150" cy="289"/>
            </a:xfrm>
            <a:custGeom>
              <a:avLst/>
              <a:gdLst>
                <a:gd name="T0" fmla="*/ 2626 w 112"/>
                <a:gd name="T1" fmla="*/ 3 h 386"/>
                <a:gd name="T2" fmla="*/ 3139 w 112"/>
                <a:gd name="T3" fmla="*/ 2 h 386"/>
                <a:gd name="T4" fmla="*/ 4979 w 112"/>
                <a:gd name="T5" fmla="*/ 2 h 386"/>
                <a:gd name="T6" fmla="*/ 6668 w 112"/>
                <a:gd name="T7" fmla="*/ 2 h 386"/>
                <a:gd name="T8" fmla="*/ 7978 w 112"/>
                <a:gd name="T9" fmla="*/ 2 h 386"/>
                <a:gd name="T10" fmla="*/ 9359 w 112"/>
                <a:gd name="T11" fmla="*/ 2 h 386"/>
                <a:gd name="T12" fmla="*/ 10619 w 112"/>
                <a:gd name="T13" fmla="*/ 2 h 386"/>
                <a:gd name="T14" fmla="*/ 11960 w 112"/>
                <a:gd name="T15" fmla="*/ 2 h 386"/>
                <a:gd name="T16" fmla="*/ 13393 w 112"/>
                <a:gd name="T17" fmla="*/ 1 h 386"/>
                <a:gd name="T18" fmla="*/ 14222 w 112"/>
                <a:gd name="T19" fmla="*/ 1 h 386"/>
                <a:gd name="T20" fmla="*/ 14626 w 112"/>
                <a:gd name="T21" fmla="*/ 1 h 386"/>
                <a:gd name="T22" fmla="*/ 15530 w 112"/>
                <a:gd name="T23" fmla="*/ 1 h 386"/>
                <a:gd name="T24" fmla="*/ 16018 w 112"/>
                <a:gd name="T25" fmla="*/ 1 h 386"/>
                <a:gd name="T26" fmla="*/ 15530 w 112"/>
                <a:gd name="T27" fmla="*/ 1 h 386"/>
                <a:gd name="T28" fmla="*/ 15108 w 112"/>
                <a:gd name="T29" fmla="*/ 1 h 386"/>
                <a:gd name="T30" fmla="*/ 14222 w 112"/>
                <a:gd name="T31" fmla="*/ 1 h 386"/>
                <a:gd name="T32" fmla="*/ 13856 w 112"/>
                <a:gd name="T33" fmla="*/ 1 h 386"/>
                <a:gd name="T34" fmla="*/ 13393 w 112"/>
                <a:gd name="T35" fmla="*/ 1 h 386"/>
                <a:gd name="T36" fmla="*/ 12742 w 112"/>
                <a:gd name="T37" fmla="*/ 1 h 386"/>
                <a:gd name="T38" fmla="*/ 11960 w 112"/>
                <a:gd name="T39" fmla="*/ 1 h 386"/>
                <a:gd name="T40" fmla="*/ 11444 w 112"/>
                <a:gd name="T41" fmla="*/ 1 h 386"/>
                <a:gd name="T42" fmla="*/ 11069 w 112"/>
                <a:gd name="T43" fmla="*/ 1 h 386"/>
                <a:gd name="T44" fmla="*/ 10619 w 112"/>
                <a:gd name="T45" fmla="*/ 1 h 386"/>
                <a:gd name="T46" fmla="*/ 10134 w 112"/>
                <a:gd name="T47" fmla="*/ 1 h 386"/>
                <a:gd name="T48" fmla="*/ 9359 w 112"/>
                <a:gd name="T49" fmla="*/ 1 h 386"/>
                <a:gd name="T50" fmla="*/ 8930 w 112"/>
                <a:gd name="T51" fmla="*/ 0 h 386"/>
                <a:gd name="T52" fmla="*/ 8448 w 112"/>
                <a:gd name="T53" fmla="*/ 1 h 386"/>
                <a:gd name="T54" fmla="*/ 8448 w 112"/>
                <a:gd name="T55" fmla="*/ 1 h 386"/>
                <a:gd name="T56" fmla="*/ 8448 w 112"/>
                <a:gd name="T57" fmla="*/ 1 h 386"/>
                <a:gd name="T58" fmla="*/ 7978 w 112"/>
                <a:gd name="T59" fmla="*/ 1 h 386"/>
                <a:gd name="T60" fmla="*/ 7058 w 112"/>
                <a:gd name="T61" fmla="*/ 1 h 386"/>
                <a:gd name="T62" fmla="*/ 6181 w 112"/>
                <a:gd name="T63" fmla="*/ 1 h 386"/>
                <a:gd name="T64" fmla="*/ 4979 w 112"/>
                <a:gd name="T65" fmla="*/ 1 h 386"/>
                <a:gd name="T66" fmla="*/ 3517 w 112"/>
                <a:gd name="T67" fmla="*/ 1 h 386"/>
                <a:gd name="T68" fmla="*/ 2626 w 112"/>
                <a:gd name="T69" fmla="*/ 1 h 386"/>
                <a:gd name="T70" fmla="*/ 1686 w 112"/>
                <a:gd name="T71" fmla="*/ 1 h 386"/>
                <a:gd name="T72" fmla="*/ 889 w 112"/>
                <a:gd name="T73" fmla="*/ 1 h 386"/>
                <a:gd name="T74" fmla="*/ 391 w 112"/>
                <a:gd name="T75" fmla="*/ 1 h 386"/>
                <a:gd name="T76" fmla="*/ 0 w 112"/>
                <a:gd name="T77" fmla="*/ 1 h 386"/>
                <a:gd name="T78" fmla="*/ 0 w 112"/>
                <a:gd name="T79" fmla="*/ 1 h 386"/>
                <a:gd name="T80" fmla="*/ 0 w 112"/>
                <a:gd name="T81" fmla="*/ 1 h 386"/>
                <a:gd name="T82" fmla="*/ 0 w 112"/>
                <a:gd name="T83" fmla="*/ 1 h 386"/>
                <a:gd name="T84" fmla="*/ 0 w 112"/>
                <a:gd name="T85" fmla="*/ 1 h 386"/>
                <a:gd name="T86" fmla="*/ 391 w 112"/>
                <a:gd name="T87" fmla="*/ 1 h 386"/>
                <a:gd name="T88" fmla="*/ 391 w 112"/>
                <a:gd name="T89" fmla="*/ 2 h 386"/>
                <a:gd name="T90" fmla="*/ 391 w 112"/>
                <a:gd name="T91" fmla="*/ 2 h 386"/>
                <a:gd name="T92" fmla="*/ 889 w 112"/>
                <a:gd name="T93" fmla="*/ 2 h 386"/>
                <a:gd name="T94" fmla="*/ 1259 w 112"/>
                <a:gd name="T95" fmla="*/ 2 h 386"/>
                <a:gd name="T96" fmla="*/ 1259 w 112"/>
                <a:gd name="T97" fmla="*/ 2 h 386"/>
                <a:gd name="T98" fmla="*/ 1686 w 112"/>
                <a:gd name="T99" fmla="*/ 2 h 386"/>
                <a:gd name="T100" fmla="*/ 2626 w 112"/>
                <a:gd name="T101" fmla="*/ 3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F6600"/>
              </a:solidFill>
              <a:round/>
              <a:headEnd/>
              <a:tailEnd/>
            </a:ln>
          </p:spPr>
          <p:txBody>
            <a:bodyPr/>
            <a:lstStyle/>
            <a:p>
              <a:endParaRPr lang="en-US">
                <a:latin typeface="Arial"/>
                <a:cs typeface="Arial"/>
              </a:endParaRPr>
            </a:p>
          </p:txBody>
        </p:sp>
        <p:sp>
          <p:nvSpPr>
            <p:cNvPr id="280" name="Freeform 74"/>
            <p:cNvSpPr>
              <a:spLocks/>
            </p:cNvSpPr>
            <p:nvPr/>
          </p:nvSpPr>
          <p:spPr bwMode="auto">
            <a:xfrm>
              <a:off x="2763" y="1319"/>
              <a:ext cx="169" cy="97"/>
            </a:xfrm>
            <a:custGeom>
              <a:avLst/>
              <a:gdLst>
                <a:gd name="T0" fmla="*/ 0 w 127"/>
                <a:gd name="T1" fmla="*/ 2 h 129"/>
                <a:gd name="T2" fmla="*/ 1273 w 127"/>
                <a:gd name="T3" fmla="*/ 2 h 129"/>
                <a:gd name="T4" fmla="*/ 1965 w 127"/>
                <a:gd name="T5" fmla="*/ 2 h 129"/>
                <a:gd name="T6" fmla="*/ 3101 w 127"/>
                <a:gd name="T7" fmla="*/ 2 h 129"/>
                <a:gd name="T8" fmla="*/ 4362 w 127"/>
                <a:gd name="T9" fmla="*/ 2 h 129"/>
                <a:gd name="T10" fmla="*/ 5742 w 127"/>
                <a:gd name="T11" fmla="*/ 2 h 129"/>
                <a:gd name="T12" fmla="*/ 6163 w 127"/>
                <a:gd name="T13" fmla="*/ 2 h 129"/>
                <a:gd name="T14" fmla="*/ 7433 w 127"/>
                <a:gd name="T15" fmla="*/ 2 h 129"/>
                <a:gd name="T16" fmla="*/ 8113 w 127"/>
                <a:gd name="T17" fmla="*/ 2 h 129"/>
                <a:gd name="T18" fmla="*/ 8743 w 127"/>
                <a:gd name="T19" fmla="*/ 2 h 129"/>
                <a:gd name="T20" fmla="*/ 10056 w 127"/>
                <a:gd name="T21" fmla="*/ 2 h 129"/>
                <a:gd name="T22" fmla="*/ 10056 w 127"/>
                <a:gd name="T23" fmla="*/ 2 h 129"/>
                <a:gd name="T24" fmla="*/ 11201 w 127"/>
                <a:gd name="T25" fmla="*/ 2 h 129"/>
                <a:gd name="T26" fmla="*/ 11201 w 127"/>
                <a:gd name="T27" fmla="*/ 2 h 129"/>
                <a:gd name="T28" fmla="*/ 11201 w 127"/>
                <a:gd name="T29" fmla="*/ 2 h 129"/>
                <a:gd name="T30" fmla="*/ 11775 w 127"/>
                <a:gd name="T31" fmla="*/ 2 h 129"/>
                <a:gd name="T32" fmla="*/ 13162 w 127"/>
                <a:gd name="T33" fmla="*/ 2 h 129"/>
                <a:gd name="T34" fmla="*/ 13162 w 127"/>
                <a:gd name="T35" fmla="*/ 2 h 129"/>
                <a:gd name="T36" fmla="*/ 13738 w 127"/>
                <a:gd name="T37" fmla="*/ 2 h 129"/>
                <a:gd name="T38" fmla="*/ 13738 w 127"/>
                <a:gd name="T39" fmla="*/ 2 h 129"/>
                <a:gd name="T40" fmla="*/ 14905 w 127"/>
                <a:gd name="T41" fmla="*/ 0 h 129"/>
                <a:gd name="T42" fmla="*/ 14905 w 127"/>
                <a:gd name="T43" fmla="*/ 2 h 129"/>
                <a:gd name="T44" fmla="*/ 14905 w 127"/>
                <a:gd name="T45" fmla="*/ 2 h 129"/>
                <a:gd name="T46" fmla="*/ 15548 w 127"/>
                <a:gd name="T47" fmla="*/ 2 h 129"/>
                <a:gd name="T48" fmla="*/ 15548 w 127"/>
                <a:gd name="T49" fmla="*/ 2 h 129"/>
                <a:gd name="T50" fmla="*/ 15548 w 127"/>
                <a:gd name="T51" fmla="*/ 2 h 129"/>
                <a:gd name="T52" fmla="*/ 16268 w 127"/>
                <a:gd name="T53" fmla="*/ 2 h 129"/>
                <a:gd name="T54" fmla="*/ 16268 w 127"/>
                <a:gd name="T55" fmla="*/ 2 h 129"/>
                <a:gd name="T56" fmla="*/ 16268 w 127"/>
                <a:gd name="T57" fmla="*/ 2 h 129"/>
                <a:gd name="T58" fmla="*/ 16268 w 127"/>
                <a:gd name="T59" fmla="*/ 2 h 129"/>
                <a:gd name="T60" fmla="*/ 16268 w 127"/>
                <a:gd name="T61" fmla="*/ 2 h 129"/>
                <a:gd name="T62" fmla="*/ 15548 w 127"/>
                <a:gd name="T63" fmla="*/ 2 h 129"/>
                <a:gd name="T64" fmla="*/ 14298 w 127"/>
                <a:gd name="T65" fmla="*/ 2 h 129"/>
                <a:gd name="T66" fmla="*/ 13738 w 127"/>
                <a:gd name="T67" fmla="*/ 2 h 129"/>
                <a:gd name="T68" fmla="*/ 12514 w 127"/>
                <a:gd name="T69" fmla="*/ 2 h 129"/>
                <a:gd name="T70" fmla="*/ 11201 w 127"/>
                <a:gd name="T71" fmla="*/ 2 h 129"/>
                <a:gd name="T72" fmla="*/ 10056 w 127"/>
                <a:gd name="T73" fmla="*/ 2 h 129"/>
                <a:gd name="T74" fmla="*/ 8743 w 127"/>
                <a:gd name="T75" fmla="*/ 2 h 129"/>
                <a:gd name="T76" fmla="*/ 7433 w 127"/>
                <a:gd name="T77" fmla="*/ 2 h 129"/>
                <a:gd name="T78" fmla="*/ 6163 w 127"/>
                <a:gd name="T79" fmla="*/ 2 h 129"/>
                <a:gd name="T80" fmla="*/ 4997 w 127"/>
                <a:gd name="T81" fmla="*/ 2 h 129"/>
                <a:gd name="T82" fmla="*/ 3755 w 127"/>
                <a:gd name="T83" fmla="*/ 2 h 129"/>
                <a:gd name="T84" fmla="*/ 2437 w 127"/>
                <a:gd name="T85" fmla="*/ 2 h 129"/>
                <a:gd name="T86" fmla="*/ 1273 w 127"/>
                <a:gd name="T87" fmla="*/ 2 h 129"/>
                <a:gd name="T88" fmla="*/ 0 w 127"/>
                <a:gd name="T89" fmla="*/ 2 h 129"/>
                <a:gd name="T90" fmla="*/ 8113 w 127"/>
                <a:gd name="T91" fmla="*/ 2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FF00"/>
            </a:solidFill>
            <a:ln w="25400" cap="rnd">
              <a:solidFill>
                <a:srgbClr val="FF0000"/>
              </a:solidFill>
              <a:round/>
              <a:headEnd/>
              <a:tailEnd/>
            </a:ln>
          </p:spPr>
          <p:txBody>
            <a:bodyPr/>
            <a:lstStyle/>
            <a:p>
              <a:endParaRPr lang="en-US">
                <a:latin typeface="Arial"/>
                <a:cs typeface="Arial"/>
              </a:endParaRPr>
            </a:p>
          </p:txBody>
        </p:sp>
      </p:grpSp>
      <p:grpSp>
        <p:nvGrpSpPr>
          <p:cNvPr id="281" name="Group 67"/>
          <p:cNvGrpSpPr>
            <a:grpSpLocks/>
          </p:cNvGrpSpPr>
          <p:nvPr/>
        </p:nvGrpSpPr>
        <p:grpSpPr bwMode="auto">
          <a:xfrm>
            <a:off x="6727482" y="3909466"/>
            <a:ext cx="292613" cy="477500"/>
            <a:chOff x="2571" y="1098"/>
            <a:chExt cx="412" cy="328"/>
          </a:xfrm>
        </p:grpSpPr>
        <p:sp>
          <p:nvSpPr>
            <p:cNvPr id="282" name="Freeform 68"/>
            <p:cNvSpPr>
              <a:spLocks/>
            </p:cNvSpPr>
            <p:nvPr/>
          </p:nvSpPr>
          <p:spPr bwMode="auto">
            <a:xfrm>
              <a:off x="2571" y="1098"/>
              <a:ext cx="188" cy="321"/>
            </a:xfrm>
            <a:custGeom>
              <a:avLst/>
              <a:gdLst>
                <a:gd name="T0" fmla="*/ 15547 w 141"/>
                <a:gd name="T1" fmla="*/ 4 h 428"/>
                <a:gd name="T2" fmla="*/ 15035 w 141"/>
                <a:gd name="T3" fmla="*/ 4 h 428"/>
                <a:gd name="T4" fmla="*/ 12857 w 141"/>
                <a:gd name="T5" fmla="*/ 4 h 428"/>
                <a:gd name="T6" fmla="*/ 10817 w 141"/>
                <a:gd name="T7" fmla="*/ 3 h 428"/>
                <a:gd name="T8" fmla="*/ 9257 w 141"/>
                <a:gd name="T9" fmla="*/ 3 h 428"/>
                <a:gd name="T10" fmla="*/ 7681 w 141"/>
                <a:gd name="T11" fmla="*/ 3 h 428"/>
                <a:gd name="T12" fmla="*/ 6271 w 141"/>
                <a:gd name="T13" fmla="*/ 3 h 428"/>
                <a:gd name="T14" fmla="*/ 4703 w 141"/>
                <a:gd name="T15" fmla="*/ 3 h 428"/>
                <a:gd name="T16" fmla="*/ 3051 w 141"/>
                <a:gd name="T17" fmla="*/ 3 h 428"/>
                <a:gd name="T18" fmla="*/ 2069 w 141"/>
                <a:gd name="T19" fmla="*/ 3 h 428"/>
                <a:gd name="T20" fmla="*/ 1552 w 141"/>
                <a:gd name="T21" fmla="*/ 2 h 428"/>
                <a:gd name="T22" fmla="*/ 491 w 141"/>
                <a:gd name="T23" fmla="*/ 2 h 428"/>
                <a:gd name="T24" fmla="*/ 0 w 141"/>
                <a:gd name="T25" fmla="*/ 2 h 428"/>
                <a:gd name="T26" fmla="*/ 491 w 141"/>
                <a:gd name="T27" fmla="*/ 2 h 428"/>
                <a:gd name="T28" fmla="*/ 1129 w 141"/>
                <a:gd name="T29" fmla="*/ 2 h 428"/>
                <a:gd name="T30" fmla="*/ 2069 w 141"/>
                <a:gd name="T31" fmla="*/ 2 h 428"/>
                <a:gd name="T32" fmla="*/ 2491 w 141"/>
                <a:gd name="T33" fmla="*/ 2 h 428"/>
                <a:gd name="T34" fmla="*/ 3051 w 141"/>
                <a:gd name="T35" fmla="*/ 2 h 428"/>
                <a:gd name="T36" fmla="*/ 3568 w 141"/>
                <a:gd name="T37" fmla="*/ 2 h 428"/>
                <a:gd name="T38" fmla="*/ 4703 w 141"/>
                <a:gd name="T39" fmla="*/ 2 h 428"/>
                <a:gd name="T40" fmla="*/ 5185 w 141"/>
                <a:gd name="T41" fmla="*/ 2 h 428"/>
                <a:gd name="T42" fmla="*/ 5687 w 141"/>
                <a:gd name="T43" fmla="*/ 2 h 428"/>
                <a:gd name="T44" fmla="*/ 6271 w 141"/>
                <a:gd name="T45" fmla="*/ 2 h 428"/>
                <a:gd name="T46" fmla="*/ 6805 w 141"/>
                <a:gd name="T47" fmla="*/ 2 h 428"/>
                <a:gd name="T48" fmla="*/ 7681 w 141"/>
                <a:gd name="T49" fmla="*/ 2 h 428"/>
                <a:gd name="T50" fmla="*/ 8308 w 141"/>
                <a:gd name="T51" fmla="*/ 0 h 428"/>
                <a:gd name="T52" fmla="*/ 8745 w 141"/>
                <a:gd name="T53" fmla="*/ 2 h 428"/>
                <a:gd name="T54" fmla="*/ 8745 w 141"/>
                <a:gd name="T55" fmla="*/ 2 h 428"/>
                <a:gd name="T56" fmla="*/ 8745 w 141"/>
                <a:gd name="T57" fmla="*/ 2 h 428"/>
                <a:gd name="T58" fmla="*/ 9257 w 141"/>
                <a:gd name="T59" fmla="*/ 2 h 428"/>
                <a:gd name="T60" fmla="*/ 10389 w 141"/>
                <a:gd name="T61" fmla="*/ 2 h 428"/>
                <a:gd name="T62" fmla="*/ 11456 w 141"/>
                <a:gd name="T63" fmla="*/ 2 h 428"/>
                <a:gd name="T64" fmla="*/ 12857 w 141"/>
                <a:gd name="T65" fmla="*/ 2 h 428"/>
                <a:gd name="T66" fmla="*/ 14423 w 141"/>
                <a:gd name="T67" fmla="*/ 2 h 428"/>
                <a:gd name="T68" fmla="*/ 15547 w 141"/>
                <a:gd name="T69" fmla="*/ 2 h 428"/>
                <a:gd name="T70" fmla="*/ 16457 w 141"/>
                <a:gd name="T71" fmla="*/ 2 h 428"/>
                <a:gd name="T72" fmla="*/ 17535 w 141"/>
                <a:gd name="T73" fmla="*/ 2 h 428"/>
                <a:gd name="T74" fmla="*/ 18017 w 141"/>
                <a:gd name="T75" fmla="*/ 2 h 428"/>
                <a:gd name="T76" fmla="*/ 18660 w 141"/>
                <a:gd name="T77" fmla="*/ 2 h 428"/>
                <a:gd name="T78" fmla="*/ 18660 w 141"/>
                <a:gd name="T79" fmla="*/ 2 h 428"/>
                <a:gd name="T80" fmla="*/ 18660 w 141"/>
                <a:gd name="T81" fmla="*/ 2 h 428"/>
                <a:gd name="T82" fmla="*/ 18660 w 141"/>
                <a:gd name="T83" fmla="*/ 2 h 428"/>
                <a:gd name="T84" fmla="*/ 18660 w 141"/>
                <a:gd name="T85" fmla="*/ 3 h 428"/>
                <a:gd name="T86" fmla="*/ 18017 w 141"/>
                <a:gd name="T87" fmla="*/ 3 h 428"/>
                <a:gd name="T88" fmla="*/ 18017 w 141"/>
                <a:gd name="T89" fmla="*/ 3 h 428"/>
                <a:gd name="T90" fmla="*/ 18017 w 141"/>
                <a:gd name="T91" fmla="*/ 3 h 428"/>
                <a:gd name="T92" fmla="*/ 17535 w 141"/>
                <a:gd name="T93" fmla="*/ 3 h 428"/>
                <a:gd name="T94" fmla="*/ 17055 w 141"/>
                <a:gd name="T95" fmla="*/ 3 h 428"/>
                <a:gd name="T96" fmla="*/ 17055 w 141"/>
                <a:gd name="T97" fmla="*/ 4 h 428"/>
                <a:gd name="T98" fmla="*/ 16457 w 141"/>
                <a:gd name="T99" fmla="*/ 4 h 428"/>
                <a:gd name="T100" fmla="*/ 15547 w 141"/>
                <a:gd name="T101" fmla="*/ 4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a:cs typeface="Arial"/>
              </a:endParaRPr>
            </a:p>
          </p:txBody>
        </p:sp>
        <p:sp>
          <p:nvSpPr>
            <p:cNvPr id="283" name="Freeform 69"/>
            <p:cNvSpPr>
              <a:spLocks/>
            </p:cNvSpPr>
            <p:nvPr/>
          </p:nvSpPr>
          <p:spPr bwMode="auto">
            <a:xfrm>
              <a:off x="2712" y="1207"/>
              <a:ext cx="194" cy="219"/>
            </a:xfrm>
            <a:custGeom>
              <a:avLst/>
              <a:gdLst>
                <a:gd name="T0" fmla="*/ 3424 w 145"/>
                <a:gd name="T1" fmla="*/ 2 h 292"/>
                <a:gd name="T2" fmla="*/ 3954 w 145"/>
                <a:gd name="T3" fmla="*/ 2 h 292"/>
                <a:gd name="T4" fmla="*/ 6251 w 145"/>
                <a:gd name="T5" fmla="*/ 2 h 292"/>
                <a:gd name="T6" fmla="*/ 8424 w 145"/>
                <a:gd name="T7" fmla="*/ 2 h 292"/>
                <a:gd name="T8" fmla="*/ 10051 w 145"/>
                <a:gd name="T9" fmla="*/ 2 h 292"/>
                <a:gd name="T10" fmla="*/ 11859 w 145"/>
                <a:gd name="T11" fmla="*/ 2 h 292"/>
                <a:gd name="T12" fmla="*/ 13448 w 145"/>
                <a:gd name="T13" fmla="*/ 2 h 292"/>
                <a:gd name="T14" fmla="*/ 15194 w 145"/>
                <a:gd name="T15" fmla="*/ 2 h 292"/>
                <a:gd name="T16" fmla="*/ 16952 w 145"/>
                <a:gd name="T17" fmla="*/ 2 h 292"/>
                <a:gd name="T18" fmla="*/ 17992 w 145"/>
                <a:gd name="T19" fmla="*/ 2 h 292"/>
                <a:gd name="T20" fmla="*/ 18660 w 145"/>
                <a:gd name="T21" fmla="*/ 2 h 292"/>
                <a:gd name="T22" fmla="*/ 19668 w 145"/>
                <a:gd name="T23" fmla="*/ 2 h 292"/>
                <a:gd name="T24" fmla="*/ 20329 w 145"/>
                <a:gd name="T25" fmla="*/ 2 h 292"/>
                <a:gd name="T26" fmla="*/ 19668 w 145"/>
                <a:gd name="T27" fmla="*/ 2 h 292"/>
                <a:gd name="T28" fmla="*/ 19193 w 145"/>
                <a:gd name="T29" fmla="*/ 2 h 292"/>
                <a:gd name="T30" fmla="*/ 17992 w 145"/>
                <a:gd name="T31" fmla="*/ 2 h 292"/>
                <a:gd name="T32" fmla="*/ 17468 w 145"/>
                <a:gd name="T33" fmla="*/ 2 h 292"/>
                <a:gd name="T34" fmla="*/ 16952 w 145"/>
                <a:gd name="T35" fmla="*/ 2 h 292"/>
                <a:gd name="T36" fmla="*/ 16313 w 145"/>
                <a:gd name="T37" fmla="*/ 2 h 292"/>
                <a:gd name="T38" fmla="*/ 15194 w 145"/>
                <a:gd name="T39" fmla="*/ 2 h 292"/>
                <a:gd name="T40" fmla="*/ 14678 w 145"/>
                <a:gd name="T41" fmla="*/ 2 h 292"/>
                <a:gd name="T42" fmla="*/ 14099 w 145"/>
                <a:gd name="T43" fmla="*/ 2 h 292"/>
                <a:gd name="T44" fmla="*/ 13448 w 145"/>
                <a:gd name="T45" fmla="*/ 2 h 292"/>
                <a:gd name="T46" fmla="*/ 13038 w 145"/>
                <a:gd name="T47" fmla="*/ 2 h 292"/>
                <a:gd name="T48" fmla="*/ 11859 w 145"/>
                <a:gd name="T49" fmla="*/ 2 h 292"/>
                <a:gd name="T50" fmla="*/ 11271 w 145"/>
                <a:gd name="T51" fmla="*/ 0 h 292"/>
                <a:gd name="T52" fmla="*/ 10722 w 145"/>
                <a:gd name="T53" fmla="*/ 2 h 292"/>
                <a:gd name="T54" fmla="*/ 10722 w 145"/>
                <a:gd name="T55" fmla="*/ 2 h 292"/>
                <a:gd name="T56" fmla="*/ 10722 w 145"/>
                <a:gd name="T57" fmla="*/ 2 h 292"/>
                <a:gd name="T58" fmla="*/ 10051 w 145"/>
                <a:gd name="T59" fmla="*/ 2 h 292"/>
                <a:gd name="T60" fmla="*/ 9081 w 145"/>
                <a:gd name="T61" fmla="*/ 2 h 292"/>
                <a:gd name="T62" fmla="*/ 7876 w 145"/>
                <a:gd name="T63" fmla="*/ 2 h 292"/>
                <a:gd name="T64" fmla="*/ 6251 w 145"/>
                <a:gd name="T65" fmla="*/ 2 h 292"/>
                <a:gd name="T66" fmla="*/ 4581 w 145"/>
                <a:gd name="T67" fmla="*/ 2 h 292"/>
                <a:gd name="T68" fmla="*/ 3424 w 145"/>
                <a:gd name="T69" fmla="*/ 2 h 292"/>
                <a:gd name="T70" fmla="*/ 2209 w 145"/>
                <a:gd name="T71" fmla="*/ 2 h 292"/>
                <a:gd name="T72" fmla="*/ 1183 w 145"/>
                <a:gd name="T73" fmla="*/ 2 h 292"/>
                <a:gd name="T74" fmla="*/ 515 w 145"/>
                <a:gd name="T75" fmla="*/ 2 h 292"/>
                <a:gd name="T76" fmla="*/ 0 w 145"/>
                <a:gd name="T77" fmla="*/ 2 h 292"/>
                <a:gd name="T78" fmla="*/ 0 w 145"/>
                <a:gd name="T79" fmla="*/ 2 h 292"/>
                <a:gd name="T80" fmla="*/ 0 w 145"/>
                <a:gd name="T81" fmla="*/ 2 h 292"/>
                <a:gd name="T82" fmla="*/ 0 w 145"/>
                <a:gd name="T83" fmla="*/ 2 h 292"/>
                <a:gd name="T84" fmla="*/ 0 w 145"/>
                <a:gd name="T85" fmla="*/ 2 h 292"/>
                <a:gd name="T86" fmla="*/ 515 w 145"/>
                <a:gd name="T87" fmla="*/ 2 h 292"/>
                <a:gd name="T88" fmla="*/ 515 w 145"/>
                <a:gd name="T89" fmla="*/ 2 h 292"/>
                <a:gd name="T90" fmla="*/ 515 w 145"/>
                <a:gd name="T91" fmla="*/ 2 h 292"/>
                <a:gd name="T92" fmla="*/ 1183 w 145"/>
                <a:gd name="T93" fmla="*/ 2 h 292"/>
                <a:gd name="T94" fmla="*/ 1651 w 145"/>
                <a:gd name="T95" fmla="*/ 2 h 292"/>
                <a:gd name="T96" fmla="*/ 1651 w 145"/>
                <a:gd name="T97" fmla="*/ 2 h 292"/>
                <a:gd name="T98" fmla="*/ 2209 w 145"/>
                <a:gd name="T99" fmla="*/ 2 h 292"/>
                <a:gd name="T100" fmla="*/ 3424 w 145"/>
                <a:gd name="T101" fmla="*/ 2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84" name="Freeform 70"/>
            <p:cNvSpPr>
              <a:spLocks/>
            </p:cNvSpPr>
            <p:nvPr/>
          </p:nvSpPr>
          <p:spPr bwMode="auto">
            <a:xfrm>
              <a:off x="2626" y="1127"/>
              <a:ext cx="309" cy="234"/>
            </a:xfrm>
            <a:custGeom>
              <a:avLst/>
              <a:gdLst>
                <a:gd name="T0" fmla="*/ 12209 w 232"/>
                <a:gd name="T1" fmla="*/ 2 h 313"/>
                <a:gd name="T2" fmla="*/ 12839 w 232"/>
                <a:gd name="T3" fmla="*/ 2 h 313"/>
                <a:gd name="T4" fmla="*/ 15303 w 232"/>
                <a:gd name="T5" fmla="*/ 2 h 313"/>
                <a:gd name="T6" fmla="*/ 17676 w 232"/>
                <a:gd name="T7" fmla="*/ 1 h 313"/>
                <a:gd name="T8" fmla="*/ 19472 w 232"/>
                <a:gd name="T9" fmla="*/ 1 h 313"/>
                <a:gd name="T10" fmla="*/ 21220 w 232"/>
                <a:gd name="T11" fmla="*/ 1 h 313"/>
                <a:gd name="T12" fmla="*/ 23123 w 232"/>
                <a:gd name="T13" fmla="*/ 1 h 313"/>
                <a:gd name="T14" fmla="*/ 24804 w 232"/>
                <a:gd name="T15" fmla="*/ 1 h 313"/>
                <a:gd name="T16" fmla="*/ 26503 w 232"/>
                <a:gd name="T17" fmla="*/ 1 h 313"/>
                <a:gd name="T18" fmla="*/ 27783 w 232"/>
                <a:gd name="T19" fmla="*/ 1 h 313"/>
                <a:gd name="T20" fmla="*/ 28425 w 232"/>
                <a:gd name="T21" fmla="*/ 1 h 313"/>
                <a:gd name="T22" fmla="*/ 29521 w 232"/>
                <a:gd name="T23" fmla="*/ 1 h 313"/>
                <a:gd name="T24" fmla="*/ 30170 w 232"/>
                <a:gd name="T25" fmla="*/ 1 h 313"/>
                <a:gd name="T26" fmla="*/ 29521 w 232"/>
                <a:gd name="T27" fmla="*/ 1 h 313"/>
                <a:gd name="T28" fmla="*/ 28846 w 232"/>
                <a:gd name="T29" fmla="*/ 1 h 313"/>
                <a:gd name="T30" fmla="*/ 27783 w 232"/>
                <a:gd name="T31" fmla="*/ 1 h 313"/>
                <a:gd name="T32" fmla="*/ 27147 w 232"/>
                <a:gd name="T33" fmla="*/ 1 h 313"/>
                <a:gd name="T34" fmla="*/ 26503 w 232"/>
                <a:gd name="T35" fmla="*/ 1 h 313"/>
                <a:gd name="T36" fmla="*/ 26025 w 232"/>
                <a:gd name="T37" fmla="*/ 1 h 313"/>
                <a:gd name="T38" fmla="*/ 24804 w 232"/>
                <a:gd name="T39" fmla="*/ 1 h 313"/>
                <a:gd name="T40" fmla="*/ 24149 w 232"/>
                <a:gd name="T41" fmla="*/ 1 h 313"/>
                <a:gd name="T42" fmla="*/ 23543 w 232"/>
                <a:gd name="T43" fmla="*/ 1 h 313"/>
                <a:gd name="T44" fmla="*/ 23662 w 232"/>
                <a:gd name="T45" fmla="*/ 1 h 313"/>
                <a:gd name="T46" fmla="*/ 22465 w 232"/>
                <a:gd name="T47" fmla="*/ 1 h 313"/>
                <a:gd name="T48" fmla="*/ 21220 w 232"/>
                <a:gd name="T49" fmla="*/ 1 h 313"/>
                <a:gd name="T50" fmla="*/ 20638 w 232"/>
                <a:gd name="T51" fmla="*/ 0 h 313"/>
                <a:gd name="T52" fmla="*/ 20113 w 232"/>
                <a:gd name="T53" fmla="*/ 1 h 313"/>
                <a:gd name="T54" fmla="*/ 20113 w 232"/>
                <a:gd name="T55" fmla="*/ 1 h 313"/>
                <a:gd name="T56" fmla="*/ 20113 w 232"/>
                <a:gd name="T57" fmla="*/ 1 h 313"/>
                <a:gd name="T58" fmla="*/ 19472 w 232"/>
                <a:gd name="T59" fmla="*/ 1 h 313"/>
                <a:gd name="T60" fmla="*/ 18131 w 232"/>
                <a:gd name="T61" fmla="*/ 1 h 313"/>
                <a:gd name="T62" fmla="*/ 17100 w 232"/>
                <a:gd name="T63" fmla="*/ 1 h 313"/>
                <a:gd name="T64" fmla="*/ 15303 w 232"/>
                <a:gd name="T65" fmla="*/ 1 h 313"/>
                <a:gd name="T66" fmla="*/ 13375 w 232"/>
                <a:gd name="T67" fmla="*/ 1 h 313"/>
                <a:gd name="T68" fmla="*/ 12209 w 232"/>
                <a:gd name="T69" fmla="*/ 1 h 313"/>
                <a:gd name="T70" fmla="*/ 11124 w 232"/>
                <a:gd name="T71" fmla="*/ 1 h 313"/>
                <a:gd name="T72" fmla="*/ 9964 w 232"/>
                <a:gd name="T73" fmla="*/ 1 h 313"/>
                <a:gd name="T74" fmla="*/ 9369 w 232"/>
                <a:gd name="T75" fmla="*/ 1 h 313"/>
                <a:gd name="T76" fmla="*/ 8735 w 232"/>
                <a:gd name="T77" fmla="*/ 1 h 313"/>
                <a:gd name="T78" fmla="*/ 8735 w 232"/>
                <a:gd name="T79" fmla="*/ 1 h 313"/>
                <a:gd name="T80" fmla="*/ 8735 w 232"/>
                <a:gd name="T81" fmla="*/ 1 h 313"/>
                <a:gd name="T82" fmla="*/ 8735 w 232"/>
                <a:gd name="T83" fmla="*/ 1 h 313"/>
                <a:gd name="T84" fmla="*/ 8735 w 232"/>
                <a:gd name="T85" fmla="*/ 1 h 313"/>
                <a:gd name="T86" fmla="*/ 9369 w 232"/>
                <a:gd name="T87" fmla="*/ 1 h 313"/>
                <a:gd name="T88" fmla="*/ 9369 w 232"/>
                <a:gd name="T89" fmla="*/ 1 h 313"/>
                <a:gd name="T90" fmla="*/ 9369 w 232"/>
                <a:gd name="T91" fmla="*/ 1 h 313"/>
                <a:gd name="T92" fmla="*/ 9964 w 232"/>
                <a:gd name="T93" fmla="*/ 1 h 313"/>
                <a:gd name="T94" fmla="*/ 10498 w 232"/>
                <a:gd name="T95" fmla="*/ 1 h 313"/>
                <a:gd name="T96" fmla="*/ 10498 w 232"/>
                <a:gd name="T97" fmla="*/ 1 h 313"/>
                <a:gd name="T98" fmla="*/ 11124 w 232"/>
                <a:gd name="T99" fmla="*/ 2 h 313"/>
                <a:gd name="T100" fmla="*/ 12209 w 232"/>
                <a:gd name="T101" fmla="*/ 2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85" name="Freeform 71"/>
            <p:cNvSpPr>
              <a:spLocks/>
            </p:cNvSpPr>
            <p:nvPr/>
          </p:nvSpPr>
          <p:spPr bwMode="auto">
            <a:xfrm>
              <a:off x="2731" y="1198"/>
              <a:ext cx="252" cy="218"/>
            </a:xfrm>
            <a:custGeom>
              <a:avLst/>
              <a:gdLst>
                <a:gd name="T0" fmla="*/ 4068 w 189"/>
                <a:gd name="T1" fmla="*/ 2 h 291"/>
                <a:gd name="T2" fmla="*/ 4905 w 189"/>
                <a:gd name="T3" fmla="*/ 1 h 291"/>
                <a:gd name="T4" fmla="*/ 7583 w 189"/>
                <a:gd name="T5" fmla="*/ 1 h 291"/>
                <a:gd name="T6" fmla="*/ 10389 w 189"/>
                <a:gd name="T7" fmla="*/ 1 h 291"/>
                <a:gd name="T8" fmla="*/ 12503 w 189"/>
                <a:gd name="T9" fmla="*/ 1 h 291"/>
                <a:gd name="T10" fmla="*/ 14651 w 189"/>
                <a:gd name="T11" fmla="*/ 1 h 291"/>
                <a:gd name="T12" fmla="*/ 16671 w 189"/>
                <a:gd name="T13" fmla="*/ 1 h 291"/>
                <a:gd name="T14" fmla="*/ 18815 w 189"/>
                <a:gd name="T15" fmla="*/ 1 h 291"/>
                <a:gd name="T16" fmla="*/ 20863 w 189"/>
                <a:gd name="T17" fmla="*/ 1 h 291"/>
                <a:gd name="T18" fmla="*/ 22228 w 189"/>
                <a:gd name="T19" fmla="*/ 1 h 291"/>
                <a:gd name="T20" fmla="*/ 22857 w 189"/>
                <a:gd name="T21" fmla="*/ 1 h 291"/>
                <a:gd name="T22" fmla="*/ 24276 w 189"/>
                <a:gd name="T23" fmla="*/ 1 h 291"/>
                <a:gd name="T24" fmla="*/ 25087 w 189"/>
                <a:gd name="T25" fmla="*/ 1 h 291"/>
                <a:gd name="T26" fmla="*/ 24276 w 189"/>
                <a:gd name="T27" fmla="*/ 1 h 291"/>
                <a:gd name="T28" fmla="*/ 23601 w 189"/>
                <a:gd name="T29" fmla="*/ 1 h 291"/>
                <a:gd name="T30" fmla="*/ 22228 w 189"/>
                <a:gd name="T31" fmla="*/ 1 h 291"/>
                <a:gd name="T32" fmla="*/ 21577 w 189"/>
                <a:gd name="T33" fmla="*/ 1 h 291"/>
                <a:gd name="T34" fmla="*/ 20863 w 189"/>
                <a:gd name="T35" fmla="*/ 1 h 291"/>
                <a:gd name="T36" fmla="*/ 20047 w 189"/>
                <a:gd name="T37" fmla="*/ 1 h 291"/>
                <a:gd name="T38" fmla="*/ 18815 w 189"/>
                <a:gd name="T39" fmla="*/ 1 h 291"/>
                <a:gd name="T40" fmla="*/ 18017 w 189"/>
                <a:gd name="T41" fmla="*/ 1 h 291"/>
                <a:gd name="T42" fmla="*/ 17463 w 189"/>
                <a:gd name="T43" fmla="*/ 1 h 291"/>
                <a:gd name="T44" fmla="*/ 16671 w 189"/>
                <a:gd name="T45" fmla="*/ 1 h 291"/>
                <a:gd name="T46" fmla="*/ 15931 w 189"/>
                <a:gd name="T47" fmla="*/ 1 h 291"/>
                <a:gd name="T48" fmla="*/ 14651 w 189"/>
                <a:gd name="T49" fmla="*/ 1 h 291"/>
                <a:gd name="T50" fmla="*/ 13852 w 189"/>
                <a:gd name="T51" fmla="*/ 0 h 291"/>
                <a:gd name="T52" fmla="*/ 13151 w 189"/>
                <a:gd name="T53" fmla="*/ 1 h 291"/>
                <a:gd name="T54" fmla="*/ 13151 w 189"/>
                <a:gd name="T55" fmla="*/ 1 h 291"/>
                <a:gd name="T56" fmla="*/ 13151 w 189"/>
                <a:gd name="T57" fmla="*/ 1 h 291"/>
                <a:gd name="T58" fmla="*/ 12503 w 189"/>
                <a:gd name="T59" fmla="*/ 1 h 291"/>
                <a:gd name="T60" fmla="*/ 11148 w 189"/>
                <a:gd name="T61" fmla="*/ 1 h 291"/>
                <a:gd name="T62" fmla="*/ 9643 w 189"/>
                <a:gd name="T63" fmla="*/ 1 h 291"/>
                <a:gd name="T64" fmla="*/ 7583 w 189"/>
                <a:gd name="T65" fmla="*/ 1 h 291"/>
                <a:gd name="T66" fmla="*/ 5596 w 189"/>
                <a:gd name="T67" fmla="*/ 1 h 291"/>
                <a:gd name="T68" fmla="*/ 4068 w 189"/>
                <a:gd name="T69" fmla="*/ 1 h 291"/>
                <a:gd name="T70" fmla="*/ 2759 w 189"/>
                <a:gd name="T71" fmla="*/ 1 h 291"/>
                <a:gd name="T72" fmla="*/ 1287 w 189"/>
                <a:gd name="T73" fmla="*/ 1 h 291"/>
                <a:gd name="T74" fmla="*/ 655 w 189"/>
                <a:gd name="T75" fmla="*/ 1 h 291"/>
                <a:gd name="T76" fmla="*/ 0 w 189"/>
                <a:gd name="T77" fmla="*/ 1 h 291"/>
                <a:gd name="T78" fmla="*/ 0 w 189"/>
                <a:gd name="T79" fmla="*/ 1 h 291"/>
                <a:gd name="T80" fmla="*/ 0 w 189"/>
                <a:gd name="T81" fmla="*/ 1 h 291"/>
                <a:gd name="T82" fmla="*/ 0 w 189"/>
                <a:gd name="T83" fmla="*/ 1 h 291"/>
                <a:gd name="T84" fmla="*/ 0 w 189"/>
                <a:gd name="T85" fmla="*/ 1 h 291"/>
                <a:gd name="T86" fmla="*/ 655 w 189"/>
                <a:gd name="T87" fmla="*/ 1 h 291"/>
                <a:gd name="T88" fmla="*/ 655 w 189"/>
                <a:gd name="T89" fmla="*/ 1 h 291"/>
                <a:gd name="T90" fmla="*/ 655 w 189"/>
                <a:gd name="T91" fmla="*/ 1 h 291"/>
                <a:gd name="T92" fmla="*/ 1287 w 189"/>
                <a:gd name="T93" fmla="*/ 1 h 291"/>
                <a:gd name="T94" fmla="*/ 2069 w 189"/>
                <a:gd name="T95" fmla="*/ 1 h 291"/>
                <a:gd name="T96" fmla="*/ 2069 w 189"/>
                <a:gd name="T97" fmla="*/ 1 h 291"/>
                <a:gd name="T98" fmla="*/ 2759 w 189"/>
                <a:gd name="T99" fmla="*/ 1 h 291"/>
                <a:gd name="T100" fmla="*/ 4068 w 189"/>
                <a:gd name="T101" fmla="*/ 2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86" name="Freeform 72"/>
            <p:cNvSpPr>
              <a:spLocks/>
            </p:cNvSpPr>
            <p:nvPr/>
          </p:nvSpPr>
          <p:spPr bwMode="auto">
            <a:xfrm>
              <a:off x="2592" y="1152"/>
              <a:ext cx="226" cy="267"/>
            </a:xfrm>
            <a:custGeom>
              <a:avLst/>
              <a:gdLst>
                <a:gd name="T0" fmla="*/ 17829 w 170"/>
                <a:gd name="T1" fmla="*/ 2 h 356"/>
                <a:gd name="T2" fmla="*/ 17208 w 170"/>
                <a:gd name="T3" fmla="*/ 2 h 356"/>
                <a:gd name="T4" fmla="*/ 14834 w 170"/>
                <a:gd name="T5" fmla="*/ 2 h 356"/>
                <a:gd name="T6" fmla="*/ 12566 w 170"/>
                <a:gd name="T7" fmla="*/ 2 h 356"/>
                <a:gd name="T8" fmla="*/ 10723 w 170"/>
                <a:gd name="T9" fmla="*/ 2 h 356"/>
                <a:gd name="T10" fmla="*/ 8863 w 170"/>
                <a:gd name="T11" fmla="*/ 2 h 356"/>
                <a:gd name="T12" fmla="*/ 7018 w 170"/>
                <a:gd name="T13" fmla="*/ 2 h 356"/>
                <a:gd name="T14" fmla="*/ 5279 w 170"/>
                <a:gd name="T15" fmla="*/ 2 h 356"/>
                <a:gd name="T16" fmla="*/ 3496 w 170"/>
                <a:gd name="T17" fmla="*/ 2 h 356"/>
                <a:gd name="T18" fmla="*/ 2345 w 170"/>
                <a:gd name="T19" fmla="*/ 2 h 356"/>
                <a:gd name="T20" fmla="*/ 1764 w 170"/>
                <a:gd name="T21" fmla="*/ 2 h 356"/>
                <a:gd name="T22" fmla="*/ 633 w 170"/>
                <a:gd name="T23" fmla="*/ 2 h 356"/>
                <a:gd name="T24" fmla="*/ 0 w 170"/>
                <a:gd name="T25" fmla="*/ 2 h 356"/>
                <a:gd name="T26" fmla="*/ 633 w 170"/>
                <a:gd name="T27" fmla="*/ 2 h 356"/>
                <a:gd name="T28" fmla="*/ 1119 w 170"/>
                <a:gd name="T29" fmla="*/ 2 h 356"/>
                <a:gd name="T30" fmla="*/ 2345 w 170"/>
                <a:gd name="T31" fmla="*/ 2 h 356"/>
                <a:gd name="T32" fmla="*/ 2946 w 170"/>
                <a:gd name="T33" fmla="*/ 2 h 356"/>
                <a:gd name="T34" fmla="*/ 3496 w 170"/>
                <a:gd name="T35" fmla="*/ 2 h 356"/>
                <a:gd name="T36" fmla="*/ 4144 w 170"/>
                <a:gd name="T37" fmla="*/ 2 h 356"/>
                <a:gd name="T38" fmla="*/ 5279 w 170"/>
                <a:gd name="T39" fmla="*/ 2 h 356"/>
                <a:gd name="T40" fmla="*/ 5900 w 170"/>
                <a:gd name="T41" fmla="*/ 2 h 356"/>
                <a:gd name="T42" fmla="*/ 6546 w 170"/>
                <a:gd name="T43" fmla="*/ 2 h 356"/>
                <a:gd name="T44" fmla="*/ 7018 w 170"/>
                <a:gd name="T45" fmla="*/ 2 h 356"/>
                <a:gd name="T46" fmla="*/ 7748 w 170"/>
                <a:gd name="T47" fmla="*/ 2 h 356"/>
                <a:gd name="T48" fmla="*/ 8863 w 170"/>
                <a:gd name="T49" fmla="*/ 2 h 356"/>
                <a:gd name="T50" fmla="*/ 9529 w 170"/>
                <a:gd name="T51" fmla="*/ 0 h 356"/>
                <a:gd name="T52" fmla="*/ 10088 w 170"/>
                <a:gd name="T53" fmla="*/ 2 h 356"/>
                <a:gd name="T54" fmla="*/ 10088 w 170"/>
                <a:gd name="T55" fmla="*/ 2 h 356"/>
                <a:gd name="T56" fmla="*/ 10088 w 170"/>
                <a:gd name="T57" fmla="*/ 2 h 356"/>
                <a:gd name="T58" fmla="*/ 10723 w 170"/>
                <a:gd name="T59" fmla="*/ 2 h 356"/>
                <a:gd name="T60" fmla="*/ 11926 w 170"/>
                <a:gd name="T61" fmla="*/ 2 h 356"/>
                <a:gd name="T62" fmla="*/ 13036 w 170"/>
                <a:gd name="T63" fmla="*/ 2 h 356"/>
                <a:gd name="T64" fmla="*/ 14834 w 170"/>
                <a:gd name="T65" fmla="*/ 2 h 356"/>
                <a:gd name="T66" fmla="*/ 16535 w 170"/>
                <a:gd name="T67" fmla="*/ 2 h 356"/>
                <a:gd name="T68" fmla="*/ 17829 w 170"/>
                <a:gd name="T69" fmla="*/ 2 h 356"/>
                <a:gd name="T70" fmla="*/ 18951 w 170"/>
                <a:gd name="T71" fmla="*/ 2 h 356"/>
                <a:gd name="T72" fmla="*/ 20264 w 170"/>
                <a:gd name="T73" fmla="*/ 2 h 356"/>
                <a:gd name="T74" fmla="*/ 20791 w 170"/>
                <a:gd name="T75" fmla="*/ 2 h 356"/>
                <a:gd name="T76" fmla="*/ 21381 w 170"/>
                <a:gd name="T77" fmla="*/ 2 h 356"/>
                <a:gd name="T78" fmla="*/ 21381 w 170"/>
                <a:gd name="T79" fmla="*/ 2 h 356"/>
                <a:gd name="T80" fmla="*/ 21381 w 170"/>
                <a:gd name="T81" fmla="*/ 2 h 356"/>
                <a:gd name="T82" fmla="*/ 21381 w 170"/>
                <a:gd name="T83" fmla="*/ 2 h 356"/>
                <a:gd name="T84" fmla="*/ 21381 w 170"/>
                <a:gd name="T85" fmla="*/ 2 h 356"/>
                <a:gd name="T86" fmla="*/ 20791 w 170"/>
                <a:gd name="T87" fmla="*/ 2 h 356"/>
                <a:gd name="T88" fmla="*/ 20791 w 170"/>
                <a:gd name="T89" fmla="*/ 2 h 356"/>
                <a:gd name="T90" fmla="*/ 20791 w 170"/>
                <a:gd name="T91" fmla="*/ 2 h 356"/>
                <a:gd name="T92" fmla="*/ 20264 w 170"/>
                <a:gd name="T93" fmla="*/ 2 h 356"/>
                <a:gd name="T94" fmla="*/ 19606 w 170"/>
                <a:gd name="T95" fmla="*/ 2 h 356"/>
                <a:gd name="T96" fmla="*/ 19606 w 170"/>
                <a:gd name="T97" fmla="*/ 2 h 356"/>
                <a:gd name="T98" fmla="*/ 18951 w 170"/>
                <a:gd name="T99" fmla="*/ 2 h 356"/>
                <a:gd name="T100" fmla="*/ 17829 w 170"/>
                <a:gd name="T101" fmla="*/ 2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6600"/>
            </a:solidFill>
            <a:ln w="25400" cap="rnd">
              <a:solidFill>
                <a:srgbClr val="FF0000"/>
              </a:solidFill>
              <a:round/>
              <a:headEnd/>
              <a:tailEnd/>
            </a:ln>
          </p:spPr>
          <p:txBody>
            <a:bodyPr/>
            <a:lstStyle/>
            <a:p>
              <a:endParaRPr lang="en-US">
                <a:latin typeface="Arial"/>
                <a:cs typeface="Arial"/>
              </a:endParaRPr>
            </a:p>
          </p:txBody>
        </p:sp>
        <p:sp>
          <p:nvSpPr>
            <p:cNvPr id="287" name="Freeform 73"/>
            <p:cNvSpPr>
              <a:spLocks/>
            </p:cNvSpPr>
            <p:nvPr/>
          </p:nvSpPr>
          <p:spPr bwMode="auto">
            <a:xfrm>
              <a:off x="2692" y="1130"/>
              <a:ext cx="150" cy="289"/>
            </a:xfrm>
            <a:custGeom>
              <a:avLst/>
              <a:gdLst>
                <a:gd name="T0" fmla="*/ 2626 w 112"/>
                <a:gd name="T1" fmla="*/ 3 h 386"/>
                <a:gd name="T2" fmla="*/ 3139 w 112"/>
                <a:gd name="T3" fmla="*/ 2 h 386"/>
                <a:gd name="T4" fmla="*/ 4979 w 112"/>
                <a:gd name="T5" fmla="*/ 2 h 386"/>
                <a:gd name="T6" fmla="*/ 6668 w 112"/>
                <a:gd name="T7" fmla="*/ 2 h 386"/>
                <a:gd name="T8" fmla="*/ 7978 w 112"/>
                <a:gd name="T9" fmla="*/ 2 h 386"/>
                <a:gd name="T10" fmla="*/ 9359 w 112"/>
                <a:gd name="T11" fmla="*/ 2 h 386"/>
                <a:gd name="T12" fmla="*/ 10619 w 112"/>
                <a:gd name="T13" fmla="*/ 2 h 386"/>
                <a:gd name="T14" fmla="*/ 11960 w 112"/>
                <a:gd name="T15" fmla="*/ 2 h 386"/>
                <a:gd name="T16" fmla="*/ 13393 w 112"/>
                <a:gd name="T17" fmla="*/ 1 h 386"/>
                <a:gd name="T18" fmla="*/ 14222 w 112"/>
                <a:gd name="T19" fmla="*/ 1 h 386"/>
                <a:gd name="T20" fmla="*/ 14626 w 112"/>
                <a:gd name="T21" fmla="*/ 1 h 386"/>
                <a:gd name="T22" fmla="*/ 15530 w 112"/>
                <a:gd name="T23" fmla="*/ 1 h 386"/>
                <a:gd name="T24" fmla="*/ 16018 w 112"/>
                <a:gd name="T25" fmla="*/ 1 h 386"/>
                <a:gd name="T26" fmla="*/ 15530 w 112"/>
                <a:gd name="T27" fmla="*/ 1 h 386"/>
                <a:gd name="T28" fmla="*/ 15108 w 112"/>
                <a:gd name="T29" fmla="*/ 1 h 386"/>
                <a:gd name="T30" fmla="*/ 14222 w 112"/>
                <a:gd name="T31" fmla="*/ 1 h 386"/>
                <a:gd name="T32" fmla="*/ 13856 w 112"/>
                <a:gd name="T33" fmla="*/ 1 h 386"/>
                <a:gd name="T34" fmla="*/ 13393 w 112"/>
                <a:gd name="T35" fmla="*/ 1 h 386"/>
                <a:gd name="T36" fmla="*/ 12742 w 112"/>
                <a:gd name="T37" fmla="*/ 1 h 386"/>
                <a:gd name="T38" fmla="*/ 11960 w 112"/>
                <a:gd name="T39" fmla="*/ 1 h 386"/>
                <a:gd name="T40" fmla="*/ 11444 w 112"/>
                <a:gd name="T41" fmla="*/ 1 h 386"/>
                <a:gd name="T42" fmla="*/ 11069 w 112"/>
                <a:gd name="T43" fmla="*/ 1 h 386"/>
                <a:gd name="T44" fmla="*/ 10619 w 112"/>
                <a:gd name="T45" fmla="*/ 1 h 386"/>
                <a:gd name="T46" fmla="*/ 10134 w 112"/>
                <a:gd name="T47" fmla="*/ 1 h 386"/>
                <a:gd name="T48" fmla="*/ 9359 w 112"/>
                <a:gd name="T49" fmla="*/ 1 h 386"/>
                <a:gd name="T50" fmla="*/ 8930 w 112"/>
                <a:gd name="T51" fmla="*/ 0 h 386"/>
                <a:gd name="T52" fmla="*/ 8448 w 112"/>
                <a:gd name="T53" fmla="*/ 1 h 386"/>
                <a:gd name="T54" fmla="*/ 8448 w 112"/>
                <a:gd name="T55" fmla="*/ 1 h 386"/>
                <a:gd name="T56" fmla="*/ 8448 w 112"/>
                <a:gd name="T57" fmla="*/ 1 h 386"/>
                <a:gd name="T58" fmla="*/ 7978 w 112"/>
                <a:gd name="T59" fmla="*/ 1 h 386"/>
                <a:gd name="T60" fmla="*/ 7058 w 112"/>
                <a:gd name="T61" fmla="*/ 1 h 386"/>
                <a:gd name="T62" fmla="*/ 6181 w 112"/>
                <a:gd name="T63" fmla="*/ 1 h 386"/>
                <a:gd name="T64" fmla="*/ 4979 w 112"/>
                <a:gd name="T65" fmla="*/ 1 h 386"/>
                <a:gd name="T66" fmla="*/ 3517 w 112"/>
                <a:gd name="T67" fmla="*/ 1 h 386"/>
                <a:gd name="T68" fmla="*/ 2626 w 112"/>
                <a:gd name="T69" fmla="*/ 1 h 386"/>
                <a:gd name="T70" fmla="*/ 1686 w 112"/>
                <a:gd name="T71" fmla="*/ 1 h 386"/>
                <a:gd name="T72" fmla="*/ 889 w 112"/>
                <a:gd name="T73" fmla="*/ 1 h 386"/>
                <a:gd name="T74" fmla="*/ 391 w 112"/>
                <a:gd name="T75" fmla="*/ 1 h 386"/>
                <a:gd name="T76" fmla="*/ 0 w 112"/>
                <a:gd name="T77" fmla="*/ 1 h 386"/>
                <a:gd name="T78" fmla="*/ 0 w 112"/>
                <a:gd name="T79" fmla="*/ 1 h 386"/>
                <a:gd name="T80" fmla="*/ 0 w 112"/>
                <a:gd name="T81" fmla="*/ 1 h 386"/>
                <a:gd name="T82" fmla="*/ 0 w 112"/>
                <a:gd name="T83" fmla="*/ 1 h 386"/>
                <a:gd name="T84" fmla="*/ 0 w 112"/>
                <a:gd name="T85" fmla="*/ 1 h 386"/>
                <a:gd name="T86" fmla="*/ 391 w 112"/>
                <a:gd name="T87" fmla="*/ 1 h 386"/>
                <a:gd name="T88" fmla="*/ 391 w 112"/>
                <a:gd name="T89" fmla="*/ 2 h 386"/>
                <a:gd name="T90" fmla="*/ 391 w 112"/>
                <a:gd name="T91" fmla="*/ 2 h 386"/>
                <a:gd name="T92" fmla="*/ 889 w 112"/>
                <a:gd name="T93" fmla="*/ 2 h 386"/>
                <a:gd name="T94" fmla="*/ 1259 w 112"/>
                <a:gd name="T95" fmla="*/ 2 h 386"/>
                <a:gd name="T96" fmla="*/ 1259 w 112"/>
                <a:gd name="T97" fmla="*/ 2 h 386"/>
                <a:gd name="T98" fmla="*/ 1686 w 112"/>
                <a:gd name="T99" fmla="*/ 2 h 386"/>
                <a:gd name="T100" fmla="*/ 2626 w 112"/>
                <a:gd name="T101" fmla="*/ 3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F6600"/>
              </a:solidFill>
              <a:round/>
              <a:headEnd/>
              <a:tailEnd/>
            </a:ln>
          </p:spPr>
          <p:txBody>
            <a:bodyPr/>
            <a:lstStyle/>
            <a:p>
              <a:endParaRPr lang="en-US">
                <a:latin typeface="Arial"/>
                <a:cs typeface="Arial"/>
              </a:endParaRPr>
            </a:p>
          </p:txBody>
        </p:sp>
        <p:sp>
          <p:nvSpPr>
            <p:cNvPr id="288" name="Freeform 74"/>
            <p:cNvSpPr>
              <a:spLocks/>
            </p:cNvSpPr>
            <p:nvPr/>
          </p:nvSpPr>
          <p:spPr bwMode="auto">
            <a:xfrm>
              <a:off x="2763" y="1319"/>
              <a:ext cx="169" cy="97"/>
            </a:xfrm>
            <a:custGeom>
              <a:avLst/>
              <a:gdLst>
                <a:gd name="T0" fmla="*/ 0 w 127"/>
                <a:gd name="T1" fmla="*/ 2 h 129"/>
                <a:gd name="T2" fmla="*/ 1273 w 127"/>
                <a:gd name="T3" fmla="*/ 2 h 129"/>
                <a:gd name="T4" fmla="*/ 1965 w 127"/>
                <a:gd name="T5" fmla="*/ 2 h 129"/>
                <a:gd name="T6" fmla="*/ 3101 w 127"/>
                <a:gd name="T7" fmla="*/ 2 h 129"/>
                <a:gd name="T8" fmla="*/ 4362 w 127"/>
                <a:gd name="T9" fmla="*/ 2 h 129"/>
                <a:gd name="T10" fmla="*/ 5742 w 127"/>
                <a:gd name="T11" fmla="*/ 2 h 129"/>
                <a:gd name="T12" fmla="*/ 6163 w 127"/>
                <a:gd name="T13" fmla="*/ 2 h 129"/>
                <a:gd name="T14" fmla="*/ 7433 w 127"/>
                <a:gd name="T15" fmla="*/ 2 h 129"/>
                <a:gd name="T16" fmla="*/ 8113 w 127"/>
                <a:gd name="T17" fmla="*/ 2 h 129"/>
                <a:gd name="T18" fmla="*/ 8743 w 127"/>
                <a:gd name="T19" fmla="*/ 2 h 129"/>
                <a:gd name="T20" fmla="*/ 10056 w 127"/>
                <a:gd name="T21" fmla="*/ 2 h 129"/>
                <a:gd name="T22" fmla="*/ 10056 w 127"/>
                <a:gd name="T23" fmla="*/ 2 h 129"/>
                <a:gd name="T24" fmla="*/ 11201 w 127"/>
                <a:gd name="T25" fmla="*/ 2 h 129"/>
                <a:gd name="T26" fmla="*/ 11201 w 127"/>
                <a:gd name="T27" fmla="*/ 2 h 129"/>
                <a:gd name="T28" fmla="*/ 11201 w 127"/>
                <a:gd name="T29" fmla="*/ 2 h 129"/>
                <a:gd name="T30" fmla="*/ 11775 w 127"/>
                <a:gd name="T31" fmla="*/ 2 h 129"/>
                <a:gd name="T32" fmla="*/ 13162 w 127"/>
                <a:gd name="T33" fmla="*/ 2 h 129"/>
                <a:gd name="T34" fmla="*/ 13162 w 127"/>
                <a:gd name="T35" fmla="*/ 2 h 129"/>
                <a:gd name="T36" fmla="*/ 13738 w 127"/>
                <a:gd name="T37" fmla="*/ 2 h 129"/>
                <a:gd name="T38" fmla="*/ 13738 w 127"/>
                <a:gd name="T39" fmla="*/ 2 h 129"/>
                <a:gd name="T40" fmla="*/ 14905 w 127"/>
                <a:gd name="T41" fmla="*/ 0 h 129"/>
                <a:gd name="T42" fmla="*/ 14905 w 127"/>
                <a:gd name="T43" fmla="*/ 2 h 129"/>
                <a:gd name="T44" fmla="*/ 14905 w 127"/>
                <a:gd name="T45" fmla="*/ 2 h 129"/>
                <a:gd name="T46" fmla="*/ 15548 w 127"/>
                <a:gd name="T47" fmla="*/ 2 h 129"/>
                <a:gd name="T48" fmla="*/ 15548 w 127"/>
                <a:gd name="T49" fmla="*/ 2 h 129"/>
                <a:gd name="T50" fmla="*/ 15548 w 127"/>
                <a:gd name="T51" fmla="*/ 2 h 129"/>
                <a:gd name="T52" fmla="*/ 16268 w 127"/>
                <a:gd name="T53" fmla="*/ 2 h 129"/>
                <a:gd name="T54" fmla="*/ 16268 w 127"/>
                <a:gd name="T55" fmla="*/ 2 h 129"/>
                <a:gd name="T56" fmla="*/ 16268 w 127"/>
                <a:gd name="T57" fmla="*/ 2 h 129"/>
                <a:gd name="T58" fmla="*/ 16268 w 127"/>
                <a:gd name="T59" fmla="*/ 2 h 129"/>
                <a:gd name="T60" fmla="*/ 16268 w 127"/>
                <a:gd name="T61" fmla="*/ 2 h 129"/>
                <a:gd name="T62" fmla="*/ 15548 w 127"/>
                <a:gd name="T63" fmla="*/ 2 h 129"/>
                <a:gd name="T64" fmla="*/ 14298 w 127"/>
                <a:gd name="T65" fmla="*/ 2 h 129"/>
                <a:gd name="T66" fmla="*/ 13738 w 127"/>
                <a:gd name="T67" fmla="*/ 2 h 129"/>
                <a:gd name="T68" fmla="*/ 12514 w 127"/>
                <a:gd name="T69" fmla="*/ 2 h 129"/>
                <a:gd name="T70" fmla="*/ 11201 w 127"/>
                <a:gd name="T71" fmla="*/ 2 h 129"/>
                <a:gd name="T72" fmla="*/ 10056 w 127"/>
                <a:gd name="T73" fmla="*/ 2 h 129"/>
                <a:gd name="T74" fmla="*/ 8743 w 127"/>
                <a:gd name="T75" fmla="*/ 2 h 129"/>
                <a:gd name="T76" fmla="*/ 7433 w 127"/>
                <a:gd name="T77" fmla="*/ 2 h 129"/>
                <a:gd name="T78" fmla="*/ 6163 w 127"/>
                <a:gd name="T79" fmla="*/ 2 h 129"/>
                <a:gd name="T80" fmla="*/ 4997 w 127"/>
                <a:gd name="T81" fmla="*/ 2 h 129"/>
                <a:gd name="T82" fmla="*/ 3755 w 127"/>
                <a:gd name="T83" fmla="*/ 2 h 129"/>
                <a:gd name="T84" fmla="*/ 2437 w 127"/>
                <a:gd name="T85" fmla="*/ 2 h 129"/>
                <a:gd name="T86" fmla="*/ 1273 w 127"/>
                <a:gd name="T87" fmla="*/ 2 h 129"/>
                <a:gd name="T88" fmla="*/ 0 w 127"/>
                <a:gd name="T89" fmla="*/ 2 h 129"/>
                <a:gd name="T90" fmla="*/ 8113 w 127"/>
                <a:gd name="T91" fmla="*/ 2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FF00"/>
            </a:solidFill>
            <a:ln w="25400" cap="rnd">
              <a:solidFill>
                <a:srgbClr val="FF0000"/>
              </a:solidFill>
              <a:round/>
              <a:headEnd/>
              <a:tailEnd/>
            </a:ln>
          </p:spPr>
          <p:txBody>
            <a:bodyPr/>
            <a:lstStyle/>
            <a:p>
              <a:endParaRPr lang="en-US">
                <a:latin typeface="Arial"/>
                <a:cs typeface="Arial"/>
              </a:endParaRPr>
            </a:p>
          </p:txBody>
        </p:sp>
      </p:grpSp>
      <p:grpSp>
        <p:nvGrpSpPr>
          <p:cNvPr id="289" name="Group 67"/>
          <p:cNvGrpSpPr>
            <a:grpSpLocks/>
          </p:cNvGrpSpPr>
          <p:nvPr/>
        </p:nvGrpSpPr>
        <p:grpSpPr bwMode="auto">
          <a:xfrm>
            <a:off x="5290492" y="3909466"/>
            <a:ext cx="292613" cy="477500"/>
            <a:chOff x="2571" y="1098"/>
            <a:chExt cx="412" cy="328"/>
          </a:xfrm>
        </p:grpSpPr>
        <p:sp>
          <p:nvSpPr>
            <p:cNvPr id="290" name="Freeform 68"/>
            <p:cNvSpPr>
              <a:spLocks/>
            </p:cNvSpPr>
            <p:nvPr/>
          </p:nvSpPr>
          <p:spPr bwMode="auto">
            <a:xfrm>
              <a:off x="2571" y="1098"/>
              <a:ext cx="188" cy="321"/>
            </a:xfrm>
            <a:custGeom>
              <a:avLst/>
              <a:gdLst>
                <a:gd name="T0" fmla="*/ 15547 w 141"/>
                <a:gd name="T1" fmla="*/ 4 h 428"/>
                <a:gd name="T2" fmla="*/ 15035 w 141"/>
                <a:gd name="T3" fmla="*/ 4 h 428"/>
                <a:gd name="T4" fmla="*/ 12857 w 141"/>
                <a:gd name="T5" fmla="*/ 4 h 428"/>
                <a:gd name="T6" fmla="*/ 10817 w 141"/>
                <a:gd name="T7" fmla="*/ 3 h 428"/>
                <a:gd name="T8" fmla="*/ 9257 w 141"/>
                <a:gd name="T9" fmla="*/ 3 h 428"/>
                <a:gd name="T10" fmla="*/ 7681 w 141"/>
                <a:gd name="T11" fmla="*/ 3 h 428"/>
                <a:gd name="T12" fmla="*/ 6271 w 141"/>
                <a:gd name="T13" fmla="*/ 3 h 428"/>
                <a:gd name="T14" fmla="*/ 4703 w 141"/>
                <a:gd name="T15" fmla="*/ 3 h 428"/>
                <a:gd name="T16" fmla="*/ 3051 w 141"/>
                <a:gd name="T17" fmla="*/ 3 h 428"/>
                <a:gd name="T18" fmla="*/ 2069 w 141"/>
                <a:gd name="T19" fmla="*/ 3 h 428"/>
                <a:gd name="T20" fmla="*/ 1552 w 141"/>
                <a:gd name="T21" fmla="*/ 2 h 428"/>
                <a:gd name="T22" fmla="*/ 491 w 141"/>
                <a:gd name="T23" fmla="*/ 2 h 428"/>
                <a:gd name="T24" fmla="*/ 0 w 141"/>
                <a:gd name="T25" fmla="*/ 2 h 428"/>
                <a:gd name="T26" fmla="*/ 491 w 141"/>
                <a:gd name="T27" fmla="*/ 2 h 428"/>
                <a:gd name="T28" fmla="*/ 1129 w 141"/>
                <a:gd name="T29" fmla="*/ 2 h 428"/>
                <a:gd name="T30" fmla="*/ 2069 w 141"/>
                <a:gd name="T31" fmla="*/ 2 h 428"/>
                <a:gd name="T32" fmla="*/ 2491 w 141"/>
                <a:gd name="T33" fmla="*/ 2 h 428"/>
                <a:gd name="T34" fmla="*/ 3051 w 141"/>
                <a:gd name="T35" fmla="*/ 2 h 428"/>
                <a:gd name="T36" fmla="*/ 3568 w 141"/>
                <a:gd name="T37" fmla="*/ 2 h 428"/>
                <a:gd name="T38" fmla="*/ 4703 w 141"/>
                <a:gd name="T39" fmla="*/ 2 h 428"/>
                <a:gd name="T40" fmla="*/ 5185 w 141"/>
                <a:gd name="T41" fmla="*/ 2 h 428"/>
                <a:gd name="T42" fmla="*/ 5687 w 141"/>
                <a:gd name="T43" fmla="*/ 2 h 428"/>
                <a:gd name="T44" fmla="*/ 6271 w 141"/>
                <a:gd name="T45" fmla="*/ 2 h 428"/>
                <a:gd name="T46" fmla="*/ 6805 w 141"/>
                <a:gd name="T47" fmla="*/ 2 h 428"/>
                <a:gd name="T48" fmla="*/ 7681 w 141"/>
                <a:gd name="T49" fmla="*/ 2 h 428"/>
                <a:gd name="T50" fmla="*/ 8308 w 141"/>
                <a:gd name="T51" fmla="*/ 0 h 428"/>
                <a:gd name="T52" fmla="*/ 8745 w 141"/>
                <a:gd name="T53" fmla="*/ 2 h 428"/>
                <a:gd name="T54" fmla="*/ 8745 w 141"/>
                <a:gd name="T55" fmla="*/ 2 h 428"/>
                <a:gd name="T56" fmla="*/ 8745 w 141"/>
                <a:gd name="T57" fmla="*/ 2 h 428"/>
                <a:gd name="T58" fmla="*/ 9257 w 141"/>
                <a:gd name="T59" fmla="*/ 2 h 428"/>
                <a:gd name="T60" fmla="*/ 10389 w 141"/>
                <a:gd name="T61" fmla="*/ 2 h 428"/>
                <a:gd name="T62" fmla="*/ 11456 w 141"/>
                <a:gd name="T63" fmla="*/ 2 h 428"/>
                <a:gd name="T64" fmla="*/ 12857 w 141"/>
                <a:gd name="T65" fmla="*/ 2 h 428"/>
                <a:gd name="T66" fmla="*/ 14423 w 141"/>
                <a:gd name="T67" fmla="*/ 2 h 428"/>
                <a:gd name="T68" fmla="*/ 15547 w 141"/>
                <a:gd name="T69" fmla="*/ 2 h 428"/>
                <a:gd name="T70" fmla="*/ 16457 w 141"/>
                <a:gd name="T71" fmla="*/ 2 h 428"/>
                <a:gd name="T72" fmla="*/ 17535 w 141"/>
                <a:gd name="T73" fmla="*/ 2 h 428"/>
                <a:gd name="T74" fmla="*/ 18017 w 141"/>
                <a:gd name="T75" fmla="*/ 2 h 428"/>
                <a:gd name="T76" fmla="*/ 18660 w 141"/>
                <a:gd name="T77" fmla="*/ 2 h 428"/>
                <a:gd name="T78" fmla="*/ 18660 w 141"/>
                <a:gd name="T79" fmla="*/ 2 h 428"/>
                <a:gd name="T80" fmla="*/ 18660 w 141"/>
                <a:gd name="T81" fmla="*/ 2 h 428"/>
                <a:gd name="T82" fmla="*/ 18660 w 141"/>
                <a:gd name="T83" fmla="*/ 2 h 428"/>
                <a:gd name="T84" fmla="*/ 18660 w 141"/>
                <a:gd name="T85" fmla="*/ 3 h 428"/>
                <a:gd name="T86" fmla="*/ 18017 w 141"/>
                <a:gd name="T87" fmla="*/ 3 h 428"/>
                <a:gd name="T88" fmla="*/ 18017 w 141"/>
                <a:gd name="T89" fmla="*/ 3 h 428"/>
                <a:gd name="T90" fmla="*/ 18017 w 141"/>
                <a:gd name="T91" fmla="*/ 3 h 428"/>
                <a:gd name="T92" fmla="*/ 17535 w 141"/>
                <a:gd name="T93" fmla="*/ 3 h 428"/>
                <a:gd name="T94" fmla="*/ 17055 w 141"/>
                <a:gd name="T95" fmla="*/ 3 h 428"/>
                <a:gd name="T96" fmla="*/ 17055 w 141"/>
                <a:gd name="T97" fmla="*/ 4 h 428"/>
                <a:gd name="T98" fmla="*/ 16457 w 141"/>
                <a:gd name="T99" fmla="*/ 4 h 428"/>
                <a:gd name="T100" fmla="*/ 15547 w 141"/>
                <a:gd name="T101" fmla="*/ 4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a:latin typeface="Arial"/>
                <a:cs typeface="Arial"/>
              </a:endParaRPr>
            </a:p>
          </p:txBody>
        </p:sp>
        <p:sp>
          <p:nvSpPr>
            <p:cNvPr id="291" name="Freeform 69"/>
            <p:cNvSpPr>
              <a:spLocks/>
            </p:cNvSpPr>
            <p:nvPr/>
          </p:nvSpPr>
          <p:spPr bwMode="auto">
            <a:xfrm>
              <a:off x="2712" y="1207"/>
              <a:ext cx="194" cy="219"/>
            </a:xfrm>
            <a:custGeom>
              <a:avLst/>
              <a:gdLst>
                <a:gd name="T0" fmla="*/ 3424 w 145"/>
                <a:gd name="T1" fmla="*/ 2 h 292"/>
                <a:gd name="T2" fmla="*/ 3954 w 145"/>
                <a:gd name="T3" fmla="*/ 2 h 292"/>
                <a:gd name="T4" fmla="*/ 6251 w 145"/>
                <a:gd name="T5" fmla="*/ 2 h 292"/>
                <a:gd name="T6" fmla="*/ 8424 w 145"/>
                <a:gd name="T7" fmla="*/ 2 h 292"/>
                <a:gd name="T8" fmla="*/ 10051 w 145"/>
                <a:gd name="T9" fmla="*/ 2 h 292"/>
                <a:gd name="T10" fmla="*/ 11859 w 145"/>
                <a:gd name="T11" fmla="*/ 2 h 292"/>
                <a:gd name="T12" fmla="*/ 13448 w 145"/>
                <a:gd name="T13" fmla="*/ 2 h 292"/>
                <a:gd name="T14" fmla="*/ 15194 w 145"/>
                <a:gd name="T15" fmla="*/ 2 h 292"/>
                <a:gd name="T16" fmla="*/ 16952 w 145"/>
                <a:gd name="T17" fmla="*/ 2 h 292"/>
                <a:gd name="T18" fmla="*/ 17992 w 145"/>
                <a:gd name="T19" fmla="*/ 2 h 292"/>
                <a:gd name="T20" fmla="*/ 18660 w 145"/>
                <a:gd name="T21" fmla="*/ 2 h 292"/>
                <a:gd name="T22" fmla="*/ 19668 w 145"/>
                <a:gd name="T23" fmla="*/ 2 h 292"/>
                <a:gd name="T24" fmla="*/ 20329 w 145"/>
                <a:gd name="T25" fmla="*/ 2 h 292"/>
                <a:gd name="T26" fmla="*/ 19668 w 145"/>
                <a:gd name="T27" fmla="*/ 2 h 292"/>
                <a:gd name="T28" fmla="*/ 19193 w 145"/>
                <a:gd name="T29" fmla="*/ 2 h 292"/>
                <a:gd name="T30" fmla="*/ 17992 w 145"/>
                <a:gd name="T31" fmla="*/ 2 h 292"/>
                <a:gd name="T32" fmla="*/ 17468 w 145"/>
                <a:gd name="T33" fmla="*/ 2 h 292"/>
                <a:gd name="T34" fmla="*/ 16952 w 145"/>
                <a:gd name="T35" fmla="*/ 2 h 292"/>
                <a:gd name="T36" fmla="*/ 16313 w 145"/>
                <a:gd name="T37" fmla="*/ 2 h 292"/>
                <a:gd name="T38" fmla="*/ 15194 w 145"/>
                <a:gd name="T39" fmla="*/ 2 h 292"/>
                <a:gd name="T40" fmla="*/ 14678 w 145"/>
                <a:gd name="T41" fmla="*/ 2 h 292"/>
                <a:gd name="T42" fmla="*/ 14099 w 145"/>
                <a:gd name="T43" fmla="*/ 2 h 292"/>
                <a:gd name="T44" fmla="*/ 13448 w 145"/>
                <a:gd name="T45" fmla="*/ 2 h 292"/>
                <a:gd name="T46" fmla="*/ 13038 w 145"/>
                <a:gd name="T47" fmla="*/ 2 h 292"/>
                <a:gd name="T48" fmla="*/ 11859 w 145"/>
                <a:gd name="T49" fmla="*/ 2 h 292"/>
                <a:gd name="T50" fmla="*/ 11271 w 145"/>
                <a:gd name="T51" fmla="*/ 0 h 292"/>
                <a:gd name="T52" fmla="*/ 10722 w 145"/>
                <a:gd name="T53" fmla="*/ 2 h 292"/>
                <a:gd name="T54" fmla="*/ 10722 w 145"/>
                <a:gd name="T55" fmla="*/ 2 h 292"/>
                <a:gd name="T56" fmla="*/ 10722 w 145"/>
                <a:gd name="T57" fmla="*/ 2 h 292"/>
                <a:gd name="T58" fmla="*/ 10051 w 145"/>
                <a:gd name="T59" fmla="*/ 2 h 292"/>
                <a:gd name="T60" fmla="*/ 9081 w 145"/>
                <a:gd name="T61" fmla="*/ 2 h 292"/>
                <a:gd name="T62" fmla="*/ 7876 w 145"/>
                <a:gd name="T63" fmla="*/ 2 h 292"/>
                <a:gd name="T64" fmla="*/ 6251 w 145"/>
                <a:gd name="T65" fmla="*/ 2 h 292"/>
                <a:gd name="T66" fmla="*/ 4581 w 145"/>
                <a:gd name="T67" fmla="*/ 2 h 292"/>
                <a:gd name="T68" fmla="*/ 3424 w 145"/>
                <a:gd name="T69" fmla="*/ 2 h 292"/>
                <a:gd name="T70" fmla="*/ 2209 w 145"/>
                <a:gd name="T71" fmla="*/ 2 h 292"/>
                <a:gd name="T72" fmla="*/ 1183 w 145"/>
                <a:gd name="T73" fmla="*/ 2 h 292"/>
                <a:gd name="T74" fmla="*/ 515 w 145"/>
                <a:gd name="T75" fmla="*/ 2 h 292"/>
                <a:gd name="T76" fmla="*/ 0 w 145"/>
                <a:gd name="T77" fmla="*/ 2 h 292"/>
                <a:gd name="T78" fmla="*/ 0 w 145"/>
                <a:gd name="T79" fmla="*/ 2 h 292"/>
                <a:gd name="T80" fmla="*/ 0 w 145"/>
                <a:gd name="T81" fmla="*/ 2 h 292"/>
                <a:gd name="T82" fmla="*/ 0 w 145"/>
                <a:gd name="T83" fmla="*/ 2 h 292"/>
                <a:gd name="T84" fmla="*/ 0 w 145"/>
                <a:gd name="T85" fmla="*/ 2 h 292"/>
                <a:gd name="T86" fmla="*/ 515 w 145"/>
                <a:gd name="T87" fmla="*/ 2 h 292"/>
                <a:gd name="T88" fmla="*/ 515 w 145"/>
                <a:gd name="T89" fmla="*/ 2 h 292"/>
                <a:gd name="T90" fmla="*/ 515 w 145"/>
                <a:gd name="T91" fmla="*/ 2 h 292"/>
                <a:gd name="T92" fmla="*/ 1183 w 145"/>
                <a:gd name="T93" fmla="*/ 2 h 292"/>
                <a:gd name="T94" fmla="*/ 1651 w 145"/>
                <a:gd name="T95" fmla="*/ 2 h 292"/>
                <a:gd name="T96" fmla="*/ 1651 w 145"/>
                <a:gd name="T97" fmla="*/ 2 h 292"/>
                <a:gd name="T98" fmla="*/ 2209 w 145"/>
                <a:gd name="T99" fmla="*/ 2 h 292"/>
                <a:gd name="T100" fmla="*/ 3424 w 145"/>
                <a:gd name="T101" fmla="*/ 2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92" name="Freeform 70"/>
            <p:cNvSpPr>
              <a:spLocks/>
            </p:cNvSpPr>
            <p:nvPr/>
          </p:nvSpPr>
          <p:spPr bwMode="auto">
            <a:xfrm>
              <a:off x="2626" y="1127"/>
              <a:ext cx="309" cy="234"/>
            </a:xfrm>
            <a:custGeom>
              <a:avLst/>
              <a:gdLst>
                <a:gd name="T0" fmla="*/ 12209 w 232"/>
                <a:gd name="T1" fmla="*/ 2 h 313"/>
                <a:gd name="T2" fmla="*/ 12839 w 232"/>
                <a:gd name="T3" fmla="*/ 2 h 313"/>
                <a:gd name="T4" fmla="*/ 15303 w 232"/>
                <a:gd name="T5" fmla="*/ 2 h 313"/>
                <a:gd name="T6" fmla="*/ 17676 w 232"/>
                <a:gd name="T7" fmla="*/ 1 h 313"/>
                <a:gd name="T8" fmla="*/ 19472 w 232"/>
                <a:gd name="T9" fmla="*/ 1 h 313"/>
                <a:gd name="T10" fmla="*/ 21220 w 232"/>
                <a:gd name="T11" fmla="*/ 1 h 313"/>
                <a:gd name="T12" fmla="*/ 23123 w 232"/>
                <a:gd name="T13" fmla="*/ 1 h 313"/>
                <a:gd name="T14" fmla="*/ 24804 w 232"/>
                <a:gd name="T15" fmla="*/ 1 h 313"/>
                <a:gd name="T16" fmla="*/ 26503 w 232"/>
                <a:gd name="T17" fmla="*/ 1 h 313"/>
                <a:gd name="T18" fmla="*/ 27783 w 232"/>
                <a:gd name="T19" fmla="*/ 1 h 313"/>
                <a:gd name="T20" fmla="*/ 28425 w 232"/>
                <a:gd name="T21" fmla="*/ 1 h 313"/>
                <a:gd name="T22" fmla="*/ 29521 w 232"/>
                <a:gd name="T23" fmla="*/ 1 h 313"/>
                <a:gd name="T24" fmla="*/ 30170 w 232"/>
                <a:gd name="T25" fmla="*/ 1 h 313"/>
                <a:gd name="T26" fmla="*/ 29521 w 232"/>
                <a:gd name="T27" fmla="*/ 1 h 313"/>
                <a:gd name="T28" fmla="*/ 28846 w 232"/>
                <a:gd name="T29" fmla="*/ 1 h 313"/>
                <a:gd name="T30" fmla="*/ 27783 w 232"/>
                <a:gd name="T31" fmla="*/ 1 h 313"/>
                <a:gd name="T32" fmla="*/ 27147 w 232"/>
                <a:gd name="T33" fmla="*/ 1 h 313"/>
                <a:gd name="T34" fmla="*/ 26503 w 232"/>
                <a:gd name="T35" fmla="*/ 1 h 313"/>
                <a:gd name="T36" fmla="*/ 26025 w 232"/>
                <a:gd name="T37" fmla="*/ 1 h 313"/>
                <a:gd name="T38" fmla="*/ 24804 w 232"/>
                <a:gd name="T39" fmla="*/ 1 h 313"/>
                <a:gd name="T40" fmla="*/ 24149 w 232"/>
                <a:gd name="T41" fmla="*/ 1 h 313"/>
                <a:gd name="T42" fmla="*/ 23543 w 232"/>
                <a:gd name="T43" fmla="*/ 1 h 313"/>
                <a:gd name="T44" fmla="*/ 23662 w 232"/>
                <a:gd name="T45" fmla="*/ 1 h 313"/>
                <a:gd name="T46" fmla="*/ 22465 w 232"/>
                <a:gd name="T47" fmla="*/ 1 h 313"/>
                <a:gd name="T48" fmla="*/ 21220 w 232"/>
                <a:gd name="T49" fmla="*/ 1 h 313"/>
                <a:gd name="T50" fmla="*/ 20638 w 232"/>
                <a:gd name="T51" fmla="*/ 0 h 313"/>
                <a:gd name="T52" fmla="*/ 20113 w 232"/>
                <a:gd name="T53" fmla="*/ 1 h 313"/>
                <a:gd name="T54" fmla="*/ 20113 w 232"/>
                <a:gd name="T55" fmla="*/ 1 h 313"/>
                <a:gd name="T56" fmla="*/ 20113 w 232"/>
                <a:gd name="T57" fmla="*/ 1 h 313"/>
                <a:gd name="T58" fmla="*/ 19472 w 232"/>
                <a:gd name="T59" fmla="*/ 1 h 313"/>
                <a:gd name="T60" fmla="*/ 18131 w 232"/>
                <a:gd name="T61" fmla="*/ 1 h 313"/>
                <a:gd name="T62" fmla="*/ 17100 w 232"/>
                <a:gd name="T63" fmla="*/ 1 h 313"/>
                <a:gd name="T64" fmla="*/ 15303 w 232"/>
                <a:gd name="T65" fmla="*/ 1 h 313"/>
                <a:gd name="T66" fmla="*/ 13375 w 232"/>
                <a:gd name="T67" fmla="*/ 1 h 313"/>
                <a:gd name="T68" fmla="*/ 12209 w 232"/>
                <a:gd name="T69" fmla="*/ 1 h 313"/>
                <a:gd name="T70" fmla="*/ 11124 w 232"/>
                <a:gd name="T71" fmla="*/ 1 h 313"/>
                <a:gd name="T72" fmla="*/ 9964 w 232"/>
                <a:gd name="T73" fmla="*/ 1 h 313"/>
                <a:gd name="T74" fmla="*/ 9369 w 232"/>
                <a:gd name="T75" fmla="*/ 1 h 313"/>
                <a:gd name="T76" fmla="*/ 8735 w 232"/>
                <a:gd name="T77" fmla="*/ 1 h 313"/>
                <a:gd name="T78" fmla="*/ 8735 w 232"/>
                <a:gd name="T79" fmla="*/ 1 h 313"/>
                <a:gd name="T80" fmla="*/ 8735 w 232"/>
                <a:gd name="T81" fmla="*/ 1 h 313"/>
                <a:gd name="T82" fmla="*/ 8735 w 232"/>
                <a:gd name="T83" fmla="*/ 1 h 313"/>
                <a:gd name="T84" fmla="*/ 8735 w 232"/>
                <a:gd name="T85" fmla="*/ 1 h 313"/>
                <a:gd name="T86" fmla="*/ 9369 w 232"/>
                <a:gd name="T87" fmla="*/ 1 h 313"/>
                <a:gd name="T88" fmla="*/ 9369 w 232"/>
                <a:gd name="T89" fmla="*/ 1 h 313"/>
                <a:gd name="T90" fmla="*/ 9369 w 232"/>
                <a:gd name="T91" fmla="*/ 1 h 313"/>
                <a:gd name="T92" fmla="*/ 9964 w 232"/>
                <a:gd name="T93" fmla="*/ 1 h 313"/>
                <a:gd name="T94" fmla="*/ 10498 w 232"/>
                <a:gd name="T95" fmla="*/ 1 h 313"/>
                <a:gd name="T96" fmla="*/ 10498 w 232"/>
                <a:gd name="T97" fmla="*/ 1 h 313"/>
                <a:gd name="T98" fmla="*/ 11124 w 232"/>
                <a:gd name="T99" fmla="*/ 2 h 313"/>
                <a:gd name="T100" fmla="*/ 12209 w 232"/>
                <a:gd name="T101" fmla="*/ 2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93" name="Freeform 71"/>
            <p:cNvSpPr>
              <a:spLocks/>
            </p:cNvSpPr>
            <p:nvPr/>
          </p:nvSpPr>
          <p:spPr bwMode="auto">
            <a:xfrm>
              <a:off x="2731" y="1198"/>
              <a:ext cx="252" cy="218"/>
            </a:xfrm>
            <a:custGeom>
              <a:avLst/>
              <a:gdLst>
                <a:gd name="T0" fmla="*/ 4068 w 189"/>
                <a:gd name="T1" fmla="*/ 2 h 291"/>
                <a:gd name="T2" fmla="*/ 4905 w 189"/>
                <a:gd name="T3" fmla="*/ 1 h 291"/>
                <a:gd name="T4" fmla="*/ 7583 w 189"/>
                <a:gd name="T5" fmla="*/ 1 h 291"/>
                <a:gd name="T6" fmla="*/ 10389 w 189"/>
                <a:gd name="T7" fmla="*/ 1 h 291"/>
                <a:gd name="T8" fmla="*/ 12503 w 189"/>
                <a:gd name="T9" fmla="*/ 1 h 291"/>
                <a:gd name="T10" fmla="*/ 14651 w 189"/>
                <a:gd name="T11" fmla="*/ 1 h 291"/>
                <a:gd name="T12" fmla="*/ 16671 w 189"/>
                <a:gd name="T13" fmla="*/ 1 h 291"/>
                <a:gd name="T14" fmla="*/ 18815 w 189"/>
                <a:gd name="T15" fmla="*/ 1 h 291"/>
                <a:gd name="T16" fmla="*/ 20863 w 189"/>
                <a:gd name="T17" fmla="*/ 1 h 291"/>
                <a:gd name="T18" fmla="*/ 22228 w 189"/>
                <a:gd name="T19" fmla="*/ 1 h 291"/>
                <a:gd name="T20" fmla="*/ 22857 w 189"/>
                <a:gd name="T21" fmla="*/ 1 h 291"/>
                <a:gd name="T22" fmla="*/ 24276 w 189"/>
                <a:gd name="T23" fmla="*/ 1 h 291"/>
                <a:gd name="T24" fmla="*/ 25087 w 189"/>
                <a:gd name="T25" fmla="*/ 1 h 291"/>
                <a:gd name="T26" fmla="*/ 24276 w 189"/>
                <a:gd name="T27" fmla="*/ 1 h 291"/>
                <a:gd name="T28" fmla="*/ 23601 w 189"/>
                <a:gd name="T29" fmla="*/ 1 h 291"/>
                <a:gd name="T30" fmla="*/ 22228 w 189"/>
                <a:gd name="T31" fmla="*/ 1 h 291"/>
                <a:gd name="T32" fmla="*/ 21577 w 189"/>
                <a:gd name="T33" fmla="*/ 1 h 291"/>
                <a:gd name="T34" fmla="*/ 20863 w 189"/>
                <a:gd name="T35" fmla="*/ 1 h 291"/>
                <a:gd name="T36" fmla="*/ 20047 w 189"/>
                <a:gd name="T37" fmla="*/ 1 h 291"/>
                <a:gd name="T38" fmla="*/ 18815 w 189"/>
                <a:gd name="T39" fmla="*/ 1 h 291"/>
                <a:gd name="T40" fmla="*/ 18017 w 189"/>
                <a:gd name="T41" fmla="*/ 1 h 291"/>
                <a:gd name="T42" fmla="*/ 17463 w 189"/>
                <a:gd name="T43" fmla="*/ 1 h 291"/>
                <a:gd name="T44" fmla="*/ 16671 w 189"/>
                <a:gd name="T45" fmla="*/ 1 h 291"/>
                <a:gd name="T46" fmla="*/ 15931 w 189"/>
                <a:gd name="T47" fmla="*/ 1 h 291"/>
                <a:gd name="T48" fmla="*/ 14651 w 189"/>
                <a:gd name="T49" fmla="*/ 1 h 291"/>
                <a:gd name="T50" fmla="*/ 13852 w 189"/>
                <a:gd name="T51" fmla="*/ 0 h 291"/>
                <a:gd name="T52" fmla="*/ 13151 w 189"/>
                <a:gd name="T53" fmla="*/ 1 h 291"/>
                <a:gd name="T54" fmla="*/ 13151 w 189"/>
                <a:gd name="T55" fmla="*/ 1 h 291"/>
                <a:gd name="T56" fmla="*/ 13151 w 189"/>
                <a:gd name="T57" fmla="*/ 1 h 291"/>
                <a:gd name="T58" fmla="*/ 12503 w 189"/>
                <a:gd name="T59" fmla="*/ 1 h 291"/>
                <a:gd name="T60" fmla="*/ 11148 w 189"/>
                <a:gd name="T61" fmla="*/ 1 h 291"/>
                <a:gd name="T62" fmla="*/ 9643 w 189"/>
                <a:gd name="T63" fmla="*/ 1 h 291"/>
                <a:gd name="T64" fmla="*/ 7583 w 189"/>
                <a:gd name="T65" fmla="*/ 1 h 291"/>
                <a:gd name="T66" fmla="*/ 5596 w 189"/>
                <a:gd name="T67" fmla="*/ 1 h 291"/>
                <a:gd name="T68" fmla="*/ 4068 w 189"/>
                <a:gd name="T69" fmla="*/ 1 h 291"/>
                <a:gd name="T70" fmla="*/ 2759 w 189"/>
                <a:gd name="T71" fmla="*/ 1 h 291"/>
                <a:gd name="T72" fmla="*/ 1287 w 189"/>
                <a:gd name="T73" fmla="*/ 1 h 291"/>
                <a:gd name="T74" fmla="*/ 655 w 189"/>
                <a:gd name="T75" fmla="*/ 1 h 291"/>
                <a:gd name="T76" fmla="*/ 0 w 189"/>
                <a:gd name="T77" fmla="*/ 1 h 291"/>
                <a:gd name="T78" fmla="*/ 0 w 189"/>
                <a:gd name="T79" fmla="*/ 1 h 291"/>
                <a:gd name="T80" fmla="*/ 0 w 189"/>
                <a:gd name="T81" fmla="*/ 1 h 291"/>
                <a:gd name="T82" fmla="*/ 0 w 189"/>
                <a:gd name="T83" fmla="*/ 1 h 291"/>
                <a:gd name="T84" fmla="*/ 0 w 189"/>
                <a:gd name="T85" fmla="*/ 1 h 291"/>
                <a:gd name="T86" fmla="*/ 655 w 189"/>
                <a:gd name="T87" fmla="*/ 1 h 291"/>
                <a:gd name="T88" fmla="*/ 655 w 189"/>
                <a:gd name="T89" fmla="*/ 1 h 291"/>
                <a:gd name="T90" fmla="*/ 655 w 189"/>
                <a:gd name="T91" fmla="*/ 1 h 291"/>
                <a:gd name="T92" fmla="*/ 1287 w 189"/>
                <a:gd name="T93" fmla="*/ 1 h 291"/>
                <a:gd name="T94" fmla="*/ 2069 w 189"/>
                <a:gd name="T95" fmla="*/ 1 h 291"/>
                <a:gd name="T96" fmla="*/ 2069 w 189"/>
                <a:gd name="T97" fmla="*/ 1 h 291"/>
                <a:gd name="T98" fmla="*/ 2759 w 189"/>
                <a:gd name="T99" fmla="*/ 1 h 291"/>
                <a:gd name="T100" fmla="*/ 4068 w 189"/>
                <a:gd name="T101" fmla="*/ 2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94" name="Freeform 72"/>
            <p:cNvSpPr>
              <a:spLocks/>
            </p:cNvSpPr>
            <p:nvPr/>
          </p:nvSpPr>
          <p:spPr bwMode="auto">
            <a:xfrm>
              <a:off x="2592" y="1152"/>
              <a:ext cx="226" cy="267"/>
            </a:xfrm>
            <a:custGeom>
              <a:avLst/>
              <a:gdLst>
                <a:gd name="T0" fmla="*/ 17829 w 170"/>
                <a:gd name="T1" fmla="*/ 2 h 356"/>
                <a:gd name="T2" fmla="*/ 17208 w 170"/>
                <a:gd name="T3" fmla="*/ 2 h 356"/>
                <a:gd name="T4" fmla="*/ 14834 w 170"/>
                <a:gd name="T5" fmla="*/ 2 h 356"/>
                <a:gd name="T6" fmla="*/ 12566 w 170"/>
                <a:gd name="T7" fmla="*/ 2 h 356"/>
                <a:gd name="T8" fmla="*/ 10723 w 170"/>
                <a:gd name="T9" fmla="*/ 2 h 356"/>
                <a:gd name="T10" fmla="*/ 8863 w 170"/>
                <a:gd name="T11" fmla="*/ 2 h 356"/>
                <a:gd name="T12" fmla="*/ 7018 w 170"/>
                <a:gd name="T13" fmla="*/ 2 h 356"/>
                <a:gd name="T14" fmla="*/ 5279 w 170"/>
                <a:gd name="T15" fmla="*/ 2 h 356"/>
                <a:gd name="T16" fmla="*/ 3496 w 170"/>
                <a:gd name="T17" fmla="*/ 2 h 356"/>
                <a:gd name="T18" fmla="*/ 2345 w 170"/>
                <a:gd name="T19" fmla="*/ 2 h 356"/>
                <a:gd name="T20" fmla="*/ 1764 w 170"/>
                <a:gd name="T21" fmla="*/ 2 h 356"/>
                <a:gd name="T22" fmla="*/ 633 w 170"/>
                <a:gd name="T23" fmla="*/ 2 h 356"/>
                <a:gd name="T24" fmla="*/ 0 w 170"/>
                <a:gd name="T25" fmla="*/ 2 h 356"/>
                <a:gd name="T26" fmla="*/ 633 w 170"/>
                <a:gd name="T27" fmla="*/ 2 h 356"/>
                <a:gd name="T28" fmla="*/ 1119 w 170"/>
                <a:gd name="T29" fmla="*/ 2 h 356"/>
                <a:gd name="T30" fmla="*/ 2345 w 170"/>
                <a:gd name="T31" fmla="*/ 2 h 356"/>
                <a:gd name="T32" fmla="*/ 2946 w 170"/>
                <a:gd name="T33" fmla="*/ 2 h 356"/>
                <a:gd name="T34" fmla="*/ 3496 w 170"/>
                <a:gd name="T35" fmla="*/ 2 h 356"/>
                <a:gd name="T36" fmla="*/ 4144 w 170"/>
                <a:gd name="T37" fmla="*/ 2 h 356"/>
                <a:gd name="T38" fmla="*/ 5279 w 170"/>
                <a:gd name="T39" fmla="*/ 2 h 356"/>
                <a:gd name="T40" fmla="*/ 5900 w 170"/>
                <a:gd name="T41" fmla="*/ 2 h 356"/>
                <a:gd name="T42" fmla="*/ 6546 w 170"/>
                <a:gd name="T43" fmla="*/ 2 h 356"/>
                <a:gd name="T44" fmla="*/ 7018 w 170"/>
                <a:gd name="T45" fmla="*/ 2 h 356"/>
                <a:gd name="T46" fmla="*/ 7748 w 170"/>
                <a:gd name="T47" fmla="*/ 2 h 356"/>
                <a:gd name="T48" fmla="*/ 8863 w 170"/>
                <a:gd name="T49" fmla="*/ 2 h 356"/>
                <a:gd name="T50" fmla="*/ 9529 w 170"/>
                <a:gd name="T51" fmla="*/ 0 h 356"/>
                <a:gd name="T52" fmla="*/ 10088 w 170"/>
                <a:gd name="T53" fmla="*/ 2 h 356"/>
                <a:gd name="T54" fmla="*/ 10088 w 170"/>
                <a:gd name="T55" fmla="*/ 2 h 356"/>
                <a:gd name="T56" fmla="*/ 10088 w 170"/>
                <a:gd name="T57" fmla="*/ 2 h 356"/>
                <a:gd name="T58" fmla="*/ 10723 w 170"/>
                <a:gd name="T59" fmla="*/ 2 h 356"/>
                <a:gd name="T60" fmla="*/ 11926 w 170"/>
                <a:gd name="T61" fmla="*/ 2 h 356"/>
                <a:gd name="T62" fmla="*/ 13036 w 170"/>
                <a:gd name="T63" fmla="*/ 2 h 356"/>
                <a:gd name="T64" fmla="*/ 14834 w 170"/>
                <a:gd name="T65" fmla="*/ 2 h 356"/>
                <a:gd name="T66" fmla="*/ 16535 w 170"/>
                <a:gd name="T67" fmla="*/ 2 h 356"/>
                <a:gd name="T68" fmla="*/ 17829 w 170"/>
                <a:gd name="T69" fmla="*/ 2 h 356"/>
                <a:gd name="T70" fmla="*/ 18951 w 170"/>
                <a:gd name="T71" fmla="*/ 2 h 356"/>
                <a:gd name="T72" fmla="*/ 20264 w 170"/>
                <a:gd name="T73" fmla="*/ 2 h 356"/>
                <a:gd name="T74" fmla="*/ 20791 w 170"/>
                <a:gd name="T75" fmla="*/ 2 h 356"/>
                <a:gd name="T76" fmla="*/ 21381 w 170"/>
                <a:gd name="T77" fmla="*/ 2 h 356"/>
                <a:gd name="T78" fmla="*/ 21381 w 170"/>
                <a:gd name="T79" fmla="*/ 2 h 356"/>
                <a:gd name="T80" fmla="*/ 21381 w 170"/>
                <a:gd name="T81" fmla="*/ 2 h 356"/>
                <a:gd name="T82" fmla="*/ 21381 w 170"/>
                <a:gd name="T83" fmla="*/ 2 h 356"/>
                <a:gd name="T84" fmla="*/ 21381 w 170"/>
                <a:gd name="T85" fmla="*/ 2 h 356"/>
                <a:gd name="T86" fmla="*/ 20791 w 170"/>
                <a:gd name="T87" fmla="*/ 2 h 356"/>
                <a:gd name="T88" fmla="*/ 20791 w 170"/>
                <a:gd name="T89" fmla="*/ 2 h 356"/>
                <a:gd name="T90" fmla="*/ 20791 w 170"/>
                <a:gd name="T91" fmla="*/ 2 h 356"/>
                <a:gd name="T92" fmla="*/ 20264 w 170"/>
                <a:gd name="T93" fmla="*/ 2 h 356"/>
                <a:gd name="T94" fmla="*/ 19606 w 170"/>
                <a:gd name="T95" fmla="*/ 2 h 356"/>
                <a:gd name="T96" fmla="*/ 19606 w 170"/>
                <a:gd name="T97" fmla="*/ 2 h 356"/>
                <a:gd name="T98" fmla="*/ 18951 w 170"/>
                <a:gd name="T99" fmla="*/ 2 h 356"/>
                <a:gd name="T100" fmla="*/ 17829 w 170"/>
                <a:gd name="T101" fmla="*/ 2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6600"/>
            </a:solidFill>
            <a:ln w="25400" cap="rnd">
              <a:solidFill>
                <a:srgbClr val="FF0000"/>
              </a:solidFill>
              <a:round/>
              <a:headEnd/>
              <a:tailEnd/>
            </a:ln>
          </p:spPr>
          <p:txBody>
            <a:bodyPr/>
            <a:lstStyle/>
            <a:p>
              <a:endParaRPr lang="en-US">
                <a:latin typeface="Arial"/>
                <a:cs typeface="Arial"/>
              </a:endParaRPr>
            </a:p>
          </p:txBody>
        </p:sp>
        <p:sp>
          <p:nvSpPr>
            <p:cNvPr id="295" name="Freeform 73"/>
            <p:cNvSpPr>
              <a:spLocks/>
            </p:cNvSpPr>
            <p:nvPr/>
          </p:nvSpPr>
          <p:spPr bwMode="auto">
            <a:xfrm>
              <a:off x="2692" y="1130"/>
              <a:ext cx="150" cy="289"/>
            </a:xfrm>
            <a:custGeom>
              <a:avLst/>
              <a:gdLst>
                <a:gd name="T0" fmla="*/ 2626 w 112"/>
                <a:gd name="T1" fmla="*/ 3 h 386"/>
                <a:gd name="T2" fmla="*/ 3139 w 112"/>
                <a:gd name="T3" fmla="*/ 2 h 386"/>
                <a:gd name="T4" fmla="*/ 4979 w 112"/>
                <a:gd name="T5" fmla="*/ 2 h 386"/>
                <a:gd name="T6" fmla="*/ 6668 w 112"/>
                <a:gd name="T7" fmla="*/ 2 h 386"/>
                <a:gd name="T8" fmla="*/ 7978 w 112"/>
                <a:gd name="T9" fmla="*/ 2 h 386"/>
                <a:gd name="T10" fmla="*/ 9359 w 112"/>
                <a:gd name="T11" fmla="*/ 2 h 386"/>
                <a:gd name="T12" fmla="*/ 10619 w 112"/>
                <a:gd name="T13" fmla="*/ 2 h 386"/>
                <a:gd name="T14" fmla="*/ 11960 w 112"/>
                <a:gd name="T15" fmla="*/ 2 h 386"/>
                <a:gd name="T16" fmla="*/ 13393 w 112"/>
                <a:gd name="T17" fmla="*/ 1 h 386"/>
                <a:gd name="T18" fmla="*/ 14222 w 112"/>
                <a:gd name="T19" fmla="*/ 1 h 386"/>
                <a:gd name="T20" fmla="*/ 14626 w 112"/>
                <a:gd name="T21" fmla="*/ 1 h 386"/>
                <a:gd name="T22" fmla="*/ 15530 w 112"/>
                <a:gd name="T23" fmla="*/ 1 h 386"/>
                <a:gd name="T24" fmla="*/ 16018 w 112"/>
                <a:gd name="T25" fmla="*/ 1 h 386"/>
                <a:gd name="T26" fmla="*/ 15530 w 112"/>
                <a:gd name="T27" fmla="*/ 1 h 386"/>
                <a:gd name="T28" fmla="*/ 15108 w 112"/>
                <a:gd name="T29" fmla="*/ 1 h 386"/>
                <a:gd name="T30" fmla="*/ 14222 w 112"/>
                <a:gd name="T31" fmla="*/ 1 h 386"/>
                <a:gd name="T32" fmla="*/ 13856 w 112"/>
                <a:gd name="T33" fmla="*/ 1 h 386"/>
                <a:gd name="T34" fmla="*/ 13393 w 112"/>
                <a:gd name="T35" fmla="*/ 1 h 386"/>
                <a:gd name="T36" fmla="*/ 12742 w 112"/>
                <a:gd name="T37" fmla="*/ 1 h 386"/>
                <a:gd name="T38" fmla="*/ 11960 w 112"/>
                <a:gd name="T39" fmla="*/ 1 h 386"/>
                <a:gd name="T40" fmla="*/ 11444 w 112"/>
                <a:gd name="T41" fmla="*/ 1 h 386"/>
                <a:gd name="T42" fmla="*/ 11069 w 112"/>
                <a:gd name="T43" fmla="*/ 1 h 386"/>
                <a:gd name="T44" fmla="*/ 10619 w 112"/>
                <a:gd name="T45" fmla="*/ 1 h 386"/>
                <a:gd name="T46" fmla="*/ 10134 w 112"/>
                <a:gd name="T47" fmla="*/ 1 h 386"/>
                <a:gd name="T48" fmla="*/ 9359 w 112"/>
                <a:gd name="T49" fmla="*/ 1 h 386"/>
                <a:gd name="T50" fmla="*/ 8930 w 112"/>
                <a:gd name="T51" fmla="*/ 0 h 386"/>
                <a:gd name="T52" fmla="*/ 8448 w 112"/>
                <a:gd name="T53" fmla="*/ 1 h 386"/>
                <a:gd name="T54" fmla="*/ 8448 w 112"/>
                <a:gd name="T55" fmla="*/ 1 h 386"/>
                <a:gd name="T56" fmla="*/ 8448 w 112"/>
                <a:gd name="T57" fmla="*/ 1 h 386"/>
                <a:gd name="T58" fmla="*/ 7978 w 112"/>
                <a:gd name="T59" fmla="*/ 1 h 386"/>
                <a:gd name="T60" fmla="*/ 7058 w 112"/>
                <a:gd name="T61" fmla="*/ 1 h 386"/>
                <a:gd name="T62" fmla="*/ 6181 w 112"/>
                <a:gd name="T63" fmla="*/ 1 h 386"/>
                <a:gd name="T64" fmla="*/ 4979 w 112"/>
                <a:gd name="T65" fmla="*/ 1 h 386"/>
                <a:gd name="T66" fmla="*/ 3517 w 112"/>
                <a:gd name="T67" fmla="*/ 1 h 386"/>
                <a:gd name="T68" fmla="*/ 2626 w 112"/>
                <a:gd name="T69" fmla="*/ 1 h 386"/>
                <a:gd name="T70" fmla="*/ 1686 w 112"/>
                <a:gd name="T71" fmla="*/ 1 h 386"/>
                <a:gd name="T72" fmla="*/ 889 w 112"/>
                <a:gd name="T73" fmla="*/ 1 h 386"/>
                <a:gd name="T74" fmla="*/ 391 w 112"/>
                <a:gd name="T75" fmla="*/ 1 h 386"/>
                <a:gd name="T76" fmla="*/ 0 w 112"/>
                <a:gd name="T77" fmla="*/ 1 h 386"/>
                <a:gd name="T78" fmla="*/ 0 w 112"/>
                <a:gd name="T79" fmla="*/ 1 h 386"/>
                <a:gd name="T80" fmla="*/ 0 w 112"/>
                <a:gd name="T81" fmla="*/ 1 h 386"/>
                <a:gd name="T82" fmla="*/ 0 w 112"/>
                <a:gd name="T83" fmla="*/ 1 h 386"/>
                <a:gd name="T84" fmla="*/ 0 w 112"/>
                <a:gd name="T85" fmla="*/ 1 h 386"/>
                <a:gd name="T86" fmla="*/ 391 w 112"/>
                <a:gd name="T87" fmla="*/ 1 h 386"/>
                <a:gd name="T88" fmla="*/ 391 w 112"/>
                <a:gd name="T89" fmla="*/ 2 h 386"/>
                <a:gd name="T90" fmla="*/ 391 w 112"/>
                <a:gd name="T91" fmla="*/ 2 h 386"/>
                <a:gd name="T92" fmla="*/ 889 w 112"/>
                <a:gd name="T93" fmla="*/ 2 h 386"/>
                <a:gd name="T94" fmla="*/ 1259 w 112"/>
                <a:gd name="T95" fmla="*/ 2 h 386"/>
                <a:gd name="T96" fmla="*/ 1259 w 112"/>
                <a:gd name="T97" fmla="*/ 2 h 386"/>
                <a:gd name="T98" fmla="*/ 1686 w 112"/>
                <a:gd name="T99" fmla="*/ 2 h 386"/>
                <a:gd name="T100" fmla="*/ 2626 w 112"/>
                <a:gd name="T101" fmla="*/ 3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F6600"/>
              </a:solidFill>
              <a:round/>
              <a:headEnd/>
              <a:tailEnd/>
            </a:ln>
          </p:spPr>
          <p:txBody>
            <a:bodyPr/>
            <a:lstStyle/>
            <a:p>
              <a:endParaRPr lang="en-US">
                <a:latin typeface="Arial"/>
                <a:cs typeface="Arial"/>
              </a:endParaRPr>
            </a:p>
          </p:txBody>
        </p:sp>
        <p:sp>
          <p:nvSpPr>
            <p:cNvPr id="296" name="Freeform 74"/>
            <p:cNvSpPr>
              <a:spLocks/>
            </p:cNvSpPr>
            <p:nvPr/>
          </p:nvSpPr>
          <p:spPr bwMode="auto">
            <a:xfrm>
              <a:off x="2763" y="1319"/>
              <a:ext cx="169" cy="97"/>
            </a:xfrm>
            <a:custGeom>
              <a:avLst/>
              <a:gdLst>
                <a:gd name="T0" fmla="*/ 0 w 127"/>
                <a:gd name="T1" fmla="*/ 2 h 129"/>
                <a:gd name="T2" fmla="*/ 1273 w 127"/>
                <a:gd name="T3" fmla="*/ 2 h 129"/>
                <a:gd name="T4" fmla="*/ 1965 w 127"/>
                <a:gd name="T5" fmla="*/ 2 h 129"/>
                <a:gd name="T6" fmla="*/ 3101 w 127"/>
                <a:gd name="T7" fmla="*/ 2 h 129"/>
                <a:gd name="T8" fmla="*/ 4362 w 127"/>
                <a:gd name="T9" fmla="*/ 2 h 129"/>
                <a:gd name="T10" fmla="*/ 5742 w 127"/>
                <a:gd name="T11" fmla="*/ 2 h 129"/>
                <a:gd name="T12" fmla="*/ 6163 w 127"/>
                <a:gd name="T13" fmla="*/ 2 h 129"/>
                <a:gd name="T14" fmla="*/ 7433 w 127"/>
                <a:gd name="T15" fmla="*/ 2 h 129"/>
                <a:gd name="T16" fmla="*/ 8113 w 127"/>
                <a:gd name="T17" fmla="*/ 2 h 129"/>
                <a:gd name="T18" fmla="*/ 8743 w 127"/>
                <a:gd name="T19" fmla="*/ 2 h 129"/>
                <a:gd name="T20" fmla="*/ 10056 w 127"/>
                <a:gd name="T21" fmla="*/ 2 h 129"/>
                <a:gd name="T22" fmla="*/ 10056 w 127"/>
                <a:gd name="T23" fmla="*/ 2 h 129"/>
                <a:gd name="T24" fmla="*/ 11201 w 127"/>
                <a:gd name="T25" fmla="*/ 2 h 129"/>
                <a:gd name="T26" fmla="*/ 11201 w 127"/>
                <a:gd name="T27" fmla="*/ 2 h 129"/>
                <a:gd name="T28" fmla="*/ 11201 w 127"/>
                <a:gd name="T29" fmla="*/ 2 h 129"/>
                <a:gd name="T30" fmla="*/ 11775 w 127"/>
                <a:gd name="T31" fmla="*/ 2 h 129"/>
                <a:gd name="T32" fmla="*/ 13162 w 127"/>
                <a:gd name="T33" fmla="*/ 2 h 129"/>
                <a:gd name="T34" fmla="*/ 13162 w 127"/>
                <a:gd name="T35" fmla="*/ 2 h 129"/>
                <a:gd name="T36" fmla="*/ 13738 w 127"/>
                <a:gd name="T37" fmla="*/ 2 h 129"/>
                <a:gd name="T38" fmla="*/ 13738 w 127"/>
                <a:gd name="T39" fmla="*/ 2 h 129"/>
                <a:gd name="T40" fmla="*/ 14905 w 127"/>
                <a:gd name="T41" fmla="*/ 0 h 129"/>
                <a:gd name="T42" fmla="*/ 14905 w 127"/>
                <a:gd name="T43" fmla="*/ 2 h 129"/>
                <a:gd name="T44" fmla="*/ 14905 w 127"/>
                <a:gd name="T45" fmla="*/ 2 h 129"/>
                <a:gd name="T46" fmla="*/ 15548 w 127"/>
                <a:gd name="T47" fmla="*/ 2 h 129"/>
                <a:gd name="T48" fmla="*/ 15548 w 127"/>
                <a:gd name="T49" fmla="*/ 2 h 129"/>
                <a:gd name="T50" fmla="*/ 15548 w 127"/>
                <a:gd name="T51" fmla="*/ 2 h 129"/>
                <a:gd name="T52" fmla="*/ 16268 w 127"/>
                <a:gd name="T53" fmla="*/ 2 h 129"/>
                <a:gd name="T54" fmla="*/ 16268 w 127"/>
                <a:gd name="T55" fmla="*/ 2 h 129"/>
                <a:gd name="T56" fmla="*/ 16268 w 127"/>
                <a:gd name="T57" fmla="*/ 2 h 129"/>
                <a:gd name="T58" fmla="*/ 16268 w 127"/>
                <a:gd name="T59" fmla="*/ 2 h 129"/>
                <a:gd name="T60" fmla="*/ 16268 w 127"/>
                <a:gd name="T61" fmla="*/ 2 h 129"/>
                <a:gd name="T62" fmla="*/ 15548 w 127"/>
                <a:gd name="T63" fmla="*/ 2 h 129"/>
                <a:gd name="T64" fmla="*/ 14298 w 127"/>
                <a:gd name="T65" fmla="*/ 2 h 129"/>
                <a:gd name="T66" fmla="*/ 13738 w 127"/>
                <a:gd name="T67" fmla="*/ 2 h 129"/>
                <a:gd name="T68" fmla="*/ 12514 w 127"/>
                <a:gd name="T69" fmla="*/ 2 h 129"/>
                <a:gd name="T70" fmla="*/ 11201 w 127"/>
                <a:gd name="T71" fmla="*/ 2 h 129"/>
                <a:gd name="T72" fmla="*/ 10056 w 127"/>
                <a:gd name="T73" fmla="*/ 2 h 129"/>
                <a:gd name="T74" fmla="*/ 8743 w 127"/>
                <a:gd name="T75" fmla="*/ 2 h 129"/>
                <a:gd name="T76" fmla="*/ 7433 w 127"/>
                <a:gd name="T77" fmla="*/ 2 h 129"/>
                <a:gd name="T78" fmla="*/ 6163 w 127"/>
                <a:gd name="T79" fmla="*/ 2 h 129"/>
                <a:gd name="T80" fmla="*/ 4997 w 127"/>
                <a:gd name="T81" fmla="*/ 2 h 129"/>
                <a:gd name="T82" fmla="*/ 3755 w 127"/>
                <a:gd name="T83" fmla="*/ 2 h 129"/>
                <a:gd name="T84" fmla="*/ 2437 w 127"/>
                <a:gd name="T85" fmla="*/ 2 h 129"/>
                <a:gd name="T86" fmla="*/ 1273 w 127"/>
                <a:gd name="T87" fmla="*/ 2 h 129"/>
                <a:gd name="T88" fmla="*/ 0 w 127"/>
                <a:gd name="T89" fmla="*/ 2 h 129"/>
                <a:gd name="T90" fmla="*/ 8113 w 127"/>
                <a:gd name="T91" fmla="*/ 2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FF00"/>
            </a:solidFill>
            <a:ln w="25400" cap="rnd">
              <a:solidFill>
                <a:srgbClr val="FF0000"/>
              </a:solidFill>
              <a:round/>
              <a:headEnd/>
              <a:tailEnd/>
            </a:ln>
          </p:spPr>
          <p:txBody>
            <a:bodyPr/>
            <a:lstStyle/>
            <a:p>
              <a:endParaRPr lang="en-US">
                <a:latin typeface="Arial"/>
                <a:cs typeface="Arial"/>
              </a:endParaRPr>
            </a:p>
          </p:txBody>
        </p:sp>
      </p:grpSp>
      <p:sp>
        <p:nvSpPr>
          <p:cNvPr id="298" name="Text Box 218"/>
          <p:cNvSpPr txBox="1">
            <a:spLocks noChangeArrowheads="1"/>
          </p:cNvSpPr>
          <p:nvPr/>
        </p:nvSpPr>
        <p:spPr bwMode="auto">
          <a:xfrm>
            <a:off x="1306125" y="5411923"/>
            <a:ext cx="6662384" cy="1384869"/>
          </a:xfrm>
          <a:prstGeom prst="rect">
            <a:avLst/>
          </a:prstGeom>
          <a:noFill/>
          <a:ln w="38100" algn="ctr">
            <a:noFill/>
            <a:miter lim="800000"/>
            <a:headEnd/>
            <a:tailEnd/>
          </a:ln>
        </p:spPr>
        <p:txBody>
          <a:bodyPr wrap="square" lIns="91311" tIns="45658" rIns="91311" bIns="45658">
            <a:spAutoFit/>
          </a:bodyPr>
          <a:lstStyle/>
          <a:p>
            <a:pPr algn="ctr">
              <a:spcBef>
                <a:spcPct val="0"/>
              </a:spcBef>
            </a:pPr>
            <a:r>
              <a:rPr lang="en-US" sz="2800" dirty="0">
                <a:latin typeface="Arial"/>
                <a:cs typeface="Arial"/>
              </a:rPr>
              <a:t>Tree requires a major coordination effort: multiple CAS operations, cache-misses, etc</a:t>
            </a:r>
          </a:p>
        </p:txBody>
      </p:sp>
    </p:spTree>
    <p:extLst>
      <p:ext uri="{BB962C8B-B14F-4D97-AF65-F5344CB8AC3E}">
        <p14:creationId xmlns:p14="http://schemas.microsoft.com/office/powerpoint/2010/main" val="172145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 grpId="0"/>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55652" y="404813"/>
            <a:ext cx="7772400" cy="1143000"/>
          </a:xfrm>
        </p:spPr>
        <p:txBody>
          <a:bodyPr/>
          <a:lstStyle/>
          <a:p>
            <a:r>
              <a:rPr lang="en-US" dirty="0" err="1"/>
              <a:t>Oyama</a:t>
            </a:r>
            <a:r>
              <a:rPr lang="en-US" dirty="0"/>
              <a:t> et. al </a:t>
            </a:r>
            <a:r>
              <a:rPr lang="en-US" dirty="0" err="1"/>
              <a:t>Mutex</a:t>
            </a:r>
            <a:endParaRPr lang="en-US" dirty="0"/>
          </a:p>
        </p:txBody>
      </p:sp>
      <p:grpSp>
        <p:nvGrpSpPr>
          <p:cNvPr id="2" name="Group 3"/>
          <p:cNvGrpSpPr>
            <a:grpSpLocks/>
          </p:cNvGrpSpPr>
          <p:nvPr/>
        </p:nvGrpSpPr>
        <p:grpSpPr bwMode="auto">
          <a:xfrm>
            <a:off x="3218304" y="2964740"/>
            <a:ext cx="459821" cy="706437"/>
            <a:chOff x="1029" y="2668"/>
            <a:chExt cx="363" cy="445"/>
          </a:xfrm>
        </p:grpSpPr>
        <p:grpSp>
          <p:nvGrpSpPr>
            <p:cNvPr id="3" name="Group 4"/>
            <p:cNvGrpSpPr>
              <a:grpSpLocks/>
            </p:cNvGrpSpPr>
            <p:nvPr/>
          </p:nvGrpSpPr>
          <p:grpSpPr bwMode="auto">
            <a:xfrm>
              <a:off x="1101" y="2668"/>
              <a:ext cx="217" cy="238"/>
              <a:chOff x="1075" y="2731"/>
              <a:chExt cx="244" cy="166"/>
            </a:xfrm>
          </p:grpSpPr>
          <p:sp>
            <p:nvSpPr>
              <p:cNvPr id="14393" name="Oval 5"/>
              <p:cNvSpPr>
                <a:spLocks noChangeArrowheads="1"/>
              </p:cNvSpPr>
              <p:nvPr/>
            </p:nvSpPr>
            <p:spPr bwMode="auto">
              <a:xfrm>
                <a:off x="1075" y="2731"/>
                <a:ext cx="244" cy="166"/>
              </a:xfrm>
              <a:prstGeom prst="ellipse">
                <a:avLst/>
              </a:prstGeom>
              <a:solidFill>
                <a:schemeClr val="tx1"/>
              </a:solidFill>
              <a:ln w="12700">
                <a:solidFill>
                  <a:schemeClr val="tx2"/>
                </a:solidFill>
                <a:round/>
                <a:headEnd/>
                <a:tailEnd/>
              </a:ln>
            </p:spPr>
            <p:txBody>
              <a:bodyPr wrap="none" anchor="ctr"/>
              <a:lstStyle/>
              <a:p>
                <a:endParaRPr lang="en-US">
                  <a:latin typeface="Arial"/>
                  <a:cs typeface="Arial"/>
                </a:endParaRPr>
              </a:p>
            </p:txBody>
          </p:sp>
          <p:sp>
            <p:nvSpPr>
              <p:cNvPr id="14394" name="Oval 6"/>
              <p:cNvSpPr>
                <a:spLocks noChangeArrowheads="1"/>
              </p:cNvSpPr>
              <p:nvPr/>
            </p:nvSpPr>
            <p:spPr bwMode="auto">
              <a:xfrm>
                <a:off x="1135" y="2750"/>
                <a:ext cx="158" cy="112"/>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grpSp>
        <p:sp>
          <p:nvSpPr>
            <p:cNvPr id="14390" name="Rectangle 7"/>
            <p:cNvSpPr>
              <a:spLocks noChangeArrowheads="1"/>
            </p:cNvSpPr>
            <p:nvPr/>
          </p:nvSpPr>
          <p:spPr bwMode="auto">
            <a:xfrm>
              <a:off x="1029" y="2795"/>
              <a:ext cx="363" cy="318"/>
            </a:xfrm>
            <a:prstGeom prst="rect">
              <a:avLst/>
            </a:prstGeom>
            <a:solidFill>
              <a:srgbClr val="00FFCC"/>
            </a:solidFill>
            <a:ln w="9525">
              <a:solidFill>
                <a:schemeClr val="tx1"/>
              </a:solidFill>
              <a:miter lim="800000"/>
              <a:headEnd/>
              <a:tailEnd/>
            </a:ln>
          </p:spPr>
          <p:txBody>
            <a:bodyPr wrap="none" anchor="ctr"/>
            <a:lstStyle/>
            <a:p>
              <a:endParaRPr lang="en-US">
                <a:latin typeface="Arial"/>
                <a:cs typeface="Arial"/>
              </a:endParaRPr>
            </a:p>
          </p:txBody>
        </p:sp>
        <p:sp>
          <p:nvSpPr>
            <p:cNvPr id="14391" name="Oval 8"/>
            <p:cNvSpPr>
              <a:spLocks noChangeArrowheads="1"/>
            </p:cNvSpPr>
            <p:nvPr/>
          </p:nvSpPr>
          <p:spPr bwMode="auto">
            <a:xfrm>
              <a:off x="1151" y="2880"/>
              <a:ext cx="141" cy="65"/>
            </a:xfrm>
            <a:prstGeom prst="ellipse">
              <a:avLst/>
            </a:prstGeom>
            <a:solidFill>
              <a:schemeClr val="tx1"/>
            </a:solidFill>
            <a:ln w="25400">
              <a:noFill/>
              <a:round/>
              <a:headEnd/>
              <a:tailEnd/>
            </a:ln>
          </p:spPr>
          <p:txBody>
            <a:bodyPr wrap="none" anchor="ctr"/>
            <a:lstStyle/>
            <a:p>
              <a:endParaRPr lang="en-US">
                <a:latin typeface="Arial"/>
                <a:cs typeface="Arial"/>
              </a:endParaRPr>
            </a:p>
          </p:txBody>
        </p:sp>
        <p:sp>
          <p:nvSpPr>
            <p:cNvPr id="14392" name="AutoShape 9"/>
            <p:cNvSpPr>
              <a:spLocks noChangeArrowheads="1"/>
            </p:cNvSpPr>
            <p:nvPr/>
          </p:nvSpPr>
          <p:spPr bwMode="auto">
            <a:xfrm flipV="1">
              <a:off x="1151" y="2915"/>
              <a:ext cx="139" cy="1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6 w 21600"/>
                <a:gd name="T13" fmla="*/ 4441 h 21600"/>
                <a:gd name="T14" fmla="*/ 17094 w 21600"/>
                <a:gd name="T15" fmla="*/ 17159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tx1"/>
            </a:solidFill>
            <a:ln w="25400">
              <a:noFill/>
              <a:miter lim="800000"/>
              <a:headEnd/>
              <a:tailEnd/>
            </a:ln>
          </p:spPr>
          <p:txBody>
            <a:bodyPr wrap="none" anchor="ctr"/>
            <a:lstStyle/>
            <a:p>
              <a:endParaRPr lang="en-US">
                <a:latin typeface="Arial"/>
                <a:cs typeface="Arial"/>
              </a:endParaRPr>
            </a:p>
          </p:txBody>
        </p:sp>
      </p:grpSp>
      <p:sp>
        <p:nvSpPr>
          <p:cNvPr id="14340" name="Text Box 11"/>
          <p:cNvSpPr txBox="1">
            <a:spLocks noChangeArrowheads="1"/>
          </p:cNvSpPr>
          <p:nvPr/>
        </p:nvSpPr>
        <p:spPr bwMode="auto">
          <a:xfrm>
            <a:off x="2303846" y="2572806"/>
            <a:ext cx="1049526" cy="837027"/>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object </a:t>
            </a:r>
          </a:p>
          <a:p>
            <a:pPr algn="l"/>
            <a:r>
              <a:rPr lang="en-US" sz="2200" dirty="0">
                <a:latin typeface="Arial"/>
                <a:cs typeface="Arial"/>
              </a:rPr>
              <a:t>lock</a:t>
            </a:r>
          </a:p>
        </p:txBody>
      </p:sp>
      <p:grpSp>
        <p:nvGrpSpPr>
          <p:cNvPr id="5" name="Group 13"/>
          <p:cNvGrpSpPr>
            <a:grpSpLocks/>
          </p:cNvGrpSpPr>
          <p:nvPr/>
        </p:nvGrpSpPr>
        <p:grpSpPr bwMode="auto">
          <a:xfrm>
            <a:off x="4461150" y="4533712"/>
            <a:ext cx="886522" cy="434886"/>
            <a:chOff x="1488" y="1872"/>
            <a:chExt cx="672" cy="367"/>
          </a:xfrm>
        </p:grpSpPr>
        <p:sp>
          <p:nvSpPr>
            <p:cNvPr id="14386" name="Rectangle 14"/>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4387" name="Line 15"/>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4388" name="Text Box 16"/>
            <p:cNvSpPr txBox="1">
              <a:spLocks noChangeArrowheads="1"/>
            </p:cNvSpPr>
            <p:nvPr/>
          </p:nvSpPr>
          <p:spPr bwMode="auto">
            <a:xfrm>
              <a:off x="1537" y="1872"/>
              <a:ext cx="241" cy="335"/>
            </a:xfrm>
            <a:prstGeom prst="rect">
              <a:avLst/>
            </a:prstGeom>
            <a:noFill/>
            <a:ln w="9525">
              <a:noFill/>
              <a:miter lim="800000"/>
              <a:headEnd/>
              <a:tailEnd/>
            </a:ln>
          </p:spPr>
          <p:txBody>
            <a:bodyPr>
              <a:spAutoFit/>
            </a:bodyPr>
            <a:lstStyle/>
            <a:p>
              <a:r>
                <a:rPr lang="en-US" sz="2000" dirty="0">
                  <a:latin typeface="Arial"/>
                  <a:cs typeface="Arial"/>
                </a:rPr>
                <a:t>b</a:t>
              </a:r>
              <a:endParaRPr lang="en-US" sz="1600" dirty="0">
                <a:latin typeface="Arial"/>
                <a:cs typeface="Arial"/>
              </a:endParaRPr>
            </a:p>
          </p:txBody>
        </p:sp>
      </p:grpSp>
      <p:sp>
        <p:nvSpPr>
          <p:cNvPr id="14353" name="Line 17"/>
          <p:cNvSpPr>
            <a:spLocks noChangeShapeType="1"/>
          </p:cNvSpPr>
          <p:nvPr/>
        </p:nvSpPr>
        <p:spPr bwMode="auto">
          <a:xfrm>
            <a:off x="5158112" y="4761266"/>
            <a:ext cx="696964"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6" name="Group 18"/>
          <p:cNvGrpSpPr>
            <a:grpSpLocks/>
          </p:cNvGrpSpPr>
          <p:nvPr/>
        </p:nvGrpSpPr>
        <p:grpSpPr bwMode="auto">
          <a:xfrm>
            <a:off x="5837843" y="4533712"/>
            <a:ext cx="886522" cy="434886"/>
            <a:chOff x="1488" y="1872"/>
            <a:chExt cx="672" cy="367"/>
          </a:xfrm>
        </p:grpSpPr>
        <p:sp>
          <p:nvSpPr>
            <p:cNvPr id="14383" name="Rectangle 19"/>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4384" name="Line 20"/>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4385" name="Text Box 21"/>
            <p:cNvSpPr txBox="1">
              <a:spLocks noChangeArrowheads="1"/>
            </p:cNvSpPr>
            <p:nvPr/>
          </p:nvSpPr>
          <p:spPr bwMode="auto">
            <a:xfrm>
              <a:off x="1537" y="1872"/>
              <a:ext cx="241" cy="335"/>
            </a:xfrm>
            <a:prstGeom prst="rect">
              <a:avLst/>
            </a:prstGeom>
            <a:noFill/>
            <a:ln w="9525">
              <a:noFill/>
              <a:miter lim="800000"/>
              <a:headEnd/>
              <a:tailEnd/>
            </a:ln>
          </p:spPr>
          <p:txBody>
            <a:bodyPr>
              <a:spAutoFit/>
            </a:bodyPr>
            <a:lstStyle/>
            <a:p>
              <a:r>
                <a:rPr lang="en-US" sz="2000" dirty="0">
                  <a:latin typeface="Arial"/>
                  <a:cs typeface="Arial"/>
                </a:rPr>
                <a:t>c</a:t>
              </a:r>
              <a:endParaRPr lang="en-US" sz="1600" dirty="0">
                <a:latin typeface="Arial"/>
                <a:cs typeface="Arial"/>
              </a:endParaRPr>
            </a:p>
          </p:txBody>
        </p:sp>
      </p:grpSp>
      <p:grpSp>
        <p:nvGrpSpPr>
          <p:cNvPr id="7" name="Group 22"/>
          <p:cNvGrpSpPr>
            <a:grpSpLocks/>
          </p:cNvGrpSpPr>
          <p:nvPr/>
        </p:nvGrpSpPr>
        <p:grpSpPr bwMode="auto">
          <a:xfrm>
            <a:off x="7212623" y="4533712"/>
            <a:ext cx="886522" cy="434886"/>
            <a:chOff x="1488" y="1872"/>
            <a:chExt cx="672" cy="367"/>
          </a:xfrm>
        </p:grpSpPr>
        <p:sp>
          <p:nvSpPr>
            <p:cNvPr id="14380" name="Rectangle 23"/>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4381" name="Line 24"/>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4382" name="Text Box 25"/>
            <p:cNvSpPr txBox="1">
              <a:spLocks noChangeArrowheads="1"/>
            </p:cNvSpPr>
            <p:nvPr/>
          </p:nvSpPr>
          <p:spPr bwMode="auto">
            <a:xfrm>
              <a:off x="1537" y="1872"/>
              <a:ext cx="241" cy="335"/>
            </a:xfrm>
            <a:prstGeom prst="rect">
              <a:avLst/>
            </a:prstGeom>
            <a:noFill/>
            <a:ln w="9525">
              <a:noFill/>
              <a:miter lim="800000"/>
              <a:headEnd/>
              <a:tailEnd/>
            </a:ln>
          </p:spPr>
          <p:txBody>
            <a:bodyPr>
              <a:spAutoFit/>
            </a:bodyPr>
            <a:lstStyle/>
            <a:p>
              <a:r>
                <a:rPr lang="en-US" sz="2000" dirty="0">
                  <a:latin typeface="Arial"/>
                  <a:cs typeface="Arial"/>
                </a:rPr>
                <a:t>d</a:t>
              </a:r>
              <a:endParaRPr lang="en-US" sz="1600" dirty="0">
                <a:latin typeface="Arial"/>
                <a:cs typeface="Arial"/>
              </a:endParaRPr>
            </a:p>
          </p:txBody>
        </p:sp>
      </p:grpSp>
      <p:sp>
        <p:nvSpPr>
          <p:cNvPr id="14356" name="Line 26"/>
          <p:cNvSpPr>
            <a:spLocks noChangeShapeType="1"/>
          </p:cNvSpPr>
          <p:nvPr/>
        </p:nvSpPr>
        <p:spPr bwMode="auto">
          <a:xfrm flipV="1">
            <a:off x="7656844" y="4589334"/>
            <a:ext cx="442304" cy="364090"/>
          </a:xfrm>
          <a:prstGeom prst="line">
            <a:avLst/>
          </a:prstGeom>
          <a:noFill/>
          <a:ln w="9525">
            <a:solidFill>
              <a:schemeClr val="tx1"/>
            </a:solidFill>
            <a:round/>
            <a:headEnd/>
            <a:tailEnd/>
          </a:ln>
        </p:spPr>
        <p:txBody>
          <a:bodyPr wrap="none" lIns="82840" tIns="41421" rIns="82840" bIns="41421" anchor="ctr"/>
          <a:lstStyle/>
          <a:p>
            <a:endParaRPr lang="en-US">
              <a:latin typeface="Arial"/>
              <a:cs typeface="Arial"/>
            </a:endParaRPr>
          </a:p>
        </p:txBody>
      </p:sp>
      <p:sp>
        <p:nvSpPr>
          <p:cNvPr id="14360" name="Text Box 32"/>
          <p:cNvSpPr txBox="1">
            <a:spLocks noChangeArrowheads="1"/>
          </p:cNvSpPr>
          <p:nvPr/>
        </p:nvSpPr>
        <p:spPr bwMode="auto">
          <a:xfrm>
            <a:off x="3958377" y="3178485"/>
            <a:ext cx="864216" cy="422205"/>
          </a:xfrm>
          <a:prstGeom prst="rect">
            <a:avLst/>
          </a:prstGeom>
          <a:noFill/>
          <a:ln w="9525">
            <a:noFill/>
            <a:miter lim="800000"/>
            <a:headEnd/>
            <a:tailEnd/>
          </a:ln>
        </p:spPr>
        <p:txBody>
          <a:bodyPr wrap="none" lIns="82840" tIns="41421" rIns="82840" bIns="41421">
            <a:spAutoFit/>
          </a:bodyPr>
          <a:lstStyle/>
          <a:p>
            <a:r>
              <a:rPr lang="en-US" sz="2200" dirty="0">
                <a:latin typeface="Arial"/>
                <a:cs typeface="Arial"/>
              </a:rPr>
              <a:t>Head</a:t>
            </a:r>
          </a:p>
        </p:txBody>
      </p:sp>
      <p:sp>
        <p:nvSpPr>
          <p:cNvPr id="14361"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362" name="Freeform 34"/>
          <p:cNvSpPr>
            <a:spLocks/>
          </p:cNvSpPr>
          <p:nvPr/>
        </p:nvSpPr>
        <p:spPr bwMode="auto">
          <a:xfrm>
            <a:off x="4394019" y="3813958"/>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grpSp>
        <p:nvGrpSpPr>
          <p:cNvPr id="9" name="Group 35"/>
          <p:cNvGrpSpPr>
            <a:grpSpLocks/>
          </p:cNvGrpSpPr>
          <p:nvPr/>
        </p:nvGrpSpPr>
        <p:grpSpPr bwMode="auto">
          <a:xfrm>
            <a:off x="3162963" y="4530351"/>
            <a:ext cx="886522" cy="438257"/>
            <a:chOff x="1488" y="1870"/>
            <a:chExt cx="672" cy="369"/>
          </a:xfrm>
        </p:grpSpPr>
        <p:sp>
          <p:nvSpPr>
            <p:cNvPr id="14375" name="Rectangle 36"/>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4376" name="Line 37"/>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4377" name="Text Box 38"/>
            <p:cNvSpPr txBox="1">
              <a:spLocks noChangeArrowheads="1"/>
            </p:cNvSpPr>
            <p:nvPr/>
          </p:nvSpPr>
          <p:spPr bwMode="auto">
            <a:xfrm>
              <a:off x="1537" y="1870"/>
              <a:ext cx="238" cy="334"/>
            </a:xfrm>
            <a:prstGeom prst="rect">
              <a:avLst/>
            </a:prstGeom>
            <a:noFill/>
            <a:ln w="9525">
              <a:noFill/>
              <a:miter lim="800000"/>
              <a:headEnd/>
              <a:tailEnd/>
            </a:ln>
          </p:spPr>
          <p:txBody>
            <a:bodyPr>
              <a:spAutoFit/>
            </a:bodyPr>
            <a:lstStyle/>
            <a:p>
              <a:r>
                <a:rPr lang="en-US" sz="2000" dirty="0">
                  <a:latin typeface="Arial"/>
                  <a:cs typeface="Arial"/>
                </a:rPr>
                <a:t>a</a:t>
              </a:r>
              <a:endParaRPr lang="en-US" sz="1600" dirty="0">
                <a:latin typeface="Arial"/>
                <a:cs typeface="Arial"/>
              </a:endParaRPr>
            </a:p>
          </p:txBody>
        </p:sp>
      </p:grpSp>
      <p:sp>
        <p:nvSpPr>
          <p:cNvPr id="14364" name="Freeform 39"/>
          <p:cNvSpPr>
            <a:spLocks/>
          </p:cNvSpPr>
          <p:nvPr/>
        </p:nvSpPr>
        <p:spPr bwMode="auto">
          <a:xfrm>
            <a:off x="3582297" y="3832499"/>
            <a:ext cx="716111" cy="755151"/>
          </a:xfrm>
          <a:custGeom>
            <a:avLst/>
            <a:gdLst>
              <a:gd name="T0" fmla="*/ 1 w 590"/>
              <a:gd name="T1" fmla="*/ 0 h 952"/>
              <a:gd name="T2" fmla="*/ 1 w 590"/>
              <a:gd name="T3" fmla="*/ 0 h 952"/>
              <a:gd name="T4" fmla="*/ 0 w 590"/>
              <a:gd name="T5" fmla="*/ 0 h 952"/>
              <a:gd name="T6" fmla="*/ 0 60000 65536"/>
              <a:gd name="T7" fmla="*/ 0 60000 65536"/>
              <a:gd name="T8" fmla="*/ 0 60000 65536"/>
              <a:gd name="T9" fmla="*/ 0 w 590"/>
              <a:gd name="T10" fmla="*/ 0 h 952"/>
              <a:gd name="T11" fmla="*/ 590 w 590"/>
              <a:gd name="T12" fmla="*/ 952 h 952"/>
            </a:gdLst>
            <a:ahLst/>
            <a:cxnLst>
              <a:cxn ang="T6">
                <a:pos x="T0" y="T1"/>
              </a:cxn>
              <a:cxn ang="T7">
                <a:pos x="T2" y="T3"/>
              </a:cxn>
              <a:cxn ang="T8">
                <a:pos x="T4" y="T5"/>
              </a:cxn>
            </a:cxnLst>
            <a:rect l="T9" t="T10" r="T11" b="T12"/>
            <a:pathLst>
              <a:path w="590" h="952">
                <a:moveTo>
                  <a:pt x="590" y="0"/>
                </a:moveTo>
                <a:cubicBezTo>
                  <a:pt x="412" y="124"/>
                  <a:pt x="234" y="249"/>
                  <a:pt x="136" y="408"/>
                </a:cubicBezTo>
                <a:cubicBezTo>
                  <a:pt x="38" y="567"/>
                  <a:pt x="19" y="759"/>
                  <a:pt x="0" y="952"/>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4365" name="Line 40"/>
          <p:cNvSpPr>
            <a:spLocks noChangeShapeType="1"/>
          </p:cNvSpPr>
          <p:nvPr/>
        </p:nvSpPr>
        <p:spPr bwMode="auto">
          <a:xfrm flipV="1">
            <a:off x="3819724" y="4749467"/>
            <a:ext cx="658669" cy="0"/>
          </a:xfrm>
          <a:prstGeom prst="line">
            <a:avLst/>
          </a:pr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4370" name="Line 47"/>
          <p:cNvSpPr>
            <a:spLocks noChangeShapeType="1"/>
          </p:cNvSpPr>
          <p:nvPr/>
        </p:nvSpPr>
        <p:spPr bwMode="auto">
          <a:xfrm>
            <a:off x="6494597" y="4801721"/>
            <a:ext cx="696964"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sp>
        <p:nvSpPr>
          <p:cNvPr id="60" name="Text Box 11"/>
          <p:cNvSpPr txBox="1">
            <a:spLocks noChangeArrowheads="1"/>
          </p:cNvSpPr>
          <p:nvPr/>
        </p:nvSpPr>
        <p:spPr bwMode="auto">
          <a:xfrm>
            <a:off x="1258769" y="3552660"/>
            <a:ext cx="1049526" cy="430762"/>
          </a:xfrm>
          <a:prstGeom prst="rect">
            <a:avLst/>
          </a:prstGeom>
          <a:noFill/>
          <a:ln w="9525">
            <a:noFill/>
            <a:miter lim="800000"/>
            <a:headEnd/>
            <a:tailEnd/>
          </a:ln>
        </p:spPr>
        <p:txBody>
          <a:bodyPr wrap="none" lIns="91311" tIns="45658" rIns="91311" bIns="45658">
            <a:spAutoFit/>
          </a:bodyPr>
          <a:lstStyle/>
          <a:p>
            <a:r>
              <a:rPr lang="en-US" sz="2200" dirty="0">
                <a:latin typeface="Arial"/>
                <a:cs typeface="Arial"/>
              </a:rPr>
              <a:t>object</a:t>
            </a:r>
          </a:p>
        </p:txBody>
      </p:sp>
      <p:grpSp>
        <p:nvGrpSpPr>
          <p:cNvPr id="61" name="Group 77"/>
          <p:cNvGrpSpPr>
            <a:grpSpLocks/>
          </p:cNvGrpSpPr>
          <p:nvPr/>
        </p:nvGrpSpPr>
        <p:grpSpPr bwMode="auto">
          <a:xfrm flipH="1">
            <a:off x="4067419" y="2180849"/>
            <a:ext cx="865440" cy="688392"/>
            <a:chOff x="1584" y="816"/>
            <a:chExt cx="912" cy="816"/>
          </a:xfrm>
        </p:grpSpPr>
        <p:sp>
          <p:nvSpPr>
            <p:cNvPr id="6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71" name="Group 77"/>
          <p:cNvGrpSpPr>
            <a:grpSpLocks/>
          </p:cNvGrpSpPr>
          <p:nvPr/>
        </p:nvGrpSpPr>
        <p:grpSpPr bwMode="auto">
          <a:xfrm flipH="1">
            <a:off x="4328689" y="2638124"/>
            <a:ext cx="865440" cy="688392"/>
            <a:chOff x="1584" y="816"/>
            <a:chExt cx="912" cy="816"/>
          </a:xfrm>
        </p:grpSpPr>
        <p:sp>
          <p:nvSpPr>
            <p:cNvPr id="7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8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87" name="Rectangle 33"/>
          <p:cNvSpPr>
            <a:spLocks noChangeArrowheads="1"/>
          </p:cNvSpPr>
          <p:nvPr/>
        </p:nvSpPr>
        <p:spPr bwMode="auto">
          <a:xfrm>
            <a:off x="866864" y="4009930"/>
            <a:ext cx="1698255" cy="1175838"/>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88" name="Freeform 34"/>
          <p:cNvSpPr>
            <a:spLocks/>
          </p:cNvSpPr>
          <p:nvPr/>
        </p:nvSpPr>
        <p:spPr bwMode="auto">
          <a:xfrm>
            <a:off x="4459324" y="3813957"/>
            <a:ext cx="1371667" cy="849217"/>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89" name="Text Box 11"/>
          <p:cNvSpPr txBox="1">
            <a:spLocks noChangeArrowheads="1"/>
          </p:cNvSpPr>
          <p:nvPr/>
        </p:nvSpPr>
        <p:spPr bwMode="auto">
          <a:xfrm>
            <a:off x="4647216" y="3617985"/>
            <a:ext cx="967560"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sp>
        <p:nvSpPr>
          <p:cNvPr id="90" name="Text Box 11"/>
          <p:cNvSpPr txBox="1">
            <a:spLocks noChangeArrowheads="1"/>
          </p:cNvSpPr>
          <p:nvPr/>
        </p:nvSpPr>
        <p:spPr bwMode="auto">
          <a:xfrm>
            <a:off x="3014282" y="3748633"/>
            <a:ext cx="967560"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grpSp>
        <p:nvGrpSpPr>
          <p:cNvPr id="92" name="Group 77"/>
          <p:cNvGrpSpPr>
            <a:grpSpLocks/>
          </p:cNvGrpSpPr>
          <p:nvPr/>
        </p:nvGrpSpPr>
        <p:grpSpPr bwMode="auto">
          <a:xfrm flipH="1">
            <a:off x="3871467" y="1788902"/>
            <a:ext cx="865440" cy="688392"/>
            <a:chOff x="1584" y="816"/>
            <a:chExt cx="912" cy="816"/>
          </a:xfrm>
        </p:grpSpPr>
        <p:sp>
          <p:nvSpPr>
            <p:cNvPr id="9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5"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9"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0"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1"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02" name="Text Box 11"/>
          <p:cNvSpPr txBox="1">
            <a:spLocks noChangeArrowheads="1"/>
          </p:cNvSpPr>
          <p:nvPr/>
        </p:nvSpPr>
        <p:spPr bwMode="auto">
          <a:xfrm>
            <a:off x="866863" y="5381753"/>
            <a:ext cx="2598478" cy="837027"/>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Apply </a:t>
            </a:r>
            <a:r>
              <a:rPr lang="en-US" sz="2200" dirty="0" err="1">
                <a:latin typeface="Arial"/>
                <a:cs typeface="Arial"/>
              </a:rPr>
              <a:t>a,b,c</a:t>
            </a:r>
            <a:r>
              <a:rPr lang="en-US" sz="2200" dirty="0">
                <a:latin typeface="Arial"/>
                <a:cs typeface="Arial"/>
              </a:rPr>
              <a:t>, and d</a:t>
            </a:r>
          </a:p>
          <a:p>
            <a:pPr algn="l"/>
            <a:r>
              <a:rPr lang="en-US" sz="2200" dirty="0">
                <a:latin typeface="Arial"/>
                <a:cs typeface="Arial"/>
              </a:rPr>
              <a:t> to object</a:t>
            </a:r>
          </a:p>
        </p:txBody>
      </p:sp>
      <p:sp>
        <p:nvSpPr>
          <p:cNvPr id="103" name="Text Box 11"/>
          <p:cNvSpPr txBox="1">
            <a:spLocks noChangeArrowheads="1"/>
          </p:cNvSpPr>
          <p:nvPr/>
        </p:nvSpPr>
        <p:spPr bwMode="auto">
          <a:xfrm>
            <a:off x="5700359" y="5512393"/>
            <a:ext cx="2472842"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return responses</a:t>
            </a:r>
          </a:p>
        </p:txBody>
      </p:sp>
      <p:sp>
        <p:nvSpPr>
          <p:cNvPr id="105" name="Text Box 11"/>
          <p:cNvSpPr txBox="1">
            <a:spLocks noChangeArrowheads="1"/>
          </p:cNvSpPr>
          <p:nvPr/>
        </p:nvSpPr>
        <p:spPr bwMode="auto">
          <a:xfrm>
            <a:off x="5122957" y="1816483"/>
            <a:ext cx="1893983"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Release lock</a:t>
            </a:r>
          </a:p>
        </p:txBody>
      </p:sp>
      <p:grpSp>
        <p:nvGrpSpPr>
          <p:cNvPr id="106" name="Group 50"/>
          <p:cNvGrpSpPr>
            <a:grpSpLocks/>
          </p:cNvGrpSpPr>
          <p:nvPr/>
        </p:nvGrpSpPr>
        <p:grpSpPr bwMode="auto">
          <a:xfrm>
            <a:off x="4198054" y="2899416"/>
            <a:ext cx="555855" cy="700088"/>
            <a:chOff x="2160" y="1548"/>
            <a:chExt cx="309" cy="441"/>
          </a:xfrm>
        </p:grpSpPr>
        <p:sp>
          <p:nvSpPr>
            <p:cNvPr id="107" name="Freeform 51"/>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endParaRPr lang="en-US">
                <a:latin typeface="Arial"/>
                <a:cs typeface="Arial"/>
              </a:endParaRPr>
            </a:p>
          </p:txBody>
        </p:sp>
        <p:sp>
          <p:nvSpPr>
            <p:cNvPr id="108" name="Freeform 52"/>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109" name="Freeform 53"/>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110" name="Freeform 54"/>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111" name="Freeform 55"/>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endParaRPr lang="en-US">
                <a:latin typeface="Arial"/>
                <a:cs typeface="Arial"/>
              </a:endParaRPr>
            </a:p>
          </p:txBody>
        </p:sp>
        <p:sp>
          <p:nvSpPr>
            <p:cNvPr id="112" name="Freeform 56"/>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endParaRPr lang="en-US">
                <a:latin typeface="Arial"/>
                <a:cs typeface="Arial"/>
              </a:endParaRPr>
            </a:p>
          </p:txBody>
        </p:sp>
        <p:sp>
          <p:nvSpPr>
            <p:cNvPr id="113" name="Freeform 57"/>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endParaRPr lang="en-US">
                <a:latin typeface="Arial"/>
                <a:cs typeface="Arial"/>
              </a:endParaRPr>
            </a:p>
          </p:txBody>
        </p:sp>
      </p:grpSp>
      <p:grpSp>
        <p:nvGrpSpPr>
          <p:cNvPr id="11" name="Group 50"/>
          <p:cNvGrpSpPr>
            <a:grpSpLocks/>
          </p:cNvGrpSpPr>
          <p:nvPr/>
        </p:nvGrpSpPr>
        <p:grpSpPr bwMode="auto">
          <a:xfrm>
            <a:off x="3218295" y="2572794"/>
            <a:ext cx="555855" cy="700088"/>
            <a:chOff x="2160" y="1548"/>
            <a:chExt cx="309" cy="441"/>
          </a:xfrm>
        </p:grpSpPr>
        <p:sp>
          <p:nvSpPr>
            <p:cNvPr id="14345" name="Freeform 51"/>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endParaRPr lang="en-US">
                <a:latin typeface="Arial"/>
                <a:cs typeface="Arial"/>
              </a:endParaRPr>
            </a:p>
          </p:txBody>
        </p:sp>
        <p:sp>
          <p:nvSpPr>
            <p:cNvPr id="14346" name="Freeform 52"/>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14347" name="Freeform 53"/>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14348" name="Freeform 54"/>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14349" name="Freeform 55"/>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endParaRPr lang="en-US">
                <a:latin typeface="Arial"/>
                <a:cs typeface="Arial"/>
              </a:endParaRPr>
            </a:p>
          </p:txBody>
        </p:sp>
        <p:sp>
          <p:nvSpPr>
            <p:cNvPr id="14350" name="Freeform 56"/>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endParaRPr lang="en-US">
                <a:latin typeface="Arial"/>
                <a:cs typeface="Arial"/>
              </a:endParaRPr>
            </a:p>
          </p:txBody>
        </p:sp>
        <p:sp>
          <p:nvSpPr>
            <p:cNvPr id="14351" name="Freeform 57"/>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endParaRPr lang="en-US">
                <a:latin typeface="Arial"/>
                <a:cs typeface="Arial"/>
              </a:endParaRPr>
            </a:p>
          </p:txBody>
        </p:sp>
      </p:grpSp>
      <p:sp>
        <p:nvSpPr>
          <p:cNvPr id="115" name="Text Box 11"/>
          <p:cNvSpPr txBox="1">
            <a:spLocks noChangeArrowheads="1"/>
          </p:cNvSpPr>
          <p:nvPr/>
        </p:nvSpPr>
        <p:spPr bwMode="auto">
          <a:xfrm>
            <a:off x="5355814" y="2318486"/>
            <a:ext cx="3006242" cy="1209437"/>
          </a:xfrm>
          <a:prstGeom prst="rect">
            <a:avLst/>
          </a:prstGeom>
          <a:noFill/>
          <a:ln w="9525">
            <a:noFill/>
            <a:miter lim="800000"/>
            <a:headEnd/>
            <a:tailEnd/>
          </a:ln>
        </p:spPr>
        <p:txBody>
          <a:bodyPr wrap="none" lIns="91311" tIns="45658" rIns="91311" bIns="45658">
            <a:spAutoFit/>
          </a:bodyPr>
          <a:lstStyle/>
          <a:p>
            <a:pPr algn="l"/>
            <a:r>
              <a:rPr lang="en-US" sz="3300" dirty="0">
                <a:solidFill>
                  <a:srgbClr val="FF0000"/>
                </a:solidFill>
                <a:latin typeface="Arial"/>
                <a:cs typeface="Arial"/>
              </a:rPr>
              <a:t>every request </a:t>
            </a:r>
          </a:p>
          <a:p>
            <a:pPr algn="l"/>
            <a:r>
              <a:rPr lang="en-US" sz="3300" dirty="0">
                <a:solidFill>
                  <a:srgbClr val="FF0000"/>
                </a:solidFill>
                <a:latin typeface="Arial"/>
                <a:cs typeface="Arial"/>
              </a:rPr>
              <a:t>involves CAS</a:t>
            </a:r>
          </a:p>
        </p:txBody>
      </p:sp>
    </p:spTree>
    <p:extLst>
      <p:ext uri="{BB962C8B-B14F-4D97-AF65-F5344CB8AC3E}">
        <p14:creationId xmlns:p14="http://schemas.microsoft.com/office/powerpoint/2010/main" val="89343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7.75083E-6 -4.48508E-6 C -0.00834 0.00568 -0.01433 0.01345 -0.02173 0.02102 C -0.02771 0.02711 -0.0348 0.03174 -0.03953 0.03951 C -0.04866 0.05486 -0.04331 0.05107 -0.05323 0.05528 C -0.06268 0.07629 -0.07465 0.09542 -0.08489 0.11581 C -0.0893 0.12463 -0.09402 0.13325 -0.09859 0.14208 C -0.1019 0.14838 -0.10851 0.16057 -0.10851 0.16057 C -0.11151 0.17613 -0.10788 0.17108 -0.12238 0.17108 " pathEditMode="relative" ptsTypes="fffffffA">
                                      <p:cBhvr>
                                        <p:cTn id="6" dur="2000" fill="hold"/>
                                        <p:tgtEl>
                                          <p:spTgt spid="92"/>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1103 3.58554E-6 C 0.00819 0.00189 0.00473 0.00315 0.00252 0.00588 C -0.0022 0.01135 -0.00929 0.02375 -0.00929 0.02417 C -0.01228 0.03362 -0.0148 0.04371 -0.0178 0.0538 C -0.01591 0.15342 -0.02394 0.17549 -0.00929 0.24569 C -0.00535 0.2646 0.00268 0.27932 0.00819 0.29676 C 0.0115 0.30643 0.02253 0.32387 0.02253 0.32408 C 0.02552 0.34174 0.0241 0.33774 0.0282 0.35077 C 0.02914 0.35372 0.03135 0.35981 0.03135 0.36002 " pathEditMode="relative" rAng="0" ptsTypes="ffffffffA">
                                      <p:cBhvr>
                                        <p:cTn id="10" dur="2000" fill="hold"/>
                                        <p:tgtEl>
                                          <p:spTgt spid="71"/>
                                        </p:tgtEl>
                                        <p:attrNameLst>
                                          <p:attrName>ppt_x</p:attrName>
                                          <p:attrName>ppt_y</p:attrName>
                                        </p:attrNameLst>
                                      </p:cBhvr>
                                      <p:rCtr x="-700" y="18000"/>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62"/>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8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nodeType="clickEffect">
                                  <p:stCondLst>
                                    <p:cond delay="0"/>
                                  </p:stCondLst>
                                  <p:childTnLst>
                                    <p:animMotion origin="layout" path="M -0.00157 0.0164 C -0.02709 0.03951 -0.03323 0.0744 -0.05087 0.10593 C -0.05418 0.11917 -0.05937 0.12779 -0.06457 0.13998 C -0.07072 0.15448 -0.07969 0.18096 -0.08237 0.19525 C -0.08363 0.20219 -0.08489 0.20933 -0.08631 0.21627 C -0.08694 0.219 -0.08773 0.22152 -0.08836 0.22426 C -0.08977 0.23119 -0.09103 0.23834 -0.09229 0.24527 C -0.09292 0.24885 -0.09418 0.25578 -0.09418 0.25599 C -0.09324 0.28415 -0.09733 0.30706 -0.08631 0.32955 C -0.0778 0.3636 -0.07843 0.39239 -0.07843 0.42959 " pathEditMode="relative" rAng="0" ptsTypes="fffffffffA">
                                      <p:cBhvr>
                                        <p:cTn id="28" dur="2000" fill="hold"/>
                                        <p:tgtEl>
                                          <p:spTgt spid="61"/>
                                        </p:tgtEl>
                                        <p:attrNameLst>
                                          <p:attrName>ppt_x</p:attrName>
                                          <p:attrName>ppt_y</p:attrName>
                                        </p:attrNameLst>
                                      </p:cBhvr>
                                      <p:rCtr x="-4800" y="20700"/>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36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 nodeType="clickEffect">
                                  <p:stCondLst>
                                    <p:cond delay="0"/>
                                  </p:stCondLst>
                                  <p:childTnLst>
                                    <p:set>
                                      <p:cBhvr>
                                        <p:cTn id="40" dur="1" fill="hold">
                                          <p:stCondLst>
                                            <p:cond delay="0"/>
                                          </p:stCondLst>
                                        </p:cTn>
                                        <p:tgtEl>
                                          <p:spTgt spid="14364"/>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436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nodeType="clickEffect">
                                  <p:stCondLst>
                                    <p:cond delay="0"/>
                                  </p:stCondLst>
                                  <p:childTnLst>
                                    <p:animMotion origin="layout" path="M -0.12238 0.17108 C -0.08883 0.17213 -0.0526 0.15889 -0.02173 0.17633 C -0.01669 0.17927 -0.00819 0.18453 -0.00409 0.18957 C 2.04442E-6 0.19462 0.00378 0.20008 0.00772 0.20534 C 0.00945 0.20765 0.01166 0.21332 0.01166 0.21332 " pathEditMode="relative" ptsTypes="ffffA">
                                      <p:cBhvr>
                                        <p:cTn id="46" dur="2000" fill="hold"/>
                                        <p:tgtEl>
                                          <p:spTgt spid="92"/>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436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0" presetClass="path" presetSubtype="0" accel="50000" decel="50000" fill="hold" nodeType="clickEffect">
                                  <p:stCondLst>
                                    <p:cond delay="0"/>
                                  </p:stCondLst>
                                  <p:childTnLst>
                                    <p:animMotion origin="layout" path="M 0.01166 0.21353 C 0.00457 0.2169 -0.00992 0.22152 -0.00992 0.22152 C -0.02016 0.23056 -0.03638 0.2377 -0.04741 0.24254 C -0.05134 0.24422 -0.05938 0.24779 -0.05938 0.24779 C -0.06741 0.25515 -0.07576 0.25683 -0.08489 0.26103 C -0.0893 0.26986 -0.09497 0.27427 -0.10064 0.28205 C -0.10741 0.3079 -0.09607 0.26818 -0.10867 0.29781 C -0.10993 0.30096 -0.10946 0.30496 -0.11056 0.30832 C -0.11151 0.31126 -0.1134 0.31336 -0.1145 0.31631 C -0.11545 0.31883 -0.11592 0.32156 -0.11655 0.32408 C -0.11261 0.37978 -0.10379 0.34531 -0.07513 0.3451 C 0.09246 0.34426 0.2602 0.3451 0.42779 0.3451 " pathEditMode="relative" ptsTypes="fffffffffffA">
                                      <p:cBhvr>
                                        <p:cTn id="54" dur="2000" fill="hold"/>
                                        <p:tgtEl>
                                          <p:spTgt spid="92"/>
                                        </p:tgtEl>
                                        <p:attrNameLst>
                                          <p:attrName>ppt_x</p:attrName>
                                          <p:attrName>ppt_y</p:attrName>
                                        </p:attrNameLst>
                                      </p:cBhvr>
                                    </p:animMotion>
                                  </p:childTnLst>
                                </p:cTn>
                              </p:par>
                            </p:childTnLst>
                          </p:cTn>
                        </p:par>
                      </p:childTnLst>
                    </p:cTn>
                  </p:par>
                  <p:par>
                    <p:cTn id="55" fill="hold">
                      <p:stCondLst>
                        <p:cond delay="indefinite"/>
                      </p:stCondLst>
                      <p:childTnLst>
                        <p:par>
                          <p:cTn id="56" fill="hold">
                            <p:stCondLst>
                              <p:cond delay="0"/>
                            </p:stCondLst>
                            <p:childTnLst>
                              <p:par>
                                <p:cTn id="57" presetID="0" presetClass="path" presetSubtype="0" accel="50000" decel="50000" fill="hold" nodeType="clickEffect">
                                  <p:stCondLst>
                                    <p:cond delay="0"/>
                                  </p:stCondLst>
                                  <p:childTnLst>
                                    <p:animMotion origin="layout" path="M 0.42779 0.34511 C 0.42196 0.35309 0.41282 0.35751 0.40495 0.36402 C 0.36683 0.39597 0.41676 0.35772 0.3692 0.39303 C 0.35077 0.40669 0.33171 0.41951 0.31265 0.43233 C 0.30871 0.43485 0.30556 0.43842 0.30115 0.44074 C 0.28666 0.44809 0.28477 0.44725 0.26918 0.45776 C 0.26351 0.46154 0.25611 0.4628 0.25028 0.46617 C 0.2402 0.47247 0.2287 0.47626 0.21831 0.48172 C 0.19972 0.49097 0.21342 0.48634 0.2013 0.49013 C 0.1835 0.50232 0.20555 0.48845 0.18224 0.49874 C 0.1783 0.50064 0.17499 0.50358 0.17105 0.50547 C 0.15137 0.51535 0.13058 0.52354 0.10884 0.52796 C 0.07387 0.5267 0.04867 0.52565 0.01638 0.52249 C -0.00614 0.51766 0.00646 0.51997 -0.02142 0.51577 C -0.04284 0.51241 -0.06489 0.50421 -0.08552 0.49874 C -0.10222 0.49433 -0.11812 0.48824 -0.13451 0.4834 C -0.14632 0.47983 -0.15656 0.47415 -0.16837 0.47163 C -0.19373 0.4544 -0.1553 0.47941 -0.18758 0.4628 C -0.18979 0.46175 -0.19089 0.45923 -0.1931 0.45776 C -0.19767 0.45503 -0.20318 0.45335 -0.20806 0.45082 C -0.21499 0.44809 -0.21893 0.44116 -0.22507 0.43716 C -0.23389 0.42539 -0.22885 0.42939 -0.23846 0.42371 C -0.24192 0.41362 -0.23767 0.42308 -0.24602 0.41362 C -0.24885 0.41026 -0.25342 0.40333 -0.25342 0.40354 C -0.25405 0.40101 -0.25405 0.39849 -0.25531 0.3966 C -0.25799 0.39156 -0.26287 0.38777 -0.26476 0.38273 C -0.2709 0.36676 -0.27595 0.35204 -0.27595 0.33523 " pathEditMode="relative" rAng="0" ptsTypes="ffffffffffffffffffffffffffA">
                                      <p:cBhvr>
                                        <p:cTn id="58" dur="2000" fill="hold"/>
                                        <p:tgtEl>
                                          <p:spTgt spid="92"/>
                                        </p:tgtEl>
                                        <p:attrNameLst>
                                          <p:attrName>ppt_x</p:attrName>
                                          <p:attrName>ppt_y</p:attrName>
                                        </p:attrNameLst>
                                      </p:cBhvr>
                                      <p:rCtr x="-35200" y="8600"/>
                                    </p:animMotion>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3"/>
                                        </p:tgtEl>
                                        <p:attrNameLst>
                                          <p:attrName>style.visibility</p:attrName>
                                        </p:attrNameLst>
                                      </p:cBhvr>
                                      <p:to>
                                        <p:strVal val="visible"/>
                                      </p:to>
                                    </p:set>
                                  </p:childTnLst>
                                </p:cTn>
                              </p:par>
                              <p:par>
                                <p:cTn id="67" presetID="0" presetClass="path" presetSubtype="0" accel="50000" decel="50000" fill="hold" nodeType="withEffect">
                                  <p:stCondLst>
                                    <p:cond delay="0"/>
                                  </p:stCondLst>
                                  <p:childTnLst>
                                    <p:animMotion origin="layout" path="M -0.27594 0.33523 C -0.18727 0.33439 -0.09844 0.33396 -0.00976 0.33249 C 0.06001 0.33123 0.12963 0.31757 0.19941 0.31673 C 0.26052 0.31589 0.32163 0.31673 0.38274 0.31673 " pathEditMode="relative" ptsTypes="fffA">
                                      <p:cBhvr>
                                        <p:cTn id="68" dur="2000" fill="hold"/>
                                        <p:tgtEl>
                                          <p:spTgt spid="92"/>
                                        </p:tgtEl>
                                        <p:attrNameLst>
                                          <p:attrName>ppt_x</p:attrName>
                                          <p:attrName>ppt_y</p:attrName>
                                        </p:attrNameLst>
                                      </p:cBhvr>
                                    </p:animMotion>
                                  </p:childTnLst>
                                </p:cTn>
                              </p:par>
                            </p:childTnLst>
                          </p:cTn>
                        </p:par>
                      </p:childTnLst>
                    </p:cTn>
                  </p:par>
                  <p:par>
                    <p:cTn id="69" fill="hold">
                      <p:stCondLst>
                        <p:cond delay="indefinite"/>
                      </p:stCondLst>
                      <p:childTnLst>
                        <p:par>
                          <p:cTn id="70" fill="hold">
                            <p:stCondLst>
                              <p:cond delay="0"/>
                            </p:stCondLst>
                            <p:childTnLst>
                              <p:par>
                                <p:cTn id="71" presetID="0" presetClass="path" presetSubtype="0" accel="50000" decel="50000" fill="hold" nodeType="clickEffect">
                                  <p:stCondLst>
                                    <p:cond delay="0"/>
                                  </p:stCondLst>
                                  <p:childTnLst>
                                    <p:animMotion origin="layout" path="M 0.42779 0.3451 C 0.42117 0.32766 0.41865 0.30769 0.41204 0.29004 C 0.40999 0.28436 0.40637 0.27974 0.40416 0.27407 C 0.39581 0.25326 0.40101 0.25725 0.3903 0.23729 C 0.38179 0.22131 0.37644 0.2169 0.36667 0.20303 C 0.35266 0.18285 0.33974 0.15721 0.31942 0.14775 C 0.30241 0.12989 0.31675 0.14334 0.29375 0.12673 C 0.2706 0.10992 0.24666 0.09248 0.22067 0.0847 C 0.18318 0.07356 0.14286 0.07167 0.10443 0.06894 C 0.07608 0.06978 0.04788 0.06999 0.01953 0.07146 C 0.0052 0.0723 0.00331 0.07482 -0.01008 0.07945 C -0.03465 0.08806 -0.06221 0.09458 -0.08489 0.11097 C -0.08915 0.11391 -0.09261 0.11854 -0.09686 0.12148 C -0.09812 0.12232 -0.09954 0.12337 -0.1008 0.12421 " pathEditMode="relative" ptsTypes="fffffffffffffA">
                                      <p:cBhvr>
                                        <p:cTn id="72" dur="2000" fill="hold"/>
                                        <p:tgtEl>
                                          <p:spTgt spid="92"/>
                                        </p:tgtEl>
                                        <p:attrNameLst>
                                          <p:attrName>ppt_x</p:attrName>
                                          <p:attrName>ppt_y</p:attrName>
                                        </p:attrNameLst>
                                      </p:cBhvr>
                                    </p:animMotion>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9"/>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3" grpId="0" animBg="1"/>
      <p:bldP spid="14362" grpId="0" animBg="1"/>
      <p:bldP spid="14362" grpId="1" animBg="1"/>
      <p:bldP spid="14364" grpId="0" animBg="1"/>
      <p:bldP spid="14364" grpId="1" animBg="1"/>
      <p:bldP spid="14365" grpId="0" animBg="1"/>
      <p:bldP spid="88" grpId="0" animBg="1"/>
      <p:bldP spid="89" grpId="0"/>
      <p:bldP spid="90" grpId="0"/>
      <p:bldP spid="102" grpId="0"/>
      <p:bldP spid="103" grpId="0"/>
      <p:bldP spid="105" grpId="0"/>
      <p:bldP spid="115" grpId="0"/>
    </p:bld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a:xfrm>
            <a:off x="587632" y="424084"/>
            <a:ext cx="8000640" cy="1143480"/>
          </a:xfrm>
          <a:noFill/>
        </p:spPr>
        <p:txBody>
          <a:bodyPr/>
          <a:lstStyle/>
          <a:p>
            <a:pPr eaLnBrk="1" hangingPunct="1"/>
            <a:r>
              <a:rPr lang="en-US" dirty="0"/>
              <a:t>Flat Combining</a:t>
            </a:r>
            <a:endParaRPr lang="en-US" sz="3300" dirty="0"/>
          </a:p>
        </p:txBody>
      </p:sp>
      <p:sp>
        <p:nvSpPr>
          <p:cNvPr id="10243" name="Rectangle 3"/>
          <p:cNvSpPr>
            <a:spLocks noGrp="1" noChangeArrowheads="1"/>
          </p:cNvSpPr>
          <p:nvPr>
            <p:ph idx="1"/>
          </p:nvPr>
        </p:nvSpPr>
        <p:spPr>
          <a:xfrm>
            <a:off x="456997" y="1795981"/>
            <a:ext cx="8231040" cy="3854046"/>
          </a:xfrm>
        </p:spPr>
        <p:txBody>
          <a:bodyPr/>
          <a:lstStyle/>
          <a:p>
            <a:pPr eaLnBrk="1" hangingPunct="1"/>
            <a:r>
              <a:rPr lang="en-US" sz="3300" dirty="0"/>
              <a:t>Have single lock holder collect and perform requests of all others</a:t>
            </a:r>
          </a:p>
          <a:p>
            <a:pPr lvl="1" eaLnBrk="1" hangingPunct="1"/>
            <a:r>
              <a:rPr lang="en-US" sz="2900" dirty="0">
                <a:solidFill>
                  <a:srgbClr val="3F51D7"/>
                </a:solidFill>
              </a:rPr>
              <a:t>Without  using CAS </a:t>
            </a:r>
            <a:r>
              <a:rPr lang="en-US" sz="2900" dirty="0"/>
              <a:t>operations to coordinate requests</a:t>
            </a:r>
          </a:p>
          <a:p>
            <a:pPr lvl="1" eaLnBrk="1" hangingPunct="1"/>
            <a:r>
              <a:rPr lang="en-US" sz="2900" dirty="0">
                <a:solidFill>
                  <a:srgbClr val="3F51D7"/>
                </a:solidFill>
              </a:rPr>
              <a:t>With combining of requests </a:t>
            </a:r>
            <a:r>
              <a:rPr lang="en-US" sz="2900" dirty="0"/>
              <a:t>(if cost of k batched operations is less than that of k operations in sequence </a:t>
            </a:r>
            <a:r>
              <a:rPr lang="en-US" sz="2900" dirty="0">
                <a:sym typeface="Wingdings" pitchFamily="2" charset="2"/>
              </a:rPr>
              <a:t> we win)</a:t>
            </a:r>
            <a:endParaRPr lang="en-US" sz="2900" dirty="0"/>
          </a:p>
        </p:txBody>
      </p:sp>
    </p:spTree>
    <p:extLst>
      <p:ext uri="{BB962C8B-B14F-4D97-AF65-F5344CB8AC3E}">
        <p14:creationId xmlns:p14="http://schemas.microsoft.com/office/powerpoint/2010/main" val="425703580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33"/>
          <p:cNvSpPr>
            <a:spLocks noChangeArrowheads="1"/>
          </p:cNvSpPr>
          <p:nvPr/>
        </p:nvSpPr>
        <p:spPr bwMode="auto">
          <a:xfrm>
            <a:off x="866864" y="4009930"/>
            <a:ext cx="1698255" cy="1175838"/>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338" name="Rectangle 2"/>
          <p:cNvSpPr>
            <a:spLocks noGrp="1" noChangeArrowheads="1"/>
          </p:cNvSpPr>
          <p:nvPr>
            <p:ph type="title"/>
          </p:nvPr>
        </p:nvSpPr>
        <p:spPr>
          <a:xfrm>
            <a:off x="755652" y="404813"/>
            <a:ext cx="7772400" cy="1143000"/>
          </a:xfrm>
        </p:spPr>
        <p:txBody>
          <a:bodyPr/>
          <a:lstStyle/>
          <a:p>
            <a:r>
              <a:rPr lang="en-US" dirty="0"/>
              <a:t>Flat-Combining</a:t>
            </a:r>
          </a:p>
        </p:txBody>
      </p:sp>
      <p:grpSp>
        <p:nvGrpSpPr>
          <p:cNvPr id="2" name="Group 3"/>
          <p:cNvGrpSpPr>
            <a:grpSpLocks/>
          </p:cNvGrpSpPr>
          <p:nvPr/>
        </p:nvGrpSpPr>
        <p:grpSpPr bwMode="auto">
          <a:xfrm>
            <a:off x="3218304" y="2964740"/>
            <a:ext cx="459821" cy="706437"/>
            <a:chOff x="1029" y="2668"/>
            <a:chExt cx="363" cy="445"/>
          </a:xfrm>
        </p:grpSpPr>
        <p:grpSp>
          <p:nvGrpSpPr>
            <p:cNvPr id="3" name="Group 4"/>
            <p:cNvGrpSpPr>
              <a:grpSpLocks/>
            </p:cNvGrpSpPr>
            <p:nvPr/>
          </p:nvGrpSpPr>
          <p:grpSpPr bwMode="auto">
            <a:xfrm>
              <a:off x="1101" y="2668"/>
              <a:ext cx="217" cy="238"/>
              <a:chOff x="1075" y="2731"/>
              <a:chExt cx="244" cy="166"/>
            </a:xfrm>
          </p:grpSpPr>
          <p:sp>
            <p:nvSpPr>
              <p:cNvPr id="14393" name="Oval 5"/>
              <p:cNvSpPr>
                <a:spLocks noChangeArrowheads="1"/>
              </p:cNvSpPr>
              <p:nvPr/>
            </p:nvSpPr>
            <p:spPr bwMode="auto">
              <a:xfrm>
                <a:off x="1075" y="2731"/>
                <a:ext cx="244" cy="166"/>
              </a:xfrm>
              <a:prstGeom prst="ellipse">
                <a:avLst/>
              </a:prstGeom>
              <a:solidFill>
                <a:schemeClr val="tx1"/>
              </a:solidFill>
              <a:ln w="12700">
                <a:solidFill>
                  <a:schemeClr val="tx2"/>
                </a:solidFill>
                <a:round/>
                <a:headEnd/>
                <a:tailEnd/>
              </a:ln>
            </p:spPr>
            <p:txBody>
              <a:bodyPr wrap="none" anchor="ctr"/>
              <a:lstStyle/>
              <a:p>
                <a:endParaRPr lang="en-US">
                  <a:latin typeface="Arial"/>
                  <a:cs typeface="Arial"/>
                </a:endParaRPr>
              </a:p>
            </p:txBody>
          </p:sp>
          <p:sp>
            <p:nvSpPr>
              <p:cNvPr id="14394" name="Oval 6"/>
              <p:cNvSpPr>
                <a:spLocks noChangeArrowheads="1"/>
              </p:cNvSpPr>
              <p:nvPr/>
            </p:nvSpPr>
            <p:spPr bwMode="auto">
              <a:xfrm>
                <a:off x="1135" y="2750"/>
                <a:ext cx="158" cy="112"/>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grpSp>
        <p:sp>
          <p:nvSpPr>
            <p:cNvPr id="14390" name="Rectangle 7"/>
            <p:cNvSpPr>
              <a:spLocks noChangeArrowheads="1"/>
            </p:cNvSpPr>
            <p:nvPr/>
          </p:nvSpPr>
          <p:spPr bwMode="auto">
            <a:xfrm>
              <a:off x="1029" y="2795"/>
              <a:ext cx="363" cy="318"/>
            </a:xfrm>
            <a:prstGeom prst="rect">
              <a:avLst/>
            </a:prstGeom>
            <a:solidFill>
              <a:srgbClr val="00FFCC"/>
            </a:solidFill>
            <a:ln w="9525">
              <a:solidFill>
                <a:schemeClr val="tx1"/>
              </a:solidFill>
              <a:miter lim="800000"/>
              <a:headEnd/>
              <a:tailEnd/>
            </a:ln>
          </p:spPr>
          <p:txBody>
            <a:bodyPr wrap="none" anchor="ctr"/>
            <a:lstStyle/>
            <a:p>
              <a:endParaRPr lang="en-US">
                <a:latin typeface="Arial"/>
                <a:cs typeface="Arial"/>
              </a:endParaRPr>
            </a:p>
          </p:txBody>
        </p:sp>
        <p:sp>
          <p:nvSpPr>
            <p:cNvPr id="14391" name="Oval 8"/>
            <p:cNvSpPr>
              <a:spLocks noChangeArrowheads="1"/>
            </p:cNvSpPr>
            <p:nvPr/>
          </p:nvSpPr>
          <p:spPr bwMode="auto">
            <a:xfrm>
              <a:off x="1151" y="2880"/>
              <a:ext cx="141" cy="65"/>
            </a:xfrm>
            <a:prstGeom prst="ellipse">
              <a:avLst/>
            </a:prstGeom>
            <a:solidFill>
              <a:schemeClr val="tx1"/>
            </a:solidFill>
            <a:ln w="25400">
              <a:noFill/>
              <a:round/>
              <a:headEnd/>
              <a:tailEnd/>
            </a:ln>
          </p:spPr>
          <p:txBody>
            <a:bodyPr wrap="none" anchor="ctr"/>
            <a:lstStyle/>
            <a:p>
              <a:endParaRPr lang="en-US">
                <a:latin typeface="Arial"/>
                <a:cs typeface="Arial"/>
              </a:endParaRPr>
            </a:p>
          </p:txBody>
        </p:sp>
        <p:sp>
          <p:nvSpPr>
            <p:cNvPr id="14392" name="AutoShape 9"/>
            <p:cNvSpPr>
              <a:spLocks noChangeArrowheads="1"/>
            </p:cNvSpPr>
            <p:nvPr/>
          </p:nvSpPr>
          <p:spPr bwMode="auto">
            <a:xfrm flipV="1">
              <a:off x="1151" y="2915"/>
              <a:ext cx="139" cy="1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6 w 21600"/>
                <a:gd name="T13" fmla="*/ 4441 h 21600"/>
                <a:gd name="T14" fmla="*/ 17094 w 21600"/>
                <a:gd name="T15" fmla="*/ 17159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tx1"/>
            </a:solidFill>
            <a:ln w="25400">
              <a:noFill/>
              <a:miter lim="800000"/>
              <a:headEnd/>
              <a:tailEnd/>
            </a:ln>
          </p:spPr>
          <p:txBody>
            <a:bodyPr wrap="none" anchor="ctr"/>
            <a:lstStyle/>
            <a:p>
              <a:endParaRPr lang="en-US">
                <a:latin typeface="Arial"/>
                <a:cs typeface="Arial"/>
              </a:endParaRPr>
            </a:p>
          </p:txBody>
        </p:sp>
      </p:grpSp>
      <p:sp>
        <p:nvSpPr>
          <p:cNvPr id="14340" name="Text Box 11"/>
          <p:cNvSpPr txBox="1">
            <a:spLocks noChangeArrowheads="1"/>
          </p:cNvSpPr>
          <p:nvPr/>
        </p:nvSpPr>
        <p:spPr bwMode="auto">
          <a:xfrm>
            <a:off x="3069701" y="2187849"/>
            <a:ext cx="1049526" cy="837027"/>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object </a:t>
            </a:r>
          </a:p>
          <a:p>
            <a:pPr algn="l"/>
            <a:r>
              <a:rPr lang="en-US" sz="2200" dirty="0">
                <a:latin typeface="Arial"/>
                <a:cs typeface="Arial"/>
              </a:rPr>
              <a:t>lock</a:t>
            </a:r>
          </a:p>
        </p:txBody>
      </p:sp>
      <p:sp>
        <p:nvSpPr>
          <p:cNvPr id="14382" name="Text Box 25"/>
          <p:cNvSpPr txBox="1">
            <a:spLocks noChangeArrowheads="1"/>
          </p:cNvSpPr>
          <p:nvPr/>
        </p:nvSpPr>
        <p:spPr bwMode="auto">
          <a:xfrm>
            <a:off x="5878350" y="5127444"/>
            <a:ext cx="979762" cy="360650"/>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Enq</a:t>
            </a:r>
            <a:r>
              <a:rPr lang="en-US" sz="1800" dirty="0">
                <a:latin typeface="Arial"/>
                <a:cs typeface="Arial"/>
              </a:rPr>
              <a:t>(d)</a:t>
            </a:r>
            <a:endParaRPr lang="en-US" sz="1500" dirty="0">
              <a:latin typeface="Arial"/>
              <a:cs typeface="Arial"/>
            </a:endParaRPr>
          </a:p>
        </p:txBody>
      </p:sp>
      <p:sp>
        <p:nvSpPr>
          <p:cNvPr id="14360" name="Text Box 32"/>
          <p:cNvSpPr txBox="1">
            <a:spLocks noChangeArrowheads="1"/>
          </p:cNvSpPr>
          <p:nvPr/>
        </p:nvSpPr>
        <p:spPr bwMode="auto">
          <a:xfrm>
            <a:off x="4114777" y="3167704"/>
            <a:ext cx="864216" cy="422205"/>
          </a:xfrm>
          <a:prstGeom prst="rect">
            <a:avLst/>
          </a:prstGeom>
          <a:noFill/>
          <a:ln w="9525">
            <a:noFill/>
            <a:miter lim="800000"/>
            <a:headEnd/>
            <a:tailEnd/>
          </a:ln>
        </p:spPr>
        <p:txBody>
          <a:bodyPr wrap="none" lIns="82840" tIns="41421" rIns="82840" bIns="41421">
            <a:spAutoFit/>
          </a:bodyPr>
          <a:lstStyle/>
          <a:p>
            <a:r>
              <a:rPr lang="en-US" sz="2200" dirty="0">
                <a:latin typeface="Arial"/>
                <a:cs typeface="Arial"/>
              </a:rPr>
              <a:t>Head</a:t>
            </a:r>
          </a:p>
        </p:txBody>
      </p:sp>
      <p:sp>
        <p:nvSpPr>
          <p:cNvPr id="14361"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362"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4364" name="Freeform 39"/>
          <p:cNvSpPr>
            <a:spLocks/>
          </p:cNvSpPr>
          <p:nvPr/>
        </p:nvSpPr>
        <p:spPr bwMode="auto">
          <a:xfrm>
            <a:off x="3725255" y="3755621"/>
            <a:ext cx="650794" cy="755151"/>
          </a:xfrm>
          <a:custGeom>
            <a:avLst/>
            <a:gdLst>
              <a:gd name="T0" fmla="*/ 1 w 590"/>
              <a:gd name="T1" fmla="*/ 0 h 952"/>
              <a:gd name="T2" fmla="*/ 1 w 590"/>
              <a:gd name="T3" fmla="*/ 0 h 952"/>
              <a:gd name="T4" fmla="*/ 0 w 590"/>
              <a:gd name="T5" fmla="*/ 0 h 952"/>
              <a:gd name="T6" fmla="*/ 0 60000 65536"/>
              <a:gd name="T7" fmla="*/ 0 60000 65536"/>
              <a:gd name="T8" fmla="*/ 0 60000 65536"/>
              <a:gd name="T9" fmla="*/ 0 w 590"/>
              <a:gd name="T10" fmla="*/ 0 h 952"/>
              <a:gd name="T11" fmla="*/ 590 w 590"/>
              <a:gd name="T12" fmla="*/ 952 h 952"/>
            </a:gdLst>
            <a:ahLst/>
            <a:cxnLst>
              <a:cxn ang="T6">
                <a:pos x="T0" y="T1"/>
              </a:cxn>
              <a:cxn ang="T7">
                <a:pos x="T2" y="T3"/>
              </a:cxn>
              <a:cxn ang="T8">
                <a:pos x="T4" y="T5"/>
              </a:cxn>
            </a:cxnLst>
            <a:rect l="T9" t="T10" r="T11" b="T12"/>
            <a:pathLst>
              <a:path w="590" h="952">
                <a:moveTo>
                  <a:pt x="590" y="0"/>
                </a:moveTo>
                <a:cubicBezTo>
                  <a:pt x="412" y="124"/>
                  <a:pt x="234" y="249"/>
                  <a:pt x="136" y="408"/>
                </a:cubicBezTo>
                <a:cubicBezTo>
                  <a:pt x="38" y="567"/>
                  <a:pt x="19" y="759"/>
                  <a:pt x="0" y="952"/>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60" name="Text Box 11"/>
          <p:cNvSpPr txBox="1">
            <a:spLocks noChangeArrowheads="1"/>
          </p:cNvSpPr>
          <p:nvPr/>
        </p:nvSpPr>
        <p:spPr bwMode="auto">
          <a:xfrm>
            <a:off x="1258769" y="3552660"/>
            <a:ext cx="1049526" cy="430762"/>
          </a:xfrm>
          <a:prstGeom prst="rect">
            <a:avLst/>
          </a:prstGeom>
          <a:noFill/>
          <a:ln w="9525">
            <a:noFill/>
            <a:miter lim="800000"/>
            <a:headEnd/>
            <a:tailEnd/>
          </a:ln>
        </p:spPr>
        <p:txBody>
          <a:bodyPr wrap="none" lIns="91311" tIns="45658" rIns="91311" bIns="45658">
            <a:spAutoFit/>
          </a:bodyPr>
          <a:lstStyle/>
          <a:p>
            <a:r>
              <a:rPr lang="en-US" sz="2200" dirty="0">
                <a:latin typeface="Arial"/>
                <a:cs typeface="Arial"/>
              </a:rPr>
              <a:t>object</a:t>
            </a:r>
          </a:p>
        </p:txBody>
      </p:sp>
      <p:grpSp>
        <p:nvGrpSpPr>
          <p:cNvPr id="8" name="Group 77"/>
          <p:cNvGrpSpPr>
            <a:grpSpLocks/>
          </p:cNvGrpSpPr>
          <p:nvPr/>
        </p:nvGrpSpPr>
        <p:grpSpPr bwMode="auto">
          <a:xfrm flipH="1">
            <a:off x="3135015" y="5584706"/>
            <a:ext cx="865440" cy="688392"/>
            <a:chOff x="1584" y="816"/>
            <a:chExt cx="912" cy="816"/>
          </a:xfrm>
        </p:grpSpPr>
        <p:sp>
          <p:nvSpPr>
            <p:cNvPr id="6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89" name="Text Box 11"/>
          <p:cNvSpPr txBox="1">
            <a:spLocks noChangeArrowheads="1"/>
          </p:cNvSpPr>
          <p:nvPr/>
        </p:nvSpPr>
        <p:spPr bwMode="auto">
          <a:xfrm>
            <a:off x="4647216" y="3617985"/>
            <a:ext cx="967560"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grpSp>
        <p:nvGrpSpPr>
          <p:cNvPr id="10" name="Group 77"/>
          <p:cNvGrpSpPr>
            <a:grpSpLocks/>
          </p:cNvGrpSpPr>
          <p:nvPr/>
        </p:nvGrpSpPr>
        <p:grpSpPr bwMode="auto">
          <a:xfrm flipH="1">
            <a:off x="7250017" y="5650028"/>
            <a:ext cx="865440" cy="688392"/>
            <a:chOff x="1584" y="816"/>
            <a:chExt cx="912" cy="816"/>
          </a:xfrm>
        </p:grpSpPr>
        <p:sp>
          <p:nvSpPr>
            <p:cNvPr id="9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5"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9"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0"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1"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02" name="Text Box 11"/>
          <p:cNvSpPr txBox="1">
            <a:spLocks noChangeArrowheads="1"/>
          </p:cNvSpPr>
          <p:nvPr/>
        </p:nvSpPr>
        <p:spPr bwMode="auto">
          <a:xfrm>
            <a:off x="866862" y="5381753"/>
            <a:ext cx="2222536" cy="837027"/>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Apply requests</a:t>
            </a:r>
          </a:p>
          <a:p>
            <a:pPr algn="l"/>
            <a:r>
              <a:rPr lang="en-US" sz="2200" dirty="0">
                <a:latin typeface="Arial"/>
                <a:cs typeface="Arial"/>
              </a:rPr>
              <a:t> to object</a:t>
            </a:r>
          </a:p>
        </p:txBody>
      </p:sp>
      <p:sp>
        <p:nvSpPr>
          <p:cNvPr id="105" name="Text Box 11"/>
          <p:cNvSpPr txBox="1">
            <a:spLocks noChangeArrowheads="1"/>
          </p:cNvSpPr>
          <p:nvPr/>
        </p:nvSpPr>
        <p:spPr bwMode="auto">
          <a:xfrm>
            <a:off x="6074304" y="3820947"/>
            <a:ext cx="2190852"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Publication list</a:t>
            </a:r>
          </a:p>
        </p:txBody>
      </p:sp>
      <p:grpSp>
        <p:nvGrpSpPr>
          <p:cNvPr id="119" name="Group 118"/>
          <p:cNvGrpSpPr/>
          <p:nvPr/>
        </p:nvGrpSpPr>
        <p:grpSpPr>
          <a:xfrm>
            <a:off x="7315334" y="4590588"/>
            <a:ext cx="1082475" cy="385862"/>
            <a:chOff x="7951415" y="5060273"/>
            <a:chExt cx="1193353" cy="425341"/>
          </a:xfrm>
        </p:grpSpPr>
        <p:sp>
          <p:nvSpPr>
            <p:cNvPr id="14380"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4381"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4356" name="Line 26"/>
            <p:cNvSpPr>
              <a:spLocks noChangeShapeType="1"/>
            </p:cNvSpPr>
            <p:nvPr/>
          </p:nvSpPr>
          <p:spPr bwMode="auto">
            <a:xfrm flipV="1">
              <a:off x="8928744" y="5067299"/>
              <a:ext cx="215256" cy="404812"/>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1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17" name="Text Box 25"/>
          <p:cNvSpPr txBox="1">
            <a:spLocks noChangeArrowheads="1"/>
          </p:cNvSpPr>
          <p:nvPr/>
        </p:nvSpPr>
        <p:spPr bwMode="auto">
          <a:xfrm>
            <a:off x="7292007" y="4670175"/>
            <a:ext cx="849127" cy="283811"/>
          </a:xfrm>
          <a:prstGeom prst="rect">
            <a:avLst/>
          </a:prstGeom>
          <a:noFill/>
          <a:ln w="9525">
            <a:noFill/>
            <a:miter lim="800000"/>
            <a:headEnd/>
            <a:tailEnd/>
          </a:ln>
        </p:spPr>
        <p:txBody>
          <a:bodyPr wrap="square" lIns="82840" tIns="41421" rIns="82840" bIns="41421">
            <a:spAutoFit/>
          </a:bodyPr>
          <a:lstStyle/>
          <a:p>
            <a:r>
              <a:rPr lang="en-US" sz="1300" dirty="0" err="1">
                <a:latin typeface="Arial"/>
                <a:cs typeface="Arial"/>
              </a:rPr>
              <a:t>Enq</a:t>
            </a:r>
            <a:r>
              <a:rPr lang="en-US" sz="1300" dirty="0">
                <a:latin typeface="Arial"/>
                <a:cs typeface="Arial"/>
              </a:rPr>
              <a:t>(d</a:t>
            </a:r>
            <a:r>
              <a:rPr lang="en-US" sz="1100" dirty="0">
                <a:latin typeface="Arial"/>
                <a:cs typeface="Arial"/>
              </a:rPr>
              <a:t>)</a:t>
            </a:r>
            <a:endParaRPr lang="en-US" sz="1000" dirty="0">
              <a:latin typeface="Arial"/>
              <a:cs typeface="Arial"/>
            </a:endParaRPr>
          </a:p>
        </p:txBody>
      </p:sp>
      <p:grpSp>
        <p:nvGrpSpPr>
          <p:cNvPr id="121" name="Group 120"/>
          <p:cNvGrpSpPr/>
          <p:nvPr/>
        </p:nvGrpSpPr>
        <p:grpSpPr>
          <a:xfrm>
            <a:off x="5895878" y="4582375"/>
            <a:ext cx="1082475" cy="385862"/>
            <a:chOff x="7951415" y="5060273"/>
            <a:chExt cx="1193353" cy="425341"/>
          </a:xfrm>
        </p:grpSpPr>
        <p:sp>
          <p:nvSpPr>
            <p:cNvPr id="122"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23"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25"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26" name="Text Box 25"/>
          <p:cNvSpPr txBox="1">
            <a:spLocks noChangeArrowheads="1"/>
          </p:cNvSpPr>
          <p:nvPr/>
        </p:nvSpPr>
        <p:spPr bwMode="auto">
          <a:xfrm>
            <a:off x="5943266" y="4661962"/>
            <a:ext cx="849127" cy="283811"/>
          </a:xfrm>
          <a:prstGeom prst="rect">
            <a:avLst/>
          </a:prstGeom>
          <a:noFill/>
          <a:ln w="9525">
            <a:noFill/>
            <a:miter lim="800000"/>
            <a:headEnd/>
            <a:tailEnd/>
          </a:ln>
        </p:spPr>
        <p:txBody>
          <a:bodyPr wrap="square" lIns="82840" tIns="41421" rIns="82840" bIns="41421">
            <a:spAutoFit/>
          </a:bodyPr>
          <a:lstStyle/>
          <a:p>
            <a:r>
              <a:rPr lang="en-US" sz="1300" dirty="0">
                <a:latin typeface="Arial"/>
                <a:cs typeface="Arial"/>
              </a:rPr>
              <a:t>null</a:t>
            </a:r>
            <a:endParaRPr lang="en-US" sz="1000" dirty="0">
              <a:latin typeface="Arial"/>
              <a:cs typeface="Arial"/>
            </a:endParaRPr>
          </a:p>
        </p:txBody>
      </p:sp>
      <p:sp>
        <p:nvSpPr>
          <p:cNvPr id="14370" name="Line 47"/>
          <p:cNvSpPr>
            <a:spLocks noChangeShapeType="1"/>
          </p:cNvSpPr>
          <p:nvPr/>
        </p:nvSpPr>
        <p:spPr bwMode="auto">
          <a:xfrm flipV="1">
            <a:off x="6894720" y="4787062"/>
            <a:ext cx="414720"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128" name="Group 127"/>
          <p:cNvGrpSpPr/>
          <p:nvPr/>
        </p:nvGrpSpPr>
        <p:grpSpPr>
          <a:xfrm>
            <a:off x="4408047" y="4565525"/>
            <a:ext cx="1082475" cy="385862"/>
            <a:chOff x="7951415" y="5060273"/>
            <a:chExt cx="1193353" cy="425341"/>
          </a:xfrm>
        </p:grpSpPr>
        <p:sp>
          <p:nvSpPr>
            <p:cNvPr id="12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30"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31"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32" name="Text Box 25"/>
          <p:cNvSpPr txBox="1">
            <a:spLocks noChangeArrowheads="1"/>
          </p:cNvSpPr>
          <p:nvPr/>
        </p:nvSpPr>
        <p:spPr bwMode="auto">
          <a:xfrm>
            <a:off x="4406109" y="4645108"/>
            <a:ext cx="849127" cy="283811"/>
          </a:xfrm>
          <a:prstGeom prst="rect">
            <a:avLst/>
          </a:prstGeom>
          <a:noFill/>
          <a:ln w="9525">
            <a:noFill/>
            <a:miter lim="800000"/>
            <a:headEnd/>
            <a:tailEnd/>
          </a:ln>
        </p:spPr>
        <p:txBody>
          <a:bodyPr wrap="square" lIns="82840" tIns="41421" rIns="82840" bIns="41421">
            <a:spAutoFit/>
          </a:bodyPr>
          <a:lstStyle/>
          <a:p>
            <a:r>
              <a:rPr lang="en-US" sz="1300" dirty="0">
                <a:latin typeface="Arial"/>
                <a:cs typeface="Arial"/>
              </a:rPr>
              <a:t>null</a:t>
            </a:r>
            <a:endParaRPr lang="en-US" sz="1000" dirty="0">
              <a:latin typeface="Arial"/>
              <a:cs typeface="Arial"/>
            </a:endParaRPr>
          </a:p>
        </p:txBody>
      </p:sp>
      <p:grpSp>
        <p:nvGrpSpPr>
          <p:cNvPr id="134" name="Group 133"/>
          <p:cNvGrpSpPr/>
          <p:nvPr/>
        </p:nvGrpSpPr>
        <p:grpSpPr>
          <a:xfrm>
            <a:off x="2999727" y="4548245"/>
            <a:ext cx="1082475" cy="385862"/>
            <a:chOff x="7951415" y="5060273"/>
            <a:chExt cx="1193353" cy="425341"/>
          </a:xfrm>
        </p:grpSpPr>
        <p:sp>
          <p:nvSpPr>
            <p:cNvPr id="135"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36"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37"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38" name="Text Box 25"/>
          <p:cNvSpPr txBox="1">
            <a:spLocks noChangeArrowheads="1"/>
          </p:cNvSpPr>
          <p:nvPr/>
        </p:nvSpPr>
        <p:spPr bwMode="auto">
          <a:xfrm>
            <a:off x="2960799" y="4604850"/>
            <a:ext cx="849127" cy="321083"/>
          </a:xfrm>
          <a:prstGeom prst="rect">
            <a:avLst/>
          </a:prstGeom>
          <a:noFill/>
          <a:ln w="9525">
            <a:noFill/>
            <a:miter lim="800000"/>
            <a:headEnd/>
            <a:tailEnd/>
          </a:ln>
        </p:spPr>
        <p:txBody>
          <a:bodyPr wrap="square" lIns="82840" tIns="41421" rIns="82840" bIns="41421">
            <a:spAutoFit/>
          </a:bodyPr>
          <a:lstStyle/>
          <a:p>
            <a:r>
              <a:rPr lang="en-US" sz="1500" dirty="0" err="1">
                <a:latin typeface="Arial"/>
                <a:cs typeface="Arial"/>
              </a:rPr>
              <a:t>Deq</a:t>
            </a:r>
            <a:r>
              <a:rPr lang="en-US" sz="1500" dirty="0">
                <a:latin typeface="Arial"/>
                <a:cs typeface="Arial"/>
              </a:rPr>
              <a:t>()</a:t>
            </a:r>
            <a:endParaRPr lang="en-US" sz="1000" dirty="0">
              <a:latin typeface="Arial"/>
              <a:cs typeface="Arial"/>
            </a:endParaRPr>
          </a:p>
        </p:txBody>
      </p:sp>
      <p:sp>
        <p:nvSpPr>
          <p:cNvPr id="139" name="Text Box 25"/>
          <p:cNvSpPr txBox="1">
            <a:spLocks noChangeArrowheads="1"/>
          </p:cNvSpPr>
          <p:nvPr/>
        </p:nvSpPr>
        <p:spPr bwMode="auto">
          <a:xfrm>
            <a:off x="2873745" y="5116220"/>
            <a:ext cx="979762" cy="362973"/>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Deq</a:t>
            </a:r>
            <a:r>
              <a:rPr lang="en-US" sz="1800" dirty="0">
                <a:latin typeface="Arial"/>
                <a:cs typeface="Arial"/>
              </a:rPr>
              <a:t>()</a:t>
            </a:r>
            <a:endParaRPr lang="en-US" sz="1500" dirty="0">
              <a:latin typeface="Arial"/>
              <a:cs typeface="Arial"/>
            </a:endParaRPr>
          </a:p>
        </p:txBody>
      </p:sp>
      <p:sp>
        <p:nvSpPr>
          <p:cNvPr id="140" name="Rectangle 33"/>
          <p:cNvSpPr>
            <a:spLocks noChangeArrowheads="1"/>
          </p:cNvSpPr>
          <p:nvPr/>
        </p:nvSpPr>
        <p:spPr bwMode="auto">
          <a:xfrm>
            <a:off x="2547170" y="3167704"/>
            <a:ext cx="423373" cy="508224"/>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1" name="Text Box 11"/>
          <p:cNvSpPr txBox="1">
            <a:spLocks noChangeArrowheads="1"/>
          </p:cNvSpPr>
          <p:nvPr/>
        </p:nvSpPr>
        <p:spPr bwMode="auto">
          <a:xfrm>
            <a:off x="1959313" y="2645108"/>
            <a:ext cx="1218968"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counter</a:t>
            </a:r>
          </a:p>
        </p:txBody>
      </p:sp>
      <p:sp>
        <p:nvSpPr>
          <p:cNvPr id="142" name="Text Box 11"/>
          <p:cNvSpPr txBox="1">
            <a:spLocks noChangeArrowheads="1"/>
          </p:cNvSpPr>
          <p:nvPr/>
        </p:nvSpPr>
        <p:spPr bwMode="auto">
          <a:xfrm>
            <a:off x="2547170" y="3167702"/>
            <a:ext cx="498218"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54</a:t>
            </a:r>
          </a:p>
        </p:txBody>
      </p:sp>
      <p:sp>
        <p:nvSpPr>
          <p:cNvPr id="143" name="Text Box 11"/>
          <p:cNvSpPr txBox="1">
            <a:spLocks noChangeArrowheads="1"/>
          </p:cNvSpPr>
          <p:nvPr/>
        </p:nvSpPr>
        <p:spPr bwMode="auto">
          <a:xfrm>
            <a:off x="7837875"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54</a:t>
            </a:r>
          </a:p>
        </p:txBody>
      </p:sp>
      <p:sp>
        <p:nvSpPr>
          <p:cNvPr id="144" name="Text Box 11"/>
          <p:cNvSpPr txBox="1">
            <a:spLocks noChangeArrowheads="1"/>
          </p:cNvSpPr>
          <p:nvPr/>
        </p:nvSpPr>
        <p:spPr bwMode="auto">
          <a:xfrm>
            <a:off x="6466218"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12</a:t>
            </a:r>
          </a:p>
        </p:txBody>
      </p:sp>
      <p:sp>
        <p:nvSpPr>
          <p:cNvPr id="145" name="Text Box 11"/>
          <p:cNvSpPr txBox="1">
            <a:spLocks noChangeArrowheads="1"/>
          </p:cNvSpPr>
          <p:nvPr/>
        </p:nvSpPr>
        <p:spPr bwMode="auto">
          <a:xfrm>
            <a:off x="4963905"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54</a:t>
            </a:r>
          </a:p>
        </p:txBody>
      </p:sp>
      <p:sp>
        <p:nvSpPr>
          <p:cNvPr id="146" name="Text Box 11"/>
          <p:cNvSpPr txBox="1">
            <a:spLocks noChangeArrowheads="1"/>
          </p:cNvSpPr>
          <p:nvPr/>
        </p:nvSpPr>
        <p:spPr bwMode="auto">
          <a:xfrm>
            <a:off x="3526932"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53</a:t>
            </a:r>
          </a:p>
        </p:txBody>
      </p:sp>
      <p:grpSp>
        <p:nvGrpSpPr>
          <p:cNvPr id="147" name="Group 20"/>
          <p:cNvGrpSpPr>
            <a:grpSpLocks/>
          </p:cNvGrpSpPr>
          <p:nvPr/>
        </p:nvGrpSpPr>
        <p:grpSpPr bwMode="auto">
          <a:xfrm>
            <a:off x="7315337" y="5062121"/>
            <a:ext cx="722880" cy="512695"/>
            <a:chOff x="1232" y="1430"/>
            <a:chExt cx="502" cy="356"/>
          </a:xfrm>
        </p:grpSpPr>
        <p:sp>
          <p:nvSpPr>
            <p:cNvPr id="148"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49"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50" name="Oval 23"/>
            <p:cNvSpPr>
              <a:spLocks noChangeArrowheads="1"/>
            </p:cNvSpPr>
            <p:nvPr/>
          </p:nvSpPr>
          <p:spPr bwMode="auto">
            <a:xfrm>
              <a:off x="1290" y="1430"/>
              <a:ext cx="444" cy="16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51"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52"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53"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54"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55"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56"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57"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58"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59"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60"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61"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a:latin typeface="Arial"/>
                <a:cs typeface="Arial"/>
              </a:endParaRPr>
            </a:p>
          </p:txBody>
        </p:sp>
        <p:sp>
          <p:nvSpPr>
            <p:cNvPr id="162"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a:latin typeface="Arial"/>
                <a:cs typeface="Arial"/>
              </a:endParaRPr>
            </a:p>
          </p:txBody>
        </p:sp>
        <p:sp>
          <p:nvSpPr>
            <p:cNvPr id="163"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164"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165"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sp>
        <p:nvSpPr>
          <p:cNvPr id="166" name="Text Box 25"/>
          <p:cNvSpPr txBox="1">
            <a:spLocks noChangeArrowheads="1"/>
          </p:cNvSpPr>
          <p:nvPr/>
        </p:nvSpPr>
        <p:spPr bwMode="auto">
          <a:xfrm>
            <a:off x="5892007" y="4670175"/>
            <a:ext cx="849127" cy="283811"/>
          </a:xfrm>
          <a:prstGeom prst="rect">
            <a:avLst/>
          </a:prstGeom>
          <a:noFill/>
          <a:ln w="9525">
            <a:noFill/>
            <a:miter lim="800000"/>
            <a:headEnd/>
            <a:tailEnd/>
          </a:ln>
        </p:spPr>
        <p:txBody>
          <a:bodyPr wrap="square" lIns="82840" tIns="41421" rIns="82840" bIns="41421">
            <a:spAutoFit/>
          </a:bodyPr>
          <a:lstStyle/>
          <a:p>
            <a:r>
              <a:rPr lang="en-US" sz="1300" dirty="0" err="1">
                <a:latin typeface="Arial"/>
                <a:cs typeface="Arial"/>
              </a:rPr>
              <a:t>Enq</a:t>
            </a:r>
            <a:r>
              <a:rPr lang="en-US" sz="1300" dirty="0">
                <a:latin typeface="Arial"/>
                <a:cs typeface="Arial"/>
              </a:rPr>
              <a:t>(d)</a:t>
            </a:r>
            <a:endParaRPr lang="en-US" sz="1000" dirty="0">
              <a:latin typeface="Arial"/>
              <a:cs typeface="Arial"/>
            </a:endParaRPr>
          </a:p>
        </p:txBody>
      </p:sp>
      <p:grpSp>
        <p:nvGrpSpPr>
          <p:cNvPr id="177" name="Group 77"/>
          <p:cNvGrpSpPr>
            <a:grpSpLocks/>
          </p:cNvGrpSpPr>
          <p:nvPr/>
        </p:nvGrpSpPr>
        <p:grpSpPr bwMode="auto">
          <a:xfrm flipH="1">
            <a:off x="4506682" y="5650028"/>
            <a:ext cx="865440" cy="688392"/>
            <a:chOff x="1584" y="816"/>
            <a:chExt cx="912" cy="816"/>
          </a:xfrm>
        </p:grpSpPr>
        <p:sp>
          <p:nvSpPr>
            <p:cNvPr id="178"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9"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0"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1"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2"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3"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4"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6"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87" name="Text Box 25"/>
          <p:cNvSpPr txBox="1">
            <a:spLocks noChangeArrowheads="1"/>
          </p:cNvSpPr>
          <p:nvPr/>
        </p:nvSpPr>
        <p:spPr bwMode="auto">
          <a:xfrm>
            <a:off x="4376047" y="5127444"/>
            <a:ext cx="979762" cy="362973"/>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Deq</a:t>
            </a:r>
            <a:r>
              <a:rPr lang="en-US" sz="1800" dirty="0">
                <a:latin typeface="Arial"/>
                <a:cs typeface="Arial"/>
              </a:rPr>
              <a:t>()</a:t>
            </a:r>
            <a:endParaRPr lang="en-US" sz="1500" dirty="0">
              <a:latin typeface="Arial"/>
              <a:cs typeface="Arial"/>
            </a:endParaRPr>
          </a:p>
        </p:txBody>
      </p:sp>
      <p:sp>
        <p:nvSpPr>
          <p:cNvPr id="189" name="Text Box 25"/>
          <p:cNvSpPr txBox="1">
            <a:spLocks noChangeArrowheads="1"/>
          </p:cNvSpPr>
          <p:nvPr/>
        </p:nvSpPr>
        <p:spPr bwMode="auto">
          <a:xfrm>
            <a:off x="4394700" y="4604850"/>
            <a:ext cx="979762" cy="321083"/>
          </a:xfrm>
          <a:prstGeom prst="rect">
            <a:avLst/>
          </a:prstGeom>
          <a:noFill/>
          <a:ln w="9525">
            <a:noFill/>
            <a:miter lim="800000"/>
            <a:headEnd/>
            <a:tailEnd/>
          </a:ln>
        </p:spPr>
        <p:txBody>
          <a:bodyPr wrap="square" lIns="82840" tIns="41421" rIns="82840" bIns="41421">
            <a:spAutoFit/>
          </a:bodyPr>
          <a:lstStyle/>
          <a:p>
            <a:r>
              <a:rPr lang="en-US" sz="1500" dirty="0" err="1">
                <a:latin typeface="Arial"/>
                <a:cs typeface="Arial"/>
              </a:rPr>
              <a:t>Deq</a:t>
            </a:r>
            <a:r>
              <a:rPr lang="en-US" sz="1500" dirty="0">
                <a:latin typeface="Arial"/>
                <a:cs typeface="Arial"/>
              </a:rPr>
              <a:t>()</a:t>
            </a:r>
            <a:endParaRPr lang="en-US" sz="1100" dirty="0">
              <a:latin typeface="Arial"/>
              <a:cs typeface="Arial"/>
            </a:endParaRPr>
          </a:p>
        </p:txBody>
      </p:sp>
      <p:grpSp>
        <p:nvGrpSpPr>
          <p:cNvPr id="190" name="Group 20"/>
          <p:cNvGrpSpPr>
            <a:grpSpLocks/>
          </p:cNvGrpSpPr>
          <p:nvPr/>
        </p:nvGrpSpPr>
        <p:grpSpPr bwMode="auto">
          <a:xfrm>
            <a:off x="4572005" y="5062121"/>
            <a:ext cx="722880" cy="512695"/>
            <a:chOff x="1232" y="1430"/>
            <a:chExt cx="502" cy="356"/>
          </a:xfrm>
        </p:grpSpPr>
        <p:sp>
          <p:nvSpPr>
            <p:cNvPr id="191"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92"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93" name="Oval 23"/>
            <p:cNvSpPr>
              <a:spLocks noChangeArrowheads="1"/>
            </p:cNvSpPr>
            <p:nvPr/>
          </p:nvSpPr>
          <p:spPr bwMode="auto">
            <a:xfrm>
              <a:off x="1290" y="1430"/>
              <a:ext cx="444" cy="16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94"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5"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6"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7"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8"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9"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00"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201"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202"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03"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04"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a:latin typeface="Arial"/>
                <a:cs typeface="Arial"/>
              </a:endParaRPr>
            </a:p>
          </p:txBody>
        </p:sp>
        <p:sp>
          <p:nvSpPr>
            <p:cNvPr id="205"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a:latin typeface="Arial"/>
                <a:cs typeface="Arial"/>
              </a:endParaRPr>
            </a:p>
          </p:txBody>
        </p:sp>
        <p:sp>
          <p:nvSpPr>
            <p:cNvPr id="206"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207"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208"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sp>
        <p:nvSpPr>
          <p:cNvPr id="127" name="Line 47"/>
          <p:cNvSpPr>
            <a:spLocks noChangeShapeType="1"/>
          </p:cNvSpPr>
          <p:nvPr/>
        </p:nvSpPr>
        <p:spPr bwMode="auto">
          <a:xfrm>
            <a:off x="3984142" y="4748528"/>
            <a:ext cx="439538" cy="12623"/>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sp>
        <p:nvSpPr>
          <p:cNvPr id="120" name="Line 47"/>
          <p:cNvSpPr>
            <a:spLocks noChangeShapeType="1"/>
          </p:cNvSpPr>
          <p:nvPr/>
        </p:nvSpPr>
        <p:spPr bwMode="auto">
          <a:xfrm>
            <a:off x="5382724" y="4761152"/>
            <a:ext cx="498691" cy="5141"/>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sp>
        <p:nvSpPr>
          <p:cNvPr id="209" name="Text Box 11"/>
          <p:cNvSpPr txBox="1">
            <a:spLocks noChangeArrowheads="1"/>
          </p:cNvSpPr>
          <p:nvPr/>
        </p:nvSpPr>
        <p:spPr bwMode="auto">
          <a:xfrm>
            <a:off x="4310730" y="2645108"/>
            <a:ext cx="2371866"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Collect requests</a:t>
            </a:r>
          </a:p>
        </p:txBody>
      </p:sp>
      <p:grpSp>
        <p:nvGrpSpPr>
          <p:cNvPr id="9" name="Group 77"/>
          <p:cNvGrpSpPr>
            <a:grpSpLocks/>
          </p:cNvGrpSpPr>
          <p:nvPr/>
        </p:nvGrpSpPr>
        <p:grpSpPr bwMode="auto">
          <a:xfrm flipH="1">
            <a:off x="6074302" y="5650028"/>
            <a:ext cx="865440" cy="688392"/>
            <a:chOff x="1584" y="816"/>
            <a:chExt cx="912" cy="816"/>
          </a:xfrm>
        </p:grpSpPr>
        <p:sp>
          <p:nvSpPr>
            <p:cNvPr id="7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8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210" name="Group 20"/>
          <p:cNvGrpSpPr>
            <a:grpSpLocks/>
          </p:cNvGrpSpPr>
          <p:nvPr/>
        </p:nvGrpSpPr>
        <p:grpSpPr bwMode="auto">
          <a:xfrm>
            <a:off x="3004380" y="4996796"/>
            <a:ext cx="722880" cy="512695"/>
            <a:chOff x="1232" y="1430"/>
            <a:chExt cx="502" cy="356"/>
          </a:xfrm>
        </p:grpSpPr>
        <p:sp>
          <p:nvSpPr>
            <p:cNvPr id="211"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212"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213" name="Oval 23"/>
            <p:cNvSpPr>
              <a:spLocks noChangeArrowheads="1"/>
            </p:cNvSpPr>
            <p:nvPr/>
          </p:nvSpPr>
          <p:spPr bwMode="auto">
            <a:xfrm>
              <a:off x="1290" y="1430"/>
              <a:ext cx="444" cy="16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214"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5"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6"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7"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8"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9"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20"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221"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222"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23"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24"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a:latin typeface="Arial"/>
                <a:cs typeface="Arial"/>
              </a:endParaRPr>
            </a:p>
          </p:txBody>
        </p:sp>
        <p:sp>
          <p:nvSpPr>
            <p:cNvPr id="225"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a:latin typeface="Arial"/>
                <a:cs typeface="Arial"/>
              </a:endParaRPr>
            </a:p>
          </p:txBody>
        </p:sp>
        <p:sp>
          <p:nvSpPr>
            <p:cNvPr id="226"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227"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228"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sp>
        <p:nvSpPr>
          <p:cNvPr id="229" name="Text Box 11"/>
          <p:cNvSpPr txBox="1">
            <a:spLocks noChangeArrowheads="1"/>
          </p:cNvSpPr>
          <p:nvPr/>
        </p:nvSpPr>
        <p:spPr bwMode="auto">
          <a:xfrm>
            <a:off x="4376047" y="2509500"/>
            <a:ext cx="2342248" cy="837027"/>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Again try to </a:t>
            </a:r>
          </a:p>
          <a:p>
            <a:pPr algn="l"/>
            <a:r>
              <a:rPr lang="en-US" sz="2200" dirty="0">
                <a:latin typeface="Arial"/>
                <a:cs typeface="Arial"/>
              </a:rPr>
              <a:t>collect requests</a:t>
            </a:r>
          </a:p>
        </p:txBody>
      </p:sp>
      <p:sp>
        <p:nvSpPr>
          <p:cNvPr id="231" name="Text Box 11"/>
          <p:cNvSpPr txBox="1">
            <a:spLocks noChangeArrowheads="1"/>
          </p:cNvSpPr>
          <p:nvPr/>
        </p:nvSpPr>
        <p:spPr bwMode="auto">
          <a:xfrm>
            <a:off x="652955" y="1599920"/>
            <a:ext cx="7666196" cy="1040160"/>
          </a:xfrm>
          <a:prstGeom prst="rect">
            <a:avLst/>
          </a:prstGeom>
          <a:solidFill>
            <a:schemeClr val="bg1"/>
          </a:solidFill>
          <a:ln w="9525">
            <a:solidFill>
              <a:srgbClr val="3F51D7"/>
            </a:solidFill>
            <a:miter lim="800000"/>
            <a:headEnd/>
            <a:tailEnd/>
          </a:ln>
        </p:spPr>
        <p:txBody>
          <a:bodyPr wrap="none" lIns="91311" tIns="45658" rIns="91311" bIns="45658">
            <a:spAutoFit/>
          </a:bodyPr>
          <a:lstStyle/>
          <a:p>
            <a:pPr algn="l"/>
            <a:r>
              <a:rPr lang="en-US" sz="2800" dirty="0">
                <a:solidFill>
                  <a:srgbClr val="3F51D7"/>
                </a:solidFill>
                <a:latin typeface="Arial"/>
                <a:cs typeface="Arial"/>
              </a:rPr>
              <a:t>Most requests do not involve a CAS, in fact, </a:t>
            </a:r>
          </a:p>
          <a:p>
            <a:pPr algn="l"/>
            <a:r>
              <a:rPr lang="en-US" sz="2800" dirty="0">
                <a:solidFill>
                  <a:srgbClr val="3F51D7"/>
                </a:solidFill>
                <a:latin typeface="Arial"/>
                <a:cs typeface="Arial"/>
              </a:rPr>
              <a:t>not even a memory barrier</a:t>
            </a:r>
          </a:p>
        </p:txBody>
      </p:sp>
    </p:spTree>
    <p:extLst>
      <p:ext uri="{BB962C8B-B14F-4D97-AF65-F5344CB8AC3E}">
        <p14:creationId xmlns:p14="http://schemas.microsoft.com/office/powerpoint/2010/main" val="242135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26"/>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nodeType="clickEffect">
                                  <p:stCondLst>
                                    <p:cond delay="0"/>
                                  </p:stCondLst>
                                  <p:childTnLst>
                                    <p:animMotion origin="layout" path="M 2.45708E-7 -5.21227E-7 C -0.00158 -0.0536 -0.00347 -0.10719 -0.00583 -0.16057 C -0.00725 -0.1921 -0.00803 -0.22678 -0.01371 -0.25788 C -0.01686 -0.27533 -0.02284 -0.2913 -0.02757 -0.3079 C -0.03072 -0.31925 -0.03308 -0.33165 -0.03749 -0.34216 C -0.03843 -0.34426 -0.04678 -0.36066 -0.0493 -0.3657 C -0.05056 -0.36843 -0.05324 -0.37369 -0.05324 -0.37369 C -0.05639 -0.38693 -0.06159 -0.4008 -0.06899 -0.41047 C -0.07592 -0.42896 -0.08222 -0.44263 -0.09262 -0.45797 C -0.09703 -0.46427 -0.10285 -0.46911 -0.10648 -0.47625 C -0.10774 -0.47898 -0.10852 -0.48214 -0.11041 -0.48424 C -0.13451 -0.51135 -0.18743 -0.51555 -0.21893 -0.5185 C -0.24319 -0.51745 -0.27012 -0.52774 -0.29186 -0.51324 C -0.29989 -0.50778 -0.30288 -0.49853 -0.31155 -0.49475 C -0.32084 -0.48655 -0.32179 -0.48046 -0.32541 -0.46574 C -0.32604 -0.46322 -0.32667 -0.46049 -0.3273 -0.45797 C -0.32793 -0.45524 -0.32935 -0.44998 -0.32935 -0.44998 " pathEditMode="relative" ptsTypes="ffffffffffffffffA">
                                      <p:cBhvr>
                                        <p:cTn id="16" dur="2000" fill="hold"/>
                                        <p:tgtEl>
                                          <p:spTgt spid="9"/>
                                        </p:tgtEl>
                                        <p:attrNameLst>
                                          <p:attrName>ppt_x</p:attrName>
                                          <p:attrName>ppt_y</p:attrName>
                                        </p:attrNameLst>
                                      </p:cBhvr>
                                    </p:animMotion>
                                  </p:childTnLst>
                                </p:cTn>
                              </p:par>
                              <p:par>
                                <p:cTn id="17" presetID="1" presetClass="exit" presetSubtype="0" fill="hold" grpId="1" nodeType="withEffect">
                                  <p:stCondLst>
                                    <p:cond delay="0"/>
                                  </p:stCondLst>
                                  <p:childTnLst>
                                    <p:set>
                                      <p:cBhvr>
                                        <p:cTn id="18" dur="1" fill="hold">
                                          <p:stCondLst>
                                            <p:cond delay="0"/>
                                          </p:stCondLst>
                                        </p:cTn>
                                        <p:tgtEl>
                                          <p:spTgt spid="1438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32"/>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8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nodeType="clickEffect">
                                  <p:stCondLst>
                                    <p:cond delay="0"/>
                                  </p:stCondLst>
                                  <p:childTnLst>
                                    <p:animMotion origin="layout" path="M -3.27611E-7 -7.0702E-6 C 0.00363 -0.01556 0.00268 -0.02249 0.01182 -0.03426 C 0.01371 -0.04519 0.01591 -0.05318 0.01969 -0.06327 C 0.02205 -0.07966 0.02631 -0.09458 0.02946 -0.11056 C 0.03119 -0.11917 0.03339 -0.13683 0.03339 -0.13683 C 0.03229 -0.20282 0.04127 -0.30097 0.00977 -0.36318 C 0.00646 -0.37726 0.00079 -0.38714 -0.00803 -0.39492 C -0.02362 -0.42581 -0.05938 -0.44494 -0.08284 -0.46596 C -0.0934 -0.46512 -0.10427 -0.46638 -0.1145 -0.46323 C -0.11655 -0.46259 -0.11639 -0.45818 -0.11639 -0.45545 C -0.11639 -0.44137 -0.11655 -0.43948 -0.10852 -0.43422 C -0.10112 -0.42939 -0.09245 -0.42876 -0.08489 -0.42371 C -0.07623 -0.41804 -0.06788 -0.41131 -0.05922 -0.40543 C -0.05449 -0.40228 -0.0452 -0.4008 -0.04142 -0.39744 C -0.03339 -0.39009 -0.0378 -0.39282 -0.02772 -0.38967 C -0.02567 -0.38777 -0.02394 -0.38567 -0.02173 -0.3842 C -0.01984 -0.38294 -0.01717 -0.38399 -0.01591 -0.38168 C -0.01071 -0.3718 -0.01118 -0.35793 -0.00598 -0.34742 C -0.0022 -0.32304 0.00284 -0.30055 0.00788 -0.27638 C 0.00914 -0.27029 0.00882 -0.26398 0.00977 -0.25789 C 0.01024 -0.25515 0.01119 -0.25263 0.01182 -0.25011 C 0.02158 -0.16856 0.01528 -0.2272 0.01182 -0.03174 C 0.0115 -0.01388 0.01087 -0.00757 -3.27611E-7 -7.0702E-6 Z " pathEditMode="relative" ptsTypes="fffffffffffffffffffffff">
                                      <p:cBhvr>
                                        <p:cTn id="32" dur="3000" fill="hold"/>
                                        <p:tgtEl>
                                          <p:spTgt spid="177"/>
                                        </p:tgtEl>
                                        <p:attrNameLst>
                                          <p:attrName>ppt_x</p:attrName>
                                          <p:attrName>ppt_y</p:attrName>
                                        </p:attrNameLst>
                                      </p:cBhvr>
                                    </p:animMotion>
                                  </p:childTnLst>
                                </p:cTn>
                              </p:par>
                              <p:par>
                                <p:cTn id="33" presetID="1" presetClass="exit" presetSubtype="0" fill="hold" grpId="1" nodeType="withEffect">
                                  <p:stCondLst>
                                    <p:cond delay="0"/>
                                  </p:stCondLst>
                                  <p:childTnLst>
                                    <p:set>
                                      <p:cBhvr>
                                        <p:cTn id="34" dur="1" fill="hold">
                                          <p:stCondLst>
                                            <p:cond delay="0"/>
                                          </p:stCondLst>
                                        </p:cTn>
                                        <p:tgtEl>
                                          <p:spTgt spid="18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8"/>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14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2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139"/>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4364"/>
                                        </p:tgtEl>
                                        <p:attrNameLst>
                                          <p:attrName>style.visibility</p:attrName>
                                        </p:attrNameLst>
                                      </p:cBhvr>
                                      <p:to>
                                        <p:strVal val="visible"/>
                                      </p:to>
                                    </p:set>
                                  </p:childTnLst>
                                </p:cTn>
                              </p:par>
                              <p:par>
                                <p:cTn id="73" presetID="1" presetClass="exit" presetSubtype="0" fill="hold" grpId="0" nodeType="withEffect">
                                  <p:stCondLst>
                                    <p:cond delay="0"/>
                                  </p:stCondLst>
                                  <p:childTnLst>
                                    <p:set>
                                      <p:cBhvr>
                                        <p:cTn id="74" dur="1" fill="hold">
                                          <p:stCondLst>
                                            <p:cond delay="0"/>
                                          </p:stCondLst>
                                        </p:cTn>
                                        <p:tgtEl>
                                          <p:spTgt spid="14362"/>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0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0" presetClass="path" presetSubtype="0" accel="50000" decel="50000" fill="hold" nodeType="clickEffect">
                                  <p:stCondLst>
                                    <p:cond delay="0"/>
                                  </p:stCondLst>
                                  <p:childTnLst>
                                    <p:animMotion origin="layout" path="M -0.32934 -0.44977 C -0.32414 -0.42896 -0.32131 -0.40774 -0.30367 -0.39975 C -0.29721 -0.39113 -0.29044 -0.38462 -0.28398 -0.376 C -0.28193 -0.36738 -0.2802 -0.35856 -0.27815 -0.34973 C -0.27863 -0.34405 -0.27878 -0.32619 -0.28209 -0.3182 C -0.28823 -0.30349 -0.298 -0.2913 -0.30367 -0.27617 C -0.30855 -0.26314 -0.31375 -0.252 -0.32147 -0.24191 C -0.32351 -0.23392 -0.32729 -0.22215 -0.33139 -0.21564 C -0.33281 -0.21333 -0.33548 -0.21249 -0.33722 -0.21038 C -0.34304 -0.20387 -0.3432 -0.2024 -0.34714 -0.19441 C -0.33422 -0.14544 -0.34588 -0.1818 -0.24649 -0.17865 C -0.16632 -0.17613 -0.08615 -0.17697 -0.00598 -0.17613 C 0.07686 -0.15721 0.06789 -0.16289 0.19531 -0.16289 " pathEditMode="relative" ptsTypes="ffffffffffffA">
                                      <p:cBhvr>
                                        <p:cTn id="86" dur="2000" fill="hold"/>
                                        <p:tgtEl>
                                          <p:spTgt spid="9"/>
                                        </p:tgtEl>
                                        <p:attrNameLst>
                                          <p:attrName>ppt_x</p:attrName>
                                          <p:attrName>ppt_y</p:attrName>
                                        </p:attrNameLst>
                                      </p:cBhvr>
                                    </p:animMotion>
                                  </p:childTnLst>
                                </p:cTn>
                              </p:par>
                            </p:childTnLst>
                          </p:cTn>
                        </p:par>
                      </p:childTnLst>
                    </p:cTn>
                  </p:par>
                  <p:par>
                    <p:cTn id="87" fill="hold">
                      <p:stCondLst>
                        <p:cond delay="indefinite"/>
                      </p:stCondLst>
                      <p:childTnLst>
                        <p:par>
                          <p:cTn id="88" fill="hold">
                            <p:stCondLst>
                              <p:cond delay="0"/>
                            </p:stCondLst>
                            <p:childTnLst>
                              <p:par>
                                <p:cTn id="89" presetID="0" presetClass="path" presetSubtype="0" accel="50000" decel="50000" fill="hold" nodeType="clickEffect">
                                  <p:stCondLst>
                                    <p:cond delay="0"/>
                                  </p:stCondLst>
                                  <p:childTnLst>
                                    <p:animMotion origin="layout" path="M 0.1953 -0.16288 C 0.20397 -0.15931 0.20617 -0.15889 0.20916 -0.14712 C 0.20428 -0.12799 0.18554 -0.10298 0.17168 -0.09458 C 0.15923 -0.08722 0.15939 -0.09142 0.14805 -0.08659 C 0.12002 -0.07482 0.1449 -0.08049 0.1145 -0.07608 C 0.0882 -0.06725 0.06489 -0.06053 0.03764 -0.05759 C 0.00787 -0.04771 -0.02442 -0.04519 -0.05513 -0.04182 C -0.20193 -0.01051 -0.35344 -0.01891 -0.50087 -0.04455 C -0.50481 -0.04624 -0.50985 -0.04771 -0.51268 -0.05233 C -0.51394 -0.05443 -0.51363 -0.05801 -0.51473 -0.06032 C -0.51631 -0.06347 -0.51883 -0.06515 -0.52056 -0.06809 C -0.52339 -0.07314 -0.52576 -0.07881 -0.52843 -0.08407 C -0.52969 -0.08659 -0.53237 -0.09184 -0.53237 -0.09184 C -0.53552 -0.10824 -0.53552 -0.13094 -0.54229 -0.1446 C -0.54403 -0.15174 -0.54812 -0.16246 -0.54812 -0.17087 " pathEditMode="relative" ptsTypes="ffffffffffffffA">
                                      <p:cBhvr>
                                        <p:cTn id="90" dur="2000" fill="hold"/>
                                        <p:tgtEl>
                                          <p:spTgt spid="9"/>
                                        </p:tgtEl>
                                        <p:attrNameLst>
                                          <p:attrName>ppt_x</p:attrName>
                                          <p:attrName>ppt_y</p:attrName>
                                        </p:attrNameLst>
                                      </p:cBhvr>
                                    </p:animMotion>
                                  </p:childTnLst>
                                </p:cTn>
                              </p:par>
                              <p:par>
                                <p:cTn id="91" presetID="1" presetClass="entr" presetSubtype="0" fill="hold" grpId="0" nodeType="withEffect">
                                  <p:stCondLst>
                                    <p:cond delay="0"/>
                                  </p:stCondLst>
                                  <p:childTnLst>
                                    <p:set>
                                      <p:cBhvr>
                                        <p:cTn id="92" dur="1" fill="hold">
                                          <p:stCondLst>
                                            <p:cond delay="0"/>
                                          </p:stCondLst>
                                        </p:cTn>
                                        <p:tgtEl>
                                          <p:spTgt spid="10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29"/>
                                        </p:tgtEl>
                                        <p:attrNameLst>
                                          <p:attrName>style.visibility</p:attrName>
                                        </p:attrNameLst>
                                      </p:cBhvr>
                                      <p:to>
                                        <p:strVal val="visible"/>
                                      </p:to>
                                    </p:set>
                                  </p:childTnLst>
                                </p:cTn>
                              </p:par>
                              <p:par>
                                <p:cTn id="97" presetID="1" presetClass="exit" presetSubtype="0" fill="hold" grpId="1" nodeType="withEffect">
                                  <p:stCondLst>
                                    <p:cond delay="0"/>
                                  </p:stCondLst>
                                  <p:childTnLst>
                                    <p:set>
                                      <p:cBhvr>
                                        <p:cTn id="98" dur="1" fill="hold">
                                          <p:stCondLst>
                                            <p:cond delay="0"/>
                                          </p:stCondLst>
                                        </p:cTn>
                                        <p:tgtEl>
                                          <p:spTgt spid="209"/>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2" grpId="0"/>
      <p:bldP spid="14382" grpId="1"/>
      <p:bldP spid="14362" grpId="0" animBg="1"/>
      <p:bldP spid="14364" grpId="0" animBg="1"/>
      <p:bldP spid="89" grpId="0"/>
      <p:bldP spid="102" grpId="0"/>
      <p:bldP spid="126" grpId="0"/>
      <p:bldP spid="132" grpId="0"/>
      <p:bldP spid="138" grpId="0"/>
      <p:bldP spid="139" grpId="0"/>
      <p:bldP spid="139" grpId="1"/>
      <p:bldP spid="146" grpId="0"/>
      <p:bldP spid="146" grpId="1"/>
      <p:bldP spid="166" grpId="0"/>
      <p:bldP spid="187" grpId="0"/>
      <p:bldP spid="187" grpId="1"/>
      <p:bldP spid="189" grpId="0"/>
      <p:bldP spid="127" grpId="0" animBg="1"/>
      <p:bldP spid="209" grpId="0"/>
      <p:bldP spid="209" grpId="1"/>
      <p:bldP spid="229" grpId="0"/>
      <p:bldP spid="231" grpId="0" animBg="1"/>
    </p:bld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33"/>
          <p:cNvSpPr>
            <a:spLocks noChangeArrowheads="1"/>
          </p:cNvSpPr>
          <p:nvPr/>
        </p:nvSpPr>
        <p:spPr bwMode="auto">
          <a:xfrm>
            <a:off x="866864" y="4009930"/>
            <a:ext cx="1698255" cy="1175838"/>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338" name="Rectangle 2"/>
          <p:cNvSpPr>
            <a:spLocks noGrp="1" noChangeArrowheads="1"/>
          </p:cNvSpPr>
          <p:nvPr>
            <p:ph type="title"/>
          </p:nvPr>
        </p:nvSpPr>
        <p:spPr>
          <a:xfrm>
            <a:off x="755652" y="404813"/>
            <a:ext cx="7772400" cy="1143000"/>
          </a:xfrm>
        </p:spPr>
        <p:txBody>
          <a:bodyPr/>
          <a:lstStyle/>
          <a:p>
            <a:r>
              <a:rPr lang="en-US" dirty="0"/>
              <a:t>Flat-Combining Pub-List Cleanup</a:t>
            </a:r>
          </a:p>
        </p:txBody>
      </p:sp>
      <p:grpSp>
        <p:nvGrpSpPr>
          <p:cNvPr id="2" name="Group 3"/>
          <p:cNvGrpSpPr>
            <a:grpSpLocks/>
          </p:cNvGrpSpPr>
          <p:nvPr/>
        </p:nvGrpSpPr>
        <p:grpSpPr bwMode="auto">
          <a:xfrm>
            <a:off x="3218304" y="2964740"/>
            <a:ext cx="459821" cy="706437"/>
            <a:chOff x="1029" y="2668"/>
            <a:chExt cx="363" cy="445"/>
          </a:xfrm>
        </p:grpSpPr>
        <p:grpSp>
          <p:nvGrpSpPr>
            <p:cNvPr id="3" name="Group 4"/>
            <p:cNvGrpSpPr>
              <a:grpSpLocks/>
            </p:cNvGrpSpPr>
            <p:nvPr/>
          </p:nvGrpSpPr>
          <p:grpSpPr bwMode="auto">
            <a:xfrm>
              <a:off x="1101" y="2668"/>
              <a:ext cx="217" cy="238"/>
              <a:chOff x="1075" y="2731"/>
              <a:chExt cx="244" cy="166"/>
            </a:xfrm>
          </p:grpSpPr>
          <p:sp>
            <p:nvSpPr>
              <p:cNvPr id="14393" name="Oval 5"/>
              <p:cNvSpPr>
                <a:spLocks noChangeArrowheads="1"/>
              </p:cNvSpPr>
              <p:nvPr/>
            </p:nvSpPr>
            <p:spPr bwMode="auto">
              <a:xfrm>
                <a:off x="1075" y="2731"/>
                <a:ext cx="244" cy="166"/>
              </a:xfrm>
              <a:prstGeom prst="ellipse">
                <a:avLst/>
              </a:prstGeom>
              <a:solidFill>
                <a:schemeClr val="tx1"/>
              </a:solidFill>
              <a:ln w="12700">
                <a:solidFill>
                  <a:schemeClr val="tx2"/>
                </a:solidFill>
                <a:round/>
                <a:headEnd/>
                <a:tailEnd/>
              </a:ln>
            </p:spPr>
            <p:txBody>
              <a:bodyPr wrap="none" anchor="ctr"/>
              <a:lstStyle/>
              <a:p>
                <a:endParaRPr lang="en-US">
                  <a:latin typeface="Arial"/>
                  <a:cs typeface="Arial"/>
                </a:endParaRPr>
              </a:p>
            </p:txBody>
          </p:sp>
          <p:sp>
            <p:nvSpPr>
              <p:cNvPr id="14394" name="Oval 6"/>
              <p:cNvSpPr>
                <a:spLocks noChangeArrowheads="1"/>
              </p:cNvSpPr>
              <p:nvPr/>
            </p:nvSpPr>
            <p:spPr bwMode="auto">
              <a:xfrm>
                <a:off x="1135" y="2750"/>
                <a:ext cx="158" cy="112"/>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grpSp>
        <p:sp>
          <p:nvSpPr>
            <p:cNvPr id="14390" name="Rectangle 7"/>
            <p:cNvSpPr>
              <a:spLocks noChangeArrowheads="1"/>
            </p:cNvSpPr>
            <p:nvPr/>
          </p:nvSpPr>
          <p:spPr bwMode="auto">
            <a:xfrm>
              <a:off x="1029" y="2795"/>
              <a:ext cx="363" cy="318"/>
            </a:xfrm>
            <a:prstGeom prst="rect">
              <a:avLst/>
            </a:prstGeom>
            <a:solidFill>
              <a:srgbClr val="00FFCC"/>
            </a:solidFill>
            <a:ln w="9525">
              <a:solidFill>
                <a:schemeClr val="tx1"/>
              </a:solidFill>
              <a:miter lim="800000"/>
              <a:headEnd/>
              <a:tailEnd/>
            </a:ln>
          </p:spPr>
          <p:txBody>
            <a:bodyPr wrap="none" anchor="ctr"/>
            <a:lstStyle/>
            <a:p>
              <a:endParaRPr lang="en-US">
                <a:latin typeface="Arial"/>
                <a:cs typeface="Arial"/>
              </a:endParaRPr>
            </a:p>
          </p:txBody>
        </p:sp>
        <p:sp>
          <p:nvSpPr>
            <p:cNvPr id="14391" name="Oval 8"/>
            <p:cNvSpPr>
              <a:spLocks noChangeArrowheads="1"/>
            </p:cNvSpPr>
            <p:nvPr/>
          </p:nvSpPr>
          <p:spPr bwMode="auto">
            <a:xfrm>
              <a:off x="1151" y="2880"/>
              <a:ext cx="141" cy="65"/>
            </a:xfrm>
            <a:prstGeom prst="ellipse">
              <a:avLst/>
            </a:prstGeom>
            <a:solidFill>
              <a:schemeClr val="tx1"/>
            </a:solidFill>
            <a:ln w="25400">
              <a:noFill/>
              <a:round/>
              <a:headEnd/>
              <a:tailEnd/>
            </a:ln>
          </p:spPr>
          <p:txBody>
            <a:bodyPr wrap="none" anchor="ctr"/>
            <a:lstStyle/>
            <a:p>
              <a:endParaRPr lang="en-US">
                <a:latin typeface="Arial"/>
                <a:cs typeface="Arial"/>
              </a:endParaRPr>
            </a:p>
          </p:txBody>
        </p:sp>
        <p:sp>
          <p:nvSpPr>
            <p:cNvPr id="14392" name="AutoShape 9"/>
            <p:cNvSpPr>
              <a:spLocks noChangeArrowheads="1"/>
            </p:cNvSpPr>
            <p:nvPr/>
          </p:nvSpPr>
          <p:spPr bwMode="auto">
            <a:xfrm flipV="1">
              <a:off x="1151" y="2915"/>
              <a:ext cx="139" cy="1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6 w 21600"/>
                <a:gd name="T13" fmla="*/ 4441 h 21600"/>
                <a:gd name="T14" fmla="*/ 17094 w 21600"/>
                <a:gd name="T15" fmla="*/ 17159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tx1"/>
            </a:solidFill>
            <a:ln w="25400">
              <a:noFill/>
              <a:miter lim="800000"/>
              <a:headEnd/>
              <a:tailEnd/>
            </a:ln>
          </p:spPr>
          <p:txBody>
            <a:bodyPr wrap="none" anchor="ctr"/>
            <a:lstStyle/>
            <a:p>
              <a:endParaRPr lang="en-US">
                <a:latin typeface="Arial"/>
                <a:cs typeface="Arial"/>
              </a:endParaRPr>
            </a:p>
          </p:txBody>
        </p:sp>
      </p:grpSp>
      <p:sp>
        <p:nvSpPr>
          <p:cNvPr id="14382" name="Text Box 25"/>
          <p:cNvSpPr txBox="1">
            <a:spLocks noChangeArrowheads="1"/>
          </p:cNvSpPr>
          <p:nvPr/>
        </p:nvSpPr>
        <p:spPr bwMode="auto">
          <a:xfrm>
            <a:off x="5878350" y="5127444"/>
            <a:ext cx="979762" cy="360650"/>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Enq</a:t>
            </a:r>
            <a:r>
              <a:rPr lang="en-US" sz="1800" dirty="0">
                <a:latin typeface="Arial"/>
                <a:cs typeface="Arial"/>
              </a:rPr>
              <a:t>(d)</a:t>
            </a:r>
            <a:endParaRPr lang="en-US" sz="1500" dirty="0">
              <a:latin typeface="Arial"/>
              <a:cs typeface="Arial"/>
            </a:endParaRPr>
          </a:p>
        </p:txBody>
      </p:sp>
      <p:sp>
        <p:nvSpPr>
          <p:cNvPr id="14360" name="Text Box 32"/>
          <p:cNvSpPr txBox="1">
            <a:spLocks noChangeArrowheads="1"/>
          </p:cNvSpPr>
          <p:nvPr/>
        </p:nvSpPr>
        <p:spPr bwMode="auto">
          <a:xfrm>
            <a:off x="4702637" y="3624973"/>
            <a:ext cx="864216" cy="422205"/>
          </a:xfrm>
          <a:prstGeom prst="rect">
            <a:avLst/>
          </a:prstGeom>
          <a:noFill/>
          <a:ln w="9525">
            <a:noFill/>
            <a:miter lim="800000"/>
            <a:headEnd/>
            <a:tailEnd/>
          </a:ln>
        </p:spPr>
        <p:txBody>
          <a:bodyPr wrap="none" lIns="82840" tIns="41421" rIns="82840" bIns="41421">
            <a:spAutoFit/>
          </a:bodyPr>
          <a:lstStyle/>
          <a:p>
            <a:r>
              <a:rPr lang="en-US" sz="2200" dirty="0">
                <a:latin typeface="Arial"/>
                <a:cs typeface="Arial"/>
              </a:rPr>
              <a:t>Head</a:t>
            </a:r>
          </a:p>
        </p:txBody>
      </p:sp>
      <p:sp>
        <p:nvSpPr>
          <p:cNvPr id="14361"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364" name="Freeform 39"/>
          <p:cNvSpPr>
            <a:spLocks/>
          </p:cNvSpPr>
          <p:nvPr/>
        </p:nvSpPr>
        <p:spPr bwMode="auto">
          <a:xfrm>
            <a:off x="3725255" y="3755621"/>
            <a:ext cx="650794" cy="755151"/>
          </a:xfrm>
          <a:custGeom>
            <a:avLst/>
            <a:gdLst>
              <a:gd name="T0" fmla="*/ 1 w 590"/>
              <a:gd name="T1" fmla="*/ 0 h 952"/>
              <a:gd name="T2" fmla="*/ 1 w 590"/>
              <a:gd name="T3" fmla="*/ 0 h 952"/>
              <a:gd name="T4" fmla="*/ 0 w 590"/>
              <a:gd name="T5" fmla="*/ 0 h 952"/>
              <a:gd name="T6" fmla="*/ 0 60000 65536"/>
              <a:gd name="T7" fmla="*/ 0 60000 65536"/>
              <a:gd name="T8" fmla="*/ 0 60000 65536"/>
              <a:gd name="T9" fmla="*/ 0 w 590"/>
              <a:gd name="T10" fmla="*/ 0 h 952"/>
              <a:gd name="T11" fmla="*/ 590 w 590"/>
              <a:gd name="T12" fmla="*/ 952 h 952"/>
            </a:gdLst>
            <a:ahLst/>
            <a:cxnLst>
              <a:cxn ang="T6">
                <a:pos x="T0" y="T1"/>
              </a:cxn>
              <a:cxn ang="T7">
                <a:pos x="T2" y="T3"/>
              </a:cxn>
              <a:cxn ang="T8">
                <a:pos x="T4" y="T5"/>
              </a:cxn>
            </a:cxnLst>
            <a:rect l="T9" t="T10" r="T11" b="T12"/>
            <a:pathLst>
              <a:path w="590" h="952">
                <a:moveTo>
                  <a:pt x="590" y="0"/>
                </a:moveTo>
                <a:cubicBezTo>
                  <a:pt x="412" y="124"/>
                  <a:pt x="234" y="249"/>
                  <a:pt x="136" y="408"/>
                </a:cubicBezTo>
                <a:cubicBezTo>
                  <a:pt x="38" y="567"/>
                  <a:pt x="19" y="759"/>
                  <a:pt x="0" y="952"/>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60" name="Text Box 11"/>
          <p:cNvSpPr txBox="1">
            <a:spLocks noChangeArrowheads="1"/>
          </p:cNvSpPr>
          <p:nvPr/>
        </p:nvSpPr>
        <p:spPr bwMode="auto">
          <a:xfrm>
            <a:off x="1258769" y="3552660"/>
            <a:ext cx="1049526" cy="430762"/>
          </a:xfrm>
          <a:prstGeom prst="rect">
            <a:avLst/>
          </a:prstGeom>
          <a:noFill/>
          <a:ln w="9525">
            <a:noFill/>
            <a:miter lim="800000"/>
            <a:headEnd/>
            <a:tailEnd/>
          </a:ln>
        </p:spPr>
        <p:txBody>
          <a:bodyPr wrap="none" lIns="91311" tIns="45658" rIns="91311" bIns="45658">
            <a:spAutoFit/>
          </a:bodyPr>
          <a:lstStyle/>
          <a:p>
            <a:r>
              <a:rPr lang="en-US" sz="2200" dirty="0">
                <a:latin typeface="Arial"/>
                <a:cs typeface="Arial"/>
              </a:rPr>
              <a:t>object</a:t>
            </a:r>
          </a:p>
        </p:txBody>
      </p:sp>
      <p:grpSp>
        <p:nvGrpSpPr>
          <p:cNvPr id="4" name="Group 77"/>
          <p:cNvGrpSpPr>
            <a:grpSpLocks/>
          </p:cNvGrpSpPr>
          <p:nvPr/>
        </p:nvGrpSpPr>
        <p:grpSpPr bwMode="auto">
          <a:xfrm flipH="1">
            <a:off x="3135015" y="5584706"/>
            <a:ext cx="865440" cy="688392"/>
            <a:chOff x="1584" y="816"/>
            <a:chExt cx="912" cy="816"/>
          </a:xfrm>
        </p:grpSpPr>
        <p:sp>
          <p:nvSpPr>
            <p:cNvPr id="6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latin typeface="Arial"/>
                <a:cs typeface="Arial"/>
              </a:endParaRPr>
            </a:p>
          </p:txBody>
        </p:sp>
        <p:sp>
          <p:nvSpPr>
            <p:cNvPr id="6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6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5" name="Group 77"/>
          <p:cNvGrpSpPr>
            <a:grpSpLocks/>
          </p:cNvGrpSpPr>
          <p:nvPr/>
        </p:nvGrpSpPr>
        <p:grpSpPr bwMode="auto">
          <a:xfrm flipH="1">
            <a:off x="7250017" y="5650028"/>
            <a:ext cx="865440" cy="688392"/>
            <a:chOff x="1584" y="816"/>
            <a:chExt cx="912" cy="816"/>
          </a:xfrm>
        </p:grpSpPr>
        <p:sp>
          <p:nvSpPr>
            <p:cNvPr id="9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5"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9"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0"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1"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05" name="Text Box 11"/>
          <p:cNvSpPr txBox="1">
            <a:spLocks noChangeArrowheads="1"/>
          </p:cNvSpPr>
          <p:nvPr/>
        </p:nvSpPr>
        <p:spPr bwMode="auto">
          <a:xfrm>
            <a:off x="6074304" y="3820947"/>
            <a:ext cx="2190852"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Publication list</a:t>
            </a:r>
          </a:p>
        </p:txBody>
      </p:sp>
      <p:grpSp>
        <p:nvGrpSpPr>
          <p:cNvPr id="6" name="Group 118"/>
          <p:cNvGrpSpPr/>
          <p:nvPr/>
        </p:nvGrpSpPr>
        <p:grpSpPr>
          <a:xfrm>
            <a:off x="7315334" y="4590588"/>
            <a:ext cx="1082475" cy="385862"/>
            <a:chOff x="7951415" y="5060273"/>
            <a:chExt cx="1193353" cy="425341"/>
          </a:xfrm>
        </p:grpSpPr>
        <p:sp>
          <p:nvSpPr>
            <p:cNvPr id="14380"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4381"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4356" name="Line 26"/>
            <p:cNvSpPr>
              <a:spLocks noChangeShapeType="1"/>
            </p:cNvSpPr>
            <p:nvPr/>
          </p:nvSpPr>
          <p:spPr bwMode="auto">
            <a:xfrm flipV="1">
              <a:off x="8928744" y="5067299"/>
              <a:ext cx="215256" cy="404812"/>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1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17" name="Text Box 25"/>
          <p:cNvSpPr txBox="1">
            <a:spLocks noChangeArrowheads="1"/>
          </p:cNvSpPr>
          <p:nvPr/>
        </p:nvSpPr>
        <p:spPr bwMode="auto">
          <a:xfrm>
            <a:off x="7267347" y="4670175"/>
            <a:ext cx="849127" cy="283811"/>
          </a:xfrm>
          <a:prstGeom prst="rect">
            <a:avLst/>
          </a:prstGeom>
          <a:noFill/>
          <a:ln w="9525">
            <a:noFill/>
            <a:miter lim="800000"/>
            <a:headEnd/>
            <a:tailEnd/>
          </a:ln>
        </p:spPr>
        <p:txBody>
          <a:bodyPr wrap="square" lIns="82840" tIns="41421" rIns="82840" bIns="41421">
            <a:spAutoFit/>
          </a:bodyPr>
          <a:lstStyle/>
          <a:p>
            <a:r>
              <a:rPr lang="en-US" sz="1300" dirty="0" err="1">
                <a:latin typeface="Arial"/>
                <a:cs typeface="Arial"/>
              </a:rPr>
              <a:t>Enq</a:t>
            </a:r>
            <a:r>
              <a:rPr lang="en-US" sz="1300" dirty="0">
                <a:latin typeface="Arial"/>
                <a:cs typeface="Arial"/>
              </a:rPr>
              <a:t>(d</a:t>
            </a:r>
            <a:r>
              <a:rPr lang="en-US" sz="1100" dirty="0">
                <a:latin typeface="Arial"/>
                <a:cs typeface="Arial"/>
              </a:rPr>
              <a:t>)</a:t>
            </a:r>
            <a:endParaRPr lang="en-US" sz="1000" dirty="0">
              <a:latin typeface="Arial"/>
              <a:cs typeface="Arial"/>
            </a:endParaRPr>
          </a:p>
        </p:txBody>
      </p:sp>
      <p:grpSp>
        <p:nvGrpSpPr>
          <p:cNvPr id="7" name="Group 120"/>
          <p:cNvGrpSpPr/>
          <p:nvPr/>
        </p:nvGrpSpPr>
        <p:grpSpPr>
          <a:xfrm>
            <a:off x="5895878" y="4582375"/>
            <a:ext cx="1082475" cy="385862"/>
            <a:chOff x="7951415" y="5060273"/>
            <a:chExt cx="1193353" cy="425341"/>
          </a:xfrm>
        </p:grpSpPr>
        <p:sp>
          <p:nvSpPr>
            <p:cNvPr id="122"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23"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25"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4370" name="Line 47"/>
          <p:cNvSpPr>
            <a:spLocks noChangeShapeType="1"/>
          </p:cNvSpPr>
          <p:nvPr/>
        </p:nvSpPr>
        <p:spPr bwMode="auto">
          <a:xfrm flipV="1">
            <a:off x="6894720" y="4787062"/>
            <a:ext cx="414720"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8" name="Group 127"/>
          <p:cNvGrpSpPr/>
          <p:nvPr/>
        </p:nvGrpSpPr>
        <p:grpSpPr>
          <a:xfrm>
            <a:off x="4408047" y="4565525"/>
            <a:ext cx="1082475" cy="385862"/>
            <a:chOff x="7951415" y="5060273"/>
            <a:chExt cx="1193353" cy="425341"/>
          </a:xfrm>
        </p:grpSpPr>
        <p:sp>
          <p:nvSpPr>
            <p:cNvPr id="12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30"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31"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32" name="Text Box 25"/>
          <p:cNvSpPr txBox="1">
            <a:spLocks noChangeArrowheads="1"/>
          </p:cNvSpPr>
          <p:nvPr/>
        </p:nvSpPr>
        <p:spPr bwMode="auto">
          <a:xfrm>
            <a:off x="4463688" y="4604850"/>
            <a:ext cx="849127" cy="283811"/>
          </a:xfrm>
          <a:prstGeom prst="rect">
            <a:avLst/>
          </a:prstGeom>
          <a:noFill/>
          <a:ln w="9525">
            <a:noFill/>
            <a:miter lim="800000"/>
            <a:headEnd/>
            <a:tailEnd/>
          </a:ln>
        </p:spPr>
        <p:txBody>
          <a:bodyPr wrap="square" lIns="82840" tIns="41421" rIns="82840" bIns="41421">
            <a:spAutoFit/>
          </a:bodyPr>
          <a:lstStyle/>
          <a:p>
            <a:r>
              <a:rPr lang="en-US" sz="1300" dirty="0">
                <a:latin typeface="Arial"/>
                <a:cs typeface="Arial"/>
              </a:rPr>
              <a:t>null</a:t>
            </a:r>
            <a:endParaRPr lang="en-US" sz="1000" dirty="0">
              <a:latin typeface="Arial"/>
              <a:cs typeface="Arial"/>
            </a:endParaRPr>
          </a:p>
        </p:txBody>
      </p:sp>
      <p:grpSp>
        <p:nvGrpSpPr>
          <p:cNvPr id="9" name="Group 133"/>
          <p:cNvGrpSpPr/>
          <p:nvPr/>
        </p:nvGrpSpPr>
        <p:grpSpPr>
          <a:xfrm>
            <a:off x="2999727" y="4548245"/>
            <a:ext cx="1082475" cy="385862"/>
            <a:chOff x="7951415" y="5060273"/>
            <a:chExt cx="1193353" cy="425341"/>
          </a:xfrm>
        </p:grpSpPr>
        <p:sp>
          <p:nvSpPr>
            <p:cNvPr id="135"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36"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37"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38" name="Text Box 25"/>
          <p:cNvSpPr txBox="1">
            <a:spLocks noChangeArrowheads="1"/>
          </p:cNvSpPr>
          <p:nvPr/>
        </p:nvSpPr>
        <p:spPr bwMode="auto">
          <a:xfrm>
            <a:off x="2973129" y="4604850"/>
            <a:ext cx="849127" cy="321083"/>
          </a:xfrm>
          <a:prstGeom prst="rect">
            <a:avLst/>
          </a:prstGeom>
          <a:noFill/>
          <a:ln w="9525">
            <a:noFill/>
            <a:miter lim="800000"/>
            <a:headEnd/>
            <a:tailEnd/>
          </a:ln>
        </p:spPr>
        <p:txBody>
          <a:bodyPr wrap="square" lIns="82840" tIns="41421" rIns="82840" bIns="41421">
            <a:spAutoFit/>
          </a:bodyPr>
          <a:lstStyle/>
          <a:p>
            <a:r>
              <a:rPr lang="en-US" sz="1500" dirty="0" err="1">
                <a:latin typeface="Arial"/>
                <a:cs typeface="Arial"/>
              </a:rPr>
              <a:t>Deq</a:t>
            </a:r>
            <a:r>
              <a:rPr lang="en-US" sz="1500" dirty="0">
                <a:latin typeface="Arial"/>
                <a:cs typeface="Arial"/>
              </a:rPr>
              <a:t>()</a:t>
            </a:r>
            <a:endParaRPr lang="en-US" sz="1000" dirty="0">
              <a:latin typeface="Arial"/>
              <a:cs typeface="Arial"/>
            </a:endParaRPr>
          </a:p>
        </p:txBody>
      </p:sp>
      <p:sp>
        <p:nvSpPr>
          <p:cNvPr id="140" name="Rectangle 33"/>
          <p:cNvSpPr>
            <a:spLocks noChangeArrowheads="1"/>
          </p:cNvSpPr>
          <p:nvPr/>
        </p:nvSpPr>
        <p:spPr bwMode="auto">
          <a:xfrm>
            <a:off x="2547170" y="3167704"/>
            <a:ext cx="423373" cy="508224"/>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1" name="Text Box 11"/>
          <p:cNvSpPr txBox="1">
            <a:spLocks noChangeArrowheads="1"/>
          </p:cNvSpPr>
          <p:nvPr/>
        </p:nvSpPr>
        <p:spPr bwMode="auto">
          <a:xfrm>
            <a:off x="1959313" y="2645108"/>
            <a:ext cx="1218968"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counter</a:t>
            </a:r>
          </a:p>
        </p:txBody>
      </p:sp>
      <p:sp>
        <p:nvSpPr>
          <p:cNvPr id="142" name="Text Box 11"/>
          <p:cNvSpPr txBox="1">
            <a:spLocks noChangeArrowheads="1"/>
          </p:cNvSpPr>
          <p:nvPr/>
        </p:nvSpPr>
        <p:spPr bwMode="auto">
          <a:xfrm>
            <a:off x="2547170" y="3167702"/>
            <a:ext cx="498218"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54</a:t>
            </a:r>
          </a:p>
        </p:txBody>
      </p:sp>
      <p:sp>
        <p:nvSpPr>
          <p:cNvPr id="143" name="Text Box 11"/>
          <p:cNvSpPr txBox="1">
            <a:spLocks noChangeArrowheads="1"/>
          </p:cNvSpPr>
          <p:nvPr/>
        </p:nvSpPr>
        <p:spPr bwMode="auto">
          <a:xfrm>
            <a:off x="6466208"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54</a:t>
            </a:r>
          </a:p>
        </p:txBody>
      </p:sp>
      <p:sp>
        <p:nvSpPr>
          <p:cNvPr id="144" name="Text Box 11"/>
          <p:cNvSpPr txBox="1">
            <a:spLocks noChangeArrowheads="1"/>
          </p:cNvSpPr>
          <p:nvPr/>
        </p:nvSpPr>
        <p:spPr bwMode="auto">
          <a:xfrm>
            <a:off x="4963917"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12</a:t>
            </a:r>
          </a:p>
        </p:txBody>
      </p:sp>
      <p:sp>
        <p:nvSpPr>
          <p:cNvPr id="145" name="Text Box 11"/>
          <p:cNvSpPr txBox="1">
            <a:spLocks noChangeArrowheads="1"/>
          </p:cNvSpPr>
          <p:nvPr/>
        </p:nvSpPr>
        <p:spPr bwMode="auto">
          <a:xfrm>
            <a:off x="7837875" y="4681086"/>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54</a:t>
            </a:r>
          </a:p>
        </p:txBody>
      </p:sp>
      <p:sp>
        <p:nvSpPr>
          <p:cNvPr id="146" name="Text Box 11"/>
          <p:cNvSpPr txBox="1">
            <a:spLocks noChangeArrowheads="1"/>
          </p:cNvSpPr>
          <p:nvPr/>
        </p:nvSpPr>
        <p:spPr bwMode="auto">
          <a:xfrm>
            <a:off x="3526932"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53</a:t>
            </a:r>
          </a:p>
        </p:txBody>
      </p:sp>
      <p:sp>
        <p:nvSpPr>
          <p:cNvPr id="166" name="Text Box 25"/>
          <p:cNvSpPr txBox="1">
            <a:spLocks noChangeArrowheads="1"/>
          </p:cNvSpPr>
          <p:nvPr/>
        </p:nvSpPr>
        <p:spPr bwMode="auto">
          <a:xfrm>
            <a:off x="5871016" y="4670175"/>
            <a:ext cx="849127" cy="283811"/>
          </a:xfrm>
          <a:prstGeom prst="rect">
            <a:avLst/>
          </a:prstGeom>
          <a:noFill/>
          <a:ln w="9525">
            <a:noFill/>
            <a:miter lim="800000"/>
            <a:headEnd/>
            <a:tailEnd/>
          </a:ln>
        </p:spPr>
        <p:txBody>
          <a:bodyPr wrap="square" lIns="82840" tIns="41421" rIns="82840" bIns="41421">
            <a:spAutoFit/>
          </a:bodyPr>
          <a:lstStyle/>
          <a:p>
            <a:r>
              <a:rPr lang="en-US" sz="1300" dirty="0" err="1">
                <a:latin typeface="Arial"/>
                <a:cs typeface="Arial"/>
              </a:rPr>
              <a:t>Enq</a:t>
            </a:r>
            <a:r>
              <a:rPr lang="en-US" sz="1300" dirty="0">
                <a:latin typeface="Arial"/>
                <a:cs typeface="Arial"/>
              </a:rPr>
              <a:t>(d)</a:t>
            </a:r>
            <a:endParaRPr lang="en-US" sz="1000" dirty="0">
              <a:latin typeface="Arial"/>
              <a:cs typeface="Arial"/>
            </a:endParaRPr>
          </a:p>
        </p:txBody>
      </p:sp>
      <p:grpSp>
        <p:nvGrpSpPr>
          <p:cNvPr id="11" name="Group 77"/>
          <p:cNvGrpSpPr>
            <a:grpSpLocks/>
          </p:cNvGrpSpPr>
          <p:nvPr/>
        </p:nvGrpSpPr>
        <p:grpSpPr bwMode="auto">
          <a:xfrm flipH="1">
            <a:off x="1502078" y="5388732"/>
            <a:ext cx="865440" cy="688392"/>
            <a:chOff x="1584" y="816"/>
            <a:chExt cx="912" cy="816"/>
          </a:xfrm>
        </p:grpSpPr>
        <p:sp>
          <p:nvSpPr>
            <p:cNvPr id="178"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9"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0"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1"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2"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3"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4"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6"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2" name="Group 20"/>
          <p:cNvGrpSpPr>
            <a:grpSpLocks/>
          </p:cNvGrpSpPr>
          <p:nvPr/>
        </p:nvGrpSpPr>
        <p:grpSpPr bwMode="auto">
          <a:xfrm>
            <a:off x="7576606" y="5062121"/>
            <a:ext cx="722880" cy="512695"/>
            <a:chOff x="1232" y="1430"/>
            <a:chExt cx="502" cy="356"/>
          </a:xfrm>
        </p:grpSpPr>
        <p:sp>
          <p:nvSpPr>
            <p:cNvPr id="191"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92"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93" name="Oval 23"/>
            <p:cNvSpPr>
              <a:spLocks noChangeArrowheads="1"/>
            </p:cNvSpPr>
            <p:nvPr/>
          </p:nvSpPr>
          <p:spPr bwMode="auto">
            <a:xfrm>
              <a:off x="1290" y="1430"/>
              <a:ext cx="444" cy="16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194"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5"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6"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7"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8"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199"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00"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201"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202"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03"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04"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a:latin typeface="Arial"/>
                <a:cs typeface="Arial"/>
              </a:endParaRPr>
            </a:p>
          </p:txBody>
        </p:sp>
        <p:sp>
          <p:nvSpPr>
            <p:cNvPr id="205"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a:latin typeface="Arial"/>
                <a:cs typeface="Arial"/>
              </a:endParaRPr>
            </a:p>
          </p:txBody>
        </p:sp>
        <p:sp>
          <p:nvSpPr>
            <p:cNvPr id="206"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207"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208"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sp>
        <p:nvSpPr>
          <p:cNvPr id="127" name="Line 47"/>
          <p:cNvSpPr>
            <a:spLocks noChangeShapeType="1"/>
          </p:cNvSpPr>
          <p:nvPr/>
        </p:nvSpPr>
        <p:spPr bwMode="auto">
          <a:xfrm>
            <a:off x="3984142" y="4748528"/>
            <a:ext cx="439538" cy="12623"/>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sp>
        <p:nvSpPr>
          <p:cNvPr id="120" name="Line 47"/>
          <p:cNvSpPr>
            <a:spLocks noChangeShapeType="1"/>
          </p:cNvSpPr>
          <p:nvPr/>
        </p:nvSpPr>
        <p:spPr bwMode="auto">
          <a:xfrm>
            <a:off x="5382724" y="4761152"/>
            <a:ext cx="498691" cy="5141"/>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13" name="Group 77"/>
          <p:cNvGrpSpPr>
            <a:grpSpLocks/>
          </p:cNvGrpSpPr>
          <p:nvPr/>
        </p:nvGrpSpPr>
        <p:grpSpPr bwMode="auto">
          <a:xfrm flipH="1">
            <a:off x="6074302" y="5650028"/>
            <a:ext cx="865440" cy="688392"/>
            <a:chOff x="1584" y="816"/>
            <a:chExt cx="912" cy="816"/>
          </a:xfrm>
        </p:grpSpPr>
        <p:sp>
          <p:nvSpPr>
            <p:cNvPr id="7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8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grpSp>
        <p:nvGrpSpPr>
          <p:cNvPr id="14" name="Group 20"/>
          <p:cNvGrpSpPr>
            <a:grpSpLocks/>
          </p:cNvGrpSpPr>
          <p:nvPr/>
        </p:nvGrpSpPr>
        <p:grpSpPr bwMode="auto">
          <a:xfrm>
            <a:off x="3004380" y="4996796"/>
            <a:ext cx="722880" cy="512695"/>
            <a:chOff x="1232" y="1430"/>
            <a:chExt cx="502" cy="356"/>
          </a:xfrm>
        </p:grpSpPr>
        <p:sp>
          <p:nvSpPr>
            <p:cNvPr id="211"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212"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213" name="Oval 23"/>
            <p:cNvSpPr>
              <a:spLocks noChangeArrowheads="1"/>
            </p:cNvSpPr>
            <p:nvPr/>
          </p:nvSpPr>
          <p:spPr bwMode="auto">
            <a:xfrm>
              <a:off x="1290" y="1430"/>
              <a:ext cx="444" cy="164"/>
            </a:xfrm>
            <a:prstGeom prst="ellipse">
              <a:avLst/>
            </a:prstGeom>
            <a:noFill/>
            <a:ln w="25400">
              <a:solidFill>
                <a:schemeClr val="tx2"/>
              </a:solidFill>
              <a:round/>
              <a:headEnd/>
              <a:tailEnd/>
            </a:ln>
          </p:spPr>
          <p:txBody>
            <a:bodyPr wrap="none" anchor="ctr"/>
            <a:lstStyle/>
            <a:p>
              <a:endParaRPr lang="en-US">
                <a:latin typeface="Arial"/>
                <a:cs typeface="Arial"/>
              </a:endParaRPr>
            </a:p>
          </p:txBody>
        </p:sp>
        <p:sp>
          <p:nvSpPr>
            <p:cNvPr id="214"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5"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6"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7"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8"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19"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20"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221"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222"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23"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a:latin typeface="Arial"/>
                <a:cs typeface="Arial"/>
              </a:endParaRPr>
            </a:p>
          </p:txBody>
        </p:sp>
        <p:sp>
          <p:nvSpPr>
            <p:cNvPr id="224"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a:latin typeface="Arial"/>
                <a:cs typeface="Arial"/>
              </a:endParaRPr>
            </a:p>
          </p:txBody>
        </p:sp>
        <p:sp>
          <p:nvSpPr>
            <p:cNvPr id="225"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a:latin typeface="Arial"/>
                <a:cs typeface="Arial"/>
              </a:endParaRPr>
            </a:p>
          </p:txBody>
        </p:sp>
        <p:sp>
          <p:nvSpPr>
            <p:cNvPr id="226"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a:latin typeface="Arial"/>
                <a:cs typeface="Arial"/>
              </a:endParaRPr>
            </a:p>
          </p:txBody>
        </p:sp>
        <p:sp>
          <p:nvSpPr>
            <p:cNvPr id="227"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a:latin typeface="Arial"/>
                <a:cs typeface="Arial"/>
              </a:endParaRPr>
            </a:p>
          </p:txBody>
        </p:sp>
        <p:sp>
          <p:nvSpPr>
            <p:cNvPr id="228"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a:latin typeface="Arial"/>
                <a:cs typeface="Arial"/>
              </a:endParaRPr>
            </a:p>
          </p:txBody>
        </p:sp>
      </p:grpSp>
      <p:sp>
        <p:nvSpPr>
          <p:cNvPr id="230" name="Text Box 11"/>
          <p:cNvSpPr txBox="1">
            <a:spLocks noChangeArrowheads="1"/>
          </p:cNvSpPr>
          <p:nvPr/>
        </p:nvSpPr>
        <p:spPr bwMode="auto">
          <a:xfrm>
            <a:off x="718280" y="1469272"/>
            <a:ext cx="7645883" cy="1400258"/>
          </a:xfrm>
          <a:prstGeom prst="rect">
            <a:avLst/>
          </a:prstGeom>
          <a:noFill/>
          <a:ln w="9525">
            <a:noFill/>
            <a:miter lim="800000"/>
            <a:headEnd/>
            <a:tailEnd/>
          </a:ln>
        </p:spPr>
        <p:txBody>
          <a:bodyPr wrap="none" lIns="91311" tIns="45658" rIns="91311" bIns="45658">
            <a:spAutoFit/>
          </a:bodyPr>
          <a:lstStyle/>
          <a:p>
            <a:pPr algn="l"/>
            <a:r>
              <a:rPr lang="en-US" sz="2500" dirty="0">
                <a:solidFill>
                  <a:srgbClr val="3F51D7"/>
                </a:solidFill>
                <a:latin typeface="Arial"/>
                <a:cs typeface="Arial"/>
              </a:rPr>
              <a:t>Every combiner increments counter and updates </a:t>
            </a:r>
          </a:p>
          <a:p>
            <a:pPr algn="l"/>
            <a:r>
              <a:rPr lang="en-US" sz="2500" dirty="0">
                <a:solidFill>
                  <a:srgbClr val="3F51D7"/>
                </a:solidFill>
                <a:latin typeface="Arial"/>
                <a:cs typeface="Arial"/>
              </a:rPr>
              <a:t>record’s time stamp when returning response</a:t>
            </a:r>
          </a:p>
          <a:p>
            <a:pPr algn="l"/>
            <a:endParaRPr lang="en-US" sz="2500" dirty="0">
              <a:solidFill>
                <a:srgbClr val="3F51D7"/>
              </a:solidFill>
              <a:latin typeface="Arial"/>
              <a:cs typeface="Arial"/>
            </a:endParaRPr>
          </a:p>
        </p:txBody>
      </p:sp>
      <p:sp>
        <p:nvSpPr>
          <p:cNvPr id="167" name="Text Box 11"/>
          <p:cNvSpPr txBox="1">
            <a:spLocks noChangeArrowheads="1"/>
          </p:cNvSpPr>
          <p:nvPr/>
        </p:nvSpPr>
        <p:spPr bwMode="auto">
          <a:xfrm>
            <a:off x="4632093" y="2514464"/>
            <a:ext cx="4511907" cy="1323314"/>
          </a:xfrm>
          <a:prstGeom prst="rect">
            <a:avLst/>
          </a:prstGeom>
          <a:noFill/>
          <a:ln w="9525">
            <a:noFill/>
            <a:miter lim="800000"/>
            <a:headEnd/>
            <a:tailEnd/>
          </a:ln>
        </p:spPr>
        <p:txBody>
          <a:bodyPr wrap="square" lIns="91311" tIns="45658" rIns="91311" bIns="45658">
            <a:spAutoFit/>
          </a:bodyPr>
          <a:lstStyle/>
          <a:p>
            <a:pPr algn="l"/>
            <a:r>
              <a:rPr lang="en-US" sz="2500" dirty="0">
                <a:solidFill>
                  <a:srgbClr val="3F51D7"/>
                </a:solidFill>
                <a:latin typeface="Arial"/>
                <a:cs typeface="Arial"/>
              </a:rPr>
              <a:t>Traverse and remove from list </a:t>
            </a:r>
          </a:p>
          <a:p>
            <a:pPr algn="l"/>
            <a:r>
              <a:rPr lang="en-US" sz="2500" dirty="0">
                <a:solidFill>
                  <a:srgbClr val="3F51D7"/>
                </a:solidFill>
                <a:latin typeface="Arial"/>
                <a:cs typeface="Arial"/>
              </a:rPr>
              <a:t>records with old time stamp</a:t>
            </a:r>
          </a:p>
        </p:txBody>
      </p:sp>
      <p:sp>
        <p:nvSpPr>
          <p:cNvPr id="171" name="Line 47"/>
          <p:cNvSpPr>
            <a:spLocks noChangeShapeType="1"/>
          </p:cNvSpPr>
          <p:nvPr/>
        </p:nvSpPr>
        <p:spPr bwMode="auto">
          <a:xfrm>
            <a:off x="4114777" y="4735487"/>
            <a:ext cx="1763572"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sp>
        <p:nvSpPr>
          <p:cNvPr id="172" name="Text Box 11"/>
          <p:cNvSpPr txBox="1">
            <a:spLocks noChangeArrowheads="1"/>
          </p:cNvSpPr>
          <p:nvPr/>
        </p:nvSpPr>
        <p:spPr bwMode="auto">
          <a:xfrm>
            <a:off x="979539" y="5983883"/>
            <a:ext cx="5486669" cy="874118"/>
          </a:xfrm>
          <a:prstGeom prst="rect">
            <a:avLst/>
          </a:prstGeom>
          <a:noFill/>
          <a:ln w="9525">
            <a:noFill/>
            <a:miter lim="800000"/>
            <a:headEnd/>
            <a:tailEnd/>
          </a:ln>
        </p:spPr>
        <p:txBody>
          <a:bodyPr wrap="square" lIns="91311" tIns="45658" rIns="91311" bIns="45658">
            <a:spAutoFit/>
          </a:bodyPr>
          <a:lstStyle/>
          <a:p>
            <a:pPr algn="l"/>
            <a:r>
              <a:rPr lang="en-US" sz="2500" dirty="0">
                <a:solidFill>
                  <a:srgbClr val="3F51D7"/>
                </a:solidFill>
                <a:latin typeface="Arial"/>
                <a:cs typeface="Arial"/>
              </a:rPr>
              <a:t>If thread reappears must add itself to pub list </a:t>
            </a:r>
          </a:p>
        </p:txBody>
      </p:sp>
      <p:sp>
        <p:nvSpPr>
          <p:cNvPr id="174" name="Rounded Rectangle 173"/>
          <p:cNvSpPr/>
          <p:nvPr/>
        </p:nvSpPr>
        <p:spPr>
          <a:xfrm>
            <a:off x="2416522" y="3102378"/>
            <a:ext cx="653175" cy="653244"/>
          </a:xfrm>
          <a:prstGeom prst="roundRect">
            <a:avLst/>
          </a:prstGeom>
          <a:noFill/>
          <a:ln w="38100">
            <a:solidFill>
              <a:srgbClr val="3F51D7"/>
            </a:solid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endParaRPr lang="en-US">
              <a:latin typeface="Arial"/>
              <a:cs typeface="Arial"/>
            </a:endParaRPr>
          </a:p>
        </p:txBody>
      </p:sp>
      <p:sp>
        <p:nvSpPr>
          <p:cNvPr id="175" name="Rounded Rectangle 174"/>
          <p:cNvSpPr/>
          <p:nvPr/>
        </p:nvSpPr>
        <p:spPr>
          <a:xfrm>
            <a:off x="6270254" y="4408865"/>
            <a:ext cx="653175" cy="653244"/>
          </a:xfrm>
          <a:prstGeom prst="roundRect">
            <a:avLst/>
          </a:prstGeom>
          <a:noFill/>
          <a:ln w="38100">
            <a:solidFill>
              <a:srgbClr val="3F51D7"/>
            </a:solid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endParaRPr lang="en-US">
              <a:latin typeface="Arial"/>
              <a:cs typeface="Arial"/>
            </a:endParaRPr>
          </a:p>
        </p:txBody>
      </p:sp>
      <p:sp>
        <p:nvSpPr>
          <p:cNvPr id="176" name="Rounded Rectangle 175"/>
          <p:cNvSpPr/>
          <p:nvPr/>
        </p:nvSpPr>
        <p:spPr>
          <a:xfrm>
            <a:off x="4767957" y="4474193"/>
            <a:ext cx="653175" cy="653244"/>
          </a:xfrm>
          <a:prstGeom prst="roundRect">
            <a:avLst/>
          </a:prstGeom>
          <a:noFill/>
          <a:ln w="38100">
            <a:solidFill>
              <a:srgbClr val="3F51D7"/>
            </a:solid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endParaRPr lang="en-US">
              <a:latin typeface="Arial"/>
              <a:cs typeface="Arial"/>
            </a:endParaRPr>
          </a:p>
        </p:txBody>
      </p:sp>
      <p:sp>
        <p:nvSpPr>
          <p:cNvPr id="173" name="Text Box 11"/>
          <p:cNvSpPr txBox="1">
            <a:spLocks noChangeArrowheads="1"/>
          </p:cNvSpPr>
          <p:nvPr/>
        </p:nvSpPr>
        <p:spPr bwMode="auto">
          <a:xfrm>
            <a:off x="1306130" y="3233039"/>
            <a:ext cx="6531749" cy="1209169"/>
          </a:xfrm>
          <a:prstGeom prst="rect">
            <a:avLst/>
          </a:prstGeom>
          <a:solidFill>
            <a:schemeClr val="bg1"/>
          </a:solidFill>
          <a:ln w="9525">
            <a:solidFill>
              <a:srgbClr val="3F51D7"/>
            </a:solidFill>
            <a:miter lim="800000"/>
            <a:headEnd/>
            <a:tailEnd/>
          </a:ln>
        </p:spPr>
        <p:txBody>
          <a:bodyPr wrap="square" lIns="91311" tIns="45658" rIns="91311" bIns="45658">
            <a:spAutoFit/>
          </a:bodyPr>
          <a:lstStyle/>
          <a:p>
            <a:pPr algn="l"/>
            <a:r>
              <a:rPr lang="en-US" sz="3600" dirty="0">
                <a:solidFill>
                  <a:srgbClr val="3F51D7"/>
                </a:solidFill>
                <a:latin typeface="Arial"/>
                <a:cs typeface="Arial"/>
              </a:rPr>
              <a:t>Cleanup requires no CAS, only reads and writes</a:t>
            </a:r>
          </a:p>
        </p:txBody>
      </p:sp>
    </p:spTree>
    <p:extLst>
      <p:ext uri="{BB962C8B-B14F-4D97-AF65-F5344CB8AC3E}">
        <p14:creationId xmlns:p14="http://schemas.microsoft.com/office/powerpoint/2010/main" val="201322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74"/>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7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7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8"/>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44"/>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32"/>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120"/>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127"/>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17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2"/>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17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p:bldP spid="144" grpId="0"/>
      <p:bldP spid="127" grpId="0" animBg="1"/>
      <p:bldP spid="120" grpId="0" animBg="1"/>
      <p:bldP spid="230" grpId="0"/>
      <p:bldP spid="167" grpId="0"/>
      <p:bldP spid="171" grpId="0" animBg="1"/>
      <p:bldP spid="172" grpId="0"/>
      <p:bldP spid="172" grpId="1"/>
      <p:bldP spid="174" grpId="0" animBg="1"/>
      <p:bldP spid="174" grpId="1" animBg="1"/>
      <p:bldP spid="175" grpId="0" animBg="1"/>
      <p:bldP spid="175" grpId="1" animBg="1"/>
      <p:bldP spid="176" grpId="0" animBg="1"/>
      <p:bldP spid="176" grpId="1" animBg="1"/>
      <p:bldP spid="173" grpId="0" animBg="1"/>
      <p:bldP spid="173" grpId="1" animBg="1"/>
    </p:bld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a:xfrm>
            <a:off x="624033" y="451890"/>
            <a:ext cx="8000640" cy="1143480"/>
          </a:xfrm>
          <a:noFill/>
        </p:spPr>
        <p:txBody>
          <a:bodyPr/>
          <a:lstStyle/>
          <a:p>
            <a:pPr eaLnBrk="1" hangingPunct="1"/>
            <a:r>
              <a:rPr lang="en-US" dirty="0"/>
              <a:t>Fine-Grained Lock-free FIFO Queue</a:t>
            </a:r>
          </a:p>
        </p:txBody>
      </p:sp>
      <p:grpSp>
        <p:nvGrpSpPr>
          <p:cNvPr id="11" name="Group 10"/>
          <p:cNvGrpSpPr/>
          <p:nvPr/>
        </p:nvGrpSpPr>
        <p:grpSpPr>
          <a:xfrm>
            <a:off x="1230447" y="1969845"/>
            <a:ext cx="6906374" cy="3645529"/>
            <a:chOff x="1865839" y="1969846"/>
            <a:chExt cx="5363915" cy="2526931"/>
          </a:xfrm>
        </p:grpSpPr>
        <p:sp>
          <p:nvSpPr>
            <p:cNvPr id="163" name="Rectangle 3"/>
            <p:cNvSpPr>
              <a:spLocks noChangeArrowheads="1"/>
            </p:cNvSpPr>
            <p:nvPr/>
          </p:nvSpPr>
          <p:spPr bwMode="auto">
            <a:xfrm>
              <a:off x="3110402" y="2508495"/>
              <a:ext cx="326880" cy="318274"/>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grpSp>
          <p:nvGrpSpPr>
            <p:cNvPr id="2" name="Group 5"/>
            <p:cNvGrpSpPr>
              <a:grpSpLocks/>
            </p:cNvGrpSpPr>
            <p:nvPr/>
          </p:nvGrpSpPr>
          <p:grpSpPr bwMode="auto">
            <a:xfrm>
              <a:off x="3356645" y="3349556"/>
              <a:ext cx="803520" cy="394601"/>
              <a:chOff x="1488" y="1872"/>
              <a:chExt cx="672" cy="367"/>
            </a:xfrm>
          </p:grpSpPr>
          <p:sp>
            <p:nvSpPr>
              <p:cNvPr id="165" name="Rectangle 6"/>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1500">
                  <a:latin typeface="Arial"/>
                  <a:cs typeface="Arial"/>
                </a:endParaRPr>
              </a:p>
            </p:txBody>
          </p:sp>
          <p:sp>
            <p:nvSpPr>
              <p:cNvPr id="166" name="Line 7"/>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67" name="Text Box 8"/>
              <p:cNvSpPr txBox="1">
                <a:spLocks noChangeArrowheads="1"/>
              </p:cNvSpPr>
              <p:nvPr/>
            </p:nvSpPr>
            <p:spPr bwMode="auto">
              <a:xfrm>
                <a:off x="1537" y="1872"/>
                <a:ext cx="241" cy="343"/>
              </a:xfrm>
              <a:prstGeom prst="rect">
                <a:avLst/>
              </a:prstGeom>
              <a:noFill/>
              <a:ln w="9525">
                <a:noFill/>
                <a:miter lim="800000"/>
                <a:headEnd/>
                <a:tailEnd/>
              </a:ln>
            </p:spPr>
            <p:txBody>
              <a:bodyPr>
                <a:spAutoFit/>
              </a:bodyPr>
              <a:lstStyle/>
              <a:p>
                <a:r>
                  <a:rPr lang="en-US" sz="1800">
                    <a:latin typeface="Arial"/>
                    <a:cs typeface="Arial"/>
                  </a:rPr>
                  <a:t>b</a:t>
                </a:r>
                <a:endParaRPr lang="en-US" sz="1500">
                  <a:latin typeface="Arial"/>
                  <a:cs typeface="Arial"/>
                </a:endParaRPr>
              </a:p>
            </p:txBody>
          </p:sp>
        </p:grpSp>
        <p:sp>
          <p:nvSpPr>
            <p:cNvPr id="168" name="Line 9"/>
            <p:cNvSpPr>
              <a:spLocks noChangeShapeType="1"/>
            </p:cNvSpPr>
            <p:nvPr/>
          </p:nvSpPr>
          <p:spPr bwMode="auto">
            <a:xfrm>
              <a:off x="3988802" y="3555485"/>
              <a:ext cx="632160"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3" name="Group 10"/>
            <p:cNvGrpSpPr>
              <a:grpSpLocks/>
            </p:cNvGrpSpPr>
            <p:nvPr/>
          </p:nvGrpSpPr>
          <p:grpSpPr bwMode="auto">
            <a:xfrm>
              <a:off x="4605122" y="3349556"/>
              <a:ext cx="804960" cy="394601"/>
              <a:chOff x="1488" y="1872"/>
              <a:chExt cx="672" cy="367"/>
            </a:xfrm>
          </p:grpSpPr>
          <p:sp>
            <p:nvSpPr>
              <p:cNvPr id="170" name="Rectangle 11"/>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1500">
                  <a:latin typeface="Arial"/>
                  <a:cs typeface="Arial"/>
                </a:endParaRPr>
              </a:p>
            </p:txBody>
          </p:sp>
          <p:sp>
            <p:nvSpPr>
              <p:cNvPr id="171" name="Line 12"/>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72" name="Text Box 13"/>
              <p:cNvSpPr txBox="1">
                <a:spLocks noChangeArrowheads="1"/>
              </p:cNvSpPr>
              <p:nvPr/>
            </p:nvSpPr>
            <p:spPr bwMode="auto">
              <a:xfrm>
                <a:off x="1537" y="1872"/>
                <a:ext cx="241" cy="343"/>
              </a:xfrm>
              <a:prstGeom prst="rect">
                <a:avLst/>
              </a:prstGeom>
              <a:noFill/>
              <a:ln w="9525">
                <a:noFill/>
                <a:miter lim="800000"/>
                <a:headEnd/>
                <a:tailEnd/>
              </a:ln>
            </p:spPr>
            <p:txBody>
              <a:bodyPr>
                <a:spAutoFit/>
              </a:bodyPr>
              <a:lstStyle/>
              <a:p>
                <a:r>
                  <a:rPr lang="en-US" sz="1800">
                    <a:latin typeface="Arial"/>
                    <a:cs typeface="Arial"/>
                  </a:rPr>
                  <a:t>c</a:t>
                </a:r>
                <a:endParaRPr lang="en-US" sz="1500">
                  <a:latin typeface="Arial"/>
                  <a:cs typeface="Arial"/>
                </a:endParaRPr>
              </a:p>
            </p:txBody>
          </p:sp>
        </p:grpSp>
        <p:grpSp>
          <p:nvGrpSpPr>
            <p:cNvPr id="4" name="Group 14"/>
            <p:cNvGrpSpPr>
              <a:grpSpLocks/>
            </p:cNvGrpSpPr>
            <p:nvPr/>
          </p:nvGrpSpPr>
          <p:grpSpPr bwMode="auto">
            <a:xfrm>
              <a:off x="5852162" y="3349556"/>
              <a:ext cx="804960" cy="394601"/>
              <a:chOff x="1488" y="1872"/>
              <a:chExt cx="672" cy="367"/>
            </a:xfrm>
          </p:grpSpPr>
          <p:sp>
            <p:nvSpPr>
              <p:cNvPr id="174" name="Rectangle 15"/>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1500">
                  <a:latin typeface="Arial"/>
                  <a:cs typeface="Arial"/>
                </a:endParaRPr>
              </a:p>
            </p:txBody>
          </p:sp>
          <p:sp>
            <p:nvSpPr>
              <p:cNvPr id="175" name="Line 16"/>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76" name="Text Box 17"/>
              <p:cNvSpPr txBox="1">
                <a:spLocks noChangeArrowheads="1"/>
              </p:cNvSpPr>
              <p:nvPr/>
            </p:nvSpPr>
            <p:spPr bwMode="auto">
              <a:xfrm>
                <a:off x="1537" y="1872"/>
                <a:ext cx="241" cy="343"/>
              </a:xfrm>
              <a:prstGeom prst="rect">
                <a:avLst/>
              </a:prstGeom>
              <a:noFill/>
              <a:ln w="9525">
                <a:noFill/>
                <a:miter lim="800000"/>
                <a:headEnd/>
                <a:tailEnd/>
              </a:ln>
            </p:spPr>
            <p:txBody>
              <a:bodyPr>
                <a:spAutoFit/>
              </a:bodyPr>
              <a:lstStyle/>
              <a:p>
                <a:r>
                  <a:rPr lang="en-US" sz="1800">
                    <a:latin typeface="Arial"/>
                    <a:cs typeface="Arial"/>
                  </a:rPr>
                  <a:t>d</a:t>
                </a:r>
                <a:endParaRPr lang="en-US" sz="1500">
                  <a:latin typeface="Arial"/>
                  <a:cs typeface="Arial"/>
                </a:endParaRPr>
              </a:p>
            </p:txBody>
          </p:sp>
        </p:grpSp>
        <p:sp>
          <p:nvSpPr>
            <p:cNvPr id="177" name="Line 18"/>
            <p:cNvSpPr>
              <a:spLocks noChangeShapeType="1"/>
            </p:cNvSpPr>
            <p:nvPr/>
          </p:nvSpPr>
          <p:spPr bwMode="auto">
            <a:xfrm flipV="1">
              <a:off x="6255362" y="3399950"/>
              <a:ext cx="401760" cy="329794"/>
            </a:xfrm>
            <a:prstGeom prst="line">
              <a:avLst/>
            </a:prstGeom>
            <a:noFill/>
            <a:ln w="9525">
              <a:solidFill>
                <a:schemeClr val="tx1"/>
              </a:solidFill>
              <a:round/>
              <a:headEnd/>
              <a:tailEnd/>
            </a:ln>
          </p:spPr>
          <p:txBody>
            <a:bodyPr wrap="none" lIns="82840" tIns="41421" rIns="82840" bIns="41421" anchor="ctr"/>
            <a:lstStyle/>
            <a:p>
              <a:endParaRPr lang="en-US">
                <a:latin typeface="Arial"/>
                <a:cs typeface="Arial"/>
              </a:endParaRPr>
            </a:p>
          </p:txBody>
        </p:sp>
        <p:sp>
          <p:nvSpPr>
            <p:cNvPr id="178" name="Text Box 19"/>
            <p:cNvSpPr txBox="1">
              <a:spLocks noChangeArrowheads="1"/>
            </p:cNvSpPr>
            <p:nvPr/>
          </p:nvSpPr>
          <p:spPr bwMode="auto">
            <a:xfrm>
              <a:off x="5369036" y="2370241"/>
              <a:ext cx="505532" cy="329872"/>
            </a:xfrm>
            <a:prstGeom prst="rect">
              <a:avLst/>
            </a:prstGeom>
            <a:noFill/>
            <a:ln w="9525">
              <a:noFill/>
              <a:miter lim="800000"/>
              <a:headEnd/>
              <a:tailEnd/>
            </a:ln>
          </p:spPr>
          <p:txBody>
            <a:bodyPr wrap="none" lIns="82840" tIns="41421" rIns="82840" bIns="41421">
              <a:spAutoFit/>
            </a:bodyPr>
            <a:lstStyle/>
            <a:p>
              <a:r>
                <a:rPr lang="en-US" sz="1600" dirty="0">
                  <a:latin typeface="Arial"/>
                  <a:cs typeface="Arial"/>
                </a:rPr>
                <a:t>Tail</a:t>
              </a:r>
            </a:p>
          </p:txBody>
        </p:sp>
        <p:sp>
          <p:nvSpPr>
            <p:cNvPr id="179" name="Text Box 20"/>
            <p:cNvSpPr txBox="1">
              <a:spLocks noChangeArrowheads="1"/>
            </p:cNvSpPr>
            <p:nvPr/>
          </p:nvSpPr>
          <p:spPr bwMode="auto">
            <a:xfrm>
              <a:off x="2403287" y="2370241"/>
              <a:ext cx="674147" cy="329872"/>
            </a:xfrm>
            <a:prstGeom prst="rect">
              <a:avLst/>
            </a:prstGeom>
            <a:noFill/>
            <a:ln w="9525">
              <a:noFill/>
              <a:miter lim="800000"/>
              <a:headEnd/>
              <a:tailEnd/>
            </a:ln>
          </p:spPr>
          <p:txBody>
            <a:bodyPr wrap="none" lIns="82840" tIns="41421" rIns="82840" bIns="41421">
              <a:spAutoFit/>
            </a:bodyPr>
            <a:lstStyle/>
            <a:p>
              <a:r>
                <a:rPr lang="en-US" sz="1600" dirty="0">
                  <a:latin typeface="Arial"/>
                  <a:cs typeface="Arial"/>
                </a:rPr>
                <a:t>Head</a:t>
              </a:r>
            </a:p>
          </p:txBody>
        </p:sp>
        <p:sp>
          <p:nvSpPr>
            <p:cNvPr id="180" name="Freeform 21"/>
            <p:cNvSpPr>
              <a:spLocks/>
            </p:cNvSpPr>
            <p:nvPr/>
          </p:nvSpPr>
          <p:spPr bwMode="auto">
            <a:xfrm>
              <a:off x="3317760" y="2760534"/>
              <a:ext cx="325440" cy="636547"/>
            </a:xfrm>
            <a:custGeom>
              <a:avLst/>
              <a:gdLst>
                <a:gd name="T0" fmla="*/ 0 w 272"/>
                <a:gd name="T1" fmla="*/ 0 h 499"/>
                <a:gd name="T2" fmla="*/ 2147483647 w 272"/>
                <a:gd name="T3" fmla="*/ 2147483647 h 499"/>
                <a:gd name="T4" fmla="*/ 2147483647 w 272"/>
                <a:gd name="T5" fmla="*/ 2147483647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rgbClr val="FF0000"/>
              </a:solidFill>
              <a:round/>
              <a:headEnd/>
              <a:tailEnd type="triangle" w="med" len="med"/>
            </a:ln>
          </p:spPr>
          <p:txBody>
            <a:bodyPr lIns="82840" tIns="41421" rIns="82840" bIns="41421"/>
            <a:lstStyle/>
            <a:p>
              <a:endParaRPr lang="en-US">
                <a:latin typeface="Arial"/>
                <a:cs typeface="Arial"/>
              </a:endParaRPr>
            </a:p>
          </p:txBody>
        </p:sp>
        <p:grpSp>
          <p:nvGrpSpPr>
            <p:cNvPr id="5" name="Group 22"/>
            <p:cNvGrpSpPr>
              <a:grpSpLocks/>
            </p:cNvGrpSpPr>
            <p:nvPr/>
          </p:nvGrpSpPr>
          <p:grpSpPr bwMode="auto">
            <a:xfrm>
              <a:off x="2178720" y="3346663"/>
              <a:ext cx="804960" cy="397482"/>
              <a:chOff x="1488" y="1870"/>
              <a:chExt cx="672" cy="369"/>
            </a:xfrm>
          </p:grpSpPr>
          <p:sp>
            <p:nvSpPr>
              <p:cNvPr id="182" name="Rectangle 23"/>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1500">
                  <a:latin typeface="Arial"/>
                  <a:cs typeface="Arial"/>
                </a:endParaRPr>
              </a:p>
            </p:txBody>
          </p:sp>
          <p:sp>
            <p:nvSpPr>
              <p:cNvPr id="183" name="Line 24"/>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84" name="Text Box 25"/>
              <p:cNvSpPr txBox="1">
                <a:spLocks noChangeArrowheads="1"/>
              </p:cNvSpPr>
              <p:nvPr/>
            </p:nvSpPr>
            <p:spPr bwMode="auto">
              <a:xfrm>
                <a:off x="1537" y="1870"/>
                <a:ext cx="238" cy="343"/>
              </a:xfrm>
              <a:prstGeom prst="rect">
                <a:avLst/>
              </a:prstGeom>
              <a:noFill/>
              <a:ln w="9525">
                <a:noFill/>
                <a:miter lim="800000"/>
                <a:headEnd/>
                <a:tailEnd/>
              </a:ln>
            </p:spPr>
            <p:txBody>
              <a:bodyPr>
                <a:spAutoFit/>
              </a:bodyPr>
              <a:lstStyle/>
              <a:p>
                <a:r>
                  <a:rPr lang="en-US" sz="1800">
                    <a:latin typeface="Arial"/>
                    <a:cs typeface="Arial"/>
                  </a:rPr>
                  <a:t>a</a:t>
                </a:r>
                <a:endParaRPr lang="en-US" sz="1500">
                  <a:latin typeface="Arial"/>
                  <a:cs typeface="Arial"/>
                </a:endParaRPr>
              </a:p>
            </p:txBody>
          </p:sp>
        </p:grpSp>
        <p:sp>
          <p:nvSpPr>
            <p:cNvPr id="185" name="Freeform 26"/>
            <p:cNvSpPr>
              <a:spLocks/>
            </p:cNvSpPr>
            <p:nvPr/>
          </p:nvSpPr>
          <p:spPr bwMode="auto">
            <a:xfrm>
              <a:off x="2558880" y="2712996"/>
              <a:ext cx="649440" cy="685512"/>
            </a:xfrm>
            <a:custGeom>
              <a:avLst/>
              <a:gdLst>
                <a:gd name="T0" fmla="*/ 2147483647 w 590"/>
                <a:gd name="T1" fmla="*/ 0 h 952"/>
                <a:gd name="T2" fmla="*/ 2147483647 w 590"/>
                <a:gd name="T3" fmla="*/ 2147483647 h 952"/>
                <a:gd name="T4" fmla="*/ 0 w 590"/>
                <a:gd name="T5" fmla="*/ 2147483647 h 952"/>
                <a:gd name="T6" fmla="*/ 0 60000 65536"/>
                <a:gd name="T7" fmla="*/ 0 60000 65536"/>
                <a:gd name="T8" fmla="*/ 0 60000 65536"/>
                <a:gd name="T9" fmla="*/ 0 w 590"/>
                <a:gd name="T10" fmla="*/ 0 h 952"/>
                <a:gd name="T11" fmla="*/ 590 w 590"/>
                <a:gd name="T12" fmla="*/ 952 h 952"/>
              </a:gdLst>
              <a:ahLst/>
              <a:cxnLst>
                <a:cxn ang="T6">
                  <a:pos x="T0" y="T1"/>
                </a:cxn>
                <a:cxn ang="T7">
                  <a:pos x="T2" y="T3"/>
                </a:cxn>
                <a:cxn ang="T8">
                  <a:pos x="T4" y="T5"/>
                </a:cxn>
              </a:cxnLst>
              <a:rect l="T9" t="T10" r="T11" b="T12"/>
              <a:pathLst>
                <a:path w="590" h="952">
                  <a:moveTo>
                    <a:pt x="590" y="0"/>
                  </a:moveTo>
                  <a:cubicBezTo>
                    <a:pt x="412" y="124"/>
                    <a:pt x="234" y="249"/>
                    <a:pt x="136" y="408"/>
                  </a:cubicBezTo>
                  <a:cubicBezTo>
                    <a:pt x="38" y="567"/>
                    <a:pt x="19" y="759"/>
                    <a:pt x="0" y="952"/>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86" name="Line 27"/>
            <p:cNvSpPr>
              <a:spLocks noChangeShapeType="1"/>
            </p:cNvSpPr>
            <p:nvPr/>
          </p:nvSpPr>
          <p:spPr bwMode="auto">
            <a:xfrm flipV="1">
              <a:off x="2774880" y="3545404"/>
              <a:ext cx="597600" cy="0"/>
            </a:xfrm>
            <a:prstGeom prst="line">
              <a:avLst/>
            </a:pr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187" name="Line 28"/>
            <p:cNvSpPr>
              <a:spLocks noChangeShapeType="1"/>
            </p:cNvSpPr>
            <p:nvPr/>
          </p:nvSpPr>
          <p:spPr bwMode="auto">
            <a:xfrm flipV="1">
              <a:off x="5006880" y="3398508"/>
              <a:ext cx="403200" cy="329795"/>
            </a:xfrm>
            <a:prstGeom prst="line">
              <a:avLst/>
            </a:prstGeom>
            <a:noFill/>
            <a:ln w="9525">
              <a:solidFill>
                <a:schemeClr val="tx1"/>
              </a:solidFill>
              <a:round/>
              <a:headEnd/>
              <a:tailEnd/>
            </a:ln>
          </p:spPr>
          <p:txBody>
            <a:bodyPr wrap="none" lIns="82840" tIns="41421" rIns="82840" bIns="41421" anchor="ctr"/>
            <a:lstStyle/>
            <a:p>
              <a:endParaRPr lang="en-US">
                <a:latin typeface="Arial"/>
                <a:cs typeface="Arial"/>
              </a:endParaRPr>
            </a:p>
          </p:txBody>
        </p:sp>
        <p:grpSp>
          <p:nvGrpSpPr>
            <p:cNvPr id="6" name="Group 29"/>
            <p:cNvGrpSpPr>
              <a:grpSpLocks/>
            </p:cNvGrpSpPr>
            <p:nvPr/>
          </p:nvGrpSpPr>
          <p:grpSpPr bwMode="auto">
            <a:xfrm>
              <a:off x="2597762" y="2893028"/>
              <a:ext cx="177120" cy="221783"/>
              <a:chOff x="2592" y="2208"/>
              <a:chExt cx="192" cy="192"/>
            </a:xfrm>
          </p:grpSpPr>
          <p:sp>
            <p:nvSpPr>
              <p:cNvPr id="189" name="Line 30"/>
              <p:cNvSpPr>
                <a:spLocks noChangeShapeType="1"/>
              </p:cNvSpPr>
              <p:nvPr/>
            </p:nvSpPr>
            <p:spPr bwMode="auto">
              <a:xfrm flipH="1">
                <a:off x="2592" y="2208"/>
                <a:ext cx="144" cy="192"/>
              </a:xfrm>
              <a:prstGeom prst="line">
                <a:avLst/>
              </a:prstGeom>
              <a:noFill/>
              <a:ln w="19050">
                <a:solidFill>
                  <a:srgbClr val="FF0000"/>
                </a:solidFill>
                <a:round/>
                <a:headEnd/>
                <a:tailEnd/>
              </a:ln>
            </p:spPr>
            <p:txBody>
              <a:bodyPr wrap="none" anchor="ctr"/>
              <a:lstStyle/>
              <a:p>
                <a:endParaRPr lang="en-US">
                  <a:latin typeface="Arial"/>
                  <a:cs typeface="Arial"/>
                </a:endParaRPr>
              </a:p>
            </p:txBody>
          </p:sp>
          <p:sp>
            <p:nvSpPr>
              <p:cNvPr id="190" name="Line 31"/>
              <p:cNvSpPr>
                <a:spLocks noChangeShapeType="1"/>
              </p:cNvSpPr>
              <p:nvPr/>
            </p:nvSpPr>
            <p:spPr bwMode="auto">
              <a:xfrm>
                <a:off x="2592" y="2208"/>
                <a:ext cx="192" cy="192"/>
              </a:xfrm>
              <a:prstGeom prst="line">
                <a:avLst/>
              </a:prstGeom>
              <a:noFill/>
              <a:ln w="19050">
                <a:solidFill>
                  <a:srgbClr val="FF0000"/>
                </a:solidFill>
                <a:round/>
                <a:headEnd/>
                <a:tailEnd/>
              </a:ln>
            </p:spPr>
            <p:txBody>
              <a:bodyPr wrap="none" anchor="ctr"/>
              <a:lstStyle/>
              <a:p>
                <a:endParaRPr lang="en-US">
                  <a:latin typeface="Arial"/>
                  <a:cs typeface="Arial"/>
                </a:endParaRPr>
              </a:p>
            </p:txBody>
          </p:sp>
        </p:grpSp>
        <p:sp>
          <p:nvSpPr>
            <p:cNvPr id="191" name="Line 32"/>
            <p:cNvSpPr>
              <a:spLocks noChangeShapeType="1"/>
            </p:cNvSpPr>
            <p:nvPr/>
          </p:nvSpPr>
          <p:spPr bwMode="auto">
            <a:xfrm>
              <a:off x="5201282" y="3592929"/>
              <a:ext cx="632160" cy="0"/>
            </a:xfrm>
            <a:prstGeom prst="line">
              <a:avLst/>
            </a:prstGeom>
            <a:noFill/>
            <a:ln w="28575">
              <a:solidFill>
                <a:srgbClr val="FF0000"/>
              </a:solidFill>
              <a:round/>
              <a:headEnd/>
              <a:tailEnd type="triangle" w="med" len="med"/>
            </a:ln>
          </p:spPr>
          <p:txBody>
            <a:bodyPr wrap="none" lIns="82840" tIns="41421" rIns="82840" bIns="41421" anchor="ctr"/>
            <a:lstStyle/>
            <a:p>
              <a:endParaRPr lang="en-US">
                <a:latin typeface="Arial"/>
                <a:cs typeface="Arial"/>
              </a:endParaRPr>
            </a:p>
          </p:txBody>
        </p:sp>
        <p:grpSp>
          <p:nvGrpSpPr>
            <p:cNvPr id="7" name="Group 35"/>
            <p:cNvGrpSpPr>
              <a:grpSpLocks/>
            </p:cNvGrpSpPr>
            <p:nvPr/>
          </p:nvGrpSpPr>
          <p:grpSpPr bwMode="auto">
            <a:xfrm>
              <a:off x="3004380" y="2100484"/>
              <a:ext cx="359460" cy="400813"/>
              <a:chOff x="2160" y="1548"/>
              <a:chExt cx="309" cy="441"/>
            </a:xfrm>
          </p:grpSpPr>
          <p:sp>
            <p:nvSpPr>
              <p:cNvPr id="195" name="Freeform 36"/>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endParaRPr lang="en-US">
                  <a:latin typeface="Arial"/>
                  <a:cs typeface="Arial"/>
                </a:endParaRPr>
              </a:p>
            </p:txBody>
          </p:sp>
          <p:sp>
            <p:nvSpPr>
              <p:cNvPr id="196" name="Freeform 37"/>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197" name="Freeform 38"/>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198" name="Freeform 39"/>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199" name="Freeform 40"/>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endParaRPr lang="en-US">
                  <a:latin typeface="Arial"/>
                  <a:cs typeface="Arial"/>
                </a:endParaRPr>
              </a:p>
            </p:txBody>
          </p:sp>
          <p:sp>
            <p:nvSpPr>
              <p:cNvPr id="200" name="Freeform 41"/>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endParaRPr lang="en-US">
                  <a:latin typeface="Arial"/>
                  <a:cs typeface="Arial"/>
                </a:endParaRPr>
              </a:p>
            </p:txBody>
          </p:sp>
          <p:sp>
            <p:nvSpPr>
              <p:cNvPr id="201" name="Freeform 42"/>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endParaRPr lang="en-US">
                  <a:latin typeface="Arial"/>
                  <a:cs typeface="Arial"/>
                </a:endParaRPr>
              </a:p>
            </p:txBody>
          </p:sp>
        </p:grpSp>
        <p:grpSp>
          <p:nvGrpSpPr>
            <p:cNvPr id="8" name="Group 44"/>
            <p:cNvGrpSpPr>
              <a:grpSpLocks/>
            </p:cNvGrpSpPr>
            <p:nvPr/>
          </p:nvGrpSpPr>
          <p:grpSpPr bwMode="auto">
            <a:xfrm>
              <a:off x="5388480" y="2826769"/>
              <a:ext cx="204480" cy="190100"/>
              <a:chOff x="2592" y="2208"/>
              <a:chExt cx="192" cy="192"/>
            </a:xfrm>
          </p:grpSpPr>
          <p:sp>
            <p:nvSpPr>
              <p:cNvPr id="203" name="Line 45"/>
              <p:cNvSpPr>
                <a:spLocks noChangeShapeType="1"/>
              </p:cNvSpPr>
              <p:nvPr/>
            </p:nvSpPr>
            <p:spPr bwMode="auto">
              <a:xfrm flipH="1">
                <a:off x="2592" y="2208"/>
                <a:ext cx="144" cy="192"/>
              </a:xfrm>
              <a:prstGeom prst="line">
                <a:avLst/>
              </a:prstGeom>
              <a:noFill/>
              <a:ln w="19050">
                <a:solidFill>
                  <a:srgbClr val="FF0000"/>
                </a:solidFill>
                <a:round/>
                <a:headEnd/>
                <a:tailEnd/>
              </a:ln>
            </p:spPr>
            <p:txBody>
              <a:bodyPr wrap="none" anchor="ctr"/>
              <a:lstStyle/>
              <a:p>
                <a:endParaRPr lang="en-US">
                  <a:latin typeface="Arial"/>
                  <a:cs typeface="Arial"/>
                </a:endParaRPr>
              </a:p>
            </p:txBody>
          </p:sp>
          <p:sp>
            <p:nvSpPr>
              <p:cNvPr id="204" name="Line 46"/>
              <p:cNvSpPr>
                <a:spLocks noChangeShapeType="1"/>
              </p:cNvSpPr>
              <p:nvPr/>
            </p:nvSpPr>
            <p:spPr bwMode="auto">
              <a:xfrm>
                <a:off x="2592" y="2208"/>
                <a:ext cx="192" cy="192"/>
              </a:xfrm>
              <a:prstGeom prst="line">
                <a:avLst/>
              </a:prstGeom>
              <a:noFill/>
              <a:ln w="19050">
                <a:solidFill>
                  <a:srgbClr val="FF0000"/>
                </a:solidFill>
                <a:round/>
                <a:headEnd/>
                <a:tailEnd/>
              </a:ln>
            </p:spPr>
            <p:txBody>
              <a:bodyPr wrap="none" anchor="ctr"/>
              <a:lstStyle/>
              <a:p>
                <a:endParaRPr lang="en-US">
                  <a:latin typeface="Arial"/>
                  <a:cs typeface="Arial"/>
                </a:endParaRPr>
              </a:p>
            </p:txBody>
          </p:sp>
        </p:grpSp>
        <p:sp>
          <p:nvSpPr>
            <p:cNvPr id="205" name="Freeform 47"/>
            <p:cNvSpPr>
              <a:spLocks/>
            </p:cNvSpPr>
            <p:nvPr/>
          </p:nvSpPr>
          <p:spPr bwMode="auto">
            <a:xfrm>
              <a:off x="6069601" y="2712997"/>
              <a:ext cx="53280" cy="684072"/>
            </a:xfrm>
            <a:custGeom>
              <a:avLst/>
              <a:gdLst>
                <a:gd name="T0" fmla="*/ 2147483647 w 272"/>
                <a:gd name="T1" fmla="*/ 0 h 908"/>
                <a:gd name="T2" fmla="*/ 2147483647 w 272"/>
                <a:gd name="T3" fmla="*/ 2147483647 h 908"/>
                <a:gd name="T4" fmla="*/ 0 w 272"/>
                <a:gd name="T5" fmla="*/ 2147483647 h 908"/>
                <a:gd name="T6" fmla="*/ 0 60000 65536"/>
                <a:gd name="T7" fmla="*/ 0 60000 65536"/>
                <a:gd name="T8" fmla="*/ 0 60000 65536"/>
                <a:gd name="T9" fmla="*/ 0 w 272"/>
                <a:gd name="T10" fmla="*/ 0 h 908"/>
                <a:gd name="T11" fmla="*/ 272 w 272"/>
                <a:gd name="T12" fmla="*/ 908 h 908"/>
              </a:gdLst>
              <a:ahLst/>
              <a:cxnLst>
                <a:cxn ang="T6">
                  <a:pos x="T0" y="T1"/>
                </a:cxn>
                <a:cxn ang="T7">
                  <a:pos x="T2" y="T3"/>
                </a:cxn>
                <a:cxn ang="T8">
                  <a:pos x="T4" y="T5"/>
                </a:cxn>
              </a:cxnLst>
              <a:rect l="T9" t="T10" r="T11" b="T12"/>
              <a:pathLst>
                <a:path w="272" h="908">
                  <a:moveTo>
                    <a:pt x="272" y="0"/>
                  </a:moveTo>
                  <a:cubicBezTo>
                    <a:pt x="181" y="129"/>
                    <a:pt x="90" y="258"/>
                    <a:pt x="45" y="409"/>
                  </a:cubicBezTo>
                  <a:cubicBezTo>
                    <a:pt x="0" y="560"/>
                    <a:pt x="0" y="734"/>
                    <a:pt x="0" y="908"/>
                  </a:cubicBezTo>
                </a:path>
              </a:pathLst>
            </a:custGeom>
            <a:noFill/>
            <a:ln w="28575">
              <a:solidFill>
                <a:srgbClr val="FF0000"/>
              </a:solidFill>
              <a:round/>
              <a:headEnd/>
              <a:tailEnd type="triangle" w="med" len="med"/>
            </a:ln>
          </p:spPr>
          <p:txBody>
            <a:bodyPr lIns="82840" tIns="41421" rIns="82840" bIns="41421"/>
            <a:lstStyle/>
            <a:p>
              <a:endParaRPr lang="en-US">
                <a:latin typeface="Arial"/>
                <a:cs typeface="Arial"/>
              </a:endParaRPr>
            </a:p>
          </p:txBody>
        </p:sp>
        <p:sp>
          <p:nvSpPr>
            <p:cNvPr id="206" name="Freeform 48"/>
            <p:cNvSpPr>
              <a:spLocks/>
            </p:cNvSpPr>
            <p:nvPr/>
          </p:nvSpPr>
          <p:spPr bwMode="auto">
            <a:xfrm>
              <a:off x="5201280" y="2712996"/>
              <a:ext cx="815040" cy="685512"/>
            </a:xfrm>
            <a:custGeom>
              <a:avLst/>
              <a:gdLst>
                <a:gd name="T0" fmla="*/ 2147483647 w 1134"/>
                <a:gd name="T1" fmla="*/ 0 h 726"/>
                <a:gd name="T2" fmla="*/ 2147483647 w 1134"/>
                <a:gd name="T3" fmla="*/ 2147483647 h 726"/>
                <a:gd name="T4" fmla="*/ 0 w 1134"/>
                <a:gd name="T5" fmla="*/ 2147483647 h 726"/>
                <a:gd name="T6" fmla="*/ 0 60000 65536"/>
                <a:gd name="T7" fmla="*/ 0 60000 65536"/>
                <a:gd name="T8" fmla="*/ 0 60000 65536"/>
                <a:gd name="T9" fmla="*/ 0 w 1134"/>
                <a:gd name="T10" fmla="*/ 0 h 726"/>
                <a:gd name="T11" fmla="*/ 1134 w 1134"/>
                <a:gd name="T12" fmla="*/ 726 h 726"/>
              </a:gdLst>
              <a:ahLst/>
              <a:cxnLst>
                <a:cxn ang="T6">
                  <a:pos x="T0" y="T1"/>
                </a:cxn>
                <a:cxn ang="T7">
                  <a:pos x="T2" y="T3"/>
                </a:cxn>
                <a:cxn ang="T8">
                  <a:pos x="T4" y="T5"/>
                </a:cxn>
              </a:cxnLst>
              <a:rect l="T9" t="T10" r="T11" b="T12"/>
              <a:pathLst>
                <a:path w="1134" h="726">
                  <a:moveTo>
                    <a:pt x="1134" y="0"/>
                  </a:moveTo>
                  <a:cubicBezTo>
                    <a:pt x="842" y="53"/>
                    <a:pt x="551" y="106"/>
                    <a:pt x="362" y="227"/>
                  </a:cubicBezTo>
                  <a:cubicBezTo>
                    <a:pt x="173" y="348"/>
                    <a:pt x="86" y="537"/>
                    <a:pt x="0" y="726"/>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207" name="Rectangle 50"/>
            <p:cNvSpPr>
              <a:spLocks noChangeArrowheads="1"/>
            </p:cNvSpPr>
            <p:nvPr/>
          </p:nvSpPr>
          <p:spPr bwMode="auto">
            <a:xfrm>
              <a:off x="5976002" y="2435060"/>
              <a:ext cx="326880" cy="318273"/>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grpSp>
          <p:nvGrpSpPr>
            <p:cNvPr id="9" name="Group 51"/>
            <p:cNvGrpSpPr>
              <a:grpSpLocks/>
            </p:cNvGrpSpPr>
            <p:nvPr/>
          </p:nvGrpSpPr>
          <p:grpSpPr bwMode="auto">
            <a:xfrm>
              <a:off x="5943679" y="1969846"/>
              <a:ext cx="285773" cy="458013"/>
              <a:chOff x="2160" y="1548"/>
              <a:chExt cx="309" cy="441"/>
            </a:xfrm>
          </p:grpSpPr>
          <p:sp>
            <p:nvSpPr>
              <p:cNvPr id="209" name="Freeform 52"/>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endParaRPr lang="en-US">
                  <a:latin typeface="Arial"/>
                  <a:cs typeface="Arial"/>
                </a:endParaRPr>
              </a:p>
            </p:txBody>
          </p:sp>
          <p:sp>
            <p:nvSpPr>
              <p:cNvPr id="210" name="Freeform 53"/>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11" name="Freeform 54"/>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12" name="Freeform 55"/>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13" name="Freeform 56"/>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endParaRPr lang="en-US">
                  <a:latin typeface="Arial"/>
                  <a:cs typeface="Arial"/>
                </a:endParaRPr>
              </a:p>
            </p:txBody>
          </p:sp>
          <p:sp>
            <p:nvSpPr>
              <p:cNvPr id="214" name="Freeform 57"/>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endParaRPr lang="en-US">
                  <a:latin typeface="Arial"/>
                  <a:cs typeface="Arial"/>
                </a:endParaRPr>
              </a:p>
            </p:txBody>
          </p:sp>
          <p:sp>
            <p:nvSpPr>
              <p:cNvPr id="215" name="Freeform 58"/>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endParaRPr lang="en-US">
                  <a:latin typeface="Arial"/>
                  <a:cs typeface="Arial"/>
                </a:endParaRPr>
              </a:p>
            </p:txBody>
          </p:sp>
        </p:grpSp>
        <p:grpSp>
          <p:nvGrpSpPr>
            <p:cNvPr id="10" name="Group 59"/>
            <p:cNvGrpSpPr>
              <a:grpSpLocks/>
            </p:cNvGrpSpPr>
            <p:nvPr/>
          </p:nvGrpSpPr>
          <p:grpSpPr bwMode="auto">
            <a:xfrm>
              <a:off x="4833270" y="3015022"/>
              <a:ext cx="359370" cy="400768"/>
              <a:chOff x="2160" y="1548"/>
              <a:chExt cx="309" cy="441"/>
            </a:xfrm>
          </p:grpSpPr>
          <p:sp>
            <p:nvSpPr>
              <p:cNvPr id="217" name="Freeform 60"/>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endParaRPr lang="en-US">
                  <a:latin typeface="Arial"/>
                  <a:cs typeface="Arial"/>
                </a:endParaRPr>
              </a:p>
            </p:txBody>
          </p:sp>
          <p:sp>
            <p:nvSpPr>
              <p:cNvPr id="218" name="Freeform 61"/>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19" name="Freeform 62"/>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a:latin typeface="Arial"/>
                  <a:cs typeface="Arial"/>
                </a:endParaRPr>
              </a:p>
            </p:txBody>
          </p:sp>
          <p:sp>
            <p:nvSpPr>
              <p:cNvPr id="220" name="Freeform 63"/>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a:latin typeface="Arial"/>
                  <a:cs typeface="Arial"/>
                </a:endParaRPr>
              </a:p>
            </p:txBody>
          </p:sp>
          <p:sp>
            <p:nvSpPr>
              <p:cNvPr id="221" name="Freeform 64"/>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endParaRPr lang="en-US">
                  <a:latin typeface="Arial"/>
                  <a:cs typeface="Arial"/>
                </a:endParaRPr>
              </a:p>
            </p:txBody>
          </p:sp>
          <p:sp>
            <p:nvSpPr>
              <p:cNvPr id="222" name="Freeform 65"/>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endParaRPr lang="en-US">
                  <a:latin typeface="Arial"/>
                  <a:cs typeface="Arial"/>
                </a:endParaRPr>
              </a:p>
            </p:txBody>
          </p:sp>
          <p:sp>
            <p:nvSpPr>
              <p:cNvPr id="223" name="Freeform 66"/>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endParaRPr lang="en-US">
                  <a:latin typeface="Arial"/>
                  <a:cs typeface="Arial"/>
                </a:endParaRPr>
              </a:p>
            </p:txBody>
          </p:sp>
        </p:grpSp>
        <p:sp>
          <p:nvSpPr>
            <p:cNvPr id="225" name="Text Box 11"/>
            <p:cNvSpPr txBox="1">
              <a:spLocks noChangeArrowheads="1"/>
            </p:cNvSpPr>
            <p:nvPr/>
          </p:nvSpPr>
          <p:spPr bwMode="auto">
            <a:xfrm>
              <a:off x="5217114" y="3050464"/>
              <a:ext cx="967560"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sp>
          <p:nvSpPr>
            <p:cNvPr id="226" name="Text Box 11"/>
            <p:cNvSpPr txBox="1">
              <a:spLocks noChangeArrowheads="1"/>
            </p:cNvSpPr>
            <p:nvPr/>
          </p:nvSpPr>
          <p:spPr bwMode="auto">
            <a:xfrm>
              <a:off x="6262194" y="2427104"/>
              <a:ext cx="967560"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sp>
          <p:nvSpPr>
            <p:cNvPr id="227" name="Text Box 11"/>
            <p:cNvSpPr txBox="1">
              <a:spLocks noChangeArrowheads="1"/>
            </p:cNvSpPr>
            <p:nvPr/>
          </p:nvSpPr>
          <p:spPr bwMode="auto">
            <a:xfrm>
              <a:off x="3518860" y="2427104"/>
              <a:ext cx="967560"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sp>
          <p:nvSpPr>
            <p:cNvPr id="67" name="Text Box 33"/>
            <p:cNvSpPr txBox="1">
              <a:spLocks noChangeArrowheads="1"/>
            </p:cNvSpPr>
            <p:nvPr/>
          </p:nvSpPr>
          <p:spPr bwMode="auto">
            <a:xfrm>
              <a:off x="1865839" y="4182294"/>
              <a:ext cx="1792123" cy="314483"/>
            </a:xfrm>
            <a:prstGeom prst="rect">
              <a:avLst/>
            </a:prstGeom>
            <a:noFill/>
            <a:ln w="9525">
              <a:noFill/>
              <a:miter lim="800000"/>
              <a:headEnd/>
              <a:tailEnd/>
            </a:ln>
          </p:spPr>
          <p:txBody>
            <a:bodyPr wrap="none" lIns="82840" tIns="41421" rIns="82840" bIns="41421">
              <a:spAutoFit/>
            </a:bodyPr>
            <a:lstStyle/>
            <a:p>
              <a:r>
                <a:rPr lang="en-US" sz="1500">
                  <a:solidFill>
                    <a:srgbClr val="FF0000"/>
                  </a:solidFill>
                  <a:latin typeface="Arial"/>
                  <a:cs typeface="Arial"/>
                </a:rPr>
                <a:t>P:</a:t>
              </a:r>
              <a:r>
                <a:rPr lang="en-US" sz="1500">
                  <a:latin typeface="Arial"/>
                  <a:cs typeface="Arial"/>
                </a:rPr>
                <a:t> Dequeue() </a:t>
              </a:r>
              <a:r>
                <a:rPr lang="en-US" sz="1500">
                  <a:latin typeface="Arial"/>
                  <a:cs typeface="Arial"/>
                  <a:sym typeface="Wingdings" pitchFamily="2" charset="2"/>
                </a:rPr>
                <a:t>=&gt; a</a:t>
              </a:r>
              <a:endParaRPr lang="en-US" sz="1500">
                <a:latin typeface="Arial"/>
                <a:cs typeface="Arial"/>
              </a:endParaRPr>
            </a:p>
          </p:txBody>
        </p:sp>
        <p:sp>
          <p:nvSpPr>
            <p:cNvPr id="68" name="Text Box 34"/>
            <p:cNvSpPr txBox="1">
              <a:spLocks noChangeArrowheads="1"/>
            </p:cNvSpPr>
            <p:nvPr/>
          </p:nvSpPr>
          <p:spPr bwMode="auto">
            <a:xfrm>
              <a:off x="4991552" y="4179415"/>
              <a:ext cx="1492311" cy="314483"/>
            </a:xfrm>
            <a:prstGeom prst="rect">
              <a:avLst/>
            </a:prstGeom>
            <a:noFill/>
            <a:ln w="9525">
              <a:noFill/>
              <a:miter lim="800000"/>
              <a:headEnd/>
              <a:tailEnd/>
            </a:ln>
          </p:spPr>
          <p:txBody>
            <a:bodyPr wrap="none" lIns="82840" tIns="41421" rIns="82840" bIns="41421">
              <a:spAutoFit/>
            </a:bodyPr>
            <a:lstStyle/>
            <a:p>
              <a:r>
                <a:rPr lang="en-US" sz="1500">
                  <a:solidFill>
                    <a:srgbClr val="FF0000"/>
                  </a:solidFill>
                  <a:latin typeface="Arial"/>
                  <a:cs typeface="Arial"/>
                </a:rPr>
                <a:t>Q:</a:t>
              </a:r>
              <a:r>
                <a:rPr lang="en-US" sz="1500">
                  <a:latin typeface="Arial"/>
                  <a:cs typeface="Arial"/>
                </a:rPr>
                <a:t> Enqueue(d)</a:t>
              </a:r>
            </a:p>
          </p:txBody>
        </p:sp>
      </p:grpSp>
    </p:spTree>
    <p:extLst>
      <p:ext uri="{BB962C8B-B14F-4D97-AF65-F5344CB8AC3E}">
        <p14:creationId xmlns:p14="http://schemas.microsoft.com/office/powerpoint/2010/main" val="47795621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55652" y="404813"/>
            <a:ext cx="7772400" cy="1143000"/>
          </a:xfrm>
        </p:spPr>
        <p:txBody>
          <a:bodyPr/>
          <a:lstStyle/>
          <a:p>
            <a:r>
              <a:rPr lang="en-US" dirty="0">
                <a:latin typeface="Arial"/>
                <a:cs typeface="Arial"/>
              </a:rPr>
              <a:t>Flat-Combining FIFO Queue</a:t>
            </a:r>
          </a:p>
        </p:txBody>
      </p:sp>
      <p:grpSp>
        <p:nvGrpSpPr>
          <p:cNvPr id="2" name="Group 3"/>
          <p:cNvGrpSpPr>
            <a:grpSpLocks/>
          </p:cNvGrpSpPr>
          <p:nvPr/>
        </p:nvGrpSpPr>
        <p:grpSpPr bwMode="auto">
          <a:xfrm>
            <a:off x="3218304" y="2964740"/>
            <a:ext cx="459821" cy="706437"/>
            <a:chOff x="1029" y="2668"/>
            <a:chExt cx="363" cy="445"/>
          </a:xfrm>
        </p:grpSpPr>
        <p:grpSp>
          <p:nvGrpSpPr>
            <p:cNvPr id="3" name="Group 4"/>
            <p:cNvGrpSpPr>
              <a:grpSpLocks/>
            </p:cNvGrpSpPr>
            <p:nvPr/>
          </p:nvGrpSpPr>
          <p:grpSpPr bwMode="auto">
            <a:xfrm>
              <a:off x="1101" y="2668"/>
              <a:ext cx="217" cy="238"/>
              <a:chOff x="1075" y="2731"/>
              <a:chExt cx="244" cy="166"/>
            </a:xfrm>
          </p:grpSpPr>
          <p:sp>
            <p:nvSpPr>
              <p:cNvPr id="14393" name="Oval 5"/>
              <p:cNvSpPr>
                <a:spLocks noChangeArrowheads="1"/>
              </p:cNvSpPr>
              <p:nvPr/>
            </p:nvSpPr>
            <p:spPr bwMode="auto">
              <a:xfrm>
                <a:off x="1075" y="2731"/>
                <a:ext cx="244" cy="166"/>
              </a:xfrm>
              <a:prstGeom prst="ellipse">
                <a:avLst/>
              </a:prstGeom>
              <a:solidFill>
                <a:schemeClr val="tx1"/>
              </a:solidFill>
              <a:ln w="12700">
                <a:solidFill>
                  <a:schemeClr val="tx2"/>
                </a:solidFill>
                <a:round/>
                <a:headEnd/>
                <a:tailEnd/>
              </a:ln>
            </p:spPr>
            <p:txBody>
              <a:bodyPr wrap="none" anchor="ctr"/>
              <a:lstStyle/>
              <a:p>
                <a:endParaRPr lang="en-US">
                  <a:latin typeface="Arial"/>
                  <a:cs typeface="Arial"/>
                </a:endParaRPr>
              </a:p>
            </p:txBody>
          </p:sp>
          <p:sp>
            <p:nvSpPr>
              <p:cNvPr id="14394" name="Oval 6"/>
              <p:cNvSpPr>
                <a:spLocks noChangeArrowheads="1"/>
              </p:cNvSpPr>
              <p:nvPr/>
            </p:nvSpPr>
            <p:spPr bwMode="auto">
              <a:xfrm>
                <a:off x="1135" y="2750"/>
                <a:ext cx="158" cy="112"/>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grpSp>
        <p:sp>
          <p:nvSpPr>
            <p:cNvPr id="14390" name="Rectangle 7"/>
            <p:cNvSpPr>
              <a:spLocks noChangeArrowheads="1"/>
            </p:cNvSpPr>
            <p:nvPr/>
          </p:nvSpPr>
          <p:spPr bwMode="auto">
            <a:xfrm>
              <a:off x="1029" y="2795"/>
              <a:ext cx="363" cy="318"/>
            </a:xfrm>
            <a:prstGeom prst="rect">
              <a:avLst/>
            </a:prstGeom>
            <a:solidFill>
              <a:srgbClr val="00FFCC"/>
            </a:solidFill>
            <a:ln w="9525">
              <a:solidFill>
                <a:schemeClr val="tx1"/>
              </a:solidFill>
              <a:miter lim="800000"/>
              <a:headEnd/>
              <a:tailEnd/>
            </a:ln>
          </p:spPr>
          <p:txBody>
            <a:bodyPr wrap="none" anchor="ctr"/>
            <a:lstStyle/>
            <a:p>
              <a:endParaRPr lang="en-US">
                <a:latin typeface="Arial"/>
                <a:cs typeface="Arial"/>
              </a:endParaRPr>
            </a:p>
          </p:txBody>
        </p:sp>
        <p:sp>
          <p:nvSpPr>
            <p:cNvPr id="14391" name="Oval 8"/>
            <p:cNvSpPr>
              <a:spLocks noChangeArrowheads="1"/>
            </p:cNvSpPr>
            <p:nvPr/>
          </p:nvSpPr>
          <p:spPr bwMode="auto">
            <a:xfrm>
              <a:off x="1151" y="2880"/>
              <a:ext cx="141" cy="65"/>
            </a:xfrm>
            <a:prstGeom prst="ellipse">
              <a:avLst/>
            </a:prstGeom>
            <a:solidFill>
              <a:schemeClr val="tx1"/>
            </a:solidFill>
            <a:ln w="25400">
              <a:noFill/>
              <a:round/>
              <a:headEnd/>
              <a:tailEnd/>
            </a:ln>
          </p:spPr>
          <p:txBody>
            <a:bodyPr wrap="none" anchor="ctr"/>
            <a:lstStyle/>
            <a:p>
              <a:endParaRPr lang="en-US">
                <a:latin typeface="Arial"/>
                <a:cs typeface="Arial"/>
              </a:endParaRPr>
            </a:p>
          </p:txBody>
        </p:sp>
        <p:sp>
          <p:nvSpPr>
            <p:cNvPr id="14392" name="AutoShape 9"/>
            <p:cNvSpPr>
              <a:spLocks noChangeArrowheads="1"/>
            </p:cNvSpPr>
            <p:nvPr/>
          </p:nvSpPr>
          <p:spPr bwMode="auto">
            <a:xfrm flipV="1">
              <a:off x="1151" y="2915"/>
              <a:ext cx="139" cy="1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6 w 21600"/>
                <a:gd name="T13" fmla="*/ 4441 h 21600"/>
                <a:gd name="T14" fmla="*/ 17094 w 21600"/>
                <a:gd name="T15" fmla="*/ 17159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tx1"/>
            </a:solidFill>
            <a:ln w="25400">
              <a:noFill/>
              <a:miter lim="800000"/>
              <a:headEnd/>
              <a:tailEnd/>
            </a:ln>
          </p:spPr>
          <p:txBody>
            <a:bodyPr wrap="none" anchor="ctr"/>
            <a:lstStyle/>
            <a:p>
              <a:endParaRPr lang="en-US">
                <a:latin typeface="Arial"/>
                <a:cs typeface="Arial"/>
              </a:endParaRPr>
            </a:p>
          </p:txBody>
        </p:sp>
      </p:grpSp>
      <p:sp>
        <p:nvSpPr>
          <p:cNvPr id="14340" name="Text Box 11"/>
          <p:cNvSpPr txBox="1">
            <a:spLocks noChangeArrowheads="1"/>
          </p:cNvSpPr>
          <p:nvPr/>
        </p:nvSpPr>
        <p:spPr bwMode="auto">
          <a:xfrm>
            <a:off x="3069701" y="2187849"/>
            <a:ext cx="1049526" cy="837027"/>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object </a:t>
            </a:r>
          </a:p>
          <a:p>
            <a:pPr algn="l"/>
            <a:r>
              <a:rPr lang="en-US" sz="2200" dirty="0">
                <a:latin typeface="Arial"/>
                <a:cs typeface="Arial"/>
              </a:rPr>
              <a:t>lock</a:t>
            </a:r>
          </a:p>
        </p:txBody>
      </p:sp>
      <p:sp>
        <p:nvSpPr>
          <p:cNvPr id="14382" name="Text Box 25"/>
          <p:cNvSpPr txBox="1">
            <a:spLocks noChangeArrowheads="1"/>
          </p:cNvSpPr>
          <p:nvPr/>
        </p:nvSpPr>
        <p:spPr bwMode="auto">
          <a:xfrm>
            <a:off x="5878350" y="5127444"/>
            <a:ext cx="979762" cy="360650"/>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Enq</a:t>
            </a:r>
            <a:r>
              <a:rPr lang="en-US" sz="1800" dirty="0">
                <a:latin typeface="Arial"/>
                <a:cs typeface="Arial"/>
              </a:rPr>
              <a:t>(a)</a:t>
            </a:r>
            <a:endParaRPr lang="en-US" sz="1500" dirty="0">
              <a:latin typeface="Arial"/>
              <a:cs typeface="Arial"/>
            </a:endParaRPr>
          </a:p>
        </p:txBody>
      </p:sp>
      <p:sp>
        <p:nvSpPr>
          <p:cNvPr id="14360" name="Text Box 32"/>
          <p:cNvSpPr txBox="1">
            <a:spLocks noChangeArrowheads="1"/>
          </p:cNvSpPr>
          <p:nvPr/>
        </p:nvSpPr>
        <p:spPr bwMode="auto">
          <a:xfrm>
            <a:off x="4114777" y="3167704"/>
            <a:ext cx="864216" cy="422205"/>
          </a:xfrm>
          <a:prstGeom prst="rect">
            <a:avLst/>
          </a:prstGeom>
          <a:noFill/>
          <a:ln w="9525">
            <a:noFill/>
            <a:miter lim="800000"/>
            <a:headEnd/>
            <a:tailEnd/>
          </a:ln>
        </p:spPr>
        <p:txBody>
          <a:bodyPr wrap="none" lIns="82840" tIns="41421" rIns="82840" bIns="41421">
            <a:spAutoFit/>
          </a:bodyPr>
          <a:lstStyle/>
          <a:p>
            <a:r>
              <a:rPr lang="en-US" sz="2200" dirty="0">
                <a:latin typeface="Arial"/>
                <a:cs typeface="Arial"/>
              </a:rPr>
              <a:t>Head</a:t>
            </a:r>
          </a:p>
        </p:txBody>
      </p:sp>
      <p:sp>
        <p:nvSpPr>
          <p:cNvPr id="14361"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362"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89" name="Text Box 11"/>
          <p:cNvSpPr txBox="1">
            <a:spLocks noChangeArrowheads="1"/>
          </p:cNvSpPr>
          <p:nvPr/>
        </p:nvSpPr>
        <p:spPr bwMode="auto">
          <a:xfrm>
            <a:off x="4647216" y="3617985"/>
            <a:ext cx="967560"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grpSp>
        <p:nvGrpSpPr>
          <p:cNvPr id="5" name="Group 77"/>
          <p:cNvGrpSpPr>
            <a:grpSpLocks/>
          </p:cNvGrpSpPr>
          <p:nvPr/>
        </p:nvGrpSpPr>
        <p:grpSpPr bwMode="auto">
          <a:xfrm flipH="1">
            <a:off x="7250017" y="5650028"/>
            <a:ext cx="865440" cy="688392"/>
            <a:chOff x="1584" y="816"/>
            <a:chExt cx="912" cy="816"/>
          </a:xfrm>
        </p:grpSpPr>
        <p:sp>
          <p:nvSpPr>
            <p:cNvPr id="9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5"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9"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0"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1"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05" name="Text Box 11"/>
          <p:cNvSpPr txBox="1">
            <a:spLocks noChangeArrowheads="1"/>
          </p:cNvSpPr>
          <p:nvPr/>
        </p:nvSpPr>
        <p:spPr bwMode="auto">
          <a:xfrm>
            <a:off x="6074304" y="3833366"/>
            <a:ext cx="2190852"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Publication list</a:t>
            </a:r>
          </a:p>
        </p:txBody>
      </p:sp>
      <p:grpSp>
        <p:nvGrpSpPr>
          <p:cNvPr id="6" name="Group 118"/>
          <p:cNvGrpSpPr/>
          <p:nvPr/>
        </p:nvGrpSpPr>
        <p:grpSpPr>
          <a:xfrm>
            <a:off x="7315334" y="4590588"/>
            <a:ext cx="1082475" cy="385862"/>
            <a:chOff x="7951415" y="5060273"/>
            <a:chExt cx="1193353" cy="425341"/>
          </a:xfrm>
        </p:grpSpPr>
        <p:sp>
          <p:nvSpPr>
            <p:cNvPr id="14380"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4381"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4356" name="Line 26"/>
            <p:cNvSpPr>
              <a:spLocks noChangeShapeType="1"/>
            </p:cNvSpPr>
            <p:nvPr/>
          </p:nvSpPr>
          <p:spPr bwMode="auto">
            <a:xfrm flipV="1">
              <a:off x="8928744" y="5067299"/>
              <a:ext cx="215256" cy="404812"/>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1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17" name="Text Box 25"/>
          <p:cNvSpPr txBox="1">
            <a:spLocks noChangeArrowheads="1"/>
          </p:cNvSpPr>
          <p:nvPr/>
        </p:nvSpPr>
        <p:spPr bwMode="auto">
          <a:xfrm>
            <a:off x="7292007" y="4645517"/>
            <a:ext cx="849127" cy="283811"/>
          </a:xfrm>
          <a:prstGeom prst="rect">
            <a:avLst/>
          </a:prstGeom>
          <a:noFill/>
          <a:ln w="9525">
            <a:noFill/>
            <a:miter lim="800000"/>
            <a:headEnd/>
            <a:tailEnd/>
          </a:ln>
        </p:spPr>
        <p:txBody>
          <a:bodyPr wrap="square" lIns="82840" tIns="41421" rIns="82840" bIns="41421">
            <a:spAutoFit/>
          </a:bodyPr>
          <a:lstStyle/>
          <a:p>
            <a:r>
              <a:rPr lang="en-US" sz="1300" dirty="0" err="1">
                <a:latin typeface="Arial"/>
                <a:cs typeface="Arial"/>
              </a:rPr>
              <a:t>Enq</a:t>
            </a:r>
            <a:r>
              <a:rPr lang="en-US" sz="1300" dirty="0">
                <a:latin typeface="Arial"/>
                <a:cs typeface="Arial"/>
              </a:rPr>
              <a:t>(b</a:t>
            </a:r>
            <a:r>
              <a:rPr lang="en-US" sz="1100" dirty="0">
                <a:latin typeface="Arial"/>
                <a:cs typeface="Arial"/>
              </a:rPr>
              <a:t>)</a:t>
            </a:r>
            <a:endParaRPr lang="en-US" sz="1000" dirty="0">
              <a:latin typeface="Arial"/>
              <a:cs typeface="Arial"/>
            </a:endParaRPr>
          </a:p>
        </p:txBody>
      </p:sp>
      <p:grpSp>
        <p:nvGrpSpPr>
          <p:cNvPr id="7" name="Group 120"/>
          <p:cNvGrpSpPr/>
          <p:nvPr/>
        </p:nvGrpSpPr>
        <p:grpSpPr>
          <a:xfrm>
            <a:off x="5895878" y="4582375"/>
            <a:ext cx="1082475" cy="385862"/>
            <a:chOff x="7951415" y="5060273"/>
            <a:chExt cx="1193353" cy="425341"/>
          </a:xfrm>
        </p:grpSpPr>
        <p:sp>
          <p:nvSpPr>
            <p:cNvPr id="122"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23"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25"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4370" name="Line 47"/>
          <p:cNvSpPr>
            <a:spLocks noChangeShapeType="1"/>
          </p:cNvSpPr>
          <p:nvPr/>
        </p:nvSpPr>
        <p:spPr bwMode="auto">
          <a:xfrm flipV="1">
            <a:off x="6894720" y="4787062"/>
            <a:ext cx="414720"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8" name="Group 127"/>
          <p:cNvGrpSpPr/>
          <p:nvPr/>
        </p:nvGrpSpPr>
        <p:grpSpPr>
          <a:xfrm>
            <a:off x="4408047" y="4565525"/>
            <a:ext cx="1082475" cy="385862"/>
            <a:chOff x="7951415" y="5060273"/>
            <a:chExt cx="1193353" cy="425341"/>
          </a:xfrm>
        </p:grpSpPr>
        <p:sp>
          <p:nvSpPr>
            <p:cNvPr id="12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30"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31"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32" name="Text Box 25"/>
          <p:cNvSpPr txBox="1">
            <a:spLocks noChangeArrowheads="1"/>
          </p:cNvSpPr>
          <p:nvPr/>
        </p:nvSpPr>
        <p:spPr bwMode="auto">
          <a:xfrm>
            <a:off x="4467759" y="4608121"/>
            <a:ext cx="849127" cy="283811"/>
          </a:xfrm>
          <a:prstGeom prst="rect">
            <a:avLst/>
          </a:prstGeom>
          <a:noFill/>
          <a:ln w="9525">
            <a:noFill/>
            <a:miter lim="800000"/>
            <a:headEnd/>
            <a:tailEnd/>
          </a:ln>
        </p:spPr>
        <p:txBody>
          <a:bodyPr wrap="square" lIns="82840" tIns="41421" rIns="82840" bIns="41421">
            <a:spAutoFit/>
          </a:bodyPr>
          <a:lstStyle/>
          <a:p>
            <a:r>
              <a:rPr lang="en-US" sz="1300" dirty="0">
                <a:latin typeface="Arial"/>
                <a:cs typeface="Arial"/>
              </a:rPr>
              <a:t>null</a:t>
            </a:r>
            <a:endParaRPr lang="en-US" sz="1000" dirty="0">
              <a:latin typeface="Arial"/>
              <a:cs typeface="Arial"/>
            </a:endParaRPr>
          </a:p>
        </p:txBody>
      </p:sp>
      <p:sp>
        <p:nvSpPr>
          <p:cNvPr id="140" name="Rectangle 33"/>
          <p:cNvSpPr>
            <a:spLocks noChangeArrowheads="1"/>
          </p:cNvSpPr>
          <p:nvPr/>
        </p:nvSpPr>
        <p:spPr bwMode="auto">
          <a:xfrm>
            <a:off x="2547170" y="3167704"/>
            <a:ext cx="423373" cy="508224"/>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1" name="Text Box 11"/>
          <p:cNvSpPr txBox="1">
            <a:spLocks noChangeArrowheads="1"/>
          </p:cNvSpPr>
          <p:nvPr/>
        </p:nvSpPr>
        <p:spPr bwMode="auto">
          <a:xfrm>
            <a:off x="1911200" y="2663389"/>
            <a:ext cx="1218968"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counter</a:t>
            </a:r>
          </a:p>
        </p:txBody>
      </p:sp>
      <p:sp>
        <p:nvSpPr>
          <p:cNvPr id="142" name="Text Box 11"/>
          <p:cNvSpPr txBox="1">
            <a:spLocks noChangeArrowheads="1"/>
          </p:cNvSpPr>
          <p:nvPr/>
        </p:nvSpPr>
        <p:spPr bwMode="auto">
          <a:xfrm>
            <a:off x="2547170" y="3167702"/>
            <a:ext cx="498218"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54</a:t>
            </a:r>
          </a:p>
        </p:txBody>
      </p:sp>
      <p:sp>
        <p:nvSpPr>
          <p:cNvPr id="143" name="Text Box 11"/>
          <p:cNvSpPr txBox="1">
            <a:spLocks noChangeArrowheads="1"/>
          </p:cNvSpPr>
          <p:nvPr/>
        </p:nvSpPr>
        <p:spPr bwMode="auto">
          <a:xfrm>
            <a:off x="7837875"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54</a:t>
            </a:r>
          </a:p>
        </p:txBody>
      </p:sp>
      <p:sp>
        <p:nvSpPr>
          <p:cNvPr id="144" name="Text Box 11"/>
          <p:cNvSpPr txBox="1">
            <a:spLocks noChangeArrowheads="1"/>
          </p:cNvSpPr>
          <p:nvPr/>
        </p:nvSpPr>
        <p:spPr bwMode="auto">
          <a:xfrm>
            <a:off x="6466218"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12</a:t>
            </a:r>
          </a:p>
        </p:txBody>
      </p:sp>
      <p:sp>
        <p:nvSpPr>
          <p:cNvPr id="145" name="Text Box 11"/>
          <p:cNvSpPr txBox="1">
            <a:spLocks noChangeArrowheads="1"/>
          </p:cNvSpPr>
          <p:nvPr/>
        </p:nvSpPr>
        <p:spPr bwMode="auto">
          <a:xfrm>
            <a:off x="4963905"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54</a:t>
            </a:r>
          </a:p>
        </p:txBody>
      </p:sp>
      <p:sp>
        <p:nvSpPr>
          <p:cNvPr id="166" name="Text Box 25"/>
          <p:cNvSpPr txBox="1">
            <a:spLocks noChangeArrowheads="1"/>
          </p:cNvSpPr>
          <p:nvPr/>
        </p:nvSpPr>
        <p:spPr bwMode="auto">
          <a:xfrm>
            <a:off x="5871016" y="4604850"/>
            <a:ext cx="849127" cy="283811"/>
          </a:xfrm>
          <a:prstGeom prst="rect">
            <a:avLst/>
          </a:prstGeom>
          <a:noFill/>
          <a:ln w="9525">
            <a:noFill/>
            <a:miter lim="800000"/>
            <a:headEnd/>
            <a:tailEnd/>
          </a:ln>
        </p:spPr>
        <p:txBody>
          <a:bodyPr wrap="square" lIns="82840" tIns="41421" rIns="82840" bIns="41421">
            <a:spAutoFit/>
          </a:bodyPr>
          <a:lstStyle/>
          <a:p>
            <a:r>
              <a:rPr lang="en-US" sz="1300" dirty="0" err="1">
                <a:latin typeface="Arial"/>
                <a:cs typeface="Arial"/>
              </a:rPr>
              <a:t>Enq</a:t>
            </a:r>
            <a:r>
              <a:rPr lang="en-US" sz="1300" dirty="0">
                <a:latin typeface="Arial"/>
                <a:cs typeface="Arial"/>
              </a:rPr>
              <a:t>(b)</a:t>
            </a:r>
            <a:endParaRPr lang="en-US" sz="1000" dirty="0">
              <a:latin typeface="Arial"/>
              <a:cs typeface="Arial"/>
            </a:endParaRPr>
          </a:p>
        </p:txBody>
      </p:sp>
      <p:grpSp>
        <p:nvGrpSpPr>
          <p:cNvPr id="11" name="Group 77"/>
          <p:cNvGrpSpPr>
            <a:grpSpLocks/>
          </p:cNvGrpSpPr>
          <p:nvPr/>
        </p:nvGrpSpPr>
        <p:grpSpPr bwMode="auto">
          <a:xfrm flipH="1">
            <a:off x="4506682" y="5650028"/>
            <a:ext cx="865440" cy="688392"/>
            <a:chOff x="1584" y="816"/>
            <a:chExt cx="912" cy="816"/>
          </a:xfrm>
        </p:grpSpPr>
        <p:sp>
          <p:nvSpPr>
            <p:cNvPr id="178"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9"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0"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1"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2"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3"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4"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6"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87" name="Text Box 25"/>
          <p:cNvSpPr txBox="1">
            <a:spLocks noChangeArrowheads="1"/>
          </p:cNvSpPr>
          <p:nvPr/>
        </p:nvSpPr>
        <p:spPr bwMode="auto">
          <a:xfrm>
            <a:off x="4376047" y="5127444"/>
            <a:ext cx="979762" cy="362973"/>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Deq</a:t>
            </a:r>
            <a:r>
              <a:rPr lang="en-US" sz="1800" dirty="0">
                <a:latin typeface="Arial"/>
                <a:cs typeface="Arial"/>
              </a:rPr>
              <a:t>()</a:t>
            </a:r>
            <a:endParaRPr lang="en-US" sz="1500" dirty="0">
              <a:latin typeface="Arial"/>
              <a:cs typeface="Arial"/>
            </a:endParaRPr>
          </a:p>
        </p:txBody>
      </p:sp>
      <p:sp>
        <p:nvSpPr>
          <p:cNvPr id="120" name="Line 47"/>
          <p:cNvSpPr>
            <a:spLocks noChangeShapeType="1"/>
          </p:cNvSpPr>
          <p:nvPr/>
        </p:nvSpPr>
        <p:spPr bwMode="auto">
          <a:xfrm>
            <a:off x="5382724" y="4761152"/>
            <a:ext cx="498691" cy="5141"/>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13" name="Group 77"/>
          <p:cNvGrpSpPr>
            <a:grpSpLocks/>
          </p:cNvGrpSpPr>
          <p:nvPr/>
        </p:nvGrpSpPr>
        <p:grpSpPr bwMode="auto">
          <a:xfrm flipH="1">
            <a:off x="6074302" y="5650028"/>
            <a:ext cx="865440" cy="688392"/>
            <a:chOff x="1584" y="816"/>
            <a:chExt cx="912" cy="816"/>
          </a:xfrm>
        </p:grpSpPr>
        <p:sp>
          <p:nvSpPr>
            <p:cNvPr id="7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8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67" name="Text Box 25"/>
          <p:cNvSpPr txBox="1">
            <a:spLocks noChangeArrowheads="1"/>
          </p:cNvSpPr>
          <p:nvPr/>
        </p:nvSpPr>
        <p:spPr bwMode="auto">
          <a:xfrm>
            <a:off x="7380652" y="5127444"/>
            <a:ext cx="979762" cy="360650"/>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Enq</a:t>
            </a:r>
            <a:r>
              <a:rPr lang="en-US" sz="1800" dirty="0">
                <a:latin typeface="Arial"/>
                <a:cs typeface="Arial"/>
              </a:rPr>
              <a:t>(b)</a:t>
            </a:r>
            <a:endParaRPr lang="en-US" sz="1500" dirty="0">
              <a:latin typeface="Arial"/>
              <a:cs typeface="Arial"/>
            </a:endParaRPr>
          </a:p>
        </p:txBody>
      </p:sp>
      <p:sp>
        <p:nvSpPr>
          <p:cNvPr id="168" name="Text Box 11"/>
          <p:cNvSpPr txBox="1">
            <a:spLocks noChangeArrowheads="1"/>
          </p:cNvSpPr>
          <p:nvPr/>
        </p:nvSpPr>
        <p:spPr bwMode="auto">
          <a:xfrm>
            <a:off x="979667" y="5650287"/>
            <a:ext cx="3405327" cy="430762"/>
          </a:xfrm>
          <a:prstGeom prst="rect">
            <a:avLst/>
          </a:prstGeom>
          <a:noFill/>
          <a:ln w="9525">
            <a:noFill/>
            <a:miter lim="800000"/>
            <a:headEnd/>
            <a:tailEnd/>
          </a:ln>
        </p:spPr>
        <p:txBody>
          <a:bodyPr wrap="none" lIns="91311" tIns="45658" rIns="91311" bIns="45658">
            <a:spAutoFit/>
          </a:bodyPr>
          <a:lstStyle/>
          <a:p>
            <a:r>
              <a:rPr lang="en-US" sz="2200" dirty="0">
                <a:latin typeface="Arial"/>
                <a:cs typeface="Arial"/>
              </a:rPr>
              <a:t>Sequential FIFO Queue</a:t>
            </a:r>
          </a:p>
        </p:txBody>
      </p:sp>
      <p:grpSp>
        <p:nvGrpSpPr>
          <p:cNvPr id="169" name="Group 90"/>
          <p:cNvGrpSpPr/>
          <p:nvPr/>
        </p:nvGrpSpPr>
        <p:grpSpPr>
          <a:xfrm>
            <a:off x="1159746" y="4242780"/>
            <a:ext cx="2299747" cy="1368758"/>
            <a:chOff x="1712913" y="2205038"/>
            <a:chExt cx="5942012" cy="2392369"/>
          </a:xfrm>
        </p:grpSpPr>
        <p:grpSp>
          <p:nvGrpSpPr>
            <p:cNvPr id="170" name="Group 169"/>
            <p:cNvGrpSpPr>
              <a:grpSpLocks/>
            </p:cNvGrpSpPr>
            <p:nvPr/>
          </p:nvGrpSpPr>
          <p:grpSpPr bwMode="auto">
            <a:xfrm>
              <a:off x="3276600" y="4005269"/>
              <a:ext cx="1066800" cy="592138"/>
              <a:chOff x="1488" y="1872"/>
              <a:chExt cx="672" cy="373"/>
            </a:xfrm>
          </p:grpSpPr>
          <p:sp>
            <p:nvSpPr>
              <p:cNvPr id="252" name="Rectangle 4"/>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2500">
                  <a:latin typeface="Arial"/>
                  <a:cs typeface="Arial"/>
                </a:endParaRPr>
              </a:p>
            </p:txBody>
          </p:sp>
          <p:sp>
            <p:nvSpPr>
              <p:cNvPr id="253" name="Line 5"/>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254" name="Text Box 6"/>
              <p:cNvSpPr txBox="1">
                <a:spLocks noChangeArrowheads="1"/>
              </p:cNvSpPr>
              <p:nvPr/>
            </p:nvSpPr>
            <p:spPr bwMode="auto">
              <a:xfrm>
                <a:off x="1496" y="1872"/>
                <a:ext cx="240" cy="373"/>
              </a:xfrm>
              <a:prstGeom prst="rect">
                <a:avLst/>
              </a:prstGeom>
              <a:noFill/>
              <a:ln w="9525">
                <a:noFill/>
                <a:miter lim="800000"/>
                <a:headEnd/>
                <a:tailEnd/>
              </a:ln>
            </p:spPr>
            <p:txBody>
              <a:bodyPr>
                <a:spAutoFit/>
              </a:bodyPr>
              <a:lstStyle/>
              <a:p>
                <a:r>
                  <a:rPr lang="en-US" sz="1600">
                    <a:latin typeface="Arial"/>
                    <a:cs typeface="Arial"/>
                  </a:rPr>
                  <a:t>b</a:t>
                </a:r>
                <a:endParaRPr lang="en-US" sz="2500">
                  <a:latin typeface="Arial"/>
                  <a:cs typeface="Arial"/>
                </a:endParaRPr>
              </a:p>
            </p:txBody>
          </p:sp>
        </p:grpSp>
        <p:sp>
          <p:nvSpPr>
            <p:cNvPr id="171" name="Line 7"/>
            <p:cNvSpPr>
              <a:spLocks noChangeShapeType="1"/>
            </p:cNvSpPr>
            <p:nvPr/>
          </p:nvSpPr>
          <p:spPr bwMode="auto">
            <a:xfrm>
              <a:off x="4114800" y="4310063"/>
              <a:ext cx="838200" cy="0"/>
            </a:xfrm>
            <a:prstGeom prst="line">
              <a:avLst/>
            </a:prstGeom>
            <a:noFill/>
            <a:ln w="28575">
              <a:solidFill>
                <a:schemeClr val="tx1"/>
              </a:solidFill>
              <a:round/>
              <a:headEnd/>
              <a:tailEnd type="triangle" w="med" len="med"/>
            </a:ln>
          </p:spPr>
          <p:txBody>
            <a:bodyPr wrap="none" anchor="ctr"/>
            <a:lstStyle/>
            <a:p>
              <a:endParaRPr lang="en-US" sz="2500">
                <a:latin typeface="Arial"/>
                <a:cs typeface="Arial"/>
              </a:endParaRPr>
            </a:p>
          </p:txBody>
        </p:sp>
        <p:grpSp>
          <p:nvGrpSpPr>
            <p:cNvPr id="172" name="Group 8"/>
            <p:cNvGrpSpPr>
              <a:grpSpLocks/>
            </p:cNvGrpSpPr>
            <p:nvPr/>
          </p:nvGrpSpPr>
          <p:grpSpPr bwMode="auto">
            <a:xfrm>
              <a:off x="4932363" y="4005269"/>
              <a:ext cx="1066800" cy="592138"/>
              <a:chOff x="1488" y="1872"/>
              <a:chExt cx="672" cy="373"/>
            </a:xfrm>
          </p:grpSpPr>
          <p:sp>
            <p:nvSpPr>
              <p:cNvPr id="249" name="Rectangle 9"/>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2500">
                  <a:latin typeface="Arial"/>
                  <a:cs typeface="Arial"/>
                </a:endParaRPr>
              </a:p>
            </p:txBody>
          </p:sp>
          <p:sp>
            <p:nvSpPr>
              <p:cNvPr id="250" name="Line 10"/>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251" name="Text Box 11"/>
              <p:cNvSpPr txBox="1">
                <a:spLocks noChangeArrowheads="1"/>
              </p:cNvSpPr>
              <p:nvPr/>
            </p:nvSpPr>
            <p:spPr bwMode="auto">
              <a:xfrm>
                <a:off x="1496" y="1872"/>
                <a:ext cx="240" cy="373"/>
              </a:xfrm>
              <a:prstGeom prst="rect">
                <a:avLst/>
              </a:prstGeom>
              <a:noFill/>
              <a:ln w="9525">
                <a:noFill/>
                <a:miter lim="800000"/>
                <a:headEnd/>
                <a:tailEnd/>
              </a:ln>
            </p:spPr>
            <p:txBody>
              <a:bodyPr>
                <a:spAutoFit/>
              </a:bodyPr>
              <a:lstStyle/>
              <a:p>
                <a:r>
                  <a:rPr lang="en-US" sz="1600" dirty="0">
                    <a:latin typeface="Arial"/>
                    <a:cs typeface="Arial"/>
                  </a:rPr>
                  <a:t>c</a:t>
                </a:r>
                <a:endParaRPr lang="en-US" sz="2500" dirty="0">
                  <a:latin typeface="Arial"/>
                  <a:cs typeface="Arial"/>
                </a:endParaRPr>
              </a:p>
            </p:txBody>
          </p:sp>
        </p:grpSp>
        <p:grpSp>
          <p:nvGrpSpPr>
            <p:cNvPr id="173" name="Group 12"/>
            <p:cNvGrpSpPr>
              <a:grpSpLocks/>
            </p:cNvGrpSpPr>
            <p:nvPr/>
          </p:nvGrpSpPr>
          <p:grpSpPr bwMode="auto">
            <a:xfrm>
              <a:off x="6588125" y="4005269"/>
              <a:ext cx="1066800" cy="592138"/>
              <a:chOff x="1488" y="1872"/>
              <a:chExt cx="672" cy="373"/>
            </a:xfrm>
          </p:grpSpPr>
          <p:sp>
            <p:nvSpPr>
              <p:cNvPr id="246" name="Rectangle 13"/>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2500">
                  <a:latin typeface="Arial"/>
                  <a:cs typeface="Arial"/>
                </a:endParaRPr>
              </a:p>
            </p:txBody>
          </p:sp>
          <p:sp>
            <p:nvSpPr>
              <p:cNvPr id="247" name="Line 14"/>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248" name="Text Box 15"/>
              <p:cNvSpPr txBox="1">
                <a:spLocks noChangeArrowheads="1"/>
              </p:cNvSpPr>
              <p:nvPr/>
            </p:nvSpPr>
            <p:spPr bwMode="auto">
              <a:xfrm>
                <a:off x="1496" y="1872"/>
                <a:ext cx="240" cy="373"/>
              </a:xfrm>
              <a:prstGeom prst="rect">
                <a:avLst/>
              </a:prstGeom>
              <a:noFill/>
              <a:ln w="9525">
                <a:noFill/>
                <a:miter lim="800000"/>
                <a:headEnd/>
                <a:tailEnd/>
              </a:ln>
            </p:spPr>
            <p:txBody>
              <a:bodyPr>
                <a:spAutoFit/>
              </a:bodyPr>
              <a:lstStyle/>
              <a:p>
                <a:r>
                  <a:rPr lang="en-US" sz="1600" dirty="0">
                    <a:latin typeface="Arial"/>
                    <a:cs typeface="Arial"/>
                  </a:rPr>
                  <a:t>d</a:t>
                </a:r>
                <a:endParaRPr lang="en-US" sz="2500" dirty="0">
                  <a:latin typeface="Arial"/>
                  <a:cs typeface="Arial"/>
                </a:endParaRPr>
              </a:p>
            </p:txBody>
          </p:sp>
        </p:grpSp>
        <p:sp>
          <p:nvSpPr>
            <p:cNvPr id="174" name="Line 16"/>
            <p:cNvSpPr>
              <a:spLocks noChangeShapeType="1"/>
            </p:cNvSpPr>
            <p:nvPr/>
          </p:nvSpPr>
          <p:spPr bwMode="auto">
            <a:xfrm flipV="1">
              <a:off x="7121525" y="4081463"/>
              <a:ext cx="533400" cy="485775"/>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175" name="Text Box 17"/>
            <p:cNvSpPr txBox="1">
              <a:spLocks noChangeArrowheads="1"/>
            </p:cNvSpPr>
            <p:nvPr/>
          </p:nvSpPr>
          <p:spPr bwMode="auto">
            <a:xfrm>
              <a:off x="5879866" y="2205038"/>
              <a:ext cx="1296431" cy="564840"/>
            </a:xfrm>
            <a:prstGeom prst="rect">
              <a:avLst/>
            </a:prstGeom>
            <a:noFill/>
            <a:ln w="9525">
              <a:noFill/>
              <a:miter lim="800000"/>
              <a:headEnd/>
              <a:tailEnd/>
            </a:ln>
          </p:spPr>
          <p:txBody>
            <a:bodyPr wrap="none">
              <a:spAutoFit/>
            </a:bodyPr>
            <a:lstStyle/>
            <a:p>
              <a:r>
                <a:rPr lang="en-US" sz="1500">
                  <a:latin typeface="Arial"/>
                  <a:cs typeface="Arial"/>
                </a:rPr>
                <a:t>Tail</a:t>
              </a:r>
            </a:p>
          </p:txBody>
        </p:sp>
        <p:grpSp>
          <p:nvGrpSpPr>
            <p:cNvPr id="176" name="Group 18"/>
            <p:cNvGrpSpPr>
              <a:grpSpLocks/>
            </p:cNvGrpSpPr>
            <p:nvPr/>
          </p:nvGrpSpPr>
          <p:grpSpPr bwMode="auto">
            <a:xfrm>
              <a:off x="5940425" y="3213100"/>
              <a:ext cx="304800" cy="304800"/>
              <a:chOff x="2592" y="2208"/>
              <a:chExt cx="192" cy="192"/>
            </a:xfrm>
          </p:grpSpPr>
          <p:sp>
            <p:nvSpPr>
              <p:cNvPr id="244" name="Line 19"/>
              <p:cNvSpPr>
                <a:spLocks noChangeShapeType="1"/>
              </p:cNvSpPr>
              <p:nvPr/>
            </p:nvSpPr>
            <p:spPr bwMode="auto">
              <a:xfrm flipH="1">
                <a:off x="2592" y="2208"/>
                <a:ext cx="144" cy="192"/>
              </a:xfrm>
              <a:prstGeom prst="line">
                <a:avLst/>
              </a:prstGeom>
              <a:noFill/>
              <a:ln w="19050">
                <a:solidFill>
                  <a:srgbClr val="FF0000"/>
                </a:solidFill>
                <a:round/>
                <a:headEnd/>
                <a:tailEnd/>
              </a:ln>
            </p:spPr>
            <p:txBody>
              <a:bodyPr wrap="none" anchor="ctr"/>
              <a:lstStyle/>
              <a:p>
                <a:endParaRPr lang="en-US" sz="2500">
                  <a:latin typeface="Arial"/>
                  <a:cs typeface="Arial"/>
                </a:endParaRPr>
              </a:p>
            </p:txBody>
          </p:sp>
          <p:sp>
            <p:nvSpPr>
              <p:cNvPr id="245" name="Line 20"/>
              <p:cNvSpPr>
                <a:spLocks noChangeShapeType="1"/>
              </p:cNvSpPr>
              <p:nvPr/>
            </p:nvSpPr>
            <p:spPr bwMode="auto">
              <a:xfrm>
                <a:off x="2592" y="2208"/>
                <a:ext cx="192" cy="192"/>
              </a:xfrm>
              <a:prstGeom prst="line">
                <a:avLst/>
              </a:prstGeom>
              <a:noFill/>
              <a:ln w="19050">
                <a:solidFill>
                  <a:srgbClr val="FF0000"/>
                </a:solidFill>
                <a:round/>
                <a:headEnd/>
                <a:tailEnd/>
              </a:ln>
            </p:spPr>
            <p:txBody>
              <a:bodyPr wrap="none" anchor="ctr"/>
              <a:lstStyle/>
              <a:p>
                <a:endParaRPr lang="en-US" sz="2500">
                  <a:latin typeface="Arial"/>
                  <a:cs typeface="Arial"/>
                </a:endParaRPr>
              </a:p>
            </p:txBody>
          </p:sp>
        </p:grpSp>
        <p:sp>
          <p:nvSpPr>
            <p:cNvPr id="177" name="Rectangle 21"/>
            <p:cNvSpPr>
              <a:spLocks noChangeArrowheads="1"/>
            </p:cNvSpPr>
            <p:nvPr/>
          </p:nvSpPr>
          <p:spPr bwMode="auto">
            <a:xfrm>
              <a:off x="6659563" y="2781300"/>
              <a:ext cx="431800" cy="503238"/>
            </a:xfrm>
            <a:prstGeom prst="rect">
              <a:avLst/>
            </a:prstGeom>
            <a:solidFill>
              <a:srgbClr val="00FFCC"/>
            </a:solidFill>
            <a:ln w="9525">
              <a:solidFill>
                <a:schemeClr val="tx1"/>
              </a:solidFill>
              <a:miter lim="800000"/>
              <a:headEnd/>
              <a:tailEnd/>
            </a:ln>
          </p:spPr>
          <p:txBody>
            <a:bodyPr wrap="none" anchor="ctr"/>
            <a:lstStyle/>
            <a:p>
              <a:endParaRPr lang="en-US" sz="2500">
                <a:latin typeface="Arial"/>
                <a:cs typeface="Arial"/>
              </a:endParaRPr>
            </a:p>
          </p:txBody>
        </p:sp>
        <p:sp>
          <p:nvSpPr>
            <p:cNvPr id="188" name="Text Box 22"/>
            <p:cNvSpPr txBox="1">
              <a:spLocks noChangeArrowheads="1"/>
            </p:cNvSpPr>
            <p:nvPr/>
          </p:nvSpPr>
          <p:spPr bwMode="auto">
            <a:xfrm>
              <a:off x="2105498" y="2205038"/>
              <a:ext cx="1692489" cy="564840"/>
            </a:xfrm>
            <a:prstGeom prst="rect">
              <a:avLst/>
            </a:prstGeom>
            <a:noFill/>
            <a:ln w="9525">
              <a:noFill/>
              <a:miter lim="800000"/>
              <a:headEnd/>
              <a:tailEnd/>
            </a:ln>
          </p:spPr>
          <p:txBody>
            <a:bodyPr wrap="none">
              <a:spAutoFit/>
            </a:bodyPr>
            <a:lstStyle/>
            <a:p>
              <a:r>
                <a:rPr lang="en-US" sz="1500">
                  <a:latin typeface="Arial"/>
                  <a:cs typeface="Arial"/>
                </a:rPr>
                <a:t>Head</a:t>
              </a:r>
            </a:p>
          </p:txBody>
        </p:sp>
        <p:sp>
          <p:nvSpPr>
            <p:cNvPr id="190" name="Rectangle 23"/>
            <p:cNvSpPr>
              <a:spLocks noChangeArrowheads="1"/>
            </p:cNvSpPr>
            <p:nvPr/>
          </p:nvSpPr>
          <p:spPr bwMode="auto">
            <a:xfrm>
              <a:off x="3008313" y="2781300"/>
              <a:ext cx="431800" cy="503238"/>
            </a:xfrm>
            <a:prstGeom prst="rect">
              <a:avLst/>
            </a:prstGeom>
            <a:solidFill>
              <a:srgbClr val="00FFCC"/>
            </a:solidFill>
            <a:ln w="9525">
              <a:solidFill>
                <a:schemeClr val="tx1"/>
              </a:solidFill>
              <a:miter lim="800000"/>
              <a:headEnd/>
              <a:tailEnd/>
            </a:ln>
          </p:spPr>
          <p:txBody>
            <a:bodyPr wrap="none" anchor="ctr"/>
            <a:lstStyle/>
            <a:p>
              <a:endParaRPr lang="en-US" sz="2500">
                <a:latin typeface="Arial"/>
                <a:cs typeface="Arial"/>
              </a:endParaRPr>
            </a:p>
          </p:txBody>
        </p:sp>
        <p:sp>
          <p:nvSpPr>
            <p:cNvPr id="210" name="Freeform 24"/>
            <p:cNvSpPr>
              <a:spLocks/>
            </p:cNvSpPr>
            <p:nvPr/>
          </p:nvSpPr>
          <p:spPr bwMode="auto">
            <a:xfrm>
              <a:off x="3225800" y="3140075"/>
              <a:ext cx="431800" cy="936625"/>
            </a:xfrm>
            <a:custGeom>
              <a:avLst/>
              <a:gdLst>
                <a:gd name="T0" fmla="*/ 0 w 272"/>
                <a:gd name="T1" fmla="*/ 0 h 499"/>
                <a:gd name="T2" fmla="*/ 2147483647 w 272"/>
                <a:gd name="T3" fmla="*/ 2147483647 h 499"/>
                <a:gd name="T4" fmla="*/ 2147483647 w 272"/>
                <a:gd name="T5" fmla="*/ 2147483647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rgbClr val="FF0000"/>
              </a:solidFill>
              <a:round/>
              <a:headEnd/>
              <a:tailEnd type="triangle" w="med" len="med"/>
            </a:ln>
          </p:spPr>
          <p:txBody>
            <a:bodyPr/>
            <a:lstStyle/>
            <a:p>
              <a:endParaRPr lang="en-US" sz="2500">
                <a:latin typeface="Arial"/>
                <a:cs typeface="Arial"/>
              </a:endParaRPr>
            </a:p>
          </p:txBody>
        </p:sp>
        <p:grpSp>
          <p:nvGrpSpPr>
            <p:cNvPr id="230" name="Group 25"/>
            <p:cNvGrpSpPr>
              <a:grpSpLocks/>
            </p:cNvGrpSpPr>
            <p:nvPr/>
          </p:nvGrpSpPr>
          <p:grpSpPr bwMode="auto">
            <a:xfrm>
              <a:off x="1712913" y="4005269"/>
              <a:ext cx="1066800" cy="592138"/>
              <a:chOff x="1488" y="1872"/>
              <a:chExt cx="672" cy="373"/>
            </a:xfrm>
          </p:grpSpPr>
          <p:sp>
            <p:nvSpPr>
              <p:cNvPr id="241" name="Rectangle 26"/>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2500">
                  <a:latin typeface="Arial"/>
                  <a:cs typeface="Arial"/>
                </a:endParaRPr>
              </a:p>
            </p:txBody>
          </p:sp>
          <p:sp>
            <p:nvSpPr>
              <p:cNvPr id="242" name="Line 27"/>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243" name="Text Box 28"/>
              <p:cNvSpPr txBox="1">
                <a:spLocks noChangeArrowheads="1"/>
              </p:cNvSpPr>
              <p:nvPr/>
            </p:nvSpPr>
            <p:spPr bwMode="auto">
              <a:xfrm>
                <a:off x="1496" y="1872"/>
                <a:ext cx="240" cy="373"/>
              </a:xfrm>
              <a:prstGeom prst="rect">
                <a:avLst/>
              </a:prstGeom>
              <a:noFill/>
              <a:ln w="9525">
                <a:noFill/>
                <a:miter lim="800000"/>
                <a:headEnd/>
                <a:tailEnd/>
              </a:ln>
            </p:spPr>
            <p:txBody>
              <a:bodyPr>
                <a:spAutoFit/>
              </a:bodyPr>
              <a:lstStyle/>
              <a:p>
                <a:r>
                  <a:rPr lang="en-US" sz="1600">
                    <a:latin typeface="Arial"/>
                    <a:cs typeface="Arial"/>
                  </a:rPr>
                  <a:t>a</a:t>
                </a:r>
                <a:endParaRPr lang="en-US" sz="2500">
                  <a:latin typeface="Arial"/>
                  <a:cs typeface="Arial"/>
                </a:endParaRPr>
              </a:p>
            </p:txBody>
          </p:sp>
        </p:grpSp>
        <p:sp>
          <p:nvSpPr>
            <p:cNvPr id="232" name="Freeform 29"/>
            <p:cNvSpPr>
              <a:spLocks/>
            </p:cNvSpPr>
            <p:nvPr/>
          </p:nvSpPr>
          <p:spPr bwMode="auto">
            <a:xfrm>
              <a:off x="2217738" y="3070225"/>
              <a:ext cx="863600" cy="1008063"/>
            </a:xfrm>
            <a:custGeom>
              <a:avLst/>
              <a:gdLst>
                <a:gd name="T0" fmla="*/ 2147483647 w 590"/>
                <a:gd name="T1" fmla="*/ 0 h 952"/>
                <a:gd name="T2" fmla="*/ 2147483647 w 590"/>
                <a:gd name="T3" fmla="*/ 2147483647 h 952"/>
                <a:gd name="T4" fmla="*/ 0 w 590"/>
                <a:gd name="T5" fmla="*/ 2147483647 h 952"/>
                <a:gd name="T6" fmla="*/ 0 60000 65536"/>
                <a:gd name="T7" fmla="*/ 0 60000 65536"/>
                <a:gd name="T8" fmla="*/ 0 60000 65536"/>
                <a:gd name="T9" fmla="*/ 0 w 590"/>
                <a:gd name="T10" fmla="*/ 0 h 952"/>
                <a:gd name="T11" fmla="*/ 590 w 590"/>
                <a:gd name="T12" fmla="*/ 952 h 952"/>
              </a:gdLst>
              <a:ahLst/>
              <a:cxnLst>
                <a:cxn ang="T6">
                  <a:pos x="T0" y="T1"/>
                </a:cxn>
                <a:cxn ang="T7">
                  <a:pos x="T2" y="T3"/>
                </a:cxn>
                <a:cxn ang="T8">
                  <a:pos x="T4" y="T5"/>
                </a:cxn>
              </a:cxnLst>
              <a:rect l="T9" t="T10" r="T11" b="T12"/>
              <a:pathLst>
                <a:path w="590" h="952">
                  <a:moveTo>
                    <a:pt x="590" y="0"/>
                  </a:moveTo>
                  <a:cubicBezTo>
                    <a:pt x="412" y="124"/>
                    <a:pt x="234" y="249"/>
                    <a:pt x="136" y="408"/>
                  </a:cubicBezTo>
                  <a:cubicBezTo>
                    <a:pt x="38" y="567"/>
                    <a:pt x="19" y="759"/>
                    <a:pt x="0" y="952"/>
                  </a:cubicBezTo>
                </a:path>
              </a:pathLst>
            </a:custGeom>
            <a:noFill/>
            <a:ln w="28575">
              <a:solidFill>
                <a:schemeClr val="tx1"/>
              </a:solidFill>
              <a:round/>
              <a:headEnd/>
              <a:tailEnd type="triangle" w="med" len="med"/>
            </a:ln>
          </p:spPr>
          <p:txBody>
            <a:bodyPr/>
            <a:lstStyle/>
            <a:p>
              <a:endParaRPr lang="en-US" sz="2500">
                <a:latin typeface="Arial"/>
                <a:cs typeface="Arial"/>
              </a:endParaRPr>
            </a:p>
          </p:txBody>
        </p:sp>
        <p:sp>
          <p:nvSpPr>
            <p:cNvPr id="233" name="Line 30"/>
            <p:cNvSpPr>
              <a:spLocks noChangeShapeType="1"/>
            </p:cNvSpPr>
            <p:nvPr/>
          </p:nvSpPr>
          <p:spPr bwMode="auto">
            <a:xfrm flipV="1">
              <a:off x="2505075" y="4294188"/>
              <a:ext cx="792163" cy="0"/>
            </a:xfrm>
            <a:prstGeom prst="line">
              <a:avLst/>
            </a:prstGeom>
            <a:noFill/>
            <a:ln w="28575">
              <a:solidFill>
                <a:schemeClr val="tx1"/>
              </a:solidFill>
              <a:round/>
              <a:headEnd/>
              <a:tailEnd type="triangle" w="med" len="med"/>
            </a:ln>
          </p:spPr>
          <p:txBody>
            <a:bodyPr/>
            <a:lstStyle/>
            <a:p>
              <a:endParaRPr lang="en-US" sz="2500">
                <a:latin typeface="Arial"/>
                <a:cs typeface="Arial"/>
              </a:endParaRPr>
            </a:p>
          </p:txBody>
        </p:sp>
        <p:sp>
          <p:nvSpPr>
            <p:cNvPr id="234" name="Line 31"/>
            <p:cNvSpPr>
              <a:spLocks noChangeShapeType="1"/>
            </p:cNvSpPr>
            <p:nvPr/>
          </p:nvSpPr>
          <p:spPr bwMode="auto">
            <a:xfrm flipV="1">
              <a:off x="5465763" y="4078288"/>
              <a:ext cx="533400" cy="485775"/>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235" name="Freeform 32"/>
            <p:cNvSpPr>
              <a:spLocks/>
            </p:cNvSpPr>
            <p:nvPr/>
          </p:nvSpPr>
          <p:spPr bwMode="auto">
            <a:xfrm>
              <a:off x="6877050" y="3070225"/>
              <a:ext cx="71438" cy="1006475"/>
            </a:xfrm>
            <a:custGeom>
              <a:avLst/>
              <a:gdLst>
                <a:gd name="T0" fmla="*/ 2147483647 w 272"/>
                <a:gd name="T1" fmla="*/ 0 h 908"/>
                <a:gd name="T2" fmla="*/ 2147483647 w 272"/>
                <a:gd name="T3" fmla="*/ 2147483647 h 908"/>
                <a:gd name="T4" fmla="*/ 0 w 272"/>
                <a:gd name="T5" fmla="*/ 2147483647 h 908"/>
                <a:gd name="T6" fmla="*/ 0 60000 65536"/>
                <a:gd name="T7" fmla="*/ 0 60000 65536"/>
                <a:gd name="T8" fmla="*/ 0 60000 65536"/>
                <a:gd name="T9" fmla="*/ 0 w 272"/>
                <a:gd name="T10" fmla="*/ 0 h 908"/>
                <a:gd name="T11" fmla="*/ 272 w 272"/>
                <a:gd name="T12" fmla="*/ 908 h 908"/>
              </a:gdLst>
              <a:ahLst/>
              <a:cxnLst>
                <a:cxn ang="T6">
                  <a:pos x="T0" y="T1"/>
                </a:cxn>
                <a:cxn ang="T7">
                  <a:pos x="T2" y="T3"/>
                </a:cxn>
                <a:cxn ang="T8">
                  <a:pos x="T4" y="T5"/>
                </a:cxn>
              </a:cxnLst>
              <a:rect l="T9" t="T10" r="T11" b="T12"/>
              <a:pathLst>
                <a:path w="272" h="908">
                  <a:moveTo>
                    <a:pt x="272" y="0"/>
                  </a:moveTo>
                  <a:cubicBezTo>
                    <a:pt x="181" y="129"/>
                    <a:pt x="90" y="258"/>
                    <a:pt x="45" y="409"/>
                  </a:cubicBezTo>
                  <a:cubicBezTo>
                    <a:pt x="0" y="560"/>
                    <a:pt x="0" y="734"/>
                    <a:pt x="0" y="908"/>
                  </a:cubicBezTo>
                </a:path>
              </a:pathLst>
            </a:custGeom>
            <a:noFill/>
            <a:ln w="28575">
              <a:solidFill>
                <a:srgbClr val="FF0000"/>
              </a:solidFill>
              <a:round/>
              <a:headEnd/>
              <a:tailEnd type="triangle" w="med" len="med"/>
            </a:ln>
          </p:spPr>
          <p:txBody>
            <a:bodyPr/>
            <a:lstStyle/>
            <a:p>
              <a:endParaRPr lang="en-US" sz="2500">
                <a:latin typeface="Arial"/>
                <a:cs typeface="Arial"/>
              </a:endParaRPr>
            </a:p>
          </p:txBody>
        </p:sp>
        <p:sp>
          <p:nvSpPr>
            <p:cNvPr id="236" name="Freeform 33"/>
            <p:cNvSpPr>
              <a:spLocks/>
            </p:cNvSpPr>
            <p:nvPr/>
          </p:nvSpPr>
          <p:spPr bwMode="auto">
            <a:xfrm>
              <a:off x="5724525" y="3070225"/>
              <a:ext cx="1079500" cy="1008063"/>
            </a:xfrm>
            <a:custGeom>
              <a:avLst/>
              <a:gdLst>
                <a:gd name="T0" fmla="*/ 2147483647 w 1134"/>
                <a:gd name="T1" fmla="*/ 0 h 726"/>
                <a:gd name="T2" fmla="*/ 2147483647 w 1134"/>
                <a:gd name="T3" fmla="*/ 2147483647 h 726"/>
                <a:gd name="T4" fmla="*/ 0 w 1134"/>
                <a:gd name="T5" fmla="*/ 2147483647 h 726"/>
                <a:gd name="T6" fmla="*/ 0 60000 65536"/>
                <a:gd name="T7" fmla="*/ 0 60000 65536"/>
                <a:gd name="T8" fmla="*/ 0 60000 65536"/>
                <a:gd name="T9" fmla="*/ 0 w 1134"/>
                <a:gd name="T10" fmla="*/ 0 h 726"/>
                <a:gd name="T11" fmla="*/ 1134 w 1134"/>
                <a:gd name="T12" fmla="*/ 726 h 726"/>
              </a:gdLst>
              <a:ahLst/>
              <a:cxnLst>
                <a:cxn ang="T6">
                  <a:pos x="T0" y="T1"/>
                </a:cxn>
                <a:cxn ang="T7">
                  <a:pos x="T2" y="T3"/>
                </a:cxn>
                <a:cxn ang="T8">
                  <a:pos x="T4" y="T5"/>
                </a:cxn>
              </a:cxnLst>
              <a:rect l="T9" t="T10" r="T11" b="T12"/>
              <a:pathLst>
                <a:path w="1134" h="726">
                  <a:moveTo>
                    <a:pt x="1134" y="0"/>
                  </a:moveTo>
                  <a:cubicBezTo>
                    <a:pt x="842" y="53"/>
                    <a:pt x="551" y="106"/>
                    <a:pt x="362" y="227"/>
                  </a:cubicBezTo>
                  <a:cubicBezTo>
                    <a:pt x="173" y="348"/>
                    <a:pt x="86" y="537"/>
                    <a:pt x="0" y="726"/>
                  </a:cubicBezTo>
                </a:path>
              </a:pathLst>
            </a:custGeom>
            <a:noFill/>
            <a:ln w="28575">
              <a:solidFill>
                <a:schemeClr val="tx1"/>
              </a:solidFill>
              <a:round/>
              <a:headEnd/>
              <a:tailEnd type="triangle" w="med" len="med"/>
            </a:ln>
          </p:spPr>
          <p:txBody>
            <a:bodyPr/>
            <a:lstStyle/>
            <a:p>
              <a:endParaRPr lang="en-US" sz="2500">
                <a:latin typeface="Arial"/>
                <a:cs typeface="Arial"/>
              </a:endParaRPr>
            </a:p>
          </p:txBody>
        </p:sp>
        <p:grpSp>
          <p:nvGrpSpPr>
            <p:cNvPr id="237" name="Group 34"/>
            <p:cNvGrpSpPr>
              <a:grpSpLocks/>
            </p:cNvGrpSpPr>
            <p:nvPr/>
          </p:nvGrpSpPr>
          <p:grpSpPr bwMode="auto">
            <a:xfrm>
              <a:off x="2339975" y="3284538"/>
              <a:ext cx="304800" cy="304800"/>
              <a:chOff x="2592" y="2208"/>
              <a:chExt cx="192" cy="192"/>
            </a:xfrm>
          </p:grpSpPr>
          <p:sp>
            <p:nvSpPr>
              <p:cNvPr id="239" name="Line 35"/>
              <p:cNvSpPr>
                <a:spLocks noChangeShapeType="1"/>
              </p:cNvSpPr>
              <p:nvPr/>
            </p:nvSpPr>
            <p:spPr bwMode="auto">
              <a:xfrm flipH="1">
                <a:off x="2592" y="2208"/>
                <a:ext cx="144" cy="192"/>
              </a:xfrm>
              <a:prstGeom prst="line">
                <a:avLst/>
              </a:prstGeom>
              <a:noFill/>
              <a:ln w="19050">
                <a:solidFill>
                  <a:srgbClr val="FF0000"/>
                </a:solidFill>
                <a:round/>
                <a:headEnd/>
                <a:tailEnd/>
              </a:ln>
            </p:spPr>
            <p:txBody>
              <a:bodyPr wrap="none" anchor="ctr"/>
              <a:lstStyle/>
              <a:p>
                <a:endParaRPr lang="en-US" sz="2500">
                  <a:latin typeface="Arial"/>
                  <a:cs typeface="Arial"/>
                </a:endParaRPr>
              </a:p>
            </p:txBody>
          </p:sp>
          <p:sp>
            <p:nvSpPr>
              <p:cNvPr id="240" name="Line 36"/>
              <p:cNvSpPr>
                <a:spLocks noChangeShapeType="1"/>
              </p:cNvSpPr>
              <p:nvPr/>
            </p:nvSpPr>
            <p:spPr bwMode="auto">
              <a:xfrm>
                <a:off x="2592" y="2208"/>
                <a:ext cx="192" cy="192"/>
              </a:xfrm>
              <a:prstGeom prst="line">
                <a:avLst/>
              </a:prstGeom>
              <a:noFill/>
              <a:ln w="19050">
                <a:solidFill>
                  <a:srgbClr val="FF0000"/>
                </a:solidFill>
                <a:round/>
                <a:headEnd/>
                <a:tailEnd/>
              </a:ln>
            </p:spPr>
            <p:txBody>
              <a:bodyPr wrap="none" anchor="ctr"/>
              <a:lstStyle/>
              <a:p>
                <a:endParaRPr lang="en-US" sz="2500">
                  <a:latin typeface="Arial"/>
                  <a:cs typeface="Arial"/>
                </a:endParaRPr>
              </a:p>
            </p:txBody>
          </p:sp>
        </p:grpSp>
        <p:sp>
          <p:nvSpPr>
            <p:cNvPr id="238" name="Line 37"/>
            <p:cNvSpPr>
              <a:spLocks noChangeShapeType="1"/>
            </p:cNvSpPr>
            <p:nvPr/>
          </p:nvSpPr>
          <p:spPr bwMode="auto">
            <a:xfrm>
              <a:off x="5724525" y="4364038"/>
              <a:ext cx="838200" cy="0"/>
            </a:xfrm>
            <a:prstGeom prst="line">
              <a:avLst/>
            </a:prstGeom>
            <a:noFill/>
            <a:ln w="28575">
              <a:solidFill>
                <a:srgbClr val="FF0000"/>
              </a:solidFill>
              <a:round/>
              <a:headEnd/>
              <a:tailEnd type="triangle" w="med" len="med"/>
            </a:ln>
          </p:spPr>
          <p:txBody>
            <a:bodyPr wrap="none" anchor="ctr"/>
            <a:lstStyle/>
            <a:p>
              <a:endParaRPr lang="en-US" sz="2500">
                <a:latin typeface="Arial"/>
                <a:cs typeface="Arial"/>
              </a:endParaRPr>
            </a:p>
          </p:txBody>
        </p:sp>
      </p:grpSp>
      <p:sp>
        <p:nvSpPr>
          <p:cNvPr id="256" name="Text Box 11"/>
          <p:cNvSpPr txBox="1">
            <a:spLocks noChangeArrowheads="1"/>
          </p:cNvSpPr>
          <p:nvPr/>
        </p:nvSpPr>
        <p:spPr bwMode="auto">
          <a:xfrm>
            <a:off x="556124" y="916866"/>
            <a:ext cx="7992213" cy="1040160"/>
          </a:xfrm>
          <a:prstGeom prst="rect">
            <a:avLst/>
          </a:prstGeom>
          <a:solidFill>
            <a:schemeClr val="bg1"/>
          </a:solidFill>
          <a:ln w="9525">
            <a:solidFill>
              <a:srgbClr val="3F51D7"/>
            </a:solidFill>
            <a:miter lim="800000"/>
            <a:headEnd/>
            <a:tailEnd/>
          </a:ln>
        </p:spPr>
        <p:txBody>
          <a:bodyPr wrap="square" lIns="91311" tIns="45658" rIns="91311" bIns="45658">
            <a:spAutoFit/>
          </a:bodyPr>
          <a:lstStyle/>
          <a:p>
            <a:pPr algn="l"/>
            <a:r>
              <a:rPr lang="en-US" sz="2800" dirty="0">
                <a:solidFill>
                  <a:srgbClr val="3F51D7"/>
                </a:solidFill>
                <a:latin typeface="Arial"/>
                <a:cs typeface="Arial"/>
              </a:rPr>
              <a:t>OK, but can do better…combining: collect all</a:t>
            </a:r>
          </a:p>
          <a:p>
            <a:pPr algn="l"/>
            <a:r>
              <a:rPr lang="en-US" sz="2800" dirty="0">
                <a:solidFill>
                  <a:srgbClr val="3F51D7"/>
                </a:solidFill>
                <a:latin typeface="Arial"/>
                <a:cs typeface="Arial"/>
              </a:rPr>
              <a:t> items into a “fat node”, </a:t>
            </a:r>
            <a:r>
              <a:rPr lang="en-US" sz="2800" dirty="0" err="1">
                <a:solidFill>
                  <a:srgbClr val="3F51D7"/>
                </a:solidFill>
                <a:latin typeface="Arial"/>
                <a:cs typeface="Arial"/>
              </a:rPr>
              <a:t>enqueue</a:t>
            </a:r>
            <a:r>
              <a:rPr lang="en-US" sz="2800" dirty="0">
                <a:solidFill>
                  <a:srgbClr val="3F51D7"/>
                </a:solidFill>
                <a:latin typeface="Arial"/>
                <a:cs typeface="Arial"/>
              </a:rPr>
              <a:t> in one step</a:t>
            </a:r>
          </a:p>
        </p:txBody>
      </p:sp>
    </p:spTree>
    <p:extLst>
      <p:ext uri="{BB962C8B-B14F-4D97-AF65-F5344CB8AC3E}">
        <p14:creationId xmlns:p14="http://schemas.microsoft.com/office/powerpoint/2010/main" val="3642912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p:bldP spid="256" grpId="0" animBg="1"/>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55652" y="404813"/>
            <a:ext cx="7772400" cy="1143000"/>
          </a:xfrm>
        </p:spPr>
        <p:txBody>
          <a:bodyPr/>
          <a:lstStyle/>
          <a:p>
            <a:r>
              <a:rPr lang="en-US" dirty="0"/>
              <a:t>Flat-Combining FIFO Queue</a:t>
            </a:r>
          </a:p>
        </p:txBody>
      </p:sp>
      <p:grpSp>
        <p:nvGrpSpPr>
          <p:cNvPr id="2" name="Group 3"/>
          <p:cNvGrpSpPr>
            <a:grpSpLocks/>
          </p:cNvGrpSpPr>
          <p:nvPr/>
        </p:nvGrpSpPr>
        <p:grpSpPr bwMode="auto">
          <a:xfrm>
            <a:off x="3218304" y="2964740"/>
            <a:ext cx="459821" cy="706437"/>
            <a:chOff x="1029" y="2668"/>
            <a:chExt cx="363" cy="445"/>
          </a:xfrm>
        </p:grpSpPr>
        <p:grpSp>
          <p:nvGrpSpPr>
            <p:cNvPr id="3" name="Group 4"/>
            <p:cNvGrpSpPr>
              <a:grpSpLocks/>
            </p:cNvGrpSpPr>
            <p:nvPr/>
          </p:nvGrpSpPr>
          <p:grpSpPr bwMode="auto">
            <a:xfrm>
              <a:off x="1101" y="2668"/>
              <a:ext cx="217" cy="238"/>
              <a:chOff x="1075" y="2731"/>
              <a:chExt cx="244" cy="166"/>
            </a:xfrm>
          </p:grpSpPr>
          <p:sp>
            <p:nvSpPr>
              <p:cNvPr id="14393" name="Oval 5"/>
              <p:cNvSpPr>
                <a:spLocks noChangeArrowheads="1"/>
              </p:cNvSpPr>
              <p:nvPr/>
            </p:nvSpPr>
            <p:spPr bwMode="auto">
              <a:xfrm>
                <a:off x="1075" y="2731"/>
                <a:ext cx="244" cy="166"/>
              </a:xfrm>
              <a:prstGeom prst="ellipse">
                <a:avLst/>
              </a:prstGeom>
              <a:solidFill>
                <a:schemeClr val="tx1"/>
              </a:solidFill>
              <a:ln w="12700">
                <a:solidFill>
                  <a:schemeClr val="tx2"/>
                </a:solidFill>
                <a:round/>
                <a:headEnd/>
                <a:tailEnd/>
              </a:ln>
            </p:spPr>
            <p:txBody>
              <a:bodyPr wrap="none" anchor="ctr"/>
              <a:lstStyle/>
              <a:p>
                <a:endParaRPr lang="en-US">
                  <a:latin typeface="Arial"/>
                  <a:cs typeface="Arial"/>
                </a:endParaRPr>
              </a:p>
            </p:txBody>
          </p:sp>
          <p:sp>
            <p:nvSpPr>
              <p:cNvPr id="14394" name="Oval 6"/>
              <p:cNvSpPr>
                <a:spLocks noChangeArrowheads="1"/>
              </p:cNvSpPr>
              <p:nvPr/>
            </p:nvSpPr>
            <p:spPr bwMode="auto">
              <a:xfrm>
                <a:off x="1135" y="2750"/>
                <a:ext cx="158" cy="112"/>
              </a:xfrm>
              <a:prstGeom prst="ellipse">
                <a:avLst/>
              </a:prstGeom>
              <a:solidFill>
                <a:schemeClr val="bg1"/>
              </a:solidFill>
              <a:ln w="12700">
                <a:solidFill>
                  <a:schemeClr val="tx2"/>
                </a:solidFill>
                <a:round/>
                <a:headEnd/>
                <a:tailEnd/>
              </a:ln>
            </p:spPr>
            <p:txBody>
              <a:bodyPr wrap="none" anchor="ctr"/>
              <a:lstStyle/>
              <a:p>
                <a:endParaRPr lang="en-US">
                  <a:latin typeface="Arial"/>
                  <a:cs typeface="Arial"/>
                </a:endParaRPr>
              </a:p>
            </p:txBody>
          </p:sp>
        </p:grpSp>
        <p:sp>
          <p:nvSpPr>
            <p:cNvPr id="14390" name="Rectangle 7"/>
            <p:cNvSpPr>
              <a:spLocks noChangeArrowheads="1"/>
            </p:cNvSpPr>
            <p:nvPr/>
          </p:nvSpPr>
          <p:spPr bwMode="auto">
            <a:xfrm>
              <a:off x="1029" y="2795"/>
              <a:ext cx="363" cy="318"/>
            </a:xfrm>
            <a:prstGeom prst="rect">
              <a:avLst/>
            </a:prstGeom>
            <a:solidFill>
              <a:srgbClr val="00FFCC"/>
            </a:solidFill>
            <a:ln w="9525">
              <a:solidFill>
                <a:schemeClr val="tx1"/>
              </a:solidFill>
              <a:miter lim="800000"/>
              <a:headEnd/>
              <a:tailEnd/>
            </a:ln>
          </p:spPr>
          <p:txBody>
            <a:bodyPr wrap="none" anchor="ctr"/>
            <a:lstStyle/>
            <a:p>
              <a:endParaRPr lang="en-US">
                <a:latin typeface="Arial"/>
                <a:cs typeface="Arial"/>
              </a:endParaRPr>
            </a:p>
          </p:txBody>
        </p:sp>
        <p:sp>
          <p:nvSpPr>
            <p:cNvPr id="14391" name="Oval 8"/>
            <p:cNvSpPr>
              <a:spLocks noChangeArrowheads="1"/>
            </p:cNvSpPr>
            <p:nvPr/>
          </p:nvSpPr>
          <p:spPr bwMode="auto">
            <a:xfrm>
              <a:off x="1151" y="2880"/>
              <a:ext cx="141" cy="65"/>
            </a:xfrm>
            <a:prstGeom prst="ellipse">
              <a:avLst/>
            </a:prstGeom>
            <a:solidFill>
              <a:schemeClr val="tx1"/>
            </a:solidFill>
            <a:ln w="25400">
              <a:noFill/>
              <a:round/>
              <a:headEnd/>
              <a:tailEnd/>
            </a:ln>
          </p:spPr>
          <p:txBody>
            <a:bodyPr wrap="none" anchor="ctr"/>
            <a:lstStyle/>
            <a:p>
              <a:endParaRPr lang="en-US">
                <a:latin typeface="Arial"/>
                <a:cs typeface="Arial"/>
              </a:endParaRPr>
            </a:p>
          </p:txBody>
        </p:sp>
        <p:sp>
          <p:nvSpPr>
            <p:cNvPr id="14392" name="AutoShape 9"/>
            <p:cNvSpPr>
              <a:spLocks noChangeArrowheads="1"/>
            </p:cNvSpPr>
            <p:nvPr/>
          </p:nvSpPr>
          <p:spPr bwMode="auto">
            <a:xfrm flipV="1">
              <a:off x="1151" y="2915"/>
              <a:ext cx="139" cy="1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6 w 21600"/>
                <a:gd name="T13" fmla="*/ 4441 h 21600"/>
                <a:gd name="T14" fmla="*/ 17094 w 21600"/>
                <a:gd name="T15" fmla="*/ 17159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tx1"/>
            </a:solidFill>
            <a:ln w="25400">
              <a:noFill/>
              <a:miter lim="800000"/>
              <a:headEnd/>
              <a:tailEnd/>
            </a:ln>
          </p:spPr>
          <p:txBody>
            <a:bodyPr wrap="none" anchor="ctr"/>
            <a:lstStyle/>
            <a:p>
              <a:endParaRPr lang="en-US">
                <a:latin typeface="Arial"/>
                <a:cs typeface="Arial"/>
              </a:endParaRPr>
            </a:p>
          </p:txBody>
        </p:sp>
      </p:grpSp>
      <p:sp>
        <p:nvSpPr>
          <p:cNvPr id="14340" name="Text Box 11"/>
          <p:cNvSpPr txBox="1">
            <a:spLocks noChangeArrowheads="1"/>
          </p:cNvSpPr>
          <p:nvPr/>
        </p:nvSpPr>
        <p:spPr bwMode="auto">
          <a:xfrm>
            <a:off x="3069701" y="2187849"/>
            <a:ext cx="1049526" cy="837027"/>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object </a:t>
            </a:r>
          </a:p>
          <a:p>
            <a:pPr algn="l"/>
            <a:r>
              <a:rPr lang="en-US" sz="2200" dirty="0">
                <a:latin typeface="Arial"/>
                <a:cs typeface="Arial"/>
              </a:rPr>
              <a:t>lock</a:t>
            </a:r>
          </a:p>
        </p:txBody>
      </p:sp>
      <p:sp>
        <p:nvSpPr>
          <p:cNvPr id="14382" name="Text Box 25"/>
          <p:cNvSpPr txBox="1">
            <a:spLocks noChangeArrowheads="1"/>
          </p:cNvSpPr>
          <p:nvPr/>
        </p:nvSpPr>
        <p:spPr bwMode="auto">
          <a:xfrm>
            <a:off x="5878350" y="5127444"/>
            <a:ext cx="979762" cy="360650"/>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Enq</a:t>
            </a:r>
            <a:r>
              <a:rPr lang="en-US" sz="1800" dirty="0">
                <a:latin typeface="Arial"/>
                <a:cs typeface="Arial"/>
              </a:rPr>
              <a:t>(a)</a:t>
            </a:r>
            <a:endParaRPr lang="en-US" sz="1500" dirty="0">
              <a:latin typeface="Arial"/>
              <a:cs typeface="Arial"/>
            </a:endParaRPr>
          </a:p>
        </p:txBody>
      </p:sp>
      <p:sp>
        <p:nvSpPr>
          <p:cNvPr id="14360" name="Text Box 32"/>
          <p:cNvSpPr txBox="1">
            <a:spLocks noChangeArrowheads="1"/>
          </p:cNvSpPr>
          <p:nvPr/>
        </p:nvSpPr>
        <p:spPr bwMode="auto">
          <a:xfrm>
            <a:off x="4114777" y="3167704"/>
            <a:ext cx="864216" cy="422205"/>
          </a:xfrm>
          <a:prstGeom prst="rect">
            <a:avLst/>
          </a:prstGeom>
          <a:noFill/>
          <a:ln w="9525">
            <a:noFill/>
            <a:miter lim="800000"/>
            <a:headEnd/>
            <a:tailEnd/>
          </a:ln>
        </p:spPr>
        <p:txBody>
          <a:bodyPr wrap="none" lIns="82840" tIns="41421" rIns="82840" bIns="41421">
            <a:spAutoFit/>
          </a:bodyPr>
          <a:lstStyle/>
          <a:p>
            <a:r>
              <a:rPr lang="en-US" sz="2200" dirty="0">
                <a:latin typeface="Arial"/>
                <a:cs typeface="Arial"/>
              </a:rPr>
              <a:t>Head</a:t>
            </a:r>
          </a:p>
        </p:txBody>
      </p:sp>
      <p:sp>
        <p:nvSpPr>
          <p:cNvPr id="14361" name="Rectangle 33"/>
          <p:cNvSpPr>
            <a:spLocks noChangeArrowheads="1"/>
          </p:cNvSpPr>
          <p:nvPr/>
        </p:nvSpPr>
        <p:spPr bwMode="auto">
          <a:xfrm>
            <a:off x="4239051" y="3616754"/>
            <a:ext cx="358055" cy="377575"/>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362" name="Freeform 34"/>
          <p:cNvSpPr>
            <a:spLocks/>
          </p:cNvSpPr>
          <p:nvPr/>
        </p:nvSpPr>
        <p:spPr bwMode="auto">
          <a:xfrm>
            <a:off x="4394019" y="3755621"/>
            <a:ext cx="383073" cy="772006"/>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lIns="82840" tIns="41421" rIns="82840" bIns="41421"/>
          <a:lstStyle/>
          <a:p>
            <a:endParaRPr lang="en-US">
              <a:latin typeface="Arial"/>
              <a:cs typeface="Arial"/>
            </a:endParaRPr>
          </a:p>
        </p:txBody>
      </p:sp>
      <p:sp>
        <p:nvSpPr>
          <p:cNvPr id="89" name="Text Box 11"/>
          <p:cNvSpPr txBox="1">
            <a:spLocks noChangeArrowheads="1"/>
          </p:cNvSpPr>
          <p:nvPr/>
        </p:nvSpPr>
        <p:spPr bwMode="auto">
          <a:xfrm>
            <a:off x="4647216" y="3617985"/>
            <a:ext cx="967560" cy="430762"/>
          </a:xfrm>
          <a:prstGeom prst="rect">
            <a:avLst/>
          </a:prstGeom>
          <a:noFill/>
          <a:ln w="9525">
            <a:noFill/>
            <a:miter lim="800000"/>
            <a:headEnd/>
            <a:tailEnd/>
          </a:ln>
        </p:spPr>
        <p:txBody>
          <a:bodyPr wrap="none" lIns="91311" tIns="45658" rIns="91311" bIns="45658">
            <a:spAutoFit/>
          </a:bodyPr>
          <a:lstStyle/>
          <a:p>
            <a:r>
              <a:rPr lang="en-US" sz="2200" dirty="0">
                <a:solidFill>
                  <a:srgbClr val="FF0000"/>
                </a:solidFill>
                <a:latin typeface="Arial"/>
                <a:cs typeface="Arial"/>
              </a:rPr>
              <a:t>CAS()</a:t>
            </a:r>
          </a:p>
        </p:txBody>
      </p:sp>
      <p:grpSp>
        <p:nvGrpSpPr>
          <p:cNvPr id="4" name="Group 77"/>
          <p:cNvGrpSpPr>
            <a:grpSpLocks/>
          </p:cNvGrpSpPr>
          <p:nvPr/>
        </p:nvGrpSpPr>
        <p:grpSpPr bwMode="auto">
          <a:xfrm flipH="1">
            <a:off x="7250017" y="5650028"/>
            <a:ext cx="865440" cy="688392"/>
            <a:chOff x="1584" y="816"/>
            <a:chExt cx="912" cy="816"/>
          </a:xfrm>
        </p:grpSpPr>
        <p:sp>
          <p:nvSpPr>
            <p:cNvPr id="9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5"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9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92D050"/>
            </a:solidFill>
            <a:ln w="38100">
              <a:solidFill>
                <a:schemeClr val="tx1"/>
              </a:solidFill>
              <a:round/>
              <a:headEnd/>
              <a:tailEnd/>
            </a:ln>
          </p:spPr>
          <p:txBody>
            <a:bodyPr wrap="none" anchor="ctr"/>
            <a:lstStyle/>
            <a:p>
              <a:endParaRPr lang="en-US">
                <a:latin typeface="Arial"/>
                <a:cs typeface="Arial"/>
              </a:endParaRPr>
            </a:p>
          </p:txBody>
        </p:sp>
        <p:sp>
          <p:nvSpPr>
            <p:cNvPr id="99"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0"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01"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05" name="Text Box 11"/>
          <p:cNvSpPr txBox="1">
            <a:spLocks noChangeArrowheads="1"/>
          </p:cNvSpPr>
          <p:nvPr/>
        </p:nvSpPr>
        <p:spPr bwMode="auto">
          <a:xfrm>
            <a:off x="6074304" y="3820947"/>
            <a:ext cx="2190852"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Publication list</a:t>
            </a:r>
          </a:p>
        </p:txBody>
      </p:sp>
      <p:grpSp>
        <p:nvGrpSpPr>
          <p:cNvPr id="5" name="Group 118"/>
          <p:cNvGrpSpPr/>
          <p:nvPr/>
        </p:nvGrpSpPr>
        <p:grpSpPr>
          <a:xfrm>
            <a:off x="7315334" y="4590588"/>
            <a:ext cx="1082475" cy="385862"/>
            <a:chOff x="7951415" y="5060273"/>
            <a:chExt cx="1193353" cy="425341"/>
          </a:xfrm>
        </p:grpSpPr>
        <p:sp>
          <p:nvSpPr>
            <p:cNvPr id="14380"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4381"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4356" name="Line 26"/>
            <p:cNvSpPr>
              <a:spLocks noChangeShapeType="1"/>
            </p:cNvSpPr>
            <p:nvPr/>
          </p:nvSpPr>
          <p:spPr bwMode="auto">
            <a:xfrm flipV="1">
              <a:off x="8928744" y="5067299"/>
              <a:ext cx="215256" cy="404812"/>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1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17" name="Text Box 25"/>
          <p:cNvSpPr txBox="1">
            <a:spLocks noChangeArrowheads="1"/>
          </p:cNvSpPr>
          <p:nvPr/>
        </p:nvSpPr>
        <p:spPr bwMode="auto">
          <a:xfrm>
            <a:off x="7291961" y="4619246"/>
            <a:ext cx="849127" cy="283811"/>
          </a:xfrm>
          <a:prstGeom prst="rect">
            <a:avLst/>
          </a:prstGeom>
          <a:noFill/>
          <a:ln w="9525">
            <a:noFill/>
            <a:miter lim="800000"/>
            <a:headEnd/>
            <a:tailEnd/>
          </a:ln>
        </p:spPr>
        <p:txBody>
          <a:bodyPr wrap="square" lIns="82840" tIns="41421" rIns="82840" bIns="41421">
            <a:spAutoFit/>
          </a:bodyPr>
          <a:lstStyle/>
          <a:p>
            <a:r>
              <a:rPr lang="en-US" sz="1300" dirty="0" err="1">
                <a:latin typeface="Arial"/>
                <a:cs typeface="Arial"/>
              </a:rPr>
              <a:t>Enq</a:t>
            </a:r>
            <a:r>
              <a:rPr lang="en-US" sz="1300" dirty="0">
                <a:latin typeface="Arial"/>
                <a:cs typeface="Arial"/>
              </a:rPr>
              <a:t>(b</a:t>
            </a:r>
            <a:r>
              <a:rPr lang="en-US" sz="1100" dirty="0">
                <a:latin typeface="Arial"/>
                <a:cs typeface="Arial"/>
              </a:rPr>
              <a:t>)</a:t>
            </a:r>
            <a:endParaRPr lang="en-US" sz="1000" dirty="0">
              <a:latin typeface="Arial"/>
              <a:cs typeface="Arial"/>
            </a:endParaRPr>
          </a:p>
        </p:txBody>
      </p:sp>
      <p:grpSp>
        <p:nvGrpSpPr>
          <p:cNvPr id="6" name="Group 120"/>
          <p:cNvGrpSpPr/>
          <p:nvPr/>
        </p:nvGrpSpPr>
        <p:grpSpPr>
          <a:xfrm>
            <a:off x="5895878" y="4582375"/>
            <a:ext cx="1082475" cy="385862"/>
            <a:chOff x="7951415" y="5060273"/>
            <a:chExt cx="1193353" cy="425341"/>
          </a:xfrm>
        </p:grpSpPr>
        <p:sp>
          <p:nvSpPr>
            <p:cNvPr id="122"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23"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25"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4370" name="Line 47"/>
          <p:cNvSpPr>
            <a:spLocks noChangeShapeType="1"/>
          </p:cNvSpPr>
          <p:nvPr/>
        </p:nvSpPr>
        <p:spPr bwMode="auto">
          <a:xfrm flipV="1">
            <a:off x="6894720" y="4787062"/>
            <a:ext cx="414720" cy="0"/>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7" name="Group 127"/>
          <p:cNvGrpSpPr/>
          <p:nvPr/>
        </p:nvGrpSpPr>
        <p:grpSpPr>
          <a:xfrm>
            <a:off x="4408047" y="4565525"/>
            <a:ext cx="1082475" cy="385862"/>
            <a:chOff x="7951415" y="5060273"/>
            <a:chExt cx="1193353" cy="425341"/>
          </a:xfrm>
        </p:grpSpPr>
        <p:sp>
          <p:nvSpPr>
            <p:cNvPr id="12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a:endParaRPr lang="en-US" sz="1600" dirty="0">
                <a:latin typeface="Arial"/>
                <a:cs typeface="Arial"/>
              </a:endParaRPr>
            </a:p>
          </p:txBody>
        </p:sp>
        <p:sp>
          <p:nvSpPr>
            <p:cNvPr id="130"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sp>
          <p:nvSpPr>
            <p:cNvPr id="131"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endParaRPr lang="en-US">
                <a:latin typeface="Arial"/>
                <a:cs typeface="Arial"/>
              </a:endParaRPr>
            </a:p>
          </p:txBody>
        </p:sp>
      </p:grpSp>
      <p:sp>
        <p:nvSpPr>
          <p:cNvPr id="140" name="Rectangle 33"/>
          <p:cNvSpPr>
            <a:spLocks noChangeArrowheads="1"/>
          </p:cNvSpPr>
          <p:nvPr/>
        </p:nvSpPr>
        <p:spPr bwMode="auto">
          <a:xfrm>
            <a:off x="2547170" y="3167704"/>
            <a:ext cx="423373" cy="508224"/>
          </a:xfrm>
          <a:prstGeom prst="rect">
            <a:avLst/>
          </a:prstGeom>
          <a:solidFill>
            <a:srgbClr val="00FFCC"/>
          </a:solidFill>
          <a:ln w="9525">
            <a:solidFill>
              <a:schemeClr val="tx1"/>
            </a:solidFill>
            <a:miter lim="800000"/>
            <a:headEnd/>
            <a:tailEnd/>
          </a:ln>
        </p:spPr>
        <p:txBody>
          <a:bodyPr wrap="none" lIns="82840" tIns="41421" rIns="82840" bIns="41421" anchor="ctr"/>
          <a:lstStyle/>
          <a:p>
            <a:endParaRPr lang="en-US">
              <a:latin typeface="Arial"/>
              <a:cs typeface="Arial"/>
            </a:endParaRPr>
          </a:p>
        </p:txBody>
      </p:sp>
      <p:sp>
        <p:nvSpPr>
          <p:cNvPr id="141" name="Text Box 11"/>
          <p:cNvSpPr txBox="1">
            <a:spLocks noChangeArrowheads="1"/>
          </p:cNvSpPr>
          <p:nvPr/>
        </p:nvSpPr>
        <p:spPr bwMode="auto">
          <a:xfrm>
            <a:off x="1959313" y="2645108"/>
            <a:ext cx="1218968"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counter</a:t>
            </a:r>
          </a:p>
        </p:txBody>
      </p:sp>
      <p:sp>
        <p:nvSpPr>
          <p:cNvPr id="142" name="Text Box 11"/>
          <p:cNvSpPr txBox="1">
            <a:spLocks noChangeArrowheads="1"/>
          </p:cNvSpPr>
          <p:nvPr/>
        </p:nvSpPr>
        <p:spPr bwMode="auto">
          <a:xfrm>
            <a:off x="2547170" y="3167702"/>
            <a:ext cx="498218" cy="430762"/>
          </a:xfrm>
          <a:prstGeom prst="rect">
            <a:avLst/>
          </a:prstGeom>
          <a:noFill/>
          <a:ln w="9525">
            <a:noFill/>
            <a:miter lim="800000"/>
            <a:headEnd/>
            <a:tailEnd/>
          </a:ln>
        </p:spPr>
        <p:txBody>
          <a:bodyPr wrap="none" lIns="91311" tIns="45658" rIns="91311" bIns="45658">
            <a:spAutoFit/>
          </a:bodyPr>
          <a:lstStyle/>
          <a:p>
            <a:pPr algn="l"/>
            <a:r>
              <a:rPr lang="en-US" sz="2200" dirty="0">
                <a:latin typeface="Arial"/>
                <a:cs typeface="Arial"/>
              </a:rPr>
              <a:t>54</a:t>
            </a:r>
          </a:p>
        </p:txBody>
      </p:sp>
      <p:sp>
        <p:nvSpPr>
          <p:cNvPr id="143" name="Text Box 11"/>
          <p:cNvSpPr txBox="1">
            <a:spLocks noChangeArrowheads="1"/>
          </p:cNvSpPr>
          <p:nvPr/>
        </p:nvSpPr>
        <p:spPr bwMode="auto">
          <a:xfrm>
            <a:off x="7837875"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54</a:t>
            </a:r>
          </a:p>
        </p:txBody>
      </p:sp>
      <p:sp>
        <p:nvSpPr>
          <p:cNvPr id="144" name="Text Box 11"/>
          <p:cNvSpPr txBox="1">
            <a:spLocks noChangeArrowheads="1"/>
          </p:cNvSpPr>
          <p:nvPr/>
        </p:nvSpPr>
        <p:spPr bwMode="auto">
          <a:xfrm>
            <a:off x="6429384" y="4616502"/>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12</a:t>
            </a:r>
          </a:p>
        </p:txBody>
      </p:sp>
      <p:sp>
        <p:nvSpPr>
          <p:cNvPr id="145" name="Text Box 11"/>
          <p:cNvSpPr txBox="1">
            <a:spLocks noChangeArrowheads="1"/>
          </p:cNvSpPr>
          <p:nvPr/>
        </p:nvSpPr>
        <p:spPr bwMode="auto">
          <a:xfrm>
            <a:off x="4963905" y="4604838"/>
            <a:ext cx="398369" cy="323040"/>
          </a:xfrm>
          <a:prstGeom prst="rect">
            <a:avLst/>
          </a:prstGeom>
          <a:noFill/>
          <a:ln w="9525">
            <a:noFill/>
            <a:miter lim="800000"/>
            <a:headEnd/>
            <a:tailEnd/>
          </a:ln>
        </p:spPr>
        <p:txBody>
          <a:bodyPr wrap="none" lIns="91311" tIns="45658" rIns="91311" bIns="45658">
            <a:spAutoFit/>
          </a:bodyPr>
          <a:lstStyle/>
          <a:p>
            <a:pPr algn="l"/>
            <a:r>
              <a:rPr lang="en-US" sz="1500" dirty="0">
                <a:latin typeface="Arial"/>
                <a:cs typeface="Arial"/>
              </a:rPr>
              <a:t>54</a:t>
            </a:r>
          </a:p>
        </p:txBody>
      </p:sp>
      <p:sp>
        <p:nvSpPr>
          <p:cNvPr id="166" name="Text Box 25"/>
          <p:cNvSpPr txBox="1">
            <a:spLocks noChangeArrowheads="1"/>
          </p:cNvSpPr>
          <p:nvPr/>
        </p:nvSpPr>
        <p:spPr bwMode="auto">
          <a:xfrm>
            <a:off x="5831936" y="4618754"/>
            <a:ext cx="849127" cy="283811"/>
          </a:xfrm>
          <a:prstGeom prst="rect">
            <a:avLst/>
          </a:prstGeom>
          <a:noFill/>
          <a:ln w="9525">
            <a:noFill/>
            <a:miter lim="800000"/>
            <a:headEnd/>
            <a:tailEnd/>
          </a:ln>
        </p:spPr>
        <p:txBody>
          <a:bodyPr wrap="square" lIns="82840" tIns="41421" rIns="82840" bIns="41421">
            <a:spAutoFit/>
          </a:bodyPr>
          <a:lstStyle/>
          <a:p>
            <a:r>
              <a:rPr lang="en-US" sz="1300" dirty="0" err="1">
                <a:latin typeface="Arial"/>
                <a:cs typeface="Arial"/>
              </a:rPr>
              <a:t>Enq</a:t>
            </a:r>
            <a:r>
              <a:rPr lang="en-US" sz="1300" dirty="0">
                <a:latin typeface="Arial"/>
                <a:cs typeface="Arial"/>
              </a:rPr>
              <a:t>(b)</a:t>
            </a:r>
            <a:endParaRPr lang="en-US" sz="1000" dirty="0">
              <a:latin typeface="Arial"/>
              <a:cs typeface="Arial"/>
            </a:endParaRPr>
          </a:p>
        </p:txBody>
      </p:sp>
      <p:grpSp>
        <p:nvGrpSpPr>
          <p:cNvPr id="8" name="Group 77"/>
          <p:cNvGrpSpPr>
            <a:grpSpLocks/>
          </p:cNvGrpSpPr>
          <p:nvPr/>
        </p:nvGrpSpPr>
        <p:grpSpPr bwMode="auto">
          <a:xfrm flipH="1">
            <a:off x="4506682" y="5650028"/>
            <a:ext cx="865440" cy="688392"/>
            <a:chOff x="1584" y="816"/>
            <a:chExt cx="912" cy="816"/>
          </a:xfrm>
        </p:grpSpPr>
        <p:sp>
          <p:nvSpPr>
            <p:cNvPr id="178"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79"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0"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1"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2"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3"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C000"/>
            </a:solidFill>
            <a:ln w="38100">
              <a:solidFill>
                <a:schemeClr val="tx1"/>
              </a:solidFill>
              <a:round/>
              <a:headEnd/>
              <a:tailEnd/>
            </a:ln>
          </p:spPr>
          <p:txBody>
            <a:bodyPr wrap="none" anchor="ctr"/>
            <a:lstStyle/>
            <a:p>
              <a:endParaRPr lang="en-US">
                <a:latin typeface="Arial"/>
                <a:cs typeface="Arial"/>
              </a:endParaRPr>
            </a:p>
          </p:txBody>
        </p:sp>
        <p:sp>
          <p:nvSpPr>
            <p:cNvPr id="184"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5"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186"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87" name="Text Box 25"/>
          <p:cNvSpPr txBox="1">
            <a:spLocks noChangeArrowheads="1"/>
          </p:cNvSpPr>
          <p:nvPr/>
        </p:nvSpPr>
        <p:spPr bwMode="auto">
          <a:xfrm>
            <a:off x="4376047" y="5127444"/>
            <a:ext cx="979762" cy="362973"/>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Deq</a:t>
            </a:r>
            <a:r>
              <a:rPr lang="en-US" sz="1800" dirty="0">
                <a:latin typeface="Arial"/>
                <a:cs typeface="Arial"/>
              </a:rPr>
              <a:t>()</a:t>
            </a:r>
            <a:endParaRPr lang="en-US" sz="1500" dirty="0">
              <a:latin typeface="Arial"/>
              <a:cs typeface="Arial"/>
            </a:endParaRPr>
          </a:p>
        </p:txBody>
      </p:sp>
      <p:sp>
        <p:nvSpPr>
          <p:cNvPr id="189" name="Text Box 25"/>
          <p:cNvSpPr txBox="1">
            <a:spLocks noChangeArrowheads="1"/>
          </p:cNvSpPr>
          <p:nvPr/>
        </p:nvSpPr>
        <p:spPr bwMode="auto">
          <a:xfrm>
            <a:off x="4382512" y="4606795"/>
            <a:ext cx="979762" cy="321083"/>
          </a:xfrm>
          <a:prstGeom prst="rect">
            <a:avLst/>
          </a:prstGeom>
          <a:noFill/>
          <a:ln w="9525">
            <a:noFill/>
            <a:miter lim="800000"/>
            <a:headEnd/>
            <a:tailEnd/>
          </a:ln>
        </p:spPr>
        <p:txBody>
          <a:bodyPr wrap="square" lIns="82840" tIns="41421" rIns="82840" bIns="41421">
            <a:spAutoFit/>
          </a:bodyPr>
          <a:lstStyle/>
          <a:p>
            <a:r>
              <a:rPr lang="en-US" sz="1500" dirty="0" err="1">
                <a:latin typeface="Arial"/>
                <a:cs typeface="Arial"/>
              </a:rPr>
              <a:t>Deq</a:t>
            </a:r>
            <a:r>
              <a:rPr lang="en-US" sz="1500" dirty="0">
                <a:latin typeface="Arial"/>
                <a:cs typeface="Arial"/>
              </a:rPr>
              <a:t>()</a:t>
            </a:r>
            <a:endParaRPr lang="en-US" sz="1100" dirty="0">
              <a:latin typeface="Arial"/>
              <a:cs typeface="Arial"/>
            </a:endParaRPr>
          </a:p>
        </p:txBody>
      </p:sp>
      <p:sp>
        <p:nvSpPr>
          <p:cNvPr id="120" name="Line 47"/>
          <p:cNvSpPr>
            <a:spLocks noChangeShapeType="1"/>
          </p:cNvSpPr>
          <p:nvPr/>
        </p:nvSpPr>
        <p:spPr bwMode="auto">
          <a:xfrm>
            <a:off x="5382724" y="4761152"/>
            <a:ext cx="498691" cy="5141"/>
          </a:xfrm>
          <a:prstGeom prst="line">
            <a:avLst/>
          </a:prstGeom>
          <a:noFill/>
          <a:ln w="28575">
            <a:solidFill>
              <a:schemeClr val="tx1"/>
            </a:solidFill>
            <a:round/>
            <a:headEnd/>
            <a:tailEnd type="triangle" w="med" len="med"/>
          </a:ln>
        </p:spPr>
        <p:txBody>
          <a:bodyPr wrap="none" lIns="82840" tIns="41421" rIns="82840" bIns="41421" anchor="ctr"/>
          <a:lstStyle/>
          <a:p>
            <a:endParaRPr lang="en-US">
              <a:latin typeface="Arial"/>
              <a:cs typeface="Arial"/>
            </a:endParaRPr>
          </a:p>
        </p:txBody>
      </p:sp>
      <p:grpSp>
        <p:nvGrpSpPr>
          <p:cNvPr id="9" name="Group 77"/>
          <p:cNvGrpSpPr>
            <a:grpSpLocks/>
          </p:cNvGrpSpPr>
          <p:nvPr/>
        </p:nvGrpSpPr>
        <p:grpSpPr bwMode="auto">
          <a:xfrm flipH="1">
            <a:off x="6074302" y="5650028"/>
            <a:ext cx="865440" cy="688392"/>
            <a:chOff x="1584" y="816"/>
            <a:chExt cx="912" cy="816"/>
          </a:xfrm>
        </p:grpSpPr>
        <p:sp>
          <p:nvSpPr>
            <p:cNvPr id="7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latin typeface="Arial"/>
                <a:cs typeface="Arial"/>
              </a:endParaRPr>
            </a:p>
          </p:txBody>
        </p:sp>
        <p:sp>
          <p:nvSpPr>
            <p:cNvPr id="7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8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sp>
          <p:nvSpPr>
            <p:cNvPr id="7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latin typeface="Arial"/>
                <a:cs typeface="Arial"/>
              </a:endParaRPr>
            </a:p>
          </p:txBody>
        </p:sp>
      </p:grpSp>
      <p:sp>
        <p:nvSpPr>
          <p:cNvPr id="167" name="Text Box 25"/>
          <p:cNvSpPr txBox="1">
            <a:spLocks noChangeArrowheads="1"/>
          </p:cNvSpPr>
          <p:nvPr/>
        </p:nvSpPr>
        <p:spPr bwMode="auto">
          <a:xfrm>
            <a:off x="7380652" y="5127444"/>
            <a:ext cx="979762" cy="360650"/>
          </a:xfrm>
          <a:prstGeom prst="rect">
            <a:avLst/>
          </a:prstGeom>
          <a:noFill/>
          <a:ln w="9525">
            <a:noFill/>
            <a:miter lim="800000"/>
            <a:headEnd/>
            <a:tailEnd/>
          </a:ln>
        </p:spPr>
        <p:txBody>
          <a:bodyPr wrap="square" lIns="82840" tIns="41421" rIns="82840" bIns="41421">
            <a:spAutoFit/>
          </a:bodyPr>
          <a:lstStyle/>
          <a:p>
            <a:r>
              <a:rPr lang="en-US" sz="1800" dirty="0" err="1">
                <a:latin typeface="Arial"/>
                <a:cs typeface="Arial"/>
              </a:rPr>
              <a:t>Enq</a:t>
            </a:r>
            <a:r>
              <a:rPr lang="en-US" sz="1800" dirty="0">
                <a:latin typeface="Arial"/>
                <a:cs typeface="Arial"/>
              </a:rPr>
              <a:t>(b)</a:t>
            </a:r>
            <a:endParaRPr lang="en-US" sz="1500" dirty="0">
              <a:latin typeface="Arial"/>
              <a:cs typeface="Arial"/>
            </a:endParaRPr>
          </a:p>
        </p:txBody>
      </p:sp>
      <p:sp>
        <p:nvSpPr>
          <p:cNvPr id="168" name="Text Box 11"/>
          <p:cNvSpPr txBox="1">
            <a:spLocks noChangeArrowheads="1"/>
          </p:cNvSpPr>
          <p:nvPr/>
        </p:nvSpPr>
        <p:spPr bwMode="auto">
          <a:xfrm>
            <a:off x="1303968" y="5757932"/>
            <a:ext cx="3384912" cy="837027"/>
          </a:xfrm>
          <a:prstGeom prst="rect">
            <a:avLst/>
          </a:prstGeom>
          <a:noFill/>
          <a:ln w="9525">
            <a:noFill/>
            <a:miter lim="800000"/>
            <a:headEnd/>
            <a:tailEnd/>
          </a:ln>
        </p:spPr>
        <p:txBody>
          <a:bodyPr wrap="square" lIns="91311" tIns="45658" rIns="91311" bIns="45658">
            <a:spAutoFit/>
          </a:bodyPr>
          <a:lstStyle/>
          <a:p>
            <a:r>
              <a:rPr lang="en-US" sz="2200" dirty="0">
                <a:latin typeface="Arial"/>
                <a:cs typeface="Arial"/>
              </a:rPr>
              <a:t>Sequential </a:t>
            </a:r>
          </a:p>
          <a:p>
            <a:r>
              <a:rPr lang="en-US" sz="2200" dirty="0">
                <a:latin typeface="Arial"/>
                <a:cs typeface="Arial"/>
              </a:rPr>
              <a:t>“Fat Node” FIFO Queue</a:t>
            </a:r>
          </a:p>
        </p:txBody>
      </p:sp>
      <p:grpSp>
        <p:nvGrpSpPr>
          <p:cNvPr id="112" name="Group 111"/>
          <p:cNvGrpSpPr/>
          <p:nvPr/>
        </p:nvGrpSpPr>
        <p:grpSpPr>
          <a:xfrm>
            <a:off x="783585" y="4082243"/>
            <a:ext cx="2681398" cy="1466584"/>
            <a:chOff x="863848" y="4676879"/>
            <a:chExt cx="2745505" cy="1491566"/>
          </a:xfrm>
        </p:grpSpPr>
        <p:sp>
          <p:nvSpPr>
            <p:cNvPr id="113" name="Text Box 17"/>
            <p:cNvSpPr txBox="1">
              <a:spLocks noChangeArrowheads="1"/>
            </p:cNvSpPr>
            <p:nvPr/>
          </p:nvSpPr>
          <p:spPr bwMode="auto">
            <a:xfrm>
              <a:off x="3095597" y="4676879"/>
              <a:ext cx="513756" cy="328670"/>
            </a:xfrm>
            <a:prstGeom prst="rect">
              <a:avLst/>
            </a:prstGeom>
            <a:noFill/>
            <a:ln w="9525">
              <a:noFill/>
              <a:miter lim="800000"/>
              <a:headEnd/>
              <a:tailEnd/>
            </a:ln>
          </p:spPr>
          <p:txBody>
            <a:bodyPr wrap="none">
              <a:spAutoFit/>
            </a:bodyPr>
            <a:lstStyle/>
            <a:p>
              <a:r>
                <a:rPr lang="en-US" sz="1500">
                  <a:latin typeface="Arial"/>
                  <a:cs typeface="Arial"/>
                </a:rPr>
                <a:t>Tail</a:t>
              </a:r>
            </a:p>
          </p:txBody>
        </p:sp>
        <p:sp>
          <p:nvSpPr>
            <p:cNvPr id="114" name="Rectangle 21"/>
            <p:cNvSpPr>
              <a:spLocks noChangeArrowheads="1"/>
            </p:cNvSpPr>
            <p:nvPr/>
          </p:nvSpPr>
          <p:spPr bwMode="auto">
            <a:xfrm>
              <a:off x="3389140" y="5040312"/>
              <a:ext cx="184238" cy="317379"/>
            </a:xfrm>
            <a:prstGeom prst="rect">
              <a:avLst/>
            </a:prstGeom>
            <a:solidFill>
              <a:srgbClr val="00FFCC"/>
            </a:solidFill>
            <a:ln w="9525">
              <a:solidFill>
                <a:schemeClr val="tx1"/>
              </a:solidFill>
              <a:miter lim="800000"/>
              <a:headEnd/>
              <a:tailEnd/>
            </a:ln>
          </p:spPr>
          <p:txBody>
            <a:bodyPr wrap="none" anchor="ctr"/>
            <a:lstStyle/>
            <a:p>
              <a:endParaRPr lang="en-US" sz="2500">
                <a:latin typeface="Arial"/>
                <a:cs typeface="Arial"/>
              </a:endParaRPr>
            </a:p>
          </p:txBody>
        </p:sp>
        <p:sp>
          <p:nvSpPr>
            <p:cNvPr id="115" name="Text Box 22"/>
            <p:cNvSpPr txBox="1">
              <a:spLocks noChangeArrowheads="1"/>
            </p:cNvSpPr>
            <p:nvPr/>
          </p:nvSpPr>
          <p:spPr bwMode="auto">
            <a:xfrm>
              <a:off x="1494938" y="4676879"/>
              <a:ext cx="670708" cy="328670"/>
            </a:xfrm>
            <a:prstGeom prst="rect">
              <a:avLst/>
            </a:prstGeom>
            <a:noFill/>
            <a:ln w="9525">
              <a:noFill/>
              <a:miter lim="800000"/>
              <a:headEnd/>
              <a:tailEnd/>
            </a:ln>
          </p:spPr>
          <p:txBody>
            <a:bodyPr wrap="none">
              <a:spAutoFit/>
            </a:bodyPr>
            <a:lstStyle/>
            <a:p>
              <a:r>
                <a:rPr lang="en-US" sz="1500">
                  <a:latin typeface="Arial"/>
                  <a:cs typeface="Arial"/>
                </a:rPr>
                <a:t>Head</a:t>
              </a:r>
            </a:p>
          </p:txBody>
        </p:sp>
        <p:sp>
          <p:nvSpPr>
            <p:cNvPr id="118" name="Rectangle 23"/>
            <p:cNvSpPr>
              <a:spLocks noChangeArrowheads="1"/>
            </p:cNvSpPr>
            <p:nvPr/>
          </p:nvSpPr>
          <p:spPr bwMode="auto">
            <a:xfrm>
              <a:off x="1831241" y="5040312"/>
              <a:ext cx="184238" cy="317379"/>
            </a:xfrm>
            <a:prstGeom prst="rect">
              <a:avLst/>
            </a:prstGeom>
            <a:solidFill>
              <a:srgbClr val="00FFCC"/>
            </a:solidFill>
            <a:ln w="9525">
              <a:solidFill>
                <a:schemeClr val="tx1"/>
              </a:solidFill>
              <a:miter lim="800000"/>
              <a:headEnd/>
              <a:tailEnd/>
            </a:ln>
          </p:spPr>
          <p:txBody>
            <a:bodyPr wrap="none" anchor="ctr"/>
            <a:lstStyle/>
            <a:p>
              <a:endParaRPr lang="en-US" sz="2500">
                <a:latin typeface="Arial"/>
                <a:cs typeface="Arial"/>
              </a:endParaRPr>
            </a:p>
          </p:txBody>
        </p:sp>
        <p:sp>
          <p:nvSpPr>
            <p:cNvPr id="119" name="Freeform 29"/>
            <p:cNvSpPr>
              <a:spLocks/>
            </p:cNvSpPr>
            <p:nvPr/>
          </p:nvSpPr>
          <p:spPr bwMode="auto">
            <a:xfrm>
              <a:off x="1493922" y="5222529"/>
              <a:ext cx="368477" cy="635758"/>
            </a:xfrm>
            <a:custGeom>
              <a:avLst/>
              <a:gdLst>
                <a:gd name="T0" fmla="*/ 2147483647 w 590"/>
                <a:gd name="T1" fmla="*/ 0 h 952"/>
                <a:gd name="T2" fmla="*/ 2147483647 w 590"/>
                <a:gd name="T3" fmla="*/ 2147483647 h 952"/>
                <a:gd name="T4" fmla="*/ 0 w 590"/>
                <a:gd name="T5" fmla="*/ 2147483647 h 952"/>
                <a:gd name="T6" fmla="*/ 0 60000 65536"/>
                <a:gd name="T7" fmla="*/ 0 60000 65536"/>
                <a:gd name="T8" fmla="*/ 0 60000 65536"/>
                <a:gd name="T9" fmla="*/ 0 w 590"/>
                <a:gd name="T10" fmla="*/ 0 h 952"/>
                <a:gd name="T11" fmla="*/ 590 w 590"/>
                <a:gd name="T12" fmla="*/ 952 h 952"/>
              </a:gdLst>
              <a:ahLst/>
              <a:cxnLst>
                <a:cxn ang="T6">
                  <a:pos x="T0" y="T1"/>
                </a:cxn>
                <a:cxn ang="T7">
                  <a:pos x="T2" y="T3"/>
                </a:cxn>
                <a:cxn ang="T8">
                  <a:pos x="T4" y="T5"/>
                </a:cxn>
              </a:cxnLst>
              <a:rect l="T9" t="T10" r="T11" b="T12"/>
              <a:pathLst>
                <a:path w="590" h="952">
                  <a:moveTo>
                    <a:pt x="590" y="0"/>
                  </a:moveTo>
                  <a:cubicBezTo>
                    <a:pt x="412" y="124"/>
                    <a:pt x="234" y="249"/>
                    <a:pt x="136" y="408"/>
                  </a:cubicBezTo>
                  <a:cubicBezTo>
                    <a:pt x="38" y="567"/>
                    <a:pt x="19" y="759"/>
                    <a:pt x="0" y="952"/>
                  </a:cubicBezTo>
                </a:path>
              </a:pathLst>
            </a:custGeom>
            <a:noFill/>
            <a:ln w="28575">
              <a:solidFill>
                <a:schemeClr val="tx1"/>
              </a:solidFill>
              <a:round/>
              <a:headEnd/>
              <a:tailEnd type="triangle" w="med" len="med"/>
            </a:ln>
          </p:spPr>
          <p:txBody>
            <a:bodyPr/>
            <a:lstStyle/>
            <a:p>
              <a:endParaRPr lang="en-US" sz="2500">
                <a:latin typeface="Arial"/>
                <a:cs typeface="Arial"/>
              </a:endParaRPr>
            </a:p>
          </p:txBody>
        </p:sp>
        <p:sp>
          <p:nvSpPr>
            <p:cNvPr id="121" name="Freeform 33"/>
            <p:cNvSpPr>
              <a:spLocks/>
            </p:cNvSpPr>
            <p:nvPr/>
          </p:nvSpPr>
          <p:spPr bwMode="auto">
            <a:xfrm>
              <a:off x="2990183" y="5222529"/>
              <a:ext cx="460596" cy="635758"/>
            </a:xfrm>
            <a:custGeom>
              <a:avLst/>
              <a:gdLst>
                <a:gd name="T0" fmla="*/ 2147483647 w 1134"/>
                <a:gd name="T1" fmla="*/ 0 h 726"/>
                <a:gd name="T2" fmla="*/ 2147483647 w 1134"/>
                <a:gd name="T3" fmla="*/ 2147483647 h 726"/>
                <a:gd name="T4" fmla="*/ 0 w 1134"/>
                <a:gd name="T5" fmla="*/ 2147483647 h 726"/>
                <a:gd name="T6" fmla="*/ 0 60000 65536"/>
                <a:gd name="T7" fmla="*/ 0 60000 65536"/>
                <a:gd name="T8" fmla="*/ 0 60000 65536"/>
                <a:gd name="T9" fmla="*/ 0 w 1134"/>
                <a:gd name="T10" fmla="*/ 0 h 726"/>
                <a:gd name="T11" fmla="*/ 1134 w 1134"/>
                <a:gd name="T12" fmla="*/ 726 h 726"/>
              </a:gdLst>
              <a:ahLst/>
              <a:cxnLst>
                <a:cxn ang="T6">
                  <a:pos x="T0" y="T1"/>
                </a:cxn>
                <a:cxn ang="T7">
                  <a:pos x="T2" y="T3"/>
                </a:cxn>
                <a:cxn ang="T8">
                  <a:pos x="T4" y="T5"/>
                </a:cxn>
              </a:cxnLst>
              <a:rect l="T9" t="T10" r="T11" b="T12"/>
              <a:pathLst>
                <a:path w="1134" h="726">
                  <a:moveTo>
                    <a:pt x="1134" y="0"/>
                  </a:moveTo>
                  <a:cubicBezTo>
                    <a:pt x="842" y="53"/>
                    <a:pt x="551" y="106"/>
                    <a:pt x="362" y="227"/>
                  </a:cubicBezTo>
                  <a:cubicBezTo>
                    <a:pt x="173" y="348"/>
                    <a:pt x="86" y="537"/>
                    <a:pt x="0" y="726"/>
                  </a:cubicBezTo>
                </a:path>
              </a:pathLst>
            </a:custGeom>
            <a:noFill/>
            <a:ln w="28575">
              <a:solidFill>
                <a:schemeClr val="tx1"/>
              </a:solidFill>
              <a:round/>
              <a:headEnd/>
              <a:tailEnd type="triangle" w="med" len="med"/>
            </a:ln>
          </p:spPr>
          <p:txBody>
            <a:bodyPr/>
            <a:lstStyle/>
            <a:p>
              <a:endParaRPr lang="en-US" sz="2500">
                <a:latin typeface="Arial"/>
                <a:cs typeface="Arial"/>
              </a:endParaRPr>
            </a:p>
          </p:txBody>
        </p:sp>
        <p:grpSp>
          <p:nvGrpSpPr>
            <p:cNvPr id="124" name="Group 42"/>
            <p:cNvGrpSpPr/>
            <p:nvPr/>
          </p:nvGrpSpPr>
          <p:grpSpPr>
            <a:xfrm>
              <a:off x="2159992" y="5810917"/>
              <a:ext cx="915874" cy="357528"/>
              <a:chOff x="3787527" y="5806071"/>
              <a:chExt cx="915874" cy="357528"/>
            </a:xfrm>
          </p:grpSpPr>
          <p:grpSp>
            <p:nvGrpSpPr>
              <p:cNvPr id="146" name="Group 12"/>
              <p:cNvGrpSpPr>
                <a:grpSpLocks/>
              </p:cNvGrpSpPr>
              <p:nvPr/>
            </p:nvGrpSpPr>
            <p:grpSpPr bwMode="auto">
              <a:xfrm>
                <a:off x="4248224" y="5806071"/>
                <a:ext cx="455177" cy="357426"/>
                <a:chOff x="1488" y="1882"/>
                <a:chExt cx="672" cy="357"/>
              </a:xfrm>
            </p:grpSpPr>
            <p:sp>
              <p:nvSpPr>
                <p:cNvPr id="151" name="Rectangle 13"/>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2500">
                    <a:latin typeface="Arial"/>
                    <a:cs typeface="Arial"/>
                  </a:endParaRPr>
                </a:p>
              </p:txBody>
            </p:sp>
            <p:sp>
              <p:nvSpPr>
                <p:cNvPr id="152" name="Line 14"/>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153" name="Text Box 15"/>
                <p:cNvSpPr txBox="1">
                  <a:spLocks noChangeArrowheads="1"/>
                </p:cNvSpPr>
                <p:nvPr/>
              </p:nvSpPr>
              <p:spPr bwMode="auto">
                <a:xfrm>
                  <a:off x="1498" y="1882"/>
                  <a:ext cx="240" cy="344"/>
                </a:xfrm>
                <a:prstGeom prst="rect">
                  <a:avLst/>
                </a:prstGeom>
                <a:noFill/>
                <a:ln w="9525">
                  <a:noFill/>
                  <a:miter lim="800000"/>
                  <a:headEnd/>
                  <a:tailEnd/>
                </a:ln>
              </p:spPr>
              <p:txBody>
                <a:bodyPr>
                  <a:spAutoFit/>
                </a:bodyPr>
                <a:lstStyle/>
                <a:p>
                  <a:r>
                    <a:rPr lang="en-US" sz="1600" dirty="0">
                      <a:latin typeface="Arial"/>
                      <a:cs typeface="Arial"/>
                    </a:rPr>
                    <a:t>c</a:t>
                  </a:r>
                  <a:endParaRPr lang="en-US" sz="2500" dirty="0">
                    <a:latin typeface="Arial"/>
                    <a:cs typeface="Arial"/>
                  </a:endParaRPr>
                </a:p>
              </p:txBody>
            </p:sp>
          </p:grpSp>
          <p:sp>
            <p:nvSpPr>
              <p:cNvPr id="147" name="Line 16"/>
              <p:cNvSpPr>
                <a:spLocks noChangeShapeType="1"/>
              </p:cNvSpPr>
              <p:nvPr/>
            </p:nvSpPr>
            <p:spPr bwMode="auto">
              <a:xfrm flipV="1">
                <a:off x="4473773" y="5876924"/>
                <a:ext cx="212527" cy="263601"/>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148" name="Rectangle 13"/>
              <p:cNvSpPr>
                <a:spLocks noChangeArrowheads="1"/>
              </p:cNvSpPr>
              <p:nvPr/>
            </p:nvSpPr>
            <p:spPr bwMode="auto">
              <a:xfrm>
                <a:off x="3787527" y="5844218"/>
                <a:ext cx="455177" cy="319381"/>
              </a:xfrm>
              <a:prstGeom prst="rect">
                <a:avLst/>
              </a:prstGeom>
              <a:solidFill>
                <a:srgbClr val="00FFCC"/>
              </a:solidFill>
              <a:ln w="9525">
                <a:solidFill>
                  <a:schemeClr val="tx1"/>
                </a:solidFill>
                <a:miter lim="800000"/>
                <a:headEnd/>
                <a:tailEnd/>
              </a:ln>
            </p:spPr>
            <p:txBody>
              <a:bodyPr wrap="none" anchor="ctr"/>
              <a:lstStyle/>
              <a:p>
                <a:pPr algn="ctr"/>
                <a:endParaRPr lang="en-US" sz="2500">
                  <a:latin typeface="Arial"/>
                  <a:cs typeface="Arial"/>
                </a:endParaRPr>
              </a:p>
            </p:txBody>
          </p:sp>
          <p:sp>
            <p:nvSpPr>
              <p:cNvPr id="149" name="Text Box 15"/>
              <p:cNvSpPr txBox="1">
                <a:spLocks noChangeArrowheads="1"/>
              </p:cNvSpPr>
              <p:nvPr/>
            </p:nvSpPr>
            <p:spPr bwMode="auto">
              <a:xfrm>
                <a:off x="4011343" y="5810249"/>
                <a:ext cx="162563" cy="344321"/>
              </a:xfrm>
              <a:prstGeom prst="rect">
                <a:avLst/>
              </a:prstGeom>
              <a:noFill/>
              <a:ln w="9525">
                <a:noFill/>
                <a:miter lim="800000"/>
                <a:headEnd/>
                <a:tailEnd/>
              </a:ln>
            </p:spPr>
            <p:txBody>
              <a:bodyPr>
                <a:spAutoFit/>
              </a:bodyPr>
              <a:lstStyle/>
              <a:p>
                <a:r>
                  <a:rPr lang="en-US" sz="1600" dirty="0">
                    <a:latin typeface="Arial"/>
                    <a:cs typeface="Arial"/>
                  </a:rPr>
                  <a:t>b</a:t>
                </a:r>
                <a:endParaRPr lang="en-US" sz="2500" dirty="0">
                  <a:latin typeface="Arial"/>
                  <a:cs typeface="Arial"/>
                </a:endParaRPr>
              </a:p>
            </p:txBody>
          </p:sp>
          <p:sp>
            <p:nvSpPr>
              <p:cNvPr id="150" name="Line 14"/>
              <p:cNvSpPr>
                <a:spLocks noChangeShapeType="1"/>
              </p:cNvSpPr>
              <p:nvPr/>
            </p:nvSpPr>
            <p:spPr bwMode="auto">
              <a:xfrm>
                <a:off x="3982349" y="5831642"/>
                <a:ext cx="0" cy="319381"/>
              </a:xfrm>
              <a:prstGeom prst="line">
                <a:avLst/>
              </a:prstGeom>
              <a:noFill/>
              <a:ln w="9525">
                <a:solidFill>
                  <a:schemeClr val="tx1"/>
                </a:solidFill>
                <a:round/>
                <a:headEnd/>
                <a:tailEnd/>
              </a:ln>
            </p:spPr>
            <p:txBody>
              <a:bodyPr wrap="none" anchor="ctr"/>
              <a:lstStyle/>
              <a:p>
                <a:endParaRPr lang="en-US" sz="2500">
                  <a:latin typeface="Arial"/>
                  <a:cs typeface="Arial"/>
                </a:endParaRPr>
              </a:p>
            </p:txBody>
          </p:sp>
        </p:grpSp>
        <p:sp>
          <p:nvSpPr>
            <p:cNvPr id="126" name="Text Box 15"/>
            <p:cNvSpPr txBox="1">
              <a:spLocks noChangeArrowheads="1"/>
            </p:cNvSpPr>
            <p:nvPr/>
          </p:nvSpPr>
          <p:spPr bwMode="auto">
            <a:xfrm>
              <a:off x="2101902" y="5796059"/>
              <a:ext cx="576330" cy="344321"/>
            </a:xfrm>
            <a:prstGeom prst="rect">
              <a:avLst/>
            </a:prstGeom>
            <a:noFill/>
            <a:ln w="9525">
              <a:noFill/>
              <a:miter lim="800000"/>
              <a:headEnd/>
              <a:tailEnd/>
            </a:ln>
          </p:spPr>
          <p:txBody>
            <a:bodyPr wrap="square">
              <a:spAutoFit/>
            </a:bodyPr>
            <a:lstStyle/>
            <a:p>
              <a:r>
                <a:rPr lang="en-US" sz="1600" dirty="0">
                  <a:latin typeface="Arial"/>
                  <a:cs typeface="Arial"/>
                </a:rPr>
                <a:t>a</a:t>
              </a:r>
              <a:endParaRPr lang="en-US" sz="2500" dirty="0">
                <a:latin typeface="Arial"/>
                <a:cs typeface="Arial"/>
              </a:endParaRPr>
            </a:p>
          </p:txBody>
        </p:sp>
        <p:grpSp>
          <p:nvGrpSpPr>
            <p:cNvPr id="127" name="Group 43"/>
            <p:cNvGrpSpPr/>
            <p:nvPr/>
          </p:nvGrpSpPr>
          <p:grpSpPr>
            <a:xfrm>
              <a:off x="863848" y="5796059"/>
              <a:ext cx="915875" cy="357528"/>
              <a:chOff x="3787527" y="5806071"/>
              <a:chExt cx="915875" cy="357528"/>
            </a:xfrm>
          </p:grpSpPr>
          <p:grpSp>
            <p:nvGrpSpPr>
              <p:cNvPr id="133" name="Group 132"/>
              <p:cNvGrpSpPr>
                <a:grpSpLocks/>
              </p:cNvGrpSpPr>
              <p:nvPr/>
            </p:nvGrpSpPr>
            <p:grpSpPr bwMode="auto">
              <a:xfrm>
                <a:off x="4229259" y="5806071"/>
                <a:ext cx="474143" cy="357426"/>
                <a:chOff x="1460" y="1882"/>
                <a:chExt cx="700" cy="357"/>
              </a:xfrm>
            </p:grpSpPr>
            <p:sp>
              <p:nvSpPr>
                <p:cNvPr id="137" name="Rectangle 13"/>
                <p:cNvSpPr>
                  <a:spLocks noChangeArrowheads="1"/>
                </p:cNvSpPr>
                <p:nvPr/>
              </p:nvSpPr>
              <p:spPr bwMode="auto">
                <a:xfrm>
                  <a:off x="1488" y="1920"/>
                  <a:ext cx="672" cy="319"/>
                </a:xfrm>
                <a:prstGeom prst="rect">
                  <a:avLst/>
                </a:prstGeom>
                <a:solidFill>
                  <a:srgbClr val="00FFCC"/>
                </a:solidFill>
                <a:ln w="9525">
                  <a:solidFill>
                    <a:schemeClr val="tx1"/>
                  </a:solidFill>
                  <a:miter lim="800000"/>
                  <a:headEnd/>
                  <a:tailEnd/>
                </a:ln>
              </p:spPr>
              <p:txBody>
                <a:bodyPr wrap="none" anchor="ctr"/>
                <a:lstStyle/>
                <a:p>
                  <a:pPr algn="ctr"/>
                  <a:endParaRPr lang="en-US" sz="2500">
                    <a:latin typeface="Arial"/>
                    <a:cs typeface="Arial"/>
                  </a:endParaRPr>
                </a:p>
              </p:txBody>
            </p:sp>
            <p:sp>
              <p:nvSpPr>
                <p:cNvPr id="138" name="Line 14"/>
                <p:cNvSpPr>
                  <a:spLocks noChangeShapeType="1"/>
                </p:cNvSpPr>
                <p:nvPr/>
              </p:nvSpPr>
              <p:spPr bwMode="auto">
                <a:xfrm>
                  <a:off x="1824" y="1920"/>
                  <a:ext cx="0" cy="319"/>
                </a:xfrm>
                <a:prstGeom prst="line">
                  <a:avLst/>
                </a:prstGeom>
                <a:noFill/>
                <a:ln w="9525">
                  <a:solidFill>
                    <a:schemeClr val="tx1"/>
                  </a:solidFill>
                  <a:round/>
                  <a:headEnd/>
                  <a:tailEnd/>
                </a:ln>
              </p:spPr>
              <p:txBody>
                <a:bodyPr wrap="none" anchor="ctr"/>
                <a:lstStyle/>
                <a:p>
                  <a:endParaRPr lang="en-US" sz="2500">
                    <a:latin typeface="Arial"/>
                    <a:cs typeface="Arial"/>
                  </a:endParaRPr>
                </a:p>
              </p:txBody>
            </p:sp>
            <p:sp>
              <p:nvSpPr>
                <p:cNvPr id="139" name="Text Box 15"/>
                <p:cNvSpPr txBox="1">
                  <a:spLocks noChangeArrowheads="1"/>
                </p:cNvSpPr>
                <p:nvPr/>
              </p:nvSpPr>
              <p:spPr bwMode="auto">
                <a:xfrm>
                  <a:off x="1460" y="1882"/>
                  <a:ext cx="240" cy="344"/>
                </a:xfrm>
                <a:prstGeom prst="rect">
                  <a:avLst/>
                </a:prstGeom>
                <a:noFill/>
                <a:ln w="9525">
                  <a:noFill/>
                  <a:miter lim="800000"/>
                  <a:headEnd/>
                  <a:tailEnd/>
                </a:ln>
              </p:spPr>
              <p:txBody>
                <a:bodyPr>
                  <a:spAutoFit/>
                </a:bodyPr>
                <a:lstStyle/>
                <a:p>
                  <a:r>
                    <a:rPr lang="en-US" sz="1600" dirty="0">
                      <a:latin typeface="Arial"/>
                      <a:cs typeface="Arial"/>
                    </a:rPr>
                    <a:t>c</a:t>
                  </a:r>
                  <a:endParaRPr lang="en-US" sz="2500" dirty="0">
                    <a:latin typeface="Arial"/>
                    <a:cs typeface="Arial"/>
                  </a:endParaRPr>
                </a:p>
              </p:txBody>
            </p:sp>
          </p:grpSp>
          <p:sp>
            <p:nvSpPr>
              <p:cNvPr id="134" name="Rectangle 13"/>
              <p:cNvSpPr>
                <a:spLocks noChangeArrowheads="1"/>
              </p:cNvSpPr>
              <p:nvPr/>
            </p:nvSpPr>
            <p:spPr bwMode="auto">
              <a:xfrm>
                <a:off x="3787527" y="5844218"/>
                <a:ext cx="455177" cy="319381"/>
              </a:xfrm>
              <a:prstGeom prst="rect">
                <a:avLst/>
              </a:prstGeom>
              <a:solidFill>
                <a:srgbClr val="00FFCC"/>
              </a:solidFill>
              <a:ln w="9525">
                <a:solidFill>
                  <a:schemeClr val="tx1"/>
                </a:solidFill>
                <a:miter lim="800000"/>
                <a:headEnd/>
                <a:tailEnd/>
              </a:ln>
            </p:spPr>
            <p:txBody>
              <a:bodyPr wrap="none" anchor="ctr"/>
              <a:lstStyle/>
              <a:p>
                <a:pPr algn="ctr"/>
                <a:endParaRPr lang="en-US" sz="2500">
                  <a:latin typeface="Arial"/>
                  <a:cs typeface="Arial"/>
                </a:endParaRPr>
              </a:p>
            </p:txBody>
          </p:sp>
          <p:sp>
            <p:nvSpPr>
              <p:cNvPr id="135" name="Text Box 15"/>
              <p:cNvSpPr txBox="1">
                <a:spLocks noChangeArrowheads="1"/>
              </p:cNvSpPr>
              <p:nvPr/>
            </p:nvSpPr>
            <p:spPr bwMode="auto">
              <a:xfrm>
                <a:off x="4011343" y="5810251"/>
                <a:ext cx="162563" cy="344321"/>
              </a:xfrm>
              <a:prstGeom prst="rect">
                <a:avLst/>
              </a:prstGeom>
              <a:noFill/>
              <a:ln w="9525">
                <a:noFill/>
                <a:miter lim="800000"/>
                <a:headEnd/>
                <a:tailEnd/>
              </a:ln>
            </p:spPr>
            <p:txBody>
              <a:bodyPr>
                <a:spAutoFit/>
              </a:bodyPr>
              <a:lstStyle/>
              <a:p>
                <a:r>
                  <a:rPr lang="en-US" sz="1600" dirty="0">
                    <a:latin typeface="Arial"/>
                    <a:cs typeface="Arial"/>
                  </a:rPr>
                  <a:t>b</a:t>
                </a:r>
                <a:endParaRPr lang="en-US" sz="2500" dirty="0">
                  <a:latin typeface="Arial"/>
                  <a:cs typeface="Arial"/>
                </a:endParaRPr>
              </a:p>
            </p:txBody>
          </p:sp>
          <p:sp>
            <p:nvSpPr>
              <p:cNvPr id="136" name="Line 14"/>
              <p:cNvSpPr>
                <a:spLocks noChangeShapeType="1"/>
              </p:cNvSpPr>
              <p:nvPr/>
            </p:nvSpPr>
            <p:spPr bwMode="auto">
              <a:xfrm>
                <a:off x="3982349" y="5831642"/>
                <a:ext cx="0" cy="319381"/>
              </a:xfrm>
              <a:prstGeom prst="line">
                <a:avLst/>
              </a:prstGeom>
              <a:noFill/>
              <a:ln w="9525">
                <a:solidFill>
                  <a:schemeClr val="tx1"/>
                </a:solidFill>
                <a:round/>
                <a:headEnd/>
                <a:tailEnd/>
              </a:ln>
            </p:spPr>
            <p:txBody>
              <a:bodyPr wrap="none" anchor="ctr"/>
              <a:lstStyle/>
              <a:p>
                <a:endParaRPr lang="en-US" sz="2500">
                  <a:latin typeface="Arial"/>
                  <a:cs typeface="Arial"/>
                </a:endParaRPr>
              </a:p>
            </p:txBody>
          </p:sp>
        </p:grpSp>
        <p:sp>
          <p:nvSpPr>
            <p:cNvPr id="128" name="Line 30"/>
            <p:cNvSpPr>
              <a:spLocks noChangeShapeType="1"/>
            </p:cNvSpPr>
            <p:nvPr/>
          </p:nvSpPr>
          <p:spPr bwMode="auto">
            <a:xfrm flipV="1">
              <a:off x="1631389" y="6006365"/>
              <a:ext cx="504056" cy="0"/>
            </a:xfrm>
            <a:prstGeom prst="line">
              <a:avLst/>
            </a:prstGeom>
            <a:noFill/>
            <a:ln w="28575">
              <a:solidFill>
                <a:schemeClr val="tx1"/>
              </a:solidFill>
              <a:round/>
              <a:headEnd/>
              <a:tailEnd type="triangle" w="med" len="med"/>
            </a:ln>
          </p:spPr>
          <p:txBody>
            <a:bodyPr/>
            <a:lstStyle/>
            <a:p>
              <a:endParaRPr lang="en-US" sz="2500">
                <a:latin typeface="Arial"/>
                <a:cs typeface="Arial"/>
              </a:endParaRPr>
            </a:p>
          </p:txBody>
        </p:sp>
      </p:grpSp>
      <p:sp>
        <p:nvSpPr>
          <p:cNvPr id="154" name="Text Box 15"/>
          <p:cNvSpPr txBox="1">
            <a:spLocks noChangeArrowheads="1"/>
          </p:cNvSpPr>
          <p:nvPr/>
        </p:nvSpPr>
        <p:spPr bwMode="auto">
          <a:xfrm>
            <a:off x="761178" y="5187916"/>
            <a:ext cx="158767" cy="335051"/>
          </a:xfrm>
          <a:prstGeom prst="rect">
            <a:avLst/>
          </a:prstGeom>
          <a:noFill/>
          <a:ln w="9525">
            <a:noFill/>
            <a:miter lim="800000"/>
            <a:headEnd/>
            <a:tailEnd/>
          </a:ln>
        </p:spPr>
        <p:txBody>
          <a:bodyPr lIns="82840" tIns="41421" rIns="82840" bIns="41421">
            <a:spAutoFit/>
          </a:bodyPr>
          <a:lstStyle/>
          <a:p>
            <a:r>
              <a:rPr lang="en-US" sz="1600" dirty="0">
                <a:latin typeface="Arial"/>
                <a:cs typeface="Arial"/>
              </a:rPr>
              <a:t>e</a:t>
            </a:r>
            <a:endParaRPr lang="en-US" sz="2500" dirty="0">
              <a:latin typeface="Arial"/>
              <a:cs typeface="Arial"/>
            </a:endParaRPr>
          </a:p>
        </p:txBody>
      </p:sp>
      <p:sp>
        <p:nvSpPr>
          <p:cNvPr id="156" name="Text Box 11"/>
          <p:cNvSpPr txBox="1">
            <a:spLocks noChangeArrowheads="1"/>
          </p:cNvSpPr>
          <p:nvPr/>
        </p:nvSpPr>
        <p:spPr bwMode="auto">
          <a:xfrm>
            <a:off x="615223" y="816029"/>
            <a:ext cx="8071781" cy="1615702"/>
          </a:xfrm>
          <a:prstGeom prst="rect">
            <a:avLst/>
          </a:prstGeom>
          <a:solidFill>
            <a:schemeClr val="bg1"/>
          </a:solidFill>
          <a:ln w="9525">
            <a:solidFill>
              <a:srgbClr val="3F51D7"/>
            </a:solidFill>
            <a:miter lim="800000"/>
            <a:headEnd/>
            <a:tailEnd/>
          </a:ln>
        </p:spPr>
        <p:txBody>
          <a:bodyPr wrap="square" lIns="91311" tIns="45658" rIns="91311" bIns="45658">
            <a:spAutoFit/>
          </a:bodyPr>
          <a:lstStyle/>
          <a:p>
            <a:pPr algn="l"/>
            <a:r>
              <a:rPr lang="en-US" sz="3300" dirty="0">
                <a:solidFill>
                  <a:srgbClr val="3F51D7"/>
                </a:solidFill>
                <a:latin typeface="Arial"/>
                <a:cs typeface="Arial"/>
              </a:rPr>
              <a:t>OK, but can do better…combining: collect all items into a “fat node”, </a:t>
            </a:r>
            <a:r>
              <a:rPr lang="en-US" sz="3300" dirty="0" err="1">
                <a:solidFill>
                  <a:srgbClr val="3F51D7"/>
                </a:solidFill>
                <a:latin typeface="Arial"/>
                <a:cs typeface="Arial"/>
              </a:rPr>
              <a:t>enqueue</a:t>
            </a:r>
            <a:r>
              <a:rPr lang="en-US" sz="3300" dirty="0">
                <a:solidFill>
                  <a:srgbClr val="3F51D7"/>
                </a:solidFill>
                <a:latin typeface="Arial"/>
                <a:cs typeface="Arial"/>
              </a:rPr>
              <a:t> in one step</a:t>
            </a:r>
          </a:p>
        </p:txBody>
      </p:sp>
      <p:sp>
        <p:nvSpPr>
          <p:cNvPr id="155" name="Text Box 11"/>
          <p:cNvSpPr txBox="1">
            <a:spLocks noChangeArrowheads="1"/>
          </p:cNvSpPr>
          <p:nvPr/>
        </p:nvSpPr>
        <p:spPr bwMode="auto">
          <a:xfrm>
            <a:off x="1828667" y="1991876"/>
            <a:ext cx="6858337" cy="1615817"/>
          </a:xfrm>
          <a:prstGeom prst="rect">
            <a:avLst/>
          </a:prstGeom>
          <a:solidFill>
            <a:schemeClr val="bg1"/>
          </a:solidFill>
          <a:ln w="9525">
            <a:solidFill>
              <a:srgbClr val="3F51D7"/>
            </a:solidFill>
            <a:miter lim="800000"/>
            <a:headEnd/>
            <a:tailEnd/>
          </a:ln>
        </p:spPr>
        <p:txBody>
          <a:bodyPr wrap="square" lIns="91311" tIns="45658" rIns="91311" bIns="45658">
            <a:spAutoFit/>
          </a:bodyPr>
          <a:lstStyle/>
          <a:p>
            <a:pPr algn="l"/>
            <a:r>
              <a:rPr lang="en-US" sz="3300" dirty="0">
                <a:solidFill>
                  <a:srgbClr val="3F51D7"/>
                </a:solidFill>
                <a:latin typeface="Arial"/>
                <a:cs typeface="Arial"/>
              </a:rPr>
              <a:t>“Fat Node” easy sequentially but cannot be done in concurrent </a:t>
            </a:r>
            <a:r>
              <a:rPr lang="en-US" sz="3300" dirty="0" err="1">
                <a:solidFill>
                  <a:srgbClr val="3F51D7"/>
                </a:solidFill>
                <a:latin typeface="Arial"/>
                <a:cs typeface="Arial"/>
              </a:rPr>
              <a:t>alg</a:t>
            </a:r>
            <a:r>
              <a:rPr lang="en-US" sz="3300" dirty="0">
                <a:solidFill>
                  <a:srgbClr val="3F51D7"/>
                </a:solidFill>
                <a:latin typeface="Arial"/>
                <a:cs typeface="Arial"/>
              </a:rPr>
              <a:t> without CAS</a:t>
            </a:r>
          </a:p>
        </p:txBody>
      </p:sp>
    </p:spTree>
    <p:extLst>
      <p:ext uri="{BB962C8B-B14F-4D97-AF65-F5344CB8AC3E}">
        <p14:creationId xmlns:p14="http://schemas.microsoft.com/office/powerpoint/2010/main" val="2321818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animBg="1"/>
    </p:bld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sparc_t2_queue_throuthput.png"/>
          <p:cNvPicPr>
            <a:picLocks noChangeAspect="1"/>
          </p:cNvPicPr>
          <p:nvPr/>
        </p:nvPicPr>
        <p:blipFill>
          <a:blip r:embed="rId2" cstate="print"/>
          <a:stretch>
            <a:fillRect/>
          </a:stretch>
        </p:blipFill>
        <p:spPr>
          <a:xfrm>
            <a:off x="456997" y="1469269"/>
            <a:ext cx="8034052" cy="4494094"/>
          </a:xfrm>
          <a:prstGeom prst="rect">
            <a:avLst/>
          </a:prstGeom>
        </p:spPr>
      </p:pic>
      <p:sp>
        <p:nvSpPr>
          <p:cNvPr id="2" name="Title 1"/>
          <p:cNvSpPr>
            <a:spLocks noGrp="1"/>
          </p:cNvSpPr>
          <p:nvPr>
            <p:ph type="title"/>
          </p:nvPr>
        </p:nvSpPr>
        <p:spPr>
          <a:xfrm>
            <a:off x="456480" y="228119"/>
            <a:ext cx="8231040" cy="1142039"/>
          </a:xfrm>
        </p:spPr>
        <p:txBody>
          <a:bodyPr/>
          <a:lstStyle/>
          <a:p>
            <a:r>
              <a:rPr lang="en-US" dirty="0" err="1"/>
              <a:t>Linearizable</a:t>
            </a:r>
            <a:r>
              <a:rPr lang="en-US" dirty="0"/>
              <a:t> FIFO Queue</a:t>
            </a:r>
          </a:p>
        </p:txBody>
      </p:sp>
      <p:sp>
        <p:nvSpPr>
          <p:cNvPr id="7" name="Rounded Rectangular Callout 6"/>
          <p:cNvSpPr/>
          <p:nvPr/>
        </p:nvSpPr>
        <p:spPr>
          <a:xfrm>
            <a:off x="6270254" y="1599919"/>
            <a:ext cx="2547382" cy="522595"/>
          </a:xfrm>
          <a:prstGeom prst="wedgeRoundRectCallout">
            <a:avLst>
              <a:gd name="adj1" fmla="val -31928"/>
              <a:gd name="adj2" fmla="val 180208"/>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r>
              <a:rPr lang="en-US" sz="2500" dirty="0">
                <a:solidFill>
                  <a:schemeClr val="tx1"/>
                </a:solidFill>
                <a:latin typeface="Arial"/>
                <a:cs typeface="Arial"/>
              </a:rPr>
              <a:t>Flat Combining</a:t>
            </a:r>
          </a:p>
        </p:txBody>
      </p:sp>
      <p:sp>
        <p:nvSpPr>
          <p:cNvPr id="8" name="Rounded Rectangular Callout 7"/>
          <p:cNvSpPr/>
          <p:nvPr/>
        </p:nvSpPr>
        <p:spPr>
          <a:xfrm>
            <a:off x="6858114" y="5780676"/>
            <a:ext cx="2112234" cy="783892"/>
          </a:xfrm>
          <a:prstGeom prst="wedgeRoundRectCallout">
            <a:avLst>
              <a:gd name="adj1" fmla="val -20471"/>
              <a:gd name="adj2" fmla="val -261482"/>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r>
              <a:rPr lang="en-US" sz="2500" dirty="0">
                <a:solidFill>
                  <a:schemeClr val="tx1"/>
                </a:solidFill>
                <a:latin typeface="Arial"/>
                <a:cs typeface="Arial"/>
              </a:rPr>
              <a:t>Combining tree</a:t>
            </a:r>
          </a:p>
        </p:txBody>
      </p:sp>
      <p:sp>
        <p:nvSpPr>
          <p:cNvPr id="9" name="Rounded Rectangular Callout 8"/>
          <p:cNvSpPr/>
          <p:nvPr/>
        </p:nvSpPr>
        <p:spPr>
          <a:xfrm>
            <a:off x="2659351" y="5846000"/>
            <a:ext cx="3349634" cy="1011999"/>
          </a:xfrm>
          <a:prstGeom prst="wedgeRoundRectCallout">
            <a:avLst>
              <a:gd name="adj1" fmla="val 19821"/>
              <a:gd name="adj2" fmla="val -169464"/>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r>
              <a:rPr lang="en-US" sz="2500" dirty="0">
                <a:solidFill>
                  <a:schemeClr val="tx1"/>
                </a:solidFill>
                <a:latin typeface="Arial"/>
                <a:cs typeface="Arial"/>
              </a:rPr>
              <a:t>MS queue, </a:t>
            </a:r>
            <a:r>
              <a:rPr lang="en-US" sz="2500" dirty="0" err="1">
                <a:solidFill>
                  <a:schemeClr val="tx1"/>
                </a:solidFill>
                <a:latin typeface="Arial"/>
                <a:cs typeface="Arial"/>
              </a:rPr>
              <a:t>Oyama</a:t>
            </a:r>
            <a:r>
              <a:rPr lang="en-US" sz="2500" dirty="0">
                <a:solidFill>
                  <a:schemeClr val="tx1"/>
                </a:solidFill>
                <a:latin typeface="Arial"/>
                <a:cs typeface="Arial"/>
              </a:rPr>
              <a:t>, </a:t>
            </a:r>
          </a:p>
          <a:p>
            <a:pPr algn="ctr"/>
            <a:r>
              <a:rPr lang="en-US" sz="2500" dirty="0">
                <a:solidFill>
                  <a:schemeClr val="tx1"/>
                </a:solidFill>
                <a:latin typeface="Arial"/>
                <a:cs typeface="Arial"/>
              </a:rPr>
              <a:t>and Log-Synch</a:t>
            </a:r>
          </a:p>
        </p:txBody>
      </p:sp>
    </p:spTree>
    <p:extLst>
      <p:ext uri="{BB962C8B-B14F-4D97-AF65-F5344CB8AC3E}">
        <p14:creationId xmlns:p14="http://schemas.microsoft.com/office/powerpoint/2010/main" val="414997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6997" y="13"/>
            <a:ext cx="8231040" cy="1142039"/>
          </a:xfrm>
        </p:spPr>
        <p:txBody>
          <a:bodyPr/>
          <a:lstStyle/>
          <a:p>
            <a:r>
              <a:rPr lang="en-US" dirty="0"/>
              <a:t>Benefits of Flat Combining</a:t>
            </a:r>
          </a:p>
        </p:txBody>
      </p:sp>
      <p:pic>
        <p:nvPicPr>
          <p:cNvPr id="9" name="Picture 8" descr="sparc_t2_queue_throuthput.png"/>
          <p:cNvPicPr>
            <a:picLocks noChangeAspect="1"/>
          </p:cNvPicPr>
          <p:nvPr/>
        </p:nvPicPr>
        <p:blipFill>
          <a:blip r:embed="rId2" cstate="print"/>
          <a:stretch>
            <a:fillRect/>
          </a:stretch>
        </p:blipFill>
        <p:spPr>
          <a:xfrm>
            <a:off x="522315" y="1534606"/>
            <a:ext cx="3914634" cy="2189771"/>
          </a:xfrm>
          <a:prstGeom prst="rect">
            <a:avLst/>
          </a:prstGeom>
        </p:spPr>
      </p:pic>
      <p:pic>
        <p:nvPicPr>
          <p:cNvPr id="14" name="Picture 13" descr="sparc_t2_queue_cas_fail.png"/>
          <p:cNvPicPr>
            <a:picLocks noChangeAspect="1"/>
          </p:cNvPicPr>
          <p:nvPr/>
        </p:nvPicPr>
        <p:blipFill>
          <a:blip r:embed="rId3" cstate="print"/>
          <a:stretch>
            <a:fillRect/>
          </a:stretch>
        </p:blipFill>
        <p:spPr>
          <a:xfrm>
            <a:off x="522315" y="3886282"/>
            <a:ext cx="3914634" cy="2189771"/>
          </a:xfrm>
          <a:prstGeom prst="rect">
            <a:avLst/>
          </a:prstGeom>
        </p:spPr>
      </p:pic>
      <p:pic>
        <p:nvPicPr>
          <p:cNvPr id="15" name="Picture 14" descr="sparc_t2_queue_cas_success.png"/>
          <p:cNvPicPr>
            <a:picLocks noChangeAspect="1"/>
          </p:cNvPicPr>
          <p:nvPr/>
        </p:nvPicPr>
        <p:blipFill>
          <a:blip r:embed="rId4" cstate="print"/>
          <a:stretch>
            <a:fillRect/>
          </a:stretch>
        </p:blipFill>
        <p:spPr>
          <a:xfrm>
            <a:off x="4637317" y="1534606"/>
            <a:ext cx="3914634" cy="2189771"/>
          </a:xfrm>
          <a:prstGeom prst="rect">
            <a:avLst/>
          </a:prstGeom>
        </p:spPr>
      </p:pic>
      <p:pic>
        <p:nvPicPr>
          <p:cNvPr id="16" name="Picture 15" descr="sparc_t2_queue_l2_cache_miss.png"/>
          <p:cNvPicPr>
            <a:picLocks noChangeAspect="1"/>
          </p:cNvPicPr>
          <p:nvPr/>
        </p:nvPicPr>
        <p:blipFill>
          <a:blip r:embed="rId5" cstate="print"/>
          <a:stretch>
            <a:fillRect/>
          </a:stretch>
        </p:blipFill>
        <p:spPr>
          <a:xfrm>
            <a:off x="4637317" y="3886282"/>
            <a:ext cx="3914634" cy="2189771"/>
          </a:xfrm>
          <a:prstGeom prst="rect">
            <a:avLst/>
          </a:prstGeom>
        </p:spPr>
      </p:pic>
      <p:sp>
        <p:nvSpPr>
          <p:cNvPr id="8" name="Rounded Rectangular Callout 7"/>
          <p:cNvSpPr/>
          <p:nvPr/>
        </p:nvSpPr>
        <p:spPr>
          <a:xfrm>
            <a:off x="3265650" y="5780676"/>
            <a:ext cx="2547382" cy="783892"/>
          </a:xfrm>
          <a:prstGeom prst="wedgeRoundRectCallout">
            <a:avLst>
              <a:gd name="adj1" fmla="val 27530"/>
              <a:gd name="adj2" fmla="val 45632"/>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r>
              <a:rPr lang="en-US" sz="2500" dirty="0">
                <a:solidFill>
                  <a:schemeClr val="tx1"/>
                </a:solidFill>
                <a:latin typeface="Arial"/>
                <a:cs typeface="Arial"/>
              </a:rPr>
              <a:t>Flat Combining in Red</a:t>
            </a:r>
          </a:p>
        </p:txBody>
      </p:sp>
    </p:spTree>
    <p:extLst>
      <p:ext uri="{BB962C8B-B14F-4D97-AF65-F5344CB8AC3E}">
        <p14:creationId xmlns:p14="http://schemas.microsoft.com/office/powerpoint/2010/main" val="407786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Linearizable</a:t>
            </a:r>
            <a:r>
              <a:rPr lang="en-US" dirty="0"/>
              <a:t> Stack</a:t>
            </a:r>
          </a:p>
        </p:txBody>
      </p:sp>
      <p:pic>
        <p:nvPicPr>
          <p:cNvPr id="3" name="Picture 2" descr="C:\Users\MoranTza\Desktop\fc_stack_sparc_50_50.png"/>
          <p:cNvPicPr>
            <a:picLocks noChangeAspect="1" noChangeArrowheads="1"/>
          </p:cNvPicPr>
          <p:nvPr/>
        </p:nvPicPr>
        <p:blipFill>
          <a:blip r:embed="rId2" cstate="print"/>
          <a:srcRect/>
          <a:stretch>
            <a:fillRect/>
          </a:stretch>
        </p:blipFill>
        <p:spPr bwMode="auto">
          <a:xfrm>
            <a:off x="284797" y="1534593"/>
            <a:ext cx="8531918" cy="4693048"/>
          </a:xfrm>
          <a:prstGeom prst="rect">
            <a:avLst/>
          </a:prstGeom>
          <a:noFill/>
          <a:ln w="38100">
            <a:noFill/>
          </a:ln>
        </p:spPr>
      </p:pic>
      <p:sp>
        <p:nvSpPr>
          <p:cNvPr id="4" name="Rounded Rectangular Callout 3"/>
          <p:cNvSpPr/>
          <p:nvPr/>
        </p:nvSpPr>
        <p:spPr>
          <a:xfrm>
            <a:off x="6074302" y="1142647"/>
            <a:ext cx="2547382" cy="522595"/>
          </a:xfrm>
          <a:prstGeom prst="wedgeRoundRectCallout">
            <a:avLst>
              <a:gd name="adj1" fmla="val -39715"/>
              <a:gd name="adj2" fmla="val 266476"/>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r>
              <a:rPr lang="en-US" sz="2500" dirty="0">
                <a:solidFill>
                  <a:schemeClr val="tx1"/>
                </a:solidFill>
                <a:latin typeface="Arial"/>
                <a:cs typeface="Arial"/>
              </a:rPr>
              <a:t>Flat Combining</a:t>
            </a:r>
          </a:p>
        </p:txBody>
      </p:sp>
      <p:sp>
        <p:nvSpPr>
          <p:cNvPr id="5" name="Rounded Rectangular Callout 4"/>
          <p:cNvSpPr/>
          <p:nvPr/>
        </p:nvSpPr>
        <p:spPr>
          <a:xfrm>
            <a:off x="6421880" y="4389182"/>
            <a:ext cx="2547382" cy="776664"/>
          </a:xfrm>
          <a:prstGeom prst="wedgeRoundRectCallout">
            <a:avLst>
              <a:gd name="adj1" fmla="val -40423"/>
              <a:gd name="adj2" fmla="val -123454"/>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r>
              <a:rPr lang="en-US" sz="2500" dirty="0">
                <a:solidFill>
                  <a:schemeClr val="tx1"/>
                </a:solidFill>
                <a:latin typeface="Arial"/>
                <a:cs typeface="Arial"/>
              </a:rPr>
              <a:t>Elimination Stack</a:t>
            </a:r>
          </a:p>
        </p:txBody>
      </p:sp>
      <p:sp>
        <p:nvSpPr>
          <p:cNvPr id="6" name="Rounded Rectangular Callout 5"/>
          <p:cNvSpPr/>
          <p:nvPr/>
        </p:nvSpPr>
        <p:spPr>
          <a:xfrm>
            <a:off x="5355810" y="5780676"/>
            <a:ext cx="2547382" cy="718568"/>
          </a:xfrm>
          <a:prstGeom prst="wedgeRoundRectCallout">
            <a:avLst>
              <a:gd name="adj1" fmla="val -40423"/>
              <a:gd name="adj2" fmla="val -123454"/>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a:r>
              <a:rPr lang="en-US" sz="2500" dirty="0" err="1">
                <a:solidFill>
                  <a:schemeClr val="tx1"/>
                </a:solidFill>
                <a:latin typeface="Arial"/>
                <a:cs typeface="Arial"/>
              </a:rPr>
              <a:t>Treiber</a:t>
            </a:r>
            <a:r>
              <a:rPr lang="en-US" sz="2500" dirty="0">
                <a:solidFill>
                  <a:schemeClr val="tx1"/>
                </a:solidFill>
                <a:latin typeface="Arial"/>
                <a:cs typeface="Arial"/>
              </a:rPr>
              <a:t> Lock-free Stack</a:t>
            </a:r>
          </a:p>
        </p:txBody>
      </p:sp>
    </p:spTree>
    <p:extLst>
      <p:ext uri="{BB962C8B-B14F-4D97-AF65-F5344CB8AC3E}">
        <p14:creationId xmlns:p14="http://schemas.microsoft.com/office/powerpoint/2010/main" val="421820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55652" y="404813"/>
            <a:ext cx="7772400" cy="1143000"/>
          </a:xfrm>
        </p:spPr>
        <p:txBody>
          <a:bodyPr>
            <a:normAutofit fontScale="90000"/>
          </a:bodyPr>
          <a:lstStyle/>
          <a:p>
            <a:r>
              <a:rPr lang="en-US" dirty="0"/>
              <a:t>Concurrent Priority Queue </a:t>
            </a:r>
            <a:br>
              <a:rPr lang="en-US" dirty="0"/>
            </a:br>
            <a:r>
              <a:rPr lang="en-US" dirty="0"/>
              <a:t>(Chapter 15)</a:t>
            </a:r>
            <a:br>
              <a:rPr lang="en-US" dirty="0"/>
            </a:br>
            <a:endParaRPr lang="en-US" sz="3300" dirty="0"/>
          </a:p>
        </p:txBody>
      </p:sp>
      <p:pic>
        <p:nvPicPr>
          <p:cNvPr id="228" name="Picture 227" descr="SkipQueue.eps"/>
          <p:cNvPicPr>
            <a:picLocks noChangeAspect="1"/>
          </p:cNvPicPr>
          <p:nvPr/>
        </p:nvPicPr>
        <p:blipFill>
          <a:blip r:embed="rId3" cstate="print"/>
          <a:stretch>
            <a:fillRect/>
          </a:stretch>
        </p:blipFill>
        <p:spPr>
          <a:xfrm>
            <a:off x="1436760" y="1730566"/>
            <a:ext cx="14616024" cy="3772273"/>
          </a:xfrm>
          <a:prstGeom prst="rect">
            <a:avLst/>
          </a:prstGeom>
        </p:spPr>
      </p:pic>
      <p:sp>
        <p:nvSpPr>
          <p:cNvPr id="229" name="Rectangle 228"/>
          <p:cNvSpPr/>
          <p:nvPr/>
        </p:nvSpPr>
        <p:spPr>
          <a:xfrm>
            <a:off x="8882954" y="1926551"/>
            <a:ext cx="5094764" cy="49314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endParaRPr lang="en-US" sz="1800">
              <a:solidFill>
                <a:prstClr val="white"/>
              </a:solidFill>
              <a:latin typeface="Calibri"/>
            </a:endParaRPr>
          </a:p>
        </p:txBody>
      </p:sp>
      <p:sp>
        <p:nvSpPr>
          <p:cNvPr id="230" name="Rectangle 229"/>
          <p:cNvSpPr/>
          <p:nvPr/>
        </p:nvSpPr>
        <p:spPr>
          <a:xfrm>
            <a:off x="1306125" y="1795894"/>
            <a:ext cx="1241032" cy="946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endParaRPr lang="en-US" sz="1800">
              <a:solidFill>
                <a:prstClr val="white"/>
              </a:solidFill>
              <a:latin typeface="Calibri"/>
            </a:endParaRPr>
          </a:p>
        </p:txBody>
      </p:sp>
      <p:sp>
        <p:nvSpPr>
          <p:cNvPr id="156" name="Text Box 11"/>
          <p:cNvSpPr txBox="1">
            <a:spLocks noChangeArrowheads="1"/>
          </p:cNvSpPr>
          <p:nvPr/>
        </p:nvSpPr>
        <p:spPr bwMode="auto">
          <a:xfrm>
            <a:off x="848902" y="1861218"/>
            <a:ext cx="7642147" cy="600154"/>
          </a:xfrm>
          <a:prstGeom prst="rect">
            <a:avLst/>
          </a:prstGeom>
          <a:solidFill>
            <a:schemeClr val="bg1"/>
          </a:solidFill>
          <a:ln w="9525">
            <a:solidFill>
              <a:srgbClr val="3F51D7"/>
            </a:solidFill>
            <a:miter lim="800000"/>
            <a:headEnd/>
            <a:tailEnd/>
          </a:ln>
        </p:spPr>
        <p:txBody>
          <a:bodyPr wrap="square" lIns="91311" tIns="45658" rIns="91311" bIns="45658">
            <a:spAutoFit/>
          </a:bodyPr>
          <a:lstStyle/>
          <a:p>
            <a:pPr defTabSz="913264" fontAlgn="auto">
              <a:spcBef>
                <a:spcPts val="0"/>
              </a:spcBef>
              <a:spcAft>
                <a:spcPts val="0"/>
              </a:spcAft>
            </a:pPr>
            <a:r>
              <a:rPr lang="en-US" sz="3300" dirty="0">
                <a:solidFill>
                  <a:srgbClr val="3F51D7"/>
                </a:solidFill>
                <a:latin typeface="Calibri"/>
              </a:rPr>
              <a:t>k </a:t>
            </a:r>
            <a:r>
              <a:rPr lang="en-US" sz="3300" dirty="0" err="1">
                <a:solidFill>
                  <a:srgbClr val="3F51D7"/>
                </a:solidFill>
                <a:latin typeface="Calibri"/>
              </a:rPr>
              <a:t>deleteMin</a:t>
            </a:r>
            <a:r>
              <a:rPr lang="en-US" sz="3300" dirty="0">
                <a:solidFill>
                  <a:srgbClr val="3F51D7"/>
                </a:solidFill>
                <a:latin typeface="Calibri"/>
              </a:rPr>
              <a:t> operations take O(k*log n)</a:t>
            </a:r>
          </a:p>
        </p:txBody>
      </p:sp>
      <p:sp>
        <p:nvSpPr>
          <p:cNvPr id="231" name="Text Box 11"/>
          <p:cNvSpPr txBox="1">
            <a:spLocks noChangeArrowheads="1"/>
          </p:cNvSpPr>
          <p:nvPr/>
        </p:nvSpPr>
        <p:spPr bwMode="auto">
          <a:xfrm>
            <a:off x="848915" y="5584715"/>
            <a:ext cx="7606121" cy="769316"/>
          </a:xfrm>
          <a:prstGeom prst="rect">
            <a:avLst/>
          </a:prstGeom>
          <a:noFill/>
          <a:ln w="9525">
            <a:noFill/>
            <a:miter lim="800000"/>
            <a:headEnd/>
            <a:tailEnd/>
          </a:ln>
        </p:spPr>
        <p:txBody>
          <a:bodyPr wrap="none" lIns="91311" tIns="45658" rIns="91311" bIns="45658">
            <a:spAutoFit/>
          </a:bodyPr>
          <a:lstStyle/>
          <a:p>
            <a:pPr defTabSz="913264" fontAlgn="auto">
              <a:spcBef>
                <a:spcPts val="0"/>
              </a:spcBef>
              <a:spcAft>
                <a:spcPts val="0"/>
              </a:spcAft>
            </a:pPr>
            <a:r>
              <a:rPr lang="en-US" sz="2200" dirty="0" err="1">
                <a:solidFill>
                  <a:prstClr val="black"/>
                </a:solidFill>
                <a:latin typeface="Calibri"/>
              </a:rPr>
              <a:t>deleteMin</a:t>
            </a:r>
            <a:r>
              <a:rPr lang="en-US" sz="2200" dirty="0">
                <a:solidFill>
                  <a:prstClr val="black"/>
                </a:solidFill>
                <a:latin typeface="Calibri"/>
              </a:rPr>
              <a:t>() traverses </a:t>
            </a:r>
            <a:r>
              <a:rPr lang="en-US" sz="2200" dirty="0" err="1">
                <a:solidFill>
                  <a:prstClr val="black"/>
                </a:solidFill>
                <a:latin typeface="Calibri"/>
              </a:rPr>
              <a:t>CASing</a:t>
            </a:r>
            <a:r>
              <a:rPr lang="en-US" sz="2200" dirty="0">
                <a:solidFill>
                  <a:prstClr val="black"/>
                </a:solidFill>
                <a:latin typeface="Calibri"/>
              </a:rPr>
              <a:t> until you manage to mark a node, </a:t>
            </a:r>
          </a:p>
          <a:p>
            <a:pPr defTabSz="913264" fontAlgn="auto">
              <a:spcBef>
                <a:spcPts val="0"/>
              </a:spcBef>
              <a:spcAft>
                <a:spcPts val="0"/>
              </a:spcAft>
            </a:pPr>
            <a:r>
              <a:rPr lang="en-US" sz="2200" dirty="0">
                <a:solidFill>
                  <a:prstClr val="black"/>
                </a:solidFill>
                <a:latin typeface="Calibri"/>
              </a:rPr>
              <a:t>then use </a:t>
            </a:r>
            <a:r>
              <a:rPr lang="en-US" sz="2200" dirty="0" err="1">
                <a:solidFill>
                  <a:prstClr val="black"/>
                </a:solidFill>
                <a:latin typeface="Calibri"/>
              </a:rPr>
              <a:t>skiplist</a:t>
            </a:r>
            <a:r>
              <a:rPr lang="en-US" sz="2200" dirty="0">
                <a:solidFill>
                  <a:prstClr val="black"/>
                </a:solidFill>
                <a:latin typeface="Calibri"/>
              </a:rPr>
              <a:t> remove your  marked node</a:t>
            </a:r>
          </a:p>
        </p:txBody>
      </p:sp>
      <p:grpSp>
        <p:nvGrpSpPr>
          <p:cNvPr id="2" name="Group 77"/>
          <p:cNvGrpSpPr>
            <a:grpSpLocks/>
          </p:cNvGrpSpPr>
          <p:nvPr/>
        </p:nvGrpSpPr>
        <p:grpSpPr bwMode="auto">
          <a:xfrm flipH="1">
            <a:off x="1436760" y="5062113"/>
            <a:ext cx="865440" cy="688392"/>
            <a:chOff x="1584" y="816"/>
            <a:chExt cx="912" cy="816"/>
          </a:xfrm>
        </p:grpSpPr>
        <p:sp>
          <p:nvSpPr>
            <p:cNvPr id="23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23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235"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23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23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23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239"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24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241"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grpSp>
      <p:sp>
        <p:nvSpPr>
          <p:cNvPr id="18" name="TextBox 17"/>
          <p:cNvSpPr txBox="1"/>
          <p:nvPr/>
        </p:nvSpPr>
        <p:spPr>
          <a:xfrm>
            <a:off x="6132202" y="4961384"/>
            <a:ext cx="288032" cy="369332"/>
          </a:xfrm>
          <a:prstGeom prst="rect">
            <a:avLst/>
          </a:prstGeom>
          <a:solidFill>
            <a:schemeClr val="bg1"/>
          </a:solidFill>
          <a:ln>
            <a:solidFill>
              <a:schemeClr val="tx2">
                <a:lumMod val="75000"/>
              </a:schemeClr>
            </a:solidFill>
          </a:ln>
        </p:spPr>
        <p:txBody>
          <a:bodyPr wrap="square" lIns="91320" tIns="45663" rIns="91320" bIns="45663" rtlCol="0">
            <a:spAutoFit/>
          </a:bodyPr>
          <a:lstStyle/>
          <a:p>
            <a:pPr defTabSz="913264" fontAlgn="auto">
              <a:spcBef>
                <a:spcPts val="0"/>
              </a:spcBef>
              <a:spcAft>
                <a:spcPts val="0"/>
              </a:spcAft>
            </a:pPr>
            <a:r>
              <a:rPr lang="en-US" sz="1800" dirty="0">
                <a:solidFill>
                  <a:srgbClr val="1F497D">
                    <a:lumMod val="75000"/>
                  </a:srgbClr>
                </a:solidFill>
                <a:latin typeface="Calibri"/>
              </a:rPr>
              <a:t>1</a:t>
            </a:r>
          </a:p>
        </p:txBody>
      </p:sp>
    </p:spTree>
    <p:extLst>
      <p:ext uri="{BB962C8B-B14F-4D97-AF65-F5344CB8AC3E}">
        <p14:creationId xmlns:p14="http://schemas.microsoft.com/office/powerpoint/2010/main" val="190786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1.64435E-6 -1.77335E-6 L 0.51 -0.00252 " pathEditMode="relative" rAng="0" ptsTypes="AA">
                                      <p:cBhvr>
                                        <p:cTn id="10" dur="2000" fill="hold"/>
                                        <p:tgtEl>
                                          <p:spTgt spid="2"/>
                                        </p:tgtEl>
                                        <p:attrNameLst>
                                          <p:attrName>ppt_x</p:attrName>
                                          <p:attrName>ppt_y</p:attrName>
                                        </p:attrNameLst>
                                      </p:cBhvr>
                                      <p:rCtr x="25500" y="-100"/>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8222 -0.40441 C 0.09041 -0.40357 0.09907 -0.40483 0.10695 -0.40168 C 0.109 -0.40084 0.10884 -0.39643 0.109 -0.39349 C 0.11026 -0.35866 0.10837 -0.32361 0.11104 -0.28898 C 0.1112 -0.28604 0.11514 -0.28709 0.11719 -0.28625 C 0.12963 -0.28164 0.14207 -0.27807 0.15436 -0.27261 C 0.1961 -0.25435 0.2424 -0.26883 0.28635 -0.26694 C 0.30745 -0.26485 0.32982 -0.26506 0.35014 -0.25603 C 0.35675 -0.23148 0.34132 -0.1618 0.37707 -0.15991 C 0.40873 -0.15824 0.44023 -0.15803 0.47189 -0.15719 C 0.47393 -0.15635 0.47645 -0.15656 0.47803 -0.15446 C 0.4796 -0.15236 0.47913 -0.14879 0.48008 -0.14606 C 0.48055 -0.1448 0.48149 -0.14417 0.48212 -0.14334 " pathEditMode="relative" ptsTypes="ffffffffffffA">
                                      <p:cBhvr>
                                        <p:cTn id="18" dur="5000" fill="hold"/>
                                        <p:tgtEl>
                                          <p:spTgt spid="2"/>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231" grpId="0"/>
      <p:bldP spid="18" grpId="0" animBg="1"/>
    </p:bldLst>
  </p:timing>
</p:sld>
</file>

<file path=ppt/slides/slide2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28" name="Picture 227" descr="SkipQueue.eps"/>
          <p:cNvPicPr>
            <a:picLocks noChangeAspect="1"/>
          </p:cNvPicPr>
          <p:nvPr/>
        </p:nvPicPr>
        <p:blipFill>
          <a:blip r:embed="rId3" cstate="print"/>
          <a:stretch>
            <a:fillRect/>
          </a:stretch>
        </p:blipFill>
        <p:spPr>
          <a:xfrm>
            <a:off x="130410" y="3233026"/>
            <a:ext cx="11072550" cy="2857732"/>
          </a:xfrm>
          <a:prstGeom prst="rect">
            <a:avLst/>
          </a:prstGeom>
        </p:spPr>
      </p:pic>
      <p:sp>
        <p:nvSpPr>
          <p:cNvPr id="229" name="Rectangle 228"/>
          <p:cNvSpPr/>
          <p:nvPr/>
        </p:nvSpPr>
        <p:spPr>
          <a:xfrm>
            <a:off x="5029222" y="2253161"/>
            <a:ext cx="6270479" cy="4343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r>
              <a:rPr lang="en-US" sz="1800" dirty="0" err="1">
                <a:solidFill>
                  <a:prstClr val="white"/>
                </a:solidFill>
                <a:latin typeface="Calibri"/>
              </a:rPr>
              <a:t>cvccc</a:t>
            </a:r>
            <a:endParaRPr lang="en-US" sz="1800" dirty="0">
              <a:solidFill>
                <a:prstClr val="white"/>
              </a:solidFill>
              <a:latin typeface="Calibri"/>
            </a:endParaRPr>
          </a:p>
        </p:txBody>
      </p:sp>
      <p:sp>
        <p:nvSpPr>
          <p:cNvPr id="14338" name="Rectangle 2"/>
          <p:cNvSpPr>
            <a:spLocks noGrp="1" noChangeArrowheads="1"/>
          </p:cNvSpPr>
          <p:nvPr>
            <p:ph type="title"/>
          </p:nvPr>
        </p:nvSpPr>
        <p:spPr>
          <a:xfrm>
            <a:off x="755652" y="404813"/>
            <a:ext cx="7772400" cy="1143000"/>
          </a:xfrm>
        </p:spPr>
        <p:txBody>
          <a:bodyPr/>
          <a:lstStyle/>
          <a:p>
            <a:r>
              <a:rPr lang="en-US" dirty="0"/>
              <a:t>Flat-Combining Priority Queue</a:t>
            </a:r>
          </a:p>
        </p:txBody>
      </p:sp>
      <p:grpSp>
        <p:nvGrpSpPr>
          <p:cNvPr id="2" name="Group 102"/>
          <p:cNvGrpSpPr/>
          <p:nvPr/>
        </p:nvGrpSpPr>
        <p:grpSpPr>
          <a:xfrm>
            <a:off x="4599927" y="3037066"/>
            <a:ext cx="3956444" cy="2648123"/>
            <a:chOff x="2159992" y="2411685"/>
            <a:chExt cx="7098009" cy="4575249"/>
          </a:xfrm>
        </p:grpSpPr>
        <p:grpSp>
          <p:nvGrpSpPr>
            <p:cNvPr id="3" name="Group 3"/>
            <p:cNvGrpSpPr>
              <a:grpSpLocks/>
            </p:cNvGrpSpPr>
            <p:nvPr/>
          </p:nvGrpSpPr>
          <p:grpSpPr bwMode="auto">
            <a:xfrm>
              <a:off x="3547943" y="3268077"/>
              <a:ext cx="506921" cy="778716"/>
              <a:chOff x="1029" y="2668"/>
              <a:chExt cx="363" cy="445"/>
            </a:xfrm>
          </p:grpSpPr>
          <p:grpSp>
            <p:nvGrpSpPr>
              <p:cNvPr id="4" name="Group 4"/>
              <p:cNvGrpSpPr>
                <a:grpSpLocks/>
              </p:cNvGrpSpPr>
              <p:nvPr/>
            </p:nvGrpSpPr>
            <p:grpSpPr bwMode="auto">
              <a:xfrm>
                <a:off x="1101" y="2668"/>
                <a:ext cx="217" cy="238"/>
                <a:chOff x="1075" y="2731"/>
                <a:chExt cx="244" cy="166"/>
              </a:xfrm>
            </p:grpSpPr>
            <p:sp>
              <p:nvSpPr>
                <p:cNvPr id="14393" name="Oval 5"/>
                <p:cNvSpPr>
                  <a:spLocks noChangeArrowheads="1"/>
                </p:cNvSpPr>
                <p:nvPr/>
              </p:nvSpPr>
              <p:spPr bwMode="auto">
                <a:xfrm>
                  <a:off x="1075" y="2731"/>
                  <a:ext cx="244" cy="166"/>
                </a:xfrm>
                <a:prstGeom prst="ellipse">
                  <a:avLst/>
                </a:prstGeom>
                <a:solidFill>
                  <a:schemeClr val="tx1"/>
                </a:solidFill>
                <a:ln w="12700">
                  <a:solidFill>
                    <a:schemeClr val="tx2"/>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4394" name="Oval 6"/>
                <p:cNvSpPr>
                  <a:spLocks noChangeArrowheads="1"/>
                </p:cNvSpPr>
                <p:nvPr/>
              </p:nvSpPr>
              <p:spPr bwMode="auto">
                <a:xfrm>
                  <a:off x="1135" y="2750"/>
                  <a:ext cx="158" cy="112"/>
                </a:xfrm>
                <a:prstGeom prst="ellipse">
                  <a:avLst/>
                </a:prstGeom>
                <a:solidFill>
                  <a:schemeClr val="bg1"/>
                </a:solidFill>
                <a:ln w="12700">
                  <a:solidFill>
                    <a:schemeClr val="tx2"/>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sp>
            <p:nvSpPr>
              <p:cNvPr id="14390" name="Rectangle 7"/>
              <p:cNvSpPr>
                <a:spLocks noChangeArrowheads="1"/>
              </p:cNvSpPr>
              <p:nvPr/>
            </p:nvSpPr>
            <p:spPr bwMode="auto">
              <a:xfrm>
                <a:off x="1029" y="2795"/>
                <a:ext cx="363" cy="318"/>
              </a:xfrm>
              <a:prstGeom prst="rect">
                <a:avLst/>
              </a:prstGeom>
              <a:solidFill>
                <a:srgbClr val="00FFCC"/>
              </a:solidFill>
              <a:ln w="9525">
                <a:solidFill>
                  <a:schemeClr val="tx1"/>
                </a:solidFill>
                <a:miter lim="800000"/>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4391" name="Oval 8"/>
              <p:cNvSpPr>
                <a:spLocks noChangeArrowheads="1"/>
              </p:cNvSpPr>
              <p:nvPr/>
            </p:nvSpPr>
            <p:spPr bwMode="auto">
              <a:xfrm>
                <a:off x="1151" y="2880"/>
                <a:ext cx="141" cy="65"/>
              </a:xfrm>
              <a:prstGeom prst="ellipse">
                <a:avLst/>
              </a:prstGeom>
              <a:solidFill>
                <a:schemeClr val="tx1"/>
              </a:solidFill>
              <a:ln w="25400">
                <a:no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4392" name="AutoShape 9"/>
              <p:cNvSpPr>
                <a:spLocks noChangeArrowheads="1"/>
              </p:cNvSpPr>
              <p:nvPr/>
            </p:nvSpPr>
            <p:spPr bwMode="auto">
              <a:xfrm flipV="1">
                <a:off x="1151" y="2915"/>
                <a:ext cx="139" cy="1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6 w 21600"/>
                  <a:gd name="T13" fmla="*/ 4441 h 21600"/>
                  <a:gd name="T14" fmla="*/ 17094 w 21600"/>
                  <a:gd name="T15" fmla="*/ 17159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tx1"/>
              </a:solidFill>
              <a:ln w="25400">
                <a:noFill/>
                <a:miter lim="800000"/>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sp>
          <p:nvSpPr>
            <p:cNvPr id="14340" name="Text Box 11"/>
            <p:cNvSpPr txBox="1">
              <a:spLocks noChangeArrowheads="1"/>
            </p:cNvSpPr>
            <p:nvPr/>
          </p:nvSpPr>
          <p:spPr bwMode="auto">
            <a:xfrm>
              <a:off x="3384128" y="2411685"/>
              <a:ext cx="1022713" cy="760778"/>
            </a:xfrm>
            <a:prstGeom prst="rect">
              <a:avLst/>
            </a:prstGeom>
            <a:noFill/>
            <a:ln w="9525">
              <a:noFill/>
              <a:miter lim="800000"/>
              <a:headEnd/>
              <a:tailEnd/>
            </a:ln>
          </p:spPr>
          <p:txBody>
            <a:bodyPr wrap="none" lIns="100794" tIns="50397" rIns="100794" bIns="50397">
              <a:spAutoFit/>
            </a:bodyPr>
            <a:lstStyle/>
            <a:p>
              <a:pPr defTabSz="913264" fontAlgn="auto">
                <a:spcBef>
                  <a:spcPts val="0"/>
                </a:spcBef>
                <a:spcAft>
                  <a:spcPts val="0"/>
                </a:spcAft>
              </a:pPr>
              <a:r>
                <a:rPr lang="en-US" sz="1100" dirty="0">
                  <a:solidFill>
                    <a:prstClr val="black"/>
                  </a:solidFill>
                  <a:latin typeface="Calibri"/>
                </a:rPr>
                <a:t>object </a:t>
              </a:r>
            </a:p>
            <a:p>
              <a:pPr defTabSz="913264" fontAlgn="auto">
                <a:spcBef>
                  <a:spcPts val="0"/>
                </a:spcBef>
                <a:spcAft>
                  <a:spcPts val="0"/>
                </a:spcAft>
              </a:pPr>
              <a:r>
                <a:rPr lang="en-US" sz="1100" dirty="0">
                  <a:solidFill>
                    <a:prstClr val="black"/>
                  </a:solidFill>
                  <a:latin typeface="Calibri"/>
                </a:rPr>
                <a:t>lock</a:t>
              </a:r>
            </a:p>
          </p:txBody>
        </p:sp>
        <p:sp>
          <p:nvSpPr>
            <p:cNvPr id="14382" name="Text Box 25"/>
            <p:cNvSpPr txBox="1">
              <a:spLocks noChangeArrowheads="1"/>
            </p:cNvSpPr>
            <p:nvPr/>
          </p:nvSpPr>
          <p:spPr bwMode="auto">
            <a:xfrm>
              <a:off x="6480472" y="5652044"/>
              <a:ext cx="1080118" cy="425404"/>
            </a:xfrm>
            <a:prstGeom prst="rect">
              <a:avLst/>
            </a:prstGeom>
            <a:noFill/>
            <a:ln w="9525">
              <a:noFill/>
              <a:miter lim="800000"/>
              <a:headEnd/>
              <a:tailEnd/>
            </a:ln>
          </p:spPr>
          <p:txBody>
            <a:bodyPr wrap="square">
              <a:spAutoFit/>
            </a:bodyPr>
            <a:lstStyle/>
            <a:p>
              <a:pPr defTabSz="913264" fontAlgn="auto">
                <a:spcBef>
                  <a:spcPts val="0"/>
                </a:spcBef>
                <a:spcAft>
                  <a:spcPts val="0"/>
                </a:spcAft>
              </a:pPr>
              <a:r>
                <a:rPr lang="en-US" sz="1000" dirty="0" err="1">
                  <a:solidFill>
                    <a:prstClr val="black"/>
                  </a:solidFill>
                  <a:latin typeface="Calibri"/>
                </a:rPr>
                <a:t>Enq</a:t>
              </a:r>
              <a:r>
                <a:rPr lang="en-US" sz="1000" dirty="0">
                  <a:solidFill>
                    <a:prstClr val="black"/>
                  </a:solidFill>
                  <a:latin typeface="Calibri"/>
                </a:rPr>
                <a:t>(a)</a:t>
              </a:r>
              <a:endParaRPr lang="en-US" sz="900" dirty="0">
                <a:solidFill>
                  <a:prstClr val="black"/>
                </a:solidFill>
                <a:latin typeface="Calibri"/>
              </a:endParaRPr>
            </a:p>
          </p:txBody>
        </p:sp>
        <p:sp>
          <p:nvSpPr>
            <p:cNvPr id="14360" name="Text Box 32"/>
            <p:cNvSpPr txBox="1">
              <a:spLocks noChangeArrowheads="1"/>
            </p:cNvSpPr>
            <p:nvPr/>
          </p:nvSpPr>
          <p:spPr bwMode="auto">
            <a:xfrm>
              <a:off x="4543870" y="3491805"/>
              <a:ext cx="879091" cy="451992"/>
            </a:xfrm>
            <a:prstGeom prst="rect">
              <a:avLst/>
            </a:prstGeom>
            <a:noFill/>
            <a:ln w="9525">
              <a:noFill/>
              <a:miter lim="800000"/>
              <a:headEnd/>
              <a:tailEnd/>
            </a:ln>
          </p:spPr>
          <p:txBody>
            <a:bodyPr wrap="none">
              <a:spAutoFit/>
            </a:bodyPr>
            <a:lstStyle/>
            <a:p>
              <a:pPr defTabSz="913264" fontAlgn="auto">
                <a:spcBef>
                  <a:spcPts val="0"/>
                </a:spcBef>
                <a:spcAft>
                  <a:spcPts val="0"/>
                </a:spcAft>
              </a:pPr>
              <a:r>
                <a:rPr lang="en-US" sz="1100" dirty="0">
                  <a:solidFill>
                    <a:prstClr val="black"/>
                  </a:solidFill>
                  <a:latin typeface="Calibri"/>
                </a:rPr>
                <a:t>Head</a:t>
              </a:r>
            </a:p>
          </p:txBody>
        </p:sp>
        <p:sp>
          <p:nvSpPr>
            <p:cNvPr id="14361" name="Rectangle 33"/>
            <p:cNvSpPr>
              <a:spLocks noChangeArrowheads="1"/>
            </p:cNvSpPr>
            <p:nvPr/>
          </p:nvSpPr>
          <p:spPr bwMode="auto">
            <a:xfrm>
              <a:off x="4673246" y="3986787"/>
              <a:ext cx="394731" cy="416207"/>
            </a:xfrm>
            <a:prstGeom prst="rect">
              <a:avLst/>
            </a:prstGeom>
            <a:solidFill>
              <a:srgbClr val="00FFCC"/>
            </a:solidFill>
            <a:ln w="9525">
              <a:solidFill>
                <a:schemeClr val="tx1"/>
              </a:solidFill>
              <a:miter lim="800000"/>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4362" name="Freeform 34"/>
            <p:cNvSpPr>
              <a:spLocks/>
            </p:cNvSpPr>
            <p:nvPr/>
          </p:nvSpPr>
          <p:spPr bwMode="auto">
            <a:xfrm>
              <a:off x="4844087" y="4139877"/>
              <a:ext cx="422311" cy="850994"/>
            </a:xfrm>
            <a:custGeom>
              <a:avLst/>
              <a:gdLst>
                <a:gd name="T0" fmla="*/ 0 w 272"/>
                <a:gd name="T1" fmla="*/ 0 h 499"/>
                <a:gd name="T2" fmla="*/ 1 w 272"/>
                <a:gd name="T3" fmla="*/ 3 h 499"/>
                <a:gd name="T4" fmla="*/ 1 w 272"/>
                <a:gd name="T5" fmla="*/ 6 h 499"/>
                <a:gd name="T6" fmla="*/ 0 60000 65536"/>
                <a:gd name="T7" fmla="*/ 0 60000 65536"/>
                <a:gd name="T8" fmla="*/ 0 60000 65536"/>
                <a:gd name="T9" fmla="*/ 0 w 272"/>
                <a:gd name="T10" fmla="*/ 0 h 499"/>
                <a:gd name="T11" fmla="*/ 272 w 272"/>
                <a:gd name="T12" fmla="*/ 499 h 499"/>
              </a:gdLst>
              <a:ahLst/>
              <a:cxnLst>
                <a:cxn ang="T6">
                  <a:pos x="T0" y="T1"/>
                </a:cxn>
                <a:cxn ang="T7">
                  <a:pos x="T2" y="T3"/>
                </a:cxn>
                <a:cxn ang="T8">
                  <a:pos x="T4" y="T5"/>
                </a:cxn>
              </a:cxnLst>
              <a:rect l="T9" t="T10" r="T11" b="T12"/>
              <a:pathLst>
                <a:path w="272" h="499">
                  <a:moveTo>
                    <a:pt x="0" y="0"/>
                  </a:moveTo>
                  <a:cubicBezTo>
                    <a:pt x="0" y="72"/>
                    <a:pt x="0" y="144"/>
                    <a:pt x="45" y="227"/>
                  </a:cubicBezTo>
                  <a:cubicBezTo>
                    <a:pt x="90" y="310"/>
                    <a:pt x="181" y="404"/>
                    <a:pt x="272" y="499"/>
                  </a:cubicBezTo>
                </a:path>
              </a:pathLst>
            </a:custGeom>
            <a:noFill/>
            <a:ln w="28575">
              <a:solidFill>
                <a:schemeClr val="tx1"/>
              </a:solidFill>
              <a:round/>
              <a:headEnd/>
              <a:tailEnd type="triangle" w="med" len="med"/>
            </a:ln>
          </p:spPr>
          <p:txBody>
            <a:bodyPr/>
            <a:lstStyle/>
            <a:p>
              <a:pPr defTabSz="913264" fontAlgn="auto">
                <a:spcBef>
                  <a:spcPts val="0"/>
                </a:spcBef>
                <a:spcAft>
                  <a:spcPts val="0"/>
                </a:spcAft>
              </a:pPr>
              <a:endParaRPr lang="en-US" sz="2200" dirty="0">
                <a:solidFill>
                  <a:prstClr val="black"/>
                </a:solidFill>
                <a:latin typeface="Calibri"/>
              </a:endParaRPr>
            </a:p>
          </p:txBody>
        </p:sp>
        <p:sp>
          <p:nvSpPr>
            <p:cNvPr id="89" name="Text Box 11"/>
            <p:cNvSpPr txBox="1">
              <a:spLocks noChangeArrowheads="1"/>
            </p:cNvSpPr>
            <p:nvPr/>
          </p:nvSpPr>
          <p:spPr bwMode="auto">
            <a:xfrm>
              <a:off x="5127662" y="3988157"/>
              <a:ext cx="929787" cy="468311"/>
            </a:xfrm>
            <a:prstGeom prst="rect">
              <a:avLst/>
            </a:prstGeom>
            <a:noFill/>
            <a:ln w="9525">
              <a:noFill/>
              <a:miter lim="800000"/>
              <a:headEnd/>
              <a:tailEnd/>
            </a:ln>
          </p:spPr>
          <p:txBody>
            <a:bodyPr wrap="none" lIns="100794" tIns="50397" rIns="100794" bIns="50397">
              <a:spAutoFit/>
            </a:bodyPr>
            <a:lstStyle/>
            <a:p>
              <a:pPr defTabSz="913264" fontAlgn="auto">
                <a:spcBef>
                  <a:spcPts val="0"/>
                </a:spcBef>
                <a:spcAft>
                  <a:spcPts val="0"/>
                </a:spcAft>
              </a:pPr>
              <a:r>
                <a:rPr lang="en-US" sz="1100" dirty="0">
                  <a:solidFill>
                    <a:srgbClr val="FF0000"/>
                  </a:solidFill>
                  <a:latin typeface="Calibri"/>
                </a:rPr>
                <a:t>CAS()</a:t>
              </a:r>
            </a:p>
          </p:txBody>
        </p:sp>
        <p:grpSp>
          <p:nvGrpSpPr>
            <p:cNvPr id="5" name="Group 77"/>
            <p:cNvGrpSpPr>
              <a:grpSpLocks/>
            </p:cNvGrpSpPr>
            <p:nvPr/>
          </p:nvGrpSpPr>
          <p:grpSpPr bwMode="auto">
            <a:xfrm flipH="1">
              <a:off x="7992640" y="6228109"/>
              <a:ext cx="954088" cy="758825"/>
              <a:chOff x="1584" y="816"/>
              <a:chExt cx="912" cy="816"/>
            </a:xfrm>
          </p:grpSpPr>
          <p:sp>
            <p:nvSpPr>
              <p:cNvPr id="93"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94"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95"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96"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92D050"/>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97"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92D050"/>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98"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92D050"/>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99"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00"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01"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sp>
          <p:nvSpPr>
            <p:cNvPr id="105" name="Text Box 11"/>
            <p:cNvSpPr txBox="1">
              <a:spLocks noChangeArrowheads="1"/>
            </p:cNvSpPr>
            <p:nvPr/>
          </p:nvSpPr>
          <p:spPr bwMode="auto">
            <a:xfrm>
              <a:off x="6696496" y="4211886"/>
              <a:ext cx="1916877" cy="468311"/>
            </a:xfrm>
            <a:prstGeom prst="rect">
              <a:avLst/>
            </a:prstGeom>
            <a:noFill/>
            <a:ln w="9525">
              <a:noFill/>
              <a:miter lim="800000"/>
              <a:headEnd/>
              <a:tailEnd/>
            </a:ln>
          </p:spPr>
          <p:txBody>
            <a:bodyPr wrap="none" lIns="100794" tIns="50397" rIns="100794" bIns="50397">
              <a:spAutoFit/>
            </a:bodyPr>
            <a:lstStyle/>
            <a:p>
              <a:pPr defTabSz="913264" fontAlgn="auto">
                <a:spcBef>
                  <a:spcPts val="0"/>
                </a:spcBef>
                <a:spcAft>
                  <a:spcPts val="0"/>
                </a:spcAft>
              </a:pPr>
              <a:r>
                <a:rPr lang="en-US" sz="1100" dirty="0">
                  <a:solidFill>
                    <a:prstClr val="black"/>
                  </a:solidFill>
                  <a:latin typeface="Calibri"/>
                </a:rPr>
                <a:t>Publication list</a:t>
              </a:r>
            </a:p>
          </p:txBody>
        </p:sp>
        <p:grpSp>
          <p:nvGrpSpPr>
            <p:cNvPr id="6" name="Group 118"/>
            <p:cNvGrpSpPr/>
            <p:nvPr/>
          </p:nvGrpSpPr>
          <p:grpSpPr>
            <a:xfrm>
              <a:off x="8064648" y="5060273"/>
              <a:ext cx="1193353" cy="425341"/>
              <a:chOff x="7951415" y="5060273"/>
              <a:chExt cx="1193353" cy="425341"/>
            </a:xfrm>
          </p:grpSpPr>
          <p:sp>
            <p:nvSpPr>
              <p:cNvPr id="14380"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defTabSz="913264" fontAlgn="auto">
                  <a:spcBef>
                    <a:spcPts val="0"/>
                  </a:spcBef>
                  <a:spcAft>
                    <a:spcPts val="0"/>
                  </a:spcAft>
                </a:pPr>
                <a:endParaRPr lang="en-US" sz="1000" dirty="0">
                  <a:solidFill>
                    <a:prstClr val="black"/>
                  </a:solidFill>
                  <a:latin typeface="Calibri"/>
                </a:endParaRPr>
              </a:p>
            </p:txBody>
          </p:sp>
          <p:sp>
            <p:nvSpPr>
              <p:cNvPr id="14381"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4356" name="Line 26"/>
              <p:cNvSpPr>
                <a:spLocks noChangeShapeType="1"/>
              </p:cNvSpPr>
              <p:nvPr/>
            </p:nvSpPr>
            <p:spPr bwMode="auto">
              <a:xfrm flipV="1">
                <a:off x="8928744" y="5067299"/>
                <a:ext cx="215256" cy="404812"/>
              </a:xfrm>
              <a:prstGeom prst="line">
                <a:avLst/>
              </a:prstGeom>
              <a:no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16"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sp>
          <p:nvSpPr>
            <p:cNvPr id="117" name="Text Box 25"/>
            <p:cNvSpPr txBox="1">
              <a:spLocks noChangeArrowheads="1"/>
            </p:cNvSpPr>
            <p:nvPr/>
          </p:nvSpPr>
          <p:spPr bwMode="auto">
            <a:xfrm>
              <a:off x="7848625" y="5147990"/>
              <a:ext cx="936104" cy="372230"/>
            </a:xfrm>
            <a:prstGeom prst="rect">
              <a:avLst/>
            </a:prstGeom>
            <a:noFill/>
            <a:ln w="9525">
              <a:noFill/>
              <a:miter lim="800000"/>
              <a:headEnd/>
              <a:tailEnd/>
            </a:ln>
          </p:spPr>
          <p:txBody>
            <a:bodyPr wrap="square">
              <a:spAutoFit/>
            </a:bodyPr>
            <a:lstStyle/>
            <a:p>
              <a:pPr defTabSz="913264" fontAlgn="auto">
                <a:spcBef>
                  <a:spcPts val="0"/>
                </a:spcBef>
                <a:spcAft>
                  <a:spcPts val="0"/>
                </a:spcAft>
              </a:pPr>
              <a:r>
                <a:rPr lang="en-US" sz="800" dirty="0" err="1">
                  <a:solidFill>
                    <a:prstClr val="black"/>
                  </a:solidFill>
                  <a:latin typeface="Calibri"/>
                </a:rPr>
                <a:t>Enq</a:t>
              </a:r>
              <a:r>
                <a:rPr lang="en-US" sz="800" dirty="0">
                  <a:solidFill>
                    <a:prstClr val="black"/>
                  </a:solidFill>
                  <a:latin typeface="Calibri"/>
                </a:rPr>
                <a:t>(b</a:t>
              </a:r>
              <a:r>
                <a:rPr lang="en-US" sz="700" dirty="0">
                  <a:solidFill>
                    <a:prstClr val="black"/>
                  </a:solidFill>
                  <a:latin typeface="Calibri"/>
                </a:rPr>
                <a:t>)</a:t>
              </a:r>
              <a:endParaRPr lang="en-US" sz="500" dirty="0">
                <a:solidFill>
                  <a:prstClr val="black"/>
                </a:solidFill>
                <a:latin typeface="Calibri"/>
              </a:endParaRPr>
            </a:p>
          </p:txBody>
        </p:sp>
        <p:grpSp>
          <p:nvGrpSpPr>
            <p:cNvPr id="7" name="Group 120"/>
            <p:cNvGrpSpPr/>
            <p:nvPr/>
          </p:nvGrpSpPr>
          <p:grpSpPr>
            <a:xfrm>
              <a:off x="6499796" y="5051220"/>
              <a:ext cx="1193353" cy="425341"/>
              <a:chOff x="7951415" y="5060273"/>
              <a:chExt cx="1193353" cy="425341"/>
            </a:xfrm>
          </p:grpSpPr>
          <p:sp>
            <p:nvSpPr>
              <p:cNvPr id="122"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defTabSz="913264" fontAlgn="auto">
                  <a:spcBef>
                    <a:spcPts val="0"/>
                  </a:spcBef>
                  <a:spcAft>
                    <a:spcPts val="0"/>
                  </a:spcAft>
                </a:pPr>
                <a:endParaRPr lang="en-US" sz="1000" dirty="0">
                  <a:solidFill>
                    <a:prstClr val="black"/>
                  </a:solidFill>
                  <a:latin typeface="Calibri"/>
                </a:endParaRPr>
              </a:p>
            </p:txBody>
          </p:sp>
          <p:sp>
            <p:nvSpPr>
              <p:cNvPr id="123"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25"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sp>
          <p:nvSpPr>
            <p:cNvPr id="14370" name="Line 47"/>
            <p:cNvSpPr>
              <a:spLocks noChangeShapeType="1"/>
            </p:cNvSpPr>
            <p:nvPr/>
          </p:nvSpPr>
          <p:spPr bwMode="auto">
            <a:xfrm flipV="1">
              <a:off x="7600950" y="5276849"/>
              <a:ext cx="457200" cy="0"/>
            </a:xfrm>
            <a:prstGeom prst="line">
              <a:avLst/>
            </a:prstGeom>
            <a:noFill/>
            <a:ln w="28575">
              <a:solidFill>
                <a:schemeClr val="tx1"/>
              </a:solidFill>
              <a:round/>
              <a:headEnd/>
              <a:tailEnd type="triangle" w="med" len="me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nvGrpSpPr>
            <p:cNvPr id="8" name="Group 127"/>
            <p:cNvGrpSpPr/>
            <p:nvPr/>
          </p:nvGrpSpPr>
          <p:grpSpPr>
            <a:xfrm>
              <a:off x="4859562" y="5032642"/>
              <a:ext cx="1193353" cy="425341"/>
              <a:chOff x="7951415" y="5060273"/>
              <a:chExt cx="1193353" cy="425341"/>
            </a:xfrm>
          </p:grpSpPr>
          <p:sp>
            <p:nvSpPr>
              <p:cNvPr id="129" name="Rectangle 23"/>
              <p:cNvSpPr>
                <a:spLocks noChangeArrowheads="1"/>
              </p:cNvSpPr>
              <p:nvPr/>
            </p:nvSpPr>
            <p:spPr bwMode="auto">
              <a:xfrm>
                <a:off x="7951415" y="5060273"/>
                <a:ext cx="1193353" cy="416683"/>
              </a:xfrm>
              <a:prstGeom prst="rect">
                <a:avLst/>
              </a:prstGeom>
              <a:solidFill>
                <a:srgbClr val="00FFCC"/>
              </a:solidFill>
              <a:ln w="9525">
                <a:solidFill>
                  <a:schemeClr val="tx1"/>
                </a:solidFill>
                <a:miter lim="800000"/>
                <a:headEnd/>
                <a:tailEnd/>
              </a:ln>
            </p:spPr>
            <p:txBody>
              <a:bodyPr wrap="none" anchor="ctr"/>
              <a:lstStyle/>
              <a:p>
                <a:pPr algn="ctr" defTabSz="913264" fontAlgn="auto">
                  <a:spcBef>
                    <a:spcPts val="0"/>
                  </a:spcBef>
                  <a:spcAft>
                    <a:spcPts val="0"/>
                  </a:spcAft>
                </a:pPr>
                <a:endParaRPr lang="en-US" sz="1000" dirty="0">
                  <a:solidFill>
                    <a:prstClr val="black"/>
                  </a:solidFill>
                  <a:latin typeface="Calibri"/>
                </a:endParaRPr>
              </a:p>
            </p:txBody>
          </p:sp>
          <p:sp>
            <p:nvSpPr>
              <p:cNvPr id="130" name="Line 24"/>
              <p:cNvSpPr>
                <a:spLocks noChangeShapeType="1"/>
              </p:cNvSpPr>
              <p:nvPr/>
            </p:nvSpPr>
            <p:spPr bwMode="auto">
              <a:xfrm>
                <a:off x="8921267" y="5068931"/>
                <a:ext cx="0" cy="416683"/>
              </a:xfrm>
              <a:prstGeom prst="line">
                <a:avLst/>
              </a:prstGeom>
              <a:no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31" name="Line 24"/>
              <p:cNvSpPr>
                <a:spLocks noChangeShapeType="1"/>
              </p:cNvSpPr>
              <p:nvPr/>
            </p:nvSpPr>
            <p:spPr bwMode="auto">
              <a:xfrm>
                <a:off x="8601982" y="5062731"/>
                <a:ext cx="0" cy="416683"/>
              </a:xfrm>
              <a:prstGeom prst="line">
                <a:avLst/>
              </a:prstGeom>
              <a:no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sp>
          <p:nvSpPr>
            <p:cNvPr id="140" name="Rectangle 33"/>
            <p:cNvSpPr>
              <a:spLocks noChangeArrowheads="1"/>
            </p:cNvSpPr>
            <p:nvPr/>
          </p:nvSpPr>
          <p:spPr bwMode="auto">
            <a:xfrm>
              <a:off x="2863084" y="3491805"/>
              <a:ext cx="466739" cy="560223"/>
            </a:xfrm>
            <a:prstGeom prst="rect">
              <a:avLst/>
            </a:prstGeom>
            <a:solidFill>
              <a:srgbClr val="00FFCC"/>
            </a:solidFill>
            <a:ln w="9525">
              <a:solidFill>
                <a:schemeClr val="tx1"/>
              </a:solidFill>
              <a:miter lim="800000"/>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41" name="Text Box 11"/>
            <p:cNvSpPr txBox="1">
              <a:spLocks noChangeArrowheads="1"/>
            </p:cNvSpPr>
            <p:nvPr/>
          </p:nvSpPr>
          <p:spPr bwMode="auto">
            <a:xfrm>
              <a:off x="2159992" y="2915741"/>
              <a:ext cx="1193431" cy="468311"/>
            </a:xfrm>
            <a:prstGeom prst="rect">
              <a:avLst/>
            </a:prstGeom>
            <a:noFill/>
            <a:ln w="9525">
              <a:noFill/>
              <a:miter lim="800000"/>
              <a:headEnd/>
              <a:tailEnd/>
            </a:ln>
          </p:spPr>
          <p:txBody>
            <a:bodyPr wrap="none" lIns="100794" tIns="50397" rIns="100794" bIns="50397">
              <a:spAutoFit/>
            </a:bodyPr>
            <a:lstStyle/>
            <a:p>
              <a:pPr defTabSz="913264" fontAlgn="auto">
                <a:spcBef>
                  <a:spcPts val="0"/>
                </a:spcBef>
                <a:spcAft>
                  <a:spcPts val="0"/>
                </a:spcAft>
              </a:pPr>
              <a:r>
                <a:rPr lang="en-US" sz="1100" dirty="0">
                  <a:solidFill>
                    <a:prstClr val="black"/>
                  </a:solidFill>
                  <a:latin typeface="Calibri"/>
                </a:rPr>
                <a:t>counter</a:t>
              </a:r>
            </a:p>
          </p:txBody>
        </p:sp>
        <p:sp>
          <p:nvSpPr>
            <p:cNvPr id="142" name="Text Box 11"/>
            <p:cNvSpPr txBox="1">
              <a:spLocks noChangeArrowheads="1"/>
            </p:cNvSpPr>
            <p:nvPr/>
          </p:nvSpPr>
          <p:spPr bwMode="auto">
            <a:xfrm>
              <a:off x="2808065" y="3491805"/>
              <a:ext cx="621724" cy="468311"/>
            </a:xfrm>
            <a:prstGeom prst="rect">
              <a:avLst/>
            </a:prstGeom>
            <a:noFill/>
            <a:ln w="9525">
              <a:noFill/>
              <a:miter lim="800000"/>
              <a:headEnd/>
              <a:tailEnd/>
            </a:ln>
          </p:spPr>
          <p:txBody>
            <a:bodyPr wrap="none" lIns="100794" tIns="50397" rIns="100794" bIns="50397">
              <a:spAutoFit/>
            </a:bodyPr>
            <a:lstStyle/>
            <a:p>
              <a:pPr defTabSz="913264" fontAlgn="auto">
                <a:spcBef>
                  <a:spcPts val="0"/>
                </a:spcBef>
                <a:spcAft>
                  <a:spcPts val="0"/>
                </a:spcAft>
              </a:pPr>
              <a:r>
                <a:rPr lang="en-US" sz="1100" dirty="0">
                  <a:solidFill>
                    <a:prstClr val="black"/>
                  </a:solidFill>
                  <a:latin typeface="Calibri"/>
                </a:rPr>
                <a:t>54</a:t>
              </a:r>
            </a:p>
          </p:txBody>
        </p:sp>
        <p:sp>
          <p:nvSpPr>
            <p:cNvPr id="143" name="Text Box 11"/>
            <p:cNvSpPr txBox="1">
              <a:spLocks noChangeArrowheads="1"/>
            </p:cNvSpPr>
            <p:nvPr/>
          </p:nvSpPr>
          <p:spPr bwMode="auto">
            <a:xfrm>
              <a:off x="8640712" y="5075982"/>
              <a:ext cx="575081" cy="415136"/>
            </a:xfrm>
            <a:prstGeom prst="rect">
              <a:avLst/>
            </a:prstGeom>
            <a:noFill/>
            <a:ln w="9525">
              <a:noFill/>
              <a:miter lim="800000"/>
              <a:headEnd/>
              <a:tailEnd/>
            </a:ln>
          </p:spPr>
          <p:txBody>
            <a:bodyPr wrap="none" lIns="100794" tIns="50397" rIns="100794" bIns="50397">
              <a:spAutoFit/>
            </a:bodyPr>
            <a:lstStyle/>
            <a:p>
              <a:pPr defTabSz="913264" fontAlgn="auto">
                <a:spcBef>
                  <a:spcPts val="0"/>
                </a:spcBef>
                <a:spcAft>
                  <a:spcPts val="0"/>
                </a:spcAft>
              </a:pPr>
              <a:r>
                <a:rPr lang="en-US" sz="900" dirty="0">
                  <a:solidFill>
                    <a:prstClr val="black"/>
                  </a:solidFill>
                  <a:latin typeface="Calibri"/>
                </a:rPr>
                <a:t>54</a:t>
              </a:r>
            </a:p>
          </p:txBody>
        </p:sp>
        <p:sp>
          <p:nvSpPr>
            <p:cNvPr id="144" name="Text Box 11"/>
            <p:cNvSpPr txBox="1">
              <a:spLocks noChangeArrowheads="1"/>
            </p:cNvSpPr>
            <p:nvPr/>
          </p:nvSpPr>
          <p:spPr bwMode="auto">
            <a:xfrm>
              <a:off x="7128545" y="5075982"/>
              <a:ext cx="575081" cy="415136"/>
            </a:xfrm>
            <a:prstGeom prst="rect">
              <a:avLst/>
            </a:prstGeom>
            <a:noFill/>
            <a:ln w="9525">
              <a:noFill/>
              <a:miter lim="800000"/>
              <a:headEnd/>
              <a:tailEnd/>
            </a:ln>
          </p:spPr>
          <p:txBody>
            <a:bodyPr wrap="none" lIns="100794" tIns="50397" rIns="100794" bIns="50397">
              <a:spAutoFit/>
            </a:bodyPr>
            <a:lstStyle/>
            <a:p>
              <a:pPr defTabSz="913264" fontAlgn="auto">
                <a:spcBef>
                  <a:spcPts val="0"/>
                </a:spcBef>
                <a:spcAft>
                  <a:spcPts val="0"/>
                </a:spcAft>
              </a:pPr>
              <a:r>
                <a:rPr lang="en-US" sz="900" dirty="0">
                  <a:solidFill>
                    <a:prstClr val="black"/>
                  </a:solidFill>
                  <a:latin typeface="Calibri"/>
                </a:rPr>
                <a:t>12</a:t>
              </a:r>
            </a:p>
          </p:txBody>
        </p:sp>
        <p:sp>
          <p:nvSpPr>
            <p:cNvPr id="145" name="Text Box 11"/>
            <p:cNvSpPr txBox="1">
              <a:spLocks noChangeArrowheads="1"/>
            </p:cNvSpPr>
            <p:nvPr/>
          </p:nvSpPr>
          <p:spPr bwMode="auto">
            <a:xfrm>
              <a:off x="5472358" y="5075982"/>
              <a:ext cx="575081" cy="415136"/>
            </a:xfrm>
            <a:prstGeom prst="rect">
              <a:avLst/>
            </a:prstGeom>
            <a:noFill/>
            <a:ln w="9525">
              <a:noFill/>
              <a:miter lim="800000"/>
              <a:headEnd/>
              <a:tailEnd/>
            </a:ln>
          </p:spPr>
          <p:txBody>
            <a:bodyPr wrap="none" lIns="100794" tIns="50397" rIns="100794" bIns="50397">
              <a:spAutoFit/>
            </a:bodyPr>
            <a:lstStyle/>
            <a:p>
              <a:pPr defTabSz="913264" fontAlgn="auto">
                <a:spcBef>
                  <a:spcPts val="0"/>
                </a:spcBef>
                <a:spcAft>
                  <a:spcPts val="0"/>
                </a:spcAft>
              </a:pPr>
              <a:r>
                <a:rPr lang="en-US" sz="900" dirty="0">
                  <a:solidFill>
                    <a:prstClr val="black"/>
                  </a:solidFill>
                  <a:latin typeface="Calibri"/>
                </a:rPr>
                <a:t>54</a:t>
              </a:r>
            </a:p>
          </p:txBody>
        </p:sp>
        <p:sp>
          <p:nvSpPr>
            <p:cNvPr id="166" name="Text Box 25"/>
            <p:cNvSpPr txBox="1">
              <a:spLocks noChangeArrowheads="1"/>
            </p:cNvSpPr>
            <p:nvPr/>
          </p:nvSpPr>
          <p:spPr bwMode="auto">
            <a:xfrm>
              <a:off x="6336456" y="5075982"/>
              <a:ext cx="936104" cy="372230"/>
            </a:xfrm>
            <a:prstGeom prst="rect">
              <a:avLst/>
            </a:prstGeom>
            <a:noFill/>
            <a:ln w="9525">
              <a:noFill/>
              <a:miter lim="800000"/>
              <a:headEnd/>
              <a:tailEnd/>
            </a:ln>
          </p:spPr>
          <p:txBody>
            <a:bodyPr wrap="square">
              <a:spAutoFit/>
            </a:bodyPr>
            <a:lstStyle/>
            <a:p>
              <a:pPr defTabSz="913264" fontAlgn="auto">
                <a:spcBef>
                  <a:spcPts val="0"/>
                </a:spcBef>
                <a:spcAft>
                  <a:spcPts val="0"/>
                </a:spcAft>
              </a:pPr>
              <a:r>
                <a:rPr lang="en-US" sz="800" dirty="0" err="1">
                  <a:solidFill>
                    <a:prstClr val="black"/>
                  </a:solidFill>
                  <a:latin typeface="Calibri"/>
                </a:rPr>
                <a:t>Enq</a:t>
              </a:r>
              <a:r>
                <a:rPr lang="en-US" sz="800" dirty="0">
                  <a:solidFill>
                    <a:prstClr val="black"/>
                  </a:solidFill>
                  <a:latin typeface="Calibri"/>
                </a:rPr>
                <a:t>(b)</a:t>
              </a:r>
              <a:endParaRPr lang="en-US" sz="500" dirty="0">
                <a:solidFill>
                  <a:prstClr val="black"/>
                </a:solidFill>
                <a:latin typeface="Calibri"/>
              </a:endParaRPr>
            </a:p>
          </p:txBody>
        </p:sp>
        <p:grpSp>
          <p:nvGrpSpPr>
            <p:cNvPr id="9" name="Group 77"/>
            <p:cNvGrpSpPr>
              <a:grpSpLocks/>
            </p:cNvGrpSpPr>
            <p:nvPr/>
          </p:nvGrpSpPr>
          <p:grpSpPr bwMode="auto">
            <a:xfrm flipH="1">
              <a:off x="4968304" y="6228109"/>
              <a:ext cx="954088" cy="758825"/>
              <a:chOff x="1584" y="816"/>
              <a:chExt cx="912" cy="816"/>
            </a:xfrm>
          </p:grpSpPr>
          <p:sp>
            <p:nvSpPr>
              <p:cNvPr id="178"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79"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80"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81"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C000"/>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82"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C000"/>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83"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C000"/>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84"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85"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186"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sp>
          <p:nvSpPr>
            <p:cNvPr id="187" name="Text Box 25"/>
            <p:cNvSpPr txBox="1">
              <a:spLocks noChangeArrowheads="1"/>
            </p:cNvSpPr>
            <p:nvPr/>
          </p:nvSpPr>
          <p:spPr bwMode="auto">
            <a:xfrm>
              <a:off x="4824288" y="5652044"/>
              <a:ext cx="1080118" cy="425404"/>
            </a:xfrm>
            <a:prstGeom prst="rect">
              <a:avLst/>
            </a:prstGeom>
            <a:noFill/>
            <a:ln w="9525">
              <a:noFill/>
              <a:miter lim="800000"/>
              <a:headEnd/>
              <a:tailEnd/>
            </a:ln>
          </p:spPr>
          <p:txBody>
            <a:bodyPr wrap="square">
              <a:spAutoFit/>
            </a:bodyPr>
            <a:lstStyle/>
            <a:p>
              <a:pPr defTabSz="913264" fontAlgn="auto">
                <a:spcBef>
                  <a:spcPts val="0"/>
                </a:spcBef>
                <a:spcAft>
                  <a:spcPts val="0"/>
                </a:spcAft>
              </a:pPr>
              <a:r>
                <a:rPr lang="en-US" sz="1000" dirty="0" err="1">
                  <a:solidFill>
                    <a:prstClr val="black"/>
                  </a:solidFill>
                  <a:latin typeface="Calibri"/>
                </a:rPr>
                <a:t>Deq</a:t>
              </a:r>
              <a:r>
                <a:rPr lang="en-US" sz="1000" dirty="0">
                  <a:solidFill>
                    <a:prstClr val="black"/>
                  </a:solidFill>
                  <a:latin typeface="Calibri"/>
                </a:rPr>
                <a:t>()</a:t>
              </a:r>
              <a:endParaRPr lang="en-US" sz="900" dirty="0">
                <a:solidFill>
                  <a:prstClr val="black"/>
                </a:solidFill>
                <a:latin typeface="Calibri"/>
              </a:endParaRPr>
            </a:p>
          </p:txBody>
        </p:sp>
        <p:sp>
          <p:nvSpPr>
            <p:cNvPr id="189" name="Text Box 25"/>
            <p:cNvSpPr txBox="1">
              <a:spLocks noChangeArrowheads="1"/>
            </p:cNvSpPr>
            <p:nvPr/>
          </p:nvSpPr>
          <p:spPr bwMode="auto">
            <a:xfrm>
              <a:off x="4464247" y="5075982"/>
              <a:ext cx="1080118" cy="398816"/>
            </a:xfrm>
            <a:prstGeom prst="rect">
              <a:avLst/>
            </a:prstGeom>
            <a:noFill/>
            <a:ln w="9525">
              <a:noFill/>
              <a:miter lim="800000"/>
              <a:headEnd/>
              <a:tailEnd/>
            </a:ln>
          </p:spPr>
          <p:txBody>
            <a:bodyPr wrap="square">
              <a:spAutoFit/>
            </a:bodyPr>
            <a:lstStyle/>
            <a:p>
              <a:pPr defTabSz="913264" fontAlgn="auto">
                <a:spcBef>
                  <a:spcPts val="0"/>
                </a:spcBef>
                <a:spcAft>
                  <a:spcPts val="0"/>
                </a:spcAft>
              </a:pPr>
              <a:r>
                <a:rPr lang="en-US" sz="900" dirty="0" err="1">
                  <a:solidFill>
                    <a:prstClr val="black"/>
                  </a:solidFill>
                  <a:latin typeface="Calibri"/>
                </a:rPr>
                <a:t>Deq</a:t>
              </a:r>
              <a:r>
                <a:rPr lang="en-US" sz="900" dirty="0">
                  <a:solidFill>
                    <a:prstClr val="black"/>
                  </a:solidFill>
                  <a:latin typeface="Calibri"/>
                </a:rPr>
                <a:t>()</a:t>
              </a:r>
              <a:endParaRPr lang="en-US" sz="700" dirty="0">
                <a:solidFill>
                  <a:prstClr val="black"/>
                </a:solidFill>
                <a:latin typeface="Calibri"/>
              </a:endParaRPr>
            </a:p>
          </p:txBody>
        </p:sp>
        <p:sp>
          <p:nvSpPr>
            <p:cNvPr id="120" name="Line 47"/>
            <p:cNvSpPr>
              <a:spLocks noChangeShapeType="1"/>
            </p:cNvSpPr>
            <p:nvPr/>
          </p:nvSpPr>
          <p:spPr bwMode="auto">
            <a:xfrm>
              <a:off x="5934075" y="5248275"/>
              <a:ext cx="549772" cy="5667"/>
            </a:xfrm>
            <a:prstGeom prst="line">
              <a:avLst/>
            </a:prstGeom>
            <a:noFill/>
            <a:ln w="28575">
              <a:solidFill>
                <a:schemeClr val="tx1"/>
              </a:solidFill>
              <a:round/>
              <a:headEnd/>
              <a:tailEnd type="triangle" w="med" len="me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nvGrpSpPr>
            <p:cNvPr id="10" name="Group 77"/>
            <p:cNvGrpSpPr>
              <a:grpSpLocks/>
            </p:cNvGrpSpPr>
            <p:nvPr/>
          </p:nvGrpSpPr>
          <p:grpSpPr bwMode="auto">
            <a:xfrm flipH="1">
              <a:off x="6696496" y="6228109"/>
              <a:ext cx="954088" cy="758825"/>
              <a:chOff x="1584" y="816"/>
              <a:chExt cx="912" cy="816"/>
            </a:xfrm>
          </p:grpSpPr>
          <p:sp>
            <p:nvSpPr>
              <p:cNvPr id="72"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73"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74"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75"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76"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77"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78"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80"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sp>
            <p:nvSpPr>
              <p:cNvPr id="79"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2200" dirty="0">
                  <a:solidFill>
                    <a:prstClr val="black"/>
                  </a:solidFill>
                  <a:latin typeface="Calibri"/>
                </a:endParaRPr>
              </a:p>
            </p:txBody>
          </p:sp>
        </p:grpSp>
        <p:sp>
          <p:nvSpPr>
            <p:cNvPr id="167" name="Text Box 25"/>
            <p:cNvSpPr txBox="1">
              <a:spLocks noChangeArrowheads="1"/>
            </p:cNvSpPr>
            <p:nvPr/>
          </p:nvSpPr>
          <p:spPr bwMode="auto">
            <a:xfrm>
              <a:off x="8136656" y="5652044"/>
              <a:ext cx="1080118" cy="425404"/>
            </a:xfrm>
            <a:prstGeom prst="rect">
              <a:avLst/>
            </a:prstGeom>
            <a:noFill/>
            <a:ln w="9525">
              <a:noFill/>
              <a:miter lim="800000"/>
              <a:headEnd/>
              <a:tailEnd/>
            </a:ln>
          </p:spPr>
          <p:txBody>
            <a:bodyPr wrap="square">
              <a:spAutoFit/>
            </a:bodyPr>
            <a:lstStyle/>
            <a:p>
              <a:pPr defTabSz="913264" fontAlgn="auto">
                <a:spcBef>
                  <a:spcPts val="0"/>
                </a:spcBef>
                <a:spcAft>
                  <a:spcPts val="0"/>
                </a:spcAft>
              </a:pPr>
              <a:r>
                <a:rPr lang="en-US" sz="1000" dirty="0" err="1">
                  <a:solidFill>
                    <a:prstClr val="black"/>
                  </a:solidFill>
                  <a:latin typeface="Calibri"/>
                </a:rPr>
                <a:t>Enq</a:t>
              </a:r>
              <a:r>
                <a:rPr lang="en-US" sz="1000" dirty="0">
                  <a:solidFill>
                    <a:prstClr val="black"/>
                  </a:solidFill>
                  <a:latin typeface="Calibri"/>
                </a:rPr>
                <a:t>(b)</a:t>
              </a:r>
              <a:endParaRPr lang="en-US" sz="900" dirty="0">
                <a:solidFill>
                  <a:prstClr val="black"/>
                </a:solidFill>
                <a:latin typeface="Calibri"/>
              </a:endParaRPr>
            </a:p>
          </p:txBody>
        </p:sp>
      </p:grpSp>
      <p:sp>
        <p:nvSpPr>
          <p:cNvPr id="83" name="Rectangle 82"/>
          <p:cNvSpPr/>
          <p:nvPr/>
        </p:nvSpPr>
        <p:spPr>
          <a:xfrm>
            <a:off x="195728" y="2227834"/>
            <a:ext cx="1640542" cy="154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endParaRPr lang="en-US" sz="1800" dirty="0">
              <a:solidFill>
                <a:prstClr val="white"/>
              </a:solidFill>
              <a:latin typeface="Calibri"/>
            </a:endParaRPr>
          </a:p>
        </p:txBody>
      </p:sp>
    </p:spTree>
    <p:extLst>
      <p:ext uri="{BB962C8B-B14F-4D97-AF65-F5344CB8AC3E}">
        <p14:creationId xmlns:p14="http://schemas.microsoft.com/office/powerpoint/2010/main" val="2832928510"/>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 name="Picture 17" descr="SkipQueue.eps"/>
          <p:cNvPicPr>
            <a:picLocks noChangeAspect="1"/>
          </p:cNvPicPr>
          <p:nvPr/>
        </p:nvPicPr>
        <p:blipFill>
          <a:blip r:embed="rId3" cstate="print"/>
          <a:stretch>
            <a:fillRect/>
          </a:stretch>
        </p:blipFill>
        <p:spPr>
          <a:xfrm>
            <a:off x="1502079" y="1599918"/>
            <a:ext cx="14616024" cy="3772273"/>
          </a:xfrm>
          <a:prstGeom prst="rect">
            <a:avLst/>
          </a:prstGeom>
        </p:spPr>
      </p:pic>
      <p:sp>
        <p:nvSpPr>
          <p:cNvPr id="23" name="Rectangle 22"/>
          <p:cNvSpPr/>
          <p:nvPr/>
        </p:nvSpPr>
        <p:spPr>
          <a:xfrm>
            <a:off x="1371442" y="5127435"/>
            <a:ext cx="3592462" cy="946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endParaRPr lang="en-US" sz="1800">
              <a:solidFill>
                <a:prstClr val="white"/>
              </a:solidFill>
              <a:latin typeface="Calibri"/>
            </a:endParaRPr>
          </a:p>
        </p:txBody>
      </p:sp>
      <p:sp>
        <p:nvSpPr>
          <p:cNvPr id="14338" name="Rectangle 2"/>
          <p:cNvSpPr>
            <a:spLocks noGrp="1" noChangeArrowheads="1"/>
          </p:cNvSpPr>
          <p:nvPr>
            <p:ph type="title"/>
          </p:nvPr>
        </p:nvSpPr>
        <p:spPr>
          <a:xfrm>
            <a:off x="783585" y="424079"/>
            <a:ext cx="7772400" cy="1143000"/>
          </a:xfrm>
        </p:spPr>
        <p:txBody>
          <a:bodyPr/>
          <a:lstStyle/>
          <a:p>
            <a:r>
              <a:rPr lang="en-US" dirty="0"/>
              <a:t>Flat Combining Priority Queue</a:t>
            </a:r>
          </a:p>
        </p:txBody>
      </p:sp>
      <p:sp>
        <p:nvSpPr>
          <p:cNvPr id="17" name="Text Box 11"/>
          <p:cNvSpPr txBox="1">
            <a:spLocks noChangeArrowheads="1"/>
          </p:cNvSpPr>
          <p:nvPr/>
        </p:nvSpPr>
        <p:spPr bwMode="auto">
          <a:xfrm>
            <a:off x="2155254" y="5584714"/>
            <a:ext cx="6397019" cy="430762"/>
          </a:xfrm>
          <a:prstGeom prst="rect">
            <a:avLst/>
          </a:prstGeom>
          <a:noFill/>
          <a:ln w="9525">
            <a:noFill/>
            <a:miter lim="800000"/>
            <a:headEnd/>
            <a:tailEnd/>
          </a:ln>
        </p:spPr>
        <p:txBody>
          <a:bodyPr wrap="none" lIns="91311" tIns="45658" rIns="91311" bIns="45658">
            <a:spAutoFit/>
          </a:bodyPr>
          <a:lstStyle/>
          <a:p>
            <a:pPr defTabSz="913264" fontAlgn="auto">
              <a:spcBef>
                <a:spcPts val="0"/>
              </a:spcBef>
              <a:spcAft>
                <a:spcPts val="0"/>
              </a:spcAft>
            </a:pPr>
            <a:r>
              <a:rPr lang="en-US" sz="2200" dirty="0">
                <a:solidFill>
                  <a:prstClr val="black"/>
                </a:solidFill>
                <a:latin typeface="Calibri"/>
              </a:rPr>
              <a:t>traverse to find </a:t>
            </a:r>
            <a:r>
              <a:rPr lang="en-US" sz="2200" dirty="0" err="1">
                <a:solidFill>
                  <a:srgbClr val="0070C0"/>
                </a:solidFill>
                <a:latin typeface="Calibri"/>
              </a:rPr>
              <a:t>kth</a:t>
            </a:r>
            <a:r>
              <a:rPr lang="en-US" sz="2200" dirty="0">
                <a:solidFill>
                  <a:srgbClr val="0070C0"/>
                </a:solidFill>
                <a:latin typeface="Calibri"/>
              </a:rPr>
              <a:t> key</a:t>
            </a:r>
            <a:r>
              <a:rPr lang="en-US" sz="2200" dirty="0">
                <a:solidFill>
                  <a:prstClr val="black"/>
                </a:solidFill>
                <a:latin typeface="Calibri"/>
              </a:rPr>
              <a:t>, collect values to be returned</a:t>
            </a:r>
          </a:p>
        </p:txBody>
      </p:sp>
      <p:sp>
        <p:nvSpPr>
          <p:cNvPr id="19" name="Rectangle 18"/>
          <p:cNvSpPr/>
          <p:nvPr/>
        </p:nvSpPr>
        <p:spPr>
          <a:xfrm>
            <a:off x="8556367" y="1469281"/>
            <a:ext cx="5094764" cy="49314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endParaRPr lang="en-US" sz="1800">
              <a:solidFill>
                <a:prstClr val="white"/>
              </a:solidFill>
              <a:latin typeface="Calibri"/>
            </a:endParaRPr>
          </a:p>
        </p:txBody>
      </p:sp>
      <p:sp>
        <p:nvSpPr>
          <p:cNvPr id="20" name="Rectangle 19"/>
          <p:cNvSpPr/>
          <p:nvPr/>
        </p:nvSpPr>
        <p:spPr>
          <a:xfrm>
            <a:off x="1306125" y="1338620"/>
            <a:ext cx="1241032" cy="946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endParaRPr lang="en-US" sz="1800">
              <a:solidFill>
                <a:prstClr val="white"/>
              </a:solidFill>
              <a:latin typeface="Calibri"/>
            </a:endParaRPr>
          </a:p>
        </p:txBody>
      </p:sp>
      <p:sp>
        <p:nvSpPr>
          <p:cNvPr id="21" name="Rectangle 20"/>
          <p:cNvSpPr/>
          <p:nvPr/>
        </p:nvSpPr>
        <p:spPr>
          <a:xfrm>
            <a:off x="9021194" y="6303273"/>
            <a:ext cx="906840" cy="6929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endParaRPr lang="en-US" sz="1800">
              <a:solidFill>
                <a:prstClr val="white"/>
              </a:solidFill>
              <a:latin typeface="Calibri"/>
            </a:endParaRPr>
          </a:p>
        </p:txBody>
      </p:sp>
      <p:sp>
        <p:nvSpPr>
          <p:cNvPr id="16" name="Text Box 11"/>
          <p:cNvSpPr txBox="1">
            <a:spLocks noChangeArrowheads="1"/>
          </p:cNvSpPr>
          <p:nvPr/>
        </p:nvSpPr>
        <p:spPr bwMode="auto">
          <a:xfrm>
            <a:off x="3200332" y="1665247"/>
            <a:ext cx="3594331" cy="430762"/>
          </a:xfrm>
          <a:prstGeom prst="rect">
            <a:avLst/>
          </a:prstGeom>
          <a:noFill/>
          <a:ln w="9525">
            <a:noFill/>
            <a:miter lim="800000"/>
            <a:headEnd/>
            <a:tailEnd/>
          </a:ln>
        </p:spPr>
        <p:txBody>
          <a:bodyPr wrap="none" lIns="91311" tIns="45658" rIns="91311" bIns="45658">
            <a:spAutoFit/>
          </a:bodyPr>
          <a:lstStyle/>
          <a:p>
            <a:pPr defTabSz="913264" fontAlgn="auto">
              <a:spcBef>
                <a:spcPts val="0"/>
              </a:spcBef>
              <a:spcAft>
                <a:spcPts val="0"/>
              </a:spcAft>
            </a:pPr>
            <a:r>
              <a:rPr lang="en-US" sz="2200" dirty="0">
                <a:solidFill>
                  <a:prstClr val="black"/>
                </a:solidFill>
                <a:latin typeface="Calibri"/>
              </a:rPr>
              <a:t>Collect k  </a:t>
            </a:r>
            <a:r>
              <a:rPr lang="en-US" sz="2200" dirty="0" err="1">
                <a:solidFill>
                  <a:prstClr val="black"/>
                </a:solidFill>
                <a:latin typeface="Calibri"/>
              </a:rPr>
              <a:t>deleteMin</a:t>
            </a:r>
            <a:r>
              <a:rPr lang="en-US" sz="2200" dirty="0">
                <a:solidFill>
                  <a:prstClr val="black"/>
                </a:solidFill>
                <a:latin typeface="Calibri"/>
              </a:rPr>
              <a:t> requests</a:t>
            </a:r>
          </a:p>
        </p:txBody>
      </p:sp>
      <p:sp>
        <p:nvSpPr>
          <p:cNvPr id="22" name="Text Box 11"/>
          <p:cNvSpPr txBox="1">
            <a:spLocks noChangeArrowheads="1"/>
          </p:cNvSpPr>
          <p:nvPr/>
        </p:nvSpPr>
        <p:spPr bwMode="auto">
          <a:xfrm>
            <a:off x="2873745" y="1685320"/>
            <a:ext cx="4098387" cy="1107870"/>
          </a:xfrm>
          <a:prstGeom prst="rect">
            <a:avLst/>
          </a:prstGeom>
          <a:solidFill>
            <a:schemeClr val="bg1"/>
          </a:solidFill>
          <a:ln w="9525">
            <a:noFill/>
            <a:miter lim="800000"/>
            <a:headEnd/>
            <a:tailEnd/>
          </a:ln>
        </p:spPr>
        <p:txBody>
          <a:bodyPr wrap="none" lIns="91311" tIns="45658" rIns="91311" bIns="45658">
            <a:spAutoFit/>
          </a:bodyPr>
          <a:lstStyle/>
          <a:p>
            <a:pPr defTabSz="913264" fontAlgn="auto">
              <a:spcBef>
                <a:spcPts val="0"/>
              </a:spcBef>
              <a:spcAft>
                <a:spcPts val="0"/>
              </a:spcAft>
            </a:pPr>
            <a:r>
              <a:rPr lang="en-US" sz="2200" dirty="0">
                <a:solidFill>
                  <a:prstClr val="black"/>
                </a:solidFill>
                <a:latin typeface="Calibri"/>
              </a:rPr>
              <a:t>Traverse </a:t>
            </a:r>
            <a:r>
              <a:rPr lang="en-US" sz="2200" dirty="0" err="1">
                <a:solidFill>
                  <a:prstClr val="black"/>
                </a:solidFill>
                <a:latin typeface="Calibri"/>
              </a:rPr>
              <a:t>skiplist</a:t>
            </a:r>
            <a:r>
              <a:rPr lang="en-US" sz="2200" dirty="0">
                <a:solidFill>
                  <a:prstClr val="black"/>
                </a:solidFill>
                <a:latin typeface="Calibri"/>
              </a:rPr>
              <a:t> towards </a:t>
            </a:r>
            <a:r>
              <a:rPr lang="en-US" sz="2200" dirty="0" err="1">
                <a:solidFill>
                  <a:srgbClr val="0070C0"/>
                </a:solidFill>
                <a:latin typeface="Calibri"/>
              </a:rPr>
              <a:t>kth</a:t>
            </a:r>
            <a:r>
              <a:rPr lang="en-US" sz="2200" dirty="0">
                <a:solidFill>
                  <a:srgbClr val="0070C0"/>
                </a:solidFill>
                <a:latin typeface="Calibri"/>
              </a:rPr>
              <a:t> key</a:t>
            </a:r>
            <a:r>
              <a:rPr lang="en-US" sz="2200" dirty="0">
                <a:solidFill>
                  <a:prstClr val="black"/>
                </a:solidFill>
                <a:latin typeface="Calibri"/>
              </a:rPr>
              <a:t>, </a:t>
            </a:r>
          </a:p>
          <a:p>
            <a:pPr defTabSz="913264" fontAlgn="auto">
              <a:spcBef>
                <a:spcPts val="0"/>
              </a:spcBef>
              <a:spcAft>
                <a:spcPts val="0"/>
              </a:spcAft>
            </a:pPr>
            <a:r>
              <a:rPr lang="en-US" sz="2200" dirty="0">
                <a:solidFill>
                  <a:prstClr val="black"/>
                </a:solidFill>
                <a:latin typeface="Calibri"/>
              </a:rPr>
              <a:t>removing all nodes below your</a:t>
            </a:r>
          </a:p>
          <a:p>
            <a:pPr defTabSz="913264" fontAlgn="auto">
              <a:spcBef>
                <a:spcPts val="0"/>
              </a:spcBef>
              <a:spcAft>
                <a:spcPts val="0"/>
              </a:spcAft>
            </a:pPr>
            <a:r>
              <a:rPr lang="en-US" sz="2200" dirty="0">
                <a:solidFill>
                  <a:prstClr val="black"/>
                </a:solidFill>
                <a:latin typeface="Calibri"/>
              </a:rPr>
              <a:t>path</a:t>
            </a:r>
          </a:p>
        </p:txBody>
      </p:sp>
      <p:sp>
        <p:nvSpPr>
          <p:cNvPr id="24" name="Text Box 11"/>
          <p:cNvSpPr txBox="1">
            <a:spLocks noChangeArrowheads="1"/>
          </p:cNvSpPr>
          <p:nvPr/>
        </p:nvSpPr>
        <p:spPr bwMode="auto">
          <a:xfrm>
            <a:off x="827588" y="1484784"/>
            <a:ext cx="7642147" cy="600154"/>
          </a:xfrm>
          <a:prstGeom prst="rect">
            <a:avLst/>
          </a:prstGeom>
          <a:solidFill>
            <a:schemeClr val="bg1"/>
          </a:solidFill>
          <a:ln w="9525">
            <a:solidFill>
              <a:srgbClr val="3F51D7"/>
            </a:solidFill>
            <a:miter lim="800000"/>
            <a:headEnd/>
            <a:tailEnd/>
          </a:ln>
        </p:spPr>
        <p:txBody>
          <a:bodyPr wrap="square" lIns="91311" tIns="45658" rIns="91311" bIns="45658">
            <a:spAutoFit/>
          </a:bodyPr>
          <a:lstStyle/>
          <a:p>
            <a:pPr defTabSz="913264" fontAlgn="auto">
              <a:spcBef>
                <a:spcPts val="0"/>
              </a:spcBef>
              <a:spcAft>
                <a:spcPts val="0"/>
              </a:spcAft>
            </a:pPr>
            <a:r>
              <a:rPr lang="en-US" sz="3300" dirty="0">
                <a:solidFill>
                  <a:srgbClr val="3F51D7"/>
                </a:solidFill>
                <a:latin typeface="Calibri"/>
              </a:rPr>
              <a:t>k </a:t>
            </a:r>
            <a:r>
              <a:rPr lang="en-US" sz="3300" dirty="0" err="1">
                <a:solidFill>
                  <a:srgbClr val="3F51D7"/>
                </a:solidFill>
                <a:latin typeface="Calibri"/>
              </a:rPr>
              <a:t>deleteMin</a:t>
            </a:r>
            <a:r>
              <a:rPr lang="en-US" sz="3300" dirty="0">
                <a:solidFill>
                  <a:srgbClr val="3F51D7"/>
                </a:solidFill>
                <a:latin typeface="Calibri"/>
              </a:rPr>
              <a:t> operations take O(</a:t>
            </a:r>
            <a:r>
              <a:rPr lang="en-US" sz="3300" dirty="0" err="1">
                <a:solidFill>
                  <a:srgbClr val="3F51D7"/>
                </a:solidFill>
                <a:latin typeface="Calibri"/>
              </a:rPr>
              <a:t>k+log</a:t>
            </a:r>
            <a:r>
              <a:rPr lang="en-US" sz="3300" dirty="0">
                <a:solidFill>
                  <a:srgbClr val="3F51D7"/>
                </a:solidFill>
                <a:latin typeface="Calibri"/>
              </a:rPr>
              <a:t> n)</a:t>
            </a:r>
          </a:p>
        </p:txBody>
      </p:sp>
      <p:grpSp>
        <p:nvGrpSpPr>
          <p:cNvPr id="2" name="Group 77"/>
          <p:cNvGrpSpPr>
            <a:grpSpLocks/>
          </p:cNvGrpSpPr>
          <p:nvPr/>
        </p:nvGrpSpPr>
        <p:grpSpPr bwMode="auto">
          <a:xfrm flipH="1">
            <a:off x="1436760" y="5127433"/>
            <a:ext cx="865440" cy="688392"/>
            <a:chOff x="1584" y="816"/>
            <a:chExt cx="912" cy="816"/>
          </a:xfrm>
        </p:grpSpPr>
        <p:sp>
          <p:nvSpPr>
            <p:cNvPr id="7" name="Freeform 7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8" name="Freeform 7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9" name="Freeform 80"/>
            <p:cNvSpPr>
              <a:spLocks/>
            </p:cNvSpPr>
            <p:nvPr/>
          </p:nvSpPr>
          <p:spPr bwMode="auto">
            <a:xfrm>
              <a:off x="1920" y="816"/>
              <a:ext cx="144" cy="288"/>
            </a:xfrm>
            <a:custGeom>
              <a:avLst/>
              <a:gdLst>
                <a:gd name="T0" fmla="*/ 0 w 144"/>
                <a:gd name="T1" fmla="*/ 3 h 336"/>
                <a:gd name="T2" fmla="*/ 96 w 144"/>
                <a:gd name="T3" fmla="*/ 0 h 336"/>
                <a:gd name="T4" fmla="*/ 144 w 144"/>
                <a:gd name="T5" fmla="*/ 3 h 336"/>
                <a:gd name="T6" fmla="*/ 144 w 144"/>
                <a:gd name="T7" fmla="*/ 24 h 336"/>
                <a:gd name="T8" fmla="*/ 96 w 144"/>
                <a:gd name="T9" fmla="*/ 21 h 336"/>
                <a:gd name="T10" fmla="*/ 96 w 144"/>
                <a:gd name="T11" fmla="*/ 7 h 336"/>
                <a:gd name="T12" fmla="*/ 0 w 144"/>
                <a:gd name="T13" fmla="*/ 11 h 336"/>
                <a:gd name="T14" fmla="*/ 0 w 144"/>
                <a:gd name="T15" fmla="*/ 3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10" name="Freeform 8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11" name="Freeform 8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12" name="Freeform 8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13" name="Freeform 84"/>
            <p:cNvSpPr>
              <a:spLocks/>
            </p:cNvSpPr>
            <p:nvPr/>
          </p:nvSpPr>
          <p:spPr bwMode="auto">
            <a:xfrm>
              <a:off x="1920" y="1296"/>
              <a:ext cx="240" cy="336"/>
            </a:xfrm>
            <a:custGeom>
              <a:avLst/>
              <a:gdLst>
                <a:gd name="T0" fmla="*/ 1 w 336"/>
                <a:gd name="T1" fmla="*/ 0 h 432"/>
                <a:gd name="T2" fmla="*/ 1 w 336"/>
                <a:gd name="T3" fmla="*/ 2 h 432"/>
                <a:gd name="T4" fmla="*/ 1 w 336"/>
                <a:gd name="T5" fmla="*/ 2 h 432"/>
                <a:gd name="T6" fmla="*/ 1 w 336"/>
                <a:gd name="T7" fmla="*/ 5 h 432"/>
                <a:gd name="T8" fmla="*/ 0 w 336"/>
                <a:gd name="T9" fmla="*/ 4 h 432"/>
                <a:gd name="T10" fmla="*/ 0 w 336"/>
                <a:gd name="T11" fmla="*/ 2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14" name="Freeform 86"/>
            <p:cNvSpPr>
              <a:spLocks/>
            </p:cNvSpPr>
            <p:nvPr/>
          </p:nvSpPr>
          <p:spPr bwMode="auto">
            <a:xfrm>
              <a:off x="1584" y="1008"/>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sp>
          <p:nvSpPr>
            <p:cNvPr id="15" name="Freeform 85"/>
            <p:cNvSpPr>
              <a:spLocks/>
            </p:cNvSpPr>
            <p:nvPr/>
          </p:nvSpPr>
          <p:spPr bwMode="auto">
            <a:xfrm>
              <a:off x="1728" y="1152"/>
              <a:ext cx="240"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defTabSz="913264" fontAlgn="auto">
                <a:spcBef>
                  <a:spcPts val="0"/>
                </a:spcBef>
                <a:spcAft>
                  <a:spcPts val="0"/>
                </a:spcAft>
              </a:pPr>
              <a:endParaRPr lang="en-US" sz="1800">
                <a:solidFill>
                  <a:prstClr val="black"/>
                </a:solidFill>
                <a:latin typeface="Calibri"/>
              </a:endParaRPr>
            </a:p>
          </p:txBody>
        </p:sp>
      </p:grpSp>
      <p:sp>
        <p:nvSpPr>
          <p:cNvPr id="26" name="Freeform 25"/>
          <p:cNvSpPr/>
          <p:nvPr/>
        </p:nvSpPr>
        <p:spPr>
          <a:xfrm>
            <a:off x="2727960" y="3505200"/>
            <a:ext cx="3611880" cy="1493520"/>
          </a:xfrm>
          <a:custGeom>
            <a:avLst/>
            <a:gdLst>
              <a:gd name="connsiteX0" fmla="*/ 45720 w 3611880"/>
              <a:gd name="connsiteY0" fmla="*/ 0 h 1493520"/>
              <a:gd name="connsiteX1" fmla="*/ 1767840 w 3611880"/>
              <a:gd name="connsiteY1" fmla="*/ 0 h 1493520"/>
              <a:gd name="connsiteX2" fmla="*/ 1783080 w 3611880"/>
              <a:gd name="connsiteY2" fmla="*/ 518160 h 1493520"/>
              <a:gd name="connsiteX3" fmla="*/ 2895600 w 3611880"/>
              <a:gd name="connsiteY3" fmla="*/ 518160 h 1493520"/>
              <a:gd name="connsiteX4" fmla="*/ 2895600 w 3611880"/>
              <a:gd name="connsiteY4" fmla="*/ 914400 h 1493520"/>
              <a:gd name="connsiteX5" fmla="*/ 3611880 w 3611880"/>
              <a:gd name="connsiteY5" fmla="*/ 914400 h 1493520"/>
              <a:gd name="connsiteX6" fmla="*/ 3611880 w 3611880"/>
              <a:gd name="connsiteY6" fmla="*/ 1493520 h 1493520"/>
              <a:gd name="connsiteX7" fmla="*/ 0 w 3611880"/>
              <a:gd name="connsiteY7" fmla="*/ 1478280 h 1493520"/>
              <a:gd name="connsiteX8" fmla="*/ 45720 w 3611880"/>
              <a:gd name="connsiteY8" fmla="*/ 0 h 149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1880" h="1493520">
                <a:moveTo>
                  <a:pt x="45720" y="0"/>
                </a:moveTo>
                <a:lnTo>
                  <a:pt x="1767840" y="0"/>
                </a:lnTo>
                <a:lnTo>
                  <a:pt x="1783080" y="518160"/>
                </a:lnTo>
                <a:lnTo>
                  <a:pt x="2895600" y="518160"/>
                </a:lnTo>
                <a:lnTo>
                  <a:pt x="2895600" y="914400"/>
                </a:lnTo>
                <a:lnTo>
                  <a:pt x="3611880" y="914400"/>
                </a:lnTo>
                <a:lnTo>
                  <a:pt x="3611880" y="1493520"/>
                </a:lnTo>
                <a:lnTo>
                  <a:pt x="0" y="1478280"/>
                </a:lnTo>
                <a:lnTo>
                  <a:pt x="4572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lIns="91320" tIns="45663" rIns="91320" bIns="45663" rtlCol="0" anchor="ctr"/>
          <a:lstStyle/>
          <a:p>
            <a:pPr algn="ctr" defTabSz="913264" fontAlgn="auto">
              <a:spcBef>
                <a:spcPts val="0"/>
              </a:spcBef>
              <a:spcAft>
                <a:spcPts val="0"/>
              </a:spcAft>
            </a:pPr>
            <a:r>
              <a:rPr lang="en-US" dirty="0">
                <a:solidFill>
                  <a:prstClr val="white"/>
                </a:solidFill>
                <a:latin typeface="Calibri"/>
              </a:rPr>
              <a:t>Remove            </a:t>
            </a:r>
          </a:p>
        </p:txBody>
      </p:sp>
    </p:spTree>
    <p:extLst>
      <p:ext uri="{BB962C8B-B14F-4D97-AF65-F5344CB8AC3E}">
        <p14:creationId xmlns:p14="http://schemas.microsoft.com/office/powerpoint/2010/main" val="306740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1.64435E-6 -1.77335E-6 L 0.51 -0.00252 " pathEditMode="relative" rAng="0" ptsTypes="AA">
                                      <p:cBhvr>
                                        <p:cTn id="14" dur="2000" fill="hold"/>
                                        <p:tgtEl>
                                          <p:spTgt spid="2"/>
                                        </p:tgtEl>
                                        <p:attrNameLst>
                                          <p:attrName>ppt_x</p:attrName>
                                          <p:attrName>ppt_y</p:attrName>
                                        </p:attrNameLst>
                                      </p:cBhvr>
                                      <p:rCtr x="25500" y="-100"/>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0.08222 -0.40441 C 0.09041 -0.40357 0.09907 -0.40483 0.10695 -0.40168 C 0.109 -0.40084 0.10884 -0.39643 0.109 -0.39349 C 0.11026 -0.35866 0.10837 -0.32361 0.11104 -0.28898 C 0.1112 -0.28604 0.11514 -0.28709 0.11719 -0.28625 C 0.12963 -0.28164 0.14207 -0.27807 0.15436 -0.27261 C 0.1961 -0.25435 0.2424 -0.26883 0.28635 -0.26694 C 0.30745 -0.26485 0.32982 -0.26506 0.35014 -0.25603 C 0.35675 -0.23148 0.34132 -0.1618 0.37707 -0.15991 C 0.40873 -0.15824 0.44023 -0.15803 0.47189 -0.15719 C 0.47393 -0.15635 0.47645 -0.15656 0.47803 -0.15446 C 0.4796 -0.15236 0.47913 -0.14879 0.48008 -0.14606 C 0.48055 -0.1448 0.48149 -0.14417 0.48212 -0.14334 " pathEditMode="relative" ptsTypes="ffffffffffffA">
                                      <p:cBhvr>
                                        <p:cTn id="22" dur="5000" fill="hold"/>
                                        <p:tgtEl>
                                          <p:spTgt spid="2"/>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6" grpId="0"/>
      <p:bldP spid="22" grpId="0" animBg="1"/>
      <p:bldP spid="24" grpId="0" animBg="1"/>
      <p:bldP spid="26" grpId="0" animBg="1"/>
    </p:bldLst>
  </p:timing>
</p:sld>
</file>

<file path=ppt/slides/slide2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a:t>
            </a:r>
          </a:p>
        </p:txBody>
      </p:sp>
      <p:pic>
        <p:nvPicPr>
          <p:cNvPr id="3" name="Picture 2" descr="fc_pqueue_sparc_50_50.eps"/>
          <p:cNvPicPr>
            <a:picLocks noChangeAspect="1"/>
          </p:cNvPicPr>
          <p:nvPr/>
        </p:nvPicPr>
        <p:blipFill>
          <a:blip r:embed="rId2" cstate="print"/>
          <a:stretch>
            <a:fillRect/>
          </a:stretch>
        </p:blipFill>
        <p:spPr>
          <a:xfrm>
            <a:off x="652952" y="1403946"/>
            <a:ext cx="7755591" cy="5168549"/>
          </a:xfrm>
          <a:prstGeom prst="rect">
            <a:avLst/>
          </a:prstGeom>
        </p:spPr>
      </p:pic>
      <p:sp>
        <p:nvSpPr>
          <p:cNvPr id="4" name="Rounded Rectangular Callout 3"/>
          <p:cNvSpPr/>
          <p:nvPr/>
        </p:nvSpPr>
        <p:spPr>
          <a:xfrm>
            <a:off x="0" y="358755"/>
            <a:ext cx="2547382" cy="1502460"/>
          </a:xfrm>
          <a:prstGeom prst="wedgeRoundRectCallout">
            <a:avLst>
              <a:gd name="adj1" fmla="val 45226"/>
              <a:gd name="adj2" fmla="val 175558"/>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r>
              <a:rPr lang="en-US" sz="2500" dirty="0">
                <a:solidFill>
                  <a:prstClr val="black"/>
                </a:solidFill>
                <a:latin typeface="Calibri"/>
              </a:rPr>
              <a:t>Flat Combining </a:t>
            </a:r>
            <a:r>
              <a:rPr lang="en-US" sz="2500" dirty="0" err="1">
                <a:solidFill>
                  <a:prstClr val="black"/>
                </a:solidFill>
                <a:latin typeface="Calibri"/>
              </a:rPr>
              <a:t>Skiplist</a:t>
            </a:r>
            <a:r>
              <a:rPr lang="en-US" sz="2500" dirty="0">
                <a:solidFill>
                  <a:prstClr val="black"/>
                </a:solidFill>
                <a:latin typeface="Calibri"/>
              </a:rPr>
              <a:t> based queue </a:t>
            </a:r>
          </a:p>
        </p:txBody>
      </p:sp>
      <p:sp>
        <p:nvSpPr>
          <p:cNvPr id="5" name="Rounded Rectangular Callout 4"/>
          <p:cNvSpPr/>
          <p:nvPr/>
        </p:nvSpPr>
        <p:spPr>
          <a:xfrm>
            <a:off x="6204937" y="881350"/>
            <a:ext cx="2547382" cy="1502460"/>
          </a:xfrm>
          <a:prstGeom prst="wedgeRoundRectCallout">
            <a:avLst>
              <a:gd name="adj1" fmla="val -123239"/>
              <a:gd name="adj2" fmla="val 179159"/>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r>
              <a:rPr lang="en-US" sz="2500">
                <a:solidFill>
                  <a:prstClr val="black"/>
                </a:solidFill>
                <a:latin typeface="Calibri"/>
              </a:rPr>
              <a:t>lock</a:t>
            </a:r>
            <a:r>
              <a:rPr lang="en-US" sz="2500" dirty="0">
                <a:solidFill>
                  <a:prstClr val="black"/>
                </a:solidFill>
                <a:latin typeface="Calibri"/>
              </a:rPr>
              <a:t>-based </a:t>
            </a:r>
            <a:r>
              <a:rPr lang="en-US" sz="2500" dirty="0" err="1">
                <a:solidFill>
                  <a:prstClr val="black"/>
                </a:solidFill>
                <a:latin typeface="Calibri"/>
              </a:rPr>
              <a:t>SkipQueue</a:t>
            </a:r>
            <a:r>
              <a:rPr lang="en-US" sz="2500" dirty="0">
                <a:solidFill>
                  <a:prstClr val="black"/>
                </a:solidFill>
                <a:latin typeface="Calibri"/>
              </a:rPr>
              <a:t> </a:t>
            </a:r>
          </a:p>
        </p:txBody>
      </p:sp>
      <p:sp>
        <p:nvSpPr>
          <p:cNvPr id="6" name="Rounded Rectangular Callout 5"/>
          <p:cNvSpPr/>
          <p:nvPr/>
        </p:nvSpPr>
        <p:spPr>
          <a:xfrm>
            <a:off x="3396285" y="0"/>
            <a:ext cx="2547382" cy="1502460"/>
          </a:xfrm>
          <a:prstGeom prst="wedgeRoundRectCallout">
            <a:avLst>
              <a:gd name="adj1" fmla="val -16356"/>
              <a:gd name="adj2" fmla="val 110745"/>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r>
              <a:rPr lang="en-US" sz="2500" dirty="0" err="1">
                <a:solidFill>
                  <a:prstClr val="black"/>
                </a:solidFill>
                <a:latin typeface="Calibri"/>
              </a:rPr>
              <a:t>Whats</a:t>
            </a:r>
            <a:r>
              <a:rPr lang="en-US" sz="2500" dirty="0">
                <a:solidFill>
                  <a:prstClr val="black"/>
                </a:solidFill>
                <a:latin typeface="Calibri"/>
              </a:rPr>
              <a:t> this?</a:t>
            </a:r>
          </a:p>
        </p:txBody>
      </p:sp>
      <p:sp>
        <p:nvSpPr>
          <p:cNvPr id="7" name="Rounded Rectangular Callout 6"/>
          <p:cNvSpPr/>
          <p:nvPr/>
        </p:nvSpPr>
        <p:spPr>
          <a:xfrm>
            <a:off x="6596618" y="2187837"/>
            <a:ext cx="2547382" cy="1502460"/>
          </a:xfrm>
          <a:prstGeom prst="wedgeRoundRectCallout">
            <a:avLst>
              <a:gd name="adj1" fmla="val -121824"/>
              <a:gd name="adj2" fmla="val 129949"/>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r>
              <a:rPr lang="en-US" sz="2500" dirty="0">
                <a:solidFill>
                  <a:prstClr val="black"/>
                </a:solidFill>
                <a:latin typeface="Calibri"/>
              </a:rPr>
              <a:t>lock-free </a:t>
            </a:r>
            <a:r>
              <a:rPr lang="en-US" sz="2500" dirty="0" err="1">
                <a:solidFill>
                  <a:prstClr val="black"/>
                </a:solidFill>
                <a:latin typeface="Calibri"/>
              </a:rPr>
              <a:t>SkipQueue</a:t>
            </a:r>
            <a:r>
              <a:rPr lang="en-US" sz="2500" dirty="0">
                <a:solidFill>
                  <a:prstClr val="black"/>
                </a:solidFill>
                <a:latin typeface="Calibri"/>
              </a:rPr>
              <a:t> </a:t>
            </a:r>
          </a:p>
        </p:txBody>
      </p:sp>
    </p:spTree>
    <p:extLst>
      <p:ext uri="{BB962C8B-B14F-4D97-AF65-F5344CB8AC3E}">
        <p14:creationId xmlns:p14="http://schemas.microsoft.com/office/powerpoint/2010/main" val="339271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a:t>
            </a:r>
          </a:p>
        </p:txBody>
      </p:sp>
      <p:pic>
        <p:nvPicPr>
          <p:cNvPr id="3" name="Picture 2" descr="fc_pqueue_sparc_50_50.eps"/>
          <p:cNvPicPr>
            <a:picLocks noChangeAspect="1"/>
          </p:cNvPicPr>
          <p:nvPr/>
        </p:nvPicPr>
        <p:blipFill>
          <a:blip r:embed="rId2" cstate="print"/>
          <a:stretch>
            <a:fillRect/>
          </a:stretch>
        </p:blipFill>
        <p:spPr>
          <a:xfrm>
            <a:off x="652952" y="1403946"/>
            <a:ext cx="7755591" cy="5168549"/>
          </a:xfrm>
          <a:prstGeom prst="rect">
            <a:avLst/>
          </a:prstGeom>
        </p:spPr>
      </p:pic>
      <p:sp>
        <p:nvSpPr>
          <p:cNvPr id="6" name="Rounded Rectangular Callout 5"/>
          <p:cNvSpPr/>
          <p:nvPr/>
        </p:nvSpPr>
        <p:spPr>
          <a:xfrm>
            <a:off x="261045" y="554728"/>
            <a:ext cx="3657780" cy="1502460"/>
          </a:xfrm>
          <a:prstGeom prst="wedgeRoundRectCallout">
            <a:avLst>
              <a:gd name="adj1" fmla="val 28206"/>
              <a:gd name="adj2" fmla="val 81604"/>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r>
              <a:rPr lang="en-US" sz="2500" dirty="0">
                <a:solidFill>
                  <a:prstClr val="black"/>
                </a:solidFill>
                <a:latin typeface="Calibri"/>
              </a:rPr>
              <a:t>Flat combining with sequential pairing heap plugged in…</a:t>
            </a:r>
          </a:p>
        </p:txBody>
      </p:sp>
    </p:spTree>
    <p:extLst>
      <p:ext uri="{BB962C8B-B14F-4D97-AF65-F5344CB8AC3E}">
        <p14:creationId xmlns:p14="http://schemas.microsoft.com/office/powerpoint/2010/main" val="224899999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 on Intel</a:t>
            </a:r>
          </a:p>
        </p:txBody>
      </p:sp>
      <p:pic>
        <p:nvPicPr>
          <p:cNvPr id="3" name="Picture 2" descr="fc_pqueue_intel_50_50.eps"/>
          <p:cNvPicPr>
            <a:picLocks noChangeAspect="1"/>
          </p:cNvPicPr>
          <p:nvPr/>
        </p:nvPicPr>
        <p:blipFill>
          <a:blip r:embed="rId2" cstate="print"/>
          <a:stretch>
            <a:fillRect/>
          </a:stretch>
        </p:blipFill>
        <p:spPr>
          <a:xfrm>
            <a:off x="652952" y="1795891"/>
            <a:ext cx="7755591" cy="4327258"/>
          </a:xfrm>
          <a:prstGeom prst="rect">
            <a:avLst/>
          </a:prstGeom>
        </p:spPr>
      </p:pic>
      <p:sp>
        <p:nvSpPr>
          <p:cNvPr id="4" name="Rounded Rectangular Callout 3"/>
          <p:cNvSpPr/>
          <p:nvPr/>
        </p:nvSpPr>
        <p:spPr>
          <a:xfrm>
            <a:off x="3200332" y="1469269"/>
            <a:ext cx="3657780" cy="1502460"/>
          </a:xfrm>
          <a:prstGeom prst="wedgeRoundRectCallout">
            <a:avLst>
              <a:gd name="adj1" fmla="val -16849"/>
              <a:gd name="adj2" fmla="val 116746"/>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lIns="82840" tIns="41421" rIns="82840" bIns="41421" rtlCol="0" anchor="ctr"/>
          <a:lstStyle/>
          <a:p>
            <a:pPr algn="ctr" defTabSz="913264" fontAlgn="auto">
              <a:spcBef>
                <a:spcPts val="0"/>
              </a:spcBef>
              <a:spcAft>
                <a:spcPts val="0"/>
              </a:spcAft>
            </a:pPr>
            <a:r>
              <a:rPr lang="en-US" sz="2500" dirty="0">
                <a:solidFill>
                  <a:prstClr val="black"/>
                </a:solidFill>
                <a:latin typeface="Calibri"/>
              </a:rPr>
              <a:t>Flat combining with sequential pairing heap plugged in…</a:t>
            </a:r>
          </a:p>
        </p:txBody>
      </p:sp>
    </p:spTree>
    <p:extLst>
      <p:ext uri="{BB962C8B-B14F-4D97-AF65-F5344CB8AC3E}">
        <p14:creationId xmlns:p14="http://schemas.microsoft.com/office/powerpoint/2010/main" val="1102236287"/>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Don’t be Afraid of the Big Bad Lock</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A4344CD-2256-4795-A6C9-E7134B415FF9}" type="slidenum">
              <a:rPr lang="en-US" smtClean="0"/>
              <a:pPr>
                <a:defRPr/>
              </a:pPr>
              <a:t>273</a:t>
            </a:fld>
            <a:endParaRPr lang="en-US"/>
          </a:p>
        </p:txBody>
      </p:sp>
      <p:sp>
        <p:nvSpPr>
          <p:cNvPr id="5" name="TextBox 4"/>
          <p:cNvSpPr txBox="1"/>
          <p:nvPr/>
        </p:nvSpPr>
        <p:spPr>
          <a:xfrm>
            <a:off x="1031986" y="2170696"/>
            <a:ext cx="7426214" cy="2973122"/>
          </a:xfrm>
          <a:prstGeom prst="rect">
            <a:avLst/>
          </a:prstGeom>
          <a:noFill/>
        </p:spPr>
        <p:txBody>
          <a:bodyPr wrap="square" rtlCol="0">
            <a:spAutoFit/>
          </a:bodyPr>
          <a:lstStyle/>
          <a:p>
            <a:pPr marL="571500" indent="-571500">
              <a:buFont typeface="Arial"/>
              <a:buChar char="•"/>
            </a:pPr>
            <a:r>
              <a:rPr lang="en-US" sz="3600" b="0" dirty="0">
                <a:latin typeface="Arial"/>
                <a:cs typeface="Arial"/>
              </a:rPr>
              <a:t>Fine grained parallelism comes with an overhead…not always worth the effort. </a:t>
            </a:r>
          </a:p>
          <a:p>
            <a:pPr marL="571500" indent="-571500">
              <a:buFont typeface="Arial"/>
              <a:buChar char="•"/>
            </a:pPr>
            <a:r>
              <a:rPr lang="en-US" sz="3600" b="0" dirty="0">
                <a:latin typeface="Arial"/>
                <a:cs typeface="Arial"/>
              </a:rPr>
              <a:t>Sometimes using a single global </a:t>
            </a:r>
            <a:r>
              <a:rPr lang="en-US" sz="3600" b="0">
                <a:latin typeface="Arial"/>
                <a:cs typeface="Arial"/>
              </a:rPr>
              <a:t>lock is </a:t>
            </a:r>
            <a:r>
              <a:rPr lang="en-US" sz="3600" b="0" dirty="0">
                <a:latin typeface="Arial"/>
                <a:cs typeface="Arial"/>
              </a:rPr>
              <a:t>a win. </a:t>
            </a:r>
          </a:p>
        </p:txBody>
      </p:sp>
    </p:spTree>
    <p:extLst>
      <p:ext uri="{BB962C8B-B14F-4D97-AF65-F5344CB8AC3E}">
        <p14:creationId xmlns:p14="http://schemas.microsoft.com/office/powerpoint/2010/main" val="28095779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pPr>
              <a:defRPr/>
            </a:pPr>
            <a:r>
              <a:rPr lang="en-US"/>
              <a:t>Art of Multiprocessor Programming</a:t>
            </a:r>
          </a:p>
        </p:txBody>
      </p:sp>
      <p:sp>
        <p:nvSpPr>
          <p:cNvPr id="6" name="Slide Number Placeholder 2"/>
          <p:cNvSpPr>
            <a:spLocks noGrp="1"/>
          </p:cNvSpPr>
          <p:nvPr>
            <p:ph type="sldNum" sz="quarter" idx="11"/>
          </p:nvPr>
        </p:nvSpPr>
        <p:spPr/>
        <p:txBody>
          <a:bodyPr/>
          <a:lstStyle/>
          <a:p>
            <a:pPr>
              <a:defRPr/>
            </a:pPr>
            <a:fld id="{1E7A11A4-A4F8-4473-9290-72ABD7998CA9}" type="slidenum">
              <a:rPr lang="en-US"/>
              <a:pPr>
                <a:defRPr/>
              </a:pPr>
              <a:t>274</a:t>
            </a:fld>
            <a:endParaRPr lang="en-US"/>
          </a:p>
        </p:txBody>
      </p:sp>
      <p:sp>
        <p:nvSpPr>
          <p:cNvPr id="249860" name="Rectangle 2"/>
          <p:cNvSpPr>
            <a:spLocks noChangeArrowheads="1"/>
          </p:cNvSpPr>
          <p:nvPr/>
        </p:nvSpPr>
        <p:spPr bwMode="auto">
          <a:xfrm>
            <a:off x="0" y="-6439"/>
            <a:ext cx="9144000" cy="1200329"/>
          </a:xfrm>
          <a:prstGeom prst="rect">
            <a:avLst/>
          </a:prstGeom>
          <a:noFill/>
          <a:ln w="9525" algn="ctr">
            <a:noFill/>
            <a:miter lim="800000"/>
            <a:headEnd/>
            <a:tailEnd/>
          </a:ln>
        </p:spPr>
        <p:txBody>
          <a:bodyPr anchor="ctr">
            <a:spAutoFit/>
          </a:bodyPr>
          <a:lstStyle/>
          <a:p>
            <a:pPr>
              <a:spcBef>
                <a:spcPct val="0"/>
              </a:spcBef>
            </a:pPr>
            <a:r>
              <a:rPr lang="en-US" b="0" dirty="0">
                <a:solidFill>
                  <a:schemeClr val="tx1"/>
                </a:solidFill>
                <a:latin typeface="Arial" pitchFamily="34" charset="0"/>
                <a:hlinkClick r:id="rId3"/>
              </a:rPr>
              <a:t>  </a:t>
            </a:r>
            <a:r>
              <a:rPr lang="en-US" sz="1800" b="0" dirty="0">
                <a:solidFill>
                  <a:schemeClr val="tx1"/>
                </a:solidFill>
                <a:latin typeface="Arial" pitchFamily="34" charset="0"/>
              </a:rPr>
              <a:t> </a:t>
            </a:r>
            <a:r>
              <a:rPr lang="en-US" b="0" dirty="0">
                <a:solidFill>
                  <a:schemeClr val="tx1"/>
                </a:solidFill>
                <a:latin typeface="Arial" pitchFamily="34" charset="0"/>
              </a:rPr>
              <a:t>        </a:t>
            </a:r>
            <a:br>
              <a:rPr lang="en-US" b="0" dirty="0">
                <a:solidFill>
                  <a:schemeClr val="tx1"/>
                </a:solidFill>
                <a:latin typeface="Arial" pitchFamily="34" charset="0"/>
              </a:rPr>
            </a:br>
            <a:r>
              <a:rPr lang="en-US" b="0" dirty="0">
                <a:solidFill>
                  <a:schemeClr val="tx1"/>
                </a:solidFill>
                <a:latin typeface="Arial" pitchFamily="34" charset="0"/>
              </a:rPr>
              <a:t>This work is licensed under a </a:t>
            </a:r>
            <a:r>
              <a:rPr lang="en-US" b="0" dirty="0">
                <a:solidFill>
                  <a:schemeClr val="tx1"/>
                </a:solidFill>
                <a:latin typeface="Arial" pitchFamily="34" charset="0"/>
                <a:hlinkClick r:id="rId3"/>
              </a:rPr>
              <a:t>Creative Commons Attribution-</a:t>
            </a:r>
            <a:r>
              <a:rPr lang="en-US" b="0" dirty="0" err="1">
                <a:solidFill>
                  <a:schemeClr val="tx1"/>
                </a:solidFill>
                <a:latin typeface="Arial" pitchFamily="34" charset="0"/>
                <a:hlinkClick r:id="rId3"/>
              </a:rPr>
              <a:t>ShareAlike</a:t>
            </a:r>
            <a:r>
              <a:rPr lang="en-US" b="0" dirty="0">
                <a:solidFill>
                  <a:schemeClr val="tx1"/>
                </a:solidFill>
                <a:latin typeface="Arial" pitchFamily="34" charset="0"/>
                <a:hlinkClick r:id="rId3"/>
              </a:rPr>
              <a:t> 2.5 License</a:t>
            </a:r>
            <a:r>
              <a:rPr lang="en-US" b="0" dirty="0">
                <a:solidFill>
                  <a:schemeClr val="tx1"/>
                </a:solidFill>
                <a:latin typeface="Arial" pitchFamily="34" charset="0"/>
              </a:rPr>
              <a:t>. </a:t>
            </a:r>
          </a:p>
        </p:txBody>
      </p:sp>
      <p:pic>
        <p:nvPicPr>
          <p:cNvPr id="249861"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249862" name="Rectangle 5"/>
          <p:cNvSpPr>
            <a:spLocks noChangeArrowheads="1"/>
          </p:cNvSpPr>
          <p:nvPr/>
        </p:nvSpPr>
        <p:spPr bwMode="auto">
          <a:xfrm>
            <a:off x="685800" y="1343025"/>
            <a:ext cx="7772400" cy="4752975"/>
          </a:xfrm>
          <a:prstGeom prst="rect">
            <a:avLst/>
          </a:prstGeom>
          <a:noFill/>
          <a:ln w="9525">
            <a:noFill/>
            <a:miter lim="800000"/>
            <a:headEnd/>
            <a:tailEnd/>
          </a:ln>
        </p:spPr>
        <p:txBody>
          <a:bodyPr/>
          <a:lstStyle/>
          <a:p>
            <a:pPr marL="342900" indent="-342900">
              <a:lnSpc>
                <a:spcPct val="80000"/>
              </a:lnSpc>
              <a:buFontTx/>
              <a:buChar char="•"/>
            </a:pPr>
            <a:r>
              <a:rPr lang="en-US" sz="1800">
                <a:solidFill>
                  <a:schemeClr val="tx1"/>
                </a:solidFill>
                <a:latin typeface="Lucida Sans" pitchFamily="34" charset="0"/>
              </a:rPr>
              <a:t>You are free</a:t>
            </a:r>
            <a:r>
              <a:rPr lang="en-US" sz="1800" b="0">
                <a:solidFill>
                  <a:schemeClr val="tx1"/>
                </a:solidFill>
                <a:latin typeface="Lucida Sans" pitchFamily="34" charset="0"/>
              </a:rPr>
              <a:t>:</a:t>
            </a:r>
          </a:p>
          <a:p>
            <a:pPr marL="742950" lvl="1" indent="-285750">
              <a:lnSpc>
                <a:spcPct val="80000"/>
              </a:lnSpc>
              <a:buFontTx/>
              <a:buChar char="–"/>
            </a:pPr>
            <a:r>
              <a:rPr lang="en-US" sz="1800">
                <a:solidFill>
                  <a:schemeClr val="tx1"/>
                </a:solidFill>
                <a:latin typeface="Lucida Sans" pitchFamily="34" charset="0"/>
              </a:rPr>
              <a:t>to Share</a:t>
            </a:r>
            <a:r>
              <a:rPr lang="en-US" sz="1800" b="0">
                <a:solidFill>
                  <a:schemeClr val="tx1"/>
                </a:solidFill>
                <a:latin typeface="Lucida Sans" pitchFamily="34" charset="0"/>
              </a:rPr>
              <a:t> — to copy, distribute and transmit the work </a:t>
            </a:r>
          </a:p>
          <a:p>
            <a:pPr marL="742950" lvl="1" indent="-285750">
              <a:lnSpc>
                <a:spcPct val="80000"/>
              </a:lnSpc>
              <a:buFontTx/>
              <a:buChar char="–"/>
            </a:pPr>
            <a:r>
              <a:rPr lang="en-US" sz="1800">
                <a:solidFill>
                  <a:schemeClr val="tx1"/>
                </a:solidFill>
                <a:latin typeface="Lucida Sans" pitchFamily="34" charset="0"/>
              </a:rPr>
              <a:t>to Remix</a:t>
            </a:r>
            <a:r>
              <a:rPr lang="en-US" sz="1800" b="0">
                <a:solidFill>
                  <a:schemeClr val="tx1"/>
                </a:solidFill>
                <a:latin typeface="Lucida Sans" pitchFamily="34" charset="0"/>
              </a:rPr>
              <a:t> — to adapt the work </a:t>
            </a:r>
          </a:p>
          <a:p>
            <a:pPr marL="342900" indent="-342900">
              <a:lnSpc>
                <a:spcPct val="80000"/>
              </a:lnSpc>
              <a:buFontTx/>
              <a:buChar char="•"/>
            </a:pPr>
            <a:r>
              <a:rPr lang="en-US" sz="1800">
                <a:solidFill>
                  <a:schemeClr val="tx1"/>
                </a:solidFill>
                <a:latin typeface="Lucida Sans" pitchFamily="34" charset="0"/>
              </a:rPr>
              <a:t>Under the following conditions</a:t>
            </a:r>
            <a:r>
              <a:rPr lang="en-US" sz="1800" b="0">
                <a:solidFill>
                  <a:schemeClr val="tx1"/>
                </a:solidFill>
                <a:latin typeface="Lucida Sans" pitchFamily="34" charset="0"/>
              </a:rPr>
              <a:t>:</a:t>
            </a:r>
          </a:p>
          <a:p>
            <a:pPr marL="742950" lvl="1" indent="-285750">
              <a:lnSpc>
                <a:spcPct val="80000"/>
              </a:lnSpc>
              <a:buFontTx/>
              <a:buChar char="–"/>
            </a:pPr>
            <a:r>
              <a:rPr lang="en-US" sz="1800">
                <a:solidFill>
                  <a:schemeClr val="tx1"/>
                </a:solidFill>
                <a:latin typeface="Lucida Sans" pitchFamily="34" charset="0"/>
              </a:rPr>
              <a:t>Attribution</a:t>
            </a:r>
            <a:r>
              <a:rPr lang="en-US" sz="1800" b="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nSpc>
                <a:spcPct val="80000"/>
              </a:lnSpc>
              <a:buFontTx/>
              <a:buChar char="–"/>
            </a:pPr>
            <a:r>
              <a:rPr lang="en-US" sz="1800">
                <a:solidFill>
                  <a:schemeClr val="tx1"/>
                </a:solidFill>
                <a:latin typeface="Lucida Sans" pitchFamily="34" charset="0"/>
              </a:rPr>
              <a:t>Share Alike</a:t>
            </a:r>
            <a:r>
              <a:rPr lang="en-US" sz="1800" b="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nSpc>
                <a:spcPct val="80000"/>
              </a:lnSpc>
              <a:buFontTx/>
              <a:buChar char="•"/>
            </a:pPr>
            <a:r>
              <a:rPr lang="en-US" sz="1800" b="0">
                <a:solidFill>
                  <a:schemeClr val="tx1"/>
                </a:solidFill>
                <a:latin typeface="Lucida Sans" pitchFamily="34" charset="0"/>
              </a:rPr>
              <a:t>For any reuse or distribution, you must make clear to others the license terms of this work. The best way to do this is with a link to</a:t>
            </a:r>
          </a:p>
          <a:p>
            <a:pPr marL="742950" lvl="1" indent="-285750">
              <a:lnSpc>
                <a:spcPct val="80000"/>
              </a:lnSpc>
              <a:buFontTx/>
              <a:buChar char="–"/>
            </a:pPr>
            <a:r>
              <a:rPr lang="en-US" sz="1800" b="0">
                <a:solidFill>
                  <a:schemeClr val="tx1"/>
                </a:solidFill>
                <a:latin typeface="Lucida Sans" pitchFamily="34" charset="0"/>
              </a:rPr>
              <a:t>http://creativecommons.org/licenses/by-sa/3.0/. </a:t>
            </a:r>
          </a:p>
          <a:p>
            <a:pPr marL="342900" indent="-342900">
              <a:lnSpc>
                <a:spcPct val="80000"/>
              </a:lnSpc>
              <a:buFontTx/>
              <a:buChar char="•"/>
            </a:pPr>
            <a:r>
              <a:rPr lang="en-US" sz="1800" b="0">
                <a:solidFill>
                  <a:schemeClr val="tx1"/>
                </a:solidFill>
                <a:latin typeface="Lucida Sans" pitchFamily="34" charset="0"/>
              </a:rPr>
              <a:t>Any of the above conditions can be waived if you get permission from the copyright holder. </a:t>
            </a:r>
          </a:p>
          <a:p>
            <a:pPr marL="342900" indent="-342900">
              <a:lnSpc>
                <a:spcPct val="80000"/>
              </a:lnSpc>
              <a:buFontTx/>
              <a:buChar char="•"/>
            </a:pPr>
            <a:r>
              <a:rPr lang="en-US" sz="1800" b="0">
                <a:solidFill>
                  <a:schemeClr val="tx1"/>
                </a:solidFill>
                <a:latin typeface="Lucida Sans" pitchFamily="34" charset="0"/>
              </a:rPr>
              <a:t>Nothing in this license impairs or restricts the author's moral rights. </a:t>
            </a:r>
          </a:p>
          <a:p>
            <a:pPr marL="342900" indent="-342900">
              <a:lnSpc>
                <a:spcPct val="80000"/>
              </a:lnSpc>
              <a:buFontTx/>
              <a:buChar char="•"/>
            </a:pPr>
            <a:endParaRPr lang="en-US" sz="1800" b="0">
              <a:solidFill>
                <a:schemeClr val="tx1"/>
              </a:solidFill>
              <a:latin typeface="Lucida Sans"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pot">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57150" cap="flat" cmpd="sng" algn="ctr">
          <a:solidFill>
            <a:schemeClr val="tx1"/>
          </a:solidFill>
          <a:prstDash val="solid"/>
          <a:round/>
          <a:headEnd type="none" w="med" len="med"/>
          <a:tailEnd type="none" w="med" len="med"/>
        </a:ln>
        <a:effectLst/>
      </a:spPr>
      <a:bodyPr rtlCol="0" anchor="ctr"/>
      <a:lstStyle>
        <a:defPPr algn="ctr">
          <a:defRPr/>
        </a:defPPr>
      </a:lstStyle>
    </a:spDef>
    <a:lnDef>
      <a:spPr bwMode="auto">
        <a:solidFill>
          <a:srgbClr val="FFFFCC"/>
        </a:solidFill>
        <a:ln w="57150" cap="flat" cmpd="sng" algn="ctr">
          <a:solidFill>
            <a:schemeClr val="tx1"/>
          </a:solidFill>
          <a:prstDash val="solid"/>
          <a:round/>
          <a:headEnd type="none" w="med" len="med"/>
          <a:tailEnd type="none" w="med" len="med"/>
        </a:ln>
        <a:effectLst/>
      </a:spPr>
      <a:bodyPr/>
      <a:lstStyle/>
    </a:lnDef>
  </a:objectDefaul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21221</TotalTime>
  <Words>11475</Words>
  <Application>Microsoft Office PowerPoint</Application>
  <PresentationFormat>Overhead</PresentationFormat>
  <Paragraphs>2785</Paragraphs>
  <Slides>274</Slides>
  <Notes>266</Notes>
  <HiddenSlides>67</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274</vt:i4>
      </vt:variant>
    </vt:vector>
  </HeadingPairs>
  <TitlesOfParts>
    <vt:vector size="288" baseType="lpstr">
      <vt:lpstr>Arial</vt:lpstr>
      <vt:lpstr>Calibri</vt:lpstr>
      <vt:lpstr>CMMI10</vt:lpstr>
      <vt:lpstr>CMMI7</vt:lpstr>
      <vt:lpstr>CMR10</vt:lpstr>
      <vt:lpstr>CMSY10ORIG</vt:lpstr>
      <vt:lpstr>Comic Sans MS</vt:lpstr>
      <vt:lpstr>Courier New</vt:lpstr>
      <vt:lpstr>Lucida Console</vt:lpstr>
      <vt:lpstr>Lucida Sans</vt:lpstr>
      <vt:lpstr>Marlett</vt:lpstr>
      <vt:lpstr>Symbol</vt:lpstr>
      <vt:lpstr>Blank Presentation</vt:lpstr>
      <vt:lpstr>Equation</vt:lpstr>
      <vt:lpstr>Shared Counters and Parallelism</vt:lpstr>
      <vt:lpstr>A Shared Pool</vt:lpstr>
      <vt:lpstr>Simple Locking Implementation</vt:lpstr>
      <vt:lpstr>Simple Locking Implementation</vt:lpstr>
      <vt:lpstr>Simple Locking Implementation</vt:lpstr>
      <vt:lpstr>Simple Locking Implementation</vt:lpstr>
      <vt:lpstr>Simple Locking Implementation</vt:lpstr>
      <vt:lpstr>Counting Implementation</vt:lpstr>
      <vt:lpstr>Counting Implementation</vt:lpstr>
      <vt:lpstr>Shared Counter</vt:lpstr>
      <vt:lpstr>Shared Counter</vt:lpstr>
      <vt:lpstr>Shared Counter</vt:lpstr>
      <vt:lpstr>Shared Counter</vt:lpstr>
      <vt:lpstr>Shared Counters</vt:lpstr>
      <vt:lpstr>Software Combining Tree</vt:lpstr>
      <vt:lpstr>Combining Trees</vt:lpstr>
      <vt:lpstr>Combining Trees</vt:lpstr>
      <vt:lpstr>Combining Trees</vt:lpstr>
      <vt:lpstr>Combining Trees</vt:lpstr>
      <vt:lpstr>Combining Trees</vt:lpstr>
      <vt:lpstr>Combining Trees</vt:lpstr>
      <vt:lpstr>Combining Trees</vt:lpstr>
      <vt:lpstr>Combining Trees</vt:lpstr>
      <vt:lpstr>What if?</vt:lpstr>
      <vt:lpstr>Combining Status</vt:lpstr>
      <vt:lpstr>Combining Status</vt:lpstr>
      <vt:lpstr>Combining Status</vt:lpstr>
      <vt:lpstr>Combining Status</vt:lpstr>
      <vt:lpstr>Combining Status</vt:lpstr>
      <vt:lpstr>Combining Status</vt:lpstr>
      <vt:lpstr>Node Synchronization</vt:lpstr>
      <vt:lpstr>Phases</vt:lpstr>
      <vt:lpstr>Phases</vt:lpstr>
      <vt:lpstr>Phases</vt:lpstr>
      <vt:lpstr>Phases</vt:lpstr>
      <vt:lpstr>Precombining Phase</vt:lpstr>
      <vt:lpstr>Precombining Phase</vt:lpstr>
      <vt:lpstr>Precombining Phase</vt:lpstr>
      <vt:lpstr>Precombining Phase</vt:lpstr>
      <vt:lpstr>Precombining Phase</vt:lpstr>
      <vt:lpstr>Code</vt:lpstr>
      <vt:lpstr>Precombining Navigation</vt:lpstr>
      <vt:lpstr>Precombining Navigation</vt:lpstr>
      <vt:lpstr>Precombining Navigation</vt:lpstr>
      <vt:lpstr>Precombining Navigation</vt:lpstr>
      <vt:lpstr>Precombining Node</vt:lpstr>
      <vt:lpstr>Precombining Node</vt:lpstr>
      <vt:lpstr>Synchronization</vt:lpstr>
      <vt:lpstr>Precombining Node</vt:lpstr>
      <vt:lpstr>Node was IDLE</vt:lpstr>
      <vt:lpstr>Precombining Node</vt:lpstr>
      <vt:lpstr>I’m the 2nd Thread</vt:lpstr>
      <vt:lpstr>Precombining Node</vt:lpstr>
      <vt:lpstr>Precombining Node</vt:lpstr>
      <vt:lpstr>Node is the Root</vt:lpstr>
      <vt:lpstr>Precombining Node</vt:lpstr>
      <vt:lpstr>Combining Phase</vt:lpstr>
      <vt:lpstr>Combining Phase</vt:lpstr>
      <vt:lpstr>Combining Phase</vt:lpstr>
      <vt:lpstr>Combining (reloaded)</vt:lpstr>
      <vt:lpstr>Combining (reloaded)</vt:lpstr>
      <vt:lpstr>Combining (reloaded)</vt:lpstr>
      <vt:lpstr>Combining (reloaded)</vt:lpstr>
      <vt:lpstr>Combining Navigation</vt:lpstr>
      <vt:lpstr>Combining Navigation</vt:lpstr>
      <vt:lpstr>Combining Navigation</vt:lpstr>
      <vt:lpstr>Combining Navigation</vt:lpstr>
      <vt:lpstr>Combining Navigation</vt:lpstr>
      <vt:lpstr>Combining Navigation</vt:lpstr>
      <vt:lpstr>Combining Navigation</vt:lpstr>
      <vt:lpstr>Combining Phase Node</vt:lpstr>
      <vt:lpstr>Combining Phase Node</vt:lpstr>
      <vt:lpstr>Combining Phase Node</vt:lpstr>
      <vt:lpstr>Combining Phase Node</vt:lpstr>
      <vt:lpstr>Combining Phase Node</vt:lpstr>
      <vt:lpstr>Combining Phase Node</vt:lpstr>
      <vt:lpstr>Combining Phase Node</vt:lpstr>
      <vt:lpstr>Combining Node</vt:lpstr>
      <vt:lpstr>Operation Phase</vt:lpstr>
      <vt:lpstr>Operation Phase (reloaded)</vt:lpstr>
      <vt:lpstr>Operation Phase (reloaded)</vt:lpstr>
      <vt:lpstr>Operation Phase Navigation</vt:lpstr>
      <vt:lpstr>Operation Phase Navigation</vt:lpstr>
      <vt:lpstr>Operation on Stopped Node</vt:lpstr>
      <vt:lpstr>Op States of Stop Node</vt:lpstr>
      <vt:lpstr>At Root</vt:lpstr>
      <vt:lpstr>Intermediate Node</vt:lpstr>
      <vt:lpstr>Intermediate Node</vt:lpstr>
      <vt:lpstr>Intermediate Node</vt:lpstr>
      <vt:lpstr>Intermediate Node</vt:lpstr>
      <vt:lpstr>Distribution Phase</vt:lpstr>
      <vt:lpstr>Distribution Phase</vt:lpstr>
      <vt:lpstr>Distribution Phase</vt:lpstr>
      <vt:lpstr>Distribution Phase</vt:lpstr>
      <vt:lpstr>Distribution Phase Navigation</vt:lpstr>
      <vt:lpstr>Distribution Phase Navigation</vt:lpstr>
      <vt:lpstr>Distribution Phase Navigation</vt:lpstr>
      <vt:lpstr>Distribution Phase Navigation</vt:lpstr>
      <vt:lpstr>Distribution Phase</vt:lpstr>
      <vt:lpstr>Distribution Phase</vt:lpstr>
      <vt:lpstr>Distribution Phase</vt:lpstr>
      <vt:lpstr>Bad News: High Latency </vt:lpstr>
      <vt:lpstr>Good News: Real Parallelism </vt:lpstr>
      <vt:lpstr>Throughput Puzzles</vt:lpstr>
      <vt:lpstr>Index Distribution Benchmark</vt:lpstr>
      <vt:lpstr>Index Distribution Benchmark</vt:lpstr>
      <vt:lpstr>Index Distribution Benchmark</vt:lpstr>
      <vt:lpstr>Index Distribution Benchmark</vt:lpstr>
      <vt:lpstr>Index Distribution Benchmark</vt:lpstr>
      <vt:lpstr>Performance</vt:lpstr>
      <vt:lpstr>Performance (Simulated)</vt:lpstr>
      <vt:lpstr>Load Fluctuations</vt:lpstr>
      <vt:lpstr>Combining Rate vs Work</vt:lpstr>
      <vt:lpstr>Better to Wait Longer</vt:lpstr>
      <vt:lpstr>Conclusions</vt:lpstr>
      <vt:lpstr>Parallel Counter Approach</vt:lpstr>
      <vt:lpstr>A Balancer</vt:lpstr>
      <vt:lpstr>Tokens Traverse Balancers</vt:lpstr>
      <vt:lpstr>Tokens Traverse Balancers</vt:lpstr>
      <vt:lpstr>Tokens Traverse Balancers</vt:lpstr>
      <vt:lpstr>Tokens Traverse Balancers</vt:lpstr>
      <vt:lpstr>Tokens Traverse Balancers</vt:lpstr>
      <vt:lpstr>Tokens Traverse Balancers</vt:lpstr>
      <vt:lpstr>Smoothing Network</vt:lpstr>
      <vt:lpstr>Counting Network</vt:lpstr>
      <vt:lpstr>Counting Networks Count!</vt:lpstr>
      <vt:lpstr>Counting Networks Count!</vt:lpstr>
      <vt:lpstr>Counting Networks</vt:lpstr>
      <vt:lpstr>Counting Network </vt:lpstr>
      <vt:lpstr>Counting Network </vt:lpstr>
      <vt:lpstr>Counting Network </vt:lpstr>
      <vt:lpstr>Counting Network </vt:lpstr>
      <vt:lpstr>Counting Network </vt:lpstr>
      <vt:lpstr>Counting Network </vt:lpstr>
      <vt:lpstr>Bitonic[k] Counting Network</vt:lpstr>
      <vt:lpstr>Bitonic[k] Counting Network</vt:lpstr>
      <vt:lpstr>Bitonic[k] not Linearizable</vt:lpstr>
      <vt:lpstr>Bitonic[k] is not Linearizable</vt:lpstr>
      <vt:lpstr>Bitonic[k] is not Linearizable</vt:lpstr>
      <vt:lpstr>Bitonic[k] is not Linearizable</vt:lpstr>
      <vt:lpstr>Bitonic[k] is not Linearizable</vt:lpstr>
      <vt:lpstr>But it is “Quiescently Consistent”</vt:lpstr>
      <vt:lpstr>Shared Memory Implementation</vt:lpstr>
      <vt:lpstr>Shared Memory Implementation</vt:lpstr>
      <vt:lpstr>Shared Memory Implementation</vt:lpstr>
      <vt:lpstr>Shared Memory Implementation</vt:lpstr>
      <vt:lpstr>Shared Memory Implementation</vt:lpstr>
      <vt:lpstr>Shared Memory Implementation</vt:lpstr>
      <vt:lpstr>Shared Memory Implementation</vt:lpstr>
      <vt:lpstr>Shared Memory Implementation</vt:lpstr>
      <vt:lpstr>Alternative Implementation: Message-Passing </vt:lpstr>
      <vt:lpstr>Bitonic[2k] Inductive Structure</vt:lpstr>
      <vt:lpstr>Bitonic[4] Counting Network</vt:lpstr>
      <vt:lpstr>Bitonic[8] Layout</vt:lpstr>
      <vt:lpstr>Unfolded Bitonic[8] Network</vt:lpstr>
      <vt:lpstr>Unfolded Bitonic[8] Network</vt:lpstr>
      <vt:lpstr>Unfolded Bitonic[8] Network</vt:lpstr>
      <vt:lpstr>Bitonic[k] Depth</vt:lpstr>
      <vt:lpstr>Proof by Induction</vt:lpstr>
      <vt:lpstr>Bitonic[2k] Schematic</vt:lpstr>
      <vt:lpstr>Need to Prove only Merger[2k]</vt:lpstr>
      <vt:lpstr>Merger[2k] Schematic</vt:lpstr>
      <vt:lpstr>Merger[2k] Layout</vt:lpstr>
      <vt:lpstr>Induction Step</vt:lpstr>
      <vt:lpstr>Assume Bitonic[k] and Merger[k] and Prove Merger[2k]</vt:lpstr>
      <vt:lpstr>Proof: Lemma 1</vt:lpstr>
      <vt:lpstr>Lemma 1</vt:lpstr>
      <vt:lpstr>Lemma 1</vt:lpstr>
      <vt:lpstr>Lemma 2</vt:lpstr>
      <vt:lpstr>Bitonic[2k] Layout Details</vt:lpstr>
      <vt:lpstr>By induction hypothesis</vt:lpstr>
      <vt:lpstr>By Lemma 1 </vt:lpstr>
      <vt:lpstr>By Lemma 2</vt:lpstr>
      <vt:lpstr>By Induction Hypothesis</vt:lpstr>
      <vt:lpstr>By Lemma 2</vt:lpstr>
      <vt:lpstr>Last Row of Balancers</vt:lpstr>
      <vt:lpstr>Last Row of Balancers</vt:lpstr>
      <vt:lpstr>Last Row of Balancers</vt:lpstr>
      <vt:lpstr>Last Row of Balancers</vt:lpstr>
      <vt:lpstr>So Counting Networks Count</vt:lpstr>
      <vt:lpstr>Periodic Network Block</vt:lpstr>
      <vt:lpstr>Periodic Network Block</vt:lpstr>
      <vt:lpstr>Periodic Network Block</vt:lpstr>
      <vt:lpstr>Periodic Network Block</vt:lpstr>
      <vt:lpstr>Block[2k] Schematic</vt:lpstr>
      <vt:lpstr>Block[2k] Layout</vt:lpstr>
      <vt:lpstr>Periodic[8]</vt:lpstr>
      <vt:lpstr>Network Depth</vt:lpstr>
      <vt:lpstr>Lower Bound on Depth</vt:lpstr>
      <vt:lpstr>Sequential Theorem</vt:lpstr>
      <vt:lpstr>Red First, Blue Second</vt:lpstr>
      <vt:lpstr>Blue First, Red Second</vt:lpstr>
      <vt:lpstr>Either Way</vt:lpstr>
      <vt:lpstr>Order Doesn’t Matter</vt:lpstr>
      <vt:lpstr>Index Distribution Benchmark</vt:lpstr>
      <vt:lpstr>Performance (Simulated)</vt:lpstr>
      <vt:lpstr>Performance (Simulated)</vt:lpstr>
      <vt:lpstr>Performance (Simulated)</vt:lpstr>
      <vt:lpstr>Performance (Simulated)</vt:lpstr>
      <vt:lpstr>Saturation and Performance</vt:lpstr>
      <vt:lpstr>Throughput vs. Size</vt:lpstr>
      <vt:lpstr>Shared Pool</vt:lpstr>
      <vt:lpstr>What About</vt:lpstr>
      <vt:lpstr>First Step</vt:lpstr>
      <vt:lpstr>Anti-Tokens</vt:lpstr>
      <vt:lpstr>Tokens &amp; Anti-Tokens Cancel</vt:lpstr>
      <vt:lpstr>Tokens &amp; Anti-Tokens Cancel</vt:lpstr>
      <vt:lpstr>Tokens &amp; Anti-Tokens Cancel</vt:lpstr>
      <vt:lpstr>Tokens &amp; Anti-Tokens Cancel</vt:lpstr>
      <vt:lpstr>Tokens vs Antitokens</vt:lpstr>
      <vt:lpstr>Pumping Lemma</vt:lpstr>
      <vt:lpstr>Anti-Token Effect</vt:lpstr>
      <vt:lpstr>Observation</vt:lpstr>
      <vt:lpstr>Before Antitoken</vt:lpstr>
      <vt:lpstr>Balancer states as if …</vt:lpstr>
      <vt:lpstr>Post Antitoken</vt:lpstr>
      <vt:lpstr>Implication</vt:lpstr>
      <vt:lpstr>Adding Networks</vt:lpstr>
      <vt:lpstr>Fetch-and-add</vt:lpstr>
      <vt:lpstr>Bad News</vt:lpstr>
      <vt:lpstr>Uh-Oh</vt:lpstr>
      <vt:lpstr>Generic Counting Network</vt:lpstr>
      <vt:lpstr>First Token</vt:lpstr>
      <vt:lpstr>Claim</vt:lpstr>
      <vt:lpstr>Second Token</vt:lpstr>
      <vt:lpstr>Second Token</vt:lpstr>
      <vt:lpstr>If Second avoids First’s Path</vt:lpstr>
      <vt:lpstr>If Second avoids First’s Path</vt:lpstr>
      <vt:lpstr>Second Token</vt:lpstr>
      <vt:lpstr>Third Token</vt:lpstr>
      <vt:lpstr>Third Token</vt:lpstr>
      <vt:lpstr>First,Second, &amp; Third Tokens must be Ordered</vt:lpstr>
      <vt:lpstr>First,Second, &amp; Third Tokens must be Ordered</vt:lpstr>
      <vt:lpstr>Third Token</vt:lpstr>
      <vt:lpstr>Continuing in this way</vt:lpstr>
      <vt:lpstr>Theorem</vt:lpstr>
      <vt:lpstr>Shared Pool</vt:lpstr>
      <vt:lpstr>Counting Trees</vt:lpstr>
      <vt:lpstr>Counting Trees</vt:lpstr>
      <vt:lpstr>Counting Trees</vt:lpstr>
      <vt:lpstr>Counting Trees</vt:lpstr>
      <vt:lpstr>Counting Trees</vt:lpstr>
      <vt:lpstr>PowerPoint Presentation</vt:lpstr>
      <vt:lpstr>Inductive Construction</vt:lpstr>
      <vt:lpstr>Inductive Construction</vt:lpstr>
      <vt:lpstr>PowerPoint Presentation</vt:lpstr>
      <vt:lpstr>Example </vt:lpstr>
      <vt:lpstr>Example </vt:lpstr>
      <vt:lpstr>PowerPoint Presentation</vt:lpstr>
      <vt:lpstr>Diffraction Balancing</vt:lpstr>
      <vt:lpstr>PowerPoint Presentation</vt:lpstr>
      <vt:lpstr>PowerPoint Presentation</vt:lpstr>
      <vt:lpstr>Performance</vt:lpstr>
      <vt:lpstr>Amdahl’s Law Works</vt:lpstr>
      <vt:lpstr>But…</vt:lpstr>
      <vt:lpstr>Software Combining Tree</vt:lpstr>
      <vt:lpstr>Oyama et. al Mutex</vt:lpstr>
      <vt:lpstr>Flat Combining</vt:lpstr>
      <vt:lpstr>Flat-Combining</vt:lpstr>
      <vt:lpstr>Flat-Combining Pub-List Cleanup</vt:lpstr>
      <vt:lpstr>Fine-Grained Lock-free FIFO Queue</vt:lpstr>
      <vt:lpstr>Flat-Combining FIFO Queue</vt:lpstr>
      <vt:lpstr>Flat-Combining FIFO Queue</vt:lpstr>
      <vt:lpstr>Linearizable FIFO Queue</vt:lpstr>
      <vt:lpstr>Benefits of Flat Combining</vt:lpstr>
      <vt:lpstr>Linearizable Stack</vt:lpstr>
      <vt:lpstr>Concurrent Priority Queue  (Chapter 15) </vt:lpstr>
      <vt:lpstr>Flat-Combining Priority Queue</vt:lpstr>
      <vt:lpstr>Flat Combining Priority Queue</vt:lpstr>
      <vt:lpstr>Priority Queue</vt:lpstr>
      <vt:lpstr>Priority Queue</vt:lpstr>
      <vt:lpstr>Priority Queue on Intel</vt:lpstr>
      <vt:lpstr>Don’t be Afraid of the Big Bad Lock</vt:lpstr>
      <vt:lpstr>PowerPoint Presentation</vt:lpstr>
    </vt:vector>
  </TitlesOfParts>
  <Company>Brown University &amp; Tel Aviv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Multiprocessor Synchronization</dc:title>
  <dc:creator>Maurice Herlihy &amp; Nir Shavit</dc:creator>
  <cp:lastModifiedBy>Beth LoGiudice</cp:lastModifiedBy>
  <cp:revision>359</cp:revision>
  <cp:lastPrinted>1999-06-08T19:53:37Z</cp:lastPrinted>
  <dcterms:created xsi:type="dcterms:W3CDTF">1999-05-12T13:47:53Z</dcterms:created>
  <dcterms:modified xsi:type="dcterms:W3CDTF">2020-09-26T23:06:42Z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