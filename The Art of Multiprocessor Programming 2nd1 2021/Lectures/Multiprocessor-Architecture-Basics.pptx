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65"/>
  </p:notesMasterIdLst>
  <p:handoutMasterIdLst>
    <p:handoutMasterId r:id="rId66"/>
  </p:handoutMasterIdLst>
  <p:sldIdLst>
    <p:sldId id="716" r:id="rId2"/>
    <p:sldId id="671" r:id="rId3"/>
    <p:sldId id="695" r:id="rId4"/>
    <p:sldId id="735" r:id="rId5"/>
    <p:sldId id="742" r:id="rId6"/>
    <p:sldId id="736" r:id="rId7"/>
    <p:sldId id="737" r:id="rId8"/>
    <p:sldId id="740" r:id="rId9"/>
    <p:sldId id="743" r:id="rId10"/>
    <p:sldId id="741" r:id="rId11"/>
    <p:sldId id="668" r:id="rId12"/>
    <p:sldId id="694" r:id="rId13"/>
    <p:sldId id="674" r:id="rId14"/>
    <p:sldId id="675" r:id="rId15"/>
    <p:sldId id="696" r:id="rId16"/>
    <p:sldId id="697" r:id="rId17"/>
    <p:sldId id="633" r:id="rId18"/>
    <p:sldId id="635" r:id="rId19"/>
    <p:sldId id="638" r:id="rId20"/>
    <p:sldId id="637" r:id="rId21"/>
    <p:sldId id="639" r:id="rId22"/>
    <p:sldId id="640" r:id="rId23"/>
    <p:sldId id="641" r:id="rId24"/>
    <p:sldId id="644" r:id="rId25"/>
    <p:sldId id="651" r:id="rId26"/>
    <p:sldId id="657" r:id="rId27"/>
    <p:sldId id="646" r:id="rId28"/>
    <p:sldId id="658" r:id="rId29"/>
    <p:sldId id="661" r:id="rId30"/>
    <p:sldId id="662" r:id="rId31"/>
    <p:sldId id="664" r:id="rId32"/>
    <p:sldId id="699" r:id="rId33"/>
    <p:sldId id="679" r:id="rId34"/>
    <p:sldId id="678" r:id="rId35"/>
    <p:sldId id="677" r:id="rId36"/>
    <p:sldId id="653" r:id="rId37"/>
    <p:sldId id="669" r:id="rId38"/>
    <p:sldId id="670" r:id="rId39"/>
    <p:sldId id="680" r:id="rId40"/>
    <p:sldId id="681" r:id="rId41"/>
    <p:sldId id="682" r:id="rId42"/>
    <p:sldId id="683" r:id="rId43"/>
    <p:sldId id="726" r:id="rId44"/>
    <p:sldId id="700" r:id="rId45"/>
    <p:sldId id="702" r:id="rId46"/>
    <p:sldId id="701" r:id="rId47"/>
    <p:sldId id="703" r:id="rId48"/>
    <p:sldId id="704" r:id="rId49"/>
    <p:sldId id="705" r:id="rId50"/>
    <p:sldId id="706" r:id="rId51"/>
    <p:sldId id="707" r:id="rId52"/>
    <p:sldId id="708" r:id="rId53"/>
    <p:sldId id="709" r:id="rId54"/>
    <p:sldId id="710" r:id="rId55"/>
    <p:sldId id="711" r:id="rId56"/>
    <p:sldId id="712" r:id="rId57"/>
    <p:sldId id="714" r:id="rId58"/>
    <p:sldId id="734" r:id="rId59"/>
    <p:sldId id="719" r:id="rId60"/>
    <p:sldId id="720" r:id="rId61"/>
    <p:sldId id="722" r:id="rId62"/>
    <p:sldId id="723" r:id="rId63"/>
    <p:sldId id="725" r:id="rId64"/>
  </p:sldIdLst>
  <p:sldSz cx="9144000" cy="6858000" type="overhead"/>
  <p:notesSz cx="7099300" cy="10234613"/>
  <p:defaultTextStyle>
    <a:defPPr>
      <a:defRPr lang="en-US"/>
    </a:defPPr>
    <a:lvl1pPr algn="l" rtl="0" eaLnBrk="0" fontAlgn="base" hangingPunct="0">
      <a:spcBef>
        <a:spcPct val="0"/>
      </a:spcBef>
      <a:spcAft>
        <a:spcPct val="0"/>
      </a:spcAft>
      <a:defRPr sz="4400" b="1" kern="1200">
        <a:solidFill>
          <a:srgbClr val="0000FF"/>
        </a:solidFill>
        <a:latin typeface="Comic Sans MS" pitchFamily="66" charset="0"/>
        <a:ea typeface="+mn-ea"/>
        <a:cs typeface="+mn-cs"/>
      </a:defRPr>
    </a:lvl1pPr>
    <a:lvl2pPr marL="457200" algn="l" rtl="0" eaLnBrk="0" fontAlgn="base" hangingPunct="0">
      <a:spcBef>
        <a:spcPct val="0"/>
      </a:spcBef>
      <a:spcAft>
        <a:spcPct val="0"/>
      </a:spcAft>
      <a:defRPr sz="4400" b="1" kern="1200">
        <a:solidFill>
          <a:srgbClr val="0000FF"/>
        </a:solidFill>
        <a:latin typeface="Comic Sans MS" pitchFamily="66" charset="0"/>
        <a:ea typeface="+mn-ea"/>
        <a:cs typeface="+mn-cs"/>
      </a:defRPr>
    </a:lvl2pPr>
    <a:lvl3pPr marL="914400" algn="l" rtl="0" eaLnBrk="0" fontAlgn="base" hangingPunct="0">
      <a:spcBef>
        <a:spcPct val="0"/>
      </a:spcBef>
      <a:spcAft>
        <a:spcPct val="0"/>
      </a:spcAft>
      <a:defRPr sz="4400" b="1" kern="1200">
        <a:solidFill>
          <a:srgbClr val="0000FF"/>
        </a:solidFill>
        <a:latin typeface="Comic Sans MS" pitchFamily="66" charset="0"/>
        <a:ea typeface="+mn-ea"/>
        <a:cs typeface="+mn-cs"/>
      </a:defRPr>
    </a:lvl3pPr>
    <a:lvl4pPr marL="1371600" algn="l" rtl="0" eaLnBrk="0" fontAlgn="base" hangingPunct="0">
      <a:spcBef>
        <a:spcPct val="0"/>
      </a:spcBef>
      <a:spcAft>
        <a:spcPct val="0"/>
      </a:spcAft>
      <a:defRPr sz="4400" b="1" kern="1200">
        <a:solidFill>
          <a:srgbClr val="0000FF"/>
        </a:solidFill>
        <a:latin typeface="Comic Sans MS" pitchFamily="66" charset="0"/>
        <a:ea typeface="+mn-ea"/>
        <a:cs typeface="+mn-cs"/>
      </a:defRPr>
    </a:lvl4pPr>
    <a:lvl5pPr marL="1828800" algn="l" rtl="0" eaLnBrk="0" fontAlgn="base" hangingPunct="0">
      <a:spcBef>
        <a:spcPct val="0"/>
      </a:spcBef>
      <a:spcAft>
        <a:spcPct val="0"/>
      </a:spcAft>
      <a:defRPr sz="4400" b="1" kern="1200">
        <a:solidFill>
          <a:srgbClr val="0000FF"/>
        </a:solidFill>
        <a:latin typeface="Comic Sans MS" pitchFamily="66" charset="0"/>
        <a:ea typeface="+mn-ea"/>
        <a:cs typeface="+mn-cs"/>
      </a:defRPr>
    </a:lvl5pPr>
    <a:lvl6pPr marL="2286000" algn="l" defTabSz="914400" rtl="0" eaLnBrk="1" latinLnBrk="0" hangingPunct="1">
      <a:defRPr sz="4400" b="1" kern="1200">
        <a:solidFill>
          <a:srgbClr val="0000FF"/>
        </a:solidFill>
        <a:latin typeface="Comic Sans MS" pitchFamily="66" charset="0"/>
        <a:ea typeface="+mn-ea"/>
        <a:cs typeface="+mn-cs"/>
      </a:defRPr>
    </a:lvl6pPr>
    <a:lvl7pPr marL="2743200" algn="l" defTabSz="914400" rtl="0" eaLnBrk="1" latinLnBrk="0" hangingPunct="1">
      <a:defRPr sz="4400" b="1" kern="1200">
        <a:solidFill>
          <a:srgbClr val="0000FF"/>
        </a:solidFill>
        <a:latin typeface="Comic Sans MS" pitchFamily="66" charset="0"/>
        <a:ea typeface="+mn-ea"/>
        <a:cs typeface="+mn-cs"/>
      </a:defRPr>
    </a:lvl7pPr>
    <a:lvl8pPr marL="3200400" algn="l" defTabSz="914400" rtl="0" eaLnBrk="1" latinLnBrk="0" hangingPunct="1">
      <a:defRPr sz="4400" b="1" kern="1200">
        <a:solidFill>
          <a:srgbClr val="0000FF"/>
        </a:solidFill>
        <a:latin typeface="Comic Sans MS" pitchFamily="66" charset="0"/>
        <a:ea typeface="+mn-ea"/>
        <a:cs typeface="+mn-cs"/>
      </a:defRPr>
    </a:lvl8pPr>
    <a:lvl9pPr marL="3657600" algn="l" defTabSz="914400" rtl="0" eaLnBrk="1" latinLnBrk="0" hangingPunct="1">
      <a:defRPr sz="4400" b="1" kern="1200">
        <a:solidFill>
          <a:srgbClr val="0000FF"/>
        </a:solidFill>
        <a:latin typeface="Comic Sans MS" pitchFamily="66" charset="0"/>
        <a:ea typeface="+mn-ea"/>
        <a:cs typeface="+mn-cs"/>
      </a:defRPr>
    </a:lvl9pPr>
  </p:defaultTextStyle>
  <p:extLst>
    <p:ext uri="{EFAFB233-063F-42B5-8137-9DF3F51BA10A}">
      <p15:sldGuideLst xmlns:p15="http://schemas.microsoft.com/office/powerpoint/2012/main">
        <p15:guide id="1" orient="horz" pos="3566">
          <p15:clr>
            <a:srgbClr val="A4A3A4"/>
          </p15:clr>
        </p15:guide>
        <p15:guide id="2" pos="2937">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FF9900"/>
    <a:srgbClr val="FFFF00"/>
    <a:srgbClr val="00CC99"/>
    <a:srgbClr val="FF3300"/>
    <a:srgbClr val="FF0066"/>
    <a:srgbClr val="66FF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21" autoAdjust="0"/>
    <p:restoredTop sz="92180" autoAdjust="0"/>
  </p:normalViewPr>
  <p:slideViewPr>
    <p:cSldViewPr snapToGrid="0">
      <p:cViewPr varScale="1">
        <p:scale>
          <a:sx n="62" d="100"/>
          <a:sy n="62" d="100"/>
        </p:scale>
        <p:origin x="1408" y="14"/>
      </p:cViewPr>
      <p:guideLst>
        <p:guide orient="horz" pos="3566"/>
        <p:guide pos="293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594"/>
    </p:cViewPr>
  </p:sorterViewPr>
  <p:notesViewPr>
    <p:cSldViewPr snapToGrid="0">
      <p:cViewPr varScale="1">
        <p:scale>
          <a:sx n="60" d="100"/>
          <a:sy n="60" d="100"/>
        </p:scale>
        <p:origin x="-1632" y="-90"/>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none" lIns="99041" tIns="49521" rIns="99041" bIns="49521" numCol="1" anchor="ctr" anchorCtr="0" compatLnSpc="1">
            <a:prstTxWarp prst="textNoShape">
              <a:avLst/>
            </a:prstTxWarp>
          </a:bodyPr>
          <a:lstStyle>
            <a:lvl1pPr defTabSz="990600">
              <a:defRPr sz="1300" b="0"/>
            </a:lvl1pPr>
          </a:lstStyle>
          <a:p>
            <a:pPr>
              <a:defRPr/>
            </a:pPr>
            <a:r>
              <a:rPr lang="en-US" dirty="0">
                <a:latin typeface="Arial" pitchFamily="34" charset="0"/>
              </a:rPr>
              <a:t>© 2003 Herlihy and </a:t>
            </a:r>
            <a:r>
              <a:rPr lang="en-US" dirty="0" err="1">
                <a:latin typeface="Arial" pitchFamily="34" charset="0"/>
              </a:rPr>
              <a:t>Shavit</a:t>
            </a:r>
            <a:endParaRPr lang="en-US" dirty="0">
              <a:latin typeface="Arial" pitchFamily="34" charset="0"/>
            </a:endParaRPr>
          </a:p>
        </p:txBody>
      </p:sp>
      <p:sp>
        <p:nvSpPr>
          <p:cNvPr id="40963" name="Rectangle 3"/>
          <p:cNvSpPr>
            <a:spLocks noGrp="1" noChangeArrowheads="1"/>
          </p:cNvSpPr>
          <p:nvPr>
            <p:ph type="dt" sz="quarter" idx="1"/>
          </p:nvPr>
        </p:nvSpPr>
        <p:spPr bwMode="auto">
          <a:xfrm>
            <a:off x="4022725" y="0"/>
            <a:ext cx="3076575" cy="511175"/>
          </a:xfrm>
          <a:prstGeom prst="rect">
            <a:avLst/>
          </a:prstGeom>
          <a:noFill/>
          <a:ln w="9525">
            <a:noFill/>
            <a:miter lim="800000"/>
            <a:headEnd/>
            <a:tailEnd/>
          </a:ln>
          <a:effectLst/>
        </p:spPr>
        <p:txBody>
          <a:bodyPr vert="horz" wrap="none" lIns="99041" tIns="49521" rIns="99041" bIns="49521" numCol="1" anchor="ctr" anchorCtr="0" compatLnSpc="1">
            <a:prstTxWarp prst="textNoShape">
              <a:avLst/>
            </a:prstTxWarp>
          </a:bodyPr>
          <a:lstStyle>
            <a:lvl1pPr algn="r" defTabSz="990600">
              <a:defRPr sz="1300" b="0"/>
            </a:lvl1pPr>
          </a:lstStyle>
          <a:p>
            <a:pPr>
              <a:defRPr/>
            </a:pPr>
            <a:endParaRPr lang="en-US" dirty="0">
              <a:latin typeface="Arial" pitchFamily="34" charset="0"/>
            </a:endParaRPr>
          </a:p>
        </p:txBody>
      </p:sp>
      <p:sp>
        <p:nvSpPr>
          <p:cNvPr id="40964" name="Rectangle 4"/>
          <p:cNvSpPr>
            <a:spLocks noGrp="1" noChangeArrowheads="1"/>
          </p:cNvSpPr>
          <p:nvPr>
            <p:ph type="ftr" sz="quarter" idx="2"/>
          </p:nvPr>
        </p:nvSpPr>
        <p:spPr bwMode="auto">
          <a:xfrm>
            <a:off x="0" y="9723438"/>
            <a:ext cx="3076575" cy="511175"/>
          </a:xfrm>
          <a:prstGeom prst="rect">
            <a:avLst/>
          </a:prstGeom>
          <a:noFill/>
          <a:ln w="9525">
            <a:noFill/>
            <a:miter lim="800000"/>
            <a:headEnd/>
            <a:tailEnd/>
          </a:ln>
          <a:effectLst/>
        </p:spPr>
        <p:txBody>
          <a:bodyPr vert="horz" wrap="none" lIns="99041" tIns="49521" rIns="99041" bIns="49521" numCol="1" anchor="b" anchorCtr="0" compatLnSpc="1">
            <a:prstTxWarp prst="textNoShape">
              <a:avLst/>
            </a:prstTxWarp>
          </a:bodyPr>
          <a:lstStyle>
            <a:lvl1pPr defTabSz="990600">
              <a:defRPr sz="1300" b="0"/>
            </a:lvl1pPr>
          </a:lstStyle>
          <a:p>
            <a:pPr>
              <a:defRPr/>
            </a:pPr>
            <a:endParaRPr lang="en-US" dirty="0">
              <a:latin typeface="Arial" pitchFamily="34" charset="0"/>
            </a:endParaRPr>
          </a:p>
        </p:txBody>
      </p:sp>
      <p:sp>
        <p:nvSpPr>
          <p:cNvPr id="40965" name="Rectangle 5"/>
          <p:cNvSpPr>
            <a:spLocks noGrp="1" noChangeArrowheads="1"/>
          </p:cNvSpPr>
          <p:nvPr>
            <p:ph type="sldNum" sz="quarter" idx="3"/>
          </p:nvPr>
        </p:nvSpPr>
        <p:spPr bwMode="auto">
          <a:xfrm>
            <a:off x="4022725" y="9723438"/>
            <a:ext cx="3076575" cy="511175"/>
          </a:xfrm>
          <a:prstGeom prst="rect">
            <a:avLst/>
          </a:prstGeom>
          <a:noFill/>
          <a:ln w="9525">
            <a:noFill/>
            <a:miter lim="800000"/>
            <a:headEnd/>
            <a:tailEnd/>
          </a:ln>
          <a:effectLst/>
        </p:spPr>
        <p:txBody>
          <a:bodyPr vert="horz" wrap="none" lIns="99041" tIns="49521" rIns="99041" bIns="49521" numCol="1" anchor="b" anchorCtr="0" compatLnSpc="1">
            <a:prstTxWarp prst="textNoShape">
              <a:avLst/>
            </a:prstTxWarp>
          </a:bodyPr>
          <a:lstStyle>
            <a:lvl1pPr algn="r" defTabSz="990600">
              <a:defRPr sz="1300" b="0"/>
            </a:lvl1pPr>
          </a:lstStyle>
          <a:p>
            <a:pPr>
              <a:defRPr/>
            </a:pPr>
            <a:fld id="{4CD39E92-0C7B-4544-834A-F746E5CE45A8}" type="slidenum">
              <a:rPr lang="ar-SA">
                <a:latin typeface="Arial" pitchFamily="34" charset="0"/>
              </a:rPr>
              <a:pPr>
                <a:defRPr/>
              </a:pPr>
              <a:t>‹#›</a:t>
            </a:fld>
            <a:endParaRPr lang="en-US" dirty="0">
              <a:latin typeface="Arial" pitchFamily="34" charset="0"/>
            </a:endParaRPr>
          </a:p>
        </p:txBody>
      </p:sp>
    </p:spTree>
    <p:extLst>
      <p:ext uri="{BB962C8B-B14F-4D97-AF65-F5344CB8AC3E}">
        <p14:creationId xmlns:p14="http://schemas.microsoft.com/office/powerpoint/2010/main" val="26702321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1" tIns="49521" rIns="99041" bIns="49521" numCol="1" anchor="t" anchorCtr="0" compatLnSpc="1">
            <a:prstTxWarp prst="textNoShape">
              <a:avLst/>
            </a:prstTxWarp>
          </a:bodyPr>
          <a:lstStyle>
            <a:lvl1pPr defTabSz="990600">
              <a:defRPr sz="1300" b="0">
                <a:latin typeface="Marlett" pitchFamily="2" charset="2"/>
              </a:defRPr>
            </a:lvl1pPr>
          </a:lstStyle>
          <a:p>
            <a:pPr>
              <a:defRPr/>
            </a:pPr>
            <a:r>
              <a:rPr lang="en-US"/>
              <a:t>© 2003 Herlihy and Shavit</a:t>
            </a:r>
          </a:p>
        </p:txBody>
      </p:sp>
      <p:sp>
        <p:nvSpPr>
          <p:cNvPr id="6147" name="Rectangle 3"/>
          <p:cNvSpPr>
            <a:spLocks noGrp="1" noChangeArrowheads="1"/>
          </p:cNvSpPr>
          <p:nvPr>
            <p:ph type="dt" idx="1"/>
          </p:nvPr>
        </p:nvSpPr>
        <p:spPr bwMode="auto">
          <a:xfrm>
            <a:off x="4022725" y="0"/>
            <a:ext cx="3076575" cy="511175"/>
          </a:xfrm>
          <a:prstGeom prst="rect">
            <a:avLst/>
          </a:prstGeom>
          <a:noFill/>
          <a:ln w="9525">
            <a:noFill/>
            <a:miter lim="800000"/>
            <a:headEnd/>
            <a:tailEnd/>
          </a:ln>
          <a:effectLst/>
        </p:spPr>
        <p:txBody>
          <a:bodyPr vert="horz" wrap="square" lIns="99041" tIns="49521" rIns="99041" bIns="49521" numCol="1" anchor="t" anchorCtr="0" compatLnSpc="1">
            <a:prstTxWarp prst="textNoShape">
              <a:avLst/>
            </a:prstTxWarp>
          </a:bodyPr>
          <a:lstStyle>
            <a:lvl1pPr algn="r" defTabSz="990600">
              <a:defRPr sz="1300" b="0">
                <a:latin typeface="Marlett" pitchFamily="2" charset="2"/>
              </a:defRPr>
            </a:lvl1pPr>
          </a:lstStyle>
          <a:p>
            <a:pPr>
              <a:defRPr/>
            </a:pPr>
            <a:endParaRPr lang="en-US"/>
          </a:p>
        </p:txBody>
      </p:sp>
      <p:sp>
        <p:nvSpPr>
          <p:cNvPr id="66564" name="Rectangle 4"/>
          <p:cNvSpPr>
            <a:spLocks noGrp="1" noRot="1" noChangeAspect="1" noChangeArrowheads="1" noTextEdit="1"/>
          </p:cNvSpPr>
          <p:nvPr>
            <p:ph type="sldImg" idx="2"/>
          </p:nvPr>
        </p:nvSpPr>
        <p:spPr bwMode="auto">
          <a:xfrm>
            <a:off x="990600" y="768350"/>
            <a:ext cx="5118100" cy="3838575"/>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47738" y="4862513"/>
            <a:ext cx="5203825" cy="4603750"/>
          </a:xfrm>
          <a:prstGeom prst="rect">
            <a:avLst/>
          </a:prstGeom>
          <a:noFill/>
          <a:ln w="9525">
            <a:noFill/>
            <a:miter lim="800000"/>
            <a:headEnd/>
            <a:tailEnd/>
          </a:ln>
          <a:effectLst/>
        </p:spPr>
        <p:txBody>
          <a:bodyPr vert="horz" wrap="square" lIns="99041" tIns="49521" rIns="99041" bIns="49521"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150" name="Rectangle 6"/>
          <p:cNvSpPr>
            <a:spLocks noGrp="1" noChangeArrowheads="1"/>
          </p:cNvSpPr>
          <p:nvPr>
            <p:ph type="ftr" sz="quarter" idx="4"/>
          </p:nvPr>
        </p:nvSpPr>
        <p:spPr bwMode="auto">
          <a:xfrm>
            <a:off x="0" y="9723438"/>
            <a:ext cx="3076575" cy="511175"/>
          </a:xfrm>
          <a:prstGeom prst="rect">
            <a:avLst/>
          </a:prstGeom>
          <a:noFill/>
          <a:ln w="9525">
            <a:noFill/>
            <a:miter lim="800000"/>
            <a:headEnd/>
            <a:tailEnd/>
          </a:ln>
          <a:effectLst/>
        </p:spPr>
        <p:txBody>
          <a:bodyPr vert="horz" wrap="square" lIns="99041" tIns="49521" rIns="99041" bIns="49521" numCol="1" anchor="b" anchorCtr="0" compatLnSpc="1">
            <a:prstTxWarp prst="textNoShape">
              <a:avLst/>
            </a:prstTxWarp>
          </a:bodyPr>
          <a:lstStyle>
            <a:lvl1pPr defTabSz="990600">
              <a:defRPr sz="1300" b="0">
                <a:latin typeface="Marlett" pitchFamily="2" charset="2"/>
              </a:defRPr>
            </a:lvl1pPr>
          </a:lstStyle>
          <a:p>
            <a:pPr>
              <a:defRPr/>
            </a:pPr>
            <a:endParaRPr lang="en-US"/>
          </a:p>
        </p:txBody>
      </p:sp>
      <p:sp>
        <p:nvSpPr>
          <p:cNvPr id="6151" name="Rectangle 7"/>
          <p:cNvSpPr>
            <a:spLocks noGrp="1" noChangeArrowheads="1"/>
          </p:cNvSpPr>
          <p:nvPr>
            <p:ph type="sldNum" sz="quarter" idx="5"/>
          </p:nvPr>
        </p:nvSpPr>
        <p:spPr bwMode="auto">
          <a:xfrm>
            <a:off x="4022725" y="9723438"/>
            <a:ext cx="3076575" cy="511175"/>
          </a:xfrm>
          <a:prstGeom prst="rect">
            <a:avLst/>
          </a:prstGeom>
          <a:noFill/>
          <a:ln w="9525">
            <a:noFill/>
            <a:miter lim="800000"/>
            <a:headEnd/>
            <a:tailEnd/>
          </a:ln>
          <a:effectLst/>
        </p:spPr>
        <p:txBody>
          <a:bodyPr vert="horz" wrap="square" lIns="99041" tIns="49521" rIns="99041" bIns="49521" numCol="1" anchor="b" anchorCtr="0" compatLnSpc="1">
            <a:prstTxWarp prst="textNoShape">
              <a:avLst/>
            </a:prstTxWarp>
          </a:bodyPr>
          <a:lstStyle>
            <a:lvl1pPr algn="r" defTabSz="990600">
              <a:defRPr sz="1300" b="0">
                <a:latin typeface="Marlett" pitchFamily="2" charset="2"/>
              </a:defRPr>
            </a:lvl1pPr>
          </a:lstStyle>
          <a:p>
            <a:pPr>
              <a:defRPr/>
            </a:pPr>
            <a:fld id="{748E128D-CC2A-44E0-B7F2-5F29F69B2C94}" type="slidenum">
              <a:rPr lang="ar-SA"/>
              <a:pPr>
                <a:defRPr/>
              </a:pPr>
              <a:t>‹#›</a:t>
            </a:fld>
            <a:endParaRPr lang="en-US"/>
          </a:p>
        </p:txBody>
      </p:sp>
    </p:spTree>
    <p:extLst>
      <p:ext uri="{BB962C8B-B14F-4D97-AF65-F5344CB8AC3E}">
        <p14:creationId xmlns:p14="http://schemas.microsoft.com/office/powerpoint/2010/main" val="865128459"/>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18C608E-EE0F-433D-BFEB-DE265B61B3FA}" type="slidenum">
              <a:rPr lang="en-US"/>
              <a:pPr/>
              <a:t>1</a:t>
            </a:fld>
            <a:endParaRPr lang="en-US"/>
          </a:p>
        </p:txBody>
      </p:sp>
      <p:sp>
        <p:nvSpPr>
          <p:cNvPr id="6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AF87DD0-A627-4EBD-82BC-B932426052A0}" type="slidenum">
              <a:rPr lang="ar-SA" sz="1200">
                <a:solidFill>
                  <a:srgbClr val="0000FF"/>
                </a:solidFill>
                <a:latin typeface="Marlett" pitchFamily="2" charset="2"/>
              </a:rPr>
              <a:pPr algn="r" eaLnBrk="0" hangingPunct="0"/>
              <a:t>1</a:t>
            </a:fld>
            <a:endParaRPr lang="en-US" sz="1200">
              <a:solidFill>
                <a:srgbClr val="0000FF"/>
              </a:solidFill>
              <a:latin typeface="Marlett" pitchFamily="2" charset="2"/>
            </a:endParaRPr>
          </a:p>
        </p:txBody>
      </p:sp>
      <p:sp>
        <p:nvSpPr>
          <p:cNvPr id="6147" name="Rectangle 2"/>
          <p:cNvSpPr>
            <a:spLocks noGrp="1" noRot="1" noChangeAspect="1" noChangeArrowheads="1" noTextEdit="1"/>
          </p:cNvSpPr>
          <p:nvPr>
            <p:ph type="sldImg"/>
          </p:nvPr>
        </p:nvSpPr>
        <p:spPr>
          <a:xfrm>
            <a:off x="1144588" y="685800"/>
            <a:ext cx="4572000" cy="3429000"/>
          </a:xfrm>
          <a:ln/>
        </p:spPr>
      </p:sp>
      <p:sp>
        <p:nvSpPr>
          <p:cNvPr id="614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a:noFill/>
        </p:spPr>
        <p:txBody>
          <a:bodyPr/>
          <a:lstStyle/>
          <a:p>
            <a:r>
              <a:rPr lang="en-US"/>
              <a:t>© 2003 Herlihy and Shavit</a:t>
            </a:r>
          </a:p>
        </p:txBody>
      </p:sp>
      <p:sp>
        <p:nvSpPr>
          <p:cNvPr id="68611" name="Rectangle 7"/>
          <p:cNvSpPr>
            <a:spLocks noGrp="1" noChangeArrowheads="1"/>
          </p:cNvSpPr>
          <p:nvPr>
            <p:ph type="sldNum" sz="quarter" idx="5"/>
          </p:nvPr>
        </p:nvSpPr>
        <p:spPr>
          <a:noFill/>
        </p:spPr>
        <p:txBody>
          <a:bodyPr/>
          <a:lstStyle/>
          <a:p>
            <a:fld id="{B91E72EE-E3D5-469F-AD45-C3102F4576DF}" type="slidenum">
              <a:rPr lang="ar-SA" smtClean="0"/>
              <a:pPr/>
              <a:t>2</a:t>
            </a:fld>
            <a:endParaRPr lang="en-US"/>
          </a:p>
        </p:txBody>
      </p:sp>
      <p:sp>
        <p:nvSpPr>
          <p:cNvPr id="68612" name="Rectangle 2"/>
          <p:cNvSpPr>
            <a:spLocks noGrp="1" noRot="1" noChangeAspect="1" noChangeArrowheads="1" noTextEdit="1"/>
          </p:cNvSpPr>
          <p:nvPr>
            <p:ph type="sldImg"/>
          </p:nvPr>
        </p:nvSpPr>
        <p:spPr>
          <a:ln/>
        </p:spPr>
      </p:sp>
      <p:sp>
        <p:nvSpPr>
          <p:cNvPr id="68613" name="Rectangle 3"/>
          <p:cNvSpPr>
            <a:spLocks noGrp="1" noChangeArrowheads="1"/>
          </p:cNvSpPr>
          <p:nvPr>
            <p:ph type="body" idx="1"/>
          </p:nvPr>
        </p:nvSpPr>
        <p:spPr>
          <a:noFill/>
          <a:ln/>
        </p:spPr>
        <p:txBody>
          <a:bodyPr/>
          <a:lstStyle/>
          <a:p>
            <a:r>
              <a:rPr lang="en-US"/>
              <a:t>We look at how multiprocessor hardware architecture affects the design of efficient concurrent data structures and algorithms. We identify basic components, describe what they do, how they interact, and why some activities that appear fast and simple may sometimes be slow and complex. Mulitprocessors present a nice, simple high-level abstraction:</a:t>
            </a:r>
          </a:p>
          <a:p>
            <a:r>
              <a:rPr lang="en-US"/>
              <a:t>processors read and write values from a shared memory. Unfortunately, this high-level abstraction can be misleading when trying to understand how concurrent algorithms and data.</a:t>
            </a:r>
          </a:p>
          <a:p>
            <a:r>
              <a:rPr lang="en-US"/>
              <a:t>structures perform in practice.</a:t>
            </a:r>
          </a:p>
          <a:p>
            <a:r>
              <a:rPr lang="en-US"/>
              <a:t>Instead, understanding performance requires understanding some of the basic</a:t>
            </a:r>
          </a:p>
          <a:p>
            <a:r>
              <a:rPr lang="en-US"/>
              <a:t>mechanisms residing ``under the hood'' of modern multiprocessor architectures.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a:noFill/>
        </p:spPr>
        <p:txBody>
          <a:bodyPr/>
          <a:lstStyle/>
          <a:p>
            <a:r>
              <a:rPr lang="en-US"/>
              <a:t>© 2003 Herlihy and Shavit</a:t>
            </a:r>
          </a:p>
        </p:txBody>
      </p:sp>
      <p:sp>
        <p:nvSpPr>
          <p:cNvPr id="69635" name="Rectangle 7"/>
          <p:cNvSpPr>
            <a:spLocks noGrp="1" noChangeArrowheads="1"/>
          </p:cNvSpPr>
          <p:nvPr>
            <p:ph type="sldNum" sz="quarter" idx="5"/>
          </p:nvPr>
        </p:nvSpPr>
        <p:spPr>
          <a:noFill/>
        </p:spPr>
        <p:txBody>
          <a:bodyPr/>
          <a:lstStyle/>
          <a:p>
            <a:fld id="{75E605B6-214D-4723-BFE8-C3FC8A4D11A4}" type="slidenum">
              <a:rPr lang="ar-SA" smtClean="0"/>
              <a:pPr/>
              <a:t>3</a:t>
            </a:fld>
            <a:endParaRPr lang="en-US"/>
          </a:p>
        </p:txBody>
      </p:sp>
      <p:sp>
        <p:nvSpPr>
          <p:cNvPr id="69636" name="Rectangle 2"/>
          <p:cNvSpPr>
            <a:spLocks noGrp="1" noRot="1" noChangeAspect="1" noChangeArrowheads="1" noTextEdit="1"/>
          </p:cNvSpPr>
          <p:nvPr>
            <p:ph type="sldImg"/>
          </p:nvPr>
        </p:nvSpPr>
        <p:spPr>
          <a:ln/>
        </p:spPr>
      </p:sp>
      <p:sp>
        <p:nvSpPr>
          <p:cNvPr id="69637"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a:noFill/>
        </p:spPr>
        <p:txBody>
          <a:bodyPr/>
          <a:lstStyle/>
          <a:p>
            <a:r>
              <a:rPr lang="en-US"/>
              <a:t>© 2003 Herlihy and Shavit</a:t>
            </a:r>
          </a:p>
        </p:txBody>
      </p:sp>
      <p:sp>
        <p:nvSpPr>
          <p:cNvPr id="70659" name="Rectangle 7"/>
          <p:cNvSpPr>
            <a:spLocks noGrp="1" noChangeArrowheads="1"/>
          </p:cNvSpPr>
          <p:nvPr>
            <p:ph type="sldNum" sz="quarter" idx="5"/>
          </p:nvPr>
        </p:nvSpPr>
        <p:spPr>
          <a:noFill/>
        </p:spPr>
        <p:txBody>
          <a:bodyPr/>
          <a:lstStyle/>
          <a:p>
            <a:fld id="{8774CE92-304D-42CD-9DCA-B654F1331490}" type="slidenum">
              <a:rPr lang="ar-SA" smtClean="0"/>
              <a:pPr/>
              <a:t>4</a:t>
            </a:fld>
            <a:endParaRPr lang="en-US"/>
          </a:p>
        </p:txBody>
      </p:sp>
      <p:sp>
        <p:nvSpPr>
          <p:cNvPr id="70660" name="Rectangle 2"/>
          <p:cNvSpPr>
            <a:spLocks noGrp="1" noRot="1" noChangeAspect="1" noChangeArrowheads="1" noTextEdit="1"/>
          </p:cNvSpPr>
          <p:nvPr>
            <p:ph type="sldImg"/>
          </p:nvPr>
        </p:nvSpPr>
        <p:spPr>
          <a:ln/>
        </p:spPr>
      </p:sp>
      <p:sp>
        <p:nvSpPr>
          <p:cNvPr id="70661" name="Rectangle 3"/>
          <p:cNvSpPr>
            <a:spLocks noGrp="1" noChangeArrowheads="1"/>
          </p:cNvSpPr>
          <p:nvPr>
            <p:ph type="body" idx="1"/>
          </p:nvPr>
        </p:nvSpPr>
        <p:spPr>
          <a:noFill/>
          <a:ln/>
        </p:spPr>
        <p:txBody>
          <a:bodyPr/>
          <a:lstStyle/>
          <a:p>
            <a:r>
              <a:rPr lang="en-US"/>
              <a:t>Instead of having one processor per chip, as in traditional architectures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a:noFill/>
        </p:spPr>
        <p:txBody>
          <a:bodyPr/>
          <a:lstStyle/>
          <a:p>
            <a:r>
              <a:rPr lang="en-US"/>
              <a:t>© 2003 Herlihy and Shavit</a:t>
            </a:r>
          </a:p>
        </p:txBody>
      </p:sp>
      <p:sp>
        <p:nvSpPr>
          <p:cNvPr id="71683" name="Rectangle 7"/>
          <p:cNvSpPr>
            <a:spLocks noGrp="1" noChangeArrowheads="1"/>
          </p:cNvSpPr>
          <p:nvPr>
            <p:ph type="sldNum" sz="quarter" idx="5"/>
          </p:nvPr>
        </p:nvSpPr>
        <p:spPr>
          <a:noFill/>
        </p:spPr>
        <p:txBody>
          <a:bodyPr/>
          <a:lstStyle/>
          <a:p>
            <a:fld id="{A76D22BF-470B-4F0D-A22B-BA4035CACFAE}" type="slidenum">
              <a:rPr lang="ar-SA" smtClean="0"/>
              <a:pPr/>
              <a:t>5</a:t>
            </a:fld>
            <a:endParaRPr lang="en-US"/>
          </a:p>
        </p:txBody>
      </p:sp>
      <p:sp>
        <p:nvSpPr>
          <p:cNvPr id="71684" name="Rectangle 2"/>
          <p:cNvSpPr>
            <a:spLocks noGrp="1" noRot="1" noChangeAspect="1" noChangeArrowheads="1" noTextEdit="1"/>
          </p:cNvSpPr>
          <p:nvPr>
            <p:ph type="sldImg"/>
          </p:nvPr>
        </p:nvSpPr>
        <p:spPr>
          <a:ln/>
        </p:spPr>
      </p:sp>
      <p:sp>
        <p:nvSpPr>
          <p:cNvPr id="71685" name="Rectangle 3"/>
          <p:cNvSpPr>
            <a:spLocks noGrp="1" noChangeArrowheads="1"/>
          </p:cNvSpPr>
          <p:nvPr>
            <p:ph type="body" idx="1"/>
          </p:nvPr>
        </p:nvSpPr>
        <p:spPr>
          <a:noFill/>
          <a:ln/>
        </p:spPr>
        <p:txBody>
          <a:bodyPr/>
          <a:lstStyle/>
          <a:p>
            <a:r>
              <a:rPr lang="en-US"/>
              <a:t>The important issue about multicore architectures, however,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p:spPr>
        <p:txBody>
          <a:bodyPr/>
          <a:lstStyle/>
          <a:p>
            <a:r>
              <a:rPr lang="en-US"/>
              <a:t>© 2003 Herlihy and Shavit</a:t>
            </a:r>
          </a:p>
        </p:txBody>
      </p:sp>
      <p:sp>
        <p:nvSpPr>
          <p:cNvPr id="72707" name="Rectangle 7"/>
          <p:cNvSpPr>
            <a:spLocks noGrp="1" noChangeArrowheads="1"/>
          </p:cNvSpPr>
          <p:nvPr>
            <p:ph type="sldNum" sz="quarter" idx="5"/>
          </p:nvPr>
        </p:nvSpPr>
        <p:spPr>
          <a:noFill/>
        </p:spPr>
        <p:txBody>
          <a:bodyPr/>
          <a:lstStyle/>
          <a:p>
            <a:fld id="{A3367FB4-24D0-4C51-A48B-85C4CBCD7F67}" type="slidenum">
              <a:rPr lang="ar-SA" smtClean="0"/>
              <a:pPr/>
              <a:t>6</a:t>
            </a:fld>
            <a:endParaRPr lang="en-US"/>
          </a:p>
        </p:txBody>
      </p:sp>
      <p:sp>
        <p:nvSpPr>
          <p:cNvPr id="72708" name="Rectangle 2"/>
          <p:cNvSpPr>
            <a:spLocks noGrp="1" noRot="1" noChangeAspect="1" noChangeArrowheads="1" noTextEdit="1"/>
          </p:cNvSpPr>
          <p:nvPr>
            <p:ph type="sldImg"/>
          </p:nvPr>
        </p:nvSpPr>
        <p:spPr>
          <a:ln/>
        </p:spPr>
      </p:sp>
      <p:sp>
        <p:nvSpPr>
          <p:cNvPr id="72709" name="Rectangle 3"/>
          <p:cNvSpPr>
            <a:spLocks noGrp="1" noChangeArrowheads="1"/>
          </p:cNvSpPr>
          <p:nvPr>
            <p:ph type="body" idx="1"/>
          </p:nvPr>
        </p:nvSpPr>
        <p:spPr>
          <a:noFill/>
          <a:ln/>
        </p:spPr>
        <p:txBody>
          <a:bodyPr/>
          <a:lstStyle/>
          <a:p>
            <a:r>
              <a:rPr lang="en-US"/>
              <a:t>Multicore architectures put multiple processors on a single chop.</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hdr" sz="quarter"/>
          </p:nvPr>
        </p:nvSpPr>
        <p:spPr>
          <a:noFill/>
        </p:spPr>
        <p:txBody>
          <a:bodyPr/>
          <a:lstStyle/>
          <a:p>
            <a:r>
              <a:rPr lang="en-US"/>
              <a:t>© 2003 Herlihy and Shavit</a:t>
            </a:r>
          </a:p>
        </p:txBody>
      </p:sp>
      <p:sp>
        <p:nvSpPr>
          <p:cNvPr id="73731" name="Rectangle 7"/>
          <p:cNvSpPr>
            <a:spLocks noGrp="1" noChangeArrowheads="1"/>
          </p:cNvSpPr>
          <p:nvPr>
            <p:ph type="sldNum" sz="quarter" idx="5"/>
          </p:nvPr>
        </p:nvSpPr>
        <p:spPr>
          <a:noFill/>
        </p:spPr>
        <p:txBody>
          <a:bodyPr/>
          <a:lstStyle/>
          <a:p>
            <a:fld id="{C2CDCE16-0CC0-43B3-9A81-93723676419B}" type="slidenum">
              <a:rPr lang="ar-SA" smtClean="0"/>
              <a:pPr/>
              <a:t>7</a:t>
            </a:fld>
            <a:endParaRPr lang="en-US"/>
          </a:p>
        </p:txBody>
      </p:sp>
      <p:sp>
        <p:nvSpPr>
          <p:cNvPr id="73732" name="Rectangle 2"/>
          <p:cNvSpPr>
            <a:spLocks noGrp="1" noRot="1" noChangeAspect="1" noChangeArrowheads="1" noTextEdit="1"/>
          </p:cNvSpPr>
          <p:nvPr>
            <p:ph type="sldImg"/>
          </p:nvPr>
        </p:nvSpPr>
        <p:spPr>
          <a:ln/>
        </p:spPr>
      </p:sp>
      <p:sp>
        <p:nvSpPr>
          <p:cNvPr id="73733" name="Rectangle 3"/>
          <p:cNvSpPr>
            <a:spLocks noGrp="1" noChangeArrowheads="1"/>
          </p:cNvSpPr>
          <p:nvPr>
            <p:ph type="body" idx="1"/>
          </p:nvPr>
        </p:nvSpPr>
        <p:spPr>
          <a:noFill/>
          <a:ln/>
        </p:spPr>
        <p:txBody>
          <a:bodyPr/>
          <a:lstStyle/>
          <a:p>
            <a:r>
              <a:rPr lang="en-US"/>
              <a:t>The important issue about multicore architectures, however,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a:noFill/>
        </p:spPr>
        <p:txBody>
          <a:bodyPr/>
          <a:lstStyle/>
          <a:p>
            <a:r>
              <a:rPr lang="en-US"/>
              <a:t>© 2003 Herlihy and Shavit</a:t>
            </a:r>
          </a:p>
        </p:txBody>
      </p:sp>
      <p:sp>
        <p:nvSpPr>
          <p:cNvPr id="74755" name="Rectangle 7"/>
          <p:cNvSpPr>
            <a:spLocks noGrp="1" noChangeArrowheads="1"/>
          </p:cNvSpPr>
          <p:nvPr>
            <p:ph type="sldNum" sz="quarter" idx="5"/>
          </p:nvPr>
        </p:nvSpPr>
        <p:spPr>
          <a:noFill/>
        </p:spPr>
        <p:txBody>
          <a:bodyPr/>
          <a:lstStyle/>
          <a:p>
            <a:fld id="{FE06CEE6-765A-4F0B-B899-08345A4839B9}" type="slidenum">
              <a:rPr lang="ar-SA" smtClean="0"/>
              <a:pPr/>
              <a:t>8</a:t>
            </a:fld>
            <a:endParaRPr lang="en-US"/>
          </a:p>
        </p:txBody>
      </p:sp>
      <p:sp>
        <p:nvSpPr>
          <p:cNvPr id="74756" name="Rectangle 2"/>
          <p:cNvSpPr>
            <a:spLocks noGrp="1" noRot="1" noChangeAspect="1" noChangeArrowheads="1" noTextEdit="1"/>
          </p:cNvSpPr>
          <p:nvPr>
            <p:ph type="sldImg"/>
          </p:nvPr>
        </p:nvSpPr>
        <p:spPr>
          <a:xfrm>
            <a:off x="992188" y="768350"/>
            <a:ext cx="5114925" cy="3836988"/>
          </a:xfrm>
          <a:ln/>
        </p:spPr>
      </p:sp>
      <p:sp>
        <p:nvSpPr>
          <p:cNvPr id="74757" name="Rectangle 3"/>
          <p:cNvSpPr>
            <a:spLocks noGrp="1" noChangeArrowheads="1"/>
          </p:cNvSpPr>
          <p:nvPr>
            <p:ph type="body" idx="1"/>
          </p:nvPr>
        </p:nvSpPr>
        <p:spPr>
          <a:xfrm>
            <a:off x="946150" y="4860925"/>
            <a:ext cx="5207000" cy="4605338"/>
          </a:xfrm>
          <a:noFill/>
          <a:ln/>
        </p:spPr>
        <p:txBody>
          <a:bodyPr/>
          <a:lstStyle/>
          <a:p>
            <a:r>
              <a:rPr lang="en-US"/>
              <a:t>In an SMP architecture, both processors and memory hang off a bus. This works well for small-scale systems. In a NUMA (non-uniform memory access) architecture, each processor has its own piece of the memory. Accessing your own memory is relatively fast, and accessing someone else’s is slower. Usually NUMA machines also have caches, in which case they are called CC-NUMA machines, for cache-coherent NUMA.</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a:noFill/>
        </p:spPr>
        <p:txBody>
          <a:bodyPr/>
          <a:lstStyle/>
          <a:p>
            <a:r>
              <a:rPr lang="en-US"/>
              <a:t>© 2003 Herlihy and Shavit</a:t>
            </a:r>
          </a:p>
        </p:txBody>
      </p:sp>
      <p:sp>
        <p:nvSpPr>
          <p:cNvPr id="75779" name="Rectangle 7"/>
          <p:cNvSpPr>
            <a:spLocks noGrp="1" noChangeArrowheads="1"/>
          </p:cNvSpPr>
          <p:nvPr>
            <p:ph type="sldNum" sz="quarter" idx="5"/>
          </p:nvPr>
        </p:nvSpPr>
        <p:spPr>
          <a:noFill/>
        </p:spPr>
        <p:txBody>
          <a:bodyPr/>
          <a:lstStyle/>
          <a:p>
            <a:fld id="{4EAE04BC-CEAF-4D10-8319-76F386711E7E}" type="slidenum">
              <a:rPr lang="ar-SA" smtClean="0"/>
              <a:pPr/>
              <a:t>9</a:t>
            </a:fld>
            <a:endParaRPr lang="en-US"/>
          </a:p>
        </p:txBody>
      </p:sp>
      <p:sp>
        <p:nvSpPr>
          <p:cNvPr id="75780" name="Rectangle 2"/>
          <p:cNvSpPr>
            <a:spLocks noGrp="1" noRot="1" noChangeAspect="1" noChangeArrowheads="1" noTextEdit="1"/>
          </p:cNvSpPr>
          <p:nvPr>
            <p:ph type="sldImg"/>
          </p:nvPr>
        </p:nvSpPr>
        <p:spPr>
          <a:ln/>
        </p:spPr>
      </p:sp>
      <p:sp>
        <p:nvSpPr>
          <p:cNvPr id="75781" name="Rectangle 3"/>
          <p:cNvSpPr>
            <a:spLocks noGrp="1" noChangeArrowheads="1"/>
          </p:cNvSpPr>
          <p:nvPr>
            <p:ph type="body" idx="1"/>
          </p:nvPr>
        </p:nvSpPr>
        <p:spPr>
          <a:noFill/>
          <a:ln/>
        </p:spPr>
        <p:txBody>
          <a:bodyPr/>
          <a:lstStyle/>
          <a:p>
            <a:r>
              <a:rPr lang="en-US"/>
              <a:t>The important issue about multicore architectures, however,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a:noFill/>
        </p:spPr>
        <p:txBody>
          <a:bodyPr/>
          <a:lstStyle/>
          <a:p>
            <a:r>
              <a:rPr lang="en-US"/>
              <a:t>© 2003 Herlihy and Shavit</a:t>
            </a:r>
          </a:p>
        </p:txBody>
      </p:sp>
      <p:sp>
        <p:nvSpPr>
          <p:cNvPr id="76803" name="Rectangle 7"/>
          <p:cNvSpPr>
            <a:spLocks noGrp="1" noChangeArrowheads="1"/>
          </p:cNvSpPr>
          <p:nvPr>
            <p:ph type="sldNum" sz="quarter" idx="5"/>
          </p:nvPr>
        </p:nvSpPr>
        <p:spPr>
          <a:noFill/>
        </p:spPr>
        <p:txBody>
          <a:bodyPr/>
          <a:lstStyle/>
          <a:p>
            <a:fld id="{A084E711-625C-45E6-80A4-45A9187C487F}" type="slidenum">
              <a:rPr lang="ar-SA" smtClean="0"/>
              <a:pPr/>
              <a:t>10</a:t>
            </a:fld>
            <a:endParaRPr lang="en-US"/>
          </a:p>
        </p:txBody>
      </p:sp>
      <p:sp>
        <p:nvSpPr>
          <p:cNvPr id="76804" name="Rectangle 2"/>
          <p:cNvSpPr>
            <a:spLocks noGrp="1" noRot="1" noChangeAspect="1" noChangeArrowheads="1" noTextEdit="1"/>
          </p:cNvSpPr>
          <p:nvPr>
            <p:ph type="sldImg"/>
          </p:nvPr>
        </p:nvSpPr>
        <p:spPr>
          <a:ln/>
        </p:spPr>
      </p:sp>
      <p:sp>
        <p:nvSpPr>
          <p:cNvPr id="76805"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a:noFill/>
        </p:spPr>
        <p:txBody>
          <a:bodyPr/>
          <a:lstStyle/>
          <a:p>
            <a:r>
              <a:rPr lang="en-US"/>
              <a:t>© 2003 Herlihy and Shavit</a:t>
            </a:r>
          </a:p>
        </p:txBody>
      </p:sp>
      <p:sp>
        <p:nvSpPr>
          <p:cNvPr id="77827" name="Rectangle 7"/>
          <p:cNvSpPr>
            <a:spLocks noGrp="1" noChangeArrowheads="1"/>
          </p:cNvSpPr>
          <p:nvPr>
            <p:ph type="sldNum" sz="quarter" idx="5"/>
          </p:nvPr>
        </p:nvSpPr>
        <p:spPr>
          <a:noFill/>
        </p:spPr>
        <p:txBody>
          <a:bodyPr/>
          <a:lstStyle/>
          <a:p>
            <a:fld id="{359DF89B-E111-4DDD-88DB-DD0BE1485D03}" type="slidenum">
              <a:rPr lang="ar-SA" smtClean="0"/>
              <a:pPr/>
              <a:t>11</a:t>
            </a:fld>
            <a:endParaRPr lang="en-US"/>
          </a:p>
        </p:txBody>
      </p:sp>
      <p:sp>
        <p:nvSpPr>
          <p:cNvPr id="77828" name="Rectangle 2"/>
          <p:cNvSpPr>
            <a:spLocks noGrp="1" noRot="1" noChangeAspect="1" noChangeArrowheads="1" noTextEdit="1"/>
          </p:cNvSpPr>
          <p:nvPr>
            <p:ph type="sldImg"/>
          </p:nvPr>
        </p:nvSpPr>
        <p:spPr>
          <a:ln/>
        </p:spPr>
      </p:sp>
      <p:sp>
        <p:nvSpPr>
          <p:cNvPr id="77829" name="Rectangle 3"/>
          <p:cNvSpPr>
            <a:spLocks noGrp="1" noChangeArrowheads="1"/>
          </p:cNvSpPr>
          <p:nvPr>
            <p:ph type="body" idx="1"/>
          </p:nvPr>
        </p:nvSpPr>
        <p:spPr>
          <a:noFill/>
          <a:ln/>
        </p:spPr>
        <p:txBody>
          <a:bodyPr/>
          <a:lstStyle/>
          <a:p>
            <a:r>
              <a:rPr lang="en-US"/>
              <a:t>When discussing multiprocessor architectures, the basic unit of time is the </a:t>
            </a:r>
            <a:r>
              <a:rPr lang="en-US" i="1"/>
              <a:t>cycle: </a:t>
            </a:r>
            <a:r>
              <a:rPr lang="en-US"/>
              <a:t>the time it takes a processor to fetch and execute a single instruction. In absolute terms, cycle times change as technology advances (from about 10 million cycles per second in 1980 to about 3,000 million in 2005), and they vary from one platform to another</a:t>
            </a:r>
          </a:p>
          <a:p>
            <a:r>
              <a:rPr lang="en-US"/>
              <a:t>(Processors that control toasters have longer cycles than processors that control web servers). Nevertheless, the relative cost of operations such as memory access changes slowly when expressed in terms of cycles.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a:noFill/>
        </p:spPr>
        <p:txBody>
          <a:bodyPr/>
          <a:lstStyle/>
          <a:p>
            <a:r>
              <a:rPr lang="en-US"/>
              <a:t>© 2003 Herlihy and Shavit</a:t>
            </a:r>
          </a:p>
        </p:txBody>
      </p:sp>
      <p:sp>
        <p:nvSpPr>
          <p:cNvPr id="78851" name="Rectangle 7"/>
          <p:cNvSpPr>
            <a:spLocks noGrp="1" noChangeArrowheads="1"/>
          </p:cNvSpPr>
          <p:nvPr>
            <p:ph type="sldNum" sz="quarter" idx="5"/>
          </p:nvPr>
        </p:nvSpPr>
        <p:spPr>
          <a:noFill/>
        </p:spPr>
        <p:txBody>
          <a:bodyPr/>
          <a:lstStyle/>
          <a:p>
            <a:fld id="{4DB10D79-BD86-46A0-984C-944A656386D6}" type="slidenum">
              <a:rPr lang="ar-SA" smtClean="0"/>
              <a:pPr/>
              <a:t>12</a:t>
            </a:fld>
            <a:endParaRPr lang="en-US"/>
          </a:p>
        </p:txBody>
      </p:sp>
      <p:sp>
        <p:nvSpPr>
          <p:cNvPr id="78852" name="Rectangle 2"/>
          <p:cNvSpPr>
            <a:spLocks noGrp="1" noRot="1" noChangeAspect="1" noChangeArrowheads="1" noTextEdit="1"/>
          </p:cNvSpPr>
          <p:nvPr>
            <p:ph type="sldImg"/>
          </p:nvPr>
        </p:nvSpPr>
        <p:spPr>
          <a:ln/>
        </p:spPr>
      </p:sp>
      <p:sp>
        <p:nvSpPr>
          <p:cNvPr id="78853" name="Rectangle 3"/>
          <p:cNvSpPr>
            <a:spLocks noGrp="1" noChangeArrowheads="1"/>
          </p:cNvSpPr>
          <p:nvPr>
            <p:ph type="body" idx="1"/>
          </p:nvPr>
        </p:nvSpPr>
        <p:spPr>
          <a:noFill/>
          <a:ln/>
        </p:spPr>
        <p:txBody>
          <a:bodyPr/>
          <a:lstStyle/>
          <a:p>
            <a:r>
              <a:rPr lang="en-US"/>
              <a:t>We measure memory access times in cycles, not absolute time. Because memory access times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a:noFill/>
        </p:spPr>
        <p:txBody>
          <a:bodyPr/>
          <a:lstStyle/>
          <a:p>
            <a:r>
              <a:rPr lang="en-US"/>
              <a:t>© 2003 Herlihy and Shavit</a:t>
            </a:r>
          </a:p>
        </p:txBody>
      </p:sp>
      <p:sp>
        <p:nvSpPr>
          <p:cNvPr id="79875" name="Rectangle 7"/>
          <p:cNvSpPr>
            <a:spLocks noGrp="1" noChangeArrowheads="1"/>
          </p:cNvSpPr>
          <p:nvPr>
            <p:ph type="sldNum" sz="quarter" idx="5"/>
          </p:nvPr>
        </p:nvSpPr>
        <p:spPr>
          <a:noFill/>
        </p:spPr>
        <p:txBody>
          <a:bodyPr/>
          <a:lstStyle/>
          <a:p>
            <a:fld id="{9DB6CAEB-8661-4C74-A688-D7B411C2D496}" type="slidenum">
              <a:rPr lang="ar-SA" smtClean="0"/>
              <a:pPr/>
              <a:t>13</a:t>
            </a:fld>
            <a:endParaRPr lang="en-US"/>
          </a:p>
        </p:txBody>
      </p:sp>
      <p:sp>
        <p:nvSpPr>
          <p:cNvPr id="79876" name="Rectangle 2"/>
          <p:cNvSpPr>
            <a:spLocks noGrp="1" noRot="1" noChangeAspect="1" noChangeArrowheads="1" noTextEdit="1"/>
          </p:cNvSpPr>
          <p:nvPr>
            <p:ph type="sldImg"/>
          </p:nvPr>
        </p:nvSpPr>
        <p:spPr>
          <a:ln/>
        </p:spPr>
      </p:sp>
      <p:sp>
        <p:nvSpPr>
          <p:cNvPr id="79877" name="Rectangle 3"/>
          <p:cNvSpPr>
            <a:spLocks noGrp="1" noChangeArrowheads="1"/>
          </p:cNvSpPr>
          <p:nvPr>
            <p:ph type="body" idx="1"/>
          </p:nvPr>
        </p:nvSpPr>
        <p:spPr>
          <a:noFill/>
          <a:ln/>
        </p:spPr>
        <p:txBody>
          <a:bodyPr/>
          <a:lstStyle/>
          <a:p>
            <a:r>
              <a:rPr lang="en-US"/>
              <a:t>A </a:t>
            </a:r>
            <a:r>
              <a:rPr lang="en-US" i="1"/>
              <a:t>thread</a:t>
            </a:r>
            <a:r>
              <a:rPr lang="en-US"/>
              <a:t> is a sequential program. While a processor is a hardware device, a thread is a software construct. A processor can run a thread for a while and then set it aside and run another thread. A processor may set aside a thread for a variety of reasons. Perhaps the thread has issued a memory request that will take some time to satisfy, or perhaps that thread has simply run long enough, and it is time for another thread to make progress. When a thread is suspended, it may resume execution on another processor.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hdr" sz="quarter"/>
          </p:nvPr>
        </p:nvSpPr>
        <p:spPr>
          <a:noFill/>
        </p:spPr>
        <p:txBody>
          <a:bodyPr/>
          <a:lstStyle/>
          <a:p>
            <a:r>
              <a:rPr lang="en-US"/>
              <a:t>© 2003 Herlihy and Shavit</a:t>
            </a:r>
          </a:p>
        </p:txBody>
      </p:sp>
      <p:sp>
        <p:nvSpPr>
          <p:cNvPr id="80899" name="Rectangle 7"/>
          <p:cNvSpPr>
            <a:spLocks noGrp="1" noChangeArrowheads="1"/>
          </p:cNvSpPr>
          <p:nvPr>
            <p:ph type="sldNum" sz="quarter" idx="5"/>
          </p:nvPr>
        </p:nvSpPr>
        <p:spPr>
          <a:noFill/>
        </p:spPr>
        <p:txBody>
          <a:bodyPr/>
          <a:lstStyle/>
          <a:p>
            <a:fld id="{7BB82807-7A0C-4A61-A8D5-6A4E50A1D35F}" type="slidenum">
              <a:rPr lang="ar-SA" smtClean="0"/>
              <a:pPr/>
              <a:t>14</a:t>
            </a:fld>
            <a:endParaRPr lang="en-US"/>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p:spPr>
        <p:txBody>
          <a:bodyPr/>
          <a:lstStyle/>
          <a:p>
            <a:r>
              <a:rPr lang="en-US"/>
              <a:t>By analogy, you (a thread) are working in an office (a processor). Whenever you step out to eat lunch or mail a letter, someone else moves in and uses your office while you are gone. Every now and then a security guard forcibly escorts you to the cafeteria or</a:t>
            </a:r>
          </a:p>
          <a:p>
            <a:r>
              <a:rPr lang="en-US"/>
              <a:t>bathroom so someone else can have a chance to use your office. When you return, you may be put in a different office.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hdr" sz="quarter"/>
          </p:nvPr>
        </p:nvSpPr>
        <p:spPr>
          <a:noFill/>
        </p:spPr>
        <p:txBody>
          <a:bodyPr/>
          <a:lstStyle/>
          <a:p>
            <a:r>
              <a:rPr lang="en-US"/>
              <a:t>© 2003 Herlihy and Shavit</a:t>
            </a:r>
          </a:p>
        </p:txBody>
      </p:sp>
      <p:sp>
        <p:nvSpPr>
          <p:cNvPr id="81923" name="Rectangle 7"/>
          <p:cNvSpPr>
            <a:spLocks noGrp="1" noChangeArrowheads="1"/>
          </p:cNvSpPr>
          <p:nvPr>
            <p:ph type="sldNum" sz="quarter" idx="5"/>
          </p:nvPr>
        </p:nvSpPr>
        <p:spPr>
          <a:noFill/>
        </p:spPr>
        <p:txBody>
          <a:bodyPr/>
          <a:lstStyle/>
          <a:p>
            <a:fld id="{4B41ADA4-72CB-4287-B89E-777DF9C42D20}" type="slidenum">
              <a:rPr lang="ar-SA" smtClean="0"/>
              <a:pPr/>
              <a:t>15</a:t>
            </a:fld>
            <a:endParaRPr lang="en-US"/>
          </a:p>
        </p:txBody>
      </p:sp>
      <p:sp>
        <p:nvSpPr>
          <p:cNvPr id="81924" name="Rectangle 2"/>
          <p:cNvSpPr>
            <a:spLocks noGrp="1" noRot="1" noChangeAspect="1" noChangeArrowheads="1" noTextEdit="1"/>
          </p:cNvSpPr>
          <p:nvPr>
            <p:ph type="sldImg"/>
          </p:nvPr>
        </p:nvSpPr>
        <p:spPr>
          <a:ln/>
        </p:spPr>
      </p:sp>
      <p:sp>
        <p:nvSpPr>
          <p:cNvPr id="81925" name="Rectangle 3"/>
          <p:cNvSpPr>
            <a:spLocks noGrp="1" noChangeArrowheads="1"/>
          </p:cNvSpPr>
          <p:nvPr>
            <p:ph type="body" idx="1"/>
          </p:nvPr>
        </p:nvSpPr>
        <p:spPr>
          <a:noFill/>
          <a:ln/>
        </p:spPr>
        <p:txBody>
          <a:bodyPr/>
          <a:lstStyle/>
          <a:p>
            <a:r>
              <a:rPr lang="en-US"/>
              <a:t>Multirprocessors rely on some kind of interconnect. Usually processors and memory are connected by a bus, which you can think of as a tiny Ethernet. It is a broadcast medium: if one processor sends a message, all the processors and the memory can receive it. Larger machines use a network in which packets are sent point-to-point, like a small local area netowrk.</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hdr" sz="quarter"/>
          </p:nvPr>
        </p:nvSpPr>
        <p:spPr>
          <a:noFill/>
        </p:spPr>
        <p:txBody>
          <a:bodyPr/>
          <a:lstStyle/>
          <a:p>
            <a:r>
              <a:rPr lang="en-US"/>
              <a:t>© 2003 Herlihy and Shavit</a:t>
            </a:r>
          </a:p>
        </p:txBody>
      </p:sp>
      <p:sp>
        <p:nvSpPr>
          <p:cNvPr id="82947" name="Rectangle 7"/>
          <p:cNvSpPr>
            <a:spLocks noGrp="1" noChangeArrowheads="1"/>
          </p:cNvSpPr>
          <p:nvPr>
            <p:ph type="sldNum" sz="quarter" idx="5"/>
          </p:nvPr>
        </p:nvSpPr>
        <p:spPr>
          <a:noFill/>
        </p:spPr>
        <p:txBody>
          <a:bodyPr/>
          <a:lstStyle/>
          <a:p>
            <a:fld id="{F5EBAD0D-2BD7-42D1-B089-609814F5EE01}" type="slidenum">
              <a:rPr lang="ar-SA" smtClean="0"/>
              <a:pPr/>
              <a:t>16</a:t>
            </a:fld>
            <a:endParaRPr lang="en-US"/>
          </a:p>
        </p:txBody>
      </p:sp>
      <p:sp>
        <p:nvSpPr>
          <p:cNvPr id="82948" name="Rectangle 2"/>
          <p:cNvSpPr>
            <a:spLocks noGrp="1" noRot="1" noChangeAspect="1" noChangeArrowheads="1" noTextEdit="1"/>
          </p:cNvSpPr>
          <p:nvPr>
            <p:ph type="sldImg"/>
          </p:nvPr>
        </p:nvSpPr>
        <p:spPr>
          <a:ln/>
        </p:spPr>
      </p:sp>
      <p:sp>
        <p:nvSpPr>
          <p:cNvPr id="82949" name="Rectangle 3"/>
          <p:cNvSpPr>
            <a:spLocks noGrp="1" noChangeArrowheads="1"/>
          </p:cNvSpPr>
          <p:nvPr>
            <p:ph type="body" idx="1"/>
          </p:nvPr>
        </p:nvSpPr>
        <p:spPr>
          <a:noFill/>
          <a:ln/>
        </p:spPr>
        <p:txBody>
          <a:bodyPr/>
          <a:lstStyle/>
          <a:p>
            <a:r>
              <a:rPr lang="en-US"/>
              <a:t>When you are designing a concurrent algorithm or data structure, you don’t need to know the details of how the interconnect works. All you need to know is that interconnect bandwidth is a finite resource, and if your algorithm causes a lot of traffic, it won’t perform very well.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hdr" sz="quarter"/>
          </p:nvPr>
        </p:nvSpPr>
        <p:spPr>
          <a:noFill/>
        </p:spPr>
        <p:txBody>
          <a:bodyPr/>
          <a:lstStyle/>
          <a:p>
            <a:r>
              <a:rPr lang="en-US"/>
              <a:t>© 2003 Herlihy and Shavit</a:t>
            </a:r>
          </a:p>
        </p:txBody>
      </p:sp>
      <p:sp>
        <p:nvSpPr>
          <p:cNvPr id="83971" name="Rectangle 7"/>
          <p:cNvSpPr>
            <a:spLocks noGrp="1" noChangeArrowheads="1"/>
          </p:cNvSpPr>
          <p:nvPr>
            <p:ph type="sldNum" sz="quarter" idx="5"/>
          </p:nvPr>
        </p:nvSpPr>
        <p:spPr>
          <a:noFill/>
        </p:spPr>
        <p:txBody>
          <a:bodyPr/>
          <a:lstStyle/>
          <a:p>
            <a:fld id="{34090BAD-675B-4793-AA19-4A6C5B2E45CD}" type="slidenum">
              <a:rPr lang="ar-SA" smtClean="0"/>
              <a:pPr/>
              <a:t>17</a:t>
            </a:fld>
            <a:endParaRPr lang="en-US"/>
          </a:p>
        </p:txBody>
      </p:sp>
      <p:sp>
        <p:nvSpPr>
          <p:cNvPr id="83972" name="Rectangle 2"/>
          <p:cNvSpPr>
            <a:spLocks noGrp="1" noRot="1" noChangeAspect="1" noChangeArrowheads="1" noTextEdit="1"/>
          </p:cNvSpPr>
          <p:nvPr>
            <p:ph type="sldImg"/>
          </p:nvPr>
        </p:nvSpPr>
        <p:spPr>
          <a:ln/>
        </p:spPr>
      </p:sp>
      <p:sp>
        <p:nvSpPr>
          <p:cNvPr id="83973" name="Rectangle 3"/>
          <p:cNvSpPr>
            <a:spLocks noGrp="1" noChangeArrowheads="1"/>
          </p:cNvSpPr>
          <p:nvPr>
            <p:ph type="body" idx="1"/>
          </p:nvPr>
        </p:nvSpPr>
        <p:spPr>
          <a:noFill/>
          <a:ln/>
        </p:spPr>
        <p:txBody>
          <a:bodyPr/>
          <a:lstStyle/>
          <a:p>
            <a:endParaRPr lang="en-US"/>
          </a:p>
          <a:p>
            <a:r>
              <a:rPr lang="en-US"/>
              <a:t>From our point of view, one architectural principle drives everything else: </a:t>
            </a:r>
            <a:r>
              <a:rPr lang="en-US" i="1"/>
              <a:t>processors and memory are far apart</a:t>
            </a:r>
            <a:r>
              <a:rPr lang="en-US"/>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a:noFill/>
        </p:spPr>
        <p:txBody>
          <a:bodyPr/>
          <a:lstStyle/>
          <a:p>
            <a:r>
              <a:rPr lang="en-US"/>
              <a:t>© 2003 Herlihy and Shavit</a:t>
            </a:r>
          </a:p>
        </p:txBody>
      </p:sp>
      <p:sp>
        <p:nvSpPr>
          <p:cNvPr id="84995" name="Rectangle 7"/>
          <p:cNvSpPr>
            <a:spLocks noGrp="1" noChangeArrowheads="1"/>
          </p:cNvSpPr>
          <p:nvPr>
            <p:ph type="sldNum" sz="quarter" idx="5"/>
          </p:nvPr>
        </p:nvSpPr>
        <p:spPr>
          <a:noFill/>
        </p:spPr>
        <p:txBody>
          <a:bodyPr/>
          <a:lstStyle/>
          <a:p>
            <a:fld id="{274515F2-842E-4248-8BF2-8F61F73D9FD5}" type="slidenum">
              <a:rPr lang="ar-SA" smtClean="0"/>
              <a:pPr/>
              <a:t>18</a:t>
            </a:fld>
            <a:endParaRPr lang="en-US"/>
          </a:p>
        </p:txBody>
      </p:sp>
      <p:sp>
        <p:nvSpPr>
          <p:cNvPr id="84996" name="Rectangle 2"/>
          <p:cNvSpPr>
            <a:spLocks noGrp="1" noRot="1" noChangeAspect="1" noChangeArrowheads="1" noTextEdit="1"/>
          </p:cNvSpPr>
          <p:nvPr>
            <p:ph type="sldImg"/>
          </p:nvPr>
        </p:nvSpPr>
        <p:spPr>
          <a:ln/>
        </p:spPr>
      </p:sp>
      <p:sp>
        <p:nvSpPr>
          <p:cNvPr id="84997" name="Rectangle 3"/>
          <p:cNvSpPr>
            <a:spLocks noGrp="1" noChangeArrowheads="1"/>
          </p:cNvSpPr>
          <p:nvPr>
            <p:ph type="body" idx="1"/>
          </p:nvPr>
        </p:nvSpPr>
        <p:spPr>
          <a:noFill/>
          <a:ln/>
        </p:spPr>
        <p:txBody>
          <a:bodyPr/>
          <a:lstStyle/>
          <a:p>
            <a:r>
              <a:rPr lang="en-US"/>
              <a:t>It takes a long time for a processor to read a value from memory. It has to send the address to the memory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a:noFill/>
        </p:spPr>
        <p:txBody>
          <a:bodyPr/>
          <a:lstStyle/>
          <a:p>
            <a:r>
              <a:rPr lang="en-US"/>
              <a:t>© 2003 Herlihy and Shavit</a:t>
            </a:r>
          </a:p>
        </p:txBody>
      </p:sp>
      <p:sp>
        <p:nvSpPr>
          <p:cNvPr id="86019" name="Rectangle 7"/>
          <p:cNvSpPr>
            <a:spLocks noGrp="1" noChangeArrowheads="1"/>
          </p:cNvSpPr>
          <p:nvPr>
            <p:ph type="sldNum" sz="quarter" idx="5"/>
          </p:nvPr>
        </p:nvSpPr>
        <p:spPr>
          <a:noFill/>
        </p:spPr>
        <p:txBody>
          <a:bodyPr/>
          <a:lstStyle/>
          <a:p>
            <a:fld id="{BE64AD52-B714-4D07-AD4C-ADE15675956A}" type="slidenum">
              <a:rPr lang="ar-SA" smtClean="0"/>
              <a:pPr/>
              <a:t>19</a:t>
            </a:fld>
            <a:endParaRPr lang="en-US"/>
          </a:p>
        </p:txBody>
      </p:sp>
      <p:sp>
        <p:nvSpPr>
          <p:cNvPr id="86020" name="Rectangle 2"/>
          <p:cNvSpPr>
            <a:spLocks noGrp="1" noRot="1" noChangeAspect="1" noChangeArrowheads="1" noTextEdit="1"/>
          </p:cNvSpPr>
          <p:nvPr>
            <p:ph type="sldImg"/>
          </p:nvPr>
        </p:nvSpPr>
        <p:spPr>
          <a:ln/>
        </p:spPr>
      </p:sp>
      <p:sp>
        <p:nvSpPr>
          <p:cNvPr id="86021" name="Rectangle 3"/>
          <p:cNvSpPr>
            <a:spLocks noGrp="1" noChangeArrowheads="1"/>
          </p:cNvSpPr>
          <p:nvPr>
            <p:ph type="body" idx="1"/>
          </p:nvPr>
        </p:nvSpPr>
        <p:spPr>
          <a:noFill/>
          <a:ln/>
        </p:spPr>
        <p:txBody>
          <a:bodyPr/>
          <a:lstStyle/>
          <a:p>
            <a:r>
              <a:rPr lang="en-US"/>
              <a:t>Wait for the message to be delivered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hdr" sz="quarter"/>
          </p:nvPr>
        </p:nvSpPr>
        <p:spPr>
          <a:noFill/>
        </p:spPr>
        <p:txBody>
          <a:bodyPr/>
          <a:lstStyle/>
          <a:p>
            <a:r>
              <a:rPr lang="en-US"/>
              <a:t>© 2003 Herlihy and Shavit</a:t>
            </a:r>
          </a:p>
        </p:txBody>
      </p:sp>
      <p:sp>
        <p:nvSpPr>
          <p:cNvPr id="87043" name="Rectangle 7"/>
          <p:cNvSpPr>
            <a:spLocks noGrp="1" noChangeArrowheads="1"/>
          </p:cNvSpPr>
          <p:nvPr>
            <p:ph type="sldNum" sz="quarter" idx="5"/>
          </p:nvPr>
        </p:nvSpPr>
        <p:spPr>
          <a:noFill/>
        </p:spPr>
        <p:txBody>
          <a:bodyPr/>
          <a:lstStyle/>
          <a:p>
            <a:fld id="{3E61F215-1DDC-4158-A220-7047EF297605}" type="slidenum">
              <a:rPr lang="ar-SA" smtClean="0"/>
              <a:pPr/>
              <a:t>20</a:t>
            </a:fld>
            <a:endParaRPr lang="en-US"/>
          </a:p>
        </p:txBody>
      </p:sp>
      <p:sp>
        <p:nvSpPr>
          <p:cNvPr id="87044" name="Rectangle 2"/>
          <p:cNvSpPr>
            <a:spLocks noGrp="1" noRot="1" noChangeAspect="1" noChangeArrowheads="1" noTextEdit="1"/>
          </p:cNvSpPr>
          <p:nvPr>
            <p:ph type="sldImg"/>
          </p:nvPr>
        </p:nvSpPr>
        <p:spPr>
          <a:ln/>
        </p:spPr>
      </p:sp>
      <p:sp>
        <p:nvSpPr>
          <p:cNvPr id="87045" name="Rectangle 3"/>
          <p:cNvSpPr>
            <a:spLocks noGrp="1" noChangeArrowheads="1"/>
          </p:cNvSpPr>
          <p:nvPr>
            <p:ph type="body" idx="1"/>
          </p:nvPr>
        </p:nvSpPr>
        <p:spPr>
          <a:noFill/>
          <a:ln/>
        </p:spPr>
        <p:txBody>
          <a:bodyPr/>
          <a:lstStyle/>
          <a:p>
            <a:r>
              <a:rPr lang="en-US"/>
              <a:t>And wait or the response to come back.</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a:noFill/>
        </p:spPr>
        <p:txBody>
          <a:bodyPr/>
          <a:lstStyle/>
          <a:p>
            <a:r>
              <a:rPr lang="en-US"/>
              <a:t>© 2003 Herlihy and Shavit</a:t>
            </a:r>
          </a:p>
        </p:txBody>
      </p:sp>
      <p:sp>
        <p:nvSpPr>
          <p:cNvPr id="88067" name="Rectangle 7"/>
          <p:cNvSpPr>
            <a:spLocks noGrp="1" noChangeArrowheads="1"/>
          </p:cNvSpPr>
          <p:nvPr>
            <p:ph type="sldNum" sz="quarter" idx="5"/>
          </p:nvPr>
        </p:nvSpPr>
        <p:spPr>
          <a:noFill/>
        </p:spPr>
        <p:txBody>
          <a:bodyPr/>
          <a:lstStyle/>
          <a:p>
            <a:fld id="{76689E6D-C4FD-4B75-B271-94A7FAC58E1B}" type="slidenum">
              <a:rPr lang="ar-SA" smtClean="0"/>
              <a:pPr/>
              <a:t>21</a:t>
            </a:fld>
            <a:endParaRPr lang="en-US"/>
          </a:p>
        </p:txBody>
      </p:sp>
      <p:sp>
        <p:nvSpPr>
          <p:cNvPr id="88068" name="Rectangle 2"/>
          <p:cNvSpPr>
            <a:spLocks noGrp="1" noRot="1" noChangeAspect="1" noChangeArrowheads="1" noTextEdit="1"/>
          </p:cNvSpPr>
          <p:nvPr>
            <p:ph type="sldImg"/>
          </p:nvPr>
        </p:nvSpPr>
        <p:spPr>
          <a:ln/>
        </p:spPr>
      </p:sp>
      <p:sp>
        <p:nvSpPr>
          <p:cNvPr id="88069" name="Rectangle 3"/>
          <p:cNvSpPr>
            <a:spLocks noGrp="1" noChangeArrowheads="1"/>
          </p:cNvSpPr>
          <p:nvPr>
            <p:ph type="body" idx="1"/>
          </p:nvPr>
        </p:nvSpPr>
        <p:spPr>
          <a:noFill/>
          <a:ln/>
        </p:spPr>
        <p:txBody>
          <a:bodyPr/>
          <a:lstStyle/>
          <a:p>
            <a:r>
              <a:rPr lang="en-US"/>
              <a:t>Writing is similar, except you send the address and the new value, …</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hdr" sz="quarter"/>
          </p:nvPr>
        </p:nvSpPr>
        <p:spPr>
          <a:noFill/>
        </p:spPr>
        <p:txBody>
          <a:bodyPr/>
          <a:lstStyle/>
          <a:p>
            <a:r>
              <a:rPr lang="en-US"/>
              <a:t>© 2003 Herlihy and Shavit</a:t>
            </a:r>
          </a:p>
        </p:txBody>
      </p:sp>
      <p:sp>
        <p:nvSpPr>
          <p:cNvPr id="89091" name="Rectangle 7"/>
          <p:cNvSpPr>
            <a:spLocks noGrp="1" noChangeArrowheads="1"/>
          </p:cNvSpPr>
          <p:nvPr>
            <p:ph type="sldNum" sz="quarter" idx="5"/>
          </p:nvPr>
        </p:nvSpPr>
        <p:spPr>
          <a:noFill/>
        </p:spPr>
        <p:txBody>
          <a:bodyPr/>
          <a:lstStyle/>
          <a:p>
            <a:fld id="{9210D796-2C70-4B4A-BB86-972982A689DA}" type="slidenum">
              <a:rPr lang="ar-SA" smtClean="0"/>
              <a:pPr/>
              <a:t>22</a:t>
            </a:fld>
            <a:endParaRPr lang="en-US"/>
          </a:p>
        </p:txBody>
      </p:sp>
      <p:sp>
        <p:nvSpPr>
          <p:cNvPr id="89092" name="Rectangle 2"/>
          <p:cNvSpPr>
            <a:spLocks noGrp="1" noRot="1" noChangeAspect="1" noChangeArrowheads="1" noTextEdit="1"/>
          </p:cNvSpPr>
          <p:nvPr>
            <p:ph type="sldImg"/>
          </p:nvPr>
        </p:nvSpPr>
        <p:spPr>
          <a:ln/>
        </p:spPr>
      </p:sp>
      <p:sp>
        <p:nvSpPr>
          <p:cNvPr id="89093" name="Rectangle 3"/>
          <p:cNvSpPr>
            <a:spLocks noGrp="1" noChangeArrowheads="1"/>
          </p:cNvSpPr>
          <p:nvPr>
            <p:ph type="body" idx="1"/>
          </p:nvPr>
        </p:nvSpPr>
        <p:spPr>
          <a:noFill/>
          <a:ln/>
        </p:spPr>
        <p:txBody>
          <a:bodyPr/>
          <a:lstStyle/>
          <a:p>
            <a:r>
              <a:rPr lang="en-US"/>
              <a:t>Wait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hdr" sz="quarter"/>
          </p:nvPr>
        </p:nvSpPr>
        <p:spPr>
          <a:noFill/>
        </p:spPr>
        <p:txBody>
          <a:bodyPr/>
          <a:lstStyle/>
          <a:p>
            <a:r>
              <a:rPr lang="en-US"/>
              <a:t>© 2003 Herlihy and Shavit</a:t>
            </a:r>
          </a:p>
        </p:txBody>
      </p:sp>
      <p:sp>
        <p:nvSpPr>
          <p:cNvPr id="90115" name="Rectangle 7"/>
          <p:cNvSpPr>
            <a:spLocks noGrp="1" noChangeArrowheads="1"/>
          </p:cNvSpPr>
          <p:nvPr>
            <p:ph type="sldNum" sz="quarter" idx="5"/>
          </p:nvPr>
        </p:nvSpPr>
        <p:spPr>
          <a:noFill/>
        </p:spPr>
        <p:txBody>
          <a:bodyPr/>
          <a:lstStyle/>
          <a:p>
            <a:fld id="{D6332059-1981-4C76-A20C-06AB65E73BF5}" type="slidenum">
              <a:rPr lang="ar-SA" smtClean="0"/>
              <a:pPr/>
              <a:t>23</a:t>
            </a:fld>
            <a:endParaRPr lang="en-US"/>
          </a:p>
        </p:txBody>
      </p:sp>
      <p:sp>
        <p:nvSpPr>
          <p:cNvPr id="90116" name="Rectangle 2"/>
          <p:cNvSpPr>
            <a:spLocks noGrp="1" noRot="1" noChangeAspect="1" noChangeArrowheads="1" noTextEdit="1"/>
          </p:cNvSpPr>
          <p:nvPr>
            <p:ph type="sldImg"/>
          </p:nvPr>
        </p:nvSpPr>
        <p:spPr>
          <a:ln/>
        </p:spPr>
      </p:sp>
      <p:sp>
        <p:nvSpPr>
          <p:cNvPr id="90117" name="Rectangle 3"/>
          <p:cNvSpPr>
            <a:spLocks noGrp="1" noChangeArrowheads="1"/>
          </p:cNvSpPr>
          <p:nvPr>
            <p:ph type="body" idx="1"/>
          </p:nvPr>
        </p:nvSpPr>
        <p:spPr>
          <a:noFill/>
          <a:ln/>
        </p:spPr>
        <p:txBody>
          <a:bodyPr/>
          <a:lstStyle/>
          <a:p>
            <a:r>
              <a:rPr lang="en-US"/>
              <a:t>And then get an acknowledgement that the new value was actually installed in the memory.</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hdr" sz="quarter"/>
          </p:nvPr>
        </p:nvSpPr>
        <p:spPr>
          <a:noFill/>
        </p:spPr>
        <p:txBody>
          <a:bodyPr/>
          <a:lstStyle/>
          <a:p>
            <a:r>
              <a:rPr lang="en-US"/>
              <a:t>© 2003 Herlihy and Shavit</a:t>
            </a:r>
          </a:p>
        </p:txBody>
      </p:sp>
      <p:sp>
        <p:nvSpPr>
          <p:cNvPr id="91139" name="Rectangle 7"/>
          <p:cNvSpPr>
            <a:spLocks noGrp="1" noChangeArrowheads="1"/>
          </p:cNvSpPr>
          <p:nvPr>
            <p:ph type="sldNum" sz="quarter" idx="5"/>
          </p:nvPr>
        </p:nvSpPr>
        <p:spPr>
          <a:noFill/>
        </p:spPr>
        <p:txBody>
          <a:bodyPr/>
          <a:lstStyle/>
          <a:p>
            <a:fld id="{BDBFC9B2-01B5-4F3B-9449-CD0890AA1DBC}" type="slidenum">
              <a:rPr lang="ar-SA" smtClean="0"/>
              <a:pPr/>
              <a:t>24</a:t>
            </a:fld>
            <a:endParaRPr lang="en-US"/>
          </a:p>
        </p:txBody>
      </p:sp>
      <p:sp>
        <p:nvSpPr>
          <p:cNvPr id="91140" name="Rectangle 2"/>
          <p:cNvSpPr>
            <a:spLocks noGrp="1" noRot="1" noChangeAspect="1" noChangeArrowheads="1" noTextEdit="1"/>
          </p:cNvSpPr>
          <p:nvPr>
            <p:ph type="sldImg"/>
          </p:nvPr>
        </p:nvSpPr>
        <p:spPr>
          <a:ln/>
        </p:spPr>
      </p:sp>
      <p:sp>
        <p:nvSpPr>
          <p:cNvPr id="91141" name="Rectangle 3"/>
          <p:cNvSpPr>
            <a:spLocks noGrp="1" noChangeArrowheads="1"/>
          </p:cNvSpPr>
          <p:nvPr>
            <p:ph type="body" idx="1"/>
          </p:nvPr>
        </p:nvSpPr>
        <p:spPr>
          <a:noFill/>
          <a:ln/>
        </p:spPr>
        <p:txBody>
          <a:bodyPr/>
          <a:lstStyle/>
          <a:p>
            <a:r>
              <a:rPr lang="en-US"/>
              <a:t>We alleviate this problem by introducing one or more </a:t>
            </a:r>
            <a:r>
              <a:rPr lang="en-US" b="1"/>
              <a:t>caches:</a:t>
            </a:r>
            <a:r>
              <a:rPr lang="en-US"/>
              <a:t> small, fast memories situated between main memory and processors.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a:noFill/>
        </p:spPr>
        <p:txBody>
          <a:bodyPr/>
          <a:lstStyle/>
          <a:p>
            <a:r>
              <a:rPr lang="en-US"/>
              <a:t>© 2003 Herlihy and Shavit</a:t>
            </a:r>
          </a:p>
        </p:txBody>
      </p:sp>
      <p:sp>
        <p:nvSpPr>
          <p:cNvPr id="92163" name="Rectangle 7"/>
          <p:cNvSpPr>
            <a:spLocks noGrp="1" noChangeArrowheads="1"/>
          </p:cNvSpPr>
          <p:nvPr>
            <p:ph type="sldNum" sz="quarter" idx="5"/>
          </p:nvPr>
        </p:nvSpPr>
        <p:spPr>
          <a:noFill/>
        </p:spPr>
        <p:txBody>
          <a:bodyPr/>
          <a:lstStyle/>
          <a:p>
            <a:fld id="{56B79DD6-3C7F-4180-B569-E4EBB9793561}" type="slidenum">
              <a:rPr lang="ar-SA" smtClean="0"/>
              <a:pPr/>
              <a:t>25</a:t>
            </a:fld>
            <a:endParaRPr lang="en-US"/>
          </a:p>
        </p:txBody>
      </p:sp>
      <p:sp>
        <p:nvSpPr>
          <p:cNvPr id="92164" name="Rectangle 2"/>
          <p:cNvSpPr>
            <a:spLocks noGrp="1" noRot="1" noChangeAspect="1" noChangeArrowheads="1" noTextEdit="1"/>
          </p:cNvSpPr>
          <p:nvPr>
            <p:ph type="sldImg"/>
          </p:nvPr>
        </p:nvSpPr>
        <p:spPr>
          <a:ln/>
        </p:spPr>
      </p:sp>
      <p:sp>
        <p:nvSpPr>
          <p:cNvPr id="92165" name="Rectangle 3"/>
          <p:cNvSpPr>
            <a:spLocks noGrp="1" noChangeArrowheads="1"/>
          </p:cNvSpPr>
          <p:nvPr>
            <p:ph type="body" idx="1"/>
          </p:nvPr>
        </p:nvSpPr>
        <p:spPr>
          <a:noFill/>
          <a:ln/>
        </p:spPr>
        <p:txBody>
          <a:bodyPr/>
          <a:lstStyle/>
          <a:p>
            <a:r>
              <a:rPr lang="en-US"/>
              <a:t>Now, when a processor reads a value from memory, it stores the data in the cache before returning the data to the processor.</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hdr" sz="quarter"/>
          </p:nvPr>
        </p:nvSpPr>
        <p:spPr>
          <a:noFill/>
        </p:spPr>
        <p:txBody>
          <a:bodyPr/>
          <a:lstStyle/>
          <a:p>
            <a:r>
              <a:rPr lang="en-US"/>
              <a:t>© 2003 Herlihy and Shavit</a:t>
            </a:r>
          </a:p>
        </p:txBody>
      </p:sp>
      <p:sp>
        <p:nvSpPr>
          <p:cNvPr id="93187" name="Rectangle 7"/>
          <p:cNvSpPr>
            <a:spLocks noGrp="1" noChangeArrowheads="1"/>
          </p:cNvSpPr>
          <p:nvPr>
            <p:ph type="sldNum" sz="quarter" idx="5"/>
          </p:nvPr>
        </p:nvSpPr>
        <p:spPr>
          <a:noFill/>
        </p:spPr>
        <p:txBody>
          <a:bodyPr/>
          <a:lstStyle/>
          <a:p>
            <a:fld id="{C4CEF897-92C1-4C81-9E2F-B89B394EF0EB}" type="slidenum">
              <a:rPr lang="ar-SA" smtClean="0"/>
              <a:pPr/>
              <a:t>26</a:t>
            </a:fld>
            <a:endParaRPr lang="en-US"/>
          </a:p>
        </p:txBody>
      </p:sp>
      <p:sp>
        <p:nvSpPr>
          <p:cNvPr id="93188" name="Rectangle 2"/>
          <p:cNvSpPr>
            <a:spLocks noGrp="1" noRot="1" noChangeAspect="1" noChangeArrowheads="1" noTextEdit="1"/>
          </p:cNvSpPr>
          <p:nvPr>
            <p:ph type="sldImg"/>
          </p:nvPr>
        </p:nvSpPr>
        <p:spPr>
          <a:ln/>
        </p:spPr>
      </p:sp>
      <p:sp>
        <p:nvSpPr>
          <p:cNvPr id="93189" name="Rectangle 3"/>
          <p:cNvSpPr>
            <a:spLocks noGrp="1" noChangeArrowheads="1"/>
          </p:cNvSpPr>
          <p:nvPr>
            <p:ph type="body" idx="1"/>
          </p:nvPr>
        </p:nvSpPr>
        <p:spPr>
          <a:noFill/>
          <a:ln/>
        </p:spPr>
        <p:txBody>
          <a:bodyPr/>
          <a:lstStyle/>
          <a:p>
            <a:r>
              <a:rPr lang="en-US"/>
              <a:t>Later, if the processor wants to use the same data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hdr" sz="quarter"/>
          </p:nvPr>
        </p:nvSpPr>
        <p:spPr>
          <a:noFill/>
        </p:spPr>
        <p:txBody>
          <a:bodyPr/>
          <a:lstStyle/>
          <a:p>
            <a:r>
              <a:rPr lang="en-US"/>
              <a:t>© 2003 Herlihy and Shavit</a:t>
            </a:r>
          </a:p>
        </p:txBody>
      </p:sp>
      <p:sp>
        <p:nvSpPr>
          <p:cNvPr id="94211" name="Rectangle 7"/>
          <p:cNvSpPr>
            <a:spLocks noGrp="1" noChangeArrowheads="1"/>
          </p:cNvSpPr>
          <p:nvPr>
            <p:ph type="sldNum" sz="quarter" idx="5"/>
          </p:nvPr>
        </p:nvSpPr>
        <p:spPr>
          <a:noFill/>
        </p:spPr>
        <p:txBody>
          <a:bodyPr/>
          <a:lstStyle/>
          <a:p>
            <a:fld id="{89B87893-BFDA-4D5D-9768-1903B004A210}" type="slidenum">
              <a:rPr lang="ar-SA" smtClean="0"/>
              <a:pPr/>
              <a:t>27</a:t>
            </a:fld>
            <a:endParaRPr lang="en-US"/>
          </a:p>
        </p:txBody>
      </p:sp>
      <p:sp>
        <p:nvSpPr>
          <p:cNvPr id="94212" name="Rectangle 2"/>
          <p:cNvSpPr>
            <a:spLocks noGrp="1" noRot="1" noChangeAspect="1" noChangeArrowheads="1" noTextEdit="1"/>
          </p:cNvSpPr>
          <p:nvPr>
            <p:ph type="sldImg"/>
          </p:nvPr>
        </p:nvSpPr>
        <p:spPr>
          <a:ln/>
        </p:spPr>
      </p:sp>
      <p:sp>
        <p:nvSpPr>
          <p:cNvPr id="94213" name="Rectangle 3"/>
          <p:cNvSpPr>
            <a:spLocks noGrp="1" noChangeArrowheads="1"/>
          </p:cNvSpPr>
          <p:nvPr>
            <p:ph type="body" idx="1"/>
          </p:nvPr>
        </p:nvSpPr>
        <p:spPr>
          <a:noFill/>
          <a:ln/>
        </p:spPr>
        <p:txBody>
          <a:bodyPr/>
          <a:lstStyle/>
          <a:p>
            <a:r>
              <a:rPr lang="en-US"/>
              <a:t>When a processor wants to read a value, it first checks whether the data is present in the cache …</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hdr" sz="quarter"/>
          </p:nvPr>
        </p:nvSpPr>
        <p:spPr>
          <a:noFill/>
        </p:spPr>
        <p:txBody>
          <a:bodyPr/>
          <a:lstStyle/>
          <a:p>
            <a:r>
              <a:rPr lang="en-US"/>
              <a:t>© 2003 Herlihy and Shavit</a:t>
            </a:r>
          </a:p>
        </p:txBody>
      </p:sp>
      <p:sp>
        <p:nvSpPr>
          <p:cNvPr id="95235" name="Rectangle 7"/>
          <p:cNvSpPr>
            <a:spLocks noGrp="1" noChangeArrowheads="1"/>
          </p:cNvSpPr>
          <p:nvPr>
            <p:ph type="sldNum" sz="quarter" idx="5"/>
          </p:nvPr>
        </p:nvSpPr>
        <p:spPr>
          <a:noFill/>
        </p:spPr>
        <p:txBody>
          <a:bodyPr/>
          <a:lstStyle/>
          <a:p>
            <a:fld id="{CCFF4726-1548-434D-98AD-0620A40E54E9}" type="slidenum">
              <a:rPr lang="ar-SA" smtClean="0"/>
              <a:pPr/>
              <a:t>28</a:t>
            </a:fld>
            <a:endParaRPr lang="en-US"/>
          </a:p>
        </p:txBody>
      </p:sp>
      <p:sp>
        <p:nvSpPr>
          <p:cNvPr id="95236" name="Rectangle 2"/>
          <p:cNvSpPr>
            <a:spLocks noGrp="1" noRot="1" noChangeAspect="1" noChangeArrowheads="1" noTextEdit="1"/>
          </p:cNvSpPr>
          <p:nvPr>
            <p:ph type="sldImg"/>
          </p:nvPr>
        </p:nvSpPr>
        <p:spPr>
          <a:ln/>
        </p:spPr>
      </p:sp>
      <p:sp>
        <p:nvSpPr>
          <p:cNvPr id="95237" name="Rectangle 3"/>
          <p:cNvSpPr>
            <a:spLocks noGrp="1" noChangeArrowheads="1"/>
          </p:cNvSpPr>
          <p:nvPr>
            <p:ph type="body" idx="1"/>
          </p:nvPr>
        </p:nvSpPr>
        <p:spPr>
          <a:noFill/>
          <a:ln/>
        </p:spPr>
        <p:txBody>
          <a:bodyPr/>
          <a:lstStyle/>
          <a:p>
            <a:r>
              <a:rPr lang="en-US"/>
              <a:t>If so, it reads directly from the cache, saving a long round-trip to main memory. We call this a cache hit.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hdr" sz="quarter"/>
          </p:nvPr>
        </p:nvSpPr>
        <p:spPr>
          <a:noFill/>
        </p:spPr>
        <p:txBody>
          <a:bodyPr/>
          <a:lstStyle/>
          <a:p>
            <a:r>
              <a:rPr lang="en-US"/>
              <a:t>© 2003 Herlihy and Shavit</a:t>
            </a:r>
          </a:p>
        </p:txBody>
      </p:sp>
      <p:sp>
        <p:nvSpPr>
          <p:cNvPr id="96259" name="Rectangle 7"/>
          <p:cNvSpPr>
            <a:spLocks noGrp="1" noChangeArrowheads="1"/>
          </p:cNvSpPr>
          <p:nvPr>
            <p:ph type="sldNum" sz="quarter" idx="5"/>
          </p:nvPr>
        </p:nvSpPr>
        <p:spPr>
          <a:noFill/>
        </p:spPr>
        <p:txBody>
          <a:bodyPr/>
          <a:lstStyle/>
          <a:p>
            <a:fld id="{B8DF2D84-5F17-43EE-8975-7555BCCBDC23}" type="slidenum">
              <a:rPr lang="ar-SA" smtClean="0"/>
              <a:pPr/>
              <a:t>29</a:t>
            </a:fld>
            <a:endParaRPr lang="en-US"/>
          </a:p>
        </p:txBody>
      </p:sp>
      <p:sp>
        <p:nvSpPr>
          <p:cNvPr id="96260" name="Rectangle 2"/>
          <p:cNvSpPr>
            <a:spLocks noGrp="1" noRot="1" noChangeAspect="1" noChangeArrowheads="1" noTextEdit="1"/>
          </p:cNvSpPr>
          <p:nvPr>
            <p:ph type="sldImg"/>
          </p:nvPr>
        </p:nvSpPr>
        <p:spPr>
          <a:ln/>
        </p:spPr>
      </p:sp>
      <p:sp>
        <p:nvSpPr>
          <p:cNvPr id="96261" name="Rectangle 3"/>
          <p:cNvSpPr>
            <a:spLocks noGrp="1" noChangeArrowheads="1"/>
          </p:cNvSpPr>
          <p:nvPr>
            <p:ph type="body" idx="1"/>
          </p:nvPr>
        </p:nvSpPr>
        <p:spPr>
          <a:noFill/>
          <a:ln/>
        </p:spPr>
        <p:txBody>
          <a:bodyPr/>
          <a:lstStyle/>
          <a:p>
            <a:r>
              <a:rPr lang="en-US"/>
              <a:t>Sometimes the processor doesn’t find what it is lookin for in the cache.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a:noFill/>
        </p:spPr>
        <p:txBody>
          <a:bodyPr/>
          <a:lstStyle/>
          <a:p>
            <a:r>
              <a:rPr lang="en-US"/>
              <a:t>© 2003 Herlihy and Shavit</a:t>
            </a:r>
          </a:p>
        </p:txBody>
      </p:sp>
      <p:sp>
        <p:nvSpPr>
          <p:cNvPr id="97283" name="Rectangle 7"/>
          <p:cNvSpPr>
            <a:spLocks noGrp="1" noChangeArrowheads="1"/>
          </p:cNvSpPr>
          <p:nvPr>
            <p:ph type="sldNum" sz="quarter" idx="5"/>
          </p:nvPr>
        </p:nvSpPr>
        <p:spPr>
          <a:noFill/>
        </p:spPr>
        <p:txBody>
          <a:bodyPr/>
          <a:lstStyle/>
          <a:p>
            <a:fld id="{2EEE4F43-4CA7-470B-AFDF-96526127C51C}" type="slidenum">
              <a:rPr lang="ar-SA" smtClean="0"/>
              <a:pPr/>
              <a:t>30</a:t>
            </a:fld>
            <a:endParaRPr lang="en-US"/>
          </a:p>
        </p:txBody>
      </p:sp>
      <p:sp>
        <p:nvSpPr>
          <p:cNvPr id="97284" name="Rectangle 2"/>
          <p:cNvSpPr>
            <a:spLocks noGrp="1" noRot="1" noChangeAspect="1" noChangeArrowheads="1" noTextEdit="1"/>
          </p:cNvSpPr>
          <p:nvPr>
            <p:ph type="sldImg"/>
          </p:nvPr>
        </p:nvSpPr>
        <p:spPr>
          <a:ln/>
        </p:spPr>
      </p:sp>
      <p:sp>
        <p:nvSpPr>
          <p:cNvPr id="97285" name="Rectangle 3"/>
          <p:cNvSpPr>
            <a:spLocks noGrp="1" noChangeArrowheads="1"/>
          </p:cNvSpPr>
          <p:nvPr>
            <p:ph type="body" idx="1"/>
          </p:nvPr>
        </p:nvSpPr>
        <p:spPr>
          <a:noFill/>
          <a:ln/>
        </p:spPr>
        <p:txBody>
          <a:bodyPr/>
          <a:lstStyle/>
          <a:p>
            <a:r>
              <a:rPr lang="en-US"/>
              <a:t>We call this a cache miss.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hdr" sz="quarter"/>
          </p:nvPr>
        </p:nvSpPr>
        <p:spPr>
          <a:noFill/>
        </p:spPr>
        <p:txBody>
          <a:bodyPr/>
          <a:lstStyle/>
          <a:p>
            <a:r>
              <a:rPr lang="en-US"/>
              <a:t>© 2003 Herlihy and Shavit</a:t>
            </a:r>
          </a:p>
        </p:txBody>
      </p:sp>
      <p:sp>
        <p:nvSpPr>
          <p:cNvPr id="98307" name="Rectangle 7"/>
          <p:cNvSpPr>
            <a:spLocks noGrp="1" noChangeArrowheads="1"/>
          </p:cNvSpPr>
          <p:nvPr>
            <p:ph type="sldNum" sz="quarter" idx="5"/>
          </p:nvPr>
        </p:nvSpPr>
        <p:spPr>
          <a:noFill/>
        </p:spPr>
        <p:txBody>
          <a:bodyPr/>
          <a:lstStyle/>
          <a:p>
            <a:fld id="{98917ADA-0A88-4BEE-879F-1E11D5A51EF8}" type="slidenum">
              <a:rPr lang="ar-SA" smtClean="0"/>
              <a:pPr/>
              <a:t>31</a:t>
            </a:fld>
            <a:endParaRPr lang="en-US"/>
          </a:p>
        </p:txBody>
      </p:sp>
      <p:sp>
        <p:nvSpPr>
          <p:cNvPr id="98308" name="Rectangle 2"/>
          <p:cNvSpPr>
            <a:spLocks noGrp="1" noRot="1" noChangeAspect="1" noChangeArrowheads="1" noTextEdit="1"/>
          </p:cNvSpPr>
          <p:nvPr>
            <p:ph type="sldImg"/>
          </p:nvPr>
        </p:nvSpPr>
        <p:spPr>
          <a:ln/>
        </p:spPr>
      </p:sp>
      <p:sp>
        <p:nvSpPr>
          <p:cNvPr id="98309"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hdr" sz="quarter"/>
          </p:nvPr>
        </p:nvSpPr>
        <p:spPr>
          <a:noFill/>
        </p:spPr>
        <p:txBody>
          <a:bodyPr/>
          <a:lstStyle/>
          <a:p>
            <a:r>
              <a:rPr lang="en-US"/>
              <a:t>© 2003 Herlihy and Shavit</a:t>
            </a:r>
          </a:p>
        </p:txBody>
      </p:sp>
      <p:sp>
        <p:nvSpPr>
          <p:cNvPr id="99331" name="Rectangle 7"/>
          <p:cNvSpPr>
            <a:spLocks noGrp="1" noChangeArrowheads="1"/>
          </p:cNvSpPr>
          <p:nvPr>
            <p:ph type="sldNum" sz="quarter" idx="5"/>
          </p:nvPr>
        </p:nvSpPr>
        <p:spPr>
          <a:noFill/>
        </p:spPr>
        <p:txBody>
          <a:bodyPr/>
          <a:lstStyle/>
          <a:p>
            <a:fld id="{5FBEBB1F-A37A-4771-A5ED-E054F661FB4F}" type="slidenum">
              <a:rPr lang="ar-SA" smtClean="0"/>
              <a:pPr/>
              <a:t>32</a:t>
            </a:fld>
            <a:endParaRPr lang="en-US"/>
          </a:p>
        </p:txBody>
      </p:sp>
      <p:sp>
        <p:nvSpPr>
          <p:cNvPr id="99332" name="Rectangle 2"/>
          <p:cNvSpPr>
            <a:spLocks noGrp="1" noRot="1" noChangeAspect="1" noChangeArrowheads="1" noTextEdit="1"/>
          </p:cNvSpPr>
          <p:nvPr>
            <p:ph type="sldImg"/>
          </p:nvPr>
        </p:nvSpPr>
        <p:spPr>
          <a:ln/>
        </p:spPr>
      </p:sp>
      <p:sp>
        <p:nvSpPr>
          <p:cNvPr id="99333" name="Rectangle 3"/>
          <p:cNvSpPr>
            <a:spLocks noGrp="1" noChangeArrowheads="1"/>
          </p:cNvSpPr>
          <p:nvPr>
            <p:ph type="body" idx="1"/>
          </p:nvPr>
        </p:nvSpPr>
        <p:spPr>
          <a:noFill/>
          <a:ln/>
        </p:spPr>
        <p:txBody>
          <a:bodyPr/>
          <a:lstStyle/>
          <a:p>
            <a:r>
              <a:rPr lang="en-US"/>
              <a:t>We will discuss the ideas in this slide when talking about spin-locks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hdr" sz="quarter"/>
          </p:nvPr>
        </p:nvSpPr>
        <p:spPr>
          <a:noFill/>
        </p:spPr>
        <p:txBody>
          <a:bodyPr/>
          <a:lstStyle/>
          <a:p>
            <a:r>
              <a:rPr lang="en-US"/>
              <a:t>© 2003 Herlihy and Shavit</a:t>
            </a:r>
          </a:p>
        </p:txBody>
      </p:sp>
      <p:sp>
        <p:nvSpPr>
          <p:cNvPr id="100355" name="Rectangle 7"/>
          <p:cNvSpPr>
            <a:spLocks noGrp="1" noChangeArrowheads="1"/>
          </p:cNvSpPr>
          <p:nvPr>
            <p:ph type="sldNum" sz="quarter" idx="5"/>
          </p:nvPr>
        </p:nvSpPr>
        <p:spPr>
          <a:noFill/>
        </p:spPr>
        <p:txBody>
          <a:bodyPr/>
          <a:lstStyle/>
          <a:p>
            <a:fld id="{39275481-188F-4FBB-B6DB-C407BD48B13E}" type="slidenum">
              <a:rPr lang="ar-SA" smtClean="0"/>
              <a:pPr/>
              <a:t>33</a:t>
            </a:fld>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p:spPr>
        <p:txBody>
          <a:bodyPr/>
          <a:lstStyle/>
          <a:p>
            <a:r>
              <a:rPr lang="en-US"/>
              <a:t>caches typically operate at a granularity larger than a single word: a cache holds a group of neighboring words called a cache line. (sometimes called a cache block). </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hdr" sz="quarter"/>
          </p:nvPr>
        </p:nvSpPr>
        <p:spPr>
          <a:noFill/>
        </p:spPr>
        <p:txBody>
          <a:bodyPr/>
          <a:lstStyle/>
          <a:p>
            <a:r>
              <a:rPr lang="en-US"/>
              <a:t>© 2003 Herlihy and Shavit</a:t>
            </a:r>
          </a:p>
        </p:txBody>
      </p:sp>
      <p:sp>
        <p:nvSpPr>
          <p:cNvPr id="101379" name="Rectangle 7"/>
          <p:cNvSpPr>
            <a:spLocks noGrp="1" noChangeArrowheads="1"/>
          </p:cNvSpPr>
          <p:nvPr>
            <p:ph type="sldNum" sz="quarter" idx="5"/>
          </p:nvPr>
        </p:nvSpPr>
        <p:spPr>
          <a:noFill/>
        </p:spPr>
        <p:txBody>
          <a:bodyPr/>
          <a:lstStyle/>
          <a:p>
            <a:fld id="{82872CE4-FA12-4720-AFE8-C879E74128FF}" type="slidenum">
              <a:rPr lang="ar-SA" smtClean="0"/>
              <a:pPr/>
              <a:t>34</a:t>
            </a:fld>
            <a:endParaRPr lang="en-US"/>
          </a:p>
        </p:txBody>
      </p:sp>
      <p:sp>
        <p:nvSpPr>
          <p:cNvPr id="101380" name="Rectangle 2"/>
          <p:cNvSpPr>
            <a:spLocks noGrp="1" noRot="1" noChangeAspect="1" noChangeArrowheads="1" noTextEdit="1"/>
          </p:cNvSpPr>
          <p:nvPr>
            <p:ph type="sldImg"/>
          </p:nvPr>
        </p:nvSpPr>
        <p:spPr>
          <a:ln/>
        </p:spPr>
      </p:sp>
      <p:sp>
        <p:nvSpPr>
          <p:cNvPr id="101381"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hdr" sz="quarter"/>
          </p:nvPr>
        </p:nvSpPr>
        <p:spPr>
          <a:noFill/>
        </p:spPr>
        <p:txBody>
          <a:bodyPr/>
          <a:lstStyle/>
          <a:p>
            <a:r>
              <a:rPr lang="en-US"/>
              <a:t>© 2003 Herlihy and Shavit</a:t>
            </a:r>
          </a:p>
        </p:txBody>
      </p:sp>
      <p:sp>
        <p:nvSpPr>
          <p:cNvPr id="102403" name="Rectangle 7"/>
          <p:cNvSpPr>
            <a:spLocks noGrp="1" noChangeArrowheads="1"/>
          </p:cNvSpPr>
          <p:nvPr>
            <p:ph type="sldNum" sz="quarter" idx="5"/>
          </p:nvPr>
        </p:nvSpPr>
        <p:spPr>
          <a:noFill/>
        </p:spPr>
        <p:txBody>
          <a:bodyPr/>
          <a:lstStyle/>
          <a:p>
            <a:fld id="{0945E80D-3E5F-406F-B5A1-53A7CDB41F06}" type="slidenum">
              <a:rPr lang="ar-SA" smtClean="0"/>
              <a:pPr/>
              <a:t>35</a:t>
            </a:fld>
            <a:endParaRPr lang="en-US"/>
          </a:p>
        </p:txBody>
      </p:sp>
      <p:sp>
        <p:nvSpPr>
          <p:cNvPr id="102404" name="Rectangle 2"/>
          <p:cNvSpPr>
            <a:spLocks noGrp="1" noRot="1" noChangeAspect="1" noChangeArrowheads="1" noTextEdit="1"/>
          </p:cNvSpPr>
          <p:nvPr>
            <p:ph type="sldImg"/>
          </p:nvPr>
        </p:nvSpPr>
        <p:spPr>
          <a:ln/>
        </p:spPr>
      </p:sp>
      <p:sp>
        <p:nvSpPr>
          <p:cNvPr id="102405"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hdr" sz="quarter"/>
          </p:nvPr>
        </p:nvSpPr>
        <p:spPr>
          <a:noFill/>
        </p:spPr>
        <p:txBody>
          <a:bodyPr/>
          <a:lstStyle/>
          <a:p>
            <a:r>
              <a:rPr lang="en-US"/>
              <a:t>© 2003 Herlihy and Shavit</a:t>
            </a:r>
          </a:p>
        </p:txBody>
      </p:sp>
      <p:sp>
        <p:nvSpPr>
          <p:cNvPr id="103427" name="Rectangle 7"/>
          <p:cNvSpPr>
            <a:spLocks noGrp="1" noChangeArrowheads="1"/>
          </p:cNvSpPr>
          <p:nvPr>
            <p:ph type="sldNum" sz="quarter" idx="5"/>
          </p:nvPr>
        </p:nvSpPr>
        <p:spPr>
          <a:noFill/>
        </p:spPr>
        <p:txBody>
          <a:bodyPr/>
          <a:lstStyle/>
          <a:p>
            <a:fld id="{1398B566-123B-4779-8D90-0366370E63B4}" type="slidenum">
              <a:rPr lang="ar-SA" smtClean="0"/>
              <a:pPr/>
              <a:t>36</a:t>
            </a:fld>
            <a:endParaRPr lang="en-US"/>
          </a:p>
        </p:txBody>
      </p:sp>
      <p:sp>
        <p:nvSpPr>
          <p:cNvPr id="103428" name="Rectangle 2"/>
          <p:cNvSpPr>
            <a:spLocks noGrp="1" noRot="1" noChangeAspect="1" noChangeArrowheads="1" noTextEdit="1"/>
          </p:cNvSpPr>
          <p:nvPr>
            <p:ph type="sldImg"/>
          </p:nvPr>
        </p:nvSpPr>
        <p:spPr>
          <a:ln/>
        </p:spPr>
      </p:sp>
      <p:sp>
        <p:nvSpPr>
          <p:cNvPr id="103429" name="Rectangle 3"/>
          <p:cNvSpPr>
            <a:spLocks noGrp="1" noChangeArrowheads="1"/>
          </p:cNvSpPr>
          <p:nvPr>
            <p:ph type="body" idx="1"/>
          </p:nvPr>
        </p:nvSpPr>
        <p:spPr>
          <a:noFill/>
          <a:ln/>
        </p:spPr>
        <p:txBody>
          <a:bodyPr/>
          <a:lstStyle/>
          <a:p>
            <a:r>
              <a:rPr lang="en-US"/>
              <a:t>In practice, most processors have two levels of caches, called the L1 and L2  caches.</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a:noFill/>
        </p:spPr>
        <p:txBody>
          <a:bodyPr/>
          <a:lstStyle/>
          <a:p>
            <a:r>
              <a:rPr lang="en-US"/>
              <a:t>© 2003 Herlihy and Shavit</a:t>
            </a:r>
          </a:p>
        </p:txBody>
      </p:sp>
      <p:sp>
        <p:nvSpPr>
          <p:cNvPr id="104451" name="Rectangle 7"/>
          <p:cNvSpPr>
            <a:spLocks noGrp="1" noChangeArrowheads="1"/>
          </p:cNvSpPr>
          <p:nvPr>
            <p:ph type="sldNum" sz="quarter" idx="5"/>
          </p:nvPr>
        </p:nvSpPr>
        <p:spPr>
          <a:noFill/>
        </p:spPr>
        <p:txBody>
          <a:bodyPr/>
          <a:lstStyle/>
          <a:p>
            <a:fld id="{5E00DE35-57CD-489B-A686-23F94D1927AC}" type="slidenum">
              <a:rPr lang="ar-SA" smtClean="0"/>
              <a:pPr/>
              <a:t>37</a:t>
            </a:fld>
            <a:endParaRPr lang="en-US"/>
          </a:p>
        </p:txBody>
      </p:sp>
      <p:sp>
        <p:nvSpPr>
          <p:cNvPr id="104452" name="Rectangle 2"/>
          <p:cNvSpPr>
            <a:spLocks noGrp="1" noRot="1" noChangeAspect="1" noChangeArrowheads="1" noTextEdit="1"/>
          </p:cNvSpPr>
          <p:nvPr>
            <p:ph type="sldImg"/>
          </p:nvPr>
        </p:nvSpPr>
        <p:spPr>
          <a:ln/>
        </p:spPr>
      </p:sp>
      <p:sp>
        <p:nvSpPr>
          <p:cNvPr id="104453" name="Rectangle 3"/>
          <p:cNvSpPr>
            <a:spLocks noGrp="1" noChangeArrowheads="1"/>
          </p:cNvSpPr>
          <p:nvPr>
            <p:ph type="body" idx="1"/>
          </p:nvPr>
        </p:nvSpPr>
        <p:spPr>
          <a:noFill/>
          <a:ln/>
        </p:spPr>
        <p:txBody>
          <a:bodyPr/>
          <a:lstStyle/>
          <a:p>
            <a:r>
              <a:rPr lang="en-US"/>
              <a:t>The L1 cache typically resides on the same chip as the processor, and takes one or two cycles to access.</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hdr" sz="quarter"/>
          </p:nvPr>
        </p:nvSpPr>
        <p:spPr>
          <a:noFill/>
        </p:spPr>
        <p:txBody>
          <a:bodyPr/>
          <a:lstStyle/>
          <a:p>
            <a:r>
              <a:rPr lang="en-US"/>
              <a:t>© 2003 Herlihy and Shavit</a:t>
            </a:r>
          </a:p>
        </p:txBody>
      </p:sp>
      <p:sp>
        <p:nvSpPr>
          <p:cNvPr id="105475" name="Rectangle 7"/>
          <p:cNvSpPr>
            <a:spLocks noGrp="1" noChangeArrowheads="1"/>
          </p:cNvSpPr>
          <p:nvPr>
            <p:ph type="sldNum" sz="quarter" idx="5"/>
          </p:nvPr>
        </p:nvSpPr>
        <p:spPr>
          <a:noFill/>
        </p:spPr>
        <p:txBody>
          <a:bodyPr/>
          <a:lstStyle/>
          <a:p>
            <a:fld id="{C37AE473-B439-4755-BC87-076A775F5FAD}" type="slidenum">
              <a:rPr lang="ar-SA" smtClean="0"/>
              <a:pPr/>
              <a:t>38</a:t>
            </a:fld>
            <a:endParaRPr lang="en-US"/>
          </a:p>
        </p:txBody>
      </p:sp>
      <p:sp>
        <p:nvSpPr>
          <p:cNvPr id="105476" name="Rectangle 2"/>
          <p:cNvSpPr>
            <a:spLocks noGrp="1" noRot="1" noChangeAspect="1" noChangeArrowheads="1" noTextEdit="1"/>
          </p:cNvSpPr>
          <p:nvPr>
            <p:ph type="sldImg"/>
          </p:nvPr>
        </p:nvSpPr>
        <p:spPr>
          <a:ln/>
        </p:spPr>
      </p:sp>
      <p:sp>
        <p:nvSpPr>
          <p:cNvPr id="105477" name="Rectangle 3"/>
          <p:cNvSpPr>
            <a:spLocks noGrp="1" noChangeArrowheads="1"/>
          </p:cNvSpPr>
          <p:nvPr>
            <p:ph type="body" idx="1"/>
          </p:nvPr>
        </p:nvSpPr>
        <p:spPr>
          <a:noFill/>
          <a:ln/>
        </p:spPr>
        <p:txBody>
          <a:bodyPr/>
          <a:lstStyle/>
          <a:p>
            <a:r>
              <a:rPr lang="en-US"/>
              <a:t>The L2 cache often resides off-chip, and takes tens of cycles to access. Of course, these times vary from platform to platform, and many multiprocessors have even more elaborate cache structures. </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hdr" sz="quarter"/>
          </p:nvPr>
        </p:nvSpPr>
        <p:spPr>
          <a:noFill/>
        </p:spPr>
        <p:txBody>
          <a:bodyPr/>
          <a:lstStyle/>
          <a:p>
            <a:r>
              <a:rPr lang="en-US"/>
              <a:t>© 2003 Herlihy and Shavit</a:t>
            </a:r>
          </a:p>
        </p:txBody>
      </p:sp>
      <p:sp>
        <p:nvSpPr>
          <p:cNvPr id="106499" name="Rectangle 7"/>
          <p:cNvSpPr>
            <a:spLocks noGrp="1" noChangeArrowheads="1"/>
          </p:cNvSpPr>
          <p:nvPr>
            <p:ph type="sldNum" sz="quarter" idx="5"/>
          </p:nvPr>
        </p:nvSpPr>
        <p:spPr>
          <a:noFill/>
        </p:spPr>
        <p:txBody>
          <a:bodyPr/>
          <a:lstStyle/>
          <a:p>
            <a:fld id="{7070C702-E103-47E1-81F2-5D2AE15F4ECA}" type="slidenum">
              <a:rPr lang="ar-SA" smtClean="0"/>
              <a:pPr/>
              <a:t>39</a:t>
            </a:fld>
            <a:endParaRPr lang="en-US"/>
          </a:p>
        </p:txBody>
      </p:sp>
      <p:sp>
        <p:nvSpPr>
          <p:cNvPr id="106500" name="Rectangle 2"/>
          <p:cNvSpPr>
            <a:spLocks noGrp="1" noRot="1" noChangeAspect="1" noChangeArrowheads="1" noTextEdit="1"/>
          </p:cNvSpPr>
          <p:nvPr>
            <p:ph type="sldImg"/>
          </p:nvPr>
        </p:nvSpPr>
        <p:spPr>
          <a:ln/>
        </p:spPr>
      </p:sp>
      <p:sp>
        <p:nvSpPr>
          <p:cNvPr id="106501" name="Rectangle 3"/>
          <p:cNvSpPr>
            <a:spLocks noGrp="1" noChangeArrowheads="1"/>
          </p:cNvSpPr>
          <p:nvPr>
            <p:ph type="body" idx="1"/>
          </p:nvPr>
        </p:nvSpPr>
        <p:spPr>
          <a:noFill/>
          <a:ln/>
        </p:spPr>
        <p:txBody>
          <a:bodyPr/>
          <a:lstStyle/>
          <a:p>
            <a:r>
              <a:rPr lang="en-US"/>
              <a:t>When a cache becomes full, it is necessary to evict a line, discarding it if it has not been modified, and writing it back to memory if it has. A replacement policy determines which cache line to replace. Most replacement policies try to evict the least recently used line.</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hdr" sz="quarter"/>
          </p:nvPr>
        </p:nvSpPr>
        <p:spPr>
          <a:noFill/>
        </p:spPr>
        <p:txBody>
          <a:bodyPr/>
          <a:lstStyle/>
          <a:p>
            <a:r>
              <a:rPr lang="en-US"/>
              <a:t>© 2003 Herlihy and Shavit</a:t>
            </a:r>
          </a:p>
        </p:txBody>
      </p:sp>
      <p:sp>
        <p:nvSpPr>
          <p:cNvPr id="107523" name="Rectangle 7"/>
          <p:cNvSpPr>
            <a:spLocks noGrp="1" noChangeArrowheads="1"/>
          </p:cNvSpPr>
          <p:nvPr>
            <p:ph type="sldNum" sz="quarter" idx="5"/>
          </p:nvPr>
        </p:nvSpPr>
        <p:spPr>
          <a:noFill/>
        </p:spPr>
        <p:txBody>
          <a:bodyPr/>
          <a:lstStyle/>
          <a:p>
            <a:fld id="{BC328C7E-F67E-4C3C-92D0-1EF84C5B5933}" type="slidenum">
              <a:rPr lang="ar-SA" smtClean="0"/>
              <a:pPr/>
              <a:t>40</a:t>
            </a:fld>
            <a:endParaRPr lang="en-US"/>
          </a:p>
        </p:txBody>
      </p:sp>
      <p:sp>
        <p:nvSpPr>
          <p:cNvPr id="107524" name="Rectangle 2"/>
          <p:cNvSpPr>
            <a:spLocks noGrp="1" noRot="1" noChangeAspect="1" noChangeArrowheads="1" noTextEdit="1"/>
          </p:cNvSpPr>
          <p:nvPr>
            <p:ph type="sldImg"/>
          </p:nvPr>
        </p:nvSpPr>
        <p:spPr>
          <a:ln/>
        </p:spPr>
      </p:sp>
      <p:sp>
        <p:nvSpPr>
          <p:cNvPr id="107525"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hdr" sz="quarter"/>
          </p:nvPr>
        </p:nvSpPr>
        <p:spPr>
          <a:noFill/>
        </p:spPr>
        <p:txBody>
          <a:bodyPr/>
          <a:lstStyle/>
          <a:p>
            <a:r>
              <a:rPr lang="en-US"/>
              <a:t>© 2003 Herlihy and Shavit</a:t>
            </a:r>
          </a:p>
        </p:txBody>
      </p:sp>
      <p:sp>
        <p:nvSpPr>
          <p:cNvPr id="108547" name="Rectangle 7"/>
          <p:cNvSpPr>
            <a:spLocks noGrp="1" noChangeArrowheads="1"/>
          </p:cNvSpPr>
          <p:nvPr>
            <p:ph type="sldNum" sz="quarter" idx="5"/>
          </p:nvPr>
        </p:nvSpPr>
        <p:spPr>
          <a:noFill/>
        </p:spPr>
        <p:txBody>
          <a:bodyPr/>
          <a:lstStyle/>
          <a:p>
            <a:fld id="{3D5BDD3B-584C-4233-94B1-59A845B1BE1A}" type="slidenum">
              <a:rPr lang="ar-SA" smtClean="0"/>
              <a:pPr/>
              <a:t>41</a:t>
            </a:fld>
            <a:endParaRPr lang="en-US"/>
          </a:p>
        </p:txBody>
      </p:sp>
      <p:sp>
        <p:nvSpPr>
          <p:cNvPr id="108548" name="Rectangle 2"/>
          <p:cNvSpPr>
            <a:spLocks noGrp="1" noRot="1" noChangeAspect="1" noChangeArrowheads="1" noTextEdit="1"/>
          </p:cNvSpPr>
          <p:nvPr>
            <p:ph type="sldImg"/>
          </p:nvPr>
        </p:nvSpPr>
        <p:spPr>
          <a:ln/>
        </p:spPr>
      </p:sp>
      <p:sp>
        <p:nvSpPr>
          <p:cNvPr id="108549"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a:noFill/>
        </p:spPr>
        <p:txBody>
          <a:bodyPr/>
          <a:lstStyle/>
          <a:p>
            <a:r>
              <a:rPr lang="en-US"/>
              <a:t>© 2003 Herlihy and Shavit</a:t>
            </a:r>
          </a:p>
        </p:txBody>
      </p:sp>
      <p:sp>
        <p:nvSpPr>
          <p:cNvPr id="109571" name="Rectangle 7"/>
          <p:cNvSpPr>
            <a:spLocks noGrp="1" noChangeArrowheads="1"/>
          </p:cNvSpPr>
          <p:nvPr>
            <p:ph type="sldNum" sz="quarter" idx="5"/>
          </p:nvPr>
        </p:nvSpPr>
        <p:spPr>
          <a:noFill/>
        </p:spPr>
        <p:txBody>
          <a:bodyPr/>
          <a:lstStyle/>
          <a:p>
            <a:fld id="{95AD3618-C76C-4405-846E-2EFDD2D74024}" type="slidenum">
              <a:rPr lang="ar-SA" smtClean="0"/>
              <a:pPr/>
              <a:t>42</a:t>
            </a:fld>
            <a:endParaRPr lang="en-US"/>
          </a:p>
        </p:txBody>
      </p:sp>
      <p:sp>
        <p:nvSpPr>
          <p:cNvPr id="109572" name="Rectangle 2"/>
          <p:cNvSpPr>
            <a:spLocks noGrp="1" noRot="1" noChangeAspect="1" noChangeArrowheads="1" noTextEdit="1"/>
          </p:cNvSpPr>
          <p:nvPr>
            <p:ph type="sldImg"/>
          </p:nvPr>
        </p:nvSpPr>
        <p:spPr>
          <a:ln/>
        </p:spPr>
      </p:sp>
      <p:sp>
        <p:nvSpPr>
          <p:cNvPr id="109573"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hdr" sz="quarter"/>
          </p:nvPr>
        </p:nvSpPr>
        <p:spPr>
          <a:noFill/>
        </p:spPr>
        <p:txBody>
          <a:bodyPr/>
          <a:lstStyle/>
          <a:p>
            <a:r>
              <a:rPr lang="en-US"/>
              <a:t>© 2003 Herlihy and Shavit</a:t>
            </a:r>
          </a:p>
        </p:txBody>
      </p:sp>
      <p:sp>
        <p:nvSpPr>
          <p:cNvPr id="110595" name="Rectangle 7"/>
          <p:cNvSpPr>
            <a:spLocks noGrp="1" noChangeArrowheads="1"/>
          </p:cNvSpPr>
          <p:nvPr>
            <p:ph type="sldNum" sz="quarter" idx="5"/>
          </p:nvPr>
        </p:nvSpPr>
        <p:spPr>
          <a:noFill/>
        </p:spPr>
        <p:txBody>
          <a:bodyPr/>
          <a:lstStyle/>
          <a:p>
            <a:fld id="{27CFBFDE-3424-4105-B776-A1C7B5A38035}" type="slidenum">
              <a:rPr lang="ar-SA" smtClean="0"/>
              <a:pPr/>
              <a:t>43</a:t>
            </a:fld>
            <a:endParaRPr lang="en-US"/>
          </a:p>
        </p:txBody>
      </p:sp>
      <p:sp>
        <p:nvSpPr>
          <p:cNvPr id="110596" name="Rectangle 2"/>
          <p:cNvSpPr>
            <a:spLocks noGrp="1" noRot="1" noChangeAspect="1" noChangeArrowheads="1" noTextEdit="1"/>
          </p:cNvSpPr>
          <p:nvPr>
            <p:ph type="sldImg"/>
          </p:nvPr>
        </p:nvSpPr>
        <p:spPr>
          <a:ln/>
        </p:spPr>
      </p:sp>
      <p:sp>
        <p:nvSpPr>
          <p:cNvPr id="110597"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hdr" sz="quarter"/>
          </p:nvPr>
        </p:nvSpPr>
        <p:spPr>
          <a:noFill/>
        </p:spPr>
        <p:txBody>
          <a:bodyPr/>
          <a:lstStyle/>
          <a:p>
            <a:r>
              <a:rPr lang="en-US"/>
              <a:t>© 2003 Herlihy and Shavit</a:t>
            </a:r>
          </a:p>
        </p:txBody>
      </p:sp>
      <p:sp>
        <p:nvSpPr>
          <p:cNvPr id="111619" name="Rectangle 7"/>
          <p:cNvSpPr>
            <a:spLocks noGrp="1" noChangeArrowheads="1"/>
          </p:cNvSpPr>
          <p:nvPr>
            <p:ph type="sldNum" sz="quarter" idx="5"/>
          </p:nvPr>
        </p:nvSpPr>
        <p:spPr>
          <a:noFill/>
        </p:spPr>
        <p:txBody>
          <a:bodyPr/>
          <a:lstStyle/>
          <a:p>
            <a:fld id="{3DB7BF33-F490-4493-AAD3-5CF43DB546F0}" type="slidenum">
              <a:rPr lang="ar-SA" smtClean="0"/>
              <a:pPr/>
              <a:t>44</a:t>
            </a:fld>
            <a:endParaRPr lang="en-US"/>
          </a:p>
        </p:txBody>
      </p:sp>
      <p:sp>
        <p:nvSpPr>
          <p:cNvPr id="111620" name="Rectangle 2"/>
          <p:cNvSpPr>
            <a:spLocks noGrp="1" noRot="1" noChangeAspect="1" noChangeArrowheads="1" noTextEdit="1"/>
          </p:cNvSpPr>
          <p:nvPr>
            <p:ph type="sldImg"/>
          </p:nvPr>
        </p:nvSpPr>
        <p:spPr>
          <a:ln/>
        </p:spPr>
      </p:sp>
      <p:sp>
        <p:nvSpPr>
          <p:cNvPr id="111621"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hdr" sz="quarter"/>
          </p:nvPr>
        </p:nvSpPr>
        <p:spPr>
          <a:noFill/>
        </p:spPr>
        <p:txBody>
          <a:bodyPr/>
          <a:lstStyle/>
          <a:p>
            <a:r>
              <a:rPr lang="en-US"/>
              <a:t>© 2003 Herlihy and Shavit</a:t>
            </a:r>
          </a:p>
        </p:txBody>
      </p:sp>
      <p:sp>
        <p:nvSpPr>
          <p:cNvPr id="112643" name="Rectangle 7"/>
          <p:cNvSpPr>
            <a:spLocks noGrp="1" noChangeArrowheads="1"/>
          </p:cNvSpPr>
          <p:nvPr>
            <p:ph type="sldNum" sz="quarter" idx="5"/>
          </p:nvPr>
        </p:nvSpPr>
        <p:spPr>
          <a:noFill/>
        </p:spPr>
        <p:txBody>
          <a:bodyPr/>
          <a:lstStyle/>
          <a:p>
            <a:fld id="{A4ACCB8F-CBC7-4C2D-9D1C-C1D4EEB0D1CA}" type="slidenum">
              <a:rPr lang="ar-SA" smtClean="0"/>
              <a:pPr/>
              <a:t>45</a:t>
            </a:fld>
            <a:endParaRPr lang="en-US"/>
          </a:p>
        </p:txBody>
      </p:sp>
      <p:sp>
        <p:nvSpPr>
          <p:cNvPr id="112644" name="Rectangle 2"/>
          <p:cNvSpPr>
            <a:spLocks noGrp="1" noRot="1" noChangeAspect="1" noChangeArrowheads="1" noTextEdit="1"/>
          </p:cNvSpPr>
          <p:nvPr>
            <p:ph type="sldImg"/>
          </p:nvPr>
        </p:nvSpPr>
        <p:spPr>
          <a:ln/>
        </p:spPr>
      </p:sp>
      <p:sp>
        <p:nvSpPr>
          <p:cNvPr id="112645" name="Rectangle 3"/>
          <p:cNvSpPr>
            <a:spLocks noGrp="1" noChangeArrowheads="1"/>
          </p:cNvSpPr>
          <p:nvPr>
            <p:ph type="body" idx="1"/>
          </p:nvPr>
        </p:nvSpPr>
        <p:spPr>
          <a:noFill/>
          <a:ln/>
        </p:spPr>
        <p:txBody>
          <a:bodyPr/>
          <a:lstStyle/>
          <a:p>
            <a:r>
              <a:rPr lang="en-US"/>
              <a:t>Here we describe one of the simplest coherence protocols. A cache line can be in one of 4 states. If it is </a:t>
            </a:r>
            <a:r>
              <a:rPr lang="en-US" b="1"/>
              <a:t>modified</a:t>
            </a:r>
            <a:r>
              <a:rPr lang="en-US"/>
              <a:t>, then the cache line has been updated in the cache, but not yet in memory, so this value must be written back to memory before anyone can use it. If the</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hdr" sz="quarter"/>
          </p:nvPr>
        </p:nvSpPr>
        <p:spPr>
          <a:noFill/>
        </p:spPr>
        <p:txBody>
          <a:bodyPr/>
          <a:lstStyle/>
          <a:p>
            <a:r>
              <a:rPr lang="en-US"/>
              <a:t>© 2003 Herlihy and Shavit</a:t>
            </a:r>
          </a:p>
        </p:txBody>
      </p:sp>
      <p:sp>
        <p:nvSpPr>
          <p:cNvPr id="113667" name="Rectangle 7"/>
          <p:cNvSpPr>
            <a:spLocks noGrp="1" noChangeArrowheads="1"/>
          </p:cNvSpPr>
          <p:nvPr>
            <p:ph type="sldNum" sz="quarter" idx="5"/>
          </p:nvPr>
        </p:nvSpPr>
        <p:spPr>
          <a:noFill/>
        </p:spPr>
        <p:txBody>
          <a:bodyPr/>
          <a:lstStyle/>
          <a:p>
            <a:fld id="{43121D06-2C92-45FA-A0E3-10B500EEA740}" type="slidenum">
              <a:rPr lang="ar-SA" smtClean="0"/>
              <a:pPr/>
              <a:t>46</a:t>
            </a:fld>
            <a:endParaRPr lang="en-US"/>
          </a:p>
        </p:txBody>
      </p:sp>
      <p:sp>
        <p:nvSpPr>
          <p:cNvPr id="113668" name="Rectangle 2"/>
          <p:cNvSpPr>
            <a:spLocks noGrp="1" noRot="1" noChangeAspect="1" noChangeArrowheads="1" noTextEdit="1"/>
          </p:cNvSpPr>
          <p:nvPr>
            <p:ph type="sldImg"/>
          </p:nvPr>
        </p:nvSpPr>
        <p:spPr>
          <a:ln/>
        </p:spPr>
      </p:sp>
      <p:sp>
        <p:nvSpPr>
          <p:cNvPr id="113669" name="Rectangle 3"/>
          <p:cNvSpPr>
            <a:spLocks noGrp="1" noChangeArrowheads="1"/>
          </p:cNvSpPr>
          <p:nvPr>
            <p:ph type="body" idx="1"/>
          </p:nvPr>
        </p:nvSpPr>
        <p:spPr>
          <a:noFill/>
          <a:ln/>
        </p:spPr>
        <p:txBody>
          <a:bodyPr/>
          <a:lstStyle/>
          <a:p>
            <a:r>
              <a:rPr lang="en-US"/>
              <a:t>If the cache line is exclusive, then we know no other processor has it cached. This means that if we decide to modify it, we don’t need to tell anyone else.</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hdr" sz="quarter"/>
          </p:nvPr>
        </p:nvSpPr>
        <p:spPr>
          <a:noFill/>
        </p:spPr>
        <p:txBody>
          <a:bodyPr/>
          <a:lstStyle/>
          <a:p>
            <a:r>
              <a:rPr lang="en-US"/>
              <a:t>© 2003 Herlihy and Shavit</a:t>
            </a:r>
          </a:p>
        </p:txBody>
      </p:sp>
      <p:sp>
        <p:nvSpPr>
          <p:cNvPr id="114691" name="Rectangle 7"/>
          <p:cNvSpPr>
            <a:spLocks noGrp="1" noChangeArrowheads="1"/>
          </p:cNvSpPr>
          <p:nvPr>
            <p:ph type="sldNum" sz="quarter" idx="5"/>
          </p:nvPr>
        </p:nvSpPr>
        <p:spPr>
          <a:noFill/>
        </p:spPr>
        <p:txBody>
          <a:bodyPr/>
          <a:lstStyle/>
          <a:p>
            <a:fld id="{83476587-E7CE-4B9D-858C-9A42F520ABD7}" type="slidenum">
              <a:rPr lang="ar-SA" smtClean="0"/>
              <a:pPr/>
              <a:t>47</a:t>
            </a:fld>
            <a:endParaRPr lang="en-US"/>
          </a:p>
        </p:txBody>
      </p:sp>
      <p:sp>
        <p:nvSpPr>
          <p:cNvPr id="114692" name="Rectangle 2"/>
          <p:cNvSpPr>
            <a:spLocks noGrp="1" noRot="1" noChangeAspect="1" noChangeArrowheads="1" noTextEdit="1"/>
          </p:cNvSpPr>
          <p:nvPr>
            <p:ph type="sldImg"/>
          </p:nvPr>
        </p:nvSpPr>
        <p:spPr>
          <a:ln/>
        </p:spPr>
      </p:sp>
      <p:sp>
        <p:nvSpPr>
          <p:cNvPr id="114693" name="Rectangle 3"/>
          <p:cNvSpPr>
            <a:spLocks noGrp="1" noChangeArrowheads="1"/>
          </p:cNvSpPr>
          <p:nvPr>
            <p:ph type="body" idx="1"/>
          </p:nvPr>
        </p:nvSpPr>
        <p:spPr>
          <a:noFill/>
          <a:ln/>
        </p:spPr>
        <p:txBody>
          <a:bodyPr/>
          <a:lstStyle/>
          <a:p>
            <a:r>
              <a:rPr lang="en-US"/>
              <a:t>If the line is shared, then we have not modified it, moreover other processors may also have this value cached. If we decide to modify this cache line, we must tell the other processors to </a:t>
            </a:r>
            <a:r>
              <a:rPr lang="en-US" b="1"/>
              <a:t>invalidate</a:t>
            </a:r>
            <a:r>
              <a:rPr lang="en-US"/>
              <a:t> (discard) their cached copies, because otherwise they will have out-of-date values.</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hdr" sz="quarter"/>
          </p:nvPr>
        </p:nvSpPr>
        <p:spPr>
          <a:noFill/>
        </p:spPr>
        <p:txBody>
          <a:bodyPr/>
          <a:lstStyle/>
          <a:p>
            <a:r>
              <a:rPr lang="en-US"/>
              <a:t>© 2003 Herlihy and Shavit</a:t>
            </a:r>
          </a:p>
        </p:txBody>
      </p:sp>
      <p:sp>
        <p:nvSpPr>
          <p:cNvPr id="115715" name="Rectangle 7"/>
          <p:cNvSpPr>
            <a:spLocks noGrp="1" noChangeArrowheads="1"/>
          </p:cNvSpPr>
          <p:nvPr>
            <p:ph type="sldNum" sz="quarter" idx="5"/>
          </p:nvPr>
        </p:nvSpPr>
        <p:spPr>
          <a:noFill/>
        </p:spPr>
        <p:txBody>
          <a:bodyPr/>
          <a:lstStyle/>
          <a:p>
            <a:fld id="{DF2A1FD8-F4D3-410B-9E9B-D9C5E595348C}" type="slidenum">
              <a:rPr lang="ar-SA" smtClean="0"/>
              <a:pPr/>
              <a:t>48</a:t>
            </a:fld>
            <a:endParaRPr lang="en-US"/>
          </a:p>
        </p:txBody>
      </p:sp>
      <p:sp>
        <p:nvSpPr>
          <p:cNvPr id="115716" name="Rectangle 2"/>
          <p:cNvSpPr>
            <a:spLocks noGrp="1" noRot="1" noChangeAspect="1" noChangeArrowheads="1" noTextEdit="1"/>
          </p:cNvSpPr>
          <p:nvPr>
            <p:ph type="sldImg"/>
          </p:nvPr>
        </p:nvSpPr>
        <p:spPr>
          <a:ln/>
        </p:spPr>
      </p:sp>
      <p:sp>
        <p:nvSpPr>
          <p:cNvPr id="115717" name="Rectangle 3"/>
          <p:cNvSpPr>
            <a:spLocks noGrp="1" noChangeArrowheads="1"/>
          </p:cNvSpPr>
          <p:nvPr>
            <p:ph type="body" idx="1"/>
          </p:nvPr>
        </p:nvSpPr>
        <p:spPr>
          <a:noFill/>
          <a:ln/>
        </p:spPr>
        <p:txBody>
          <a:bodyPr/>
          <a:lstStyle/>
          <a:p>
            <a:r>
              <a:rPr lang="en-US"/>
              <a:t>Finally, the cache line may be invalid, meaning that the cached value is no longer meaningful (perhaps because some other processor updated it).</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hdr" sz="quarter"/>
          </p:nvPr>
        </p:nvSpPr>
        <p:spPr>
          <a:noFill/>
        </p:spPr>
        <p:txBody>
          <a:bodyPr/>
          <a:lstStyle/>
          <a:p>
            <a:r>
              <a:rPr lang="en-US"/>
              <a:t>© 2003 Herlihy and Shavit</a:t>
            </a:r>
          </a:p>
        </p:txBody>
      </p:sp>
      <p:sp>
        <p:nvSpPr>
          <p:cNvPr id="116739" name="Rectangle 7"/>
          <p:cNvSpPr>
            <a:spLocks noGrp="1" noChangeArrowheads="1"/>
          </p:cNvSpPr>
          <p:nvPr>
            <p:ph type="sldNum" sz="quarter" idx="5"/>
          </p:nvPr>
        </p:nvSpPr>
        <p:spPr>
          <a:noFill/>
        </p:spPr>
        <p:txBody>
          <a:bodyPr/>
          <a:lstStyle/>
          <a:p>
            <a:fld id="{3AF98E3A-F0A7-4AF6-9078-6C6C63978550}" type="slidenum">
              <a:rPr lang="ar-SA" smtClean="0"/>
              <a:pPr/>
              <a:t>49</a:t>
            </a:fld>
            <a:endParaRPr lang="en-US"/>
          </a:p>
        </p:txBody>
      </p:sp>
      <p:sp>
        <p:nvSpPr>
          <p:cNvPr id="116740" name="Rectangle 2"/>
          <p:cNvSpPr>
            <a:spLocks noGrp="1" noRot="1" noChangeAspect="1" noChangeArrowheads="1" noTextEdit="1"/>
          </p:cNvSpPr>
          <p:nvPr>
            <p:ph type="sldImg"/>
          </p:nvPr>
        </p:nvSpPr>
        <p:spPr>
          <a:xfrm>
            <a:off x="992188" y="768350"/>
            <a:ext cx="5114925" cy="3836988"/>
          </a:xfrm>
          <a:ln/>
        </p:spPr>
      </p:sp>
      <p:sp>
        <p:nvSpPr>
          <p:cNvPr id="116741" name="Rectangle 3"/>
          <p:cNvSpPr>
            <a:spLocks noGrp="1" noChangeArrowheads="1"/>
          </p:cNvSpPr>
          <p:nvPr>
            <p:ph type="body" idx="1"/>
          </p:nvPr>
        </p:nvSpPr>
        <p:spPr>
          <a:xfrm>
            <a:off x="946150" y="4860925"/>
            <a:ext cx="5207000" cy="4605338"/>
          </a:xfrm>
          <a:noFill/>
          <a:ln/>
        </p:spPr>
        <p:txBody>
          <a:bodyPr/>
          <a:lstStyle/>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hdr" sz="quarter"/>
          </p:nvPr>
        </p:nvSpPr>
        <p:spPr>
          <a:noFill/>
        </p:spPr>
        <p:txBody>
          <a:bodyPr/>
          <a:lstStyle/>
          <a:p>
            <a:r>
              <a:rPr lang="en-US"/>
              <a:t>© 2003 Herlihy and Shavit</a:t>
            </a:r>
          </a:p>
        </p:txBody>
      </p:sp>
      <p:sp>
        <p:nvSpPr>
          <p:cNvPr id="117763" name="Rectangle 7"/>
          <p:cNvSpPr>
            <a:spLocks noGrp="1" noChangeArrowheads="1"/>
          </p:cNvSpPr>
          <p:nvPr>
            <p:ph type="sldNum" sz="quarter" idx="5"/>
          </p:nvPr>
        </p:nvSpPr>
        <p:spPr>
          <a:noFill/>
        </p:spPr>
        <p:txBody>
          <a:bodyPr/>
          <a:lstStyle/>
          <a:p>
            <a:fld id="{EF32B5F6-7C22-494C-9242-14B9821150AB}" type="slidenum">
              <a:rPr lang="ar-SA" smtClean="0"/>
              <a:pPr/>
              <a:t>50</a:t>
            </a:fld>
            <a:endParaRPr lang="en-US"/>
          </a:p>
        </p:txBody>
      </p:sp>
      <p:sp>
        <p:nvSpPr>
          <p:cNvPr id="117764" name="Rectangle 2"/>
          <p:cNvSpPr>
            <a:spLocks noGrp="1" noRot="1" noChangeAspect="1" noChangeArrowheads="1" noTextEdit="1"/>
          </p:cNvSpPr>
          <p:nvPr>
            <p:ph type="sldImg"/>
          </p:nvPr>
        </p:nvSpPr>
        <p:spPr>
          <a:xfrm>
            <a:off x="992188" y="768350"/>
            <a:ext cx="5114925" cy="3836988"/>
          </a:xfrm>
          <a:ln/>
        </p:spPr>
      </p:sp>
      <p:sp>
        <p:nvSpPr>
          <p:cNvPr id="117765" name="Rectangle 3"/>
          <p:cNvSpPr>
            <a:spLocks noGrp="1" noChangeArrowheads="1"/>
          </p:cNvSpPr>
          <p:nvPr>
            <p:ph type="body" idx="1"/>
          </p:nvPr>
        </p:nvSpPr>
        <p:spPr>
          <a:xfrm>
            <a:off x="946150" y="4860925"/>
            <a:ext cx="5207000" cy="4605338"/>
          </a:xfrm>
          <a:noFill/>
          <a:ln/>
        </p:spPr>
        <p:txBody>
          <a:bodyPr/>
          <a:lstStyle/>
          <a:p>
            <a:r>
              <a:rPr lang="en-US"/>
              <a:t>When a processor loads a data value x, it broadcasts the request on the bus. The memory controller picks up the message and sends the data back. The processor marks the cache line as exclusive.</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hdr" sz="quarter"/>
          </p:nvPr>
        </p:nvSpPr>
        <p:spPr>
          <a:noFill/>
        </p:spPr>
        <p:txBody>
          <a:bodyPr/>
          <a:lstStyle/>
          <a:p>
            <a:r>
              <a:rPr lang="en-US"/>
              <a:t>© 2003 Herlihy and Shavit</a:t>
            </a:r>
          </a:p>
        </p:txBody>
      </p:sp>
      <p:sp>
        <p:nvSpPr>
          <p:cNvPr id="118787" name="Rectangle 7"/>
          <p:cNvSpPr>
            <a:spLocks noGrp="1" noChangeArrowheads="1"/>
          </p:cNvSpPr>
          <p:nvPr>
            <p:ph type="sldNum" sz="quarter" idx="5"/>
          </p:nvPr>
        </p:nvSpPr>
        <p:spPr>
          <a:noFill/>
        </p:spPr>
        <p:txBody>
          <a:bodyPr/>
          <a:lstStyle/>
          <a:p>
            <a:fld id="{C18D5CA3-6119-4DB3-82F5-6C303CF8109E}" type="slidenum">
              <a:rPr lang="ar-SA" smtClean="0"/>
              <a:pPr/>
              <a:t>51</a:t>
            </a:fld>
            <a:endParaRPr lang="en-US"/>
          </a:p>
        </p:txBody>
      </p:sp>
      <p:sp>
        <p:nvSpPr>
          <p:cNvPr id="118788" name="Rectangle 2"/>
          <p:cNvSpPr>
            <a:spLocks noGrp="1" noRot="1" noChangeAspect="1" noChangeArrowheads="1" noTextEdit="1"/>
          </p:cNvSpPr>
          <p:nvPr>
            <p:ph type="sldImg"/>
          </p:nvPr>
        </p:nvSpPr>
        <p:spPr>
          <a:xfrm>
            <a:off x="992188" y="768350"/>
            <a:ext cx="5114925" cy="3836988"/>
          </a:xfrm>
          <a:ln/>
        </p:spPr>
      </p:sp>
      <p:sp>
        <p:nvSpPr>
          <p:cNvPr id="118789" name="Rectangle 3"/>
          <p:cNvSpPr>
            <a:spLocks noGrp="1" noChangeArrowheads="1"/>
          </p:cNvSpPr>
          <p:nvPr>
            <p:ph type="body" idx="1"/>
          </p:nvPr>
        </p:nvSpPr>
        <p:spPr>
          <a:xfrm>
            <a:off x="946150" y="4860925"/>
            <a:ext cx="5207000" cy="4605338"/>
          </a:xfrm>
          <a:noFill/>
          <a:ln/>
        </p:spPr>
        <p:txBody>
          <a:bodyPr/>
          <a:lstStyle/>
          <a:p>
            <a:r>
              <a:rPr lang="en-US"/>
              <a:t>Now a second processor wants to load the same address, so it broadcasts a request.</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hdr" sz="quarter"/>
          </p:nvPr>
        </p:nvSpPr>
        <p:spPr>
          <a:noFill/>
        </p:spPr>
        <p:txBody>
          <a:bodyPr/>
          <a:lstStyle/>
          <a:p>
            <a:r>
              <a:rPr lang="en-US"/>
              <a:t>© 2003 Herlihy and Shavit</a:t>
            </a:r>
          </a:p>
        </p:txBody>
      </p:sp>
      <p:sp>
        <p:nvSpPr>
          <p:cNvPr id="119811" name="Rectangle 7"/>
          <p:cNvSpPr>
            <a:spLocks noGrp="1" noChangeArrowheads="1"/>
          </p:cNvSpPr>
          <p:nvPr>
            <p:ph type="sldNum" sz="quarter" idx="5"/>
          </p:nvPr>
        </p:nvSpPr>
        <p:spPr>
          <a:noFill/>
        </p:spPr>
        <p:txBody>
          <a:bodyPr/>
          <a:lstStyle/>
          <a:p>
            <a:fld id="{D79F4B19-6802-4669-A36E-396E71C77674}" type="slidenum">
              <a:rPr lang="ar-SA" smtClean="0"/>
              <a:pPr/>
              <a:t>52</a:t>
            </a:fld>
            <a:endParaRPr lang="en-US"/>
          </a:p>
        </p:txBody>
      </p:sp>
      <p:sp>
        <p:nvSpPr>
          <p:cNvPr id="119812" name="Rectangle 2"/>
          <p:cNvSpPr>
            <a:spLocks noGrp="1" noRot="1" noChangeAspect="1" noChangeArrowheads="1" noTextEdit="1"/>
          </p:cNvSpPr>
          <p:nvPr>
            <p:ph type="sldImg"/>
          </p:nvPr>
        </p:nvSpPr>
        <p:spPr>
          <a:xfrm>
            <a:off x="992188" y="768350"/>
            <a:ext cx="5114925" cy="3836988"/>
          </a:xfrm>
          <a:ln/>
        </p:spPr>
      </p:sp>
      <p:sp>
        <p:nvSpPr>
          <p:cNvPr id="119813" name="Rectangle 3"/>
          <p:cNvSpPr>
            <a:spLocks noGrp="1" noChangeArrowheads="1"/>
          </p:cNvSpPr>
          <p:nvPr>
            <p:ph type="body" idx="1"/>
          </p:nvPr>
        </p:nvSpPr>
        <p:spPr>
          <a:xfrm>
            <a:off x="946150" y="4860925"/>
            <a:ext cx="5207000" cy="4605338"/>
          </a:xfrm>
          <a:noFill/>
          <a:ln/>
        </p:spPr>
        <p:txBody>
          <a:bodyPr/>
          <a:lstStyle/>
          <a:p>
            <a:r>
              <a:rPr lang="en-US"/>
              <a:t>When the second processor asks for x, the first one, who is </a:t>
            </a:r>
            <a:r>
              <a:rPr lang="en-US" b="1"/>
              <a:t>snooping</a:t>
            </a:r>
            <a:r>
              <a:rPr lang="en-US"/>
              <a:t> on the bus, responds with the data. (It can respond faster than the memory). Both  processors mark that cache line as shared.</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hdr" sz="quarter"/>
          </p:nvPr>
        </p:nvSpPr>
        <p:spPr>
          <a:noFill/>
        </p:spPr>
        <p:txBody>
          <a:bodyPr/>
          <a:lstStyle/>
          <a:p>
            <a:r>
              <a:rPr lang="en-US"/>
              <a:t>© 2003 Herlihy and Shavit</a:t>
            </a:r>
          </a:p>
        </p:txBody>
      </p:sp>
      <p:sp>
        <p:nvSpPr>
          <p:cNvPr id="120835" name="Rectangle 7"/>
          <p:cNvSpPr>
            <a:spLocks noGrp="1" noChangeArrowheads="1"/>
          </p:cNvSpPr>
          <p:nvPr>
            <p:ph type="sldNum" sz="quarter" idx="5"/>
          </p:nvPr>
        </p:nvSpPr>
        <p:spPr>
          <a:noFill/>
        </p:spPr>
        <p:txBody>
          <a:bodyPr/>
          <a:lstStyle/>
          <a:p>
            <a:fld id="{9B2A7D18-3E77-49D4-ACDF-2863DFDF7C65}" type="slidenum">
              <a:rPr lang="ar-SA" smtClean="0"/>
              <a:pPr/>
              <a:t>53</a:t>
            </a:fld>
            <a:endParaRPr lang="en-US"/>
          </a:p>
        </p:txBody>
      </p:sp>
      <p:sp>
        <p:nvSpPr>
          <p:cNvPr id="120836" name="Rectangle 2"/>
          <p:cNvSpPr>
            <a:spLocks noGrp="1" noRot="1" noChangeAspect="1" noChangeArrowheads="1" noTextEdit="1"/>
          </p:cNvSpPr>
          <p:nvPr>
            <p:ph type="sldImg"/>
          </p:nvPr>
        </p:nvSpPr>
        <p:spPr>
          <a:xfrm>
            <a:off x="992188" y="768350"/>
            <a:ext cx="5114925" cy="3836988"/>
          </a:xfrm>
          <a:ln/>
        </p:spPr>
      </p:sp>
      <p:sp>
        <p:nvSpPr>
          <p:cNvPr id="120837" name="Rectangle 3"/>
          <p:cNvSpPr>
            <a:spLocks noGrp="1" noChangeArrowheads="1"/>
          </p:cNvSpPr>
          <p:nvPr>
            <p:ph type="body" idx="1"/>
          </p:nvPr>
        </p:nvSpPr>
        <p:spPr>
          <a:xfrm>
            <a:off x="946150" y="4860925"/>
            <a:ext cx="5207000" cy="4605338"/>
          </a:xfrm>
          <a:noFill/>
          <a:ln/>
        </p:spPr>
        <p:txBody>
          <a:bodyPr/>
          <a:lstStyle/>
          <a:p>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hdr" sz="quarter"/>
          </p:nvPr>
        </p:nvSpPr>
        <p:spPr>
          <a:noFill/>
        </p:spPr>
        <p:txBody>
          <a:bodyPr/>
          <a:lstStyle/>
          <a:p>
            <a:r>
              <a:rPr lang="en-US"/>
              <a:t>© 2003 Herlihy and Shavit</a:t>
            </a:r>
          </a:p>
        </p:txBody>
      </p:sp>
      <p:sp>
        <p:nvSpPr>
          <p:cNvPr id="121859" name="Rectangle 7"/>
          <p:cNvSpPr>
            <a:spLocks noGrp="1" noChangeArrowheads="1"/>
          </p:cNvSpPr>
          <p:nvPr>
            <p:ph type="sldNum" sz="quarter" idx="5"/>
          </p:nvPr>
        </p:nvSpPr>
        <p:spPr>
          <a:noFill/>
        </p:spPr>
        <p:txBody>
          <a:bodyPr/>
          <a:lstStyle/>
          <a:p>
            <a:fld id="{86254A40-A981-4F3B-8544-6868596AEAA3}" type="slidenum">
              <a:rPr lang="ar-SA" smtClean="0"/>
              <a:pPr/>
              <a:t>54</a:t>
            </a:fld>
            <a:endParaRPr lang="en-US"/>
          </a:p>
        </p:txBody>
      </p:sp>
      <p:sp>
        <p:nvSpPr>
          <p:cNvPr id="121860" name="Rectangle 2"/>
          <p:cNvSpPr>
            <a:spLocks noGrp="1" noRot="1" noChangeAspect="1" noChangeArrowheads="1" noTextEdit="1"/>
          </p:cNvSpPr>
          <p:nvPr>
            <p:ph type="sldImg"/>
          </p:nvPr>
        </p:nvSpPr>
        <p:spPr>
          <a:xfrm>
            <a:off x="992188" y="768350"/>
            <a:ext cx="5114925" cy="3836988"/>
          </a:xfrm>
          <a:ln/>
        </p:spPr>
      </p:sp>
      <p:sp>
        <p:nvSpPr>
          <p:cNvPr id="121861" name="Rectangle 3"/>
          <p:cNvSpPr>
            <a:spLocks noGrp="1" noChangeArrowheads="1"/>
          </p:cNvSpPr>
          <p:nvPr>
            <p:ph type="body" idx="1"/>
          </p:nvPr>
        </p:nvSpPr>
        <p:spPr>
          <a:xfrm>
            <a:off x="946150" y="4860925"/>
            <a:ext cx="5207000" cy="4605338"/>
          </a:xfrm>
          <a:noFill/>
          <a:ln/>
        </p:spPr>
        <p:txBody>
          <a:bodyPr/>
          <a:lstStyle/>
          <a:p>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a:noFill/>
        </p:spPr>
        <p:txBody>
          <a:bodyPr/>
          <a:lstStyle/>
          <a:p>
            <a:r>
              <a:rPr lang="en-US"/>
              <a:t>© 2003 Herlihy and Shavit</a:t>
            </a:r>
          </a:p>
        </p:txBody>
      </p:sp>
      <p:sp>
        <p:nvSpPr>
          <p:cNvPr id="122883" name="Rectangle 7"/>
          <p:cNvSpPr>
            <a:spLocks noGrp="1" noChangeArrowheads="1"/>
          </p:cNvSpPr>
          <p:nvPr>
            <p:ph type="sldNum" sz="quarter" idx="5"/>
          </p:nvPr>
        </p:nvSpPr>
        <p:spPr>
          <a:noFill/>
        </p:spPr>
        <p:txBody>
          <a:bodyPr/>
          <a:lstStyle/>
          <a:p>
            <a:fld id="{C6F22929-6520-489E-8BB8-F7204D116D84}" type="slidenum">
              <a:rPr lang="ar-SA" smtClean="0"/>
              <a:pPr/>
              <a:t>55</a:t>
            </a:fld>
            <a:endParaRPr lang="en-US"/>
          </a:p>
        </p:txBody>
      </p:sp>
      <p:sp>
        <p:nvSpPr>
          <p:cNvPr id="122884" name="Rectangle 2"/>
          <p:cNvSpPr>
            <a:spLocks noGrp="1" noRot="1" noChangeAspect="1" noChangeArrowheads="1" noTextEdit="1"/>
          </p:cNvSpPr>
          <p:nvPr>
            <p:ph type="sldImg"/>
          </p:nvPr>
        </p:nvSpPr>
        <p:spPr>
          <a:xfrm>
            <a:off x="992188" y="768350"/>
            <a:ext cx="5114925" cy="3836988"/>
          </a:xfrm>
          <a:ln/>
        </p:spPr>
      </p:sp>
      <p:sp>
        <p:nvSpPr>
          <p:cNvPr id="122885" name="Rectangle 3"/>
          <p:cNvSpPr>
            <a:spLocks noGrp="1" noChangeArrowheads="1"/>
          </p:cNvSpPr>
          <p:nvPr>
            <p:ph type="body" idx="1"/>
          </p:nvPr>
        </p:nvSpPr>
        <p:spPr>
          <a:xfrm>
            <a:off x="946150" y="4860925"/>
            <a:ext cx="5207000" cy="4605338"/>
          </a:xfrm>
          <a:noFill/>
          <a:ln/>
        </p:spPr>
        <p:txBody>
          <a:bodyPr/>
          <a:lstStyle/>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a:noFill/>
        </p:spPr>
        <p:txBody>
          <a:bodyPr/>
          <a:lstStyle/>
          <a:p>
            <a:r>
              <a:rPr lang="en-US"/>
              <a:t>© 2003 Herlihy and Shavit</a:t>
            </a:r>
          </a:p>
        </p:txBody>
      </p:sp>
      <p:sp>
        <p:nvSpPr>
          <p:cNvPr id="123907" name="Rectangle 7"/>
          <p:cNvSpPr>
            <a:spLocks noGrp="1" noChangeArrowheads="1"/>
          </p:cNvSpPr>
          <p:nvPr>
            <p:ph type="sldNum" sz="quarter" idx="5"/>
          </p:nvPr>
        </p:nvSpPr>
        <p:spPr>
          <a:noFill/>
        </p:spPr>
        <p:txBody>
          <a:bodyPr/>
          <a:lstStyle/>
          <a:p>
            <a:fld id="{CED07636-FB08-4B2D-8235-60F306D5E3EA}" type="slidenum">
              <a:rPr lang="ar-SA" smtClean="0"/>
              <a:pPr/>
              <a:t>56</a:t>
            </a:fld>
            <a:endParaRPr lang="en-US"/>
          </a:p>
        </p:txBody>
      </p:sp>
      <p:sp>
        <p:nvSpPr>
          <p:cNvPr id="123908" name="Rectangle 2"/>
          <p:cNvSpPr>
            <a:spLocks noGrp="1" noRot="1" noChangeAspect="1" noChangeArrowheads="1" noTextEdit="1"/>
          </p:cNvSpPr>
          <p:nvPr>
            <p:ph type="sldImg"/>
          </p:nvPr>
        </p:nvSpPr>
        <p:spPr>
          <a:xfrm>
            <a:off x="992188" y="768350"/>
            <a:ext cx="5114925" cy="3836988"/>
          </a:xfrm>
          <a:ln/>
        </p:spPr>
      </p:sp>
      <p:sp>
        <p:nvSpPr>
          <p:cNvPr id="123909" name="Rectangle 3"/>
          <p:cNvSpPr>
            <a:spLocks noGrp="1" noChangeArrowheads="1"/>
          </p:cNvSpPr>
          <p:nvPr>
            <p:ph type="body" idx="1"/>
          </p:nvPr>
        </p:nvSpPr>
        <p:spPr>
          <a:xfrm>
            <a:off x="946150" y="4860925"/>
            <a:ext cx="5207000" cy="4605338"/>
          </a:xfrm>
          <a:noFill/>
          <a:ln/>
        </p:spPr>
        <p:txBody>
          <a:bodyP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hdr" sz="quarter"/>
          </p:nvPr>
        </p:nvSpPr>
        <p:spPr>
          <a:noFill/>
        </p:spPr>
        <p:txBody>
          <a:bodyPr/>
          <a:lstStyle/>
          <a:p>
            <a:r>
              <a:rPr lang="en-US"/>
              <a:t>© 2003 Herlihy and Shavit</a:t>
            </a:r>
          </a:p>
        </p:txBody>
      </p:sp>
      <p:sp>
        <p:nvSpPr>
          <p:cNvPr id="124931" name="Rectangle 7"/>
          <p:cNvSpPr>
            <a:spLocks noGrp="1" noChangeArrowheads="1"/>
          </p:cNvSpPr>
          <p:nvPr>
            <p:ph type="sldNum" sz="quarter" idx="5"/>
          </p:nvPr>
        </p:nvSpPr>
        <p:spPr>
          <a:noFill/>
        </p:spPr>
        <p:txBody>
          <a:bodyPr/>
          <a:lstStyle/>
          <a:p>
            <a:fld id="{F1D1364A-C6BC-4BF2-B72B-BC9439BB2482}" type="slidenum">
              <a:rPr lang="ar-SA" smtClean="0"/>
              <a:pPr/>
              <a:t>57</a:t>
            </a:fld>
            <a:endParaRPr lang="en-US"/>
          </a:p>
        </p:txBody>
      </p:sp>
      <p:sp>
        <p:nvSpPr>
          <p:cNvPr id="124932" name="Rectangle 2"/>
          <p:cNvSpPr>
            <a:spLocks noGrp="1" noRot="1" noChangeAspect="1" noChangeArrowheads="1" noTextEdit="1"/>
          </p:cNvSpPr>
          <p:nvPr>
            <p:ph type="sldImg"/>
          </p:nvPr>
        </p:nvSpPr>
        <p:spPr>
          <a:xfrm>
            <a:off x="992188" y="768350"/>
            <a:ext cx="5114925" cy="3836988"/>
          </a:xfrm>
          <a:ln/>
        </p:spPr>
      </p:sp>
      <p:sp>
        <p:nvSpPr>
          <p:cNvPr id="124933" name="Rectangle 3"/>
          <p:cNvSpPr>
            <a:spLocks noGrp="1" noChangeArrowheads="1"/>
          </p:cNvSpPr>
          <p:nvPr>
            <p:ph type="body" idx="1"/>
          </p:nvPr>
        </p:nvSpPr>
        <p:spPr>
          <a:xfrm>
            <a:off x="946150" y="4860925"/>
            <a:ext cx="5207000" cy="4605338"/>
          </a:xfrm>
          <a:noFill/>
          <a:ln/>
        </p:spPr>
        <p:txBody>
          <a:bodyPr/>
          <a:lstStyle/>
          <a:p>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hdr" sz="quarter"/>
          </p:nvPr>
        </p:nvSpPr>
        <p:spPr>
          <a:noFill/>
        </p:spPr>
        <p:txBody>
          <a:bodyPr/>
          <a:lstStyle/>
          <a:p>
            <a:r>
              <a:rPr lang="en-US"/>
              <a:t>© 2003 Herlihy and Shavit</a:t>
            </a:r>
          </a:p>
        </p:txBody>
      </p:sp>
      <p:sp>
        <p:nvSpPr>
          <p:cNvPr id="125955" name="Rectangle 7"/>
          <p:cNvSpPr>
            <a:spLocks noGrp="1" noChangeArrowheads="1"/>
          </p:cNvSpPr>
          <p:nvPr>
            <p:ph type="sldNum" sz="quarter" idx="5"/>
          </p:nvPr>
        </p:nvSpPr>
        <p:spPr>
          <a:noFill/>
        </p:spPr>
        <p:txBody>
          <a:bodyPr/>
          <a:lstStyle/>
          <a:p>
            <a:fld id="{22AA89DF-26D2-4971-9DDE-140B7481F978}" type="slidenum">
              <a:rPr lang="ar-SA" smtClean="0"/>
              <a:pPr/>
              <a:t>58</a:t>
            </a:fld>
            <a:endParaRPr lang="en-US"/>
          </a:p>
        </p:txBody>
      </p:sp>
      <p:sp>
        <p:nvSpPr>
          <p:cNvPr id="125956" name="Rectangle 2"/>
          <p:cNvSpPr>
            <a:spLocks noGrp="1" noRot="1" noChangeAspect="1" noChangeArrowheads="1" noTextEdit="1"/>
          </p:cNvSpPr>
          <p:nvPr>
            <p:ph type="sldImg"/>
          </p:nvPr>
        </p:nvSpPr>
        <p:spPr>
          <a:xfrm>
            <a:off x="992188" y="768350"/>
            <a:ext cx="5114925" cy="3836988"/>
          </a:xfrm>
          <a:ln/>
        </p:spPr>
      </p:sp>
      <p:sp>
        <p:nvSpPr>
          <p:cNvPr id="125957" name="Rectangle 3"/>
          <p:cNvSpPr>
            <a:spLocks noGrp="1" noChangeArrowheads="1"/>
          </p:cNvSpPr>
          <p:nvPr>
            <p:ph type="body" idx="1"/>
          </p:nvPr>
        </p:nvSpPr>
        <p:spPr>
          <a:xfrm>
            <a:off x="946150" y="4860925"/>
            <a:ext cx="5207000" cy="4605338"/>
          </a:xfrm>
          <a:noFill/>
          <a:ln/>
        </p:spPr>
        <p:txBody>
          <a:bodyPr/>
          <a:lstStyle/>
          <a:p>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hdr" sz="quarter"/>
          </p:nvPr>
        </p:nvSpPr>
        <p:spPr>
          <a:noFill/>
        </p:spPr>
        <p:txBody>
          <a:bodyPr/>
          <a:lstStyle/>
          <a:p>
            <a:r>
              <a:rPr lang="en-US"/>
              <a:t>© 2003 Herlihy and Shavit</a:t>
            </a:r>
          </a:p>
        </p:txBody>
      </p:sp>
      <p:sp>
        <p:nvSpPr>
          <p:cNvPr id="126979" name="Rectangle 7"/>
          <p:cNvSpPr>
            <a:spLocks noGrp="1" noChangeArrowheads="1"/>
          </p:cNvSpPr>
          <p:nvPr>
            <p:ph type="sldNum" sz="quarter" idx="5"/>
          </p:nvPr>
        </p:nvSpPr>
        <p:spPr>
          <a:noFill/>
        </p:spPr>
        <p:txBody>
          <a:bodyPr/>
          <a:lstStyle/>
          <a:p>
            <a:fld id="{22D6F69E-F64F-4D4E-A7D5-DE04E252F185}" type="slidenum">
              <a:rPr lang="ar-SA" smtClean="0"/>
              <a:pPr/>
              <a:t>59</a:t>
            </a:fld>
            <a:endParaRPr lang="en-US"/>
          </a:p>
        </p:txBody>
      </p:sp>
      <p:sp>
        <p:nvSpPr>
          <p:cNvPr id="126980" name="Rectangle 2"/>
          <p:cNvSpPr>
            <a:spLocks noGrp="1" noRot="1" noChangeAspect="1" noChangeArrowheads="1" noTextEdit="1"/>
          </p:cNvSpPr>
          <p:nvPr>
            <p:ph type="sldImg"/>
          </p:nvPr>
        </p:nvSpPr>
        <p:spPr>
          <a:ln/>
        </p:spPr>
      </p:sp>
      <p:sp>
        <p:nvSpPr>
          <p:cNvPr id="126981"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a:noFill/>
        </p:spPr>
        <p:txBody>
          <a:bodyPr/>
          <a:lstStyle/>
          <a:p>
            <a:r>
              <a:rPr lang="en-US"/>
              <a:t>© 2003 Herlihy and Shavit</a:t>
            </a:r>
          </a:p>
        </p:txBody>
      </p:sp>
      <p:sp>
        <p:nvSpPr>
          <p:cNvPr id="128003" name="Rectangle 7"/>
          <p:cNvSpPr>
            <a:spLocks noGrp="1" noChangeArrowheads="1"/>
          </p:cNvSpPr>
          <p:nvPr>
            <p:ph type="sldNum" sz="quarter" idx="5"/>
          </p:nvPr>
        </p:nvSpPr>
        <p:spPr>
          <a:noFill/>
        </p:spPr>
        <p:txBody>
          <a:bodyPr/>
          <a:lstStyle/>
          <a:p>
            <a:fld id="{2CD0F8CF-4B44-45B1-B6CF-C4FAF240989B}" type="slidenum">
              <a:rPr lang="ar-SA" smtClean="0"/>
              <a:pPr/>
              <a:t>60</a:t>
            </a:fld>
            <a:endParaRPr lang="en-US"/>
          </a:p>
        </p:txBody>
      </p:sp>
      <p:sp>
        <p:nvSpPr>
          <p:cNvPr id="128004" name="Rectangle 2"/>
          <p:cNvSpPr>
            <a:spLocks noGrp="1" noRot="1" noChangeAspect="1" noChangeArrowheads="1" noTextEdit="1"/>
          </p:cNvSpPr>
          <p:nvPr>
            <p:ph type="sldImg"/>
          </p:nvPr>
        </p:nvSpPr>
        <p:spPr>
          <a:ln/>
        </p:spPr>
      </p:sp>
      <p:sp>
        <p:nvSpPr>
          <p:cNvPr id="128005"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hdr" sz="quarter"/>
          </p:nvPr>
        </p:nvSpPr>
        <p:spPr>
          <a:noFill/>
        </p:spPr>
        <p:txBody>
          <a:bodyPr/>
          <a:lstStyle/>
          <a:p>
            <a:r>
              <a:rPr lang="en-US"/>
              <a:t>© 2003 Herlihy and Shavit</a:t>
            </a:r>
          </a:p>
        </p:txBody>
      </p:sp>
      <p:sp>
        <p:nvSpPr>
          <p:cNvPr id="129027" name="Rectangle 7"/>
          <p:cNvSpPr>
            <a:spLocks noGrp="1" noChangeArrowheads="1"/>
          </p:cNvSpPr>
          <p:nvPr>
            <p:ph type="sldNum" sz="quarter" idx="5"/>
          </p:nvPr>
        </p:nvSpPr>
        <p:spPr>
          <a:noFill/>
        </p:spPr>
        <p:txBody>
          <a:bodyPr/>
          <a:lstStyle/>
          <a:p>
            <a:fld id="{849D7D51-FF71-4614-81D1-3B834DED0E53}" type="slidenum">
              <a:rPr lang="ar-SA" smtClean="0"/>
              <a:pPr/>
              <a:t>61</a:t>
            </a:fld>
            <a:endParaRPr lang="en-US"/>
          </a:p>
        </p:txBody>
      </p:sp>
      <p:sp>
        <p:nvSpPr>
          <p:cNvPr id="129028" name="Rectangle 2"/>
          <p:cNvSpPr>
            <a:spLocks noGrp="1" noRot="1" noChangeAspect="1" noChangeArrowheads="1" noTextEdit="1"/>
          </p:cNvSpPr>
          <p:nvPr>
            <p:ph type="sldImg"/>
          </p:nvPr>
        </p:nvSpPr>
        <p:spPr>
          <a:ln/>
        </p:spPr>
      </p:sp>
      <p:sp>
        <p:nvSpPr>
          <p:cNvPr id="129029" name="Rectangle 3"/>
          <p:cNvSpPr>
            <a:spLocks noGrp="1" noChangeArrowheads="1"/>
          </p:cNvSpPr>
          <p:nvPr>
            <p:ph type="body" idx="1"/>
          </p:nvPr>
        </p:nvSpPr>
        <p:spPr>
          <a:noFill/>
          <a:ln/>
        </p:spPr>
        <p:txBody>
          <a:bodyPr/>
          <a:lstStyle/>
          <a:p>
            <a:r>
              <a:rPr lang="en-US"/>
              <a:t>Many processors have write buffers. When a processor issues a write, it isn’t necessarily sent to memory right away. Instead it may be queued up in a write (or store) buffer. If the processor writes twice to the same location, the earlier write can be </a:t>
            </a:r>
            <a:r>
              <a:rPr lang="en-US" b="1"/>
              <a:t>absorbed</a:t>
            </a:r>
            <a:r>
              <a:rPr lang="en-US"/>
              <a:t>, that is, overwritten without</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hdr" sz="quarter"/>
          </p:nvPr>
        </p:nvSpPr>
        <p:spPr>
          <a:noFill/>
        </p:spPr>
        <p:txBody>
          <a:bodyPr/>
          <a:lstStyle/>
          <a:p>
            <a:r>
              <a:rPr lang="en-US"/>
              <a:t>© 2003 Herlihy and Shavit</a:t>
            </a:r>
          </a:p>
        </p:txBody>
      </p:sp>
      <p:sp>
        <p:nvSpPr>
          <p:cNvPr id="130051" name="Rectangle 7"/>
          <p:cNvSpPr>
            <a:spLocks noGrp="1" noChangeArrowheads="1"/>
          </p:cNvSpPr>
          <p:nvPr>
            <p:ph type="sldNum" sz="quarter" idx="5"/>
          </p:nvPr>
        </p:nvSpPr>
        <p:spPr>
          <a:noFill/>
        </p:spPr>
        <p:txBody>
          <a:bodyPr/>
          <a:lstStyle/>
          <a:p>
            <a:fld id="{C3F6F143-C132-4B73-A284-DCCAC4B2CDB0}" type="slidenum">
              <a:rPr lang="ar-SA" smtClean="0"/>
              <a:pPr/>
              <a:t>62</a:t>
            </a:fld>
            <a:endParaRPr lang="en-US"/>
          </a:p>
        </p:txBody>
      </p:sp>
      <p:sp>
        <p:nvSpPr>
          <p:cNvPr id="130052" name="Rectangle 2"/>
          <p:cNvSpPr>
            <a:spLocks noGrp="1" noRot="1" noChangeAspect="1" noChangeArrowheads="1" noTextEdit="1"/>
          </p:cNvSpPr>
          <p:nvPr>
            <p:ph type="sldImg"/>
          </p:nvPr>
        </p:nvSpPr>
        <p:spPr>
          <a:ln/>
        </p:spPr>
      </p:sp>
      <p:sp>
        <p:nvSpPr>
          <p:cNvPr id="130053"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hdr" sz="quarter"/>
          </p:nvPr>
        </p:nvSpPr>
        <p:spPr>
          <a:noFill/>
        </p:spPr>
        <p:txBody>
          <a:bodyPr/>
          <a:lstStyle/>
          <a:p>
            <a:r>
              <a:rPr lang="en-US"/>
              <a:t>© 2003 Herlihy and Shavit</a:t>
            </a:r>
          </a:p>
        </p:txBody>
      </p:sp>
      <p:sp>
        <p:nvSpPr>
          <p:cNvPr id="131075" name="Rectangle 7"/>
          <p:cNvSpPr>
            <a:spLocks noGrp="1" noChangeArrowheads="1"/>
          </p:cNvSpPr>
          <p:nvPr>
            <p:ph type="sldNum" sz="quarter" idx="5"/>
          </p:nvPr>
        </p:nvSpPr>
        <p:spPr>
          <a:noFill/>
        </p:spPr>
        <p:txBody>
          <a:bodyPr/>
          <a:lstStyle/>
          <a:p>
            <a:fld id="{8B1917D1-DA65-435E-9D1B-54EC954F224B}" type="slidenum">
              <a:rPr lang="ar-SA" smtClean="0"/>
              <a:pPr/>
              <a:t>63</a:t>
            </a:fld>
            <a:endParaRPr lang="en-US"/>
          </a:p>
        </p:txBody>
      </p:sp>
      <p:sp>
        <p:nvSpPr>
          <p:cNvPr id="131076" name="Rectangle 2"/>
          <p:cNvSpPr>
            <a:spLocks noGrp="1" noRot="1" noChangeAspect="1" noChangeArrowheads="1" noTextEdit="1"/>
          </p:cNvSpPr>
          <p:nvPr>
            <p:ph type="sldImg"/>
          </p:nvPr>
        </p:nvSpPr>
        <p:spPr>
          <a:ln/>
        </p:spPr>
      </p:sp>
      <p:sp>
        <p:nvSpPr>
          <p:cNvPr id="131077" name="Rectangle 3"/>
          <p:cNvSpPr>
            <a:spLocks noGrp="1" noChangeArrowheads="1"/>
          </p:cNvSpPr>
          <p:nvPr>
            <p:ph type="body" idx="1"/>
          </p:nvPr>
        </p:nvSpPr>
        <p:spPr>
          <a:noFill/>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262E50F2-AA6F-42A8-B83F-D6B600378A24}" type="slidenum">
              <a:rPr lang="ar-SA"/>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7A214B44-02D3-4D38-BE86-EC8E028C1FED}" type="slidenum">
              <a:rPr lang="ar-SA"/>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17C34DCC-6C1B-4AB8-AF08-62E94070C832}" type="slidenum">
              <a:rPr lang="ar-SA"/>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661AC75D-D024-4B31-964D-3D0AE569716A}" type="slidenum">
              <a:rPr lang="ar-SA"/>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8" name="Rectangle 6"/>
          <p:cNvSpPr>
            <a:spLocks noGrp="1" noChangeArrowheads="1"/>
          </p:cNvSpPr>
          <p:nvPr>
            <p:ph type="sldNum" sz="quarter" idx="11"/>
          </p:nvPr>
        </p:nvSpPr>
        <p:spPr>
          <a:ln/>
        </p:spPr>
        <p:txBody>
          <a:bodyPr/>
          <a:lstStyle>
            <a:lvl1pPr>
              <a:defRPr/>
            </a:lvl1pPr>
          </a:lstStyle>
          <a:p>
            <a:pPr>
              <a:defRPr/>
            </a:pPr>
            <a:fld id="{CA5440B7-1692-486F-ADE1-6BB4223336F0}" type="slidenum">
              <a:rPr lang="ar-SA"/>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4" name="Rectangle 6"/>
          <p:cNvSpPr>
            <a:spLocks noGrp="1" noChangeArrowheads="1"/>
          </p:cNvSpPr>
          <p:nvPr>
            <p:ph type="sldNum" sz="quarter" idx="11"/>
          </p:nvPr>
        </p:nvSpPr>
        <p:spPr>
          <a:ln/>
        </p:spPr>
        <p:txBody>
          <a:bodyPr/>
          <a:lstStyle>
            <a:lvl1pPr>
              <a:defRPr/>
            </a:lvl1pPr>
          </a:lstStyle>
          <a:p>
            <a:pPr>
              <a:defRPr/>
            </a:pPr>
            <a:fld id="{150ABDEB-2E7F-4E46-9C73-5ACF8B4BEAAB}" type="slidenum">
              <a:rPr lang="ar-SA"/>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3" name="Rectangle 6"/>
          <p:cNvSpPr>
            <a:spLocks noGrp="1" noChangeArrowheads="1"/>
          </p:cNvSpPr>
          <p:nvPr>
            <p:ph type="sldNum" sz="quarter" idx="11"/>
          </p:nvPr>
        </p:nvSpPr>
        <p:spPr>
          <a:ln/>
        </p:spPr>
        <p:txBody>
          <a:bodyPr/>
          <a:lstStyle>
            <a:lvl1pPr>
              <a:defRPr/>
            </a:lvl1pPr>
          </a:lstStyle>
          <a:p>
            <a:pPr>
              <a:defRPr/>
            </a:pPr>
            <a:fld id="{24BD677B-7DC9-488F-B2B3-358741983B56}" type="slidenum">
              <a:rPr lang="ar-SA"/>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C7853443-0FD9-40EB-9A47-6AC81C320DDA}" type="slidenum">
              <a:rPr lang="ar-SA"/>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E07F3782-01F8-4830-B359-EE046A1ABD77}" type="slidenum">
              <a:rPr lang="ar-SA"/>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1B2C5E3A-96F0-4546-9AE1-3BE435A10CEB}" type="slidenum">
              <a:rPr lang="ar-SA"/>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B8C8FC21-BBEF-4CAB-9008-ACFCE6629AD1}" type="slidenum">
              <a:rPr lang="ar-SA"/>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solidFill>
                  <a:schemeClr val="tx1"/>
                </a:solidFill>
                <a:latin typeface="Arial" pitchFamily="34" charset="0"/>
              </a:defRPr>
            </a:lvl1pPr>
          </a:lstStyle>
          <a:p>
            <a:pPr>
              <a:defRPr/>
            </a:pPr>
            <a:r>
              <a:rPr lang="en-US" dirty="0"/>
              <a:t>Art of Multiprocessor Programming, 2</a:t>
            </a:r>
            <a:r>
              <a:rPr lang="en-US" baseline="30000" dirty="0"/>
              <a:t>nd</a:t>
            </a:r>
            <a:r>
              <a:rPr lang="en-US" dirty="0"/>
              <a:t> edition</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solidFill>
                  <a:schemeClr val="tx1"/>
                </a:solidFill>
                <a:latin typeface="Arial" pitchFamily="34" charset="0"/>
                <a:cs typeface="Arial" charset="0"/>
              </a:defRPr>
            </a:lvl1pPr>
          </a:lstStyle>
          <a:p>
            <a:pPr>
              <a:defRPr/>
            </a:pPr>
            <a:fld id="{AD395D6F-4DFD-4A93-AFE3-4B08C84E822C}" type="slidenum">
              <a:rPr lang="ar-SA"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eaLnBrk="0" fontAlgn="base" hangingPunct="0">
        <a:spcBef>
          <a:spcPct val="0"/>
        </a:spcBef>
        <a:spcAft>
          <a:spcPct val="0"/>
        </a:spcAft>
        <a:defRPr sz="4400">
          <a:solidFill>
            <a:schemeClr val="tx2"/>
          </a:solidFill>
          <a:latin typeface="Arial" pitchFamily="34" charset="0"/>
          <a:ea typeface="+mj-ea"/>
          <a:cs typeface="+mj-cs"/>
        </a:defRPr>
      </a:lvl1pPr>
      <a:lvl2pPr algn="ctr" rtl="0" eaLnBrk="0" fontAlgn="base" hangingPunct="0">
        <a:spcBef>
          <a:spcPct val="0"/>
        </a:spcBef>
        <a:spcAft>
          <a:spcPct val="0"/>
        </a:spcAft>
        <a:defRPr sz="4400">
          <a:solidFill>
            <a:schemeClr val="tx2"/>
          </a:solidFill>
          <a:latin typeface="Comic Sans MS" pitchFamily="66" charset="0"/>
        </a:defRPr>
      </a:lvl2pPr>
      <a:lvl3pPr algn="ctr" rtl="0" eaLnBrk="0" fontAlgn="base" hangingPunct="0">
        <a:spcBef>
          <a:spcPct val="0"/>
        </a:spcBef>
        <a:spcAft>
          <a:spcPct val="0"/>
        </a:spcAft>
        <a:defRPr sz="4400">
          <a:solidFill>
            <a:schemeClr val="tx2"/>
          </a:solidFill>
          <a:latin typeface="Comic Sans MS" pitchFamily="66" charset="0"/>
        </a:defRPr>
      </a:lvl3pPr>
      <a:lvl4pPr algn="ctr" rtl="0" eaLnBrk="0" fontAlgn="base" hangingPunct="0">
        <a:spcBef>
          <a:spcPct val="0"/>
        </a:spcBef>
        <a:spcAft>
          <a:spcPct val="0"/>
        </a:spcAft>
        <a:defRPr sz="4400">
          <a:solidFill>
            <a:schemeClr val="tx2"/>
          </a:solidFill>
          <a:latin typeface="Comic Sans MS" pitchFamily="66" charset="0"/>
        </a:defRPr>
      </a:lvl4pPr>
      <a:lvl5pPr algn="ctr" rtl="0" eaLnBrk="0" fontAlgn="base" hangingPunct="0">
        <a:spcBef>
          <a:spcPct val="0"/>
        </a:spcBef>
        <a:spcAft>
          <a:spcPct val="0"/>
        </a:spcAft>
        <a:defRPr sz="4400">
          <a:solidFill>
            <a:schemeClr val="tx2"/>
          </a:solidFill>
          <a:latin typeface="Comic Sans MS" pitchFamily="66" charset="0"/>
        </a:defRPr>
      </a:lvl5pPr>
      <a:lvl6pPr marL="457200" algn="ctr" rtl="0" eaLnBrk="0" fontAlgn="base" hangingPunct="0">
        <a:spcBef>
          <a:spcPct val="0"/>
        </a:spcBef>
        <a:spcAft>
          <a:spcPct val="0"/>
        </a:spcAft>
        <a:defRPr sz="4400">
          <a:solidFill>
            <a:schemeClr val="tx2"/>
          </a:solidFill>
          <a:latin typeface="Comic Sans MS" pitchFamily="66" charset="0"/>
        </a:defRPr>
      </a:lvl6pPr>
      <a:lvl7pPr marL="914400" algn="ctr" rtl="0" eaLnBrk="0" fontAlgn="base" hangingPunct="0">
        <a:spcBef>
          <a:spcPct val="0"/>
        </a:spcBef>
        <a:spcAft>
          <a:spcPct val="0"/>
        </a:spcAft>
        <a:defRPr sz="4400">
          <a:solidFill>
            <a:schemeClr val="tx2"/>
          </a:solidFill>
          <a:latin typeface="Comic Sans MS" pitchFamily="66" charset="0"/>
        </a:defRPr>
      </a:lvl7pPr>
      <a:lvl8pPr marL="1371600" algn="ctr" rtl="0" eaLnBrk="0" fontAlgn="base" hangingPunct="0">
        <a:spcBef>
          <a:spcPct val="0"/>
        </a:spcBef>
        <a:spcAft>
          <a:spcPct val="0"/>
        </a:spcAft>
        <a:defRPr sz="4400">
          <a:solidFill>
            <a:schemeClr val="tx2"/>
          </a:solidFill>
          <a:latin typeface="Comic Sans MS" pitchFamily="66" charset="0"/>
        </a:defRPr>
      </a:lvl8pPr>
      <a:lvl9pPr marL="1828800" algn="ctr" rtl="0" eaLnBrk="0" fontAlgn="base" hangingPunct="0">
        <a:spcBef>
          <a:spcPct val="0"/>
        </a:spcBef>
        <a:spcAft>
          <a:spcPct val="0"/>
        </a:spcAft>
        <a:defRPr sz="44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har char="•"/>
        <a:defRPr sz="3200">
          <a:solidFill>
            <a:srgbClr val="0000FF"/>
          </a:solidFill>
          <a:latin typeface="Arial" pitchFamily="34" charset="0"/>
          <a:ea typeface="+mn-ea"/>
          <a:cs typeface="+mn-cs"/>
        </a:defRPr>
      </a:lvl1pPr>
      <a:lvl2pPr marL="742950" indent="-285750" algn="l" rtl="0" eaLnBrk="0" fontAlgn="base" hangingPunct="0">
        <a:spcBef>
          <a:spcPct val="20000"/>
        </a:spcBef>
        <a:spcAft>
          <a:spcPct val="0"/>
        </a:spcAft>
        <a:buChar char="–"/>
        <a:defRPr sz="2800">
          <a:solidFill>
            <a:srgbClr val="0000FF"/>
          </a:solidFill>
          <a:latin typeface="Arial" pitchFamily="34" charset="0"/>
        </a:defRPr>
      </a:lvl2pPr>
      <a:lvl3pPr marL="1143000" indent="-228600" algn="l" rtl="0" eaLnBrk="0" fontAlgn="base" hangingPunct="0">
        <a:spcBef>
          <a:spcPct val="20000"/>
        </a:spcBef>
        <a:spcAft>
          <a:spcPct val="0"/>
        </a:spcAft>
        <a:buChar char="•"/>
        <a:defRPr sz="2400">
          <a:solidFill>
            <a:srgbClr val="0000FF"/>
          </a:solidFill>
          <a:latin typeface="Arial" pitchFamily="34" charset="0"/>
        </a:defRPr>
      </a:lvl3pPr>
      <a:lvl4pPr marL="1600200" indent="-228600" algn="l" rtl="0" eaLnBrk="0" fontAlgn="base" hangingPunct="0">
        <a:spcBef>
          <a:spcPct val="20000"/>
        </a:spcBef>
        <a:spcAft>
          <a:spcPct val="0"/>
        </a:spcAft>
        <a:buChar char="–"/>
        <a:defRPr sz="2000">
          <a:solidFill>
            <a:srgbClr val="0000FF"/>
          </a:solidFill>
          <a:latin typeface="Arial" pitchFamily="34" charset="0"/>
        </a:defRPr>
      </a:lvl4pPr>
      <a:lvl5pPr marL="2057400" indent="-228600" algn="l" rtl="0" eaLnBrk="0" fontAlgn="base" hangingPunct="0">
        <a:spcBef>
          <a:spcPct val="20000"/>
        </a:spcBef>
        <a:spcAft>
          <a:spcPct val="0"/>
        </a:spcAft>
        <a:buChar char="»"/>
        <a:defRPr sz="2000">
          <a:solidFill>
            <a:srgbClr val="0000FF"/>
          </a:solidFill>
          <a:latin typeface="Arial" pitchFamily="34" charset="0"/>
        </a:defRPr>
      </a:lvl5pPr>
      <a:lvl6pPr marL="2514600" indent="-228600" algn="l" rtl="0" eaLnBrk="0" fontAlgn="base" hangingPunct="0">
        <a:spcBef>
          <a:spcPct val="20000"/>
        </a:spcBef>
        <a:spcAft>
          <a:spcPct val="0"/>
        </a:spcAft>
        <a:buChar char="»"/>
        <a:defRPr sz="2000">
          <a:solidFill>
            <a:srgbClr val="0000FF"/>
          </a:solidFill>
          <a:latin typeface="+mn-lt"/>
        </a:defRPr>
      </a:lvl6pPr>
      <a:lvl7pPr marL="2971800" indent="-228600" algn="l" rtl="0" eaLnBrk="0" fontAlgn="base" hangingPunct="0">
        <a:spcBef>
          <a:spcPct val="20000"/>
        </a:spcBef>
        <a:spcAft>
          <a:spcPct val="0"/>
        </a:spcAft>
        <a:buChar char="»"/>
        <a:defRPr sz="2000">
          <a:solidFill>
            <a:srgbClr val="0000FF"/>
          </a:solidFill>
          <a:latin typeface="+mn-lt"/>
        </a:defRPr>
      </a:lvl7pPr>
      <a:lvl8pPr marL="3429000" indent="-228600" algn="l" rtl="0" eaLnBrk="0" fontAlgn="base" hangingPunct="0">
        <a:spcBef>
          <a:spcPct val="20000"/>
        </a:spcBef>
        <a:spcAft>
          <a:spcPct val="0"/>
        </a:spcAft>
        <a:buChar char="»"/>
        <a:defRPr sz="2000">
          <a:solidFill>
            <a:srgbClr val="0000FF"/>
          </a:solidFill>
          <a:latin typeface="+mn-lt"/>
        </a:defRPr>
      </a:lvl8pPr>
      <a:lvl9pPr marL="3886200" indent="-228600" algn="l" rtl="0" eaLnBrk="0" fontAlgn="base" hangingPunct="0">
        <a:spcBef>
          <a:spcPct val="20000"/>
        </a:spcBef>
        <a:spcAft>
          <a:spcPct val="0"/>
        </a:spcAft>
        <a:buChar char="»"/>
        <a:defRPr sz="2000">
          <a:solidFill>
            <a:srgbClr val="0000FF"/>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creativecommons.org/licenses/by-sa/2.5/" TargetMode="External"/><Relationship Id="rId2" Type="http://schemas.openxmlformats.org/officeDocument/2006/relationships/notesSlide" Target="../notesSlides/notesSlide63.xml"/><Relationship Id="rId1" Type="http://schemas.openxmlformats.org/officeDocument/2006/relationships/slideLayout" Target="../slideLayouts/slideLayout7.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pic>
        <p:nvPicPr>
          <p:cNvPr id="5123" name="Picture 3"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sp>
        <p:nvSpPr>
          <p:cNvPr id="5124" name="Rectangle 4"/>
          <p:cNvSpPr>
            <a:spLocks noGrp="1" noChangeArrowheads="1"/>
          </p:cNvSpPr>
          <p:nvPr>
            <p:ph type="ctrTitle" idx="4294967295"/>
          </p:nvPr>
        </p:nvSpPr>
        <p:spPr>
          <a:xfrm>
            <a:off x="685800" y="292100"/>
            <a:ext cx="7772400" cy="1143000"/>
          </a:xfrm>
        </p:spPr>
        <p:txBody>
          <a:bodyPr/>
          <a:lstStyle/>
          <a:p>
            <a:r>
              <a:rPr lang="en-US" altLang="en-US" sz="4400" dirty="0"/>
              <a:t>Multiprocessor Architecture Basics</a:t>
            </a:r>
            <a:endParaRPr lang="en-US" dirty="0"/>
          </a:p>
        </p:txBody>
      </p:sp>
      <p:sp>
        <p:nvSpPr>
          <p:cNvPr id="5125" name="Rectangle 5"/>
          <p:cNvSpPr>
            <a:spLocks noGrp="1" noChangeArrowheads="1"/>
          </p:cNvSpPr>
          <p:nvPr>
            <p:ph type="subTitle" idx="4294967295"/>
          </p:nvPr>
        </p:nvSpPr>
        <p:spPr>
          <a:xfrm>
            <a:off x="1103313" y="4198938"/>
            <a:ext cx="6777037" cy="1927225"/>
          </a:xfrm>
        </p:spPr>
        <p:txBody>
          <a:bodyPr/>
          <a:lstStyle/>
          <a:p>
            <a:pPr marL="0" indent="0" algn="ctr">
              <a:lnSpc>
                <a:spcPct val="80000"/>
              </a:lnSpc>
              <a:buFontTx/>
              <a:buNone/>
            </a:pPr>
            <a:r>
              <a:rPr lang="en-US" sz="2800" dirty="0">
                <a:solidFill>
                  <a:schemeClr val="accent1">
                    <a:lumMod val="75000"/>
                  </a:schemeClr>
                </a:solidFill>
              </a:rPr>
              <a:t>Companion slides for</a:t>
            </a:r>
          </a:p>
          <a:p>
            <a:pPr marL="0" indent="0" algn="ctr">
              <a:lnSpc>
                <a:spcPct val="80000"/>
              </a:lnSpc>
              <a:buFontTx/>
              <a:buNone/>
            </a:pPr>
            <a:r>
              <a:rPr lang="en-US" sz="2800" dirty="0">
                <a:solidFill>
                  <a:schemeClr val="tx1"/>
                </a:solidFill>
              </a:rPr>
              <a:t>The Art of Multiprocessor Programming</a:t>
            </a:r>
          </a:p>
          <a:p>
            <a:pPr marL="0" indent="0" algn="ctr">
              <a:lnSpc>
                <a:spcPct val="80000"/>
              </a:lnSpc>
              <a:buFontTx/>
              <a:buNone/>
            </a:pPr>
            <a:r>
              <a:rPr lang="en-US" sz="2800" dirty="0">
                <a:solidFill>
                  <a:schemeClr val="accent1">
                    <a:lumMod val="75000"/>
                  </a:schemeClr>
                </a:solidFill>
              </a:rPr>
              <a:t>by Maurice Herlihy, Nir Shavit, Victor </a:t>
            </a:r>
            <a:r>
              <a:rPr lang="en-US" sz="2800" dirty="0" err="1">
                <a:solidFill>
                  <a:schemeClr val="accent1">
                    <a:lumMod val="75000"/>
                  </a:schemeClr>
                </a:solidFill>
              </a:rPr>
              <a:t>Luchangco</a:t>
            </a:r>
            <a:r>
              <a:rPr lang="en-US" sz="2800" dirty="0">
                <a:solidFill>
                  <a:schemeClr val="accent1">
                    <a:lumMod val="75000"/>
                  </a:schemeClr>
                </a:solidFill>
              </a:rPr>
              <a:t>, and Michael Spear</a:t>
            </a:r>
          </a:p>
        </p:txBody>
      </p:sp>
      <p:sp>
        <p:nvSpPr>
          <p:cNvPr id="5126" name="Rectangle 6"/>
          <p:cNvSpPr>
            <a:spLocks noChangeArrowheads="1"/>
          </p:cNvSpPr>
          <p:nvPr/>
        </p:nvSpPr>
        <p:spPr bwMode="auto">
          <a:xfrm>
            <a:off x="392113" y="5927725"/>
            <a:ext cx="1509712" cy="930275"/>
          </a:xfrm>
          <a:prstGeom prst="rect">
            <a:avLst/>
          </a:prstGeom>
          <a:solidFill>
            <a:schemeClr val="bg1"/>
          </a:solidFill>
          <a:ln w="9525">
            <a:noFill/>
            <a:miter lim="800000"/>
            <a:headEnd/>
            <a:tailEnd/>
          </a:ln>
        </p:spPr>
        <p:txBody>
          <a:bodyPr wrap="none" anchor="ctr"/>
          <a:lstStyle/>
          <a:p>
            <a:pPr algn="r" eaLnBrk="0" hangingPunct="0"/>
            <a:endParaRPr lang="en-US" sz="4400" b="1">
              <a:solidFill>
                <a:srgbClr val="0000FF"/>
              </a:solidFill>
              <a:latin typeface="Comic Sans MS" pitchFamily="66" charset="0"/>
            </a:endParaRPr>
          </a:p>
        </p:txBody>
      </p:sp>
      <p:sp>
        <p:nvSpPr>
          <p:cNvPr id="9" name="TextBox 8"/>
          <p:cNvSpPr txBox="1"/>
          <p:nvPr>
            <p:custDataLst>
              <p:tags r:id="rId1"/>
            </p:custDataLst>
          </p:nvPr>
        </p:nvSpPr>
        <p:spPr>
          <a:xfrm>
            <a:off x="0" y="7112000"/>
            <a:ext cx="9144000" cy="646331"/>
          </a:xfrm>
          <a:prstGeom prst="rect">
            <a:avLst/>
          </a:prstGeom>
          <a:noFill/>
        </p:spPr>
        <p:txBody>
          <a:bodyPr vert="horz" rtlCol="0">
            <a:spAutoFit/>
          </a:bodyPr>
          <a:lstStyle/>
          <a:p>
            <a:r>
              <a:rPr lang="en-US"/>
              <a:t>TexPoint fonts used in EMF. </a:t>
            </a:r>
          </a:p>
          <a:p>
            <a:r>
              <a:rPr lang="en-US"/>
              <a:t>Read the TexPoint manual before you delete this box.: </a:t>
            </a:r>
            <a:r>
              <a:rPr lang="en-US">
                <a:latin typeface="CMR10"/>
              </a:rPr>
              <a:t>A</a:t>
            </a:r>
            <a:r>
              <a:rPr lang="en-US">
                <a:latin typeface="CMSY10ORIG"/>
              </a:rPr>
              <a:t>A</a:t>
            </a:r>
            <a:r>
              <a:rPr lang="en-US">
                <a:latin typeface="CMMI10"/>
              </a:rPr>
              <a:t>A</a:t>
            </a:r>
            <a:r>
              <a:rPr lang="en-US">
                <a:latin typeface="CMMI7"/>
              </a:rPr>
              <a:t>A</a:t>
            </a:r>
            <a:endParaRPr lang="en-US"/>
          </a:p>
        </p:txBody>
      </p:sp>
      <p:pic>
        <p:nvPicPr>
          <p:cNvPr id="5" name="Picture 4">
            <a:extLst>
              <a:ext uri="{FF2B5EF4-FFF2-40B4-BE49-F238E27FC236}">
                <a16:creationId xmlns:a16="http://schemas.microsoft.com/office/drawing/2014/main" id="{C1CBA998-1508-4E95-8E90-ABB590A60DFE}"/>
              </a:ext>
            </a:extLst>
          </p:cNvPr>
          <p:cNvPicPr>
            <a:picLocks noChangeAspect="1"/>
          </p:cNvPicPr>
          <p:nvPr/>
        </p:nvPicPr>
        <p:blipFill>
          <a:blip r:embed="rId5"/>
          <a:stretch>
            <a:fillRect/>
          </a:stretch>
        </p:blipFill>
        <p:spPr>
          <a:xfrm>
            <a:off x="3509339" y="1534496"/>
            <a:ext cx="2125323" cy="256504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Footer Placeholder 3"/>
          <p:cNvSpPr>
            <a:spLocks noGrp="1"/>
          </p:cNvSpPr>
          <p:nvPr>
            <p:ph type="ftr" sz="quarter" idx="10"/>
          </p:nvPr>
        </p:nvSpPr>
        <p:spPr>
          <a:noFill/>
        </p:spPr>
        <p:txBody>
          <a:bodyPr/>
          <a:lstStyle/>
          <a:p>
            <a:r>
              <a:rPr lang="en-US"/>
              <a:t>Art of Multiprocessor Programming</a:t>
            </a:r>
          </a:p>
        </p:txBody>
      </p:sp>
      <p:sp>
        <p:nvSpPr>
          <p:cNvPr id="3075" name="Slide Number Placeholder 4"/>
          <p:cNvSpPr>
            <a:spLocks noGrp="1"/>
          </p:cNvSpPr>
          <p:nvPr>
            <p:ph type="sldNum" sz="quarter" idx="11"/>
          </p:nvPr>
        </p:nvSpPr>
        <p:spPr>
          <a:noFill/>
        </p:spPr>
        <p:txBody>
          <a:bodyPr/>
          <a:lstStyle/>
          <a:p>
            <a:fld id="{B08C64C6-9B87-4128-A3DB-F2CB7F1B38A8}" type="slidenum">
              <a:rPr lang="ar-SA" smtClean="0"/>
              <a:pPr/>
              <a:t>2</a:t>
            </a:fld>
            <a:endParaRPr lang="en-US"/>
          </a:p>
        </p:txBody>
      </p:sp>
      <p:sp>
        <p:nvSpPr>
          <p:cNvPr id="3076" name="Rectangle 2"/>
          <p:cNvSpPr>
            <a:spLocks noGrp="1" noChangeArrowheads="1"/>
          </p:cNvSpPr>
          <p:nvPr>
            <p:ph type="title"/>
          </p:nvPr>
        </p:nvSpPr>
        <p:spPr/>
        <p:txBody>
          <a:bodyPr/>
          <a:lstStyle/>
          <a:p>
            <a:r>
              <a:rPr lang="en-US"/>
              <a:t>Multiprocessor Architecture</a:t>
            </a:r>
          </a:p>
        </p:txBody>
      </p:sp>
      <p:sp>
        <p:nvSpPr>
          <p:cNvPr id="3077" name="Rectangle 3"/>
          <p:cNvSpPr>
            <a:spLocks noGrp="1" noChangeArrowheads="1"/>
          </p:cNvSpPr>
          <p:nvPr>
            <p:ph type="body" idx="1"/>
          </p:nvPr>
        </p:nvSpPr>
        <p:spPr/>
        <p:txBody>
          <a:bodyPr/>
          <a:lstStyle/>
          <a:p>
            <a:r>
              <a:rPr lang="en-US"/>
              <a:t>Abstract models are (mostly) OK to understand algorithm </a:t>
            </a:r>
            <a:r>
              <a:rPr lang="en-US">
                <a:solidFill>
                  <a:schemeClr val="tx1"/>
                </a:solidFill>
              </a:rPr>
              <a:t>correctness </a:t>
            </a:r>
            <a:r>
              <a:rPr lang="en-US">
                <a:solidFill>
                  <a:srgbClr val="FF0000"/>
                </a:solidFill>
              </a:rPr>
              <a:t>and</a:t>
            </a:r>
            <a:r>
              <a:rPr lang="en-US">
                <a:solidFill>
                  <a:schemeClr val="tx1"/>
                </a:solidFill>
              </a:rPr>
              <a:t> progress</a:t>
            </a:r>
          </a:p>
          <a:p>
            <a:r>
              <a:rPr lang="en-US"/>
              <a:t>To understand how concurrent algorithms actually </a:t>
            </a:r>
            <a:r>
              <a:rPr lang="en-US">
                <a:solidFill>
                  <a:schemeClr val="tx1"/>
                </a:solidFill>
              </a:rPr>
              <a:t>perform</a:t>
            </a:r>
          </a:p>
          <a:p>
            <a:r>
              <a:rPr lang="en-US"/>
              <a:t>You need to understand something about multiprocessor architectures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p:cNvSpPr>
            <a:spLocks noGrp="1"/>
          </p:cNvSpPr>
          <p:nvPr>
            <p:ph type="ftr" sz="quarter" idx="10"/>
          </p:nvPr>
        </p:nvSpPr>
        <p:spPr>
          <a:noFill/>
        </p:spPr>
        <p:txBody>
          <a:bodyPr/>
          <a:lstStyle/>
          <a:p>
            <a:r>
              <a:rPr lang="en-US"/>
              <a:t>Art of Multiprocessor Programming</a:t>
            </a:r>
          </a:p>
        </p:txBody>
      </p:sp>
      <p:sp>
        <p:nvSpPr>
          <p:cNvPr id="4099" name="Slide Number Placeholder 4"/>
          <p:cNvSpPr>
            <a:spLocks noGrp="1"/>
          </p:cNvSpPr>
          <p:nvPr>
            <p:ph type="sldNum" sz="quarter" idx="11"/>
          </p:nvPr>
        </p:nvSpPr>
        <p:spPr>
          <a:noFill/>
        </p:spPr>
        <p:txBody>
          <a:bodyPr/>
          <a:lstStyle/>
          <a:p>
            <a:fld id="{3ED22D56-A004-4A65-A28F-CC6B1DF344E1}" type="slidenum">
              <a:rPr lang="ar-SA" smtClean="0"/>
              <a:pPr/>
              <a:t>3</a:t>
            </a:fld>
            <a:endParaRPr lang="en-US"/>
          </a:p>
        </p:txBody>
      </p:sp>
      <p:sp>
        <p:nvSpPr>
          <p:cNvPr id="4100" name="Rectangle 2"/>
          <p:cNvSpPr>
            <a:spLocks noGrp="1" noChangeArrowheads="1"/>
          </p:cNvSpPr>
          <p:nvPr>
            <p:ph type="title"/>
          </p:nvPr>
        </p:nvSpPr>
        <p:spPr/>
        <p:txBody>
          <a:bodyPr/>
          <a:lstStyle/>
          <a:p>
            <a:r>
              <a:rPr lang="en-US"/>
              <a:t>Pieces</a:t>
            </a:r>
          </a:p>
        </p:txBody>
      </p:sp>
      <p:sp>
        <p:nvSpPr>
          <p:cNvPr id="4101" name="Rectangle 3"/>
          <p:cNvSpPr>
            <a:spLocks noGrp="1" noChangeArrowheads="1"/>
          </p:cNvSpPr>
          <p:nvPr>
            <p:ph type="body" idx="1"/>
          </p:nvPr>
        </p:nvSpPr>
        <p:spPr/>
        <p:txBody>
          <a:bodyPr/>
          <a:lstStyle/>
          <a:p>
            <a:r>
              <a:rPr lang="en-US"/>
              <a:t>Processors</a:t>
            </a:r>
          </a:p>
          <a:p>
            <a:r>
              <a:rPr lang="en-US"/>
              <a:t>Threads</a:t>
            </a:r>
          </a:p>
          <a:p>
            <a:r>
              <a:rPr lang="en-US"/>
              <a:t>Interconnect</a:t>
            </a:r>
          </a:p>
          <a:p>
            <a:r>
              <a:rPr lang="en-US"/>
              <a:t>Memory</a:t>
            </a:r>
          </a:p>
          <a:p>
            <a:r>
              <a:rPr lang="en-US"/>
              <a:t>Caches</a:t>
            </a:r>
          </a:p>
          <a:p>
            <a:endParaRPr lang="en-US"/>
          </a:p>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p:cNvSpPr>
            <a:spLocks noGrp="1"/>
          </p:cNvSpPr>
          <p:nvPr>
            <p:ph type="ftr" sz="quarter" idx="10"/>
          </p:nvPr>
        </p:nvSpPr>
        <p:spPr>
          <a:noFill/>
        </p:spPr>
        <p:txBody>
          <a:bodyPr/>
          <a:lstStyle/>
          <a:p>
            <a:r>
              <a:rPr lang="en-US"/>
              <a:t>Art of Multiprocessor Programming</a:t>
            </a:r>
          </a:p>
        </p:txBody>
      </p:sp>
      <p:sp>
        <p:nvSpPr>
          <p:cNvPr id="5123" name="Slide Number Placeholder 4"/>
          <p:cNvSpPr>
            <a:spLocks noGrp="1"/>
          </p:cNvSpPr>
          <p:nvPr>
            <p:ph type="sldNum" sz="quarter" idx="11"/>
          </p:nvPr>
        </p:nvSpPr>
        <p:spPr>
          <a:noFill/>
        </p:spPr>
        <p:txBody>
          <a:bodyPr/>
          <a:lstStyle/>
          <a:p>
            <a:fld id="{6A8D706C-0A14-4C35-9218-086035271C7B}" type="slidenum">
              <a:rPr lang="ar-SA" smtClean="0"/>
              <a:pPr/>
              <a:t>4</a:t>
            </a:fld>
            <a:endParaRPr lang="en-US"/>
          </a:p>
        </p:txBody>
      </p:sp>
      <p:sp>
        <p:nvSpPr>
          <p:cNvPr id="5124" name="Rectangle 2"/>
          <p:cNvSpPr>
            <a:spLocks noChangeArrowheads="1"/>
          </p:cNvSpPr>
          <p:nvPr/>
        </p:nvSpPr>
        <p:spPr bwMode="auto">
          <a:xfrm>
            <a:off x="1755775" y="3889375"/>
            <a:ext cx="1203325" cy="385763"/>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5125" name="AutoShape 3"/>
          <p:cNvSpPr>
            <a:spLocks noChangeArrowheads="1"/>
          </p:cNvSpPr>
          <p:nvPr/>
        </p:nvSpPr>
        <p:spPr bwMode="auto">
          <a:xfrm>
            <a:off x="1176338" y="4308475"/>
            <a:ext cx="6626225" cy="641350"/>
          </a:xfrm>
          <a:prstGeom prst="leftRightArrow">
            <a:avLst>
              <a:gd name="adj1" fmla="val 40102"/>
              <a:gd name="adj2" fmla="val 81458"/>
            </a:avLst>
          </a:prstGeom>
          <a:solidFill>
            <a:schemeClr val="folHlink"/>
          </a:solidFill>
          <a:ln w="38100">
            <a:solidFill>
              <a:schemeClr val="tx1"/>
            </a:solidFill>
            <a:miter lim="800000"/>
            <a:headEnd/>
            <a:tailEnd/>
          </a:ln>
        </p:spPr>
        <p:txBody>
          <a:bodyPr wrap="none" anchor="ctr"/>
          <a:lstStyle/>
          <a:p>
            <a:pPr algn="r"/>
            <a:r>
              <a:rPr lang="en-US" sz="2000" b="0" dirty="0">
                <a:solidFill>
                  <a:schemeClr val="tx2"/>
                </a:solidFill>
                <a:latin typeface="Arial" pitchFamily="34" charset="0"/>
              </a:rPr>
              <a:t>Bus</a:t>
            </a:r>
          </a:p>
        </p:txBody>
      </p:sp>
      <p:sp>
        <p:nvSpPr>
          <p:cNvPr id="5126" name="Rectangle 4"/>
          <p:cNvSpPr>
            <a:spLocks noGrp="1" noChangeArrowheads="1"/>
          </p:cNvSpPr>
          <p:nvPr>
            <p:ph type="title"/>
          </p:nvPr>
        </p:nvSpPr>
        <p:spPr/>
        <p:txBody>
          <a:bodyPr/>
          <a:lstStyle/>
          <a:p>
            <a:r>
              <a:rPr lang="en-US"/>
              <a:t>Old-School Multiprocessor</a:t>
            </a:r>
          </a:p>
        </p:txBody>
      </p:sp>
      <p:grpSp>
        <p:nvGrpSpPr>
          <p:cNvPr id="5127" name="Group 5"/>
          <p:cNvGrpSpPr>
            <a:grpSpLocks/>
          </p:cNvGrpSpPr>
          <p:nvPr/>
        </p:nvGrpSpPr>
        <p:grpSpPr bwMode="auto">
          <a:xfrm>
            <a:off x="3746500" y="2465388"/>
            <a:ext cx="1130300" cy="1173162"/>
            <a:chOff x="2496" y="2725"/>
            <a:chExt cx="712" cy="739"/>
          </a:xfrm>
        </p:grpSpPr>
        <p:sp>
          <p:nvSpPr>
            <p:cNvPr id="5153" name="Rectangle 6"/>
            <p:cNvSpPr>
              <a:spLocks noChangeArrowheads="1"/>
            </p:cNvSpPr>
            <p:nvPr/>
          </p:nvSpPr>
          <p:spPr bwMode="auto">
            <a:xfrm>
              <a:off x="2592" y="3312"/>
              <a:ext cx="528" cy="144"/>
            </a:xfrm>
            <a:prstGeom prst="rect">
              <a:avLst/>
            </a:prstGeom>
            <a:solidFill>
              <a:schemeClr val="accent1"/>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154" name="Freeform 7"/>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nvGrpSpPr>
            <p:cNvPr id="5155" name="Group 8"/>
            <p:cNvGrpSpPr>
              <a:grpSpLocks/>
            </p:cNvGrpSpPr>
            <p:nvPr/>
          </p:nvGrpSpPr>
          <p:grpSpPr bwMode="auto">
            <a:xfrm>
              <a:off x="3072" y="2832"/>
              <a:ext cx="136" cy="632"/>
              <a:chOff x="3072" y="2832"/>
              <a:chExt cx="136" cy="632"/>
            </a:xfrm>
          </p:grpSpPr>
          <p:sp>
            <p:nvSpPr>
              <p:cNvPr id="5160" name="Freeform 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61" name="Freeform 10"/>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62" name="Freeform 11"/>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156" name="Group 12"/>
            <p:cNvGrpSpPr>
              <a:grpSpLocks/>
            </p:cNvGrpSpPr>
            <p:nvPr/>
          </p:nvGrpSpPr>
          <p:grpSpPr bwMode="auto">
            <a:xfrm flipH="1">
              <a:off x="2496" y="2832"/>
              <a:ext cx="136" cy="632"/>
              <a:chOff x="3072" y="2832"/>
              <a:chExt cx="136" cy="632"/>
            </a:xfrm>
          </p:grpSpPr>
          <p:sp>
            <p:nvSpPr>
              <p:cNvPr id="5157" name="Freeform 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58" name="Freeform 14"/>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59" name="Freeform 15"/>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grpSp>
        <p:nvGrpSpPr>
          <p:cNvPr id="5128" name="Group 16"/>
          <p:cNvGrpSpPr>
            <a:grpSpLocks/>
          </p:cNvGrpSpPr>
          <p:nvPr/>
        </p:nvGrpSpPr>
        <p:grpSpPr bwMode="auto">
          <a:xfrm>
            <a:off x="1757363" y="2441575"/>
            <a:ext cx="1358900" cy="1282700"/>
            <a:chOff x="1008" y="2720"/>
            <a:chExt cx="856" cy="808"/>
          </a:xfrm>
        </p:grpSpPr>
        <p:sp>
          <p:nvSpPr>
            <p:cNvPr id="5144" name="Rectangle 17"/>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145" name="Freeform 1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46" name="Freeform 1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47" name="Freeform 2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48" name="Freeform 2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5149" name="Freeform 2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5150" name="Freeform 2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51" name="Freeform 2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52" name="Freeform 2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129" name="Group 26"/>
          <p:cNvGrpSpPr>
            <a:grpSpLocks/>
          </p:cNvGrpSpPr>
          <p:nvPr/>
        </p:nvGrpSpPr>
        <p:grpSpPr bwMode="auto">
          <a:xfrm flipH="1">
            <a:off x="5480050" y="2441575"/>
            <a:ext cx="1358900" cy="1282700"/>
            <a:chOff x="1008" y="2720"/>
            <a:chExt cx="856" cy="808"/>
          </a:xfrm>
        </p:grpSpPr>
        <p:sp>
          <p:nvSpPr>
            <p:cNvPr id="5135" name="Rectangle 27"/>
            <p:cNvSpPr>
              <a:spLocks noChangeArrowheads="1"/>
            </p:cNvSpPr>
            <p:nvPr/>
          </p:nvSpPr>
          <p:spPr bwMode="auto">
            <a:xfrm>
              <a:off x="1032" y="3304"/>
              <a:ext cx="488" cy="160"/>
            </a:xfrm>
            <a:prstGeom prst="rect">
              <a:avLst/>
            </a:prstGeom>
            <a:solidFill>
              <a:srgbClr val="FFFF99"/>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136" name="Freeform 2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37" name="Freeform 2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38" name="Freeform 3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39" name="Freeform 3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FF99"/>
            </a:solidFill>
            <a:ln w="38100">
              <a:solidFill>
                <a:schemeClr val="tx1"/>
              </a:solidFill>
              <a:round/>
              <a:headEnd/>
              <a:tailEnd/>
            </a:ln>
          </p:spPr>
          <p:txBody>
            <a:bodyPr wrap="none" anchor="ctr"/>
            <a:lstStyle/>
            <a:p>
              <a:endParaRPr lang="en-US" dirty="0">
                <a:latin typeface="Arial" pitchFamily="34" charset="0"/>
              </a:endParaRPr>
            </a:p>
          </p:txBody>
        </p:sp>
        <p:sp>
          <p:nvSpPr>
            <p:cNvPr id="5140" name="Freeform 3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FF99"/>
            </a:solidFill>
            <a:ln w="38100">
              <a:solidFill>
                <a:schemeClr val="tx1"/>
              </a:solidFill>
              <a:round/>
              <a:headEnd/>
              <a:tailEnd/>
            </a:ln>
          </p:spPr>
          <p:txBody>
            <a:bodyPr wrap="none" anchor="ctr"/>
            <a:lstStyle/>
            <a:p>
              <a:endParaRPr lang="en-US" dirty="0">
                <a:latin typeface="Arial" pitchFamily="34" charset="0"/>
              </a:endParaRPr>
            </a:p>
          </p:txBody>
        </p:sp>
        <p:sp>
          <p:nvSpPr>
            <p:cNvPr id="5141" name="Freeform 3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42" name="Freeform 3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43" name="Freeform 3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5130" name="AutoShape 36"/>
          <p:cNvSpPr>
            <a:spLocks noChangeArrowheads="1"/>
          </p:cNvSpPr>
          <p:nvPr/>
        </p:nvSpPr>
        <p:spPr bwMode="auto">
          <a:xfrm>
            <a:off x="1182688" y="4298950"/>
            <a:ext cx="6626225" cy="641350"/>
          </a:xfrm>
          <a:prstGeom prst="leftRightArrow">
            <a:avLst>
              <a:gd name="adj1" fmla="val 40102"/>
              <a:gd name="adj2" fmla="val 81458"/>
            </a:avLst>
          </a:prstGeom>
          <a:solidFill>
            <a:schemeClr val="hlink"/>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5131" name="Rectangle 37"/>
          <p:cNvSpPr>
            <a:spLocks noChangeArrowheads="1"/>
          </p:cNvSpPr>
          <p:nvPr/>
        </p:nvSpPr>
        <p:spPr bwMode="auto">
          <a:xfrm>
            <a:off x="1747838" y="5262563"/>
            <a:ext cx="5567362" cy="881062"/>
          </a:xfrm>
          <a:prstGeom prst="rect">
            <a:avLst/>
          </a:prstGeom>
          <a:solidFill>
            <a:schemeClr val="hlink"/>
          </a:solidFill>
          <a:ln w="38100">
            <a:solidFill>
              <a:schemeClr val="tx1"/>
            </a:solidFill>
            <a:miter lim="800000"/>
            <a:headEnd/>
            <a:tailEnd/>
          </a:ln>
        </p:spPr>
        <p:txBody>
          <a:bodyPr wrap="none" anchor="ctr"/>
          <a:lstStyle/>
          <a:p>
            <a:pPr algn="ctr"/>
            <a:r>
              <a:rPr lang="en-US" b="0" dirty="0">
                <a:solidFill>
                  <a:schemeClr val="tx2"/>
                </a:solidFill>
                <a:latin typeface="Arial" pitchFamily="34" charset="0"/>
              </a:rPr>
              <a:t>memory</a:t>
            </a:r>
          </a:p>
        </p:txBody>
      </p:sp>
      <p:sp>
        <p:nvSpPr>
          <p:cNvPr id="5132" name="AutoShape 38"/>
          <p:cNvSpPr>
            <a:spLocks noChangeArrowheads="1"/>
          </p:cNvSpPr>
          <p:nvPr/>
        </p:nvSpPr>
        <p:spPr bwMode="auto">
          <a:xfrm>
            <a:off x="4025900" y="4829175"/>
            <a:ext cx="819150" cy="352425"/>
          </a:xfrm>
          <a:prstGeom prst="upDownArrow">
            <a:avLst>
              <a:gd name="adj1" fmla="val 50000"/>
              <a:gd name="adj2" fmla="val 33782"/>
            </a:avLst>
          </a:prstGeom>
          <a:solidFill>
            <a:schemeClr val="hlink"/>
          </a:solidFill>
          <a:ln w="38100">
            <a:solidFill>
              <a:schemeClr val="tx1"/>
            </a:solidFill>
            <a:miter lim="800000"/>
            <a:headEnd/>
            <a:tailEnd/>
          </a:ln>
        </p:spPr>
        <p:txBody>
          <a:bodyPr wrap="none" anchor="ctr"/>
          <a:lstStyle/>
          <a:p>
            <a:endParaRPr lang="en-US" dirty="0">
              <a:latin typeface="Arial" pitchFamily="34" charset="0"/>
            </a:endParaRPr>
          </a:p>
        </p:txBody>
      </p:sp>
      <p:sp>
        <p:nvSpPr>
          <p:cNvPr id="5133" name="Rectangle 39"/>
          <p:cNvSpPr>
            <a:spLocks noChangeArrowheads="1"/>
          </p:cNvSpPr>
          <p:nvPr/>
        </p:nvSpPr>
        <p:spPr bwMode="auto">
          <a:xfrm>
            <a:off x="5665788" y="3887788"/>
            <a:ext cx="1203325" cy="385762"/>
          </a:xfrm>
          <a:prstGeom prst="rect">
            <a:avLst/>
          </a:prstGeom>
          <a:solidFill>
            <a:srgbClr val="FFFF99"/>
          </a:solidFill>
          <a:ln w="38100">
            <a:solidFill>
              <a:schemeClr val="tx1"/>
            </a:solidFill>
            <a:miter lim="800000"/>
            <a:headEnd/>
            <a:tailEnd/>
          </a:ln>
        </p:spPr>
        <p:txBody>
          <a:bodyPr wrap="none" anchor="ctr"/>
          <a:lstStyle/>
          <a:p>
            <a:pPr algn="ctr"/>
            <a:r>
              <a:rPr lang="en-US" sz="2400" b="0" dirty="0">
                <a:solidFill>
                  <a:schemeClr val="tx1"/>
                </a:solidFill>
                <a:latin typeface="Arial" pitchFamily="34" charset="0"/>
              </a:rPr>
              <a:t>cache</a:t>
            </a:r>
          </a:p>
        </p:txBody>
      </p:sp>
      <p:sp>
        <p:nvSpPr>
          <p:cNvPr id="5134" name="Rectangle 40"/>
          <p:cNvSpPr>
            <a:spLocks noChangeArrowheads="1"/>
          </p:cNvSpPr>
          <p:nvPr/>
        </p:nvSpPr>
        <p:spPr bwMode="auto">
          <a:xfrm>
            <a:off x="3792538" y="3887788"/>
            <a:ext cx="1203325" cy="385762"/>
          </a:xfrm>
          <a:prstGeom prst="rect">
            <a:avLst/>
          </a:prstGeom>
          <a:solidFill>
            <a:schemeClr val="accent1"/>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p:cNvSpPr>
            <a:spLocks noGrp="1"/>
          </p:cNvSpPr>
          <p:nvPr>
            <p:ph type="ftr" sz="quarter" idx="10"/>
          </p:nvPr>
        </p:nvSpPr>
        <p:spPr>
          <a:noFill/>
        </p:spPr>
        <p:txBody>
          <a:bodyPr/>
          <a:lstStyle/>
          <a:p>
            <a:r>
              <a:rPr lang="en-US"/>
              <a:t>Art of Multiprocessor Programming</a:t>
            </a:r>
          </a:p>
        </p:txBody>
      </p:sp>
      <p:sp>
        <p:nvSpPr>
          <p:cNvPr id="6147" name="Slide Number Placeholder 4"/>
          <p:cNvSpPr>
            <a:spLocks noGrp="1"/>
          </p:cNvSpPr>
          <p:nvPr>
            <p:ph type="sldNum" sz="quarter" idx="11"/>
          </p:nvPr>
        </p:nvSpPr>
        <p:spPr>
          <a:noFill/>
        </p:spPr>
        <p:txBody>
          <a:bodyPr/>
          <a:lstStyle/>
          <a:p>
            <a:fld id="{18174EDC-C0B8-41EE-9170-A674724D8338}" type="slidenum">
              <a:rPr lang="ar-SA" smtClean="0"/>
              <a:pPr/>
              <a:t>5</a:t>
            </a:fld>
            <a:endParaRPr lang="en-US"/>
          </a:p>
        </p:txBody>
      </p:sp>
      <p:sp>
        <p:nvSpPr>
          <p:cNvPr id="6148" name="Rectangle 2"/>
          <p:cNvSpPr>
            <a:spLocks noGrp="1" noChangeArrowheads="1"/>
          </p:cNvSpPr>
          <p:nvPr>
            <p:ph type="title"/>
          </p:nvPr>
        </p:nvSpPr>
        <p:spPr/>
        <p:txBody>
          <a:bodyPr/>
          <a:lstStyle/>
          <a:p>
            <a:r>
              <a:rPr lang="en-US"/>
              <a:t>Old School</a:t>
            </a:r>
          </a:p>
        </p:txBody>
      </p:sp>
      <p:sp>
        <p:nvSpPr>
          <p:cNvPr id="6149" name="Rectangle 3"/>
          <p:cNvSpPr>
            <a:spLocks noGrp="1" noChangeArrowheads="1"/>
          </p:cNvSpPr>
          <p:nvPr>
            <p:ph type="body" idx="1"/>
          </p:nvPr>
        </p:nvSpPr>
        <p:spPr>
          <a:xfrm>
            <a:off x="685800" y="1981200"/>
            <a:ext cx="7772400" cy="2878138"/>
          </a:xfrm>
        </p:spPr>
        <p:txBody>
          <a:bodyPr/>
          <a:lstStyle/>
          <a:p>
            <a:r>
              <a:rPr lang="en-US"/>
              <a:t>Processors on different chips</a:t>
            </a:r>
          </a:p>
          <a:p>
            <a:r>
              <a:rPr lang="en-US"/>
              <a:t>Processors share off chip memory resources</a:t>
            </a:r>
          </a:p>
          <a:p>
            <a:r>
              <a:rPr lang="en-US"/>
              <a:t>Communication between processors typically slow</a:t>
            </a:r>
          </a:p>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p:cNvSpPr>
            <a:spLocks noGrp="1"/>
          </p:cNvSpPr>
          <p:nvPr>
            <p:ph type="ftr" sz="quarter" idx="10"/>
          </p:nvPr>
        </p:nvSpPr>
        <p:spPr>
          <a:noFill/>
        </p:spPr>
        <p:txBody>
          <a:bodyPr/>
          <a:lstStyle/>
          <a:p>
            <a:r>
              <a:rPr lang="en-US"/>
              <a:t>Art of Multiprocessor Programming</a:t>
            </a:r>
          </a:p>
        </p:txBody>
      </p:sp>
      <p:sp>
        <p:nvSpPr>
          <p:cNvPr id="7171" name="Slide Number Placeholder 4"/>
          <p:cNvSpPr>
            <a:spLocks noGrp="1"/>
          </p:cNvSpPr>
          <p:nvPr>
            <p:ph type="sldNum" sz="quarter" idx="11"/>
          </p:nvPr>
        </p:nvSpPr>
        <p:spPr>
          <a:noFill/>
        </p:spPr>
        <p:txBody>
          <a:bodyPr/>
          <a:lstStyle/>
          <a:p>
            <a:fld id="{C33D157A-8D3C-4093-B37D-3D56FCCEE3B0}" type="slidenum">
              <a:rPr lang="ar-SA" smtClean="0"/>
              <a:pPr/>
              <a:t>6</a:t>
            </a:fld>
            <a:endParaRPr lang="en-US"/>
          </a:p>
        </p:txBody>
      </p:sp>
      <p:sp>
        <p:nvSpPr>
          <p:cNvPr id="7172" name="Rectangle 52"/>
          <p:cNvSpPr>
            <a:spLocks noGrp="1" noChangeArrowheads="1"/>
          </p:cNvSpPr>
          <p:nvPr>
            <p:ph type="title"/>
          </p:nvPr>
        </p:nvSpPr>
        <p:spPr>
          <a:xfrm>
            <a:off x="685800" y="309563"/>
            <a:ext cx="7772400" cy="1143000"/>
          </a:xfrm>
        </p:spPr>
        <p:txBody>
          <a:bodyPr/>
          <a:lstStyle/>
          <a:p>
            <a:r>
              <a:rPr lang="en-US"/>
              <a:t>Multicore Architecture</a:t>
            </a:r>
          </a:p>
        </p:txBody>
      </p:sp>
      <p:grpSp>
        <p:nvGrpSpPr>
          <p:cNvPr id="7173" name="Group 137"/>
          <p:cNvGrpSpPr>
            <a:grpSpLocks/>
          </p:cNvGrpSpPr>
          <p:nvPr/>
        </p:nvGrpSpPr>
        <p:grpSpPr bwMode="auto">
          <a:xfrm>
            <a:off x="1541463" y="1677988"/>
            <a:ext cx="6324600" cy="4284662"/>
            <a:chOff x="864296" y="1691014"/>
            <a:chExt cx="7302674" cy="4496844"/>
          </a:xfrm>
        </p:grpSpPr>
        <p:sp>
          <p:nvSpPr>
            <p:cNvPr id="137" name="Rectangle 136"/>
            <p:cNvSpPr/>
            <p:nvPr/>
          </p:nvSpPr>
          <p:spPr bwMode="auto">
            <a:xfrm>
              <a:off x="864296" y="1691014"/>
              <a:ext cx="7302674" cy="4496844"/>
            </a:xfrm>
            <a:prstGeom prst="rect">
              <a:avLst/>
            </a:prstGeom>
            <a:solidFill>
              <a:schemeClr val="bg1">
                <a:lumMod val="95000"/>
              </a:schemeClr>
            </a:solidFill>
            <a:ln w="9525" cap="flat" cmpd="sng" algn="ctr">
              <a:solidFill>
                <a:schemeClr val="tx1"/>
              </a:solidFill>
              <a:prstDash val="solid"/>
              <a:round/>
              <a:headEnd type="none" w="med" len="med"/>
              <a:tailEnd type="triangle" w="med" len="med"/>
            </a:ln>
            <a:effectLst/>
          </p:spPr>
          <p:txBody>
            <a:bodyPr wrap="none" anchor="ctr"/>
            <a:lstStyle/>
            <a:p>
              <a:pPr>
                <a:defRPr/>
              </a:pPr>
              <a:endParaRPr lang="en-US" dirty="0">
                <a:latin typeface="Arial" pitchFamily="34" charset="0"/>
              </a:endParaRPr>
            </a:p>
          </p:txBody>
        </p:sp>
        <p:grpSp>
          <p:nvGrpSpPr>
            <p:cNvPr id="7175" name="Group 135"/>
            <p:cNvGrpSpPr>
              <a:grpSpLocks/>
            </p:cNvGrpSpPr>
            <p:nvPr/>
          </p:nvGrpSpPr>
          <p:grpSpPr bwMode="auto">
            <a:xfrm>
              <a:off x="1176338" y="1952604"/>
              <a:ext cx="6632575" cy="4078287"/>
              <a:chOff x="1176338" y="2065338"/>
              <a:chExt cx="6632575" cy="4078287"/>
            </a:xfrm>
          </p:grpSpPr>
          <p:sp>
            <p:nvSpPr>
              <p:cNvPr id="7176" name="Freeform 2"/>
              <p:cNvSpPr>
                <a:spLocks/>
              </p:cNvSpPr>
              <p:nvPr/>
            </p:nvSpPr>
            <p:spPr bwMode="auto">
              <a:xfrm>
                <a:off x="3578225" y="2065338"/>
                <a:ext cx="1562100" cy="1733550"/>
              </a:xfrm>
              <a:custGeom>
                <a:avLst/>
                <a:gdLst>
                  <a:gd name="T0" fmla="*/ 2147483647 w 984"/>
                  <a:gd name="T1" fmla="*/ 0 h 1092"/>
                  <a:gd name="T2" fmla="*/ 2147483647 w 984"/>
                  <a:gd name="T3" fmla="*/ 2147483647 h 1092"/>
                  <a:gd name="T4" fmla="*/ 2147483647 w 984"/>
                  <a:gd name="T5" fmla="*/ 2147483647 h 1092"/>
                  <a:gd name="T6" fmla="*/ 0 w 984"/>
                  <a:gd name="T7" fmla="*/ 2147483647 h 1092"/>
                  <a:gd name="T8" fmla="*/ 2147483647 w 984"/>
                  <a:gd name="T9" fmla="*/ 0 h 1092"/>
                  <a:gd name="T10" fmla="*/ 0 60000 65536"/>
                  <a:gd name="T11" fmla="*/ 0 60000 65536"/>
                  <a:gd name="T12" fmla="*/ 0 60000 65536"/>
                  <a:gd name="T13" fmla="*/ 0 60000 65536"/>
                  <a:gd name="T14" fmla="*/ 0 60000 65536"/>
                  <a:gd name="T15" fmla="*/ 0 w 984"/>
                  <a:gd name="T16" fmla="*/ 0 h 1092"/>
                  <a:gd name="T17" fmla="*/ 984 w 984"/>
                  <a:gd name="T18" fmla="*/ 1092 h 1092"/>
                </a:gdLst>
                <a:ahLst/>
                <a:cxnLst>
                  <a:cxn ang="T10">
                    <a:pos x="T0" y="T1"/>
                  </a:cxn>
                  <a:cxn ang="T11">
                    <a:pos x="T2" y="T3"/>
                  </a:cxn>
                  <a:cxn ang="T12">
                    <a:pos x="T4" y="T5"/>
                  </a:cxn>
                  <a:cxn ang="T13">
                    <a:pos x="T6" y="T7"/>
                  </a:cxn>
                  <a:cxn ang="T14">
                    <a:pos x="T8" y="T9"/>
                  </a:cxn>
                </a:cxnLst>
                <a:rect l="T15" t="T16" r="T17" b="T18"/>
                <a:pathLst>
                  <a:path w="984" h="1092">
                    <a:moveTo>
                      <a:pt x="129" y="0"/>
                    </a:moveTo>
                    <a:lnTo>
                      <a:pt x="745" y="10"/>
                    </a:lnTo>
                    <a:lnTo>
                      <a:pt x="984" y="1092"/>
                    </a:lnTo>
                    <a:lnTo>
                      <a:pt x="0" y="1053"/>
                    </a:lnTo>
                    <a:lnTo>
                      <a:pt x="129"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7177" name="Freeform 3"/>
              <p:cNvSpPr>
                <a:spLocks/>
              </p:cNvSpPr>
              <p:nvPr/>
            </p:nvSpPr>
            <p:spPr bwMode="auto">
              <a:xfrm>
                <a:off x="1544638" y="2074863"/>
                <a:ext cx="2049462" cy="1708150"/>
              </a:xfrm>
              <a:custGeom>
                <a:avLst/>
                <a:gdLst>
                  <a:gd name="T0" fmla="*/ 0 w 1291"/>
                  <a:gd name="T1" fmla="*/ 2147483647 h 1076"/>
                  <a:gd name="T2" fmla="*/ 2147483647 w 1291"/>
                  <a:gd name="T3" fmla="*/ 2147483647 h 1076"/>
                  <a:gd name="T4" fmla="*/ 2147483647 w 1291"/>
                  <a:gd name="T5" fmla="*/ 0 h 1076"/>
                  <a:gd name="T6" fmla="*/ 2147483647 w 1291"/>
                  <a:gd name="T7" fmla="*/ 0 h 1076"/>
                  <a:gd name="T8" fmla="*/ 0 w 1291"/>
                  <a:gd name="T9" fmla="*/ 2147483647 h 1076"/>
                  <a:gd name="T10" fmla="*/ 0 60000 65536"/>
                  <a:gd name="T11" fmla="*/ 0 60000 65536"/>
                  <a:gd name="T12" fmla="*/ 0 60000 65536"/>
                  <a:gd name="T13" fmla="*/ 0 60000 65536"/>
                  <a:gd name="T14" fmla="*/ 0 60000 65536"/>
                  <a:gd name="T15" fmla="*/ 0 w 1291"/>
                  <a:gd name="T16" fmla="*/ 0 h 1076"/>
                  <a:gd name="T17" fmla="*/ 1291 w 1291"/>
                  <a:gd name="T18" fmla="*/ 1076 h 1076"/>
                </a:gdLst>
                <a:ahLst/>
                <a:cxnLst>
                  <a:cxn ang="T10">
                    <a:pos x="T0" y="T1"/>
                  </a:cxn>
                  <a:cxn ang="T11">
                    <a:pos x="T2" y="T3"/>
                  </a:cxn>
                  <a:cxn ang="T12">
                    <a:pos x="T4" y="T5"/>
                  </a:cxn>
                  <a:cxn ang="T13">
                    <a:pos x="T6" y="T7"/>
                  </a:cxn>
                  <a:cxn ang="T14">
                    <a:pos x="T8" y="T9"/>
                  </a:cxn>
                </a:cxnLst>
                <a:rect l="T15" t="T16" r="T17" b="T18"/>
                <a:pathLst>
                  <a:path w="1291" h="1076">
                    <a:moveTo>
                      <a:pt x="0" y="1067"/>
                    </a:moveTo>
                    <a:lnTo>
                      <a:pt x="1003" y="1076"/>
                    </a:lnTo>
                    <a:lnTo>
                      <a:pt x="1291" y="0"/>
                    </a:lnTo>
                    <a:lnTo>
                      <a:pt x="437" y="0"/>
                    </a:lnTo>
                    <a:lnTo>
                      <a:pt x="0" y="1067"/>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7178" name="Rectangle 4"/>
              <p:cNvSpPr>
                <a:spLocks noChangeArrowheads="1"/>
              </p:cNvSpPr>
              <p:nvPr/>
            </p:nvSpPr>
            <p:spPr bwMode="auto">
              <a:xfrm>
                <a:off x="1755775" y="3889375"/>
                <a:ext cx="1203325" cy="385763"/>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7179" name="AutoShape 5"/>
              <p:cNvSpPr>
                <a:spLocks noChangeArrowheads="1"/>
              </p:cNvSpPr>
              <p:nvPr/>
            </p:nvSpPr>
            <p:spPr bwMode="auto">
              <a:xfrm>
                <a:off x="1176338" y="4308475"/>
                <a:ext cx="6626225" cy="641350"/>
              </a:xfrm>
              <a:prstGeom prst="leftRightArrow">
                <a:avLst>
                  <a:gd name="adj1" fmla="val 40102"/>
                  <a:gd name="adj2" fmla="val 81458"/>
                </a:avLst>
              </a:prstGeom>
              <a:solidFill>
                <a:schemeClr val="folHlink"/>
              </a:solidFill>
              <a:ln w="38100">
                <a:solidFill>
                  <a:schemeClr val="tx1"/>
                </a:solidFill>
                <a:miter lim="800000"/>
                <a:headEnd/>
                <a:tailEnd/>
              </a:ln>
            </p:spPr>
            <p:txBody>
              <a:bodyPr wrap="none" anchor="ctr"/>
              <a:lstStyle/>
              <a:p>
                <a:pPr algn="r"/>
                <a:r>
                  <a:rPr lang="en-US" sz="2000" b="0" dirty="0">
                    <a:solidFill>
                      <a:schemeClr val="tx2"/>
                    </a:solidFill>
                    <a:latin typeface="Arial" pitchFamily="34" charset="0"/>
                  </a:rPr>
                  <a:t>Bus</a:t>
                </a:r>
              </a:p>
            </p:txBody>
          </p:sp>
          <p:grpSp>
            <p:nvGrpSpPr>
              <p:cNvPr id="7180" name="Group 6"/>
              <p:cNvGrpSpPr>
                <a:grpSpLocks/>
              </p:cNvGrpSpPr>
              <p:nvPr/>
            </p:nvGrpSpPr>
            <p:grpSpPr bwMode="auto">
              <a:xfrm>
                <a:off x="2000250" y="2217738"/>
                <a:ext cx="706438" cy="666750"/>
                <a:chOff x="1008" y="2720"/>
                <a:chExt cx="856" cy="808"/>
              </a:xfrm>
            </p:grpSpPr>
            <p:sp>
              <p:nvSpPr>
                <p:cNvPr id="7298" name="Rectangle 7"/>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7299" name="Freeform 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300" name="Freeform 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301" name="Freeform 1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302" name="Freeform 1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7303" name="Freeform 1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7304" name="Freeform 1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305" name="Freeform 1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306" name="Freeform 1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7181" name="AutoShape 16"/>
              <p:cNvSpPr>
                <a:spLocks noChangeArrowheads="1"/>
              </p:cNvSpPr>
              <p:nvPr/>
            </p:nvSpPr>
            <p:spPr bwMode="auto">
              <a:xfrm>
                <a:off x="1182688" y="4298950"/>
                <a:ext cx="6626225" cy="641350"/>
              </a:xfrm>
              <a:prstGeom prst="leftRightArrow">
                <a:avLst>
                  <a:gd name="adj1" fmla="val 40102"/>
                  <a:gd name="adj2" fmla="val 81458"/>
                </a:avLst>
              </a:prstGeom>
              <a:solidFill>
                <a:schemeClr val="hlink"/>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7182" name="Rectangle 17"/>
              <p:cNvSpPr>
                <a:spLocks noChangeArrowheads="1"/>
              </p:cNvSpPr>
              <p:nvPr/>
            </p:nvSpPr>
            <p:spPr bwMode="auto">
              <a:xfrm>
                <a:off x="1747838" y="5262563"/>
                <a:ext cx="5567362" cy="881062"/>
              </a:xfrm>
              <a:prstGeom prst="rect">
                <a:avLst/>
              </a:prstGeom>
              <a:solidFill>
                <a:schemeClr val="hlink"/>
              </a:solidFill>
              <a:ln w="38100">
                <a:solidFill>
                  <a:schemeClr val="tx1"/>
                </a:solidFill>
                <a:miter lim="800000"/>
                <a:headEnd/>
                <a:tailEnd/>
              </a:ln>
            </p:spPr>
            <p:txBody>
              <a:bodyPr wrap="none" anchor="ctr"/>
              <a:lstStyle/>
              <a:p>
                <a:pPr algn="ctr"/>
                <a:r>
                  <a:rPr lang="en-US" b="0" dirty="0">
                    <a:solidFill>
                      <a:schemeClr val="tx2"/>
                    </a:solidFill>
                    <a:latin typeface="Arial" pitchFamily="34" charset="0"/>
                  </a:rPr>
                  <a:t>memory</a:t>
                </a:r>
              </a:p>
            </p:txBody>
          </p:sp>
          <p:sp>
            <p:nvSpPr>
              <p:cNvPr id="7183" name="AutoShape 18"/>
              <p:cNvSpPr>
                <a:spLocks noChangeArrowheads="1"/>
              </p:cNvSpPr>
              <p:nvPr/>
            </p:nvSpPr>
            <p:spPr bwMode="auto">
              <a:xfrm>
                <a:off x="4025900" y="4829175"/>
                <a:ext cx="819150" cy="352425"/>
              </a:xfrm>
              <a:prstGeom prst="upDownArrow">
                <a:avLst>
                  <a:gd name="adj1" fmla="val 50000"/>
                  <a:gd name="adj2" fmla="val 33782"/>
                </a:avLst>
              </a:prstGeom>
              <a:solidFill>
                <a:schemeClr val="hlink"/>
              </a:solidFill>
              <a:ln w="38100">
                <a:solidFill>
                  <a:schemeClr val="tx1"/>
                </a:solidFill>
                <a:miter lim="800000"/>
                <a:headEnd/>
                <a:tailEnd/>
              </a:ln>
            </p:spPr>
            <p:txBody>
              <a:bodyPr wrap="none" anchor="ctr"/>
              <a:lstStyle/>
              <a:p>
                <a:endParaRPr lang="en-US" dirty="0">
                  <a:latin typeface="Arial" pitchFamily="34" charset="0"/>
                </a:endParaRPr>
              </a:p>
            </p:txBody>
          </p:sp>
          <p:sp>
            <p:nvSpPr>
              <p:cNvPr id="7184" name="Rectangle 19"/>
              <p:cNvSpPr>
                <a:spLocks noChangeArrowheads="1"/>
              </p:cNvSpPr>
              <p:nvPr/>
            </p:nvSpPr>
            <p:spPr bwMode="auto">
              <a:xfrm>
                <a:off x="5665788" y="3887788"/>
                <a:ext cx="1203325" cy="385762"/>
              </a:xfrm>
              <a:prstGeom prst="rect">
                <a:avLst/>
              </a:prstGeom>
              <a:solidFill>
                <a:srgbClr val="FFFF99"/>
              </a:solidFill>
              <a:ln w="38100">
                <a:solidFill>
                  <a:schemeClr val="tx1"/>
                </a:solidFill>
                <a:miter lim="800000"/>
                <a:headEnd/>
                <a:tailEnd/>
              </a:ln>
            </p:spPr>
            <p:txBody>
              <a:bodyPr wrap="none" anchor="ctr"/>
              <a:lstStyle/>
              <a:p>
                <a:pPr algn="ctr"/>
                <a:r>
                  <a:rPr lang="en-US" sz="2400" b="0" dirty="0">
                    <a:solidFill>
                      <a:schemeClr val="tx1"/>
                    </a:solidFill>
                    <a:latin typeface="Arial" pitchFamily="34" charset="0"/>
                  </a:rPr>
                  <a:t>cache</a:t>
                </a:r>
              </a:p>
            </p:txBody>
          </p:sp>
          <p:sp>
            <p:nvSpPr>
              <p:cNvPr id="7185" name="Rectangle 20"/>
              <p:cNvSpPr>
                <a:spLocks noChangeArrowheads="1"/>
              </p:cNvSpPr>
              <p:nvPr/>
            </p:nvSpPr>
            <p:spPr bwMode="auto">
              <a:xfrm>
                <a:off x="3792538" y="3887788"/>
                <a:ext cx="1203325" cy="385762"/>
              </a:xfrm>
              <a:prstGeom prst="rect">
                <a:avLst/>
              </a:prstGeom>
              <a:solidFill>
                <a:schemeClr val="accent1"/>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7186" name="Rectangle 21"/>
              <p:cNvSpPr>
                <a:spLocks noChangeArrowheads="1"/>
              </p:cNvSpPr>
              <p:nvPr/>
            </p:nvSpPr>
            <p:spPr bwMode="auto">
              <a:xfrm>
                <a:off x="1735138" y="3895725"/>
                <a:ext cx="1203325" cy="385763"/>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grpSp>
            <p:nvGrpSpPr>
              <p:cNvPr id="7187" name="Group 22"/>
              <p:cNvGrpSpPr>
                <a:grpSpLocks/>
              </p:cNvGrpSpPr>
              <p:nvPr/>
            </p:nvGrpSpPr>
            <p:grpSpPr bwMode="auto">
              <a:xfrm>
                <a:off x="2689225" y="2217738"/>
                <a:ext cx="706438" cy="666750"/>
                <a:chOff x="1008" y="2720"/>
                <a:chExt cx="856" cy="808"/>
              </a:xfrm>
            </p:grpSpPr>
            <p:sp>
              <p:nvSpPr>
                <p:cNvPr id="7289" name="Rectangle 23"/>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7290" name="Freeform 24"/>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91" name="Freeform 25"/>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92" name="Freeform 26"/>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93" name="Freeform 27"/>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7294" name="Freeform 28"/>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7295" name="Freeform 29"/>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96" name="Freeform 30"/>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97" name="Freeform 31"/>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7188" name="Group 32"/>
              <p:cNvGrpSpPr>
                <a:grpSpLocks/>
              </p:cNvGrpSpPr>
              <p:nvPr/>
            </p:nvGrpSpPr>
            <p:grpSpPr bwMode="auto">
              <a:xfrm>
                <a:off x="1789113" y="3022600"/>
                <a:ext cx="706437" cy="666750"/>
                <a:chOff x="1008" y="2720"/>
                <a:chExt cx="856" cy="808"/>
              </a:xfrm>
            </p:grpSpPr>
            <p:sp>
              <p:nvSpPr>
                <p:cNvPr id="7280" name="Rectangle 33"/>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7281" name="Freeform 34"/>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82" name="Freeform 35"/>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83" name="Freeform 36"/>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84" name="Freeform 37"/>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7285" name="Freeform 38"/>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7286" name="Freeform 39"/>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87" name="Freeform 40"/>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88" name="Freeform 41"/>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7189" name="Group 42"/>
              <p:cNvGrpSpPr>
                <a:grpSpLocks/>
              </p:cNvGrpSpPr>
              <p:nvPr/>
            </p:nvGrpSpPr>
            <p:grpSpPr bwMode="auto">
              <a:xfrm>
                <a:off x="2478088" y="3022600"/>
                <a:ext cx="706437" cy="666750"/>
                <a:chOff x="1008" y="2720"/>
                <a:chExt cx="856" cy="808"/>
              </a:xfrm>
            </p:grpSpPr>
            <p:sp>
              <p:nvSpPr>
                <p:cNvPr id="7271" name="Rectangle 43"/>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7272" name="Freeform 44"/>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73" name="Freeform 45"/>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74" name="Freeform 46"/>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75" name="Freeform 47"/>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7276" name="Freeform 48"/>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7277" name="Freeform 49"/>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78" name="Freeform 50"/>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79" name="Freeform 51"/>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7190" name="Freeform 53"/>
              <p:cNvSpPr>
                <a:spLocks/>
              </p:cNvSpPr>
              <p:nvPr/>
            </p:nvSpPr>
            <p:spPr bwMode="auto">
              <a:xfrm flipH="1">
                <a:off x="4967288" y="2084388"/>
                <a:ext cx="2049462" cy="1708150"/>
              </a:xfrm>
              <a:custGeom>
                <a:avLst/>
                <a:gdLst>
                  <a:gd name="T0" fmla="*/ 0 w 1291"/>
                  <a:gd name="T1" fmla="*/ 2147483647 h 1076"/>
                  <a:gd name="T2" fmla="*/ 2147483647 w 1291"/>
                  <a:gd name="T3" fmla="*/ 2147483647 h 1076"/>
                  <a:gd name="T4" fmla="*/ 2147483647 w 1291"/>
                  <a:gd name="T5" fmla="*/ 0 h 1076"/>
                  <a:gd name="T6" fmla="*/ 2147483647 w 1291"/>
                  <a:gd name="T7" fmla="*/ 0 h 1076"/>
                  <a:gd name="T8" fmla="*/ 0 w 1291"/>
                  <a:gd name="T9" fmla="*/ 2147483647 h 1076"/>
                  <a:gd name="T10" fmla="*/ 0 60000 65536"/>
                  <a:gd name="T11" fmla="*/ 0 60000 65536"/>
                  <a:gd name="T12" fmla="*/ 0 60000 65536"/>
                  <a:gd name="T13" fmla="*/ 0 60000 65536"/>
                  <a:gd name="T14" fmla="*/ 0 60000 65536"/>
                  <a:gd name="T15" fmla="*/ 0 w 1291"/>
                  <a:gd name="T16" fmla="*/ 0 h 1076"/>
                  <a:gd name="T17" fmla="*/ 1291 w 1291"/>
                  <a:gd name="T18" fmla="*/ 1076 h 1076"/>
                </a:gdLst>
                <a:ahLst/>
                <a:cxnLst>
                  <a:cxn ang="T10">
                    <a:pos x="T0" y="T1"/>
                  </a:cxn>
                  <a:cxn ang="T11">
                    <a:pos x="T2" y="T3"/>
                  </a:cxn>
                  <a:cxn ang="T12">
                    <a:pos x="T4" y="T5"/>
                  </a:cxn>
                  <a:cxn ang="T13">
                    <a:pos x="T6" y="T7"/>
                  </a:cxn>
                  <a:cxn ang="T14">
                    <a:pos x="T8" y="T9"/>
                  </a:cxn>
                </a:cxnLst>
                <a:rect l="T15" t="T16" r="T17" b="T18"/>
                <a:pathLst>
                  <a:path w="1291" h="1076">
                    <a:moveTo>
                      <a:pt x="0" y="1067"/>
                    </a:moveTo>
                    <a:lnTo>
                      <a:pt x="1003" y="1076"/>
                    </a:lnTo>
                    <a:lnTo>
                      <a:pt x="1291" y="0"/>
                    </a:lnTo>
                    <a:lnTo>
                      <a:pt x="437" y="0"/>
                    </a:lnTo>
                    <a:lnTo>
                      <a:pt x="0" y="1067"/>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grpSp>
            <p:nvGrpSpPr>
              <p:cNvPr id="7191" name="Group 54"/>
              <p:cNvGrpSpPr>
                <a:grpSpLocks/>
              </p:cNvGrpSpPr>
              <p:nvPr/>
            </p:nvGrpSpPr>
            <p:grpSpPr bwMode="auto">
              <a:xfrm flipH="1">
                <a:off x="5121275" y="2219325"/>
                <a:ext cx="706438" cy="666750"/>
                <a:chOff x="1008" y="2720"/>
                <a:chExt cx="856" cy="808"/>
              </a:xfrm>
            </p:grpSpPr>
            <p:sp>
              <p:nvSpPr>
                <p:cNvPr id="7262" name="Rectangle 55"/>
                <p:cNvSpPr>
                  <a:spLocks noChangeArrowheads="1"/>
                </p:cNvSpPr>
                <p:nvPr/>
              </p:nvSpPr>
              <p:spPr bwMode="auto">
                <a:xfrm>
                  <a:off x="1032" y="3304"/>
                  <a:ext cx="488" cy="160"/>
                </a:xfrm>
                <a:prstGeom prst="rect">
                  <a:avLst/>
                </a:prstGeom>
                <a:solidFill>
                  <a:srgbClr val="FFFF99"/>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7263" name="Freeform 5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64" name="Freeform 5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65" name="Freeform 5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66" name="Freeform 5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FF99"/>
                </a:solidFill>
                <a:ln w="38100">
                  <a:solidFill>
                    <a:schemeClr val="tx1"/>
                  </a:solidFill>
                  <a:round/>
                  <a:headEnd/>
                  <a:tailEnd/>
                </a:ln>
              </p:spPr>
              <p:txBody>
                <a:bodyPr wrap="none" anchor="ctr"/>
                <a:lstStyle/>
                <a:p>
                  <a:endParaRPr lang="en-US" dirty="0">
                    <a:latin typeface="Arial" pitchFamily="34" charset="0"/>
                  </a:endParaRPr>
                </a:p>
              </p:txBody>
            </p:sp>
            <p:sp>
              <p:nvSpPr>
                <p:cNvPr id="7267" name="Freeform 6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FF99"/>
                </a:solidFill>
                <a:ln w="38100">
                  <a:solidFill>
                    <a:schemeClr val="tx1"/>
                  </a:solidFill>
                  <a:round/>
                  <a:headEnd/>
                  <a:tailEnd/>
                </a:ln>
              </p:spPr>
              <p:txBody>
                <a:bodyPr wrap="none" anchor="ctr"/>
                <a:lstStyle/>
                <a:p>
                  <a:endParaRPr lang="en-US" dirty="0">
                    <a:latin typeface="Arial" pitchFamily="34" charset="0"/>
                  </a:endParaRPr>
                </a:p>
              </p:txBody>
            </p:sp>
            <p:sp>
              <p:nvSpPr>
                <p:cNvPr id="7268" name="Freeform 6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69" name="Freeform 6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70" name="Freeform 6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7192" name="Group 64"/>
              <p:cNvGrpSpPr>
                <a:grpSpLocks/>
              </p:cNvGrpSpPr>
              <p:nvPr/>
            </p:nvGrpSpPr>
            <p:grpSpPr bwMode="auto">
              <a:xfrm flipH="1">
                <a:off x="5810250" y="2219325"/>
                <a:ext cx="706438" cy="666750"/>
                <a:chOff x="1008" y="2720"/>
                <a:chExt cx="856" cy="808"/>
              </a:xfrm>
            </p:grpSpPr>
            <p:sp>
              <p:nvSpPr>
                <p:cNvPr id="7253" name="Rectangle 65"/>
                <p:cNvSpPr>
                  <a:spLocks noChangeArrowheads="1"/>
                </p:cNvSpPr>
                <p:nvPr/>
              </p:nvSpPr>
              <p:spPr bwMode="auto">
                <a:xfrm>
                  <a:off x="1032" y="3304"/>
                  <a:ext cx="488" cy="160"/>
                </a:xfrm>
                <a:prstGeom prst="rect">
                  <a:avLst/>
                </a:prstGeom>
                <a:solidFill>
                  <a:srgbClr val="FFFF99"/>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7254" name="Freeform 6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55" name="Freeform 6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56" name="Freeform 6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57" name="Freeform 6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FF99"/>
                </a:solidFill>
                <a:ln w="38100">
                  <a:solidFill>
                    <a:schemeClr val="tx1"/>
                  </a:solidFill>
                  <a:round/>
                  <a:headEnd/>
                  <a:tailEnd/>
                </a:ln>
              </p:spPr>
              <p:txBody>
                <a:bodyPr wrap="none" anchor="ctr"/>
                <a:lstStyle/>
                <a:p>
                  <a:endParaRPr lang="en-US" dirty="0">
                    <a:latin typeface="Arial" pitchFamily="34" charset="0"/>
                  </a:endParaRPr>
                </a:p>
              </p:txBody>
            </p:sp>
            <p:sp>
              <p:nvSpPr>
                <p:cNvPr id="7258" name="Freeform 7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FF99"/>
                </a:solidFill>
                <a:ln w="38100">
                  <a:solidFill>
                    <a:schemeClr val="tx1"/>
                  </a:solidFill>
                  <a:round/>
                  <a:headEnd/>
                  <a:tailEnd/>
                </a:ln>
              </p:spPr>
              <p:txBody>
                <a:bodyPr wrap="none" anchor="ctr"/>
                <a:lstStyle/>
                <a:p>
                  <a:endParaRPr lang="en-US" dirty="0">
                    <a:latin typeface="Arial" pitchFamily="34" charset="0"/>
                  </a:endParaRPr>
                </a:p>
              </p:txBody>
            </p:sp>
            <p:sp>
              <p:nvSpPr>
                <p:cNvPr id="7259" name="Freeform 7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60" name="Freeform 7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61" name="Freeform 7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7193" name="Group 74"/>
              <p:cNvGrpSpPr>
                <a:grpSpLocks/>
              </p:cNvGrpSpPr>
              <p:nvPr/>
            </p:nvGrpSpPr>
            <p:grpSpPr bwMode="auto">
              <a:xfrm flipH="1">
                <a:off x="5418138" y="3024188"/>
                <a:ext cx="706437" cy="666750"/>
                <a:chOff x="1008" y="2720"/>
                <a:chExt cx="856" cy="808"/>
              </a:xfrm>
            </p:grpSpPr>
            <p:sp>
              <p:nvSpPr>
                <p:cNvPr id="7244" name="Rectangle 75"/>
                <p:cNvSpPr>
                  <a:spLocks noChangeArrowheads="1"/>
                </p:cNvSpPr>
                <p:nvPr/>
              </p:nvSpPr>
              <p:spPr bwMode="auto">
                <a:xfrm>
                  <a:off x="1032" y="3304"/>
                  <a:ext cx="488" cy="160"/>
                </a:xfrm>
                <a:prstGeom prst="rect">
                  <a:avLst/>
                </a:prstGeom>
                <a:solidFill>
                  <a:srgbClr val="FFFF99"/>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7245" name="Freeform 7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46" name="Freeform 7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47" name="Freeform 7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48" name="Freeform 7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FF99"/>
                </a:solidFill>
                <a:ln w="38100">
                  <a:solidFill>
                    <a:schemeClr val="tx1"/>
                  </a:solidFill>
                  <a:round/>
                  <a:headEnd/>
                  <a:tailEnd/>
                </a:ln>
              </p:spPr>
              <p:txBody>
                <a:bodyPr wrap="none" anchor="ctr"/>
                <a:lstStyle/>
                <a:p>
                  <a:endParaRPr lang="en-US" dirty="0">
                    <a:latin typeface="Arial" pitchFamily="34" charset="0"/>
                  </a:endParaRPr>
                </a:p>
              </p:txBody>
            </p:sp>
            <p:sp>
              <p:nvSpPr>
                <p:cNvPr id="7249" name="Freeform 8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FF99"/>
                </a:solidFill>
                <a:ln w="38100">
                  <a:solidFill>
                    <a:schemeClr val="tx1"/>
                  </a:solidFill>
                  <a:round/>
                  <a:headEnd/>
                  <a:tailEnd/>
                </a:ln>
              </p:spPr>
              <p:txBody>
                <a:bodyPr wrap="none" anchor="ctr"/>
                <a:lstStyle/>
                <a:p>
                  <a:endParaRPr lang="en-US" dirty="0">
                    <a:latin typeface="Arial" pitchFamily="34" charset="0"/>
                  </a:endParaRPr>
                </a:p>
              </p:txBody>
            </p:sp>
            <p:sp>
              <p:nvSpPr>
                <p:cNvPr id="7250" name="Freeform 8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51" name="Freeform 8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52" name="Freeform 8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7194" name="Group 84"/>
              <p:cNvGrpSpPr>
                <a:grpSpLocks/>
              </p:cNvGrpSpPr>
              <p:nvPr/>
            </p:nvGrpSpPr>
            <p:grpSpPr bwMode="auto">
              <a:xfrm flipH="1">
                <a:off x="6107113" y="3024188"/>
                <a:ext cx="706437" cy="666750"/>
                <a:chOff x="1008" y="2720"/>
                <a:chExt cx="856" cy="808"/>
              </a:xfrm>
            </p:grpSpPr>
            <p:sp>
              <p:nvSpPr>
                <p:cNvPr id="7235" name="Rectangle 85"/>
                <p:cNvSpPr>
                  <a:spLocks noChangeArrowheads="1"/>
                </p:cNvSpPr>
                <p:nvPr/>
              </p:nvSpPr>
              <p:spPr bwMode="auto">
                <a:xfrm>
                  <a:off x="1032" y="3304"/>
                  <a:ext cx="488" cy="160"/>
                </a:xfrm>
                <a:prstGeom prst="rect">
                  <a:avLst/>
                </a:prstGeom>
                <a:solidFill>
                  <a:srgbClr val="FFFF99"/>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7236" name="Freeform 8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37" name="Freeform 8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38" name="Freeform 8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39" name="Freeform 8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FF99"/>
                </a:solidFill>
                <a:ln w="38100">
                  <a:solidFill>
                    <a:schemeClr val="tx1"/>
                  </a:solidFill>
                  <a:round/>
                  <a:headEnd/>
                  <a:tailEnd/>
                </a:ln>
              </p:spPr>
              <p:txBody>
                <a:bodyPr wrap="none" anchor="ctr"/>
                <a:lstStyle/>
                <a:p>
                  <a:endParaRPr lang="en-US" dirty="0">
                    <a:latin typeface="Arial" pitchFamily="34" charset="0"/>
                  </a:endParaRPr>
                </a:p>
              </p:txBody>
            </p:sp>
            <p:sp>
              <p:nvSpPr>
                <p:cNvPr id="7240" name="Freeform 9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FF99"/>
                </a:solidFill>
                <a:ln w="38100">
                  <a:solidFill>
                    <a:schemeClr val="tx1"/>
                  </a:solidFill>
                  <a:round/>
                  <a:headEnd/>
                  <a:tailEnd/>
                </a:ln>
              </p:spPr>
              <p:txBody>
                <a:bodyPr wrap="none" anchor="ctr"/>
                <a:lstStyle/>
                <a:p>
                  <a:endParaRPr lang="en-US" dirty="0">
                    <a:latin typeface="Arial" pitchFamily="34" charset="0"/>
                  </a:endParaRPr>
                </a:p>
              </p:txBody>
            </p:sp>
            <p:sp>
              <p:nvSpPr>
                <p:cNvPr id="7241" name="Freeform 9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42" name="Freeform 9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43" name="Freeform 9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7195" name="Group 94"/>
              <p:cNvGrpSpPr>
                <a:grpSpLocks/>
              </p:cNvGrpSpPr>
              <p:nvPr/>
            </p:nvGrpSpPr>
            <p:grpSpPr bwMode="auto">
              <a:xfrm>
                <a:off x="3630613" y="2197100"/>
                <a:ext cx="706437" cy="666750"/>
                <a:chOff x="1008" y="2720"/>
                <a:chExt cx="856" cy="808"/>
              </a:xfrm>
            </p:grpSpPr>
            <p:sp>
              <p:nvSpPr>
                <p:cNvPr id="7226" name="Rectangle 95"/>
                <p:cNvSpPr>
                  <a:spLocks noChangeArrowheads="1"/>
                </p:cNvSpPr>
                <p:nvPr/>
              </p:nvSpPr>
              <p:spPr bwMode="auto">
                <a:xfrm>
                  <a:off x="1032" y="3304"/>
                  <a:ext cx="488" cy="160"/>
                </a:xfrm>
                <a:prstGeom prst="rect">
                  <a:avLst/>
                </a:prstGeom>
                <a:solidFill>
                  <a:schemeClr val="accent1"/>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7227" name="Freeform 9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28" name="Freeform 9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29" name="Freeform 9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30" name="Freeform 9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7231" name="Freeform 10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7232" name="Freeform 10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33" name="Freeform 10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34" name="Freeform 10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7196" name="Group 104"/>
              <p:cNvGrpSpPr>
                <a:grpSpLocks/>
              </p:cNvGrpSpPr>
              <p:nvPr/>
            </p:nvGrpSpPr>
            <p:grpSpPr bwMode="auto">
              <a:xfrm>
                <a:off x="3563938" y="2963863"/>
                <a:ext cx="706437" cy="666750"/>
                <a:chOff x="1008" y="2720"/>
                <a:chExt cx="856" cy="808"/>
              </a:xfrm>
            </p:grpSpPr>
            <p:sp>
              <p:nvSpPr>
                <p:cNvPr id="7217" name="Rectangle 105"/>
                <p:cNvSpPr>
                  <a:spLocks noChangeArrowheads="1"/>
                </p:cNvSpPr>
                <p:nvPr/>
              </p:nvSpPr>
              <p:spPr bwMode="auto">
                <a:xfrm>
                  <a:off x="1032" y="3304"/>
                  <a:ext cx="488" cy="160"/>
                </a:xfrm>
                <a:prstGeom prst="rect">
                  <a:avLst/>
                </a:prstGeom>
                <a:solidFill>
                  <a:schemeClr val="accent1"/>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7218" name="Freeform 10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19" name="Freeform 10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20" name="Freeform 10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21" name="Freeform 10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7222" name="Freeform 11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7223" name="Freeform 11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24" name="Freeform 11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25" name="Freeform 11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7197" name="Group 114"/>
              <p:cNvGrpSpPr>
                <a:grpSpLocks/>
              </p:cNvGrpSpPr>
              <p:nvPr/>
            </p:nvGrpSpPr>
            <p:grpSpPr bwMode="auto">
              <a:xfrm flipH="1">
                <a:off x="4391025" y="2262188"/>
                <a:ext cx="706438" cy="666750"/>
                <a:chOff x="1008" y="2720"/>
                <a:chExt cx="856" cy="808"/>
              </a:xfrm>
            </p:grpSpPr>
            <p:sp>
              <p:nvSpPr>
                <p:cNvPr id="7208" name="Rectangle 115"/>
                <p:cNvSpPr>
                  <a:spLocks noChangeArrowheads="1"/>
                </p:cNvSpPr>
                <p:nvPr/>
              </p:nvSpPr>
              <p:spPr bwMode="auto">
                <a:xfrm>
                  <a:off x="1032" y="3304"/>
                  <a:ext cx="488" cy="160"/>
                </a:xfrm>
                <a:prstGeom prst="rect">
                  <a:avLst/>
                </a:prstGeom>
                <a:solidFill>
                  <a:schemeClr val="accent1"/>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7209" name="Freeform 11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10" name="Freeform 11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11" name="Freeform 11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12" name="Freeform 11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7213" name="Freeform 12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7214" name="Freeform 12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15" name="Freeform 12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16" name="Freeform 12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7198" name="Group 124"/>
              <p:cNvGrpSpPr>
                <a:grpSpLocks/>
              </p:cNvGrpSpPr>
              <p:nvPr/>
            </p:nvGrpSpPr>
            <p:grpSpPr bwMode="auto">
              <a:xfrm flipH="1">
                <a:off x="4418013" y="2997200"/>
                <a:ext cx="706437" cy="666750"/>
                <a:chOff x="1008" y="2720"/>
                <a:chExt cx="856" cy="808"/>
              </a:xfrm>
            </p:grpSpPr>
            <p:sp>
              <p:nvSpPr>
                <p:cNvPr id="7199" name="Rectangle 125"/>
                <p:cNvSpPr>
                  <a:spLocks noChangeArrowheads="1"/>
                </p:cNvSpPr>
                <p:nvPr/>
              </p:nvSpPr>
              <p:spPr bwMode="auto">
                <a:xfrm>
                  <a:off x="1032" y="3304"/>
                  <a:ext cx="488" cy="160"/>
                </a:xfrm>
                <a:prstGeom prst="rect">
                  <a:avLst/>
                </a:prstGeom>
                <a:solidFill>
                  <a:schemeClr val="accent1"/>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7200" name="Freeform 12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01" name="Freeform 12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02" name="Freeform 12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03" name="Freeform 12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7204" name="Freeform 13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7205" name="Freeform 13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06" name="Freeform 13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07" name="Freeform 13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p:spPr>
        <p:txBody>
          <a:bodyPr/>
          <a:lstStyle/>
          <a:p>
            <a:r>
              <a:rPr lang="en-US"/>
              <a:t>Art of Multiprocessor Programming</a:t>
            </a:r>
          </a:p>
        </p:txBody>
      </p:sp>
      <p:sp>
        <p:nvSpPr>
          <p:cNvPr id="8195" name="Slide Number Placeholder 4"/>
          <p:cNvSpPr>
            <a:spLocks noGrp="1"/>
          </p:cNvSpPr>
          <p:nvPr>
            <p:ph type="sldNum" sz="quarter" idx="11"/>
          </p:nvPr>
        </p:nvSpPr>
        <p:spPr>
          <a:noFill/>
        </p:spPr>
        <p:txBody>
          <a:bodyPr/>
          <a:lstStyle/>
          <a:p>
            <a:fld id="{D968EB48-2322-4B69-A50B-5503C815AF8E}" type="slidenum">
              <a:rPr lang="ar-SA" smtClean="0"/>
              <a:pPr/>
              <a:t>7</a:t>
            </a:fld>
            <a:endParaRPr lang="en-US"/>
          </a:p>
        </p:txBody>
      </p:sp>
      <p:sp>
        <p:nvSpPr>
          <p:cNvPr id="8196" name="Rectangle 2"/>
          <p:cNvSpPr>
            <a:spLocks noGrp="1" noChangeArrowheads="1"/>
          </p:cNvSpPr>
          <p:nvPr>
            <p:ph type="title"/>
          </p:nvPr>
        </p:nvSpPr>
        <p:spPr/>
        <p:txBody>
          <a:bodyPr/>
          <a:lstStyle/>
          <a:p>
            <a:r>
              <a:rPr lang="en-US"/>
              <a:t>Multicore</a:t>
            </a:r>
          </a:p>
        </p:txBody>
      </p:sp>
      <p:sp>
        <p:nvSpPr>
          <p:cNvPr id="8197" name="Rectangle 3"/>
          <p:cNvSpPr>
            <a:spLocks noGrp="1" noChangeArrowheads="1"/>
          </p:cNvSpPr>
          <p:nvPr>
            <p:ph type="body" idx="1"/>
          </p:nvPr>
        </p:nvSpPr>
        <p:spPr>
          <a:xfrm>
            <a:off x="685800" y="1981200"/>
            <a:ext cx="7772400" cy="2878138"/>
          </a:xfrm>
        </p:spPr>
        <p:txBody>
          <a:bodyPr/>
          <a:lstStyle/>
          <a:p>
            <a:r>
              <a:rPr lang="en-US"/>
              <a:t>All Processors on same chip</a:t>
            </a:r>
          </a:p>
          <a:p>
            <a:r>
              <a:rPr lang="en-US"/>
              <a:t>Processors share on chip memory resources</a:t>
            </a:r>
          </a:p>
          <a:p>
            <a:r>
              <a:rPr lang="en-US"/>
              <a:t>Communication between processors now very fast</a:t>
            </a:r>
          </a:p>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p:cNvSpPr>
            <a:spLocks noGrp="1"/>
          </p:cNvSpPr>
          <p:nvPr>
            <p:ph type="ftr" sz="quarter" idx="10"/>
          </p:nvPr>
        </p:nvSpPr>
        <p:spPr>
          <a:noFill/>
        </p:spPr>
        <p:txBody>
          <a:bodyPr/>
          <a:lstStyle/>
          <a:p>
            <a:r>
              <a:rPr lang="en-US"/>
              <a:t>Art of Multiprocessor Programming</a:t>
            </a:r>
          </a:p>
        </p:txBody>
      </p:sp>
      <p:sp>
        <p:nvSpPr>
          <p:cNvPr id="9219" name="Slide Number Placeholder 4"/>
          <p:cNvSpPr>
            <a:spLocks noGrp="1"/>
          </p:cNvSpPr>
          <p:nvPr>
            <p:ph type="sldNum" sz="quarter" idx="11"/>
          </p:nvPr>
        </p:nvSpPr>
        <p:spPr>
          <a:noFill/>
        </p:spPr>
        <p:txBody>
          <a:bodyPr/>
          <a:lstStyle/>
          <a:p>
            <a:fld id="{EE9845AD-EFF2-4762-8712-E815887AA3B7}" type="slidenum">
              <a:rPr lang="ar-SA" smtClean="0"/>
              <a:pPr/>
              <a:t>8</a:t>
            </a:fld>
            <a:endParaRPr lang="en-US"/>
          </a:p>
        </p:txBody>
      </p:sp>
      <p:pic>
        <p:nvPicPr>
          <p:cNvPr id="922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9221" name="Rectangle 3"/>
          <p:cNvSpPr>
            <a:spLocks noGrp="1" noChangeArrowheads="1"/>
          </p:cNvSpPr>
          <p:nvPr>
            <p:ph type="title"/>
          </p:nvPr>
        </p:nvSpPr>
        <p:spPr/>
        <p:txBody>
          <a:bodyPr/>
          <a:lstStyle/>
          <a:p>
            <a:r>
              <a:rPr lang="en-US"/>
              <a:t>SMP vs NUMA</a:t>
            </a:r>
          </a:p>
        </p:txBody>
      </p:sp>
      <p:sp>
        <p:nvSpPr>
          <p:cNvPr id="9222" name="Text Box 4"/>
          <p:cNvSpPr txBox="1">
            <a:spLocks noChangeArrowheads="1"/>
          </p:cNvSpPr>
          <p:nvPr/>
        </p:nvSpPr>
        <p:spPr bwMode="auto">
          <a:xfrm>
            <a:off x="2706688" y="3895725"/>
            <a:ext cx="851515" cy="461665"/>
          </a:xfrm>
          <a:prstGeom prst="rect">
            <a:avLst/>
          </a:prstGeom>
          <a:noFill/>
          <a:ln w="9525">
            <a:noFill/>
            <a:miter lim="800000"/>
            <a:headEnd/>
            <a:tailEnd/>
          </a:ln>
        </p:spPr>
        <p:txBody>
          <a:bodyPr wrap="none">
            <a:spAutoFit/>
          </a:bodyPr>
          <a:lstStyle/>
          <a:p>
            <a:pPr eaLnBrk="1" hangingPunct="1"/>
            <a:r>
              <a:rPr lang="en-US" sz="2400" dirty="0">
                <a:solidFill>
                  <a:schemeClr val="tx1"/>
                </a:solidFill>
                <a:latin typeface="Arial" pitchFamily="34" charset="0"/>
              </a:rPr>
              <a:t>SMP</a:t>
            </a:r>
          </a:p>
        </p:txBody>
      </p:sp>
      <p:grpSp>
        <p:nvGrpSpPr>
          <p:cNvPr id="9223" name="Group 5"/>
          <p:cNvGrpSpPr>
            <a:grpSpLocks/>
          </p:cNvGrpSpPr>
          <p:nvPr/>
        </p:nvGrpSpPr>
        <p:grpSpPr bwMode="auto">
          <a:xfrm>
            <a:off x="2128838" y="1928813"/>
            <a:ext cx="1838325" cy="511175"/>
            <a:chOff x="436" y="1017"/>
            <a:chExt cx="2908" cy="808"/>
          </a:xfrm>
        </p:grpSpPr>
        <p:grpSp>
          <p:nvGrpSpPr>
            <p:cNvPr id="9348" name="Group 6"/>
            <p:cNvGrpSpPr>
              <a:grpSpLocks/>
            </p:cNvGrpSpPr>
            <p:nvPr/>
          </p:nvGrpSpPr>
          <p:grpSpPr bwMode="auto">
            <a:xfrm>
              <a:off x="1534" y="1052"/>
              <a:ext cx="712" cy="739"/>
              <a:chOff x="2496" y="2725"/>
              <a:chExt cx="712" cy="739"/>
            </a:xfrm>
          </p:grpSpPr>
          <p:sp>
            <p:nvSpPr>
              <p:cNvPr id="9369" name="Rectangle 7"/>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9370" name="Freeform 8"/>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nvGrpSpPr>
              <p:cNvPr id="9371" name="Group 9"/>
              <p:cNvGrpSpPr>
                <a:grpSpLocks/>
              </p:cNvGrpSpPr>
              <p:nvPr/>
            </p:nvGrpSpPr>
            <p:grpSpPr bwMode="auto">
              <a:xfrm>
                <a:off x="3072" y="2832"/>
                <a:ext cx="136" cy="632"/>
                <a:chOff x="3072" y="2832"/>
                <a:chExt cx="136" cy="632"/>
              </a:xfrm>
            </p:grpSpPr>
            <p:sp>
              <p:nvSpPr>
                <p:cNvPr id="9376" name="Freeform 1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77" name="Freeform 11"/>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78" name="Freeform 12"/>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9372" name="Group 13"/>
              <p:cNvGrpSpPr>
                <a:grpSpLocks/>
              </p:cNvGrpSpPr>
              <p:nvPr/>
            </p:nvGrpSpPr>
            <p:grpSpPr bwMode="auto">
              <a:xfrm flipH="1">
                <a:off x="2496" y="2832"/>
                <a:ext cx="136" cy="632"/>
                <a:chOff x="3072" y="2832"/>
                <a:chExt cx="136" cy="632"/>
              </a:xfrm>
            </p:grpSpPr>
            <p:sp>
              <p:nvSpPr>
                <p:cNvPr id="9373" name="Freeform 1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74" name="Freeform 15"/>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75" name="Freeform 16"/>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grpSp>
          <p:nvGrpSpPr>
            <p:cNvPr id="9349" name="Group 17"/>
            <p:cNvGrpSpPr>
              <a:grpSpLocks/>
            </p:cNvGrpSpPr>
            <p:nvPr/>
          </p:nvGrpSpPr>
          <p:grpSpPr bwMode="auto">
            <a:xfrm>
              <a:off x="2488" y="1017"/>
              <a:ext cx="856" cy="808"/>
              <a:chOff x="1008" y="2720"/>
              <a:chExt cx="856" cy="808"/>
            </a:xfrm>
          </p:grpSpPr>
          <p:sp>
            <p:nvSpPr>
              <p:cNvPr id="9360" name="Rectangle 18"/>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9361" name="Freeform 1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62" name="Freeform 2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63" name="Freeform 2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64" name="Freeform 2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365" name="Freeform 2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366" name="Freeform 2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67" name="Freeform 2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68" name="Freeform 2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9350" name="Group 27"/>
            <p:cNvGrpSpPr>
              <a:grpSpLocks/>
            </p:cNvGrpSpPr>
            <p:nvPr/>
          </p:nvGrpSpPr>
          <p:grpSpPr bwMode="auto">
            <a:xfrm flipH="1">
              <a:off x="436" y="1017"/>
              <a:ext cx="856" cy="808"/>
              <a:chOff x="1008" y="2720"/>
              <a:chExt cx="856" cy="808"/>
            </a:xfrm>
          </p:grpSpPr>
          <p:sp>
            <p:nvSpPr>
              <p:cNvPr id="9351" name="Rectangle 28"/>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9352" name="Freeform 2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53" name="Freeform 3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54" name="Freeform 3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55" name="Freeform 3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356" name="Freeform 3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357" name="Freeform 3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58" name="Freeform 3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59" name="Freeform 3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sp>
        <p:nvSpPr>
          <p:cNvPr id="9224" name="AutoShape 37"/>
          <p:cNvSpPr>
            <a:spLocks noChangeArrowheads="1"/>
          </p:cNvSpPr>
          <p:nvPr/>
        </p:nvSpPr>
        <p:spPr bwMode="auto">
          <a:xfrm>
            <a:off x="2036763" y="2560638"/>
            <a:ext cx="2022475" cy="393700"/>
          </a:xfrm>
          <a:prstGeom prst="leftRightArrow">
            <a:avLst>
              <a:gd name="adj1" fmla="val 50000"/>
              <a:gd name="adj2" fmla="val 102742"/>
            </a:avLst>
          </a:prstGeom>
          <a:solidFill>
            <a:srgbClr val="FFFF99"/>
          </a:solidFill>
          <a:ln w="38100">
            <a:solidFill>
              <a:schemeClr val="tx1"/>
            </a:solidFill>
            <a:miter lim="800000"/>
            <a:headEnd/>
            <a:tailEnd/>
          </a:ln>
        </p:spPr>
        <p:txBody>
          <a:bodyPr wrap="none" anchor="ctr"/>
          <a:lstStyle/>
          <a:p>
            <a:endParaRPr lang="en-US" dirty="0">
              <a:latin typeface="Arial" pitchFamily="34" charset="0"/>
            </a:endParaRPr>
          </a:p>
        </p:txBody>
      </p:sp>
      <p:sp>
        <p:nvSpPr>
          <p:cNvPr id="9225" name="Rectangle 38"/>
          <p:cNvSpPr>
            <a:spLocks noChangeArrowheads="1"/>
          </p:cNvSpPr>
          <p:nvPr/>
        </p:nvSpPr>
        <p:spPr bwMode="auto">
          <a:xfrm>
            <a:off x="2054225" y="3081338"/>
            <a:ext cx="2041525" cy="552450"/>
          </a:xfrm>
          <a:prstGeom prst="rect">
            <a:avLst/>
          </a:prstGeom>
          <a:solidFill>
            <a:schemeClr val="accent1"/>
          </a:solidFill>
          <a:ln w="38100">
            <a:solidFill>
              <a:schemeClr val="tx1"/>
            </a:solidFill>
            <a:miter lim="800000"/>
            <a:headEnd/>
            <a:tailEnd/>
          </a:ln>
        </p:spPr>
        <p:txBody>
          <a:bodyPr wrap="none" anchor="ctr"/>
          <a:lstStyle/>
          <a:p>
            <a:pPr algn="ctr"/>
            <a:r>
              <a:rPr lang="en-US" sz="3200" b="0" dirty="0">
                <a:solidFill>
                  <a:schemeClr val="bg1"/>
                </a:solidFill>
                <a:latin typeface="Arial" pitchFamily="34" charset="0"/>
              </a:rPr>
              <a:t>memory</a:t>
            </a:r>
          </a:p>
        </p:txBody>
      </p:sp>
      <p:sp>
        <p:nvSpPr>
          <p:cNvPr id="9226" name="Line 39"/>
          <p:cNvSpPr>
            <a:spLocks noChangeShapeType="1"/>
          </p:cNvSpPr>
          <p:nvPr/>
        </p:nvSpPr>
        <p:spPr bwMode="auto">
          <a:xfrm>
            <a:off x="2530475" y="2424113"/>
            <a:ext cx="0" cy="250825"/>
          </a:xfrm>
          <a:prstGeom prst="line">
            <a:avLst/>
          </a:prstGeom>
          <a:noFill/>
          <a:ln w="76200">
            <a:solidFill>
              <a:srgbClr val="FF0000"/>
            </a:solidFill>
            <a:round/>
            <a:headEnd/>
            <a:tailEnd/>
          </a:ln>
        </p:spPr>
        <p:txBody>
          <a:bodyPr wrap="none" anchor="ctr"/>
          <a:lstStyle/>
          <a:p>
            <a:endParaRPr lang="en-US" dirty="0">
              <a:latin typeface="Arial" pitchFamily="34" charset="0"/>
            </a:endParaRPr>
          </a:p>
        </p:txBody>
      </p:sp>
      <p:sp>
        <p:nvSpPr>
          <p:cNvPr id="9227" name="Line 40"/>
          <p:cNvSpPr>
            <a:spLocks noChangeShapeType="1"/>
          </p:cNvSpPr>
          <p:nvPr/>
        </p:nvSpPr>
        <p:spPr bwMode="auto">
          <a:xfrm>
            <a:off x="3060700" y="2424113"/>
            <a:ext cx="1588" cy="233362"/>
          </a:xfrm>
          <a:prstGeom prst="line">
            <a:avLst/>
          </a:prstGeom>
          <a:noFill/>
          <a:ln w="76200">
            <a:solidFill>
              <a:srgbClr val="FF0000"/>
            </a:solidFill>
            <a:round/>
            <a:headEnd/>
            <a:tailEnd/>
          </a:ln>
        </p:spPr>
        <p:txBody>
          <a:bodyPr wrap="none" anchor="ctr"/>
          <a:lstStyle/>
          <a:p>
            <a:endParaRPr lang="en-US" dirty="0">
              <a:latin typeface="Arial" pitchFamily="34" charset="0"/>
            </a:endParaRPr>
          </a:p>
        </p:txBody>
      </p:sp>
      <p:sp>
        <p:nvSpPr>
          <p:cNvPr id="9228" name="Line 41"/>
          <p:cNvSpPr>
            <a:spLocks noChangeShapeType="1"/>
          </p:cNvSpPr>
          <p:nvPr/>
        </p:nvSpPr>
        <p:spPr bwMode="auto">
          <a:xfrm>
            <a:off x="3587750" y="2409825"/>
            <a:ext cx="3175" cy="233363"/>
          </a:xfrm>
          <a:prstGeom prst="line">
            <a:avLst/>
          </a:prstGeom>
          <a:noFill/>
          <a:ln w="76200">
            <a:solidFill>
              <a:srgbClr val="FF0000"/>
            </a:solidFill>
            <a:round/>
            <a:headEnd/>
            <a:tailEnd/>
          </a:ln>
        </p:spPr>
        <p:txBody>
          <a:bodyPr wrap="none" anchor="ctr"/>
          <a:lstStyle/>
          <a:p>
            <a:endParaRPr lang="en-US" dirty="0">
              <a:latin typeface="Arial" pitchFamily="34" charset="0"/>
            </a:endParaRPr>
          </a:p>
        </p:txBody>
      </p:sp>
      <p:sp>
        <p:nvSpPr>
          <p:cNvPr id="9229" name="Line 42"/>
          <p:cNvSpPr>
            <a:spLocks noChangeShapeType="1"/>
          </p:cNvSpPr>
          <p:nvPr/>
        </p:nvSpPr>
        <p:spPr bwMode="auto">
          <a:xfrm>
            <a:off x="3054350" y="2854325"/>
            <a:ext cx="1588" cy="233363"/>
          </a:xfrm>
          <a:prstGeom prst="line">
            <a:avLst/>
          </a:prstGeom>
          <a:noFill/>
          <a:ln w="76200">
            <a:solidFill>
              <a:srgbClr val="FF0000"/>
            </a:solidFill>
            <a:round/>
            <a:headEnd/>
            <a:tailEnd/>
          </a:ln>
        </p:spPr>
        <p:txBody>
          <a:bodyPr wrap="none" anchor="ctr"/>
          <a:lstStyle/>
          <a:p>
            <a:endParaRPr lang="en-US" dirty="0">
              <a:latin typeface="Arial" pitchFamily="34" charset="0"/>
            </a:endParaRPr>
          </a:p>
        </p:txBody>
      </p:sp>
      <p:sp>
        <p:nvSpPr>
          <p:cNvPr id="9230" name="Text Box 43"/>
          <p:cNvSpPr txBox="1">
            <a:spLocks noChangeArrowheads="1"/>
          </p:cNvSpPr>
          <p:nvPr/>
        </p:nvSpPr>
        <p:spPr bwMode="auto">
          <a:xfrm>
            <a:off x="6273800" y="3930650"/>
            <a:ext cx="1147763" cy="457200"/>
          </a:xfrm>
          <a:prstGeom prst="rect">
            <a:avLst/>
          </a:prstGeom>
          <a:noFill/>
          <a:ln w="9525">
            <a:noFill/>
            <a:miter lim="800000"/>
            <a:headEnd/>
            <a:tailEnd/>
          </a:ln>
        </p:spPr>
        <p:txBody>
          <a:bodyPr wrap="none">
            <a:spAutoFit/>
          </a:bodyPr>
          <a:lstStyle/>
          <a:p>
            <a:pPr eaLnBrk="1" hangingPunct="1"/>
            <a:r>
              <a:rPr lang="en-US" sz="2400" dirty="0">
                <a:solidFill>
                  <a:schemeClr val="tx1"/>
                </a:solidFill>
                <a:latin typeface="Arial" pitchFamily="34" charset="0"/>
              </a:rPr>
              <a:t>NUMA</a:t>
            </a:r>
          </a:p>
        </p:txBody>
      </p:sp>
      <p:grpSp>
        <p:nvGrpSpPr>
          <p:cNvPr id="9231" name="Group 44"/>
          <p:cNvGrpSpPr>
            <a:grpSpLocks/>
          </p:cNvGrpSpPr>
          <p:nvPr/>
        </p:nvGrpSpPr>
        <p:grpSpPr bwMode="auto">
          <a:xfrm>
            <a:off x="5568950" y="1652588"/>
            <a:ext cx="2765425" cy="2257425"/>
            <a:chOff x="3411" y="1195"/>
            <a:chExt cx="2337" cy="1908"/>
          </a:xfrm>
        </p:grpSpPr>
        <p:sp>
          <p:nvSpPr>
            <p:cNvPr id="9234" name="Line 45"/>
            <p:cNvSpPr>
              <a:spLocks noChangeShapeType="1"/>
            </p:cNvSpPr>
            <p:nvPr/>
          </p:nvSpPr>
          <p:spPr bwMode="auto">
            <a:xfrm flipV="1">
              <a:off x="3661" y="1989"/>
              <a:ext cx="1637" cy="9"/>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9235" name="Line 46"/>
            <p:cNvSpPr>
              <a:spLocks noChangeShapeType="1"/>
            </p:cNvSpPr>
            <p:nvPr/>
          </p:nvSpPr>
          <p:spPr bwMode="auto">
            <a:xfrm flipV="1">
              <a:off x="3647" y="2661"/>
              <a:ext cx="1637" cy="9"/>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9236" name="Line 47"/>
            <p:cNvSpPr>
              <a:spLocks noChangeShapeType="1"/>
            </p:cNvSpPr>
            <p:nvPr/>
          </p:nvSpPr>
          <p:spPr bwMode="auto">
            <a:xfrm flipV="1">
              <a:off x="3675" y="1317"/>
              <a:ext cx="1637" cy="9"/>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9237" name="Line 48"/>
            <p:cNvSpPr>
              <a:spLocks noChangeShapeType="1"/>
            </p:cNvSpPr>
            <p:nvPr/>
          </p:nvSpPr>
          <p:spPr bwMode="auto">
            <a:xfrm flipH="1">
              <a:off x="3639" y="1372"/>
              <a:ext cx="9" cy="1325"/>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9238" name="Line 49"/>
            <p:cNvSpPr>
              <a:spLocks noChangeShapeType="1"/>
            </p:cNvSpPr>
            <p:nvPr/>
          </p:nvSpPr>
          <p:spPr bwMode="auto">
            <a:xfrm flipH="1">
              <a:off x="4485" y="1372"/>
              <a:ext cx="9" cy="1325"/>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9239" name="Line 50"/>
            <p:cNvSpPr>
              <a:spLocks noChangeShapeType="1"/>
            </p:cNvSpPr>
            <p:nvPr/>
          </p:nvSpPr>
          <p:spPr bwMode="auto">
            <a:xfrm flipH="1">
              <a:off x="5285" y="1372"/>
              <a:ext cx="9" cy="1325"/>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grpSp>
          <p:nvGrpSpPr>
            <p:cNvPr id="9240" name="Group 51"/>
            <p:cNvGrpSpPr>
              <a:grpSpLocks/>
            </p:cNvGrpSpPr>
            <p:nvPr/>
          </p:nvGrpSpPr>
          <p:grpSpPr bwMode="auto">
            <a:xfrm>
              <a:off x="3411" y="1195"/>
              <a:ext cx="641" cy="572"/>
              <a:chOff x="3411" y="1193"/>
              <a:chExt cx="641" cy="572"/>
            </a:xfrm>
          </p:grpSpPr>
          <p:grpSp>
            <p:nvGrpSpPr>
              <p:cNvPr id="9337" name="Group 52"/>
              <p:cNvGrpSpPr>
                <a:grpSpLocks/>
              </p:cNvGrpSpPr>
              <p:nvPr/>
            </p:nvGrpSpPr>
            <p:grpSpPr bwMode="auto">
              <a:xfrm>
                <a:off x="3411" y="1193"/>
                <a:ext cx="437" cy="391"/>
                <a:chOff x="1584" y="816"/>
                <a:chExt cx="912" cy="816"/>
              </a:xfrm>
            </p:grpSpPr>
            <p:sp>
              <p:nvSpPr>
                <p:cNvPr id="9339" name="Freeform 5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40" name="Freeform 5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41" name="Freeform 55"/>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42" name="Freeform 5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343" name="Freeform 5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344" name="Freeform 5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345" name="Freeform 59"/>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46" name="Freeform 60"/>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47" name="Freeform 61"/>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9338" name="Freeform 62"/>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9241" name="Group 63"/>
            <p:cNvGrpSpPr>
              <a:grpSpLocks/>
            </p:cNvGrpSpPr>
            <p:nvPr/>
          </p:nvGrpSpPr>
          <p:grpSpPr bwMode="auto">
            <a:xfrm>
              <a:off x="4225" y="1196"/>
              <a:ext cx="641" cy="572"/>
              <a:chOff x="3411" y="1193"/>
              <a:chExt cx="641" cy="572"/>
            </a:xfrm>
          </p:grpSpPr>
          <p:grpSp>
            <p:nvGrpSpPr>
              <p:cNvPr id="9326" name="Group 64"/>
              <p:cNvGrpSpPr>
                <a:grpSpLocks/>
              </p:cNvGrpSpPr>
              <p:nvPr/>
            </p:nvGrpSpPr>
            <p:grpSpPr bwMode="auto">
              <a:xfrm>
                <a:off x="3411" y="1193"/>
                <a:ext cx="437" cy="391"/>
                <a:chOff x="1584" y="816"/>
                <a:chExt cx="912" cy="816"/>
              </a:xfrm>
            </p:grpSpPr>
            <p:sp>
              <p:nvSpPr>
                <p:cNvPr id="9328" name="Freeform 6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29" name="Freeform 6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30" name="Freeform 67"/>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31" name="Freeform 6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332" name="Freeform 6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333" name="Freeform 7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334" name="Freeform 71"/>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35" name="Freeform 72"/>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36" name="Freeform 73"/>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9327" name="Freeform 74"/>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9242" name="Group 75"/>
            <p:cNvGrpSpPr>
              <a:grpSpLocks/>
            </p:cNvGrpSpPr>
            <p:nvPr/>
          </p:nvGrpSpPr>
          <p:grpSpPr bwMode="auto">
            <a:xfrm>
              <a:off x="5039" y="1195"/>
              <a:ext cx="641" cy="572"/>
              <a:chOff x="3411" y="1193"/>
              <a:chExt cx="641" cy="572"/>
            </a:xfrm>
          </p:grpSpPr>
          <p:grpSp>
            <p:nvGrpSpPr>
              <p:cNvPr id="9315" name="Group 76"/>
              <p:cNvGrpSpPr>
                <a:grpSpLocks/>
              </p:cNvGrpSpPr>
              <p:nvPr/>
            </p:nvGrpSpPr>
            <p:grpSpPr bwMode="auto">
              <a:xfrm>
                <a:off x="3411" y="1193"/>
                <a:ext cx="437" cy="391"/>
                <a:chOff x="1584" y="816"/>
                <a:chExt cx="912" cy="816"/>
              </a:xfrm>
            </p:grpSpPr>
            <p:sp>
              <p:nvSpPr>
                <p:cNvPr id="9317" name="Freeform 7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18" name="Freeform 7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19" name="Freeform 79"/>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20" name="Freeform 8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321" name="Freeform 8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322" name="Freeform 8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323" name="Freeform 83"/>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24" name="Freeform 84"/>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25" name="Freeform 85"/>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9316" name="Freeform 86"/>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9243" name="Group 87"/>
            <p:cNvGrpSpPr>
              <a:grpSpLocks/>
            </p:cNvGrpSpPr>
            <p:nvPr/>
          </p:nvGrpSpPr>
          <p:grpSpPr bwMode="auto">
            <a:xfrm>
              <a:off x="3461" y="1872"/>
              <a:ext cx="641" cy="572"/>
              <a:chOff x="3411" y="1193"/>
              <a:chExt cx="641" cy="572"/>
            </a:xfrm>
          </p:grpSpPr>
          <p:grpSp>
            <p:nvGrpSpPr>
              <p:cNvPr id="9304" name="Group 88"/>
              <p:cNvGrpSpPr>
                <a:grpSpLocks/>
              </p:cNvGrpSpPr>
              <p:nvPr/>
            </p:nvGrpSpPr>
            <p:grpSpPr bwMode="auto">
              <a:xfrm>
                <a:off x="3411" y="1193"/>
                <a:ext cx="437" cy="391"/>
                <a:chOff x="1584" y="816"/>
                <a:chExt cx="912" cy="816"/>
              </a:xfrm>
            </p:grpSpPr>
            <p:sp>
              <p:nvSpPr>
                <p:cNvPr id="9306" name="Freeform 8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07" name="Freeform 9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08" name="Freeform 91"/>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09" name="Freeform 9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310" name="Freeform 9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311" name="Freeform 9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312" name="Freeform 95"/>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13" name="Freeform 96"/>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14" name="Freeform 97"/>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9305" name="Freeform 98"/>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9244" name="Group 99"/>
            <p:cNvGrpSpPr>
              <a:grpSpLocks/>
            </p:cNvGrpSpPr>
            <p:nvPr/>
          </p:nvGrpSpPr>
          <p:grpSpPr bwMode="auto">
            <a:xfrm>
              <a:off x="4284" y="1872"/>
              <a:ext cx="641" cy="572"/>
              <a:chOff x="3411" y="1193"/>
              <a:chExt cx="641" cy="572"/>
            </a:xfrm>
          </p:grpSpPr>
          <p:grpSp>
            <p:nvGrpSpPr>
              <p:cNvPr id="9293" name="Group 100"/>
              <p:cNvGrpSpPr>
                <a:grpSpLocks/>
              </p:cNvGrpSpPr>
              <p:nvPr/>
            </p:nvGrpSpPr>
            <p:grpSpPr bwMode="auto">
              <a:xfrm>
                <a:off x="3411" y="1193"/>
                <a:ext cx="437" cy="391"/>
                <a:chOff x="1584" y="816"/>
                <a:chExt cx="912" cy="816"/>
              </a:xfrm>
            </p:grpSpPr>
            <p:sp>
              <p:nvSpPr>
                <p:cNvPr id="9295" name="Freeform 10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96" name="Freeform 10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97" name="Freeform 103"/>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98" name="Freeform 10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299" name="Freeform 10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300" name="Freeform 10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301" name="Freeform 107"/>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02" name="Freeform 108"/>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303" name="Freeform 109"/>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9294" name="Freeform 110"/>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9245" name="Group 111"/>
            <p:cNvGrpSpPr>
              <a:grpSpLocks/>
            </p:cNvGrpSpPr>
            <p:nvPr/>
          </p:nvGrpSpPr>
          <p:grpSpPr bwMode="auto">
            <a:xfrm>
              <a:off x="5107" y="1871"/>
              <a:ext cx="641" cy="572"/>
              <a:chOff x="3411" y="1193"/>
              <a:chExt cx="641" cy="572"/>
            </a:xfrm>
          </p:grpSpPr>
          <p:grpSp>
            <p:nvGrpSpPr>
              <p:cNvPr id="9282" name="Group 112"/>
              <p:cNvGrpSpPr>
                <a:grpSpLocks/>
              </p:cNvGrpSpPr>
              <p:nvPr/>
            </p:nvGrpSpPr>
            <p:grpSpPr bwMode="auto">
              <a:xfrm>
                <a:off x="3411" y="1193"/>
                <a:ext cx="437" cy="391"/>
                <a:chOff x="1584" y="816"/>
                <a:chExt cx="912" cy="816"/>
              </a:xfrm>
            </p:grpSpPr>
            <p:sp>
              <p:nvSpPr>
                <p:cNvPr id="9284" name="Freeform 11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85" name="Freeform 11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86" name="Freeform 115"/>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87" name="Freeform 11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288" name="Freeform 11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289" name="Freeform 11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290" name="Freeform 119"/>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91" name="Freeform 120"/>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92" name="Freeform 121"/>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9283" name="Freeform 122"/>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9246" name="Group 123"/>
            <p:cNvGrpSpPr>
              <a:grpSpLocks/>
            </p:cNvGrpSpPr>
            <p:nvPr/>
          </p:nvGrpSpPr>
          <p:grpSpPr bwMode="auto">
            <a:xfrm>
              <a:off x="3430" y="2530"/>
              <a:ext cx="641" cy="572"/>
              <a:chOff x="3411" y="1193"/>
              <a:chExt cx="641" cy="572"/>
            </a:xfrm>
          </p:grpSpPr>
          <p:grpSp>
            <p:nvGrpSpPr>
              <p:cNvPr id="9271" name="Group 124"/>
              <p:cNvGrpSpPr>
                <a:grpSpLocks/>
              </p:cNvGrpSpPr>
              <p:nvPr/>
            </p:nvGrpSpPr>
            <p:grpSpPr bwMode="auto">
              <a:xfrm>
                <a:off x="3411" y="1193"/>
                <a:ext cx="437" cy="391"/>
                <a:chOff x="1584" y="816"/>
                <a:chExt cx="912" cy="816"/>
              </a:xfrm>
            </p:grpSpPr>
            <p:sp>
              <p:nvSpPr>
                <p:cNvPr id="9273" name="Freeform 12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74" name="Freeform 12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75" name="Freeform 127"/>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76" name="Freeform 12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277" name="Freeform 12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278" name="Freeform 13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279" name="Freeform 131"/>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80" name="Freeform 132"/>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81" name="Freeform 133"/>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9272" name="Freeform 134"/>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9247" name="Group 135"/>
            <p:cNvGrpSpPr>
              <a:grpSpLocks/>
            </p:cNvGrpSpPr>
            <p:nvPr/>
          </p:nvGrpSpPr>
          <p:grpSpPr bwMode="auto">
            <a:xfrm>
              <a:off x="4244" y="2531"/>
              <a:ext cx="641" cy="572"/>
              <a:chOff x="3411" y="1193"/>
              <a:chExt cx="641" cy="572"/>
            </a:xfrm>
          </p:grpSpPr>
          <p:grpSp>
            <p:nvGrpSpPr>
              <p:cNvPr id="9260" name="Group 136"/>
              <p:cNvGrpSpPr>
                <a:grpSpLocks/>
              </p:cNvGrpSpPr>
              <p:nvPr/>
            </p:nvGrpSpPr>
            <p:grpSpPr bwMode="auto">
              <a:xfrm>
                <a:off x="3411" y="1193"/>
                <a:ext cx="437" cy="391"/>
                <a:chOff x="1584" y="816"/>
                <a:chExt cx="912" cy="816"/>
              </a:xfrm>
            </p:grpSpPr>
            <p:sp>
              <p:nvSpPr>
                <p:cNvPr id="9262" name="Freeform 13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63" name="Freeform 13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64" name="Freeform 139"/>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65" name="Freeform 14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266" name="Freeform 14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267" name="Freeform 14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268" name="Freeform 143"/>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69" name="Freeform 144"/>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70" name="Freeform 145"/>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9261" name="Freeform 146"/>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9248" name="Group 147"/>
            <p:cNvGrpSpPr>
              <a:grpSpLocks/>
            </p:cNvGrpSpPr>
            <p:nvPr/>
          </p:nvGrpSpPr>
          <p:grpSpPr bwMode="auto">
            <a:xfrm>
              <a:off x="5058" y="2530"/>
              <a:ext cx="641" cy="572"/>
              <a:chOff x="3411" y="1193"/>
              <a:chExt cx="641" cy="572"/>
            </a:xfrm>
          </p:grpSpPr>
          <p:grpSp>
            <p:nvGrpSpPr>
              <p:cNvPr id="9249" name="Group 148"/>
              <p:cNvGrpSpPr>
                <a:grpSpLocks/>
              </p:cNvGrpSpPr>
              <p:nvPr/>
            </p:nvGrpSpPr>
            <p:grpSpPr bwMode="auto">
              <a:xfrm>
                <a:off x="3411" y="1193"/>
                <a:ext cx="437" cy="391"/>
                <a:chOff x="1584" y="816"/>
                <a:chExt cx="912" cy="816"/>
              </a:xfrm>
            </p:grpSpPr>
            <p:sp>
              <p:nvSpPr>
                <p:cNvPr id="9251" name="Freeform 14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52" name="Freeform 15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53" name="Freeform 151"/>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54" name="Freeform 15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255" name="Freeform 15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256" name="Freeform 15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9257" name="Freeform 155"/>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58" name="Freeform 156"/>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259" name="Freeform 157"/>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9250" name="Freeform 158"/>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sp>
        <p:nvSpPr>
          <p:cNvPr id="9232" name="Text Box 159"/>
          <p:cNvSpPr txBox="1">
            <a:spLocks noChangeArrowheads="1"/>
          </p:cNvSpPr>
          <p:nvPr/>
        </p:nvSpPr>
        <p:spPr bwMode="auto">
          <a:xfrm>
            <a:off x="8271100" y="6226175"/>
            <a:ext cx="436338" cy="338554"/>
          </a:xfrm>
          <a:prstGeom prst="rect">
            <a:avLst/>
          </a:prstGeom>
          <a:noFill/>
          <a:ln w="9525">
            <a:noFill/>
            <a:miter lim="800000"/>
            <a:headEnd/>
            <a:tailEnd/>
          </a:ln>
        </p:spPr>
        <p:txBody>
          <a:bodyPr wrap="none">
            <a:spAutoFit/>
          </a:bodyPr>
          <a:lstStyle/>
          <a:p>
            <a:pPr algn="r"/>
            <a:r>
              <a:rPr lang="en-US" sz="1600" b="0" dirty="0">
                <a:solidFill>
                  <a:schemeClr val="tx1"/>
                </a:solidFill>
                <a:latin typeface="Arial" pitchFamily="34" charset="0"/>
              </a:rPr>
              <a:t>(1)</a:t>
            </a:r>
          </a:p>
        </p:txBody>
      </p:sp>
      <p:sp>
        <p:nvSpPr>
          <p:cNvPr id="9233" name="Rectangle 160"/>
          <p:cNvSpPr>
            <a:spLocks noGrp="1" noChangeArrowheads="1"/>
          </p:cNvSpPr>
          <p:nvPr>
            <p:ph type="body" idx="1"/>
          </p:nvPr>
        </p:nvSpPr>
        <p:spPr>
          <a:xfrm>
            <a:off x="685800" y="4370388"/>
            <a:ext cx="7772400" cy="1725612"/>
          </a:xfrm>
        </p:spPr>
        <p:txBody>
          <a:bodyPr/>
          <a:lstStyle/>
          <a:p>
            <a:pPr>
              <a:lnSpc>
                <a:spcPct val="90000"/>
              </a:lnSpc>
            </a:pPr>
            <a:r>
              <a:rPr lang="en-US"/>
              <a:t>SMP: symmetric multiprocessor</a:t>
            </a:r>
          </a:p>
          <a:p>
            <a:pPr>
              <a:lnSpc>
                <a:spcPct val="90000"/>
              </a:lnSpc>
            </a:pPr>
            <a:r>
              <a:rPr lang="en-US"/>
              <a:t>NUMA: non-uniform memory access</a:t>
            </a:r>
          </a:p>
          <a:p>
            <a:pPr>
              <a:lnSpc>
                <a:spcPct val="90000"/>
              </a:lnSpc>
            </a:pPr>
            <a:r>
              <a:rPr lang="en-US"/>
              <a:t>CC-NUMA: cache-coherent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p:cNvSpPr>
            <a:spLocks noGrp="1"/>
          </p:cNvSpPr>
          <p:nvPr>
            <p:ph type="ftr" sz="quarter" idx="10"/>
          </p:nvPr>
        </p:nvSpPr>
        <p:spPr>
          <a:noFill/>
        </p:spPr>
        <p:txBody>
          <a:bodyPr/>
          <a:lstStyle/>
          <a:p>
            <a:r>
              <a:rPr lang="en-US"/>
              <a:t>Art of Multiprocessor Programming</a:t>
            </a:r>
          </a:p>
        </p:txBody>
      </p:sp>
      <p:sp>
        <p:nvSpPr>
          <p:cNvPr id="10243" name="Slide Number Placeholder 4"/>
          <p:cNvSpPr>
            <a:spLocks noGrp="1"/>
          </p:cNvSpPr>
          <p:nvPr>
            <p:ph type="sldNum" sz="quarter" idx="11"/>
          </p:nvPr>
        </p:nvSpPr>
        <p:spPr>
          <a:noFill/>
        </p:spPr>
        <p:txBody>
          <a:bodyPr/>
          <a:lstStyle/>
          <a:p>
            <a:fld id="{046CF23E-C4E8-4802-B7C3-0EB1FEC6C77B}" type="slidenum">
              <a:rPr lang="ar-SA" smtClean="0"/>
              <a:pPr/>
              <a:t>9</a:t>
            </a:fld>
            <a:endParaRPr lang="en-US"/>
          </a:p>
        </p:txBody>
      </p:sp>
      <p:sp>
        <p:nvSpPr>
          <p:cNvPr id="10244" name="Rectangle 2"/>
          <p:cNvSpPr>
            <a:spLocks noGrp="1" noChangeArrowheads="1"/>
          </p:cNvSpPr>
          <p:nvPr>
            <p:ph type="title"/>
          </p:nvPr>
        </p:nvSpPr>
        <p:spPr/>
        <p:txBody>
          <a:bodyPr/>
          <a:lstStyle/>
          <a:p>
            <a:r>
              <a:rPr lang="en-US"/>
              <a:t>Future Multicores</a:t>
            </a:r>
          </a:p>
        </p:txBody>
      </p:sp>
      <p:sp>
        <p:nvSpPr>
          <p:cNvPr id="10245" name="Rectangle 3"/>
          <p:cNvSpPr>
            <a:spLocks noGrp="1" noChangeArrowheads="1"/>
          </p:cNvSpPr>
          <p:nvPr>
            <p:ph type="body" idx="1"/>
          </p:nvPr>
        </p:nvSpPr>
        <p:spPr>
          <a:xfrm>
            <a:off x="685800" y="1981200"/>
            <a:ext cx="7772400" cy="2878138"/>
          </a:xfrm>
        </p:spPr>
        <p:txBody>
          <a:bodyPr/>
          <a:lstStyle/>
          <a:p>
            <a:r>
              <a:rPr lang="en-US"/>
              <a:t>Short term: SMP</a:t>
            </a:r>
          </a:p>
          <a:p>
            <a:r>
              <a:rPr lang="en-US"/>
              <a:t>Long Term: most likely a combination of SMP and NUMA properties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p:cNvSpPr>
            <a:spLocks noGrp="1"/>
          </p:cNvSpPr>
          <p:nvPr>
            <p:ph type="ftr" sz="quarter" idx="10"/>
          </p:nvPr>
        </p:nvSpPr>
        <p:spPr>
          <a:noFill/>
        </p:spPr>
        <p:txBody>
          <a:bodyPr/>
          <a:lstStyle/>
          <a:p>
            <a:r>
              <a:rPr lang="en-US"/>
              <a:t>Art of Multiprocessor Programming</a:t>
            </a:r>
          </a:p>
        </p:txBody>
      </p:sp>
      <p:sp>
        <p:nvSpPr>
          <p:cNvPr id="11267" name="Slide Number Placeholder 4"/>
          <p:cNvSpPr>
            <a:spLocks noGrp="1"/>
          </p:cNvSpPr>
          <p:nvPr>
            <p:ph type="sldNum" sz="quarter" idx="11"/>
          </p:nvPr>
        </p:nvSpPr>
        <p:spPr>
          <a:noFill/>
        </p:spPr>
        <p:txBody>
          <a:bodyPr/>
          <a:lstStyle/>
          <a:p>
            <a:fld id="{DFC9D5E0-2875-4212-95E7-4EB9E3546996}" type="slidenum">
              <a:rPr lang="ar-SA" smtClean="0"/>
              <a:pPr/>
              <a:t>10</a:t>
            </a:fld>
            <a:endParaRPr lang="en-US"/>
          </a:p>
        </p:txBody>
      </p:sp>
      <p:sp>
        <p:nvSpPr>
          <p:cNvPr id="11268" name="Rectangle 2"/>
          <p:cNvSpPr>
            <a:spLocks noGrp="1" noChangeArrowheads="1"/>
          </p:cNvSpPr>
          <p:nvPr>
            <p:ph type="title"/>
          </p:nvPr>
        </p:nvSpPr>
        <p:spPr/>
        <p:txBody>
          <a:bodyPr/>
          <a:lstStyle/>
          <a:p>
            <a:r>
              <a:rPr lang="en-US"/>
              <a:t>Understanding the Pieces</a:t>
            </a:r>
          </a:p>
        </p:txBody>
      </p:sp>
      <p:sp>
        <p:nvSpPr>
          <p:cNvPr id="11269" name="Rectangle 3"/>
          <p:cNvSpPr>
            <a:spLocks noGrp="1" noChangeArrowheads="1"/>
          </p:cNvSpPr>
          <p:nvPr>
            <p:ph type="body" idx="1"/>
          </p:nvPr>
        </p:nvSpPr>
        <p:spPr/>
        <p:txBody>
          <a:bodyPr/>
          <a:lstStyle/>
          <a:p>
            <a:r>
              <a:rPr lang="en-US"/>
              <a:t>Lets try to understand what the pieces that make the multiprocessor machine are </a:t>
            </a:r>
          </a:p>
          <a:p>
            <a:r>
              <a:rPr lang="en-US"/>
              <a:t>And how they fit together</a:t>
            </a:r>
          </a:p>
          <a:p>
            <a:endParaRPr lang="en-US"/>
          </a:p>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p:cNvSpPr>
            <a:spLocks noGrp="1"/>
          </p:cNvSpPr>
          <p:nvPr>
            <p:ph type="ftr" sz="quarter" idx="10"/>
          </p:nvPr>
        </p:nvSpPr>
        <p:spPr>
          <a:noFill/>
        </p:spPr>
        <p:txBody>
          <a:bodyPr/>
          <a:lstStyle/>
          <a:p>
            <a:r>
              <a:rPr lang="en-US"/>
              <a:t>Art of Multiprocessor Programming</a:t>
            </a:r>
          </a:p>
        </p:txBody>
      </p:sp>
      <p:sp>
        <p:nvSpPr>
          <p:cNvPr id="12291" name="Slide Number Placeholder 4"/>
          <p:cNvSpPr>
            <a:spLocks noGrp="1"/>
          </p:cNvSpPr>
          <p:nvPr>
            <p:ph type="sldNum" sz="quarter" idx="11"/>
          </p:nvPr>
        </p:nvSpPr>
        <p:spPr>
          <a:noFill/>
        </p:spPr>
        <p:txBody>
          <a:bodyPr/>
          <a:lstStyle/>
          <a:p>
            <a:fld id="{36BBD8CE-3B6A-4813-B656-30800AAE7D8B}" type="slidenum">
              <a:rPr lang="ar-SA" smtClean="0"/>
              <a:pPr/>
              <a:t>11</a:t>
            </a:fld>
            <a:endParaRPr lang="en-US"/>
          </a:p>
        </p:txBody>
      </p:sp>
      <p:sp>
        <p:nvSpPr>
          <p:cNvPr id="12292" name="Rectangle 2"/>
          <p:cNvSpPr>
            <a:spLocks noGrp="1" noChangeArrowheads="1"/>
          </p:cNvSpPr>
          <p:nvPr>
            <p:ph type="title"/>
          </p:nvPr>
        </p:nvSpPr>
        <p:spPr/>
        <p:txBody>
          <a:bodyPr/>
          <a:lstStyle/>
          <a:p>
            <a:r>
              <a:rPr lang="en-US"/>
              <a:t>Processors</a:t>
            </a:r>
          </a:p>
        </p:txBody>
      </p:sp>
      <p:sp>
        <p:nvSpPr>
          <p:cNvPr id="12293" name="Rectangle 3"/>
          <p:cNvSpPr>
            <a:spLocks noGrp="1" noChangeArrowheads="1"/>
          </p:cNvSpPr>
          <p:nvPr>
            <p:ph type="body" idx="1"/>
          </p:nvPr>
        </p:nvSpPr>
        <p:spPr/>
        <p:txBody>
          <a:bodyPr/>
          <a:lstStyle/>
          <a:p>
            <a:r>
              <a:rPr lang="en-US"/>
              <a:t>Cycle:</a:t>
            </a:r>
            <a:endParaRPr lang="en-US">
              <a:solidFill>
                <a:schemeClr val="tx1"/>
              </a:solidFill>
            </a:endParaRPr>
          </a:p>
          <a:p>
            <a:pPr lvl="1"/>
            <a:r>
              <a:rPr lang="en-US"/>
              <a:t>Fetch and execute one instruction</a:t>
            </a:r>
          </a:p>
          <a:p>
            <a:r>
              <a:rPr lang="en-US"/>
              <a:t>Cycle times change</a:t>
            </a:r>
          </a:p>
          <a:p>
            <a:pPr lvl="1"/>
            <a:r>
              <a:rPr lang="en-US"/>
              <a:t>1980: 10 million cycles/sec</a:t>
            </a:r>
          </a:p>
          <a:p>
            <a:pPr lvl="1"/>
            <a:r>
              <a:rPr lang="en-US"/>
              <a:t>2005: 3,000 million cycles/sec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p:cNvSpPr>
            <a:spLocks noGrp="1"/>
          </p:cNvSpPr>
          <p:nvPr>
            <p:ph type="ftr" sz="quarter" idx="10"/>
          </p:nvPr>
        </p:nvSpPr>
        <p:spPr>
          <a:noFill/>
        </p:spPr>
        <p:txBody>
          <a:bodyPr/>
          <a:lstStyle/>
          <a:p>
            <a:r>
              <a:rPr lang="en-US"/>
              <a:t>Art of Multiprocessor Programming</a:t>
            </a:r>
          </a:p>
        </p:txBody>
      </p:sp>
      <p:sp>
        <p:nvSpPr>
          <p:cNvPr id="13315" name="Slide Number Placeholder 4"/>
          <p:cNvSpPr>
            <a:spLocks noGrp="1"/>
          </p:cNvSpPr>
          <p:nvPr>
            <p:ph type="sldNum" sz="quarter" idx="11"/>
          </p:nvPr>
        </p:nvSpPr>
        <p:spPr>
          <a:noFill/>
        </p:spPr>
        <p:txBody>
          <a:bodyPr/>
          <a:lstStyle/>
          <a:p>
            <a:fld id="{8CF46E45-EAAE-4790-A13A-B3603B90FE3F}" type="slidenum">
              <a:rPr lang="ar-SA" smtClean="0"/>
              <a:pPr/>
              <a:t>12</a:t>
            </a:fld>
            <a:endParaRPr lang="en-US"/>
          </a:p>
        </p:txBody>
      </p:sp>
      <p:sp>
        <p:nvSpPr>
          <p:cNvPr id="13316" name="Rectangle 2"/>
          <p:cNvSpPr>
            <a:spLocks noGrp="1" noChangeArrowheads="1"/>
          </p:cNvSpPr>
          <p:nvPr>
            <p:ph type="title"/>
          </p:nvPr>
        </p:nvSpPr>
        <p:spPr/>
        <p:txBody>
          <a:bodyPr/>
          <a:lstStyle/>
          <a:p>
            <a:r>
              <a:rPr lang="en-US"/>
              <a:t>Computer Architecture</a:t>
            </a:r>
          </a:p>
        </p:txBody>
      </p:sp>
      <p:sp>
        <p:nvSpPr>
          <p:cNvPr id="13317" name="Rectangle 3"/>
          <p:cNvSpPr>
            <a:spLocks noGrp="1" noChangeArrowheads="1"/>
          </p:cNvSpPr>
          <p:nvPr>
            <p:ph type="body" idx="1"/>
          </p:nvPr>
        </p:nvSpPr>
        <p:spPr/>
        <p:txBody>
          <a:bodyPr/>
          <a:lstStyle/>
          <a:p>
            <a:r>
              <a:rPr lang="en-US"/>
              <a:t>Measure time in cycles</a:t>
            </a:r>
          </a:p>
          <a:p>
            <a:pPr lvl="1"/>
            <a:r>
              <a:rPr lang="en-US"/>
              <a:t>Absolute cycle times change</a:t>
            </a:r>
          </a:p>
          <a:p>
            <a:r>
              <a:rPr lang="en-US"/>
              <a:t>Memory access: ~100s of cycles</a:t>
            </a:r>
          </a:p>
          <a:p>
            <a:pPr lvl="1"/>
            <a:r>
              <a:rPr lang="en-US"/>
              <a:t>Changes slowly</a:t>
            </a:r>
          </a:p>
          <a:p>
            <a:pPr lvl="1"/>
            <a:r>
              <a:rPr lang="en-US"/>
              <a:t>Mostly gets worse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a:t>Art of Multiprocessor Programming</a:t>
            </a:r>
          </a:p>
        </p:txBody>
      </p:sp>
      <p:sp>
        <p:nvSpPr>
          <p:cNvPr id="14339" name="Slide Number Placeholder 4"/>
          <p:cNvSpPr>
            <a:spLocks noGrp="1"/>
          </p:cNvSpPr>
          <p:nvPr>
            <p:ph type="sldNum" sz="quarter" idx="11"/>
          </p:nvPr>
        </p:nvSpPr>
        <p:spPr>
          <a:noFill/>
        </p:spPr>
        <p:txBody>
          <a:bodyPr/>
          <a:lstStyle/>
          <a:p>
            <a:fld id="{A5B9D861-7AD7-415F-B117-589A8B5A666E}" type="slidenum">
              <a:rPr lang="ar-SA" smtClean="0"/>
              <a:pPr/>
              <a:t>13</a:t>
            </a:fld>
            <a:endParaRPr lang="en-US"/>
          </a:p>
        </p:txBody>
      </p:sp>
      <p:sp>
        <p:nvSpPr>
          <p:cNvPr id="14340" name="Rectangle 2"/>
          <p:cNvSpPr>
            <a:spLocks noGrp="1" noChangeArrowheads="1"/>
          </p:cNvSpPr>
          <p:nvPr>
            <p:ph type="title"/>
          </p:nvPr>
        </p:nvSpPr>
        <p:spPr/>
        <p:txBody>
          <a:bodyPr/>
          <a:lstStyle/>
          <a:p>
            <a:r>
              <a:rPr lang="en-US"/>
              <a:t>Threads</a:t>
            </a:r>
          </a:p>
        </p:txBody>
      </p:sp>
      <p:sp>
        <p:nvSpPr>
          <p:cNvPr id="14341" name="Rectangle 3"/>
          <p:cNvSpPr>
            <a:spLocks noGrp="1" noChangeArrowheads="1"/>
          </p:cNvSpPr>
          <p:nvPr>
            <p:ph type="body" idx="1"/>
          </p:nvPr>
        </p:nvSpPr>
        <p:spPr/>
        <p:txBody>
          <a:bodyPr/>
          <a:lstStyle/>
          <a:p>
            <a:r>
              <a:rPr lang="en-US"/>
              <a:t>Execution of a sequential program</a:t>
            </a:r>
          </a:p>
          <a:p>
            <a:r>
              <a:rPr lang="en-US">
                <a:solidFill>
                  <a:schemeClr val="tx1"/>
                </a:solidFill>
              </a:rPr>
              <a:t>Software</a:t>
            </a:r>
            <a:r>
              <a:rPr lang="en-US"/>
              <a:t>, not hardware</a:t>
            </a:r>
          </a:p>
          <a:p>
            <a:r>
              <a:rPr lang="en-US"/>
              <a:t>A processor can run a thread</a:t>
            </a:r>
          </a:p>
          <a:p>
            <a:r>
              <a:rPr lang="en-US"/>
              <a:t>Put it aside</a:t>
            </a:r>
          </a:p>
          <a:p>
            <a:pPr lvl="1"/>
            <a:r>
              <a:rPr lang="en-US"/>
              <a:t>Thread does I/O</a:t>
            </a:r>
          </a:p>
          <a:p>
            <a:pPr lvl="1"/>
            <a:r>
              <a:rPr lang="en-US"/>
              <a:t>Thread runs out of time</a:t>
            </a:r>
          </a:p>
          <a:p>
            <a:r>
              <a:rPr lang="en-US"/>
              <a:t>Run another thread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3"/>
          <p:cNvSpPr>
            <a:spLocks noGrp="1"/>
          </p:cNvSpPr>
          <p:nvPr>
            <p:ph type="ftr" sz="quarter" idx="10"/>
          </p:nvPr>
        </p:nvSpPr>
        <p:spPr>
          <a:noFill/>
        </p:spPr>
        <p:txBody>
          <a:bodyPr/>
          <a:lstStyle/>
          <a:p>
            <a:r>
              <a:rPr lang="en-US"/>
              <a:t>Art of Multiprocessor Programming</a:t>
            </a:r>
          </a:p>
        </p:txBody>
      </p:sp>
      <p:sp>
        <p:nvSpPr>
          <p:cNvPr id="15363" name="Slide Number Placeholder 4"/>
          <p:cNvSpPr>
            <a:spLocks noGrp="1"/>
          </p:cNvSpPr>
          <p:nvPr>
            <p:ph type="sldNum" sz="quarter" idx="11"/>
          </p:nvPr>
        </p:nvSpPr>
        <p:spPr>
          <a:noFill/>
        </p:spPr>
        <p:txBody>
          <a:bodyPr/>
          <a:lstStyle/>
          <a:p>
            <a:fld id="{573F81FE-ADB7-4902-AA92-30BE8ABC9F65}" type="slidenum">
              <a:rPr lang="ar-SA" smtClean="0"/>
              <a:pPr/>
              <a:t>14</a:t>
            </a:fld>
            <a:endParaRPr lang="en-US"/>
          </a:p>
        </p:txBody>
      </p:sp>
      <p:sp>
        <p:nvSpPr>
          <p:cNvPr id="15364" name="Rectangle 2"/>
          <p:cNvSpPr>
            <a:spLocks noGrp="1" noChangeArrowheads="1"/>
          </p:cNvSpPr>
          <p:nvPr>
            <p:ph type="title"/>
          </p:nvPr>
        </p:nvSpPr>
        <p:spPr/>
        <p:txBody>
          <a:bodyPr/>
          <a:lstStyle/>
          <a:p>
            <a:r>
              <a:rPr lang="en-US"/>
              <a:t>Analogy</a:t>
            </a:r>
          </a:p>
        </p:txBody>
      </p:sp>
      <p:sp>
        <p:nvSpPr>
          <p:cNvPr id="15365" name="Rectangle 3"/>
          <p:cNvSpPr>
            <a:spLocks noGrp="1" noChangeArrowheads="1"/>
          </p:cNvSpPr>
          <p:nvPr>
            <p:ph type="body" idx="1"/>
          </p:nvPr>
        </p:nvSpPr>
        <p:spPr/>
        <p:txBody>
          <a:bodyPr/>
          <a:lstStyle/>
          <a:p>
            <a:pPr>
              <a:lnSpc>
                <a:spcPct val="90000"/>
              </a:lnSpc>
            </a:pPr>
            <a:r>
              <a:rPr lang="en-US"/>
              <a:t>You work in an office</a:t>
            </a:r>
          </a:p>
          <a:p>
            <a:pPr>
              <a:lnSpc>
                <a:spcPct val="90000"/>
              </a:lnSpc>
            </a:pPr>
            <a:r>
              <a:rPr lang="en-US"/>
              <a:t>When you leave for lunch, someone else takes over your office.</a:t>
            </a:r>
          </a:p>
          <a:p>
            <a:pPr>
              <a:lnSpc>
                <a:spcPct val="90000"/>
              </a:lnSpc>
            </a:pPr>
            <a:r>
              <a:rPr lang="en-US"/>
              <a:t>If you don’t take a break, a security guard shows up and escorts you to the cafeteria.</a:t>
            </a:r>
          </a:p>
          <a:p>
            <a:pPr>
              <a:lnSpc>
                <a:spcPct val="90000"/>
              </a:lnSpc>
            </a:pPr>
            <a:r>
              <a:rPr lang="en-US"/>
              <a:t>When you return, you may get a different office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0"/>
          </p:nvPr>
        </p:nvSpPr>
        <p:spPr>
          <a:noFill/>
        </p:spPr>
        <p:txBody>
          <a:bodyPr/>
          <a:lstStyle/>
          <a:p>
            <a:r>
              <a:rPr lang="en-US"/>
              <a:t>Art of Multiprocessor Programming</a:t>
            </a:r>
          </a:p>
        </p:txBody>
      </p:sp>
      <p:sp>
        <p:nvSpPr>
          <p:cNvPr id="16387" name="Slide Number Placeholder 4"/>
          <p:cNvSpPr>
            <a:spLocks noGrp="1"/>
          </p:cNvSpPr>
          <p:nvPr>
            <p:ph type="sldNum" sz="quarter" idx="11"/>
          </p:nvPr>
        </p:nvSpPr>
        <p:spPr>
          <a:noFill/>
        </p:spPr>
        <p:txBody>
          <a:bodyPr/>
          <a:lstStyle/>
          <a:p>
            <a:fld id="{DB7E486F-D63D-4AB0-B3C2-57848D3ED81B}" type="slidenum">
              <a:rPr lang="ar-SA" smtClean="0"/>
              <a:pPr/>
              <a:t>15</a:t>
            </a:fld>
            <a:endParaRPr lang="en-US"/>
          </a:p>
        </p:txBody>
      </p:sp>
      <p:sp>
        <p:nvSpPr>
          <p:cNvPr id="16388" name="Rectangle 2"/>
          <p:cNvSpPr>
            <a:spLocks noGrp="1" noChangeArrowheads="1"/>
          </p:cNvSpPr>
          <p:nvPr>
            <p:ph type="title"/>
          </p:nvPr>
        </p:nvSpPr>
        <p:spPr/>
        <p:txBody>
          <a:bodyPr/>
          <a:lstStyle/>
          <a:p>
            <a:r>
              <a:rPr lang="en-US"/>
              <a:t>Interconnect</a:t>
            </a:r>
          </a:p>
        </p:txBody>
      </p:sp>
      <p:sp>
        <p:nvSpPr>
          <p:cNvPr id="16389" name="Rectangle 3"/>
          <p:cNvSpPr>
            <a:spLocks noGrp="1" noChangeArrowheads="1"/>
          </p:cNvSpPr>
          <p:nvPr>
            <p:ph type="body" idx="1"/>
          </p:nvPr>
        </p:nvSpPr>
        <p:spPr/>
        <p:txBody>
          <a:bodyPr/>
          <a:lstStyle/>
          <a:p>
            <a:r>
              <a:rPr lang="en-US" sz="2800"/>
              <a:t>Bus</a:t>
            </a:r>
          </a:p>
          <a:p>
            <a:pPr lvl="1"/>
            <a:r>
              <a:rPr lang="en-US" sz="2400"/>
              <a:t>Like a tiny Ethernet</a:t>
            </a:r>
          </a:p>
          <a:p>
            <a:pPr lvl="1"/>
            <a:r>
              <a:rPr lang="en-US" sz="2400"/>
              <a:t>Broadcast medium</a:t>
            </a:r>
          </a:p>
          <a:p>
            <a:pPr lvl="1"/>
            <a:r>
              <a:rPr lang="en-US" sz="2400"/>
              <a:t>Connects</a:t>
            </a:r>
          </a:p>
          <a:p>
            <a:pPr lvl="2"/>
            <a:r>
              <a:rPr lang="en-US" sz="2000"/>
              <a:t>Processors to memory</a:t>
            </a:r>
          </a:p>
          <a:p>
            <a:pPr lvl="2"/>
            <a:r>
              <a:rPr lang="en-US" sz="2000"/>
              <a:t>Processors to processors</a:t>
            </a:r>
          </a:p>
          <a:p>
            <a:r>
              <a:rPr lang="en-US" sz="2800"/>
              <a:t>Network</a:t>
            </a:r>
          </a:p>
          <a:p>
            <a:pPr lvl="1"/>
            <a:r>
              <a:rPr lang="en-US" sz="2400"/>
              <a:t>Tiny LAN</a:t>
            </a:r>
          </a:p>
          <a:p>
            <a:pPr lvl="1"/>
            <a:r>
              <a:rPr lang="en-US" sz="2400"/>
              <a:t>Mostly used on </a:t>
            </a:r>
          </a:p>
          <a:p>
            <a:pPr lvl="1">
              <a:buFontTx/>
              <a:buNone/>
            </a:pPr>
            <a:r>
              <a:rPr lang="en-US" sz="2400"/>
              <a:t>   large machines</a:t>
            </a:r>
          </a:p>
        </p:txBody>
      </p:sp>
      <p:grpSp>
        <p:nvGrpSpPr>
          <p:cNvPr id="16390" name="Group 45"/>
          <p:cNvGrpSpPr>
            <a:grpSpLocks/>
          </p:cNvGrpSpPr>
          <p:nvPr/>
        </p:nvGrpSpPr>
        <p:grpSpPr bwMode="auto">
          <a:xfrm>
            <a:off x="5800725" y="1933575"/>
            <a:ext cx="2192338" cy="2071777"/>
            <a:chOff x="2036763" y="1928813"/>
            <a:chExt cx="2058987" cy="2530882"/>
          </a:xfrm>
        </p:grpSpPr>
        <p:pic>
          <p:nvPicPr>
            <p:cNvPr id="1650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6507" name="Text Box 4"/>
            <p:cNvSpPr txBox="1">
              <a:spLocks noChangeArrowheads="1"/>
            </p:cNvSpPr>
            <p:nvPr/>
          </p:nvSpPr>
          <p:spPr bwMode="auto">
            <a:xfrm>
              <a:off x="2706688" y="3895725"/>
              <a:ext cx="799721" cy="563970"/>
            </a:xfrm>
            <a:prstGeom prst="rect">
              <a:avLst/>
            </a:prstGeom>
            <a:noFill/>
            <a:ln w="9525">
              <a:noFill/>
              <a:miter lim="800000"/>
              <a:headEnd/>
              <a:tailEnd/>
            </a:ln>
          </p:spPr>
          <p:txBody>
            <a:bodyPr wrap="none">
              <a:spAutoFit/>
            </a:bodyPr>
            <a:lstStyle/>
            <a:p>
              <a:pPr eaLnBrk="1" hangingPunct="1"/>
              <a:r>
                <a:rPr lang="en-US" sz="2400" dirty="0">
                  <a:solidFill>
                    <a:schemeClr val="tx1"/>
                  </a:solidFill>
                  <a:latin typeface="Arial" pitchFamily="34" charset="0"/>
                </a:rPr>
                <a:t>SMP</a:t>
              </a:r>
            </a:p>
          </p:txBody>
        </p:sp>
        <p:grpSp>
          <p:nvGrpSpPr>
            <p:cNvPr id="16508" name="Group 5"/>
            <p:cNvGrpSpPr>
              <a:grpSpLocks/>
            </p:cNvGrpSpPr>
            <p:nvPr/>
          </p:nvGrpSpPr>
          <p:grpSpPr bwMode="auto">
            <a:xfrm>
              <a:off x="2128838" y="1928813"/>
              <a:ext cx="1838325" cy="511175"/>
              <a:chOff x="436" y="1017"/>
              <a:chExt cx="2908" cy="808"/>
            </a:xfrm>
          </p:grpSpPr>
          <p:grpSp>
            <p:nvGrpSpPr>
              <p:cNvPr id="16515" name="Group 6"/>
              <p:cNvGrpSpPr>
                <a:grpSpLocks/>
              </p:cNvGrpSpPr>
              <p:nvPr/>
            </p:nvGrpSpPr>
            <p:grpSpPr bwMode="auto">
              <a:xfrm>
                <a:off x="1534" y="1052"/>
                <a:ext cx="712" cy="739"/>
                <a:chOff x="2496" y="2725"/>
                <a:chExt cx="712" cy="739"/>
              </a:xfrm>
            </p:grpSpPr>
            <p:sp>
              <p:nvSpPr>
                <p:cNvPr id="16536" name="Rectangle 7"/>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6537" name="Freeform 8"/>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nvGrpSpPr>
                <p:cNvPr id="16538" name="Group 9"/>
                <p:cNvGrpSpPr>
                  <a:grpSpLocks/>
                </p:cNvGrpSpPr>
                <p:nvPr/>
              </p:nvGrpSpPr>
              <p:grpSpPr bwMode="auto">
                <a:xfrm>
                  <a:off x="3072" y="2832"/>
                  <a:ext cx="136" cy="632"/>
                  <a:chOff x="3072" y="2832"/>
                  <a:chExt cx="136" cy="632"/>
                </a:xfrm>
              </p:grpSpPr>
              <p:sp>
                <p:nvSpPr>
                  <p:cNvPr id="16543" name="Freeform 1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44" name="Freeform 11"/>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45" name="Freeform 12"/>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6539" name="Group 13"/>
                <p:cNvGrpSpPr>
                  <a:grpSpLocks/>
                </p:cNvGrpSpPr>
                <p:nvPr/>
              </p:nvGrpSpPr>
              <p:grpSpPr bwMode="auto">
                <a:xfrm flipH="1">
                  <a:off x="2496" y="2832"/>
                  <a:ext cx="136" cy="632"/>
                  <a:chOff x="3072" y="2832"/>
                  <a:chExt cx="136" cy="632"/>
                </a:xfrm>
              </p:grpSpPr>
              <p:sp>
                <p:nvSpPr>
                  <p:cNvPr id="16540" name="Freeform 1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41" name="Freeform 15"/>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42" name="Freeform 16"/>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grpSp>
            <p:nvGrpSpPr>
              <p:cNvPr id="16516" name="Group 17"/>
              <p:cNvGrpSpPr>
                <a:grpSpLocks/>
              </p:cNvGrpSpPr>
              <p:nvPr/>
            </p:nvGrpSpPr>
            <p:grpSpPr bwMode="auto">
              <a:xfrm>
                <a:off x="2488" y="1017"/>
                <a:ext cx="856" cy="808"/>
                <a:chOff x="1008" y="2720"/>
                <a:chExt cx="856" cy="808"/>
              </a:xfrm>
            </p:grpSpPr>
            <p:sp>
              <p:nvSpPr>
                <p:cNvPr id="16527" name="Rectangle 18"/>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6528" name="Freeform 1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29" name="Freeform 2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30" name="Freeform 2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31" name="Freeform 2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532" name="Freeform 2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533" name="Freeform 2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34" name="Freeform 2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35" name="Freeform 2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6517" name="Group 27"/>
              <p:cNvGrpSpPr>
                <a:grpSpLocks/>
              </p:cNvGrpSpPr>
              <p:nvPr/>
            </p:nvGrpSpPr>
            <p:grpSpPr bwMode="auto">
              <a:xfrm flipH="1">
                <a:off x="436" y="1017"/>
                <a:ext cx="856" cy="808"/>
                <a:chOff x="1008" y="2720"/>
                <a:chExt cx="856" cy="808"/>
              </a:xfrm>
            </p:grpSpPr>
            <p:sp>
              <p:nvSpPr>
                <p:cNvPr id="16518" name="Rectangle 28"/>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16519" name="Freeform 2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20" name="Freeform 3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21" name="Freeform 3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22" name="Freeform 3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523" name="Freeform 3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524" name="Freeform 3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25" name="Freeform 3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26" name="Freeform 3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sp>
          <p:nvSpPr>
            <p:cNvPr id="16509" name="AutoShape 37"/>
            <p:cNvSpPr>
              <a:spLocks noChangeArrowheads="1"/>
            </p:cNvSpPr>
            <p:nvPr/>
          </p:nvSpPr>
          <p:spPr bwMode="auto">
            <a:xfrm>
              <a:off x="2036763" y="2560638"/>
              <a:ext cx="2022475" cy="393700"/>
            </a:xfrm>
            <a:prstGeom prst="leftRightArrow">
              <a:avLst>
                <a:gd name="adj1" fmla="val 50000"/>
                <a:gd name="adj2" fmla="val 102742"/>
              </a:avLst>
            </a:prstGeom>
            <a:solidFill>
              <a:srgbClr val="FFFF99"/>
            </a:solidFill>
            <a:ln w="38100">
              <a:solidFill>
                <a:schemeClr val="tx1"/>
              </a:solidFill>
              <a:miter lim="800000"/>
              <a:headEnd/>
              <a:tailEnd/>
            </a:ln>
          </p:spPr>
          <p:txBody>
            <a:bodyPr wrap="none" anchor="ctr"/>
            <a:lstStyle/>
            <a:p>
              <a:endParaRPr lang="en-US" dirty="0">
                <a:latin typeface="Arial" pitchFamily="34" charset="0"/>
              </a:endParaRPr>
            </a:p>
          </p:txBody>
        </p:sp>
        <p:sp>
          <p:nvSpPr>
            <p:cNvPr id="16510" name="Rectangle 38"/>
            <p:cNvSpPr>
              <a:spLocks noChangeArrowheads="1"/>
            </p:cNvSpPr>
            <p:nvPr/>
          </p:nvSpPr>
          <p:spPr bwMode="auto">
            <a:xfrm>
              <a:off x="2054225" y="3081338"/>
              <a:ext cx="2041525" cy="552450"/>
            </a:xfrm>
            <a:prstGeom prst="rect">
              <a:avLst/>
            </a:prstGeom>
            <a:solidFill>
              <a:schemeClr val="accent1"/>
            </a:solidFill>
            <a:ln w="38100">
              <a:solidFill>
                <a:schemeClr val="tx1"/>
              </a:solidFill>
              <a:miter lim="800000"/>
              <a:headEnd/>
              <a:tailEnd/>
            </a:ln>
          </p:spPr>
          <p:txBody>
            <a:bodyPr wrap="none" anchor="ctr"/>
            <a:lstStyle/>
            <a:p>
              <a:pPr algn="ctr"/>
              <a:r>
                <a:rPr lang="en-US" sz="3200" b="0" dirty="0">
                  <a:solidFill>
                    <a:schemeClr val="bg1"/>
                  </a:solidFill>
                  <a:latin typeface="Arial" pitchFamily="34" charset="0"/>
                </a:rPr>
                <a:t>memory</a:t>
              </a:r>
            </a:p>
          </p:txBody>
        </p:sp>
        <p:sp>
          <p:nvSpPr>
            <p:cNvPr id="16511" name="Line 39"/>
            <p:cNvSpPr>
              <a:spLocks noChangeShapeType="1"/>
            </p:cNvSpPr>
            <p:nvPr/>
          </p:nvSpPr>
          <p:spPr bwMode="auto">
            <a:xfrm>
              <a:off x="2530475" y="2424113"/>
              <a:ext cx="0" cy="250825"/>
            </a:xfrm>
            <a:prstGeom prst="line">
              <a:avLst/>
            </a:prstGeom>
            <a:noFill/>
            <a:ln w="76200">
              <a:solidFill>
                <a:srgbClr val="FF0000"/>
              </a:solidFill>
              <a:round/>
              <a:headEnd/>
              <a:tailEnd/>
            </a:ln>
          </p:spPr>
          <p:txBody>
            <a:bodyPr wrap="none" anchor="ctr"/>
            <a:lstStyle/>
            <a:p>
              <a:endParaRPr lang="en-US" dirty="0">
                <a:latin typeface="Arial" pitchFamily="34" charset="0"/>
              </a:endParaRPr>
            </a:p>
          </p:txBody>
        </p:sp>
        <p:sp>
          <p:nvSpPr>
            <p:cNvPr id="16512" name="Line 40"/>
            <p:cNvSpPr>
              <a:spLocks noChangeShapeType="1"/>
            </p:cNvSpPr>
            <p:nvPr/>
          </p:nvSpPr>
          <p:spPr bwMode="auto">
            <a:xfrm>
              <a:off x="3060700" y="2424113"/>
              <a:ext cx="1588" cy="233362"/>
            </a:xfrm>
            <a:prstGeom prst="line">
              <a:avLst/>
            </a:prstGeom>
            <a:noFill/>
            <a:ln w="76200">
              <a:solidFill>
                <a:srgbClr val="FF0000"/>
              </a:solidFill>
              <a:round/>
              <a:headEnd/>
              <a:tailEnd/>
            </a:ln>
          </p:spPr>
          <p:txBody>
            <a:bodyPr wrap="none" anchor="ctr"/>
            <a:lstStyle/>
            <a:p>
              <a:endParaRPr lang="en-US" dirty="0">
                <a:latin typeface="Arial" pitchFamily="34" charset="0"/>
              </a:endParaRPr>
            </a:p>
          </p:txBody>
        </p:sp>
        <p:sp>
          <p:nvSpPr>
            <p:cNvPr id="16513" name="Line 41"/>
            <p:cNvSpPr>
              <a:spLocks noChangeShapeType="1"/>
            </p:cNvSpPr>
            <p:nvPr/>
          </p:nvSpPr>
          <p:spPr bwMode="auto">
            <a:xfrm>
              <a:off x="3587750" y="2409825"/>
              <a:ext cx="3175" cy="233363"/>
            </a:xfrm>
            <a:prstGeom prst="line">
              <a:avLst/>
            </a:prstGeom>
            <a:noFill/>
            <a:ln w="76200">
              <a:solidFill>
                <a:srgbClr val="FF0000"/>
              </a:solidFill>
              <a:round/>
              <a:headEnd/>
              <a:tailEnd/>
            </a:ln>
          </p:spPr>
          <p:txBody>
            <a:bodyPr wrap="none" anchor="ctr"/>
            <a:lstStyle/>
            <a:p>
              <a:endParaRPr lang="en-US" dirty="0">
                <a:latin typeface="Arial" pitchFamily="34" charset="0"/>
              </a:endParaRPr>
            </a:p>
          </p:txBody>
        </p:sp>
        <p:sp>
          <p:nvSpPr>
            <p:cNvPr id="16514" name="Line 42"/>
            <p:cNvSpPr>
              <a:spLocks noChangeShapeType="1"/>
            </p:cNvSpPr>
            <p:nvPr/>
          </p:nvSpPr>
          <p:spPr bwMode="auto">
            <a:xfrm>
              <a:off x="3054350" y="2854325"/>
              <a:ext cx="1588" cy="233363"/>
            </a:xfrm>
            <a:prstGeom prst="line">
              <a:avLst/>
            </a:prstGeom>
            <a:noFill/>
            <a:ln w="76200">
              <a:solidFill>
                <a:srgbClr val="FF0000"/>
              </a:solidFill>
              <a:round/>
              <a:headEnd/>
              <a:tailEnd/>
            </a:ln>
          </p:spPr>
          <p:txBody>
            <a:bodyPr wrap="none" anchor="ctr"/>
            <a:lstStyle/>
            <a:p>
              <a:endParaRPr lang="en-US" dirty="0">
                <a:latin typeface="Arial" pitchFamily="34" charset="0"/>
              </a:endParaRPr>
            </a:p>
          </p:txBody>
        </p:sp>
      </p:grpSp>
      <p:grpSp>
        <p:nvGrpSpPr>
          <p:cNvPr id="16391" name="Group 44"/>
          <p:cNvGrpSpPr>
            <a:grpSpLocks/>
          </p:cNvGrpSpPr>
          <p:nvPr/>
        </p:nvGrpSpPr>
        <p:grpSpPr bwMode="auto">
          <a:xfrm>
            <a:off x="5508625" y="4186238"/>
            <a:ext cx="2765425" cy="2257425"/>
            <a:chOff x="3411" y="1195"/>
            <a:chExt cx="2337" cy="1908"/>
          </a:xfrm>
        </p:grpSpPr>
        <p:sp>
          <p:nvSpPr>
            <p:cNvPr id="16392" name="Line 45"/>
            <p:cNvSpPr>
              <a:spLocks noChangeShapeType="1"/>
            </p:cNvSpPr>
            <p:nvPr/>
          </p:nvSpPr>
          <p:spPr bwMode="auto">
            <a:xfrm flipV="1">
              <a:off x="3661" y="1989"/>
              <a:ext cx="1637" cy="9"/>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16393" name="Line 46"/>
            <p:cNvSpPr>
              <a:spLocks noChangeShapeType="1"/>
            </p:cNvSpPr>
            <p:nvPr/>
          </p:nvSpPr>
          <p:spPr bwMode="auto">
            <a:xfrm flipV="1">
              <a:off x="3647" y="2661"/>
              <a:ext cx="1637" cy="9"/>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16394" name="Line 47"/>
            <p:cNvSpPr>
              <a:spLocks noChangeShapeType="1"/>
            </p:cNvSpPr>
            <p:nvPr/>
          </p:nvSpPr>
          <p:spPr bwMode="auto">
            <a:xfrm flipV="1">
              <a:off x="3675" y="1317"/>
              <a:ext cx="1637" cy="9"/>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16395" name="Line 48"/>
            <p:cNvSpPr>
              <a:spLocks noChangeShapeType="1"/>
            </p:cNvSpPr>
            <p:nvPr/>
          </p:nvSpPr>
          <p:spPr bwMode="auto">
            <a:xfrm flipH="1">
              <a:off x="3639" y="1372"/>
              <a:ext cx="9" cy="1325"/>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16396" name="Line 49"/>
            <p:cNvSpPr>
              <a:spLocks noChangeShapeType="1"/>
            </p:cNvSpPr>
            <p:nvPr/>
          </p:nvSpPr>
          <p:spPr bwMode="auto">
            <a:xfrm flipH="1">
              <a:off x="4485" y="1372"/>
              <a:ext cx="9" cy="1325"/>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sp>
          <p:nvSpPr>
            <p:cNvPr id="16397" name="Line 50"/>
            <p:cNvSpPr>
              <a:spLocks noChangeShapeType="1"/>
            </p:cNvSpPr>
            <p:nvPr/>
          </p:nvSpPr>
          <p:spPr bwMode="auto">
            <a:xfrm flipH="1">
              <a:off x="5285" y="1372"/>
              <a:ext cx="9" cy="1325"/>
            </a:xfrm>
            <a:prstGeom prst="line">
              <a:avLst/>
            </a:prstGeom>
            <a:noFill/>
            <a:ln w="76200">
              <a:solidFill>
                <a:schemeClr val="tx1"/>
              </a:solidFill>
              <a:round/>
              <a:headEnd/>
              <a:tailEnd/>
            </a:ln>
          </p:spPr>
          <p:txBody>
            <a:bodyPr wrap="none" anchor="ctr"/>
            <a:lstStyle/>
            <a:p>
              <a:endParaRPr lang="en-US" dirty="0">
                <a:latin typeface="Arial" pitchFamily="34" charset="0"/>
              </a:endParaRPr>
            </a:p>
          </p:txBody>
        </p:sp>
        <p:grpSp>
          <p:nvGrpSpPr>
            <p:cNvPr id="16398" name="Group 51"/>
            <p:cNvGrpSpPr>
              <a:grpSpLocks/>
            </p:cNvGrpSpPr>
            <p:nvPr/>
          </p:nvGrpSpPr>
          <p:grpSpPr bwMode="auto">
            <a:xfrm>
              <a:off x="3411" y="1195"/>
              <a:ext cx="641" cy="572"/>
              <a:chOff x="3411" y="1193"/>
              <a:chExt cx="641" cy="572"/>
            </a:xfrm>
          </p:grpSpPr>
          <p:grpSp>
            <p:nvGrpSpPr>
              <p:cNvPr id="16495" name="Group 52"/>
              <p:cNvGrpSpPr>
                <a:grpSpLocks/>
              </p:cNvGrpSpPr>
              <p:nvPr/>
            </p:nvGrpSpPr>
            <p:grpSpPr bwMode="auto">
              <a:xfrm>
                <a:off x="3411" y="1193"/>
                <a:ext cx="437" cy="391"/>
                <a:chOff x="1584" y="816"/>
                <a:chExt cx="912" cy="816"/>
              </a:xfrm>
            </p:grpSpPr>
            <p:sp>
              <p:nvSpPr>
                <p:cNvPr id="16497" name="Freeform 5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98" name="Freeform 5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99" name="Freeform 55"/>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00" name="Freeform 5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501" name="Freeform 5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502" name="Freeform 5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503" name="Freeform 59"/>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04" name="Freeform 60"/>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05" name="Freeform 61"/>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6496" name="Freeform 62"/>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6399" name="Group 63"/>
            <p:cNvGrpSpPr>
              <a:grpSpLocks/>
            </p:cNvGrpSpPr>
            <p:nvPr/>
          </p:nvGrpSpPr>
          <p:grpSpPr bwMode="auto">
            <a:xfrm>
              <a:off x="4225" y="1196"/>
              <a:ext cx="641" cy="572"/>
              <a:chOff x="3411" y="1193"/>
              <a:chExt cx="641" cy="572"/>
            </a:xfrm>
          </p:grpSpPr>
          <p:grpSp>
            <p:nvGrpSpPr>
              <p:cNvPr id="16484" name="Group 64"/>
              <p:cNvGrpSpPr>
                <a:grpSpLocks/>
              </p:cNvGrpSpPr>
              <p:nvPr/>
            </p:nvGrpSpPr>
            <p:grpSpPr bwMode="auto">
              <a:xfrm>
                <a:off x="3411" y="1193"/>
                <a:ext cx="437" cy="391"/>
                <a:chOff x="1584" y="816"/>
                <a:chExt cx="912" cy="816"/>
              </a:xfrm>
            </p:grpSpPr>
            <p:sp>
              <p:nvSpPr>
                <p:cNvPr id="16486" name="Freeform 6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87" name="Freeform 6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88" name="Freeform 67"/>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89" name="Freeform 6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90" name="Freeform 6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91" name="Freeform 7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92" name="Freeform 71"/>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93" name="Freeform 72"/>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94" name="Freeform 73"/>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6485" name="Freeform 74"/>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6400" name="Group 75"/>
            <p:cNvGrpSpPr>
              <a:grpSpLocks/>
            </p:cNvGrpSpPr>
            <p:nvPr/>
          </p:nvGrpSpPr>
          <p:grpSpPr bwMode="auto">
            <a:xfrm>
              <a:off x="5039" y="1195"/>
              <a:ext cx="641" cy="572"/>
              <a:chOff x="3411" y="1193"/>
              <a:chExt cx="641" cy="572"/>
            </a:xfrm>
          </p:grpSpPr>
          <p:grpSp>
            <p:nvGrpSpPr>
              <p:cNvPr id="16473" name="Group 76"/>
              <p:cNvGrpSpPr>
                <a:grpSpLocks/>
              </p:cNvGrpSpPr>
              <p:nvPr/>
            </p:nvGrpSpPr>
            <p:grpSpPr bwMode="auto">
              <a:xfrm>
                <a:off x="3411" y="1193"/>
                <a:ext cx="437" cy="391"/>
                <a:chOff x="1584" y="816"/>
                <a:chExt cx="912" cy="816"/>
              </a:xfrm>
            </p:grpSpPr>
            <p:sp>
              <p:nvSpPr>
                <p:cNvPr id="16475" name="Freeform 7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76" name="Freeform 7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77" name="Freeform 79"/>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78" name="Freeform 8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79" name="Freeform 8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80" name="Freeform 8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81" name="Freeform 83"/>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82" name="Freeform 84"/>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83" name="Freeform 85"/>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6474" name="Freeform 86"/>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6401" name="Group 87"/>
            <p:cNvGrpSpPr>
              <a:grpSpLocks/>
            </p:cNvGrpSpPr>
            <p:nvPr/>
          </p:nvGrpSpPr>
          <p:grpSpPr bwMode="auto">
            <a:xfrm>
              <a:off x="3461" y="1872"/>
              <a:ext cx="641" cy="572"/>
              <a:chOff x="3411" y="1193"/>
              <a:chExt cx="641" cy="572"/>
            </a:xfrm>
          </p:grpSpPr>
          <p:grpSp>
            <p:nvGrpSpPr>
              <p:cNvPr id="16462" name="Group 88"/>
              <p:cNvGrpSpPr>
                <a:grpSpLocks/>
              </p:cNvGrpSpPr>
              <p:nvPr/>
            </p:nvGrpSpPr>
            <p:grpSpPr bwMode="auto">
              <a:xfrm>
                <a:off x="3411" y="1193"/>
                <a:ext cx="437" cy="391"/>
                <a:chOff x="1584" y="816"/>
                <a:chExt cx="912" cy="816"/>
              </a:xfrm>
            </p:grpSpPr>
            <p:sp>
              <p:nvSpPr>
                <p:cNvPr id="16464" name="Freeform 8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65" name="Freeform 9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66" name="Freeform 91"/>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67" name="Freeform 9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68" name="Freeform 9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69" name="Freeform 9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70" name="Freeform 95"/>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71" name="Freeform 96"/>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72" name="Freeform 97"/>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6463" name="Freeform 98"/>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6402" name="Group 99"/>
            <p:cNvGrpSpPr>
              <a:grpSpLocks/>
            </p:cNvGrpSpPr>
            <p:nvPr/>
          </p:nvGrpSpPr>
          <p:grpSpPr bwMode="auto">
            <a:xfrm>
              <a:off x="4284" y="1872"/>
              <a:ext cx="641" cy="572"/>
              <a:chOff x="3411" y="1193"/>
              <a:chExt cx="641" cy="572"/>
            </a:xfrm>
          </p:grpSpPr>
          <p:grpSp>
            <p:nvGrpSpPr>
              <p:cNvPr id="16451" name="Group 100"/>
              <p:cNvGrpSpPr>
                <a:grpSpLocks/>
              </p:cNvGrpSpPr>
              <p:nvPr/>
            </p:nvGrpSpPr>
            <p:grpSpPr bwMode="auto">
              <a:xfrm>
                <a:off x="3411" y="1193"/>
                <a:ext cx="437" cy="391"/>
                <a:chOff x="1584" y="816"/>
                <a:chExt cx="912" cy="816"/>
              </a:xfrm>
            </p:grpSpPr>
            <p:sp>
              <p:nvSpPr>
                <p:cNvPr id="16453" name="Freeform 10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54" name="Freeform 10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55" name="Freeform 103"/>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56" name="Freeform 10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57" name="Freeform 10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58" name="Freeform 10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59" name="Freeform 107"/>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60" name="Freeform 108"/>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61" name="Freeform 109"/>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6452" name="Freeform 110"/>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6403" name="Group 111"/>
            <p:cNvGrpSpPr>
              <a:grpSpLocks/>
            </p:cNvGrpSpPr>
            <p:nvPr/>
          </p:nvGrpSpPr>
          <p:grpSpPr bwMode="auto">
            <a:xfrm>
              <a:off x="5107" y="1871"/>
              <a:ext cx="641" cy="572"/>
              <a:chOff x="3411" y="1193"/>
              <a:chExt cx="641" cy="572"/>
            </a:xfrm>
          </p:grpSpPr>
          <p:grpSp>
            <p:nvGrpSpPr>
              <p:cNvPr id="16440" name="Group 112"/>
              <p:cNvGrpSpPr>
                <a:grpSpLocks/>
              </p:cNvGrpSpPr>
              <p:nvPr/>
            </p:nvGrpSpPr>
            <p:grpSpPr bwMode="auto">
              <a:xfrm>
                <a:off x="3411" y="1193"/>
                <a:ext cx="437" cy="391"/>
                <a:chOff x="1584" y="816"/>
                <a:chExt cx="912" cy="816"/>
              </a:xfrm>
            </p:grpSpPr>
            <p:sp>
              <p:nvSpPr>
                <p:cNvPr id="16442" name="Freeform 11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43" name="Freeform 11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44" name="Freeform 115"/>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45" name="Freeform 11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46" name="Freeform 11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47" name="Freeform 11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48" name="Freeform 119"/>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49" name="Freeform 120"/>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50" name="Freeform 121"/>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6441" name="Freeform 122"/>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6404" name="Group 123"/>
            <p:cNvGrpSpPr>
              <a:grpSpLocks/>
            </p:cNvGrpSpPr>
            <p:nvPr/>
          </p:nvGrpSpPr>
          <p:grpSpPr bwMode="auto">
            <a:xfrm>
              <a:off x="3430" y="2530"/>
              <a:ext cx="641" cy="572"/>
              <a:chOff x="3411" y="1193"/>
              <a:chExt cx="641" cy="572"/>
            </a:xfrm>
          </p:grpSpPr>
          <p:grpSp>
            <p:nvGrpSpPr>
              <p:cNvPr id="16429" name="Group 124"/>
              <p:cNvGrpSpPr>
                <a:grpSpLocks/>
              </p:cNvGrpSpPr>
              <p:nvPr/>
            </p:nvGrpSpPr>
            <p:grpSpPr bwMode="auto">
              <a:xfrm>
                <a:off x="3411" y="1193"/>
                <a:ext cx="437" cy="391"/>
                <a:chOff x="1584" y="816"/>
                <a:chExt cx="912" cy="816"/>
              </a:xfrm>
            </p:grpSpPr>
            <p:sp>
              <p:nvSpPr>
                <p:cNvPr id="16431" name="Freeform 12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32" name="Freeform 12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33" name="Freeform 127"/>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34" name="Freeform 12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35" name="Freeform 12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36" name="Freeform 13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37" name="Freeform 131"/>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38" name="Freeform 132"/>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39" name="Freeform 133"/>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6430" name="Freeform 134"/>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6405" name="Group 135"/>
            <p:cNvGrpSpPr>
              <a:grpSpLocks/>
            </p:cNvGrpSpPr>
            <p:nvPr/>
          </p:nvGrpSpPr>
          <p:grpSpPr bwMode="auto">
            <a:xfrm>
              <a:off x="4244" y="2531"/>
              <a:ext cx="641" cy="572"/>
              <a:chOff x="3411" y="1193"/>
              <a:chExt cx="641" cy="572"/>
            </a:xfrm>
          </p:grpSpPr>
          <p:grpSp>
            <p:nvGrpSpPr>
              <p:cNvPr id="16418" name="Group 136"/>
              <p:cNvGrpSpPr>
                <a:grpSpLocks/>
              </p:cNvGrpSpPr>
              <p:nvPr/>
            </p:nvGrpSpPr>
            <p:grpSpPr bwMode="auto">
              <a:xfrm>
                <a:off x="3411" y="1193"/>
                <a:ext cx="437" cy="391"/>
                <a:chOff x="1584" y="816"/>
                <a:chExt cx="912" cy="816"/>
              </a:xfrm>
            </p:grpSpPr>
            <p:sp>
              <p:nvSpPr>
                <p:cNvPr id="16420" name="Freeform 13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21" name="Freeform 13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22" name="Freeform 139"/>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23" name="Freeform 14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24" name="Freeform 14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25" name="Freeform 14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26" name="Freeform 143"/>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27" name="Freeform 144"/>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28" name="Freeform 145"/>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6419" name="Freeform 146"/>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nvGrpSpPr>
            <p:cNvPr id="16406" name="Group 147"/>
            <p:cNvGrpSpPr>
              <a:grpSpLocks/>
            </p:cNvGrpSpPr>
            <p:nvPr/>
          </p:nvGrpSpPr>
          <p:grpSpPr bwMode="auto">
            <a:xfrm>
              <a:off x="5058" y="2530"/>
              <a:ext cx="641" cy="572"/>
              <a:chOff x="3411" y="1193"/>
              <a:chExt cx="641" cy="572"/>
            </a:xfrm>
          </p:grpSpPr>
          <p:grpSp>
            <p:nvGrpSpPr>
              <p:cNvPr id="16407" name="Group 148"/>
              <p:cNvGrpSpPr>
                <a:grpSpLocks/>
              </p:cNvGrpSpPr>
              <p:nvPr/>
            </p:nvGrpSpPr>
            <p:grpSpPr bwMode="auto">
              <a:xfrm>
                <a:off x="3411" y="1193"/>
                <a:ext cx="437" cy="391"/>
                <a:chOff x="1584" y="816"/>
                <a:chExt cx="912" cy="816"/>
              </a:xfrm>
            </p:grpSpPr>
            <p:sp>
              <p:nvSpPr>
                <p:cNvPr id="16409" name="Freeform 14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10" name="Freeform 15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11" name="Freeform 151"/>
                <p:cNvSpPr>
                  <a:spLocks/>
                </p:cNvSpPr>
                <p:nvPr/>
              </p:nvSpPr>
              <p:spPr bwMode="auto">
                <a:xfrm>
                  <a:off x="1920" y="816"/>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12" name="Freeform 15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13" name="Freeform 15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14" name="Freeform 15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415" name="Freeform 155"/>
                <p:cNvSpPr>
                  <a:spLocks/>
                </p:cNvSpPr>
                <p:nvPr/>
              </p:nvSpPr>
              <p:spPr bwMode="auto">
                <a:xfrm>
                  <a:off x="1920" y="1296"/>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16" name="Freeform 156"/>
                <p:cNvSpPr>
                  <a:spLocks/>
                </p:cNvSpPr>
                <p:nvPr/>
              </p:nvSpPr>
              <p:spPr bwMode="auto">
                <a:xfrm>
                  <a:off x="1728" y="1152"/>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17" name="Freeform 157"/>
                <p:cNvSpPr>
                  <a:spLocks/>
                </p:cNvSpPr>
                <p:nvPr/>
              </p:nvSpPr>
              <p:spPr bwMode="auto">
                <a:xfrm>
                  <a:off x="1584" y="1008"/>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6408" name="Freeform 158"/>
              <p:cNvSpPr>
                <a:spLocks/>
              </p:cNvSpPr>
              <p:nvPr/>
            </p:nvSpPr>
            <p:spPr bwMode="auto">
              <a:xfrm>
                <a:off x="3723" y="1500"/>
                <a:ext cx="329" cy="265"/>
              </a:xfrm>
              <a:custGeom>
                <a:avLst/>
                <a:gdLst>
                  <a:gd name="T0" fmla="*/ 0 w 329"/>
                  <a:gd name="T1" fmla="*/ 128 h 265"/>
                  <a:gd name="T2" fmla="*/ 219 w 329"/>
                  <a:gd name="T3" fmla="*/ 0 h 265"/>
                  <a:gd name="T4" fmla="*/ 329 w 329"/>
                  <a:gd name="T5" fmla="*/ 100 h 265"/>
                  <a:gd name="T6" fmla="*/ 128 w 329"/>
                  <a:gd name="T7" fmla="*/ 265 h 265"/>
                  <a:gd name="T8" fmla="*/ 0 w 329"/>
                  <a:gd name="T9" fmla="*/ 128 h 265"/>
                  <a:gd name="T10" fmla="*/ 0 60000 65536"/>
                  <a:gd name="T11" fmla="*/ 0 60000 65536"/>
                  <a:gd name="T12" fmla="*/ 0 60000 65536"/>
                  <a:gd name="T13" fmla="*/ 0 60000 65536"/>
                  <a:gd name="T14" fmla="*/ 0 60000 65536"/>
                  <a:gd name="T15" fmla="*/ 0 w 329"/>
                  <a:gd name="T16" fmla="*/ 0 h 265"/>
                  <a:gd name="T17" fmla="*/ 329 w 329"/>
                  <a:gd name="T18" fmla="*/ 265 h 265"/>
                </a:gdLst>
                <a:ahLst/>
                <a:cxnLst>
                  <a:cxn ang="T10">
                    <a:pos x="T0" y="T1"/>
                  </a:cxn>
                  <a:cxn ang="T11">
                    <a:pos x="T2" y="T3"/>
                  </a:cxn>
                  <a:cxn ang="T12">
                    <a:pos x="T4" y="T5"/>
                  </a:cxn>
                  <a:cxn ang="T13">
                    <a:pos x="T6" y="T7"/>
                  </a:cxn>
                  <a:cxn ang="T14">
                    <a:pos x="T8" y="T9"/>
                  </a:cxn>
                </a:cxnLst>
                <a:rect l="T15" t="T16" r="T17" b="T18"/>
                <a:pathLst>
                  <a:path w="329" h="265">
                    <a:moveTo>
                      <a:pt x="0" y="128"/>
                    </a:moveTo>
                    <a:lnTo>
                      <a:pt x="219" y="0"/>
                    </a:lnTo>
                    <a:lnTo>
                      <a:pt x="329" y="100"/>
                    </a:lnTo>
                    <a:lnTo>
                      <a:pt x="128" y="265"/>
                    </a:lnTo>
                    <a:lnTo>
                      <a:pt x="0" y="128"/>
                    </a:lnTo>
                    <a:close/>
                  </a:path>
                </a:pathLst>
              </a:cu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gr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0"/>
          </p:nvPr>
        </p:nvSpPr>
        <p:spPr>
          <a:noFill/>
        </p:spPr>
        <p:txBody>
          <a:bodyPr/>
          <a:lstStyle/>
          <a:p>
            <a:r>
              <a:rPr lang="en-US"/>
              <a:t>Art of Multiprocessor Programming</a:t>
            </a:r>
          </a:p>
        </p:txBody>
      </p:sp>
      <p:sp>
        <p:nvSpPr>
          <p:cNvPr id="17411" name="Slide Number Placeholder 4"/>
          <p:cNvSpPr>
            <a:spLocks noGrp="1"/>
          </p:cNvSpPr>
          <p:nvPr>
            <p:ph type="sldNum" sz="quarter" idx="11"/>
          </p:nvPr>
        </p:nvSpPr>
        <p:spPr>
          <a:noFill/>
        </p:spPr>
        <p:txBody>
          <a:bodyPr/>
          <a:lstStyle/>
          <a:p>
            <a:fld id="{7165FC25-31DB-4737-BED4-2CA26ADFFEE8}" type="slidenum">
              <a:rPr lang="ar-SA" smtClean="0"/>
              <a:pPr/>
              <a:t>16</a:t>
            </a:fld>
            <a:endParaRPr lang="en-US"/>
          </a:p>
        </p:txBody>
      </p:sp>
      <p:sp>
        <p:nvSpPr>
          <p:cNvPr id="17412" name="Rectangle 2"/>
          <p:cNvSpPr>
            <a:spLocks noGrp="1" noChangeArrowheads="1"/>
          </p:cNvSpPr>
          <p:nvPr>
            <p:ph type="title"/>
          </p:nvPr>
        </p:nvSpPr>
        <p:spPr/>
        <p:txBody>
          <a:bodyPr/>
          <a:lstStyle/>
          <a:p>
            <a:r>
              <a:rPr lang="en-US"/>
              <a:t>Interconnect</a:t>
            </a:r>
          </a:p>
        </p:txBody>
      </p:sp>
      <p:sp>
        <p:nvSpPr>
          <p:cNvPr id="17413" name="Rectangle 3"/>
          <p:cNvSpPr>
            <a:spLocks noGrp="1" noChangeArrowheads="1"/>
          </p:cNvSpPr>
          <p:nvPr>
            <p:ph type="body" idx="1"/>
          </p:nvPr>
        </p:nvSpPr>
        <p:spPr/>
        <p:txBody>
          <a:bodyPr/>
          <a:lstStyle/>
          <a:p>
            <a:r>
              <a:rPr lang="en-US"/>
              <a:t>Interconnect is a finite resource</a:t>
            </a:r>
          </a:p>
          <a:p>
            <a:r>
              <a:rPr lang="en-US"/>
              <a:t>Processors can be delayed if others are consuming too much</a:t>
            </a:r>
          </a:p>
          <a:p>
            <a:r>
              <a:rPr lang="en-US"/>
              <a:t>Avoid algorithms that use too much bandwidth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p:cNvSpPr>
            <a:spLocks noGrp="1"/>
          </p:cNvSpPr>
          <p:nvPr>
            <p:ph type="ftr" sz="quarter" idx="10"/>
          </p:nvPr>
        </p:nvSpPr>
        <p:spPr>
          <a:noFill/>
        </p:spPr>
        <p:txBody>
          <a:bodyPr/>
          <a:lstStyle/>
          <a:p>
            <a:r>
              <a:rPr lang="en-US"/>
              <a:t>Art of Multiprocessor Programming</a:t>
            </a:r>
          </a:p>
        </p:txBody>
      </p:sp>
      <p:sp>
        <p:nvSpPr>
          <p:cNvPr id="18435" name="Slide Number Placeholder 4"/>
          <p:cNvSpPr>
            <a:spLocks noGrp="1"/>
          </p:cNvSpPr>
          <p:nvPr>
            <p:ph type="sldNum" sz="quarter" idx="11"/>
          </p:nvPr>
        </p:nvSpPr>
        <p:spPr>
          <a:noFill/>
        </p:spPr>
        <p:txBody>
          <a:bodyPr/>
          <a:lstStyle/>
          <a:p>
            <a:fld id="{F76B136F-586A-462D-91E6-1C8E58212A17}" type="slidenum">
              <a:rPr lang="ar-SA" smtClean="0"/>
              <a:pPr/>
              <a:t>17</a:t>
            </a:fld>
            <a:endParaRPr lang="en-US"/>
          </a:p>
        </p:txBody>
      </p:sp>
      <p:pic>
        <p:nvPicPr>
          <p:cNvPr id="18436" name="Picture 18"/>
          <p:cNvPicPr>
            <a:picLocks noChangeAspect="1" noChangeArrowheads="1"/>
          </p:cNvPicPr>
          <p:nvPr/>
        </p:nvPicPr>
        <p:blipFill>
          <a:blip r:embed="rId3" cstate="print"/>
          <a:srcRect/>
          <a:stretch>
            <a:fillRect/>
          </a:stretch>
        </p:blipFill>
        <p:spPr bwMode="auto">
          <a:xfrm>
            <a:off x="5222875" y="1651000"/>
            <a:ext cx="3057525" cy="1873250"/>
          </a:xfrm>
          <a:prstGeom prst="rect">
            <a:avLst/>
          </a:prstGeom>
          <a:noFill/>
          <a:ln w="9525">
            <a:noFill/>
            <a:miter lim="800000"/>
            <a:headEnd/>
            <a:tailEnd/>
          </a:ln>
        </p:spPr>
      </p:pic>
      <p:sp>
        <p:nvSpPr>
          <p:cNvPr id="18437" name="Rectangle 2"/>
          <p:cNvSpPr>
            <a:spLocks noGrp="1" noChangeArrowheads="1"/>
          </p:cNvSpPr>
          <p:nvPr>
            <p:ph type="title"/>
          </p:nvPr>
        </p:nvSpPr>
        <p:spPr/>
        <p:txBody>
          <a:bodyPr/>
          <a:lstStyle/>
          <a:p>
            <a:r>
              <a:rPr lang="en-US" sz="4000"/>
              <a:t>Processor and Memory are Far Apart</a:t>
            </a:r>
          </a:p>
        </p:txBody>
      </p:sp>
      <p:grpSp>
        <p:nvGrpSpPr>
          <p:cNvPr id="18438" name="Group 4"/>
          <p:cNvGrpSpPr>
            <a:grpSpLocks/>
          </p:cNvGrpSpPr>
          <p:nvPr/>
        </p:nvGrpSpPr>
        <p:grpSpPr bwMode="auto">
          <a:xfrm flipH="1">
            <a:off x="1477963" y="4859338"/>
            <a:ext cx="1447800" cy="1295400"/>
            <a:chOff x="3168" y="1824"/>
            <a:chExt cx="912" cy="816"/>
          </a:xfrm>
        </p:grpSpPr>
        <p:sp>
          <p:nvSpPr>
            <p:cNvPr id="18446" name="Freeform 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8447" name="Freeform 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8448" name="Freeform 7"/>
            <p:cNvSpPr>
              <a:spLocks/>
            </p:cNvSpPr>
            <p:nvPr/>
          </p:nvSpPr>
          <p:spPr bwMode="auto">
            <a:xfrm>
              <a:off x="3504" y="1824"/>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8449" name="Freeform 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8450" name="Freeform 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8451" name="Freeform 1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8452" name="Freeform 11"/>
            <p:cNvSpPr>
              <a:spLocks/>
            </p:cNvSpPr>
            <p:nvPr/>
          </p:nvSpPr>
          <p:spPr bwMode="auto">
            <a:xfrm>
              <a:off x="3504" y="2304"/>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8453" name="Freeform 12"/>
            <p:cNvSpPr>
              <a:spLocks/>
            </p:cNvSpPr>
            <p:nvPr/>
          </p:nvSpPr>
          <p:spPr bwMode="auto">
            <a:xfrm>
              <a:off x="3312" y="2160"/>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8454" name="Freeform 13"/>
            <p:cNvSpPr>
              <a:spLocks/>
            </p:cNvSpPr>
            <p:nvPr/>
          </p:nvSpPr>
          <p:spPr bwMode="auto">
            <a:xfrm>
              <a:off x="3168" y="2016"/>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8439" name="Freeform 14"/>
          <p:cNvSpPr>
            <a:spLocks/>
          </p:cNvSpPr>
          <p:nvPr/>
        </p:nvSpPr>
        <p:spPr bwMode="auto">
          <a:xfrm>
            <a:off x="1409700" y="2838450"/>
            <a:ext cx="3702050" cy="1268413"/>
          </a:xfrm>
          <a:custGeom>
            <a:avLst/>
            <a:gdLst>
              <a:gd name="T0" fmla="*/ 0 w 2332"/>
              <a:gd name="T1" fmla="*/ 2147483647 h 799"/>
              <a:gd name="T2" fmla="*/ 2147483647 w 2332"/>
              <a:gd name="T3" fmla="*/ 2147483647 h 799"/>
              <a:gd name="T4" fmla="*/ 2147483647 w 2332"/>
              <a:gd name="T5" fmla="*/ 2147483647 h 799"/>
              <a:gd name="T6" fmla="*/ 0 60000 65536"/>
              <a:gd name="T7" fmla="*/ 0 60000 65536"/>
              <a:gd name="T8" fmla="*/ 0 60000 65536"/>
              <a:gd name="T9" fmla="*/ 0 w 2332"/>
              <a:gd name="T10" fmla="*/ 0 h 799"/>
              <a:gd name="T11" fmla="*/ 2332 w 2332"/>
              <a:gd name="T12" fmla="*/ 799 h 799"/>
            </a:gdLst>
            <a:ahLst/>
            <a:cxnLst>
              <a:cxn ang="T6">
                <a:pos x="T0" y="T1"/>
              </a:cxn>
              <a:cxn ang="T7">
                <a:pos x="T2" y="T3"/>
              </a:cxn>
              <a:cxn ang="T8">
                <a:pos x="T4" y="T5"/>
              </a:cxn>
            </a:cxnLst>
            <a:rect l="T9" t="T10" r="T11" b="T12"/>
            <a:pathLst>
              <a:path w="2332" h="799">
                <a:moveTo>
                  <a:pt x="0" y="478"/>
                </a:moveTo>
                <a:cubicBezTo>
                  <a:pt x="291" y="239"/>
                  <a:pt x="583" y="0"/>
                  <a:pt x="972" y="53"/>
                </a:cubicBezTo>
                <a:cubicBezTo>
                  <a:pt x="1361" y="106"/>
                  <a:pt x="2104" y="675"/>
                  <a:pt x="2332" y="799"/>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18440" name="Freeform 15"/>
          <p:cNvSpPr>
            <a:spLocks/>
          </p:cNvSpPr>
          <p:nvPr/>
        </p:nvSpPr>
        <p:spPr bwMode="auto">
          <a:xfrm>
            <a:off x="4241800" y="2906713"/>
            <a:ext cx="4271963" cy="976312"/>
          </a:xfrm>
          <a:custGeom>
            <a:avLst/>
            <a:gdLst>
              <a:gd name="T0" fmla="*/ 0 w 2691"/>
              <a:gd name="T1" fmla="*/ 2147483647 h 615"/>
              <a:gd name="T2" fmla="*/ 2147483647 w 2691"/>
              <a:gd name="T3" fmla="*/ 2147483647 h 615"/>
              <a:gd name="T4" fmla="*/ 2147483647 w 2691"/>
              <a:gd name="T5" fmla="*/ 2147483647 h 615"/>
              <a:gd name="T6" fmla="*/ 0 60000 65536"/>
              <a:gd name="T7" fmla="*/ 0 60000 65536"/>
              <a:gd name="T8" fmla="*/ 0 60000 65536"/>
              <a:gd name="T9" fmla="*/ 0 w 2691"/>
              <a:gd name="T10" fmla="*/ 0 h 615"/>
              <a:gd name="T11" fmla="*/ 2691 w 2691"/>
              <a:gd name="T12" fmla="*/ 615 h 615"/>
            </a:gdLst>
            <a:ahLst/>
            <a:cxnLst>
              <a:cxn ang="T6">
                <a:pos x="T0" y="T1"/>
              </a:cxn>
              <a:cxn ang="T7">
                <a:pos x="T2" y="T3"/>
              </a:cxn>
              <a:cxn ang="T8">
                <a:pos x="T4" y="T5"/>
              </a:cxn>
            </a:cxnLst>
            <a:rect l="T9" t="T10" r="T11" b="T12"/>
            <a:pathLst>
              <a:path w="2691" h="615">
                <a:moveTo>
                  <a:pt x="0" y="379"/>
                </a:moveTo>
                <a:cubicBezTo>
                  <a:pt x="257" y="189"/>
                  <a:pt x="515" y="0"/>
                  <a:pt x="963" y="39"/>
                </a:cubicBezTo>
                <a:cubicBezTo>
                  <a:pt x="1411" y="78"/>
                  <a:pt x="2051" y="346"/>
                  <a:pt x="2691" y="615"/>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18441" name="Freeform 16"/>
          <p:cNvSpPr>
            <a:spLocks/>
          </p:cNvSpPr>
          <p:nvPr/>
        </p:nvSpPr>
        <p:spPr bwMode="auto">
          <a:xfrm>
            <a:off x="2517775" y="3357563"/>
            <a:ext cx="1770063" cy="1544637"/>
          </a:xfrm>
          <a:custGeom>
            <a:avLst/>
            <a:gdLst>
              <a:gd name="T0" fmla="*/ 0 w 1115"/>
              <a:gd name="T1" fmla="*/ 2147483647 h 973"/>
              <a:gd name="T2" fmla="*/ 2147483647 w 1115"/>
              <a:gd name="T3" fmla="*/ 2147483647 h 973"/>
              <a:gd name="T4" fmla="*/ 2147483647 w 1115"/>
              <a:gd name="T5" fmla="*/ 0 h 973"/>
              <a:gd name="T6" fmla="*/ 2147483647 w 1115"/>
              <a:gd name="T7" fmla="*/ 2147483647 h 973"/>
              <a:gd name="T8" fmla="*/ 2147483647 w 1115"/>
              <a:gd name="T9" fmla="*/ 2147483647 h 973"/>
              <a:gd name="T10" fmla="*/ 2147483647 w 1115"/>
              <a:gd name="T11" fmla="*/ 2147483647 h 973"/>
              <a:gd name="T12" fmla="*/ 0 60000 65536"/>
              <a:gd name="T13" fmla="*/ 0 60000 65536"/>
              <a:gd name="T14" fmla="*/ 0 60000 65536"/>
              <a:gd name="T15" fmla="*/ 0 60000 65536"/>
              <a:gd name="T16" fmla="*/ 0 60000 65536"/>
              <a:gd name="T17" fmla="*/ 0 60000 65536"/>
              <a:gd name="T18" fmla="*/ 0 w 1115"/>
              <a:gd name="T19" fmla="*/ 0 h 973"/>
              <a:gd name="T20" fmla="*/ 1115 w 1115"/>
              <a:gd name="T21" fmla="*/ 973 h 973"/>
            </a:gdLst>
            <a:ahLst/>
            <a:cxnLst>
              <a:cxn ang="T12">
                <a:pos x="T0" y="T1"/>
              </a:cxn>
              <a:cxn ang="T13">
                <a:pos x="T2" y="T3"/>
              </a:cxn>
              <a:cxn ang="T14">
                <a:pos x="T4" y="T5"/>
              </a:cxn>
              <a:cxn ang="T15">
                <a:pos x="T6" y="T7"/>
              </a:cxn>
              <a:cxn ang="T16">
                <a:pos x="T8" y="T9"/>
              </a:cxn>
              <a:cxn ang="T17">
                <a:pos x="T10" y="T11"/>
              </a:cxn>
            </a:cxnLst>
            <a:rect l="T18" t="T19" r="T20" b="T21"/>
            <a:pathLst>
              <a:path w="1115" h="973">
                <a:moveTo>
                  <a:pt x="0" y="812"/>
                </a:moveTo>
                <a:lnTo>
                  <a:pt x="312" y="321"/>
                </a:lnTo>
                <a:lnTo>
                  <a:pt x="879" y="0"/>
                </a:lnTo>
                <a:lnTo>
                  <a:pt x="1115" y="161"/>
                </a:lnTo>
                <a:lnTo>
                  <a:pt x="557" y="510"/>
                </a:lnTo>
                <a:lnTo>
                  <a:pt x="369" y="973"/>
                </a:lnTo>
              </a:path>
            </a:pathLst>
          </a:custGeom>
          <a:solidFill>
            <a:srgbClr val="FFFF00"/>
          </a:solidFill>
          <a:ln w="9525">
            <a:solidFill>
              <a:srgbClr val="FFFF00"/>
            </a:solidFill>
            <a:round/>
            <a:headEnd/>
            <a:tailEnd/>
          </a:ln>
        </p:spPr>
        <p:txBody>
          <a:bodyPr wrap="none" anchor="ctr"/>
          <a:lstStyle/>
          <a:p>
            <a:endParaRPr lang="en-US" dirty="0">
              <a:latin typeface="Arial" pitchFamily="34" charset="0"/>
            </a:endParaRPr>
          </a:p>
        </p:txBody>
      </p:sp>
      <p:sp>
        <p:nvSpPr>
          <p:cNvPr id="18442" name="Freeform 17"/>
          <p:cNvSpPr>
            <a:spLocks/>
          </p:cNvSpPr>
          <p:nvPr/>
        </p:nvSpPr>
        <p:spPr bwMode="auto">
          <a:xfrm>
            <a:off x="4676775" y="3073400"/>
            <a:ext cx="1828800" cy="914400"/>
          </a:xfrm>
          <a:custGeom>
            <a:avLst/>
            <a:gdLst>
              <a:gd name="T0" fmla="*/ 0 w 1152"/>
              <a:gd name="T1" fmla="*/ 2147483647 h 576"/>
              <a:gd name="T2" fmla="*/ 2147483647 w 1152"/>
              <a:gd name="T3" fmla="*/ 2147483647 h 576"/>
              <a:gd name="T4" fmla="*/ 2147483647 w 1152"/>
              <a:gd name="T5" fmla="*/ 0 h 576"/>
              <a:gd name="T6" fmla="*/ 2147483647 w 1152"/>
              <a:gd name="T7" fmla="*/ 2147483647 h 576"/>
              <a:gd name="T8" fmla="*/ 2147483647 w 1152"/>
              <a:gd name="T9" fmla="*/ 2147483647 h 576"/>
              <a:gd name="T10" fmla="*/ 2147483647 w 1152"/>
              <a:gd name="T11" fmla="*/ 2147483647 h 576"/>
              <a:gd name="T12" fmla="*/ 0 60000 65536"/>
              <a:gd name="T13" fmla="*/ 0 60000 65536"/>
              <a:gd name="T14" fmla="*/ 0 60000 65536"/>
              <a:gd name="T15" fmla="*/ 0 60000 65536"/>
              <a:gd name="T16" fmla="*/ 0 60000 65536"/>
              <a:gd name="T17" fmla="*/ 0 60000 65536"/>
              <a:gd name="T18" fmla="*/ 0 w 1152"/>
              <a:gd name="T19" fmla="*/ 0 h 576"/>
              <a:gd name="T20" fmla="*/ 1152 w 115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152" h="576">
                <a:moveTo>
                  <a:pt x="0" y="444"/>
                </a:moveTo>
                <a:lnTo>
                  <a:pt x="321" y="236"/>
                </a:lnTo>
                <a:lnTo>
                  <a:pt x="1029" y="0"/>
                </a:lnTo>
                <a:lnTo>
                  <a:pt x="1152" y="66"/>
                </a:lnTo>
                <a:lnTo>
                  <a:pt x="501" y="377"/>
                </a:lnTo>
                <a:lnTo>
                  <a:pt x="170" y="576"/>
                </a:lnTo>
              </a:path>
            </a:pathLst>
          </a:custGeom>
          <a:solidFill>
            <a:srgbClr val="FFFF00"/>
          </a:solidFill>
          <a:ln w="9525">
            <a:solidFill>
              <a:srgbClr val="FFFF00"/>
            </a:solidFill>
            <a:round/>
            <a:headEnd/>
            <a:tailEnd type="triangle" w="med" len="med"/>
          </a:ln>
        </p:spPr>
        <p:txBody>
          <a:bodyPr wrap="none" anchor="ctr"/>
          <a:lstStyle/>
          <a:p>
            <a:endParaRPr lang="en-US" dirty="0">
              <a:latin typeface="Arial" pitchFamily="34" charset="0"/>
            </a:endParaRPr>
          </a:p>
        </p:txBody>
      </p:sp>
      <p:sp>
        <p:nvSpPr>
          <p:cNvPr id="18443" name="Text Box 19"/>
          <p:cNvSpPr txBox="1">
            <a:spLocks noChangeArrowheads="1"/>
          </p:cNvSpPr>
          <p:nvPr/>
        </p:nvSpPr>
        <p:spPr bwMode="auto">
          <a:xfrm>
            <a:off x="3279775" y="5327650"/>
            <a:ext cx="1923925" cy="523220"/>
          </a:xfrm>
          <a:prstGeom prst="rect">
            <a:avLst/>
          </a:prstGeom>
          <a:noFill/>
          <a:ln w="9525">
            <a:noFill/>
            <a:miter lim="800000"/>
            <a:headEnd/>
            <a:tailEnd/>
          </a:ln>
        </p:spPr>
        <p:txBody>
          <a:bodyPr wrap="none">
            <a:spAutoFit/>
          </a:bodyPr>
          <a:lstStyle/>
          <a:p>
            <a:r>
              <a:rPr lang="en-US" sz="2800" dirty="0">
                <a:solidFill>
                  <a:srgbClr val="FF3300"/>
                </a:solidFill>
                <a:latin typeface="Arial" pitchFamily="34" charset="0"/>
              </a:rPr>
              <a:t>processor</a:t>
            </a:r>
          </a:p>
        </p:txBody>
      </p:sp>
      <p:sp>
        <p:nvSpPr>
          <p:cNvPr id="18444" name="Text Box 20"/>
          <p:cNvSpPr txBox="1">
            <a:spLocks noChangeArrowheads="1"/>
          </p:cNvSpPr>
          <p:nvPr/>
        </p:nvSpPr>
        <p:spPr bwMode="auto">
          <a:xfrm>
            <a:off x="3236913" y="1987550"/>
            <a:ext cx="1582484" cy="523220"/>
          </a:xfrm>
          <a:prstGeom prst="rect">
            <a:avLst/>
          </a:prstGeom>
          <a:noFill/>
          <a:ln w="9525">
            <a:noFill/>
            <a:miter lim="800000"/>
            <a:headEnd/>
            <a:tailEnd/>
          </a:ln>
        </p:spPr>
        <p:txBody>
          <a:bodyPr wrap="none">
            <a:spAutoFit/>
          </a:bodyPr>
          <a:lstStyle/>
          <a:p>
            <a:r>
              <a:rPr lang="en-US" sz="2800" dirty="0">
                <a:solidFill>
                  <a:srgbClr val="009900"/>
                </a:solidFill>
                <a:latin typeface="Arial" pitchFamily="34" charset="0"/>
              </a:rPr>
              <a:t>memory</a:t>
            </a:r>
          </a:p>
        </p:txBody>
      </p:sp>
      <p:sp>
        <p:nvSpPr>
          <p:cNvPr id="18445" name="Text Box 21"/>
          <p:cNvSpPr txBox="1">
            <a:spLocks noChangeArrowheads="1"/>
          </p:cNvSpPr>
          <p:nvPr/>
        </p:nvSpPr>
        <p:spPr bwMode="auto">
          <a:xfrm>
            <a:off x="5305425" y="3800475"/>
            <a:ext cx="2343911" cy="523220"/>
          </a:xfrm>
          <a:prstGeom prst="rect">
            <a:avLst/>
          </a:prstGeom>
          <a:noFill/>
          <a:ln w="9525">
            <a:noFill/>
            <a:miter lim="800000"/>
            <a:headEnd/>
            <a:tailEnd/>
          </a:ln>
        </p:spPr>
        <p:txBody>
          <a:bodyPr wrap="none">
            <a:spAutoFit/>
          </a:bodyPr>
          <a:lstStyle/>
          <a:p>
            <a:r>
              <a:rPr lang="en-US" sz="2800" dirty="0">
                <a:solidFill>
                  <a:schemeClr val="tx1"/>
                </a:solidFill>
                <a:latin typeface="Arial" pitchFamily="34" charset="0"/>
              </a:rPr>
              <a:t>interconnect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p:cNvSpPr>
            <a:spLocks noGrp="1"/>
          </p:cNvSpPr>
          <p:nvPr>
            <p:ph type="ftr" sz="quarter" idx="10"/>
          </p:nvPr>
        </p:nvSpPr>
        <p:spPr>
          <a:noFill/>
        </p:spPr>
        <p:txBody>
          <a:bodyPr/>
          <a:lstStyle/>
          <a:p>
            <a:r>
              <a:rPr lang="en-US"/>
              <a:t>Art of Multiprocessor Programming</a:t>
            </a:r>
          </a:p>
        </p:txBody>
      </p:sp>
      <p:sp>
        <p:nvSpPr>
          <p:cNvPr id="19459" name="Slide Number Placeholder 4"/>
          <p:cNvSpPr>
            <a:spLocks noGrp="1"/>
          </p:cNvSpPr>
          <p:nvPr>
            <p:ph type="sldNum" sz="quarter" idx="11"/>
          </p:nvPr>
        </p:nvSpPr>
        <p:spPr>
          <a:noFill/>
        </p:spPr>
        <p:txBody>
          <a:bodyPr/>
          <a:lstStyle/>
          <a:p>
            <a:fld id="{0E067D2C-43D3-4A94-B6FA-F3B960A381DD}" type="slidenum">
              <a:rPr lang="ar-SA" smtClean="0"/>
              <a:pPr/>
              <a:t>18</a:t>
            </a:fld>
            <a:endParaRPr lang="en-US"/>
          </a:p>
        </p:txBody>
      </p:sp>
      <p:pic>
        <p:nvPicPr>
          <p:cNvPr id="19460" name="Picture 2"/>
          <p:cNvPicPr>
            <a:picLocks noChangeAspect="1" noChangeArrowheads="1"/>
          </p:cNvPicPr>
          <p:nvPr/>
        </p:nvPicPr>
        <p:blipFill>
          <a:blip r:embed="rId3" cstate="print"/>
          <a:srcRect/>
          <a:stretch>
            <a:fillRect/>
          </a:stretch>
        </p:blipFill>
        <p:spPr bwMode="auto">
          <a:xfrm>
            <a:off x="5222875" y="1651000"/>
            <a:ext cx="3057525" cy="1873250"/>
          </a:xfrm>
          <a:prstGeom prst="rect">
            <a:avLst/>
          </a:prstGeom>
          <a:noFill/>
          <a:ln w="9525">
            <a:noFill/>
            <a:miter lim="800000"/>
            <a:headEnd/>
            <a:tailEnd/>
          </a:ln>
        </p:spPr>
      </p:pic>
      <p:sp>
        <p:nvSpPr>
          <p:cNvPr id="19461" name="Rectangle 3"/>
          <p:cNvSpPr>
            <a:spLocks noGrp="1" noChangeArrowheads="1"/>
          </p:cNvSpPr>
          <p:nvPr>
            <p:ph type="title"/>
          </p:nvPr>
        </p:nvSpPr>
        <p:spPr/>
        <p:txBody>
          <a:bodyPr/>
          <a:lstStyle/>
          <a:p>
            <a:r>
              <a:rPr lang="en-US"/>
              <a:t>Reading from Memory</a:t>
            </a:r>
          </a:p>
        </p:txBody>
      </p:sp>
      <p:grpSp>
        <p:nvGrpSpPr>
          <p:cNvPr id="19462" name="Group 4"/>
          <p:cNvGrpSpPr>
            <a:grpSpLocks/>
          </p:cNvGrpSpPr>
          <p:nvPr/>
        </p:nvGrpSpPr>
        <p:grpSpPr bwMode="auto">
          <a:xfrm flipH="1">
            <a:off x="1477963" y="4859338"/>
            <a:ext cx="1447800" cy="1295400"/>
            <a:chOff x="3168" y="1824"/>
            <a:chExt cx="912" cy="816"/>
          </a:xfrm>
        </p:grpSpPr>
        <p:sp>
          <p:nvSpPr>
            <p:cNvPr id="19475" name="Freeform 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9476" name="Freeform 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9477" name="Freeform 7"/>
            <p:cNvSpPr>
              <a:spLocks/>
            </p:cNvSpPr>
            <p:nvPr/>
          </p:nvSpPr>
          <p:spPr bwMode="auto">
            <a:xfrm>
              <a:off x="3504" y="1824"/>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9478" name="Freeform 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9479" name="Freeform 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9480" name="Freeform 1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9481" name="Freeform 11"/>
            <p:cNvSpPr>
              <a:spLocks/>
            </p:cNvSpPr>
            <p:nvPr/>
          </p:nvSpPr>
          <p:spPr bwMode="auto">
            <a:xfrm>
              <a:off x="3504" y="2304"/>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9482" name="Freeform 12"/>
            <p:cNvSpPr>
              <a:spLocks/>
            </p:cNvSpPr>
            <p:nvPr/>
          </p:nvSpPr>
          <p:spPr bwMode="auto">
            <a:xfrm>
              <a:off x="3312" y="2160"/>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9483" name="Freeform 13"/>
            <p:cNvSpPr>
              <a:spLocks/>
            </p:cNvSpPr>
            <p:nvPr/>
          </p:nvSpPr>
          <p:spPr bwMode="auto">
            <a:xfrm>
              <a:off x="3168" y="2016"/>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9463" name="Freeform 14"/>
          <p:cNvSpPr>
            <a:spLocks/>
          </p:cNvSpPr>
          <p:nvPr/>
        </p:nvSpPr>
        <p:spPr bwMode="auto">
          <a:xfrm>
            <a:off x="1409700" y="2838450"/>
            <a:ext cx="3702050" cy="1268413"/>
          </a:xfrm>
          <a:custGeom>
            <a:avLst/>
            <a:gdLst>
              <a:gd name="T0" fmla="*/ 0 w 2332"/>
              <a:gd name="T1" fmla="*/ 2147483647 h 799"/>
              <a:gd name="T2" fmla="*/ 2147483647 w 2332"/>
              <a:gd name="T3" fmla="*/ 2147483647 h 799"/>
              <a:gd name="T4" fmla="*/ 2147483647 w 2332"/>
              <a:gd name="T5" fmla="*/ 2147483647 h 799"/>
              <a:gd name="T6" fmla="*/ 0 60000 65536"/>
              <a:gd name="T7" fmla="*/ 0 60000 65536"/>
              <a:gd name="T8" fmla="*/ 0 60000 65536"/>
              <a:gd name="T9" fmla="*/ 0 w 2332"/>
              <a:gd name="T10" fmla="*/ 0 h 799"/>
              <a:gd name="T11" fmla="*/ 2332 w 2332"/>
              <a:gd name="T12" fmla="*/ 799 h 799"/>
            </a:gdLst>
            <a:ahLst/>
            <a:cxnLst>
              <a:cxn ang="T6">
                <a:pos x="T0" y="T1"/>
              </a:cxn>
              <a:cxn ang="T7">
                <a:pos x="T2" y="T3"/>
              </a:cxn>
              <a:cxn ang="T8">
                <a:pos x="T4" y="T5"/>
              </a:cxn>
            </a:cxnLst>
            <a:rect l="T9" t="T10" r="T11" b="T12"/>
            <a:pathLst>
              <a:path w="2332" h="799">
                <a:moveTo>
                  <a:pt x="0" y="478"/>
                </a:moveTo>
                <a:cubicBezTo>
                  <a:pt x="291" y="239"/>
                  <a:pt x="583" y="0"/>
                  <a:pt x="972" y="53"/>
                </a:cubicBezTo>
                <a:cubicBezTo>
                  <a:pt x="1361" y="106"/>
                  <a:pt x="2104" y="675"/>
                  <a:pt x="2332" y="799"/>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19464" name="Freeform 15"/>
          <p:cNvSpPr>
            <a:spLocks/>
          </p:cNvSpPr>
          <p:nvPr/>
        </p:nvSpPr>
        <p:spPr bwMode="auto">
          <a:xfrm>
            <a:off x="4241800" y="2906713"/>
            <a:ext cx="4271963" cy="976312"/>
          </a:xfrm>
          <a:custGeom>
            <a:avLst/>
            <a:gdLst>
              <a:gd name="T0" fmla="*/ 0 w 2691"/>
              <a:gd name="T1" fmla="*/ 2147483647 h 615"/>
              <a:gd name="T2" fmla="*/ 2147483647 w 2691"/>
              <a:gd name="T3" fmla="*/ 2147483647 h 615"/>
              <a:gd name="T4" fmla="*/ 2147483647 w 2691"/>
              <a:gd name="T5" fmla="*/ 2147483647 h 615"/>
              <a:gd name="T6" fmla="*/ 0 60000 65536"/>
              <a:gd name="T7" fmla="*/ 0 60000 65536"/>
              <a:gd name="T8" fmla="*/ 0 60000 65536"/>
              <a:gd name="T9" fmla="*/ 0 w 2691"/>
              <a:gd name="T10" fmla="*/ 0 h 615"/>
              <a:gd name="T11" fmla="*/ 2691 w 2691"/>
              <a:gd name="T12" fmla="*/ 615 h 615"/>
            </a:gdLst>
            <a:ahLst/>
            <a:cxnLst>
              <a:cxn ang="T6">
                <a:pos x="T0" y="T1"/>
              </a:cxn>
              <a:cxn ang="T7">
                <a:pos x="T2" y="T3"/>
              </a:cxn>
              <a:cxn ang="T8">
                <a:pos x="T4" y="T5"/>
              </a:cxn>
            </a:cxnLst>
            <a:rect l="T9" t="T10" r="T11" b="T12"/>
            <a:pathLst>
              <a:path w="2691" h="615">
                <a:moveTo>
                  <a:pt x="0" y="379"/>
                </a:moveTo>
                <a:cubicBezTo>
                  <a:pt x="257" y="189"/>
                  <a:pt x="515" y="0"/>
                  <a:pt x="963" y="39"/>
                </a:cubicBezTo>
                <a:cubicBezTo>
                  <a:pt x="1411" y="78"/>
                  <a:pt x="2051" y="346"/>
                  <a:pt x="2691" y="615"/>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19465" name="Freeform 16"/>
          <p:cNvSpPr>
            <a:spLocks/>
          </p:cNvSpPr>
          <p:nvPr/>
        </p:nvSpPr>
        <p:spPr bwMode="auto">
          <a:xfrm>
            <a:off x="2517775" y="3357563"/>
            <a:ext cx="1770063" cy="1544637"/>
          </a:xfrm>
          <a:custGeom>
            <a:avLst/>
            <a:gdLst>
              <a:gd name="T0" fmla="*/ 0 w 1115"/>
              <a:gd name="T1" fmla="*/ 2147483647 h 973"/>
              <a:gd name="T2" fmla="*/ 2147483647 w 1115"/>
              <a:gd name="T3" fmla="*/ 2147483647 h 973"/>
              <a:gd name="T4" fmla="*/ 2147483647 w 1115"/>
              <a:gd name="T5" fmla="*/ 0 h 973"/>
              <a:gd name="T6" fmla="*/ 2147483647 w 1115"/>
              <a:gd name="T7" fmla="*/ 2147483647 h 973"/>
              <a:gd name="T8" fmla="*/ 2147483647 w 1115"/>
              <a:gd name="T9" fmla="*/ 2147483647 h 973"/>
              <a:gd name="T10" fmla="*/ 2147483647 w 1115"/>
              <a:gd name="T11" fmla="*/ 2147483647 h 973"/>
              <a:gd name="T12" fmla="*/ 0 60000 65536"/>
              <a:gd name="T13" fmla="*/ 0 60000 65536"/>
              <a:gd name="T14" fmla="*/ 0 60000 65536"/>
              <a:gd name="T15" fmla="*/ 0 60000 65536"/>
              <a:gd name="T16" fmla="*/ 0 60000 65536"/>
              <a:gd name="T17" fmla="*/ 0 60000 65536"/>
              <a:gd name="T18" fmla="*/ 0 w 1115"/>
              <a:gd name="T19" fmla="*/ 0 h 973"/>
              <a:gd name="T20" fmla="*/ 1115 w 1115"/>
              <a:gd name="T21" fmla="*/ 973 h 973"/>
            </a:gdLst>
            <a:ahLst/>
            <a:cxnLst>
              <a:cxn ang="T12">
                <a:pos x="T0" y="T1"/>
              </a:cxn>
              <a:cxn ang="T13">
                <a:pos x="T2" y="T3"/>
              </a:cxn>
              <a:cxn ang="T14">
                <a:pos x="T4" y="T5"/>
              </a:cxn>
              <a:cxn ang="T15">
                <a:pos x="T6" y="T7"/>
              </a:cxn>
              <a:cxn ang="T16">
                <a:pos x="T8" y="T9"/>
              </a:cxn>
              <a:cxn ang="T17">
                <a:pos x="T10" y="T11"/>
              </a:cxn>
            </a:cxnLst>
            <a:rect l="T18" t="T19" r="T20" b="T21"/>
            <a:pathLst>
              <a:path w="1115" h="973">
                <a:moveTo>
                  <a:pt x="0" y="812"/>
                </a:moveTo>
                <a:lnTo>
                  <a:pt x="312" y="321"/>
                </a:lnTo>
                <a:lnTo>
                  <a:pt x="879" y="0"/>
                </a:lnTo>
                <a:lnTo>
                  <a:pt x="1115" y="161"/>
                </a:lnTo>
                <a:lnTo>
                  <a:pt x="557" y="510"/>
                </a:lnTo>
                <a:lnTo>
                  <a:pt x="369" y="973"/>
                </a:lnTo>
              </a:path>
            </a:pathLst>
          </a:custGeom>
          <a:solidFill>
            <a:srgbClr val="FFFF00"/>
          </a:solidFill>
          <a:ln w="9525">
            <a:solidFill>
              <a:srgbClr val="FFFF00"/>
            </a:solidFill>
            <a:round/>
            <a:headEnd/>
            <a:tailEnd/>
          </a:ln>
        </p:spPr>
        <p:txBody>
          <a:bodyPr wrap="none" anchor="ctr"/>
          <a:lstStyle/>
          <a:p>
            <a:endParaRPr lang="en-US" dirty="0">
              <a:latin typeface="Arial" pitchFamily="34" charset="0"/>
            </a:endParaRPr>
          </a:p>
        </p:txBody>
      </p:sp>
      <p:sp>
        <p:nvSpPr>
          <p:cNvPr id="19466" name="Freeform 17"/>
          <p:cNvSpPr>
            <a:spLocks/>
          </p:cNvSpPr>
          <p:nvPr/>
        </p:nvSpPr>
        <p:spPr bwMode="auto">
          <a:xfrm>
            <a:off x="4676775" y="3073400"/>
            <a:ext cx="1828800" cy="914400"/>
          </a:xfrm>
          <a:custGeom>
            <a:avLst/>
            <a:gdLst>
              <a:gd name="T0" fmla="*/ 0 w 1152"/>
              <a:gd name="T1" fmla="*/ 2147483647 h 576"/>
              <a:gd name="T2" fmla="*/ 2147483647 w 1152"/>
              <a:gd name="T3" fmla="*/ 2147483647 h 576"/>
              <a:gd name="T4" fmla="*/ 2147483647 w 1152"/>
              <a:gd name="T5" fmla="*/ 0 h 576"/>
              <a:gd name="T6" fmla="*/ 2147483647 w 1152"/>
              <a:gd name="T7" fmla="*/ 2147483647 h 576"/>
              <a:gd name="T8" fmla="*/ 2147483647 w 1152"/>
              <a:gd name="T9" fmla="*/ 2147483647 h 576"/>
              <a:gd name="T10" fmla="*/ 2147483647 w 1152"/>
              <a:gd name="T11" fmla="*/ 2147483647 h 576"/>
              <a:gd name="T12" fmla="*/ 0 60000 65536"/>
              <a:gd name="T13" fmla="*/ 0 60000 65536"/>
              <a:gd name="T14" fmla="*/ 0 60000 65536"/>
              <a:gd name="T15" fmla="*/ 0 60000 65536"/>
              <a:gd name="T16" fmla="*/ 0 60000 65536"/>
              <a:gd name="T17" fmla="*/ 0 60000 65536"/>
              <a:gd name="T18" fmla="*/ 0 w 1152"/>
              <a:gd name="T19" fmla="*/ 0 h 576"/>
              <a:gd name="T20" fmla="*/ 1152 w 115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152" h="576">
                <a:moveTo>
                  <a:pt x="0" y="444"/>
                </a:moveTo>
                <a:lnTo>
                  <a:pt x="321" y="236"/>
                </a:lnTo>
                <a:lnTo>
                  <a:pt x="1029" y="0"/>
                </a:lnTo>
                <a:lnTo>
                  <a:pt x="1152" y="66"/>
                </a:lnTo>
                <a:lnTo>
                  <a:pt x="501" y="377"/>
                </a:lnTo>
                <a:lnTo>
                  <a:pt x="170" y="576"/>
                </a:lnTo>
              </a:path>
            </a:pathLst>
          </a:custGeom>
          <a:solidFill>
            <a:srgbClr val="FFFF00"/>
          </a:solidFill>
          <a:ln w="9525">
            <a:solidFill>
              <a:srgbClr val="FFFF00"/>
            </a:solidFill>
            <a:round/>
            <a:headEnd/>
            <a:tailEnd type="triangle" w="med" len="med"/>
          </a:ln>
        </p:spPr>
        <p:txBody>
          <a:bodyPr wrap="none" anchor="ctr"/>
          <a:lstStyle/>
          <a:p>
            <a:endParaRPr lang="en-US" dirty="0">
              <a:latin typeface="Arial" pitchFamily="34" charset="0"/>
            </a:endParaRPr>
          </a:p>
        </p:txBody>
      </p:sp>
      <p:grpSp>
        <p:nvGrpSpPr>
          <p:cNvPr id="19467" name="Group 28"/>
          <p:cNvGrpSpPr>
            <a:grpSpLocks/>
          </p:cNvGrpSpPr>
          <p:nvPr/>
        </p:nvGrpSpPr>
        <p:grpSpPr bwMode="auto">
          <a:xfrm>
            <a:off x="2130425" y="2016125"/>
            <a:ext cx="1646238" cy="592138"/>
            <a:chOff x="190" y="2592"/>
            <a:chExt cx="1037" cy="373"/>
          </a:xfrm>
        </p:grpSpPr>
        <p:sp>
          <p:nvSpPr>
            <p:cNvPr id="19470" name="Freeform 21"/>
            <p:cNvSpPr>
              <a:spLocks/>
            </p:cNvSpPr>
            <p:nvPr/>
          </p:nvSpPr>
          <p:spPr bwMode="auto">
            <a:xfrm>
              <a:off x="797" y="2594"/>
              <a:ext cx="430" cy="263"/>
            </a:xfrm>
            <a:custGeom>
              <a:avLst/>
              <a:gdLst>
                <a:gd name="T0" fmla="*/ 86 w 348"/>
                <a:gd name="T1" fmla="*/ 211 h 228"/>
                <a:gd name="T2" fmla="*/ 439 w 348"/>
                <a:gd name="T3" fmla="*/ 0 h 228"/>
                <a:gd name="T4" fmla="*/ 1238 w 348"/>
                <a:gd name="T5" fmla="*/ 538 h 228"/>
                <a:gd name="T6" fmla="*/ 759 w 348"/>
                <a:gd name="T7" fmla="*/ 310 h 228"/>
                <a:gd name="T8" fmla="*/ 961 w 348"/>
                <a:gd name="T9" fmla="*/ 480 h 228"/>
                <a:gd name="T10" fmla="*/ 513 w 348"/>
                <a:gd name="T11" fmla="*/ 296 h 228"/>
                <a:gd name="T12" fmla="*/ 802 w 348"/>
                <a:gd name="T13" fmla="*/ 451 h 228"/>
                <a:gd name="T14" fmla="*/ 0 w 348"/>
                <a:gd name="T15" fmla="*/ 262 h 228"/>
                <a:gd name="T16" fmla="*/ 86 w 348"/>
                <a:gd name="T17" fmla="*/ 211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9471" name="Freeform 22"/>
            <p:cNvSpPr>
              <a:spLocks/>
            </p:cNvSpPr>
            <p:nvPr/>
          </p:nvSpPr>
          <p:spPr bwMode="auto">
            <a:xfrm>
              <a:off x="190" y="2592"/>
              <a:ext cx="430" cy="267"/>
            </a:xfrm>
            <a:custGeom>
              <a:avLst/>
              <a:gdLst>
                <a:gd name="T0" fmla="*/ 1145 w 348"/>
                <a:gd name="T1" fmla="*/ 208 h 231"/>
                <a:gd name="T2" fmla="*/ 802 w 348"/>
                <a:gd name="T3" fmla="*/ 0 h 231"/>
                <a:gd name="T4" fmla="*/ 0 w 348"/>
                <a:gd name="T5" fmla="*/ 551 h 231"/>
                <a:gd name="T6" fmla="*/ 534 w 348"/>
                <a:gd name="T7" fmla="*/ 320 h 231"/>
                <a:gd name="T8" fmla="*/ 278 w 348"/>
                <a:gd name="T9" fmla="*/ 494 h 231"/>
                <a:gd name="T10" fmla="*/ 759 w 348"/>
                <a:gd name="T11" fmla="*/ 317 h 231"/>
                <a:gd name="T12" fmla="*/ 493 w 348"/>
                <a:gd name="T13" fmla="*/ 473 h 231"/>
                <a:gd name="T14" fmla="*/ 1238 w 348"/>
                <a:gd name="T15" fmla="*/ 274 h 231"/>
                <a:gd name="T16" fmla="*/ 1145 w 348"/>
                <a:gd name="T17" fmla="*/ 20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nvGrpSpPr>
            <p:cNvPr id="19472" name="Group 27"/>
            <p:cNvGrpSpPr>
              <a:grpSpLocks/>
            </p:cNvGrpSpPr>
            <p:nvPr/>
          </p:nvGrpSpPr>
          <p:grpSpPr bwMode="auto">
            <a:xfrm>
              <a:off x="511" y="2699"/>
              <a:ext cx="405" cy="266"/>
              <a:chOff x="312" y="2568"/>
              <a:chExt cx="604" cy="397"/>
            </a:xfrm>
          </p:grpSpPr>
          <p:sp>
            <p:nvSpPr>
              <p:cNvPr id="19473" name="Rectangle 25"/>
              <p:cNvSpPr>
                <a:spLocks noChangeArrowheads="1"/>
              </p:cNvSpPr>
              <p:nvPr/>
            </p:nvSpPr>
            <p:spPr bwMode="auto">
              <a:xfrm>
                <a:off x="319" y="2578"/>
                <a:ext cx="597" cy="387"/>
              </a:xfrm>
              <a:prstGeom prst="rect">
                <a:avLst/>
              </a:prstGeom>
              <a:solidFill>
                <a:srgbClr val="FF0000"/>
              </a:solidFill>
              <a:ln w="38100">
                <a:solidFill>
                  <a:schemeClr val="tx1"/>
                </a:solidFill>
                <a:miter lim="800000"/>
                <a:headEnd/>
                <a:tailEnd/>
              </a:ln>
            </p:spPr>
            <p:txBody>
              <a:bodyPr wrap="none" anchor="ctr"/>
              <a:lstStyle/>
              <a:p>
                <a:endParaRPr lang="en-US" dirty="0">
                  <a:latin typeface="Arial" pitchFamily="34" charset="0"/>
                </a:endParaRPr>
              </a:p>
            </p:txBody>
          </p:sp>
          <p:sp>
            <p:nvSpPr>
              <p:cNvPr id="19474" name="Freeform 26"/>
              <p:cNvSpPr>
                <a:spLocks/>
              </p:cNvSpPr>
              <p:nvPr/>
            </p:nvSpPr>
            <p:spPr bwMode="auto">
              <a:xfrm>
                <a:off x="312" y="2568"/>
                <a:ext cx="604" cy="208"/>
              </a:xfrm>
              <a:custGeom>
                <a:avLst/>
                <a:gdLst>
                  <a:gd name="T0" fmla="*/ 0 w 604"/>
                  <a:gd name="T1" fmla="*/ 0 h 208"/>
                  <a:gd name="T2" fmla="*/ 321 w 604"/>
                  <a:gd name="T3" fmla="*/ 208 h 208"/>
                  <a:gd name="T4" fmla="*/ 604 w 604"/>
                  <a:gd name="T5" fmla="*/ 19 h 208"/>
                  <a:gd name="T6" fmla="*/ 0 60000 65536"/>
                  <a:gd name="T7" fmla="*/ 0 60000 65536"/>
                  <a:gd name="T8" fmla="*/ 0 60000 65536"/>
                  <a:gd name="T9" fmla="*/ 0 w 604"/>
                  <a:gd name="T10" fmla="*/ 0 h 208"/>
                  <a:gd name="T11" fmla="*/ 604 w 604"/>
                  <a:gd name="T12" fmla="*/ 208 h 208"/>
                </a:gdLst>
                <a:ahLst/>
                <a:cxnLst>
                  <a:cxn ang="T6">
                    <a:pos x="T0" y="T1"/>
                  </a:cxn>
                  <a:cxn ang="T7">
                    <a:pos x="T2" y="T3"/>
                  </a:cxn>
                  <a:cxn ang="T8">
                    <a:pos x="T4" y="T5"/>
                  </a:cxn>
                </a:cxnLst>
                <a:rect l="T9" t="T10" r="T11" b="T12"/>
                <a:pathLst>
                  <a:path w="604" h="208">
                    <a:moveTo>
                      <a:pt x="0" y="0"/>
                    </a:moveTo>
                    <a:lnTo>
                      <a:pt x="321" y="208"/>
                    </a:lnTo>
                    <a:lnTo>
                      <a:pt x="604" y="19"/>
                    </a:lnTo>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grpSp>
      <p:sp>
        <p:nvSpPr>
          <p:cNvPr id="19468" name="Freeform 29"/>
          <p:cNvSpPr>
            <a:spLocks/>
          </p:cNvSpPr>
          <p:nvPr/>
        </p:nvSpPr>
        <p:spPr bwMode="auto">
          <a:xfrm>
            <a:off x="1739900" y="2628900"/>
            <a:ext cx="4646613" cy="2243138"/>
          </a:xfrm>
          <a:custGeom>
            <a:avLst/>
            <a:gdLst>
              <a:gd name="T0" fmla="*/ 2147483647 w 2927"/>
              <a:gd name="T1" fmla="*/ 2147483647 h 1413"/>
              <a:gd name="T2" fmla="*/ 2147483647 w 2927"/>
              <a:gd name="T3" fmla="*/ 2147483647 h 1413"/>
              <a:gd name="T4" fmla="*/ 2147483647 w 2927"/>
              <a:gd name="T5" fmla="*/ 2147483647 h 1413"/>
              <a:gd name="T6" fmla="*/ 2147483647 w 2927"/>
              <a:gd name="T7" fmla="*/ 2147483647 h 1413"/>
              <a:gd name="T8" fmla="*/ 2147483647 w 2927"/>
              <a:gd name="T9" fmla="*/ 2147483647 h 1413"/>
              <a:gd name="T10" fmla="*/ 2147483647 w 2927"/>
              <a:gd name="T11" fmla="*/ 2147483647 h 1413"/>
              <a:gd name="T12" fmla="*/ 2147483647 w 2927"/>
              <a:gd name="T13" fmla="*/ 2147483647 h 1413"/>
              <a:gd name="T14" fmla="*/ 0 60000 65536"/>
              <a:gd name="T15" fmla="*/ 0 60000 65536"/>
              <a:gd name="T16" fmla="*/ 0 60000 65536"/>
              <a:gd name="T17" fmla="*/ 0 60000 65536"/>
              <a:gd name="T18" fmla="*/ 0 60000 65536"/>
              <a:gd name="T19" fmla="*/ 0 60000 65536"/>
              <a:gd name="T20" fmla="*/ 0 60000 65536"/>
              <a:gd name="T21" fmla="*/ 0 w 2927"/>
              <a:gd name="T22" fmla="*/ 0 h 1413"/>
              <a:gd name="T23" fmla="*/ 2927 w 2927"/>
              <a:gd name="T24" fmla="*/ 1413 h 14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27" h="1413">
                <a:moveTo>
                  <a:pt x="18" y="1403"/>
                </a:moveTo>
                <a:cubicBezTo>
                  <a:pt x="9" y="1408"/>
                  <a:pt x="0" y="1413"/>
                  <a:pt x="65" y="1281"/>
                </a:cubicBezTo>
                <a:cubicBezTo>
                  <a:pt x="130" y="1149"/>
                  <a:pt x="214" y="819"/>
                  <a:pt x="405" y="610"/>
                </a:cubicBezTo>
                <a:cubicBezTo>
                  <a:pt x="596" y="401"/>
                  <a:pt x="950" y="50"/>
                  <a:pt x="1208" y="25"/>
                </a:cubicBezTo>
                <a:cubicBezTo>
                  <a:pt x="1466" y="0"/>
                  <a:pt x="1743" y="451"/>
                  <a:pt x="1954" y="459"/>
                </a:cubicBezTo>
                <a:cubicBezTo>
                  <a:pt x="2165" y="467"/>
                  <a:pt x="2311" y="135"/>
                  <a:pt x="2473" y="72"/>
                </a:cubicBezTo>
                <a:cubicBezTo>
                  <a:pt x="2635" y="9"/>
                  <a:pt x="2781" y="45"/>
                  <a:pt x="2927" y="81"/>
                </a:cubicBezTo>
              </a:path>
            </a:pathLst>
          </a:custGeom>
          <a:noFill/>
          <a:ln w="76200">
            <a:solidFill>
              <a:srgbClr val="FF0000"/>
            </a:solidFill>
            <a:round/>
            <a:headEnd/>
            <a:tailEnd type="triangle" w="med" len="med"/>
          </a:ln>
        </p:spPr>
        <p:txBody>
          <a:bodyPr wrap="none" anchor="ctr"/>
          <a:lstStyle/>
          <a:p>
            <a:endParaRPr lang="en-US" dirty="0">
              <a:latin typeface="Arial" pitchFamily="34" charset="0"/>
            </a:endParaRPr>
          </a:p>
        </p:txBody>
      </p:sp>
      <p:sp>
        <p:nvSpPr>
          <p:cNvPr id="19469" name="Text Box 30"/>
          <p:cNvSpPr txBox="1">
            <a:spLocks noChangeArrowheads="1"/>
          </p:cNvSpPr>
          <p:nvPr/>
        </p:nvSpPr>
        <p:spPr bwMode="auto">
          <a:xfrm>
            <a:off x="3775075" y="2168525"/>
            <a:ext cx="1366080" cy="461665"/>
          </a:xfrm>
          <a:prstGeom prst="rect">
            <a:avLst/>
          </a:prstGeom>
          <a:noFill/>
          <a:ln w="9525">
            <a:noFill/>
            <a:miter lim="800000"/>
            <a:headEnd/>
            <a:tailEnd/>
          </a:ln>
        </p:spPr>
        <p:txBody>
          <a:bodyPr wrap="none">
            <a:spAutoFit/>
          </a:bodyPr>
          <a:lstStyle/>
          <a:p>
            <a:r>
              <a:rPr lang="en-US" sz="2400" dirty="0">
                <a:solidFill>
                  <a:srgbClr val="FF3300"/>
                </a:solidFill>
                <a:latin typeface="Arial" pitchFamily="34" charset="0"/>
              </a:rPr>
              <a:t>address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0"/>
          </p:nvPr>
        </p:nvSpPr>
        <p:spPr>
          <a:noFill/>
        </p:spPr>
        <p:txBody>
          <a:bodyPr/>
          <a:lstStyle/>
          <a:p>
            <a:r>
              <a:rPr lang="en-US"/>
              <a:t>Art of Multiprocessor Programming</a:t>
            </a:r>
          </a:p>
        </p:txBody>
      </p:sp>
      <p:sp>
        <p:nvSpPr>
          <p:cNvPr id="20483" name="Slide Number Placeholder 4"/>
          <p:cNvSpPr>
            <a:spLocks noGrp="1"/>
          </p:cNvSpPr>
          <p:nvPr>
            <p:ph type="sldNum" sz="quarter" idx="11"/>
          </p:nvPr>
        </p:nvSpPr>
        <p:spPr>
          <a:noFill/>
        </p:spPr>
        <p:txBody>
          <a:bodyPr/>
          <a:lstStyle/>
          <a:p>
            <a:fld id="{311B3455-4086-4919-94FC-1D0A3282E7D6}" type="slidenum">
              <a:rPr lang="ar-SA" smtClean="0"/>
              <a:pPr/>
              <a:t>19</a:t>
            </a:fld>
            <a:endParaRPr lang="en-US"/>
          </a:p>
        </p:txBody>
      </p:sp>
      <p:pic>
        <p:nvPicPr>
          <p:cNvPr id="20484" name="Picture 2"/>
          <p:cNvPicPr>
            <a:picLocks noChangeAspect="1" noChangeArrowheads="1"/>
          </p:cNvPicPr>
          <p:nvPr/>
        </p:nvPicPr>
        <p:blipFill>
          <a:blip r:embed="rId3" cstate="print"/>
          <a:srcRect/>
          <a:stretch>
            <a:fillRect/>
          </a:stretch>
        </p:blipFill>
        <p:spPr bwMode="auto">
          <a:xfrm>
            <a:off x="5222875" y="1651000"/>
            <a:ext cx="3057525" cy="1873250"/>
          </a:xfrm>
          <a:prstGeom prst="rect">
            <a:avLst/>
          </a:prstGeom>
          <a:noFill/>
          <a:ln w="9525">
            <a:noFill/>
            <a:miter lim="800000"/>
            <a:headEnd/>
            <a:tailEnd/>
          </a:ln>
        </p:spPr>
      </p:pic>
      <p:sp>
        <p:nvSpPr>
          <p:cNvPr id="20485" name="Rectangle 3"/>
          <p:cNvSpPr>
            <a:spLocks noGrp="1" noChangeArrowheads="1"/>
          </p:cNvSpPr>
          <p:nvPr>
            <p:ph type="title"/>
          </p:nvPr>
        </p:nvSpPr>
        <p:spPr/>
        <p:txBody>
          <a:bodyPr/>
          <a:lstStyle/>
          <a:p>
            <a:r>
              <a:rPr lang="en-US"/>
              <a:t>Reading from Memory</a:t>
            </a:r>
          </a:p>
        </p:txBody>
      </p:sp>
      <p:grpSp>
        <p:nvGrpSpPr>
          <p:cNvPr id="20486" name="Group 4"/>
          <p:cNvGrpSpPr>
            <a:grpSpLocks/>
          </p:cNvGrpSpPr>
          <p:nvPr/>
        </p:nvGrpSpPr>
        <p:grpSpPr bwMode="auto">
          <a:xfrm flipH="1">
            <a:off x="1477963" y="4859338"/>
            <a:ext cx="1447800" cy="1295400"/>
            <a:chOff x="3168" y="1824"/>
            <a:chExt cx="912" cy="816"/>
          </a:xfrm>
        </p:grpSpPr>
        <p:sp>
          <p:nvSpPr>
            <p:cNvPr id="20493" name="Freeform 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0494" name="Freeform 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0495" name="Freeform 7"/>
            <p:cNvSpPr>
              <a:spLocks/>
            </p:cNvSpPr>
            <p:nvPr/>
          </p:nvSpPr>
          <p:spPr bwMode="auto">
            <a:xfrm>
              <a:off x="3504" y="1824"/>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0496" name="Freeform 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0497" name="Freeform 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0498" name="Freeform 1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0499" name="Freeform 11"/>
            <p:cNvSpPr>
              <a:spLocks/>
            </p:cNvSpPr>
            <p:nvPr/>
          </p:nvSpPr>
          <p:spPr bwMode="auto">
            <a:xfrm>
              <a:off x="3504" y="2304"/>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0500" name="Freeform 12"/>
            <p:cNvSpPr>
              <a:spLocks/>
            </p:cNvSpPr>
            <p:nvPr/>
          </p:nvSpPr>
          <p:spPr bwMode="auto">
            <a:xfrm>
              <a:off x="3312" y="2160"/>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0501" name="Freeform 13"/>
            <p:cNvSpPr>
              <a:spLocks/>
            </p:cNvSpPr>
            <p:nvPr/>
          </p:nvSpPr>
          <p:spPr bwMode="auto">
            <a:xfrm>
              <a:off x="3168" y="2016"/>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0487" name="Freeform 14"/>
          <p:cNvSpPr>
            <a:spLocks/>
          </p:cNvSpPr>
          <p:nvPr/>
        </p:nvSpPr>
        <p:spPr bwMode="auto">
          <a:xfrm>
            <a:off x="1409700" y="2838450"/>
            <a:ext cx="3702050" cy="1268413"/>
          </a:xfrm>
          <a:custGeom>
            <a:avLst/>
            <a:gdLst>
              <a:gd name="T0" fmla="*/ 0 w 2332"/>
              <a:gd name="T1" fmla="*/ 2147483647 h 799"/>
              <a:gd name="T2" fmla="*/ 2147483647 w 2332"/>
              <a:gd name="T3" fmla="*/ 2147483647 h 799"/>
              <a:gd name="T4" fmla="*/ 2147483647 w 2332"/>
              <a:gd name="T5" fmla="*/ 2147483647 h 799"/>
              <a:gd name="T6" fmla="*/ 0 60000 65536"/>
              <a:gd name="T7" fmla="*/ 0 60000 65536"/>
              <a:gd name="T8" fmla="*/ 0 60000 65536"/>
              <a:gd name="T9" fmla="*/ 0 w 2332"/>
              <a:gd name="T10" fmla="*/ 0 h 799"/>
              <a:gd name="T11" fmla="*/ 2332 w 2332"/>
              <a:gd name="T12" fmla="*/ 799 h 799"/>
            </a:gdLst>
            <a:ahLst/>
            <a:cxnLst>
              <a:cxn ang="T6">
                <a:pos x="T0" y="T1"/>
              </a:cxn>
              <a:cxn ang="T7">
                <a:pos x="T2" y="T3"/>
              </a:cxn>
              <a:cxn ang="T8">
                <a:pos x="T4" y="T5"/>
              </a:cxn>
            </a:cxnLst>
            <a:rect l="T9" t="T10" r="T11" b="T12"/>
            <a:pathLst>
              <a:path w="2332" h="799">
                <a:moveTo>
                  <a:pt x="0" y="478"/>
                </a:moveTo>
                <a:cubicBezTo>
                  <a:pt x="291" y="239"/>
                  <a:pt x="583" y="0"/>
                  <a:pt x="972" y="53"/>
                </a:cubicBezTo>
                <a:cubicBezTo>
                  <a:pt x="1361" y="106"/>
                  <a:pt x="2104" y="675"/>
                  <a:pt x="2332" y="799"/>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20488" name="Freeform 15"/>
          <p:cNvSpPr>
            <a:spLocks/>
          </p:cNvSpPr>
          <p:nvPr/>
        </p:nvSpPr>
        <p:spPr bwMode="auto">
          <a:xfrm>
            <a:off x="4241800" y="2906713"/>
            <a:ext cx="4271963" cy="976312"/>
          </a:xfrm>
          <a:custGeom>
            <a:avLst/>
            <a:gdLst>
              <a:gd name="T0" fmla="*/ 0 w 2691"/>
              <a:gd name="T1" fmla="*/ 2147483647 h 615"/>
              <a:gd name="T2" fmla="*/ 2147483647 w 2691"/>
              <a:gd name="T3" fmla="*/ 2147483647 h 615"/>
              <a:gd name="T4" fmla="*/ 2147483647 w 2691"/>
              <a:gd name="T5" fmla="*/ 2147483647 h 615"/>
              <a:gd name="T6" fmla="*/ 0 60000 65536"/>
              <a:gd name="T7" fmla="*/ 0 60000 65536"/>
              <a:gd name="T8" fmla="*/ 0 60000 65536"/>
              <a:gd name="T9" fmla="*/ 0 w 2691"/>
              <a:gd name="T10" fmla="*/ 0 h 615"/>
              <a:gd name="T11" fmla="*/ 2691 w 2691"/>
              <a:gd name="T12" fmla="*/ 615 h 615"/>
            </a:gdLst>
            <a:ahLst/>
            <a:cxnLst>
              <a:cxn ang="T6">
                <a:pos x="T0" y="T1"/>
              </a:cxn>
              <a:cxn ang="T7">
                <a:pos x="T2" y="T3"/>
              </a:cxn>
              <a:cxn ang="T8">
                <a:pos x="T4" y="T5"/>
              </a:cxn>
            </a:cxnLst>
            <a:rect l="T9" t="T10" r="T11" b="T12"/>
            <a:pathLst>
              <a:path w="2691" h="615">
                <a:moveTo>
                  <a:pt x="0" y="379"/>
                </a:moveTo>
                <a:cubicBezTo>
                  <a:pt x="257" y="189"/>
                  <a:pt x="515" y="0"/>
                  <a:pt x="963" y="39"/>
                </a:cubicBezTo>
                <a:cubicBezTo>
                  <a:pt x="1411" y="78"/>
                  <a:pt x="2051" y="346"/>
                  <a:pt x="2691" y="615"/>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20489" name="Freeform 16"/>
          <p:cNvSpPr>
            <a:spLocks/>
          </p:cNvSpPr>
          <p:nvPr/>
        </p:nvSpPr>
        <p:spPr bwMode="auto">
          <a:xfrm>
            <a:off x="2517775" y="3357563"/>
            <a:ext cx="1770063" cy="1544637"/>
          </a:xfrm>
          <a:custGeom>
            <a:avLst/>
            <a:gdLst>
              <a:gd name="T0" fmla="*/ 0 w 1115"/>
              <a:gd name="T1" fmla="*/ 2147483647 h 973"/>
              <a:gd name="T2" fmla="*/ 2147483647 w 1115"/>
              <a:gd name="T3" fmla="*/ 2147483647 h 973"/>
              <a:gd name="T4" fmla="*/ 2147483647 w 1115"/>
              <a:gd name="T5" fmla="*/ 0 h 973"/>
              <a:gd name="T6" fmla="*/ 2147483647 w 1115"/>
              <a:gd name="T7" fmla="*/ 2147483647 h 973"/>
              <a:gd name="T8" fmla="*/ 2147483647 w 1115"/>
              <a:gd name="T9" fmla="*/ 2147483647 h 973"/>
              <a:gd name="T10" fmla="*/ 2147483647 w 1115"/>
              <a:gd name="T11" fmla="*/ 2147483647 h 973"/>
              <a:gd name="T12" fmla="*/ 0 60000 65536"/>
              <a:gd name="T13" fmla="*/ 0 60000 65536"/>
              <a:gd name="T14" fmla="*/ 0 60000 65536"/>
              <a:gd name="T15" fmla="*/ 0 60000 65536"/>
              <a:gd name="T16" fmla="*/ 0 60000 65536"/>
              <a:gd name="T17" fmla="*/ 0 60000 65536"/>
              <a:gd name="T18" fmla="*/ 0 w 1115"/>
              <a:gd name="T19" fmla="*/ 0 h 973"/>
              <a:gd name="T20" fmla="*/ 1115 w 1115"/>
              <a:gd name="T21" fmla="*/ 973 h 973"/>
            </a:gdLst>
            <a:ahLst/>
            <a:cxnLst>
              <a:cxn ang="T12">
                <a:pos x="T0" y="T1"/>
              </a:cxn>
              <a:cxn ang="T13">
                <a:pos x="T2" y="T3"/>
              </a:cxn>
              <a:cxn ang="T14">
                <a:pos x="T4" y="T5"/>
              </a:cxn>
              <a:cxn ang="T15">
                <a:pos x="T6" y="T7"/>
              </a:cxn>
              <a:cxn ang="T16">
                <a:pos x="T8" y="T9"/>
              </a:cxn>
              <a:cxn ang="T17">
                <a:pos x="T10" y="T11"/>
              </a:cxn>
            </a:cxnLst>
            <a:rect l="T18" t="T19" r="T20" b="T21"/>
            <a:pathLst>
              <a:path w="1115" h="973">
                <a:moveTo>
                  <a:pt x="0" y="812"/>
                </a:moveTo>
                <a:lnTo>
                  <a:pt x="312" y="321"/>
                </a:lnTo>
                <a:lnTo>
                  <a:pt x="879" y="0"/>
                </a:lnTo>
                <a:lnTo>
                  <a:pt x="1115" y="161"/>
                </a:lnTo>
                <a:lnTo>
                  <a:pt x="557" y="510"/>
                </a:lnTo>
                <a:lnTo>
                  <a:pt x="369" y="973"/>
                </a:lnTo>
              </a:path>
            </a:pathLst>
          </a:custGeom>
          <a:solidFill>
            <a:srgbClr val="FFFF00"/>
          </a:solidFill>
          <a:ln w="9525">
            <a:solidFill>
              <a:srgbClr val="FFFF00"/>
            </a:solidFill>
            <a:round/>
            <a:headEnd/>
            <a:tailEnd/>
          </a:ln>
        </p:spPr>
        <p:txBody>
          <a:bodyPr wrap="none" anchor="ctr"/>
          <a:lstStyle/>
          <a:p>
            <a:endParaRPr lang="en-US" dirty="0">
              <a:latin typeface="Arial" pitchFamily="34" charset="0"/>
            </a:endParaRPr>
          </a:p>
        </p:txBody>
      </p:sp>
      <p:sp>
        <p:nvSpPr>
          <p:cNvPr id="20490" name="Freeform 17"/>
          <p:cNvSpPr>
            <a:spLocks/>
          </p:cNvSpPr>
          <p:nvPr/>
        </p:nvSpPr>
        <p:spPr bwMode="auto">
          <a:xfrm>
            <a:off x="4676775" y="3073400"/>
            <a:ext cx="1828800" cy="914400"/>
          </a:xfrm>
          <a:custGeom>
            <a:avLst/>
            <a:gdLst>
              <a:gd name="T0" fmla="*/ 0 w 1152"/>
              <a:gd name="T1" fmla="*/ 2147483647 h 576"/>
              <a:gd name="T2" fmla="*/ 2147483647 w 1152"/>
              <a:gd name="T3" fmla="*/ 2147483647 h 576"/>
              <a:gd name="T4" fmla="*/ 2147483647 w 1152"/>
              <a:gd name="T5" fmla="*/ 0 h 576"/>
              <a:gd name="T6" fmla="*/ 2147483647 w 1152"/>
              <a:gd name="T7" fmla="*/ 2147483647 h 576"/>
              <a:gd name="T8" fmla="*/ 2147483647 w 1152"/>
              <a:gd name="T9" fmla="*/ 2147483647 h 576"/>
              <a:gd name="T10" fmla="*/ 2147483647 w 1152"/>
              <a:gd name="T11" fmla="*/ 2147483647 h 576"/>
              <a:gd name="T12" fmla="*/ 0 60000 65536"/>
              <a:gd name="T13" fmla="*/ 0 60000 65536"/>
              <a:gd name="T14" fmla="*/ 0 60000 65536"/>
              <a:gd name="T15" fmla="*/ 0 60000 65536"/>
              <a:gd name="T16" fmla="*/ 0 60000 65536"/>
              <a:gd name="T17" fmla="*/ 0 60000 65536"/>
              <a:gd name="T18" fmla="*/ 0 w 1152"/>
              <a:gd name="T19" fmla="*/ 0 h 576"/>
              <a:gd name="T20" fmla="*/ 1152 w 115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152" h="576">
                <a:moveTo>
                  <a:pt x="0" y="444"/>
                </a:moveTo>
                <a:lnTo>
                  <a:pt x="321" y="236"/>
                </a:lnTo>
                <a:lnTo>
                  <a:pt x="1029" y="0"/>
                </a:lnTo>
                <a:lnTo>
                  <a:pt x="1152" y="66"/>
                </a:lnTo>
                <a:lnTo>
                  <a:pt x="501" y="377"/>
                </a:lnTo>
                <a:lnTo>
                  <a:pt x="170" y="576"/>
                </a:lnTo>
              </a:path>
            </a:pathLst>
          </a:custGeom>
          <a:solidFill>
            <a:srgbClr val="FFFF00"/>
          </a:solidFill>
          <a:ln w="9525">
            <a:solidFill>
              <a:srgbClr val="FFFF00"/>
            </a:solidFill>
            <a:round/>
            <a:headEnd/>
            <a:tailEnd type="triangle" w="med" len="med"/>
          </a:ln>
        </p:spPr>
        <p:txBody>
          <a:bodyPr wrap="none" anchor="ctr"/>
          <a:lstStyle/>
          <a:p>
            <a:endParaRPr lang="en-US" dirty="0">
              <a:latin typeface="Arial" pitchFamily="34" charset="0"/>
            </a:endParaRPr>
          </a:p>
        </p:txBody>
      </p:sp>
      <p:sp>
        <p:nvSpPr>
          <p:cNvPr id="20491" name="Freeform 25"/>
          <p:cNvSpPr>
            <a:spLocks/>
          </p:cNvSpPr>
          <p:nvPr/>
        </p:nvSpPr>
        <p:spPr bwMode="auto">
          <a:xfrm>
            <a:off x="1739900" y="2628900"/>
            <a:ext cx="4646613" cy="2243138"/>
          </a:xfrm>
          <a:custGeom>
            <a:avLst/>
            <a:gdLst>
              <a:gd name="T0" fmla="*/ 2147483647 w 2927"/>
              <a:gd name="T1" fmla="*/ 2147483647 h 1413"/>
              <a:gd name="T2" fmla="*/ 2147483647 w 2927"/>
              <a:gd name="T3" fmla="*/ 2147483647 h 1413"/>
              <a:gd name="T4" fmla="*/ 2147483647 w 2927"/>
              <a:gd name="T5" fmla="*/ 2147483647 h 1413"/>
              <a:gd name="T6" fmla="*/ 2147483647 w 2927"/>
              <a:gd name="T7" fmla="*/ 2147483647 h 1413"/>
              <a:gd name="T8" fmla="*/ 2147483647 w 2927"/>
              <a:gd name="T9" fmla="*/ 2147483647 h 1413"/>
              <a:gd name="T10" fmla="*/ 2147483647 w 2927"/>
              <a:gd name="T11" fmla="*/ 2147483647 h 1413"/>
              <a:gd name="T12" fmla="*/ 2147483647 w 2927"/>
              <a:gd name="T13" fmla="*/ 2147483647 h 1413"/>
              <a:gd name="T14" fmla="*/ 0 60000 65536"/>
              <a:gd name="T15" fmla="*/ 0 60000 65536"/>
              <a:gd name="T16" fmla="*/ 0 60000 65536"/>
              <a:gd name="T17" fmla="*/ 0 60000 65536"/>
              <a:gd name="T18" fmla="*/ 0 60000 65536"/>
              <a:gd name="T19" fmla="*/ 0 60000 65536"/>
              <a:gd name="T20" fmla="*/ 0 60000 65536"/>
              <a:gd name="T21" fmla="*/ 0 w 2927"/>
              <a:gd name="T22" fmla="*/ 0 h 1413"/>
              <a:gd name="T23" fmla="*/ 2927 w 2927"/>
              <a:gd name="T24" fmla="*/ 1413 h 14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27" h="1413">
                <a:moveTo>
                  <a:pt x="18" y="1403"/>
                </a:moveTo>
                <a:cubicBezTo>
                  <a:pt x="9" y="1408"/>
                  <a:pt x="0" y="1413"/>
                  <a:pt x="65" y="1281"/>
                </a:cubicBezTo>
                <a:cubicBezTo>
                  <a:pt x="130" y="1149"/>
                  <a:pt x="214" y="819"/>
                  <a:pt x="405" y="610"/>
                </a:cubicBezTo>
                <a:cubicBezTo>
                  <a:pt x="596" y="401"/>
                  <a:pt x="950" y="50"/>
                  <a:pt x="1208" y="25"/>
                </a:cubicBezTo>
                <a:cubicBezTo>
                  <a:pt x="1466" y="0"/>
                  <a:pt x="1743" y="451"/>
                  <a:pt x="1954" y="459"/>
                </a:cubicBezTo>
                <a:cubicBezTo>
                  <a:pt x="2165" y="467"/>
                  <a:pt x="2311" y="135"/>
                  <a:pt x="2473" y="72"/>
                </a:cubicBezTo>
                <a:cubicBezTo>
                  <a:pt x="2635" y="9"/>
                  <a:pt x="2781" y="45"/>
                  <a:pt x="2927" y="81"/>
                </a:cubicBezTo>
              </a:path>
            </a:pathLst>
          </a:custGeom>
          <a:noFill/>
          <a:ln w="76200">
            <a:solidFill>
              <a:srgbClr val="FF0000"/>
            </a:solidFill>
            <a:prstDash val="dash"/>
            <a:round/>
            <a:headEnd/>
            <a:tailEnd type="triangle" w="med" len="med"/>
          </a:ln>
        </p:spPr>
        <p:txBody>
          <a:bodyPr wrap="none" anchor="ctr"/>
          <a:lstStyle/>
          <a:p>
            <a:endParaRPr lang="en-US" dirty="0">
              <a:latin typeface="Arial" pitchFamily="34" charset="0"/>
            </a:endParaRPr>
          </a:p>
        </p:txBody>
      </p:sp>
      <p:sp>
        <p:nvSpPr>
          <p:cNvPr id="20492" name="AutoShape 27"/>
          <p:cNvSpPr>
            <a:spLocks noChangeArrowheads="1"/>
          </p:cNvSpPr>
          <p:nvPr/>
        </p:nvSpPr>
        <p:spPr bwMode="auto">
          <a:xfrm>
            <a:off x="3490913" y="4074547"/>
            <a:ext cx="1997075" cy="796469"/>
          </a:xfrm>
          <a:prstGeom prst="cloudCallout">
            <a:avLst>
              <a:gd name="adj1" fmla="val -62481"/>
              <a:gd name="adj2" fmla="val 80102"/>
            </a:avLst>
          </a:prstGeom>
          <a:noFill/>
          <a:ln w="38100">
            <a:solidFill>
              <a:srgbClr val="FF0066"/>
            </a:solidFill>
            <a:round/>
            <a:headEnd/>
            <a:tailEnd/>
          </a:ln>
        </p:spPr>
        <p:txBody>
          <a:bodyPr anchor="ctr">
            <a:spAutoFit/>
          </a:bodyPr>
          <a:lstStyle/>
          <a:p>
            <a:pPr algn="ctr"/>
            <a:r>
              <a:rPr lang="en-US" sz="2800" dirty="0" err="1">
                <a:solidFill>
                  <a:srgbClr val="FF3300"/>
                </a:solidFill>
                <a:latin typeface="Arial" pitchFamily="34" charset="0"/>
              </a:rPr>
              <a:t>zzz</a:t>
            </a:r>
            <a:r>
              <a:rPr lang="en-US" sz="2800" dirty="0">
                <a:solidFill>
                  <a:srgbClr val="FF3300"/>
                </a:solidFill>
                <a:latin typeface="Arial" pitchFamily="34" charset="0"/>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p:cNvSpPr>
            <a:spLocks noGrp="1"/>
          </p:cNvSpPr>
          <p:nvPr>
            <p:ph type="ftr" sz="quarter" idx="10"/>
          </p:nvPr>
        </p:nvSpPr>
        <p:spPr>
          <a:noFill/>
        </p:spPr>
        <p:txBody>
          <a:bodyPr/>
          <a:lstStyle/>
          <a:p>
            <a:r>
              <a:rPr lang="en-US"/>
              <a:t>Art of Multiprocessor Programming</a:t>
            </a:r>
          </a:p>
        </p:txBody>
      </p:sp>
      <p:sp>
        <p:nvSpPr>
          <p:cNvPr id="21507" name="Slide Number Placeholder 4"/>
          <p:cNvSpPr>
            <a:spLocks noGrp="1"/>
          </p:cNvSpPr>
          <p:nvPr>
            <p:ph type="sldNum" sz="quarter" idx="11"/>
          </p:nvPr>
        </p:nvSpPr>
        <p:spPr>
          <a:noFill/>
        </p:spPr>
        <p:txBody>
          <a:bodyPr/>
          <a:lstStyle/>
          <a:p>
            <a:fld id="{9A9286A4-E486-470C-B552-BF25C0F0412B}" type="slidenum">
              <a:rPr lang="ar-SA" smtClean="0"/>
              <a:pPr/>
              <a:t>20</a:t>
            </a:fld>
            <a:endParaRPr lang="en-US"/>
          </a:p>
        </p:txBody>
      </p:sp>
      <p:pic>
        <p:nvPicPr>
          <p:cNvPr id="21508" name="Picture 2"/>
          <p:cNvPicPr>
            <a:picLocks noChangeAspect="1" noChangeArrowheads="1"/>
          </p:cNvPicPr>
          <p:nvPr/>
        </p:nvPicPr>
        <p:blipFill>
          <a:blip r:embed="rId3" cstate="print"/>
          <a:srcRect/>
          <a:stretch>
            <a:fillRect/>
          </a:stretch>
        </p:blipFill>
        <p:spPr bwMode="auto">
          <a:xfrm>
            <a:off x="5222875" y="1651000"/>
            <a:ext cx="3057525" cy="1873250"/>
          </a:xfrm>
          <a:prstGeom prst="rect">
            <a:avLst/>
          </a:prstGeom>
          <a:noFill/>
          <a:ln w="9525">
            <a:noFill/>
            <a:miter lim="800000"/>
            <a:headEnd/>
            <a:tailEnd/>
          </a:ln>
        </p:spPr>
      </p:pic>
      <p:sp>
        <p:nvSpPr>
          <p:cNvPr id="21509" name="Rectangle 3"/>
          <p:cNvSpPr>
            <a:spLocks noGrp="1" noChangeArrowheads="1"/>
          </p:cNvSpPr>
          <p:nvPr>
            <p:ph type="title"/>
          </p:nvPr>
        </p:nvSpPr>
        <p:spPr/>
        <p:txBody>
          <a:bodyPr/>
          <a:lstStyle/>
          <a:p>
            <a:r>
              <a:rPr lang="en-US"/>
              <a:t>Reading from Memory</a:t>
            </a:r>
          </a:p>
        </p:txBody>
      </p:sp>
      <p:grpSp>
        <p:nvGrpSpPr>
          <p:cNvPr id="21510" name="Group 4"/>
          <p:cNvGrpSpPr>
            <a:grpSpLocks/>
          </p:cNvGrpSpPr>
          <p:nvPr/>
        </p:nvGrpSpPr>
        <p:grpSpPr bwMode="auto">
          <a:xfrm flipH="1">
            <a:off x="1477963" y="4859338"/>
            <a:ext cx="1447800" cy="1295400"/>
            <a:chOff x="3168" y="1824"/>
            <a:chExt cx="912" cy="816"/>
          </a:xfrm>
        </p:grpSpPr>
        <p:sp>
          <p:nvSpPr>
            <p:cNvPr id="21522" name="Freeform 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1523" name="Freeform 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1524" name="Freeform 7"/>
            <p:cNvSpPr>
              <a:spLocks/>
            </p:cNvSpPr>
            <p:nvPr/>
          </p:nvSpPr>
          <p:spPr bwMode="auto">
            <a:xfrm>
              <a:off x="3504" y="1824"/>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1525" name="Freeform 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1526" name="Freeform 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1527" name="Freeform 1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1528" name="Freeform 11"/>
            <p:cNvSpPr>
              <a:spLocks/>
            </p:cNvSpPr>
            <p:nvPr/>
          </p:nvSpPr>
          <p:spPr bwMode="auto">
            <a:xfrm>
              <a:off x="3504" y="2304"/>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1529" name="Freeform 12"/>
            <p:cNvSpPr>
              <a:spLocks/>
            </p:cNvSpPr>
            <p:nvPr/>
          </p:nvSpPr>
          <p:spPr bwMode="auto">
            <a:xfrm>
              <a:off x="3312" y="2160"/>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1530" name="Freeform 13"/>
            <p:cNvSpPr>
              <a:spLocks/>
            </p:cNvSpPr>
            <p:nvPr/>
          </p:nvSpPr>
          <p:spPr bwMode="auto">
            <a:xfrm>
              <a:off x="3168" y="2016"/>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1511" name="Freeform 14"/>
          <p:cNvSpPr>
            <a:spLocks/>
          </p:cNvSpPr>
          <p:nvPr/>
        </p:nvSpPr>
        <p:spPr bwMode="auto">
          <a:xfrm>
            <a:off x="1409700" y="2838450"/>
            <a:ext cx="3702050" cy="1268413"/>
          </a:xfrm>
          <a:custGeom>
            <a:avLst/>
            <a:gdLst>
              <a:gd name="T0" fmla="*/ 0 w 2332"/>
              <a:gd name="T1" fmla="*/ 2147483647 h 799"/>
              <a:gd name="T2" fmla="*/ 2147483647 w 2332"/>
              <a:gd name="T3" fmla="*/ 2147483647 h 799"/>
              <a:gd name="T4" fmla="*/ 2147483647 w 2332"/>
              <a:gd name="T5" fmla="*/ 2147483647 h 799"/>
              <a:gd name="T6" fmla="*/ 0 60000 65536"/>
              <a:gd name="T7" fmla="*/ 0 60000 65536"/>
              <a:gd name="T8" fmla="*/ 0 60000 65536"/>
              <a:gd name="T9" fmla="*/ 0 w 2332"/>
              <a:gd name="T10" fmla="*/ 0 h 799"/>
              <a:gd name="T11" fmla="*/ 2332 w 2332"/>
              <a:gd name="T12" fmla="*/ 799 h 799"/>
            </a:gdLst>
            <a:ahLst/>
            <a:cxnLst>
              <a:cxn ang="T6">
                <a:pos x="T0" y="T1"/>
              </a:cxn>
              <a:cxn ang="T7">
                <a:pos x="T2" y="T3"/>
              </a:cxn>
              <a:cxn ang="T8">
                <a:pos x="T4" y="T5"/>
              </a:cxn>
            </a:cxnLst>
            <a:rect l="T9" t="T10" r="T11" b="T12"/>
            <a:pathLst>
              <a:path w="2332" h="799">
                <a:moveTo>
                  <a:pt x="0" y="478"/>
                </a:moveTo>
                <a:cubicBezTo>
                  <a:pt x="291" y="239"/>
                  <a:pt x="583" y="0"/>
                  <a:pt x="972" y="53"/>
                </a:cubicBezTo>
                <a:cubicBezTo>
                  <a:pt x="1361" y="106"/>
                  <a:pt x="2104" y="675"/>
                  <a:pt x="2332" y="799"/>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21512" name="Freeform 15"/>
          <p:cNvSpPr>
            <a:spLocks/>
          </p:cNvSpPr>
          <p:nvPr/>
        </p:nvSpPr>
        <p:spPr bwMode="auto">
          <a:xfrm>
            <a:off x="4241800" y="2906713"/>
            <a:ext cx="4271963" cy="976312"/>
          </a:xfrm>
          <a:custGeom>
            <a:avLst/>
            <a:gdLst>
              <a:gd name="T0" fmla="*/ 0 w 2691"/>
              <a:gd name="T1" fmla="*/ 2147483647 h 615"/>
              <a:gd name="T2" fmla="*/ 2147483647 w 2691"/>
              <a:gd name="T3" fmla="*/ 2147483647 h 615"/>
              <a:gd name="T4" fmla="*/ 2147483647 w 2691"/>
              <a:gd name="T5" fmla="*/ 2147483647 h 615"/>
              <a:gd name="T6" fmla="*/ 0 60000 65536"/>
              <a:gd name="T7" fmla="*/ 0 60000 65536"/>
              <a:gd name="T8" fmla="*/ 0 60000 65536"/>
              <a:gd name="T9" fmla="*/ 0 w 2691"/>
              <a:gd name="T10" fmla="*/ 0 h 615"/>
              <a:gd name="T11" fmla="*/ 2691 w 2691"/>
              <a:gd name="T12" fmla="*/ 615 h 615"/>
            </a:gdLst>
            <a:ahLst/>
            <a:cxnLst>
              <a:cxn ang="T6">
                <a:pos x="T0" y="T1"/>
              </a:cxn>
              <a:cxn ang="T7">
                <a:pos x="T2" y="T3"/>
              </a:cxn>
              <a:cxn ang="T8">
                <a:pos x="T4" y="T5"/>
              </a:cxn>
            </a:cxnLst>
            <a:rect l="T9" t="T10" r="T11" b="T12"/>
            <a:pathLst>
              <a:path w="2691" h="615">
                <a:moveTo>
                  <a:pt x="0" y="379"/>
                </a:moveTo>
                <a:cubicBezTo>
                  <a:pt x="257" y="189"/>
                  <a:pt x="515" y="0"/>
                  <a:pt x="963" y="39"/>
                </a:cubicBezTo>
                <a:cubicBezTo>
                  <a:pt x="1411" y="78"/>
                  <a:pt x="2051" y="346"/>
                  <a:pt x="2691" y="615"/>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21513" name="Freeform 16"/>
          <p:cNvSpPr>
            <a:spLocks/>
          </p:cNvSpPr>
          <p:nvPr/>
        </p:nvSpPr>
        <p:spPr bwMode="auto">
          <a:xfrm>
            <a:off x="2517775" y="3357563"/>
            <a:ext cx="1770063" cy="1544637"/>
          </a:xfrm>
          <a:custGeom>
            <a:avLst/>
            <a:gdLst>
              <a:gd name="T0" fmla="*/ 0 w 1115"/>
              <a:gd name="T1" fmla="*/ 2147483647 h 973"/>
              <a:gd name="T2" fmla="*/ 2147483647 w 1115"/>
              <a:gd name="T3" fmla="*/ 2147483647 h 973"/>
              <a:gd name="T4" fmla="*/ 2147483647 w 1115"/>
              <a:gd name="T5" fmla="*/ 0 h 973"/>
              <a:gd name="T6" fmla="*/ 2147483647 w 1115"/>
              <a:gd name="T7" fmla="*/ 2147483647 h 973"/>
              <a:gd name="T8" fmla="*/ 2147483647 w 1115"/>
              <a:gd name="T9" fmla="*/ 2147483647 h 973"/>
              <a:gd name="T10" fmla="*/ 2147483647 w 1115"/>
              <a:gd name="T11" fmla="*/ 2147483647 h 973"/>
              <a:gd name="T12" fmla="*/ 0 60000 65536"/>
              <a:gd name="T13" fmla="*/ 0 60000 65536"/>
              <a:gd name="T14" fmla="*/ 0 60000 65536"/>
              <a:gd name="T15" fmla="*/ 0 60000 65536"/>
              <a:gd name="T16" fmla="*/ 0 60000 65536"/>
              <a:gd name="T17" fmla="*/ 0 60000 65536"/>
              <a:gd name="T18" fmla="*/ 0 w 1115"/>
              <a:gd name="T19" fmla="*/ 0 h 973"/>
              <a:gd name="T20" fmla="*/ 1115 w 1115"/>
              <a:gd name="T21" fmla="*/ 973 h 973"/>
            </a:gdLst>
            <a:ahLst/>
            <a:cxnLst>
              <a:cxn ang="T12">
                <a:pos x="T0" y="T1"/>
              </a:cxn>
              <a:cxn ang="T13">
                <a:pos x="T2" y="T3"/>
              </a:cxn>
              <a:cxn ang="T14">
                <a:pos x="T4" y="T5"/>
              </a:cxn>
              <a:cxn ang="T15">
                <a:pos x="T6" y="T7"/>
              </a:cxn>
              <a:cxn ang="T16">
                <a:pos x="T8" y="T9"/>
              </a:cxn>
              <a:cxn ang="T17">
                <a:pos x="T10" y="T11"/>
              </a:cxn>
            </a:cxnLst>
            <a:rect l="T18" t="T19" r="T20" b="T21"/>
            <a:pathLst>
              <a:path w="1115" h="973">
                <a:moveTo>
                  <a:pt x="0" y="812"/>
                </a:moveTo>
                <a:lnTo>
                  <a:pt x="312" y="321"/>
                </a:lnTo>
                <a:lnTo>
                  <a:pt x="879" y="0"/>
                </a:lnTo>
                <a:lnTo>
                  <a:pt x="1115" y="161"/>
                </a:lnTo>
                <a:lnTo>
                  <a:pt x="557" y="510"/>
                </a:lnTo>
                <a:lnTo>
                  <a:pt x="369" y="973"/>
                </a:lnTo>
              </a:path>
            </a:pathLst>
          </a:custGeom>
          <a:solidFill>
            <a:srgbClr val="FFFF00"/>
          </a:solidFill>
          <a:ln w="9525">
            <a:solidFill>
              <a:srgbClr val="FFFF00"/>
            </a:solidFill>
            <a:round/>
            <a:headEnd/>
            <a:tailEnd/>
          </a:ln>
        </p:spPr>
        <p:txBody>
          <a:bodyPr wrap="none" anchor="ctr"/>
          <a:lstStyle/>
          <a:p>
            <a:endParaRPr lang="en-US" dirty="0">
              <a:latin typeface="Arial" pitchFamily="34" charset="0"/>
            </a:endParaRPr>
          </a:p>
        </p:txBody>
      </p:sp>
      <p:sp>
        <p:nvSpPr>
          <p:cNvPr id="21514" name="Freeform 17"/>
          <p:cNvSpPr>
            <a:spLocks/>
          </p:cNvSpPr>
          <p:nvPr/>
        </p:nvSpPr>
        <p:spPr bwMode="auto">
          <a:xfrm>
            <a:off x="4676775" y="3073400"/>
            <a:ext cx="1828800" cy="914400"/>
          </a:xfrm>
          <a:custGeom>
            <a:avLst/>
            <a:gdLst>
              <a:gd name="T0" fmla="*/ 0 w 1152"/>
              <a:gd name="T1" fmla="*/ 2147483647 h 576"/>
              <a:gd name="T2" fmla="*/ 2147483647 w 1152"/>
              <a:gd name="T3" fmla="*/ 2147483647 h 576"/>
              <a:gd name="T4" fmla="*/ 2147483647 w 1152"/>
              <a:gd name="T5" fmla="*/ 0 h 576"/>
              <a:gd name="T6" fmla="*/ 2147483647 w 1152"/>
              <a:gd name="T7" fmla="*/ 2147483647 h 576"/>
              <a:gd name="T8" fmla="*/ 2147483647 w 1152"/>
              <a:gd name="T9" fmla="*/ 2147483647 h 576"/>
              <a:gd name="T10" fmla="*/ 2147483647 w 1152"/>
              <a:gd name="T11" fmla="*/ 2147483647 h 576"/>
              <a:gd name="T12" fmla="*/ 0 60000 65536"/>
              <a:gd name="T13" fmla="*/ 0 60000 65536"/>
              <a:gd name="T14" fmla="*/ 0 60000 65536"/>
              <a:gd name="T15" fmla="*/ 0 60000 65536"/>
              <a:gd name="T16" fmla="*/ 0 60000 65536"/>
              <a:gd name="T17" fmla="*/ 0 60000 65536"/>
              <a:gd name="T18" fmla="*/ 0 w 1152"/>
              <a:gd name="T19" fmla="*/ 0 h 576"/>
              <a:gd name="T20" fmla="*/ 1152 w 115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152" h="576">
                <a:moveTo>
                  <a:pt x="0" y="444"/>
                </a:moveTo>
                <a:lnTo>
                  <a:pt x="321" y="236"/>
                </a:lnTo>
                <a:lnTo>
                  <a:pt x="1029" y="0"/>
                </a:lnTo>
                <a:lnTo>
                  <a:pt x="1152" y="66"/>
                </a:lnTo>
                <a:lnTo>
                  <a:pt x="501" y="377"/>
                </a:lnTo>
                <a:lnTo>
                  <a:pt x="170" y="576"/>
                </a:lnTo>
              </a:path>
            </a:pathLst>
          </a:custGeom>
          <a:solidFill>
            <a:srgbClr val="FFFF00"/>
          </a:solidFill>
          <a:ln w="9525">
            <a:solidFill>
              <a:srgbClr val="FFFF00"/>
            </a:solidFill>
            <a:round/>
            <a:headEnd/>
            <a:tailEnd type="triangle" w="med" len="med"/>
          </a:ln>
        </p:spPr>
        <p:txBody>
          <a:bodyPr wrap="none" anchor="ctr"/>
          <a:lstStyle/>
          <a:p>
            <a:endParaRPr lang="en-US" dirty="0">
              <a:latin typeface="Arial" pitchFamily="34" charset="0"/>
            </a:endParaRPr>
          </a:p>
        </p:txBody>
      </p:sp>
      <p:sp>
        <p:nvSpPr>
          <p:cNvPr id="21515" name="Freeform 25"/>
          <p:cNvSpPr>
            <a:spLocks/>
          </p:cNvSpPr>
          <p:nvPr/>
        </p:nvSpPr>
        <p:spPr bwMode="auto">
          <a:xfrm>
            <a:off x="3117850" y="2922588"/>
            <a:ext cx="3357563" cy="2233612"/>
          </a:xfrm>
          <a:custGeom>
            <a:avLst/>
            <a:gdLst>
              <a:gd name="T0" fmla="*/ 0 w 2115"/>
              <a:gd name="T1" fmla="*/ 2147483647 h 1407"/>
              <a:gd name="T2" fmla="*/ 2147483647 w 2115"/>
              <a:gd name="T3" fmla="*/ 2147483647 h 1407"/>
              <a:gd name="T4" fmla="*/ 2147483647 w 2115"/>
              <a:gd name="T5" fmla="*/ 2147483647 h 1407"/>
              <a:gd name="T6" fmla="*/ 2147483647 w 2115"/>
              <a:gd name="T7" fmla="*/ 2147483647 h 1407"/>
              <a:gd name="T8" fmla="*/ 2147483647 w 2115"/>
              <a:gd name="T9" fmla="*/ 2147483647 h 1407"/>
              <a:gd name="T10" fmla="*/ 2147483647 w 2115"/>
              <a:gd name="T11" fmla="*/ 0 h 1407"/>
              <a:gd name="T12" fmla="*/ 0 60000 65536"/>
              <a:gd name="T13" fmla="*/ 0 60000 65536"/>
              <a:gd name="T14" fmla="*/ 0 60000 65536"/>
              <a:gd name="T15" fmla="*/ 0 60000 65536"/>
              <a:gd name="T16" fmla="*/ 0 60000 65536"/>
              <a:gd name="T17" fmla="*/ 0 60000 65536"/>
              <a:gd name="T18" fmla="*/ 0 w 2115"/>
              <a:gd name="T19" fmla="*/ 0 h 1407"/>
              <a:gd name="T20" fmla="*/ 2115 w 2115"/>
              <a:gd name="T21" fmla="*/ 1407 h 1407"/>
            </a:gdLst>
            <a:ahLst/>
            <a:cxnLst>
              <a:cxn ang="T12">
                <a:pos x="T0" y="T1"/>
              </a:cxn>
              <a:cxn ang="T13">
                <a:pos x="T2" y="T3"/>
              </a:cxn>
              <a:cxn ang="T14">
                <a:pos x="T4" y="T5"/>
              </a:cxn>
              <a:cxn ang="T15">
                <a:pos x="T6" y="T7"/>
              </a:cxn>
              <a:cxn ang="T16">
                <a:pos x="T8" y="T9"/>
              </a:cxn>
              <a:cxn ang="T17">
                <a:pos x="T10" y="T11"/>
              </a:cxn>
            </a:cxnLst>
            <a:rect l="T18" t="T19" r="T20" b="T21"/>
            <a:pathLst>
              <a:path w="2115" h="1407">
                <a:moveTo>
                  <a:pt x="0" y="1407"/>
                </a:moveTo>
                <a:cubicBezTo>
                  <a:pt x="83" y="1358"/>
                  <a:pt x="249" y="1179"/>
                  <a:pt x="501" y="1115"/>
                </a:cubicBezTo>
                <a:cubicBezTo>
                  <a:pt x="753" y="1051"/>
                  <a:pt x="1314" y="1099"/>
                  <a:pt x="1511" y="1020"/>
                </a:cubicBezTo>
                <a:cubicBezTo>
                  <a:pt x="1708" y="941"/>
                  <a:pt x="1733" y="754"/>
                  <a:pt x="1681" y="642"/>
                </a:cubicBezTo>
                <a:cubicBezTo>
                  <a:pt x="1629" y="530"/>
                  <a:pt x="1127" y="457"/>
                  <a:pt x="1199" y="350"/>
                </a:cubicBezTo>
                <a:cubicBezTo>
                  <a:pt x="1271" y="243"/>
                  <a:pt x="1924" y="73"/>
                  <a:pt x="2115" y="0"/>
                </a:cubicBezTo>
              </a:path>
            </a:pathLst>
          </a:custGeom>
          <a:noFill/>
          <a:ln w="76200">
            <a:solidFill>
              <a:srgbClr val="009900"/>
            </a:solidFill>
            <a:round/>
            <a:headEnd type="triangle" w="med" len="med"/>
            <a:tailEnd/>
          </a:ln>
        </p:spPr>
        <p:txBody>
          <a:bodyPr wrap="none" anchor="ctr"/>
          <a:lstStyle/>
          <a:p>
            <a:endParaRPr lang="en-US" dirty="0">
              <a:latin typeface="Arial" pitchFamily="34" charset="0"/>
            </a:endParaRPr>
          </a:p>
        </p:txBody>
      </p:sp>
      <p:sp>
        <p:nvSpPr>
          <p:cNvPr id="21516" name="Text Box 26"/>
          <p:cNvSpPr txBox="1">
            <a:spLocks noChangeArrowheads="1"/>
          </p:cNvSpPr>
          <p:nvPr/>
        </p:nvSpPr>
        <p:spPr bwMode="auto">
          <a:xfrm>
            <a:off x="6667500" y="4867275"/>
            <a:ext cx="971741" cy="461665"/>
          </a:xfrm>
          <a:prstGeom prst="rect">
            <a:avLst/>
          </a:prstGeom>
          <a:noFill/>
          <a:ln w="9525">
            <a:noFill/>
            <a:miter lim="800000"/>
            <a:headEnd/>
            <a:tailEnd/>
          </a:ln>
        </p:spPr>
        <p:txBody>
          <a:bodyPr wrap="none">
            <a:spAutoFit/>
          </a:bodyPr>
          <a:lstStyle/>
          <a:p>
            <a:r>
              <a:rPr lang="en-US" sz="2400" dirty="0">
                <a:solidFill>
                  <a:srgbClr val="009900"/>
                </a:solidFill>
                <a:latin typeface="Arial" pitchFamily="34" charset="0"/>
              </a:rPr>
              <a:t>value</a:t>
            </a:r>
          </a:p>
        </p:txBody>
      </p:sp>
      <p:grpSp>
        <p:nvGrpSpPr>
          <p:cNvPr id="21517" name="Group 27"/>
          <p:cNvGrpSpPr>
            <a:grpSpLocks/>
          </p:cNvGrpSpPr>
          <p:nvPr/>
        </p:nvGrpSpPr>
        <p:grpSpPr bwMode="auto">
          <a:xfrm>
            <a:off x="5322888" y="4984750"/>
            <a:ext cx="1377950" cy="423863"/>
            <a:chOff x="1313" y="2496"/>
            <a:chExt cx="1252" cy="427"/>
          </a:xfrm>
        </p:grpSpPr>
        <p:sp>
          <p:nvSpPr>
            <p:cNvPr id="21518" name="Freeform 28"/>
            <p:cNvSpPr>
              <a:spLocks/>
            </p:cNvSpPr>
            <p:nvPr/>
          </p:nvSpPr>
          <p:spPr bwMode="auto">
            <a:xfrm>
              <a:off x="1945" y="2502"/>
              <a:ext cx="620" cy="421"/>
            </a:xfrm>
            <a:custGeom>
              <a:avLst/>
              <a:gdLst>
                <a:gd name="T0" fmla="*/ 775 w 348"/>
                <a:gd name="T1" fmla="*/ 3569 h 228"/>
                <a:gd name="T2" fmla="*/ 3930 w 348"/>
                <a:gd name="T3" fmla="*/ 0 h 228"/>
                <a:gd name="T4" fmla="*/ 11135 w 348"/>
                <a:gd name="T5" fmla="*/ 9035 h 228"/>
                <a:gd name="T6" fmla="*/ 6802 w 348"/>
                <a:gd name="T7" fmla="*/ 5244 h 228"/>
                <a:gd name="T8" fmla="*/ 8637 w 348"/>
                <a:gd name="T9" fmla="*/ 8091 h 228"/>
                <a:gd name="T10" fmla="*/ 4614 w 348"/>
                <a:gd name="T11" fmla="*/ 4998 h 228"/>
                <a:gd name="T12" fmla="*/ 7192 w 348"/>
                <a:gd name="T13" fmla="*/ 7624 h 228"/>
                <a:gd name="T14" fmla="*/ 0 w 348"/>
                <a:gd name="T15" fmla="*/ 4409 h 228"/>
                <a:gd name="T16" fmla="*/ 775 w 348"/>
                <a:gd name="T17" fmla="*/ 3569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21519" name="Freeform 29"/>
            <p:cNvSpPr>
              <a:spLocks/>
            </p:cNvSpPr>
            <p:nvPr/>
          </p:nvSpPr>
          <p:spPr bwMode="auto">
            <a:xfrm>
              <a:off x="1313" y="2496"/>
              <a:ext cx="620" cy="427"/>
            </a:xfrm>
            <a:custGeom>
              <a:avLst/>
              <a:gdLst>
                <a:gd name="T0" fmla="*/ 10266 w 348"/>
                <a:gd name="T1" fmla="*/ 3483 h 231"/>
                <a:gd name="T2" fmla="*/ 7192 w 348"/>
                <a:gd name="T3" fmla="*/ 0 h 231"/>
                <a:gd name="T4" fmla="*/ 0 w 348"/>
                <a:gd name="T5" fmla="*/ 9209 h 231"/>
                <a:gd name="T6" fmla="*/ 4796 w 348"/>
                <a:gd name="T7" fmla="*/ 5396 h 231"/>
                <a:gd name="T8" fmla="*/ 2498 w 348"/>
                <a:gd name="T9" fmla="*/ 8268 h 231"/>
                <a:gd name="T10" fmla="*/ 6802 w 348"/>
                <a:gd name="T11" fmla="*/ 5268 h 231"/>
                <a:gd name="T12" fmla="*/ 4411 w 348"/>
                <a:gd name="T13" fmla="*/ 7900 h 231"/>
                <a:gd name="T14" fmla="*/ 11135 w 348"/>
                <a:gd name="T15" fmla="*/ 4555 h 231"/>
                <a:gd name="T16" fmla="*/ 10266 w 348"/>
                <a:gd name="T17" fmla="*/ 3483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21520" name="Oval 30"/>
            <p:cNvSpPr>
              <a:spLocks noChangeArrowheads="1"/>
            </p:cNvSpPr>
            <p:nvPr/>
          </p:nvSpPr>
          <p:spPr bwMode="auto">
            <a:xfrm>
              <a:off x="1722" y="2579"/>
              <a:ext cx="391" cy="344"/>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21521" name="Oval 31"/>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0"/>
          </p:nvPr>
        </p:nvSpPr>
        <p:spPr>
          <a:noFill/>
        </p:spPr>
        <p:txBody>
          <a:bodyPr/>
          <a:lstStyle/>
          <a:p>
            <a:r>
              <a:rPr lang="en-US"/>
              <a:t>Art of Multiprocessor Programming</a:t>
            </a:r>
          </a:p>
        </p:txBody>
      </p:sp>
      <p:sp>
        <p:nvSpPr>
          <p:cNvPr id="22531" name="Slide Number Placeholder 4"/>
          <p:cNvSpPr>
            <a:spLocks noGrp="1"/>
          </p:cNvSpPr>
          <p:nvPr>
            <p:ph type="sldNum" sz="quarter" idx="11"/>
          </p:nvPr>
        </p:nvSpPr>
        <p:spPr>
          <a:noFill/>
        </p:spPr>
        <p:txBody>
          <a:bodyPr/>
          <a:lstStyle/>
          <a:p>
            <a:fld id="{ECB51FB4-24E6-4FDB-BD1D-6F7F3D9C29E1}" type="slidenum">
              <a:rPr lang="ar-SA" smtClean="0"/>
              <a:pPr/>
              <a:t>21</a:t>
            </a:fld>
            <a:endParaRPr lang="en-US"/>
          </a:p>
        </p:txBody>
      </p:sp>
      <p:pic>
        <p:nvPicPr>
          <p:cNvPr id="22532" name="Picture 2"/>
          <p:cNvPicPr>
            <a:picLocks noChangeAspect="1" noChangeArrowheads="1"/>
          </p:cNvPicPr>
          <p:nvPr/>
        </p:nvPicPr>
        <p:blipFill>
          <a:blip r:embed="rId3" cstate="print"/>
          <a:srcRect/>
          <a:stretch>
            <a:fillRect/>
          </a:stretch>
        </p:blipFill>
        <p:spPr bwMode="auto">
          <a:xfrm>
            <a:off x="5222875" y="1651000"/>
            <a:ext cx="3057525" cy="1873250"/>
          </a:xfrm>
          <a:prstGeom prst="rect">
            <a:avLst/>
          </a:prstGeom>
          <a:noFill/>
          <a:ln w="9525">
            <a:noFill/>
            <a:miter lim="800000"/>
            <a:headEnd/>
            <a:tailEnd/>
          </a:ln>
        </p:spPr>
      </p:pic>
      <p:sp>
        <p:nvSpPr>
          <p:cNvPr id="22533" name="Rectangle 3"/>
          <p:cNvSpPr>
            <a:spLocks noGrp="1" noChangeArrowheads="1"/>
          </p:cNvSpPr>
          <p:nvPr>
            <p:ph type="title"/>
          </p:nvPr>
        </p:nvSpPr>
        <p:spPr/>
        <p:txBody>
          <a:bodyPr/>
          <a:lstStyle/>
          <a:p>
            <a:r>
              <a:rPr lang="en-US"/>
              <a:t>Writing to Memory</a:t>
            </a:r>
          </a:p>
        </p:txBody>
      </p:sp>
      <p:grpSp>
        <p:nvGrpSpPr>
          <p:cNvPr id="22534" name="Group 4"/>
          <p:cNvGrpSpPr>
            <a:grpSpLocks/>
          </p:cNvGrpSpPr>
          <p:nvPr/>
        </p:nvGrpSpPr>
        <p:grpSpPr bwMode="auto">
          <a:xfrm flipH="1">
            <a:off x="1477963" y="4859338"/>
            <a:ext cx="1447800" cy="1295400"/>
            <a:chOff x="3168" y="1824"/>
            <a:chExt cx="912" cy="816"/>
          </a:xfrm>
        </p:grpSpPr>
        <p:sp>
          <p:nvSpPr>
            <p:cNvPr id="22547" name="Freeform 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2548" name="Freeform 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2549" name="Freeform 7"/>
            <p:cNvSpPr>
              <a:spLocks/>
            </p:cNvSpPr>
            <p:nvPr/>
          </p:nvSpPr>
          <p:spPr bwMode="auto">
            <a:xfrm>
              <a:off x="3504" y="1824"/>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2550" name="Freeform 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2551" name="Freeform 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2552" name="Freeform 1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2553" name="Freeform 11"/>
            <p:cNvSpPr>
              <a:spLocks/>
            </p:cNvSpPr>
            <p:nvPr/>
          </p:nvSpPr>
          <p:spPr bwMode="auto">
            <a:xfrm>
              <a:off x="3504" y="2304"/>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2554" name="Freeform 12"/>
            <p:cNvSpPr>
              <a:spLocks/>
            </p:cNvSpPr>
            <p:nvPr/>
          </p:nvSpPr>
          <p:spPr bwMode="auto">
            <a:xfrm>
              <a:off x="3312" y="2160"/>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2555" name="Freeform 13"/>
            <p:cNvSpPr>
              <a:spLocks/>
            </p:cNvSpPr>
            <p:nvPr/>
          </p:nvSpPr>
          <p:spPr bwMode="auto">
            <a:xfrm>
              <a:off x="3168" y="2016"/>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2535" name="Freeform 14"/>
          <p:cNvSpPr>
            <a:spLocks/>
          </p:cNvSpPr>
          <p:nvPr/>
        </p:nvSpPr>
        <p:spPr bwMode="auto">
          <a:xfrm>
            <a:off x="1409700" y="2838450"/>
            <a:ext cx="3702050" cy="1268413"/>
          </a:xfrm>
          <a:custGeom>
            <a:avLst/>
            <a:gdLst>
              <a:gd name="T0" fmla="*/ 0 w 2332"/>
              <a:gd name="T1" fmla="*/ 2147483647 h 799"/>
              <a:gd name="T2" fmla="*/ 2147483647 w 2332"/>
              <a:gd name="T3" fmla="*/ 2147483647 h 799"/>
              <a:gd name="T4" fmla="*/ 2147483647 w 2332"/>
              <a:gd name="T5" fmla="*/ 2147483647 h 799"/>
              <a:gd name="T6" fmla="*/ 0 60000 65536"/>
              <a:gd name="T7" fmla="*/ 0 60000 65536"/>
              <a:gd name="T8" fmla="*/ 0 60000 65536"/>
              <a:gd name="T9" fmla="*/ 0 w 2332"/>
              <a:gd name="T10" fmla="*/ 0 h 799"/>
              <a:gd name="T11" fmla="*/ 2332 w 2332"/>
              <a:gd name="T12" fmla="*/ 799 h 799"/>
            </a:gdLst>
            <a:ahLst/>
            <a:cxnLst>
              <a:cxn ang="T6">
                <a:pos x="T0" y="T1"/>
              </a:cxn>
              <a:cxn ang="T7">
                <a:pos x="T2" y="T3"/>
              </a:cxn>
              <a:cxn ang="T8">
                <a:pos x="T4" y="T5"/>
              </a:cxn>
            </a:cxnLst>
            <a:rect l="T9" t="T10" r="T11" b="T12"/>
            <a:pathLst>
              <a:path w="2332" h="799">
                <a:moveTo>
                  <a:pt x="0" y="478"/>
                </a:moveTo>
                <a:cubicBezTo>
                  <a:pt x="291" y="239"/>
                  <a:pt x="583" y="0"/>
                  <a:pt x="972" y="53"/>
                </a:cubicBezTo>
                <a:cubicBezTo>
                  <a:pt x="1361" y="106"/>
                  <a:pt x="2104" y="675"/>
                  <a:pt x="2332" y="799"/>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22536" name="Freeform 15"/>
          <p:cNvSpPr>
            <a:spLocks/>
          </p:cNvSpPr>
          <p:nvPr/>
        </p:nvSpPr>
        <p:spPr bwMode="auto">
          <a:xfrm>
            <a:off x="4241800" y="2906713"/>
            <a:ext cx="4271963" cy="976312"/>
          </a:xfrm>
          <a:custGeom>
            <a:avLst/>
            <a:gdLst>
              <a:gd name="T0" fmla="*/ 0 w 2691"/>
              <a:gd name="T1" fmla="*/ 2147483647 h 615"/>
              <a:gd name="T2" fmla="*/ 2147483647 w 2691"/>
              <a:gd name="T3" fmla="*/ 2147483647 h 615"/>
              <a:gd name="T4" fmla="*/ 2147483647 w 2691"/>
              <a:gd name="T5" fmla="*/ 2147483647 h 615"/>
              <a:gd name="T6" fmla="*/ 0 60000 65536"/>
              <a:gd name="T7" fmla="*/ 0 60000 65536"/>
              <a:gd name="T8" fmla="*/ 0 60000 65536"/>
              <a:gd name="T9" fmla="*/ 0 w 2691"/>
              <a:gd name="T10" fmla="*/ 0 h 615"/>
              <a:gd name="T11" fmla="*/ 2691 w 2691"/>
              <a:gd name="T12" fmla="*/ 615 h 615"/>
            </a:gdLst>
            <a:ahLst/>
            <a:cxnLst>
              <a:cxn ang="T6">
                <a:pos x="T0" y="T1"/>
              </a:cxn>
              <a:cxn ang="T7">
                <a:pos x="T2" y="T3"/>
              </a:cxn>
              <a:cxn ang="T8">
                <a:pos x="T4" y="T5"/>
              </a:cxn>
            </a:cxnLst>
            <a:rect l="T9" t="T10" r="T11" b="T12"/>
            <a:pathLst>
              <a:path w="2691" h="615">
                <a:moveTo>
                  <a:pt x="0" y="379"/>
                </a:moveTo>
                <a:cubicBezTo>
                  <a:pt x="257" y="189"/>
                  <a:pt x="515" y="0"/>
                  <a:pt x="963" y="39"/>
                </a:cubicBezTo>
                <a:cubicBezTo>
                  <a:pt x="1411" y="78"/>
                  <a:pt x="2051" y="346"/>
                  <a:pt x="2691" y="615"/>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22537" name="Freeform 16"/>
          <p:cNvSpPr>
            <a:spLocks/>
          </p:cNvSpPr>
          <p:nvPr/>
        </p:nvSpPr>
        <p:spPr bwMode="auto">
          <a:xfrm>
            <a:off x="2517775" y="3357563"/>
            <a:ext cx="1770063" cy="1544637"/>
          </a:xfrm>
          <a:custGeom>
            <a:avLst/>
            <a:gdLst>
              <a:gd name="T0" fmla="*/ 0 w 1115"/>
              <a:gd name="T1" fmla="*/ 2147483647 h 973"/>
              <a:gd name="T2" fmla="*/ 2147483647 w 1115"/>
              <a:gd name="T3" fmla="*/ 2147483647 h 973"/>
              <a:gd name="T4" fmla="*/ 2147483647 w 1115"/>
              <a:gd name="T5" fmla="*/ 0 h 973"/>
              <a:gd name="T6" fmla="*/ 2147483647 w 1115"/>
              <a:gd name="T7" fmla="*/ 2147483647 h 973"/>
              <a:gd name="T8" fmla="*/ 2147483647 w 1115"/>
              <a:gd name="T9" fmla="*/ 2147483647 h 973"/>
              <a:gd name="T10" fmla="*/ 2147483647 w 1115"/>
              <a:gd name="T11" fmla="*/ 2147483647 h 973"/>
              <a:gd name="T12" fmla="*/ 0 60000 65536"/>
              <a:gd name="T13" fmla="*/ 0 60000 65536"/>
              <a:gd name="T14" fmla="*/ 0 60000 65536"/>
              <a:gd name="T15" fmla="*/ 0 60000 65536"/>
              <a:gd name="T16" fmla="*/ 0 60000 65536"/>
              <a:gd name="T17" fmla="*/ 0 60000 65536"/>
              <a:gd name="T18" fmla="*/ 0 w 1115"/>
              <a:gd name="T19" fmla="*/ 0 h 973"/>
              <a:gd name="T20" fmla="*/ 1115 w 1115"/>
              <a:gd name="T21" fmla="*/ 973 h 973"/>
            </a:gdLst>
            <a:ahLst/>
            <a:cxnLst>
              <a:cxn ang="T12">
                <a:pos x="T0" y="T1"/>
              </a:cxn>
              <a:cxn ang="T13">
                <a:pos x="T2" y="T3"/>
              </a:cxn>
              <a:cxn ang="T14">
                <a:pos x="T4" y="T5"/>
              </a:cxn>
              <a:cxn ang="T15">
                <a:pos x="T6" y="T7"/>
              </a:cxn>
              <a:cxn ang="T16">
                <a:pos x="T8" y="T9"/>
              </a:cxn>
              <a:cxn ang="T17">
                <a:pos x="T10" y="T11"/>
              </a:cxn>
            </a:cxnLst>
            <a:rect l="T18" t="T19" r="T20" b="T21"/>
            <a:pathLst>
              <a:path w="1115" h="973">
                <a:moveTo>
                  <a:pt x="0" y="812"/>
                </a:moveTo>
                <a:lnTo>
                  <a:pt x="312" y="321"/>
                </a:lnTo>
                <a:lnTo>
                  <a:pt x="879" y="0"/>
                </a:lnTo>
                <a:lnTo>
                  <a:pt x="1115" y="161"/>
                </a:lnTo>
                <a:lnTo>
                  <a:pt x="557" y="510"/>
                </a:lnTo>
                <a:lnTo>
                  <a:pt x="369" y="973"/>
                </a:lnTo>
              </a:path>
            </a:pathLst>
          </a:custGeom>
          <a:solidFill>
            <a:srgbClr val="FFFF00"/>
          </a:solidFill>
          <a:ln w="9525">
            <a:solidFill>
              <a:srgbClr val="FFFF00"/>
            </a:solidFill>
            <a:round/>
            <a:headEnd/>
            <a:tailEnd/>
          </a:ln>
        </p:spPr>
        <p:txBody>
          <a:bodyPr wrap="none" anchor="ctr"/>
          <a:lstStyle/>
          <a:p>
            <a:endParaRPr lang="en-US" dirty="0">
              <a:latin typeface="Arial" pitchFamily="34" charset="0"/>
            </a:endParaRPr>
          </a:p>
        </p:txBody>
      </p:sp>
      <p:sp>
        <p:nvSpPr>
          <p:cNvPr id="22538" name="Freeform 17"/>
          <p:cNvSpPr>
            <a:spLocks/>
          </p:cNvSpPr>
          <p:nvPr/>
        </p:nvSpPr>
        <p:spPr bwMode="auto">
          <a:xfrm>
            <a:off x="4676775" y="3073400"/>
            <a:ext cx="1828800" cy="914400"/>
          </a:xfrm>
          <a:custGeom>
            <a:avLst/>
            <a:gdLst>
              <a:gd name="T0" fmla="*/ 0 w 1152"/>
              <a:gd name="T1" fmla="*/ 2147483647 h 576"/>
              <a:gd name="T2" fmla="*/ 2147483647 w 1152"/>
              <a:gd name="T3" fmla="*/ 2147483647 h 576"/>
              <a:gd name="T4" fmla="*/ 2147483647 w 1152"/>
              <a:gd name="T5" fmla="*/ 0 h 576"/>
              <a:gd name="T6" fmla="*/ 2147483647 w 1152"/>
              <a:gd name="T7" fmla="*/ 2147483647 h 576"/>
              <a:gd name="T8" fmla="*/ 2147483647 w 1152"/>
              <a:gd name="T9" fmla="*/ 2147483647 h 576"/>
              <a:gd name="T10" fmla="*/ 2147483647 w 1152"/>
              <a:gd name="T11" fmla="*/ 2147483647 h 576"/>
              <a:gd name="T12" fmla="*/ 0 60000 65536"/>
              <a:gd name="T13" fmla="*/ 0 60000 65536"/>
              <a:gd name="T14" fmla="*/ 0 60000 65536"/>
              <a:gd name="T15" fmla="*/ 0 60000 65536"/>
              <a:gd name="T16" fmla="*/ 0 60000 65536"/>
              <a:gd name="T17" fmla="*/ 0 60000 65536"/>
              <a:gd name="T18" fmla="*/ 0 w 1152"/>
              <a:gd name="T19" fmla="*/ 0 h 576"/>
              <a:gd name="T20" fmla="*/ 1152 w 115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152" h="576">
                <a:moveTo>
                  <a:pt x="0" y="444"/>
                </a:moveTo>
                <a:lnTo>
                  <a:pt x="321" y="236"/>
                </a:lnTo>
                <a:lnTo>
                  <a:pt x="1029" y="0"/>
                </a:lnTo>
                <a:lnTo>
                  <a:pt x="1152" y="66"/>
                </a:lnTo>
                <a:lnTo>
                  <a:pt x="501" y="377"/>
                </a:lnTo>
                <a:lnTo>
                  <a:pt x="170" y="576"/>
                </a:lnTo>
              </a:path>
            </a:pathLst>
          </a:custGeom>
          <a:solidFill>
            <a:srgbClr val="FFFF00"/>
          </a:solidFill>
          <a:ln w="9525">
            <a:solidFill>
              <a:srgbClr val="FFFF00"/>
            </a:solidFill>
            <a:round/>
            <a:headEnd/>
            <a:tailEnd type="triangle" w="med" len="med"/>
          </a:ln>
        </p:spPr>
        <p:txBody>
          <a:bodyPr wrap="none" anchor="ctr"/>
          <a:lstStyle/>
          <a:p>
            <a:endParaRPr lang="en-US" dirty="0">
              <a:latin typeface="Arial" pitchFamily="34" charset="0"/>
            </a:endParaRPr>
          </a:p>
        </p:txBody>
      </p:sp>
      <p:grpSp>
        <p:nvGrpSpPr>
          <p:cNvPr id="22539" name="Group 19"/>
          <p:cNvGrpSpPr>
            <a:grpSpLocks/>
          </p:cNvGrpSpPr>
          <p:nvPr/>
        </p:nvGrpSpPr>
        <p:grpSpPr bwMode="auto">
          <a:xfrm>
            <a:off x="585788" y="1776413"/>
            <a:ext cx="1646237" cy="592137"/>
            <a:chOff x="190" y="2592"/>
            <a:chExt cx="1037" cy="373"/>
          </a:xfrm>
        </p:grpSpPr>
        <p:sp>
          <p:nvSpPr>
            <p:cNvPr id="22542" name="Freeform 20"/>
            <p:cNvSpPr>
              <a:spLocks/>
            </p:cNvSpPr>
            <p:nvPr/>
          </p:nvSpPr>
          <p:spPr bwMode="auto">
            <a:xfrm>
              <a:off x="797" y="2594"/>
              <a:ext cx="430" cy="263"/>
            </a:xfrm>
            <a:custGeom>
              <a:avLst/>
              <a:gdLst>
                <a:gd name="T0" fmla="*/ 86 w 348"/>
                <a:gd name="T1" fmla="*/ 211 h 228"/>
                <a:gd name="T2" fmla="*/ 439 w 348"/>
                <a:gd name="T3" fmla="*/ 0 h 228"/>
                <a:gd name="T4" fmla="*/ 1238 w 348"/>
                <a:gd name="T5" fmla="*/ 538 h 228"/>
                <a:gd name="T6" fmla="*/ 759 w 348"/>
                <a:gd name="T7" fmla="*/ 310 h 228"/>
                <a:gd name="T8" fmla="*/ 961 w 348"/>
                <a:gd name="T9" fmla="*/ 480 h 228"/>
                <a:gd name="T10" fmla="*/ 513 w 348"/>
                <a:gd name="T11" fmla="*/ 296 h 228"/>
                <a:gd name="T12" fmla="*/ 802 w 348"/>
                <a:gd name="T13" fmla="*/ 451 h 228"/>
                <a:gd name="T14" fmla="*/ 0 w 348"/>
                <a:gd name="T15" fmla="*/ 262 h 228"/>
                <a:gd name="T16" fmla="*/ 86 w 348"/>
                <a:gd name="T17" fmla="*/ 211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2543" name="Freeform 21"/>
            <p:cNvSpPr>
              <a:spLocks/>
            </p:cNvSpPr>
            <p:nvPr/>
          </p:nvSpPr>
          <p:spPr bwMode="auto">
            <a:xfrm>
              <a:off x="190" y="2592"/>
              <a:ext cx="430" cy="267"/>
            </a:xfrm>
            <a:custGeom>
              <a:avLst/>
              <a:gdLst>
                <a:gd name="T0" fmla="*/ 1145 w 348"/>
                <a:gd name="T1" fmla="*/ 208 h 231"/>
                <a:gd name="T2" fmla="*/ 802 w 348"/>
                <a:gd name="T3" fmla="*/ 0 h 231"/>
                <a:gd name="T4" fmla="*/ 0 w 348"/>
                <a:gd name="T5" fmla="*/ 551 h 231"/>
                <a:gd name="T6" fmla="*/ 534 w 348"/>
                <a:gd name="T7" fmla="*/ 320 h 231"/>
                <a:gd name="T8" fmla="*/ 278 w 348"/>
                <a:gd name="T9" fmla="*/ 494 h 231"/>
                <a:gd name="T10" fmla="*/ 759 w 348"/>
                <a:gd name="T11" fmla="*/ 317 h 231"/>
                <a:gd name="T12" fmla="*/ 493 w 348"/>
                <a:gd name="T13" fmla="*/ 473 h 231"/>
                <a:gd name="T14" fmla="*/ 1238 w 348"/>
                <a:gd name="T15" fmla="*/ 274 h 231"/>
                <a:gd name="T16" fmla="*/ 1145 w 348"/>
                <a:gd name="T17" fmla="*/ 20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nvGrpSpPr>
            <p:cNvPr id="22544" name="Group 22"/>
            <p:cNvGrpSpPr>
              <a:grpSpLocks/>
            </p:cNvGrpSpPr>
            <p:nvPr/>
          </p:nvGrpSpPr>
          <p:grpSpPr bwMode="auto">
            <a:xfrm>
              <a:off x="511" y="2699"/>
              <a:ext cx="405" cy="266"/>
              <a:chOff x="312" y="2568"/>
              <a:chExt cx="604" cy="397"/>
            </a:xfrm>
          </p:grpSpPr>
          <p:sp>
            <p:nvSpPr>
              <p:cNvPr id="22545" name="Rectangle 23"/>
              <p:cNvSpPr>
                <a:spLocks noChangeArrowheads="1"/>
              </p:cNvSpPr>
              <p:nvPr/>
            </p:nvSpPr>
            <p:spPr bwMode="auto">
              <a:xfrm>
                <a:off x="319" y="2578"/>
                <a:ext cx="597" cy="387"/>
              </a:xfrm>
              <a:prstGeom prst="rect">
                <a:avLst/>
              </a:prstGeom>
              <a:solidFill>
                <a:srgbClr val="FF0000"/>
              </a:solidFill>
              <a:ln w="38100">
                <a:solidFill>
                  <a:schemeClr val="tx1"/>
                </a:solidFill>
                <a:miter lim="800000"/>
                <a:headEnd/>
                <a:tailEnd/>
              </a:ln>
            </p:spPr>
            <p:txBody>
              <a:bodyPr wrap="none" anchor="ctr"/>
              <a:lstStyle/>
              <a:p>
                <a:endParaRPr lang="en-US" dirty="0">
                  <a:latin typeface="Arial" pitchFamily="34" charset="0"/>
                </a:endParaRPr>
              </a:p>
            </p:txBody>
          </p:sp>
          <p:sp>
            <p:nvSpPr>
              <p:cNvPr id="22546" name="Freeform 24"/>
              <p:cNvSpPr>
                <a:spLocks/>
              </p:cNvSpPr>
              <p:nvPr/>
            </p:nvSpPr>
            <p:spPr bwMode="auto">
              <a:xfrm>
                <a:off x="312" y="2568"/>
                <a:ext cx="604" cy="208"/>
              </a:xfrm>
              <a:custGeom>
                <a:avLst/>
                <a:gdLst>
                  <a:gd name="T0" fmla="*/ 0 w 604"/>
                  <a:gd name="T1" fmla="*/ 0 h 208"/>
                  <a:gd name="T2" fmla="*/ 321 w 604"/>
                  <a:gd name="T3" fmla="*/ 208 h 208"/>
                  <a:gd name="T4" fmla="*/ 604 w 604"/>
                  <a:gd name="T5" fmla="*/ 19 h 208"/>
                  <a:gd name="T6" fmla="*/ 0 60000 65536"/>
                  <a:gd name="T7" fmla="*/ 0 60000 65536"/>
                  <a:gd name="T8" fmla="*/ 0 60000 65536"/>
                  <a:gd name="T9" fmla="*/ 0 w 604"/>
                  <a:gd name="T10" fmla="*/ 0 h 208"/>
                  <a:gd name="T11" fmla="*/ 604 w 604"/>
                  <a:gd name="T12" fmla="*/ 208 h 208"/>
                </a:gdLst>
                <a:ahLst/>
                <a:cxnLst>
                  <a:cxn ang="T6">
                    <a:pos x="T0" y="T1"/>
                  </a:cxn>
                  <a:cxn ang="T7">
                    <a:pos x="T2" y="T3"/>
                  </a:cxn>
                  <a:cxn ang="T8">
                    <a:pos x="T4" y="T5"/>
                  </a:cxn>
                </a:cxnLst>
                <a:rect l="T9" t="T10" r="T11" b="T12"/>
                <a:pathLst>
                  <a:path w="604" h="208">
                    <a:moveTo>
                      <a:pt x="0" y="0"/>
                    </a:moveTo>
                    <a:lnTo>
                      <a:pt x="321" y="208"/>
                    </a:lnTo>
                    <a:lnTo>
                      <a:pt x="604" y="19"/>
                    </a:lnTo>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grpSp>
      <p:sp>
        <p:nvSpPr>
          <p:cNvPr id="22540" name="Freeform 25"/>
          <p:cNvSpPr>
            <a:spLocks/>
          </p:cNvSpPr>
          <p:nvPr/>
        </p:nvSpPr>
        <p:spPr bwMode="auto">
          <a:xfrm>
            <a:off x="1739900" y="2628900"/>
            <a:ext cx="4646613" cy="2243138"/>
          </a:xfrm>
          <a:custGeom>
            <a:avLst/>
            <a:gdLst>
              <a:gd name="T0" fmla="*/ 2147483647 w 2927"/>
              <a:gd name="T1" fmla="*/ 2147483647 h 1413"/>
              <a:gd name="T2" fmla="*/ 2147483647 w 2927"/>
              <a:gd name="T3" fmla="*/ 2147483647 h 1413"/>
              <a:gd name="T4" fmla="*/ 2147483647 w 2927"/>
              <a:gd name="T5" fmla="*/ 2147483647 h 1413"/>
              <a:gd name="T6" fmla="*/ 2147483647 w 2927"/>
              <a:gd name="T7" fmla="*/ 2147483647 h 1413"/>
              <a:gd name="T8" fmla="*/ 2147483647 w 2927"/>
              <a:gd name="T9" fmla="*/ 2147483647 h 1413"/>
              <a:gd name="T10" fmla="*/ 2147483647 w 2927"/>
              <a:gd name="T11" fmla="*/ 2147483647 h 1413"/>
              <a:gd name="T12" fmla="*/ 2147483647 w 2927"/>
              <a:gd name="T13" fmla="*/ 2147483647 h 1413"/>
              <a:gd name="T14" fmla="*/ 0 60000 65536"/>
              <a:gd name="T15" fmla="*/ 0 60000 65536"/>
              <a:gd name="T16" fmla="*/ 0 60000 65536"/>
              <a:gd name="T17" fmla="*/ 0 60000 65536"/>
              <a:gd name="T18" fmla="*/ 0 60000 65536"/>
              <a:gd name="T19" fmla="*/ 0 60000 65536"/>
              <a:gd name="T20" fmla="*/ 0 60000 65536"/>
              <a:gd name="T21" fmla="*/ 0 w 2927"/>
              <a:gd name="T22" fmla="*/ 0 h 1413"/>
              <a:gd name="T23" fmla="*/ 2927 w 2927"/>
              <a:gd name="T24" fmla="*/ 1413 h 14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27" h="1413">
                <a:moveTo>
                  <a:pt x="18" y="1403"/>
                </a:moveTo>
                <a:cubicBezTo>
                  <a:pt x="9" y="1408"/>
                  <a:pt x="0" y="1413"/>
                  <a:pt x="65" y="1281"/>
                </a:cubicBezTo>
                <a:cubicBezTo>
                  <a:pt x="130" y="1149"/>
                  <a:pt x="214" y="819"/>
                  <a:pt x="405" y="610"/>
                </a:cubicBezTo>
                <a:cubicBezTo>
                  <a:pt x="596" y="401"/>
                  <a:pt x="950" y="50"/>
                  <a:pt x="1208" y="25"/>
                </a:cubicBezTo>
                <a:cubicBezTo>
                  <a:pt x="1466" y="0"/>
                  <a:pt x="1743" y="451"/>
                  <a:pt x="1954" y="459"/>
                </a:cubicBezTo>
                <a:cubicBezTo>
                  <a:pt x="2165" y="467"/>
                  <a:pt x="2311" y="135"/>
                  <a:pt x="2473" y="72"/>
                </a:cubicBezTo>
                <a:cubicBezTo>
                  <a:pt x="2635" y="9"/>
                  <a:pt x="2781" y="45"/>
                  <a:pt x="2927" y="81"/>
                </a:cubicBezTo>
              </a:path>
            </a:pathLst>
          </a:custGeom>
          <a:noFill/>
          <a:ln w="76200">
            <a:solidFill>
              <a:srgbClr val="FF0000"/>
            </a:solidFill>
            <a:round/>
            <a:headEnd/>
            <a:tailEnd type="triangle" w="med" len="med"/>
          </a:ln>
        </p:spPr>
        <p:txBody>
          <a:bodyPr wrap="none" anchor="ctr"/>
          <a:lstStyle/>
          <a:p>
            <a:endParaRPr lang="en-US" dirty="0">
              <a:latin typeface="Arial" pitchFamily="34" charset="0"/>
            </a:endParaRPr>
          </a:p>
        </p:txBody>
      </p:sp>
      <p:sp>
        <p:nvSpPr>
          <p:cNvPr id="22541" name="Text Box 27"/>
          <p:cNvSpPr txBox="1">
            <a:spLocks noChangeArrowheads="1"/>
          </p:cNvSpPr>
          <p:nvPr/>
        </p:nvSpPr>
        <p:spPr bwMode="auto">
          <a:xfrm>
            <a:off x="2292350" y="1838325"/>
            <a:ext cx="2317750" cy="457200"/>
          </a:xfrm>
          <a:prstGeom prst="rect">
            <a:avLst/>
          </a:prstGeom>
          <a:noFill/>
          <a:ln w="9525">
            <a:noFill/>
            <a:miter lim="800000"/>
            <a:headEnd/>
            <a:tailEnd/>
          </a:ln>
        </p:spPr>
        <p:txBody>
          <a:bodyPr wrap="none">
            <a:spAutoFit/>
          </a:bodyPr>
          <a:lstStyle/>
          <a:p>
            <a:r>
              <a:rPr lang="en-US" sz="2400" dirty="0">
                <a:solidFill>
                  <a:srgbClr val="FF3300"/>
                </a:solidFill>
                <a:latin typeface="Arial" pitchFamily="34" charset="0"/>
              </a:rPr>
              <a:t>address, value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p:cNvSpPr>
            <a:spLocks noGrp="1"/>
          </p:cNvSpPr>
          <p:nvPr>
            <p:ph type="ftr" sz="quarter" idx="10"/>
          </p:nvPr>
        </p:nvSpPr>
        <p:spPr>
          <a:noFill/>
        </p:spPr>
        <p:txBody>
          <a:bodyPr/>
          <a:lstStyle/>
          <a:p>
            <a:r>
              <a:rPr lang="en-US"/>
              <a:t>Art of Multiprocessor Programming</a:t>
            </a:r>
          </a:p>
        </p:txBody>
      </p:sp>
      <p:sp>
        <p:nvSpPr>
          <p:cNvPr id="23555" name="Slide Number Placeholder 4"/>
          <p:cNvSpPr>
            <a:spLocks noGrp="1"/>
          </p:cNvSpPr>
          <p:nvPr>
            <p:ph type="sldNum" sz="quarter" idx="11"/>
          </p:nvPr>
        </p:nvSpPr>
        <p:spPr>
          <a:noFill/>
        </p:spPr>
        <p:txBody>
          <a:bodyPr/>
          <a:lstStyle/>
          <a:p>
            <a:fld id="{84A500F9-883F-4E4D-95AF-8758ADA838B4}" type="slidenum">
              <a:rPr lang="ar-SA" smtClean="0"/>
              <a:pPr/>
              <a:t>22</a:t>
            </a:fld>
            <a:endParaRPr lang="en-US"/>
          </a:p>
        </p:txBody>
      </p:sp>
      <p:pic>
        <p:nvPicPr>
          <p:cNvPr id="23556" name="Picture 2"/>
          <p:cNvPicPr>
            <a:picLocks noChangeAspect="1" noChangeArrowheads="1"/>
          </p:cNvPicPr>
          <p:nvPr/>
        </p:nvPicPr>
        <p:blipFill>
          <a:blip r:embed="rId3" cstate="print"/>
          <a:srcRect/>
          <a:stretch>
            <a:fillRect/>
          </a:stretch>
        </p:blipFill>
        <p:spPr bwMode="auto">
          <a:xfrm>
            <a:off x="5222875" y="1651000"/>
            <a:ext cx="3057525" cy="1873250"/>
          </a:xfrm>
          <a:prstGeom prst="rect">
            <a:avLst/>
          </a:prstGeom>
          <a:noFill/>
          <a:ln w="9525">
            <a:noFill/>
            <a:miter lim="800000"/>
            <a:headEnd/>
            <a:tailEnd/>
          </a:ln>
        </p:spPr>
      </p:pic>
      <p:sp>
        <p:nvSpPr>
          <p:cNvPr id="23557" name="Rectangle 3"/>
          <p:cNvSpPr>
            <a:spLocks noGrp="1" noChangeArrowheads="1"/>
          </p:cNvSpPr>
          <p:nvPr>
            <p:ph type="title"/>
          </p:nvPr>
        </p:nvSpPr>
        <p:spPr/>
        <p:txBody>
          <a:bodyPr/>
          <a:lstStyle/>
          <a:p>
            <a:r>
              <a:rPr lang="en-US"/>
              <a:t>Writing to Memory</a:t>
            </a:r>
          </a:p>
        </p:txBody>
      </p:sp>
      <p:grpSp>
        <p:nvGrpSpPr>
          <p:cNvPr id="23558" name="Group 4"/>
          <p:cNvGrpSpPr>
            <a:grpSpLocks/>
          </p:cNvGrpSpPr>
          <p:nvPr/>
        </p:nvGrpSpPr>
        <p:grpSpPr bwMode="auto">
          <a:xfrm flipH="1">
            <a:off x="1477963" y="4859338"/>
            <a:ext cx="1447800" cy="1295400"/>
            <a:chOff x="3168" y="1824"/>
            <a:chExt cx="912" cy="816"/>
          </a:xfrm>
        </p:grpSpPr>
        <p:sp>
          <p:nvSpPr>
            <p:cNvPr id="23565" name="Freeform 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566" name="Freeform 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567" name="Freeform 7"/>
            <p:cNvSpPr>
              <a:spLocks/>
            </p:cNvSpPr>
            <p:nvPr/>
          </p:nvSpPr>
          <p:spPr bwMode="auto">
            <a:xfrm>
              <a:off x="3504" y="1824"/>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568" name="Freeform 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3569" name="Freeform 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3570" name="Freeform 1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3571" name="Freeform 11"/>
            <p:cNvSpPr>
              <a:spLocks/>
            </p:cNvSpPr>
            <p:nvPr/>
          </p:nvSpPr>
          <p:spPr bwMode="auto">
            <a:xfrm>
              <a:off x="3504" y="2304"/>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572" name="Freeform 12"/>
            <p:cNvSpPr>
              <a:spLocks/>
            </p:cNvSpPr>
            <p:nvPr/>
          </p:nvSpPr>
          <p:spPr bwMode="auto">
            <a:xfrm>
              <a:off x="3312" y="2160"/>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573" name="Freeform 13"/>
            <p:cNvSpPr>
              <a:spLocks/>
            </p:cNvSpPr>
            <p:nvPr/>
          </p:nvSpPr>
          <p:spPr bwMode="auto">
            <a:xfrm>
              <a:off x="3168" y="2016"/>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3559" name="Freeform 14"/>
          <p:cNvSpPr>
            <a:spLocks/>
          </p:cNvSpPr>
          <p:nvPr/>
        </p:nvSpPr>
        <p:spPr bwMode="auto">
          <a:xfrm>
            <a:off x="1409700" y="2838450"/>
            <a:ext cx="3702050" cy="1268413"/>
          </a:xfrm>
          <a:custGeom>
            <a:avLst/>
            <a:gdLst>
              <a:gd name="T0" fmla="*/ 0 w 2332"/>
              <a:gd name="T1" fmla="*/ 2147483647 h 799"/>
              <a:gd name="T2" fmla="*/ 2147483647 w 2332"/>
              <a:gd name="T3" fmla="*/ 2147483647 h 799"/>
              <a:gd name="T4" fmla="*/ 2147483647 w 2332"/>
              <a:gd name="T5" fmla="*/ 2147483647 h 799"/>
              <a:gd name="T6" fmla="*/ 0 60000 65536"/>
              <a:gd name="T7" fmla="*/ 0 60000 65536"/>
              <a:gd name="T8" fmla="*/ 0 60000 65536"/>
              <a:gd name="T9" fmla="*/ 0 w 2332"/>
              <a:gd name="T10" fmla="*/ 0 h 799"/>
              <a:gd name="T11" fmla="*/ 2332 w 2332"/>
              <a:gd name="T12" fmla="*/ 799 h 799"/>
            </a:gdLst>
            <a:ahLst/>
            <a:cxnLst>
              <a:cxn ang="T6">
                <a:pos x="T0" y="T1"/>
              </a:cxn>
              <a:cxn ang="T7">
                <a:pos x="T2" y="T3"/>
              </a:cxn>
              <a:cxn ang="T8">
                <a:pos x="T4" y="T5"/>
              </a:cxn>
            </a:cxnLst>
            <a:rect l="T9" t="T10" r="T11" b="T12"/>
            <a:pathLst>
              <a:path w="2332" h="799">
                <a:moveTo>
                  <a:pt x="0" y="478"/>
                </a:moveTo>
                <a:cubicBezTo>
                  <a:pt x="291" y="239"/>
                  <a:pt x="583" y="0"/>
                  <a:pt x="972" y="53"/>
                </a:cubicBezTo>
                <a:cubicBezTo>
                  <a:pt x="1361" y="106"/>
                  <a:pt x="2104" y="675"/>
                  <a:pt x="2332" y="799"/>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23560" name="Freeform 15"/>
          <p:cNvSpPr>
            <a:spLocks/>
          </p:cNvSpPr>
          <p:nvPr/>
        </p:nvSpPr>
        <p:spPr bwMode="auto">
          <a:xfrm>
            <a:off x="4241800" y="2906713"/>
            <a:ext cx="4271963" cy="976312"/>
          </a:xfrm>
          <a:custGeom>
            <a:avLst/>
            <a:gdLst>
              <a:gd name="T0" fmla="*/ 0 w 2691"/>
              <a:gd name="T1" fmla="*/ 2147483647 h 615"/>
              <a:gd name="T2" fmla="*/ 2147483647 w 2691"/>
              <a:gd name="T3" fmla="*/ 2147483647 h 615"/>
              <a:gd name="T4" fmla="*/ 2147483647 w 2691"/>
              <a:gd name="T5" fmla="*/ 2147483647 h 615"/>
              <a:gd name="T6" fmla="*/ 0 60000 65536"/>
              <a:gd name="T7" fmla="*/ 0 60000 65536"/>
              <a:gd name="T8" fmla="*/ 0 60000 65536"/>
              <a:gd name="T9" fmla="*/ 0 w 2691"/>
              <a:gd name="T10" fmla="*/ 0 h 615"/>
              <a:gd name="T11" fmla="*/ 2691 w 2691"/>
              <a:gd name="T12" fmla="*/ 615 h 615"/>
            </a:gdLst>
            <a:ahLst/>
            <a:cxnLst>
              <a:cxn ang="T6">
                <a:pos x="T0" y="T1"/>
              </a:cxn>
              <a:cxn ang="T7">
                <a:pos x="T2" y="T3"/>
              </a:cxn>
              <a:cxn ang="T8">
                <a:pos x="T4" y="T5"/>
              </a:cxn>
            </a:cxnLst>
            <a:rect l="T9" t="T10" r="T11" b="T12"/>
            <a:pathLst>
              <a:path w="2691" h="615">
                <a:moveTo>
                  <a:pt x="0" y="379"/>
                </a:moveTo>
                <a:cubicBezTo>
                  <a:pt x="257" y="189"/>
                  <a:pt x="515" y="0"/>
                  <a:pt x="963" y="39"/>
                </a:cubicBezTo>
                <a:cubicBezTo>
                  <a:pt x="1411" y="78"/>
                  <a:pt x="2051" y="346"/>
                  <a:pt x="2691" y="615"/>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23561" name="Freeform 16"/>
          <p:cNvSpPr>
            <a:spLocks/>
          </p:cNvSpPr>
          <p:nvPr/>
        </p:nvSpPr>
        <p:spPr bwMode="auto">
          <a:xfrm>
            <a:off x="2517775" y="3357563"/>
            <a:ext cx="1770063" cy="1544637"/>
          </a:xfrm>
          <a:custGeom>
            <a:avLst/>
            <a:gdLst>
              <a:gd name="T0" fmla="*/ 0 w 1115"/>
              <a:gd name="T1" fmla="*/ 2147483647 h 973"/>
              <a:gd name="T2" fmla="*/ 2147483647 w 1115"/>
              <a:gd name="T3" fmla="*/ 2147483647 h 973"/>
              <a:gd name="T4" fmla="*/ 2147483647 w 1115"/>
              <a:gd name="T5" fmla="*/ 0 h 973"/>
              <a:gd name="T6" fmla="*/ 2147483647 w 1115"/>
              <a:gd name="T7" fmla="*/ 2147483647 h 973"/>
              <a:gd name="T8" fmla="*/ 2147483647 w 1115"/>
              <a:gd name="T9" fmla="*/ 2147483647 h 973"/>
              <a:gd name="T10" fmla="*/ 2147483647 w 1115"/>
              <a:gd name="T11" fmla="*/ 2147483647 h 973"/>
              <a:gd name="T12" fmla="*/ 0 60000 65536"/>
              <a:gd name="T13" fmla="*/ 0 60000 65536"/>
              <a:gd name="T14" fmla="*/ 0 60000 65536"/>
              <a:gd name="T15" fmla="*/ 0 60000 65536"/>
              <a:gd name="T16" fmla="*/ 0 60000 65536"/>
              <a:gd name="T17" fmla="*/ 0 60000 65536"/>
              <a:gd name="T18" fmla="*/ 0 w 1115"/>
              <a:gd name="T19" fmla="*/ 0 h 973"/>
              <a:gd name="T20" fmla="*/ 1115 w 1115"/>
              <a:gd name="T21" fmla="*/ 973 h 973"/>
            </a:gdLst>
            <a:ahLst/>
            <a:cxnLst>
              <a:cxn ang="T12">
                <a:pos x="T0" y="T1"/>
              </a:cxn>
              <a:cxn ang="T13">
                <a:pos x="T2" y="T3"/>
              </a:cxn>
              <a:cxn ang="T14">
                <a:pos x="T4" y="T5"/>
              </a:cxn>
              <a:cxn ang="T15">
                <a:pos x="T6" y="T7"/>
              </a:cxn>
              <a:cxn ang="T16">
                <a:pos x="T8" y="T9"/>
              </a:cxn>
              <a:cxn ang="T17">
                <a:pos x="T10" y="T11"/>
              </a:cxn>
            </a:cxnLst>
            <a:rect l="T18" t="T19" r="T20" b="T21"/>
            <a:pathLst>
              <a:path w="1115" h="973">
                <a:moveTo>
                  <a:pt x="0" y="812"/>
                </a:moveTo>
                <a:lnTo>
                  <a:pt x="312" y="321"/>
                </a:lnTo>
                <a:lnTo>
                  <a:pt x="879" y="0"/>
                </a:lnTo>
                <a:lnTo>
                  <a:pt x="1115" y="161"/>
                </a:lnTo>
                <a:lnTo>
                  <a:pt x="557" y="510"/>
                </a:lnTo>
                <a:lnTo>
                  <a:pt x="369" y="973"/>
                </a:lnTo>
              </a:path>
            </a:pathLst>
          </a:custGeom>
          <a:solidFill>
            <a:srgbClr val="FFFF00"/>
          </a:solidFill>
          <a:ln w="9525">
            <a:solidFill>
              <a:srgbClr val="FFFF00"/>
            </a:solidFill>
            <a:round/>
            <a:headEnd/>
            <a:tailEnd/>
          </a:ln>
        </p:spPr>
        <p:txBody>
          <a:bodyPr wrap="none" anchor="ctr"/>
          <a:lstStyle/>
          <a:p>
            <a:endParaRPr lang="en-US" dirty="0">
              <a:latin typeface="Arial" pitchFamily="34" charset="0"/>
            </a:endParaRPr>
          </a:p>
        </p:txBody>
      </p:sp>
      <p:sp>
        <p:nvSpPr>
          <p:cNvPr id="23562" name="Freeform 17"/>
          <p:cNvSpPr>
            <a:spLocks/>
          </p:cNvSpPr>
          <p:nvPr/>
        </p:nvSpPr>
        <p:spPr bwMode="auto">
          <a:xfrm>
            <a:off x="4676775" y="3073400"/>
            <a:ext cx="1828800" cy="914400"/>
          </a:xfrm>
          <a:custGeom>
            <a:avLst/>
            <a:gdLst>
              <a:gd name="T0" fmla="*/ 0 w 1152"/>
              <a:gd name="T1" fmla="*/ 2147483647 h 576"/>
              <a:gd name="T2" fmla="*/ 2147483647 w 1152"/>
              <a:gd name="T3" fmla="*/ 2147483647 h 576"/>
              <a:gd name="T4" fmla="*/ 2147483647 w 1152"/>
              <a:gd name="T5" fmla="*/ 0 h 576"/>
              <a:gd name="T6" fmla="*/ 2147483647 w 1152"/>
              <a:gd name="T7" fmla="*/ 2147483647 h 576"/>
              <a:gd name="T8" fmla="*/ 2147483647 w 1152"/>
              <a:gd name="T9" fmla="*/ 2147483647 h 576"/>
              <a:gd name="T10" fmla="*/ 2147483647 w 1152"/>
              <a:gd name="T11" fmla="*/ 2147483647 h 576"/>
              <a:gd name="T12" fmla="*/ 0 60000 65536"/>
              <a:gd name="T13" fmla="*/ 0 60000 65536"/>
              <a:gd name="T14" fmla="*/ 0 60000 65536"/>
              <a:gd name="T15" fmla="*/ 0 60000 65536"/>
              <a:gd name="T16" fmla="*/ 0 60000 65536"/>
              <a:gd name="T17" fmla="*/ 0 60000 65536"/>
              <a:gd name="T18" fmla="*/ 0 w 1152"/>
              <a:gd name="T19" fmla="*/ 0 h 576"/>
              <a:gd name="T20" fmla="*/ 1152 w 115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152" h="576">
                <a:moveTo>
                  <a:pt x="0" y="444"/>
                </a:moveTo>
                <a:lnTo>
                  <a:pt x="321" y="236"/>
                </a:lnTo>
                <a:lnTo>
                  <a:pt x="1029" y="0"/>
                </a:lnTo>
                <a:lnTo>
                  <a:pt x="1152" y="66"/>
                </a:lnTo>
                <a:lnTo>
                  <a:pt x="501" y="377"/>
                </a:lnTo>
                <a:lnTo>
                  <a:pt x="170" y="576"/>
                </a:lnTo>
              </a:path>
            </a:pathLst>
          </a:custGeom>
          <a:solidFill>
            <a:srgbClr val="FFFF00"/>
          </a:solidFill>
          <a:ln w="9525">
            <a:solidFill>
              <a:srgbClr val="FFFF00"/>
            </a:solidFill>
            <a:round/>
            <a:headEnd/>
            <a:tailEnd type="triangle" w="med" len="med"/>
          </a:ln>
        </p:spPr>
        <p:txBody>
          <a:bodyPr wrap="none" anchor="ctr"/>
          <a:lstStyle/>
          <a:p>
            <a:endParaRPr lang="en-US" dirty="0">
              <a:latin typeface="Arial" pitchFamily="34" charset="0"/>
            </a:endParaRPr>
          </a:p>
        </p:txBody>
      </p:sp>
      <p:sp>
        <p:nvSpPr>
          <p:cNvPr id="23563" name="Freeform 19"/>
          <p:cNvSpPr>
            <a:spLocks/>
          </p:cNvSpPr>
          <p:nvPr/>
        </p:nvSpPr>
        <p:spPr bwMode="auto">
          <a:xfrm>
            <a:off x="1739900" y="2628900"/>
            <a:ext cx="4646613" cy="2243138"/>
          </a:xfrm>
          <a:custGeom>
            <a:avLst/>
            <a:gdLst>
              <a:gd name="T0" fmla="*/ 2147483647 w 2927"/>
              <a:gd name="T1" fmla="*/ 2147483647 h 1413"/>
              <a:gd name="T2" fmla="*/ 2147483647 w 2927"/>
              <a:gd name="T3" fmla="*/ 2147483647 h 1413"/>
              <a:gd name="T4" fmla="*/ 2147483647 w 2927"/>
              <a:gd name="T5" fmla="*/ 2147483647 h 1413"/>
              <a:gd name="T6" fmla="*/ 2147483647 w 2927"/>
              <a:gd name="T7" fmla="*/ 2147483647 h 1413"/>
              <a:gd name="T8" fmla="*/ 2147483647 w 2927"/>
              <a:gd name="T9" fmla="*/ 2147483647 h 1413"/>
              <a:gd name="T10" fmla="*/ 2147483647 w 2927"/>
              <a:gd name="T11" fmla="*/ 2147483647 h 1413"/>
              <a:gd name="T12" fmla="*/ 2147483647 w 2927"/>
              <a:gd name="T13" fmla="*/ 2147483647 h 1413"/>
              <a:gd name="T14" fmla="*/ 0 60000 65536"/>
              <a:gd name="T15" fmla="*/ 0 60000 65536"/>
              <a:gd name="T16" fmla="*/ 0 60000 65536"/>
              <a:gd name="T17" fmla="*/ 0 60000 65536"/>
              <a:gd name="T18" fmla="*/ 0 60000 65536"/>
              <a:gd name="T19" fmla="*/ 0 60000 65536"/>
              <a:gd name="T20" fmla="*/ 0 60000 65536"/>
              <a:gd name="T21" fmla="*/ 0 w 2927"/>
              <a:gd name="T22" fmla="*/ 0 h 1413"/>
              <a:gd name="T23" fmla="*/ 2927 w 2927"/>
              <a:gd name="T24" fmla="*/ 1413 h 14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27" h="1413">
                <a:moveTo>
                  <a:pt x="18" y="1403"/>
                </a:moveTo>
                <a:cubicBezTo>
                  <a:pt x="9" y="1408"/>
                  <a:pt x="0" y="1413"/>
                  <a:pt x="65" y="1281"/>
                </a:cubicBezTo>
                <a:cubicBezTo>
                  <a:pt x="130" y="1149"/>
                  <a:pt x="214" y="819"/>
                  <a:pt x="405" y="610"/>
                </a:cubicBezTo>
                <a:cubicBezTo>
                  <a:pt x="596" y="401"/>
                  <a:pt x="950" y="50"/>
                  <a:pt x="1208" y="25"/>
                </a:cubicBezTo>
                <a:cubicBezTo>
                  <a:pt x="1466" y="0"/>
                  <a:pt x="1743" y="451"/>
                  <a:pt x="1954" y="459"/>
                </a:cubicBezTo>
                <a:cubicBezTo>
                  <a:pt x="2165" y="467"/>
                  <a:pt x="2311" y="135"/>
                  <a:pt x="2473" y="72"/>
                </a:cubicBezTo>
                <a:cubicBezTo>
                  <a:pt x="2635" y="9"/>
                  <a:pt x="2781" y="45"/>
                  <a:pt x="2927" y="81"/>
                </a:cubicBezTo>
              </a:path>
            </a:pathLst>
          </a:custGeom>
          <a:noFill/>
          <a:ln w="76200">
            <a:solidFill>
              <a:srgbClr val="FF0000"/>
            </a:solidFill>
            <a:prstDash val="dash"/>
            <a:round/>
            <a:headEnd/>
            <a:tailEnd type="triangle" w="med" len="med"/>
          </a:ln>
        </p:spPr>
        <p:txBody>
          <a:bodyPr wrap="none" anchor="ctr"/>
          <a:lstStyle/>
          <a:p>
            <a:endParaRPr lang="en-US" dirty="0">
              <a:latin typeface="Arial" pitchFamily="34" charset="0"/>
            </a:endParaRPr>
          </a:p>
        </p:txBody>
      </p:sp>
      <p:sp>
        <p:nvSpPr>
          <p:cNvPr id="23564" name="AutoShape 20"/>
          <p:cNvSpPr>
            <a:spLocks noChangeArrowheads="1"/>
          </p:cNvSpPr>
          <p:nvPr/>
        </p:nvSpPr>
        <p:spPr bwMode="auto">
          <a:xfrm>
            <a:off x="3490913" y="4074547"/>
            <a:ext cx="1997075" cy="796469"/>
          </a:xfrm>
          <a:prstGeom prst="cloudCallout">
            <a:avLst>
              <a:gd name="adj1" fmla="val -62481"/>
              <a:gd name="adj2" fmla="val 80102"/>
            </a:avLst>
          </a:prstGeom>
          <a:noFill/>
          <a:ln w="38100">
            <a:solidFill>
              <a:srgbClr val="FF0066"/>
            </a:solidFill>
            <a:round/>
            <a:headEnd/>
            <a:tailEnd/>
          </a:ln>
        </p:spPr>
        <p:txBody>
          <a:bodyPr anchor="ctr">
            <a:spAutoFit/>
          </a:bodyPr>
          <a:lstStyle/>
          <a:p>
            <a:pPr algn="ctr"/>
            <a:r>
              <a:rPr lang="en-US" sz="2800" dirty="0" err="1">
                <a:solidFill>
                  <a:srgbClr val="FF3300"/>
                </a:solidFill>
                <a:latin typeface="Arial" pitchFamily="34" charset="0"/>
              </a:rPr>
              <a:t>zzz</a:t>
            </a:r>
            <a:r>
              <a:rPr lang="en-US" sz="2800" dirty="0">
                <a:solidFill>
                  <a:srgbClr val="FF3300"/>
                </a:solidFill>
                <a:latin typeface="Arial" pitchFamily="34" charset="0"/>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a:spLocks noGrp="1"/>
          </p:cNvSpPr>
          <p:nvPr>
            <p:ph type="ftr" sz="quarter" idx="10"/>
          </p:nvPr>
        </p:nvSpPr>
        <p:spPr>
          <a:noFill/>
        </p:spPr>
        <p:txBody>
          <a:bodyPr/>
          <a:lstStyle/>
          <a:p>
            <a:r>
              <a:rPr lang="en-US"/>
              <a:t>Art of Multiprocessor Programming</a:t>
            </a:r>
          </a:p>
        </p:txBody>
      </p:sp>
      <p:sp>
        <p:nvSpPr>
          <p:cNvPr id="24579" name="Slide Number Placeholder 4"/>
          <p:cNvSpPr>
            <a:spLocks noGrp="1"/>
          </p:cNvSpPr>
          <p:nvPr>
            <p:ph type="sldNum" sz="quarter" idx="11"/>
          </p:nvPr>
        </p:nvSpPr>
        <p:spPr>
          <a:noFill/>
        </p:spPr>
        <p:txBody>
          <a:bodyPr/>
          <a:lstStyle/>
          <a:p>
            <a:fld id="{F6CE30CC-7727-4A6B-AC6D-09BEC143214E}" type="slidenum">
              <a:rPr lang="ar-SA" smtClean="0"/>
              <a:pPr/>
              <a:t>23</a:t>
            </a:fld>
            <a:endParaRPr lang="en-US"/>
          </a:p>
        </p:txBody>
      </p:sp>
      <p:pic>
        <p:nvPicPr>
          <p:cNvPr id="24580" name="Picture 2"/>
          <p:cNvPicPr>
            <a:picLocks noChangeAspect="1" noChangeArrowheads="1"/>
          </p:cNvPicPr>
          <p:nvPr/>
        </p:nvPicPr>
        <p:blipFill>
          <a:blip r:embed="rId3" cstate="print"/>
          <a:srcRect/>
          <a:stretch>
            <a:fillRect/>
          </a:stretch>
        </p:blipFill>
        <p:spPr bwMode="auto">
          <a:xfrm>
            <a:off x="5222875" y="1651000"/>
            <a:ext cx="3057525" cy="1873250"/>
          </a:xfrm>
          <a:prstGeom prst="rect">
            <a:avLst/>
          </a:prstGeom>
          <a:noFill/>
          <a:ln w="9525">
            <a:noFill/>
            <a:miter lim="800000"/>
            <a:headEnd/>
            <a:tailEnd/>
          </a:ln>
        </p:spPr>
      </p:pic>
      <p:sp>
        <p:nvSpPr>
          <p:cNvPr id="24581" name="Rectangle 3"/>
          <p:cNvSpPr>
            <a:spLocks noGrp="1" noChangeArrowheads="1"/>
          </p:cNvSpPr>
          <p:nvPr>
            <p:ph type="title"/>
          </p:nvPr>
        </p:nvSpPr>
        <p:spPr/>
        <p:txBody>
          <a:bodyPr/>
          <a:lstStyle/>
          <a:p>
            <a:r>
              <a:rPr lang="en-US"/>
              <a:t>Writing to Memory</a:t>
            </a:r>
          </a:p>
        </p:txBody>
      </p:sp>
      <p:grpSp>
        <p:nvGrpSpPr>
          <p:cNvPr id="24582" name="Group 4"/>
          <p:cNvGrpSpPr>
            <a:grpSpLocks/>
          </p:cNvGrpSpPr>
          <p:nvPr/>
        </p:nvGrpSpPr>
        <p:grpSpPr bwMode="auto">
          <a:xfrm flipH="1">
            <a:off x="1477963" y="4859338"/>
            <a:ext cx="1447800" cy="1295400"/>
            <a:chOff x="3168" y="1824"/>
            <a:chExt cx="912" cy="816"/>
          </a:xfrm>
        </p:grpSpPr>
        <p:sp>
          <p:nvSpPr>
            <p:cNvPr id="24595" name="Freeform 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596" name="Freeform 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597" name="Freeform 7"/>
            <p:cNvSpPr>
              <a:spLocks/>
            </p:cNvSpPr>
            <p:nvPr/>
          </p:nvSpPr>
          <p:spPr bwMode="auto">
            <a:xfrm>
              <a:off x="3504" y="1824"/>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598" name="Freeform 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4599" name="Freeform 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4600" name="Freeform 1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4601" name="Freeform 11"/>
            <p:cNvSpPr>
              <a:spLocks/>
            </p:cNvSpPr>
            <p:nvPr/>
          </p:nvSpPr>
          <p:spPr bwMode="auto">
            <a:xfrm>
              <a:off x="3504" y="2304"/>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602" name="Freeform 12"/>
            <p:cNvSpPr>
              <a:spLocks/>
            </p:cNvSpPr>
            <p:nvPr/>
          </p:nvSpPr>
          <p:spPr bwMode="auto">
            <a:xfrm>
              <a:off x="3312" y="2160"/>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603" name="Freeform 13"/>
            <p:cNvSpPr>
              <a:spLocks/>
            </p:cNvSpPr>
            <p:nvPr/>
          </p:nvSpPr>
          <p:spPr bwMode="auto">
            <a:xfrm>
              <a:off x="3168" y="2016"/>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4583" name="Freeform 14"/>
          <p:cNvSpPr>
            <a:spLocks/>
          </p:cNvSpPr>
          <p:nvPr/>
        </p:nvSpPr>
        <p:spPr bwMode="auto">
          <a:xfrm>
            <a:off x="1409700" y="2838450"/>
            <a:ext cx="3702050" cy="1268413"/>
          </a:xfrm>
          <a:custGeom>
            <a:avLst/>
            <a:gdLst>
              <a:gd name="T0" fmla="*/ 0 w 2332"/>
              <a:gd name="T1" fmla="*/ 2147483647 h 799"/>
              <a:gd name="T2" fmla="*/ 2147483647 w 2332"/>
              <a:gd name="T3" fmla="*/ 2147483647 h 799"/>
              <a:gd name="T4" fmla="*/ 2147483647 w 2332"/>
              <a:gd name="T5" fmla="*/ 2147483647 h 799"/>
              <a:gd name="T6" fmla="*/ 0 60000 65536"/>
              <a:gd name="T7" fmla="*/ 0 60000 65536"/>
              <a:gd name="T8" fmla="*/ 0 60000 65536"/>
              <a:gd name="T9" fmla="*/ 0 w 2332"/>
              <a:gd name="T10" fmla="*/ 0 h 799"/>
              <a:gd name="T11" fmla="*/ 2332 w 2332"/>
              <a:gd name="T12" fmla="*/ 799 h 799"/>
            </a:gdLst>
            <a:ahLst/>
            <a:cxnLst>
              <a:cxn ang="T6">
                <a:pos x="T0" y="T1"/>
              </a:cxn>
              <a:cxn ang="T7">
                <a:pos x="T2" y="T3"/>
              </a:cxn>
              <a:cxn ang="T8">
                <a:pos x="T4" y="T5"/>
              </a:cxn>
            </a:cxnLst>
            <a:rect l="T9" t="T10" r="T11" b="T12"/>
            <a:pathLst>
              <a:path w="2332" h="799">
                <a:moveTo>
                  <a:pt x="0" y="478"/>
                </a:moveTo>
                <a:cubicBezTo>
                  <a:pt x="291" y="239"/>
                  <a:pt x="583" y="0"/>
                  <a:pt x="972" y="53"/>
                </a:cubicBezTo>
                <a:cubicBezTo>
                  <a:pt x="1361" y="106"/>
                  <a:pt x="2104" y="675"/>
                  <a:pt x="2332" y="799"/>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24584" name="Freeform 15"/>
          <p:cNvSpPr>
            <a:spLocks/>
          </p:cNvSpPr>
          <p:nvPr/>
        </p:nvSpPr>
        <p:spPr bwMode="auto">
          <a:xfrm>
            <a:off x="4241800" y="2906713"/>
            <a:ext cx="4271963" cy="976312"/>
          </a:xfrm>
          <a:custGeom>
            <a:avLst/>
            <a:gdLst>
              <a:gd name="T0" fmla="*/ 0 w 2691"/>
              <a:gd name="T1" fmla="*/ 2147483647 h 615"/>
              <a:gd name="T2" fmla="*/ 2147483647 w 2691"/>
              <a:gd name="T3" fmla="*/ 2147483647 h 615"/>
              <a:gd name="T4" fmla="*/ 2147483647 w 2691"/>
              <a:gd name="T5" fmla="*/ 2147483647 h 615"/>
              <a:gd name="T6" fmla="*/ 0 60000 65536"/>
              <a:gd name="T7" fmla="*/ 0 60000 65536"/>
              <a:gd name="T8" fmla="*/ 0 60000 65536"/>
              <a:gd name="T9" fmla="*/ 0 w 2691"/>
              <a:gd name="T10" fmla="*/ 0 h 615"/>
              <a:gd name="T11" fmla="*/ 2691 w 2691"/>
              <a:gd name="T12" fmla="*/ 615 h 615"/>
            </a:gdLst>
            <a:ahLst/>
            <a:cxnLst>
              <a:cxn ang="T6">
                <a:pos x="T0" y="T1"/>
              </a:cxn>
              <a:cxn ang="T7">
                <a:pos x="T2" y="T3"/>
              </a:cxn>
              <a:cxn ang="T8">
                <a:pos x="T4" y="T5"/>
              </a:cxn>
            </a:cxnLst>
            <a:rect l="T9" t="T10" r="T11" b="T12"/>
            <a:pathLst>
              <a:path w="2691" h="615">
                <a:moveTo>
                  <a:pt x="0" y="379"/>
                </a:moveTo>
                <a:cubicBezTo>
                  <a:pt x="257" y="189"/>
                  <a:pt x="515" y="0"/>
                  <a:pt x="963" y="39"/>
                </a:cubicBezTo>
                <a:cubicBezTo>
                  <a:pt x="1411" y="78"/>
                  <a:pt x="2051" y="346"/>
                  <a:pt x="2691" y="615"/>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24585" name="Freeform 16"/>
          <p:cNvSpPr>
            <a:spLocks/>
          </p:cNvSpPr>
          <p:nvPr/>
        </p:nvSpPr>
        <p:spPr bwMode="auto">
          <a:xfrm>
            <a:off x="2517775" y="3357563"/>
            <a:ext cx="1770063" cy="1544637"/>
          </a:xfrm>
          <a:custGeom>
            <a:avLst/>
            <a:gdLst>
              <a:gd name="T0" fmla="*/ 0 w 1115"/>
              <a:gd name="T1" fmla="*/ 2147483647 h 973"/>
              <a:gd name="T2" fmla="*/ 2147483647 w 1115"/>
              <a:gd name="T3" fmla="*/ 2147483647 h 973"/>
              <a:gd name="T4" fmla="*/ 2147483647 w 1115"/>
              <a:gd name="T5" fmla="*/ 0 h 973"/>
              <a:gd name="T6" fmla="*/ 2147483647 w 1115"/>
              <a:gd name="T7" fmla="*/ 2147483647 h 973"/>
              <a:gd name="T8" fmla="*/ 2147483647 w 1115"/>
              <a:gd name="T9" fmla="*/ 2147483647 h 973"/>
              <a:gd name="T10" fmla="*/ 2147483647 w 1115"/>
              <a:gd name="T11" fmla="*/ 2147483647 h 973"/>
              <a:gd name="T12" fmla="*/ 0 60000 65536"/>
              <a:gd name="T13" fmla="*/ 0 60000 65536"/>
              <a:gd name="T14" fmla="*/ 0 60000 65536"/>
              <a:gd name="T15" fmla="*/ 0 60000 65536"/>
              <a:gd name="T16" fmla="*/ 0 60000 65536"/>
              <a:gd name="T17" fmla="*/ 0 60000 65536"/>
              <a:gd name="T18" fmla="*/ 0 w 1115"/>
              <a:gd name="T19" fmla="*/ 0 h 973"/>
              <a:gd name="T20" fmla="*/ 1115 w 1115"/>
              <a:gd name="T21" fmla="*/ 973 h 973"/>
            </a:gdLst>
            <a:ahLst/>
            <a:cxnLst>
              <a:cxn ang="T12">
                <a:pos x="T0" y="T1"/>
              </a:cxn>
              <a:cxn ang="T13">
                <a:pos x="T2" y="T3"/>
              </a:cxn>
              <a:cxn ang="T14">
                <a:pos x="T4" y="T5"/>
              </a:cxn>
              <a:cxn ang="T15">
                <a:pos x="T6" y="T7"/>
              </a:cxn>
              <a:cxn ang="T16">
                <a:pos x="T8" y="T9"/>
              </a:cxn>
              <a:cxn ang="T17">
                <a:pos x="T10" y="T11"/>
              </a:cxn>
            </a:cxnLst>
            <a:rect l="T18" t="T19" r="T20" b="T21"/>
            <a:pathLst>
              <a:path w="1115" h="973">
                <a:moveTo>
                  <a:pt x="0" y="812"/>
                </a:moveTo>
                <a:lnTo>
                  <a:pt x="312" y="321"/>
                </a:lnTo>
                <a:lnTo>
                  <a:pt x="879" y="0"/>
                </a:lnTo>
                <a:lnTo>
                  <a:pt x="1115" y="161"/>
                </a:lnTo>
                <a:lnTo>
                  <a:pt x="557" y="510"/>
                </a:lnTo>
                <a:lnTo>
                  <a:pt x="369" y="973"/>
                </a:lnTo>
              </a:path>
            </a:pathLst>
          </a:custGeom>
          <a:solidFill>
            <a:srgbClr val="FFFF00"/>
          </a:solidFill>
          <a:ln w="9525">
            <a:solidFill>
              <a:srgbClr val="FFFF00"/>
            </a:solidFill>
            <a:round/>
            <a:headEnd/>
            <a:tailEnd/>
          </a:ln>
        </p:spPr>
        <p:txBody>
          <a:bodyPr wrap="none" anchor="ctr"/>
          <a:lstStyle/>
          <a:p>
            <a:endParaRPr lang="en-US" dirty="0">
              <a:latin typeface="Arial" pitchFamily="34" charset="0"/>
            </a:endParaRPr>
          </a:p>
        </p:txBody>
      </p:sp>
      <p:sp>
        <p:nvSpPr>
          <p:cNvPr id="24586" name="Freeform 17"/>
          <p:cNvSpPr>
            <a:spLocks/>
          </p:cNvSpPr>
          <p:nvPr/>
        </p:nvSpPr>
        <p:spPr bwMode="auto">
          <a:xfrm>
            <a:off x="4676775" y="3073400"/>
            <a:ext cx="1828800" cy="914400"/>
          </a:xfrm>
          <a:custGeom>
            <a:avLst/>
            <a:gdLst>
              <a:gd name="T0" fmla="*/ 0 w 1152"/>
              <a:gd name="T1" fmla="*/ 2147483647 h 576"/>
              <a:gd name="T2" fmla="*/ 2147483647 w 1152"/>
              <a:gd name="T3" fmla="*/ 2147483647 h 576"/>
              <a:gd name="T4" fmla="*/ 2147483647 w 1152"/>
              <a:gd name="T5" fmla="*/ 0 h 576"/>
              <a:gd name="T6" fmla="*/ 2147483647 w 1152"/>
              <a:gd name="T7" fmla="*/ 2147483647 h 576"/>
              <a:gd name="T8" fmla="*/ 2147483647 w 1152"/>
              <a:gd name="T9" fmla="*/ 2147483647 h 576"/>
              <a:gd name="T10" fmla="*/ 2147483647 w 1152"/>
              <a:gd name="T11" fmla="*/ 2147483647 h 576"/>
              <a:gd name="T12" fmla="*/ 0 60000 65536"/>
              <a:gd name="T13" fmla="*/ 0 60000 65536"/>
              <a:gd name="T14" fmla="*/ 0 60000 65536"/>
              <a:gd name="T15" fmla="*/ 0 60000 65536"/>
              <a:gd name="T16" fmla="*/ 0 60000 65536"/>
              <a:gd name="T17" fmla="*/ 0 60000 65536"/>
              <a:gd name="T18" fmla="*/ 0 w 1152"/>
              <a:gd name="T19" fmla="*/ 0 h 576"/>
              <a:gd name="T20" fmla="*/ 1152 w 115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152" h="576">
                <a:moveTo>
                  <a:pt x="0" y="444"/>
                </a:moveTo>
                <a:lnTo>
                  <a:pt x="321" y="236"/>
                </a:lnTo>
                <a:lnTo>
                  <a:pt x="1029" y="0"/>
                </a:lnTo>
                <a:lnTo>
                  <a:pt x="1152" y="66"/>
                </a:lnTo>
                <a:lnTo>
                  <a:pt x="501" y="377"/>
                </a:lnTo>
                <a:lnTo>
                  <a:pt x="170" y="576"/>
                </a:lnTo>
              </a:path>
            </a:pathLst>
          </a:custGeom>
          <a:solidFill>
            <a:srgbClr val="FFFF00"/>
          </a:solidFill>
          <a:ln w="9525">
            <a:solidFill>
              <a:srgbClr val="FFFF00"/>
            </a:solidFill>
            <a:round/>
            <a:headEnd/>
            <a:tailEnd type="triangle" w="med" len="med"/>
          </a:ln>
        </p:spPr>
        <p:txBody>
          <a:bodyPr wrap="none" anchor="ctr"/>
          <a:lstStyle/>
          <a:p>
            <a:endParaRPr lang="en-US" dirty="0">
              <a:latin typeface="Arial" pitchFamily="34" charset="0"/>
            </a:endParaRPr>
          </a:p>
        </p:txBody>
      </p:sp>
      <p:grpSp>
        <p:nvGrpSpPr>
          <p:cNvPr id="24587" name="Group 19"/>
          <p:cNvGrpSpPr>
            <a:grpSpLocks/>
          </p:cNvGrpSpPr>
          <p:nvPr/>
        </p:nvGrpSpPr>
        <p:grpSpPr bwMode="auto">
          <a:xfrm>
            <a:off x="4799013" y="4714875"/>
            <a:ext cx="1646237" cy="592138"/>
            <a:chOff x="190" y="2592"/>
            <a:chExt cx="1037" cy="373"/>
          </a:xfrm>
        </p:grpSpPr>
        <p:sp>
          <p:nvSpPr>
            <p:cNvPr id="24590" name="Freeform 20"/>
            <p:cNvSpPr>
              <a:spLocks/>
            </p:cNvSpPr>
            <p:nvPr/>
          </p:nvSpPr>
          <p:spPr bwMode="auto">
            <a:xfrm>
              <a:off x="797" y="2594"/>
              <a:ext cx="430" cy="263"/>
            </a:xfrm>
            <a:custGeom>
              <a:avLst/>
              <a:gdLst>
                <a:gd name="T0" fmla="*/ 86 w 348"/>
                <a:gd name="T1" fmla="*/ 211 h 228"/>
                <a:gd name="T2" fmla="*/ 439 w 348"/>
                <a:gd name="T3" fmla="*/ 0 h 228"/>
                <a:gd name="T4" fmla="*/ 1238 w 348"/>
                <a:gd name="T5" fmla="*/ 538 h 228"/>
                <a:gd name="T6" fmla="*/ 759 w 348"/>
                <a:gd name="T7" fmla="*/ 310 h 228"/>
                <a:gd name="T8" fmla="*/ 961 w 348"/>
                <a:gd name="T9" fmla="*/ 480 h 228"/>
                <a:gd name="T10" fmla="*/ 513 w 348"/>
                <a:gd name="T11" fmla="*/ 296 h 228"/>
                <a:gd name="T12" fmla="*/ 802 w 348"/>
                <a:gd name="T13" fmla="*/ 451 h 228"/>
                <a:gd name="T14" fmla="*/ 0 w 348"/>
                <a:gd name="T15" fmla="*/ 262 h 228"/>
                <a:gd name="T16" fmla="*/ 86 w 348"/>
                <a:gd name="T17" fmla="*/ 211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24591" name="Freeform 21"/>
            <p:cNvSpPr>
              <a:spLocks/>
            </p:cNvSpPr>
            <p:nvPr/>
          </p:nvSpPr>
          <p:spPr bwMode="auto">
            <a:xfrm>
              <a:off x="190" y="2592"/>
              <a:ext cx="430" cy="267"/>
            </a:xfrm>
            <a:custGeom>
              <a:avLst/>
              <a:gdLst>
                <a:gd name="T0" fmla="*/ 1145 w 348"/>
                <a:gd name="T1" fmla="*/ 208 h 231"/>
                <a:gd name="T2" fmla="*/ 802 w 348"/>
                <a:gd name="T3" fmla="*/ 0 h 231"/>
                <a:gd name="T4" fmla="*/ 0 w 348"/>
                <a:gd name="T5" fmla="*/ 551 h 231"/>
                <a:gd name="T6" fmla="*/ 534 w 348"/>
                <a:gd name="T7" fmla="*/ 320 h 231"/>
                <a:gd name="T8" fmla="*/ 278 w 348"/>
                <a:gd name="T9" fmla="*/ 494 h 231"/>
                <a:gd name="T10" fmla="*/ 759 w 348"/>
                <a:gd name="T11" fmla="*/ 317 h 231"/>
                <a:gd name="T12" fmla="*/ 493 w 348"/>
                <a:gd name="T13" fmla="*/ 473 h 231"/>
                <a:gd name="T14" fmla="*/ 1238 w 348"/>
                <a:gd name="T15" fmla="*/ 274 h 231"/>
                <a:gd name="T16" fmla="*/ 1145 w 348"/>
                <a:gd name="T17" fmla="*/ 20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grpSp>
          <p:nvGrpSpPr>
            <p:cNvPr id="24592" name="Group 22"/>
            <p:cNvGrpSpPr>
              <a:grpSpLocks/>
            </p:cNvGrpSpPr>
            <p:nvPr/>
          </p:nvGrpSpPr>
          <p:grpSpPr bwMode="auto">
            <a:xfrm>
              <a:off x="511" y="2699"/>
              <a:ext cx="405" cy="266"/>
              <a:chOff x="312" y="2568"/>
              <a:chExt cx="604" cy="397"/>
            </a:xfrm>
          </p:grpSpPr>
          <p:sp>
            <p:nvSpPr>
              <p:cNvPr id="24593" name="Rectangle 23"/>
              <p:cNvSpPr>
                <a:spLocks noChangeArrowheads="1"/>
              </p:cNvSpPr>
              <p:nvPr/>
            </p:nvSpPr>
            <p:spPr bwMode="auto">
              <a:xfrm>
                <a:off x="319" y="2578"/>
                <a:ext cx="597" cy="387"/>
              </a:xfrm>
              <a:prstGeom prst="rect">
                <a:avLst/>
              </a:prstGeom>
              <a:solidFill>
                <a:srgbClr val="009900"/>
              </a:solidFill>
              <a:ln w="38100">
                <a:solidFill>
                  <a:schemeClr val="tx1"/>
                </a:solidFill>
                <a:miter lim="800000"/>
                <a:headEnd/>
                <a:tailEnd/>
              </a:ln>
            </p:spPr>
            <p:txBody>
              <a:bodyPr wrap="none" anchor="ctr"/>
              <a:lstStyle/>
              <a:p>
                <a:endParaRPr lang="en-US" dirty="0">
                  <a:latin typeface="Arial" pitchFamily="34" charset="0"/>
                </a:endParaRPr>
              </a:p>
            </p:txBody>
          </p:sp>
          <p:sp>
            <p:nvSpPr>
              <p:cNvPr id="24594" name="Freeform 24"/>
              <p:cNvSpPr>
                <a:spLocks/>
              </p:cNvSpPr>
              <p:nvPr/>
            </p:nvSpPr>
            <p:spPr bwMode="auto">
              <a:xfrm>
                <a:off x="312" y="2568"/>
                <a:ext cx="604" cy="208"/>
              </a:xfrm>
              <a:custGeom>
                <a:avLst/>
                <a:gdLst>
                  <a:gd name="T0" fmla="*/ 0 w 604"/>
                  <a:gd name="T1" fmla="*/ 0 h 208"/>
                  <a:gd name="T2" fmla="*/ 321 w 604"/>
                  <a:gd name="T3" fmla="*/ 208 h 208"/>
                  <a:gd name="T4" fmla="*/ 604 w 604"/>
                  <a:gd name="T5" fmla="*/ 19 h 208"/>
                  <a:gd name="T6" fmla="*/ 0 60000 65536"/>
                  <a:gd name="T7" fmla="*/ 0 60000 65536"/>
                  <a:gd name="T8" fmla="*/ 0 60000 65536"/>
                  <a:gd name="T9" fmla="*/ 0 w 604"/>
                  <a:gd name="T10" fmla="*/ 0 h 208"/>
                  <a:gd name="T11" fmla="*/ 604 w 604"/>
                  <a:gd name="T12" fmla="*/ 208 h 208"/>
                </a:gdLst>
                <a:ahLst/>
                <a:cxnLst>
                  <a:cxn ang="T6">
                    <a:pos x="T0" y="T1"/>
                  </a:cxn>
                  <a:cxn ang="T7">
                    <a:pos x="T2" y="T3"/>
                  </a:cxn>
                  <a:cxn ang="T8">
                    <a:pos x="T4" y="T5"/>
                  </a:cxn>
                </a:cxnLst>
                <a:rect l="T9" t="T10" r="T11" b="T12"/>
                <a:pathLst>
                  <a:path w="604" h="208">
                    <a:moveTo>
                      <a:pt x="0" y="0"/>
                    </a:moveTo>
                    <a:lnTo>
                      <a:pt x="321" y="208"/>
                    </a:lnTo>
                    <a:lnTo>
                      <a:pt x="604" y="19"/>
                    </a:lnTo>
                  </a:path>
                </a:pathLst>
              </a:cu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grpSp>
      </p:grpSp>
      <p:sp>
        <p:nvSpPr>
          <p:cNvPr id="24588" name="Freeform 25"/>
          <p:cNvSpPr>
            <a:spLocks/>
          </p:cNvSpPr>
          <p:nvPr/>
        </p:nvSpPr>
        <p:spPr bwMode="auto">
          <a:xfrm>
            <a:off x="3117850" y="2922588"/>
            <a:ext cx="3357563" cy="2233612"/>
          </a:xfrm>
          <a:custGeom>
            <a:avLst/>
            <a:gdLst>
              <a:gd name="T0" fmla="*/ 0 w 2115"/>
              <a:gd name="T1" fmla="*/ 2147483647 h 1407"/>
              <a:gd name="T2" fmla="*/ 2147483647 w 2115"/>
              <a:gd name="T3" fmla="*/ 2147483647 h 1407"/>
              <a:gd name="T4" fmla="*/ 2147483647 w 2115"/>
              <a:gd name="T5" fmla="*/ 2147483647 h 1407"/>
              <a:gd name="T6" fmla="*/ 2147483647 w 2115"/>
              <a:gd name="T7" fmla="*/ 2147483647 h 1407"/>
              <a:gd name="T8" fmla="*/ 2147483647 w 2115"/>
              <a:gd name="T9" fmla="*/ 2147483647 h 1407"/>
              <a:gd name="T10" fmla="*/ 2147483647 w 2115"/>
              <a:gd name="T11" fmla="*/ 0 h 1407"/>
              <a:gd name="T12" fmla="*/ 0 60000 65536"/>
              <a:gd name="T13" fmla="*/ 0 60000 65536"/>
              <a:gd name="T14" fmla="*/ 0 60000 65536"/>
              <a:gd name="T15" fmla="*/ 0 60000 65536"/>
              <a:gd name="T16" fmla="*/ 0 60000 65536"/>
              <a:gd name="T17" fmla="*/ 0 60000 65536"/>
              <a:gd name="T18" fmla="*/ 0 w 2115"/>
              <a:gd name="T19" fmla="*/ 0 h 1407"/>
              <a:gd name="T20" fmla="*/ 2115 w 2115"/>
              <a:gd name="T21" fmla="*/ 1407 h 1407"/>
            </a:gdLst>
            <a:ahLst/>
            <a:cxnLst>
              <a:cxn ang="T12">
                <a:pos x="T0" y="T1"/>
              </a:cxn>
              <a:cxn ang="T13">
                <a:pos x="T2" y="T3"/>
              </a:cxn>
              <a:cxn ang="T14">
                <a:pos x="T4" y="T5"/>
              </a:cxn>
              <a:cxn ang="T15">
                <a:pos x="T6" y="T7"/>
              </a:cxn>
              <a:cxn ang="T16">
                <a:pos x="T8" y="T9"/>
              </a:cxn>
              <a:cxn ang="T17">
                <a:pos x="T10" y="T11"/>
              </a:cxn>
            </a:cxnLst>
            <a:rect l="T18" t="T19" r="T20" b="T21"/>
            <a:pathLst>
              <a:path w="2115" h="1407">
                <a:moveTo>
                  <a:pt x="0" y="1407"/>
                </a:moveTo>
                <a:cubicBezTo>
                  <a:pt x="83" y="1358"/>
                  <a:pt x="249" y="1179"/>
                  <a:pt x="501" y="1115"/>
                </a:cubicBezTo>
                <a:cubicBezTo>
                  <a:pt x="753" y="1051"/>
                  <a:pt x="1314" y="1099"/>
                  <a:pt x="1511" y="1020"/>
                </a:cubicBezTo>
                <a:cubicBezTo>
                  <a:pt x="1708" y="941"/>
                  <a:pt x="1733" y="754"/>
                  <a:pt x="1681" y="642"/>
                </a:cubicBezTo>
                <a:cubicBezTo>
                  <a:pt x="1629" y="530"/>
                  <a:pt x="1127" y="457"/>
                  <a:pt x="1199" y="350"/>
                </a:cubicBezTo>
                <a:cubicBezTo>
                  <a:pt x="1271" y="243"/>
                  <a:pt x="1924" y="73"/>
                  <a:pt x="2115" y="0"/>
                </a:cubicBezTo>
              </a:path>
            </a:pathLst>
          </a:custGeom>
          <a:noFill/>
          <a:ln w="76200">
            <a:solidFill>
              <a:srgbClr val="009900"/>
            </a:solidFill>
            <a:round/>
            <a:headEnd type="triangle" w="med" len="med"/>
            <a:tailEnd/>
          </a:ln>
        </p:spPr>
        <p:txBody>
          <a:bodyPr wrap="none" anchor="ctr"/>
          <a:lstStyle/>
          <a:p>
            <a:endParaRPr lang="en-US" dirty="0">
              <a:latin typeface="Arial" pitchFamily="34" charset="0"/>
            </a:endParaRPr>
          </a:p>
        </p:txBody>
      </p:sp>
      <p:sp>
        <p:nvSpPr>
          <p:cNvPr id="24589" name="Text Box 26"/>
          <p:cNvSpPr txBox="1">
            <a:spLocks noChangeArrowheads="1"/>
          </p:cNvSpPr>
          <p:nvPr/>
        </p:nvSpPr>
        <p:spPr bwMode="auto">
          <a:xfrm>
            <a:off x="6667500" y="4867275"/>
            <a:ext cx="699230" cy="461665"/>
          </a:xfrm>
          <a:prstGeom prst="rect">
            <a:avLst/>
          </a:prstGeom>
          <a:noFill/>
          <a:ln w="9525">
            <a:noFill/>
            <a:miter lim="800000"/>
            <a:headEnd/>
            <a:tailEnd/>
          </a:ln>
        </p:spPr>
        <p:txBody>
          <a:bodyPr wrap="none">
            <a:spAutoFit/>
          </a:bodyPr>
          <a:lstStyle/>
          <a:p>
            <a:r>
              <a:rPr lang="en-US" sz="2400" dirty="0" err="1">
                <a:solidFill>
                  <a:srgbClr val="009900"/>
                </a:solidFill>
                <a:latin typeface="Arial" pitchFamily="34" charset="0"/>
              </a:rPr>
              <a:t>ack</a:t>
            </a:r>
            <a:endParaRPr lang="en-US" sz="2400" dirty="0">
              <a:solidFill>
                <a:srgbClr val="009900"/>
              </a:solidFill>
              <a:latin typeface="Arial"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p:cNvSpPr>
            <a:spLocks noGrp="1"/>
          </p:cNvSpPr>
          <p:nvPr>
            <p:ph type="ftr" sz="quarter" idx="10"/>
          </p:nvPr>
        </p:nvSpPr>
        <p:spPr>
          <a:noFill/>
        </p:spPr>
        <p:txBody>
          <a:bodyPr/>
          <a:lstStyle/>
          <a:p>
            <a:r>
              <a:rPr lang="en-US"/>
              <a:t>Art of Multiprocessor Programming</a:t>
            </a:r>
          </a:p>
        </p:txBody>
      </p:sp>
      <p:sp>
        <p:nvSpPr>
          <p:cNvPr id="25603" name="Slide Number Placeholder 4"/>
          <p:cNvSpPr>
            <a:spLocks noGrp="1"/>
          </p:cNvSpPr>
          <p:nvPr>
            <p:ph type="sldNum" sz="quarter" idx="11"/>
          </p:nvPr>
        </p:nvSpPr>
        <p:spPr>
          <a:noFill/>
        </p:spPr>
        <p:txBody>
          <a:bodyPr/>
          <a:lstStyle/>
          <a:p>
            <a:fld id="{772112E6-1305-486D-8061-DA34146AC042}" type="slidenum">
              <a:rPr lang="ar-SA" smtClean="0"/>
              <a:pPr/>
              <a:t>24</a:t>
            </a:fld>
            <a:endParaRPr lang="en-US"/>
          </a:p>
        </p:txBody>
      </p:sp>
      <p:pic>
        <p:nvPicPr>
          <p:cNvPr id="25604" name="Picture 2"/>
          <p:cNvPicPr>
            <a:picLocks noChangeAspect="1" noChangeArrowheads="1"/>
          </p:cNvPicPr>
          <p:nvPr/>
        </p:nvPicPr>
        <p:blipFill>
          <a:blip r:embed="rId3" cstate="print"/>
          <a:srcRect/>
          <a:stretch>
            <a:fillRect/>
          </a:stretch>
        </p:blipFill>
        <p:spPr bwMode="auto">
          <a:xfrm>
            <a:off x="5222875" y="1651000"/>
            <a:ext cx="3057525" cy="1873250"/>
          </a:xfrm>
          <a:prstGeom prst="rect">
            <a:avLst/>
          </a:prstGeom>
          <a:noFill/>
          <a:ln w="9525">
            <a:noFill/>
            <a:miter lim="800000"/>
            <a:headEnd/>
            <a:tailEnd/>
          </a:ln>
        </p:spPr>
      </p:pic>
      <p:sp>
        <p:nvSpPr>
          <p:cNvPr id="25605" name="Rectangle 3"/>
          <p:cNvSpPr>
            <a:spLocks noGrp="1" noChangeArrowheads="1"/>
          </p:cNvSpPr>
          <p:nvPr>
            <p:ph type="title"/>
          </p:nvPr>
        </p:nvSpPr>
        <p:spPr/>
        <p:txBody>
          <a:bodyPr/>
          <a:lstStyle/>
          <a:p>
            <a:r>
              <a:rPr lang="en-US"/>
              <a:t>Cache: Reading from Memory</a:t>
            </a:r>
          </a:p>
        </p:txBody>
      </p:sp>
      <p:grpSp>
        <p:nvGrpSpPr>
          <p:cNvPr id="25606" name="Group 4"/>
          <p:cNvGrpSpPr>
            <a:grpSpLocks/>
          </p:cNvGrpSpPr>
          <p:nvPr/>
        </p:nvGrpSpPr>
        <p:grpSpPr bwMode="auto">
          <a:xfrm flipH="1">
            <a:off x="1477963" y="4859338"/>
            <a:ext cx="1447800" cy="1295400"/>
            <a:chOff x="3168" y="1824"/>
            <a:chExt cx="912" cy="816"/>
          </a:xfrm>
        </p:grpSpPr>
        <p:sp>
          <p:nvSpPr>
            <p:cNvPr id="25621" name="Freeform 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622" name="Freeform 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623" name="Freeform 7"/>
            <p:cNvSpPr>
              <a:spLocks/>
            </p:cNvSpPr>
            <p:nvPr/>
          </p:nvSpPr>
          <p:spPr bwMode="auto">
            <a:xfrm>
              <a:off x="3504" y="1824"/>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624" name="Freeform 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5625" name="Freeform 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5626" name="Freeform 1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5627" name="Freeform 11"/>
            <p:cNvSpPr>
              <a:spLocks/>
            </p:cNvSpPr>
            <p:nvPr/>
          </p:nvSpPr>
          <p:spPr bwMode="auto">
            <a:xfrm>
              <a:off x="3504" y="2304"/>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628" name="Freeform 12"/>
            <p:cNvSpPr>
              <a:spLocks/>
            </p:cNvSpPr>
            <p:nvPr/>
          </p:nvSpPr>
          <p:spPr bwMode="auto">
            <a:xfrm>
              <a:off x="3312" y="2160"/>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629" name="Freeform 13"/>
            <p:cNvSpPr>
              <a:spLocks/>
            </p:cNvSpPr>
            <p:nvPr/>
          </p:nvSpPr>
          <p:spPr bwMode="auto">
            <a:xfrm>
              <a:off x="3168" y="2016"/>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5607" name="Freeform 14"/>
          <p:cNvSpPr>
            <a:spLocks/>
          </p:cNvSpPr>
          <p:nvPr/>
        </p:nvSpPr>
        <p:spPr bwMode="auto">
          <a:xfrm>
            <a:off x="1409700" y="2838450"/>
            <a:ext cx="3702050" cy="1268413"/>
          </a:xfrm>
          <a:custGeom>
            <a:avLst/>
            <a:gdLst>
              <a:gd name="T0" fmla="*/ 0 w 2332"/>
              <a:gd name="T1" fmla="*/ 2147483647 h 799"/>
              <a:gd name="T2" fmla="*/ 2147483647 w 2332"/>
              <a:gd name="T3" fmla="*/ 2147483647 h 799"/>
              <a:gd name="T4" fmla="*/ 2147483647 w 2332"/>
              <a:gd name="T5" fmla="*/ 2147483647 h 799"/>
              <a:gd name="T6" fmla="*/ 0 60000 65536"/>
              <a:gd name="T7" fmla="*/ 0 60000 65536"/>
              <a:gd name="T8" fmla="*/ 0 60000 65536"/>
              <a:gd name="T9" fmla="*/ 0 w 2332"/>
              <a:gd name="T10" fmla="*/ 0 h 799"/>
              <a:gd name="T11" fmla="*/ 2332 w 2332"/>
              <a:gd name="T12" fmla="*/ 799 h 799"/>
            </a:gdLst>
            <a:ahLst/>
            <a:cxnLst>
              <a:cxn ang="T6">
                <a:pos x="T0" y="T1"/>
              </a:cxn>
              <a:cxn ang="T7">
                <a:pos x="T2" y="T3"/>
              </a:cxn>
              <a:cxn ang="T8">
                <a:pos x="T4" y="T5"/>
              </a:cxn>
            </a:cxnLst>
            <a:rect l="T9" t="T10" r="T11" b="T12"/>
            <a:pathLst>
              <a:path w="2332" h="799">
                <a:moveTo>
                  <a:pt x="0" y="478"/>
                </a:moveTo>
                <a:cubicBezTo>
                  <a:pt x="291" y="239"/>
                  <a:pt x="583" y="0"/>
                  <a:pt x="972" y="53"/>
                </a:cubicBezTo>
                <a:cubicBezTo>
                  <a:pt x="1361" y="106"/>
                  <a:pt x="2104" y="675"/>
                  <a:pt x="2332" y="799"/>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25608" name="Freeform 15"/>
          <p:cNvSpPr>
            <a:spLocks/>
          </p:cNvSpPr>
          <p:nvPr/>
        </p:nvSpPr>
        <p:spPr bwMode="auto">
          <a:xfrm>
            <a:off x="4241800" y="2906713"/>
            <a:ext cx="4271963" cy="976312"/>
          </a:xfrm>
          <a:custGeom>
            <a:avLst/>
            <a:gdLst>
              <a:gd name="T0" fmla="*/ 0 w 2691"/>
              <a:gd name="T1" fmla="*/ 2147483647 h 615"/>
              <a:gd name="T2" fmla="*/ 2147483647 w 2691"/>
              <a:gd name="T3" fmla="*/ 2147483647 h 615"/>
              <a:gd name="T4" fmla="*/ 2147483647 w 2691"/>
              <a:gd name="T5" fmla="*/ 2147483647 h 615"/>
              <a:gd name="T6" fmla="*/ 0 60000 65536"/>
              <a:gd name="T7" fmla="*/ 0 60000 65536"/>
              <a:gd name="T8" fmla="*/ 0 60000 65536"/>
              <a:gd name="T9" fmla="*/ 0 w 2691"/>
              <a:gd name="T10" fmla="*/ 0 h 615"/>
              <a:gd name="T11" fmla="*/ 2691 w 2691"/>
              <a:gd name="T12" fmla="*/ 615 h 615"/>
            </a:gdLst>
            <a:ahLst/>
            <a:cxnLst>
              <a:cxn ang="T6">
                <a:pos x="T0" y="T1"/>
              </a:cxn>
              <a:cxn ang="T7">
                <a:pos x="T2" y="T3"/>
              </a:cxn>
              <a:cxn ang="T8">
                <a:pos x="T4" y="T5"/>
              </a:cxn>
            </a:cxnLst>
            <a:rect l="T9" t="T10" r="T11" b="T12"/>
            <a:pathLst>
              <a:path w="2691" h="615">
                <a:moveTo>
                  <a:pt x="0" y="379"/>
                </a:moveTo>
                <a:cubicBezTo>
                  <a:pt x="257" y="189"/>
                  <a:pt x="515" y="0"/>
                  <a:pt x="963" y="39"/>
                </a:cubicBezTo>
                <a:cubicBezTo>
                  <a:pt x="1411" y="78"/>
                  <a:pt x="2051" y="346"/>
                  <a:pt x="2691" y="615"/>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25609" name="Freeform 16"/>
          <p:cNvSpPr>
            <a:spLocks/>
          </p:cNvSpPr>
          <p:nvPr/>
        </p:nvSpPr>
        <p:spPr bwMode="auto">
          <a:xfrm>
            <a:off x="2517775" y="3357563"/>
            <a:ext cx="1770063" cy="1544637"/>
          </a:xfrm>
          <a:custGeom>
            <a:avLst/>
            <a:gdLst>
              <a:gd name="T0" fmla="*/ 0 w 1115"/>
              <a:gd name="T1" fmla="*/ 2147483647 h 973"/>
              <a:gd name="T2" fmla="*/ 2147483647 w 1115"/>
              <a:gd name="T3" fmla="*/ 2147483647 h 973"/>
              <a:gd name="T4" fmla="*/ 2147483647 w 1115"/>
              <a:gd name="T5" fmla="*/ 0 h 973"/>
              <a:gd name="T6" fmla="*/ 2147483647 w 1115"/>
              <a:gd name="T7" fmla="*/ 2147483647 h 973"/>
              <a:gd name="T8" fmla="*/ 2147483647 w 1115"/>
              <a:gd name="T9" fmla="*/ 2147483647 h 973"/>
              <a:gd name="T10" fmla="*/ 2147483647 w 1115"/>
              <a:gd name="T11" fmla="*/ 2147483647 h 973"/>
              <a:gd name="T12" fmla="*/ 0 60000 65536"/>
              <a:gd name="T13" fmla="*/ 0 60000 65536"/>
              <a:gd name="T14" fmla="*/ 0 60000 65536"/>
              <a:gd name="T15" fmla="*/ 0 60000 65536"/>
              <a:gd name="T16" fmla="*/ 0 60000 65536"/>
              <a:gd name="T17" fmla="*/ 0 60000 65536"/>
              <a:gd name="T18" fmla="*/ 0 w 1115"/>
              <a:gd name="T19" fmla="*/ 0 h 973"/>
              <a:gd name="T20" fmla="*/ 1115 w 1115"/>
              <a:gd name="T21" fmla="*/ 973 h 973"/>
            </a:gdLst>
            <a:ahLst/>
            <a:cxnLst>
              <a:cxn ang="T12">
                <a:pos x="T0" y="T1"/>
              </a:cxn>
              <a:cxn ang="T13">
                <a:pos x="T2" y="T3"/>
              </a:cxn>
              <a:cxn ang="T14">
                <a:pos x="T4" y="T5"/>
              </a:cxn>
              <a:cxn ang="T15">
                <a:pos x="T6" y="T7"/>
              </a:cxn>
              <a:cxn ang="T16">
                <a:pos x="T8" y="T9"/>
              </a:cxn>
              <a:cxn ang="T17">
                <a:pos x="T10" y="T11"/>
              </a:cxn>
            </a:cxnLst>
            <a:rect l="T18" t="T19" r="T20" b="T21"/>
            <a:pathLst>
              <a:path w="1115" h="973">
                <a:moveTo>
                  <a:pt x="0" y="812"/>
                </a:moveTo>
                <a:lnTo>
                  <a:pt x="312" y="321"/>
                </a:lnTo>
                <a:lnTo>
                  <a:pt x="879" y="0"/>
                </a:lnTo>
                <a:lnTo>
                  <a:pt x="1115" y="161"/>
                </a:lnTo>
                <a:lnTo>
                  <a:pt x="557" y="510"/>
                </a:lnTo>
                <a:lnTo>
                  <a:pt x="369" y="973"/>
                </a:lnTo>
              </a:path>
            </a:pathLst>
          </a:custGeom>
          <a:solidFill>
            <a:srgbClr val="FFFF00"/>
          </a:solidFill>
          <a:ln w="9525">
            <a:solidFill>
              <a:srgbClr val="FFFF00"/>
            </a:solidFill>
            <a:round/>
            <a:headEnd/>
            <a:tailEnd/>
          </a:ln>
        </p:spPr>
        <p:txBody>
          <a:bodyPr wrap="none" anchor="ctr"/>
          <a:lstStyle/>
          <a:p>
            <a:endParaRPr lang="en-US" dirty="0">
              <a:latin typeface="Arial" pitchFamily="34" charset="0"/>
            </a:endParaRPr>
          </a:p>
        </p:txBody>
      </p:sp>
      <p:sp>
        <p:nvSpPr>
          <p:cNvPr id="25610" name="Freeform 17"/>
          <p:cNvSpPr>
            <a:spLocks/>
          </p:cNvSpPr>
          <p:nvPr/>
        </p:nvSpPr>
        <p:spPr bwMode="auto">
          <a:xfrm>
            <a:off x="4676775" y="3073400"/>
            <a:ext cx="1828800" cy="914400"/>
          </a:xfrm>
          <a:custGeom>
            <a:avLst/>
            <a:gdLst>
              <a:gd name="T0" fmla="*/ 0 w 1152"/>
              <a:gd name="T1" fmla="*/ 2147483647 h 576"/>
              <a:gd name="T2" fmla="*/ 2147483647 w 1152"/>
              <a:gd name="T3" fmla="*/ 2147483647 h 576"/>
              <a:gd name="T4" fmla="*/ 2147483647 w 1152"/>
              <a:gd name="T5" fmla="*/ 0 h 576"/>
              <a:gd name="T6" fmla="*/ 2147483647 w 1152"/>
              <a:gd name="T7" fmla="*/ 2147483647 h 576"/>
              <a:gd name="T8" fmla="*/ 2147483647 w 1152"/>
              <a:gd name="T9" fmla="*/ 2147483647 h 576"/>
              <a:gd name="T10" fmla="*/ 2147483647 w 1152"/>
              <a:gd name="T11" fmla="*/ 2147483647 h 576"/>
              <a:gd name="T12" fmla="*/ 0 60000 65536"/>
              <a:gd name="T13" fmla="*/ 0 60000 65536"/>
              <a:gd name="T14" fmla="*/ 0 60000 65536"/>
              <a:gd name="T15" fmla="*/ 0 60000 65536"/>
              <a:gd name="T16" fmla="*/ 0 60000 65536"/>
              <a:gd name="T17" fmla="*/ 0 60000 65536"/>
              <a:gd name="T18" fmla="*/ 0 w 1152"/>
              <a:gd name="T19" fmla="*/ 0 h 576"/>
              <a:gd name="T20" fmla="*/ 1152 w 115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152" h="576">
                <a:moveTo>
                  <a:pt x="0" y="444"/>
                </a:moveTo>
                <a:lnTo>
                  <a:pt x="321" y="236"/>
                </a:lnTo>
                <a:lnTo>
                  <a:pt x="1029" y="0"/>
                </a:lnTo>
                <a:lnTo>
                  <a:pt x="1152" y="66"/>
                </a:lnTo>
                <a:lnTo>
                  <a:pt x="501" y="377"/>
                </a:lnTo>
                <a:lnTo>
                  <a:pt x="170" y="576"/>
                </a:lnTo>
              </a:path>
            </a:pathLst>
          </a:custGeom>
          <a:solidFill>
            <a:srgbClr val="FFFF00"/>
          </a:solidFill>
          <a:ln w="9525">
            <a:solidFill>
              <a:srgbClr val="FFFF00"/>
            </a:solidFill>
            <a:round/>
            <a:headEnd/>
            <a:tailEnd type="triangle" w="med" len="med"/>
          </a:ln>
        </p:spPr>
        <p:txBody>
          <a:bodyPr wrap="none" anchor="ctr"/>
          <a:lstStyle/>
          <a:p>
            <a:endParaRPr lang="en-US" dirty="0">
              <a:latin typeface="Arial" pitchFamily="34" charset="0"/>
            </a:endParaRPr>
          </a:p>
        </p:txBody>
      </p:sp>
      <p:grpSp>
        <p:nvGrpSpPr>
          <p:cNvPr id="25611" name="Group 19"/>
          <p:cNvGrpSpPr>
            <a:grpSpLocks/>
          </p:cNvGrpSpPr>
          <p:nvPr/>
        </p:nvGrpSpPr>
        <p:grpSpPr bwMode="auto">
          <a:xfrm>
            <a:off x="2130425" y="2016125"/>
            <a:ext cx="1646238" cy="592138"/>
            <a:chOff x="190" y="2592"/>
            <a:chExt cx="1037" cy="373"/>
          </a:xfrm>
        </p:grpSpPr>
        <p:sp>
          <p:nvSpPr>
            <p:cNvPr id="25616" name="Freeform 20"/>
            <p:cNvSpPr>
              <a:spLocks/>
            </p:cNvSpPr>
            <p:nvPr/>
          </p:nvSpPr>
          <p:spPr bwMode="auto">
            <a:xfrm>
              <a:off x="797" y="2594"/>
              <a:ext cx="430" cy="263"/>
            </a:xfrm>
            <a:custGeom>
              <a:avLst/>
              <a:gdLst>
                <a:gd name="T0" fmla="*/ 86 w 348"/>
                <a:gd name="T1" fmla="*/ 211 h 228"/>
                <a:gd name="T2" fmla="*/ 439 w 348"/>
                <a:gd name="T3" fmla="*/ 0 h 228"/>
                <a:gd name="T4" fmla="*/ 1238 w 348"/>
                <a:gd name="T5" fmla="*/ 538 h 228"/>
                <a:gd name="T6" fmla="*/ 759 w 348"/>
                <a:gd name="T7" fmla="*/ 310 h 228"/>
                <a:gd name="T8" fmla="*/ 961 w 348"/>
                <a:gd name="T9" fmla="*/ 480 h 228"/>
                <a:gd name="T10" fmla="*/ 513 w 348"/>
                <a:gd name="T11" fmla="*/ 296 h 228"/>
                <a:gd name="T12" fmla="*/ 802 w 348"/>
                <a:gd name="T13" fmla="*/ 451 h 228"/>
                <a:gd name="T14" fmla="*/ 0 w 348"/>
                <a:gd name="T15" fmla="*/ 262 h 228"/>
                <a:gd name="T16" fmla="*/ 86 w 348"/>
                <a:gd name="T17" fmla="*/ 211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5617" name="Freeform 21"/>
            <p:cNvSpPr>
              <a:spLocks/>
            </p:cNvSpPr>
            <p:nvPr/>
          </p:nvSpPr>
          <p:spPr bwMode="auto">
            <a:xfrm>
              <a:off x="190" y="2592"/>
              <a:ext cx="430" cy="267"/>
            </a:xfrm>
            <a:custGeom>
              <a:avLst/>
              <a:gdLst>
                <a:gd name="T0" fmla="*/ 1145 w 348"/>
                <a:gd name="T1" fmla="*/ 208 h 231"/>
                <a:gd name="T2" fmla="*/ 802 w 348"/>
                <a:gd name="T3" fmla="*/ 0 h 231"/>
                <a:gd name="T4" fmla="*/ 0 w 348"/>
                <a:gd name="T5" fmla="*/ 551 h 231"/>
                <a:gd name="T6" fmla="*/ 534 w 348"/>
                <a:gd name="T7" fmla="*/ 320 h 231"/>
                <a:gd name="T8" fmla="*/ 278 w 348"/>
                <a:gd name="T9" fmla="*/ 494 h 231"/>
                <a:gd name="T10" fmla="*/ 759 w 348"/>
                <a:gd name="T11" fmla="*/ 317 h 231"/>
                <a:gd name="T12" fmla="*/ 493 w 348"/>
                <a:gd name="T13" fmla="*/ 473 h 231"/>
                <a:gd name="T14" fmla="*/ 1238 w 348"/>
                <a:gd name="T15" fmla="*/ 274 h 231"/>
                <a:gd name="T16" fmla="*/ 1145 w 348"/>
                <a:gd name="T17" fmla="*/ 20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nvGrpSpPr>
            <p:cNvPr id="25618" name="Group 22"/>
            <p:cNvGrpSpPr>
              <a:grpSpLocks/>
            </p:cNvGrpSpPr>
            <p:nvPr/>
          </p:nvGrpSpPr>
          <p:grpSpPr bwMode="auto">
            <a:xfrm>
              <a:off x="511" y="2699"/>
              <a:ext cx="405" cy="266"/>
              <a:chOff x="312" y="2568"/>
              <a:chExt cx="604" cy="397"/>
            </a:xfrm>
          </p:grpSpPr>
          <p:sp>
            <p:nvSpPr>
              <p:cNvPr id="25619" name="Rectangle 23"/>
              <p:cNvSpPr>
                <a:spLocks noChangeArrowheads="1"/>
              </p:cNvSpPr>
              <p:nvPr/>
            </p:nvSpPr>
            <p:spPr bwMode="auto">
              <a:xfrm>
                <a:off x="319" y="2578"/>
                <a:ext cx="597" cy="387"/>
              </a:xfrm>
              <a:prstGeom prst="rect">
                <a:avLst/>
              </a:prstGeom>
              <a:solidFill>
                <a:srgbClr val="FF0000"/>
              </a:solidFill>
              <a:ln w="38100">
                <a:solidFill>
                  <a:schemeClr val="tx1"/>
                </a:solidFill>
                <a:miter lim="800000"/>
                <a:headEnd/>
                <a:tailEnd/>
              </a:ln>
            </p:spPr>
            <p:txBody>
              <a:bodyPr wrap="none" anchor="ctr"/>
              <a:lstStyle/>
              <a:p>
                <a:endParaRPr lang="en-US" dirty="0">
                  <a:latin typeface="Arial" pitchFamily="34" charset="0"/>
                </a:endParaRPr>
              </a:p>
            </p:txBody>
          </p:sp>
          <p:sp>
            <p:nvSpPr>
              <p:cNvPr id="25620" name="Freeform 24"/>
              <p:cNvSpPr>
                <a:spLocks/>
              </p:cNvSpPr>
              <p:nvPr/>
            </p:nvSpPr>
            <p:spPr bwMode="auto">
              <a:xfrm>
                <a:off x="312" y="2568"/>
                <a:ext cx="604" cy="208"/>
              </a:xfrm>
              <a:custGeom>
                <a:avLst/>
                <a:gdLst>
                  <a:gd name="T0" fmla="*/ 0 w 604"/>
                  <a:gd name="T1" fmla="*/ 0 h 208"/>
                  <a:gd name="T2" fmla="*/ 321 w 604"/>
                  <a:gd name="T3" fmla="*/ 208 h 208"/>
                  <a:gd name="T4" fmla="*/ 604 w 604"/>
                  <a:gd name="T5" fmla="*/ 19 h 208"/>
                  <a:gd name="T6" fmla="*/ 0 60000 65536"/>
                  <a:gd name="T7" fmla="*/ 0 60000 65536"/>
                  <a:gd name="T8" fmla="*/ 0 60000 65536"/>
                  <a:gd name="T9" fmla="*/ 0 w 604"/>
                  <a:gd name="T10" fmla="*/ 0 h 208"/>
                  <a:gd name="T11" fmla="*/ 604 w 604"/>
                  <a:gd name="T12" fmla="*/ 208 h 208"/>
                </a:gdLst>
                <a:ahLst/>
                <a:cxnLst>
                  <a:cxn ang="T6">
                    <a:pos x="T0" y="T1"/>
                  </a:cxn>
                  <a:cxn ang="T7">
                    <a:pos x="T2" y="T3"/>
                  </a:cxn>
                  <a:cxn ang="T8">
                    <a:pos x="T4" y="T5"/>
                  </a:cxn>
                </a:cxnLst>
                <a:rect l="T9" t="T10" r="T11" b="T12"/>
                <a:pathLst>
                  <a:path w="604" h="208">
                    <a:moveTo>
                      <a:pt x="0" y="0"/>
                    </a:moveTo>
                    <a:lnTo>
                      <a:pt x="321" y="208"/>
                    </a:lnTo>
                    <a:lnTo>
                      <a:pt x="604" y="19"/>
                    </a:lnTo>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grpSp>
      <p:sp>
        <p:nvSpPr>
          <p:cNvPr id="25612" name="Freeform 25"/>
          <p:cNvSpPr>
            <a:spLocks/>
          </p:cNvSpPr>
          <p:nvPr/>
        </p:nvSpPr>
        <p:spPr bwMode="auto">
          <a:xfrm>
            <a:off x="1739900" y="2628900"/>
            <a:ext cx="4646613" cy="2243138"/>
          </a:xfrm>
          <a:custGeom>
            <a:avLst/>
            <a:gdLst>
              <a:gd name="T0" fmla="*/ 2147483647 w 2927"/>
              <a:gd name="T1" fmla="*/ 2147483647 h 1413"/>
              <a:gd name="T2" fmla="*/ 2147483647 w 2927"/>
              <a:gd name="T3" fmla="*/ 2147483647 h 1413"/>
              <a:gd name="T4" fmla="*/ 2147483647 w 2927"/>
              <a:gd name="T5" fmla="*/ 2147483647 h 1413"/>
              <a:gd name="T6" fmla="*/ 2147483647 w 2927"/>
              <a:gd name="T7" fmla="*/ 2147483647 h 1413"/>
              <a:gd name="T8" fmla="*/ 2147483647 w 2927"/>
              <a:gd name="T9" fmla="*/ 2147483647 h 1413"/>
              <a:gd name="T10" fmla="*/ 2147483647 w 2927"/>
              <a:gd name="T11" fmla="*/ 2147483647 h 1413"/>
              <a:gd name="T12" fmla="*/ 2147483647 w 2927"/>
              <a:gd name="T13" fmla="*/ 2147483647 h 1413"/>
              <a:gd name="T14" fmla="*/ 0 60000 65536"/>
              <a:gd name="T15" fmla="*/ 0 60000 65536"/>
              <a:gd name="T16" fmla="*/ 0 60000 65536"/>
              <a:gd name="T17" fmla="*/ 0 60000 65536"/>
              <a:gd name="T18" fmla="*/ 0 60000 65536"/>
              <a:gd name="T19" fmla="*/ 0 60000 65536"/>
              <a:gd name="T20" fmla="*/ 0 60000 65536"/>
              <a:gd name="T21" fmla="*/ 0 w 2927"/>
              <a:gd name="T22" fmla="*/ 0 h 1413"/>
              <a:gd name="T23" fmla="*/ 2927 w 2927"/>
              <a:gd name="T24" fmla="*/ 1413 h 14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27" h="1413">
                <a:moveTo>
                  <a:pt x="18" y="1403"/>
                </a:moveTo>
                <a:cubicBezTo>
                  <a:pt x="9" y="1408"/>
                  <a:pt x="0" y="1413"/>
                  <a:pt x="65" y="1281"/>
                </a:cubicBezTo>
                <a:cubicBezTo>
                  <a:pt x="130" y="1149"/>
                  <a:pt x="214" y="819"/>
                  <a:pt x="405" y="610"/>
                </a:cubicBezTo>
                <a:cubicBezTo>
                  <a:pt x="596" y="401"/>
                  <a:pt x="950" y="50"/>
                  <a:pt x="1208" y="25"/>
                </a:cubicBezTo>
                <a:cubicBezTo>
                  <a:pt x="1466" y="0"/>
                  <a:pt x="1743" y="451"/>
                  <a:pt x="1954" y="459"/>
                </a:cubicBezTo>
                <a:cubicBezTo>
                  <a:pt x="2165" y="467"/>
                  <a:pt x="2311" y="135"/>
                  <a:pt x="2473" y="72"/>
                </a:cubicBezTo>
                <a:cubicBezTo>
                  <a:pt x="2635" y="9"/>
                  <a:pt x="2781" y="45"/>
                  <a:pt x="2927" y="81"/>
                </a:cubicBezTo>
              </a:path>
            </a:pathLst>
          </a:custGeom>
          <a:noFill/>
          <a:ln w="76200">
            <a:solidFill>
              <a:srgbClr val="FF0000"/>
            </a:solidFill>
            <a:round/>
            <a:headEnd/>
            <a:tailEnd type="triangle" w="med" len="med"/>
          </a:ln>
        </p:spPr>
        <p:txBody>
          <a:bodyPr wrap="none" anchor="ctr"/>
          <a:lstStyle/>
          <a:p>
            <a:endParaRPr lang="en-US" dirty="0">
              <a:latin typeface="Arial" pitchFamily="34" charset="0"/>
            </a:endParaRPr>
          </a:p>
        </p:txBody>
      </p:sp>
      <p:sp>
        <p:nvSpPr>
          <p:cNvPr id="25613" name="Text Box 26"/>
          <p:cNvSpPr txBox="1">
            <a:spLocks noChangeArrowheads="1"/>
          </p:cNvSpPr>
          <p:nvPr/>
        </p:nvSpPr>
        <p:spPr bwMode="auto">
          <a:xfrm>
            <a:off x="3775075" y="2168525"/>
            <a:ext cx="1366080" cy="461665"/>
          </a:xfrm>
          <a:prstGeom prst="rect">
            <a:avLst/>
          </a:prstGeom>
          <a:noFill/>
          <a:ln w="9525">
            <a:noFill/>
            <a:miter lim="800000"/>
            <a:headEnd/>
            <a:tailEnd/>
          </a:ln>
        </p:spPr>
        <p:txBody>
          <a:bodyPr wrap="none">
            <a:spAutoFit/>
          </a:bodyPr>
          <a:lstStyle/>
          <a:p>
            <a:r>
              <a:rPr lang="en-US" sz="2400" dirty="0">
                <a:solidFill>
                  <a:srgbClr val="FF3300"/>
                </a:solidFill>
                <a:latin typeface="Arial" pitchFamily="34" charset="0"/>
              </a:rPr>
              <a:t>address</a:t>
            </a:r>
          </a:p>
        </p:txBody>
      </p:sp>
      <p:sp>
        <p:nvSpPr>
          <p:cNvPr id="25614" name="Freeform 27"/>
          <p:cNvSpPr>
            <a:spLocks/>
          </p:cNvSpPr>
          <p:nvPr/>
        </p:nvSpPr>
        <p:spPr bwMode="auto">
          <a:xfrm>
            <a:off x="3373438" y="4376738"/>
            <a:ext cx="1617662" cy="884237"/>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sp>
        <p:nvSpPr>
          <p:cNvPr id="25615" name="Text Box 29"/>
          <p:cNvSpPr txBox="1">
            <a:spLocks noChangeArrowheads="1"/>
          </p:cNvSpPr>
          <p:nvPr/>
        </p:nvSpPr>
        <p:spPr bwMode="auto">
          <a:xfrm>
            <a:off x="5216525" y="4479925"/>
            <a:ext cx="1058303" cy="461665"/>
          </a:xfrm>
          <a:prstGeom prst="rect">
            <a:avLst/>
          </a:prstGeom>
          <a:noFill/>
          <a:ln w="9525">
            <a:noFill/>
            <a:miter lim="800000"/>
            <a:headEnd/>
            <a:tailEnd/>
          </a:ln>
        </p:spPr>
        <p:txBody>
          <a:bodyPr wrap="none">
            <a:spAutoFit/>
          </a:bodyPr>
          <a:lstStyle/>
          <a:p>
            <a:r>
              <a:rPr lang="en-US" sz="2400" dirty="0">
                <a:solidFill>
                  <a:srgbClr val="FF3300"/>
                </a:solidFill>
                <a:latin typeface="Arial" pitchFamily="34" charset="0"/>
              </a:rPr>
              <a:t>cache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3"/>
          <p:cNvSpPr>
            <a:spLocks noGrp="1"/>
          </p:cNvSpPr>
          <p:nvPr>
            <p:ph type="ftr" sz="quarter" idx="10"/>
          </p:nvPr>
        </p:nvSpPr>
        <p:spPr>
          <a:noFill/>
        </p:spPr>
        <p:txBody>
          <a:bodyPr/>
          <a:lstStyle/>
          <a:p>
            <a:r>
              <a:rPr lang="en-US"/>
              <a:t>Art of Multiprocessor Programming</a:t>
            </a:r>
          </a:p>
        </p:txBody>
      </p:sp>
      <p:sp>
        <p:nvSpPr>
          <p:cNvPr id="26627" name="Slide Number Placeholder 4"/>
          <p:cNvSpPr>
            <a:spLocks noGrp="1"/>
          </p:cNvSpPr>
          <p:nvPr>
            <p:ph type="sldNum" sz="quarter" idx="11"/>
          </p:nvPr>
        </p:nvSpPr>
        <p:spPr>
          <a:noFill/>
        </p:spPr>
        <p:txBody>
          <a:bodyPr/>
          <a:lstStyle/>
          <a:p>
            <a:fld id="{64B37CE6-64C1-4A28-93A2-2338A7161504}" type="slidenum">
              <a:rPr lang="ar-SA" smtClean="0"/>
              <a:pPr/>
              <a:t>25</a:t>
            </a:fld>
            <a:endParaRPr lang="en-US"/>
          </a:p>
        </p:txBody>
      </p:sp>
      <p:pic>
        <p:nvPicPr>
          <p:cNvPr id="26628" name="Picture 2"/>
          <p:cNvPicPr>
            <a:picLocks noChangeAspect="1" noChangeArrowheads="1"/>
          </p:cNvPicPr>
          <p:nvPr/>
        </p:nvPicPr>
        <p:blipFill>
          <a:blip r:embed="rId3" cstate="print"/>
          <a:srcRect/>
          <a:stretch>
            <a:fillRect/>
          </a:stretch>
        </p:blipFill>
        <p:spPr bwMode="auto">
          <a:xfrm>
            <a:off x="5222875" y="1651000"/>
            <a:ext cx="3057525" cy="1873250"/>
          </a:xfrm>
          <a:prstGeom prst="rect">
            <a:avLst/>
          </a:prstGeom>
          <a:noFill/>
          <a:ln w="9525">
            <a:noFill/>
            <a:miter lim="800000"/>
            <a:headEnd/>
            <a:tailEnd/>
          </a:ln>
        </p:spPr>
      </p:pic>
      <p:sp>
        <p:nvSpPr>
          <p:cNvPr id="26629" name="Rectangle 3"/>
          <p:cNvSpPr>
            <a:spLocks noGrp="1" noChangeArrowheads="1"/>
          </p:cNvSpPr>
          <p:nvPr>
            <p:ph type="title"/>
          </p:nvPr>
        </p:nvSpPr>
        <p:spPr/>
        <p:txBody>
          <a:bodyPr/>
          <a:lstStyle/>
          <a:p>
            <a:r>
              <a:rPr lang="en-US"/>
              <a:t>Cache: Reading from Memory</a:t>
            </a:r>
          </a:p>
        </p:txBody>
      </p:sp>
      <p:grpSp>
        <p:nvGrpSpPr>
          <p:cNvPr id="26630" name="Group 4"/>
          <p:cNvGrpSpPr>
            <a:grpSpLocks/>
          </p:cNvGrpSpPr>
          <p:nvPr/>
        </p:nvGrpSpPr>
        <p:grpSpPr bwMode="auto">
          <a:xfrm flipH="1">
            <a:off x="1477963" y="4859338"/>
            <a:ext cx="1447800" cy="1295400"/>
            <a:chOff x="3168" y="1824"/>
            <a:chExt cx="912" cy="816"/>
          </a:xfrm>
        </p:grpSpPr>
        <p:sp>
          <p:nvSpPr>
            <p:cNvPr id="26645" name="Freeform 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646" name="Freeform 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647" name="Freeform 7"/>
            <p:cNvSpPr>
              <a:spLocks/>
            </p:cNvSpPr>
            <p:nvPr/>
          </p:nvSpPr>
          <p:spPr bwMode="auto">
            <a:xfrm>
              <a:off x="3504" y="1824"/>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648" name="Freeform 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6649" name="Freeform 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6650" name="Freeform 1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6651" name="Freeform 11"/>
            <p:cNvSpPr>
              <a:spLocks/>
            </p:cNvSpPr>
            <p:nvPr/>
          </p:nvSpPr>
          <p:spPr bwMode="auto">
            <a:xfrm>
              <a:off x="3504" y="2304"/>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652" name="Freeform 12"/>
            <p:cNvSpPr>
              <a:spLocks/>
            </p:cNvSpPr>
            <p:nvPr/>
          </p:nvSpPr>
          <p:spPr bwMode="auto">
            <a:xfrm>
              <a:off x="3312" y="2160"/>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653" name="Freeform 13"/>
            <p:cNvSpPr>
              <a:spLocks/>
            </p:cNvSpPr>
            <p:nvPr/>
          </p:nvSpPr>
          <p:spPr bwMode="auto">
            <a:xfrm>
              <a:off x="3168" y="2016"/>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6631" name="Freeform 14"/>
          <p:cNvSpPr>
            <a:spLocks/>
          </p:cNvSpPr>
          <p:nvPr/>
        </p:nvSpPr>
        <p:spPr bwMode="auto">
          <a:xfrm>
            <a:off x="1409700" y="2838450"/>
            <a:ext cx="3702050" cy="1268413"/>
          </a:xfrm>
          <a:custGeom>
            <a:avLst/>
            <a:gdLst>
              <a:gd name="T0" fmla="*/ 0 w 2332"/>
              <a:gd name="T1" fmla="*/ 2147483647 h 799"/>
              <a:gd name="T2" fmla="*/ 2147483647 w 2332"/>
              <a:gd name="T3" fmla="*/ 2147483647 h 799"/>
              <a:gd name="T4" fmla="*/ 2147483647 w 2332"/>
              <a:gd name="T5" fmla="*/ 2147483647 h 799"/>
              <a:gd name="T6" fmla="*/ 0 60000 65536"/>
              <a:gd name="T7" fmla="*/ 0 60000 65536"/>
              <a:gd name="T8" fmla="*/ 0 60000 65536"/>
              <a:gd name="T9" fmla="*/ 0 w 2332"/>
              <a:gd name="T10" fmla="*/ 0 h 799"/>
              <a:gd name="T11" fmla="*/ 2332 w 2332"/>
              <a:gd name="T12" fmla="*/ 799 h 799"/>
            </a:gdLst>
            <a:ahLst/>
            <a:cxnLst>
              <a:cxn ang="T6">
                <a:pos x="T0" y="T1"/>
              </a:cxn>
              <a:cxn ang="T7">
                <a:pos x="T2" y="T3"/>
              </a:cxn>
              <a:cxn ang="T8">
                <a:pos x="T4" y="T5"/>
              </a:cxn>
            </a:cxnLst>
            <a:rect l="T9" t="T10" r="T11" b="T12"/>
            <a:pathLst>
              <a:path w="2332" h="799">
                <a:moveTo>
                  <a:pt x="0" y="478"/>
                </a:moveTo>
                <a:cubicBezTo>
                  <a:pt x="291" y="239"/>
                  <a:pt x="583" y="0"/>
                  <a:pt x="972" y="53"/>
                </a:cubicBezTo>
                <a:cubicBezTo>
                  <a:pt x="1361" y="106"/>
                  <a:pt x="2104" y="675"/>
                  <a:pt x="2332" y="799"/>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26632" name="Freeform 15"/>
          <p:cNvSpPr>
            <a:spLocks/>
          </p:cNvSpPr>
          <p:nvPr/>
        </p:nvSpPr>
        <p:spPr bwMode="auto">
          <a:xfrm>
            <a:off x="4241800" y="2906713"/>
            <a:ext cx="4271963" cy="976312"/>
          </a:xfrm>
          <a:custGeom>
            <a:avLst/>
            <a:gdLst>
              <a:gd name="T0" fmla="*/ 0 w 2691"/>
              <a:gd name="T1" fmla="*/ 2147483647 h 615"/>
              <a:gd name="T2" fmla="*/ 2147483647 w 2691"/>
              <a:gd name="T3" fmla="*/ 2147483647 h 615"/>
              <a:gd name="T4" fmla="*/ 2147483647 w 2691"/>
              <a:gd name="T5" fmla="*/ 2147483647 h 615"/>
              <a:gd name="T6" fmla="*/ 0 60000 65536"/>
              <a:gd name="T7" fmla="*/ 0 60000 65536"/>
              <a:gd name="T8" fmla="*/ 0 60000 65536"/>
              <a:gd name="T9" fmla="*/ 0 w 2691"/>
              <a:gd name="T10" fmla="*/ 0 h 615"/>
              <a:gd name="T11" fmla="*/ 2691 w 2691"/>
              <a:gd name="T12" fmla="*/ 615 h 615"/>
            </a:gdLst>
            <a:ahLst/>
            <a:cxnLst>
              <a:cxn ang="T6">
                <a:pos x="T0" y="T1"/>
              </a:cxn>
              <a:cxn ang="T7">
                <a:pos x="T2" y="T3"/>
              </a:cxn>
              <a:cxn ang="T8">
                <a:pos x="T4" y="T5"/>
              </a:cxn>
            </a:cxnLst>
            <a:rect l="T9" t="T10" r="T11" b="T12"/>
            <a:pathLst>
              <a:path w="2691" h="615">
                <a:moveTo>
                  <a:pt x="0" y="379"/>
                </a:moveTo>
                <a:cubicBezTo>
                  <a:pt x="257" y="189"/>
                  <a:pt x="515" y="0"/>
                  <a:pt x="963" y="39"/>
                </a:cubicBezTo>
                <a:cubicBezTo>
                  <a:pt x="1411" y="78"/>
                  <a:pt x="2051" y="346"/>
                  <a:pt x="2691" y="615"/>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26633" name="Freeform 16"/>
          <p:cNvSpPr>
            <a:spLocks/>
          </p:cNvSpPr>
          <p:nvPr/>
        </p:nvSpPr>
        <p:spPr bwMode="auto">
          <a:xfrm>
            <a:off x="2517775" y="3357563"/>
            <a:ext cx="1770063" cy="1544637"/>
          </a:xfrm>
          <a:custGeom>
            <a:avLst/>
            <a:gdLst>
              <a:gd name="T0" fmla="*/ 0 w 1115"/>
              <a:gd name="T1" fmla="*/ 2147483647 h 973"/>
              <a:gd name="T2" fmla="*/ 2147483647 w 1115"/>
              <a:gd name="T3" fmla="*/ 2147483647 h 973"/>
              <a:gd name="T4" fmla="*/ 2147483647 w 1115"/>
              <a:gd name="T5" fmla="*/ 0 h 973"/>
              <a:gd name="T6" fmla="*/ 2147483647 w 1115"/>
              <a:gd name="T7" fmla="*/ 2147483647 h 973"/>
              <a:gd name="T8" fmla="*/ 2147483647 w 1115"/>
              <a:gd name="T9" fmla="*/ 2147483647 h 973"/>
              <a:gd name="T10" fmla="*/ 2147483647 w 1115"/>
              <a:gd name="T11" fmla="*/ 2147483647 h 973"/>
              <a:gd name="T12" fmla="*/ 0 60000 65536"/>
              <a:gd name="T13" fmla="*/ 0 60000 65536"/>
              <a:gd name="T14" fmla="*/ 0 60000 65536"/>
              <a:gd name="T15" fmla="*/ 0 60000 65536"/>
              <a:gd name="T16" fmla="*/ 0 60000 65536"/>
              <a:gd name="T17" fmla="*/ 0 60000 65536"/>
              <a:gd name="T18" fmla="*/ 0 w 1115"/>
              <a:gd name="T19" fmla="*/ 0 h 973"/>
              <a:gd name="T20" fmla="*/ 1115 w 1115"/>
              <a:gd name="T21" fmla="*/ 973 h 973"/>
            </a:gdLst>
            <a:ahLst/>
            <a:cxnLst>
              <a:cxn ang="T12">
                <a:pos x="T0" y="T1"/>
              </a:cxn>
              <a:cxn ang="T13">
                <a:pos x="T2" y="T3"/>
              </a:cxn>
              <a:cxn ang="T14">
                <a:pos x="T4" y="T5"/>
              </a:cxn>
              <a:cxn ang="T15">
                <a:pos x="T6" y="T7"/>
              </a:cxn>
              <a:cxn ang="T16">
                <a:pos x="T8" y="T9"/>
              </a:cxn>
              <a:cxn ang="T17">
                <a:pos x="T10" y="T11"/>
              </a:cxn>
            </a:cxnLst>
            <a:rect l="T18" t="T19" r="T20" b="T21"/>
            <a:pathLst>
              <a:path w="1115" h="973">
                <a:moveTo>
                  <a:pt x="0" y="812"/>
                </a:moveTo>
                <a:lnTo>
                  <a:pt x="312" y="321"/>
                </a:lnTo>
                <a:lnTo>
                  <a:pt x="879" y="0"/>
                </a:lnTo>
                <a:lnTo>
                  <a:pt x="1115" y="161"/>
                </a:lnTo>
                <a:lnTo>
                  <a:pt x="557" y="510"/>
                </a:lnTo>
                <a:lnTo>
                  <a:pt x="369" y="973"/>
                </a:lnTo>
              </a:path>
            </a:pathLst>
          </a:custGeom>
          <a:solidFill>
            <a:srgbClr val="FFFF00"/>
          </a:solidFill>
          <a:ln w="9525">
            <a:solidFill>
              <a:srgbClr val="FFFF00"/>
            </a:solidFill>
            <a:round/>
            <a:headEnd/>
            <a:tailEnd/>
          </a:ln>
        </p:spPr>
        <p:txBody>
          <a:bodyPr wrap="none" anchor="ctr"/>
          <a:lstStyle/>
          <a:p>
            <a:endParaRPr lang="en-US" dirty="0">
              <a:latin typeface="Arial" pitchFamily="34" charset="0"/>
            </a:endParaRPr>
          </a:p>
        </p:txBody>
      </p:sp>
      <p:sp>
        <p:nvSpPr>
          <p:cNvPr id="26634" name="Freeform 17"/>
          <p:cNvSpPr>
            <a:spLocks/>
          </p:cNvSpPr>
          <p:nvPr/>
        </p:nvSpPr>
        <p:spPr bwMode="auto">
          <a:xfrm>
            <a:off x="4676775" y="3073400"/>
            <a:ext cx="1828800" cy="914400"/>
          </a:xfrm>
          <a:custGeom>
            <a:avLst/>
            <a:gdLst>
              <a:gd name="T0" fmla="*/ 0 w 1152"/>
              <a:gd name="T1" fmla="*/ 2147483647 h 576"/>
              <a:gd name="T2" fmla="*/ 2147483647 w 1152"/>
              <a:gd name="T3" fmla="*/ 2147483647 h 576"/>
              <a:gd name="T4" fmla="*/ 2147483647 w 1152"/>
              <a:gd name="T5" fmla="*/ 0 h 576"/>
              <a:gd name="T6" fmla="*/ 2147483647 w 1152"/>
              <a:gd name="T7" fmla="*/ 2147483647 h 576"/>
              <a:gd name="T8" fmla="*/ 2147483647 w 1152"/>
              <a:gd name="T9" fmla="*/ 2147483647 h 576"/>
              <a:gd name="T10" fmla="*/ 2147483647 w 1152"/>
              <a:gd name="T11" fmla="*/ 2147483647 h 576"/>
              <a:gd name="T12" fmla="*/ 0 60000 65536"/>
              <a:gd name="T13" fmla="*/ 0 60000 65536"/>
              <a:gd name="T14" fmla="*/ 0 60000 65536"/>
              <a:gd name="T15" fmla="*/ 0 60000 65536"/>
              <a:gd name="T16" fmla="*/ 0 60000 65536"/>
              <a:gd name="T17" fmla="*/ 0 60000 65536"/>
              <a:gd name="T18" fmla="*/ 0 w 1152"/>
              <a:gd name="T19" fmla="*/ 0 h 576"/>
              <a:gd name="T20" fmla="*/ 1152 w 115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152" h="576">
                <a:moveTo>
                  <a:pt x="0" y="444"/>
                </a:moveTo>
                <a:lnTo>
                  <a:pt x="321" y="236"/>
                </a:lnTo>
                <a:lnTo>
                  <a:pt x="1029" y="0"/>
                </a:lnTo>
                <a:lnTo>
                  <a:pt x="1152" y="66"/>
                </a:lnTo>
                <a:lnTo>
                  <a:pt x="501" y="377"/>
                </a:lnTo>
                <a:lnTo>
                  <a:pt x="170" y="576"/>
                </a:lnTo>
              </a:path>
            </a:pathLst>
          </a:custGeom>
          <a:solidFill>
            <a:srgbClr val="FFFF00"/>
          </a:solidFill>
          <a:ln w="9525">
            <a:solidFill>
              <a:srgbClr val="FFFF00"/>
            </a:solidFill>
            <a:round/>
            <a:headEnd/>
            <a:tailEnd type="triangle" w="med" len="med"/>
          </a:ln>
        </p:spPr>
        <p:txBody>
          <a:bodyPr wrap="none" anchor="ctr"/>
          <a:lstStyle/>
          <a:p>
            <a:endParaRPr lang="en-US" dirty="0">
              <a:latin typeface="Arial" pitchFamily="34" charset="0"/>
            </a:endParaRPr>
          </a:p>
        </p:txBody>
      </p:sp>
      <p:sp>
        <p:nvSpPr>
          <p:cNvPr id="26635" name="Freeform 20"/>
          <p:cNvSpPr>
            <a:spLocks/>
          </p:cNvSpPr>
          <p:nvPr/>
        </p:nvSpPr>
        <p:spPr bwMode="auto">
          <a:xfrm>
            <a:off x="3373438" y="4376738"/>
            <a:ext cx="1617662" cy="884237"/>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sp>
        <p:nvSpPr>
          <p:cNvPr id="26636" name="Text Box 21"/>
          <p:cNvSpPr txBox="1">
            <a:spLocks noChangeArrowheads="1"/>
          </p:cNvSpPr>
          <p:nvPr/>
        </p:nvSpPr>
        <p:spPr bwMode="auto">
          <a:xfrm>
            <a:off x="5216525" y="4479925"/>
            <a:ext cx="1058303" cy="461665"/>
          </a:xfrm>
          <a:prstGeom prst="rect">
            <a:avLst/>
          </a:prstGeom>
          <a:noFill/>
          <a:ln w="9525">
            <a:noFill/>
            <a:miter lim="800000"/>
            <a:headEnd/>
            <a:tailEnd/>
          </a:ln>
        </p:spPr>
        <p:txBody>
          <a:bodyPr wrap="none">
            <a:spAutoFit/>
          </a:bodyPr>
          <a:lstStyle/>
          <a:p>
            <a:r>
              <a:rPr lang="en-US" sz="2400" dirty="0">
                <a:solidFill>
                  <a:srgbClr val="FF3300"/>
                </a:solidFill>
                <a:latin typeface="Arial" pitchFamily="34" charset="0"/>
              </a:rPr>
              <a:t>cache</a:t>
            </a:r>
          </a:p>
        </p:txBody>
      </p:sp>
      <p:sp>
        <p:nvSpPr>
          <p:cNvPr id="26637" name="Freeform 28"/>
          <p:cNvSpPr>
            <a:spLocks/>
          </p:cNvSpPr>
          <p:nvPr/>
        </p:nvSpPr>
        <p:spPr bwMode="auto">
          <a:xfrm>
            <a:off x="4449763" y="2922588"/>
            <a:ext cx="2025650" cy="1662112"/>
          </a:xfrm>
          <a:custGeom>
            <a:avLst/>
            <a:gdLst>
              <a:gd name="T0" fmla="*/ 2147483647 w 1276"/>
              <a:gd name="T1" fmla="*/ 2147483647 h 1047"/>
              <a:gd name="T2" fmla="*/ 2147483647 w 1276"/>
              <a:gd name="T3" fmla="*/ 2147483647 h 1047"/>
              <a:gd name="T4" fmla="*/ 2147483647 w 1276"/>
              <a:gd name="T5" fmla="*/ 2147483647 h 1047"/>
              <a:gd name="T6" fmla="*/ 2147483647 w 1276"/>
              <a:gd name="T7" fmla="*/ 2147483647 h 1047"/>
              <a:gd name="T8" fmla="*/ 2147483647 w 1276"/>
              <a:gd name="T9" fmla="*/ 0 h 1047"/>
              <a:gd name="T10" fmla="*/ 0 60000 65536"/>
              <a:gd name="T11" fmla="*/ 0 60000 65536"/>
              <a:gd name="T12" fmla="*/ 0 60000 65536"/>
              <a:gd name="T13" fmla="*/ 0 60000 65536"/>
              <a:gd name="T14" fmla="*/ 0 60000 65536"/>
              <a:gd name="T15" fmla="*/ 0 w 1276"/>
              <a:gd name="T16" fmla="*/ 0 h 1047"/>
              <a:gd name="T17" fmla="*/ 1276 w 1276"/>
              <a:gd name="T18" fmla="*/ 1047 h 1047"/>
            </a:gdLst>
            <a:ahLst/>
            <a:cxnLst>
              <a:cxn ang="T10">
                <a:pos x="T0" y="T1"/>
              </a:cxn>
              <a:cxn ang="T11">
                <a:pos x="T2" y="T3"/>
              </a:cxn>
              <a:cxn ang="T12">
                <a:pos x="T4" y="T5"/>
              </a:cxn>
              <a:cxn ang="T13">
                <a:pos x="T6" y="T7"/>
              </a:cxn>
              <a:cxn ang="T14">
                <a:pos x="T8" y="T9"/>
              </a:cxn>
            </a:cxnLst>
            <a:rect l="T15" t="T16" r="T17" b="T18"/>
            <a:pathLst>
              <a:path w="1276" h="1047">
                <a:moveTo>
                  <a:pt x="190" y="1020"/>
                </a:moveTo>
                <a:cubicBezTo>
                  <a:pt x="176" y="1020"/>
                  <a:pt x="0" y="1047"/>
                  <a:pt x="105" y="1020"/>
                </a:cubicBezTo>
                <a:cubicBezTo>
                  <a:pt x="210" y="993"/>
                  <a:pt x="781" y="972"/>
                  <a:pt x="823" y="860"/>
                </a:cubicBezTo>
                <a:cubicBezTo>
                  <a:pt x="865" y="748"/>
                  <a:pt x="285" y="493"/>
                  <a:pt x="360" y="350"/>
                </a:cubicBezTo>
                <a:cubicBezTo>
                  <a:pt x="435" y="207"/>
                  <a:pt x="1085" y="73"/>
                  <a:pt x="1276" y="0"/>
                </a:cubicBezTo>
              </a:path>
            </a:pathLst>
          </a:custGeom>
          <a:noFill/>
          <a:ln w="76200">
            <a:solidFill>
              <a:srgbClr val="009900"/>
            </a:solidFill>
            <a:round/>
            <a:headEnd type="triangle" w="med" len="med"/>
            <a:tailEnd/>
          </a:ln>
        </p:spPr>
        <p:txBody>
          <a:bodyPr wrap="none" anchor="ctr"/>
          <a:lstStyle/>
          <a:p>
            <a:endParaRPr lang="en-US" dirty="0">
              <a:latin typeface="Arial" pitchFamily="34" charset="0"/>
            </a:endParaRPr>
          </a:p>
        </p:txBody>
      </p:sp>
      <p:grpSp>
        <p:nvGrpSpPr>
          <p:cNvPr id="26638" name="Group 29"/>
          <p:cNvGrpSpPr>
            <a:grpSpLocks/>
          </p:cNvGrpSpPr>
          <p:nvPr/>
        </p:nvGrpSpPr>
        <p:grpSpPr bwMode="auto">
          <a:xfrm>
            <a:off x="3722688" y="4549775"/>
            <a:ext cx="1377950" cy="423863"/>
            <a:chOff x="1313" y="2496"/>
            <a:chExt cx="1252" cy="427"/>
          </a:xfrm>
        </p:grpSpPr>
        <p:sp>
          <p:nvSpPr>
            <p:cNvPr id="26641" name="Freeform 30"/>
            <p:cNvSpPr>
              <a:spLocks/>
            </p:cNvSpPr>
            <p:nvPr/>
          </p:nvSpPr>
          <p:spPr bwMode="auto">
            <a:xfrm>
              <a:off x="1945" y="2502"/>
              <a:ext cx="620" cy="421"/>
            </a:xfrm>
            <a:custGeom>
              <a:avLst/>
              <a:gdLst>
                <a:gd name="T0" fmla="*/ 775 w 348"/>
                <a:gd name="T1" fmla="*/ 3569 h 228"/>
                <a:gd name="T2" fmla="*/ 3930 w 348"/>
                <a:gd name="T3" fmla="*/ 0 h 228"/>
                <a:gd name="T4" fmla="*/ 11135 w 348"/>
                <a:gd name="T5" fmla="*/ 9035 h 228"/>
                <a:gd name="T6" fmla="*/ 6802 w 348"/>
                <a:gd name="T7" fmla="*/ 5244 h 228"/>
                <a:gd name="T8" fmla="*/ 8637 w 348"/>
                <a:gd name="T9" fmla="*/ 8091 h 228"/>
                <a:gd name="T10" fmla="*/ 4614 w 348"/>
                <a:gd name="T11" fmla="*/ 4998 h 228"/>
                <a:gd name="T12" fmla="*/ 7192 w 348"/>
                <a:gd name="T13" fmla="*/ 7624 h 228"/>
                <a:gd name="T14" fmla="*/ 0 w 348"/>
                <a:gd name="T15" fmla="*/ 4409 h 228"/>
                <a:gd name="T16" fmla="*/ 775 w 348"/>
                <a:gd name="T17" fmla="*/ 3569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26642" name="Freeform 31"/>
            <p:cNvSpPr>
              <a:spLocks/>
            </p:cNvSpPr>
            <p:nvPr/>
          </p:nvSpPr>
          <p:spPr bwMode="auto">
            <a:xfrm>
              <a:off x="1313" y="2496"/>
              <a:ext cx="620" cy="427"/>
            </a:xfrm>
            <a:custGeom>
              <a:avLst/>
              <a:gdLst>
                <a:gd name="T0" fmla="*/ 10266 w 348"/>
                <a:gd name="T1" fmla="*/ 3483 h 231"/>
                <a:gd name="T2" fmla="*/ 7192 w 348"/>
                <a:gd name="T3" fmla="*/ 0 h 231"/>
                <a:gd name="T4" fmla="*/ 0 w 348"/>
                <a:gd name="T5" fmla="*/ 9209 h 231"/>
                <a:gd name="T6" fmla="*/ 4796 w 348"/>
                <a:gd name="T7" fmla="*/ 5396 h 231"/>
                <a:gd name="T8" fmla="*/ 2498 w 348"/>
                <a:gd name="T9" fmla="*/ 8268 h 231"/>
                <a:gd name="T10" fmla="*/ 6802 w 348"/>
                <a:gd name="T11" fmla="*/ 5268 h 231"/>
                <a:gd name="T12" fmla="*/ 4411 w 348"/>
                <a:gd name="T13" fmla="*/ 7900 h 231"/>
                <a:gd name="T14" fmla="*/ 11135 w 348"/>
                <a:gd name="T15" fmla="*/ 4555 h 231"/>
                <a:gd name="T16" fmla="*/ 10266 w 348"/>
                <a:gd name="T17" fmla="*/ 3483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26643" name="Oval 32"/>
            <p:cNvSpPr>
              <a:spLocks noChangeArrowheads="1"/>
            </p:cNvSpPr>
            <p:nvPr/>
          </p:nvSpPr>
          <p:spPr bwMode="auto">
            <a:xfrm>
              <a:off x="1722" y="2579"/>
              <a:ext cx="391" cy="344"/>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26644" name="Oval 33"/>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sp>
        <p:nvSpPr>
          <p:cNvPr id="26639" name="Freeform 34"/>
          <p:cNvSpPr>
            <a:spLocks/>
          </p:cNvSpPr>
          <p:nvPr/>
        </p:nvSpPr>
        <p:spPr bwMode="auto">
          <a:xfrm>
            <a:off x="1739900" y="2628900"/>
            <a:ext cx="4646613" cy="2243138"/>
          </a:xfrm>
          <a:custGeom>
            <a:avLst/>
            <a:gdLst>
              <a:gd name="T0" fmla="*/ 2147483647 w 2927"/>
              <a:gd name="T1" fmla="*/ 2147483647 h 1413"/>
              <a:gd name="T2" fmla="*/ 2147483647 w 2927"/>
              <a:gd name="T3" fmla="*/ 2147483647 h 1413"/>
              <a:gd name="T4" fmla="*/ 2147483647 w 2927"/>
              <a:gd name="T5" fmla="*/ 2147483647 h 1413"/>
              <a:gd name="T6" fmla="*/ 2147483647 w 2927"/>
              <a:gd name="T7" fmla="*/ 2147483647 h 1413"/>
              <a:gd name="T8" fmla="*/ 2147483647 w 2927"/>
              <a:gd name="T9" fmla="*/ 2147483647 h 1413"/>
              <a:gd name="T10" fmla="*/ 2147483647 w 2927"/>
              <a:gd name="T11" fmla="*/ 2147483647 h 1413"/>
              <a:gd name="T12" fmla="*/ 2147483647 w 2927"/>
              <a:gd name="T13" fmla="*/ 2147483647 h 1413"/>
              <a:gd name="T14" fmla="*/ 0 60000 65536"/>
              <a:gd name="T15" fmla="*/ 0 60000 65536"/>
              <a:gd name="T16" fmla="*/ 0 60000 65536"/>
              <a:gd name="T17" fmla="*/ 0 60000 65536"/>
              <a:gd name="T18" fmla="*/ 0 60000 65536"/>
              <a:gd name="T19" fmla="*/ 0 60000 65536"/>
              <a:gd name="T20" fmla="*/ 0 60000 65536"/>
              <a:gd name="T21" fmla="*/ 0 w 2927"/>
              <a:gd name="T22" fmla="*/ 0 h 1413"/>
              <a:gd name="T23" fmla="*/ 2927 w 2927"/>
              <a:gd name="T24" fmla="*/ 1413 h 14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27" h="1413">
                <a:moveTo>
                  <a:pt x="18" y="1403"/>
                </a:moveTo>
                <a:cubicBezTo>
                  <a:pt x="9" y="1408"/>
                  <a:pt x="0" y="1413"/>
                  <a:pt x="65" y="1281"/>
                </a:cubicBezTo>
                <a:cubicBezTo>
                  <a:pt x="130" y="1149"/>
                  <a:pt x="214" y="819"/>
                  <a:pt x="405" y="610"/>
                </a:cubicBezTo>
                <a:cubicBezTo>
                  <a:pt x="596" y="401"/>
                  <a:pt x="950" y="50"/>
                  <a:pt x="1208" y="25"/>
                </a:cubicBezTo>
                <a:cubicBezTo>
                  <a:pt x="1466" y="0"/>
                  <a:pt x="1743" y="451"/>
                  <a:pt x="1954" y="459"/>
                </a:cubicBezTo>
                <a:cubicBezTo>
                  <a:pt x="2165" y="467"/>
                  <a:pt x="2311" y="135"/>
                  <a:pt x="2473" y="72"/>
                </a:cubicBezTo>
                <a:cubicBezTo>
                  <a:pt x="2635" y="9"/>
                  <a:pt x="2781" y="45"/>
                  <a:pt x="2927" y="81"/>
                </a:cubicBezTo>
              </a:path>
            </a:pathLst>
          </a:custGeom>
          <a:noFill/>
          <a:ln w="76200">
            <a:solidFill>
              <a:srgbClr val="FF0000"/>
            </a:solidFill>
            <a:round/>
            <a:headEnd/>
            <a:tailEnd type="triangle" w="med" len="med"/>
          </a:ln>
        </p:spPr>
        <p:txBody>
          <a:bodyPr wrap="none" anchor="ctr"/>
          <a:lstStyle/>
          <a:p>
            <a:endParaRPr lang="en-US" dirty="0">
              <a:latin typeface="Arial" pitchFamily="34" charset="0"/>
            </a:endParaRPr>
          </a:p>
        </p:txBody>
      </p:sp>
      <p:sp>
        <p:nvSpPr>
          <p:cNvPr id="26640" name="Freeform 35"/>
          <p:cNvSpPr>
            <a:spLocks/>
          </p:cNvSpPr>
          <p:nvPr/>
        </p:nvSpPr>
        <p:spPr bwMode="auto">
          <a:xfrm>
            <a:off x="2908300" y="5037138"/>
            <a:ext cx="1423988" cy="763587"/>
          </a:xfrm>
          <a:custGeom>
            <a:avLst/>
            <a:gdLst>
              <a:gd name="T0" fmla="*/ 0 w 897"/>
              <a:gd name="T1" fmla="*/ 2147483647 h 481"/>
              <a:gd name="T2" fmla="*/ 2147483647 w 897"/>
              <a:gd name="T3" fmla="*/ 2147483647 h 481"/>
              <a:gd name="T4" fmla="*/ 2147483647 w 897"/>
              <a:gd name="T5" fmla="*/ 0 h 481"/>
              <a:gd name="T6" fmla="*/ 0 60000 65536"/>
              <a:gd name="T7" fmla="*/ 0 60000 65536"/>
              <a:gd name="T8" fmla="*/ 0 60000 65536"/>
              <a:gd name="T9" fmla="*/ 0 w 897"/>
              <a:gd name="T10" fmla="*/ 0 h 481"/>
              <a:gd name="T11" fmla="*/ 897 w 897"/>
              <a:gd name="T12" fmla="*/ 481 h 481"/>
            </a:gdLst>
            <a:ahLst/>
            <a:cxnLst>
              <a:cxn ang="T6">
                <a:pos x="T0" y="T1"/>
              </a:cxn>
              <a:cxn ang="T7">
                <a:pos x="T2" y="T3"/>
              </a:cxn>
              <a:cxn ang="T8">
                <a:pos x="T4" y="T5"/>
              </a:cxn>
            </a:cxnLst>
            <a:rect l="T9" t="T10" r="T11" b="T12"/>
            <a:pathLst>
              <a:path w="897" h="481">
                <a:moveTo>
                  <a:pt x="0" y="481"/>
                </a:moveTo>
                <a:cubicBezTo>
                  <a:pt x="108" y="461"/>
                  <a:pt x="502" y="439"/>
                  <a:pt x="651" y="359"/>
                </a:cubicBezTo>
                <a:cubicBezTo>
                  <a:pt x="800" y="279"/>
                  <a:pt x="846" y="75"/>
                  <a:pt x="897" y="0"/>
                </a:cubicBezTo>
              </a:path>
            </a:pathLst>
          </a:custGeom>
          <a:noFill/>
          <a:ln w="76200">
            <a:solidFill>
              <a:srgbClr val="009900"/>
            </a:solidFill>
            <a:round/>
            <a:headEnd type="triangle" w="med" len="med"/>
            <a:tailEnd/>
          </a:ln>
        </p:spPr>
        <p:txBody>
          <a:bodyPr wrap="none" anchor="ctr"/>
          <a:lstStyle/>
          <a:p>
            <a:endParaRPr lang="en-US" dirty="0">
              <a:latin typeface="Arial"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p:cNvSpPr>
            <a:spLocks noGrp="1"/>
          </p:cNvSpPr>
          <p:nvPr>
            <p:ph type="ftr" sz="quarter" idx="10"/>
          </p:nvPr>
        </p:nvSpPr>
        <p:spPr>
          <a:noFill/>
        </p:spPr>
        <p:txBody>
          <a:bodyPr/>
          <a:lstStyle/>
          <a:p>
            <a:r>
              <a:rPr lang="en-US"/>
              <a:t>Art of Multiprocessor Programming</a:t>
            </a:r>
          </a:p>
        </p:txBody>
      </p:sp>
      <p:sp>
        <p:nvSpPr>
          <p:cNvPr id="27651" name="Slide Number Placeholder 4"/>
          <p:cNvSpPr>
            <a:spLocks noGrp="1"/>
          </p:cNvSpPr>
          <p:nvPr>
            <p:ph type="sldNum" sz="quarter" idx="11"/>
          </p:nvPr>
        </p:nvSpPr>
        <p:spPr>
          <a:noFill/>
        </p:spPr>
        <p:txBody>
          <a:bodyPr/>
          <a:lstStyle/>
          <a:p>
            <a:fld id="{2CB4535F-3B24-4C04-90A8-6EB13C4ABB03}" type="slidenum">
              <a:rPr lang="ar-SA" smtClean="0"/>
              <a:pPr/>
              <a:t>26</a:t>
            </a:fld>
            <a:endParaRPr lang="en-US"/>
          </a:p>
        </p:txBody>
      </p:sp>
      <p:pic>
        <p:nvPicPr>
          <p:cNvPr id="27652" name="Picture 2"/>
          <p:cNvPicPr>
            <a:picLocks noChangeAspect="1" noChangeArrowheads="1"/>
          </p:cNvPicPr>
          <p:nvPr/>
        </p:nvPicPr>
        <p:blipFill>
          <a:blip r:embed="rId3" cstate="print"/>
          <a:srcRect/>
          <a:stretch>
            <a:fillRect/>
          </a:stretch>
        </p:blipFill>
        <p:spPr bwMode="auto">
          <a:xfrm>
            <a:off x="5222875" y="1651000"/>
            <a:ext cx="3057525" cy="1873250"/>
          </a:xfrm>
          <a:prstGeom prst="rect">
            <a:avLst/>
          </a:prstGeom>
          <a:noFill/>
          <a:ln w="9525">
            <a:noFill/>
            <a:miter lim="800000"/>
            <a:headEnd/>
            <a:tailEnd/>
          </a:ln>
        </p:spPr>
      </p:pic>
      <p:sp>
        <p:nvSpPr>
          <p:cNvPr id="27653" name="Rectangle 3"/>
          <p:cNvSpPr>
            <a:spLocks noGrp="1" noChangeArrowheads="1"/>
          </p:cNvSpPr>
          <p:nvPr>
            <p:ph type="title"/>
          </p:nvPr>
        </p:nvSpPr>
        <p:spPr/>
        <p:txBody>
          <a:bodyPr/>
          <a:lstStyle/>
          <a:p>
            <a:r>
              <a:rPr lang="en-US"/>
              <a:t>Cache: Reading from Memory</a:t>
            </a:r>
          </a:p>
        </p:txBody>
      </p:sp>
      <p:grpSp>
        <p:nvGrpSpPr>
          <p:cNvPr id="27654" name="Group 4"/>
          <p:cNvGrpSpPr>
            <a:grpSpLocks/>
          </p:cNvGrpSpPr>
          <p:nvPr/>
        </p:nvGrpSpPr>
        <p:grpSpPr bwMode="auto">
          <a:xfrm flipH="1">
            <a:off x="1477963" y="4859338"/>
            <a:ext cx="1447800" cy="1295400"/>
            <a:chOff x="3168" y="1824"/>
            <a:chExt cx="912" cy="816"/>
          </a:xfrm>
        </p:grpSpPr>
        <p:sp>
          <p:nvSpPr>
            <p:cNvPr id="27663" name="Freeform 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664" name="Freeform 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665" name="Freeform 7"/>
            <p:cNvSpPr>
              <a:spLocks/>
            </p:cNvSpPr>
            <p:nvPr/>
          </p:nvSpPr>
          <p:spPr bwMode="auto">
            <a:xfrm>
              <a:off x="3504" y="1824"/>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666" name="Freeform 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7667" name="Freeform 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7668" name="Freeform 1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7669" name="Freeform 11"/>
            <p:cNvSpPr>
              <a:spLocks/>
            </p:cNvSpPr>
            <p:nvPr/>
          </p:nvSpPr>
          <p:spPr bwMode="auto">
            <a:xfrm>
              <a:off x="3504" y="2304"/>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670" name="Freeform 12"/>
            <p:cNvSpPr>
              <a:spLocks/>
            </p:cNvSpPr>
            <p:nvPr/>
          </p:nvSpPr>
          <p:spPr bwMode="auto">
            <a:xfrm>
              <a:off x="3312" y="2160"/>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671" name="Freeform 13"/>
            <p:cNvSpPr>
              <a:spLocks/>
            </p:cNvSpPr>
            <p:nvPr/>
          </p:nvSpPr>
          <p:spPr bwMode="auto">
            <a:xfrm>
              <a:off x="3168" y="2016"/>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7655" name="Freeform 14"/>
          <p:cNvSpPr>
            <a:spLocks/>
          </p:cNvSpPr>
          <p:nvPr/>
        </p:nvSpPr>
        <p:spPr bwMode="auto">
          <a:xfrm>
            <a:off x="1409700" y="2838450"/>
            <a:ext cx="3702050" cy="1268413"/>
          </a:xfrm>
          <a:custGeom>
            <a:avLst/>
            <a:gdLst>
              <a:gd name="T0" fmla="*/ 0 w 2332"/>
              <a:gd name="T1" fmla="*/ 2147483647 h 799"/>
              <a:gd name="T2" fmla="*/ 2147483647 w 2332"/>
              <a:gd name="T3" fmla="*/ 2147483647 h 799"/>
              <a:gd name="T4" fmla="*/ 2147483647 w 2332"/>
              <a:gd name="T5" fmla="*/ 2147483647 h 799"/>
              <a:gd name="T6" fmla="*/ 0 60000 65536"/>
              <a:gd name="T7" fmla="*/ 0 60000 65536"/>
              <a:gd name="T8" fmla="*/ 0 60000 65536"/>
              <a:gd name="T9" fmla="*/ 0 w 2332"/>
              <a:gd name="T10" fmla="*/ 0 h 799"/>
              <a:gd name="T11" fmla="*/ 2332 w 2332"/>
              <a:gd name="T12" fmla="*/ 799 h 799"/>
            </a:gdLst>
            <a:ahLst/>
            <a:cxnLst>
              <a:cxn ang="T6">
                <a:pos x="T0" y="T1"/>
              </a:cxn>
              <a:cxn ang="T7">
                <a:pos x="T2" y="T3"/>
              </a:cxn>
              <a:cxn ang="T8">
                <a:pos x="T4" y="T5"/>
              </a:cxn>
            </a:cxnLst>
            <a:rect l="T9" t="T10" r="T11" b="T12"/>
            <a:pathLst>
              <a:path w="2332" h="799">
                <a:moveTo>
                  <a:pt x="0" y="478"/>
                </a:moveTo>
                <a:cubicBezTo>
                  <a:pt x="291" y="239"/>
                  <a:pt x="583" y="0"/>
                  <a:pt x="972" y="53"/>
                </a:cubicBezTo>
                <a:cubicBezTo>
                  <a:pt x="1361" y="106"/>
                  <a:pt x="2104" y="675"/>
                  <a:pt x="2332" y="799"/>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27656" name="Freeform 15"/>
          <p:cNvSpPr>
            <a:spLocks/>
          </p:cNvSpPr>
          <p:nvPr/>
        </p:nvSpPr>
        <p:spPr bwMode="auto">
          <a:xfrm>
            <a:off x="4241800" y="2906713"/>
            <a:ext cx="4271963" cy="976312"/>
          </a:xfrm>
          <a:custGeom>
            <a:avLst/>
            <a:gdLst>
              <a:gd name="T0" fmla="*/ 0 w 2691"/>
              <a:gd name="T1" fmla="*/ 2147483647 h 615"/>
              <a:gd name="T2" fmla="*/ 2147483647 w 2691"/>
              <a:gd name="T3" fmla="*/ 2147483647 h 615"/>
              <a:gd name="T4" fmla="*/ 2147483647 w 2691"/>
              <a:gd name="T5" fmla="*/ 2147483647 h 615"/>
              <a:gd name="T6" fmla="*/ 0 60000 65536"/>
              <a:gd name="T7" fmla="*/ 0 60000 65536"/>
              <a:gd name="T8" fmla="*/ 0 60000 65536"/>
              <a:gd name="T9" fmla="*/ 0 w 2691"/>
              <a:gd name="T10" fmla="*/ 0 h 615"/>
              <a:gd name="T11" fmla="*/ 2691 w 2691"/>
              <a:gd name="T12" fmla="*/ 615 h 615"/>
            </a:gdLst>
            <a:ahLst/>
            <a:cxnLst>
              <a:cxn ang="T6">
                <a:pos x="T0" y="T1"/>
              </a:cxn>
              <a:cxn ang="T7">
                <a:pos x="T2" y="T3"/>
              </a:cxn>
              <a:cxn ang="T8">
                <a:pos x="T4" y="T5"/>
              </a:cxn>
            </a:cxnLst>
            <a:rect l="T9" t="T10" r="T11" b="T12"/>
            <a:pathLst>
              <a:path w="2691" h="615">
                <a:moveTo>
                  <a:pt x="0" y="379"/>
                </a:moveTo>
                <a:cubicBezTo>
                  <a:pt x="257" y="189"/>
                  <a:pt x="515" y="0"/>
                  <a:pt x="963" y="39"/>
                </a:cubicBezTo>
                <a:cubicBezTo>
                  <a:pt x="1411" y="78"/>
                  <a:pt x="2051" y="346"/>
                  <a:pt x="2691" y="615"/>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27657" name="Freeform 16"/>
          <p:cNvSpPr>
            <a:spLocks/>
          </p:cNvSpPr>
          <p:nvPr/>
        </p:nvSpPr>
        <p:spPr bwMode="auto">
          <a:xfrm>
            <a:off x="2517775" y="3357563"/>
            <a:ext cx="1770063" cy="1544637"/>
          </a:xfrm>
          <a:custGeom>
            <a:avLst/>
            <a:gdLst>
              <a:gd name="T0" fmla="*/ 0 w 1115"/>
              <a:gd name="T1" fmla="*/ 2147483647 h 973"/>
              <a:gd name="T2" fmla="*/ 2147483647 w 1115"/>
              <a:gd name="T3" fmla="*/ 2147483647 h 973"/>
              <a:gd name="T4" fmla="*/ 2147483647 w 1115"/>
              <a:gd name="T5" fmla="*/ 0 h 973"/>
              <a:gd name="T6" fmla="*/ 2147483647 w 1115"/>
              <a:gd name="T7" fmla="*/ 2147483647 h 973"/>
              <a:gd name="T8" fmla="*/ 2147483647 w 1115"/>
              <a:gd name="T9" fmla="*/ 2147483647 h 973"/>
              <a:gd name="T10" fmla="*/ 2147483647 w 1115"/>
              <a:gd name="T11" fmla="*/ 2147483647 h 973"/>
              <a:gd name="T12" fmla="*/ 0 60000 65536"/>
              <a:gd name="T13" fmla="*/ 0 60000 65536"/>
              <a:gd name="T14" fmla="*/ 0 60000 65536"/>
              <a:gd name="T15" fmla="*/ 0 60000 65536"/>
              <a:gd name="T16" fmla="*/ 0 60000 65536"/>
              <a:gd name="T17" fmla="*/ 0 60000 65536"/>
              <a:gd name="T18" fmla="*/ 0 w 1115"/>
              <a:gd name="T19" fmla="*/ 0 h 973"/>
              <a:gd name="T20" fmla="*/ 1115 w 1115"/>
              <a:gd name="T21" fmla="*/ 973 h 973"/>
            </a:gdLst>
            <a:ahLst/>
            <a:cxnLst>
              <a:cxn ang="T12">
                <a:pos x="T0" y="T1"/>
              </a:cxn>
              <a:cxn ang="T13">
                <a:pos x="T2" y="T3"/>
              </a:cxn>
              <a:cxn ang="T14">
                <a:pos x="T4" y="T5"/>
              </a:cxn>
              <a:cxn ang="T15">
                <a:pos x="T6" y="T7"/>
              </a:cxn>
              <a:cxn ang="T16">
                <a:pos x="T8" y="T9"/>
              </a:cxn>
              <a:cxn ang="T17">
                <a:pos x="T10" y="T11"/>
              </a:cxn>
            </a:cxnLst>
            <a:rect l="T18" t="T19" r="T20" b="T21"/>
            <a:pathLst>
              <a:path w="1115" h="973">
                <a:moveTo>
                  <a:pt x="0" y="812"/>
                </a:moveTo>
                <a:lnTo>
                  <a:pt x="312" y="321"/>
                </a:lnTo>
                <a:lnTo>
                  <a:pt x="879" y="0"/>
                </a:lnTo>
                <a:lnTo>
                  <a:pt x="1115" y="161"/>
                </a:lnTo>
                <a:lnTo>
                  <a:pt x="557" y="510"/>
                </a:lnTo>
                <a:lnTo>
                  <a:pt x="369" y="973"/>
                </a:lnTo>
              </a:path>
            </a:pathLst>
          </a:custGeom>
          <a:solidFill>
            <a:srgbClr val="FFFF00"/>
          </a:solidFill>
          <a:ln w="9525">
            <a:solidFill>
              <a:srgbClr val="FFFF00"/>
            </a:solidFill>
            <a:round/>
            <a:headEnd/>
            <a:tailEnd/>
          </a:ln>
        </p:spPr>
        <p:txBody>
          <a:bodyPr wrap="none" anchor="ctr"/>
          <a:lstStyle/>
          <a:p>
            <a:endParaRPr lang="en-US" dirty="0">
              <a:latin typeface="Arial" pitchFamily="34" charset="0"/>
            </a:endParaRPr>
          </a:p>
        </p:txBody>
      </p:sp>
      <p:sp>
        <p:nvSpPr>
          <p:cNvPr id="27658" name="Freeform 17"/>
          <p:cNvSpPr>
            <a:spLocks/>
          </p:cNvSpPr>
          <p:nvPr/>
        </p:nvSpPr>
        <p:spPr bwMode="auto">
          <a:xfrm>
            <a:off x="4676775" y="3073400"/>
            <a:ext cx="1828800" cy="914400"/>
          </a:xfrm>
          <a:custGeom>
            <a:avLst/>
            <a:gdLst>
              <a:gd name="T0" fmla="*/ 0 w 1152"/>
              <a:gd name="T1" fmla="*/ 2147483647 h 576"/>
              <a:gd name="T2" fmla="*/ 2147483647 w 1152"/>
              <a:gd name="T3" fmla="*/ 2147483647 h 576"/>
              <a:gd name="T4" fmla="*/ 2147483647 w 1152"/>
              <a:gd name="T5" fmla="*/ 0 h 576"/>
              <a:gd name="T6" fmla="*/ 2147483647 w 1152"/>
              <a:gd name="T7" fmla="*/ 2147483647 h 576"/>
              <a:gd name="T8" fmla="*/ 2147483647 w 1152"/>
              <a:gd name="T9" fmla="*/ 2147483647 h 576"/>
              <a:gd name="T10" fmla="*/ 2147483647 w 1152"/>
              <a:gd name="T11" fmla="*/ 2147483647 h 576"/>
              <a:gd name="T12" fmla="*/ 0 60000 65536"/>
              <a:gd name="T13" fmla="*/ 0 60000 65536"/>
              <a:gd name="T14" fmla="*/ 0 60000 65536"/>
              <a:gd name="T15" fmla="*/ 0 60000 65536"/>
              <a:gd name="T16" fmla="*/ 0 60000 65536"/>
              <a:gd name="T17" fmla="*/ 0 60000 65536"/>
              <a:gd name="T18" fmla="*/ 0 w 1152"/>
              <a:gd name="T19" fmla="*/ 0 h 576"/>
              <a:gd name="T20" fmla="*/ 1152 w 115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152" h="576">
                <a:moveTo>
                  <a:pt x="0" y="444"/>
                </a:moveTo>
                <a:lnTo>
                  <a:pt x="321" y="236"/>
                </a:lnTo>
                <a:lnTo>
                  <a:pt x="1029" y="0"/>
                </a:lnTo>
                <a:lnTo>
                  <a:pt x="1152" y="66"/>
                </a:lnTo>
                <a:lnTo>
                  <a:pt x="501" y="377"/>
                </a:lnTo>
                <a:lnTo>
                  <a:pt x="170" y="576"/>
                </a:lnTo>
              </a:path>
            </a:pathLst>
          </a:custGeom>
          <a:solidFill>
            <a:srgbClr val="FFFF00"/>
          </a:solidFill>
          <a:ln w="9525">
            <a:solidFill>
              <a:srgbClr val="FFFF00"/>
            </a:solidFill>
            <a:round/>
            <a:headEnd/>
            <a:tailEnd type="triangle" w="med" len="med"/>
          </a:ln>
        </p:spPr>
        <p:txBody>
          <a:bodyPr wrap="none" anchor="ctr"/>
          <a:lstStyle/>
          <a:p>
            <a:endParaRPr lang="en-US" dirty="0">
              <a:latin typeface="Arial" pitchFamily="34" charset="0"/>
            </a:endParaRPr>
          </a:p>
        </p:txBody>
      </p:sp>
      <p:sp>
        <p:nvSpPr>
          <p:cNvPr id="27659" name="Freeform 18"/>
          <p:cNvSpPr>
            <a:spLocks/>
          </p:cNvSpPr>
          <p:nvPr/>
        </p:nvSpPr>
        <p:spPr bwMode="auto">
          <a:xfrm>
            <a:off x="3373438" y="4376738"/>
            <a:ext cx="1617662" cy="884237"/>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sp>
        <p:nvSpPr>
          <p:cNvPr id="27660" name="Text Box 19"/>
          <p:cNvSpPr txBox="1">
            <a:spLocks noChangeArrowheads="1"/>
          </p:cNvSpPr>
          <p:nvPr/>
        </p:nvSpPr>
        <p:spPr bwMode="auto">
          <a:xfrm>
            <a:off x="5216525" y="4479925"/>
            <a:ext cx="1058303" cy="461665"/>
          </a:xfrm>
          <a:prstGeom prst="rect">
            <a:avLst/>
          </a:prstGeom>
          <a:noFill/>
          <a:ln w="9525">
            <a:noFill/>
            <a:miter lim="800000"/>
            <a:headEnd/>
            <a:tailEnd/>
          </a:ln>
        </p:spPr>
        <p:txBody>
          <a:bodyPr wrap="none">
            <a:spAutoFit/>
          </a:bodyPr>
          <a:lstStyle/>
          <a:p>
            <a:r>
              <a:rPr lang="en-US" sz="2400" dirty="0">
                <a:solidFill>
                  <a:srgbClr val="FF3300"/>
                </a:solidFill>
                <a:latin typeface="Arial" pitchFamily="34" charset="0"/>
              </a:rPr>
              <a:t>cache</a:t>
            </a:r>
          </a:p>
        </p:txBody>
      </p:sp>
      <p:sp>
        <p:nvSpPr>
          <p:cNvPr id="27661" name="Oval 24"/>
          <p:cNvSpPr>
            <a:spLocks noChangeArrowheads="1"/>
          </p:cNvSpPr>
          <p:nvPr/>
        </p:nvSpPr>
        <p:spPr bwMode="auto">
          <a:xfrm>
            <a:off x="4173538" y="4632325"/>
            <a:ext cx="430212" cy="341313"/>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27662" name="Oval 25"/>
          <p:cNvSpPr>
            <a:spLocks noChangeArrowheads="1"/>
          </p:cNvSpPr>
          <p:nvPr/>
        </p:nvSpPr>
        <p:spPr bwMode="auto">
          <a:xfrm>
            <a:off x="4418013" y="4692650"/>
            <a:ext cx="112712" cy="9525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p:cNvSpPr>
            <a:spLocks noGrp="1"/>
          </p:cNvSpPr>
          <p:nvPr>
            <p:ph type="ftr" sz="quarter" idx="10"/>
          </p:nvPr>
        </p:nvSpPr>
        <p:spPr>
          <a:noFill/>
        </p:spPr>
        <p:txBody>
          <a:bodyPr/>
          <a:lstStyle/>
          <a:p>
            <a:r>
              <a:rPr lang="en-US"/>
              <a:t>Art of Multiprocessor Programming</a:t>
            </a:r>
          </a:p>
        </p:txBody>
      </p:sp>
      <p:sp>
        <p:nvSpPr>
          <p:cNvPr id="28675" name="Slide Number Placeholder 4"/>
          <p:cNvSpPr>
            <a:spLocks noGrp="1"/>
          </p:cNvSpPr>
          <p:nvPr>
            <p:ph type="sldNum" sz="quarter" idx="11"/>
          </p:nvPr>
        </p:nvSpPr>
        <p:spPr>
          <a:noFill/>
        </p:spPr>
        <p:txBody>
          <a:bodyPr/>
          <a:lstStyle/>
          <a:p>
            <a:fld id="{229FECB9-9477-4DB5-8583-A3BD2BD6B64C}" type="slidenum">
              <a:rPr lang="ar-SA" smtClean="0"/>
              <a:pPr/>
              <a:t>27</a:t>
            </a:fld>
            <a:endParaRPr lang="en-US"/>
          </a:p>
        </p:txBody>
      </p:sp>
      <p:pic>
        <p:nvPicPr>
          <p:cNvPr id="28676" name="Picture 2"/>
          <p:cNvPicPr>
            <a:picLocks noChangeAspect="1" noChangeArrowheads="1"/>
          </p:cNvPicPr>
          <p:nvPr/>
        </p:nvPicPr>
        <p:blipFill>
          <a:blip r:embed="rId3" cstate="print"/>
          <a:srcRect/>
          <a:stretch>
            <a:fillRect/>
          </a:stretch>
        </p:blipFill>
        <p:spPr bwMode="auto">
          <a:xfrm>
            <a:off x="5222875" y="1651000"/>
            <a:ext cx="3057525" cy="1873250"/>
          </a:xfrm>
          <a:prstGeom prst="rect">
            <a:avLst/>
          </a:prstGeom>
          <a:noFill/>
          <a:ln w="9525">
            <a:noFill/>
            <a:miter lim="800000"/>
            <a:headEnd/>
            <a:tailEnd/>
          </a:ln>
        </p:spPr>
      </p:pic>
      <p:sp>
        <p:nvSpPr>
          <p:cNvPr id="28677" name="Rectangle 3"/>
          <p:cNvSpPr>
            <a:spLocks noGrp="1" noChangeArrowheads="1"/>
          </p:cNvSpPr>
          <p:nvPr>
            <p:ph type="title"/>
          </p:nvPr>
        </p:nvSpPr>
        <p:spPr/>
        <p:txBody>
          <a:bodyPr/>
          <a:lstStyle/>
          <a:p>
            <a:r>
              <a:rPr lang="en-US"/>
              <a:t>Cache Hit</a:t>
            </a:r>
          </a:p>
        </p:txBody>
      </p:sp>
      <p:grpSp>
        <p:nvGrpSpPr>
          <p:cNvPr id="28678" name="Group 4"/>
          <p:cNvGrpSpPr>
            <a:grpSpLocks/>
          </p:cNvGrpSpPr>
          <p:nvPr/>
        </p:nvGrpSpPr>
        <p:grpSpPr bwMode="auto">
          <a:xfrm flipH="1">
            <a:off x="1477963" y="4859338"/>
            <a:ext cx="1447800" cy="1295400"/>
            <a:chOff x="3168" y="1824"/>
            <a:chExt cx="912" cy="816"/>
          </a:xfrm>
        </p:grpSpPr>
        <p:sp>
          <p:nvSpPr>
            <p:cNvPr id="28689" name="Freeform 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8690" name="Freeform 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8691" name="Freeform 7"/>
            <p:cNvSpPr>
              <a:spLocks/>
            </p:cNvSpPr>
            <p:nvPr/>
          </p:nvSpPr>
          <p:spPr bwMode="auto">
            <a:xfrm>
              <a:off x="3504" y="1824"/>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8692" name="Freeform 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8693" name="Freeform 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8694" name="Freeform 1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8695" name="Freeform 11"/>
            <p:cNvSpPr>
              <a:spLocks/>
            </p:cNvSpPr>
            <p:nvPr/>
          </p:nvSpPr>
          <p:spPr bwMode="auto">
            <a:xfrm>
              <a:off x="3504" y="2304"/>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8696" name="Freeform 12"/>
            <p:cNvSpPr>
              <a:spLocks/>
            </p:cNvSpPr>
            <p:nvPr/>
          </p:nvSpPr>
          <p:spPr bwMode="auto">
            <a:xfrm>
              <a:off x="3312" y="2160"/>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8697" name="Freeform 13"/>
            <p:cNvSpPr>
              <a:spLocks/>
            </p:cNvSpPr>
            <p:nvPr/>
          </p:nvSpPr>
          <p:spPr bwMode="auto">
            <a:xfrm>
              <a:off x="3168" y="2016"/>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8679" name="Freeform 14"/>
          <p:cNvSpPr>
            <a:spLocks/>
          </p:cNvSpPr>
          <p:nvPr/>
        </p:nvSpPr>
        <p:spPr bwMode="auto">
          <a:xfrm>
            <a:off x="1409700" y="2838450"/>
            <a:ext cx="3702050" cy="1268413"/>
          </a:xfrm>
          <a:custGeom>
            <a:avLst/>
            <a:gdLst>
              <a:gd name="T0" fmla="*/ 0 w 2332"/>
              <a:gd name="T1" fmla="*/ 2147483647 h 799"/>
              <a:gd name="T2" fmla="*/ 2147483647 w 2332"/>
              <a:gd name="T3" fmla="*/ 2147483647 h 799"/>
              <a:gd name="T4" fmla="*/ 2147483647 w 2332"/>
              <a:gd name="T5" fmla="*/ 2147483647 h 799"/>
              <a:gd name="T6" fmla="*/ 0 60000 65536"/>
              <a:gd name="T7" fmla="*/ 0 60000 65536"/>
              <a:gd name="T8" fmla="*/ 0 60000 65536"/>
              <a:gd name="T9" fmla="*/ 0 w 2332"/>
              <a:gd name="T10" fmla="*/ 0 h 799"/>
              <a:gd name="T11" fmla="*/ 2332 w 2332"/>
              <a:gd name="T12" fmla="*/ 799 h 799"/>
            </a:gdLst>
            <a:ahLst/>
            <a:cxnLst>
              <a:cxn ang="T6">
                <a:pos x="T0" y="T1"/>
              </a:cxn>
              <a:cxn ang="T7">
                <a:pos x="T2" y="T3"/>
              </a:cxn>
              <a:cxn ang="T8">
                <a:pos x="T4" y="T5"/>
              </a:cxn>
            </a:cxnLst>
            <a:rect l="T9" t="T10" r="T11" b="T12"/>
            <a:pathLst>
              <a:path w="2332" h="799">
                <a:moveTo>
                  <a:pt x="0" y="478"/>
                </a:moveTo>
                <a:cubicBezTo>
                  <a:pt x="291" y="239"/>
                  <a:pt x="583" y="0"/>
                  <a:pt x="972" y="53"/>
                </a:cubicBezTo>
                <a:cubicBezTo>
                  <a:pt x="1361" y="106"/>
                  <a:pt x="2104" y="675"/>
                  <a:pt x="2332" y="799"/>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28680" name="Freeform 15"/>
          <p:cNvSpPr>
            <a:spLocks/>
          </p:cNvSpPr>
          <p:nvPr/>
        </p:nvSpPr>
        <p:spPr bwMode="auto">
          <a:xfrm>
            <a:off x="4241800" y="2906713"/>
            <a:ext cx="4271963" cy="976312"/>
          </a:xfrm>
          <a:custGeom>
            <a:avLst/>
            <a:gdLst>
              <a:gd name="T0" fmla="*/ 0 w 2691"/>
              <a:gd name="T1" fmla="*/ 2147483647 h 615"/>
              <a:gd name="T2" fmla="*/ 2147483647 w 2691"/>
              <a:gd name="T3" fmla="*/ 2147483647 h 615"/>
              <a:gd name="T4" fmla="*/ 2147483647 w 2691"/>
              <a:gd name="T5" fmla="*/ 2147483647 h 615"/>
              <a:gd name="T6" fmla="*/ 0 60000 65536"/>
              <a:gd name="T7" fmla="*/ 0 60000 65536"/>
              <a:gd name="T8" fmla="*/ 0 60000 65536"/>
              <a:gd name="T9" fmla="*/ 0 w 2691"/>
              <a:gd name="T10" fmla="*/ 0 h 615"/>
              <a:gd name="T11" fmla="*/ 2691 w 2691"/>
              <a:gd name="T12" fmla="*/ 615 h 615"/>
            </a:gdLst>
            <a:ahLst/>
            <a:cxnLst>
              <a:cxn ang="T6">
                <a:pos x="T0" y="T1"/>
              </a:cxn>
              <a:cxn ang="T7">
                <a:pos x="T2" y="T3"/>
              </a:cxn>
              <a:cxn ang="T8">
                <a:pos x="T4" y="T5"/>
              </a:cxn>
            </a:cxnLst>
            <a:rect l="T9" t="T10" r="T11" b="T12"/>
            <a:pathLst>
              <a:path w="2691" h="615">
                <a:moveTo>
                  <a:pt x="0" y="379"/>
                </a:moveTo>
                <a:cubicBezTo>
                  <a:pt x="257" y="189"/>
                  <a:pt x="515" y="0"/>
                  <a:pt x="963" y="39"/>
                </a:cubicBezTo>
                <a:cubicBezTo>
                  <a:pt x="1411" y="78"/>
                  <a:pt x="2051" y="346"/>
                  <a:pt x="2691" y="615"/>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28681" name="Freeform 16"/>
          <p:cNvSpPr>
            <a:spLocks/>
          </p:cNvSpPr>
          <p:nvPr/>
        </p:nvSpPr>
        <p:spPr bwMode="auto">
          <a:xfrm>
            <a:off x="2517775" y="3357563"/>
            <a:ext cx="1770063" cy="1544637"/>
          </a:xfrm>
          <a:custGeom>
            <a:avLst/>
            <a:gdLst>
              <a:gd name="T0" fmla="*/ 0 w 1115"/>
              <a:gd name="T1" fmla="*/ 2147483647 h 973"/>
              <a:gd name="T2" fmla="*/ 2147483647 w 1115"/>
              <a:gd name="T3" fmla="*/ 2147483647 h 973"/>
              <a:gd name="T4" fmla="*/ 2147483647 w 1115"/>
              <a:gd name="T5" fmla="*/ 0 h 973"/>
              <a:gd name="T6" fmla="*/ 2147483647 w 1115"/>
              <a:gd name="T7" fmla="*/ 2147483647 h 973"/>
              <a:gd name="T8" fmla="*/ 2147483647 w 1115"/>
              <a:gd name="T9" fmla="*/ 2147483647 h 973"/>
              <a:gd name="T10" fmla="*/ 2147483647 w 1115"/>
              <a:gd name="T11" fmla="*/ 2147483647 h 973"/>
              <a:gd name="T12" fmla="*/ 0 60000 65536"/>
              <a:gd name="T13" fmla="*/ 0 60000 65536"/>
              <a:gd name="T14" fmla="*/ 0 60000 65536"/>
              <a:gd name="T15" fmla="*/ 0 60000 65536"/>
              <a:gd name="T16" fmla="*/ 0 60000 65536"/>
              <a:gd name="T17" fmla="*/ 0 60000 65536"/>
              <a:gd name="T18" fmla="*/ 0 w 1115"/>
              <a:gd name="T19" fmla="*/ 0 h 973"/>
              <a:gd name="T20" fmla="*/ 1115 w 1115"/>
              <a:gd name="T21" fmla="*/ 973 h 973"/>
            </a:gdLst>
            <a:ahLst/>
            <a:cxnLst>
              <a:cxn ang="T12">
                <a:pos x="T0" y="T1"/>
              </a:cxn>
              <a:cxn ang="T13">
                <a:pos x="T2" y="T3"/>
              </a:cxn>
              <a:cxn ang="T14">
                <a:pos x="T4" y="T5"/>
              </a:cxn>
              <a:cxn ang="T15">
                <a:pos x="T6" y="T7"/>
              </a:cxn>
              <a:cxn ang="T16">
                <a:pos x="T8" y="T9"/>
              </a:cxn>
              <a:cxn ang="T17">
                <a:pos x="T10" y="T11"/>
              </a:cxn>
            </a:cxnLst>
            <a:rect l="T18" t="T19" r="T20" b="T21"/>
            <a:pathLst>
              <a:path w="1115" h="973">
                <a:moveTo>
                  <a:pt x="0" y="812"/>
                </a:moveTo>
                <a:lnTo>
                  <a:pt x="312" y="321"/>
                </a:lnTo>
                <a:lnTo>
                  <a:pt x="879" y="0"/>
                </a:lnTo>
                <a:lnTo>
                  <a:pt x="1115" y="161"/>
                </a:lnTo>
                <a:lnTo>
                  <a:pt x="557" y="510"/>
                </a:lnTo>
                <a:lnTo>
                  <a:pt x="369" y="973"/>
                </a:lnTo>
              </a:path>
            </a:pathLst>
          </a:custGeom>
          <a:solidFill>
            <a:srgbClr val="FFFF00"/>
          </a:solidFill>
          <a:ln w="9525">
            <a:solidFill>
              <a:srgbClr val="FFFF00"/>
            </a:solidFill>
            <a:round/>
            <a:headEnd/>
            <a:tailEnd/>
          </a:ln>
        </p:spPr>
        <p:txBody>
          <a:bodyPr wrap="none" anchor="ctr"/>
          <a:lstStyle/>
          <a:p>
            <a:endParaRPr lang="en-US" dirty="0">
              <a:latin typeface="Arial" pitchFamily="34" charset="0"/>
            </a:endParaRPr>
          </a:p>
        </p:txBody>
      </p:sp>
      <p:sp>
        <p:nvSpPr>
          <p:cNvPr id="28682" name="Freeform 17"/>
          <p:cNvSpPr>
            <a:spLocks/>
          </p:cNvSpPr>
          <p:nvPr/>
        </p:nvSpPr>
        <p:spPr bwMode="auto">
          <a:xfrm>
            <a:off x="4676775" y="3073400"/>
            <a:ext cx="1828800" cy="914400"/>
          </a:xfrm>
          <a:custGeom>
            <a:avLst/>
            <a:gdLst>
              <a:gd name="T0" fmla="*/ 0 w 1152"/>
              <a:gd name="T1" fmla="*/ 2147483647 h 576"/>
              <a:gd name="T2" fmla="*/ 2147483647 w 1152"/>
              <a:gd name="T3" fmla="*/ 2147483647 h 576"/>
              <a:gd name="T4" fmla="*/ 2147483647 w 1152"/>
              <a:gd name="T5" fmla="*/ 0 h 576"/>
              <a:gd name="T6" fmla="*/ 2147483647 w 1152"/>
              <a:gd name="T7" fmla="*/ 2147483647 h 576"/>
              <a:gd name="T8" fmla="*/ 2147483647 w 1152"/>
              <a:gd name="T9" fmla="*/ 2147483647 h 576"/>
              <a:gd name="T10" fmla="*/ 2147483647 w 1152"/>
              <a:gd name="T11" fmla="*/ 2147483647 h 576"/>
              <a:gd name="T12" fmla="*/ 0 60000 65536"/>
              <a:gd name="T13" fmla="*/ 0 60000 65536"/>
              <a:gd name="T14" fmla="*/ 0 60000 65536"/>
              <a:gd name="T15" fmla="*/ 0 60000 65536"/>
              <a:gd name="T16" fmla="*/ 0 60000 65536"/>
              <a:gd name="T17" fmla="*/ 0 60000 65536"/>
              <a:gd name="T18" fmla="*/ 0 w 1152"/>
              <a:gd name="T19" fmla="*/ 0 h 576"/>
              <a:gd name="T20" fmla="*/ 1152 w 115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152" h="576">
                <a:moveTo>
                  <a:pt x="0" y="444"/>
                </a:moveTo>
                <a:lnTo>
                  <a:pt x="321" y="236"/>
                </a:lnTo>
                <a:lnTo>
                  <a:pt x="1029" y="0"/>
                </a:lnTo>
                <a:lnTo>
                  <a:pt x="1152" y="66"/>
                </a:lnTo>
                <a:lnTo>
                  <a:pt x="501" y="377"/>
                </a:lnTo>
                <a:lnTo>
                  <a:pt x="170" y="576"/>
                </a:lnTo>
              </a:path>
            </a:pathLst>
          </a:custGeom>
          <a:solidFill>
            <a:srgbClr val="FFFF00"/>
          </a:solidFill>
          <a:ln w="9525">
            <a:solidFill>
              <a:srgbClr val="FFFF00"/>
            </a:solidFill>
            <a:round/>
            <a:headEnd/>
            <a:tailEnd type="triangle" w="med" len="med"/>
          </a:ln>
        </p:spPr>
        <p:txBody>
          <a:bodyPr wrap="none" anchor="ctr"/>
          <a:lstStyle/>
          <a:p>
            <a:endParaRPr lang="en-US" dirty="0">
              <a:latin typeface="Arial" pitchFamily="34" charset="0"/>
            </a:endParaRPr>
          </a:p>
        </p:txBody>
      </p:sp>
      <p:sp>
        <p:nvSpPr>
          <p:cNvPr id="28683" name="Freeform 25"/>
          <p:cNvSpPr>
            <a:spLocks/>
          </p:cNvSpPr>
          <p:nvPr/>
        </p:nvSpPr>
        <p:spPr bwMode="auto">
          <a:xfrm>
            <a:off x="2278063" y="3567113"/>
            <a:ext cx="1663700" cy="1154112"/>
          </a:xfrm>
          <a:custGeom>
            <a:avLst/>
            <a:gdLst>
              <a:gd name="T0" fmla="*/ 0 w 1048"/>
              <a:gd name="T1" fmla="*/ 2147483647 h 727"/>
              <a:gd name="T2" fmla="*/ 2147483647 w 1048"/>
              <a:gd name="T3" fmla="*/ 2147483647 h 727"/>
              <a:gd name="T4" fmla="*/ 2147483647 w 1048"/>
              <a:gd name="T5" fmla="*/ 2147483647 h 727"/>
              <a:gd name="T6" fmla="*/ 0 60000 65536"/>
              <a:gd name="T7" fmla="*/ 0 60000 65536"/>
              <a:gd name="T8" fmla="*/ 0 60000 65536"/>
              <a:gd name="T9" fmla="*/ 0 w 1048"/>
              <a:gd name="T10" fmla="*/ 0 h 727"/>
              <a:gd name="T11" fmla="*/ 1048 w 1048"/>
              <a:gd name="T12" fmla="*/ 727 h 727"/>
            </a:gdLst>
            <a:ahLst/>
            <a:cxnLst>
              <a:cxn ang="T6">
                <a:pos x="T0" y="T1"/>
              </a:cxn>
              <a:cxn ang="T7">
                <a:pos x="T2" y="T3"/>
              </a:cxn>
              <a:cxn ang="T8">
                <a:pos x="T4" y="T5"/>
              </a:cxn>
            </a:cxnLst>
            <a:rect l="T9" t="T10" r="T11" b="T12"/>
            <a:pathLst>
              <a:path w="1048" h="727">
                <a:moveTo>
                  <a:pt x="0" y="727"/>
                </a:moveTo>
                <a:cubicBezTo>
                  <a:pt x="123" y="614"/>
                  <a:pt x="562" y="94"/>
                  <a:pt x="737" y="47"/>
                </a:cubicBezTo>
                <a:cubicBezTo>
                  <a:pt x="912" y="0"/>
                  <a:pt x="983" y="361"/>
                  <a:pt x="1048" y="444"/>
                </a:cubicBezTo>
              </a:path>
            </a:pathLst>
          </a:custGeom>
          <a:noFill/>
          <a:ln w="76200">
            <a:solidFill>
              <a:srgbClr val="FF0000"/>
            </a:solidFill>
            <a:round/>
            <a:headEnd/>
            <a:tailEnd type="triangle" w="med" len="med"/>
          </a:ln>
        </p:spPr>
        <p:txBody>
          <a:bodyPr wrap="none" anchor="ctr"/>
          <a:lstStyle/>
          <a:p>
            <a:endParaRPr lang="en-US" dirty="0">
              <a:latin typeface="Arial" pitchFamily="34" charset="0"/>
            </a:endParaRPr>
          </a:p>
        </p:txBody>
      </p:sp>
      <p:sp>
        <p:nvSpPr>
          <p:cNvPr id="28684" name="Freeform 27"/>
          <p:cNvSpPr>
            <a:spLocks/>
          </p:cNvSpPr>
          <p:nvPr/>
        </p:nvSpPr>
        <p:spPr bwMode="auto">
          <a:xfrm>
            <a:off x="3373438" y="4376738"/>
            <a:ext cx="1617662" cy="884237"/>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sp>
        <p:nvSpPr>
          <p:cNvPr id="28685" name="Text Box 28"/>
          <p:cNvSpPr txBox="1">
            <a:spLocks noChangeArrowheads="1"/>
          </p:cNvSpPr>
          <p:nvPr/>
        </p:nvSpPr>
        <p:spPr bwMode="auto">
          <a:xfrm>
            <a:off x="5216525" y="4479925"/>
            <a:ext cx="1058303" cy="461665"/>
          </a:xfrm>
          <a:prstGeom prst="rect">
            <a:avLst/>
          </a:prstGeom>
          <a:noFill/>
          <a:ln w="9525">
            <a:noFill/>
            <a:miter lim="800000"/>
            <a:headEnd/>
            <a:tailEnd/>
          </a:ln>
        </p:spPr>
        <p:txBody>
          <a:bodyPr wrap="none">
            <a:spAutoFit/>
          </a:bodyPr>
          <a:lstStyle/>
          <a:p>
            <a:r>
              <a:rPr lang="en-US" sz="2400" dirty="0">
                <a:solidFill>
                  <a:srgbClr val="FF3300"/>
                </a:solidFill>
                <a:latin typeface="Arial" pitchFamily="34" charset="0"/>
              </a:rPr>
              <a:t>cache</a:t>
            </a:r>
          </a:p>
        </p:txBody>
      </p:sp>
      <p:sp>
        <p:nvSpPr>
          <p:cNvPr id="28686" name="Oval 32"/>
          <p:cNvSpPr>
            <a:spLocks noChangeArrowheads="1"/>
          </p:cNvSpPr>
          <p:nvPr/>
        </p:nvSpPr>
        <p:spPr bwMode="auto">
          <a:xfrm>
            <a:off x="3871913" y="4540250"/>
            <a:ext cx="430212" cy="341313"/>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28687" name="Oval 33"/>
          <p:cNvSpPr>
            <a:spLocks noChangeArrowheads="1"/>
          </p:cNvSpPr>
          <p:nvPr/>
        </p:nvSpPr>
        <p:spPr bwMode="auto">
          <a:xfrm>
            <a:off x="4116388" y="4600575"/>
            <a:ext cx="112712" cy="9525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sp>
        <p:nvSpPr>
          <p:cNvPr id="28688" name="Text Box 36"/>
          <p:cNvSpPr txBox="1">
            <a:spLocks noChangeArrowheads="1"/>
          </p:cNvSpPr>
          <p:nvPr/>
        </p:nvSpPr>
        <p:spPr bwMode="auto">
          <a:xfrm>
            <a:off x="2157413" y="3590925"/>
            <a:ext cx="529312" cy="769441"/>
          </a:xfrm>
          <a:prstGeom prst="rect">
            <a:avLst/>
          </a:prstGeom>
          <a:noFill/>
          <a:ln w="9525">
            <a:noFill/>
            <a:miter lim="800000"/>
            <a:headEnd/>
            <a:tailEnd/>
          </a:ln>
        </p:spPr>
        <p:txBody>
          <a:bodyPr wrap="none">
            <a:spAutoFit/>
          </a:bodyPr>
          <a:lstStyle/>
          <a:p>
            <a:r>
              <a:rPr lang="en-US" dirty="0">
                <a:solidFill>
                  <a:srgbClr val="009900"/>
                </a:solidFill>
                <a:latin typeface="Arial" pitchFamily="34" charset="0"/>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3"/>
          <p:cNvSpPr>
            <a:spLocks noGrp="1"/>
          </p:cNvSpPr>
          <p:nvPr>
            <p:ph type="ftr" sz="quarter" idx="10"/>
          </p:nvPr>
        </p:nvSpPr>
        <p:spPr>
          <a:noFill/>
        </p:spPr>
        <p:txBody>
          <a:bodyPr/>
          <a:lstStyle/>
          <a:p>
            <a:r>
              <a:rPr lang="en-US"/>
              <a:t>Art of Multiprocessor Programming</a:t>
            </a:r>
          </a:p>
        </p:txBody>
      </p:sp>
      <p:sp>
        <p:nvSpPr>
          <p:cNvPr id="29699" name="Slide Number Placeholder 4"/>
          <p:cNvSpPr>
            <a:spLocks noGrp="1"/>
          </p:cNvSpPr>
          <p:nvPr>
            <p:ph type="sldNum" sz="quarter" idx="11"/>
          </p:nvPr>
        </p:nvSpPr>
        <p:spPr>
          <a:noFill/>
        </p:spPr>
        <p:txBody>
          <a:bodyPr/>
          <a:lstStyle/>
          <a:p>
            <a:fld id="{263124AB-5E4E-4436-822D-9EAF11D56041}" type="slidenum">
              <a:rPr lang="ar-SA" smtClean="0"/>
              <a:pPr/>
              <a:t>28</a:t>
            </a:fld>
            <a:endParaRPr lang="en-US"/>
          </a:p>
        </p:txBody>
      </p:sp>
      <p:pic>
        <p:nvPicPr>
          <p:cNvPr id="29700" name="Picture 2"/>
          <p:cNvPicPr>
            <a:picLocks noChangeAspect="1" noChangeArrowheads="1"/>
          </p:cNvPicPr>
          <p:nvPr/>
        </p:nvPicPr>
        <p:blipFill>
          <a:blip r:embed="rId3" cstate="print"/>
          <a:srcRect/>
          <a:stretch>
            <a:fillRect/>
          </a:stretch>
        </p:blipFill>
        <p:spPr bwMode="auto">
          <a:xfrm>
            <a:off x="5222875" y="1651000"/>
            <a:ext cx="3057525" cy="1873250"/>
          </a:xfrm>
          <a:prstGeom prst="rect">
            <a:avLst/>
          </a:prstGeom>
          <a:noFill/>
          <a:ln w="9525">
            <a:noFill/>
            <a:miter lim="800000"/>
            <a:headEnd/>
            <a:tailEnd/>
          </a:ln>
        </p:spPr>
      </p:pic>
      <p:sp>
        <p:nvSpPr>
          <p:cNvPr id="29701" name="Rectangle 3"/>
          <p:cNvSpPr>
            <a:spLocks noGrp="1" noChangeArrowheads="1"/>
          </p:cNvSpPr>
          <p:nvPr>
            <p:ph type="title"/>
          </p:nvPr>
        </p:nvSpPr>
        <p:spPr/>
        <p:txBody>
          <a:bodyPr/>
          <a:lstStyle/>
          <a:p>
            <a:r>
              <a:rPr lang="en-US"/>
              <a:t>Cache Hit</a:t>
            </a:r>
          </a:p>
        </p:txBody>
      </p:sp>
      <p:grpSp>
        <p:nvGrpSpPr>
          <p:cNvPr id="29702" name="Group 4"/>
          <p:cNvGrpSpPr>
            <a:grpSpLocks/>
          </p:cNvGrpSpPr>
          <p:nvPr/>
        </p:nvGrpSpPr>
        <p:grpSpPr bwMode="auto">
          <a:xfrm flipH="1">
            <a:off x="1477963" y="4859338"/>
            <a:ext cx="1447800" cy="1295400"/>
            <a:chOff x="3168" y="1824"/>
            <a:chExt cx="912" cy="816"/>
          </a:xfrm>
        </p:grpSpPr>
        <p:sp>
          <p:nvSpPr>
            <p:cNvPr id="29714" name="Freeform 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9715" name="Freeform 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9716" name="Freeform 7"/>
            <p:cNvSpPr>
              <a:spLocks/>
            </p:cNvSpPr>
            <p:nvPr/>
          </p:nvSpPr>
          <p:spPr bwMode="auto">
            <a:xfrm>
              <a:off x="3504" y="1824"/>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9717" name="Freeform 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9718" name="Freeform 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9719" name="Freeform 1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9720" name="Freeform 11"/>
            <p:cNvSpPr>
              <a:spLocks/>
            </p:cNvSpPr>
            <p:nvPr/>
          </p:nvSpPr>
          <p:spPr bwMode="auto">
            <a:xfrm>
              <a:off x="3504" y="2304"/>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9721" name="Freeform 12"/>
            <p:cNvSpPr>
              <a:spLocks/>
            </p:cNvSpPr>
            <p:nvPr/>
          </p:nvSpPr>
          <p:spPr bwMode="auto">
            <a:xfrm>
              <a:off x="3312" y="2160"/>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9722" name="Freeform 13"/>
            <p:cNvSpPr>
              <a:spLocks/>
            </p:cNvSpPr>
            <p:nvPr/>
          </p:nvSpPr>
          <p:spPr bwMode="auto">
            <a:xfrm>
              <a:off x="3168" y="2016"/>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9703" name="Freeform 14"/>
          <p:cNvSpPr>
            <a:spLocks/>
          </p:cNvSpPr>
          <p:nvPr/>
        </p:nvSpPr>
        <p:spPr bwMode="auto">
          <a:xfrm>
            <a:off x="1409700" y="2838450"/>
            <a:ext cx="3702050" cy="1268413"/>
          </a:xfrm>
          <a:custGeom>
            <a:avLst/>
            <a:gdLst>
              <a:gd name="T0" fmla="*/ 0 w 2332"/>
              <a:gd name="T1" fmla="*/ 2147483647 h 799"/>
              <a:gd name="T2" fmla="*/ 2147483647 w 2332"/>
              <a:gd name="T3" fmla="*/ 2147483647 h 799"/>
              <a:gd name="T4" fmla="*/ 2147483647 w 2332"/>
              <a:gd name="T5" fmla="*/ 2147483647 h 799"/>
              <a:gd name="T6" fmla="*/ 0 60000 65536"/>
              <a:gd name="T7" fmla="*/ 0 60000 65536"/>
              <a:gd name="T8" fmla="*/ 0 60000 65536"/>
              <a:gd name="T9" fmla="*/ 0 w 2332"/>
              <a:gd name="T10" fmla="*/ 0 h 799"/>
              <a:gd name="T11" fmla="*/ 2332 w 2332"/>
              <a:gd name="T12" fmla="*/ 799 h 799"/>
            </a:gdLst>
            <a:ahLst/>
            <a:cxnLst>
              <a:cxn ang="T6">
                <a:pos x="T0" y="T1"/>
              </a:cxn>
              <a:cxn ang="T7">
                <a:pos x="T2" y="T3"/>
              </a:cxn>
              <a:cxn ang="T8">
                <a:pos x="T4" y="T5"/>
              </a:cxn>
            </a:cxnLst>
            <a:rect l="T9" t="T10" r="T11" b="T12"/>
            <a:pathLst>
              <a:path w="2332" h="799">
                <a:moveTo>
                  <a:pt x="0" y="478"/>
                </a:moveTo>
                <a:cubicBezTo>
                  <a:pt x="291" y="239"/>
                  <a:pt x="583" y="0"/>
                  <a:pt x="972" y="53"/>
                </a:cubicBezTo>
                <a:cubicBezTo>
                  <a:pt x="1361" y="106"/>
                  <a:pt x="2104" y="675"/>
                  <a:pt x="2332" y="799"/>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29704" name="Freeform 15"/>
          <p:cNvSpPr>
            <a:spLocks/>
          </p:cNvSpPr>
          <p:nvPr/>
        </p:nvSpPr>
        <p:spPr bwMode="auto">
          <a:xfrm>
            <a:off x="4241800" y="2906713"/>
            <a:ext cx="4271963" cy="976312"/>
          </a:xfrm>
          <a:custGeom>
            <a:avLst/>
            <a:gdLst>
              <a:gd name="T0" fmla="*/ 0 w 2691"/>
              <a:gd name="T1" fmla="*/ 2147483647 h 615"/>
              <a:gd name="T2" fmla="*/ 2147483647 w 2691"/>
              <a:gd name="T3" fmla="*/ 2147483647 h 615"/>
              <a:gd name="T4" fmla="*/ 2147483647 w 2691"/>
              <a:gd name="T5" fmla="*/ 2147483647 h 615"/>
              <a:gd name="T6" fmla="*/ 0 60000 65536"/>
              <a:gd name="T7" fmla="*/ 0 60000 65536"/>
              <a:gd name="T8" fmla="*/ 0 60000 65536"/>
              <a:gd name="T9" fmla="*/ 0 w 2691"/>
              <a:gd name="T10" fmla="*/ 0 h 615"/>
              <a:gd name="T11" fmla="*/ 2691 w 2691"/>
              <a:gd name="T12" fmla="*/ 615 h 615"/>
            </a:gdLst>
            <a:ahLst/>
            <a:cxnLst>
              <a:cxn ang="T6">
                <a:pos x="T0" y="T1"/>
              </a:cxn>
              <a:cxn ang="T7">
                <a:pos x="T2" y="T3"/>
              </a:cxn>
              <a:cxn ang="T8">
                <a:pos x="T4" y="T5"/>
              </a:cxn>
            </a:cxnLst>
            <a:rect l="T9" t="T10" r="T11" b="T12"/>
            <a:pathLst>
              <a:path w="2691" h="615">
                <a:moveTo>
                  <a:pt x="0" y="379"/>
                </a:moveTo>
                <a:cubicBezTo>
                  <a:pt x="257" y="189"/>
                  <a:pt x="515" y="0"/>
                  <a:pt x="963" y="39"/>
                </a:cubicBezTo>
                <a:cubicBezTo>
                  <a:pt x="1411" y="78"/>
                  <a:pt x="2051" y="346"/>
                  <a:pt x="2691" y="615"/>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29705" name="Freeform 16"/>
          <p:cNvSpPr>
            <a:spLocks/>
          </p:cNvSpPr>
          <p:nvPr/>
        </p:nvSpPr>
        <p:spPr bwMode="auto">
          <a:xfrm>
            <a:off x="2517775" y="3357563"/>
            <a:ext cx="1770063" cy="1544637"/>
          </a:xfrm>
          <a:custGeom>
            <a:avLst/>
            <a:gdLst>
              <a:gd name="T0" fmla="*/ 0 w 1115"/>
              <a:gd name="T1" fmla="*/ 2147483647 h 973"/>
              <a:gd name="T2" fmla="*/ 2147483647 w 1115"/>
              <a:gd name="T3" fmla="*/ 2147483647 h 973"/>
              <a:gd name="T4" fmla="*/ 2147483647 w 1115"/>
              <a:gd name="T5" fmla="*/ 0 h 973"/>
              <a:gd name="T6" fmla="*/ 2147483647 w 1115"/>
              <a:gd name="T7" fmla="*/ 2147483647 h 973"/>
              <a:gd name="T8" fmla="*/ 2147483647 w 1115"/>
              <a:gd name="T9" fmla="*/ 2147483647 h 973"/>
              <a:gd name="T10" fmla="*/ 2147483647 w 1115"/>
              <a:gd name="T11" fmla="*/ 2147483647 h 973"/>
              <a:gd name="T12" fmla="*/ 0 60000 65536"/>
              <a:gd name="T13" fmla="*/ 0 60000 65536"/>
              <a:gd name="T14" fmla="*/ 0 60000 65536"/>
              <a:gd name="T15" fmla="*/ 0 60000 65536"/>
              <a:gd name="T16" fmla="*/ 0 60000 65536"/>
              <a:gd name="T17" fmla="*/ 0 60000 65536"/>
              <a:gd name="T18" fmla="*/ 0 w 1115"/>
              <a:gd name="T19" fmla="*/ 0 h 973"/>
              <a:gd name="T20" fmla="*/ 1115 w 1115"/>
              <a:gd name="T21" fmla="*/ 973 h 973"/>
            </a:gdLst>
            <a:ahLst/>
            <a:cxnLst>
              <a:cxn ang="T12">
                <a:pos x="T0" y="T1"/>
              </a:cxn>
              <a:cxn ang="T13">
                <a:pos x="T2" y="T3"/>
              </a:cxn>
              <a:cxn ang="T14">
                <a:pos x="T4" y="T5"/>
              </a:cxn>
              <a:cxn ang="T15">
                <a:pos x="T6" y="T7"/>
              </a:cxn>
              <a:cxn ang="T16">
                <a:pos x="T8" y="T9"/>
              </a:cxn>
              <a:cxn ang="T17">
                <a:pos x="T10" y="T11"/>
              </a:cxn>
            </a:cxnLst>
            <a:rect l="T18" t="T19" r="T20" b="T21"/>
            <a:pathLst>
              <a:path w="1115" h="973">
                <a:moveTo>
                  <a:pt x="0" y="812"/>
                </a:moveTo>
                <a:lnTo>
                  <a:pt x="312" y="321"/>
                </a:lnTo>
                <a:lnTo>
                  <a:pt x="879" y="0"/>
                </a:lnTo>
                <a:lnTo>
                  <a:pt x="1115" y="161"/>
                </a:lnTo>
                <a:lnTo>
                  <a:pt x="557" y="510"/>
                </a:lnTo>
                <a:lnTo>
                  <a:pt x="369" y="973"/>
                </a:lnTo>
              </a:path>
            </a:pathLst>
          </a:custGeom>
          <a:solidFill>
            <a:srgbClr val="FFFF00"/>
          </a:solidFill>
          <a:ln w="9525">
            <a:solidFill>
              <a:srgbClr val="FFFF00"/>
            </a:solidFill>
            <a:round/>
            <a:headEnd/>
            <a:tailEnd/>
          </a:ln>
        </p:spPr>
        <p:txBody>
          <a:bodyPr wrap="none" anchor="ctr"/>
          <a:lstStyle/>
          <a:p>
            <a:endParaRPr lang="en-US" dirty="0">
              <a:latin typeface="Arial" pitchFamily="34" charset="0"/>
            </a:endParaRPr>
          </a:p>
        </p:txBody>
      </p:sp>
      <p:sp>
        <p:nvSpPr>
          <p:cNvPr id="29706" name="Freeform 17"/>
          <p:cNvSpPr>
            <a:spLocks/>
          </p:cNvSpPr>
          <p:nvPr/>
        </p:nvSpPr>
        <p:spPr bwMode="auto">
          <a:xfrm>
            <a:off x="4676775" y="3073400"/>
            <a:ext cx="1828800" cy="914400"/>
          </a:xfrm>
          <a:custGeom>
            <a:avLst/>
            <a:gdLst>
              <a:gd name="T0" fmla="*/ 0 w 1152"/>
              <a:gd name="T1" fmla="*/ 2147483647 h 576"/>
              <a:gd name="T2" fmla="*/ 2147483647 w 1152"/>
              <a:gd name="T3" fmla="*/ 2147483647 h 576"/>
              <a:gd name="T4" fmla="*/ 2147483647 w 1152"/>
              <a:gd name="T5" fmla="*/ 0 h 576"/>
              <a:gd name="T6" fmla="*/ 2147483647 w 1152"/>
              <a:gd name="T7" fmla="*/ 2147483647 h 576"/>
              <a:gd name="T8" fmla="*/ 2147483647 w 1152"/>
              <a:gd name="T9" fmla="*/ 2147483647 h 576"/>
              <a:gd name="T10" fmla="*/ 2147483647 w 1152"/>
              <a:gd name="T11" fmla="*/ 2147483647 h 576"/>
              <a:gd name="T12" fmla="*/ 0 60000 65536"/>
              <a:gd name="T13" fmla="*/ 0 60000 65536"/>
              <a:gd name="T14" fmla="*/ 0 60000 65536"/>
              <a:gd name="T15" fmla="*/ 0 60000 65536"/>
              <a:gd name="T16" fmla="*/ 0 60000 65536"/>
              <a:gd name="T17" fmla="*/ 0 60000 65536"/>
              <a:gd name="T18" fmla="*/ 0 w 1152"/>
              <a:gd name="T19" fmla="*/ 0 h 576"/>
              <a:gd name="T20" fmla="*/ 1152 w 115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152" h="576">
                <a:moveTo>
                  <a:pt x="0" y="444"/>
                </a:moveTo>
                <a:lnTo>
                  <a:pt x="321" y="236"/>
                </a:lnTo>
                <a:lnTo>
                  <a:pt x="1029" y="0"/>
                </a:lnTo>
                <a:lnTo>
                  <a:pt x="1152" y="66"/>
                </a:lnTo>
                <a:lnTo>
                  <a:pt x="501" y="377"/>
                </a:lnTo>
                <a:lnTo>
                  <a:pt x="170" y="576"/>
                </a:lnTo>
              </a:path>
            </a:pathLst>
          </a:custGeom>
          <a:solidFill>
            <a:srgbClr val="FFFF00"/>
          </a:solidFill>
          <a:ln w="9525">
            <a:solidFill>
              <a:srgbClr val="FFFF00"/>
            </a:solidFill>
            <a:round/>
            <a:headEnd/>
            <a:tailEnd type="triangle" w="med" len="med"/>
          </a:ln>
        </p:spPr>
        <p:txBody>
          <a:bodyPr wrap="none" anchor="ctr"/>
          <a:lstStyle/>
          <a:p>
            <a:endParaRPr lang="en-US" dirty="0">
              <a:latin typeface="Arial" pitchFamily="34" charset="0"/>
            </a:endParaRPr>
          </a:p>
        </p:txBody>
      </p:sp>
      <p:sp>
        <p:nvSpPr>
          <p:cNvPr id="29707" name="Freeform 18"/>
          <p:cNvSpPr>
            <a:spLocks/>
          </p:cNvSpPr>
          <p:nvPr/>
        </p:nvSpPr>
        <p:spPr bwMode="auto">
          <a:xfrm>
            <a:off x="2278063" y="3567113"/>
            <a:ext cx="1663700" cy="1154112"/>
          </a:xfrm>
          <a:custGeom>
            <a:avLst/>
            <a:gdLst>
              <a:gd name="T0" fmla="*/ 0 w 1048"/>
              <a:gd name="T1" fmla="*/ 2147483647 h 727"/>
              <a:gd name="T2" fmla="*/ 2147483647 w 1048"/>
              <a:gd name="T3" fmla="*/ 2147483647 h 727"/>
              <a:gd name="T4" fmla="*/ 2147483647 w 1048"/>
              <a:gd name="T5" fmla="*/ 2147483647 h 727"/>
              <a:gd name="T6" fmla="*/ 0 60000 65536"/>
              <a:gd name="T7" fmla="*/ 0 60000 65536"/>
              <a:gd name="T8" fmla="*/ 0 60000 65536"/>
              <a:gd name="T9" fmla="*/ 0 w 1048"/>
              <a:gd name="T10" fmla="*/ 0 h 727"/>
              <a:gd name="T11" fmla="*/ 1048 w 1048"/>
              <a:gd name="T12" fmla="*/ 727 h 727"/>
            </a:gdLst>
            <a:ahLst/>
            <a:cxnLst>
              <a:cxn ang="T6">
                <a:pos x="T0" y="T1"/>
              </a:cxn>
              <a:cxn ang="T7">
                <a:pos x="T2" y="T3"/>
              </a:cxn>
              <a:cxn ang="T8">
                <a:pos x="T4" y="T5"/>
              </a:cxn>
            </a:cxnLst>
            <a:rect l="T9" t="T10" r="T11" b="T12"/>
            <a:pathLst>
              <a:path w="1048" h="727">
                <a:moveTo>
                  <a:pt x="0" y="727"/>
                </a:moveTo>
                <a:cubicBezTo>
                  <a:pt x="123" y="614"/>
                  <a:pt x="562" y="94"/>
                  <a:pt x="737" y="47"/>
                </a:cubicBezTo>
                <a:cubicBezTo>
                  <a:pt x="912" y="0"/>
                  <a:pt x="983" y="361"/>
                  <a:pt x="1048" y="444"/>
                </a:cubicBezTo>
              </a:path>
            </a:pathLst>
          </a:custGeom>
          <a:noFill/>
          <a:ln w="76200">
            <a:solidFill>
              <a:srgbClr val="FF0000"/>
            </a:solidFill>
            <a:round/>
            <a:headEnd/>
            <a:tailEnd type="triangle" w="med" len="med"/>
          </a:ln>
        </p:spPr>
        <p:txBody>
          <a:bodyPr wrap="none" anchor="ctr"/>
          <a:lstStyle/>
          <a:p>
            <a:endParaRPr lang="en-US" dirty="0">
              <a:latin typeface="Arial" pitchFamily="34" charset="0"/>
            </a:endParaRPr>
          </a:p>
        </p:txBody>
      </p:sp>
      <p:sp>
        <p:nvSpPr>
          <p:cNvPr id="29708" name="Freeform 20"/>
          <p:cNvSpPr>
            <a:spLocks/>
          </p:cNvSpPr>
          <p:nvPr/>
        </p:nvSpPr>
        <p:spPr bwMode="auto">
          <a:xfrm>
            <a:off x="3373438" y="4376738"/>
            <a:ext cx="1617662" cy="884237"/>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sp>
        <p:nvSpPr>
          <p:cNvPr id="29709" name="Text Box 21"/>
          <p:cNvSpPr txBox="1">
            <a:spLocks noChangeArrowheads="1"/>
          </p:cNvSpPr>
          <p:nvPr/>
        </p:nvSpPr>
        <p:spPr bwMode="auto">
          <a:xfrm>
            <a:off x="5216525" y="4479925"/>
            <a:ext cx="1058303" cy="461665"/>
          </a:xfrm>
          <a:prstGeom prst="rect">
            <a:avLst/>
          </a:prstGeom>
          <a:noFill/>
          <a:ln w="9525">
            <a:noFill/>
            <a:miter lim="800000"/>
            <a:headEnd/>
            <a:tailEnd/>
          </a:ln>
        </p:spPr>
        <p:txBody>
          <a:bodyPr wrap="none">
            <a:spAutoFit/>
          </a:bodyPr>
          <a:lstStyle/>
          <a:p>
            <a:r>
              <a:rPr lang="en-US" sz="2400" dirty="0">
                <a:solidFill>
                  <a:srgbClr val="FF3300"/>
                </a:solidFill>
                <a:latin typeface="Arial" pitchFamily="34" charset="0"/>
              </a:rPr>
              <a:t>cache</a:t>
            </a:r>
          </a:p>
        </p:txBody>
      </p:sp>
      <p:sp>
        <p:nvSpPr>
          <p:cNvPr id="29710" name="Oval 25"/>
          <p:cNvSpPr>
            <a:spLocks noChangeArrowheads="1"/>
          </p:cNvSpPr>
          <p:nvPr/>
        </p:nvSpPr>
        <p:spPr bwMode="auto">
          <a:xfrm>
            <a:off x="3871913" y="4540250"/>
            <a:ext cx="430212" cy="341313"/>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29711" name="Oval 26"/>
          <p:cNvSpPr>
            <a:spLocks noChangeArrowheads="1"/>
          </p:cNvSpPr>
          <p:nvPr/>
        </p:nvSpPr>
        <p:spPr bwMode="auto">
          <a:xfrm>
            <a:off x="4116388" y="4600575"/>
            <a:ext cx="112712" cy="9525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sp>
        <p:nvSpPr>
          <p:cNvPr id="29712" name="Freeform 27"/>
          <p:cNvSpPr>
            <a:spLocks/>
          </p:cNvSpPr>
          <p:nvPr/>
        </p:nvSpPr>
        <p:spPr bwMode="auto">
          <a:xfrm>
            <a:off x="2908300" y="5037138"/>
            <a:ext cx="1423988" cy="763587"/>
          </a:xfrm>
          <a:custGeom>
            <a:avLst/>
            <a:gdLst>
              <a:gd name="T0" fmla="*/ 0 w 897"/>
              <a:gd name="T1" fmla="*/ 2147483647 h 481"/>
              <a:gd name="T2" fmla="*/ 2147483647 w 897"/>
              <a:gd name="T3" fmla="*/ 2147483647 h 481"/>
              <a:gd name="T4" fmla="*/ 2147483647 w 897"/>
              <a:gd name="T5" fmla="*/ 0 h 481"/>
              <a:gd name="T6" fmla="*/ 0 60000 65536"/>
              <a:gd name="T7" fmla="*/ 0 60000 65536"/>
              <a:gd name="T8" fmla="*/ 0 60000 65536"/>
              <a:gd name="T9" fmla="*/ 0 w 897"/>
              <a:gd name="T10" fmla="*/ 0 h 481"/>
              <a:gd name="T11" fmla="*/ 897 w 897"/>
              <a:gd name="T12" fmla="*/ 481 h 481"/>
            </a:gdLst>
            <a:ahLst/>
            <a:cxnLst>
              <a:cxn ang="T6">
                <a:pos x="T0" y="T1"/>
              </a:cxn>
              <a:cxn ang="T7">
                <a:pos x="T2" y="T3"/>
              </a:cxn>
              <a:cxn ang="T8">
                <a:pos x="T4" y="T5"/>
              </a:cxn>
            </a:cxnLst>
            <a:rect l="T9" t="T10" r="T11" b="T12"/>
            <a:pathLst>
              <a:path w="897" h="481">
                <a:moveTo>
                  <a:pt x="0" y="481"/>
                </a:moveTo>
                <a:cubicBezTo>
                  <a:pt x="108" y="461"/>
                  <a:pt x="502" y="439"/>
                  <a:pt x="651" y="359"/>
                </a:cubicBezTo>
                <a:cubicBezTo>
                  <a:pt x="800" y="279"/>
                  <a:pt x="846" y="75"/>
                  <a:pt x="897" y="0"/>
                </a:cubicBezTo>
              </a:path>
            </a:pathLst>
          </a:custGeom>
          <a:noFill/>
          <a:ln w="76200">
            <a:solidFill>
              <a:srgbClr val="009900"/>
            </a:solidFill>
            <a:round/>
            <a:headEnd type="triangle" w="med" len="med"/>
            <a:tailEnd/>
          </a:ln>
        </p:spPr>
        <p:txBody>
          <a:bodyPr wrap="none" anchor="ctr"/>
          <a:lstStyle/>
          <a:p>
            <a:endParaRPr lang="en-US" dirty="0">
              <a:latin typeface="Arial" pitchFamily="34" charset="0"/>
            </a:endParaRPr>
          </a:p>
        </p:txBody>
      </p:sp>
      <p:sp>
        <p:nvSpPr>
          <p:cNvPr id="29713" name="AutoShape 28"/>
          <p:cNvSpPr>
            <a:spLocks noChangeArrowheads="1"/>
          </p:cNvSpPr>
          <p:nvPr/>
        </p:nvSpPr>
        <p:spPr bwMode="auto">
          <a:xfrm>
            <a:off x="538163" y="3960813"/>
            <a:ext cx="1395412" cy="590550"/>
          </a:xfrm>
          <a:prstGeom prst="wedgeRoundRectCallout">
            <a:avLst>
              <a:gd name="adj1" fmla="val 46699"/>
              <a:gd name="adj2" fmla="val 100537"/>
              <a:gd name="adj3" fmla="val 16667"/>
            </a:avLst>
          </a:prstGeom>
          <a:noFill/>
          <a:ln w="38100">
            <a:solidFill>
              <a:srgbClr val="FF0066"/>
            </a:solidFill>
            <a:miter lim="800000"/>
            <a:headEnd/>
            <a:tailEnd/>
          </a:ln>
        </p:spPr>
        <p:txBody>
          <a:bodyPr anchor="ctr">
            <a:spAutoFit/>
          </a:bodyPr>
          <a:lstStyle/>
          <a:p>
            <a:pPr algn="ctr"/>
            <a:r>
              <a:rPr lang="en-US" sz="2800" dirty="0">
                <a:solidFill>
                  <a:srgbClr val="FF0066"/>
                </a:solidFill>
                <a:latin typeface="Arial" pitchFamily="34" charset="0"/>
              </a:rPr>
              <a:t>Yes!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0"/>
          </p:nvPr>
        </p:nvSpPr>
        <p:spPr>
          <a:noFill/>
        </p:spPr>
        <p:txBody>
          <a:bodyPr/>
          <a:lstStyle/>
          <a:p>
            <a:r>
              <a:rPr lang="en-US"/>
              <a:t>Art of Multiprocessor Programming</a:t>
            </a:r>
          </a:p>
        </p:txBody>
      </p:sp>
      <p:sp>
        <p:nvSpPr>
          <p:cNvPr id="30723" name="Slide Number Placeholder 4"/>
          <p:cNvSpPr>
            <a:spLocks noGrp="1"/>
          </p:cNvSpPr>
          <p:nvPr>
            <p:ph type="sldNum" sz="quarter" idx="11"/>
          </p:nvPr>
        </p:nvSpPr>
        <p:spPr>
          <a:noFill/>
        </p:spPr>
        <p:txBody>
          <a:bodyPr/>
          <a:lstStyle/>
          <a:p>
            <a:fld id="{E3E8B488-D550-44D9-9AEB-25810E96313D}" type="slidenum">
              <a:rPr lang="ar-SA" smtClean="0"/>
              <a:pPr/>
              <a:t>29</a:t>
            </a:fld>
            <a:endParaRPr lang="en-US"/>
          </a:p>
        </p:txBody>
      </p:sp>
      <p:pic>
        <p:nvPicPr>
          <p:cNvPr id="30724" name="Picture 2"/>
          <p:cNvPicPr>
            <a:picLocks noChangeAspect="1" noChangeArrowheads="1"/>
          </p:cNvPicPr>
          <p:nvPr/>
        </p:nvPicPr>
        <p:blipFill>
          <a:blip r:embed="rId3" cstate="print"/>
          <a:srcRect/>
          <a:stretch>
            <a:fillRect/>
          </a:stretch>
        </p:blipFill>
        <p:spPr bwMode="auto">
          <a:xfrm>
            <a:off x="5222875" y="1651000"/>
            <a:ext cx="3057525" cy="1873250"/>
          </a:xfrm>
          <a:prstGeom prst="rect">
            <a:avLst/>
          </a:prstGeom>
          <a:noFill/>
          <a:ln w="9525">
            <a:noFill/>
            <a:miter lim="800000"/>
            <a:headEnd/>
            <a:tailEnd/>
          </a:ln>
        </p:spPr>
      </p:pic>
      <p:sp>
        <p:nvSpPr>
          <p:cNvPr id="30725" name="Rectangle 3"/>
          <p:cNvSpPr>
            <a:spLocks noGrp="1" noChangeArrowheads="1"/>
          </p:cNvSpPr>
          <p:nvPr>
            <p:ph type="title"/>
          </p:nvPr>
        </p:nvSpPr>
        <p:spPr/>
        <p:txBody>
          <a:bodyPr/>
          <a:lstStyle/>
          <a:p>
            <a:r>
              <a:rPr lang="en-US"/>
              <a:t>Cache Miss</a:t>
            </a:r>
          </a:p>
        </p:txBody>
      </p:sp>
      <p:grpSp>
        <p:nvGrpSpPr>
          <p:cNvPr id="30726" name="Group 4"/>
          <p:cNvGrpSpPr>
            <a:grpSpLocks/>
          </p:cNvGrpSpPr>
          <p:nvPr/>
        </p:nvGrpSpPr>
        <p:grpSpPr bwMode="auto">
          <a:xfrm flipH="1">
            <a:off x="1477963" y="4859338"/>
            <a:ext cx="1447800" cy="1295400"/>
            <a:chOff x="3168" y="1824"/>
            <a:chExt cx="912" cy="816"/>
          </a:xfrm>
        </p:grpSpPr>
        <p:sp>
          <p:nvSpPr>
            <p:cNvPr id="30739" name="Freeform 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0740" name="Freeform 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0741" name="Freeform 7"/>
            <p:cNvSpPr>
              <a:spLocks/>
            </p:cNvSpPr>
            <p:nvPr/>
          </p:nvSpPr>
          <p:spPr bwMode="auto">
            <a:xfrm>
              <a:off x="3504" y="1824"/>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0742" name="Freeform 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0743" name="Freeform 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0744" name="Freeform 1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0745" name="Freeform 11"/>
            <p:cNvSpPr>
              <a:spLocks/>
            </p:cNvSpPr>
            <p:nvPr/>
          </p:nvSpPr>
          <p:spPr bwMode="auto">
            <a:xfrm>
              <a:off x="3504" y="2304"/>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0746" name="Freeform 12"/>
            <p:cNvSpPr>
              <a:spLocks/>
            </p:cNvSpPr>
            <p:nvPr/>
          </p:nvSpPr>
          <p:spPr bwMode="auto">
            <a:xfrm>
              <a:off x="3312" y="2160"/>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0747" name="Freeform 13"/>
            <p:cNvSpPr>
              <a:spLocks/>
            </p:cNvSpPr>
            <p:nvPr/>
          </p:nvSpPr>
          <p:spPr bwMode="auto">
            <a:xfrm>
              <a:off x="3168" y="2016"/>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30727" name="Freeform 14"/>
          <p:cNvSpPr>
            <a:spLocks/>
          </p:cNvSpPr>
          <p:nvPr/>
        </p:nvSpPr>
        <p:spPr bwMode="auto">
          <a:xfrm>
            <a:off x="1409700" y="2838450"/>
            <a:ext cx="3702050" cy="1268413"/>
          </a:xfrm>
          <a:custGeom>
            <a:avLst/>
            <a:gdLst>
              <a:gd name="T0" fmla="*/ 0 w 2332"/>
              <a:gd name="T1" fmla="*/ 2147483647 h 799"/>
              <a:gd name="T2" fmla="*/ 2147483647 w 2332"/>
              <a:gd name="T3" fmla="*/ 2147483647 h 799"/>
              <a:gd name="T4" fmla="*/ 2147483647 w 2332"/>
              <a:gd name="T5" fmla="*/ 2147483647 h 799"/>
              <a:gd name="T6" fmla="*/ 0 60000 65536"/>
              <a:gd name="T7" fmla="*/ 0 60000 65536"/>
              <a:gd name="T8" fmla="*/ 0 60000 65536"/>
              <a:gd name="T9" fmla="*/ 0 w 2332"/>
              <a:gd name="T10" fmla="*/ 0 h 799"/>
              <a:gd name="T11" fmla="*/ 2332 w 2332"/>
              <a:gd name="T12" fmla="*/ 799 h 799"/>
            </a:gdLst>
            <a:ahLst/>
            <a:cxnLst>
              <a:cxn ang="T6">
                <a:pos x="T0" y="T1"/>
              </a:cxn>
              <a:cxn ang="T7">
                <a:pos x="T2" y="T3"/>
              </a:cxn>
              <a:cxn ang="T8">
                <a:pos x="T4" y="T5"/>
              </a:cxn>
            </a:cxnLst>
            <a:rect l="T9" t="T10" r="T11" b="T12"/>
            <a:pathLst>
              <a:path w="2332" h="799">
                <a:moveTo>
                  <a:pt x="0" y="478"/>
                </a:moveTo>
                <a:cubicBezTo>
                  <a:pt x="291" y="239"/>
                  <a:pt x="583" y="0"/>
                  <a:pt x="972" y="53"/>
                </a:cubicBezTo>
                <a:cubicBezTo>
                  <a:pt x="1361" y="106"/>
                  <a:pt x="2104" y="675"/>
                  <a:pt x="2332" y="799"/>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30728" name="Freeform 15"/>
          <p:cNvSpPr>
            <a:spLocks/>
          </p:cNvSpPr>
          <p:nvPr/>
        </p:nvSpPr>
        <p:spPr bwMode="auto">
          <a:xfrm>
            <a:off x="4241800" y="2906713"/>
            <a:ext cx="4271963" cy="976312"/>
          </a:xfrm>
          <a:custGeom>
            <a:avLst/>
            <a:gdLst>
              <a:gd name="T0" fmla="*/ 0 w 2691"/>
              <a:gd name="T1" fmla="*/ 2147483647 h 615"/>
              <a:gd name="T2" fmla="*/ 2147483647 w 2691"/>
              <a:gd name="T3" fmla="*/ 2147483647 h 615"/>
              <a:gd name="T4" fmla="*/ 2147483647 w 2691"/>
              <a:gd name="T5" fmla="*/ 2147483647 h 615"/>
              <a:gd name="T6" fmla="*/ 0 60000 65536"/>
              <a:gd name="T7" fmla="*/ 0 60000 65536"/>
              <a:gd name="T8" fmla="*/ 0 60000 65536"/>
              <a:gd name="T9" fmla="*/ 0 w 2691"/>
              <a:gd name="T10" fmla="*/ 0 h 615"/>
              <a:gd name="T11" fmla="*/ 2691 w 2691"/>
              <a:gd name="T12" fmla="*/ 615 h 615"/>
            </a:gdLst>
            <a:ahLst/>
            <a:cxnLst>
              <a:cxn ang="T6">
                <a:pos x="T0" y="T1"/>
              </a:cxn>
              <a:cxn ang="T7">
                <a:pos x="T2" y="T3"/>
              </a:cxn>
              <a:cxn ang="T8">
                <a:pos x="T4" y="T5"/>
              </a:cxn>
            </a:cxnLst>
            <a:rect l="T9" t="T10" r="T11" b="T12"/>
            <a:pathLst>
              <a:path w="2691" h="615">
                <a:moveTo>
                  <a:pt x="0" y="379"/>
                </a:moveTo>
                <a:cubicBezTo>
                  <a:pt x="257" y="189"/>
                  <a:pt x="515" y="0"/>
                  <a:pt x="963" y="39"/>
                </a:cubicBezTo>
                <a:cubicBezTo>
                  <a:pt x="1411" y="78"/>
                  <a:pt x="2051" y="346"/>
                  <a:pt x="2691" y="615"/>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30729" name="Freeform 16"/>
          <p:cNvSpPr>
            <a:spLocks/>
          </p:cNvSpPr>
          <p:nvPr/>
        </p:nvSpPr>
        <p:spPr bwMode="auto">
          <a:xfrm>
            <a:off x="2517775" y="3357563"/>
            <a:ext cx="1770063" cy="1544637"/>
          </a:xfrm>
          <a:custGeom>
            <a:avLst/>
            <a:gdLst>
              <a:gd name="T0" fmla="*/ 0 w 1115"/>
              <a:gd name="T1" fmla="*/ 2147483647 h 973"/>
              <a:gd name="T2" fmla="*/ 2147483647 w 1115"/>
              <a:gd name="T3" fmla="*/ 2147483647 h 973"/>
              <a:gd name="T4" fmla="*/ 2147483647 w 1115"/>
              <a:gd name="T5" fmla="*/ 0 h 973"/>
              <a:gd name="T6" fmla="*/ 2147483647 w 1115"/>
              <a:gd name="T7" fmla="*/ 2147483647 h 973"/>
              <a:gd name="T8" fmla="*/ 2147483647 w 1115"/>
              <a:gd name="T9" fmla="*/ 2147483647 h 973"/>
              <a:gd name="T10" fmla="*/ 2147483647 w 1115"/>
              <a:gd name="T11" fmla="*/ 2147483647 h 973"/>
              <a:gd name="T12" fmla="*/ 0 60000 65536"/>
              <a:gd name="T13" fmla="*/ 0 60000 65536"/>
              <a:gd name="T14" fmla="*/ 0 60000 65536"/>
              <a:gd name="T15" fmla="*/ 0 60000 65536"/>
              <a:gd name="T16" fmla="*/ 0 60000 65536"/>
              <a:gd name="T17" fmla="*/ 0 60000 65536"/>
              <a:gd name="T18" fmla="*/ 0 w 1115"/>
              <a:gd name="T19" fmla="*/ 0 h 973"/>
              <a:gd name="T20" fmla="*/ 1115 w 1115"/>
              <a:gd name="T21" fmla="*/ 973 h 973"/>
            </a:gdLst>
            <a:ahLst/>
            <a:cxnLst>
              <a:cxn ang="T12">
                <a:pos x="T0" y="T1"/>
              </a:cxn>
              <a:cxn ang="T13">
                <a:pos x="T2" y="T3"/>
              </a:cxn>
              <a:cxn ang="T14">
                <a:pos x="T4" y="T5"/>
              </a:cxn>
              <a:cxn ang="T15">
                <a:pos x="T6" y="T7"/>
              </a:cxn>
              <a:cxn ang="T16">
                <a:pos x="T8" y="T9"/>
              </a:cxn>
              <a:cxn ang="T17">
                <a:pos x="T10" y="T11"/>
              </a:cxn>
            </a:cxnLst>
            <a:rect l="T18" t="T19" r="T20" b="T21"/>
            <a:pathLst>
              <a:path w="1115" h="973">
                <a:moveTo>
                  <a:pt x="0" y="812"/>
                </a:moveTo>
                <a:lnTo>
                  <a:pt x="312" y="321"/>
                </a:lnTo>
                <a:lnTo>
                  <a:pt x="879" y="0"/>
                </a:lnTo>
                <a:lnTo>
                  <a:pt x="1115" y="161"/>
                </a:lnTo>
                <a:lnTo>
                  <a:pt x="557" y="510"/>
                </a:lnTo>
                <a:lnTo>
                  <a:pt x="369" y="973"/>
                </a:lnTo>
              </a:path>
            </a:pathLst>
          </a:custGeom>
          <a:solidFill>
            <a:srgbClr val="FFFF00"/>
          </a:solidFill>
          <a:ln w="9525">
            <a:solidFill>
              <a:srgbClr val="FFFF00"/>
            </a:solidFill>
            <a:round/>
            <a:headEnd/>
            <a:tailEnd/>
          </a:ln>
        </p:spPr>
        <p:txBody>
          <a:bodyPr wrap="none" anchor="ctr"/>
          <a:lstStyle/>
          <a:p>
            <a:endParaRPr lang="en-US" dirty="0">
              <a:latin typeface="Arial" pitchFamily="34" charset="0"/>
            </a:endParaRPr>
          </a:p>
        </p:txBody>
      </p:sp>
      <p:sp>
        <p:nvSpPr>
          <p:cNvPr id="30730" name="Freeform 17"/>
          <p:cNvSpPr>
            <a:spLocks/>
          </p:cNvSpPr>
          <p:nvPr/>
        </p:nvSpPr>
        <p:spPr bwMode="auto">
          <a:xfrm>
            <a:off x="4676775" y="3073400"/>
            <a:ext cx="1828800" cy="914400"/>
          </a:xfrm>
          <a:custGeom>
            <a:avLst/>
            <a:gdLst>
              <a:gd name="T0" fmla="*/ 0 w 1152"/>
              <a:gd name="T1" fmla="*/ 2147483647 h 576"/>
              <a:gd name="T2" fmla="*/ 2147483647 w 1152"/>
              <a:gd name="T3" fmla="*/ 2147483647 h 576"/>
              <a:gd name="T4" fmla="*/ 2147483647 w 1152"/>
              <a:gd name="T5" fmla="*/ 0 h 576"/>
              <a:gd name="T6" fmla="*/ 2147483647 w 1152"/>
              <a:gd name="T7" fmla="*/ 2147483647 h 576"/>
              <a:gd name="T8" fmla="*/ 2147483647 w 1152"/>
              <a:gd name="T9" fmla="*/ 2147483647 h 576"/>
              <a:gd name="T10" fmla="*/ 2147483647 w 1152"/>
              <a:gd name="T11" fmla="*/ 2147483647 h 576"/>
              <a:gd name="T12" fmla="*/ 0 60000 65536"/>
              <a:gd name="T13" fmla="*/ 0 60000 65536"/>
              <a:gd name="T14" fmla="*/ 0 60000 65536"/>
              <a:gd name="T15" fmla="*/ 0 60000 65536"/>
              <a:gd name="T16" fmla="*/ 0 60000 65536"/>
              <a:gd name="T17" fmla="*/ 0 60000 65536"/>
              <a:gd name="T18" fmla="*/ 0 w 1152"/>
              <a:gd name="T19" fmla="*/ 0 h 576"/>
              <a:gd name="T20" fmla="*/ 1152 w 115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152" h="576">
                <a:moveTo>
                  <a:pt x="0" y="444"/>
                </a:moveTo>
                <a:lnTo>
                  <a:pt x="321" y="236"/>
                </a:lnTo>
                <a:lnTo>
                  <a:pt x="1029" y="0"/>
                </a:lnTo>
                <a:lnTo>
                  <a:pt x="1152" y="66"/>
                </a:lnTo>
                <a:lnTo>
                  <a:pt x="501" y="377"/>
                </a:lnTo>
                <a:lnTo>
                  <a:pt x="170" y="576"/>
                </a:lnTo>
              </a:path>
            </a:pathLst>
          </a:custGeom>
          <a:solidFill>
            <a:srgbClr val="FFFF00"/>
          </a:solidFill>
          <a:ln w="9525">
            <a:solidFill>
              <a:srgbClr val="FFFF00"/>
            </a:solidFill>
            <a:round/>
            <a:headEnd/>
            <a:tailEnd type="triangle" w="med" len="med"/>
          </a:ln>
        </p:spPr>
        <p:txBody>
          <a:bodyPr wrap="none" anchor="ctr"/>
          <a:lstStyle/>
          <a:p>
            <a:endParaRPr lang="en-US" dirty="0">
              <a:latin typeface="Arial" pitchFamily="34" charset="0"/>
            </a:endParaRPr>
          </a:p>
        </p:txBody>
      </p:sp>
      <p:sp>
        <p:nvSpPr>
          <p:cNvPr id="30731" name="Freeform 18"/>
          <p:cNvSpPr>
            <a:spLocks/>
          </p:cNvSpPr>
          <p:nvPr/>
        </p:nvSpPr>
        <p:spPr bwMode="auto">
          <a:xfrm>
            <a:off x="2278063" y="3567113"/>
            <a:ext cx="1663700" cy="1154112"/>
          </a:xfrm>
          <a:custGeom>
            <a:avLst/>
            <a:gdLst>
              <a:gd name="T0" fmla="*/ 0 w 1048"/>
              <a:gd name="T1" fmla="*/ 2147483647 h 727"/>
              <a:gd name="T2" fmla="*/ 2147483647 w 1048"/>
              <a:gd name="T3" fmla="*/ 2147483647 h 727"/>
              <a:gd name="T4" fmla="*/ 2147483647 w 1048"/>
              <a:gd name="T5" fmla="*/ 2147483647 h 727"/>
              <a:gd name="T6" fmla="*/ 0 60000 65536"/>
              <a:gd name="T7" fmla="*/ 0 60000 65536"/>
              <a:gd name="T8" fmla="*/ 0 60000 65536"/>
              <a:gd name="T9" fmla="*/ 0 w 1048"/>
              <a:gd name="T10" fmla="*/ 0 h 727"/>
              <a:gd name="T11" fmla="*/ 1048 w 1048"/>
              <a:gd name="T12" fmla="*/ 727 h 727"/>
            </a:gdLst>
            <a:ahLst/>
            <a:cxnLst>
              <a:cxn ang="T6">
                <a:pos x="T0" y="T1"/>
              </a:cxn>
              <a:cxn ang="T7">
                <a:pos x="T2" y="T3"/>
              </a:cxn>
              <a:cxn ang="T8">
                <a:pos x="T4" y="T5"/>
              </a:cxn>
            </a:cxnLst>
            <a:rect l="T9" t="T10" r="T11" b="T12"/>
            <a:pathLst>
              <a:path w="1048" h="727">
                <a:moveTo>
                  <a:pt x="0" y="727"/>
                </a:moveTo>
                <a:cubicBezTo>
                  <a:pt x="123" y="614"/>
                  <a:pt x="562" y="94"/>
                  <a:pt x="737" y="47"/>
                </a:cubicBezTo>
                <a:cubicBezTo>
                  <a:pt x="912" y="0"/>
                  <a:pt x="983" y="361"/>
                  <a:pt x="1048" y="444"/>
                </a:cubicBezTo>
              </a:path>
            </a:pathLst>
          </a:custGeom>
          <a:noFill/>
          <a:ln w="76200">
            <a:solidFill>
              <a:srgbClr val="FF0000"/>
            </a:solidFill>
            <a:round/>
            <a:headEnd/>
            <a:tailEnd type="triangle" w="med" len="med"/>
          </a:ln>
        </p:spPr>
        <p:txBody>
          <a:bodyPr wrap="none" anchor="ctr"/>
          <a:lstStyle/>
          <a:p>
            <a:endParaRPr lang="en-US" dirty="0">
              <a:latin typeface="Arial" pitchFamily="34" charset="0"/>
            </a:endParaRPr>
          </a:p>
        </p:txBody>
      </p:sp>
      <p:sp>
        <p:nvSpPr>
          <p:cNvPr id="30732" name="Text Box 19"/>
          <p:cNvSpPr txBox="1">
            <a:spLocks noChangeArrowheads="1"/>
          </p:cNvSpPr>
          <p:nvPr/>
        </p:nvSpPr>
        <p:spPr bwMode="auto">
          <a:xfrm>
            <a:off x="3775075" y="2168525"/>
            <a:ext cx="1366080" cy="461665"/>
          </a:xfrm>
          <a:prstGeom prst="rect">
            <a:avLst/>
          </a:prstGeom>
          <a:noFill/>
          <a:ln w="9525">
            <a:noFill/>
            <a:miter lim="800000"/>
            <a:headEnd/>
            <a:tailEnd/>
          </a:ln>
        </p:spPr>
        <p:txBody>
          <a:bodyPr wrap="none">
            <a:spAutoFit/>
          </a:bodyPr>
          <a:lstStyle/>
          <a:p>
            <a:r>
              <a:rPr lang="en-US" sz="2400" dirty="0">
                <a:solidFill>
                  <a:srgbClr val="FF3300"/>
                </a:solidFill>
                <a:latin typeface="Arial" pitchFamily="34" charset="0"/>
              </a:rPr>
              <a:t>address</a:t>
            </a:r>
          </a:p>
        </p:txBody>
      </p:sp>
      <p:sp>
        <p:nvSpPr>
          <p:cNvPr id="30733" name="Freeform 20"/>
          <p:cNvSpPr>
            <a:spLocks/>
          </p:cNvSpPr>
          <p:nvPr/>
        </p:nvSpPr>
        <p:spPr bwMode="auto">
          <a:xfrm>
            <a:off x="3373438" y="4376738"/>
            <a:ext cx="1617662" cy="884237"/>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sp>
        <p:nvSpPr>
          <p:cNvPr id="30734" name="Text Box 21"/>
          <p:cNvSpPr txBox="1">
            <a:spLocks noChangeArrowheads="1"/>
          </p:cNvSpPr>
          <p:nvPr/>
        </p:nvSpPr>
        <p:spPr bwMode="auto">
          <a:xfrm>
            <a:off x="5216525" y="4479925"/>
            <a:ext cx="1058303" cy="461665"/>
          </a:xfrm>
          <a:prstGeom prst="rect">
            <a:avLst/>
          </a:prstGeom>
          <a:noFill/>
          <a:ln w="9525">
            <a:noFill/>
            <a:miter lim="800000"/>
            <a:headEnd/>
            <a:tailEnd/>
          </a:ln>
        </p:spPr>
        <p:txBody>
          <a:bodyPr wrap="none">
            <a:spAutoFit/>
          </a:bodyPr>
          <a:lstStyle/>
          <a:p>
            <a:r>
              <a:rPr lang="en-US" sz="2400" dirty="0">
                <a:solidFill>
                  <a:srgbClr val="FF3300"/>
                </a:solidFill>
                <a:latin typeface="Arial" pitchFamily="34" charset="0"/>
              </a:rPr>
              <a:t>cache</a:t>
            </a:r>
          </a:p>
        </p:txBody>
      </p:sp>
      <p:sp>
        <p:nvSpPr>
          <p:cNvPr id="30735" name="Oval 25"/>
          <p:cNvSpPr>
            <a:spLocks noChangeArrowheads="1"/>
          </p:cNvSpPr>
          <p:nvPr/>
        </p:nvSpPr>
        <p:spPr bwMode="auto">
          <a:xfrm>
            <a:off x="3871913" y="4540250"/>
            <a:ext cx="430212" cy="341313"/>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30736" name="Oval 26"/>
          <p:cNvSpPr>
            <a:spLocks noChangeArrowheads="1"/>
          </p:cNvSpPr>
          <p:nvPr/>
        </p:nvSpPr>
        <p:spPr bwMode="auto">
          <a:xfrm>
            <a:off x="4116388" y="4600575"/>
            <a:ext cx="112712" cy="9525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sp>
        <p:nvSpPr>
          <p:cNvPr id="30737" name="Text Box 29"/>
          <p:cNvSpPr txBox="1">
            <a:spLocks noChangeArrowheads="1"/>
          </p:cNvSpPr>
          <p:nvPr/>
        </p:nvSpPr>
        <p:spPr bwMode="auto">
          <a:xfrm>
            <a:off x="2157413" y="3590925"/>
            <a:ext cx="529312" cy="769441"/>
          </a:xfrm>
          <a:prstGeom prst="rect">
            <a:avLst/>
          </a:prstGeom>
          <a:noFill/>
          <a:ln w="9525">
            <a:noFill/>
            <a:miter lim="800000"/>
            <a:headEnd/>
            <a:tailEnd/>
          </a:ln>
        </p:spPr>
        <p:txBody>
          <a:bodyPr wrap="none">
            <a:spAutoFit/>
          </a:bodyPr>
          <a:lstStyle/>
          <a:p>
            <a:r>
              <a:rPr lang="en-US" dirty="0">
                <a:solidFill>
                  <a:schemeClr val="accent2"/>
                </a:solidFill>
                <a:latin typeface="Arial" pitchFamily="34" charset="0"/>
              </a:rPr>
              <a:t>?</a:t>
            </a:r>
          </a:p>
        </p:txBody>
      </p:sp>
      <p:sp>
        <p:nvSpPr>
          <p:cNvPr id="30738" name="AutoShape 30"/>
          <p:cNvSpPr>
            <a:spLocks noChangeArrowheads="1"/>
          </p:cNvSpPr>
          <p:nvPr/>
        </p:nvSpPr>
        <p:spPr bwMode="auto">
          <a:xfrm>
            <a:off x="538163" y="3960813"/>
            <a:ext cx="1395412" cy="590550"/>
          </a:xfrm>
          <a:prstGeom prst="wedgeRoundRectCallout">
            <a:avLst>
              <a:gd name="adj1" fmla="val 46699"/>
              <a:gd name="adj2" fmla="val 100537"/>
              <a:gd name="adj3" fmla="val 16667"/>
            </a:avLst>
          </a:prstGeom>
          <a:noFill/>
          <a:ln w="38100">
            <a:solidFill>
              <a:srgbClr val="FF0066"/>
            </a:solidFill>
            <a:miter lim="800000"/>
            <a:headEnd/>
            <a:tailEnd/>
          </a:ln>
        </p:spPr>
        <p:txBody>
          <a:bodyPr anchor="ctr">
            <a:spAutoFit/>
          </a:bodyPr>
          <a:lstStyle/>
          <a:p>
            <a:pPr algn="ctr"/>
            <a:r>
              <a:rPr lang="en-US" sz="2800" dirty="0">
                <a:solidFill>
                  <a:srgbClr val="FF0066"/>
                </a:solidFill>
                <a:latin typeface="Arial" pitchFamily="34" charset="0"/>
              </a:rPr>
              <a:t>No…</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3"/>
          <p:cNvSpPr>
            <a:spLocks noGrp="1"/>
          </p:cNvSpPr>
          <p:nvPr>
            <p:ph type="ftr" sz="quarter" idx="10"/>
          </p:nvPr>
        </p:nvSpPr>
        <p:spPr>
          <a:noFill/>
        </p:spPr>
        <p:txBody>
          <a:bodyPr/>
          <a:lstStyle/>
          <a:p>
            <a:r>
              <a:rPr lang="en-US"/>
              <a:t>Art of Multiprocessor Programming</a:t>
            </a:r>
          </a:p>
        </p:txBody>
      </p:sp>
      <p:sp>
        <p:nvSpPr>
          <p:cNvPr id="31747" name="Slide Number Placeholder 4"/>
          <p:cNvSpPr>
            <a:spLocks noGrp="1"/>
          </p:cNvSpPr>
          <p:nvPr>
            <p:ph type="sldNum" sz="quarter" idx="11"/>
          </p:nvPr>
        </p:nvSpPr>
        <p:spPr>
          <a:noFill/>
        </p:spPr>
        <p:txBody>
          <a:bodyPr/>
          <a:lstStyle/>
          <a:p>
            <a:fld id="{AA5AFFCD-86F1-455B-972E-D1D1EACD7EC2}" type="slidenum">
              <a:rPr lang="ar-SA" smtClean="0"/>
              <a:pPr/>
              <a:t>30</a:t>
            </a:fld>
            <a:endParaRPr lang="en-US"/>
          </a:p>
        </p:txBody>
      </p:sp>
      <p:pic>
        <p:nvPicPr>
          <p:cNvPr id="31748" name="Picture 2"/>
          <p:cNvPicPr>
            <a:picLocks noChangeAspect="1" noChangeArrowheads="1"/>
          </p:cNvPicPr>
          <p:nvPr/>
        </p:nvPicPr>
        <p:blipFill>
          <a:blip r:embed="rId3" cstate="print"/>
          <a:srcRect/>
          <a:stretch>
            <a:fillRect/>
          </a:stretch>
        </p:blipFill>
        <p:spPr bwMode="auto">
          <a:xfrm>
            <a:off x="5222875" y="1651000"/>
            <a:ext cx="3057525" cy="1873250"/>
          </a:xfrm>
          <a:prstGeom prst="rect">
            <a:avLst/>
          </a:prstGeom>
          <a:noFill/>
          <a:ln w="9525">
            <a:noFill/>
            <a:miter lim="800000"/>
            <a:headEnd/>
            <a:tailEnd/>
          </a:ln>
        </p:spPr>
      </p:pic>
      <p:sp>
        <p:nvSpPr>
          <p:cNvPr id="31749" name="Rectangle 3"/>
          <p:cNvSpPr>
            <a:spLocks noGrp="1" noChangeArrowheads="1"/>
          </p:cNvSpPr>
          <p:nvPr>
            <p:ph type="title"/>
          </p:nvPr>
        </p:nvSpPr>
        <p:spPr/>
        <p:txBody>
          <a:bodyPr/>
          <a:lstStyle/>
          <a:p>
            <a:r>
              <a:rPr lang="en-US"/>
              <a:t>Cache Miss</a:t>
            </a:r>
          </a:p>
        </p:txBody>
      </p:sp>
      <p:grpSp>
        <p:nvGrpSpPr>
          <p:cNvPr id="31750" name="Group 4"/>
          <p:cNvGrpSpPr>
            <a:grpSpLocks/>
          </p:cNvGrpSpPr>
          <p:nvPr/>
        </p:nvGrpSpPr>
        <p:grpSpPr bwMode="auto">
          <a:xfrm flipH="1">
            <a:off x="1477963" y="4859338"/>
            <a:ext cx="1447800" cy="1295400"/>
            <a:chOff x="3168" y="1824"/>
            <a:chExt cx="912" cy="816"/>
          </a:xfrm>
        </p:grpSpPr>
        <p:sp>
          <p:nvSpPr>
            <p:cNvPr id="31760" name="Freeform 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1761" name="Freeform 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1762" name="Freeform 7"/>
            <p:cNvSpPr>
              <a:spLocks/>
            </p:cNvSpPr>
            <p:nvPr/>
          </p:nvSpPr>
          <p:spPr bwMode="auto">
            <a:xfrm>
              <a:off x="3504" y="1824"/>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1763" name="Freeform 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1764" name="Freeform 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1765" name="Freeform 1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1766" name="Freeform 11"/>
            <p:cNvSpPr>
              <a:spLocks/>
            </p:cNvSpPr>
            <p:nvPr/>
          </p:nvSpPr>
          <p:spPr bwMode="auto">
            <a:xfrm>
              <a:off x="3504" y="2304"/>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1767" name="Freeform 12"/>
            <p:cNvSpPr>
              <a:spLocks/>
            </p:cNvSpPr>
            <p:nvPr/>
          </p:nvSpPr>
          <p:spPr bwMode="auto">
            <a:xfrm>
              <a:off x="3312" y="2160"/>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1768" name="Freeform 13"/>
            <p:cNvSpPr>
              <a:spLocks/>
            </p:cNvSpPr>
            <p:nvPr/>
          </p:nvSpPr>
          <p:spPr bwMode="auto">
            <a:xfrm>
              <a:off x="3168" y="2016"/>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31751" name="Freeform 14"/>
          <p:cNvSpPr>
            <a:spLocks/>
          </p:cNvSpPr>
          <p:nvPr/>
        </p:nvSpPr>
        <p:spPr bwMode="auto">
          <a:xfrm>
            <a:off x="1409700" y="2838450"/>
            <a:ext cx="3702050" cy="1268413"/>
          </a:xfrm>
          <a:custGeom>
            <a:avLst/>
            <a:gdLst>
              <a:gd name="T0" fmla="*/ 0 w 2332"/>
              <a:gd name="T1" fmla="*/ 2147483647 h 799"/>
              <a:gd name="T2" fmla="*/ 2147483647 w 2332"/>
              <a:gd name="T3" fmla="*/ 2147483647 h 799"/>
              <a:gd name="T4" fmla="*/ 2147483647 w 2332"/>
              <a:gd name="T5" fmla="*/ 2147483647 h 799"/>
              <a:gd name="T6" fmla="*/ 0 60000 65536"/>
              <a:gd name="T7" fmla="*/ 0 60000 65536"/>
              <a:gd name="T8" fmla="*/ 0 60000 65536"/>
              <a:gd name="T9" fmla="*/ 0 w 2332"/>
              <a:gd name="T10" fmla="*/ 0 h 799"/>
              <a:gd name="T11" fmla="*/ 2332 w 2332"/>
              <a:gd name="T12" fmla="*/ 799 h 799"/>
            </a:gdLst>
            <a:ahLst/>
            <a:cxnLst>
              <a:cxn ang="T6">
                <a:pos x="T0" y="T1"/>
              </a:cxn>
              <a:cxn ang="T7">
                <a:pos x="T2" y="T3"/>
              </a:cxn>
              <a:cxn ang="T8">
                <a:pos x="T4" y="T5"/>
              </a:cxn>
            </a:cxnLst>
            <a:rect l="T9" t="T10" r="T11" b="T12"/>
            <a:pathLst>
              <a:path w="2332" h="799">
                <a:moveTo>
                  <a:pt x="0" y="478"/>
                </a:moveTo>
                <a:cubicBezTo>
                  <a:pt x="291" y="239"/>
                  <a:pt x="583" y="0"/>
                  <a:pt x="972" y="53"/>
                </a:cubicBezTo>
                <a:cubicBezTo>
                  <a:pt x="1361" y="106"/>
                  <a:pt x="2104" y="675"/>
                  <a:pt x="2332" y="799"/>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31752" name="Freeform 15"/>
          <p:cNvSpPr>
            <a:spLocks/>
          </p:cNvSpPr>
          <p:nvPr/>
        </p:nvSpPr>
        <p:spPr bwMode="auto">
          <a:xfrm>
            <a:off x="4241800" y="2906713"/>
            <a:ext cx="4271963" cy="976312"/>
          </a:xfrm>
          <a:custGeom>
            <a:avLst/>
            <a:gdLst>
              <a:gd name="T0" fmla="*/ 0 w 2691"/>
              <a:gd name="T1" fmla="*/ 2147483647 h 615"/>
              <a:gd name="T2" fmla="*/ 2147483647 w 2691"/>
              <a:gd name="T3" fmla="*/ 2147483647 h 615"/>
              <a:gd name="T4" fmla="*/ 2147483647 w 2691"/>
              <a:gd name="T5" fmla="*/ 2147483647 h 615"/>
              <a:gd name="T6" fmla="*/ 0 60000 65536"/>
              <a:gd name="T7" fmla="*/ 0 60000 65536"/>
              <a:gd name="T8" fmla="*/ 0 60000 65536"/>
              <a:gd name="T9" fmla="*/ 0 w 2691"/>
              <a:gd name="T10" fmla="*/ 0 h 615"/>
              <a:gd name="T11" fmla="*/ 2691 w 2691"/>
              <a:gd name="T12" fmla="*/ 615 h 615"/>
            </a:gdLst>
            <a:ahLst/>
            <a:cxnLst>
              <a:cxn ang="T6">
                <a:pos x="T0" y="T1"/>
              </a:cxn>
              <a:cxn ang="T7">
                <a:pos x="T2" y="T3"/>
              </a:cxn>
              <a:cxn ang="T8">
                <a:pos x="T4" y="T5"/>
              </a:cxn>
            </a:cxnLst>
            <a:rect l="T9" t="T10" r="T11" b="T12"/>
            <a:pathLst>
              <a:path w="2691" h="615">
                <a:moveTo>
                  <a:pt x="0" y="379"/>
                </a:moveTo>
                <a:cubicBezTo>
                  <a:pt x="257" y="189"/>
                  <a:pt x="515" y="0"/>
                  <a:pt x="963" y="39"/>
                </a:cubicBezTo>
                <a:cubicBezTo>
                  <a:pt x="1411" y="78"/>
                  <a:pt x="2051" y="346"/>
                  <a:pt x="2691" y="615"/>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31753" name="Freeform 16"/>
          <p:cNvSpPr>
            <a:spLocks/>
          </p:cNvSpPr>
          <p:nvPr/>
        </p:nvSpPr>
        <p:spPr bwMode="auto">
          <a:xfrm>
            <a:off x="2517775" y="3357563"/>
            <a:ext cx="1770063" cy="1544637"/>
          </a:xfrm>
          <a:custGeom>
            <a:avLst/>
            <a:gdLst>
              <a:gd name="T0" fmla="*/ 0 w 1115"/>
              <a:gd name="T1" fmla="*/ 2147483647 h 973"/>
              <a:gd name="T2" fmla="*/ 2147483647 w 1115"/>
              <a:gd name="T3" fmla="*/ 2147483647 h 973"/>
              <a:gd name="T4" fmla="*/ 2147483647 w 1115"/>
              <a:gd name="T5" fmla="*/ 0 h 973"/>
              <a:gd name="T6" fmla="*/ 2147483647 w 1115"/>
              <a:gd name="T7" fmla="*/ 2147483647 h 973"/>
              <a:gd name="T8" fmla="*/ 2147483647 w 1115"/>
              <a:gd name="T9" fmla="*/ 2147483647 h 973"/>
              <a:gd name="T10" fmla="*/ 2147483647 w 1115"/>
              <a:gd name="T11" fmla="*/ 2147483647 h 973"/>
              <a:gd name="T12" fmla="*/ 0 60000 65536"/>
              <a:gd name="T13" fmla="*/ 0 60000 65536"/>
              <a:gd name="T14" fmla="*/ 0 60000 65536"/>
              <a:gd name="T15" fmla="*/ 0 60000 65536"/>
              <a:gd name="T16" fmla="*/ 0 60000 65536"/>
              <a:gd name="T17" fmla="*/ 0 60000 65536"/>
              <a:gd name="T18" fmla="*/ 0 w 1115"/>
              <a:gd name="T19" fmla="*/ 0 h 973"/>
              <a:gd name="T20" fmla="*/ 1115 w 1115"/>
              <a:gd name="T21" fmla="*/ 973 h 973"/>
            </a:gdLst>
            <a:ahLst/>
            <a:cxnLst>
              <a:cxn ang="T12">
                <a:pos x="T0" y="T1"/>
              </a:cxn>
              <a:cxn ang="T13">
                <a:pos x="T2" y="T3"/>
              </a:cxn>
              <a:cxn ang="T14">
                <a:pos x="T4" y="T5"/>
              </a:cxn>
              <a:cxn ang="T15">
                <a:pos x="T6" y="T7"/>
              </a:cxn>
              <a:cxn ang="T16">
                <a:pos x="T8" y="T9"/>
              </a:cxn>
              <a:cxn ang="T17">
                <a:pos x="T10" y="T11"/>
              </a:cxn>
            </a:cxnLst>
            <a:rect l="T18" t="T19" r="T20" b="T21"/>
            <a:pathLst>
              <a:path w="1115" h="973">
                <a:moveTo>
                  <a:pt x="0" y="812"/>
                </a:moveTo>
                <a:lnTo>
                  <a:pt x="312" y="321"/>
                </a:lnTo>
                <a:lnTo>
                  <a:pt x="879" y="0"/>
                </a:lnTo>
                <a:lnTo>
                  <a:pt x="1115" y="161"/>
                </a:lnTo>
                <a:lnTo>
                  <a:pt x="557" y="510"/>
                </a:lnTo>
                <a:lnTo>
                  <a:pt x="369" y="973"/>
                </a:lnTo>
              </a:path>
            </a:pathLst>
          </a:custGeom>
          <a:solidFill>
            <a:srgbClr val="FFFF00"/>
          </a:solidFill>
          <a:ln w="9525">
            <a:solidFill>
              <a:srgbClr val="FFFF00"/>
            </a:solidFill>
            <a:round/>
            <a:headEnd/>
            <a:tailEnd/>
          </a:ln>
        </p:spPr>
        <p:txBody>
          <a:bodyPr wrap="none" anchor="ctr"/>
          <a:lstStyle/>
          <a:p>
            <a:endParaRPr lang="en-US" dirty="0">
              <a:latin typeface="Arial" pitchFamily="34" charset="0"/>
            </a:endParaRPr>
          </a:p>
        </p:txBody>
      </p:sp>
      <p:sp>
        <p:nvSpPr>
          <p:cNvPr id="31754" name="Freeform 17"/>
          <p:cNvSpPr>
            <a:spLocks/>
          </p:cNvSpPr>
          <p:nvPr/>
        </p:nvSpPr>
        <p:spPr bwMode="auto">
          <a:xfrm>
            <a:off x="4676775" y="3073400"/>
            <a:ext cx="1828800" cy="914400"/>
          </a:xfrm>
          <a:custGeom>
            <a:avLst/>
            <a:gdLst>
              <a:gd name="T0" fmla="*/ 0 w 1152"/>
              <a:gd name="T1" fmla="*/ 2147483647 h 576"/>
              <a:gd name="T2" fmla="*/ 2147483647 w 1152"/>
              <a:gd name="T3" fmla="*/ 2147483647 h 576"/>
              <a:gd name="T4" fmla="*/ 2147483647 w 1152"/>
              <a:gd name="T5" fmla="*/ 0 h 576"/>
              <a:gd name="T6" fmla="*/ 2147483647 w 1152"/>
              <a:gd name="T7" fmla="*/ 2147483647 h 576"/>
              <a:gd name="T8" fmla="*/ 2147483647 w 1152"/>
              <a:gd name="T9" fmla="*/ 2147483647 h 576"/>
              <a:gd name="T10" fmla="*/ 2147483647 w 1152"/>
              <a:gd name="T11" fmla="*/ 2147483647 h 576"/>
              <a:gd name="T12" fmla="*/ 0 60000 65536"/>
              <a:gd name="T13" fmla="*/ 0 60000 65536"/>
              <a:gd name="T14" fmla="*/ 0 60000 65536"/>
              <a:gd name="T15" fmla="*/ 0 60000 65536"/>
              <a:gd name="T16" fmla="*/ 0 60000 65536"/>
              <a:gd name="T17" fmla="*/ 0 60000 65536"/>
              <a:gd name="T18" fmla="*/ 0 w 1152"/>
              <a:gd name="T19" fmla="*/ 0 h 576"/>
              <a:gd name="T20" fmla="*/ 1152 w 115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152" h="576">
                <a:moveTo>
                  <a:pt x="0" y="444"/>
                </a:moveTo>
                <a:lnTo>
                  <a:pt x="321" y="236"/>
                </a:lnTo>
                <a:lnTo>
                  <a:pt x="1029" y="0"/>
                </a:lnTo>
                <a:lnTo>
                  <a:pt x="1152" y="66"/>
                </a:lnTo>
                <a:lnTo>
                  <a:pt x="501" y="377"/>
                </a:lnTo>
                <a:lnTo>
                  <a:pt x="170" y="576"/>
                </a:lnTo>
              </a:path>
            </a:pathLst>
          </a:custGeom>
          <a:solidFill>
            <a:srgbClr val="FFFF00"/>
          </a:solidFill>
          <a:ln w="9525">
            <a:solidFill>
              <a:srgbClr val="FFFF00"/>
            </a:solidFill>
            <a:round/>
            <a:headEnd/>
            <a:tailEnd type="triangle" w="med" len="med"/>
          </a:ln>
        </p:spPr>
        <p:txBody>
          <a:bodyPr wrap="none" anchor="ctr"/>
          <a:lstStyle/>
          <a:p>
            <a:endParaRPr lang="en-US" dirty="0">
              <a:latin typeface="Arial" pitchFamily="34" charset="0"/>
            </a:endParaRPr>
          </a:p>
        </p:txBody>
      </p:sp>
      <p:sp>
        <p:nvSpPr>
          <p:cNvPr id="31755" name="Freeform 20"/>
          <p:cNvSpPr>
            <a:spLocks/>
          </p:cNvSpPr>
          <p:nvPr/>
        </p:nvSpPr>
        <p:spPr bwMode="auto">
          <a:xfrm>
            <a:off x="3373438" y="4376738"/>
            <a:ext cx="1617662" cy="884237"/>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sp>
        <p:nvSpPr>
          <p:cNvPr id="31756" name="Text Box 21"/>
          <p:cNvSpPr txBox="1">
            <a:spLocks noChangeArrowheads="1"/>
          </p:cNvSpPr>
          <p:nvPr/>
        </p:nvSpPr>
        <p:spPr bwMode="auto">
          <a:xfrm>
            <a:off x="5216525" y="4479925"/>
            <a:ext cx="1058303" cy="461665"/>
          </a:xfrm>
          <a:prstGeom prst="rect">
            <a:avLst/>
          </a:prstGeom>
          <a:noFill/>
          <a:ln w="9525">
            <a:noFill/>
            <a:miter lim="800000"/>
            <a:headEnd/>
            <a:tailEnd/>
          </a:ln>
        </p:spPr>
        <p:txBody>
          <a:bodyPr wrap="none">
            <a:spAutoFit/>
          </a:bodyPr>
          <a:lstStyle/>
          <a:p>
            <a:r>
              <a:rPr lang="en-US" sz="2400" dirty="0">
                <a:solidFill>
                  <a:srgbClr val="FF3300"/>
                </a:solidFill>
                <a:latin typeface="Arial" pitchFamily="34" charset="0"/>
              </a:rPr>
              <a:t>cache</a:t>
            </a:r>
          </a:p>
        </p:txBody>
      </p:sp>
      <p:sp>
        <p:nvSpPr>
          <p:cNvPr id="31757" name="Oval 25"/>
          <p:cNvSpPr>
            <a:spLocks noChangeArrowheads="1"/>
          </p:cNvSpPr>
          <p:nvPr/>
        </p:nvSpPr>
        <p:spPr bwMode="auto">
          <a:xfrm>
            <a:off x="3871913" y="4540250"/>
            <a:ext cx="430212" cy="341313"/>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31758" name="Oval 26"/>
          <p:cNvSpPr>
            <a:spLocks noChangeArrowheads="1"/>
          </p:cNvSpPr>
          <p:nvPr/>
        </p:nvSpPr>
        <p:spPr bwMode="auto">
          <a:xfrm>
            <a:off x="4116388" y="4600575"/>
            <a:ext cx="112712" cy="9525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sp>
        <p:nvSpPr>
          <p:cNvPr id="31759" name="Freeform 28"/>
          <p:cNvSpPr>
            <a:spLocks/>
          </p:cNvSpPr>
          <p:nvPr/>
        </p:nvSpPr>
        <p:spPr bwMode="auto">
          <a:xfrm>
            <a:off x="1739900" y="2628900"/>
            <a:ext cx="4646613" cy="2243138"/>
          </a:xfrm>
          <a:custGeom>
            <a:avLst/>
            <a:gdLst>
              <a:gd name="T0" fmla="*/ 2147483647 w 2927"/>
              <a:gd name="T1" fmla="*/ 2147483647 h 1413"/>
              <a:gd name="T2" fmla="*/ 2147483647 w 2927"/>
              <a:gd name="T3" fmla="*/ 2147483647 h 1413"/>
              <a:gd name="T4" fmla="*/ 2147483647 w 2927"/>
              <a:gd name="T5" fmla="*/ 2147483647 h 1413"/>
              <a:gd name="T6" fmla="*/ 2147483647 w 2927"/>
              <a:gd name="T7" fmla="*/ 2147483647 h 1413"/>
              <a:gd name="T8" fmla="*/ 2147483647 w 2927"/>
              <a:gd name="T9" fmla="*/ 2147483647 h 1413"/>
              <a:gd name="T10" fmla="*/ 2147483647 w 2927"/>
              <a:gd name="T11" fmla="*/ 2147483647 h 1413"/>
              <a:gd name="T12" fmla="*/ 2147483647 w 2927"/>
              <a:gd name="T13" fmla="*/ 2147483647 h 1413"/>
              <a:gd name="T14" fmla="*/ 0 60000 65536"/>
              <a:gd name="T15" fmla="*/ 0 60000 65536"/>
              <a:gd name="T16" fmla="*/ 0 60000 65536"/>
              <a:gd name="T17" fmla="*/ 0 60000 65536"/>
              <a:gd name="T18" fmla="*/ 0 60000 65536"/>
              <a:gd name="T19" fmla="*/ 0 60000 65536"/>
              <a:gd name="T20" fmla="*/ 0 60000 65536"/>
              <a:gd name="T21" fmla="*/ 0 w 2927"/>
              <a:gd name="T22" fmla="*/ 0 h 1413"/>
              <a:gd name="T23" fmla="*/ 2927 w 2927"/>
              <a:gd name="T24" fmla="*/ 1413 h 14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27" h="1413">
                <a:moveTo>
                  <a:pt x="18" y="1403"/>
                </a:moveTo>
                <a:cubicBezTo>
                  <a:pt x="9" y="1408"/>
                  <a:pt x="0" y="1413"/>
                  <a:pt x="65" y="1281"/>
                </a:cubicBezTo>
                <a:cubicBezTo>
                  <a:pt x="130" y="1149"/>
                  <a:pt x="214" y="819"/>
                  <a:pt x="405" y="610"/>
                </a:cubicBezTo>
                <a:cubicBezTo>
                  <a:pt x="596" y="401"/>
                  <a:pt x="950" y="50"/>
                  <a:pt x="1208" y="25"/>
                </a:cubicBezTo>
                <a:cubicBezTo>
                  <a:pt x="1466" y="0"/>
                  <a:pt x="1743" y="451"/>
                  <a:pt x="1954" y="459"/>
                </a:cubicBezTo>
                <a:cubicBezTo>
                  <a:pt x="2165" y="467"/>
                  <a:pt x="2311" y="135"/>
                  <a:pt x="2473" y="72"/>
                </a:cubicBezTo>
                <a:cubicBezTo>
                  <a:pt x="2635" y="9"/>
                  <a:pt x="2781" y="45"/>
                  <a:pt x="2927" y="81"/>
                </a:cubicBezTo>
              </a:path>
            </a:pathLst>
          </a:custGeom>
          <a:noFill/>
          <a:ln w="76200">
            <a:solidFill>
              <a:srgbClr val="FF0000"/>
            </a:solidFill>
            <a:round/>
            <a:headEnd/>
            <a:tailEnd type="triangle" w="med" len="med"/>
          </a:ln>
        </p:spPr>
        <p:txBody>
          <a:bodyPr wrap="none" anchor="ctr"/>
          <a:lstStyle/>
          <a:p>
            <a:endParaRPr lang="en-US" dirty="0">
              <a:latin typeface="Arial"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3"/>
          <p:cNvSpPr>
            <a:spLocks noGrp="1"/>
          </p:cNvSpPr>
          <p:nvPr>
            <p:ph type="ftr" sz="quarter" idx="10"/>
          </p:nvPr>
        </p:nvSpPr>
        <p:spPr>
          <a:noFill/>
        </p:spPr>
        <p:txBody>
          <a:bodyPr/>
          <a:lstStyle/>
          <a:p>
            <a:r>
              <a:rPr lang="en-US"/>
              <a:t>Art of Multiprocessor Programming</a:t>
            </a:r>
          </a:p>
        </p:txBody>
      </p:sp>
      <p:sp>
        <p:nvSpPr>
          <p:cNvPr id="32771" name="Slide Number Placeholder 4"/>
          <p:cNvSpPr>
            <a:spLocks noGrp="1"/>
          </p:cNvSpPr>
          <p:nvPr>
            <p:ph type="sldNum" sz="quarter" idx="11"/>
          </p:nvPr>
        </p:nvSpPr>
        <p:spPr>
          <a:noFill/>
        </p:spPr>
        <p:txBody>
          <a:bodyPr/>
          <a:lstStyle/>
          <a:p>
            <a:fld id="{9F49BF68-0289-4A5F-9392-C8BB0F4985D9}" type="slidenum">
              <a:rPr lang="ar-SA" smtClean="0"/>
              <a:pPr/>
              <a:t>31</a:t>
            </a:fld>
            <a:endParaRPr lang="en-US"/>
          </a:p>
        </p:txBody>
      </p:sp>
      <p:pic>
        <p:nvPicPr>
          <p:cNvPr id="32772" name="Picture 2"/>
          <p:cNvPicPr>
            <a:picLocks noChangeAspect="1" noChangeArrowheads="1"/>
          </p:cNvPicPr>
          <p:nvPr/>
        </p:nvPicPr>
        <p:blipFill>
          <a:blip r:embed="rId3" cstate="print"/>
          <a:srcRect/>
          <a:stretch>
            <a:fillRect/>
          </a:stretch>
        </p:blipFill>
        <p:spPr bwMode="auto">
          <a:xfrm>
            <a:off x="5222875" y="1651000"/>
            <a:ext cx="3057525" cy="1873250"/>
          </a:xfrm>
          <a:prstGeom prst="rect">
            <a:avLst/>
          </a:prstGeom>
          <a:noFill/>
          <a:ln w="9525">
            <a:noFill/>
            <a:miter lim="800000"/>
            <a:headEnd/>
            <a:tailEnd/>
          </a:ln>
        </p:spPr>
      </p:pic>
      <p:sp>
        <p:nvSpPr>
          <p:cNvPr id="32773" name="Rectangle 3"/>
          <p:cNvSpPr>
            <a:spLocks noGrp="1" noChangeArrowheads="1"/>
          </p:cNvSpPr>
          <p:nvPr>
            <p:ph type="title"/>
          </p:nvPr>
        </p:nvSpPr>
        <p:spPr/>
        <p:txBody>
          <a:bodyPr/>
          <a:lstStyle/>
          <a:p>
            <a:r>
              <a:rPr lang="en-US"/>
              <a:t>Cache Miss</a:t>
            </a:r>
          </a:p>
        </p:txBody>
      </p:sp>
      <p:grpSp>
        <p:nvGrpSpPr>
          <p:cNvPr id="32774" name="Group 4"/>
          <p:cNvGrpSpPr>
            <a:grpSpLocks/>
          </p:cNvGrpSpPr>
          <p:nvPr/>
        </p:nvGrpSpPr>
        <p:grpSpPr bwMode="auto">
          <a:xfrm flipH="1">
            <a:off x="1477963" y="4859338"/>
            <a:ext cx="1447800" cy="1295400"/>
            <a:chOff x="3168" y="1824"/>
            <a:chExt cx="912" cy="816"/>
          </a:xfrm>
        </p:grpSpPr>
        <p:sp>
          <p:nvSpPr>
            <p:cNvPr id="32787" name="Freeform 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788" name="Freeform 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789" name="Freeform 7"/>
            <p:cNvSpPr>
              <a:spLocks/>
            </p:cNvSpPr>
            <p:nvPr/>
          </p:nvSpPr>
          <p:spPr bwMode="auto">
            <a:xfrm>
              <a:off x="3504" y="1824"/>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790" name="Freeform 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2791" name="Freeform 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2792" name="Freeform 1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2793" name="Freeform 11"/>
            <p:cNvSpPr>
              <a:spLocks/>
            </p:cNvSpPr>
            <p:nvPr/>
          </p:nvSpPr>
          <p:spPr bwMode="auto">
            <a:xfrm>
              <a:off x="3504" y="2304"/>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794" name="Freeform 12"/>
            <p:cNvSpPr>
              <a:spLocks/>
            </p:cNvSpPr>
            <p:nvPr/>
          </p:nvSpPr>
          <p:spPr bwMode="auto">
            <a:xfrm>
              <a:off x="3312" y="2160"/>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795" name="Freeform 13"/>
            <p:cNvSpPr>
              <a:spLocks/>
            </p:cNvSpPr>
            <p:nvPr/>
          </p:nvSpPr>
          <p:spPr bwMode="auto">
            <a:xfrm>
              <a:off x="3168" y="2016"/>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32775" name="Freeform 14"/>
          <p:cNvSpPr>
            <a:spLocks/>
          </p:cNvSpPr>
          <p:nvPr/>
        </p:nvSpPr>
        <p:spPr bwMode="auto">
          <a:xfrm>
            <a:off x="1409700" y="2838450"/>
            <a:ext cx="3702050" cy="1268413"/>
          </a:xfrm>
          <a:custGeom>
            <a:avLst/>
            <a:gdLst>
              <a:gd name="T0" fmla="*/ 0 w 2332"/>
              <a:gd name="T1" fmla="*/ 2147483647 h 799"/>
              <a:gd name="T2" fmla="*/ 2147483647 w 2332"/>
              <a:gd name="T3" fmla="*/ 2147483647 h 799"/>
              <a:gd name="T4" fmla="*/ 2147483647 w 2332"/>
              <a:gd name="T5" fmla="*/ 2147483647 h 799"/>
              <a:gd name="T6" fmla="*/ 0 60000 65536"/>
              <a:gd name="T7" fmla="*/ 0 60000 65536"/>
              <a:gd name="T8" fmla="*/ 0 60000 65536"/>
              <a:gd name="T9" fmla="*/ 0 w 2332"/>
              <a:gd name="T10" fmla="*/ 0 h 799"/>
              <a:gd name="T11" fmla="*/ 2332 w 2332"/>
              <a:gd name="T12" fmla="*/ 799 h 799"/>
            </a:gdLst>
            <a:ahLst/>
            <a:cxnLst>
              <a:cxn ang="T6">
                <a:pos x="T0" y="T1"/>
              </a:cxn>
              <a:cxn ang="T7">
                <a:pos x="T2" y="T3"/>
              </a:cxn>
              <a:cxn ang="T8">
                <a:pos x="T4" y="T5"/>
              </a:cxn>
            </a:cxnLst>
            <a:rect l="T9" t="T10" r="T11" b="T12"/>
            <a:pathLst>
              <a:path w="2332" h="799">
                <a:moveTo>
                  <a:pt x="0" y="478"/>
                </a:moveTo>
                <a:cubicBezTo>
                  <a:pt x="291" y="239"/>
                  <a:pt x="583" y="0"/>
                  <a:pt x="972" y="53"/>
                </a:cubicBezTo>
                <a:cubicBezTo>
                  <a:pt x="1361" y="106"/>
                  <a:pt x="2104" y="675"/>
                  <a:pt x="2332" y="799"/>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32776" name="Freeform 15"/>
          <p:cNvSpPr>
            <a:spLocks/>
          </p:cNvSpPr>
          <p:nvPr/>
        </p:nvSpPr>
        <p:spPr bwMode="auto">
          <a:xfrm>
            <a:off x="4241800" y="2906713"/>
            <a:ext cx="4271963" cy="976312"/>
          </a:xfrm>
          <a:custGeom>
            <a:avLst/>
            <a:gdLst>
              <a:gd name="T0" fmla="*/ 0 w 2691"/>
              <a:gd name="T1" fmla="*/ 2147483647 h 615"/>
              <a:gd name="T2" fmla="*/ 2147483647 w 2691"/>
              <a:gd name="T3" fmla="*/ 2147483647 h 615"/>
              <a:gd name="T4" fmla="*/ 2147483647 w 2691"/>
              <a:gd name="T5" fmla="*/ 2147483647 h 615"/>
              <a:gd name="T6" fmla="*/ 0 60000 65536"/>
              <a:gd name="T7" fmla="*/ 0 60000 65536"/>
              <a:gd name="T8" fmla="*/ 0 60000 65536"/>
              <a:gd name="T9" fmla="*/ 0 w 2691"/>
              <a:gd name="T10" fmla="*/ 0 h 615"/>
              <a:gd name="T11" fmla="*/ 2691 w 2691"/>
              <a:gd name="T12" fmla="*/ 615 h 615"/>
            </a:gdLst>
            <a:ahLst/>
            <a:cxnLst>
              <a:cxn ang="T6">
                <a:pos x="T0" y="T1"/>
              </a:cxn>
              <a:cxn ang="T7">
                <a:pos x="T2" y="T3"/>
              </a:cxn>
              <a:cxn ang="T8">
                <a:pos x="T4" y="T5"/>
              </a:cxn>
            </a:cxnLst>
            <a:rect l="T9" t="T10" r="T11" b="T12"/>
            <a:pathLst>
              <a:path w="2691" h="615">
                <a:moveTo>
                  <a:pt x="0" y="379"/>
                </a:moveTo>
                <a:cubicBezTo>
                  <a:pt x="257" y="189"/>
                  <a:pt x="515" y="0"/>
                  <a:pt x="963" y="39"/>
                </a:cubicBezTo>
                <a:cubicBezTo>
                  <a:pt x="1411" y="78"/>
                  <a:pt x="2051" y="346"/>
                  <a:pt x="2691" y="615"/>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32777" name="Freeform 16"/>
          <p:cNvSpPr>
            <a:spLocks/>
          </p:cNvSpPr>
          <p:nvPr/>
        </p:nvSpPr>
        <p:spPr bwMode="auto">
          <a:xfrm>
            <a:off x="2517775" y="3357563"/>
            <a:ext cx="1770063" cy="1544637"/>
          </a:xfrm>
          <a:custGeom>
            <a:avLst/>
            <a:gdLst>
              <a:gd name="T0" fmla="*/ 0 w 1115"/>
              <a:gd name="T1" fmla="*/ 2147483647 h 973"/>
              <a:gd name="T2" fmla="*/ 2147483647 w 1115"/>
              <a:gd name="T3" fmla="*/ 2147483647 h 973"/>
              <a:gd name="T4" fmla="*/ 2147483647 w 1115"/>
              <a:gd name="T5" fmla="*/ 0 h 973"/>
              <a:gd name="T6" fmla="*/ 2147483647 w 1115"/>
              <a:gd name="T7" fmla="*/ 2147483647 h 973"/>
              <a:gd name="T8" fmla="*/ 2147483647 w 1115"/>
              <a:gd name="T9" fmla="*/ 2147483647 h 973"/>
              <a:gd name="T10" fmla="*/ 2147483647 w 1115"/>
              <a:gd name="T11" fmla="*/ 2147483647 h 973"/>
              <a:gd name="T12" fmla="*/ 0 60000 65536"/>
              <a:gd name="T13" fmla="*/ 0 60000 65536"/>
              <a:gd name="T14" fmla="*/ 0 60000 65536"/>
              <a:gd name="T15" fmla="*/ 0 60000 65536"/>
              <a:gd name="T16" fmla="*/ 0 60000 65536"/>
              <a:gd name="T17" fmla="*/ 0 60000 65536"/>
              <a:gd name="T18" fmla="*/ 0 w 1115"/>
              <a:gd name="T19" fmla="*/ 0 h 973"/>
              <a:gd name="T20" fmla="*/ 1115 w 1115"/>
              <a:gd name="T21" fmla="*/ 973 h 973"/>
            </a:gdLst>
            <a:ahLst/>
            <a:cxnLst>
              <a:cxn ang="T12">
                <a:pos x="T0" y="T1"/>
              </a:cxn>
              <a:cxn ang="T13">
                <a:pos x="T2" y="T3"/>
              </a:cxn>
              <a:cxn ang="T14">
                <a:pos x="T4" y="T5"/>
              </a:cxn>
              <a:cxn ang="T15">
                <a:pos x="T6" y="T7"/>
              </a:cxn>
              <a:cxn ang="T16">
                <a:pos x="T8" y="T9"/>
              </a:cxn>
              <a:cxn ang="T17">
                <a:pos x="T10" y="T11"/>
              </a:cxn>
            </a:cxnLst>
            <a:rect l="T18" t="T19" r="T20" b="T21"/>
            <a:pathLst>
              <a:path w="1115" h="973">
                <a:moveTo>
                  <a:pt x="0" y="812"/>
                </a:moveTo>
                <a:lnTo>
                  <a:pt x="312" y="321"/>
                </a:lnTo>
                <a:lnTo>
                  <a:pt x="879" y="0"/>
                </a:lnTo>
                <a:lnTo>
                  <a:pt x="1115" y="161"/>
                </a:lnTo>
                <a:lnTo>
                  <a:pt x="557" y="510"/>
                </a:lnTo>
                <a:lnTo>
                  <a:pt x="369" y="973"/>
                </a:lnTo>
              </a:path>
            </a:pathLst>
          </a:custGeom>
          <a:solidFill>
            <a:srgbClr val="FFFF00"/>
          </a:solidFill>
          <a:ln w="9525">
            <a:solidFill>
              <a:srgbClr val="FFFF00"/>
            </a:solidFill>
            <a:round/>
            <a:headEnd/>
            <a:tailEnd/>
          </a:ln>
        </p:spPr>
        <p:txBody>
          <a:bodyPr wrap="none" anchor="ctr"/>
          <a:lstStyle/>
          <a:p>
            <a:endParaRPr lang="en-US" dirty="0">
              <a:latin typeface="Arial" pitchFamily="34" charset="0"/>
            </a:endParaRPr>
          </a:p>
        </p:txBody>
      </p:sp>
      <p:sp>
        <p:nvSpPr>
          <p:cNvPr id="32778" name="Freeform 17"/>
          <p:cNvSpPr>
            <a:spLocks/>
          </p:cNvSpPr>
          <p:nvPr/>
        </p:nvSpPr>
        <p:spPr bwMode="auto">
          <a:xfrm>
            <a:off x="4676775" y="3073400"/>
            <a:ext cx="1828800" cy="914400"/>
          </a:xfrm>
          <a:custGeom>
            <a:avLst/>
            <a:gdLst>
              <a:gd name="T0" fmla="*/ 0 w 1152"/>
              <a:gd name="T1" fmla="*/ 2147483647 h 576"/>
              <a:gd name="T2" fmla="*/ 2147483647 w 1152"/>
              <a:gd name="T3" fmla="*/ 2147483647 h 576"/>
              <a:gd name="T4" fmla="*/ 2147483647 w 1152"/>
              <a:gd name="T5" fmla="*/ 0 h 576"/>
              <a:gd name="T6" fmla="*/ 2147483647 w 1152"/>
              <a:gd name="T7" fmla="*/ 2147483647 h 576"/>
              <a:gd name="T8" fmla="*/ 2147483647 w 1152"/>
              <a:gd name="T9" fmla="*/ 2147483647 h 576"/>
              <a:gd name="T10" fmla="*/ 2147483647 w 1152"/>
              <a:gd name="T11" fmla="*/ 2147483647 h 576"/>
              <a:gd name="T12" fmla="*/ 0 60000 65536"/>
              <a:gd name="T13" fmla="*/ 0 60000 65536"/>
              <a:gd name="T14" fmla="*/ 0 60000 65536"/>
              <a:gd name="T15" fmla="*/ 0 60000 65536"/>
              <a:gd name="T16" fmla="*/ 0 60000 65536"/>
              <a:gd name="T17" fmla="*/ 0 60000 65536"/>
              <a:gd name="T18" fmla="*/ 0 w 1152"/>
              <a:gd name="T19" fmla="*/ 0 h 576"/>
              <a:gd name="T20" fmla="*/ 1152 w 115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152" h="576">
                <a:moveTo>
                  <a:pt x="0" y="444"/>
                </a:moveTo>
                <a:lnTo>
                  <a:pt x="321" y="236"/>
                </a:lnTo>
                <a:lnTo>
                  <a:pt x="1029" y="0"/>
                </a:lnTo>
                <a:lnTo>
                  <a:pt x="1152" y="66"/>
                </a:lnTo>
                <a:lnTo>
                  <a:pt x="501" y="377"/>
                </a:lnTo>
                <a:lnTo>
                  <a:pt x="170" y="576"/>
                </a:lnTo>
              </a:path>
            </a:pathLst>
          </a:custGeom>
          <a:solidFill>
            <a:srgbClr val="FFFF00"/>
          </a:solidFill>
          <a:ln w="9525">
            <a:solidFill>
              <a:srgbClr val="FFFF00"/>
            </a:solidFill>
            <a:round/>
            <a:headEnd/>
            <a:tailEnd type="triangle" w="med" len="med"/>
          </a:ln>
        </p:spPr>
        <p:txBody>
          <a:bodyPr wrap="none" anchor="ctr"/>
          <a:lstStyle/>
          <a:p>
            <a:endParaRPr lang="en-US" dirty="0">
              <a:latin typeface="Arial" pitchFamily="34" charset="0"/>
            </a:endParaRPr>
          </a:p>
        </p:txBody>
      </p:sp>
      <p:sp>
        <p:nvSpPr>
          <p:cNvPr id="32779" name="Freeform 19"/>
          <p:cNvSpPr>
            <a:spLocks/>
          </p:cNvSpPr>
          <p:nvPr/>
        </p:nvSpPr>
        <p:spPr bwMode="auto">
          <a:xfrm>
            <a:off x="3373438" y="4376738"/>
            <a:ext cx="1617662" cy="884237"/>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sp>
        <p:nvSpPr>
          <p:cNvPr id="32780" name="Text Box 20"/>
          <p:cNvSpPr txBox="1">
            <a:spLocks noChangeArrowheads="1"/>
          </p:cNvSpPr>
          <p:nvPr/>
        </p:nvSpPr>
        <p:spPr bwMode="auto">
          <a:xfrm>
            <a:off x="5216525" y="4479925"/>
            <a:ext cx="1058303" cy="461665"/>
          </a:xfrm>
          <a:prstGeom prst="rect">
            <a:avLst/>
          </a:prstGeom>
          <a:noFill/>
          <a:ln w="9525">
            <a:noFill/>
            <a:miter lim="800000"/>
            <a:headEnd/>
            <a:tailEnd/>
          </a:ln>
        </p:spPr>
        <p:txBody>
          <a:bodyPr wrap="none">
            <a:spAutoFit/>
          </a:bodyPr>
          <a:lstStyle/>
          <a:p>
            <a:r>
              <a:rPr lang="en-US" sz="2400" dirty="0">
                <a:solidFill>
                  <a:srgbClr val="FF3300"/>
                </a:solidFill>
                <a:latin typeface="Arial" pitchFamily="34" charset="0"/>
              </a:rPr>
              <a:t>cache</a:t>
            </a:r>
          </a:p>
        </p:txBody>
      </p:sp>
      <p:sp>
        <p:nvSpPr>
          <p:cNvPr id="32781" name="Oval 24"/>
          <p:cNvSpPr>
            <a:spLocks noChangeArrowheads="1"/>
          </p:cNvSpPr>
          <p:nvPr/>
        </p:nvSpPr>
        <p:spPr bwMode="auto">
          <a:xfrm>
            <a:off x="3871913" y="4540250"/>
            <a:ext cx="430212" cy="341313"/>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32782" name="Oval 25"/>
          <p:cNvSpPr>
            <a:spLocks noChangeArrowheads="1"/>
          </p:cNvSpPr>
          <p:nvPr/>
        </p:nvSpPr>
        <p:spPr bwMode="auto">
          <a:xfrm>
            <a:off x="4116388" y="4600575"/>
            <a:ext cx="112712" cy="9525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sp>
        <p:nvSpPr>
          <p:cNvPr id="32783" name="Freeform 32"/>
          <p:cNvSpPr>
            <a:spLocks/>
          </p:cNvSpPr>
          <p:nvPr/>
        </p:nvSpPr>
        <p:spPr bwMode="auto">
          <a:xfrm>
            <a:off x="4465638" y="2922588"/>
            <a:ext cx="2025650" cy="1662112"/>
          </a:xfrm>
          <a:custGeom>
            <a:avLst/>
            <a:gdLst>
              <a:gd name="T0" fmla="*/ 2147483647 w 1276"/>
              <a:gd name="T1" fmla="*/ 2147483647 h 1047"/>
              <a:gd name="T2" fmla="*/ 2147483647 w 1276"/>
              <a:gd name="T3" fmla="*/ 2147483647 h 1047"/>
              <a:gd name="T4" fmla="*/ 2147483647 w 1276"/>
              <a:gd name="T5" fmla="*/ 2147483647 h 1047"/>
              <a:gd name="T6" fmla="*/ 2147483647 w 1276"/>
              <a:gd name="T7" fmla="*/ 2147483647 h 1047"/>
              <a:gd name="T8" fmla="*/ 2147483647 w 1276"/>
              <a:gd name="T9" fmla="*/ 0 h 1047"/>
              <a:gd name="T10" fmla="*/ 0 60000 65536"/>
              <a:gd name="T11" fmla="*/ 0 60000 65536"/>
              <a:gd name="T12" fmla="*/ 0 60000 65536"/>
              <a:gd name="T13" fmla="*/ 0 60000 65536"/>
              <a:gd name="T14" fmla="*/ 0 60000 65536"/>
              <a:gd name="T15" fmla="*/ 0 w 1276"/>
              <a:gd name="T16" fmla="*/ 0 h 1047"/>
              <a:gd name="T17" fmla="*/ 1276 w 1276"/>
              <a:gd name="T18" fmla="*/ 1047 h 1047"/>
            </a:gdLst>
            <a:ahLst/>
            <a:cxnLst>
              <a:cxn ang="T10">
                <a:pos x="T0" y="T1"/>
              </a:cxn>
              <a:cxn ang="T11">
                <a:pos x="T2" y="T3"/>
              </a:cxn>
              <a:cxn ang="T12">
                <a:pos x="T4" y="T5"/>
              </a:cxn>
              <a:cxn ang="T13">
                <a:pos x="T6" y="T7"/>
              </a:cxn>
              <a:cxn ang="T14">
                <a:pos x="T8" y="T9"/>
              </a:cxn>
            </a:cxnLst>
            <a:rect l="T15" t="T16" r="T17" b="T18"/>
            <a:pathLst>
              <a:path w="1276" h="1047">
                <a:moveTo>
                  <a:pt x="190" y="1020"/>
                </a:moveTo>
                <a:cubicBezTo>
                  <a:pt x="176" y="1020"/>
                  <a:pt x="0" y="1047"/>
                  <a:pt x="105" y="1020"/>
                </a:cubicBezTo>
                <a:cubicBezTo>
                  <a:pt x="210" y="993"/>
                  <a:pt x="781" y="972"/>
                  <a:pt x="823" y="860"/>
                </a:cubicBezTo>
                <a:cubicBezTo>
                  <a:pt x="865" y="748"/>
                  <a:pt x="285" y="493"/>
                  <a:pt x="360" y="350"/>
                </a:cubicBezTo>
                <a:cubicBezTo>
                  <a:pt x="435" y="207"/>
                  <a:pt x="1085" y="73"/>
                  <a:pt x="1276" y="0"/>
                </a:cubicBezTo>
              </a:path>
            </a:pathLst>
          </a:custGeom>
          <a:noFill/>
          <a:ln w="76200">
            <a:solidFill>
              <a:srgbClr val="009900"/>
            </a:solidFill>
            <a:round/>
            <a:headEnd type="triangle" w="med" len="med"/>
            <a:tailEnd/>
          </a:ln>
        </p:spPr>
        <p:txBody>
          <a:bodyPr wrap="none" anchor="ctr"/>
          <a:lstStyle/>
          <a:p>
            <a:endParaRPr lang="en-US" dirty="0">
              <a:latin typeface="Arial" pitchFamily="34" charset="0"/>
            </a:endParaRPr>
          </a:p>
        </p:txBody>
      </p:sp>
      <p:sp>
        <p:nvSpPr>
          <p:cNvPr id="32784" name="Freeform 33"/>
          <p:cNvSpPr>
            <a:spLocks/>
          </p:cNvSpPr>
          <p:nvPr/>
        </p:nvSpPr>
        <p:spPr bwMode="auto">
          <a:xfrm>
            <a:off x="2908300" y="5037138"/>
            <a:ext cx="1423988" cy="763587"/>
          </a:xfrm>
          <a:custGeom>
            <a:avLst/>
            <a:gdLst>
              <a:gd name="T0" fmla="*/ 0 w 897"/>
              <a:gd name="T1" fmla="*/ 2147483647 h 481"/>
              <a:gd name="T2" fmla="*/ 2147483647 w 897"/>
              <a:gd name="T3" fmla="*/ 2147483647 h 481"/>
              <a:gd name="T4" fmla="*/ 2147483647 w 897"/>
              <a:gd name="T5" fmla="*/ 0 h 481"/>
              <a:gd name="T6" fmla="*/ 0 60000 65536"/>
              <a:gd name="T7" fmla="*/ 0 60000 65536"/>
              <a:gd name="T8" fmla="*/ 0 60000 65536"/>
              <a:gd name="T9" fmla="*/ 0 w 897"/>
              <a:gd name="T10" fmla="*/ 0 h 481"/>
              <a:gd name="T11" fmla="*/ 897 w 897"/>
              <a:gd name="T12" fmla="*/ 481 h 481"/>
            </a:gdLst>
            <a:ahLst/>
            <a:cxnLst>
              <a:cxn ang="T6">
                <a:pos x="T0" y="T1"/>
              </a:cxn>
              <a:cxn ang="T7">
                <a:pos x="T2" y="T3"/>
              </a:cxn>
              <a:cxn ang="T8">
                <a:pos x="T4" y="T5"/>
              </a:cxn>
            </a:cxnLst>
            <a:rect l="T9" t="T10" r="T11" b="T12"/>
            <a:pathLst>
              <a:path w="897" h="481">
                <a:moveTo>
                  <a:pt x="0" y="481"/>
                </a:moveTo>
                <a:cubicBezTo>
                  <a:pt x="108" y="461"/>
                  <a:pt x="502" y="439"/>
                  <a:pt x="651" y="359"/>
                </a:cubicBezTo>
                <a:cubicBezTo>
                  <a:pt x="800" y="279"/>
                  <a:pt x="846" y="75"/>
                  <a:pt x="897" y="0"/>
                </a:cubicBezTo>
              </a:path>
            </a:pathLst>
          </a:custGeom>
          <a:noFill/>
          <a:ln w="76200">
            <a:solidFill>
              <a:srgbClr val="009900"/>
            </a:solidFill>
            <a:round/>
            <a:headEnd type="triangle" w="med" len="med"/>
            <a:tailEnd/>
          </a:ln>
        </p:spPr>
        <p:txBody>
          <a:bodyPr wrap="none" anchor="ctr"/>
          <a:lstStyle/>
          <a:p>
            <a:endParaRPr lang="en-US" dirty="0">
              <a:latin typeface="Arial" pitchFamily="34" charset="0"/>
            </a:endParaRPr>
          </a:p>
        </p:txBody>
      </p:sp>
      <p:sp>
        <p:nvSpPr>
          <p:cNvPr id="32785" name="Oval 34"/>
          <p:cNvSpPr>
            <a:spLocks noChangeArrowheads="1"/>
          </p:cNvSpPr>
          <p:nvPr/>
        </p:nvSpPr>
        <p:spPr bwMode="auto">
          <a:xfrm>
            <a:off x="4024313" y="4692650"/>
            <a:ext cx="430212" cy="341313"/>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2786" name="Oval 35"/>
          <p:cNvSpPr>
            <a:spLocks noChangeArrowheads="1"/>
          </p:cNvSpPr>
          <p:nvPr/>
        </p:nvSpPr>
        <p:spPr bwMode="auto">
          <a:xfrm>
            <a:off x="4268788" y="4752975"/>
            <a:ext cx="112712" cy="9525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p:cNvSpPr>
            <a:spLocks noGrp="1"/>
          </p:cNvSpPr>
          <p:nvPr>
            <p:ph type="ftr" sz="quarter" idx="10"/>
          </p:nvPr>
        </p:nvSpPr>
        <p:spPr>
          <a:noFill/>
        </p:spPr>
        <p:txBody>
          <a:bodyPr/>
          <a:lstStyle/>
          <a:p>
            <a:r>
              <a:rPr lang="en-US"/>
              <a:t>Art of Multiprocessor Programming</a:t>
            </a:r>
          </a:p>
        </p:txBody>
      </p:sp>
      <p:sp>
        <p:nvSpPr>
          <p:cNvPr id="33795" name="Slide Number Placeholder 4"/>
          <p:cNvSpPr>
            <a:spLocks noGrp="1"/>
          </p:cNvSpPr>
          <p:nvPr>
            <p:ph type="sldNum" sz="quarter" idx="11"/>
          </p:nvPr>
        </p:nvSpPr>
        <p:spPr>
          <a:noFill/>
        </p:spPr>
        <p:txBody>
          <a:bodyPr/>
          <a:lstStyle/>
          <a:p>
            <a:fld id="{80B61396-7EF9-49BD-9718-BBEBD8A37C23}" type="slidenum">
              <a:rPr lang="ar-SA" smtClean="0"/>
              <a:pPr/>
              <a:t>32</a:t>
            </a:fld>
            <a:endParaRPr lang="en-US"/>
          </a:p>
        </p:txBody>
      </p:sp>
      <p:sp>
        <p:nvSpPr>
          <p:cNvPr id="33796" name="Rectangle 2"/>
          <p:cNvSpPr>
            <a:spLocks noGrp="1" noChangeArrowheads="1"/>
          </p:cNvSpPr>
          <p:nvPr>
            <p:ph type="title"/>
          </p:nvPr>
        </p:nvSpPr>
        <p:spPr/>
        <p:txBody>
          <a:bodyPr/>
          <a:lstStyle/>
          <a:p>
            <a:r>
              <a:rPr lang="en-US"/>
              <a:t>Local Spinning</a:t>
            </a:r>
          </a:p>
        </p:txBody>
      </p:sp>
      <p:sp>
        <p:nvSpPr>
          <p:cNvPr id="33797" name="Rectangle 3"/>
          <p:cNvSpPr>
            <a:spLocks noGrp="1" noChangeArrowheads="1"/>
          </p:cNvSpPr>
          <p:nvPr>
            <p:ph type="body" idx="1"/>
          </p:nvPr>
        </p:nvSpPr>
        <p:spPr/>
        <p:txBody>
          <a:bodyPr/>
          <a:lstStyle/>
          <a:p>
            <a:r>
              <a:rPr lang="en-US" sz="2800"/>
              <a:t>With caches, spinning becomes practical</a:t>
            </a:r>
          </a:p>
          <a:p>
            <a:r>
              <a:rPr lang="en-US" sz="2800"/>
              <a:t>First time</a:t>
            </a:r>
          </a:p>
          <a:p>
            <a:pPr lvl="1"/>
            <a:r>
              <a:rPr lang="en-US" sz="2400"/>
              <a:t>Load flag bit into cache</a:t>
            </a:r>
          </a:p>
          <a:p>
            <a:r>
              <a:rPr lang="en-US" sz="2800"/>
              <a:t>As long as it doesn’t change</a:t>
            </a:r>
          </a:p>
          <a:p>
            <a:pPr lvl="1"/>
            <a:r>
              <a:rPr lang="en-US" sz="2400"/>
              <a:t>Hit in cache (no interconnect used)</a:t>
            </a:r>
          </a:p>
          <a:p>
            <a:r>
              <a:rPr lang="en-US" sz="2800"/>
              <a:t>When it changes</a:t>
            </a:r>
          </a:p>
          <a:p>
            <a:pPr lvl="1"/>
            <a:r>
              <a:rPr lang="en-US" sz="2400"/>
              <a:t>One-time cost</a:t>
            </a:r>
          </a:p>
          <a:p>
            <a:pPr lvl="1"/>
            <a:r>
              <a:rPr lang="en-US" sz="2400"/>
              <a:t>See cache coherence below</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3"/>
          <p:cNvSpPr>
            <a:spLocks noGrp="1"/>
          </p:cNvSpPr>
          <p:nvPr>
            <p:ph type="ftr" sz="quarter" idx="10"/>
          </p:nvPr>
        </p:nvSpPr>
        <p:spPr>
          <a:noFill/>
        </p:spPr>
        <p:txBody>
          <a:bodyPr/>
          <a:lstStyle/>
          <a:p>
            <a:r>
              <a:rPr lang="en-US"/>
              <a:t>Art of Multiprocessor Programming</a:t>
            </a:r>
          </a:p>
        </p:txBody>
      </p:sp>
      <p:sp>
        <p:nvSpPr>
          <p:cNvPr id="34819" name="Slide Number Placeholder 4"/>
          <p:cNvSpPr>
            <a:spLocks noGrp="1"/>
          </p:cNvSpPr>
          <p:nvPr>
            <p:ph type="sldNum" sz="quarter" idx="11"/>
          </p:nvPr>
        </p:nvSpPr>
        <p:spPr>
          <a:noFill/>
        </p:spPr>
        <p:txBody>
          <a:bodyPr/>
          <a:lstStyle/>
          <a:p>
            <a:fld id="{C874FC9C-FEF2-49B2-8D31-DEDE2A2A809C}" type="slidenum">
              <a:rPr lang="ar-SA" smtClean="0"/>
              <a:pPr/>
              <a:t>33</a:t>
            </a:fld>
            <a:endParaRPr lang="en-US"/>
          </a:p>
        </p:txBody>
      </p:sp>
      <p:sp>
        <p:nvSpPr>
          <p:cNvPr id="34820" name="Rectangle 2"/>
          <p:cNvSpPr>
            <a:spLocks noGrp="1" noChangeArrowheads="1"/>
          </p:cNvSpPr>
          <p:nvPr>
            <p:ph type="title"/>
          </p:nvPr>
        </p:nvSpPr>
        <p:spPr/>
        <p:txBody>
          <a:bodyPr/>
          <a:lstStyle/>
          <a:p>
            <a:r>
              <a:rPr lang="en-US"/>
              <a:t>Granularity</a:t>
            </a:r>
          </a:p>
        </p:txBody>
      </p:sp>
      <p:sp>
        <p:nvSpPr>
          <p:cNvPr id="34821" name="Rectangle 3"/>
          <p:cNvSpPr>
            <a:spLocks noGrp="1" noChangeArrowheads="1"/>
          </p:cNvSpPr>
          <p:nvPr>
            <p:ph type="body" idx="1"/>
          </p:nvPr>
        </p:nvSpPr>
        <p:spPr/>
        <p:txBody>
          <a:bodyPr/>
          <a:lstStyle/>
          <a:p>
            <a:r>
              <a:rPr lang="en-US"/>
              <a:t>Caches  operate at a larger granularity than a word</a:t>
            </a:r>
          </a:p>
          <a:p>
            <a:r>
              <a:rPr lang="en-US">
                <a:solidFill>
                  <a:schemeClr val="tx1"/>
                </a:solidFill>
              </a:rPr>
              <a:t>Cache line</a:t>
            </a:r>
            <a:r>
              <a:rPr lang="en-US"/>
              <a:t>: fixed-size block containing the address (today 64 or 128 bytes)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p:cNvSpPr>
            <a:spLocks noGrp="1"/>
          </p:cNvSpPr>
          <p:nvPr>
            <p:ph type="ftr" sz="quarter" idx="10"/>
          </p:nvPr>
        </p:nvSpPr>
        <p:spPr>
          <a:noFill/>
        </p:spPr>
        <p:txBody>
          <a:bodyPr/>
          <a:lstStyle/>
          <a:p>
            <a:r>
              <a:rPr lang="en-US"/>
              <a:t>Art of Multiprocessor Programming</a:t>
            </a:r>
          </a:p>
        </p:txBody>
      </p:sp>
      <p:sp>
        <p:nvSpPr>
          <p:cNvPr id="35843" name="Slide Number Placeholder 4"/>
          <p:cNvSpPr>
            <a:spLocks noGrp="1"/>
          </p:cNvSpPr>
          <p:nvPr>
            <p:ph type="sldNum" sz="quarter" idx="11"/>
          </p:nvPr>
        </p:nvSpPr>
        <p:spPr>
          <a:noFill/>
        </p:spPr>
        <p:txBody>
          <a:bodyPr/>
          <a:lstStyle/>
          <a:p>
            <a:fld id="{33DF4E3D-C6B1-45FE-8035-7FEC6DAB7E10}" type="slidenum">
              <a:rPr lang="ar-SA" smtClean="0"/>
              <a:pPr/>
              <a:t>34</a:t>
            </a:fld>
            <a:endParaRPr lang="en-US"/>
          </a:p>
        </p:txBody>
      </p:sp>
      <p:sp>
        <p:nvSpPr>
          <p:cNvPr id="35844" name="Rectangle 2"/>
          <p:cNvSpPr>
            <a:spLocks noGrp="1" noChangeArrowheads="1"/>
          </p:cNvSpPr>
          <p:nvPr>
            <p:ph type="title"/>
          </p:nvPr>
        </p:nvSpPr>
        <p:spPr/>
        <p:txBody>
          <a:bodyPr/>
          <a:lstStyle/>
          <a:p>
            <a:r>
              <a:rPr lang="en-US"/>
              <a:t>Locality</a:t>
            </a:r>
          </a:p>
        </p:txBody>
      </p:sp>
      <p:sp>
        <p:nvSpPr>
          <p:cNvPr id="35845" name="Rectangle 3"/>
          <p:cNvSpPr>
            <a:spLocks noGrp="1" noChangeArrowheads="1"/>
          </p:cNvSpPr>
          <p:nvPr>
            <p:ph type="body" idx="1"/>
          </p:nvPr>
        </p:nvSpPr>
        <p:spPr/>
        <p:txBody>
          <a:bodyPr/>
          <a:lstStyle/>
          <a:p>
            <a:r>
              <a:rPr lang="en-US"/>
              <a:t>If you use an address now, you will probably use it again soon</a:t>
            </a:r>
          </a:p>
          <a:p>
            <a:pPr lvl="1"/>
            <a:r>
              <a:rPr lang="en-US"/>
              <a:t>Fetch from cache, not memory</a:t>
            </a:r>
          </a:p>
          <a:p>
            <a:r>
              <a:rPr lang="en-US"/>
              <a:t>If you use an address now, you will probably use a nearby address soon</a:t>
            </a:r>
          </a:p>
          <a:p>
            <a:pPr lvl="1"/>
            <a:r>
              <a:rPr lang="en-US"/>
              <a:t>In the same cache line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p:cNvSpPr>
            <a:spLocks noGrp="1"/>
          </p:cNvSpPr>
          <p:nvPr>
            <p:ph type="ftr" sz="quarter" idx="10"/>
          </p:nvPr>
        </p:nvSpPr>
        <p:spPr>
          <a:noFill/>
        </p:spPr>
        <p:txBody>
          <a:bodyPr/>
          <a:lstStyle/>
          <a:p>
            <a:r>
              <a:rPr lang="en-US"/>
              <a:t>Art of Multiprocessor Programming</a:t>
            </a:r>
          </a:p>
        </p:txBody>
      </p:sp>
      <p:sp>
        <p:nvSpPr>
          <p:cNvPr id="36867" name="Slide Number Placeholder 4"/>
          <p:cNvSpPr>
            <a:spLocks noGrp="1"/>
          </p:cNvSpPr>
          <p:nvPr>
            <p:ph type="sldNum" sz="quarter" idx="11"/>
          </p:nvPr>
        </p:nvSpPr>
        <p:spPr>
          <a:noFill/>
        </p:spPr>
        <p:txBody>
          <a:bodyPr/>
          <a:lstStyle/>
          <a:p>
            <a:fld id="{97A5EB88-037C-46F9-A7B3-1D17AA5659DE}" type="slidenum">
              <a:rPr lang="ar-SA" smtClean="0"/>
              <a:pPr/>
              <a:t>35</a:t>
            </a:fld>
            <a:endParaRPr lang="en-US"/>
          </a:p>
        </p:txBody>
      </p:sp>
      <p:sp>
        <p:nvSpPr>
          <p:cNvPr id="36868" name="Rectangle 2"/>
          <p:cNvSpPr>
            <a:spLocks noGrp="1" noChangeArrowheads="1"/>
          </p:cNvSpPr>
          <p:nvPr>
            <p:ph type="title"/>
          </p:nvPr>
        </p:nvSpPr>
        <p:spPr/>
        <p:txBody>
          <a:bodyPr/>
          <a:lstStyle/>
          <a:p>
            <a:r>
              <a:rPr lang="en-US"/>
              <a:t>Hit Ratio</a:t>
            </a:r>
          </a:p>
        </p:txBody>
      </p:sp>
      <p:sp>
        <p:nvSpPr>
          <p:cNvPr id="36869" name="Rectangle 3"/>
          <p:cNvSpPr>
            <a:spLocks noGrp="1" noChangeArrowheads="1"/>
          </p:cNvSpPr>
          <p:nvPr>
            <p:ph type="body" idx="1"/>
          </p:nvPr>
        </p:nvSpPr>
        <p:spPr/>
        <p:txBody>
          <a:bodyPr/>
          <a:lstStyle/>
          <a:p>
            <a:r>
              <a:rPr lang="en-US"/>
              <a:t>Proportion of requests that </a:t>
            </a:r>
            <a:r>
              <a:rPr lang="en-US">
                <a:solidFill>
                  <a:schemeClr val="tx1"/>
                </a:solidFill>
              </a:rPr>
              <a:t>hit</a:t>
            </a:r>
            <a:r>
              <a:rPr lang="en-US"/>
              <a:t> in the cache</a:t>
            </a:r>
          </a:p>
          <a:p>
            <a:r>
              <a:rPr lang="en-US"/>
              <a:t>Measure of effectiveness of caching mechanism</a:t>
            </a:r>
          </a:p>
          <a:p>
            <a:r>
              <a:rPr lang="en-US"/>
              <a:t>Depends on locality of application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3"/>
          <p:cNvSpPr>
            <a:spLocks noGrp="1"/>
          </p:cNvSpPr>
          <p:nvPr>
            <p:ph type="ftr" sz="quarter" idx="10"/>
          </p:nvPr>
        </p:nvSpPr>
        <p:spPr>
          <a:noFill/>
        </p:spPr>
        <p:txBody>
          <a:bodyPr/>
          <a:lstStyle/>
          <a:p>
            <a:r>
              <a:rPr lang="en-US"/>
              <a:t>Art of Multiprocessor Programming</a:t>
            </a:r>
          </a:p>
        </p:txBody>
      </p:sp>
      <p:sp>
        <p:nvSpPr>
          <p:cNvPr id="37891" name="Slide Number Placeholder 4"/>
          <p:cNvSpPr>
            <a:spLocks noGrp="1"/>
          </p:cNvSpPr>
          <p:nvPr>
            <p:ph type="sldNum" sz="quarter" idx="11"/>
          </p:nvPr>
        </p:nvSpPr>
        <p:spPr>
          <a:noFill/>
        </p:spPr>
        <p:txBody>
          <a:bodyPr/>
          <a:lstStyle/>
          <a:p>
            <a:fld id="{25B1B2D9-E9E9-4AB7-8D9B-5D96C0072B08}" type="slidenum">
              <a:rPr lang="ar-SA" smtClean="0"/>
              <a:pPr/>
              <a:t>36</a:t>
            </a:fld>
            <a:endParaRPr lang="en-US"/>
          </a:p>
        </p:txBody>
      </p:sp>
      <p:pic>
        <p:nvPicPr>
          <p:cNvPr id="37892" name="Picture 2"/>
          <p:cNvPicPr>
            <a:picLocks noChangeAspect="1" noChangeArrowheads="1"/>
          </p:cNvPicPr>
          <p:nvPr/>
        </p:nvPicPr>
        <p:blipFill>
          <a:blip r:embed="rId3" cstate="print"/>
          <a:srcRect/>
          <a:stretch>
            <a:fillRect/>
          </a:stretch>
        </p:blipFill>
        <p:spPr bwMode="auto">
          <a:xfrm>
            <a:off x="5222875" y="1651000"/>
            <a:ext cx="3057525" cy="1873250"/>
          </a:xfrm>
          <a:prstGeom prst="rect">
            <a:avLst/>
          </a:prstGeom>
          <a:noFill/>
          <a:ln w="9525">
            <a:noFill/>
            <a:miter lim="800000"/>
            <a:headEnd/>
            <a:tailEnd/>
          </a:ln>
        </p:spPr>
      </p:pic>
      <p:sp>
        <p:nvSpPr>
          <p:cNvPr id="37893" name="Freeform 15"/>
          <p:cNvSpPr>
            <a:spLocks/>
          </p:cNvSpPr>
          <p:nvPr/>
        </p:nvSpPr>
        <p:spPr bwMode="auto">
          <a:xfrm>
            <a:off x="4270375" y="2921000"/>
            <a:ext cx="4271963" cy="976313"/>
          </a:xfrm>
          <a:custGeom>
            <a:avLst/>
            <a:gdLst>
              <a:gd name="T0" fmla="*/ 0 w 2691"/>
              <a:gd name="T1" fmla="*/ 2147483647 h 615"/>
              <a:gd name="T2" fmla="*/ 2147483647 w 2691"/>
              <a:gd name="T3" fmla="*/ 2147483647 h 615"/>
              <a:gd name="T4" fmla="*/ 2147483647 w 2691"/>
              <a:gd name="T5" fmla="*/ 2147483647 h 615"/>
              <a:gd name="T6" fmla="*/ 0 60000 65536"/>
              <a:gd name="T7" fmla="*/ 0 60000 65536"/>
              <a:gd name="T8" fmla="*/ 0 60000 65536"/>
              <a:gd name="T9" fmla="*/ 0 w 2691"/>
              <a:gd name="T10" fmla="*/ 0 h 615"/>
              <a:gd name="T11" fmla="*/ 2691 w 2691"/>
              <a:gd name="T12" fmla="*/ 615 h 615"/>
            </a:gdLst>
            <a:ahLst/>
            <a:cxnLst>
              <a:cxn ang="T6">
                <a:pos x="T0" y="T1"/>
              </a:cxn>
              <a:cxn ang="T7">
                <a:pos x="T2" y="T3"/>
              </a:cxn>
              <a:cxn ang="T8">
                <a:pos x="T4" y="T5"/>
              </a:cxn>
            </a:cxnLst>
            <a:rect l="T9" t="T10" r="T11" b="T12"/>
            <a:pathLst>
              <a:path w="2691" h="615">
                <a:moveTo>
                  <a:pt x="0" y="379"/>
                </a:moveTo>
                <a:cubicBezTo>
                  <a:pt x="257" y="189"/>
                  <a:pt x="515" y="0"/>
                  <a:pt x="963" y="39"/>
                </a:cubicBezTo>
                <a:cubicBezTo>
                  <a:pt x="1411" y="78"/>
                  <a:pt x="2051" y="346"/>
                  <a:pt x="2691" y="615"/>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37894" name="Freeform 17"/>
          <p:cNvSpPr>
            <a:spLocks/>
          </p:cNvSpPr>
          <p:nvPr/>
        </p:nvSpPr>
        <p:spPr bwMode="auto">
          <a:xfrm>
            <a:off x="4676775" y="3073400"/>
            <a:ext cx="1828800" cy="914400"/>
          </a:xfrm>
          <a:custGeom>
            <a:avLst/>
            <a:gdLst>
              <a:gd name="T0" fmla="*/ 0 w 1152"/>
              <a:gd name="T1" fmla="*/ 2147483647 h 576"/>
              <a:gd name="T2" fmla="*/ 2147483647 w 1152"/>
              <a:gd name="T3" fmla="*/ 2147483647 h 576"/>
              <a:gd name="T4" fmla="*/ 2147483647 w 1152"/>
              <a:gd name="T5" fmla="*/ 0 h 576"/>
              <a:gd name="T6" fmla="*/ 2147483647 w 1152"/>
              <a:gd name="T7" fmla="*/ 2147483647 h 576"/>
              <a:gd name="T8" fmla="*/ 2147483647 w 1152"/>
              <a:gd name="T9" fmla="*/ 2147483647 h 576"/>
              <a:gd name="T10" fmla="*/ 2147483647 w 1152"/>
              <a:gd name="T11" fmla="*/ 2147483647 h 576"/>
              <a:gd name="T12" fmla="*/ 0 60000 65536"/>
              <a:gd name="T13" fmla="*/ 0 60000 65536"/>
              <a:gd name="T14" fmla="*/ 0 60000 65536"/>
              <a:gd name="T15" fmla="*/ 0 60000 65536"/>
              <a:gd name="T16" fmla="*/ 0 60000 65536"/>
              <a:gd name="T17" fmla="*/ 0 60000 65536"/>
              <a:gd name="T18" fmla="*/ 0 w 1152"/>
              <a:gd name="T19" fmla="*/ 0 h 576"/>
              <a:gd name="T20" fmla="*/ 1152 w 115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152" h="576">
                <a:moveTo>
                  <a:pt x="0" y="444"/>
                </a:moveTo>
                <a:lnTo>
                  <a:pt x="321" y="236"/>
                </a:lnTo>
                <a:lnTo>
                  <a:pt x="1029" y="0"/>
                </a:lnTo>
                <a:lnTo>
                  <a:pt x="1152" y="66"/>
                </a:lnTo>
                <a:lnTo>
                  <a:pt x="501" y="377"/>
                </a:lnTo>
                <a:lnTo>
                  <a:pt x="170" y="576"/>
                </a:lnTo>
              </a:path>
            </a:pathLst>
          </a:custGeom>
          <a:solidFill>
            <a:srgbClr val="FFFF00"/>
          </a:solidFill>
          <a:ln w="9525">
            <a:solidFill>
              <a:srgbClr val="FFFF00"/>
            </a:solidFill>
            <a:round/>
            <a:headEnd/>
            <a:tailEnd type="triangle" w="med" len="med"/>
          </a:ln>
        </p:spPr>
        <p:txBody>
          <a:bodyPr wrap="none" anchor="ctr"/>
          <a:lstStyle/>
          <a:p>
            <a:endParaRPr lang="en-US" dirty="0">
              <a:latin typeface="Arial" pitchFamily="34" charset="0"/>
            </a:endParaRPr>
          </a:p>
        </p:txBody>
      </p:sp>
      <p:sp>
        <p:nvSpPr>
          <p:cNvPr id="37895" name="Freeform 34"/>
          <p:cNvSpPr>
            <a:spLocks/>
          </p:cNvSpPr>
          <p:nvPr/>
        </p:nvSpPr>
        <p:spPr bwMode="auto">
          <a:xfrm>
            <a:off x="4675188" y="3143250"/>
            <a:ext cx="1617662" cy="884238"/>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sp>
        <p:nvSpPr>
          <p:cNvPr id="37896" name="Rectangle 3"/>
          <p:cNvSpPr>
            <a:spLocks noGrp="1" noChangeArrowheads="1"/>
          </p:cNvSpPr>
          <p:nvPr>
            <p:ph type="title"/>
          </p:nvPr>
        </p:nvSpPr>
        <p:spPr/>
        <p:txBody>
          <a:bodyPr/>
          <a:lstStyle/>
          <a:p>
            <a:r>
              <a:rPr lang="en-US"/>
              <a:t>L1 and L2 Caches</a:t>
            </a:r>
          </a:p>
        </p:txBody>
      </p:sp>
      <p:grpSp>
        <p:nvGrpSpPr>
          <p:cNvPr id="37897" name="Group 4"/>
          <p:cNvGrpSpPr>
            <a:grpSpLocks/>
          </p:cNvGrpSpPr>
          <p:nvPr/>
        </p:nvGrpSpPr>
        <p:grpSpPr bwMode="auto">
          <a:xfrm flipH="1">
            <a:off x="1477963" y="4859338"/>
            <a:ext cx="1447800" cy="1295400"/>
            <a:chOff x="3168" y="1824"/>
            <a:chExt cx="912" cy="816"/>
          </a:xfrm>
        </p:grpSpPr>
        <p:sp>
          <p:nvSpPr>
            <p:cNvPr id="37939" name="Freeform 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7940" name="Freeform 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7941" name="Freeform 7"/>
            <p:cNvSpPr>
              <a:spLocks/>
            </p:cNvSpPr>
            <p:nvPr/>
          </p:nvSpPr>
          <p:spPr bwMode="auto">
            <a:xfrm>
              <a:off x="3504" y="1824"/>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7942" name="Freeform 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7943" name="Freeform 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7944" name="Freeform 1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7945" name="Freeform 11"/>
            <p:cNvSpPr>
              <a:spLocks/>
            </p:cNvSpPr>
            <p:nvPr/>
          </p:nvSpPr>
          <p:spPr bwMode="auto">
            <a:xfrm>
              <a:off x="3504" y="2304"/>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7946" name="Freeform 12"/>
            <p:cNvSpPr>
              <a:spLocks/>
            </p:cNvSpPr>
            <p:nvPr/>
          </p:nvSpPr>
          <p:spPr bwMode="auto">
            <a:xfrm>
              <a:off x="3312" y="2160"/>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7947" name="Freeform 13"/>
            <p:cNvSpPr>
              <a:spLocks/>
            </p:cNvSpPr>
            <p:nvPr/>
          </p:nvSpPr>
          <p:spPr bwMode="auto">
            <a:xfrm>
              <a:off x="3168" y="2016"/>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37898" name="Freeform 14"/>
          <p:cNvSpPr>
            <a:spLocks/>
          </p:cNvSpPr>
          <p:nvPr/>
        </p:nvSpPr>
        <p:spPr bwMode="auto">
          <a:xfrm>
            <a:off x="1409700" y="2838450"/>
            <a:ext cx="3702050" cy="1268413"/>
          </a:xfrm>
          <a:custGeom>
            <a:avLst/>
            <a:gdLst>
              <a:gd name="T0" fmla="*/ 0 w 2332"/>
              <a:gd name="T1" fmla="*/ 2147483647 h 799"/>
              <a:gd name="T2" fmla="*/ 2147483647 w 2332"/>
              <a:gd name="T3" fmla="*/ 2147483647 h 799"/>
              <a:gd name="T4" fmla="*/ 2147483647 w 2332"/>
              <a:gd name="T5" fmla="*/ 2147483647 h 799"/>
              <a:gd name="T6" fmla="*/ 0 60000 65536"/>
              <a:gd name="T7" fmla="*/ 0 60000 65536"/>
              <a:gd name="T8" fmla="*/ 0 60000 65536"/>
              <a:gd name="T9" fmla="*/ 0 w 2332"/>
              <a:gd name="T10" fmla="*/ 0 h 799"/>
              <a:gd name="T11" fmla="*/ 2332 w 2332"/>
              <a:gd name="T12" fmla="*/ 799 h 799"/>
            </a:gdLst>
            <a:ahLst/>
            <a:cxnLst>
              <a:cxn ang="T6">
                <a:pos x="T0" y="T1"/>
              </a:cxn>
              <a:cxn ang="T7">
                <a:pos x="T2" y="T3"/>
              </a:cxn>
              <a:cxn ang="T8">
                <a:pos x="T4" y="T5"/>
              </a:cxn>
            </a:cxnLst>
            <a:rect l="T9" t="T10" r="T11" b="T12"/>
            <a:pathLst>
              <a:path w="2332" h="799">
                <a:moveTo>
                  <a:pt x="0" y="478"/>
                </a:moveTo>
                <a:cubicBezTo>
                  <a:pt x="291" y="239"/>
                  <a:pt x="583" y="0"/>
                  <a:pt x="972" y="53"/>
                </a:cubicBezTo>
                <a:cubicBezTo>
                  <a:pt x="1361" y="106"/>
                  <a:pt x="2104" y="675"/>
                  <a:pt x="2332" y="799"/>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37899" name="Freeform 16"/>
          <p:cNvSpPr>
            <a:spLocks/>
          </p:cNvSpPr>
          <p:nvPr/>
        </p:nvSpPr>
        <p:spPr bwMode="auto">
          <a:xfrm>
            <a:off x="2517775" y="3357563"/>
            <a:ext cx="1770063" cy="1544637"/>
          </a:xfrm>
          <a:custGeom>
            <a:avLst/>
            <a:gdLst>
              <a:gd name="T0" fmla="*/ 0 w 1115"/>
              <a:gd name="T1" fmla="*/ 2147483647 h 973"/>
              <a:gd name="T2" fmla="*/ 2147483647 w 1115"/>
              <a:gd name="T3" fmla="*/ 2147483647 h 973"/>
              <a:gd name="T4" fmla="*/ 2147483647 w 1115"/>
              <a:gd name="T5" fmla="*/ 0 h 973"/>
              <a:gd name="T6" fmla="*/ 2147483647 w 1115"/>
              <a:gd name="T7" fmla="*/ 2147483647 h 973"/>
              <a:gd name="T8" fmla="*/ 2147483647 w 1115"/>
              <a:gd name="T9" fmla="*/ 2147483647 h 973"/>
              <a:gd name="T10" fmla="*/ 2147483647 w 1115"/>
              <a:gd name="T11" fmla="*/ 2147483647 h 973"/>
              <a:gd name="T12" fmla="*/ 0 60000 65536"/>
              <a:gd name="T13" fmla="*/ 0 60000 65536"/>
              <a:gd name="T14" fmla="*/ 0 60000 65536"/>
              <a:gd name="T15" fmla="*/ 0 60000 65536"/>
              <a:gd name="T16" fmla="*/ 0 60000 65536"/>
              <a:gd name="T17" fmla="*/ 0 60000 65536"/>
              <a:gd name="T18" fmla="*/ 0 w 1115"/>
              <a:gd name="T19" fmla="*/ 0 h 973"/>
              <a:gd name="T20" fmla="*/ 1115 w 1115"/>
              <a:gd name="T21" fmla="*/ 973 h 973"/>
            </a:gdLst>
            <a:ahLst/>
            <a:cxnLst>
              <a:cxn ang="T12">
                <a:pos x="T0" y="T1"/>
              </a:cxn>
              <a:cxn ang="T13">
                <a:pos x="T2" y="T3"/>
              </a:cxn>
              <a:cxn ang="T14">
                <a:pos x="T4" y="T5"/>
              </a:cxn>
              <a:cxn ang="T15">
                <a:pos x="T6" y="T7"/>
              </a:cxn>
              <a:cxn ang="T16">
                <a:pos x="T8" y="T9"/>
              </a:cxn>
              <a:cxn ang="T17">
                <a:pos x="T10" y="T11"/>
              </a:cxn>
            </a:cxnLst>
            <a:rect l="T18" t="T19" r="T20" b="T21"/>
            <a:pathLst>
              <a:path w="1115" h="973">
                <a:moveTo>
                  <a:pt x="0" y="812"/>
                </a:moveTo>
                <a:lnTo>
                  <a:pt x="312" y="321"/>
                </a:lnTo>
                <a:lnTo>
                  <a:pt x="879" y="0"/>
                </a:lnTo>
                <a:lnTo>
                  <a:pt x="1115" y="161"/>
                </a:lnTo>
                <a:lnTo>
                  <a:pt x="557" y="510"/>
                </a:lnTo>
                <a:lnTo>
                  <a:pt x="369" y="973"/>
                </a:lnTo>
              </a:path>
            </a:pathLst>
          </a:custGeom>
          <a:solidFill>
            <a:srgbClr val="FFFF00"/>
          </a:solidFill>
          <a:ln w="9525">
            <a:solidFill>
              <a:srgbClr val="FFFF00"/>
            </a:solidFill>
            <a:round/>
            <a:headEnd/>
            <a:tailEnd/>
          </a:ln>
        </p:spPr>
        <p:txBody>
          <a:bodyPr wrap="none" anchor="ctr"/>
          <a:lstStyle/>
          <a:p>
            <a:endParaRPr lang="en-US" dirty="0">
              <a:latin typeface="Arial" pitchFamily="34" charset="0"/>
            </a:endParaRPr>
          </a:p>
        </p:txBody>
      </p:sp>
      <p:sp>
        <p:nvSpPr>
          <p:cNvPr id="37900" name="Freeform 20"/>
          <p:cNvSpPr>
            <a:spLocks/>
          </p:cNvSpPr>
          <p:nvPr/>
        </p:nvSpPr>
        <p:spPr bwMode="auto">
          <a:xfrm>
            <a:off x="3373438" y="4376738"/>
            <a:ext cx="1617662" cy="884237"/>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sp>
        <p:nvSpPr>
          <p:cNvPr id="37901" name="Text Box 21"/>
          <p:cNvSpPr txBox="1">
            <a:spLocks noChangeArrowheads="1"/>
          </p:cNvSpPr>
          <p:nvPr/>
        </p:nvSpPr>
        <p:spPr bwMode="auto">
          <a:xfrm>
            <a:off x="3911600" y="5394325"/>
            <a:ext cx="543739" cy="461665"/>
          </a:xfrm>
          <a:prstGeom prst="rect">
            <a:avLst/>
          </a:prstGeom>
          <a:noFill/>
          <a:ln w="9525">
            <a:noFill/>
            <a:miter lim="800000"/>
            <a:headEnd/>
            <a:tailEnd/>
          </a:ln>
        </p:spPr>
        <p:txBody>
          <a:bodyPr wrap="none">
            <a:spAutoFit/>
          </a:bodyPr>
          <a:lstStyle/>
          <a:p>
            <a:r>
              <a:rPr lang="en-US" sz="2400" dirty="0">
                <a:solidFill>
                  <a:srgbClr val="FF3300"/>
                </a:solidFill>
                <a:latin typeface="Arial" pitchFamily="34" charset="0"/>
              </a:rPr>
              <a:t>L1</a:t>
            </a:r>
          </a:p>
        </p:txBody>
      </p:sp>
      <p:sp>
        <p:nvSpPr>
          <p:cNvPr id="37902" name="Text Box 35"/>
          <p:cNvSpPr txBox="1">
            <a:spLocks noChangeArrowheads="1"/>
          </p:cNvSpPr>
          <p:nvPr/>
        </p:nvSpPr>
        <p:spPr bwMode="auto">
          <a:xfrm>
            <a:off x="5308600" y="4154488"/>
            <a:ext cx="543739" cy="461665"/>
          </a:xfrm>
          <a:prstGeom prst="rect">
            <a:avLst/>
          </a:prstGeom>
          <a:noFill/>
          <a:ln w="9525">
            <a:noFill/>
            <a:miter lim="800000"/>
            <a:headEnd/>
            <a:tailEnd/>
          </a:ln>
        </p:spPr>
        <p:txBody>
          <a:bodyPr wrap="none">
            <a:spAutoFit/>
          </a:bodyPr>
          <a:lstStyle/>
          <a:p>
            <a:r>
              <a:rPr lang="en-US" sz="2400" dirty="0">
                <a:solidFill>
                  <a:srgbClr val="FF3300"/>
                </a:solidFill>
                <a:latin typeface="Arial" pitchFamily="34" charset="0"/>
              </a:rPr>
              <a:t>L2</a:t>
            </a:r>
          </a:p>
        </p:txBody>
      </p:sp>
      <p:sp>
        <p:nvSpPr>
          <p:cNvPr id="37903" name="Oval 116"/>
          <p:cNvSpPr>
            <a:spLocks noChangeArrowheads="1"/>
          </p:cNvSpPr>
          <p:nvPr/>
        </p:nvSpPr>
        <p:spPr bwMode="auto">
          <a:xfrm>
            <a:off x="3871913" y="4540250"/>
            <a:ext cx="430212" cy="341313"/>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37904" name="Oval 117"/>
          <p:cNvSpPr>
            <a:spLocks noChangeArrowheads="1"/>
          </p:cNvSpPr>
          <p:nvPr/>
        </p:nvSpPr>
        <p:spPr bwMode="auto">
          <a:xfrm>
            <a:off x="4116388" y="4600575"/>
            <a:ext cx="112712" cy="9525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nvGrpSpPr>
          <p:cNvPr id="37905" name="Group 120"/>
          <p:cNvGrpSpPr>
            <a:grpSpLocks/>
          </p:cNvGrpSpPr>
          <p:nvPr/>
        </p:nvGrpSpPr>
        <p:grpSpPr bwMode="auto">
          <a:xfrm>
            <a:off x="4024313" y="4692650"/>
            <a:ext cx="430212" cy="341313"/>
            <a:chOff x="2535" y="2956"/>
            <a:chExt cx="271" cy="215"/>
          </a:xfrm>
        </p:grpSpPr>
        <p:sp>
          <p:nvSpPr>
            <p:cNvPr id="37937" name="Oval 118"/>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7938" name="Oval 119"/>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7906" name="Group 160"/>
          <p:cNvGrpSpPr>
            <a:grpSpLocks/>
          </p:cNvGrpSpPr>
          <p:nvPr/>
        </p:nvGrpSpPr>
        <p:grpSpPr bwMode="auto">
          <a:xfrm>
            <a:off x="4856163" y="3336925"/>
            <a:ext cx="1428750" cy="517525"/>
            <a:chOff x="3417" y="3011"/>
            <a:chExt cx="1127" cy="408"/>
          </a:xfrm>
        </p:grpSpPr>
        <p:grpSp>
          <p:nvGrpSpPr>
            <p:cNvPr id="37907" name="Group 139"/>
            <p:cNvGrpSpPr>
              <a:grpSpLocks/>
            </p:cNvGrpSpPr>
            <p:nvPr/>
          </p:nvGrpSpPr>
          <p:grpSpPr bwMode="auto">
            <a:xfrm>
              <a:off x="3417" y="3011"/>
              <a:ext cx="935" cy="216"/>
              <a:chOff x="3417" y="3011"/>
              <a:chExt cx="935" cy="216"/>
            </a:xfrm>
          </p:grpSpPr>
          <p:grpSp>
            <p:nvGrpSpPr>
              <p:cNvPr id="37928" name="Group 130"/>
              <p:cNvGrpSpPr>
                <a:grpSpLocks/>
              </p:cNvGrpSpPr>
              <p:nvPr/>
            </p:nvGrpSpPr>
            <p:grpSpPr bwMode="auto">
              <a:xfrm>
                <a:off x="3417" y="3012"/>
                <a:ext cx="271" cy="215"/>
                <a:chOff x="2535" y="2956"/>
                <a:chExt cx="271" cy="215"/>
              </a:xfrm>
            </p:grpSpPr>
            <p:sp>
              <p:nvSpPr>
                <p:cNvPr id="37935" name="Oval 131"/>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7936" name="Oval 132"/>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7929" name="Group 133"/>
              <p:cNvGrpSpPr>
                <a:grpSpLocks/>
              </p:cNvGrpSpPr>
              <p:nvPr/>
            </p:nvGrpSpPr>
            <p:grpSpPr bwMode="auto">
              <a:xfrm>
                <a:off x="3749" y="3012"/>
                <a:ext cx="271" cy="215"/>
                <a:chOff x="2535" y="2956"/>
                <a:chExt cx="271" cy="215"/>
              </a:xfrm>
            </p:grpSpPr>
            <p:sp>
              <p:nvSpPr>
                <p:cNvPr id="37933" name="Oval 134"/>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7934" name="Oval 135"/>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7930" name="Group 136"/>
              <p:cNvGrpSpPr>
                <a:grpSpLocks/>
              </p:cNvGrpSpPr>
              <p:nvPr/>
            </p:nvGrpSpPr>
            <p:grpSpPr bwMode="auto">
              <a:xfrm>
                <a:off x="4081" y="3011"/>
                <a:ext cx="271" cy="215"/>
                <a:chOff x="2535" y="2956"/>
                <a:chExt cx="271" cy="215"/>
              </a:xfrm>
            </p:grpSpPr>
            <p:sp>
              <p:nvSpPr>
                <p:cNvPr id="37931" name="Oval 137"/>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7932" name="Oval 138"/>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grpSp>
          <p:nvGrpSpPr>
            <p:cNvPr id="37908" name="Group 140"/>
            <p:cNvGrpSpPr>
              <a:grpSpLocks/>
            </p:cNvGrpSpPr>
            <p:nvPr/>
          </p:nvGrpSpPr>
          <p:grpSpPr bwMode="auto">
            <a:xfrm>
              <a:off x="3513" y="3107"/>
              <a:ext cx="935" cy="216"/>
              <a:chOff x="3417" y="3011"/>
              <a:chExt cx="935" cy="216"/>
            </a:xfrm>
          </p:grpSpPr>
          <p:grpSp>
            <p:nvGrpSpPr>
              <p:cNvPr id="37919" name="Group 141"/>
              <p:cNvGrpSpPr>
                <a:grpSpLocks/>
              </p:cNvGrpSpPr>
              <p:nvPr/>
            </p:nvGrpSpPr>
            <p:grpSpPr bwMode="auto">
              <a:xfrm>
                <a:off x="3417" y="3012"/>
                <a:ext cx="271" cy="215"/>
                <a:chOff x="2535" y="2956"/>
                <a:chExt cx="271" cy="215"/>
              </a:xfrm>
            </p:grpSpPr>
            <p:sp>
              <p:nvSpPr>
                <p:cNvPr id="37926" name="Oval 142"/>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7927" name="Oval 143"/>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7920" name="Group 144"/>
              <p:cNvGrpSpPr>
                <a:grpSpLocks/>
              </p:cNvGrpSpPr>
              <p:nvPr/>
            </p:nvGrpSpPr>
            <p:grpSpPr bwMode="auto">
              <a:xfrm>
                <a:off x="3749" y="3012"/>
                <a:ext cx="271" cy="215"/>
                <a:chOff x="2535" y="2956"/>
                <a:chExt cx="271" cy="215"/>
              </a:xfrm>
            </p:grpSpPr>
            <p:sp>
              <p:nvSpPr>
                <p:cNvPr id="37924" name="Oval 145"/>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7925" name="Oval 146"/>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7921" name="Group 147"/>
              <p:cNvGrpSpPr>
                <a:grpSpLocks/>
              </p:cNvGrpSpPr>
              <p:nvPr/>
            </p:nvGrpSpPr>
            <p:grpSpPr bwMode="auto">
              <a:xfrm>
                <a:off x="4081" y="3011"/>
                <a:ext cx="271" cy="215"/>
                <a:chOff x="2535" y="2956"/>
                <a:chExt cx="271" cy="215"/>
              </a:xfrm>
            </p:grpSpPr>
            <p:sp>
              <p:nvSpPr>
                <p:cNvPr id="37922" name="Oval 148"/>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7923" name="Oval 149"/>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grpSp>
          <p:nvGrpSpPr>
            <p:cNvPr id="37909" name="Group 150"/>
            <p:cNvGrpSpPr>
              <a:grpSpLocks/>
            </p:cNvGrpSpPr>
            <p:nvPr/>
          </p:nvGrpSpPr>
          <p:grpSpPr bwMode="auto">
            <a:xfrm>
              <a:off x="3609" y="3203"/>
              <a:ext cx="935" cy="216"/>
              <a:chOff x="3417" y="3011"/>
              <a:chExt cx="935" cy="216"/>
            </a:xfrm>
          </p:grpSpPr>
          <p:grpSp>
            <p:nvGrpSpPr>
              <p:cNvPr id="37910" name="Group 151"/>
              <p:cNvGrpSpPr>
                <a:grpSpLocks/>
              </p:cNvGrpSpPr>
              <p:nvPr/>
            </p:nvGrpSpPr>
            <p:grpSpPr bwMode="auto">
              <a:xfrm>
                <a:off x="3417" y="3012"/>
                <a:ext cx="271" cy="215"/>
                <a:chOff x="2535" y="2956"/>
                <a:chExt cx="271" cy="215"/>
              </a:xfrm>
            </p:grpSpPr>
            <p:sp>
              <p:nvSpPr>
                <p:cNvPr id="37917" name="Oval 152"/>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7918" name="Oval 153"/>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7911" name="Group 154"/>
              <p:cNvGrpSpPr>
                <a:grpSpLocks/>
              </p:cNvGrpSpPr>
              <p:nvPr/>
            </p:nvGrpSpPr>
            <p:grpSpPr bwMode="auto">
              <a:xfrm>
                <a:off x="3749" y="3012"/>
                <a:ext cx="271" cy="215"/>
                <a:chOff x="2535" y="2956"/>
                <a:chExt cx="271" cy="215"/>
              </a:xfrm>
            </p:grpSpPr>
            <p:sp>
              <p:nvSpPr>
                <p:cNvPr id="37915" name="Oval 155"/>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7916" name="Oval 156"/>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7912" name="Group 157"/>
              <p:cNvGrpSpPr>
                <a:grpSpLocks/>
              </p:cNvGrpSpPr>
              <p:nvPr/>
            </p:nvGrpSpPr>
            <p:grpSpPr bwMode="auto">
              <a:xfrm>
                <a:off x="4081" y="3011"/>
                <a:ext cx="271" cy="215"/>
                <a:chOff x="2535" y="2956"/>
                <a:chExt cx="271" cy="215"/>
              </a:xfrm>
            </p:grpSpPr>
            <p:sp>
              <p:nvSpPr>
                <p:cNvPr id="37913" name="Oval 158"/>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7914" name="Oval 159"/>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p:cNvSpPr>
            <a:spLocks noGrp="1"/>
          </p:cNvSpPr>
          <p:nvPr>
            <p:ph type="ftr" sz="quarter" idx="10"/>
          </p:nvPr>
        </p:nvSpPr>
        <p:spPr>
          <a:noFill/>
        </p:spPr>
        <p:txBody>
          <a:bodyPr/>
          <a:lstStyle/>
          <a:p>
            <a:r>
              <a:rPr lang="en-US"/>
              <a:t>Art of Multiprocessor Programming</a:t>
            </a:r>
          </a:p>
        </p:txBody>
      </p:sp>
      <p:sp>
        <p:nvSpPr>
          <p:cNvPr id="38915" name="Slide Number Placeholder 4"/>
          <p:cNvSpPr>
            <a:spLocks noGrp="1"/>
          </p:cNvSpPr>
          <p:nvPr>
            <p:ph type="sldNum" sz="quarter" idx="11"/>
          </p:nvPr>
        </p:nvSpPr>
        <p:spPr>
          <a:noFill/>
        </p:spPr>
        <p:txBody>
          <a:bodyPr/>
          <a:lstStyle/>
          <a:p>
            <a:fld id="{172D7274-CE35-4ACD-B817-2E97BB6D2217}" type="slidenum">
              <a:rPr lang="ar-SA" smtClean="0"/>
              <a:pPr/>
              <a:t>37</a:t>
            </a:fld>
            <a:endParaRPr lang="en-US"/>
          </a:p>
        </p:txBody>
      </p:sp>
      <p:sp>
        <p:nvSpPr>
          <p:cNvPr id="38916" name="Rectangle 74"/>
          <p:cNvSpPr>
            <a:spLocks noChangeArrowheads="1"/>
          </p:cNvSpPr>
          <p:nvPr/>
        </p:nvSpPr>
        <p:spPr bwMode="auto">
          <a:xfrm>
            <a:off x="5127625" y="1573213"/>
            <a:ext cx="3146425" cy="1979612"/>
          </a:xfrm>
          <a:prstGeom prst="rect">
            <a:avLst/>
          </a:prstGeom>
          <a:noFill/>
          <a:ln w="38100">
            <a:solidFill>
              <a:schemeClr val="bg2"/>
            </a:solidFill>
            <a:miter lim="800000"/>
            <a:headEnd/>
            <a:tailEnd/>
          </a:ln>
        </p:spPr>
        <p:txBody>
          <a:bodyPr wrap="none" anchor="ctr"/>
          <a:lstStyle/>
          <a:p>
            <a:endParaRPr lang="en-US" dirty="0">
              <a:latin typeface="Arial" pitchFamily="34" charset="0"/>
            </a:endParaRPr>
          </a:p>
        </p:txBody>
      </p:sp>
      <p:sp>
        <p:nvSpPr>
          <p:cNvPr id="38917" name="Freeform 3"/>
          <p:cNvSpPr>
            <a:spLocks/>
          </p:cNvSpPr>
          <p:nvPr/>
        </p:nvSpPr>
        <p:spPr bwMode="auto">
          <a:xfrm>
            <a:off x="4270375" y="2921000"/>
            <a:ext cx="4271963" cy="976313"/>
          </a:xfrm>
          <a:custGeom>
            <a:avLst/>
            <a:gdLst>
              <a:gd name="T0" fmla="*/ 0 w 2691"/>
              <a:gd name="T1" fmla="*/ 2147483647 h 615"/>
              <a:gd name="T2" fmla="*/ 2147483647 w 2691"/>
              <a:gd name="T3" fmla="*/ 2147483647 h 615"/>
              <a:gd name="T4" fmla="*/ 2147483647 w 2691"/>
              <a:gd name="T5" fmla="*/ 2147483647 h 615"/>
              <a:gd name="T6" fmla="*/ 0 60000 65536"/>
              <a:gd name="T7" fmla="*/ 0 60000 65536"/>
              <a:gd name="T8" fmla="*/ 0 60000 65536"/>
              <a:gd name="T9" fmla="*/ 0 w 2691"/>
              <a:gd name="T10" fmla="*/ 0 h 615"/>
              <a:gd name="T11" fmla="*/ 2691 w 2691"/>
              <a:gd name="T12" fmla="*/ 615 h 615"/>
            </a:gdLst>
            <a:ahLst/>
            <a:cxnLst>
              <a:cxn ang="T6">
                <a:pos x="T0" y="T1"/>
              </a:cxn>
              <a:cxn ang="T7">
                <a:pos x="T2" y="T3"/>
              </a:cxn>
              <a:cxn ang="T8">
                <a:pos x="T4" y="T5"/>
              </a:cxn>
            </a:cxnLst>
            <a:rect l="T9" t="T10" r="T11" b="T12"/>
            <a:pathLst>
              <a:path w="2691" h="615">
                <a:moveTo>
                  <a:pt x="0" y="379"/>
                </a:moveTo>
                <a:cubicBezTo>
                  <a:pt x="257" y="189"/>
                  <a:pt x="515" y="0"/>
                  <a:pt x="963" y="39"/>
                </a:cubicBezTo>
                <a:cubicBezTo>
                  <a:pt x="1411" y="78"/>
                  <a:pt x="2051" y="346"/>
                  <a:pt x="2691" y="615"/>
                </a:cubicBezTo>
              </a:path>
            </a:pathLst>
          </a:custGeom>
          <a:solidFill>
            <a:schemeClr val="bg1"/>
          </a:solidFill>
          <a:ln w="76200">
            <a:solidFill>
              <a:schemeClr val="bg2"/>
            </a:solidFill>
            <a:round/>
            <a:headEnd/>
            <a:tailEnd/>
          </a:ln>
        </p:spPr>
        <p:txBody>
          <a:bodyPr wrap="none" anchor="ctr"/>
          <a:lstStyle/>
          <a:p>
            <a:endParaRPr lang="en-US" dirty="0">
              <a:latin typeface="Arial" pitchFamily="34" charset="0"/>
            </a:endParaRPr>
          </a:p>
        </p:txBody>
      </p:sp>
      <p:sp>
        <p:nvSpPr>
          <p:cNvPr id="38918" name="Freeform 4"/>
          <p:cNvSpPr>
            <a:spLocks/>
          </p:cNvSpPr>
          <p:nvPr/>
        </p:nvSpPr>
        <p:spPr bwMode="auto">
          <a:xfrm>
            <a:off x="4676775" y="3073400"/>
            <a:ext cx="1828800" cy="914400"/>
          </a:xfrm>
          <a:custGeom>
            <a:avLst/>
            <a:gdLst>
              <a:gd name="T0" fmla="*/ 0 w 1152"/>
              <a:gd name="T1" fmla="*/ 2147483647 h 576"/>
              <a:gd name="T2" fmla="*/ 2147483647 w 1152"/>
              <a:gd name="T3" fmla="*/ 2147483647 h 576"/>
              <a:gd name="T4" fmla="*/ 2147483647 w 1152"/>
              <a:gd name="T5" fmla="*/ 0 h 576"/>
              <a:gd name="T6" fmla="*/ 2147483647 w 1152"/>
              <a:gd name="T7" fmla="*/ 2147483647 h 576"/>
              <a:gd name="T8" fmla="*/ 2147483647 w 1152"/>
              <a:gd name="T9" fmla="*/ 2147483647 h 576"/>
              <a:gd name="T10" fmla="*/ 2147483647 w 1152"/>
              <a:gd name="T11" fmla="*/ 2147483647 h 576"/>
              <a:gd name="T12" fmla="*/ 0 60000 65536"/>
              <a:gd name="T13" fmla="*/ 0 60000 65536"/>
              <a:gd name="T14" fmla="*/ 0 60000 65536"/>
              <a:gd name="T15" fmla="*/ 0 60000 65536"/>
              <a:gd name="T16" fmla="*/ 0 60000 65536"/>
              <a:gd name="T17" fmla="*/ 0 60000 65536"/>
              <a:gd name="T18" fmla="*/ 0 w 1152"/>
              <a:gd name="T19" fmla="*/ 0 h 576"/>
              <a:gd name="T20" fmla="*/ 1152 w 115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152" h="576">
                <a:moveTo>
                  <a:pt x="0" y="444"/>
                </a:moveTo>
                <a:lnTo>
                  <a:pt x="321" y="236"/>
                </a:lnTo>
                <a:lnTo>
                  <a:pt x="1029" y="0"/>
                </a:lnTo>
                <a:lnTo>
                  <a:pt x="1152" y="66"/>
                </a:lnTo>
                <a:lnTo>
                  <a:pt x="501" y="377"/>
                </a:lnTo>
                <a:lnTo>
                  <a:pt x="170" y="576"/>
                </a:lnTo>
              </a:path>
            </a:pathLst>
          </a:custGeom>
          <a:solidFill>
            <a:schemeClr val="folHlink"/>
          </a:solidFill>
          <a:ln w="9525">
            <a:solidFill>
              <a:schemeClr val="bg2"/>
            </a:solidFill>
            <a:round/>
            <a:headEnd/>
            <a:tailEnd type="triangle" w="med" len="med"/>
          </a:ln>
        </p:spPr>
        <p:txBody>
          <a:bodyPr wrap="none" anchor="ctr"/>
          <a:lstStyle/>
          <a:p>
            <a:endParaRPr lang="en-US" dirty="0">
              <a:latin typeface="Arial" pitchFamily="34" charset="0"/>
            </a:endParaRPr>
          </a:p>
        </p:txBody>
      </p:sp>
      <p:sp>
        <p:nvSpPr>
          <p:cNvPr id="38919" name="Freeform 5"/>
          <p:cNvSpPr>
            <a:spLocks/>
          </p:cNvSpPr>
          <p:nvPr/>
        </p:nvSpPr>
        <p:spPr bwMode="auto">
          <a:xfrm>
            <a:off x="4675188" y="3143250"/>
            <a:ext cx="1617662" cy="884238"/>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solidFill>
            <a:schemeClr val="folHlink"/>
          </a:solidFill>
          <a:ln w="76200">
            <a:solidFill>
              <a:schemeClr val="bg2"/>
            </a:solidFill>
            <a:round/>
            <a:headEnd/>
            <a:tailEnd/>
          </a:ln>
        </p:spPr>
        <p:txBody>
          <a:bodyPr wrap="none" anchor="ctr"/>
          <a:lstStyle/>
          <a:p>
            <a:endParaRPr lang="en-US" dirty="0">
              <a:latin typeface="Arial" pitchFamily="34" charset="0"/>
            </a:endParaRPr>
          </a:p>
        </p:txBody>
      </p:sp>
      <p:sp>
        <p:nvSpPr>
          <p:cNvPr id="38920" name="Rectangle 6"/>
          <p:cNvSpPr>
            <a:spLocks noGrp="1" noChangeArrowheads="1"/>
          </p:cNvSpPr>
          <p:nvPr>
            <p:ph type="title"/>
          </p:nvPr>
        </p:nvSpPr>
        <p:spPr/>
        <p:txBody>
          <a:bodyPr/>
          <a:lstStyle/>
          <a:p>
            <a:r>
              <a:rPr lang="en-US"/>
              <a:t>L1 and L2 Caches</a:t>
            </a:r>
          </a:p>
        </p:txBody>
      </p:sp>
      <p:grpSp>
        <p:nvGrpSpPr>
          <p:cNvPr id="38921" name="Group 7"/>
          <p:cNvGrpSpPr>
            <a:grpSpLocks/>
          </p:cNvGrpSpPr>
          <p:nvPr/>
        </p:nvGrpSpPr>
        <p:grpSpPr bwMode="auto">
          <a:xfrm flipH="1">
            <a:off x="1477963" y="4859338"/>
            <a:ext cx="1447800" cy="1295400"/>
            <a:chOff x="3168" y="1824"/>
            <a:chExt cx="912" cy="816"/>
          </a:xfrm>
        </p:grpSpPr>
        <p:sp>
          <p:nvSpPr>
            <p:cNvPr id="38966" name="Freeform 8"/>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sp>
          <p:nvSpPr>
            <p:cNvPr id="38967" name="Freeform 9"/>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sp>
          <p:nvSpPr>
            <p:cNvPr id="38968" name="Freeform 10"/>
            <p:cNvSpPr>
              <a:spLocks/>
            </p:cNvSpPr>
            <p:nvPr/>
          </p:nvSpPr>
          <p:spPr bwMode="auto">
            <a:xfrm>
              <a:off x="3504" y="1824"/>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sp>
          <p:nvSpPr>
            <p:cNvPr id="38969" name="Freeform 11"/>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38970" name="Freeform 12"/>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38971" name="Freeform 13"/>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38972" name="Freeform 14"/>
            <p:cNvSpPr>
              <a:spLocks/>
            </p:cNvSpPr>
            <p:nvPr/>
          </p:nvSpPr>
          <p:spPr bwMode="auto">
            <a:xfrm>
              <a:off x="3504" y="2304"/>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sp>
          <p:nvSpPr>
            <p:cNvPr id="38973" name="Freeform 15"/>
            <p:cNvSpPr>
              <a:spLocks/>
            </p:cNvSpPr>
            <p:nvPr/>
          </p:nvSpPr>
          <p:spPr bwMode="auto">
            <a:xfrm>
              <a:off x="3312" y="2160"/>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sp>
          <p:nvSpPr>
            <p:cNvPr id="38974" name="Freeform 16"/>
            <p:cNvSpPr>
              <a:spLocks/>
            </p:cNvSpPr>
            <p:nvPr/>
          </p:nvSpPr>
          <p:spPr bwMode="auto">
            <a:xfrm>
              <a:off x="3168" y="2016"/>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grpSp>
      <p:sp>
        <p:nvSpPr>
          <p:cNvPr id="38922" name="Freeform 17"/>
          <p:cNvSpPr>
            <a:spLocks/>
          </p:cNvSpPr>
          <p:nvPr/>
        </p:nvSpPr>
        <p:spPr bwMode="auto">
          <a:xfrm>
            <a:off x="1409700" y="2838450"/>
            <a:ext cx="3702050" cy="1268413"/>
          </a:xfrm>
          <a:custGeom>
            <a:avLst/>
            <a:gdLst>
              <a:gd name="T0" fmla="*/ 0 w 2332"/>
              <a:gd name="T1" fmla="*/ 2147483647 h 799"/>
              <a:gd name="T2" fmla="*/ 2147483647 w 2332"/>
              <a:gd name="T3" fmla="*/ 2147483647 h 799"/>
              <a:gd name="T4" fmla="*/ 2147483647 w 2332"/>
              <a:gd name="T5" fmla="*/ 2147483647 h 799"/>
              <a:gd name="T6" fmla="*/ 0 60000 65536"/>
              <a:gd name="T7" fmla="*/ 0 60000 65536"/>
              <a:gd name="T8" fmla="*/ 0 60000 65536"/>
              <a:gd name="T9" fmla="*/ 0 w 2332"/>
              <a:gd name="T10" fmla="*/ 0 h 799"/>
              <a:gd name="T11" fmla="*/ 2332 w 2332"/>
              <a:gd name="T12" fmla="*/ 799 h 799"/>
            </a:gdLst>
            <a:ahLst/>
            <a:cxnLst>
              <a:cxn ang="T6">
                <a:pos x="T0" y="T1"/>
              </a:cxn>
              <a:cxn ang="T7">
                <a:pos x="T2" y="T3"/>
              </a:cxn>
              <a:cxn ang="T8">
                <a:pos x="T4" y="T5"/>
              </a:cxn>
            </a:cxnLst>
            <a:rect l="T9" t="T10" r="T11" b="T12"/>
            <a:pathLst>
              <a:path w="2332" h="799">
                <a:moveTo>
                  <a:pt x="0" y="478"/>
                </a:moveTo>
                <a:cubicBezTo>
                  <a:pt x="291" y="239"/>
                  <a:pt x="583" y="0"/>
                  <a:pt x="972" y="53"/>
                </a:cubicBezTo>
                <a:cubicBezTo>
                  <a:pt x="1361" y="106"/>
                  <a:pt x="2104" y="675"/>
                  <a:pt x="2332" y="799"/>
                </a:cubicBezTo>
              </a:path>
            </a:pathLst>
          </a:custGeom>
          <a:solidFill>
            <a:schemeClr val="bg1"/>
          </a:solidFill>
          <a:ln w="76200">
            <a:solidFill>
              <a:schemeClr val="bg2"/>
            </a:solidFill>
            <a:round/>
            <a:headEnd/>
            <a:tailEnd/>
          </a:ln>
        </p:spPr>
        <p:txBody>
          <a:bodyPr wrap="none" anchor="ctr"/>
          <a:lstStyle/>
          <a:p>
            <a:endParaRPr lang="en-US" dirty="0">
              <a:latin typeface="Arial" pitchFamily="34" charset="0"/>
            </a:endParaRPr>
          </a:p>
        </p:txBody>
      </p:sp>
      <p:sp>
        <p:nvSpPr>
          <p:cNvPr id="38923" name="Freeform 18"/>
          <p:cNvSpPr>
            <a:spLocks/>
          </p:cNvSpPr>
          <p:nvPr/>
        </p:nvSpPr>
        <p:spPr bwMode="auto">
          <a:xfrm>
            <a:off x="2517775" y="3357563"/>
            <a:ext cx="1770063" cy="1544637"/>
          </a:xfrm>
          <a:custGeom>
            <a:avLst/>
            <a:gdLst>
              <a:gd name="T0" fmla="*/ 0 w 1115"/>
              <a:gd name="T1" fmla="*/ 2147483647 h 973"/>
              <a:gd name="T2" fmla="*/ 2147483647 w 1115"/>
              <a:gd name="T3" fmla="*/ 2147483647 h 973"/>
              <a:gd name="T4" fmla="*/ 2147483647 w 1115"/>
              <a:gd name="T5" fmla="*/ 0 h 973"/>
              <a:gd name="T6" fmla="*/ 2147483647 w 1115"/>
              <a:gd name="T7" fmla="*/ 2147483647 h 973"/>
              <a:gd name="T8" fmla="*/ 2147483647 w 1115"/>
              <a:gd name="T9" fmla="*/ 2147483647 h 973"/>
              <a:gd name="T10" fmla="*/ 2147483647 w 1115"/>
              <a:gd name="T11" fmla="*/ 2147483647 h 973"/>
              <a:gd name="T12" fmla="*/ 0 60000 65536"/>
              <a:gd name="T13" fmla="*/ 0 60000 65536"/>
              <a:gd name="T14" fmla="*/ 0 60000 65536"/>
              <a:gd name="T15" fmla="*/ 0 60000 65536"/>
              <a:gd name="T16" fmla="*/ 0 60000 65536"/>
              <a:gd name="T17" fmla="*/ 0 60000 65536"/>
              <a:gd name="T18" fmla="*/ 0 w 1115"/>
              <a:gd name="T19" fmla="*/ 0 h 973"/>
              <a:gd name="T20" fmla="*/ 1115 w 1115"/>
              <a:gd name="T21" fmla="*/ 973 h 973"/>
            </a:gdLst>
            <a:ahLst/>
            <a:cxnLst>
              <a:cxn ang="T12">
                <a:pos x="T0" y="T1"/>
              </a:cxn>
              <a:cxn ang="T13">
                <a:pos x="T2" y="T3"/>
              </a:cxn>
              <a:cxn ang="T14">
                <a:pos x="T4" y="T5"/>
              </a:cxn>
              <a:cxn ang="T15">
                <a:pos x="T6" y="T7"/>
              </a:cxn>
              <a:cxn ang="T16">
                <a:pos x="T8" y="T9"/>
              </a:cxn>
              <a:cxn ang="T17">
                <a:pos x="T10" y="T11"/>
              </a:cxn>
            </a:cxnLst>
            <a:rect l="T18" t="T19" r="T20" b="T21"/>
            <a:pathLst>
              <a:path w="1115" h="973">
                <a:moveTo>
                  <a:pt x="0" y="812"/>
                </a:moveTo>
                <a:lnTo>
                  <a:pt x="312" y="321"/>
                </a:lnTo>
                <a:lnTo>
                  <a:pt x="879" y="0"/>
                </a:lnTo>
                <a:lnTo>
                  <a:pt x="1115" y="161"/>
                </a:lnTo>
                <a:lnTo>
                  <a:pt x="557" y="510"/>
                </a:lnTo>
                <a:lnTo>
                  <a:pt x="369" y="973"/>
                </a:lnTo>
              </a:path>
            </a:pathLst>
          </a:custGeom>
          <a:solidFill>
            <a:schemeClr val="folHlink"/>
          </a:solidFill>
          <a:ln w="9525">
            <a:solidFill>
              <a:schemeClr val="bg2"/>
            </a:solidFill>
            <a:round/>
            <a:headEnd/>
            <a:tailEnd/>
          </a:ln>
        </p:spPr>
        <p:txBody>
          <a:bodyPr wrap="none" anchor="ctr"/>
          <a:lstStyle/>
          <a:p>
            <a:endParaRPr lang="en-US" dirty="0">
              <a:latin typeface="Arial" pitchFamily="34" charset="0"/>
            </a:endParaRPr>
          </a:p>
        </p:txBody>
      </p:sp>
      <p:sp>
        <p:nvSpPr>
          <p:cNvPr id="38924" name="Freeform 19"/>
          <p:cNvSpPr>
            <a:spLocks/>
          </p:cNvSpPr>
          <p:nvPr/>
        </p:nvSpPr>
        <p:spPr bwMode="auto">
          <a:xfrm>
            <a:off x="3373438" y="4376738"/>
            <a:ext cx="1617662" cy="884237"/>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sp>
        <p:nvSpPr>
          <p:cNvPr id="38925" name="Text Box 20"/>
          <p:cNvSpPr txBox="1">
            <a:spLocks noChangeArrowheads="1"/>
          </p:cNvSpPr>
          <p:nvPr/>
        </p:nvSpPr>
        <p:spPr bwMode="auto">
          <a:xfrm>
            <a:off x="3911600" y="5394325"/>
            <a:ext cx="543739" cy="461665"/>
          </a:xfrm>
          <a:prstGeom prst="rect">
            <a:avLst/>
          </a:prstGeom>
          <a:noFill/>
          <a:ln w="9525">
            <a:noFill/>
            <a:miter lim="800000"/>
            <a:headEnd/>
            <a:tailEnd/>
          </a:ln>
        </p:spPr>
        <p:txBody>
          <a:bodyPr wrap="none">
            <a:spAutoFit/>
          </a:bodyPr>
          <a:lstStyle/>
          <a:p>
            <a:r>
              <a:rPr lang="en-US" sz="2400" dirty="0">
                <a:solidFill>
                  <a:srgbClr val="FF3300"/>
                </a:solidFill>
                <a:latin typeface="Arial" pitchFamily="34" charset="0"/>
              </a:rPr>
              <a:t>L1</a:t>
            </a:r>
          </a:p>
        </p:txBody>
      </p:sp>
      <p:sp>
        <p:nvSpPr>
          <p:cNvPr id="38926" name="Text Box 31"/>
          <p:cNvSpPr txBox="1">
            <a:spLocks noChangeArrowheads="1"/>
          </p:cNvSpPr>
          <p:nvPr/>
        </p:nvSpPr>
        <p:spPr bwMode="auto">
          <a:xfrm>
            <a:off x="5308600" y="4154488"/>
            <a:ext cx="543739" cy="461665"/>
          </a:xfrm>
          <a:prstGeom prst="rect">
            <a:avLst/>
          </a:prstGeom>
          <a:noFill/>
          <a:ln w="9525">
            <a:noFill/>
            <a:miter lim="800000"/>
            <a:headEnd/>
            <a:tailEnd/>
          </a:ln>
        </p:spPr>
        <p:txBody>
          <a:bodyPr wrap="none">
            <a:spAutoFit/>
          </a:bodyPr>
          <a:lstStyle/>
          <a:p>
            <a:r>
              <a:rPr lang="en-US" sz="2400" dirty="0">
                <a:solidFill>
                  <a:schemeClr val="bg2"/>
                </a:solidFill>
                <a:latin typeface="Arial" pitchFamily="34" charset="0"/>
              </a:rPr>
              <a:t>L2</a:t>
            </a:r>
          </a:p>
        </p:txBody>
      </p:sp>
      <p:sp>
        <p:nvSpPr>
          <p:cNvPr id="38927" name="AutoShape 72"/>
          <p:cNvSpPr>
            <a:spLocks noChangeArrowheads="1"/>
          </p:cNvSpPr>
          <p:nvPr/>
        </p:nvSpPr>
        <p:spPr bwMode="auto">
          <a:xfrm>
            <a:off x="2922588" y="4205288"/>
            <a:ext cx="2668587" cy="1752600"/>
          </a:xfrm>
          <a:prstGeom prst="wedgeRoundRectCallout">
            <a:avLst>
              <a:gd name="adj1" fmla="val 75880"/>
              <a:gd name="adj2" fmla="val 16940"/>
              <a:gd name="adj3" fmla="val 16667"/>
            </a:avLst>
          </a:prstGeom>
          <a:noFill/>
          <a:ln w="38100">
            <a:solidFill>
              <a:schemeClr val="accent2"/>
            </a:solidFill>
            <a:miter lim="800000"/>
            <a:headEnd/>
            <a:tailEnd/>
          </a:ln>
        </p:spPr>
        <p:txBody>
          <a:bodyPr anchor="ctr"/>
          <a:lstStyle/>
          <a:p>
            <a:pPr algn="ctr"/>
            <a:endParaRPr lang="en-US" dirty="0">
              <a:latin typeface="Arial" pitchFamily="34" charset="0"/>
            </a:endParaRPr>
          </a:p>
        </p:txBody>
      </p:sp>
      <p:sp>
        <p:nvSpPr>
          <p:cNvPr id="38928" name="Text Box 73"/>
          <p:cNvSpPr txBox="1">
            <a:spLocks noChangeArrowheads="1"/>
          </p:cNvSpPr>
          <p:nvPr/>
        </p:nvSpPr>
        <p:spPr bwMode="auto">
          <a:xfrm>
            <a:off x="6234113" y="4818063"/>
            <a:ext cx="2343911" cy="954107"/>
          </a:xfrm>
          <a:prstGeom prst="rect">
            <a:avLst/>
          </a:prstGeom>
          <a:noFill/>
          <a:ln w="9525">
            <a:noFill/>
            <a:miter lim="800000"/>
            <a:headEnd/>
            <a:tailEnd/>
          </a:ln>
        </p:spPr>
        <p:txBody>
          <a:bodyPr wrap="none">
            <a:spAutoFit/>
          </a:bodyPr>
          <a:lstStyle/>
          <a:p>
            <a:r>
              <a:rPr lang="en-US" sz="2800" dirty="0">
                <a:solidFill>
                  <a:schemeClr val="tx1"/>
                </a:solidFill>
                <a:latin typeface="Arial" pitchFamily="34" charset="0"/>
              </a:rPr>
              <a:t>Small &amp; fast</a:t>
            </a:r>
          </a:p>
          <a:p>
            <a:r>
              <a:rPr lang="en-US" sz="2800" dirty="0">
                <a:solidFill>
                  <a:schemeClr val="tx1"/>
                </a:solidFill>
                <a:latin typeface="Arial" pitchFamily="34" charset="0"/>
              </a:rPr>
              <a:t>1 or 2 cycles</a:t>
            </a:r>
          </a:p>
        </p:txBody>
      </p:sp>
      <p:grpSp>
        <p:nvGrpSpPr>
          <p:cNvPr id="38929" name="Group 111"/>
          <p:cNvGrpSpPr>
            <a:grpSpLocks/>
          </p:cNvGrpSpPr>
          <p:nvPr/>
        </p:nvGrpSpPr>
        <p:grpSpPr bwMode="auto">
          <a:xfrm>
            <a:off x="3871913" y="4540250"/>
            <a:ext cx="430212" cy="341313"/>
            <a:chOff x="2439" y="2860"/>
            <a:chExt cx="271" cy="215"/>
          </a:xfrm>
        </p:grpSpPr>
        <p:sp>
          <p:nvSpPr>
            <p:cNvPr id="38964" name="Oval 75"/>
            <p:cNvSpPr>
              <a:spLocks noChangeArrowheads="1"/>
            </p:cNvSpPr>
            <p:nvPr/>
          </p:nvSpPr>
          <p:spPr bwMode="auto">
            <a:xfrm>
              <a:off x="2439" y="2860"/>
              <a:ext cx="271" cy="215"/>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38965" name="Oval 76"/>
            <p:cNvSpPr>
              <a:spLocks noChangeArrowheads="1"/>
            </p:cNvSpPr>
            <p:nvPr/>
          </p:nvSpPr>
          <p:spPr bwMode="auto">
            <a:xfrm>
              <a:off x="2593" y="28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8930" name="Group 110"/>
          <p:cNvGrpSpPr>
            <a:grpSpLocks/>
          </p:cNvGrpSpPr>
          <p:nvPr/>
        </p:nvGrpSpPr>
        <p:grpSpPr bwMode="auto">
          <a:xfrm>
            <a:off x="4024313" y="4692650"/>
            <a:ext cx="430212" cy="341313"/>
            <a:chOff x="2535" y="2956"/>
            <a:chExt cx="271" cy="215"/>
          </a:xfrm>
        </p:grpSpPr>
        <p:sp>
          <p:nvSpPr>
            <p:cNvPr id="38962" name="Oval 77"/>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8963" name="Oval 78"/>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8931" name="Group 79"/>
          <p:cNvGrpSpPr>
            <a:grpSpLocks/>
          </p:cNvGrpSpPr>
          <p:nvPr/>
        </p:nvGrpSpPr>
        <p:grpSpPr bwMode="auto">
          <a:xfrm>
            <a:off x="4856163" y="3336925"/>
            <a:ext cx="1428750" cy="517525"/>
            <a:chOff x="3417" y="3011"/>
            <a:chExt cx="1127" cy="408"/>
          </a:xfrm>
        </p:grpSpPr>
        <p:grpSp>
          <p:nvGrpSpPr>
            <p:cNvPr id="38932" name="Group 80"/>
            <p:cNvGrpSpPr>
              <a:grpSpLocks/>
            </p:cNvGrpSpPr>
            <p:nvPr/>
          </p:nvGrpSpPr>
          <p:grpSpPr bwMode="auto">
            <a:xfrm>
              <a:off x="3417" y="3011"/>
              <a:ext cx="935" cy="216"/>
              <a:chOff x="3417" y="3011"/>
              <a:chExt cx="935" cy="216"/>
            </a:xfrm>
          </p:grpSpPr>
          <p:grpSp>
            <p:nvGrpSpPr>
              <p:cNvPr id="38953" name="Group 81"/>
              <p:cNvGrpSpPr>
                <a:grpSpLocks/>
              </p:cNvGrpSpPr>
              <p:nvPr/>
            </p:nvGrpSpPr>
            <p:grpSpPr bwMode="auto">
              <a:xfrm>
                <a:off x="3417" y="3012"/>
                <a:ext cx="271" cy="215"/>
                <a:chOff x="2535" y="2956"/>
                <a:chExt cx="271" cy="215"/>
              </a:xfrm>
            </p:grpSpPr>
            <p:sp>
              <p:nvSpPr>
                <p:cNvPr id="38960" name="Oval 82"/>
                <p:cNvSpPr>
                  <a:spLocks noChangeArrowheads="1"/>
                </p:cNvSpPr>
                <p:nvPr/>
              </p:nvSpPr>
              <p:spPr bwMode="auto">
                <a:xfrm>
                  <a:off x="2535" y="2956"/>
                  <a:ext cx="271" cy="215"/>
                </a:xfrm>
                <a:prstGeom prst="ellipse">
                  <a:avLst/>
                </a:prstGeom>
                <a:solidFill>
                  <a:schemeClr val="bg2"/>
                </a:solidFill>
                <a:ln w="38100">
                  <a:solidFill>
                    <a:schemeClr val="tx1"/>
                  </a:solidFill>
                  <a:round/>
                  <a:headEnd/>
                  <a:tailEnd/>
                </a:ln>
              </p:spPr>
              <p:txBody>
                <a:bodyPr wrap="none" anchor="ctr"/>
                <a:lstStyle/>
                <a:p>
                  <a:endParaRPr lang="en-US" dirty="0">
                    <a:latin typeface="Arial" pitchFamily="34" charset="0"/>
                  </a:endParaRPr>
                </a:p>
              </p:txBody>
            </p:sp>
            <p:sp>
              <p:nvSpPr>
                <p:cNvPr id="38961" name="Oval 83"/>
                <p:cNvSpPr>
                  <a:spLocks noChangeArrowheads="1"/>
                </p:cNvSpPr>
                <p:nvPr/>
              </p:nvSpPr>
              <p:spPr bwMode="auto">
                <a:xfrm>
                  <a:off x="2689" y="2994"/>
                  <a:ext cx="71" cy="60"/>
                </a:xfrm>
                <a:prstGeom prst="ellipse">
                  <a:avLst/>
                </a:prstGeom>
                <a:solidFill>
                  <a:schemeClr val="bg2"/>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8954" name="Group 84"/>
              <p:cNvGrpSpPr>
                <a:grpSpLocks/>
              </p:cNvGrpSpPr>
              <p:nvPr/>
            </p:nvGrpSpPr>
            <p:grpSpPr bwMode="auto">
              <a:xfrm>
                <a:off x="3749" y="3012"/>
                <a:ext cx="271" cy="215"/>
                <a:chOff x="2535" y="2956"/>
                <a:chExt cx="271" cy="215"/>
              </a:xfrm>
            </p:grpSpPr>
            <p:sp>
              <p:nvSpPr>
                <p:cNvPr id="38958" name="Oval 85"/>
                <p:cNvSpPr>
                  <a:spLocks noChangeArrowheads="1"/>
                </p:cNvSpPr>
                <p:nvPr/>
              </p:nvSpPr>
              <p:spPr bwMode="auto">
                <a:xfrm>
                  <a:off x="2535" y="2956"/>
                  <a:ext cx="271" cy="215"/>
                </a:xfrm>
                <a:prstGeom prst="ellipse">
                  <a:avLst/>
                </a:prstGeom>
                <a:solidFill>
                  <a:schemeClr val="bg2"/>
                </a:solidFill>
                <a:ln w="38100">
                  <a:solidFill>
                    <a:schemeClr val="tx1"/>
                  </a:solidFill>
                  <a:round/>
                  <a:headEnd/>
                  <a:tailEnd/>
                </a:ln>
              </p:spPr>
              <p:txBody>
                <a:bodyPr wrap="none" anchor="ctr"/>
                <a:lstStyle/>
                <a:p>
                  <a:endParaRPr lang="en-US" dirty="0">
                    <a:latin typeface="Arial" pitchFamily="34" charset="0"/>
                  </a:endParaRPr>
                </a:p>
              </p:txBody>
            </p:sp>
            <p:sp>
              <p:nvSpPr>
                <p:cNvPr id="38959" name="Oval 86"/>
                <p:cNvSpPr>
                  <a:spLocks noChangeArrowheads="1"/>
                </p:cNvSpPr>
                <p:nvPr/>
              </p:nvSpPr>
              <p:spPr bwMode="auto">
                <a:xfrm>
                  <a:off x="2689" y="2994"/>
                  <a:ext cx="71" cy="60"/>
                </a:xfrm>
                <a:prstGeom prst="ellipse">
                  <a:avLst/>
                </a:prstGeom>
                <a:solidFill>
                  <a:schemeClr val="bg2"/>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8955" name="Group 87"/>
              <p:cNvGrpSpPr>
                <a:grpSpLocks/>
              </p:cNvGrpSpPr>
              <p:nvPr/>
            </p:nvGrpSpPr>
            <p:grpSpPr bwMode="auto">
              <a:xfrm>
                <a:off x="4081" y="3011"/>
                <a:ext cx="271" cy="215"/>
                <a:chOff x="2535" y="2956"/>
                <a:chExt cx="271" cy="215"/>
              </a:xfrm>
            </p:grpSpPr>
            <p:sp>
              <p:nvSpPr>
                <p:cNvPr id="38956" name="Oval 88"/>
                <p:cNvSpPr>
                  <a:spLocks noChangeArrowheads="1"/>
                </p:cNvSpPr>
                <p:nvPr/>
              </p:nvSpPr>
              <p:spPr bwMode="auto">
                <a:xfrm>
                  <a:off x="2535" y="2956"/>
                  <a:ext cx="271" cy="215"/>
                </a:xfrm>
                <a:prstGeom prst="ellipse">
                  <a:avLst/>
                </a:prstGeom>
                <a:solidFill>
                  <a:schemeClr val="bg2"/>
                </a:solidFill>
                <a:ln w="38100">
                  <a:solidFill>
                    <a:schemeClr val="tx1"/>
                  </a:solidFill>
                  <a:round/>
                  <a:headEnd/>
                  <a:tailEnd/>
                </a:ln>
              </p:spPr>
              <p:txBody>
                <a:bodyPr wrap="none" anchor="ctr"/>
                <a:lstStyle/>
                <a:p>
                  <a:endParaRPr lang="en-US" dirty="0">
                    <a:latin typeface="Arial" pitchFamily="34" charset="0"/>
                  </a:endParaRPr>
                </a:p>
              </p:txBody>
            </p:sp>
            <p:sp>
              <p:nvSpPr>
                <p:cNvPr id="38957" name="Oval 89"/>
                <p:cNvSpPr>
                  <a:spLocks noChangeArrowheads="1"/>
                </p:cNvSpPr>
                <p:nvPr/>
              </p:nvSpPr>
              <p:spPr bwMode="auto">
                <a:xfrm>
                  <a:off x="2689" y="2994"/>
                  <a:ext cx="71" cy="60"/>
                </a:xfrm>
                <a:prstGeom prst="ellipse">
                  <a:avLst/>
                </a:prstGeom>
                <a:solidFill>
                  <a:schemeClr val="bg2"/>
                </a:solidFill>
                <a:ln w="19050">
                  <a:solidFill>
                    <a:schemeClr val="tx1"/>
                  </a:solidFill>
                  <a:round/>
                  <a:headEnd/>
                  <a:tailEnd/>
                </a:ln>
              </p:spPr>
              <p:txBody>
                <a:bodyPr wrap="none" anchor="ctr"/>
                <a:lstStyle/>
                <a:p>
                  <a:endParaRPr lang="en-US" dirty="0">
                    <a:latin typeface="Arial" pitchFamily="34" charset="0"/>
                  </a:endParaRPr>
                </a:p>
              </p:txBody>
            </p:sp>
          </p:grpSp>
        </p:grpSp>
        <p:grpSp>
          <p:nvGrpSpPr>
            <p:cNvPr id="38933" name="Group 90"/>
            <p:cNvGrpSpPr>
              <a:grpSpLocks/>
            </p:cNvGrpSpPr>
            <p:nvPr/>
          </p:nvGrpSpPr>
          <p:grpSpPr bwMode="auto">
            <a:xfrm>
              <a:off x="3513" y="3107"/>
              <a:ext cx="935" cy="216"/>
              <a:chOff x="3417" y="3011"/>
              <a:chExt cx="935" cy="216"/>
            </a:xfrm>
          </p:grpSpPr>
          <p:grpSp>
            <p:nvGrpSpPr>
              <p:cNvPr id="38944" name="Group 91"/>
              <p:cNvGrpSpPr>
                <a:grpSpLocks/>
              </p:cNvGrpSpPr>
              <p:nvPr/>
            </p:nvGrpSpPr>
            <p:grpSpPr bwMode="auto">
              <a:xfrm>
                <a:off x="3417" y="3012"/>
                <a:ext cx="271" cy="215"/>
                <a:chOff x="2535" y="2956"/>
                <a:chExt cx="271" cy="215"/>
              </a:xfrm>
            </p:grpSpPr>
            <p:sp>
              <p:nvSpPr>
                <p:cNvPr id="38951" name="Oval 92"/>
                <p:cNvSpPr>
                  <a:spLocks noChangeArrowheads="1"/>
                </p:cNvSpPr>
                <p:nvPr/>
              </p:nvSpPr>
              <p:spPr bwMode="auto">
                <a:xfrm>
                  <a:off x="2535" y="2956"/>
                  <a:ext cx="271" cy="215"/>
                </a:xfrm>
                <a:prstGeom prst="ellipse">
                  <a:avLst/>
                </a:prstGeom>
                <a:solidFill>
                  <a:schemeClr val="bg2"/>
                </a:solidFill>
                <a:ln w="38100">
                  <a:solidFill>
                    <a:schemeClr val="tx1"/>
                  </a:solidFill>
                  <a:round/>
                  <a:headEnd/>
                  <a:tailEnd/>
                </a:ln>
              </p:spPr>
              <p:txBody>
                <a:bodyPr wrap="none" anchor="ctr"/>
                <a:lstStyle/>
                <a:p>
                  <a:endParaRPr lang="en-US" dirty="0">
                    <a:latin typeface="Arial" pitchFamily="34" charset="0"/>
                  </a:endParaRPr>
                </a:p>
              </p:txBody>
            </p:sp>
            <p:sp>
              <p:nvSpPr>
                <p:cNvPr id="38952" name="Oval 93"/>
                <p:cNvSpPr>
                  <a:spLocks noChangeArrowheads="1"/>
                </p:cNvSpPr>
                <p:nvPr/>
              </p:nvSpPr>
              <p:spPr bwMode="auto">
                <a:xfrm>
                  <a:off x="2689" y="2994"/>
                  <a:ext cx="71" cy="60"/>
                </a:xfrm>
                <a:prstGeom prst="ellipse">
                  <a:avLst/>
                </a:prstGeom>
                <a:solidFill>
                  <a:schemeClr val="bg2"/>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8945" name="Group 94"/>
              <p:cNvGrpSpPr>
                <a:grpSpLocks/>
              </p:cNvGrpSpPr>
              <p:nvPr/>
            </p:nvGrpSpPr>
            <p:grpSpPr bwMode="auto">
              <a:xfrm>
                <a:off x="3749" y="3012"/>
                <a:ext cx="271" cy="215"/>
                <a:chOff x="2535" y="2956"/>
                <a:chExt cx="271" cy="215"/>
              </a:xfrm>
            </p:grpSpPr>
            <p:sp>
              <p:nvSpPr>
                <p:cNvPr id="38949" name="Oval 95"/>
                <p:cNvSpPr>
                  <a:spLocks noChangeArrowheads="1"/>
                </p:cNvSpPr>
                <p:nvPr/>
              </p:nvSpPr>
              <p:spPr bwMode="auto">
                <a:xfrm>
                  <a:off x="2535" y="2956"/>
                  <a:ext cx="271" cy="215"/>
                </a:xfrm>
                <a:prstGeom prst="ellipse">
                  <a:avLst/>
                </a:prstGeom>
                <a:solidFill>
                  <a:schemeClr val="bg2"/>
                </a:solidFill>
                <a:ln w="38100">
                  <a:solidFill>
                    <a:schemeClr val="tx1"/>
                  </a:solidFill>
                  <a:round/>
                  <a:headEnd/>
                  <a:tailEnd/>
                </a:ln>
              </p:spPr>
              <p:txBody>
                <a:bodyPr wrap="none" anchor="ctr"/>
                <a:lstStyle/>
                <a:p>
                  <a:endParaRPr lang="en-US" dirty="0">
                    <a:latin typeface="Arial" pitchFamily="34" charset="0"/>
                  </a:endParaRPr>
                </a:p>
              </p:txBody>
            </p:sp>
            <p:sp>
              <p:nvSpPr>
                <p:cNvPr id="38950" name="Oval 96"/>
                <p:cNvSpPr>
                  <a:spLocks noChangeArrowheads="1"/>
                </p:cNvSpPr>
                <p:nvPr/>
              </p:nvSpPr>
              <p:spPr bwMode="auto">
                <a:xfrm>
                  <a:off x="2689" y="2994"/>
                  <a:ext cx="71" cy="60"/>
                </a:xfrm>
                <a:prstGeom prst="ellipse">
                  <a:avLst/>
                </a:prstGeom>
                <a:solidFill>
                  <a:schemeClr val="bg2"/>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8946" name="Group 97"/>
              <p:cNvGrpSpPr>
                <a:grpSpLocks/>
              </p:cNvGrpSpPr>
              <p:nvPr/>
            </p:nvGrpSpPr>
            <p:grpSpPr bwMode="auto">
              <a:xfrm>
                <a:off x="4081" y="3011"/>
                <a:ext cx="271" cy="215"/>
                <a:chOff x="2535" y="2956"/>
                <a:chExt cx="271" cy="215"/>
              </a:xfrm>
            </p:grpSpPr>
            <p:sp>
              <p:nvSpPr>
                <p:cNvPr id="38947" name="Oval 98"/>
                <p:cNvSpPr>
                  <a:spLocks noChangeArrowheads="1"/>
                </p:cNvSpPr>
                <p:nvPr/>
              </p:nvSpPr>
              <p:spPr bwMode="auto">
                <a:xfrm>
                  <a:off x="2535" y="2956"/>
                  <a:ext cx="271" cy="215"/>
                </a:xfrm>
                <a:prstGeom prst="ellipse">
                  <a:avLst/>
                </a:prstGeom>
                <a:solidFill>
                  <a:schemeClr val="bg2"/>
                </a:solidFill>
                <a:ln w="38100">
                  <a:solidFill>
                    <a:schemeClr val="tx1"/>
                  </a:solidFill>
                  <a:round/>
                  <a:headEnd/>
                  <a:tailEnd/>
                </a:ln>
              </p:spPr>
              <p:txBody>
                <a:bodyPr wrap="none" anchor="ctr"/>
                <a:lstStyle/>
                <a:p>
                  <a:endParaRPr lang="en-US" dirty="0">
                    <a:latin typeface="Arial" pitchFamily="34" charset="0"/>
                  </a:endParaRPr>
                </a:p>
              </p:txBody>
            </p:sp>
            <p:sp>
              <p:nvSpPr>
                <p:cNvPr id="38948" name="Oval 99"/>
                <p:cNvSpPr>
                  <a:spLocks noChangeArrowheads="1"/>
                </p:cNvSpPr>
                <p:nvPr/>
              </p:nvSpPr>
              <p:spPr bwMode="auto">
                <a:xfrm>
                  <a:off x="2689" y="2994"/>
                  <a:ext cx="71" cy="60"/>
                </a:xfrm>
                <a:prstGeom prst="ellipse">
                  <a:avLst/>
                </a:prstGeom>
                <a:solidFill>
                  <a:schemeClr val="bg2"/>
                </a:solidFill>
                <a:ln w="19050">
                  <a:solidFill>
                    <a:schemeClr val="tx1"/>
                  </a:solidFill>
                  <a:round/>
                  <a:headEnd/>
                  <a:tailEnd/>
                </a:ln>
              </p:spPr>
              <p:txBody>
                <a:bodyPr wrap="none" anchor="ctr"/>
                <a:lstStyle/>
                <a:p>
                  <a:endParaRPr lang="en-US" dirty="0">
                    <a:latin typeface="Arial" pitchFamily="34" charset="0"/>
                  </a:endParaRPr>
                </a:p>
              </p:txBody>
            </p:sp>
          </p:grpSp>
        </p:grpSp>
        <p:grpSp>
          <p:nvGrpSpPr>
            <p:cNvPr id="38934" name="Group 100"/>
            <p:cNvGrpSpPr>
              <a:grpSpLocks/>
            </p:cNvGrpSpPr>
            <p:nvPr/>
          </p:nvGrpSpPr>
          <p:grpSpPr bwMode="auto">
            <a:xfrm>
              <a:off x="3609" y="3203"/>
              <a:ext cx="935" cy="216"/>
              <a:chOff x="3417" y="3011"/>
              <a:chExt cx="935" cy="216"/>
            </a:xfrm>
          </p:grpSpPr>
          <p:grpSp>
            <p:nvGrpSpPr>
              <p:cNvPr id="38935" name="Group 101"/>
              <p:cNvGrpSpPr>
                <a:grpSpLocks/>
              </p:cNvGrpSpPr>
              <p:nvPr/>
            </p:nvGrpSpPr>
            <p:grpSpPr bwMode="auto">
              <a:xfrm>
                <a:off x="3417" y="3012"/>
                <a:ext cx="271" cy="215"/>
                <a:chOff x="2535" y="2956"/>
                <a:chExt cx="271" cy="215"/>
              </a:xfrm>
            </p:grpSpPr>
            <p:sp>
              <p:nvSpPr>
                <p:cNvPr id="38942" name="Oval 102"/>
                <p:cNvSpPr>
                  <a:spLocks noChangeArrowheads="1"/>
                </p:cNvSpPr>
                <p:nvPr/>
              </p:nvSpPr>
              <p:spPr bwMode="auto">
                <a:xfrm>
                  <a:off x="2535" y="2956"/>
                  <a:ext cx="271" cy="215"/>
                </a:xfrm>
                <a:prstGeom prst="ellipse">
                  <a:avLst/>
                </a:prstGeom>
                <a:solidFill>
                  <a:schemeClr val="bg2"/>
                </a:solidFill>
                <a:ln w="38100">
                  <a:solidFill>
                    <a:schemeClr val="tx1"/>
                  </a:solidFill>
                  <a:round/>
                  <a:headEnd/>
                  <a:tailEnd/>
                </a:ln>
              </p:spPr>
              <p:txBody>
                <a:bodyPr wrap="none" anchor="ctr"/>
                <a:lstStyle/>
                <a:p>
                  <a:endParaRPr lang="en-US" dirty="0">
                    <a:latin typeface="Arial" pitchFamily="34" charset="0"/>
                  </a:endParaRPr>
                </a:p>
              </p:txBody>
            </p:sp>
            <p:sp>
              <p:nvSpPr>
                <p:cNvPr id="38943" name="Oval 103"/>
                <p:cNvSpPr>
                  <a:spLocks noChangeArrowheads="1"/>
                </p:cNvSpPr>
                <p:nvPr/>
              </p:nvSpPr>
              <p:spPr bwMode="auto">
                <a:xfrm>
                  <a:off x="2689" y="2994"/>
                  <a:ext cx="71" cy="60"/>
                </a:xfrm>
                <a:prstGeom prst="ellipse">
                  <a:avLst/>
                </a:prstGeom>
                <a:solidFill>
                  <a:schemeClr val="bg2"/>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8936" name="Group 104"/>
              <p:cNvGrpSpPr>
                <a:grpSpLocks/>
              </p:cNvGrpSpPr>
              <p:nvPr/>
            </p:nvGrpSpPr>
            <p:grpSpPr bwMode="auto">
              <a:xfrm>
                <a:off x="3749" y="3012"/>
                <a:ext cx="271" cy="215"/>
                <a:chOff x="2535" y="2956"/>
                <a:chExt cx="271" cy="215"/>
              </a:xfrm>
            </p:grpSpPr>
            <p:sp>
              <p:nvSpPr>
                <p:cNvPr id="38940" name="Oval 105"/>
                <p:cNvSpPr>
                  <a:spLocks noChangeArrowheads="1"/>
                </p:cNvSpPr>
                <p:nvPr/>
              </p:nvSpPr>
              <p:spPr bwMode="auto">
                <a:xfrm>
                  <a:off x="2535" y="2956"/>
                  <a:ext cx="271" cy="215"/>
                </a:xfrm>
                <a:prstGeom prst="ellipse">
                  <a:avLst/>
                </a:prstGeom>
                <a:solidFill>
                  <a:schemeClr val="bg2"/>
                </a:solidFill>
                <a:ln w="38100">
                  <a:solidFill>
                    <a:schemeClr val="tx1"/>
                  </a:solidFill>
                  <a:round/>
                  <a:headEnd/>
                  <a:tailEnd/>
                </a:ln>
              </p:spPr>
              <p:txBody>
                <a:bodyPr wrap="none" anchor="ctr"/>
                <a:lstStyle/>
                <a:p>
                  <a:endParaRPr lang="en-US" dirty="0">
                    <a:latin typeface="Arial" pitchFamily="34" charset="0"/>
                  </a:endParaRPr>
                </a:p>
              </p:txBody>
            </p:sp>
            <p:sp>
              <p:nvSpPr>
                <p:cNvPr id="38941" name="Oval 106"/>
                <p:cNvSpPr>
                  <a:spLocks noChangeArrowheads="1"/>
                </p:cNvSpPr>
                <p:nvPr/>
              </p:nvSpPr>
              <p:spPr bwMode="auto">
                <a:xfrm>
                  <a:off x="2689" y="2994"/>
                  <a:ext cx="71" cy="60"/>
                </a:xfrm>
                <a:prstGeom prst="ellipse">
                  <a:avLst/>
                </a:prstGeom>
                <a:solidFill>
                  <a:schemeClr val="bg2"/>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8937" name="Group 107"/>
              <p:cNvGrpSpPr>
                <a:grpSpLocks/>
              </p:cNvGrpSpPr>
              <p:nvPr/>
            </p:nvGrpSpPr>
            <p:grpSpPr bwMode="auto">
              <a:xfrm>
                <a:off x="4081" y="3011"/>
                <a:ext cx="271" cy="215"/>
                <a:chOff x="2535" y="2956"/>
                <a:chExt cx="271" cy="215"/>
              </a:xfrm>
            </p:grpSpPr>
            <p:sp>
              <p:nvSpPr>
                <p:cNvPr id="38938" name="Oval 108"/>
                <p:cNvSpPr>
                  <a:spLocks noChangeArrowheads="1"/>
                </p:cNvSpPr>
                <p:nvPr/>
              </p:nvSpPr>
              <p:spPr bwMode="auto">
                <a:xfrm>
                  <a:off x="2535" y="2956"/>
                  <a:ext cx="271" cy="215"/>
                </a:xfrm>
                <a:prstGeom prst="ellipse">
                  <a:avLst/>
                </a:prstGeom>
                <a:solidFill>
                  <a:schemeClr val="bg2"/>
                </a:solidFill>
                <a:ln w="38100">
                  <a:solidFill>
                    <a:schemeClr val="tx1"/>
                  </a:solidFill>
                  <a:round/>
                  <a:headEnd/>
                  <a:tailEnd/>
                </a:ln>
              </p:spPr>
              <p:txBody>
                <a:bodyPr wrap="none" anchor="ctr"/>
                <a:lstStyle/>
                <a:p>
                  <a:endParaRPr lang="en-US" dirty="0">
                    <a:latin typeface="Arial" pitchFamily="34" charset="0"/>
                  </a:endParaRPr>
                </a:p>
              </p:txBody>
            </p:sp>
            <p:sp>
              <p:nvSpPr>
                <p:cNvPr id="38939" name="Oval 109"/>
                <p:cNvSpPr>
                  <a:spLocks noChangeArrowheads="1"/>
                </p:cNvSpPr>
                <p:nvPr/>
              </p:nvSpPr>
              <p:spPr bwMode="auto">
                <a:xfrm>
                  <a:off x="2689" y="2994"/>
                  <a:ext cx="71" cy="60"/>
                </a:xfrm>
                <a:prstGeom prst="ellipse">
                  <a:avLst/>
                </a:prstGeom>
                <a:solidFill>
                  <a:schemeClr val="bg2"/>
                </a:solidFill>
                <a:ln w="19050">
                  <a:solidFill>
                    <a:schemeClr val="tx1"/>
                  </a:solidFill>
                  <a:round/>
                  <a:headEnd/>
                  <a:tailEnd/>
                </a:ln>
              </p:spPr>
              <p:txBody>
                <a:bodyPr wrap="none" anchor="ctr"/>
                <a:lstStyle/>
                <a:p>
                  <a:endParaRPr lang="en-US" dirty="0">
                    <a:latin typeface="Arial" pitchFamily="34" charset="0"/>
                  </a:endParaRPr>
                </a:p>
              </p:txBody>
            </p:sp>
          </p:grpSp>
        </p:gr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3"/>
          <p:cNvSpPr>
            <a:spLocks noGrp="1"/>
          </p:cNvSpPr>
          <p:nvPr>
            <p:ph type="ftr" sz="quarter" idx="10"/>
          </p:nvPr>
        </p:nvSpPr>
        <p:spPr>
          <a:noFill/>
        </p:spPr>
        <p:txBody>
          <a:bodyPr/>
          <a:lstStyle/>
          <a:p>
            <a:r>
              <a:rPr lang="en-US"/>
              <a:t>Art of Multiprocessor Programming</a:t>
            </a:r>
          </a:p>
        </p:txBody>
      </p:sp>
      <p:sp>
        <p:nvSpPr>
          <p:cNvPr id="39939" name="Slide Number Placeholder 4"/>
          <p:cNvSpPr>
            <a:spLocks noGrp="1"/>
          </p:cNvSpPr>
          <p:nvPr>
            <p:ph type="sldNum" sz="quarter" idx="11"/>
          </p:nvPr>
        </p:nvSpPr>
        <p:spPr>
          <a:noFill/>
        </p:spPr>
        <p:txBody>
          <a:bodyPr/>
          <a:lstStyle/>
          <a:p>
            <a:fld id="{A2B938C7-52C1-4C33-BCA6-549D5B951F9B}" type="slidenum">
              <a:rPr lang="ar-SA" smtClean="0"/>
              <a:pPr/>
              <a:t>38</a:t>
            </a:fld>
            <a:endParaRPr lang="en-US"/>
          </a:p>
        </p:txBody>
      </p:sp>
      <p:sp>
        <p:nvSpPr>
          <p:cNvPr id="39940" name="Rectangle 72"/>
          <p:cNvSpPr>
            <a:spLocks noChangeArrowheads="1"/>
          </p:cNvSpPr>
          <p:nvPr/>
        </p:nvSpPr>
        <p:spPr bwMode="auto">
          <a:xfrm>
            <a:off x="5127625" y="1573213"/>
            <a:ext cx="3146425" cy="1979612"/>
          </a:xfrm>
          <a:prstGeom prst="rect">
            <a:avLst/>
          </a:prstGeom>
          <a:noFill/>
          <a:ln w="38100">
            <a:solidFill>
              <a:schemeClr val="bg2"/>
            </a:solidFill>
            <a:miter lim="800000"/>
            <a:headEnd/>
            <a:tailEnd/>
          </a:ln>
        </p:spPr>
        <p:txBody>
          <a:bodyPr wrap="none" anchor="ctr"/>
          <a:lstStyle/>
          <a:p>
            <a:endParaRPr lang="en-US" dirty="0">
              <a:latin typeface="Arial" pitchFamily="34" charset="0"/>
            </a:endParaRPr>
          </a:p>
        </p:txBody>
      </p:sp>
      <p:sp>
        <p:nvSpPr>
          <p:cNvPr id="39941" name="Freeform 3"/>
          <p:cNvSpPr>
            <a:spLocks/>
          </p:cNvSpPr>
          <p:nvPr/>
        </p:nvSpPr>
        <p:spPr bwMode="auto">
          <a:xfrm>
            <a:off x="4270375" y="2921000"/>
            <a:ext cx="4271963" cy="976313"/>
          </a:xfrm>
          <a:custGeom>
            <a:avLst/>
            <a:gdLst>
              <a:gd name="T0" fmla="*/ 0 w 2691"/>
              <a:gd name="T1" fmla="*/ 2147483647 h 615"/>
              <a:gd name="T2" fmla="*/ 2147483647 w 2691"/>
              <a:gd name="T3" fmla="*/ 2147483647 h 615"/>
              <a:gd name="T4" fmla="*/ 2147483647 w 2691"/>
              <a:gd name="T5" fmla="*/ 2147483647 h 615"/>
              <a:gd name="T6" fmla="*/ 0 60000 65536"/>
              <a:gd name="T7" fmla="*/ 0 60000 65536"/>
              <a:gd name="T8" fmla="*/ 0 60000 65536"/>
              <a:gd name="T9" fmla="*/ 0 w 2691"/>
              <a:gd name="T10" fmla="*/ 0 h 615"/>
              <a:gd name="T11" fmla="*/ 2691 w 2691"/>
              <a:gd name="T12" fmla="*/ 615 h 615"/>
            </a:gdLst>
            <a:ahLst/>
            <a:cxnLst>
              <a:cxn ang="T6">
                <a:pos x="T0" y="T1"/>
              </a:cxn>
              <a:cxn ang="T7">
                <a:pos x="T2" y="T3"/>
              </a:cxn>
              <a:cxn ang="T8">
                <a:pos x="T4" y="T5"/>
              </a:cxn>
            </a:cxnLst>
            <a:rect l="T9" t="T10" r="T11" b="T12"/>
            <a:pathLst>
              <a:path w="2691" h="615">
                <a:moveTo>
                  <a:pt x="0" y="379"/>
                </a:moveTo>
                <a:cubicBezTo>
                  <a:pt x="257" y="189"/>
                  <a:pt x="515" y="0"/>
                  <a:pt x="963" y="39"/>
                </a:cubicBezTo>
                <a:cubicBezTo>
                  <a:pt x="1411" y="78"/>
                  <a:pt x="2051" y="346"/>
                  <a:pt x="2691" y="615"/>
                </a:cubicBezTo>
              </a:path>
            </a:pathLst>
          </a:custGeom>
          <a:solidFill>
            <a:schemeClr val="bg1"/>
          </a:solidFill>
          <a:ln w="76200">
            <a:solidFill>
              <a:schemeClr val="bg2"/>
            </a:solidFill>
            <a:round/>
            <a:headEnd/>
            <a:tailEnd/>
          </a:ln>
        </p:spPr>
        <p:txBody>
          <a:bodyPr wrap="none" anchor="ctr"/>
          <a:lstStyle/>
          <a:p>
            <a:endParaRPr lang="en-US" dirty="0">
              <a:latin typeface="Arial" pitchFamily="34" charset="0"/>
            </a:endParaRPr>
          </a:p>
        </p:txBody>
      </p:sp>
      <p:sp>
        <p:nvSpPr>
          <p:cNvPr id="39942" name="Freeform 4"/>
          <p:cNvSpPr>
            <a:spLocks/>
          </p:cNvSpPr>
          <p:nvPr/>
        </p:nvSpPr>
        <p:spPr bwMode="auto">
          <a:xfrm>
            <a:off x="4676775" y="3073400"/>
            <a:ext cx="1828800" cy="914400"/>
          </a:xfrm>
          <a:custGeom>
            <a:avLst/>
            <a:gdLst>
              <a:gd name="T0" fmla="*/ 0 w 1152"/>
              <a:gd name="T1" fmla="*/ 2147483647 h 576"/>
              <a:gd name="T2" fmla="*/ 2147483647 w 1152"/>
              <a:gd name="T3" fmla="*/ 2147483647 h 576"/>
              <a:gd name="T4" fmla="*/ 2147483647 w 1152"/>
              <a:gd name="T5" fmla="*/ 0 h 576"/>
              <a:gd name="T6" fmla="*/ 2147483647 w 1152"/>
              <a:gd name="T7" fmla="*/ 2147483647 h 576"/>
              <a:gd name="T8" fmla="*/ 2147483647 w 1152"/>
              <a:gd name="T9" fmla="*/ 2147483647 h 576"/>
              <a:gd name="T10" fmla="*/ 2147483647 w 1152"/>
              <a:gd name="T11" fmla="*/ 2147483647 h 576"/>
              <a:gd name="T12" fmla="*/ 0 60000 65536"/>
              <a:gd name="T13" fmla="*/ 0 60000 65536"/>
              <a:gd name="T14" fmla="*/ 0 60000 65536"/>
              <a:gd name="T15" fmla="*/ 0 60000 65536"/>
              <a:gd name="T16" fmla="*/ 0 60000 65536"/>
              <a:gd name="T17" fmla="*/ 0 60000 65536"/>
              <a:gd name="T18" fmla="*/ 0 w 1152"/>
              <a:gd name="T19" fmla="*/ 0 h 576"/>
              <a:gd name="T20" fmla="*/ 1152 w 115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152" h="576">
                <a:moveTo>
                  <a:pt x="0" y="444"/>
                </a:moveTo>
                <a:lnTo>
                  <a:pt x="321" y="236"/>
                </a:lnTo>
                <a:lnTo>
                  <a:pt x="1029" y="0"/>
                </a:lnTo>
                <a:lnTo>
                  <a:pt x="1152" y="66"/>
                </a:lnTo>
                <a:lnTo>
                  <a:pt x="501" y="377"/>
                </a:lnTo>
                <a:lnTo>
                  <a:pt x="170" y="576"/>
                </a:lnTo>
              </a:path>
            </a:pathLst>
          </a:custGeom>
          <a:solidFill>
            <a:schemeClr val="bg2"/>
          </a:solidFill>
          <a:ln w="9525">
            <a:solidFill>
              <a:schemeClr val="bg2"/>
            </a:solidFill>
            <a:round/>
            <a:headEnd/>
            <a:tailEnd type="triangle" w="med" len="med"/>
          </a:ln>
        </p:spPr>
        <p:txBody>
          <a:bodyPr wrap="none" anchor="ctr"/>
          <a:lstStyle/>
          <a:p>
            <a:endParaRPr lang="en-US" dirty="0">
              <a:latin typeface="Arial" pitchFamily="34" charset="0"/>
            </a:endParaRPr>
          </a:p>
        </p:txBody>
      </p:sp>
      <p:sp>
        <p:nvSpPr>
          <p:cNvPr id="39943" name="Freeform 5"/>
          <p:cNvSpPr>
            <a:spLocks/>
          </p:cNvSpPr>
          <p:nvPr/>
        </p:nvSpPr>
        <p:spPr bwMode="auto">
          <a:xfrm>
            <a:off x="4675188" y="3143250"/>
            <a:ext cx="1617662" cy="884238"/>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sp>
        <p:nvSpPr>
          <p:cNvPr id="39944" name="Rectangle 6"/>
          <p:cNvSpPr>
            <a:spLocks noGrp="1" noChangeArrowheads="1"/>
          </p:cNvSpPr>
          <p:nvPr>
            <p:ph type="title"/>
          </p:nvPr>
        </p:nvSpPr>
        <p:spPr/>
        <p:txBody>
          <a:bodyPr/>
          <a:lstStyle/>
          <a:p>
            <a:r>
              <a:rPr lang="en-US"/>
              <a:t>L1 and L2 Caches</a:t>
            </a:r>
          </a:p>
        </p:txBody>
      </p:sp>
      <p:grpSp>
        <p:nvGrpSpPr>
          <p:cNvPr id="39945" name="Group 7"/>
          <p:cNvGrpSpPr>
            <a:grpSpLocks/>
          </p:cNvGrpSpPr>
          <p:nvPr/>
        </p:nvGrpSpPr>
        <p:grpSpPr bwMode="auto">
          <a:xfrm flipH="1">
            <a:off x="1477963" y="4859338"/>
            <a:ext cx="1447800" cy="1295400"/>
            <a:chOff x="3168" y="1824"/>
            <a:chExt cx="912" cy="816"/>
          </a:xfrm>
        </p:grpSpPr>
        <p:sp>
          <p:nvSpPr>
            <p:cNvPr id="39988" name="Freeform 8"/>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sp>
          <p:nvSpPr>
            <p:cNvPr id="39989" name="Freeform 9"/>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sp>
          <p:nvSpPr>
            <p:cNvPr id="39990" name="Freeform 10"/>
            <p:cNvSpPr>
              <a:spLocks/>
            </p:cNvSpPr>
            <p:nvPr/>
          </p:nvSpPr>
          <p:spPr bwMode="auto">
            <a:xfrm>
              <a:off x="3504" y="1824"/>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sp>
          <p:nvSpPr>
            <p:cNvPr id="39991" name="Freeform 11"/>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39992" name="Freeform 12"/>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39993" name="Freeform 13"/>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39994" name="Freeform 14"/>
            <p:cNvSpPr>
              <a:spLocks/>
            </p:cNvSpPr>
            <p:nvPr/>
          </p:nvSpPr>
          <p:spPr bwMode="auto">
            <a:xfrm>
              <a:off x="3504" y="2304"/>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sp>
          <p:nvSpPr>
            <p:cNvPr id="39995" name="Freeform 15"/>
            <p:cNvSpPr>
              <a:spLocks/>
            </p:cNvSpPr>
            <p:nvPr/>
          </p:nvSpPr>
          <p:spPr bwMode="auto">
            <a:xfrm>
              <a:off x="3312" y="2160"/>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sp>
          <p:nvSpPr>
            <p:cNvPr id="39996" name="Freeform 16"/>
            <p:cNvSpPr>
              <a:spLocks/>
            </p:cNvSpPr>
            <p:nvPr/>
          </p:nvSpPr>
          <p:spPr bwMode="auto">
            <a:xfrm>
              <a:off x="3168" y="2016"/>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tx1"/>
              </a:solidFill>
              <a:round/>
              <a:headEnd/>
              <a:tailEnd/>
            </a:ln>
          </p:spPr>
          <p:txBody>
            <a:bodyPr wrap="none" anchor="ctr"/>
            <a:lstStyle/>
            <a:p>
              <a:endParaRPr lang="en-US" dirty="0">
                <a:latin typeface="Arial" pitchFamily="34" charset="0"/>
              </a:endParaRPr>
            </a:p>
          </p:txBody>
        </p:sp>
      </p:grpSp>
      <p:sp>
        <p:nvSpPr>
          <p:cNvPr id="39946" name="Freeform 17"/>
          <p:cNvSpPr>
            <a:spLocks/>
          </p:cNvSpPr>
          <p:nvPr/>
        </p:nvSpPr>
        <p:spPr bwMode="auto">
          <a:xfrm>
            <a:off x="1409700" y="2838450"/>
            <a:ext cx="3702050" cy="1268413"/>
          </a:xfrm>
          <a:custGeom>
            <a:avLst/>
            <a:gdLst>
              <a:gd name="T0" fmla="*/ 0 w 2332"/>
              <a:gd name="T1" fmla="*/ 2147483647 h 799"/>
              <a:gd name="T2" fmla="*/ 2147483647 w 2332"/>
              <a:gd name="T3" fmla="*/ 2147483647 h 799"/>
              <a:gd name="T4" fmla="*/ 2147483647 w 2332"/>
              <a:gd name="T5" fmla="*/ 2147483647 h 799"/>
              <a:gd name="T6" fmla="*/ 0 60000 65536"/>
              <a:gd name="T7" fmla="*/ 0 60000 65536"/>
              <a:gd name="T8" fmla="*/ 0 60000 65536"/>
              <a:gd name="T9" fmla="*/ 0 w 2332"/>
              <a:gd name="T10" fmla="*/ 0 h 799"/>
              <a:gd name="T11" fmla="*/ 2332 w 2332"/>
              <a:gd name="T12" fmla="*/ 799 h 799"/>
            </a:gdLst>
            <a:ahLst/>
            <a:cxnLst>
              <a:cxn ang="T6">
                <a:pos x="T0" y="T1"/>
              </a:cxn>
              <a:cxn ang="T7">
                <a:pos x="T2" y="T3"/>
              </a:cxn>
              <a:cxn ang="T8">
                <a:pos x="T4" y="T5"/>
              </a:cxn>
            </a:cxnLst>
            <a:rect l="T9" t="T10" r="T11" b="T12"/>
            <a:pathLst>
              <a:path w="2332" h="799">
                <a:moveTo>
                  <a:pt x="0" y="478"/>
                </a:moveTo>
                <a:cubicBezTo>
                  <a:pt x="291" y="239"/>
                  <a:pt x="583" y="0"/>
                  <a:pt x="972" y="53"/>
                </a:cubicBezTo>
                <a:cubicBezTo>
                  <a:pt x="1361" y="106"/>
                  <a:pt x="2104" y="675"/>
                  <a:pt x="2332" y="799"/>
                </a:cubicBezTo>
              </a:path>
            </a:pathLst>
          </a:custGeom>
          <a:solidFill>
            <a:schemeClr val="bg1"/>
          </a:solidFill>
          <a:ln w="76200">
            <a:solidFill>
              <a:schemeClr val="bg2"/>
            </a:solidFill>
            <a:round/>
            <a:headEnd/>
            <a:tailEnd/>
          </a:ln>
        </p:spPr>
        <p:txBody>
          <a:bodyPr wrap="none" anchor="ctr"/>
          <a:lstStyle/>
          <a:p>
            <a:endParaRPr lang="en-US" dirty="0">
              <a:latin typeface="Arial" pitchFamily="34" charset="0"/>
            </a:endParaRPr>
          </a:p>
        </p:txBody>
      </p:sp>
      <p:sp>
        <p:nvSpPr>
          <p:cNvPr id="39947" name="Freeform 18"/>
          <p:cNvSpPr>
            <a:spLocks/>
          </p:cNvSpPr>
          <p:nvPr/>
        </p:nvSpPr>
        <p:spPr bwMode="auto">
          <a:xfrm>
            <a:off x="2517775" y="3357563"/>
            <a:ext cx="1770063" cy="1544637"/>
          </a:xfrm>
          <a:custGeom>
            <a:avLst/>
            <a:gdLst>
              <a:gd name="T0" fmla="*/ 0 w 1115"/>
              <a:gd name="T1" fmla="*/ 2147483647 h 973"/>
              <a:gd name="T2" fmla="*/ 2147483647 w 1115"/>
              <a:gd name="T3" fmla="*/ 2147483647 h 973"/>
              <a:gd name="T4" fmla="*/ 2147483647 w 1115"/>
              <a:gd name="T5" fmla="*/ 0 h 973"/>
              <a:gd name="T6" fmla="*/ 2147483647 w 1115"/>
              <a:gd name="T7" fmla="*/ 2147483647 h 973"/>
              <a:gd name="T8" fmla="*/ 2147483647 w 1115"/>
              <a:gd name="T9" fmla="*/ 2147483647 h 973"/>
              <a:gd name="T10" fmla="*/ 2147483647 w 1115"/>
              <a:gd name="T11" fmla="*/ 2147483647 h 973"/>
              <a:gd name="T12" fmla="*/ 0 60000 65536"/>
              <a:gd name="T13" fmla="*/ 0 60000 65536"/>
              <a:gd name="T14" fmla="*/ 0 60000 65536"/>
              <a:gd name="T15" fmla="*/ 0 60000 65536"/>
              <a:gd name="T16" fmla="*/ 0 60000 65536"/>
              <a:gd name="T17" fmla="*/ 0 60000 65536"/>
              <a:gd name="T18" fmla="*/ 0 w 1115"/>
              <a:gd name="T19" fmla="*/ 0 h 973"/>
              <a:gd name="T20" fmla="*/ 1115 w 1115"/>
              <a:gd name="T21" fmla="*/ 973 h 973"/>
            </a:gdLst>
            <a:ahLst/>
            <a:cxnLst>
              <a:cxn ang="T12">
                <a:pos x="T0" y="T1"/>
              </a:cxn>
              <a:cxn ang="T13">
                <a:pos x="T2" y="T3"/>
              </a:cxn>
              <a:cxn ang="T14">
                <a:pos x="T4" y="T5"/>
              </a:cxn>
              <a:cxn ang="T15">
                <a:pos x="T6" y="T7"/>
              </a:cxn>
              <a:cxn ang="T16">
                <a:pos x="T8" y="T9"/>
              </a:cxn>
              <a:cxn ang="T17">
                <a:pos x="T10" y="T11"/>
              </a:cxn>
            </a:cxnLst>
            <a:rect l="T18" t="T19" r="T20" b="T21"/>
            <a:pathLst>
              <a:path w="1115" h="973">
                <a:moveTo>
                  <a:pt x="0" y="812"/>
                </a:moveTo>
                <a:lnTo>
                  <a:pt x="312" y="321"/>
                </a:lnTo>
                <a:lnTo>
                  <a:pt x="879" y="0"/>
                </a:lnTo>
                <a:lnTo>
                  <a:pt x="1115" y="161"/>
                </a:lnTo>
                <a:lnTo>
                  <a:pt x="557" y="510"/>
                </a:lnTo>
                <a:lnTo>
                  <a:pt x="369" y="973"/>
                </a:lnTo>
              </a:path>
            </a:pathLst>
          </a:custGeom>
          <a:solidFill>
            <a:schemeClr val="folHlink"/>
          </a:solidFill>
          <a:ln w="9525">
            <a:solidFill>
              <a:schemeClr val="bg2"/>
            </a:solidFill>
            <a:round/>
            <a:headEnd/>
            <a:tailEnd/>
          </a:ln>
        </p:spPr>
        <p:txBody>
          <a:bodyPr wrap="none" anchor="ctr"/>
          <a:lstStyle/>
          <a:p>
            <a:endParaRPr lang="en-US" dirty="0">
              <a:latin typeface="Arial" pitchFamily="34" charset="0"/>
            </a:endParaRPr>
          </a:p>
        </p:txBody>
      </p:sp>
      <p:sp>
        <p:nvSpPr>
          <p:cNvPr id="39948" name="Freeform 19"/>
          <p:cNvSpPr>
            <a:spLocks/>
          </p:cNvSpPr>
          <p:nvPr/>
        </p:nvSpPr>
        <p:spPr bwMode="auto">
          <a:xfrm>
            <a:off x="3373438" y="4376738"/>
            <a:ext cx="1617662" cy="884237"/>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solidFill>
            <a:schemeClr val="folHlink"/>
          </a:solidFill>
          <a:ln w="76200">
            <a:solidFill>
              <a:schemeClr val="bg2"/>
            </a:solidFill>
            <a:round/>
            <a:headEnd/>
            <a:tailEnd/>
          </a:ln>
        </p:spPr>
        <p:txBody>
          <a:bodyPr wrap="none" anchor="ctr"/>
          <a:lstStyle/>
          <a:p>
            <a:endParaRPr lang="en-US" dirty="0">
              <a:latin typeface="Arial" pitchFamily="34" charset="0"/>
            </a:endParaRPr>
          </a:p>
        </p:txBody>
      </p:sp>
      <p:sp>
        <p:nvSpPr>
          <p:cNvPr id="39949" name="Text Box 20"/>
          <p:cNvSpPr txBox="1">
            <a:spLocks noChangeArrowheads="1"/>
          </p:cNvSpPr>
          <p:nvPr/>
        </p:nvSpPr>
        <p:spPr bwMode="auto">
          <a:xfrm>
            <a:off x="3911600" y="5394325"/>
            <a:ext cx="547688" cy="466725"/>
          </a:xfrm>
          <a:prstGeom prst="rect">
            <a:avLst/>
          </a:prstGeom>
          <a:noFill/>
          <a:ln w="9525">
            <a:solidFill>
              <a:schemeClr val="bg2"/>
            </a:solidFill>
            <a:miter lim="800000"/>
            <a:headEnd/>
            <a:tailEnd/>
          </a:ln>
        </p:spPr>
        <p:txBody>
          <a:bodyPr wrap="none">
            <a:spAutoFit/>
          </a:bodyPr>
          <a:lstStyle/>
          <a:p>
            <a:r>
              <a:rPr lang="en-US" sz="2400" dirty="0">
                <a:solidFill>
                  <a:schemeClr val="bg2"/>
                </a:solidFill>
                <a:latin typeface="Arial" pitchFamily="34" charset="0"/>
              </a:rPr>
              <a:t>L1</a:t>
            </a:r>
          </a:p>
        </p:txBody>
      </p:sp>
      <p:sp>
        <p:nvSpPr>
          <p:cNvPr id="39950" name="Text Box 31"/>
          <p:cNvSpPr txBox="1">
            <a:spLocks noChangeArrowheads="1"/>
          </p:cNvSpPr>
          <p:nvPr/>
        </p:nvSpPr>
        <p:spPr bwMode="auto">
          <a:xfrm>
            <a:off x="5308600" y="4154488"/>
            <a:ext cx="543739" cy="461665"/>
          </a:xfrm>
          <a:prstGeom prst="rect">
            <a:avLst/>
          </a:prstGeom>
          <a:noFill/>
          <a:ln w="9525">
            <a:noFill/>
            <a:miter lim="800000"/>
            <a:headEnd/>
            <a:tailEnd/>
          </a:ln>
        </p:spPr>
        <p:txBody>
          <a:bodyPr wrap="none">
            <a:spAutoFit/>
          </a:bodyPr>
          <a:lstStyle/>
          <a:p>
            <a:r>
              <a:rPr lang="en-US" sz="2400" dirty="0">
                <a:solidFill>
                  <a:srgbClr val="FF3300"/>
                </a:solidFill>
                <a:latin typeface="Arial" pitchFamily="34" charset="0"/>
              </a:rPr>
              <a:t>L2</a:t>
            </a:r>
          </a:p>
        </p:txBody>
      </p:sp>
      <p:sp>
        <p:nvSpPr>
          <p:cNvPr id="39951" name="Oval 73"/>
          <p:cNvSpPr>
            <a:spLocks noChangeArrowheads="1"/>
          </p:cNvSpPr>
          <p:nvPr/>
        </p:nvSpPr>
        <p:spPr bwMode="auto">
          <a:xfrm>
            <a:off x="3871913" y="4540250"/>
            <a:ext cx="430212" cy="341313"/>
          </a:xfrm>
          <a:prstGeom prst="ellipse">
            <a:avLst/>
          </a:prstGeom>
          <a:solidFill>
            <a:schemeClr val="bg2"/>
          </a:solidFill>
          <a:ln w="38100">
            <a:solidFill>
              <a:schemeClr val="tx1"/>
            </a:solidFill>
            <a:round/>
            <a:headEnd/>
            <a:tailEnd/>
          </a:ln>
        </p:spPr>
        <p:txBody>
          <a:bodyPr wrap="none" anchor="ctr"/>
          <a:lstStyle/>
          <a:p>
            <a:endParaRPr lang="en-US" dirty="0">
              <a:latin typeface="Arial" pitchFamily="34" charset="0"/>
            </a:endParaRPr>
          </a:p>
        </p:txBody>
      </p:sp>
      <p:sp>
        <p:nvSpPr>
          <p:cNvPr id="39952" name="Oval 74"/>
          <p:cNvSpPr>
            <a:spLocks noChangeArrowheads="1"/>
          </p:cNvSpPr>
          <p:nvPr/>
        </p:nvSpPr>
        <p:spPr bwMode="auto">
          <a:xfrm>
            <a:off x="4116388" y="4600575"/>
            <a:ext cx="112712" cy="95250"/>
          </a:xfrm>
          <a:prstGeom prst="ellipse">
            <a:avLst/>
          </a:prstGeom>
          <a:solidFill>
            <a:schemeClr val="bg2"/>
          </a:solidFill>
          <a:ln w="19050">
            <a:solidFill>
              <a:schemeClr val="tx1"/>
            </a:solidFill>
            <a:round/>
            <a:headEnd/>
            <a:tailEnd/>
          </a:ln>
        </p:spPr>
        <p:txBody>
          <a:bodyPr wrap="none" anchor="ctr"/>
          <a:lstStyle/>
          <a:p>
            <a:endParaRPr lang="en-US" dirty="0">
              <a:latin typeface="Arial" pitchFamily="34" charset="0"/>
            </a:endParaRPr>
          </a:p>
        </p:txBody>
      </p:sp>
      <p:sp>
        <p:nvSpPr>
          <p:cNvPr id="39953" name="Oval 75"/>
          <p:cNvSpPr>
            <a:spLocks noChangeArrowheads="1"/>
          </p:cNvSpPr>
          <p:nvPr/>
        </p:nvSpPr>
        <p:spPr bwMode="auto">
          <a:xfrm>
            <a:off x="4024313" y="4692650"/>
            <a:ext cx="430212" cy="341313"/>
          </a:xfrm>
          <a:prstGeom prst="ellipse">
            <a:avLst/>
          </a:prstGeom>
          <a:solidFill>
            <a:schemeClr val="bg2"/>
          </a:solidFill>
          <a:ln w="38100">
            <a:solidFill>
              <a:schemeClr val="tx1"/>
            </a:solidFill>
            <a:round/>
            <a:headEnd/>
            <a:tailEnd/>
          </a:ln>
        </p:spPr>
        <p:txBody>
          <a:bodyPr wrap="none" anchor="ctr"/>
          <a:lstStyle/>
          <a:p>
            <a:endParaRPr lang="en-US" dirty="0">
              <a:latin typeface="Arial" pitchFamily="34" charset="0"/>
            </a:endParaRPr>
          </a:p>
        </p:txBody>
      </p:sp>
      <p:sp>
        <p:nvSpPr>
          <p:cNvPr id="39954" name="Oval 76"/>
          <p:cNvSpPr>
            <a:spLocks noChangeArrowheads="1"/>
          </p:cNvSpPr>
          <p:nvPr/>
        </p:nvSpPr>
        <p:spPr bwMode="auto">
          <a:xfrm>
            <a:off x="4268788" y="4752975"/>
            <a:ext cx="112712" cy="95250"/>
          </a:xfrm>
          <a:prstGeom prst="ellipse">
            <a:avLst/>
          </a:prstGeom>
          <a:solidFill>
            <a:schemeClr val="bg2"/>
          </a:solidFill>
          <a:ln w="19050">
            <a:solidFill>
              <a:schemeClr val="tx1"/>
            </a:solidFill>
            <a:round/>
            <a:headEnd/>
            <a:tailEnd/>
          </a:ln>
        </p:spPr>
        <p:txBody>
          <a:bodyPr wrap="none" anchor="ctr"/>
          <a:lstStyle/>
          <a:p>
            <a:endParaRPr lang="en-US" dirty="0">
              <a:latin typeface="Arial" pitchFamily="34" charset="0"/>
            </a:endParaRPr>
          </a:p>
        </p:txBody>
      </p:sp>
      <p:grpSp>
        <p:nvGrpSpPr>
          <p:cNvPr id="39955" name="Group 77"/>
          <p:cNvGrpSpPr>
            <a:grpSpLocks/>
          </p:cNvGrpSpPr>
          <p:nvPr/>
        </p:nvGrpSpPr>
        <p:grpSpPr bwMode="auto">
          <a:xfrm>
            <a:off x="4856163" y="3336925"/>
            <a:ext cx="1428750" cy="517525"/>
            <a:chOff x="3417" y="3011"/>
            <a:chExt cx="1127" cy="408"/>
          </a:xfrm>
        </p:grpSpPr>
        <p:grpSp>
          <p:nvGrpSpPr>
            <p:cNvPr id="39958" name="Group 78"/>
            <p:cNvGrpSpPr>
              <a:grpSpLocks/>
            </p:cNvGrpSpPr>
            <p:nvPr/>
          </p:nvGrpSpPr>
          <p:grpSpPr bwMode="auto">
            <a:xfrm>
              <a:off x="3417" y="3011"/>
              <a:ext cx="935" cy="216"/>
              <a:chOff x="3417" y="3011"/>
              <a:chExt cx="935" cy="216"/>
            </a:xfrm>
          </p:grpSpPr>
          <p:grpSp>
            <p:nvGrpSpPr>
              <p:cNvPr id="39979" name="Group 79"/>
              <p:cNvGrpSpPr>
                <a:grpSpLocks/>
              </p:cNvGrpSpPr>
              <p:nvPr/>
            </p:nvGrpSpPr>
            <p:grpSpPr bwMode="auto">
              <a:xfrm>
                <a:off x="3417" y="3012"/>
                <a:ext cx="271" cy="215"/>
                <a:chOff x="2535" y="2956"/>
                <a:chExt cx="271" cy="215"/>
              </a:xfrm>
            </p:grpSpPr>
            <p:sp>
              <p:nvSpPr>
                <p:cNvPr id="39986" name="Oval 80"/>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9987" name="Oval 81"/>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9980" name="Group 82"/>
              <p:cNvGrpSpPr>
                <a:grpSpLocks/>
              </p:cNvGrpSpPr>
              <p:nvPr/>
            </p:nvGrpSpPr>
            <p:grpSpPr bwMode="auto">
              <a:xfrm>
                <a:off x="3749" y="3012"/>
                <a:ext cx="271" cy="215"/>
                <a:chOff x="2535" y="2956"/>
                <a:chExt cx="271" cy="215"/>
              </a:xfrm>
            </p:grpSpPr>
            <p:sp>
              <p:nvSpPr>
                <p:cNvPr id="39984" name="Oval 83"/>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9985" name="Oval 84"/>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9981" name="Group 85"/>
              <p:cNvGrpSpPr>
                <a:grpSpLocks/>
              </p:cNvGrpSpPr>
              <p:nvPr/>
            </p:nvGrpSpPr>
            <p:grpSpPr bwMode="auto">
              <a:xfrm>
                <a:off x="4081" y="3011"/>
                <a:ext cx="271" cy="215"/>
                <a:chOff x="2535" y="2956"/>
                <a:chExt cx="271" cy="215"/>
              </a:xfrm>
            </p:grpSpPr>
            <p:sp>
              <p:nvSpPr>
                <p:cNvPr id="39982" name="Oval 86"/>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9983" name="Oval 87"/>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grpSp>
          <p:nvGrpSpPr>
            <p:cNvPr id="39959" name="Group 88"/>
            <p:cNvGrpSpPr>
              <a:grpSpLocks/>
            </p:cNvGrpSpPr>
            <p:nvPr/>
          </p:nvGrpSpPr>
          <p:grpSpPr bwMode="auto">
            <a:xfrm>
              <a:off x="3513" y="3107"/>
              <a:ext cx="935" cy="216"/>
              <a:chOff x="3417" y="3011"/>
              <a:chExt cx="935" cy="216"/>
            </a:xfrm>
          </p:grpSpPr>
          <p:grpSp>
            <p:nvGrpSpPr>
              <p:cNvPr id="39970" name="Group 89"/>
              <p:cNvGrpSpPr>
                <a:grpSpLocks/>
              </p:cNvGrpSpPr>
              <p:nvPr/>
            </p:nvGrpSpPr>
            <p:grpSpPr bwMode="auto">
              <a:xfrm>
                <a:off x="3417" y="3012"/>
                <a:ext cx="271" cy="215"/>
                <a:chOff x="2535" y="2956"/>
                <a:chExt cx="271" cy="215"/>
              </a:xfrm>
            </p:grpSpPr>
            <p:sp>
              <p:nvSpPr>
                <p:cNvPr id="39977" name="Oval 90"/>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9978" name="Oval 91"/>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9971" name="Group 92"/>
              <p:cNvGrpSpPr>
                <a:grpSpLocks/>
              </p:cNvGrpSpPr>
              <p:nvPr/>
            </p:nvGrpSpPr>
            <p:grpSpPr bwMode="auto">
              <a:xfrm>
                <a:off x="3749" y="3012"/>
                <a:ext cx="271" cy="215"/>
                <a:chOff x="2535" y="2956"/>
                <a:chExt cx="271" cy="215"/>
              </a:xfrm>
            </p:grpSpPr>
            <p:sp>
              <p:nvSpPr>
                <p:cNvPr id="39975" name="Oval 93"/>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9976" name="Oval 94"/>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9972" name="Group 95"/>
              <p:cNvGrpSpPr>
                <a:grpSpLocks/>
              </p:cNvGrpSpPr>
              <p:nvPr/>
            </p:nvGrpSpPr>
            <p:grpSpPr bwMode="auto">
              <a:xfrm>
                <a:off x="4081" y="3011"/>
                <a:ext cx="271" cy="215"/>
                <a:chOff x="2535" y="2956"/>
                <a:chExt cx="271" cy="215"/>
              </a:xfrm>
            </p:grpSpPr>
            <p:sp>
              <p:nvSpPr>
                <p:cNvPr id="39973" name="Oval 96"/>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9974" name="Oval 97"/>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grpSp>
          <p:nvGrpSpPr>
            <p:cNvPr id="39960" name="Group 98"/>
            <p:cNvGrpSpPr>
              <a:grpSpLocks/>
            </p:cNvGrpSpPr>
            <p:nvPr/>
          </p:nvGrpSpPr>
          <p:grpSpPr bwMode="auto">
            <a:xfrm>
              <a:off x="3609" y="3203"/>
              <a:ext cx="935" cy="216"/>
              <a:chOff x="3417" y="3011"/>
              <a:chExt cx="935" cy="216"/>
            </a:xfrm>
          </p:grpSpPr>
          <p:grpSp>
            <p:nvGrpSpPr>
              <p:cNvPr id="39961" name="Group 99"/>
              <p:cNvGrpSpPr>
                <a:grpSpLocks/>
              </p:cNvGrpSpPr>
              <p:nvPr/>
            </p:nvGrpSpPr>
            <p:grpSpPr bwMode="auto">
              <a:xfrm>
                <a:off x="3417" y="3012"/>
                <a:ext cx="271" cy="215"/>
                <a:chOff x="2535" y="2956"/>
                <a:chExt cx="271" cy="215"/>
              </a:xfrm>
            </p:grpSpPr>
            <p:sp>
              <p:nvSpPr>
                <p:cNvPr id="39968" name="Oval 100"/>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9969" name="Oval 101"/>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9962" name="Group 102"/>
              <p:cNvGrpSpPr>
                <a:grpSpLocks/>
              </p:cNvGrpSpPr>
              <p:nvPr/>
            </p:nvGrpSpPr>
            <p:grpSpPr bwMode="auto">
              <a:xfrm>
                <a:off x="3749" y="3012"/>
                <a:ext cx="271" cy="215"/>
                <a:chOff x="2535" y="2956"/>
                <a:chExt cx="271" cy="215"/>
              </a:xfrm>
            </p:grpSpPr>
            <p:sp>
              <p:nvSpPr>
                <p:cNvPr id="39966" name="Oval 103"/>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9967" name="Oval 104"/>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39963" name="Group 105"/>
              <p:cNvGrpSpPr>
                <a:grpSpLocks/>
              </p:cNvGrpSpPr>
              <p:nvPr/>
            </p:nvGrpSpPr>
            <p:grpSpPr bwMode="auto">
              <a:xfrm>
                <a:off x="4081" y="3011"/>
                <a:ext cx="271" cy="215"/>
                <a:chOff x="2535" y="2956"/>
                <a:chExt cx="271" cy="215"/>
              </a:xfrm>
            </p:grpSpPr>
            <p:sp>
              <p:nvSpPr>
                <p:cNvPr id="39964" name="Oval 106"/>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39965" name="Oval 107"/>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grpSp>
      <p:sp>
        <p:nvSpPr>
          <p:cNvPr id="39956" name="AutoShape 108"/>
          <p:cNvSpPr>
            <a:spLocks noChangeArrowheads="1"/>
          </p:cNvSpPr>
          <p:nvPr/>
        </p:nvSpPr>
        <p:spPr bwMode="auto">
          <a:xfrm>
            <a:off x="4295775" y="2908300"/>
            <a:ext cx="2668588" cy="1752600"/>
          </a:xfrm>
          <a:prstGeom prst="wedgeRoundRectCallout">
            <a:avLst>
              <a:gd name="adj1" fmla="val -92417"/>
              <a:gd name="adj2" fmla="val -87773"/>
              <a:gd name="adj3" fmla="val 16667"/>
            </a:avLst>
          </a:prstGeom>
          <a:noFill/>
          <a:ln w="38100">
            <a:solidFill>
              <a:schemeClr val="accent2"/>
            </a:solidFill>
            <a:miter lim="800000"/>
            <a:headEnd/>
            <a:tailEnd/>
          </a:ln>
        </p:spPr>
        <p:txBody>
          <a:bodyPr anchor="ctr"/>
          <a:lstStyle/>
          <a:p>
            <a:pPr algn="ctr"/>
            <a:endParaRPr lang="en-US" dirty="0">
              <a:latin typeface="Arial" pitchFamily="34" charset="0"/>
            </a:endParaRPr>
          </a:p>
        </p:txBody>
      </p:sp>
      <p:sp>
        <p:nvSpPr>
          <p:cNvPr id="39957" name="Text Box 109"/>
          <p:cNvSpPr txBox="1">
            <a:spLocks noChangeArrowheads="1"/>
          </p:cNvSpPr>
          <p:nvPr/>
        </p:nvSpPr>
        <p:spPr bwMode="auto">
          <a:xfrm>
            <a:off x="396875" y="1527175"/>
            <a:ext cx="3306763" cy="1384300"/>
          </a:xfrm>
          <a:prstGeom prst="rect">
            <a:avLst/>
          </a:prstGeom>
          <a:noFill/>
          <a:ln w="9525">
            <a:noFill/>
            <a:miter lim="800000"/>
            <a:headEnd/>
            <a:tailEnd/>
          </a:ln>
        </p:spPr>
        <p:txBody>
          <a:bodyPr wrap="none">
            <a:spAutoFit/>
          </a:bodyPr>
          <a:lstStyle/>
          <a:p>
            <a:r>
              <a:rPr lang="en-US" sz="2800" dirty="0">
                <a:solidFill>
                  <a:schemeClr val="tx1"/>
                </a:solidFill>
                <a:latin typeface="Arial" pitchFamily="34" charset="0"/>
              </a:rPr>
              <a:t>Larger and slower</a:t>
            </a:r>
          </a:p>
          <a:p>
            <a:r>
              <a:rPr lang="en-US" sz="2800" dirty="0">
                <a:solidFill>
                  <a:schemeClr val="tx1"/>
                </a:solidFill>
                <a:latin typeface="Arial" pitchFamily="34" charset="0"/>
              </a:rPr>
              <a:t>10s of cycles</a:t>
            </a:r>
          </a:p>
          <a:p>
            <a:r>
              <a:rPr lang="en-US" sz="2800" dirty="0">
                <a:solidFill>
                  <a:schemeClr val="tx1"/>
                </a:solidFill>
                <a:latin typeface="Arial" pitchFamily="34" charset="0"/>
              </a:rPr>
              <a:t>~128 byte line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3"/>
          <p:cNvSpPr>
            <a:spLocks noGrp="1"/>
          </p:cNvSpPr>
          <p:nvPr>
            <p:ph type="ftr" sz="quarter" idx="10"/>
          </p:nvPr>
        </p:nvSpPr>
        <p:spPr>
          <a:noFill/>
        </p:spPr>
        <p:txBody>
          <a:bodyPr/>
          <a:lstStyle/>
          <a:p>
            <a:r>
              <a:rPr lang="en-US"/>
              <a:t>Art of Multiprocessor Programming</a:t>
            </a:r>
          </a:p>
        </p:txBody>
      </p:sp>
      <p:sp>
        <p:nvSpPr>
          <p:cNvPr id="40963" name="Slide Number Placeholder 4"/>
          <p:cNvSpPr>
            <a:spLocks noGrp="1"/>
          </p:cNvSpPr>
          <p:nvPr>
            <p:ph type="sldNum" sz="quarter" idx="11"/>
          </p:nvPr>
        </p:nvSpPr>
        <p:spPr>
          <a:noFill/>
        </p:spPr>
        <p:txBody>
          <a:bodyPr/>
          <a:lstStyle/>
          <a:p>
            <a:fld id="{60C47A25-7D94-4FC6-A9F6-2BB9891A9F2E}" type="slidenum">
              <a:rPr lang="ar-SA" smtClean="0"/>
              <a:pPr/>
              <a:t>39</a:t>
            </a:fld>
            <a:endParaRPr lang="en-US"/>
          </a:p>
        </p:txBody>
      </p:sp>
      <p:sp>
        <p:nvSpPr>
          <p:cNvPr id="40964" name="Rectangle 2"/>
          <p:cNvSpPr>
            <a:spLocks noGrp="1" noChangeArrowheads="1"/>
          </p:cNvSpPr>
          <p:nvPr>
            <p:ph type="title"/>
          </p:nvPr>
        </p:nvSpPr>
        <p:spPr/>
        <p:txBody>
          <a:bodyPr/>
          <a:lstStyle/>
          <a:p>
            <a:r>
              <a:rPr lang="en-US"/>
              <a:t>When a Cache Becomes Full…</a:t>
            </a:r>
          </a:p>
        </p:txBody>
      </p:sp>
      <p:sp>
        <p:nvSpPr>
          <p:cNvPr id="40965" name="Rectangle 3"/>
          <p:cNvSpPr>
            <a:spLocks noGrp="1" noChangeArrowheads="1"/>
          </p:cNvSpPr>
          <p:nvPr>
            <p:ph type="body" idx="1"/>
          </p:nvPr>
        </p:nvSpPr>
        <p:spPr/>
        <p:txBody>
          <a:bodyPr/>
          <a:lstStyle/>
          <a:p>
            <a:r>
              <a:rPr lang="en-US"/>
              <a:t>Need to make room for new entry</a:t>
            </a:r>
          </a:p>
          <a:p>
            <a:r>
              <a:rPr lang="en-US"/>
              <a:t>By </a:t>
            </a:r>
            <a:r>
              <a:rPr lang="en-US">
                <a:solidFill>
                  <a:schemeClr val="tx1"/>
                </a:solidFill>
              </a:rPr>
              <a:t>evicting</a:t>
            </a:r>
            <a:r>
              <a:rPr lang="en-US"/>
              <a:t> an existing entry</a:t>
            </a:r>
          </a:p>
          <a:p>
            <a:r>
              <a:rPr lang="en-US"/>
              <a:t>Need a replacement policy</a:t>
            </a:r>
          </a:p>
          <a:p>
            <a:pPr lvl="1"/>
            <a:r>
              <a:rPr lang="en-US"/>
              <a:t>Usually some kind of </a:t>
            </a:r>
            <a:r>
              <a:rPr lang="en-US">
                <a:solidFill>
                  <a:schemeClr val="tx1"/>
                </a:solidFill>
              </a:rPr>
              <a:t>least recently used</a:t>
            </a:r>
            <a:r>
              <a:rPr lang="en-US"/>
              <a:t> heuristic</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p:cNvSpPr>
            <a:spLocks noGrp="1"/>
          </p:cNvSpPr>
          <p:nvPr>
            <p:ph type="ftr" sz="quarter" idx="10"/>
          </p:nvPr>
        </p:nvSpPr>
        <p:spPr>
          <a:noFill/>
        </p:spPr>
        <p:txBody>
          <a:bodyPr/>
          <a:lstStyle/>
          <a:p>
            <a:r>
              <a:rPr lang="en-US"/>
              <a:t>Art of Multiprocessor Programming</a:t>
            </a:r>
          </a:p>
        </p:txBody>
      </p:sp>
      <p:sp>
        <p:nvSpPr>
          <p:cNvPr id="41987" name="Slide Number Placeholder 4"/>
          <p:cNvSpPr>
            <a:spLocks noGrp="1"/>
          </p:cNvSpPr>
          <p:nvPr>
            <p:ph type="sldNum" sz="quarter" idx="11"/>
          </p:nvPr>
        </p:nvSpPr>
        <p:spPr>
          <a:noFill/>
        </p:spPr>
        <p:txBody>
          <a:bodyPr/>
          <a:lstStyle/>
          <a:p>
            <a:fld id="{C08AAF47-4C11-4E11-8C5A-8B925E4CAC94}" type="slidenum">
              <a:rPr lang="ar-SA" smtClean="0"/>
              <a:pPr/>
              <a:t>40</a:t>
            </a:fld>
            <a:endParaRPr lang="en-US"/>
          </a:p>
        </p:txBody>
      </p:sp>
      <p:sp>
        <p:nvSpPr>
          <p:cNvPr id="41988" name="Rectangle 2"/>
          <p:cNvSpPr>
            <a:spLocks noGrp="1" noChangeArrowheads="1"/>
          </p:cNvSpPr>
          <p:nvPr>
            <p:ph type="title"/>
          </p:nvPr>
        </p:nvSpPr>
        <p:spPr/>
        <p:txBody>
          <a:bodyPr/>
          <a:lstStyle/>
          <a:p>
            <a:r>
              <a:rPr lang="en-US"/>
              <a:t>Fully Associative Cache</a:t>
            </a:r>
          </a:p>
        </p:txBody>
      </p:sp>
      <p:sp>
        <p:nvSpPr>
          <p:cNvPr id="41989" name="Rectangle 3"/>
          <p:cNvSpPr>
            <a:spLocks noGrp="1" noChangeArrowheads="1"/>
          </p:cNvSpPr>
          <p:nvPr>
            <p:ph type="body" idx="1"/>
          </p:nvPr>
        </p:nvSpPr>
        <p:spPr/>
        <p:txBody>
          <a:bodyPr/>
          <a:lstStyle/>
          <a:p>
            <a:r>
              <a:rPr lang="en-US"/>
              <a:t>Any line can be anywhere in the cache</a:t>
            </a:r>
          </a:p>
          <a:p>
            <a:pPr lvl="1"/>
            <a:r>
              <a:rPr lang="en-US"/>
              <a:t>Advantage: can replace any line</a:t>
            </a:r>
          </a:p>
          <a:p>
            <a:pPr lvl="1"/>
            <a:r>
              <a:rPr lang="en-US"/>
              <a:t>Disadvantage: hard to find lines</a:t>
            </a:r>
          </a:p>
        </p:txBody>
      </p:sp>
      <p:sp>
        <p:nvSpPr>
          <p:cNvPr id="41990" name="Freeform 4"/>
          <p:cNvSpPr>
            <a:spLocks/>
          </p:cNvSpPr>
          <p:nvPr/>
        </p:nvSpPr>
        <p:spPr bwMode="auto">
          <a:xfrm>
            <a:off x="3373438" y="4376738"/>
            <a:ext cx="2987675" cy="1633537"/>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grpSp>
        <p:nvGrpSpPr>
          <p:cNvPr id="41991" name="Group 7"/>
          <p:cNvGrpSpPr>
            <a:grpSpLocks/>
          </p:cNvGrpSpPr>
          <p:nvPr/>
        </p:nvGrpSpPr>
        <p:grpSpPr bwMode="auto">
          <a:xfrm>
            <a:off x="4876800" y="4406900"/>
            <a:ext cx="430213" cy="341313"/>
            <a:chOff x="2439" y="2860"/>
            <a:chExt cx="271" cy="215"/>
          </a:xfrm>
        </p:grpSpPr>
        <p:sp>
          <p:nvSpPr>
            <p:cNvPr id="42062" name="Oval 8"/>
            <p:cNvSpPr>
              <a:spLocks noChangeArrowheads="1"/>
            </p:cNvSpPr>
            <p:nvPr/>
          </p:nvSpPr>
          <p:spPr bwMode="auto">
            <a:xfrm>
              <a:off x="2439" y="2860"/>
              <a:ext cx="271" cy="215"/>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42063" name="Oval 9"/>
            <p:cNvSpPr>
              <a:spLocks noChangeArrowheads="1"/>
            </p:cNvSpPr>
            <p:nvPr/>
          </p:nvSpPr>
          <p:spPr bwMode="auto">
            <a:xfrm>
              <a:off x="2593" y="28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1992" name="Group 10"/>
          <p:cNvGrpSpPr>
            <a:grpSpLocks/>
          </p:cNvGrpSpPr>
          <p:nvPr/>
        </p:nvGrpSpPr>
        <p:grpSpPr bwMode="auto">
          <a:xfrm>
            <a:off x="4759325" y="4976813"/>
            <a:ext cx="430213" cy="341312"/>
            <a:chOff x="2535" y="2956"/>
            <a:chExt cx="271" cy="215"/>
          </a:xfrm>
        </p:grpSpPr>
        <p:sp>
          <p:nvSpPr>
            <p:cNvPr id="42060" name="Oval 11"/>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61" name="Oval 12"/>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1993" name="Group 13"/>
          <p:cNvGrpSpPr>
            <a:grpSpLocks/>
          </p:cNvGrpSpPr>
          <p:nvPr/>
        </p:nvGrpSpPr>
        <p:grpSpPr bwMode="auto">
          <a:xfrm>
            <a:off x="4503738" y="4813300"/>
            <a:ext cx="430212" cy="341313"/>
            <a:chOff x="2439" y="2860"/>
            <a:chExt cx="271" cy="215"/>
          </a:xfrm>
        </p:grpSpPr>
        <p:sp>
          <p:nvSpPr>
            <p:cNvPr id="42058" name="Oval 14"/>
            <p:cNvSpPr>
              <a:spLocks noChangeArrowheads="1"/>
            </p:cNvSpPr>
            <p:nvPr/>
          </p:nvSpPr>
          <p:spPr bwMode="auto">
            <a:xfrm>
              <a:off x="2439" y="2860"/>
              <a:ext cx="271" cy="215"/>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42059" name="Oval 15"/>
            <p:cNvSpPr>
              <a:spLocks noChangeArrowheads="1"/>
            </p:cNvSpPr>
            <p:nvPr/>
          </p:nvSpPr>
          <p:spPr bwMode="auto">
            <a:xfrm>
              <a:off x="2593" y="28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1994" name="Group 16"/>
          <p:cNvGrpSpPr>
            <a:grpSpLocks/>
          </p:cNvGrpSpPr>
          <p:nvPr/>
        </p:nvGrpSpPr>
        <p:grpSpPr bwMode="auto">
          <a:xfrm>
            <a:off x="4911725" y="5129213"/>
            <a:ext cx="430213" cy="341312"/>
            <a:chOff x="2535" y="2956"/>
            <a:chExt cx="271" cy="215"/>
          </a:xfrm>
        </p:grpSpPr>
        <p:sp>
          <p:nvSpPr>
            <p:cNvPr id="42056" name="Oval 17"/>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57" name="Oval 18"/>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1995" name="Group 19"/>
          <p:cNvGrpSpPr>
            <a:grpSpLocks/>
          </p:cNvGrpSpPr>
          <p:nvPr/>
        </p:nvGrpSpPr>
        <p:grpSpPr bwMode="auto">
          <a:xfrm>
            <a:off x="4675188" y="5041900"/>
            <a:ext cx="430212" cy="341313"/>
            <a:chOff x="2535" y="2956"/>
            <a:chExt cx="271" cy="215"/>
          </a:xfrm>
        </p:grpSpPr>
        <p:sp>
          <p:nvSpPr>
            <p:cNvPr id="42054" name="Oval 20"/>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55" name="Oval 21"/>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1996" name="Group 22"/>
          <p:cNvGrpSpPr>
            <a:grpSpLocks/>
          </p:cNvGrpSpPr>
          <p:nvPr/>
        </p:nvGrpSpPr>
        <p:grpSpPr bwMode="auto">
          <a:xfrm>
            <a:off x="4827588" y="5194300"/>
            <a:ext cx="430212" cy="341313"/>
            <a:chOff x="2535" y="2956"/>
            <a:chExt cx="271" cy="215"/>
          </a:xfrm>
        </p:grpSpPr>
        <p:sp>
          <p:nvSpPr>
            <p:cNvPr id="42052" name="Oval 23"/>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53" name="Oval 24"/>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1997" name="Group 25"/>
          <p:cNvGrpSpPr>
            <a:grpSpLocks/>
          </p:cNvGrpSpPr>
          <p:nvPr/>
        </p:nvGrpSpPr>
        <p:grpSpPr bwMode="auto">
          <a:xfrm>
            <a:off x="4979988" y="5346700"/>
            <a:ext cx="430212" cy="341313"/>
            <a:chOff x="2535" y="2956"/>
            <a:chExt cx="271" cy="215"/>
          </a:xfrm>
        </p:grpSpPr>
        <p:sp>
          <p:nvSpPr>
            <p:cNvPr id="42050" name="Oval 26"/>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51" name="Oval 27"/>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1998" name="Group 28"/>
          <p:cNvGrpSpPr>
            <a:grpSpLocks/>
          </p:cNvGrpSpPr>
          <p:nvPr/>
        </p:nvGrpSpPr>
        <p:grpSpPr bwMode="auto">
          <a:xfrm>
            <a:off x="4622800" y="4675188"/>
            <a:ext cx="430213" cy="341312"/>
            <a:chOff x="2535" y="2956"/>
            <a:chExt cx="271" cy="215"/>
          </a:xfrm>
        </p:grpSpPr>
        <p:sp>
          <p:nvSpPr>
            <p:cNvPr id="42048" name="Oval 29"/>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49" name="Oval 30"/>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1999" name="Group 31"/>
          <p:cNvGrpSpPr>
            <a:grpSpLocks/>
          </p:cNvGrpSpPr>
          <p:nvPr/>
        </p:nvGrpSpPr>
        <p:grpSpPr bwMode="auto">
          <a:xfrm>
            <a:off x="5045075" y="4721225"/>
            <a:ext cx="430213" cy="341313"/>
            <a:chOff x="2535" y="2956"/>
            <a:chExt cx="271" cy="215"/>
          </a:xfrm>
        </p:grpSpPr>
        <p:sp>
          <p:nvSpPr>
            <p:cNvPr id="42046" name="Oval 32"/>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47" name="Oval 33"/>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00" name="Group 34"/>
          <p:cNvGrpSpPr>
            <a:grpSpLocks/>
          </p:cNvGrpSpPr>
          <p:nvPr/>
        </p:nvGrpSpPr>
        <p:grpSpPr bwMode="auto">
          <a:xfrm>
            <a:off x="5137150" y="4964113"/>
            <a:ext cx="430213" cy="341312"/>
            <a:chOff x="2535" y="2956"/>
            <a:chExt cx="271" cy="215"/>
          </a:xfrm>
        </p:grpSpPr>
        <p:sp>
          <p:nvSpPr>
            <p:cNvPr id="42044" name="Oval 35"/>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45" name="Oval 36"/>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01" name="Group 37"/>
          <p:cNvGrpSpPr>
            <a:grpSpLocks/>
          </p:cNvGrpSpPr>
          <p:nvPr/>
        </p:nvGrpSpPr>
        <p:grpSpPr bwMode="auto">
          <a:xfrm>
            <a:off x="5394325" y="4651375"/>
            <a:ext cx="430213" cy="341313"/>
            <a:chOff x="2535" y="2956"/>
            <a:chExt cx="271" cy="215"/>
          </a:xfrm>
        </p:grpSpPr>
        <p:sp>
          <p:nvSpPr>
            <p:cNvPr id="42042" name="Oval 38"/>
            <p:cNvSpPr>
              <a:spLocks noChangeArrowheads="1"/>
            </p:cNvSpPr>
            <p:nvPr/>
          </p:nvSpPr>
          <p:spPr bwMode="auto">
            <a:xfrm>
              <a:off x="2535" y="2956"/>
              <a:ext cx="271" cy="215"/>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43" name="Oval 39"/>
            <p:cNvSpPr>
              <a:spLocks noChangeArrowheads="1"/>
            </p:cNvSpPr>
            <p:nvPr/>
          </p:nvSpPr>
          <p:spPr bwMode="auto">
            <a:xfrm>
              <a:off x="2689" y="2994"/>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02" name="Group 40"/>
          <p:cNvGrpSpPr>
            <a:grpSpLocks/>
          </p:cNvGrpSpPr>
          <p:nvPr/>
        </p:nvGrpSpPr>
        <p:grpSpPr bwMode="auto">
          <a:xfrm>
            <a:off x="5029200" y="4559300"/>
            <a:ext cx="430213" cy="341313"/>
            <a:chOff x="2439" y="2860"/>
            <a:chExt cx="271" cy="215"/>
          </a:xfrm>
        </p:grpSpPr>
        <p:sp>
          <p:nvSpPr>
            <p:cNvPr id="42040" name="Oval 41"/>
            <p:cNvSpPr>
              <a:spLocks noChangeArrowheads="1"/>
            </p:cNvSpPr>
            <p:nvPr/>
          </p:nvSpPr>
          <p:spPr bwMode="auto">
            <a:xfrm>
              <a:off x="2439" y="2860"/>
              <a:ext cx="271" cy="215"/>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42041" name="Oval 42"/>
            <p:cNvSpPr>
              <a:spLocks noChangeArrowheads="1"/>
            </p:cNvSpPr>
            <p:nvPr/>
          </p:nvSpPr>
          <p:spPr bwMode="auto">
            <a:xfrm>
              <a:off x="2593" y="28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03" name="Group 43"/>
          <p:cNvGrpSpPr>
            <a:grpSpLocks/>
          </p:cNvGrpSpPr>
          <p:nvPr/>
        </p:nvGrpSpPr>
        <p:grpSpPr bwMode="auto">
          <a:xfrm>
            <a:off x="4537075" y="5162550"/>
            <a:ext cx="430213" cy="341313"/>
            <a:chOff x="2439" y="2860"/>
            <a:chExt cx="271" cy="215"/>
          </a:xfrm>
        </p:grpSpPr>
        <p:sp>
          <p:nvSpPr>
            <p:cNvPr id="42038" name="Oval 44"/>
            <p:cNvSpPr>
              <a:spLocks noChangeArrowheads="1"/>
            </p:cNvSpPr>
            <p:nvPr/>
          </p:nvSpPr>
          <p:spPr bwMode="auto">
            <a:xfrm>
              <a:off x="2439" y="2860"/>
              <a:ext cx="271" cy="215"/>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42039" name="Oval 45"/>
            <p:cNvSpPr>
              <a:spLocks noChangeArrowheads="1"/>
            </p:cNvSpPr>
            <p:nvPr/>
          </p:nvSpPr>
          <p:spPr bwMode="auto">
            <a:xfrm>
              <a:off x="2593" y="28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04" name="Group 46"/>
          <p:cNvGrpSpPr>
            <a:grpSpLocks/>
          </p:cNvGrpSpPr>
          <p:nvPr/>
        </p:nvGrpSpPr>
        <p:grpSpPr bwMode="auto">
          <a:xfrm>
            <a:off x="5334000" y="4983163"/>
            <a:ext cx="430213" cy="341312"/>
            <a:chOff x="2439" y="2860"/>
            <a:chExt cx="271" cy="215"/>
          </a:xfrm>
        </p:grpSpPr>
        <p:sp>
          <p:nvSpPr>
            <p:cNvPr id="42036" name="Oval 47"/>
            <p:cNvSpPr>
              <a:spLocks noChangeArrowheads="1"/>
            </p:cNvSpPr>
            <p:nvPr/>
          </p:nvSpPr>
          <p:spPr bwMode="auto">
            <a:xfrm>
              <a:off x="2439" y="2860"/>
              <a:ext cx="271" cy="215"/>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42037" name="Oval 48"/>
            <p:cNvSpPr>
              <a:spLocks noChangeArrowheads="1"/>
            </p:cNvSpPr>
            <p:nvPr/>
          </p:nvSpPr>
          <p:spPr bwMode="auto">
            <a:xfrm>
              <a:off x="2593" y="28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05" name="Group 49"/>
          <p:cNvGrpSpPr>
            <a:grpSpLocks/>
          </p:cNvGrpSpPr>
          <p:nvPr/>
        </p:nvGrpSpPr>
        <p:grpSpPr bwMode="auto">
          <a:xfrm>
            <a:off x="5561013" y="5362575"/>
            <a:ext cx="430212" cy="341313"/>
            <a:chOff x="2439" y="2860"/>
            <a:chExt cx="271" cy="215"/>
          </a:xfrm>
        </p:grpSpPr>
        <p:sp>
          <p:nvSpPr>
            <p:cNvPr id="42034" name="Oval 50"/>
            <p:cNvSpPr>
              <a:spLocks noChangeArrowheads="1"/>
            </p:cNvSpPr>
            <p:nvPr/>
          </p:nvSpPr>
          <p:spPr bwMode="auto">
            <a:xfrm>
              <a:off x="2439" y="2860"/>
              <a:ext cx="271" cy="215"/>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42035" name="Oval 51"/>
            <p:cNvSpPr>
              <a:spLocks noChangeArrowheads="1"/>
            </p:cNvSpPr>
            <p:nvPr/>
          </p:nvSpPr>
          <p:spPr bwMode="auto">
            <a:xfrm>
              <a:off x="2593" y="28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06" name="Group 52"/>
          <p:cNvGrpSpPr>
            <a:grpSpLocks/>
          </p:cNvGrpSpPr>
          <p:nvPr/>
        </p:nvGrpSpPr>
        <p:grpSpPr bwMode="auto">
          <a:xfrm>
            <a:off x="4724400" y="5468938"/>
            <a:ext cx="430213" cy="341312"/>
            <a:chOff x="2439" y="2860"/>
            <a:chExt cx="271" cy="215"/>
          </a:xfrm>
        </p:grpSpPr>
        <p:sp>
          <p:nvSpPr>
            <p:cNvPr id="42032" name="Oval 53"/>
            <p:cNvSpPr>
              <a:spLocks noChangeArrowheads="1"/>
            </p:cNvSpPr>
            <p:nvPr/>
          </p:nvSpPr>
          <p:spPr bwMode="auto">
            <a:xfrm>
              <a:off x="2439" y="2860"/>
              <a:ext cx="271" cy="215"/>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42033" name="Oval 54"/>
            <p:cNvSpPr>
              <a:spLocks noChangeArrowheads="1"/>
            </p:cNvSpPr>
            <p:nvPr/>
          </p:nvSpPr>
          <p:spPr bwMode="auto">
            <a:xfrm>
              <a:off x="2593" y="28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07" name="Group 55"/>
          <p:cNvGrpSpPr>
            <a:grpSpLocks/>
          </p:cNvGrpSpPr>
          <p:nvPr/>
        </p:nvGrpSpPr>
        <p:grpSpPr bwMode="auto">
          <a:xfrm>
            <a:off x="4038600" y="5395913"/>
            <a:ext cx="430213" cy="341312"/>
            <a:chOff x="2439" y="2860"/>
            <a:chExt cx="271" cy="215"/>
          </a:xfrm>
        </p:grpSpPr>
        <p:sp>
          <p:nvSpPr>
            <p:cNvPr id="42030" name="Oval 56"/>
            <p:cNvSpPr>
              <a:spLocks noChangeArrowheads="1"/>
            </p:cNvSpPr>
            <p:nvPr/>
          </p:nvSpPr>
          <p:spPr bwMode="auto">
            <a:xfrm>
              <a:off x="2439" y="2860"/>
              <a:ext cx="271" cy="215"/>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42031" name="Oval 57"/>
            <p:cNvSpPr>
              <a:spLocks noChangeArrowheads="1"/>
            </p:cNvSpPr>
            <p:nvPr/>
          </p:nvSpPr>
          <p:spPr bwMode="auto">
            <a:xfrm>
              <a:off x="2593" y="28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08" name="Group 58"/>
          <p:cNvGrpSpPr>
            <a:grpSpLocks/>
          </p:cNvGrpSpPr>
          <p:nvPr/>
        </p:nvGrpSpPr>
        <p:grpSpPr bwMode="auto">
          <a:xfrm>
            <a:off x="2058988" y="4192588"/>
            <a:ext cx="1377950" cy="423862"/>
            <a:chOff x="1313" y="2496"/>
            <a:chExt cx="1252" cy="427"/>
          </a:xfrm>
        </p:grpSpPr>
        <p:sp>
          <p:nvSpPr>
            <p:cNvPr id="42026" name="Freeform 59"/>
            <p:cNvSpPr>
              <a:spLocks/>
            </p:cNvSpPr>
            <p:nvPr/>
          </p:nvSpPr>
          <p:spPr bwMode="auto">
            <a:xfrm>
              <a:off x="1945" y="2502"/>
              <a:ext cx="620" cy="421"/>
            </a:xfrm>
            <a:custGeom>
              <a:avLst/>
              <a:gdLst>
                <a:gd name="T0" fmla="*/ 775 w 348"/>
                <a:gd name="T1" fmla="*/ 3569 h 228"/>
                <a:gd name="T2" fmla="*/ 3930 w 348"/>
                <a:gd name="T3" fmla="*/ 0 h 228"/>
                <a:gd name="T4" fmla="*/ 11135 w 348"/>
                <a:gd name="T5" fmla="*/ 9035 h 228"/>
                <a:gd name="T6" fmla="*/ 6802 w 348"/>
                <a:gd name="T7" fmla="*/ 5244 h 228"/>
                <a:gd name="T8" fmla="*/ 8637 w 348"/>
                <a:gd name="T9" fmla="*/ 8091 h 228"/>
                <a:gd name="T10" fmla="*/ 4614 w 348"/>
                <a:gd name="T11" fmla="*/ 4998 h 228"/>
                <a:gd name="T12" fmla="*/ 7192 w 348"/>
                <a:gd name="T13" fmla="*/ 7624 h 228"/>
                <a:gd name="T14" fmla="*/ 0 w 348"/>
                <a:gd name="T15" fmla="*/ 4409 h 228"/>
                <a:gd name="T16" fmla="*/ 775 w 348"/>
                <a:gd name="T17" fmla="*/ 3569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27" name="Freeform 60"/>
            <p:cNvSpPr>
              <a:spLocks/>
            </p:cNvSpPr>
            <p:nvPr/>
          </p:nvSpPr>
          <p:spPr bwMode="auto">
            <a:xfrm>
              <a:off x="1313" y="2496"/>
              <a:ext cx="620" cy="427"/>
            </a:xfrm>
            <a:custGeom>
              <a:avLst/>
              <a:gdLst>
                <a:gd name="T0" fmla="*/ 10266 w 348"/>
                <a:gd name="T1" fmla="*/ 3483 h 231"/>
                <a:gd name="T2" fmla="*/ 7192 w 348"/>
                <a:gd name="T3" fmla="*/ 0 h 231"/>
                <a:gd name="T4" fmla="*/ 0 w 348"/>
                <a:gd name="T5" fmla="*/ 9209 h 231"/>
                <a:gd name="T6" fmla="*/ 4796 w 348"/>
                <a:gd name="T7" fmla="*/ 5396 h 231"/>
                <a:gd name="T8" fmla="*/ 2498 w 348"/>
                <a:gd name="T9" fmla="*/ 8268 h 231"/>
                <a:gd name="T10" fmla="*/ 6802 w 348"/>
                <a:gd name="T11" fmla="*/ 5268 h 231"/>
                <a:gd name="T12" fmla="*/ 4411 w 348"/>
                <a:gd name="T13" fmla="*/ 7900 h 231"/>
                <a:gd name="T14" fmla="*/ 11135 w 348"/>
                <a:gd name="T15" fmla="*/ 4555 h 231"/>
                <a:gd name="T16" fmla="*/ 10266 w 348"/>
                <a:gd name="T17" fmla="*/ 3483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28" name="Oval 61"/>
            <p:cNvSpPr>
              <a:spLocks noChangeArrowheads="1"/>
            </p:cNvSpPr>
            <p:nvPr/>
          </p:nvSpPr>
          <p:spPr bwMode="auto">
            <a:xfrm>
              <a:off x="1722" y="2579"/>
              <a:ext cx="391" cy="344"/>
            </a:xfrm>
            <a:prstGeom prst="ellipse">
              <a:avLst/>
            </a:prstGeom>
            <a:solidFill>
              <a:srgbClr val="00CC99"/>
            </a:solidFill>
            <a:ln w="38100">
              <a:solidFill>
                <a:schemeClr val="tx1"/>
              </a:solidFill>
              <a:round/>
              <a:headEnd/>
              <a:tailEnd/>
            </a:ln>
          </p:spPr>
          <p:txBody>
            <a:bodyPr wrap="none" anchor="ctr"/>
            <a:lstStyle/>
            <a:p>
              <a:endParaRPr lang="en-US" dirty="0">
                <a:latin typeface="Arial" pitchFamily="34" charset="0"/>
              </a:endParaRPr>
            </a:p>
          </p:txBody>
        </p:sp>
        <p:sp>
          <p:nvSpPr>
            <p:cNvPr id="42029" name="Oval 62"/>
            <p:cNvSpPr>
              <a:spLocks noChangeArrowheads="1"/>
            </p:cNvSpPr>
            <p:nvPr/>
          </p:nvSpPr>
          <p:spPr bwMode="auto">
            <a:xfrm>
              <a:off x="1945" y="2640"/>
              <a:ext cx="102" cy="96"/>
            </a:xfrm>
            <a:prstGeom prst="ellipse">
              <a:avLst/>
            </a:prstGeom>
            <a:solidFill>
              <a:schemeClr val="hlink"/>
            </a:solidFill>
            <a:ln w="19050">
              <a:solidFill>
                <a:schemeClr val="tx1"/>
              </a:solidFill>
              <a:round/>
              <a:headEnd/>
              <a:tailEnd/>
            </a:ln>
          </p:spPr>
          <p:txBody>
            <a:bodyPr wrap="none" anchor="ctr"/>
            <a:lstStyle/>
            <a:p>
              <a:endParaRPr lang="en-US" dirty="0">
                <a:latin typeface="Arial" pitchFamily="34" charset="0"/>
              </a:endParaRPr>
            </a:p>
          </p:txBody>
        </p:sp>
      </p:grpSp>
      <p:sp>
        <p:nvSpPr>
          <p:cNvPr id="42009" name="Freeform 68"/>
          <p:cNvSpPr>
            <a:spLocks/>
          </p:cNvSpPr>
          <p:nvPr/>
        </p:nvSpPr>
        <p:spPr bwMode="auto">
          <a:xfrm>
            <a:off x="1198563" y="4832350"/>
            <a:ext cx="2894012" cy="384175"/>
          </a:xfrm>
          <a:custGeom>
            <a:avLst/>
            <a:gdLst>
              <a:gd name="T0" fmla="*/ 0 w 1823"/>
              <a:gd name="T1" fmla="*/ 2147483647 h 242"/>
              <a:gd name="T2" fmla="*/ 2147483647 w 1823"/>
              <a:gd name="T3" fmla="*/ 2147483647 h 242"/>
              <a:gd name="T4" fmla="*/ 2147483647 w 1823"/>
              <a:gd name="T5" fmla="*/ 2147483647 h 242"/>
              <a:gd name="T6" fmla="*/ 0 60000 65536"/>
              <a:gd name="T7" fmla="*/ 0 60000 65536"/>
              <a:gd name="T8" fmla="*/ 0 60000 65536"/>
              <a:gd name="T9" fmla="*/ 0 w 1823"/>
              <a:gd name="T10" fmla="*/ 0 h 242"/>
              <a:gd name="T11" fmla="*/ 1823 w 1823"/>
              <a:gd name="T12" fmla="*/ 242 h 242"/>
            </a:gdLst>
            <a:ahLst/>
            <a:cxnLst>
              <a:cxn ang="T6">
                <a:pos x="T0" y="T1"/>
              </a:cxn>
              <a:cxn ang="T7">
                <a:pos x="T2" y="T3"/>
              </a:cxn>
              <a:cxn ang="T8">
                <a:pos x="T4" y="T5"/>
              </a:cxn>
            </a:cxnLst>
            <a:rect l="T9" t="T10" r="T11" b="T12"/>
            <a:pathLst>
              <a:path w="1823" h="242">
                <a:moveTo>
                  <a:pt x="0" y="204"/>
                </a:moveTo>
                <a:cubicBezTo>
                  <a:pt x="278" y="102"/>
                  <a:pt x="556" y="0"/>
                  <a:pt x="860" y="6"/>
                </a:cubicBezTo>
                <a:cubicBezTo>
                  <a:pt x="1164" y="12"/>
                  <a:pt x="1493" y="127"/>
                  <a:pt x="1823" y="242"/>
                </a:cubicBezTo>
              </a:path>
            </a:pathLst>
          </a:custGeom>
          <a:noFill/>
          <a:ln w="76200">
            <a:solidFill>
              <a:schemeClr val="tx1"/>
            </a:solidFill>
            <a:round/>
            <a:headEnd/>
            <a:tailEnd type="triangle" w="med" len="med"/>
          </a:ln>
        </p:spPr>
        <p:txBody>
          <a:bodyPr wrap="none" anchor="ctr"/>
          <a:lstStyle/>
          <a:p>
            <a:endParaRPr lang="en-US" dirty="0">
              <a:latin typeface="Arial" pitchFamily="34" charset="0"/>
            </a:endParaRPr>
          </a:p>
        </p:txBody>
      </p:sp>
      <p:sp>
        <p:nvSpPr>
          <p:cNvPr id="42010" name="Freeform 69"/>
          <p:cNvSpPr>
            <a:spLocks/>
          </p:cNvSpPr>
          <p:nvPr/>
        </p:nvSpPr>
        <p:spPr bwMode="auto">
          <a:xfrm>
            <a:off x="5905500" y="4570413"/>
            <a:ext cx="1993900" cy="631825"/>
          </a:xfrm>
          <a:custGeom>
            <a:avLst/>
            <a:gdLst>
              <a:gd name="T0" fmla="*/ 0 w 1256"/>
              <a:gd name="T1" fmla="*/ 2147483647 h 398"/>
              <a:gd name="T2" fmla="*/ 2147483647 w 1256"/>
              <a:gd name="T3" fmla="*/ 2147483647 h 398"/>
              <a:gd name="T4" fmla="*/ 2147483647 w 1256"/>
              <a:gd name="T5" fmla="*/ 2147483647 h 398"/>
              <a:gd name="T6" fmla="*/ 0 60000 65536"/>
              <a:gd name="T7" fmla="*/ 0 60000 65536"/>
              <a:gd name="T8" fmla="*/ 0 60000 65536"/>
              <a:gd name="T9" fmla="*/ 0 w 1256"/>
              <a:gd name="T10" fmla="*/ 0 h 398"/>
              <a:gd name="T11" fmla="*/ 1256 w 1256"/>
              <a:gd name="T12" fmla="*/ 398 h 398"/>
            </a:gdLst>
            <a:ahLst/>
            <a:cxnLst>
              <a:cxn ang="T6">
                <a:pos x="T0" y="T1"/>
              </a:cxn>
              <a:cxn ang="T7">
                <a:pos x="T2" y="T3"/>
              </a:cxn>
              <a:cxn ang="T8">
                <a:pos x="T4" y="T5"/>
              </a:cxn>
            </a:cxnLst>
            <a:rect l="T9" t="T10" r="T11" b="T12"/>
            <a:pathLst>
              <a:path w="1256" h="398">
                <a:moveTo>
                  <a:pt x="0" y="265"/>
                </a:moveTo>
                <a:cubicBezTo>
                  <a:pt x="85" y="228"/>
                  <a:pt x="303" y="0"/>
                  <a:pt x="512" y="22"/>
                </a:cubicBezTo>
                <a:cubicBezTo>
                  <a:pt x="721" y="44"/>
                  <a:pt x="1101" y="320"/>
                  <a:pt x="1256" y="398"/>
                </a:cubicBezTo>
              </a:path>
            </a:pathLst>
          </a:custGeom>
          <a:noFill/>
          <a:ln w="76200">
            <a:solidFill>
              <a:schemeClr val="tx1"/>
            </a:solidFill>
            <a:round/>
            <a:headEnd/>
            <a:tailEnd type="triangle" w="med" len="med"/>
          </a:ln>
        </p:spPr>
        <p:txBody>
          <a:bodyPr wrap="none" anchor="ctr"/>
          <a:lstStyle/>
          <a:p>
            <a:endParaRPr lang="en-US" dirty="0">
              <a:latin typeface="Arial" pitchFamily="34" charset="0"/>
            </a:endParaRPr>
          </a:p>
        </p:txBody>
      </p:sp>
      <p:grpSp>
        <p:nvGrpSpPr>
          <p:cNvPr id="42011" name="Group 70"/>
          <p:cNvGrpSpPr>
            <a:grpSpLocks/>
          </p:cNvGrpSpPr>
          <p:nvPr/>
        </p:nvGrpSpPr>
        <p:grpSpPr bwMode="auto">
          <a:xfrm>
            <a:off x="4811713" y="5064125"/>
            <a:ext cx="430212" cy="341313"/>
            <a:chOff x="2439" y="2860"/>
            <a:chExt cx="271" cy="215"/>
          </a:xfrm>
        </p:grpSpPr>
        <p:sp>
          <p:nvSpPr>
            <p:cNvPr id="42024" name="Oval 71"/>
            <p:cNvSpPr>
              <a:spLocks noChangeArrowheads="1"/>
            </p:cNvSpPr>
            <p:nvPr/>
          </p:nvSpPr>
          <p:spPr bwMode="auto">
            <a:xfrm>
              <a:off x="2439" y="2860"/>
              <a:ext cx="271" cy="215"/>
            </a:xfrm>
            <a:prstGeom prst="ellipse">
              <a:avLst/>
            </a:pr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42025" name="Oval 72"/>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12" name="Group 73"/>
          <p:cNvGrpSpPr>
            <a:grpSpLocks/>
          </p:cNvGrpSpPr>
          <p:nvPr/>
        </p:nvGrpSpPr>
        <p:grpSpPr bwMode="auto">
          <a:xfrm>
            <a:off x="4273550" y="4632325"/>
            <a:ext cx="430213" cy="341313"/>
            <a:chOff x="2439" y="2860"/>
            <a:chExt cx="271" cy="215"/>
          </a:xfrm>
        </p:grpSpPr>
        <p:sp>
          <p:nvSpPr>
            <p:cNvPr id="42022" name="Oval 74"/>
            <p:cNvSpPr>
              <a:spLocks noChangeArrowheads="1"/>
            </p:cNvSpPr>
            <p:nvPr/>
          </p:nvSpPr>
          <p:spPr bwMode="auto">
            <a:xfrm>
              <a:off x="2439" y="2860"/>
              <a:ext cx="271" cy="215"/>
            </a:xfrm>
            <a:prstGeom prst="ellipse">
              <a:avLst/>
            </a:pr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42023" name="Oval 75"/>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13" name="Group 76"/>
          <p:cNvGrpSpPr>
            <a:grpSpLocks/>
          </p:cNvGrpSpPr>
          <p:nvPr/>
        </p:nvGrpSpPr>
        <p:grpSpPr bwMode="auto">
          <a:xfrm>
            <a:off x="5456238" y="4556125"/>
            <a:ext cx="430212" cy="341313"/>
            <a:chOff x="2439" y="2860"/>
            <a:chExt cx="271" cy="215"/>
          </a:xfrm>
        </p:grpSpPr>
        <p:sp>
          <p:nvSpPr>
            <p:cNvPr id="42020" name="Oval 77"/>
            <p:cNvSpPr>
              <a:spLocks noChangeArrowheads="1"/>
            </p:cNvSpPr>
            <p:nvPr/>
          </p:nvSpPr>
          <p:spPr bwMode="auto">
            <a:xfrm>
              <a:off x="2439" y="2860"/>
              <a:ext cx="271" cy="215"/>
            </a:xfrm>
            <a:prstGeom prst="ellipse">
              <a:avLst/>
            </a:prstGeom>
            <a:solidFill>
              <a:srgbClr val="66FFFF"/>
            </a:solidFill>
            <a:ln w="38100">
              <a:solidFill>
                <a:schemeClr val="tx1"/>
              </a:solidFill>
              <a:round/>
              <a:headEnd/>
              <a:tailEnd/>
            </a:ln>
          </p:spPr>
          <p:txBody>
            <a:bodyPr wrap="none" anchor="ctr"/>
            <a:lstStyle/>
            <a:p>
              <a:endParaRPr lang="en-US" dirty="0">
                <a:latin typeface="Arial" pitchFamily="34" charset="0"/>
              </a:endParaRPr>
            </a:p>
          </p:txBody>
        </p:sp>
        <p:sp>
          <p:nvSpPr>
            <p:cNvPr id="42021" name="Oval 78"/>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14" name="Group 79"/>
          <p:cNvGrpSpPr>
            <a:grpSpLocks/>
          </p:cNvGrpSpPr>
          <p:nvPr/>
        </p:nvGrpSpPr>
        <p:grpSpPr bwMode="auto">
          <a:xfrm>
            <a:off x="4165600" y="4857750"/>
            <a:ext cx="430213" cy="341313"/>
            <a:chOff x="2439" y="2860"/>
            <a:chExt cx="271" cy="215"/>
          </a:xfrm>
        </p:grpSpPr>
        <p:sp>
          <p:nvSpPr>
            <p:cNvPr id="42018" name="Oval 80"/>
            <p:cNvSpPr>
              <a:spLocks noChangeArrowheads="1"/>
            </p:cNvSpPr>
            <p:nvPr/>
          </p:nvSpPr>
          <p:spPr bwMode="auto">
            <a:xfrm>
              <a:off x="2439" y="2860"/>
              <a:ext cx="271" cy="215"/>
            </a:xfrm>
            <a:prstGeom prst="ellipse">
              <a:avLst/>
            </a:pr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42019" name="Oval 81"/>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2015" name="Group 82"/>
          <p:cNvGrpSpPr>
            <a:grpSpLocks/>
          </p:cNvGrpSpPr>
          <p:nvPr/>
        </p:nvGrpSpPr>
        <p:grpSpPr bwMode="auto">
          <a:xfrm>
            <a:off x="5095875" y="5129213"/>
            <a:ext cx="430213" cy="341312"/>
            <a:chOff x="2439" y="2860"/>
            <a:chExt cx="271" cy="215"/>
          </a:xfrm>
        </p:grpSpPr>
        <p:sp>
          <p:nvSpPr>
            <p:cNvPr id="42016" name="Oval 83"/>
            <p:cNvSpPr>
              <a:spLocks noChangeArrowheads="1"/>
            </p:cNvSpPr>
            <p:nvPr/>
          </p:nvSpPr>
          <p:spPr bwMode="auto">
            <a:xfrm>
              <a:off x="2439" y="2860"/>
              <a:ext cx="271" cy="215"/>
            </a:xfrm>
            <a:prstGeom prst="ellipse">
              <a:avLst/>
            </a:pr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42017" name="Oval 84"/>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3"/>
          <p:cNvSpPr>
            <a:spLocks noGrp="1"/>
          </p:cNvSpPr>
          <p:nvPr>
            <p:ph type="ftr" sz="quarter" idx="10"/>
          </p:nvPr>
        </p:nvSpPr>
        <p:spPr>
          <a:noFill/>
        </p:spPr>
        <p:txBody>
          <a:bodyPr/>
          <a:lstStyle/>
          <a:p>
            <a:r>
              <a:rPr lang="en-US"/>
              <a:t>Art of Multiprocessor Programming</a:t>
            </a:r>
          </a:p>
        </p:txBody>
      </p:sp>
      <p:sp>
        <p:nvSpPr>
          <p:cNvPr id="43011" name="Slide Number Placeholder 4"/>
          <p:cNvSpPr>
            <a:spLocks noGrp="1"/>
          </p:cNvSpPr>
          <p:nvPr>
            <p:ph type="sldNum" sz="quarter" idx="11"/>
          </p:nvPr>
        </p:nvSpPr>
        <p:spPr>
          <a:noFill/>
        </p:spPr>
        <p:txBody>
          <a:bodyPr/>
          <a:lstStyle/>
          <a:p>
            <a:fld id="{0DCDA902-541A-40E3-8594-46A91586F754}" type="slidenum">
              <a:rPr lang="ar-SA" smtClean="0"/>
              <a:pPr/>
              <a:t>41</a:t>
            </a:fld>
            <a:endParaRPr lang="en-US"/>
          </a:p>
        </p:txBody>
      </p:sp>
      <p:sp>
        <p:nvSpPr>
          <p:cNvPr id="43012" name="Rectangle 2"/>
          <p:cNvSpPr>
            <a:spLocks noGrp="1" noChangeArrowheads="1"/>
          </p:cNvSpPr>
          <p:nvPr>
            <p:ph type="title"/>
          </p:nvPr>
        </p:nvSpPr>
        <p:spPr/>
        <p:txBody>
          <a:bodyPr/>
          <a:lstStyle/>
          <a:p>
            <a:r>
              <a:rPr lang="en-US"/>
              <a:t>Direct Mapped Cache</a:t>
            </a:r>
          </a:p>
        </p:txBody>
      </p:sp>
      <p:sp>
        <p:nvSpPr>
          <p:cNvPr id="43013" name="Rectangle 3"/>
          <p:cNvSpPr>
            <a:spLocks noGrp="1" noChangeArrowheads="1"/>
          </p:cNvSpPr>
          <p:nvPr>
            <p:ph type="body" idx="1"/>
          </p:nvPr>
        </p:nvSpPr>
        <p:spPr/>
        <p:txBody>
          <a:bodyPr/>
          <a:lstStyle/>
          <a:p>
            <a:r>
              <a:rPr lang="en-US"/>
              <a:t>Every address has exactly 1 slot</a:t>
            </a:r>
          </a:p>
          <a:p>
            <a:pPr lvl="1"/>
            <a:r>
              <a:rPr lang="en-US"/>
              <a:t>Advantage: easy to find a line</a:t>
            </a:r>
          </a:p>
          <a:p>
            <a:pPr lvl="1"/>
            <a:r>
              <a:rPr lang="en-US"/>
              <a:t>Disadvantage: must replace fixed line</a:t>
            </a:r>
          </a:p>
        </p:txBody>
      </p:sp>
      <p:sp>
        <p:nvSpPr>
          <p:cNvPr id="43014" name="Freeform 4"/>
          <p:cNvSpPr>
            <a:spLocks/>
          </p:cNvSpPr>
          <p:nvPr/>
        </p:nvSpPr>
        <p:spPr bwMode="auto">
          <a:xfrm>
            <a:off x="3373438" y="4376738"/>
            <a:ext cx="2987675" cy="1633537"/>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grpSp>
        <p:nvGrpSpPr>
          <p:cNvPr id="43015" name="Group 11"/>
          <p:cNvGrpSpPr>
            <a:grpSpLocks/>
          </p:cNvGrpSpPr>
          <p:nvPr/>
        </p:nvGrpSpPr>
        <p:grpSpPr bwMode="auto">
          <a:xfrm>
            <a:off x="5532438" y="5541963"/>
            <a:ext cx="430212" cy="341312"/>
            <a:chOff x="2439" y="2860"/>
            <a:chExt cx="271" cy="215"/>
          </a:xfrm>
        </p:grpSpPr>
        <p:sp>
          <p:nvSpPr>
            <p:cNvPr id="43047" name="Oval 12"/>
            <p:cNvSpPr>
              <a:spLocks noChangeArrowheads="1"/>
            </p:cNvSpPr>
            <p:nvPr/>
          </p:nvSpPr>
          <p:spPr bwMode="auto">
            <a:xfrm>
              <a:off x="2439" y="2860"/>
              <a:ext cx="271" cy="215"/>
            </a:xfrm>
            <a:prstGeom prst="ellipse">
              <a:avLst/>
            </a:prstGeom>
            <a:solidFill>
              <a:srgbClr val="00FF00"/>
            </a:solidFill>
            <a:ln w="38100">
              <a:solidFill>
                <a:schemeClr val="tx1"/>
              </a:solidFill>
              <a:round/>
              <a:headEnd/>
              <a:tailEnd/>
            </a:ln>
          </p:spPr>
          <p:txBody>
            <a:bodyPr wrap="none" anchor="ctr"/>
            <a:lstStyle/>
            <a:p>
              <a:endParaRPr lang="en-US" dirty="0">
                <a:latin typeface="Arial" pitchFamily="34" charset="0"/>
              </a:endParaRPr>
            </a:p>
          </p:txBody>
        </p:sp>
        <p:sp>
          <p:nvSpPr>
            <p:cNvPr id="43048" name="Oval 13"/>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3016" name="Group 41"/>
          <p:cNvGrpSpPr>
            <a:grpSpLocks/>
          </p:cNvGrpSpPr>
          <p:nvPr/>
        </p:nvGrpSpPr>
        <p:grpSpPr bwMode="auto">
          <a:xfrm>
            <a:off x="4730750" y="5543550"/>
            <a:ext cx="430213" cy="341313"/>
            <a:chOff x="2439" y="2860"/>
            <a:chExt cx="271" cy="215"/>
          </a:xfrm>
        </p:grpSpPr>
        <p:sp>
          <p:nvSpPr>
            <p:cNvPr id="43045" name="Oval 42"/>
            <p:cNvSpPr>
              <a:spLocks noChangeArrowheads="1"/>
            </p:cNvSpPr>
            <p:nvPr/>
          </p:nvSpPr>
          <p:spPr bwMode="auto">
            <a:xfrm>
              <a:off x="2439" y="2860"/>
              <a:ext cx="271" cy="215"/>
            </a:xfrm>
            <a:prstGeom prst="ellipse">
              <a:avLst/>
            </a:prstGeom>
            <a:solidFill>
              <a:srgbClr val="00FF00"/>
            </a:solidFill>
            <a:ln w="38100">
              <a:solidFill>
                <a:schemeClr val="tx1"/>
              </a:solidFill>
              <a:round/>
              <a:headEnd/>
              <a:tailEnd/>
            </a:ln>
          </p:spPr>
          <p:txBody>
            <a:bodyPr wrap="none" anchor="ctr"/>
            <a:lstStyle/>
            <a:p>
              <a:endParaRPr lang="en-US" dirty="0">
                <a:latin typeface="Arial" pitchFamily="34" charset="0"/>
              </a:endParaRPr>
            </a:p>
          </p:txBody>
        </p:sp>
        <p:sp>
          <p:nvSpPr>
            <p:cNvPr id="43046" name="Oval 43"/>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3017" name="Group 53"/>
          <p:cNvGrpSpPr>
            <a:grpSpLocks/>
          </p:cNvGrpSpPr>
          <p:nvPr/>
        </p:nvGrpSpPr>
        <p:grpSpPr bwMode="auto">
          <a:xfrm>
            <a:off x="3943350" y="5543550"/>
            <a:ext cx="430213" cy="341313"/>
            <a:chOff x="2439" y="2860"/>
            <a:chExt cx="271" cy="215"/>
          </a:xfrm>
        </p:grpSpPr>
        <p:sp>
          <p:nvSpPr>
            <p:cNvPr id="43043" name="Oval 54"/>
            <p:cNvSpPr>
              <a:spLocks noChangeArrowheads="1"/>
            </p:cNvSpPr>
            <p:nvPr/>
          </p:nvSpPr>
          <p:spPr bwMode="auto">
            <a:xfrm>
              <a:off x="2439" y="2860"/>
              <a:ext cx="271" cy="215"/>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43044" name="Oval 55"/>
            <p:cNvSpPr>
              <a:spLocks noChangeArrowheads="1"/>
            </p:cNvSpPr>
            <p:nvPr/>
          </p:nvSpPr>
          <p:spPr bwMode="auto">
            <a:xfrm>
              <a:off x="2593" y="28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3018" name="Group 56"/>
          <p:cNvGrpSpPr>
            <a:grpSpLocks/>
          </p:cNvGrpSpPr>
          <p:nvPr/>
        </p:nvGrpSpPr>
        <p:grpSpPr bwMode="auto">
          <a:xfrm>
            <a:off x="2058988" y="4192588"/>
            <a:ext cx="1377950" cy="423862"/>
            <a:chOff x="1313" y="2496"/>
            <a:chExt cx="1252" cy="427"/>
          </a:xfrm>
        </p:grpSpPr>
        <p:sp>
          <p:nvSpPr>
            <p:cNvPr id="43039" name="Freeform 57"/>
            <p:cNvSpPr>
              <a:spLocks/>
            </p:cNvSpPr>
            <p:nvPr/>
          </p:nvSpPr>
          <p:spPr bwMode="auto">
            <a:xfrm>
              <a:off x="1945" y="2502"/>
              <a:ext cx="620" cy="421"/>
            </a:xfrm>
            <a:custGeom>
              <a:avLst/>
              <a:gdLst>
                <a:gd name="T0" fmla="*/ 775 w 348"/>
                <a:gd name="T1" fmla="*/ 3569 h 228"/>
                <a:gd name="T2" fmla="*/ 3930 w 348"/>
                <a:gd name="T3" fmla="*/ 0 h 228"/>
                <a:gd name="T4" fmla="*/ 11135 w 348"/>
                <a:gd name="T5" fmla="*/ 9035 h 228"/>
                <a:gd name="T6" fmla="*/ 6802 w 348"/>
                <a:gd name="T7" fmla="*/ 5244 h 228"/>
                <a:gd name="T8" fmla="*/ 8637 w 348"/>
                <a:gd name="T9" fmla="*/ 8091 h 228"/>
                <a:gd name="T10" fmla="*/ 4614 w 348"/>
                <a:gd name="T11" fmla="*/ 4998 h 228"/>
                <a:gd name="T12" fmla="*/ 7192 w 348"/>
                <a:gd name="T13" fmla="*/ 7624 h 228"/>
                <a:gd name="T14" fmla="*/ 0 w 348"/>
                <a:gd name="T15" fmla="*/ 4409 h 228"/>
                <a:gd name="T16" fmla="*/ 775 w 348"/>
                <a:gd name="T17" fmla="*/ 3569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3040" name="Freeform 58"/>
            <p:cNvSpPr>
              <a:spLocks/>
            </p:cNvSpPr>
            <p:nvPr/>
          </p:nvSpPr>
          <p:spPr bwMode="auto">
            <a:xfrm>
              <a:off x="1313" y="2496"/>
              <a:ext cx="620" cy="427"/>
            </a:xfrm>
            <a:custGeom>
              <a:avLst/>
              <a:gdLst>
                <a:gd name="T0" fmla="*/ 10266 w 348"/>
                <a:gd name="T1" fmla="*/ 3483 h 231"/>
                <a:gd name="T2" fmla="*/ 7192 w 348"/>
                <a:gd name="T3" fmla="*/ 0 h 231"/>
                <a:gd name="T4" fmla="*/ 0 w 348"/>
                <a:gd name="T5" fmla="*/ 9209 h 231"/>
                <a:gd name="T6" fmla="*/ 4796 w 348"/>
                <a:gd name="T7" fmla="*/ 5396 h 231"/>
                <a:gd name="T8" fmla="*/ 2498 w 348"/>
                <a:gd name="T9" fmla="*/ 8268 h 231"/>
                <a:gd name="T10" fmla="*/ 6802 w 348"/>
                <a:gd name="T11" fmla="*/ 5268 h 231"/>
                <a:gd name="T12" fmla="*/ 4411 w 348"/>
                <a:gd name="T13" fmla="*/ 7900 h 231"/>
                <a:gd name="T14" fmla="*/ 11135 w 348"/>
                <a:gd name="T15" fmla="*/ 4555 h 231"/>
                <a:gd name="T16" fmla="*/ 10266 w 348"/>
                <a:gd name="T17" fmla="*/ 3483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3041" name="Oval 59"/>
            <p:cNvSpPr>
              <a:spLocks noChangeArrowheads="1"/>
            </p:cNvSpPr>
            <p:nvPr/>
          </p:nvSpPr>
          <p:spPr bwMode="auto">
            <a:xfrm>
              <a:off x="1722" y="2579"/>
              <a:ext cx="391" cy="344"/>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3042" name="Oval 60"/>
            <p:cNvSpPr>
              <a:spLocks noChangeArrowheads="1"/>
            </p:cNvSpPr>
            <p:nvPr/>
          </p:nvSpPr>
          <p:spPr bwMode="auto">
            <a:xfrm>
              <a:off x="1945" y="2640"/>
              <a:ext cx="102" cy="96"/>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sp>
        <p:nvSpPr>
          <p:cNvPr id="43019" name="Freeform 61"/>
          <p:cNvSpPr>
            <a:spLocks/>
          </p:cNvSpPr>
          <p:nvPr/>
        </p:nvSpPr>
        <p:spPr bwMode="auto">
          <a:xfrm>
            <a:off x="1198563" y="4832350"/>
            <a:ext cx="2894012" cy="384175"/>
          </a:xfrm>
          <a:custGeom>
            <a:avLst/>
            <a:gdLst>
              <a:gd name="T0" fmla="*/ 0 w 1823"/>
              <a:gd name="T1" fmla="*/ 2147483647 h 242"/>
              <a:gd name="T2" fmla="*/ 2147483647 w 1823"/>
              <a:gd name="T3" fmla="*/ 2147483647 h 242"/>
              <a:gd name="T4" fmla="*/ 2147483647 w 1823"/>
              <a:gd name="T5" fmla="*/ 2147483647 h 242"/>
              <a:gd name="T6" fmla="*/ 0 60000 65536"/>
              <a:gd name="T7" fmla="*/ 0 60000 65536"/>
              <a:gd name="T8" fmla="*/ 0 60000 65536"/>
              <a:gd name="T9" fmla="*/ 0 w 1823"/>
              <a:gd name="T10" fmla="*/ 0 h 242"/>
              <a:gd name="T11" fmla="*/ 1823 w 1823"/>
              <a:gd name="T12" fmla="*/ 242 h 242"/>
            </a:gdLst>
            <a:ahLst/>
            <a:cxnLst>
              <a:cxn ang="T6">
                <a:pos x="T0" y="T1"/>
              </a:cxn>
              <a:cxn ang="T7">
                <a:pos x="T2" y="T3"/>
              </a:cxn>
              <a:cxn ang="T8">
                <a:pos x="T4" y="T5"/>
              </a:cxn>
            </a:cxnLst>
            <a:rect l="T9" t="T10" r="T11" b="T12"/>
            <a:pathLst>
              <a:path w="1823" h="242">
                <a:moveTo>
                  <a:pt x="0" y="204"/>
                </a:moveTo>
                <a:cubicBezTo>
                  <a:pt x="278" y="102"/>
                  <a:pt x="556" y="0"/>
                  <a:pt x="860" y="6"/>
                </a:cubicBezTo>
                <a:cubicBezTo>
                  <a:pt x="1164" y="12"/>
                  <a:pt x="1493" y="127"/>
                  <a:pt x="1823" y="242"/>
                </a:cubicBezTo>
              </a:path>
            </a:pathLst>
          </a:custGeom>
          <a:noFill/>
          <a:ln w="76200">
            <a:solidFill>
              <a:schemeClr val="tx1"/>
            </a:solidFill>
            <a:round/>
            <a:headEnd/>
            <a:tailEnd type="triangle" w="med" len="med"/>
          </a:ln>
        </p:spPr>
        <p:txBody>
          <a:bodyPr wrap="none" anchor="ctr"/>
          <a:lstStyle/>
          <a:p>
            <a:endParaRPr lang="en-US" dirty="0">
              <a:latin typeface="Arial" pitchFamily="34" charset="0"/>
            </a:endParaRPr>
          </a:p>
        </p:txBody>
      </p:sp>
      <p:grpSp>
        <p:nvGrpSpPr>
          <p:cNvPr id="43020" name="Group 65"/>
          <p:cNvGrpSpPr>
            <a:grpSpLocks/>
          </p:cNvGrpSpPr>
          <p:nvPr/>
        </p:nvGrpSpPr>
        <p:grpSpPr bwMode="auto">
          <a:xfrm>
            <a:off x="5484813" y="5062538"/>
            <a:ext cx="430212" cy="341312"/>
            <a:chOff x="2439" y="2860"/>
            <a:chExt cx="271" cy="215"/>
          </a:xfrm>
        </p:grpSpPr>
        <p:sp>
          <p:nvSpPr>
            <p:cNvPr id="43037" name="Oval 66"/>
            <p:cNvSpPr>
              <a:spLocks noChangeArrowheads="1"/>
            </p:cNvSpPr>
            <p:nvPr/>
          </p:nvSpPr>
          <p:spPr bwMode="auto">
            <a:xfrm>
              <a:off x="2439" y="2860"/>
              <a:ext cx="271" cy="215"/>
            </a:xfrm>
            <a:prstGeom prst="ellipse">
              <a:avLst/>
            </a:prstGeom>
            <a:solidFill>
              <a:srgbClr val="FF0066"/>
            </a:solidFill>
            <a:ln w="38100">
              <a:solidFill>
                <a:schemeClr val="tx1"/>
              </a:solidFill>
              <a:round/>
              <a:headEnd/>
              <a:tailEnd/>
            </a:ln>
          </p:spPr>
          <p:txBody>
            <a:bodyPr wrap="none" anchor="ctr"/>
            <a:lstStyle/>
            <a:p>
              <a:endParaRPr lang="en-US" dirty="0">
                <a:latin typeface="Arial" pitchFamily="34" charset="0"/>
              </a:endParaRPr>
            </a:p>
          </p:txBody>
        </p:sp>
        <p:sp>
          <p:nvSpPr>
            <p:cNvPr id="43038" name="Oval 67"/>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3021" name="Group 68"/>
          <p:cNvGrpSpPr>
            <a:grpSpLocks/>
          </p:cNvGrpSpPr>
          <p:nvPr/>
        </p:nvGrpSpPr>
        <p:grpSpPr bwMode="auto">
          <a:xfrm>
            <a:off x="4811713" y="5064125"/>
            <a:ext cx="430212" cy="341313"/>
            <a:chOff x="2439" y="2860"/>
            <a:chExt cx="271" cy="215"/>
          </a:xfrm>
        </p:grpSpPr>
        <p:sp>
          <p:nvSpPr>
            <p:cNvPr id="43035" name="Oval 69"/>
            <p:cNvSpPr>
              <a:spLocks noChangeArrowheads="1"/>
            </p:cNvSpPr>
            <p:nvPr/>
          </p:nvSpPr>
          <p:spPr bwMode="auto">
            <a:xfrm>
              <a:off x="2439" y="2860"/>
              <a:ext cx="271" cy="215"/>
            </a:xfrm>
            <a:prstGeom prst="ellipse">
              <a:avLst/>
            </a:pr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43036" name="Oval 70"/>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3022" name="Group 71"/>
          <p:cNvGrpSpPr>
            <a:grpSpLocks/>
          </p:cNvGrpSpPr>
          <p:nvPr/>
        </p:nvGrpSpPr>
        <p:grpSpPr bwMode="auto">
          <a:xfrm>
            <a:off x="4110038" y="5064125"/>
            <a:ext cx="430212" cy="341313"/>
            <a:chOff x="2439" y="2860"/>
            <a:chExt cx="271" cy="215"/>
          </a:xfrm>
        </p:grpSpPr>
        <p:sp>
          <p:nvSpPr>
            <p:cNvPr id="43033" name="Oval 72"/>
            <p:cNvSpPr>
              <a:spLocks noChangeArrowheads="1"/>
            </p:cNvSpPr>
            <p:nvPr/>
          </p:nvSpPr>
          <p:spPr bwMode="auto">
            <a:xfrm>
              <a:off x="2439" y="2860"/>
              <a:ext cx="271" cy="215"/>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3034" name="Oval 73"/>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3023" name="Group 75"/>
          <p:cNvGrpSpPr>
            <a:grpSpLocks/>
          </p:cNvGrpSpPr>
          <p:nvPr/>
        </p:nvGrpSpPr>
        <p:grpSpPr bwMode="auto">
          <a:xfrm>
            <a:off x="5456238" y="4556125"/>
            <a:ext cx="430212" cy="341313"/>
            <a:chOff x="2439" y="2860"/>
            <a:chExt cx="271" cy="215"/>
          </a:xfrm>
        </p:grpSpPr>
        <p:sp>
          <p:nvSpPr>
            <p:cNvPr id="43031" name="Oval 76"/>
            <p:cNvSpPr>
              <a:spLocks noChangeArrowheads="1"/>
            </p:cNvSpPr>
            <p:nvPr/>
          </p:nvSpPr>
          <p:spPr bwMode="auto">
            <a:xfrm>
              <a:off x="2439" y="2860"/>
              <a:ext cx="271" cy="215"/>
            </a:xfrm>
            <a:prstGeom prst="ellipse">
              <a:avLst/>
            </a:prstGeom>
            <a:solidFill>
              <a:srgbClr val="66FFFF"/>
            </a:solidFill>
            <a:ln w="38100">
              <a:solidFill>
                <a:schemeClr val="tx1"/>
              </a:solidFill>
              <a:round/>
              <a:headEnd/>
              <a:tailEnd/>
            </a:ln>
          </p:spPr>
          <p:txBody>
            <a:bodyPr wrap="none" anchor="ctr"/>
            <a:lstStyle/>
            <a:p>
              <a:endParaRPr lang="en-US" dirty="0">
                <a:latin typeface="Arial" pitchFamily="34" charset="0"/>
              </a:endParaRPr>
            </a:p>
          </p:txBody>
        </p:sp>
        <p:sp>
          <p:nvSpPr>
            <p:cNvPr id="43032" name="Oval 77"/>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3024" name="Group 78"/>
          <p:cNvGrpSpPr>
            <a:grpSpLocks/>
          </p:cNvGrpSpPr>
          <p:nvPr/>
        </p:nvGrpSpPr>
        <p:grpSpPr bwMode="auto">
          <a:xfrm>
            <a:off x="4868863" y="4557713"/>
            <a:ext cx="430212" cy="341312"/>
            <a:chOff x="2439" y="2860"/>
            <a:chExt cx="271" cy="215"/>
          </a:xfrm>
        </p:grpSpPr>
        <p:sp>
          <p:nvSpPr>
            <p:cNvPr id="43029" name="Oval 79"/>
            <p:cNvSpPr>
              <a:spLocks noChangeArrowheads="1"/>
            </p:cNvSpPr>
            <p:nvPr/>
          </p:nvSpPr>
          <p:spPr bwMode="auto">
            <a:xfrm>
              <a:off x="2439" y="2860"/>
              <a:ext cx="271" cy="215"/>
            </a:xfrm>
            <a:prstGeom prst="ellipse">
              <a:avLst/>
            </a:pr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43030" name="Oval 80"/>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3025" name="Group 81"/>
          <p:cNvGrpSpPr>
            <a:grpSpLocks/>
          </p:cNvGrpSpPr>
          <p:nvPr/>
        </p:nvGrpSpPr>
        <p:grpSpPr bwMode="auto">
          <a:xfrm>
            <a:off x="4224338" y="4557713"/>
            <a:ext cx="430212" cy="341312"/>
            <a:chOff x="2439" y="2860"/>
            <a:chExt cx="271" cy="215"/>
          </a:xfrm>
        </p:grpSpPr>
        <p:sp>
          <p:nvSpPr>
            <p:cNvPr id="43027" name="Oval 82"/>
            <p:cNvSpPr>
              <a:spLocks noChangeArrowheads="1"/>
            </p:cNvSpPr>
            <p:nvPr/>
          </p:nvSpPr>
          <p:spPr bwMode="auto">
            <a:xfrm>
              <a:off x="2439" y="2860"/>
              <a:ext cx="271" cy="215"/>
            </a:xfrm>
            <a:prstGeom prst="ellipse">
              <a:avLst/>
            </a:pr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43028" name="Oval 83"/>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sp>
        <p:nvSpPr>
          <p:cNvPr id="43026" name="Freeform 62"/>
          <p:cNvSpPr>
            <a:spLocks/>
          </p:cNvSpPr>
          <p:nvPr/>
        </p:nvSpPr>
        <p:spPr bwMode="auto">
          <a:xfrm>
            <a:off x="4497388" y="4179888"/>
            <a:ext cx="3402012" cy="1022350"/>
          </a:xfrm>
          <a:custGeom>
            <a:avLst/>
            <a:gdLst>
              <a:gd name="T0" fmla="*/ 0 w 2143"/>
              <a:gd name="T1" fmla="*/ 2147483647 h 644"/>
              <a:gd name="T2" fmla="*/ 2147483647 w 2143"/>
              <a:gd name="T3" fmla="*/ 2147483647 h 644"/>
              <a:gd name="T4" fmla="*/ 2147483647 w 2143"/>
              <a:gd name="T5" fmla="*/ 2147483647 h 644"/>
              <a:gd name="T6" fmla="*/ 0 60000 65536"/>
              <a:gd name="T7" fmla="*/ 0 60000 65536"/>
              <a:gd name="T8" fmla="*/ 0 60000 65536"/>
              <a:gd name="T9" fmla="*/ 0 w 2143"/>
              <a:gd name="T10" fmla="*/ 0 h 644"/>
              <a:gd name="T11" fmla="*/ 2143 w 2143"/>
              <a:gd name="T12" fmla="*/ 644 h 644"/>
            </a:gdLst>
            <a:ahLst/>
            <a:cxnLst>
              <a:cxn ang="T6">
                <a:pos x="T0" y="T1"/>
              </a:cxn>
              <a:cxn ang="T7">
                <a:pos x="T2" y="T3"/>
              </a:cxn>
              <a:cxn ang="T8">
                <a:pos x="T4" y="T5"/>
              </a:cxn>
            </a:cxnLst>
            <a:rect l="T9" t="T10" r="T11" b="T12"/>
            <a:pathLst>
              <a:path w="2143" h="644">
                <a:moveTo>
                  <a:pt x="0" y="521"/>
                </a:moveTo>
                <a:cubicBezTo>
                  <a:pt x="178" y="438"/>
                  <a:pt x="710" y="0"/>
                  <a:pt x="1067" y="20"/>
                </a:cubicBezTo>
                <a:cubicBezTo>
                  <a:pt x="1424" y="40"/>
                  <a:pt x="1919" y="514"/>
                  <a:pt x="2143" y="644"/>
                </a:cubicBezTo>
              </a:path>
            </a:pathLst>
          </a:custGeom>
          <a:noFill/>
          <a:ln w="76200">
            <a:solidFill>
              <a:schemeClr val="tx1"/>
            </a:solidFill>
            <a:round/>
            <a:headEnd/>
            <a:tailEnd type="triangle" w="med" len="med"/>
          </a:ln>
        </p:spPr>
        <p:txBody>
          <a:bodyPr wrap="none" anchor="ctr"/>
          <a:lstStyle/>
          <a:p>
            <a:endParaRPr lang="en-US" dirty="0">
              <a:latin typeface="Arial"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3"/>
          <p:cNvSpPr>
            <a:spLocks noGrp="1"/>
          </p:cNvSpPr>
          <p:nvPr>
            <p:ph type="ftr" sz="quarter" idx="10"/>
          </p:nvPr>
        </p:nvSpPr>
        <p:spPr>
          <a:noFill/>
        </p:spPr>
        <p:txBody>
          <a:bodyPr/>
          <a:lstStyle/>
          <a:p>
            <a:r>
              <a:rPr lang="en-US"/>
              <a:t>Art of Multiprocessor Programming</a:t>
            </a:r>
          </a:p>
        </p:txBody>
      </p:sp>
      <p:sp>
        <p:nvSpPr>
          <p:cNvPr id="44035" name="Slide Number Placeholder 4"/>
          <p:cNvSpPr>
            <a:spLocks noGrp="1"/>
          </p:cNvSpPr>
          <p:nvPr>
            <p:ph type="sldNum" sz="quarter" idx="11"/>
          </p:nvPr>
        </p:nvSpPr>
        <p:spPr>
          <a:noFill/>
        </p:spPr>
        <p:txBody>
          <a:bodyPr/>
          <a:lstStyle/>
          <a:p>
            <a:fld id="{030A1544-7B11-41BF-AB7A-F202443BF777}" type="slidenum">
              <a:rPr lang="ar-SA" smtClean="0"/>
              <a:pPr/>
              <a:t>42</a:t>
            </a:fld>
            <a:endParaRPr lang="en-US"/>
          </a:p>
        </p:txBody>
      </p:sp>
      <p:sp>
        <p:nvSpPr>
          <p:cNvPr id="44036" name="Rectangle 2"/>
          <p:cNvSpPr>
            <a:spLocks noGrp="1" noChangeArrowheads="1"/>
          </p:cNvSpPr>
          <p:nvPr>
            <p:ph type="title"/>
          </p:nvPr>
        </p:nvSpPr>
        <p:spPr/>
        <p:txBody>
          <a:bodyPr/>
          <a:lstStyle/>
          <a:p>
            <a:r>
              <a:rPr lang="en-US"/>
              <a:t>K-way Set Associative Cache</a:t>
            </a:r>
          </a:p>
        </p:txBody>
      </p:sp>
      <p:sp>
        <p:nvSpPr>
          <p:cNvPr id="44037" name="Rectangle 3"/>
          <p:cNvSpPr>
            <a:spLocks noGrp="1" noChangeArrowheads="1"/>
          </p:cNvSpPr>
          <p:nvPr>
            <p:ph type="body" idx="1"/>
          </p:nvPr>
        </p:nvSpPr>
        <p:spPr/>
        <p:txBody>
          <a:bodyPr/>
          <a:lstStyle/>
          <a:p>
            <a:r>
              <a:rPr lang="en-US"/>
              <a:t>Each slot holds </a:t>
            </a:r>
            <a:r>
              <a:rPr lang="en-US">
                <a:solidFill>
                  <a:schemeClr val="tx1"/>
                </a:solidFill>
              </a:rPr>
              <a:t>k</a:t>
            </a:r>
            <a:r>
              <a:rPr lang="en-US"/>
              <a:t> lines</a:t>
            </a:r>
          </a:p>
          <a:p>
            <a:pPr lvl="1"/>
            <a:r>
              <a:rPr lang="en-US"/>
              <a:t>Advantage: pretty easy to find a line</a:t>
            </a:r>
          </a:p>
          <a:p>
            <a:pPr lvl="1"/>
            <a:r>
              <a:rPr lang="en-US"/>
              <a:t>Advantage: some choice in replacing line</a:t>
            </a:r>
          </a:p>
        </p:txBody>
      </p:sp>
      <p:sp>
        <p:nvSpPr>
          <p:cNvPr id="44038" name="Freeform 4"/>
          <p:cNvSpPr>
            <a:spLocks/>
          </p:cNvSpPr>
          <p:nvPr/>
        </p:nvSpPr>
        <p:spPr bwMode="auto">
          <a:xfrm>
            <a:off x="3373438" y="4376738"/>
            <a:ext cx="2987675" cy="1633537"/>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grpSp>
        <p:nvGrpSpPr>
          <p:cNvPr id="44039" name="Group 14"/>
          <p:cNvGrpSpPr>
            <a:grpSpLocks/>
          </p:cNvGrpSpPr>
          <p:nvPr/>
        </p:nvGrpSpPr>
        <p:grpSpPr bwMode="auto">
          <a:xfrm>
            <a:off x="2058988" y="4192588"/>
            <a:ext cx="1377950" cy="423862"/>
            <a:chOff x="1313" y="2496"/>
            <a:chExt cx="1252" cy="427"/>
          </a:xfrm>
        </p:grpSpPr>
        <p:sp>
          <p:nvSpPr>
            <p:cNvPr id="44090" name="Freeform 15"/>
            <p:cNvSpPr>
              <a:spLocks/>
            </p:cNvSpPr>
            <p:nvPr/>
          </p:nvSpPr>
          <p:spPr bwMode="auto">
            <a:xfrm>
              <a:off x="1945" y="2502"/>
              <a:ext cx="620" cy="421"/>
            </a:xfrm>
            <a:custGeom>
              <a:avLst/>
              <a:gdLst>
                <a:gd name="T0" fmla="*/ 775 w 348"/>
                <a:gd name="T1" fmla="*/ 3569 h 228"/>
                <a:gd name="T2" fmla="*/ 3930 w 348"/>
                <a:gd name="T3" fmla="*/ 0 h 228"/>
                <a:gd name="T4" fmla="*/ 11135 w 348"/>
                <a:gd name="T5" fmla="*/ 9035 h 228"/>
                <a:gd name="T6" fmla="*/ 6802 w 348"/>
                <a:gd name="T7" fmla="*/ 5244 h 228"/>
                <a:gd name="T8" fmla="*/ 8637 w 348"/>
                <a:gd name="T9" fmla="*/ 8091 h 228"/>
                <a:gd name="T10" fmla="*/ 4614 w 348"/>
                <a:gd name="T11" fmla="*/ 4998 h 228"/>
                <a:gd name="T12" fmla="*/ 7192 w 348"/>
                <a:gd name="T13" fmla="*/ 7624 h 228"/>
                <a:gd name="T14" fmla="*/ 0 w 348"/>
                <a:gd name="T15" fmla="*/ 4409 h 228"/>
                <a:gd name="T16" fmla="*/ 775 w 348"/>
                <a:gd name="T17" fmla="*/ 3569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4091" name="Freeform 16"/>
            <p:cNvSpPr>
              <a:spLocks/>
            </p:cNvSpPr>
            <p:nvPr/>
          </p:nvSpPr>
          <p:spPr bwMode="auto">
            <a:xfrm>
              <a:off x="1313" y="2496"/>
              <a:ext cx="620" cy="427"/>
            </a:xfrm>
            <a:custGeom>
              <a:avLst/>
              <a:gdLst>
                <a:gd name="T0" fmla="*/ 10266 w 348"/>
                <a:gd name="T1" fmla="*/ 3483 h 231"/>
                <a:gd name="T2" fmla="*/ 7192 w 348"/>
                <a:gd name="T3" fmla="*/ 0 h 231"/>
                <a:gd name="T4" fmla="*/ 0 w 348"/>
                <a:gd name="T5" fmla="*/ 9209 h 231"/>
                <a:gd name="T6" fmla="*/ 4796 w 348"/>
                <a:gd name="T7" fmla="*/ 5396 h 231"/>
                <a:gd name="T8" fmla="*/ 2498 w 348"/>
                <a:gd name="T9" fmla="*/ 8268 h 231"/>
                <a:gd name="T10" fmla="*/ 6802 w 348"/>
                <a:gd name="T11" fmla="*/ 5268 h 231"/>
                <a:gd name="T12" fmla="*/ 4411 w 348"/>
                <a:gd name="T13" fmla="*/ 7900 h 231"/>
                <a:gd name="T14" fmla="*/ 11135 w 348"/>
                <a:gd name="T15" fmla="*/ 4555 h 231"/>
                <a:gd name="T16" fmla="*/ 10266 w 348"/>
                <a:gd name="T17" fmla="*/ 3483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4092" name="Oval 17"/>
            <p:cNvSpPr>
              <a:spLocks noChangeArrowheads="1"/>
            </p:cNvSpPr>
            <p:nvPr/>
          </p:nvSpPr>
          <p:spPr bwMode="auto">
            <a:xfrm>
              <a:off x="1722" y="2579"/>
              <a:ext cx="391" cy="344"/>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4093" name="Oval 18"/>
            <p:cNvSpPr>
              <a:spLocks noChangeArrowheads="1"/>
            </p:cNvSpPr>
            <p:nvPr/>
          </p:nvSpPr>
          <p:spPr bwMode="auto">
            <a:xfrm>
              <a:off x="1945" y="2640"/>
              <a:ext cx="102" cy="96"/>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sp>
        <p:nvSpPr>
          <p:cNvPr id="44040" name="Freeform 19"/>
          <p:cNvSpPr>
            <a:spLocks/>
          </p:cNvSpPr>
          <p:nvPr/>
        </p:nvSpPr>
        <p:spPr bwMode="auto">
          <a:xfrm>
            <a:off x="1198563" y="4832350"/>
            <a:ext cx="2894012" cy="384175"/>
          </a:xfrm>
          <a:custGeom>
            <a:avLst/>
            <a:gdLst>
              <a:gd name="T0" fmla="*/ 0 w 1823"/>
              <a:gd name="T1" fmla="*/ 2147483647 h 242"/>
              <a:gd name="T2" fmla="*/ 2147483647 w 1823"/>
              <a:gd name="T3" fmla="*/ 2147483647 h 242"/>
              <a:gd name="T4" fmla="*/ 2147483647 w 1823"/>
              <a:gd name="T5" fmla="*/ 2147483647 h 242"/>
              <a:gd name="T6" fmla="*/ 0 60000 65536"/>
              <a:gd name="T7" fmla="*/ 0 60000 65536"/>
              <a:gd name="T8" fmla="*/ 0 60000 65536"/>
              <a:gd name="T9" fmla="*/ 0 w 1823"/>
              <a:gd name="T10" fmla="*/ 0 h 242"/>
              <a:gd name="T11" fmla="*/ 1823 w 1823"/>
              <a:gd name="T12" fmla="*/ 242 h 242"/>
            </a:gdLst>
            <a:ahLst/>
            <a:cxnLst>
              <a:cxn ang="T6">
                <a:pos x="T0" y="T1"/>
              </a:cxn>
              <a:cxn ang="T7">
                <a:pos x="T2" y="T3"/>
              </a:cxn>
              <a:cxn ang="T8">
                <a:pos x="T4" y="T5"/>
              </a:cxn>
            </a:cxnLst>
            <a:rect l="T9" t="T10" r="T11" b="T12"/>
            <a:pathLst>
              <a:path w="1823" h="242">
                <a:moveTo>
                  <a:pt x="0" y="204"/>
                </a:moveTo>
                <a:cubicBezTo>
                  <a:pt x="278" y="102"/>
                  <a:pt x="556" y="0"/>
                  <a:pt x="860" y="6"/>
                </a:cubicBezTo>
                <a:cubicBezTo>
                  <a:pt x="1164" y="12"/>
                  <a:pt x="1493" y="127"/>
                  <a:pt x="1823" y="242"/>
                </a:cubicBezTo>
              </a:path>
            </a:pathLst>
          </a:custGeom>
          <a:noFill/>
          <a:ln w="76200">
            <a:solidFill>
              <a:schemeClr val="tx1"/>
            </a:solidFill>
            <a:round/>
            <a:headEnd/>
            <a:tailEnd type="triangle" w="med" len="med"/>
          </a:ln>
        </p:spPr>
        <p:txBody>
          <a:bodyPr wrap="none" anchor="ctr"/>
          <a:lstStyle/>
          <a:p>
            <a:endParaRPr lang="en-US" dirty="0">
              <a:latin typeface="Arial" pitchFamily="34" charset="0"/>
            </a:endParaRPr>
          </a:p>
        </p:txBody>
      </p:sp>
      <p:grpSp>
        <p:nvGrpSpPr>
          <p:cNvPr id="44041" name="Group 23"/>
          <p:cNvGrpSpPr>
            <a:grpSpLocks/>
          </p:cNvGrpSpPr>
          <p:nvPr/>
        </p:nvGrpSpPr>
        <p:grpSpPr bwMode="auto">
          <a:xfrm>
            <a:off x="5216525" y="5319713"/>
            <a:ext cx="430213" cy="341312"/>
            <a:chOff x="2439" y="2860"/>
            <a:chExt cx="271" cy="215"/>
          </a:xfrm>
        </p:grpSpPr>
        <p:sp>
          <p:nvSpPr>
            <p:cNvPr id="44088" name="Oval 24"/>
            <p:cNvSpPr>
              <a:spLocks noChangeArrowheads="1"/>
            </p:cNvSpPr>
            <p:nvPr/>
          </p:nvSpPr>
          <p:spPr bwMode="auto">
            <a:xfrm>
              <a:off x="2439" y="2860"/>
              <a:ext cx="271" cy="215"/>
            </a:xfrm>
            <a:prstGeom prst="ellipse">
              <a:avLst/>
            </a:pr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44089" name="Oval 25"/>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42" name="Group 26"/>
          <p:cNvGrpSpPr>
            <a:grpSpLocks/>
          </p:cNvGrpSpPr>
          <p:nvPr/>
        </p:nvGrpSpPr>
        <p:grpSpPr bwMode="auto">
          <a:xfrm>
            <a:off x="4054475" y="5289550"/>
            <a:ext cx="430213" cy="341313"/>
            <a:chOff x="2439" y="2860"/>
            <a:chExt cx="271" cy="215"/>
          </a:xfrm>
        </p:grpSpPr>
        <p:sp>
          <p:nvSpPr>
            <p:cNvPr id="44086" name="Oval 27"/>
            <p:cNvSpPr>
              <a:spLocks noChangeArrowheads="1"/>
            </p:cNvSpPr>
            <p:nvPr/>
          </p:nvSpPr>
          <p:spPr bwMode="auto">
            <a:xfrm>
              <a:off x="2439" y="2860"/>
              <a:ext cx="271" cy="215"/>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4087" name="Oval 28"/>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43" name="Group 32"/>
          <p:cNvGrpSpPr>
            <a:grpSpLocks/>
          </p:cNvGrpSpPr>
          <p:nvPr/>
        </p:nvGrpSpPr>
        <p:grpSpPr bwMode="auto">
          <a:xfrm>
            <a:off x="5199063" y="4589463"/>
            <a:ext cx="430212" cy="341312"/>
            <a:chOff x="2439" y="2860"/>
            <a:chExt cx="271" cy="215"/>
          </a:xfrm>
        </p:grpSpPr>
        <p:sp>
          <p:nvSpPr>
            <p:cNvPr id="44084" name="Oval 33"/>
            <p:cNvSpPr>
              <a:spLocks noChangeArrowheads="1"/>
            </p:cNvSpPr>
            <p:nvPr/>
          </p:nvSpPr>
          <p:spPr bwMode="auto">
            <a:xfrm>
              <a:off x="2439" y="2860"/>
              <a:ext cx="271" cy="215"/>
            </a:xfrm>
            <a:prstGeom prst="ellipse">
              <a:avLst/>
            </a:pr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44085" name="Oval 34"/>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44" name="Group 35"/>
          <p:cNvGrpSpPr>
            <a:grpSpLocks/>
          </p:cNvGrpSpPr>
          <p:nvPr/>
        </p:nvGrpSpPr>
        <p:grpSpPr bwMode="auto">
          <a:xfrm>
            <a:off x="4224338" y="4557713"/>
            <a:ext cx="430212" cy="341312"/>
            <a:chOff x="2439" y="2860"/>
            <a:chExt cx="271" cy="215"/>
          </a:xfrm>
        </p:grpSpPr>
        <p:sp>
          <p:nvSpPr>
            <p:cNvPr id="44082" name="Oval 36"/>
            <p:cNvSpPr>
              <a:spLocks noChangeArrowheads="1"/>
            </p:cNvSpPr>
            <p:nvPr/>
          </p:nvSpPr>
          <p:spPr bwMode="auto">
            <a:xfrm>
              <a:off x="2439" y="2860"/>
              <a:ext cx="271" cy="215"/>
            </a:xfrm>
            <a:prstGeom prst="ellipse">
              <a:avLst/>
            </a:pr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44083" name="Oval 37"/>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45" name="Group 39"/>
          <p:cNvGrpSpPr>
            <a:grpSpLocks/>
          </p:cNvGrpSpPr>
          <p:nvPr/>
        </p:nvGrpSpPr>
        <p:grpSpPr bwMode="auto">
          <a:xfrm>
            <a:off x="5222875" y="4398963"/>
            <a:ext cx="430213" cy="341312"/>
            <a:chOff x="2439" y="2860"/>
            <a:chExt cx="271" cy="215"/>
          </a:xfrm>
        </p:grpSpPr>
        <p:sp>
          <p:nvSpPr>
            <p:cNvPr id="44080" name="Oval 40"/>
            <p:cNvSpPr>
              <a:spLocks noChangeArrowheads="1"/>
            </p:cNvSpPr>
            <p:nvPr/>
          </p:nvSpPr>
          <p:spPr bwMode="auto">
            <a:xfrm>
              <a:off x="2439" y="2860"/>
              <a:ext cx="271" cy="215"/>
            </a:xfrm>
            <a:prstGeom prst="ellipse">
              <a:avLst/>
            </a:pr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44081" name="Oval 41"/>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46" name="Group 42"/>
          <p:cNvGrpSpPr>
            <a:grpSpLocks/>
          </p:cNvGrpSpPr>
          <p:nvPr/>
        </p:nvGrpSpPr>
        <p:grpSpPr bwMode="auto">
          <a:xfrm>
            <a:off x="5246688" y="4208463"/>
            <a:ext cx="430212" cy="341312"/>
            <a:chOff x="2439" y="2860"/>
            <a:chExt cx="271" cy="215"/>
          </a:xfrm>
        </p:grpSpPr>
        <p:sp>
          <p:nvSpPr>
            <p:cNvPr id="44078" name="Oval 43"/>
            <p:cNvSpPr>
              <a:spLocks noChangeArrowheads="1"/>
            </p:cNvSpPr>
            <p:nvPr/>
          </p:nvSpPr>
          <p:spPr bwMode="auto">
            <a:xfrm>
              <a:off x="2439" y="2860"/>
              <a:ext cx="271" cy="215"/>
            </a:xfrm>
            <a:prstGeom prst="ellipse">
              <a:avLst/>
            </a:pr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44079" name="Oval 44"/>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47" name="Group 45"/>
          <p:cNvGrpSpPr>
            <a:grpSpLocks/>
          </p:cNvGrpSpPr>
          <p:nvPr/>
        </p:nvGrpSpPr>
        <p:grpSpPr bwMode="auto">
          <a:xfrm>
            <a:off x="5375275" y="4587875"/>
            <a:ext cx="430213" cy="341313"/>
            <a:chOff x="2439" y="2860"/>
            <a:chExt cx="271" cy="215"/>
          </a:xfrm>
        </p:grpSpPr>
        <p:sp>
          <p:nvSpPr>
            <p:cNvPr id="44076" name="Oval 46"/>
            <p:cNvSpPr>
              <a:spLocks noChangeArrowheads="1"/>
            </p:cNvSpPr>
            <p:nvPr/>
          </p:nvSpPr>
          <p:spPr bwMode="auto">
            <a:xfrm>
              <a:off x="2439" y="2860"/>
              <a:ext cx="271" cy="215"/>
            </a:xfrm>
            <a:prstGeom prst="ellipse">
              <a:avLst/>
            </a:pr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44077" name="Oval 47"/>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48" name="Group 48"/>
          <p:cNvGrpSpPr>
            <a:grpSpLocks/>
          </p:cNvGrpSpPr>
          <p:nvPr/>
        </p:nvGrpSpPr>
        <p:grpSpPr bwMode="auto">
          <a:xfrm>
            <a:off x="4376738" y="4710113"/>
            <a:ext cx="430212" cy="341312"/>
            <a:chOff x="2439" y="2860"/>
            <a:chExt cx="271" cy="215"/>
          </a:xfrm>
        </p:grpSpPr>
        <p:sp>
          <p:nvSpPr>
            <p:cNvPr id="44074" name="Oval 49"/>
            <p:cNvSpPr>
              <a:spLocks noChangeArrowheads="1"/>
            </p:cNvSpPr>
            <p:nvPr/>
          </p:nvSpPr>
          <p:spPr bwMode="auto">
            <a:xfrm>
              <a:off x="2439" y="2860"/>
              <a:ext cx="271" cy="215"/>
            </a:xfrm>
            <a:prstGeom prst="ellipse">
              <a:avLst/>
            </a:pr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44075" name="Oval 50"/>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49" name="Group 51"/>
          <p:cNvGrpSpPr>
            <a:grpSpLocks/>
          </p:cNvGrpSpPr>
          <p:nvPr/>
        </p:nvGrpSpPr>
        <p:grpSpPr bwMode="auto">
          <a:xfrm>
            <a:off x="4438650" y="4471988"/>
            <a:ext cx="430213" cy="341312"/>
            <a:chOff x="2439" y="2860"/>
            <a:chExt cx="271" cy="215"/>
          </a:xfrm>
        </p:grpSpPr>
        <p:sp>
          <p:nvSpPr>
            <p:cNvPr id="44072" name="Oval 52"/>
            <p:cNvSpPr>
              <a:spLocks noChangeArrowheads="1"/>
            </p:cNvSpPr>
            <p:nvPr/>
          </p:nvSpPr>
          <p:spPr bwMode="auto">
            <a:xfrm>
              <a:off x="2439" y="2860"/>
              <a:ext cx="271" cy="215"/>
            </a:xfrm>
            <a:prstGeom prst="ellipse">
              <a:avLst/>
            </a:pr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44073" name="Oval 53"/>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50" name="Group 54"/>
          <p:cNvGrpSpPr>
            <a:grpSpLocks/>
          </p:cNvGrpSpPr>
          <p:nvPr/>
        </p:nvGrpSpPr>
        <p:grpSpPr bwMode="auto">
          <a:xfrm>
            <a:off x="4186238" y="4279900"/>
            <a:ext cx="430212" cy="341313"/>
            <a:chOff x="2439" y="2860"/>
            <a:chExt cx="271" cy="215"/>
          </a:xfrm>
        </p:grpSpPr>
        <p:sp>
          <p:nvSpPr>
            <p:cNvPr id="44070" name="Oval 55"/>
            <p:cNvSpPr>
              <a:spLocks noChangeArrowheads="1"/>
            </p:cNvSpPr>
            <p:nvPr/>
          </p:nvSpPr>
          <p:spPr bwMode="auto">
            <a:xfrm>
              <a:off x="2439" y="2860"/>
              <a:ext cx="271" cy="215"/>
            </a:xfrm>
            <a:prstGeom prst="ellipse">
              <a:avLst/>
            </a:pr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44071" name="Oval 56"/>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51" name="Group 57"/>
          <p:cNvGrpSpPr>
            <a:grpSpLocks/>
          </p:cNvGrpSpPr>
          <p:nvPr/>
        </p:nvGrpSpPr>
        <p:grpSpPr bwMode="auto">
          <a:xfrm>
            <a:off x="4206875" y="5441950"/>
            <a:ext cx="430213" cy="341313"/>
            <a:chOff x="2439" y="2860"/>
            <a:chExt cx="271" cy="215"/>
          </a:xfrm>
        </p:grpSpPr>
        <p:sp>
          <p:nvSpPr>
            <p:cNvPr id="44068" name="Oval 58"/>
            <p:cNvSpPr>
              <a:spLocks noChangeArrowheads="1"/>
            </p:cNvSpPr>
            <p:nvPr/>
          </p:nvSpPr>
          <p:spPr bwMode="auto">
            <a:xfrm>
              <a:off x="2439" y="2860"/>
              <a:ext cx="271" cy="215"/>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4069" name="Oval 59"/>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52" name="Group 60"/>
          <p:cNvGrpSpPr>
            <a:grpSpLocks/>
          </p:cNvGrpSpPr>
          <p:nvPr/>
        </p:nvGrpSpPr>
        <p:grpSpPr bwMode="auto">
          <a:xfrm>
            <a:off x="3924300" y="5384800"/>
            <a:ext cx="430213" cy="341313"/>
            <a:chOff x="2439" y="2860"/>
            <a:chExt cx="271" cy="215"/>
          </a:xfrm>
        </p:grpSpPr>
        <p:sp>
          <p:nvSpPr>
            <p:cNvPr id="44066" name="Oval 61"/>
            <p:cNvSpPr>
              <a:spLocks noChangeArrowheads="1"/>
            </p:cNvSpPr>
            <p:nvPr/>
          </p:nvSpPr>
          <p:spPr bwMode="auto">
            <a:xfrm>
              <a:off x="2439" y="2860"/>
              <a:ext cx="271" cy="215"/>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4067" name="Oval 62"/>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53" name="Group 63"/>
          <p:cNvGrpSpPr>
            <a:grpSpLocks/>
          </p:cNvGrpSpPr>
          <p:nvPr/>
        </p:nvGrpSpPr>
        <p:grpSpPr bwMode="auto">
          <a:xfrm>
            <a:off x="4017963" y="4968875"/>
            <a:ext cx="430212" cy="341313"/>
            <a:chOff x="2439" y="2860"/>
            <a:chExt cx="271" cy="215"/>
          </a:xfrm>
        </p:grpSpPr>
        <p:sp>
          <p:nvSpPr>
            <p:cNvPr id="44064" name="Oval 64"/>
            <p:cNvSpPr>
              <a:spLocks noChangeArrowheads="1"/>
            </p:cNvSpPr>
            <p:nvPr/>
          </p:nvSpPr>
          <p:spPr bwMode="auto">
            <a:xfrm>
              <a:off x="2439" y="2860"/>
              <a:ext cx="271" cy="215"/>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4065" name="Oval 65"/>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54" name="Group 66"/>
          <p:cNvGrpSpPr>
            <a:grpSpLocks/>
          </p:cNvGrpSpPr>
          <p:nvPr/>
        </p:nvGrpSpPr>
        <p:grpSpPr bwMode="auto">
          <a:xfrm>
            <a:off x="5368925" y="5472113"/>
            <a:ext cx="430213" cy="341312"/>
            <a:chOff x="2439" y="2860"/>
            <a:chExt cx="271" cy="215"/>
          </a:xfrm>
        </p:grpSpPr>
        <p:sp>
          <p:nvSpPr>
            <p:cNvPr id="44062" name="Oval 67"/>
            <p:cNvSpPr>
              <a:spLocks noChangeArrowheads="1"/>
            </p:cNvSpPr>
            <p:nvPr/>
          </p:nvSpPr>
          <p:spPr bwMode="auto">
            <a:xfrm>
              <a:off x="2439" y="2860"/>
              <a:ext cx="271" cy="215"/>
            </a:xfrm>
            <a:prstGeom prst="ellipse">
              <a:avLst/>
            </a:pr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44063" name="Oval 68"/>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55" name="Group 69"/>
          <p:cNvGrpSpPr>
            <a:grpSpLocks/>
          </p:cNvGrpSpPr>
          <p:nvPr/>
        </p:nvGrpSpPr>
        <p:grpSpPr bwMode="auto">
          <a:xfrm>
            <a:off x="5521325" y="5624513"/>
            <a:ext cx="430213" cy="341312"/>
            <a:chOff x="2439" y="2860"/>
            <a:chExt cx="271" cy="215"/>
          </a:xfrm>
        </p:grpSpPr>
        <p:sp>
          <p:nvSpPr>
            <p:cNvPr id="44060" name="Oval 70"/>
            <p:cNvSpPr>
              <a:spLocks noChangeArrowheads="1"/>
            </p:cNvSpPr>
            <p:nvPr/>
          </p:nvSpPr>
          <p:spPr bwMode="auto">
            <a:xfrm>
              <a:off x="2439" y="2860"/>
              <a:ext cx="271" cy="215"/>
            </a:xfrm>
            <a:prstGeom prst="ellipse">
              <a:avLst/>
            </a:pr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44061" name="Oval 71"/>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4056" name="Group 72"/>
          <p:cNvGrpSpPr>
            <a:grpSpLocks/>
          </p:cNvGrpSpPr>
          <p:nvPr/>
        </p:nvGrpSpPr>
        <p:grpSpPr bwMode="auto">
          <a:xfrm>
            <a:off x="5583238" y="5386388"/>
            <a:ext cx="430212" cy="341312"/>
            <a:chOff x="2439" y="2860"/>
            <a:chExt cx="271" cy="215"/>
          </a:xfrm>
        </p:grpSpPr>
        <p:sp>
          <p:nvSpPr>
            <p:cNvPr id="44058" name="Oval 73"/>
            <p:cNvSpPr>
              <a:spLocks noChangeArrowheads="1"/>
            </p:cNvSpPr>
            <p:nvPr/>
          </p:nvSpPr>
          <p:spPr bwMode="auto">
            <a:xfrm>
              <a:off x="2439" y="2860"/>
              <a:ext cx="271" cy="215"/>
            </a:xfrm>
            <a:prstGeom prst="ellipse">
              <a:avLst/>
            </a:pr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44059" name="Oval 74"/>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sp>
        <p:nvSpPr>
          <p:cNvPr id="44057" name="Freeform 38"/>
          <p:cNvSpPr>
            <a:spLocks/>
          </p:cNvSpPr>
          <p:nvPr/>
        </p:nvSpPr>
        <p:spPr bwMode="auto">
          <a:xfrm>
            <a:off x="4497388" y="4179888"/>
            <a:ext cx="3402012" cy="1022350"/>
          </a:xfrm>
          <a:custGeom>
            <a:avLst/>
            <a:gdLst>
              <a:gd name="T0" fmla="*/ 0 w 2143"/>
              <a:gd name="T1" fmla="*/ 2147483647 h 644"/>
              <a:gd name="T2" fmla="*/ 2147483647 w 2143"/>
              <a:gd name="T3" fmla="*/ 2147483647 h 644"/>
              <a:gd name="T4" fmla="*/ 2147483647 w 2143"/>
              <a:gd name="T5" fmla="*/ 2147483647 h 644"/>
              <a:gd name="T6" fmla="*/ 0 60000 65536"/>
              <a:gd name="T7" fmla="*/ 0 60000 65536"/>
              <a:gd name="T8" fmla="*/ 0 60000 65536"/>
              <a:gd name="T9" fmla="*/ 0 w 2143"/>
              <a:gd name="T10" fmla="*/ 0 h 644"/>
              <a:gd name="T11" fmla="*/ 2143 w 2143"/>
              <a:gd name="T12" fmla="*/ 644 h 644"/>
            </a:gdLst>
            <a:ahLst/>
            <a:cxnLst>
              <a:cxn ang="T6">
                <a:pos x="T0" y="T1"/>
              </a:cxn>
              <a:cxn ang="T7">
                <a:pos x="T2" y="T3"/>
              </a:cxn>
              <a:cxn ang="T8">
                <a:pos x="T4" y="T5"/>
              </a:cxn>
            </a:cxnLst>
            <a:rect l="T9" t="T10" r="T11" b="T12"/>
            <a:pathLst>
              <a:path w="2143" h="644">
                <a:moveTo>
                  <a:pt x="0" y="521"/>
                </a:moveTo>
                <a:cubicBezTo>
                  <a:pt x="178" y="438"/>
                  <a:pt x="710" y="0"/>
                  <a:pt x="1067" y="20"/>
                </a:cubicBezTo>
                <a:cubicBezTo>
                  <a:pt x="1424" y="40"/>
                  <a:pt x="1919" y="514"/>
                  <a:pt x="2143" y="644"/>
                </a:cubicBezTo>
              </a:path>
            </a:pathLst>
          </a:custGeom>
          <a:noFill/>
          <a:ln w="76200">
            <a:solidFill>
              <a:schemeClr val="tx1"/>
            </a:solidFill>
            <a:round/>
            <a:headEnd/>
            <a:tailEnd type="triangle" w="med" len="med"/>
          </a:ln>
        </p:spPr>
        <p:txBody>
          <a:bodyPr wrap="none" anchor="ctr"/>
          <a:lstStyle/>
          <a:p>
            <a:endParaRPr lang="en-US" dirty="0">
              <a:latin typeface="Arial"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3"/>
          <p:cNvSpPr>
            <a:spLocks noGrp="1"/>
          </p:cNvSpPr>
          <p:nvPr>
            <p:ph type="ftr" sz="quarter" idx="10"/>
          </p:nvPr>
        </p:nvSpPr>
        <p:spPr>
          <a:noFill/>
        </p:spPr>
        <p:txBody>
          <a:bodyPr/>
          <a:lstStyle/>
          <a:p>
            <a:r>
              <a:rPr lang="en-US"/>
              <a:t>Art of Multiprocessor Programming</a:t>
            </a:r>
          </a:p>
        </p:txBody>
      </p:sp>
      <p:sp>
        <p:nvSpPr>
          <p:cNvPr id="45059" name="Slide Number Placeholder 4"/>
          <p:cNvSpPr>
            <a:spLocks noGrp="1"/>
          </p:cNvSpPr>
          <p:nvPr>
            <p:ph type="sldNum" sz="quarter" idx="11"/>
          </p:nvPr>
        </p:nvSpPr>
        <p:spPr>
          <a:noFill/>
        </p:spPr>
        <p:txBody>
          <a:bodyPr/>
          <a:lstStyle/>
          <a:p>
            <a:fld id="{CA2C3CD4-0B25-4AEF-B296-B6F9EFCBFE37}" type="slidenum">
              <a:rPr lang="ar-SA" smtClean="0"/>
              <a:pPr/>
              <a:t>43</a:t>
            </a:fld>
            <a:endParaRPr lang="en-US"/>
          </a:p>
        </p:txBody>
      </p:sp>
      <p:sp>
        <p:nvSpPr>
          <p:cNvPr id="45060" name="Rectangle 2"/>
          <p:cNvSpPr>
            <a:spLocks noGrp="1" noChangeArrowheads="1"/>
          </p:cNvSpPr>
          <p:nvPr>
            <p:ph type="title"/>
          </p:nvPr>
        </p:nvSpPr>
        <p:spPr/>
        <p:txBody>
          <a:bodyPr/>
          <a:lstStyle/>
          <a:p>
            <a:r>
              <a:rPr lang="en-US"/>
              <a:t>Multicore Set Associativity</a:t>
            </a:r>
          </a:p>
        </p:txBody>
      </p:sp>
      <p:sp>
        <p:nvSpPr>
          <p:cNvPr id="45061" name="Rectangle 3"/>
          <p:cNvSpPr>
            <a:spLocks noGrp="1" noChangeArrowheads="1"/>
          </p:cNvSpPr>
          <p:nvPr>
            <p:ph type="body" idx="1"/>
          </p:nvPr>
        </p:nvSpPr>
        <p:spPr/>
        <p:txBody>
          <a:bodyPr/>
          <a:lstStyle/>
          <a:p>
            <a:r>
              <a:rPr lang="en-US" dirty="0">
                <a:solidFill>
                  <a:schemeClr val="tx1"/>
                </a:solidFill>
              </a:rPr>
              <a:t>k</a:t>
            </a:r>
            <a:r>
              <a:rPr lang="en-US" dirty="0"/>
              <a:t> is </a:t>
            </a:r>
            <a:r>
              <a:rPr lang="en-US" dirty="0">
                <a:solidFill>
                  <a:schemeClr val="tx1"/>
                </a:solidFill>
              </a:rPr>
              <a:t>8</a:t>
            </a:r>
            <a:r>
              <a:rPr lang="en-US" dirty="0"/>
              <a:t> or even </a:t>
            </a:r>
            <a:r>
              <a:rPr lang="en-US" dirty="0">
                <a:solidFill>
                  <a:schemeClr val="tx1"/>
                </a:solidFill>
              </a:rPr>
              <a:t>16</a:t>
            </a:r>
            <a:r>
              <a:rPr lang="en-US" dirty="0"/>
              <a:t> and growing…</a:t>
            </a:r>
          </a:p>
          <a:p>
            <a:pPr lvl="1"/>
            <a:r>
              <a:rPr lang="en-US" dirty="0"/>
              <a:t>Why? Because cores share sets </a:t>
            </a:r>
          </a:p>
          <a:p>
            <a:pPr lvl="1"/>
            <a:r>
              <a:rPr lang="en-US" dirty="0"/>
              <a:t>Threads cut effective size if accessing different data</a:t>
            </a:r>
          </a:p>
        </p:txBody>
      </p:sp>
      <p:sp>
        <p:nvSpPr>
          <p:cNvPr id="45062" name="Freeform 4"/>
          <p:cNvSpPr>
            <a:spLocks/>
          </p:cNvSpPr>
          <p:nvPr/>
        </p:nvSpPr>
        <p:spPr bwMode="auto">
          <a:xfrm>
            <a:off x="3373438" y="4376738"/>
            <a:ext cx="2987675" cy="1633537"/>
          </a:xfrm>
          <a:custGeom>
            <a:avLst/>
            <a:gdLst>
              <a:gd name="T0" fmla="*/ 2147483647 w 1019"/>
              <a:gd name="T1" fmla="*/ 0 h 557"/>
              <a:gd name="T2" fmla="*/ 0 w 1019"/>
              <a:gd name="T3" fmla="*/ 2147483647 h 557"/>
              <a:gd name="T4" fmla="*/ 2147483647 w 1019"/>
              <a:gd name="T5" fmla="*/ 2147483647 h 557"/>
              <a:gd name="T6" fmla="*/ 2147483647 w 1019"/>
              <a:gd name="T7" fmla="*/ 2147483647 h 557"/>
              <a:gd name="T8" fmla="*/ 2147483647 w 1019"/>
              <a:gd name="T9" fmla="*/ 0 h 557"/>
              <a:gd name="T10" fmla="*/ 0 60000 65536"/>
              <a:gd name="T11" fmla="*/ 0 60000 65536"/>
              <a:gd name="T12" fmla="*/ 0 60000 65536"/>
              <a:gd name="T13" fmla="*/ 0 60000 65536"/>
              <a:gd name="T14" fmla="*/ 0 60000 65536"/>
              <a:gd name="T15" fmla="*/ 0 w 1019"/>
              <a:gd name="T16" fmla="*/ 0 h 557"/>
              <a:gd name="T17" fmla="*/ 1019 w 1019"/>
              <a:gd name="T18" fmla="*/ 557 h 557"/>
            </a:gdLst>
            <a:ahLst/>
            <a:cxnLst>
              <a:cxn ang="T10">
                <a:pos x="T0" y="T1"/>
              </a:cxn>
              <a:cxn ang="T11">
                <a:pos x="T2" y="T3"/>
              </a:cxn>
              <a:cxn ang="T12">
                <a:pos x="T4" y="T5"/>
              </a:cxn>
              <a:cxn ang="T13">
                <a:pos x="T6" y="T7"/>
              </a:cxn>
              <a:cxn ang="T14">
                <a:pos x="T8" y="T9"/>
              </a:cxn>
            </a:cxnLst>
            <a:rect l="T15" t="T16" r="T17" b="T18"/>
            <a:pathLst>
              <a:path w="1019" h="557">
                <a:moveTo>
                  <a:pt x="283" y="0"/>
                </a:moveTo>
                <a:lnTo>
                  <a:pt x="0" y="557"/>
                </a:lnTo>
                <a:lnTo>
                  <a:pt x="1019" y="557"/>
                </a:lnTo>
                <a:lnTo>
                  <a:pt x="831" y="19"/>
                </a:lnTo>
                <a:lnTo>
                  <a:pt x="283"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grpSp>
        <p:nvGrpSpPr>
          <p:cNvPr id="45063" name="Group 14"/>
          <p:cNvGrpSpPr>
            <a:grpSpLocks/>
          </p:cNvGrpSpPr>
          <p:nvPr/>
        </p:nvGrpSpPr>
        <p:grpSpPr bwMode="auto">
          <a:xfrm>
            <a:off x="2058988" y="4192588"/>
            <a:ext cx="1377950" cy="423862"/>
            <a:chOff x="1313" y="2496"/>
            <a:chExt cx="1252" cy="427"/>
          </a:xfrm>
        </p:grpSpPr>
        <p:sp>
          <p:nvSpPr>
            <p:cNvPr id="45114" name="Freeform 15"/>
            <p:cNvSpPr>
              <a:spLocks/>
            </p:cNvSpPr>
            <p:nvPr/>
          </p:nvSpPr>
          <p:spPr bwMode="auto">
            <a:xfrm>
              <a:off x="1945" y="2502"/>
              <a:ext cx="620" cy="421"/>
            </a:xfrm>
            <a:custGeom>
              <a:avLst/>
              <a:gdLst>
                <a:gd name="T0" fmla="*/ 775 w 348"/>
                <a:gd name="T1" fmla="*/ 3569 h 228"/>
                <a:gd name="T2" fmla="*/ 3930 w 348"/>
                <a:gd name="T3" fmla="*/ 0 h 228"/>
                <a:gd name="T4" fmla="*/ 11135 w 348"/>
                <a:gd name="T5" fmla="*/ 9035 h 228"/>
                <a:gd name="T6" fmla="*/ 6802 w 348"/>
                <a:gd name="T7" fmla="*/ 5244 h 228"/>
                <a:gd name="T8" fmla="*/ 8637 w 348"/>
                <a:gd name="T9" fmla="*/ 8091 h 228"/>
                <a:gd name="T10" fmla="*/ 4614 w 348"/>
                <a:gd name="T11" fmla="*/ 4998 h 228"/>
                <a:gd name="T12" fmla="*/ 7192 w 348"/>
                <a:gd name="T13" fmla="*/ 7624 h 228"/>
                <a:gd name="T14" fmla="*/ 0 w 348"/>
                <a:gd name="T15" fmla="*/ 4409 h 228"/>
                <a:gd name="T16" fmla="*/ 775 w 348"/>
                <a:gd name="T17" fmla="*/ 3569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5115" name="Freeform 16"/>
            <p:cNvSpPr>
              <a:spLocks/>
            </p:cNvSpPr>
            <p:nvPr/>
          </p:nvSpPr>
          <p:spPr bwMode="auto">
            <a:xfrm>
              <a:off x="1313" y="2496"/>
              <a:ext cx="620" cy="427"/>
            </a:xfrm>
            <a:custGeom>
              <a:avLst/>
              <a:gdLst>
                <a:gd name="T0" fmla="*/ 10266 w 348"/>
                <a:gd name="T1" fmla="*/ 3483 h 231"/>
                <a:gd name="T2" fmla="*/ 7192 w 348"/>
                <a:gd name="T3" fmla="*/ 0 h 231"/>
                <a:gd name="T4" fmla="*/ 0 w 348"/>
                <a:gd name="T5" fmla="*/ 9209 h 231"/>
                <a:gd name="T6" fmla="*/ 4796 w 348"/>
                <a:gd name="T7" fmla="*/ 5396 h 231"/>
                <a:gd name="T8" fmla="*/ 2498 w 348"/>
                <a:gd name="T9" fmla="*/ 8268 h 231"/>
                <a:gd name="T10" fmla="*/ 6802 w 348"/>
                <a:gd name="T11" fmla="*/ 5268 h 231"/>
                <a:gd name="T12" fmla="*/ 4411 w 348"/>
                <a:gd name="T13" fmla="*/ 7900 h 231"/>
                <a:gd name="T14" fmla="*/ 11135 w 348"/>
                <a:gd name="T15" fmla="*/ 4555 h 231"/>
                <a:gd name="T16" fmla="*/ 10266 w 348"/>
                <a:gd name="T17" fmla="*/ 3483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5116" name="Oval 17"/>
            <p:cNvSpPr>
              <a:spLocks noChangeArrowheads="1"/>
            </p:cNvSpPr>
            <p:nvPr/>
          </p:nvSpPr>
          <p:spPr bwMode="auto">
            <a:xfrm>
              <a:off x="1722" y="2579"/>
              <a:ext cx="391" cy="344"/>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5117" name="Oval 18"/>
            <p:cNvSpPr>
              <a:spLocks noChangeArrowheads="1"/>
            </p:cNvSpPr>
            <p:nvPr/>
          </p:nvSpPr>
          <p:spPr bwMode="auto">
            <a:xfrm>
              <a:off x="1945" y="2640"/>
              <a:ext cx="102" cy="96"/>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sp>
        <p:nvSpPr>
          <p:cNvPr id="45064" name="Freeform 19"/>
          <p:cNvSpPr>
            <a:spLocks/>
          </p:cNvSpPr>
          <p:nvPr/>
        </p:nvSpPr>
        <p:spPr bwMode="auto">
          <a:xfrm>
            <a:off x="1198563" y="4832350"/>
            <a:ext cx="2894012" cy="384175"/>
          </a:xfrm>
          <a:custGeom>
            <a:avLst/>
            <a:gdLst>
              <a:gd name="T0" fmla="*/ 0 w 1823"/>
              <a:gd name="T1" fmla="*/ 2147483647 h 242"/>
              <a:gd name="T2" fmla="*/ 2147483647 w 1823"/>
              <a:gd name="T3" fmla="*/ 2147483647 h 242"/>
              <a:gd name="T4" fmla="*/ 2147483647 w 1823"/>
              <a:gd name="T5" fmla="*/ 2147483647 h 242"/>
              <a:gd name="T6" fmla="*/ 0 60000 65536"/>
              <a:gd name="T7" fmla="*/ 0 60000 65536"/>
              <a:gd name="T8" fmla="*/ 0 60000 65536"/>
              <a:gd name="T9" fmla="*/ 0 w 1823"/>
              <a:gd name="T10" fmla="*/ 0 h 242"/>
              <a:gd name="T11" fmla="*/ 1823 w 1823"/>
              <a:gd name="T12" fmla="*/ 242 h 242"/>
            </a:gdLst>
            <a:ahLst/>
            <a:cxnLst>
              <a:cxn ang="T6">
                <a:pos x="T0" y="T1"/>
              </a:cxn>
              <a:cxn ang="T7">
                <a:pos x="T2" y="T3"/>
              </a:cxn>
              <a:cxn ang="T8">
                <a:pos x="T4" y="T5"/>
              </a:cxn>
            </a:cxnLst>
            <a:rect l="T9" t="T10" r="T11" b="T12"/>
            <a:pathLst>
              <a:path w="1823" h="242">
                <a:moveTo>
                  <a:pt x="0" y="204"/>
                </a:moveTo>
                <a:cubicBezTo>
                  <a:pt x="278" y="102"/>
                  <a:pt x="556" y="0"/>
                  <a:pt x="860" y="6"/>
                </a:cubicBezTo>
                <a:cubicBezTo>
                  <a:pt x="1164" y="12"/>
                  <a:pt x="1493" y="127"/>
                  <a:pt x="1823" y="242"/>
                </a:cubicBezTo>
              </a:path>
            </a:pathLst>
          </a:custGeom>
          <a:noFill/>
          <a:ln w="76200">
            <a:solidFill>
              <a:schemeClr val="tx1"/>
            </a:solidFill>
            <a:round/>
            <a:headEnd/>
            <a:tailEnd type="triangle" w="med" len="med"/>
          </a:ln>
        </p:spPr>
        <p:txBody>
          <a:bodyPr wrap="none" anchor="ctr"/>
          <a:lstStyle/>
          <a:p>
            <a:endParaRPr lang="en-US" dirty="0">
              <a:latin typeface="Arial" pitchFamily="34" charset="0"/>
            </a:endParaRPr>
          </a:p>
        </p:txBody>
      </p:sp>
      <p:grpSp>
        <p:nvGrpSpPr>
          <p:cNvPr id="45065" name="Group 23"/>
          <p:cNvGrpSpPr>
            <a:grpSpLocks/>
          </p:cNvGrpSpPr>
          <p:nvPr/>
        </p:nvGrpSpPr>
        <p:grpSpPr bwMode="auto">
          <a:xfrm>
            <a:off x="5216525" y="5319713"/>
            <a:ext cx="430213" cy="341312"/>
            <a:chOff x="2439" y="2860"/>
            <a:chExt cx="271" cy="215"/>
          </a:xfrm>
        </p:grpSpPr>
        <p:sp>
          <p:nvSpPr>
            <p:cNvPr id="45112" name="Oval 24"/>
            <p:cNvSpPr>
              <a:spLocks noChangeArrowheads="1"/>
            </p:cNvSpPr>
            <p:nvPr/>
          </p:nvSpPr>
          <p:spPr bwMode="auto">
            <a:xfrm>
              <a:off x="2439" y="2860"/>
              <a:ext cx="271" cy="215"/>
            </a:xfrm>
            <a:prstGeom prst="ellipse">
              <a:avLst/>
            </a:pr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45113" name="Oval 25"/>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66" name="Group 26"/>
          <p:cNvGrpSpPr>
            <a:grpSpLocks/>
          </p:cNvGrpSpPr>
          <p:nvPr/>
        </p:nvGrpSpPr>
        <p:grpSpPr bwMode="auto">
          <a:xfrm>
            <a:off x="4054475" y="5289550"/>
            <a:ext cx="430213" cy="341313"/>
            <a:chOff x="2439" y="2860"/>
            <a:chExt cx="271" cy="215"/>
          </a:xfrm>
        </p:grpSpPr>
        <p:sp>
          <p:nvSpPr>
            <p:cNvPr id="45110" name="Oval 27"/>
            <p:cNvSpPr>
              <a:spLocks noChangeArrowheads="1"/>
            </p:cNvSpPr>
            <p:nvPr/>
          </p:nvSpPr>
          <p:spPr bwMode="auto">
            <a:xfrm>
              <a:off x="2439" y="2860"/>
              <a:ext cx="271" cy="215"/>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5111" name="Oval 28"/>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67" name="Group 32"/>
          <p:cNvGrpSpPr>
            <a:grpSpLocks/>
          </p:cNvGrpSpPr>
          <p:nvPr/>
        </p:nvGrpSpPr>
        <p:grpSpPr bwMode="auto">
          <a:xfrm>
            <a:off x="5199063" y="4589463"/>
            <a:ext cx="430212" cy="341312"/>
            <a:chOff x="2439" y="2860"/>
            <a:chExt cx="271" cy="215"/>
          </a:xfrm>
        </p:grpSpPr>
        <p:sp>
          <p:nvSpPr>
            <p:cNvPr id="45108" name="Oval 33"/>
            <p:cNvSpPr>
              <a:spLocks noChangeArrowheads="1"/>
            </p:cNvSpPr>
            <p:nvPr/>
          </p:nvSpPr>
          <p:spPr bwMode="auto">
            <a:xfrm>
              <a:off x="2439" y="2860"/>
              <a:ext cx="271" cy="215"/>
            </a:xfrm>
            <a:prstGeom prst="ellipse">
              <a:avLst/>
            </a:pr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45109" name="Oval 34"/>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68" name="Group 35"/>
          <p:cNvGrpSpPr>
            <a:grpSpLocks/>
          </p:cNvGrpSpPr>
          <p:nvPr/>
        </p:nvGrpSpPr>
        <p:grpSpPr bwMode="auto">
          <a:xfrm>
            <a:off x="4224338" y="4557713"/>
            <a:ext cx="430212" cy="341312"/>
            <a:chOff x="2439" y="2860"/>
            <a:chExt cx="271" cy="215"/>
          </a:xfrm>
        </p:grpSpPr>
        <p:sp>
          <p:nvSpPr>
            <p:cNvPr id="45106" name="Oval 36"/>
            <p:cNvSpPr>
              <a:spLocks noChangeArrowheads="1"/>
            </p:cNvSpPr>
            <p:nvPr/>
          </p:nvSpPr>
          <p:spPr bwMode="auto">
            <a:xfrm>
              <a:off x="2439" y="2860"/>
              <a:ext cx="271" cy="215"/>
            </a:xfrm>
            <a:prstGeom prst="ellipse">
              <a:avLst/>
            </a:pr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45107" name="Oval 37"/>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69" name="Group 39"/>
          <p:cNvGrpSpPr>
            <a:grpSpLocks/>
          </p:cNvGrpSpPr>
          <p:nvPr/>
        </p:nvGrpSpPr>
        <p:grpSpPr bwMode="auto">
          <a:xfrm>
            <a:off x="5222875" y="4398963"/>
            <a:ext cx="430213" cy="341312"/>
            <a:chOff x="2439" y="2860"/>
            <a:chExt cx="271" cy="215"/>
          </a:xfrm>
        </p:grpSpPr>
        <p:sp>
          <p:nvSpPr>
            <p:cNvPr id="45104" name="Oval 40"/>
            <p:cNvSpPr>
              <a:spLocks noChangeArrowheads="1"/>
            </p:cNvSpPr>
            <p:nvPr/>
          </p:nvSpPr>
          <p:spPr bwMode="auto">
            <a:xfrm>
              <a:off x="2439" y="2860"/>
              <a:ext cx="271" cy="215"/>
            </a:xfrm>
            <a:prstGeom prst="ellipse">
              <a:avLst/>
            </a:pr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45105" name="Oval 41"/>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70" name="Group 42"/>
          <p:cNvGrpSpPr>
            <a:grpSpLocks/>
          </p:cNvGrpSpPr>
          <p:nvPr/>
        </p:nvGrpSpPr>
        <p:grpSpPr bwMode="auto">
          <a:xfrm>
            <a:off x="5246688" y="4208463"/>
            <a:ext cx="430212" cy="341312"/>
            <a:chOff x="2439" y="2860"/>
            <a:chExt cx="271" cy="215"/>
          </a:xfrm>
        </p:grpSpPr>
        <p:sp>
          <p:nvSpPr>
            <p:cNvPr id="45102" name="Oval 43"/>
            <p:cNvSpPr>
              <a:spLocks noChangeArrowheads="1"/>
            </p:cNvSpPr>
            <p:nvPr/>
          </p:nvSpPr>
          <p:spPr bwMode="auto">
            <a:xfrm>
              <a:off x="2439" y="2860"/>
              <a:ext cx="271" cy="215"/>
            </a:xfrm>
            <a:prstGeom prst="ellipse">
              <a:avLst/>
            </a:pr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45103" name="Oval 44"/>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71" name="Group 45"/>
          <p:cNvGrpSpPr>
            <a:grpSpLocks/>
          </p:cNvGrpSpPr>
          <p:nvPr/>
        </p:nvGrpSpPr>
        <p:grpSpPr bwMode="auto">
          <a:xfrm>
            <a:off x="5375275" y="4587875"/>
            <a:ext cx="430213" cy="341313"/>
            <a:chOff x="2439" y="2860"/>
            <a:chExt cx="271" cy="215"/>
          </a:xfrm>
        </p:grpSpPr>
        <p:sp>
          <p:nvSpPr>
            <p:cNvPr id="45100" name="Oval 46"/>
            <p:cNvSpPr>
              <a:spLocks noChangeArrowheads="1"/>
            </p:cNvSpPr>
            <p:nvPr/>
          </p:nvSpPr>
          <p:spPr bwMode="auto">
            <a:xfrm>
              <a:off x="2439" y="2860"/>
              <a:ext cx="271" cy="215"/>
            </a:xfrm>
            <a:prstGeom prst="ellipse">
              <a:avLst/>
            </a:prstGeom>
            <a:solidFill>
              <a:schemeClr val="accent1"/>
            </a:solidFill>
            <a:ln w="38100">
              <a:solidFill>
                <a:schemeClr val="tx1"/>
              </a:solidFill>
              <a:round/>
              <a:headEnd/>
              <a:tailEnd/>
            </a:ln>
          </p:spPr>
          <p:txBody>
            <a:bodyPr wrap="none" anchor="ctr"/>
            <a:lstStyle/>
            <a:p>
              <a:endParaRPr lang="en-US" dirty="0">
                <a:latin typeface="Arial" pitchFamily="34" charset="0"/>
              </a:endParaRPr>
            </a:p>
          </p:txBody>
        </p:sp>
        <p:sp>
          <p:nvSpPr>
            <p:cNvPr id="45101" name="Oval 47"/>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72" name="Group 48"/>
          <p:cNvGrpSpPr>
            <a:grpSpLocks/>
          </p:cNvGrpSpPr>
          <p:nvPr/>
        </p:nvGrpSpPr>
        <p:grpSpPr bwMode="auto">
          <a:xfrm>
            <a:off x="4376738" y="4710113"/>
            <a:ext cx="430212" cy="341312"/>
            <a:chOff x="2439" y="2860"/>
            <a:chExt cx="271" cy="215"/>
          </a:xfrm>
        </p:grpSpPr>
        <p:sp>
          <p:nvSpPr>
            <p:cNvPr id="45098" name="Oval 49"/>
            <p:cNvSpPr>
              <a:spLocks noChangeArrowheads="1"/>
            </p:cNvSpPr>
            <p:nvPr/>
          </p:nvSpPr>
          <p:spPr bwMode="auto">
            <a:xfrm>
              <a:off x="2439" y="2860"/>
              <a:ext cx="271" cy="215"/>
            </a:xfrm>
            <a:prstGeom prst="ellipse">
              <a:avLst/>
            </a:pr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45099" name="Oval 50"/>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73" name="Group 51"/>
          <p:cNvGrpSpPr>
            <a:grpSpLocks/>
          </p:cNvGrpSpPr>
          <p:nvPr/>
        </p:nvGrpSpPr>
        <p:grpSpPr bwMode="auto">
          <a:xfrm>
            <a:off x="4438650" y="4471988"/>
            <a:ext cx="430213" cy="341312"/>
            <a:chOff x="2439" y="2860"/>
            <a:chExt cx="271" cy="215"/>
          </a:xfrm>
        </p:grpSpPr>
        <p:sp>
          <p:nvSpPr>
            <p:cNvPr id="45096" name="Oval 52"/>
            <p:cNvSpPr>
              <a:spLocks noChangeArrowheads="1"/>
            </p:cNvSpPr>
            <p:nvPr/>
          </p:nvSpPr>
          <p:spPr bwMode="auto">
            <a:xfrm>
              <a:off x="2439" y="2860"/>
              <a:ext cx="271" cy="215"/>
            </a:xfrm>
            <a:prstGeom prst="ellipse">
              <a:avLst/>
            </a:pr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45097" name="Oval 53"/>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74" name="Group 54"/>
          <p:cNvGrpSpPr>
            <a:grpSpLocks/>
          </p:cNvGrpSpPr>
          <p:nvPr/>
        </p:nvGrpSpPr>
        <p:grpSpPr bwMode="auto">
          <a:xfrm>
            <a:off x="4186238" y="4279900"/>
            <a:ext cx="430212" cy="341313"/>
            <a:chOff x="2439" y="2860"/>
            <a:chExt cx="271" cy="215"/>
          </a:xfrm>
        </p:grpSpPr>
        <p:sp>
          <p:nvSpPr>
            <p:cNvPr id="45094" name="Oval 55"/>
            <p:cNvSpPr>
              <a:spLocks noChangeArrowheads="1"/>
            </p:cNvSpPr>
            <p:nvPr/>
          </p:nvSpPr>
          <p:spPr bwMode="auto">
            <a:xfrm>
              <a:off x="2439" y="2860"/>
              <a:ext cx="271" cy="215"/>
            </a:xfrm>
            <a:prstGeom prst="ellipse">
              <a:avLst/>
            </a:pr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45095" name="Oval 56"/>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75" name="Group 57"/>
          <p:cNvGrpSpPr>
            <a:grpSpLocks/>
          </p:cNvGrpSpPr>
          <p:nvPr/>
        </p:nvGrpSpPr>
        <p:grpSpPr bwMode="auto">
          <a:xfrm>
            <a:off x="4206875" y="5441950"/>
            <a:ext cx="430213" cy="341313"/>
            <a:chOff x="2439" y="2860"/>
            <a:chExt cx="271" cy="215"/>
          </a:xfrm>
        </p:grpSpPr>
        <p:sp>
          <p:nvSpPr>
            <p:cNvPr id="45092" name="Oval 58"/>
            <p:cNvSpPr>
              <a:spLocks noChangeArrowheads="1"/>
            </p:cNvSpPr>
            <p:nvPr/>
          </p:nvSpPr>
          <p:spPr bwMode="auto">
            <a:xfrm>
              <a:off x="2439" y="2860"/>
              <a:ext cx="271" cy="215"/>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5093" name="Oval 59"/>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76" name="Group 60"/>
          <p:cNvGrpSpPr>
            <a:grpSpLocks/>
          </p:cNvGrpSpPr>
          <p:nvPr/>
        </p:nvGrpSpPr>
        <p:grpSpPr bwMode="auto">
          <a:xfrm>
            <a:off x="3924300" y="5384800"/>
            <a:ext cx="430213" cy="341313"/>
            <a:chOff x="2439" y="2860"/>
            <a:chExt cx="271" cy="215"/>
          </a:xfrm>
        </p:grpSpPr>
        <p:sp>
          <p:nvSpPr>
            <p:cNvPr id="45090" name="Oval 61"/>
            <p:cNvSpPr>
              <a:spLocks noChangeArrowheads="1"/>
            </p:cNvSpPr>
            <p:nvPr/>
          </p:nvSpPr>
          <p:spPr bwMode="auto">
            <a:xfrm>
              <a:off x="2439" y="2860"/>
              <a:ext cx="271" cy="215"/>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5091" name="Oval 62"/>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77" name="Group 63"/>
          <p:cNvGrpSpPr>
            <a:grpSpLocks/>
          </p:cNvGrpSpPr>
          <p:nvPr/>
        </p:nvGrpSpPr>
        <p:grpSpPr bwMode="auto">
          <a:xfrm>
            <a:off x="4017963" y="4968875"/>
            <a:ext cx="430212" cy="341313"/>
            <a:chOff x="2439" y="2860"/>
            <a:chExt cx="271" cy="215"/>
          </a:xfrm>
        </p:grpSpPr>
        <p:sp>
          <p:nvSpPr>
            <p:cNvPr id="45088" name="Oval 64"/>
            <p:cNvSpPr>
              <a:spLocks noChangeArrowheads="1"/>
            </p:cNvSpPr>
            <p:nvPr/>
          </p:nvSpPr>
          <p:spPr bwMode="auto">
            <a:xfrm>
              <a:off x="2439" y="2860"/>
              <a:ext cx="271" cy="215"/>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45089" name="Oval 65"/>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78" name="Group 66"/>
          <p:cNvGrpSpPr>
            <a:grpSpLocks/>
          </p:cNvGrpSpPr>
          <p:nvPr/>
        </p:nvGrpSpPr>
        <p:grpSpPr bwMode="auto">
          <a:xfrm>
            <a:off x="5368925" y="5472113"/>
            <a:ext cx="430213" cy="341312"/>
            <a:chOff x="2439" y="2860"/>
            <a:chExt cx="271" cy="215"/>
          </a:xfrm>
        </p:grpSpPr>
        <p:sp>
          <p:nvSpPr>
            <p:cNvPr id="45086" name="Oval 67"/>
            <p:cNvSpPr>
              <a:spLocks noChangeArrowheads="1"/>
            </p:cNvSpPr>
            <p:nvPr/>
          </p:nvSpPr>
          <p:spPr bwMode="auto">
            <a:xfrm>
              <a:off x="2439" y="2860"/>
              <a:ext cx="271" cy="215"/>
            </a:xfrm>
            <a:prstGeom prst="ellipse">
              <a:avLst/>
            </a:pr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45087" name="Oval 68"/>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79" name="Group 69"/>
          <p:cNvGrpSpPr>
            <a:grpSpLocks/>
          </p:cNvGrpSpPr>
          <p:nvPr/>
        </p:nvGrpSpPr>
        <p:grpSpPr bwMode="auto">
          <a:xfrm>
            <a:off x="5521325" y="5624513"/>
            <a:ext cx="430213" cy="341312"/>
            <a:chOff x="2439" y="2860"/>
            <a:chExt cx="271" cy="215"/>
          </a:xfrm>
        </p:grpSpPr>
        <p:sp>
          <p:nvSpPr>
            <p:cNvPr id="45084" name="Oval 70"/>
            <p:cNvSpPr>
              <a:spLocks noChangeArrowheads="1"/>
            </p:cNvSpPr>
            <p:nvPr/>
          </p:nvSpPr>
          <p:spPr bwMode="auto">
            <a:xfrm>
              <a:off x="2439" y="2860"/>
              <a:ext cx="271" cy="215"/>
            </a:xfrm>
            <a:prstGeom prst="ellipse">
              <a:avLst/>
            </a:pr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45085" name="Oval 71"/>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grpSp>
        <p:nvGrpSpPr>
          <p:cNvPr id="45080" name="Group 72"/>
          <p:cNvGrpSpPr>
            <a:grpSpLocks/>
          </p:cNvGrpSpPr>
          <p:nvPr/>
        </p:nvGrpSpPr>
        <p:grpSpPr bwMode="auto">
          <a:xfrm>
            <a:off x="5583238" y="5386388"/>
            <a:ext cx="430212" cy="341312"/>
            <a:chOff x="2439" y="2860"/>
            <a:chExt cx="271" cy="215"/>
          </a:xfrm>
        </p:grpSpPr>
        <p:sp>
          <p:nvSpPr>
            <p:cNvPr id="45082" name="Oval 73"/>
            <p:cNvSpPr>
              <a:spLocks noChangeArrowheads="1"/>
            </p:cNvSpPr>
            <p:nvPr/>
          </p:nvSpPr>
          <p:spPr bwMode="auto">
            <a:xfrm>
              <a:off x="2439" y="2860"/>
              <a:ext cx="271" cy="215"/>
            </a:xfrm>
            <a:prstGeom prst="ellipse">
              <a:avLst/>
            </a:prstGeom>
            <a:solidFill>
              <a:srgbClr val="FF3300"/>
            </a:solidFill>
            <a:ln w="38100">
              <a:solidFill>
                <a:schemeClr val="tx1"/>
              </a:solidFill>
              <a:round/>
              <a:headEnd/>
              <a:tailEnd/>
            </a:ln>
          </p:spPr>
          <p:txBody>
            <a:bodyPr wrap="none" anchor="ctr"/>
            <a:lstStyle/>
            <a:p>
              <a:endParaRPr lang="en-US" dirty="0">
                <a:latin typeface="Arial" pitchFamily="34" charset="0"/>
              </a:endParaRPr>
            </a:p>
          </p:txBody>
        </p:sp>
        <p:sp>
          <p:nvSpPr>
            <p:cNvPr id="45083" name="Oval 74"/>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sp>
        <p:nvSpPr>
          <p:cNvPr id="45081" name="Freeform 38"/>
          <p:cNvSpPr>
            <a:spLocks/>
          </p:cNvSpPr>
          <p:nvPr/>
        </p:nvSpPr>
        <p:spPr bwMode="auto">
          <a:xfrm>
            <a:off x="4497388" y="4179888"/>
            <a:ext cx="3402012" cy="1022350"/>
          </a:xfrm>
          <a:custGeom>
            <a:avLst/>
            <a:gdLst>
              <a:gd name="T0" fmla="*/ 0 w 2143"/>
              <a:gd name="T1" fmla="*/ 2147483647 h 644"/>
              <a:gd name="T2" fmla="*/ 2147483647 w 2143"/>
              <a:gd name="T3" fmla="*/ 2147483647 h 644"/>
              <a:gd name="T4" fmla="*/ 2147483647 w 2143"/>
              <a:gd name="T5" fmla="*/ 2147483647 h 644"/>
              <a:gd name="T6" fmla="*/ 0 60000 65536"/>
              <a:gd name="T7" fmla="*/ 0 60000 65536"/>
              <a:gd name="T8" fmla="*/ 0 60000 65536"/>
              <a:gd name="T9" fmla="*/ 0 w 2143"/>
              <a:gd name="T10" fmla="*/ 0 h 644"/>
              <a:gd name="T11" fmla="*/ 2143 w 2143"/>
              <a:gd name="T12" fmla="*/ 644 h 644"/>
            </a:gdLst>
            <a:ahLst/>
            <a:cxnLst>
              <a:cxn ang="T6">
                <a:pos x="T0" y="T1"/>
              </a:cxn>
              <a:cxn ang="T7">
                <a:pos x="T2" y="T3"/>
              </a:cxn>
              <a:cxn ang="T8">
                <a:pos x="T4" y="T5"/>
              </a:cxn>
            </a:cxnLst>
            <a:rect l="T9" t="T10" r="T11" b="T12"/>
            <a:pathLst>
              <a:path w="2143" h="644">
                <a:moveTo>
                  <a:pt x="0" y="521"/>
                </a:moveTo>
                <a:cubicBezTo>
                  <a:pt x="178" y="438"/>
                  <a:pt x="710" y="0"/>
                  <a:pt x="1067" y="20"/>
                </a:cubicBezTo>
                <a:cubicBezTo>
                  <a:pt x="1424" y="40"/>
                  <a:pt x="1919" y="514"/>
                  <a:pt x="2143" y="644"/>
                </a:cubicBezTo>
              </a:path>
            </a:pathLst>
          </a:custGeom>
          <a:noFill/>
          <a:ln w="76200">
            <a:solidFill>
              <a:schemeClr val="tx1"/>
            </a:solidFill>
            <a:round/>
            <a:headEnd/>
            <a:tailEnd type="triangle" w="med" len="med"/>
          </a:ln>
        </p:spPr>
        <p:txBody>
          <a:bodyPr wrap="none" anchor="ctr"/>
          <a:lstStyle/>
          <a:p>
            <a:endParaRPr lang="en-US" dirty="0">
              <a:latin typeface="Arial"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3"/>
          <p:cNvSpPr>
            <a:spLocks noGrp="1"/>
          </p:cNvSpPr>
          <p:nvPr>
            <p:ph type="ftr" sz="quarter" idx="10"/>
          </p:nvPr>
        </p:nvSpPr>
        <p:spPr>
          <a:noFill/>
        </p:spPr>
        <p:txBody>
          <a:bodyPr/>
          <a:lstStyle/>
          <a:p>
            <a:r>
              <a:rPr lang="en-US"/>
              <a:t>Art of Multiprocessor Programming</a:t>
            </a:r>
          </a:p>
        </p:txBody>
      </p:sp>
      <p:sp>
        <p:nvSpPr>
          <p:cNvPr id="46083" name="Slide Number Placeholder 4"/>
          <p:cNvSpPr>
            <a:spLocks noGrp="1"/>
          </p:cNvSpPr>
          <p:nvPr>
            <p:ph type="sldNum" sz="quarter" idx="11"/>
          </p:nvPr>
        </p:nvSpPr>
        <p:spPr>
          <a:noFill/>
        </p:spPr>
        <p:txBody>
          <a:bodyPr/>
          <a:lstStyle/>
          <a:p>
            <a:fld id="{4C657A6C-44C2-4181-B63B-06FFF3A1C81D}" type="slidenum">
              <a:rPr lang="ar-SA" smtClean="0"/>
              <a:pPr/>
              <a:t>44</a:t>
            </a:fld>
            <a:endParaRPr lang="en-US"/>
          </a:p>
        </p:txBody>
      </p:sp>
      <p:sp>
        <p:nvSpPr>
          <p:cNvPr id="46084" name="Rectangle 2"/>
          <p:cNvSpPr>
            <a:spLocks noGrp="1" noChangeArrowheads="1"/>
          </p:cNvSpPr>
          <p:nvPr>
            <p:ph type="title"/>
          </p:nvPr>
        </p:nvSpPr>
        <p:spPr/>
        <p:txBody>
          <a:bodyPr/>
          <a:lstStyle/>
          <a:p>
            <a:r>
              <a:rPr lang="en-US"/>
              <a:t>Cache Coherence</a:t>
            </a:r>
          </a:p>
        </p:txBody>
      </p:sp>
      <p:sp>
        <p:nvSpPr>
          <p:cNvPr id="46085" name="Rectangle 3"/>
          <p:cNvSpPr>
            <a:spLocks noGrp="1" noChangeArrowheads="1"/>
          </p:cNvSpPr>
          <p:nvPr>
            <p:ph type="body" idx="1"/>
          </p:nvPr>
        </p:nvSpPr>
        <p:spPr/>
        <p:txBody>
          <a:bodyPr/>
          <a:lstStyle/>
          <a:p>
            <a:r>
              <a:rPr lang="en-US" dirty="0">
                <a:solidFill>
                  <a:schemeClr val="tx1"/>
                </a:solidFill>
              </a:rPr>
              <a:t>A</a:t>
            </a:r>
            <a:r>
              <a:rPr lang="en-US" dirty="0"/>
              <a:t> and </a:t>
            </a:r>
            <a:r>
              <a:rPr lang="en-US" dirty="0">
                <a:solidFill>
                  <a:schemeClr val="tx1"/>
                </a:solidFill>
              </a:rPr>
              <a:t>B</a:t>
            </a:r>
            <a:r>
              <a:rPr lang="en-US" dirty="0"/>
              <a:t> both cache address </a:t>
            </a:r>
            <a:r>
              <a:rPr lang="en-US" dirty="0">
                <a:solidFill>
                  <a:schemeClr val="tx1"/>
                </a:solidFill>
              </a:rPr>
              <a:t>x</a:t>
            </a:r>
          </a:p>
          <a:p>
            <a:r>
              <a:rPr lang="en-US" dirty="0">
                <a:solidFill>
                  <a:schemeClr val="tx1"/>
                </a:solidFill>
              </a:rPr>
              <a:t>A</a:t>
            </a:r>
            <a:r>
              <a:rPr lang="en-US" dirty="0"/>
              <a:t> writes to </a:t>
            </a:r>
            <a:r>
              <a:rPr lang="en-US" dirty="0">
                <a:solidFill>
                  <a:schemeClr val="tx1"/>
                </a:solidFill>
              </a:rPr>
              <a:t>x</a:t>
            </a:r>
          </a:p>
          <a:p>
            <a:pPr lvl="1"/>
            <a:r>
              <a:rPr lang="en-US" dirty="0"/>
              <a:t>Updates cache</a:t>
            </a:r>
          </a:p>
          <a:p>
            <a:r>
              <a:rPr lang="en-US" dirty="0"/>
              <a:t>How does </a:t>
            </a:r>
            <a:r>
              <a:rPr lang="en-US" dirty="0">
                <a:solidFill>
                  <a:schemeClr val="tx1"/>
                </a:solidFill>
              </a:rPr>
              <a:t>B</a:t>
            </a:r>
            <a:r>
              <a:rPr lang="en-US" dirty="0"/>
              <a:t> find out?</a:t>
            </a:r>
          </a:p>
          <a:p>
            <a:r>
              <a:rPr lang="en-US" dirty="0"/>
              <a:t>Many </a:t>
            </a:r>
            <a:r>
              <a:rPr lang="en-US" dirty="0">
                <a:solidFill>
                  <a:schemeClr val="tx1"/>
                </a:solidFill>
              </a:rPr>
              <a:t>cache coherence</a:t>
            </a:r>
            <a:r>
              <a:rPr lang="en-US" dirty="0"/>
              <a:t> protocols in literature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0"/>
          </p:nvPr>
        </p:nvSpPr>
        <p:spPr>
          <a:noFill/>
        </p:spPr>
        <p:txBody>
          <a:bodyPr/>
          <a:lstStyle/>
          <a:p>
            <a:r>
              <a:rPr lang="en-US"/>
              <a:t>Art of Multiprocessor Programming</a:t>
            </a:r>
          </a:p>
        </p:txBody>
      </p:sp>
      <p:sp>
        <p:nvSpPr>
          <p:cNvPr id="47107" name="Slide Number Placeholder 4"/>
          <p:cNvSpPr>
            <a:spLocks noGrp="1"/>
          </p:cNvSpPr>
          <p:nvPr>
            <p:ph type="sldNum" sz="quarter" idx="11"/>
          </p:nvPr>
        </p:nvSpPr>
        <p:spPr>
          <a:noFill/>
        </p:spPr>
        <p:txBody>
          <a:bodyPr/>
          <a:lstStyle/>
          <a:p>
            <a:fld id="{DA0892DB-CC19-4F8A-8830-549B604ABE7B}" type="slidenum">
              <a:rPr lang="ar-SA" smtClean="0"/>
              <a:pPr/>
              <a:t>45</a:t>
            </a:fld>
            <a:endParaRPr lang="en-US"/>
          </a:p>
        </p:txBody>
      </p:sp>
      <p:sp>
        <p:nvSpPr>
          <p:cNvPr id="47108" name="Rectangle 2"/>
          <p:cNvSpPr>
            <a:spLocks noGrp="1" noChangeArrowheads="1"/>
          </p:cNvSpPr>
          <p:nvPr>
            <p:ph type="title"/>
          </p:nvPr>
        </p:nvSpPr>
        <p:spPr/>
        <p:txBody>
          <a:bodyPr/>
          <a:lstStyle/>
          <a:p>
            <a:r>
              <a:rPr lang="en-US"/>
              <a:t>MESI</a:t>
            </a:r>
          </a:p>
        </p:txBody>
      </p:sp>
      <p:sp>
        <p:nvSpPr>
          <p:cNvPr id="47109" name="Rectangle 3"/>
          <p:cNvSpPr>
            <a:spLocks noGrp="1" noChangeArrowheads="1"/>
          </p:cNvSpPr>
          <p:nvPr>
            <p:ph type="body" idx="1"/>
          </p:nvPr>
        </p:nvSpPr>
        <p:spPr/>
        <p:txBody>
          <a:bodyPr/>
          <a:lstStyle/>
          <a:p>
            <a:r>
              <a:rPr lang="en-US">
                <a:solidFill>
                  <a:schemeClr val="tx1"/>
                </a:solidFill>
              </a:rPr>
              <a:t>Modified</a:t>
            </a:r>
          </a:p>
          <a:p>
            <a:pPr lvl="1"/>
            <a:r>
              <a:rPr lang="en-US"/>
              <a:t>Have modified cached data, must write back to memory</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p:cNvSpPr>
            <a:spLocks noGrp="1"/>
          </p:cNvSpPr>
          <p:nvPr>
            <p:ph type="ftr" sz="quarter" idx="10"/>
          </p:nvPr>
        </p:nvSpPr>
        <p:spPr>
          <a:noFill/>
        </p:spPr>
        <p:txBody>
          <a:bodyPr/>
          <a:lstStyle/>
          <a:p>
            <a:r>
              <a:rPr lang="en-US"/>
              <a:t>Art of Multiprocessor Programming</a:t>
            </a:r>
          </a:p>
        </p:txBody>
      </p:sp>
      <p:sp>
        <p:nvSpPr>
          <p:cNvPr id="48131" name="Slide Number Placeholder 4"/>
          <p:cNvSpPr>
            <a:spLocks noGrp="1"/>
          </p:cNvSpPr>
          <p:nvPr>
            <p:ph type="sldNum" sz="quarter" idx="11"/>
          </p:nvPr>
        </p:nvSpPr>
        <p:spPr>
          <a:noFill/>
        </p:spPr>
        <p:txBody>
          <a:bodyPr/>
          <a:lstStyle/>
          <a:p>
            <a:fld id="{AFC29B77-C604-4A0C-AEC7-19EADEF15A6B}" type="slidenum">
              <a:rPr lang="ar-SA" smtClean="0"/>
              <a:pPr/>
              <a:t>46</a:t>
            </a:fld>
            <a:endParaRPr lang="en-US"/>
          </a:p>
        </p:txBody>
      </p:sp>
      <p:sp>
        <p:nvSpPr>
          <p:cNvPr id="48132" name="Rectangle 2"/>
          <p:cNvSpPr>
            <a:spLocks noGrp="1" noChangeArrowheads="1"/>
          </p:cNvSpPr>
          <p:nvPr>
            <p:ph type="title"/>
          </p:nvPr>
        </p:nvSpPr>
        <p:spPr/>
        <p:txBody>
          <a:bodyPr/>
          <a:lstStyle/>
          <a:p>
            <a:r>
              <a:rPr lang="en-US"/>
              <a:t>MESI</a:t>
            </a:r>
          </a:p>
        </p:txBody>
      </p:sp>
      <p:sp>
        <p:nvSpPr>
          <p:cNvPr id="48133" name="Rectangle 3"/>
          <p:cNvSpPr>
            <a:spLocks noGrp="1" noChangeArrowheads="1"/>
          </p:cNvSpPr>
          <p:nvPr>
            <p:ph type="body" idx="1"/>
          </p:nvPr>
        </p:nvSpPr>
        <p:spPr/>
        <p:txBody>
          <a:bodyPr/>
          <a:lstStyle/>
          <a:p>
            <a:r>
              <a:rPr lang="en-US"/>
              <a:t>Modified</a:t>
            </a:r>
          </a:p>
          <a:p>
            <a:pPr lvl="1"/>
            <a:r>
              <a:rPr lang="en-US"/>
              <a:t>Have modified cached data, must write back to memory</a:t>
            </a:r>
          </a:p>
          <a:p>
            <a:r>
              <a:rPr lang="en-US">
                <a:solidFill>
                  <a:schemeClr val="tx1"/>
                </a:solidFill>
              </a:rPr>
              <a:t>Exclusive</a:t>
            </a:r>
          </a:p>
          <a:p>
            <a:pPr lvl="1"/>
            <a:r>
              <a:rPr lang="en-US"/>
              <a:t>Not modified, I have only copy</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3"/>
          <p:cNvSpPr>
            <a:spLocks noGrp="1"/>
          </p:cNvSpPr>
          <p:nvPr>
            <p:ph type="ftr" sz="quarter" idx="10"/>
          </p:nvPr>
        </p:nvSpPr>
        <p:spPr>
          <a:noFill/>
        </p:spPr>
        <p:txBody>
          <a:bodyPr/>
          <a:lstStyle/>
          <a:p>
            <a:r>
              <a:rPr lang="en-US"/>
              <a:t>Art of Multiprocessor Programming</a:t>
            </a:r>
          </a:p>
        </p:txBody>
      </p:sp>
      <p:sp>
        <p:nvSpPr>
          <p:cNvPr id="49155" name="Slide Number Placeholder 4"/>
          <p:cNvSpPr>
            <a:spLocks noGrp="1"/>
          </p:cNvSpPr>
          <p:nvPr>
            <p:ph type="sldNum" sz="quarter" idx="11"/>
          </p:nvPr>
        </p:nvSpPr>
        <p:spPr>
          <a:noFill/>
        </p:spPr>
        <p:txBody>
          <a:bodyPr/>
          <a:lstStyle/>
          <a:p>
            <a:fld id="{BBAF981F-2EA2-4946-B726-20F7952E1099}" type="slidenum">
              <a:rPr lang="ar-SA" smtClean="0"/>
              <a:pPr/>
              <a:t>47</a:t>
            </a:fld>
            <a:endParaRPr lang="en-US"/>
          </a:p>
        </p:txBody>
      </p:sp>
      <p:sp>
        <p:nvSpPr>
          <p:cNvPr id="49156" name="Rectangle 2"/>
          <p:cNvSpPr>
            <a:spLocks noGrp="1" noChangeArrowheads="1"/>
          </p:cNvSpPr>
          <p:nvPr>
            <p:ph type="title"/>
          </p:nvPr>
        </p:nvSpPr>
        <p:spPr/>
        <p:txBody>
          <a:bodyPr/>
          <a:lstStyle/>
          <a:p>
            <a:r>
              <a:rPr lang="en-US"/>
              <a:t>MESI</a:t>
            </a:r>
          </a:p>
        </p:txBody>
      </p:sp>
      <p:sp>
        <p:nvSpPr>
          <p:cNvPr id="49157" name="Rectangle 3"/>
          <p:cNvSpPr>
            <a:spLocks noGrp="1" noChangeArrowheads="1"/>
          </p:cNvSpPr>
          <p:nvPr>
            <p:ph type="body" idx="1"/>
          </p:nvPr>
        </p:nvSpPr>
        <p:spPr/>
        <p:txBody>
          <a:bodyPr/>
          <a:lstStyle/>
          <a:p>
            <a:r>
              <a:rPr lang="en-US"/>
              <a:t>Modified</a:t>
            </a:r>
          </a:p>
          <a:p>
            <a:pPr lvl="1"/>
            <a:r>
              <a:rPr lang="en-US"/>
              <a:t>Have modified cached data, must write back to memory</a:t>
            </a:r>
          </a:p>
          <a:p>
            <a:r>
              <a:rPr lang="en-US"/>
              <a:t>Exclusive</a:t>
            </a:r>
          </a:p>
          <a:p>
            <a:pPr lvl="1"/>
            <a:r>
              <a:rPr lang="en-US"/>
              <a:t>Not modified, I have only copy</a:t>
            </a:r>
          </a:p>
          <a:p>
            <a:r>
              <a:rPr lang="en-US">
                <a:solidFill>
                  <a:schemeClr val="tx1"/>
                </a:solidFill>
              </a:rPr>
              <a:t>Shared</a:t>
            </a:r>
          </a:p>
          <a:p>
            <a:pPr lvl="1"/>
            <a:r>
              <a:rPr lang="en-US"/>
              <a:t>Not modified, may be cached elsewhere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3"/>
          <p:cNvSpPr>
            <a:spLocks noGrp="1"/>
          </p:cNvSpPr>
          <p:nvPr>
            <p:ph type="ftr" sz="quarter" idx="10"/>
          </p:nvPr>
        </p:nvSpPr>
        <p:spPr>
          <a:noFill/>
        </p:spPr>
        <p:txBody>
          <a:bodyPr/>
          <a:lstStyle/>
          <a:p>
            <a:r>
              <a:rPr lang="en-US"/>
              <a:t>Art of Multiprocessor Programming</a:t>
            </a:r>
          </a:p>
        </p:txBody>
      </p:sp>
      <p:sp>
        <p:nvSpPr>
          <p:cNvPr id="50179" name="Slide Number Placeholder 4"/>
          <p:cNvSpPr>
            <a:spLocks noGrp="1"/>
          </p:cNvSpPr>
          <p:nvPr>
            <p:ph type="sldNum" sz="quarter" idx="11"/>
          </p:nvPr>
        </p:nvSpPr>
        <p:spPr>
          <a:noFill/>
        </p:spPr>
        <p:txBody>
          <a:bodyPr/>
          <a:lstStyle/>
          <a:p>
            <a:fld id="{B6452538-2D7D-4366-95D6-816889FC4106}" type="slidenum">
              <a:rPr lang="ar-SA" smtClean="0"/>
              <a:pPr/>
              <a:t>48</a:t>
            </a:fld>
            <a:endParaRPr lang="en-US"/>
          </a:p>
        </p:txBody>
      </p:sp>
      <p:sp>
        <p:nvSpPr>
          <p:cNvPr id="50180" name="Rectangle 2"/>
          <p:cNvSpPr>
            <a:spLocks noGrp="1" noChangeArrowheads="1"/>
          </p:cNvSpPr>
          <p:nvPr>
            <p:ph type="title"/>
          </p:nvPr>
        </p:nvSpPr>
        <p:spPr/>
        <p:txBody>
          <a:bodyPr/>
          <a:lstStyle/>
          <a:p>
            <a:r>
              <a:rPr lang="en-US"/>
              <a:t>MESI</a:t>
            </a:r>
          </a:p>
        </p:txBody>
      </p:sp>
      <p:sp>
        <p:nvSpPr>
          <p:cNvPr id="50181" name="Rectangle 3"/>
          <p:cNvSpPr>
            <a:spLocks noGrp="1" noChangeArrowheads="1"/>
          </p:cNvSpPr>
          <p:nvPr>
            <p:ph type="body" idx="1"/>
          </p:nvPr>
        </p:nvSpPr>
        <p:spPr/>
        <p:txBody>
          <a:bodyPr/>
          <a:lstStyle/>
          <a:p>
            <a:pPr>
              <a:lnSpc>
                <a:spcPct val="90000"/>
              </a:lnSpc>
            </a:pPr>
            <a:r>
              <a:rPr lang="en-US" sz="2800"/>
              <a:t>Modified</a:t>
            </a:r>
          </a:p>
          <a:p>
            <a:pPr lvl="1">
              <a:lnSpc>
                <a:spcPct val="90000"/>
              </a:lnSpc>
            </a:pPr>
            <a:r>
              <a:rPr lang="en-US" sz="2400"/>
              <a:t>Have modified cached data, must write back to memory</a:t>
            </a:r>
          </a:p>
          <a:p>
            <a:pPr>
              <a:lnSpc>
                <a:spcPct val="90000"/>
              </a:lnSpc>
            </a:pPr>
            <a:r>
              <a:rPr lang="en-US" sz="2800"/>
              <a:t>Exclusive</a:t>
            </a:r>
          </a:p>
          <a:p>
            <a:pPr lvl="1">
              <a:lnSpc>
                <a:spcPct val="90000"/>
              </a:lnSpc>
            </a:pPr>
            <a:r>
              <a:rPr lang="en-US" sz="2400"/>
              <a:t>Not modified, I have only copy</a:t>
            </a:r>
          </a:p>
          <a:p>
            <a:pPr>
              <a:lnSpc>
                <a:spcPct val="90000"/>
              </a:lnSpc>
            </a:pPr>
            <a:r>
              <a:rPr lang="en-US" sz="2800"/>
              <a:t>Shared</a:t>
            </a:r>
          </a:p>
          <a:p>
            <a:pPr lvl="1">
              <a:lnSpc>
                <a:spcPct val="90000"/>
              </a:lnSpc>
            </a:pPr>
            <a:r>
              <a:rPr lang="en-US" sz="2400"/>
              <a:t>Not modified, may be cached elsewhere</a:t>
            </a:r>
          </a:p>
          <a:p>
            <a:pPr>
              <a:lnSpc>
                <a:spcPct val="90000"/>
              </a:lnSpc>
            </a:pPr>
            <a:r>
              <a:rPr lang="en-US" sz="2800">
                <a:solidFill>
                  <a:schemeClr val="tx1"/>
                </a:solidFill>
              </a:rPr>
              <a:t>Invalid</a:t>
            </a:r>
          </a:p>
          <a:p>
            <a:pPr lvl="1">
              <a:lnSpc>
                <a:spcPct val="90000"/>
              </a:lnSpc>
            </a:pPr>
            <a:r>
              <a:rPr lang="en-US" sz="2400"/>
              <a:t>Cache contents not meaningful</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3"/>
          <p:cNvSpPr>
            <a:spLocks noGrp="1"/>
          </p:cNvSpPr>
          <p:nvPr>
            <p:ph type="ftr" sz="quarter" idx="10"/>
          </p:nvPr>
        </p:nvSpPr>
        <p:spPr>
          <a:noFill/>
        </p:spPr>
        <p:txBody>
          <a:bodyPr/>
          <a:lstStyle/>
          <a:p>
            <a:r>
              <a:rPr lang="en-US"/>
              <a:t>Art of Multiprocessor Programming</a:t>
            </a:r>
          </a:p>
        </p:txBody>
      </p:sp>
      <p:sp>
        <p:nvSpPr>
          <p:cNvPr id="51203" name="Slide Number Placeholder 4"/>
          <p:cNvSpPr>
            <a:spLocks noGrp="1"/>
          </p:cNvSpPr>
          <p:nvPr>
            <p:ph type="sldNum" sz="quarter" idx="11"/>
          </p:nvPr>
        </p:nvSpPr>
        <p:spPr>
          <a:noFill/>
        </p:spPr>
        <p:txBody>
          <a:bodyPr/>
          <a:lstStyle/>
          <a:p>
            <a:fld id="{0BBB089E-7413-4A48-A54C-D0D5F8B2E4C0}" type="slidenum">
              <a:rPr lang="ar-SA" smtClean="0"/>
              <a:pPr/>
              <a:t>49</a:t>
            </a:fld>
            <a:endParaRPr lang="en-US"/>
          </a:p>
        </p:txBody>
      </p:sp>
      <p:pic>
        <p:nvPicPr>
          <p:cNvPr id="5120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51205" name="AutoShape 3"/>
          <p:cNvSpPr>
            <a:spLocks noChangeArrowheads="1"/>
          </p:cNvSpPr>
          <p:nvPr/>
        </p:nvSpPr>
        <p:spPr bwMode="auto">
          <a:xfrm>
            <a:off x="1192213" y="4292600"/>
            <a:ext cx="6626225" cy="641350"/>
          </a:xfrm>
          <a:prstGeom prst="leftRightArrow">
            <a:avLst>
              <a:gd name="adj1" fmla="val 40102"/>
              <a:gd name="adj2" fmla="val 81458"/>
            </a:avLst>
          </a:prstGeom>
          <a:solidFill>
            <a:schemeClr val="folHlink"/>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1130500" name="AutoShape 4"/>
          <p:cNvSpPr>
            <a:spLocks noChangeArrowheads="1"/>
          </p:cNvSpPr>
          <p:nvPr/>
        </p:nvSpPr>
        <p:spPr bwMode="auto">
          <a:xfrm>
            <a:off x="395288" y="1258888"/>
            <a:ext cx="1941512" cy="1187450"/>
          </a:xfrm>
          <a:prstGeom prst="cloudCallout">
            <a:avLst>
              <a:gd name="adj1" fmla="val 65861"/>
              <a:gd name="adj2" fmla="val 43315"/>
            </a:avLst>
          </a:prstGeom>
          <a:solidFill>
            <a:srgbClr val="FF33CC">
              <a:alpha val="30196"/>
            </a:srgbClr>
          </a:solidFill>
          <a:ln w="38100">
            <a:solidFill>
              <a:schemeClr val="tx1"/>
            </a:solidFill>
            <a:round/>
            <a:headEnd/>
            <a:tailEnd/>
          </a:ln>
        </p:spPr>
        <p:txBody>
          <a:bodyPr anchor="ctr"/>
          <a:lstStyle/>
          <a:p>
            <a:pPr algn="ctr"/>
            <a:endParaRPr lang="en-US" sz="3600" b="0" dirty="0">
              <a:latin typeface="Arial" pitchFamily="34" charset="0"/>
            </a:endParaRPr>
          </a:p>
        </p:txBody>
      </p:sp>
      <p:sp>
        <p:nvSpPr>
          <p:cNvPr id="51207" name="Rectangle 5"/>
          <p:cNvSpPr>
            <a:spLocks noGrp="1" noChangeArrowheads="1"/>
          </p:cNvSpPr>
          <p:nvPr>
            <p:ph type="title"/>
          </p:nvPr>
        </p:nvSpPr>
        <p:spPr/>
        <p:txBody>
          <a:bodyPr/>
          <a:lstStyle/>
          <a:p>
            <a:r>
              <a:rPr lang="en-US" sz="4000"/>
              <a:t>Processor Issues Load Request</a:t>
            </a:r>
          </a:p>
        </p:txBody>
      </p:sp>
      <p:grpSp>
        <p:nvGrpSpPr>
          <p:cNvPr id="51208" name="Group 6"/>
          <p:cNvGrpSpPr>
            <a:grpSpLocks/>
          </p:cNvGrpSpPr>
          <p:nvPr/>
        </p:nvGrpSpPr>
        <p:grpSpPr bwMode="auto">
          <a:xfrm>
            <a:off x="3732213" y="2495550"/>
            <a:ext cx="1130300" cy="1173163"/>
            <a:chOff x="2496" y="2725"/>
            <a:chExt cx="712" cy="739"/>
          </a:xfrm>
        </p:grpSpPr>
        <p:sp>
          <p:nvSpPr>
            <p:cNvPr id="51238" name="Rectangle 7"/>
            <p:cNvSpPr>
              <a:spLocks noChangeArrowheads="1"/>
            </p:cNvSpPr>
            <p:nvPr/>
          </p:nvSpPr>
          <p:spPr bwMode="auto">
            <a:xfrm>
              <a:off x="2592" y="3312"/>
              <a:ext cx="528" cy="144"/>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1239" name="Freeform 8"/>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grpSp>
          <p:nvGrpSpPr>
            <p:cNvPr id="51240" name="Group 9"/>
            <p:cNvGrpSpPr>
              <a:grpSpLocks/>
            </p:cNvGrpSpPr>
            <p:nvPr/>
          </p:nvGrpSpPr>
          <p:grpSpPr bwMode="auto">
            <a:xfrm>
              <a:off x="3072" y="2832"/>
              <a:ext cx="136" cy="632"/>
              <a:chOff x="3072" y="2832"/>
              <a:chExt cx="136" cy="632"/>
            </a:xfrm>
          </p:grpSpPr>
          <p:sp>
            <p:nvSpPr>
              <p:cNvPr id="51245" name="Freeform 1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46" name="Freeform 11"/>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47" name="Freeform 12"/>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1241" name="Group 13"/>
            <p:cNvGrpSpPr>
              <a:grpSpLocks/>
            </p:cNvGrpSpPr>
            <p:nvPr/>
          </p:nvGrpSpPr>
          <p:grpSpPr bwMode="auto">
            <a:xfrm flipH="1">
              <a:off x="2496" y="2832"/>
              <a:ext cx="136" cy="632"/>
              <a:chOff x="3072" y="2832"/>
              <a:chExt cx="136" cy="632"/>
            </a:xfrm>
          </p:grpSpPr>
          <p:sp>
            <p:nvSpPr>
              <p:cNvPr id="51242" name="Freeform 1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43" name="Freeform 15"/>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44" name="Freeform 16"/>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grpSp>
        <p:nvGrpSpPr>
          <p:cNvPr id="51209" name="Group 17"/>
          <p:cNvGrpSpPr>
            <a:grpSpLocks/>
          </p:cNvGrpSpPr>
          <p:nvPr/>
        </p:nvGrpSpPr>
        <p:grpSpPr bwMode="auto">
          <a:xfrm>
            <a:off x="1757363" y="2441575"/>
            <a:ext cx="1358900" cy="1282700"/>
            <a:chOff x="1008" y="2720"/>
            <a:chExt cx="856" cy="808"/>
          </a:xfrm>
        </p:grpSpPr>
        <p:sp>
          <p:nvSpPr>
            <p:cNvPr id="51229" name="Rectangle 18"/>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1230" name="Freeform 1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31" name="Freeform 2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32" name="Freeform 2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33" name="Freeform 2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51234" name="Freeform 2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51235" name="Freeform 2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36" name="Freeform 2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37" name="Freeform 2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1210" name="Group 27"/>
          <p:cNvGrpSpPr>
            <a:grpSpLocks/>
          </p:cNvGrpSpPr>
          <p:nvPr/>
        </p:nvGrpSpPr>
        <p:grpSpPr bwMode="auto">
          <a:xfrm flipH="1">
            <a:off x="5480050" y="2441575"/>
            <a:ext cx="1358900" cy="1282700"/>
            <a:chOff x="1008" y="2720"/>
            <a:chExt cx="856" cy="808"/>
          </a:xfrm>
        </p:grpSpPr>
        <p:sp>
          <p:nvSpPr>
            <p:cNvPr id="51220" name="Rectangle 28"/>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1221" name="Freeform 2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22" name="Freeform 3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23" name="Freeform 3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24" name="Freeform 3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1225" name="Freeform 3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1226" name="Freeform 3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27" name="Freeform 3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1228" name="Freeform 3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130533" name="AutoShape 37"/>
          <p:cNvSpPr>
            <a:spLocks noChangeArrowheads="1"/>
          </p:cNvSpPr>
          <p:nvPr/>
        </p:nvSpPr>
        <p:spPr bwMode="auto">
          <a:xfrm>
            <a:off x="1182688" y="4298950"/>
            <a:ext cx="6626225" cy="641350"/>
          </a:xfrm>
          <a:prstGeom prst="leftRightArrow">
            <a:avLst>
              <a:gd name="adj1" fmla="val 40102"/>
              <a:gd name="adj2" fmla="val 81458"/>
            </a:avLst>
          </a:prstGeom>
          <a:solidFill>
            <a:srgbClr val="FF33CC"/>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51212" name="Rectangle 38"/>
          <p:cNvSpPr>
            <a:spLocks noChangeArrowheads="1"/>
          </p:cNvSpPr>
          <p:nvPr/>
        </p:nvSpPr>
        <p:spPr bwMode="auto">
          <a:xfrm>
            <a:off x="19192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51213" name="Rectangle 39"/>
          <p:cNvSpPr>
            <a:spLocks noChangeArrowheads="1"/>
          </p:cNvSpPr>
          <p:nvPr/>
        </p:nvSpPr>
        <p:spPr bwMode="auto">
          <a:xfrm>
            <a:off x="1747838" y="5262563"/>
            <a:ext cx="5567362" cy="881062"/>
          </a:xfrm>
          <a:prstGeom prst="rect">
            <a:avLst/>
          </a:prstGeom>
          <a:solidFill>
            <a:schemeClr val="folHlink"/>
          </a:solidFill>
          <a:ln w="38100">
            <a:solidFill>
              <a:schemeClr val="tx1"/>
            </a:solidFill>
            <a:miter lim="800000"/>
            <a:headEnd/>
            <a:tailEnd/>
          </a:ln>
        </p:spPr>
        <p:txBody>
          <a:bodyPr wrap="none" anchor="ctr"/>
          <a:lstStyle/>
          <a:p>
            <a:pPr algn="ctr"/>
            <a:r>
              <a:rPr lang="en-US" b="0" dirty="0">
                <a:solidFill>
                  <a:schemeClr val="tx2"/>
                </a:solidFill>
                <a:latin typeface="Arial" pitchFamily="34" charset="0"/>
              </a:rPr>
              <a:t>memory</a:t>
            </a:r>
          </a:p>
        </p:txBody>
      </p:sp>
      <p:sp>
        <p:nvSpPr>
          <p:cNvPr id="51214" name="AutoShape 40"/>
          <p:cNvSpPr>
            <a:spLocks noChangeArrowheads="1"/>
          </p:cNvSpPr>
          <p:nvPr/>
        </p:nvSpPr>
        <p:spPr bwMode="auto">
          <a:xfrm>
            <a:off x="4025900" y="4829175"/>
            <a:ext cx="819150" cy="352425"/>
          </a:xfrm>
          <a:prstGeom prst="upDownArrow">
            <a:avLst>
              <a:gd name="adj1" fmla="val 50000"/>
              <a:gd name="adj2" fmla="val 33782"/>
            </a:avLst>
          </a:prstGeom>
          <a:solidFill>
            <a:schemeClr val="folHlink"/>
          </a:solidFill>
          <a:ln w="38100">
            <a:solidFill>
              <a:schemeClr val="tx1"/>
            </a:solidFill>
            <a:miter lim="800000"/>
            <a:headEnd/>
            <a:tailEnd/>
          </a:ln>
        </p:spPr>
        <p:txBody>
          <a:bodyPr wrap="none" anchor="ctr"/>
          <a:lstStyle/>
          <a:p>
            <a:endParaRPr lang="en-US" dirty="0">
              <a:latin typeface="Arial" pitchFamily="34" charset="0"/>
            </a:endParaRPr>
          </a:p>
        </p:txBody>
      </p:sp>
      <p:sp>
        <p:nvSpPr>
          <p:cNvPr id="51215" name="Rectangle 41"/>
          <p:cNvSpPr>
            <a:spLocks noChangeArrowheads="1"/>
          </p:cNvSpPr>
          <p:nvPr/>
        </p:nvSpPr>
        <p:spPr bwMode="auto">
          <a:xfrm>
            <a:off x="56657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51216" name="Rectangle 42"/>
          <p:cNvSpPr>
            <a:spLocks noChangeArrowheads="1"/>
          </p:cNvSpPr>
          <p:nvPr/>
        </p:nvSpPr>
        <p:spPr bwMode="auto">
          <a:xfrm>
            <a:off x="379253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51217" name="Rectangle 43"/>
          <p:cNvSpPr>
            <a:spLocks noChangeArrowheads="1"/>
          </p:cNvSpPr>
          <p:nvPr/>
        </p:nvSpPr>
        <p:spPr bwMode="auto">
          <a:xfrm>
            <a:off x="5630863" y="5470525"/>
            <a:ext cx="1411287" cy="465138"/>
          </a:xfrm>
          <a:prstGeom prst="rect">
            <a:avLst/>
          </a:prstGeom>
          <a:solidFill>
            <a:schemeClr val="accent2"/>
          </a:solidFill>
          <a:ln w="38100" cmpd="dbl">
            <a:solidFill>
              <a:schemeClr val="tx1"/>
            </a:solidFill>
            <a:miter lim="800000"/>
            <a:headEnd/>
            <a:tailEnd/>
          </a:ln>
        </p:spPr>
        <p:txBody>
          <a:bodyPr wrap="none" anchor="ctr"/>
          <a:lstStyle/>
          <a:p>
            <a:pPr algn="ctr"/>
            <a:r>
              <a:rPr lang="en-US" sz="2800" b="0" dirty="0">
                <a:solidFill>
                  <a:schemeClr val="bg1"/>
                </a:solidFill>
                <a:latin typeface="Arial" pitchFamily="34" charset="0"/>
              </a:rPr>
              <a:t>data</a:t>
            </a:r>
          </a:p>
        </p:txBody>
      </p:sp>
      <p:sp>
        <p:nvSpPr>
          <p:cNvPr id="1130540" name="AutoShape 44"/>
          <p:cNvSpPr>
            <a:spLocks noChangeArrowheads="1"/>
          </p:cNvSpPr>
          <p:nvPr/>
        </p:nvSpPr>
        <p:spPr bwMode="auto">
          <a:xfrm>
            <a:off x="2246313" y="3657600"/>
            <a:ext cx="465137" cy="882650"/>
          </a:xfrm>
          <a:prstGeom prst="upDownArrow">
            <a:avLst>
              <a:gd name="adj1" fmla="val 50000"/>
              <a:gd name="adj2" fmla="val 37952"/>
            </a:avLst>
          </a:prstGeom>
          <a:solidFill>
            <a:srgbClr val="FF33CC"/>
          </a:solidFill>
          <a:ln w="38100">
            <a:solidFill>
              <a:schemeClr val="tx1"/>
            </a:solidFill>
            <a:miter lim="800000"/>
            <a:headEnd/>
            <a:tailEnd/>
          </a:ln>
        </p:spPr>
        <p:txBody>
          <a:bodyPr wrap="none" anchor="ctr"/>
          <a:lstStyle/>
          <a:p>
            <a:pPr algn="r"/>
            <a:endParaRPr lang="en-US" b="0" dirty="0">
              <a:latin typeface="Arial" pitchFamily="34" charset="0"/>
            </a:endParaRPr>
          </a:p>
        </p:txBody>
      </p:sp>
      <p:sp>
        <p:nvSpPr>
          <p:cNvPr id="1130541" name="Rectangle 45"/>
          <p:cNvSpPr>
            <a:spLocks noChangeArrowheads="1"/>
          </p:cNvSpPr>
          <p:nvPr/>
        </p:nvSpPr>
        <p:spPr bwMode="auto">
          <a:xfrm>
            <a:off x="857250" y="1574800"/>
            <a:ext cx="1033463" cy="457200"/>
          </a:xfrm>
          <a:prstGeom prst="rect">
            <a:avLst/>
          </a:prstGeom>
          <a:noFill/>
          <a:ln w="9525">
            <a:noFill/>
            <a:miter lim="800000"/>
            <a:headEnd/>
            <a:tailEnd/>
          </a:ln>
        </p:spPr>
        <p:txBody>
          <a:bodyPr wrap="none">
            <a:spAutoFit/>
          </a:bodyPr>
          <a:lstStyle/>
          <a:p>
            <a:pPr algn="ctr"/>
            <a:r>
              <a:rPr lang="en-US" sz="2400" b="0" dirty="0">
                <a:latin typeface="Arial" pitchFamily="34" charset="0"/>
              </a:rPr>
              <a:t>load 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30500"/>
                                        </p:tgtEl>
                                        <p:attrNameLst>
                                          <p:attrName>style.visibility</p:attrName>
                                        </p:attrNameLst>
                                      </p:cBhvr>
                                      <p:to>
                                        <p:strVal val="visible"/>
                                      </p:to>
                                    </p:set>
                                    <p:animEffect transition="in" filter="blinds(horizontal)">
                                      <p:cBhvr>
                                        <p:cTn id="7" dur="500"/>
                                        <p:tgtEl>
                                          <p:spTgt spid="113050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30541"/>
                                        </p:tgtEl>
                                        <p:attrNameLst>
                                          <p:attrName>style.visibility</p:attrName>
                                        </p:attrNameLst>
                                      </p:cBhvr>
                                      <p:to>
                                        <p:strVal val="visible"/>
                                      </p:to>
                                    </p:set>
                                    <p:animEffect transition="in" filter="blinds(horizontal)">
                                      <p:cBhvr>
                                        <p:cTn id="10" dur="500"/>
                                        <p:tgtEl>
                                          <p:spTgt spid="113054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130540"/>
                                        </p:tgtEl>
                                        <p:attrNameLst>
                                          <p:attrName>style.visibility</p:attrName>
                                        </p:attrNameLst>
                                      </p:cBhvr>
                                      <p:to>
                                        <p:strVal val="visible"/>
                                      </p:to>
                                    </p:set>
                                    <p:animEffect transition="in" filter="blinds(horizontal)">
                                      <p:cBhvr>
                                        <p:cTn id="13" dur="500"/>
                                        <p:tgtEl>
                                          <p:spTgt spid="113054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130533"/>
                                        </p:tgtEl>
                                        <p:attrNameLst>
                                          <p:attrName>style.visibility</p:attrName>
                                        </p:attrNameLst>
                                      </p:cBhvr>
                                      <p:to>
                                        <p:strVal val="visible"/>
                                      </p:to>
                                    </p:set>
                                    <p:animEffect transition="in" filter="blinds(horizontal)">
                                      <p:cBhvr>
                                        <p:cTn id="16" dur="500"/>
                                        <p:tgtEl>
                                          <p:spTgt spid="1130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0500" grpId="0" animBg="1"/>
      <p:bldP spid="1130533" grpId="0" animBg="1"/>
      <p:bldP spid="1130540" grpId="0" animBg="1"/>
      <p:bldP spid="113054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3"/>
          <p:cNvSpPr>
            <a:spLocks noGrp="1"/>
          </p:cNvSpPr>
          <p:nvPr>
            <p:ph type="ftr" sz="quarter" idx="10"/>
          </p:nvPr>
        </p:nvSpPr>
        <p:spPr>
          <a:noFill/>
        </p:spPr>
        <p:txBody>
          <a:bodyPr/>
          <a:lstStyle/>
          <a:p>
            <a:r>
              <a:rPr lang="en-US"/>
              <a:t>Art of Multiprocessor Programming</a:t>
            </a:r>
          </a:p>
        </p:txBody>
      </p:sp>
      <p:sp>
        <p:nvSpPr>
          <p:cNvPr id="52227" name="Slide Number Placeholder 4"/>
          <p:cNvSpPr>
            <a:spLocks noGrp="1"/>
          </p:cNvSpPr>
          <p:nvPr>
            <p:ph type="sldNum" sz="quarter" idx="11"/>
          </p:nvPr>
        </p:nvSpPr>
        <p:spPr>
          <a:noFill/>
        </p:spPr>
        <p:txBody>
          <a:bodyPr/>
          <a:lstStyle/>
          <a:p>
            <a:fld id="{B399A7B6-6ACF-417A-BB7F-5D89E46348C7}" type="slidenum">
              <a:rPr lang="ar-SA" smtClean="0"/>
              <a:pPr/>
              <a:t>50</a:t>
            </a:fld>
            <a:endParaRPr lang="en-US"/>
          </a:p>
        </p:txBody>
      </p:sp>
      <p:pic>
        <p:nvPicPr>
          <p:cNvPr id="5222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52229" name="Rectangle 3"/>
          <p:cNvSpPr>
            <a:spLocks noChangeArrowheads="1"/>
          </p:cNvSpPr>
          <p:nvPr/>
        </p:nvSpPr>
        <p:spPr bwMode="auto">
          <a:xfrm>
            <a:off x="1808163" y="3863975"/>
            <a:ext cx="1203325" cy="385763"/>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52230" name="AutoShape 4"/>
          <p:cNvSpPr>
            <a:spLocks noChangeArrowheads="1"/>
          </p:cNvSpPr>
          <p:nvPr/>
        </p:nvSpPr>
        <p:spPr bwMode="auto">
          <a:xfrm>
            <a:off x="1176338" y="4308475"/>
            <a:ext cx="6626225" cy="641350"/>
          </a:xfrm>
          <a:prstGeom prst="leftRightArrow">
            <a:avLst>
              <a:gd name="adj1" fmla="val 40102"/>
              <a:gd name="adj2" fmla="val 81458"/>
            </a:avLst>
          </a:prstGeom>
          <a:solidFill>
            <a:schemeClr val="folHlink"/>
          </a:solidFill>
          <a:ln w="38100">
            <a:solidFill>
              <a:schemeClr val="tx1"/>
            </a:solidFill>
            <a:miter lim="800000"/>
            <a:headEnd/>
            <a:tailEnd/>
          </a:ln>
        </p:spPr>
        <p:txBody>
          <a:bodyPr wrap="none" anchor="ctr"/>
          <a:lstStyle/>
          <a:p>
            <a:pPr algn="r"/>
            <a:r>
              <a:rPr lang="en-US" sz="2000" b="0" dirty="0">
                <a:solidFill>
                  <a:schemeClr val="tx2"/>
                </a:solidFill>
                <a:latin typeface="Arial" pitchFamily="34" charset="0"/>
              </a:rPr>
              <a:t>Bus</a:t>
            </a:r>
          </a:p>
        </p:txBody>
      </p:sp>
      <p:sp>
        <p:nvSpPr>
          <p:cNvPr id="52231" name="Rectangle 5"/>
          <p:cNvSpPr>
            <a:spLocks noGrp="1" noChangeArrowheads="1"/>
          </p:cNvSpPr>
          <p:nvPr>
            <p:ph type="title"/>
          </p:nvPr>
        </p:nvSpPr>
        <p:spPr/>
        <p:txBody>
          <a:bodyPr/>
          <a:lstStyle/>
          <a:p>
            <a:r>
              <a:rPr lang="en-US"/>
              <a:t>Memory Responds</a:t>
            </a:r>
          </a:p>
        </p:txBody>
      </p:sp>
      <p:grpSp>
        <p:nvGrpSpPr>
          <p:cNvPr id="52232" name="Group 6"/>
          <p:cNvGrpSpPr>
            <a:grpSpLocks/>
          </p:cNvGrpSpPr>
          <p:nvPr/>
        </p:nvGrpSpPr>
        <p:grpSpPr bwMode="auto">
          <a:xfrm>
            <a:off x="3732213" y="2495550"/>
            <a:ext cx="1130300" cy="1173163"/>
            <a:chOff x="2496" y="2725"/>
            <a:chExt cx="712" cy="739"/>
          </a:xfrm>
        </p:grpSpPr>
        <p:sp>
          <p:nvSpPr>
            <p:cNvPr id="52264" name="Rectangle 7"/>
            <p:cNvSpPr>
              <a:spLocks noChangeArrowheads="1"/>
            </p:cNvSpPr>
            <p:nvPr/>
          </p:nvSpPr>
          <p:spPr bwMode="auto">
            <a:xfrm>
              <a:off x="2592" y="3312"/>
              <a:ext cx="528" cy="144"/>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2265" name="Freeform 8"/>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grpSp>
          <p:nvGrpSpPr>
            <p:cNvPr id="52266" name="Group 9"/>
            <p:cNvGrpSpPr>
              <a:grpSpLocks/>
            </p:cNvGrpSpPr>
            <p:nvPr/>
          </p:nvGrpSpPr>
          <p:grpSpPr bwMode="auto">
            <a:xfrm>
              <a:off x="3072" y="2832"/>
              <a:ext cx="136" cy="632"/>
              <a:chOff x="3072" y="2832"/>
              <a:chExt cx="136" cy="632"/>
            </a:xfrm>
          </p:grpSpPr>
          <p:sp>
            <p:nvSpPr>
              <p:cNvPr id="52271" name="Freeform 1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72" name="Freeform 11"/>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73" name="Freeform 12"/>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2267" name="Group 13"/>
            <p:cNvGrpSpPr>
              <a:grpSpLocks/>
            </p:cNvGrpSpPr>
            <p:nvPr/>
          </p:nvGrpSpPr>
          <p:grpSpPr bwMode="auto">
            <a:xfrm flipH="1">
              <a:off x="2496" y="2832"/>
              <a:ext cx="136" cy="632"/>
              <a:chOff x="3072" y="2832"/>
              <a:chExt cx="136" cy="632"/>
            </a:xfrm>
          </p:grpSpPr>
          <p:sp>
            <p:nvSpPr>
              <p:cNvPr id="52268" name="Freeform 1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69" name="Freeform 15"/>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70" name="Freeform 16"/>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grpSp>
        <p:nvGrpSpPr>
          <p:cNvPr id="52233" name="Group 17"/>
          <p:cNvGrpSpPr>
            <a:grpSpLocks/>
          </p:cNvGrpSpPr>
          <p:nvPr/>
        </p:nvGrpSpPr>
        <p:grpSpPr bwMode="auto">
          <a:xfrm>
            <a:off x="1757363" y="2441575"/>
            <a:ext cx="1358900" cy="1282700"/>
            <a:chOff x="1008" y="2720"/>
            <a:chExt cx="856" cy="808"/>
          </a:xfrm>
        </p:grpSpPr>
        <p:sp>
          <p:nvSpPr>
            <p:cNvPr id="52255" name="Rectangle 18"/>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2256" name="Freeform 1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57" name="Freeform 2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58" name="Freeform 2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59" name="Freeform 2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52260" name="Freeform 2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52261" name="Freeform 2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62" name="Freeform 2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63" name="Freeform 2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2234" name="Group 27"/>
          <p:cNvGrpSpPr>
            <a:grpSpLocks/>
          </p:cNvGrpSpPr>
          <p:nvPr/>
        </p:nvGrpSpPr>
        <p:grpSpPr bwMode="auto">
          <a:xfrm flipH="1">
            <a:off x="5480050" y="2441575"/>
            <a:ext cx="1358900" cy="1282700"/>
            <a:chOff x="1008" y="2720"/>
            <a:chExt cx="856" cy="808"/>
          </a:xfrm>
        </p:grpSpPr>
        <p:sp>
          <p:nvSpPr>
            <p:cNvPr id="52246" name="Rectangle 28"/>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2247" name="Freeform 2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48" name="Freeform 30"/>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49" name="Freeform 31"/>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50" name="Freeform 3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2251" name="Freeform 3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2252" name="Freeform 3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53" name="Freeform 35"/>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2254" name="Freeform 36"/>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132581" name="AutoShape 37"/>
          <p:cNvSpPr>
            <a:spLocks noChangeArrowheads="1"/>
          </p:cNvSpPr>
          <p:nvPr/>
        </p:nvSpPr>
        <p:spPr bwMode="auto">
          <a:xfrm>
            <a:off x="1182688" y="4298950"/>
            <a:ext cx="6626225" cy="641350"/>
          </a:xfrm>
          <a:prstGeom prst="leftRightArrow">
            <a:avLst>
              <a:gd name="adj1" fmla="val 40102"/>
              <a:gd name="adj2" fmla="val 81458"/>
            </a:avLst>
          </a:prstGeom>
          <a:solidFill>
            <a:schemeClr val="hlink"/>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52236" name="Rectangle 38"/>
          <p:cNvSpPr>
            <a:spLocks noChangeArrowheads="1"/>
          </p:cNvSpPr>
          <p:nvPr/>
        </p:nvSpPr>
        <p:spPr bwMode="auto">
          <a:xfrm>
            <a:off x="1747838" y="5262563"/>
            <a:ext cx="5567362" cy="881062"/>
          </a:xfrm>
          <a:prstGeom prst="rect">
            <a:avLst/>
          </a:prstGeom>
          <a:solidFill>
            <a:schemeClr val="hlink"/>
          </a:solidFill>
          <a:ln w="38100">
            <a:solidFill>
              <a:schemeClr val="tx1"/>
            </a:solidFill>
            <a:miter lim="800000"/>
            <a:headEnd/>
            <a:tailEnd/>
          </a:ln>
        </p:spPr>
        <p:txBody>
          <a:bodyPr wrap="none" anchor="ctr"/>
          <a:lstStyle/>
          <a:p>
            <a:pPr algn="ctr"/>
            <a:r>
              <a:rPr lang="en-US" b="0" dirty="0">
                <a:solidFill>
                  <a:schemeClr val="tx2"/>
                </a:solidFill>
                <a:latin typeface="Arial" pitchFamily="34" charset="0"/>
              </a:rPr>
              <a:t>memory</a:t>
            </a:r>
          </a:p>
        </p:txBody>
      </p:sp>
      <p:sp>
        <p:nvSpPr>
          <p:cNvPr id="52237" name="AutoShape 39"/>
          <p:cNvSpPr>
            <a:spLocks noChangeArrowheads="1"/>
          </p:cNvSpPr>
          <p:nvPr/>
        </p:nvSpPr>
        <p:spPr bwMode="auto">
          <a:xfrm>
            <a:off x="4025900" y="4829175"/>
            <a:ext cx="819150" cy="352425"/>
          </a:xfrm>
          <a:prstGeom prst="upDownArrow">
            <a:avLst>
              <a:gd name="adj1" fmla="val 50000"/>
              <a:gd name="adj2" fmla="val 33782"/>
            </a:avLst>
          </a:prstGeom>
          <a:solidFill>
            <a:schemeClr val="hlink"/>
          </a:solidFill>
          <a:ln w="38100">
            <a:solidFill>
              <a:schemeClr val="tx1"/>
            </a:solidFill>
            <a:miter lim="800000"/>
            <a:headEnd/>
            <a:tailEnd/>
          </a:ln>
        </p:spPr>
        <p:txBody>
          <a:bodyPr wrap="none" anchor="ctr"/>
          <a:lstStyle/>
          <a:p>
            <a:endParaRPr lang="en-US" dirty="0">
              <a:latin typeface="Arial" pitchFamily="34" charset="0"/>
            </a:endParaRPr>
          </a:p>
        </p:txBody>
      </p:sp>
      <p:sp>
        <p:nvSpPr>
          <p:cNvPr id="52238" name="Rectangle 40"/>
          <p:cNvSpPr>
            <a:spLocks noChangeArrowheads="1"/>
          </p:cNvSpPr>
          <p:nvPr/>
        </p:nvSpPr>
        <p:spPr bwMode="auto">
          <a:xfrm>
            <a:off x="56657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52239" name="Rectangle 41"/>
          <p:cNvSpPr>
            <a:spLocks noChangeArrowheads="1"/>
          </p:cNvSpPr>
          <p:nvPr/>
        </p:nvSpPr>
        <p:spPr bwMode="auto">
          <a:xfrm>
            <a:off x="379253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52240" name="Rectangle 42"/>
          <p:cNvSpPr>
            <a:spLocks noChangeArrowheads="1"/>
          </p:cNvSpPr>
          <p:nvPr/>
        </p:nvSpPr>
        <p:spPr bwMode="auto">
          <a:xfrm>
            <a:off x="5905500" y="5483225"/>
            <a:ext cx="1203325" cy="385763"/>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grpSp>
        <p:nvGrpSpPr>
          <p:cNvPr id="7" name="Group 43"/>
          <p:cNvGrpSpPr>
            <a:grpSpLocks/>
          </p:cNvGrpSpPr>
          <p:nvPr/>
        </p:nvGrpSpPr>
        <p:grpSpPr bwMode="auto">
          <a:xfrm>
            <a:off x="411163" y="4738688"/>
            <a:ext cx="1941512" cy="1187450"/>
            <a:chOff x="259" y="2985"/>
            <a:chExt cx="1223" cy="748"/>
          </a:xfrm>
        </p:grpSpPr>
        <p:sp>
          <p:nvSpPr>
            <p:cNvPr id="52244" name="AutoShape 44"/>
            <p:cNvSpPr>
              <a:spLocks noChangeArrowheads="1"/>
            </p:cNvSpPr>
            <p:nvPr/>
          </p:nvSpPr>
          <p:spPr bwMode="auto">
            <a:xfrm>
              <a:off x="259" y="2985"/>
              <a:ext cx="1223" cy="748"/>
            </a:xfrm>
            <a:prstGeom prst="cloudCallout">
              <a:avLst>
                <a:gd name="adj1" fmla="val 65861"/>
                <a:gd name="adj2" fmla="val 43315"/>
              </a:avLst>
            </a:prstGeom>
            <a:solidFill>
              <a:schemeClr val="hlink">
                <a:alpha val="30196"/>
              </a:schemeClr>
            </a:solidFill>
            <a:ln w="38100">
              <a:solidFill>
                <a:schemeClr val="tx1"/>
              </a:solidFill>
              <a:round/>
              <a:headEnd/>
              <a:tailEnd/>
            </a:ln>
          </p:spPr>
          <p:txBody>
            <a:bodyPr anchor="ctr"/>
            <a:lstStyle/>
            <a:p>
              <a:pPr algn="ctr"/>
              <a:endParaRPr lang="en-US" sz="3600" b="0" dirty="0">
                <a:latin typeface="Arial" pitchFamily="34" charset="0"/>
              </a:endParaRPr>
            </a:p>
          </p:txBody>
        </p:sp>
        <p:sp>
          <p:nvSpPr>
            <p:cNvPr id="52245" name="Rectangle 45"/>
            <p:cNvSpPr>
              <a:spLocks noChangeArrowheads="1"/>
            </p:cNvSpPr>
            <p:nvPr/>
          </p:nvSpPr>
          <p:spPr bwMode="auto">
            <a:xfrm>
              <a:off x="551" y="3084"/>
              <a:ext cx="652" cy="291"/>
            </a:xfrm>
            <a:prstGeom prst="rect">
              <a:avLst/>
            </a:prstGeom>
            <a:noFill/>
            <a:ln w="9525">
              <a:noFill/>
              <a:miter lim="800000"/>
              <a:headEnd/>
              <a:tailEnd/>
            </a:ln>
          </p:spPr>
          <p:txBody>
            <a:bodyPr>
              <a:spAutoFit/>
            </a:bodyPr>
            <a:lstStyle/>
            <a:p>
              <a:pPr algn="ctr"/>
              <a:r>
                <a:rPr lang="en-US" sz="2400" b="0" dirty="0">
                  <a:latin typeface="Arial" pitchFamily="34" charset="0"/>
                </a:rPr>
                <a:t>Got it! </a:t>
              </a:r>
            </a:p>
          </p:txBody>
        </p:sp>
      </p:grpSp>
      <p:sp>
        <p:nvSpPr>
          <p:cNvPr id="1132590" name="Rectangle 46"/>
          <p:cNvSpPr>
            <a:spLocks noChangeArrowheads="1"/>
          </p:cNvSpPr>
          <p:nvPr/>
        </p:nvSpPr>
        <p:spPr bwMode="auto">
          <a:xfrm>
            <a:off x="5930900" y="5476875"/>
            <a:ext cx="1203325" cy="385763"/>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1132593" name="Oval 49"/>
          <p:cNvSpPr>
            <a:spLocks noChangeArrowheads="1"/>
          </p:cNvSpPr>
          <p:nvPr/>
        </p:nvSpPr>
        <p:spPr bwMode="auto">
          <a:xfrm>
            <a:off x="1020763" y="3746500"/>
            <a:ext cx="660400" cy="660400"/>
          </a:xfrm>
          <a:prstGeom prst="ellipse">
            <a:avLst/>
          </a:prstGeom>
          <a:noFill/>
          <a:ln w="38100">
            <a:solidFill>
              <a:schemeClr val="tx1"/>
            </a:solidFill>
            <a:round/>
            <a:headEnd/>
            <a:tailEnd/>
          </a:ln>
        </p:spPr>
        <p:txBody>
          <a:bodyPr wrap="none" anchor="ctr"/>
          <a:lstStyle/>
          <a:p>
            <a:pPr algn="ctr"/>
            <a:r>
              <a:rPr lang="en-US" dirty="0">
                <a:latin typeface="Arial" pitchFamily="34" charset="0"/>
              </a:rPr>
              <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132581"/>
                                        </p:tgtEl>
                                        <p:attrNameLst>
                                          <p:attrName>style.visibility</p:attrName>
                                        </p:attrNameLst>
                                      </p:cBhvr>
                                      <p:to>
                                        <p:strVal val="visible"/>
                                      </p:to>
                                    </p:set>
                                    <p:animEffect transition="in" filter="blinds(horizontal)">
                                      <p:cBhvr>
                                        <p:cTn id="11" dur="500"/>
                                        <p:tgtEl>
                                          <p:spTgt spid="1132581"/>
                                        </p:tgtEl>
                                      </p:cBhvr>
                                    </p:animEffect>
                                  </p:childTnLst>
                                </p:cTn>
                              </p:par>
                            </p:childTnLst>
                          </p:cTn>
                        </p:par>
                        <p:par>
                          <p:cTn id="12" fill="hold">
                            <p:stCondLst>
                              <p:cond delay="1000"/>
                            </p:stCondLst>
                            <p:childTnLst>
                              <p:par>
                                <p:cTn id="13" presetID="0" presetClass="path" presetSubtype="0" accel="50000" decel="50000" fill="hold" grpId="0" nodeType="afterEffect">
                                  <p:stCondLst>
                                    <p:cond delay="0"/>
                                  </p:stCondLst>
                                  <p:childTnLst>
                                    <p:animMotion origin="layout" path="M -0.05139 0.03422 L -0.45139 -0.23445 " pathEditMode="relative" rAng="0" ptsTypes="AA">
                                      <p:cBhvr>
                                        <p:cTn id="14" dur="2000" fill="hold"/>
                                        <p:tgtEl>
                                          <p:spTgt spid="1132590"/>
                                        </p:tgtEl>
                                        <p:attrNameLst>
                                          <p:attrName>ppt_x</p:attrName>
                                          <p:attrName>ppt_y</p:attrName>
                                        </p:attrNameLst>
                                      </p:cBhvr>
                                      <p:rCtr x="-20000" y="-13400"/>
                                    </p:animMotion>
                                  </p:childTnLst>
                                </p:cTn>
                              </p:par>
                            </p:childTnLst>
                          </p:cTn>
                        </p:par>
                        <p:par>
                          <p:cTn id="15" fill="hold">
                            <p:stCondLst>
                              <p:cond delay="3000"/>
                            </p:stCondLst>
                            <p:childTnLst>
                              <p:par>
                                <p:cTn id="16" presetID="3" presetClass="entr" presetSubtype="10" fill="hold" grpId="0" nodeType="afterEffect">
                                  <p:stCondLst>
                                    <p:cond delay="0"/>
                                  </p:stCondLst>
                                  <p:childTnLst>
                                    <p:set>
                                      <p:cBhvr>
                                        <p:cTn id="17" dur="1" fill="hold">
                                          <p:stCondLst>
                                            <p:cond delay="0"/>
                                          </p:stCondLst>
                                        </p:cTn>
                                        <p:tgtEl>
                                          <p:spTgt spid="1132593"/>
                                        </p:tgtEl>
                                        <p:attrNameLst>
                                          <p:attrName>style.visibility</p:attrName>
                                        </p:attrNameLst>
                                      </p:cBhvr>
                                      <p:to>
                                        <p:strVal val="visible"/>
                                      </p:to>
                                    </p:set>
                                    <p:animEffect transition="in" filter="blinds(horizontal)">
                                      <p:cBhvr>
                                        <p:cTn id="18" dur="500"/>
                                        <p:tgtEl>
                                          <p:spTgt spid="11325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581" grpId="0" animBg="1"/>
      <p:bldP spid="1132590" grpId="0" animBg="1"/>
      <p:bldP spid="113259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3"/>
          <p:cNvSpPr>
            <a:spLocks noGrp="1"/>
          </p:cNvSpPr>
          <p:nvPr>
            <p:ph type="ftr" sz="quarter" idx="10"/>
          </p:nvPr>
        </p:nvSpPr>
        <p:spPr>
          <a:noFill/>
        </p:spPr>
        <p:txBody>
          <a:bodyPr/>
          <a:lstStyle/>
          <a:p>
            <a:r>
              <a:rPr lang="en-US"/>
              <a:t>Art of Multiprocessor Programming</a:t>
            </a:r>
          </a:p>
        </p:txBody>
      </p:sp>
      <p:sp>
        <p:nvSpPr>
          <p:cNvPr id="53251" name="Slide Number Placeholder 4"/>
          <p:cNvSpPr>
            <a:spLocks noGrp="1"/>
          </p:cNvSpPr>
          <p:nvPr>
            <p:ph type="sldNum" sz="quarter" idx="11"/>
          </p:nvPr>
        </p:nvSpPr>
        <p:spPr>
          <a:noFill/>
        </p:spPr>
        <p:txBody>
          <a:bodyPr/>
          <a:lstStyle/>
          <a:p>
            <a:fld id="{2CE2ACB9-C2BC-4B08-AA9A-3A6AD896A366}" type="slidenum">
              <a:rPr lang="ar-SA" smtClean="0"/>
              <a:pPr/>
              <a:t>51</a:t>
            </a:fld>
            <a:endParaRPr lang="en-US"/>
          </a:p>
        </p:txBody>
      </p:sp>
      <p:pic>
        <p:nvPicPr>
          <p:cNvPr id="5325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53253" name="AutoShape 3"/>
          <p:cNvSpPr>
            <a:spLocks noChangeArrowheads="1"/>
          </p:cNvSpPr>
          <p:nvPr/>
        </p:nvSpPr>
        <p:spPr bwMode="auto">
          <a:xfrm>
            <a:off x="1192213" y="4308475"/>
            <a:ext cx="6626225" cy="641350"/>
          </a:xfrm>
          <a:prstGeom prst="leftRightArrow">
            <a:avLst>
              <a:gd name="adj1" fmla="val 40102"/>
              <a:gd name="adj2" fmla="val 81458"/>
            </a:avLst>
          </a:prstGeom>
          <a:solidFill>
            <a:schemeClr val="folHlink"/>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53254" name="Rectangle 4"/>
          <p:cNvSpPr>
            <a:spLocks noGrp="1" noChangeArrowheads="1"/>
          </p:cNvSpPr>
          <p:nvPr>
            <p:ph type="title"/>
          </p:nvPr>
        </p:nvSpPr>
        <p:spPr/>
        <p:txBody>
          <a:bodyPr/>
          <a:lstStyle/>
          <a:p>
            <a:r>
              <a:rPr lang="en-US" sz="4000"/>
              <a:t>Processor Issues Load Request</a:t>
            </a:r>
          </a:p>
        </p:txBody>
      </p:sp>
      <p:grpSp>
        <p:nvGrpSpPr>
          <p:cNvPr id="53255" name="Group 5"/>
          <p:cNvGrpSpPr>
            <a:grpSpLocks/>
          </p:cNvGrpSpPr>
          <p:nvPr/>
        </p:nvGrpSpPr>
        <p:grpSpPr bwMode="auto">
          <a:xfrm>
            <a:off x="1757363" y="2441575"/>
            <a:ext cx="1358900" cy="1282700"/>
            <a:chOff x="1008" y="2720"/>
            <a:chExt cx="856" cy="808"/>
          </a:xfrm>
        </p:grpSpPr>
        <p:sp>
          <p:nvSpPr>
            <p:cNvPr id="53287" name="Rectangle 6"/>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3288" name="Freeform 7"/>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89" name="Freeform 8"/>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90" name="Freeform 9"/>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91" name="Freeform 10"/>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3292" name="Freeform 11"/>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3293" name="Freeform 12"/>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94" name="Freeform 13"/>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95" name="Freeform 14"/>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3256" name="Group 15"/>
          <p:cNvGrpSpPr>
            <a:grpSpLocks/>
          </p:cNvGrpSpPr>
          <p:nvPr/>
        </p:nvGrpSpPr>
        <p:grpSpPr bwMode="auto">
          <a:xfrm flipH="1">
            <a:off x="5480050" y="2441575"/>
            <a:ext cx="1358900" cy="1282700"/>
            <a:chOff x="1008" y="2720"/>
            <a:chExt cx="856" cy="808"/>
          </a:xfrm>
        </p:grpSpPr>
        <p:sp>
          <p:nvSpPr>
            <p:cNvPr id="53278" name="Rectangle 16"/>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3279" name="Freeform 17"/>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80" name="Freeform 18"/>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81" name="Freeform 19"/>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82" name="Freeform 20"/>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3283" name="Freeform 21"/>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3284" name="Freeform 22"/>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85" name="Freeform 23"/>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86" name="Freeform 24"/>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134617" name="AutoShape 25"/>
          <p:cNvSpPr>
            <a:spLocks noChangeArrowheads="1"/>
          </p:cNvSpPr>
          <p:nvPr/>
        </p:nvSpPr>
        <p:spPr bwMode="auto">
          <a:xfrm>
            <a:off x="1182688" y="4298950"/>
            <a:ext cx="6626225" cy="641350"/>
          </a:xfrm>
          <a:prstGeom prst="leftRightArrow">
            <a:avLst>
              <a:gd name="adj1" fmla="val 40102"/>
              <a:gd name="adj2" fmla="val 81458"/>
            </a:avLst>
          </a:prstGeom>
          <a:solidFill>
            <a:srgbClr val="FF3300"/>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53258" name="Rectangle 26"/>
          <p:cNvSpPr>
            <a:spLocks noChangeArrowheads="1"/>
          </p:cNvSpPr>
          <p:nvPr/>
        </p:nvSpPr>
        <p:spPr bwMode="auto">
          <a:xfrm>
            <a:off x="1747838" y="5262563"/>
            <a:ext cx="5567362" cy="881062"/>
          </a:xfrm>
          <a:prstGeom prst="rect">
            <a:avLst/>
          </a:prstGeom>
          <a:solidFill>
            <a:schemeClr val="folHlink"/>
          </a:solidFill>
          <a:ln w="38100">
            <a:solidFill>
              <a:schemeClr val="tx1"/>
            </a:solidFill>
            <a:miter lim="800000"/>
            <a:headEnd/>
            <a:tailEnd/>
          </a:ln>
        </p:spPr>
        <p:txBody>
          <a:bodyPr wrap="none" anchor="ctr"/>
          <a:lstStyle/>
          <a:p>
            <a:pPr algn="ctr"/>
            <a:r>
              <a:rPr lang="en-US" b="0" dirty="0">
                <a:solidFill>
                  <a:schemeClr val="tx2"/>
                </a:solidFill>
                <a:latin typeface="Arial" pitchFamily="34" charset="0"/>
              </a:rPr>
              <a:t>memory</a:t>
            </a:r>
          </a:p>
        </p:txBody>
      </p:sp>
      <p:sp>
        <p:nvSpPr>
          <p:cNvPr id="53259" name="AutoShape 27"/>
          <p:cNvSpPr>
            <a:spLocks noChangeArrowheads="1"/>
          </p:cNvSpPr>
          <p:nvPr/>
        </p:nvSpPr>
        <p:spPr bwMode="auto">
          <a:xfrm>
            <a:off x="4025900" y="4829175"/>
            <a:ext cx="819150" cy="352425"/>
          </a:xfrm>
          <a:prstGeom prst="upDownArrow">
            <a:avLst>
              <a:gd name="adj1" fmla="val 50000"/>
              <a:gd name="adj2" fmla="val 33782"/>
            </a:avLst>
          </a:prstGeom>
          <a:solidFill>
            <a:schemeClr val="folHlink"/>
          </a:solidFill>
          <a:ln w="38100">
            <a:solidFill>
              <a:schemeClr val="tx1"/>
            </a:solidFill>
            <a:miter lim="800000"/>
            <a:headEnd/>
            <a:tailEnd/>
          </a:ln>
        </p:spPr>
        <p:txBody>
          <a:bodyPr wrap="none" anchor="ctr"/>
          <a:lstStyle/>
          <a:p>
            <a:endParaRPr lang="en-US" dirty="0">
              <a:latin typeface="Arial" pitchFamily="34" charset="0"/>
            </a:endParaRPr>
          </a:p>
        </p:txBody>
      </p:sp>
      <p:sp>
        <p:nvSpPr>
          <p:cNvPr id="53260" name="Rectangle 28"/>
          <p:cNvSpPr>
            <a:spLocks noChangeArrowheads="1"/>
          </p:cNvSpPr>
          <p:nvPr/>
        </p:nvSpPr>
        <p:spPr bwMode="auto">
          <a:xfrm>
            <a:off x="56657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53261" name="Rectangle 29"/>
          <p:cNvSpPr>
            <a:spLocks noChangeArrowheads="1"/>
          </p:cNvSpPr>
          <p:nvPr/>
        </p:nvSpPr>
        <p:spPr bwMode="auto">
          <a:xfrm>
            <a:off x="379253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grpSp>
        <p:nvGrpSpPr>
          <p:cNvPr id="53262" name="Group 30"/>
          <p:cNvGrpSpPr>
            <a:grpSpLocks/>
          </p:cNvGrpSpPr>
          <p:nvPr/>
        </p:nvGrpSpPr>
        <p:grpSpPr bwMode="auto">
          <a:xfrm>
            <a:off x="3732213" y="2495550"/>
            <a:ext cx="1130300" cy="1173163"/>
            <a:chOff x="2496" y="2725"/>
            <a:chExt cx="712" cy="739"/>
          </a:xfrm>
        </p:grpSpPr>
        <p:sp>
          <p:nvSpPr>
            <p:cNvPr id="53268" name="Rectangle 31"/>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3269" name="Freeform 32"/>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nvGrpSpPr>
            <p:cNvPr id="53270" name="Group 33"/>
            <p:cNvGrpSpPr>
              <a:grpSpLocks/>
            </p:cNvGrpSpPr>
            <p:nvPr/>
          </p:nvGrpSpPr>
          <p:grpSpPr bwMode="auto">
            <a:xfrm>
              <a:off x="3072" y="2832"/>
              <a:ext cx="136" cy="632"/>
              <a:chOff x="3072" y="2832"/>
              <a:chExt cx="136" cy="632"/>
            </a:xfrm>
          </p:grpSpPr>
          <p:sp>
            <p:nvSpPr>
              <p:cNvPr id="53275" name="Freeform 3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76" name="Freeform 35"/>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77" name="Freeform 36"/>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3271" name="Group 37"/>
            <p:cNvGrpSpPr>
              <a:grpSpLocks/>
            </p:cNvGrpSpPr>
            <p:nvPr/>
          </p:nvGrpSpPr>
          <p:grpSpPr bwMode="auto">
            <a:xfrm flipH="1">
              <a:off x="2496" y="2832"/>
              <a:ext cx="136" cy="632"/>
              <a:chOff x="3072" y="2832"/>
              <a:chExt cx="136" cy="632"/>
            </a:xfrm>
          </p:grpSpPr>
          <p:sp>
            <p:nvSpPr>
              <p:cNvPr id="53272" name="Freeform 3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73" name="Freeform 3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274" name="Freeform 4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sp>
        <p:nvSpPr>
          <p:cNvPr id="53263" name="Rectangle 41"/>
          <p:cNvSpPr>
            <a:spLocks noChangeArrowheads="1"/>
          </p:cNvSpPr>
          <p:nvPr/>
        </p:nvSpPr>
        <p:spPr bwMode="auto">
          <a:xfrm>
            <a:off x="1919288" y="3887788"/>
            <a:ext cx="1203325" cy="385762"/>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1134634" name="AutoShape 42"/>
          <p:cNvSpPr>
            <a:spLocks noChangeArrowheads="1"/>
          </p:cNvSpPr>
          <p:nvPr/>
        </p:nvSpPr>
        <p:spPr bwMode="auto">
          <a:xfrm>
            <a:off x="4119563" y="3657600"/>
            <a:ext cx="465137" cy="882650"/>
          </a:xfrm>
          <a:prstGeom prst="upDownArrow">
            <a:avLst>
              <a:gd name="adj1" fmla="val 50000"/>
              <a:gd name="adj2" fmla="val 37952"/>
            </a:avLst>
          </a:prstGeom>
          <a:solidFill>
            <a:srgbClr val="FF3300"/>
          </a:solidFill>
          <a:ln w="38100">
            <a:solidFill>
              <a:schemeClr val="tx1"/>
            </a:solidFill>
            <a:miter lim="800000"/>
            <a:headEnd/>
            <a:tailEnd/>
          </a:ln>
        </p:spPr>
        <p:txBody>
          <a:bodyPr wrap="none" anchor="ctr"/>
          <a:lstStyle/>
          <a:p>
            <a:pPr algn="r"/>
            <a:endParaRPr lang="en-US" b="0" dirty="0">
              <a:latin typeface="Arial" pitchFamily="34" charset="0"/>
            </a:endParaRPr>
          </a:p>
        </p:txBody>
      </p:sp>
      <p:sp>
        <p:nvSpPr>
          <p:cNvPr id="53265" name="Rectangle 43"/>
          <p:cNvSpPr>
            <a:spLocks noChangeArrowheads="1"/>
          </p:cNvSpPr>
          <p:nvPr/>
        </p:nvSpPr>
        <p:spPr bwMode="auto">
          <a:xfrm>
            <a:off x="5930900" y="5476875"/>
            <a:ext cx="1203325" cy="385763"/>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1134637" name="AutoShape 45"/>
          <p:cNvSpPr>
            <a:spLocks noChangeArrowheads="1"/>
          </p:cNvSpPr>
          <p:nvPr/>
        </p:nvSpPr>
        <p:spPr bwMode="auto">
          <a:xfrm>
            <a:off x="1919288" y="1290638"/>
            <a:ext cx="1941512" cy="1187450"/>
          </a:xfrm>
          <a:prstGeom prst="cloudCallout">
            <a:avLst>
              <a:gd name="adj1" fmla="val 65861"/>
              <a:gd name="adj2" fmla="val 43315"/>
            </a:avLst>
          </a:prstGeom>
          <a:solidFill>
            <a:srgbClr val="FF3300">
              <a:alpha val="30196"/>
            </a:srgbClr>
          </a:solidFill>
          <a:ln w="38100">
            <a:solidFill>
              <a:schemeClr val="tx1"/>
            </a:solidFill>
            <a:round/>
            <a:headEnd/>
            <a:tailEnd/>
          </a:ln>
        </p:spPr>
        <p:txBody>
          <a:bodyPr anchor="ctr"/>
          <a:lstStyle/>
          <a:p>
            <a:pPr algn="ctr"/>
            <a:r>
              <a:rPr lang="en-US" sz="2800" b="0" dirty="0">
                <a:latin typeface="Arial" pitchFamily="34" charset="0"/>
              </a:rPr>
              <a:t>Load x</a:t>
            </a:r>
          </a:p>
        </p:txBody>
      </p:sp>
      <p:sp>
        <p:nvSpPr>
          <p:cNvPr id="53267" name="Oval 48"/>
          <p:cNvSpPr>
            <a:spLocks noChangeArrowheads="1"/>
          </p:cNvSpPr>
          <p:nvPr/>
        </p:nvSpPr>
        <p:spPr bwMode="auto">
          <a:xfrm>
            <a:off x="1020763" y="3760788"/>
            <a:ext cx="660400" cy="660400"/>
          </a:xfrm>
          <a:prstGeom prst="ellipse">
            <a:avLst/>
          </a:prstGeom>
          <a:noFill/>
          <a:ln w="38100">
            <a:solidFill>
              <a:schemeClr val="tx1"/>
            </a:solidFill>
            <a:round/>
            <a:headEnd/>
            <a:tailEnd/>
          </a:ln>
        </p:spPr>
        <p:txBody>
          <a:bodyPr wrap="none" anchor="ctr"/>
          <a:lstStyle/>
          <a:p>
            <a:pPr algn="ctr"/>
            <a:r>
              <a:rPr lang="en-US" dirty="0">
                <a:latin typeface="Arial" pitchFamily="34" charset="0"/>
              </a:rPr>
              <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34637"/>
                                        </p:tgtEl>
                                        <p:attrNameLst>
                                          <p:attrName>style.visibility</p:attrName>
                                        </p:attrNameLst>
                                      </p:cBhvr>
                                      <p:to>
                                        <p:strVal val="visible"/>
                                      </p:to>
                                    </p:set>
                                    <p:animEffect transition="in" filter="blinds(horizontal)">
                                      <p:cBhvr>
                                        <p:cTn id="7" dur="500"/>
                                        <p:tgtEl>
                                          <p:spTgt spid="113463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134634"/>
                                        </p:tgtEl>
                                        <p:attrNameLst>
                                          <p:attrName>style.visibility</p:attrName>
                                        </p:attrNameLst>
                                      </p:cBhvr>
                                      <p:to>
                                        <p:strVal val="visible"/>
                                      </p:to>
                                    </p:set>
                                    <p:animEffect transition="in" filter="blinds(horizontal)">
                                      <p:cBhvr>
                                        <p:cTn id="11" dur="500"/>
                                        <p:tgtEl>
                                          <p:spTgt spid="1134634"/>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1134617"/>
                                        </p:tgtEl>
                                        <p:attrNameLst>
                                          <p:attrName>style.visibility</p:attrName>
                                        </p:attrNameLst>
                                      </p:cBhvr>
                                      <p:to>
                                        <p:strVal val="visible"/>
                                      </p:to>
                                    </p:set>
                                    <p:animEffect transition="in" filter="blinds(horizontal)">
                                      <p:cBhvr>
                                        <p:cTn id="14" dur="500"/>
                                        <p:tgtEl>
                                          <p:spTgt spid="11346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4617" grpId="0" animBg="1"/>
      <p:bldP spid="1134634" grpId="0" animBg="1"/>
      <p:bldP spid="113463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3"/>
          <p:cNvSpPr>
            <a:spLocks noGrp="1"/>
          </p:cNvSpPr>
          <p:nvPr>
            <p:ph type="ftr" sz="quarter" idx="10"/>
          </p:nvPr>
        </p:nvSpPr>
        <p:spPr>
          <a:noFill/>
        </p:spPr>
        <p:txBody>
          <a:bodyPr/>
          <a:lstStyle/>
          <a:p>
            <a:r>
              <a:rPr lang="en-US"/>
              <a:t>Art of Multiprocessor Programming</a:t>
            </a:r>
          </a:p>
        </p:txBody>
      </p:sp>
      <p:sp>
        <p:nvSpPr>
          <p:cNvPr id="54275" name="Slide Number Placeholder 4"/>
          <p:cNvSpPr>
            <a:spLocks noGrp="1"/>
          </p:cNvSpPr>
          <p:nvPr>
            <p:ph type="sldNum" sz="quarter" idx="11"/>
          </p:nvPr>
        </p:nvSpPr>
        <p:spPr>
          <a:noFill/>
        </p:spPr>
        <p:txBody>
          <a:bodyPr/>
          <a:lstStyle/>
          <a:p>
            <a:fld id="{7F5A9382-C8C1-45DF-8554-601DD1463803}" type="slidenum">
              <a:rPr lang="ar-SA" smtClean="0"/>
              <a:pPr/>
              <a:t>52</a:t>
            </a:fld>
            <a:endParaRPr lang="en-US"/>
          </a:p>
        </p:txBody>
      </p:sp>
      <p:pic>
        <p:nvPicPr>
          <p:cNvPr id="5427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54277" name="AutoShape 3"/>
          <p:cNvSpPr>
            <a:spLocks noChangeArrowheads="1"/>
          </p:cNvSpPr>
          <p:nvPr/>
        </p:nvSpPr>
        <p:spPr bwMode="auto">
          <a:xfrm>
            <a:off x="1176338" y="4308475"/>
            <a:ext cx="6626225" cy="641350"/>
          </a:xfrm>
          <a:prstGeom prst="leftRightArrow">
            <a:avLst>
              <a:gd name="adj1" fmla="val 40102"/>
              <a:gd name="adj2" fmla="val 81458"/>
            </a:avLst>
          </a:prstGeom>
          <a:solidFill>
            <a:schemeClr val="folHlink"/>
          </a:solidFill>
          <a:ln w="38100">
            <a:solidFill>
              <a:schemeClr val="tx1"/>
            </a:solidFill>
            <a:miter lim="800000"/>
            <a:headEnd/>
            <a:tailEnd/>
          </a:ln>
        </p:spPr>
        <p:txBody>
          <a:bodyPr wrap="none" anchor="ctr"/>
          <a:lstStyle/>
          <a:p>
            <a:pPr algn="r"/>
            <a:r>
              <a:rPr lang="en-US" sz="2000" b="0" dirty="0">
                <a:solidFill>
                  <a:schemeClr val="tx2"/>
                </a:solidFill>
                <a:latin typeface="Arial" pitchFamily="34" charset="0"/>
              </a:rPr>
              <a:t>Bus</a:t>
            </a:r>
          </a:p>
        </p:txBody>
      </p:sp>
      <p:sp>
        <p:nvSpPr>
          <p:cNvPr id="54278" name="Rectangle 4"/>
          <p:cNvSpPr>
            <a:spLocks noGrp="1" noChangeArrowheads="1"/>
          </p:cNvSpPr>
          <p:nvPr>
            <p:ph type="title"/>
          </p:nvPr>
        </p:nvSpPr>
        <p:spPr/>
        <p:txBody>
          <a:bodyPr/>
          <a:lstStyle/>
          <a:p>
            <a:r>
              <a:rPr lang="en-US"/>
              <a:t>Other Processor Responds</a:t>
            </a:r>
          </a:p>
        </p:txBody>
      </p:sp>
      <p:grpSp>
        <p:nvGrpSpPr>
          <p:cNvPr id="54279" name="Group 5"/>
          <p:cNvGrpSpPr>
            <a:grpSpLocks/>
          </p:cNvGrpSpPr>
          <p:nvPr/>
        </p:nvGrpSpPr>
        <p:grpSpPr bwMode="auto">
          <a:xfrm>
            <a:off x="3732213" y="2495550"/>
            <a:ext cx="1130300" cy="1173163"/>
            <a:chOff x="2496" y="2725"/>
            <a:chExt cx="712" cy="739"/>
          </a:xfrm>
        </p:grpSpPr>
        <p:sp>
          <p:nvSpPr>
            <p:cNvPr id="54313" name="Rectangle 6"/>
            <p:cNvSpPr>
              <a:spLocks noChangeArrowheads="1"/>
            </p:cNvSpPr>
            <p:nvPr/>
          </p:nvSpPr>
          <p:spPr bwMode="auto">
            <a:xfrm>
              <a:off x="2592" y="3312"/>
              <a:ext cx="528" cy="144"/>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4314" name="Freeform 7"/>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grpSp>
          <p:nvGrpSpPr>
            <p:cNvPr id="54315" name="Group 8"/>
            <p:cNvGrpSpPr>
              <a:grpSpLocks/>
            </p:cNvGrpSpPr>
            <p:nvPr/>
          </p:nvGrpSpPr>
          <p:grpSpPr bwMode="auto">
            <a:xfrm>
              <a:off x="3072" y="2832"/>
              <a:ext cx="136" cy="632"/>
              <a:chOff x="3072" y="2832"/>
              <a:chExt cx="136" cy="632"/>
            </a:xfrm>
          </p:grpSpPr>
          <p:sp>
            <p:nvSpPr>
              <p:cNvPr id="54320" name="Freeform 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321" name="Freeform 10"/>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322" name="Freeform 11"/>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4316" name="Group 12"/>
            <p:cNvGrpSpPr>
              <a:grpSpLocks/>
            </p:cNvGrpSpPr>
            <p:nvPr/>
          </p:nvGrpSpPr>
          <p:grpSpPr bwMode="auto">
            <a:xfrm flipH="1">
              <a:off x="2496" y="2832"/>
              <a:ext cx="136" cy="632"/>
              <a:chOff x="3072" y="2832"/>
              <a:chExt cx="136" cy="632"/>
            </a:xfrm>
          </p:grpSpPr>
          <p:sp>
            <p:nvSpPr>
              <p:cNvPr id="54317" name="Freeform 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318" name="Freeform 14"/>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319" name="Freeform 15"/>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grpSp>
        <p:nvGrpSpPr>
          <p:cNvPr id="54280" name="Group 16"/>
          <p:cNvGrpSpPr>
            <a:grpSpLocks/>
          </p:cNvGrpSpPr>
          <p:nvPr/>
        </p:nvGrpSpPr>
        <p:grpSpPr bwMode="auto">
          <a:xfrm>
            <a:off x="1757363" y="2441575"/>
            <a:ext cx="1358900" cy="1282700"/>
            <a:chOff x="1008" y="2720"/>
            <a:chExt cx="856" cy="808"/>
          </a:xfrm>
        </p:grpSpPr>
        <p:sp>
          <p:nvSpPr>
            <p:cNvPr id="54304" name="Rectangle 17"/>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4305" name="Freeform 1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306" name="Freeform 1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307" name="Freeform 2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308" name="Freeform 2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54309" name="Freeform 2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54310" name="Freeform 2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311" name="Freeform 2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312" name="Freeform 2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4281" name="Group 26"/>
          <p:cNvGrpSpPr>
            <a:grpSpLocks/>
          </p:cNvGrpSpPr>
          <p:nvPr/>
        </p:nvGrpSpPr>
        <p:grpSpPr bwMode="auto">
          <a:xfrm flipH="1">
            <a:off x="5480050" y="2441575"/>
            <a:ext cx="1358900" cy="1282700"/>
            <a:chOff x="1008" y="2720"/>
            <a:chExt cx="856" cy="808"/>
          </a:xfrm>
        </p:grpSpPr>
        <p:sp>
          <p:nvSpPr>
            <p:cNvPr id="54295" name="Rectangle 27"/>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4296" name="Freeform 28"/>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297" name="Freeform 29"/>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298" name="Freeform 30"/>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299" name="Freeform 31"/>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4300" name="Freeform 32"/>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4301" name="Freeform 33"/>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302" name="Freeform 34"/>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303" name="Freeform 35"/>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54282" name="Rectangle 36"/>
          <p:cNvSpPr>
            <a:spLocks noChangeArrowheads="1"/>
          </p:cNvSpPr>
          <p:nvPr/>
        </p:nvSpPr>
        <p:spPr bwMode="auto">
          <a:xfrm>
            <a:off x="1747838" y="5262563"/>
            <a:ext cx="5567362" cy="881062"/>
          </a:xfrm>
          <a:prstGeom prst="rect">
            <a:avLst/>
          </a:prstGeom>
          <a:solidFill>
            <a:schemeClr val="folHlink"/>
          </a:solidFill>
          <a:ln w="38100">
            <a:solidFill>
              <a:schemeClr val="tx1"/>
            </a:solidFill>
            <a:miter lim="800000"/>
            <a:headEnd/>
            <a:tailEnd/>
          </a:ln>
        </p:spPr>
        <p:txBody>
          <a:bodyPr wrap="none" anchor="ctr"/>
          <a:lstStyle/>
          <a:p>
            <a:pPr algn="ctr"/>
            <a:r>
              <a:rPr lang="en-US" b="0" dirty="0">
                <a:solidFill>
                  <a:schemeClr val="tx2"/>
                </a:solidFill>
                <a:latin typeface="Arial" pitchFamily="34" charset="0"/>
              </a:rPr>
              <a:t>memory</a:t>
            </a:r>
          </a:p>
        </p:txBody>
      </p:sp>
      <p:sp>
        <p:nvSpPr>
          <p:cNvPr id="54283" name="AutoShape 37"/>
          <p:cNvSpPr>
            <a:spLocks noChangeArrowheads="1"/>
          </p:cNvSpPr>
          <p:nvPr/>
        </p:nvSpPr>
        <p:spPr bwMode="auto">
          <a:xfrm>
            <a:off x="4025900" y="4829175"/>
            <a:ext cx="819150" cy="352425"/>
          </a:xfrm>
          <a:prstGeom prst="upDownArrow">
            <a:avLst>
              <a:gd name="adj1" fmla="val 50000"/>
              <a:gd name="adj2" fmla="val 33782"/>
            </a:avLst>
          </a:prstGeom>
          <a:solidFill>
            <a:schemeClr val="folHlink"/>
          </a:solidFill>
          <a:ln w="38100">
            <a:solidFill>
              <a:schemeClr val="tx1"/>
            </a:solidFill>
            <a:miter lim="800000"/>
            <a:headEnd/>
            <a:tailEnd/>
          </a:ln>
        </p:spPr>
        <p:txBody>
          <a:bodyPr wrap="none" anchor="ctr"/>
          <a:lstStyle/>
          <a:p>
            <a:endParaRPr lang="en-US" dirty="0">
              <a:latin typeface="Arial" pitchFamily="34" charset="0"/>
            </a:endParaRPr>
          </a:p>
        </p:txBody>
      </p:sp>
      <p:sp>
        <p:nvSpPr>
          <p:cNvPr id="54284" name="Rectangle 38"/>
          <p:cNvSpPr>
            <a:spLocks noChangeArrowheads="1"/>
          </p:cNvSpPr>
          <p:nvPr/>
        </p:nvSpPr>
        <p:spPr bwMode="auto">
          <a:xfrm>
            <a:off x="56657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54285" name="Rectangle 39"/>
          <p:cNvSpPr>
            <a:spLocks noChangeArrowheads="1"/>
          </p:cNvSpPr>
          <p:nvPr/>
        </p:nvSpPr>
        <p:spPr bwMode="auto">
          <a:xfrm>
            <a:off x="379253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54286" name="Rectangle 40"/>
          <p:cNvSpPr>
            <a:spLocks noChangeArrowheads="1"/>
          </p:cNvSpPr>
          <p:nvPr/>
        </p:nvSpPr>
        <p:spPr bwMode="auto">
          <a:xfrm>
            <a:off x="5905500" y="5483225"/>
            <a:ext cx="1203325" cy="385763"/>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1136681" name="AutoShape 41"/>
          <p:cNvSpPr>
            <a:spLocks noChangeArrowheads="1"/>
          </p:cNvSpPr>
          <p:nvPr/>
        </p:nvSpPr>
        <p:spPr bwMode="auto">
          <a:xfrm>
            <a:off x="347663" y="1354138"/>
            <a:ext cx="1941512" cy="1187450"/>
          </a:xfrm>
          <a:prstGeom prst="cloudCallout">
            <a:avLst>
              <a:gd name="adj1" fmla="val 30375"/>
              <a:gd name="adj2" fmla="val 71657"/>
            </a:avLst>
          </a:prstGeom>
          <a:solidFill>
            <a:srgbClr val="FF33CC">
              <a:alpha val="30196"/>
            </a:srgbClr>
          </a:solidFill>
          <a:ln w="38100">
            <a:solidFill>
              <a:schemeClr val="tx1"/>
            </a:solidFill>
            <a:round/>
            <a:headEnd/>
            <a:tailEnd/>
          </a:ln>
        </p:spPr>
        <p:txBody>
          <a:bodyPr anchor="ctr"/>
          <a:lstStyle/>
          <a:p>
            <a:pPr algn="ctr"/>
            <a:r>
              <a:rPr lang="en-US" sz="2400" b="0" dirty="0">
                <a:latin typeface="Arial" pitchFamily="34" charset="0"/>
              </a:rPr>
              <a:t>Got it</a:t>
            </a:r>
          </a:p>
        </p:txBody>
      </p:sp>
      <p:sp>
        <p:nvSpPr>
          <p:cNvPr id="1136682" name="Rectangle 42"/>
          <p:cNvSpPr>
            <a:spLocks noChangeArrowheads="1"/>
          </p:cNvSpPr>
          <p:nvPr/>
        </p:nvSpPr>
        <p:spPr bwMode="auto">
          <a:xfrm>
            <a:off x="1905000" y="3871913"/>
            <a:ext cx="1203325" cy="385762"/>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54289" name="Rectangle 43"/>
          <p:cNvSpPr>
            <a:spLocks noChangeArrowheads="1"/>
          </p:cNvSpPr>
          <p:nvPr/>
        </p:nvSpPr>
        <p:spPr bwMode="auto">
          <a:xfrm>
            <a:off x="1919288" y="3887788"/>
            <a:ext cx="1203325" cy="385762"/>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1136684" name="AutoShape 44"/>
          <p:cNvSpPr>
            <a:spLocks noChangeArrowheads="1"/>
          </p:cNvSpPr>
          <p:nvPr/>
        </p:nvSpPr>
        <p:spPr bwMode="auto">
          <a:xfrm>
            <a:off x="1182688" y="4298950"/>
            <a:ext cx="6626225" cy="641350"/>
          </a:xfrm>
          <a:prstGeom prst="leftRightArrow">
            <a:avLst>
              <a:gd name="adj1" fmla="val 40102"/>
              <a:gd name="adj2" fmla="val 81458"/>
            </a:avLst>
          </a:prstGeom>
          <a:solidFill>
            <a:srgbClr val="FF33CC"/>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1136685" name="AutoShape 45"/>
          <p:cNvSpPr>
            <a:spLocks noChangeArrowheads="1"/>
          </p:cNvSpPr>
          <p:nvPr/>
        </p:nvSpPr>
        <p:spPr bwMode="auto">
          <a:xfrm>
            <a:off x="2246313" y="3657600"/>
            <a:ext cx="465137" cy="882650"/>
          </a:xfrm>
          <a:prstGeom prst="upDownArrow">
            <a:avLst>
              <a:gd name="adj1" fmla="val 50000"/>
              <a:gd name="adj2" fmla="val 37952"/>
            </a:avLst>
          </a:prstGeom>
          <a:solidFill>
            <a:srgbClr val="FF33CC"/>
          </a:solidFill>
          <a:ln w="38100">
            <a:solidFill>
              <a:schemeClr val="tx1"/>
            </a:solidFill>
            <a:miter lim="800000"/>
            <a:headEnd/>
            <a:tailEnd/>
          </a:ln>
        </p:spPr>
        <p:txBody>
          <a:bodyPr wrap="none" anchor="ctr"/>
          <a:lstStyle/>
          <a:p>
            <a:pPr algn="r"/>
            <a:endParaRPr lang="en-US" b="0" dirty="0">
              <a:latin typeface="Arial" pitchFamily="34" charset="0"/>
            </a:endParaRPr>
          </a:p>
        </p:txBody>
      </p:sp>
      <p:sp>
        <p:nvSpPr>
          <p:cNvPr id="54292" name="Oval 47"/>
          <p:cNvSpPr>
            <a:spLocks noChangeArrowheads="1"/>
          </p:cNvSpPr>
          <p:nvPr/>
        </p:nvSpPr>
        <p:spPr bwMode="auto">
          <a:xfrm>
            <a:off x="1020763" y="3746500"/>
            <a:ext cx="660400" cy="660400"/>
          </a:xfrm>
          <a:prstGeom prst="ellipse">
            <a:avLst/>
          </a:prstGeom>
          <a:noFill/>
          <a:ln w="38100">
            <a:solidFill>
              <a:schemeClr val="tx1"/>
            </a:solidFill>
            <a:round/>
            <a:headEnd/>
            <a:tailEnd/>
          </a:ln>
        </p:spPr>
        <p:txBody>
          <a:bodyPr wrap="none" anchor="ctr"/>
          <a:lstStyle/>
          <a:p>
            <a:pPr algn="ctr"/>
            <a:r>
              <a:rPr lang="en-US" dirty="0">
                <a:latin typeface="Arial" pitchFamily="34" charset="0"/>
              </a:rPr>
              <a:t>E</a:t>
            </a:r>
          </a:p>
        </p:txBody>
      </p:sp>
      <p:sp>
        <p:nvSpPr>
          <p:cNvPr id="1136688" name="Oval 48"/>
          <p:cNvSpPr>
            <a:spLocks noChangeArrowheads="1"/>
          </p:cNvSpPr>
          <p:nvPr/>
        </p:nvSpPr>
        <p:spPr bwMode="auto">
          <a:xfrm>
            <a:off x="1006475" y="3736975"/>
            <a:ext cx="660400" cy="660400"/>
          </a:xfrm>
          <a:prstGeom prst="ellipse">
            <a:avLst/>
          </a:prstGeom>
          <a:solidFill>
            <a:schemeClr val="bg1"/>
          </a:solidFill>
          <a:ln w="38100">
            <a:solidFill>
              <a:schemeClr val="tx1"/>
            </a:solidFill>
            <a:round/>
            <a:headEnd/>
            <a:tailEnd/>
          </a:ln>
        </p:spPr>
        <p:txBody>
          <a:bodyPr wrap="none" anchor="ctr"/>
          <a:lstStyle/>
          <a:p>
            <a:pPr algn="ctr"/>
            <a:r>
              <a:rPr lang="en-US" dirty="0">
                <a:latin typeface="Arial" pitchFamily="34" charset="0"/>
              </a:rPr>
              <a:t>S</a:t>
            </a:r>
          </a:p>
        </p:txBody>
      </p:sp>
      <p:sp>
        <p:nvSpPr>
          <p:cNvPr id="1136689" name="Oval 49"/>
          <p:cNvSpPr>
            <a:spLocks noChangeArrowheads="1"/>
          </p:cNvSpPr>
          <p:nvPr/>
        </p:nvSpPr>
        <p:spPr bwMode="auto">
          <a:xfrm>
            <a:off x="3213100" y="3721100"/>
            <a:ext cx="660400" cy="660400"/>
          </a:xfrm>
          <a:prstGeom prst="ellipse">
            <a:avLst/>
          </a:prstGeom>
          <a:solidFill>
            <a:schemeClr val="bg1"/>
          </a:solidFill>
          <a:ln w="38100">
            <a:solidFill>
              <a:schemeClr val="tx1"/>
            </a:solidFill>
            <a:round/>
            <a:headEnd/>
            <a:tailEnd/>
          </a:ln>
        </p:spPr>
        <p:txBody>
          <a:bodyPr wrap="none" anchor="ctr"/>
          <a:lstStyle/>
          <a:p>
            <a:pPr algn="ctr"/>
            <a:r>
              <a:rPr lang="en-US" dirty="0">
                <a:latin typeface="Arial" pitchFamily="34" charset="0"/>
              </a:rPr>
              <a: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36681"/>
                                        </p:tgtEl>
                                        <p:attrNameLst>
                                          <p:attrName>style.visibility</p:attrName>
                                        </p:attrNameLst>
                                      </p:cBhvr>
                                      <p:to>
                                        <p:strVal val="visible"/>
                                      </p:to>
                                    </p:set>
                                    <p:animEffect transition="in" filter="blinds(horizontal)">
                                      <p:cBhvr>
                                        <p:cTn id="7" dur="500"/>
                                        <p:tgtEl>
                                          <p:spTgt spid="113668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36685"/>
                                        </p:tgtEl>
                                        <p:attrNameLst>
                                          <p:attrName>style.visibility</p:attrName>
                                        </p:attrNameLst>
                                      </p:cBhvr>
                                      <p:to>
                                        <p:strVal val="visible"/>
                                      </p:to>
                                    </p:set>
                                    <p:animEffect transition="in" filter="blinds(horizontal)">
                                      <p:cBhvr>
                                        <p:cTn id="10" dur="500"/>
                                        <p:tgtEl>
                                          <p:spTgt spid="113668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136684"/>
                                        </p:tgtEl>
                                        <p:attrNameLst>
                                          <p:attrName>style.visibility</p:attrName>
                                        </p:attrNameLst>
                                      </p:cBhvr>
                                      <p:to>
                                        <p:strVal val="visible"/>
                                      </p:to>
                                    </p:set>
                                    <p:animEffect transition="in" filter="blinds(horizontal)">
                                      <p:cBhvr>
                                        <p:cTn id="13" dur="500"/>
                                        <p:tgtEl>
                                          <p:spTgt spid="1136684"/>
                                        </p:tgtEl>
                                      </p:cBhvr>
                                    </p:animEffect>
                                  </p:childTnLst>
                                </p:cTn>
                              </p:par>
                            </p:childTnLst>
                          </p:cTn>
                        </p:par>
                        <p:par>
                          <p:cTn id="14" fill="hold">
                            <p:stCondLst>
                              <p:cond delay="500"/>
                            </p:stCondLst>
                            <p:childTnLst>
                              <p:par>
                                <p:cTn id="15" presetID="0" presetClass="path" presetSubtype="0" accel="50000" decel="50000" fill="hold" grpId="0" nodeType="afterEffect">
                                  <p:stCondLst>
                                    <p:cond delay="0"/>
                                  </p:stCondLst>
                                  <p:childTnLst>
                                    <p:animMotion origin="layout" path="M -0.01041 0.00462 L 0.20712 0.00208 " pathEditMode="relative" rAng="0" ptsTypes="AA">
                                      <p:cBhvr>
                                        <p:cTn id="16" dur="2000" fill="hold"/>
                                        <p:tgtEl>
                                          <p:spTgt spid="1136682"/>
                                        </p:tgtEl>
                                        <p:attrNameLst>
                                          <p:attrName>ppt_x</p:attrName>
                                          <p:attrName>ppt_y</p:attrName>
                                        </p:attrNameLst>
                                      </p:cBhvr>
                                      <p:rCtr x="10900" y="-100"/>
                                    </p:animMotion>
                                  </p:childTnLst>
                                </p:cTn>
                              </p:par>
                            </p:childTnLst>
                          </p:cTn>
                        </p:par>
                        <p:par>
                          <p:cTn id="17" fill="hold">
                            <p:stCondLst>
                              <p:cond delay="2500"/>
                            </p:stCondLst>
                            <p:childTnLst>
                              <p:par>
                                <p:cTn id="18" presetID="3" presetClass="entr" presetSubtype="10" fill="hold" grpId="0" nodeType="afterEffect">
                                  <p:stCondLst>
                                    <p:cond delay="0"/>
                                  </p:stCondLst>
                                  <p:childTnLst>
                                    <p:set>
                                      <p:cBhvr>
                                        <p:cTn id="19" dur="1" fill="hold">
                                          <p:stCondLst>
                                            <p:cond delay="0"/>
                                          </p:stCondLst>
                                        </p:cTn>
                                        <p:tgtEl>
                                          <p:spTgt spid="1136688"/>
                                        </p:tgtEl>
                                        <p:attrNameLst>
                                          <p:attrName>style.visibility</p:attrName>
                                        </p:attrNameLst>
                                      </p:cBhvr>
                                      <p:to>
                                        <p:strVal val="visible"/>
                                      </p:to>
                                    </p:set>
                                    <p:animEffect transition="in" filter="blinds(horizontal)">
                                      <p:cBhvr>
                                        <p:cTn id="20" dur="500"/>
                                        <p:tgtEl>
                                          <p:spTgt spid="1136688"/>
                                        </p:tgtEl>
                                      </p:cBhvr>
                                    </p:animEffect>
                                  </p:childTnLst>
                                </p:cTn>
                              </p:par>
                            </p:childTnLst>
                          </p:cTn>
                        </p:par>
                        <p:par>
                          <p:cTn id="21" fill="hold">
                            <p:stCondLst>
                              <p:cond delay="3000"/>
                            </p:stCondLst>
                            <p:childTnLst>
                              <p:par>
                                <p:cTn id="22" presetID="3" presetClass="entr" presetSubtype="10" fill="hold" grpId="0" nodeType="afterEffect">
                                  <p:stCondLst>
                                    <p:cond delay="0"/>
                                  </p:stCondLst>
                                  <p:childTnLst>
                                    <p:set>
                                      <p:cBhvr>
                                        <p:cTn id="23" dur="1" fill="hold">
                                          <p:stCondLst>
                                            <p:cond delay="0"/>
                                          </p:stCondLst>
                                        </p:cTn>
                                        <p:tgtEl>
                                          <p:spTgt spid="1136689"/>
                                        </p:tgtEl>
                                        <p:attrNameLst>
                                          <p:attrName>style.visibility</p:attrName>
                                        </p:attrNameLst>
                                      </p:cBhvr>
                                      <p:to>
                                        <p:strVal val="visible"/>
                                      </p:to>
                                    </p:set>
                                    <p:animEffect transition="in" filter="blinds(horizontal)">
                                      <p:cBhvr>
                                        <p:cTn id="24" dur="500"/>
                                        <p:tgtEl>
                                          <p:spTgt spid="11366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81" grpId="0" animBg="1"/>
      <p:bldP spid="1136682" grpId="0" animBg="1"/>
      <p:bldP spid="1136684" grpId="0" animBg="1"/>
      <p:bldP spid="1136685" grpId="0" animBg="1"/>
      <p:bldP spid="1136688" grpId="0" animBg="1"/>
      <p:bldP spid="1136689"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3"/>
          <p:cNvSpPr>
            <a:spLocks noGrp="1"/>
          </p:cNvSpPr>
          <p:nvPr>
            <p:ph type="ftr" sz="quarter" idx="10"/>
          </p:nvPr>
        </p:nvSpPr>
        <p:spPr>
          <a:noFill/>
        </p:spPr>
        <p:txBody>
          <a:bodyPr/>
          <a:lstStyle/>
          <a:p>
            <a:r>
              <a:rPr lang="en-US"/>
              <a:t>Art of Multiprocessor Programming</a:t>
            </a:r>
          </a:p>
        </p:txBody>
      </p:sp>
      <p:sp>
        <p:nvSpPr>
          <p:cNvPr id="55299" name="Slide Number Placeholder 4"/>
          <p:cNvSpPr>
            <a:spLocks noGrp="1"/>
          </p:cNvSpPr>
          <p:nvPr>
            <p:ph type="sldNum" sz="quarter" idx="11"/>
          </p:nvPr>
        </p:nvSpPr>
        <p:spPr>
          <a:noFill/>
        </p:spPr>
        <p:txBody>
          <a:bodyPr/>
          <a:lstStyle/>
          <a:p>
            <a:fld id="{80BFD442-B39F-40B3-92FE-E1A42AF34D76}" type="slidenum">
              <a:rPr lang="ar-SA" smtClean="0"/>
              <a:pPr/>
              <a:t>53</a:t>
            </a:fld>
            <a:endParaRPr lang="en-US"/>
          </a:p>
        </p:txBody>
      </p:sp>
      <p:sp>
        <p:nvSpPr>
          <p:cNvPr id="55300" name="Oval 46"/>
          <p:cNvSpPr>
            <a:spLocks noChangeArrowheads="1"/>
          </p:cNvSpPr>
          <p:nvPr/>
        </p:nvSpPr>
        <p:spPr bwMode="auto">
          <a:xfrm>
            <a:off x="3213100" y="3721100"/>
            <a:ext cx="660400" cy="660400"/>
          </a:xfrm>
          <a:prstGeom prst="ellipse">
            <a:avLst/>
          </a:prstGeom>
          <a:solidFill>
            <a:schemeClr val="bg1"/>
          </a:solidFill>
          <a:ln w="38100">
            <a:solidFill>
              <a:schemeClr val="tx1"/>
            </a:solidFill>
            <a:round/>
            <a:headEnd/>
            <a:tailEnd/>
          </a:ln>
        </p:spPr>
        <p:txBody>
          <a:bodyPr wrap="none" anchor="ctr"/>
          <a:lstStyle/>
          <a:p>
            <a:pPr algn="ctr"/>
            <a:r>
              <a:rPr lang="en-US" dirty="0">
                <a:latin typeface="Arial" pitchFamily="34" charset="0"/>
              </a:rPr>
              <a:t>S</a:t>
            </a:r>
          </a:p>
        </p:txBody>
      </p:sp>
      <p:pic>
        <p:nvPicPr>
          <p:cNvPr id="55301"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55302" name="Rectangle 3"/>
          <p:cNvSpPr>
            <a:spLocks noGrp="1" noChangeArrowheads="1"/>
          </p:cNvSpPr>
          <p:nvPr>
            <p:ph type="title"/>
          </p:nvPr>
        </p:nvSpPr>
        <p:spPr/>
        <p:txBody>
          <a:bodyPr/>
          <a:lstStyle/>
          <a:p>
            <a:r>
              <a:rPr lang="en-US"/>
              <a:t>Modify Cached Data</a:t>
            </a:r>
          </a:p>
        </p:txBody>
      </p:sp>
      <p:grpSp>
        <p:nvGrpSpPr>
          <p:cNvPr id="55303" name="Group 4"/>
          <p:cNvGrpSpPr>
            <a:grpSpLocks/>
          </p:cNvGrpSpPr>
          <p:nvPr/>
        </p:nvGrpSpPr>
        <p:grpSpPr bwMode="auto">
          <a:xfrm>
            <a:off x="3732213" y="2495550"/>
            <a:ext cx="1130300" cy="1173163"/>
            <a:chOff x="2496" y="2725"/>
            <a:chExt cx="712" cy="739"/>
          </a:xfrm>
        </p:grpSpPr>
        <p:sp>
          <p:nvSpPr>
            <p:cNvPr id="55334" name="Rectangle 5"/>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5335" name="Freeform 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nvGrpSpPr>
            <p:cNvPr id="55336" name="Group 7"/>
            <p:cNvGrpSpPr>
              <a:grpSpLocks/>
            </p:cNvGrpSpPr>
            <p:nvPr/>
          </p:nvGrpSpPr>
          <p:grpSpPr bwMode="auto">
            <a:xfrm>
              <a:off x="3072" y="2832"/>
              <a:ext cx="136" cy="632"/>
              <a:chOff x="3072" y="2832"/>
              <a:chExt cx="136" cy="632"/>
            </a:xfrm>
          </p:grpSpPr>
          <p:sp>
            <p:nvSpPr>
              <p:cNvPr id="55341" name="Freeform 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42" name="Freeform 9"/>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43" name="Freeform 10"/>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5337" name="Group 11"/>
            <p:cNvGrpSpPr>
              <a:grpSpLocks/>
            </p:cNvGrpSpPr>
            <p:nvPr/>
          </p:nvGrpSpPr>
          <p:grpSpPr bwMode="auto">
            <a:xfrm flipH="1">
              <a:off x="2496" y="2832"/>
              <a:ext cx="136" cy="632"/>
              <a:chOff x="3072" y="2832"/>
              <a:chExt cx="136" cy="632"/>
            </a:xfrm>
          </p:grpSpPr>
          <p:sp>
            <p:nvSpPr>
              <p:cNvPr id="55338" name="Freeform 1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39" name="Freeform 13"/>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40" name="Freeform 14"/>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grpSp>
        <p:nvGrpSpPr>
          <p:cNvPr id="55304" name="Group 15"/>
          <p:cNvGrpSpPr>
            <a:grpSpLocks/>
          </p:cNvGrpSpPr>
          <p:nvPr/>
        </p:nvGrpSpPr>
        <p:grpSpPr bwMode="auto">
          <a:xfrm>
            <a:off x="1757363" y="2441575"/>
            <a:ext cx="1358900" cy="1282700"/>
            <a:chOff x="1008" y="2720"/>
            <a:chExt cx="856" cy="808"/>
          </a:xfrm>
        </p:grpSpPr>
        <p:sp>
          <p:nvSpPr>
            <p:cNvPr id="55325" name="Rectangle 16"/>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5326" name="Freeform 17"/>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27" name="Freeform 18"/>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28" name="Freeform 19"/>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29" name="Freeform 20"/>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5330" name="Freeform 21"/>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5331" name="Freeform 22"/>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32" name="Freeform 23"/>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33" name="Freeform 24"/>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5305" name="Group 25"/>
          <p:cNvGrpSpPr>
            <a:grpSpLocks/>
          </p:cNvGrpSpPr>
          <p:nvPr/>
        </p:nvGrpSpPr>
        <p:grpSpPr bwMode="auto">
          <a:xfrm flipH="1">
            <a:off x="5480050" y="2441575"/>
            <a:ext cx="1358900" cy="1282700"/>
            <a:chOff x="1008" y="2720"/>
            <a:chExt cx="856" cy="808"/>
          </a:xfrm>
        </p:grpSpPr>
        <p:sp>
          <p:nvSpPr>
            <p:cNvPr id="55316" name="Rectangle 26"/>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5317" name="Freeform 27"/>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18" name="Freeform 28"/>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19" name="Freeform 29"/>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20" name="Freeform 30"/>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5321" name="Freeform 31"/>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5322" name="Freeform 32"/>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23" name="Freeform 33"/>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324" name="Freeform 34"/>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55306" name="AutoShape 35"/>
          <p:cNvSpPr>
            <a:spLocks noChangeArrowheads="1"/>
          </p:cNvSpPr>
          <p:nvPr/>
        </p:nvSpPr>
        <p:spPr bwMode="auto">
          <a:xfrm>
            <a:off x="1182688" y="4298950"/>
            <a:ext cx="6626225" cy="641350"/>
          </a:xfrm>
          <a:prstGeom prst="leftRightArrow">
            <a:avLst>
              <a:gd name="adj1" fmla="val 40102"/>
              <a:gd name="adj2" fmla="val 81458"/>
            </a:avLst>
          </a:prstGeom>
          <a:solidFill>
            <a:schemeClr val="folHlink"/>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55307" name="Rectangle 36"/>
          <p:cNvSpPr>
            <a:spLocks noChangeArrowheads="1"/>
          </p:cNvSpPr>
          <p:nvPr/>
        </p:nvSpPr>
        <p:spPr bwMode="auto">
          <a:xfrm>
            <a:off x="1919288" y="3887788"/>
            <a:ext cx="1203325" cy="385762"/>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55308" name="Rectangle 37"/>
          <p:cNvSpPr>
            <a:spLocks noChangeArrowheads="1"/>
          </p:cNvSpPr>
          <p:nvPr/>
        </p:nvSpPr>
        <p:spPr bwMode="auto">
          <a:xfrm>
            <a:off x="1747838" y="5262563"/>
            <a:ext cx="5567362" cy="881062"/>
          </a:xfrm>
          <a:prstGeom prst="rect">
            <a:avLst/>
          </a:prstGeom>
          <a:solidFill>
            <a:schemeClr val="folHlink"/>
          </a:solidFill>
          <a:ln w="38100">
            <a:solidFill>
              <a:schemeClr val="tx1"/>
            </a:solidFill>
            <a:miter lim="800000"/>
            <a:headEnd/>
            <a:tailEnd/>
          </a:ln>
        </p:spPr>
        <p:txBody>
          <a:bodyPr wrap="none" anchor="ctr"/>
          <a:lstStyle/>
          <a:p>
            <a:pPr algn="ctr"/>
            <a:r>
              <a:rPr lang="en-US" b="0" dirty="0">
                <a:solidFill>
                  <a:schemeClr val="tx2"/>
                </a:solidFill>
                <a:latin typeface="Arial" pitchFamily="34" charset="0"/>
              </a:rPr>
              <a:t>memory</a:t>
            </a:r>
          </a:p>
        </p:txBody>
      </p:sp>
      <p:sp>
        <p:nvSpPr>
          <p:cNvPr id="55309" name="AutoShape 38"/>
          <p:cNvSpPr>
            <a:spLocks noChangeArrowheads="1"/>
          </p:cNvSpPr>
          <p:nvPr/>
        </p:nvSpPr>
        <p:spPr bwMode="auto">
          <a:xfrm>
            <a:off x="4025900" y="4829175"/>
            <a:ext cx="819150" cy="352425"/>
          </a:xfrm>
          <a:prstGeom prst="upDownArrow">
            <a:avLst>
              <a:gd name="adj1" fmla="val 50000"/>
              <a:gd name="adj2" fmla="val 33782"/>
            </a:avLst>
          </a:prstGeom>
          <a:solidFill>
            <a:schemeClr val="folHlink"/>
          </a:solidFill>
          <a:ln w="38100">
            <a:solidFill>
              <a:schemeClr val="tx1"/>
            </a:solidFill>
            <a:miter lim="800000"/>
            <a:headEnd/>
            <a:tailEnd/>
          </a:ln>
        </p:spPr>
        <p:txBody>
          <a:bodyPr wrap="none" anchor="ctr"/>
          <a:lstStyle/>
          <a:p>
            <a:endParaRPr lang="en-US" dirty="0">
              <a:latin typeface="Arial" pitchFamily="34" charset="0"/>
            </a:endParaRPr>
          </a:p>
        </p:txBody>
      </p:sp>
      <p:sp>
        <p:nvSpPr>
          <p:cNvPr id="55310" name="Rectangle 39"/>
          <p:cNvSpPr>
            <a:spLocks noChangeArrowheads="1"/>
          </p:cNvSpPr>
          <p:nvPr/>
        </p:nvSpPr>
        <p:spPr bwMode="auto">
          <a:xfrm>
            <a:off x="56657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55311" name="Rectangle 40"/>
          <p:cNvSpPr>
            <a:spLocks noChangeArrowheads="1"/>
          </p:cNvSpPr>
          <p:nvPr/>
        </p:nvSpPr>
        <p:spPr bwMode="auto">
          <a:xfrm>
            <a:off x="3792538" y="3887788"/>
            <a:ext cx="1203325" cy="385762"/>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55312" name="Rectangle 41"/>
          <p:cNvSpPr>
            <a:spLocks noChangeArrowheads="1"/>
          </p:cNvSpPr>
          <p:nvPr/>
        </p:nvSpPr>
        <p:spPr bwMode="auto">
          <a:xfrm>
            <a:off x="5630863" y="5470525"/>
            <a:ext cx="1411287" cy="465138"/>
          </a:xfrm>
          <a:prstGeom prst="rect">
            <a:avLst/>
          </a:prstGeom>
          <a:solidFill>
            <a:schemeClr val="accent2"/>
          </a:solidFill>
          <a:ln w="38100" cmpd="dbl">
            <a:solidFill>
              <a:schemeClr val="tx1"/>
            </a:solidFill>
            <a:miter lim="800000"/>
            <a:headEnd/>
            <a:tailEnd/>
          </a:ln>
        </p:spPr>
        <p:txBody>
          <a:bodyPr wrap="none" anchor="ctr"/>
          <a:lstStyle/>
          <a:p>
            <a:pPr algn="ctr"/>
            <a:r>
              <a:rPr lang="en-US" sz="2800" b="0" dirty="0">
                <a:solidFill>
                  <a:schemeClr val="bg1"/>
                </a:solidFill>
                <a:latin typeface="Arial" pitchFamily="34" charset="0"/>
              </a:rPr>
              <a:t>data</a:t>
            </a:r>
          </a:p>
        </p:txBody>
      </p:sp>
      <p:sp>
        <p:nvSpPr>
          <p:cNvPr id="1138730" name="Freeform 42"/>
          <p:cNvSpPr>
            <a:spLocks/>
          </p:cNvSpPr>
          <p:nvPr/>
        </p:nvSpPr>
        <p:spPr bwMode="auto">
          <a:xfrm>
            <a:off x="3251200" y="3362325"/>
            <a:ext cx="2309813" cy="1476375"/>
          </a:xfrm>
          <a:custGeom>
            <a:avLst/>
            <a:gdLst>
              <a:gd name="T0" fmla="*/ 2147483647 w 1455"/>
              <a:gd name="T1" fmla="*/ 2147483647 h 930"/>
              <a:gd name="T2" fmla="*/ 2147483647 w 1455"/>
              <a:gd name="T3" fmla="*/ 2147483647 h 930"/>
              <a:gd name="T4" fmla="*/ 2147483647 w 1455"/>
              <a:gd name="T5" fmla="*/ 2147483647 h 930"/>
              <a:gd name="T6" fmla="*/ 2147483647 w 1455"/>
              <a:gd name="T7" fmla="*/ 2147483647 h 930"/>
              <a:gd name="T8" fmla="*/ 2147483647 w 1455"/>
              <a:gd name="T9" fmla="*/ 2147483647 h 930"/>
              <a:gd name="T10" fmla="*/ 0 w 1455"/>
              <a:gd name="T11" fmla="*/ 2147483647 h 930"/>
              <a:gd name="T12" fmla="*/ 2147483647 w 1455"/>
              <a:gd name="T13" fmla="*/ 2147483647 h 930"/>
              <a:gd name="T14" fmla="*/ 2147483647 w 1455"/>
              <a:gd name="T15" fmla="*/ 2147483647 h 930"/>
              <a:gd name="T16" fmla="*/ 2147483647 w 1455"/>
              <a:gd name="T17" fmla="*/ 2147483647 h 930"/>
              <a:gd name="T18" fmla="*/ 2147483647 w 1455"/>
              <a:gd name="T19" fmla="*/ 2147483647 h 930"/>
              <a:gd name="T20" fmla="*/ 2147483647 w 1455"/>
              <a:gd name="T21" fmla="*/ 2147483647 h 930"/>
              <a:gd name="T22" fmla="*/ 2147483647 w 1455"/>
              <a:gd name="T23" fmla="*/ 0 h 930"/>
              <a:gd name="T24" fmla="*/ 2147483647 w 1455"/>
              <a:gd name="T25" fmla="*/ 2147483647 h 9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55"/>
              <a:gd name="T40" fmla="*/ 0 h 930"/>
              <a:gd name="T41" fmla="*/ 1455 w 1455"/>
              <a:gd name="T42" fmla="*/ 930 h 9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55" h="930">
                <a:moveTo>
                  <a:pt x="576" y="253"/>
                </a:moveTo>
                <a:lnTo>
                  <a:pt x="373" y="61"/>
                </a:lnTo>
                <a:lnTo>
                  <a:pt x="343" y="253"/>
                </a:lnTo>
                <a:lnTo>
                  <a:pt x="80" y="223"/>
                </a:lnTo>
                <a:lnTo>
                  <a:pt x="192" y="445"/>
                </a:lnTo>
                <a:lnTo>
                  <a:pt x="0" y="930"/>
                </a:lnTo>
                <a:lnTo>
                  <a:pt x="525" y="627"/>
                </a:lnTo>
                <a:lnTo>
                  <a:pt x="1081" y="900"/>
                </a:lnTo>
                <a:lnTo>
                  <a:pt x="1081" y="667"/>
                </a:lnTo>
                <a:lnTo>
                  <a:pt x="1455" y="556"/>
                </a:lnTo>
                <a:lnTo>
                  <a:pt x="1202" y="404"/>
                </a:lnTo>
                <a:lnTo>
                  <a:pt x="1333" y="0"/>
                </a:lnTo>
                <a:lnTo>
                  <a:pt x="576" y="253"/>
                </a:lnTo>
                <a:close/>
              </a:path>
            </a:pathLst>
          </a:custGeom>
          <a:solidFill>
            <a:srgbClr val="FFFF00"/>
          </a:solidFill>
          <a:ln w="38100">
            <a:solidFill>
              <a:srgbClr val="FF3300"/>
            </a:solidFill>
            <a:round/>
            <a:headEnd/>
            <a:tailEnd/>
          </a:ln>
        </p:spPr>
        <p:txBody>
          <a:bodyPr wrap="none" anchor="ctr"/>
          <a:lstStyle/>
          <a:p>
            <a:endParaRPr lang="en-US" dirty="0">
              <a:latin typeface="Arial" pitchFamily="34" charset="0"/>
            </a:endParaRPr>
          </a:p>
        </p:txBody>
      </p:sp>
      <p:sp>
        <p:nvSpPr>
          <p:cNvPr id="1138731" name="Rectangle 43"/>
          <p:cNvSpPr>
            <a:spLocks noChangeArrowheads="1"/>
          </p:cNvSpPr>
          <p:nvPr/>
        </p:nvSpPr>
        <p:spPr bwMode="auto">
          <a:xfrm>
            <a:off x="3754438" y="3865563"/>
            <a:ext cx="1203325" cy="385762"/>
          </a:xfrm>
          <a:prstGeom prst="rect">
            <a:avLst/>
          </a:prstGeom>
          <a:solidFill>
            <a:schemeClr val="bg1"/>
          </a:solidFill>
          <a:ln w="38100">
            <a:solidFill>
              <a:schemeClr val="tx1"/>
            </a:solidFill>
            <a:miter lim="800000"/>
            <a:headEnd/>
            <a:tailEnd/>
          </a:ln>
        </p:spPr>
        <p:txBody>
          <a:bodyPr wrap="none" anchor="ctr"/>
          <a:lstStyle/>
          <a:p>
            <a:pPr algn="ctr"/>
            <a:r>
              <a:rPr lang="en-US" sz="2400" b="0" dirty="0">
                <a:solidFill>
                  <a:schemeClr val="accent2"/>
                </a:solidFill>
                <a:latin typeface="Arial" pitchFamily="34" charset="0"/>
              </a:rPr>
              <a:t>data</a:t>
            </a:r>
          </a:p>
        </p:txBody>
      </p:sp>
      <p:sp>
        <p:nvSpPr>
          <p:cNvPr id="55315" name="Oval 45"/>
          <p:cNvSpPr>
            <a:spLocks noChangeArrowheads="1"/>
          </p:cNvSpPr>
          <p:nvPr/>
        </p:nvSpPr>
        <p:spPr bwMode="auto">
          <a:xfrm>
            <a:off x="1006475" y="3736975"/>
            <a:ext cx="660400" cy="660400"/>
          </a:xfrm>
          <a:prstGeom prst="ellipse">
            <a:avLst/>
          </a:prstGeom>
          <a:solidFill>
            <a:schemeClr val="bg1"/>
          </a:solidFill>
          <a:ln w="38100">
            <a:solidFill>
              <a:schemeClr val="tx1"/>
            </a:solidFill>
            <a:round/>
            <a:headEnd/>
            <a:tailEnd/>
          </a:ln>
        </p:spPr>
        <p:txBody>
          <a:bodyPr wrap="none" anchor="ctr"/>
          <a:lstStyle/>
          <a:p>
            <a:pPr algn="ctr"/>
            <a:r>
              <a:rPr lang="en-US" dirty="0">
                <a:latin typeface="Arial" pitchFamily="34" charset="0"/>
              </a:rPr>
              <a: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38730"/>
                                        </p:tgtEl>
                                        <p:attrNameLst>
                                          <p:attrName>style.visibility</p:attrName>
                                        </p:attrNameLst>
                                      </p:cBhvr>
                                      <p:to>
                                        <p:strVal val="visible"/>
                                      </p:to>
                                    </p:set>
                                    <p:animEffect transition="in" filter="blinds(horizontal)">
                                      <p:cBhvr>
                                        <p:cTn id="7" dur="500"/>
                                        <p:tgtEl>
                                          <p:spTgt spid="113873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38731"/>
                                        </p:tgtEl>
                                        <p:attrNameLst>
                                          <p:attrName>style.visibility</p:attrName>
                                        </p:attrNameLst>
                                      </p:cBhvr>
                                      <p:to>
                                        <p:strVal val="visible"/>
                                      </p:to>
                                    </p:set>
                                    <p:animEffect transition="in" filter="blinds(horizontal)">
                                      <p:cBhvr>
                                        <p:cTn id="10" dur="500"/>
                                        <p:tgtEl>
                                          <p:spTgt spid="1138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8730" grpId="0" animBg="1"/>
      <p:bldP spid="113873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3"/>
          <p:cNvSpPr>
            <a:spLocks noGrp="1"/>
          </p:cNvSpPr>
          <p:nvPr>
            <p:ph type="ftr" sz="quarter" idx="10"/>
          </p:nvPr>
        </p:nvSpPr>
        <p:spPr>
          <a:noFill/>
        </p:spPr>
        <p:txBody>
          <a:bodyPr/>
          <a:lstStyle/>
          <a:p>
            <a:r>
              <a:rPr lang="en-US"/>
              <a:t>Art of Multiprocessor Programming</a:t>
            </a:r>
          </a:p>
        </p:txBody>
      </p:sp>
      <p:sp>
        <p:nvSpPr>
          <p:cNvPr id="56323" name="Slide Number Placeholder 4"/>
          <p:cNvSpPr>
            <a:spLocks noGrp="1"/>
          </p:cNvSpPr>
          <p:nvPr>
            <p:ph type="sldNum" sz="quarter" idx="11"/>
          </p:nvPr>
        </p:nvSpPr>
        <p:spPr>
          <a:noFill/>
        </p:spPr>
        <p:txBody>
          <a:bodyPr/>
          <a:lstStyle/>
          <a:p>
            <a:fld id="{3937FE0B-3A5A-45AE-89C7-BDD70C7AAE5C}" type="slidenum">
              <a:rPr lang="ar-SA" smtClean="0"/>
              <a:pPr/>
              <a:t>54</a:t>
            </a:fld>
            <a:endParaRPr lang="en-US"/>
          </a:p>
        </p:txBody>
      </p:sp>
      <p:sp>
        <p:nvSpPr>
          <p:cNvPr id="56324" name="Oval 49"/>
          <p:cNvSpPr>
            <a:spLocks noChangeArrowheads="1"/>
          </p:cNvSpPr>
          <p:nvPr/>
        </p:nvSpPr>
        <p:spPr bwMode="auto">
          <a:xfrm>
            <a:off x="3213100" y="3721100"/>
            <a:ext cx="660400" cy="660400"/>
          </a:xfrm>
          <a:prstGeom prst="ellipse">
            <a:avLst/>
          </a:prstGeom>
          <a:solidFill>
            <a:schemeClr val="bg1"/>
          </a:solidFill>
          <a:ln w="38100">
            <a:solidFill>
              <a:schemeClr val="tx1"/>
            </a:solidFill>
            <a:round/>
            <a:headEnd/>
            <a:tailEnd/>
          </a:ln>
        </p:spPr>
        <p:txBody>
          <a:bodyPr wrap="none" anchor="ctr"/>
          <a:lstStyle/>
          <a:p>
            <a:pPr algn="ctr"/>
            <a:r>
              <a:rPr lang="en-US" dirty="0">
                <a:latin typeface="Arial" pitchFamily="34" charset="0"/>
              </a:rPr>
              <a:t>S</a:t>
            </a:r>
          </a:p>
        </p:txBody>
      </p:sp>
      <p:pic>
        <p:nvPicPr>
          <p:cNvPr id="56325"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56326" name="Rectangle 3"/>
          <p:cNvSpPr>
            <a:spLocks noChangeArrowheads="1"/>
          </p:cNvSpPr>
          <p:nvPr/>
        </p:nvSpPr>
        <p:spPr bwMode="auto">
          <a:xfrm>
            <a:off x="1747838" y="5262563"/>
            <a:ext cx="5567362" cy="881062"/>
          </a:xfrm>
          <a:prstGeom prst="rect">
            <a:avLst/>
          </a:prstGeom>
          <a:solidFill>
            <a:schemeClr val="hlink"/>
          </a:solidFill>
          <a:ln w="38100">
            <a:solidFill>
              <a:schemeClr val="tx1"/>
            </a:solidFill>
            <a:miter lim="800000"/>
            <a:headEnd/>
            <a:tailEnd/>
          </a:ln>
        </p:spPr>
        <p:txBody>
          <a:bodyPr wrap="none" anchor="ctr"/>
          <a:lstStyle/>
          <a:p>
            <a:pPr algn="ctr"/>
            <a:r>
              <a:rPr lang="en-US" b="0" dirty="0">
                <a:solidFill>
                  <a:schemeClr val="tx2"/>
                </a:solidFill>
                <a:latin typeface="Arial" pitchFamily="34" charset="0"/>
              </a:rPr>
              <a:t>memory</a:t>
            </a:r>
          </a:p>
        </p:txBody>
      </p:sp>
      <p:sp>
        <p:nvSpPr>
          <p:cNvPr id="56327" name="Rectangle 4"/>
          <p:cNvSpPr>
            <a:spLocks noChangeArrowheads="1"/>
          </p:cNvSpPr>
          <p:nvPr/>
        </p:nvSpPr>
        <p:spPr bwMode="auto">
          <a:xfrm>
            <a:off x="5689600" y="5573713"/>
            <a:ext cx="1203325" cy="385762"/>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56328" name="Rectangle 5"/>
          <p:cNvSpPr>
            <a:spLocks noChangeArrowheads="1"/>
          </p:cNvSpPr>
          <p:nvPr/>
        </p:nvSpPr>
        <p:spPr bwMode="auto">
          <a:xfrm>
            <a:off x="1928813" y="3913188"/>
            <a:ext cx="1203325" cy="385762"/>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1140742" name="Rectangle 6"/>
          <p:cNvSpPr>
            <a:spLocks noChangeArrowheads="1"/>
          </p:cNvSpPr>
          <p:nvPr/>
        </p:nvSpPr>
        <p:spPr bwMode="auto">
          <a:xfrm>
            <a:off x="3811588" y="3913188"/>
            <a:ext cx="1203325" cy="385762"/>
          </a:xfrm>
          <a:prstGeom prst="rect">
            <a:avLst/>
          </a:prstGeom>
          <a:solidFill>
            <a:schemeClr val="bg1"/>
          </a:solidFill>
          <a:ln w="38100">
            <a:solidFill>
              <a:schemeClr val="tx1"/>
            </a:solidFill>
            <a:miter lim="800000"/>
            <a:headEnd/>
            <a:tailEnd/>
          </a:ln>
        </p:spPr>
        <p:txBody>
          <a:bodyPr wrap="none" anchor="ctr"/>
          <a:lstStyle/>
          <a:p>
            <a:pPr algn="ctr"/>
            <a:r>
              <a:rPr lang="en-US" sz="2400" b="0" dirty="0">
                <a:solidFill>
                  <a:schemeClr val="accent2"/>
                </a:solidFill>
                <a:latin typeface="Arial" pitchFamily="34" charset="0"/>
              </a:rPr>
              <a:t>data</a:t>
            </a:r>
          </a:p>
        </p:txBody>
      </p:sp>
      <p:sp>
        <p:nvSpPr>
          <p:cNvPr id="1140743" name="Rectangle 7"/>
          <p:cNvSpPr>
            <a:spLocks noChangeArrowheads="1"/>
          </p:cNvSpPr>
          <p:nvPr/>
        </p:nvSpPr>
        <p:spPr bwMode="auto">
          <a:xfrm>
            <a:off x="3811588" y="3913188"/>
            <a:ext cx="1203325" cy="385762"/>
          </a:xfrm>
          <a:prstGeom prst="rect">
            <a:avLst/>
          </a:prstGeom>
          <a:solidFill>
            <a:schemeClr val="bg1"/>
          </a:solidFill>
          <a:ln w="38100">
            <a:solidFill>
              <a:schemeClr val="tx1"/>
            </a:solidFill>
            <a:miter lim="800000"/>
            <a:headEnd/>
            <a:tailEnd/>
          </a:ln>
        </p:spPr>
        <p:txBody>
          <a:bodyPr wrap="none" anchor="ctr"/>
          <a:lstStyle/>
          <a:p>
            <a:pPr algn="ctr"/>
            <a:r>
              <a:rPr lang="en-US" sz="2400" b="0" dirty="0">
                <a:solidFill>
                  <a:schemeClr val="accent2"/>
                </a:solidFill>
                <a:latin typeface="Arial" pitchFamily="34" charset="0"/>
              </a:rPr>
              <a:t>data</a:t>
            </a:r>
          </a:p>
        </p:txBody>
      </p:sp>
      <p:sp>
        <p:nvSpPr>
          <p:cNvPr id="56331" name="AutoShape 8"/>
          <p:cNvSpPr>
            <a:spLocks noChangeArrowheads="1"/>
          </p:cNvSpPr>
          <p:nvPr/>
        </p:nvSpPr>
        <p:spPr bwMode="auto">
          <a:xfrm>
            <a:off x="1176338" y="4292600"/>
            <a:ext cx="6626225" cy="641350"/>
          </a:xfrm>
          <a:prstGeom prst="leftRightArrow">
            <a:avLst>
              <a:gd name="adj1" fmla="val 40102"/>
              <a:gd name="adj2" fmla="val 81458"/>
            </a:avLst>
          </a:prstGeom>
          <a:solidFill>
            <a:schemeClr val="folHlink"/>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56332" name="Rectangle 9"/>
          <p:cNvSpPr>
            <a:spLocks noGrp="1" noChangeArrowheads="1"/>
          </p:cNvSpPr>
          <p:nvPr>
            <p:ph type="title"/>
          </p:nvPr>
        </p:nvSpPr>
        <p:spPr/>
        <p:txBody>
          <a:bodyPr/>
          <a:lstStyle/>
          <a:p>
            <a:r>
              <a:rPr lang="en-US"/>
              <a:t>Write-Through Cache</a:t>
            </a:r>
          </a:p>
        </p:txBody>
      </p:sp>
      <p:grpSp>
        <p:nvGrpSpPr>
          <p:cNvPr id="56333" name="Group 10"/>
          <p:cNvGrpSpPr>
            <a:grpSpLocks/>
          </p:cNvGrpSpPr>
          <p:nvPr/>
        </p:nvGrpSpPr>
        <p:grpSpPr bwMode="auto">
          <a:xfrm flipH="1">
            <a:off x="5480050" y="2441575"/>
            <a:ext cx="1358900" cy="1282700"/>
            <a:chOff x="1008" y="2720"/>
            <a:chExt cx="856" cy="808"/>
          </a:xfrm>
        </p:grpSpPr>
        <p:sp>
          <p:nvSpPr>
            <p:cNvPr id="56363" name="Rectangle 11"/>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6364" name="Freeform 12"/>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65" name="Freeform 13"/>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66" name="Freeform 14"/>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67" name="Freeform 15"/>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6368" name="Freeform 16"/>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56369" name="Freeform 17"/>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70" name="Freeform 18"/>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71" name="Freeform 19"/>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140756" name="AutoShape 20"/>
          <p:cNvSpPr>
            <a:spLocks noChangeArrowheads="1"/>
          </p:cNvSpPr>
          <p:nvPr/>
        </p:nvSpPr>
        <p:spPr bwMode="auto">
          <a:xfrm>
            <a:off x="1182688" y="4298950"/>
            <a:ext cx="6626225" cy="641350"/>
          </a:xfrm>
          <a:prstGeom prst="leftRightArrow">
            <a:avLst>
              <a:gd name="adj1" fmla="val 40102"/>
              <a:gd name="adj2" fmla="val 81458"/>
            </a:avLst>
          </a:prstGeom>
          <a:solidFill>
            <a:srgbClr val="FF3300"/>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56335" name="AutoShape 21"/>
          <p:cNvSpPr>
            <a:spLocks noChangeArrowheads="1"/>
          </p:cNvSpPr>
          <p:nvPr/>
        </p:nvSpPr>
        <p:spPr bwMode="auto">
          <a:xfrm>
            <a:off x="4025900" y="4829175"/>
            <a:ext cx="819150" cy="352425"/>
          </a:xfrm>
          <a:prstGeom prst="upDownArrow">
            <a:avLst>
              <a:gd name="adj1" fmla="val 50000"/>
              <a:gd name="adj2" fmla="val 33782"/>
            </a:avLst>
          </a:prstGeom>
          <a:solidFill>
            <a:schemeClr val="hlink"/>
          </a:solidFill>
          <a:ln w="38100">
            <a:solidFill>
              <a:schemeClr val="tx1"/>
            </a:solidFill>
            <a:miter lim="800000"/>
            <a:headEnd/>
            <a:tailEnd/>
          </a:ln>
        </p:spPr>
        <p:txBody>
          <a:bodyPr wrap="none" anchor="ctr"/>
          <a:lstStyle/>
          <a:p>
            <a:endParaRPr lang="en-US" dirty="0">
              <a:latin typeface="Arial" pitchFamily="34" charset="0"/>
            </a:endParaRPr>
          </a:p>
        </p:txBody>
      </p:sp>
      <p:sp>
        <p:nvSpPr>
          <p:cNvPr id="56336" name="Rectangle 22"/>
          <p:cNvSpPr>
            <a:spLocks noChangeArrowheads="1"/>
          </p:cNvSpPr>
          <p:nvPr/>
        </p:nvSpPr>
        <p:spPr bwMode="auto">
          <a:xfrm>
            <a:off x="56657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grpSp>
        <p:nvGrpSpPr>
          <p:cNvPr id="56337" name="Group 23"/>
          <p:cNvGrpSpPr>
            <a:grpSpLocks/>
          </p:cNvGrpSpPr>
          <p:nvPr/>
        </p:nvGrpSpPr>
        <p:grpSpPr bwMode="auto">
          <a:xfrm>
            <a:off x="3732213" y="2495550"/>
            <a:ext cx="1130300" cy="1173163"/>
            <a:chOff x="2496" y="2725"/>
            <a:chExt cx="712" cy="739"/>
          </a:xfrm>
        </p:grpSpPr>
        <p:sp>
          <p:nvSpPr>
            <p:cNvPr id="56353" name="Rectangle 24"/>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6354" name="Freeform 25"/>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nvGrpSpPr>
            <p:cNvPr id="56355" name="Group 26"/>
            <p:cNvGrpSpPr>
              <a:grpSpLocks/>
            </p:cNvGrpSpPr>
            <p:nvPr/>
          </p:nvGrpSpPr>
          <p:grpSpPr bwMode="auto">
            <a:xfrm>
              <a:off x="3072" y="2832"/>
              <a:ext cx="136" cy="632"/>
              <a:chOff x="3072" y="2832"/>
              <a:chExt cx="136" cy="632"/>
            </a:xfrm>
          </p:grpSpPr>
          <p:sp>
            <p:nvSpPr>
              <p:cNvPr id="56360" name="Freeform 2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61" name="Freeform 28"/>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62" name="Freeform 29"/>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56356" name="Group 30"/>
            <p:cNvGrpSpPr>
              <a:grpSpLocks/>
            </p:cNvGrpSpPr>
            <p:nvPr/>
          </p:nvGrpSpPr>
          <p:grpSpPr bwMode="auto">
            <a:xfrm flipH="1">
              <a:off x="2496" y="2832"/>
              <a:ext cx="136" cy="632"/>
              <a:chOff x="3072" y="2832"/>
              <a:chExt cx="136" cy="632"/>
            </a:xfrm>
          </p:grpSpPr>
          <p:sp>
            <p:nvSpPr>
              <p:cNvPr id="56357" name="Freeform 3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58" name="Freeform 32"/>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59" name="Freeform 33"/>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grpSp>
        <p:nvGrpSpPr>
          <p:cNvPr id="56338" name="Group 34"/>
          <p:cNvGrpSpPr>
            <a:grpSpLocks/>
          </p:cNvGrpSpPr>
          <p:nvPr/>
        </p:nvGrpSpPr>
        <p:grpSpPr bwMode="auto">
          <a:xfrm>
            <a:off x="1757363" y="2441575"/>
            <a:ext cx="1358900" cy="1282700"/>
            <a:chOff x="1008" y="2720"/>
            <a:chExt cx="856" cy="808"/>
          </a:xfrm>
        </p:grpSpPr>
        <p:sp>
          <p:nvSpPr>
            <p:cNvPr id="56344" name="Rectangle 35"/>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56345" name="Freeform 36"/>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46" name="Freeform 37"/>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47" name="Freeform 38"/>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48" name="Freeform 39"/>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56349" name="Freeform 40"/>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56350" name="Freeform 41"/>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51" name="Freeform 42"/>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352" name="Freeform 43"/>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140780" name="Rectangle 44"/>
          <p:cNvSpPr>
            <a:spLocks noChangeArrowheads="1"/>
          </p:cNvSpPr>
          <p:nvPr/>
        </p:nvSpPr>
        <p:spPr bwMode="auto">
          <a:xfrm>
            <a:off x="3811588" y="3913188"/>
            <a:ext cx="1203325" cy="385762"/>
          </a:xfrm>
          <a:prstGeom prst="rect">
            <a:avLst/>
          </a:prstGeom>
          <a:solidFill>
            <a:schemeClr val="bg1"/>
          </a:solidFill>
          <a:ln w="38100">
            <a:solidFill>
              <a:schemeClr val="tx1"/>
            </a:solidFill>
            <a:miter lim="800000"/>
            <a:headEnd/>
            <a:tailEnd/>
          </a:ln>
        </p:spPr>
        <p:txBody>
          <a:bodyPr wrap="none" anchor="ctr"/>
          <a:lstStyle/>
          <a:p>
            <a:pPr algn="ctr"/>
            <a:r>
              <a:rPr lang="en-US" sz="2400" b="0" dirty="0">
                <a:solidFill>
                  <a:schemeClr val="accent2"/>
                </a:solidFill>
                <a:latin typeface="Arial" pitchFamily="34" charset="0"/>
              </a:rPr>
              <a:t>data</a:t>
            </a:r>
          </a:p>
        </p:txBody>
      </p:sp>
      <p:sp>
        <p:nvSpPr>
          <p:cNvPr id="1140781" name="AutoShape 45"/>
          <p:cNvSpPr>
            <a:spLocks noChangeArrowheads="1"/>
          </p:cNvSpPr>
          <p:nvPr/>
        </p:nvSpPr>
        <p:spPr bwMode="auto">
          <a:xfrm>
            <a:off x="4179888" y="3665538"/>
            <a:ext cx="465137" cy="882650"/>
          </a:xfrm>
          <a:prstGeom prst="upDownArrow">
            <a:avLst>
              <a:gd name="adj1" fmla="val 50000"/>
              <a:gd name="adj2" fmla="val 37952"/>
            </a:avLst>
          </a:prstGeom>
          <a:solidFill>
            <a:srgbClr val="FF3300"/>
          </a:solidFill>
          <a:ln w="38100">
            <a:solidFill>
              <a:schemeClr val="tx1"/>
            </a:solidFill>
            <a:miter lim="800000"/>
            <a:headEnd/>
            <a:tailEnd/>
          </a:ln>
        </p:spPr>
        <p:txBody>
          <a:bodyPr wrap="none" anchor="ctr"/>
          <a:lstStyle/>
          <a:p>
            <a:pPr algn="r"/>
            <a:endParaRPr lang="en-US" b="0" dirty="0">
              <a:latin typeface="Arial" pitchFamily="34" charset="0"/>
            </a:endParaRPr>
          </a:p>
        </p:txBody>
      </p:sp>
      <p:sp>
        <p:nvSpPr>
          <p:cNvPr id="1140782" name="AutoShape 46"/>
          <p:cNvSpPr>
            <a:spLocks noChangeArrowheads="1"/>
          </p:cNvSpPr>
          <p:nvPr/>
        </p:nvSpPr>
        <p:spPr bwMode="auto">
          <a:xfrm>
            <a:off x="1919288" y="1290638"/>
            <a:ext cx="1941512" cy="1187450"/>
          </a:xfrm>
          <a:prstGeom prst="cloudCallout">
            <a:avLst>
              <a:gd name="adj1" fmla="val 65861"/>
              <a:gd name="adj2" fmla="val 43315"/>
            </a:avLst>
          </a:prstGeom>
          <a:solidFill>
            <a:srgbClr val="FF3300">
              <a:alpha val="30196"/>
            </a:srgbClr>
          </a:solidFill>
          <a:ln w="38100">
            <a:solidFill>
              <a:schemeClr val="tx1"/>
            </a:solidFill>
            <a:round/>
            <a:headEnd/>
            <a:tailEnd/>
          </a:ln>
        </p:spPr>
        <p:txBody>
          <a:bodyPr anchor="ctr"/>
          <a:lstStyle/>
          <a:p>
            <a:pPr algn="ctr"/>
            <a:endParaRPr lang="en-US" sz="3600" b="0" dirty="0">
              <a:latin typeface="Arial" pitchFamily="34" charset="0"/>
            </a:endParaRPr>
          </a:p>
        </p:txBody>
      </p:sp>
      <p:sp>
        <p:nvSpPr>
          <p:cNvPr id="1140783" name="Rectangle 47"/>
          <p:cNvSpPr>
            <a:spLocks noChangeArrowheads="1"/>
          </p:cNvSpPr>
          <p:nvPr/>
        </p:nvSpPr>
        <p:spPr bwMode="auto">
          <a:xfrm>
            <a:off x="2120900" y="1476375"/>
            <a:ext cx="1647825" cy="457200"/>
          </a:xfrm>
          <a:prstGeom prst="rect">
            <a:avLst/>
          </a:prstGeom>
          <a:noFill/>
          <a:ln w="9525">
            <a:noFill/>
            <a:miter lim="800000"/>
            <a:headEnd/>
            <a:tailEnd/>
          </a:ln>
        </p:spPr>
        <p:txBody>
          <a:bodyPr>
            <a:spAutoFit/>
          </a:bodyPr>
          <a:lstStyle/>
          <a:p>
            <a:pPr algn="ctr"/>
            <a:r>
              <a:rPr lang="en-US" sz="2400" b="0" dirty="0">
                <a:latin typeface="Arial" pitchFamily="34" charset="0"/>
              </a:rPr>
              <a:t>Write x!</a:t>
            </a:r>
          </a:p>
        </p:txBody>
      </p:sp>
      <p:sp>
        <p:nvSpPr>
          <p:cNvPr id="56343" name="Oval 50"/>
          <p:cNvSpPr>
            <a:spLocks noChangeArrowheads="1"/>
          </p:cNvSpPr>
          <p:nvPr/>
        </p:nvSpPr>
        <p:spPr bwMode="auto">
          <a:xfrm>
            <a:off x="1006475" y="3736975"/>
            <a:ext cx="660400" cy="660400"/>
          </a:xfrm>
          <a:prstGeom prst="ellipse">
            <a:avLst/>
          </a:prstGeom>
          <a:solidFill>
            <a:schemeClr val="bg1"/>
          </a:solidFill>
          <a:ln w="38100">
            <a:solidFill>
              <a:schemeClr val="tx1"/>
            </a:solidFill>
            <a:round/>
            <a:headEnd/>
            <a:tailEnd/>
          </a:ln>
        </p:spPr>
        <p:txBody>
          <a:bodyPr wrap="none" anchor="ctr"/>
          <a:lstStyle/>
          <a:p>
            <a:pPr algn="ctr"/>
            <a:r>
              <a:rPr lang="en-US" dirty="0">
                <a:latin typeface="Arial" pitchFamily="34" charset="0"/>
              </a:rPr>
              <a: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40782"/>
                                        </p:tgtEl>
                                        <p:attrNameLst>
                                          <p:attrName>style.visibility</p:attrName>
                                        </p:attrNameLst>
                                      </p:cBhvr>
                                      <p:to>
                                        <p:strVal val="visible"/>
                                      </p:to>
                                    </p:set>
                                    <p:animEffect transition="in" filter="blinds(horizontal)">
                                      <p:cBhvr>
                                        <p:cTn id="7" dur="500"/>
                                        <p:tgtEl>
                                          <p:spTgt spid="114078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40783"/>
                                        </p:tgtEl>
                                        <p:attrNameLst>
                                          <p:attrName>style.visibility</p:attrName>
                                        </p:attrNameLst>
                                      </p:cBhvr>
                                      <p:to>
                                        <p:strVal val="visible"/>
                                      </p:to>
                                    </p:set>
                                    <p:animEffect transition="in" filter="blinds(horizontal)">
                                      <p:cBhvr>
                                        <p:cTn id="10" dur="500"/>
                                        <p:tgtEl>
                                          <p:spTgt spid="1140783"/>
                                        </p:tgtEl>
                                      </p:cBhvr>
                                    </p:animEffect>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1140742"/>
                                        </p:tgtEl>
                                        <p:attrNameLst>
                                          <p:attrName>style.visibility</p:attrName>
                                        </p:attrNameLst>
                                      </p:cBhvr>
                                      <p:to>
                                        <p:strVal val="visible"/>
                                      </p:to>
                                    </p:set>
                                    <p:animEffect transition="in" filter="blinds(horizontal)">
                                      <p:cBhvr>
                                        <p:cTn id="14" dur="500"/>
                                        <p:tgtEl>
                                          <p:spTgt spid="1140742"/>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1140781"/>
                                        </p:tgtEl>
                                        <p:attrNameLst>
                                          <p:attrName>style.visibility</p:attrName>
                                        </p:attrNameLst>
                                      </p:cBhvr>
                                      <p:to>
                                        <p:strVal val="visible"/>
                                      </p:to>
                                    </p:set>
                                    <p:animEffect transition="in" filter="blinds(horizontal)">
                                      <p:cBhvr>
                                        <p:cTn id="17" dur="500"/>
                                        <p:tgtEl>
                                          <p:spTgt spid="1140781"/>
                                        </p:tgtEl>
                                      </p:cBhvr>
                                    </p:animEffect>
                                  </p:childTnLst>
                                </p:cTn>
                              </p:par>
                            </p:childTnLst>
                          </p:cTn>
                        </p:par>
                        <p:par>
                          <p:cTn id="18" fill="hold">
                            <p:stCondLst>
                              <p:cond delay="1000"/>
                            </p:stCondLst>
                            <p:childTnLst>
                              <p:par>
                                <p:cTn id="19" presetID="3" presetClass="entr" presetSubtype="10" fill="hold" grpId="0" nodeType="afterEffect">
                                  <p:stCondLst>
                                    <p:cond delay="0"/>
                                  </p:stCondLst>
                                  <p:childTnLst>
                                    <p:set>
                                      <p:cBhvr>
                                        <p:cTn id="20" dur="1" fill="hold">
                                          <p:stCondLst>
                                            <p:cond delay="0"/>
                                          </p:stCondLst>
                                        </p:cTn>
                                        <p:tgtEl>
                                          <p:spTgt spid="1140756"/>
                                        </p:tgtEl>
                                        <p:attrNameLst>
                                          <p:attrName>style.visibility</p:attrName>
                                        </p:attrNameLst>
                                      </p:cBhvr>
                                      <p:to>
                                        <p:strVal val="visible"/>
                                      </p:to>
                                    </p:set>
                                    <p:animEffect transition="in" filter="blinds(horizontal)">
                                      <p:cBhvr>
                                        <p:cTn id="21" dur="500"/>
                                        <p:tgtEl>
                                          <p:spTgt spid="1140756"/>
                                        </p:tgtEl>
                                      </p:cBhvr>
                                    </p:animEffect>
                                  </p:childTnLst>
                                </p:cTn>
                              </p:par>
                            </p:childTnLst>
                          </p:cTn>
                        </p:par>
                        <p:par>
                          <p:cTn id="22" fill="hold">
                            <p:stCondLst>
                              <p:cond delay="1500"/>
                            </p:stCondLst>
                            <p:childTnLst>
                              <p:par>
                                <p:cTn id="23" presetID="0" presetClass="path" presetSubtype="0" accel="50000" decel="50000" fill="hold" grpId="0" nodeType="afterEffect">
                                  <p:stCondLst>
                                    <p:cond delay="0"/>
                                  </p:stCondLst>
                                  <p:childTnLst>
                                    <p:animMotion origin="layout" path="M 0.00521 9.24855E-7 L -0.20573 9.24855E-7 " pathEditMode="relative" rAng="0" ptsTypes="AA">
                                      <p:cBhvr>
                                        <p:cTn id="24" dur="2000" fill="hold"/>
                                        <p:tgtEl>
                                          <p:spTgt spid="1140743"/>
                                        </p:tgtEl>
                                        <p:attrNameLst>
                                          <p:attrName>ppt_x</p:attrName>
                                          <p:attrName>ppt_y</p:attrName>
                                        </p:attrNameLst>
                                      </p:cBhvr>
                                      <p:rCtr x="-106" y="0"/>
                                    </p:animMotion>
                                  </p:childTnLst>
                                </p:cTn>
                              </p:par>
                              <p:par>
                                <p:cTn id="25" presetID="0" presetClass="path" presetSubtype="0" accel="50000" decel="50000" fill="hold" grpId="0" nodeType="withEffect">
                                  <p:stCondLst>
                                    <p:cond delay="0"/>
                                  </p:stCondLst>
                                  <p:childTnLst>
                                    <p:animMotion origin="layout" path="M 2.77778E-6 9.24855E-7 L 0.20659 0.24069 " pathEditMode="relative" rAng="0" ptsTypes="AA">
                                      <p:cBhvr>
                                        <p:cTn id="26" dur="2000" fill="hold"/>
                                        <p:tgtEl>
                                          <p:spTgt spid="1140780"/>
                                        </p:tgtEl>
                                        <p:attrNameLst>
                                          <p:attrName>ppt_x</p:attrName>
                                          <p:attrName>ppt_y</p:attrName>
                                        </p:attrNameLst>
                                      </p:cBhvr>
                                      <p:rCtr x="103" y="12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0742" grpId="0" animBg="1"/>
      <p:bldP spid="1140743" grpId="0" animBg="1"/>
      <p:bldP spid="1140756" grpId="0" animBg="1"/>
      <p:bldP spid="1140780" grpId="0" animBg="1"/>
      <p:bldP spid="1140781" grpId="0" animBg="1"/>
      <p:bldP spid="1140782" grpId="0" animBg="1"/>
      <p:bldP spid="114078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Footer Placeholder 3"/>
          <p:cNvSpPr>
            <a:spLocks noGrp="1"/>
          </p:cNvSpPr>
          <p:nvPr>
            <p:ph type="ftr" sz="quarter" idx="10"/>
          </p:nvPr>
        </p:nvSpPr>
        <p:spPr>
          <a:noFill/>
        </p:spPr>
        <p:txBody>
          <a:bodyPr/>
          <a:lstStyle/>
          <a:p>
            <a:r>
              <a:rPr lang="en-US"/>
              <a:t>Art of Multiprocessor Programming</a:t>
            </a:r>
          </a:p>
        </p:txBody>
      </p:sp>
      <p:sp>
        <p:nvSpPr>
          <p:cNvPr id="57347" name="Slide Number Placeholder 4"/>
          <p:cNvSpPr>
            <a:spLocks noGrp="1"/>
          </p:cNvSpPr>
          <p:nvPr>
            <p:ph type="sldNum" sz="quarter" idx="11"/>
          </p:nvPr>
        </p:nvSpPr>
        <p:spPr>
          <a:noFill/>
        </p:spPr>
        <p:txBody>
          <a:bodyPr/>
          <a:lstStyle/>
          <a:p>
            <a:fld id="{055865BE-B02C-4B52-A40B-992D3835339C}" type="slidenum">
              <a:rPr lang="ar-SA" smtClean="0"/>
              <a:pPr/>
              <a:t>55</a:t>
            </a:fld>
            <a:endParaRPr lang="en-US"/>
          </a:p>
        </p:txBody>
      </p:sp>
      <p:pic>
        <p:nvPicPr>
          <p:cNvPr id="5734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57349" name="Rectangle 3"/>
          <p:cNvSpPr>
            <a:spLocks noGrp="1" noChangeArrowheads="1"/>
          </p:cNvSpPr>
          <p:nvPr>
            <p:ph type="title"/>
          </p:nvPr>
        </p:nvSpPr>
        <p:spPr/>
        <p:txBody>
          <a:bodyPr/>
          <a:lstStyle/>
          <a:p>
            <a:r>
              <a:rPr lang="en-US"/>
              <a:t>Write-Through Caches</a:t>
            </a:r>
          </a:p>
        </p:txBody>
      </p:sp>
      <p:sp>
        <p:nvSpPr>
          <p:cNvPr id="57350" name="Rectangle 4"/>
          <p:cNvSpPr>
            <a:spLocks noGrp="1" noChangeArrowheads="1"/>
          </p:cNvSpPr>
          <p:nvPr>
            <p:ph type="body" idx="1"/>
          </p:nvPr>
        </p:nvSpPr>
        <p:spPr/>
        <p:txBody>
          <a:bodyPr/>
          <a:lstStyle/>
          <a:p>
            <a:pPr>
              <a:lnSpc>
                <a:spcPct val="90000"/>
              </a:lnSpc>
            </a:pPr>
            <a:r>
              <a:rPr lang="en-US"/>
              <a:t>Immediately broadcast changes </a:t>
            </a:r>
          </a:p>
          <a:p>
            <a:pPr>
              <a:lnSpc>
                <a:spcPct val="90000"/>
              </a:lnSpc>
            </a:pPr>
            <a:r>
              <a:rPr lang="en-US"/>
              <a:t>Good</a:t>
            </a:r>
          </a:p>
          <a:p>
            <a:pPr lvl="1">
              <a:lnSpc>
                <a:spcPct val="90000"/>
              </a:lnSpc>
            </a:pPr>
            <a:r>
              <a:rPr lang="en-US"/>
              <a:t>Memory, caches always agree</a:t>
            </a:r>
          </a:p>
          <a:p>
            <a:pPr lvl="1">
              <a:lnSpc>
                <a:spcPct val="90000"/>
              </a:lnSpc>
            </a:pPr>
            <a:r>
              <a:rPr lang="en-US"/>
              <a:t>More read hits, maybe</a:t>
            </a:r>
          </a:p>
          <a:p>
            <a:pPr>
              <a:lnSpc>
                <a:spcPct val="90000"/>
              </a:lnSpc>
            </a:pPr>
            <a:r>
              <a:rPr lang="en-US"/>
              <a:t>Bad</a:t>
            </a:r>
          </a:p>
          <a:p>
            <a:pPr lvl="1">
              <a:lnSpc>
                <a:spcPct val="90000"/>
              </a:lnSpc>
            </a:pPr>
            <a:r>
              <a:rPr lang="en-US"/>
              <a:t>Bus traffic on all writes</a:t>
            </a:r>
          </a:p>
          <a:p>
            <a:pPr lvl="1">
              <a:lnSpc>
                <a:spcPct val="90000"/>
              </a:lnSpc>
            </a:pPr>
            <a:r>
              <a:rPr lang="en-US"/>
              <a:t>Most writes to unshared data</a:t>
            </a:r>
          </a:p>
          <a:p>
            <a:pPr lvl="1">
              <a:lnSpc>
                <a:spcPct val="90000"/>
              </a:lnSpc>
            </a:pPr>
            <a:r>
              <a:rPr lang="en-US"/>
              <a:t>For example, loop indexes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3"/>
          <p:cNvSpPr>
            <a:spLocks noGrp="1"/>
          </p:cNvSpPr>
          <p:nvPr>
            <p:ph type="ftr" sz="quarter" idx="10"/>
          </p:nvPr>
        </p:nvSpPr>
        <p:spPr>
          <a:noFill/>
        </p:spPr>
        <p:txBody>
          <a:bodyPr/>
          <a:lstStyle/>
          <a:p>
            <a:r>
              <a:rPr lang="en-US"/>
              <a:t>Art of Multiprocessor Programming</a:t>
            </a:r>
          </a:p>
        </p:txBody>
      </p:sp>
      <p:sp>
        <p:nvSpPr>
          <p:cNvPr id="58371" name="Slide Number Placeholder 4"/>
          <p:cNvSpPr>
            <a:spLocks noGrp="1"/>
          </p:cNvSpPr>
          <p:nvPr>
            <p:ph type="sldNum" sz="quarter" idx="11"/>
          </p:nvPr>
        </p:nvSpPr>
        <p:spPr>
          <a:noFill/>
        </p:spPr>
        <p:txBody>
          <a:bodyPr/>
          <a:lstStyle/>
          <a:p>
            <a:fld id="{9AA086AF-A814-477C-9C65-762C93F97E8C}" type="slidenum">
              <a:rPr lang="ar-SA" smtClean="0"/>
              <a:pPr/>
              <a:t>56</a:t>
            </a:fld>
            <a:endParaRPr lang="en-US"/>
          </a:p>
        </p:txBody>
      </p:sp>
      <p:pic>
        <p:nvPicPr>
          <p:cNvPr id="5837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58373" name="Rectangle 3"/>
          <p:cNvSpPr>
            <a:spLocks noGrp="1" noChangeArrowheads="1"/>
          </p:cNvSpPr>
          <p:nvPr>
            <p:ph type="title"/>
          </p:nvPr>
        </p:nvSpPr>
        <p:spPr/>
        <p:txBody>
          <a:bodyPr/>
          <a:lstStyle/>
          <a:p>
            <a:r>
              <a:rPr lang="en-US"/>
              <a:t>Write-Through Caches</a:t>
            </a:r>
          </a:p>
        </p:txBody>
      </p:sp>
      <p:sp>
        <p:nvSpPr>
          <p:cNvPr id="58374" name="Rectangle 4"/>
          <p:cNvSpPr>
            <a:spLocks noGrp="1" noChangeArrowheads="1"/>
          </p:cNvSpPr>
          <p:nvPr>
            <p:ph type="body" idx="1"/>
          </p:nvPr>
        </p:nvSpPr>
        <p:spPr/>
        <p:txBody>
          <a:bodyPr/>
          <a:lstStyle/>
          <a:p>
            <a:pPr>
              <a:lnSpc>
                <a:spcPct val="90000"/>
              </a:lnSpc>
            </a:pPr>
            <a:r>
              <a:rPr lang="en-US"/>
              <a:t>Immediately broadcast changes </a:t>
            </a:r>
          </a:p>
          <a:p>
            <a:pPr>
              <a:lnSpc>
                <a:spcPct val="90000"/>
              </a:lnSpc>
            </a:pPr>
            <a:r>
              <a:rPr lang="en-US"/>
              <a:t>Good</a:t>
            </a:r>
          </a:p>
          <a:p>
            <a:pPr lvl="1">
              <a:lnSpc>
                <a:spcPct val="90000"/>
              </a:lnSpc>
            </a:pPr>
            <a:r>
              <a:rPr lang="en-US"/>
              <a:t>Memory, caches always agree</a:t>
            </a:r>
          </a:p>
          <a:p>
            <a:pPr lvl="1">
              <a:lnSpc>
                <a:spcPct val="90000"/>
              </a:lnSpc>
            </a:pPr>
            <a:r>
              <a:rPr lang="en-US"/>
              <a:t>More read hits, maybe</a:t>
            </a:r>
          </a:p>
          <a:p>
            <a:pPr>
              <a:lnSpc>
                <a:spcPct val="90000"/>
              </a:lnSpc>
            </a:pPr>
            <a:r>
              <a:rPr lang="en-US"/>
              <a:t>Bad</a:t>
            </a:r>
          </a:p>
          <a:p>
            <a:pPr lvl="1">
              <a:lnSpc>
                <a:spcPct val="90000"/>
              </a:lnSpc>
            </a:pPr>
            <a:r>
              <a:rPr lang="en-US"/>
              <a:t>Bus traffic on all writes</a:t>
            </a:r>
          </a:p>
          <a:p>
            <a:pPr lvl="1">
              <a:lnSpc>
                <a:spcPct val="90000"/>
              </a:lnSpc>
            </a:pPr>
            <a:r>
              <a:rPr lang="en-US"/>
              <a:t>Most writes to unshared data</a:t>
            </a:r>
          </a:p>
          <a:p>
            <a:pPr lvl="1">
              <a:lnSpc>
                <a:spcPct val="90000"/>
              </a:lnSpc>
            </a:pPr>
            <a:r>
              <a:rPr lang="en-US"/>
              <a:t>For example, loop indexes …</a:t>
            </a:r>
          </a:p>
        </p:txBody>
      </p:sp>
      <p:sp>
        <p:nvSpPr>
          <p:cNvPr id="58375" name="AutoShape 5"/>
          <p:cNvSpPr>
            <a:spLocks noChangeArrowheads="1"/>
          </p:cNvSpPr>
          <p:nvPr/>
        </p:nvSpPr>
        <p:spPr bwMode="auto">
          <a:xfrm>
            <a:off x="977900" y="3849688"/>
            <a:ext cx="5808663" cy="2309812"/>
          </a:xfrm>
          <a:prstGeom prst="wedgeRoundRectCallout">
            <a:avLst>
              <a:gd name="adj1" fmla="val 47130"/>
              <a:gd name="adj2" fmla="val -84296"/>
              <a:gd name="adj3" fmla="val 16667"/>
            </a:avLst>
          </a:prstGeom>
          <a:noFill/>
          <a:ln w="38100">
            <a:solidFill>
              <a:srgbClr val="FF3300"/>
            </a:solidFill>
            <a:miter lim="800000"/>
            <a:headEnd/>
            <a:tailEnd/>
          </a:ln>
        </p:spPr>
        <p:txBody>
          <a:bodyPr anchor="ctr"/>
          <a:lstStyle/>
          <a:p>
            <a:pPr algn="ctr"/>
            <a:endParaRPr lang="en-US" b="0" dirty="0">
              <a:latin typeface="Arial" pitchFamily="34" charset="0"/>
            </a:endParaRPr>
          </a:p>
        </p:txBody>
      </p:sp>
      <p:sp>
        <p:nvSpPr>
          <p:cNvPr id="58376" name="Text Box 6"/>
          <p:cNvSpPr txBox="1">
            <a:spLocks noChangeArrowheads="1"/>
          </p:cNvSpPr>
          <p:nvPr/>
        </p:nvSpPr>
        <p:spPr bwMode="auto">
          <a:xfrm>
            <a:off x="5226050" y="2538413"/>
            <a:ext cx="3576638" cy="641350"/>
          </a:xfrm>
          <a:prstGeom prst="rect">
            <a:avLst/>
          </a:prstGeom>
          <a:noFill/>
          <a:ln w="9525">
            <a:noFill/>
            <a:miter lim="800000"/>
            <a:headEnd/>
            <a:tailEnd/>
          </a:ln>
        </p:spPr>
        <p:txBody>
          <a:bodyPr wrap="none">
            <a:spAutoFit/>
          </a:bodyPr>
          <a:lstStyle/>
          <a:p>
            <a:pPr algn="r"/>
            <a:r>
              <a:rPr lang="en-US" sz="3600" b="0" dirty="0">
                <a:solidFill>
                  <a:srgbClr val="FF3300"/>
                </a:solidFill>
                <a:latin typeface="Arial" pitchFamily="34" charset="0"/>
              </a:rPr>
              <a:t>“show stoppers”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oter Placeholder 3"/>
          <p:cNvSpPr>
            <a:spLocks noGrp="1"/>
          </p:cNvSpPr>
          <p:nvPr>
            <p:ph type="ftr" sz="quarter" idx="10"/>
          </p:nvPr>
        </p:nvSpPr>
        <p:spPr>
          <a:noFill/>
        </p:spPr>
        <p:txBody>
          <a:bodyPr/>
          <a:lstStyle/>
          <a:p>
            <a:r>
              <a:rPr lang="en-US"/>
              <a:t>Art of Multiprocessor Programming</a:t>
            </a:r>
          </a:p>
        </p:txBody>
      </p:sp>
      <p:sp>
        <p:nvSpPr>
          <p:cNvPr id="59395" name="Slide Number Placeholder 4"/>
          <p:cNvSpPr>
            <a:spLocks noGrp="1"/>
          </p:cNvSpPr>
          <p:nvPr>
            <p:ph type="sldNum" sz="quarter" idx="11"/>
          </p:nvPr>
        </p:nvSpPr>
        <p:spPr>
          <a:noFill/>
        </p:spPr>
        <p:txBody>
          <a:bodyPr/>
          <a:lstStyle/>
          <a:p>
            <a:fld id="{D1986100-18ED-4691-86AF-1FBAD2E7670A}" type="slidenum">
              <a:rPr lang="ar-SA" smtClean="0"/>
              <a:pPr/>
              <a:t>57</a:t>
            </a:fld>
            <a:endParaRPr lang="en-US"/>
          </a:p>
        </p:txBody>
      </p:sp>
      <p:pic>
        <p:nvPicPr>
          <p:cNvPr id="5939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59397" name="Rectangle 3"/>
          <p:cNvSpPr>
            <a:spLocks noGrp="1" noChangeArrowheads="1"/>
          </p:cNvSpPr>
          <p:nvPr>
            <p:ph type="title"/>
          </p:nvPr>
        </p:nvSpPr>
        <p:spPr/>
        <p:txBody>
          <a:bodyPr/>
          <a:lstStyle/>
          <a:p>
            <a:r>
              <a:rPr lang="en-US"/>
              <a:t>Write-Back Caches</a:t>
            </a:r>
          </a:p>
        </p:txBody>
      </p:sp>
      <p:sp>
        <p:nvSpPr>
          <p:cNvPr id="59398" name="Rectangle 4"/>
          <p:cNvSpPr>
            <a:spLocks noGrp="1" noChangeArrowheads="1"/>
          </p:cNvSpPr>
          <p:nvPr>
            <p:ph type="body" idx="1"/>
          </p:nvPr>
        </p:nvSpPr>
        <p:spPr/>
        <p:txBody>
          <a:bodyPr/>
          <a:lstStyle/>
          <a:p>
            <a:r>
              <a:rPr lang="en-US"/>
              <a:t>Accumulate changes in cache</a:t>
            </a:r>
          </a:p>
          <a:p>
            <a:r>
              <a:rPr lang="en-US"/>
              <a:t>Write back when line evicted</a:t>
            </a:r>
          </a:p>
          <a:p>
            <a:pPr lvl="1"/>
            <a:r>
              <a:rPr lang="en-US"/>
              <a:t>Need the cache for something else</a:t>
            </a:r>
          </a:p>
          <a:p>
            <a:pPr lvl="1"/>
            <a:r>
              <a:rPr lang="en-US"/>
              <a:t>Another processor wants it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3"/>
          <p:cNvSpPr>
            <a:spLocks noGrp="1"/>
          </p:cNvSpPr>
          <p:nvPr>
            <p:ph type="ftr" sz="quarter" idx="10"/>
          </p:nvPr>
        </p:nvSpPr>
        <p:spPr>
          <a:noFill/>
        </p:spPr>
        <p:txBody>
          <a:bodyPr/>
          <a:lstStyle/>
          <a:p>
            <a:r>
              <a:rPr lang="en-US"/>
              <a:t>Art of Multiprocessor Programming</a:t>
            </a:r>
          </a:p>
        </p:txBody>
      </p:sp>
      <p:sp>
        <p:nvSpPr>
          <p:cNvPr id="60419" name="Slide Number Placeholder 4"/>
          <p:cNvSpPr>
            <a:spLocks noGrp="1"/>
          </p:cNvSpPr>
          <p:nvPr>
            <p:ph type="sldNum" sz="quarter" idx="11"/>
          </p:nvPr>
        </p:nvSpPr>
        <p:spPr>
          <a:noFill/>
        </p:spPr>
        <p:txBody>
          <a:bodyPr/>
          <a:lstStyle/>
          <a:p>
            <a:fld id="{EAAD8989-F920-438F-818F-98217646E8F9}" type="slidenum">
              <a:rPr lang="ar-SA" smtClean="0"/>
              <a:pPr/>
              <a:t>58</a:t>
            </a:fld>
            <a:endParaRPr lang="en-US"/>
          </a:p>
        </p:txBody>
      </p:sp>
      <p:pic>
        <p:nvPicPr>
          <p:cNvPr id="6042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60421" name="AutoShape 3"/>
          <p:cNvSpPr>
            <a:spLocks noChangeArrowheads="1"/>
          </p:cNvSpPr>
          <p:nvPr/>
        </p:nvSpPr>
        <p:spPr bwMode="auto">
          <a:xfrm>
            <a:off x="1208088" y="4308475"/>
            <a:ext cx="6626225" cy="641350"/>
          </a:xfrm>
          <a:prstGeom prst="leftRightArrow">
            <a:avLst>
              <a:gd name="adj1" fmla="val 40102"/>
              <a:gd name="adj2" fmla="val 81458"/>
            </a:avLst>
          </a:prstGeom>
          <a:solidFill>
            <a:schemeClr val="folHlink"/>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60422" name="Rectangle 4"/>
          <p:cNvSpPr>
            <a:spLocks noGrp="1" noChangeArrowheads="1"/>
          </p:cNvSpPr>
          <p:nvPr>
            <p:ph type="title"/>
          </p:nvPr>
        </p:nvSpPr>
        <p:spPr/>
        <p:txBody>
          <a:bodyPr/>
          <a:lstStyle/>
          <a:p>
            <a:r>
              <a:rPr lang="en-US"/>
              <a:t>Invalidate</a:t>
            </a:r>
          </a:p>
        </p:txBody>
      </p:sp>
      <p:grpSp>
        <p:nvGrpSpPr>
          <p:cNvPr id="60423" name="Group 5"/>
          <p:cNvGrpSpPr>
            <a:grpSpLocks/>
          </p:cNvGrpSpPr>
          <p:nvPr/>
        </p:nvGrpSpPr>
        <p:grpSpPr bwMode="auto">
          <a:xfrm flipH="1">
            <a:off x="5480050" y="2441575"/>
            <a:ext cx="1358900" cy="1282700"/>
            <a:chOff x="1008" y="2720"/>
            <a:chExt cx="856" cy="808"/>
          </a:xfrm>
        </p:grpSpPr>
        <p:sp>
          <p:nvSpPr>
            <p:cNvPr id="60460" name="Rectangle 6"/>
            <p:cNvSpPr>
              <a:spLocks noChangeArrowheads="1"/>
            </p:cNvSpPr>
            <p:nvPr/>
          </p:nvSpPr>
          <p:spPr bwMode="auto">
            <a:xfrm>
              <a:off x="1032" y="3304"/>
              <a:ext cx="488" cy="160"/>
            </a:xfrm>
            <a:prstGeom prst="rect">
              <a:avLst/>
            </a:prstGeom>
            <a:solidFill>
              <a:schemeClr val="folHlink"/>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60461" name="Freeform 7"/>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62" name="Freeform 8"/>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63" name="Freeform 9"/>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64" name="Freeform 10"/>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60465" name="Freeform 11"/>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chemeClr val="folHlink"/>
            </a:solidFill>
            <a:ln w="38100">
              <a:solidFill>
                <a:schemeClr val="tx1"/>
              </a:solidFill>
              <a:round/>
              <a:headEnd/>
              <a:tailEnd/>
            </a:ln>
          </p:spPr>
          <p:txBody>
            <a:bodyPr wrap="none" anchor="ctr"/>
            <a:lstStyle/>
            <a:p>
              <a:endParaRPr lang="en-US" dirty="0">
                <a:latin typeface="Arial" pitchFamily="34" charset="0"/>
              </a:endParaRPr>
            </a:p>
          </p:txBody>
        </p:sp>
        <p:sp>
          <p:nvSpPr>
            <p:cNvPr id="60466" name="Freeform 12"/>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67" name="Freeform 13"/>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68" name="Freeform 14"/>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146895" name="AutoShape 15"/>
          <p:cNvSpPr>
            <a:spLocks noChangeArrowheads="1"/>
          </p:cNvSpPr>
          <p:nvPr/>
        </p:nvSpPr>
        <p:spPr bwMode="auto">
          <a:xfrm>
            <a:off x="1182688" y="4298950"/>
            <a:ext cx="6626225" cy="641350"/>
          </a:xfrm>
          <a:prstGeom prst="leftRightArrow">
            <a:avLst>
              <a:gd name="adj1" fmla="val 40102"/>
              <a:gd name="adj2" fmla="val 81458"/>
            </a:avLst>
          </a:prstGeom>
          <a:solidFill>
            <a:srgbClr val="FF3300"/>
          </a:solidFill>
          <a:ln w="38100">
            <a:solidFill>
              <a:schemeClr val="tx1"/>
            </a:solidFill>
            <a:miter lim="800000"/>
            <a:headEnd/>
            <a:tailEnd/>
          </a:ln>
        </p:spPr>
        <p:txBody>
          <a:bodyPr wrap="none" anchor="ctr"/>
          <a:lstStyle/>
          <a:p>
            <a:pPr algn="ctr"/>
            <a:r>
              <a:rPr lang="en-US" sz="2000" b="0" dirty="0">
                <a:solidFill>
                  <a:schemeClr val="tx2"/>
                </a:solidFill>
                <a:latin typeface="Arial" pitchFamily="34" charset="0"/>
              </a:rPr>
              <a:t>Bus</a:t>
            </a:r>
          </a:p>
        </p:txBody>
      </p:sp>
      <p:sp>
        <p:nvSpPr>
          <p:cNvPr id="60425" name="Rectangle 16"/>
          <p:cNvSpPr>
            <a:spLocks noChangeArrowheads="1"/>
          </p:cNvSpPr>
          <p:nvPr/>
        </p:nvSpPr>
        <p:spPr bwMode="auto">
          <a:xfrm>
            <a:off x="1747838" y="5262563"/>
            <a:ext cx="5567362" cy="881062"/>
          </a:xfrm>
          <a:prstGeom prst="rect">
            <a:avLst/>
          </a:prstGeom>
          <a:solidFill>
            <a:schemeClr val="hlink"/>
          </a:solidFill>
          <a:ln w="38100">
            <a:solidFill>
              <a:schemeClr val="tx1"/>
            </a:solidFill>
            <a:miter lim="800000"/>
            <a:headEnd/>
            <a:tailEnd/>
          </a:ln>
        </p:spPr>
        <p:txBody>
          <a:bodyPr wrap="none" anchor="ctr"/>
          <a:lstStyle/>
          <a:p>
            <a:pPr algn="ctr"/>
            <a:r>
              <a:rPr lang="en-US" b="0" dirty="0">
                <a:solidFill>
                  <a:schemeClr val="tx2"/>
                </a:solidFill>
                <a:latin typeface="Arial" pitchFamily="34" charset="0"/>
              </a:rPr>
              <a:t>memory</a:t>
            </a:r>
          </a:p>
        </p:txBody>
      </p:sp>
      <p:sp>
        <p:nvSpPr>
          <p:cNvPr id="60426" name="AutoShape 17"/>
          <p:cNvSpPr>
            <a:spLocks noChangeArrowheads="1"/>
          </p:cNvSpPr>
          <p:nvPr/>
        </p:nvSpPr>
        <p:spPr bwMode="auto">
          <a:xfrm>
            <a:off x="4025900" y="4829175"/>
            <a:ext cx="819150" cy="352425"/>
          </a:xfrm>
          <a:prstGeom prst="upDownArrow">
            <a:avLst>
              <a:gd name="adj1" fmla="val 50000"/>
              <a:gd name="adj2" fmla="val 33782"/>
            </a:avLst>
          </a:prstGeom>
          <a:solidFill>
            <a:schemeClr val="hlink"/>
          </a:solidFill>
          <a:ln w="38100">
            <a:solidFill>
              <a:schemeClr val="tx1"/>
            </a:solidFill>
            <a:miter lim="800000"/>
            <a:headEnd/>
            <a:tailEnd/>
          </a:ln>
        </p:spPr>
        <p:txBody>
          <a:bodyPr wrap="none" anchor="ctr"/>
          <a:lstStyle/>
          <a:p>
            <a:endParaRPr lang="en-US" dirty="0">
              <a:latin typeface="Arial" pitchFamily="34" charset="0"/>
            </a:endParaRPr>
          </a:p>
        </p:txBody>
      </p:sp>
      <p:sp>
        <p:nvSpPr>
          <p:cNvPr id="60427" name="Rectangle 18"/>
          <p:cNvSpPr>
            <a:spLocks noChangeArrowheads="1"/>
          </p:cNvSpPr>
          <p:nvPr/>
        </p:nvSpPr>
        <p:spPr bwMode="auto">
          <a:xfrm>
            <a:off x="5665788" y="3887788"/>
            <a:ext cx="1203325" cy="385762"/>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grpSp>
        <p:nvGrpSpPr>
          <p:cNvPr id="60428" name="Group 19"/>
          <p:cNvGrpSpPr>
            <a:grpSpLocks/>
          </p:cNvGrpSpPr>
          <p:nvPr/>
        </p:nvGrpSpPr>
        <p:grpSpPr bwMode="auto">
          <a:xfrm>
            <a:off x="3732213" y="2495550"/>
            <a:ext cx="1130300" cy="1173163"/>
            <a:chOff x="2496" y="2725"/>
            <a:chExt cx="712" cy="739"/>
          </a:xfrm>
        </p:grpSpPr>
        <p:sp>
          <p:nvSpPr>
            <p:cNvPr id="60450" name="Rectangle 20"/>
            <p:cNvSpPr>
              <a:spLocks noChangeArrowheads="1"/>
            </p:cNvSpPr>
            <p:nvPr/>
          </p:nvSpPr>
          <p:spPr bwMode="auto">
            <a:xfrm>
              <a:off x="2592" y="3312"/>
              <a:ext cx="528" cy="144"/>
            </a:xfrm>
            <a:prstGeom prst="rect">
              <a:avLst/>
            </a:prstGeom>
            <a:solidFill>
              <a:srgbClr val="FF0000"/>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60451" name="Freeform 2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grpSp>
          <p:nvGrpSpPr>
            <p:cNvPr id="60452" name="Group 22"/>
            <p:cNvGrpSpPr>
              <a:grpSpLocks/>
            </p:cNvGrpSpPr>
            <p:nvPr/>
          </p:nvGrpSpPr>
          <p:grpSpPr bwMode="auto">
            <a:xfrm>
              <a:off x="3072" y="2832"/>
              <a:ext cx="136" cy="632"/>
              <a:chOff x="3072" y="2832"/>
              <a:chExt cx="136" cy="632"/>
            </a:xfrm>
          </p:grpSpPr>
          <p:sp>
            <p:nvSpPr>
              <p:cNvPr id="60457" name="Freeform 2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58" name="Freeform 24"/>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59" name="Freeform 25"/>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60453" name="Group 26"/>
            <p:cNvGrpSpPr>
              <a:grpSpLocks/>
            </p:cNvGrpSpPr>
            <p:nvPr/>
          </p:nvGrpSpPr>
          <p:grpSpPr bwMode="auto">
            <a:xfrm flipH="1">
              <a:off x="2496" y="2832"/>
              <a:ext cx="136" cy="632"/>
              <a:chOff x="3072" y="2832"/>
              <a:chExt cx="136" cy="632"/>
            </a:xfrm>
          </p:grpSpPr>
          <p:sp>
            <p:nvSpPr>
              <p:cNvPr id="60454" name="Freeform 2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55" name="Freeform 28"/>
              <p:cNvSpPr>
                <a:spLocks/>
              </p:cNvSpPr>
              <p:nvPr/>
            </p:nvSpPr>
            <p:spPr bwMode="auto">
              <a:xfrm>
                <a:off x="3072" y="2976"/>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56" name="Freeform 29"/>
              <p:cNvSpPr>
                <a:spLocks/>
              </p:cNvSpPr>
              <p:nvPr/>
            </p:nvSpPr>
            <p:spPr bwMode="auto">
              <a:xfrm>
                <a:off x="3072" y="2832"/>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grpSp>
        <p:nvGrpSpPr>
          <p:cNvPr id="60429" name="Group 30"/>
          <p:cNvGrpSpPr>
            <a:grpSpLocks/>
          </p:cNvGrpSpPr>
          <p:nvPr/>
        </p:nvGrpSpPr>
        <p:grpSpPr bwMode="auto">
          <a:xfrm>
            <a:off x="1757363" y="2441575"/>
            <a:ext cx="1358900" cy="1282700"/>
            <a:chOff x="1008" y="2720"/>
            <a:chExt cx="856" cy="808"/>
          </a:xfrm>
        </p:grpSpPr>
        <p:sp>
          <p:nvSpPr>
            <p:cNvPr id="60441" name="Rectangle 31"/>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endParaRPr lang="en-US" dirty="0">
                <a:latin typeface="Arial" pitchFamily="34" charset="0"/>
              </a:endParaRPr>
            </a:p>
          </p:txBody>
        </p:sp>
        <p:sp>
          <p:nvSpPr>
            <p:cNvPr id="60442" name="Freeform 32"/>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43" name="Freeform 33"/>
            <p:cNvSpPr>
              <a:spLocks/>
            </p:cNvSpPr>
            <p:nvPr/>
          </p:nvSpPr>
          <p:spPr bwMode="auto">
            <a:xfrm flipH="1">
              <a:off x="1077" y="3000"/>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44" name="Freeform 34"/>
            <p:cNvSpPr>
              <a:spLocks/>
            </p:cNvSpPr>
            <p:nvPr/>
          </p:nvSpPr>
          <p:spPr bwMode="auto">
            <a:xfrm flipH="1">
              <a:off x="1200" y="280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45" name="Freeform 35"/>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60446" name="Freeform 36"/>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endParaRPr lang="en-US" dirty="0">
                <a:latin typeface="Arial" pitchFamily="34" charset="0"/>
              </a:endParaRPr>
            </a:p>
          </p:txBody>
        </p:sp>
        <p:sp>
          <p:nvSpPr>
            <p:cNvPr id="60447" name="Freeform 37"/>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48" name="Freeform 38"/>
            <p:cNvSpPr>
              <a:spLocks/>
            </p:cNvSpPr>
            <p:nvPr/>
          </p:nvSpPr>
          <p:spPr bwMode="auto">
            <a:xfrm>
              <a:off x="1669" y="3008"/>
              <a:ext cx="123" cy="312"/>
            </a:xfrm>
            <a:custGeom>
              <a:avLst/>
              <a:gdLst>
                <a:gd name="T0" fmla="*/ 13 w 136"/>
                <a:gd name="T1" fmla="*/ 0 h 344"/>
                <a:gd name="T2" fmla="*/ 73 w 136"/>
                <a:gd name="T3" fmla="*/ 0 h 344"/>
                <a:gd name="T4" fmla="*/ 73 w 136"/>
                <a:gd name="T5" fmla="*/ 128 h 344"/>
                <a:gd name="T6" fmla="*/ 58 w 136"/>
                <a:gd name="T7" fmla="*/ 191 h 344"/>
                <a:gd name="T8" fmla="*/ 58 w 136"/>
                <a:gd name="T9" fmla="*/ 49 h 344"/>
                <a:gd name="T10" fmla="*/ 0 w 136"/>
                <a:gd name="T11" fmla="*/ 49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449" name="Freeform 39"/>
            <p:cNvSpPr>
              <a:spLocks/>
            </p:cNvSpPr>
            <p:nvPr/>
          </p:nvSpPr>
          <p:spPr bwMode="auto">
            <a:xfrm>
              <a:off x="1737" y="2840"/>
              <a:ext cx="127" cy="320"/>
            </a:xfrm>
            <a:custGeom>
              <a:avLst/>
              <a:gdLst>
                <a:gd name="T0" fmla="*/ 17 w 136"/>
                <a:gd name="T1" fmla="*/ 0 h 344"/>
                <a:gd name="T2" fmla="*/ 91 w 136"/>
                <a:gd name="T3" fmla="*/ 0 h 344"/>
                <a:gd name="T4" fmla="*/ 91 w 136"/>
                <a:gd name="T5" fmla="*/ 151 h 344"/>
                <a:gd name="T6" fmla="*/ 70 w 136"/>
                <a:gd name="T7" fmla="*/ 223 h 344"/>
                <a:gd name="T8" fmla="*/ 70 w 136"/>
                <a:gd name="T9" fmla="*/ 57 h 344"/>
                <a:gd name="T10" fmla="*/ 0 w 136"/>
                <a:gd name="T11" fmla="*/ 57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60430" name="Rectangle 40"/>
          <p:cNvSpPr>
            <a:spLocks noChangeArrowheads="1"/>
          </p:cNvSpPr>
          <p:nvPr/>
        </p:nvSpPr>
        <p:spPr bwMode="auto">
          <a:xfrm>
            <a:off x="3792538" y="3887788"/>
            <a:ext cx="1203325" cy="385762"/>
          </a:xfrm>
          <a:prstGeom prst="rect">
            <a:avLst/>
          </a:prstGeom>
          <a:solidFill>
            <a:schemeClr val="bg1"/>
          </a:solidFill>
          <a:ln w="38100">
            <a:solidFill>
              <a:schemeClr val="tx1"/>
            </a:solidFill>
            <a:miter lim="800000"/>
            <a:headEnd/>
            <a:tailEnd/>
          </a:ln>
        </p:spPr>
        <p:txBody>
          <a:bodyPr wrap="none" anchor="ctr"/>
          <a:lstStyle/>
          <a:p>
            <a:pPr algn="ctr"/>
            <a:r>
              <a:rPr lang="en-US" sz="2400" b="0" dirty="0">
                <a:solidFill>
                  <a:schemeClr val="accent2"/>
                </a:solidFill>
                <a:latin typeface="Arial" pitchFamily="34" charset="0"/>
              </a:rPr>
              <a:t>data</a:t>
            </a:r>
          </a:p>
        </p:txBody>
      </p:sp>
      <p:sp>
        <p:nvSpPr>
          <p:cNvPr id="1146921" name="AutoShape 41"/>
          <p:cNvSpPr>
            <a:spLocks noChangeArrowheads="1"/>
          </p:cNvSpPr>
          <p:nvPr/>
        </p:nvSpPr>
        <p:spPr bwMode="auto">
          <a:xfrm>
            <a:off x="4132263" y="3665538"/>
            <a:ext cx="465137" cy="882650"/>
          </a:xfrm>
          <a:prstGeom prst="upDownArrow">
            <a:avLst>
              <a:gd name="adj1" fmla="val 50000"/>
              <a:gd name="adj2" fmla="val 37952"/>
            </a:avLst>
          </a:prstGeom>
          <a:solidFill>
            <a:srgbClr val="FF3300"/>
          </a:solidFill>
          <a:ln w="38100">
            <a:solidFill>
              <a:schemeClr val="tx1"/>
            </a:solidFill>
            <a:miter lim="800000"/>
            <a:headEnd/>
            <a:tailEnd/>
          </a:ln>
        </p:spPr>
        <p:txBody>
          <a:bodyPr wrap="none" anchor="ctr"/>
          <a:lstStyle/>
          <a:p>
            <a:pPr algn="r"/>
            <a:endParaRPr lang="en-US" b="0" dirty="0">
              <a:latin typeface="Arial" pitchFamily="34" charset="0"/>
            </a:endParaRPr>
          </a:p>
        </p:txBody>
      </p:sp>
      <p:sp>
        <p:nvSpPr>
          <p:cNvPr id="60432" name="Rectangle 42"/>
          <p:cNvSpPr>
            <a:spLocks noChangeArrowheads="1"/>
          </p:cNvSpPr>
          <p:nvPr/>
        </p:nvSpPr>
        <p:spPr bwMode="auto">
          <a:xfrm>
            <a:off x="1919288" y="3887788"/>
            <a:ext cx="1203325" cy="385762"/>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60433" name="Rectangle 43"/>
          <p:cNvSpPr>
            <a:spLocks noChangeArrowheads="1"/>
          </p:cNvSpPr>
          <p:nvPr/>
        </p:nvSpPr>
        <p:spPr bwMode="auto">
          <a:xfrm>
            <a:off x="5689600" y="5573713"/>
            <a:ext cx="1203325" cy="385762"/>
          </a:xfrm>
          <a:prstGeom prst="rect">
            <a:avLst/>
          </a:prstGeom>
          <a:solidFill>
            <a:schemeClr val="accent2"/>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data</a:t>
            </a:r>
          </a:p>
        </p:txBody>
      </p:sp>
      <p:sp>
        <p:nvSpPr>
          <p:cNvPr id="1146924" name="Rectangle 44"/>
          <p:cNvSpPr>
            <a:spLocks noChangeArrowheads="1"/>
          </p:cNvSpPr>
          <p:nvPr/>
        </p:nvSpPr>
        <p:spPr bwMode="auto">
          <a:xfrm>
            <a:off x="1903413" y="3895725"/>
            <a:ext cx="1203325" cy="385763"/>
          </a:xfrm>
          <a:prstGeom prst="rect">
            <a:avLst/>
          </a:prstGeom>
          <a:solidFill>
            <a:schemeClr val="folHlink"/>
          </a:solidFill>
          <a:ln w="38100">
            <a:solidFill>
              <a:schemeClr val="tx1"/>
            </a:solidFill>
            <a:miter lim="800000"/>
            <a:headEnd/>
            <a:tailEnd/>
          </a:ln>
        </p:spPr>
        <p:txBody>
          <a:bodyPr wrap="none" anchor="ctr"/>
          <a:lstStyle/>
          <a:p>
            <a:pPr algn="ctr"/>
            <a:r>
              <a:rPr lang="en-US" sz="2400" b="0" dirty="0">
                <a:solidFill>
                  <a:schemeClr val="bg1"/>
                </a:solidFill>
                <a:latin typeface="Arial" pitchFamily="34" charset="0"/>
              </a:rPr>
              <a:t>cache</a:t>
            </a:r>
          </a:p>
        </p:txBody>
      </p:sp>
      <p:sp>
        <p:nvSpPr>
          <p:cNvPr id="1146925" name="AutoShape 45"/>
          <p:cNvSpPr>
            <a:spLocks noChangeArrowheads="1"/>
          </p:cNvSpPr>
          <p:nvPr/>
        </p:nvSpPr>
        <p:spPr bwMode="auto">
          <a:xfrm>
            <a:off x="5561013" y="1211263"/>
            <a:ext cx="1941512" cy="1187450"/>
          </a:xfrm>
          <a:prstGeom prst="cloudCallout">
            <a:avLst>
              <a:gd name="adj1" fmla="val -88676"/>
              <a:gd name="adj2" fmla="val 55347"/>
            </a:avLst>
          </a:prstGeom>
          <a:solidFill>
            <a:srgbClr val="FF3300">
              <a:alpha val="30196"/>
            </a:srgbClr>
          </a:solidFill>
          <a:ln w="38100">
            <a:solidFill>
              <a:schemeClr val="tx1"/>
            </a:solidFill>
            <a:round/>
            <a:headEnd/>
            <a:tailEnd/>
          </a:ln>
        </p:spPr>
        <p:txBody>
          <a:bodyPr anchor="ctr"/>
          <a:lstStyle/>
          <a:p>
            <a:pPr algn="ctr"/>
            <a:endParaRPr lang="en-US" sz="3600" b="0" dirty="0">
              <a:latin typeface="Arial" pitchFamily="34" charset="0"/>
            </a:endParaRPr>
          </a:p>
        </p:txBody>
      </p:sp>
      <p:sp>
        <p:nvSpPr>
          <p:cNvPr id="1146926" name="Rectangle 46"/>
          <p:cNvSpPr>
            <a:spLocks noChangeArrowheads="1"/>
          </p:cNvSpPr>
          <p:nvPr/>
        </p:nvSpPr>
        <p:spPr bwMode="auto">
          <a:xfrm>
            <a:off x="5762625" y="1397000"/>
            <a:ext cx="1647825" cy="830997"/>
          </a:xfrm>
          <a:prstGeom prst="rect">
            <a:avLst/>
          </a:prstGeom>
          <a:noFill/>
          <a:ln w="9525">
            <a:noFill/>
            <a:miter lim="800000"/>
            <a:headEnd/>
            <a:tailEnd/>
          </a:ln>
        </p:spPr>
        <p:txBody>
          <a:bodyPr>
            <a:spAutoFit/>
          </a:bodyPr>
          <a:lstStyle/>
          <a:p>
            <a:pPr algn="ctr"/>
            <a:r>
              <a:rPr lang="en-US" sz="2400" b="0" dirty="0">
                <a:latin typeface="Arial" pitchFamily="34" charset="0"/>
              </a:rPr>
              <a:t>Invalidate x</a:t>
            </a:r>
          </a:p>
        </p:txBody>
      </p:sp>
      <p:sp>
        <p:nvSpPr>
          <p:cNvPr id="60437" name="Oval 49"/>
          <p:cNvSpPr>
            <a:spLocks noChangeArrowheads="1"/>
          </p:cNvSpPr>
          <p:nvPr/>
        </p:nvSpPr>
        <p:spPr bwMode="auto">
          <a:xfrm>
            <a:off x="3213100" y="3721100"/>
            <a:ext cx="660400" cy="660400"/>
          </a:xfrm>
          <a:prstGeom prst="ellipse">
            <a:avLst/>
          </a:prstGeom>
          <a:solidFill>
            <a:schemeClr val="bg1"/>
          </a:solidFill>
          <a:ln w="38100">
            <a:solidFill>
              <a:schemeClr val="tx1"/>
            </a:solidFill>
            <a:round/>
            <a:headEnd/>
            <a:tailEnd/>
          </a:ln>
        </p:spPr>
        <p:txBody>
          <a:bodyPr wrap="none" anchor="ctr"/>
          <a:lstStyle/>
          <a:p>
            <a:pPr algn="ctr"/>
            <a:r>
              <a:rPr lang="en-US" dirty="0">
                <a:latin typeface="Arial" pitchFamily="34" charset="0"/>
              </a:rPr>
              <a:t>S</a:t>
            </a:r>
          </a:p>
        </p:txBody>
      </p:sp>
      <p:sp>
        <p:nvSpPr>
          <p:cNvPr id="60438" name="Oval 50"/>
          <p:cNvSpPr>
            <a:spLocks noChangeArrowheads="1"/>
          </p:cNvSpPr>
          <p:nvPr/>
        </p:nvSpPr>
        <p:spPr bwMode="auto">
          <a:xfrm>
            <a:off x="1006475" y="3736975"/>
            <a:ext cx="660400" cy="660400"/>
          </a:xfrm>
          <a:prstGeom prst="ellipse">
            <a:avLst/>
          </a:prstGeom>
          <a:solidFill>
            <a:schemeClr val="bg1"/>
          </a:solidFill>
          <a:ln w="38100">
            <a:solidFill>
              <a:schemeClr val="tx1"/>
            </a:solidFill>
            <a:round/>
            <a:headEnd/>
            <a:tailEnd/>
          </a:ln>
        </p:spPr>
        <p:txBody>
          <a:bodyPr wrap="none" anchor="ctr"/>
          <a:lstStyle/>
          <a:p>
            <a:pPr algn="ctr"/>
            <a:r>
              <a:rPr lang="en-US" dirty="0">
                <a:latin typeface="Arial" pitchFamily="34" charset="0"/>
              </a:rPr>
              <a:t>S</a:t>
            </a:r>
          </a:p>
        </p:txBody>
      </p:sp>
      <p:sp>
        <p:nvSpPr>
          <p:cNvPr id="1146931" name="Oval 51"/>
          <p:cNvSpPr>
            <a:spLocks noChangeArrowheads="1"/>
          </p:cNvSpPr>
          <p:nvPr/>
        </p:nvSpPr>
        <p:spPr bwMode="auto">
          <a:xfrm>
            <a:off x="3236913" y="3730625"/>
            <a:ext cx="660400" cy="660400"/>
          </a:xfrm>
          <a:prstGeom prst="ellipse">
            <a:avLst/>
          </a:prstGeom>
          <a:solidFill>
            <a:schemeClr val="bg1"/>
          </a:solidFill>
          <a:ln w="38100">
            <a:solidFill>
              <a:schemeClr val="tx1"/>
            </a:solidFill>
            <a:round/>
            <a:headEnd/>
            <a:tailEnd/>
          </a:ln>
        </p:spPr>
        <p:txBody>
          <a:bodyPr wrap="none" anchor="ctr"/>
          <a:lstStyle/>
          <a:p>
            <a:pPr algn="ctr"/>
            <a:r>
              <a:rPr lang="en-US" dirty="0">
                <a:latin typeface="Arial" pitchFamily="34" charset="0"/>
              </a:rPr>
              <a:t>M</a:t>
            </a:r>
          </a:p>
        </p:txBody>
      </p:sp>
      <p:sp>
        <p:nvSpPr>
          <p:cNvPr id="1146932" name="Oval 52"/>
          <p:cNvSpPr>
            <a:spLocks noChangeArrowheads="1"/>
          </p:cNvSpPr>
          <p:nvPr/>
        </p:nvSpPr>
        <p:spPr bwMode="auto">
          <a:xfrm>
            <a:off x="1030288" y="3746500"/>
            <a:ext cx="660400" cy="660400"/>
          </a:xfrm>
          <a:prstGeom prst="ellipse">
            <a:avLst/>
          </a:prstGeom>
          <a:solidFill>
            <a:schemeClr val="bg1"/>
          </a:solidFill>
          <a:ln w="38100">
            <a:solidFill>
              <a:schemeClr val="tx1"/>
            </a:solidFill>
            <a:round/>
            <a:headEnd/>
            <a:tailEnd/>
          </a:ln>
        </p:spPr>
        <p:txBody>
          <a:bodyPr wrap="none" anchor="ctr"/>
          <a:lstStyle/>
          <a:p>
            <a:pPr algn="ctr"/>
            <a:r>
              <a:rPr lang="en-US" dirty="0">
                <a:latin typeface="Arial" pitchFamily="34" charset="0"/>
              </a:rPr>
              <a:t>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46926"/>
                                        </p:tgtEl>
                                        <p:attrNameLst>
                                          <p:attrName>style.visibility</p:attrName>
                                        </p:attrNameLst>
                                      </p:cBhvr>
                                      <p:to>
                                        <p:strVal val="visible"/>
                                      </p:to>
                                    </p:set>
                                    <p:animEffect transition="in" filter="blinds(horizontal)">
                                      <p:cBhvr>
                                        <p:cTn id="7" dur="500"/>
                                        <p:tgtEl>
                                          <p:spTgt spid="114692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46925"/>
                                        </p:tgtEl>
                                        <p:attrNameLst>
                                          <p:attrName>style.visibility</p:attrName>
                                        </p:attrNameLst>
                                      </p:cBhvr>
                                      <p:to>
                                        <p:strVal val="visible"/>
                                      </p:to>
                                    </p:set>
                                    <p:animEffect transition="in" filter="blinds(horizontal)">
                                      <p:cBhvr>
                                        <p:cTn id="10" dur="500"/>
                                        <p:tgtEl>
                                          <p:spTgt spid="1146925"/>
                                        </p:tgtEl>
                                      </p:cBhvr>
                                    </p:animEffect>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1146921"/>
                                        </p:tgtEl>
                                        <p:attrNameLst>
                                          <p:attrName>style.visibility</p:attrName>
                                        </p:attrNameLst>
                                      </p:cBhvr>
                                      <p:to>
                                        <p:strVal val="visible"/>
                                      </p:to>
                                    </p:set>
                                    <p:animEffect transition="in" filter="blinds(horizontal)">
                                      <p:cBhvr>
                                        <p:cTn id="14" dur="500"/>
                                        <p:tgtEl>
                                          <p:spTgt spid="1146921"/>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1146895"/>
                                        </p:tgtEl>
                                        <p:attrNameLst>
                                          <p:attrName>style.visibility</p:attrName>
                                        </p:attrNameLst>
                                      </p:cBhvr>
                                      <p:to>
                                        <p:strVal val="visible"/>
                                      </p:to>
                                    </p:set>
                                    <p:animEffect transition="in" filter="blinds(horizontal)">
                                      <p:cBhvr>
                                        <p:cTn id="17" dur="500"/>
                                        <p:tgtEl>
                                          <p:spTgt spid="1146895"/>
                                        </p:tgtEl>
                                      </p:cBhvr>
                                    </p:animEffect>
                                  </p:childTnLst>
                                </p:cTn>
                              </p:par>
                            </p:childTnLst>
                          </p:cTn>
                        </p:par>
                        <p:par>
                          <p:cTn id="18" fill="hold">
                            <p:stCondLst>
                              <p:cond delay="1000"/>
                            </p:stCondLst>
                            <p:childTnLst>
                              <p:par>
                                <p:cTn id="19" presetID="3" presetClass="entr" presetSubtype="10" fill="hold" grpId="0" nodeType="afterEffect">
                                  <p:stCondLst>
                                    <p:cond delay="0"/>
                                  </p:stCondLst>
                                  <p:childTnLst>
                                    <p:set>
                                      <p:cBhvr>
                                        <p:cTn id="20" dur="1" fill="hold">
                                          <p:stCondLst>
                                            <p:cond delay="0"/>
                                          </p:stCondLst>
                                        </p:cTn>
                                        <p:tgtEl>
                                          <p:spTgt spid="1146924"/>
                                        </p:tgtEl>
                                        <p:attrNameLst>
                                          <p:attrName>style.visibility</p:attrName>
                                        </p:attrNameLst>
                                      </p:cBhvr>
                                      <p:to>
                                        <p:strVal val="visible"/>
                                      </p:to>
                                    </p:set>
                                    <p:animEffect transition="in" filter="blinds(horizontal)">
                                      <p:cBhvr>
                                        <p:cTn id="21" dur="500"/>
                                        <p:tgtEl>
                                          <p:spTgt spid="1146924"/>
                                        </p:tgtEl>
                                      </p:cBhvr>
                                    </p:animEffect>
                                  </p:childTnLst>
                                </p:cTn>
                              </p:par>
                            </p:childTnLst>
                          </p:cTn>
                        </p:par>
                        <p:par>
                          <p:cTn id="22" fill="hold">
                            <p:stCondLst>
                              <p:cond delay="1500"/>
                            </p:stCondLst>
                            <p:childTnLst>
                              <p:par>
                                <p:cTn id="23" presetID="3" presetClass="entr" presetSubtype="10" fill="hold" grpId="0" nodeType="afterEffect">
                                  <p:stCondLst>
                                    <p:cond delay="0"/>
                                  </p:stCondLst>
                                  <p:childTnLst>
                                    <p:set>
                                      <p:cBhvr>
                                        <p:cTn id="24" dur="1" fill="hold">
                                          <p:stCondLst>
                                            <p:cond delay="0"/>
                                          </p:stCondLst>
                                        </p:cTn>
                                        <p:tgtEl>
                                          <p:spTgt spid="1146931"/>
                                        </p:tgtEl>
                                        <p:attrNameLst>
                                          <p:attrName>style.visibility</p:attrName>
                                        </p:attrNameLst>
                                      </p:cBhvr>
                                      <p:to>
                                        <p:strVal val="visible"/>
                                      </p:to>
                                    </p:set>
                                    <p:animEffect transition="in" filter="blinds(horizontal)">
                                      <p:cBhvr>
                                        <p:cTn id="25" dur="500"/>
                                        <p:tgtEl>
                                          <p:spTgt spid="1146931"/>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146932"/>
                                        </p:tgtEl>
                                        <p:attrNameLst>
                                          <p:attrName>style.visibility</p:attrName>
                                        </p:attrNameLst>
                                      </p:cBhvr>
                                      <p:to>
                                        <p:strVal val="visible"/>
                                      </p:to>
                                    </p:set>
                                    <p:animEffect transition="in" filter="blinds(horizontal)">
                                      <p:cBhvr>
                                        <p:cTn id="28" dur="500"/>
                                        <p:tgtEl>
                                          <p:spTgt spid="11469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895" grpId="0" animBg="1"/>
      <p:bldP spid="1146921" grpId="0" animBg="1"/>
      <p:bldP spid="1146924" grpId="0" animBg="1"/>
      <p:bldP spid="1146925" grpId="0" animBg="1"/>
      <p:bldP spid="1146926" grpId="0"/>
      <p:bldP spid="1146931" grpId="0" animBg="1"/>
      <p:bldP spid="1146932"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3"/>
          <p:cNvSpPr>
            <a:spLocks noGrp="1"/>
          </p:cNvSpPr>
          <p:nvPr>
            <p:ph type="ftr" sz="quarter" idx="10"/>
          </p:nvPr>
        </p:nvSpPr>
        <p:spPr>
          <a:noFill/>
        </p:spPr>
        <p:txBody>
          <a:bodyPr/>
          <a:lstStyle/>
          <a:p>
            <a:r>
              <a:rPr lang="en-US"/>
              <a:t>Art of Multiprocessor Programming</a:t>
            </a:r>
          </a:p>
        </p:txBody>
      </p:sp>
      <p:sp>
        <p:nvSpPr>
          <p:cNvPr id="61443" name="Slide Number Placeholder 4"/>
          <p:cNvSpPr>
            <a:spLocks noGrp="1"/>
          </p:cNvSpPr>
          <p:nvPr>
            <p:ph type="sldNum" sz="quarter" idx="11"/>
          </p:nvPr>
        </p:nvSpPr>
        <p:spPr>
          <a:noFill/>
        </p:spPr>
        <p:txBody>
          <a:bodyPr/>
          <a:lstStyle/>
          <a:p>
            <a:fld id="{3773DFA1-4EDE-42FF-A34B-71B19554E13A}" type="slidenum">
              <a:rPr lang="ar-SA" smtClean="0"/>
              <a:pPr/>
              <a:t>59</a:t>
            </a:fld>
            <a:endParaRPr lang="en-US"/>
          </a:p>
        </p:txBody>
      </p:sp>
      <p:sp>
        <p:nvSpPr>
          <p:cNvPr id="61444" name="Rectangle 2"/>
          <p:cNvSpPr>
            <a:spLocks noGrp="1" noChangeArrowheads="1"/>
          </p:cNvSpPr>
          <p:nvPr>
            <p:ph type="title"/>
          </p:nvPr>
        </p:nvSpPr>
        <p:spPr/>
        <p:txBody>
          <a:bodyPr/>
          <a:lstStyle/>
          <a:p>
            <a:r>
              <a:rPr lang="en-US"/>
              <a:t>Recall: Real Memory is Relaxed</a:t>
            </a:r>
          </a:p>
        </p:txBody>
      </p:sp>
      <p:sp>
        <p:nvSpPr>
          <p:cNvPr id="61445" name="Rectangle 3"/>
          <p:cNvSpPr>
            <a:spLocks noGrp="1" noChangeArrowheads="1"/>
          </p:cNvSpPr>
          <p:nvPr>
            <p:ph type="body" idx="1"/>
          </p:nvPr>
        </p:nvSpPr>
        <p:spPr/>
        <p:txBody>
          <a:bodyPr/>
          <a:lstStyle/>
          <a:p>
            <a:r>
              <a:rPr lang="en-US"/>
              <a:t>Remember the flag principle?</a:t>
            </a:r>
          </a:p>
          <a:p>
            <a:pPr lvl="1"/>
            <a:r>
              <a:rPr lang="en-US"/>
              <a:t>Alice and Bob’s flag variables </a:t>
            </a:r>
            <a:r>
              <a:rPr lang="en-US">
                <a:solidFill>
                  <a:schemeClr val="tx1"/>
                </a:solidFill>
              </a:rPr>
              <a:t>false</a:t>
            </a:r>
          </a:p>
          <a:p>
            <a:r>
              <a:rPr lang="en-US"/>
              <a:t>Alice writes </a:t>
            </a:r>
            <a:r>
              <a:rPr lang="en-US">
                <a:solidFill>
                  <a:schemeClr val="tx1"/>
                </a:solidFill>
              </a:rPr>
              <a:t>true</a:t>
            </a:r>
            <a:r>
              <a:rPr lang="en-US"/>
              <a:t> to her flag and reads Bob’s</a:t>
            </a:r>
          </a:p>
          <a:p>
            <a:r>
              <a:rPr lang="en-US"/>
              <a:t>Bob writes </a:t>
            </a:r>
            <a:r>
              <a:rPr lang="en-US">
                <a:solidFill>
                  <a:schemeClr val="tx1"/>
                </a:solidFill>
              </a:rPr>
              <a:t>true</a:t>
            </a:r>
            <a:r>
              <a:rPr lang="en-US"/>
              <a:t> to his flag and reads Alice’s</a:t>
            </a:r>
          </a:p>
          <a:p>
            <a:r>
              <a:rPr lang="en-US"/>
              <a:t>One must see the other’s flag </a:t>
            </a:r>
            <a:r>
              <a:rPr lang="en-US">
                <a:solidFill>
                  <a:schemeClr val="tx1"/>
                </a:solidFill>
              </a:rPr>
              <a:t>true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3"/>
          <p:cNvSpPr>
            <a:spLocks noGrp="1"/>
          </p:cNvSpPr>
          <p:nvPr>
            <p:ph type="ftr" sz="quarter" idx="10"/>
          </p:nvPr>
        </p:nvSpPr>
        <p:spPr>
          <a:noFill/>
        </p:spPr>
        <p:txBody>
          <a:bodyPr/>
          <a:lstStyle/>
          <a:p>
            <a:r>
              <a:rPr lang="en-US"/>
              <a:t>Art of Multiprocessor Programming</a:t>
            </a:r>
          </a:p>
        </p:txBody>
      </p:sp>
      <p:sp>
        <p:nvSpPr>
          <p:cNvPr id="62467" name="Slide Number Placeholder 4"/>
          <p:cNvSpPr>
            <a:spLocks noGrp="1"/>
          </p:cNvSpPr>
          <p:nvPr>
            <p:ph type="sldNum" sz="quarter" idx="11"/>
          </p:nvPr>
        </p:nvSpPr>
        <p:spPr>
          <a:noFill/>
        </p:spPr>
        <p:txBody>
          <a:bodyPr/>
          <a:lstStyle/>
          <a:p>
            <a:fld id="{7DD38E66-ECD4-4EA2-8AE0-3DE527DC8BBC}" type="slidenum">
              <a:rPr lang="ar-SA" smtClean="0"/>
              <a:pPr/>
              <a:t>60</a:t>
            </a:fld>
            <a:endParaRPr lang="en-US"/>
          </a:p>
        </p:txBody>
      </p:sp>
      <p:sp>
        <p:nvSpPr>
          <p:cNvPr id="62468" name="Rectangle 2"/>
          <p:cNvSpPr>
            <a:spLocks noGrp="1" noChangeArrowheads="1"/>
          </p:cNvSpPr>
          <p:nvPr>
            <p:ph type="title"/>
          </p:nvPr>
        </p:nvSpPr>
        <p:spPr/>
        <p:txBody>
          <a:bodyPr/>
          <a:lstStyle/>
          <a:p>
            <a:r>
              <a:rPr lang="en-US"/>
              <a:t>Not Necessarily So</a:t>
            </a:r>
          </a:p>
        </p:txBody>
      </p:sp>
      <p:sp>
        <p:nvSpPr>
          <p:cNvPr id="62469" name="Rectangle 3"/>
          <p:cNvSpPr>
            <a:spLocks noGrp="1" noChangeArrowheads="1"/>
          </p:cNvSpPr>
          <p:nvPr>
            <p:ph type="body" idx="1"/>
          </p:nvPr>
        </p:nvSpPr>
        <p:spPr/>
        <p:txBody>
          <a:bodyPr/>
          <a:lstStyle/>
          <a:p>
            <a:r>
              <a:rPr lang="en-US"/>
              <a:t>Sometimes the compiler reorders memory operations</a:t>
            </a:r>
          </a:p>
          <a:p>
            <a:r>
              <a:rPr lang="en-US"/>
              <a:t>Can improve</a:t>
            </a:r>
          </a:p>
          <a:p>
            <a:pPr lvl="1"/>
            <a:r>
              <a:rPr lang="en-US"/>
              <a:t>cache performance</a:t>
            </a:r>
          </a:p>
          <a:p>
            <a:pPr lvl="1"/>
            <a:r>
              <a:rPr lang="en-US"/>
              <a:t>interconnect use</a:t>
            </a:r>
          </a:p>
          <a:p>
            <a:r>
              <a:rPr lang="en-US"/>
              <a:t>But unexpected concurrent interactions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Footer Placeholder 3"/>
          <p:cNvSpPr>
            <a:spLocks noGrp="1"/>
          </p:cNvSpPr>
          <p:nvPr>
            <p:ph type="ftr" sz="quarter" idx="10"/>
          </p:nvPr>
        </p:nvSpPr>
        <p:spPr>
          <a:noFill/>
        </p:spPr>
        <p:txBody>
          <a:bodyPr/>
          <a:lstStyle/>
          <a:p>
            <a:r>
              <a:rPr lang="en-US"/>
              <a:t>Art of Multiprocessor Programming</a:t>
            </a:r>
          </a:p>
        </p:txBody>
      </p:sp>
      <p:sp>
        <p:nvSpPr>
          <p:cNvPr id="63491" name="Slide Number Placeholder 4"/>
          <p:cNvSpPr>
            <a:spLocks noGrp="1"/>
          </p:cNvSpPr>
          <p:nvPr>
            <p:ph type="sldNum" sz="quarter" idx="11"/>
          </p:nvPr>
        </p:nvSpPr>
        <p:spPr>
          <a:noFill/>
        </p:spPr>
        <p:txBody>
          <a:bodyPr/>
          <a:lstStyle/>
          <a:p>
            <a:fld id="{30F74186-327C-411D-B1D0-97312464086D}" type="slidenum">
              <a:rPr lang="ar-SA" smtClean="0"/>
              <a:pPr/>
              <a:t>61</a:t>
            </a:fld>
            <a:endParaRPr lang="en-US"/>
          </a:p>
        </p:txBody>
      </p:sp>
      <p:pic>
        <p:nvPicPr>
          <p:cNvPr id="63492" name="Picture 2"/>
          <p:cNvPicPr>
            <a:picLocks noChangeAspect="1" noChangeArrowheads="1"/>
          </p:cNvPicPr>
          <p:nvPr/>
        </p:nvPicPr>
        <p:blipFill>
          <a:blip r:embed="rId3" cstate="print"/>
          <a:srcRect/>
          <a:stretch>
            <a:fillRect/>
          </a:stretch>
        </p:blipFill>
        <p:spPr bwMode="auto">
          <a:xfrm>
            <a:off x="5222875" y="1651000"/>
            <a:ext cx="3057525" cy="1873250"/>
          </a:xfrm>
          <a:prstGeom prst="rect">
            <a:avLst/>
          </a:prstGeom>
          <a:noFill/>
          <a:ln w="9525">
            <a:noFill/>
            <a:miter lim="800000"/>
            <a:headEnd/>
            <a:tailEnd/>
          </a:ln>
        </p:spPr>
      </p:pic>
      <p:sp>
        <p:nvSpPr>
          <p:cNvPr id="63493" name="Rectangle 3"/>
          <p:cNvSpPr>
            <a:spLocks noGrp="1" noChangeArrowheads="1"/>
          </p:cNvSpPr>
          <p:nvPr>
            <p:ph type="title"/>
          </p:nvPr>
        </p:nvSpPr>
        <p:spPr/>
        <p:txBody>
          <a:bodyPr/>
          <a:lstStyle/>
          <a:p>
            <a:r>
              <a:rPr lang="en-US"/>
              <a:t>Write Buffers</a:t>
            </a:r>
          </a:p>
        </p:txBody>
      </p:sp>
      <p:grpSp>
        <p:nvGrpSpPr>
          <p:cNvPr id="63494" name="Group 4"/>
          <p:cNvGrpSpPr>
            <a:grpSpLocks/>
          </p:cNvGrpSpPr>
          <p:nvPr/>
        </p:nvGrpSpPr>
        <p:grpSpPr bwMode="auto">
          <a:xfrm flipH="1">
            <a:off x="1477963" y="4859338"/>
            <a:ext cx="1447800" cy="1295400"/>
            <a:chOff x="3168" y="1824"/>
            <a:chExt cx="912" cy="816"/>
          </a:xfrm>
        </p:grpSpPr>
        <p:sp>
          <p:nvSpPr>
            <p:cNvPr id="63512" name="Freeform 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3513" name="Freeform 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3514" name="Freeform 7"/>
            <p:cNvSpPr>
              <a:spLocks/>
            </p:cNvSpPr>
            <p:nvPr/>
          </p:nvSpPr>
          <p:spPr bwMode="auto">
            <a:xfrm>
              <a:off x="3504" y="1824"/>
              <a:ext cx="144" cy="288"/>
            </a:xfrm>
            <a:custGeom>
              <a:avLst/>
              <a:gdLst>
                <a:gd name="T0" fmla="*/ 0 w 144"/>
                <a:gd name="T1" fmla="*/ 19 h 336"/>
                <a:gd name="T2" fmla="*/ 96 w 144"/>
                <a:gd name="T3" fmla="*/ 0 h 336"/>
                <a:gd name="T4" fmla="*/ 144 w 144"/>
                <a:gd name="T5" fmla="*/ 19 h 336"/>
                <a:gd name="T6" fmla="*/ 144 w 144"/>
                <a:gd name="T7" fmla="*/ 134 h 336"/>
                <a:gd name="T8" fmla="*/ 96 w 144"/>
                <a:gd name="T9" fmla="*/ 115 h 336"/>
                <a:gd name="T10" fmla="*/ 96 w 144"/>
                <a:gd name="T11" fmla="*/ 38 h 336"/>
                <a:gd name="T12" fmla="*/ 0 w 144"/>
                <a:gd name="T13" fmla="*/ 57 h 336"/>
                <a:gd name="T14" fmla="*/ 0 w 144"/>
                <a:gd name="T15" fmla="*/ 1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3515" name="Freeform 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63516" name="Freeform 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63517" name="Freeform 1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63518" name="Freeform 11"/>
            <p:cNvSpPr>
              <a:spLocks/>
            </p:cNvSpPr>
            <p:nvPr/>
          </p:nvSpPr>
          <p:spPr bwMode="auto">
            <a:xfrm>
              <a:off x="3504" y="2304"/>
              <a:ext cx="240" cy="336"/>
            </a:xfrm>
            <a:custGeom>
              <a:avLst/>
              <a:gdLst>
                <a:gd name="T0" fmla="*/ 26 w 336"/>
                <a:gd name="T1" fmla="*/ 0 h 432"/>
                <a:gd name="T2" fmla="*/ 44 w 336"/>
                <a:gd name="T3" fmla="*/ 21 h 432"/>
                <a:gd name="T4" fmla="*/ 13 w 336"/>
                <a:gd name="T5" fmla="*/ 32 h 432"/>
                <a:gd name="T6" fmla="*/ 13 w 336"/>
                <a:gd name="T7" fmla="*/ 96 h 432"/>
                <a:gd name="T8" fmla="*/ 0 w 336"/>
                <a:gd name="T9" fmla="*/ 75 h 432"/>
                <a:gd name="T10" fmla="*/ 0 w 336"/>
                <a:gd name="T11" fmla="*/ 11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3519" name="Freeform 12"/>
            <p:cNvSpPr>
              <a:spLocks/>
            </p:cNvSpPr>
            <p:nvPr/>
          </p:nvSpPr>
          <p:spPr bwMode="auto">
            <a:xfrm>
              <a:off x="3312" y="2160"/>
              <a:ext cx="240" cy="288"/>
            </a:xfrm>
            <a:custGeom>
              <a:avLst/>
              <a:gdLst>
                <a:gd name="T0" fmla="*/ 26 w 336"/>
                <a:gd name="T1" fmla="*/ 0 h 432"/>
                <a:gd name="T2" fmla="*/ 44 w 336"/>
                <a:gd name="T3" fmla="*/ 9 h 432"/>
                <a:gd name="T4" fmla="*/ 13 w 336"/>
                <a:gd name="T5" fmla="*/ 13 h 432"/>
                <a:gd name="T6" fmla="*/ 13 w 336"/>
                <a:gd name="T7" fmla="*/ 38 h 432"/>
                <a:gd name="T8" fmla="*/ 0 w 336"/>
                <a:gd name="T9" fmla="*/ 29 h 432"/>
                <a:gd name="T10" fmla="*/ 0 w 336"/>
                <a:gd name="T11" fmla="*/ 4 h 432"/>
                <a:gd name="T12" fmla="*/ 2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3520" name="Freeform 13"/>
            <p:cNvSpPr>
              <a:spLocks/>
            </p:cNvSpPr>
            <p:nvPr/>
          </p:nvSpPr>
          <p:spPr bwMode="auto">
            <a:xfrm>
              <a:off x="3168" y="2016"/>
              <a:ext cx="192" cy="288"/>
            </a:xfrm>
            <a:custGeom>
              <a:avLst/>
              <a:gdLst>
                <a:gd name="T0" fmla="*/ 7 w 336"/>
                <a:gd name="T1" fmla="*/ 0 h 432"/>
                <a:gd name="T2" fmla="*/ 12 w 336"/>
                <a:gd name="T3" fmla="*/ 9 h 432"/>
                <a:gd name="T4" fmla="*/ 3 w 336"/>
                <a:gd name="T5" fmla="*/ 13 h 432"/>
                <a:gd name="T6" fmla="*/ 3 w 336"/>
                <a:gd name="T7" fmla="*/ 38 h 432"/>
                <a:gd name="T8" fmla="*/ 0 w 336"/>
                <a:gd name="T9" fmla="*/ 29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63495" name="Freeform 14"/>
          <p:cNvSpPr>
            <a:spLocks/>
          </p:cNvSpPr>
          <p:nvPr/>
        </p:nvSpPr>
        <p:spPr bwMode="auto">
          <a:xfrm>
            <a:off x="1409700" y="2838450"/>
            <a:ext cx="3702050" cy="1268413"/>
          </a:xfrm>
          <a:custGeom>
            <a:avLst/>
            <a:gdLst>
              <a:gd name="T0" fmla="*/ 0 w 2332"/>
              <a:gd name="T1" fmla="*/ 2147483647 h 799"/>
              <a:gd name="T2" fmla="*/ 2147483647 w 2332"/>
              <a:gd name="T3" fmla="*/ 2147483647 h 799"/>
              <a:gd name="T4" fmla="*/ 2147483647 w 2332"/>
              <a:gd name="T5" fmla="*/ 2147483647 h 799"/>
              <a:gd name="T6" fmla="*/ 0 60000 65536"/>
              <a:gd name="T7" fmla="*/ 0 60000 65536"/>
              <a:gd name="T8" fmla="*/ 0 60000 65536"/>
              <a:gd name="T9" fmla="*/ 0 w 2332"/>
              <a:gd name="T10" fmla="*/ 0 h 799"/>
              <a:gd name="T11" fmla="*/ 2332 w 2332"/>
              <a:gd name="T12" fmla="*/ 799 h 799"/>
            </a:gdLst>
            <a:ahLst/>
            <a:cxnLst>
              <a:cxn ang="T6">
                <a:pos x="T0" y="T1"/>
              </a:cxn>
              <a:cxn ang="T7">
                <a:pos x="T2" y="T3"/>
              </a:cxn>
              <a:cxn ang="T8">
                <a:pos x="T4" y="T5"/>
              </a:cxn>
            </a:cxnLst>
            <a:rect l="T9" t="T10" r="T11" b="T12"/>
            <a:pathLst>
              <a:path w="2332" h="799">
                <a:moveTo>
                  <a:pt x="0" y="478"/>
                </a:moveTo>
                <a:cubicBezTo>
                  <a:pt x="291" y="239"/>
                  <a:pt x="583" y="0"/>
                  <a:pt x="972" y="53"/>
                </a:cubicBezTo>
                <a:cubicBezTo>
                  <a:pt x="1361" y="106"/>
                  <a:pt x="2104" y="675"/>
                  <a:pt x="2332" y="799"/>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63496" name="Freeform 15"/>
          <p:cNvSpPr>
            <a:spLocks/>
          </p:cNvSpPr>
          <p:nvPr/>
        </p:nvSpPr>
        <p:spPr bwMode="auto">
          <a:xfrm>
            <a:off x="4241800" y="2906713"/>
            <a:ext cx="4271963" cy="976312"/>
          </a:xfrm>
          <a:custGeom>
            <a:avLst/>
            <a:gdLst>
              <a:gd name="T0" fmla="*/ 0 w 2691"/>
              <a:gd name="T1" fmla="*/ 2147483647 h 615"/>
              <a:gd name="T2" fmla="*/ 2147483647 w 2691"/>
              <a:gd name="T3" fmla="*/ 2147483647 h 615"/>
              <a:gd name="T4" fmla="*/ 2147483647 w 2691"/>
              <a:gd name="T5" fmla="*/ 2147483647 h 615"/>
              <a:gd name="T6" fmla="*/ 0 60000 65536"/>
              <a:gd name="T7" fmla="*/ 0 60000 65536"/>
              <a:gd name="T8" fmla="*/ 0 60000 65536"/>
              <a:gd name="T9" fmla="*/ 0 w 2691"/>
              <a:gd name="T10" fmla="*/ 0 h 615"/>
              <a:gd name="T11" fmla="*/ 2691 w 2691"/>
              <a:gd name="T12" fmla="*/ 615 h 615"/>
            </a:gdLst>
            <a:ahLst/>
            <a:cxnLst>
              <a:cxn ang="T6">
                <a:pos x="T0" y="T1"/>
              </a:cxn>
              <a:cxn ang="T7">
                <a:pos x="T2" y="T3"/>
              </a:cxn>
              <a:cxn ang="T8">
                <a:pos x="T4" y="T5"/>
              </a:cxn>
            </a:cxnLst>
            <a:rect l="T9" t="T10" r="T11" b="T12"/>
            <a:pathLst>
              <a:path w="2691" h="615">
                <a:moveTo>
                  <a:pt x="0" y="379"/>
                </a:moveTo>
                <a:cubicBezTo>
                  <a:pt x="257" y="189"/>
                  <a:pt x="515" y="0"/>
                  <a:pt x="963" y="39"/>
                </a:cubicBezTo>
                <a:cubicBezTo>
                  <a:pt x="1411" y="78"/>
                  <a:pt x="2051" y="346"/>
                  <a:pt x="2691" y="615"/>
                </a:cubicBezTo>
              </a:path>
            </a:pathLst>
          </a:custGeom>
          <a:solidFill>
            <a:schemeClr val="bg1"/>
          </a:solidFill>
          <a:ln w="76200">
            <a:solidFill>
              <a:srgbClr val="00FF00"/>
            </a:solidFill>
            <a:round/>
            <a:headEnd/>
            <a:tailEnd/>
          </a:ln>
        </p:spPr>
        <p:txBody>
          <a:bodyPr wrap="none" anchor="ctr"/>
          <a:lstStyle/>
          <a:p>
            <a:endParaRPr lang="en-US" dirty="0">
              <a:latin typeface="Arial" pitchFamily="34" charset="0"/>
            </a:endParaRPr>
          </a:p>
        </p:txBody>
      </p:sp>
      <p:sp>
        <p:nvSpPr>
          <p:cNvPr id="63497" name="Freeform 16"/>
          <p:cNvSpPr>
            <a:spLocks/>
          </p:cNvSpPr>
          <p:nvPr/>
        </p:nvSpPr>
        <p:spPr bwMode="auto">
          <a:xfrm>
            <a:off x="2517775" y="3357563"/>
            <a:ext cx="1770063" cy="1544637"/>
          </a:xfrm>
          <a:custGeom>
            <a:avLst/>
            <a:gdLst>
              <a:gd name="T0" fmla="*/ 0 w 1115"/>
              <a:gd name="T1" fmla="*/ 2147483647 h 973"/>
              <a:gd name="T2" fmla="*/ 2147483647 w 1115"/>
              <a:gd name="T3" fmla="*/ 2147483647 h 973"/>
              <a:gd name="T4" fmla="*/ 2147483647 w 1115"/>
              <a:gd name="T5" fmla="*/ 0 h 973"/>
              <a:gd name="T6" fmla="*/ 2147483647 w 1115"/>
              <a:gd name="T7" fmla="*/ 2147483647 h 973"/>
              <a:gd name="T8" fmla="*/ 2147483647 w 1115"/>
              <a:gd name="T9" fmla="*/ 2147483647 h 973"/>
              <a:gd name="T10" fmla="*/ 2147483647 w 1115"/>
              <a:gd name="T11" fmla="*/ 2147483647 h 973"/>
              <a:gd name="T12" fmla="*/ 0 60000 65536"/>
              <a:gd name="T13" fmla="*/ 0 60000 65536"/>
              <a:gd name="T14" fmla="*/ 0 60000 65536"/>
              <a:gd name="T15" fmla="*/ 0 60000 65536"/>
              <a:gd name="T16" fmla="*/ 0 60000 65536"/>
              <a:gd name="T17" fmla="*/ 0 60000 65536"/>
              <a:gd name="T18" fmla="*/ 0 w 1115"/>
              <a:gd name="T19" fmla="*/ 0 h 973"/>
              <a:gd name="T20" fmla="*/ 1115 w 1115"/>
              <a:gd name="T21" fmla="*/ 973 h 973"/>
            </a:gdLst>
            <a:ahLst/>
            <a:cxnLst>
              <a:cxn ang="T12">
                <a:pos x="T0" y="T1"/>
              </a:cxn>
              <a:cxn ang="T13">
                <a:pos x="T2" y="T3"/>
              </a:cxn>
              <a:cxn ang="T14">
                <a:pos x="T4" y="T5"/>
              </a:cxn>
              <a:cxn ang="T15">
                <a:pos x="T6" y="T7"/>
              </a:cxn>
              <a:cxn ang="T16">
                <a:pos x="T8" y="T9"/>
              </a:cxn>
              <a:cxn ang="T17">
                <a:pos x="T10" y="T11"/>
              </a:cxn>
            </a:cxnLst>
            <a:rect l="T18" t="T19" r="T20" b="T21"/>
            <a:pathLst>
              <a:path w="1115" h="973">
                <a:moveTo>
                  <a:pt x="0" y="812"/>
                </a:moveTo>
                <a:lnTo>
                  <a:pt x="312" y="321"/>
                </a:lnTo>
                <a:lnTo>
                  <a:pt x="879" y="0"/>
                </a:lnTo>
                <a:lnTo>
                  <a:pt x="1115" y="161"/>
                </a:lnTo>
                <a:lnTo>
                  <a:pt x="557" y="510"/>
                </a:lnTo>
                <a:lnTo>
                  <a:pt x="369" y="973"/>
                </a:lnTo>
              </a:path>
            </a:pathLst>
          </a:custGeom>
          <a:solidFill>
            <a:srgbClr val="FFFF00"/>
          </a:solidFill>
          <a:ln w="9525">
            <a:solidFill>
              <a:srgbClr val="FFFF00"/>
            </a:solidFill>
            <a:round/>
            <a:headEnd/>
            <a:tailEnd/>
          </a:ln>
        </p:spPr>
        <p:txBody>
          <a:bodyPr wrap="none" anchor="ctr"/>
          <a:lstStyle/>
          <a:p>
            <a:endParaRPr lang="en-US" dirty="0">
              <a:latin typeface="Arial" pitchFamily="34" charset="0"/>
            </a:endParaRPr>
          </a:p>
        </p:txBody>
      </p:sp>
      <p:sp>
        <p:nvSpPr>
          <p:cNvPr id="63498" name="Freeform 17"/>
          <p:cNvSpPr>
            <a:spLocks/>
          </p:cNvSpPr>
          <p:nvPr/>
        </p:nvSpPr>
        <p:spPr bwMode="auto">
          <a:xfrm>
            <a:off x="4676775" y="3073400"/>
            <a:ext cx="1828800" cy="914400"/>
          </a:xfrm>
          <a:custGeom>
            <a:avLst/>
            <a:gdLst>
              <a:gd name="T0" fmla="*/ 0 w 1152"/>
              <a:gd name="T1" fmla="*/ 2147483647 h 576"/>
              <a:gd name="T2" fmla="*/ 2147483647 w 1152"/>
              <a:gd name="T3" fmla="*/ 2147483647 h 576"/>
              <a:gd name="T4" fmla="*/ 2147483647 w 1152"/>
              <a:gd name="T5" fmla="*/ 0 h 576"/>
              <a:gd name="T6" fmla="*/ 2147483647 w 1152"/>
              <a:gd name="T7" fmla="*/ 2147483647 h 576"/>
              <a:gd name="T8" fmla="*/ 2147483647 w 1152"/>
              <a:gd name="T9" fmla="*/ 2147483647 h 576"/>
              <a:gd name="T10" fmla="*/ 2147483647 w 1152"/>
              <a:gd name="T11" fmla="*/ 2147483647 h 576"/>
              <a:gd name="T12" fmla="*/ 0 60000 65536"/>
              <a:gd name="T13" fmla="*/ 0 60000 65536"/>
              <a:gd name="T14" fmla="*/ 0 60000 65536"/>
              <a:gd name="T15" fmla="*/ 0 60000 65536"/>
              <a:gd name="T16" fmla="*/ 0 60000 65536"/>
              <a:gd name="T17" fmla="*/ 0 60000 65536"/>
              <a:gd name="T18" fmla="*/ 0 w 1152"/>
              <a:gd name="T19" fmla="*/ 0 h 576"/>
              <a:gd name="T20" fmla="*/ 1152 w 115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152" h="576">
                <a:moveTo>
                  <a:pt x="0" y="444"/>
                </a:moveTo>
                <a:lnTo>
                  <a:pt x="321" y="236"/>
                </a:lnTo>
                <a:lnTo>
                  <a:pt x="1029" y="0"/>
                </a:lnTo>
                <a:lnTo>
                  <a:pt x="1152" y="66"/>
                </a:lnTo>
                <a:lnTo>
                  <a:pt x="501" y="377"/>
                </a:lnTo>
                <a:lnTo>
                  <a:pt x="170" y="576"/>
                </a:lnTo>
              </a:path>
            </a:pathLst>
          </a:custGeom>
          <a:solidFill>
            <a:srgbClr val="FFFF00"/>
          </a:solidFill>
          <a:ln w="9525">
            <a:solidFill>
              <a:srgbClr val="FFFF00"/>
            </a:solidFill>
            <a:round/>
            <a:headEnd/>
            <a:tailEnd type="triangle" w="med" len="med"/>
          </a:ln>
        </p:spPr>
        <p:txBody>
          <a:bodyPr wrap="none" anchor="ctr"/>
          <a:lstStyle/>
          <a:p>
            <a:endParaRPr lang="en-US" dirty="0">
              <a:latin typeface="Arial" pitchFamily="34" charset="0"/>
            </a:endParaRPr>
          </a:p>
        </p:txBody>
      </p:sp>
      <p:sp>
        <p:nvSpPr>
          <p:cNvPr id="63499" name="Text Box 19"/>
          <p:cNvSpPr txBox="1">
            <a:spLocks noChangeArrowheads="1"/>
          </p:cNvSpPr>
          <p:nvPr/>
        </p:nvSpPr>
        <p:spPr bwMode="auto">
          <a:xfrm>
            <a:off x="3775075" y="2168525"/>
            <a:ext cx="1366080" cy="461665"/>
          </a:xfrm>
          <a:prstGeom prst="rect">
            <a:avLst/>
          </a:prstGeom>
          <a:noFill/>
          <a:ln w="9525">
            <a:noFill/>
            <a:miter lim="800000"/>
            <a:headEnd/>
            <a:tailEnd/>
          </a:ln>
        </p:spPr>
        <p:txBody>
          <a:bodyPr wrap="none">
            <a:spAutoFit/>
          </a:bodyPr>
          <a:lstStyle/>
          <a:p>
            <a:r>
              <a:rPr lang="en-US" sz="2400" dirty="0">
                <a:solidFill>
                  <a:srgbClr val="FF3300"/>
                </a:solidFill>
                <a:latin typeface="Arial" pitchFamily="34" charset="0"/>
              </a:rPr>
              <a:t>address</a:t>
            </a:r>
          </a:p>
        </p:txBody>
      </p:sp>
      <p:grpSp>
        <p:nvGrpSpPr>
          <p:cNvPr id="63500" name="Group 28"/>
          <p:cNvGrpSpPr>
            <a:grpSpLocks/>
          </p:cNvGrpSpPr>
          <p:nvPr/>
        </p:nvGrpSpPr>
        <p:grpSpPr bwMode="auto">
          <a:xfrm>
            <a:off x="2571750" y="3241675"/>
            <a:ext cx="430213" cy="341313"/>
            <a:chOff x="2439" y="2860"/>
            <a:chExt cx="271" cy="215"/>
          </a:xfrm>
        </p:grpSpPr>
        <p:sp>
          <p:nvSpPr>
            <p:cNvPr id="63510" name="Oval 22"/>
            <p:cNvSpPr>
              <a:spLocks noChangeArrowheads="1"/>
            </p:cNvSpPr>
            <p:nvPr/>
          </p:nvSpPr>
          <p:spPr bwMode="auto">
            <a:xfrm>
              <a:off x="2439" y="2860"/>
              <a:ext cx="271" cy="215"/>
            </a:xfrm>
            <a:prstGeom prst="ellipse">
              <a:avLst/>
            </a:prstGeom>
            <a:solidFill>
              <a:srgbClr val="009900"/>
            </a:solidFill>
            <a:ln w="38100">
              <a:solidFill>
                <a:schemeClr val="tx1"/>
              </a:solidFill>
              <a:round/>
              <a:headEnd/>
              <a:tailEnd/>
            </a:ln>
          </p:spPr>
          <p:txBody>
            <a:bodyPr wrap="none" anchor="ctr"/>
            <a:lstStyle/>
            <a:p>
              <a:endParaRPr lang="en-US" dirty="0">
                <a:latin typeface="Arial" pitchFamily="34" charset="0"/>
              </a:endParaRPr>
            </a:p>
          </p:txBody>
        </p:sp>
        <p:sp>
          <p:nvSpPr>
            <p:cNvPr id="63511" name="Oval 23"/>
            <p:cNvSpPr>
              <a:spLocks noChangeArrowheads="1"/>
            </p:cNvSpPr>
            <p:nvPr/>
          </p:nvSpPr>
          <p:spPr bwMode="auto">
            <a:xfrm>
              <a:off x="2593" y="28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Arial" pitchFamily="34" charset="0"/>
              </a:endParaRPr>
            </a:p>
          </p:txBody>
        </p:sp>
      </p:grpSp>
      <p:grpSp>
        <p:nvGrpSpPr>
          <p:cNvPr id="63501" name="Group 27"/>
          <p:cNvGrpSpPr>
            <a:grpSpLocks/>
          </p:cNvGrpSpPr>
          <p:nvPr/>
        </p:nvGrpSpPr>
        <p:grpSpPr bwMode="auto">
          <a:xfrm>
            <a:off x="2155825" y="2803525"/>
            <a:ext cx="1190625" cy="838200"/>
            <a:chOff x="3676" y="3437"/>
            <a:chExt cx="958" cy="674"/>
          </a:xfrm>
        </p:grpSpPr>
        <p:sp>
          <p:nvSpPr>
            <p:cNvPr id="63508" name="Freeform 20"/>
            <p:cNvSpPr>
              <a:spLocks/>
            </p:cNvSpPr>
            <p:nvPr/>
          </p:nvSpPr>
          <p:spPr bwMode="auto">
            <a:xfrm>
              <a:off x="3936" y="3437"/>
              <a:ext cx="533" cy="255"/>
            </a:xfrm>
            <a:custGeom>
              <a:avLst/>
              <a:gdLst>
                <a:gd name="T0" fmla="*/ 156 w 533"/>
                <a:gd name="T1" fmla="*/ 0 h 255"/>
                <a:gd name="T2" fmla="*/ 0 w 533"/>
                <a:gd name="T3" fmla="*/ 238 h 255"/>
                <a:gd name="T4" fmla="*/ 533 w 533"/>
                <a:gd name="T5" fmla="*/ 255 h 255"/>
                <a:gd name="T6" fmla="*/ 457 w 533"/>
                <a:gd name="T7" fmla="*/ 8 h 255"/>
                <a:gd name="T8" fmla="*/ 156 w 533"/>
                <a:gd name="T9" fmla="*/ 0 h 255"/>
                <a:gd name="T10" fmla="*/ 0 60000 65536"/>
                <a:gd name="T11" fmla="*/ 0 60000 65536"/>
                <a:gd name="T12" fmla="*/ 0 60000 65536"/>
                <a:gd name="T13" fmla="*/ 0 60000 65536"/>
                <a:gd name="T14" fmla="*/ 0 60000 65536"/>
                <a:gd name="T15" fmla="*/ 0 w 533"/>
                <a:gd name="T16" fmla="*/ 0 h 255"/>
                <a:gd name="T17" fmla="*/ 533 w 533"/>
                <a:gd name="T18" fmla="*/ 255 h 255"/>
              </a:gdLst>
              <a:ahLst/>
              <a:cxnLst>
                <a:cxn ang="T10">
                  <a:pos x="T0" y="T1"/>
                </a:cxn>
                <a:cxn ang="T11">
                  <a:pos x="T2" y="T3"/>
                </a:cxn>
                <a:cxn ang="T12">
                  <a:pos x="T4" y="T5"/>
                </a:cxn>
                <a:cxn ang="T13">
                  <a:pos x="T6" y="T7"/>
                </a:cxn>
                <a:cxn ang="T14">
                  <a:pos x="T8" y="T9"/>
                </a:cxn>
              </a:cxnLst>
              <a:rect l="T15" t="T16" r="T17" b="T18"/>
              <a:pathLst>
                <a:path w="533" h="255">
                  <a:moveTo>
                    <a:pt x="156" y="0"/>
                  </a:moveTo>
                  <a:lnTo>
                    <a:pt x="0" y="238"/>
                  </a:lnTo>
                  <a:lnTo>
                    <a:pt x="533" y="255"/>
                  </a:lnTo>
                  <a:lnTo>
                    <a:pt x="457" y="8"/>
                  </a:lnTo>
                  <a:lnTo>
                    <a:pt x="156"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sp>
          <p:nvSpPr>
            <p:cNvPr id="63509" name="Freeform 26"/>
            <p:cNvSpPr>
              <a:spLocks/>
            </p:cNvSpPr>
            <p:nvPr/>
          </p:nvSpPr>
          <p:spPr bwMode="auto">
            <a:xfrm>
              <a:off x="3676" y="3692"/>
              <a:ext cx="958" cy="419"/>
            </a:xfrm>
            <a:custGeom>
              <a:avLst/>
              <a:gdLst>
                <a:gd name="T0" fmla="*/ 245 w 958"/>
                <a:gd name="T1" fmla="*/ 0 h 419"/>
                <a:gd name="T2" fmla="*/ 0 w 958"/>
                <a:gd name="T3" fmla="*/ 419 h 419"/>
                <a:gd name="T4" fmla="*/ 958 w 958"/>
                <a:gd name="T5" fmla="*/ 419 h 419"/>
                <a:gd name="T6" fmla="*/ 793 w 958"/>
                <a:gd name="T7" fmla="*/ 0 h 419"/>
                <a:gd name="T8" fmla="*/ 245 w 958"/>
                <a:gd name="T9" fmla="*/ 0 h 419"/>
                <a:gd name="T10" fmla="*/ 0 60000 65536"/>
                <a:gd name="T11" fmla="*/ 0 60000 65536"/>
                <a:gd name="T12" fmla="*/ 0 60000 65536"/>
                <a:gd name="T13" fmla="*/ 0 60000 65536"/>
                <a:gd name="T14" fmla="*/ 0 60000 65536"/>
                <a:gd name="T15" fmla="*/ 0 w 958"/>
                <a:gd name="T16" fmla="*/ 0 h 419"/>
                <a:gd name="T17" fmla="*/ 958 w 958"/>
                <a:gd name="T18" fmla="*/ 419 h 419"/>
              </a:gdLst>
              <a:ahLst/>
              <a:cxnLst>
                <a:cxn ang="T10">
                  <a:pos x="T0" y="T1"/>
                </a:cxn>
                <a:cxn ang="T11">
                  <a:pos x="T2" y="T3"/>
                </a:cxn>
                <a:cxn ang="T12">
                  <a:pos x="T4" y="T5"/>
                </a:cxn>
                <a:cxn ang="T13">
                  <a:pos x="T6" y="T7"/>
                </a:cxn>
                <a:cxn ang="T14">
                  <a:pos x="T8" y="T9"/>
                </a:cxn>
              </a:cxnLst>
              <a:rect l="T15" t="T16" r="T17" b="T18"/>
              <a:pathLst>
                <a:path w="958" h="419">
                  <a:moveTo>
                    <a:pt x="245" y="0"/>
                  </a:moveTo>
                  <a:lnTo>
                    <a:pt x="0" y="419"/>
                  </a:lnTo>
                  <a:lnTo>
                    <a:pt x="958" y="419"/>
                  </a:lnTo>
                  <a:lnTo>
                    <a:pt x="793" y="0"/>
                  </a:lnTo>
                  <a:lnTo>
                    <a:pt x="245" y="0"/>
                  </a:lnTo>
                  <a:close/>
                </a:path>
              </a:pathLst>
            </a:custGeom>
            <a:noFill/>
            <a:ln w="76200">
              <a:solidFill>
                <a:srgbClr val="FF0066"/>
              </a:solidFill>
              <a:round/>
              <a:headEnd/>
              <a:tailEnd/>
            </a:ln>
          </p:spPr>
          <p:txBody>
            <a:bodyPr wrap="none" anchor="ctr"/>
            <a:lstStyle/>
            <a:p>
              <a:endParaRPr lang="en-US" dirty="0">
                <a:latin typeface="Arial" pitchFamily="34" charset="0"/>
              </a:endParaRPr>
            </a:p>
          </p:txBody>
        </p:sp>
      </p:grpSp>
      <p:grpSp>
        <p:nvGrpSpPr>
          <p:cNvPr id="63502" name="Group 29"/>
          <p:cNvGrpSpPr>
            <a:grpSpLocks/>
          </p:cNvGrpSpPr>
          <p:nvPr/>
        </p:nvGrpSpPr>
        <p:grpSpPr bwMode="auto">
          <a:xfrm>
            <a:off x="2722563" y="2794000"/>
            <a:ext cx="298450" cy="236538"/>
            <a:chOff x="2439" y="2860"/>
            <a:chExt cx="271" cy="215"/>
          </a:xfrm>
        </p:grpSpPr>
        <p:sp>
          <p:nvSpPr>
            <p:cNvPr id="63506" name="Oval 30"/>
            <p:cNvSpPr>
              <a:spLocks noChangeArrowheads="1"/>
            </p:cNvSpPr>
            <p:nvPr/>
          </p:nvSpPr>
          <p:spPr bwMode="auto">
            <a:xfrm>
              <a:off x="2439" y="2860"/>
              <a:ext cx="271" cy="215"/>
            </a:xfrm>
            <a:prstGeom prst="ellipse">
              <a:avLst/>
            </a:prstGeom>
            <a:solidFill>
              <a:srgbClr val="FF9900"/>
            </a:solidFill>
            <a:ln w="38100">
              <a:solidFill>
                <a:schemeClr val="tx1"/>
              </a:solidFill>
              <a:round/>
              <a:headEnd/>
              <a:tailEnd/>
            </a:ln>
          </p:spPr>
          <p:txBody>
            <a:bodyPr wrap="none" anchor="ctr"/>
            <a:lstStyle/>
            <a:p>
              <a:endParaRPr lang="en-US" dirty="0">
                <a:latin typeface="Arial" pitchFamily="34" charset="0"/>
              </a:endParaRPr>
            </a:p>
          </p:txBody>
        </p:sp>
        <p:sp>
          <p:nvSpPr>
            <p:cNvPr id="63507" name="Oval 31"/>
            <p:cNvSpPr>
              <a:spLocks noChangeArrowheads="1"/>
            </p:cNvSpPr>
            <p:nvPr/>
          </p:nvSpPr>
          <p:spPr bwMode="auto">
            <a:xfrm>
              <a:off x="2593" y="28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Arial" pitchFamily="34" charset="0"/>
              </a:endParaRPr>
            </a:p>
          </p:txBody>
        </p:sp>
      </p:grpSp>
      <p:sp>
        <p:nvSpPr>
          <p:cNvPr id="63503" name="Freeform 32"/>
          <p:cNvSpPr>
            <a:spLocks/>
          </p:cNvSpPr>
          <p:nvPr/>
        </p:nvSpPr>
        <p:spPr bwMode="auto">
          <a:xfrm>
            <a:off x="2566988" y="3965575"/>
            <a:ext cx="503237" cy="815975"/>
          </a:xfrm>
          <a:custGeom>
            <a:avLst/>
            <a:gdLst>
              <a:gd name="T0" fmla="*/ 0 w 317"/>
              <a:gd name="T1" fmla="*/ 2147483647 h 514"/>
              <a:gd name="T2" fmla="*/ 2147483647 w 317"/>
              <a:gd name="T3" fmla="*/ 2147483647 h 514"/>
              <a:gd name="T4" fmla="*/ 2147483647 w 317"/>
              <a:gd name="T5" fmla="*/ 0 h 514"/>
              <a:gd name="T6" fmla="*/ 0 60000 65536"/>
              <a:gd name="T7" fmla="*/ 0 60000 65536"/>
              <a:gd name="T8" fmla="*/ 0 60000 65536"/>
              <a:gd name="T9" fmla="*/ 0 w 317"/>
              <a:gd name="T10" fmla="*/ 0 h 514"/>
              <a:gd name="T11" fmla="*/ 317 w 317"/>
              <a:gd name="T12" fmla="*/ 514 h 514"/>
            </a:gdLst>
            <a:ahLst/>
            <a:cxnLst>
              <a:cxn ang="T6">
                <a:pos x="T0" y="T1"/>
              </a:cxn>
              <a:cxn ang="T7">
                <a:pos x="T2" y="T3"/>
              </a:cxn>
              <a:cxn ang="T8">
                <a:pos x="T4" y="T5"/>
              </a:cxn>
            </a:cxnLst>
            <a:rect l="T9" t="T10" r="T11" b="T12"/>
            <a:pathLst>
              <a:path w="317" h="514">
                <a:moveTo>
                  <a:pt x="0" y="514"/>
                </a:moveTo>
                <a:cubicBezTo>
                  <a:pt x="119" y="432"/>
                  <a:pt x="239" y="350"/>
                  <a:pt x="278" y="264"/>
                </a:cubicBezTo>
                <a:cubicBezTo>
                  <a:pt x="317" y="178"/>
                  <a:pt x="276" y="89"/>
                  <a:pt x="236" y="0"/>
                </a:cubicBezTo>
              </a:path>
            </a:pathLst>
          </a:custGeom>
          <a:noFill/>
          <a:ln w="76200">
            <a:solidFill>
              <a:schemeClr val="tx1"/>
            </a:solidFill>
            <a:round/>
            <a:headEnd/>
            <a:tailEnd type="triangle" w="med" len="med"/>
          </a:ln>
        </p:spPr>
        <p:txBody>
          <a:bodyPr wrap="none" anchor="ctr"/>
          <a:lstStyle/>
          <a:p>
            <a:endParaRPr lang="en-US" dirty="0">
              <a:latin typeface="Arial" pitchFamily="34" charset="0"/>
            </a:endParaRPr>
          </a:p>
        </p:txBody>
      </p:sp>
      <p:sp>
        <p:nvSpPr>
          <p:cNvPr id="63504" name="Freeform 33"/>
          <p:cNvSpPr>
            <a:spLocks/>
          </p:cNvSpPr>
          <p:nvPr/>
        </p:nvSpPr>
        <p:spPr bwMode="auto">
          <a:xfrm>
            <a:off x="2986088" y="1911350"/>
            <a:ext cx="3238500" cy="776288"/>
          </a:xfrm>
          <a:custGeom>
            <a:avLst/>
            <a:gdLst>
              <a:gd name="T0" fmla="*/ 0 w 2040"/>
              <a:gd name="T1" fmla="*/ 2147483647 h 489"/>
              <a:gd name="T2" fmla="*/ 2147483647 w 2040"/>
              <a:gd name="T3" fmla="*/ 2147483647 h 489"/>
              <a:gd name="T4" fmla="*/ 2147483647 w 2040"/>
              <a:gd name="T5" fmla="*/ 2147483647 h 489"/>
              <a:gd name="T6" fmla="*/ 2147483647 w 2040"/>
              <a:gd name="T7" fmla="*/ 2147483647 h 489"/>
              <a:gd name="T8" fmla="*/ 0 60000 65536"/>
              <a:gd name="T9" fmla="*/ 0 60000 65536"/>
              <a:gd name="T10" fmla="*/ 0 60000 65536"/>
              <a:gd name="T11" fmla="*/ 0 60000 65536"/>
              <a:gd name="T12" fmla="*/ 0 w 2040"/>
              <a:gd name="T13" fmla="*/ 0 h 489"/>
              <a:gd name="T14" fmla="*/ 2040 w 2040"/>
              <a:gd name="T15" fmla="*/ 489 h 489"/>
            </a:gdLst>
            <a:ahLst/>
            <a:cxnLst>
              <a:cxn ang="T8">
                <a:pos x="T0" y="T1"/>
              </a:cxn>
              <a:cxn ang="T9">
                <a:pos x="T2" y="T3"/>
              </a:cxn>
              <a:cxn ang="T10">
                <a:pos x="T4" y="T5"/>
              </a:cxn>
              <a:cxn ang="T11">
                <a:pos x="T6" y="T7"/>
              </a:cxn>
            </a:cxnLst>
            <a:rect l="T12" t="T13" r="T14" b="T15"/>
            <a:pathLst>
              <a:path w="2040" h="489">
                <a:moveTo>
                  <a:pt x="0" y="441"/>
                </a:moveTo>
                <a:cubicBezTo>
                  <a:pt x="72" y="265"/>
                  <a:pt x="145" y="90"/>
                  <a:pt x="361" y="45"/>
                </a:cubicBezTo>
                <a:cubicBezTo>
                  <a:pt x="577" y="0"/>
                  <a:pt x="1017" y="96"/>
                  <a:pt x="1297" y="170"/>
                </a:cubicBezTo>
                <a:cubicBezTo>
                  <a:pt x="1577" y="244"/>
                  <a:pt x="1808" y="366"/>
                  <a:pt x="2040" y="489"/>
                </a:cubicBezTo>
              </a:path>
            </a:pathLst>
          </a:custGeom>
          <a:noFill/>
          <a:ln w="76200">
            <a:solidFill>
              <a:schemeClr val="tx1"/>
            </a:solidFill>
            <a:round/>
            <a:headEnd/>
            <a:tailEnd type="triangle" w="med" len="med"/>
          </a:ln>
        </p:spPr>
        <p:txBody>
          <a:bodyPr wrap="none" anchor="ctr"/>
          <a:lstStyle/>
          <a:p>
            <a:endParaRPr lang="en-US" dirty="0">
              <a:latin typeface="Arial" pitchFamily="34" charset="0"/>
            </a:endParaRPr>
          </a:p>
        </p:txBody>
      </p:sp>
      <p:sp>
        <p:nvSpPr>
          <p:cNvPr id="63505" name="Rectangle 34"/>
          <p:cNvSpPr>
            <a:spLocks noGrp="1" noChangeArrowheads="1"/>
          </p:cNvSpPr>
          <p:nvPr>
            <p:ph type="body" idx="1"/>
          </p:nvPr>
        </p:nvSpPr>
        <p:spPr>
          <a:xfrm>
            <a:off x="5192713" y="4240213"/>
            <a:ext cx="2901950" cy="1371600"/>
          </a:xfrm>
          <a:noFill/>
        </p:spPr>
        <p:txBody>
          <a:bodyPr/>
          <a:lstStyle/>
          <a:p>
            <a:r>
              <a:rPr lang="en-US"/>
              <a:t>Absorbing</a:t>
            </a:r>
          </a:p>
          <a:p>
            <a:r>
              <a:rPr lang="en-US"/>
              <a:t>Batching</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Footer Placeholder 3"/>
          <p:cNvSpPr>
            <a:spLocks noGrp="1"/>
          </p:cNvSpPr>
          <p:nvPr>
            <p:ph type="ftr" sz="quarter" idx="10"/>
          </p:nvPr>
        </p:nvSpPr>
        <p:spPr>
          <a:noFill/>
        </p:spPr>
        <p:txBody>
          <a:bodyPr/>
          <a:lstStyle/>
          <a:p>
            <a:r>
              <a:rPr lang="en-US"/>
              <a:t>Art of Multiprocessor Programming</a:t>
            </a:r>
          </a:p>
        </p:txBody>
      </p:sp>
      <p:sp>
        <p:nvSpPr>
          <p:cNvPr id="64515" name="Slide Number Placeholder 4"/>
          <p:cNvSpPr>
            <a:spLocks noGrp="1"/>
          </p:cNvSpPr>
          <p:nvPr>
            <p:ph type="sldNum" sz="quarter" idx="11"/>
          </p:nvPr>
        </p:nvSpPr>
        <p:spPr>
          <a:noFill/>
        </p:spPr>
        <p:txBody>
          <a:bodyPr/>
          <a:lstStyle/>
          <a:p>
            <a:fld id="{F4A77151-2324-42EF-8BC4-3314C23203D9}" type="slidenum">
              <a:rPr lang="ar-SA" smtClean="0"/>
              <a:pPr/>
              <a:t>62</a:t>
            </a:fld>
            <a:endParaRPr lang="en-US"/>
          </a:p>
        </p:txBody>
      </p:sp>
      <p:sp>
        <p:nvSpPr>
          <p:cNvPr id="64516" name="Rectangle 2"/>
          <p:cNvSpPr>
            <a:spLocks noGrp="1" noChangeArrowheads="1"/>
          </p:cNvSpPr>
          <p:nvPr>
            <p:ph type="title"/>
          </p:nvPr>
        </p:nvSpPr>
        <p:spPr/>
        <p:txBody>
          <a:bodyPr/>
          <a:lstStyle/>
          <a:p>
            <a:r>
              <a:rPr lang="en-US"/>
              <a:t>Volatile</a:t>
            </a:r>
          </a:p>
        </p:txBody>
      </p:sp>
      <p:sp>
        <p:nvSpPr>
          <p:cNvPr id="64517" name="Rectangle 3"/>
          <p:cNvSpPr>
            <a:spLocks noGrp="1" noChangeArrowheads="1"/>
          </p:cNvSpPr>
          <p:nvPr>
            <p:ph type="body" idx="1"/>
          </p:nvPr>
        </p:nvSpPr>
        <p:spPr/>
        <p:txBody>
          <a:bodyPr/>
          <a:lstStyle/>
          <a:p>
            <a:r>
              <a:rPr lang="en-US"/>
              <a:t>In Java, if a variable is declared </a:t>
            </a:r>
            <a:r>
              <a:rPr lang="en-US">
                <a:solidFill>
                  <a:schemeClr val="tx1"/>
                </a:solidFill>
              </a:rPr>
              <a:t>volatile, </a:t>
            </a:r>
            <a:r>
              <a:rPr lang="en-US"/>
              <a:t>operations won’t be reordered</a:t>
            </a:r>
          </a:p>
          <a:p>
            <a:r>
              <a:rPr lang="en-US"/>
              <a:t>Write buffer always spilled to memory before thread is allowed to continue a write</a:t>
            </a:r>
          </a:p>
          <a:p>
            <a:r>
              <a:rPr lang="en-US"/>
              <a:t>Expensive, so use it only when needed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Footer Placeholder 1"/>
          <p:cNvSpPr>
            <a:spLocks noGrp="1"/>
          </p:cNvSpPr>
          <p:nvPr>
            <p:ph type="ftr" sz="quarter" idx="10"/>
          </p:nvPr>
        </p:nvSpPr>
        <p:spPr>
          <a:noFill/>
        </p:spPr>
        <p:txBody>
          <a:bodyPr/>
          <a:lstStyle/>
          <a:p>
            <a:r>
              <a:rPr lang="en-US"/>
              <a:t>Art of Multiprocessor Programming</a:t>
            </a:r>
          </a:p>
        </p:txBody>
      </p:sp>
      <p:sp>
        <p:nvSpPr>
          <p:cNvPr id="65539" name="Slide Number Placeholder 2"/>
          <p:cNvSpPr>
            <a:spLocks noGrp="1"/>
          </p:cNvSpPr>
          <p:nvPr>
            <p:ph type="sldNum" sz="quarter" idx="11"/>
          </p:nvPr>
        </p:nvSpPr>
        <p:spPr>
          <a:noFill/>
        </p:spPr>
        <p:txBody>
          <a:bodyPr/>
          <a:lstStyle/>
          <a:p>
            <a:fld id="{A7CD0C61-3C30-45F8-9168-121A739C45EA}" type="slidenum">
              <a:rPr lang="ar-SA" smtClean="0"/>
              <a:pPr/>
              <a:t>63</a:t>
            </a:fld>
            <a:endParaRPr lang="en-US"/>
          </a:p>
        </p:txBody>
      </p:sp>
      <p:sp>
        <p:nvSpPr>
          <p:cNvPr id="65540" name="Rectangle 2"/>
          <p:cNvSpPr>
            <a:spLocks noChangeArrowheads="1"/>
          </p:cNvSpPr>
          <p:nvPr/>
        </p:nvSpPr>
        <p:spPr bwMode="auto">
          <a:xfrm>
            <a:off x="0" y="-6439"/>
            <a:ext cx="9144000" cy="1200329"/>
          </a:xfrm>
          <a:prstGeom prst="rect">
            <a:avLst/>
          </a:prstGeom>
          <a:noFill/>
          <a:ln w="9525">
            <a:noFill/>
            <a:miter lim="800000"/>
            <a:headEnd/>
            <a:tailEnd/>
          </a:ln>
        </p:spPr>
        <p:txBody>
          <a:bodyPr anchor="ctr">
            <a:spAutoFit/>
          </a:bodyPr>
          <a:lstStyle/>
          <a:p>
            <a:r>
              <a:rPr lang="en-US" sz="2400" b="0" dirty="0">
                <a:solidFill>
                  <a:schemeClr val="tx1"/>
                </a:solidFill>
                <a:latin typeface="Arial" pitchFamily="34" charset="0"/>
                <a:hlinkClick r:id="rId3"/>
              </a:rPr>
              <a:t>  </a:t>
            </a:r>
            <a:r>
              <a:rPr lang="en-US" sz="1800" b="0" dirty="0">
                <a:solidFill>
                  <a:schemeClr val="tx1"/>
                </a:solidFill>
                <a:latin typeface="Arial" pitchFamily="34" charset="0"/>
              </a:rPr>
              <a:t> </a:t>
            </a:r>
            <a:r>
              <a:rPr lang="en-US" sz="2400" b="0" dirty="0">
                <a:solidFill>
                  <a:schemeClr val="tx1"/>
                </a:solidFill>
                <a:latin typeface="Arial" pitchFamily="34" charset="0"/>
              </a:rPr>
              <a:t>        </a:t>
            </a:r>
            <a:br>
              <a:rPr lang="en-US" sz="2400" b="0" dirty="0">
                <a:solidFill>
                  <a:schemeClr val="tx1"/>
                </a:solidFill>
                <a:latin typeface="Arial" pitchFamily="34" charset="0"/>
              </a:rPr>
            </a:br>
            <a:r>
              <a:rPr lang="en-US" sz="2400" b="0" dirty="0">
                <a:solidFill>
                  <a:schemeClr val="tx1"/>
                </a:solidFill>
                <a:latin typeface="Arial" pitchFamily="34" charset="0"/>
              </a:rPr>
              <a:t>This work is licensed under a </a:t>
            </a:r>
            <a:r>
              <a:rPr lang="en-US" sz="2400" b="0" dirty="0">
                <a:solidFill>
                  <a:srgbClr val="FF0066"/>
                </a:solidFill>
                <a:latin typeface="Arial" pitchFamily="34" charset="0"/>
                <a:hlinkClick r:id="rId3"/>
              </a:rPr>
              <a:t>Creative Commons Attribution-</a:t>
            </a:r>
            <a:r>
              <a:rPr lang="en-US" sz="2400" b="0" dirty="0" err="1">
                <a:solidFill>
                  <a:srgbClr val="FF0066"/>
                </a:solidFill>
                <a:latin typeface="Arial" pitchFamily="34" charset="0"/>
                <a:hlinkClick r:id="rId3"/>
              </a:rPr>
              <a:t>ShareAlike</a:t>
            </a:r>
            <a:r>
              <a:rPr lang="en-US" sz="2400" b="0" dirty="0">
                <a:solidFill>
                  <a:srgbClr val="FF0066"/>
                </a:solidFill>
                <a:latin typeface="Arial" pitchFamily="34" charset="0"/>
                <a:hlinkClick r:id="rId3"/>
              </a:rPr>
              <a:t> 2.5 License</a:t>
            </a:r>
            <a:r>
              <a:rPr lang="en-US" sz="2400" b="0" dirty="0">
                <a:solidFill>
                  <a:srgbClr val="FF0066"/>
                </a:solidFill>
                <a:latin typeface="Arial" pitchFamily="34" charset="0"/>
              </a:rPr>
              <a:t>. </a:t>
            </a:r>
          </a:p>
        </p:txBody>
      </p:sp>
      <p:pic>
        <p:nvPicPr>
          <p:cNvPr id="65541" name="Picture 3" descr="Creative Commons License">
            <a:hlinkClick r:id="rId3"/>
          </p:cNvPr>
          <p:cNvPicPr>
            <a:picLocks noChangeAspect="1" noChangeArrowheads="1"/>
          </p:cNvPicPr>
          <p:nvPr/>
        </p:nvPicPr>
        <p:blipFill>
          <a:blip r:embed="rId4" cstate="print"/>
          <a:srcRect/>
          <a:stretch>
            <a:fillRect/>
          </a:stretch>
        </p:blipFill>
        <p:spPr bwMode="auto">
          <a:xfrm>
            <a:off x="182563" y="46038"/>
            <a:ext cx="838200" cy="295275"/>
          </a:xfrm>
          <a:prstGeom prst="rect">
            <a:avLst/>
          </a:prstGeom>
          <a:noFill/>
          <a:ln w="9525">
            <a:noFill/>
            <a:miter lim="800000"/>
            <a:headEnd/>
            <a:tailEnd/>
          </a:ln>
        </p:spPr>
      </p:pic>
      <p:sp>
        <p:nvSpPr>
          <p:cNvPr id="65542" name="Rectangle 4"/>
          <p:cNvSpPr>
            <a:spLocks noChangeArrowheads="1"/>
          </p:cNvSpPr>
          <p:nvPr/>
        </p:nvSpPr>
        <p:spPr bwMode="auto">
          <a:xfrm>
            <a:off x="684213" y="1341438"/>
            <a:ext cx="7772400" cy="4752975"/>
          </a:xfrm>
          <a:prstGeom prst="rect">
            <a:avLst/>
          </a:prstGeom>
          <a:noFill/>
          <a:ln w="9525">
            <a:noFill/>
            <a:miter lim="800000"/>
            <a:headEnd/>
            <a:tailEnd/>
          </a:ln>
        </p:spPr>
        <p:txBody>
          <a:bodyPr/>
          <a:lstStyle/>
          <a:p>
            <a:pPr marL="342900" indent="-342900">
              <a:lnSpc>
                <a:spcPct val="80000"/>
              </a:lnSpc>
              <a:spcBef>
                <a:spcPct val="20000"/>
              </a:spcBef>
              <a:buFontTx/>
              <a:buChar char="•"/>
            </a:pPr>
            <a:r>
              <a:rPr lang="en-US" sz="1800">
                <a:solidFill>
                  <a:schemeClr val="tx1"/>
                </a:solidFill>
                <a:latin typeface="Lucida Sans" pitchFamily="34" charset="0"/>
              </a:rPr>
              <a:t>You are free</a:t>
            </a:r>
            <a:r>
              <a:rPr lang="en-US" sz="1800" b="0">
                <a:solidFill>
                  <a:schemeClr val="tx1"/>
                </a:solidFill>
                <a:latin typeface="Lucida Sans" pitchFamily="34" charset="0"/>
              </a:rPr>
              <a:t>:</a:t>
            </a:r>
          </a:p>
          <a:p>
            <a:pPr marL="742950" lvl="1" indent="-285750">
              <a:lnSpc>
                <a:spcPct val="80000"/>
              </a:lnSpc>
              <a:spcBef>
                <a:spcPct val="20000"/>
              </a:spcBef>
              <a:buFontTx/>
              <a:buChar char="–"/>
            </a:pPr>
            <a:r>
              <a:rPr lang="en-US" sz="1800">
                <a:solidFill>
                  <a:schemeClr val="tx1"/>
                </a:solidFill>
                <a:latin typeface="Lucida Sans" pitchFamily="34" charset="0"/>
              </a:rPr>
              <a:t>to Share</a:t>
            </a:r>
            <a:r>
              <a:rPr lang="en-US" sz="1800" b="0">
                <a:solidFill>
                  <a:schemeClr val="tx1"/>
                </a:solidFill>
                <a:latin typeface="Lucida Sans" pitchFamily="34" charset="0"/>
              </a:rPr>
              <a:t> — to copy, distribute and transmit the work </a:t>
            </a:r>
          </a:p>
          <a:p>
            <a:pPr marL="742950" lvl="1" indent="-285750">
              <a:lnSpc>
                <a:spcPct val="80000"/>
              </a:lnSpc>
              <a:spcBef>
                <a:spcPct val="20000"/>
              </a:spcBef>
              <a:buFontTx/>
              <a:buChar char="–"/>
            </a:pPr>
            <a:r>
              <a:rPr lang="en-US" sz="1800">
                <a:solidFill>
                  <a:schemeClr val="tx1"/>
                </a:solidFill>
                <a:latin typeface="Lucida Sans" pitchFamily="34" charset="0"/>
              </a:rPr>
              <a:t>to Remix</a:t>
            </a:r>
            <a:r>
              <a:rPr lang="en-US" sz="1800" b="0">
                <a:solidFill>
                  <a:schemeClr val="tx1"/>
                </a:solidFill>
                <a:latin typeface="Lucida Sans" pitchFamily="34" charset="0"/>
              </a:rPr>
              <a:t> — to adapt the work </a:t>
            </a:r>
          </a:p>
          <a:p>
            <a:pPr marL="342900" indent="-342900">
              <a:lnSpc>
                <a:spcPct val="80000"/>
              </a:lnSpc>
              <a:spcBef>
                <a:spcPct val="20000"/>
              </a:spcBef>
              <a:buFontTx/>
              <a:buChar char="•"/>
            </a:pPr>
            <a:r>
              <a:rPr lang="en-US" sz="1800">
                <a:solidFill>
                  <a:schemeClr val="tx1"/>
                </a:solidFill>
                <a:latin typeface="Lucida Sans" pitchFamily="34" charset="0"/>
              </a:rPr>
              <a:t>Under the following conditions</a:t>
            </a:r>
            <a:r>
              <a:rPr lang="en-US" sz="1800" b="0">
                <a:solidFill>
                  <a:schemeClr val="tx1"/>
                </a:solidFill>
                <a:latin typeface="Lucida Sans" pitchFamily="34" charset="0"/>
              </a:rPr>
              <a:t>:</a:t>
            </a:r>
          </a:p>
          <a:p>
            <a:pPr marL="742950" lvl="1" indent="-285750">
              <a:lnSpc>
                <a:spcPct val="80000"/>
              </a:lnSpc>
              <a:spcBef>
                <a:spcPct val="20000"/>
              </a:spcBef>
              <a:buFontTx/>
              <a:buChar char="–"/>
            </a:pPr>
            <a:r>
              <a:rPr lang="en-US" sz="1800">
                <a:solidFill>
                  <a:schemeClr val="tx1"/>
                </a:solidFill>
                <a:latin typeface="Lucida Sans" pitchFamily="34" charset="0"/>
              </a:rPr>
              <a:t>Attribution</a:t>
            </a:r>
            <a:r>
              <a:rPr lang="en-US" sz="1800" b="0">
                <a:solidFill>
                  <a:schemeClr val="tx1"/>
                </a:solidFill>
                <a:latin typeface="Lucida Sans" pitchFamily="34" charset="0"/>
              </a:rPr>
              <a:t>. You must attribute the work to “The Art of Multiprocessor Programming” (but not in any way that suggests that the authors endorse you or your use of the work). </a:t>
            </a:r>
          </a:p>
          <a:p>
            <a:pPr marL="742950" lvl="1" indent="-285750">
              <a:lnSpc>
                <a:spcPct val="80000"/>
              </a:lnSpc>
              <a:spcBef>
                <a:spcPct val="20000"/>
              </a:spcBef>
              <a:buFontTx/>
              <a:buChar char="–"/>
            </a:pPr>
            <a:r>
              <a:rPr lang="en-US" sz="1800">
                <a:solidFill>
                  <a:schemeClr val="tx1"/>
                </a:solidFill>
                <a:latin typeface="Lucida Sans" pitchFamily="34" charset="0"/>
              </a:rPr>
              <a:t>Share Alike</a:t>
            </a:r>
            <a:r>
              <a:rPr lang="en-US" sz="1800" b="0">
                <a:solidFill>
                  <a:schemeClr val="tx1"/>
                </a:solidFill>
                <a:latin typeface="Lucida Sans" pitchFamily="34" charset="0"/>
              </a:rPr>
              <a:t>. If you alter, transform, or build upon this work, you may distribute the resulting work only under the same, similar or a compatible license. </a:t>
            </a:r>
          </a:p>
          <a:p>
            <a:pPr marL="342900" indent="-342900">
              <a:lnSpc>
                <a:spcPct val="80000"/>
              </a:lnSpc>
              <a:spcBef>
                <a:spcPct val="20000"/>
              </a:spcBef>
              <a:buFontTx/>
              <a:buChar char="•"/>
            </a:pPr>
            <a:r>
              <a:rPr lang="en-US" sz="1800" b="0">
                <a:solidFill>
                  <a:schemeClr val="tx1"/>
                </a:solidFill>
                <a:latin typeface="Lucida Sans" pitchFamily="34" charset="0"/>
              </a:rPr>
              <a:t>For any reuse or distribution, you must make clear to others the license terms of this work. The best way to do this is with a link to</a:t>
            </a:r>
          </a:p>
          <a:p>
            <a:pPr marL="742950" lvl="1" indent="-285750">
              <a:lnSpc>
                <a:spcPct val="80000"/>
              </a:lnSpc>
              <a:spcBef>
                <a:spcPct val="20000"/>
              </a:spcBef>
              <a:buFontTx/>
              <a:buChar char="–"/>
            </a:pPr>
            <a:r>
              <a:rPr lang="en-US" sz="1800" b="0">
                <a:solidFill>
                  <a:schemeClr val="tx1"/>
                </a:solidFill>
                <a:latin typeface="Lucida Sans" pitchFamily="34" charset="0"/>
              </a:rPr>
              <a:t>http://creativecommons.org/licenses/by-sa/3.0/. </a:t>
            </a:r>
          </a:p>
          <a:p>
            <a:pPr marL="342900" indent="-342900">
              <a:lnSpc>
                <a:spcPct val="80000"/>
              </a:lnSpc>
              <a:spcBef>
                <a:spcPct val="20000"/>
              </a:spcBef>
              <a:buFontTx/>
              <a:buChar char="•"/>
            </a:pPr>
            <a:r>
              <a:rPr lang="en-US" sz="1800" b="0">
                <a:solidFill>
                  <a:schemeClr val="tx1"/>
                </a:solidFill>
                <a:latin typeface="Lucida Sans" pitchFamily="34" charset="0"/>
              </a:rPr>
              <a:t>Any of the above conditions can be waived if you get permission from the copyright holder. </a:t>
            </a:r>
          </a:p>
          <a:p>
            <a:pPr marL="342900" indent="-342900">
              <a:lnSpc>
                <a:spcPct val="80000"/>
              </a:lnSpc>
              <a:spcBef>
                <a:spcPct val="20000"/>
              </a:spcBef>
              <a:buFontTx/>
              <a:buChar char="•"/>
            </a:pPr>
            <a:r>
              <a:rPr lang="en-US" sz="1800" b="0">
                <a:solidFill>
                  <a:schemeClr val="tx1"/>
                </a:solidFill>
                <a:latin typeface="Lucida Sans" pitchFamily="34" charset="0"/>
              </a:rPr>
              <a:t>Nothing in this license impairs or restricts the author's moral rights. </a:t>
            </a:r>
          </a:p>
          <a:p>
            <a:pPr marL="342900" indent="-342900">
              <a:lnSpc>
                <a:spcPct val="80000"/>
              </a:lnSpc>
              <a:spcBef>
                <a:spcPct val="20000"/>
              </a:spcBef>
              <a:buFontTx/>
              <a:buChar char="•"/>
            </a:pPr>
            <a:endParaRPr lang="en-US" sz="1800" b="0">
              <a:solidFill>
                <a:schemeClr val="tx1"/>
              </a:solidFill>
              <a:latin typeface="Lucida Sans" pitchFamily="34"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HIDDENFONTSHAPE" val="true"/>
</p:tagLst>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triangle" w="med" len="med"/>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4400" b="1" i="0" u="none" strike="noStrike" cap="none" normalizeH="0" baseline="0" smtClean="0">
            <a:ln>
              <a:noFill/>
            </a:ln>
            <a:solidFill>
              <a:srgbClr val="0000FF"/>
            </a:solidFill>
            <a:effectLst/>
            <a:latin typeface="Comic Sans MS" pitchFamily="66"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triangle" w="med" len="med"/>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4400" b="1" i="0" u="none" strike="noStrike" cap="none" normalizeH="0" baseline="0" smtClean="0">
            <a:ln>
              <a:noFill/>
            </a:ln>
            <a:solidFill>
              <a:srgbClr val="0000FF"/>
            </a:solidFill>
            <a:effectLst/>
            <a:latin typeface="Comic Sans MS" pitchFamily="66"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17749</TotalTime>
  <Words>3400</Words>
  <Application>Microsoft Office PowerPoint</Application>
  <PresentationFormat>Overhead</PresentationFormat>
  <Paragraphs>652</Paragraphs>
  <Slides>63</Slides>
  <Notes>63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63</vt:i4>
      </vt:variant>
    </vt:vector>
  </HeadingPairs>
  <TitlesOfParts>
    <vt:vector size="72" baseType="lpstr">
      <vt:lpstr>Arial</vt:lpstr>
      <vt:lpstr>CMMI10</vt:lpstr>
      <vt:lpstr>CMMI7</vt:lpstr>
      <vt:lpstr>CMR10</vt:lpstr>
      <vt:lpstr>CMSY10ORIG</vt:lpstr>
      <vt:lpstr>Comic Sans MS</vt:lpstr>
      <vt:lpstr>Lucida Sans</vt:lpstr>
      <vt:lpstr>Marlett</vt:lpstr>
      <vt:lpstr>Blank Presentation</vt:lpstr>
      <vt:lpstr>Multiprocessor Architecture Basics</vt:lpstr>
      <vt:lpstr>Multiprocessor Architecture</vt:lpstr>
      <vt:lpstr>Pieces</vt:lpstr>
      <vt:lpstr>Old-School Multiprocessor</vt:lpstr>
      <vt:lpstr>Old School</vt:lpstr>
      <vt:lpstr>Multicore Architecture</vt:lpstr>
      <vt:lpstr>Multicore</vt:lpstr>
      <vt:lpstr>SMP vs NUMA</vt:lpstr>
      <vt:lpstr>Future Multicores</vt:lpstr>
      <vt:lpstr>Understanding the Pieces</vt:lpstr>
      <vt:lpstr>Processors</vt:lpstr>
      <vt:lpstr>Computer Architecture</vt:lpstr>
      <vt:lpstr>Threads</vt:lpstr>
      <vt:lpstr>Analogy</vt:lpstr>
      <vt:lpstr>Interconnect</vt:lpstr>
      <vt:lpstr>Interconnect</vt:lpstr>
      <vt:lpstr>Processor and Memory are Far Apart</vt:lpstr>
      <vt:lpstr>Reading from Memory</vt:lpstr>
      <vt:lpstr>Reading from Memory</vt:lpstr>
      <vt:lpstr>Reading from Memory</vt:lpstr>
      <vt:lpstr>Writing to Memory</vt:lpstr>
      <vt:lpstr>Writing to Memory</vt:lpstr>
      <vt:lpstr>Writing to Memory</vt:lpstr>
      <vt:lpstr>Cache: Reading from Memory</vt:lpstr>
      <vt:lpstr>Cache: Reading from Memory</vt:lpstr>
      <vt:lpstr>Cache: Reading from Memory</vt:lpstr>
      <vt:lpstr>Cache Hit</vt:lpstr>
      <vt:lpstr>Cache Hit</vt:lpstr>
      <vt:lpstr>Cache Miss</vt:lpstr>
      <vt:lpstr>Cache Miss</vt:lpstr>
      <vt:lpstr>Cache Miss</vt:lpstr>
      <vt:lpstr>Local Spinning</vt:lpstr>
      <vt:lpstr>Granularity</vt:lpstr>
      <vt:lpstr>Locality</vt:lpstr>
      <vt:lpstr>Hit Ratio</vt:lpstr>
      <vt:lpstr>L1 and L2 Caches</vt:lpstr>
      <vt:lpstr>L1 and L2 Caches</vt:lpstr>
      <vt:lpstr>L1 and L2 Caches</vt:lpstr>
      <vt:lpstr>When a Cache Becomes Full…</vt:lpstr>
      <vt:lpstr>Fully Associative Cache</vt:lpstr>
      <vt:lpstr>Direct Mapped Cache</vt:lpstr>
      <vt:lpstr>K-way Set Associative Cache</vt:lpstr>
      <vt:lpstr>Multicore Set Associativity</vt:lpstr>
      <vt:lpstr>Cache Coherence</vt:lpstr>
      <vt:lpstr>MESI</vt:lpstr>
      <vt:lpstr>MESI</vt:lpstr>
      <vt:lpstr>MESI</vt:lpstr>
      <vt:lpstr>MESI</vt:lpstr>
      <vt:lpstr>Processor Issues Load Request</vt:lpstr>
      <vt:lpstr>Memory Responds</vt:lpstr>
      <vt:lpstr>Processor Issues Load Request</vt:lpstr>
      <vt:lpstr>Other Processor Responds</vt:lpstr>
      <vt:lpstr>Modify Cached Data</vt:lpstr>
      <vt:lpstr>Write-Through Cache</vt:lpstr>
      <vt:lpstr>Write-Through Caches</vt:lpstr>
      <vt:lpstr>Write-Through Caches</vt:lpstr>
      <vt:lpstr>Write-Back Caches</vt:lpstr>
      <vt:lpstr>Invalidate</vt:lpstr>
      <vt:lpstr>Recall: Real Memory is Relaxed</vt:lpstr>
      <vt:lpstr>Not Necessarily So</vt:lpstr>
      <vt:lpstr>Write Buffers</vt:lpstr>
      <vt:lpstr>Volatile</vt:lpstr>
      <vt:lpstr>PowerPoint Presentation</vt:lpstr>
    </vt:vector>
  </TitlesOfParts>
  <Company>Brown University and Tel-Aviv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Art of Multiprocessor Programming</dc:title>
  <dc:creator>Maurice Herlihy and Nir Shavit</dc:creator>
  <cp:lastModifiedBy>Beth LoGiudice</cp:lastModifiedBy>
  <cp:revision>496</cp:revision>
  <cp:lastPrinted>2003-09-09T00:35:48Z</cp:lastPrinted>
  <dcterms:created xsi:type="dcterms:W3CDTF">1999-05-12T13:47:53Z</dcterms:created>
  <dcterms:modified xsi:type="dcterms:W3CDTF">2020-09-26T22:48:39Z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iveCommons_Licensed">
    <vt:bool>true</vt:bool>
  </property>
  <property fmtid="{D5CDD505-2E9C-101B-9397-08002B2CF9AE}" pid="3" name="CreativeCommons_LicenseURL">
    <vt:lpwstr>http://creativecommons.org/licenses/by-sa/2.5/</vt:lpwstr>
  </property>
  <property fmtid="{D5CDD505-2E9C-101B-9397-08002B2CF9AE}" pid="4" name="CreativeCommons_Derivatives">
    <vt:lpwstr>Share Alike</vt:lpwstr>
  </property>
  <property fmtid="{D5CDD505-2E9C-101B-9397-08002B2CF9AE}" pid="5" name="CreativeCommons_CommercialUse">
    <vt:lpwstr>Yes</vt:lpwstr>
  </property>
  <property fmtid="{D5CDD505-2E9C-101B-9397-08002B2CF9AE}" pid="6" name="CreativeCommons_Jurisdiction">
    <vt:lpwstr/>
  </property>
</Properties>
</file>