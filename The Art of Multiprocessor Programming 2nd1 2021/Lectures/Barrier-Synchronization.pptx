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58"/>
  </p:notesMasterIdLst>
  <p:handoutMasterIdLst>
    <p:handoutMasterId r:id="rId159"/>
  </p:handoutMasterIdLst>
  <p:sldIdLst>
    <p:sldId id="639" r:id="rId2"/>
    <p:sldId id="987" r:id="rId3"/>
    <p:sldId id="986" r:id="rId4"/>
    <p:sldId id="988" r:id="rId5"/>
    <p:sldId id="989" r:id="rId6"/>
    <p:sldId id="990" r:id="rId7"/>
    <p:sldId id="991" r:id="rId8"/>
    <p:sldId id="992" r:id="rId9"/>
    <p:sldId id="907" r:id="rId10"/>
    <p:sldId id="908" r:id="rId11"/>
    <p:sldId id="909" r:id="rId12"/>
    <p:sldId id="910" r:id="rId13"/>
    <p:sldId id="911" r:id="rId14"/>
    <p:sldId id="912" r:id="rId15"/>
    <p:sldId id="913" r:id="rId16"/>
    <p:sldId id="830" r:id="rId17"/>
    <p:sldId id="993" r:id="rId18"/>
    <p:sldId id="948" r:id="rId19"/>
    <p:sldId id="961" r:id="rId20"/>
    <p:sldId id="950" r:id="rId21"/>
    <p:sldId id="951" r:id="rId22"/>
    <p:sldId id="952" r:id="rId23"/>
    <p:sldId id="700" r:id="rId24"/>
    <p:sldId id="962" r:id="rId25"/>
    <p:sldId id="963" r:id="rId26"/>
    <p:sldId id="964" r:id="rId27"/>
    <p:sldId id="965" r:id="rId28"/>
    <p:sldId id="953" r:id="rId29"/>
    <p:sldId id="970" r:id="rId30"/>
    <p:sldId id="973" r:id="rId31"/>
    <p:sldId id="954" r:id="rId32"/>
    <p:sldId id="947" r:id="rId33"/>
    <p:sldId id="924" r:id="rId34"/>
    <p:sldId id="923" r:id="rId35"/>
    <p:sldId id="925" r:id="rId36"/>
    <p:sldId id="926" r:id="rId37"/>
    <p:sldId id="927" r:id="rId38"/>
    <p:sldId id="928" r:id="rId39"/>
    <p:sldId id="929" r:id="rId40"/>
    <p:sldId id="840" r:id="rId41"/>
    <p:sldId id="930" r:id="rId42"/>
    <p:sldId id="931" r:id="rId43"/>
    <p:sldId id="932" r:id="rId44"/>
    <p:sldId id="933" r:id="rId45"/>
    <p:sldId id="934" r:id="rId46"/>
    <p:sldId id="845" r:id="rId47"/>
    <p:sldId id="1077" r:id="rId48"/>
    <p:sldId id="1078" r:id="rId49"/>
    <p:sldId id="1079" r:id="rId50"/>
    <p:sldId id="1080" r:id="rId51"/>
    <p:sldId id="1081" r:id="rId52"/>
    <p:sldId id="1082" r:id="rId53"/>
    <p:sldId id="1083" r:id="rId54"/>
    <p:sldId id="853" r:id="rId55"/>
    <p:sldId id="854" r:id="rId56"/>
    <p:sldId id="855" r:id="rId57"/>
    <p:sldId id="939" r:id="rId58"/>
    <p:sldId id="941" r:id="rId59"/>
    <p:sldId id="942" r:id="rId60"/>
    <p:sldId id="943" r:id="rId61"/>
    <p:sldId id="945" r:id="rId62"/>
    <p:sldId id="946" r:id="rId63"/>
    <p:sldId id="852" r:id="rId64"/>
    <p:sldId id="866" r:id="rId65"/>
    <p:sldId id="878" r:id="rId66"/>
    <p:sldId id="879" r:id="rId67"/>
    <p:sldId id="886" r:id="rId68"/>
    <p:sldId id="881" r:id="rId69"/>
    <p:sldId id="882" r:id="rId70"/>
    <p:sldId id="884" r:id="rId71"/>
    <p:sldId id="883" r:id="rId72"/>
    <p:sldId id="885" r:id="rId73"/>
    <p:sldId id="887" r:id="rId74"/>
    <p:sldId id="895" r:id="rId75"/>
    <p:sldId id="867" r:id="rId76"/>
    <p:sldId id="890" r:id="rId77"/>
    <p:sldId id="891" r:id="rId78"/>
    <p:sldId id="892" r:id="rId79"/>
    <p:sldId id="889" r:id="rId80"/>
    <p:sldId id="915" r:id="rId81"/>
    <p:sldId id="916" r:id="rId82"/>
    <p:sldId id="917" r:id="rId83"/>
    <p:sldId id="918" r:id="rId84"/>
    <p:sldId id="919" r:id="rId85"/>
    <p:sldId id="1031" r:id="rId86"/>
    <p:sldId id="920" r:id="rId87"/>
    <p:sldId id="921" r:id="rId88"/>
    <p:sldId id="922" r:id="rId89"/>
    <p:sldId id="1013" r:id="rId90"/>
    <p:sldId id="903" r:id="rId91"/>
    <p:sldId id="904" r:id="rId92"/>
    <p:sldId id="906" r:id="rId93"/>
    <p:sldId id="994" r:id="rId94"/>
    <p:sldId id="1011" r:id="rId95"/>
    <p:sldId id="1001" r:id="rId96"/>
    <p:sldId id="1017" r:id="rId97"/>
    <p:sldId id="1018" r:id="rId98"/>
    <p:sldId id="1019" r:id="rId99"/>
    <p:sldId id="1020" r:id="rId100"/>
    <p:sldId id="1021" r:id="rId101"/>
    <p:sldId id="1022" r:id="rId102"/>
    <p:sldId id="1023" r:id="rId103"/>
    <p:sldId id="1024" r:id="rId104"/>
    <p:sldId id="1025" r:id="rId105"/>
    <p:sldId id="1032" r:id="rId106"/>
    <p:sldId id="1026" r:id="rId107"/>
    <p:sldId id="1027" r:id="rId108"/>
    <p:sldId id="1028" r:id="rId109"/>
    <p:sldId id="1030" r:id="rId110"/>
    <p:sldId id="1033" r:id="rId111"/>
    <p:sldId id="1014" r:id="rId112"/>
    <p:sldId id="1034" r:id="rId113"/>
    <p:sldId id="1035" r:id="rId114"/>
    <p:sldId id="1036" r:id="rId115"/>
    <p:sldId id="1037" r:id="rId116"/>
    <p:sldId id="1038" r:id="rId117"/>
    <p:sldId id="1039" r:id="rId118"/>
    <p:sldId id="1040" r:id="rId119"/>
    <p:sldId id="1041" r:id="rId120"/>
    <p:sldId id="1042" r:id="rId121"/>
    <p:sldId id="1043" r:id="rId122"/>
    <p:sldId id="1044" r:id="rId123"/>
    <p:sldId id="1045" r:id="rId124"/>
    <p:sldId id="1046" r:id="rId125"/>
    <p:sldId id="1047" r:id="rId126"/>
    <p:sldId id="1048" r:id="rId127"/>
    <p:sldId id="1049" r:id="rId128"/>
    <p:sldId id="1050" r:id="rId129"/>
    <p:sldId id="1051" r:id="rId130"/>
    <p:sldId id="1052" r:id="rId131"/>
    <p:sldId id="1053" r:id="rId132"/>
    <p:sldId id="1054" r:id="rId133"/>
    <p:sldId id="1055" r:id="rId134"/>
    <p:sldId id="1056" r:id="rId135"/>
    <p:sldId id="1057" r:id="rId136"/>
    <p:sldId id="1058" r:id="rId137"/>
    <p:sldId id="1059" r:id="rId138"/>
    <p:sldId id="1060" r:id="rId139"/>
    <p:sldId id="1061" r:id="rId140"/>
    <p:sldId id="1062" r:id="rId141"/>
    <p:sldId id="1063" r:id="rId142"/>
    <p:sldId id="1064" r:id="rId143"/>
    <p:sldId id="1065" r:id="rId144"/>
    <p:sldId id="1066" r:id="rId145"/>
    <p:sldId id="1067" r:id="rId146"/>
    <p:sldId id="1068" r:id="rId147"/>
    <p:sldId id="1069" r:id="rId148"/>
    <p:sldId id="1070" r:id="rId149"/>
    <p:sldId id="1071" r:id="rId150"/>
    <p:sldId id="1072" r:id="rId151"/>
    <p:sldId id="1073" r:id="rId152"/>
    <p:sldId id="1074" r:id="rId153"/>
    <p:sldId id="1075" r:id="rId154"/>
    <p:sldId id="1076" r:id="rId155"/>
    <p:sldId id="1084" r:id="rId156"/>
    <p:sldId id="997" r:id="rId157"/>
  </p:sldIdLst>
  <p:sldSz cx="9144000" cy="6858000" type="overhead"/>
  <p:notesSz cx="7026275" cy="9280525"/>
  <p:defaultTextStyle>
    <a:defPPr>
      <a:defRPr lang="en-US"/>
    </a:defPPr>
    <a:lvl1pPr algn="ctr" rtl="0" eaLnBrk="0" fontAlgn="base" hangingPunct="0">
      <a:spcBef>
        <a:spcPct val="20000"/>
      </a:spcBef>
      <a:spcAft>
        <a:spcPct val="0"/>
      </a:spcAft>
      <a:defRPr sz="2400" b="1" kern="1200">
        <a:solidFill>
          <a:srgbClr val="FF0000"/>
        </a:solidFill>
        <a:latin typeface="Comic Sans MS" pitchFamily="66" charset="0"/>
        <a:ea typeface="ＭＳ Ｐゴシック" charset="-128"/>
        <a:cs typeface="+mn-cs"/>
      </a:defRPr>
    </a:lvl1pPr>
    <a:lvl2pPr marL="457200" algn="ctr" rtl="0" eaLnBrk="0" fontAlgn="base" hangingPunct="0">
      <a:spcBef>
        <a:spcPct val="20000"/>
      </a:spcBef>
      <a:spcAft>
        <a:spcPct val="0"/>
      </a:spcAft>
      <a:defRPr sz="2400" b="1" kern="1200">
        <a:solidFill>
          <a:srgbClr val="FF0000"/>
        </a:solidFill>
        <a:latin typeface="Comic Sans MS" pitchFamily="66" charset="0"/>
        <a:ea typeface="ＭＳ Ｐゴシック" charset="-128"/>
        <a:cs typeface="+mn-cs"/>
      </a:defRPr>
    </a:lvl2pPr>
    <a:lvl3pPr marL="914400" algn="ctr" rtl="0" eaLnBrk="0" fontAlgn="base" hangingPunct="0">
      <a:spcBef>
        <a:spcPct val="20000"/>
      </a:spcBef>
      <a:spcAft>
        <a:spcPct val="0"/>
      </a:spcAft>
      <a:defRPr sz="2400" b="1" kern="1200">
        <a:solidFill>
          <a:srgbClr val="FF0000"/>
        </a:solidFill>
        <a:latin typeface="Comic Sans MS" pitchFamily="66" charset="0"/>
        <a:ea typeface="ＭＳ Ｐゴシック" charset="-128"/>
        <a:cs typeface="+mn-cs"/>
      </a:defRPr>
    </a:lvl3pPr>
    <a:lvl4pPr marL="1371600" algn="ctr" rtl="0" eaLnBrk="0" fontAlgn="base" hangingPunct="0">
      <a:spcBef>
        <a:spcPct val="20000"/>
      </a:spcBef>
      <a:spcAft>
        <a:spcPct val="0"/>
      </a:spcAft>
      <a:defRPr sz="2400" b="1" kern="1200">
        <a:solidFill>
          <a:srgbClr val="FF0000"/>
        </a:solidFill>
        <a:latin typeface="Comic Sans MS" pitchFamily="66" charset="0"/>
        <a:ea typeface="ＭＳ Ｐゴシック" charset="-128"/>
        <a:cs typeface="+mn-cs"/>
      </a:defRPr>
    </a:lvl4pPr>
    <a:lvl5pPr marL="1828800" algn="ctr" rtl="0" eaLnBrk="0" fontAlgn="base" hangingPunct="0">
      <a:spcBef>
        <a:spcPct val="20000"/>
      </a:spcBef>
      <a:spcAft>
        <a:spcPct val="0"/>
      </a:spcAft>
      <a:defRPr sz="2400" b="1" kern="1200">
        <a:solidFill>
          <a:srgbClr val="FF0000"/>
        </a:solidFill>
        <a:latin typeface="Comic Sans MS" pitchFamily="66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b="1" kern="1200">
        <a:solidFill>
          <a:srgbClr val="FF0000"/>
        </a:solidFill>
        <a:latin typeface="Comic Sans MS" pitchFamily="66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b="1" kern="1200">
        <a:solidFill>
          <a:srgbClr val="FF0000"/>
        </a:solidFill>
        <a:latin typeface="Comic Sans MS" pitchFamily="66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b="1" kern="1200">
        <a:solidFill>
          <a:srgbClr val="FF0000"/>
        </a:solidFill>
        <a:latin typeface="Comic Sans MS" pitchFamily="66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b="1" kern="1200">
        <a:solidFill>
          <a:srgbClr val="FF0000"/>
        </a:solidFill>
        <a:latin typeface="Comic Sans MS" pitchFamily="66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0000FF"/>
    <a:srgbClr val="0066FF"/>
    <a:srgbClr val="FF0000"/>
    <a:srgbClr val="FF99FF"/>
    <a:srgbClr val="FFFFCC"/>
    <a:srgbClr val="99FFCC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45" autoAdjust="0"/>
  </p:normalViewPr>
  <p:slideViewPr>
    <p:cSldViewPr snapToGrid="0">
      <p:cViewPr varScale="1">
        <p:scale>
          <a:sx n="53" d="100"/>
          <a:sy n="53" d="100"/>
        </p:scale>
        <p:origin x="40" y="-92"/>
      </p:cViewPr>
      <p:guideLst>
        <p:guide orient="horz" pos="3360"/>
        <p:guide pos="2856"/>
      </p:guideLst>
    </p:cSldViewPr>
  </p:slideViewPr>
  <p:outlineViewPr>
    <p:cViewPr>
      <p:scale>
        <a:sx n="33" d="100"/>
        <a:sy n="33" d="100"/>
      </p:scale>
      <p:origin x="48" y="335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handoutMaster" Target="handoutMasters/handout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presProps" Target="pres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7" tIns="46589" rIns="93177" bIns="46589" numCol="1" anchor="ctr" anchorCtr="0" compatLnSpc="1">
            <a:prstTxWarp prst="textNoShape">
              <a:avLst/>
            </a:prstTxWarp>
          </a:bodyPr>
          <a:lstStyle>
            <a:lvl1pPr algn="l" defTabSz="931863">
              <a:spcBef>
                <a:spcPct val="0"/>
              </a:spcBef>
              <a:defRPr sz="1200" b="0">
                <a:solidFill>
                  <a:srgbClr val="0000FF"/>
                </a:solidFill>
                <a:latin typeface="Comic Sans MS" pitchFamily="66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Arial" pitchFamily="34" charset="0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1450" y="0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7" tIns="46589" rIns="93177" bIns="46589" numCol="1" anchor="ctr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defRPr sz="1200" b="0">
                <a:solidFill>
                  <a:srgbClr val="0000FF"/>
                </a:solidFill>
                <a:latin typeface="Comic Sans MS" pitchFamily="66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Arial" pitchFamily="34" charset="0"/>
            </a:endParaRPr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l" defTabSz="931863">
              <a:spcBef>
                <a:spcPct val="0"/>
              </a:spcBef>
              <a:defRPr sz="1200" b="0">
                <a:solidFill>
                  <a:srgbClr val="0000FF"/>
                </a:solidFill>
                <a:latin typeface="Comic Sans MS" pitchFamily="66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Arial" pitchFamily="34" charset="0"/>
            </a:endParaRPr>
          </a:p>
        </p:txBody>
      </p:sp>
      <p:sp>
        <p:nvSpPr>
          <p:cNvPr id="40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defRPr sz="1200" b="0">
                <a:solidFill>
                  <a:srgbClr val="0000FF"/>
                </a:solidFill>
              </a:defRPr>
            </a:lvl1pPr>
          </a:lstStyle>
          <a:p>
            <a:pPr>
              <a:defRPr/>
            </a:pPr>
            <a:fld id="{AC7C8B8E-2F64-474E-8A29-B246BA0BB4A7}" type="slidenum">
              <a:rPr lang="en-US">
                <a:latin typeface="Arial" pitchFamily="34" charset="0"/>
              </a:rPr>
              <a:pPr>
                <a:defRPr/>
              </a:pPr>
              <a:t>‹#›</a:t>
            </a:fld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3285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l" defTabSz="931863">
              <a:spcBef>
                <a:spcPct val="0"/>
              </a:spcBef>
              <a:defRPr sz="1200" b="0">
                <a:solidFill>
                  <a:srgbClr val="0000FF"/>
                </a:solidFill>
                <a:latin typeface="Marlett" pitchFamily="2" charset="2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81450" y="0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defRPr sz="1200" b="0">
                <a:solidFill>
                  <a:srgbClr val="0000FF"/>
                </a:solidFill>
                <a:latin typeface="Marlett" pitchFamily="2" charset="2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2213" y="695325"/>
            <a:ext cx="464185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408488"/>
            <a:ext cx="5153025" cy="417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l" defTabSz="931863">
              <a:spcBef>
                <a:spcPct val="0"/>
              </a:spcBef>
              <a:defRPr sz="1200" b="0">
                <a:solidFill>
                  <a:srgbClr val="0000FF"/>
                </a:solidFill>
                <a:latin typeface="Marlett" pitchFamily="2" charset="2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defRPr sz="1200" b="0">
                <a:solidFill>
                  <a:srgbClr val="0000FF"/>
                </a:solidFill>
                <a:latin typeface="Marlett" pitchFamily="2" charset="2"/>
              </a:defRPr>
            </a:lvl1pPr>
          </a:lstStyle>
          <a:p>
            <a:pPr>
              <a:defRPr/>
            </a:pPr>
            <a:fld id="{7A179AA7-88EF-41FC-9297-14EBA50B6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038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8C608E-EE0F-433D-BFEB-DE265B61B3FA}" type="slidenum">
              <a:rPr lang="en-US"/>
              <a:pPr/>
              <a:t>1</a:t>
            </a:fld>
            <a:endParaRPr lang="en-US"/>
          </a:p>
        </p:txBody>
      </p:sp>
      <p:sp>
        <p:nvSpPr>
          <p:cNvPr id="61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 eaLnBrk="0" hangingPunct="0"/>
            <a:fld id="{4AF87DD0-A627-4EBD-82BC-B932426052A0}" type="slidenum">
              <a:rPr lang="ar-SA" sz="1200">
                <a:solidFill>
                  <a:srgbClr val="0000FF"/>
                </a:solidFill>
                <a:latin typeface="Marlett" pitchFamily="2" charset="2"/>
              </a:rPr>
              <a:pPr algn="r" eaLnBrk="0" hangingPunct="0"/>
              <a:t>1</a:t>
            </a:fld>
            <a:endParaRPr lang="en-US" sz="120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91432" tIns="45716" rIns="91432" bIns="4571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E37729-B592-4F7F-B7D6-E92CAF4619C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DFA686-750E-49D7-B437-807194BE9F2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98C9DE-423B-48BF-825F-1823D7358FE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CE5BF1-6AEA-4576-903A-677887C0F36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7F97FF-367B-443A-9E4A-90CE84CD15D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20BC2A-A6CC-42CC-9CC9-9646573E23C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D95F20-9BE7-40EC-9C45-93080F2B5BB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D5ACFD-7D83-4CD0-B256-439EEB1F1D1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416648-5873-44EB-AA47-4CACB643D05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F3F31B-A289-4A3A-ADE0-D8EACFA4EC3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B092EC-F17B-4F26-BCA5-6FBB5918B79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2B0CF0-79CC-4DB8-8646-F5028A4395D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B1ED3F-5C5E-4C31-B00F-C9AABBA0BD7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95BD9F-679C-41A6-B7FE-A150038C537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1D2344-EEB7-424D-BE29-338E82F294F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75C1EC-89E8-47BC-AA53-D64610ED0FC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9952C0-40DD-4F8B-81C9-236390828E1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1803C0-D47E-4A2B-9645-D43559E464C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337404-5E08-445E-9629-7E343C09A0C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87FB6E-CB5E-4B3C-902E-C78B1CA696F7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80A44D-5D5D-41E7-8F90-4651A6FEEDA7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E6B49D-C94C-45F0-B29A-3C03A339D912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721256-08F1-4FD8-900E-B7A4459E324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3D4D27-CEE8-4344-8C8F-A3B2B0F8BFF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B44CB9-045E-43C6-B31E-B3A73977AAB7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A664F3-C5ED-4176-9537-E3586F45423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6E85F6-8DE3-4D92-963F-2D70A17174E5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FF661-9414-4659-AC94-4AA400AB59D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889DEE-8E4A-42C1-9E08-1C1B245E2D9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6F2CAF-F158-4A36-92D6-535D5CC0FC2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4E686D-821C-4E3E-8FC0-2769E22860F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E21927-0645-4932-98F7-C557A49D28F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125B49-A203-45D5-A6E5-55B41A04185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5EFB2F-6FA6-4581-8771-03E24D8785D7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C9F7EF-90A4-4D82-894B-9C2E00516D4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88B845-DDC3-432C-9204-E4CF369AEA71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202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3BF192-A35B-4586-95C7-CAD5C3DFAB58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7E4231-6C81-497E-87E7-2DD2ABB288D2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20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7B637B-27A9-443C-B8CB-E355919C5694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F6A926-D885-445D-8C96-AD3849608587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20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A4EEB2-A94E-477E-9AAA-69E2DE31DBA0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207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A9C156-B2C8-45CB-AE90-2D1AFEAE3059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208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B36DE9-D8DF-41FD-9ECD-43CB625D74A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209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D35249-78BE-4FA2-90C7-5CE43BAE6C38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8E08EC-A58E-4465-AFD0-5A270874243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9A112B-0BCB-4809-BE09-52A82CCD1487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21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8A783C-6D95-4E38-90DC-730036BC05BC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Sense</a:t>
            </a:r>
            <a:r>
              <a:rPr lang="en-US" baseline="0" dirty="0"/>
              <a:t> must be volatile because of Java memory model so that JIT does not remove loop spinning on sense</a:t>
            </a:r>
            <a:endParaRPr 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30FBD0-8718-414D-AE48-A6169795AA97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215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30DF23-A564-414E-B7F9-264233A5BF60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216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15CA4F-0857-4891-B5EC-429A3138A976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217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D17ED9-49A6-43D4-ADB2-26D2A4191F9E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218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782BD9-7DF0-4459-B520-70B7722294ED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219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FBE96F-6E18-4418-BB94-BAA557D1E17E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220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97BA2F-0102-42AD-910B-35458289786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221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33F77D-D013-487B-94C4-981E42D19E6E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222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94105F-8021-4D8D-879D-8C275A457F17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223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AC6A6A-61EA-4964-B969-9DD58A21DBE9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224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66DDB3-205F-45DF-A2F8-9B4071F0BEA6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225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10ABD9-E66C-475D-B535-AA523A76B70D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226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C810E0-5CD8-4442-A362-4E4DBAD07C4B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227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CFC375-C250-43FA-A5B2-01861D05339C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228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BA6CAE-0326-493B-822F-3B94BEF25203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229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D68DB8-4C83-4C34-8DBF-8B056015C543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185D6D-21DB-4F19-88B6-25386BA36951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231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61F87-B45A-4937-8495-980C9831F309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23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5C0760-6457-4E07-A99E-C5EFE7E889D6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233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12E739-EB9E-48CD-8F89-646449CEEBC8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79D6F2-5047-4C58-A658-D8F04A64256A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235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314F4D-AF30-41D1-8E85-E199C623A578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236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55DFF6-76EB-47EF-8FCC-5DF40FADD449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237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C28A90-3206-4897-BD7E-D0CDC617D316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238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511894-B3CB-4627-87FC-5108E005C5EE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239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88D0ED-3CB8-4ABE-A617-61C790C62A39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240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45F0D2-8B28-40CC-85C0-76C06E3CB070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241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D180A3-085D-4406-8103-1220310787A5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242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07CECD-6C01-48E0-8BE5-4869D886E2C8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243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0AADE4-5DE0-47B9-8019-A8D65D4FC6CD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244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6DB1CD-E1BF-4911-A2B5-8B0BD771DD33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245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5F042A-742B-4691-8D66-5200B5CB0911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246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DB0AD5-F368-43F2-BA7E-0344A705F13A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247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52D29E-416F-44D1-B04A-B073C95E276A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24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A87A29-513E-43A8-9EB2-C69292CCF59D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249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A76B7-B4FC-4F28-8BDE-1CE11EA2222A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250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48A3ACEA-B13E-4FD9-9944-A73AFC75B8D4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85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3A78D6-CFB1-4D89-8220-965BD4C30214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252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4A1884-3494-4537-8465-CC2DC111CC2A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253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A4BFF2-B3A9-49AC-9FF5-0C4285D1E205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254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A3A924-2AFF-495E-86F0-7472155112E0}" type="slidenum">
              <a:rPr lang="en-US" smtClean="0"/>
              <a:pPr/>
              <a:t>89</a:t>
            </a:fld>
            <a:endParaRPr lang="en-US"/>
          </a:p>
        </p:txBody>
      </p:sp>
      <p:sp>
        <p:nvSpPr>
          <p:cNvPr id="256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757AA9-269F-4089-AFFB-DFD3BE104CDC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257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6BF10D-8174-4263-82F6-E3949519AFAA}" type="slidenum">
              <a:rPr lang="en-US" smtClean="0"/>
              <a:pPr/>
              <a:t>91</a:t>
            </a:fld>
            <a:endParaRPr lang="en-US"/>
          </a:p>
        </p:txBody>
      </p:sp>
      <p:sp>
        <p:nvSpPr>
          <p:cNvPr id="258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E81B15-50B0-42F5-BC2F-57AE0FEC8887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259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FDE2B6-383D-43B5-A24E-BA21E6DB6C3D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260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99A749-989D-4EA2-9BBB-150F03199583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261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C29B3F-0055-417B-9F4C-36E13AC3BA9A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262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273C3F02-01AE-43F5-80CA-0C9BB941BD48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96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322F9DF4-B5B4-4FFE-9A05-343555FC271C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97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64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83EA43B2-0E9A-4696-9364-18A6E6AF5F36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98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65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3C6BBFA1-E373-40EE-943D-1A58932FF9EB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99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66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82783FB1-E503-4183-B8AF-D136292A7675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100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67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A994FDBE-1EA0-45D6-BC62-5E389FE37CC0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101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68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F8E4E5B0-6C96-4499-8A6C-F62D8E91A776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102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69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555AA2EC-8B8B-4398-8A79-C2E7D3A2C7C9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103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70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0B884CF1-D1B9-4128-83D8-49834074343D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104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71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1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46CC1AD3-58CD-4A58-8259-D93FFB34CB6D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105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72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CDBF0034-9216-4710-BBED-53FECDAABD29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106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73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0D2B7E46-6DDF-4506-BE78-7042A1077E47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107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74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8173C59B-26E6-4EC8-9655-068FD3700CC6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108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5BD5E060-B577-4AE7-B37E-B6D69C02CFC3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109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76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7"/>
          <p:cNvSpPr txBox="1">
            <a:spLocks noGrp="1" noChangeArrowheads="1"/>
          </p:cNvSpPr>
          <p:nvPr/>
        </p:nvSpPr>
        <p:spPr bwMode="auto">
          <a:xfrm>
            <a:off x="3981450" y="8816975"/>
            <a:ext cx="30448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 defTabSz="931863">
              <a:spcBef>
                <a:spcPct val="0"/>
              </a:spcBef>
            </a:pPr>
            <a:fld id="{0DFBEBD9-7E19-446F-AA9C-59F3EB514684}" type="slidenum">
              <a:rPr lang="en-US" sz="1200" b="0">
                <a:solidFill>
                  <a:srgbClr val="0000FF"/>
                </a:solidFill>
                <a:latin typeface="Marlett" pitchFamily="2" charset="2"/>
              </a:rPr>
              <a:pPr algn="r" defTabSz="931863">
                <a:spcBef>
                  <a:spcPct val="0"/>
                </a:spcBef>
              </a:pPr>
              <a:t>110</a:t>
            </a:fld>
            <a:endParaRPr lang="en-US" sz="1200" b="0">
              <a:solidFill>
                <a:srgbClr val="0000FF"/>
              </a:solidFill>
              <a:latin typeface="Marlett" pitchFamily="2" charset="2"/>
            </a:endParaRPr>
          </a:p>
        </p:txBody>
      </p:sp>
      <p:sp>
        <p:nvSpPr>
          <p:cNvPr id="277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We describe the static tree using counters in the nodes but could use simple array of locations, each written by a child, all spun on (repeatedly read) by the parent </a:t>
            </a: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C93AEB-E1C0-4EF2-935E-A6C3E37CD83F}" type="slidenum">
              <a:rPr lang="en-US" smtClean="0"/>
              <a:pPr/>
              <a:t>111</a:t>
            </a:fld>
            <a:endParaRPr lang="en-US"/>
          </a:p>
        </p:txBody>
      </p:sp>
      <p:sp>
        <p:nvSpPr>
          <p:cNvPr id="278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E9B4252-E8B9-0541-BA4E-13E19B7AFE92}" type="slidenum">
              <a:rPr lang="en-US" sz="1200" b="0">
                <a:solidFill>
                  <a:srgbClr val="0000FF"/>
                </a:solidFill>
                <a:latin typeface="Marlett" charset="0"/>
              </a:rPr>
              <a:pPr/>
              <a:t>112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  <p:sp>
        <p:nvSpPr>
          <p:cNvPr id="279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696913"/>
            <a:ext cx="4640263" cy="3479800"/>
          </a:xfrm>
          <a:ln/>
        </p:spPr>
      </p:sp>
      <p:sp>
        <p:nvSpPr>
          <p:cNvPr id="279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25" y="4408488"/>
            <a:ext cx="5153025" cy="417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Some of the material in this lecture appears in chapter 3 of the textbook. The rest appear in the article: 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On the nature of progress, Herlihy and </a:t>
            </a:r>
            <a:r>
              <a:rPr lang="en-US" dirty="0" err="1">
                <a:ea typeface="ＭＳ Ｐゴシック" charset="0"/>
              </a:rPr>
              <a:t>Shavit</a:t>
            </a:r>
            <a:r>
              <a:rPr lang="en-US" dirty="0">
                <a:ea typeface="ＭＳ Ｐゴシック" charset="0"/>
              </a:rPr>
              <a:t>, 2008 which can be found at 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http: //www.cs.tau.ac.il/~shanir/progress.pdf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0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  <p:sp>
        <p:nvSpPr>
          <p:cNvPr id="280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6D04CC4-AB87-B142-B179-89DD0A91397B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113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1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  <p:sp>
        <p:nvSpPr>
          <p:cNvPr id="281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411503D0-37DE-A543-9BBE-59EF7F196BA9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114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2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  <p:sp>
        <p:nvSpPr>
          <p:cNvPr id="282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D80EC240-A312-0645-94FE-64F0F61F0E4A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115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34C9CEE-05E7-E24D-BFC7-01945622DFED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116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  <p:sp>
        <p:nvSpPr>
          <p:cNvPr id="283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3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252C94E-3E48-9545-BF2F-068375571F0C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117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  <p:sp>
        <p:nvSpPr>
          <p:cNvPr id="284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C97C36BB-050F-744D-8719-65E34F4907C9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118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  <p:sp>
        <p:nvSpPr>
          <p:cNvPr id="285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BE53FDAD-8E2D-3941-BDC5-2F43F6BF6ED8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119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  <p:sp>
        <p:nvSpPr>
          <p:cNvPr id="286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0863AB8B-F5DF-4A4E-957D-23680CBEE58D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120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  <p:sp>
        <p:nvSpPr>
          <p:cNvPr id="287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9192442A-4445-7A48-AFEB-6B11A892E873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121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  <p:sp>
        <p:nvSpPr>
          <p:cNvPr id="288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8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Re call: if none of the labels (timestamps) changed, then there was a point, </a:t>
            </a:r>
            <a:r>
              <a:rPr lang="en-US" b="1" dirty="0">
                <a:ea typeface="ＭＳ Ｐゴシック" charset="0"/>
              </a:rPr>
              <a:t>after the end of the first collect, and before the start of the next collect</a:t>
            </a:r>
            <a:r>
              <a:rPr lang="en-US" dirty="0">
                <a:ea typeface="ＭＳ Ｐゴシック" charset="0"/>
              </a:rPr>
              <a:t>, in which none of the registers were written to. The values collected correspond to the values that were all together in memory at that point in time. </a:t>
            </a: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9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  <p:sp>
        <p:nvSpPr>
          <p:cNvPr id="289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49399DC4-B80A-1B49-96BC-F7DC1DD7B64E}" type="slidenum">
              <a:rPr lang="en-US" sz="1200" b="0">
                <a:solidFill>
                  <a:srgbClr val="0000FF"/>
                </a:solidFill>
                <a:latin typeface="Marlett" charset="0"/>
              </a:rPr>
              <a:pPr/>
              <a:t>122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8E692C0A-5C02-4640-B7D6-5E4F5EF69B02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123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  <p:sp>
        <p:nvSpPr>
          <p:cNvPr id="290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0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F14FFE7E-8534-064D-A2CE-27923FAB2B99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124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  <p:sp>
        <p:nvSpPr>
          <p:cNvPr id="291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7483FB1-73F5-C740-944B-5D56AE4AEEA4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125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  <p:sp>
        <p:nvSpPr>
          <p:cNvPr id="292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2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We say that "an </a:t>
            </a:r>
            <a:r>
              <a:rPr lang="en-US" dirty="0" err="1">
                <a:ea typeface="ＭＳ Ｐゴシック" charset="0"/>
              </a:rPr>
              <a:t>alg</a:t>
            </a:r>
            <a:r>
              <a:rPr lang="en-US" dirty="0">
                <a:ea typeface="ＭＳ Ｐゴシック" charset="0"/>
              </a:rPr>
              <a:t> is lock-free/starvation-free/.../wait-free" if all its methods together provide the given property". For individual methods, the </a:t>
            </a:r>
            <a:br>
              <a:rPr lang="en-US" dirty="0">
                <a:ea typeface="ＭＳ Ｐゴシック" charset="0"/>
              </a:rPr>
            </a:br>
            <a:r>
              <a:rPr lang="en-US" dirty="0">
                <a:ea typeface="ＭＳ Ｐゴシック" charset="0"/>
              </a:rPr>
              <a:t>rule should apply to calls of the given type of method only (as is currently defined). Thus, our version of Michael's lock-free linked list has a wait-free contains(), obstruction-free add() and remove(), and the algorithm as a whole is lock-free. What it means is that if you want to guarantee successful </a:t>
            </a:r>
            <a:br>
              <a:rPr lang="en-US" dirty="0">
                <a:ea typeface="ＭＳ Ｐゴシック" charset="0"/>
              </a:rPr>
            </a:br>
            <a:r>
              <a:rPr lang="en-US" dirty="0">
                <a:ea typeface="ＭＳ Ｐゴシック" charset="0"/>
              </a:rPr>
              <a:t>add() calls you need to add </a:t>
            </a:r>
            <a:r>
              <a:rPr lang="en-US" dirty="0" err="1">
                <a:ea typeface="ＭＳ Ｐゴシック" charset="0"/>
              </a:rPr>
              <a:t>backoff</a:t>
            </a:r>
            <a:r>
              <a:rPr lang="en-US" dirty="0">
                <a:ea typeface="ＭＳ Ｐゴシック" charset="0"/>
              </a:rPr>
              <a:t> on the remove() calls... </a:t>
            </a:r>
            <a:br>
              <a:rPr lang="en-US" dirty="0">
                <a:ea typeface="ＭＳ Ｐゴシック" charset="0"/>
              </a:rPr>
            </a:br>
            <a:br>
              <a:rPr lang="en-US" dirty="0">
                <a:ea typeface="ＭＳ Ｐゴシック" charset="0"/>
              </a:rPr>
            </a:br>
            <a:r>
              <a:rPr lang="en-US" dirty="0">
                <a:ea typeface="ＭＳ Ｐゴシック" charset="0"/>
              </a:rPr>
              <a:t>Another example is the </a:t>
            </a:r>
            <a:r>
              <a:rPr lang="en-US" dirty="0" err="1">
                <a:ea typeface="ＭＳ Ｐゴシック" charset="0"/>
              </a:rPr>
              <a:t>Obs</a:t>
            </a:r>
            <a:r>
              <a:rPr lang="en-US" dirty="0">
                <a:ea typeface="ＭＳ Ｐゴシック" charset="0"/>
              </a:rPr>
              <a:t>-free snapshot consisting of two collects, snapshot only fails because updates succeed and yet we say its </a:t>
            </a:r>
            <a:r>
              <a:rPr lang="en-US" dirty="0" err="1">
                <a:ea typeface="ＭＳ Ｐゴシック" charset="0"/>
              </a:rPr>
              <a:t>obs</a:t>
            </a:r>
            <a:r>
              <a:rPr lang="en-US" dirty="0">
                <a:ea typeface="ＭＳ Ｐゴシック" charset="0"/>
              </a:rPr>
              <a:t>-free. So the snapshot algorithm as a whole is lock-free, updates are wait-free, and the snapshot method as a whole is obstruction-free.</a:t>
            </a: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3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  <p:sp>
        <p:nvSpPr>
          <p:cNvPr id="293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BFA1AC4-6C57-004E-A075-663B61F1766E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126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4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  <p:sp>
        <p:nvSpPr>
          <p:cNvPr id="294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9B1192C5-B09E-224F-8FE8-59075ACF58FE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127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5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  <p:sp>
        <p:nvSpPr>
          <p:cNvPr id="295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9EAA9275-AF7C-3248-858F-97438F8C952D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128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  <p:sp>
        <p:nvSpPr>
          <p:cNvPr id="296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AAF4C96-6EBB-194F-959F-5986679DBEAE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129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7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  <a:p>
            <a:endParaRPr lang="en-US" dirty="0">
              <a:ea typeface="ＭＳ Ｐゴシック" charset="0"/>
            </a:endParaRP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In some sense, the weakest interesting notion of progress requires</a:t>
            </a:r>
          </a:p>
          <a:p>
            <a:r>
              <a:rPr lang="en-US" dirty="0">
                <a:ea typeface="ＭＳ Ｐゴシック" charset="0"/>
              </a:rPr>
              <a:t>that the system as a whole continues to advance. Consider a fixed</a:t>
            </a:r>
          </a:p>
          <a:p>
            <a:r>
              <a:rPr lang="en-US" dirty="0">
                <a:ea typeface="ＭＳ Ｐゴシック" charset="0"/>
              </a:rPr>
              <a:t>history $H$. A collection of methods of a given object provides</a:t>
            </a:r>
          </a:p>
          <a:p>
            <a:r>
              <a:rPr lang="en-US" dirty="0">
                <a:ea typeface="ＭＳ Ｐゴシック" charset="0"/>
              </a:rPr>
              <a:t>\</a:t>
            </a:r>
            <a:r>
              <a:rPr lang="en-US" dirty="0" err="1">
                <a:ea typeface="ＭＳ Ｐゴシック" charset="0"/>
              </a:rPr>
              <a:t>emph</a:t>
            </a:r>
            <a:r>
              <a:rPr lang="en-US" dirty="0">
                <a:ea typeface="ＭＳ Ｐゴシック" charset="0"/>
              </a:rPr>
              <a:t>{minimal progress} in $H$ if, in every suffix of $H$, some</a:t>
            </a:r>
          </a:p>
          <a:p>
            <a:r>
              <a:rPr lang="en-US" dirty="0">
                <a:ea typeface="ＭＳ Ｐゴシック" charset="0"/>
              </a:rPr>
              <a:t>pending active invocation of one of the methods in the collection</a:t>
            </a:r>
          </a:p>
          <a:p>
            <a:r>
              <a:rPr lang="en-US" dirty="0">
                <a:ea typeface="ＭＳ Ｐゴシック" charset="0"/>
              </a:rPr>
              <a:t>has a matching response. In other words, there is no point in the</a:t>
            </a:r>
          </a:p>
          <a:p>
            <a:r>
              <a:rPr lang="en-US" dirty="0">
                <a:ea typeface="ＭＳ Ｐゴシック" charset="0"/>
              </a:rPr>
              <a:t>history where all threads that called abstract methods in the</a:t>
            </a:r>
          </a:p>
          <a:p>
            <a:r>
              <a:rPr lang="en-US" dirty="0">
                <a:ea typeface="ＭＳ Ｐゴシック" charset="0"/>
              </a:rPr>
              <a:t>collection take an infinite number of concrete steps without</a:t>
            </a:r>
          </a:p>
          <a:p>
            <a:r>
              <a:rPr lang="en-US" dirty="0">
                <a:ea typeface="ＭＳ Ｐゴシック" charset="0"/>
              </a:rPr>
              <a:t>returning. This condition might, for example, be useful for a thread</a:t>
            </a:r>
          </a:p>
          <a:p>
            <a:r>
              <a:rPr lang="en-US" dirty="0">
                <a:ea typeface="ＭＳ Ｐゴシック" charset="0"/>
              </a:rPr>
              <a:t>pool, where we care about advancing the overall computation, but do</a:t>
            </a:r>
          </a:p>
          <a:p>
            <a:r>
              <a:rPr lang="en-US" dirty="0">
                <a:ea typeface="ＭＳ Ｐゴシック" charset="0"/>
              </a:rPr>
              <a:t>not care whether individual threads are underutilized.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The strongest notion of progress, and arguably the one most</a:t>
            </a:r>
          </a:p>
          <a:p>
            <a:r>
              <a:rPr lang="en-US" dirty="0">
                <a:ea typeface="ＭＳ Ｐゴシック" charset="0"/>
              </a:rPr>
              <a:t>programmers actually want, requires that each individual thread</a:t>
            </a:r>
          </a:p>
          <a:p>
            <a:r>
              <a:rPr lang="en-US" dirty="0">
                <a:ea typeface="ＭＳ Ｐゴシック" charset="0"/>
              </a:rPr>
              <a:t>continues to advance. A collection of methods of a given object</a:t>
            </a:r>
          </a:p>
          <a:p>
            <a:r>
              <a:rPr lang="en-US" dirty="0">
                <a:ea typeface="ＭＳ Ｐゴシック" charset="0"/>
              </a:rPr>
              <a:t>provides \</a:t>
            </a:r>
            <a:r>
              <a:rPr lang="en-US" dirty="0" err="1">
                <a:ea typeface="ＭＳ Ｐゴシック" charset="0"/>
              </a:rPr>
              <a:t>emph</a:t>
            </a:r>
            <a:r>
              <a:rPr lang="en-US" dirty="0">
                <a:ea typeface="ＭＳ Ｐゴシック" charset="0"/>
              </a:rPr>
              <a:t>{maximal progress} in a history $H$ if in every suffix</a:t>
            </a:r>
          </a:p>
          <a:p>
            <a:r>
              <a:rPr lang="en-US" dirty="0">
                <a:ea typeface="ＭＳ Ｐゴシック" charset="0"/>
              </a:rPr>
              <a:t>of $H$, every pending active invocation of a method in the</a:t>
            </a:r>
          </a:p>
          <a:p>
            <a:r>
              <a:rPr lang="en-US" dirty="0">
                <a:ea typeface="ＭＳ Ｐゴシック" charset="0"/>
              </a:rPr>
              <a:t>collection has a matching response. In other words, there is no</a:t>
            </a:r>
          </a:p>
          <a:p>
            <a:r>
              <a:rPr lang="en-US" dirty="0">
                <a:ea typeface="ＭＳ Ｐゴシック" charset="0"/>
              </a:rPr>
              <a:t>point in the history where a thread that calls the abstract method</a:t>
            </a:r>
          </a:p>
          <a:p>
            <a:r>
              <a:rPr lang="en-US" dirty="0">
                <a:ea typeface="ＭＳ Ｐゴシック" charset="0"/>
              </a:rPr>
              <a:t>in the collection takes an infinite number of concrete steps without</a:t>
            </a:r>
          </a:p>
          <a:p>
            <a:r>
              <a:rPr lang="en-US" dirty="0">
                <a:ea typeface="ＭＳ Ｐゴシック" charset="0"/>
              </a:rPr>
              <a:t>returning. This condition might be useful for a web server, where</a:t>
            </a:r>
          </a:p>
          <a:p>
            <a:r>
              <a:rPr lang="en-US" dirty="0">
                <a:ea typeface="ＭＳ Ｐゴシック" charset="0"/>
              </a:rPr>
              <a:t>each thread represents a customer request, and we care about</a:t>
            </a:r>
          </a:p>
          <a:p>
            <a:r>
              <a:rPr lang="en-US" dirty="0">
                <a:ea typeface="ＭＳ Ｐゴシック" charset="0"/>
              </a:rPr>
              <a:t>advancing each individual computation.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The condition is the difference between the requirements of a thread pool versus those of a web server. This condition might, for example, be useful for a thread</a:t>
            </a:r>
          </a:p>
          <a:p>
            <a:r>
              <a:rPr lang="en-US" dirty="0">
                <a:ea typeface="ＭＳ Ｐゴシック" charset="0"/>
              </a:rPr>
              <a:t>pool, where we care about advancing the overall computation, but do</a:t>
            </a:r>
          </a:p>
          <a:p>
            <a:r>
              <a:rPr lang="en-US" dirty="0">
                <a:ea typeface="ＭＳ Ｐゴシック" charset="0"/>
              </a:rPr>
              <a:t>not care whether individual threads are underutilized. 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In the latter case the condition might be useful for a web server, where</a:t>
            </a:r>
          </a:p>
          <a:p>
            <a:r>
              <a:rPr lang="en-US" dirty="0">
                <a:ea typeface="ＭＳ Ｐゴシック" charset="0"/>
              </a:rPr>
              <a:t>each thread represents a customer request, and we care about</a:t>
            </a:r>
          </a:p>
          <a:p>
            <a:r>
              <a:rPr lang="en-US" dirty="0">
                <a:ea typeface="ＭＳ Ｐゴシック" charset="0"/>
              </a:rPr>
              <a:t>advancing each individual computation.</a:t>
            </a:r>
          </a:p>
        </p:txBody>
      </p:sp>
      <p:sp>
        <p:nvSpPr>
          <p:cNvPr id="297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9091D35-1C4B-134A-B678-15343E23A4AC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130</a:t>
            </a:fld>
            <a:endParaRPr lang="en-US" sz="1200" b="0">
              <a:solidFill>
                <a:srgbClr val="0000FF"/>
              </a:solidFill>
              <a:latin typeface="Marlett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9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Although these progress conditions may have seemed quite</a:t>
            </a:r>
          </a:p>
          <a:p>
            <a:r>
              <a:rPr lang="en-US" dirty="0">
                <a:ea typeface="ＭＳ Ｐゴシック" charset="0"/>
              </a:rPr>
              <a:t>different, each provides either minimal or maximal progress with</a:t>
            </a:r>
          </a:p>
          <a:p>
            <a:r>
              <a:rPr lang="en-US" dirty="0">
                <a:ea typeface="ＭＳ Ｐゴシック" charset="0"/>
              </a:rPr>
              <a:t>respect to some set of histories.</a:t>
            </a:r>
          </a:p>
          <a:p>
            <a:r>
              <a:rPr lang="en-US" dirty="0">
                <a:ea typeface="ＭＳ Ｐゴシック" charset="0"/>
              </a:rPr>
              <a:t>The result is a simple and regular</a:t>
            </a:r>
          </a:p>
          <a:p>
            <a:r>
              <a:rPr lang="en-US" dirty="0">
                <a:ea typeface="ＭＳ Ｐゴシック" charset="0"/>
              </a:rPr>
              <a:t>structure illustrated in the ``periodic table'' shown in</a:t>
            </a:r>
          </a:p>
          <a:p>
            <a:r>
              <a:rPr lang="en-US" dirty="0">
                <a:ea typeface="ＭＳ Ｐゴシック" charset="0"/>
              </a:rPr>
              <a:t>Figure~\ref{</a:t>
            </a:r>
            <a:r>
              <a:rPr lang="en-US" dirty="0" err="1">
                <a:ea typeface="ＭＳ Ｐゴシック" charset="0"/>
              </a:rPr>
              <a:t>figure:progress</a:t>
            </a:r>
            <a:r>
              <a:rPr lang="en-US" dirty="0">
                <a:ea typeface="ＭＳ Ｐゴシック" charset="0"/>
              </a:rPr>
              <a:t>}</a:t>
            </a:r>
          </a:p>
          <a:p>
            <a:r>
              <a:rPr lang="en-US" dirty="0">
                <a:ea typeface="ＭＳ Ｐゴシック" charset="0"/>
              </a:rPr>
              <a:t>(and its more complete counterpart in Figure~\ref{</a:t>
            </a:r>
            <a:r>
              <a:rPr lang="en-US" dirty="0" err="1">
                <a:ea typeface="ＭＳ Ｐゴシック" charset="0"/>
              </a:rPr>
              <a:t>figure:clash</a:t>
            </a:r>
            <a:r>
              <a:rPr lang="en-US" dirty="0">
                <a:ea typeface="ＭＳ Ｐゴシック" charset="0"/>
              </a:rPr>
              <a:t>}).</a:t>
            </a:r>
          </a:p>
          <a:p>
            <a:r>
              <a:rPr lang="en-US" dirty="0">
                <a:ea typeface="ＭＳ Ｐゴシック" charset="0"/>
              </a:rPr>
              <a:t>These observations may appear so simple as to be obvious in retrospect,</a:t>
            </a:r>
          </a:p>
          <a:p>
            <a:r>
              <a:rPr lang="en-US" dirty="0">
                <a:ea typeface="ＭＳ Ｐゴシック" charset="0"/>
              </a:rPr>
              <a:t>but we have never seen them described in this way.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There are three dividing lines, two vertical and one horizontal,</a:t>
            </a:r>
          </a:p>
          <a:p>
            <a:r>
              <a:rPr lang="en-US" dirty="0">
                <a:ea typeface="ＭＳ Ｐゴシック" charset="0"/>
              </a:rPr>
              <a:t>that split the five conditions. The leftmost vertical line separates</a:t>
            </a:r>
          </a:p>
          <a:p>
            <a:r>
              <a:rPr lang="en-US" dirty="0">
                <a:ea typeface="ＭＳ Ｐゴシック" charset="0"/>
              </a:rPr>
              <a:t>dependent conditions from the rest. The lock-free and wait-free</a:t>
            </a:r>
          </a:p>
          <a:p>
            <a:r>
              <a:rPr lang="en-US" dirty="0">
                <a:ea typeface="ＭＳ Ｐゴシック" charset="0"/>
              </a:rPr>
              <a:t>properties apply to any histories, while obstruction-freedom,</a:t>
            </a:r>
          </a:p>
          <a:p>
            <a:r>
              <a:rPr lang="en-US" dirty="0">
                <a:ea typeface="ＭＳ Ｐゴシック" charset="0"/>
              </a:rPr>
              <a:t>starvation-freedom, and deadlock-freedom require some kind of</a:t>
            </a:r>
          </a:p>
          <a:p>
            <a:r>
              <a:rPr lang="en-US" dirty="0">
                <a:ea typeface="ＭＳ Ｐゴシック" charset="0"/>
              </a:rPr>
              <a:t>external scheduler support to guarantee progress.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The rightmost vertical line separates the blocking and non-blocking</a:t>
            </a:r>
          </a:p>
          <a:p>
            <a:r>
              <a:rPr lang="en-US" dirty="0">
                <a:ea typeface="ＭＳ Ｐゴシック" charset="0"/>
              </a:rPr>
              <a:t>conditions. The lock-free, wait-free, and obstruction-free</a:t>
            </a:r>
          </a:p>
          <a:p>
            <a:r>
              <a:rPr lang="en-US" dirty="0">
                <a:ea typeface="ＭＳ Ｐゴシック" charset="0"/>
              </a:rPr>
              <a:t>conditions are non-blocking: if a suspended thread stops at an</a:t>
            </a:r>
          </a:p>
          <a:p>
            <a:r>
              <a:rPr lang="en-US" dirty="0">
                <a:ea typeface="ＭＳ Ｐゴシック" charset="0"/>
              </a:rPr>
              <a:t>arbitrary point in a method call, at least some active threads can</a:t>
            </a:r>
          </a:p>
          <a:p>
            <a:r>
              <a:rPr lang="en-US" dirty="0">
                <a:ea typeface="ＭＳ Ｐゴシック" charset="0"/>
              </a:rPr>
              <a:t>make progress. The deadlock-free and starvation-free conditions do not</a:t>
            </a:r>
          </a:p>
          <a:p>
            <a:r>
              <a:rPr lang="en-US" dirty="0">
                <a:ea typeface="ＭＳ Ｐゴシック" charset="0"/>
              </a:rPr>
              <a:t>have this property.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Finally, the horizontal line separates the minimal and maximal</a:t>
            </a:r>
          </a:p>
          <a:p>
            <a:r>
              <a:rPr lang="en-US" dirty="0">
                <a:ea typeface="ＭＳ Ｐゴシック" charset="0"/>
              </a:rPr>
              <a:t>progress conditions. The minimal conditions guarantee the system as</a:t>
            </a:r>
          </a:p>
          <a:p>
            <a:r>
              <a:rPr lang="en-US" dirty="0">
                <a:ea typeface="ＭＳ Ｐゴシック" charset="0"/>
              </a:rPr>
              <a:t>a whole makes progress while the maximal conditions guarantee that</a:t>
            </a:r>
          </a:p>
          <a:p>
            <a:r>
              <a:rPr lang="en-US" dirty="0">
                <a:ea typeface="ＭＳ Ｐゴシック" charset="0"/>
              </a:rPr>
              <a:t>each thread makes progress. For brevity, \</a:t>
            </a:r>
            <a:r>
              <a:rPr lang="en-US" dirty="0" err="1">
                <a:ea typeface="ＭＳ Ｐゴシック" charset="0"/>
              </a:rPr>
              <a:t>emph</a:t>
            </a:r>
            <a:r>
              <a:rPr lang="en-US" dirty="0">
                <a:ea typeface="ＭＳ Ｐゴシック" charset="0"/>
              </a:rPr>
              <a:t>{minimal} progress</a:t>
            </a:r>
          </a:p>
          <a:p>
            <a:r>
              <a:rPr lang="en-US" dirty="0">
                <a:ea typeface="ＭＳ Ｐゴシック" charset="0"/>
              </a:rPr>
              <a:t>properties encompass the lock-free and deadlock-free properties,</a:t>
            </a:r>
          </a:p>
          <a:p>
            <a:r>
              <a:rPr lang="en-US" dirty="0">
                <a:ea typeface="ＭＳ Ｐゴシック" charset="0"/>
              </a:rPr>
              <a:t>while \</a:t>
            </a:r>
            <a:r>
              <a:rPr lang="en-US" dirty="0" err="1">
                <a:ea typeface="ＭＳ Ｐゴシック" charset="0"/>
              </a:rPr>
              <a:t>emph</a:t>
            </a:r>
            <a:r>
              <a:rPr lang="en-US" dirty="0">
                <a:ea typeface="ＭＳ Ｐゴシック" charset="0"/>
              </a:rPr>
              <a:t>{maximal} properties encompass the wait-free,</a:t>
            </a:r>
          </a:p>
          <a:p>
            <a:r>
              <a:rPr lang="en-US" dirty="0">
                <a:ea typeface="ＭＳ Ｐゴシック" charset="0"/>
              </a:rPr>
              <a:t>starvation-free, and obstruction-free properties. Later we will see</a:t>
            </a:r>
          </a:p>
          <a:p>
            <a:r>
              <a:rPr lang="en-US" dirty="0">
                <a:ea typeface="ＭＳ Ｐゴシック" charset="0"/>
              </a:rPr>
              <a:t>several ways to cross this line. One way is ``helping'' (for lack of</a:t>
            </a:r>
          </a:p>
          <a:p>
            <a:r>
              <a:rPr lang="en-US" dirty="0">
                <a:ea typeface="ＭＳ Ｐゴシック" charset="0"/>
              </a:rPr>
              <a:t>space not included in this extended abstract), an algorithmic</a:t>
            </a:r>
          </a:p>
          <a:p>
            <a:r>
              <a:rPr lang="en-US" dirty="0">
                <a:ea typeface="ＭＳ Ｐゴシック" charset="0"/>
              </a:rPr>
              <a:t>technique that has threads help others so each and every thread</a:t>
            </a:r>
          </a:p>
          <a:p>
            <a:r>
              <a:rPr lang="en-US" dirty="0">
                <a:ea typeface="ＭＳ Ｐゴシック" charset="0"/>
              </a:rPr>
              <a:t>makes progress. However, in many cases, algorithms that employ</a:t>
            </a:r>
          </a:p>
          <a:p>
            <a:r>
              <a:rPr lang="en-US" dirty="0">
                <a:ea typeface="ＭＳ Ｐゴシック" charset="0"/>
              </a:rPr>
              <a:t>helping are costly. An alternative and less costly approach is to</a:t>
            </a:r>
          </a:p>
          <a:p>
            <a:r>
              <a:rPr lang="en-US" dirty="0">
                <a:ea typeface="ＭＳ Ｐゴシック" charset="0"/>
              </a:rPr>
              <a:t>make additional assumptions on scheduling. </a:t>
            </a:r>
          </a:p>
        </p:txBody>
      </p:sp>
      <p:sp>
        <p:nvSpPr>
          <p:cNvPr id="299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D8C99DDA-F6FF-B14F-A37D-F2DF19B58509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131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0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Thus, the various progress</a:t>
            </a:r>
          </a:p>
          <a:p>
            <a:r>
              <a:rPr lang="en-US" dirty="0">
                <a:ea typeface="ＭＳ Ｐゴシック" charset="0"/>
              </a:rPr>
              <a:t>conditions are not about the progress guarantees their</a:t>
            </a:r>
          </a:p>
          <a:p>
            <a:r>
              <a:rPr lang="en-US" dirty="0">
                <a:ea typeface="ＭＳ Ｐゴシック" charset="0"/>
              </a:rPr>
              <a:t>implementations must provide. All the properties in the table imply</a:t>
            </a:r>
          </a:p>
          <a:p>
            <a:r>
              <a:rPr lang="en-US" dirty="0">
                <a:ea typeface="ＭＳ Ｐゴシック" charset="0"/>
              </a:rPr>
              <a:t>the same thing, maximal progress, yet they differ in the combination</a:t>
            </a:r>
          </a:p>
          <a:p>
            <a:r>
              <a:rPr lang="en-US" dirty="0">
                <a:ea typeface="ＭＳ Ｐゴシック" charset="0"/>
              </a:rPr>
              <a:t>of scheduling assumptions necessary for an implementation to provide</a:t>
            </a:r>
          </a:p>
          <a:p>
            <a:r>
              <a:rPr lang="en-US" dirty="0">
                <a:ea typeface="ＭＳ Ｐゴシック" charset="0"/>
              </a:rPr>
              <a:t>it. Put differently, programmers design lock-free, obstruction-free,</a:t>
            </a:r>
          </a:p>
          <a:p>
            <a:r>
              <a:rPr lang="en-US" dirty="0">
                <a:ea typeface="ＭＳ Ｐゴシック" charset="0"/>
              </a:rPr>
              <a:t>or deadlock-free algorithms, but what they are implicitly assuming</a:t>
            </a:r>
          </a:p>
          <a:p>
            <a:r>
              <a:rPr lang="en-US" dirty="0">
                <a:ea typeface="ＭＳ Ｐゴシック" charset="0"/>
              </a:rPr>
              <a:t>is that because of how schedulers on modern multiprocessors work,</a:t>
            </a:r>
          </a:p>
          <a:p>
            <a:r>
              <a:rPr lang="en-US" dirty="0">
                <a:ea typeface="ＭＳ Ｐゴシック" charset="0"/>
              </a:rPr>
              <a:t>all method calls eventually complete as if they were wait-free.</a:t>
            </a:r>
          </a:p>
        </p:txBody>
      </p:sp>
      <p:sp>
        <p:nvSpPr>
          <p:cNvPr id="300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42AC0234-60BB-564B-9A8D-E131684EAD14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132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1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The restriction to fair histories captures the informal requirement that each thread</a:t>
            </a:r>
          </a:p>
          <a:p>
            <a:r>
              <a:rPr lang="en-US" dirty="0">
                <a:ea typeface="ＭＳ Ｐゴシック" charset="0"/>
              </a:rPr>
              <a:t>eventually leaves its critical section. The definition does not mention locks or </a:t>
            </a:r>
            <a:r>
              <a:rPr lang="en-US" dirty="0" err="1">
                <a:ea typeface="ＭＳ Ｐゴシック" charset="0"/>
              </a:rPr>
              <a:t>criti</a:t>
            </a:r>
            <a:r>
              <a:rPr lang="en-US" dirty="0">
                <a:ea typeface="ＭＳ Ｐゴシック" charset="0"/>
              </a:rPr>
              <a:t>-</a:t>
            </a:r>
          </a:p>
          <a:p>
            <a:r>
              <a:rPr lang="en-US" dirty="0" err="1">
                <a:ea typeface="ＭＳ Ｐゴシック" charset="0"/>
              </a:rPr>
              <a:t>cal</a:t>
            </a:r>
            <a:r>
              <a:rPr lang="en-US" dirty="0">
                <a:ea typeface="ＭＳ Ｐゴシック" charset="0"/>
              </a:rPr>
              <a:t> sections because progress should be defined in terms of completed method calls,</a:t>
            </a:r>
          </a:p>
          <a:p>
            <a:r>
              <a:rPr lang="en-US" dirty="0">
                <a:ea typeface="ＭＳ Ｐゴシック" charset="0"/>
              </a:rPr>
              <a:t>not low-level mechanisms. Moreover, as noted, not all deadlock-free object </a:t>
            </a:r>
            <a:r>
              <a:rPr lang="en-US" dirty="0" err="1">
                <a:ea typeface="ＭＳ Ｐゴシック" charset="0"/>
              </a:rPr>
              <a:t>imple</a:t>
            </a:r>
            <a:r>
              <a:rPr lang="en-US" dirty="0">
                <a:ea typeface="ＭＳ Ｐゴシック" charset="0"/>
              </a:rPr>
              <a:t>-</a:t>
            </a:r>
          </a:p>
          <a:p>
            <a:r>
              <a:rPr lang="en-US" dirty="0" err="1">
                <a:ea typeface="ＭＳ Ｐゴシック" charset="0"/>
              </a:rPr>
              <a:t>mentations</a:t>
            </a:r>
            <a:r>
              <a:rPr lang="en-US" dirty="0">
                <a:ea typeface="ＭＳ Ｐゴシック" charset="0"/>
              </a:rPr>
              <a:t> will have easily recognizable locks and critical sections.</a:t>
            </a:r>
          </a:p>
          <a:p>
            <a:r>
              <a:rPr lang="en-US" dirty="0">
                <a:ea typeface="ＭＳ Ｐゴシック" charset="0"/>
              </a:rPr>
              <a:t>The requirement that the implementation provide maximal progress in some fair</a:t>
            </a:r>
          </a:p>
          <a:p>
            <a:r>
              <a:rPr lang="en-US" dirty="0">
                <a:ea typeface="ＭＳ Ｐゴシック" charset="0"/>
              </a:rPr>
              <a:t>history is intended to rule out certain pathological cases. For example, the first</a:t>
            </a:r>
          </a:p>
          <a:p>
            <a:r>
              <a:rPr lang="en-US" dirty="0">
                <a:ea typeface="ＭＳ Ｐゴシック" charset="0"/>
              </a:rPr>
              <a:t>thread to access an object might lock it and never release the lock. Such an </a:t>
            </a:r>
            <a:r>
              <a:rPr lang="en-US" dirty="0" err="1">
                <a:ea typeface="ＭＳ Ｐゴシック" charset="0"/>
              </a:rPr>
              <a:t>imple</a:t>
            </a:r>
            <a:r>
              <a:rPr lang="en-US" dirty="0">
                <a:ea typeface="ＭＳ Ｐゴシック" charset="0"/>
              </a:rPr>
              <a:t>-</a:t>
            </a:r>
          </a:p>
          <a:p>
            <a:r>
              <a:rPr lang="en-US" dirty="0">
                <a:ea typeface="ＭＳ Ｐゴシック" charset="0"/>
              </a:rPr>
              <a:t>mentation guarantees minimal progress (for the thread holding the lock) in every</a:t>
            </a:r>
          </a:p>
          <a:p>
            <a:r>
              <a:rPr lang="en-US" dirty="0">
                <a:ea typeface="ＭＳ Ｐゴシック" charset="0"/>
              </a:rPr>
              <a:t>fair execution, but does not provide maximal progress in any execution. Clearly,</a:t>
            </a:r>
          </a:p>
          <a:p>
            <a:r>
              <a:rPr lang="en-US" dirty="0">
                <a:ea typeface="ＭＳ Ｐゴシック" charset="0"/>
              </a:rPr>
              <a:t>such an implementation would not be considered acceptable in practice and is of no</a:t>
            </a:r>
          </a:p>
          <a:p>
            <a:r>
              <a:rPr lang="en-US" dirty="0">
                <a:ea typeface="ＭＳ Ｐゴシック" charset="0"/>
              </a:rPr>
              <a:t>interest to us.</a:t>
            </a:r>
          </a:p>
        </p:txBody>
      </p:sp>
      <p:sp>
        <p:nvSpPr>
          <p:cNvPr id="301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C966AC63-C384-2C44-9A83-0E576BC0F896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133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2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Progress extends to an object by considering all its methods together</a:t>
            </a:r>
          </a:p>
          <a:p>
            <a:r>
              <a:rPr lang="en-US" dirty="0">
                <a:ea typeface="ＭＳ Ｐゴシック" charset="0"/>
              </a:rPr>
              <a:t>.</a:t>
            </a:r>
          </a:p>
        </p:txBody>
      </p:sp>
      <p:sp>
        <p:nvSpPr>
          <p:cNvPr id="302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BBED64E9-6CC5-2948-AED7-84949CB564C5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134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3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i="1" dirty="0">
                <a:ea typeface="ＭＳ Ｐゴシック" charset="0"/>
              </a:rPr>
              <a:t>We say that a Progress is dependent if progress requires scheduler support</a:t>
            </a:r>
            <a:endParaRPr lang="en-US" dirty="0">
              <a:ea typeface="ＭＳ Ｐゴシック" charset="0"/>
            </a:endParaRPr>
          </a:p>
          <a:p>
            <a:endParaRPr lang="en-US" dirty="0">
              <a:ea typeface="ＭＳ Ｐゴシック" charset="0"/>
            </a:endParaRPr>
          </a:p>
        </p:txBody>
      </p:sp>
      <p:sp>
        <p:nvSpPr>
          <p:cNvPr id="303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8032B87E-3D75-AB43-87AF-5D5D6CD3AD50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135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4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The restriction to fair histories captures the informal requirement that each thread</a:t>
            </a:r>
          </a:p>
          <a:p>
            <a:r>
              <a:rPr lang="en-US" dirty="0">
                <a:ea typeface="ＭＳ Ｐゴシック" charset="0"/>
              </a:rPr>
              <a:t>eventually leaves its critical section. The </a:t>
            </a:r>
            <a:r>
              <a:rPr lang="en-US" dirty="0" err="1">
                <a:ea typeface="ＭＳ Ｐゴシック" charset="0"/>
              </a:rPr>
              <a:t>de¯nition</a:t>
            </a:r>
            <a:r>
              <a:rPr lang="en-US" dirty="0">
                <a:ea typeface="ＭＳ Ｐゴシック" charset="0"/>
              </a:rPr>
              <a:t> does not mention locks or </a:t>
            </a:r>
            <a:r>
              <a:rPr lang="en-US" dirty="0" err="1">
                <a:ea typeface="ＭＳ Ｐゴシック" charset="0"/>
              </a:rPr>
              <a:t>criti</a:t>
            </a:r>
            <a:r>
              <a:rPr lang="en-US" dirty="0">
                <a:ea typeface="ＭＳ Ｐゴシック" charset="0"/>
              </a:rPr>
              <a:t>-</a:t>
            </a:r>
          </a:p>
          <a:p>
            <a:r>
              <a:rPr lang="en-US" dirty="0" err="1">
                <a:ea typeface="ＭＳ Ｐゴシック" charset="0"/>
              </a:rPr>
              <a:t>cal</a:t>
            </a:r>
            <a:r>
              <a:rPr lang="en-US" dirty="0">
                <a:ea typeface="ＭＳ Ｐゴシック" charset="0"/>
              </a:rPr>
              <a:t> sections because progress should be </a:t>
            </a:r>
            <a:r>
              <a:rPr lang="en-US" dirty="0" err="1">
                <a:ea typeface="ＭＳ Ｐゴシック" charset="0"/>
              </a:rPr>
              <a:t>de¯ned</a:t>
            </a:r>
            <a:r>
              <a:rPr lang="en-US" dirty="0">
                <a:ea typeface="ＭＳ Ｐゴシック" charset="0"/>
              </a:rPr>
              <a:t> in terms of completed method calls,</a:t>
            </a:r>
          </a:p>
          <a:p>
            <a:r>
              <a:rPr lang="en-US" dirty="0">
                <a:ea typeface="ＭＳ Ｐゴシック" charset="0"/>
              </a:rPr>
              <a:t>not low-level mechanisms. Moreover, as noted, not all deadlock-free object </a:t>
            </a:r>
            <a:r>
              <a:rPr lang="en-US" dirty="0" err="1">
                <a:ea typeface="ＭＳ Ｐゴシック" charset="0"/>
              </a:rPr>
              <a:t>imple</a:t>
            </a:r>
            <a:r>
              <a:rPr lang="en-US" dirty="0">
                <a:ea typeface="ＭＳ Ｐゴシック" charset="0"/>
              </a:rPr>
              <a:t>-</a:t>
            </a:r>
          </a:p>
          <a:p>
            <a:r>
              <a:rPr lang="en-US" dirty="0" err="1">
                <a:ea typeface="ＭＳ Ｐゴシック" charset="0"/>
              </a:rPr>
              <a:t>mentations</a:t>
            </a:r>
            <a:r>
              <a:rPr lang="en-US" dirty="0">
                <a:ea typeface="ＭＳ Ｐゴシック" charset="0"/>
              </a:rPr>
              <a:t> will have easily recognizable locks and critical sections.</a:t>
            </a:r>
          </a:p>
          <a:p>
            <a:r>
              <a:rPr lang="en-US" dirty="0">
                <a:ea typeface="ＭＳ Ｐゴシック" charset="0"/>
              </a:rPr>
              <a:t>The requirement that the implementation provide maximal progress in some fair</a:t>
            </a:r>
          </a:p>
          <a:p>
            <a:r>
              <a:rPr lang="en-US" dirty="0">
                <a:ea typeface="ＭＳ Ｐゴシック" charset="0"/>
              </a:rPr>
              <a:t>history is intended to rule out certain pathological cases. For example, the ¯</a:t>
            </a:r>
            <a:r>
              <a:rPr lang="en-US" dirty="0" err="1">
                <a:ea typeface="ＭＳ Ｐゴシック" charset="0"/>
              </a:rPr>
              <a:t>rst</a:t>
            </a:r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thread to access an object might lock it and never release the lock. Such an </a:t>
            </a:r>
            <a:r>
              <a:rPr lang="en-US" dirty="0" err="1">
                <a:ea typeface="ＭＳ Ｐゴシック" charset="0"/>
              </a:rPr>
              <a:t>imple</a:t>
            </a:r>
            <a:r>
              <a:rPr lang="en-US" dirty="0">
                <a:ea typeface="ＭＳ Ｐゴシック" charset="0"/>
              </a:rPr>
              <a:t>-</a:t>
            </a:r>
          </a:p>
          <a:p>
            <a:r>
              <a:rPr lang="en-US" dirty="0">
                <a:ea typeface="ＭＳ Ｐゴシック" charset="0"/>
              </a:rPr>
              <a:t>mentation guarantees minimal progress (for the thread holding the lock) in every</a:t>
            </a:r>
          </a:p>
          <a:p>
            <a:r>
              <a:rPr lang="en-US" dirty="0">
                <a:ea typeface="ＭＳ Ｐゴシック" charset="0"/>
              </a:rPr>
              <a:t>fair execution, but does not provide maximal progress in any execution. Clearly,</a:t>
            </a:r>
          </a:p>
          <a:p>
            <a:r>
              <a:rPr lang="en-US" dirty="0">
                <a:ea typeface="ＭＳ Ｐゴシック" charset="0"/>
              </a:rPr>
              <a:t>such an implementation would not be considered acceptable in practice and is of no</a:t>
            </a:r>
          </a:p>
          <a:p>
            <a:r>
              <a:rPr lang="en-US" dirty="0">
                <a:ea typeface="ＭＳ Ｐゴシック" charset="0"/>
              </a:rPr>
              <a:t>interest to us.</a:t>
            </a:r>
          </a:p>
        </p:txBody>
      </p:sp>
      <p:sp>
        <p:nvSpPr>
          <p:cNvPr id="304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AB82368-60B1-4448-8915-C89E4849BD6E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136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5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On multiprocessors progress properties are not about the guarantees a method's implementation provides. Rather, they are about the assumptions one needs to make on the scheduler so that a method's implementation provides minimal or maximal progress.</a:t>
            </a:r>
          </a:p>
          <a:p>
            <a:endParaRPr lang="en-US" dirty="0">
              <a:ea typeface="ＭＳ Ｐゴシック" charset="0"/>
            </a:endParaRPr>
          </a:p>
        </p:txBody>
      </p:sp>
      <p:sp>
        <p:nvSpPr>
          <p:cNvPr id="305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31959EA0-9A1D-A94F-8803-C9EBF8284D4A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137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6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Later is in the next chapter on spin locks</a:t>
            </a:r>
          </a:p>
        </p:txBody>
      </p:sp>
      <p:sp>
        <p:nvSpPr>
          <p:cNvPr id="306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FC05D47E-F930-574C-930D-0006CE671F60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138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The restriction to fair histories captures the informal requirement that each thread</a:t>
            </a:r>
          </a:p>
          <a:p>
            <a:r>
              <a:rPr lang="en-US" dirty="0">
                <a:ea typeface="ＭＳ Ｐゴシック" charset="0"/>
              </a:rPr>
              <a:t>eventually leaves its critical section. The </a:t>
            </a:r>
            <a:r>
              <a:rPr lang="en-US" dirty="0" err="1">
                <a:ea typeface="ＭＳ Ｐゴシック" charset="0"/>
              </a:rPr>
              <a:t>de¯nition</a:t>
            </a:r>
            <a:r>
              <a:rPr lang="en-US" dirty="0">
                <a:ea typeface="ＭＳ Ｐゴシック" charset="0"/>
              </a:rPr>
              <a:t> does not mention locks or </a:t>
            </a:r>
            <a:r>
              <a:rPr lang="en-US" dirty="0" err="1">
                <a:ea typeface="ＭＳ Ｐゴシック" charset="0"/>
              </a:rPr>
              <a:t>criti</a:t>
            </a:r>
            <a:r>
              <a:rPr lang="en-US" dirty="0">
                <a:ea typeface="ＭＳ Ｐゴシック" charset="0"/>
              </a:rPr>
              <a:t>-</a:t>
            </a:r>
          </a:p>
          <a:p>
            <a:r>
              <a:rPr lang="en-US" dirty="0" err="1">
                <a:ea typeface="ＭＳ Ｐゴシック" charset="0"/>
              </a:rPr>
              <a:t>cal</a:t>
            </a:r>
            <a:r>
              <a:rPr lang="en-US" dirty="0">
                <a:ea typeface="ＭＳ Ｐゴシック" charset="0"/>
              </a:rPr>
              <a:t> sections because progress should be </a:t>
            </a:r>
            <a:r>
              <a:rPr lang="en-US" dirty="0" err="1">
                <a:ea typeface="ＭＳ Ｐゴシック" charset="0"/>
              </a:rPr>
              <a:t>de¯ned</a:t>
            </a:r>
            <a:r>
              <a:rPr lang="en-US" dirty="0">
                <a:ea typeface="ＭＳ Ｐゴシック" charset="0"/>
              </a:rPr>
              <a:t> in terms of completed method calls,</a:t>
            </a:r>
          </a:p>
          <a:p>
            <a:r>
              <a:rPr lang="en-US" dirty="0">
                <a:ea typeface="ＭＳ Ｐゴシック" charset="0"/>
              </a:rPr>
              <a:t>not low-level mechanisms. Moreover, as noted, not all deadlock-free object </a:t>
            </a:r>
            <a:r>
              <a:rPr lang="en-US" dirty="0" err="1">
                <a:ea typeface="ＭＳ Ｐゴシック" charset="0"/>
              </a:rPr>
              <a:t>imple</a:t>
            </a:r>
            <a:r>
              <a:rPr lang="en-US" dirty="0">
                <a:ea typeface="ＭＳ Ｐゴシック" charset="0"/>
              </a:rPr>
              <a:t>-</a:t>
            </a:r>
          </a:p>
          <a:p>
            <a:r>
              <a:rPr lang="en-US" dirty="0" err="1">
                <a:ea typeface="ＭＳ Ｐゴシック" charset="0"/>
              </a:rPr>
              <a:t>mentations</a:t>
            </a:r>
            <a:r>
              <a:rPr lang="en-US" dirty="0">
                <a:ea typeface="ＭＳ Ｐゴシック" charset="0"/>
              </a:rPr>
              <a:t> will have easily recognizable locks and critical sections.</a:t>
            </a:r>
          </a:p>
          <a:p>
            <a:r>
              <a:rPr lang="en-US" dirty="0">
                <a:ea typeface="ＭＳ Ｐゴシック" charset="0"/>
              </a:rPr>
              <a:t>The requirement that the implementation provide maximal progress in some fair</a:t>
            </a:r>
          </a:p>
          <a:p>
            <a:r>
              <a:rPr lang="en-US" dirty="0">
                <a:ea typeface="ＭＳ Ｐゴシック" charset="0"/>
              </a:rPr>
              <a:t>history is intended to rule out certain pathological cases. For example, the ¯</a:t>
            </a:r>
            <a:r>
              <a:rPr lang="en-US" dirty="0" err="1">
                <a:ea typeface="ＭＳ Ｐゴシック" charset="0"/>
              </a:rPr>
              <a:t>rst</a:t>
            </a:r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thread to access an object might lock it and never release the lock. Such an </a:t>
            </a:r>
            <a:r>
              <a:rPr lang="en-US" dirty="0" err="1">
                <a:ea typeface="ＭＳ Ｐゴシック" charset="0"/>
              </a:rPr>
              <a:t>imple</a:t>
            </a:r>
            <a:r>
              <a:rPr lang="en-US" dirty="0">
                <a:ea typeface="ＭＳ Ｐゴシック" charset="0"/>
              </a:rPr>
              <a:t>-</a:t>
            </a:r>
          </a:p>
          <a:p>
            <a:r>
              <a:rPr lang="en-US" dirty="0">
                <a:ea typeface="ＭＳ Ｐゴシック" charset="0"/>
              </a:rPr>
              <a:t>mentation guarantees minimal progress (for the thread holding the lock) in every</a:t>
            </a:r>
          </a:p>
          <a:p>
            <a:r>
              <a:rPr lang="en-US" dirty="0">
                <a:ea typeface="ＭＳ Ｐゴシック" charset="0"/>
              </a:rPr>
              <a:t>fair execution, but does not provide maximal progress in any execution. Clearly,</a:t>
            </a:r>
          </a:p>
          <a:p>
            <a:r>
              <a:rPr lang="en-US" dirty="0">
                <a:ea typeface="ＭＳ Ｐゴシック" charset="0"/>
              </a:rPr>
              <a:t>such an implementation would not be considered acceptable in practice and is of no</a:t>
            </a:r>
          </a:p>
          <a:p>
            <a:r>
              <a:rPr lang="en-US" dirty="0">
                <a:ea typeface="ＭＳ Ｐゴシック" charset="0"/>
              </a:rPr>
              <a:t>interest to us.</a:t>
            </a:r>
          </a:p>
        </p:txBody>
      </p:sp>
      <p:sp>
        <p:nvSpPr>
          <p:cNvPr id="307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0B0D7B9-A538-B04B-AF0F-45F2C96E7063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139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8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In other words, there is no difference if we use blocking or non-blocking, they guarantee the same thing under the right scheduling assumptions.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If I write a starvation-free </a:t>
            </a:r>
            <a:r>
              <a:rPr lang="en-US" dirty="0" err="1">
                <a:ea typeface="ＭＳ Ｐゴシック" charset="0"/>
              </a:rPr>
              <a:t>alg</a:t>
            </a:r>
            <a:r>
              <a:rPr lang="en-US" dirty="0">
                <a:ea typeface="ＭＳ Ｐゴシック" charset="0"/>
              </a:rPr>
              <a:t> I am assuming that I will get maximal progress, but that it will have to run on a machine with fair scheduling. </a:t>
            </a:r>
          </a:p>
          <a:p>
            <a:endParaRPr lang="en-US" dirty="0">
              <a:ea typeface="ＭＳ Ｐゴシック" charset="0"/>
            </a:endParaRPr>
          </a:p>
        </p:txBody>
      </p:sp>
      <p:sp>
        <p:nvSpPr>
          <p:cNvPr id="308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772FF98A-F402-A04A-B1D1-E51837B3B2E8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140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9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In other words, there is no difference if we use blocking or non-blocking, they guarantee the same thing under the right scheduling assumptions.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If I write a starvation-free </a:t>
            </a:r>
            <a:r>
              <a:rPr lang="en-US" dirty="0" err="1">
                <a:ea typeface="ＭＳ Ｐゴシック" charset="0"/>
              </a:rPr>
              <a:t>alg</a:t>
            </a:r>
            <a:r>
              <a:rPr lang="en-US" dirty="0">
                <a:ea typeface="ＭＳ Ｐゴシック" charset="0"/>
              </a:rPr>
              <a:t> I am assuming that I will get maximal progress, but that it will have to run on a machine with fair scheduling. </a:t>
            </a:r>
          </a:p>
          <a:p>
            <a:endParaRPr lang="en-US" dirty="0">
              <a:ea typeface="ＭＳ Ｐゴシック" charset="0"/>
            </a:endParaRPr>
          </a:p>
        </p:txBody>
      </p:sp>
      <p:sp>
        <p:nvSpPr>
          <p:cNvPr id="309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3F5C6DE-9190-0141-A04B-2C1B5E65216E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141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0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Like Einsteinium, symbol </a:t>
            </a:r>
            <a:r>
              <a:rPr lang="en-US" dirty="0" err="1">
                <a:ea typeface="ＭＳ Ｐゴシック" charset="0"/>
              </a:rPr>
              <a:t>Es</a:t>
            </a:r>
            <a:r>
              <a:rPr lang="en-US" dirty="0">
                <a:ea typeface="ＭＳ Ｐゴシック" charset="0"/>
              </a:rPr>
              <a:t>,</a:t>
            </a:r>
          </a:p>
          <a:p>
            <a:r>
              <a:rPr lang="en-US" dirty="0">
                <a:ea typeface="ＭＳ Ｐゴシック" charset="0"/>
              </a:rPr>
              <a:t>atomic number 99, it does not occur naturally in any measurable</a:t>
            </a:r>
          </a:p>
          <a:p>
            <a:r>
              <a:rPr lang="en-US" dirty="0">
                <a:ea typeface="ＭＳ Ｐゴシック" charset="0"/>
              </a:rPr>
              <a:t>quantities and has no commercial value.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In the full paper we will show that being clash-free is strictly weaker than being</a:t>
            </a:r>
          </a:p>
          <a:p>
            <a:r>
              <a:rPr lang="en-US" dirty="0">
                <a:ea typeface="ＭＳ Ｐゴシック" charset="0"/>
              </a:rPr>
              <a:t>obstruction-free, a result omitted from this extended abstract for lack of space.</a:t>
            </a:r>
          </a:p>
          <a:p>
            <a:r>
              <a:rPr lang="en-US" dirty="0">
                <a:ea typeface="ＭＳ Ｐゴシック" charset="0"/>
              </a:rPr>
              <a:t>Clash-freedom thus answers the open question raised by Herlihy, </a:t>
            </a:r>
            <a:r>
              <a:rPr lang="en-US" dirty="0" err="1">
                <a:ea typeface="ＭＳ Ｐゴシック" charset="0"/>
              </a:rPr>
              <a:t>Luchangco</a:t>
            </a:r>
            <a:r>
              <a:rPr lang="en-US" dirty="0">
                <a:ea typeface="ＭＳ Ｐゴシック" charset="0"/>
              </a:rPr>
              <a:t>, and</a:t>
            </a:r>
          </a:p>
          <a:p>
            <a:r>
              <a:rPr lang="en-US" dirty="0" err="1">
                <a:ea typeface="ＭＳ Ｐゴシック" charset="0"/>
              </a:rPr>
              <a:t>Moir</a:t>
            </a:r>
            <a:r>
              <a:rPr lang="en-US" dirty="0">
                <a:ea typeface="ＭＳ Ｐゴシック" charset="0"/>
              </a:rPr>
              <a:t> [6], whether obstruction-freedom is the weakest natural non-blocking progress</a:t>
            </a:r>
          </a:p>
          <a:p>
            <a:r>
              <a:rPr lang="en-US" dirty="0">
                <a:ea typeface="ＭＳ Ｐゴシック" charset="0"/>
              </a:rPr>
              <a:t>condition.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Unlike Einsteinium is not radioactive but like it has of no commercial importance…</a:t>
            </a:r>
            <a:endParaRPr lang="en-US" b="1" dirty="0">
              <a:ea typeface="ＭＳ Ｐゴシック" charset="0"/>
            </a:endParaRPr>
          </a:p>
        </p:txBody>
      </p:sp>
      <p:sp>
        <p:nvSpPr>
          <p:cNvPr id="310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3C1F32A9-B68C-0D4C-BE54-2066E0FA860F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142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1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In other words, there is no difference if we use blocking or non-blocking, they guarantee the same thing under the right scheduling assumptions.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If I write a starvation-free </a:t>
            </a:r>
            <a:r>
              <a:rPr lang="en-US" dirty="0" err="1">
                <a:ea typeface="ＭＳ Ｐゴシック" charset="0"/>
              </a:rPr>
              <a:t>alg</a:t>
            </a:r>
            <a:r>
              <a:rPr lang="en-US" dirty="0">
                <a:ea typeface="ＭＳ Ｐゴシック" charset="0"/>
              </a:rPr>
              <a:t> I am assuming that I will get maximal progress, but that it will have to run on a machine with fair scheduling. </a:t>
            </a:r>
          </a:p>
          <a:p>
            <a:endParaRPr lang="en-US" dirty="0">
              <a:ea typeface="ＭＳ Ｐゴシック" charset="0"/>
            </a:endParaRPr>
          </a:p>
        </p:txBody>
      </p:sp>
      <p:sp>
        <p:nvSpPr>
          <p:cNvPr id="311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2D9CE8F-7B25-7149-B980-6F4A846A4D6F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143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2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b="1" dirty="0">
              <a:ea typeface="ＭＳ Ｐゴシック" charset="0"/>
            </a:endParaRPr>
          </a:p>
        </p:txBody>
      </p:sp>
      <p:sp>
        <p:nvSpPr>
          <p:cNvPr id="312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4F0CEAA-C05E-1542-A087-CCD5FA3553E9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144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3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For a one time object like consensus where each thread executes a method once, wait-free and lock-free are the same…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In other words, there is no difference if we use blocking or non-blocking, they guarantee the same thing under the right scheduling assumptions.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If I write a starvation-free </a:t>
            </a:r>
            <a:r>
              <a:rPr lang="en-US" dirty="0" err="1">
                <a:ea typeface="ＭＳ Ｐゴシック" charset="0"/>
              </a:rPr>
              <a:t>alg</a:t>
            </a:r>
            <a:r>
              <a:rPr lang="en-US" dirty="0">
                <a:ea typeface="ＭＳ Ｐゴシック" charset="0"/>
              </a:rPr>
              <a:t> I am assuming that I will get maximal progress, but that it will have to run on a machine with fair scheduling. </a:t>
            </a:r>
          </a:p>
          <a:p>
            <a:endParaRPr lang="en-US" dirty="0">
              <a:ea typeface="ＭＳ Ｐゴシック" charset="0"/>
            </a:endParaRPr>
          </a:p>
        </p:txBody>
      </p:sp>
      <p:sp>
        <p:nvSpPr>
          <p:cNvPr id="313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D771AE6F-48E3-7542-A6BA-64ED15A0FC3C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145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4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In other words, there is no difference if we use blocking or non-blocking, they guarantee the same thing under the right scheduling assumptions.</a:t>
            </a:r>
          </a:p>
          <a:p>
            <a:endParaRPr lang="en-US" dirty="0">
              <a:ea typeface="ＭＳ Ｐゴシック" charset="0"/>
            </a:endParaRPr>
          </a:p>
          <a:p>
            <a:r>
              <a:rPr lang="en-US" dirty="0">
                <a:ea typeface="ＭＳ Ｐゴシック" charset="0"/>
              </a:rPr>
              <a:t>If I write a starvation-free </a:t>
            </a:r>
            <a:r>
              <a:rPr lang="en-US" dirty="0" err="1">
                <a:ea typeface="ＭＳ Ｐゴシック" charset="0"/>
              </a:rPr>
              <a:t>alg</a:t>
            </a:r>
            <a:r>
              <a:rPr lang="en-US" dirty="0">
                <a:ea typeface="ＭＳ Ｐゴシック" charset="0"/>
              </a:rPr>
              <a:t> I am assuming that I will get maximal progress, but that it will have to run on a machine with fair scheduling. </a:t>
            </a:r>
          </a:p>
          <a:p>
            <a:endParaRPr lang="en-US" dirty="0">
              <a:ea typeface="ＭＳ Ｐゴシック" charset="0"/>
            </a:endParaRPr>
          </a:p>
        </p:txBody>
      </p:sp>
      <p:sp>
        <p:nvSpPr>
          <p:cNvPr id="314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47317593-BAB3-7547-B099-7E25A2DBBD1A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146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5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  <p:sp>
        <p:nvSpPr>
          <p:cNvPr id="315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40160E72-9FA0-D349-A47F-9AE18E42EE73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147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6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  <p:sp>
        <p:nvSpPr>
          <p:cNvPr id="316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76142EC5-C806-EE46-87CC-29AEE666B2FC}" type="slidenum">
              <a:rPr lang="en-US" sz="1200" b="0">
                <a:solidFill>
                  <a:srgbClr val="0000FF"/>
                </a:solidFill>
                <a:latin typeface="Marlett" charset="0"/>
              </a:rPr>
              <a:pPr/>
              <a:t>148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31BB2F16-5388-4948-BD53-067FD3B8DC29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149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  <p:sp>
        <p:nvSpPr>
          <p:cNvPr id="317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In the same way, we make little attempt to make our initial constructions efficient. We are interested in understanding whether such constructions exist, and how they work,</a:t>
            </a:r>
          </a:p>
          <a:p>
            <a:r>
              <a:rPr lang="en-US" dirty="0">
                <a:ea typeface="ＭＳ Ｐゴシック" charset="0"/>
              </a:rPr>
              <a:t>but they are not intended to be a practical model for computation, so we prefer easy-to-understand but inefficient constructions over complicated but efficient ones.</a:t>
            </a:r>
          </a:p>
          <a:p>
            <a:endParaRPr lang="en-US" dirty="0"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8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b="1" dirty="0">
              <a:ea typeface="ＭＳ Ｐゴシック" charset="0"/>
            </a:endParaRPr>
          </a:p>
        </p:txBody>
      </p:sp>
      <p:sp>
        <p:nvSpPr>
          <p:cNvPr id="318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FA8D9E0-D5D3-1044-993B-CF44682CDBDE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150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9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b="1" dirty="0">
              <a:ea typeface="ＭＳ Ｐゴシック" charset="0"/>
            </a:endParaRPr>
          </a:p>
        </p:txBody>
      </p:sp>
      <p:sp>
        <p:nvSpPr>
          <p:cNvPr id="319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86A7E8A7-76AA-C546-8754-CA494D354417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151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54DFD1F-77EC-FE4D-B58A-FFE74D38F8E3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152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  <p:sp>
        <p:nvSpPr>
          <p:cNvPr id="320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0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The classical theory of sequential computing proceeds in stages. It starts with finite-state automata, moves on to push-down automata, and culminates in Turing Machines. A Turing machine is an idealized model of computation, consisting of a finite-state controller and an infinite tape. It is safe to say that anything you can</a:t>
            </a:r>
            <a:r>
              <a:rPr lang="ja-JP" altLang="en-US" dirty="0">
                <a:ea typeface="ＭＳ Ｐゴシック" charset="0"/>
              </a:rPr>
              <a:t>’</a:t>
            </a:r>
            <a:r>
              <a:rPr lang="en-US" dirty="0">
                <a:ea typeface="ＭＳ Ｐゴシック" charset="0"/>
              </a:rPr>
              <a:t>t do on a Turing Machine is something you can</a:t>
            </a:r>
            <a:r>
              <a:rPr lang="ja-JP" altLang="en-US" dirty="0">
                <a:ea typeface="ＭＳ Ｐゴシック" charset="0"/>
              </a:rPr>
              <a:t>’</a:t>
            </a:r>
            <a:r>
              <a:rPr lang="en-US" dirty="0">
                <a:ea typeface="ＭＳ Ｐゴシック" charset="0"/>
              </a:rPr>
              <a:t>t do period. If you can devise a Turing machine program to do something, it </a:t>
            </a:r>
            <a:r>
              <a:rPr lang="en-US" dirty="0" err="1">
                <a:ea typeface="ＭＳ Ｐゴシック" charset="0"/>
              </a:rPr>
              <a:t>doesn</a:t>
            </a:r>
            <a:r>
              <a:rPr lang="ja-JP" altLang="en-US" dirty="0">
                <a:ea typeface="ＭＳ Ｐゴシック" charset="0"/>
              </a:rPr>
              <a:t>’</a:t>
            </a:r>
            <a:r>
              <a:rPr lang="en-US" dirty="0">
                <a:ea typeface="ＭＳ Ｐゴシック" charset="0"/>
              </a:rPr>
              <a:t>t mean you can do it in a practical sense, but it gives you a place to start working on the problem.</a:t>
            </a:r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1F73E522-1C33-DA4B-9AF9-75A9B6EDEE57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153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  <p:sp>
        <p:nvSpPr>
          <p:cNvPr id="321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1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</a:rPr>
              <a:t>In the same way, we make little attempt to make our initial constructions efficient. We are interested in understanding whether such constructions exist, and how they work,</a:t>
            </a:r>
          </a:p>
          <a:p>
            <a:r>
              <a:rPr lang="en-US" dirty="0">
                <a:ea typeface="ＭＳ Ｐゴシック" charset="0"/>
              </a:rPr>
              <a:t>but they are not intended to be a practical model for computation, so we prefer easy-to-understand but inefficient constructions over complicated but efficient ones.</a:t>
            </a:r>
          </a:p>
          <a:p>
            <a:endParaRPr lang="en-US" dirty="0">
              <a:ea typeface="ＭＳ Ｐゴシック" charset="0"/>
            </a:endParaRPr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2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b="1" dirty="0">
              <a:ea typeface="ＭＳ Ｐゴシック" charset="0"/>
            </a:endParaRPr>
          </a:p>
        </p:txBody>
      </p:sp>
      <p:sp>
        <p:nvSpPr>
          <p:cNvPr id="322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31863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ACC131A-005D-8243-9557-9E0E96C869C6}" type="slidenum">
              <a:rPr lang="ar-SA" sz="1200" b="0">
                <a:solidFill>
                  <a:srgbClr val="0000FF"/>
                </a:solidFill>
                <a:latin typeface="Marlett" charset="0"/>
                <a:cs typeface="Arial" charset="0"/>
              </a:rPr>
              <a:pPr/>
              <a:t>154</a:t>
            </a:fld>
            <a:endParaRPr lang="en-US" sz="1200" b="0">
              <a:solidFill>
                <a:srgbClr val="0000FF"/>
              </a:solidFill>
              <a:latin typeface="Marlett" charset="0"/>
            </a:endParaRPr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7A6790-E7E6-4CFE-83FE-D42BCD4D206D}" type="slidenum">
              <a:rPr lang="en-US" smtClean="0"/>
              <a:pPr/>
              <a:t>156</a:t>
            </a:fld>
            <a:endParaRPr lang="en-US"/>
          </a:p>
        </p:txBody>
      </p:sp>
      <p:sp>
        <p:nvSpPr>
          <p:cNvPr id="323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696913"/>
            <a:ext cx="4640263" cy="3479800"/>
          </a:xfrm>
          <a:ln/>
        </p:spPr>
      </p:sp>
      <p:sp>
        <p:nvSpPr>
          <p:cNvPr id="323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25" y="4408488"/>
            <a:ext cx="5153025" cy="4175125"/>
          </a:xfrm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Art of Multiprocessor Programming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23BB17F-2C62-482D-AD9D-648262D8A3F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Art of Multiprocessor Programming, 2</a:t>
            </a:r>
            <a:r>
              <a:rPr lang="en-US" baseline="30000" dirty="0"/>
              <a:t>nd</a:t>
            </a:r>
            <a:r>
              <a:rPr lang="en-US" dirty="0"/>
              <a:t> edition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9C53AA-2AA1-4105-90BA-CA0A4E3568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Art of Multiprocessor Programming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38508F-6B9B-4404-84A2-BBC6606BFC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Art of Multiprocessor Programming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014AA-3CA7-4D3B-88A9-2CD59A62D3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Art of Multiprocessor Programming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66C955-2A19-4DC9-8A86-14589545D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Art of Multiprocessor Programming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99674-1858-4926-8BD2-2B936BF154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Art of Multiprocessor Programming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000695-008A-4D35-B747-46C593FA57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Art of Multiprocessor Programming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7BDF8-A961-436C-AC6B-E212DB0303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Art of Multiprocessor Programming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4F6C50-D5F2-4AE5-A760-2E664F3E5B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Art of Multiprocessor Programming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730C81-C28D-4A65-A007-C7D00CBCD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Art of Multiprocessor Programming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F3B666-15E2-4F22-93F4-E384F1CBDE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 b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Art of Multiprocessor Programming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6E2CEB1-5990-45A6-A231-48C8EAE2FEB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8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69975" y="6326188"/>
            <a:ext cx="144463" cy="14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charset="-128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  <a:ea typeface="ＭＳ Ｐゴシック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0000FF"/>
          </a:solidFill>
          <a:latin typeface="Arial" pitchFamily="34" charset="0"/>
          <a:ea typeface="ＭＳ Ｐゴシック" charset="-128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00FF"/>
          </a:solidFill>
          <a:latin typeface="Arial" pitchFamily="34" charset="0"/>
          <a:ea typeface="ＭＳ Ｐゴシック" charset="-128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00FF"/>
          </a:solidFill>
          <a:latin typeface="Arial" pitchFamily="34" charset="0"/>
          <a:ea typeface="ＭＳ Ｐゴシック" charset="-128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FF"/>
          </a:solidFill>
          <a:latin typeface="Arial" pitchFamily="34" charset="0"/>
          <a:ea typeface="ＭＳ Ｐゴシック" charset="-128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FF"/>
          </a:solidFill>
          <a:latin typeface="Arial" pitchFamily="34" charset="0"/>
          <a:ea typeface="ＭＳ Ｐゴシック" charset="-128"/>
          <a:cs typeface="Arial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FF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FF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FF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F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sa/2.5/" TargetMode="External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magic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40000" y="2540000"/>
            <a:ext cx="127000" cy="12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 descr="magic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40000" y="2540000"/>
            <a:ext cx="127000" cy="12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4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92100"/>
            <a:ext cx="7772400" cy="1143000"/>
          </a:xfrm>
        </p:spPr>
        <p:txBody>
          <a:bodyPr/>
          <a:lstStyle/>
          <a:p>
            <a:r>
              <a:rPr lang="en-US" dirty="0"/>
              <a:t>Barrier Synchronization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1103313" y="4198938"/>
            <a:ext cx="6777037" cy="1927225"/>
          </a:xfrm>
        </p:spPr>
        <p:txBody>
          <a:bodyPr/>
          <a:lstStyle/>
          <a:p>
            <a:pPr marL="0" indent="0" algn="ctr"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Companion slides for</a:t>
            </a:r>
          </a:p>
          <a:p>
            <a:pPr marL="0" indent="0" algn="ctr"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tx1"/>
                </a:solidFill>
              </a:rPr>
              <a:t>The Art of Multiprocessor Programming</a:t>
            </a:r>
          </a:p>
          <a:p>
            <a:pPr marL="0" indent="0" algn="ctr"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by Maurice Herlihy, Nir Shavit, Victor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</a:rPr>
              <a:t>Luchangco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, and Michael Spear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392113" y="5927725"/>
            <a:ext cx="1509712" cy="9302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en-US" sz="4400" b="1">
              <a:solidFill>
                <a:srgbClr val="0000FF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TexPoint fonts used in EMF. </a:t>
            </a:r>
          </a:p>
          <a:p>
            <a:r>
              <a:rPr lang="en-US"/>
              <a:t>Read the TexPoint manual before you delete this box.: </a:t>
            </a:r>
            <a:r>
              <a:rPr lang="en-US">
                <a:latin typeface="CMR10"/>
              </a:rPr>
              <a:t>A</a:t>
            </a:r>
            <a:r>
              <a:rPr lang="en-US">
                <a:latin typeface="CMSY10ORIG"/>
              </a:rPr>
              <a:t>A</a:t>
            </a:r>
            <a:r>
              <a:rPr lang="en-US">
                <a:latin typeface="CMMI10"/>
              </a:rPr>
              <a:t>A</a:t>
            </a:r>
            <a:r>
              <a:rPr lang="en-US">
                <a:latin typeface="CMMI7"/>
              </a:rPr>
              <a:t>A</a:t>
            </a:r>
            <a:endParaRPr lang="en-US"/>
          </a:p>
        </p:txBody>
      </p:sp>
      <p:pic>
        <p:nvPicPr>
          <p:cNvPr id="3" name="Picture 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9F89C0D8-A087-414E-A6C2-362E560D08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931" y="1170644"/>
            <a:ext cx="2731828" cy="29768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30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4D89CDE-FE41-43E8-A77D-5F8764373B2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Video Game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Prepare frame for display</a:t>
            </a:r>
          </a:p>
          <a:p>
            <a:pPr lvl="1"/>
            <a:r>
              <a:rPr lang="en-US"/>
              <a:t>By graphics coprocessor</a:t>
            </a:r>
          </a:p>
          <a:p>
            <a:r>
              <a:rPr lang="en-US"/>
              <a:t>“soft real-time” application</a:t>
            </a:r>
          </a:p>
          <a:p>
            <a:pPr lvl="1"/>
            <a:r>
              <a:rPr lang="en-US"/>
              <a:t>Need at least 35 frames/second</a:t>
            </a:r>
          </a:p>
          <a:p>
            <a:pPr lvl="1"/>
            <a:r>
              <a:rPr lang="en-US"/>
              <a:t>OK to mess up rarely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80F24F9-3C1A-43C4-A62B-104E6B61287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Video Game</a:t>
            </a:r>
          </a:p>
        </p:txBody>
      </p:sp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838200" y="1752600"/>
            <a:ext cx="7315200" cy="179126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frame.prepare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frame.display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D31B326-558A-4EB9-A437-E5D594D1CF5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Video Game</a:t>
            </a:r>
          </a:p>
        </p:txBody>
      </p:sp>
      <p:sp>
        <p:nvSpPr>
          <p:cNvPr id="5125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179126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frame.prepare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frame.display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  <p:sp>
        <p:nvSpPr>
          <p:cNvPr id="512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82600" y="3911600"/>
            <a:ext cx="7772400" cy="2159000"/>
          </a:xfrm>
        </p:spPr>
        <p:txBody>
          <a:bodyPr/>
          <a:lstStyle/>
          <a:p>
            <a:r>
              <a:rPr lang="en-US"/>
              <a:t>What about overlapping work?</a:t>
            </a:r>
          </a:p>
          <a:p>
            <a:pPr lvl="1"/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thread displays frame</a:t>
            </a:r>
          </a:p>
          <a:p>
            <a:pPr lvl="1"/>
            <a:r>
              <a:rPr lang="en-US"/>
              <a:t>2</a:t>
            </a:r>
            <a:r>
              <a:rPr lang="en-US" baseline="30000"/>
              <a:t>nd</a:t>
            </a:r>
            <a:r>
              <a:rPr lang="en-US"/>
              <a:t> prepares next frame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CE4BF55-D4C7-43F8-9E35-A97C93B8282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Two-Phase Rendering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38200" y="1752600"/>
            <a:ext cx="3467100" cy="35242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Arial" charset="0"/>
              </a:rPr>
              <a:t>while</a:t>
            </a:r>
            <a:r>
              <a:rPr lang="en-US" dirty="0">
                <a:solidFill>
                  <a:srgbClr val="0000FF"/>
                </a:solidFill>
                <a:latin typeface="Arial" charset="0"/>
              </a:rPr>
              <a:t> (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true</a:t>
            </a:r>
            <a:r>
              <a:rPr lang="en-US" dirty="0">
                <a:solidFill>
                  <a:srgbClr val="0000FF"/>
                </a:solidFill>
                <a:latin typeface="Arial" charset="0"/>
              </a:rPr>
              <a:t>) {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Arial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if</a:t>
            </a:r>
            <a:r>
              <a:rPr lang="en-US" dirty="0">
                <a:solidFill>
                  <a:srgbClr val="0000FF"/>
                </a:solidFill>
                <a:latin typeface="Arial" charset="0"/>
              </a:rPr>
              <a:t> (phase) {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Arial" charset="0"/>
              </a:rPr>
              <a:t>    frame[0].display();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Arial" charset="0"/>
              </a:rPr>
              <a:t>  } 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else</a:t>
            </a:r>
            <a:r>
              <a:rPr lang="en-US" dirty="0">
                <a:solidFill>
                  <a:srgbClr val="0000FF"/>
                </a:solidFill>
                <a:latin typeface="Arial" charset="0"/>
              </a:rPr>
              <a:t> {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Arial" charset="0"/>
              </a:rPr>
              <a:t>    frame[1].display();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Arial" charset="0"/>
              </a:rPr>
              <a:t>  }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Arial" charset="0"/>
              </a:rPr>
              <a:t>  phase = !phase;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Arial" charset="0"/>
              </a:rPr>
              <a:t>}</a:t>
            </a:r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4635500" y="1765300"/>
            <a:ext cx="3467100" cy="35242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chemeClr val="tx1"/>
                </a:solidFill>
                <a:latin typeface="Arial" charset="0"/>
              </a:rPr>
              <a:t>while</a:t>
            </a:r>
            <a:r>
              <a:rPr lang="en-US">
                <a:solidFill>
                  <a:srgbClr val="0000FF"/>
                </a:solidFill>
                <a:latin typeface="Arial" charset="0"/>
              </a:rPr>
              <a:t> (</a:t>
            </a:r>
            <a:r>
              <a:rPr lang="en-US">
                <a:solidFill>
                  <a:schemeClr val="tx1"/>
                </a:solidFill>
                <a:latin typeface="Arial" charset="0"/>
              </a:rPr>
              <a:t>true</a:t>
            </a:r>
            <a:r>
              <a:rPr lang="en-US">
                <a:solidFill>
                  <a:srgbClr val="0000FF"/>
                </a:solidFill>
                <a:latin typeface="Arial" charset="0"/>
              </a:rPr>
              <a:t>) {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</a:t>
            </a:r>
            <a:r>
              <a:rPr lang="en-US">
                <a:solidFill>
                  <a:schemeClr val="tx1"/>
                </a:solidFill>
                <a:latin typeface="Arial" charset="0"/>
              </a:rPr>
              <a:t>if</a:t>
            </a:r>
            <a:r>
              <a:rPr lang="en-US">
                <a:solidFill>
                  <a:srgbClr val="0000FF"/>
                </a:solidFill>
                <a:latin typeface="Arial" charset="0"/>
              </a:rPr>
              <a:t> (phase) {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  frame[1].prepare();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} </a:t>
            </a:r>
            <a:r>
              <a:rPr lang="en-US">
                <a:solidFill>
                  <a:schemeClr val="tx1"/>
                </a:solidFill>
                <a:latin typeface="Arial" charset="0"/>
              </a:rPr>
              <a:t>else</a:t>
            </a:r>
            <a:r>
              <a:rPr lang="en-US">
                <a:solidFill>
                  <a:srgbClr val="0000FF"/>
                </a:solidFill>
                <a:latin typeface="Arial" charset="0"/>
              </a:rPr>
              <a:t> {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  frame[0].prepare();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}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phase = !phase;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B0F741A-3D43-4D89-A204-C39CF1E867C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Two-Phase Rendering</a:t>
            </a:r>
          </a:p>
        </p:txBody>
      </p:sp>
      <p:sp>
        <p:nvSpPr>
          <p:cNvPr id="7173" name="Rectangle 3"/>
          <p:cNvSpPr>
            <a:spLocks noChangeArrowheads="1"/>
          </p:cNvSpPr>
          <p:nvPr/>
        </p:nvSpPr>
        <p:spPr bwMode="auto">
          <a:xfrm>
            <a:off x="838200" y="1752600"/>
            <a:ext cx="3467100" cy="35242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while (true) {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if (phase) {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  frame[0].display();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</a:t>
            </a:r>
            <a:r>
              <a:rPr lang="en-US">
                <a:solidFill>
                  <a:schemeClr val="folHlink"/>
                </a:solidFill>
                <a:latin typeface="Arial" charset="0"/>
              </a:rPr>
              <a:t>} else {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  frame[1].display();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}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phase = !phase;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}</a:t>
            </a:r>
          </a:p>
        </p:txBody>
      </p: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4635500" y="1765300"/>
            <a:ext cx="3467100" cy="35242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while (true) {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if (phase) {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  frame[1].prepare();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</a:t>
            </a:r>
            <a:r>
              <a:rPr lang="en-US">
                <a:solidFill>
                  <a:schemeClr val="folHlink"/>
                </a:solidFill>
                <a:latin typeface="Arial" charset="0"/>
              </a:rPr>
              <a:t>} else {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  frame[0].prepare();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}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phase = !phase;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}</a:t>
            </a:r>
          </a:p>
        </p:txBody>
      </p:sp>
      <p:sp>
        <p:nvSpPr>
          <p:cNvPr id="7175" name="AutoShape 5"/>
          <p:cNvSpPr>
            <a:spLocks noChangeArrowheads="1"/>
          </p:cNvSpPr>
          <p:nvPr/>
        </p:nvSpPr>
        <p:spPr bwMode="auto">
          <a:xfrm>
            <a:off x="1066800" y="2659063"/>
            <a:ext cx="6832600" cy="444500"/>
          </a:xfrm>
          <a:prstGeom prst="wedgeRoundRectCallout">
            <a:avLst>
              <a:gd name="adj1" fmla="val 6759"/>
              <a:gd name="adj2" fmla="val 543213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7176" name="Text Box 6"/>
          <p:cNvSpPr txBox="1">
            <a:spLocks noChangeArrowheads="1"/>
          </p:cNvSpPr>
          <p:nvPr/>
        </p:nvSpPr>
        <p:spPr bwMode="auto">
          <a:xfrm>
            <a:off x="1454150" y="5410200"/>
            <a:ext cx="658018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even phases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1103665-8446-45EA-ACBA-C94CED1C60B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Two-Phase Rendering</a:t>
            </a:r>
          </a:p>
        </p:txBody>
      </p:sp>
      <p:sp>
        <p:nvSpPr>
          <p:cNvPr id="8197" name="Rectangle 3"/>
          <p:cNvSpPr>
            <a:spLocks noChangeArrowheads="1"/>
          </p:cNvSpPr>
          <p:nvPr/>
        </p:nvSpPr>
        <p:spPr bwMode="auto">
          <a:xfrm>
            <a:off x="838200" y="1752600"/>
            <a:ext cx="3467100" cy="35242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while (true) {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if (phase) {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  frame[0].display();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} else {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  frame[1].display();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</a:t>
            </a:r>
            <a:r>
              <a:rPr lang="en-US">
                <a:solidFill>
                  <a:schemeClr val="folHlink"/>
                </a:solidFill>
                <a:latin typeface="Arial" charset="0"/>
              </a:rPr>
              <a:t>}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phase = !phase;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}</a:t>
            </a:r>
          </a:p>
        </p:txBody>
      </p:sp>
      <p:sp>
        <p:nvSpPr>
          <p:cNvPr id="8198" name="Rectangle 4"/>
          <p:cNvSpPr>
            <a:spLocks noChangeArrowheads="1"/>
          </p:cNvSpPr>
          <p:nvPr/>
        </p:nvSpPr>
        <p:spPr bwMode="auto">
          <a:xfrm>
            <a:off x="4635500" y="1765300"/>
            <a:ext cx="3467100" cy="35242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while (true) {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if (phase) {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  frame[1].prepare();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} else {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  frame[0].prepare();</a:t>
            </a:r>
          </a:p>
          <a:p>
            <a:pPr algn="l"/>
            <a:r>
              <a:rPr lang="en-US">
                <a:solidFill>
                  <a:srgbClr val="0000FF"/>
                </a:solidFill>
                <a:latin typeface="Arial" charset="0"/>
              </a:rPr>
              <a:t>  </a:t>
            </a:r>
            <a:r>
              <a:rPr lang="en-US">
                <a:solidFill>
                  <a:schemeClr val="folHlink"/>
                </a:solidFill>
                <a:latin typeface="Arial" charset="0"/>
              </a:rPr>
              <a:t>}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  phase = !phase;</a:t>
            </a:r>
          </a:p>
          <a:p>
            <a:pPr algn="l"/>
            <a:r>
              <a:rPr lang="en-US">
                <a:solidFill>
                  <a:schemeClr val="folHlink"/>
                </a:solidFill>
                <a:latin typeface="Arial" charset="0"/>
              </a:rPr>
              <a:t>}</a:t>
            </a:r>
          </a:p>
        </p:txBody>
      </p:sp>
      <p:sp>
        <p:nvSpPr>
          <p:cNvPr id="8199" name="AutoShape 5"/>
          <p:cNvSpPr>
            <a:spLocks noChangeArrowheads="1"/>
          </p:cNvSpPr>
          <p:nvPr/>
        </p:nvSpPr>
        <p:spPr bwMode="auto">
          <a:xfrm>
            <a:off x="1079500" y="3535363"/>
            <a:ext cx="6832600" cy="444500"/>
          </a:xfrm>
          <a:prstGeom prst="wedgeRoundRectCallout">
            <a:avLst>
              <a:gd name="adj1" fmla="val 6204"/>
              <a:gd name="adj2" fmla="val 4175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8200" name="Text Box 6"/>
          <p:cNvSpPr txBox="1">
            <a:spLocks noChangeArrowheads="1"/>
          </p:cNvSpPr>
          <p:nvPr/>
        </p:nvSpPr>
        <p:spPr bwMode="auto">
          <a:xfrm>
            <a:off x="3854450" y="5651500"/>
            <a:ext cx="22669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odd phases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0858001-59CD-4765-907A-D5F2F2D22CC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Synchronization Problems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do threads stay in phase?</a:t>
            </a:r>
          </a:p>
          <a:p>
            <a:r>
              <a:rPr lang="en-US"/>
              <a:t>Too early?</a:t>
            </a:r>
          </a:p>
          <a:p>
            <a:pPr lvl="1"/>
            <a:r>
              <a:rPr lang="en-US"/>
              <a:t>“we render no frame before its time”</a:t>
            </a:r>
          </a:p>
          <a:p>
            <a:r>
              <a:rPr lang="en-US"/>
              <a:t>Too late?</a:t>
            </a:r>
          </a:p>
          <a:p>
            <a:pPr lvl="1"/>
            <a:r>
              <a:rPr lang="en-US"/>
              <a:t>Recycle memory before frame is displayed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3"/>
          <p:cNvSpPr>
            <a:spLocks noChangeArrowheads="1"/>
          </p:cNvSpPr>
          <p:nvPr/>
        </p:nvSpPr>
        <p:spPr bwMode="auto">
          <a:xfrm>
            <a:off x="5814998" y="2472378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80" name="Rectangle 3"/>
          <p:cNvSpPr>
            <a:spLocks noChangeArrowheads="1"/>
          </p:cNvSpPr>
          <p:nvPr/>
        </p:nvSpPr>
        <p:spPr bwMode="auto">
          <a:xfrm>
            <a:off x="1788160" y="1548149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81" name="AutoShape 5"/>
          <p:cNvSpPr>
            <a:spLocks noChangeArrowheads="1"/>
          </p:cNvSpPr>
          <p:nvPr/>
        </p:nvSpPr>
        <p:spPr bwMode="auto">
          <a:xfrm rot="3874924">
            <a:off x="5091949" y="191169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82" name="AutoShape 5"/>
          <p:cNvSpPr>
            <a:spLocks noChangeArrowheads="1"/>
          </p:cNvSpPr>
          <p:nvPr/>
        </p:nvSpPr>
        <p:spPr bwMode="auto">
          <a:xfrm rot="3874924" flipH="1" flipV="1">
            <a:off x="4134541" y="385835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4FDE334-2EFA-455E-9443-31402E0E3DE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Ideal Parallel Computation</a:t>
            </a:r>
            <a:endParaRPr lang="en-US" sz="180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101850" y="2414588"/>
            <a:ext cx="939800" cy="925512"/>
            <a:chOff x="1584" y="816"/>
            <a:chExt cx="912" cy="816"/>
          </a:xfrm>
        </p:grpSpPr>
        <p:sp>
          <p:nvSpPr>
            <p:cNvPr id="10306" name="Freeform 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07" name="Freeform 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08" name="Freeform 1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09" name="Freeform 1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10" name="Freeform 1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11" name="Freeform 1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12" name="Freeform 1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13" name="Freeform 1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14" name="Freeform 1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079750" y="2439988"/>
            <a:ext cx="939800" cy="925512"/>
            <a:chOff x="1584" y="816"/>
            <a:chExt cx="912" cy="816"/>
          </a:xfrm>
        </p:grpSpPr>
        <p:sp>
          <p:nvSpPr>
            <p:cNvPr id="10297" name="Freeform 1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98" name="Freeform 1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99" name="Freeform 2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00" name="Freeform 2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01" name="Freeform 2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02" name="Freeform 2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03" name="Freeform 2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04" name="Freeform 2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05" name="Freeform 2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2736850" y="3151188"/>
            <a:ext cx="939800" cy="925512"/>
            <a:chOff x="1584" y="816"/>
            <a:chExt cx="912" cy="816"/>
          </a:xfrm>
        </p:grpSpPr>
        <p:sp>
          <p:nvSpPr>
            <p:cNvPr id="10288" name="Freeform 2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89" name="Freeform 2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90" name="Freeform 3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91" name="Freeform 3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92" name="Freeform 3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93" name="Freeform 3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94" name="Freeform 3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95" name="Freeform 3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96" name="Freeform 3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937250" y="3494088"/>
            <a:ext cx="939800" cy="925512"/>
            <a:chOff x="1584" y="816"/>
            <a:chExt cx="912" cy="816"/>
          </a:xfrm>
        </p:grpSpPr>
        <p:sp>
          <p:nvSpPr>
            <p:cNvPr id="10279" name="Freeform 3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80" name="Freeform 3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81" name="Freeform 4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82" name="Freeform 4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83" name="Freeform 4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84" name="Freeform 4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85" name="Freeform 4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86" name="Freeform 4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87" name="Freeform 4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6915150" y="3519488"/>
            <a:ext cx="939800" cy="925512"/>
            <a:chOff x="1584" y="816"/>
            <a:chExt cx="912" cy="816"/>
          </a:xfrm>
        </p:grpSpPr>
        <p:sp>
          <p:nvSpPr>
            <p:cNvPr id="10270" name="Freeform 4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71" name="Freeform 4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72" name="Freeform 5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73" name="Freeform 5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74" name="Freeform 5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75" name="Freeform 5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76" name="Freeform 5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77" name="Freeform 5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78" name="Freeform 5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" name="Group 57"/>
          <p:cNvGrpSpPr>
            <a:grpSpLocks/>
          </p:cNvGrpSpPr>
          <p:nvPr/>
        </p:nvGrpSpPr>
        <p:grpSpPr bwMode="auto">
          <a:xfrm>
            <a:off x="6572250" y="4230688"/>
            <a:ext cx="939800" cy="925512"/>
            <a:chOff x="1584" y="816"/>
            <a:chExt cx="912" cy="816"/>
          </a:xfrm>
        </p:grpSpPr>
        <p:sp>
          <p:nvSpPr>
            <p:cNvPr id="10261" name="Freeform 5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62" name="Freeform 5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63" name="Freeform 6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64" name="Freeform 6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65" name="Freeform 6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66" name="Freeform 6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67" name="Freeform 6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68" name="Freeform 6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269" name="Freeform 6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75267" name="AutoShape 67"/>
          <p:cNvSpPr>
            <a:spLocks noChangeArrowheads="1"/>
          </p:cNvSpPr>
          <p:nvPr/>
        </p:nvSpPr>
        <p:spPr bwMode="auto">
          <a:xfrm>
            <a:off x="3873500" y="18161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996600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996600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075268" name="AutoShape 68"/>
          <p:cNvSpPr>
            <a:spLocks noChangeArrowheads="1"/>
          </p:cNvSpPr>
          <p:nvPr/>
        </p:nvSpPr>
        <p:spPr bwMode="auto">
          <a:xfrm>
            <a:off x="2971800" y="17526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075269" name="AutoShape 69"/>
          <p:cNvSpPr>
            <a:spLocks noChangeArrowheads="1"/>
          </p:cNvSpPr>
          <p:nvPr/>
        </p:nvSpPr>
        <p:spPr bwMode="auto">
          <a:xfrm>
            <a:off x="3873500" y="28702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66FF66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66FF66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075270" name="AutoShape 70"/>
          <p:cNvSpPr>
            <a:spLocks noChangeArrowheads="1"/>
          </p:cNvSpPr>
          <p:nvPr/>
        </p:nvSpPr>
        <p:spPr bwMode="auto">
          <a:xfrm>
            <a:off x="7810500" y="29083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996600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996600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075271" name="AutoShape 71"/>
          <p:cNvSpPr>
            <a:spLocks noChangeArrowheads="1"/>
          </p:cNvSpPr>
          <p:nvPr/>
        </p:nvSpPr>
        <p:spPr bwMode="auto">
          <a:xfrm>
            <a:off x="6908800" y="28448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075272" name="AutoShape 72"/>
          <p:cNvSpPr>
            <a:spLocks noChangeArrowheads="1"/>
          </p:cNvSpPr>
          <p:nvPr/>
        </p:nvSpPr>
        <p:spPr bwMode="auto">
          <a:xfrm>
            <a:off x="7810500" y="39624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66FF66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66FF66"/>
                </a:solidFill>
                <a:latin typeface="Arial" pitchFamily="34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075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7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1075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7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1075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7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67" grpId="0" animBg="1"/>
      <p:bldP spid="1075268" grpId="0" animBg="1"/>
      <p:bldP spid="1075269" grpId="0" animBg="1"/>
      <p:bldP spid="1075270" grpId="0" animBg="1"/>
      <p:bldP spid="1075271" grpId="0" animBg="1"/>
      <p:bldP spid="107527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3"/>
          <p:cNvSpPr>
            <a:spLocks noChangeArrowheads="1"/>
          </p:cNvSpPr>
          <p:nvPr/>
        </p:nvSpPr>
        <p:spPr bwMode="auto">
          <a:xfrm>
            <a:off x="5814998" y="2472378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77" name="Rectangle 3"/>
          <p:cNvSpPr>
            <a:spLocks noChangeArrowheads="1"/>
          </p:cNvSpPr>
          <p:nvPr/>
        </p:nvSpPr>
        <p:spPr bwMode="auto">
          <a:xfrm>
            <a:off x="1788160" y="1548149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B571E60-0173-4266-AD40-9F5B2F4E157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Ideal Parallel Computation</a:t>
            </a:r>
            <a:endParaRPr lang="en-US" sz="180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101850" y="2414588"/>
            <a:ext cx="939800" cy="925512"/>
            <a:chOff x="1584" y="816"/>
            <a:chExt cx="912" cy="816"/>
          </a:xfrm>
        </p:grpSpPr>
        <p:sp>
          <p:nvSpPr>
            <p:cNvPr id="11330" name="Freeform 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31" name="Freeform 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32" name="Freeform 1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33" name="Freeform 1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34" name="Freeform 1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35" name="Freeform 1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36" name="Freeform 1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37" name="Freeform 1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38" name="Freeform 1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079750" y="2439988"/>
            <a:ext cx="939800" cy="925512"/>
            <a:chOff x="1584" y="816"/>
            <a:chExt cx="912" cy="816"/>
          </a:xfrm>
        </p:grpSpPr>
        <p:sp>
          <p:nvSpPr>
            <p:cNvPr id="11321" name="Freeform 1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22" name="Freeform 1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23" name="Freeform 2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24" name="Freeform 2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25" name="Freeform 2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26" name="Freeform 2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27" name="Freeform 2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28" name="Freeform 2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29" name="Freeform 2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2736850" y="3151188"/>
            <a:ext cx="939800" cy="925512"/>
            <a:chOff x="1584" y="816"/>
            <a:chExt cx="912" cy="816"/>
          </a:xfrm>
        </p:grpSpPr>
        <p:sp>
          <p:nvSpPr>
            <p:cNvPr id="11312" name="Freeform 2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13" name="Freeform 2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14" name="Freeform 3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15" name="Freeform 3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16" name="Freeform 3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17" name="Freeform 3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18" name="Freeform 3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19" name="Freeform 3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20" name="Freeform 3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937250" y="3494088"/>
            <a:ext cx="939800" cy="925512"/>
            <a:chOff x="1584" y="816"/>
            <a:chExt cx="912" cy="816"/>
          </a:xfrm>
        </p:grpSpPr>
        <p:sp>
          <p:nvSpPr>
            <p:cNvPr id="11303" name="Freeform 3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04" name="Freeform 3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05" name="Freeform 4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06" name="Freeform 4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07" name="Freeform 4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08" name="Freeform 4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09" name="Freeform 4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10" name="Freeform 4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11" name="Freeform 4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6915150" y="3519488"/>
            <a:ext cx="939800" cy="925512"/>
            <a:chOff x="1584" y="816"/>
            <a:chExt cx="912" cy="816"/>
          </a:xfrm>
        </p:grpSpPr>
        <p:sp>
          <p:nvSpPr>
            <p:cNvPr id="11294" name="Freeform 4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295" name="Freeform 4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296" name="Freeform 5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297" name="Freeform 5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298" name="Freeform 5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299" name="Freeform 5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00" name="Freeform 5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01" name="Freeform 5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02" name="Freeform 5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" name="Group 57"/>
          <p:cNvGrpSpPr>
            <a:grpSpLocks/>
          </p:cNvGrpSpPr>
          <p:nvPr/>
        </p:nvGrpSpPr>
        <p:grpSpPr bwMode="auto">
          <a:xfrm>
            <a:off x="6572250" y="4230688"/>
            <a:ext cx="939800" cy="925512"/>
            <a:chOff x="1584" y="816"/>
            <a:chExt cx="912" cy="816"/>
          </a:xfrm>
        </p:grpSpPr>
        <p:sp>
          <p:nvSpPr>
            <p:cNvPr id="11285" name="Freeform 5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286" name="Freeform 5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287" name="Freeform 6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288" name="Freeform 6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289" name="Freeform 6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290" name="Freeform 6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291" name="Freeform 6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292" name="Freeform 6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293" name="Freeform 6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76291" name="AutoShape 67"/>
          <p:cNvSpPr>
            <a:spLocks noChangeArrowheads="1"/>
          </p:cNvSpPr>
          <p:nvPr/>
        </p:nvSpPr>
        <p:spPr bwMode="auto">
          <a:xfrm>
            <a:off x="3873500" y="18161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996600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996600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1076292" name="AutoShape 68"/>
          <p:cNvSpPr>
            <a:spLocks noChangeArrowheads="1"/>
          </p:cNvSpPr>
          <p:nvPr/>
        </p:nvSpPr>
        <p:spPr bwMode="auto">
          <a:xfrm>
            <a:off x="2971800" y="17526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1076293" name="AutoShape 69"/>
          <p:cNvSpPr>
            <a:spLocks noChangeArrowheads="1"/>
          </p:cNvSpPr>
          <p:nvPr/>
        </p:nvSpPr>
        <p:spPr bwMode="auto">
          <a:xfrm>
            <a:off x="3873500" y="28702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66FF66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66FF66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1076294" name="AutoShape 70"/>
          <p:cNvSpPr>
            <a:spLocks noChangeArrowheads="1"/>
          </p:cNvSpPr>
          <p:nvPr/>
        </p:nvSpPr>
        <p:spPr bwMode="auto">
          <a:xfrm>
            <a:off x="7810500" y="29083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996600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996600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076295" name="AutoShape 71"/>
          <p:cNvSpPr>
            <a:spLocks noChangeArrowheads="1"/>
          </p:cNvSpPr>
          <p:nvPr/>
        </p:nvSpPr>
        <p:spPr bwMode="auto">
          <a:xfrm>
            <a:off x="6908800" y="28448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076296" name="AutoShape 72"/>
          <p:cNvSpPr>
            <a:spLocks noChangeArrowheads="1"/>
          </p:cNvSpPr>
          <p:nvPr/>
        </p:nvSpPr>
        <p:spPr bwMode="auto">
          <a:xfrm>
            <a:off x="7810500" y="39624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66FF66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66FF66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75" name="AutoShape 5"/>
          <p:cNvSpPr>
            <a:spLocks noChangeArrowheads="1"/>
          </p:cNvSpPr>
          <p:nvPr/>
        </p:nvSpPr>
        <p:spPr bwMode="auto">
          <a:xfrm rot="3874924">
            <a:off x="5091949" y="191169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80" name="AutoShape 5"/>
          <p:cNvSpPr>
            <a:spLocks noChangeArrowheads="1"/>
          </p:cNvSpPr>
          <p:nvPr/>
        </p:nvSpPr>
        <p:spPr bwMode="auto">
          <a:xfrm rot="3874924" flipH="1" flipV="1">
            <a:off x="4134541" y="385835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076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7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10762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7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1076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7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291" grpId="0" animBg="1"/>
      <p:bldP spid="1076292" grpId="0" animBg="1"/>
      <p:bldP spid="1076293" grpId="0" animBg="1"/>
      <p:bldP spid="1076294" grpId="0" animBg="1"/>
      <p:bldP spid="1076295" grpId="0" animBg="1"/>
      <p:bldP spid="107629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3"/>
          <p:cNvSpPr>
            <a:spLocks noChangeArrowheads="1"/>
          </p:cNvSpPr>
          <p:nvPr/>
        </p:nvSpPr>
        <p:spPr bwMode="auto">
          <a:xfrm>
            <a:off x="5814998" y="2472378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70" name="Rectangle 3"/>
          <p:cNvSpPr>
            <a:spLocks noChangeArrowheads="1"/>
          </p:cNvSpPr>
          <p:nvPr/>
        </p:nvSpPr>
        <p:spPr bwMode="auto">
          <a:xfrm>
            <a:off x="1788160" y="1548149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71" name="AutoShape 5"/>
          <p:cNvSpPr>
            <a:spLocks noChangeArrowheads="1"/>
          </p:cNvSpPr>
          <p:nvPr/>
        </p:nvSpPr>
        <p:spPr bwMode="auto">
          <a:xfrm rot="3874924">
            <a:off x="5091949" y="191169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2" name="AutoShape 5"/>
          <p:cNvSpPr>
            <a:spLocks noChangeArrowheads="1"/>
          </p:cNvSpPr>
          <p:nvPr/>
        </p:nvSpPr>
        <p:spPr bwMode="auto">
          <a:xfrm rot="3874924" flipH="1" flipV="1">
            <a:off x="4134541" y="385835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18CE4BB-2D16-46CF-9A2D-9552E42C45F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Real-Life Parallel Computation</a:t>
            </a:r>
            <a:endParaRPr lang="en-US" sz="160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101850" y="2414588"/>
            <a:ext cx="939800" cy="925512"/>
            <a:chOff x="1584" y="816"/>
            <a:chExt cx="912" cy="816"/>
          </a:xfrm>
        </p:grpSpPr>
        <p:sp>
          <p:nvSpPr>
            <p:cNvPr id="12344" name="Freeform 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45" name="Freeform 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46" name="Freeform 1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47" name="Freeform 1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48" name="Freeform 1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49" name="Freeform 1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50" name="Freeform 1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51" name="Freeform 1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52" name="Freeform 1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079750" y="2439988"/>
            <a:ext cx="939800" cy="925512"/>
            <a:chOff x="1584" y="816"/>
            <a:chExt cx="912" cy="816"/>
          </a:xfrm>
        </p:grpSpPr>
        <p:sp>
          <p:nvSpPr>
            <p:cNvPr id="12335" name="Freeform 1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36" name="Freeform 1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37" name="Freeform 2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38" name="Freeform 2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39" name="Freeform 2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40" name="Freeform 2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41" name="Freeform 2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42" name="Freeform 2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43" name="Freeform 2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2299" name="Group 27"/>
          <p:cNvGrpSpPr>
            <a:grpSpLocks/>
          </p:cNvGrpSpPr>
          <p:nvPr/>
        </p:nvGrpSpPr>
        <p:grpSpPr bwMode="auto">
          <a:xfrm>
            <a:off x="2736850" y="3151188"/>
            <a:ext cx="939800" cy="925512"/>
            <a:chOff x="1584" y="816"/>
            <a:chExt cx="912" cy="816"/>
          </a:xfrm>
        </p:grpSpPr>
        <p:sp>
          <p:nvSpPr>
            <p:cNvPr id="12326" name="Freeform 2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27" name="Freeform 2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28" name="Freeform 3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29" name="Freeform 3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30" name="Freeform 3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31" name="Freeform 3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32" name="Freeform 3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33" name="Freeform 3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34" name="Freeform 3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937250" y="3494088"/>
            <a:ext cx="939800" cy="925512"/>
            <a:chOff x="1584" y="816"/>
            <a:chExt cx="912" cy="816"/>
          </a:xfrm>
        </p:grpSpPr>
        <p:sp>
          <p:nvSpPr>
            <p:cNvPr id="12317" name="Freeform 3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18" name="Freeform 3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19" name="Freeform 4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20" name="Freeform 4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21" name="Freeform 4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22" name="Freeform 4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23" name="Freeform 4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24" name="Freeform 4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25" name="Freeform 4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6915150" y="3519488"/>
            <a:ext cx="939800" cy="925512"/>
            <a:chOff x="1584" y="816"/>
            <a:chExt cx="912" cy="816"/>
          </a:xfrm>
        </p:grpSpPr>
        <p:sp>
          <p:nvSpPr>
            <p:cNvPr id="12308" name="Freeform 4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09" name="Freeform 4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10" name="Freeform 5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11" name="Freeform 5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12" name="Freeform 5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13" name="Freeform 5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14" name="Freeform 5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15" name="Freeform 5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2316" name="Freeform 5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77305" name="AutoShape 57"/>
          <p:cNvSpPr>
            <a:spLocks noChangeArrowheads="1"/>
          </p:cNvSpPr>
          <p:nvPr/>
        </p:nvSpPr>
        <p:spPr bwMode="auto">
          <a:xfrm>
            <a:off x="3873500" y="18161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latin typeface="Arial" pitchFamily="34" charset="0"/>
              </a:rPr>
              <a:t>0</a:t>
            </a:r>
          </a:p>
        </p:txBody>
      </p:sp>
      <p:sp>
        <p:nvSpPr>
          <p:cNvPr id="1077306" name="AutoShape 58"/>
          <p:cNvSpPr>
            <a:spLocks noChangeArrowheads="1"/>
          </p:cNvSpPr>
          <p:nvPr/>
        </p:nvSpPr>
        <p:spPr bwMode="auto">
          <a:xfrm>
            <a:off x="2971800" y="17526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077307" name="AutoShape 59"/>
          <p:cNvSpPr>
            <a:spLocks noChangeArrowheads="1"/>
          </p:cNvSpPr>
          <p:nvPr/>
        </p:nvSpPr>
        <p:spPr bwMode="auto">
          <a:xfrm>
            <a:off x="3873500" y="28702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66FF66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66FF66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077308" name="AutoShape 60"/>
          <p:cNvSpPr>
            <a:spLocks noChangeArrowheads="1"/>
          </p:cNvSpPr>
          <p:nvPr/>
        </p:nvSpPr>
        <p:spPr bwMode="auto">
          <a:xfrm>
            <a:off x="7810500" y="29083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996600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996600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077309" name="AutoShape 61"/>
          <p:cNvSpPr>
            <a:spLocks noChangeArrowheads="1"/>
          </p:cNvSpPr>
          <p:nvPr/>
        </p:nvSpPr>
        <p:spPr bwMode="auto">
          <a:xfrm>
            <a:off x="6908800" y="28448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077310" name="AutoShape 62"/>
          <p:cNvSpPr>
            <a:spLocks noChangeArrowheads="1"/>
          </p:cNvSpPr>
          <p:nvPr/>
        </p:nvSpPr>
        <p:spPr bwMode="auto">
          <a:xfrm>
            <a:off x="3975100" y="2882900"/>
            <a:ext cx="1524000" cy="558800"/>
          </a:xfrm>
          <a:prstGeom prst="cloudCallout">
            <a:avLst>
              <a:gd name="adj1" fmla="val -65625"/>
              <a:gd name="adj2" fmla="val 74431"/>
            </a:avLst>
          </a:prstGeom>
          <a:solidFill>
            <a:schemeClr val="bg1"/>
          </a:solidFill>
          <a:ln w="38100">
            <a:solidFill>
              <a:srgbClr val="66FF66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 err="1">
                <a:solidFill>
                  <a:srgbClr val="66FF66"/>
                </a:solidFill>
                <a:latin typeface="Arial" pitchFamily="34" charset="0"/>
              </a:rPr>
              <a:t>zzz</a:t>
            </a:r>
            <a:r>
              <a:rPr lang="en-US" dirty="0">
                <a:solidFill>
                  <a:srgbClr val="66FF66"/>
                </a:solidFill>
                <a:latin typeface="Arial" pitchFamily="34" charset="0"/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077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77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10773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77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10773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77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7305" grpId="0" animBg="1"/>
      <p:bldP spid="1077306" grpId="0" animBg="1"/>
      <p:bldP spid="1077307" grpId="0" animBg="1"/>
      <p:bldP spid="1077308" grpId="0" animBg="1"/>
      <p:bldP spid="1077309" grpId="0" animBg="1"/>
      <p:bldP spid="10773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3"/>
          <p:cNvSpPr>
            <a:spLocks noChangeArrowheads="1"/>
          </p:cNvSpPr>
          <p:nvPr/>
        </p:nvSpPr>
        <p:spPr bwMode="auto">
          <a:xfrm>
            <a:off x="5814998" y="2472378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61" name="Rectangle 3"/>
          <p:cNvSpPr>
            <a:spLocks noChangeArrowheads="1"/>
          </p:cNvSpPr>
          <p:nvPr/>
        </p:nvSpPr>
        <p:spPr bwMode="auto">
          <a:xfrm>
            <a:off x="1788160" y="1548149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62" name="AutoShape 5"/>
          <p:cNvSpPr>
            <a:spLocks noChangeArrowheads="1"/>
          </p:cNvSpPr>
          <p:nvPr/>
        </p:nvSpPr>
        <p:spPr bwMode="auto">
          <a:xfrm rot="3874924">
            <a:off x="5091949" y="191169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63" name="AutoShape 5"/>
          <p:cNvSpPr>
            <a:spLocks noChangeArrowheads="1"/>
          </p:cNvSpPr>
          <p:nvPr/>
        </p:nvSpPr>
        <p:spPr bwMode="auto">
          <a:xfrm rot="3874924" flipH="1" flipV="1">
            <a:off x="4134541" y="385835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80236A-68CC-480A-B849-D88D3B72EB85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79750" y="2439988"/>
            <a:ext cx="939800" cy="925512"/>
            <a:chOff x="1584" y="816"/>
            <a:chExt cx="912" cy="816"/>
          </a:xfrm>
        </p:grpSpPr>
        <p:sp>
          <p:nvSpPr>
            <p:cNvPr id="13359" name="Freeform 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60" name="Freeform 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61" name="Freeform 1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62" name="Freeform 1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63" name="Freeform 1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64" name="Freeform 1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65" name="Freeform 1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66" name="Freeform 1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67" name="Freeform 1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3318" name="Group 54"/>
          <p:cNvGrpSpPr>
            <a:grpSpLocks/>
          </p:cNvGrpSpPr>
          <p:nvPr/>
        </p:nvGrpSpPr>
        <p:grpSpPr bwMode="auto">
          <a:xfrm>
            <a:off x="2889250" y="3303588"/>
            <a:ext cx="939800" cy="925512"/>
            <a:chOff x="1584" y="816"/>
            <a:chExt cx="912" cy="816"/>
          </a:xfrm>
        </p:grpSpPr>
        <p:sp>
          <p:nvSpPr>
            <p:cNvPr id="13350" name="Freeform 55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51" name="Freeform 56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52" name="Freeform 57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53" name="Freeform 58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54" name="Freeform 59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55" name="Freeform 60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56" name="Freeform 61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57" name="Freeform 62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58" name="Freeform 63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78324" name="AutoShape 52"/>
          <p:cNvSpPr>
            <a:spLocks noChangeArrowheads="1"/>
          </p:cNvSpPr>
          <p:nvPr/>
        </p:nvSpPr>
        <p:spPr bwMode="auto">
          <a:xfrm>
            <a:off x="3695700" y="1612900"/>
            <a:ext cx="1092200" cy="26924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33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Real-Life Parallel Computation</a:t>
            </a:r>
            <a:endParaRPr lang="en-US" sz="1600"/>
          </a:p>
        </p:txBody>
      </p:sp>
      <p:grpSp>
        <p:nvGrpSpPr>
          <p:cNvPr id="13324" name="Group 17"/>
          <p:cNvGrpSpPr>
            <a:grpSpLocks/>
          </p:cNvGrpSpPr>
          <p:nvPr/>
        </p:nvGrpSpPr>
        <p:grpSpPr bwMode="auto">
          <a:xfrm>
            <a:off x="5937250" y="3494088"/>
            <a:ext cx="939800" cy="925512"/>
            <a:chOff x="1584" y="816"/>
            <a:chExt cx="912" cy="816"/>
          </a:xfrm>
        </p:grpSpPr>
        <p:sp>
          <p:nvSpPr>
            <p:cNvPr id="13341" name="Freeform 1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42" name="Freeform 1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43" name="Freeform 2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44" name="Freeform 2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45" name="Freeform 2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46" name="Freeform 2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47" name="Freeform 2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48" name="Freeform 2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49" name="Freeform 2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6915150" y="3519488"/>
            <a:ext cx="939800" cy="925512"/>
            <a:chOff x="1584" y="816"/>
            <a:chExt cx="912" cy="816"/>
          </a:xfrm>
        </p:grpSpPr>
        <p:sp>
          <p:nvSpPr>
            <p:cNvPr id="13332" name="Freeform 2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33" name="Freeform 2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34" name="Freeform 3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35" name="Freeform 3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36" name="Freeform 3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37" name="Freeform 3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38" name="Freeform 3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39" name="Freeform 3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3340" name="Freeform 3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78309" name="AutoShape 37"/>
          <p:cNvSpPr>
            <a:spLocks noChangeArrowheads="1"/>
          </p:cNvSpPr>
          <p:nvPr/>
        </p:nvSpPr>
        <p:spPr bwMode="auto">
          <a:xfrm>
            <a:off x="3873500" y="18161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996600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996600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1078310" name="AutoShape 38"/>
          <p:cNvSpPr>
            <a:spLocks noChangeArrowheads="1"/>
          </p:cNvSpPr>
          <p:nvPr/>
        </p:nvSpPr>
        <p:spPr bwMode="auto">
          <a:xfrm>
            <a:off x="7810500" y="29083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996600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996600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078311" name="AutoShape 39"/>
          <p:cNvSpPr>
            <a:spLocks noChangeArrowheads="1"/>
          </p:cNvSpPr>
          <p:nvPr/>
        </p:nvSpPr>
        <p:spPr bwMode="auto">
          <a:xfrm>
            <a:off x="6908800" y="28448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078323" name="AutoShape 51"/>
          <p:cNvSpPr>
            <a:spLocks noChangeArrowheads="1"/>
          </p:cNvSpPr>
          <p:nvPr/>
        </p:nvSpPr>
        <p:spPr bwMode="auto">
          <a:xfrm>
            <a:off x="6845300" y="2798763"/>
            <a:ext cx="1678940" cy="702766"/>
          </a:xfrm>
          <a:prstGeom prst="cloudCallout">
            <a:avLst>
              <a:gd name="adj1" fmla="val -66454"/>
              <a:gd name="adj2" fmla="val 70870"/>
            </a:avLst>
          </a:prstGeom>
          <a:solidFill>
            <a:schemeClr val="bg1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Arial" pitchFamily="34" charset="0"/>
              </a:rPr>
              <a:t>zzz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…</a:t>
            </a:r>
          </a:p>
        </p:txBody>
      </p:sp>
      <p:sp>
        <p:nvSpPr>
          <p:cNvPr id="1078325" name="Text Box 53"/>
          <p:cNvSpPr txBox="1">
            <a:spLocks noChangeArrowheads="1"/>
          </p:cNvSpPr>
          <p:nvPr/>
        </p:nvSpPr>
        <p:spPr bwMode="auto">
          <a:xfrm>
            <a:off x="2955925" y="5105400"/>
            <a:ext cx="1184275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Uh, oh</a:t>
            </a:r>
          </a:p>
        </p:txBody>
      </p:sp>
      <p:sp>
        <p:nvSpPr>
          <p:cNvPr id="13331" name="AutoShape 64"/>
          <p:cNvSpPr>
            <a:spLocks noChangeArrowheads="1"/>
          </p:cNvSpPr>
          <p:nvPr/>
        </p:nvSpPr>
        <p:spPr bwMode="auto">
          <a:xfrm>
            <a:off x="4025900" y="30226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66FF66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66FF66"/>
                </a:solidFill>
                <a:latin typeface="Arial" pitchFamily="34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078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7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1078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78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7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7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8324" grpId="0" animBg="1"/>
      <p:bldP spid="1078309" grpId="0" animBg="1"/>
      <p:bldP spid="1078310" grpId="0" animBg="1"/>
      <p:bldP spid="1078311" grpId="0" animBg="1"/>
      <p:bldP spid="1078323" grpId="0" animBg="1"/>
      <p:bldP spid="10783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3"/>
          <p:cNvSpPr>
            <a:spLocks noChangeArrowheads="1"/>
          </p:cNvSpPr>
          <p:nvPr/>
        </p:nvSpPr>
        <p:spPr bwMode="auto">
          <a:xfrm>
            <a:off x="5814998" y="2472378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79" name="Rectangle 3"/>
          <p:cNvSpPr>
            <a:spLocks noChangeArrowheads="1"/>
          </p:cNvSpPr>
          <p:nvPr/>
        </p:nvSpPr>
        <p:spPr bwMode="auto">
          <a:xfrm>
            <a:off x="1788160" y="1548149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80" name="AutoShape 5"/>
          <p:cNvSpPr>
            <a:spLocks noChangeArrowheads="1"/>
          </p:cNvSpPr>
          <p:nvPr/>
        </p:nvSpPr>
        <p:spPr bwMode="auto">
          <a:xfrm rot="3874924">
            <a:off x="5091949" y="191169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81" name="AutoShape 5"/>
          <p:cNvSpPr>
            <a:spLocks noChangeArrowheads="1"/>
          </p:cNvSpPr>
          <p:nvPr/>
        </p:nvSpPr>
        <p:spPr bwMode="auto">
          <a:xfrm rot="3874924" flipH="1" flipV="1">
            <a:off x="4134541" y="385835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4" name="AutoShape 5"/>
          <p:cNvSpPr>
            <a:spLocks noChangeArrowheads="1"/>
          </p:cNvSpPr>
          <p:nvPr/>
        </p:nvSpPr>
        <p:spPr bwMode="auto">
          <a:xfrm rot="3874924">
            <a:off x="5183804" y="1766342"/>
            <a:ext cx="681391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79E7AE0-65AA-4EC6-A33A-0EC3BE7FF5E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 Synchronization</a:t>
            </a:r>
            <a:endParaRPr lang="en-US" sz="180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101850" y="2414588"/>
            <a:ext cx="939800" cy="925512"/>
            <a:chOff x="1584" y="816"/>
            <a:chExt cx="912" cy="816"/>
          </a:xfrm>
        </p:grpSpPr>
        <p:sp>
          <p:nvSpPr>
            <p:cNvPr id="14401" name="Freeform 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402" name="Freeform 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403" name="Freeform 1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404" name="Freeform 1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405" name="Freeform 1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406" name="Freeform 1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407" name="Freeform 1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408" name="Freeform 1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409" name="Freeform 1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079750" y="2439988"/>
            <a:ext cx="939800" cy="925512"/>
            <a:chOff x="1584" y="816"/>
            <a:chExt cx="912" cy="816"/>
          </a:xfrm>
        </p:grpSpPr>
        <p:sp>
          <p:nvSpPr>
            <p:cNvPr id="14392" name="Freeform 1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93" name="Freeform 1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94" name="Freeform 2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95" name="Freeform 2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96" name="Freeform 2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97" name="Freeform 2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98" name="Freeform 2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99" name="Freeform 2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400" name="Freeform 2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2736850" y="3151188"/>
            <a:ext cx="939800" cy="925512"/>
            <a:chOff x="1584" y="816"/>
            <a:chExt cx="912" cy="816"/>
          </a:xfrm>
        </p:grpSpPr>
        <p:sp>
          <p:nvSpPr>
            <p:cNvPr id="14383" name="Freeform 2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84" name="Freeform 2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85" name="Freeform 3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86" name="Freeform 3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87" name="Freeform 3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88" name="Freeform 3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89" name="Freeform 3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90" name="Freeform 3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91" name="Freeform 3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4743450" y="2693988"/>
            <a:ext cx="939800" cy="925512"/>
            <a:chOff x="1584" y="816"/>
            <a:chExt cx="912" cy="816"/>
          </a:xfrm>
        </p:grpSpPr>
        <p:sp>
          <p:nvSpPr>
            <p:cNvPr id="14374" name="Freeform 3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75" name="Freeform 3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76" name="Freeform 4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77" name="Freeform 4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78" name="Freeform 4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79" name="Freeform 4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80" name="Freeform 4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81" name="Freeform 4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82" name="Freeform 4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5264150" y="1550988"/>
            <a:ext cx="939800" cy="925512"/>
            <a:chOff x="1584" y="816"/>
            <a:chExt cx="912" cy="816"/>
          </a:xfrm>
        </p:grpSpPr>
        <p:sp>
          <p:nvSpPr>
            <p:cNvPr id="14365" name="Freeform 4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66" name="Freeform 4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67" name="Freeform 5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68" name="Freeform 5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69" name="Freeform 5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70" name="Freeform 5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71" name="Freeform 5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72" name="Freeform 5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73" name="Freeform 5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" name="Group 57"/>
          <p:cNvGrpSpPr>
            <a:grpSpLocks/>
          </p:cNvGrpSpPr>
          <p:nvPr/>
        </p:nvGrpSpPr>
        <p:grpSpPr bwMode="auto">
          <a:xfrm>
            <a:off x="5010150" y="2109788"/>
            <a:ext cx="939800" cy="925512"/>
            <a:chOff x="1584" y="816"/>
            <a:chExt cx="912" cy="816"/>
          </a:xfrm>
        </p:grpSpPr>
        <p:sp>
          <p:nvSpPr>
            <p:cNvPr id="14356" name="Freeform 5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57" name="Freeform 5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58" name="Freeform 6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59" name="Freeform 6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60" name="Freeform 6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61" name="Freeform 6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62" name="Freeform 6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63" name="Freeform 6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4364" name="Freeform 6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79363" name="AutoShape 67"/>
          <p:cNvSpPr>
            <a:spLocks noChangeArrowheads="1"/>
          </p:cNvSpPr>
          <p:nvPr/>
        </p:nvSpPr>
        <p:spPr bwMode="auto">
          <a:xfrm>
            <a:off x="3873500" y="18161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996600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996600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079364" name="AutoShape 68"/>
          <p:cNvSpPr>
            <a:spLocks noChangeArrowheads="1"/>
          </p:cNvSpPr>
          <p:nvPr/>
        </p:nvSpPr>
        <p:spPr bwMode="auto">
          <a:xfrm>
            <a:off x="2971800" y="17526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079365" name="AutoShape 69"/>
          <p:cNvSpPr>
            <a:spLocks noChangeArrowheads="1"/>
          </p:cNvSpPr>
          <p:nvPr/>
        </p:nvSpPr>
        <p:spPr bwMode="auto">
          <a:xfrm>
            <a:off x="3873500" y="28702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66FF66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66FF66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4354" name="Line 70"/>
          <p:cNvSpPr>
            <a:spLocks noChangeShapeType="1"/>
          </p:cNvSpPr>
          <p:nvPr/>
        </p:nvSpPr>
        <p:spPr bwMode="auto">
          <a:xfrm flipV="1">
            <a:off x="4799013" y="1562100"/>
            <a:ext cx="1133475" cy="196056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4355" name="Text Box 71"/>
          <p:cNvSpPr txBox="1">
            <a:spLocks noChangeArrowheads="1"/>
          </p:cNvSpPr>
          <p:nvPr/>
        </p:nvSpPr>
        <p:spPr bwMode="auto">
          <a:xfrm>
            <a:off x="6400637" y="1548149"/>
            <a:ext cx="1322798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barrier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079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1079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079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9363" grpId="0" animBg="1"/>
      <p:bldP spid="1079364" grpId="0" animBg="1"/>
      <p:bldP spid="107936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3"/>
          <p:cNvSpPr>
            <a:spLocks noChangeArrowheads="1"/>
          </p:cNvSpPr>
          <p:nvPr/>
        </p:nvSpPr>
        <p:spPr bwMode="auto">
          <a:xfrm>
            <a:off x="5814998" y="2472378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73" name="Rectangle 3"/>
          <p:cNvSpPr>
            <a:spLocks noChangeArrowheads="1"/>
          </p:cNvSpPr>
          <p:nvPr/>
        </p:nvSpPr>
        <p:spPr bwMode="auto">
          <a:xfrm>
            <a:off x="1788160" y="1548149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77" name="AutoShape 5"/>
          <p:cNvSpPr>
            <a:spLocks noChangeArrowheads="1"/>
          </p:cNvSpPr>
          <p:nvPr/>
        </p:nvSpPr>
        <p:spPr bwMode="auto">
          <a:xfrm rot="3874924">
            <a:off x="5091949" y="191169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8" name="AutoShape 5"/>
          <p:cNvSpPr>
            <a:spLocks noChangeArrowheads="1"/>
          </p:cNvSpPr>
          <p:nvPr/>
        </p:nvSpPr>
        <p:spPr bwMode="auto">
          <a:xfrm rot="3874924" flipH="1" flipV="1">
            <a:off x="4134541" y="385835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3A91531-7907-4AB7-A02F-E4E61EA57B8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 Synchronization</a:t>
            </a:r>
            <a:endParaRPr lang="en-US" sz="180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743450" y="2693988"/>
            <a:ext cx="939800" cy="925512"/>
            <a:chOff x="1584" y="816"/>
            <a:chExt cx="912" cy="816"/>
          </a:xfrm>
        </p:grpSpPr>
        <p:sp>
          <p:nvSpPr>
            <p:cNvPr id="15425" name="Freeform 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26" name="Freeform 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27" name="Freeform 1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28" name="Freeform 1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29" name="Freeform 1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30" name="Freeform 1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31" name="Freeform 1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32" name="Freeform 1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33" name="Freeform 1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5264150" y="1550988"/>
            <a:ext cx="939800" cy="925512"/>
            <a:chOff x="1584" y="816"/>
            <a:chExt cx="912" cy="816"/>
          </a:xfrm>
        </p:grpSpPr>
        <p:sp>
          <p:nvSpPr>
            <p:cNvPr id="15416" name="Freeform 1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17" name="Freeform 1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18" name="Freeform 2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19" name="Freeform 2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20" name="Freeform 2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21" name="Freeform 2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22" name="Freeform 2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23" name="Freeform 2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24" name="Freeform 2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5010150" y="2109788"/>
            <a:ext cx="939800" cy="925512"/>
            <a:chOff x="1584" y="816"/>
            <a:chExt cx="912" cy="816"/>
          </a:xfrm>
        </p:grpSpPr>
        <p:sp>
          <p:nvSpPr>
            <p:cNvPr id="15407" name="Freeform 2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08" name="Freeform 2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09" name="Freeform 3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10" name="Freeform 3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11" name="Freeform 3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12" name="Freeform 3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13" name="Freeform 3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14" name="Freeform 3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15" name="Freeform 3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5372" name="Line 37"/>
          <p:cNvSpPr>
            <a:spLocks noChangeShapeType="1"/>
          </p:cNvSpPr>
          <p:nvPr/>
        </p:nvSpPr>
        <p:spPr bwMode="auto">
          <a:xfrm flipV="1">
            <a:off x="4799013" y="1562100"/>
            <a:ext cx="1133475" cy="196056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5924550" y="3430588"/>
            <a:ext cx="939800" cy="925512"/>
            <a:chOff x="1584" y="816"/>
            <a:chExt cx="912" cy="816"/>
          </a:xfrm>
        </p:grpSpPr>
        <p:sp>
          <p:nvSpPr>
            <p:cNvPr id="15398" name="Freeform 40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99" name="Freeform 41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00" name="Freeform 42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01" name="Freeform 43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02" name="Freeform 44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03" name="Freeform 45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33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04" name="Freeform 46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05" name="Freeform 47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406" name="Freeform 48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6902450" y="3455988"/>
            <a:ext cx="939800" cy="925512"/>
            <a:chOff x="1584" y="816"/>
            <a:chExt cx="912" cy="816"/>
          </a:xfrm>
        </p:grpSpPr>
        <p:sp>
          <p:nvSpPr>
            <p:cNvPr id="15389" name="Freeform 50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90" name="Freeform 51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91" name="Freeform 52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92" name="Freeform 53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93" name="Freeform 54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94" name="Freeform 55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66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95" name="Freeform 56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96" name="Freeform 57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97" name="Freeform 58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" name="Group 59"/>
          <p:cNvGrpSpPr>
            <a:grpSpLocks/>
          </p:cNvGrpSpPr>
          <p:nvPr/>
        </p:nvGrpSpPr>
        <p:grpSpPr bwMode="auto">
          <a:xfrm>
            <a:off x="6559550" y="4167188"/>
            <a:ext cx="939800" cy="925512"/>
            <a:chOff x="1584" y="816"/>
            <a:chExt cx="912" cy="816"/>
          </a:xfrm>
        </p:grpSpPr>
        <p:sp>
          <p:nvSpPr>
            <p:cNvPr id="15380" name="Freeform 60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81" name="Freeform 61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82" name="Freeform 62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83" name="Freeform 63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84" name="Freeform 64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85" name="Freeform 65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66FF33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86" name="Freeform 66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87" name="Freeform 67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5388" name="Freeform 68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80389" name="AutoShape 69"/>
          <p:cNvSpPr>
            <a:spLocks noChangeArrowheads="1"/>
          </p:cNvSpPr>
          <p:nvPr/>
        </p:nvSpPr>
        <p:spPr bwMode="auto">
          <a:xfrm>
            <a:off x="7696200" y="28321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996600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996600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080390" name="AutoShape 70"/>
          <p:cNvSpPr>
            <a:spLocks noChangeArrowheads="1"/>
          </p:cNvSpPr>
          <p:nvPr/>
        </p:nvSpPr>
        <p:spPr bwMode="auto">
          <a:xfrm>
            <a:off x="6794500" y="27686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080391" name="AutoShape 71"/>
          <p:cNvSpPr>
            <a:spLocks noChangeArrowheads="1"/>
          </p:cNvSpPr>
          <p:nvPr/>
        </p:nvSpPr>
        <p:spPr bwMode="auto">
          <a:xfrm>
            <a:off x="7696200" y="3886200"/>
            <a:ext cx="660400" cy="558800"/>
          </a:xfrm>
          <a:prstGeom prst="cloudCallout">
            <a:avLst>
              <a:gd name="adj1" fmla="val -74519"/>
              <a:gd name="adj2" fmla="val 72157"/>
            </a:avLst>
          </a:prstGeom>
          <a:solidFill>
            <a:schemeClr val="bg1"/>
          </a:solidFill>
          <a:ln w="38100">
            <a:solidFill>
              <a:srgbClr val="66FF66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srgbClr val="66FF66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79" name="Text Box 71"/>
          <p:cNvSpPr txBox="1">
            <a:spLocks noChangeArrowheads="1"/>
          </p:cNvSpPr>
          <p:nvPr/>
        </p:nvSpPr>
        <p:spPr bwMode="auto">
          <a:xfrm>
            <a:off x="6400637" y="1548149"/>
            <a:ext cx="1322798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barrier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8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8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8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0389" grpId="0" animBg="1"/>
      <p:bldP spid="1080390" grpId="0" animBg="1"/>
      <p:bldP spid="108039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3"/>
          <p:cNvSpPr>
            <a:spLocks noChangeArrowheads="1"/>
          </p:cNvSpPr>
          <p:nvPr/>
        </p:nvSpPr>
        <p:spPr bwMode="auto">
          <a:xfrm>
            <a:off x="5814998" y="2472378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51" name="Rectangle 3"/>
          <p:cNvSpPr>
            <a:spLocks noChangeArrowheads="1"/>
          </p:cNvSpPr>
          <p:nvPr/>
        </p:nvSpPr>
        <p:spPr bwMode="auto">
          <a:xfrm>
            <a:off x="1788160" y="1548149"/>
            <a:ext cx="2848004" cy="3338333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52" name="AutoShape 5"/>
          <p:cNvSpPr>
            <a:spLocks noChangeArrowheads="1"/>
          </p:cNvSpPr>
          <p:nvPr/>
        </p:nvSpPr>
        <p:spPr bwMode="auto">
          <a:xfrm rot="3874924">
            <a:off x="5091949" y="191169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53" name="AutoShape 5"/>
          <p:cNvSpPr>
            <a:spLocks noChangeArrowheads="1"/>
          </p:cNvSpPr>
          <p:nvPr/>
        </p:nvSpPr>
        <p:spPr bwMode="auto">
          <a:xfrm rot="3874924" flipH="1" flipV="1">
            <a:off x="4134541" y="3858352"/>
            <a:ext cx="1003248" cy="1560016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48" name="Rectangle 3"/>
          <p:cNvSpPr>
            <a:spLocks noChangeArrowheads="1"/>
          </p:cNvSpPr>
          <p:nvPr/>
        </p:nvSpPr>
        <p:spPr bwMode="auto">
          <a:xfrm>
            <a:off x="2942934" y="2867967"/>
            <a:ext cx="184731" cy="461665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49" name="Rectangle 4"/>
          <p:cNvSpPr>
            <a:spLocks noChangeArrowheads="1"/>
          </p:cNvSpPr>
          <p:nvPr/>
        </p:nvSpPr>
        <p:spPr bwMode="auto">
          <a:xfrm>
            <a:off x="6791034" y="3934767"/>
            <a:ext cx="184731" cy="461665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52DE5A4-5843-4B39-9E8B-38DF0256A88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 Synchronization</a:t>
            </a:r>
            <a:endParaRPr lang="en-US" sz="1800"/>
          </a:p>
        </p:txBody>
      </p:sp>
      <p:grpSp>
        <p:nvGrpSpPr>
          <p:cNvPr id="16393" name="Group 7"/>
          <p:cNvGrpSpPr>
            <a:grpSpLocks/>
          </p:cNvGrpSpPr>
          <p:nvPr/>
        </p:nvGrpSpPr>
        <p:grpSpPr bwMode="auto">
          <a:xfrm>
            <a:off x="4743450" y="2693988"/>
            <a:ext cx="939800" cy="925512"/>
            <a:chOff x="1584" y="816"/>
            <a:chExt cx="912" cy="816"/>
          </a:xfrm>
        </p:grpSpPr>
        <p:sp>
          <p:nvSpPr>
            <p:cNvPr id="16420" name="Freeform 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21" name="Freeform 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22" name="Freeform 1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23" name="Freeform 1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24" name="Freeform 1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25" name="Freeform 1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26" name="Freeform 1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27" name="Freeform 1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28" name="Freeform 1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6394" name="Group 17"/>
          <p:cNvGrpSpPr>
            <a:grpSpLocks/>
          </p:cNvGrpSpPr>
          <p:nvPr/>
        </p:nvGrpSpPr>
        <p:grpSpPr bwMode="auto">
          <a:xfrm>
            <a:off x="5264150" y="1550988"/>
            <a:ext cx="939800" cy="925512"/>
            <a:chOff x="1584" y="816"/>
            <a:chExt cx="912" cy="816"/>
          </a:xfrm>
        </p:grpSpPr>
        <p:sp>
          <p:nvSpPr>
            <p:cNvPr id="16411" name="Freeform 1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12" name="Freeform 1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13" name="Freeform 2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14" name="Freeform 2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15" name="Freeform 2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16" name="Freeform 2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17" name="Freeform 2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18" name="Freeform 2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19" name="Freeform 2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6395" name="Group 27"/>
          <p:cNvGrpSpPr>
            <a:grpSpLocks/>
          </p:cNvGrpSpPr>
          <p:nvPr/>
        </p:nvGrpSpPr>
        <p:grpSpPr bwMode="auto">
          <a:xfrm>
            <a:off x="5010150" y="2109788"/>
            <a:ext cx="939800" cy="925512"/>
            <a:chOff x="1584" y="816"/>
            <a:chExt cx="912" cy="816"/>
          </a:xfrm>
        </p:grpSpPr>
        <p:sp>
          <p:nvSpPr>
            <p:cNvPr id="16402" name="Freeform 2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03" name="Freeform 2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04" name="Freeform 3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05" name="Freeform 3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06" name="Freeform 3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07" name="Freeform 3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08" name="Freeform 3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09" name="Freeform 3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6410" name="Freeform 3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6396" name="Line 37"/>
          <p:cNvSpPr>
            <a:spLocks noChangeShapeType="1"/>
          </p:cNvSpPr>
          <p:nvPr/>
        </p:nvSpPr>
        <p:spPr bwMode="auto">
          <a:xfrm flipV="1">
            <a:off x="4799013" y="1562100"/>
            <a:ext cx="1133475" cy="196056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81383" name="AutoShape 39"/>
          <p:cNvSpPr>
            <a:spLocks noChangeArrowheads="1"/>
          </p:cNvSpPr>
          <p:nvPr/>
        </p:nvSpPr>
        <p:spPr bwMode="auto">
          <a:xfrm>
            <a:off x="5905500" y="3702050"/>
            <a:ext cx="2057400" cy="1181100"/>
          </a:xfrm>
          <a:prstGeom prst="wedgeRoundRectCallout">
            <a:avLst>
              <a:gd name="adj1" fmla="val -10419"/>
              <a:gd name="adj2" fmla="val 136049"/>
              <a:gd name="adj3" fmla="val 16667"/>
            </a:avLst>
          </a:prstGeom>
          <a:solidFill>
            <a:srgbClr val="CCFFCC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 sz="2000" dirty="0">
              <a:latin typeface="Arial" pitchFamily="34" charset="0"/>
            </a:endParaRPr>
          </a:p>
        </p:txBody>
      </p:sp>
      <p:sp>
        <p:nvSpPr>
          <p:cNvPr id="1081384" name="Text Box 40"/>
          <p:cNvSpPr txBox="1">
            <a:spLocks noChangeArrowheads="1"/>
          </p:cNvSpPr>
          <p:nvPr/>
        </p:nvSpPr>
        <p:spPr bwMode="auto">
          <a:xfrm>
            <a:off x="5997853" y="5978843"/>
            <a:ext cx="2038350" cy="7016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No thread enters here</a:t>
            </a:r>
          </a:p>
        </p:txBody>
      </p:sp>
      <p:sp>
        <p:nvSpPr>
          <p:cNvPr id="1081385" name="AutoShape 41"/>
          <p:cNvSpPr>
            <a:spLocks noChangeArrowheads="1"/>
          </p:cNvSpPr>
          <p:nvPr/>
        </p:nvSpPr>
        <p:spPr bwMode="auto">
          <a:xfrm>
            <a:off x="1930400" y="2533650"/>
            <a:ext cx="2057400" cy="1181100"/>
          </a:xfrm>
          <a:prstGeom prst="wedgeRoundRectCallout">
            <a:avLst>
              <a:gd name="adj1" fmla="val -1530"/>
              <a:gd name="adj2" fmla="val 157555"/>
              <a:gd name="adj3" fmla="val 16667"/>
            </a:avLst>
          </a:prstGeom>
          <a:solidFill>
            <a:srgbClr val="CCFFCC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 sz="2000" dirty="0">
              <a:latin typeface="Arial" pitchFamily="34" charset="0"/>
            </a:endParaRPr>
          </a:p>
        </p:txBody>
      </p:sp>
      <p:sp>
        <p:nvSpPr>
          <p:cNvPr id="1081386" name="Text Box 42"/>
          <p:cNvSpPr txBox="1">
            <a:spLocks noChangeArrowheads="1"/>
          </p:cNvSpPr>
          <p:nvPr/>
        </p:nvSpPr>
        <p:spPr bwMode="auto">
          <a:xfrm>
            <a:off x="2023083" y="5084763"/>
            <a:ext cx="2038350" cy="10064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Until every thread has left here</a:t>
            </a:r>
          </a:p>
        </p:txBody>
      </p:sp>
      <p:sp>
        <p:nvSpPr>
          <p:cNvPr id="54" name="Text Box 71"/>
          <p:cNvSpPr txBox="1">
            <a:spLocks noChangeArrowheads="1"/>
          </p:cNvSpPr>
          <p:nvPr/>
        </p:nvSpPr>
        <p:spPr bwMode="auto">
          <a:xfrm>
            <a:off x="6400637" y="1548149"/>
            <a:ext cx="1322798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barrier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8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8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8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1383" grpId="0" animBg="1"/>
      <p:bldP spid="1081384" grpId="0"/>
      <p:bldP spid="1081385" grpId="0" animBg="1"/>
      <p:bldP spid="108138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B12C759-C1D2-4B55-BFFA-B4A13A1D760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We Care?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Mostly of interest to</a:t>
            </a:r>
          </a:p>
          <a:p>
            <a:pPr lvl="1"/>
            <a:r>
              <a:rPr lang="en-US"/>
              <a:t>Scientific &amp; numeric computation</a:t>
            </a:r>
          </a:p>
          <a:p>
            <a:r>
              <a:rPr lang="en-US"/>
              <a:t>Elsewhere</a:t>
            </a:r>
          </a:p>
          <a:p>
            <a:pPr lvl="1"/>
            <a:r>
              <a:rPr lang="en-US"/>
              <a:t>Garbage collection</a:t>
            </a:r>
          </a:p>
          <a:p>
            <a:pPr lvl="1"/>
            <a:r>
              <a:rPr lang="en-US"/>
              <a:t>Less common in systems programming</a:t>
            </a:r>
          </a:p>
          <a:p>
            <a:pPr lvl="1"/>
            <a:r>
              <a:rPr lang="en-US"/>
              <a:t>Still important topic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E84BFD1-84FE-49CD-80CD-1AB0161BE4B7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Duality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Dual to mutual exclusion</a:t>
            </a:r>
          </a:p>
          <a:p>
            <a:pPr lvl="1"/>
            <a:r>
              <a:rPr lang="en-US"/>
              <a:t>Include others, not exclude them</a:t>
            </a:r>
          </a:p>
          <a:p>
            <a:r>
              <a:rPr lang="en-US"/>
              <a:t>Same implementation issues</a:t>
            </a:r>
          </a:p>
          <a:p>
            <a:pPr lvl="1"/>
            <a:r>
              <a:rPr lang="en-US"/>
              <a:t>Interaction with caches …</a:t>
            </a:r>
          </a:p>
          <a:p>
            <a:pPr lvl="2"/>
            <a:r>
              <a:rPr lang="en-US"/>
              <a:t>Invalidation?</a:t>
            </a:r>
          </a:p>
          <a:p>
            <a:pPr lvl="2"/>
            <a:r>
              <a:rPr lang="en-US"/>
              <a:t>Local spinning?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095D978-F3FC-44A6-8CB1-CE6DF2409E8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Parallel Prefix</a:t>
            </a:r>
          </a:p>
        </p:txBody>
      </p:sp>
      <p:sp>
        <p:nvSpPr>
          <p:cNvPr id="19461" name="Rectangle 18"/>
          <p:cNvSpPr>
            <a:spLocks noChangeArrowheads="1"/>
          </p:cNvSpPr>
          <p:nvPr/>
        </p:nvSpPr>
        <p:spPr bwMode="auto">
          <a:xfrm>
            <a:off x="1612900" y="2381250"/>
            <a:ext cx="1092200" cy="1079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19462" name="Rectangle 19"/>
          <p:cNvSpPr>
            <a:spLocks noChangeArrowheads="1"/>
          </p:cNvSpPr>
          <p:nvPr/>
        </p:nvSpPr>
        <p:spPr bwMode="auto">
          <a:xfrm>
            <a:off x="2705100" y="2381250"/>
            <a:ext cx="1092200" cy="1079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19463" name="Rectangle 20"/>
          <p:cNvSpPr>
            <a:spLocks noChangeArrowheads="1"/>
          </p:cNvSpPr>
          <p:nvPr/>
        </p:nvSpPr>
        <p:spPr bwMode="auto">
          <a:xfrm>
            <a:off x="3797300" y="2381250"/>
            <a:ext cx="1092200" cy="1079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19464" name="Rectangle 21"/>
          <p:cNvSpPr>
            <a:spLocks noChangeArrowheads="1"/>
          </p:cNvSpPr>
          <p:nvPr/>
        </p:nvSpPr>
        <p:spPr bwMode="auto">
          <a:xfrm>
            <a:off x="4889500" y="2381250"/>
            <a:ext cx="1092200" cy="1079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19465" name="Rectangle 22"/>
          <p:cNvSpPr>
            <a:spLocks noChangeArrowheads="1"/>
          </p:cNvSpPr>
          <p:nvPr/>
        </p:nvSpPr>
        <p:spPr bwMode="auto">
          <a:xfrm>
            <a:off x="34925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19466" name="Rectangle 23"/>
          <p:cNvSpPr>
            <a:spLocks noChangeArrowheads="1"/>
          </p:cNvSpPr>
          <p:nvPr/>
        </p:nvSpPr>
        <p:spPr bwMode="auto">
          <a:xfrm>
            <a:off x="45847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a+b</a:t>
            </a:r>
          </a:p>
        </p:txBody>
      </p:sp>
      <p:sp>
        <p:nvSpPr>
          <p:cNvPr id="19467" name="Rectangle 24"/>
          <p:cNvSpPr>
            <a:spLocks noChangeArrowheads="1"/>
          </p:cNvSpPr>
          <p:nvPr/>
        </p:nvSpPr>
        <p:spPr bwMode="auto">
          <a:xfrm>
            <a:off x="56769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a+b+c</a:t>
            </a:r>
          </a:p>
        </p:txBody>
      </p:sp>
      <p:sp>
        <p:nvSpPr>
          <p:cNvPr id="19468" name="Rectangle 25"/>
          <p:cNvSpPr>
            <a:spLocks noChangeArrowheads="1"/>
          </p:cNvSpPr>
          <p:nvPr/>
        </p:nvSpPr>
        <p:spPr bwMode="auto">
          <a:xfrm>
            <a:off x="67691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a+b+c</a:t>
            </a:r>
          </a:p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+d</a:t>
            </a:r>
          </a:p>
        </p:txBody>
      </p:sp>
      <p:sp>
        <p:nvSpPr>
          <p:cNvPr id="19469" name="Text Box 26"/>
          <p:cNvSpPr txBox="1">
            <a:spLocks noChangeArrowheads="1"/>
          </p:cNvSpPr>
          <p:nvPr/>
        </p:nvSpPr>
        <p:spPr bwMode="auto">
          <a:xfrm>
            <a:off x="6189663" y="2611438"/>
            <a:ext cx="1166812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before</a:t>
            </a:r>
          </a:p>
        </p:txBody>
      </p:sp>
      <p:sp>
        <p:nvSpPr>
          <p:cNvPr id="19470" name="Text Box 27"/>
          <p:cNvSpPr txBox="1">
            <a:spLocks noChangeArrowheads="1"/>
          </p:cNvSpPr>
          <p:nvPr/>
        </p:nvSpPr>
        <p:spPr bwMode="auto">
          <a:xfrm>
            <a:off x="2076928" y="4529138"/>
            <a:ext cx="853119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after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91051EB-CD42-4E87-9EEC-E65CF7F659D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Prefix</a:t>
            </a:r>
          </a:p>
        </p:txBody>
      </p:sp>
      <p:sp>
        <p:nvSpPr>
          <p:cNvPr id="20485" name="Rectangle 7"/>
          <p:cNvSpPr>
            <a:spLocks noChangeArrowheads="1"/>
          </p:cNvSpPr>
          <p:nvPr/>
        </p:nvSpPr>
        <p:spPr bwMode="auto">
          <a:xfrm>
            <a:off x="34925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20486" name="Rectangle 8"/>
          <p:cNvSpPr>
            <a:spLocks noChangeArrowheads="1"/>
          </p:cNvSpPr>
          <p:nvPr/>
        </p:nvSpPr>
        <p:spPr bwMode="auto">
          <a:xfrm>
            <a:off x="45847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0487" name="Rectangle 9"/>
          <p:cNvSpPr>
            <a:spLocks noChangeArrowheads="1"/>
          </p:cNvSpPr>
          <p:nvPr/>
        </p:nvSpPr>
        <p:spPr bwMode="auto">
          <a:xfrm>
            <a:off x="56769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0488" name="Rectangle 10"/>
          <p:cNvSpPr>
            <a:spLocks noChangeArrowheads="1"/>
          </p:cNvSpPr>
          <p:nvPr/>
        </p:nvSpPr>
        <p:spPr bwMode="auto">
          <a:xfrm>
            <a:off x="67691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0489" name="Text Box 11"/>
          <p:cNvSpPr txBox="1">
            <a:spLocks noChangeArrowheads="1"/>
          </p:cNvSpPr>
          <p:nvPr/>
        </p:nvSpPr>
        <p:spPr bwMode="auto">
          <a:xfrm>
            <a:off x="613396" y="4211638"/>
            <a:ext cx="1808507" cy="9048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One thread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Per entry</a:t>
            </a:r>
          </a:p>
        </p:txBody>
      </p:sp>
      <p:grpSp>
        <p:nvGrpSpPr>
          <p:cNvPr id="20490" name="Group 12"/>
          <p:cNvGrpSpPr>
            <a:grpSpLocks/>
          </p:cNvGrpSpPr>
          <p:nvPr/>
        </p:nvGrpSpPr>
        <p:grpSpPr bwMode="auto">
          <a:xfrm flipH="1">
            <a:off x="6750050" y="3055938"/>
            <a:ext cx="1206500" cy="1189037"/>
            <a:chOff x="1584" y="816"/>
            <a:chExt cx="912" cy="816"/>
          </a:xfrm>
        </p:grpSpPr>
        <p:sp>
          <p:nvSpPr>
            <p:cNvPr id="20521" name="Freeform 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22" name="Freeform 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23" name="Freeform 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24" name="Freeform 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25" name="Freeform 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26" name="Freeform 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27" name="Freeform 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28" name="Freeform 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29" name="Freeform 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20491" name="Group 22"/>
          <p:cNvGrpSpPr>
            <a:grpSpLocks/>
          </p:cNvGrpSpPr>
          <p:nvPr/>
        </p:nvGrpSpPr>
        <p:grpSpPr bwMode="auto">
          <a:xfrm flipH="1">
            <a:off x="5662613" y="3055938"/>
            <a:ext cx="1206500" cy="1189037"/>
            <a:chOff x="1584" y="816"/>
            <a:chExt cx="912" cy="816"/>
          </a:xfrm>
        </p:grpSpPr>
        <p:sp>
          <p:nvSpPr>
            <p:cNvPr id="20512" name="Freeform 2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13" name="Freeform 2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14" name="Freeform 2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15" name="Freeform 2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16" name="Freeform 2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17" name="Freeform 2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18" name="Freeform 2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19" name="Freeform 3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20" name="Freeform 3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20492" name="Group 32"/>
          <p:cNvGrpSpPr>
            <a:grpSpLocks/>
          </p:cNvGrpSpPr>
          <p:nvPr/>
        </p:nvGrpSpPr>
        <p:grpSpPr bwMode="auto">
          <a:xfrm flipH="1">
            <a:off x="4575175" y="3055938"/>
            <a:ext cx="1206500" cy="1189037"/>
            <a:chOff x="1584" y="816"/>
            <a:chExt cx="912" cy="816"/>
          </a:xfrm>
        </p:grpSpPr>
        <p:sp>
          <p:nvSpPr>
            <p:cNvPr id="20503" name="Freeform 3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04" name="Freeform 3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05" name="Freeform 3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06" name="Freeform 3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07" name="Freeform 3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08" name="Freeform 3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09" name="Freeform 3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10" name="Freeform 4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11" name="Freeform 4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20493" name="Group 42"/>
          <p:cNvGrpSpPr>
            <a:grpSpLocks/>
          </p:cNvGrpSpPr>
          <p:nvPr/>
        </p:nvGrpSpPr>
        <p:grpSpPr bwMode="auto">
          <a:xfrm flipH="1">
            <a:off x="3486150" y="3055938"/>
            <a:ext cx="1206500" cy="1189037"/>
            <a:chOff x="1584" y="816"/>
            <a:chExt cx="912" cy="816"/>
          </a:xfrm>
        </p:grpSpPr>
        <p:sp>
          <p:nvSpPr>
            <p:cNvPr id="20494" name="Freeform 4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495" name="Freeform 4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496" name="Freeform 4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497" name="Freeform 4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498" name="Freeform 4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499" name="Freeform 4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00" name="Freeform 4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01" name="Freeform 5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20502" name="Freeform 5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D8F99F2-5D2A-40DB-8E1C-1FF3DDA31BD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Prefix: Phase 1</a:t>
            </a:r>
          </a:p>
        </p:txBody>
      </p:sp>
      <p:sp>
        <p:nvSpPr>
          <p:cNvPr id="21509" name="Rectangle 3"/>
          <p:cNvSpPr>
            <a:spLocks noChangeArrowheads="1"/>
          </p:cNvSpPr>
          <p:nvPr/>
        </p:nvSpPr>
        <p:spPr bwMode="auto">
          <a:xfrm>
            <a:off x="1612900" y="2381250"/>
            <a:ext cx="1092200" cy="1079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21510" name="Rectangle 4"/>
          <p:cNvSpPr>
            <a:spLocks noChangeArrowheads="1"/>
          </p:cNvSpPr>
          <p:nvPr/>
        </p:nvSpPr>
        <p:spPr bwMode="auto">
          <a:xfrm>
            <a:off x="2705100" y="2381250"/>
            <a:ext cx="1092200" cy="1079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1511" name="Rectangle 5"/>
          <p:cNvSpPr>
            <a:spLocks noChangeArrowheads="1"/>
          </p:cNvSpPr>
          <p:nvPr/>
        </p:nvSpPr>
        <p:spPr bwMode="auto">
          <a:xfrm>
            <a:off x="3797300" y="2381250"/>
            <a:ext cx="1092200" cy="1079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1512" name="Rectangle 6"/>
          <p:cNvSpPr>
            <a:spLocks noChangeArrowheads="1"/>
          </p:cNvSpPr>
          <p:nvPr/>
        </p:nvSpPr>
        <p:spPr bwMode="auto">
          <a:xfrm>
            <a:off x="4889500" y="2381250"/>
            <a:ext cx="1092200" cy="1079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1513" name="Rectangle 7"/>
          <p:cNvSpPr>
            <a:spLocks noChangeArrowheads="1"/>
          </p:cNvSpPr>
          <p:nvPr/>
        </p:nvSpPr>
        <p:spPr bwMode="auto">
          <a:xfrm>
            <a:off x="34925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21514" name="Rectangle 8"/>
          <p:cNvSpPr>
            <a:spLocks noChangeArrowheads="1"/>
          </p:cNvSpPr>
          <p:nvPr/>
        </p:nvSpPr>
        <p:spPr bwMode="auto">
          <a:xfrm>
            <a:off x="45847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a+</a:t>
            </a:r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1515" name="Rectangle 9"/>
          <p:cNvSpPr>
            <a:spLocks noChangeArrowheads="1"/>
          </p:cNvSpPr>
          <p:nvPr/>
        </p:nvSpPr>
        <p:spPr bwMode="auto">
          <a:xfrm>
            <a:off x="56769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+c</a:t>
            </a:r>
          </a:p>
        </p:txBody>
      </p:sp>
      <p:sp>
        <p:nvSpPr>
          <p:cNvPr id="21516" name="Rectangle 10"/>
          <p:cNvSpPr>
            <a:spLocks noChangeArrowheads="1"/>
          </p:cNvSpPr>
          <p:nvPr/>
        </p:nvSpPr>
        <p:spPr bwMode="auto">
          <a:xfrm>
            <a:off x="67691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+d</a:t>
            </a:r>
          </a:p>
        </p:txBody>
      </p:sp>
      <p:sp>
        <p:nvSpPr>
          <p:cNvPr id="21517" name="AutoShape 11"/>
          <p:cNvSpPr>
            <a:spLocks noChangeArrowheads="1"/>
          </p:cNvSpPr>
          <p:nvPr/>
        </p:nvSpPr>
        <p:spPr bwMode="auto">
          <a:xfrm>
            <a:off x="4140200" y="3670300"/>
            <a:ext cx="1028700" cy="620713"/>
          </a:xfrm>
          <a:prstGeom prst="curvedDownArrow">
            <a:avLst>
              <a:gd name="adj1" fmla="val 33146"/>
              <a:gd name="adj2" fmla="val 66292"/>
              <a:gd name="adj3" fmla="val 33333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1518" name="AutoShape 12"/>
          <p:cNvSpPr>
            <a:spLocks noChangeArrowheads="1"/>
          </p:cNvSpPr>
          <p:nvPr/>
        </p:nvSpPr>
        <p:spPr bwMode="auto">
          <a:xfrm>
            <a:off x="5207000" y="3695700"/>
            <a:ext cx="1028700" cy="620713"/>
          </a:xfrm>
          <a:prstGeom prst="curvedDownArrow">
            <a:avLst>
              <a:gd name="adj1" fmla="val 33146"/>
              <a:gd name="adj2" fmla="val 66292"/>
              <a:gd name="adj3" fmla="val 33333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1519" name="AutoShape 13"/>
          <p:cNvSpPr>
            <a:spLocks noChangeArrowheads="1"/>
          </p:cNvSpPr>
          <p:nvPr/>
        </p:nvSpPr>
        <p:spPr bwMode="auto">
          <a:xfrm>
            <a:off x="6273800" y="3721100"/>
            <a:ext cx="1028700" cy="620713"/>
          </a:xfrm>
          <a:prstGeom prst="curvedDownArrow">
            <a:avLst>
              <a:gd name="adj1" fmla="val 33146"/>
              <a:gd name="adj2" fmla="val 66292"/>
              <a:gd name="adj3" fmla="val 33333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D6FFCE0-5850-4334-85B3-87D9BFDD22E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Prefix: Phase 2</a:t>
            </a:r>
          </a:p>
        </p:txBody>
      </p:sp>
      <p:sp>
        <p:nvSpPr>
          <p:cNvPr id="22533" name="Rectangle 3"/>
          <p:cNvSpPr>
            <a:spLocks noChangeArrowheads="1"/>
          </p:cNvSpPr>
          <p:nvPr/>
        </p:nvSpPr>
        <p:spPr bwMode="auto">
          <a:xfrm>
            <a:off x="1612900" y="2381250"/>
            <a:ext cx="1092200" cy="1079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22534" name="Rectangle 4"/>
          <p:cNvSpPr>
            <a:spLocks noChangeArrowheads="1"/>
          </p:cNvSpPr>
          <p:nvPr/>
        </p:nvSpPr>
        <p:spPr bwMode="auto">
          <a:xfrm>
            <a:off x="2705100" y="2381250"/>
            <a:ext cx="1092200" cy="1079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3797300" y="2381250"/>
            <a:ext cx="1092200" cy="1079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2536" name="Rectangle 6"/>
          <p:cNvSpPr>
            <a:spLocks noChangeArrowheads="1"/>
          </p:cNvSpPr>
          <p:nvPr/>
        </p:nvSpPr>
        <p:spPr bwMode="auto">
          <a:xfrm>
            <a:off x="4889500" y="2381250"/>
            <a:ext cx="1092200" cy="1079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2537" name="Rectangle 7"/>
          <p:cNvSpPr>
            <a:spLocks noChangeArrowheads="1"/>
          </p:cNvSpPr>
          <p:nvPr/>
        </p:nvSpPr>
        <p:spPr bwMode="auto">
          <a:xfrm>
            <a:off x="34925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22538" name="Rectangle 8"/>
          <p:cNvSpPr>
            <a:spLocks noChangeArrowheads="1"/>
          </p:cNvSpPr>
          <p:nvPr/>
        </p:nvSpPr>
        <p:spPr bwMode="auto">
          <a:xfrm>
            <a:off x="45847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a+b</a:t>
            </a:r>
          </a:p>
        </p:txBody>
      </p:sp>
      <p:sp>
        <p:nvSpPr>
          <p:cNvPr id="22539" name="Rectangle 9"/>
          <p:cNvSpPr>
            <a:spLocks noChangeArrowheads="1"/>
          </p:cNvSpPr>
          <p:nvPr/>
        </p:nvSpPr>
        <p:spPr bwMode="auto">
          <a:xfrm>
            <a:off x="56769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+b+c</a:t>
            </a:r>
          </a:p>
        </p:txBody>
      </p:sp>
      <p:sp>
        <p:nvSpPr>
          <p:cNvPr id="22540" name="Rectangle 10"/>
          <p:cNvSpPr>
            <a:spLocks noChangeArrowheads="1"/>
          </p:cNvSpPr>
          <p:nvPr/>
        </p:nvSpPr>
        <p:spPr bwMode="auto">
          <a:xfrm>
            <a:off x="6769100" y="4235450"/>
            <a:ext cx="1092200" cy="10795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a+b</a:t>
            </a:r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+c</a:t>
            </a:r>
          </a:p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+d</a:t>
            </a:r>
          </a:p>
        </p:txBody>
      </p:sp>
      <p:sp>
        <p:nvSpPr>
          <p:cNvPr id="22541" name="AutoShape 11"/>
          <p:cNvSpPr>
            <a:spLocks noChangeArrowheads="1"/>
          </p:cNvSpPr>
          <p:nvPr/>
        </p:nvSpPr>
        <p:spPr bwMode="auto">
          <a:xfrm>
            <a:off x="4140200" y="3670300"/>
            <a:ext cx="2082800" cy="620713"/>
          </a:xfrm>
          <a:prstGeom prst="curvedDownArrow">
            <a:avLst>
              <a:gd name="adj1" fmla="val 67110"/>
              <a:gd name="adj2" fmla="val 134220"/>
              <a:gd name="adj3" fmla="val 33333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2542" name="AutoShape 13"/>
          <p:cNvSpPr>
            <a:spLocks noChangeArrowheads="1"/>
          </p:cNvSpPr>
          <p:nvPr/>
        </p:nvSpPr>
        <p:spPr bwMode="auto">
          <a:xfrm>
            <a:off x="4889500" y="3683000"/>
            <a:ext cx="2438400" cy="620713"/>
          </a:xfrm>
          <a:prstGeom prst="curvedDownArrow">
            <a:avLst>
              <a:gd name="adj1" fmla="val 78568"/>
              <a:gd name="adj2" fmla="val 157135"/>
              <a:gd name="adj3" fmla="val 33333"/>
            </a:avLst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C364A17-4E9A-4E21-A406-F8030BCA185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Prefix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</a:t>
            </a:r>
            <a:r>
              <a:rPr lang="en-US"/>
              <a:t> threads can compute</a:t>
            </a:r>
          </a:p>
          <a:p>
            <a:pPr lvl="1"/>
            <a:r>
              <a:rPr lang="en-US"/>
              <a:t>Parallel prefix</a:t>
            </a:r>
          </a:p>
          <a:p>
            <a:pPr lvl="1"/>
            <a:r>
              <a:rPr lang="en-US"/>
              <a:t>Of </a:t>
            </a:r>
            <a:r>
              <a:rPr lang="en-US">
                <a:solidFill>
                  <a:schemeClr val="tx1"/>
                </a:solidFill>
              </a:rPr>
              <a:t>N</a:t>
            </a:r>
            <a:r>
              <a:rPr lang="en-US"/>
              <a:t> entries</a:t>
            </a:r>
          </a:p>
          <a:p>
            <a:pPr lvl="1"/>
            <a:r>
              <a:rPr lang="en-US"/>
              <a:t>In </a:t>
            </a:r>
            <a:r>
              <a:rPr lang="en-US">
                <a:solidFill>
                  <a:schemeClr val="tx1"/>
                </a:solidFill>
              </a:rPr>
              <a:t>log</a:t>
            </a:r>
            <a:r>
              <a:rPr lang="en-US" baseline="-25000">
                <a:solidFill>
                  <a:schemeClr val="tx1"/>
                </a:solidFill>
              </a:rPr>
              <a:t>2</a:t>
            </a:r>
            <a:r>
              <a:rPr lang="en-US">
                <a:solidFill>
                  <a:schemeClr val="tx1"/>
                </a:solidFill>
              </a:rPr>
              <a:t> N</a:t>
            </a:r>
            <a:r>
              <a:rPr lang="en-US"/>
              <a:t> rounds</a:t>
            </a:r>
          </a:p>
          <a:p>
            <a:r>
              <a:rPr lang="en-US"/>
              <a:t>What if system is asynchronous?</a:t>
            </a:r>
          </a:p>
          <a:p>
            <a:pPr lvl="1"/>
            <a:r>
              <a:rPr lang="en-US"/>
              <a:t>Why we need barriers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2D55425-9847-4901-98C3-302CC2344D2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Prefix</a:t>
            </a:r>
          </a:p>
        </p:txBody>
      </p:sp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497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class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Prefix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extends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Thread {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[] a;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Barrier b;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void 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Prefix(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[] a,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             Barrier b, 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) {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a = a;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b = b;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=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497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class Prefix extends Thread {</a:t>
            </a:r>
          </a:p>
          <a:p>
            <a:pPr algn="l">
              <a:defRPr/>
            </a:pP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[] a;</a:t>
            </a:r>
          </a:p>
          <a:p>
            <a:pPr algn="l">
              <a:defRPr/>
            </a:pP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Barrier b;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void Prefix(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[] a,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              Barrier b,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) {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 a = a;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 b = b;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}</a:t>
            </a:r>
          </a:p>
        </p:txBody>
      </p:sp>
      <p:sp>
        <p:nvSpPr>
          <p:cNvPr id="25603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5843515-0326-40D1-8CAE-D7BFAD450FB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Prefix</a:t>
            </a:r>
          </a:p>
        </p:txBody>
      </p:sp>
      <p:sp>
        <p:nvSpPr>
          <p:cNvPr id="25606" name="AutoShape 4"/>
          <p:cNvSpPr>
            <a:spLocks noChangeArrowheads="1"/>
          </p:cNvSpPr>
          <p:nvPr/>
        </p:nvSpPr>
        <p:spPr bwMode="auto">
          <a:xfrm>
            <a:off x="1028700" y="2176463"/>
            <a:ext cx="1803400" cy="444500"/>
          </a:xfrm>
          <a:prstGeom prst="wedgeRoundRectCallout">
            <a:avLst>
              <a:gd name="adj1" fmla="val 90861"/>
              <a:gd name="adj2" fmla="val 4575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25607" name="Text Box 5"/>
          <p:cNvSpPr txBox="1">
            <a:spLocks noChangeArrowheads="1"/>
          </p:cNvSpPr>
          <p:nvPr/>
        </p:nvSpPr>
        <p:spPr bwMode="auto">
          <a:xfrm>
            <a:off x="2990850" y="4521200"/>
            <a:ext cx="309403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Array of input values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497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class Prefix extends Thread {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[] a;</a:t>
            </a:r>
          </a:p>
          <a:p>
            <a:pPr algn="l">
              <a:defRPr/>
            </a:pP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;</a:t>
            </a:r>
          </a:p>
          <a:p>
            <a:pPr algn="l"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Barrier b;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void Prefix(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[] a,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              Barrier b,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) {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 a = a;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 b = b;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}</a:t>
            </a:r>
          </a:p>
        </p:txBody>
      </p:sp>
      <p:sp>
        <p:nvSpPr>
          <p:cNvPr id="26627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336EA0B-C67E-4D2D-8156-21A5DBDE9F4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Prefix</a:t>
            </a:r>
          </a:p>
        </p:txBody>
      </p:sp>
      <p:sp>
        <p:nvSpPr>
          <p:cNvPr id="26630" name="AutoShape 4"/>
          <p:cNvSpPr>
            <a:spLocks noChangeArrowheads="1"/>
          </p:cNvSpPr>
          <p:nvPr/>
        </p:nvSpPr>
        <p:spPr bwMode="auto">
          <a:xfrm>
            <a:off x="965200" y="2646363"/>
            <a:ext cx="1511300" cy="444500"/>
          </a:xfrm>
          <a:prstGeom prst="wedgeRoundRectCallout">
            <a:avLst>
              <a:gd name="adj1" fmla="val 98648"/>
              <a:gd name="adj2" fmla="val 391787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26631" name="Text Box 5"/>
          <p:cNvSpPr txBox="1">
            <a:spLocks noChangeArrowheads="1"/>
          </p:cNvSpPr>
          <p:nvPr/>
        </p:nvSpPr>
        <p:spPr bwMode="auto">
          <a:xfrm>
            <a:off x="2768600" y="4800600"/>
            <a:ext cx="309403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Thread index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497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class Prefix extends Thread {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[] a;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;</a:t>
            </a:r>
          </a:p>
          <a:p>
            <a:pPr algn="l"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Barrier b;</a:t>
            </a:r>
          </a:p>
          <a:p>
            <a:pPr algn="l"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void Prefix(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[] a,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              Barrier b,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) {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 a = a;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 b = b;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}</a:t>
            </a:r>
          </a:p>
        </p:txBody>
      </p:sp>
      <p:sp>
        <p:nvSpPr>
          <p:cNvPr id="27651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FB60E37-E5A6-448E-A3BF-64E255F355E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Prefix</a:t>
            </a:r>
          </a:p>
        </p:txBody>
      </p:sp>
      <p:sp>
        <p:nvSpPr>
          <p:cNvPr id="27654" name="AutoShape 4"/>
          <p:cNvSpPr>
            <a:spLocks noChangeArrowheads="1"/>
          </p:cNvSpPr>
          <p:nvPr/>
        </p:nvSpPr>
        <p:spPr bwMode="auto">
          <a:xfrm>
            <a:off x="1054100" y="3078163"/>
            <a:ext cx="2171700" cy="444500"/>
          </a:xfrm>
          <a:prstGeom prst="wedgeRoundRectCallout">
            <a:avLst>
              <a:gd name="adj1" fmla="val 65829"/>
              <a:gd name="adj2" fmla="val 303213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27655" name="Text Box 5"/>
          <p:cNvSpPr txBox="1">
            <a:spLocks noChangeArrowheads="1"/>
          </p:cNvSpPr>
          <p:nvPr/>
        </p:nvSpPr>
        <p:spPr bwMode="auto">
          <a:xfrm>
            <a:off x="2743200" y="4648200"/>
            <a:ext cx="309403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Shared barrier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497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class Prefix extends Thread {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[] a;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Barrier b;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void Prefix(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[] a,</a:t>
            </a:r>
          </a:p>
          <a:p>
            <a:pPr algn="l"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              Barrier b,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) {</a:t>
            </a:r>
          </a:p>
          <a:p>
            <a:pPr algn="l"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a = a;</a:t>
            </a:r>
          </a:p>
          <a:p>
            <a:pPr algn="l"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b = b;</a:t>
            </a:r>
          </a:p>
          <a:p>
            <a:pPr algn="l"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=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;</a:t>
            </a:r>
          </a:p>
          <a:p>
            <a:pPr algn="l"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8675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2389667-4E4B-4115-9825-0E633E832005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Prefix</a:t>
            </a:r>
          </a:p>
        </p:txBody>
      </p:sp>
      <p:sp>
        <p:nvSpPr>
          <p:cNvPr id="28678" name="AutoShape 4"/>
          <p:cNvSpPr>
            <a:spLocks noChangeArrowheads="1"/>
          </p:cNvSpPr>
          <p:nvPr/>
        </p:nvSpPr>
        <p:spPr bwMode="auto">
          <a:xfrm>
            <a:off x="1181100" y="4373563"/>
            <a:ext cx="1549400" cy="1435100"/>
          </a:xfrm>
          <a:prstGeom prst="wedgeRoundRectCallout">
            <a:avLst>
              <a:gd name="adj1" fmla="val 199634"/>
              <a:gd name="adj2" fmla="val -10431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28679" name="Text Box 5"/>
          <p:cNvSpPr txBox="1">
            <a:spLocks noChangeArrowheads="1"/>
          </p:cNvSpPr>
          <p:nvPr/>
        </p:nvSpPr>
        <p:spPr bwMode="auto">
          <a:xfrm>
            <a:off x="4375150" y="3022600"/>
            <a:ext cx="372903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Initialize fields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7F36D8C-460B-4BD6-B55A-2308165C79D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Do the Barriers Go?</a:t>
            </a:r>
          </a:p>
        </p:txBody>
      </p:sp>
      <p:sp>
        <p:nvSpPr>
          <p:cNvPr id="29701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335476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public void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run()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d = 1, sum = 0;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 while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(d &lt; N)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&gt;= d)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 sum = a[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-d]; 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  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&gt;= d)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a[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] += sum;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d = d * 2;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}}}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7D510A0-77F2-4E61-8D83-315FAA5CCB07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Do the Barriers Go?</a:t>
            </a:r>
          </a:p>
        </p:txBody>
      </p:sp>
      <p:sp>
        <p:nvSpPr>
          <p:cNvPr id="31749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3724096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public void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run()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d = 1, sum = 0;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 while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(d &lt; N)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if (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&gt;= d)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 sum = a[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-d];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accent1"/>
                </a:solidFill>
                <a:latin typeface="Courier New" pitchFamily="49" charset="0"/>
              </a:rPr>
              <a:t>b.await</a:t>
            </a:r>
            <a:r>
              <a:rPr lang="en-US" sz="2000" dirty="0">
                <a:solidFill>
                  <a:schemeClr val="accent1"/>
                </a:solidFill>
                <a:latin typeface="Courier New" pitchFamily="49" charset="0"/>
              </a:rPr>
              <a:t>();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  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&gt;= d)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a[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] += sum;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d = d * 2;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}}}</a:t>
            </a:r>
          </a:p>
        </p:txBody>
      </p:sp>
      <p:sp>
        <p:nvSpPr>
          <p:cNvPr id="31750" name="AutoShape 4"/>
          <p:cNvSpPr>
            <a:spLocks noChangeArrowheads="1"/>
          </p:cNvSpPr>
          <p:nvPr/>
        </p:nvSpPr>
        <p:spPr bwMode="auto">
          <a:xfrm>
            <a:off x="1181100" y="3535363"/>
            <a:ext cx="1689100" cy="444500"/>
          </a:xfrm>
          <a:prstGeom prst="wedgeRoundRectCallout">
            <a:avLst>
              <a:gd name="adj1" fmla="val 98403"/>
              <a:gd name="adj2" fmla="val 20356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31751" name="Text Box 5"/>
          <p:cNvSpPr txBox="1">
            <a:spLocks noChangeArrowheads="1"/>
          </p:cNvSpPr>
          <p:nvPr/>
        </p:nvSpPr>
        <p:spPr bwMode="auto">
          <a:xfrm>
            <a:off x="3232150" y="3429000"/>
            <a:ext cx="487203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Make sure everyone reads before anyone writes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3379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5CC27C4-160E-463E-9B22-0FB9C681142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Do the Barriers Go?</a:t>
            </a:r>
          </a:p>
        </p:txBody>
      </p:sp>
      <p:sp>
        <p:nvSpPr>
          <p:cNvPr id="33797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093428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public void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run()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d = 1, sum = 0;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 while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(d &lt; N)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if (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&gt;= d)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 sum = a[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-d];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accent1"/>
                </a:solidFill>
                <a:latin typeface="Courier New" pitchFamily="49" charset="0"/>
              </a:rPr>
              <a:t>b.await</a:t>
            </a:r>
            <a:r>
              <a:rPr lang="en-US" sz="2000" dirty="0">
                <a:solidFill>
                  <a:schemeClr val="accent1"/>
                </a:solidFill>
                <a:latin typeface="Courier New" pitchFamily="49" charset="0"/>
              </a:rPr>
              <a:t>();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  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&gt;= d)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a[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] += sum;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accent1"/>
                </a:solidFill>
                <a:latin typeface="Courier New" pitchFamily="49" charset="0"/>
              </a:rPr>
              <a:t>b.await</a:t>
            </a:r>
            <a:r>
              <a:rPr lang="en-US" sz="2000" dirty="0">
                <a:solidFill>
                  <a:schemeClr val="accent1"/>
                </a:solidFill>
                <a:latin typeface="Courier New" pitchFamily="49" charset="0"/>
              </a:rPr>
              <a:t>();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d = d * 2;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}}}</a:t>
            </a:r>
          </a:p>
        </p:txBody>
      </p:sp>
      <p:sp>
        <p:nvSpPr>
          <p:cNvPr id="33798" name="AutoShape 4"/>
          <p:cNvSpPr>
            <a:spLocks noChangeArrowheads="1"/>
          </p:cNvSpPr>
          <p:nvPr/>
        </p:nvSpPr>
        <p:spPr bwMode="auto">
          <a:xfrm>
            <a:off x="1181100" y="4665663"/>
            <a:ext cx="1689100" cy="444500"/>
          </a:xfrm>
          <a:prstGeom prst="wedgeRoundRectCallout">
            <a:avLst>
              <a:gd name="adj1" fmla="val 98403"/>
              <a:gd name="adj2" fmla="val 20356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33799" name="Text Box 5"/>
          <p:cNvSpPr txBox="1">
            <a:spLocks noChangeArrowheads="1"/>
          </p:cNvSpPr>
          <p:nvPr/>
        </p:nvSpPr>
        <p:spPr bwMode="auto">
          <a:xfrm>
            <a:off x="3232150" y="4559300"/>
            <a:ext cx="487203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Make sure everyone writes before anyone reads</a:t>
            </a:r>
          </a:p>
        </p:txBody>
      </p:sp>
      <p:sp>
        <p:nvSpPr>
          <p:cNvPr id="33800" name="AutoShape 6"/>
          <p:cNvSpPr>
            <a:spLocks noChangeArrowheads="1"/>
          </p:cNvSpPr>
          <p:nvPr/>
        </p:nvSpPr>
        <p:spPr bwMode="auto">
          <a:xfrm>
            <a:off x="1181100" y="3535363"/>
            <a:ext cx="1689100" cy="444500"/>
          </a:xfrm>
          <a:prstGeom prst="wedgeRoundRectCallout">
            <a:avLst>
              <a:gd name="adj1" fmla="val 98403"/>
              <a:gd name="adj2" fmla="val 20356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33801" name="Text Box 7"/>
          <p:cNvSpPr txBox="1">
            <a:spLocks noChangeArrowheads="1"/>
          </p:cNvSpPr>
          <p:nvPr/>
        </p:nvSpPr>
        <p:spPr bwMode="auto">
          <a:xfrm>
            <a:off x="3232150" y="3429000"/>
            <a:ext cx="487203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Make sure everyone reads before anyone writes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348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591438D-1ED9-4D1D-9A6C-C3E4F18172C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 Implementations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Cache coherence</a:t>
            </a:r>
          </a:p>
          <a:p>
            <a:pPr lvl="1"/>
            <a:r>
              <a:rPr lang="en-US"/>
              <a:t>Spin on locally-cached locations?</a:t>
            </a:r>
          </a:p>
          <a:p>
            <a:pPr lvl="1"/>
            <a:r>
              <a:rPr lang="en-US"/>
              <a:t>Spin on statically-defined locations?</a:t>
            </a:r>
          </a:p>
          <a:p>
            <a:r>
              <a:rPr lang="en-US"/>
              <a:t>Latency</a:t>
            </a:r>
          </a:p>
          <a:p>
            <a:pPr lvl="1"/>
            <a:r>
              <a:rPr lang="en-US"/>
              <a:t>How many steps?</a:t>
            </a:r>
          </a:p>
          <a:p>
            <a:r>
              <a:rPr lang="en-US"/>
              <a:t>Symmetry</a:t>
            </a:r>
          </a:p>
          <a:p>
            <a:pPr lvl="1"/>
            <a:r>
              <a:rPr lang="en-US"/>
              <a:t>Do all threads do the same thing?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3584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DAF273E-7E68-494B-896E-D7EAAFEFFCF5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Barriers</a:t>
            </a:r>
          </a:p>
        </p:txBody>
      </p:sp>
      <p:sp>
        <p:nvSpPr>
          <p:cNvPr id="35845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8942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public class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Barrier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AtomicInteger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count;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public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Barrier(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n){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count =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AtomicInteger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(n);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size = n;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}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public void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await()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count.getAndDecrement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count.set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(size);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}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else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count.get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() != 0);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}}}}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8942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public class Barrier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count;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size;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Barrier(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n){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count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(n);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size = n;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}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void await()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if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count.getAndDecrement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()==1)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count.set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(size);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} else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 while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count.get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() != 0);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}}}}</a:t>
            </a:r>
          </a:p>
        </p:txBody>
      </p:sp>
      <p:sp>
        <p:nvSpPr>
          <p:cNvPr id="36867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B6F7E02-FBC9-4F20-A5E4-5DA0E4B6A3C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Barriers</a:t>
            </a:r>
          </a:p>
        </p:txBody>
      </p:sp>
      <p:sp>
        <p:nvSpPr>
          <p:cNvPr id="36870" name="AutoShape 4"/>
          <p:cNvSpPr>
            <a:spLocks noChangeArrowheads="1"/>
          </p:cNvSpPr>
          <p:nvPr/>
        </p:nvSpPr>
        <p:spPr bwMode="auto">
          <a:xfrm>
            <a:off x="1028700" y="2176463"/>
            <a:ext cx="3873500" cy="444500"/>
          </a:xfrm>
          <a:prstGeom prst="wedgeRoundRectCallout">
            <a:avLst>
              <a:gd name="adj1" fmla="val 57338"/>
              <a:gd name="adj2" fmla="val 251787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36871" name="Text Box 6"/>
          <p:cNvSpPr txBox="1">
            <a:spLocks noChangeArrowheads="1"/>
          </p:cNvSpPr>
          <p:nvPr/>
        </p:nvSpPr>
        <p:spPr bwMode="auto">
          <a:xfrm>
            <a:off x="4972050" y="3517900"/>
            <a:ext cx="313213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Number of threads not yet arrived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89364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public class Barrier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 count;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 public Barrier(</a:t>
            </a:r>
            <a:r>
              <a:rPr lang="en-US" dirty="0" err="1">
                <a:solidFill>
                  <a:srgbClr val="BFBFBF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 n){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  count = </a:t>
            </a:r>
            <a:r>
              <a:rPr lang="en-US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(n);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  size = n;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 }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 public void await()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  if (</a:t>
            </a:r>
            <a:r>
              <a:rPr lang="en-US" dirty="0" err="1">
                <a:solidFill>
                  <a:srgbClr val="BFBFBF"/>
                </a:solidFill>
                <a:latin typeface="Courier New" pitchFamily="49" charset="0"/>
              </a:rPr>
              <a:t>count.getAndDecrement</a:t>
            </a: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   </a:t>
            </a:r>
            <a:r>
              <a:rPr lang="en-US" dirty="0" err="1">
                <a:solidFill>
                  <a:srgbClr val="BFBFBF"/>
                </a:solidFill>
                <a:latin typeface="Courier New" pitchFamily="49" charset="0"/>
              </a:rPr>
              <a:t>count.set</a:t>
            </a: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(size);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  } else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   while (</a:t>
            </a:r>
            <a:r>
              <a:rPr lang="en-US" dirty="0" err="1">
                <a:solidFill>
                  <a:srgbClr val="BFBFBF"/>
                </a:solidFill>
                <a:latin typeface="Courier New" pitchFamily="49" charset="0"/>
              </a:rPr>
              <a:t>count.get</a:t>
            </a: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() != 0);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BFBFBF"/>
                </a:solidFill>
                <a:latin typeface="Courier New" pitchFamily="49" charset="0"/>
              </a:rPr>
              <a:t> }}}}</a:t>
            </a:r>
          </a:p>
        </p:txBody>
      </p:sp>
      <p:sp>
        <p:nvSpPr>
          <p:cNvPr id="37891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3C0DDD2-74BC-43D0-8893-63CE999E9035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Barriers</a:t>
            </a:r>
          </a:p>
        </p:txBody>
      </p:sp>
      <p:sp>
        <p:nvSpPr>
          <p:cNvPr id="37894" name="AutoShape 4"/>
          <p:cNvSpPr>
            <a:spLocks noChangeArrowheads="1"/>
          </p:cNvSpPr>
          <p:nvPr/>
        </p:nvSpPr>
        <p:spPr bwMode="auto">
          <a:xfrm>
            <a:off x="990600" y="2519363"/>
            <a:ext cx="2006600" cy="444500"/>
          </a:xfrm>
          <a:prstGeom prst="wedgeRoundRectCallout">
            <a:avLst>
              <a:gd name="adj1" fmla="val 177454"/>
              <a:gd name="adj2" fmla="val 80356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37895" name="Text Box 5"/>
          <p:cNvSpPr txBox="1">
            <a:spLocks noChangeArrowheads="1"/>
          </p:cNvSpPr>
          <p:nvPr/>
        </p:nvSpPr>
        <p:spPr bwMode="auto">
          <a:xfrm>
            <a:off x="5086350" y="2514600"/>
            <a:ext cx="313213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en-US" dirty="0">
                <a:latin typeface="Arial" pitchFamily="34" charset="0"/>
                <a:cs typeface="Arial" pitchFamily="34" charset="0"/>
              </a:rPr>
              <a:t>Number of threads participating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8942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public class Barrier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count;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size;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Barrier(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n){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count =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(n);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size = n;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}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void await()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if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count.getAndDecrement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()==1)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count.set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(size);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} else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 while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count.get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() != 0);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}}}}</a:t>
            </a:r>
          </a:p>
        </p:txBody>
      </p:sp>
      <p:sp>
        <p:nvSpPr>
          <p:cNvPr id="38915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B5BA61B-8FB2-457E-9BC3-35446652331E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Barriers</a:t>
            </a:r>
          </a:p>
        </p:txBody>
      </p:sp>
      <p:sp>
        <p:nvSpPr>
          <p:cNvPr id="38918" name="AutoShape 4"/>
          <p:cNvSpPr>
            <a:spLocks noChangeArrowheads="1"/>
          </p:cNvSpPr>
          <p:nvPr/>
        </p:nvSpPr>
        <p:spPr bwMode="auto">
          <a:xfrm>
            <a:off x="1066800" y="3192463"/>
            <a:ext cx="5080000" cy="820737"/>
          </a:xfrm>
          <a:prstGeom prst="wedgeRoundRectCallout">
            <a:avLst>
              <a:gd name="adj1" fmla="val 48343"/>
              <a:gd name="adj2" fmla="val -149301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38919" name="Text Box 5"/>
          <p:cNvSpPr txBox="1">
            <a:spLocks noChangeArrowheads="1"/>
          </p:cNvSpPr>
          <p:nvPr/>
        </p:nvSpPr>
        <p:spPr bwMode="auto">
          <a:xfrm>
            <a:off x="4959350" y="1790700"/>
            <a:ext cx="313213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en-US" dirty="0">
                <a:latin typeface="Arial" pitchFamily="34" charset="0"/>
              </a:rPr>
              <a:t>Initialization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8942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public class Barrier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count;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size;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Barrier(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n){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count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(n);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size = n;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}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+mn-ea"/>
              </a:rPr>
              <a:t>public void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await()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if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count.getAndDecrement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()==1)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count.set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(size);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} else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 while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count.get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() != 0);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}}}}</a:t>
            </a:r>
          </a:p>
        </p:txBody>
      </p:sp>
      <p:sp>
        <p:nvSpPr>
          <p:cNvPr id="39939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E58717-F2AD-40C5-BD96-30E2FBA76D51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Barriers</a:t>
            </a:r>
          </a:p>
        </p:txBody>
      </p:sp>
      <p:sp>
        <p:nvSpPr>
          <p:cNvPr id="39942" name="AutoShape 4"/>
          <p:cNvSpPr>
            <a:spLocks noChangeArrowheads="1"/>
          </p:cNvSpPr>
          <p:nvPr/>
        </p:nvSpPr>
        <p:spPr bwMode="auto">
          <a:xfrm>
            <a:off x="1003300" y="4348163"/>
            <a:ext cx="4152900" cy="444500"/>
          </a:xfrm>
          <a:prstGeom prst="wedgeRoundRectCallout">
            <a:avLst>
              <a:gd name="adj1" fmla="val 84102"/>
              <a:gd name="adj2" fmla="val -4025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39943" name="Text Box 5"/>
          <p:cNvSpPr txBox="1">
            <a:spLocks noChangeArrowheads="1"/>
          </p:cNvSpPr>
          <p:nvPr/>
        </p:nvSpPr>
        <p:spPr bwMode="auto">
          <a:xfrm>
            <a:off x="5264150" y="2133600"/>
            <a:ext cx="313213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en-US" dirty="0">
                <a:latin typeface="Arial" pitchFamily="34" charset="0"/>
                <a:cs typeface="Arial" pitchFamily="34" charset="0"/>
              </a:rPr>
              <a:t>Principal method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8942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public class Barrier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count;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size;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Barrier(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n){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count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(n);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size = n;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}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void await()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+mn-ea"/>
              </a:rPr>
              <a:t>if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ea typeface="+mn-ea"/>
              </a:rPr>
              <a:t>count.getAndDecrement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()==1)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ea typeface="+mn-ea"/>
              </a:rPr>
              <a:t>count.set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(size);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} else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 while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count.get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() != 0);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}}}}</a:t>
            </a:r>
          </a:p>
        </p:txBody>
      </p:sp>
      <p:sp>
        <p:nvSpPr>
          <p:cNvPr id="40963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3795E34-4D29-4BA3-9DA5-500FA2E44DB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Barriers</a:t>
            </a:r>
          </a:p>
        </p:txBody>
      </p:sp>
      <p:sp>
        <p:nvSpPr>
          <p:cNvPr id="40966" name="AutoShape 4"/>
          <p:cNvSpPr>
            <a:spLocks noChangeArrowheads="1"/>
          </p:cNvSpPr>
          <p:nvPr/>
        </p:nvSpPr>
        <p:spPr bwMode="auto">
          <a:xfrm>
            <a:off x="1028700" y="4741863"/>
            <a:ext cx="6451600" cy="749300"/>
          </a:xfrm>
          <a:prstGeom prst="wedgeRoundRectCallout">
            <a:avLst>
              <a:gd name="adj1" fmla="val 31569"/>
              <a:gd name="adj2" fmla="val -259111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40967" name="Text Box 5"/>
          <p:cNvSpPr txBox="1">
            <a:spLocks noChangeArrowheads="1"/>
          </p:cNvSpPr>
          <p:nvPr/>
        </p:nvSpPr>
        <p:spPr bwMode="auto">
          <a:xfrm>
            <a:off x="4527550" y="2070100"/>
            <a:ext cx="365283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en-US" dirty="0">
                <a:latin typeface="Arial" pitchFamily="34" charset="0"/>
                <a:cs typeface="Arial" pitchFamily="34" charset="0"/>
              </a:rPr>
              <a:t>If I’m last, reset fields for next time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8942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public class Barrier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count;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size;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Barrier(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n){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count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(n);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size = n;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}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void await()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if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count.getAndDecrement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()==1)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count.set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(size);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}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+mn-ea"/>
              </a:rPr>
              <a:t>else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+mn-ea"/>
              </a:rPr>
              <a:t>while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ea typeface="+mn-ea"/>
              </a:rPr>
              <a:t>count.get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() != 0);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}}}}</a:t>
            </a:r>
          </a:p>
        </p:txBody>
      </p:sp>
      <p:sp>
        <p:nvSpPr>
          <p:cNvPr id="41987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C7C5A20-A40B-418B-9C2B-828E9B3B4C87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Barriers</a:t>
            </a:r>
          </a:p>
        </p:txBody>
      </p:sp>
      <p:sp>
        <p:nvSpPr>
          <p:cNvPr id="41990" name="AutoShape 4"/>
          <p:cNvSpPr>
            <a:spLocks noChangeArrowheads="1"/>
          </p:cNvSpPr>
          <p:nvPr/>
        </p:nvSpPr>
        <p:spPr bwMode="auto">
          <a:xfrm>
            <a:off x="1028700" y="5440363"/>
            <a:ext cx="5334000" cy="749300"/>
          </a:xfrm>
          <a:prstGeom prst="wedgeRoundRectCallout">
            <a:avLst>
              <a:gd name="adj1" fmla="val 32162"/>
              <a:gd name="adj2" fmla="val -369282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41991" name="Text Box 5"/>
          <p:cNvSpPr txBox="1">
            <a:spLocks noChangeArrowheads="1"/>
          </p:cNvSpPr>
          <p:nvPr/>
        </p:nvSpPr>
        <p:spPr bwMode="auto">
          <a:xfrm>
            <a:off x="5175250" y="2451100"/>
            <a:ext cx="3041650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/>
            <a:r>
              <a:rPr lang="en-US" dirty="0">
                <a:latin typeface="Arial" pitchFamily="34" charset="0"/>
                <a:cs typeface="Arial" pitchFamily="34" charset="0"/>
              </a:rPr>
              <a:t>Otherwise, wait for everyone else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8942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public class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Barrier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AtomicInteger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count;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public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Barrier(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n){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count =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AtomicInteger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(n);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size = n;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}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public void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await()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count.getAndDecrement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count.set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(size);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}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else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count.get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() != 0);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}}}}</a:t>
            </a:r>
          </a:p>
        </p:txBody>
      </p:sp>
      <p:sp>
        <p:nvSpPr>
          <p:cNvPr id="43011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661E774-88AC-4EEF-9C21-F4FC6C65522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Barriers</a:t>
            </a:r>
          </a:p>
        </p:txBody>
      </p:sp>
      <p:sp>
        <p:nvSpPr>
          <p:cNvPr id="43014" name="AutoShape 6"/>
          <p:cNvSpPr>
            <a:spLocks noChangeArrowheads="1"/>
          </p:cNvSpPr>
          <p:nvPr/>
        </p:nvSpPr>
        <p:spPr bwMode="auto">
          <a:xfrm>
            <a:off x="1661118" y="3764161"/>
            <a:ext cx="5069290" cy="510778"/>
          </a:xfrm>
          <a:prstGeom prst="roundRect">
            <a:avLst>
              <a:gd name="adj" fmla="val 16667"/>
            </a:avLst>
          </a:prstGeom>
          <a:solidFill>
            <a:srgbClr val="CCFFCC">
              <a:alpha val="79999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What’s wrong with this protocol?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95C33C6-71FC-46B5-84EA-67E8D11586DE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Reuse</a:t>
            </a:r>
          </a:p>
        </p:txBody>
      </p:sp>
      <p:sp>
        <p:nvSpPr>
          <p:cNvPr id="44037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26543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Barrier b = </a:t>
            </a:r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new</a:t>
            </a:r>
            <a:r>
              <a:rPr lang="en-US" sz="28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Barrier(n);</a:t>
            </a:r>
          </a:p>
          <a:p>
            <a:pPr algn="l"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n-US" sz="28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( mumble() ) {</a:t>
            </a:r>
          </a:p>
          <a:p>
            <a:pPr algn="l">
              <a:spcBef>
                <a:spcPct val="0"/>
              </a:spcBef>
            </a:pPr>
            <a:r>
              <a:rPr lang="en-US" sz="28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work();</a:t>
            </a:r>
          </a:p>
          <a:p>
            <a:pPr algn="l">
              <a:spcBef>
                <a:spcPct val="0"/>
              </a:spcBef>
            </a:pPr>
            <a:r>
              <a:rPr lang="en-US" sz="28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b.await()</a:t>
            </a:r>
          </a:p>
          <a:p>
            <a:pPr algn="l">
              <a:spcBef>
                <a:spcPct val="0"/>
              </a:spcBef>
            </a:pPr>
            <a:r>
              <a:rPr lang="en-US" sz="28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}</a:t>
            </a:r>
          </a:p>
          <a:p>
            <a:pPr algn="l">
              <a:spcBef>
                <a:spcPct val="0"/>
              </a:spcBef>
            </a:pPr>
            <a:endParaRPr lang="en-US" sz="280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03524" name="AutoShape 4"/>
          <p:cNvSpPr>
            <a:spLocks noChangeArrowheads="1"/>
          </p:cNvSpPr>
          <p:nvPr/>
        </p:nvSpPr>
        <p:spPr bwMode="auto">
          <a:xfrm>
            <a:off x="914400" y="2628900"/>
            <a:ext cx="1663700" cy="457200"/>
          </a:xfrm>
          <a:prstGeom prst="wedgeRoundRectCallout">
            <a:avLst>
              <a:gd name="adj1" fmla="val 115171"/>
              <a:gd name="adj2" fmla="val -19444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1003525" name="Text Box 5"/>
          <p:cNvSpPr txBox="1">
            <a:spLocks noChangeArrowheads="1"/>
          </p:cNvSpPr>
          <p:nvPr/>
        </p:nvSpPr>
        <p:spPr bwMode="auto">
          <a:xfrm>
            <a:off x="4041999" y="2573338"/>
            <a:ext cx="1398140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dirty="0">
                <a:latin typeface="Arial" pitchFamily="34" charset="0"/>
                <a:cs typeface="Arial" pitchFamily="34" charset="0"/>
              </a:rPr>
              <a:t>do work</a:t>
            </a:r>
          </a:p>
        </p:txBody>
      </p:sp>
      <p:sp>
        <p:nvSpPr>
          <p:cNvPr id="1003526" name="AutoShape 6"/>
          <p:cNvSpPr>
            <a:spLocks noChangeArrowheads="1"/>
          </p:cNvSpPr>
          <p:nvPr/>
        </p:nvSpPr>
        <p:spPr bwMode="auto">
          <a:xfrm>
            <a:off x="901700" y="3098800"/>
            <a:ext cx="2032000" cy="469900"/>
          </a:xfrm>
          <a:prstGeom prst="wedgeRoundRectCallout">
            <a:avLst>
              <a:gd name="adj1" fmla="val 83361"/>
              <a:gd name="adj2" fmla="val -22972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1003527" name="Text Box 7"/>
          <p:cNvSpPr txBox="1">
            <a:spLocks noChangeArrowheads="1"/>
          </p:cNvSpPr>
          <p:nvPr/>
        </p:nvSpPr>
        <p:spPr bwMode="auto">
          <a:xfrm>
            <a:off x="3789949" y="3017838"/>
            <a:ext cx="1980029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dirty="0">
                <a:latin typeface="Arial" pitchFamily="34" charset="0"/>
                <a:cs typeface="Arial" pitchFamily="34" charset="0"/>
              </a:rPr>
              <a:t>synchronize</a:t>
            </a:r>
          </a:p>
        </p:txBody>
      </p:sp>
      <p:sp>
        <p:nvSpPr>
          <p:cNvPr id="1003528" name="AutoShape 8"/>
          <p:cNvSpPr>
            <a:spLocks noChangeArrowheads="1"/>
          </p:cNvSpPr>
          <p:nvPr/>
        </p:nvSpPr>
        <p:spPr bwMode="auto">
          <a:xfrm>
            <a:off x="774700" y="2489200"/>
            <a:ext cx="4927600" cy="1155700"/>
          </a:xfrm>
          <a:prstGeom prst="wedgeRoundRectCallout">
            <a:avLst>
              <a:gd name="adj1" fmla="val 71356"/>
              <a:gd name="adj2" fmla="val 1648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1003529" name="Text Box 9"/>
          <p:cNvSpPr txBox="1">
            <a:spLocks noChangeArrowheads="1"/>
          </p:cNvSpPr>
          <p:nvPr/>
        </p:nvSpPr>
        <p:spPr bwMode="auto">
          <a:xfrm>
            <a:off x="6864350" y="2789238"/>
            <a:ext cx="1146175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dirty="0">
                <a:latin typeface="Arial" pitchFamily="34" charset="0"/>
              </a:rPr>
              <a:t>repeat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0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0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0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0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0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24" grpId="0" animBg="1"/>
      <p:bldP spid="1003525" grpId="0"/>
      <p:bldP spid="1003526" grpId="0" animBg="1"/>
      <p:bldP spid="1003527" grpId="0"/>
      <p:bldP spid="1003528" grpId="0" animBg="1"/>
      <p:bldP spid="10035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8942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public class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Barrier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AtomicInteger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count;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public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Barrier(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n){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count =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AtomicInteger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(n);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size = n;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}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public void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await()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count.getAndDecrement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count.set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(size);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}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else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{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</a:rPr>
              <a:t>count.get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() != 0);</a:t>
            </a:r>
          </a:p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</a:rPr>
              <a:t> }}}}</a:t>
            </a:r>
          </a:p>
        </p:txBody>
      </p:sp>
      <p:sp>
        <p:nvSpPr>
          <p:cNvPr id="45059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DEE08BC-F068-4C37-939C-BC1FAFC2EC8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8942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public class Barrier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count;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size;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Barrier(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n){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count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(n);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size = n;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}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void await()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if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count.getAndDecrement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()==1)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count.set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(size);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} else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+mn-ea"/>
              </a:rPr>
              <a:t>while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ea typeface="+mn-ea"/>
              </a:rPr>
              <a:t>count.get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() != 0);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}}}}</a:t>
            </a:r>
          </a:p>
        </p:txBody>
      </p:sp>
      <p:sp>
        <p:nvSpPr>
          <p:cNvPr id="46083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519CE51-1E6B-4C93-857D-19FC5DE7FC04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Barriers</a:t>
            </a:r>
          </a:p>
        </p:txBody>
      </p:sp>
      <p:grpSp>
        <p:nvGrpSpPr>
          <p:cNvPr id="46086" name="Group 4"/>
          <p:cNvGrpSpPr>
            <a:grpSpLocks/>
          </p:cNvGrpSpPr>
          <p:nvPr/>
        </p:nvGrpSpPr>
        <p:grpSpPr bwMode="auto">
          <a:xfrm flipH="1">
            <a:off x="6877050" y="3446463"/>
            <a:ext cx="1206500" cy="1189037"/>
            <a:chOff x="1584" y="816"/>
            <a:chExt cx="912" cy="816"/>
          </a:xfrm>
        </p:grpSpPr>
        <p:sp>
          <p:nvSpPr>
            <p:cNvPr id="46089" name="Freeform 5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6090" name="Freeform 6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6091" name="Freeform 7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6092" name="Freeform 8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6093" name="Freeform 9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6094" name="Freeform 10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6095" name="Freeform 11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6096" name="Freeform 12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6097" name="Freeform 13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46087" name="AutoShape 14"/>
          <p:cNvSpPr>
            <a:spLocks noChangeArrowheads="1"/>
          </p:cNvSpPr>
          <p:nvPr/>
        </p:nvSpPr>
        <p:spPr bwMode="auto">
          <a:xfrm>
            <a:off x="1371600" y="5765800"/>
            <a:ext cx="4762500" cy="431800"/>
          </a:xfrm>
          <a:prstGeom prst="wedgeRoundRectCallout">
            <a:avLst>
              <a:gd name="adj1" fmla="val 65755"/>
              <a:gd name="adj2" fmla="val -360593"/>
              <a:gd name="adj3" fmla="val 16667"/>
            </a:avLst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46088" name="AutoShape 15"/>
          <p:cNvSpPr>
            <a:spLocks noChangeArrowheads="1"/>
          </p:cNvSpPr>
          <p:nvPr/>
        </p:nvSpPr>
        <p:spPr bwMode="auto">
          <a:xfrm>
            <a:off x="4140200" y="2019300"/>
            <a:ext cx="3530600" cy="1079500"/>
          </a:xfrm>
          <a:prstGeom prst="cloudCallout">
            <a:avLst>
              <a:gd name="adj1" fmla="val 23606"/>
              <a:gd name="adj2" fmla="val 86911"/>
            </a:avLst>
          </a:prstGeom>
          <a:solidFill>
            <a:srgbClr val="FFFFCC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r>
              <a:rPr lang="en-US" sz="200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Waiting for Phase 1 to finish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990600" y="1905000"/>
            <a:ext cx="7315200" cy="48942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public class Barrier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count;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size;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Barrier(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n){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count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(n);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size = n;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}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void await()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+mn-ea"/>
              </a:rPr>
              <a:t>if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ea typeface="+mn-ea"/>
              </a:rPr>
              <a:t>count.getAndDecrement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()==1)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count.set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(size);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} else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+mn-ea"/>
              </a:rPr>
              <a:t>while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ea typeface="+mn-ea"/>
              </a:rPr>
              <a:t>count.get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() != 0);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}}}}</a:t>
            </a:r>
          </a:p>
        </p:txBody>
      </p:sp>
      <p:sp>
        <p:nvSpPr>
          <p:cNvPr id="47107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85F26BD-3EC8-4720-AD36-40E960CE38E4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Barriers</a:t>
            </a:r>
          </a:p>
        </p:txBody>
      </p:sp>
      <p:grpSp>
        <p:nvGrpSpPr>
          <p:cNvPr id="47110" name="Group 4"/>
          <p:cNvGrpSpPr>
            <a:grpSpLocks/>
          </p:cNvGrpSpPr>
          <p:nvPr/>
        </p:nvGrpSpPr>
        <p:grpSpPr bwMode="auto">
          <a:xfrm flipH="1">
            <a:off x="6877050" y="3446463"/>
            <a:ext cx="1206500" cy="1189037"/>
            <a:chOff x="1584" y="816"/>
            <a:chExt cx="912" cy="816"/>
          </a:xfrm>
        </p:grpSpPr>
        <p:sp>
          <p:nvSpPr>
            <p:cNvPr id="47125" name="Freeform 5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26" name="Freeform 6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27" name="Freeform 7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28" name="Freeform 8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29" name="Freeform 9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30" name="Freeform 10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31" name="Freeform 11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32" name="Freeform 12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33" name="Freeform 13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47112" name="Group 40"/>
          <p:cNvGrpSpPr>
            <a:grpSpLocks/>
          </p:cNvGrpSpPr>
          <p:nvPr/>
        </p:nvGrpSpPr>
        <p:grpSpPr bwMode="auto">
          <a:xfrm>
            <a:off x="1708150" y="2798763"/>
            <a:ext cx="1206500" cy="1189037"/>
            <a:chOff x="1584" y="816"/>
            <a:chExt cx="912" cy="816"/>
          </a:xfrm>
        </p:grpSpPr>
        <p:sp>
          <p:nvSpPr>
            <p:cNvPr id="47116" name="Freeform 41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17" name="Freeform 42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18" name="Freeform 43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19" name="Freeform 44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20" name="Freeform 45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21" name="Freeform 46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22" name="Freeform 47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23" name="Freeform 48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7124" name="Freeform 49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47113" name="AutoShape 50"/>
          <p:cNvSpPr>
            <a:spLocks noChangeArrowheads="1"/>
          </p:cNvSpPr>
          <p:nvPr/>
        </p:nvSpPr>
        <p:spPr bwMode="auto">
          <a:xfrm>
            <a:off x="1409700" y="4889500"/>
            <a:ext cx="5803900" cy="393700"/>
          </a:xfrm>
          <a:prstGeom prst="wedgeRoundRectCallout">
            <a:avLst>
              <a:gd name="adj1" fmla="val -24644"/>
              <a:gd name="adj2" fmla="val -213306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47115" name="AutoShape 14"/>
          <p:cNvSpPr>
            <a:spLocks noChangeArrowheads="1"/>
          </p:cNvSpPr>
          <p:nvPr/>
        </p:nvSpPr>
        <p:spPr bwMode="auto">
          <a:xfrm>
            <a:off x="1435100" y="5930900"/>
            <a:ext cx="4762500" cy="431800"/>
          </a:xfrm>
          <a:prstGeom prst="wedgeRoundRectCallout">
            <a:avLst>
              <a:gd name="adj1" fmla="val 65755"/>
              <a:gd name="adj2" fmla="val -360593"/>
              <a:gd name="adj3" fmla="val 16667"/>
            </a:avLst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31" name="AutoShape 15"/>
          <p:cNvSpPr>
            <a:spLocks noChangeArrowheads="1"/>
          </p:cNvSpPr>
          <p:nvPr/>
        </p:nvSpPr>
        <p:spPr bwMode="auto">
          <a:xfrm>
            <a:off x="4140200" y="2019300"/>
            <a:ext cx="3530600" cy="1079500"/>
          </a:xfrm>
          <a:prstGeom prst="cloudCallout">
            <a:avLst>
              <a:gd name="adj1" fmla="val 23606"/>
              <a:gd name="adj2" fmla="val 86911"/>
            </a:avLst>
          </a:prstGeom>
          <a:solidFill>
            <a:srgbClr val="FFFFCC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r>
              <a:rPr lang="en-US" sz="200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Waiting for Phase 1 to finish</a:t>
            </a:r>
          </a:p>
        </p:txBody>
      </p:sp>
      <p:sp>
        <p:nvSpPr>
          <p:cNvPr id="47114" name="AutoShape 51"/>
          <p:cNvSpPr>
            <a:spLocks noChangeArrowheads="1"/>
          </p:cNvSpPr>
          <p:nvPr/>
        </p:nvSpPr>
        <p:spPr bwMode="auto">
          <a:xfrm>
            <a:off x="2552700" y="1701800"/>
            <a:ext cx="2527300" cy="1016000"/>
          </a:xfrm>
          <a:prstGeom prst="cloudCallout">
            <a:avLst>
              <a:gd name="adj1" fmla="val -51694"/>
              <a:gd name="adj2" fmla="val 59218"/>
            </a:avLst>
          </a:prstGeom>
          <a:solidFill>
            <a:srgbClr val="FFFFCC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Phase 1 is so over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990600" y="1905000"/>
            <a:ext cx="7315200" cy="48942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public class Barrier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count;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size;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Barrier(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n){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count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(n);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size = n;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}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void await()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if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count.getAndDecrement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()==1)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ea typeface="+mn-ea"/>
              </a:rPr>
              <a:t>count.set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(size);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} else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+mn-ea"/>
              </a:rPr>
              <a:t>while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ea typeface="+mn-ea"/>
              </a:rPr>
              <a:t>count.get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() != 0);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}}}}</a:t>
            </a:r>
          </a:p>
        </p:txBody>
      </p:sp>
      <p:sp>
        <p:nvSpPr>
          <p:cNvPr id="48131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C72E349-66CA-4F08-8560-6C0129944648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Barriers</a:t>
            </a:r>
          </a:p>
        </p:txBody>
      </p:sp>
      <p:grpSp>
        <p:nvGrpSpPr>
          <p:cNvPr id="48134" name="Group 4"/>
          <p:cNvGrpSpPr>
            <a:grpSpLocks/>
          </p:cNvGrpSpPr>
          <p:nvPr/>
        </p:nvGrpSpPr>
        <p:grpSpPr bwMode="auto">
          <a:xfrm flipH="1">
            <a:off x="6851650" y="3497263"/>
            <a:ext cx="1206500" cy="1189037"/>
            <a:chOff x="1584" y="816"/>
            <a:chExt cx="912" cy="816"/>
          </a:xfrm>
        </p:grpSpPr>
        <p:sp>
          <p:nvSpPr>
            <p:cNvPr id="48149" name="Freeform 5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50" name="Freeform 6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51" name="Freeform 7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52" name="Freeform 8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53" name="Freeform 9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54" name="Freeform 10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55" name="Freeform 11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56" name="Freeform 12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57" name="Freeform 13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48135" name="AutoShape 14"/>
          <p:cNvSpPr>
            <a:spLocks noChangeArrowheads="1"/>
          </p:cNvSpPr>
          <p:nvPr/>
        </p:nvSpPr>
        <p:spPr bwMode="auto">
          <a:xfrm>
            <a:off x="1435100" y="5981700"/>
            <a:ext cx="5003800" cy="368300"/>
          </a:xfrm>
          <a:prstGeom prst="wedgeRoundRectCallout">
            <a:avLst>
              <a:gd name="adj1" fmla="val 64181"/>
              <a:gd name="adj2" fmla="val -434481"/>
              <a:gd name="adj3" fmla="val 16667"/>
            </a:avLst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48136" name="AutoShape 15"/>
          <p:cNvSpPr>
            <a:spLocks noChangeArrowheads="1"/>
          </p:cNvSpPr>
          <p:nvPr/>
        </p:nvSpPr>
        <p:spPr bwMode="auto">
          <a:xfrm>
            <a:off x="4114800" y="2070100"/>
            <a:ext cx="3530600" cy="825500"/>
          </a:xfrm>
          <a:prstGeom prst="cloudCallout">
            <a:avLst>
              <a:gd name="adj1" fmla="val 17491"/>
              <a:gd name="adj2" fmla="val 70440"/>
            </a:avLst>
          </a:prstGeom>
          <a:solidFill>
            <a:srgbClr val="FFFFCC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r>
              <a:rPr lang="en-US" sz="20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ZZZZZ….</a:t>
            </a:r>
          </a:p>
        </p:txBody>
      </p:sp>
      <p:grpSp>
        <p:nvGrpSpPr>
          <p:cNvPr id="48137" name="Group 16"/>
          <p:cNvGrpSpPr>
            <a:grpSpLocks/>
          </p:cNvGrpSpPr>
          <p:nvPr/>
        </p:nvGrpSpPr>
        <p:grpSpPr bwMode="auto">
          <a:xfrm>
            <a:off x="1682750" y="2849563"/>
            <a:ext cx="1206500" cy="1189037"/>
            <a:chOff x="1584" y="816"/>
            <a:chExt cx="912" cy="816"/>
          </a:xfrm>
        </p:grpSpPr>
        <p:sp>
          <p:nvSpPr>
            <p:cNvPr id="48140" name="Freeform 17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41" name="Freeform 18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42" name="Freeform 19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43" name="Freeform 20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44" name="Freeform 21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45" name="Freeform 22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46" name="Freeform 23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47" name="Freeform 24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8148" name="Freeform 25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48138" name="AutoShape 26"/>
          <p:cNvSpPr>
            <a:spLocks noChangeArrowheads="1"/>
          </p:cNvSpPr>
          <p:nvPr/>
        </p:nvSpPr>
        <p:spPr bwMode="auto">
          <a:xfrm>
            <a:off x="1231900" y="5194300"/>
            <a:ext cx="3517900" cy="393700"/>
          </a:xfrm>
          <a:prstGeom prst="wedgeRoundRectCallout">
            <a:avLst>
              <a:gd name="adj1" fmla="val -12648"/>
              <a:gd name="adj2" fmla="val -381046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48139" name="AutoShape 27"/>
          <p:cNvSpPr>
            <a:spLocks noChangeArrowheads="1"/>
          </p:cNvSpPr>
          <p:nvPr/>
        </p:nvSpPr>
        <p:spPr bwMode="auto">
          <a:xfrm>
            <a:off x="2527300" y="1752600"/>
            <a:ext cx="2527300" cy="1016000"/>
          </a:xfrm>
          <a:prstGeom prst="cloudCallout">
            <a:avLst>
              <a:gd name="adj1" fmla="val -51694"/>
              <a:gd name="adj2" fmla="val 59218"/>
            </a:avLst>
          </a:prstGeom>
          <a:solidFill>
            <a:srgbClr val="FFFFCC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r>
              <a:rPr lang="en-US" sz="2000">
                <a:latin typeface="Arial" pitchFamily="34" charset="0"/>
                <a:cs typeface="Arial" pitchFamily="34" charset="0"/>
              </a:rPr>
              <a:t>Prepare for phase 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990600" y="1905000"/>
            <a:ext cx="7315200" cy="48942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public class Barrier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count;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size;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Barrier(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n){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count =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AtomicInteger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(n);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size = n;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}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public void await()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if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count.getAndDecrement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()==1)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ea typeface="+mn-ea"/>
              </a:rPr>
              <a:t>count.set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(size);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  } else {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+mn-ea"/>
              </a:rPr>
              <a:t>while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itchFamily="49" charset="0"/>
                <a:ea typeface="+mn-ea"/>
              </a:rPr>
              <a:t>count.get</a:t>
            </a: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() != 0);</a:t>
            </a:r>
          </a:p>
          <a:p>
            <a:pPr algn="l">
              <a:spcBef>
                <a:spcPct val="0"/>
              </a:spcBef>
              <a:defRPr/>
            </a:pPr>
            <a:r>
              <a:rPr lang="en-US" dirty="0">
                <a:solidFill>
                  <a:srgbClr val="0000FF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ea typeface="+mn-ea"/>
              </a:rPr>
              <a:t>}}}}</a:t>
            </a:r>
          </a:p>
        </p:txBody>
      </p:sp>
      <p:sp>
        <p:nvSpPr>
          <p:cNvPr id="49155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Uh-Oh</a:t>
            </a:r>
          </a:p>
        </p:txBody>
      </p:sp>
      <p:grpSp>
        <p:nvGrpSpPr>
          <p:cNvPr id="49157" name="Group 4"/>
          <p:cNvGrpSpPr>
            <a:grpSpLocks/>
          </p:cNvGrpSpPr>
          <p:nvPr/>
        </p:nvGrpSpPr>
        <p:grpSpPr bwMode="auto">
          <a:xfrm flipH="1">
            <a:off x="6851650" y="4017963"/>
            <a:ext cx="1206500" cy="1189037"/>
            <a:chOff x="1584" y="816"/>
            <a:chExt cx="912" cy="816"/>
          </a:xfrm>
        </p:grpSpPr>
        <p:sp>
          <p:nvSpPr>
            <p:cNvPr id="49172" name="Freeform 5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73" name="Freeform 6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74" name="Freeform 7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75" name="Freeform 8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76" name="Freeform 9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77" name="Freeform 10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78" name="Freeform 11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79" name="Freeform 12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80" name="Freeform 13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49158" name="Group 15"/>
          <p:cNvGrpSpPr>
            <a:grpSpLocks/>
          </p:cNvGrpSpPr>
          <p:nvPr/>
        </p:nvGrpSpPr>
        <p:grpSpPr bwMode="auto">
          <a:xfrm>
            <a:off x="1708150" y="2900363"/>
            <a:ext cx="1206500" cy="1189037"/>
            <a:chOff x="1584" y="816"/>
            <a:chExt cx="912" cy="816"/>
          </a:xfrm>
        </p:grpSpPr>
        <p:sp>
          <p:nvSpPr>
            <p:cNvPr id="49163" name="Freeform 16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64" name="Freeform 17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65" name="Freeform 18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66" name="Freeform 19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67" name="Freeform 20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68" name="Freeform 21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69" name="Freeform 22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70" name="Freeform 23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49171" name="Freeform 24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49159" name="AutoShape 25"/>
          <p:cNvSpPr>
            <a:spLocks noChangeArrowheads="1"/>
          </p:cNvSpPr>
          <p:nvPr/>
        </p:nvSpPr>
        <p:spPr bwMode="auto">
          <a:xfrm>
            <a:off x="1536700" y="6032500"/>
            <a:ext cx="4978400" cy="393700"/>
          </a:xfrm>
          <a:prstGeom prst="wedgeRoundRectCallout">
            <a:avLst>
              <a:gd name="adj1" fmla="val -25287"/>
              <a:gd name="adj2" fmla="val -57137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49160" name="AutoShape 26"/>
          <p:cNvSpPr>
            <a:spLocks noChangeArrowheads="1"/>
          </p:cNvSpPr>
          <p:nvPr/>
        </p:nvSpPr>
        <p:spPr bwMode="auto">
          <a:xfrm>
            <a:off x="3797300" y="3187700"/>
            <a:ext cx="3530600" cy="1079500"/>
          </a:xfrm>
          <a:prstGeom prst="cloudCallout">
            <a:avLst>
              <a:gd name="adj1" fmla="val 30079"/>
              <a:gd name="adj2" fmla="val 71616"/>
            </a:avLst>
          </a:prstGeom>
          <a:solidFill>
            <a:srgbClr val="FFFFCC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r>
              <a:rPr lang="en-US" sz="200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Waiting for Phase 1 to finish</a:t>
            </a:r>
          </a:p>
        </p:txBody>
      </p:sp>
      <p:sp>
        <p:nvSpPr>
          <p:cNvPr id="49161" name="AutoShape 27"/>
          <p:cNvSpPr>
            <a:spLocks noChangeArrowheads="1"/>
          </p:cNvSpPr>
          <p:nvPr/>
        </p:nvSpPr>
        <p:spPr bwMode="auto">
          <a:xfrm>
            <a:off x="3937000" y="2057400"/>
            <a:ext cx="3530600" cy="1079500"/>
          </a:xfrm>
          <a:prstGeom prst="cloudCallout">
            <a:avLst>
              <a:gd name="adj1" fmla="val -73157"/>
              <a:gd name="adj2" fmla="val 59852"/>
            </a:avLst>
          </a:prstGeom>
          <a:solidFill>
            <a:srgbClr val="FFFFCC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r>
              <a:rPr lang="en-US" sz="2000">
                <a:latin typeface="Arial" pitchFamily="34" charset="0"/>
                <a:cs typeface="Arial" pitchFamily="34" charset="0"/>
              </a:rPr>
              <a:t>Waiting for Phase 2 to finish</a:t>
            </a:r>
          </a:p>
        </p:txBody>
      </p:sp>
      <p:sp>
        <p:nvSpPr>
          <p:cNvPr id="49162" name="AutoShape 14"/>
          <p:cNvSpPr>
            <a:spLocks noChangeArrowheads="1"/>
          </p:cNvSpPr>
          <p:nvPr/>
        </p:nvSpPr>
        <p:spPr bwMode="auto">
          <a:xfrm>
            <a:off x="1435100" y="5981700"/>
            <a:ext cx="5003800" cy="368300"/>
          </a:xfrm>
          <a:prstGeom prst="wedgeRoundRectCallout">
            <a:avLst>
              <a:gd name="adj1" fmla="val 64181"/>
              <a:gd name="adj2" fmla="val -434481"/>
              <a:gd name="adj3" fmla="val 16667"/>
            </a:avLst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501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F61F756-2C24-4BCD-9FA9-F77EC686507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Problem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thread “wraps around” to start phase </a:t>
            </a:r>
            <a:r>
              <a:rPr lang="en-US">
                <a:solidFill>
                  <a:schemeClr val="tx1"/>
                </a:solidFill>
              </a:rPr>
              <a:t>2</a:t>
            </a:r>
          </a:p>
          <a:p>
            <a:r>
              <a:rPr lang="en-US"/>
              <a:t>While another thread is still waiting for phase </a:t>
            </a:r>
            <a:r>
              <a:rPr lang="en-US">
                <a:solidFill>
                  <a:schemeClr val="tx1"/>
                </a:solidFill>
              </a:rPr>
              <a:t>1</a:t>
            </a:r>
          </a:p>
          <a:p>
            <a:r>
              <a:rPr lang="en-US"/>
              <a:t>One solution:</a:t>
            </a:r>
          </a:p>
          <a:p>
            <a:pPr lvl="1"/>
            <a:r>
              <a:rPr lang="en-US"/>
              <a:t>Always use two barriers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5120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8CBFF60-F24F-4219-82CF-75C4F1C15665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Sense-Reversing Barriers</a:t>
            </a:r>
          </a:p>
        </p:txBody>
      </p:sp>
      <p:sp>
        <p:nvSpPr>
          <p:cNvPr id="51205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public class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Barrier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count;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urier New" pitchFamily="49" charset="0"/>
              </a:rPr>
              <a:t>volatile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sense =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false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threadSense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=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new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ThreadLocal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&gt;…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rgbClr val="0000F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 public void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await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threadSense.get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();  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(size); sense 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0000F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}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else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(sense !=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 {}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threadSense.set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(!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)}}}</a:t>
            </a:r>
          </a:p>
        </p:txBody>
      </p:sp>
    </p:spTree>
    <p:extLst>
      <p:ext uri="{BB962C8B-B14F-4D97-AF65-F5344CB8AC3E}">
        <p14:creationId xmlns:p14="http://schemas.microsoft.com/office/powerpoint/2010/main" val="36834715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class Barrier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count;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volatile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sense =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false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= new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ThreadLocal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&lt;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&gt;…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public void await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threadSense.get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();  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if (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(size); sense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} else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while (sense !=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 {}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(!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)}}}</a:t>
            </a:r>
          </a:p>
        </p:txBody>
      </p:sp>
      <p:sp>
        <p:nvSpPr>
          <p:cNvPr id="52227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F62210E-C587-48ED-AA4E-917638E61CAE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Sense-Reversing Barriers</a:t>
            </a:r>
          </a:p>
        </p:txBody>
      </p:sp>
      <p:sp>
        <p:nvSpPr>
          <p:cNvPr id="52230" name="AutoShape 4"/>
          <p:cNvSpPr>
            <a:spLocks noChangeArrowheads="1"/>
          </p:cNvSpPr>
          <p:nvPr/>
        </p:nvSpPr>
        <p:spPr bwMode="auto">
          <a:xfrm>
            <a:off x="1016000" y="2679700"/>
            <a:ext cx="4826000" cy="419100"/>
          </a:xfrm>
          <a:prstGeom prst="wedgeRoundRectCallout">
            <a:avLst>
              <a:gd name="adj1" fmla="val 72963"/>
              <a:gd name="adj2" fmla="val -61111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52231" name="Text Box 5"/>
          <p:cNvSpPr txBox="1">
            <a:spLocks noChangeArrowheads="1"/>
          </p:cNvSpPr>
          <p:nvPr/>
        </p:nvSpPr>
        <p:spPr bwMode="auto">
          <a:xfrm>
            <a:off x="5462058" y="1430338"/>
            <a:ext cx="3262313" cy="12003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Completed odd or even-numbered phase?</a:t>
            </a:r>
          </a:p>
        </p:txBody>
      </p:sp>
    </p:spTree>
    <p:extLst>
      <p:ext uri="{BB962C8B-B14F-4D97-AF65-F5344CB8AC3E}">
        <p14:creationId xmlns:p14="http://schemas.microsoft.com/office/powerpoint/2010/main" val="33859395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class Barrier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count;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volatile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sense = false;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threadSense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=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new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ThreadLocal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&gt;…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public void await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threadSense.get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();  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if (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(size); sense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} else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while (sense !=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 {}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(!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)}}}</a:t>
            </a:r>
          </a:p>
        </p:txBody>
      </p:sp>
      <p:sp>
        <p:nvSpPr>
          <p:cNvPr id="53251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2603922-A898-4CC7-8BDD-7847ED06CB5D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Sense-Reversing Barriers</a:t>
            </a:r>
          </a:p>
        </p:txBody>
      </p:sp>
      <p:sp>
        <p:nvSpPr>
          <p:cNvPr id="53254" name="AutoShape 4"/>
          <p:cNvSpPr>
            <a:spLocks noChangeArrowheads="1"/>
          </p:cNvSpPr>
          <p:nvPr/>
        </p:nvSpPr>
        <p:spPr bwMode="auto">
          <a:xfrm>
            <a:off x="1016000" y="2895600"/>
            <a:ext cx="6096000" cy="457200"/>
          </a:xfrm>
          <a:prstGeom prst="wedgeRoundRectCallout">
            <a:avLst>
              <a:gd name="adj1" fmla="val 33171"/>
              <a:gd name="adj2" fmla="val -97222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53255" name="Text Box 5"/>
          <p:cNvSpPr txBox="1">
            <a:spLocks noChangeArrowheads="1"/>
          </p:cNvSpPr>
          <p:nvPr/>
        </p:nvSpPr>
        <p:spPr bwMode="auto">
          <a:xfrm>
            <a:off x="5381625" y="1798638"/>
            <a:ext cx="2606675" cy="83026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Store sense for next phase</a:t>
            </a:r>
          </a:p>
        </p:txBody>
      </p:sp>
    </p:spTree>
    <p:extLst>
      <p:ext uri="{BB962C8B-B14F-4D97-AF65-F5344CB8AC3E}">
        <p14:creationId xmlns:p14="http://schemas.microsoft.com/office/powerpoint/2010/main" val="21595727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class Barrier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count;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volatile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sense = false;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= new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ThreadLocal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&lt;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&gt;…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public void await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threadSense.get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();  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if (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(size); sense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} else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while (sense !=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 {}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(!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)}}}</a:t>
            </a:r>
          </a:p>
        </p:txBody>
      </p:sp>
      <p:sp>
        <p:nvSpPr>
          <p:cNvPr id="54275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2FA44B6-2AB7-430C-85AE-F421B0DD0EB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Sense-Reversing Barriers</a:t>
            </a:r>
          </a:p>
        </p:txBody>
      </p:sp>
      <p:sp>
        <p:nvSpPr>
          <p:cNvPr id="54278" name="AutoShape 6"/>
          <p:cNvSpPr>
            <a:spLocks noChangeArrowheads="1"/>
          </p:cNvSpPr>
          <p:nvPr/>
        </p:nvSpPr>
        <p:spPr bwMode="auto">
          <a:xfrm>
            <a:off x="1143000" y="3911600"/>
            <a:ext cx="5816600" cy="393700"/>
          </a:xfrm>
          <a:prstGeom prst="wedgeRoundRectCallout">
            <a:avLst>
              <a:gd name="adj1" fmla="val 27157"/>
              <a:gd name="adj2" fmla="val -235625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3873500" y="2268538"/>
            <a:ext cx="4254500" cy="830262"/>
          </a:xfrm>
          <a:prstGeom prst="rect">
            <a:avLst/>
          </a:prstGeom>
          <a:solidFill>
            <a:srgbClr val="FFFFCC">
              <a:alpha val="85097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Get new sense determined by last phase</a:t>
            </a:r>
          </a:p>
        </p:txBody>
      </p:sp>
    </p:spTree>
    <p:extLst>
      <p:ext uri="{BB962C8B-B14F-4D97-AF65-F5344CB8AC3E}">
        <p14:creationId xmlns:p14="http://schemas.microsoft.com/office/powerpoint/2010/main" val="12389051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class Barrier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count;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volatile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sense = false;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= new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ThreadLocal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&lt;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&gt;…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public void await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threadSense.get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();  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(size); sense 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0000F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} else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while (sense !=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 {}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(!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)}}}</a:t>
            </a:r>
          </a:p>
        </p:txBody>
      </p:sp>
      <p:sp>
        <p:nvSpPr>
          <p:cNvPr id="55299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288A95-6DFA-4766-8D46-9AA89CB79E83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Sense-Reversing Barriers</a:t>
            </a:r>
          </a:p>
        </p:txBody>
      </p:sp>
      <p:sp>
        <p:nvSpPr>
          <p:cNvPr id="55302" name="AutoShape 6"/>
          <p:cNvSpPr>
            <a:spLocks noChangeArrowheads="1"/>
          </p:cNvSpPr>
          <p:nvPr/>
        </p:nvSpPr>
        <p:spPr bwMode="auto">
          <a:xfrm>
            <a:off x="1168400" y="4241800"/>
            <a:ext cx="5816600" cy="685800"/>
          </a:xfrm>
          <a:prstGeom prst="wedgeRoundRectCallout">
            <a:avLst>
              <a:gd name="adj1" fmla="val 16897"/>
              <a:gd name="adj2" fmla="val -225949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4279900" y="2395538"/>
            <a:ext cx="3873500" cy="830997"/>
          </a:xfrm>
          <a:prstGeom prst="rect">
            <a:avLst/>
          </a:prstGeom>
          <a:solidFill>
            <a:srgbClr val="FFFFCC">
              <a:alpha val="85097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If I’m last, reverse sense for next time</a:t>
            </a:r>
          </a:p>
        </p:txBody>
      </p:sp>
    </p:spTree>
    <p:extLst>
      <p:ext uri="{BB962C8B-B14F-4D97-AF65-F5344CB8AC3E}">
        <p14:creationId xmlns:p14="http://schemas.microsoft.com/office/powerpoint/2010/main" val="24699268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ChangeArrowheads="1"/>
          </p:cNvSpPr>
          <p:nvPr/>
        </p:nvSpPr>
        <p:spPr bwMode="auto">
          <a:xfrm>
            <a:off x="889000" y="17653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class Barrier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count;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volatile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sense = false;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= new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ThreadLocal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&lt;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&gt;…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public void await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threadSense.get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();  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if (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(size); sense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} else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(sense !=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 {}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(!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)}}}</a:t>
            </a:r>
          </a:p>
        </p:txBody>
      </p:sp>
      <p:sp>
        <p:nvSpPr>
          <p:cNvPr id="56323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B649D94-A967-4561-9CFC-FB27A8B01BA7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Sense-Reversing Barriers</a:t>
            </a:r>
          </a:p>
        </p:txBody>
      </p:sp>
      <p:sp>
        <p:nvSpPr>
          <p:cNvPr id="56326" name="AutoShape 4"/>
          <p:cNvSpPr>
            <a:spLocks noChangeArrowheads="1"/>
          </p:cNvSpPr>
          <p:nvPr/>
        </p:nvSpPr>
        <p:spPr bwMode="auto">
          <a:xfrm>
            <a:off x="1181100" y="5029200"/>
            <a:ext cx="5232400" cy="520700"/>
          </a:xfrm>
          <a:prstGeom prst="wedgeRoundRectCallout">
            <a:avLst>
              <a:gd name="adj1" fmla="val 34801"/>
              <a:gd name="adj2" fmla="val -406097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56327" name="Text Box 5"/>
          <p:cNvSpPr txBox="1">
            <a:spLocks noChangeArrowheads="1"/>
          </p:cNvSpPr>
          <p:nvPr/>
        </p:nvSpPr>
        <p:spPr bwMode="auto">
          <a:xfrm>
            <a:off x="4965700" y="2128838"/>
            <a:ext cx="3124200" cy="830997"/>
          </a:xfrm>
          <a:prstGeom prst="rect">
            <a:avLst/>
          </a:prstGeom>
          <a:solidFill>
            <a:srgbClr val="FFFFCC">
              <a:alpha val="85097"/>
            </a:srgbClr>
          </a:solidFill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Otherwise, wait for sense to flip</a:t>
            </a:r>
          </a:p>
        </p:txBody>
      </p:sp>
    </p:spTree>
    <p:extLst>
      <p:ext uri="{BB962C8B-B14F-4D97-AF65-F5344CB8AC3E}">
        <p14:creationId xmlns:p14="http://schemas.microsoft.com/office/powerpoint/2010/main" val="4472219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class Barrier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count;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volatile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sense = false;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= new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ThreadLocal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&lt;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&gt;…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public void await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threadSense.get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();  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if (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(size); sense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} else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while (sense !=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 {}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}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threadSense.set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(!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)}}}</a:t>
            </a:r>
          </a:p>
        </p:txBody>
      </p:sp>
      <p:sp>
        <p:nvSpPr>
          <p:cNvPr id="57347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3780789-D2C7-439E-AE3E-99CE334B4296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Sense-Reversing Barriers</a:t>
            </a:r>
          </a:p>
        </p:txBody>
      </p:sp>
      <p:sp>
        <p:nvSpPr>
          <p:cNvPr id="57350" name="Text Box 5"/>
          <p:cNvSpPr txBox="1">
            <a:spLocks noChangeArrowheads="1"/>
          </p:cNvSpPr>
          <p:nvPr/>
        </p:nvSpPr>
        <p:spPr bwMode="auto">
          <a:xfrm>
            <a:off x="4927600" y="1951038"/>
            <a:ext cx="3048000" cy="830262"/>
          </a:xfrm>
          <a:prstGeom prst="rect">
            <a:avLst/>
          </a:prstGeom>
          <a:solidFill>
            <a:srgbClr val="FFFFCC">
              <a:alpha val="85097"/>
            </a:srgbClr>
          </a:solidFill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Prepare sense for next phase</a:t>
            </a:r>
          </a:p>
        </p:txBody>
      </p:sp>
      <p:sp>
        <p:nvSpPr>
          <p:cNvPr id="57351" name="AutoShape 4"/>
          <p:cNvSpPr>
            <a:spLocks noChangeArrowheads="1"/>
          </p:cNvSpPr>
          <p:nvPr/>
        </p:nvSpPr>
        <p:spPr bwMode="auto">
          <a:xfrm>
            <a:off x="977900" y="5626100"/>
            <a:ext cx="4597400" cy="520700"/>
          </a:xfrm>
          <a:prstGeom prst="wedgeRoundRectCallout">
            <a:avLst>
              <a:gd name="adj1" fmla="val 47657"/>
              <a:gd name="adj2" fmla="val -618296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0015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5837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501F5B3-FE28-450E-87D3-F4C40E56BCE9}" type="slidenum">
              <a:rPr lang="en-US" smtClean="0"/>
              <a:pPr/>
              <a:t>54</a:t>
            </a:fld>
            <a:endParaRPr lang="en-US"/>
          </a:p>
        </p:txBody>
      </p:sp>
      <p:grpSp>
        <p:nvGrpSpPr>
          <p:cNvPr id="58372" name="Group 80"/>
          <p:cNvGrpSpPr>
            <a:grpSpLocks/>
          </p:cNvGrpSpPr>
          <p:nvPr/>
        </p:nvGrpSpPr>
        <p:grpSpPr bwMode="auto">
          <a:xfrm>
            <a:off x="3073400" y="2743200"/>
            <a:ext cx="2590800" cy="685800"/>
            <a:chOff x="2064" y="1728"/>
            <a:chExt cx="1632" cy="432"/>
          </a:xfrm>
        </p:grpSpPr>
        <p:sp>
          <p:nvSpPr>
            <p:cNvPr id="58438" name="Line 53"/>
            <p:cNvSpPr>
              <a:spLocks noChangeShapeType="1"/>
            </p:cNvSpPr>
            <p:nvPr/>
          </p:nvSpPr>
          <p:spPr bwMode="auto">
            <a:xfrm>
              <a:off x="3168" y="1728"/>
              <a:ext cx="528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39" name="Line 52"/>
            <p:cNvSpPr>
              <a:spLocks noChangeShapeType="1"/>
            </p:cNvSpPr>
            <p:nvPr/>
          </p:nvSpPr>
          <p:spPr bwMode="auto">
            <a:xfrm flipH="1">
              <a:off x="2064" y="1728"/>
              <a:ext cx="528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58373" name="Oval 77"/>
          <p:cNvSpPr>
            <a:spLocks noChangeArrowheads="1"/>
          </p:cNvSpPr>
          <p:nvPr/>
        </p:nvSpPr>
        <p:spPr bwMode="auto">
          <a:xfrm>
            <a:off x="3530600" y="1866900"/>
            <a:ext cx="1676400" cy="8382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2-barrier</a:t>
            </a:r>
          </a:p>
        </p:txBody>
      </p:sp>
      <p:grpSp>
        <p:nvGrpSpPr>
          <p:cNvPr id="58374" name="Group 79"/>
          <p:cNvGrpSpPr>
            <a:grpSpLocks/>
          </p:cNvGrpSpPr>
          <p:nvPr/>
        </p:nvGrpSpPr>
        <p:grpSpPr bwMode="auto">
          <a:xfrm>
            <a:off x="1930400" y="3454400"/>
            <a:ext cx="4876800" cy="838200"/>
            <a:chOff x="1216" y="2176"/>
            <a:chExt cx="3072" cy="528"/>
          </a:xfrm>
        </p:grpSpPr>
        <p:sp>
          <p:nvSpPr>
            <p:cNvPr id="58436" name="Oval 5"/>
            <p:cNvSpPr>
              <a:spLocks noChangeArrowheads="1"/>
            </p:cNvSpPr>
            <p:nvPr/>
          </p:nvSpPr>
          <p:spPr bwMode="auto">
            <a:xfrm>
              <a:off x="1216" y="2176"/>
              <a:ext cx="1056" cy="528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sz="200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2-barrier</a:t>
              </a:r>
            </a:p>
          </p:txBody>
        </p:sp>
        <p:sp>
          <p:nvSpPr>
            <p:cNvPr id="58437" name="Oval 78"/>
            <p:cNvSpPr>
              <a:spLocks noChangeArrowheads="1"/>
            </p:cNvSpPr>
            <p:nvPr/>
          </p:nvSpPr>
          <p:spPr bwMode="auto">
            <a:xfrm>
              <a:off x="3232" y="2176"/>
              <a:ext cx="1056" cy="528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sz="200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2-barrier</a:t>
              </a:r>
            </a:p>
          </p:txBody>
        </p:sp>
      </p:grp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7078663" y="4953000"/>
            <a:ext cx="1219200" cy="1090613"/>
            <a:chOff x="1584" y="816"/>
            <a:chExt cx="912" cy="816"/>
          </a:xfrm>
        </p:grpSpPr>
        <p:sp>
          <p:nvSpPr>
            <p:cNvPr id="58427" name="Freeform 67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28" name="Freeform 68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29" name="Freeform 69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30" name="Freeform 70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31" name="Freeform 71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32" name="Freeform 72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33" name="Freeform 73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34" name="Freeform 74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35" name="Freeform 75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7072313" y="4953000"/>
            <a:ext cx="1219200" cy="1090613"/>
            <a:chOff x="1584" y="816"/>
            <a:chExt cx="912" cy="816"/>
          </a:xfrm>
        </p:grpSpPr>
        <p:sp>
          <p:nvSpPr>
            <p:cNvPr id="58418" name="Freeform 27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19" name="Freeform 28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20" name="Freeform 29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21" name="Freeform 30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22" name="Freeform 31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23" name="Freeform 32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24" name="Freeform 33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25" name="Freeform 34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26" name="Freeform 35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6" name="Group 56"/>
          <p:cNvGrpSpPr>
            <a:grpSpLocks/>
          </p:cNvGrpSpPr>
          <p:nvPr/>
        </p:nvGrpSpPr>
        <p:grpSpPr bwMode="auto">
          <a:xfrm flipH="1">
            <a:off x="858838" y="4953000"/>
            <a:ext cx="1219200" cy="1090613"/>
            <a:chOff x="1584" y="816"/>
            <a:chExt cx="912" cy="816"/>
          </a:xfrm>
        </p:grpSpPr>
        <p:sp>
          <p:nvSpPr>
            <p:cNvPr id="58409" name="Freeform 57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10" name="Freeform 58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11" name="Freeform 59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12" name="Freeform 60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13" name="Freeform 61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14" name="Freeform 62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15" name="Freeform 63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16" name="Freeform 64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17" name="Freeform 65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" name="Group 6"/>
          <p:cNvGrpSpPr>
            <a:grpSpLocks/>
          </p:cNvGrpSpPr>
          <p:nvPr/>
        </p:nvGrpSpPr>
        <p:grpSpPr bwMode="auto">
          <a:xfrm flipH="1">
            <a:off x="852488" y="4953000"/>
            <a:ext cx="1219200" cy="1090613"/>
            <a:chOff x="1584" y="816"/>
            <a:chExt cx="912" cy="816"/>
          </a:xfrm>
        </p:grpSpPr>
        <p:sp>
          <p:nvSpPr>
            <p:cNvPr id="58400" name="Freeform 7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01" name="Freeform 8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02" name="Freeform 9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03" name="Freeform 10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04" name="Freeform 11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05" name="Freeform 12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06" name="Freeform 13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07" name="Freeform 14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408" name="Freeform 15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58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Tree Barriers</a:t>
            </a:r>
          </a:p>
        </p:txBody>
      </p:sp>
      <p:grpSp>
        <p:nvGrpSpPr>
          <p:cNvPr id="8" name="Group 16"/>
          <p:cNvGrpSpPr>
            <a:grpSpLocks/>
          </p:cNvGrpSpPr>
          <p:nvPr/>
        </p:nvGrpSpPr>
        <p:grpSpPr bwMode="auto">
          <a:xfrm flipH="1">
            <a:off x="4999038" y="4953000"/>
            <a:ext cx="1219200" cy="1090613"/>
            <a:chOff x="1584" y="816"/>
            <a:chExt cx="912" cy="816"/>
          </a:xfrm>
        </p:grpSpPr>
        <p:sp>
          <p:nvSpPr>
            <p:cNvPr id="58391" name="Freeform 17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92" name="Freeform 18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93" name="Freeform 19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94" name="Freeform 20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95" name="Freeform 21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96" name="Freeform 22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97" name="Freeform 23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98" name="Freeform 24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99" name="Freeform 25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9" name="Group 36"/>
          <p:cNvGrpSpPr>
            <a:grpSpLocks/>
          </p:cNvGrpSpPr>
          <p:nvPr/>
        </p:nvGrpSpPr>
        <p:grpSpPr bwMode="auto">
          <a:xfrm>
            <a:off x="2925763" y="4953000"/>
            <a:ext cx="1219200" cy="1090613"/>
            <a:chOff x="1584" y="816"/>
            <a:chExt cx="912" cy="816"/>
          </a:xfrm>
        </p:grpSpPr>
        <p:sp>
          <p:nvSpPr>
            <p:cNvPr id="58382" name="Freeform 37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83" name="Freeform 38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84" name="Freeform 39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85" name="Freeform 40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86" name="Freeform 41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87" name="Freeform 42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88" name="Freeform 43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89" name="Freeform 44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8390" name="Freeform 45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38889E-6 -1.48148E-6 C 0.02308 -0.08935 0.04635 -0.1787 0.08471 -0.22222 C 0.12308 -0.26574 0.17673 -0.26342 0.23055 -0.26111 " pathEditMode="relative" ptsTypes="aaA">
                                      <p:cBhvr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7037E-7 C -0.02934 -0.03819 -0.12395 -0.16366 -0.17621 -0.2294 C -0.22847 -0.29514 -0.28611 -0.34954 -0.31371 -0.39421 C -0.34132 -0.43889 -0.33576 -0.47639 -0.34149 -0.49792 " pathEditMode="relative" rAng="0" ptsTypes="aaaa">
                                      <p:cBhvr>
                                        <p:cTn id="3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00" y="-24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8905B97-0B73-44CC-9036-72A90D6E353F}" type="slidenum">
              <a:rPr lang="en-US" smtClean="0"/>
              <a:pPr/>
              <a:t>55</a:t>
            </a:fld>
            <a:endParaRPr lang="en-US"/>
          </a:p>
        </p:txBody>
      </p:sp>
      <p:grpSp>
        <p:nvGrpSpPr>
          <p:cNvPr id="59396" name="Group 2"/>
          <p:cNvGrpSpPr>
            <a:grpSpLocks/>
          </p:cNvGrpSpPr>
          <p:nvPr/>
        </p:nvGrpSpPr>
        <p:grpSpPr bwMode="auto">
          <a:xfrm>
            <a:off x="3073400" y="2743200"/>
            <a:ext cx="2590800" cy="685800"/>
            <a:chOff x="2064" y="1728"/>
            <a:chExt cx="1632" cy="432"/>
          </a:xfrm>
        </p:grpSpPr>
        <p:sp>
          <p:nvSpPr>
            <p:cNvPr id="59462" name="Line 3"/>
            <p:cNvSpPr>
              <a:spLocks noChangeShapeType="1"/>
            </p:cNvSpPr>
            <p:nvPr/>
          </p:nvSpPr>
          <p:spPr bwMode="auto">
            <a:xfrm>
              <a:off x="3168" y="1728"/>
              <a:ext cx="528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63" name="Line 4"/>
            <p:cNvSpPr>
              <a:spLocks noChangeShapeType="1"/>
            </p:cNvSpPr>
            <p:nvPr/>
          </p:nvSpPr>
          <p:spPr bwMode="auto">
            <a:xfrm flipH="1">
              <a:off x="2064" y="1728"/>
              <a:ext cx="528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59397" name="Oval 5"/>
          <p:cNvSpPr>
            <a:spLocks noChangeArrowheads="1"/>
          </p:cNvSpPr>
          <p:nvPr/>
        </p:nvSpPr>
        <p:spPr bwMode="auto">
          <a:xfrm>
            <a:off x="3530600" y="1866900"/>
            <a:ext cx="1676400" cy="8382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2-barrier</a:t>
            </a:r>
          </a:p>
        </p:txBody>
      </p:sp>
      <p:grpSp>
        <p:nvGrpSpPr>
          <p:cNvPr id="59398" name="Group 6"/>
          <p:cNvGrpSpPr>
            <a:grpSpLocks/>
          </p:cNvGrpSpPr>
          <p:nvPr/>
        </p:nvGrpSpPr>
        <p:grpSpPr bwMode="auto">
          <a:xfrm>
            <a:off x="1930400" y="3454400"/>
            <a:ext cx="4876800" cy="838200"/>
            <a:chOff x="1216" y="2176"/>
            <a:chExt cx="3072" cy="528"/>
          </a:xfrm>
        </p:grpSpPr>
        <p:sp>
          <p:nvSpPr>
            <p:cNvPr id="59460" name="Oval 7"/>
            <p:cNvSpPr>
              <a:spLocks noChangeArrowheads="1"/>
            </p:cNvSpPr>
            <p:nvPr/>
          </p:nvSpPr>
          <p:spPr bwMode="auto">
            <a:xfrm>
              <a:off x="1216" y="2176"/>
              <a:ext cx="1056" cy="528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sz="200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2-barrier</a:t>
              </a:r>
            </a:p>
          </p:txBody>
        </p:sp>
        <p:sp>
          <p:nvSpPr>
            <p:cNvPr id="59461" name="Oval 8"/>
            <p:cNvSpPr>
              <a:spLocks noChangeArrowheads="1"/>
            </p:cNvSpPr>
            <p:nvPr/>
          </p:nvSpPr>
          <p:spPr bwMode="auto">
            <a:xfrm>
              <a:off x="3232" y="2176"/>
              <a:ext cx="1056" cy="528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sz="2000">
                  <a:solidFill>
                    <a:srgbClr val="0000FF"/>
                  </a:solidFill>
                  <a:latin typeface="Arial" pitchFamily="34" charset="0"/>
                  <a:cs typeface="Arial" pitchFamily="34" charset="0"/>
                </a:rPr>
                <a:t>2-barrier</a:t>
              </a:r>
            </a:p>
          </p:txBody>
        </p:sp>
      </p:grpSp>
      <p:grpSp>
        <p:nvGrpSpPr>
          <p:cNvPr id="59399" name="Group 9"/>
          <p:cNvGrpSpPr>
            <a:grpSpLocks/>
          </p:cNvGrpSpPr>
          <p:nvPr/>
        </p:nvGrpSpPr>
        <p:grpSpPr bwMode="auto">
          <a:xfrm>
            <a:off x="7078663" y="4953000"/>
            <a:ext cx="1219200" cy="1090613"/>
            <a:chOff x="1584" y="816"/>
            <a:chExt cx="912" cy="816"/>
          </a:xfrm>
        </p:grpSpPr>
        <p:sp>
          <p:nvSpPr>
            <p:cNvPr id="59451" name="Freeform 10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52" name="Freeform 11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53" name="Freeform 12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54" name="Freeform 13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55" name="Freeform 14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56" name="Freeform 15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57" name="Freeform 16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58" name="Freeform 17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59" name="Freeform 18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7072313" y="4953000"/>
            <a:ext cx="1219200" cy="1090613"/>
            <a:chOff x="1584" y="816"/>
            <a:chExt cx="912" cy="816"/>
          </a:xfrm>
        </p:grpSpPr>
        <p:sp>
          <p:nvSpPr>
            <p:cNvPr id="59442" name="Freeform 20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43" name="Freeform 21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44" name="Freeform 22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45" name="Freeform 23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46" name="Freeform 24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47" name="Freeform 25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48" name="Freeform 26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49" name="Freeform 27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50" name="Freeform 28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59401" name="Group 29"/>
          <p:cNvGrpSpPr>
            <a:grpSpLocks/>
          </p:cNvGrpSpPr>
          <p:nvPr/>
        </p:nvGrpSpPr>
        <p:grpSpPr bwMode="auto">
          <a:xfrm flipH="1">
            <a:off x="858838" y="4953000"/>
            <a:ext cx="1219200" cy="1090613"/>
            <a:chOff x="1584" y="816"/>
            <a:chExt cx="912" cy="816"/>
          </a:xfrm>
        </p:grpSpPr>
        <p:sp>
          <p:nvSpPr>
            <p:cNvPr id="59433" name="Freeform 30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34" name="Freeform 31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35" name="Freeform 32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36" name="Freeform 33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37" name="Freeform 34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38" name="Freeform 35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39" name="Freeform 36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40" name="Freeform 37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41" name="Freeform 38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" name="Group 39"/>
          <p:cNvGrpSpPr>
            <a:grpSpLocks/>
          </p:cNvGrpSpPr>
          <p:nvPr/>
        </p:nvGrpSpPr>
        <p:grpSpPr bwMode="auto">
          <a:xfrm flipH="1">
            <a:off x="852488" y="4953000"/>
            <a:ext cx="1219200" cy="1090613"/>
            <a:chOff x="1584" y="816"/>
            <a:chExt cx="912" cy="816"/>
          </a:xfrm>
        </p:grpSpPr>
        <p:sp>
          <p:nvSpPr>
            <p:cNvPr id="59424" name="Freeform 40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25" name="Freeform 41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26" name="Freeform 42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27" name="Freeform 43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28" name="Freeform 44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29" name="Freeform 45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30" name="Freeform 46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31" name="Freeform 47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32" name="Freeform 48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59403" name="Rectangle 4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Tree Barriers</a:t>
            </a:r>
          </a:p>
        </p:txBody>
      </p:sp>
      <p:grpSp>
        <p:nvGrpSpPr>
          <p:cNvPr id="59404" name="Group 50"/>
          <p:cNvGrpSpPr>
            <a:grpSpLocks/>
          </p:cNvGrpSpPr>
          <p:nvPr/>
        </p:nvGrpSpPr>
        <p:grpSpPr bwMode="auto">
          <a:xfrm flipH="1">
            <a:off x="4999038" y="4953000"/>
            <a:ext cx="1219200" cy="1090613"/>
            <a:chOff x="1584" y="816"/>
            <a:chExt cx="912" cy="816"/>
          </a:xfrm>
        </p:grpSpPr>
        <p:sp>
          <p:nvSpPr>
            <p:cNvPr id="59415" name="Freeform 51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16" name="Freeform 52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17" name="Freeform 53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18" name="Freeform 54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19" name="Freeform 55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20" name="Freeform 56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21" name="Freeform 57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22" name="Freeform 58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23" name="Freeform 59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59405" name="Group 60"/>
          <p:cNvGrpSpPr>
            <a:grpSpLocks/>
          </p:cNvGrpSpPr>
          <p:nvPr/>
        </p:nvGrpSpPr>
        <p:grpSpPr bwMode="auto">
          <a:xfrm>
            <a:off x="2925763" y="4953000"/>
            <a:ext cx="1219200" cy="1090613"/>
            <a:chOff x="1584" y="816"/>
            <a:chExt cx="912" cy="816"/>
          </a:xfrm>
        </p:grpSpPr>
        <p:sp>
          <p:nvSpPr>
            <p:cNvPr id="59406" name="Freeform 61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07" name="Freeform 62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08" name="Freeform 63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09" name="Freeform 64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10" name="Freeform 65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11" name="Freeform 66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12" name="Freeform 67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13" name="Freeform 68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59414" name="Freeform 69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38889E-6 -1.48148E-6 C 0.02308 -0.08935 0.04635 -0.1787 0.08471 -0.22222 C 0.12308 -0.26574 0.17673 -0.26342 0.23055 -0.26111 " pathEditMode="relative" ptsTypes="aaA">
                                      <p:cBhvr>
                                        <p:cTn id="6" dur="2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7037E-7 C -0.02934 -0.03819 -0.12395 -0.16366 -0.17621 -0.2294 C -0.22847 -0.29514 -0.28611 -0.34954 -0.31371 -0.39421 C -0.34132 -0.43889 -0.33576 -0.47639 -0.34149 -0.49792 " pathEditMode="relative" rAng="0" ptsTypes="aaaa">
                                      <p:cBhvr>
                                        <p:cTn id="8" dur="2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00" y="-24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6041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65518CF-C7D4-4878-B9E3-54F8F7BB528E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Tree Barrier</a:t>
            </a:r>
          </a:p>
        </p:txBody>
      </p:sp>
      <p:sp>
        <p:nvSpPr>
          <p:cNvPr id="60421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public class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Node{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count;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Node parent;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volatile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sense;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 public void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await() {…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(parent !=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null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()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(size);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sense 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0000FF"/>
              </a:solidFill>
              <a:latin typeface="Courier New" pitchFamily="49" charset="0"/>
            </a:endParaRP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}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else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(sense !=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 {}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}…}}}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ChangeArrowheads="1"/>
          </p:cNvSpPr>
          <p:nvPr/>
        </p:nvSpPr>
        <p:spPr bwMode="auto">
          <a:xfrm>
            <a:off x="990600" y="19050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class Node{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count;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Node parent; 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volatile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sense;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void await() {…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if (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if (parent != null)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(size);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sense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} else {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while (sense !=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 {}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}…}}}</a:t>
            </a:r>
          </a:p>
        </p:txBody>
      </p:sp>
      <p:sp>
        <p:nvSpPr>
          <p:cNvPr id="61443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CDFC555-2A4E-4242-A3BF-74C11851D4BA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Tree Barrier</a:t>
            </a:r>
          </a:p>
        </p:txBody>
      </p:sp>
      <p:sp>
        <p:nvSpPr>
          <p:cNvPr id="61446" name="AutoShape 4"/>
          <p:cNvSpPr>
            <a:spLocks noChangeArrowheads="1"/>
          </p:cNvSpPr>
          <p:nvPr/>
        </p:nvSpPr>
        <p:spPr bwMode="auto">
          <a:xfrm>
            <a:off x="1155700" y="2514600"/>
            <a:ext cx="1943100" cy="457200"/>
          </a:xfrm>
          <a:prstGeom prst="wedgeRoundRectCallout">
            <a:avLst>
              <a:gd name="adj1" fmla="val 147222"/>
              <a:gd name="adj2" fmla="val -108333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61447" name="Text Box 5"/>
          <p:cNvSpPr txBox="1">
            <a:spLocks noChangeArrowheads="1"/>
          </p:cNvSpPr>
          <p:nvPr/>
        </p:nvSpPr>
        <p:spPr bwMode="auto">
          <a:xfrm>
            <a:off x="4822825" y="1798638"/>
            <a:ext cx="3262313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Parent barrier in tree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ChangeArrowheads="1"/>
          </p:cNvSpPr>
          <p:nvPr/>
        </p:nvSpPr>
        <p:spPr bwMode="auto">
          <a:xfrm>
            <a:off x="990600" y="19050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class Node{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count;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Node parent; volatile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sense;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void await() {…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if (parent != null)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(size);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sense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} else {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while (sense !=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 {}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}…}}}</a:t>
            </a:r>
          </a:p>
        </p:txBody>
      </p:sp>
      <p:sp>
        <p:nvSpPr>
          <p:cNvPr id="62467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052276B-6AB3-407F-AE0F-F0D7B5D38510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Tree Barrier</a:t>
            </a:r>
          </a:p>
        </p:txBody>
      </p:sp>
      <p:sp>
        <p:nvSpPr>
          <p:cNvPr id="62470" name="AutoShape 4"/>
          <p:cNvSpPr>
            <a:spLocks noChangeArrowheads="1"/>
          </p:cNvSpPr>
          <p:nvPr/>
        </p:nvSpPr>
        <p:spPr bwMode="auto">
          <a:xfrm>
            <a:off x="1193800" y="3479800"/>
            <a:ext cx="5359400" cy="406400"/>
          </a:xfrm>
          <a:prstGeom prst="wedgeRoundRectCallout">
            <a:avLst>
              <a:gd name="adj1" fmla="val 39309"/>
              <a:gd name="adj2" fmla="val -289065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62471" name="Text Box 5"/>
          <p:cNvSpPr txBox="1">
            <a:spLocks noChangeArrowheads="1"/>
          </p:cNvSpPr>
          <p:nvPr/>
        </p:nvSpPr>
        <p:spPr bwMode="auto">
          <a:xfrm>
            <a:off x="5689600" y="2065338"/>
            <a:ext cx="2171700" cy="457200"/>
          </a:xfrm>
          <a:prstGeom prst="rect">
            <a:avLst/>
          </a:prstGeom>
          <a:solidFill>
            <a:srgbClr val="FFFFCC">
              <a:alpha val="85097"/>
            </a:srgbClr>
          </a:solidFill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Am I last?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ChangeArrowheads="1"/>
          </p:cNvSpPr>
          <p:nvPr/>
        </p:nvSpPr>
        <p:spPr bwMode="auto">
          <a:xfrm>
            <a:off x="990600" y="19050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class Node{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count;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Node parent; volatile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sense;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public void await() {…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if (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(parent !=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null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();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(size);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sense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} else {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while (sense !=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 {}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}…}}}</a:t>
            </a:r>
          </a:p>
        </p:txBody>
      </p:sp>
      <p:sp>
        <p:nvSpPr>
          <p:cNvPr id="63491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56C3A40-7F26-4AF7-9785-2FFF0FD16C8D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Tree Barrier</a:t>
            </a:r>
          </a:p>
        </p:txBody>
      </p:sp>
      <p:sp>
        <p:nvSpPr>
          <p:cNvPr id="63494" name="AutoShape 4"/>
          <p:cNvSpPr>
            <a:spLocks noChangeArrowheads="1"/>
          </p:cNvSpPr>
          <p:nvPr/>
        </p:nvSpPr>
        <p:spPr bwMode="auto">
          <a:xfrm>
            <a:off x="1193800" y="3721100"/>
            <a:ext cx="4025900" cy="698500"/>
          </a:xfrm>
          <a:prstGeom prst="wedgeRoundRectCallout">
            <a:avLst>
              <a:gd name="adj1" fmla="val 57060"/>
              <a:gd name="adj2" fmla="val -222727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63495" name="Text Box 5"/>
          <p:cNvSpPr txBox="1">
            <a:spLocks noChangeArrowheads="1"/>
          </p:cNvSpPr>
          <p:nvPr/>
        </p:nvSpPr>
        <p:spPr bwMode="auto">
          <a:xfrm>
            <a:off x="3568700" y="1836738"/>
            <a:ext cx="4656138" cy="457200"/>
          </a:xfrm>
          <a:prstGeom prst="rect">
            <a:avLst/>
          </a:prstGeom>
          <a:solidFill>
            <a:srgbClr val="FFFFCC">
              <a:alpha val="85097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Proceed to parent barrier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class Node{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count;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Node parent; volatile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sense;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public void await() {…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if (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if (parent != null)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(size);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sense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} else {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while (sense !=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 {}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}…}}}</a:t>
            </a:r>
          </a:p>
        </p:txBody>
      </p:sp>
      <p:sp>
        <p:nvSpPr>
          <p:cNvPr id="64515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A492D41-FFCA-42C7-9CFD-994BDE716E96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Tree Barrier</a:t>
            </a:r>
          </a:p>
        </p:txBody>
      </p:sp>
      <p:sp>
        <p:nvSpPr>
          <p:cNvPr id="64518" name="AutoShape 4"/>
          <p:cNvSpPr>
            <a:spLocks noChangeArrowheads="1"/>
          </p:cNvSpPr>
          <p:nvPr/>
        </p:nvSpPr>
        <p:spPr bwMode="auto">
          <a:xfrm>
            <a:off x="1257300" y="4267200"/>
            <a:ext cx="2628900" cy="406400"/>
          </a:xfrm>
          <a:prstGeom prst="wedgeRoundRectCallout">
            <a:avLst>
              <a:gd name="adj1" fmla="val 81185"/>
              <a:gd name="adj2" fmla="val -509944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64519" name="Text Box 5"/>
          <p:cNvSpPr txBox="1">
            <a:spLocks noChangeArrowheads="1"/>
          </p:cNvSpPr>
          <p:nvPr/>
        </p:nvSpPr>
        <p:spPr bwMode="auto">
          <a:xfrm>
            <a:off x="3568700" y="1836738"/>
            <a:ext cx="4656138" cy="457200"/>
          </a:xfrm>
          <a:prstGeom prst="rect">
            <a:avLst/>
          </a:prstGeom>
          <a:solidFill>
            <a:srgbClr val="FFFFCC">
              <a:alpha val="85097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Prepare for next phase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990600" y="19050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class Node{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count;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Node parent; volatile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sense;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public void await() {…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if (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if (parent != null)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(size);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sense 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0000FF"/>
              </a:solidFill>
              <a:latin typeface="Courier New" pitchFamily="49" charset="0"/>
            </a:endParaRP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} else {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while (sense !=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) {}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}…}}}</a:t>
            </a:r>
          </a:p>
        </p:txBody>
      </p:sp>
      <p:sp>
        <p:nvSpPr>
          <p:cNvPr id="65539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7D7133B-54DE-46BF-A9B6-0DEA123DE547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Tree Barrier</a:t>
            </a:r>
          </a:p>
        </p:txBody>
      </p:sp>
      <p:sp>
        <p:nvSpPr>
          <p:cNvPr id="65542" name="AutoShape 4"/>
          <p:cNvSpPr>
            <a:spLocks noChangeArrowheads="1"/>
          </p:cNvSpPr>
          <p:nvPr/>
        </p:nvSpPr>
        <p:spPr bwMode="auto">
          <a:xfrm>
            <a:off x="1384300" y="4851400"/>
            <a:ext cx="2692400" cy="381000"/>
          </a:xfrm>
          <a:prstGeom prst="wedgeRoundRectCallout">
            <a:avLst>
              <a:gd name="adj1" fmla="val 62125"/>
              <a:gd name="adj2" fmla="val -656667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  <p:sp>
        <p:nvSpPr>
          <p:cNvPr id="65543" name="Text Box 5"/>
          <p:cNvSpPr txBox="1">
            <a:spLocks noChangeArrowheads="1"/>
          </p:cNvSpPr>
          <p:nvPr/>
        </p:nvSpPr>
        <p:spPr bwMode="auto">
          <a:xfrm>
            <a:off x="3568700" y="1836738"/>
            <a:ext cx="4656138" cy="457200"/>
          </a:xfrm>
          <a:prstGeom prst="rect">
            <a:avLst/>
          </a:prstGeom>
          <a:solidFill>
            <a:srgbClr val="FFFFCC">
              <a:alpha val="85097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Notify others at this node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4005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public class Node{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AtomicInteger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count;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int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size;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Node parent; volatile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sense;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public void await() {…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if (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count.getAndDecrement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()==1)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if (parent != null) {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()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count.set</a:t>
            </a:r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(size);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 sense = </a:t>
            </a:r>
            <a:r>
              <a:rPr lang="en-US" sz="2000" dirty="0" err="1">
                <a:solidFill>
                  <a:srgbClr val="BFBFBF"/>
                </a:solidFill>
                <a:latin typeface="Courier New" pitchFamily="49" charset="0"/>
              </a:rPr>
              <a:t>mySense</a:t>
            </a:r>
            <a:endParaRPr lang="en-US" sz="2000" dirty="0">
              <a:solidFill>
                <a:srgbClr val="BFBFBF"/>
              </a:solidFill>
              <a:latin typeface="Courier New" pitchFamily="49" charset="0"/>
            </a:endParaRP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 } else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(sense !=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 {}</a:t>
            </a:r>
          </a:p>
          <a:p>
            <a:pPr algn="l"/>
            <a:r>
              <a:rPr lang="en-US" sz="2000" dirty="0">
                <a:solidFill>
                  <a:srgbClr val="BFBFBF"/>
                </a:solidFill>
                <a:latin typeface="Courier New" pitchFamily="49" charset="0"/>
              </a:rPr>
              <a:t> }…}}}</a:t>
            </a:r>
          </a:p>
        </p:txBody>
      </p:sp>
      <p:sp>
        <p:nvSpPr>
          <p:cNvPr id="66563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E5BF514-4D63-499D-8A44-DFEE375618FB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Tree Barrier</a:t>
            </a:r>
          </a:p>
        </p:txBody>
      </p:sp>
      <p:sp>
        <p:nvSpPr>
          <p:cNvPr id="66567" name="Text Box 5"/>
          <p:cNvSpPr txBox="1">
            <a:spLocks noChangeArrowheads="1"/>
          </p:cNvSpPr>
          <p:nvPr/>
        </p:nvSpPr>
        <p:spPr bwMode="auto">
          <a:xfrm>
            <a:off x="4203700" y="1849438"/>
            <a:ext cx="3987800" cy="830997"/>
          </a:xfrm>
          <a:prstGeom prst="rect">
            <a:avLst/>
          </a:prstGeom>
          <a:solidFill>
            <a:srgbClr val="FFFFCC">
              <a:alpha val="85097"/>
            </a:srgbClr>
          </a:solidFill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I’m not last, so wait for notification</a:t>
            </a:r>
          </a:p>
        </p:txBody>
      </p:sp>
      <p:sp>
        <p:nvSpPr>
          <p:cNvPr id="66566" name="AutoShape 4"/>
          <p:cNvSpPr>
            <a:spLocks noChangeArrowheads="1"/>
          </p:cNvSpPr>
          <p:nvPr/>
        </p:nvSpPr>
        <p:spPr bwMode="auto">
          <a:xfrm>
            <a:off x="1282700" y="5384800"/>
            <a:ext cx="4470400" cy="381000"/>
          </a:xfrm>
          <a:prstGeom prst="wedgeRoundRectCallout">
            <a:avLst>
              <a:gd name="adj1" fmla="val 37659"/>
              <a:gd name="adj2" fmla="val -790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US" dirty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675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D617CFA-9B9F-481A-9E0D-071CF7C6504C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Tree Barrier</a:t>
            </a:r>
          </a:p>
        </p:txBody>
      </p:sp>
      <p:sp>
        <p:nvSpPr>
          <p:cNvPr id="67589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 sequential bottleneck</a:t>
            </a:r>
          </a:p>
          <a:p>
            <a:pPr lvl="1"/>
            <a:r>
              <a:rPr lang="en-US"/>
              <a:t>Parallel </a:t>
            </a:r>
            <a:r>
              <a:rPr lang="en-US">
                <a:solidFill>
                  <a:schemeClr val="tx1"/>
                </a:solidFill>
              </a:rPr>
              <a:t>getAndDecrement()</a:t>
            </a:r>
            <a:r>
              <a:rPr lang="en-US"/>
              <a:t> calls</a:t>
            </a:r>
          </a:p>
          <a:p>
            <a:r>
              <a:rPr lang="en-US"/>
              <a:t>Low memory contention</a:t>
            </a:r>
          </a:p>
          <a:p>
            <a:pPr lvl="1"/>
            <a:r>
              <a:rPr lang="en-US"/>
              <a:t>Same reason</a:t>
            </a:r>
          </a:p>
          <a:p>
            <a:r>
              <a:rPr lang="en-US"/>
              <a:t>Cache behavior</a:t>
            </a:r>
          </a:p>
          <a:p>
            <a:pPr lvl="1"/>
            <a:r>
              <a:rPr lang="en-US"/>
              <a:t>Local spinning on bus-based architecture</a:t>
            </a:r>
          </a:p>
          <a:p>
            <a:pPr lvl="1"/>
            <a:r>
              <a:rPr lang="en-US"/>
              <a:t>Not so good for NUMA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686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9982793-6977-43B4-A3DB-B3480AED2BF2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Remarks</a:t>
            </a:r>
          </a:p>
        </p:txBody>
      </p:sp>
      <p:sp>
        <p:nvSpPr>
          <p:cNvPr id="686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Everyone spins on </a:t>
            </a:r>
            <a:r>
              <a:rPr lang="en-US">
                <a:solidFill>
                  <a:schemeClr val="tx1"/>
                </a:solidFill>
              </a:rPr>
              <a:t>sense</a:t>
            </a:r>
            <a:r>
              <a:rPr lang="en-US"/>
              <a:t> field</a:t>
            </a:r>
          </a:p>
          <a:p>
            <a:pPr lvl="1"/>
            <a:r>
              <a:rPr lang="en-US"/>
              <a:t>Local spinning on bus-based (good)</a:t>
            </a:r>
          </a:p>
          <a:p>
            <a:pPr lvl="1"/>
            <a:r>
              <a:rPr lang="en-US"/>
              <a:t>Network hot-spot on distributed architecture (bad)</a:t>
            </a:r>
          </a:p>
          <a:p>
            <a:r>
              <a:rPr lang="en-US"/>
              <a:t>Not really scalable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696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FBF48E6-EDEA-437B-9C5F-5C9D45B64E2A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Tree Barrier</a:t>
            </a: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tree nodes have fan-in </a:t>
            </a:r>
            <a:r>
              <a:rPr lang="en-US">
                <a:solidFill>
                  <a:schemeClr val="tx1"/>
                </a:solidFill>
              </a:rPr>
              <a:t>2</a:t>
            </a:r>
          </a:p>
          <a:p>
            <a:pPr lvl="1"/>
            <a:r>
              <a:rPr lang="en-US"/>
              <a:t>Don’t need to call </a:t>
            </a:r>
            <a:r>
              <a:rPr lang="en-US">
                <a:solidFill>
                  <a:schemeClr val="tx1"/>
                </a:solidFill>
              </a:rPr>
              <a:t>getAndDecrement()</a:t>
            </a:r>
          </a:p>
          <a:p>
            <a:pPr lvl="1"/>
            <a:r>
              <a:rPr lang="en-US"/>
              <a:t>Winner chosen statically</a:t>
            </a:r>
          </a:p>
          <a:p>
            <a:r>
              <a:rPr lang="en-US"/>
              <a:t>At level </a:t>
            </a:r>
            <a:r>
              <a:rPr lang="en-US">
                <a:solidFill>
                  <a:schemeClr val="tx1"/>
                </a:solidFill>
              </a:rPr>
              <a:t>i</a:t>
            </a:r>
          </a:p>
          <a:p>
            <a:pPr lvl="1"/>
            <a:r>
              <a:rPr lang="en-US"/>
              <a:t>If </a:t>
            </a:r>
            <a:r>
              <a:rPr lang="en-US">
                <a:solidFill>
                  <a:schemeClr val="tx1"/>
                </a:solidFill>
              </a:rPr>
              <a:t>i</a:t>
            </a:r>
            <a:r>
              <a:rPr lang="en-US"/>
              <a:t>-th bit of id is </a:t>
            </a:r>
            <a:r>
              <a:rPr lang="en-US">
                <a:solidFill>
                  <a:schemeClr val="tx1"/>
                </a:solidFill>
              </a:rPr>
              <a:t>0</a:t>
            </a:r>
            <a:r>
              <a:rPr lang="en-US"/>
              <a:t>, move up</a:t>
            </a:r>
          </a:p>
          <a:p>
            <a:pPr lvl="1"/>
            <a:r>
              <a:rPr lang="en-US"/>
              <a:t>Otherwise keep back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7065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0E13F84-DF96-4F06-962A-D4CBC7909EFF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70660" name="Rectangle 4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Tree Barriers</a:t>
            </a:r>
          </a:p>
        </p:txBody>
      </p:sp>
      <p:grpSp>
        <p:nvGrpSpPr>
          <p:cNvPr id="70661" name="Group 128"/>
          <p:cNvGrpSpPr>
            <a:grpSpLocks/>
          </p:cNvGrpSpPr>
          <p:nvPr/>
        </p:nvGrpSpPr>
        <p:grpSpPr bwMode="auto">
          <a:xfrm>
            <a:off x="1168400" y="4857750"/>
            <a:ext cx="2628900" cy="596900"/>
            <a:chOff x="736" y="2356"/>
            <a:chExt cx="1656" cy="376"/>
          </a:xfrm>
        </p:grpSpPr>
        <p:sp>
          <p:nvSpPr>
            <p:cNvPr id="70766" name="Oval 124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0767" name="Oval 125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0662" name="Group 129"/>
          <p:cNvGrpSpPr>
            <a:grpSpLocks/>
          </p:cNvGrpSpPr>
          <p:nvPr/>
        </p:nvGrpSpPr>
        <p:grpSpPr bwMode="auto">
          <a:xfrm>
            <a:off x="5168900" y="4857750"/>
            <a:ext cx="2628900" cy="596900"/>
            <a:chOff x="736" y="2356"/>
            <a:chExt cx="1656" cy="376"/>
          </a:xfrm>
        </p:grpSpPr>
        <p:sp>
          <p:nvSpPr>
            <p:cNvPr id="70764" name="Oval 130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0765" name="Oval 131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0663" name="Group 132"/>
          <p:cNvGrpSpPr>
            <a:grpSpLocks/>
          </p:cNvGrpSpPr>
          <p:nvPr/>
        </p:nvGrpSpPr>
        <p:grpSpPr bwMode="auto">
          <a:xfrm>
            <a:off x="3219450" y="3054350"/>
            <a:ext cx="2628900" cy="596900"/>
            <a:chOff x="736" y="2356"/>
            <a:chExt cx="1656" cy="376"/>
          </a:xfrm>
        </p:grpSpPr>
        <p:sp>
          <p:nvSpPr>
            <p:cNvPr id="70762" name="Oval 133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0763" name="Oval 134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sp>
        <p:nvSpPr>
          <p:cNvPr id="70664" name="Line 135"/>
          <p:cNvSpPr>
            <a:spLocks noChangeShapeType="1"/>
          </p:cNvSpPr>
          <p:nvPr/>
        </p:nvSpPr>
        <p:spPr bwMode="auto">
          <a:xfrm>
            <a:off x="2108200" y="50609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0665" name="Line 136"/>
          <p:cNvSpPr>
            <a:spLocks noChangeShapeType="1"/>
          </p:cNvSpPr>
          <p:nvPr/>
        </p:nvSpPr>
        <p:spPr bwMode="auto">
          <a:xfrm>
            <a:off x="6134100" y="50609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0666" name="Line 137"/>
          <p:cNvSpPr>
            <a:spLocks noChangeShapeType="1"/>
          </p:cNvSpPr>
          <p:nvPr/>
        </p:nvSpPr>
        <p:spPr bwMode="auto">
          <a:xfrm flipH="1">
            <a:off x="2057400" y="52133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0667" name="Line 138"/>
          <p:cNvSpPr>
            <a:spLocks noChangeShapeType="1"/>
          </p:cNvSpPr>
          <p:nvPr/>
        </p:nvSpPr>
        <p:spPr bwMode="auto">
          <a:xfrm flipH="1">
            <a:off x="6083300" y="52133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0668" name="Line 139"/>
          <p:cNvSpPr>
            <a:spLocks noChangeShapeType="1"/>
          </p:cNvSpPr>
          <p:nvPr/>
        </p:nvSpPr>
        <p:spPr bwMode="auto">
          <a:xfrm flipV="1">
            <a:off x="1778000" y="3441700"/>
            <a:ext cx="1816100" cy="158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0669" name="Line 140"/>
          <p:cNvSpPr>
            <a:spLocks noChangeShapeType="1"/>
          </p:cNvSpPr>
          <p:nvPr/>
        </p:nvSpPr>
        <p:spPr bwMode="auto">
          <a:xfrm flipH="1" flipV="1">
            <a:off x="5283200" y="3479800"/>
            <a:ext cx="419100" cy="157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0670" name="Line 141"/>
          <p:cNvSpPr>
            <a:spLocks noChangeShapeType="1"/>
          </p:cNvSpPr>
          <p:nvPr/>
        </p:nvSpPr>
        <p:spPr bwMode="auto">
          <a:xfrm>
            <a:off x="4152900" y="32702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0671" name="Line 142"/>
          <p:cNvSpPr>
            <a:spLocks noChangeShapeType="1"/>
          </p:cNvSpPr>
          <p:nvPr/>
        </p:nvSpPr>
        <p:spPr bwMode="auto">
          <a:xfrm flipH="1">
            <a:off x="4102100" y="34226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0672" name="Group 70"/>
          <p:cNvGrpSpPr>
            <a:grpSpLocks/>
          </p:cNvGrpSpPr>
          <p:nvPr/>
        </p:nvGrpSpPr>
        <p:grpSpPr bwMode="auto">
          <a:xfrm>
            <a:off x="1447800" y="4373563"/>
            <a:ext cx="635000" cy="623887"/>
            <a:chOff x="3192" y="2352"/>
            <a:chExt cx="936" cy="920"/>
          </a:xfrm>
        </p:grpSpPr>
        <p:grpSp>
          <p:nvGrpSpPr>
            <p:cNvPr id="70736" name="Group 71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0750" name="AutoShape 7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0751" name="AutoShape 7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0752" name="Group 7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0760" name="AutoShape 7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61" name="AutoShape 7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0753" name="Group 7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0758" name="AutoShape 7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59" name="AutoShape 7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0754" name="Group 8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0756" name="AutoShape 8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57" name="AutoShape 8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0755" name="Freeform 8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0737" name="Group 84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0738" name="AutoShape 85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0739" name="AutoShape 86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0740" name="Group 87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0748" name="AutoShape 8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49" name="AutoShape 8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0741" name="Group 90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0746" name="AutoShape 9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47" name="AutoShape 9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0742" name="Group 93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0744" name="AutoShape 94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45" name="AutoShape 95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0743" name="Freeform 96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0673" name="Group 143"/>
          <p:cNvGrpSpPr>
            <a:grpSpLocks/>
          </p:cNvGrpSpPr>
          <p:nvPr/>
        </p:nvGrpSpPr>
        <p:grpSpPr bwMode="auto">
          <a:xfrm>
            <a:off x="5422900" y="4398963"/>
            <a:ext cx="635000" cy="623887"/>
            <a:chOff x="3192" y="2352"/>
            <a:chExt cx="936" cy="920"/>
          </a:xfrm>
        </p:grpSpPr>
        <p:grpSp>
          <p:nvGrpSpPr>
            <p:cNvPr id="70710" name="Group 144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0724" name="AutoShape 145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0725" name="AutoShape 146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0726" name="Group 147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0734" name="AutoShape 14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35" name="AutoShape 14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0727" name="Group 150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0732" name="AutoShape 15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33" name="AutoShape 15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0728" name="Group 153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0730" name="AutoShape 154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31" name="AutoShape 155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0729" name="Freeform 156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0711" name="Group 157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0712" name="AutoShape 158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0713" name="AutoShape 159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0714" name="Group 160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0722" name="AutoShape 16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23" name="AutoShape 16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0715" name="Group 163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0720" name="AutoShape 164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21" name="AutoShape 165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0716" name="Group 166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0718" name="AutoShape 167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19" name="AutoShape 168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0717" name="Freeform 169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sp>
        <p:nvSpPr>
          <p:cNvPr id="70674" name="Text Box 197"/>
          <p:cNvSpPr txBox="1">
            <a:spLocks noChangeArrowheads="1"/>
          </p:cNvSpPr>
          <p:nvPr/>
        </p:nvSpPr>
        <p:spPr bwMode="auto">
          <a:xfrm>
            <a:off x="1257015" y="5678488"/>
            <a:ext cx="1175322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winner</a:t>
            </a:r>
          </a:p>
        </p:txBody>
      </p:sp>
      <p:sp>
        <p:nvSpPr>
          <p:cNvPr id="70675" name="Text Box 198"/>
          <p:cNvSpPr txBox="1">
            <a:spLocks noChangeArrowheads="1"/>
          </p:cNvSpPr>
          <p:nvPr/>
        </p:nvSpPr>
        <p:spPr bwMode="auto">
          <a:xfrm>
            <a:off x="2833840" y="5678488"/>
            <a:ext cx="920445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loser</a:t>
            </a:r>
          </a:p>
        </p:txBody>
      </p:sp>
      <p:sp>
        <p:nvSpPr>
          <p:cNvPr id="70676" name="Text Box 199"/>
          <p:cNvSpPr txBox="1">
            <a:spLocks noChangeArrowheads="1"/>
          </p:cNvSpPr>
          <p:nvPr/>
        </p:nvSpPr>
        <p:spPr bwMode="auto">
          <a:xfrm>
            <a:off x="5206715" y="5627688"/>
            <a:ext cx="1175322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winner</a:t>
            </a:r>
          </a:p>
        </p:txBody>
      </p:sp>
      <p:sp>
        <p:nvSpPr>
          <p:cNvPr id="70677" name="Text Box 200"/>
          <p:cNvSpPr txBox="1">
            <a:spLocks noChangeArrowheads="1"/>
          </p:cNvSpPr>
          <p:nvPr/>
        </p:nvSpPr>
        <p:spPr bwMode="auto">
          <a:xfrm>
            <a:off x="6758140" y="5627688"/>
            <a:ext cx="920445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loser</a:t>
            </a:r>
          </a:p>
        </p:txBody>
      </p:sp>
      <p:sp>
        <p:nvSpPr>
          <p:cNvPr id="70678" name="Text Box 201"/>
          <p:cNvSpPr txBox="1">
            <a:spLocks noChangeArrowheads="1"/>
          </p:cNvSpPr>
          <p:nvPr/>
        </p:nvSpPr>
        <p:spPr bwMode="auto">
          <a:xfrm>
            <a:off x="3084227" y="3760788"/>
            <a:ext cx="1175322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winner</a:t>
            </a:r>
          </a:p>
        </p:txBody>
      </p:sp>
      <p:sp>
        <p:nvSpPr>
          <p:cNvPr id="70679" name="Text Box 202"/>
          <p:cNvSpPr txBox="1">
            <a:spLocks noChangeArrowheads="1"/>
          </p:cNvSpPr>
          <p:nvPr/>
        </p:nvSpPr>
        <p:spPr bwMode="auto">
          <a:xfrm>
            <a:off x="5511953" y="3760788"/>
            <a:ext cx="920445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loser</a:t>
            </a:r>
          </a:p>
        </p:txBody>
      </p:sp>
      <p:sp>
        <p:nvSpPr>
          <p:cNvPr id="70680" name="Oval 205"/>
          <p:cNvSpPr>
            <a:spLocks noChangeArrowheads="1"/>
          </p:cNvSpPr>
          <p:nvPr/>
        </p:nvSpPr>
        <p:spPr bwMode="auto">
          <a:xfrm>
            <a:off x="3194050" y="1746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70681" name="Line 206"/>
          <p:cNvSpPr>
            <a:spLocks noChangeShapeType="1"/>
          </p:cNvSpPr>
          <p:nvPr/>
        </p:nvSpPr>
        <p:spPr bwMode="auto">
          <a:xfrm flipV="1">
            <a:off x="3746500" y="2387600"/>
            <a:ext cx="0" cy="952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0682" name="Group 170"/>
          <p:cNvGrpSpPr>
            <a:grpSpLocks/>
          </p:cNvGrpSpPr>
          <p:nvPr/>
        </p:nvGrpSpPr>
        <p:grpSpPr bwMode="auto">
          <a:xfrm>
            <a:off x="3454400" y="2659063"/>
            <a:ext cx="635000" cy="623887"/>
            <a:chOff x="3192" y="2352"/>
            <a:chExt cx="936" cy="920"/>
          </a:xfrm>
        </p:grpSpPr>
        <p:grpSp>
          <p:nvGrpSpPr>
            <p:cNvPr id="70684" name="Group 171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0698" name="AutoShape 17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0699" name="AutoShape 17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0700" name="Group 17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0708" name="AutoShape 17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09" name="AutoShape 17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0701" name="Group 17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0706" name="AutoShape 17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07" name="AutoShape 17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0702" name="Group 18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0704" name="AutoShape 18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705" name="AutoShape 18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0703" name="Freeform 18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0685" name="Group 184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0686" name="AutoShape 185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0687" name="AutoShape 186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0688" name="Group 187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0696" name="AutoShape 18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697" name="AutoShape 18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0689" name="Group 190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0694" name="AutoShape 19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695" name="AutoShape 19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0690" name="Group 193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0692" name="AutoShape 194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0693" name="AutoShape 195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0691" name="Freeform 196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sp>
        <p:nvSpPr>
          <p:cNvPr id="70683" name="Text Box 207"/>
          <p:cNvSpPr txBox="1">
            <a:spLocks noChangeArrowheads="1"/>
          </p:cNvSpPr>
          <p:nvPr/>
        </p:nvSpPr>
        <p:spPr bwMode="auto">
          <a:xfrm>
            <a:off x="4470400" y="1728788"/>
            <a:ext cx="7937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root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39C3127-EEB4-41B0-99DA-BCBA48DDFF56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Tree Barriers</a:t>
            </a:r>
          </a:p>
        </p:txBody>
      </p:sp>
      <p:grpSp>
        <p:nvGrpSpPr>
          <p:cNvPr id="71685" name="Group 3"/>
          <p:cNvGrpSpPr>
            <a:grpSpLocks/>
          </p:cNvGrpSpPr>
          <p:nvPr/>
        </p:nvGrpSpPr>
        <p:grpSpPr bwMode="auto">
          <a:xfrm>
            <a:off x="1168400" y="3765550"/>
            <a:ext cx="2628900" cy="596900"/>
            <a:chOff x="736" y="2356"/>
            <a:chExt cx="1656" cy="376"/>
          </a:xfrm>
        </p:grpSpPr>
        <p:sp>
          <p:nvSpPr>
            <p:cNvPr id="71812" name="Oval 4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1813" name="Oval 5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1686" name="Group 6"/>
          <p:cNvGrpSpPr>
            <a:grpSpLocks/>
          </p:cNvGrpSpPr>
          <p:nvPr/>
        </p:nvGrpSpPr>
        <p:grpSpPr bwMode="auto">
          <a:xfrm>
            <a:off x="5168900" y="3765550"/>
            <a:ext cx="2628900" cy="596900"/>
            <a:chOff x="736" y="2356"/>
            <a:chExt cx="1656" cy="376"/>
          </a:xfrm>
        </p:grpSpPr>
        <p:sp>
          <p:nvSpPr>
            <p:cNvPr id="71810" name="Oval 7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1811" name="Oval 8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1687" name="Group 9"/>
          <p:cNvGrpSpPr>
            <a:grpSpLocks/>
          </p:cNvGrpSpPr>
          <p:nvPr/>
        </p:nvGrpSpPr>
        <p:grpSpPr bwMode="auto">
          <a:xfrm>
            <a:off x="3219450" y="1962150"/>
            <a:ext cx="2628900" cy="596900"/>
            <a:chOff x="736" y="2356"/>
            <a:chExt cx="1656" cy="376"/>
          </a:xfrm>
        </p:grpSpPr>
        <p:sp>
          <p:nvSpPr>
            <p:cNvPr id="71808" name="Oval 10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1809" name="Oval 11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sp>
        <p:nvSpPr>
          <p:cNvPr id="71688" name="Line 12"/>
          <p:cNvSpPr>
            <a:spLocks noChangeShapeType="1"/>
          </p:cNvSpPr>
          <p:nvPr/>
        </p:nvSpPr>
        <p:spPr bwMode="auto">
          <a:xfrm>
            <a:off x="21082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1689" name="Line 13"/>
          <p:cNvSpPr>
            <a:spLocks noChangeShapeType="1"/>
          </p:cNvSpPr>
          <p:nvPr/>
        </p:nvSpPr>
        <p:spPr bwMode="auto">
          <a:xfrm>
            <a:off x="61341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1690" name="Line 14"/>
          <p:cNvSpPr>
            <a:spLocks noChangeShapeType="1"/>
          </p:cNvSpPr>
          <p:nvPr/>
        </p:nvSpPr>
        <p:spPr bwMode="auto">
          <a:xfrm flipH="1">
            <a:off x="20574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1691" name="Line 15"/>
          <p:cNvSpPr>
            <a:spLocks noChangeShapeType="1"/>
          </p:cNvSpPr>
          <p:nvPr/>
        </p:nvSpPr>
        <p:spPr bwMode="auto">
          <a:xfrm flipH="1">
            <a:off x="60833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1692" name="Line 16"/>
          <p:cNvSpPr>
            <a:spLocks noChangeShapeType="1"/>
          </p:cNvSpPr>
          <p:nvPr/>
        </p:nvSpPr>
        <p:spPr bwMode="auto">
          <a:xfrm flipV="1">
            <a:off x="1778000" y="2349500"/>
            <a:ext cx="1816100" cy="158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1693" name="Line 17"/>
          <p:cNvSpPr>
            <a:spLocks noChangeShapeType="1"/>
          </p:cNvSpPr>
          <p:nvPr/>
        </p:nvSpPr>
        <p:spPr bwMode="auto">
          <a:xfrm flipH="1" flipV="1">
            <a:off x="5283200" y="2387600"/>
            <a:ext cx="419100" cy="157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1694" name="Line 18"/>
          <p:cNvSpPr>
            <a:spLocks noChangeShapeType="1"/>
          </p:cNvSpPr>
          <p:nvPr/>
        </p:nvSpPr>
        <p:spPr bwMode="auto">
          <a:xfrm>
            <a:off x="4152900" y="21780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1695" name="Line 19"/>
          <p:cNvSpPr>
            <a:spLocks noChangeShapeType="1"/>
          </p:cNvSpPr>
          <p:nvPr/>
        </p:nvSpPr>
        <p:spPr bwMode="auto">
          <a:xfrm flipH="1">
            <a:off x="4102100" y="23304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1696" name="Group 20"/>
          <p:cNvGrpSpPr>
            <a:grpSpLocks/>
          </p:cNvGrpSpPr>
          <p:nvPr/>
        </p:nvGrpSpPr>
        <p:grpSpPr bwMode="auto">
          <a:xfrm>
            <a:off x="1447800" y="3281363"/>
            <a:ext cx="635000" cy="623887"/>
            <a:chOff x="3192" y="2352"/>
            <a:chExt cx="936" cy="920"/>
          </a:xfrm>
        </p:grpSpPr>
        <p:grpSp>
          <p:nvGrpSpPr>
            <p:cNvPr id="71782" name="Group 21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1796" name="AutoShape 2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1797" name="AutoShape 2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1798" name="Group 2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1806" name="AutoShape 2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807" name="AutoShape 2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1799" name="Group 2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1804" name="AutoShape 2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805" name="AutoShape 2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1800" name="Group 3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1802" name="AutoShape 3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803" name="AutoShape 3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1801" name="Freeform 3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1783" name="Group 34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1784" name="AutoShape 35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1785" name="AutoShape 36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1786" name="Group 37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1794" name="AutoShape 3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95" name="AutoShape 3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1787" name="Group 40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1792" name="AutoShape 4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93" name="AutoShape 4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1788" name="Group 43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1790" name="AutoShape 44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91" name="AutoShape 45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1789" name="Freeform 46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1697" name="Group 47"/>
          <p:cNvGrpSpPr>
            <a:grpSpLocks/>
          </p:cNvGrpSpPr>
          <p:nvPr/>
        </p:nvGrpSpPr>
        <p:grpSpPr bwMode="auto">
          <a:xfrm>
            <a:off x="5422900" y="3306763"/>
            <a:ext cx="635000" cy="623887"/>
            <a:chOff x="3192" y="2352"/>
            <a:chExt cx="936" cy="920"/>
          </a:xfrm>
        </p:grpSpPr>
        <p:grpSp>
          <p:nvGrpSpPr>
            <p:cNvPr id="71756" name="Group 48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1770" name="AutoShape 4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1771" name="AutoShape 5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1772" name="Group 5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1780" name="AutoShape 5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81" name="AutoShape 5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1773" name="Group 5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1778" name="AutoShape 5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79" name="AutoShape 5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1774" name="Group 5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1776" name="AutoShape 5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77" name="AutoShape 5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1775" name="Freeform 6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1757" name="Group 61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1758" name="AutoShape 6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1759" name="AutoShape 6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1760" name="Group 6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1768" name="AutoShape 6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69" name="AutoShape 6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1761" name="Group 6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1766" name="AutoShape 6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67" name="AutoShape 6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1762" name="Group 7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1764" name="AutoShape 7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65" name="AutoShape 7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1763" name="Freeform 7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1698" name="Group 74"/>
          <p:cNvGrpSpPr>
            <a:grpSpLocks/>
          </p:cNvGrpSpPr>
          <p:nvPr/>
        </p:nvGrpSpPr>
        <p:grpSpPr bwMode="auto">
          <a:xfrm>
            <a:off x="3454400" y="1566863"/>
            <a:ext cx="635000" cy="623887"/>
            <a:chOff x="3192" y="2352"/>
            <a:chExt cx="936" cy="920"/>
          </a:xfrm>
        </p:grpSpPr>
        <p:grpSp>
          <p:nvGrpSpPr>
            <p:cNvPr id="71730" name="Group 75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1744" name="AutoShape 76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1745" name="AutoShape 77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1746" name="Group 78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1754" name="AutoShape 79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55" name="AutoShape 80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1747" name="Group 81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1752" name="AutoShape 8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53" name="AutoShape 8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1748" name="Group 84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1750" name="AutoShape 8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51" name="AutoShape 8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1749" name="Freeform 87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1731" name="Group 88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1732" name="AutoShape 8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1733" name="AutoShape 9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1734" name="Group 9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1742" name="AutoShape 9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43" name="AutoShape 9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1735" name="Group 9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1740" name="AutoShape 9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41" name="AutoShape 9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1736" name="Group 9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1738" name="AutoShape 9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1739" name="AutoShape 9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1737" name="Freeform 10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1680" name="Group 127"/>
          <p:cNvGrpSpPr>
            <a:grpSpLocks/>
          </p:cNvGrpSpPr>
          <p:nvPr/>
        </p:nvGrpSpPr>
        <p:grpSpPr bwMode="auto">
          <a:xfrm>
            <a:off x="5197475" y="3276600"/>
            <a:ext cx="606425" cy="787400"/>
            <a:chOff x="1728" y="1008"/>
            <a:chExt cx="1776" cy="2304"/>
          </a:xfrm>
        </p:grpSpPr>
        <p:sp>
          <p:nvSpPr>
            <p:cNvPr id="71726" name="Rectangle 128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27" name="Rectangle 129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28" name="Line 130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29" name="Rectangle 131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1681" name="Group 132"/>
          <p:cNvGrpSpPr>
            <a:grpSpLocks/>
          </p:cNvGrpSpPr>
          <p:nvPr/>
        </p:nvGrpSpPr>
        <p:grpSpPr bwMode="auto">
          <a:xfrm>
            <a:off x="6645275" y="3213100"/>
            <a:ext cx="606425" cy="787400"/>
            <a:chOff x="1728" y="1008"/>
            <a:chExt cx="1776" cy="2304"/>
          </a:xfrm>
        </p:grpSpPr>
        <p:sp>
          <p:nvSpPr>
            <p:cNvPr id="71722" name="Rectangle 133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23" name="Rectangle 134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1724" name="Line 135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25" name="Rectangle 136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2" name="Group 137"/>
          <p:cNvGrpSpPr>
            <a:grpSpLocks/>
          </p:cNvGrpSpPr>
          <p:nvPr/>
        </p:nvGrpSpPr>
        <p:grpSpPr bwMode="auto">
          <a:xfrm>
            <a:off x="4689475" y="1485900"/>
            <a:ext cx="606425" cy="787400"/>
            <a:chOff x="1728" y="1008"/>
            <a:chExt cx="1776" cy="2304"/>
          </a:xfrm>
        </p:grpSpPr>
        <p:sp>
          <p:nvSpPr>
            <p:cNvPr id="71718" name="Rectangle 138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19" name="Rectangle 139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20" name="Line 140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21" name="Rectangle 141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3" name="Group 142"/>
          <p:cNvGrpSpPr>
            <a:grpSpLocks/>
          </p:cNvGrpSpPr>
          <p:nvPr/>
        </p:nvGrpSpPr>
        <p:grpSpPr bwMode="auto">
          <a:xfrm>
            <a:off x="3190875" y="1447800"/>
            <a:ext cx="606425" cy="787400"/>
            <a:chOff x="1728" y="1008"/>
            <a:chExt cx="1776" cy="2304"/>
          </a:xfrm>
        </p:grpSpPr>
        <p:sp>
          <p:nvSpPr>
            <p:cNvPr id="71714" name="Rectangle 143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15" name="Rectangle 144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16" name="Line 145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17" name="Rectangle 146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4" name="Group 147"/>
          <p:cNvGrpSpPr>
            <a:grpSpLocks/>
          </p:cNvGrpSpPr>
          <p:nvPr/>
        </p:nvGrpSpPr>
        <p:grpSpPr bwMode="auto">
          <a:xfrm>
            <a:off x="2606675" y="3263900"/>
            <a:ext cx="606425" cy="787400"/>
            <a:chOff x="1728" y="1008"/>
            <a:chExt cx="1776" cy="2304"/>
          </a:xfrm>
        </p:grpSpPr>
        <p:sp>
          <p:nvSpPr>
            <p:cNvPr id="71710" name="Rectangle 148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11" name="Rectangle 149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12" name="Line 150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13" name="Rectangle 151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5" name="Group 152"/>
          <p:cNvGrpSpPr>
            <a:grpSpLocks/>
          </p:cNvGrpSpPr>
          <p:nvPr/>
        </p:nvGrpSpPr>
        <p:grpSpPr bwMode="auto">
          <a:xfrm>
            <a:off x="1184275" y="3200400"/>
            <a:ext cx="606425" cy="787400"/>
            <a:chOff x="1728" y="1008"/>
            <a:chExt cx="1776" cy="2304"/>
          </a:xfrm>
        </p:grpSpPr>
        <p:sp>
          <p:nvSpPr>
            <p:cNvPr id="71706" name="Rectangle 153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07" name="Rectangle 154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08" name="Line 155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1709" name="Rectangle 156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53853" name="Text Box 157"/>
          <p:cNvSpPr txBox="1">
            <a:spLocks noChangeArrowheads="1"/>
          </p:cNvSpPr>
          <p:nvPr/>
        </p:nvSpPr>
        <p:spPr bwMode="auto">
          <a:xfrm>
            <a:off x="3060700" y="4876800"/>
            <a:ext cx="2151063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All flags blue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53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7270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03F10FC-50C7-4060-8115-4D006F028AC0}" type="slidenum">
              <a:rPr lang="en-US" smtClean="0"/>
              <a:pPr/>
              <a:t>68</a:t>
            </a:fld>
            <a:endParaRPr lang="en-US"/>
          </a:p>
        </p:txBody>
      </p:sp>
      <p:grpSp>
        <p:nvGrpSpPr>
          <p:cNvPr id="72708" name="Group 3"/>
          <p:cNvGrpSpPr>
            <a:grpSpLocks/>
          </p:cNvGrpSpPr>
          <p:nvPr/>
        </p:nvGrpSpPr>
        <p:grpSpPr bwMode="auto">
          <a:xfrm>
            <a:off x="1168400" y="3765550"/>
            <a:ext cx="2628900" cy="596900"/>
            <a:chOff x="736" y="2356"/>
            <a:chExt cx="1656" cy="376"/>
          </a:xfrm>
        </p:grpSpPr>
        <p:sp>
          <p:nvSpPr>
            <p:cNvPr id="72852" name="Oval 4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2853" name="Oval 5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2709" name="Group 20"/>
          <p:cNvGrpSpPr>
            <a:grpSpLocks/>
          </p:cNvGrpSpPr>
          <p:nvPr/>
        </p:nvGrpSpPr>
        <p:grpSpPr bwMode="auto">
          <a:xfrm>
            <a:off x="1447800" y="3281363"/>
            <a:ext cx="635000" cy="623887"/>
            <a:chOff x="3192" y="2352"/>
            <a:chExt cx="936" cy="920"/>
          </a:xfrm>
        </p:grpSpPr>
        <p:grpSp>
          <p:nvGrpSpPr>
            <p:cNvPr id="72826" name="Group 21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2840" name="AutoShape 2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2841" name="AutoShape 2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2842" name="Group 2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2850" name="AutoShape 2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851" name="AutoShape 2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2843" name="Group 2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2848" name="AutoShape 2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849" name="AutoShape 2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2844" name="Group 3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2846" name="AutoShape 3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847" name="AutoShape 3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2845" name="Freeform 3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2827" name="Group 34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2828" name="AutoShape 35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2829" name="AutoShape 36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2830" name="Group 37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2838" name="AutoShape 3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839" name="AutoShape 3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2831" name="Group 40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2836" name="AutoShape 4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837" name="AutoShape 4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2832" name="Group 43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2834" name="AutoShape 44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835" name="AutoShape 45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2833" name="Freeform 46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2710" name="Group 159"/>
          <p:cNvGrpSpPr>
            <a:grpSpLocks/>
          </p:cNvGrpSpPr>
          <p:nvPr/>
        </p:nvGrpSpPr>
        <p:grpSpPr bwMode="auto">
          <a:xfrm>
            <a:off x="1019175" y="3289300"/>
            <a:ext cx="606425" cy="787400"/>
            <a:chOff x="1728" y="1008"/>
            <a:chExt cx="1776" cy="2304"/>
          </a:xfrm>
        </p:grpSpPr>
        <p:sp>
          <p:nvSpPr>
            <p:cNvPr id="72822" name="Rectangle 160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823" name="Rectangle 161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824" name="Line 162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825" name="Rectangle 163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727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Tree Barriers</a:t>
            </a:r>
          </a:p>
        </p:txBody>
      </p:sp>
      <p:grpSp>
        <p:nvGrpSpPr>
          <p:cNvPr id="72712" name="Group 6"/>
          <p:cNvGrpSpPr>
            <a:grpSpLocks/>
          </p:cNvGrpSpPr>
          <p:nvPr/>
        </p:nvGrpSpPr>
        <p:grpSpPr bwMode="auto">
          <a:xfrm>
            <a:off x="5168900" y="3765550"/>
            <a:ext cx="2628900" cy="596900"/>
            <a:chOff x="736" y="2356"/>
            <a:chExt cx="1656" cy="376"/>
          </a:xfrm>
        </p:grpSpPr>
        <p:sp>
          <p:nvSpPr>
            <p:cNvPr id="72820" name="Oval 7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2821" name="Oval 8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2713" name="Group 9"/>
          <p:cNvGrpSpPr>
            <a:grpSpLocks/>
          </p:cNvGrpSpPr>
          <p:nvPr/>
        </p:nvGrpSpPr>
        <p:grpSpPr bwMode="auto">
          <a:xfrm>
            <a:off x="3219450" y="1962150"/>
            <a:ext cx="2628900" cy="596900"/>
            <a:chOff x="736" y="2356"/>
            <a:chExt cx="1656" cy="376"/>
          </a:xfrm>
        </p:grpSpPr>
        <p:sp>
          <p:nvSpPr>
            <p:cNvPr id="72818" name="Oval 10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2819" name="Oval 11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sp>
        <p:nvSpPr>
          <p:cNvPr id="72714" name="Line 12"/>
          <p:cNvSpPr>
            <a:spLocks noChangeShapeType="1"/>
          </p:cNvSpPr>
          <p:nvPr/>
        </p:nvSpPr>
        <p:spPr bwMode="auto">
          <a:xfrm>
            <a:off x="21082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2715" name="Line 13"/>
          <p:cNvSpPr>
            <a:spLocks noChangeShapeType="1"/>
          </p:cNvSpPr>
          <p:nvPr/>
        </p:nvSpPr>
        <p:spPr bwMode="auto">
          <a:xfrm>
            <a:off x="61341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2716" name="Line 14"/>
          <p:cNvSpPr>
            <a:spLocks noChangeShapeType="1"/>
          </p:cNvSpPr>
          <p:nvPr/>
        </p:nvSpPr>
        <p:spPr bwMode="auto">
          <a:xfrm flipH="1">
            <a:off x="20574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2717" name="Line 15"/>
          <p:cNvSpPr>
            <a:spLocks noChangeShapeType="1"/>
          </p:cNvSpPr>
          <p:nvPr/>
        </p:nvSpPr>
        <p:spPr bwMode="auto">
          <a:xfrm flipH="1">
            <a:off x="60833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2718" name="Line 16"/>
          <p:cNvSpPr>
            <a:spLocks noChangeShapeType="1"/>
          </p:cNvSpPr>
          <p:nvPr/>
        </p:nvSpPr>
        <p:spPr bwMode="auto">
          <a:xfrm flipV="1">
            <a:off x="1778000" y="2349500"/>
            <a:ext cx="1816100" cy="158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2719" name="Line 17"/>
          <p:cNvSpPr>
            <a:spLocks noChangeShapeType="1"/>
          </p:cNvSpPr>
          <p:nvPr/>
        </p:nvSpPr>
        <p:spPr bwMode="auto">
          <a:xfrm flipH="1" flipV="1">
            <a:off x="5283200" y="2387600"/>
            <a:ext cx="419100" cy="157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2720" name="Line 18"/>
          <p:cNvSpPr>
            <a:spLocks noChangeShapeType="1"/>
          </p:cNvSpPr>
          <p:nvPr/>
        </p:nvSpPr>
        <p:spPr bwMode="auto">
          <a:xfrm>
            <a:off x="4152900" y="21780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2721" name="Line 19"/>
          <p:cNvSpPr>
            <a:spLocks noChangeShapeType="1"/>
          </p:cNvSpPr>
          <p:nvPr/>
        </p:nvSpPr>
        <p:spPr bwMode="auto">
          <a:xfrm flipH="1">
            <a:off x="4102100" y="23304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2722" name="Group 47"/>
          <p:cNvGrpSpPr>
            <a:grpSpLocks/>
          </p:cNvGrpSpPr>
          <p:nvPr/>
        </p:nvGrpSpPr>
        <p:grpSpPr bwMode="auto">
          <a:xfrm>
            <a:off x="5422900" y="3306763"/>
            <a:ext cx="635000" cy="623887"/>
            <a:chOff x="3192" y="2352"/>
            <a:chExt cx="936" cy="920"/>
          </a:xfrm>
        </p:grpSpPr>
        <p:grpSp>
          <p:nvGrpSpPr>
            <p:cNvPr id="72792" name="Group 48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2806" name="AutoShape 4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2807" name="AutoShape 5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2808" name="Group 5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2816" name="AutoShape 5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817" name="AutoShape 5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2" name="Group 5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2814" name="AutoShape 5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815" name="AutoShape 5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3" name="Group 5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2812" name="AutoShape 5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813" name="AutoShape 5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2811" name="Freeform 6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2793" name="Group 61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2794" name="AutoShape 6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2795" name="AutoShape 6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2796" name="Group 6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2804" name="AutoShape 6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805" name="AutoShape 6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2797" name="Group 6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2802" name="AutoShape 6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803" name="AutoShape 6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2798" name="Group 7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2800" name="AutoShape 7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801" name="AutoShape 7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2799" name="Freeform 7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2723" name="Group 74"/>
          <p:cNvGrpSpPr>
            <a:grpSpLocks/>
          </p:cNvGrpSpPr>
          <p:nvPr/>
        </p:nvGrpSpPr>
        <p:grpSpPr bwMode="auto">
          <a:xfrm>
            <a:off x="3454400" y="1566863"/>
            <a:ext cx="635000" cy="623887"/>
            <a:chOff x="3192" y="2352"/>
            <a:chExt cx="936" cy="920"/>
          </a:xfrm>
        </p:grpSpPr>
        <p:grpSp>
          <p:nvGrpSpPr>
            <p:cNvPr id="72766" name="Group 75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2780" name="AutoShape 76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2781" name="AutoShape 77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2782" name="Group 78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2790" name="AutoShape 79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791" name="AutoShape 80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2783" name="Group 81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2788" name="AutoShape 8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789" name="AutoShape 8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2784" name="Group 84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2786" name="AutoShape 8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787" name="AutoShape 8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2785" name="Freeform 87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2767" name="Group 88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2768" name="AutoShape 8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2769" name="AutoShape 9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2770" name="Group 9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2778" name="AutoShape 9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779" name="AutoShape 9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2771" name="Group 9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2776" name="AutoShape 9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777" name="AutoShape 9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2772" name="Group 9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2774" name="AutoShape 9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2775" name="AutoShape 9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2773" name="Freeform 10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2809" name="Group 107"/>
          <p:cNvGrpSpPr>
            <a:grpSpLocks/>
          </p:cNvGrpSpPr>
          <p:nvPr/>
        </p:nvGrpSpPr>
        <p:grpSpPr bwMode="auto">
          <a:xfrm>
            <a:off x="2951163" y="4787900"/>
            <a:ext cx="1219200" cy="1090613"/>
            <a:chOff x="1584" y="816"/>
            <a:chExt cx="912" cy="816"/>
          </a:xfrm>
        </p:grpSpPr>
        <p:sp>
          <p:nvSpPr>
            <p:cNvPr id="72757" name="Freeform 10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58" name="Freeform 10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59" name="Freeform 11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60" name="Freeform 11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61" name="Freeform 11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62" name="Freeform 11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63" name="Freeform 11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64" name="Freeform 11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65" name="Freeform 11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48708" name="AutoShape 132"/>
          <p:cNvSpPr>
            <a:spLocks noChangeArrowheads="1"/>
          </p:cNvSpPr>
          <p:nvPr/>
        </p:nvSpPr>
        <p:spPr bwMode="auto">
          <a:xfrm>
            <a:off x="1346200" y="3975100"/>
            <a:ext cx="495300" cy="317500"/>
          </a:xfrm>
          <a:prstGeom prst="wedgeRoundRectCallout">
            <a:avLst>
              <a:gd name="adj1" fmla="val 279486"/>
              <a:gd name="adj2" fmla="val 194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2810" name="Group 127"/>
          <p:cNvGrpSpPr>
            <a:grpSpLocks/>
          </p:cNvGrpSpPr>
          <p:nvPr/>
        </p:nvGrpSpPr>
        <p:grpSpPr bwMode="auto">
          <a:xfrm>
            <a:off x="1019175" y="3302000"/>
            <a:ext cx="606425" cy="787400"/>
            <a:chOff x="1728" y="1008"/>
            <a:chExt cx="1776" cy="2304"/>
          </a:xfrm>
        </p:grpSpPr>
        <p:sp>
          <p:nvSpPr>
            <p:cNvPr id="72753" name="Rectangle 128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54" name="Rectangle 129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55" name="Line 130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56" name="Rectangle 131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48709" name="Text Box 133"/>
          <p:cNvSpPr txBox="1">
            <a:spLocks noChangeArrowheads="1"/>
          </p:cNvSpPr>
          <p:nvPr/>
        </p:nvSpPr>
        <p:spPr bwMode="auto">
          <a:xfrm>
            <a:off x="4533900" y="4745038"/>
            <a:ext cx="2933700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Loser thread sets winner’s flag</a:t>
            </a:r>
          </a:p>
        </p:txBody>
      </p:sp>
      <p:grpSp>
        <p:nvGrpSpPr>
          <p:cNvPr id="72728" name="Group 134"/>
          <p:cNvGrpSpPr>
            <a:grpSpLocks/>
          </p:cNvGrpSpPr>
          <p:nvPr/>
        </p:nvGrpSpPr>
        <p:grpSpPr bwMode="auto">
          <a:xfrm>
            <a:off x="5197475" y="3276600"/>
            <a:ext cx="606425" cy="787400"/>
            <a:chOff x="1728" y="1008"/>
            <a:chExt cx="1776" cy="2304"/>
          </a:xfrm>
        </p:grpSpPr>
        <p:sp>
          <p:nvSpPr>
            <p:cNvPr id="72749" name="Rectangle 135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50" name="Rectangle 136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51" name="Line 137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52" name="Rectangle 138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2729" name="Group 139"/>
          <p:cNvGrpSpPr>
            <a:grpSpLocks/>
          </p:cNvGrpSpPr>
          <p:nvPr/>
        </p:nvGrpSpPr>
        <p:grpSpPr bwMode="auto">
          <a:xfrm>
            <a:off x="6645275" y="3213100"/>
            <a:ext cx="606425" cy="787400"/>
            <a:chOff x="1728" y="1008"/>
            <a:chExt cx="1776" cy="2304"/>
          </a:xfrm>
        </p:grpSpPr>
        <p:sp>
          <p:nvSpPr>
            <p:cNvPr id="72745" name="Rectangle 140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46" name="Rectangle 141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2747" name="Line 142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48" name="Rectangle 143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2730" name="Group 144"/>
          <p:cNvGrpSpPr>
            <a:grpSpLocks/>
          </p:cNvGrpSpPr>
          <p:nvPr/>
        </p:nvGrpSpPr>
        <p:grpSpPr bwMode="auto">
          <a:xfrm>
            <a:off x="4689475" y="1485900"/>
            <a:ext cx="606425" cy="787400"/>
            <a:chOff x="1728" y="1008"/>
            <a:chExt cx="1776" cy="2304"/>
          </a:xfrm>
        </p:grpSpPr>
        <p:sp>
          <p:nvSpPr>
            <p:cNvPr id="72741" name="Rectangle 145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42" name="Rectangle 146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43" name="Line 147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44" name="Rectangle 148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2731" name="Group 149"/>
          <p:cNvGrpSpPr>
            <a:grpSpLocks/>
          </p:cNvGrpSpPr>
          <p:nvPr/>
        </p:nvGrpSpPr>
        <p:grpSpPr bwMode="auto">
          <a:xfrm>
            <a:off x="3190875" y="1447800"/>
            <a:ext cx="606425" cy="787400"/>
            <a:chOff x="1728" y="1008"/>
            <a:chExt cx="1776" cy="2304"/>
          </a:xfrm>
        </p:grpSpPr>
        <p:sp>
          <p:nvSpPr>
            <p:cNvPr id="72737" name="Rectangle 150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38" name="Rectangle 151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39" name="Line 152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40" name="Rectangle 153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2732" name="Group 154"/>
          <p:cNvGrpSpPr>
            <a:grpSpLocks/>
          </p:cNvGrpSpPr>
          <p:nvPr/>
        </p:nvGrpSpPr>
        <p:grpSpPr bwMode="auto">
          <a:xfrm>
            <a:off x="2606675" y="3263900"/>
            <a:ext cx="606425" cy="787400"/>
            <a:chOff x="1728" y="1008"/>
            <a:chExt cx="1776" cy="2304"/>
          </a:xfrm>
        </p:grpSpPr>
        <p:sp>
          <p:nvSpPr>
            <p:cNvPr id="72733" name="Rectangle 155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34" name="Rectangle 156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35" name="Line 157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2736" name="Rectangle 158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4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4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08" grpId="0" animBg="1"/>
      <p:bldP spid="104870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61AEBEB-701D-421F-AC38-BAE87BA62992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Tree Barriers</a:t>
            </a:r>
          </a:p>
        </p:txBody>
      </p:sp>
      <p:grpSp>
        <p:nvGrpSpPr>
          <p:cNvPr id="73733" name="Group 3"/>
          <p:cNvGrpSpPr>
            <a:grpSpLocks/>
          </p:cNvGrpSpPr>
          <p:nvPr/>
        </p:nvGrpSpPr>
        <p:grpSpPr bwMode="auto">
          <a:xfrm>
            <a:off x="1168400" y="3765550"/>
            <a:ext cx="2628900" cy="596900"/>
            <a:chOff x="736" y="2356"/>
            <a:chExt cx="1656" cy="376"/>
          </a:xfrm>
        </p:grpSpPr>
        <p:sp>
          <p:nvSpPr>
            <p:cNvPr id="73871" name="Oval 4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3872" name="Oval 5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3734" name="Group 6"/>
          <p:cNvGrpSpPr>
            <a:grpSpLocks/>
          </p:cNvGrpSpPr>
          <p:nvPr/>
        </p:nvGrpSpPr>
        <p:grpSpPr bwMode="auto">
          <a:xfrm>
            <a:off x="5168900" y="3765550"/>
            <a:ext cx="2628900" cy="596900"/>
            <a:chOff x="736" y="2356"/>
            <a:chExt cx="1656" cy="376"/>
          </a:xfrm>
        </p:grpSpPr>
        <p:sp>
          <p:nvSpPr>
            <p:cNvPr id="73869" name="Oval 7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3870" name="Oval 8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3735" name="Group 9"/>
          <p:cNvGrpSpPr>
            <a:grpSpLocks/>
          </p:cNvGrpSpPr>
          <p:nvPr/>
        </p:nvGrpSpPr>
        <p:grpSpPr bwMode="auto">
          <a:xfrm>
            <a:off x="3219450" y="1962150"/>
            <a:ext cx="2628900" cy="596900"/>
            <a:chOff x="736" y="2356"/>
            <a:chExt cx="1656" cy="376"/>
          </a:xfrm>
        </p:grpSpPr>
        <p:sp>
          <p:nvSpPr>
            <p:cNvPr id="73867" name="Oval 10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3868" name="Oval 11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sp>
        <p:nvSpPr>
          <p:cNvPr id="73736" name="Line 12"/>
          <p:cNvSpPr>
            <a:spLocks noChangeShapeType="1"/>
          </p:cNvSpPr>
          <p:nvPr/>
        </p:nvSpPr>
        <p:spPr bwMode="auto">
          <a:xfrm>
            <a:off x="21082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3737" name="Line 13"/>
          <p:cNvSpPr>
            <a:spLocks noChangeShapeType="1"/>
          </p:cNvSpPr>
          <p:nvPr/>
        </p:nvSpPr>
        <p:spPr bwMode="auto">
          <a:xfrm>
            <a:off x="61341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3738" name="Line 14"/>
          <p:cNvSpPr>
            <a:spLocks noChangeShapeType="1"/>
          </p:cNvSpPr>
          <p:nvPr/>
        </p:nvSpPr>
        <p:spPr bwMode="auto">
          <a:xfrm flipH="1">
            <a:off x="20574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3739" name="Line 15"/>
          <p:cNvSpPr>
            <a:spLocks noChangeShapeType="1"/>
          </p:cNvSpPr>
          <p:nvPr/>
        </p:nvSpPr>
        <p:spPr bwMode="auto">
          <a:xfrm flipH="1">
            <a:off x="60833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3740" name="Line 16"/>
          <p:cNvSpPr>
            <a:spLocks noChangeShapeType="1"/>
          </p:cNvSpPr>
          <p:nvPr/>
        </p:nvSpPr>
        <p:spPr bwMode="auto">
          <a:xfrm flipV="1">
            <a:off x="1778000" y="2349500"/>
            <a:ext cx="1816100" cy="158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3741" name="Line 17"/>
          <p:cNvSpPr>
            <a:spLocks noChangeShapeType="1"/>
          </p:cNvSpPr>
          <p:nvPr/>
        </p:nvSpPr>
        <p:spPr bwMode="auto">
          <a:xfrm flipH="1" flipV="1">
            <a:off x="5283200" y="2387600"/>
            <a:ext cx="419100" cy="157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3742" name="Line 18"/>
          <p:cNvSpPr>
            <a:spLocks noChangeShapeType="1"/>
          </p:cNvSpPr>
          <p:nvPr/>
        </p:nvSpPr>
        <p:spPr bwMode="auto">
          <a:xfrm>
            <a:off x="4152900" y="21780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3743" name="Line 19"/>
          <p:cNvSpPr>
            <a:spLocks noChangeShapeType="1"/>
          </p:cNvSpPr>
          <p:nvPr/>
        </p:nvSpPr>
        <p:spPr bwMode="auto">
          <a:xfrm flipH="1">
            <a:off x="4102100" y="23304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3744" name="Group 20"/>
          <p:cNvGrpSpPr>
            <a:grpSpLocks/>
          </p:cNvGrpSpPr>
          <p:nvPr/>
        </p:nvGrpSpPr>
        <p:grpSpPr bwMode="auto">
          <a:xfrm>
            <a:off x="1447800" y="3281363"/>
            <a:ext cx="635000" cy="623887"/>
            <a:chOff x="3192" y="2352"/>
            <a:chExt cx="936" cy="920"/>
          </a:xfrm>
        </p:grpSpPr>
        <p:grpSp>
          <p:nvGrpSpPr>
            <p:cNvPr id="73841" name="Group 21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3855" name="AutoShape 2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3856" name="AutoShape 2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3857" name="Group 2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3865" name="AutoShape 2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66" name="AutoShape 2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3858" name="Group 2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3863" name="AutoShape 2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64" name="AutoShape 2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3859" name="Group 3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3861" name="AutoShape 3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62" name="AutoShape 3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3860" name="Freeform 3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3842" name="Group 34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3843" name="AutoShape 35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3844" name="AutoShape 36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3845" name="Group 37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3853" name="AutoShape 3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54" name="AutoShape 3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3846" name="Group 40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3851" name="AutoShape 4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52" name="AutoShape 4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3847" name="Group 43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3849" name="AutoShape 44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50" name="AutoShape 45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3848" name="Freeform 46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3745" name="Group 47"/>
          <p:cNvGrpSpPr>
            <a:grpSpLocks/>
          </p:cNvGrpSpPr>
          <p:nvPr/>
        </p:nvGrpSpPr>
        <p:grpSpPr bwMode="auto">
          <a:xfrm>
            <a:off x="5422900" y="3306763"/>
            <a:ext cx="635000" cy="623887"/>
            <a:chOff x="3192" y="2352"/>
            <a:chExt cx="936" cy="920"/>
          </a:xfrm>
        </p:grpSpPr>
        <p:grpSp>
          <p:nvGrpSpPr>
            <p:cNvPr id="73815" name="Group 48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3829" name="AutoShape 4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3830" name="AutoShape 5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3831" name="Group 5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3839" name="AutoShape 5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40" name="AutoShape 5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3832" name="Group 5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3837" name="AutoShape 5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38" name="AutoShape 5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3833" name="Group 5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3835" name="AutoShape 5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36" name="AutoShape 5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3834" name="Freeform 6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3816" name="Group 61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3817" name="AutoShape 6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3818" name="AutoShape 6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3819" name="Group 6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3827" name="AutoShape 6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28" name="AutoShape 6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3820" name="Group 6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3825" name="AutoShape 6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26" name="AutoShape 6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3821" name="Group 7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3823" name="AutoShape 7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24" name="AutoShape 7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3822" name="Freeform 7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3746" name="Group 74"/>
          <p:cNvGrpSpPr>
            <a:grpSpLocks/>
          </p:cNvGrpSpPr>
          <p:nvPr/>
        </p:nvGrpSpPr>
        <p:grpSpPr bwMode="auto">
          <a:xfrm>
            <a:off x="3454400" y="1566863"/>
            <a:ext cx="635000" cy="623887"/>
            <a:chOff x="3192" y="2352"/>
            <a:chExt cx="936" cy="920"/>
          </a:xfrm>
        </p:grpSpPr>
        <p:grpSp>
          <p:nvGrpSpPr>
            <p:cNvPr id="73789" name="Group 75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3803" name="AutoShape 76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3804" name="AutoShape 77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3805" name="Group 78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3813" name="AutoShape 79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14" name="AutoShape 80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3806" name="Group 81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3811" name="AutoShape 8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12" name="AutoShape 8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3807" name="Group 84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3809" name="AutoShape 8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10" name="AutoShape 8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3808" name="Freeform 87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3790" name="Group 88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3791" name="AutoShape 8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3792" name="AutoShape 9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3793" name="Group 9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3801" name="AutoShape 9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02" name="AutoShape 9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3794" name="Group 9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3799" name="AutoShape 9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800" name="AutoShape 9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3795" name="Group 9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3797" name="AutoShape 9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3798" name="AutoShape 9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3796" name="Freeform 10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3747" name="Group 101"/>
          <p:cNvGrpSpPr>
            <a:grpSpLocks/>
          </p:cNvGrpSpPr>
          <p:nvPr/>
        </p:nvGrpSpPr>
        <p:grpSpPr bwMode="auto">
          <a:xfrm>
            <a:off x="2951163" y="4787900"/>
            <a:ext cx="1219200" cy="1090613"/>
            <a:chOff x="1584" y="816"/>
            <a:chExt cx="912" cy="816"/>
          </a:xfrm>
        </p:grpSpPr>
        <p:sp>
          <p:nvSpPr>
            <p:cNvPr id="73780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81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82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83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84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85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86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87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88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49711" name="AutoShape 111"/>
          <p:cNvSpPr>
            <a:spLocks noChangeArrowheads="1"/>
          </p:cNvSpPr>
          <p:nvPr/>
        </p:nvSpPr>
        <p:spPr bwMode="auto">
          <a:xfrm>
            <a:off x="2946400" y="3898900"/>
            <a:ext cx="495300" cy="317500"/>
          </a:xfrm>
          <a:prstGeom prst="wedgeRoundRectCallout">
            <a:avLst>
              <a:gd name="adj1" fmla="val 2565"/>
              <a:gd name="adj2" fmla="val 210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3749" name="Group 112"/>
          <p:cNvGrpSpPr>
            <a:grpSpLocks/>
          </p:cNvGrpSpPr>
          <p:nvPr/>
        </p:nvGrpSpPr>
        <p:grpSpPr bwMode="auto">
          <a:xfrm>
            <a:off x="1019175" y="3302000"/>
            <a:ext cx="606425" cy="787400"/>
            <a:chOff x="1728" y="1008"/>
            <a:chExt cx="1776" cy="2304"/>
          </a:xfrm>
        </p:grpSpPr>
        <p:sp>
          <p:nvSpPr>
            <p:cNvPr id="73776" name="Rectangle 113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77" name="Rectangle 114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78" name="Line 115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79" name="Rectangle 116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49717" name="Text Box 117"/>
          <p:cNvSpPr txBox="1">
            <a:spLocks noChangeArrowheads="1"/>
          </p:cNvSpPr>
          <p:nvPr/>
        </p:nvSpPr>
        <p:spPr bwMode="auto">
          <a:xfrm>
            <a:off x="4292600" y="4745038"/>
            <a:ext cx="2463800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Loser spins on own flag</a:t>
            </a:r>
          </a:p>
        </p:txBody>
      </p:sp>
      <p:grpSp>
        <p:nvGrpSpPr>
          <p:cNvPr id="73751" name="Group 118"/>
          <p:cNvGrpSpPr>
            <a:grpSpLocks/>
          </p:cNvGrpSpPr>
          <p:nvPr/>
        </p:nvGrpSpPr>
        <p:grpSpPr bwMode="auto">
          <a:xfrm>
            <a:off x="5197475" y="3276600"/>
            <a:ext cx="606425" cy="787400"/>
            <a:chOff x="1728" y="1008"/>
            <a:chExt cx="1776" cy="2304"/>
          </a:xfrm>
        </p:grpSpPr>
        <p:sp>
          <p:nvSpPr>
            <p:cNvPr id="73772" name="Rectangle 119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73" name="Rectangle 120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74" name="Line 121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75" name="Rectangle 122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3752" name="Group 123"/>
          <p:cNvGrpSpPr>
            <a:grpSpLocks/>
          </p:cNvGrpSpPr>
          <p:nvPr/>
        </p:nvGrpSpPr>
        <p:grpSpPr bwMode="auto">
          <a:xfrm>
            <a:off x="6645275" y="3213100"/>
            <a:ext cx="606425" cy="787400"/>
            <a:chOff x="1728" y="1008"/>
            <a:chExt cx="1776" cy="2304"/>
          </a:xfrm>
        </p:grpSpPr>
        <p:sp>
          <p:nvSpPr>
            <p:cNvPr id="73768" name="Rectangle 12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69" name="Rectangle 12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3770" name="Line 12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71" name="Rectangle 12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3753" name="Group 128"/>
          <p:cNvGrpSpPr>
            <a:grpSpLocks/>
          </p:cNvGrpSpPr>
          <p:nvPr/>
        </p:nvGrpSpPr>
        <p:grpSpPr bwMode="auto">
          <a:xfrm>
            <a:off x="4689475" y="1485900"/>
            <a:ext cx="606425" cy="787400"/>
            <a:chOff x="1728" y="1008"/>
            <a:chExt cx="1776" cy="2304"/>
          </a:xfrm>
        </p:grpSpPr>
        <p:sp>
          <p:nvSpPr>
            <p:cNvPr id="73764" name="Rectangle 129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65" name="Rectangle 130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66" name="Line 131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67" name="Rectangle 132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3754" name="Group 133"/>
          <p:cNvGrpSpPr>
            <a:grpSpLocks/>
          </p:cNvGrpSpPr>
          <p:nvPr/>
        </p:nvGrpSpPr>
        <p:grpSpPr bwMode="auto">
          <a:xfrm>
            <a:off x="3190875" y="1447800"/>
            <a:ext cx="606425" cy="787400"/>
            <a:chOff x="1728" y="1008"/>
            <a:chExt cx="1776" cy="2304"/>
          </a:xfrm>
        </p:grpSpPr>
        <p:sp>
          <p:nvSpPr>
            <p:cNvPr id="73760" name="Rectangle 13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61" name="Rectangle 13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62" name="Line 13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63" name="Rectangle 13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3755" name="Group 138"/>
          <p:cNvGrpSpPr>
            <a:grpSpLocks/>
          </p:cNvGrpSpPr>
          <p:nvPr/>
        </p:nvGrpSpPr>
        <p:grpSpPr bwMode="auto">
          <a:xfrm>
            <a:off x="2606675" y="3263900"/>
            <a:ext cx="606425" cy="787400"/>
            <a:chOff x="1728" y="1008"/>
            <a:chExt cx="1776" cy="2304"/>
          </a:xfrm>
        </p:grpSpPr>
        <p:sp>
          <p:nvSpPr>
            <p:cNvPr id="73756" name="Rectangle 139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57" name="Rectangle 140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58" name="Line 141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3759" name="Rectangle 142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4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711" grpId="0" animBg="1"/>
      <p:bldP spid="104971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7475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CE27A2C-2046-4D94-A14B-6C349C92C1E3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Tree Barriers</a:t>
            </a:r>
          </a:p>
        </p:txBody>
      </p:sp>
      <p:grpSp>
        <p:nvGrpSpPr>
          <p:cNvPr id="74757" name="Group 3"/>
          <p:cNvGrpSpPr>
            <a:grpSpLocks/>
          </p:cNvGrpSpPr>
          <p:nvPr/>
        </p:nvGrpSpPr>
        <p:grpSpPr bwMode="auto">
          <a:xfrm>
            <a:off x="1168400" y="3765550"/>
            <a:ext cx="2628900" cy="596900"/>
            <a:chOff x="736" y="2356"/>
            <a:chExt cx="1656" cy="376"/>
          </a:xfrm>
        </p:grpSpPr>
        <p:sp>
          <p:nvSpPr>
            <p:cNvPr id="74906" name="Oval 4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4907" name="Oval 5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4758" name="Group 6"/>
          <p:cNvGrpSpPr>
            <a:grpSpLocks/>
          </p:cNvGrpSpPr>
          <p:nvPr/>
        </p:nvGrpSpPr>
        <p:grpSpPr bwMode="auto">
          <a:xfrm>
            <a:off x="5168900" y="3765550"/>
            <a:ext cx="2628900" cy="596900"/>
            <a:chOff x="736" y="2356"/>
            <a:chExt cx="1656" cy="376"/>
          </a:xfrm>
        </p:grpSpPr>
        <p:sp>
          <p:nvSpPr>
            <p:cNvPr id="74904" name="Oval 7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4905" name="Oval 8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4759" name="Group 9"/>
          <p:cNvGrpSpPr>
            <a:grpSpLocks/>
          </p:cNvGrpSpPr>
          <p:nvPr/>
        </p:nvGrpSpPr>
        <p:grpSpPr bwMode="auto">
          <a:xfrm>
            <a:off x="3219450" y="1962150"/>
            <a:ext cx="2628900" cy="596900"/>
            <a:chOff x="736" y="2356"/>
            <a:chExt cx="1656" cy="376"/>
          </a:xfrm>
        </p:grpSpPr>
        <p:sp>
          <p:nvSpPr>
            <p:cNvPr id="74902" name="Oval 10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4903" name="Oval 11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sp>
        <p:nvSpPr>
          <p:cNvPr id="74760" name="Line 12"/>
          <p:cNvSpPr>
            <a:spLocks noChangeShapeType="1"/>
          </p:cNvSpPr>
          <p:nvPr/>
        </p:nvSpPr>
        <p:spPr bwMode="auto">
          <a:xfrm>
            <a:off x="21082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4761" name="Line 13"/>
          <p:cNvSpPr>
            <a:spLocks noChangeShapeType="1"/>
          </p:cNvSpPr>
          <p:nvPr/>
        </p:nvSpPr>
        <p:spPr bwMode="auto">
          <a:xfrm>
            <a:off x="61341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4762" name="Line 14"/>
          <p:cNvSpPr>
            <a:spLocks noChangeShapeType="1"/>
          </p:cNvSpPr>
          <p:nvPr/>
        </p:nvSpPr>
        <p:spPr bwMode="auto">
          <a:xfrm flipH="1">
            <a:off x="20574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4763" name="Line 15"/>
          <p:cNvSpPr>
            <a:spLocks noChangeShapeType="1"/>
          </p:cNvSpPr>
          <p:nvPr/>
        </p:nvSpPr>
        <p:spPr bwMode="auto">
          <a:xfrm flipH="1">
            <a:off x="60833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4764" name="Line 16"/>
          <p:cNvSpPr>
            <a:spLocks noChangeShapeType="1"/>
          </p:cNvSpPr>
          <p:nvPr/>
        </p:nvSpPr>
        <p:spPr bwMode="auto">
          <a:xfrm flipV="1">
            <a:off x="1778000" y="2349500"/>
            <a:ext cx="1816100" cy="158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4765" name="Line 17"/>
          <p:cNvSpPr>
            <a:spLocks noChangeShapeType="1"/>
          </p:cNvSpPr>
          <p:nvPr/>
        </p:nvSpPr>
        <p:spPr bwMode="auto">
          <a:xfrm flipH="1" flipV="1">
            <a:off x="5283200" y="2387600"/>
            <a:ext cx="419100" cy="157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4766" name="Line 18"/>
          <p:cNvSpPr>
            <a:spLocks noChangeShapeType="1"/>
          </p:cNvSpPr>
          <p:nvPr/>
        </p:nvSpPr>
        <p:spPr bwMode="auto">
          <a:xfrm>
            <a:off x="4152900" y="21780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4767" name="Line 19"/>
          <p:cNvSpPr>
            <a:spLocks noChangeShapeType="1"/>
          </p:cNvSpPr>
          <p:nvPr/>
        </p:nvSpPr>
        <p:spPr bwMode="auto">
          <a:xfrm flipH="1">
            <a:off x="4102100" y="23304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4768" name="Group 20"/>
          <p:cNvGrpSpPr>
            <a:grpSpLocks/>
          </p:cNvGrpSpPr>
          <p:nvPr/>
        </p:nvGrpSpPr>
        <p:grpSpPr bwMode="auto">
          <a:xfrm>
            <a:off x="1447800" y="3281363"/>
            <a:ext cx="635000" cy="623887"/>
            <a:chOff x="3192" y="2352"/>
            <a:chExt cx="936" cy="920"/>
          </a:xfrm>
        </p:grpSpPr>
        <p:grpSp>
          <p:nvGrpSpPr>
            <p:cNvPr id="74876" name="Group 21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4890" name="AutoShape 2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4891" name="AutoShape 2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4892" name="Group 2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4900" name="AutoShape 2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901" name="AutoShape 2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4893" name="Group 2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4898" name="AutoShape 2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99" name="AutoShape 2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4894" name="Group 3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4896" name="AutoShape 3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97" name="AutoShape 3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4895" name="Freeform 3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4877" name="Group 34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4878" name="AutoShape 35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4879" name="AutoShape 36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4880" name="Group 37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4888" name="AutoShape 3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89" name="AutoShape 3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4881" name="Group 40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4886" name="AutoShape 4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87" name="AutoShape 4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4882" name="Group 43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4884" name="AutoShape 44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85" name="AutoShape 45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4883" name="Freeform 46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4769" name="Group 47"/>
          <p:cNvGrpSpPr>
            <a:grpSpLocks/>
          </p:cNvGrpSpPr>
          <p:nvPr/>
        </p:nvGrpSpPr>
        <p:grpSpPr bwMode="auto">
          <a:xfrm>
            <a:off x="5422900" y="3306763"/>
            <a:ext cx="635000" cy="623887"/>
            <a:chOff x="3192" y="2352"/>
            <a:chExt cx="936" cy="920"/>
          </a:xfrm>
        </p:grpSpPr>
        <p:grpSp>
          <p:nvGrpSpPr>
            <p:cNvPr id="74850" name="Group 48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4864" name="AutoShape 4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4865" name="AutoShape 5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4866" name="Group 5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4874" name="AutoShape 5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75" name="AutoShape 5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4867" name="Group 5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4872" name="AutoShape 5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73" name="AutoShape 5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4868" name="Group 5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4870" name="AutoShape 5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71" name="AutoShape 5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4869" name="Freeform 6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4851" name="Group 61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4852" name="AutoShape 6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4853" name="AutoShape 6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4854" name="Group 6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4862" name="AutoShape 6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63" name="AutoShape 6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4855" name="Group 6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4860" name="AutoShape 6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61" name="AutoShape 6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4856" name="Group 7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4858" name="AutoShape 7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59" name="AutoShape 7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4857" name="Freeform 7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4770" name="Group 74"/>
          <p:cNvGrpSpPr>
            <a:grpSpLocks/>
          </p:cNvGrpSpPr>
          <p:nvPr/>
        </p:nvGrpSpPr>
        <p:grpSpPr bwMode="auto">
          <a:xfrm>
            <a:off x="3454400" y="1566863"/>
            <a:ext cx="635000" cy="623887"/>
            <a:chOff x="3192" y="2352"/>
            <a:chExt cx="936" cy="920"/>
          </a:xfrm>
        </p:grpSpPr>
        <p:grpSp>
          <p:nvGrpSpPr>
            <p:cNvPr id="74824" name="Group 75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4838" name="AutoShape 76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4839" name="AutoShape 77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4840" name="Group 78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4848" name="AutoShape 79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49" name="AutoShape 80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4841" name="Group 81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4846" name="AutoShape 8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47" name="AutoShape 8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4842" name="Group 84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4844" name="AutoShape 8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45" name="AutoShape 8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4843" name="Freeform 87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4825" name="Group 88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4826" name="AutoShape 8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4827" name="AutoShape 9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2" name="Group 9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4836" name="AutoShape 9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37" name="AutoShape 9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4829" name="Group 9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4834" name="AutoShape 9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35" name="AutoShape 9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4830" name="Group 9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4832" name="AutoShape 9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4833" name="AutoShape 9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4831" name="Freeform 10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4771" name="Group 101"/>
          <p:cNvGrpSpPr>
            <a:grpSpLocks/>
          </p:cNvGrpSpPr>
          <p:nvPr/>
        </p:nvGrpSpPr>
        <p:grpSpPr bwMode="auto">
          <a:xfrm>
            <a:off x="2951163" y="4787900"/>
            <a:ext cx="1219200" cy="1090613"/>
            <a:chOff x="1584" y="816"/>
            <a:chExt cx="912" cy="816"/>
          </a:xfrm>
        </p:grpSpPr>
        <p:sp>
          <p:nvSpPr>
            <p:cNvPr id="74815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16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17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18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19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20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21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22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23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74772" name="AutoShape 111"/>
          <p:cNvSpPr>
            <a:spLocks noChangeArrowheads="1"/>
          </p:cNvSpPr>
          <p:nvPr/>
        </p:nvSpPr>
        <p:spPr bwMode="auto">
          <a:xfrm>
            <a:off x="2946400" y="3898900"/>
            <a:ext cx="495300" cy="317500"/>
          </a:xfrm>
          <a:prstGeom prst="wedgeRoundRectCallout">
            <a:avLst>
              <a:gd name="adj1" fmla="val 2565"/>
              <a:gd name="adj2" fmla="val 210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4773" name="Group 112"/>
          <p:cNvGrpSpPr>
            <a:grpSpLocks/>
          </p:cNvGrpSpPr>
          <p:nvPr/>
        </p:nvGrpSpPr>
        <p:grpSpPr bwMode="auto">
          <a:xfrm>
            <a:off x="1019175" y="3302000"/>
            <a:ext cx="606425" cy="787400"/>
            <a:chOff x="1728" y="1008"/>
            <a:chExt cx="1776" cy="2304"/>
          </a:xfrm>
        </p:grpSpPr>
        <p:sp>
          <p:nvSpPr>
            <p:cNvPr id="74811" name="Rectangle 113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12" name="Rectangle 114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13" name="Line 115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14" name="Rectangle 116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4828" name="Group 117"/>
          <p:cNvGrpSpPr>
            <a:grpSpLocks/>
          </p:cNvGrpSpPr>
          <p:nvPr/>
        </p:nvGrpSpPr>
        <p:grpSpPr bwMode="auto">
          <a:xfrm flipH="1">
            <a:off x="4999038" y="4953000"/>
            <a:ext cx="1219200" cy="1090613"/>
            <a:chOff x="1584" y="816"/>
            <a:chExt cx="912" cy="816"/>
          </a:xfrm>
        </p:grpSpPr>
        <p:sp>
          <p:nvSpPr>
            <p:cNvPr id="74802" name="Freeform 11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03" name="Freeform 11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04" name="Freeform 12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05" name="Freeform 12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06" name="Freeform 12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07" name="Freeform 12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08" name="Freeform 12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09" name="Freeform 12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10" name="Freeform 12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51775" name="AutoShape 127"/>
          <p:cNvSpPr>
            <a:spLocks noChangeArrowheads="1"/>
          </p:cNvSpPr>
          <p:nvPr/>
        </p:nvSpPr>
        <p:spPr bwMode="auto">
          <a:xfrm>
            <a:off x="5524500" y="3937000"/>
            <a:ext cx="495300" cy="317500"/>
          </a:xfrm>
          <a:prstGeom prst="wedgeRoundRectCallout">
            <a:avLst>
              <a:gd name="adj1" fmla="val 28204"/>
              <a:gd name="adj2" fmla="val 234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51776" name="Text Box 128"/>
          <p:cNvSpPr txBox="1">
            <a:spLocks noChangeArrowheads="1"/>
          </p:cNvSpPr>
          <p:nvPr/>
        </p:nvSpPr>
        <p:spPr bwMode="auto">
          <a:xfrm>
            <a:off x="6548438" y="4740275"/>
            <a:ext cx="1946275" cy="12003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Winner spins on own flag</a:t>
            </a:r>
          </a:p>
        </p:txBody>
      </p:sp>
      <p:grpSp>
        <p:nvGrpSpPr>
          <p:cNvPr id="74777" name="Group 129"/>
          <p:cNvGrpSpPr>
            <a:grpSpLocks/>
          </p:cNvGrpSpPr>
          <p:nvPr/>
        </p:nvGrpSpPr>
        <p:grpSpPr bwMode="auto">
          <a:xfrm>
            <a:off x="5197475" y="3276600"/>
            <a:ext cx="606425" cy="787400"/>
            <a:chOff x="1728" y="1008"/>
            <a:chExt cx="1776" cy="2304"/>
          </a:xfrm>
        </p:grpSpPr>
        <p:sp>
          <p:nvSpPr>
            <p:cNvPr id="74798" name="Rectangle 130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799" name="Rectangle 131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00" name="Line 132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801" name="Rectangle 133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4778" name="Group 134"/>
          <p:cNvGrpSpPr>
            <a:grpSpLocks/>
          </p:cNvGrpSpPr>
          <p:nvPr/>
        </p:nvGrpSpPr>
        <p:grpSpPr bwMode="auto">
          <a:xfrm>
            <a:off x="6645275" y="3213100"/>
            <a:ext cx="606425" cy="787400"/>
            <a:chOff x="1728" y="1008"/>
            <a:chExt cx="1776" cy="2304"/>
          </a:xfrm>
        </p:grpSpPr>
        <p:sp>
          <p:nvSpPr>
            <p:cNvPr id="74794" name="Rectangle 135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795" name="Rectangle 136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4796" name="Line 137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797" name="Rectangle 138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4779" name="Group 139"/>
          <p:cNvGrpSpPr>
            <a:grpSpLocks/>
          </p:cNvGrpSpPr>
          <p:nvPr/>
        </p:nvGrpSpPr>
        <p:grpSpPr bwMode="auto">
          <a:xfrm>
            <a:off x="4689475" y="1485900"/>
            <a:ext cx="606425" cy="787400"/>
            <a:chOff x="1728" y="1008"/>
            <a:chExt cx="1776" cy="2304"/>
          </a:xfrm>
        </p:grpSpPr>
        <p:sp>
          <p:nvSpPr>
            <p:cNvPr id="74790" name="Rectangle 140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791" name="Rectangle 141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792" name="Line 142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793" name="Rectangle 143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4780" name="Group 144"/>
          <p:cNvGrpSpPr>
            <a:grpSpLocks/>
          </p:cNvGrpSpPr>
          <p:nvPr/>
        </p:nvGrpSpPr>
        <p:grpSpPr bwMode="auto">
          <a:xfrm>
            <a:off x="3190875" y="1447800"/>
            <a:ext cx="606425" cy="787400"/>
            <a:chOff x="1728" y="1008"/>
            <a:chExt cx="1776" cy="2304"/>
          </a:xfrm>
        </p:grpSpPr>
        <p:sp>
          <p:nvSpPr>
            <p:cNvPr id="74786" name="Rectangle 145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787" name="Rectangle 146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788" name="Line 147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789" name="Rectangle 148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4781" name="Group 149"/>
          <p:cNvGrpSpPr>
            <a:grpSpLocks/>
          </p:cNvGrpSpPr>
          <p:nvPr/>
        </p:nvGrpSpPr>
        <p:grpSpPr bwMode="auto">
          <a:xfrm>
            <a:off x="2606675" y="3263900"/>
            <a:ext cx="606425" cy="787400"/>
            <a:chOff x="1728" y="1008"/>
            <a:chExt cx="1776" cy="2304"/>
          </a:xfrm>
        </p:grpSpPr>
        <p:sp>
          <p:nvSpPr>
            <p:cNvPr id="74782" name="Rectangle 150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783" name="Rectangle 151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784" name="Line 152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4785" name="Rectangle 153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5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1775" grpId="0" animBg="1"/>
      <p:bldP spid="105177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4F15EBB-949B-4C29-9024-C7058C2E19D3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Tree Barriers</a:t>
            </a:r>
          </a:p>
        </p:txBody>
      </p:sp>
      <p:grpSp>
        <p:nvGrpSpPr>
          <p:cNvPr id="75781" name="Group 3"/>
          <p:cNvGrpSpPr>
            <a:grpSpLocks/>
          </p:cNvGrpSpPr>
          <p:nvPr/>
        </p:nvGrpSpPr>
        <p:grpSpPr bwMode="auto">
          <a:xfrm>
            <a:off x="1168400" y="3765550"/>
            <a:ext cx="2628900" cy="596900"/>
            <a:chOff x="736" y="2356"/>
            <a:chExt cx="1656" cy="376"/>
          </a:xfrm>
        </p:grpSpPr>
        <p:sp>
          <p:nvSpPr>
            <p:cNvPr id="75942" name="Oval 4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5943" name="Oval 5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5782" name="Group 6"/>
          <p:cNvGrpSpPr>
            <a:grpSpLocks/>
          </p:cNvGrpSpPr>
          <p:nvPr/>
        </p:nvGrpSpPr>
        <p:grpSpPr bwMode="auto">
          <a:xfrm>
            <a:off x="5168900" y="3765550"/>
            <a:ext cx="2628900" cy="596900"/>
            <a:chOff x="736" y="2356"/>
            <a:chExt cx="1656" cy="376"/>
          </a:xfrm>
        </p:grpSpPr>
        <p:sp>
          <p:nvSpPr>
            <p:cNvPr id="75940" name="Oval 7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5941" name="Oval 8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5783" name="Group 9"/>
          <p:cNvGrpSpPr>
            <a:grpSpLocks/>
          </p:cNvGrpSpPr>
          <p:nvPr/>
        </p:nvGrpSpPr>
        <p:grpSpPr bwMode="auto">
          <a:xfrm>
            <a:off x="3219450" y="1962150"/>
            <a:ext cx="2628900" cy="596900"/>
            <a:chOff x="736" y="2356"/>
            <a:chExt cx="1656" cy="376"/>
          </a:xfrm>
        </p:grpSpPr>
        <p:sp>
          <p:nvSpPr>
            <p:cNvPr id="75938" name="Oval 10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5939" name="Oval 11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sp>
        <p:nvSpPr>
          <p:cNvPr id="75784" name="Line 12"/>
          <p:cNvSpPr>
            <a:spLocks noChangeShapeType="1"/>
          </p:cNvSpPr>
          <p:nvPr/>
        </p:nvSpPr>
        <p:spPr bwMode="auto">
          <a:xfrm>
            <a:off x="21082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5785" name="Line 13"/>
          <p:cNvSpPr>
            <a:spLocks noChangeShapeType="1"/>
          </p:cNvSpPr>
          <p:nvPr/>
        </p:nvSpPr>
        <p:spPr bwMode="auto">
          <a:xfrm>
            <a:off x="61341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5786" name="Line 14"/>
          <p:cNvSpPr>
            <a:spLocks noChangeShapeType="1"/>
          </p:cNvSpPr>
          <p:nvPr/>
        </p:nvSpPr>
        <p:spPr bwMode="auto">
          <a:xfrm flipH="1">
            <a:off x="20574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5787" name="Line 15"/>
          <p:cNvSpPr>
            <a:spLocks noChangeShapeType="1"/>
          </p:cNvSpPr>
          <p:nvPr/>
        </p:nvSpPr>
        <p:spPr bwMode="auto">
          <a:xfrm flipH="1">
            <a:off x="60833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5788" name="Line 16"/>
          <p:cNvSpPr>
            <a:spLocks noChangeShapeType="1"/>
          </p:cNvSpPr>
          <p:nvPr/>
        </p:nvSpPr>
        <p:spPr bwMode="auto">
          <a:xfrm flipV="1">
            <a:off x="1778000" y="2349500"/>
            <a:ext cx="1816100" cy="158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5789" name="Line 17"/>
          <p:cNvSpPr>
            <a:spLocks noChangeShapeType="1"/>
          </p:cNvSpPr>
          <p:nvPr/>
        </p:nvSpPr>
        <p:spPr bwMode="auto">
          <a:xfrm flipH="1" flipV="1">
            <a:off x="5283200" y="2387600"/>
            <a:ext cx="419100" cy="157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5790" name="Line 18"/>
          <p:cNvSpPr>
            <a:spLocks noChangeShapeType="1"/>
          </p:cNvSpPr>
          <p:nvPr/>
        </p:nvSpPr>
        <p:spPr bwMode="auto">
          <a:xfrm>
            <a:off x="4152900" y="21780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5791" name="Line 19"/>
          <p:cNvSpPr>
            <a:spLocks noChangeShapeType="1"/>
          </p:cNvSpPr>
          <p:nvPr/>
        </p:nvSpPr>
        <p:spPr bwMode="auto">
          <a:xfrm flipH="1">
            <a:off x="4102100" y="23304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5792" name="Group 20"/>
          <p:cNvGrpSpPr>
            <a:grpSpLocks/>
          </p:cNvGrpSpPr>
          <p:nvPr/>
        </p:nvGrpSpPr>
        <p:grpSpPr bwMode="auto">
          <a:xfrm>
            <a:off x="1447800" y="3281363"/>
            <a:ext cx="635000" cy="623887"/>
            <a:chOff x="3192" y="2352"/>
            <a:chExt cx="936" cy="920"/>
          </a:xfrm>
        </p:grpSpPr>
        <p:grpSp>
          <p:nvGrpSpPr>
            <p:cNvPr id="75912" name="Group 21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5926" name="AutoShape 2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5927" name="AutoShape 2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5928" name="Group 2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5936" name="AutoShape 2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937" name="AutoShape 2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5929" name="Group 2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5934" name="AutoShape 2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935" name="AutoShape 2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5930" name="Group 3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5932" name="AutoShape 3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933" name="AutoShape 3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5931" name="Freeform 3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5913" name="Group 34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5914" name="AutoShape 35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5915" name="AutoShape 36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5916" name="Group 37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5924" name="AutoShape 3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925" name="AutoShape 3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5917" name="Group 40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5922" name="AutoShape 4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923" name="AutoShape 4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5918" name="Group 43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5920" name="AutoShape 44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921" name="AutoShape 45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5919" name="Freeform 46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5793" name="Group 47"/>
          <p:cNvGrpSpPr>
            <a:grpSpLocks/>
          </p:cNvGrpSpPr>
          <p:nvPr/>
        </p:nvGrpSpPr>
        <p:grpSpPr bwMode="auto">
          <a:xfrm>
            <a:off x="5422900" y="3306763"/>
            <a:ext cx="635000" cy="623887"/>
            <a:chOff x="3192" y="2352"/>
            <a:chExt cx="936" cy="920"/>
          </a:xfrm>
        </p:grpSpPr>
        <p:grpSp>
          <p:nvGrpSpPr>
            <p:cNvPr id="75886" name="Group 48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5900" name="AutoShape 4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5901" name="AutoShape 5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5902" name="Group 5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5910" name="AutoShape 5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911" name="AutoShape 5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5903" name="Group 5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5908" name="AutoShape 5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909" name="AutoShape 5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5904" name="Group 5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5906" name="AutoShape 5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907" name="AutoShape 5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5905" name="Freeform 6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5887" name="Group 61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5888" name="AutoShape 6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5889" name="AutoShape 6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5890" name="Group 6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5898" name="AutoShape 6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899" name="AutoShape 6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5891" name="Group 6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5896" name="AutoShape 6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897" name="AutoShape 6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5892" name="Group 7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5894" name="AutoShape 7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895" name="AutoShape 7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5893" name="Freeform 7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5794" name="Group 74"/>
          <p:cNvGrpSpPr>
            <a:grpSpLocks/>
          </p:cNvGrpSpPr>
          <p:nvPr/>
        </p:nvGrpSpPr>
        <p:grpSpPr bwMode="auto">
          <a:xfrm>
            <a:off x="3454400" y="1566863"/>
            <a:ext cx="635000" cy="623887"/>
            <a:chOff x="3192" y="2352"/>
            <a:chExt cx="936" cy="920"/>
          </a:xfrm>
        </p:grpSpPr>
        <p:grpSp>
          <p:nvGrpSpPr>
            <p:cNvPr id="75860" name="Group 75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5874" name="AutoShape 76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5875" name="AutoShape 77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5876" name="Group 78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5884" name="AutoShape 79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885" name="AutoShape 80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5877" name="Group 81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5882" name="AutoShape 8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883" name="AutoShape 8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5878" name="Group 84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5880" name="AutoShape 8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881" name="AutoShape 8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5879" name="Freeform 87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5861" name="Group 88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5862" name="AutoShape 8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5863" name="AutoShape 9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5864" name="Group 9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5872" name="AutoShape 9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873" name="AutoShape 9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5865" name="Group 9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5870" name="AutoShape 9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871" name="AutoShape 9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5866" name="Group 9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5868" name="AutoShape 9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5869" name="AutoShape 9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5867" name="Freeform 10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5795" name="Group 101"/>
          <p:cNvGrpSpPr>
            <a:grpSpLocks/>
          </p:cNvGrpSpPr>
          <p:nvPr/>
        </p:nvGrpSpPr>
        <p:grpSpPr bwMode="auto">
          <a:xfrm>
            <a:off x="2951163" y="4787900"/>
            <a:ext cx="1219200" cy="1090613"/>
            <a:chOff x="1584" y="816"/>
            <a:chExt cx="912" cy="816"/>
          </a:xfrm>
        </p:grpSpPr>
        <p:sp>
          <p:nvSpPr>
            <p:cNvPr id="75851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52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53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54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55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56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57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58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59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75796" name="AutoShape 111"/>
          <p:cNvSpPr>
            <a:spLocks noChangeArrowheads="1"/>
          </p:cNvSpPr>
          <p:nvPr/>
        </p:nvSpPr>
        <p:spPr bwMode="auto">
          <a:xfrm>
            <a:off x="2946400" y="3898900"/>
            <a:ext cx="495300" cy="317500"/>
          </a:xfrm>
          <a:prstGeom prst="wedgeRoundRectCallout">
            <a:avLst>
              <a:gd name="adj1" fmla="val 2565"/>
              <a:gd name="adj2" fmla="val 210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5797" name="Group 118"/>
          <p:cNvGrpSpPr>
            <a:grpSpLocks/>
          </p:cNvGrpSpPr>
          <p:nvPr/>
        </p:nvGrpSpPr>
        <p:grpSpPr bwMode="auto">
          <a:xfrm flipH="1">
            <a:off x="4999038" y="4953000"/>
            <a:ext cx="1219200" cy="1090613"/>
            <a:chOff x="1584" y="816"/>
            <a:chExt cx="912" cy="816"/>
          </a:xfrm>
        </p:grpSpPr>
        <p:sp>
          <p:nvSpPr>
            <p:cNvPr id="75842" name="Freeform 119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43" name="Freeform 120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44" name="Freeform 121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45" name="Freeform 122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46" name="Freeform 123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47" name="Freeform 124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48" name="Freeform 125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49" name="Freeform 126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50" name="Freeform 127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75798" name="AutoShape 128"/>
          <p:cNvSpPr>
            <a:spLocks noChangeArrowheads="1"/>
          </p:cNvSpPr>
          <p:nvPr/>
        </p:nvSpPr>
        <p:spPr bwMode="auto">
          <a:xfrm>
            <a:off x="5524500" y="3937000"/>
            <a:ext cx="495300" cy="317500"/>
          </a:xfrm>
          <a:prstGeom prst="wedgeRoundRectCallout">
            <a:avLst>
              <a:gd name="adj1" fmla="val 28204"/>
              <a:gd name="adj2" fmla="val 234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50764" name="Text Box 140"/>
          <p:cNvSpPr txBox="1">
            <a:spLocks noChangeArrowheads="1"/>
          </p:cNvSpPr>
          <p:nvPr/>
        </p:nvSpPr>
        <p:spPr bwMode="auto">
          <a:xfrm>
            <a:off x="6146800" y="4740275"/>
            <a:ext cx="2767013" cy="12003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Winner sees own flag, moves up, spins</a:t>
            </a:r>
          </a:p>
        </p:txBody>
      </p:sp>
      <p:sp>
        <p:nvSpPr>
          <p:cNvPr id="1050765" name="AutoShape 141"/>
          <p:cNvSpPr>
            <a:spLocks noChangeArrowheads="1"/>
          </p:cNvSpPr>
          <p:nvPr/>
        </p:nvSpPr>
        <p:spPr bwMode="auto">
          <a:xfrm>
            <a:off x="1384300" y="3975100"/>
            <a:ext cx="495300" cy="317500"/>
          </a:xfrm>
          <a:prstGeom prst="wedgeRoundRectCallout">
            <a:avLst>
              <a:gd name="adj1" fmla="val 2565"/>
              <a:gd name="adj2" fmla="val 210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5801" name="Group 112"/>
          <p:cNvGrpSpPr>
            <a:grpSpLocks/>
          </p:cNvGrpSpPr>
          <p:nvPr/>
        </p:nvGrpSpPr>
        <p:grpSpPr bwMode="auto">
          <a:xfrm>
            <a:off x="1019175" y="3302000"/>
            <a:ext cx="606425" cy="787400"/>
            <a:chOff x="1728" y="1008"/>
            <a:chExt cx="1776" cy="2304"/>
          </a:xfrm>
        </p:grpSpPr>
        <p:sp>
          <p:nvSpPr>
            <p:cNvPr id="75838" name="Rectangle 113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39" name="Rectangle 114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40" name="Line 115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41" name="Rectangle 116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50766" name="AutoShape 142"/>
          <p:cNvSpPr>
            <a:spLocks noChangeArrowheads="1"/>
          </p:cNvSpPr>
          <p:nvPr/>
        </p:nvSpPr>
        <p:spPr bwMode="auto">
          <a:xfrm>
            <a:off x="3517900" y="2108200"/>
            <a:ext cx="495300" cy="317500"/>
          </a:xfrm>
          <a:prstGeom prst="wedgeRoundRectCallout">
            <a:avLst>
              <a:gd name="adj1" fmla="val -112819"/>
              <a:gd name="adj2" fmla="val 70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5803" name="Group 143"/>
          <p:cNvGrpSpPr>
            <a:grpSpLocks/>
          </p:cNvGrpSpPr>
          <p:nvPr/>
        </p:nvGrpSpPr>
        <p:grpSpPr bwMode="auto">
          <a:xfrm>
            <a:off x="5197475" y="3276600"/>
            <a:ext cx="606425" cy="787400"/>
            <a:chOff x="1728" y="1008"/>
            <a:chExt cx="1776" cy="2304"/>
          </a:xfrm>
        </p:grpSpPr>
        <p:sp>
          <p:nvSpPr>
            <p:cNvPr id="75834" name="Rectangle 14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35" name="Rectangle 14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36" name="Line 14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37" name="Rectangle 14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5804" name="Group 148"/>
          <p:cNvGrpSpPr>
            <a:grpSpLocks/>
          </p:cNvGrpSpPr>
          <p:nvPr/>
        </p:nvGrpSpPr>
        <p:grpSpPr bwMode="auto">
          <a:xfrm>
            <a:off x="6645275" y="3213100"/>
            <a:ext cx="606425" cy="787400"/>
            <a:chOff x="1728" y="1008"/>
            <a:chExt cx="1776" cy="2304"/>
          </a:xfrm>
        </p:grpSpPr>
        <p:sp>
          <p:nvSpPr>
            <p:cNvPr id="75830" name="Rectangle 149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31" name="Rectangle 150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5832" name="Line 151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33" name="Rectangle 152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5805" name="Group 153"/>
          <p:cNvGrpSpPr>
            <a:grpSpLocks/>
          </p:cNvGrpSpPr>
          <p:nvPr/>
        </p:nvGrpSpPr>
        <p:grpSpPr bwMode="auto">
          <a:xfrm>
            <a:off x="4689475" y="1485900"/>
            <a:ext cx="606425" cy="787400"/>
            <a:chOff x="1728" y="1008"/>
            <a:chExt cx="1776" cy="2304"/>
          </a:xfrm>
        </p:grpSpPr>
        <p:sp>
          <p:nvSpPr>
            <p:cNvPr id="75826" name="Rectangle 15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27" name="Rectangle 15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28" name="Line 15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29" name="Rectangle 15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5806" name="Group 158"/>
          <p:cNvGrpSpPr>
            <a:grpSpLocks/>
          </p:cNvGrpSpPr>
          <p:nvPr/>
        </p:nvGrpSpPr>
        <p:grpSpPr bwMode="auto">
          <a:xfrm>
            <a:off x="3190875" y="1447800"/>
            <a:ext cx="606425" cy="787400"/>
            <a:chOff x="1728" y="1008"/>
            <a:chExt cx="1776" cy="2304"/>
          </a:xfrm>
        </p:grpSpPr>
        <p:sp>
          <p:nvSpPr>
            <p:cNvPr id="75822" name="Rectangle 159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23" name="Rectangle 160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24" name="Line 161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25" name="Rectangle 162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5807" name="Group 163"/>
          <p:cNvGrpSpPr>
            <a:grpSpLocks/>
          </p:cNvGrpSpPr>
          <p:nvPr/>
        </p:nvGrpSpPr>
        <p:grpSpPr bwMode="auto">
          <a:xfrm>
            <a:off x="2606675" y="3263900"/>
            <a:ext cx="606425" cy="787400"/>
            <a:chOff x="1728" y="1008"/>
            <a:chExt cx="1776" cy="2304"/>
          </a:xfrm>
        </p:grpSpPr>
        <p:sp>
          <p:nvSpPr>
            <p:cNvPr id="75818" name="Rectangle 16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19" name="Rectangle 16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20" name="Line 16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21" name="Rectangle 16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5952" name="Group 130"/>
          <p:cNvGrpSpPr>
            <a:grpSpLocks/>
          </p:cNvGrpSpPr>
          <p:nvPr/>
        </p:nvGrpSpPr>
        <p:grpSpPr bwMode="auto">
          <a:xfrm flipH="1">
            <a:off x="852488" y="4953000"/>
            <a:ext cx="1219200" cy="1090613"/>
            <a:chOff x="1584" y="816"/>
            <a:chExt cx="912" cy="816"/>
          </a:xfrm>
        </p:grpSpPr>
        <p:sp>
          <p:nvSpPr>
            <p:cNvPr id="75809" name="Freeform 131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10" name="Freeform 132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11" name="Freeform 133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12" name="Freeform 134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13" name="Freeform 135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14" name="Freeform 136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15" name="Freeform 137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16" name="Freeform 138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5817" name="Freeform 139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5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5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10507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44444E-6 C 0.00434 -0.09351 0.00885 -0.1868 0.03472 -0.24629 C 0.06059 -0.30578 0.10798 -0.33171 0.15555 -0.3574 " pathEditMode="relative" ptsTypes="aaA">
                                      <p:cBhvr>
                                        <p:cTn id="20" dur="2000" fill="hold"/>
                                        <p:tgtEl>
                                          <p:spTgt spid="759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5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764" grpId="0"/>
      <p:bldP spid="1050765" grpId="0" animBg="1"/>
      <p:bldP spid="1050765" grpId="1" animBg="1"/>
      <p:bldP spid="105076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7680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80A49C1-7DC0-4DC2-96B7-0F596FE6BD52}" type="slidenum">
              <a:rPr lang="en-US" smtClean="0"/>
              <a:pPr/>
              <a:t>72</a:t>
            </a:fld>
            <a:endParaRPr lang="en-US"/>
          </a:p>
        </p:txBody>
      </p:sp>
      <p:grpSp>
        <p:nvGrpSpPr>
          <p:cNvPr id="76804" name="Group 9"/>
          <p:cNvGrpSpPr>
            <a:grpSpLocks/>
          </p:cNvGrpSpPr>
          <p:nvPr/>
        </p:nvGrpSpPr>
        <p:grpSpPr bwMode="auto">
          <a:xfrm>
            <a:off x="3219450" y="1962150"/>
            <a:ext cx="2628900" cy="596900"/>
            <a:chOff x="736" y="2356"/>
            <a:chExt cx="1656" cy="376"/>
          </a:xfrm>
        </p:grpSpPr>
        <p:sp>
          <p:nvSpPr>
            <p:cNvPr id="76986" name="Oval 10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6987" name="Oval 11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6805" name="Group 74"/>
          <p:cNvGrpSpPr>
            <a:grpSpLocks/>
          </p:cNvGrpSpPr>
          <p:nvPr/>
        </p:nvGrpSpPr>
        <p:grpSpPr bwMode="auto">
          <a:xfrm>
            <a:off x="3454400" y="1566863"/>
            <a:ext cx="635000" cy="623887"/>
            <a:chOff x="3192" y="2352"/>
            <a:chExt cx="936" cy="920"/>
          </a:xfrm>
        </p:grpSpPr>
        <p:grpSp>
          <p:nvGrpSpPr>
            <p:cNvPr id="76960" name="Group 75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6974" name="AutoShape 76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6975" name="AutoShape 77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6976" name="Group 78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6984" name="AutoShape 79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85" name="AutoShape 80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6977" name="Group 81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6982" name="AutoShape 8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83" name="AutoShape 8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6978" name="Group 84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6980" name="AutoShape 8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81" name="AutoShape 8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6979" name="Freeform 87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6961" name="Group 88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6962" name="AutoShape 8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6963" name="AutoShape 9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6964" name="Group 9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6972" name="AutoShape 9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73" name="AutoShape 9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6965" name="Group 9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6970" name="AutoShape 9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71" name="AutoShape 9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6966" name="Group 9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6968" name="AutoShape 9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69" name="AutoShape 9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6967" name="Freeform 10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6806" name="Group 178"/>
          <p:cNvGrpSpPr>
            <a:grpSpLocks/>
          </p:cNvGrpSpPr>
          <p:nvPr/>
        </p:nvGrpSpPr>
        <p:grpSpPr bwMode="auto">
          <a:xfrm>
            <a:off x="3190875" y="1447800"/>
            <a:ext cx="606425" cy="787400"/>
            <a:chOff x="1728" y="1008"/>
            <a:chExt cx="1776" cy="2304"/>
          </a:xfrm>
        </p:grpSpPr>
        <p:sp>
          <p:nvSpPr>
            <p:cNvPr id="76956" name="Rectangle 179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957" name="Rectangle 180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958" name="Line 181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959" name="Rectangle 182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6807" name="Group 6"/>
          <p:cNvGrpSpPr>
            <a:grpSpLocks/>
          </p:cNvGrpSpPr>
          <p:nvPr/>
        </p:nvGrpSpPr>
        <p:grpSpPr bwMode="auto">
          <a:xfrm>
            <a:off x="5168900" y="3765550"/>
            <a:ext cx="2628900" cy="596900"/>
            <a:chOff x="736" y="2356"/>
            <a:chExt cx="1656" cy="376"/>
          </a:xfrm>
        </p:grpSpPr>
        <p:sp>
          <p:nvSpPr>
            <p:cNvPr id="76954" name="Oval 7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6955" name="Oval 8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6808" name="Group 163"/>
          <p:cNvGrpSpPr>
            <a:grpSpLocks/>
          </p:cNvGrpSpPr>
          <p:nvPr/>
        </p:nvGrpSpPr>
        <p:grpSpPr bwMode="auto">
          <a:xfrm>
            <a:off x="5172075" y="3302000"/>
            <a:ext cx="606425" cy="787400"/>
            <a:chOff x="1728" y="1008"/>
            <a:chExt cx="1776" cy="2304"/>
          </a:xfrm>
        </p:grpSpPr>
        <p:sp>
          <p:nvSpPr>
            <p:cNvPr id="76950" name="Rectangle 16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951" name="Rectangle 16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952" name="Line 16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953" name="Rectangle 16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768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Tree Barriers</a:t>
            </a:r>
          </a:p>
        </p:txBody>
      </p:sp>
      <p:grpSp>
        <p:nvGrpSpPr>
          <p:cNvPr id="76810" name="Group 3"/>
          <p:cNvGrpSpPr>
            <a:grpSpLocks/>
          </p:cNvGrpSpPr>
          <p:nvPr/>
        </p:nvGrpSpPr>
        <p:grpSpPr bwMode="auto">
          <a:xfrm>
            <a:off x="1168400" y="3765550"/>
            <a:ext cx="2628900" cy="596900"/>
            <a:chOff x="736" y="2356"/>
            <a:chExt cx="1656" cy="376"/>
          </a:xfrm>
        </p:grpSpPr>
        <p:sp>
          <p:nvSpPr>
            <p:cNvPr id="76948" name="Oval 4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6949" name="Oval 5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sp>
        <p:nvSpPr>
          <p:cNvPr id="76811" name="Line 12"/>
          <p:cNvSpPr>
            <a:spLocks noChangeShapeType="1"/>
          </p:cNvSpPr>
          <p:nvPr/>
        </p:nvSpPr>
        <p:spPr bwMode="auto">
          <a:xfrm>
            <a:off x="21082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6812" name="Line 13"/>
          <p:cNvSpPr>
            <a:spLocks noChangeShapeType="1"/>
          </p:cNvSpPr>
          <p:nvPr/>
        </p:nvSpPr>
        <p:spPr bwMode="auto">
          <a:xfrm>
            <a:off x="61341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6813" name="Line 14"/>
          <p:cNvSpPr>
            <a:spLocks noChangeShapeType="1"/>
          </p:cNvSpPr>
          <p:nvPr/>
        </p:nvSpPr>
        <p:spPr bwMode="auto">
          <a:xfrm flipH="1">
            <a:off x="20574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6814" name="Line 15"/>
          <p:cNvSpPr>
            <a:spLocks noChangeShapeType="1"/>
          </p:cNvSpPr>
          <p:nvPr/>
        </p:nvSpPr>
        <p:spPr bwMode="auto">
          <a:xfrm flipH="1">
            <a:off x="60833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6815" name="Line 16"/>
          <p:cNvSpPr>
            <a:spLocks noChangeShapeType="1"/>
          </p:cNvSpPr>
          <p:nvPr/>
        </p:nvSpPr>
        <p:spPr bwMode="auto">
          <a:xfrm flipV="1">
            <a:off x="1778000" y="2349500"/>
            <a:ext cx="1816100" cy="158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6816" name="Line 17"/>
          <p:cNvSpPr>
            <a:spLocks noChangeShapeType="1"/>
          </p:cNvSpPr>
          <p:nvPr/>
        </p:nvSpPr>
        <p:spPr bwMode="auto">
          <a:xfrm flipH="1" flipV="1">
            <a:off x="5283200" y="2387600"/>
            <a:ext cx="419100" cy="157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6817" name="Line 18"/>
          <p:cNvSpPr>
            <a:spLocks noChangeShapeType="1"/>
          </p:cNvSpPr>
          <p:nvPr/>
        </p:nvSpPr>
        <p:spPr bwMode="auto">
          <a:xfrm>
            <a:off x="4152900" y="21780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6818" name="Line 19"/>
          <p:cNvSpPr>
            <a:spLocks noChangeShapeType="1"/>
          </p:cNvSpPr>
          <p:nvPr/>
        </p:nvSpPr>
        <p:spPr bwMode="auto">
          <a:xfrm flipH="1">
            <a:off x="4102100" y="23304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6819" name="Group 20"/>
          <p:cNvGrpSpPr>
            <a:grpSpLocks/>
          </p:cNvGrpSpPr>
          <p:nvPr/>
        </p:nvGrpSpPr>
        <p:grpSpPr bwMode="auto">
          <a:xfrm>
            <a:off x="1447800" y="3281363"/>
            <a:ext cx="635000" cy="623887"/>
            <a:chOff x="3192" y="2352"/>
            <a:chExt cx="936" cy="920"/>
          </a:xfrm>
        </p:grpSpPr>
        <p:grpSp>
          <p:nvGrpSpPr>
            <p:cNvPr id="76922" name="Group 21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6936" name="AutoShape 2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6937" name="AutoShape 2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6938" name="Group 2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6946" name="AutoShape 2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47" name="AutoShape 2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6939" name="Group 2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6944" name="AutoShape 2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45" name="AutoShape 2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6940" name="Group 3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6942" name="AutoShape 3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43" name="AutoShape 3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6941" name="Freeform 3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6923" name="Group 34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6924" name="AutoShape 35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6925" name="AutoShape 36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6926" name="Group 37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6934" name="AutoShape 3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35" name="AutoShape 3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6927" name="Group 40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6932" name="AutoShape 4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33" name="AutoShape 4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6928" name="Group 43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6930" name="AutoShape 44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31" name="AutoShape 45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6929" name="Freeform 46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6820" name="Group 47"/>
          <p:cNvGrpSpPr>
            <a:grpSpLocks/>
          </p:cNvGrpSpPr>
          <p:nvPr/>
        </p:nvGrpSpPr>
        <p:grpSpPr bwMode="auto">
          <a:xfrm>
            <a:off x="5422900" y="3306763"/>
            <a:ext cx="635000" cy="623887"/>
            <a:chOff x="3192" y="2352"/>
            <a:chExt cx="936" cy="920"/>
          </a:xfrm>
        </p:grpSpPr>
        <p:grpSp>
          <p:nvGrpSpPr>
            <p:cNvPr id="76896" name="Group 48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6910" name="AutoShape 4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6911" name="AutoShape 5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6912" name="Group 5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6920" name="AutoShape 5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21" name="AutoShape 5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6913" name="Group 5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6918" name="AutoShape 5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19" name="AutoShape 5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6914" name="Group 5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6916" name="AutoShape 5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17" name="AutoShape 5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6915" name="Freeform 6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6897" name="Group 61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6898" name="AutoShape 6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6899" name="AutoShape 6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6900" name="Group 6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6908" name="AutoShape 6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09" name="AutoShape 6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6901" name="Group 6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6906" name="AutoShape 6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07" name="AutoShape 6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6902" name="Group 7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6904" name="AutoShape 7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6905" name="AutoShape 7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6903" name="Freeform 7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6821" name="Group 101"/>
          <p:cNvGrpSpPr>
            <a:grpSpLocks/>
          </p:cNvGrpSpPr>
          <p:nvPr/>
        </p:nvGrpSpPr>
        <p:grpSpPr bwMode="auto">
          <a:xfrm>
            <a:off x="2951163" y="4787900"/>
            <a:ext cx="1219200" cy="1090613"/>
            <a:chOff x="1584" y="816"/>
            <a:chExt cx="912" cy="816"/>
          </a:xfrm>
        </p:grpSpPr>
        <p:sp>
          <p:nvSpPr>
            <p:cNvPr id="76887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88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89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90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91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92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93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94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95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76822" name="AutoShape 111"/>
          <p:cNvSpPr>
            <a:spLocks noChangeArrowheads="1"/>
          </p:cNvSpPr>
          <p:nvPr/>
        </p:nvSpPr>
        <p:spPr bwMode="auto">
          <a:xfrm>
            <a:off x="2946400" y="3898900"/>
            <a:ext cx="495300" cy="317500"/>
          </a:xfrm>
          <a:prstGeom prst="wedgeRoundRectCallout">
            <a:avLst>
              <a:gd name="adj1" fmla="val 2565"/>
              <a:gd name="adj2" fmla="val 210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2" name="Group 112"/>
          <p:cNvGrpSpPr>
            <a:grpSpLocks/>
          </p:cNvGrpSpPr>
          <p:nvPr/>
        </p:nvGrpSpPr>
        <p:grpSpPr bwMode="auto">
          <a:xfrm flipH="1">
            <a:off x="4999038" y="4953000"/>
            <a:ext cx="1219200" cy="1090613"/>
            <a:chOff x="1584" y="816"/>
            <a:chExt cx="912" cy="816"/>
          </a:xfrm>
        </p:grpSpPr>
        <p:sp>
          <p:nvSpPr>
            <p:cNvPr id="76878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79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80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81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82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83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84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85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86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52794" name="AutoShape 122"/>
          <p:cNvSpPr>
            <a:spLocks noChangeArrowheads="1"/>
          </p:cNvSpPr>
          <p:nvPr/>
        </p:nvSpPr>
        <p:spPr bwMode="auto">
          <a:xfrm>
            <a:off x="5524500" y="3937000"/>
            <a:ext cx="495300" cy="317500"/>
          </a:xfrm>
          <a:prstGeom prst="wedgeRoundRectCallout">
            <a:avLst>
              <a:gd name="adj1" fmla="val 28204"/>
              <a:gd name="adj2" fmla="val 234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6825" name="Group 123"/>
          <p:cNvGrpSpPr>
            <a:grpSpLocks/>
          </p:cNvGrpSpPr>
          <p:nvPr/>
        </p:nvGrpSpPr>
        <p:grpSpPr bwMode="auto">
          <a:xfrm flipH="1">
            <a:off x="2109788" y="2514600"/>
            <a:ext cx="1219200" cy="1090613"/>
            <a:chOff x="1584" y="816"/>
            <a:chExt cx="912" cy="816"/>
          </a:xfrm>
        </p:grpSpPr>
        <p:sp>
          <p:nvSpPr>
            <p:cNvPr id="76869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70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71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72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73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74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75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76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77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6826" name="Group 135"/>
          <p:cNvGrpSpPr>
            <a:grpSpLocks/>
          </p:cNvGrpSpPr>
          <p:nvPr/>
        </p:nvGrpSpPr>
        <p:grpSpPr bwMode="auto">
          <a:xfrm>
            <a:off x="1019175" y="3302000"/>
            <a:ext cx="606425" cy="787400"/>
            <a:chOff x="1728" y="1008"/>
            <a:chExt cx="1776" cy="2304"/>
          </a:xfrm>
        </p:grpSpPr>
        <p:sp>
          <p:nvSpPr>
            <p:cNvPr id="76865" name="Rectangle 136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66" name="Rectangle 137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67" name="Line 138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68" name="Rectangle 139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76827" name="AutoShape 140"/>
          <p:cNvSpPr>
            <a:spLocks noChangeArrowheads="1"/>
          </p:cNvSpPr>
          <p:nvPr/>
        </p:nvSpPr>
        <p:spPr bwMode="auto">
          <a:xfrm>
            <a:off x="3517900" y="2108200"/>
            <a:ext cx="495300" cy="317500"/>
          </a:xfrm>
          <a:prstGeom prst="wedgeRoundRectCallout">
            <a:avLst>
              <a:gd name="adj1" fmla="val -112819"/>
              <a:gd name="adj2" fmla="val 70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3" name="Group 141"/>
          <p:cNvGrpSpPr>
            <a:grpSpLocks/>
          </p:cNvGrpSpPr>
          <p:nvPr/>
        </p:nvGrpSpPr>
        <p:grpSpPr bwMode="auto">
          <a:xfrm>
            <a:off x="7135813" y="4787900"/>
            <a:ext cx="1219200" cy="1090613"/>
            <a:chOff x="1584" y="816"/>
            <a:chExt cx="912" cy="816"/>
          </a:xfrm>
        </p:grpSpPr>
        <p:sp>
          <p:nvSpPr>
            <p:cNvPr id="76856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57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58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59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60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61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62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63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64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4" name="Group 151"/>
          <p:cNvGrpSpPr>
            <a:grpSpLocks/>
          </p:cNvGrpSpPr>
          <p:nvPr/>
        </p:nvGrpSpPr>
        <p:grpSpPr bwMode="auto">
          <a:xfrm>
            <a:off x="5172075" y="3314700"/>
            <a:ext cx="606425" cy="787400"/>
            <a:chOff x="1728" y="1008"/>
            <a:chExt cx="1776" cy="2304"/>
          </a:xfrm>
        </p:grpSpPr>
        <p:sp>
          <p:nvSpPr>
            <p:cNvPr id="76852" name="Rectangle 152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53" name="Rectangle 153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54" name="Line 154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55" name="Rectangle 155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5" name="Group 156"/>
          <p:cNvGrpSpPr>
            <a:grpSpLocks/>
          </p:cNvGrpSpPr>
          <p:nvPr/>
        </p:nvGrpSpPr>
        <p:grpSpPr bwMode="auto">
          <a:xfrm>
            <a:off x="3178175" y="1447800"/>
            <a:ext cx="606425" cy="787400"/>
            <a:chOff x="1728" y="1008"/>
            <a:chExt cx="1776" cy="2304"/>
          </a:xfrm>
        </p:grpSpPr>
        <p:sp>
          <p:nvSpPr>
            <p:cNvPr id="76848" name="Rectangle 157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49" name="Rectangle 158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50" name="Line 159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51" name="Rectangle 160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52833" name="AutoShape 161"/>
          <p:cNvSpPr>
            <a:spLocks noChangeArrowheads="1"/>
          </p:cNvSpPr>
          <p:nvPr/>
        </p:nvSpPr>
        <p:spPr bwMode="auto">
          <a:xfrm>
            <a:off x="6997700" y="3924300"/>
            <a:ext cx="495300" cy="317500"/>
          </a:xfrm>
          <a:prstGeom prst="wedgeRoundRectCallout">
            <a:avLst>
              <a:gd name="adj1" fmla="val 28204"/>
              <a:gd name="adj2" fmla="val 206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52834" name="AutoShape 162"/>
          <p:cNvSpPr>
            <a:spLocks noChangeArrowheads="1"/>
          </p:cNvSpPr>
          <p:nvPr/>
        </p:nvSpPr>
        <p:spPr bwMode="auto">
          <a:xfrm>
            <a:off x="571500" y="1498600"/>
            <a:ext cx="1828800" cy="876300"/>
          </a:xfrm>
          <a:prstGeom prst="cloudCallout">
            <a:avLst>
              <a:gd name="adj1" fmla="val 47273"/>
              <a:gd name="adj2" fmla="val 85144"/>
            </a:avLst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r>
              <a:rPr lang="en-US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Bingo!</a:t>
            </a:r>
          </a:p>
        </p:txBody>
      </p:sp>
      <p:grpSp>
        <p:nvGrpSpPr>
          <p:cNvPr id="76833" name="Group 168"/>
          <p:cNvGrpSpPr>
            <a:grpSpLocks/>
          </p:cNvGrpSpPr>
          <p:nvPr/>
        </p:nvGrpSpPr>
        <p:grpSpPr bwMode="auto">
          <a:xfrm>
            <a:off x="6645275" y="3213100"/>
            <a:ext cx="606425" cy="787400"/>
            <a:chOff x="1728" y="1008"/>
            <a:chExt cx="1776" cy="2304"/>
          </a:xfrm>
        </p:grpSpPr>
        <p:sp>
          <p:nvSpPr>
            <p:cNvPr id="76844" name="Rectangle 169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45" name="Rectangle 170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6846" name="Line 171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47" name="Rectangle 172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6834" name="Group 173"/>
          <p:cNvGrpSpPr>
            <a:grpSpLocks/>
          </p:cNvGrpSpPr>
          <p:nvPr/>
        </p:nvGrpSpPr>
        <p:grpSpPr bwMode="auto">
          <a:xfrm>
            <a:off x="4689475" y="1485900"/>
            <a:ext cx="606425" cy="787400"/>
            <a:chOff x="1728" y="1008"/>
            <a:chExt cx="1776" cy="2304"/>
          </a:xfrm>
        </p:grpSpPr>
        <p:sp>
          <p:nvSpPr>
            <p:cNvPr id="76840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41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42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43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6835" name="Group 183"/>
          <p:cNvGrpSpPr>
            <a:grpSpLocks/>
          </p:cNvGrpSpPr>
          <p:nvPr/>
        </p:nvGrpSpPr>
        <p:grpSpPr bwMode="auto">
          <a:xfrm>
            <a:off x="2606675" y="3263900"/>
            <a:ext cx="606425" cy="787400"/>
            <a:chOff x="1728" y="1008"/>
            <a:chExt cx="1776" cy="2304"/>
          </a:xfrm>
        </p:grpSpPr>
        <p:sp>
          <p:nvSpPr>
            <p:cNvPr id="76836" name="Rectangle 18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37" name="Rectangle 18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38" name="Line 18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6839" name="Rectangle 18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5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10527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7.40741E-7 C 0.04184 -0.06574 0.08385 -0.13125 0.08333 -0.18889 C 0.08281 -0.24653 0.01163 -0.32014 -0.00278 -0.3463 " pathEditMode="relative" ptsTypes="aaA">
                                      <p:cBhvr>
                                        <p:cTn id="2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5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794" grpId="0" animBg="1"/>
      <p:bldP spid="1052833" grpId="0" animBg="1"/>
      <p:bldP spid="105283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B6B9707-6C18-493C-91A9-73DC84698187}" type="slidenum">
              <a:rPr lang="en-US" smtClean="0"/>
              <a:pPr/>
              <a:t>73</a:t>
            </a:fld>
            <a:endParaRPr lang="en-US"/>
          </a:p>
        </p:txBody>
      </p:sp>
      <p:grpSp>
        <p:nvGrpSpPr>
          <p:cNvPr id="77828" name="Group 2"/>
          <p:cNvGrpSpPr>
            <a:grpSpLocks/>
          </p:cNvGrpSpPr>
          <p:nvPr/>
        </p:nvGrpSpPr>
        <p:grpSpPr bwMode="auto">
          <a:xfrm>
            <a:off x="3219450" y="1962150"/>
            <a:ext cx="2628900" cy="596900"/>
            <a:chOff x="736" y="2356"/>
            <a:chExt cx="1656" cy="376"/>
          </a:xfrm>
        </p:grpSpPr>
        <p:sp>
          <p:nvSpPr>
            <p:cNvPr id="78024" name="Oval 3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8025" name="Oval 4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7829" name="Group 5"/>
          <p:cNvGrpSpPr>
            <a:grpSpLocks/>
          </p:cNvGrpSpPr>
          <p:nvPr/>
        </p:nvGrpSpPr>
        <p:grpSpPr bwMode="auto">
          <a:xfrm>
            <a:off x="3454400" y="1566863"/>
            <a:ext cx="635000" cy="623887"/>
            <a:chOff x="3192" y="2352"/>
            <a:chExt cx="936" cy="920"/>
          </a:xfrm>
        </p:grpSpPr>
        <p:grpSp>
          <p:nvGrpSpPr>
            <p:cNvPr id="77998" name="Group 6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8012" name="AutoShape 7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8013" name="AutoShape 8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8014" name="Group 9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8022" name="AutoShape 10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8023" name="AutoShape 11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8015" name="Group 12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8020" name="AutoShape 13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8021" name="AutoShape 14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8016" name="Group 15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8018" name="AutoShape 16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8019" name="AutoShape 17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8017" name="Freeform 18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7999" name="Group 19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8000" name="AutoShape 20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8001" name="AutoShape 21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8002" name="Group 22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8010" name="AutoShape 23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8011" name="AutoShape 24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8003" name="Group 25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8008" name="AutoShape 26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8009" name="AutoShape 27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8004" name="Group 28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8006" name="AutoShape 29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8007" name="AutoShape 30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8005" name="Freeform 31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7830" name="Group 32"/>
          <p:cNvGrpSpPr>
            <a:grpSpLocks/>
          </p:cNvGrpSpPr>
          <p:nvPr/>
        </p:nvGrpSpPr>
        <p:grpSpPr bwMode="auto">
          <a:xfrm>
            <a:off x="3190875" y="1447800"/>
            <a:ext cx="606425" cy="787400"/>
            <a:chOff x="1728" y="1008"/>
            <a:chExt cx="1776" cy="2304"/>
          </a:xfrm>
        </p:grpSpPr>
        <p:sp>
          <p:nvSpPr>
            <p:cNvPr id="77994" name="Rectangle 33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95" name="Rectangle 34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96" name="Line 35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97" name="Rectangle 36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7831" name="Group 37"/>
          <p:cNvGrpSpPr>
            <a:grpSpLocks/>
          </p:cNvGrpSpPr>
          <p:nvPr/>
        </p:nvGrpSpPr>
        <p:grpSpPr bwMode="auto">
          <a:xfrm>
            <a:off x="5168900" y="3765550"/>
            <a:ext cx="2628900" cy="596900"/>
            <a:chOff x="736" y="2356"/>
            <a:chExt cx="1656" cy="376"/>
          </a:xfrm>
        </p:grpSpPr>
        <p:sp>
          <p:nvSpPr>
            <p:cNvPr id="77992" name="Oval 38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7993" name="Oval 39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grpSp>
        <p:nvGrpSpPr>
          <p:cNvPr id="77832" name="Group 40"/>
          <p:cNvGrpSpPr>
            <a:grpSpLocks/>
          </p:cNvGrpSpPr>
          <p:nvPr/>
        </p:nvGrpSpPr>
        <p:grpSpPr bwMode="auto">
          <a:xfrm>
            <a:off x="5172075" y="3302000"/>
            <a:ext cx="606425" cy="787400"/>
            <a:chOff x="1728" y="1008"/>
            <a:chExt cx="1776" cy="2304"/>
          </a:xfrm>
        </p:grpSpPr>
        <p:sp>
          <p:nvSpPr>
            <p:cNvPr id="77988" name="Rectangle 41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89" name="Rectangle 42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90" name="Line 43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91" name="Rectangle 44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77833" name="Rectangle 4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Tree Barriers</a:t>
            </a:r>
          </a:p>
        </p:txBody>
      </p:sp>
      <p:grpSp>
        <p:nvGrpSpPr>
          <p:cNvPr id="77834" name="Group 46"/>
          <p:cNvGrpSpPr>
            <a:grpSpLocks/>
          </p:cNvGrpSpPr>
          <p:nvPr/>
        </p:nvGrpSpPr>
        <p:grpSpPr bwMode="auto">
          <a:xfrm>
            <a:off x="1168400" y="3765550"/>
            <a:ext cx="2628900" cy="596900"/>
            <a:chOff x="736" y="2356"/>
            <a:chExt cx="1656" cy="376"/>
          </a:xfrm>
        </p:grpSpPr>
        <p:sp>
          <p:nvSpPr>
            <p:cNvPr id="77986" name="Oval 47"/>
            <p:cNvSpPr>
              <a:spLocks noChangeArrowheads="1"/>
            </p:cNvSpPr>
            <p:nvPr/>
          </p:nvSpPr>
          <p:spPr bwMode="auto">
            <a:xfrm>
              <a:off x="1640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7987" name="Oval 48"/>
            <p:cNvSpPr>
              <a:spLocks noChangeArrowheads="1"/>
            </p:cNvSpPr>
            <p:nvPr/>
          </p:nvSpPr>
          <p:spPr bwMode="auto">
            <a:xfrm>
              <a:off x="736" y="2356"/>
              <a:ext cx="752" cy="376"/>
            </a:xfrm>
            <a:prstGeom prst="ellipse">
              <a:avLst/>
            </a:prstGeom>
            <a:solidFill>
              <a:srgbClr val="CC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en-US" sz="2000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sp>
        <p:nvSpPr>
          <p:cNvPr id="77835" name="Line 49"/>
          <p:cNvSpPr>
            <a:spLocks noChangeShapeType="1"/>
          </p:cNvSpPr>
          <p:nvPr/>
        </p:nvSpPr>
        <p:spPr bwMode="auto">
          <a:xfrm>
            <a:off x="21082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7836" name="Line 50"/>
          <p:cNvSpPr>
            <a:spLocks noChangeShapeType="1"/>
          </p:cNvSpPr>
          <p:nvPr/>
        </p:nvSpPr>
        <p:spPr bwMode="auto">
          <a:xfrm>
            <a:off x="6134100" y="39687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7837" name="Line 51"/>
          <p:cNvSpPr>
            <a:spLocks noChangeShapeType="1"/>
          </p:cNvSpPr>
          <p:nvPr/>
        </p:nvSpPr>
        <p:spPr bwMode="auto">
          <a:xfrm flipH="1">
            <a:off x="20574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7838" name="Line 52"/>
          <p:cNvSpPr>
            <a:spLocks noChangeShapeType="1"/>
          </p:cNvSpPr>
          <p:nvPr/>
        </p:nvSpPr>
        <p:spPr bwMode="auto">
          <a:xfrm flipH="1">
            <a:off x="6083300" y="41211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7839" name="Line 53"/>
          <p:cNvSpPr>
            <a:spLocks noChangeShapeType="1"/>
          </p:cNvSpPr>
          <p:nvPr/>
        </p:nvSpPr>
        <p:spPr bwMode="auto">
          <a:xfrm flipV="1">
            <a:off x="1778000" y="2349500"/>
            <a:ext cx="1816100" cy="158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7840" name="Line 54"/>
          <p:cNvSpPr>
            <a:spLocks noChangeShapeType="1"/>
          </p:cNvSpPr>
          <p:nvPr/>
        </p:nvSpPr>
        <p:spPr bwMode="auto">
          <a:xfrm flipH="1" flipV="1">
            <a:off x="5283200" y="2387600"/>
            <a:ext cx="419100" cy="157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7841" name="Line 55"/>
          <p:cNvSpPr>
            <a:spLocks noChangeShapeType="1"/>
          </p:cNvSpPr>
          <p:nvPr/>
        </p:nvSpPr>
        <p:spPr bwMode="auto">
          <a:xfrm>
            <a:off x="4152900" y="21780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7842" name="Line 56"/>
          <p:cNvSpPr>
            <a:spLocks noChangeShapeType="1"/>
          </p:cNvSpPr>
          <p:nvPr/>
        </p:nvSpPr>
        <p:spPr bwMode="auto">
          <a:xfrm flipH="1">
            <a:off x="4102100" y="233045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7843" name="Group 57"/>
          <p:cNvGrpSpPr>
            <a:grpSpLocks/>
          </p:cNvGrpSpPr>
          <p:nvPr/>
        </p:nvGrpSpPr>
        <p:grpSpPr bwMode="auto">
          <a:xfrm>
            <a:off x="1447800" y="3281363"/>
            <a:ext cx="635000" cy="623887"/>
            <a:chOff x="3192" y="2352"/>
            <a:chExt cx="936" cy="920"/>
          </a:xfrm>
        </p:grpSpPr>
        <p:grpSp>
          <p:nvGrpSpPr>
            <p:cNvPr id="77960" name="Group 58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7974" name="AutoShape 5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7975" name="AutoShape 6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7976" name="Group 6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7984" name="AutoShape 6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7985" name="AutoShape 6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7977" name="Group 6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7982" name="AutoShape 6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7983" name="AutoShape 6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7978" name="Group 6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7980" name="AutoShape 6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7981" name="AutoShape 6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7979" name="Freeform 7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7961" name="Group 71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7962" name="AutoShape 72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7963" name="AutoShape 73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7964" name="Group 74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7972" name="AutoShape 7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7973" name="AutoShape 7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7965" name="Group 77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7970" name="AutoShape 7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7971" name="AutoShape 7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7966" name="Group 80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7968" name="AutoShape 81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7969" name="AutoShape 82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7967" name="Freeform 83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7844" name="Group 84"/>
          <p:cNvGrpSpPr>
            <a:grpSpLocks/>
          </p:cNvGrpSpPr>
          <p:nvPr/>
        </p:nvGrpSpPr>
        <p:grpSpPr bwMode="auto">
          <a:xfrm>
            <a:off x="5422900" y="3306763"/>
            <a:ext cx="635000" cy="623887"/>
            <a:chOff x="3192" y="2352"/>
            <a:chExt cx="936" cy="920"/>
          </a:xfrm>
        </p:grpSpPr>
        <p:grpSp>
          <p:nvGrpSpPr>
            <p:cNvPr id="77934" name="Group 85"/>
            <p:cNvGrpSpPr>
              <a:grpSpLocks/>
            </p:cNvGrpSpPr>
            <p:nvPr/>
          </p:nvGrpSpPr>
          <p:grpSpPr bwMode="auto">
            <a:xfrm>
              <a:off x="3304" y="2352"/>
              <a:ext cx="824" cy="896"/>
              <a:chOff x="-176" y="2720"/>
              <a:chExt cx="824" cy="896"/>
            </a:xfrm>
          </p:grpSpPr>
          <p:sp>
            <p:nvSpPr>
              <p:cNvPr id="77948" name="AutoShape 86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7949" name="AutoShape 87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7950" name="Group 88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7958" name="AutoShape 89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7959" name="AutoShape 90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7951" name="Group 91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7956" name="AutoShape 9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7957" name="AutoShape 9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7952" name="Group 94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7954" name="AutoShape 9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7955" name="AutoShape 9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7953" name="Freeform 97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77935" name="Group 98"/>
            <p:cNvGrpSpPr>
              <a:grpSpLocks/>
            </p:cNvGrpSpPr>
            <p:nvPr/>
          </p:nvGrpSpPr>
          <p:grpSpPr bwMode="auto">
            <a:xfrm flipH="1">
              <a:off x="3192" y="2376"/>
              <a:ext cx="824" cy="896"/>
              <a:chOff x="-176" y="2720"/>
              <a:chExt cx="824" cy="896"/>
            </a:xfrm>
          </p:grpSpPr>
          <p:sp>
            <p:nvSpPr>
              <p:cNvPr id="77936" name="AutoShape 99"/>
              <p:cNvSpPr>
                <a:spLocks noChangeArrowheads="1"/>
              </p:cNvSpPr>
              <p:nvPr/>
            </p:nvSpPr>
            <p:spPr bwMode="auto">
              <a:xfrm>
                <a:off x="400" y="3136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77937" name="AutoShape 100"/>
              <p:cNvSpPr>
                <a:spLocks noChangeArrowheads="1"/>
              </p:cNvSpPr>
              <p:nvPr/>
            </p:nvSpPr>
            <p:spPr bwMode="auto">
              <a:xfrm rot="2143461">
                <a:off x="520" y="3104"/>
                <a:ext cx="120" cy="192"/>
              </a:xfrm>
              <a:prstGeom prst="diamond">
                <a:avLst/>
              </a:prstGeom>
              <a:solidFill>
                <a:srgbClr val="33CC33"/>
              </a:solidFill>
              <a:ln w="38100">
                <a:solidFill>
                  <a:srgbClr val="33CC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grpSp>
            <p:nvGrpSpPr>
              <p:cNvPr id="77938" name="Group 101"/>
              <p:cNvGrpSpPr>
                <a:grpSpLocks/>
              </p:cNvGrpSpPr>
              <p:nvPr/>
            </p:nvGrpSpPr>
            <p:grpSpPr bwMode="auto">
              <a:xfrm rot="-2902327">
                <a:off x="416" y="2888"/>
                <a:ext cx="240" cy="224"/>
                <a:chOff x="496" y="3200"/>
                <a:chExt cx="240" cy="224"/>
              </a:xfrm>
            </p:grpSpPr>
            <p:sp>
              <p:nvSpPr>
                <p:cNvPr id="77946" name="AutoShape 102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7947" name="AutoShape 103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7939" name="Group 104"/>
              <p:cNvGrpSpPr>
                <a:grpSpLocks/>
              </p:cNvGrpSpPr>
              <p:nvPr/>
            </p:nvGrpSpPr>
            <p:grpSpPr bwMode="auto">
              <a:xfrm rot="-4011983">
                <a:off x="280" y="2728"/>
                <a:ext cx="240" cy="224"/>
                <a:chOff x="496" y="3200"/>
                <a:chExt cx="240" cy="224"/>
              </a:xfrm>
            </p:grpSpPr>
            <p:sp>
              <p:nvSpPr>
                <p:cNvPr id="77944" name="AutoShape 105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7945" name="AutoShape 106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77940" name="Group 107"/>
              <p:cNvGrpSpPr>
                <a:grpSpLocks/>
              </p:cNvGrpSpPr>
              <p:nvPr/>
            </p:nvGrpSpPr>
            <p:grpSpPr bwMode="auto">
              <a:xfrm rot="2117542">
                <a:off x="280" y="3256"/>
                <a:ext cx="240" cy="224"/>
                <a:chOff x="496" y="3200"/>
                <a:chExt cx="240" cy="224"/>
              </a:xfrm>
            </p:grpSpPr>
            <p:sp>
              <p:nvSpPr>
                <p:cNvPr id="77942" name="AutoShape 108"/>
                <p:cNvSpPr>
                  <a:spLocks noChangeArrowheads="1"/>
                </p:cNvSpPr>
                <p:nvPr/>
              </p:nvSpPr>
              <p:spPr bwMode="auto">
                <a:xfrm>
                  <a:off x="496" y="3232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  <p:sp>
              <p:nvSpPr>
                <p:cNvPr id="77943" name="AutoShape 109"/>
                <p:cNvSpPr>
                  <a:spLocks noChangeArrowheads="1"/>
                </p:cNvSpPr>
                <p:nvPr/>
              </p:nvSpPr>
              <p:spPr bwMode="auto">
                <a:xfrm rot="2143461">
                  <a:off x="616" y="3200"/>
                  <a:ext cx="120" cy="192"/>
                </a:xfrm>
                <a:prstGeom prst="diamond">
                  <a:avLst/>
                </a:prstGeom>
                <a:solidFill>
                  <a:srgbClr val="33CC33"/>
                </a:solidFill>
                <a:ln w="38100">
                  <a:solidFill>
                    <a:srgbClr val="33CC33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>
                    <a:latin typeface="Arial" pitchFamily="34" charset="0"/>
                  </a:endParaRPr>
                </a:p>
              </p:txBody>
            </p:sp>
          </p:grpSp>
          <p:sp>
            <p:nvSpPr>
              <p:cNvPr id="77941" name="Freeform 110"/>
              <p:cNvSpPr>
                <a:spLocks/>
              </p:cNvSpPr>
              <p:nvPr/>
            </p:nvSpPr>
            <p:spPr bwMode="auto">
              <a:xfrm>
                <a:off x="-176" y="3472"/>
                <a:ext cx="464" cy="144"/>
              </a:xfrm>
              <a:custGeom>
                <a:avLst/>
                <a:gdLst>
                  <a:gd name="T0" fmla="*/ 464 w 464"/>
                  <a:gd name="T1" fmla="*/ 0 h 216"/>
                  <a:gd name="T2" fmla="*/ 224 w 464"/>
                  <a:gd name="T3" fmla="*/ 1 h 216"/>
                  <a:gd name="T4" fmla="*/ 0 w 464"/>
                  <a:gd name="T5" fmla="*/ 4 h 216"/>
                  <a:gd name="T6" fmla="*/ 144 w 464"/>
                  <a:gd name="T7" fmla="*/ 6 h 216"/>
                  <a:gd name="T8" fmla="*/ 312 w 464"/>
                  <a:gd name="T9" fmla="*/ 3 h 216"/>
                  <a:gd name="T10" fmla="*/ 464 w 464"/>
                  <a:gd name="T11" fmla="*/ 0 h 2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4"/>
                  <a:gd name="T19" fmla="*/ 0 h 216"/>
                  <a:gd name="T20" fmla="*/ 464 w 464"/>
                  <a:gd name="T21" fmla="*/ 216 h 2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4" h="216">
                    <a:moveTo>
                      <a:pt x="464" y="0"/>
                    </a:moveTo>
                    <a:lnTo>
                      <a:pt x="224" y="32"/>
                    </a:lnTo>
                    <a:lnTo>
                      <a:pt x="0" y="144"/>
                    </a:lnTo>
                    <a:lnTo>
                      <a:pt x="144" y="216"/>
                    </a:lnTo>
                    <a:lnTo>
                      <a:pt x="312" y="96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33CC33"/>
              </a:solidFill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8027" name="Group 111"/>
          <p:cNvGrpSpPr>
            <a:grpSpLocks/>
          </p:cNvGrpSpPr>
          <p:nvPr/>
        </p:nvGrpSpPr>
        <p:grpSpPr bwMode="auto">
          <a:xfrm>
            <a:off x="2951163" y="4787900"/>
            <a:ext cx="1219200" cy="1090613"/>
            <a:chOff x="1584" y="816"/>
            <a:chExt cx="912" cy="816"/>
          </a:xfrm>
        </p:grpSpPr>
        <p:sp>
          <p:nvSpPr>
            <p:cNvPr id="77925" name="Freeform 11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26" name="Freeform 11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27" name="Freeform 11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28" name="Freeform 11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29" name="Freeform 11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30" name="Freeform 11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31" name="Freeform 11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32" name="Freeform 11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33" name="Freeform 12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54841" name="AutoShape 121"/>
          <p:cNvSpPr>
            <a:spLocks noChangeArrowheads="1"/>
          </p:cNvSpPr>
          <p:nvPr/>
        </p:nvSpPr>
        <p:spPr bwMode="auto">
          <a:xfrm>
            <a:off x="2946400" y="3898900"/>
            <a:ext cx="495300" cy="317500"/>
          </a:xfrm>
          <a:prstGeom prst="wedgeRoundRectCallout">
            <a:avLst>
              <a:gd name="adj1" fmla="val 220514"/>
              <a:gd name="adj2" fmla="val 238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8028" name="Group 122"/>
          <p:cNvGrpSpPr>
            <a:grpSpLocks/>
          </p:cNvGrpSpPr>
          <p:nvPr/>
        </p:nvGrpSpPr>
        <p:grpSpPr bwMode="auto">
          <a:xfrm flipH="1">
            <a:off x="4135438" y="2590800"/>
            <a:ext cx="1219200" cy="1090613"/>
            <a:chOff x="1584" y="816"/>
            <a:chExt cx="912" cy="816"/>
          </a:xfrm>
        </p:grpSpPr>
        <p:sp>
          <p:nvSpPr>
            <p:cNvPr id="77916" name="Freeform 12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17" name="Freeform 12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18" name="Freeform 12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19" name="Freeform 12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20" name="Freeform 12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21" name="Freeform 12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99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22" name="Freeform 12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23" name="Freeform 13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24" name="Freeform 13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8029" name="Group 133"/>
          <p:cNvGrpSpPr>
            <a:grpSpLocks/>
          </p:cNvGrpSpPr>
          <p:nvPr/>
        </p:nvGrpSpPr>
        <p:grpSpPr bwMode="auto">
          <a:xfrm flipH="1">
            <a:off x="2109788" y="2514600"/>
            <a:ext cx="1219200" cy="1090613"/>
            <a:chOff x="1584" y="816"/>
            <a:chExt cx="912" cy="816"/>
          </a:xfrm>
        </p:grpSpPr>
        <p:sp>
          <p:nvSpPr>
            <p:cNvPr id="77907" name="Freeform 13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08" name="Freeform 13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09" name="Freeform 13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10" name="Freeform 13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11" name="Freeform 13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12" name="Freeform 13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13" name="Freeform 14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14" name="Freeform 14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15" name="Freeform 14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7849" name="Group 143"/>
          <p:cNvGrpSpPr>
            <a:grpSpLocks/>
          </p:cNvGrpSpPr>
          <p:nvPr/>
        </p:nvGrpSpPr>
        <p:grpSpPr bwMode="auto">
          <a:xfrm>
            <a:off x="1019175" y="3302000"/>
            <a:ext cx="606425" cy="787400"/>
            <a:chOff x="1728" y="1008"/>
            <a:chExt cx="1776" cy="2304"/>
          </a:xfrm>
        </p:grpSpPr>
        <p:sp>
          <p:nvSpPr>
            <p:cNvPr id="77903" name="Rectangle 14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04" name="Rectangle 14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05" name="Line 14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06" name="Rectangle 14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54868" name="AutoShape 148"/>
          <p:cNvSpPr>
            <a:spLocks noChangeArrowheads="1"/>
          </p:cNvSpPr>
          <p:nvPr/>
        </p:nvSpPr>
        <p:spPr bwMode="auto">
          <a:xfrm>
            <a:off x="3517900" y="2108200"/>
            <a:ext cx="495300" cy="317500"/>
          </a:xfrm>
          <a:prstGeom prst="wedgeRoundRectCallout">
            <a:avLst>
              <a:gd name="adj1" fmla="val -112819"/>
              <a:gd name="adj2" fmla="val 70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8031" name="Group 149"/>
          <p:cNvGrpSpPr>
            <a:grpSpLocks/>
          </p:cNvGrpSpPr>
          <p:nvPr/>
        </p:nvGrpSpPr>
        <p:grpSpPr bwMode="auto">
          <a:xfrm>
            <a:off x="7135813" y="4787900"/>
            <a:ext cx="1219200" cy="1090613"/>
            <a:chOff x="1584" y="816"/>
            <a:chExt cx="912" cy="816"/>
          </a:xfrm>
        </p:grpSpPr>
        <p:sp>
          <p:nvSpPr>
            <p:cNvPr id="77894" name="Freeform 150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95" name="Freeform 151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96" name="Freeform 152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97" name="Freeform 153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98" name="Freeform 154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99" name="Freeform 155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00" name="Freeform 156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01" name="Freeform 157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902" name="Freeform 158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7852" name="Group 159"/>
          <p:cNvGrpSpPr>
            <a:grpSpLocks/>
          </p:cNvGrpSpPr>
          <p:nvPr/>
        </p:nvGrpSpPr>
        <p:grpSpPr bwMode="auto">
          <a:xfrm>
            <a:off x="5172075" y="3314700"/>
            <a:ext cx="606425" cy="787400"/>
            <a:chOff x="1728" y="1008"/>
            <a:chExt cx="1776" cy="2304"/>
          </a:xfrm>
        </p:grpSpPr>
        <p:sp>
          <p:nvSpPr>
            <p:cNvPr id="77890" name="Rectangle 160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91" name="Rectangle 161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92" name="Line 162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93" name="Rectangle 163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7853" name="Group 164"/>
          <p:cNvGrpSpPr>
            <a:grpSpLocks/>
          </p:cNvGrpSpPr>
          <p:nvPr/>
        </p:nvGrpSpPr>
        <p:grpSpPr bwMode="auto">
          <a:xfrm>
            <a:off x="3178175" y="1447800"/>
            <a:ext cx="606425" cy="787400"/>
            <a:chOff x="1728" y="1008"/>
            <a:chExt cx="1776" cy="2304"/>
          </a:xfrm>
        </p:grpSpPr>
        <p:sp>
          <p:nvSpPr>
            <p:cNvPr id="77886" name="Rectangle 165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87" name="Rectangle 166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88" name="Line 167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89" name="Rectangle 168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54889" name="AutoShape 169"/>
          <p:cNvSpPr>
            <a:spLocks noChangeArrowheads="1"/>
          </p:cNvSpPr>
          <p:nvPr/>
        </p:nvSpPr>
        <p:spPr bwMode="auto">
          <a:xfrm>
            <a:off x="6997700" y="3924300"/>
            <a:ext cx="495300" cy="317500"/>
          </a:xfrm>
          <a:prstGeom prst="wedgeRoundRectCallout">
            <a:avLst>
              <a:gd name="adj1" fmla="val 28204"/>
              <a:gd name="adj2" fmla="val 206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77855" name="Group 171"/>
          <p:cNvGrpSpPr>
            <a:grpSpLocks/>
          </p:cNvGrpSpPr>
          <p:nvPr/>
        </p:nvGrpSpPr>
        <p:grpSpPr bwMode="auto">
          <a:xfrm>
            <a:off x="6645275" y="3213100"/>
            <a:ext cx="606425" cy="787400"/>
            <a:chOff x="1728" y="1008"/>
            <a:chExt cx="1776" cy="2304"/>
          </a:xfrm>
        </p:grpSpPr>
        <p:sp>
          <p:nvSpPr>
            <p:cNvPr id="77882" name="Rectangle 172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83" name="Rectangle 173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77884" name="Line 174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85" name="Rectangle 175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7856" name="Group 176"/>
          <p:cNvGrpSpPr>
            <a:grpSpLocks/>
          </p:cNvGrpSpPr>
          <p:nvPr/>
        </p:nvGrpSpPr>
        <p:grpSpPr bwMode="auto">
          <a:xfrm>
            <a:off x="4689475" y="1485900"/>
            <a:ext cx="606425" cy="787400"/>
            <a:chOff x="1728" y="1008"/>
            <a:chExt cx="1776" cy="2304"/>
          </a:xfrm>
        </p:grpSpPr>
        <p:sp>
          <p:nvSpPr>
            <p:cNvPr id="77878" name="Rectangle 177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79" name="Rectangle 178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80" name="Line 179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81" name="Rectangle 180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7857" name="Group 181"/>
          <p:cNvGrpSpPr>
            <a:grpSpLocks/>
          </p:cNvGrpSpPr>
          <p:nvPr/>
        </p:nvGrpSpPr>
        <p:grpSpPr bwMode="auto">
          <a:xfrm>
            <a:off x="2606675" y="3263900"/>
            <a:ext cx="606425" cy="787400"/>
            <a:chOff x="1728" y="1008"/>
            <a:chExt cx="1776" cy="2304"/>
          </a:xfrm>
        </p:grpSpPr>
        <p:sp>
          <p:nvSpPr>
            <p:cNvPr id="77874" name="Rectangle 182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75" name="Rectangle 183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76" name="Line 184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77" name="Rectangle 185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8037" name="Group 186"/>
          <p:cNvGrpSpPr>
            <a:grpSpLocks/>
          </p:cNvGrpSpPr>
          <p:nvPr/>
        </p:nvGrpSpPr>
        <p:grpSpPr bwMode="auto">
          <a:xfrm>
            <a:off x="4676775" y="1485900"/>
            <a:ext cx="606425" cy="787400"/>
            <a:chOff x="1728" y="1008"/>
            <a:chExt cx="1776" cy="2304"/>
          </a:xfrm>
        </p:grpSpPr>
        <p:sp>
          <p:nvSpPr>
            <p:cNvPr id="77870" name="Rectangle 187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71" name="Rectangle 188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72" name="Line 189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73" name="Rectangle 190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8038" name="Group 191"/>
          <p:cNvGrpSpPr>
            <a:grpSpLocks/>
          </p:cNvGrpSpPr>
          <p:nvPr/>
        </p:nvGrpSpPr>
        <p:grpSpPr bwMode="auto">
          <a:xfrm>
            <a:off x="2606675" y="3263900"/>
            <a:ext cx="606425" cy="787400"/>
            <a:chOff x="1728" y="1008"/>
            <a:chExt cx="1776" cy="2304"/>
          </a:xfrm>
        </p:grpSpPr>
        <p:sp>
          <p:nvSpPr>
            <p:cNvPr id="77866" name="Rectangle 192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67" name="Rectangle 193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68" name="Line 194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69" name="Rectangle 195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78039" name="Group 196"/>
          <p:cNvGrpSpPr>
            <a:grpSpLocks/>
          </p:cNvGrpSpPr>
          <p:nvPr/>
        </p:nvGrpSpPr>
        <p:grpSpPr bwMode="auto">
          <a:xfrm>
            <a:off x="6645275" y="3213100"/>
            <a:ext cx="606425" cy="787400"/>
            <a:chOff x="1728" y="1008"/>
            <a:chExt cx="1776" cy="2304"/>
          </a:xfrm>
        </p:grpSpPr>
        <p:sp>
          <p:nvSpPr>
            <p:cNvPr id="77862" name="Rectangle 197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63" name="Rectangle 198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64" name="Line 199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77865" name="Rectangle 200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54921" name="Text Box 201"/>
          <p:cNvSpPr txBox="1">
            <a:spLocks noChangeArrowheads="1"/>
          </p:cNvSpPr>
          <p:nvPr/>
        </p:nvSpPr>
        <p:spPr bwMode="auto">
          <a:xfrm>
            <a:off x="4416425" y="4673600"/>
            <a:ext cx="2784475" cy="12003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Sense-reversing: next time use blue flags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0548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5E-6 8.14815E-6 C -0.00331 0.05695 -0.00643 0.1139 -0.04167 0.16853 C -0.07692 0.22315 -0.1441 0.27547 -0.21112 0.32778 " pathEditMode="relative" ptsTypes="aaA">
                                      <p:cBhvr>
                                        <p:cTn id="16" dur="2000" fill="hold"/>
                                        <p:tgtEl>
                                          <p:spTgt spid="780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7037E-6 C 0.08299 0.04907 0.16597 0.09815 0.17778 0.1537 C 0.18959 0.20926 0.13021 0.2713 0.07084 0.33333 " pathEditMode="relative" ptsTypes="aaA">
                                      <p:cBhvr>
                                        <p:cTn id="24" dur="2000" fill="hold"/>
                                        <p:tgtEl>
                                          <p:spTgt spid="78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0548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78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78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10548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78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78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05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41" grpId="0" animBg="1"/>
      <p:bldP spid="1054868" grpId="0" animBg="1"/>
      <p:bldP spid="1054889" grpId="0" animBg="1"/>
      <p:bldP spid="10549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7885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A97CD4E-9A98-4486-9CF9-395C29D443D4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788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78853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2616101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class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volatile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flag;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partner;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parent;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top;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…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29371AA-41CD-437F-A3F7-A2EB77B87392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79877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2616101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class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volatile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flag;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partner;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parent;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top;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…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79878" name="AutoShape 8"/>
          <p:cNvSpPr>
            <a:spLocks noChangeArrowheads="1"/>
          </p:cNvSpPr>
          <p:nvPr/>
        </p:nvSpPr>
        <p:spPr bwMode="auto">
          <a:xfrm>
            <a:off x="1104900" y="2120900"/>
            <a:ext cx="3467100" cy="431800"/>
          </a:xfrm>
          <a:prstGeom prst="wedgeRoundRectCallout">
            <a:avLst>
              <a:gd name="adj1" fmla="val 61329"/>
              <a:gd name="adj2" fmla="val 100246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79879" name="Text Box 9"/>
          <p:cNvSpPr txBox="1">
            <a:spLocks noChangeArrowheads="1"/>
          </p:cNvSpPr>
          <p:nvPr/>
        </p:nvSpPr>
        <p:spPr bwMode="auto">
          <a:xfrm>
            <a:off x="4673600" y="2357438"/>
            <a:ext cx="2949575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Notifications delivered here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808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55EE762-A4D3-4179-9F24-F4473CE14581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809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80901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2616101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class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volatile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flag;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partner;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parent;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top;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…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80902" name="AutoShape 4"/>
          <p:cNvSpPr>
            <a:spLocks noChangeArrowheads="1"/>
          </p:cNvSpPr>
          <p:nvPr/>
        </p:nvSpPr>
        <p:spPr bwMode="auto">
          <a:xfrm>
            <a:off x="1193800" y="2451100"/>
            <a:ext cx="2654300" cy="431800"/>
          </a:xfrm>
          <a:prstGeom prst="wedgeRoundRectCallout">
            <a:avLst>
              <a:gd name="adj1" fmla="val 87977"/>
              <a:gd name="adj2" fmla="val 16912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80903" name="Text Box 5"/>
          <p:cNvSpPr txBox="1">
            <a:spLocks noChangeArrowheads="1"/>
          </p:cNvSpPr>
          <p:nvPr/>
        </p:nvSpPr>
        <p:spPr bwMode="auto">
          <a:xfrm>
            <a:off x="4533900" y="2281238"/>
            <a:ext cx="2949575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Other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thead</a:t>
            </a:r>
            <a:r>
              <a:rPr lang="en-US" dirty="0">
                <a:latin typeface="Arial" pitchFamily="34" charset="0"/>
                <a:cs typeface="Arial" pitchFamily="34" charset="0"/>
              </a:rPr>
              <a:t> at same level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8192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2895F61-F80A-4EF2-A03A-8C3168CCBD72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819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81925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2616101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class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volatile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flag;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partner;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parent;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top;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…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81926" name="AutoShape 4"/>
          <p:cNvSpPr>
            <a:spLocks noChangeArrowheads="1"/>
          </p:cNvSpPr>
          <p:nvPr/>
        </p:nvSpPr>
        <p:spPr bwMode="auto">
          <a:xfrm>
            <a:off x="1206500" y="2832100"/>
            <a:ext cx="2654300" cy="431800"/>
          </a:xfrm>
          <a:prstGeom prst="wedgeRoundRectCallout">
            <a:avLst>
              <a:gd name="adj1" fmla="val 84153"/>
              <a:gd name="adj2" fmla="val -33088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81927" name="Text Box 5"/>
          <p:cNvSpPr txBox="1">
            <a:spLocks noChangeArrowheads="1"/>
          </p:cNvSpPr>
          <p:nvPr/>
        </p:nvSpPr>
        <p:spPr bwMode="auto">
          <a:xfrm>
            <a:off x="4533900" y="2281238"/>
            <a:ext cx="2949575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Parent (winner) or null (loser)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8294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F794F4A-F73A-4F2C-A85E-850D363C0DFD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829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82949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2616101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class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volatile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flag;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partner;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TBarrier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parent;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top;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…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82950" name="AutoShape 4"/>
          <p:cNvSpPr>
            <a:spLocks noChangeArrowheads="1"/>
          </p:cNvSpPr>
          <p:nvPr/>
        </p:nvSpPr>
        <p:spPr bwMode="auto">
          <a:xfrm>
            <a:off x="1168400" y="3225800"/>
            <a:ext cx="2044700" cy="431800"/>
          </a:xfrm>
          <a:prstGeom prst="wedgeRoundRectCallout">
            <a:avLst>
              <a:gd name="adj1" fmla="val 130356"/>
              <a:gd name="adj2" fmla="val -156616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82951" name="Text Box 5"/>
          <p:cNvSpPr txBox="1">
            <a:spLocks noChangeArrowheads="1"/>
          </p:cNvSpPr>
          <p:nvPr/>
        </p:nvSpPr>
        <p:spPr bwMode="auto">
          <a:xfrm>
            <a:off x="4711700" y="2471738"/>
            <a:ext cx="2949575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Am I the root?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8397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C753588-B212-4C38-9696-E58E3525D15D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83973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0941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void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await(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(top)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return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}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else 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(parent !=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null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(flag !=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}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else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(flag !=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}}}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8499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137F6A6-8931-4C96-87BD-1B9C539626D8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84997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0941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void await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(top)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return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 else if (parent != null)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 else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}}}</a:t>
            </a:r>
          </a:p>
        </p:txBody>
      </p:sp>
      <p:sp>
        <p:nvSpPr>
          <p:cNvPr id="84998" name="AutoShape 4"/>
          <p:cNvSpPr>
            <a:spLocks noChangeArrowheads="1"/>
          </p:cNvSpPr>
          <p:nvPr/>
        </p:nvSpPr>
        <p:spPr bwMode="auto">
          <a:xfrm>
            <a:off x="1079500" y="2159000"/>
            <a:ext cx="1612900" cy="762000"/>
          </a:xfrm>
          <a:prstGeom prst="wedgeRoundRectCallout">
            <a:avLst>
              <a:gd name="adj1" fmla="val 76528"/>
              <a:gd name="adj2" fmla="val 26755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84999" name="Text Box 5"/>
          <p:cNvSpPr txBox="1">
            <a:spLocks noChangeArrowheads="1"/>
          </p:cNvSpPr>
          <p:nvPr/>
        </p:nvSpPr>
        <p:spPr bwMode="auto">
          <a:xfrm>
            <a:off x="3263900" y="2497138"/>
            <a:ext cx="3370263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Le root, c’est moi</a:t>
            </a:r>
            <a:endParaRPr lang="en-US" baseline="30000">
              <a:latin typeface="Arial" pitchFamily="34" charset="0"/>
              <a:cs typeface="Arial" pitchFamily="34" charset="0"/>
            </a:endParaRPr>
          </a:p>
        </p:txBody>
      </p:sp>
      <p:sp>
        <p:nvSpPr>
          <p:cNvPr id="85000" name="AutoShape 4"/>
          <p:cNvSpPr>
            <a:spLocks noChangeArrowheads="1"/>
          </p:cNvSpPr>
          <p:nvPr/>
        </p:nvSpPr>
        <p:spPr bwMode="auto">
          <a:xfrm>
            <a:off x="2400300" y="1727200"/>
            <a:ext cx="2781300" cy="457200"/>
          </a:xfrm>
          <a:prstGeom prst="wedgeRoundRectCallout">
            <a:avLst>
              <a:gd name="adj1" fmla="val 87658"/>
              <a:gd name="adj2" fmla="val -16274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85001" name="Text Box 5"/>
          <p:cNvSpPr txBox="1">
            <a:spLocks noChangeArrowheads="1"/>
          </p:cNvSpPr>
          <p:nvPr/>
        </p:nvSpPr>
        <p:spPr bwMode="auto">
          <a:xfrm>
            <a:off x="5896507" y="1603905"/>
            <a:ext cx="3078163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Current sense 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8601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8DDE620-BC03-4FD1-8704-4C21ABC9959B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860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86021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0941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void await(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if (top)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return;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else if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(parent !=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null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 else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}}}</a:t>
            </a:r>
          </a:p>
        </p:txBody>
      </p:sp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5181601" y="1887538"/>
            <a:ext cx="2705100" cy="830997"/>
          </a:xfrm>
          <a:prstGeom prst="rect">
            <a:avLst/>
          </a:prstGeom>
          <a:solidFill>
            <a:srgbClr val="FFFFCC">
              <a:alpha val="79999"/>
            </a:srgbClr>
          </a:solidFill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I am already a winner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6023" name="AutoShape 7"/>
          <p:cNvSpPr>
            <a:spLocks noChangeArrowheads="1"/>
          </p:cNvSpPr>
          <p:nvPr/>
        </p:nvSpPr>
        <p:spPr bwMode="auto">
          <a:xfrm>
            <a:off x="1257300" y="2870200"/>
            <a:ext cx="4635500" cy="368300"/>
          </a:xfrm>
          <a:prstGeom prst="wedgeRoundRectCallout">
            <a:avLst>
              <a:gd name="adj1" fmla="val 46269"/>
              <a:gd name="adj2" fmla="val -17500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8704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0DD317F-CB04-4ED0-919C-D93731FD2476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870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87045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0941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void await(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urier New" pitchFamily="49" charset="0"/>
              </a:rPr>
              <a:t>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if (top)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return;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 else if (parent != null)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(flag !=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 else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}}}</a:t>
            </a:r>
          </a:p>
        </p:txBody>
      </p:sp>
      <p:sp>
        <p:nvSpPr>
          <p:cNvPr id="87046" name="Text Box 4"/>
          <p:cNvSpPr txBox="1">
            <a:spLocks noChangeArrowheads="1"/>
          </p:cNvSpPr>
          <p:nvPr/>
        </p:nvSpPr>
        <p:spPr bwMode="auto">
          <a:xfrm>
            <a:off x="4749800" y="1849438"/>
            <a:ext cx="3370263" cy="457200"/>
          </a:xfrm>
          <a:prstGeom prst="rect">
            <a:avLst/>
          </a:prstGeom>
          <a:solidFill>
            <a:srgbClr val="FFFFCC">
              <a:alpha val="79999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Wait for partner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7047" name="AutoShape 5"/>
          <p:cNvSpPr>
            <a:spLocks noChangeArrowheads="1"/>
          </p:cNvSpPr>
          <p:nvPr/>
        </p:nvSpPr>
        <p:spPr bwMode="auto">
          <a:xfrm>
            <a:off x="1117600" y="3238500"/>
            <a:ext cx="4432300" cy="368300"/>
          </a:xfrm>
          <a:prstGeom prst="wedgeRoundRectCallout">
            <a:avLst>
              <a:gd name="adj1" fmla="val 50106"/>
              <a:gd name="adj2" fmla="val -292241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8D18249-02AB-4C8B-8FC4-7C9426D8EB44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880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88069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0941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void await(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if (top)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return;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 else if (parent != null)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(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 else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}}}</a:t>
            </a:r>
          </a:p>
        </p:txBody>
      </p:sp>
      <p:sp>
        <p:nvSpPr>
          <p:cNvPr id="88070" name="Text Box 4"/>
          <p:cNvSpPr txBox="1">
            <a:spLocks noChangeArrowheads="1"/>
          </p:cNvSpPr>
          <p:nvPr/>
        </p:nvSpPr>
        <p:spPr bwMode="auto">
          <a:xfrm>
            <a:off x="4724400" y="2230438"/>
            <a:ext cx="3370263" cy="457200"/>
          </a:xfrm>
          <a:prstGeom prst="rect">
            <a:avLst/>
          </a:prstGeom>
          <a:solidFill>
            <a:srgbClr val="FFFFCC">
              <a:alpha val="79999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Synchronize upstairs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8071" name="AutoShape 5"/>
          <p:cNvSpPr>
            <a:spLocks noChangeArrowheads="1"/>
          </p:cNvSpPr>
          <p:nvPr/>
        </p:nvSpPr>
        <p:spPr bwMode="auto">
          <a:xfrm>
            <a:off x="1193800" y="3619500"/>
            <a:ext cx="3441700" cy="368300"/>
          </a:xfrm>
          <a:prstGeom prst="wedgeRoundRectCallout">
            <a:avLst>
              <a:gd name="adj1" fmla="val 85931"/>
              <a:gd name="adj2" fmla="val -285343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8909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0DD92EE-2D11-47AD-B0DD-DD69106565C9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890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89093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0941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void await(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if (top)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return;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 else if (parent != null)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 else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}}}</a:t>
            </a:r>
          </a:p>
        </p:txBody>
      </p:sp>
      <p:sp>
        <p:nvSpPr>
          <p:cNvPr id="89094" name="Text Box 4"/>
          <p:cNvSpPr txBox="1">
            <a:spLocks noChangeArrowheads="1"/>
          </p:cNvSpPr>
          <p:nvPr/>
        </p:nvSpPr>
        <p:spPr bwMode="auto">
          <a:xfrm>
            <a:off x="4724400" y="2230438"/>
            <a:ext cx="3370263" cy="457200"/>
          </a:xfrm>
          <a:prstGeom prst="rect">
            <a:avLst/>
          </a:prstGeom>
          <a:solidFill>
            <a:srgbClr val="FFFFCC">
              <a:alpha val="79999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Inform partner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9095" name="AutoShape 5"/>
          <p:cNvSpPr>
            <a:spLocks noChangeArrowheads="1"/>
          </p:cNvSpPr>
          <p:nvPr/>
        </p:nvSpPr>
        <p:spPr bwMode="auto">
          <a:xfrm>
            <a:off x="1193800" y="3975100"/>
            <a:ext cx="3708400" cy="368300"/>
          </a:xfrm>
          <a:prstGeom prst="wedgeRoundRectCallout">
            <a:avLst>
              <a:gd name="adj1" fmla="val 73074"/>
              <a:gd name="adj2" fmla="val -364657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2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90115" name="Slide Number Placeholder 3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D0E0AE68-1092-46CE-9D73-E6BC94827249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85</a:t>
            </a:fld>
            <a:endParaRPr lang="en-US" sz="14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01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90117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0941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void await(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if (top)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return;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 else if (parent != null)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 else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}}}</a:t>
            </a:r>
          </a:p>
        </p:txBody>
      </p:sp>
      <p:sp>
        <p:nvSpPr>
          <p:cNvPr id="90118" name="Text Box 4"/>
          <p:cNvSpPr txBox="1">
            <a:spLocks noChangeArrowheads="1"/>
          </p:cNvSpPr>
          <p:nvPr/>
        </p:nvSpPr>
        <p:spPr bwMode="auto">
          <a:xfrm>
            <a:off x="4724400" y="2230438"/>
            <a:ext cx="3370263" cy="457200"/>
          </a:xfrm>
          <a:prstGeom prst="rect">
            <a:avLst/>
          </a:prstGeom>
          <a:solidFill>
            <a:srgbClr val="FFFFCC">
              <a:alpha val="79999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Inform partner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0119" name="AutoShape 5"/>
          <p:cNvSpPr>
            <a:spLocks noChangeArrowheads="1"/>
          </p:cNvSpPr>
          <p:nvPr/>
        </p:nvSpPr>
        <p:spPr bwMode="auto">
          <a:xfrm>
            <a:off x="1193800" y="3975100"/>
            <a:ext cx="3708400" cy="368300"/>
          </a:xfrm>
          <a:prstGeom prst="wedgeRoundRectCallout">
            <a:avLst>
              <a:gd name="adj1" fmla="val 73074"/>
              <a:gd name="adj2" fmla="val -364657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90120" name="Text Box 8"/>
          <p:cNvSpPr txBox="1">
            <a:spLocks noChangeArrowheads="1"/>
          </p:cNvSpPr>
          <p:nvPr/>
        </p:nvSpPr>
        <p:spPr bwMode="auto">
          <a:xfrm>
            <a:off x="3967163" y="5240338"/>
            <a:ext cx="4052887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Order is important (why?)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9113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144EF1F-0AAC-4FAB-90C2-E1BE821E55F3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911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91141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0941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void await(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if (top)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return;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 else if (parent != null)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}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else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}}}</a:t>
            </a:r>
          </a:p>
        </p:txBody>
      </p:sp>
      <p:sp>
        <p:nvSpPr>
          <p:cNvPr id="91142" name="Text Box 4"/>
          <p:cNvSpPr txBox="1">
            <a:spLocks noChangeArrowheads="1"/>
          </p:cNvSpPr>
          <p:nvPr/>
        </p:nvSpPr>
        <p:spPr bwMode="auto">
          <a:xfrm>
            <a:off x="4724400" y="2230438"/>
            <a:ext cx="3370263" cy="457200"/>
          </a:xfrm>
          <a:prstGeom prst="rect">
            <a:avLst/>
          </a:prstGeom>
          <a:solidFill>
            <a:srgbClr val="FFFFCC">
              <a:alpha val="79999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Natural-born loser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1143" name="AutoShape 5"/>
          <p:cNvSpPr>
            <a:spLocks noChangeArrowheads="1"/>
          </p:cNvSpPr>
          <p:nvPr/>
        </p:nvSpPr>
        <p:spPr bwMode="auto">
          <a:xfrm>
            <a:off x="1003300" y="4305300"/>
            <a:ext cx="1435100" cy="431800"/>
          </a:xfrm>
          <a:prstGeom prst="wedgeRoundRectCallout">
            <a:avLst>
              <a:gd name="adj1" fmla="val 222898"/>
              <a:gd name="adj2" fmla="val -418384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9216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CF452C6-C01A-477D-AF4B-3E04384D2D58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921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92165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0941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void await(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if (top)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return;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 else if (parent != null)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 else {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}}}</a:t>
            </a:r>
          </a:p>
        </p:txBody>
      </p:sp>
      <p:sp>
        <p:nvSpPr>
          <p:cNvPr id="92166" name="Text Box 4"/>
          <p:cNvSpPr txBox="1">
            <a:spLocks noChangeArrowheads="1"/>
          </p:cNvSpPr>
          <p:nvPr/>
        </p:nvSpPr>
        <p:spPr bwMode="auto">
          <a:xfrm>
            <a:off x="4724400" y="2230438"/>
            <a:ext cx="3370263" cy="457200"/>
          </a:xfrm>
          <a:prstGeom prst="rect">
            <a:avLst/>
          </a:prstGeom>
          <a:solidFill>
            <a:srgbClr val="FFFFCC">
              <a:alpha val="79999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Tell partner I’m here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2167" name="AutoShape 5"/>
          <p:cNvSpPr>
            <a:spLocks noChangeArrowheads="1"/>
          </p:cNvSpPr>
          <p:nvPr/>
        </p:nvSpPr>
        <p:spPr bwMode="auto">
          <a:xfrm>
            <a:off x="1079500" y="4699000"/>
            <a:ext cx="3746500" cy="431800"/>
          </a:xfrm>
          <a:prstGeom prst="wedgeRoundRectCallout">
            <a:avLst>
              <a:gd name="adj1" fmla="val 64366"/>
              <a:gd name="adj2" fmla="val -506616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9318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284D430-F224-4777-9A0E-436E16A6597F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931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Tournament Barrier</a:t>
            </a:r>
          </a:p>
        </p:txBody>
      </p:sp>
      <p:sp>
        <p:nvSpPr>
          <p:cNvPr id="93189" name="Rectangle 3"/>
          <p:cNvSpPr>
            <a:spLocks noChangeArrowheads="1"/>
          </p:cNvSpPr>
          <p:nvPr/>
        </p:nvSpPr>
        <p:spPr bwMode="auto">
          <a:xfrm>
            <a:off x="838200" y="1752600"/>
            <a:ext cx="7315200" cy="40941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void await(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boolean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if (top)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return;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 else if (parent != null)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while (flag !=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parent.await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(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);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} else {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partner.flag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 = </a:t>
            </a:r>
            <a:r>
              <a:rPr lang="en-US" sz="2000" dirty="0" err="1">
                <a:solidFill>
                  <a:schemeClr val="folHlink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;</a:t>
            </a:r>
          </a:p>
          <a:p>
            <a:pPr algn="l"/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 (flag !=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</a:rPr>
              <a:t>mySense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</a:rPr>
              <a:t>) {};</a:t>
            </a:r>
          </a:p>
          <a:p>
            <a:pPr algn="l"/>
            <a:r>
              <a:rPr lang="en-US" sz="2000" dirty="0">
                <a:solidFill>
                  <a:schemeClr val="folHlink"/>
                </a:solidFill>
                <a:latin typeface="Courier New" pitchFamily="49" charset="0"/>
              </a:rPr>
              <a:t>}}}</a:t>
            </a:r>
          </a:p>
        </p:txBody>
      </p:sp>
      <p:sp>
        <p:nvSpPr>
          <p:cNvPr id="93190" name="Text Box 4"/>
          <p:cNvSpPr txBox="1">
            <a:spLocks noChangeArrowheads="1"/>
          </p:cNvSpPr>
          <p:nvPr/>
        </p:nvSpPr>
        <p:spPr bwMode="auto">
          <a:xfrm>
            <a:off x="4724400" y="2230438"/>
            <a:ext cx="3370263" cy="830997"/>
          </a:xfrm>
          <a:prstGeom prst="rect">
            <a:avLst/>
          </a:prstGeom>
          <a:solidFill>
            <a:srgbClr val="FFFFCC">
              <a:alpha val="79999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Wait for notification from partner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3191" name="AutoShape 5"/>
          <p:cNvSpPr>
            <a:spLocks noChangeArrowheads="1"/>
          </p:cNvSpPr>
          <p:nvPr/>
        </p:nvSpPr>
        <p:spPr bwMode="auto">
          <a:xfrm>
            <a:off x="1104900" y="4991100"/>
            <a:ext cx="4343400" cy="431800"/>
          </a:xfrm>
          <a:prstGeom prst="wedgeRoundRectCallout">
            <a:avLst>
              <a:gd name="adj1" fmla="val 60634"/>
              <a:gd name="adj2" fmla="val -486028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942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65F162-A4C1-4921-B664-0CE0EEEF3336}" type="slidenum">
              <a:rPr lang="en-US" smtClean="0"/>
              <a:pPr/>
              <a:t>89</a:t>
            </a:fld>
            <a:endParaRPr lang="en-US"/>
          </a:p>
        </p:txBody>
      </p:sp>
      <p:sp>
        <p:nvSpPr>
          <p:cNvPr id="942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Remarks</a:t>
            </a:r>
          </a:p>
        </p:txBody>
      </p:sp>
      <p:sp>
        <p:nvSpPr>
          <p:cNvPr id="942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 need for read-modify-write calls</a:t>
            </a:r>
          </a:p>
          <a:p>
            <a:r>
              <a:rPr lang="en-US"/>
              <a:t>Each thread spins on fixed location</a:t>
            </a:r>
          </a:p>
          <a:p>
            <a:pPr lvl="1"/>
            <a:r>
              <a:rPr lang="en-US"/>
              <a:t>Good for bus-based architectures</a:t>
            </a:r>
          </a:p>
          <a:p>
            <a:pPr lvl="1"/>
            <a:r>
              <a:rPr lang="en-US"/>
              <a:t>Good for NUMA architectures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952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A0FD5FD-0A70-44F9-AE40-98EAF76F5E3C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952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Dissemination Barrier</a:t>
            </a:r>
          </a:p>
        </p:txBody>
      </p:sp>
      <p:sp>
        <p:nvSpPr>
          <p:cNvPr id="952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At round </a:t>
            </a:r>
            <a:r>
              <a:rPr lang="en-US">
                <a:solidFill>
                  <a:schemeClr val="tx1"/>
                </a:solidFill>
              </a:rPr>
              <a:t>i</a:t>
            </a:r>
          </a:p>
          <a:p>
            <a:pPr lvl="1"/>
            <a:r>
              <a:rPr lang="en-US"/>
              <a:t>Thread </a:t>
            </a:r>
            <a:r>
              <a:rPr lang="en-US">
                <a:solidFill>
                  <a:schemeClr val="tx1"/>
                </a:solidFill>
              </a:rPr>
              <a:t>A</a:t>
            </a:r>
            <a:r>
              <a:rPr lang="en-US"/>
              <a:t> notifies thread </a:t>
            </a:r>
            <a:r>
              <a:rPr lang="en-US">
                <a:solidFill>
                  <a:schemeClr val="tx1"/>
                </a:solidFill>
              </a:rPr>
              <a:t>A+2</a:t>
            </a:r>
            <a:r>
              <a:rPr lang="en-US" baseline="30000">
                <a:solidFill>
                  <a:schemeClr val="tx1"/>
                </a:solidFill>
              </a:rPr>
              <a:t>i</a:t>
            </a:r>
            <a:r>
              <a:rPr lang="en-US">
                <a:solidFill>
                  <a:schemeClr val="tx1"/>
                </a:solidFill>
              </a:rPr>
              <a:t> (mod n)</a:t>
            </a:r>
          </a:p>
          <a:p>
            <a:r>
              <a:rPr lang="en-US"/>
              <a:t>Requires </a:t>
            </a:r>
            <a:r>
              <a:rPr lang="en-US">
                <a:solidFill>
                  <a:schemeClr val="tx1"/>
                </a:solidFill>
              </a:rPr>
              <a:t>log n</a:t>
            </a:r>
            <a:r>
              <a:rPr lang="en-US"/>
              <a:t> rounds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9625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616869B-EB3C-4A8B-A1B1-D7EC6EFD96B3}" type="slidenum">
              <a:rPr lang="en-US" smtClean="0"/>
              <a:pPr/>
              <a:t>91</a:t>
            </a:fld>
            <a:endParaRPr lang="en-US"/>
          </a:p>
        </p:txBody>
      </p:sp>
      <p:grpSp>
        <p:nvGrpSpPr>
          <p:cNvPr id="96260" name="Group 2"/>
          <p:cNvGrpSpPr>
            <a:grpSpLocks/>
          </p:cNvGrpSpPr>
          <p:nvPr/>
        </p:nvGrpSpPr>
        <p:grpSpPr bwMode="auto">
          <a:xfrm>
            <a:off x="1046163" y="1892300"/>
            <a:ext cx="922337" cy="825500"/>
            <a:chOff x="3168" y="1824"/>
            <a:chExt cx="912" cy="816"/>
          </a:xfrm>
        </p:grpSpPr>
        <p:sp>
          <p:nvSpPr>
            <p:cNvPr id="96339" name="Freeform 3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40" name="Freeform 4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41" name="Freeform 5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42" name="Freeform 6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43" name="Freeform 7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44" name="Freeform 8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45" name="Freeform 9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46" name="Freeform 10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47" name="Freeform 11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96261" name="Rectangle 12"/>
          <p:cNvSpPr>
            <a:spLocks noGrp="1" noChangeArrowheads="1"/>
          </p:cNvSpPr>
          <p:nvPr>
            <p:ph type="title"/>
          </p:nvPr>
        </p:nvSpPr>
        <p:spPr>
          <a:xfrm>
            <a:off x="685800" y="647700"/>
            <a:ext cx="7772400" cy="1143000"/>
          </a:xfrm>
        </p:spPr>
        <p:txBody>
          <a:bodyPr/>
          <a:lstStyle/>
          <a:p>
            <a:r>
              <a:rPr lang="en-US"/>
              <a:t>Dissemination Barrier</a:t>
            </a:r>
          </a:p>
        </p:txBody>
      </p:sp>
      <p:sp>
        <p:nvSpPr>
          <p:cNvPr id="96262" name="Line 13"/>
          <p:cNvSpPr>
            <a:spLocks noChangeShapeType="1"/>
          </p:cNvSpPr>
          <p:nvPr/>
        </p:nvSpPr>
        <p:spPr bwMode="auto">
          <a:xfrm>
            <a:off x="1778000" y="2362200"/>
            <a:ext cx="6400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96263" name="Line 14"/>
          <p:cNvSpPr>
            <a:spLocks noChangeShapeType="1"/>
          </p:cNvSpPr>
          <p:nvPr/>
        </p:nvSpPr>
        <p:spPr bwMode="auto">
          <a:xfrm>
            <a:off x="1778000" y="2959100"/>
            <a:ext cx="6400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96264" name="Line 15"/>
          <p:cNvSpPr>
            <a:spLocks noChangeShapeType="1"/>
          </p:cNvSpPr>
          <p:nvPr/>
        </p:nvSpPr>
        <p:spPr bwMode="auto">
          <a:xfrm>
            <a:off x="1778000" y="3556000"/>
            <a:ext cx="6400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96265" name="Line 16"/>
          <p:cNvSpPr>
            <a:spLocks noChangeShapeType="1"/>
          </p:cNvSpPr>
          <p:nvPr/>
        </p:nvSpPr>
        <p:spPr bwMode="auto">
          <a:xfrm>
            <a:off x="1778000" y="4152900"/>
            <a:ext cx="6400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96266" name="Line 17"/>
          <p:cNvSpPr>
            <a:spLocks noChangeShapeType="1"/>
          </p:cNvSpPr>
          <p:nvPr/>
        </p:nvSpPr>
        <p:spPr bwMode="auto">
          <a:xfrm>
            <a:off x="1778000" y="4749800"/>
            <a:ext cx="6400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96267" name="Line 18"/>
          <p:cNvSpPr>
            <a:spLocks noChangeShapeType="1"/>
          </p:cNvSpPr>
          <p:nvPr/>
        </p:nvSpPr>
        <p:spPr bwMode="auto">
          <a:xfrm>
            <a:off x="1778000" y="5346700"/>
            <a:ext cx="6400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96268" name="Group 19"/>
          <p:cNvGrpSpPr>
            <a:grpSpLocks/>
          </p:cNvGrpSpPr>
          <p:nvPr/>
        </p:nvGrpSpPr>
        <p:grpSpPr bwMode="auto">
          <a:xfrm>
            <a:off x="1046163" y="2462213"/>
            <a:ext cx="922337" cy="825500"/>
            <a:chOff x="3168" y="1824"/>
            <a:chExt cx="912" cy="816"/>
          </a:xfrm>
        </p:grpSpPr>
        <p:sp>
          <p:nvSpPr>
            <p:cNvPr id="96330" name="Freeform 20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31" name="Freeform 21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32" name="Freeform 22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33" name="Freeform 23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CC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34" name="Freeform 24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CC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35" name="Freeform 25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CC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36" name="Freeform 26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37" name="Freeform 27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38" name="Freeform 28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96269" name="Group 29"/>
          <p:cNvGrpSpPr>
            <a:grpSpLocks/>
          </p:cNvGrpSpPr>
          <p:nvPr/>
        </p:nvGrpSpPr>
        <p:grpSpPr bwMode="auto">
          <a:xfrm>
            <a:off x="1046163" y="3030538"/>
            <a:ext cx="922337" cy="825500"/>
            <a:chOff x="3168" y="1824"/>
            <a:chExt cx="912" cy="816"/>
          </a:xfrm>
        </p:grpSpPr>
        <p:sp>
          <p:nvSpPr>
            <p:cNvPr id="96321" name="Freeform 30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22" name="Freeform 31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23" name="Freeform 32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24" name="Freeform 33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25" name="Freeform 34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26" name="Freeform 35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27" name="Freeform 36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28" name="Freeform 37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29" name="Freeform 38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96270" name="Group 39"/>
          <p:cNvGrpSpPr>
            <a:grpSpLocks/>
          </p:cNvGrpSpPr>
          <p:nvPr/>
        </p:nvGrpSpPr>
        <p:grpSpPr bwMode="auto">
          <a:xfrm>
            <a:off x="1046163" y="3600450"/>
            <a:ext cx="922337" cy="825500"/>
            <a:chOff x="3168" y="1824"/>
            <a:chExt cx="912" cy="816"/>
          </a:xfrm>
        </p:grpSpPr>
        <p:sp>
          <p:nvSpPr>
            <p:cNvPr id="96312" name="Freeform 40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13" name="Freeform 41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14" name="Freeform 42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15" name="Freeform 43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16" name="Freeform 44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17" name="Freeform 45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99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18" name="Freeform 46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19" name="Freeform 47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20" name="Freeform 48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96271" name="Group 49"/>
          <p:cNvGrpSpPr>
            <a:grpSpLocks/>
          </p:cNvGrpSpPr>
          <p:nvPr/>
        </p:nvGrpSpPr>
        <p:grpSpPr bwMode="auto">
          <a:xfrm>
            <a:off x="1046163" y="4168775"/>
            <a:ext cx="922337" cy="825500"/>
            <a:chOff x="3168" y="1824"/>
            <a:chExt cx="912" cy="816"/>
          </a:xfrm>
        </p:grpSpPr>
        <p:sp>
          <p:nvSpPr>
            <p:cNvPr id="96303" name="Freeform 50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04" name="Freeform 51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05" name="Freeform 52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06" name="Freeform 53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07" name="Freeform 54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08" name="Freeform 55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09" name="Freeform 56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10" name="Freeform 57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11" name="Freeform 58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96272" name="Group 59"/>
          <p:cNvGrpSpPr>
            <a:grpSpLocks/>
          </p:cNvGrpSpPr>
          <p:nvPr/>
        </p:nvGrpSpPr>
        <p:grpSpPr bwMode="auto">
          <a:xfrm>
            <a:off x="1046163" y="4737100"/>
            <a:ext cx="922337" cy="825500"/>
            <a:chOff x="3168" y="1824"/>
            <a:chExt cx="912" cy="816"/>
          </a:xfrm>
        </p:grpSpPr>
        <p:sp>
          <p:nvSpPr>
            <p:cNvPr id="96294" name="Freeform 60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295" name="Freeform 61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296" name="Freeform 62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297" name="Freeform 63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9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298" name="Freeform 64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99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299" name="Freeform 65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99FF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00" name="Freeform 66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01" name="Freeform 67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96302" name="Freeform 68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72197" name="Line 69"/>
          <p:cNvSpPr>
            <a:spLocks noChangeShapeType="1"/>
          </p:cNvSpPr>
          <p:nvPr/>
        </p:nvSpPr>
        <p:spPr bwMode="auto">
          <a:xfrm>
            <a:off x="2781300" y="2374900"/>
            <a:ext cx="901700" cy="5715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198" name="Line 70"/>
          <p:cNvSpPr>
            <a:spLocks noChangeShapeType="1"/>
          </p:cNvSpPr>
          <p:nvPr/>
        </p:nvSpPr>
        <p:spPr bwMode="auto">
          <a:xfrm>
            <a:off x="2781300" y="2984500"/>
            <a:ext cx="901700" cy="5715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199" name="Line 71"/>
          <p:cNvSpPr>
            <a:spLocks noChangeShapeType="1"/>
          </p:cNvSpPr>
          <p:nvPr/>
        </p:nvSpPr>
        <p:spPr bwMode="auto">
          <a:xfrm>
            <a:off x="2781300" y="3594100"/>
            <a:ext cx="901700" cy="5715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00" name="Line 72"/>
          <p:cNvSpPr>
            <a:spLocks noChangeShapeType="1"/>
          </p:cNvSpPr>
          <p:nvPr/>
        </p:nvSpPr>
        <p:spPr bwMode="auto">
          <a:xfrm>
            <a:off x="2781300" y="4203700"/>
            <a:ext cx="901700" cy="5715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01" name="Line 73"/>
          <p:cNvSpPr>
            <a:spLocks noChangeShapeType="1"/>
          </p:cNvSpPr>
          <p:nvPr/>
        </p:nvSpPr>
        <p:spPr bwMode="auto">
          <a:xfrm>
            <a:off x="2781300" y="4762500"/>
            <a:ext cx="901700" cy="5715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02" name="Line 74"/>
          <p:cNvSpPr>
            <a:spLocks noChangeShapeType="1"/>
          </p:cNvSpPr>
          <p:nvPr/>
        </p:nvSpPr>
        <p:spPr bwMode="auto">
          <a:xfrm flipV="1">
            <a:off x="2755900" y="2374900"/>
            <a:ext cx="863600" cy="29591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03" name="Line 75"/>
          <p:cNvSpPr>
            <a:spLocks noChangeShapeType="1"/>
          </p:cNvSpPr>
          <p:nvPr/>
        </p:nvSpPr>
        <p:spPr bwMode="auto">
          <a:xfrm>
            <a:off x="4533900" y="2387600"/>
            <a:ext cx="939800" cy="1155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04" name="Line 76"/>
          <p:cNvSpPr>
            <a:spLocks noChangeShapeType="1"/>
          </p:cNvSpPr>
          <p:nvPr/>
        </p:nvSpPr>
        <p:spPr bwMode="auto">
          <a:xfrm>
            <a:off x="4533900" y="2997200"/>
            <a:ext cx="939800" cy="1155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05" name="Line 77"/>
          <p:cNvSpPr>
            <a:spLocks noChangeShapeType="1"/>
          </p:cNvSpPr>
          <p:nvPr/>
        </p:nvSpPr>
        <p:spPr bwMode="auto">
          <a:xfrm>
            <a:off x="4533900" y="3606800"/>
            <a:ext cx="939800" cy="1155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06" name="Line 78"/>
          <p:cNvSpPr>
            <a:spLocks noChangeShapeType="1"/>
          </p:cNvSpPr>
          <p:nvPr/>
        </p:nvSpPr>
        <p:spPr bwMode="auto">
          <a:xfrm>
            <a:off x="4533900" y="4191000"/>
            <a:ext cx="939800" cy="1155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07" name="Line 79"/>
          <p:cNvSpPr>
            <a:spLocks noChangeShapeType="1"/>
          </p:cNvSpPr>
          <p:nvPr/>
        </p:nvSpPr>
        <p:spPr bwMode="auto">
          <a:xfrm flipV="1">
            <a:off x="4533900" y="2349500"/>
            <a:ext cx="939800" cy="2425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08" name="Line 80"/>
          <p:cNvSpPr>
            <a:spLocks noChangeShapeType="1"/>
          </p:cNvSpPr>
          <p:nvPr/>
        </p:nvSpPr>
        <p:spPr bwMode="auto">
          <a:xfrm flipV="1">
            <a:off x="4533900" y="2908300"/>
            <a:ext cx="939800" cy="2425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09" name="Line 81"/>
          <p:cNvSpPr>
            <a:spLocks noChangeShapeType="1"/>
          </p:cNvSpPr>
          <p:nvPr/>
        </p:nvSpPr>
        <p:spPr bwMode="auto">
          <a:xfrm>
            <a:off x="6369050" y="2362200"/>
            <a:ext cx="952500" cy="24003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10" name="Line 82"/>
          <p:cNvSpPr>
            <a:spLocks noChangeShapeType="1"/>
          </p:cNvSpPr>
          <p:nvPr/>
        </p:nvSpPr>
        <p:spPr bwMode="auto">
          <a:xfrm>
            <a:off x="6369050" y="2933700"/>
            <a:ext cx="952500" cy="24003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11" name="Line 83"/>
          <p:cNvSpPr>
            <a:spLocks noChangeShapeType="1"/>
          </p:cNvSpPr>
          <p:nvPr/>
        </p:nvSpPr>
        <p:spPr bwMode="auto">
          <a:xfrm flipV="1">
            <a:off x="6362700" y="2336800"/>
            <a:ext cx="965200" cy="1168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12" name="Line 84"/>
          <p:cNvSpPr>
            <a:spLocks noChangeShapeType="1"/>
          </p:cNvSpPr>
          <p:nvPr/>
        </p:nvSpPr>
        <p:spPr bwMode="auto">
          <a:xfrm flipV="1">
            <a:off x="6362700" y="2984500"/>
            <a:ext cx="965200" cy="1168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13" name="Line 85"/>
          <p:cNvSpPr>
            <a:spLocks noChangeShapeType="1"/>
          </p:cNvSpPr>
          <p:nvPr/>
        </p:nvSpPr>
        <p:spPr bwMode="auto">
          <a:xfrm flipV="1">
            <a:off x="6362700" y="3568700"/>
            <a:ext cx="965200" cy="1168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14" name="Line 86"/>
          <p:cNvSpPr>
            <a:spLocks noChangeShapeType="1"/>
          </p:cNvSpPr>
          <p:nvPr/>
        </p:nvSpPr>
        <p:spPr bwMode="auto">
          <a:xfrm flipV="1">
            <a:off x="6362700" y="4165600"/>
            <a:ext cx="965200" cy="1168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72215" name="Text Box 87"/>
          <p:cNvSpPr txBox="1">
            <a:spLocks noChangeArrowheads="1"/>
          </p:cNvSpPr>
          <p:nvPr/>
        </p:nvSpPr>
        <p:spPr bwMode="auto">
          <a:xfrm>
            <a:off x="2771775" y="1684338"/>
            <a:ext cx="555625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+1</a:t>
            </a:r>
          </a:p>
        </p:txBody>
      </p:sp>
      <p:sp>
        <p:nvSpPr>
          <p:cNvPr id="1072216" name="Text Box 88"/>
          <p:cNvSpPr txBox="1">
            <a:spLocks noChangeArrowheads="1"/>
          </p:cNvSpPr>
          <p:nvPr/>
        </p:nvSpPr>
        <p:spPr bwMode="auto">
          <a:xfrm>
            <a:off x="4733925" y="1646238"/>
            <a:ext cx="555625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+2</a:t>
            </a:r>
          </a:p>
        </p:txBody>
      </p:sp>
      <p:sp>
        <p:nvSpPr>
          <p:cNvPr id="1072217" name="Text Box 89"/>
          <p:cNvSpPr txBox="1">
            <a:spLocks noChangeArrowheads="1"/>
          </p:cNvSpPr>
          <p:nvPr/>
        </p:nvSpPr>
        <p:spPr bwMode="auto">
          <a:xfrm>
            <a:off x="6696075" y="1646238"/>
            <a:ext cx="555625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+4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7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7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7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7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7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7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7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7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72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72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72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72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7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7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07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7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07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07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07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7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197" grpId="0" animBg="1"/>
      <p:bldP spid="1072198" grpId="0" animBg="1"/>
      <p:bldP spid="1072199" grpId="0" animBg="1"/>
      <p:bldP spid="1072200" grpId="0" animBg="1"/>
      <p:bldP spid="1072201" grpId="0" animBg="1"/>
      <p:bldP spid="1072202" grpId="0" animBg="1"/>
      <p:bldP spid="1072203" grpId="0" animBg="1"/>
      <p:bldP spid="1072204" grpId="0" animBg="1"/>
      <p:bldP spid="1072205" grpId="0" animBg="1"/>
      <p:bldP spid="1072206" grpId="0" animBg="1"/>
      <p:bldP spid="1072207" grpId="0" animBg="1"/>
      <p:bldP spid="1072208" grpId="0" animBg="1"/>
      <p:bldP spid="1072209" grpId="0" animBg="1"/>
      <p:bldP spid="1072210" grpId="0" animBg="1"/>
      <p:bldP spid="1072211" grpId="0" animBg="1"/>
      <p:bldP spid="1072212" grpId="0" animBg="1"/>
      <p:bldP spid="1072213" grpId="0" animBg="1"/>
      <p:bldP spid="1072214" grpId="0" animBg="1"/>
      <p:bldP spid="1072215" grpId="0"/>
      <p:bldP spid="1072216" grpId="0"/>
      <p:bldP spid="1072217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972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D25A234-E177-4C2E-B434-43D46AB0794F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972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Remarks</a:t>
            </a:r>
          </a:p>
        </p:txBody>
      </p:sp>
      <p:sp>
        <p:nvSpPr>
          <p:cNvPr id="972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Elegant</a:t>
            </a:r>
          </a:p>
          <a:p>
            <a:r>
              <a:rPr lang="en-US"/>
              <a:t>Good source of homework problems</a:t>
            </a:r>
          </a:p>
          <a:p>
            <a:r>
              <a:rPr lang="en-US"/>
              <a:t>Not cache-friendly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983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F8AFF4C-F1D0-4E94-9A01-050470AA28F1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983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Ideas So Far</a:t>
            </a:r>
          </a:p>
        </p:txBody>
      </p:sp>
      <p:sp>
        <p:nvSpPr>
          <p:cNvPr id="983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Sense-reversing</a:t>
            </a:r>
          </a:p>
          <a:p>
            <a:pPr lvl="1">
              <a:lnSpc>
                <a:spcPct val="90000"/>
              </a:lnSpc>
            </a:pPr>
            <a:r>
              <a:rPr lang="en-US"/>
              <a:t>Reuse without reinitializing</a:t>
            </a:r>
          </a:p>
          <a:p>
            <a:pPr>
              <a:lnSpc>
                <a:spcPct val="90000"/>
              </a:lnSpc>
            </a:pPr>
            <a:r>
              <a:rPr lang="en-US"/>
              <a:t>Combining tree</a:t>
            </a:r>
          </a:p>
          <a:p>
            <a:pPr lvl="1">
              <a:lnSpc>
                <a:spcPct val="90000"/>
              </a:lnSpc>
            </a:pPr>
            <a:r>
              <a:rPr lang="en-US"/>
              <a:t>Like counters, locks …</a:t>
            </a:r>
          </a:p>
          <a:p>
            <a:pPr>
              <a:lnSpc>
                <a:spcPct val="90000"/>
              </a:lnSpc>
            </a:pPr>
            <a:r>
              <a:rPr lang="en-US"/>
              <a:t>Tournament tree</a:t>
            </a:r>
          </a:p>
          <a:p>
            <a:pPr lvl="1">
              <a:lnSpc>
                <a:spcPct val="90000"/>
              </a:lnSpc>
            </a:pPr>
            <a:r>
              <a:rPr lang="en-US"/>
              <a:t>Optimized combining tree</a:t>
            </a:r>
          </a:p>
          <a:p>
            <a:pPr>
              <a:lnSpc>
                <a:spcPct val="90000"/>
              </a:lnSpc>
            </a:pPr>
            <a:r>
              <a:rPr lang="en-US"/>
              <a:t>Dissemination barrier</a:t>
            </a:r>
          </a:p>
          <a:p>
            <a:pPr lvl="1">
              <a:lnSpc>
                <a:spcPct val="90000"/>
              </a:lnSpc>
            </a:pPr>
            <a:r>
              <a:rPr lang="en-US"/>
              <a:t>Intellectually Pleasing (matter of taste)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993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393A19A-6EA4-4B79-82E5-9AB25B80A3F2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993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is best for Multicore? </a:t>
            </a:r>
          </a:p>
        </p:txBody>
      </p:sp>
      <p:sp>
        <p:nvSpPr>
          <p:cNvPr id="993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On a cache coherent multicore chip: perhaps none of the above…</a:t>
            </a:r>
          </a:p>
          <a:p>
            <a:pPr>
              <a:lnSpc>
                <a:spcPct val="90000"/>
              </a:lnSpc>
            </a:pPr>
            <a:r>
              <a:rPr lang="en-US"/>
              <a:t>Here is another (arguably) better algorithm …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832100" y="6248400"/>
            <a:ext cx="2895600" cy="457200"/>
          </a:xfrm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100355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261100" y="6248400"/>
            <a:ext cx="1905000" cy="457200"/>
          </a:xfrm>
          <a:noFill/>
        </p:spPr>
        <p:txBody>
          <a:bodyPr/>
          <a:lstStyle/>
          <a:p>
            <a:fld id="{201A60D5-54A9-4B15-8B57-9C6429C50572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100356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100357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1003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00359" name="Oval 5"/>
          <p:cNvSpPr>
            <a:spLocks noChangeArrowheads="1"/>
          </p:cNvSpPr>
          <p:nvPr/>
        </p:nvSpPr>
        <p:spPr bwMode="auto">
          <a:xfrm>
            <a:off x="293370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100360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0361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0362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100363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0364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100365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100366" name="Group 76"/>
          <p:cNvGrpSpPr>
            <a:grpSpLocks/>
          </p:cNvGrpSpPr>
          <p:nvPr/>
        </p:nvGrpSpPr>
        <p:grpSpPr bwMode="auto">
          <a:xfrm>
            <a:off x="1490663" y="1549400"/>
            <a:ext cx="5060950" cy="4748213"/>
            <a:chOff x="1490663" y="1549400"/>
            <a:chExt cx="5060950" cy="4748213"/>
          </a:xfrm>
        </p:grpSpPr>
        <p:grpSp>
          <p:nvGrpSpPr>
            <p:cNvPr id="100368" name="Group 101"/>
            <p:cNvGrpSpPr>
              <a:grpSpLocks/>
            </p:cNvGrpSpPr>
            <p:nvPr/>
          </p:nvGrpSpPr>
          <p:grpSpPr bwMode="auto">
            <a:xfrm>
              <a:off x="1490663" y="5130800"/>
              <a:ext cx="1219200" cy="1090613"/>
              <a:chOff x="1584" y="816"/>
              <a:chExt cx="912" cy="816"/>
            </a:xfrm>
          </p:grpSpPr>
          <p:sp>
            <p:nvSpPr>
              <p:cNvPr id="100409" name="Freeform 102"/>
              <p:cNvSpPr>
                <a:spLocks/>
              </p:cNvSpPr>
              <p:nvPr/>
            </p:nvSpPr>
            <p:spPr bwMode="auto">
              <a:xfrm>
                <a:off x="2352" y="1056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10" name="Freeform 103"/>
              <p:cNvSpPr>
                <a:spLocks/>
              </p:cNvSpPr>
              <p:nvPr/>
            </p:nvSpPr>
            <p:spPr bwMode="auto">
              <a:xfrm>
                <a:off x="2160" y="912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11" name="Freeform 104"/>
              <p:cNvSpPr>
                <a:spLocks/>
              </p:cNvSpPr>
              <p:nvPr/>
            </p:nvSpPr>
            <p:spPr bwMode="auto">
              <a:xfrm>
                <a:off x="1920" y="816"/>
                <a:ext cx="144" cy="288"/>
              </a:xfrm>
              <a:custGeom>
                <a:avLst/>
                <a:gdLst>
                  <a:gd name="T0" fmla="*/ 0 w 144"/>
                  <a:gd name="T1" fmla="*/ 12 h 336"/>
                  <a:gd name="T2" fmla="*/ 96 w 144"/>
                  <a:gd name="T3" fmla="*/ 0 h 336"/>
                  <a:gd name="T4" fmla="*/ 144 w 144"/>
                  <a:gd name="T5" fmla="*/ 12 h 336"/>
                  <a:gd name="T6" fmla="*/ 144 w 144"/>
                  <a:gd name="T7" fmla="*/ 85 h 336"/>
                  <a:gd name="T8" fmla="*/ 96 w 144"/>
                  <a:gd name="T9" fmla="*/ 73 h 336"/>
                  <a:gd name="T10" fmla="*/ 96 w 144"/>
                  <a:gd name="T11" fmla="*/ 24 h 336"/>
                  <a:gd name="T12" fmla="*/ 0 w 144"/>
                  <a:gd name="T13" fmla="*/ 36 h 336"/>
                  <a:gd name="T14" fmla="*/ 0 w 144"/>
                  <a:gd name="T15" fmla="*/ 12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12" name="Freeform 105"/>
              <p:cNvSpPr>
                <a:spLocks/>
              </p:cNvSpPr>
              <p:nvPr/>
            </p:nvSpPr>
            <p:spPr bwMode="auto">
              <a:xfrm>
                <a:off x="1659" y="816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FFFF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13" name="Freeform 106"/>
              <p:cNvSpPr>
                <a:spLocks/>
              </p:cNvSpPr>
              <p:nvPr/>
            </p:nvSpPr>
            <p:spPr bwMode="auto">
              <a:xfrm>
                <a:off x="1669" y="912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FFF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14" name="Freeform 107"/>
              <p:cNvSpPr>
                <a:spLocks/>
              </p:cNvSpPr>
              <p:nvPr/>
            </p:nvSpPr>
            <p:spPr bwMode="auto">
              <a:xfrm>
                <a:off x="2144" y="1152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FFFF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15" name="Freeform 108"/>
              <p:cNvSpPr>
                <a:spLocks/>
              </p:cNvSpPr>
              <p:nvPr/>
            </p:nvSpPr>
            <p:spPr bwMode="auto">
              <a:xfrm>
                <a:off x="1920" y="1296"/>
                <a:ext cx="240" cy="336"/>
              </a:xfrm>
              <a:custGeom>
                <a:avLst/>
                <a:gdLst>
                  <a:gd name="T0" fmla="*/ 10 w 336"/>
                  <a:gd name="T1" fmla="*/ 0 h 432"/>
                  <a:gd name="T2" fmla="*/ 16 w 336"/>
                  <a:gd name="T3" fmla="*/ 9 h 432"/>
                  <a:gd name="T4" fmla="*/ 4 w 336"/>
                  <a:gd name="T5" fmla="*/ 15 h 432"/>
                  <a:gd name="T6" fmla="*/ 4 w 336"/>
                  <a:gd name="T7" fmla="*/ 45 h 432"/>
                  <a:gd name="T8" fmla="*/ 0 w 336"/>
                  <a:gd name="T9" fmla="*/ 35 h 432"/>
                  <a:gd name="T10" fmla="*/ 0 w 336"/>
                  <a:gd name="T11" fmla="*/ 5 h 432"/>
                  <a:gd name="T12" fmla="*/ 10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16" name="Freeform 109"/>
              <p:cNvSpPr>
                <a:spLocks/>
              </p:cNvSpPr>
              <p:nvPr/>
            </p:nvSpPr>
            <p:spPr bwMode="auto">
              <a:xfrm>
                <a:off x="1728" y="1152"/>
                <a:ext cx="240" cy="288"/>
              </a:xfrm>
              <a:custGeom>
                <a:avLst/>
                <a:gdLst>
                  <a:gd name="T0" fmla="*/ 10 w 336"/>
                  <a:gd name="T1" fmla="*/ 0 h 432"/>
                  <a:gd name="T2" fmla="*/ 16 w 336"/>
                  <a:gd name="T3" fmla="*/ 3 h 432"/>
                  <a:gd name="T4" fmla="*/ 4 w 336"/>
                  <a:gd name="T5" fmla="*/ 4 h 432"/>
                  <a:gd name="T6" fmla="*/ 4 w 336"/>
                  <a:gd name="T7" fmla="*/ 11 h 432"/>
                  <a:gd name="T8" fmla="*/ 0 w 336"/>
                  <a:gd name="T9" fmla="*/ 9 h 432"/>
                  <a:gd name="T10" fmla="*/ 0 w 336"/>
                  <a:gd name="T11" fmla="*/ 1 h 432"/>
                  <a:gd name="T12" fmla="*/ 10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17" name="Freeform 110"/>
              <p:cNvSpPr>
                <a:spLocks/>
              </p:cNvSpPr>
              <p:nvPr/>
            </p:nvSpPr>
            <p:spPr bwMode="auto">
              <a:xfrm>
                <a:off x="1584" y="1008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2 w 336"/>
                  <a:gd name="T3" fmla="*/ 3 h 432"/>
                  <a:gd name="T4" fmla="*/ 1 w 336"/>
                  <a:gd name="T5" fmla="*/ 4 h 432"/>
                  <a:gd name="T6" fmla="*/ 1 w 336"/>
                  <a:gd name="T7" fmla="*/ 11 h 432"/>
                  <a:gd name="T8" fmla="*/ 0 w 336"/>
                  <a:gd name="T9" fmla="*/ 9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100369" name="Group 112"/>
            <p:cNvGrpSpPr>
              <a:grpSpLocks/>
            </p:cNvGrpSpPr>
            <p:nvPr/>
          </p:nvGrpSpPr>
          <p:grpSpPr bwMode="auto">
            <a:xfrm flipH="1">
              <a:off x="3576638" y="5207000"/>
              <a:ext cx="1219200" cy="1090613"/>
              <a:chOff x="1584" y="816"/>
              <a:chExt cx="912" cy="816"/>
            </a:xfrm>
          </p:grpSpPr>
          <p:sp>
            <p:nvSpPr>
              <p:cNvPr id="100400" name="Freeform 113"/>
              <p:cNvSpPr>
                <a:spLocks/>
              </p:cNvSpPr>
              <p:nvPr/>
            </p:nvSpPr>
            <p:spPr bwMode="auto">
              <a:xfrm>
                <a:off x="2352" y="1056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01" name="Freeform 114"/>
              <p:cNvSpPr>
                <a:spLocks/>
              </p:cNvSpPr>
              <p:nvPr/>
            </p:nvSpPr>
            <p:spPr bwMode="auto">
              <a:xfrm>
                <a:off x="2160" y="912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02" name="Freeform 115"/>
              <p:cNvSpPr>
                <a:spLocks/>
              </p:cNvSpPr>
              <p:nvPr/>
            </p:nvSpPr>
            <p:spPr bwMode="auto">
              <a:xfrm>
                <a:off x="1920" y="816"/>
                <a:ext cx="144" cy="288"/>
              </a:xfrm>
              <a:custGeom>
                <a:avLst/>
                <a:gdLst>
                  <a:gd name="T0" fmla="*/ 0 w 144"/>
                  <a:gd name="T1" fmla="*/ 12 h 336"/>
                  <a:gd name="T2" fmla="*/ 96 w 144"/>
                  <a:gd name="T3" fmla="*/ 0 h 336"/>
                  <a:gd name="T4" fmla="*/ 144 w 144"/>
                  <a:gd name="T5" fmla="*/ 12 h 336"/>
                  <a:gd name="T6" fmla="*/ 144 w 144"/>
                  <a:gd name="T7" fmla="*/ 85 h 336"/>
                  <a:gd name="T8" fmla="*/ 96 w 144"/>
                  <a:gd name="T9" fmla="*/ 73 h 336"/>
                  <a:gd name="T10" fmla="*/ 96 w 144"/>
                  <a:gd name="T11" fmla="*/ 24 h 336"/>
                  <a:gd name="T12" fmla="*/ 0 w 144"/>
                  <a:gd name="T13" fmla="*/ 36 h 336"/>
                  <a:gd name="T14" fmla="*/ 0 w 144"/>
                  <a:gd name="T15" fmla="*/ 12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03" name="Freeform 116"/>
              <p:cNvSpPr>
                <a:spLocks/>
              </p:cNvSpPr>
              <p:nvPr/>
            </p:nvSpPr>
            <p:spPr bwMode="auto">
              <a:xfrm>
                <a:off x="1659" y="816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C000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04" name="Freeform 117"/>
              <p:cNvSpPr>
                <a:spLocks/>
              </p:cNvSpPr>
              <p:nvPr/>
            </p:nvSpPr>
            <p:spPr bwMode="auto">
              <a:xfrm>
                <a:off x="1669" y="912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C000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05" name="Freeform 118"/>
              <p:cNvSpPr>
                <a:spLocks/>
              </p:cNvSpPr>
              <p:nvPr/>
            </p:nvSpPr>
            <p:spPr bwMode="auto">
              <a:xfrm>
                <a:off x="2144" y="1152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C000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06" name="Freeform 119"/>
              <p:cNvSpPr>
                <a:spLocks/>
              </p:cNvSpPr>
              <p:nvPr/>
            </p:nvSpPr>
            <p:spPr bwMode="auto">
              <a:xfrm>
                <a:off x="1920" y="1296"/>
                <a:ext cx="240" cy="336"/>
              </a:xfrm>
              <a:custGeom>
                <a:avLst/>
                <a:gdLst>
                  <a:gd name="T0" fmla="*/ 10 w 336"/>
                  <a:gd name="T1" fmla="*/ 0 h 432"/>
                  <a:gd name="T2" fmla="*/ 16 w 336"/>
                  <a:gd name="T3" fmla="*/ 9 h 432"/>
                  <a:gd name="T4" fmla="*/ 4 w 336"/>
                  <a:gd name="T5" fmla="*/ 15 h 432"/>
                  <a:gd name="T6" fmla="*/ 4 w 336"/>
                  <a:gd name="T7" fmla="*/ 45 h 432"/>
                  <a:gd name="T8" fmla="*/ 0 w 336"/>
                  <a:gd name="T9" fmla="*/ 35 h 432"/>
                  <a:gd name="T10" fmla="*/ 0 w 336"/>
                  <a:gd name="T11" fmla="*/ 5 h 432"/>
                  <a:gd name="T12" fmla="*/ 10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07" name="Freeform 120"/>
              <p:cNvSpPr>
                <a:spLocks/>
              </p:cNvSpPr>
              <p:nvPr/>
            </p:nvSpPr>
            <p:spPr bwMode="auto">
              <a:xfrm>
                <a:off x="1728" y="1152"/>
                <a:ext cx="240" cy="288"/>
              </a:xfrm>
              <a:custGeom>
                <a:avLst/>
                <a:gdLst>
                  <a:gd name="T0" fmla="*/ 10 w 336"/>
                  <a:gd name="T1" fmla="*/ 0 h 432"/>
                  <a:gd name="T2" fmla="*/ 16 w 336"/>
                  <a:gd name="T3" fmla="*/ 3 h 432"/>
                  <a:gd name="T4" fmla="*/ 4 w 336"/>
                  <a:gd name="T5" fmla="*/ 4 h 432"/>
                  <a:gd name="T6" fmla="*/ 4 w 336"/>
                  <a:gd name="T7" fmla="*/ 11 h 432"/>
                  <a:gd name="T8" fmla="*/ 0 w 336"/>
                  <a:gd name="T9" fmla="*/ 9 h 432"/>
                  <a:gd name="T10" fmla="*/ 0 w 336"/>
                  <a:gd name="T11" fmla="*/ 1 h 432"/>
                  <a:gd name="T12" fmla="*/ 10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408" name="Freeform 121"/>
              <p:cNvSpPr>
                <a:spLocks/>
              </p:cNvSpPr>
              <p:nvPr/>
            </p:nvSpPr>
            <p:spPr bwMode="auto">
              <a:xfrm>
                <a:off x="1584" y="1008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2 w 336"/>
                  <a:gd name="T3" fmla="*/ 3 h 432"/>
                  <a:gd name="T4" fmla="*/ 1 w 336"/>
                  <a:gd name="T5" fmla="*/ 4 h 432"/>
                  <a:gd name="T6" fmla="*/ 1 w 336"/>
                  <a:gd name="T7" fmla="*/ 11 h 432"/>
                  <a:gd name="T8" fmla="*/ 0 w 336"/>
                  <a:gd name="T9" fmla="*/ 9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100370" name="Group 123"/>
            <p:cNvGrpSpPr>
              <a:grpSpLocks/>
            </p:cNvGrpSpPr>
            <p:nvPr/>
          </p:nvGrpSpPr>
          <p:grpSpPr bwMode="auto">
            <a:xfrm flipH="1">
              <a:off x="2744788" y="1549400"/>
              <a:ext cx="1219200" cy="1090613"/>
              <a:chOff x="1584" y="816"/>
              <a:chExt cx="912" cy="816"/>
            </a:xfrm>
          </p:grpSpPr>
          <p:sp>
            <p:nvSpPr>
              <p:cNvPr id="100391" name="Freeform 124"/>
              <p:cNvSpPr>
                <a:spLocks/>
              </p:cNvSpPr>
              <p:nvPr/>
            </p:nvSpPr>
            <p:spPr bwMode="auto">
              <a:xfrm>
                <a:off x="2352" y="1056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92" name="Freeform 125"/>
              <p:cNvSpPr>
                <a:spLocks/>
              </p:cNvSpPr>
              <p:nvPr/>
            </p:nvSpPr>
            <p:spPr bwMode="auto">
              <a:xfrm>
                <a:off x="2160" y="912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93" name="Freeform 126"/>
              <p:cNvSpPr>
                <a:spLocks/>
              </p:cNvSpPr>
              <p:nvPr/>
            </p:nvSpPr>
            <p:spPr bwMode="auto">
              <a:xfrm>
                <a:off x="1920" y="816"/>
                <a:ext cx="144" cy="288"/>
              </a:xfrm>
              <a:custGeom>
                <a:avLst/>
                <a:gdLst>
                  <a:gd name="T0" fmla="*/ 0 w 144"/>
                  <a:gd name="T1" fmla="*/ 12 h 336"/>
                  <a:gd name="T2" fmla="*/ 96 w 144"/>
                  <a:gd name="T3" fmla="*/ 0 h 336"/>
                  <a:gd name="T4" fmla="*/ 144 w 144"/>
                  <a:gd name="T5" fmla="*/ 12 h 336"/>
                  <a:gd name="T6" fmla="*/ 144 w 144"/>
                  <a:gd name="T7" fmla="*/ 85 h 336"/>
                  <a:gd name="T8" fmla="*/ 96 w 144"/>
                  <a:gd name="T9" fmla="*/ 73 h 336"/>
                  <a:gd name="T10" fmla="*/ 96 w 144"/>
                  <a:gd name="T11" fmla="*/ 24 h 336"/>
                  <a:gd name="T12" fmla="*/ 0 w 144"/>
                  <a:gd name="T13" fmla="*/ 36 h 336"/>
                  <a:gd name="T14" fmla="*/ 0 w 144"/>
                  <a:gd name="T15" fmla="*/ 12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94" name="Freeform 127"/>
              <p:cNvSpPr>
                <a:spLocks/>
              </p:cNvSpPr>
              <p:nvPr/>
            </p:nvSpPr>
            <p:spPr bwMode="auto">
              <a:xfrm>
                <a:off x="1659" y="816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95" name="Freeform 128"/>
              <p:cNvSpPr>
                <a:spLocks/>
              </p:cNvSpPr>
              <p:nvPr/>
            </p:nvSpPr>
            <p:spPr bwMode="auto">
              <a:xfrm>
                <a:off x="1669" y="912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96" name="Freeform 129"/>
              <p:cNvSpPr>
                <a:spLocks/>
              </p:cNvSpPr>
              <p:nvPr/>
            </p:nvSpPr>
            <p:spPr bwMode="auto">
              <a:xfrm>
                <a:off x="2144" y="1152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97" name="Freeform 130"/>
              <p:cNvSpPr>
                <a:spLocks/>
              </p:cNvSpPr>
              <p:nvPr/>
            </p:nvSpPr>
            <p:spPr bwMode="auto">
              <a:xfrm>
                <a:off x="1920" y="1296"/>
                <a:ext cx="240" cy="336"/>
              </a:xfrm>
              <a:custGeom>
                <a:avLst/>
                <a:gdLst>
                  <a:gd name="T0" fmla="*/ 10 w 336"/>
                  <a:gd name="T1" fmla="*/ 0 h 432"/>
                  <a:gd name="T2" fmla="*/ 16 w 336"/>
                  <a:gd name="T3" fmla="*/ 9 h 432"/>
                  <a:gd name="T4" fmla="*/ 4 w 336"/>
                  <a:gd name="T5" fmla="*/ 15 h 432"/>
                  <a:gd name="T6" fmla="*/ 4 w 336"/>
                  <a:gd name="T7" fmla="*/ 45 h 432"/>
                  <a:gd name="T8" fmla="*/ 0 w 336"/>
                  <a:gd name="T9" fmla="*/ 35 h 432"/>
                  <a:gd name="T10" fmla="*/ 0 w 336"/>
                  <a:gd name="T11" fmla="*/ 5 h 432"/>
                  <a:gd name="T12" fmla="*/ 10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98" name="Freeform 131"/>
              <p:cNvSpPr>
                <a:spLocks/>
              </p:cNvSpPr>
              <p:nvPr/>
            </p:nvSpPr>
            <p:spPr bwMode="auto">
              <a:xfrm>
                <a:off x="1728" y="1152"/>
                <a:ext cx="240" cy="288"/>
              </a:xfrm>
              <a:custGeom>
                <a:avLst/>
                <a:gdLst>
                  <a:gd name="T0" fmla="*/ 10 w 336"/>
                  <a:gd name="T1" fmla="*/ 0 h 432"/>
                  <a:gd name="T2" fmla="*/ 16 w 336"/>
                  <a:gd name="T3" fmla="*/ 3 h 432"/>
                  <a:gd name="T4" fmla="*/ 4 w 336"/>
                  <a:gd name="T5" fmla="*/ 4 h 432"/>
                  <a:gd name="T6" fmla="*/ 4 w 336"/>
                  <a:gd name="T7" fmla="*/ 11 h 432"/>
                  <a:gd name="T8" fmla="*/ 0 w 336"/>
                  <a:gd name="T9" fmla="*/ 9 h 432"/>
                  <a:gd name="T10" fmla="*/ 0 w 336"/>
                  <a:gd name="T11" fmla="*/ 1 h 432"/>
                  <a:gd name="T12" fmla="*/ 10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99" name="Freeform 132"/>
              <p:cNvSpPr>
                <a:spLocks/>
              </p:cNvSpPr>
              <p:nvPr/>
            </p:nvSpPr>
            <p:spPr bwMode="auto">
              <a:xfrm>
                <a:off x="1584" y="1008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2 w 336"/>
                  <a:gd name="T3" fmla="*/ 3 h 432"/>
                  <a:gd name="T4" fmla="*/ 1 w 336"/>
                  <a:gd name="T5" fmla="*/ 4 h 432"/>
                  <a:gd name="T6" fmla="*/ 1 w 336"/>
                  <a:gd name="T7" fmla="*/ 11 h 432"/>
                  <a:gd name="T8" fmla="*/ 0 w 336"/>
                  <a:gd name="T9" fmla="*/ 9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100371" name="Group 141"/>
            <p:cNvGrpSpPr>
              <a:grpSpLocks/>
            </p:cNvGrpSpPr>
            <p:nvPr/>
          </p:nvGrpSpPr>
          <p:grpSpPr bwMode="auto">
            <a:xfrm>
              <a:off x="5332413" y="3937000"/>
              <a:ext cx="1219200" cy="1090613"/>
              <a:chOff x="1584" y="816"/>
              <a:chExt cx="912" cy="816"/>
            </a:xfrm>
          </p:grpSpPr>
          <p:sp>
            <p:nvSpPr>
              <p:cNvPr id="100382" name="Freeform 142"/>
              <p:cNvSpPr>
                <a:spLocks/>
              </p:cNvSpPr>
              <p:nvPr/>
            </p:nvSpPr>
            <p:spPr bwMode="auto">
              <a:xfrm>
                <a:off x="2352" y="1056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83" name="Freeform 143"/>
              <p:cNvSpPr>
                <a:spLocks/>
              </p:cNvSpPr>
              <p:nvPr/>
            </p:nvSpPr>
            <p:spPr bwMode="auto">
              <a:xfrm>
                <a:off x="2160" y="912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84" name="Freeform 144"/>
              <p:cNvSpPr>
                <a:spLocks/>
              </p:cNvSpPr>
              <p:nvPr/>
            </p:nvSpPr>
            <p:spPr bwMode="auto">
              <a:xfrm>
                <a:off x="1920" y="816"/>
                <a:ext cx="144" cy="288"/>
              </a:xfrm>
              <a:custGeom>
                <a:avLst/>
                <a:gdLst>
                  <a:gd name="T0" fmla="*/ 0 w 144"/>
                  <a:gd name="T1" fmla="*/ 12 h 336"/>
                  <a:gd name="T2" fmla="*/ 96 w 144"/>
                  <a:gd name="T3" fmla="*/ 0 h 336"/>
                  <a:gd name="T4" fmla="*/ 144 w 144"/>
                  <a:gd name="T5" fmla="*/ 12 h 336"/>
                  <a:gd name="T6" fmla="*/ 144 w 144"/>
                  <a:gd name="T7" fmla="*/ 85 h 336"/>
                  <a:gd name="T8" fmla="*/ 96 w 144"/>
                  <a:gd name="T9" fmla="*/ 73 h 336"/>
                  <a:gd name="T10" fmla="*/ 96 w 144"/>
                  <a:gd name="T11" fmla="*/ 24 h 336"/>
                  <a:gd name="T12" fmla="*/ 0 w 144"/>
                  <a:gd name="T13" fmla="*/ 36 h 336"/>
                  <a:gd name="T14" fmla="*/ 0 w 144"/>
                  <a:gd name="T15" fmla="*/ 12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85" name="Freeform 145"/>
              <p:cNvSpPr>
                <a:spLocks/>
              </p:cNvSpPr>
              <p:nvPr/>
            </p:nvSpPr>
            <p:spPr bwMode="auto">
              <a:xfrm>
                <a:off x="1659" y="816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86" name="Freeform 146"/>
              <p:cNvSpPr>
                <a:spLocks/>
              </p:cNvSpPr>
              <p:nvPr/>
            </p:nvSpPr>
            <p:spPr bwMode="auto">
              <a:xfrm>
                <a:off x="1669" y="912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87" name="Freeform 147"/>
              <p:cNvSpPr>
                <a:spLocks/>
              </p:cNvSpPr>
              <p:nvPr/>
            </p:nvSpPr>
            <p:spPr bwMode="auto">
              <a:xfrm>
                <a:off x="2144" y="1152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88" name="Freeform 148"/>
              <p:cNvSpPr>
                <a:spLocks/>
              </p:cNvSpPr>
              <p:nvPr/>
            </p:nvSpPr>
            <p:spPr bwMode="auto">
              <a:xfrm>
                <a:off x="1920" y="1296"/>
                <a:ext cx="240" cy="336"/>
              </a:xfrm>
              <a:custGeom>
                <a:avLst/>
                <a:gdLst>
                  <a:gd name="T0" fmla="*/ 10 w 336"/>
                  <a:gd name="T1" fmla="*/ 0 h 432"/>
                  <a:gd name="T2" fmla="*/ 16 w 336"/>
                  <a:gd name="T3" fmla="*/ 9 h 432"/>
                  <a:gd name="T4" fmla="*/ 4 w 336"/>
                  <a:gd name="T5" fmla="*/ 15 h 432"/>
                  <a:gd name="T6" fmla="*/ 4 w 336"/>
                  <a:gd name="T7" fmla="*/ 45 h 432"/>
                  <a:gd name="T8" fmla="*/ 0 w 336"/>
                  <a:gd name="T9" fmla="*/ 35 h 432"/>
                  <a:gd name="T10" fmla="*/ 0 w 336"/>
                  <a:gd name="T11" fmla="*/ 5 h 432"/>
                  <a:gd name="T12" fmla="*/ 10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89" name="Freeform 149"/>
              <p:cNvSpPr>
                <a:spLocks/>
              </p:cNvSpPr>
              <p:nvPr/>
            </p:nvSpPr>
            <p:spPr bwMode="auto">
              <a:xfrm>
                <a:off x="1728" y="1152"/>
                <a:ext cx="240" cy="288"/>
              </a:xfrm>
              <a:custGeom>
                <a:avLst/>
                <a:gdLst>
                  <a:gd name="T0" fmla="*/ 10 w 336"/>
                  <a:gd name="T1" fmla="*/ 0 h 432"/>
                  <a:gd name="T2" fmla="*/ 16 w 336"/>
                  <a:gd name="T3" fmla="*/ 3 h 432"/>
                  <a:gd name="T4" fmla="*/ 4 w 336"/>
                  <a:gd name="T5" fmla="*/ 4 h 432"/>
                  <a:gd name="T6" fmla="*/ 4 w 336"/>
                  <a:gd name="T7" fmla="*/ 11 h 432"/>
                  <a:gd name="T8" fmla="*/ 0 w 336"/>
                  <a:gd name="T9" fmla="*/ 9 h 432"/>
                  <a:gd name="T10" fmla="*/ 0 w 336"/>
                  <a:gd name="T11" fmla="*/ 1 h 432"/>
                  <a:gd name="T12" fmla="*/ 10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90" name="Freeform 150"/>
              <p:cNvSpPr>
                <a:spLocks/>
              </p:cNvSpPr>
              <p:nvPr/>
            </p:nvSpPr>
            <p:spPr bwMode="auto">
              <a:xfrm>
                <a:off x="1584" y="1008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2 w 336"/>
                  <a:gd name="T3" fmla="*/ 3 h 432"/>
                  <a:gd name="T4" fmla="*/ 1 w 336"/>
                  <a:gd name="T5" fmla="*/ 4 h 432"/>
                  <a:gd name="T6" fmla="*/ 1 w 336"/>
                  <a:gd name="T7" fmla="*/ 11 h 432"/>
                  <a:gd name="T8" fmla="*/ 0 w 336"/>
                  <a:gd name="T9" fmla="*/ 9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  <p:grpSp>
          <p:nvGrpSpPr>
            <p:cNvPr id="100372" name="Group 101"/>
            <p:cNvGrpSpPr>
              <a:grpSpLocks/>
            </p:cNvGrpSpPr>
            <p:nvPr/>
          </p:nvGrpSpPr>
          <p:grpSpPr bwMode="auto">
            <a:xfrm>
              <a:off x="1541463" y="2832100"/>
              <a:ext cx="1219200" cy="1090613"/>
              <a:chOff x="1584" y="816"/>
              <a:chExt cx="912" cy="816"/>
            </a:xfrm>
          </p:grpSpPr>
          <p:sp>
            <p:nvSpPr>
              <p:cNvPr id="100373" name="Freeform 102"/>
              <p:cNvSpPr>
                <a:spLocks/>
              </p:cNvSpPr>
              <p:nvPr/>
            </p:nvSpPr>
            <p:spPr bwMode="auto">
              <a:xfrm>
                <a:off x="2352" y="1056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74" name="Freeform 103"/>
              <p:cNvSpPr>
                <a:spLocks/>
              </p:cNvSpPr>
              <p:nvPr/>
            </p:nvSpPr>
            <p:spPr bwMode="auto">
              <a:xfrm>
                <a:off x="2160" y="912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75" name="Freeform 104"/>
              <p:cNvSpPr>
                <a:spLocks/>
              </p:cNvSpPr>
              <p:nvPr/>
            </p:nvSpPr>
            <p:spPr bwMode="auto">
              <a:xfrm>
                <a:off x="1920" y="816"/>
                <a:ext cx="144" cy="288"/>
              </a:xfrm>
              <a:custGeom>
                <a:avLst/>
                <a:gdLst>
                  <a:gd name="T0" fmla="*/ 0 w 144"/>
                  <a:gd name="T1" fmla="*/ 12 h 336"/>
                  <a:gd name="T2" fmla="*/ 96 w 144"/>
                  <a:gd name="T3" fmla="*/ 0 h 336"/>
                  <a:gd name="T4" fmla="*/ 144 w 144"/>
                  <a:gd name="T5" fmla="*/ 12 h 336"/>
                  <a:gd name="T6" fmla="*/ 144 w 144"/>
                  <a:gd name="T7" fmla="*/ 85 h 336"/>
                  <a:gd name="T8" fmla="*/ 96 w 144"/>
                  <a:gd name="T9" fmla="*/ 73 h 336"/>
                  <a:gd name="T10" fmla="*/ 96 w 144"/>
                  <a:gd name="T11" fmla="*/ 24 h 336"/>
                  <a:gd name="T12" fmla="*/ 0 w 144"/>
                  <a:gd name="T13" fmla="*/ 36 h 336"/>
                  <a:gd name="T14" fmla="*/ 0 w 144"/>
                  <a:gd name="T15" fmla="*/ 12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76" name="Freeform 105"/>
              <p:cNvSpPr>
                <a:spLocks/>
              </p:cNvSpPr>
              <p:nvPr/>
            </p:nvSpPr>
            <p:spPr bwMode="auto">
              <a:xfrm>
                <a:off x="1659" y="816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FFC0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77" name="Freeform 106"/>
              <p:cNvSpPr>
                <a:spLocks/>
              </p:cNvSpPr>
              <p:nvPr/>
            </p:nvSpPr>
            <p:spPr bwMode="auto">
              <a:xfrm>
                <a:off x="1669" y="912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FC0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78" name="Freeform 107"/>
              <p:cNvSpPr>
                <a:spLocks/>
              </p:cNvSpPr>
              <p:nvPr/>
            </p:nvSpPr>
            <p:spPr bwMode="auto">
              <a:xfrm>
                <a:off x="2144" y="1152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FFC0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79" name="Freeform 108"/>
              <p:cNvSpPr>
                <a:spLocks/>
              </p:cNvSpPr>
              <p:nvPr/>
            </p:nvSpPr>
            <p:spPr bwMode="auto">
              <a:xfrm>
                <a:off x="1920" y="1296"/>
                <a:ext cx="240" cy="336"/>
              </a:xfrm>
              <a:custGeom>
                <a:avLst/>
                <a:gdLst>
                  <a:gd name="T0" fmla="*/ 10 w 336"/>
                  <a:gd name="T1" fmla="*/ 0 h 432"/>
                  <a:gd name="T2" fmla="*/ 16 w 336"/>
                  <a:gd name="T3" fmla="*/ 9 h 432"/>
                  <a:gd name="T4" fmla="*/ 4 w 336"/>
                  <a:gd name="T5" fmla="*/ 15 h 432"/>
                  <a:gd name="T6" fmla="*/ 4 w 336"/>
                  <a:gd name="T7" fmla="*/ 45 h 432"/>
                  <a:gd name="T8" fmla="*/ 0 w 336"/>
                  <a:gd name="T9" fmla="*/ 35 h 432"/>
                  <a:gd name="T10" fmla="*/ 0 w 336"/>
                  <a:gd name="T11" fmla="*/ 5 h 432"/>
                  <a:gd name="T12" fmla="*/ 10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80" name="Freeform 109"/>
              <p:cNvSpPr>
                <a:spLocks/>
              </p:cNvSpPr>
              <p:nvPr/>
            </p:nvSpPr>
            <p:spPr bwMode="auto">
              <a:xfrm>
                <a:off x="1728" y="1152"/>
                <a:ext cx="240" cy="288"/>
              </a:xfrm>
              <a:custGeom>
                <a:avLst/>
                <a:gdLst>
                  <a:gd name="T0" fmla="*/ 10 w 336"/>
                  <a:gd name="T1" fmla="*/ 0 h 432"/>
                  <a:gd name="T2" fmla="*/ 16 w 336"/>
                  <a:gd name="T3" fmla="*/ 3 h 432"/>
                  <a:gd name="T4" fmla="*/ 4 w 336"/>
                  <a:gd name="T5" fmla="*/ 4 h 432"/>
                  <a:gd name="T6" fmla="*/ 4 w 336"/>
                  <a:gd name="T7" fmla="*/ 11 h 432"/>
                  <a:gd name="T8" fmla="*/ 0 w 336"/>
                  <a:gd name="T9" fmla="*/ 9 h 432"/>
                  <a:gd name="T10" fmla="*/ 0 w 336"/>
                  <a:gd name="T11" fmla="*/ 1 h 432"/>
                  <a:gd name="T12" fmla="*/ 10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0381" name="Freeform 110"/>
              <p:cNvSpPr>
                <a:spLocks/>
              </p:cNvSpPr>
              <p:nvPr/>
            </p:nvSpPr>
            <p:spPr bwMode="auto">
              <a:xfrm>
                <a:off x="1584" y="1008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2 w 336"/>
                  <a:gd name="T3" fmla="*/ 3 h 432"/>
                  <a:gd name="T4" fmla="*/ 1 w 336"/>
                  <a:gd name="T5" fmla="*/ 4 h 432"/>
                  <a:gd name="T6" fmla="*/ 1 w 336"/>
                  <a:gd name="T7" fmla="*/ 11 h 432"/>
                  <a:gd name="T8" fmla="*/ 0 w 336"/>
                  <a:gd name="T9" fmla="*/ 9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>
                  <a:latin typeface="Arial" pitchFamily="34" charset="0"/>
                </a:endParaRPr>
              </a:p>
            </p:txBody>
          </p:sp>
        </p:grpSp>
      </p:grpSp>
      <p:sp>
        <p:nvSpPr>
          <p:cNvPr id="100367" name="Text Box 5"/>
          <p:cNvSpPr txBox="1">
            <a:spLocks noChangeArrowheads="1"/>
          </p:cNvSpPr>
          <p:nvPr/>
        </p:nvSpPr>
        <p:spPr bwMode="auto">
          <a:xfrm>
            <a:off x="5703888" y="5126038"/>
            <a:ext cx="3151187" cy="12003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One node per thread, statically assigned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101379" name="Group 173"/>
          <p:cNvGrpSpPr>
            <a:grpSpLocks/>
          </p:cNvGrpSpPr>
          <p:nvPr/>
        </p:nvGrpSpPr>
        <p:grpSpPr bwMode="auto">
          <a:xfrm>
            <a:off x="5718175" y="1371600"/>
            <a:ext cx="606425" cy="787400"/>
            <a:chOff x="1728" y="1008"/>
            <a:chExt cx="1776" cy="2304"/>
          </a:xfrm>
        </p:grpSpPr>
        <p:sp>
          <p:nvSpPr>
            <p:cNvPr id="101448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49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50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51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1380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01381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369F4A1B-9C7E-4FCF-A843-7B0DD372F8FF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96</a:t>
            </a:fld>
            <a:endParaRPr lang="en-US" sz="14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1382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101383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10138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01385" name="Oval 5"/>
          <p:cNvSpPr>
            <a:spLocks noChangeArrowheads="1"/>
          </p:cNvSpPr>
          <p:nvPr/>
        </p:nvSpPr>
        <p:spPr bwMode="auto">
          <a:xfrm>
            <a:off x="293370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101386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1387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1388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101389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01390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en-US" sz="2000" dirty="0">
              <a:solidFill>
                <a:srgbClr val="0000FF"/>
              </a:solidFill>
              <a:latin typeface="Arial" pitchFamily="34" charset="0"/>
            </a:endParaRPr>
          </a:p>
        </p:txBody>
      </p:sp>
      <p:sp>
        <p:nvSpPr>
          <p:cNvPr id="101391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101392" name="Group 173"/>
          <p:cNvGrpSpPr>
            <a:grpSpLocks/>
          </p:cNvGrpSpPr>
          <p:nvPr/>
        </p:nvGrpSpPr>
        <p:grpSpPr bwMode="auto">
          <a:xfrm>
            <a:off x="5616575" y="1485900"/>
            <a:ext cx="606425" cy="787400"/>
            <a:chOff x="1728" y="1008"/>
            <a:chExt cx="1776" cy="2304"/>
          </a:xfrm>
        </p:grpSpPr>
        <p:sp>
          <p:nvSpPr>
            <p:cNvPr id="101444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45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46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47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1393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01435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36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37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38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39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40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41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42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43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1394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01426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27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28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29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30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31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32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33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34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1395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01417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18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19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20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21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22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23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24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25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1396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01408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09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10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11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12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13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14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15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16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1397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1399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00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01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02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03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04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05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06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1407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1398" name="Text Box 5"/>
          <p:cNvSpPr txBox="1">
            <a:spLocks noChangeArrowheads="1"/>
          </p:cNvSpPr>
          <p:nvPr/>
        </p:nvSpPr>
        <p:spPr bwMode="auto">
          <a:xfrm>
            <a:off x="5729288" y="2598738"/>
            <a:ext cx="3151187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Sense-reversing flag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2403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02404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A71E0204-2C53-4C3A-8FDF-DE9D7505C119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97</a:t>
            </a:fld>
            <a:endParaRPr lang="en-US" sz="14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405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2406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240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02408" name="Oval 5"/>
          <p:cNvSpPr>
            <a:spLocks noChangeArrowheads="1"/>
          </p:cNvSpPr>
          <p:nvPr/>
        </p:nvSpPr>
        <p:spPr bwMode="auto">
          <a:xfrm>
            <a:off x="293370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2409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2410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2411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2412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2413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2414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2415" name="Group 173"/>
          <p:cNvGrpSpPr>
            <a:grpSpLocks/>
          </p:cNvGrpSpPr>
          <p:nvPr/>
        </p:nvGrpSpPr>
        <p:grpSpPr bwMode="auto">
          <a:xfrm>
            <a:off x="5616575" y="1485900"/>
            <a:ext cx="606425" cy="787400"/>
            <a:chOff x="1728" y="1008"/>
            <a:chExt cx="1776" cy="2304"/>
          </a:xfrm>
        </p:grpSpPr>
        <p:sp>
          <p:nvSpPr>
            <p:cNvPr id="102467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68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69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70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2416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02458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59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60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61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62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63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64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65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66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2417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02449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50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51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52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53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54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55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56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57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2418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02440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41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42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43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44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45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46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47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48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2419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02431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32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33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34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35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36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37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38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39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2420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2422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23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24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25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26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27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28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29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430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2421" name="Text Box 5"/>
          <p:cNvSpPr txBox="1">
            <a:spLocks noChangeArrowheads="1"/>
          </p:cNvSpPr>
          <p:nvPr/>
        </p:nvSpPr>
        <p:spPr bwMode="auto">
          <a:xfrm>
            <a:off x="5310188" y="5329238"/>
            <a:ext cx="3151187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Node has count of missing children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3427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03428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E2186DE5-18A8-4BC7-8BCB-0A19E0E40597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98</a:t>
            </a:fld>
            <a:endParaRPr lang="en-US" sz="14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3429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3430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34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03432" name="Oval 5"/>
          <p:cNvSpPr>
            <a:spLocks noChangeArrowheads="1"/>
          </p:cNvSpPr>
          <p:nvPr/>
        </p:nvSpPr>
        <p:spPr bwMode="auto">
          <a:xfrm>
            <a:off x="293370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3433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3434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3435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03436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3437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3438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3439" name="Group 173"/>
          <p:cNvGrpSpPr>
            <a:grpSpLocks/>
          </p:cNvGrpSpPr>
          <p:nvPr/>
        </p:nvGrpSpPr>
        <p:grpSpPr bwMode="auto">
          <a:xfrm>
            <a:off x="5616575" y="1485900"/>
            <a:ext cx="606425" cy="787400"/>
            <a:chOff x="1728" y="1008"/>
            <a:chExt cx="1776" cy="2304"/>
          </a:xfrm>
        </p:grpSpPr>
        <p:sp>
          <p:nvSpPr>
            <p:cNvPr id="103502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503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504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505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3440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03493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94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95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96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97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98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99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500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501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3441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03484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85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86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87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88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89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90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91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92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3442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03475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76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77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78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79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80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81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82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3483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3443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03466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67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68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69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70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71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72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73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74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3444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3457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58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59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60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61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62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63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64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65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9595" name="Text Box 5"/>
          <p:cNvSpPr txBox="1">
            <a:spLocks noChangeArrowheads="1"/>
          </p:cNvSpPr>
          <p:nvPr/>
        </p:nvSpPr>
        <p:spPr bwMode="auto">
          <a:xfrm>
            <a:off x="280988" y="2217738"/>
            <a:ext cx="3151187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Spin until zero …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3448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49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50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51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52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53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54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55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56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44832" name="AutoShape 96"/>
          <p:cNvSpPr>
            <a:spLocks noChangeArrowheads="1"/>
          </p:cNvSpPr>
          <p:nvPr/>
        </p:nvSpPr>
        <p:spPr bwMode="auto">
          <a:xfrm>
            <a:off x="3327400" y="3124200"/>
            <a:ext cx="444500" cy="533400"/>
          </a:xfrm>
          <a:prstGeom prst="wedgeRoundRectCallout">
            <a:avLst>
              <a:gd name="adj1" fmla="val -220713"/>
              <a:gd name="adj2" fmla="val 36606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95" grpId="0"/>
      <p:bldP spid="244832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Oval 5"/>
          <p:cNvSpPr>
            <a:spLocks noChangeArrowheads="1"/>
          </p:cNvSpPr>
          <p:nvPr/>
        </p:nvSpPr>
        <p:spPr bwMode="auto">
          <a:xfrm>
            <a:off x="293370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246878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04452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453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04454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6FE25CE5-8542-40A8-A27E-4A4FF1940B9B}" type="slidenum">
              <a:rPr lang="en-US" sz="1400" b="0">
                <a:solidFill>
                  <a:schemeClr val="tx1"/>
                </a:solidFill>
                <a:latin typeface="Arial" pitchFamily="34" charset="0"/>
              </a:rPr>
              <a:pPr algn="r">
                <a:spcBef>
                  <a:spcPct val="0"/>
                </a:spcBef>
              </a:pPr>
              <a:t>99</a:t>
            </a:fld>
            <a:endParaRPr lang="en-US" sz="14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04455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4456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44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04458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459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460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4461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4462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4463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4464" name="Group 173"/>
          <p:cNvGrpSpPr>
            <a:grpSpLocks/>
          </p:cNvGrpSpPr>
          <p:nvPr/>
        </p:nvGrpSpPr>
        <p:grpSpPr bwMode="auto">
          <a:xfrm>
            <a:off x="5616575" y="1485900"/>
            <a:ext cx="606425" cy="787400"/>
            <a:chOff x="1728" y="1008"/>
            <a:chExt cx="1776" cy="2304"/>
          </a:xfrm>
        </p:grpSpPr>
        <p:sp>
          <p:nvSpPr>
            <p:cNvPr id="104538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39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40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41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4465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04529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30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31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32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33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34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35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36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37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4466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04520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21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22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23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24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25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26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27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528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4467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04511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12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13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14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15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16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17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18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19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4468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04502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03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04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05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06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07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08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09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10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4469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4493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94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95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96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97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98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99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00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501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4470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4484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85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86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87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88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89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90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91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492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4471" name="AutoShape 81"/>
          <p:cNvSpPr>
            <a:spLocks noChangeArrowheads="1"/>
          </p:cNvSpPr>
          <p:nvPr/>
        </p:nvSpPr>
        <p:spPr bwMode="auto">
          <a:xfrm>
            <a:off x="3327400" y="3124200"/>
            <a:ext cx="444500" cy="533400"/>
          </a:xfrm>
          <a:prstGeom prst="wedgeRoundRectCallout">
            <a:avLst>
              <a:gd name="adj1" fmla="val -220713"/>
              <a:gd name="adj2" fmla="val 36606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" name="Group 101"/>
          <p:cNvGrpSpPr>
            <a:grpSpLocks/>
          </p:cNvGrpSpPr>
          <p:nvPr/>
        </p:nvGrpSpPr>
        <p:grpSpPr bwMode="auto">
          <a:xfrm>
            <a:off x="1490663" y="5143500"/>
            <a:ext cx="1219200" cy="1090613"/>
            <a:chOff x="1584" y="816"/>
            <a:chExt cx="912" cy="816"/>
          </a:xfrm>
        </p:grpSpPr>
        <p:sp>
          <p:nvSpPr>
            <p:cNvPr id="104475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476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477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478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479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480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481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482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4483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246876" name="AutoShape 92"/>
          <p:cNvSpPr>
            <a:spLocks noChangeArrowheads="1"/>
          </p:cNvSpPr>
          <p:nvPr/>
        </p:nvSpPr>
        <p:spPr bwMode="auto">
          <a:xfrm>
            <a:off x="3263900" y="3886200"/>
            <a:ext cx="4622800" cy="1981200"/>
          </a:xfrm>
          <a:prstGeom prst="cloudCallout">
            <a:avLst>
              <a:gd name="adj1" fmla="val -61023"/>
              <a:gd name="adj2" fmla="val 35014"/>
            </a:avLst>
          </a:prstGeom>
          <a:solidFill>
            <a:schemeClr val="bg1">
              <a:alpha val="83920"/>
            </a:scheme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My counter is zero, decrement parent</a:t>
            </a:r>
          </a:p>
        </p:txBody>
      </p:sp>
      <p:sp>
        <p:nvSpPr>
          <p:cNvPr id="246877" name="AutoShape 93"/>
          <p:cNvSpPr>
            <a:spLocks noChangeArrowheads="1"/>
          </p:cNvSpPr>
          <p:nvPr/>
        </p:nvSpPr>
        <p:spPr bwMode="auto">
          <a:xfrm>
            <a:off x="3390900" y="3175000"/>
            <a:ext cx="444500" cy="533400"/>
          </a:xfrm>
          <a:prstGeom prst="wedgeRoundRectCallout">
            <a:avLst>
              <a:gd name="adj1" fmla="val -286431"/>
              <a:gd name="adj2" fmla="val 308037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4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878" grpId="0" animBg="1"/>
      <p:bldP spid="246876" grpId="0" animBg="1"/>
      <p:bldP spid="246877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Oval 5"/>
          <p:cNvSpPr>
            <a:spLocks noChangeArrowheads="1"/>
          </p:cNvSpPr>
          <p:nvPr/>
        </p:nvSpPr>
        <p:spPr bwMode="auto">
          <a:xfrm>
            <a:off x="293370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5475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05476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5477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05478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EB2CB4BF-FC8A-45B2-9F8C-50DBD13E98E9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100</a:t>
            </a:fld>
            <a:endParaRPr lang="en-US" sz="14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5479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5480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54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05482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5483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5484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5485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5486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5487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5488" name="Group 173"/>
          <p:cNvGrpSpPr>
            <a:grpSpLocks/>
          </p:cNvGrpSpPr>
          <p:nvPr/>
        </p:nvGrpSpPr>
        <p:grpSpPr bwMode="auto">
          <a:xfrm>
            <a:off x="5616575" y="1485900"/>
            <a:ext cx="606425" cy="787400"/>
            <a:chOff x="1728" y="1008"/>
            <a:chExt cx="1776" cy="2304"/>
          </a:xfrm>
        </p:grpSpPr>
        <p:sp>
          <p:nvSpPr>
            <p:cNvPr id="105562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5563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5564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5565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5489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05553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54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55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56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57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58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59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60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61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5490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05544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45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46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47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48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49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50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51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52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5491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05535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5536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5537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5538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5539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5540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5541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5542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5543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5492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05526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27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28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29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30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31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32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33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34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5493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5517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18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19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20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21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22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23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24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25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5494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5508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09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10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11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12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13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14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15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16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5495" name="AutoShape 81"/>
          <p:cNvSpPr>
            <a:spLocks noChangeArrowheads="1"/>
          </p:cNvSpPr>
          <p:nvPr/>
        </p:nvSpPr>
        <p:spPr bwMode="auto">
          <a:xfrm>
            <a:off x="3327400" y="3124200"/>
            <a:ext cx="444500" cy="533400"/>
          </a:xfrm>
          <a:prstGeom prst="wedgeRoundRectCallout">
            <a:avLst>
              <a:gd name="adj1" fmla="val -220713"/>
              <a:gd name="adj2" fmla="val 36606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5496" name="Group 101"/>
          <p:cNvGrpSpPr>
            <a:grpSpLocks/>
          </p:cNvGrpSpPr>
          <p:nvPr/>
        </p:nvGrpSpPr>
        <p:grpSpPr bwMode="auto">
          <a:xfrm>
            <a:off x="1490663" y="5143500"/>
            <a:ext cx="1219200" cy="1090613"/>
            <a:chOff x="1584" y="816"/>
            <a:chExt cx="912" cy="816"/>
          </a:xfrm>
        </p:grpSpPr>
        <p:sp>
          <p:nvSpPr>
            <p:cNvPr id="105499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00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01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02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03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04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05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06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507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5497" name="AutoShape 92"/>
          <p:cNvSpPr>
            <a:spLocks noChangeArrowheads="1"/>
          </p:cNvSpPr>
          <p:nvPr/>
        </p:nvSpPr>
        <p:spPr bwMode="auto">
          <a:xfrm>
            <a:off x="3263900" y="3886200"/>
            <a:ext cx="3263900" cy="1625600"/>
          </a:xfrm>
          <a:prstGeom prst="cloudCallout">
            <a:avLst>
              <a:gd name="adj1" fmla="val -63083"/>
              <a:gd name="adj2" fmla="val 53611"/>
            </a:avLst>
          </a:prstGeom>
          <a:solidFill>
            <a:schemeClr val="bg1">
              <a:alpha val="83920"/>
            </a:scheme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Spin on done flag</a:t>
            </a:r>
          </a:p>
        </p:txBody>
      </p:sp>
      <p:sp>
        <p:nvSpPr>
          <p:cNvPr id="105498" name="AutoShape 93"/>
          <p:cNvSpPr>
            <a:spLocks noChangeArrowheads="1"/>
          </p:cNvSpPr>
          <p:nvPr/>
        </p:nvSpPr>
        <p:spPr bwMode="auto">
          <a:xfrm>
            <a:off x="5867400" y="1955800"/>
            <a:ext cx="685800" cy="647700"/>
          </a:xfrm>
          <a:prstGeom prst="wedgeRoundRectCallout">
            <a:avLst>
              <a:gd name="adj1" fmla="val -542130"/>
              <a:gd name="adj2" fmla="val 458579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250985" name="Oval 11"/>
          <p:cNvSpPr>
            <a:spLocks noChangeArrowheads="1"/>
          </p:cNvSpPr>
          <p:nvPr/>
        </p:nvSpPr>
        <p:spPr bwMode="auto">
          <a:xfrm>
            <a:off x="4121150" y="1949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06500" name="Oval 5"/>
          <p:cNvSpPr>
            <a:spLocks noChangeArrowheads="1"/>
          </p:cNvSpPr>
          <p:nvPr/>
        </p:nvSpPr>
        <p:spPr bwMode="auto">
          <a:xfrm>
            <a:off x="293370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6501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06502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6503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06504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E6992920-1BFB-4B8B-9801-25655D83261E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101</a:t>
            </a:fld>
            <a:endParaRPr lang="en-US" sz="14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6505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6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06507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6508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6509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6510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6511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6512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6513" name="Group 173"/>
          <p:cNvGrpSpPr>
            <a:grpSpLocks/>
          </p:cNvGrpSpPr>
          <p:nvPr/>
        </p:nvGrpSpPr>
        <p:grpSpPr bwMode="auto">
          <a:xfrm>
            <a:off x="5616575" y="1485900"/>
            <a:ext cx="606425" cy="787400"/>
            <a:chOff x="1728" y="1008"/>
            <a:chExt cx="1776" cy="2304"/>
          </a:xfrm>
        </p:grpSpPr>
        <p:sp>
          <p:nvSpPr>
            <p:cNvPr id="106597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6598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6599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6600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6514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06588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89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90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91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92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93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94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95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96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6515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06579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80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81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82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83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84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85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86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87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6516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06570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71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72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73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74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75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76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77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78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6517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06561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62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63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64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65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66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67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68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69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6518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6552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53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54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55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56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57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58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59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60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6519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6543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44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45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46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47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48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49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50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51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6520" name="AutoShape 81"/>
          <p:cNvSpPr>
            <a:spLocks noChangeArrowheads="1"/>
          </p:cNvSpPr>
          <p:nvPr/>
        </p:nvSpPr>
        <p:spPr bwMode="auto">
          <a:xfrm>
            <a:off x="3327400" y="3124200"/>
            <a:ext cx="444500" cy="533400"/>
          </a:xfrm>
          <a:prstGeom prst="wedgeRoundRectCallout">
            <a:avLst>
              <a:gd name="adj1" fmla="val -220713"/>
              <a:gd name="adj2" fmla="val 36606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6521" name="Group 101"/>
          <p:cNvGrpSpPr>
            <a:grpSpLocks/>
          </p:cNvGrpSpPr>
          <p:nvPr/>
        </p:nvGrpSpPr>
        <p:grpSpPr bwMode="auto">
          <a:xfrm>
            <a:off x="1490663" y="5143500"/>
            <a:ext cx="1219200" cy="1090613"/>
            <a:chOff x="1584" y="816"/>
            <a:chExt cx="912" cy="816"/>
          </a:xfrm>
        </p:grpSpPr>
        <p:sp>
          <p:nvSpPr>
            <p:cNvPr id="106534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35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36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37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38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39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40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41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42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6522" name="AutoShape 93"/>
          <p:cNvSpPr>
            <a:spLocks noChangeArrowheads="1"/>
          </p:cNvSpPr>
          <p:nvPr/>
        </p:nvSpPr>
        <p:spPr bwMode="auto">
          <a:xfrm>
            <a:off x="5867400" y="1955800"/>
            <a:ext cx="685800" cy="647700"/>
          </a:xfrm>
          <a:prstGeom prst="wedgeRoundRectCallout">
            <a:avLst>
              <a:gd name="adj1" fmla="val -542130"/>
              <a:gd name="adj2" fmla="val 458579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" name="Group 141"/>
          <p:cNvGrpSpPr>
            <a:grpSpLocks/>
          </p:cNvGrpSpPr>
          <p:nvPr/>
        </p:nvGrpSpPr>
        <p:grpSpPr bwMode="auto">
          <a:xfrm>
            <a:off x="5357813" y="3949700"/>
            <a:ext cx="1219200" cy="1090613"/>
            <a:chOff x="1584" y="816"/>
            <a:chExt cx="912" cy="816"/>
          </a:xfrm>
        </p:grpSpPr>
        <p:sp>
          <p:nvSpPr>
            <p:cNvPr id="106525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26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27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28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29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30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31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32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533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50984" name="AutoShape 104"/>
          <p:cNvSpPr>
            <a:spLocks noChangeArrowheads="1"/>
          </p:cNvSpPr>
          <p:nvPr/>
        </p:nvSpPr>
        <p:spPr bwMode="auto">
          <a:xfrm>
            <a:off x="4495800" y="2006600"/>
            <a:ext cx="444500" cy="533400"/>
          </a:xfrm>
          <a:prstGeom prst="wedgeRoundRectCallout">
            <a:avLst>
              <a:gd name="adj1" fmla="val 190713"/>
              <a:gd name="adj2" fmla="val 303273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5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985" grpId="0" animBg="1"/>
      <p:bldP spid="25098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7523" name="Oval 11"/>
          <p:cNvSpPr>
            <a:spLocks noChangeArrowheads="1"/>
          </p:cNvSpPr>
          <p:nvPr/>
        </p:nvSpPr>
        <p:spPr bwMode="auto">
          <a:xfrm>
            <a:off x="4121150" y="1949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07524" name="Oval 5"/>
          <p:cNvSpPr>
            <a:spLocks noChangeArrowheads="1"/>
          </p:cNvSpPr>
          <p:nvPr/>
        </p:nvSpPr>
        <p:spPr bwMode="auto">
          <a:xfrm>
            <a:off x="293370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7525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07526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7527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07528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C51BAFA9-B2D5-4BC4-8B69-454D8D7AA272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102</a:t>
            </a:fld>
            <a:endParaRPr lang="en-US" sz="14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7529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7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07531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7532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7533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7534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7535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7536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7537" name="Group 173"/>
          <p:cNvGrpSpPr>
            <a:grpSpLocks/>
          </p:cNvGrpSpPr>
          <p:nvPr/>
        </p:nvGrpSpPr>
        <p:grpSpPr bwMode="auto">
          <a:xfrm>
            <a:off x="5616575" y="1485900"/>
            <a:ext cx="606425" cy="787400"/>
            <a:chOff x="1728" y="1008"/>
            <a:chExt cx="1776" cy="2304"/>
          </a:xfrm>
        </p:grpSpPr>
        <p:sp>
          <p:nvSpPr>
            <p:cNvPr id="107621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22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23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24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7538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07612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13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14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15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16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17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18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19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20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7539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07603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04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05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06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07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08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09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10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11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7540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07594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595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596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597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598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599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00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01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602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7541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07585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86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87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88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89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90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91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92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93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7542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7576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77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78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79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80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81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82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83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84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7543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7567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68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69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70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71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72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73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74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75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7544" name="AutoShape 82"/>
          <p:cNvSpPr>
            <a:spLocks noChangeArrowheads="1"/>
          </p:cNvSpPr>
          <p:nvPr/>
        </p:nvSpPr>
        <p:spPr bwMode="auto">
          <a:xfrm>
            <a:off x="3327400" y="3124200"/>
            <a:ext cx="444500" cy="533400"/>
          </a:xfrm>
          <a:prstGeom prst="wedgeRoundRectCallout">
            <a:avLst>
              <a:gd name="adj1" fmla="val -220713"/>
              <a:gd name="adj2" fmla="val 36606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7545" name="Group 101"/>
          <p:cNvGrpSpPr>
            <a:grpSpLocks/>
          </p:cNvGrpSpPr>
          <p:nvPr/>
        </p:nvGrpSpPr>
        <p:grpSpPr bwMode="auto">
          <a:xfrm>
            <a:off x="1490663" y="5143500"/>
            <a:ext cx="1219200" cy="1090613"/>
            <a:chOff x="1584" y="816"/>
            <a:chExt cx="912" cy="816"/>
          </a:xfrm>
        </p:grpSpPr>
        <p:sp>
          <p:nvSpPr>
            <p:cNvPr id="107558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559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560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561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562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563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564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565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7566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7546" name="AutoShape 93"/>
          <p:cNvSpPr>
            <a:spLocks noChangeArrowheads="1"/>
          </p:cNvSpPr>
          <p:nvPr/>
        </p:nvSpPr>
        <p:spPr bwMode="auto">
          <a:xfrm>
            <a:off x="5867400" y="1955800"/>
            <a:ext cx="685800" cy="647700"/>
          </a:xfrm>
          <a:prstGeom prst="wedgeRoundRectCallout">
            <a:avLst>
              <a:gd name="adj1" fmla="val -542130"/>
              <a:gd name="adj2" fmla="val 458579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7547" name="Group 141"/>
          <p:cNvGrpSpPr>
            <a:grpSpLocks/>
          </p:cNvGrpSpPr>
          <p:nvPr/>
        </p:nvGrpSpPr>
        <p:grpSpPr bwMode="auto">
          <a:xfrm>
            <a:off x="5357813" y="3949700"/>
            <a:ext cx="1219200" cy="1090613"/>
            <a:chOff x="1584" y="816"/>
            <a:chExt cx="912" cy="816"/>
          </a:xfrm>
        </p:grpSpPr>
        <p:sp>
          <p:nvSpPr>
            <p:cNvPr id="107549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50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51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52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53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54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55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56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557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7548" name="AutoShape 104"/>
          <p:cNvSpPr>
            <a:spLocks noChangeArrowheads="1"/>
          </p:cNvSpPr>
          <p:nvPr/>
        </p:nvSpPr>
        <p:spPr bwMode="auto">
          <a:xfrm>
            <a:off x="5981700" y="2006600"/>
            <a:ext cx="584200" cy="635000"/>
          </a:xfrm>
          <a:prstGeom prst="wedgeRoundRectCallout">
            <a:avLst>
              <a:gd name="adj1" fmla="val -75542"/>
              <a:gd name="adj2" fmla="val 232750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8547" name="Oval 11"/>
          <p:cNvSpPr>
            <a:spLocks noChangeArrowheads="1"/>
          </p:cNvSpPr>
          <p:nvPr/>
        </p:nvSpPr>
        <p:spPr bwMode="auto">
          <a:xfrm>
            <a:off x="4121150" y="1949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08548" name="Oval 5"/>
          <p:cNvSpPr>
            <a:spLocks noChangeArrowheads="1"/>
          </p:cNvSpPr>
          <p:nvPr/>
        </p:nvSpPr>
        <p:spPr bwMode="auto">
          <a:xfrm>
            <a:off x="293370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8549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08550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8551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08552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B76AB505-6DC7-425D-9DD3-05CD248AA4B7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103</a:t>
            </a:fld>
            <a:endParaRPr lang="en-US" sz="14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8553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8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08555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8556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8557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8558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8559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8560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8561" name="Group 173"/>
          <p:cNvGrpSpPr>
            <a:grpSpLocks/>
          </p:cNvGrpSpPr>
          <p:nvPr/>
        </p:nvGrpSpPr>
        <p:grpSpPr bwMode="auto">
          <a:xfrm>
            <a:off x="5616575" y="1485900"/>
            <a:ext cx="606425" cy="787400"/>
            <a:chOff x="1728" y="1008"/>
            <a:chExt cx="1776" cy="2304"/>
          </a:xfrm>
        </p:grpSpPr>
        <p:sp>
          <p:nvSpPr>
            <p:cNvPr id="108665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666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667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668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8562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08656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57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58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59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60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61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62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63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64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8563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08647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48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49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50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51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52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53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54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55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8564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08638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639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640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641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642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643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644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645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646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8565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08629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30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31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32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33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34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35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36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37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8566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8620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21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22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23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24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25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26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27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28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8567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8611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12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13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14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15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16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17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18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19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8568" name="AutoShape 82"/>
          <p:cNvSpPr>
            <a:spLocks noChangeArrowheads="1"/>
          </p:cNvSpPr>
          <p:nvPr/>
        </p:nvSpPr>
        <p:spPr bwMode="auto">
          <a:xfrm>
            <a:off x="3327400" y="3124200"/>
            <a:ext cx="444500" cy="533400"/>
          </a:xfrm>
          <a:prstGeom prst="wedgeRoundRectCallout">
            <a:avLst>
              <a:gd name="adj1" fmla="val -220713"/>
              <a:gd name="adj2" fmla="val 36606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8569" name="Group 101"/>
          <p:cNvGrpSpPr>
            <a:grpSpLocks/>
          </p:cNvGrpSpPr>
          <p:nvPr/>
        </p:nvGrpSpPr>
        <p:grpSpPr bwMode="auto">
          <a:xfrm>
            <a:off x="1490663" y="5143500"/>
            <a:ext cx="1219200" cy="1090613"/>
            <a:chOff x="1584" y="816"/>
            <a:chExt cx="912" cy="816"/>
          </a:xfrm>
        </p:grpSpPr>
        <p:sp>
          <p:nvSpPr>
            <p:cNvPr id="108602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03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04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05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06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07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08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09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10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8570" name="AutoShape 93"/>
          <p:cNvSpPr>
            <a:spLocks noChangeArrowheads="1"/>
          </p:cNvSpPr>
          <p:nvPr/>
        </p:nvSpPr>
        <p:spPr bwMode="auto">
          <a:xfrm>
            <a:off x="5867400" y="1955800"/>
            <a:ext cx="685800" cy="647700"/>
          </a:xfrm>
          <a:prstGeom prst="wedgeRoundRectCallout">
            <a:avLst>
              <a:gd name="adj1" fmla="val -542130"/>
              <a:gd name="adj2" fmla="val 458579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8571" name="Group 141"/>
          <p:cNvGrpSpPr>
            <a:grpSpLocks/>
          </p:cNvGrpSpPr>
          <p:nvPr/>
        </p:nvGrpSpPr>
        <p:grpSpPr bwMode="auto">
          <a:xfrm>
            <a:off x="5357813" y="3949700"/>
            <a:ext cx="1219200" cy="1090613"/>
            <a:chOff x="1584" y="816"/>
            <a:chExt cx="912" cy="816"/>
          </a:xfrm>
        </p:grpSpPr>
        <p:sp>
          <p:nvSpPr>
            <p:cNvPr id="108593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94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95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96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97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98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99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00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601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8572" name="AutoShape 104"/>
          <p:cNvSpPr>
            <a:spLocks noChangeArrowheads="1"/>
          </p:cNvSpPr>
          <p:nvPr/>
        </p:nvSpPr>
        <p:spPr bwMode="auto">
          <a:xfrm>
            <a:off x="5981700" y="2006600"/>
            <a:ext cx="584200" cy="635000"/>
          </a:xfrm>
          <a:prstGeom prst="wedgeRoundRectCallout">
            <a:avLst>
              <a:gd name="adj1" fmla="val -75542"/>
              <a:gd name="adj2" fmla="val 232750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08584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85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86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87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88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89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90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91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592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2" name="Group 123"/>
          <p:cNvGrpSpPr>
            <a:grpSpLocks/>
          </p:cNvGrpSpPr>
          <p:nvPr/>
        </p:nvGrpSpPr>
        <p:grpSpPr bwMode="auto">
          <a:xfrm flipH="1">
            <a:off x="2757488" y="1549400"/>
            <a:ext cx="1219200" cy="1090613"/>
            <a:chOff x="1584" y="816"/>
            <a:chExt cx="912" cy="816"/>
          </a:xfrm>
        </p:grpSpPr>
        <p:sp>
          <p:nvSpPr>
            <p:cNvPr id="108575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576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577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578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579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580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581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582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8583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257151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9572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9573" name="Oval 11"/>
          <p:cNvSpPr>
            <a:spLocks noChangeArrowheads="1"/>
          </p:cNvSpPr>
          <p:nvPr/>
        </p:nvSpPr>
        <p:spPr bwMode="auto">
          <a:xfrm>
            <a:off x="4121150" y="1949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09574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9575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09576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9E26C629-AE2E-4ADB-BDA2-394AAE6A0C8C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104</a:t>
            </a:fld>
            <a:endParaRPr lang="en-US" sz="14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9577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9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09579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9580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9581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9582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9583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9584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9585" name="Group 173"/>
          <p:cNvGrpSpPr>
            <a:grpSpLocks/>
          </p:cNvGrpSpPr>
          <p:nvPr/>
        </p:nvGrpSpPr>
        <p:grpSpPr bwMode="auto">
          <a:xfrm>
            <a:off x="5616575" y="1485900"/>
            <a:ext cx="606425" cy="787400"/>
            <a:chOff x="1728" y="1008"/>
            <a:chExt cx="1776" cy="2304"/>
          </a:xfrm>
        </p:grpSpPr>
        <p:sp>
          <p:nvSpPr>
            <p:cNvPr id="109691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92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93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94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9586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09682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83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84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85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86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87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88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89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90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9587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09673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74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75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76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77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78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79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80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81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9588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09664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65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66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67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68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69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70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71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72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09589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09655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56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57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58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59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60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61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62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63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9590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9646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47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48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49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50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51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52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53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54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9591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09637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38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39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40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41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42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43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44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45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9592" name="AutoShape 82"/>
          <p:cNvSpPr>
            <a:spLocks noChangeArrowheads="1"/>
          </p:cNvSpPr>
          <p:nvPr/>
        </p:nvSpPr>
        <p:spPr bwMode="auto">
          <a:xfrm>
            <a:off x="3327400" y="3124200"/>
            <a:ext cx="444500" cy="533400"/>
          </a:xfrm>
          <a:prstGeom prst="wedgeRoundRectCallout">
            <a:avLst>
              <a:gd name="adj1" fmla="val -220713"/>
              <a:gd name="adj2" fmla="val 36606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9593" name="Group 101"/>
          <p:cNvGrpSpPr>
            <a:grpSpLocks/>
          </p:cNvGrpSpPr>
          <p:nvPr/>
        </p:nvGrpSpPr>
        <p:grpSpPr bwMode="auto">
          <a:xfrm>
            <a:off x="1490663" y="5143500"/>
            <a:ext cx="1219200" cy="1090613"/>
            <a:chOff x="1584" y="816"/>
            <a:chExt cx="912" cy="816"/>
          </a:xfrm>
        </p:grpSpPr>
        <p:sp>
          <p:nvSpPr>
            <p:cNvPr id="109628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29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30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31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32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33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34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35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36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9594" name="AutoShape 93"/>
          <p:cNvSpPr>
            <a:spLocks noChangeArrowheads="1"/>
          </p:cNvSpPr>
          <p:nvPr/>
        </p:nvSpPr>
        <p:spPr bwMode="auto">
          <a:xfrm>
            <a:off x="5867400" y="1955800"/>
            <a:ext cx="685800" cy="647700"/>
          </a:xfrm>
          <a:prstGeom prst="wedgeRoundRectCallout">
            <a:avLst>
              <a:gd name="adj1" fmla="val -542130"/>
              <a:gd name="adj2" fmla="val 458579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9595" name="Group 141"/>
          <p:cNvGrpSpPr>
            <a:grpSpLocks/>
          </p:cNvGrpSpPr>
          <p:nvPr/>
        </p:nvGrpSpPr>
        <p:grpSpPr bwMode="auto">
          <a:xfrm>
            <a:off x="5357813" y="3949700"/>
            <a:ext cx="1219200" cy="1090613"/>
            <a:chOff x="1584" y="816"/>
            <a:chExt cx="912" cy="816"/>
          </a:xfrm>
        </p:grpSpPr>
        <p:sp>
          <p:nvSpPr>
            <p:cNvPr id="109619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20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21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22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23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24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25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26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27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9596" name="AutoShape 104"/>
          <p:cNvSpPr>
            <a:spLocks noChangeArrowheads="1"/>
          </p:cNvSpPr>
          <p:nvPr/>
        </p:nvSpPr>
        <p:spPr bwMode="auto">
          <a:xfrm>
            <a:off x="5981700" y="2006600"/>
            <a:ext cx="584200" cy="635000"/>
          </a:xfrm>
          <a:prstGeom prst="wedgeRoundRectCallout">
            <a:avLst>
              <a:gd name="adj1" fmla="val -75542"/>
              <a:gd name="adj2" fmla="val 232750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9597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09610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11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12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13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14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15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16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17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618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9598" name="Group 123"/>
          <p:cNvGrpSpPr>
            <a:grpSpLocks/>
          </p:cNvGrpSpPr>
          <p:nvPr/>
        </p:nvGrpSpPr>
        <p:grpSpPr bwMode="auto">
          <a:xfrm flipH="1">
            <a:off x="2757488" y="1549400"/>
            <a:ext cx="1219200" cy="1090613"/>
            <a:chOff x="1584" y="816"/>
            <a:chExt cx="912" cy="816"/>
          </a:xfrm>
        </p:grpSpPr>
        <p:sp>
          <p:nvSpPr>
            <p:cNvPr id="109601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02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03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04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05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06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07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08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09609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09599" name="AutoShape 125"/>
          <p:cNvSpPr>
            <a:spLocks noChangeArrowheads="1"/>
          </p:cNvSpPr>
          <p:nvPr/>
        </p:nvSpPr>
        <p:spPr bwMode="auto">
          <a:xfrm>
            <a:off x="4483100" y="1993900"/>
            <a:ext cx="444500" cy="533400"/>
          </a:xfrm>
          <a:prstGeom prst="wedgeRoundRectCallout">
            <a:avLst>
              <a:gd name="adj1" fmla="val -217856"/>
              <a:gd name="adj2" fmla="val 3273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57150" name="AutoShape 126"/>
          <p:cNvSpPr>
            <a:spLocks noChangeArrowheads="1"/>
          </p:cNvSpPr>
          <p:nvPr/>
        </p:nvSpPr>
        <p:spPr bwMode="auto">
          <a:xfrm>
            <a:off x="3378200" y="3136900"/>
            <a:ext cx="584200" cy="635000"/>
          </a:xfrm>
          <a:prstGeom prst="wedgeRoundRectCallout">
            <a:avLst>
              <a:gd name="adj1" fmla="val 59241"/>
              <a:gd name="adj2" fmla="val 25875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7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57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151" grpId="0" animBg="1"/>
      <p:bldP spid="257150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10595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0596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10597" name="Oval 11"/>
          <p:cNvSpPr>
            <a:spLocks noChangeArrowheads="1"/>
          </p:cNvSpPr>
          <p:nvPr/>
        </p:nvSpPr>
        <p:spPr bwMode="auto">
          <a:xfrm>
            <a:off x="4121150" y="1949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10598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0599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10600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52A9BCCA-129D-4231-B331-8FAC0C40AC53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105</a:t>
            </a:fld>
            <a:endParaRPr lang="en-US" sz="14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0601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0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10603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0604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0605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0606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0607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0608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0609" name="Group 173"/>
          <p:cNvGrpSpPr>
            <a:grpSpLocks/>
          </p:cNvGrpSpPr>
          <p:nvPr/>
        </p:nvGrpSpPr>
        <p:grpSpPr bwMode="auto">
          <a:xfrm>
            <a:off x="5616575" y="1485900"/>
            <a:ext cx="606425" cy="787400"/>
            <a:chOff x="1728" y="1008"/>
            <a:chExt cx="1776" cy="2304"/>
          </a:xfrm>
        </p:grpSpPr>
        <p:sp>
          <p:nvSpPr>
            <p:cNvPr id="110715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16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17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18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0610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10706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07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08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09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10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11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12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13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14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0611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10697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98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99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00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01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02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03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04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705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0612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10688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89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90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91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92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93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94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95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96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0613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10679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80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81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82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83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84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85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86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87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0614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10670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71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72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73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74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75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76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77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78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0615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10661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62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63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64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65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66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67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68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69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0616" name="AutoShape 82"/>
          <p:cNvSpPr>
            <a:spLocks noChangeArrowheads="1"/>
          </p:cNvSpPr>
          <p:nvPr/>
        </p:nvSpPr>
        <p:spPr bwMode="auto">
          <a:xfrm>
            <a:off x="3327400" y="3124200"/>
            <a:ext cx="444500" cy="533400"/>
          </a:xfrm>
          <a:prstGeom prst="wedgeRoundRectCallout">
            <a:avLst>
              <a:gd name="adj1" fmla="val -220713"/>
              <a:gd name="adj2" fmla="val 36606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0617" name="Group 101"/>
          <p:cNvGrpSpPr>
            <a:grpSpLocks/>
          </p:cNvGrpSpPr>
          <p:nvPr/>
        </p:nvGrpSpPr>
        <p:grpSpPr bwMode="auto">
          <a:xfrm>
            <a:off x="1490663" y="5143500"/>
            <a:ext cx="1219200" cy="1090613"/>
            <a:chOff x="1584" y="816"/>
            <a:chExt cx="912" cy="816"/>
          </a:xfrm>
        </p:grpSpPr>
        <p:sp>
          <p:nvSpPr>
            <p:cNvPr id="110652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53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54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55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56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57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58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59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60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0618" name="AutoShape 93"/>
          <p:cNvSpPr>
            <a:spLocks noChangeArrowheads="1"/>
          </p:cNvSpPr>
          <p:nvPr/>
        </p:nvSpPr>
        <p:spPr bwMode="auto">
          <a:xfrm>
            <a:off x="5867400" y="1955800"/>
            <a:ext cx="685800" cy="647700"/>
          </a:xfrm>
          <a:prstGeom prst="wedgeRoundRectCallout">
            <a:avLst>
              <a:gd name="adj1" fmla="val -542130"/>
              <a:gd name="adj2" fmla="val 458579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0619" name="Group 141"/>
          <p:cNvGrpSpPr>
            <a:grpSpLocks/>
          </p:cNvGrpSpPr>
          <p:nvPr/>
        </p:nvGrpSpPr>
        <p:grpSpPr bwMode="auto">
          <a:xfrm>
            <a:off x="5357813" y="3949700"/>
            <a:ext cx="1219200" cy="1090613"/>
            <a:chOff x="1584" y="816"/>
            <a:chExt cx="912" cy="816"/>
          </a:xfrm>
        </p:grpSpPr>
        <p:sp>
          <p:nvSpPr>
            <p:cNvPr id="110643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44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45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46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47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48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49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50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51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0620" name="AutoShape 104"/>
          <p:cNvSpPr>
            <a:spLocks noChangeArrowheads="1"/>
          </p:cNvSpPr>
          <p:nvPr/>
        </p:nvSpPr>
        <p:spPr bwMode="auto">
          <a:xfrm>
            <a:off x="5981700" y="2006600"/>
            <a:ext cx="584200" cy="635000"/>
          </a:xfrm>
          <a:prstGeom prst="wedgeRoundRectCallout">
            <a:avLst>
              <a:gd name="adj1" fmla="val -75542"/>
              <a:gd name="adj2" fmla="val 232750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0621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10634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35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36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37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38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39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40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41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42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0622" name="Group 123"/>
          <p:cNvGrpSpPr>
            <a:grpSpLocks/>
          </p:cNvGrpSpPr>
          <p:nvPr/>
        </p:nvGrpSpPr>
        <p:grpSpPr bwMode="auto">
          <a:xfrm flipH="1">
            <a:off x="2757488" y="1549400"/>
            <a:ext cx="1219200" cy="1090613"/>
            <a:chOff x="1584" y="816"/>
            <a:chExt cx="912" cy="816"/>
          </a:xfrm>
        </p:grpSpPr>
        <p:sp>
          <p:nvSpPr>
            <p:cNvPr id="110625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26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27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28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29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30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31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32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633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0623" name="AutoShape 125"/>
          <p:cNvSpPr>
            <a:spLocks noChangeArrowheads="1"/>
          </p:cNvSpPr>
          <p:nvPr/>
        </p:nvSpPr>
        <p:spPr bwMode="auto">
          <a:xfrm>
            <a:off x="4483100" y="1993900"/>
            <a:ext cx="444500" cy="533400"/>
          </a:xfrm>
          <a:prstGeom prst="wedgeRoundRectCallout">
            <a:avLst>
              <a:gd name="adj1" fmla="val -217856"/>
              <a:gd name="adj2" fmla="val 3273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0624" name="AutoShape 126"/>
          <p:cNvSpPr>
            <a:spLocks noChangeArrowheads="1"/>
          </p:cNvSpPr>
          <p:nvPr/>
        </p:nvSpPr>
        <p:spPr bwMode="auto">
          <a:xfrm>
            <a:off x="3378200" y="3136900"/>
            <a:ext cx="584200" cy="635000"/>
          </a:xfrm>
          <a:prstGeom prst="wedgeRoundRectCallout">
            <a:avLst>
              <a:gd name="adj1" fmla="val 59241"/>
              <a:gd name="adj2" fmla="val 25875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Oval 11"/>
          <p:cNvSpPr>
            <a:spLocks noChangeArrowheads="1"/>
          </p:cNvSpPr>
          <p:nvPr/>
        </p:nvSpPr>
        <p:spPr bwMode="auto">
          <a:xfrm>
            <a:off x="4121150" y="1949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259199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1620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11621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1622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1623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11624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0D050708-A9E2-4992-9B66-AABC2CC0612C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106</a:t>
            </a:fld>
            <a:endParaRPr lang="en-US" sz="1400" b="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1625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1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11627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1628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1629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1630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1631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1632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1633" name="Group 173"/>
          <p:cNvGrpSpPr>
            <a:grpSpLocks/>
          </p:cNvGrpSpPr>
          <p:nvPr/>
        </p:nvGrpSpPr>
        <p:grpSpPr bwMode="auto">
          <a:xfrm>
            <a:off x="5616575" y="1485900"/>
            <a:ext cx="606425" cy="787400"/>
            <a:chOff x="1728" y="1008"/>
            <a:chExt cx="1776" cy="2304"/>
          </a:xfrm>
        </p:grpSpPr>
        <p:sp>
          <p:nvSpPr>
            <p:cNvPr id="111742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43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44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45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1634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11733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34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35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36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37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38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39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40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41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1635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11724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25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26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27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28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29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30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31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32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1636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11715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16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17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18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19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20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21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22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23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1637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11706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07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08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09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10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11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12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13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14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1638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11697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98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99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00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01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02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03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04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705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1639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11688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89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90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91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92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93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94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95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96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59154" name="AutoShape 82"/>
          <p:cNvSpPr>
            <a:spLocks noChangeArrowheads="1"/>
          </p:cNvSpPr>
          <p:nvPr/>
        </p:nvSpPr>
        <p:spPr bwMode="auto">
          <a:xfrm>
            <a:off x="4546600" y="2044700"/>
            <a:ext cx="444500" cy="533400"/>
          </a:xfrm>
          <a:prstGeom prst="wedgeRoundRectCallout">
            <a:avLst>
              <a:gd name="adj1" fmla="val -432144"/>
              <a:gd name="adj2" fmla="val 14375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1641" name="Group 101"/>
          <p:cNvGrpSpPr>
            <a:grpSpLocks/>
          </p:cNvGrpSpPr>
          <p:nvPr/>
        </p:nvGrpSpPr>
        <p:grpSpPr bwMode="auto">
          <a:xfrm>
            <a:off x="1490663" y="5143500"/>
            <a:ext cx="1219200" cy="1090613"/>
            <a:chOff x="1584" y="816"/>
            <a:chExt cx="912" cy="816"/>
          </a:xfrm>
        </p:grpSpPr>
        <p:sp>
          <p:nvSpPr>
            <p:cNvPr id="111679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80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81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82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83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84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85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86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87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1642" name="AutoShape 93"/>
          <p:cNvSpPr>
            <a:spLocks noChangeArrowheads="1"/>
          </p:cNvSpPr>
          <p:nvPr/>
        </p:nvSpPr>
        <p:spPr bwMode="auto">
          <a:xfrm>
            <a:off x="5867400" y="1955800"/>
            <a:ext cx="685800" cy="647700"/>
          </a:xfrm>
          <a:prstGeom prst="wedgeRoundRectCallout">
            <a:avLst>
              <a:gd name="adj1" fmla="val -542130"/>
              <a:gd name="adj2" fmla="val 458579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1643" name="Group 141"/>
          <p:cNvGrpSpPr>
            <a:grpSpLocks/>
          </p:cNvGrpSpPr>
          <p:nvPr/>
        </p:nvGrpSpPr>
        <p:grpSpPr bwMode="auto">
          <a:xfrm>
            <a:off x="5357813" y="3949700"/>
            <a:ext cx="1219200" cy="1090613"/>
            <a:chOff x="1584" y="816"/>
            <a:chExt cx="912" cy="816"/>
          </a:xfrm>
        </p:grpSpPr>
        <p:sp>
          <p:nvSpPr>
            <p:cNvPr id="111670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71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72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73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74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75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76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77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78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1644" name="AutoShape 104"/>
          <p:cNvSpPr>
            <a:spLocks noChangeArrowheads="1"/>
          </p:cNvSpPr>
          <p:nvPr/>
        </p:nvSpPr>
        <p:spPr bwMode="auto">
          <a:xfrm>
            <a:off x="5981700" y="2006600"/>
            <a:ext cx="584200" cy="635000"/>
          </a:xfrm>
          <a:prstGeom prst="wedgeRoundRectCallout">
            <a:avLst>
              <a:gd name="adj1" fmla="val -75542"/>
              <a:gd name="adj2" fmla="val 232750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1645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11661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62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63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64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65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66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67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68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69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1646" name="Group 123"/>
          <p:cNvGrpSpPr>
            <a:grpSpLocks/>
          </p:cNvGrpSpPr>
          <p:nvPr/>
        </p:nvGrpSpPr>
        <p:grpSpPr bwMode="auto">
          <a:xfrm flipH="1">
            <a:off x="2757488" y="1549400"/>
            <a:ext cx="1219200" cy="1090613"/>
            <a:chOff x="1584" y="816"/>
            <a:chExt cx="912" cy="816"/>
          </a:xfrm>
        </p:grpSpPr>
        <p:sp>
          <p:nvSpPr>
            <p:cNvPr id="111652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53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54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55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56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57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58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59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660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1647" name="AutoShape 125"/>
          <p:cNvSpPr>
            <a:spLocks noChangeArrowheads="1"/>
          </p:cNvSpPr>
          <p:nvPr/>
        </p:nvSpPr>
        <p:spPr bwMode="auto">
          <a:xfrm>
            <a:off x="4483100" y="1993900"/>
            <a:ext cx="444500" cy="533400"/>
          </a:xfrm>
          <a:prstGeom prst="wedgeRoundRectCallout">
            <a:avLst>
              <a:gd name="adj1" fmla="val -217856"/>
              <a:gd name="adj2" fmla="val 3273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1648" name="AutoShape 126"/>
          <p:cNvSpPr>
            <a:spLocks noChangeArrowheads="1"/>
          </p:cNvSpPr>
          <p:nvPr/>
        </p:nvSpPr>
        <p:spPr bwMode="auto">
          <a:xfrm>
            <a:off x="6070600" y="2095500"/>
            <a:ext cx="584200" cy="635000"/>
          </a:xfrm>
          <a:prstGeom prst="wedgeRoundRectCallout">
            <a:avLst>
              <a:gd name="adj1" fmla="val -319023"/>
              <a:gd name="adj2" fmla="val 442750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59201" name="AutoShape 129"/>
          <p:cNvSpPr>
            <a:spLocks noChangeArrowheads="1"/>
          </p:cNvSpPr>
          <p:nvPr/>
        </p:nvSpPr>
        <p:spPr bwMode="auto">
          <a:xfrm>
            <a:off x="0" y="1663700"/>
            <a:ext cx="2209800" cy="1016000"/>
          </a:xfrm>
          <a:prstGeom prst="cloudCallout">
            <a:avLst>
              <a:gd name="adj1" fmla="val 36995"/>
              <a:gd name="adj2" fmla="val 73750"/>
            </a:avLst>
          </a:prstGeom>
          <a:solidFill>
            <a:schemeClr val="bg1">
              <a:alpha val="79999"/>
            </a:scheme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000">
                <a:latin typeface="Arial" pitchFamily="34" charset="0"/>
                <a:cs typeface="Arial" pitchFamily="34" charset="0"/>
              </a:rPr>
              <a:t>yowzah!</a:t>
            </a:r>
          </a:p>
        </p:txBody>
      </p:sp>
      <p:sp>
        <p:nvSpPr>
          <p:cNvPr id="259202" name="AutoShape 130"/>
          <p:cNvSpPr>
            <a:spLocks noChangeArrowheads="1"/>
          </p:cNvSpPr>
          <p:nvPr/>
        </p:nvSpPr>
        <p:spPr bwMode="auto">
          <a:xfrm>
            <a:off x="3327400" y="3124200"/>
            <a:ext cx="444500" cy="533400"/>
          </a:xfrm>
          <a:prstGeom prst="wedgeRoundRectCallout">
            <a:avLst>
              <a:gd name="adj1" fmla="val -220713"/>
              <a:gd name="adj2" fmla="val 36606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59203" name="AutoShape 131"/>
          <p:cNvSpPr>
            <a:spLocks noChangeArrowheads="1"/>
          </p:cNvSpPr>
          <p:nvPr/>
        </p:nvSpPr>
        <p:spPr bwMode="auto">
          <a:xfrm>
            <a:off x="6146800" y="2133600"/>
            <a:ext cx="444500" cy="533400"/>
          </a:xfrm>
          <a:prstGeom prst="wedgeRoundRectCallout">
            <a:avLst>
              <a:gd name="adj1" fmla="val -775000"/>
              <a:gd name="adj2" fmla="val 129463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59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5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9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259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259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199" grpId="0" animBg="1"/>
      <p:bldP spid="259154" grpId="0" animBg="1"/>
      <p:bldP spid="259154" grpId="1" animBg="1"/>
      <p:bldP spid="259201" grpId="0" animBg="1"/>
      <p:bldP spid="259202" grpId="0" animBg="1"/>
      <p:bldP spid="25920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Oval 11"/>
          <p:cNvSpPr>
            <a:spLocks noChangeArrowheads="1"/>
          </p:cNvSpPr>
          <p:nvPr/>
        </p:nvSpPr>
        <p:spPr bwMode="auto">
          <a:xfrm>
            <a:off x="4121150" y="1949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12643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2644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12645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2646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2647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12648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07F7629F-60FE-4095-B471-94215CE30674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107</a:t>
            </a:fld>
            <a:endParaRPr lang="en-US" sz="14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2649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2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12651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2652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2653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2654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2655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2656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2657" name="Group 173"/>
          <p:cNvGrpSpPr>
            <a:grpSpLocks/>
          </p:cNvGrpSpPr>
          <p:nvPr/>
        </p:nvGrpSpPr>
        <p:grpSpPr bwMode="auto">
          <a:xfrm>
            <a:off x="5616575" y="1485900"/>
            <a:ext cx="606425" cy="787400"/>
            <a:chOff x="1728" y="1008"/>
            <a:chExt cx="1776" cy="2304"/>
          </a:xfrm>
        </p:grpSpPr>
        <p:sp>
          <p:nvSpPr>
            <p:cNvPr id="112764" name="Rectangle 174"/>
            <p:cNvSpPr>
              <a:spLocks noChangeArrowheads="1"/>
            </p:cNvSpPr>
            <p:nvPr/>
          </p:nvSpPr>
          <p:spPr bwMode="auto">
            <a:xfrm>
              <a:off x="3408" y="1248"/>
              <a:ext cx="96" cy="206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65" name="Rectangle 175"/>
            <p:cNvSpPr>
              <a:spLocks noChangeArrowheads="1"/>
            </p:cNvSpPr>
            <p:nvPr/>
          </p:nvSpPr>
          <p:spPr bwMode="auto">
            <a:xfrm>
              <a:off x="2304" y="124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66" name="Line 176"/>
            <p:cNvSpPr>
              <a:spLocks noChangeShapeType="1"/>
            </p:cNvSpPr>
            <p:nvPr/>
          </p:nvSpPr>
          <p:spPr bwMode="auto">
            <a:xfrm flipV="1">
              <a:off x="2304" y="2160"/>
              <a:ext cx="57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67" name="Rectangle 177"/>
            <p:cNvSpPr>
              <a:spLocks noChangeArrowheads="1"/>
            </p:cNvSpPr>
            <p:nvPr/>
          </p:nvSpPr>
          <p:spPr bwMode="auto">
            <a:xfrm>
              <a:off x="1728" y="1008"/>
              <a:ext cx="1152" cy="1152"/>
            </a:xfrm>
            <a:prstGeom prst="rect">
              <a:avLst/>
            </a:prstGeom>
            <a:solidFill>
              <a:srgbClr val="0000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2658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12755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56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57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58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59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60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61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62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63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2659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12746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47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48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49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50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51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52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53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54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2660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12737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38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39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40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41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42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43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44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45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2661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12728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29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30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31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32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33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34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35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36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2662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12719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20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21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22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23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24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25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26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27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2663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12710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11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12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13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14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15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16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17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18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2664" name="AutoShape 82"/>
          <p:cNvSpPr>
            <a:spLocks noChangeArrowheads="1"/>
          </p:cNvSpPr>
          <p:nvPr/>
        </p:nvSpPr>
        <p:spPr bwMode="auto">
          <a:xfrm>
            <a:off x="6146800" y="2133600"/>
            <a:ext cx="444500" cy="533400"/>
          </a:xfrm>
          <a:prstGeom prst="wedgeRoundRectCallout">
            <a:avLst>
              <a:gd name="adj1" fmla="val -775000"/>
              <a:gd name="adj2" fmla="val 129463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2665" name="Group 101"/>
          <p:cNvGrpSpPr>
            <a:grpSpLocks/>
          </p:cNvGrpSpPr>
          <p:nvPr/>
        </p:nvGrpSpPr>
        <p:grpSpPr bwMode="auto">
          <a:xfrm>
            <a:off x="1490663" y="5143500"/>
            <a:ext cx="1219200" cy="1090613"/>
            <a:chOff x="1584" y="816"/>
            <a:chExt cx="912" cy="816"/>
          </a:xfrm>
        </p:grpSpPr>
        <p:sp>
          <p:nvSpPr>
            <p:cNvPr id="112701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02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03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04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05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06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07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08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09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2666" name="AutoShape 93"/>
          <p:cNvSpPr>
            <a:spLocks noChangeArrowheads="1"/>
          </p:cNvSpPr>
          <p:nvPr/>
        </p:nvSpPr>
        <p:spPr bwMode="auto">
          <a:xfrm>
            <a:off x="5867400" y="1955800"/>
            <a:ext cx="685800" cy="647700"/>
          </a:xfrm>
          <a:prstGeom prst="wedgeRoundRectCallout">
            <a:avLst>
              <a:gd name="adj1" fmla="val -542130"/>
              <a:gd name="adj2" fmla="val 458579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2667" name="Group 141"/>
          <p:cNvGrpSpPr>
            <a:grpSpLocks/>
          </p:cNvGrpSpPr>
          <p:nvPr/>
        </p:nvGrpSpPr>
        <p:grpSpPr bwMode="auto">
          <a:xfrm>
            <a:off x="5357813" y="3949700"/>
            <a:ext cx="1219200" cy="1090613"/>
            <a:chOff x="1584" y="816"/>
            <a:chExt cx="912" cy="816"/>
          </a:xfrm>
        </p:grpSpPr>
        <p:sp>
          <p:nvSpPr>
            <p:cNvPr id="112692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93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94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95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96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97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98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99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00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2668" name="AutoShape 104"/>
          <p:cNvSpPr>
            <a:spLocks noChangeArrowheads="1"/>
          </p:cNvSpPr>
          <p:nvPr/>
        </p:nvSpPr>
        <p:spPr bwMode="auto">
          <a:xfrm>
            <a:off x="5981700" y="2006600"/>
            <a:ext cx="584200" cy="635000"/>
          </a:xfrm>
          <a:prstGeom prst="wedgeRoundRectCallout">
            <a:avLst>
              <a:gd name="adj1" fmla="val -75542"/>
              <a:gd name="adj2" fmla="val 232750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2669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12683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84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85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86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87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88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89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90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91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2670" name="Group 123"/>
          <p:cNvGrpSpPr>
            <a:grpSpLocks/>
          </p:cNvGrpSpPr>
          <p:nvPr/>
        </p:nvGrpSpPr>
        <p:grpSpPr bwMode="auto">
          <a:xfrm flipH="1">
            <a:off x="2757488" y="1549400"/>
            <a:ext cx="1219200" cy="1090613"/>
            <a:chOff x="1584" y="816"/>
            <a:chExt cx="912" cy="816"/>
          </a:xfrm>
        </p:grpSpPr>
        <p:sp>
          <p:nvSpPr>
            <p:cNvPr id="112674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75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76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77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78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79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80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81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682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2671" name="AutoShape 126"/>
          <p:cNvSpPr>
            <a:spLocks noChangeArrowheads="1"/>
          </p:cNvSpPr>
          <p:nvPr/>
        </p:nvSpPr>
        <p:spPr bwMode="auto">
          <a:xfrm>
            <a:off x="6070600" y="2095500"/>
            <a:ext cx="584200" cy="635000"/>
          </a:xfrm>
          <a:prstGeom prst="wedgeRoundRectCallout">
            <a:avLst>
              <a:gd name="adj1" fmla="val -319023"/>
              <a:gd name="adj2" fmla="val 442750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2672" name="AutoShape 127"/>
          <p:cNvSpPr>
            <a:spLocks noChangeArrowheads="1"/>
          </p:cNvSpPr>
          <p:nvPr/>
        </p:nvSpPr>
        <p:spPr bwMode="auto">
          <a:xfrm>
            <a:off x="787400" y="762000"/>
            <a:ext cx="2209800" cy="1016000"/>
          </a:xfrm>
          <a:prstGeom prst="cloudCallout">
            <a:avLst>
              <a:gd name="adj1" fmla="val 36995"/>
              <a:gd name="adj2" fmla="val 73750"/>
            </a:avLst>
          </a:prstGeom>
          <a:solidFill>
            <a:schemeClr val="bg1">
              <a:alpha val="79999"/>
            </a:scheme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000">
                <a:latin typeface="Arial" pitchFamily="34" charset="0"/>
                <a:cs typeface="Arial" pitchFamily="34" charset="0"/>
              </a:rPr>
              <a:t>yowzah!</a:t>
            </a:r>
          </a:p>
        </p:txBody>
      </p:sp>
      <p:sp>
        <p:nvSpPr>
          <p:cNvPr id="112673" name="AutoShape 128"/>
          <p:cNvSpPr>
            <a:spLocks noChangeArrowheads="1"/>
          </p:cNvSpPr>
          <p:nvPr/>
        </p:nvSpPr>
        <p:spPr bwMode="auto">
          <a:xfrm>
            <a:off x="4483100" y="1993900"/>
            <a:ext cx="444500" cy="533400"/>
          </a:xfrm>
          <a:prstGeom prst="wedgeRoundRectCallout">
            <a:avLst>
              <a:gd name="adj1" fmla="val -217856"/>
              <a:gd name="adj2" fmla="val 3273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Oval 11"/>
          <p:cNvSpPr>
            <a:spLocks noChangeArrowheads="1"/>
          </p:cNvSpPr>
          <p:nvPr/>
        </p:nvSpPr>
        <p:spPr bwMode="auto">
          <a:xfrm>
            <a:off x="4121150" y="1949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13667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13668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13669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13670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3671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 dirty="0">
                <a:solidFill>
                  <a:schemeClr val="tx1"/>
                </a:solidFill>
                <a:latin typeface="Arial" pitchFamily="34" charset="0"/>
              </a:rPr>
              <a:t>Art of Multiprocessor Programming</a:t>
            </a:r>
          </a:p>
        </p:txBody>
      </p:sp>
      <p:sp>
        <p:nvSpPr>
          <p:cNvPr id="113672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F39928E3-A8BF-41C8-B118-E1EB903B4935}" type="slidenum">
              <a:rPr lang="en-US" sz="1400" b="0">
                <a:solidFill>
                  <a:schemeClr val="tx1"/>
                </a:solidFill>
                <a:latin typeface="Arial" pitchFamily="34" charset="0"/>
              </a:rPr>
              <a:pPr algn="r">
                <a:spcBef>
                  <a:spcPct val="0"/>
                </a:spcBef>
              </a:pPr>
              <a:t>108</a:t>
            </a:fld>
            <a:endParaRPr lang="en-US" sz="14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13673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13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13675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3676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3677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13678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3679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13680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3681" name="Rectangle 174"/>
          <p:cNvSpPr>
            <a:spLocks noChangeArrowheads="1"/>
          </p:cNvSpPr>
          <p:nvPr/>
        </p:nvSpPr>
        <p:spPr bwMode="auto">
          <a:xfrm>
            <a:off x="6189663" y="1568450"/>
            <a:ext cx="33337" cy="70485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263187" name="Rectangle 175"/>
          <p:cNvSpPr>
            <a:spLocks noChangeArrowheads="1"/>
          </p:cNvSpPr>
          <p:nvPr/>
        </p:nvSpPr>
        <p:spPr bwMode="auto">
          <a:xfrm>
            <a:off x="5813425" y="1568450"/>
            <a:ext cx="393700" cy="393700"/>
          </a:xfrm>
          <a:prstGeom prst="rect">
            <a:avLst/>
          </a:prstGeom>
          <a:solidFill>
            <a:srgbClr val="0000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3683" name="Line 176"/>
          <p:cNvSpPr>
            <a:spLocks noChangeShapeType="1"/>
          </p:cNvSpPr>
          <p:nvPr/>
        </p:nvSpPr>
        <p:spPr bwMode="auto">
          <a:xfrm flipV="1">
            <a:off x="5813425" y="1879600"/>
            <a:ext cx="196850" cy="82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263189" name="Rectangle 177"/>
          <p:cNvSpPr>
            <a:spLocks noChangeArrowheads="1"/>
          </p:cNvSpPr>
          <p:nvPr/>
        </p:nvSpPr>
        <p:spPr bwMode="auto">
          <a:xfrm>
            <a:off x="5616575" y="1485900"/>
            <a:ext cx="393700" cy="393700"/>
          </a:xfrm>
          <a:prstGeom prst="rect">
            <a:avLst/>
          </a:prstGeom>
          <a:solidFill>
            <a:srgbClr val="0000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113685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13782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83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84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85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86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87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88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89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90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3686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13773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74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75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76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77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78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79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80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81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3687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13764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65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66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67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68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69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70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71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72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3688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13755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56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57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58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59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60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61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62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63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3689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13746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47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48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49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50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51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52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53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54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3690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13737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38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39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40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41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42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43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44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45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13691" name="AutoShape 82"/>
          <p:cNvSpPr>
            <a:spLocks noChangeArrowheads="1"/>
          </p:cNvSpPr>
          <p:nvPr/>
        </p:nvSpPr>
        <p:spPr bwMode="auto">
          <a:xfrm>
            <a:off x="6146800" y="2133600"/>
            <a:ext cx="444500" cy="533400"/>
          </a:xfrm>
          <a:prstGeom prst="wedgeRoundRectCallout">
            <a:avLst>
              <a:gd name="adj1" fmla="val -775000"/>
              <a:gd name="adj2" fmla="val 129463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113692" name="Group 101"/>
          <p:cNvGrpSpPr>
            <a:grpSpLocks/>
          </p:cNvGrpSpPr>
          <p:nvPr/>
        </p:nvGrpSpPr>
        <p:grpSpPr bwMode="auto">
          <a:xfrm>
            <a:off x="1490663" y="5143500"/>
            <a:ext cx="1219200" cy="1090613"/>
            <a:chOff x="1584" y="816"/>
            <a:chExt cx="912" cy="816"/>
          </a:xfrm>
        </p:grpSpPr>
        <p:sp>
          <p:nvSpPr>
            <p:cNvPr id="113728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29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30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31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32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33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34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35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36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13693" name="AutoShape 93"/>
          <p:cNvSpPr>
            <a:spLocks noChangeArrowheads="1"/>
          </p:cNvSpPr>
          <p:nvPr/>
        </p:nvSpPr>
        <p:spPr bwMode="auto">
          <a:xfrm>
            <a:off x="5867400" y="1955800"/>
            <a:ext cx="685800" cy="647700"/>
          </a:xfrm>
          <a:prstGeom prst="wedgeRoundRectCallout">
            <a:avLst>
              <a:gd name="adj1" fmla="val -542130"/>
              <a:gd name="adj2" fmla="val 458579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113694" name="Group 141"/>
          <p:cNvGrpSpPr>
            <a:grpSpLocks/>
          </p:cNvGrpSpPr>
          <p:nvPr/>
        </p:nvGrpSpPr>
        <p:grpSpPr bwMode="auto">
          <a:xfrm>
            <a:off x="5357813" y="3949700"/>
            <a:ext cx="1219200" cy="1090613"/>
            <a:chOff x="1584" y="816"/>
            <a:chExt cx="912" cy="816"/>
          </a:xfrm>
        </p:grpSpPr>
        <p:sp>
          <p:nvSpPr>
            <p:cNvPr id="113719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20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21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22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23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24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25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26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27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13695" name="AutoShape 104"/>
          <p:cNvSpPr>
            <a:spLocks noChangeArrowheads="1"/>
          </p:cNvSpPr>
          <p:nvPr/>
        </p:nvSpPr>
        <p:spPr bwMode="auto">
          <a:xfrm>
            <a:off x="5981700" y="2006600"/>
            <a:ext cx="584200" cy="635000"/>
          </a:xfrm>
          <a:prstGeom prst="wedgeRoundRectCallout">
            <a:avLst>
              <a:gd name="adj1" fmla="val -75542"/>
              <a:gd name="adj2" fmla="val 232750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113696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13710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11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12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13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14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15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16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17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18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3697" name="Group 123"/>
          <p:cNvGrpSpPr>
            <a:grpSpLocks/>
          </p:cNvGrpSpPr>
          <p:nvPr/>
        </p:nvGrpSpPr>
        <p:grpSpPr bwMode="auto">
          <a:xfrm flipH="1">
            <a:off x="2757488" y="1549400"/>
            <a:ext cx="1219200" cy="1090613"/>
            <a:chOff x="1584" y="816"/>
            <a:chExt cx="912" cy="816"/>
          </a:xfrm>
        </p:grpSpPr>
        <p:sp>
          <p:nvSpPr>
            <p:cNvPr id="113701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02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03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04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05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06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07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08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3709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113698" name="AutoShape 125"/>
          <p:cNvSpPr>
            <a:spLocks noChangeArrowheads="1"/>
          </p:cNvSpPr>
          <p:nvPr/>
        </p:nvSpPr>
        <p:spPr bwMode="auto">
          <a:xfrm>
            <a:off x="5892800" y="1930400"/>
            <a:ext cx="444500" cy="533400"/>
          </a:xfrm>
          <a:prstGeom prst="wedgeRoundRectCallout">
            <a:avLst>
              <a:gd name="adj1" fmla="val -469287"/>
              <a:gd name="adj2" fmla="val -44347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3699" name="AutoShape 126"/>
          <p:cNvSpPr>
            <a:spLocks noChangeArrowheads="1"/>
          </p:cNvSpPr>
          <p:nvPr/>
        </p:nvSpPr>
        <p:spPr bwMode="auto">
          <a:xfrm>
            <a:off x="6070600" y="2095500"/>
            <a:ext cx="584200" cy="635000"/>
          </a:xfrm>
          <a:prstGeom prst="wedgeRoundRectCallout">
            <a:avLst>
              <a:gd name="adj1" fmla="val -319023"/>
              <a:gd name="adj2" fmla="val 442750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anchor="ctr"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27" name="AutoShape 127"/>
          <p:cNvSpPr>
            <a:spLocks noChangeArrowheads="1"/>
          </p:cNvSpPr>
          <p:nvPr/>
        </p:nvSpPr>
        <p:spPr bwMode="auto">
          <a:xfrm>
            <a:off x="787400" y="762000"/>
            <a:ext cx="2209800" cy="1016000"/>
          </a:xfrm>
          <a:prstGeom prst="cloudCallout">
            <a:avLst>
              <a:gd name="adj1" fmla="val 36995"/>
              <a:gd name="adj2" fmla="val 73750"/>
            </a:avLst>
          </a:prstGeom>
          <a:solidFill>
            <a:schemeClr val="bg1">
              <a:alpha val="79999"/>
            </a:scheme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000">
                <a:latin typeface="Arial" pitchFamily="34" charset="0"/>
                <a:cs typeface="Arial" pitchFamily="34" charset="0"/>
              </a:rPr>
              <a:t>yowzah!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631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631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631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2631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631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2631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Oval 11"/>
          <p:cNvSpPr>
            <a:spLocks noChangeArrowheads="1"/>
          </p:cNvSpPr>
          <p:nvPr/>
        </p:nvSpPr>
        <p:spPr bwMode="auto">
          <a:xfrm>
            <a:off x="4121150" y="1949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14691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14692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14693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14694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4695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14696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40C6E1BC-645E-42C3-AEC7-31B5A833DE9A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109</a:t>
            </a:fld>
            <a:endParaRPr lang="en-US" sz="14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4697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14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14699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4700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4701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14702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4703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</a:rPr>
              <a:t>0</a:t>
            </a:r>
          </a:p>
        </p:txBody>
      </p:sp>
      <p:sp>
        <p:nvSpPr>
          <p:cNvPr id="114704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4705" name="Rectangle 174"/>
          <p:cNvSpPr>
            <a:spLocks noChangeArrowheads="1"/>
          </p:cNvSpPr>
          <p:nvPr/>
        </p:nvSpPr>
        <p:spPr bwMode="auto">
          <a:xfrm>
            <a:off x="6189663" y="1568450"/>
            <a:ext cx="33337" cy="70485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4706" name="Rectangle 175"/>
          <p:cNvSpPr>
            <a:spLocks noChangeArrowheads="1"/>
          </p:cNvSpPr>
          <p:nvPr/>
        </p:nvSpPr>
        <p:spPr bwMode="auto">
          <a:xfrm>
            <a:off x="5813425" y="1568450"/>
            <a:ext cx="393700" cy="3937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4707" name="Line 176"/>
          <p:cNvSpPr>
            <a:spLocks noChangeShapeType="1"/>
          </p:cNvSpPr>
          <p:nvPr/>
        </p:nvSpPr>
        <p:spPr bwMode="auto">
          <a:xfrm flipV="1">
            <a:off x="5813425" y="1879600"/>
            <a:ext cx="196850" cy="82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14708" name="Rectangle 177"/>
          <p:cNvSpPr>
            <a:spLocks noChangeArrowheads="1"/>
          </p:cNvSpPr>
          <p:nvPr/>
        </p:nvSpPr>
        <p:spPr bwMode="auto">
          <a:xfrm>
            <a:off x="5616575" y="1485900"/>
            <a:ext cx="393700" cy="3937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Arial" pitchFamily="34" charset="0"/>
            </a:endParaRPr>
          </a:p>
        </p:txBody>
      </p:sp>
      <p:grpSp>
        <p:nvGrpSpPr>
          <p:cNvPr id="114709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14805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806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807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808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809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810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811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812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813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4710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14796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97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98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99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800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801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802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803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804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4711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14787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88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89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90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91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92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93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94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95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4712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14778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79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80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81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82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83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84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85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86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4713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14769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70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71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72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73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74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75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76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77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4714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14760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61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62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63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64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65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66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67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68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4715" name="Group 101"/>
          <p:cNvGrpSpPr>
            <a:grpSpLocks/>
          </p:cNvGrpSpPr>
          <p:nvPr/>
        </p:nvGrpSpPr>
        <p:grpSpPr bwMode="auto">
          <a:xfrm>
            <a:off x="1490663" y="5143500"/>
            <a:ext cx="1219200" cy="1090613"/>
            <a:chOff x="1584" y="816"/>
            <a:chExt cx="912" cy="816"/>
          </a:xfrm>
        </p:grpSpPr>
        <p:sp>
          <p:nvSpPr>
            <p:cNvPr id="114751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52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53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54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55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56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57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58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59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4716" name="Group 141"/>
          <p:cNvGrpSpPr>
            <a:grpSpLocks/>
          </p:cNvGrpSpPr>
          <p:nvPr/>
        </p:nvGrpSpPr>
        <p:grpSpPr bwMode="auto">
          <a:xfrm>
            <a:off x="5357813" y="3949700"/>
            <a:ext cx="1219200" cy="1090613"/>
            <a:chOff x="1584" y="816"/>
            <a:chExt cx="912" cy="816"/>
          </a:xfrm>
        </p:grpSpPr>
        <p:sp>
          <p:nvSpPr>
            <p:cNvPr id="114742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43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44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45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46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47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48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49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50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4717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14733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34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35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36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37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38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C0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39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40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41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grpSp>
        <p:nvGrpSpPr>
          <p:cNvPr id="114718" name="Group 123"/>
          <p:cNvGrpSpPr>
            <a:grpSpLocks/>
          </p:cNvGrpSpPr>
          <p:nvPr/>
        </p:nvGrpSpPr>
        <p:grpSpPr bwMode="auto">
          <a:xfrm flipH="1">
            <a:off x="2757488" y="1549400"/>
            <a:ext cx="1219200" cy="1090613"/>
            <a:chOff x="1584" y="816"/>
            <a:chExt cx="912" cy="816"/>
          </a:xfrm>
        </p:grpSpPr>
        <p:sp>
          <p:nvSpPr>
            <p:cNvPr id="114724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25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26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27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28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29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30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31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  <p:sp>
          <p:nvSpPr>
            <p:cNvPr id="114732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267390" name="AutoShape 126"/>
          <p:cNvSpPr>
            <a:spLocks noChangeArrowheads="1"/>
          </p:cNvSpPr>
          <p:nvPr/>
        </p:nvSpPr>
        <p:spPr bwMode="auto">
          <a:xfrm>
            <a:off x="1054100" y="952500"/>
            <a:ext cx="1435100" cy="1016000"/>
          </a:xfrm>
          <a:prstGeom prst="cloudCallout">
            <a:avLst>
              <a:gd name="adj1" fmla="val 83958"/>
              <a:gd name="adj2" fmla="val 73750"/>
            </a:avLst>
          </a:prstGeom>
          <a:solidFill>
            <a:schemeClr val="bg1">
              <a:alpha val="79999"/>
            </a:scheme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000">
                <a:latin typeface="Arial" pitchFamily="34" charset="0"/>
                <a:cs typeface="Arial" pitchFamily="34" charset="0"/>
              </a:rPr>
              <a:t>yes!</a:t>
            </a:r>
          </a:p>
        </p:txBody>
      </p:sp>
      <p:sp>
        <p:nvSpPr>
          <p:cNvPr id="267391" name="AutoShape 127"/>
          <p:cNvSpPr>
            <a:spLocks noChangeArrowheads="1"/>
          </p:cNvSpPr>
          <p:nvPr/>
        </p:nvSpPr>
        <p:spPr bwMode="auto">
          <a:xfrm>
            <a:off x="241300" y="1803400"/>
            <a:ext cx="1435100" cy="1016000"/>
          </a:xfrm>
          <a:prstGeom prst="cloudCallout">
            <a:avLst>
              <a:gd name="adj1" fmla="val 83958"/>
              <a:gd name="adj2" fmla="val 73750"/>
            </a:avLst>
          </a:prstGeom>
          <a:solidFill>
            <a:schemeClr val="bg1">
              <a:alpha val="79999"/>
            </a:scheme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000">
                <a:latin typeface="Arial" pitchFamily="34" charset="0"/>
                <a:cs typeface="Arial" pitchFamily="34" charset="0"/>
              </a:rPr>
              <a:t>yes!</a:t>
            </a:r>
          </a:p>
        </p:txBody>
      </p:sp>
      <p:sp>
        <p:nvSpPr>
          <p:cNvPr id="267392" name="AutoShape 128"/>
          <p:cNvSpPr>
            <a:spLocks noChangeArrowheads="1"/>
          </p:cNvSpPr>
          <p:nvPr/>
        </p:nvSpPr>
        <p:spPr bwMode="auto">
          <a:xfrm>
            <a:off x="0" y="3924300"/>
            <a:ext cx="1435100" cy="1016000"/>
          </a:xfrm>
          <a:prstGeom prst="cloudCallout">
            <a:avLst>
              <a:gd name="adj1" fmla="val 83958"/>
              <a:gd name="adj2" fmla="val 73750"/>
            </a:avLst>
          </a:prstGeom>
          <a:solidFill>
            <a:schemeClr val="bg1">
              <a:alpha val="79999"/>
            </a:scheme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000">
                <a:latin typeface="Arial" pitchFamily="34" charset="0"/>
                <a:cs typeface="Arial" pitchFamily="34" charset="0"/>
              </a:rPr>
              <a:t>yes!</a:t>
            </a:r>
          </a:p>
        </p:txBody>
      </p:sp>
      <p:sp>
        <p:nvSpPr>
          <p:cNvPr id="267393" name="AutoShape 129"/>
          <p:cNvSpPr>
            <a:spLocks noChangeArrowheads="1"/>
          </p:cNvSpPr>
          <p:nvPr/>
        </p:nvSpPr>
        <p:spPr bwMode="auto">
          <a:xfrm>
            <a:off x="6489700" y="2819400"/>
            <a:ext cx="1435100" cy="1016000"/>
          </a:xfrm>
          <a:prstGeom prst="cloudCallout">
            <a:avLst>
              <a:gd name="adj1" fmla="val -39051"/>
              <a:gd name="adj2" fmla="val 83750"/>
            </a:avLst>
          </a:prstGeom>
          <a:solidFill>
            <a:schemeClr val="bg1">
              <a:alpha val="79999"/>
            </a:scheme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000">
                <a:latin typeface="Arial" pitchFamily="34" charset="0"/>
                <a:cs typeface="Arial" pitchFamily="34" charset="0"/>
              </a:rPr>
              <a:t>yes!</a:t>
            </a:r>
          </a:p>
        </p:txBody>
      </p:sp>
      <p:sp>
        <p:nvSpPr>
          <p:cNvPr id="267394" name="AutoShape 130"/>
          <p:cNvSpPr>
            <a:spLocks noChangeArrowheads="1"/>
          </p:cNvSpPr>
          <p:nvPr/>
        </p:nvSpPr>
        <p:spPr bwMode="auto">
          <a:xfrm>
            <a:off x="5168900" y="4343400"/>
            <a:ext cx="1435100" cy="1016000"/>
          </a:xfrm>
          <a:prstGeom prst="cloudCallout">
            <a:avLst>
              <a:gd name="adj1" fmla="val -69139"/>
              <a:gd name="adj2" fmla="val 57500"/>
            </a:avLst>
          </a:prstGeom>
          <a:solidFill>
            <a:schemeClr val="bg1">
              <a:alpha val="79999"/>
            </a:scheme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000">
                <a:latin typeface="Arial" pitchFamily="34" charset="0"/>
                <a:cs typeface="Arial" pitchFamily="34" charset="0"/>
              </a:rPr>
              <a:t>yes!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7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6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390" grpId="0" animBg="1"/>
      <p:bldP spid="267391" grpId="0" animBg="1"/>
      <p:bldP spid="267392" grpId="0" animBg="1"/>
      <p:bldP spid="267393" grpId="0" animBg="1"/>
      <p:bldP spid="26739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Oval 11"/>
          <p:cNvSpPr>
            <a:spLocks noChangeArrowheads="1"/>
          </p:cNvSpPr>
          <p:nvPr/>
        </p:nvSpPr>
        <p:spPr bwMode="auto">
          <a:xfrm>
            <a:off x="4121150" y="1949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15715" name="Oval 11"/>
          <p:cNvSpPr>
            <a:spLocks noChangeArrowheads="1"/>
          </p:cNvSpPr>
          <p:nvPr/>
        </p:nvSpPr>
        <p:spPr bwMode="auto">
          <a:xfrm>
            <a:off x="4121150" y="19621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15716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15717" name="Oval 11"/>
          <p:cNvSpPr>
            <a:spLocks noChangeArrowheads="1"/>
          </p:cNvSpPr>
          <p:nvPr/>
        </p:nvSpPr>
        <p:spPr bwMode="auto">
          <a:xfrm>
            <a:off x="2940050" y="30924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15718" name="Rectangle 192"/>
          <p:cNvSpPr>
            <a:spLocks noChangeArrowheads="1"/>
          </p:cNvSpPr>
          <p:nvPr/>
        </p:nvSpPr>
        <p:spPr bwMode="auto">
          <a:xfrm>
            <a:off x="5994400" y="2057400"/>
            <a:ext cx="431800" cy="419100"/>
          </a:xfrm>
          <a:prstGeom prst="rect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5719" name="Footer Placeholder 2"/>
          <p:cNvSpPr txBox="1">
            <a:spLocks noGrp="1"/>
          </p:cNvSpPr>
          <p:nvPr/>
        </p:nvSpPr>
        <p:spPr bwMode="auto">
          <a:xfrm>
            <a:off x="28321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Art of Multiprocessor Programming</a:t>
            </a:r>
          </a:p>
        </p:txBody>
      </p:sp>
      <p:sp>
        <p:nvSpPr>
          <p:cNvPr id="115720" name="Slide Number Placeholder 3"/>
          <p:cNvSpPr txBox="1">
            <a:spLocks noGrp="1"/>
          </p:cNvSpPr>
          <p:nvPr/>
        </p:nvSpPr>
        <p:spPr bwMode="auto">
          <a:xfrm>
            <a:off x="62611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spcBef>
                <a:spcPct val="0"/>
              </a:spcBef>
            </a:pPr>
            <a:fld id="{6202606F-EE07-432A-A144-11C68AC28DCC}" type="slidenum">
              <a:rPr lang="en-US" sz="14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>
                <a:spcBef>
                  <a:spcPct val="0"/>
                </a:spcBef>
              </a:pPr>
              <a:t>110</a:t>
            </a:fld>
            <a:endParaRPr lang="en-US" sz="1400" b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5721" name="Oval 8"/>
          <p:cNvSpPr>
            <a:spLocks noChangeArrowheads="1"/>
          </p:cNvSpPr>
          <p:nvPr/>
        </p:nvSpPr>
        <p:spPr bwMode="auto">
          <a:xfrm>
            <a:off x="1701800" y="44259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5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Static Tree Barrier</a:t>
            </a:r>
          </a:p>
        </p:txBody>
      </p:sp>
      <p:sp>
        <p:nvSpPr>
          <p:cNvPr id="115723" name="Line 16"/>
          <p:cNvSpPr>
            <a:spLocks noChangeShapeType="1"/>
          </p:cNvSpPr>
          <p:nvPr/>
        </p:nvSpPr>
        <p:spPr bwMode="auto">
          <a:xfrm flipV="1">
            <a:off x="3848100" y="2514600"/>
            <a:ext cx="53340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5724" name="Line 16"/>
          <p:cNvSpPr>
            <a:spLocks noChangeShapeType="1"/>
          </p:cNvSpPr>
          <p:nvPr/>
        </p:nvSpPr>
        <p:spPr bwMode="auto">
          <a:xfrm flipV="1">
            <a:off x="2590800" y="3632200"/>
            <a:ext cx="660400" cy="876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5725" name="Oval 5"/>
          <p:cNvSpPr>
            <a:spLocks noChangeArrowheads="1"/>
          </p:cNvSpPr>
          <p:nvPr/>
        </p:nvSpPr>
        <p:spPr bwMode="auto">
          <a:xfrm>
            <a:off x="3568700" y="44767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5726" name="Line 16"/>
          <p:cNvSpPr>
            <a:spLocks noChangeShapeType="1"/>
          </p:cNvSpPr>
          <p:nvPr/>
        </p:nvSpPr>
        <p:spPr bwMode="auto">
          <a:xfrm flipH="1" flipV="1">
            <a:off x="3759200" y="3670300"/>
            <a:ext cx="279400" cy="81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5727" name="Oval 11"/>
          <p:cNvSpPr>
            <a:spLocks noChangeArrowheads="1"/>
          </p:cNvSpPr>
          <p:nvPr/>
        </p:nvSpPr>
        <p:spPr bwMode="auto">
          <a:xfrm>
            <a:off x="5187950" y="3143250"/>
            <a:ext cx="1193800" cy="596900"/>
          </a:xfrm>
          <a:prstGeom prst="ellipse">
            <a:avLst/>
          </a:prstGeom>
          <a:solidFill>
            <a:srgbClr val="CC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5728" name="Line 16"/>
          <p:cNvSpPr>
            <a:spLocks noChangeShapeType="1"/>
          </p:cNvSpPr>
          <p:nvPr/>
        </p:nvSpPr>
        <p:spPr bwMode="auto">
          <a:xfrm flipH="1" flipV="1">
            <a:off x="5080000" y="2489200"/>
            <a:ext cx="520700" cy="66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5729" name="Rectangle 174"/>
          <p:cNvSpPr>
            <a:spLocks noChangeArrowheads="1"/>
          </p:cNvSpPr>
          <p:nvPr/>
        </p:nvSpPr>
        <p:spPr bwMode="auto">
          <a:xfrm>
            <a:off x="6189663" y="1568450"/>
            <a:ext cx="33337" cy="70485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5730" name="Rectangle 175"/>
          <p:cNvSpPr>
            <a:spLocks noChangeArrowheads="1"/>
          </p:cNvSpPr>
          <p:nvPr/>
        </p:nvSpPr>
        <p:spPr bwMode="auto">
          <a:xfrm>
            <a:off x="5813425" y="1568450"/>
            <a:ext cx="393700" cy="3937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5731" name="Line 176"/>
          <p:cNvSpPr>
            <a:spLocks noChangeShapeType="1"/>
          </p:cNvSpPr>
          <p:nvPr/>
        </p:nvSpPr>
        <p:spPr bwMode="auto">
          <a:xfrm flipV="1">
            <a:off x="5813425" y="1879600"/>
            <a:ext cx="196850" cy="82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5732" name="Rectangle 177"/>
          <p:cNvSpPr>
            <a:spLocks noChangeArrowheads="1"/>
          </p:cNvSpPr>
          <p:nvPr/>
        </p:nvSpPr>
        <p:spPr bwMode="auto">
          <a:xfrm>
            <a:off x="5616575" y="1485900"/>
            <a:ext cx="393700" cy="3937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5733" name="Group 101"/>
          <p:cNvGrpSpPr>
            <a:grpSpLocks/>
          </p:cNvGrpSpPr>
          <p:nvPr/>
        </p:nvGrpSpPr>
        <p:grpSpPr bwMode="auto">
          <a:xfrm>
            <a:off x="1490663" y="5130800"/>
            <a:ext cx="1219200" cy="1090613"/>
            <a:chOff x="1584" y="816"/>
            <a:chExt cx="912" cy="816"/>
          </a:xfrm>
        </p:grpSpPr>
        <p:sp>
          <p:nvSpPr>
            <p:cNvPr id="115824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25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26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27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28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29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30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31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32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5734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15815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16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17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18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19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20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21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22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23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5735" name="Group 123"/>
          <p:cNvGrpSpPr>
            <a:grpSpLocks/>
          </p:cNvGrpSpPr>
          <p:nvPr/>
        </p:nvGrpSpPr>
        <p:grpSpPr bwMode="auto">
          <a:xfrm flipH="1">
            <a:off x="2744788" y="1549400"/>
            <a:ext cx="1219200" cy="1090613"/>
            <a:chOff x="1584" y="816"/>
            <a:chExt cx="912" cy="816"/>
          </a:xfrm>
        </p:grpSpPr>
        <p:sp>
          <p:nvSpPr>
            <p:cNvPr id="115806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07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08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09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10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11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12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13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14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5736" name="Group 141"/>
          <p:cNvGrpSpPr>
            <a:grpSpLocks/>
          </p:cNvGrpSpPr>
          <p:nvPr/>
        </p:nvGrpSpPr>
        <p:grpSpPr bwMode="auto">
          <a:xfrm>
            <a:off x="5332413" y="3937000"/>
            <a:ext cx="1219200" cy="1090613"/>
            <a:chOff x="1584" y="816"/>
            <a:chExt cx="912" cy="816"/>
          </a:xfrm>
        </p:grpSpPr>
        <p:sp>
          <p:nvSpPr>
            <p:cNvPr id="115797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98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99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00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01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02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03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04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805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5737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15788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89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90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91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92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93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94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95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96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5738" name="Group 101"/>
          <p:cNvGrpSpPr>
            <a:grpSpLocks/>
          </p:cNvGrpSpPr>
          <p:nvPr/>
        </p:nvGrpSpPr>
        <p:grpSpPr bwMode="auto">
          <a:xfrm>
            <a:off x="1541463" y="2832100"/>
            <a:ext cx="1219200" cy="1090613"/>
            <a:chOff x="1584" y="816"/>
            <a:chExt cx="912" cy="816"/>
          </a:xfrm>
        </p:grpSpPr>
        <p:sp>
          <p:nvSpPr>
            <p:cNvPr id="115779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80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81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82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83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84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85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86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87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5739" name="Group 101"/>
          <p:cNvGrpSpPr>
            <a:grpSpLocks/>
          </p:cNvGrpSpPr>
          <p:nvPr/>
        </p:nvGrpSpPr>
        <p:grpSpPr bwMode="auto">
          <a:xfrm>
            <a:off x="1490663" y="5143500"/>
            <a:ext cx="1219200" cy="1090613"/>
            <a:chOff x="1584" y="816"/>
            <a:chExt cx="912" cy="816"/>
          </a:xfrm>
        </p:grpSpPr>
        <p:sp>
          <p:nvSpPr>
            <p:cNvPr id="115770" name="Freeform 10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71" name="Freeform 10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72" name="Freeform 10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73" name="Freeform 10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74" name="Freeform 10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75" name="Freeform 10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76" name="Freeform 10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77" name="Freeform 10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78" name="Freeform 11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5740" name="Group 141"/>
          <p:cNvGrpSpPr>
            <a:grpSpLocks/>
          </p:cNvGrpSpPr>
          <p:nvPr/>
        </p:nvGrpSpPr>
        <p:grpSpPr bwMode="auto">
          <a:xfrm>
            <a:off x="5357813" y="3949700"/>
            <a:ext cx="1219200" cy="1090613"/>
            <a:chOff x="1584" y="816"/>
            <a:chExt cx="912" cy="816"/>
          </a:xfrm>
        </p:grpSpPr>
        <p:sp>
          <p:nvSpPr>
            <p:cNvPr id="115761" name="Freeform 142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62" name="Freeform 143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63" name="Freeform 144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64" name="Freeform 145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65" name="Freeform 146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66" name="Freeform 147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67" name="Freeform 148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68" name="Freeform 149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69" name="Freeform 150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5741" name="Group 112"/>
          <p:cNvGrpSpPr>
            <a:grpSpLocks/>
          </p:cNvGrpSpPr>
          <p:nvPr/>
        </p:nvGrpSpPr>
        <p:grpSpPr bwMode="auto">
          <a:xfrm flipH="1">
            <a:off x="3576638" y="5207000"/>
            <a:ext cx="1219200" cy="1090613"/>
            <a:chOff x="1584" y="816"/>
            <a:chExt cx="912" cy="816"/>
          </a:xfrm>
        </p:grpSpPr>
        <p:sp>
          <p:nvSpPr>
            <p:cNvPr id="115752" name="Freeform 113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53" name="Freeform 114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54" name="Freeform 115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55" name="Freeform 116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56" name="Freeform 117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57" name="Freeform 118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58" name="Freeform 119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59" name="Freeform 120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60" name="Freeform 121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5742" name="Group 123"/>
          <p:cNvGrpSpPr>
            <a:grpSpLocks/>
          </p:cNvGrpSpPr>
          <p:nvPr/>
        </p:nvGrpSpPr>
        <p:grpSpPr bwMode="auto">
          <a:xfrm flipH="1">
            <a:off x="2757488" y="1549400"/>
            <a:ext cx="1219200" cy="1090613"/>
            <a:chOff x="1584" y="816"/>
            <a:chExt cx="912" cy="816"/>
          </a:xfrm>
        </p:grpSpPr>
        <p:sp>
          <p:nvSpPr>
            <p:cNvPr id="115743" name="Freeform 124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44" name="Freeform 125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45" name="Freeform 126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12 h 336"/>
                <a:gd name="T2" fmla="*/ 96 w 144"/>
                <a:gd name="T3" fmla="*/ 0 h 336"/>
                <a:gd name="T4" fmla="*/ 144 w 144"/>
                <a:gd name="T5" fmla="*/ 12 h 336"/>
                <a:gd name="T6" fmla="*/ 144 w 144"/>
                <a:gd name="T7" fmla="*/ 85 h 336"/>
                <a:gd name="T8" fmla="*/ 96 w 144"/>
                <a:gd name="T9" fmla="*/ 73 h 336"/>
                <a:gd name="T10" fmla="*/ 96 w 144"/>
                <a:gd name="T11" fmla="*/ 24 h 336"/>
                <a:gd name="T12" fmla="*/ 0 w 144"/>
                <a:gd name="T13" fmla="*/ 36 h 336"/>
                <a:gd name="T14" fmla="*/ 0 w 144"/>
                <a:gd name="T15" fmla="*/ 12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46" name="Freeform 127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47" name="Freeform 128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48" name="Freeform 129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folHlink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49" name="Freeform 130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9 h 432"/>
                <a:gd name="T4" fmla="*/ 4 w 336"/>
                <a:gd name="T5" fmla="*/ 15 h 432"/>
                <a:gd name="T6" fmla="*/ 4 w 336"/>
                <a:gd name="T7" fmla="*/ 45 h 432"/>
                <a:gd name="T8" fmla="*/ 0 w 336"/>
                <a:gd name="T9" fmla="*/ 35 h 432"/>
                <a:gd name="T10" fmla="*/ 0 w 336"/>
                <a:gd name="T11" fmla="*/ 5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50" name="Freeform 131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0 w 336"/>
                <a:gd name="T1" fmla="*/ 0 h 432"/>
                <a:gd name="T2" fmla="*/ 16 w 336"/>
                <a:gd name="T3" fmla="*/ 3 h 432"/>
                <a:gd name="T4" fmla="*/ 4 w 336"/>
                <a:gd name="T5" fmla="*/ 4 h 432"/>
                <a:gd name="T6" fmla="*/ 4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0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751" name="Freeform 132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2 w 336"/>
                <a:gd name="T3" fmla="*/ 3 h 432"/>
                <a:gd name="T4" fmla="*/ 1 w 336"/>
                <a:gd name="T5" fmla="*/ 4 h 432"/>
                <a:gd name="T6" fmla="*/ 1 w 336"/>
                <a:gd name="T7" fmla="*/ 11 h 432"/>
                <a:gd name="T8" fmla="*/ 0 w 336"/>
                <a:gd name="T9" fmla="*/ 9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1167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858053E-3869-4B1C-B78E-CF2D7FB267E8}" type="slidenum">
              <a:rPr lang="en-US" smtClean="0"/>
              <a:pPr/>
              <a:t>111</a:t>
            </a:fld>
            <a:endParaRPr lang="en-US"/>
          </a:p>
        </p:txBody>
      </p:sp>
      <p:sp>
        <p:nvSpPr>
          <p:cNvPr id="1167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Remarks</a:t>
            </a:r>
          </a:p>
        </p:txBody>
      </p:sp>
      <p:sp>
        <p:nvSpPr>
          <p:cNvPr id="1167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Very little cache traffic</a:t>
            </a:r>
          </a:p>
          <a:p>
            <a:r>
              <a:rPr lang="en-US"/>
              <a:t>Minimal space overhead</a:t>
            </a:r>
          </a:p>
          <a:p>
            <a:r>
              <a:rPr lang="en-US"/>
              <a:t>On message-passing architecture</a:t>
            </a:r>
          </a:p>
          <a:p>
            <a:pPr lvl="1"/>
            <a:r>
              <a:rPr lang="en-US"/>
              <a:t>Send notification &amp; sense down tree</a:t>
            </a:r>
          </a:p>
          <a:p>
            <a:pPr>
              <a:buFontTx/>
              <a:buNone/>
            </a:pPr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2" name="Picture 2" descr="magi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2540000"/>
            <a:ext cx="1270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763" name="Picture 3" descr="magi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2540000"/>
            <a:ext cx="1270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76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558800"/>
            <a:ext cx="7772400" cy="1143000"/>
          </a:xfrm>
        </p:spPr>
        <p:txBody>
          <a:bodyPr/>
          <a:lstStyle/>
          <a:p>
            <a:r>
              <a:rPr lang="en-US" dirty="0">
                <a:latin typeface="Arial"/>
                <a:ea typeface="ＭＳ Ｐゴシック" charset="0"/>
                <a:cs typeface="Arial"/>
              </a:rPr>
              <a:t>The Nature of Progress*</a:t>
            </a:r>
          </a:p>
        </p:txBody>
      </p:sp>
      <p:sp>
        <p:nvSpPr>
          <p:cNvPr id="11776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82700" y="4521200"/>
            <a:ext cx="6400800" cy="1752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>
                <a:solidFill>
                  <a:schemeClr val="accent1"/>
                </a:solidFill>
                <a:latin typeface="Arial"/>
                <a:ea typeface="ＭＳ Ｐゴシック" charset="0"/>
                <a:cs typeface="Arial"/>
              </a:rPr>
              <a:t>Companion slides for</a:t>
            </a:r>
          </a:p>
          <a:p>
            <a:pPr>
              <a:lnSpc>
                <a:spcPct val="80000"/>
              </a:lnSpc>
            </a:pPr>
            <a:r>
              <a:rPr lang="en-US" sz="28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The Art of Multiprocessor Programming</a:t>
            </a:r>
          </a:p>
          <a:p>
            <a:pPr>
              <a:lnSpc>
                <a:spcPct val="80000"/>
              </a:lnSpc>
            </a:pPr>
            <a:r>
              <a:rPr lang="en-US" sz="2800">
                <a:solidFill>
                  <a:schemeClr val="accent1"/>
                </a:solidFill>
                <a:latin typeface="Arial"/>
                <a:ea typeface="ＭＳ Ｐゴシック" charset="0"/>
                <a:cs typeface="Arial"/>
              </a:rPr>
              <a:t>by Maurice Herlihy &amp; Nir Shavit</a:t>
            </a:r>
          </a:p>
        </p:txBody>
      </p:sp>
      <p:sp>
        <p:nvSpPr>
          <p:cNvPr id="117766" name="Rectangle 6"/>
          <p:cNvSpPr>
            <a:spLocks noChangeArrowheads="1"/>
          </p:cNvSpPr>
          <p:nvPr/>
        </p:nvSpPr>
        <p:spPr bwMode="auto">
          <a:xfrm>
            <a:off x="392113" y="5927725"/>
            <a:ext cx="1509712" cy="930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latin typeface="Arial" pitchFamily="34" charset="0"/>
            </a:endParaRPr>
          </a:p>
        </p:txBody>
      </p:sp>
      <p:pic>
        <p:nvPicPr>
          <p:cNvPr id="11776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775" y="1939925"/>
            <a:ext cx="2297113" cy="229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898669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Concurrent Programming</a:t>
            </a:r>
          </a:p>
        </p:txBody>
      </p:sp>
      <p:sp>
        <p:nvSpPr>
          <p:cNvPr id="118787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978775" cy="4114800"/>
          </a:xfrm>
        </p:spPr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Many real-word data structures</a:t>
            </a:r>
          </a:p>
          <a:p>
            <a:pPr lvl="1"/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blocking</a:t>
            </a:r>
            <a:r>
              <a:rPr lang="en-US">
                <a:latin typeface="Arial"/>
                <a:ea typeface="ＭＳ Ｐゴシック" charset="0"/>
                <a:cs typeface="Arial"/>
              </a:rPr>
              <a:t> (lock-based) implementations &amp;</a:t>
            </a:r>
          </a:p>
          <a:p>
            <a:pPr lvl="1"/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non-blocking</a:t>
            </a:r>
            <a:r>
              <a:rPr lang="en-US">
                <a:latin typeface="Arial"/>
                <a:ea typeface="ＭＳ Ｐゴシック" charset="0"/>
                <a:cs typeface="Arial"/>
              </a:rPr>
              <a:t> (no locks) implementations</a:t>
            </a:r>
          </a:p>
          <a:p>
            <a:r>
              <a:rPr lang="en-US">
                <a:latin typeface="Arial"/>
                <a:ea typeface="ＭＳ Ｐゴシック" charset="0"/>
                <a:cs typeface="Arial"/>
              </a:rPr>
              <a:t>For example:</a:t>
            </a:r>
          </a:p>
          <a:p>
            <a:pPr lvl="1"/>
            <a:r>
              <a:rPr lang="en-US">
                <a:latin typeface="Arial"/>
                <a:ea typeface="ＭＳ Ｐゴシック" charset="0"/>
                <a:cs typeface="Arial"/>
              </a:rPr>
              <a:t>linked lists, queues, stacks, hash maps,…</a:t>
            </a:r>
          </a:p>
          <a:p>
            <a:pPr>
              <a:buFontTx/>
              <a:buNone/>
            </a:pPr>
            <a:endParaRPr lang="en-US">
              <a:latin typeface="Arial"/>
              <a:ea typeface="ＭＳ Ｐゴシック" charset="0"/>
              <a:cs typeface="Arial"/>
            </a:endParaRPr>
          </a:p>
          <a:p>
            <a:endParaRPr lang="en-US"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1878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04871799-AF85-5B40-91B9-AEA60A700694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113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 rot="20116701">
            <a:off x="3867150" y="4189413"/>
            <a:ext cx="4141788" cy="52228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dirty="0">
                <a:latin typeface="Arial"/>
                <a:ea typeface="+mn-ea"/>
                <a:cs typeface="Arial"/>
              </a:rPr>
              <a:t>Does this make sense?</a:t>
            </a:r>
          </a:p>
        </p:txBody>
      </p:sp>
    </p:spTree>
    <p:extLst>
      <p:ext uri="{BB962C8B-B14F-4D97-AF65-F5344CB8AC3E}">
        <p14:creationId xmlns:p14="http://schemas.microsoft.com/office/powerpoint/2010/main" val="96962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Concurrent Programming</a:t>
            </a:r>
          </a:p>
        </p:txBody>
      </p:sp>
      <p:sp>
        <p:nvSpPr>
          <p:cNvPr id="1198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Many data structures combine blocking &amp; non-blocking methods</a:t>
            </a:r>
          </a:p>
          <a:p>
            <a:r>
              <a:rPr lang="en-US">
                <a:latin typeface="Arial"/>
                <a:ea typeface="ＭＳ Ｐゴシック" charset="0"/>
                <a:cs typeface="Arial"/>
              </a:rPr>
              <a:t>Java™ concurrency package</a:t>
            </a:r>
          </a:p>
          <a:p>
            <a:pPr lvl="1"/>
            <a:r>
              <a:rPr lang="en-US">
                <a:latin typeface="Arial"/>
                <a:ea typeface="ＭＳ Ｐゴシック" charset="0"/>
                <a:cs typeface="Arial"/>
              </a:rPr>
              <a:t>skiplists, hash tables, exchangers</a:t>
            </a:r>
            <a:endParaRPr lang="en-US">
              <a:solidFill>
                <a:srgbClr val="0066FF"/>
              </a:solidFill>
              <a:latin typeface="Arial"/>
              <a:ea typeface="ＭＳ Ｐゴシック" charset="0"/>
              <a:cs typeface="Arial"/>
            </a:endParaRPr>
          </a:p>
          <a:p>
            <a:pPr lvl="1"/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on 10 million desktops. </a:t>
            </a:r>
          </a:p>
          <a:p>
            <a:endParaRPr lang="en-US">
              <a:latin typeface="Arial"/>
              <a:ea typeface="ＭＳ Ｐゴシック" charset="0"/>
              <a:cs typeface="Arial"/>
            </a:endParaRPr>
          </a:p>
          <a:p>
            <a:endParaRPr lang="en-US"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1981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27749BB-726C-1F4A-A408-A37861F6BA34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114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 rot="-1483299">
            <a:off x="2918142" y="3739914"/>
            <a:ext cx="6090605" cy="104028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>
                <a:latin typeface="Arial"/>
                <a:cs typeface="Arial"/>
              </a:rPr>
              <a:t>Can seemingly contradictory </a:t>
            </a:r>
          </a:p>
          <a:p>
            <a:r>
              <a:rPr lang="en-US" sz="2800">
                <a:latin typeface="Arial"/>
                <a:cs typeface="Arial"/>
              </a:rPr>
              <a:t>conditions co-exist in same alg?…</a:t>
            </a:r>
          </a:p>
        </p:txBody>
      </p:sp>
    </p:spTree>
    <p:extLst>
      <p:ext uri="{BB962C8B-B14F-4D97-AF65-F5344CB8AC3E}">
        <p14:creationId xmlns:p14="http://schemas.microsoft.com/office/powerpoint/2010/main" val="401904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itle 1"/>
          <p:cNvSpPr>
            <a:spLocks noGrp="1"/>
          </p:cNvSpPr>
          <p:nvPr>
            <p:ph type="title"/>
          </p:nvPr>
        </p:nvSpPr>
        <p:spPr>
          <a:xfrm>
            <a:off x="685800" y="4318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Progress Conditions</a:t>
            </a:r>
          </a:p>
        </p:txBody>
      </p:sp>
      <p:sp>
        <p:nvSpPr>
          <p:cNvPr id="252931" name="Content Placeholder 2"/>
          <p:cNvSpPr>
            <a:spLocks noGrp="1"/>
          </p:cNvSpPr>
          <p:nvPr>
            <p:ph idx="1"/>
          </p:nvPr>
        </p:nvSpPr>
        <p:spPr>
          <a:xfrm>
            <a:off x="685800" y="1690688"/>
            <a:ext cx="7772400" cy="4114800"/>
          </a:xfrm>
        </p:spPr>
        <p:txBody>
          <a:bodyPr/>
          <a:lstStyle/>
          <a:p>
            <a:r>
              <a:rPr lang="en-US" sz="2400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Deadlock-free</a:t>
            </a:r>
            <a:r>
              <a:rPr lang="en-US" sz="2400" i="1">
                <a:latin typeface="Arial"/>
                <a:ea typeface="ＭＳ Ｐゴシック" charset="0"/>
                <a:cs typeface="Arial"/>
              </a:rPr>
              <a:t>:</a:t>
            </a:r>
          </a:p>
          <a:p>
            <a:pPr lvl="1"/>
            <a:r>
              <a:rPr lang="en-US" sz="2000">
                <a:latin typeface="Arial"/>
                <a:ea typeface="ＭＳ Ｐゴシック" charset="0"/>
                <a:cs typeface="Arial"/>
              </a:rPr>
              <a:t>Some thread eventually acquires lock.</a:t>
            </a:r>
          </a:p>
          <a:p>
            <a:r>
              <a:rPr lang="en-US" sz="2400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Starvation-free</a:t>
            </a:r>
            <a:r>
              <a:rPr lang="en-US" sz="2400" i="1">
                <a:latin typeface="Arial"/>
                <a:ea typeface="ＭＳ Ｐゴシック" charset="0"/>
                <a:cs typeface="Arial"/>
              </a:rPr>
              <a:t>: </a:t>
            </a:r>
          </a:p>
          <a:p>
            <a:pPr lvl="1"/>
            <a:r>
              <a:rPr lang="en-US" sz="2000">
                <a:latin typeface="Arial"/>
                <a:ea typeface="ＭＳ Ｐゴシック" charset="0"/>
                <a:cs typeface="Arial"/>
              </a:rPr>
              <a:t>Every thread eventually acquires lock.</a:t>
            </a:r>
            <a:endParaRPr lang="en-US" sz="2400">
              <a:latin typeface="Arial"/>
              <a:ea typeface="ＭＳ Ｐゴシック" charset="0"/>
              <a:cs typeface="Arial"/>
            </a:endParaRPr>
          </a:p>
          <a:p>
            <a:r>
              <a:rPr lang="en-US" sz="2400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Lock-free</a:t>
            </a:r>
            <a:r>
              <a:rPr lang="en-US" sz="2400" i="1">
                <a:latin typeface="Arial"/>
                <a:ea typeface="ＭＳ Ｐゴシック" charset="0"/>
                <a:cs typeface="Arial"/>
              </a:rPr>
              <a:t>: </a:t>
            </a:r>
            <a:endParaRPr lang="en-US" sz="2400" u="sng">
              <a:latin typeface="Arial"/>
              <a:ea typeface="ＭＳ Ｐゴシック" charset="0"/>
              <a:cs typeface="Arial"/>
            </a:endParaRPr>
          </a:p>
          <a:p>
            <a:pPr lvl="1"/>
            <a:r>
              <a:rPr lang="en-US" sz="2000">
                <a:latin typeface="Arial"/>
                <a:ea typeface="ＭＳ Ｐゴシック" charset="0"/>
                <a:cs typeface="Arial"/>
              </a:rPr>
              <a:t>Some method call returns.</a:t>
            </a:r>
          </a:p>
          <a:p>
            <a:r>
              <a:rPr lang="en-US" sz="2400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Wait-free</a:t>
            </a:r>
            <a:r>
              <a:rPr lang="en-US" sz="2400" i="1">
                <a:latin typeface="Arial"/>
                <a:ea typeface="ＭＳ Ｐゴシック" charset="0"/>
                <a:cs typeface="Arial"/>
              </a:rPr>
              <a:t>: </a:t>
            </a:r>
            <a:endParaRPr lang="en-US" sz="2400" u="sng">
              <a:latin typeface="Arial"/>
              <a:ea typeface="ＭＳ Ｐゴシック" charset="0"/>
              <a:cs typeface="Arial"/>
            </a:endParaRPr>
          </a:p>
          <a:p>
            <a:pPr lvl="1"/>
            <a:r>
              <a:rPr lang="en-US" sz="2000">
                <a:latin typeface="Arial"/>
                <a:ea typeface="ＭＳ Ｐゴシック" charset="0"/>
                <a:cs typeface="Arial"/>
              </a:rPr>
              <a:t>Every method call returns.</a:t>
            </a:r>
            <a:endParaRPr lang="en-US" sz="2400">
              <a:latin typeface="Arial"/>
              <a:ea typeface="ＭＳ Ｐゴシック" charset="0"/>
              <a:cs typeface="Arial"/>
            </a:endParaRPr>
          </a:p>
          <a:p>
            <a:r>
              <a:rPr lang="en-US" sz="2400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Obstruction-free</a:t>
            </a:r>
            <a:r>
              <a:rPr lang="en-US" sz="2400" i="1">
                <a:latin typeface="Arial"/>
                <a:ea typeface="ＭＳ Ｐゴシック" charset="0"/>
                <a:cs typeface="Arial"/>
              </a:rPr>
              <a:t>:  </a:t>
            </a:r>
            <a:endParaRPr lang="en-US" sz="2400" u="sng">
              <a:latin typeface="Arial"/>
              <a:ea typeface="ＭＳ Ｐゴシック" charset="0"/>
              <a:cs typeface="Arial"/>
            </a:endParaRPr>
          </a:p>
          <a:p>
            <a:pPr lvl="1"/>
            <a:r>
              <a:rPr lang="en-US" sz="2000">
                <a:latin typeface="Arial"/>
                <a:ea typeface="ＭＳ Ｐゴシック" charset="0"/>
                <a:cs typeface="Arial"/>
              </a:rPr>
              <a:t>Every method call returns if it executes in isolation</a:t>
            </a:r>
            <a:endParaRPr lang="en-US" sz="2400">
              <a:latin typeface="Arial"/>
              <a:ea typeface="ＭＳ Ｐゴシック" charset="0"/>
              <a:cs typeface="Arial"/>
            </a:endParaRPr>
          </a:p>
          <a:p>
            <a:endParaRPr lang="en-US" sz="2400">
              <a:latin typeface="Arial"/>
              <a:ea typeface="ＭＳ Ｐゴシック" charset="0"/>
              <a:cs typeface="Arial"/>
            </a:endParaRPr>
          </a:p>
          <a:p>
            <a:pPr>
              <a:buFontTx/>
              <a:buNone/>
            </a:pPr>
            <a:endParaRPr lang="en-US" sz="2400"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2083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31414F9-B684-194A-98DC-D85908F94571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115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Rounded Rectangular Callout 4"/>
          <p:cNvSpPr>
            <a:spLocks noChangeArrowheads="1"/>
          </p:cNvSpPr>
          <p:nvPr/>
        </p:nvSpPr>
        <p:spPr bwMode="auto">
          <a:xfrm>
            <a:off x="5105400" y="5473700"/>
            <a:ext cx="2959100" cy="1028700"/>
          </a:xfrm>
          <a:prstGeom prst="wedgeRoundRectCallout">
            <a:avLst>
              <a:gd name="adj1" fmla="val -127264"/>
              <a:gd name="adj2" fmla="val -67130"/>
              <a:gd name="adj3" fmla="val 16667"/>
            </a:avLst>
          </a:prstGeom>
          <a:solidFill>
            <a:schemeClr val="bg1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/>
                <a:cs typeface="Arial"/>
              </a:rPr>
              <a:t>We will show an </a:t>
            </a:r>
          </a:p>
          <a:p>
            <a:r>
              <a:rPr lang="en-US">
                <a:latin typeface="Arial"/>
                <a:cs typeface="Arial"/>
              </a:rPr>
              <a:t>example shortly</a:t>
            </a:r>
          </a:p>
        </p:txBody>
      </p:sp>
    </p:spTree>
    <p:extLst>
      <p:ext uri="{BB962C8B-B14F-4D97-AF65-F5344CB8AC3E}">
        <p14:creationId xmlns:p14="http://schemas.microsoft.com/office/powerpoint/2010/main" val="99050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2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2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2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2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2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52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976BB935-64C4-2642-86BA-99579C43B8F5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116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18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List-Based Sets</a:t>
            </a:r>
          </a:p>
        </p:txBody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Unordered collection of elements</a:t>
            </a:r>
          </a:p>
          <a:p>
            <a:r>
              <a:rPr lang="en-US">
                <a:latin typeface="Arial"/>
                <a:ea typeface="ＭＳ Ｐゴシック" charset="0"/>
                <a:cs typeface="Arial"/>
              </a:rPr>
              <a:t>No duplicates</a:t>
            </a:r>
          </a:p>
          <a:p>
            <a:r>
              <a:rPr lang="en-US">
                <a:latin typeface="Arial"/>
                <a:ea typeface="ＭＳ Ｐゴシック" charset="0"/>
                <a:cs typeface="Arial"/>
              </a:rPr>
              <a:t>Methods</a:t>
            </a:r>
          </a:p>
          <a:p>
            <a:pPr lvl="1"/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Add() </a:t>
            </a:r>
            <a:r>
              <a:rPr lang="en-US">
                <a:latin typeface="Arial"/>
                <a:ea typeface="ＭＳ Ｐゴシック" charset="0"/>
                <a:cs typeface="Arial"/>
              </a:rPr>
              <a:t>a new element</a:t>
            </a:r>
          </a:p>
          <a:p>
            <a:pPr lvl="1"/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Remove() </a:t>
            </a:r>
            <a:r>
              <a:rPr lang="en-US">
                <a:latin typeface="Arial"/>
                <a:ea typeface="ＭＳ Ｐゴシック" charset="0"/>
                <a:cs typeface="Arial"/>
              </a:rPr>
              <a:t>an element</a:t>
            </a:r>
          </a:p>
          <a:p>
            <a:pPr lvl="1"/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Contains() </a:t>
            </a:r>
            <a:r>
              <a:rPr lang="en-US">
                <a:latin typeface="Arial"/>
                <a:ea typeface="ＭＳ Ｐゴシック" charset="0"/>
                <a:cs typeface="Arial"/>
              </a:rPr>
              <a:t>if element is present</a:t>
            </a:r>
          </a:p>
        </p:txBody>
      </p:sp>
    </p:spTree>
    <p:extLst>
      <p:ext uri="{BB962C8B-B14F-4D97-AF65-F5344CB8AC3E}">
        <p14:creationId xmlns:p14="http://schemas.microsoft.com/office/powerpoint/2010/main" val="87089479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72C6B0BB-2215-5A46-99A1-A19455F8283C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117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0850"/>
            <a:ext cx="7772400" cy="1143000"/>
          </a:xfrm>
        </p:spPr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Coarse Grained Locking</a:t>
            </a:r>
          </a:p>
        </p:txBody>
      </p:sp>
      <p:sp>
        <p:nvSpPr>
          <p:cNvPr id="122884" name="AutoShape 3"/>
          <p:cNvSpPr>
            <a:spLocks noChangeArrowheads="1"/>
          </p:cNvSpPr>
          <p:nvPr/>
        </p:nvSpPr>
        <p:spPr bwMode="auto">
          <a:xfrm>
            <a:off x="1671638" y="3109913"/>
            <a:ext cx="804862" cy="3714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2885" name="Line 4"/>
          <p:cNvSpPr>
            <a:spLocks noChangeShapeType="1"/>
          </p:cNvSpPr>
          <p:nvPr/>
        </p:nvSpPr>
        <p:spPr bwMode="auto">
          <a:xfrm>
            <a:off x="2081213" y="310515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2886" name="Text Box 5"/>
          <p:cNvSpPr txBox="1">
            <a:spLocks noChangeArrowheads="1"/>
          </p:cNvSpPr>
          <p:nvPr/>
        </p:nvSpPr>
        <p:spPr bwMode="auto">
          <a:xfrm>
            <a:off x="1857375" y="3125788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endParaRPr lang="en-US" sz="2800">
              <a:latin typeface="Arial"/>
              <a:cs typeface="Arial"/>
            </a:endParaRPr>
          </a:p>
        </p:txBody>
      </p:sp>
      <p:sp>
        <p:nvSpPr>
          <p:cNvPr id="122887" name="AutoShape 6"/>
          <p:cNvSpPr>
            <a:spLocks noChangeArrowheads="1"/>
          </p:cNvSpPr>
          <p:nvPr/>
        </p:nvSpPr>
        <p:spPr bwMode="auto">
          <a:xfrm>
            <a:off x="3322638" y="3095625"/>
            <a:ext cx="804862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2888" name="Line 7"/>
          <p:cNvSpPr>
            <a:spLocks noChangeShapeType="1"/>
          </p:cNvSpPr>
          <p:nvPr/>
        </p:nvSpPr>
        <p:spPr bwMode="auto">
          <a:xfrm>
            <a:off x="3732213" y="309086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2889" name="Text Box 8"/>
          <p:cNvSpPr txBox="1">
            <a:spLocks noChangeArrowheads="1"/>
          </p:cNvSpPr>
          <p:nvPr/>
        </p:nvSpPr>
        <p:spPr bwMode="auto">
          <a:xfrm>
            <a:off x="3305175" y="3011488"/>
            <a:ext cx="38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a</a:t>
            </a:r>
          </a:p>
        </p:txBody>
      </p:sp>
      <p:sp>
        <p:nvSpPr>
          <p:cNvPr id="122890" name="AutoShape 9"/>
          <p:cNvSpPr>
            <a:spLocks noChangeArrowheads="1"/>
          </p:cNvSpPr>
          <p:nvPr/>
        </p:nvSpPr>
        <p:spPr bwMode="auto">
          <a:xfrm>
            <a:off x="5018088" y="3124200"/>
            <a:ext cx="804862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2891" name="Line 10"/>
          <p:cNvSpPr>
            <a:spLocks noChangeShapeType="1"/>
          </p:cNvSpPr>
          <p:nvPr/>
        </p:nvSpPr>
        <p:spPr bwMode="auto">
          <a:xfrm>
            <a:off x="5427663" y="311943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2892" name="Text Box 11"/>
          <p:cNvSpPr txBox="1">
            <a:spLocks noChangeArrowheads="1"/>
          </p:cNvSpPr>
          <p:nvPr/>
        </p:nvSpPr>
        <p:spPr bwMode="auto">
          <a:xfrm>
            <a:off x="4977623" y="3054350"/>
            <a:ext cx="4040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b</a:t>
            </a:r>
          </a:p>
        </p:txBody>
      </p:sp>
      <p:sp>
        <p:nvSpPr>
          <p:cNvPr id="122893" name="AutoShape 12"/>
          <p:cNvSpPr>
            <a:spLocks noChangeArrowheads="1"/>
          </p:cNvSpPr>
          <p:nvPr/>
        </p:nvSpPr>
        <p:spPr bwMode="auto">
          <a:xfrm>
            <a:off x="6670675" y="3124200"/>
            <a:ext cx="804863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2894" name="Line 13"/>
          <p:cNvSpPr>
            <a:spLocks noChangeShapeType="1"/>
          </p:cNvSpPr>
          <p:nvPr/>
        </p:nvSpPr>
        <p:spPr bwMode="auto">
          <a:xfrm>
            <a:off x="7080250" y="311943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2895" name="Text Box 14"/>
          <p:cNvSpPr txBox="1">
            <a:spLocks noChangeArrowheads="1"/>
          </p:cNvSpPr>
          <p:nvPr/>
        </p:nvSpPr>
        <p:spPr bwMode="auto">
          <a:xfrm>
            <a:off x="6630211" y="3040063"/>
            <a:ext cx="4040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d</a:t>
            </a:r>
          </a:p>
        </p:txBody>
      </p:sp>
      <p:sp>
        <p:nvSpPr>
          <p:cNvPr id="122896" name="Line 15"/>
          <p:cNvSpPr>
            <a:spLocks noChangeShapeType="1"/>
          </p:cNvSpPr>
          <p:nvPr/>
        </p:nvSpPr>
        <p:spPr bwMode="auto">
          <a:xfrm>
            <a:off x="2271713" y="3295650"/>
            <a:ext cx="10096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2897" name="Line 16"/>
          <p:cNvSpPr>
            <a:spLocks noChangeShapeType="1"/>
          </p:cNvSpPr>
          <p:nvPr/>
        </p:nvSpPr>
        <p:spPr bwMode="auto">
          <a:xfrm>
            <a:off x="5638800" y="3309938"/>
            <a:ext cx="10096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2898" name="Line 21"/>
          <p:cNvSpPr>
            <a:spLocks noChangeShapeType="1"/>
          </p:cNvSpPr>
          <p:nvPr/>
        </p:nvSpPr>
        <p:spPr bwMode="auto">
          <a:xfrm>
            <a:off x="3986213" y="3309938"/>
            <a:ext cx="1011237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grpSp>
        <p:nvGrpSpPr>
          <p:cNvPr id="122899" name="Group 43"/>
          <p:cNvGrpSpPr>
            <a:grpSpLocks/>
          </p:cNvGrpSpPr>
          <p:nvPr/>
        </p:nvGrpSpPr>
        <p:grpSpPr bwMode="auto">
          <a:xfrm>
            <a:off x="1671638" y="2543175"/>
            <a:ext cx="471487" cy="476250"/>
            <a:chOff x="2208" y="1920"/>
            <a:chExt cx="1152" cy="1680"/>
          </a:xfrm>
        </p:grpSpPr>
        <p:sp>
          <p:nvSpPr>
            <p:cNvPr id="122928" name="Oval 44"/>
            <p:cNvSpPr>
              <a:spLocks noChangeArrowheads="1"/>
            </p:cNvSpPr>
            <p:nvPr/>
          </p:nvSpPr>
          <p:spPr bwMode="auto">
            <a:xfrm>
              <a:off x="2208" y="2448"/>
              <a:ext cx="1152" cy="115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29" name="Oval 45"/>
            <p:cNvSpPr>
              <a:spLocks noChangeArrowheads="1"/>
            </p:cNvSpPr>
            <p:nvPr/>
          </p:nvSpPr>
          <p:spPr bwMode="auto">
            <a:xfrm>
              <a:off x="2640" y="2688"/>
              <a:ext cx="288" cy="2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30" name="AutoShape 46"/>
            <p:cNvSpPr>
              <a:spLocks noChangeArrowheads="1"/>
            </p:cNvSpPr>
            <p:nvPr/>
          </p:nvSpPr>
          <p:spPr bwMode="auto">
            <a:xfrm flipV="1">
              <a:off x="2616" y="2880"/>
              <a:ext cx="336" cy="4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31" name="AutoShape 47"/>
            <p:cNvSpPr>
              <a:spLocks noChangeArrowheads="1"/>
            </p:cNvSpPr>
            <p:nvPr/>
          </p:nvSpPr>
          <p:spPr bwMode="auto">
            <a:xfrm>
              <a:off x="2448" y="1920"/>
              <a:ext cx="624" cy="13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sp>
        <p:nvSpPr>
          <p:cNvPr id="1546315" name="Text Box 75"/>
          <p:cNvSpPr txBox="1">
            <a:spLocks noChangeArrowheads="1"/>
          </p:cNvSpPr>
          <p:nvPr/>
        </p:nvSpPr>
        <p:spPr bwMode="auto">
          <a:xfrm>
            <a:off x="1796841" y="4943475"/>
            <a:ext cx="6471067" cy="104028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0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Lock is </a:t>
            </a:r>
            <a:r>
              <a:rPr lang="en-US" sz="2800" b="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starvation-free: </a:t>
            </a:r>
            <a:r>
              <a:rPr lang="en-US" sz="2800" b="0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every attempt to </a:t>
            </a:r>
          </a:p>
          <a:p>
            <a:pPr>
              <a:defRPr/>
            </a:pPr>
            <a:r>
              <a:rPr lang="en-US" sz="2800" b="0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acquire the lock eventually succeeds.</a:t>
            </a:r>
          </a:p>
        </p:txBody>
      </p:sp>
      <p:sp>
        <p:nvSpPr>
          <p:cNvPr id="122901" name="Rectangle 76"/>
          <p:cNvSpPr>
            <a:spLocks noChangeArrowheads="1"/>
          </p:cNvSpPr>
          <p:nvPr/>
        </p:nvSpPr>
        <p:spPr bwMode="auto">
          <a:xfrm>
            <a:off x="1802348" y="2563167"/>
            <a:ext cx="184666" cy="46166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grpSp>
        <p:nvGrpSpPr>
          <p:cNvPr id="122902" name="Group 67"/>
          <p:cNvGrpSpPr>
            <a:grpSpLocks/>
          </p:cNvGrpSpPr>
          <p:nvPr/>
        </p:nvGrpSpPr>
        <p:grpSpPr bwMode="auto">
          <a:xfrm>
            <a:off x="1627188" y="1797050"/>
            <a:ext cx="682625" cy="814388"/>
            <a:chOff x="2571" y="1098"/>
            <a:chExt cx="412" cy="328"/>
          </a:xfrm>
        </p:grpSpPr>
        <p:sp>
          <p:nvSpPr>
            <p:cNvPr id="122921" name="Freeform 68"/>
            <p:cNvSpPr>
              <a:spLocks/>
            </p:cNvSpPr>
            <p:nvPr/>
          </p:nvSpPr>
          <p:spPr bwMode="auto">
            <a:xfrm>
              <a:off x="2571" y="1098"/>
              <a:ext cx="188" cy="321"/>
            </a:xfrm>
            <a:custGeom>
              <a:avLst/>
              <a:gdLst>
                <a:gd name="T0" fmla="*/ 20729 w 141"/>
                <a:gd name="T1" fmla="*/ 3 h 428"/>
                <a:gd name="T2" fmla="*/ 20047 w 141"/>
                <a:gd name="T3" fmla="*/ 3 h 428"/>
                <a:gd name="T4" fmla="*/ 17143 w 141"/>
                <a:gd name="T5" fmla="*/ 3 h 428"/>
                <a:gd name="T6" fmla="*/ 14423 w 141"/>
                <a:gd name="T7" fmla="*/ 2 h 428"/>
                <a:gd name="T8" fmla="*/ 12343 w 141"/>
                <a:gd name="T9" fmla="*/ 2 h 428"/>
                <a:gd name="T10" fmla="*/ 10241 w 141"/>
                <a:gd name="T11" fmla="*/ 2 h 428"/>
                <a:gd name="T12" fmla="*/ 8361 w 141"/>
                <a:gd name="T13" fmla="*/ 2 h 428"/>
                <a:gd name="T14" fmla="*/ 6271 w 141"/>
                <a:gd name="T15" fmla="*/ 2 h 428"/>
                <a:gd name="T16" fmla="*/ 4068 w 141"/>
                <a:gd name="T17" fmla="*/ 2 h 428"/>
                <a:gd name="T18" fmla="*/ 2759 w 141"/>
                <a:gd name="T19" fmla="*/ 2 h 428"/>
                <a:gd name="T20" fmla="*/ 2069 w 141"/>
                <a:gd name="T21" fmla="*/ 2 h 428"/>
                <a:gd name="T22" fmla="*/ 655 w 141"/>
                <a:gd name="T23" fmla="*/ 2 h 428"/>
                <a:gd name="T24" fmla="*/ 0 w 141"/>
                <a:gd name="T25" fmla="*/ 2 h 428"/>
                <a:gd name="T26" fmla="*/ 655 w 141"/>
                <a:gd name="T27" fmla="*/ 2 h 428"/>
                <a:gd name="T28" fmla="*/ 1505 w 141"/>
                <a:gd name="T29" fmla="*/ 2 h 428"/>
                <a:gd name="T30" fmla="*/ 2759 w 141"/>
                <a:gd name="T31" fmla="*/ 2 h 428"/>
                <a:gd name="T32" fmla="*/ 3321 w 141"/>
                <a:gd name="T33" fmla="*/ 2 h 428"/>
                <a:gd name="T34" fmla="*/ 4068 w 141"/>
                <a:gd name="T35" fmla="*/ 2 h 428"/>
                <a:gd name="T36" fmla="*/ 4757 w 141"/>
                <a:gd name="T37" fmla="*/ 2 h 428"/>
                <a:gd name="T38" fmla="*/ 6271 w 141"/>
                <a:gd name="T39" fmla="*/ 2 h 428"/>
                <a:gd name="T40" fmla="*/ 6913 w 141"/>
                <a:gd name="T41" fmla="*/ 2 h 428"/>
                <a:gd name="T42" fmla="*/ 7583 w 141"/>
                <a:gd name="T43" fmla="*/ 2 h 428"/>
                <a:gd name="T44" fmla="*/ 8361 w 141"/>
                <a:gd name="T45" fmla="*/ 2 h 428"/>
                <a:gd name="T46" fmla="*/ 9073 w 141"/>
                <a:gd name="T47" fmla="*/ 2 h 428"/>
                <a:gd name="T48" fmla="*/ 10241 w 141"/>
                <a:gd name="T49" fmla="*/ 2 h 428"/>
                <a:gd name="T50" fmla="*/ 11077 w 141"/>
                <a:gd name="T51" fmla="*/ 0 h 428"/>
                <a:gd name="T52" fmla="*/ 11660 w 141"/>
                <a:gd name="T53" fmla="*/ 2 h 428"/>
                <a:gd name="T54" fmla="*/ 11660 w 141"/>
                <a:gd name="T55" fmla="*/ 2 h 428"/>
                <a:gd name="T56" fmla="*/ 11660 w 141"/>
                <a:gd name="T57" fmla="*/ 2 h 428"/>
                <a:gd name="T58" fmla="*/ 12343 w 141"/>
                <a:gd name="T59" fmla="*/ 2 h 428"/>
                <a:gd name="T60" fmla="*/ 13852 w 141"/>
                <a:gd name="T61" fmla="*/ 2 h 428"/>
                <a:gd name="T62" fmla="*/ 15275 w 141"/>
                <a:gd name="T63" fmla="*/ 2 h 428"/>
                <a:gd name="T64" fmla="*/ 17143 w 141"/>
                <a:gd name="T65" fmla="*/ 2 h 428"/>
                <a:gd name="T66" fmla="*/ 19231 w 141"/>
                <a:gd name="T67" fmla="*/ 2 h 428"/>
                <a:gd name="T68" fmla="*/ 20729 w 141"/>
                <a:gd name="T69" fmla="*/ 2 h 428"/>
                <a:gd name="T70" fmla="*/ 21943 w 141"/>
                <a:gd name="T71" fmla="*/ 2 h 428"/>
                <a:gd name="T72" fmla="*/ 23380 w 141"/>
                <a:gd name="T73" fmla="*/ 2 h 428"/>
                <a:gd name="T74" fmla="*/ 24023 w 141"/>
                <a:gd name="T75" fmla="*/ 2 h 428"/>
                <a:gd name="T76" fmla="*/ 24880 w 141"/>
                <a:gd name="T77" fmla="*/ 2 h 428"/>
                <a:gd name="T78" fmla="*/ 24880 w 141"/>
                <a:gd name="T79" fmla="*/ 2 h 428"/>
                <a:gd name="T80" fmla="*/ 24880 w 141"/>
                <a:gd name="T81" fmla="*/ 2 h 428"/>
                <a:gd name="T82" fmla="*/ 24880 w 141"/>
                <a:gd name="T83" fmla="*/ 2 h 428"/>
                <a:gd name="T84" fmla="*/ 24880 w 141"/>
                <a:gd name="T85" fmla="*/ 2 h 428"/>
                <a:gd name="T86" fmla="*/ 24023 w 141"/>
                <a:gd name="T87" fmla="*/ 2 h 428"/>
                <a:gd name="T88" fmla="*/ 24023 w 141"/>
                <a:gd name="T89" fmla="*/ 2 h 428"/>
                <a:gd name="T90" fmla="*/ 24023 w 141"/>
                <a:gd name="T91" fmla="*/ 2 h 428"/>
                <a:gd name="T92" fmla="*/ 23380 w 141"/>
                <a:gd name="T93" fmla="*/ 2 h 428"/>
                <a:gd name="T94" fmla="*/ 22740 w 141"/>
                <a:gd name="T95" fmla="*/ 2 h 428"/>
                <a:gd name="T96" fmla="*/ 22740 w 141"/>
                <a:gd name="T97" fmla="*/ 3 h 428"/>
                <a:gd name="T98" fmla="*/ 21943 w 141"/>
                <a:gd name="T99" fmla="*/ 3 h 428"/>
                <a:gd name="T100" fmla="*/ 20729 w 141"/>
                <a:gd name="T101" fmla="*/ 3 h 4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41"/>
                <a:gd name="T154" fmla="*/ 0 h 428"/>
                <a:gd name="T155" fmla="*/ 141 w 141"/>
                <a:gd name="T156" fmla="*/ 428 h 4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41" h="428">
                  <a:moveTo>
                    <a:pt x="117" y="427"/>
                  </a:moveTo>
                  <a:lnTo>
                    <a:pt x="117" y="419"/>
                  </a:lnTo>
                  <a:lnTo>
                    <a:pt x="117" y="411"/>
                  </a:lnTo>
                  <a:lnTo>
                    <a:pt x="113" y="402"/>
                  </a:lnTo>
                  <a:lnTo>
                    <a:pt x="105" y="390"/>
                  </a:lnTo>
                  <a:lnTo>
                    <a:pt x="97" y="386"/>
                  </a:lnTo>
                  <a:lnTo>
                    <a:pt x="89" y="378"/>
                  </a:lnTo>
                  <a:lnTo>
                    <a:pt x="82" y="365"/>
                  </a:lnTo>
                  <a:lnTo>
                    <a:pt x="74" y="357"/>
                  </a:lnTo>
                  <a:lnTo>
                    <a:pt x="70" y="349"/>
                  </a:lnTo>
                  <a:lnTo>
                    <a:pt x="62" y="345"/>
                  </a:lnTo>
                  <a:lnTo>
                    <a:pt x="58" y="337"/>
                  </a:lnTo>
                  <a:lnTo>
                    <a:pt x="54" y="328"/>
                  </a:lnTo>
                  <a:lnTo>
                    <a:pt x="47" y="324"/>
                  </a:lnTo>
                  <a:lnTo>
                    <a:pt x="39" y="316"/>
                  </a:lnTo>
                  <a:lnTo>
                    <a:pt x="35" y="308"/>
                  </a:lnTo>
                  <a:lnTo>
                    <a:pt x="27" y="304"/>
                  </a:lnTo>
                  <a:lnTo>
                    <a:pt x="23" y="296"/>
                  </a:lnTo>
                  <a:lnTo>
                    <a:pt x="19" y="287"/>
                  </a:lnTo>
                  <a:lnTo>
                    <a:pt x="16" y="279"/>
                  </a:lnTo>
                  <a:lnTo>
                    <a:pt x="12" y="271"/>
                  </a:lnTo>
                  <a:lnTo>
                    <a:pt x="12" y="263"/>
                  </a:lnTo>
                  <a:lnTo>
                    <a:pt x="8" y="255"/>
                  </a:lnTo>
                  <a:lnTo>
                    <a:pt x="4" y="246"/>
                  </a:lnTo>
                  <a:lnTo>
                    <a:pt x="4" y="238"/>
                  </a:lnTo>
                  <a:lnTo>
                    <a:pt x="0" y="230"/>
                  </a:lnTo>
                  <a:lnTo>
                    <a:pt x="0" y="222"/>
                  </a:lnTo>
                  <a:lnTo>
                    <a:pt x="4" y="214"/>
                  </a:lnTo>
                  <a:lnTo>
                    <a:pt x="8" y="205"/>
                  </a:lnTo>
                  <a:lnTo>
                    <a:pt x="8" y="197"/>
                  </a:lnTo>
                  <a:lnTo>
                    <a:pt x="12" y="185"/>
                  </a:lnTo>
                  <a:lnTo>
                    <a:pt x="16" y="177"/>
                  </a:lnTo>
                  <a:lnTo>
                    <a:pt x="16" y="168"/>
                  </a:lnTo>
                  <a:lnTo>
                    <a:pt x="19" y="160"/>
                  </a:lnTo>
                  <a:lnTo>
                    <a:pt x="19" y="148"/>
                  </a:lnTo>
                  <a:lnTo>
                    <a:pt x="23" y="135"/>
                  </a:lnTo>
                  <a:lnTo>
                    <a:pt x="27" y="127"/>
                  </a:lnTo>
                  <a:lnTo>
                    <a:pt x="27" y="115"/>
                  </a:lnTo>
                  <a:lnTo>
                    <a:pt x="31" y="107"/>
                  </a:lnTo>
                  <a:lnTo>
                    <a:pt x="35" y="99"/>
                  </a:lnTo>
                  <a:lnTo>
                    <a:pt x="39" y="90"/>
                  </a:lnTo>
                  <a:lnTo>
                    <a:pt x="39" y="82"/>
                  </a:lnTo>
                  <a:lnTo>
                    <a:pt x="43" y="74"/>
                  </a:lnTo>
                  <a:lnTo>
                    <a:pt x="43" y="66"/>
                  </a:lnTo>
                  <a:lnTo>
                    <a:pt x="47" y="57"/>
                  </a:lnTo>
                  <a:lnTo>
                    <a:pt x="47" y="49"/>
                  </a:lnTo>
                  <a:lnTo>
                    <a:pt x="51" y="41"/>
                  </a:lnTo>
                  <a:lnTo>
                    <a:pt x="51" y="33"/>
                  </a:lnTo>
                  <a:lnTo>
                    <a:pt x="54" y="25"/>
                  </a:lnTo>
                  <a:lnTo>
                    <a:pt x="58" y="16"/>
                  </a:lnTo>
                  <a:lnTo>
                    <a:pt x="62" y="8"/>
                  </a:lnTo>
                  <a:lnTo>
                    <a:pt x="62" y="0"/>
                  </a:lnTo>
                  <a:lnTo>
                    <a:pt x="66" y="8"/>
                  </a:lnTo>
                  <a:lnTo>
                    <a:pt x="66" y="16"/>
                  </a:lnTo>
                  <a:lnTo>
                    <a:pt x="66" y="25"/>
                  </a:lnTo>
                  <a:lnTo>
                    <a:pt x="66" y="33"/>
                  </a:lnTo>
                  <a:lnTo>
                    <a:pt x="66" y="41"/>
                  </a:lnTo>
                  <a:lnTo>
                    <a:pt x="66" y="49"/>
                  </a:lnTo>
                  <a:lnTo>
                    <a:pt x="66" y="57"/>
                  </a:lnTo>
                  <a:lnTo>
                    <a:pt x="70" y="66"/>
                  </a:lnTo>
                  <a:lnTo>
                    <a:pt x="74" y="74"/>
                  </a:lnTo>
                  <a:lnTo>
                    <a:pt x="78" y="82"/>
                  </a:lnTo>
                  <a:lnTo>
                    <a:pt x="82" y="90"/>
                  </a:lnTo>
                  <a:lnTo>
                    <a:pt x="86" y="99"/>
                  </a:lnTo>
                  <a:lnTo>
                    <a:pt x="89" y="107"/>
                  </a:lnTo>
                  <a:lnTo>
                    <a:pt x="97" y="115"/>
                  </a:lnTo>
                  <a:lnTo>
                    <a:pt x="101" y="123"/>
                  </a:lnTo>
                  <a:lnTo>
                    <a:pt x="109" y="131"/>
                  </a:lnTo>
                  <a:lnTo>
                    <a:pt x="113" y="140"/>
                  </a:lnTo>
                  <a:lnTo>
                    <a:pt x="117" y="148"/>
                  </a:lnTo>
                  <a:lnTo>
                    <a:pt x="121" y="156"/>
                  </a:lnTo>
                  <a:lnTo>
                    <a:pt x="124" y="164"/>
                  </a:lnTo>
                  <a:lnTo>
                    <a:pt x="128" y="172"/>
                  </a:lnTo>
                  <a:lnTo>
                    <a:pt x="132" y="181"/>
                  </a:lnTo>
                  <a:lnTo>
                    <a:pt x="136" y="189"/>
                  </a:lnTo>
                  <a:lnTo>
                    <a:pt x="136" y="197"/>
                  </a:lnTo>
                  <a:lnTo>
                    <a:pt x="140" y="205"/>
                  </a:lnTo>
                  <a:lnTo>
                    <a:pt x="140" y="214"/>
                  </a:lnTo>
                  <a:lnTo>
                    <a:pt x="140" y="222"/>
                  </a:lnTo>
                  <a:lnTo>
                    <a:pt x="140" y="230"/>
                  </a:lnTo>
                  <a:lnTo>
                    <a:pt x="140" y="238"/>
                  </a:lnTo>
                  <a:lnTo>
                    <a:pt x="140" y="246"/>
                  </a:lnTo>
                  <a:lnTo>
                    <a:pt x="140" y="255"/>
                  </a:lnTo>
                  <a:lnTo>
                    <a:pt x="140" y="263"/>
                  </a:lnTo>
                  <a:lnTo>
                    <a:pt x="140" y="271"/>
                  </a:lnTo>
                  <a:lnTo>
                    <a:pt x="140" y="279"/>
                  </a:lnTo>
                  <a:lnTo>
                    <a:pt x="140" y="287"/>
                  </a:lnTo>
                  <a:lnTo>
                    <a:pt x="136" y="296"/>
                  </a:lnTo>
                  <a:lnTo>
                    <a:pt x="136" y="304"/>
                  </a:lnTo>
                  <a:lnTo>
                    <a:pt x="136" y="312"/>
                  </a:lnTo>
                  <a:lnTo>
                    <a:pt x="136" y="320"/>
                  </a:lnTo>
                  <a:lnTo>
                    <a:pt x="136" y="328"/>
                  </a:lnTo>
                  <a:lnTo>
                    <a:pt x="136" y="337"/>
                  </a:lnTo>
                  <a:lnTo>
                    <a:pt x="132" y="345"/>
                  </a:lnTo>
                  <a:lnTo>
                    <a:pt x="132" y="353"/>
                  </a:lnTo>
                  <a:lnTo>
                    <a:pt x="128" y="361"/>
                  </a:lnTo>
                  <a:lnTo>
                    <a:pt x="128" y="370"/>
                  </a:lnTo>
                  <a:lnTo>
                    <a:pt x="128" y="378"/>
                  </a:lnTo>
                  <a:lnTo>
                    <a:pt x="128" y="386"/>
                  </a:lnTo>
                  <a:lnTo>
                    <a:pt x="124" y="394"/>
                  </a:lnTo>
                  <a:lnTo>
                    <a:pt x="121" y="402"/>
                  </a:lnTo>
                  <a:lnTo>
                    <a:pt x="117" y="411"/>
                  </a:lnTo>
                  <a:lnTo>
                    <a:pt x="117" y="419"/>
                  </a:lnTo>
                </a:path>
              </a:pathLst>
            </a:custGeom>
            <a:solidFill>
              <a:srgbClr val="FAFD00"/>
            </a:solidFill>
            <a:ln w="25400" cap="rnd">
              <a:solidFill>
                <a:srgbClr val="F35B1B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22" name="Freeform 69"/>
            <p:cNvSpPr>
              <a:spLocks/>
            </p:cNvSpPr>
            <p:nvPr/>
          </p:nvSpPr>
          <p:spPr bwMode="auto">
            <a:xfrm>
              <a:off x="2712" y="1207"/>
              <a:ext cx="194" cy="219"/>
            </a:xfrm>
            <a:custGeom>
              <a:avLst/>
              <a:gdLst>
                <a:gd name="T0" fmla="*/ 4581 w 145"/>
                <a:gd name="T1" fmla="*/ 2 h 292"/>
                <a:gd name="T2" fmla="*/ 5290 w 145"/>
                <a:gd name="T3" fmla="*/ 2 h 292"/>
                <a:gd name="T4" fmla="*/ 8363 w 145"/>
                <a:gd name="T5" fmla="*/ 2 h 292"/>
                <a:gd name="T6" fmla="*/ 11271 w 145"/>
                <a:gd name="T7" fmla="*/ 2 h 292"/>
                <a:gd name="T8" fmla="*/ 13448 w 145"/>
                <a:gd name="T9" fmla="*/ 2 h 292"/>
                <a:gd name="T10" fmla="*/ 15867 w 145"/>
                <a:gd name="T11" fmla="*/ 2 h 292"/>
                <a:gd name="T12" fmla="*/ 17992 w 145"/>
                <a:gd name="T13" fmla="*/ 2 h 292"/>
                <a:gd name="T14" fmla="*/ 20329 w 145"/>
                <a:gd name="T15" fmla="*/ 2 h 292"/>
                <a:gd name="T16" fmla="*/ 22681 w 145"/>
                <a:gd name="T17" fmla="*/ 2 h 292"/>
                <a:gd name="T18" fmla="*/ 24072 w 145"/>
                <a:gd name="T19" fmla="*/ 2 h 292"/>
                <a:gd name="T20" fmla="*/ 24966 w 145"/>
                <a:gd name="T21" fmla="*/ 2 h 292"/>
                <a:gd name="T22" fmla="*/ 26314 w 145"/>
                <a:gd name="T23" fmla="*/ 2 h 292"/>
                <a:gd name="T24" fmla="*/ 27199 w 145"/>
                <a:gd name="T25" fmla="*/ 2 h 292"/>
                <a:gd name="T26" fmla="*/ 26314 w 145"/>
                <a:gd name="T27" fmla="*/ 2 h 292"/>
                <a:gd name="T28" fmla="*/ 25679 w 145"/>
                <a:gd name="T29" fmla="*/ 2 h 292"/>
                <a:gd name="T30" fmla="*/ 24072 w 145"/>
                <a:gd name="T31" fmla="*/ 2 h 292"/>
                <a:gd name="T32" fmla="*/ 23371 w 145"/>
                <a:gd name="T33" fmla="*/ 2 h 292"/>
                <a:gd name="T34" fmla="*/ 22681 w 145"/>
                <a:gd name="T35" fmla="*/ 2 h 292"/>
                <a:gd name="T36" fmla="*/ 21826 w 145"/>
                <a:gd name="T37" fmla="*/ 2 h 292"/>
                <a:gd name="T38" fmla="*/ 20329 w 145"/>
                <a:gd name="T39" fmla="*/ 2 h 292"/>
                <a:gd name="T40" fmla="*/ 19638 w 145"/>
                <a:gd name="T41" fmla="*/ 2 h 292"/>
                <a:gd name="T42" fmla="*/ 18863 w 145"/>
                <a:gd name="T43" fmla="*/ 2 h 292"/>
                <a:gd name="T44" fmla="*/ 17992 w 145"/>
                <a:gd name="T45" fmla="*/ 2 h 292"/>
                <a:gd name="T46" fmla="*/ 17444 w 145"/>
                <a:gd name="T47" fmla="*/ 2 h 292"/>
                <a:gd name="T48" fmla="*/ 15867 w 145"/>
                <a:gd name="T49" fmla="*/ 2 h 292"/>
                <a:gd name="T50" fmla="*/ 15080 w 145"/>
                <a:gd name="T51" fmla="*/ 0 h 292"/>
                <a:gd name="T52" fmla="*/ 14345 w 145"/>
                <a:gd name="T53" fmla="*/ 2 h 292"/>
                <a:gd name="T54" fmla="*/ 14345 w 145"/>
                <a:gd name="T55" fmla="*/ 2 h 292"/>
                <a:gd name="T56" fmla="*/ 14345 w 145"/>
                <a:gd name="T57" fmla="*/ 2 h 292"/>
                <a:gd name="T58" fmla="*/ 13448 w 145"/>
                <a:gd name="T59" fmla="*/ 2 h 292"/>
                <a:gd name="T60" fmla="*/ 12150 w 145"/>
                <a:gd name="T61" fmla="*/ 2 h 292"/>
                <a:gd name="T62" fmla="*/ 10538 w 145"/>
                <a:gd name="T63" fmla="*/ 2 h 292"/>
                <a:gd name="T64" fmla="*/ 8363 w 145"/>
                <a:gd name="T65" fmla="*/ 2 h 292"/>
                <a:gd name="T66" fmla="*/ 6129 w 145"/>
                <a:gd name="T67" fmla="*/ 2 h 292"/>
                <a:gd name="T68" fmla="*/ 4581 w 145"/>
                <a:gd name="T69" fmla="*/ 2 h 292"/>
                <a:gd name="T70" fmla="*/ 2955 w 145"/>
                <a:gd name="T71" fmla="*/ 2 h 292"/>
                <a:gd name="T72" fmla="*/ 1583 w 145"/>
                <a:gd name="T73" fmla="*/ 2 h 292"/>
                <a:gd name="T74" fmla="*/ 689 w 145"/>
                <a:gd name="T75" fmla="*/ 2 h 292"/>
                <a:gd name="T76" fmla="*/ 0 w 145"/>
                <a:gd name="T77" fmla="*/ 2 h 292"/>
                <a:gd name="T78" fmla="*/ 0 w 145"/>
                <a:gd name="T79" fmla="*/ 2 h 292"/>
                <a:gd name="T80" fmla="*/ 0 w 145"/>
                <a:gd name="T81" fmla="*/ 2 h 292"/>
                <a:gd name="T82" fmla="*/ 0 w 145"/>
                <a:gd name="T83" fmla="*/ 2 h 292"/>
                <a:gd name="T84" fmla="*/ 0 w 145"/>
                <a:gd name="T85" fmla="*/ 2 h 292"/>
                <a:gd name="T86" fmla="*/ 689 w 145"/>
                <a:gd name="T87" fmla="*/ 2 h 292"/>
                <a:gd name="T88" fmla="*/ 689 w 145"/>
                <a:gd name="T89" fmla="*/ 2 h 292"/>
                <a:gd name="T90" fmla="*/ 689 w 145"/>
                <a:gd name="T91" fmla="*/ 2 h 292"/>
                <a:gd name="T92" fmla="*/ 1583 w 145"/>
                <a:gd name="T93" fmla="*/ 2 h 292"/>
                <a:gd name="T94" fmla="*/ 2209 w 145"/>
                <a:gd name="T95" fmla="*/ 2 h 292"/>
                <a:gd name="T96" fmla="*/ 2209 w 145"/>
                <a:gd name="T97" fmla="*/ 2 h 292"/>
                <a:gd name="T98" fmla="*/ 2955 w 145"/>
                <a:gd name="T99" fmla="*/ 2 h 292"/>
                <a:gd name="T100" fmla="*/ 4581 w 145"/>
                <a:gd name="T101" fmla="*/ 2 h 29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45"/>
                <a:gd name="T154" fmla="*/ 0 h 292"/>
                <a:gd name="T155" fmla="*/ 145 w 145"/>
                <a:gd name="T156" fmla="*/ 292 h 29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45" h="292">
                  <a:moveTo>
                    <a:pt x="24" y="291"/>
                  </a:moveTo>
                  <a:lnTo>
                    <a:pt x="24" y="285"/>
                  </a:lnTo>
                  <a:lnTo>
                    <a:pt x="24" y="280"/>
                  </a:lnTo>
                  <a:lnTo>
                    <a:pt x="28" y="274"/>
                  </a:lnTo>
                  <a:lnTo>
                    <a:pt x="36" y="266"/>
                  </a:lnTo>
                  <a:lnTo>
                    <a:pt x="44" y="263"/>
                  </a:lnTo>
                  <a:lnTo>
                    <a:pt x="52" y="257"/>
                  </a:lnTo>
                  <a:lnTo>
                    <a:pt x="60" y="249"/>
                  </a:lnTo>
                  <a:lnTo>
                    <a:pt x="68" y="243"/>
                  </a:lnTo>
                  <a:lnTo>
                    <a:pt x="72" y="238"/>
                  </a:lnTo>
                  <a:lnTo>
                    <a:pt x="80" y="235"/>
                  </a:lnTo>
                  <a:lnTo>
                    <a:pt x="84" y="229"/>
                  </a:lnTo>
                  <a:lnTo>
                    <a:pt x="88" y="224"/>
                  </a:lnTo>
                  <a:lnTo>
                    <a:pt x="96" y="221"/>
                  </a:lnTo>
                  <a:lnTo>
                    <a:pt x="104" y="215"/>
                  </a:lnTo>
                  <a:lnTo>
                    <a:pt x="108" y="210"/>
                  </a:lnTo>
                  <a:lnTo>
                    <a:pt x="116" y="207"/>
                  </a:lnTo>
                  <a:lnTo>
                    <a:pt x="120" y="201"/>
                  </a:lnTo>
                  <a:lnTo>
                    <a:pt x="124" y="196"/>
                  </a:lnTo>
                  <a:lnTo>
                    <a:pt x="128" y="190"/>
                  </a:lnTo>
                  <a:lnTo>
                    <a:pt x="132" y="185"/>
                  </a:lnTo>
                  <a:lnTo>
                    <a:pt x="132" y="179"/>
                  </a:lnTo>
                  <a:lnTo>
                    <a:pt x="136" y="173"/>
                  </a:lnTo>
                  <a:lnTo>
                    <a:pt x="140" y="168"/>
                  </a:lnTo>
                  <a:lnTo>
                    <a:pt x="140" y="162"/>
                  </a:lnTo>
                  <a:lnTo>
                    <a:pt x="144" y="157"/>
                  </a:lnTo>
                  <a:lnTo>
                    <a:pt x="144" y="151"/>
                  </a:lnTo>
                  <a:lnTo>
                    <a:pt x="140" y="146"/>
                  </a:lnTo>
                  <a:lnTo>
                    <a:pt x="136" y="140"/>
                  </a:lnTo>
                  <a:lnTo>
                    <a:pt x="136" y="134"/>
                  </a:lnTo>
                  <a:lnTo>
                    <a:pt x="132" y="126"/>
                  </a:lnTo>
                  <a:lnTo>
                    <a:pt x="128" y="120"/>
                  </a:lnTo>
                  <a:lnTo>
                    <a:pt x="128" y="115"/>
                  </a:lnTo>
                  <a:lnTo>
                    <a:pt x="124" y="109"/>
                  </a:lnTo>
                  <a:lnTo>
                    <a:pt x="124" y="101"/>
                  </a:lnTo>
                  <a:lnTo>
                    <a:pt x="120" y="92"/>
                  </a:lnTo>
                  <a:lnTo>
                    <a:pt x="116" y="87"/>
                  </a:lnTo>
                  <a:lnTo>
                    <a:pt x="116" y="78"/>
                  </a:lnTo>
                  <a:lnTo>
                    <a:pt x="112" y="73"/>
                  </a:lnTo>
                  <a:lnTo>
                    <a:pt x="108" y="67"/>
                  </a:lnTo>
                  <a:lnTo>
                    <a:pt x="104" y="62"/>
                  </a:lnTo>
                  <a:lnTo>
                    <a:pt x="104" y="56"/>
                  </a:lnTo>
                  <a:lnTo>
                    <a:pt x="100" y="50"/>
                  </a:lnTo>
                  <a:lnTo>
                    <a:pt x="100" y="45"/>
                  </a:lnTo>
                  <a:lnTo>
                    <a:pt x="96" y="39"/>
                  </a:lnTo>
                  <a:lnTo>
                    <a:pt x="96" y="34"/>
                  </a:lnTo>
                  <a:lnTo>
                    <a:pt x="92" y="28"/>
                  </a:lnTo>
                  <a:lnTo>
                    <a:pt x="92" y="22"/>
                  </a:lnTo>
                  <a:lnTo>
                    <a:pt x="88" y="17"/>
                  </a:lnTo>
                  <a:lnTo>
                    <a:pt x="84" y="11"/>
                  </a:lnTo>
                  <a:lnTo>
                    <a:pt x="80" y="6"/>
                  </a:lnTo>
                  <a:lnTo>
                    <a:pt x="80" y="0"/>
                  </a:lnTo>
                  <a:lnTo>
                    <a:pt x="76" y="6"/>
                  </a:lnTo>
                  <a:lnTo>
                    <a:pt x="76" y="11"/>
                  </a:lnTo>
                  <a:lnTo>
                    <a:pt x="76" y="17"/>
                  </a:lnTo>
                  <a:lnTo>
                    <a:pt x="76" y="22"/>
                  </a:lnTo>
                  <a:lnTo>
                    <a:pt x="76" y="28"/>
                  </a:lnTo>
                  <a:lnTo>
                    <a:pt x="76" y="34"/>
                  </a:lnTo>
                  <a:lnTo>
                    <a:pt x="76" y="39"/>
                  </a:lnTo>
                  <a:lnTo>
                    <a:pt x="72" y="45"/>
                  </a:lnTo>
                  <a:lnTo>
                    <a:pt x="68" y="50"/>
                  </a:lnTo>
                  <a:lnTo>
                    <a:pt x="64" y="56"/>
                  </a:lnTo>
                  <a:lnTo>
                    <a:pt x="60" y="62"/>
                  </a:lnTo>
                  <a:lnTo>
                    <a:pt x="56" y="67"/>
                  </a:lnTo>
                  <a:lnTo>
                    <a:pt x="52" y="73"/>
                  </a:lnTo>
                  <a:lnTo>
                    <a:pt x="44" y="78"/>
                  </a:lnTo>
                  <a:lnTo>
                    <a:pt x="40" y="84"/>
                  </a:lnTo>
                  <a:lnTo>
                    <a:pt x="32" y="90"/>
                  </a:lnTo>
                  <a:lnTo>
                    <a:pt x="28" y="95"/>
                  </a:lnTo>
                  <a:lnTo>
                    <a:pt x="24" y="101"/>
                  </a:lnTo>
                  <a:lnTo>
                    <a:pt x="20" y="106"/>
                  </a:lnTo>
                  <a:lnTo>
                    <a:pt x="16" y="112"/>
                  </a:lnTo>
                  <a:lnTo>
                    <a:pt x="12" y="118"/>
                  </a:lnTo>
                  <a:lnTo>
                    <a:pt x="8" y="123"/>
                  </a:lnTo>
                  <a:lnTo>
                    <a:pt x="4" y="129"/>
                  </a:lnTo>
                  <a:lnTo>
                    <a:pt x="4" y="134"/>
                  </a:lnTo>
                  <a:lnTo>
                    <a:pt x="0" y="140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7"/>
                  </a:lnTo>
                  <a:lnTo>
                    <a:pt x="0" y="162"/>
                  </a:lnTo>
                  <a:lnTo>
                    <a:pt x="0" y="168"/>
                  </a:lnTo>
                  <a:lnTo>
                    <a:pt x="0" y="173"/>
                  </a:lnTo>
                  <a:lnTo>
                    <a:pt x="0" y="179"/>
                  </a:lnTo>
                  <a:lnTo>
                    <a:pt x="0" y="185"/>
                  </a:lnTo>
                  <a:lnTo>
                    <a:pt x="0" y="190"/>
                  </a:lnTo>
                  <a:lnTo>
                    <a:pt x="0" y="196"/>
                  </a:lnTo>
                  <a:lnTo>
                    <a:pt x="4" y="201"/>
                  </a:lnTo>
                  <a:lnTo>
                    <a:pt x="4" y="207"/>
                  </a:lnTo>
                  <a:lnTo>
                    <a:pt x="4" y="213"/>
                  </a:lnTo>
                  <a:lnTo>
                    <a:pt x="4" y="218"/>
                  </a:lnTo>
                  <a:lnTo>
                    <a:pt x="4" y="224"/>
                  </a:lnTo>
                  <a:lnTo>
                    <a:pt x="4" y="229"/>
                  </a:lnTo>
                  <a:lnTo>
                    <a:pt x="8" y="235"/>
                  </a:lnTo>
                  <a:lnTo>
                    <a:pt x="8" y="241"/>
                  </a:lnTo>
                  <a:lnTo>
                    <a:pt x="12" y="246"/>
                  </a:lnTo>
                  <a:lnTo>
                    <a:pt x="12" y="252"/>
                  </a:lnTo>
                  <a:lnTo>
                    <a:pt x="12" y="257"/>
                  </a:lnTo>
                  <a:lnTo>
                    <a:pt x="12" y="263"/>
                  </a:lnTo>
                  <a:lnTo>
                    <a:pt x="16" y="269"/>
                  </a:lnTo>
                  <a:lnTo>
                    <a:pt x="20" y="274"/>
                  </a:lnTo>
                  <a:lnTo>
                    <a:pt x="24" y="280"/>
                  </a:lnTo>
                  <a:lnTo>
                    <a:pt x="24" y="285"/>
                  </a:lnTo>
                </a:path>
              </a:pathLst>
            </a:custGeom>
            <a:solidFill>
              <a:srgbClr val="FF5008"/>
            </a:solidFill>
            <a:ln w="25400" cap="rnd">
              <a:solidFill>
                <a:srgbClr val="FE9B0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23" name="Freeform 70"/>
            <p:cNvSpPr>
              <a:spLocks/>
            </p:cNvSpPr>
            <p:nvPr/>
          </p:nvSpPr>
          <p:spPr bwMode="auto">
            <a:xfrm>
              <a:off x="2626" y="1127"/>
              <a:ext cx="309" cy="234"/>
            </a:xfrm>
            <a:custGeom>
              <a:avLst/>
              <a:gdLst>
                <a:gd name="T0" fmla="*/ 16261 w 232"/>
                <a:gd name="T1" fmla="*/ 1 h 313"/>
                <a:gd name="T2" fmla="*/ 17100 w 232"/>
                <a:gd name="T3" fmla="*/ 1 h 313"/>
                <a:gd name="T4" fmla="*/ 20382 w 232"/>
                <a:gd name="T5" fmla="*/ 1 h 313"/>
                <a:gd name="T6" fmla="*/ 23543 w 232"/>
                <a:gd name="T7" fmla="*/ 1 h 313"/>
                <a:gd name="T8" fmla="*/ 25935 w 232"/>
                <a:gd name="T9" fmla="*/ 1 h 313"/>
                <a:gd name="T10" fmla="*/ 28263 w 232"/>
                <a:gd name="T11" fmla="*/ 1 h 313"/>
                <a:gd name="T12" fmla="*/ 30797 w 232"/>
                <a:gd name="T13" fmla="*/ 1 h 313"/>
                <a:gd name="T14" fmla="*/ 33036 w 232"/>
                <a:gd name="T15" fmla="*/ 1 h 313"/>
                <a:gd name="T16" fmla="*/ 35299 w 232"/>
                <a:gd name="T17" fmla="*/ 1 h 313"/>
                <a:gd name="T18" fmla="*/ 37004 w 232"/>
                <a:gd name="T19" fmla="*/ 1 h 313"/>
                <a:gd name="T20" fmla="*/ 37859 w 232"/>
                <a:gd name="T21" fmla="*/ 1 h 313"/>
                <a:gd name="T22" fmla="*/ 39319 w 232"/>
                <a:gd name="T23" fmla="*/ 1 h 313"/>
                <a:gd name="T24" fmla="*/ 40183 w 232"/>
                <a:gd name="T25" fmla="*/ 1 h 313"/>
                <a:gd name="T26" fmla="*/ 39319 w 232"/>
                <a:gd name="T27" fmla="*/ 1 h 313"/>
                <a:gd name="T28" fmla="*/ 38420 w 232"/>
                <a:gd name="T29" fmla="*/ 1 h 313"/>
                <a:gd name="T30" fmla="*/ 37004 w 232"/>
                <a:gd name="T31" fmla="*/ 1 h 313"/>
                <a:gd name="T32" fmla="*/ 36157 w 232"/>
                <a:gd name="T33" fmla="*/ 1 h 313"/>
                <a:gd name="T34" fmla="*/ 35299 w 232"/>
                <a:gd name="T35" fmla="*/ 1 h 313"/>
                <a:gd name="T36" fmla="*/ 34663 w 232"/>
                <a:gd name="T37" fmla="*/ 1 h 313"/>
                <a:gd name="T38" fmla="*/ 33036 w 232"/>
                <a:gd name="T39" fmla="*/ 1 h 313"/>
                <a:gd name="T40" fmla="*/ 32164 w 232"/>
                <a:gd name="T41" fmla="*/ 1 h 313"/>
                <a:gd name="T42" fmla="*/ 31357 w 232"/>
                <a:gd name="T43" fmla="*/ 1 h 313"/>
                <a:gd name="T44" fmla="*/ 31515 w 232"/>
                <a:gd name="T45" fmla="*/ 1 h 313"/>
                <a:gd name="T46" fmla="*/ 29921 w 232"/>
                <a:gd name="T47" fmla="*/ 1 h 313"/>
                <a:gd name="T48" fmla="*/ 28263 w 232"/>
                <a:gd name="T49" fmla="*/ 1 h 313"/>
                <a:gd name="T50" fmla="*/ 27488 w 232"/>
                <a:gd name="T51" fmla="*/ 0 h 313"/>
                <a:gd name="T52" fmla="*/ 26788 w 232"/>
                <a:gd name="T53" fmla="*/ 1 h 313"/>
                <a:gd name="T54" fmla="*/ 26788 w 232"/>
                <a:gd name="T55" fmla="*/ 1 h 313"/>
                <a:gd name="T56" fmla="*/ 26788 w 232"/>
                <a:gd name="T57" fmla="*/ 1 h 313"/>
                <a:gd name="T58" fmla="*/ 25935 w 232"/>
                <a:gd name="T59" fmla="*/ 1 h 313"/>
                <a:gd name="T60" fmla="*/ 24149 w 232"/>
                <a:gd name="T61" fmla="*/ 1 h 313"/>
                <a:gd name="T62" fmla="*/ 22775 w 232"/>
                <a:gd name="T63" fmla="*/ 1 h 313"/>
                <a:gd name="T64" fmla="*/ 20382 w 232"/>
                <a:gd name="T65" fmla="*/ 1 h 313"/>
                <a:gd name="T66" fmla="*/ 17815 w 232"/>
                <a:gd name="T67" fmla="*/ 1 h 313"/>
                <a:gd name="T68" fmla="*/ 16261 w 232"/>
                <a:gd name="T69" fmla="*/ 1 h 313"/>
                <a:gd name="T70" fmla="*/ 14816 w 232"/>
                <a:gd name="T71" fmla="*/ 1 h 313"/>
                <a:gd name="T72" fmla="*/ 13271 w 232"/>
                <a:gd name="T73" fmla="*/ 1 h 313"/>
                <a:gd name="T74" fmla="*/ 12479 w 232"/>
                <a:gd name="T75" fmla="*/ 1 h 313"/>
                <a:gd name="T76" fmla="*/ 11634 w 232"/>
                <a:gd name="T77" fmla="*/ 1 h 313"/>
                <a:gd name="T78" fmla="*/ 11634 w 232"/>
                <a:gd name="T79" fmla="*/ 1 h 313"/>
                <a:gd name="T80" fmla="*/ 11634 w 232"/>
                <a:gd name="T81" fmla="*/ 1 h 313"/>
                <a:gd name="T82" fmla="*/ 11634 w 232"/>
                <a:gd name="T83" fmla="*/ 1 h 313"/>
                <a:gd name="T84" fmla="*/ 11634 w 232"/>
                <a:gd name="T85" fmla="*/ 1 h 313"/>
                <a:gd name="T86" fmla="*/ 12479 w 232"/>
                <a:gd name="T87" fmla="*/ 1 h 313"/>
                <a:gd name="T88" fmla="*/ 12479 w 232"/>
                <a:gd name="T89" fmla="*/ 1 h 313"/>
                <a:gd name="T90" fmla="*/ 12479 w 232"/>
                <a:gd name="T91" fmla="*/ 1 h 313"/>
                <a:gd name="T92" fmla="*/ 13271 w 232"/>
                <a:gd name="T93" fmla="*/ 1 h 313"/>
                <a:gd name="T94" fmla="*/ 13982 w 232"/>
                <a:gd name="T95" fmla="*/ 1 h 313"/>
                <a:gd name="T96" fmla="*/ 13982 w 232"/>
                <a:gd name="T97" fmla="*/ 1 h 313"/>
                <a:gd name="T98" fmla="*/ 14816 w 232"/>
                <a:gd name="T99" fmla="*/ 1 h 313"/>
                <a:gd name="T100" fmla="*/ 16261 w 232"/>
                <a:gd name="T101" fmla="*/ 1 h 31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32"/>
                <a:gd name="T154" fmla="*/ 0 h 313"/>
                <a:gd name="T155" fmla="*/ 232 w 232"/>
                <a:gd name="T156" fmla="*/ 313 h 31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32" h="313">
                  <a:moveTo>
                    <a:pt x="94" y="312"/>
                  </a:moveTo>
                  <a:lnTo>
                    <a:pt x="94" y="306"/>
                  </a:lnTo>
                  <a:lnTo>
                    <a:pt x="94" y="300"/>
                  </a:lnTo>
                  <a:lnTo>
                    <a:pt x="98" y="294"/>
                  </a:lnTo>
                  <a:lnTo>
                    <a:pt x="108" y="285"/>
                  </a:lnTo>
                  <a:lnTo>
                    <a:pt x="117" y="282"/>
                  </a:lnTo>
                  <a:lnTo>
                    <a:pt x="0" y="276"/>
                  </a:lnTo>
                  <a:lnTo>
                    <a:pt x="135" y="267"/>
                  </a:lnTo>
                  <a:lnTo>
                    <a:pt x="144" y="261"/>
                  </a:lnTo>
                  <a:lnTo>
                    <a:pt x="149" y="255"/>
                  </a:lnTo>
                  <a:lnTo>
                    <a:pt x="158" y="252"/>
                  </a:lnTo>
                  <a:lnTo>
                    <a:pt x="162" y="246"/>
                  </a:lnTo>
                  <a:lnTo>
                    <a:pt x="167" y="240"/>
                  </a:lnTo>
                  <a:lnTo>
                    <a:pt x="177" y="237"/>
                  </a:lnTo>
                  <a:lnTo>
                    <a:pt x="185" y="231"/>
                  </a:lnTo>
                  <a:lnTo>
                    <a:pt x="190" y="225"/>
                  </a:lnTo>
                  <a:lnTo>
                    <a:pt x="200" y="222"/>
                  </a:lnTo>
                  <a:lnTo>
                    <a:pt x="203" y="216"/>
                  </a:lnTo>
                  <a:lnTo>
                    <a:pt x="208" y="210"/>
                  </a:lnTo>
                  <a:lnTo>
                    <a:pt x="213" y="204"/>
                  </a:lnTo>
                  <a:lnTo>
                    <a:pt x="218" y="198"/>
                  </a:lnTo>
                  <a:lnTo>
                    <a:pt x="218" y="192"/>
                  </a:lnTo>
                  <a:lnTo>
                    <a:pt x="221" y="186"/>
                  </a:lnTo>
                  <a:lnTo>
                    <a:pt x="226" y="180"/>
                  </a:lnTo>
                  <a:lnTo>
                    <a:pt x="226" y="174"/>
                  </a:lnTo>
                  <a:lnTo>
                    <a:pt x="231" y="168"/>
                  </a:lnTo>
                  <a:lnTo>
                    <a:pt x="231" y="162"/>
                  </a:lnTo>
                  <a:lnTo>
                    <a:pt x="226" y="156"/>
                  </a:lnTo>
                  <a:lnTo>
                    <a:pt x="221" y="150"/>
                  </a:lnTo>
                  <a:lnTo>
                    <a:pt x="221" y="144"/>
                  </a:lnTo>
                  <a:lnTo>
                    <a:pt x="218" y="135"/>
                  </a:lnTo>
                  <a:lnTo>
                    <a:pt x="213" y="129"/>
                  </a:lnTo>
                  <a:lnTo>
                    <a:pt x="213" y="123"/>
                  </a:lnTo>
                  <a:lnTo>
                    <a:pt x="208" y="118"/>
                  </a:lnTo>
                  <a:lnTo>
                    <a:pt x="208" y="108"/>
                  </a:lnTo>
                  <a:lnTo>
                    <a:pt x="203" y="99"/>
                  </a:lnTo>
                  <a:lnTo>
                    <a:pt x="200" y="93"/>
                  </a:lnTo>
                  <a:lnTo>
                    <a:pt x="200" y="84"/>
                  </a:lnTo>
                  <a:lnTo>
                    <a:pt x="195" y="78"/>
                  </a:lnTo>
                  <a:lnTo>
                    <a:pt x="190" y="72"/>
                  </a:lnTo>
                  <a:lnTo>
                    <a:pt x="185" y="66"/>
                  </a:lnTo>
                  <a:lnTo>
                    <a:pt x="185" y="60"/>
                  </a:lnTo>
                  <a:lnTo>
                    <a:pt x="180" y="54"/>
                  </a:lnTo>
                  <a:lnTo>
                    <a:pt x="180" y="48"/>
                  </a:lnTo>
                  <a:lnTo>
                    <a:pt x="177" y="42"/>
                  </a:lnTo>
                  <a:lnTo>
                    <a:pt x="181" y="100"/>
                  </a:lnTo>
                  <a:lnTo>
                    <a:pt x="172" y="30"/>
                  </a:lnTo>
                  <a:lnTo>
                    <a:pt x="172" y="24"/>
                  </a:lnTo>
                  <a:lnTo>
                    <a:pt x="167" y="18"/>
                  </a:lnTo>
                  <a:lnTo>
                    <a:pt x="162" y="12"/>
                  </a:lnTo>
                  <a:lnTo>
                    <a:pt x="158" y="6"/>
                  </a:lnTo>
                  <a:lnTo>
                    <a:pt x="158" y="0"/>
                  </a:lnTo>
                  <a:lnTo>
                    <a:pt x="100" y="122"/>
                  </a:lnTo>
                  <a:lnTo>
                    <a:pt x="154" y="12"/>
                  </a:lnTo>
                  <a:lnTo>
                    <a:pt x="154" y="18"/>
                  </a:lnTo>
                  <a:lnTo>
                    <a:pt x="154" y="24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4" y="42"/>
                  </a:lnTo>
                  <a:lnTo>
                    <a:pt x="149" y="48"/>
                  </a:lnTo>
                  <a:lnTo>
                    <a:pt x="144" y="54"/>
                  </a:lnTo>
                  <a:lnTo>
                    <a:pt x="139" y="60"/>
                  </a:lnTo>
                  <a:lnTo>
                    <a:pt x="135" y="66"/>
                  </a:lnTo>
                  <a:lnTo>
                    <a:pt x="131" y="72"/>
                  </a:lnTo>
                  <a:lnTo>
                    <a:pt x="126" y="78"/>
                  </a:lnTo>
                  <a:lnTo>
                    <a:pt x="117" y="84"/>
                  </a:lnTo>
                  <a:lnTo>
                    <a:pt x="112" y="90"/>
                  </a:lnTo>
                  <a:lnTo>
                    <a:pt x="103" y="96"/>
                  </a:lnTo>
                  <a:lnTo>
                    <a:pt x="98" y="102"/>
                  </a:lnTo>
                  <a:lnTo>
                    <a:pt x="94" y="108"/>
                  </a:lnTo>
                  <a:lnTo>
                    <a:pt x="89" y="114"/>
                  </a:lnTo>
                  <a:lnTo>
                    <a:pt x="85" y="120"/>
                  </a:lnTo>
                  <a:lnTo>
                    <a:pt x="80" y="126"/>
                  </a:lnTo>
                  <a:lnTo>
                    <a:pt x="76" y="132"/>
                  </a:lnTo>
                  <a:lnTo>
                    <a:pt x="71" y="138"/>
                  </a:lnTo>
                  <a:lnTo>
                    <a:pt x="71" y="144"/>
                  </a:lnTo>
                  <a:lnTo>
                    <a:pt x="67" y="150"/>
                  </a:lnTo>
                  <a:lnTo>
                    <a:pt x="67" y="156"/>
                  </a:lnTo>
                  <a:lnTo>
                    <a:pt x="67" y="162"/>
                  </a:lnTo>
                  <a:lnTo>
                    <a:pt x="67" y="168"/>
                  </a:lnTo>
                  <a:lnTo>
                    <a:pt x="67" y="174"/>
                  </a:lnTo>
                  <a:lnTo>
                    <a:pt x="67" y="180"/>
                  </a:lnTo>
                  <a:lnTo>
                    <a:pt x="67" y="186"/>
                  </a:lnTo>
                  <a:lnTo>
                    <a:pt x="67" y="192"/>
                  </a:lnTo>
                  <a:lnTo>
                    <a:pt x="67" y="198"/>
                  </a:lnTo>
                  <a:lnTo>
                    <a:pt x="67" y="204"/>
                  </a:lnTo>
                  <a:lnTo>
                    <a:pt x="67" y="210"/>
                  </a:lnTo>
                  <a:lnTo>
                    <a:pt x="71" y="216"/>
                  </a:lnTo>
                  <a:lnTo>
                    <a:pt x="71" y="222"/>
                  </a:lnTo>
                  <a:lnTo>
                    <a:pt x="71" y="228"/>
                  </a:lnTo>
                  <a:lnTo>
                    <a:pt x="71" y="234"/>
                  </a:lnTo>
                  <a:lnTo>
                    <a:pt x="71" y="240"/>
                  </a:lnTo>
                  <a:lnTo>
                    <a:pt x="71" y="246"/>
                  </a:lnTo>
                  <a:lnTo>
                    <a:pt x="76" y="252"/>
                  </a:lnTo>
                  <a:lnTo>
                    <a:pt x="76" y="258"/>
                  </a:lnTo>
                  <a:lnTo>
                    <a:pt x="80" y="264"/>
                  </a:lnTo>
                  <a:lnTo>
                    <a:pt x="80" y="270"/>
                  </a:lnTo>
                  <a:lnTo>
                    <a:pt x="80" y="276"/>
                  </a:lnTo>
                  <a:lnTo>
                    <a:pt x="80" y="282"/>
                  </a:lnTo>
                  <a:lnTo>
                    <a:pt x="85" y="288"/>
                  </a:lnTo>
                  <a:lnTo>
                    <a:pt x="89" y="294"/>
                  </a:lnTo>
                  <a:lnTo>
                    <a:pt x="94" y="300"/>
                  </a:lnTo>
                  <a:lnTo>
                    <a:pt x="94" y="306"/>
                  </a:lnTo>
                </a:path>
              </a:pathLst>
            </a:custGeom>
            <a:solidFill>
              <a:srgbClr val="FF6600"/>
            </a:solidFill>
            <a:ln w="25400" cap="rnd">
              <a:solidFill>
                <a:srgbClr val="FAFD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24" name="Freeform 71"/>
            <p:cNvSpPr>
              <a:spLocks/>
            </p:cNvSpPr>
            <p:nvPr/>
          </p:nvSpPr>
          <p:spPr bwMode="auto">
            <a:xfrm>
              <a:off x="2731" y="1198"/>
              <a:ext cx="252" cy="218"/>
            </a:xfrm>
            <a:custGeom>
              <a:avLst/>
              <a:gdLst>
                <a:gd name="T0" fmla="*/ 5424 w 189"/>
                <a:gd name="T1" fmla="*/ 1 h 291"/>
                <a:gd name="T2" fmla="*/ 6540 w 189"/>
                <a:gd name="T3" fmla="*/ 1 h 291"/>
                <a:gd name="T4" fmla="*/ 10111 w 189"/>
                <a:gd name="T5" fmla="*/ 1 h 291"/>
                <a:gd name="T6" fmla="*/ 13852 w 189"/>
                <a:gd name="T7" fmla="*/ 1 h 291"/>
                <a:gd name="T8" fmla="*/ 16671 w 189"/>
                <a:gd name="T9" fmla="*/ 1 h 291"/>
                <a:gd name="T10" fmla="*/ 19535 w 189"/>
                <a:gd name="T11" fmla="*/ 1 h 291"/>
                <a:gd name="T12" fmla="*/ 22228 w 189"/>
                <a:gd name="T13" fmla="*/ 1 h 291"/>
                <a:gd name="T14" fmla="*/ 25087 w 189"/>
                <a:gd name="T15" fmla="*/ 1 h 291"/>
                <a:gd name="T16" fmla="*/ 27817 w 189"/>
                <a:gd name="T17" fmla="*/ 1 h 291"/>
                <a:gd name="T18" fmla="*/ 29637 w 189"/>
                <a:gd name="T19" fmla="*/ 1 h 291"/>
                <a:gd name="T20" fmla="*/ 30476 w 189"/>
                <a:gd name="T21" fmla="*/ 1 h 291"/>
                <a:gd name="T22" fmla="*/ 32368 w 189"/>
                <a:gd name="T23" fmla="*/ 1 h 291"/>
                <a:gd name="T24" fmla="*/ 33449 w 189"/>
                <a:gd name="T25" fmla="*/ 1 h 291"/>
                <a:gd name="T26" fmla="*/ 32368 w 189"/>
                <a:gd name="T27" fmla="*/ 1 h 291"/>
                <a:gd name="T28" fmla="*/ 31468 w 189"/>
                <a:gd name="T29" fmla="*/ 1 h 291"/>
                <a:gd name="T30" fmla="*/ 29637 w 189"/>
                <a:gd name="T31" fmla="*/ 1 h 291"/>
                <a:gd name="T32" fmla="*/ 28769 w 189"/>
                <a:gd name="T33" fmla="*/ 1 h 291"/>
                <a:gd name="T34" fmla="*/ 27817 w 189"/>
                <a:gd name="T35" fmla="*/ 1 h 291"/>
                <a:gd name="T36" fmla="*/ 26729 w 189"/>
                <a:gd name="T37" fmla="*/ 1 h 291"/>
                <a:gd name="T38" fmla="*/ 25087 w 189"/>
                <a:gd name="T39" fmla="*/ 1 h 291"/>
                <a:gd name="T40" fmla="*/ 24023 w 189"/>
                <a:gd name="T41" fmla="*/ 1 h 291"/>
                <a:gd name="T42" fmla="*/ 23284 w 189"/>
                <a:gd name="T43" fmla="*/ 1 h 291"/>
                <a:gd name="T44" fmla="*/ 22228 w 189"/>
                <a:gd name="T45" fmla="*/ 1 h 291"/>
                <a:gd name="T46" fmla="*/ 21241 w 189"/>
                <a:gd name="T47" fmla="*/ 1 h 291"/>
                <a:gd name="T48" fmla="*/ 19535 w 189"/>
                <a:gd name="T49" fmla="*/ 1 h 291"/>
                <a:gd name="T50" fmla="*/ 18469 w 189"/>
                <a:gd name="T51" fmla="*/ 0 h 291"/>
                <a:gd name="T52" fmla="*/ 17535 w 189"/>
                <a:gd name="T53" fmla="*/ 1 h 291"/>
                <a:gd name="T54" fmla="*/ 17535 w 189"/>
                <a:gd name="T55" fmla="*/ 1 h 291"/>
                <a:gd name="T56" fmla="*/ 17535 w 189"/>
                <a:gd name="T57" fmla="*/ 1 h 291"/>
                <a:gd name="T58" fmla="*/ 16671 w 189"/>
                <a:gd name="T59" fmla="*/ 1 h 291"/>
                <a:gd name="T60" fmla="*/ 14864 w 189"/>
                <a:gd name="T61" fmla="*/ 1 h 291"/>
                <a:gd name="T62" fmla="*/ 12857 w 189"/>
                <a:gd name="T63" fmla="*/ 1 h 291"/>
                <a:gd name="T64" fmla="*/ 10111 w 189"/>
                <a:gd name="T65" fmla="*/ 1 h 291"/>
                <a:gd name="T66" fmla="*/ 7461 w 189"/>
                <a:gd name="T67" fmla="*/ 1 h 291"/>
                <a:gd name="T68" fmla="*/ 5424 w 189"/>
                <a:gd name="T69" fmla="*/ 1 h 291"/>
                <a:gd name="T70" fmla="*/ 3679 w 189"/>
                <a:gd name="T71" fmla="*/ 1 h 291"/>
                <a:gd name="T72" fmla="*/ 1716 w 189"/>
                <a:gd name="T73" fmla="*/ 1 h 291"/>
                <a:gd name="T74" fmla="*/ 873 w 189"/>
                <a:gd name="T75" fmla="*/ 1 h 291"/>
                <a:gd name="T76" fmla="*/ 0 w 189"/>
                <a:gd name="T77" fmla="*/ 1 h 291"/>
                <a:gd name="T78" fmla="*/ 0 w 189"/>
                <a:gd name="T79" fmla="*/ 1 h 291"/>
                <a:gd name="T80" fmla="*/ 0 w 189"/>
                <a:gd name="T81" fmla="*/ 1 h 291"/>
                <a:gd name="T82" fmla="*/ 0 w 189"/>
                <a:gd name="T83" fmla="*/ 1 h 291"/>
                <a:gd name="T84" fmla="*/ 0 w 189"/>
                <a:gd name="T85" fmla="*/ 1 h 291"/>
                <a:gd name="T86" fmla="*/ 873 w 189"/>
                <a:gd name="T87" fmla="*/ 1 h 291"/>
                <a:gd name="T88" fmla="*/ 873 w 189"/>
                <a:gd name="T89" fmla="*/ 1 h 291"/>
                <a:gd name="T90" fmla="*/ 873 w 189"/>
                <a:gd name="T91" fmla="*/ 1 h 291"/>
                <a:gd name="T92" fmla="*/ 1716 w 189"/>
                <a:gd name="T93" fmla="*/ 1 h 291"/>
                <a:gd name="T94" fmla="*/ 2759 w 189"/>
                <a:gd name="T95" fmla="*/ 1 h 291"/>
                <a:gd name="T96" fmla="*/ 2759 w 189"/>
                <a:gd name="T97" fmla="*/ 1 h 291"/>
                <a:gd name="T98" fmla="*/ 3679 w 189"/>
                <a:gd name="T99" fmla="*/ 1 h 291"/>
                <a:gd name="T100" fmla="*/ 5424 w 189"/>
                <a:gd name="T101" fmla="*/ 1 h 29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89"/>
                <a:gd name="T154" fmla="*/ 0 h 291"/>
                <a:gd name="T155" fmla="*/ 189 w 189"/>
                <a:gd name="T156" fmla="*/ 291 h 29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89" h="291">
                  <a:moveTo>
                    <a:pt x="31" y="290"/>
                  </a:moveTo>
                  <a:lnTo>
                    <a:pt x="31" y="284"/>
                  </a:lnTo>
                  <a:lnTo>
                    <a:pt x="31" y="279"/>
                  </a:lnTo>
                  <a:lnTo>
                    <a:pt x="37" y="273"/>
                  </a:lnTo>
                  <a:lnTo>
                    <a:pt x="47" y="265"/>
                  </a:lnTo>
                  <a:lnTo>
                    <a:pt x="57" y="262"/>
                  </a:lnTo>
                  <a:lnTo>
                    <a:pt x="68" y="257"/>
                  </a:lnTo>
                  <a:lnTo>
                    <a:pt x="78" y="248"/>
                  </a:lnTo>
                  <a:lnTo>
                    <a:pt x="89" y="243"/>
                  </a:lnTo>
                  <a:lnTo>
                    <a:pt x="94" y="237"/>
                  </a:lnTo>
                  <a:lnTo>
                    <a:pt x="104" y="234"/>
                  </a:lnTo>
                  <a:lnTo>
                    <a:pt x="110" y="229"/>
                  </a:lnTo>
                  <a:lnTo>
                    <a:pt x="115" y="223"/>
                  </a:lnTo>
                  <a:lnTo>
                    <a:pt x="125" y="220"/>
                  </a:lnTo>
                  <a:lnTo>
                    <a:pt x="136" y="215"/>
                  </a:lnTo>
                  <a:lnTo>
                    <a:pt x="141" y="209"/>
                  </a:lnTo>
                  <a:lnTo>
                    <a:pt x="151" y="206"/>
                  </a:lnTo>
                  <a:lnTo>
                    <a:pt x="157" y="201"/>
                  </a:lnTo>
                  <a:lnTo>
                    <a:pt x="162" y="195"/>
                  </a:lnTo>
                  <a:lnTo>
                    <a:pt x="167" y="190"/>
                  </a:lnTo>
                  <a:lnTo>
                    <a:pt x="172" y="184"/>
                  </a:lnTo>
                  <a:lnTo>
                    <a:pt x="172" y="178"/>
                  </a:lnTo>
                  <a:lnTo>
                    <a:pt x="178" y="173"/>
                  </a:lnTo>
                  <a:lnTo>
                    <a:pt x="183" y="167"/>
                  </a:lnTo>
                  <a:lnTo>
                    <a:pt x="183" y="162"/>
                  </a:lnTo>
                  <a:lnTo>
                    <a:pt x="188" y="156"/>
                  </a:lnTo>
                  <a:lnTo>
                    <a:pt x="188" y="151"/>
                  </a:lnTo>
                  <a:lnTo>
                    <a:pt x="183" y="145"/>
                  </a:lnTo>
                  <a:lnTo>
                    <a:pt x="178" y="139"/>
                  </a:lnTo>
                  <a:lnTo>
                    <a:pt x="178" y="134"/>
                  </a:lnTo>
                  <a:lnTo>
                    <a:pt x="172" y="125"/>
                  </a:lnTo>
                  <a:lnTo>
                    <a:pt x="167" y="120"/>
                  </a:lnTo>
                  <a:lnTo>
                    <a:pt x="167" y="114"/>
                  </a:lnTo>
                  <a:lnTo>
                    <a:pt x="162" y="109"/>
                  </a:lnTo>
                  <a:lnTo>
                    <a:pt x="162" y="100"/>
                  </a:lnTo>
                  <a:lnTo>
                    <a:pt x="157" y="92"/>
                  </a:lnTo>
                  <a:lnTo>
                    <a:pt x="151" y="86"/>
                  </a:lnTo>
                  <a:lnTo>
                    <a:pt x="151" y="78"/>
                  </a:lnTo>
                  <a:lnTo>
                    <a:pt x="146" y="73"/>
                  </a:lnTo>
                  <a:lnTo>
                    <a:pt x="141" y="67"/>
                  </a:lnTo>
                  <a:lnTo>
                    <a:pt x="136" y="61"/>
                  </a:lnTo>
                  <a:lnTo>
                    <a:pt x="136" y="56"/>
                  </a:lnTo>
                  <a:lnTo>
                    <a:pt x="131" y="50"/>
                  </a:lnTo>
                  <a:lnTo>
                    <a:pt x="131" y="45"/>
                  </a:lnTo>
                  <a:lnTo>
                    <a:pt x="125" y="39"/>
                  </a:lnTo>
                  <a:lnTo>
                    <a:pt x="125" y="33"/>
                  </a:lnTo>
                  <a:lnTo>
                    <a:pt x="120" y="28"/>
                  </a:lnTo>
                  <a:lnTo>
                    <a:pt x="120" y="22"/>
                  </a:lnTo>
                  <a:lnTo>
                    <a:pt x="115" y="17"/>
                  </a:lnTo>
                  <a:lnTo>
                    <a:pt x="110" y="11"/>
                  </a:lnTo>
                  <a:lnTo>
                    <a:pt x="104" y="6"/>
                  </a:lnTo>
                  <a:lnTo>
                    <a:pt x="104" y="0"/>
                  </a:lnTo>
                  <a:lnTo>
                    <a:pt x="99" y="6"/>
                  </a:lnTo>
                  <a:lnTo>
                    <a:pt x="99" y="11"/>
                  </a:lnTo>
                  <a:lnTo>
                    <a:pt x="99" y="17"/>
                  </a:lnTo>
                  <a:lnTo>
                    <a:pt x="99" y="22"/>
                  </a:lnTo>
                  <a:lnTo>
                    <a:pt x="99" y="28"/>
                  </a:lnTo>
                  <a:lnTo>
                    <a:pt x="99" y="33"/>
                  </a:lnTo>
                  <a:lnTo>
                    <a:pt x="99" y="39"/>
                  </a:lnTo>
                  <a:lnTo>
                    <a:pt x="94" y="45"/>
                  </a:lnTo>
                  <a:lnTo>
                    <a:pt x="89" y="50"/>
                  </a:lnTo>
                  <a:lnTo>
                    <a:pt x="84" y="56"/>
                  </a:lnTo>
                  <a:lnTo>
                    <a:pt x="78" y="61"/>
                  </a:lnTo>
                  <a:lnTo>
                    <a:pt x="73" y="67"/>
                  </a:lnTo>
                  <a:lnTo>
                    <a:pt x="68" y="73"/>
                  </a:lnTo>
                  <a:lnTo>
                    <a:pt x="57" y="78"/>
                  </a:lnTo>
                  <a:lnTo>
                    <a:pt x="52" y="84"/>
                  </a:lnTo>
                  <a:lnTo>
                    <a:pt x="42" y="89"/>
                  </a:lnTo>
                  <a:lnTo>
                    <a:pt x="37" y="95"/>
                  </a:lnTo>
                  <a:lnTo>
                    <a:pt x="31" y="100"/>
                  </a:lnTo>
                  <a:lnTo>
                    <a:pt x="26" y="106"/>
                  </a:lnTo>
                  <a:lnTo>
                    <a:pt x="21" y="112"/>
                  </a:lnTo>
                  <a:lnTo>
                    <a:pt x="16" y="117"/>
                  </a:lnTo>
                  <a:lnTo>
                    <a:pt x="10" y="123"/>
                  </a:lnTo>
                  <a:lnTo>
                    <a:pt x="5" y="128"/>
                  </a:lnTo>
                  <a:lnTo>
                    <a:pt x="5" y="134"/>
                  </a:lnTo>
                  <a:lnTo>
                    <a:pt x="0" y="139"/>
                  </a:lnTo>
                  <a:lnTo>
                    <a:pt x="0" y="145"/>
                  </a:lnTo>
                  <a:lnTo>
                    <a:pt x="0" y="151"/>
                  </a:lnTo>
                  <a:lnTo>
                    <a:pt x="0" y="156"/>
                  </a:lnTo>
                  <a:lnTo>
                    <a:pt x="0" y="162"/>
                  </a:lnTo>
                  <a:lnTo>
                    <a:pt x="0" y="167"/>
                  </a:lnTo>
                  <a:lnTo>
                    <a:pt x="0" y="173"/>
                  </a:lnTo>
                  <a:lnTo>
                    <a:pt x="0" y="178"/>
                  </a:lnTo>
                  <a:lnTo>
                    <a:pt x="0" y="184"/>
                  </a:lnTo>
                  <a:lnTo>
                    <a:pt x="0" y="190"/>
                  </a:lnTo>
                  <a:lnTo>
                    <a:pt x="0" y="195"/>
                  </a:lnTo>
                  <a:lnTo>
                    <a:pt x="5" y="201"/>
                  </a:lnTo>
                  <a:lnTo>
                    <a:pt x="5" y="206"/>
                  </a:lnTo>
                  <a:lnTo>
                    <a:pt x="5" y="212"/>
                  </a:lnTo>
                  <a:lnTo>
                    <a:pt x="5" y="218"/>
                  </a:lnTo>
                  <a:lnTo>
                    <a:pt x="5" y="223"/>
                  </a:lnTo>
                  <a:lnTo>
                    <a:pt x="5" y="229"/>
                  </a:lnTo>
                  <a:lnTo>
                    <a:pt x="10" y="234"/>
                  </a:lnTo>
                  <a:lnTo>
                    <a:pt x="10" y="240"/>
                  </a:lnTo>
                  <a:lnTo>
                    <a:pt x="16" y="245"/>
                  </a:lnTo>
                  <a:lnTo>
                    <a:pt x="16" y="251"/>
                  </a:lnTo>
                  <a:lnTo>
                    <a:pt x="16" y="257"/>
                  </a:lnTo>
                  <a:lnTo>
                    <a:pt x="16" y="262"/>
                  </a:lnTo>
                  <a:lnTo>
                    <a:pt x="21" y="268"/>
                  </a:lnTo>
                  <a:lnTo>
                    <a:pt x="26" y="273"/>
                  </a:lnTo>
                  <a:lnTo>
                    <a:pt x="31" y="279"/>
                  </a:lnTo>
                  <a:lnTo>
                    <a:pt x="31" y="284"/>
                  </a:lnTo>
                </a:path>
              </a:pathLst>
            </a:custGeom>
            <a:solidFill>
              <a:srgbClr val="FF5008"/>
            </a:solidFill>
            <a:ln w="25400" cap="rnd">
              <a:solidFill>
                <a:srgbClr val="FE9B0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25" name="Freeform 72"/>
            <p:cNvSpPr>
              <a:spLocks/>
            </p:cNvSpPr>
            <p:nvPr/>
          </p:nvSpPr>
          <p:spPr bwMode="auto">
            <a:xfrm>
              <a:off x="2592" y="1152"/>
              <a:ext cx="226" cy="267"/>
            </a:xfrm>
            <a:custGeom>
              <a:avLst/>
              <a:gdLst>
                <a:gd name="T0" fmla="*/ 23702 w 170"/>
                <a:gd name="T1" fmla="*/ 2 h 356"/>
                <a:gd name="T2" fmla="*/ 22877 w 170"/>
                <a:gd name="T3" fmla="*/ 2 h 356"/>
                <a:gd name="T4" fmla="*/ 19720 w 170"/>
                <a:gd name="T5" fmla="*/ 2 h 356"/>
                <a:gd name="T6" fmla="*/ 16705 w 170"/>
                <a:gd name="T7" fmla="*/ 2 h 356"/>
                <a:gd name="T8" fmla="*/ 14255 w 170"/>
                <a:gd name="T9" fmla="*/ 2 h 356"/>
                <a:gd name="T10" fmla="*/ 11783 w 170"/>
                <a:gd name="T11" fmla="*/ 2 h 356"/>
                <a:gd name="T12" fmla="*/ 9330 w 170"/>
                <a:gd name="T13" fmla="*/ 2 h 356"/>
                <a:gd name="T14" fmla="*/ 7018 w 170"/>
                <a:gd name="T15" fmla="*/ 2 h 356"/>
                <a:gd name="T16" fmla="*/ 4648 w 170"/>
                <a:gd name="T17" fmla="*/ 2 h 356"/>
                <a:gd name="T18" fmla="*/ 3117 w 170"/>
                <a:gd name="T19" fmla="*/ 2 h 356"/>
                <a:gd name="T20" fmla="*/ 2345 w 170"/>
                <a:gd name="T21" fmla="*/ 2 h 356"/>
                <a:gd name="T22" fmla="*/ 842 w 170"/>
                <a:gd name="T23" fmla="*/ 2 h 356"/>
                <a:gd name="T24" fmla="*/ 0 w 170"/>
                <a:gd name="T25" fmla="*/ 2 h 356"/>
                <a:gd name="T26" fmla="*/ 842 w 170"/>
                <a:gd name="T27" fmla="*/ 2 h 356"/>
                <a:gd name="T28" fmla="*/ 1488 w 170"/>
                <a:gd name="T29" fmla="*/ 2 h 356"/>
                <a:gd name="T30" fmla="*/ 3117 w 170"/>
                <a:gd name="T31" fmla="*/ 2 h 356"/>
                <a:gd name="T32" fmla="*/ 3916 w 170"/>
                <a:gd name="T33" fmla="*/ 2 h 356"/>
                <a:gd name="T34" fmla="*/ 4648 w 170"/>
                <a:gd name="T35" fmla="*/ 2 h 356"/>
                <a:gd name="T36" fmla="*/ 5509 w 170"/>
                <a:gd name="T37" fmla="*/ 2 h 356"/>
                <a:gd name="T38" fmla="*/ 7018 w 170"/>
                <a:gd name="T39" fmla="*/ 2 h 356"/>
                <a:gd name="T40" fmla="*/ 7844 w 170"/>
                <a:gd name="T41" fmla="*/ 2 h 356"/>
                <a:gd name="T42" fmla="*/ 8702 w 170"/>
                <a:gd name="T43" fmla="*/ 2 h 356"/>
                <a:gd name="T44" fmla="*/ 9330 w 170"/>
                <a:gd name="T45" fmla="*/ 2 h 356"/>
                <a:gd name="T46" fmla="*/ 10300 w 170"/>
                <a:gd name="T47" fmla="*/ 2 h 356"/>
                <a:gd name="T48" fmla="*/ 11783 w 170"/>
                <a:gd name="T49" fmla="*/ 2 h 356"/>
                <a:gd name="T50" fmla="*/ 12668 w 170"/>
                <a:gd name="T51" fmla="*/ 0 h 356"/>
                <a:gd name="T52" fmla="*/ 13411 w 170"/>
                <a:gd name="T53" fmla="*/ 2 h 356"/>
                <a:gd name="T54" fmla="*/ 13411 w 170"/>
                <a:gd name="T55" fmla="*/ 2 h 356"/>
                <a:gd name="T56" fmla="*/ 13411 w 170"/>
                <a:gd name="T57" fmla="*/ 2 h 356"/>
                <a:gd name="T58" fmla="*/ 14255 w 170"/>
                <a:gd name="T59" fmla="*/ 2 h 356"/>
                <a:gd name="T60" fmla="*/ 15855 w 170"/>
                <a:gd name="T61" fmla="*/ 2 h 356"/>
                <a:gd name="T62" fmla="*/ 17330 w 170"/>
                <a:gd name="T63" fmla="*/ 2 h 356"/>
                <a:gd name="T64" fmla="*/ 19720 w 170"/>
                <a:gd name="T65" fmla="*/ 2 h 356"/>
                <a:gd name="T66" fmla="*/ 21982 w 170"/>
                <a:gd name="T67" fmla="*/ 2 h 356"/>
                <a:gd name="T68" fmla="*/ 23702 w 170"/>
                <a:gd name="T69" fmla="*/ 2 h 356"/>
                <a:gd name="T70" fmla="*/ 25194 w 170"/>
                <a:gd name="T71" fmla="*/ 2 h 356"/>
                <a:gd name="T72" fmla="*/ 26939 w 170"/>
                <a:gd name="T73" fmla="*/ 2 h 356"/>
                <a:gd name="T74" fmla="*/ 27640 w 170"/>
                <a:gd name="T75" fmla="*/ 2 h 356"/>
                <a:gd name="T76" fmla="*/ 28424 w 170"/>
                <a:gd name="T77" fmla="*/ 2 h 356"/>
                <a:gd name="T78" fmla="*/ 28424 w 170"/>
                <a:gd name="T79" fmla="*/ 2 h 356"/>
                <a:gd name="T80" fmla="*/ 28424 w 170"/>
                <a:gd name="T81" fmla="*/ 2 h 356"/>
                <a:gd name="T82" fmla="*/ 28424 w 170"/>
                <a:gd name="T83" fmla="*/ 2 h 356"/>
                <a:gd name="T84" fmla="*/ 28424 w 170"/>
                <a:gd name="T85" fmla="*/ 2 h 356"/>
                <a:gd name="T86" fmla="*/ 27640 w 170"/>
                <a:gd name="T87" fmla="*/ 2 h 356"/>
                <a:gd name="T88" fmla="*/ 27640 w 170"/>
                <a:gd name="T89" fmla="*/ 2 h 356"/>
                <a:gd name="T90" fmla="*/ 27640 w 170"/>
                <a:gd name="T91" fmla="*/ 2 h 356"/>
                <a:gd name="T92" fmla="*/ 26939 w 170"/>
                <a:gd name="T93" fmla="*/ 2 h 356"/>
                <a:gd name="T94" fmla="*/ 26064 w 170"/>
                <a:gd name="T95" fmla="*/ 2 h 356"/>
                <a:gd name="T96" fmla="*/ 26064 w 170"/>
                <a:gd name="T97" fmla="*/ 2 h 356"/>
                <a:gd name="T98" fmla="*/ 25194 w 170"/>
                <a:gd name="T99" fmla="*/ 2 h 356"/>
                <a:gd name="T100" fmla="*/ 23702 w 170"/>
                <a:gd name="T101" fmla="*/ 2 h 35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70"/>
                <a:gd name="T154" fmla="*/ 0 h 356"/>
                <a:gd name="T155" fmla="*/ 170 w 170"/>
                <a:gd name="T156" fmla="*/ 356 h 35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70" h="356">
                  <a:moveTo>
                    <a:pt x="141" y="355"/>
                  </a:moveTo>
                  <a:lnTo>
                    <a:pt x="141" y="348"/>
                  </a:lnTo>
                  <a:lnTo>
                    <a:pt x="141" y="341"/>
                  </a:lnTo>
                  <a:lnTo>
                    <a:pt x="136" y="335"/>
                  </a:lnTo>
                  <a:lnTo>
                    <a:pt x="127" y="324"/>
                  </a:lnTo>
                  <a:lnTo>
                    <a:pt x="117" y="321"/>
                  </a:lnTo>
                  <a:lnTo>
                    <a:pt x="108" y="314"/>
                  </a:lnTo>
                  <a:lnTo>
                    <a:pt x="99" y="304"/>
                  </a:lnTo>
                  <a:lnTo>
                    <a:pt x="89" y="297"/>
                  </a:lnTo>
                  <a:lnTo>
                    <a:pt x="85" y="290"/>
                  </a:lnTo>
                  <a:lnTo>
                    <a:pt x="75" y="287"/>
                  </a:lnTo>
                  <a:lnTo>
                    <a:pt x="70" y="280"/>
                  </a:lnTo>
                  <a:lnTo>
                    <a:pt x="66" y="273"/>
                  </a:lnTo>
                  <a:lnTo>
                    <a:pt x="56" y="270"/>
                  </a:lnTo>
                  <a:lnTo>
                    <a:pt x="47" y="263"/>
                  </a:lnTo>
                  <a:lnTo>
                    <a:pt x="42" y="256"/>
                  </a:lnTo>
                  <a:lnTo>
                    <a:pt x="33" y="253"/>
                  </a:lnTo>
                  <a:lnTo>
                    <a:pt x="28" y="246"/>
                  </a:lnTo>
                  <a:lnTo>
                    <a:pt x="23" y="239"/>
                  </a:lnTo>
                  <a:lnTo>
                    <a:pt x="19" y="232"/>
                  </a:lnTo>
                  <a:lnTo>
                    <a:pt x="14" y="225"/>
                  </a:lnTo>
                  <a:lnTo>
                    <a:pt x="14" y="218"/>
                  </a:lnTo>
                  <a:lnTo>
                    <a:pt x="9" y="212"/>
                  </a:lnTo>
                  <a:lnTo>
                    <a:pt x="5" y="205"/>
                  </a:lnTo>
                  <a:lnTo>
                    <a:pt x="5" y="198"/>
                  </a:lnTo>
                  <a:lnTo>
                    <a:pt x="0" y="191"/>
                  </a:lnTo>
                  <a:lnTo>
                    <a:pt x="0" y="184"/>
                  </a:lnTo>
                  <a:lnTo>
                    <a:pt x="5" y="178"/>
                  </a:lnTo>
                  <a:lnTo>
                    <a:pt x="9" y="171"/>
                  </a:lnTo>
                  <a:lnTo>
                    <a:pt x="9" y="164"/>
                  </a:lnTo>
                  <a:lnTo>
                    <a:pt x="14" y="154"/>
                  </a:lnTo>
                  <a:lnTo>
                    <a:pt x="19" y="147"/>
                  </a:lnTo>
                  <a:lnTo>
                    <a:pt x="19" y="140"/>
                  </a:lnTo>
                  <a:lnTo>
                    <a:pt x="23" y="133"/>
                  </a:lnTo>
                  <a:lnTo>
                    <a:pt x="23" y="123"/>
                  </a:lnTo>
                  <a:lnTo>
                    <a:pt x="28" y="113"/>
                  </a:lnTo>
                  <a:lnTo>
                    <a:pt x="33" y="106"/>
                  </a:lnTo>
                  <a:lnTo>
                    <a:pt x="33" y="96"/>
                  </a:lnTo>
                  <a:lnTo>
                    <a:pt x="38" y="89"/>
                  </a:lnTo>
                  <a:lnTo>
                    <a:pt x="42" y="82"/>
                  </a:lnTo>
                  <a:lnTo>
                    <a:pt x="47" y="75"/>
                  </a:lnTo>
                  <a:lnTo>
                    <a:pt x="47" y="68"/>
                  </a:lnTo>
                  <a:lnTo>
                    <a:pt x="52" y="61"/>
                  </a:lnTo>
                  <a:lnTo>
                    <a:pt x="52" y="55"/>
                  </a:lnTo>
                  <a:lnTo>
                    <a:pt x="56" y="48"/>
                  </a:lnTo>
                  <a:lnTo>
                    <a:pt x="56" y="41"/>
                  </a:lnTo>
                  <a:lnTo>
                    <a:pt x="61" y="34"/>
                  </a:lnTo>
                  <a:lnTo>
                    <a:pt x="61" y="27"/>
                  </a:lnTo>
                  <a:lnTo>
                    <a:pt x="66" y="20"/>
                  </a:lnTo>
                  <a:lnTo>
                    <a:pt x="70" y="14"/>
                  </a:lnTo>
                  <a:lnTo>
                    <a:pt x="75" y="7"/>
                  </a:lnTo>
                  <a:lnTo>
                    <a:pt x="75" y="0"/>
                  </a:lnTo>
                  <a:lnTo>
                    <a:pt x="80" y="7"/>
                  </a:lnTo>
                  <a:lnTo>
                    <a:pt x="80" y="14"/>
                  </a:lnTo>
                  <a:lnTo>
                    <a:pt x="80" y="20"/>
                  </a:lnTo>
                  <a:lnTo>
                    <a:pt x="80" y="27"/>
                  </a:lnTo>
                  <a:lnTo>
                    <a:pt x="80" y="34"/>
                  </a:lnTo>
                  <a:lnTo>
                    <a:pt x="80" y="41"/>
                  </a:lnTo>
                  <a:lnTo>
                    <a:pt x="80" y="48"/>
                  </a:lnTo>
                  <a:lnTo>
                    <a:pt x="85" y="55"/>
                  </a:lnTo>
                  <a:lnTo>
                    <a:pt x="89" y="61"/>
                  </a:lnTo>
                  <a:lnTo>
                    <a:pt x="94" y="68"/>
                  </a:lnTo>
                  <a:lnTo>
                    <a:pt x="99" y="75"/>
                  </a:lnTo>
                  <a:lnTo>
                    <a:pt x="103" y="82"/>
                  </a:lnTo>
                  <a:lnTo>
                    <a:pt x="108" y="89"/>
                  </a:lnTo>
                  <a:lnTo>
                    <a:pt x="117" y="96"/>
                  </a:lnTo>
                  <a:lnTo>
                    <a:pt x="122" y="102"/>
                  </a:lnTo>
                  <a:lnTo>
                    <a:pt x="131" y="109"/>
                  </a:lnTo>
                  <a:lnTo>
                    <a:pt x="136" y="116"/>
                  </a:lnTo>
                  <a:lnTo>
                    <a:pt x="141" y="123"/>
                  </a:lnTo>
                  <a:lnTo>
                    <a:pt x="146" y="130"/>
                  </a:lnTo>
                  <a:lnTo>
                    <a:pt x="150" y="137"/>
                  </a:lnTo>
                  <a:lnTo>
                    <a:pt x="155" y="143"/>
                  </a:lnTo>
                  <a:lnTo>
                    <a:pt x="160" y="150"/>
                  </a:lnTo>
                  <a:lnTo>
                    <a:pt x="164" y="157"/>
                  </a:lnTo>
                  <a:lnTo>
                    <a:pt x="164" y="164"/>
                  </a:lnTo>
                  <a:lnTo>
                    <a:pt x="169" y="171"/>
                  </a:lnTo>
                  <a:lnTo>
                    <a:pt x="169" y="178"/>
                  </a:lnTo>
                  <a:lnTo>
                    <a:pt x="169" y="184"/>
                  </a:lnTo>
                  <a:lnTo>
                    <a:pt x="169" y="191"/>
                  </a:lnTo>
                  <a:lnTo>
                    <a:pt x="169" y="198"/>
                  </a:lnTo>
                  <a:lnTo>
                    <a:pt x="169" y="205"/>
                  </a:lnTo>
                  <a:lnTo>
                    <a:pt x="169" y="212"/>
                  </a:lnTo>
                  <a:lnTo>
                    <a:pt x="169" y="218"/>
                  </a:lnTo>
                  <a:lnTo>
                    <a:pt x="169" y="225"/>
                  </a:lnTo>
                  <a:lnTo>
                    <a:pt x="169" y="232"/>
                  </a:lnTo>
                  <a:lnTo>
                    <a:pt x="169" y="239"/>
                  </a:lnTo>
                  <a:lnTo>
                    <a:pt x="164" y="246"/>
                  </a:lnTo>
                  <a:lnTo>
                    <a:pt x="164" y="253"/>
                  </a:lnTo>
                  <a:lnTo>
                    <a:pt x="164" y="259"/>
                  </a:lnTo>
                  <a:lnTo>
                    <a:pt x="164" y="266"/>
                  </a:lnTo>
                  <a:lnTo>
                    <a:pt x="164" y="273"/>
                  </a:lnTo>
                  <a:lnTo>
                    <a:pt x="164" y="280"/>
                  </a:lnTo>
                  <a:lnTo>
                    <a:pt x="160" y="287"/>
                  </a:lnTo>
                  <a:lnTo>
                    <a:pt x="160" y="294"/>
                  </a:lnTo>
                  <a:lnTo>
                    <a:pt x="155" y="300"/>
                  </a:lnTo>
                  <a:lnTo>
                    <a:pt x="155" y="307"/>
                  </a:lnTo>
                  <a:lnTo>
                    <a:pt x="155" y="314"/>
                  </a:lnTo>
                  <a:lnTo>
                    <a:pt x="155" y="321"/>
                  </a:lnTo>
                  <a:lnTo>
                    <a:pt x="150" y="328"/>
                  </a:lnTo>
                  <a:lnTo>
                    <a:pt x="146" y="335"/>
                  </a:lnTo>
                  <a:lnTo>
                    <a:pt x="141" y="341"/>
                  </a:lnTo>
                  <a:lnTo>
                    <a:pt x="141" y="348"/>
                  </a:lnTo>
                </a:path>
              </a:pathLst>
            </a:custGeom>
            <a:solidFill>
              <a:srgbClr val="FF6600"/>
            </a:solidFill>
            <a:ln w="254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26" name="Freeform 73"/>
            <p:cNvSpPr>
              <a:spLocks/>
            </p:cNvSpPr>
            <p:nvPr/>
          </p:nvSpPr>
          <p:spPr bwMode="auto">
            <a:xfrm>
              <a:off x="2692" y="1130"/>
              <a:ext cx="150" cy="289"/>
            </a:xfrm>
            <a:custGeom>
              <a:avLst/>
              <a:gdLst>
                <a:gd name="T0" fmla="*/ 3517 w 112"/>
                <a:gd name="T1" fmla="*/ 2 h 386"/>
                <a:gd name="T2" fmla="*/ 4204 w 112"/>
                <a:gd name="T3" fmla="*/ 1 h 386"/>
                <a:gd name="T4" fmla="*/ 6668 w 112"/>
                <a:gd name="T5" fmla="*/ 1 h 386"/>
                <a:gd name="T6" fmla="*/ 8930 w 112"/>
                <a:gd name="T7" fmla="*/ 1 h 386"/>
                <a:gd name="T8" fmla="*/ 10685 w 112"/>
                <a:gd name="T9" fmla="*/ 1 h 386"/>
                <a:gd name="T10" fmla="*/ 12534 w 112"/>
                <a:gd name="T11" fmla="*/ 1 h 386"/>
                <a:gd name="T12" fmla="*/ 14222 w 112"/>
                <a:gd name="T13" fmla="*/ 1 h 386"/>
                <a:gd name="T14" fmla="*/ 16018 w 112"/>
                <a:gd name="T15" fmla="*/ 1 h 386"/>
                <a:gd name="T16" fmla="*/ 17937 w 112"/>
                <a:gd name="T17" fmla="*/ 1 h 386"/>
                <a:gd name="T18" fmla="*/ 19047 w 112"/>
                <a:gd name="T19" fmla="*/ 1 h 386"/>
                <a:gd name="T20" fmla="*/ 19588 w 112"/>
                <a:gd name="T21" fmla="*/ 1 h 386"/>
                <a:gd name="T22" fmla="*/ 20799 w 112"/>
                <a:gd name="T23" fmla="*/ 1 h 386"/>
                <a:gd name="T24" fmla="*/ 21453 w 112"/>
                <a:gd name="T25" fmla="*/ 1 h 386"/>
                <a:gd name="T26" fmla="*/ 20799 w 112"/>
                <a:gd name="T27" fmla="*/ 1 h 386"/>
                <a:gd name="T28" fmla="*/ 20234 w 112"/>
                <a:gd name="T29" fmla="*/ 1 h 386"/>
                <a:gd name="T30" fmla="*/ 19047 w 112"/>
                <a:gd name="T31" fmla="*/ 1 h 386"/>
                <a:gd name="T32" fmla="*/ 18557 w 112"/>
                <a:gd name="T33" fmla="*/ 1 h 386"/>
                <a:gd name="T34" fmla="*/ 17937 w 112"/>
                <a:gd name="T35" fmla="*/ 1 h 386"/>
                <a:gd name="T36" fmla="*/ 17065 w 112"/>
                <a:gd name="T37" fmla="*/ 1 h 386"/>
                <a:gd name="T38" fmla="*/ 16018 w 112"/>
                <a:gd name="T39" fmla="*/ 1 h 386"/>
                <a:gd name="T40" fmla="*/ 15327 w 112"/>
                <a:gd name="T41" fmla="*/ 1 h 386"/>
                <a:gd name="T42" fmla="*/ 14825 w 112"/>
                <a:gd name="T43" fmla="*/ 1 h 386"/>
                <a:gd name="T44" fmla="*/ 14222 w 112"/>
                <a:gd name="T45" fmla="*/ 1 h 386"/>
                <a:gd name="T46" fmla="*/ 13572 w 112"/>
                <a:gd name="T47" fmla="*/ 1 h 386"/>
                <a:gd name="T48" fmla="*/ 12534 w 112"/>
                <a:gd name="T49" fmla="*/ 1 h 386"/>
                <a:gd name="T50" fmla="*/ 11960 w 112"/>
                <a:gd name="T51" fmla="*/ 0 h 386"/>
                <a:gd name="T52" fmla="*/ 11314 w 112"/>
                <a:gd name="T53" fmla="*/ 1 h 386"/>
                <a:gd name="T54" fmla="*/ 11314 w 112"/>
                <a:gd name="T55" fmla="*/ 1 h 386"/>
                <a:gd name="T56" fmla="*/ 11314 w 112"/>
                <a:gd name="T57" fmla="*/ 1 h 386"/>
                <a:gd name="T58" fmla="*/ 10685 w 112"/>
                <a:gd name="T59" fmla="*/ 1 h 386"/>
                <a:gd name="T60" fmla="*/ 9453 w 112"/>
                <a:gd name="T61" fmla="*/ 1 h 386"/>
                <a:gd name="T62" fmla="*/ 8278 w 112"/>
                <a:gd name="T63" fmla="*/ 1 h 386"/>
                <a:gd name="T64" fmla="*/ 6668 w 112"/>
                <a:gd name="T65" fmla="*/ 1 h 386"/>
                <a:gd name="T66" fmla="*/ 4710 w 112"/>
                <a:gd name="T67" fmla="*/ 1 h 386"/>
                <a:gd name="T68" fmla="*/ 3517 w 112"/>
                <a:gd name="T69" fmla="*/ 1 h 386"/>
                <a:gd name="T70" fmla="*/ 2258 w 112"/>
                <a:gd name="T71" fmla="*/ 1 h 386"/>
                <a:gd name="T72" fmla="*/ 1191 w 112"/>
                <a:gd name="T73" fmla="*/ 1 h 386"/>
                <a:gd name="T74" fmla="*/ 524 w 112"/>
                <a:gd name="T75" fmla="*/ 1 h 386"/>
                <a:gd name="T76" fmla="*/ 0 w 112"/>
                <a:gd name="T77" fmla="*/ 1 h 386"/>
                <a:gd name="T78" fmla="*/ 0 w 112"/>
                <a:gd name="T79" fmla="*/ 1 h 386"/>
                <a:gd name="T80" fmla="*/ 0 w 112"/>
                <a:gd name="T81" fmla="*/ 1 h 386"/>
                <a:gd name="T82" fmla="*/ 0 w 112"/>
                <a:gd name="T83" fmla="*/ 1 h 386"/>
                <a:gd name="T84" fmla="*/ 0 w 112"/>
                <a:gd name="T85" fmla="*/ 1 h 386"/>
                <a:gd name="T86" fmla="*/ 524 w 112"/>
                <a:gd name="T87" fmla="*/ 1 h 386"/>
                <a:gd name="T88" fmla="*/ 524 w 112"/>
                <a:gd name="T89" fmla="*/ 1 h 386"/>
                <a:gd name="T90" fmla="*/ 524 w 112"/>
                <a:gd name="T91" fmla="*/ 1 h 386"/>
                <a:gd name="T92" fmla="*/ 1191 w 112"/>
                <a:gd name="T93" fmla="*/ 1 h 386"/>
                <a:gd name="T94" fmla="*/ 1686 w 112"/>
                <a:gd name="T95" fmla="*/ 1 h 386"/>
                <a:gd name="T96" fmla="*/ 1686 w 112"/>
                <a:gd name="T97" fmla="*/ 1 h 386"/>
                <a:gd name="T98" fmla="*/ 2258 w 112"/>
                <a:gd name="T99" fmla="*/ 1 h 386"/>
                <a:gd name="T100" fmla="*/ 3517 w 112"/>
                <a:gd name="T101" fmla="*/ 2 h 38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2"/>
                <a:gd name="T154" fmla="*/ 0 h 386"/>
                <a:gd name="T155" fmla="*/ 112 w 112"/>
                <a:gd name="T156" fmla="*/ 386 h 38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2" h="386">
                  <a:moveTo>
                    <a:pt x="19" y="385"/>
                  </a:moveTo>
                  <a:lnTo>
                    <a:pt x="19" y="378"/>
                  </a:lnTo>
                  <a:lnTo>
                    <a:pt x="19" y="370"/>
                  </a:lnTo>
                  <a:lnTo>
                    <a:pt x="22" y="363"/>
                  </a:lnTo>
                  <a:lnTo>
                    <a:pt x="28" y="352"/>
                  </a:lnTo>
                  <a:lnTo>
                    <a:pt x="34" y="348"/>
                  </a:lnTo>
                  <a:lnTo>
                    <a:pt x="40" y="341"/>
                  </a:lnTo>
                  <a:lnTo>
                    <a:pt x="46" y="329"/>
                  </a:lnTo>
                  <a:lnTo>
                    <a:pt x="52" y="322"/>
                  </a:lnTo>
                  <a:lnTo>
                    <a:pt x="56" y="315"/>
                  </a:lnTo>
                  <a:lnTo>
                    <a:pt x="62" y="311"/>
                  </a:lnTo>
                  <a:lnTo>
                    <a:pt x="65" y="304"/>
                  </a:lnTo>
                  <a:lnTo>
                    <a:pt x="68" y="296"/>
                  </a:lnTo>
                  <a:lnTo>
                    <a:pt x="74" y="292"/>
                  </a:lnTo>
                  <a:lnTo>
                    <a:pt x="80" y="285"/>
                  </a:lnTo>
                  <a:lnTo>
                    <a:pt x="83" y="278"/>
                  </a:lnTo>
                  <a:lnTo>
                    <a:pt x="89" y="274"/>
                  </a:lnTo>
                  <a:lnTo>
                    <a:pt x="93" y="267"/>
                  </a:lnTo>
                  <a:lnTo>
                    <a:pt x="96" y="259"/>
                  </a:lnTo>
                  <a:lnTo>
                    <a:pt x="99" y="252"/>
                  </a:lnTo>
                  <a:lnTo>
                    <a:pt x="102" y="244"/>
                  </a:lnTo>
                  <a:lnTo>
                    <a:pt x="102" y="237"/>
                  </a:lnTo>
                  <a:lnTo>
                    <a:pt x="105" y="230"/>
                  </a:lnTo>
                  <a:lnTo>
                    <a:pt x="108" y="222"/>
                  </a:lnTo>
                  <a:lnTo>
                    <a:pt x="108" y="215"/>
                  </a:lnTo>
                  <a:lnTo>
                    <a:pt x="111" y="207"/>
                  </a:lnTo>
                  <a:lnTo>
                    <a:pt x="111" y="200"/>
                  </a:lnTo>
                  <a:lnTo>
                    <a:pt x="108" y="193"/>
                  </a:lnTo>
                  <a:lnTo>
                    <a:pt x="105" y="185"/>
                  </a:lnTo>
                  <a:lnTo>
                    <a:pt x="105" y="178"/>
                  </a:lnTo>
                  <a:lnTo>
                    <a:pt x="102" y="167"/>
                  </a:lnTo>
                  <a:lnTo>
                    <a:pt x="99" y="159"/>
                  </a:lnTo>
                  <a:lnTo>
                    <a:pt x="99" y="152"/>
                  </a:lnTo>
                  <a:lnTo>
                    <a:pt x="96" y="144"/>
                  </a:lnTo>
                  <a:lnTo>
                    <a:pt x="96" y="133"/>
                  </a:lnTo>
                  <a:lnTo>
                    <a:pt x="93" y="122"/>
                  </a:lnTo>
                  <a:lnTo>
                    <a:pt x="89" y="115"/>
                  </a:lnTo>
                  <a:lnTo>
                    <a:pt x="89" y="104"/>
                  </a:lnTo>
                  <a:lnTo>
                    <a:pt x="86" y="96"/>
                  </a:lnTo>
                  <a:lnTo>
                    <a:pt x="83" y="89"/>
                  </a:lnTo>
                  <a:lnTo>
                    <a:pt x="80" y="81"/>
                  </a:lnTo>
                  <a:lnTo>
                    <a:pt x="80" y="74"/>
                  </a:lnTo>
                  <a:lnTo>
                    <a:pt x="77" y="67"/>
                  </a:lnTo>
                  <a:lnTo>
                    <a:pt x="77" y="59"/>
                  </a:lnTo>
                  <a:lnTo>
                    <a:pt x="74" y="52"/>
                  </a:lnTo>
                  <a:lnTo>
                    <a:pt x="74" y="44"/>
                  </a:lnTo>
                  <a:lnTo>
                    <a:pt x="71" y="37"/>
                  </a:lnTo>
                  <a:lnTo>
                    <a:pt x="71" y="30"/>
                  </a:lnTo>
                  <a:lnTo>
                    <a:pt x="68" y="22"/>
                  </a:lnTo>
                  <a:lnTo>
                    <a:pt x="65" y="15"/>
                  </a:lnTo>
                  <a:lnTo>
                    <a:pt x="62" y="7"/>
                  </a:lnTo>
                  <a:lnTo>
                    <a:pt x="62" y="0"/>
                  </a:lnTo>
                  <a:lnTo>
                    <a:pt x="59" y="7"/>
                  </a:lnTo>
                  <a:lnTo>
                    <a:pt x="59" y="15"/>
                  </a:lnTo>
                  <a:lnTo>
                    <a:pt x="59" y="22"/>
                  </a:lnTo>
                  <a:lnTo>
                    <a:pt x="59" y="30"/>
                  </a:lnTo>
                  <a:lnTo>
                    <a:pt x="59" y="37"/>
                  </a:lnTo>
                  <a:lnTo>
                    <a:pt x="59" y="44"/>
                  </a:lnTo>
                  <a:lnTo>
                    <a:pt x="59" y="52"/>
                  </a:lnTo>
                  <a:lnTo>
                    <a:pt x="56" y="59"/>
                  </a:lnTo>
                  <a:lnTo>
                    <a:pt x="52" y="67"/>
                  </a:lnTo>
                  <a:lnTo>
                    <a:pt x="49" y="74"/>
                  </a:lnTo>
                  <a:lnTo>
                    <a:pt x="46" y="81"/>
                  </a:lnTo>
                  <a:lnTo>
                    <a:pt x="43" y="89"/>
                  </a:lnTo>
                  <a:lnTo>
                    <a:pt x="40" y="96"/>
                  </a:lnTo>
                  <a:lnTo>
                    <a:pt x="34" y="104"/>
                  </a:lnTo>
                  <a:lnTo>
                    <a:pt x="31" y="111"/>
                  </a:lnTo>
                  <a:lnTo>
                    <a:pt x="25" y="118"/>
                  </a:lnTo>
                  <a:lnTo>
                    <a:pt x="22" y="126"/>
                  </a:lnTo>
                  <a:lnTo>
                    <a:pt x="19" y="133"/>
                  </a:lnTo>
                  <a:lnTo>
                    <a:pt x="15" y="141"/>
                  </a:lnTo>
                  <a:lnTo>
                    <a:pt x="12" y="148"/>
                  </a:lnTo>
                  <a:lnTo>
                    <a:pt x="9" y="155"/>
                  </a:lnTo>
                  <a:lnTo>
                    <a:pt x="6" y="163"/>
                  </a:lnTo>
                  <a:lnTo>
                    <a:pt x="3" y="170"/>
                  </a:lnTo>
                  <a:lnTo>
                    <a:pt x="3" y="178"/>
                  </a:lnTo>
                  <a:lnTo>
                    <a:pt x="0" y="185"/>
                  </a:lnTo>
                  <a:lnTo>
                    <a:pt x="0" y="193"/>
                  </a:lnTo>
                  <a:lnTo>
                    <a:pt x="0" y="200"/>
                  </a:lnTo>
                  <a:lnTo>
                    <a:pt x="0" y="207"/>
                  </a:lnTo>
                  <a:lnTo>
                    <a:pt x="0" y="215"/>
                  </a:lnTo>
                  <a:lnTo>
                    <a:pt x="0" y="222"/>
                  </a:lnTo>
                  <a:lnTo>
                    <a:pt x="0" y="230"/>
                  </a:lnTo>
                  <a:lnTo>
                    <a:pt x="0" y="237"/>
                  </a:lnTo>
                  <a:lnTo>
                    <a:pt x="0" y="244"/>
                  </a:lnTo>
                  <a:lnTo>
                    <a:pt x="0" y="252"/>
                  </a:lnTo>
                  <a:lnTo>
                    <a:pt x="0" y="259"/>
                  </a:lnTo>
                  <a:lnTo>
                    <a:pt x="3" y="267"/>
                  </a:lnTo>
                  <a:lnTo>
                    <a:pt x="3" y="274"/>
                  </a:lnTo>
                  <a:lnTo>
                    <a:pt x="3" y="281"/>
                  </a:lnTo>
                  <a:lnTo>
                    <a:pt x="3" y="289"/>
                  </a:lnTo>
                  <a:lnTo>
                    <a:pt x="3" y="296"/>
                  </a:lnTo>
                  <a:lnTo>
                    <a:pt x="3" y="304"/>
                  </a:lnTo>
                  <a:lnTo>
                    <a:pt x="6" y="311"/>
                  </a:lnTo>
                  <a:lnTo>
                    <a:pt x="6" y="318"/>
                  </a:lnTo>
                  <a:lnTo>
                    <a:pt x="9" y="326"/>
                  </a:lnTo>
                  <a:lnTo>
                    <a:pt x="9" y="333"/>
                  </a:lnTo>
                  <a:lnTo>
                    <a:pt x="9" y="341"/>
                  </a:lnTo>
                  <a:lnTo>
                    <a:pt x="9" y="348"/>
                  </a:lnTo>
                  <a:lnTo>
                    <a:pt x="12" y="355"/>
                  </a:lnTo>
                  <a:lnTo>
                    <a:pt x="15" y="363"/>
                  </a:lnTo>
                  <a:lnTo>
                    <a:pt x="19" y="370"/>
                  </a:lnTo>
                  <a:lnTo>
                    <a:pt x="19" y="378"/>
                  </a:lnTo>
                </a:path>
              </a:pathLst>
            </a:custGeom>
            <a:solidFill>
              <a:srgbClr val="FF0000"/>
            </a:solidFill>
            <a:ln w="25400" cap="rnd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27" name="Freeform 74"/>
            <p:cNvSpPr>
              <a:spLocks/>
            </p:cNvSpPr>
            <p:nvPr/>
          </p:nvSpPr>
          <p:spPr bwMode="auto">
            <a:xfrm>
              <a:off x="2763" y="1319"/>
              <a:ext cx="169" cy="97"/>
            </a:xfrm>
            <a:custGeom>
              <a:avLst/>
              <a:gdLst>
                <a:gd name="T0" fmla="*/ 0 w 127"/>
                <a:gd name="T1" fmla="*/ 2 h 129"/>
                <a:gd name="T2" fmla="*/ 1694 w 127"/>
                <a:gd name="T3" fmla="*/ 2 h 129"/>
                <a:gd name="T4" fmla="*/ 2615 w 127"/>
                <a:gd name="T5" fmla="*/ 2 h 129"/>
                <a:gd name="T6" fmla="*/ 4127 w 127"/>
                <a:gd name="T7" fmla="*/ 2 h 129"/>
                <a:gd name="T8" fmla="*/ 5805 w 127"/>
                <a:gd name="T9" fmla="*/ 2 h 129"/>
                <a:gd name="T10" fmla="*/ 7641 w 127"/>
                <a:gd name="T11" fmla="*/ 2 h 129"/>
                <a:gd name="T12" fmla="*/ 8201 w 127"/>
                <a:gd name="T13" fmla="*/ 2 h 129"/>
                <a:gd name="T14" fmla="*/ 9891 w 127"/>
                <a:gd name="T15" fmla="*/ 2 h 129"/>
                <a:gd name="T16" fmla="*/ 10796 w 127"/>
                <a:gd name="T17" fmla="*/ 2 h 129"/>
                <a:gd name="T18" fmla="*/ 11634 w 127"/>
                <a:gd name="T19" fmla="*/ 2 h 129"/>
                <a:gd name="T20" fmla="*/ 13382 w 127"/>
                <a:gd name="T21" fmla="*/ 2 h 129"/>
                <a:gd name="T22" fmla="*/ 13382 w 127"/>
                <a:gd name="T23" fmla="*/ 2 h 129"/>
                <a:gd name="T24" fmla="*/ 14905 w 127"/>
                <a:gd name="T25" fmla="*/ 2 h 129"/>
                <a:gd name="T26" fmla="*/ 14905 w 127"/>
                <a:gd name="T27" fmla="*/ 2 h 129"/>
                <a:gd name="T28" fmla="*/ 14905 w 127"/>
                <a:gd name="T29" fmla="*/ 2 h 129"/>
                <a:gd name="T30" fmla="*/ 15669 w 127"/>
                <a:gd name="T31" fmla="*/ 2 h 129"/>
                <a:gd name="T32" fmla="*/ 17515 w 127"/>
                <a:gd name="T33" fmla="*/ 2 h 129"/>
                <a:gd name="T34" fmla="*/ 17515 w 127"/>
                <a:gd name="T35" fmla="*/ 2 h 129"/>
                <a:gd name="T36" fmla="*/ 18281 w 127"/>
                <a:gd name="T37" fmla="*/ 2 h 129"/>
                <a:gd name="T38" fmla="*/ 18281 w 127"/>
                <a:gd name="T39" fmla="*/ 2 h 129"/>
                <a:gd name="T40" fmla="*/ 19834 w 127"/>
                <a:gd name="T41" fmla="*/ 0 h 129"/>
                <a:gd name="T42" fmla="*/ 19834 w 127"/>
                <a:gd name="T43" fmla="*/ 2 h 129"/>
                <a:gd name="T44" fmla="*/ 19834 w 127"/>
                <a:gd name="T45" fmla="*/ 2 h 129"/>
                <a:gd name="T46" fmla="*/ 20690 w 127"/>
                <a:gd name="T47" fmla="*/ 2 h 129"/>
                <a:gd name="T48" fmla="*/ 20690 w 127"/>
                <a:gd name="T49" fmla="*/ 2 h 129"/>
                <a:gd name="T50" fmla="*/ 20690 w 127"/>
                <a:gd name="T51" fmla="*/ 2 h 129"/>
                <a:gd name="T52" fmla="*/ 21648 w 127"/>
                <a:gd name="T53" fmla="*/ 2 h 129"/>
                <a:gd name="T54" fmla="*/ 21648 w 127"/>
                <a:gd name="T55" fmla="*/ 2 h 129"/>
                <a:gd name="T56" fmla="*/ 21648 w 127"/>
                <a:gd name="T57" fmla="*/ 2 h 129"/>
                <a:gd name="T58" fmla="*/ 21648 w 127"/>
                <a:gd name="T59" fmla="*/ 2 h 129"/>
                <a:gd name="T60" fmla="*/ 21648 w 127"/>
                <a:gd name="T61" fmla="*/ 2 h 129"/>
                <a:gd name="T62" fmla="*/ 20690 w 127"/>
                <a:gd name="T63" fmla="*/ 2 h 129"/>
                <a:gd name="T64" fmla="*/ 19026 w 127"/>
                <a:gd name="T65" fmla="*/ 2 h 129"/>
                <a:gd name="T66" fmla="*/ 18281 w 127"/>
                <a:gd name="T67" fmla="*/ 2 h 129"/>
                <a:gd name="T68" fmla="*/ 16652 w 127"/>
                <a:gd name="T69" fmla="*/ 2 h 129"/>
                <a:gd name="T70" fmla="*/ 14905 w 127"/>
                <a:gd name="T71" fmla="*/ 2 h 129"/>
                <a:gd name="T72" fmla="*/ 13382 w 127"/>
                <a:gd name="T73" fmla="*/ 2 h 129"/>
                <a:gd name="T74" fmla="*/ 11634 w 127"/>
                <a:gd name="T75" fmla="*/ 2 h 129"/>
                <a:gd name="T76" fmla="*/ 9891 w 127"/>
                <a:gd name="T77" fmla="*/ 2 h 129"/>
                <a:gd name="T78" fmla="*/ 8201 w 127"/>
                <a:gd name="T79" fmla="*/ 2 h 129"/>
                <a:gd name="T80" fmla="*/ 6650 w 127"/>
                <a:gd name="T81" fmla="*/ 2 h 129"/>
                <a:gd name="T82" fmla="*/ 4997 w 127"/>
                <a:gd name="T83" fmla="*/ 2 h 129"/>
                <a:gd name="T84" fmla="*/ 3243 w 127"/>
                <a:gd name="T85" fmla="*/ 2 h 129"/>
                <a:gd name="T86" fmla="*/ 1694 w 127"/>
                <a:gd name="T87" fmla="*/ 2 h 129"/>
                <a:gd name="T88" fmla="*/ 0 w 127"/>
                <a:gd name="T89" fmla="*/ 2 h 129"/>
                <a:gd name="T90" fmla="*/ 10796 w 127"/>
                <a:gd name="T91" fmla="*/ 2 h 1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27"/>
                <a:gd name="T139" fmla="*/ 0 h 129"/>
                <a:gd name="T140" fmla="*/ 127 w 127"/>
                <a:gd name="T141" fmla="*/ 129 h 12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27" h="129">
                  <a:moveTo>
                    <a:pt x="0" y="128"/>
                  </a:moveTo>
                  <a:lnTo>
                    <a:pt x="10" y="128"/>
                  </a:lnTo>
                  <a:lnTo>
                    <a:pt x="15" y="119"/>
                  </a:lnTo>
                  <a:lnTo>
                    <a:pt x="24" y="119"/>
                  </a:lnTo>
                  <a:lnTo>
                    <a:pt x="34" y="111"/>
                  </a:lnTo>
                  <a:lnTo>
                    <a:pt x="44" y="107"/>
                  </a:lnTo>
                  <a:lnTo>
                    <a:pt x="48" y="98"/>
                  </a:lnTo>
                  <a:lnTo>
                    <a:pt x="58" y="98"/>
                  </a:lnTo>
                  <a:lnTo>
                    <a:pt x="63" y="90"/>
                  </a:lnTo>
                  <a:lnTo>
                    <a:pt x="68" y="81"/>
                  </a:lnTo>
                  <a:lnTo>
                    <a:pt x="78" y="73"/>
                  </a:lnTo>
                  <a:lnTo>
                    <a:pt x="78" y="64"/>
                  </a:lnTo>
                  <a:lnTo>
                    <a:pt x="87" y="60"/>
                  </a:lnTo>
                  <a:lnTo>
                    <a:pt x="87" y="51"/>
                  </a:lnTo>
                  <a:lnTo>
                    <a:pt x="87" y="43"/>
                  </a:lnTo>
                  <a:lnTo>
                    <a:pt x="92" y="34"/>
                  </a:lnTo>
                  <a:lnTo>
                    <a:pt x="102" y="30"/>
                  </a:lnTo>
                  <a:lnTo>
                    <a:pt x="102" y="21"/>
                  </a:lnTo>
                  <a:lnTo>
                    <a:pt x="107" y="13"/>
                  </a:lnTo>
                  <a:lnTo>
                    <a:pt x="107" y="4"/>
                  </a:lnTo>
                  <a:lnTo>
                    <a:pt x="116" y="0"/>
                  </a:lnTo>
                  <a:lnTo>
                    <a:pt x="116" y="9"/>
                  </a:lnTo>
                  <a:lnTo>
                    <a:pt x="116" y="17"/>
                  </a:lnTo>
                  <a:lnTo>
                    <a:pt x="121" y="26"/>
                  </a:lnTo>
                  <a:lnTo>
                    <a:pt x="121" y="34"/>
                  </a:lnTo>
                  <a:lnTo>
                    <a:pt x="121" y="43"/>
                  </a:lnTo>
                  <a:lnTo>
                    <a:pt x="126" y="51"/>
                  </a:lnTo>
                  <a:lnTo>
                    <a:pt x="126" y="60"/>
                  </a:lnTo>
                  <a:lnTo>
                    <a:pt x="126" y="68"/>
                  </a:lnTo>
                  <a:lnTo>
                    <a:pt x="126" y="77"/>
                  </a:lnTo>
                  <a:lnTo>
                    <a:pt x="126" y="85"/>
                  </a:lnTo>
                  <a:lnTo>
                    <a:pt x="121" y="94"/>
                  </a:lnTo>
                  <a:lnTo>
                    <a:pt x="111" y="94"/>
                  </a:lnTo>
                  <a:lnTo>
                    <a:pt x="107" y="102"/>
                  </a:lnTo>
                  <a:lnTo>
                    <a:pt x="97" y="107"/>
                  </a:lnTo>
                  <a:lnTo>
                    <a:pt x="87" y="111"/>
                  </a:lnTo>
                  <a:lnTo>
                    <a:pt x="78" y="115"/>
                  </a:lnTo>
                  <a:lnTo>
                    <a:pt x="68" y="115"/>
                  </a:lnTo>
                  <a:lnTo>
                    <a:pt x="58" y="115"/>
                  </a:lnTo>
                  <a:lnTo>
                    <a:pt x="48" y="115"/>
                  </a:lnTo>
                  <a:lnTo>
                    <a:pt x="39" y="115"/>
                  </a:lnTo>
                  <a:lnTo>
                    <a:pt x="29" y="119"/>
                  </a:lnTo>
                  <a:lnTo>
                    <a:pt x="19" y="124"/>
                  </a:lnTo>
                  <a:lnTo>
                    <a:pt x="10" y="128"/>
                  </a:lnTo>
                  <a:lnTo>
                    <a:pt x="0" y="128"/>
                  </a:lnTo>
                  <a:lnTo>
                    <a:pt x="63" y="98"/>
                  </a:lnTo>
                </a:path>
              </a:pathLst>
            </a:custGeom>
            <a:solidFill>
              <a:srgbClr val="FFFF00"/>
            </a:solidFill>
            <a:ln w="254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22903" name="Group 77"/>
          <p:cNvGrpSpPr>
            <a:grpSpLocks/>
          </p:cNvGrpSpPr>
          <p:nvPr/>
        </p:nvGrpSpPr>
        <p:grpSpPr bwMode="auto">
          <a:xfrm flipH="1">
            <a:off x="2760663" y="1905000"/>
            <a:ext cx="954087" cy="758825"/>
            <a:chOff x="1584" y="816"/>
            <a:chExt cx="912" cy="816"/>
          </a:xfrm>
        </p:grpSpPr>
        <p:sp>
          <p:nvSpPr>
            <p:cNvPr id="122912" name="Freeform 78"/>
            <p:cNvSpPr>
              <a:spLocks/>
            </p:cNvSpPr>
            <p:nvPr/>
          </p:nvSpPr>
          <p:spPr bwMode="auto">
            <a:xfrm>
              <a:off x="2352" y="1056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13" name="Freeform 79"/>
            <p:cNvSpPr>
              <a:spLocks/>
            </p:cNvSpPr>
            <p:nvPr/>
          </p:nvSpPr>
          <p:spPr bwMode="auto">
            <a:xfrm>
              <a:off x="2160" y="912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14" name="Freeform 80"/>
            <p:cNvSpPr>
              <a:spLocks/>
            </p:cNvSpPr>
            <p:nvPr/>
          </p:nvSpPr>
          <p:spPr bwMode="auto">
            <a:xfrm>
              <a:off x="1920" y="816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21 h 336"/>
                <a:gd name="T8" fmla="*/ 96 w 144"/>
                <a:gd name="T9" fmla="*/ 18 h 336"/>
                <a:gd name="T10" fmla="*/ 96 w 144"/>
                <a:gd name="T11" fmla="*/ 6 h 336"/>
                <a:gd name="T12" fmla="*/ 0 w 144"/>
                <a:gd name="T13" fmla="*/ 9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15" name="Freeform 81"/>
            <p:cNvSpPr>
              <a:spLocks/>
            </p:cNvSpPr>
            <p:nvPr/>
          </p:nvSpPr>
          <p:spPr bwMode="auto">
            <a:xfrm>
              <a:off x="1659" y="816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0000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16" name="Freeform 82"/>
            <p:cNvSpPr>
              <a:spLocks/>
            </p:cNvSpPr>
            <p:nvPr/>
          </p:nvSpPr>
          <p:spPr bwMode="auto">
            <a:xfrm>
              <a:off x="1669" y="912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17" name="Freeform 83"/>
            <p:cNvSpPr>
              <a:spLocks/>
            </p:cNvSpPr>
            <p:nvPr/>
          </p:nvSpPr>
          <p:spPr bwMode="auto">
            <a:xfrm>
              <a:off x="2144" y="1152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0000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18" name="Freeform 84"/>
            <p:cNvSpPr>
              <a:spLocks/>
            </p:cNvSpPr>
            <p:nvPr/>
          </p:nvSpPr>
          <p:spPr bwMode="auto">
            <a:xfrm>
              <a:off x="1920" y="1296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4 h 432"/>
                <a:gd name="T8" fmla="*/ 0 w 336"/>
                <a:gd name="T9" fmla="*/ 3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19" name="Freeform 85"/>
            <p:cNvSpPr>
              <a:spLocks/>
            </p:cNvSpPr>
            <p:nvPr/>
          </p:nvSpPr>
          <p:spPr bwMode="auto">
            <a:xfrm>
              <a:off x="1728" y="1152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20" name="Freeform 86"/>
            <p:cNvSpPr>
              <a:spLocks/>
            </p:cNvSpPr>
            <p:nvPr/>
          </p:nvSpPr>
          <p:spPr bwMode="auto">
            <a:xfrm>
              <a:off x="1584" y="1008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22904" name="Group 108"/>
          <p:cNvGrpSpPr>
            <a:grpSpLocks/>
          </p:cNvGrpSpPr>
          <p:nvPr/>
        </p:nvGrpSpPr>
        <p:grpSpPr bwMode="auto">
          <a:xfrm>
            <a:off x="5561013" y="3146426"/>
            <a:ext cx="1833562" cy="1408113"/>
            <a:chOff x="3503" y="1982"/>
            <a:chExt cx="1155" cy="887"/>
          </a:xfrm>
        </p:grpSpPr>
        <p:sp>
          <p:nvSpPr>
            <p:cNvPr id="122905" name="AutoShape 109"/>
            <p:cNvSpPr>
              <a:spLocks noChangeArrowheads="1"/>
            </p:cNvSpPr>
            <p:nvPr/>
          </p:nvSpPr>
          <p:spPr bwMode="auto">
            <a:xfrm>
              <a:off x="3686" y="2583"/>
              <a:ext cx="507" cy="234"/>
            </a:xfrm>
            <a:prstGeom prst="roundRect">
              <a:avLst>
                <a:gd name="adj" fmla="val 16667"/>
              </a:avLst>
            </a:prstGeom>
            <a:solidFill>
              <a:srgbClr val="FFCC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06" name="Line 110"/>
            <p:cNvSpPr>
              <a:spLocks noChangeShapeType="1"/>
            </p:cNvSpPr>
            <p:nvPr/>
          </p:nvSpPr>
          <p:spPr bwMode="auto">
            <a:xfrm>
              <a:off x="3944" y="2580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07" name="Text Box 111"/>
            <p:cNvSpPr txBox="1">
              <a:spLocks noChangeArrowheads="1"/>
            </p:cNvSpPr>
            <p:nvPr/>
          </p:nvSpPr>
          <p:spPr bwMode="auto">
            <a:xfrm>
              <a:off x="3673" y="2539"/>
              <a:ext cx="2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22908" name="Freeform 112"/>
            <p:cNvSpPr>
              <a:spLocks/>
            </p:cNvSpPr>
            <p:nvPr/>
          </p:nvSpPr>
          <p:spPr bwMode="auto">
            <a:xfrm>
              <a:off x="4118" y="2232"/>
              <a:ext cx="540" cy="484"/>
            </a:xfrm>
            <a:custGeom>
              <a:avLst/>
              <a:gdLst>
                <a:gd name="T0" fmla="*/ 0 w 581"/>
                <a:gd name="T1" fmla="*/ 1 h 675"/>
                <a:gd name="T2" fmla="*/ 142 w 581"/>
                <a:gd name="T3" fmla="*/ 1 h 675"/>
                <a:gd name="T4" fmla="*/ 72 w 581"/>
                <a:gd name="T5" fmla="*/ 1 h 675"/>
                <a:gd name="T6" fmla="*/ 55 w 581"/>
                <a:gd name="T7" fmla="*/ 0 h 6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1"/>
                <a:gd name="T13" fmla="*/ 0 h 675"/>
                <a:gd name="T14" fmla="*/ 581 w 581"/>
                <a:gd name="T15" fmla="*/ 675 h 6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1" h="675">
                  <a:moveTo>
                    <a:pt x="0" y="635"/>
                  </a:moveTo>
                  <a:cubicBezTo>
                    <a:pt x="245" y="655"/>
                    <a:pt x="491" y="675"/>
                    <a:pt x="536" y="625"/>
                  </a:cubicBezTo>
                  <a:cubicBezTo>
                    <a:pt x="581" y="575"/>
                    <a:pt x="323" y="441"/>
                    <a:pt x="268" y="337"/>
                  </a:cubicBezTo>
                  <a:cubicBezTo>
                    <a:pt x="213" y="233"/>
                    <a:pt x="210" y="116"/>
                    <a:pt x="208" y="0"/>
                  </a:cubicBez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09" name="Line 113"/>
            <p:cNvSpPr>
              <a:spLocks noChangeShapeType="1"/>
            </p:cNvSpPr>
            <p:nvPr/>
          </p:nvSpPr>
          <p:spPr bwMode="auto">
            <a:xfrm>
              <a:off x="3827" y="2003"/>
              <a:ext cx="161" cy="16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10" name="Line 114"/>
            <p:cNvSpPr>
              <a:spLocks noChangeShapeType="1"/>
            </p:cNvSpPr>
            <p:nvPr/>
          </p:nvSpPr>
          <p:spPr bwMode="auto">
            <a:xfrm flipH="1">
              <a:off x="3840" y="1982"/>
              <a:ext cx="152" cy="18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2911" name="Freeform 115"/>
            <p:cNvSpPr>
              <a:spLocks/>
            </p:cNvSpPr>
            <p:nvPr/>
          </p:nvSpPr>
          <p:spPr bwMode="auto">
            <a:xfrm>
              <a:off x="3503" y="2059"/>
              <a:ext cx="333" cy="466"/>
            </a:xfrm>
            <a:custGeom>
              <a:avLst/>
              <a:gdLst>
                <a:gd name="T0" fmla="*/ 0 w 358"/>
                <a:gd name="T1" fmla="*/ 1 h 713"/>
                <a:gd name="T2" fmla="*/ 46 w 358"/>
                <a:gd name="T3" fmla="*/ 1 h 713"/>
                <a:gd name="T4" fmla="*/ 89 w 358"/>
                <a:gd name="T5" fmla="*/ 1 h 713"/>
                <a:gd name="T6" fmla="*/ 93 w 358"/>
                <a:gd name="T7" fmla="*/ 1 h 7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8"/>
                <a:gd name="T13" fmla="*/ 0 h 713"/>
                <a:gd name="T14" fmla="*/ 358 w 358"/>
                <a:gd name="T15" fmla="*/ 713 h 7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8" h="713">
                  <a:moveTo>
                    <a:pt x="0" y="58"/>
                  </a:moveTo>
                  <a:cubicBezTo>
                    <a:pt x="57" y="29"/>
                    <a:pt x="114" y="0"/>
                    <a:pt x="169" y="58"/>
                  </a:cubicBezTo>
                  <a:cubicBezTo>
                    <a:pt x="224" y="116"/>
                    <a:pt x="298" y="296"/>
                    <a:pt x="328" y="405"/>
                  </a:cubicBezTo>
                  <a:cubicBezTo>
                    <a:pt x="358" y="514"/>
                    <a:pt x="352" y="613"/>
                    <a:pt x="347" y="713"/>
                  </a:cubicBez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153898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CFCE2D3-0619-4741-82E5-58734CE9D6FD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118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39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0850"/>
            <a:ext cx="7772400" cy="1143000"/>
          </a:xfrm>
        </p:spPr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Fine Grained (Lock Coupling)</a:t>
            </a:r>
          </a:p>
        </p:txBody>
      </p:sp>
      <p:sp>
        <p:nvSpPr>
          <p:cNvPr id="123908" name="AutoShape 3"/>
          <p:cNvSpPr>
            <a:spLocks noChangeArrowheads="1"/>
          </p:cNvSpPr>
          <p:nvPr/>
        </p:nvSpPr>
        <p:spPr bwMode="auto">
          <a:xfrm>
            <a:off x="1671638" y="2667000"/>
            <a:ext cx="804862" cy="3714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3909" name="Line 4"/>
          <p:cNvSpPr>
            <a:spLocks noChangeShapeType="1"/>
          </p:cNvSpPr>
          <p:nvPr/>
        </p:nvSpPr>
        <p:spPr bwMode="auto">
          <a:xfrm>
            <a:off x="2081213" y="266223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3910" name="Text Box 5"/>
          <p:cNvSpPr txBox="1">
            <a:spLocks noChangeArrowheads="1"/>
          </p:cNvSpPr>
          <p:nvPr/>
        </p:nvSpPr>
        <p:spPr bwMode="auto">
          <a:xfrm>
            <a:off x="1857375" y="26828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endParaRPr lang="en-US" sz="2800">
              <a:latin typeface="Arial"/>
              <a:cs typeface="Arial"/>
            </a:endParaRPr>
          </a:p>
        </p:txBody>
      </p:sp>
      <p:sp>
        <p:nvSpPr>
          <p:cNvPr id="123911" name="AutoShape 6"/>
          <p:cNvSpPr>
            <a:spLocks noChangeArrowheads="1"/>
          </p:cNvSpPr>
          <p:nvPr/>
        </p:nvSpPr>
        <p:spPr bwMode="auto">
          <a:xfrm>
            <a:off x="3322638" y="2652713"/>
            <a:ext cx="804862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3912" name="Line 7"/>
          <p:cNvSpPr>
            <a:spLocks noChangeShapeType="1"/>
          </p:cNvSpPr>
          <p:nvPr/>
        </p:nvSpPr>
        <p:spPr bwMode="auto">
          <a:xfrm>
            <a:off x="3732213" y="264795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3913" name="Text Box 8"/>
          <p:cNvSpPr txBox="1">
            <a:spLocks noChangeArrowheads="1"/>
          </p:cNvSpPr>
          <p:nvPr/>
        </p:nvSpPr>
        <p:spPr bwMode="auto">
          <a:xfrm>
            <a:off x="3305175" y="2568575"/>
            <a:ext cx="38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a</a:t>
            </a:r>
          </a:p>
        </p:txBody>
      </p:sp>
      <p:sp>
        <p:nvSpPr>
          <p:cNvPr id="123914" name="AutoShape 9"/>
          <p:cNvSpPr>
            <a:spLocks noChangeArrowheads="1"/>
          </p:cNvSpPr>
          <p:nvPr/>
        </p:nvSpPr>
        <p:spPr bwMode="auto">
          <a:xfrm>
            <a:off x="5018088" y="2681288"/>
            <a:ext cx="804862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3915" name="Line 10"/>
          <p:cNvSpPr>
            <a:spLocks noChangeShapeType="1"/>
          </p:cNvSpPr>
          <p:nvPr/>
        </p:nvSpPr>
        <p:spPr bwMode="auto">
          <a:xfrm>
            <a:off x="5427663" y="2676525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3916" name="Text Box 11"/>
          <p:cNvSpPr txBox="1">
            <a:spLocks noChangeArrowheads="1"/>
          </p:cNvSpPr>
          <p:nvPr/>
        </p:nvSpPr>
        <p:spPr bwMode="auto">
          <a:xfrm>
            <a:off x="4977623" y="2611438"/>
            <a:ext cx="4040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b</a:t>
            </a:r>
          </a:p>
        </p:txBody>
      </p:sp>
      <p:sp>
        <p:nvSpPr>
          <p:cNvPr id="123917" name="AutoShape 12"/>
          <p:cNvSpPr>
            <a:spLocks noChangeArrowheads="1"/>
          </p:cNvSpPr>
          <p:nvPr/>
        </p:nvSpPr>
        <p:spPr bwMode="auto">
          <a:xfrm>
            <a:off x="6670675" y="2681288"/>
            <a:ext cx="804863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3918" name="Line 13"/>
          <p:cNvSpPr>
            <a:spLocks noChangeShapeType="1"/>
          </p:cNvSpPr>
          <p:nvPr/>
        </p:nvSpPr>
        <p:spPr bwMode="auto">
          <a:xfrm>
            <a:off x="7080250" y="2676525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3919" name="Text Box 14"/>
          <p:cNvSpPr txBox="1">
            <a:spLocks noChangeArrowheads="1"/>
          </p:cNvSpPr>
          <p:nvPr/>
        </p:nvSpPr>
        <p:spPr bwMode="auto">
          <a:xfrm>
            <a:off x="6630211" y="2597150"/>
            <a:ext cx="4040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d</a:t>
            </a:r>
          </a:p>
        </p:txBody>
      </p:sp>
      <p:sp>
        <p:nvSpPr>
          <p:cNvPr id="123920" name="Line 15"/>
          <p:cNvSpPr>
            <a:spLocks noChangeShapeType="1"/>
          </p:cNvSpPr>
          <p:nvPr/>
        </p:nvSpPr>
        <p:spPr bwMode="auto">
          <a:xfrm>
            <a:off x="2271713" y="2852738"/>
            <a:ext cx="10096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3921" name="Line 16"/>
          <p:cNvSpPr>
            <a:spLocks noChangeShapeType="1"/>
          </p:cNvSpPr>
          <p:nvPr/>
        </p:nvSpPr>
        <p:spPr bwMode="auto">
          <a:xfrm>
            <a:off x="5638800" y="2867025"/>
            <a:ext cx="10096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3922" name="Line 21"/>
          <p:cNvSpPr>
            <a:spLocks noChangeShapeType="1"/>
          </p:cNvSpPr>
          <p:nvPr/>
        </p:nvSpPr>
        <p:spPr bwMode="auto">
          <a:xfrm>
            <a:off x="3986213" y="2867025"/>
            <a:ext cx="1011237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grpSp>
        <p:nvGrpSpPr>
          <p:cNvPr id="123923" name="Group 25"/>
          <p:cNvGrpSpPr>
            <a:grpSpLocks/>
          </p:cNvGrpSpPr>
          <p:nvPr/>
        </p:nvGrpSpPr>
        <p:grpSpPr bwMode="auto">
          <a:xfrm>
            <a:off x="1671638" y="2100263"/>
            <a:ext cx="471487" cy="476250"/>
            <a:chOff x="2208" y="1920"/>
            <a:chExt cx="1152" cy="1680"/>
          </a:xfrm>
        </p:grpSpPr>
        <p:sp>
          <p:nvSpPr>
            <p:cNvPr id="123957" name="Oval 26"/>
            <p:cNvSpPr>
              <a:spLocks noChangeArrowheads="1"/>
            </p:cNvSpPr>
            <p:nvPr/>
          </p:nvSpPr>
          <p:spPr bwMode="auto">
            <a:xfrm>
              <a:off x="2208" y="2448"/>
              <a:ext cx="1152" cy="115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58" name="Oval 27"/>
            <p:cNvSpPr>
              <a:spLocks noChangeArrowheads="1"/>
            </p:cNvSpPr>
            <p:nvPr/>
          </p:nvSpPr>
          <p:spPr bwMode="auto">
            <a:xfrm>
              <a:off x="2640" y="2688"/>
              <a:ext cx="288" cy="2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59" name="AutoShape 28"/>
            <p:cNvSpPr>
              <a:spLocks noChangeArrowheads="1"/>
            </p:cNvSpPr>
            <p:nvPr/>
          </p:nvSpPr>
          <p:spPr bwMode="auto">
            <a:xfrm flipV="1">
              <a:off x="2616" y="2880"/>
              <a:ext cx="336" cy="4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60" name="AutoShape 29"/>
            <p:cNvSpPr>
              <a:spLocks noChangeArrowheads="1"/>
            </p:cNvSpPr>
            <p:nvPr/>
          </p:nvSpPr>
          <p:spPr bwMode="auto">
            <a:xfrm>
              <a:off x="2448" y="1920"/>
              <a:ext cx="624" cy="13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sp>
        <p:nvSpPr>
          <p:cNvPr id="123924" name="Text Box 30"/>
          <p:cNvSpPr txBox="1">
            <a:spLocks noChangeArrowheads="1"/>
          </p:cNvSpPr>
          <p:nvPr/>
        </p:nvSpPr>
        <p:spPr bwMode="auto">
          <a:xfrm>
            <a:off x="224366" y="3619490"/>
            <a:ext cx="4492625" cy="1471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l"/>
            <a:r>
              <a:rPr lang="en-US" sz="2800" b="0" dirty="0">
                <a:solidFill>
                  <a:schemeClr val="tx1"/>
                </a:solidFill>
                <a:latin typeface="Arial"/>
                <a:cs typeface="Arial"/>
              </a:rPr>
              <a:t>   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Overlapping locks detect overlapping operations</a:t>
            </a:r>
          </a:p>
          <a:p>
            <a:pPr algn="l"/>
            <a:r>
              <a:rPr lang="en-US" sz="2800" b="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</a:p>
        </p:txBody>
      </p:sp>
      <p:grpSp>
        <p:nvGrpSpPr>
          <p:cNvPr id="123925" name="Group 40"/>
          <p:cNvGrpSpPr>
            <a:grpSpLocks/>
          </p:cNvGrpSpPr>
          <p:nvPr/>
        </p:nvGrpSpPr>
        <p:grpSpPr bwMode="auto">
          <a:xfrm>
            <a:off x="3260725" y="2100263"/>
            <a:ext cx="471488" cy="476250"/>
            <a:chOff x="2208" y="1920"/>
            <a:chExt cx="1152" cy="1680"/>
          </a:xfrm>
        </p:grpSpPr>
        <p:sp>
          <p:nvSpPr>
            <p:cNvPr id="123953" name="Oval 41"/>
            <p:cNvSpPr>
              <a:spLocks noChangeArrowheads="1"/>
            </p:cNvSpPr>
            <p:nvPr/>
          </p:nvSpPr>
          <p:spPr bwMode="auto">
            <a:xfrm>
              <a:off x="2208" y="2448"/>
              <a:ext cx="1152" cy="115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54" name="Oval 42"/>
            <p:cNvSpPr>
              <a:spLocks noChangeArrowheads="1"/>
            </p:cNvSpPr>
            <p:nvPr/>
          </p:nvSpPr>
          <p:spPr bwMode="auto">
            <a:xfrm>
              <a:off x="2640" y="2688"/>
              <a:ext cx="288" cy="2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55" name="AutoShape 43"/>
            <p:cNvSpPr>
              <a:spLocks noChangeArrowheads="1"/>
            </p:cNvSpPr>
            <p:nvPr/>
          </p:nvSpPr>
          <p:spPr bwMode="auto">
            <a:xfrm flipV="1">
              <a:off x="2616" y="2880"/>
              <a:ext cx="336" cy="4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56" name="AutoShape 44"/>
            <p:cNvSpPr>
              <a:spLocks noChangeArrowheads="1"/>
            </p:cNvSpPr>
            <p:nvPr/>
          </p:nvSpPr>
          <p:spPr bwMode="auto">
            <a:xfrm>
              <a:off x="2448" y="1920"/>
              <a:ext cx="624" cy="13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23926" name="Group 46"/>
          <p:cNvGrpSpPr>
            <a:grpSpLocks/>
          </p:cNvGrpSpPr>
          <p:nvPr/>
        </p:nvGrpSpPr>
        <p:grpSpPr bwMode="auto">
          <a:xfrm>
            <a:off x="4981575" y="2100263"/>
            <a:ext cx="471488" cy="476250"/>
            <a:chOff x="2208" y="1920"/>
            <a:chExt cx="1152" cy="1680"/>
          </a:xfrm>
        </p:grpSpPr>
        <p:sp>
          <p:nvSpPr>
            <p:cNvPr id="123949" name="Oval 47"/>
            <p:cNvSpPr>
              <a:spLocks noChangeArrowheads="1"/>
            </p:cNvSpPr>
            <p:nvPr/>
          </p:nvSpPr>
          <p:spPr bwMode="auto">
            <a:xfrm>
              <a:off x="2208" y="2448"/>
              <a:ext cx="1152" cy="115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50" name="Oval 48"/>
            <p:cNvSpPr>
              <a:spLocks noChangeArrowheads="1"/>
            </p:cNvSpPr>
            <p:nvPr/>
          </p:nvSpPr>
          <p:spPr bwMode="auto">
            <a:xfrm>
              <a:off x="2640" y="2688"/>
              <a:ext cx="288" cy="2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51" name="AutoShape 49"/>
            <p:cNvSpPr>
              <a:spLocks noChangeArrowheads="1"/>
            </p:cNvSpPr>
            <p:nvPr/>
          </p:nvSpPr>
          <p:spPr bwMode="auto">
            <a:xfrm flipV="1">
              <a:off x="2616" y="2880"/>
              <a:ext cx="336" cy="4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52" name="AutoShape 50"/>
            <p:cNvSpPr>
              <a:spLocks noChangeArrowheads="1"/>
            </p:cNvSpPr>
            <p:nvPr/>
          </p:nvSpPr>
          <p:spPr bwMode="auto">
            <a:xfrm>
              <a:off x="2448" y="1920"/>
              <a:ext cx="624" cy="13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23927" name="Group 51"/>
          <p:cNvGrpSpPr>
            <a:grpSpLocks/>
          </p:cNvGrpSpPr>
          <p:nvPr/>
        </p:nvGrpSpPr>
        <p:grpSpPr bwMode="auto">
          <a:xfrm>
            <a:off x="6584950" y="2100263"/>
            <a:ext cx="471488" cy="476250"/>
            <a:chOff x="2208" y="1920"/>
            <a:chExt cx="1152" cy="1680"/>
          </a:xfrm>
        </p:grpSpPr>
        <p:sp>
          <p:nvSpPr>
            <p:cNvPr id="123945" name="Oval 52"/>
            <p:cNvSpPr>
              <a:spLocks noChangeArrowheads="1"/>
            </p:cNvSpPr>
            <p:nvPr/>
          </p:nvSpPr>
          <p:spPr bwMode="auto">
            <a:xfrm>
              <a:off x="2208" y="2448"/>
              <a:ext cx="1152" cy="115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46" name="Oval 53"/>
            <p:cNvSpPr>
              <a:spLocks noChangeArrowheads="1"/>
            </p:cNvSpPr>
            <p:nvPr/>
          </p:nvSpPr>
          <p:spPr bwMode="auto">
            <a:xfrm>
              <a:off x="2640" y="2688"/>
              <a:ext cx="288" cy="2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47" name="AutoShape 54"/>
            <p:cNvSpPr>
              <a:spLocks noChangeArrowheads="1"/>
            </p:cNvSpPr>
            <p:nvPr/>
          </p:nvSpPr>
          <p:spPr bwMode="auto">
            <a:xfrm flipV="1">
              <a:off x="2616" y="2880"/>
              <a:ext cx="336" cy="4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48" name="AutoShape 55"/>
            <p:cNvSpPr>
              <a:spLocks noChangeArrowheads="1"/>
            </p:cNvSpPr>
            <p:nvPr/>
          </p:nvSpPr>
          <p:spPr bwMode="auto">
            <a:xfrm>
              <a:off x="2448" y="1920"/>
              <a:ext cx="624" cy="13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23928" name="Group 62"/>
          <p:cNvGrpSpPr>
            <a:grpSpLocks/>
          </p:cNvGrpSpPr>
          <p:nvPr/>
        </p:nvGrpSpPr>
        <p:grpSpPr bwMode="auto">
          <a:xfrm>
            <a:off x="5130800" y="2085976"/>
            <a:ext cx="2349500" cy="1968500"/>
            <a:chOff x="3232" y="1314"/>
            <a:chExt cx="1480" cy="1240"/>
          </a:xfrm>
        </p:grpSpPr>
        <p:sp>
          <p:nvSpPr>
            <p:cNvPr id="123937" name="AutoShape 63"/>
            <p:cNvSpPr>
              <a:spLocks noChangeArrowheads="1"/>
            </p:cNvSpPr>
            <p:nvPr/>
          </p:nvSpPr>
          <p:spPr bwMode="auto">
            <a:xfrm>
              <a:off x="3822" y="2268"/>
              <a:ext cx="507" cy="234"/>
            </a:xfrm>
            <a:prstGeom prst="roundRect">
              <a:avLst>
                <a:gd name="adj" fmla="val 16667"/>
              </a:avLst>
            </a:prstGeom>
            <a:solidFill>
              <a:srgbClr val="FFCC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38" name="Line 64"/>
            <p:cNvSpPr>
              <a:spLocks noChangeShapeType="1"/>
            </p:cNvSpPr>
            <p:nvPr/>
          </p:nvSpPr>
          <p:spPr bwMode="auto">
            <a:xfrm>
              <a:off x="4089" y="2275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39" name="Text Box 65"/>
            <p:cNvSpPr txBox="1">
              <a:spLocks noChangeArrowheads="1"/>
            </p:cNvSpPr>
            <p:nvPr/>
          </p:nvSpPr>
          <p:spPr bwMode="auto">
            <a:xfrm>
              <a:off x="3809" y="2224"/>
              <a:ext cx="2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23940" name="Freeform 66"/>
            <p:cNvSpPr>
              <a:spLocks/>
            </p:cNvSpPr>
            <p:nvPr/>
          </p:nvSpPr>
          <p:spPr bwMode="auto">
            <a:xfrm>
              <a:off x="4172" y="1953"/>
              <a:ext cx="540" cy="484"/>
            </a:xfrm>
            <a:custGeom>
              <a:avLst/>
              <a:gdLst>
                <a:gd name="T0" fmla="*/ 0 w 581"/>
                <a:gd name="T1" fmla="*/ 1 h 675"/>
                <a:gd name="T2" fmla="*/ 142 w 581"/>
                <a:gd name="T3" fmla="*/ 1 h 675"/>
                <a:gd name="T4" fmla="*/ 72 w 581"/>
                <a:gd name="T5" fmla="*/ 1 h 675"/>
                <a:gd name="T6" fmla="*/ 55 w 581"/>
                <a:gd name="T7" fmla="*/ 0 h 6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1"/>
                <a:gd name="T13" fmla="*/ 0 h 675"/>
                <a:gd name="T14" fmla="*/ 581 w 581"/>
                <a:gd name="T15" fmla="*/ 675 h 6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1" h="675">
                  <a:moveTo>
                    <a:pt x="0" y="635"/>
                  </a:moveTo>
                  <a:cubicBezTo>
                    <a:pt x="245" y="655"/>
                    <a:pt x="491" y="675"/>
                    <a:pt x="536" y="625"/>
                  </a:cubicBezTo>
                  <a:cubicBezTo>
                    <a:pt x="581" y="575"/>
                    <a:pt x="323" y="441"/>
                    <a:pt x="268" y="337"/>
                  </a:cubicBezTo>
                  <a:cubicBezTo>
                    <a:pt x="213" y="233"/>
                    <a:pt x="210" y="116"/>
                    <a:pt x="208" y="0"/>
                  </a:cubicBez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41" name="Line 67"/>
            <p:cNvSpPr>
              <a:spLocks noChangeShapeType="1"/>
            </p:cNvSpPr>
            <p:nvPr/>
          </p:nvSpPr>
          <p:spPr bwMode="auto">
            <a:xfrm>
              <a:off x="3834" y="1733"/>
              <a:ext cx="161" cy="16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42" name="Line 68"/>
            <p:cNvSpPr>
              <a:spLocks noChangeShapeType="1"/>
            </p:cNvSpPr>
            <p:nvPr/>
          </p:nvSpPr>
          <p:spPr bwMode="auto">
            <a:xfrm flipH="1">
              <a:off x="3847" y="1712"/>
              <a:ext cx="152" cy="18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43" name="Freeform 69"/>
            <p:cNvSpPr>
              <a:spLocks/>
            </p:cNvSpPr>
            <p:nvPr/>
          </p:nvSpPr>
          <p:spPr bwMode="auto">
            <a:xfrm>
              <a:off x="3557" y="1780"/>
              <a:ext cx="333" cy="466"/>
            </a:xfrm>
            <a:custGeom>
              <a:avLst/>
              <a:gdLst>
                <a:gd name="T0" fmla="*/ 0 w 358"/>
                <a:gd name="T1" fmla="*/ 1 h 713"/>
                <a:gd name="T2" fmla="*/ 46 w 358"/>
                <a:gd name="T3" fmla="*/ 1 h 713"/>
                <a:gd name="T4" fmla="*/ 89 w 358"/>
                <a:gd name="T5" fmla="*/ 1 h 713"/>
                <a:gd name="T6" fmla="*/ 93 w 358"/>
                <a:gd name="T7" fmla="*/ 1 h 7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8"/>
                <a:gd name="T13" fmla="*/ 0 h 713"/>
                <a:gd name="T14" fmla="*/ 358 w 358"/>
                <a:gd name="T15" fmla="*/ 713 h 7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8" h="713">
                  <a:moveTo>
                    <a:pt x="0" y="58"/>
                  </a:moveTo>
                  <a:cubicBezTo>
                    <a:pt x="57" y="29"/>
                    <a:pt x="114" y="0"/>
                    <a:pt x="169" y="58"/>
                  </a:cubicBezTo>
                  <a:cubicBezTo>
                    <a:pt x="224" y="116"/>
                    <a:pt x="298" y="296"/>
                    <a:pt x="328" y="405"/>
                  </a:cubicBezTo>
                  <a:cubicBezTo>
                    <a:pt x="358" y="514"/>
                    <a:pt x="352" y="613"/>
                    <a:pt x="347" y="713"/>
                  </a:cubicBez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44" name="Rectangle 70"/>
            <p:cNvSpPr>
              <a:spLocks noChangeArrowheads="1"/>
            </p:cNvSpPr>
            <p:nvPr/>
          </p:nvSpPr>
          <p:spPr bwMode="auto">
            <a:xfrm>
              <a:off x="3232" y="1314"/>
              <a:ext cx="116" cy="291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sp>
        <p:nvSpPr>
          <p:cNvPr id="123929" name="Rectangle 73"/>
          <p:cNvSpPr>
            <a:spLocks noChangeArrowheads="1"/>
          </p:cNvSpPr>
          <p:nvPr/>
        </p:nvSpPr>
        <p:spPr bwMode="auto">
          <a:xfrm>
            <a:off x="5067836" y="2120255"/>
            <a:ext cx="184666" cy="46166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3930" name="Rectangle 74"/>
          <p:cNvSpPr>
            <a:spLocks noChangeArrowheads="1"/>
          </p:cNvSpPr>
          <p:nvPr/>
        </p:nvSpPr>
        <p:spPr bwMode="auto">
          <a:xfrm>
            <a:off x="6748998" y="2088505"/>
            <a:ext cx="184666" cy="46166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grpSp>
        <p:nvGrpSpPr>
          <p:cNvPr id="123931" name="Group 71"/>
          <p:cNvGrpSpPr>
            <a:grpSpLocks/>
          </p:cNvGrpSpPr>
          <p:nvPr/>
        </p:nvGrpSpPr>
        <p:grpSpPr bwMode="auto">
          <a:xfrm>
            <a:off x="3397250" y="2092326"/>
            <a:ext cx="3316288" cy="1644650"/>
            <a:chOff x="2140" y="1318"/>
            <a:chExt cx="2089" cy="1036"/>
          </a:xfrm>
        </p:grpSpPr>
        <p:sp>
          <p:nvSpPr>
            <p:cNvPr id="123933" name="Rectangle 31"/>
            <p:cNvSpPr>
              <a:spLocks noChangeArrowheads="1"/>
            </p:cNvSpPr>
            <p:nvPr/>
          </p:nvSpPr>
          <p:spPr bwMode="auto">
            <a:xfrm>
              <a:off x="2140" y="1318"/>
              <a:ext cx="116" cy="2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34" name="Line 58"/>
            <p:cNvSpPr>
              <a:spLocks noChangeShapeType="1"/>
            </p:cNvSpPr>
            <p:nvPr/>
          </p:nvSpPr>
          <p:spPr bwMode="auto">
            <a:xfrm>
              <a:off x="2799" y="1708"/>
              <a:ext cx="159" cy="16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35" name="Line 59"/>
            <p:cNvSpPr>
              <a:spLocks noChangeShapeType="1"/>
            </p:cNvSpPr>
            <p:nvPr/>
          </p:nvSpPr>
          <p:spPr bwMode="auto">
            <a:xfrm flipH="1">
              <a:off x="2812" y="1687"/>
              <a:ext cx="150" cy="18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3936" name="Freeform 60"/>
            <p:cNvSpPr>
              <a:spLocks/>
            </p:cNvSpPr>
            <p:nvPr/>
          </p:nvSpPr>
          <p:spPr bwMode="auto">
            <a:xfrm>
              <a:off x="2483" y="1841"/>
              <a:ext cx="1746" cy="513"/>
            </a:xfrm>
            <a:custGeom>
              <a:avLst/>
              <a:gdLst>
                <a:gd name="T0" fmla="*/ 12 w 1819"/>
                <a:gd name="T1" fmla="*/ 0 h 531"/>
                <a:gd name="T2" fmla="*/ 109 w 1819"/>
                <a:gd name="T3" fmla="*/ 229 h 531"/>
                <a:gd name="T4" fmla="*/ 671 w 1819"/>
                <a:gd name="T5" fmla="*/ 255 h 531"/>
                <a:gd name="T6" fmla="*/ 871 w 1819"/>
                <a:gd name="T7" fmla="*/ 54 h 5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19"/>
                <a:gd name="T13" fmla="*/ 0 h 531"/>
                <a:gd name="T14" fmla="*/ 1819 w 1819"/>
                <a:gd name="T15" fmla="*/ 531 h 5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19" h="531">
                  <a:moveTo>
                    <a:pt x="22" y="0"/>
                  </a:moveTo>
                  <a:cubicBezTo>
                    <a:pt x="11" y="174"/>
                    <a:pt x="0" y="348"/>
                    <a:pt x="230" y="427"/>
                  </a:cubicBezTo>
                  <a:cubicBezTo>
                    <a:pt x="460" y="506"/>
                    <a:pt x="1137" y="531"/>
                    <a:pt x="1402" y="476"/>
                  </a:cubicBezTo>
                  <a:cubicBezTo>
                    <a:pt x="1667" y="421"/>
                    <a:pt x="1743" y="260"/>
                    <a:pt x="1819" y="99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sp>
        <p:nvSpPr>
          <p:cNvPr id="123932" name="Text Box 70"/>
          <p:cNvSpPr txBox="1">
            <a:spLocks noChangeArrowheads="1"/>
          </p:cNvSpPr>
          <p:nvPr/>
        </p:nvSpPr>
        <p:spPr bwMode="auto">
          <a:xfrm>
            <a:off x="825500" y="4648200"/>
            <a:ext cx="8166100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l"/>
            <a:r>
              <a:rPr lang="en-US" sz="2800" b="0" dirty="0">
                <a:solidFill>
                  <a:schemeClr val="tx1"/>
                </a:solidFill>
                <a:latin typeface="Arial"/>
                <a:cs typeface="Arial"/>
              </a:rPr>
              <a:t>Deadlock-free: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 some thread eventually acquires lock.</a:t>
            </a:r>
          </a:p>
          <a:p>
            <a:pPr algn="l"/>
            <a:endParaRPr lang="en-US" sz="2800" b="0" dirty="0">
              <a:solidFill>
                <a:srgbClr val="0000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980070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7B075D6E-4B2E-4D4C-960C-68B0C1DA23DC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119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49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0850"/>
            <a:ext cx="7772400" cy="1143000"/>
          </a:xfrm>
        </p:spPr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Optimistic Fine Grained</a:t>
            </a:r>
          </a:p>
        </p:txBody>
      </p:sp>
      <p:sp>
        <p:nvSpPr>
          <p:cNvPr id="124932" name="AutoShape 3"/>
          <p:cNvSpPr>
            <a:spLocks noChangeArrowheads="1"/>
          </p:cNvSpPr>
          <p:nvPr/>
        </p:nvSpPr>
        <p:spPr bwMode="auto">
          <a:xfrm>
            <a:off x="771525" y="2609850"/>
            <a:ext cx="804863" cy="3714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33" name="Line 4"/>
          <p:cNvSpPr>
            <a:spLocks noChangeShapeType="1"/>
          </p:cNvSpPr>
          <p:nvPr/>
        </p:nvSpPr>
        <p:spPr bwMode="auto">
          <a:xfrm>
            <a:off x="1181100" y="260508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34" name="Text Box 5"/>
          <p:cNvSpPr txBox="1">
            <a:spLocks noChangeArrowheads="1"/>
          </p:cNvSpPr>
          <p:nvPr/>
        </p:nvSpPr>
        <p:spPr bwMode="auto">
          <a:xfrm>
            <a:off x="957263" y="262572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endParaRPr lang="en-US" sz="2800">
              <a:latin typeface="Arial"/>
              <a:cs typeface="Arial"/>
            </a:endParaRPr>
          </a:p>
        </p:txBody>
      </p:sp>
      <p:sp>
        <p:nvSpPr>
          <p:cNvPr id="124935" name="AutoShape 6"/>
          <p:cNvSpPr>
            <a:spLocks noChangeArrowheads="1"/>
          </p:cNvSpPr>
          <p:nvPr/>
        </p:nvSpPr>
        <p:spPr bwMode="auto">
          <a:xfrm>
            <a:off x="4179888" y="2652713"/>
            <a:ext cx="804862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36" name="Line 7"/>
          <p:cNvSpPr>
            <a:spLocks noChangeShapeType="1"/>
          </p:cNvSpPr>
          <p:nvPr/>
        </p:nvSpPr>
        <p:spPr bwMode="auto">
          <a:xfrm>
            <a:off x="4589463" y="264795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37" name="Text Box 8"/>
          <p:cNvSpPr txBox="1">
            <a:spLocks noChangeArrowheads="1"/>
          </p:cNvSpPr>
          <p:nvPr/>
        </p:nvSpPr>
        <p:spPr bwMode="auto">
          <a:xfrm>
            <a:off x="4139423" y="2568575"/>
            <a:ext cx="4040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b</a:t>
            </a:r>
          </a:p>
        </p:txBody>
      </p:sp>
      <p:sp>
        <p:nvSpPr>
          <p:cNvPr id="124938" name="AutoShape 9"/>
          <p:cNvSpPr>
            <a:spLocks noChangeArrowheads="1"/>
          </p:cNvSpPr>
          <p:nvPr/>
        </p:nvSpPr>
        <p:spPr bwMode="auto">
          <a:xfrm>
            <a:off x="5875338" y="2681288"/>
            <a:ext cx="804862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39" name="Line 10"/>
          <p:cNvSpPr>
            <a:spLocks noChangeShapeType="1"/>
          </p:cNvSpPr>
          <p:nvPr/>
        </p:nvSpPr>
        <p:spPr bwMode="auto">
          <a:xfrm>
            <a:off x="6284913" y="2676525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40" name="Text Box 11"/>
          <p:cNvSpPr txBox="1">
            <a:spLocks noChangeArrowheads="1"/>
          </p:cNvSpPr>
          <p:nvPr/>
        </p:nvSpPr>
        <p:spPr bwMode="auto">
          <a:xfrm>
            <a:off x="5854510" y="2611438"/>
            <a:ext cx="3843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c</a:t>
            </a:r>
          </a:p>
        </p:txBody>
      </p:sp>
      <p:sp>
        <p:nvSpPr>
          <p:cNvPr id="124941" name="AutoShape 12"/>
          <p:cNvSpPr>
            <a:spLocks noChangeArrowheads="1"/>
          </p:cNvSpPr>
          <p:nvPr/>
        </p:nvSpPr>
        <p:spPr bwMode="auto">
          <a:xfrm>
            <a:off x="7527925" y="2681288"/>
            <a:ext cx="804863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42" name="Line 13"/>
          <p:cNvSpPr>
            <a:spLocks noChangeShapeType="1"/>
          </p:cNvSpPr>
          <p:nvPr/>
        </p:nvSpPr>
        <p:spPr bwMode="auto">
          <a:xfrm>
            <a:off x="7937500" y="2676525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43" name="Text Box 14"/>
          <p:cNvSpPr txBox="1">
            <a:spLocks noChangeArrowheads="1"/>
          </p:cNvSpPr>
          <p:nvPr/>
        </p:nvSpPr>
        <p:spPr bwMode="auto">
          <a:xfrm>
            <a:off x="7508875" y="25971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e</a:t>
            </a:r>
          </a:p>
        </p:txBody>
      </p:sp>
      <p:sp>
        <p:nvSpPr>
          <p:cNvPr id="124944" name="Line 15"/>
          <p:cNvSpPr>
            <a:spLocks noChangeShapeType="1"/>
          </p:cNvSpPr>
          <p:nvPr/>
        </p:nvSpPr>
        <p:spPr bwMode="auto">
          <a:xfrm>
            <a:off x="1371600" y="2795588"/>
            <a:ext cx="10096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45" name="Line 16"/>
          <p:cNvSpPr>
            <a:spLocks noChangeShapeType="1"/>
          </p:cNvSpPr>
          <p:nvPr/>
        </p:nvSpPr>
        <p:spPr bwMode="auto">
          <a:xfrm>
            <a:off x="6496050" y="2867025"/>
            <a:ext cx="10096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46" name="Line 17"/>
          <p:cNvSpPr>
            <a:spLocks noChangeShapeType="1"/>
          </p:cNvSpPr>
          <p:nvPr/>
        </p:nvSpPr>
        <p:spPr bwMode="auto">
          <a:xfrm>
            <a:off x="4843463" y="2867025"/>
            <a:ext cx="1011237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47" name="Oval 19"/>
          <p:cNvSpPr>
            <a:spLocks noChangeArrowheads="1"/>
          </p:cNvSpPr>
          <p:nvPr/>
        </p:nvSpPr>
        <p:spPr bwMode="auto">
          <a:xfrm>
            <a:off x="800100" y="2220913"/>
            <a:ext cx="471488" cy="327025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48" name="Oval 20"/>
          <p:cNvSpPr>
            <a:spLocks noChangeArrowheads="1"/>
          </p:cNvSpPr>
          <p:nvPr/>
        </p:nvSpPr>
        <p:spPr bwMode="auto">
          <a:xfrm>
            <a:off x="976313" y="2289175"/>
            <a:ext cx="119062" cy="82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49" name="AutoShape 21"/>
          <p:cNvSpPr>
            <a:spLocks noChangeArrowheads="1"/>
          </p:cNvSpPr>
          <p:nvPr/>
        </p:nvSpPr>
        <p:spPr bwMode="auto">
          <a:xfrm flipV="1">
            <a:off x="966788" y="2343150"/>
            <a:ext cx="138112" cy="1238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50" name="AutoShape 22"/>
          <p:cNvSpPr>
            <a:spLocks noChangeArrowheads="1"/>
          </p:cNvSpPr>
          <p:nvPr/>
        </p:nvSpPr>
        <p:spPr bwMode="auto">
          <a:xfrm>
            <a:off x="898525" y="2071688"/>
            <a:ext cx="255588" cy="395287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5400" y="10800"/>
                </a:moveTo>
                <a:cubicBezTo>
                  <a:pt x="5400" y="7817"/>
                  <a:pt x="7817" y="5400"/>
                  <a:pt x="10800" y="5400"/>
                </a:cubicBezTo>
                <a:cubicBezTo>
                  <a:pt x="13782" y="5399"/>
                  <a:pt x="16199" y="7817"/>
                  <a:pt x="16200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51" name="AutoShape 24"/>
          <p:cNvSpPr>
            <a:spLocks noChangeArrowheads="1"/>
          </p:cNvSpPr>
          <p:nvPr/>
        </p:nvSpPr>
        <p:spPr bwMode="auto">
          <a:xfrm>
            <a:off x="2460625" y="2616200"/>
            <a:ext cx="804863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52" name="Line 25"/>
          <p:cNvSpPr>
            <a:spLocks noChangeShapeType="1"/>
          </p:cNvSpPr>
          <p:nvPr/>
        </p:nvSpPr>
        <p:spPr bwMode="auto">
          <a:xfrm>
            <a:off x="2870200" y="261143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53" name="Text Box 26"/>
          <p:cNvSpPr txBox="1">
            <a:spLocks noChangeArrowheads="1"/>
          </p:cNvSpPr>
          <p:nvPr/>
        </p:nvSpPr>
        <p:spPr bwMode="auto">
          <a:xfrm>
            <a:off x="2443163" y="2532063"/>
            <a:ext cx="38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a</a:t>
            </a:r>
          </a:p>
        </p:txBody>
      </p:sp>
      <p:sp>
        <p:nvSpPr>
          <p:cNvPr id="124954" name="Line 27"/>
          <p:cNvSpPr>
            <a:spLocks noChangeShapeType="1"/>
          </p:cNvSpPr>
          <p:nvPr/>
        </p:nvSpPr>
        <p:spPr bwMode="auto">
          <a:xfrm>
            <a:off x="3124200" y="2830513"/>
            <a:ext cx="1011238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55" name="Oval 29"/>
          <p:cNvSpPr>
            <a:spLocks noChangeArrowheads="1"/>
          </p:cNvSpPr>
          <p:nvPr/>
        </p:nvSpPr>
        <p:spPr bwMode="auto">
          <a:xfrm>
            <a:off x="2571750" y="2220913"/>
            <a:ext cx="471488" cy="327025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56" name="Oval 30"/>
          <p:cNvSpPr>
            <a:spLocks noChangeArrowheads="1"/>
          </p:cNvSpPr>
          <p:nvPr/>
        </p:nvSpPr>
        <p:spPr bwMode="auto">
          <a:xfrm>
            <a:off x="2747963" y="2289175"/>
            <a:ext cx="119062" cy="82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57" name="AutoShape 31"/>
          <p:cNvSpPr>
            <a:spLocks noChangeArrowheads="1"/>
          </p:cNvSpPr>
          <p:nvPr/>
        </p:nvSpPr>
        <p:spPr bwMode="auto">
          <a:xfrm flipV="1">
            <a:off x="2738438" y="2343150"/>
            <a:ext cx="138112" cy="1238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58" name="AutoShape 32"/>
          <p:cNvSpPr>
            <a:spLocks noChangeArrowheads="1"/>
          </p:cNvSpPr>
          <p:nvPr/>
        </p:nvSpPr>
        <p:spPr bwMode="auto">
          <a:xfrm>
            <a:off x="2670175" y="2071688"/>
            <a:ext cx="255588" cy="395287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5400" y="10800"/>
                </a:moveTo>
                <a:cubicBezTo>
                  <a:pt x="5400" y="7817"/>
                  <a:pt x="7817" y="5400"/>
                  <a:pt x="10800" y="5400"/>
                </a:cubicBezTo>
                <a:cubicBezTo>
                  <a:pt x="13782" y="5399"/>
                  <a:pt x="16199" y="7817"/>
                  <a:pt x="16200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59" name="Oval 34"/>
          <p:cNvSpPr>
            <a:spLocks noChangeArrowheads="1"/>
          </p:cNvSpPr>
          <p:nvPr/>
        </p:nvSpPr>
        <p:spPr bwMode="auto">
          <a:xfrm>
            <a:off x="4248150" y="2235200"/>
            <a:ext cx="471488" cy="327025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60" name="Oval 35"/>
          <p:cNvSpPr>
            <a:spLocks noChangeArrowheads="1"/>
          </p:cNvSpPr>
          <p:nvPr/>
        </p:nvSpPr>
        <p:spPr bwMode="auto">
          <a:xfrm>
            <a:off x="4424363" y="2303463"/>
            <a:ext cx="119062" cy="82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61" name="AutoShape 36"/>
          <p:cNvSpPr>
            <a:spLocks noChangeArrowheads="1"/>
          </p:cNvSpPr>
          <p:nvPr/>
        </p:nvSpPr>
        <p:spPr bwMode="auto">
          <a:xfrm flipV="1">
            <a:off x="4414838" y="2357438"/>
            <a:ext cx="138112" cy="1238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62" name="AutoShape 37"/>
          <p:cNvSpPr>
            <a:spLocks noChangeArrowheads="1"/>
          </p:cNvSpPr>
          <p:nvPr/>
        </p:nvSpPr>
        <p:spPr bwMode="auto">
          <a:xfrm>
            <a:off x="4346575" y="2085975"/>
            <a:ext cx="255588" cy="395288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5400" y="10800"/>
                </a:moveTo>
                <a:cubicBezTo>
                  <a:pt x="5400" y="7817"/>
                  <a:pt x="7817" y="5400"/>
                  <a:pt x="10800" y="5400"/>
                </a:cubicBezTo>
                <a:cubicBezTo>
                  <a:pt x="13782" y="5399"/>
                  <a:pt x="16199" y="7817"/>
                  <a:pt x="16200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63" name="Oval 39"/>
          <p:cNvSpPr>
            <a:spLocks noChangeArrowheads="1"/>
          </p:cNvSpPr>
          <p:nvPr/>
        </p:nvSpPr>
        <p:spPr bwMode="auto">
          <a:xfrm>
            <a:off x="5881688" y="2249488"/>
            <a:ext cx="471487" cy="327025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64" name="Oval 40"/>
          <p:cNvSpPr>
            <a:spLocks noChangeArrowheads="1"/>
          </p:cNvSpPr>
          <p:nvPr/>
        </p:nvSpPr>
        <p:spPr bwMode="auto">
          <a:xfrm>
            <a:off x="6057900" y="2317750"/>
            <a:ext cx="119063" cy="82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65" name="AutoShape 41"/>
          <p:cNvSpPr>
            <a:spLocks noChangeArrowheads="1"/>
          </p:cNvSpPr>
          <p:nvPr/>
        </p:nvSpPr>
        <p:spPr bwMode="auto">
          <a:xfrm flipV="1">
            <a:off x="6048375" y="2371725"/>
            <a:ext cx="138113" cy="1238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66" name="AutoShape 42"/>
          <p:cNvSpPr>
            <a:spLocks noChangeArrowheads="1"/>
          </p:cNvSpPr>
          <p:nvPr/>
        </p:nvSpPr>
        <p:spPr bwMode="auto">
          <a:xfrm>
            <a:off x="5980113" y="2100263"/>
            <a:ext cx="255587" cy="395287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5400" y="10800"/>
                </a:moveTo>
                <a:cubicBezTo>
                  <a:pt x="5400" y="7817"/>
                  <a:pt x="7817" y="5400"/>
                  <a:pt x="10800" y="5400"/>
                </a:cubicBezTo>
                <a:cubicBezTo>
                  <a:pt x="13782" y="5399"/>
                  <a:pt x="16199" y="7817"/>
                  <a:pt x="16200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67" name="Oval 44"/>
          <p:cNvSpPr>
            <a:spLocks noChangeArrowheads="1"/>
          </p:cNvSpPr>
          <p:nvPr/>
        </p:nvSpPr>
        <p:spPr bwMode="auto">
          <a:xfrm>
            <a:off x="7485063" y="2263775"/>
            <a:ext cx="471487" cy="327025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68" name="Oval 45"/>
          <p:cNvSpPr>
            <a:spLocks noChangeArrowheads="1"/>
          </p:cNvSpPr>
          <p:nvPr/>
        </p:nvSpPr>
        <p:spPr bwMode="auto">
          <a:xfrm>
            <a:off x="7661275" y="2332038"/>
            <a:ext cx="119063" cy="8255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69" name="AutoShape 46"/>
          <p:cNvSpPr>
            <a:spLocks noChangeArrowheads="1"/>
          </p:cNvSpPr>
          <p:nvPr/>
        </p:nvSpPr>
        <p:spPr bwMode="auto">
          <a:xfrm flipV="1">
            <a:off x="7651750" y="2386013"/>
            <a:ext cx="138113" cy="1238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70" name="AutoShape 47"/>
          <p:cNvSpPr>
            <a:spLocks noChangeArrowheads="1"/>
          </p:cNvSpPr>
          <p:nvPr/>
        </p:nvSpPr>
        <p:spPr bwMode="auto">
          <a:xfrm>
            <a:off x="7583488" y="2114550"/>
            <a:ext cx="255587" cy="395288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5400" y="10800"/>
                </a:moveTo>
                <a:cubicBezTo>
                  <a:pt x="5400" y="7817"/>
                  <a:pt x="7817" y="5400"/>
                  <a:pt x="10800" y="5400"/>
                </a:cubicBezTo>
                <a:cubicBezTo>
                  <a:pt x="13782" y="5399"/>
                  <a:pt x="16199" y="7817"/>
                  <a:pt x="16200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71" name="Freeform 49"/>
          <p:cNvSpPr>
            <a:spLocks/>
          </p:cNvSpPr>
          <p:nvPr/>
        </p:nvSpPr>
        <p:spPr bwMode="auto">
          <a:xfrm>
            <a:off x="1814513" y="2168525"/>
            <a:ext cx="2219325" cy="461665"/>
          </a:xfrm>
          <a:custGeom>
            <a:avLst/>
            <a:gdLst>
              <a:gd name="T0" fmla="*/ 0 w 1070"/>
              <a:gd name="T1" fmla="*/ 2147483647 h 216"/>
              <a:gd name="T2" fmla="*/ 2147483647 w 1070"/>
              <a:gd name="T3" fmla="*/ 2147483647 h 216"/>
              <a:gd name="T4" fmla="*/ 2147483647 w 1070"/>
              <a:gd name="T5" fmla="*/ 2147483647 h 216"/>
              <a:gd name="T6" fmla="*/ 2147483647 w 1070"/>
              <a:gd name="T7" fmla="*/ 2147483647 h 216"/>
              <a:gd name="T8" fmla="*/ 2147483647 w 1070"/>
              <a:gd name="T9" fmla="*/ 2147483647 h 216"/>
              <a:gd name="T10" fmla="*/ 2147483647 w 1070"/>
              <a:gd name="T11" fmla="*/ 2147483647 h 216"/>
              <a:gd name="T12" fmla="*/ 2147483647 w 1070"/>
              <a:gd name="T13" fmla="*/ 2147483647 h 216"/>
              <a:gd name="T14" fmla="*/ 2147483647 w 1070"/>
              <a:gd name="T15" fmla="*/ 2147483647 h 21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70"/>
              <a:gd name="T25" fmla="*/ 0 h 216"/>
              <a:gd name="T26" fmla="*/ 1070 w 1070"/>
              <a:gd name="T27" fmla="*/ 216 h 21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70" h="216">
                <a:moveTo>
                  <a:pt x="0" y="216"/>
                </a:moveTo>
                <a:cubicBezTo>
                  <a:pt x="54" y="114"/>
                  <a:pt x="108" y="12"/>
                  <a:pt x="164" y="6"/>
                </a:cubicBezTo>
                <a:cubicBezTo>
                  <a:pt x="220" y="0"/>
                  <a:pt x="279" y="174"/>
                  <a:pt x="338" y="180"/>
                </a:cubicBezTo>
                <a:cubicBezTo>
                  <a:pt x="397" y="186"/>
                  <a:pt x="474" y="48"/>
                  <a:pt x="521" y="43"/>
                </a:cubicBezTo>
                <a:cubicBezTo>
                  <a:pt x="568" y="38"/>
                  <a:pt x="579" y="146"/>
                  <a:pt x="622" y="152"/>
                </a:cubicBezTo>
                <a:cubicBezTo>
                  <a:pt x="665" y="158"/>
                  <a:pt x="731" y="83"/>
                  <a:pt x="777" y="79"/>
                </a:cubicBezTo>
                <a:cubicBezTo>
                  <a:pt x="823" y="75"/>
                  <a:pt x="847" y="124"/>
                  <a:pt x="896" y="125"/>
                </a:cubicBezTo>
                <a:cubicBezTo>
                  <a:pt x="945" y="126"/>
                  <a:pt x="1007" y="107"/>
                  <a:pt x="1070" y="8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72" name="Freeform 53"/>
          <p:cNvSpPr>
            <a:spLocks/>
          </p:cNvSpPr>
          <p:nvPr/>
        </p:nvSpPr>
        <p:spPr bwMode="auto">
          <a:xfrm>
            <a:off x="1822450" y="1624013"/>
            <a:ext cx="2219325" cy="461665"/>
          </a:xfrm>
          <a:custGeom>
            <a:avLst/>
            <a:gdLst>
              <a:gd name="T0" fmla="*/ 0 w 1070"/>
              <a:gd name="T1" fmla="*/ 2147483647 h 216"/>
              <a:gd name="T2" fmla="*/ 2147483647 w 1070"/>
              <a:gd name="T3" fmla="*/ 2147483647 h 216"/>
              <a:gd name="T4" fmla="*/ 2147483647 w 1070"/>
              <a:gd name="T5" fmla="*/ 2147483647 h 216"/>
              <a:gd name="T6" fmla="*/ 2147483647 w 1070"/>
              <a:gd name="T7" fmla="*/ 2147483647 h 216"/>
              <a:gd name="T8" fmla="*/ 2147483647 w 1070"/>
              <a:gd name="T9" fmla="*/ 2147483647 h 216"/>
              <a:gd name="T10" fmla="*/ 2147483647 w 1070"/>
              <a:gd name="T11" fmla="*/ 2147483647 h 216"/>
              <a:gd name="T12" fmla="*/ 2147483647 w 1070"/>
              <a:gd name="T13" fmla="*/ 2147483647 h 216"/>
              <a:gd name="T14" fmla="*/ 2147483647 w 1070"/>
              <a:gd name="T15" fmla="*/ 2147483647 h 21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70"/>
              <a:gd name="T25" fmla="*/ 0 h 216"/>
              <a:gd name="T26" fmla="*/ 1070 w 1070"/>
              <a:gd name="T27" fmla="*/ 216 h 21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70" h="216">
                <a:moveTo>
                  <a:pt x="0" y="216"/>
                </a:moveTo>
                <a:cubicBezTo>
                  <a:pt x="54" y="114"/>
                  <a:pt x="108" y="12"/>
                  <a:pt x="164" y="6"/>
                </a:cubicBezTo>
                <a:cubicBezTo>
                  <a:pt x="220" y="0"/>
                  <a:pt x="279" y="174"/>
                  <a:pt x="338" y="180"/>
                </a:cubicBezTo>
                <a:cubicBezTo>
                  <a:pt x="397" y="186"/>
                  <a:pt x="474" y="48"/>
                  <a:pt x="521" y="43"/>
                </a:cubicBezTo>
                <a:cubicBezTo>
                  <a:pt x="568" y="38"/>
                  <a:pt x="579" y="146"/>
                  <a:pt x="622" y="152"/>
                </a:cubicBezTo>
                <a:cubicBezTo>
                  <a:pt x="665" y="158"/>
                  <a:pt x="731" y="83"/>
                  <a:pt x="777" y="79"/>
                </a:cubicBezTo>
                <a:cubicBezTo>
                  <a:pt x="823" y="75"/>
                  <a:pt x="847" y="124"/>
                  <a:pt x="896" y="125"/>
                </a:cubicBezTo>
                <a:cubicBezTo>
                  <a:pt x="945" y="126"/>
                  <a:pt x="1007" y="107"/>
                  <a:pt x="1070" y="88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73" name="Line 54"/>
          <p:cNvSpPr>
            <a:spLocks noChangeShapeType="1"/>
          </p:cNvSpPr>
          <p:nvPr/>
        </p:nvSpPr>
        <p:spPr bwMode="auto">
          <a:xfrm>
            <a:off x="4949825" y="2466975"/>
            <a:ext cx="739775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74" name="Rectangle 57"/>
          <p:cNvSpPr>
            <a:spLocks noChangeArrowheads="1"/>
          </p:cNvSpPr>
          <p:nvPr/>
        </p:nvSpPr>
        <p:spPr bwMode="auto">
          <a:xfrm>
            <a:off x="4397911" y="2086917"/>
            <a:ext cx="184666" cy="46166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75" name="Rectangle 58"/>
          <p:cNvSpPr>
            <a:spLocks noChangeArrowheads="1"/>
          </p:cNvSpPr>
          <p:nvPr/>
        </p:nvSpPr>
        <p:spPr bwMode="auto">
          <a:xfrm>
            <a:off x="6047323" y="2110730"/>
            <a:ext cx="184666" cy="46166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4976" name="Text Box 70"/>
          <p:cNvSpPr txBox="1">
            <a:spLocks noChangeArrowheads="1"/>
          </p:cNvSpPr>
          <p:nvPr/>
        </p:nvSpPr>
        <p:spPr bwMode="auto">
          <a:xfrm>
            <a:off x="1285875" y="3506788"/>
            <a:ext cx="7277100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add()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28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remove()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28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contains()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 lock destination nodes in order</a:t>
            </a:r>
          </a:p>
          <a:p>
            <a:endParaRPr lang="en-US" sz="2800" b="0" dirty="0">
              <a:latin typeface="Arial"/>
              <a:cs typeface="Arial"/>
            </a:endParaRPr>
          </a:p>
          <a:p>
            <a:r>
              <a:rPr lang="en-US" sz="2800" b="0" dirty="0">
                <a:solidFill>
                  <a:schemeClr val="tx1"/>
                </a:solidFill>
                <a:latin typeface="Arial"/>
                <a:cs typeface="Arial"/>
              </a:rPr>
              <a:t>Deadlock-free: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 some thread trying to acquire the locks eventually succeeds.</a:t>
            </a:r>
          </a:p>
          <a:p>
            <a:endParaRPr lang="en-US" sz="2800" b="0" dirty="0">
              <a:latin typeface="Arial"/>
              <a:cs typeface="Arial"/>
            </a:endParaRPr>
          </a:p>
        </p:txBody>
      </p:sp>
      <p:grpSp>
        <p:nvGrpSpPr>
          <p:cNvPr id="124977" name="Group 71"/>
          <p:cNvGrpSpPr>
            <a:grpSpLocks/>
          </p:cNvGrpSpPr>
          <p:nvPr/>
        </p:nvGrpSpPr>
        <p:grpSpPr bwMode="auto">
          <a:xfrm>
            <a:off x="4411663" y="1851025"/>
            <a:ext cx="119062" cy="231775"/>
            <a:chOff x="2571" y="1098"/>
            <a:chExt cx="412" cy="328"/>
          </a:xfrm>
        </p:grpSpPr>
        <p:sp>
          <p:nvSpPr>
            <p:cNvPr id="124986" name="Freeform 72"/>
            <p:cNvSpPr>
              <a:spLocks/>
            </p:cNvSpPr>
            <p:nvPr/>
          </p:nvSpPr>
          <p:spPr bwMode="auto">
            <a:xfrm>
              <a:off x="2571" y="1098"/>
              <a:ext cx="188" cy="321"/>
            </a:xfrm>
            <a:custGeom>
              <a:avLst/>
              <a:gdLst>
                <a:gd name="T0" fmla="*/ 20729 w 141"/>
                <a:gd name="T1" fmla="*/ 3 h 428"/>
                <a:gd name="T2" fmla="*/ 20047 w 141"/>
                <a:gd name="T3" fmla="*/ 3 h 428"/>
                <a:gd name="T4" fmla="*/ 17143 w 141"/>
                <a:gd name="T5" fmla="*/ 3 h 428"/>
                <a:gd name="T6" fmla="*/ 14423 w 141"/>
                <a:gd name="T7" fmla="*/ 2 h 428"/>
                <a:gd name="T8" fmla="*/ 12343 w 141"/>
                <a:gd name="T9" fmla="*/ 2 h 428"/>
                <a:gd name="T10" fmla="*/ 10241 w 141"/>
                <a:gd name="T11" fmla="*/ 2 h 428"/>
                <a:gd name="T12" fmla="*/ 8361 w 141"/>
                <a:gd name="T13" fmla="*/ 2 h 428"/>
                <a:gd name="T14" fmla="*/ 6271 w 141"/>
                <a:gd name="T15" fmla="*/ 2 h 428"/>
                <a:gd name="T16" fmla="*/ 4068 w 141"/>
                <a:gd name="T17" fmla="*/ 2 h 428"/>
                <a:gd name="T18" fmla="*/ 2759 w 141"/>
                <a:gd name="T19" fmla="*/ 2 h 428"/>
                <a:gd name="T20" fmla="*/ 2069 w 141"/>
                <a:gd name="T21" fmla="*/ 2 h 428"/>
                <a:gd name="T22" fmla="*/ 655 w 141"/>
                <a:gd name="T23" fmla="*/ 2 h 428"/>
                <a:gd name="T24" fmla="*/ 0 w 141"/>
                <a:gd name="T25" fmla="*/ 2 h 428"/>
                <a:gd name="T26" fmla="*/ 655 w 141"/>
                <a:gd name="T27" fmla="*/ 2 h 428"/>
                <a:gd name="T28" fmla="*/ 1505 w 141"/>
                <a:gd name="T29" fmla="*/ 2 h 428"/>
                <a:gd name="T30" fmla="*/ 2759 w 141"/>
                <a:gd name="T31" fmla="*/ 2 h 428"/>
                <a:gd name="T32" fmla="*/ 3321 w 141"/>
                <a:gd name="T33" fmla="*/ 2 h 428"/>
                <a:gd name="T34" fmla="*/ 4068 w 141"/>
                <a:gd name="T35" fmla="*/ 2 h 428"/>
                <a:gd name="T36" fmla="*/ 4757 w 141"/>
                <a:gd name="T37" fmla="*/ 2 h 428"/>
                <a:gd name="T38" fmla="*/ 6271 w 141"/>
                <a:gd name="T39" fmla="*/ 2 h 428"/>
                <a:gd name="T40" fmla="*/ 6913 w 141"/>
                <a:gd name="T41" fmla="*/ 2 h 428"/>
                <a:gd name="T42" fmla="*/ 7583 w 141"/>
                <a:gd name="T43" fmla="*/ 2 h 428"/>
                <a:gd name="T44" fmla="*/ 8361 w 141"/>
                <a:gd name="T45" fmla="*/ 2 h 428"/>
                <a:gd name="T46" fmla="*/ 9073 w 141"/>
                <a:gd name="T47" fmla="*/ 2 h 428"/>
                <a:gd name="T48" fmla="*/ 10241 w 141"/>
                <a:gd name="T49" fmla="*/ 2 h 428"/>
                <a:gd name="T50" fmla="*/ 11077 w 141"/>
                <a:gd name="T51" fmla="*/ 0 h 428"/>
                <a:gd name="T52" fmla="*/ 11660 w 141"/>
                <a:gd name="T53" fmla="*/ 2 h 428"/>
                <a:gd name="T54" fmla="*/ 11660 w 141"/>
                <a:gd name="T55" fmla="*/ 2 h 428"/>
                <a:gd name="T56" fmla="*/ 11660 w 141"/>
                <a:gd name="T57" fmla="*/ 2 h 428"/>
                <a:gd name="T58" fmla="*/ 12343 w 141"/>
                <a:gd name="T59" fmla="*/ 2 h 428"/>
                <a:gd name="T60" fmla="*/ 13852 w 141"/>
                <a:gd name="T61" fmla="*/ 2 h 428"/>
                <a:gd name="T62" fmla="*/ 15275 w 141"/>
                <a:gd name="T63" fmla="*/ 2 h 428"/>
                <a:gd name="T64" fmla="*/ 17143 w 141"/>
                <a:gd name="T65" fmla="*/ 2 h 428"/>
                <a:gd name="T66" fmla="*/ 19231 w 141"/>
                <a:gd name="T67" fmla="*/ 2 h 428"/>
                <a:gd name="T68" fmla="*/ 20729 w 141"/>
                <a:gd name="T69" fmla="*/ 2 h 428"/>
                <a:gd name="T70" fmla="*/ 21943 w 141"/>
                <a:gd name="T71" fmla="*/ 2 h 428"/>
                <a:gd name="T72" fmla="*/ 23380 w 141"/>
                <a:gd name="T73" fmla="*/ 2 h 428"/>
                <a:gd name="T74" fmla="*/ 24023 w 141"/>
                <a:gd name="T75" fmla="*/ 2 h 428"/>
                <a:gd name="T76" fmla="*/ 24880 w 141"/>
                <a:gd name="T77" fmla="*/ 2 h 428"/>
                <a:gd name="T78" fmla="*/ 24880 w 141"/>
                <a:gd name="T79" fmla="*/ 2 h 428"/>
                <a:gd name="T80" fmla="*/ 24880 w 141"/>
                <a:gd name="T81" fmla="*/ 2 h 428"/>
                <a:gd name="T82" fmla="*/ 24880 w 141"/>
                <a:gd name="T83" fmla="*/ 2 h 428"/>
                <a:gd name="T84" fmla="*/ 24880 w 141"/>
                <a:gd name="T85" fmla="*/ 2 h 428"/>
                <a:gd name="T86" fmla="*/ 24023 w 141"/>
                <a:gd name="T87" fmla="*/ 2 h 428"/>
                <a:gd name="T88" fmla="*/ 24023 w 141"/>
                <a:gd name="T89" fmla="*/ 2 h 428"/>
                <a:gd name="T90" fmla="*/ 24023 w 141"/>
                <a:gd name="T91" fmla="*/ 2 h 428"/>
                <a:gd name="T92" fmla="*/ 23380 w 141"/>
                <a:gd name="T93" fmla="*/ 2 h 428"/>
                <a:gd name="T94" fmla="*/ 22740 w 141"/>
                <a:gd name="T95" fmla="*/ 2 h 428"/>
                <a:gd name="T96" fmla="*/ 22740 w 141"/>
                <a:gd name="T97" fmla="*/ 3 h 428"/>
                <a:gd name="T98" fmla="*/ 21943 w 141"/>
                <a:gd name="T99" fmla="*/ 3 h 428"/>
                <a:gd name="T100" fmla="*/ 20729 w 141"/>
                <a:gd name="T101" fmla="*/ 3 h 4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41"/>
                <a:gd name="T154" fmla="*/ 0 h 428"/>
                <a:gd name="T155" fmla="*/ 141 w 141"/>
                <a:gd name="T156" fmla="*/ 428 h 4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41" h="428">
                  <a:moveTo>
                    <a:pt x="117" y="427"/>
                  </a:moveTo>
                  <a:lnTo>
                    <a:pt x="117" y="419"/>
                  </a:lnTo>
                  <a:lnTo>
                    <a:pt x="117" y="411"/>
                  </a:lnTo>
                  <a:lnTo>
                    <a:pt x="113" y="402"/>
                  </a:lnTo>
                  <a:lnTo>
                    <a:pt x="105" y="390"/>
                  </a:lnTo>
                  <a:lnTo>
                    <a:pt x="97" y="386"/>
                  </a:lnTo>
                  <a:lnTo>
                    <a:pt x="89" y="378"/>
                  </a:lnTo>
                  <a:lnTo>
                    <a:pt x="82" y="365"/>
                  </a:lnTo>
                  <a:lnTo>
                    <a:pt x="74" y="357"/>
                  </a:lnTo>
                  <a:lnTo>
                    <a:pt x="70" y="349"/>
                  </a:lnTo>
                  <a:lnTo>
                    <a:pt x="62" y="345"/>
                  </a:lnTo>
                  <a:lnTo>
                    <a:pt x="58" y="337"/>
                  </a:lnTo>
                  <a:lnTo>
                    <a:pt x="54" y="328"/>
                  </a:lnTo>
                  <a:lnTo>
                    <a:pt x="47" y="324"/>
                  </a:lnTo>
                  <a:lnTo>
                    <a:pt x="39" y="316"/>
                  </a:lnTo>
                  <a:lnTo>
                    <a:pt x="35" y="308"/>
                  </a:lnTo>
                  <a:lnTo>
                    <a:pt x="27" y="304"/>
                  </a:lnTo>
                  <a:lnTo>
                    <a:pt x="23" y="296"/>
                  </a:lnTo>
                  <a:lnTo>
                    <a:pt x="19" y="287"/>
                  </a:lnTo>
                  <a:lnTo>
                    <a:pt x="16" y="279"/>
                  </a:lnTo>
                  <a:lnTo>
                    <a:pt x="12" y="271"/>
                  </a:lnTo>
                  <a:lnTo>
                    <a:pt x="12" y="263"/>
                  </a:lnTo>
                  <a:lnTo>
                    <a:pt x="8" y="255"/>
                  </a:lnTo>
                  <a:lnTo>
                    <a:pt x="4" y="246"/>
                  </a:lnTo>
                  <a:lnTo>
                    <a:pt x="4" y="238"/>
                  </a:lnTo>
                  <a:lnTo>
                    <a:pt x="0" y="230"/>
                  </a:lnTo>
                  <a:lnTo>
                    <a:pt x="0" y="222"/>
                  </a:lnTo>
                  <a:lnTo>
                    <a:pt x="4" y="214"/>
                  </a:lnTo>
                  <a:lnTo>
                    <a:pt x="8" y="205"/>
                  </a:lnTo>
                  <a:lnTo>
                    <a:pt x="8" y="197"/>
                  </a:lnTo>
                  <a:lnTo>
                    <a:pt x="12" y="185"/>
                  </a:lnTo>
                  <a:lnTo>
                    <a:pt x="16" y="177"/>
                  </a:lnTo>
                  <a:lnTo>
                    <a:pt x="16" y="168"/>
                  </a:lnTo>
                  <a:lnTo>
                    <a:pt x="19" y="160"/>
                  </a:lnTo>
                  <a:lnTo>
                    <a:pt x="19" y="148"/>
                  </a:lnTo>
                  <a:lnTo>
                    <a:pt x="23" y="135"/>
                  </a:lnTo>
                  <a:lnTo>
                    <a:pt x="27" y="127"/>
                  </a:lnTo>
                  <a:lnTo>
                    <a:pt x="27" y="115"/>
                  </a:lnTo>
                  <a:lnTo>
                    <a:pt x="31" y="107"/>
                  </a:lnTo>
                  <a:lnTo>
                    <a:pt x="35" y="99"/>
                  </a:lnTo>
                  <a:lnTo>
                    <a:pt x="39" y="90"/>
                  </a:lnTo>
                  <a:lnTo>
                    <a:pt x="39" y="82"/>
                  </a:lnTo>
                  <a:lnTo>
                    <a:pt x="43" y="74"/>
                  </a:lnTo>
                  <a:lnTo>
                    <a:pt x="43" y="66"/>
                  </a:lnTo>
                  <a:lnTo>
                    <a:pt x="47" y="57"/>
                  </a:lnTo>
                  <a:lnTo>
                    <a:pt x="47" y="49"/>
                  </a:lnTo>
                  <a:lnTo>
                    <a:pt x="51" y="41"/>
                  </a:lnTo>
                  <a:lnTo>
                    <a:pt x="51" y="33"/>
                  </a:lnTo>
                  <a:lnTo>
                    <a:pt x="54" y="25"/>
                  </a:lnTo>
                  <a:lnTo>
                    <a:pt x="58" y="16"/>
                  </a:lnTo>
                  <a:lnTo>
                    <a:pt x="62" y="8"/>
                  </a:lnTo>
                  <a:lnTo>
                    <a:pt x="62" y="0"/>
                  </a:lnTo>
                  <a:lnTo>
                    <a:pt x="66" y="8"/>
                  </a:lnTo>
                  <a:lnTo>
                    <a:pt x="66" y="16"/>
                  </a:lnTo>
                  <a:lnTo>
                    <a:pt x="66" y="25"/>
                  </a:lnTo>
                  <a:lnTo>
                    <a:pt x="66" y="33"/>
                  </a:lnTo>
                  <a:lnTo>
                    <a:pt x="66" y="41"/>
                  </a:lnTo>
                  <a:lnTo>
                    <a:pt x="66" y="49"/>
                  </a:lnTo>
                  <a:lnTo>
                    <a:pt x="66" y="57"/>
                  </a:lnTo>
                  <a:lnTo>
                    <a:pt x="70" y="66"/>
                  </a:lnTo>
                  <a:lnTo>
                    <a:pt x="74" y="74"/>
                  </a:lnTo>
                  <a:lnTo>
                    <a:pt x="78" y="82"/>
                  </a:lnTo>
                  <a:lnTo>
                    <a:pt x="82" y="90"/>
                  </a:lnTo>
                  <a:lnTo>
                    <a:pt x="86" y="99"/>
                  </a:lnTo>
                  <a:lnTo>
                    <a:pt x="89" y="107"/>
                  </a:lnTo>
                  <a:lnTo>
                    <a:pt x="97" y="115"/>
                  </a:lnTo>
                  <a:lnTo>
                    <a:pt x="101" y="123"/>
                  </a:lnTo>
                  <a:lnTo>
                    <a:pt x="109" y="131"/>
                  </a:lnTo>
                  <a:lnTo>
                    <a:pt x="113" y="140"/>
                  </a:lnTo>
                  <a:lnTo>
                    <a:pt x="117" y="148"/>
                  </a:lnTo>
                  <a:lnTo>
                    <a:pt x="121" y="156"/>
                  </a:lnTo>
                  <a:lnTo>
                    <a:pt x="124" y="164"/>
                  </a:lnTo>
                  <a:lnTo>
                    <a:pt x="128" y="172"/>
                  </a:lnTo>
                  <a:lnTo>
                    <a:pt x="132" y="181"/>
                  </a:lnTo>
                  <a:lnTo>
                    <a:pt x="136" y="189"/>
                  </a:lnTo>
                  <a:lnTo>
                    <a:pt x="136" y="197"/>
                  </a:lnTo>
                  <a:lnTo>
                    <a:pt x="140" y="205"/>
                  </a:lnTo>
                  <a:lnTo>
                    <a:pt x="140" y="214"/>
                  </a:lnTo>
                  <a:lnTo>
                    <a:pt x="140" y="222"/>
                  </a:lnTo>
                  <a:lnTo>
                    <a:pt x="140" y="230"/>
                  </a:lnTo>
                  <a:lnTo>
                    <a:pt x="140" y="238"/>
                  </a:lnTo>
                  <a:lnTo>
                    <a:pt x="140" y="246"/>
                  </a:lnTo>
                  <a:lnTo>
                    <a:pt x="140" y="255"/>
                  </a:lnTo>
                  <a:lnTo>
                    <a:pt x="140" y="263"/>
                  </a:lnTo>
                  <a:lnTo>
                    <a:pt x="140" y="271"/>
                  </a:lnTo>
                  <a:lnTo>
                    <a:pt x="140" y="279"/>
                  </a:lnTo>
                  <a:lnTo>
                    <a:pt x="140" y="287"/>
                  </a:lnTo>
                  <a:lnTo>
                    <a:pt x="136" y="296"/>
                  </a:lnTo>
                  <a:lnTo>
                    <a:pt x="136" y="304"/>
                  </a:lnTo>
                  <a:lnTo>
                    <a:pt x="136" y="312"/>
                  </a:lnTo>
                  <a:lnTo>
                    <a:pt x="136" y="320"/>
                  </a:lnTo>
                  <a:lnTo>
                    <a:pt x="136" y="328"/>
                  </a:lnTo>
                  <a:lnTo>
                    <a:pt x="136" y="337"/>
                  </a:lnTo>
                  <a:lnTo>
                    <a:pt x="132" y="345"/>
                  </a:lnTo>
                  <a:lnTo>
                    <a:pt x="132" y="353"/>
                  </a:lnTo>
                  <a:lnTo>
                    <a:pt x="128" y="361"/>
                  </a:lnTo>
                  <a:lnTo>
                    <a:pt x="128" y="370"/>
                  </a:lnTo>
                  <a:lnTo>
                    <a:pt x="128" y="378"/>
                  </a:lnTo>
                  <a:lnTo>
                    <a:pt x="128" y="386"/>
                  </a:lnTo>
                  <a:lnTo>
                    <a:pt x="124" y="394"/>
                  </a:lnTo>
                  <a:lnTo>
                    <a:pt x="121" y="402"/>
                  </a:lnTo>
                  <a:lnTo>
                    <a:pt x="117" y="411"/>
                  </a:lnTo>
                  <a:lnTo>
                    <a:pt x="117" y="419"/>
                  </a:lnTo>
                </a:path>
              </a:pathLst>
            </a:custGeom>
            <a:solidFill>
              <a:srgbClr val="FAFD00"/>
            </a:solidFill>
            <a:ln w="25400" cap="rnd">
              <a:solidFill>
                <a:srgbClr val="F35B1B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4987" name="Freeform 73"/>
            <p:cNvSpPr>
              <a:spLocks/>
            </p:cNvSpPr>
            <p:nvPr/>
          </p:nvSpPr>
          <p:spPr bwMode="auto">
            <a:xfrm>
              <a:off x="2712" y="1207"/>
              <a:ext cx="194" cy="219"/>
            </a:xfrm>
            <a:custGeom>
              <a:avLst/>
              <a:gdLst>
                <a:gd name="T0" fmla="*/ 4581 w 145"/>
                <a:gd name="T1" fmla="*/ 2 h 292"/>
                <a:gd name="T2" fmla="*/ 5290 w 145"/>
                <a:gd name="T3" fmla="*/ 2 h 292"/>
                <a:gd name="T4" fmla="*/ 8363 w 145"/>
                <a:gd name="T5" fmla="*/ 2 h 292"/>
                <a:gd name="T6" fmla="*/ 11271 w 145"/>
                <a:gd name="T7" fmla="*/ 2 h 292"/>
                <a:gd name="T8" fmla="*/ 13448 w 145"/>
                <a:gd name="T9" fmla="*/ 2 h 292"/>
                <a:gd name="T10" fmla="*/ 15867 w 145"/>
                <a:gd name="T11" fmla="*/ 2 h 292"/>
                <a:gd name="T12" fmla="*/ 17992 w 145"/>
                <a:gd name="T13" fmla="*/ 2 h 292"/>
                <a:gd name="T14" fmla="*/ 20329 w 145"/>
                <a:gd name="T15" fmla="*/ 2 h 292"/>
                <a:gd name="T16" fmla="*/ 22681 w 145"/>
                <a:gd name="T17" fmla="*/ 2 h 292"/>
                <a:gd name="T18" fmla="*/ 24072 w 145"/>
                <a:gd name="T19" fmla="*/ 2 h 292"/>
                <a:gd name="T20" fmla="*/ 24966 w 145"/>
                <a:gd name="T21" fmla="*/ 2 h 292"/>
                <a:gd name="T22" fmla="*/ 26314 w 145"/>
                <a:gd name="T23" fmla="*/ 2 h 292"/>
                <a:gd name="T24" fmla="*/ 27199 w 145"/>
                <a:gd name="T25" fmla="*/ 2 h 292"/>
                <a:gd name="T26" fmla="*/ 26314 w 145"/>
                <a:gd name="T27" fmla="*/ 2 h 292"/>
                <a:gd name="T28" fmla="*/ 25679 w 145"/>
                <a:gd name="T29" fmla="*/ 2 h 292"/>
                <a:gd name="T30" fmla="*/ 24072 w 145"/>
                <a:gd name="T31" fmla="*/ 2 h 292"/>
                <a:gd name="T32" fmla="*/ 23371 w 145"/>
                <a:gd name="T33" fmla="*/ 2 h 292"/>
                <a:gd name="T34" fmla="*/ 22681 w 145"/>
                <a:gd name="T35" fmla="*/ 2 h 292"/>
                <a:gd name="T36" fmla="*/ 21826 w 145"/>
                <a:gd name="T37" fmla="*/ 2 h 292"/>
                <a:gd name="T38" fmla="*/ 20329 w 145"/>
                <a:gd name="T39" fmla="*/ 2 h 292"/>
                <a:gd name="T40" fmla="*/ 19638 w 145"/>
                <a:gd name="T41" fmla="*/ 2 h 292"/>
                <a:gd name="T42" fmla="*/ 18863 w 145"/>
                <a:gd name="T43" fmla="*/ 2 h 292"/>
                <a:gd name="T44" fmla="*/ 17992 w 145"/>
                <a:gd name="T45" fmla="*/ 2 h 292"/>
                <a:gd name="T46" fmla="*/ 17444 w 145"/>
                <a:gd name="T47" fmla="*/ 2 h 292"/>
                <a:gd name="T48" fmla="*/ 15867 w 145"/>
                <a:gd name="T49" fmla="*/ 2 h 292"/>
                <a:gd name="T50" fmla="*/ 15080 w 145"/>
                <a:gd name="T51" fmla="*/ 0 h 292"/>
                <a:gd name="T52" fmla="*/ 14345 w 145"/>
                <a:gd name="T53" fmla="*/ 2 h 292"/>
                <a:gd name="T54" fmla="*/ 14345 w 145"/>
                <a:gd name="T55" fmla="*/ 2 h 292"/>
                <a:gd name="T56" fmla="*/ 14345 w 145"/>
                <a:gd name="T57" fmla="*/ 2 h 292"/>
                <a:gd name="T58" fmla="*/ 13448 w 145"/>
                <a:gd name="T59" fmla="*/ 2 h 292"/>
                <a:gd name="T60" fmla="*/ 12150 w 145"/>
                <a:gd name="T61" fmla="*/ 2 h 292"/>
                <a:gd name="T62" fmla="*/ 10538 w 145"/>
                <a:gd name="T63" fmla="*/ 2 h 292"/>
                <a:gd name="T64" fmla="*/ 8363 w 145"/>
                <a:gd name="T65" fmla="*/ 2 h 292"/>
                <a:gd name="T66" fmla="*/ 6129 w 145"/>
                <a:gd name="T67" fmla="*/ 2 h 292"/>
                <a:gd name="T68" fmla="*/ 4581 w 145"/>
                <a:gd name="T69" fmla="*/ 2 h 292"/>
                <a:gd name="T70" fmla="*/ 2955 w 145"/>
                <a:gd name="T71" fmla="*/ 2 h 292"/>
                <a:gd name="T72" fmla="*/ 1583 w 145"/>
                <a:gd name="T73" fmla="*/ 2 h 292"/>
                <a:gd name="T74" fmla="*/ 689 w 145"/>
                <a:gd name="T75" fmla="*/ 2 h 292"/>
                <a:gd name="T76" fmla="*/ 0 w 145"/>
                <a:gd name="T77" fmla="*/ 2 h 292"/>
                <a:gd name="T78" fmla="*/ 0 w 145"/>
                <a:gd name="T79" fmla="*/ 2 h 292"/>
                <a:gd name="T80" fmla="*/ 0 w 145"/>
                <a:gd name="T81" fmla="*/ 2 h 292"/>
                <a:gd name="T82" fmla="*/ 0 w 145"/>
                <a:gd name="T83" fmla="*/ 2 h 292"/>
                <a:gd name="T84" fmla="*/ 0 w 145"/>
                <a:gd name="T85" fmla="*/ 2 h 292"/>
                <a:gd name="T86" fmla="*/ 689 w 145"/>
                <a:gd name="T87" fmla="*/ 2 h 292"/>
                <a:gd name="T88" fmla="*/ 689 w 145"/>
                <a:gd name="T89" fmla="*/ 2 h 292"/>
                <a:gd name="T90" fmla="*/ 689 w 145"/>
                <a:gd name="T91" fmla="*/ 2 h 292"/>
                <a:gd name="T92" fmla="*/ 1583 w 145"/>
                <a:gd name="T93" fmla="*/ 2 h 292"/>
                <a:gd name="T94" fmla="*/ 2209 w 145"/>
                <a:gd name="T95" fmla="*/ 2 h 292"/>
                <a:gd name="T96" fmla="*/ 2209 w 145"/>
                <a:gd name="T97" fmla="*/ 2 h 292"/>
                <a:gd name="T98" fmla="*/ 2955 w 145"/>
                <a:gd name="T99" fmla="*/ 2 h 292"/>
                <a:gd name="T100" fmla="*/ 4581 w 145"/>
                <a:gd name="T101" fmla="*/ 2 h 29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45"/>
                <a:gd name="T154" fmla="*/ 0 h 292"/>
                <a:gd name="T155" fmla="*/ 145 w 145"/>
                <a:gd name="T156" fmla="*/ 292 h 29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45" h="292">
                  <a:moveTo>
                    <a:pt x="24" y="291"/>
                  </a:moveTo>
                  <a:lnTo>
                    <a:pt x="24" y="285"/>
                  </a:lnTo>
                  <a:lnTo>
                    <a:pt x="24" y="280"/>
                  </a:lnTo>
                  <a:lnTo>
                    <a:pt x="28" y="274"/>
                  </a:lnTo>
                  <a:lnTo>
                    <a:pt x="36" y="266"/>
                  </a:lnTo>
                  <a:lnTo>
                    <a:pt x="44" y="263"/>
                  </a:lnTo>
                  <a:lnTo>
                    <a:pt x="52" y="257"/>
                  </a:lnTo>
                  <a:lnTo>
                    <a:pt x="60" y="249"/>
                  </a:lnTo>
                  <a:lnTo>
                    <a:pt x="68" y="243"/>
                  </a:lnTo>
                  <a:lnTo>
                    <a:pt x="72" y="238"/>
                  </a:lnTo>
                  <a:lnTo>
                    <a:pt x="80" y="235"/>
                  </a:lnTo>
                  <a:lnTo>
                    <a:pt x="84" y="229"/>
                  </a:lnTo>
                  <a:lnTo>
                    <a:pt x="88" y="224"/>
                  </a:lnTo>
                  <a:lnTo>
                    <a:pt x="96" y="221"/>
                  </a:lnTo>
                  <a:lnTo>
                    <a:pt x="104" y="215"/>
                  </a:lnTo>
                  <a:lnTo>
                    <a:pt x="108" y="210"/>
                  </a:lnTo>
                  <a:lnTo>
                    <a:pt x="116" y="207"/>
                  </a:lnTo>
                  <a:lnTo>
                    <a:pt x="120" y="201"/>
                  </a:lnTo>
                  <a:lnTo>
                    <a:pt x="124" y="196"/>
                  </a:lnTo>
                  <a:lnTo>
                    <a:pt x="128" y="190"/>
                  </a:lnTo>
                  <a:lnTo>
                    <a:pt x="132" y="185"/>
                  </a:lnTo>
                  <a:lnTo>
                    <a:pt x="132" y="179"/>
                  </a:lnTo>
                  <a:lnTo>
                    <a:pt x="136" y="173"/>
                  </a:lnTo>
                  <a:lnTo>
                    <a:pt x="140" y="168"/>
                  </a:lnTo>
                  <a:lnTo>
                    <a:pt x="140" y="162"/>
                  </a:lnTo>
                  <a:lnTo>
                    <a:pt x="144" y="157"/>
                  </a:lnTo>
                  <a:lnTo>
                    <a:pt x="144" y="151"/>
                  </a:lnTo>
                  <a:lnTo>
                    <a:pt x="140" y="146"/>
                  </a:lnTo>
                  <a:lnTo>
                    <a:pt x="136" y="140"/>
                  </a:lnTo>
                  <a:lnTo>
                    <a:pt x="136" y="134"/>
                  </a:lnTo>
                  <a:lnTo>
                    <a:pt x="132" y="126"/>
                  </a:lnTo>
                  <a:lnTo>
                    <a:pt x="128" y="120"/>
                  </a:lnTo>
                  <a:lnTo>
                    <a:pt x="128" y="115"/>
                  </a:lnTo>
                  <a:lnTo>
                    <a:pt x="124" y="109"/>
                  </a:lnTo>
                  <a:lnTo>
                    <a:pt x="124" y="101"/>
                  </a:lnTo>
                  <a:lnTo>
                    <a:pt x="120" y="92"/>
                  </a:lnTo>
                  <a:lnTo>
                    <a:pt x="116" y="87"/>
                  </a:lnTo>
                  <a:lnTo>
                    <a:pt x="116" y="78"/>
                  </a:lnTo>
                  <a:lnTo>
                    <a:pt x="112" y="73"/>
                  </a:lnTo>
                  <a:lnTo>
                    <a:pt x="108" y="67"/>
                  </a:lnTo>
                  <a:lnTo>
                    <a:pt x="104" y="62"/>
                  </a:lnTo>
                  <a:lnTo>
                    <a:pt x="104" y="56"/>
                  </a:lnTo>
                  <a:lnTo>
                    <a:pt x="100" y="50"/>
                  </a:lnTo>
                  <a:lnTo>
                    <a:pt x="100" y="45"/>
                  </a:lnTo>
                  <a:lnTo>
                    <a:pt x="96" y="39"/>
                  </a:lnTo>
                  <a:lnTo>
                    <a:pt x="96" y="34"/>
                  </a:lnTo>
                  <a:lnTo>
                    <a:pt x="92" y="28"/>
                  </a:lnTo>
                  <a:lnTo>
                    <a:pt x="92" y="22"/>
                  </a:lnTo>
                  <a:lnTo>
                    <a:pt x="88" y="17"/>
                  </a:lnTo>
                  <a:lnTo>
                    <a:pt x="84" y="11"/>
                  </a:lnTo>
                  <a:lnTo>
                    <a:pt x="80" y="6"/>
                  </a:lnTo>
                  <a:lnTo>
                    <a:pt x="80" y="0"/>
                  </a:lnTo>
                  <a:lnTo>
                    <a:pt x="76" y="6"/>
                  </a:lnTo>
                  <a:lnTo>
                    <a:pt x="76" y="11"/>
                  </a:lnTo>
                  <a:lnTo>
                    <a:pt x="76" y="17"/>
                  </a:lnTo>
                  <a:lnTo>
                    <a:pt x="76" y="22"/>
                  </a:lnTo>
                  <a:lnTo>
                    <a:pt x="76" y="28"/>
                  </a:lnTo>
                  <a:lnTo>
                    <a:pt x="76" y="34"/>
                  </a:lnTo>
                  <a:lnTo>
                    <a:pt x="76" y="39"/>
                  </a:lnTo>
                  <a:lnTo>
                    <a:pt x="72" y="45"/>
                  </a:lnTo>
                  <a:lnTo>
                    <a:pt x="68" y="50"/>
                  </a:lnTo>
                  <a:lnTo>
                    <a:pt x="64" y="56"/>
                  </a:lnTo>
                  <a:lnTo>
                    <a:pt x="60" y="62"/>
                  </a:lnTo>
                  <a:lnTo>
                    <a:pt x="56" y="67"/>
                  </a:lnTo>
                  <a:lnTo>
                    <a:pt x="52" y="73"/>
                  </a:lnTo>
                  <a:lnTo>
                    <a:pt x="44" y="78"/>
                  </a:lnTo>
                  <a:lnTo>
                    <a:pt x="40" y="84"/>
                  </a:lnTo>
                  <a:lnTo>
                    <a:pt x="32" y="90"/>
                  </a:lnTo>
                  <a:lnTo>
                    <a:pt x="28" y="95"/>
                  </a:lnTo>
                  <a:lnTo>
                    <a:pt x="24" y="101"/>
                  </a:lnTo>
                  <a:lnTo>
                    <a:pt x="20" y="106"/>
                  </a:lnTo>
                  <a:lnTo>
                    <a:pt x="16" y="112"/>
                  </a:lnTo>
                  <a:lnTo>
                    <a:pt x="12" y="118"/>
                  </a:lnTo>
                  <a:lnTo>
                    <a:pt x="8" y="123"/>
                  </a:lnTo>
                  <a:lnTo>
                    <a:pt x="4" y="129"/>
                  </a:lnTo>
                  <a:lnTo>
                    <a:pt x="4" y="134"/>
                  </a:lnTo>
                  <a:lnTo>
                    <a:pt x="0" y="140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7"/>
                  </a:lnTo>
                  <a:lnTo>
                    <a:pt x="0" y="162"/>
                  </a:lnTo>
                  <a:lnTo>
                    <a:pt x="0" y="168"/>
                  </a:lnTo>
                  <a:lnTo>
                    <a:pt x="0" y="173"/>
                  </a:lnTo>
                  <a:lnTo>
                    <a:pt x="0" y="179"/>
                  </a:lnTo>
                  <a:lnTo>
                    <a:pt x="0" y="185"/>
                  </a:lnTo>
                  <a:lnTo>
                    <a:pt x="0" y="190"/>
                  </a:lnTo>
                  <a:lnTo>
                    <a:pt x="0" y="196"/>
                  </a:lnTo>
                  <a:lnTo>
                    <a:pt x="4" y="201"/>
                  </a:lnTo>
                  <a:lnTo>
                    <a:pt x="4" y="207"/>
                  </a:lnTo>
                  <a:lnTo>
                    <a:pt x="4" y="213"/>
                  </a:lnTo>
                  <a:lnTo>
                    <a:pt x="4" y="218"/>
                  </a:lnTo>
                  <a:lnTo>
                    <a:pt x="4" y="224"/>
                  </a:lnTo>
                  <a:lnTo>
                    <a:pt x="4" y="229"/>
                  </a:lnTo>
                  <a:lnTo>
                    <a:pt x="8" y="235"/>
                  </a:lnTo>
                  <a:lnTo>
                    <a:pt x="8" y="241"/>
                  </a:lnTo>
                  <a:lnTo>
                    <a:pt x="12" y="246"/>
                  </a:lnTo>
                  <a:lnTo>
                    <a:pt x="12" y="252"/>
                  </a:lnTo>
                  <a:lnTo>
                    <a:pt x="12" y="257"/>
                  </a:lnTo>
                  <a:lnTo>
                    <a:pt x="12" y="263"/>
                  </a:lnTo>
                  <a:lnTo>
                    <a:pt x="16" y="269"/>
                  </a:lnTo>
                  <a:lnTo>
                    <a:pt x="20" y="274"/>
                  </a:lnTo>
                  <a:lnTo>
                    <a:pt x="24" y="280"/>
                  </a:lnTo>
                  <a:lnTo>
                    <a:pt x="24" y="285"/>
                  </a:lnTo>
                </a:path>
              </a:pathLst>
            </a:custGeom>
            <a:solidFill>
              <a:srgbClr val="FF5008"/>
            </a:solidFill>
            <a:ln w="25400" cap="rnd">
              <a:solidFill>
                <a:srgbClr val="FE9B0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4988" name="Freeform 74"/>
            <p:cNvSpPr>
              <a:spLocks/>
            </p:cNvSpPr>
            <p:nvPr/>
          </p:nvSpPr>
          <p:spPr bwMode="auto">
            <a:xfrm>
              <a:off x="2626" y="1127"/>
              <a:ext cx="309" cy="234"/>
            </a:xfrm>
            <a:custGeom>
              <a:avLst/>
              <a:gdLst>
                <a:gd name="T0" fmla="*/ 16261 w 232"/>
                <a:gd name="T1" fmla="*/ 1 h 313"/>
                <a:gd name="T2" fmla="*/ 17100 w 232"/>
                <a:gd name="T3" fmla="*/ 1 h 313"/>
                <a:gd name="T4" fmla="*/ 20382 w 232"/>
                <a:gd name="T5" fmla="*/ 1 h 313"/>
                <a:gd name="T6" fmla="*/ 23543 w 232"/>
                <a:gd name="T7" fmla="*/ 1 h 313"/>
                <a:gd name="T8" fmla="*/ 25935 w 232"/>
                <a:gd name="T9" fmla="*/ 1 h 313"/>
                <a:gd name="T10" fmla="*/ 28263 w 232"/>
                <a:gd name="T11" fmla="*/ 1 h 313"/>
                <a:gd name="T12" fmla="*/ 30797 w 232"/>
                <a:gd name="T13" fmla="*/ 1 h 313"/>
                <a:gd name="T14" fmla="*/ 33036 w 232"/>
                <a:gd name="T15" fmla="*/ 1 h 313"/>
                <a:gd name="T16" fmla="*/ 35299 w 232"/>
                <a:gd name="T17" fmla="*/ 1 h 313"/>
                <a:gd name="T18" fmla="*/ 37004 w 232"/>
                <a:gd name="T19" fmla="*/ 1 h 313"/>
                <a:gd name="T20" fmla="*/ 37859 w 232"/>
                <a:gd name="T21" fmla="*/ 1 h 313"/>
                <a:gd name="T22" fmla="*/ 39319 w 232"/>
                <a:gd name="T23" fmla="*/ 1 h 313"/>
                <a:gd name="T24" fmla="*/ 40183 w 232"/>
                <a:gd name="T25" fmla="*/ 1 h 313"/>
                <a:gd name="T26" fmla="*/ 39319 w 232"/>
                <a:gd name="T27" fmla="*/ 1 h 313"/>
                <a:gd name="T28" fmla="*/ 38420 w 232"/>
                <a:gd name="T29" fmla="*/ 1 h 313"/>
                <a:gd name="T30" fmla="*/ 37004 w 232"/>
                <a:gd name="T31" fmla="*/ 1 h 313"/>
                <a:gd name="T32" fmla="*/ 36157 w 232"/>
                <a:gd name="T33" fmla="*/ 1 h 313"/>
                <a:gd name="T34" fmla="*/ 35299 w 232"/>
                <a:gd name="T35" fmla="*/ 1 h 313"/>
                <a:gd name="T36" fmla="*/ 34663 w 232"/>
                <a:gd name="T37" fmla="*/ 1 h 313"/>
                <a:gd name="T38" fmla="*/ 33036 w 232"/>
                <a:gd name="T39" fmla="*/ 1 h 313"/>
                <a:gd name="T40" fmla="*/ 32164 w 232"/>
                <a:gd name="T41" fmla="*/ 1 h 313"/>
                <a:gd name="T42" fmla="*/ 31357 w 232"/>
                <a:gd name="T43" fmla="*/ 1 h 313"/>
                <a:gd name="T44" fmla="*/ 31515 w 232"/>
                <a:gd name="T45" fmla="*/ 1 h 313"/>
                <a:gd name="T46" fmla="*/ 29921 w 232"/>
                <a:gd name="T47" fmla="*/ 1 h 313"/>
                <a:gd name="T48" fmla="*/ 28263 w 232"/>
                <a:gd name="T49" fmla="*/ 1 h 313"/>
                <a:gd name="T50" fmla="*/ 27488 w 232"/>
                <a:gd name="T51" fmla="*/ 0 h 313"/>
                <a:gd name="T52" fmla="*/ 26788 w 232"/>
                <a:gd name="T53" fmla="*/ 1 h 313"/>
                <a:gd name="T54" fmla="*/ 26788 w 232"/>
                <a:gd name="T55" fmla="*/ 1 h 313"/>
                <a:gd name="T56" fmla="*/ 26788 w 232"/>
                <a:gd name="T57" fmla="*/ 1 h 313"/>
                <a:gd name="T58" fmla="*/ 25935 w 232"/>
                <a:gd name="T59" fmla="*/ 1 h 313"/>
                <a:gd name="T60" fmla="*/ 24149 w 232"/>
                <a:gd name="T61" fmla="*/ 1 h 313"/>
                <a:gd name="T62" fmla="*/ 22775 w 232"/>
                <a:gd name="T63" fmla="*/ 1 h 313"/>
                <a:gd name="T64" fmla="*/ 20382 w 232"/>
                <a:gd name="T65" fmla="*/ 1 h 313"/>
                <a:gd name="T66" fmla="*/ 17815 w 232"/>
                <a:gd name="T67" fmla="*/ 1 h 313"/>
                <a:gd name="T68" fmla="*/ 16261 w 232"/>
                <a:gd name="T69" fmla="*/ 1 h 313"/>
                <a:gd name="T70" fmla="*/ 14816 w 232"/>
                <a:gd name="T71" fmla="*/ 1 h 313"/>
                <a:gd name="T72" fmla="*/ 13271 w 232"/>
                <a:gd name="T73" fmla="*/ 1 h 313"/>
                <a:gd name="T74" fmla="*/ 12479 w 232"/>
                <a:gd name="T75" fmla="*/ 1 h 313"/>
                <a:gd name="T76" fmla="*/ 11634 w 232"/>
                <a:gd name="T77" fmla="*/ 1 h 313"/>
                <a:gd name="T78" fmla="*/ 11634 w 232"/>
                <a:gd name="T79" fmla="*/ 1 h 313"/>
                <a:gd name="T80" fmla="*/ 11634 w 232"/>
                <a:gd name="T81" fmla="*/ 1 h 313"/>
                <a:gd name="T82" fmla="*/ 11634 w 232"/>
                <a:gd name="T83" fmla="*/ 1 h 313"/>
                <a:gd name="T84" fmla="*/ 11634 w 232"/>
                <a:gd name="T85" fmla="*/ 1 h 313"/>
                <a:gd name="T86" fmla="*/ 12479 w 232"/>
                <a:gd name="T87" fmla="*/ 1 h 313"/>
                <a:gd name="T88" fmla="*/ 12479 w 232"/>
                <a:gd name="T89" fmla="*/ 1 h 313"/>
                <a:gd name="T90" fmla="*/ 12479 w 232"/>
                <a:gd name="T91" fmla="*/ 1 h 313"/>
                <a:gd name="T92" fmla="*/ 13271 w 232"/>
                <a:gd name="T93" fmla="*/ 1 h 313"/>
                <a:gd name="T94" fmla="*/ 13982 w 232"/>
                <a:gd name="T95" fmla="*/ 1 h 313"/>
                <a:gd name="T96" fmla="*/ 13982 w 232"/>
                <a:gd name="T97" fmla="*/ 1 h 313"/>
                <a:gd name="T98" fmla="*/ 14816 w 232"/>
                <a:gd name="T99" fmla="*/ 1 h 313"/>
                <a:gd name="T100" fmla="*/ 16261 w 232"/>
                <a:gd name="T101" fmla="*/ 1 h 31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32"/>
                <a:gd name="T154" fmla="*/ 0 h 313"/>
                <a:gd name="T155" fmla="*/ 232 w 232"/>
                <a:gd name="T156" fmla="*/ 313 h 31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32" h="313">
                  <a:moveTo>
                    <a:pt x="94" y="312"/>
                  </a:moveTo>
                  <a:lnTo>
                    <a:pt x="94" y="306"/>
                  </a:lnTo>
                  <a:lnTo>
                    <a:pt x="94" y="300"/>
                  </a:lnTo>
                  <a:lnTo>
                    <a:pt x="98" y="294"/>
                  </a:lnTo>
                  <a:lnTo>
                    <a:pt x="108" y="285"/>
                  </a:lnTo>
                  <a:lnTo>
                    <a:pt x="117" y="282"/>
                  </a:lnTo>
                  <a:lnTo>
                    <a:pt x="0" y="276"/>
                  </a:lnTo>
                  <a:lnTo>
                    <a:pt x="135" y="267"/>
                  </a:lnTo>
                  <a:lnTo>
                    <a:pt x="144" y="261"/>
                  </a:lnTo>
                  <a:lnTo>
                    <a:pt x="149" y="255"/>
                  </a:lnTo>
                  <a:lnTo>
                    <a:pt x="158" y="252"/>
                  </a:lnTo>
                  <a:lnTo>
                    <a:pt x="162" y="246"/>
                  </a:lnTo>
                  <a:lnTo>
                    <a:pt x="167" y="240"/>
                  </a:lnTo>
                  <a:lnTo>
                    <a:pt x="177" y="237"/>
                  </a:lnTo>
                  <a:lnTo>
                    <a:pt x="185" y="231"/>
                  </a:lnTo>
                  <a:lnTo>
                    <a:pt x="190" y="225"/>
                  </a:lnTo>
                  <a:lnTo>
                    <a:pt x="200" y="222"/>
                  </a:lnTo>
                  <a:lnTo>
                    <a:pt x="203" y="216"/>
                  </a:lnTo>
                  <a:lnTo>
                    <a:pt x="208" y="210"/>
                  </a:lnTo>
                  <a:lnTo>
                    <a:pt x="213" y="204"/>
                  </a:lnTo>
                  <a:lnTo>
                    <a:pt x="218" y="198"/>
                  </a:lnTo>
                  <a:lnTo>
                    <a:pt x="218" y="192"/>
                  </a:lnTo>
                  <a:lnTo>
                    <a:pt x="221" y="186"/>
                  </a:lnTo>
                  <a:lnTo>
                    <a:pt x="226" y="180"/>
                  </a:lnTo>
                  <a:lnTo>
                    <a:pt x="226" y="174"/>
                  </a:lnTo>
                  <a:lnTo>
                    <a:pt x="231" y="168"/>
                  </a:lnTo>
                  <a:lnTo>
                    <a:pt x="231" y="162"/>
                  </a:lnTo>
                  <a:lnTo>
                    <a:pt x="226" y="156"/>
                  </a:lnTo>
                  <a:lnTo>
                    <a:pt x="221" y="150"/>
                  </a:lnTo>
                  <a:lnTo>
                    <a:pt x="221" y="144"/>
                  </a:lnTo>
                  <a:lnTo>
                    <a:pt x="218" y="135"/>
                  </a:lnTo>
                  <a:lnTo>
                    <a:pt x="213" y="129"/>
                  </a:lnTo>
                  <a:lnTo>
                    <a:pt x="213" y="123"/>
                  </a:lnTo>
                  <a:lnTo>
                    <a:pt x="208" y="118"/>
                  </a:lnTo>
                  <a:lnTo>
                    <a:pt x="208" y="108"/>
                  </a:lnTo>
                  <a:lnTo>
                    <a:pt x="203" y="99"/>
                  </a:lnTo>
                  <a:lnTo>
                    <a:pt x="200" y="93"/>
                  </a:lnTo>
                  <a:lnTo>
                    <a:pt x="200" y="84"/>
                  </a:lnTo>
                  <a:lnTo>
                    <a:pt x="195" y="78"/>
                  </a:lnTo>
                  <a:lnTo>
                    <a:pt x="190" y="72"/>
                  </a:lnTo>
                  <a:lnTo>
                    <a:pt x="185" y="66"/>
                  </a:lnTo>
                  <a:lnTo>
                    <a:pt x="185" y="60"/>
                  </a:lnTo>
                  <a:lnTo>
                    <a:pt x="180" y="54"/>
                  </a:lnTo>
                  <a:lnTo>
                    <a:pt x="180" y="48"/>
                  </a:lnTo>
                  <a:lnTo>
                    <a:pt x="177" y="42"/>
                  </a:lnTo>
                  <a:lnTo>
                    <a:pt x="181" y="100"/>
                  </a:lnTo>
                  <a:lnTo>
                    <a:pt x="172" y="30"/>
                  </a:lnTo>
                  <a:lnTo>
                    <a:pt x="172" y="24"/>
                  </a:lnTo>
                  <a:lnTo>
                    <a:pt x="167" y="18"/>
                  </a:lnTo>
                  <a:lnTo>
                    <a:pt x="162" y="12"/>
                  </a:lnTo>
                  <a:lnTo>
                    <a:pt x="158" y="6"/>
                  </a:lnTo>
                  <a:lnTo>
                    <a:pt x="158" y="0"/>
                  </a:lnTo>
                  <a:lnTo>
                    <a:pt x="100" y="122"/>
                  </a:lnTo>
                  <a:lnTo>
                    <a:pt x="154" y="12"/>
                  </a:lnTo>
                  <a:lnTo>
                    <a:pt x="154" y="18"/>
                  </a:lnTo>
                  <a:lnTo>
                    <a:pt x="154" y="24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4" y="42"/>
                  </a:lnTo>
                  <a:lnTo>
                    <a:pt x="149" y="48"/>
                  </a:lnTo>
                  <a:lnTo>
                    <a:pt x="144" y="54"/>
                  </a:lnTo>
                  <a:lnTo>
                    <a:pt x="139" y="60"/>
                  </a:lnTo>
                  <a:lnTo>
                    <a:pt x="135" y="66"/>
                  </a:lnTo>
                  <a:lnTo>
                    <a:pt x="131" y="72"/>
                  </a:lnTo>
                  <a:lnTo>
                    <a:pt x="126" y="78"/>
                  </a:lnTo>
                  <a:lnTo>
                    <a:pt x="117" y="84"/>
                  </a:lnTo>
                  <a:lnTo>
                    <a:pt x="112" y="90"/>
                  </a:lnTo>
                  <a:lnTo>
                    <a:pt x="103" y="96"/>
                  </a:lnTo>
                  <a:lnTo>
                    <a:pt x="98" y="102"/>
                  </a:lnTo>
                  <a:lnTo>
                    <a:pt x="94" y="108"/>
                  </a:lnTo>
                  <a:lnTo>
                    <a:pt x="89" y="114"/>
                  </a:lnTo>
                  <a:lnTo>
                    <a:pt x="85" y="120"/>
                  </a:lnTo>
                  <a:lnTo>
                    <a:pt x="80" y="126"/>
                  </a:lnTo>
                  <a:lnTo>
                    <a:pt x="76" y="132"/>
                  </a:lnTo>
                  <a:lnTo>
                    <a:pt x="71" y="138"/>
                  </a:lnTo>
                  <a:lnTo>
                    <a:pt x="71" y="144"/>
                  </a:lnTo>
                  <a:lnTo>
                    <a:pt x="67" y="150"/>
                  </a:lnTo>
                  <a:lnTo>
                    <a:pt x="67" y="156"/>
                  </a:lnTo>
                  <a:lnTo>
                    <a:pt x="67" y="162"/>
                  </a:lnTo>
                  <a:lnTo>
                    <a:pt x="67" y="168"/>
                  </a:lnTo>
                  <a:lnTo>
                    <a:pt x="67" y="174"/>
                  </a:lnTo>
                  <a:lnTo>
                    <a:pt x="67" y="180"/>
                  </a:lnTo>
                  <a:lnTo>
                    <a:pt x="67" y="186"/>
                  </a:lnTo>
                  <a:lnTo>
                    <a:pt x="67" y="192"/>
                  </a:lnTo>
                  <a:lnTo>
                    <a:pt x="67" y="198"/>
                  </a:lnTo>
                  <a:lnTo>
                    <a:pt x="67" y="204"/>
                  </a:lnTo>
                  <a:lnTo>
                    <a:pt x="67" y="210"/>
                  </a:lnTo>
                  <a:lnTo>
                    <a:pt x="71" y="216"/>
                  </a:lnTo>
                  <a:lnTo>
                    <a:pt x="71" y="222"/>
                  </a:lnTo>
                  <a:lnTo>
                    <a:pt x="71" y="228"/>
                  </a:lnTo>
                  <a:lnTo>
                    <a:pt x="71" y="234"/>
                  </a:lnTo>
                  <a:lnTo>
                    <a:pt x="71" y="240"/>
                  </a:lnTo>
                  <a:lnTo>
                    <a:pt x="71" y="246"/>
                  </a:lnTo>
                  <a:lnTo>
                    <a:pt x="76" y="252"/>
                  </a:lnTo>
                  <a:lnTo>
                    <a:pt x="76" y="258"/>
                  </a:lnTo>
                  <a:lnTo>
                    <a:pt x="80" y="264"/>
                  </a:lnTo>
                  <a:lnTo>
                    <a:pt x="80" y="270"/>
                  </a:lnTo>
                  <a:lnTo>
                    <a:pt x="80" y="276"/>
                  </a:lnTo>
                  <a:lnTo>
                    <a:pt x="80" y="282"/>
                  </a:lnTo>
                  <a:lnTo>
                    <a:pt x="85" y="288"/>
                  </a:lnTo>
                  <a:lnTo>
                    <a:pt x="89" y="294"/>
                  </a:lnTo>
                  <a:lnTo>
                    <a:pt x="94" y="300"/>
                  </a:lnTo>
                  <a:lnTo>
                    <a:pt x="94" y="306"/>
                  </a:lnTo>
                </a:path>
              </a:pathLst>
            </a:custGeom>
            <a:solidFill>
              <a:srgbClr val="FF6600"/>
            </a:solidFill>
            <a:ln w="25400" cap="rnd">
              <a:solidFill>
                <a:srgbClr val="FAFD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4989" name="Freeform 75"/>
            <p:cNvSpPr>
              <a:spLocks/>
            </p:cNvSpPr>
            <p:nvPr/>
          </p:nvSpPr>
          <p:spPr bwMode="auto">
            <a:xfrm>
              <a:off x="2731" y="1198"/>
              <a:ext cx="252" cy="218"/>
            </a:xfrm>
            <a:custGeom>
              <a:avLst/>
              <a:gdLst>
                <a:gd name="T0" fmla="*/ 5424 w 189"/>
                <a:gd name="T1" fmla="*/ 1 h 291"/>
                <a:gd name="T2" fmla="*/ 6540 w 189"/>
                <a:gd name="T3" fmla="*/ 1 h 291"/>
                <a:gd name="T4" fmla="*/ 10111 w 189"/>
                <a:gd name="T5" fmla="*/ 1 h 291"/>
                <a:gd name="T6" fmla="*/ 13852 w 189"/>
                <a:gd name="T7" fmla="*/ 1 h 291"/>
                <a:gd name="T8" fmla="*/ 16671 w 189"/>
                <a:gd name="T9" fmla="*/ 1 h 291"/>
                <a:gd name="T10" fmla="*/ 19535 w 189"/>
                <a:gd name="T11" fmla="*/ 1 h 291"/>
                <a:gd name="T12" fmla="*/ 22228 w 189"/>
                <a:gd name="T13" fmla="*/ 1 h 291"/>
                <a:gd name="T14" fmla="*/ 25087 w 189"/>
                <a:gd name="T15" fmla="*/ 1 h 291"/>
                <a:gd name="T16" fmla="*/ 27817 w 189"/>
                <a:gd name="T17" fmla="*/ 1 h 291"/>
                <a:gd name="T18" fmla="*/ 29637 w 189"/>
                <a:gd name="T19" fmla="*/ 1 h 291"/>
                <a:gd name="T20" fmla="*/ 30476 w 189"/>
                <a:gd name="T21" fmla="*/ 1 h 291"/>
                <a:gd name="T22" fmla="*/ 32368 w 189"/>
                <a:gd name="T23" fmla="*/ 1 h 291"/>
                <a:gd name="T24" fmla="*/ 33449 w 189"/>
                <a:gd name="T25" fmla="*/ 1 h 291"/>
                <a:gd name="T26" fmla="*/ 32368 w 189"/>
                <a:gd name="T27" fmla="*/ 1 h 291"/>
                <a:gd name="T28" fmla="*/ 31468 w 189"/>
                <a:gd name="T29" fmla="*/ 1 h 291"/>
                <a:gd name="T30" fmla="*/ 29637 w 189"/>
                <a:gd name="T31" fmla="*/ 1 h 291"/>
                <a:gd name="T32" fmla="*/ 28769 w 189"/>
                <a:gd name="T33" fmla="*/ 1 h 291"/>
                <a:gd name="T34" fmla="*/ 27817 w 189"/>
                <a:gd name="T35" fmla="*/ 1 h 291"/>
                <a:gd name="T36" fmla="*/ 26729 w 189"/>
                <a:gd name="T37" fmla="*/ 1 h 291"/>
                <a:gd name="T38" fmla="*/ 25087 w 189"/>
                <a:gd name="T39" fmla="*/ 1 h 291"/>
                <a:gd name="T40" fmla="*/ 24023 w 189"/>
                <a:gd name="T41" fmla="*/ 1 h 291"/>
                <a:gd name="T42" fmla="*/ 23284 w 189"/>
                <a:gd name="T43" fmla="*/ 1 h 291"/>
                <a:gd name="T44" fmla="*/ 22228 w 189"/>
                <a:gd name="T45" fmla="*/ 1 h 291"/>
                <a:gd name="T46" fmla="*/ 21241 w 189"/>
                <a:gd name="T47" fmla="*/ 1 h 291"/>
                <a:gd name="T48" fmla="*/ 19535 w 189"/>
                <a:gd name="T49" fmla="*/ 1 h 291"/>
                <a:gd name="T50" fmla="*/ 18469 w 189"/>
                <a:gd name="T51" fmla="*/ 0 h 291"/>
                <a:gd name="T52" fmla="*/ 17535 w 189"/>
                <a:gd name="T53" fmla="*/ 1 h 291"/>
                <a:gd name="T54" fmla="*/ 17535 w 189"/>
                <a:gd name="T55" fmla="*/ 1 h 291"/>
                <a:gd name="T56" fmla="*/ 17535 w 189"/>
                <a:gd name="T57" fmla="*/ 1 h 291"/>
                <a:gd name="T58" fmla="*/ 16671 w 189"/>
                <a:gd name="T59" fmla="*/ 1 h 291"/>
                <a:gd name="T60" fmla="*/ 14864 w 189"/>
                <a:gd name="T61" fmla="*/ 1 h 291"/>
                <a:gd name="T62" fmla="*/ 12857 w 189"/>
                <a:gd name="T63" fmla="*/ 1 h 291"/>
                <a:gd name="T64" fmla="*/ 10111 w 189"/>
                <a:gd name="T65" fmla="*/ 1 h 291"/>
                <a:gd name="T66" fmla="*/ 7461 w 189"/>
                <a:gd name="T67" fmla="*/ 1 h 291"/>
                <a:gd name="T68" fmla="*/ 5424 w 189"/>
                <a:gd name="T69" fmla="*/ 1 h 291"/>
                <a:gd name="T70" fmla="*/ 3679 w 189"/>
                <a:gd name="T71" fmla="*/ 1 h 291"/>
                <a:gd name="T72" fmla="*/ 1716 w 189"/>
                <a:gd name="T73" fmla="*/ 1 h 291"/>
                <a:gd name="T74" fmla="*/ 873 w 189"/>
                <a:gd name="T75" fmla="*/ 1 h 291"/>
                <a:gd name="T76" fmla="*/ 0 w 189"/>
                <a:gd name="T77" fmla="*/ 1 h 291"/>
                <a:gd name="T78" fmla="*/ 0 w 189"/>
                <a:gd name="T79" fmla="*/ 1 h 291"/>
                <a:gd name="T80" fmla="*/ 0 w 189"/>
                <a:gd name="T81" fmla="*/ 1 h 291"/>
                <a:gd name="T82" fmla="*/ 0 w 189"/>
                <a:gd name="T83" fmla="*/ 1 h 291"/>
                <a:gd name="T84" fmla="*/ 0 w 189"/>
                <a:gd name="T85" fmla="*/ 1 h 291"/>
                <a:gd name="T86" fmla="*/ 873 w 189"/>
                <a:gd name="T87" fmla="*/ 1 h 291"/>
                <a:gd name="T88" fmla="*/ 873 w 189"/>
                <a:gd name="T89" fmla="*/ 1 h 291"/>
                <a:gd name="T90" fmla="*/ 873 w 189"/>
                <a:gd name="T91" fmla="*/ 1 h 291"/>
                <a:gd name="T92" fmla="*/ 1716 w 189"/>
                <a:gd name="T93" fmla="*/ 1 h 291"/>
                <a:gd name="T94" fmla="*/ 2759 w 189"/>
                <a:gd name="T95" fmla="*/ 1 h 291"/>
                <a:gd name="T96" fmla="*/ 2759 w 189"/>
                <a:gd name="T97" fmla="*/ 1 h 291"/>
                <a:gd name="T98" fmla="*/ 3679 w 189"/>
                <a:gd name="T99" fmla="*/ 1 h 291"/>
                <a:gd name="T100" fmla="*/ 5424 w 189"/>
                <a:gd name="T101" fmla="*/ 1 h 29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89"/>
                <a:gd name="T154" fmla="*/ 0 h 291"/>
                <a:gd name="T155" fmla="*/ 189 w 189"/>
                <a:gd name="T156" fmla="*/ 291 h 29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89" h="291">
                  <a:moveTo>
                    <a:pt x="31" y="290"/>
                  </a:moveTo>
                  <a:lnTo>
                    <a:pt x="31" y="284"/>
                  </a:lnTo>
                  <a:lnTo>
                    <a:pt x="31" y="279"/>
                  </a:lnTo>
                  <a:lnTo>
                    <a:pt x="37" y="273"/>
                  </a:lnTo>
                  <a:lnTo>
                    <a:pt x="47" y="265"/>
                  </a:lnTo>
                  <a:lnTo>
                    <a:pt x="57" y="262"/>
                  </a:lnTo>
                  <a:lnTo>
                    <a:pt x="68" y="257"/>
                  </a:lnTo>
                  <a:lnTo>
                    <a:pt x="78" y="248"/>
                  </a:lnTo>
                  <a:lnTo>
                    <a:pt x="89" y="243"/>
                  </a:lnTo>
                  <a:lnTo>
                    <a:pt x="94" y="237"/>
                  </a:lnTo>
                  <a:lnTo>
                    <a:pt x="104" y="234"/>
                  </a:lnTo>
                  <a:lnTo>
                    <a:pt x="110" y="229"/>
                  </a:lnTo>
                  <a:lnTo>
                    <a:pt x="115" y="223"/>
                  </a:lnTo>
                  <a:lnTo>
                    <a:pt x="125" y="220"/>
                  </a:lnTo>
                  <a:lnTo>
                    <a:pt x="136" y="215"/>
                  </a:lnTo>
                  <a:lnTo>
                    <a:pt x="141" y="209"/>
                  </a:lnTo>
                  <a:lnTo>
                    <a:pt x="151" y="206"/>
                  </a:lnTo>
                  <a:lnTo>
                    <a:pt x="157" y="201"/>
                  </a:lnTo>
                  <a:lnTo>
                    <a:pt x="162" y="195"/>
                  </a:lnTo>
                  <a:lnTo>
                    <a:pt x="167" y="190"/>
                  </a:lnTo>
                  <a:lnTo>
                    <a:pt x="172" y="184"/>
                  </a:lnTo>
                  <a:lnTo>
                    <a:pt x="172" y="178"/>
                  </a:lnTo>
                  <a:lnTo>
                    <a:pt x="178" y="173"/>
                  </a:lnTo>
                  <a:lnTo>
                    <a:pt x="183" y="167"/>
                  </a:lnTo>
                  <a:lnTo>
                    <a:pt x="183" y="162"/>
                  </a:lnTo>
                  <a:lnTo>
                    <a:pt x="188" y="156"/>
                  </a:lnTo>
                  <a:lnTo>
                    <a:pt x="188" y="151"/>
                  </a:lnTo>
                  <a:lnTo>
                    <a:pt x="183" y="145"/>
                  </a:lnTo>
                  <a:lnTo>
                    <a:pt x="178" y="139"/>
                  </a:lnTo>
                  <a:lnTo>
                    <a:pt x="178" y="134"/>
                  </a:lnTo>
                  <a:lnTo>
                    <a:pt x="172" y="125"/>
                  </a:lnTo>
                  <a:lnTo>
                    <a:pt x="167" y="120"/>
                  </a:lnTo>
                  <a:lnTo>
                    <a:pt x="167" y="114"/>
                  </a:lnTo>
                  <a:lnTo>
                    <a:pt x="162" y="109"/>
                  </a:lnTo>
                  <a:lnTo>
                    <a:pt x="162" y="100"/>
                  </a:lnTo>
                  <a:lnTo>
                    <a:pt x="157" y="92"/>
                  </a:lnTo>
                  <a:lnTo>
                    <a:pt x="151" y="86"/>
                  </a:lnTo>
                  <a:lnTo>
                    <a:pt x="151" y="78"/>
                  </a:lnTo>
                  <a:lnTo>
                    <a:pt x="146" y="73"/>
                  </a:lnTo>
                  <a:lnTo>
                    <a:pt x="141" y="67"/>
                  </a:lnTo>
                  <a:lnTo>
                    <a:pt x="136" y="61"/>
                  </a:lnTo>
                  <a:lnTo>
                    <a:pt x="136" y="56"/>
                  </a:lnTo>
                  <a:lnTo>
                    <a:pt x="131" y="50"/>
                  </a:lnTo>
                  <a:lnTo>
                    <a:pt x="131" y="45"/>
                  </a:lnTo>
                  <a:lnTo>
                    <a:pt x="125" y="39"/>
                  </a:lnTo>
                  <a:lnTo>
                    <a:pt x="125" y="33"/>
                  </a:lnTo>
                  <a:lnTo>
                    <a:pt x="120" y="28"/>
                  </a:lnTo>
                  <a:lnTo>
                    <a:pt x="120" y="22"/>
                  </a:lnTo>
                  <a:lnTo>
                    <a:pt x="115" y="17"/>
                  </a:lnTo>
                  <a:lnTo>
                    <a:pt x="110" y="11"/>
                  </a:lnTo>
                  <a:lnTo>
                    <a:pt x="104" y="6"/>
                  </a:lnTo>
                  <a:lnTo>
                    <a:pt x="104" y="0"/>
                  </a:lnTo>
                  <a:lnTo>
                    <a:pt x="99" y="6"/>
                  </a:lnTo>
                  <a:lnTo>
                    <a:pt x="99" y="11"/>
                  </a:lnTo>
                  <a:lnTo>
                    <a:pt x="99" y="17"/>
                  </a:lnTo>
                  <a:lnTo>
                    <a:pt x="99" y="22"/>
                  </a:lnTo>
                  <a:lnTo>
                    <a:pt x="99" y="28"/>
                  </a:lnTo>
                  <a:lnTo>
                    <a:pt x="99" y="33"/>
                  </a:lnTo>
                  <a:lnTo>
                    <a:pt x="99" y="39"/>
                  </a:lnTo>
                  <a:lnTo>
                    <a:pt x="94" y="45"/>
                  </a:lnTo>
                  <a:lnTo>
                    <a:pt x="89" y="50"/>
                  </a:lnTo>
                  <a:lnTo>
                    <a:pt x="84" y="56"/>
                  </a:lnTo>
                  <a:lnTo>
                    <a:pt x="78" y="61"/>
                  </a:lnTo>
                  <a:lnTo>
                    <a:pt x="73" y="67"/>
                  </a:lnTo>
                  <a:lnTo>
                    <a:pt x="68" y="73"/>
                  </a:lnTo>
                  <a:lnTo>
                    <a:pt x="57" y="78"/>
                  </a:lnTo>
                  <a:lnTo>
                    <a:pt x="52" y="84"/>
                  </a:lnTo>
                  <a:lnTo>
                    <a:pt x="42" y="89"/>
                  </a:lnTo>
                  <a:lnTo>
                    <a:pt x="37" y="95"/>
                  </a:lnTo>
                  <a:lnTo>
                    <a:pt x="31" y="100"/>
                  </a:lnTo>
                  <a:lnTo>
                    <a:pt x="26" y="106"/>
                  </a:lnTo>
                  <a:lnTo>
                    <a:pt x="21" y="112"/>
                  </a:lnTo>
                  <a:lnTo>
                    <a:pt x="16" y="117"/>
                  </a:lnTo>
                  <a:lnTo>
                    <a:pt x="10" y="123"/>
                  </a:lnTo>
                  <a:lnTo>
                    <a:pt x="5" y="128"/>
                  </a:lnTo>
                  <a:lnTo>
                    <a:pt x="5" y="134"/>
                  </a:lnTo>
                  <a:lnTo>
                    <a:pt x="0" y="139"/>
                  </a:lnTo>
                  <a:lnTo>
                    <a:pt x="0" y="145"/>
                  </a:lnTo>
                  <a:lnTo>
                    <a:pt x="0" y="151"/>
                  </a:lnTo>
                  <a:lnTo>
                    <a:pt x="0" y="156"/>
                  </a:lnTo>
                  <a:lnTo>
                    <a:pt x="0" y="162"/>
                  </a:lnTo>
                  <a:lnTo>
                    <a:pt x="0" y="167"/>
                  </a:lnTo>
                  <a:lnTo>
                    <a:pt x="0" y="173"/>
                  </a:lnTo>
                  <a:lnTo>
                    <a:pt x="0" y="178"/>
                  </a:lnTo>
                  <a:lnTo>
                    <a:pt x="0" y="184"/>
                  </a:lnTo>
                  <a:lnTo>
                    <a:pt x="0" y="190"/>
                  </a:lnTo>
                  <a:lnTo>
                    <a:pt x="0" y="195"/>
                  </a:lnTo>
                  <a:lnTo>
                    <a:pt x="5" y="201"/>
                  </a:lnTo>
                  <a:lnTo>
                    <a:pt x="5" y="206"/>
                  </a:lnTo>
                  <a:lnTo>
                    <a:pt x="5" y="212"/>
                  </a:lnTo>
                  <a:lnTo>
                    <a:pt x="5" y="218"/>
                  </a:lnTo>
                  <a:lnTo>
                    <a:pt x="5" y="223"/>
                  </a:lnTo>
                  <a:lnTo>
                    <a:pt x="5" y="229"/>
                  </a:lnTo>
                  <a:lnTo>
                    <a:pt x="10" y="234"/>
                  </a:lnTo>
                  <a:lnTo>
                    <a:pt x="10" y="240"/>
                  </a:lnTo>
                  <a:lnTo>
                    <a:pt x="16" y="245"/>
                  </a:lnTo>
                  <a:lnTo>
                    <a:pt x="16" y="251"/>
                  </a:lnTo>
                  <a:lnTo>
                    <a:pt x="16" y="257"/>
                  </a:lnTo>
                  <a:lnTo>
                    <a:pt x="16" y="262"/>
                  </a:lnTo>
                  <a:lnTo>
                    <a:pt x="21" y="268"/>
                  </a:lnTo>
                  <a:lnTo>
                    <a:pt x="26" y="273"/>
                  </a:lnTo>
                  <a:lnTo>
                    <a:pt x="31" y="279"/>
                  </a:lnTo>
                  <a:lnTo>
                    <a:pt x="31" y="284"/>
                  </a:lnTo>
                </a:path>
              </a:pathLst>
            </a:custGeom>
            <a:solidFill>
              <a:srgbClr val="FF5008"/>
            </a:solidFill>
            <a:ln w="25400" cap="rnd">
              <a:solidFill>
                <a:srgbClr val="FE9B0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4990" name="Freeform 76"/>
            <p:cNvSpPr>
              <a:spLocks/>
            </p:cNvSpPr>
            <p:nvPr/>
          </p:nvSpPr>
          <p:spPr bwMode="auto">
            <a:xfrm>
              <a:off x="2592" y="1152"/>
              <a:ext cx="226" cy="267"/>
            </a:xfrm>
            <a:custGeom>
              <a:avLst/>
              <a:gdLst>
                <a:gd name="T0" fmla="*/ 23702 w 170"/>
                <a:gd name="T1" fmla="*/ 2 h 356"/>
                <a:gd name="T2" fmla="*/ 22877 w 170"/>
                <a:gd name="T3" fmla="*/ 2 h 356"/>
                <a:gd name="T4" fmla="*/ 19720 w 170"/>
                <a:gd name="T5" fmla="*/ 2 h 356"/>
                <a:gd name="T6" fmla="*/ 16705 w 170"/>
                <a:gd name="T7" fmla="*/ 2 h 356"/>
                <a:gd name="T8" fmla="*/ 14255 w 170"/>
                <a:gd name="T9" fmla="*/ 2 h 356"/>
                <a:gd name="T10" fmla="*/ 11783 w 170"/>
                <a:gd name="T11" fmla="*/ 2 h 356"/>
                <a:gd name="T12" fmla="*/ 9330 w 170"/>
                <a:gd name="T13" fmla="*/ 2 h 356"/>
                <a:gd name="T14" fmla="*/ 7018 w 170"/>
                <a:gd name="T15" fmla="*/ 2 h 356"/>
                <a:gd name="T16" fmla="*/ 4648 w 170"/>
                <a:gd name="T17" fmla="*/ 2 h 356"/>
                <a:gd name="T18" fmla="*/ 3117 w 170"/>
                <a:gd name="T19" fmla="*/ 2 h 356"/>
                <a:gd name="T20" fmla="*/ 2345 w 170"/>
                <a:gd name="T21" fmla="*/ 2 h 356"/>
                <a:gd name="T22" fmla="*/ 842 w 170"/>
                <a:gd name="T23" fmla="*/ 2 h 356"/>
                <a:gd name="T24" fmla="*/ 0 w 170"/>
                <a:gd name="T25" fmla="*/ 2 h 356"/>
                <a:gd name="T26" fmla="*/ 842 w 170"/>
                <a:gd name="T27" fmla="*/ 2 h 356"/>
                <a:gd name="T28" fmla="*/ 1488 w 170"/>
                <a:gd name="T29" fmla="*/ 2 h 356"/>
                <a:gd name="T30" fmla="*/ 3117 w 170"/>
                <a:gd name="T31" fmla="*/ 2 h 356"/>
                <a:gd name="T32" fmla="*/ 3916 w 170"/>
                <a:gd name="T33" fmla="*/ 2 h 356"/>
                <a:gd name="T34" fmla="*/ 4648 w 170"/>
                <a:gd name="T35" fmla="*/ 2 h 356"/>
                <a:gd name="T36" fmla="*/ 5509 w 170"/>
                <a:gd name="T37" fmla="*/ 2 h 356"/>
                <a:gd name="T38" fmla="*/ 7018 w 170"/>
                <a:gd name="T39" fmla="*/ 2 h 356"/>
                <a:gd name="T40" fmla="*/ 7844 w 170"/>
                <a:gd name="T41" fmla="*/ 2 h 356"/>
                <a:gd name="T42" fmla="*/ 8702 w 170"/>
                <a:gd name="T43" fmla="*/ 2 h 356"/>
                <a:gd name="T44" fmla="*/ 9330 w 170"/>
                <a:gd name="T45" fmla="*/ 2 h 356"/>
                <a:gd name="T46" fmla="*/ 10300 w 170"/>
                <a:gd name="T47" fmla="*/ 2 h 356"/>
                <a:gd name="T48" fmla="*/ 11783 w 170"/>
                <a:gd name="T49" fmla="*/ 2 h 356"/>
                <a:gd name="T50" fmla="*/ 12668 w 170"/>
                <a:gd name="T51" fmla="*/ 0 h 356"/>
                <a:gd name="T52" fmla="*/ 13411 w 170"/>
                <a:gd name="T53" fmla="*/ 2 h 356"/>
                <a:gd name="T54" fmla="*/ 13411 w 170"/>
                <a:gd name="T55" fmla="*/ 2 h 356"/>
                <a:gd name="T56" fmla="*/ 13411 w 170"/>
                <a:gd name="T57" fmla="*/ 2 h 356"/>
                <a:gd name="T58" fmla="*/ 14255 w 170"/>
                <a:gd name="T59" fmla="*/ 2 h 356"/>
                <a:gd name="T60" fmla="*/ 15855 w 170"/>
                <a:gd name="T61" fmla="*/ 2 h 356"/>
                <a:gd name="T62" fmla="*/ 17330 w 170"/>
                <a:gd name="T63" fmla="*/ 2 h 356"/>
                <a:gd name="T64" fmla="*/ 19720 w 170"/>
                <a:gd name="T65" fmla="*/ 2 h 356"/>
                <a:gd name="T66" fmla="*/ 21982 w 170"/>
                <a:gd name="T67" fmla="*/ 2 h 356"/>
                <a:gd name="T68" fmla="*/ 23702 w 170"/>
                <a:gd name="T69" fmla="*/ 2 h 356"/>
                <a:gd name="T70" fmla="*/ 25194 w 170"/>
                <a:gd name="T71" fmla="*/ 2 h 356"/>
                <a:gd name="T72" fmla="*/ 26939 w 170"/>
                <a:gd name="T73" fmla="*/ 2 h 356"/>
                <a:gd name="T74" fmla="*/ 27640 w 170"/>
                <a:gd name="T75" fmla="*/ 2 h 356"/>
                <a:gd name="T76" fmla="*/ 28424 w 170"/>
                <a:gd name="T77" fmla="*/ 2 h 356"/>
                <a:gd name="T78" fmla="*/ 28424 w 170"/>
                <a:gd name="T79" fmla="*/ 2 h 356"/>
                <a:gd name="T80" fmla="*/ 28424 w 170"/>
                <a:gd name="T81" fmla="*/ 2 h 356"/>
                <a:gd name="T82" fmla="*/ 28424 w 170"/>
                <a:gd name="T83" fmla="*/ 2 h 356"/>
                <a:gd name="T84" fmla="*/ 28424 w 170"/>
                <a:gd name="T85" fmla="*/ 2 h 356"/>
                <a:gd name="T86" fmla="*/ 27640 w 170"/>
                <a:gd name="T87" fmla="*/ 2 h 356"/>
                <a:gd name="T88" fmla="*/ 27640 w 170"/>
                <a:gd name="T89" fmla="*/ 2 h 356"/>
                <a:gd name="T90" fmla="*/ 27640 w 170"/>
                <a:gd name="T91" fmla="*/ 2 h 356"/>
                <a:gd name="T92" fmla="*/ 26939 w 170"/>
                <a:gd name="T93" fmla="*/ 2 h 356"/>
                <a:gd name="T94" fmla="*/ 26064 w 170"/>
                <a:gd name="T95" fmla="*/ 2 h 356"/>
                <a:gd name="T96" fmla="*/ 26064 w 170"/>
                <a:gd name="T97" fmla="*/ 2 h 356"/>
                <a:gd name="T98" fmla="*/ 25194 w 170"/>
                <a:gd name="T99" fmla="*/ 2 h 356"/>
                <a:gd name="T100" fmla="*/ 23702 w 170"/>
                <a:gd name="T101" fmla="*/ 2 h 35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70"/>
                <a:gd name="T154" fmla="*/ 0 h 356"/>
                <a:gd name="T155" fmla="*/ 170 w 170"/>
                <a:gd name="T156" fmla="*/ 356 h 35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70" h="356">
                  <a:moveTo>
                    <a:pt x="141" y="355"/>
                  </a:moveTo>
                  <a:lnTo>
                    <a:pt x="141" y="348"/>
                  </a:lnTo>
                  <a:lnTo>
                    <a:pt x="141" y="341"/>
                  </a:lnTo>
                  <a:lnTo>
                    <a:pt x="136" y="335"/>
                  </a:lnTo>
                  <a:lnTo>
                    <a:pt x="127" y="324"/>
                  </a:lnTo>
                  <a:lnTo>
                    <a:pt x="117" y="321"/>
                  </a:lnTo>
                  <a:lnTo>
                    <a:pt x="108" y="314"/>
                  </a:lnTo>
                  <a:lnTo>
                    <a:pt x="99" y="304"/>
                  </a:lnTo>
                  <a:lnTo>
                    <a:pt x="89" y="297"/>
                  </a:lnTo>
                  <a:lnTo>
                    <a:pt x="85" y="290"/>
                  </a:lnTo>
                  <a:lnTo>
                    <a:pt x="75" y="287"/>
                  </a:lnTo>
                  <a:lnTo>
                    <a:pt x="70" y="280"/>
                  </a:lnTo>
                  <a:lnTo>
                    <a:pt x="66" y="273"/>
                  </a:lnTo>
                  <a:lnTo>
                    <a:pt x="56" y="270"/>
                  </a:lnTo>
                  <a:lnTo>
                    <a:pt x="47" y="263"/>
                  </a:lnTo>
                  <a:lnTo>
                    <a:pt x="42" y="256"/>
                  </a:lnTo>
                  <a:lnTo>
                    <a:pt x="33" y="253"/>
                  </a:lnTo>
                  <a:lnTo>
                    <a:pt x="28" y="246"/>
                  </a:lnTo>
                  <a:lnTo>
                    <a:pt x="23" y="239"/>
                  </a:lnTo>
                  <a:lnTo>
                    <a:pt x="19" y="232"/>
                  </a:lnTo>
                  <a:lnTo>
                    <a:pt x="14" y="225"/>
                  </a:lnTo>
                  <a:lnTo>
                    <a:pt x="14" y="218"/>
                  </a:lnTo>
                  <a:lnTo>
                    <a:pt x="9" y="212"/>
                  </a:lnTo>
                  <a:lnTo>
                    <a:pt x="5" y="205"/>
                  </a:lnTo>
                  <a:lnTo>
                    <a:pt x="5" y="198"/>
                  </a:lnTo>
                  <a:lnTo>
                    <a:pt x="0" y="191"/>
                  </a:lnTo>
                  <a:lnTo>
                    <a:pt x="0" y="184"/>
                  </a:lnTo>
                  <a:lnTo>
                    <a:pt x="5" y="178"/>
                  </a:lnTo>
                  <a:lnTo>
                    <a:pt x="9" y="171"/>
                  </a:lnTo>
                  <a:lnTo>
                    <a:pt x="9" y="164"/>
                  </a:lnTo>
                  <a:lnTo>
                    <a:pt x="14" y="154"/>
                  </a:lnTo>
                  <a:lnTo>
                    <a:pt x="19" y="147"/>
                  </a:lnTo>
                  <a:lnTo>
                    <a:pt x="19" y="140"/>
                  </a:lnTo>
                  <a:lnTo>
                    <a:pt x="23" y="133"/>
                  </a:lnTo>
                  <a:lnTo>
                    <a:pt x="23" y="123"/>
                  </a:lnTo>
                  <a:lnTo>
                    <a:pt x="28" y="113"/>
                  </a:lnTo>
                  <a:lnTo>
                    <a:pt x="33" y="106"/>
                  </a:lnTo>
                  <a:lnTo>
                    <a:pt x="33" y="96"/>
                  </a:lnTo>
                  <a:lnTo>
                    <a:pt x="38" y="89"/>
                  </a:lnTo>
                  <a:lnTo>
                    <a:pt x="42" y="82"/>
                  </a:lnTo>
                  <a:lnTo>
                    <a:pt x="47" y="75"/>
                  </a:lnTo>
                  <a:lnTo>
                    <a:pt x="47" y="68"/>
                  </a:lnTo>
                  <a:lnTo>
                    <a:pt x="52" y="61"/>
                  </a:lnTo>
                  <a:lnTo>
                    <a:pt x="52" y="55"/>
                  </a:lnTo>
                  <a:lnTo>
                    <a:pt x="56" y="48"/>
                  </a:lnTo>
                  <a:lnTo>
                    <a:pt x="56" y="41"/>
                  </a:lnTo>
                  <a:lnTo>
                    <a:pt x="61" y="34"/>
                  </a:lnTo>
                  <a:lnTo>
                    <a:pt x="61" y="27"/>
                  </a:lnTo>
                  <a:lnTo>
                    <a:pt x="66" y="20"/>
                  </a:lnTo>
                  <a:lnTo>
                    <a:pt x="70" y="14"/>
                  </a:lnTo>
                  <a:lnTo>
                    <a:pt x="75" y="7"/>
                  </a:lnTo>
                  <a:lnTo>
                    <a:pt x="75" y="0"/>
                  </a:lnTo>
                  <a:lnTo>
                    <a:pt x="80" y="7"/>
                  </a:lnTo>
                  <a:lnTo>
                    <a:pt x="80" y="14"/>
                  </a:lnTo>
                  <a:lnTo>
                    <a:pt x="80" y="20"/>
                  </a:lnTo>
                  <a:lnTo>
                    <a:pt x="80" y="27"/>
                  </a:lnTo>
                  <a:lnTo>
                    <a:pt x="80" y="34"/>
                  </a:lnTo>
                  <a:lnTo>
                    <a:pt x="80" y="41"/>
                  </a:lnTo>
                  <a:lnTo>
                    <a:pt x="80" y="48"/>
                  </a:lnTo>
                  <a:lnTo>
                    <a:pt x="85" y="55"/>
                  </a:lnTo>
                  <a:lnTo>
                    <a:pt x="89" y="61"/>
                  </a:lnTo>
                  <a:lnTo>
                    <a:pt x="94" y="68"/>
                  </a:lnTo>
                  <a:lnTo>
                    <a:pt x="99" y="75"/>
                  </a:lnTo>
                  <a:lnTo>
                    <a:pt x="103" y="82"/>
                  </a:lnTo>
                  <a:lnTo>
                    <a:pt x="108" y="89"/>
                  </a:lnTo>
                  <a:lnTo>
                    <a:pt x="117" y="96"/>
                  </a:lnTo>
                  <a:lnTo>
                    <a:pt x="122" y="102"/>
                  </a:lnTo>
                  <a:lnTo>
                    <a:pt x="131" y="109"/>
                  </a:lnTo>
                  <a:lnTo>
                    <a:pt x="136" y="116"/>
                  </a:lnTo>
                  <a:lnTo>
                    <a:pt x="141" y="123"/>
                  </a:lnTo>
                  <a:lnTo>
                    <a:pt x="146" y="130"/>
                  </a:lnTo>
                  <a:lnTo>
                    <a:pt x="150" y="137"/>
                  </a:lnTo>
                  <a:lnTo>
                    <a:pt x="155" y="143"/>
                  </a:lnTo>
                  <a:lnTo>
                    <a:pt x="160" y="150"/>
                  </a:lnTo>
                  <a:lnTo>
                    <a:pt x="164" y="157"/>
                  </a:lnTo>
                  <a:lnTo>
                    <a:pt x="164" y="164"/>
                  </a:lnTo>
                  <a:lnTo>
                    <a:pt x="169" y="171"/>
                  </a:lnTo>
                  <a:lnTo>
                    <a:pt x="169" y="178"/>
                  </a:lnTo>
                  <a:lnTo>
                    <a:pt x="169" y="184"/>
                  </a:lnTo>
                  <a:lnTo>
                    <a:pt x="169" y="191"/>
                  </a:lnTo>
                  <a:lnTo>
                    <a:pt x="169" y="198"/>
                  </a:lnTo>
                  <a:lnTo>
                    <a:pt x="169" y="205"/>
                  </a:lnTo>
                  <a:lnTo>
                    <a:pt x="169" y="212"/>
                  </a:lnTo>
                  <a:lnTo>
                    <a:pt x="169" y="218"/>
                  </a:lnTo>
                  <a:lnTo>
                    <a:pt x="169" y="225"/>
                  </a:lnTo>
                  <a:lnTo>
                    <a:pt x="169" y="232"/>
                  </a:lnTo>
                  <a:lnTo>
                    <a:pt x="169" y="239"/>
                  </a:lnTo>
                  <a:lnTo>
                    <a:pt x="164" y="246"/>
                  </a:lnTo>
                  <a:lnTo>
                    <a:pt x="164" y="253"/>
                  </a:lnTo>
                  <a:lnTo>
                    <a:pt x="164" y="259"/>
                  </a:lnTo>
                  <a:lnTo>
                    <a:pt x="164" y="266"/>
                  </a:lnTo>
                  <a:lnTo>
                    <a:pt x="164" y="273"/>
                  </a:lnTo>
                  <a:lnTo>
                    <a:pt x="164" y="280"/>
                  </a:lnTo>
                  <a:lnTo>
                    <a:pt x="160" y="287"/>
                  </a:lnTo>
                  <a:lnTo>
                    <a:pt x="160" y="294"/>
                  </a:lnTo>
                  <a:lnTo>
                    <a:pt x="155" y="300"/>
                  </a:lnTo>
                  <a:lnTo>
                    <a:pt x="155" y="307"/>
                  </a:lnTo>
                  <a:lnTo>
                    <a:pt x="155" y="314"/>
                  </a:lnTo>
                  <a:lnTo>
                    <a:pt x="155" y="321"/>
                  </a:lnTo>
                  <a:lnTo>
                    <a:pt x="150" y="328"/>
                  </a:lnTo>
                  <a:lnTo>
                    <a:pt x="146" y="335"/>
                  </a:lnTo>
                  <a:lnTo>
                    <a:pt x="141" y="341"/>
                  </a:lnTo>
                  <a:lnTo>
                    <a:pt x="141" y="348"/>
                  </a:lnTo>
                </a:path>
              </a:pathLst>
            </a:custGeom>
            <a:solidFill>
              <a:srgbClr val="FF6600"/>
            </a:solidFill>
            <a:ln w="254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4991" name="Freeform 77"/>
            <p:cNvSpPr>
              <a:spLocks/>
            </p:cNvSpPr>
            <p:nvPr/>
          </p:nvSpPr>
          <p:spPr bwMode="auto">
            <a:xfrm>
              <a:off x="2692" y="1130"/>
              <a:ext cx="150" cy="289"/>
            </a:xfrm>
            <a:custGeom>
              <a:avLst/>
              <a:gdLst>
                <a:gd name="T0" fmla="*/ 3517 w 112"/>
                <a:gd name="T1" fmla="*/ 2 h 386"/>
                <a:gd name="T2" fmla="*/ 4204 w 112"/>
                <a:gd name="T3" fmla="*/ 1 h 386"/>
                <a:gd name="T4" fmla="*/ 6668 w 112"/>
                <a:gd name="T5" fmla="*/ 1 h 386"/>
                <a:gd name="T6" fmla="*/ 8930 w 112"/>
                <a:gd name="T7" fmla="*/ 1 h 386"/>
                <a:gd name="T8" fmla="*/ 10685 w 112"/>
                <a:gd name="T9" fmla="*/ 1 h 386"/>
                <a:gd name="T10" fmla="*/ 12534 w 112"/>
                <a:gd name="T11" fmla="*/ 1 h 386"/>
                <a:gd name="T12" fmla="*/ 14222 w 112"/>
                <a:gd name="T13" fmla="*/ 1 h 386"/>
                <a:gd name="T14" fmla="*/ 16018 w 112"/>
                <a:gd name="T15" fmla="*/ 1 h 386"/>
                <a:gd name="T16" fmla="*/ 17937 w 112"/>
                <a:gd name="T17" fmla="*/ 1 h 386"/>
                <a:gd name="T18" fmla="*/ 19047 w 112"/>
                <a:gd name="T19" fmla="*/ 1 h 386"/>
                <a:gd name="T20" fmla="*/ 19588 w 112"/>
                <a:gd name="T21" fmla="*/ 1 h 386"/>
                <a:gd name="T22" fmla="*/ 20799 w 112"/>
                <a:gd name="T23" fmla="*/ 1 h 386"/>
                <a:gd name="T24" fmla="*/ 21453 w 112"/>
                <a:gd name="T25" fmla="*/ 1 h 386"/>
                <a:gd name="T26" fmla="*/ 20799 w 112"/>
                <a:gd name="T27" fmla="*/ 1 h 386"/>
                <a:gd name="T28" fmla="*/ 20234 w 112"/>
                <a:gd name="T29" fmla="*/ 1 h 386"/>
                <a:gd name="T30" fmla="*/ 19047 w 112"/>
                <a:gd name="T31" fmla="*/ 1 h 386"/>
                <a:gd name="T32" fmla="*/ 18557 w 112"/>
                <a:gd name="T33" fmla="*/ 1 h 386"/>
                <a:gd name="T34" fmla="*/ 17937 w 112"/>
                <a:gd name="T35" fmla="*/ 1 h 386"/>
                <a:gd name="T36" fmla="*/ 17065 w 112"/>
                <a:gd name="T37" fmla="*/ 1 h 386"/>
                <a:gd name="T38" fmla="*/ 16018 w 112"/>
                <a:gd name="T39" fmla="*/ 1 h 386"/>
                <a:gd name="T40" fmla="*/ 15327 w 112"/>
                <a:gd name="T41" fmla="*/ 1 h 386"/>
                <a:gd name="T42" fmla="*/ 14825 w 112"/>
                <a:gd name="T43" fmla="*/ 1 h 386"/>
                <a:gd name="T44" fmla="*/ 14222 w 112"/>
                <a:gd name="T45" fmla="*/ 1 h 386"/>
                <a:gd name="T46" fmla="*/ 13572 w 112"/>
                <a:gd name="T47" fmla="*/ 1 h 386"/>
                <a:gd name="T48" fmla="*/ 12534 w 112"/>
                <a:gd name="T49" fmla="*/ 1 h 386"/>
                <a:gd name="T50" fmla="*/ 11960 w 112"/>
                <a:gd name="T51" fmla="*/ 0 h 386"/>
                <a:gd name="T52" fmla="*/ 11314 w 112"/>
                <a:gd name="T53" fmla="*/ 1 h 386"/>
                <a:gd name="T54" fmla="*/ 11314 w 112"/>
                <a:gd name="T55" fmla="*/ 1 h 386"/>
                <a:gd name="T56" fmla="*/ 11314 w 112"/>
                <a:gd name="T57" fmla="*/ 1 h 386"/>
                <a:gd name="T58" fmla="*/ 10685 w 112"/>
                <a:gd name="T59" fmla="*/ 1 h 386"/>
                <a:gd name="T60" fmla="*/ 9453 w 112"/>
                <a:gd name="T61" fmla="*/ 1 h 386"/>
                <a:gd name="T62" fmla="*/ 8278 w 112"/>
                <a:gd name="T63" fmla="*/ 1 h 386"/>
                <a:gd name="T64" fmla="*/ 6668 w 112"/>
                <a:gd name="T65" fmla="*/ 1 h 386"/>
                <a:gd name="T66" fmla="*/ 4710 w 112"/>
                <a:gd name="T67" fmla="*/ 1 h 386"/>
                <a:gd name="T68" fmla="*/ 3517 w 112"/>
                <a:gd name="T69" fmla="*/ 1 h 386"/>
                <a:gd name="T70" fmla="*/ 2258 w 112"/>
                <a:gd name="T71" fmla="*/ 1 h 386"/>
                <a:gd name="T72" fmla="*/ 1191 w 112"/>
                <a:gd name="T73" fmla="*/ 1 h 386"/>
                <a:gd name="T74" fmla="*/ 524 w 112"/>
                <a:gd name="T75" fmla="*/ 1 h 386"/>
                <a:gd name="T76" fmla="*/ 0 w 112"/>
                <a:gd name="T77" fmla="*/ 1 h 386"/>
                <a:gd name="T78" fmla="*/ 0 w 112"/>
                <a:gd name="T79" fmla="*/ 1 h 386"/>
                <a:gd name="T80" fmla="*/ 0 w 112"/>
                <a:gd name="T81" fmla="*/ 1 h 386"/>
                <a:gd name="T82" fmla="*/ 0 w 112"/>
                <a:gd name="T83" fmla="*/ 1 h 386"/>
                <a:gd name="T84" fmla="*/ 0 w 112"/>
                <a:gd name="T85" fmla="*/ 1 h 386"/>
                <a:gd name="T86" fmla="*/ 524 w 112"/>
                <a:gd name="T87" fmla="*/ 1 h 386"/>
                <a:gd name="T88" fmla="*/ 524 w 112"/>
                <a:gd name="T89" fmla="*/ 1 h 386"/>
                <a:gd name="T90" fmla="*/ 524 w 112"/>
                <a:gd name="T91" fmla="*/ 1 h 386"/>
                <a:gd name="T92" fmla="*/ 1191 w 112"/>
                <a:gd name="T93" fmla="*/ 1 h 386"/>
                <a:gd name="T94" fmla="*/ 1686 w 112"/>
                <a:gd name="T95" fmla="*/ 1 h 386"/>
                <a:gd name="T96" fmla="*/ 1686 w 112"/>
                <a:gd name="T97" fmla="*/ 1 h 386"/>
                <a:gd name="T98" fmla="*/ 2258 w 112"/>
                <a:gd name="T99" fmla="*/ 1 h 386"/>
                <a:gd name="T100" fmla="*/ 3517 w 112"/>
                <a:gd name="T101" fmla="*/ 2 h 38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2"/>
                <a:gd name="T154" fmla="*/ 0 h 386"/>
                <a:gd name="T155" fmla="*/ 112 w 112"/>
                <a:gd name="T156" fmla="*/ 386 h 38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2" h="386">
                  <a:moveTo>
                    <a:pt x="19" y="385"/>
                  </a:moveTo>
                  <a:lnTo>
                    <a:pt x="19" y="378"/>
                  </a:lnTo>
                  <a:lnTo>
                    <a:pt x="19" y="370"/>
                  </a:lnTo>
                  <a:lnTo>
                    <a:pt x="22" y="363"/>
                  </a:lnTo>
                  <a:lnTo>
                    <a:pt x="28" y="352"/>
                  </a:lnTo>
                  <a:lnTo>
                    <a:pt x="34" y="348"/>
                  </a:lnTo>
                  <a:lnTo>
                    <a:pt x="40" y="341"/>
                  </a:lnTo>
                  <a:lnTo>
                    <a:pt x="46" y="329"/>
                  </a:lnTo>
                  <a:lnTo>
                    <a:pt x="52" y="322"/>
                  </a:lnTo>
                  <a:lnTo>
                    <a:pt x="56" y="315"/>
                  </a:lnTo>
                  <a:lnTo>
                    <a:pt x="62" y="311"/>
                  </a:lnTo>
                  <a:lnTo>
                    <a:pt x="65" y="304"/>
                  </a:lnTo>
                  <a:lnTo>
                    <a:pt x="68" y="296"/>
                  </a:lnTo>
                  <a:lnTo>
                    <a:pt x="74" y="292"/>
                  </a:lnTo>
                  <a:lnTo>
                    <a:pt x="80" y="285"/>
                  </a:lnTo>
                  <a:lnTo>
                    <a:pt x="83" y="278"/>
                  </a:lnTo>
                  <a:lnTo>
                    <a:pt x="89" y="274"/>
                  </a:lnTo>
                  <a:lnTo>
                    <a:pt x="93" y="267"/>
                  </a:lnTo>
                  <a:lnTo>
                    <a:pt x="96" y="259"/>
                  </a:lnTo>
                  <a:lnTo>
                    <a:pt x="99" y="252"/>
                  </a:lnTo>
                  <a:lnTo>
                    <a:pt x="102" y="244"/>
                  </a:lnTo>
                  <a:lnTo>
                    <a:pt x="102" y="237"/>
                  </a:lnTo>
                  <a:lnTo>
                    <a:pt x="105" y="230"/>
                  </a:lnTo>
                  <a:lnTo>
                    <a:pt x="108" y="222"/>
                  </a:lnTo>
                  <a:lnTo>
                    <a:pt x="108" y="215"/>
                  </a:lnTo>
                  <a:lnTo>
                    <a:pt x="111" y="207"/>
                  </a:lnTo>
                  <a:lnTo>
                    <a:pt x="111" y="200"/>
                  </a:lnTo>
                  <a:lnTo>
                    <a:pt x="108" y="193"/>
                  </a:lnTo>
                  <a:lnTo>
                    <a:pt x="105" y="185"/>
                  </a:lnTo>
                  <a:lnTo>
                    <a:pt x="105" y="178"/>
                  </a:lnTo>
                  <a:lnTo>
                    <a:pt x="102" y="167"/>
                  </a:lnTo>
                  <a:lnTo>
                    <a:pt x="99" y="159"/>
                  </a:lnTo>
                  <a:lnTo>
                    <a:pt x="99" y="152"/>
                  </a:lnTo>
                  <a:lnTo>
                    <a:pt x="96" y="144"/>
                  </a:lnTo>
                  <a:lnTo>
                    <a:pt x="96" y="133"/>
                  </a:lnTo>
                  <a:lnTo>
                    <a:pt x="93" y="122"/>
                  </a:lnTo>
                  <a:lnTo>
                    <a:pt x="89" y="115"/>
                  </a:lnTo>
                  <a:lnTo>
                    <a:pt x="89" y="104"/>
                  </a:lnTo>
                  <a:lnTo>
                    <a:pt x="86" y="96"/>
                  </a:lnTo>
                  <a:lnTo>
                    <a:pt x="83" y="89"/>
                  </a:lnTo>
                  <a:lnTo>
                    <a:pt x="80" y="81"/>
                  </a:lnTo>
                  <a:lnTo>
                    <a:pt x="80" y="74"/>
                  </a:lnTo>
                  <a:lnTo>
                    <a:pt x="77" y="67"/>
                  </a:lnTo>
                  <a:lnTo>
                    <a:pt x="77" y="59"/>
                  </a:lnTo>
                  <a:lnTo>
                    <a:pt x="74" y="52"/>
                  </a:lnTo>
                  <a:lnTo>
                    <a:pt x="74" y="44"/>
                  </a:lnTo>
                  <a:lnTo>
                    <a:pt x="71" y="37"/>
                  </a:lnTo>
                  <a:lnTo>
                    <a:pt x="71" y="30"/>
                  </a:lnTo>
                  <a:lnTo>
                    <a:pt x="68" y="22"/>
                  </a:lnTo>
                  <a:lnTo>
                    <a:pt x="65" y="15"/>
                  </a:lnTo>
                  <a:lnTo>
                    <a:pt x="62" y="7"/>
                  </a:lnTo>
                  <a:lnTo>
                    <a:pt x="62" y="0"/>
                  </a:lnTo>
                  <a:lnTo>
                    <a:pt x="59" y="7"/>
                  </a:lnTo>
                  <a:lnTo>
                    <a:pt x="59" y="15"/>
                  </a:lnTo>
                  <a:lnTo>
                    <a:pt x="59" y="22"/>
                  </a:lnTo>
                  <a:lnTo>
                    <a:pt x="59" y="30"/>
                  </a:lnTo>
                  <a:lnTo>
                    <a:pt x="59" y="37"/>
                  </a:lnTo>
                  <a:lnTo>
                    <a:pt x="59" y="44"/>
                  </a:lnTo>
                  <a:lnTo>
                    <a:pt x="59" y="52"/>
                  </a:lnTo>
                  <a:lnTo>
                    <a:pt x="56" y="59"/>
                  </a:lnTo>
                  <a:lnTo>
                    <a:pt x="52" y="67"/>
                  </a:lnTo>
                  <a:lnTo>
                    <a:pt x="49" y="74"/>
                  </a:lnTo>
                  <a:lnTo>
                    <a:pt x="46" y="81"/>
                  </a:lnTo>
                  <a:lnTo>
                    <a:pt x="43" y="89"/>
                  </a:lnTo>
                  <a:lnTo>
                    <a:pt x="40" y="96"/>
                  </a:lnTo>
                  <a:lnTo>
                    <a:pt x="34" y="104"/>
                  </a:lnTo>
                  <a:lnTo>
                    <a:pt x="31" y="111"/>
                  </a:lnTo>
                  <a:lnTo>
                    <a:pt x="25" y="118"/>
                  </a:lnTo>
                  <a:lnTo>
                    <a:pt x="22" y="126"/>
                  </a:lnTo>
                  <a:lnTo>
                    <a:pt x="19" y="133"/>
                  </a:lnTo>
                  <a:lnTo>
                    <a:pt x="15" y="141"/>
                  </a:lnTo>
                  <a:lnTo>
                    <a:pt x="12" y="148"/>
                  </a:lnTo>
                  <a:lnTo>
                    <a:pt x="9" y="155"/>
                  </a:lnTo>
                  <a:lnTo>
                    <a:pt x="6" y="163"/>
                  </a:lnTo>
                  <a:lnTo>
                    <a:pt x="3" y="170"/>
                  </a:lnTo>
                  <a:lnTo>
                    <a:pt x="3" y="178"/>
                  </a:lnTo>
                  <a:lnTo>
                    <a:pt x="0" y="185"/>
                  </a:lnTo>
                  <a:lnTo>
                    <a:pt x="0" y="193"/>
                  </a:lnTo>
                  <a:lnTo>
                    <a:pt x="0" y="200"/>
                  </a:lnTo>
                  <a:lnTo>
                    <a:pt x="0" y="207"/>
                  </a:lnTo>
                  <a:lnTo>
                    <a:pt x="0" y="215"/>
                  </a:lnTo>
                  <a:lnTo>
                    <a:pt x="0" y="222"/>
                  </a:lnTo>
                  <a:lnTo>
                    <a:pt x="0" y="230"/>
                  </a:lnTo>
                  <a:lnTo>
                    <a:pt x="0" y="237"/>
                  </a:lnTo>
                  <a:lnTo>
                    <a:pt x="0" y="244"/>
                  </a:lnTo>
                  <a:lnTo>
                    <a:pt x="0" y="252"/>
                  </a:lnTo>
                  <a:lnTo>
                    <a:pt x="0" y="259"/>
                  </a:lnTo>
                  <a:lnTo>
                    <a:pt x="3" y="267"/>
                  </a:lnTo>
                  <a:lnTo>
                    <a:pt x="3" y="274"/>
                  </a:lnTo>
                  <a:lnTo>
                    <a:pt x="3" y="281"/>
                  </a:lnTo>
                  <a:lnTo>
                    <a:pt x="3" y="289"/>
                  </a:lnTo>
                  <a:lnTo>
                    <a:pt x="3" y="296"/>
                  </a:lnTo>
                  <a:lnTo>
                    <a:pt x="3" y="304"/>
                  </a:lnTo>
                  <a:lnTo>
                    <a:pt x="6" y="311"/>
                  </a:lnTo>
                  <a:lnTo>
                    <a:pt x="6" y="318"/>
                  </a:lnTo>
                  <a:lnTo>
                    <a:pt x="9" y="326"/>
                  </a:lnTo>
                  <a:lnTo>
                    <a:pt x="9" y="333"/>
                  </a:lnTo>
                  <a:lnTo>
                    <a:pt x="9" y="341"/>
                  </a:lnTo>
                  <a:lnTo>
                    <a:pt x="9" y="348"/>
                  </a:lnTo>
                  <a:lnTo>
                    <a:pt x="12" y="355"/>
                  </a:lnTo>
                  <a:lnTo>
                    <a:pt x="15" y="363"/>
                  </a:lnTo>
                  <a:lnTo>
                    <a:pt x="19" y="370"/>
                  </a:lnTo>
                  <a:lnTo>
                    <a:pt x="19" y="378"/>
                  </a:lnTo>
                </a:path>
              </a:pathLst>
            </a:custGeom>
            <a:solidFill>
              <a:srgbClr val="FF0000"/>
            </a:solidFill>
            <a:ln w="25400" cap="rnd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4992" name="Freeform 78"/>
            <p:cNvSpPr>
              <a:spLocks/>
            </p:cNvSpPr>
            <p:nvPr/>
          </p:nvSpPr>
          <p:spPr bwMode="auto">
            <a:xfrm>
              <a:off x="2763" y="1319"/>
              <a:ext cx="169" cy="97"/>
            </a:xfrm>
            <a:custGeom>
              <a:avLst/>
              <a:gdLst>
                <a:gd name="T0" fmla="*/ 0 w 127"/>
                <a:gd name="T1" fmla="*/ 2 h 129"/>
                <a:gd name="T2" fmla="*/ 1694 w 127"/>
                <a:gd name="T3" fmla="*/ 2 h 129"/>
                <a:gd name="T4" fmla="*/ 2615 w 127"/>
                <a:gd name="T5" fmla="*/ 2 h 129"/>
                <a:gd name="T6" fmla="*/ 4127 w 127"/>
                <a:gd name="T7" fmla="*/ 2 h 129"/>
                <a:gd name="T8" fmla="*/ 5805 w 127"/>
                <a:gd name="T9" fmla="*/ 2 h 129"/>
                <a:gd name="T10" fmla="*/ 7641 w 127"/>
                <a:gd name="T11" fmla="*/ 2 h 129"/>
                <a:gd name="T12" fmla="*/ 8201 w 127"/>
                <a:gd name="T13" fmla="*/ 2 h 129"/>
                <a:gd name="T14" fmla="*/ 9891 w 127"/>
                <a:gd name="T15" fmla="*/ 2 h 129"/>
                <a:gd name="T16" fmla="*/ 10796 w 127"/>
                <a:gd name="T17" fmla="*/ 2 h 129"/>
                <a:gd name="T18" fmla="*/ 11634 w 127"/>
                <a:gd name="T19" fmla="*/ 2 h 129"/>
                <a:gd name="T20" fmla="*/ 13382 w 127"/>
                <a:gd name="T21" fmla="*/ 2 h 129"/>
                <a:gd name="T22" fmla="*/ 13382 w 127"/>
                <a:gd name="T23" fmla="*/ 2 h 129"/>
                <a:gd name="T24" fmla="*/ 14905 w 127"/>
                <a:gd name="T25" fmla="*/ 2 h 129"/>
                <a:gd name="T26" fmla="*/ 14905 w 127"/>
                <a:gd name="T27" fmla="*/ 2 h 129"/>
                <a:gd name="T28" fmla="*/ 14905 w 127"/>
                <a:gd name="T29" fmla="*/ 2 h 129"/>
                <a:gd name="T30" fmla="*/ 15669 w 127"/>
                <a:gd name="T31" fmla="*/ 2 h 129"/>
                <a:gd name="T32" fmla="*/ 17515 w 127"/>
                <a:gd name="T33" fmla="*/ 2 h 129"/>
                <a:gd name="T34" fmla="*/ 17515 w 127"/>
                <a:gd name="T35" fmla="*/ 2 h 129"/>
                <a:gd name="T36" fmla="*/ 18281 w 127"/>
                <a:gd name="T37" fmla="*/ 2 h 129"/>
                <a:gd name="T38" fmla="*/ 18281 w 127"/>
                <a:gd name="T39" fmla="*/ 2 h 129"/>
                <a:gd name="T40" fmla="*/ 19834 w 127"/>
                <a:gd name="T41" fmla="*/ 0 h 129"/>
                <a:gd name="T42" fmla="*/ 19834 w 127"/>
                <a:gd name="T43" fmla="*/ 2 h 129"/>
                <a:gd name="T44" fmla="*/ 19834 w 127"/>
                <a:gd name="T45" fmla="*/ 2 h 129"/>
                <a:gd name="T46" fmla="*/ 20690 w 127"/>
                <a:gd name="T47" fmla="*/ 2 h 129"/>
                <a:gd name="T48" fmla="*/ 20690 w 127"/>
                <a:gd name="T49" fmla="*/ 2 h 129"/>
                <a:gd name="T50" fmla="*/ 20690 w 127"/>
                <a:gd name="T51" fmla="*/ 2 h 129"/>
                <a:gd name="T52" fmla="*/ 21648 w 127"/>
                <a:gd name="T53" fmla="*/ 2 h 129"/>
                <a:gd name="T54" fmla="*/ 21648 w 127"/>
                <a:gd name="T55" fmla="*/ 2 h 129"/>
                <a:gd name="T56" fmla="*/ 21648 w 127"/>
                <a:gd name="T57" fmla="*/ 2 h 129"/>
                <a:gd name="T58" fmla="*/ 21648 w 127"/>
                <a:gd name="T59" fmla="*/ 2 h 129"/>
                <a:gd name="T60" fmla="*/ 21648 w 127"/>
                <a:gd name="T61" fmla="*/ 2 h 129"/>
                <a:gd name="T62" fmla="*/ 20690 w 127"/>
                <a:gd name="T63" fmla="*/ 2 h 129"/>
                <a:gd name="T64" fmla="*/ 19026 w 127"/>
                <a:gd name="T65" fmla="*/ 2 h 129"/>
                <a:gd name="T66" fmla="*/ 18281 w 127"/>
                <a:gd name="T67" fmla="*/ 2 h 129"/>
                <a:gd name="T68" fmla="*/ 16652 w 127"/>
                <a:gd name="T69" fmla="*/ 2 h 129"/>
                <a:gd name="T70" fmla="*/ 14905 w 127"/>
                <a:gd name="T71" fmla="*/ 2 h 129"/>
                <a:gd name="T72" fmla="*/ 13382 w 127"/>
                <a:gd name="T73" fmla="*/ 2 h 129"/>
                <a:gd name="T74" fmla="*/ 11634 w 127"/>
                <a:gd name="T75" fmla="*/ 2 h 129"/>
                <a:gd name="T76" fmla="*/ 9891 w 127"/>
                <a:gd name="T77" fmla="*/ 2 h 129"/>
                <a:gd name="T78" fmla="*/ 8201 w 127"/>
                <a:gd name="T79" fmla="*/ 2 h 129"/>
                <a:gd name="T80" fmla="*/ 6650 w 127"/>
                <a:gd name="T81" fmla="*/ 2 h 129"/>
                <a:gd name="T82" fmla="*/ 4997 w 127"/>
                <a:gd name="T83" fmla="*/ 2 h 129"/>
                <a:gd name="T84" fmla="*/ 3243 w 127"/>
                <a:gd name="T85" fmla="*/ 2 h 129"/>
                <a:gd name="T86" fmla="*/ 1694 w 127"/>
                <a:gd name="T87" fmla="*/ 2 h 129"/>
                <a:gd name="T88" fmla="*/ 0 w 127"/>
                <a:gd name="T89" fmla="*/ 2 h 129"/>
                <a:gd name="T90" fmla="*/ 10796 w 127"/>
                <a:gd name="T91" fmla="*/ 2 h 1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27"/>
                <a:gd name="T139" fmla="*/ 0 h 129"/>
                <a:gd name="T140" fmla="*/ 127 w 127"/>
                <a:gd name="T141" fmla="*/ 129 h 12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27" h="129">
                  <a:moveTo>
                    <a:pt x="0" y="128"/>
                  </a:moveTo>
                  <a:lnTo>
                    <a:pt x="10" y="128"/>
                  </a:lnTo>
                  <a:lnTo>
                    <a:pt x="15" y="119"/>
                  </a:lnTo>
                  <a:lnTo>
                    <a:pt x="24" y="119"/>
                  </a:lnTo>
                  <a:lnTo>
                    <a:pt x="34" y="111"/>
                  </a:lnTo>
                  <a:lnTo>
                    <a:pt x="44" y="107"/>
                  </a:lnTo>
                  <a:lnTo>
                    <a:pt x="48" y="98"/>
                  </a:lnTo>
                  <a:lnTo>
                    <a:pt x="58" y="98"/>
                  </a:lnTo>
                  <a:lnTo>
                    <a:pt x="63" y="90"/>
                  </a:lnTo>
                  <a:lnTo>
                    <a:pt x="68" y="81"/>
                  </a:lnTo>
                  <a:lnTo>
                    <a:pt x="78" y="73"/>
                  </a:lnTo>
                  <a:lnTo>
                    <a:pt x="78" y="64"/>
                  </a:lnTo>
                  <a:lnTo>
                    <a:pt x="87" y="60"/>
                  </a:lnTo>
                  <a:lnTo>
                    <a:pt x="87" y="51"/>
                  </a:lnTo>
                  <a:lnTo>
                    <a:pt x="87" y="43"/>
                  </a:lnTo>
                  <a:lnTo>
                    <a:pt x="92" y="34"/>
                  </a:lnTo>
                  <a:lnTo>
                    <a:pt x="102" y="30"/>
                  </a:lnTo>
                  <a:lnTo>
                    <a:pt x="102" y="21"/>
                  </a:lnTo>
                  <a:lnTo>
                    <a:pt x="107" y="13"/>
                  </a:lnTo>
                  <a:lnTo>
                    <a:pt x="107" y="4"/>
                  </a:lnTo>
                  <a:lnTo>
                    <a:pt x="116" y="0"/>
                  </a:lnTo>
                  <a:lnTo>
                    <a:pt x="116" y="9"/>
                  </a:lnTo>
                  <a:lnTo>
                    <a:pt x="116" y="17"/>
                  </a:lnTo>
                  <a:lnTo>
                    <a:pt x="121" y="26"/>
                  </a:lnTo>
                  <a:lnTo>
                    <a:pt x="121" y="34"/>
                  </a:lnTo>
                  <a:lnTo>
                    <a:pt x="121" y="43"/>
                  </a:lnTo>
                  <a:lnTo>
                    <a:pt x="126" y="51"/>
                  </a:lnTo>
                  <a:lnTo>
                    <a:pt x="126" y="60"/>
                  </a:lnTo>
                  <a:lnTo>
                    <a:pt x="126" y="68"/>
                  </a:lnTo>
                  <a:lnTo>
                    <a:pt x="126" y="77"/>
                  </a:lnTo>
                  <a:lnTo>
                    <a:pt x="126" y="85"/>
                  </a:lnTo>
                  <a:lnTo>
                    <a:pt x="121" y="94"/>
                  </a:lnTo>
                  <a:lnTo>
                    <a:pt x="111" y="94"/>
                  </a:lnTo>
                  <a:lnTo>
                    <a:pt x="107" y="102"/>
                  </a:lnTo>
                  <a:lnTo>
                    <a:pt x="97" y="107"/>
                  </a:lnTo>
                  <a:lnTo>
                    <a:pt x="87" y="111"/>
                  </a:lnTo>
                  <a:lnTo>
                    <a:pt x="78" y="115"/>
                  </a:lnTo>
                  <a:lnTo>
                    <a:pt x="68" y="115"/>
                  </a:lnTo>
                  <a:lnTo>
                    <a:pt x="58" y="115"/>
                  </a:lnTo>
                  <a:lnTo>
                    <a:pt x="48" y="115"/>
                  </a:lnTo>
                  <a:lnTo>
                    <a:pt x="39" y="115"/>
                  </a:lnTo>
                  <a:lnTo>
                    <a:pt x="29" y="119"/>
                  </a:lnTo>
                  <a:lnTo>
                    <a:pt x="19" y="124"/>
                  </a:lnTo>
                  <a:lnTo>
                    <a:pt x="10" y="128"/>
                  </a:lnTo>
                  <a:lnTo>
                    <a:pt x="0" y="128"/>
                  </a:lnTo>
                  <a:lnTo>
                    <a:pt x="63" y="98"/>
                  </a:lnTo>
                </a:path>
              </a:pathLst>
            </a:custGeom>
            <a:solidFill>
              <a:srgbClr val="FFFF00"/>
            </a:solidFill>
            <a:ln w="254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24978" name="Group 87"/>
          <p:cNvGrpSpPr>
            <a:grpSpLocks/>
          </p:cNvGrpSpPr>
          <p:nvPr/>
        </p:nvGrpSpPr>
        <p:grpSpPr bwMode="auto">
          <a:xfrm>
            <a:off x="6045200" y="1871663"/>
            <a:ext cx="119063" cy="231775"/>
            <a:chOff x="2571" y="1098"/>
            <a:chExt cx="412" cy="328"/>
          </a:xfrm>
        </p:grpSpPr>
        <p:sp>
          <p:nvSpPr>
            <p:cNvPr id="124979" name="Freeform 88"/>
            <p:cNvSpPr>
              <a:spLocks/>
            </p:cNvSpPr>
            <p:nvPr/>
          </p:nvSpPr>
          <p:spPr bwMode="auto">
            <a:xfrm>
              <a:off x="2571" y="1098"/>
              <a:ext cx="188" cy="321"/>
            </a:xfrm>
            <a:custGeom>
              <a:avLst/>
              <a:gdLst>
                <a:gd name="T0" fmla="*/ 20729 w 141"/>
                <a:gd name="T1" fmla="*/ 3 h 428"/>
                <a:gd name="T2" fmla="*/ 20047 w 141"/>
                <a:gd name="T3" fmla="*/ 3 h 428"/>
                <a:gd name="T4" fmla="*/ 17143 w 141"/>
                <a:gd name="T5" fmla="*/ 3 h 428"/>
                <a:gd name="T6" fmla="*/ 14423 w 141"/>
                <a:gd name="T7" fmla="*/ 2 h 428"/>
                <a:gd name="T8" fmla="*/ 12343 w 141"/>
                <a:gd name="T9" fmla="*/ 2 h 428"/>
                <a:gd name="T10" fmla="*/ 10241 w 141"/>
                <a:gd name="T11" fmla="*/ 2 h 428"/>
                <a:gd name="T12" fmla="*/ 8361 w 141"/>
                <a:gd name="T13" fmla="*/ 2 h 428"/>
                <a:gd name="T14" fmla="*/ 6271 w 141"/>
                <a:gd name="T15" fmla="*/ 2 h 428"/>
                <a:gd name="T16" fmla="*/ 4068 w 141"/>
                <a:gd name="T17" fmla="*/ 2 h 428"/>
                <a:gd name="T18" fmla="*/ 2759 w 141"/>
                <a:gd name="T19" fmla="*/ 2 h 428"/>
                <a:gd name="T20" fmla="*/ 2069 w 141"/>
                <a:gd name="T21" fmla="*/ 2 h 428"/>
                <a:gd name="T22" fmla="*/ 655 w 141"/>
                <a:gd name="T23" fmla="*/ 2 h 428"/>
                <a:gd name="T24" fmla="*/ 0 w 141"/>
                <a:gd name="T25" fmla="*/ 2 h 428"/>
                <a:gd name="T26" fmla="*/ 655 w 141"/>
                <a:gd name="T27" fmla="*/ 2 h 428"/>
                <a:gd name="T28" fmla="*/ 1505 w 141"/>
                <a:gd name="T29" fmla="*/ 2 h 428"/>
                <a:gd name="T30" fmla="*/ 2759 w 141"/>
                <a:gd name="T31" fmla="*/ 2 h 428"/>
                <a:gd name="T32" fmla="*/ 3321 w 141"/>
                <a:gd name="T33" fmla="*/ 2 h 428"/>
                <a:gd name="T34" fmla="*/ 4068 w 141"/>
                <a:gd name="T35" fmla="*/ 2 h 428"/>
                <a:gd name="T36" fmla="*/ 4757 w 141"/>
                <a:gd name="T37" fmla="*/ 2 h 428"/>
                <a:gd name="T38" fmla="*/ 6271 w 141"/>
                <a:gd name="T39" fmla="*/ 2 h 428"/>
                <a:gd name="T40" fmla="*/ 6913 w 141"/>
                <a:gd name="T41" fmla="*/ 2 h 428"/>
                <a:gd name="T42" fmla="*/ 7583 w 141"/>
                <a:gd name="T43" fmla="*/ 2 h 428"/>
                <a:gd name="T44" fmla="*/ 8361 w 141"/>
                <a:gd name="T45" fmla="*/ 2 h 428"/>
                <a:gd name="T46" fmla="*/ 9073 w 141"/>
                <a:gd name="T47" fmla="*/ 2 h 428"/>
                <a:gd name="T48" fmla="*/ 10241 w 141"/>
                <a:gd name="T49" fmla="*/ 2 h 428"/>
                <a:gd name="T50" fmla="*/ 11077 w 141"/>
                <a:gd name="T51" fmla="*/ 0 h 428"/>
                <a:gd name="T52" fmla="*/ 11660 w 141"/>
                <a:gd name="T53" fmla="*/ 2 h 428"/>
                <a:gd name="T54" fmla="*/ 11660 w 141"/>
                <a:gd name="T55" fmla="*/ 2 h 428"/>
                <a:gd name="T56" fmla="*/ 11660 w 141"/>
                <a:gd name="T57" fmla="*/ 2 h 428"/>
                <a:gd name="T58" fmla="*/ 12343 w 141"/>
                <a:gd name="T59" fmla="*/ 2 h 428"/>
                <a:gd name="T60" fmla="*/ 13852 w 141"/>
                <a:gd name="T61" fmla="*/ 2 h 428"/>
                <a:gd name="T62" fmla="*/ 15275 w 141"/>
                <a:gd name="T63" fmla="*/ 2 h 428"/>
                <a:gd name="T64" fmla="*/ 17143 w 141"/>
                <a:gd name="T65" fmla="*/ 2 h 428"/>
                <a:gd name="T66" fmla="*/ 19231 w 141"/>
                <a:gd name="T67" fmla="*/ 2 h 428"/>
                <a:gd name="T68" fmla="*/ 20729 w 141"/>
                <a:gd name="T69" fmla="*/ 2 h 428"/>
                <a:gd name="T70" fmla="*/ 21943 w 141"/>
                <a:gd name="T71" fmla="*/ 2 h 428"/>
                <a:gd name="T72" fmla="*/ 23380 w 141"/>
                <a:gd name="T73" fmla="*/ 2 h 428"/>
                <a:gd name="T74" fmla="*/ 24023 w 141"/>
                <a:gd name="T75" fmla="*/ 2 h 428"/>
                <a:gd name="T76" fmla="*/ 24880 w 141"/>
                <a:gd name="T77" fmla="*/ 2 h 428"/>
                <a:gd name="T78" fmla="*/ 24880 w 141"/>
                <a:gd name="T79" fmla="*/ 2 h 428"/>
                <a:gd name="T80" fmla="*/ 24880 w 141"/>
                <a:gd name="T81" fmla="*/ 2 h 428"/>
                <a:gd name="T82" fmla="*/ 24880 w 141"/>
                <a:gd name="T83" fmla="*/ 2 h 428"/>
                <a:gd name="T84" fmla="*/ 24880 w 141"/>
                <a:gd name="T85" fmla="*/ 2 h 428"/>
                <a:gd name="T86" fmla="*/ 24023 w 141"/>
                <a:gd name="T87" fmla="*/ 2 h 428"/>
                <a:gd name="T88" fmla="*/ 24023 w 141"/>
                <a:gd name="T89" fmla="*/ 2 h 428"/>
                <a:gd name="T90" fmla="*/ 24023 w 141"/>
                <a:gd name="T91" fmla="*/ 2 h 428"/>
                <a:gd name="T92" fmla="*/ 23380 w 141"/>
                <a:gd name="T93" fmla="*/ 2 h 428"/>
                <a:gd name="T94" fmla="*/ 22740 w 141"/>
                <a:gd name="T95" fmla="*/ 2 h 428"/>
                <a:gd name="T96" fmla="*/ 22740 w 141"/>
                <a:gd name="T97" fmla="*/ 3 h 428"/>
                <a:gd name="T98" fmla="*/ 21943 w 141"/>
                <a:gd name="T99" fmla="*/ 3 h 428"/>
                <a:gd name="T100" fmla="*/ 20729 w 141"/>
                <a:gd name="T101" fmla="*/ 3 h 4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41"/>
                <a:gd name="T154" fmla="*/ 0 h 428"/>
                <a:gd name="T155" fmla="*/ 141 w 141"/>
                <a:gd name="T156" fmla="*/ 428 h 4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41" h="428">
                  <a:moveTo>
                    <a:pt x="117" y="427"/>
                  </a:moveTo>
                  <a:lnTo>
                    <a:pt x="117" y="419"/>
                  </a:lnTo>
                  <a:lnTo>
                    <a:pt x="117" y="411"/>
                  </a:lnTo>
                  <a:lnTo>
                    <a:pt x="113" y="402"/>
                  </a:lnTo>
                  <a:lnTo>
                    <a:pt x="105" y="390"/>
                  </a:lnTo>
                  <a:lnTo>
                    <a:pt x="97" y="386"/>
                  </a:lnTo>
                  <a:lnTo>
                    <a:pt x="89" y="378"/>
                  </a:lnTo>
                  <a:lnTo>
                    <a:pt x="82" y="365"/>
                  </a:lnTo>
                  <a:lnTo>
                    <a:pt x="74" y="357"/>
                  </a:lnTo>
                  <a:lnTo>
                    <a:pt x="70" y="349"/>
                  </a:lnTo>
                  <a:lnTo>
                    <a:pt x="62" y="345"/>
                  </a:lnTo>
                  <a:lnTo>
                    <a:pt x="58" y="337"/>
                  </a:lnTo>
                  <a:lnTo>
                    <a:pt x="54" y="328"/>
                  </a:lnTo>
                  <a:lnTo>
                    <a:pt x="47" y="324"/>
                  </a:lnTo>
                  <a:lnTo>
                    <a:pt x="39" y="316"/>
                  </a:lnTo>
                  <a:lnTo>
                    <a:pt x="35" y="308"/>
                  </a:lnTo>
                  <a:lnTo>
                    <a:pt x="27" y="304"/>
                  </a:lnTo>
                  <a:lnTo>
                    <a:pt x="23" y="296"/>
                  </a:lnTo>
                  <a:lnTo>
                    <a:pt x="19" y="287"/>
                  </a:lnTo>
                  <a:lnTo>
                    <a:pt x="16" y="279"/>
                  </a:lnTo>
                  <a:lnTo>
                    <a:pt x="12" y="271"/>
                  </a:lnTo>
                  <a:lnTo>
                    <a:pt x="12" y="263"/>
                  </a:lnTo>
                  <a:lnTo>
                    <a:pt x="8" y="255"/>
                  </a:lnTo>
                  <a:lnTo>
                    <a:pt x="4" y="246"/>
                  </a:lnTo>
                  <a:lnTo>
                    <a:pt x="4" y="238"/>
                  </a:lnTo>
                  <a:lnTo>
                    <a:pt x="0" y="230"/>
                  </a:lnTo>
                  <a:lnTo>
                    <a:pt x="0" y="222"/>
                  </a:lnTo>
                  <a:lnTo>
                    <a:pt x="4" y="214"/>
                  </a:lnTo>
                  <a:lnTo>
                    <a:pt x="8" y="205"/>
                  </a:lnTo>
                  <a:lnTo>
                    <a:pt x="8" y="197"/>
                  </a:lnTo>
                  <a:lnTo>
                    <a:pt x="12" y="185"/>
                  </a:lnTo>
                  <a:lnTo>
                    <a:pt x="16" y="177"/>
                  </a:lnTo>
                  <a:lnTo>
                    <a:pt x="16" y="168"/>
                  </a:lnTo>
                  <a:lnTo>
                    <a:pt x="19" y="160"/>
                  </a:lnTo>
                  <a:lnTo>
                    <a:pt x="19" y="148"/>
                  </a:lnTo>
                  <a:lnTo>
                    <a:pt x="23" y="135"/>
                  </a:lnTo>
                  <a:lnTo>
                    <a:pt x="27" y="127"/>
                  </a:lnTo>
                  <a:lnTo>
                    <a:pt x="27" y="115"/>
                  </a:lnTo>
                  <a:lnTo>
                    <a:pt x="31" y="107"/>
                  </a:lnTo>
                  <a:lnTo>
                    <a:pt x="35" y="99"/>
                  </a:lnTo>
                  <a:lnTo>
                    <a:pt x="39" y="90"/>
                  </a:lnTo>
                  <a:lnTo>
                    <a:pt x="39" y="82"/>
                  </a:lnTo>
                  <a:lnTo>
                    <a:pt x="43" y="74"/>
                  </a:lnTo>
                  <a:lnTo>
                    <a:pt x="43" y="66"/>
                  </a:lnTo>
                  <a:lnTo>
                    <a:pt x="47" y="57"/>
                  </a:lnTo>
                  <a:lnTo>
                    <a:pt x="47" y="49"/>
                  </a:lnTo>
                  <a:lnTo>
                    <a:pt x="51" y="41"/>
                  </a:lnTo>
                  <a:lnTo>
                    <a:pt x="51" y="33"/>
                  </a:lnTo>
                  <a:lnTo>
                    <a:pt x="54" y="25"/>
                  </a:lnTo>
                  <a:lnTo>
                    <a:pt x="58" y="16"/>
                  </a:lnTo>
                  <a:lnTo>
                    <a:pt x="62" y="8"/>
                  </a:lnTo>
                  <a:lnTo>
                    <a:pt x="62" y="0"/>
                  </a:lnTo>
                  <a:lnTo>
                    <a:pt x="66" y="8"/>
                  </a:lnTo>
                  <a:lnTo>
                    <a:pt x="66" y="16"/>
                  </a:lnTo>
                  <a:lnTo>
                    <a:pt x="66" y="25"/>
                  </a:lnTo>
                  <a:lnTo>
                    <a:pt x="66" y="33"/>
                  </a:lnTo>
                  <a:lnTo>
                    <a:pt x="66" y="41"/>
                  </a:lnTo>
                  <a:lnTo>
                    <a:pt x="66" y="49"/>
                  </a:lnTo>
                  <a:lnTo>
                    <a:pt x="66" y="57"/>
                  </a:lnTo>
                  <a:lnTo>
                    <a:pt x="70" y="66"/>
                  </a:lnTo>
                  <a:lnTo>
                    <a:pt x="74" y="74"/>
                  </a:lnTo>
                  <a:lnTo>
                    <a:pt x="78" y="82"/>
                  </a:lnTo>
                  <a:lnTo>
                    <a:pt x="82" y="90"/>
                  </a:lnTo>
                  <a:lnTo>
                    <a:pt x="86" y="99"/>
                  </a:lnTo>
                  <a:lnTo>
                    <a:pt x="89" y="107"/>
                  </a:lnTo>
                  <a:lnTo>
                    <a:pt x="97" y="115"/>
                  </a:lnTo>
                  <a:lnTo>
                    <a:pt x="101" y="123"/>
                  </a:lnTo>
                  <a:lnTo>
                    <a:pt x="109" y="131"/>
                  </a:lnTo>
                  <a:lnTo>
                    <a:pt x="113" y="140"/>
                  </a:lnTo>
                  <a:lnTo>
                    <a:pt x="117" y="148"/>
                  </a:lnTo>
                  <a:lnTo>
                    <a:pt x="121" y="156"/>
                  </a:lnTo>
                  <a:lnTo>
                    <a:pt x="124" y="164"/>
                  </a:lnTo>
                  <a:lnTo>
                    <a:pt x="128" y="172"/>
                  </a:lnTo>
                  <a:lnTo>
                    <a:pt x="132" y="181"/>
                  </a:lnTo>
                  <a:lnTo>
                    <a:pt x="136" y="189"/>
                  </a:lnTo>
                  <a:lnTo>
                    <a:pt x="136" y="197"/>
                  </a:lnTo>
                  <a:lnTo>
                    <a:pt x="140" y="205"/>
                  </a:lnTo>
                  <a:lnTo>
                    <a:pt x="140" y="214"/>
                  </a:lnTo>
                  <a:lnTo>
                    <a:pt x="140" y="222"/>
                  </a:lnTo>
                  <a:lnTo>
                    <a:pt x="140" y="230"/>
                  </a:lnTo>
                  <a:lnTo>
                    <a:pt x="140" y="238"/>
                  </a:lnTo>
                  <a:lnTo>
                    <a:pt x="140" y="246"/>
                  </a:lnTo>
                  <a:lnTo>
                    <a:pt x="140" y="255"/>
                  </a:lnTo>
                  <a:lnTo>
                    <a:pt x="140" y="263"/>
                  </a:lnTo>
                  <a:lnTo>
                    <a:pt x="140" y="271"/>
                  </a:lnTo>
                  <a:lnTo>
                    <a:pt x="140" y="279"/>
                  </a:lnTo>
                  <a:lnTo>
                    <a:pt x="140" y="287"/>
                  </a:lnTo>
                  <a:lnTo>
                    <a:pt x="136" y="296"/>
                  </a:lnTo>
                  <a:lnTo>
                    <a:pt x="136" y="304"/>
                  </a:lnTo>
                  <a:lnTo>
                    <a:pt x="136" y="312"/>
                  </a:lnTo>
                  <a:lnTo>
                    <a:pt x="136" y="320"/>
                  </a:lnTo>
                  <a:lnTo>
                    <a:pt x="136" y="328"/>
                  </a:lnTo>
                  <a:lnTo>
                    <a:pt x="136" y="337"/>
                  </a:lnTo>
                  <a:lnTo>
                    <a:pt x="132" y="345"/>
                  </a:lnTo>
                  <a:lnTo>
                    <a:pt x="132" y="353"/>
                  </a:lnTo>
                  <a:lnTo>
                    <a:pt x="128" y="361"/>
                  </a:lnTo>
                  <a:lnTo>
                    <a:pt x="128" y="370"/>
                  </a:lnTo>
                  <a:lnTo>
                    <a:pt x="128" y="378"/>
                  </a:lnTo>
                  <a:lnTo>
                    <a:pt x="128" y="386"/>
                  </a:lnTo>
                  <a:lnTo>
                    <a:pt x="124" y="394"/>
                  </a:lnTo>
                  <a:lnTo>
                    <a:pt x="121" y="402"/>
                  </a:lnTo>
                  <a:lnTo>
                    <a:pt x="117" y="411"/>
                  </a:lnTo>
                  <a:lnTo>
                    <a:pt x="117" y="419"/>
                  </a:lnTo>
                </a:path>
              </a:pathLst>
            </a:custGeom>
            <a:solidFill>
              <a:srgbClr val="FAFD00"/>
            </a:solidFill>
            <a:ln w="25400" cap="rnd">
              <a:solidFill>
                <a:srgbClr val="F35B1B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4980" name="Freeform 89"/>
            <p:cNvSpPr>
              <a:spLocks/>
            </p:cNvSpPr>
            <p:nvPr/>
          </p:nvSpPr>
          <p:spPr bwMode="auto">
            <a:xfrm>
              <a:off x="2712" y="1207"/>
              <a:ext cx="194" cy="219"/>
            </a:xfrm>
            <a:custGeom>
              <a:avLst/>
              <a:gdLst>
                <a:gd name="T0" fmla="*/ 4581 w 145"/>
                <a:gd name="T1" fmla="*/ 2 h 292"/>
                <a:gd name="T2" fmla="*/ 5290 w 145"/>
                <a:gd name="T3" fmla="*/ 2 h 292"/>
                <a:gd name="T4" fmla="*/ 8363 w 145"/>
                <a:gd name="T5" fmla="*/ 2 h 292"/>
                <a:gd name="T6" fmla="*/ 11271 w 145"/>
                <a:gd name="T7" fmla="*/ 2 h 292"/>
                <a:gd name="T8" fmla="*/ 13448 w 145"/>
                <a:gd name="T9" fmla="*/ 2 h 292"/>
                <a:gd name="T10" fmla="*/ 15867 w 145"/>
                <a:gd name="T11" fmla="*/ 2 h 292"/>
                <a:gd name="T12" fmla="*/ 17992 w 145"/>
                <a:gd name="T13" fmla="*/ 2 h 292"/>
                <a:gd name="T14" fmla="*/ 20329 w 145"/>
                <a:gd name="T15" fmla="*/ 2 h 292"/>
                <a:gd name="T16" fmla="*/ 22681 w 145"/>
                <a:gd name="T17" fmla="*/ 2 h 292"/>
                <a:gd name="T18" fmla="*/ 24072 w 145"/>
                <a:gd name="T19" fmla="*/ 2 h 292"/>
                <a:gd name="T20" fmla="*/ 24966 w 145"/>
                <a:gd name="T21" fmla="*/ 2 h 292"/>
                <a:gd name="T22" fmla="*/ 26314 w 145"/>
                <a:gd name="T23" fmla="*/ 2 h 292"/>
                <a:gd name="T24" fmla="*/ 27199 w 145"/>
                <a:gd name="T25" fmla="*/ 2 h 292"/>
                <a:gd name="T26" fmla="*/ 26314 w 145"/>
                <a:gd name="T27" fmla="*/ 2 h 292"/>
                <a:gd name="T28" fmla="*/ 25679 w 145"/>
                <a:gd name="T29" fmla="*/ 2 h 292"/>
                <a:gd name="T30" fmla="*/ 24072 w 145"/>
                <a:gd name="T31" fmla="*/ 2 h 292"/>
                <a:gd name="T32" fmla="*/ 23371 w 145"/>
                <a:gd name="T33" fmla="*/ 2 h 292"/>
                <a:gd name="T34" fmla="*/ 22681 w 145"/>
                <a:gd name="T35" fmla="*/ 2 h 292"/>
                <a:gd name="T36" fmla="*/ 21826 w 145"/>
                <a:gd name="T37" fmla="*/ 2 h 292"/>
                <a:gd name="T38" fmla="*/ 20329 w 145"/>
                <a:gd name="T39" fmla="*/ 2 h 292"/>
                <a:gd name="T40" fmla="*/ 19638 w 145"/>
                <a:gd name="T41" fmla="*/ 2 h 292"/>
                <a:gd name="T42" fmla="*/ 18863 w 145"/>
                <a:gd name="T43" fmla="*/ 2 h 292"/>
                <a:gd name="T44" fmla="*/ 17992 w 145"/>
                <a:gd name="T45" fmla="*/ 2 h 292"/>
                <a:gd name="T46" fmla="*/ 17444 w 145"/>
                <a:gd name="T47" fmla="*/ 2 h 292"/>
                <a:gd name="T48" fmla="*/ 15867 w 145"/>
                <a:gd name="T49" fmla="*/ 2 h 292"/>
                <a:gd name="T50" fmla="*/ 15080 w 145"/>
                <a:gd name="T51" fmla="*/ 0 h 292"/>
                <a:gd name="T52" fmla="*/ 14345 w 145"/>
                <a:gd name="T53" fmla="*/ 2 h 292"/>
                <a:gd name="T54" fmla="*/ 14345 w 145"/>
                <a:gd name="T55" fmla="*/ 2 h 292"/>
                <a:gd name="T56" fmla="*/ 14345 w 145"/>
                <a:gd name="T57" fmla="*/ 2 h 292"/>
                <a:gd name="T58" fmla="*/ 13448 w 145"/>
                <a:gd name="T59" fmla="*/ 2 h 292"/>
                <a:gd name="T60" fmla="*/ 12150 w 145"/>
                <a:gd name="T61" fmla="*/ 2 h 292"/>
                <a:gd name="T62" fmla="*/ 10538 w 145"/>
                <a:gd name="T63" fmla="*/ 2 h 292"/>
                <a:gd name="T64" fmla="*/ 8363 w 145"/>
                <a:gd name="T65" fmla="*/ 2 h 292"/>
                <a:gd name="T66" fmla="*/ 6129 w 145"/>
                <a:gd name="T67" fmla="*/ 2 h 292"/>
                <a:gd name="T68" fmla="*/ 4581 w 145"/>
                <a:gd name="T69" fmla="*/ 2 h 292"/>
                <a:gd name="T70" fmla="*/ 2955 w 145"/>
                <a:gd name="T71" fmla="*/ 2 h 292"/>
                <a:gd name="T72" fmla="*/ 1583 w 145"/>
                <a:gd name="T73" fmla="*/ 2 h 292"/>
                <a:gd name="T74" fmla="*/ 689 w 145"/>
                <a:gd name="T75" fmla="*/ 2 h 292"/>
                <a:gd name="T76" fmla="*/ 0 w 145"/>
                <a:gd name="T77" fmla="*/ 2 h 292"/>
                <a:gd name="T78" fmla="*/ 0 w 145"/>
                <a:gd name="T79" fmla="*/ 2 h 292"/>
                <a:gd name="T80" fmla="*/ 0 w 145"/>
                <a:gd name="T81" fmla="*/ 2 h 292"/>
                <a:gd name="T82" fmla="*/ 0 w 145"/>
                <a:gd name="T83" fmla="*/ 2 h 292"/>
                <a:gd name="T84" fmla="*/ 0 w 145"/>
                <a:gd name="T85" fmla="*/ 2 h 292"/>
                <a:gd name="T86" fmla="*/ 689 w 145"/>
                <a:gd name="T87" fmla="*/ 2 h 292"/>
                <a:gd name="T88" fmla="*/ 689 w 145"/>
                <a:gd name="T89" fmla="*/ 2 h 292"/>
                <a:gd name="T90" fmla="*/ 689 w 145"/>
                <a:gd name="T91" fmla="*/ 2 h 292"/>
                <a:gd name="T92" fmla="*/ 1583 w 145"/>
                <a:gd name="T93" fmla="*/ 2 h 292"/>
                <a:gd name="T94" fmla="*/ 2209 w 145"/>
                <a:gd name="T95" fmla="*/ 2 h 292"/>
                <a:gd name="T96" fmla="*/ 2209 w 145"/>
                <a:gd name="T97" fmla="*/ 2 h 292"/>
                <a:gd name="T98" fmla="*/ 2955 w 145"/>
                <a:gd name="T99" fmla="*/ 2 h 292"/>
                <a:gd name="T100" fmla="*/ 4581 w 145"/>
                <a:gd name="T101" fmla="*/ 2 h 29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45"/>
                <a:gd name="T154" fmla="*/ 0 h 292"/>
                <a:gd name="T155" fmla="*/ 145 w 145"/>
                <a:gd name="T156" fmla="*/ 292 h 29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45" h="292">
                  <a:moveTo>
                    <a:pt x="24" y="291"/>
                  </a:moveTo>
                  <a:lnTo>
                    <a:pt x="24" y="285"/>
                  </a:lnTo>
                  <a:lnTo>
                    <a:pt x="24" y="280"/>
                  </a:lnTo>
                  <a:lnTo>
                    <a:pt x="28" y="274"/>
                  </a:lnTo>
                  <a:lnTo>
                    <a:pt x="36" y="266"/>
                  </a:lnTo>
                  <a:lnTo>
                    <a:pt x="44" y="263"/>
                  </a:lnTo>
                  <a:lnTo>
                    <a:pt x="52" y="257"/>
                  </a:lnTo>
                  <a:lnTo>
                    <a:pt x="60" y="249"/>
                  </a:lnTo>
                  <a:lnTo>
                    <a:pt x="68" y="243"/>
                  </a:lnTo>
                  <a:lnTo>
                    <a:pt x="72" y="238"/>
                  </a:lnTo>
                  <a:lnTo>
                    <a:pt x="80" y="235"/>
                  </a:lnTo>
                  <a:lnTo>
                    <a:pt x="84" y="229"/>
                  </a:lnTo>
                  <a:lnTo>
                    <a:pt x="88" y="224"/>
                  </a:lnTo>
                  <a:lnTo>
                    <a:pt x="96" y="221"/>
                  </a:lnTo>
                  <a:lnTo>
                    <a:pt x="104" y="215"/>
                  </a:lnTo>
                  <a:lnTo>
                    <a:pt x="108" y="210"/>
                  </a:lnTo>
                  <a:lnTo>
                    <a:pt x="116" y="207"/>
                  </a:lnTo>
                  <a:lnTo>
                    <a:pt x="120" y="201"/>
                  </a:lnTo>
                  <a:lnTo>
                    <a:pt x="124" y="196"/>
                  </a:lnTo>
                  <a:lnTo>
                    <a:pt x="128" y="190"/>
                  </a:lnTo>
                  <a:lnTo>
                    <a:pt x="132" y="185"/>
                  </a:lnTo>
                  <a:lnTo>
                    <a:pt x="132" y="179"/>
                  </a:lnTo>
                  <a:lnTo>
                    <a:pt x="136" y="173"/>
                  </a:lnTo>
                  <a:lnTo>
                    <a:pt x="140" y="168"/>
                  </a:lnTo>
                  <a:lnTo>
                    <a:pt x="140" y="162"/>
                  </a:lnTo>
                  <a:lnTo>
                    <a:pt x="144" y="157"/>
                  </a:lnTo>
                  <a:lnTo>
                    <a:pt x="144" y="151"/>
                  </a:lnTo>
                  <a:lnTo>
                    <a:pt x="140" y="146"/>
                  </a:lnTo>
                  <a:lnTo>
                    <a:pt x="136" y="140"/>
                  </a:lnTo>
                  <a:lnTo>
                    <a:pt x="136" y="134"/>
                  </a:lnTo>
                  <a:lnTo>
                    <a:pt x="132" y="126"/>
                  </a:lnTo>
                  <a:lnTo>
                    <a:pt x="128" y="120"/>
                  </a:lnTo>
                  <a:lnTo>
                    <a:pt x="128" y="115"/>
                  </a:lnTo>
                  <a:lnTo>
                    <a:pt x="124" y="109"/>
                  </a:lnTo>
                  <a:lnTo>
                    <a:pt x="124" y="101"/>
                  </a:lnTo>
                  <a:lnTo>
                    <a:pt x="120" y="92"/>
                  </a:lnTo>
                  <a:lnTo>
                    <a:pt x="116" y="87"/>
                  </a:lnTo>
                  <a:lnTo>
                    <a:pt x="116" y="78"/>
                  </a:lnTo>
                  <a:lnTo>
                    <a:pt x="112" y="73"/>
                  </a:lnTo>
                  <a:lnTo>
                    <a:pt x="108" y="67"/>
                  </a:lnTo>
                  <a:lnTo>
                    <a:pt x="104" y="62"/>
                  </a:lnTo>
                  <a:lnTo>
                    <a:pt x="104" y="56"/>
                  </a:lnTo>
                  <a:lnTo>
                    <a:pt x="100" y="50"/>
                  </a:lnTo>
                  <a:lnTo>
                    <a:pt x="100" y="45"/>
                  </a:lnTo>
                  <a:lnTo>
                    <a:pt x="96" y="39"/>
                  </a:lnTo>
                  <a:lnTo>
                    <a:pt x="96" y="34"/>
                  </a:lnTo>
                  <a:lnTo>
                    <a:pt x="92" y="28"/>
                  </a:lnTo>
                  <a:lnTo>
                    <a:pt x="92" y="22"/>
                  </a:lnTo>
                  <a:lnTo>
                    <a:pt x="88" y="17"/>
                  </a:lnTo>
                  <a:lnTo>
                    <a:pt x="84" y="11"/>
                  </a:lnTo>
                  <a:lnTo>
                    <a:pt x="80" y="6"/>
                  </a:lnTo>
                  <a:lnTo>
                    <a:pt x="80" y="0"/>
                  </a:lnTo>
                  <a:lnTo>
                    <a:pt x="76" y="6"/>
                  </a:lnTo>
                  <a:lnTo>
                    <a:pt x="76" y="11"/>
                  </a:lnTo>
                  <a:lnTo>
                    <a:pt x="76" y="17"/>
                  </a:lnTo>
                  <a:lnTo>
                    <a:pt x="76" y="22"/>
                  </a:lnTo>
                  <a:lnTo>
                    <a:pt x="76" y="28"/>
                  </a:lnTo>
                  <a:lnTo>
                    <a:pt x="76" y="34"/>
                  </a:lnTo>
                  <a:lnTo>
                    <a:pt x="76" y="39"/>
                  </a:lnTo>
                  <a:lnTo>
                    <a:pt x="72" y="45"/>
                  </a:lnTo>
                  <a:lnTo>
                    <a:pt x="68" y="50"/>
                  </a:lnTo>
                  <a:lnTo>
                    <a:pt x="64" y="56"/>
                  </a:lnTo>
                  <a:lnTo>
                    <a:pt x="60" y="62"/>
                  </a:lnTo>
                  <a:lnTo>
                    <a:pt x="56" y="67"/>
                  </a:lnTo>
                  <a:lnTo>
                    <a:pt x="52" y="73"/>
                  </a:lnTo>
                  <a:lnTo>
                    <a:pt x="44" y="78"/>
                  </a:lnTo>
                  <a:lnTo>
                    <a:pt x="40" y="84"/>
                  </a:lnTo>
                  <a:lnTo>
                    <a:pt x="32" y="90"/>
                  </a:lnTo>
                  <a:lnTo>
                    <a:pt x="28" y="95"/>
                  </a:lnTo>
                  <a:lnTo>
                    <a:pt x="24" y="101"/>
                  </a:lnTo>
                  <a:lnTo>
                    <a:pt x="20" y="106"/>
                  </a:lnTo>
                  <a:lnTo>
                    <a:pt x="16" y="112"/>
                  </a:lnTo>
                  <a:lnTo>
                    <a:pt x="12" y="118"/>
                  </a:lnTo>
                  <a:lnTo>
                    <a:pt x="8" y="123"/>
                  </a:lnTo>
                  <a:lnTo>
                    <a:pt x="4" y="129"/>
                  </a:lnTo>
                  <a:lnTo>
                    <a:pt x="4" y="134"/>
                  </a:lnTo>
                  <a:lnTo>
                    <a:pt x="0" y="140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7"/>
                  </a:lnTo>
                  <a:lnTo>
                    <a:pt x="0" y="162"/>
                  </a:lnTo>
                  <a:lnTo>
                    <a:pt x="0" y="168"/>
                  </a:lnTo>
                  <a:lnTo>
                    <a:pt x="0" y="173"/>
                  </a:lnTo>
                  <a:lnTo>
                    <a:pt x="0" y="179"/>
                  </a:lnTo>
                  <a:lnTo>
                    <a:pt x="0" y="185"/>
                  </a:lnTo>
                  <a:lnTo>
                    <a:pt x="0" y="190"/>
                  </a:lnTo>
                  <a:lnTo>
                    <a:pt x="0" y="196"/>
                  </a:lnTo>
                  <a:lnTo>
                    <a:pt x="4" y="201"/>
                  </a:lnTo>
                  <a:lnTo>
                    <a:pt x="4" y="207"/>
                  </a:lnTo>
                  <a:lnTo>
                    <a:pt x="4" y="213"/>
                  </a:lnTo>
                  <a:lnTo>
                    <a:pt x="4" y="218"/>
                  </a:lnTo>
                  <a:lnTo>
                    <a:pt x="4" y="224"/>
                  </a:lnTo>
                  <a:lnTo>
                    <a:pt x="4" y="229"/>
                  </a:lnTo>
                  <a:lnTo>
                    <a:pt x="8" y="235"/>
                  </a:lnTo>
                  <a:lnTo>
                    <a:pt x="8" y="241"/>
                  </a:lnTo>
                  <a:lnTo>
                    <a:pt x="12" y="246"/>
                  </a:lnTo>
                  <a:lnTo>
                    <a:pt x="12" y="252"/>
                  </a:lnTo>
                  <a:lnTo>
                    <a:pt x="12" y="257"/>
                  </a:lnTo>
                  <a:lnTo>
                    <a:pt x="12" y="263"/>
                  </a:lnTo>
                  <a:lnTo>
                    <a:pt x="16" y="269"/>
                  </a:lnTo>
                  <a:lnTo>
                    <a:pt x="20" y="274"/>
                  </a:lnTo>
                  <a:lnTo>
                    <a:pt x="24" y="280"/>
                  </a:lnTo>
                  <a:lnTo>
                    <a:pt x="24" y="285"/>
                  </a:lnTo>
                </a:path>
              </a:pathLst>
            </a:custGeom>
            <a:solidFill>
              <a:srgbClr val="FF5008"/>
            </a:solidFill>
            <a:ln w="25400" cap="rnd">
              <a:solidFill>
                <a:srgbClr val="FE9B0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4981" name="Freeform 90"/>
            <p:cNvSpPr>
              <a:spLocks/>
            </p:cNvSpPr>
            <p:nvPr/>
          </p:nvSpPr>
          <p:spPr bwMode="auto">
            <a:xfrm>
              <a:off x="2626" y="1127"/>
              <a:ext cx="309" cy="234"/>
            </a:xfrm>
            <a:custGeom>
              <a:avLst/>
              <a:gdLst>
                <a:gd name="T0" fmla="*/ 16261 w 232"/>
                <a:gd name="T1" fmla="*/ 1 h 313"/>
                <a:gd name="T2" fmla="*/ 17100 w 232"/>
                <a:gd name="T3" fmla="*/ 1 h 313"/>
                <a:gd name="T4" fmla="*/ 20382 w 232"/>
                <a:gd name="T5" fmla="*/ 1 h 313"/>
                <a:gd name="T6" fmla="*/ 23543 w 232"/>
                <a:gd name="T7" fmla="*/ 1 h 313"/>
                <a:gd name="T8" fmla="*/ 25935 w 232"/>
                <a:gd name="T9" fmla="*/ 1 h 313"/>
                <a:gd name="T10" fmla="*/ 28263 w 232"/>
                <a:gd name="T11" fmla="*/ 1 h 313"/>
                <a:gd name="T12" fmla="*/ 30797 w 232"/>
                <a:gd name="T13" fmla="*/ 1 h 313"/>
                <a:gd name="T14" fmla="*/ 33036 w 232"/>
                <a:gd name="T15" fmla="*/ 1 h 313"/>
                <a:gd name="T16" fmla="*/ 35299 w 232"/>
                <a:gd name="T17" fmla="*/ 1 h 313"/>
                <a:gd name="T18" fmla="*/ 37004 w 232"/>
                <a:gd name="T19" fmla="*/ 1 h 313"/>
                <a:gd name="T20" fmla="*/ 37859 w 232"/>
                <a:gd name="T21" fmla="*/ 1 h 313"/>
                <a:gd name="T22" fmla="*/ 39319 w 232"/>
                <a:gd name="T23" fmla="*/ 1 h 313"/>
                <a:gd name="T24" fmla="*/ 40183 w 232"/>
                <a:gd name="T25" fmla="*/ 1 h 313"/>
                <a:gd name="T26" fmla="*/ 39319 w 232"/>
                <a:gd name="T27" fmla="*/ 1 h 313"/>
                <a:gd name="T28" fmla="*/ 38420 w 232"/>
                <a:gd name="T29" fmla="*/ 1 h 313"/>
                <a:gd name="T30" fmla="*/ 37004 w 232"/>
                <a:gd name="T31" fmla="*/ 1 h 313"/>
                <a:gd name="T32" fmla="*/ 36157 w 232"/>
                <a:gd name="T33" fmla="*/ 1 h 313"/>
                <a:gd name="T34" fmla="*/ 35299 w 232"/>
                <a:gd name="T35" fmla="*/ 1 h 313"/>
                <a:gd name="T36" fmla="*/ 34663 w 232"/>
                <a:gd name="T37" fmla="*/ 1 h 313"/>
                <a:gd name="T38" fmla="*/ 33036 w 232"/>
                <a:gd name="T39" fmla="*/ 1 h 313"/>
                <a:gd name="T40" fmla="*/ 32164 w 232"/>
                <a:gd name="T41" fmla="*/ 1 h 313"/>
                <a:gd name="T42" fmla="*/ 31357 w 232"/>
                <a:gd name="T43" fmla="*/ 1 h 313"/>
                <a:gd name="T44" fmla="*/ 31515 w 232"/>
                <a:gd name="T45" fmla="*/ 1 h 313"/>
                <a:gd name="T46" fmla="*/ 29921 w 232"/>
                <a:gd name="T47" fmla="*/ 1 h 313"/>
                <a:gd name="T48" fmla="*/ 28263 w 232"/>
                <a:gd name="T49" fmla="*/ 1 h 313"/>
                <a:gd name="T50" fmla="*/ 27488 w 232"/>
                <a:gd name="T51" fmla="*/ 0 h 313"/>
                <a:gd name="T52" fmla="*/ 26788 w 232"/>
                <a:gd name="T53" fmla="*/ 1 h 313"/>
                <a:gd name="T54" fmla="*/ 26788 w 232"/>
                <a:gd name="T55" fmla="*/ 1 h 313"/>
                <a:gd name="T56" fmla="*/ 26788 w 232"/>
                <a:gd name="T57" fmla="*/ 1 h 313"/>
                <a:gd name="T58" fmla="*/ 25935 w 232"/>
                <a:gd name="T59" fmla="*/ 1 h 313"/>
                <a:gd name="T60" fmla="*/ 24149 w 232"/>
                <a:gd name="T61" fmla="*/ 1 h 313"/>
                <a:gd name="T62" fmla="*/ 22775 w 232"/>
                <a:gd name="T63" fmla="*/ 1 h 313"/>
                <a:gd name="T64" fmla="*/ 20382 w 232"/>
                <a:gd name="T65" fmla="*/ 1 h 313"/>
                <a:gd name="T66" fmla="*/ 17815 w 232"/>
                <a:gd name="T67" fmla="*/ 1 h 313"/>
                <a:gd name="T68" fmla="*/ 16261 w 232"/>
                <a:gd name="T69" fmla="*/ 1 h 313"/>
                <a:gd name="T70" fmla="*/ 14816 w 232"/>
                <a:gd name="T71" fmla="*/ 1 h 313"/>
                <a:gd name="T72" fmla="*/ 13271 w 232"/>
                <a:gd name="T73" fmla="*/ 1 h 313"/>
                <a:gd name="T74" fmla="*/ 12479 w 232"/>
                <a:gd name="T75" fmla="*/ 1 h 313"/>
                <a:gd name="T76" fmla="*/ 11634 w 232"/>
                <a:gd name="T77" fmla="*/ 1 h 313"/>
                <a:gd name="T78" fmla="*/ 11634 w 232"/>
                <a:gd name="T79" fmla="*/ 1 h 313"/>
                <a:gd name="T80" fmla="*/ 11634 w 232"/>
                <a:gd name="T81" fmla="*/ 1 h 313"/>
                <a:gd name="T82" fmla="*/ 11634 w 232"/>
                <a:gd name="T83" fmla="*/ 1 h 313"/>
                <a:gd name="T84" fmla="*/ 11634 w 232"/>
                <a:gd name="T85" fmla="*/ 1 h 313"/>
                <a:gd name="T86" fmla="*/ 12479 w 232"/>
                <a:gd name="T87" fmla="*/ 1 h 313"/>
                <a:gd name="T88" fmla="*/ 12479 w 232"/>
                <a:gd name="T89" fmla="*/ 1 h 313"/>
                <a:gd name="T90" fmla="*/ 12479 w 232"/>
                <a:gd name="T91" fmla="*/ 1 h 313"/>
                <a:gd name="T92" fmla="*/ 13271 w 232"/>
                <a:gd name="T93" fmla="*/ 1 h 313"/>
                <a:gd name="T94" fmla="*/ 13982 w 232"/>
                <a:gd name="T95" fmla="*/ 1 h 313"/>
                <a:gd name="T96" fmla="*/ 13982 w 232"/>
                <a:gd name="T97" fmla="*/ 1 h 313"/>
                <a:gd name="T98" fmla="*/ 14816 w 232"/>
                <a:gd name="T99" fmla="*/ 1 h 313"/>
                <a:gd name="T100" fmla="*/ 16261 w 232"/>
                <a:gd name="T101" fmla="*/ 1 h 31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32"/>
                <a:gd name="T154" fmla="*/ 0 h 313"/>
                <a:gd name="T155" fmla="*/ 232 w 232"/>
                <a:gd name="T156" fmla="*/ 313 h 31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32" h="313">
                  <a:moveTo>
                    <a:pt x="94" y="312"/>
                  </a:moveTo>
                  <a:lnTo>
                    <a:pt x="94" y="306"/>
                  </a:lnTo>
                  <a:lnTo>
                    <a:pt x="94" y="300"/>
                  </a:lnTo>
                  <a:lnTo>
                    <a:pt x="98" y="294"/>
                  </a:lnTo>
                  <a:lnTo>
                    <a:pt x="108" y="285"/>
                  </a:lnTo>
                  <a:lnTo>
                    <a:pt x="117" y="282"/>
                  </a:lnTo>
                  <a:lnTo>
                    <a:pt x="0" y="276"/>
                  </a:lnTo>
                  <a:lnTo>
                    <a:pt x="135" y="267"/>
                  </a:lnTo>
                  <a:lnTo>
                    <a:pt x="144" y="261"/>
                  </a:lnTo>
                  <a:lnTo>
                    <a:pt x="149" y="255"/>
                  </a:lnTo>
                  <a:lnTo>
                    <a:pt x="158" y="252"/>
                  </a:lnTo>
                  <a:lnTo>
                    <a:pt x="162" y="246"/>
                  </a:lnTo>
                  <a:lnTo>
                    <a:pt x="167" y="240"/>
                  </a:lnTo>
                  <a:lnTo>
                    <a:pt x="177" y="237"/>
                  </a:lnTo>
                  <a:lnTo>
                    <a:pt x="185" y="231"/>
                  </a:lnTo>
                  <a:lnTo>
                    <a:pt x="190" y="225"/>
                  </a:lnTo>
                  <a:lnTo>
                    <a:pt x="200" y="222"/>
                  </a:lnTo>
                  <a:lnTo>
                    <a:pt x="203" y="216"/>
                  </a:lnTo>
                  <a:lnTo>
                    <a:pt x="208" y="210"/>
                  </a:lnTo>
                  <a:lnTo>
                    <a:pt x="213" y="204"/>
                  </a:lnTo>
                  <a:lnTo>
                    <a:pt x="218" y="198"/>
                  </a:lnTo>
                  <a:lnTo>
                    <a:pt x="218" y="192"/>
                  </a:lnTo>
                  <a:lnTo>
                    <a:pt x="221" y="186"/>
                  </a:lnTo>
                  <a:lnTo>
                    <a:pt x="226" y="180"/>
                  </a:lnTo>
                  <a:lnTo>
                    <a:pt x="226" y="174"/>
                  </a:lnTo>
                  <a:lnTo>
                    <a:pt x="231" y="168"/>
                  </a:lnTo>
                  <a:lnTo>
                    <a:pt x="231" y="162"/>
                  </a:lnTo>
                  <a:lnTo>
                    <a:pt x="226" y="156"/>
                  </a:lnTo>
                  <a:lnTo>
                    <a:pt x="221" y="150"/>
                  </a:lnTo>
                  <a:lnTo>
                    <a:pt x="221" y="144"/>
                  </a:lnTo>
                  <a:lnTo>
                    <a:pt x="218" y="135"/>
                  </a:lnTo>
                  <a:lnTo>
                    <a:pt x="213" y="129"/>
                  </a:lnTo>
                  <a:lnTo>
                    <a:pt x="213" y="123"/>
                  </a:lnTo>
                  <a:lnTo>
                    <a:pt x="208" y="118"/>
                  </a:lnTo>
                  <a:lnTo>
                    <a:pt x="208" y="108"/>
                  </a:lnTo>
                  <a:lnTo>
                    <a:pt x="203" y="99"/>
                  </a:lnTo>
                  <a:lnTo>
                    <a:pt x="200" y="93"/>
                  </a:lnTo>
                  <a:lnTo>
                    <a:pt x="200" y="84"/>
                  </a:lnTo>
                  <a:lnTo>
                    <a:pt x="195" y="78"/>
                  </a:lnTo>
                  <a:lnTo>
                    <a:pt x="190" y="72"/>
                  </a:lnTo>
                  <a:lnTo>
                    <a:pt x="185" y="66"/>
                  </a:lnTo>
                  <a:lnTo>
                    <a:pt x="185" y="60"/>
                  </a:lnTo>
                  <a:lnTo>
                    <a:pt x="180" y="54"/>
                  </a:lnTo>
                  <a:lnTo>
                    <a:pt x="180" y="48"/>
                  </a:lnTo>
                  <a:lnTo>
                    <a:pt x="177" y="42"/>
                  </a:lnTo>
                  <a:lnTo>
                    <a:pt x="181" y="100"/>
                  </a:lnTo>
                  <a:lnTo>
                    <a:pt x="172" y="30"/>
                  </a:lnTo>
                  <a:lnTo>
                    <a:pt x="172" y="24"/>
                  </a:lnTo>
                  <a:lnTo>
                    <a:pt x="167" y="18"/>
                  </a:lnTo>
                  <a:lnTo>
                    <a:pt x="162" y="12"/>
                  </a:lnTo>
                  <a:lnTo>
                    <a:pt x="158" y="6"/>
                  </a:lnTo>
                  <a:lnTo>
                    <a:pt x="158" y="0"/>
                  </a:lnTo>
                  <a:lnTo>
                    <a:pt x="100" y="122"/>
                  </a:lnTo>
                  <a:lnTo>
                    <a:pt x="154" y="12"/>
                  </a:lnTo>
                  <a:lnTo>
                    <a:pt x="154" y="18"/>
                  </a:lnTo>
                  <a:lnTo>
                    <a:pt x="154" y="24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4" y="42"/>
                  </a:lnTo>
                  <a:lnTo>
                    <a:pt x="149" y="48"/>
                  </a:lnTo>
                  <a:lnTo>
                    <a:pt x="144" y="54"/>
                  </a:lnTo>
                  <a:lnTo>
                    <a:pt x="139" y="60"/>
                  </a:lnTo>
                  <a:lnTo>
                    <a:pt x="135" y="66"/>
                  </a:lnTo>
                  <a:lnTo>
                    <a:pt x="131" y="72"/>
                  </a:lnTo>
                  <a:lnTo>
                    <a:pt x="126" y="78"/>
                  </a:lnTo>
                  <a:lnTo>
                    <a:pt x="117" y="84"/>
                  </a:lnTo>
                  <a:lnTo>
                    <a:pt x="112" y="90"/>
                  </a:lnTo>
                  <a:lnTo>
                    <a:pt x="103" y="96"/>
                  </a:lnTo>
                  <a:lnTo>
                    <a:pt x="98" y="102"/>
                  </a:lnTo>
                  <a:lnTo>
                    <a:pt x="94" y="108"/>
                  </a:lnTo>
                  <a:lnTo>
                    <a:pt x="89" y="114"/>
                  </a:lnTo>
                  <a:lnTo>
                    <a:pt x="85" y="120"/>
                  </a:lnTo>
                  <a:lnTo>
                    <a:pt x="80" y="126"/>
                  </a:lnTo>
                  <a:lnTo>
                    <a:pt x="76" y="132"/>
                  </a:lnTo>
                  <a:lnTo>
                    <a:pt x="71" y="138"/>
                  </a:lnTo>
                  <a:lnTo>
                    <a:pt x="71" y="144"/>
                  </a:lnTo>
                  <a:lnTo>
                    <a:pt x="67" y="150"/>
                  </a:lnTo>
                  <a:lnTo>
                    <a:pt x="67" y="156"/>
                  </a:lnTo>
                  <a:lnTo>
                    <a:pt x="67" y="162"/>
                  </a:lnTo>
                  <a:lnTo>
                    <a:pt x="67" y="168"/>
                  </a:lnTo>
                  <a:lnTo>
                    <a:pt x="67" y="174"/>
                  </a:lnTo>
                  <a:lnTo>
                    <a:pt x="67" y="180"/>
                  </a:lnTo>
                  <a:lnTo>
                    <a:pt x="67" y="186"/>
                  </a:lnTo>
                  <a:lnTo>
                    <a:pt x="67" y="192"/>
                  </a:lnTo>
                  <a:lnTo>
                    <a:pt x="67" y="198"/>
                  </a:lnTo>
                  <a:lnTo>
                    <a:pt x="67" y="204"/>
                  </a:lnTo>
                  <a:lnTo>
                    <a:pt x="67" y="210"/>
                  </a:lnTo>
                  <a:lnTo>
                    <a:pt x="71" y="216"/>
                  </a:lnTo>
                  <a:lnTo>
                    <a:pt x="71" y="222"/>
                  </a:lnTo>
                  <a:lnTo>
                    <a:pt x="71" y="228"/>
                  </a:lnTo>
                  <a:lnTo>
                    <a:pt x="71" y="234"/>
                  </a:lnTo>
                  <a:lnTo>
                    <a:pt x="71" y="240"/>
                  </a:lnTo>
                  <a:lnTo>
                    <a:pt x="71" y="246"/>
                  </a:lnTo>
                  <a:lnTo>
                    <a:pt x="76" y="252"/>
                  </a:lnTo>
                  <a:lnTo>
                    <a:pt x="76" y="258"/>
                  </a:lnTo>
                  <a:lnTo>
                    <a:pt x="80" y="264"/>
                  </a:lnTo>
                  <a:lnTo>
                    <a:pt x="80" y="270"/>
                  </a:lnTo>
                  <a:lnTo>
                    <a:pt x="80" y="276"/>
                  </a:lnTo>
                  <a:lnTo>
                    <a:pt x="80" y="282"/>
                  </a:lnTo>
                  <a:lnTo>
                    <a:pt x="85" y="288"/>
                  </a:lnTo>
                  <a:lnTo>
                    <a:pt x="89" y="294"/>
                  </a:lnTo>
                  <a:lnTo>
                    <a:pt x="94" y="300"/>
                  </a:lnTo>
                  <a:lnTo>
                    <a:pt x="94" y="306"/>
                  </a:lnTo>
                </a:path>
              </a:pathLst>
            </a:custGeom>
            <a:solidFill>
              <a:srgbClr val="FF6600"/>
            </a:solidFill>
            <a:ln w="25400" cap="rnd">
              <a:solidFill>
                <a:srgbClr val="FAFD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4982" name="Freeform 91"/>
            <p:cNvSpPr>
              <a:spLocks/>
            </p:cNvSpPr>
            <p:nvPr/>
          </p:nvSpPr>
          <p:spPr bwMode="auto">
            <a:xfrm>
              <a:off x="2731" y="1198"/>
              <a:ext cx="252" cy="218"/>
            </a:xfrm>
            <a:custGeom>
              <a:avLst/>
              <a:gdLst>
                <a:gd name="T0" fmla="*/ 5424 w 189"/>
                <a:gd name="T1" fmla="*/ 1 h 291"/>
                <a:gd name="T2" fmla="*/ 6540 w 189"/>
                <a:gd name="T3" fmla="*/ 1 h 291"/>
                <a:gd name="T4" fmla="*/ 10111 w 189"/>
                <a:gd name="T5" fmla="*/ 1 h 291"/>
                <a:gd name="T6" fmla="*/ 13852 w 189"/>
                <a:gd name="T7" fmla="*/ 1 h 291"/>
                <a:gd name="T8" fmla="*/ 16671 w 189"/>
                <a:gd name="T9" fmla="*/ 1 h 291"/>
                <a:gd name="T10" fmla="*/ 19535 w 189"/>
                <a:gd name="T11" fmla="*/ 1 h 291"/>
                <a:gd name="T12" fmla="*/ 22228 w 189"/>
                <a:gd name="T13" fmla="*/ 1 h 291"/>
                <a:gd name="T14" fmla="*/ 25087 w 189"/>
                <a:gd name="T15" fmla="*/ 1 h 291"/>
                <a:gd name="T16" fmla="*/ 27817 w 189"/>
                <a:gd name="T17" fmla="*/ 1 h 291"/>
                <a:gd name="T18" fmla="*/ 29637 w 189"/>
                <a:gd name="T19" fmla="*/ 1 h 291"/>
                <a:gd name="T20" fmla="*/ 30476 w 189"/>
                <a:gd name="T21" fmla="*/ 1 h 291"/>
                <a:gd name="T22" fmla="*/ 32368 w 189"/>
                <a:gd name="T23" fmla="*/ 1 h 291"/>
                <a:gd name="T24" fmla="*/ 33449 w 189"/>
                <a:gd name="T25" fmla="*/ 1 h 291"/>
                <a:gd name="T26" fmla="*/ 32368 w 189"/>
                <a:gd name="T27" fmla="*/ 1 h 291"/>
                <a:gd name="T28" fmla="*/ 31468 w 189"/>
                <a:gd name="T29" fmla="*/ 1 h 291"/>
                <a:gd name="T30" fmla="*/ 29637 w 189"/>
                <a:gd name="T31" fmla="*/ 1 h 291"/>
                <a:gd name="T32" fmla="*/ 28769 w 189"/>
                <a:gd name="T33" fmla="*/ 1 h 291"/>
                <a:gd name="T34" fmla="*/ 27817 w 189"/>
                <a:gd name="T35" fmla="*/ 1 h 291"/>
                <a:gd name="T36" fmla="*/ 26729 w 189"/>
                <a:gd name="T37" fmla="*/ 1 h 291"/>
                <a:gd name="T38" fmla="*/ 25087 w 189"/>
                <a:gd name="T39" fmla="*/ 1 h 291"/>
                <a:gd name="T40" fmla="*/ 24023 w 189"/>
                <a:gd name="T41" fmla="*/ 1 h 291"/>
                <a:gd name="T42" fmla="*/ 23284 w 189"/>
                <a:gd name="T43" fmla="*/ 1 h 291"/>
                <a:gd name="T44" fmla="*/ 22228 w 189"/>
                <a:gd name="T45" fmla="*/ 1 h 291"/>
                <a:gd name="T46" fmla="*/ 21241 w 189"/>
                <a:gd name="T47" fmla="*/ 1 h 291"/>
                <a:gd name="T48" fmla="*/ 19535 w 189"/>
                <a:gd name="T49" fmla="*/ 1 h 291"/>
                <a:gd name="T50" fmla="*/ 18469 w 189"/>
                <a:gd name="T51" fmla="*/ 0 h 291"/>
                <a:gd name="T52" fmla="*/ 17535 w 189"/>
                <a:gd name="T53" fmla="*/ 1 h 291"/>
                <a:gd name="T54" fmla="*/ 17535 w 189"/>
                <a:gd name="T55" fmla="*/ 1 h 291"/>
                <a:gd name="T56" fmla="*/ 17535 w 189"/>
                <a:gd name="T57" fmla="*/ 1 h 291"/>
                <a:gd name="T58" fmla="*/ 16671 w 189"/>
                <a:gd name="T59" fmla="*/ 1 h 291"/>
                <a:gd name="T60" fmla="*/ 14864 w 189"/>
                <a:gd name="T61" fmla="*/ 1 h 291"/>
                <a:gd name="T62" fmla="*/ 12857 w 189"/>
                <a:gd name="T63" fmla="*/ 1 h 291"/>
                <a:gd name="T64" fmla="*/ 10111 w 189"/>
                <a:gd name="T65" fmla="*/ 1 h 291"/>
                <a:gd name="T66" fmla="*/ 7461 w 189"/>
                <a:gd name="T67" fmla="*/ 1 h 291"/>
                <a:gd name="T68" fmla="*/ 5424 w 189"/>
                <a:gd name="T69" fmla="*/ 1 h 291"/>
                <a:gd name="T70" fmla="*/ 3679 w 189"/>
                <a:gd name="T71" fmla="*/ 1 h 291"/>
                <a:gd name="T72" fmla="*/ 1716 w 189"/>
                <a:gd name="T73" fmla="*/ 1 h 291"/>
                <a:gd name="T74" fmla="*/ 873 w 189"/>
                <a:gd name="T75" fmla="*/ 1 h 291"/>
                <a:gd name="T76" fmla="*/ 0 w 189"/>
                <a:gd name="T77" fmla="*/ 1 h 291"/>
                <a:gd name="T78" fmla="*/ 0 w 189"/>
                <a:gd name="T79" fmla="*/ 1 h 291"/>
                <a:gd name="T80" fmla="*/ 0 w 189"/>
                <a:gd name="T81" fmla="*/ 1 h 291"/>
                <a:gd name="T82" fmla="*/ 0 w 189"/>
                <a:gd name="T83" fmla="*/ 1 h 291"/>
                <a:gd name="T84" fmla="*/ 0 w 189"/>
                <a:gd name="T85" fmla="*/ 1 h 291"/>
                <a:gd name="T86" fmla="*/ 873 w 189"/>
                <a:gd name="T87" fmla="*/ 1 h 291"/>
                <a:gd name="T88" fmla="*/ 873 w 189"/>
                <a:gd name="T89" fmla="*/ 1 h 291"/>
                <a:gd name="T90" fmla="*/ 873 w 189"/>
                <a:gd name="T91" fmla="*/ 1 h 291"/>
                <a:gd name="T92" fmla="*/ 1716 w 189"/>
                <a:gd name="T93" fmla="*/ 1 h 291"/>
                <a:gd name="T94" fmla="*/ 2759 w 189"/>
                <a:gd name="T95" fmla="*/ 1 h 291"/>
                <a:gd name="T96" fmla="*/ 2759 w 189"/>
                <a:gd name="T97" fmla="*/ 1 h 291"/>
                <a:gd name="T98" fmla="*/ 3679 w 189"/>
                <a:gd name="T99" fmla="*/ 1 h 291"/>
                <a:gd name="T100" fmla="*/ 5424 w 189"/>
                <a:gd name="T101" fmla="*/ 1 h 29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89"/>
                <a:gd name="T154" fmla="*/ 0 h 291"/>
                <a:gd name="T155" fmla="*/ 189 w 189"/>
                <a:gd name="T156" fmla="*/ 291 h 29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89" h="291">
                  <a:moveTo>
                    <a:pt x="31" y="290"/>
                  </a:moveTo>
                  <a:lnTo>
                    <a:pt x="31" y="284"/>
                  </a:lnTo>
                  <a:lnTo>
                    <a:pt x="31" y="279"/>
                  </a:lnTo>
                  <a:lnTo>
                    <a:pt x="37" y="273"/>
                  </a:lnTo>
                  <a:lnTo>
                    <a:pt x="47" y="265"/>
                  </a:lnTo>
                  <a:lnTo>
                    <a:pt x="57" y="262"/>
                  </a:lnTo>
                  <a:lnTo>
                    <a:pt x="68" y="257"/>
                  </a:lnTo>
                  <a:lnTo>
                    <a:pt x="78" y="248"/>
                  </a:lnTo>
                  <a:lnTo>
                    <a:pt x="89" y="243"/>
                  </a:lnTo>
                  <a:lnTo>
                    <a:pt x="94" y="237"/>
                  </a:lnTo>
                  <a:lnTo>
                    <a:pt x="104" y="234"/>
                  </a:lnTo>
                  <a:lnTo>
                    <a:pt x="110" y="229"/>
                  </a:lnTo>
                  <a:lnTo>
                    <a:pt x="115" y="223"/>
                  </a:lnTo>
                  <a:lnTo>
                    <a:pt x="125" y="220"/>
                  </a:lnTo>
                  <a:lnTo>
                    <a:pt x="136" y="215"/>
                  </a:lnTo>
                  <a:lnTo>
                    <a:pt x="141" y="209"/>
                  </a:lnTo>
                  <a:lnTo>
                    <a:pt x="151" y="206"/>
                  </a:lnTo>
                  <a:lnTo>
                    <a:pt x="157" y="201"/>
                  </a:lnTo>
                  <a:lnTo>
                    <a:pt x="162" y="195"/>
                  </a:lnTo>
                  <a:lnTo>
                    <a:pt x="167" y="190"/>
                  </a:lnTo>
                  <a:lnTo>
                    <a:pt x="172" y="184"/>
                  </a:lnTo>
                  <a:lnTo>
                    <a:pt x="172" y="178"/>
                  </a:lnTo>
                  <a:lnTo>
                    <a:pt x="178" y="173"/>
                  </a:lnTo>
                  <a:lnTo>
                    <a:pt x="183" y="167"/>
                  </a:lnTo>
                  <a:lnTo>
                    <a:pt x="183" y="162"/>
                  </a:lnTo>
                  <a:lnTo>
                    <a:pt x="188" y="156"/>
                  </a:lnTo>
                  <a:lnTo>
                    <a:pt x="188" y="151"/>
                  </a:lnTo>
                  <a:lnTo>
                    <a:pt x="183" y="145"/>
                  </a:lnTo>
                  <a:lnTo>
                    <a:pt x="178" y="139"/>
                  </a:lnTo>
                  <a:lnTo>
                    <a:pt x="178" y="134"/>
                  </a:lnTo>
                  <a:lnTo>
                    <a:pt x="172" y="125"/>
                  </a:lnTo>
                  <a:lnTo>
                    <a:pt x="167" y="120"/>
                  </a:lnTo>
                  <a:lnTo>
                    <a:pt x="167" y="114"/>
                  </a:lnTo>
                  <a:lnTo>
                    <a:pt x="162" y="109"/>
                  </a:lnTo>
                  <a:lnTo>
                    <a:pt x="162" y="100"/>
                  </a:lnTo>
                  <a:lnTo>
                    <a:pt x="157" y="92"/>
                  </a:lnTo>
                  <a:lnTo>
                    <a:pt x="151" y="86"/>
                  </a:lnTo>
                  <a:lnTo>
                    <a:pt x="151" y="78"/>
                  </a:lnTo>
                  <a:lnTo>
                    <a:pt x="146" y="73"/>
                  </a:lnTo>
                  <a:lnTo>
                    <a:pt x="141" y="67"/>
                  </a:lnTo>
                  <a:lnTo>
                    <a:pt x="136" y="61"/>
                  </a:lnTo>
                  <a:lnTo>
                    <a:pt x="136" y="56"/>
                  </a:lnTo>
                  <a:lnTo>
                    <a:pt x="131" y="50"/>
                  </a:lnTo>
                  <a:lnTo>
                    <a:pt x="131" y="45"/>
                  </a:lnTo>
                  <a:lnTo>
                    <a:pt x="125" y="39"/>
                  </a:lnTo>
                  <a:lnTo>
                    <a:pt x="125" y="33"/>
                  </a:lnTo>
                  <a:lnTo>
                    <a:pt x="120" y="28"/>
                  </a:lnTo>
                  <a:lnTo>
                    <a:pt x="120" y="22"/>
                  </a:lnTo>
                  <a:lnTo>
                    <a:pt x="115" y="17"/>
                  </a:lnTo>
                  <a:lnTo>
                    <a:pt x="110" y="11"/>
                  </a:lnTo>
                  <a:lnTo>
                    <a:pt x="104" y="6"/>
                  </a:lnTo>
                  <a:lnTo>
                    <a:pt x="104" y="0"/>
                  </a:lnTo>
                  <a:lnTo>
                    <a:pt x="99" y="6"/>
                  </a:lnTo>
                  <a:lnTo>
                    <a:pt x="99" y="11"/>
                  </a:lnTo>
                  <a:lnTo>
                    <a:pt x="99" y="17"/>
                  </a:lnTo>
                  <a:lnTo>
                    <a:pt x="99" y="22"/>
                  </a:lnTo>
                  <a:lnTo>
                    <a:pt x="99" y="28"/>
                  </a:lnTo>
                  <a:lnTo>
                    <a:pt x="99" y="33"/>
                  </a:lnTo>
                  <a:lnTo>
                    <a:pt x="99" y="39"/>
                  </a:lnTo>
                  <a:lnTo>
                    <a:pt x="94" y="45"/>
                  </a:lnTo>
                  <a:lnTo>
                    <a:pt x="89" y="50"/>
                  </a:lnTo>
                  <a:lnTo>
                    <a:pt x="84" y="56"/>
                  </a:lnTo>
                  <a:lnTo>
                    <a:pt x="78" y="61"/>
                  </a:lnTo>
                  <a:lnTo>
                    <a:pt x="73" y="67"/>
                  </a:lnTo>
                  <a:lnTo>
                    <a:pt x="68" y="73"/>
                  </a:lnTo>
                  <a:lnTo>
                    <a:pt x="57" y="78"/>
                  </a:lnTo>
                  <a:lnTo>
                    <a:pt x="52" y="84"/>
                  </a:lnTo>
                  <a:lnTo>
                    <a:pt x="42" y="89"/>
                  </a:lnTo>
                  <a:lnTo>
                    <a:pt x="37" y="95"/>
                  </a:lnTo>
                  <a:lnTo>
                    <a:pt x="31" y="100"/>
                  </a:lnTo>
                  <a:lnTo>
                    <a:pt x="26" y="106"/>
                  </a:lnTo>
                  <a:lnTo>
                    <a:pt x="21" y="112"/>
                  </a:lnTo>
                  <a:lnTo>
                    <a:pt x="16" y="117"/>
                  </a:lnTo>
                  <a:lnTo>
                    <a:pt x="10" y="123"/>
                  </a:lnTo>
                  <a:lnTo>
                    <a:pt x="5" y="128"/>
                  </a:lnTo>
                  <a:lnTo>
                    <a:pt x="5" y="134"/>
                  </a:lnTo>
                  <a:lnTo>
                    <a:pt x="0" y="139"/>
                  </a:lnTo>
                  <a:lnTo>
                    <a:pt x="0" y="145"/>
                  </a:lnTo>
                  <a:lnTo>
                    <a:pt x="0" y="151"/>
                  </a:lnTo>
                  <a:lnTo>
                    <a:pt x="0" y="156"/>
                  </a:lnTo>
                  <a:lnTo>
                    <a:pt x="0" y="162"/>
                  </a:lnTo>
                  <a:lnTo>
                    <a:pt x="0" y="167"/>
                  </a:lnTo>
                  <a:lnTo>
                    <a:pt x="0" y="173"/>
                  </a:lnTo>
                  <a:lnTo>
                    <a:pt x="0" y="178"/>
                  </a:lnTo>
                  <a:lnTo>
                    <a:pt x="0" y="184"/>
                  </a:lnTo>
                  <a:lnTo>
                    <a:pt x="0" y="190"/>
                  </a:lnTo>
                  <a:lnTo>
                    <a:pt x="0" y="195"/>
                  </a:lnTo>
                  <a:lnTo>
                    <a:pt x="5" y="201"/>
                  </a:lnTo>
                  <a:lnTo>
                    <a:pt x="5" y="206"/>
                  </a:lnTo>
                  <a:lnTo>
                    <a:pt x="5" y="212"/>
                  </a:lnTo>
                  <a:lnTo>
                    <a:pt x="5" y="218"/>
                  </a:lnTo>
                  <a:lnTo>
                    <a:pt x="5" y="223"/>
                  </a:lnTo>
                  <a:lnTo>
                    <a:pt x="5" y="229"/>
                  </a:lnTo>
                  <a:lnTo>
                    <a:pt x="10" y="234"/>
                  </a:lnTo>
                  <a:lnTo>
                    <a:pt x="10" y="240"/>
                  </a:lnTo>
                  <a:lnTo>
                    <a:pt x="16" y="245"/>
                  </a:lnTo>
                  <a:lnTo>
                    <a:pt x="16" y="251"/>
                  </a:lnTo>
                  <a:lnTo>
                    <a:pt x="16" y="257"/>
                  </a:lnTo>
                  <a:lnTo>
                    <a:pt x="16" y="262"/>
                  </a:lnTo>
                  <a:lnTo>
                    <a:pt x="21" y="268"/>
                  </a:lnTo>
                  <a:lnTo>
                    <a:pt x="26" y="273"/>
                  </a:lnTo>
                  <a:lnTo>
                    <a:pt x="31" y="279"/>
                  </a:lnTo>
                  <a:lnTo>
                    <a:pt x="31" y="284"/>
                  </a:lnTo>
                </a:path>
              </a:pathLst>
            </a:custGeom>
            <a:solidFill>
              <a:srgbClr val="FF5008"/>
            </a:solidFill>
            <a:ln w="25400" cap="rnd">
              <a:solidFill>
                <a:srgbClr val="FE9B0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4983" name="Freeform 92"/>
            <p:cNvSpPr>
              <a:spLocks/>
            </p:cNvSpPr>
            <p:nvPr/>
          </p:nvSpPr>
          <p:spPr bwMode="auto">
            <a:xfrm>
              <a:off x="2592" y="1152"/>
              <a:ext cx="226" cy="267"/>
            </a:xfrm>
            <a:custGeom>
              <a:avLst/>
              <a:gdLst>
                <a:gd name="T0" fmla="*/ 23702 w 170"/>
                <a:gd name="T1" fmla="*/ 2 h 356"/>
                <a:gd name="T2" fmla="*/ 22877 w 170"/>
                <a:gd name="T3" fmla="*/ 2 h 356"/>
                <a:gd name="T4" fmla="*/ 19720 w 170"/>
                <a:gd name="T5" fmla="*/ 2 h 356"/>
                <a:gd name="T6" fmla="*/ 16705 w 170"/>
                <a:gd name="T7" fmla="*/ 2 h 356"/>
                <a:gd name="T8" fmla="*/ 14255 w 170"/>
                <a:gd name="T9" fmla="*/ 2 h 356"/>
                <a:gd name="T10" fmla="*/ 11783 w 170"/>
                <a:gd name="T11" fmla="*/ 2 h 356"/>
                <a:gd name="T12" fmla="*/ 9330 w 170"/>
                <a:gd name="T13" fmla="*/ 2 h 356"/>
                <a:gd name="T14" fmla="*/ 7018 w 170"/>
                <a:gd name="T15" fmla="*/ 2 h 356"/>
                <a:gd name="T16" fmla="*/ 4648 w 170"/>
                <a:gd name="T17" fmla="*/ 2 h 356"/>
                <a:gd name="T18" fmla="*/ 3117 w 170"/>
                <a:gd name="T19" fmla="*/ 2 h 356"/>
                <a:gd name="T20" fmla="*/ 2345 w 170"/>
                <a:gd name="T21" fmla="*/ 2 h 356"/>
                <a:gd name="T22" fmla="*/ 842 w 170"/>
                <a:gd name="T23" fmla="*/ 2 h 356"/>
                <a:gd name="T24" fmla="*/ 0 w 170"/>
                <a:gd name="T25" fmla="*/ 2 h 356"/>
                <a:gd name="T26" fmla="*/ 842 w 170"/>
                <a:gd name="T27" fmla="*/ 2 h 356"/>
                <a:gd name="T28" fmla="*/ 1488 w 170"/>
                <a:gd name="T29" fmla="*/ 2 h 356"/>
                <a:gd name="T30" fmla="*/ 3117 w 170"/>
                <a:gd name="T31" fmla="*/ 2 h 356"/>
                <a:gd name="T32" fmla="*/ 3916 w 170"/>
                <a:gd name="T33" fmla="*/ 2 h 356"/>
                <a:gd name="T34" fmla="*/ 4648 w 170"/>
                <a:gd name="T35" fmla="*/ 2 h 356"/>
                <a:gd name="T36" fmla="*/ 5509 w 170"/>
                <a:gd name="T37" fmla="*/ 2 h 356"/>
                <a:gd name="T38" fmla="*/ 7018 w 170"/>
                <a:gd name="T39" fmla="*/ 2 h 356"/>
                <a:gd name="T40" fmla="*/ 7844 w 170"/>
                <a:gd name="T41" fmla="*/ 2 h 356"/>
                <a:gd name="T42" fmla="*/ 8702 w 170"/>
                <a:gd name="T43" fmla="*/ 2 h 356"/>
                <a:gd name="T44" fmla="*/ 9330 w 170"/>
                <a:gd name="T45" fmla="*/ 2 h 356"/>
                <a:gd name="T46" fmla="*/ 10300 w 170"/>
                <a:gd name="T47" fmla="*/ 2 h 356"/>
                <a:gd name="T48" fmla="*/ 11783 w 170"/>
                <a:gd name="T49" fmla="*/ 2 h 356"/>
                <a:gd name="T50" fmla="*/ 12668 w 170"/>
                <a:gd name="T51" fmla="*/ 0 h 356"/>
                <a:gd name="T52" fmla="*/ 13411 w 170"/>
                <a:gd name="T53" fmla="*/ 2 h 356"/>
                <a:gd name="T54" fmla="*/ 13411 w 170"/>
                <a:gd name="T55" fmla="*/ 2 h 356"/>
                <a:gd name="T56" fmla="*/ 13411 w 170"/>
                <a:gd name="T57" fmla="*/ 2 h 356"/>
                <a:gd name="T58" fmla="*/ 14255 w 170"/>
                <a:gd name="T59" fmla="*/ 2 h 356"/>
                <a:gd name="T60" fmla="*/ 15855 w 170"/>
                <a:gd name="T61" fmla="*/ 2 h 356"/>
                <a:gd name="T62" fmla="*/ 17330 w 170"/>
                <a:gd name="T63" fmla="*/ 2 h 356"/>
                <a:gd name="T64" fmla="*/ 19720 w 170"/>
                <a:gd name="T65" fmla="*/ 2 h 356"/>
                <a:gd name="T66" fmla="*/ 21982 w 170"/>
                <a:gd name="T67" fmla="*/ 2 h 356"/>
                <a:gd name="T68" fmla="*/ 23702 w 170"/>
                <a:gd name="T69" fmla="*/ 2 h 356"/>
                <a:gd name="T70" fmla="*/ 25194 w 170"/>
                <a:gd name="T71" fmla="*/ 2 h 356"/>
                <a:gd name="T72" fmla="*/ 26939 w 170"/>
                <a:gd name="T73" fmla="*/ 2 h 356"/>
                <a:gd name="T74" fmla="*/ 27640 w 170"/>
                <a:gd name="T75" fmla="*/ 2 h 356"/>
                <a:gd name="T76" fmla="*/ 28424 w 170"/>
                <a:gd name="T77" fmla="*/ 2 h 356"/>
                <a:gd name="T78" fmla="*/ 28424 w 170"/>
                <a:gd name="T79" fmla="*/ 2 h 356"/>
                <a:gd name="T80" fmla="*/ 28424 w 170"/>
                <a:gd name="T81" fmla="*/ 2 h 356"/>
                <a:gd name="T82" fmla="*/ 28424 w 170"/>
                <a:gd name="T83" fmla="*/ 2 h 356"/>
                <a:gd name="T84" fmla="*/ 28424 w 170"/>
                <a:gd name="T85" fmla="*/ 2 h 356"/>
                <a:gd name="T86" fmla="*/ 27640 w 170"/>
                <a:gd name="T87" fmla="*/ 2 h 356"/>
                <a:gd name="T88" fmla="*/ 27640 w 170"/>
                <a:gd name="T89" fmla="*/ 2 h 356"/>
                <a:gd name="T90" fmla="*/ 27640 w 170"/>
                <a:gd name="T91" fmla="*/ 2 h 356"/>
                <a:gd name="T92" fmla="*/ 26939 w 170"/>
                <a:gd name="T93" fmla="*/ 2 h 356"/>
                <a:gd name="T94" fmla="*/ 26064 w 170"/>
                <a:gd name="T95" fmla="*/ 2 h 356"/>
                <a:gd name="T96" fmla="*/ 26064 w 170"/>
                <a:gd name="T97" fmla="*/ 2 h 356"/>
                <a:gd name="T98" fmla="*/ 25194 w 170"/>
                <a:gd name="T99" fmla="*/ 2 h 356"/>
                <a:gd name="T100" fmla="*/ 23702 w 170"/>
                <a:gd name="T101" fmla="*/ 2 h 35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70"/>
                <a:gd name="T154" fmla="*/ 0 h 356"/>
                <a:gd name="T155" fmla="*/ 170 w 170"/>
                <a:gd name="T156" fmla="*/ 356 h 35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70" h="356">
                  <a:moveTo>
                    <a:pt x="141" y="355"/>
                  </a:moveTo>
                  <a:lnTo>
                    <a:pt x="141" y="348"/>
                  </a:lnTo>
                  <a:lnTo>
                    <a:pt x="141" y="341"/>
                  </a:lnTo>
                  <a:lnTo>
                    <a:pt x="136" y="335"/>
                  </a:lnTo>
                  <a:lnTo>
                    <a:pt x="127" y="324"/>
                  </a:lnTo>
                  <a:lnTo>
                    <a:pt x="117" y="321"/>
                  </a:lnTo>
                  <a:lnTo>
                    <a:pt x="108" y="314"/>
                  </a:lnTo>
                  <a:lnTo>
                    <a:pt x="99" y="304"/>
                  </a:lnTo>
                  <a:lnTo>
                    <a:pt x="89" y="297"/>
                  </a:lnTo>
                  <a:lnTo>
                    <a:pt x="85" y="290"/>
                  </a:lnTo>
                  <a:lnTo>
                    <a:pt x="75" y="287"/>
                  </a:lnTo>
                  <a:lnTo>
                    <a:pt x="70" y="280"/>
                  </a:lnTo>
                  <a:lnTo>
                    <a:pt x="66" y="273"/>
                  </a:lnTo>
                  <a:lnTo>
                    <a:pt x="56" y="270"/>
                  </a:lnTo>
                  <a:lnTo>
                    <a:pt x="47" y="263"/>
                  </a:lnTo>
                  <a:lnTo>
                    <a:pt x="42" y="256"/>
                  </a:lnTo>
                  <a:lnTo>
                    <a:pt x="33" y="253"/>
                  </a:lnTo>
                  <a:lnTo>
                    <a:pt x="28" y="246"/>
                  </a:lnTo>
                  <a:lnTo>
                    <a:pt x="23" y="239"/>
                  </a:lnTo>
                  <a:lnTo>
                    <a:pt x="19" y="232"/>
                  </a:lnTo>
                  <a:lnTo>
                    <a:pt x="14" y="225"/>
                  </a:lnTo>
                  <a:lnTo>
                    <a:pt x="14" y="218"/>
                  </a:lnTo>
                  <a:lnTo>
                    <a:pt x="9" y="212"/>
                  </a:lnTo>
                  <a:lnTo>
                    <a:pt x="5" y="205"/>
                  </a:lnTo>
                  <a:lnTo>
                    <a:pt x="5" y="198"/>
                  </a:lnTo>
                  <a:lnTo>
                    <a:pt x="0" y="191"/>
                  </a:lnTo>
                  <a:lnTo>
                    <a:pt x="0" y="184"/>
                  </a:lnTo>
                  <a:lnTo>
                    <a:pt x="5" y="178"/>
                  </a:lnTo>
                  <a:lnTo>
                    <a:pt x="9" y="171"/>
                  </a:lnTo>
                  <a:lnTo>
                    <a:pt x="9" y="164"/>
                  </a:lnTo>
                  <a:lnTo>
                    <a:pt x="14" y="154"/>
                  </a:lnTo>
                  <a:lnTo>
                    <a:pt x="19" y="147"/>
                  </a:lnTo>
                  <a:lnTo>
                    <a:pt x="19" y="140"/>
                  </a:lnTo>
                  <a:lnTo>
                    <a:pt x="23" y="133"/>
                  </a:lnTo>
                  <a:lnTo>
                    <a:pt x="23" y="123"/>
                  </a:lnTo>
                  <a:lnTo>
                    <a:pt x="28" y="113"/>
                  </a:lnTo>
                  <a:lnTo>
                    <a:pt x="33" y="106"/>
                  </a:lnTo>
                  <a:lnTo>
                    <a:pt x="33" y="96"/>
                  </a:lnTo>
                  <a:lnTo>
                    <a:pt x="38" y="89"/>
                  </a:lnTo>
                  <a:lnTo>
                    <a:pt x="42" y="82"/>
                  </a:lnTo>
                  <a:lnTo>
                    <a:pt x="47" y="75"/>
                  </a:lnTo>
                  <a:lnTo>
                    <a:pt x="47" y="68"/>
                  </a:lnTo>
                  <a:lnTo>
                    <a:pt x="52" y="61"/>
                  </a:lnTo>
                  <a:lnTo>
                    <a:pt x="52" y="55"/>
                  </a:lnTo>
                  <a:lnTo>
                    <a:pt x="56" y="48"/>
                  </a:lnTo>
                  <a:lnTo>
                    <a:pt x="56" y="41"/>
                  </a:lnTo>
                  <a:lnTo>
                    <a:pt x="61" y="34"/>
                  </a:lnTo>
                  <a:lnTo>
                    <a:pt x="61" y="27"/>
                  </a:lnTo>
                  <a:lnTo>
                    <a:pt x="66" y="20"/>
                  </a:lnTo>
                  <a:lnTo>
                    <a:pt x="70" y="14"/>
                  </a:lnTo>
                  <a:lnTo>
                    <a:pt x="75" y="7"/>
                  </a:lnTo>
                  <a:lnTo>
                    <a:pt x="75" y="0"/>
                  </a:lnTo>
                  <a:lnTo>
                    <a:pt x="80" y="7"/>
                  </a:lnTo>
                  <a:lnTo>
                    <a:pt x="80" y="14"/>
                  </a:lnTo>
                  <a:lnTo>
                    <a:pt x="80" y="20"/>
                  </a:lnTo>
                  <a:lnTo>
                    <a:pt x="80" y="27"/>
                  </a:lnTo>
                  <a:lnTo>
                    <a:pt x="80" y="34"/>
                  </a:lnTo>
                  <a:lnTo>
                    <a:pt x="80" y="41"/>
                  </a:lnTo>
                  <a:lnTo>
                    <a:pt x="80" y="48"/>
                  </a:lnTo>
                  <a:lnTo>
                    <a:pt x="85" y="55"/>
                  </a:lnTo>
                  <a:lnTo>
                    <a:pt x="89" y="61"/>
                  </a:lnTo>
                  <a:lnTo>
                    <a:pt x="94" y="68"/>
                  </a:lnTo>
                  <a:lnTo>
                    <a:pt x="99" y="75"/>
                  </a:lnTo>
                  <a:lnTo>
                    <a:pt x="103" y="82"/>
                  </a:lnTo>
                  <a:lnTo>
                    <a:pt x="108" y="89"/>
                  </a:lnTo>
                  <a:lnTo>
                    <a:pt x="117" y="96"/>
                  </a:lnTo>
                  <a:lnTo>
                    <a:pt x="122" y="102"/>
                  </a:lnTo>
                  <a:lnTo>
                    <a:pt x="131" y="109"/>
                  </a:lnTo>
                  <a:lnTo>
                    <a:pt x="136" y="116"/>
                  </a:lnTo>
                  <a:lnTo>
                    <a:pt x="141" y="123"/>
                  </a:lnTo>
                  <a:lnTo>
                    <a:pt x="146" y="130"/>
                  </a:lnTo>
                  <a:lnTo>
                    <a:pt x="150" y="137"/>
                  </a:lnTo>
                  <a:lnTo>
                    <a:pt x="155" y="143"/>
                  </a:lnTo>
                  <a:lnTo>
                    <a:pt x="160" y="150"/>
                  </a:lnTo>
                  <a:lnTo>
                    <a:pt x="164" y="157"/>
                  </a:lnTo>
                  <a:lnTo>
                    <a:pt x="164" y="164"/>
                  </a:lnTo>
                  <a:lnTo>
                    <a:pt x="169" y="171"/>
                  </a:lnTo>
                  <a:lnTo>
                    <a:pt x="169" y="178"/>
                  </a:lnTo>
                  <a:lnTo>
                    <a:pt x="169" y="184"/>
                  </a:lnTo>
                  <a:lnTo>
                    <a:pt x="169" y="191"/>
                  </a:lnTo>
                  <a:lnTo>
                    <a:pt x="169" y="198"/>
                  </a:lnTo>
                  <a:lnTo>
                    <a:pt x="169" y="205"/>
                  </a:lnTo>
                  <a:lnTo>
                    <a:pt x="169" y="212"/>
                  </a:lnTo>
                  <a:lnTo>
                    <a:pt x="169" y="218"/>
                  </a:lnTo>
                  <a:lnTo>
                    <a:pt x="169" y="225"/>
                  </a:lnTo>
                  <a:lnTo>
                    <a:pt x="169" y="232"/>
                  </a:lnTo>
                  <a:lnTo>
                    <a:pt x="169" y="239"/>
                  </a:lnTo>
                  <a:lnTo>
                    <a:pt x="164" y="246"/>
                  </a:lnTo>
                  <a:lnTo>
                    <a:pt x="164" y="253"/>
                  </a:lnTo>
                  <a:lnTo>
                    <a:pt x="164" y="259"/>
                  </a:lnTo>
                  <a:lnTo>
                    <a:pt x="164" y="266"/>
                  </a:lnTo>
                  <a:lnTo>
                    <a:pt x="164" y="273"/>
                  </a:lnTo>
                  <a:lnTo>
                    <a:pt x="164" y="280"/>
                  </a:lnTo>
                  <a:lnTo>
                    <a:pt x="160" y="287"/>
                  </a:lnTo>
                  <a:lnTo>
                    <a:pt x="160" y="294"/>
                  </a:lnTo>
                  <a:lnTo>
                    <a:pt x="155" y="300"/>
                  </a:lnTo>
                  <a:lnTo>
                    <a:pt x="155" y="307"/>
                  </a:lnTo>
                  <a:lnTo>
                    <a:pt x="155" y="314"/>
                  </a:lnTo>
                  <a:lnTo>
                    <a:pt x="155" y="321"/>
                  </a:lnTo>
                  <a:lnTo>
                    <a:pt x="150" y="328"/>
                  </a:lnTo>
                  <a:lnTo>
                    <a:pt x="146" y="335"/>
                  </a:lnTo>
                  <a:lnTo>
                    <a:pt x="141" y="341"/>
                  </a:lnTo>
                  <a:lnTo>
                    <a:pt x="141" y="348"/>
                  </a:lnTo>
                </a:path>
              </a:pathLst>
            </a:custGeom>
            <a:solidFill>
              <a:srgbClr val="FF6600"/>
            </a:solidFill>
            <a:ln w="254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4984" name="Freeform 93"/>
            <p:cNvSpPr>
              <a:spLocks/>
            </p:cNvSpPr>
            <p:nvPr/>
          </p:nvSpPr>
          <p:spPr bwMode="auto">
            <a:xfrm>
              <a:off x="2692" y="1130"/>
              <a:ext cx="150" cy="289"/>
            </a:xfrm>
            <a:custGeom>
              <a:avLst/>
              <a:gdLst>
                <a:gd name="T0" fmla="*/ 3517 w 112"/>
                <a:gd name="T1" fmla="*/ 2 h 386"/>
                <a:gd name="T2" fmla="*/ 4204 w 112"/>
                <a:gd name="T3" fmla="*/ 1 h 386"/>
                <a:gd name="T4" fmla="*/ 6668 w 112"/>
                <a:gd name="T5" fmla="*/ 1 h 386"/>
                <a:gd name="T6" fmla="*/ 8930 w 112"/>
                <a:gd name="T7" fmla="*/ 1 h 386"/>
                <a:gd name="T8" fmla="*/ 10685 w 112"/>
                <a:gd name="T9" fmla="*/ 1 h 386"/>
                <a:gd name="T10" fmla="*/ 12534 w 112"/>
                <a:gd name="T11" fmla="*/ 1 h 386"/>
                <a:gd name="T12" fmla="*/ 14222 w 112"/>
                <a:gd name="T13" fmla="*/ 1 h 386"/>
                <a:gd name="T14" fmla="*/ 16018 w 112"/>
                <a:gd name="T15" fmla="*/ 1 h 386"/>
                <a:gd name="T16" fmla="*/ 17937 w 112"/>
                <a:gd name="T17" fmla="*/ 1 h 386"/>
                <a:gd name="T18" fmla="*/ 19047 w 112"/>
                <a:gd name="T19" fmla="*/ 1 h 386"/>
                <a:gd name="T20" fmla="*/ 19588 w 112"/>
                <a:gd name="T21" fmla="*/ 1 h 386"/>
                <a:gd name="T22" fmla="*/ 20799 w 112"/>
                <a:gd name="T23" fmla="*/ 1 h 386"/>
                <a:gd name="T24" fmla="*/ 21453 w 112"/>
                <a:gd name="T25" fmla="*/ 1 h 386"/>
                <a:gd name="T26" fmla="*/ 20799 w 112"/>
                <a:gd name="T27" fmla="*/ 1 h 386"/>
                <a:gd name="T28" fmla="*/ 20234 w 112"/>
                <a:gd name="T29" fmla="*/ 1 h 386"/>
                <a:gd name="T30" fmla="*/ 19047 w 112"/>
                <a:gd name="T31" fmla="*/ 1 h 386"/>
                <a:gd name="T32" fmla="*/ 18557 w 112"/>
                <a:gd name="T33" fmla="*/ 1 h 386"/>
                <a:gd name="T34" fmla="*/ 17937 w 112"/>
                <a:gd name="T35" fmla="*/ 1 h 386"/>
                <a:gd name="T36" fmla="*/ 17065 w 112"/>
                <a:gd name="T37" fmla="*/ 1 h 386"/>
                <a:gd name="T38" fmla="*/ 16018 w 112"/>
                <a:gd name="T39" fmla="*/ 1 h 386"/>
                <a:gd name="T40" fmla="*/ 15327 w 112"/>
                <a:gd name="T41" fmla="*/ 1 h 386"/>
                <a:gd name="T42" fmla="*/ 14825 w 112"/>
                <a:gd name="T43" fmla="*/ 1 h 386"/>
                <a:gd name="T44" fmla="*/ 14222 w 112"/>
                <a:gd name="T45" fmla="*/ 1 h 386"/>
                <a:gd name="T46" fmla="*/ 13572 w 112"/>
                <a:gd name="T47" fmla="*/ 1 h 386"/>
                <a:gd name="T48" fmla="*/ 12534 w 112"/>
                <a:gd name="T49" fmla="*/ 1 h 386"/>
                <a:gd name="T50" fmla="*/ 11960 w 112"/>
                <a:gd name="T51" fmla="*/ 0 h 386"/>
                <a:gd name="T52" fmla="*/ 11314 w 112"/>
                <a:gd name="T53" fmla="*/ 1 h 386"/>
                <a:gd name="T54" fmla="*/ 11314 w 112"/>
                <a:gd name="T55" fmla="*/ 1 h 386"/>
                <a:gd name="T56" fmla="*/ 11314 w 112"/>
                <a:gd name="T57" fmla="*/ 1 h 386"/>
                <a:gd name="T58" fmla="*/ 10685 w 112"/>
                <a:gd name="T59" fmla="*/ 1 h 386"/>
                <a:gd name="T60" fmla="*/ 9453 w 112"/>
                <a:gd name="T61" fmla="*/ 1 h 386"/>
                <a:gd name="T62" fmla="*/ 8278 w 112"/>
                <a:gd name="T63" fmla="*/ 1 h 386"/>
                <a:gd name="T64" fmla="*/ 6668 w 112"/>
                <a:gd name="T65" fmla="*/ 1 h 386"/>
                <a:gd name="T66" fmla="*/ 4710 w 112"/>
                <a:gd name="T67" fmla="*/ 1 h 386"/>
                <a:gd name="T68" fmla="*/ 3517 w 112"/>
                <a:gd name="T69" fmla="*/ 1 h 386"/>
                <a:gd name="T70" fmla="*/ 2258 w 112"/>
                <a:gd name="T71" fmla="*/ 1 h 386"/>
                <a:gd name="T72" fmla="*/ 1191 w 112"/>
                <a:gd name="T73" fmla="*/ 1 h 386"/>
                <a:gd name="T74" fmla="*/ 524 w 112"/>
                <a:gd name="T75" fmla="*/ 1 h 386"/>
                <a:gd name="T76" fmla="*/ 0 w 112"/>
                <a:gd name="T77" fmla="*/ 1 h 386"/>
                <a:gd name="T78" fmla="*/ 0 w 112"/>
                <a:gd name="T79" fmla="*/ 1 h 386"/>
                <a:gd name="T80" fmla="*/ 0 w 112"/>
                <a:gd name="T81" fmla="*/ 1 h 386"/>
                <a:gd name="T82" fmla="*/ 0 w 112"/>
                <a:gd name="T83" fmla="*/ 1 h 386"/>
                <a:gd name="T84" fmla="*/ 0 w 112"/>
                <a:gd name="T85" fmla="*/ 1 h 386"/>
                <a:gd name="T86" fmla="*/ 524 w 112"/>
                <a:gd name="T87" fmla="*/ 1 h 386"/>
                <a:gd name="T88" fmla="*/ 524 w 112"/>
                <a:gd name="T89" fmla="*/ 1 h 386"/>
                <a:gd name="T90" fmla="*/ 524 w 112"/>
                <a:gd name="T91" fmla="*/ 1 h 386"/>
                <a:gd name="T92" fmla="*/ 1191 w 112"/>
                <a:gd name="T93" fmla="*/ 1 h 386"/>
                <a:gd name="T94" fmla="*/ 1686 w 112"/>
                <a:gd name="T95" fmla="*/ 1 h 386"/>
                <a:gd name="T96" fmla="*/ 1686 w 112"/>
                <a:gd name="T97" fmla="*/ 1 h 386"/>
                <a:gd name="T98" fmla="*/ 2258 w 112"/>
                <a:gd name="T99" fmla="*/ 1 h 386"/>
                <a:gd name="T100" fmla="*/ 3517 w 112"/>
                <a:gd name="T101" fmla="*/ 2 h 38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2"/>
                <a:gd name="T154" fmla="*/ 0 h 386"/>
                <a:gd name="T155" fmla="*/ 112 w 112"/>
                <a:gd name="T156" fmla="*/ 386 h 38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2" h="386">
                  <a:moveTo>
                    <a:pt x="19" y="385"/>
                  </a:moveTo>
                  <a:lnTo>
                    <a:pt x="19" y="378"/>
                  </a:lnTo>
                  <a:lnTo>
                    <a:pt x="19" y="370"/>
                  </a:lnTo>
                  <a:lnTo>
                    <a:pt x="22" y="363"/>
                  </a:lnTo>
                  <a:lnTo>
                    <a:pt x="28" y="352"/>
                  </a:lnTo>
                  <a:lnTo>
                    <a:pt x="34" y="348"/>
                  </a:lnTo>
                  <a:lnTo>
                    <a:pt x="40" y="341"/>
                  </a:lnTo>
                  <a:lnTo>
                    <a:pt x="46" y="329"/>
                  </a:lnTo>
                  <a:lnTo>
                    <a:pt x="52" y="322"/>
                  </a:lnTo>
                  <a:lnTo>
                    <a:pt x="56" y="315"/>
                  </a:lnTo>
                  <a:lnTo>
                    <a:pt x="62" y="311"/>
                  </a:lnTo>
                  <a:lnTo>
                    <a:pt x="65" y="304"/>
                  </a:lnTo>
                  <a:lnTo>
                    <a:pt x="68" y="296"/>
                  </a:lnTo>
                  <a:lnTo>
                    <a:pt x="74" y="292"/>
                  </a:lnTo>
                  <a:lnTo>
                    <a:pt x="80" y="285"/>
                  </a:lnTo>
                  <a:lnTo>
                    <a:pt x="83" y="278"/>
                  </a:lnTo>
                  <a:lnTo>
                    <a:pt x="89" y="274"/>
                  </a:lnTo>
                  <a:lnTo>
                    <a:pt x="93" y="267"/>
                  </a:lnTo>
                  <a:lnTo>
                    <a:pt x="96" y="259"/>
                  </a:lnTo>
                  <a:lnTo>
                    <a:pt x="99" y="252"/>
                  </a:lnTo>
                  <a:lnTo>
                    <a:pt x="102" y="244"/>
                  </a:lnTo>
                  <a:lnTo>
                    <a:pt x="102" y="237"/>
                  </a:lnTo>
                  <a:lnTo>
                    <a:pt x="105" y="230"/>
                  </a:lnTo>
                  <a:lnTo>
                    <a:pt x="108" y="222"/>
                  </a:lnTo>
                  <a:lnTo>
                    <a:pt x="108" y="215"/>
                  </a:lnTo>
                  <a:lnTo>
                    <a:pt x="111" y="207"/>
                  </a:lnTo>
                  <a:lnTo>
                    <a:pt x="111" y="200"/>
                  </a:lnTo>
                  <a:lnTo>
                    <a:pt x="108" y="193"/>
                  </a:lnTo>
                  <a:lnTo>
                    <a:pt x="105" y="185"/>
                  </a:lnTo>
                  <a:lnTo>
                    <a:pt x="105" y="178"/>
                  </a:lnTo>
                  <a:lnTo>
                    <a:pt x="102" y="167"/>
                  </a:lnTo>
                  <a:lnTo>
                    <a:pt x="99" y="159"/>
                  </a:lnTo>
                  <a:lnTo>
                    <a:pt x="99" y="152"/>
                  </a:lnTo>
                  <a:lnTo>
                    <a:pt x="96" y="144"/>
                  </a:lnTo>
                  <a:lnTo>
                    <a:pt x="96" y="133"/>
                  </a:lnTo>
                  <a:lnTo>
                    <a:pt x="93" y="122"/>
                  </a:lnTo>
                  <a:lnTo>
                    <a:pt x="89" y="115"/>
                  </a:lnTo>
                  <a:lnTo>
                    <a:pt x="89" y="104"/>
                  </a:lnTo>
                  <a:lnTo>
                    <a:pt x="86" y="96"/>
                  </a:lnTo>
                  <a:lnTo>
                    <a:pt x="83" y="89"/>
                  </a:lnTo>
                  <a:lnTo>
                    <a:pt x="80" y="81"/>
                  </a:lnTo>
                  <a:lnTo>
                    <a:pt x="80" y="74"/>
                  </a:lnTo>
                  <a:lnTo>
                    <a:pt x="77" y="67"/>
                  </a:lnTo>
                  <a:lnTo>
                    <a:pt x="77" y="59"/>
                  </a:lnTo>
                  <a:lnTo>
                    <a:pt x="74" y="52"/>
                  </a:lnTo>
                  <a:lnTo>
                    <a:pt x="74" y="44"/>
                  </a:lnTo>
                  <a:lnTo>
                    <a:pt x="71" y="37"/>
                  </a:lnTo>
                  <a:lnTo>
                    <a:pt x="71" y="30"/>
                  </a:lnTo>
                  <a:lnTo>
                    <a:pt x="68" y="22"/>
                  </a:lnTo>
                  <a:lnTo>
                    <a:pt x="65" y="15"/>
                  </a:lnTo>
                  <a:lnTo>
                    <a:pt x="62" y="7"/>
                  </a:lnTo>
                  <a:lnTo>
                    <a:pt x="62" y="0"/>
                  </a:lnTo>
                  <a:lnTo>
                    <a:pt x="59" y="7"/>
                  </a:lnTo>
                  <a:lnTo>
                    <a:pt x="59" y="15"/>
                  </a:lnTo>
                  <a:lnTo>
                    <a:pt x="59" y="22"/>
                  </a:lnTo>
                  <a:lnTo>
                    <a:pt x="59" y="30"/>
                  </a:lnTo>
                  <a:lnTo>
                    <a:pt x="59" y="37"/>
                  </a:lnTo>
                  <a:lnTo>
                    <a:pt x="59" y="44"/>
                  </a:lnTo>
                  <a:lnTo>
                    <a:pt x="59" y="52"/>
                  </a:lnTo>
                  <a:lnTo>
                    <a:pt x="56" y="59"/>
                  </a:lnTo>
                  <a:lnTo>
                    <a:pt x="52" y="67"/>
                  </a:lnTo>
                  <a:lnTo>
                    <a:pt x="49" y="74"/>
                  </a:lnTo>
                  <a:lnTo>
                    <a:pt x="46" y="81"/>
                  </a:lnTo>
                  <a:lnTo>
                    <a:pt x="43" y="89"/>
                  </a:lnTo>
                  <a:lnTo>
                    <a:pt x="40" y="96"/>
                  </a:lnTo>
                  <a:lnTo>
                    <a:pt x="34" y="104"/>
                  </a:lnTo>
                  <a:lnTo>
                    <a:pt x="31" y="111"/>
                  </a:lnTo>
                  <a:lnTo>
                    <a:pt x="25" y="118"/>
                  </a:lnTo>
                  <a:lnTo>
                    <a:pt x="22" y="126"/>
                  </a:lnTo>
                  <a:lnTo>
                    <a:pt x="19" y="133"/>
                  </a:lnTo>
                  <a:lnTo>
                    <a:pt x="15" y="141"/>
                  </a:lnTo>
                  <a:lnTo>
                    <a:pt x="12" y="148"/>
                  </a:lnTo>
                  <a:lnTo>
                    <a:pt x="9" y="155"/>
                  </a:lnTo>
                  <a:lnTo>
                    <a:pt x="6" y="163"/>
                  </a:lnTo>
                  <a:lnTo>
                    <a:pt x="3" y="170"/>
                  </a:lnTo>
                  <a:lnTo>
                    <a:pt x="3" y="178"/>
                  </a:lnTo>
                  <a:lnTo>
                    <a:pt x="0" y="185"/>
                  </a:lnTo>
                  <a:lnTo>
                    <a:pt x="0" y="193"/>
                  </a:lnTo>
                  <a:lnTo>
                    <a:pt x="0" y="200"/>
                  </a:lnTo>
                  <a:lnTo>
                    <a:pt x="0" y="207"/>
                  </a:lnTo>
                  <a:lnTo>
                    <a:pt x="0" y="215"/>
                  </a:lnTo>
                  <a:lnTo>
                    <a:pt x="0" y="222"/>
                  </a:lnTo>
                  <a:lnTo>
                    <a:pt x="0" y="230"/>
                  </a:lnTo>
                  <a:lnTo>
                    <a:pt x="0" y="237"/>
                  </a:lnTo>
                  <a:lnTo>
                    <a:pt x="0" y="244"/>
                  </a:lnTo>
                  <a:lnTo>
                    <a:pt x="0" y="252"/>
                  </a:lnTo>
                  <a:lnTo>
                    <a:pt x="0" y="259"/>
                  </a:lnTo>
                  <a:lnTo>
                    <a:pt x="3" y="267"/>
                  </a:lnTo>
                  <a:lnTo>
                    <a:pt x="3" y="274"/>
                  </a:lnTo>
                  <a:lnTo>
                    <a:pt x="3" y="281"/>
                  </a:lnTo>
                  <a:lnTo>
                    <a:pt x="3" y="289"/>
                  </a:lnTo>
                  <a:lnTo>
                    <a:pt x="3" y="296"/>
                  </a:lnTo>
                  <a:lnTo>
                    <a:pt x="3" y="304"/>
                  </a:lnTo>
                  <a:lnTo>
                    <a:pt x="6" y="311"/>
                  </a:lnTo>
                  <a:lnTo>
                    <a:pt x="6" y="318"/>
                  </a:lnTo>
                  <a:lnTo>
                    <a:pt x="9" y="326"/>
                  </a:lnTo>
                  <a:lnTo>
                    <a:pt x="9" y="333"/>
                  </a:lnTo>
                  <a:lnTo>
                    <a:pt x="9" y="341"/>
                  </a:lnTo>
                  <a:lnTo>
                    <a:pt x="9" y="348"/>
                  </a:lnTo>
                  <a:lnTo>
                    <a:pt x="12" y="355"/>
                  </a:lnTo>
                  <a:lnTo>
                    <a:pt x="15" y="363"/>
                  </a:lnTo>
                  <a:lnTo>
                    <a:pt x="19" y="370"/>
                  </a:lnTo>
                  <a:lnTo>
                    <a:pt x="19" y="378"/>
                  </a:lnTo>
                </a:path>
              </a:pathLst>
            </a:custGeom>
            <a:solidFill>
              <a:srgbClr val="FF0000"/>
            </a:solidFill>
            <a:ln w="25400" cap="rnd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4985" name="Freeform 94"/>
            <p:cNvSpPr>
              <a:spLocks/>
            </p:cNvSpPr>
            <p:nvPr/>
          </p:nvSpPr>
          <p:spPr bwMode="auto">
            <a:xfrm>
              <a:off x="2763" y="1319"/>
              <a:ext cx="169" cy="97"/>
            </a:xfrm>
            <a:custGeom>
              <a:avLst/>
              <a:gdLst>
                <a:gd name="T0" fmla="*/ 0 w 127"/>
                <a:gd name="T1" fmla="*/ 2 h 129"/>
                <a:gd name="T2" fmla="*/ 1694 w 127"/>
                <a:gd name="T3" fmla="*/ 2 h 129"/>
                <a:gd name="T4" fmla="*/ 2615 w 127"/>
                <a:gd name="T5" fmla="*/ 2 h 129"/>
                <a:gd name="T6" fmla="*/ 4127 w 127"/>
                <a:gd name="T7" fmla="*/ 2 h 129"/>
                <a:gd name="T8" fmla="*/ 5805 w 127"/>
                <a:gd name="T9" fmla="*/ 2 h 129"/>
                <a:gd name="T10" fmla="*/ 7641 w 127"/>
                <a:gd name="T11" fmla="*/ 2 h 129"/>
                <a:gd name="T12" fmla="*/ 8201 w 127"/>
                <a:gd name="T13" fmla="*/ 2 h 129"/>
                <a:gd name="T14" fmla="*/ 9891 w 127"/>
                <a:gd name="T15" fmla="*/ 2 h 129"/>
                <a:gd name="T16" fmla="*/ 10796 w 127"/>
                <a:gd name="T17" fmla="*/ 2 h 129"/>
                <a:gd name="T18" fmla="*/ 11634 w 127"/>
                <a:gd name="T19" fmla="*/ 2 h 129"/>
                <a:gd name="T20" fmla="*/ 13382 w 127"/>
                <a:gd name="T21" fmla="*/ 2 h 129"/>
                <a:gd name="T22" fmla="*/ 13382 w 127"/>
                <a:gd name="T23" fmla="*/ 2 h 129"/>
                <a:gd name="T24" fmla="*/ 14905 w 127"/>
                <a:gd name="T25" fmla="*/ 2 h 129"/>
                <a:gd name="T26" fmla="*/ 14905 w 127"/>
                <a:gd name="T27" fmla="*/ 2 h 129"/>
                <a:gd name="T28" fmla="*/ 14905 w 127"/>
                <a:gd name="T29" fmla="*/ 2 h 129"/>
                <a:gd name="T30" fmla="*/ 15669 w 127"/>
                <a:gd name="T31" fmla="*/ 2 h 129"/>
                <a:gd name="T32" fmla="*/ 17515 w 127"/>
                <a:gd name="T33" fmla="*/ 2 h 129"/>
                <a:gd name="T34" fmla="*/ 17515 w 127"/>
                <a:gd name="T35" fmla="*/ 2 h 129"/>
                <a:gd name="T36" fmla="*/ 18281 w 127"/>
                <a:gd name="T37" fmla="*/ 2 h 129"/>
                <a:gd name="T38" fmla="*/ 18281 w 127"/>
                <a:gd name="T39" fmla="*/ 2 h 129"/>
                <a:gd name="T40" fmla="*/ 19834 w 127"/>
                <a:gd name="T41" fmla="*/ 0 h 129"/>
                <a:gd name="T42" fmla="*/ 19834 w 127"/>
                <a:gd name="T43" fmla="*/ 2 h 129"/>
                <a:gd name="T44" fmla="*/ 19834 w 127"/>
                <a:gd name="T45" fmla="*/ 2 h 129"/>
                <a:gd name="T46" fmla="*/ 20690 w 127"/>
                <a:gd name="T47" fmla="*/ 2 h 129"/>
                <a:gd name="T48" fmla="*/ 20690 w 127"/>
                <a:gd name="T49" fmla="*/ 2 h 129"/>
                <a:gd name="T50" fmla="*/ 20690 w 127"/>
                <a:gd name="T51" fmla="*/ 2 h 129"/>
                <a:gd name="T52" fmla="*/ 21648 w 127"/>
                <a:gd name="T53" fmla="*/ 2 h 129"/>
                <a:gd name="T54" fmla="*/ 21648 w 127"/>
                <a:gd name="T55" fmla="*/ 2 h 129"/>
                <a:gd name="T56" fmla="*/ 21648 w 127"/>
                <a:gd name="T57" fmla="*/ 2 h 129"/>
                <a:gd name="T58" fmla="*/ 21648 w 127"/>
                <a:gd name="T59" fmla="*/ 2 h 129"/>
                <a:gd name="T60" fmla="*/ 21648 w 127"/>
                <a:gd name="T61" fmla="*/ 2 h 129"/>
                <a:gd name="T62" fmla="*/ 20690 w 127"/>
                <a:gd name="T63" fmla="*/ 2 h 129"/>
                <a:gd name="T64" fmla="*/ 19026 w 127"/>
                <a:gd name="T65" fmla="*/ 2 h 129"/>
                <a:gd name="T66" fmla="*/ 18281 w 127"/>
                <a:gd name="T67" fmla="*/ 2 h 129"/>
                <a:gd name="T68" fmla="*/ 16652 w 127"/>
                <a:gd name="T69" fmla="*/ 2 h 129"/>
                <a:gd name="T70" fmla="*/ 14905 w 127"/>
                <a:gd name="T71" fmla="*/ 2 h 129"/>
                <a:gd name="T72" fmla="*/ 13382 w 127"/>
                <a:gd name="T73" fmla="*/ 2 h 129"/>
                <a:gd name="T74" fmla="*/ 11634 w 127"/>
                <a:gd name="T75" fmla="*/ 2 h 129"/>
                <a:gd name="T76" fmla="*/ 9891 w 127"/>
                <a:gd name="T77" fmla="*/ 2 h 129"/>
                <a:gd name="T78" fmla="*/ 8201 w 127"/>
                <a:gd name="T79" fmla="*/ 2 h 129"/>
                <a:gd name="T80" fmla="*/ 6650 w 127"/>
                <a:gd name="T81" fmla="*/ 2 h 129"/>
                <a:gd name="T82" fmla="*/ 4997 w 127"/>
                <a:gd name="T83" fmla="*/ 2 h 129"/>
                <a:gd name="T84" fmla="*/ 3243 w 127"/>
                <a:gd name="T85" fmla="*/ 2 h 129"/>
                <a:gd name="T86" fmla="*/ 1694 w 127"/>
                <a:gd name="T87" fmla="*/ 2 h 129"/>
                <a:gd name="T88" fmla="*/ 0 w 127"/>
                <a:gd name="T89" fmla="*/ 2 h 129"/>
                <a:gd name="T90" fmla="*/ 10796 w 127"/>
                <a:gd name="T91" fmla="*/ 2 h 1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27"/>
                <a:gd name="T139" fmla="*/ 0 h 129"/>
                <a:gd name="T140" fmla="*/ 127 w 127"/>
                <a:gd name="T141" fmla="*/ 129 h 12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27" h="129">
                  <a:moveTo>
                    <a:pt x="0" y="128"/>
                  </a:moveTo>
                  <a:lnTo>
                    <a:pt x="10" y="128"/>
                  </a:lnTo>
                  <a:lnTo>
                    <a:pt x="15" y="119"/>
                  </a:lnTo>
                  <a:lnTo>
                    <a:pt x="24" y="119"/>
                  </a:lnTo>
                  <a:lnTo>
                    <a:pt x="34" y="111"/>
                  </a:lnTo>
                  <a:lnTo>
                    <a:pt x="44" y="107"/>
                  </a:lnTo>
                  <a:lnTo>
                    <a:pt x="48" y="98"/>
                  </a:lnTo>
                  <a:lnTo>
                    <a:pt x="58" y="98"/>
                  </a:lnTo>
                  <a:lnTo>
                    <a:pt x="63" y="90"/>
                  </a:lnTo>
                  <a:lnTo>
                    <a:pt x="68" y="81"/>
                  </a:lnTo>
                  <a:lnTo>
                    <a:pt x="78" y="73"/>
                  </a:lnTo>
                  <a:lnTo>
                    <a:pt x="78" y="64"/>
                  </a:lnTo>
                  <a:lnTo>
                    <a:pt x="87" y="60"/>
                  </a:lnTo>
                  <a:lnTo>
                    <a:pt x="87" y="51"/>
                  </a:lnTo>
                  <a:lnTo>
                    <a:pt x="87" y="43"/>
                  </a:lnTo>
                  <a:lnTo>
                    <a:pt x="92" y="34"/>
                  </a:lnTo>
                  <a:lnTo>
                    <a:pt x="102" y="30"/>
                  </a:lnTo>
                  <a:lnTo>
                    <a:pt x="102" y="21"/>
                  </a:lnTo>
                  <a:lnTo>
                    <a:pt x="107" y="13"/>
                  </a:lnTo>
                  <a:lnTo>
                    <a:pt x="107" y="4"/>
                  </a:lnTo>
                  <a:lnTo>
                    <a:pt x="116" y="0"/>
                  </a:lnTo>
                  <a:lnTo>
                    <a:pt x="116" y="9"/>
                  </a:lnTo>
                  <a:lnTo>
                    <a:pt x="116" y="17"/>
                  </a:lnTo>
                  <a:lnTo>
                    <a:pt x="121" y="26"/>
                  </a:lnTo>
                  <a:lnTo>
                    <a:pt x="121" y="34"/>
                  </a:lnTo>
                  <a:lnTo>
                    <a:pt x="121" y="43"/>
                  </a:lnTo>
                  <a:lnTo>
                    <a:pt x="126" y="51"/>
                  </a:lnTo>
                  <a:lnTo>
                    <a:pt x="126" y="60"/>
                  </a:lnTo>
                  <a:lnTo>
                    <a:pt x="126" y="68"/>
                  </a:lnTo>
                  <a:lnTo>
                    <a:pt x="126" y="77"/>
                  </a:lnTo>
                  <a:lnTo>
                    <a:pt x="126" y="85"/>
                  </a:lnTo>
                  <a:lnTo>
                    <a:pt x="121" y="94"/>
                  </a:lnTo>
                  <a:lnTo>
                    <a:pt x="111" y="94"/>
                  </a:lnTo>
                  <a:lnTo>
                    <a:pt x="107" y="102"/>
                  </a:lnTo>
                  <a:lnTo>
                    <a:pt x="97" y="107"/>
                  </a:lnTo>
                  <a:lnTo>
                    <a:pt x="87" y="111"/>
                  </a:lnTo>
                  <a:lnTo>
                    <a:pt x="78" y="115"/>
                  </a:lnTo>
                  <a:lnTo>
                    <a:pt x="68" y="115"/>
                  </a:lnTo>
                  <a:lnTo>
                    <a:pt x="58" y="115"/>
                  </a:lnTo>
                  <a:lnTo>
                    <a:pt x="48" y="115"/>
                  </a:lnTo>
                  <a:lnTo>
                    <a:pt x="39" y="115"/>
                  </a:lnTo>
                  <a:lnTo>
                    <a:pt x="29" y="119"/>
                  </a:lnTo>
                  <a:lnTo>
                    <a:pt x="19" y="124"/>
                  </a:lnTo>
                  <a:lnTo>
                    <a:pt x="10" y="128"/>
                  </a:lnTo>
                  <a:lnTo>
                    <a:pt x="0" y="128"/>
                  </a:lnTo>
                  <a:lnTo>
                    <a:pt x="63" y="98"/>
                  </a:lnTo>
                </a:path>
              </a:pathLst>
            </a:custGeom>
            <a:solidFill>
              <a:srgbClr val="FFFF00"/>
            </a:solidFill>
            <a:ln w="254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031252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94D48F0-85D2-3B4D-A90E-773E2962529D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120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5955" name="AutoShape 103"/>
          <p:cNvSpPr>
            <a:spLocks noChangeArrowheads="1"/>
          </p:cNvSpPr>
          <p:nvPr/>
        </p:nvSpPr>
        <p:spPr bwMode="auto">
          <a:xfrm>
            <a:off x="4189413" y="2647950"/>
            <a:ext cx="804862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56" name="Line 104"/>
          <p:cNvSpPr>
            <a:spLocks noChangeShapeType="1"/>
          </p:cNvSpPr>
          <p:nvPr/>
        </p:nvSpPr>
        <p:spPr bwMode="auto">
          <a:xfrm>
            <a:off x="4598988" y="264318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5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0850"/>
            <a:ext cx="7772400" cy="1143000"/>
          </a:xfrm>
        </p:spPr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Obstruction-free contains()</a:t>
            </a:r>
          </a:p>
        </p:txBody>
      </p:sp>
      <p:sp>
        <p:nvSpPr>
          <p:cNvPr id="125958" name="AutoShape 3"/>
          <p:cNvSpPr>
            <a:spLocks noChangeArrowheads="1"/>
          </p:cNvSpPr>
          <p:nvPr/>
        </p:nvSpPr>
        <p:spPr bwMode="auto">
          <a:xfrm>
            <a:off x="771525" y="2609850"/>
            <a:ext cx="804863" cy="37147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59" name="Line 4"/>
          <p:cNvSpPr>
            <a:spLocks noChangeShapeType="1"/>
          </p:cNvSpPr>
          <p:nvPr/>
        </p:nvSpPr>
        <p:spPr bwMode="auto">
          <a:xfrm>
            <a:off x="1181100" y="260508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60" name="Text Box 5"/>
          <p:cNvSpPr txBox="1">
            <a:spLocks noChangeArrowheads="1"/>
          </p:cNvSpPr>
          <p:nvPr/>
        </p:nvSpPr>
        <p:spPr bwMode="auto">
          <a:xfrm>
            <a:off x="957263" y="262572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endParaRPr lang="en-US" sz="2800">
              <a:latin typeface="Arial"/>
              <a:cs typeface="Arial"/>
            </a:endParaRPr>
          </a:p>
        </p:txBody>
      </p:sp>
      <p:sp>
        <p:nvSpPr>
          <p:cNvPr id="125961" name="AutoShape 6"/>
          <p:cNvSpPr>
            <a:spLocks noChangeArrowheads="1"/>
          </p:cNvSpPr>
          <p:nvPr/>
        </p:nvSpPr>
        <p:spPr bwMode="auto">
          <a:xfrm>
            <a:off x="4179888" y="2652713"/>
            <a:ext cx="804862" cy="371475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62" name="Line 7"/>
          <p:cNvSpPr>
            <a:spLocks noChangeShapeType="1"/>
          </p:cNvSpPr>
          <p:nvPr/>
        </p:nvSpPr>
        <p:spPr bwMode="auto">
          <a:xfrm>
            <a:off x="4589463" y="264795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63" name="Text Box 8"/>
          <p:cNvSpPr txBox="1">
            <a:spLocks noChangeArrowheads="1"/>
          </p:cNvSpPr>
          <p:nvPr/>
        </p:nvSpPr>
        <p:spPr bwMode="auto">
          <a:xfrm>
            <a:off x="4139423" y="2568575"/>
            <a:ext cx="4040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b</a:t>
            </a:r>
          </a:p>
        </p:txBody>
      </p:sp>
      <p:sp>
        <p:nvSpPr>
          <p:cNvPr id="125964" name="AutoShape 9"/>
          <p:cNvSpPr>
            <a:spLocks noChangeArrowheads="1"/>
          </p:cNvSpPr>
          <p:nvPr/>
        </p:nvSpPr>
        <p:spPr bwMode="auto">
          <a:xfrm>
            <a:off x="5875338" y="2681288"/>
            <a:ext cx="804862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65" name="Line 10"/>
          <p:cNvSpPr>
            <a:spLocks noChangeShapeType="1"/>
          </p:cNvSpPr>
          <p:nvPr/>
        </p:nvSpPr>
        <p:spPr bwMode="auto">
          <a:xfrm>
            <a:off x="6284913" y="2676525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66" name="Text Box 11"/>
          <p:cNvSpPr txBox="1">
            <a:spLocks noChangeArrowheads="1"/>
          </p:cNvSpPr>
          <p:nvPr/>
        </p:nvSpPr>
        <p:spPr bwMode="auto">
          <a:xfrm>
            <a:off x="5854510" y="2611438"/>
            <a:ext cx="3843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c</a:t>
            </a:r>
          </a:p>
        </p:txBody>
      </p:sp>
      <p:sp>
        <p:nvSpPr>
          <p:cNvPr id="125967" name="AutoShape 12"/>
          <p:cNvSpPr>
            <a:spLocks noChangeArrowheads="1"/>
          </p:cNvSpPr>
          <p:nvPr/>
        </p:nvSpPr>
        <p:spPr bwMode="auto">
          <a:xfrm>
            <a:off x="7527925" y="2681288"/>
            <a:ext cx="804863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68" name="Line 13"/>
          <p:cNvSpPr>
            <a:spLocks noChangeShapeType="1"/>
          </p:cNvSpPr>
          <p:nvPr/>
        </p:nvSpPr>
        <p:spPr bwMode="auto">
          <a:xfrm>
            <a:off x="7937500" y="2676525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69" name="Text Box 14"/>
          <p:cNvSpPr txBox="1">
            <a:spLocks noChangeArrowheads="1"/>
          </p:cNvSpPr>
          <p:nvPr/>
        </p:nvSpPr>
        <p:spPr bwMode="auto">
          <a:xfrm>
            <a:off x="7487461" y="2597150"/>
            <a:ext cx="4040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d</a:t>
            </a:r>
          </a:p>
        </p:txBody>
      </p:sp>
      <p:sp>
        <p:nvSpPr>
          <p:cNvPr id="125970" name="Line 15"/>
          <p:cNvSpPr>
            <a:spLocks noChangeShapeType="1"/>
          </p:cNvSpPr>
          <p:nvPr/>
        </p:nvSpPr>
        <p:spPr bwMode="auto">
          <a:xfrm>
            <a:off x="1371600" y="2795588"/>
            <a:ext cx="10096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71" name="Line 16"/>
          <p:cNvSpPr>
            <a:spLocks noChangeShapeType="1"/>
          </p:cNvSpPr>
          <p:nvPr/>
        </p:nvSpPr>
        <p:spPr bwMode="auto">
          <a:xfrm>
            <a:off x="6496050" y="2867025"/>
            <a:ext cx="10096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72" name="Line 17"/>
          <p:cNvSpPr>
            <a:spLocks noChangeShapeType="1"/>
          </p:cNvSpPr>
          <p:nvPr/>
        </p:nvSpPr>
        <p:spPr bwMode="auto">
          <a:xfrm>
            <a:off x="4843463" y="2867025"/>
            <a:ext cx="1011237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73" name="AutoShape 20"/>
          <p:cNvSpPr>
            <a:spLocks noChangeArrowheads="1"/>
          </p:cNvSpPr>
          <p:nvPr/>
        </p:nvSpPr>
        <p:spPr bwMode="auto">
          <a:xfrm flipV="1">
            <a:off x="966788" y="2757488"/>
            <a:ext cx="138112" cy="1238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74" name="AutoShape 22"/>
          <p:cNvSpPr>
            <a:spLocks noChangeArrowheads="1"/>
          </p:cNvSpPr>
          <p:nvPr/>
        </p:nvSpPr>
        <p:spPr bwMode="auto">
          <a:xfrm>
            <a:off x="2460625" y="2616200"/>
            <a:ext cx="804863" cy="3714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75" name="Line 23"/>
          <p:cNvSpPr>
            <a:spLocks noChangeShapeType="1"/>
          </p:cNvSpPr>
          <p:nvPr/>
        </p:nvSpPr>
        <p:spPr bwMode="auto">
          <a:xfrm>
            <a:off x="2870200" y="261143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25976" name="Text Box 24"/>
          <p:cNvSpPr txBox="1">
            <a:spLocks noChangeArrowheads="1"/>
          </p:cNvSpPr>
          <p:nvPr/>
        </p:nvSpPr>
        <p:spPr bwMode="auto">
          <a:xfrm>
            <a:off x="2443163" y="2532063"/>
            <a:ext cx="38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a</a:t>
            </a:r>
          </a:p>
        </p:txBody>
      </p:sp>
      <p:sp>
        <p:nvSpPr>
          <p:cNvPr id="125977" name="Line 25"/>
          <p:cNvSpPr>
            <a:spLocks noChangeShapeType="1"/>
          </p:cNvSpPr>
          <p:nvPr/>
        </p:nvSpPr>
        <p:spPr bwMode="auto">
          <a:xfrm>
            <a:off x="3124200" y="2830513"/>
            <a:ext cx="1011238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grpSp>
        <p:nvGrpSpPr>
          <p:cNvPr id="2" name="Group 120"/>
          <p:cNvGrpSpPr>
            <a:grpSpLocks/>
          </p:cNvGrpSpPr>
          <p:nvPr/>
        </p:nvGrpSpPr>
        <p:grpSpPr bwMode="auto">
          <a:xfrm>
            <a:off x="1093788" y="2016125"/>
            <a:ext cx="5280025" cy="466725"/>
            <a:chOff x="689" y="1009"/>
            <a:chExt cx="3326" cy="294"/>
          </a:xfrm>
        </p:grpSpPr>
        <p:sp>
          <p:nvSpPr>
            <p:cNvPr id="126028" name="Freeform 109"/>
            <p:cNvSpPr>
              <a:spLocks/>
            </p:cNvSpPr>
            <p:nvPr/>
          </p:nvSpPr>
          <p:spPr bwMode="auto">
            <a:xfrm>
              <a:off x="689" y="1012"/>
              <a:ext cx="2888" cy="291"/>
            </a:xfrm>
            <a:custGeom>
              <a:avLst/>
              <a:gdLst>
                <a:gd name="T0" fmla="*/ 0 w 1070"/>
                <a:gd name="T1" fmla="*/ 1799 h 216"/>
                <a:gd name="T2" fmla="*/ 2147483647 w 1070"/>
                <a:gd name="T3" fmla="*/ 53 h 216"/>
                <a:gd name="T4" fmla="*/ 2147483647 w 1070"/>
                <a:gd name="T5" fmla="*/ 1501 h 216"/>
                <a:gd name="T6" fmla="*/ 2147483647 w 1070"/>
                <a:gd name="T7" fmla="*/ 362 h 216"/>
                <a:gd name="T8" fmla="*/ 2147483647 w 1070"/>
                <a:gd name="T9" fmla="*/ 1263 h 216"/>
                <a:gd name="T10" fmla="*/ 2147483647 w 1070"/>
                <a:gd name="T11" fmla="*/ 664 h 216"/>
                <a:gd name="T12" fmla="*/ 2147483647 w 1070"/>
                <a:gd name="T13" fmla="*/ 1043 h 216"/>
                <a:gd name="T14" fmla="*/ 2147483647 w 1070"/>
                <a:gd name="T15" fmla="*/ 732 h 2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0"/>
                <a:gd name="T25" fmla="*/ 0 h 216"/>
                <a:gd name="T26" fmla="*/ 1070 w 1070"/>
                <a:gd name="T27" fmla="*/ 216 h 2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0" h="216">
                  <a:moveTo>
                    <a:pt x="0" y="216"/>
                  </a:moveTo>
                  <a:cubicBezTo>
                    <a:pt x="54" y="114"/>
                    <a:pt x="108" y="12"/>
                    <a:pt x="164" y="6"/>
                  </a:cubicBezTo>
                  <a:cubicBezTo>
                    <a:pt x="220" y="0"/>
                    <a:pt x="279" y="174"/>
                    <a:pt x="338" y="180"/>
                  </a:cubicBezTo>
                  <a:cubicBezTo>
                    <a:pt x="397" y="186"/>
                    <a:pt x="474" y="48"/>
                    <a:pt x="521" y="43"/>
                  </a:cubicBezTo>
                  <a:cubicBezTo>
                    <a:pt x="568" y="38"/>
                    <a:pt x="579" y="146"/>
                    <a:pt x="622" y="152"/>
                  </a:cubicBezTo>
                  <a:cubicBezTo>
                    <a:pt x="665" y="158"/>
                    <a:pt x="731" y="83"/>
                    <a:pt x="777" y="79"/>
                  </a:cubicBezTo>
                  <a:cubicBezTo>
                    <a:pt x="823" y="75"/>
                    <a:pt x="847" y="124"/>
                    <a:pt x="896" y="125"/>
                  </a:cubicBezTo>
                  <a:cubicBezTo>
                    <a:pt x="945" y="126"/>
                    <a:pt x="1007" y="107"/>
                    <a:pt x="1070" y="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126029" name="Group 110"/>
            <p:cNvGrpSpPr>
              <a:grpSpLocks/>
            </p:cNvGrpSpPr>
            <p:nvPr/>
          </p:nvGrpSpPr>
          <p:grpSpPr bwMode="auto">
            <a:xfrm>
              <a:off x="3624" y="1009"/>
              <a:ext cx="391" cy="268"/>
              <a:chOff x="1584" y="816"/>
              <a:chExt cx="912" cy="816"/>
            </a:xfrm>
          </p:grpSpPr>
          <p:sp>
            <p:nvSpPr>
              <p:cNvPr id="126030" name="Freeform 111"/>
              <p:cNvSpPr>
                <a:spLocks/>
              </p:cNvSpPr>
              <p:nvPr/>
            </p:nvSpPr>
            <p:spPr bwMode="auto">
              <a:xfrm>
                <a:off x="2352" y="1056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31" name="Freeform 112"/>
              <p:cNvSpPr>
                <a:spLocks/>
              </p:cNvSpPr>
              <p:nvPr/>
            </p:nvSpPr>
            <p:spPr bwMode="auto">
              <a:xfrm>
                <a:off x="2160" y="912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32" name="Freeform 113"/>
              <p:cNvSpPr>
                <a:spLocks/>
              </p:cNvSpPr>
              <p:nvPr/>
            </p:nvSpPr>
            <p:spPr bwMode="auto">
              <a:xfrm>
                <a:off x="1920" y="816"/>
                <a:ext cx="144" cy="288"/>
              </a:xfrm>
              <a:custGeom>
                <a:avLst/>
                <a:gdLst>
                  <a:gd name="T0" fmla="*/ 0 w 144"/>
                  <a:gd name="T1" fmla="*/ 3 h 336"/>
                  <a:gd name="T2" fmla="*/ 96 w 144"/>
                  <a:gd name="T3" fmla="*/ 0 h 336"/>
                  <a:gd name="T4" fmla="*/ 144 w 144"/>
                  <a:gd name="T5" fmla="*/ 3 h 336"/>
                  <a:gd name="T6" fmla="*/ 144 w 144"/>
                  <a:gd name="T7" fmla="*/ 21 h 336"/>
                  <a:gd name="T8" fmla="*/ 96 w 144"/>
                  <a:gd name="T9" fmla="*/ 18 h 336"/>
                  <a:gd name="T10" fmla="*/ 96 w 144"/>
                  <a:gd name="T11" fmla="*/ 6 h 336"/>
                  <a:gd name="T12" fmla="*/ 0 w 144"/>
                  <a:gd name="T13" fmla="*/ 9 h 336"/>
                  <a:gd name="T14" fmla="*/ 0 w 144"/>
                  <a:gd name="T15" fmla="*/ 3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33" name="Freeform 114"/>
              <p:cNvSpPr>
                <a:spLocks/>
              </p:cNvSpPr>
              <p:nvPr/>
            </p:nvSpPr>
            <p:spPr bwMode="auto">
              <a:xfrm>
                <a:off x="1659" y="816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34" name="Freeform 115"/>
              <p:cNvSpPr>
                <a:spLocks/>
              </p:cNvSpPr>
              <p:nvPr/>
            </p:nvSpPr>
            <p:spPr bwMode="auto">
              <a:xfrm>
                <a:off x="1669" y="912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35" name="Freeform 116"/>
              <p:cNvSpPr>
                <a:spLocks/>
              </p:cNvSpPr>
              <p:nvPr/>
            </p:nvSpPr>
            <p:spPr bwMode="auto">
              <a:xfrm>
                <a:off x="2144" y="1152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36" name="Freeform 117"/>
              <p:cNvSpPr>
                <a:spLocks/>
              </p:cNvSpPr>
              <p:nvPr/>
            </p:nvSpPr>
            <p:spPr bwMode="auto">
              <a:xfrm>
                <a:off x="1920" y="1296"/>
                <a:ext cx="240" cy="336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2 h 432"/>
                  <a:gd name="T4" fmla="*/ 1 w 336"/>
                  <a:gd name="T5" fmla="*/ 2 h 432"/>
                  <a:gd name="T6" fmla="*/ 1 w 336"/>
                  <a:gd name="T7" fmla="*/ 4 h 432"/>
                  <a:gd name="T8" fmla="*/ 0 w 336"/>
                  <a:gd name="T9" fmla="*/ 3 h 432"/>
                  <a:gd name="T10" fmla="*/ 0 w 336"/>
                  <a:gd name="T11" fmla="*/ 2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37" name="Freeform 118"/>
              <p:cNvSpPr>
                <a:spLocks/>
              </p:cNvSpPr>
              <p:nvPr/>
            </p:nvSpPr>
            <p:spPr bwMode="auto">
              <a:xfrm>
                <a:off x="1728" y="1152"/>
                <a:ext cx="240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38" name="Freeform 119"/>
              <p:cNvSpPr>
                <a:spLocks/>
              </p:cNvSpPr>
              <p:nvPr/>
            </p:nvSpPr>
            <p:spPr bwMode="auto">
              <a:xfrm>
                <a:off x="1584" y="1008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</p:grpSp>
      <p:sp>
        <p:nvSpPr>
          <p:cNvPr id="125979" name="Text Box 151"/>
          <p:cNvSpPr txBox="1">
            <a:spLocks noChangeArrowheads="1"/>
          </p:cNvSpPr>
          <p:nvPr/>
        </p:nvSpPr>
        <p:spPr bwMode="auto">
          <a:xfrm>
            <a:off x="2338388" y="3322638"/>
            <a:ext cx="4816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endParaRPr lang="en-US" sz="28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63800" name="Text Box 152"/>
          <p:cNvSpPr txBox="1">
            <a:spLocks noChangeArrowheads="1"/>
          </p:cNvSpPr>
          <p:nvPr/>
        </p:nvSpPr>
        <p:spPr bwMode="auto">
          <a:xfrm>
            <a:off x="1236663" y="4818063"/>
            <a:ext cx="6605587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Obstruction-free:</a:t>
            </a:r>
            <a:r>
              <a:rPr lang="en-US" sz="2800" b="0" i="1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800" b="0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the method returns if it executes in isolation for long enough. </a:t>
            </a:r>
          </a:p>
        </p:txBody>
      </p:sp>
      <p:grpSp>
        <p:nvGrpSpPr>
          <p:cNvPr id="4" name="Group 120"/>
          <p:cNvGrpSpPr>
            <a:grpSpLocks/>
          </p:cNvGrpSpPr>
          <p:nvPr/>
        </p:nvGrpSpPr>
        <p:grpSpPr bwMode="auto">
          <a:xfrm>
            <a:off x="1101725" y="1751013"/>
            <a:ext cx="5294313" cy="466725"/>
            <a:chOff x="689" y="1009"/>
            <a:chExt cx="3335" cy="294"/>
          </a:xfrm>
        </p:grpSpPr>
        <p:sp>
          <p:nvSpPr>
            <p:cNvPr id="126017" name="Freeform 109"/>
            <p:cNvSpPr>
              <a:spLocks/>
            </p:cNvSpPr>
            <p:nvPr/>
          </p:nvSpPr>
          <p:spPr bwMode="auto">
            <a:xfrm>
              <a:off x="689" y="1012"/>
              <a:ext cx="2888" cy="291"/>
            </a:xfrm>
            <a:custGeom>
              <a:avLst/>
              <a:gdLst>
                <a:gd name="T0" fmla="*/ 0 w 1070"/>
                <a:gd name="T1" fmla="*/ 1799 h 216"/>
                <a:gd name="T2" fmla="*/ 2147483647 w 1070"/>
                <a:gd name="T3" fmla="*/ 53 h 216"/>
                <a:gd name="T4" fmla="*/ 2147483647 w 1070"/>
                <a:gd name="T5" fmla="*/ 1501 h 216"/>
                <a:gd name="T6" fmla="*/ 2147483647 w 1070"/>
                <a:gd name="T7" fmla="*/ 362 h 216"/>
                <a:gd name="T8" fmla="*/ 2147483647 w 1070"/>
                <a:gd name="T9" fmla="*/ 1263 h 216"/>
                <a:gd name="T10" fmla="*/ 2147483647 w 1070"/>
                <a:gd name="T11" fmla="*/ 664 h 216"/>
                <a:gd name="T12" fmla="*/ 2147483647 w 1070"/>
                <a:gd name="T13" fmla="*/ 1043 h 216"/>
                <a:gd name="T14" fmla="*/ 2147483647 w 1070"/>
                <a:gd name="T15" fmla="*/ 732 h 2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0"/>
                <a:gd name="T25" fmla="*/ 0 h 216"/>
                <a:gd name="T26" fmla="*/ 1070 w 1070"/>
                <a:gd name="T27" fmla="*/ 216 h 2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0" h="216">
                  <a:moveTo>
                    <a:pt x="0" y="216"/>
                  </a:moveTo>
                  <a:cubicBezTo>
                    <a:pt x="54" y="114"/>
                    <a:pt x="108" y="12"/>
                    <a:pt x="164" y="6"/>
                  </a:cubicBezTo>
                  <a:cubicBezTo>
                    <a:pt x="220" y="0"/>
                    <a:pt x="279" y="174"/>
                    <a:pt x="338" y="180"/>
                  </a:cubicBezTo>
                  <a:cubicBezTo>
                    <a:pt x="397" y="186"/>
                    <a:pt x="474" y="48"/>
                    <a:pt x="521" y="43"/>
                  </a:cubicBezTo>
                  <a:cubicBezTo>
                    <a:pt x="568" y="38"/>
                    <a:pt x="579" y="146"/>
                    <a:pt x="622" y="152"/>
                  </a:cubicBezTo>
                  <a:cubicBezTo>
                    <a:pt x="665" y="158"/>
                    <a:pt x="731" y="83"/>
                    <a:pt x="777" y="79"/>
                  </a:cubicBezTo>
                  <a:cubicBezTo>
                    <a:pt x="823" y="75"/>
                    <a:pt x="847" y="124"/>
                    <a:pt x="896" y="125"/>
                  </a:cubicBezTo>
                  <a:cubicBezTo>
                    <a:pt x="945" y="126"/>
                    <a:pt x="1007" y="107"/>
                    <a:pt x="1070" y="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126018" name="Group 110"/>
            <p:cNvGrpSpPr>
              <a:grpSpLocks/>
            </p:cNvGrpSpPr>
            <p:nvPr/>
          </p:nvGrpSpPr>
          <p:grpSpPr bwMode="auto">
            <a:xfrm>
              <a:off x="3630" y="1009"/>
              <a:ext cx="394" cy="266"/>
              <a:chOff x="1584" y="816"/>
              <a:chExt cx="912" cy="816"/>
            </a:xfrm>
          </p:grpSpPr>
          <p:sp>
            <p:nvSpPr>
              <p:cNvPr id="126019" name="Freeform 111"/>
              <p:cNvSpPr>
                <a:spLocks/>
              </p:cNvSpPr>
              <p:nvPr/>
            </p:nvSpPr>
            <p:spPr bwMode="auto">
              <a:xfrm>
                <a:off x="2352" y="1056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20" name="Freeform 112"/>
              <p:cNvSpPr>
                <a:spLocks/>
              </p:cNvSpPr>
              <p:nvPr/>
            </p:nvSpPr>
            <p:spPr bwMode="auto">
              <a:xfrm>
                <a:off x="2160" y="912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21" name="Freeform 113"/>
              <p:cNvSpPr>
                <a:spLocks/>
              </p:cNvSpPr>
              <p:nvPr/>
            </p:nvSpPr>
            <p:spPr bwMode="auto">
              <a:xfrm>
                <a:off x="1920" y="816"/>
                <a:ext cx="144" cy="288"/>
              </a:xfrm>
              <a:custGeom>
                <a:avLst/>
                <a:gdLst>
                  <a:gd name="T0" fmla="*/ 0 w 144"/>
                  <a:gd name="T1" fmla="*/ 3 h 336"/>
                  <a:gd name="T2" fmla="*/ 96 w 144"/>
                  <a:gd name="T3" fmla="*/ 0 h 336"/>
                  <a:gd name="T4" fmla="*/ 144 w 144"/>
                  <a:gd name="T5" fmla="*/ 3 h 336"/>
                  <a:gd name="T6" fmla="*/ 144 w 144"/>
                  <a:gd name="T7" fmla="*/ 21 h 336"/>
                  <a:gd name="T8" fmla="*/ 96 w 144"/>
                  <a:gd name="T9" fmla="*/ 18 h 336"/>
                  <a:gd name="T10" fmla="*/ 96 w 144"/>
                  <a:gd name="T11" fmla="*/ 6 h 336"/>
                  <a:gd name="T12" fmla="*/ 0 w 144"/>
                  <a:gd name="T13" fmla="*/ 9 h 336"/>
                  <a:gd name="T14" fmla="*/ 0 w 144"/>
                  <a:gd name="T15" fmla="*/ 3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22" name="Freeform 114"/>
              <p:cNvSpPr>
                <a:spLocks/>
              </p:cNvSpPr>
              <p:nvPr/>
            </p:nvSpPr>
            <p:spPr bwMode="auto">
              <a:xfrm>
                <a:off x="1659" y="816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23" name="Freeform 115"/>
              <p:cNvSpPr>
                <a:spLocks/>
              </p:cNvSpPr>
              <p:nvPr/>
            </p:nvSpPr>
            <p:spPr bwMode="auto">
              <a:xfrm>
                <a:off x="1669" y="912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24" name="Freeform 116"/>
              <p:cNvSpPr>
                <a:spLocks/>
              </p:cNvSpPr>
              <p:nvPr/>
            </p:nvSpPr>
            <p:spPr bwMode="auto">
              <a:xfrm>
                <a:off x="2144" y="1152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25" name="Freeform 117"/>
              <p:cNvSpPr>
                <a:spLocks/>
              </p:cNvSpPr>
              <p:nvPr/>
            </p:nvSpPr>
            <p:spPr bwMode="auto">
              <a:xfrm>
                <a:off x="1920" y="1296"/>
                <a:ext cx="240" cy="336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2 h 432"/>
                  <a:gd name="T4" fmla="*/ 1 w 336"/>
                  <a:gd name="T5" fmla="*/ 2 h 432"/>
                  <a:gd name="T6" fmla="*/ 1 w 336"/>
                  <a:gd name="T7" fmla="*/ 4 h 432"/>
                  <a:gd name="T8" fmla="*/ 0 w 336"/>
                  <a:gd name="T9" fmla="*/ 3 h 432"/>
                  <a:gd name="T10" fmla="*/ 0 w 336"/>
                  <a:gd name="T11" fmla="*/ 2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26" name="Freeform 118"/>
              <p:cNvSpPr>
                <a:spLocks/>
              </p:cNvSpPr>
              <p:nvPr/>
            </p:nvSpPr>
            <p:spPr bwMode="auto">
              <a:xfrm>
                <a:off x="1728" y="1152"/>
                <a:ext cx="240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27" name="Freeform 119"/>
              <p:cNvSpPr>
                <a:spLocks/>
              </p:cNvSpPr>
              <p:nvPr/>
            </p:nvSpPr>
            <p:spPr bwMode="auto">
              <a:xfrm>
                <a:off x="1584" y="1008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6" name="Group 88"/>
          <p:cNvGrpSpPr>
            <a:grpSpLocks/>
          </p:cNvGrpSpPr>
          <p:nvPr/>
        </p:nvGrpSpPr>
        <p:grpSpPr bwMode="auto">
          <a:xfrm>
            <a:off x="5695950" y="2519363"/>
            <a:ext cx="771525" cy="800100"/>
            <a:chOff x="3676" y="942"/>
            <a:chExt cx="367" cy="431"/>
          </a:xfrm>
        </p:grpSpPr>
        <p:grpSp>
          <p:nvGrpSpPr>
            <p:cNvPr id="126006" name="Group 89"/>
            <p:cNvGrpSpPr>
              <a:grpSpLocks/>
            </p:cNvGrpSpPr>
            <p:nvPr/>
          </p:nvGrpSpPr>
          <p:grpSpPr bwMode="auto">
            <a:xfrm>
              <a:off x="3676" y="942"/>
              <a:ext cx="288" cy="212"/>
              <a:chOff x="3676" y="942"/>
              <a:chExt cx="288" cy="212"/>
            </a:xfrm>
          </p:grpSpPr>
          <p:sp>
            <p:nvSpPr>
              <p:cNvPr id="126012" name="Line 90"/>
              <p:cNvSpPr>
                <a:spLocks noChangeShapeType="1"/>
              </p:cNvSpPr>
              <p:nvPr/>
            </p:nvSpPr>
            <p:spPr bwMode="auto">
              <a:xfrm flipV="1">
                <a:off x="3877" y="942"/>
                <a:ext cx="37" cy="11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13" name="Line 91"/>
              <p:cNvSpPr>
                <a:spLocks noChangeShapeType="1"/>
              </p:cNvSpPr>
              <p:nvPr/>
            </p:nvSpPr>
            <p:spPr bwMode="auto">
              <a:xfrm flipH="1">
                <a:off x="3927" y="1071"/>
                <a:ext cx="37" cy="29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14" name="Line 92"/>
              <p:cNvSpPr>
                <a:spLocks noChangeShapeType="1"/>
              </p:cNvSpPr>
              <p:nvPr/>
            </p:nvSpPr>
            <p:spPr bwMode="auto">
              <a:xfrm flipH="1" flipV="1">
                <a:off x="3676" y="1026"/>
                <a:ext cx="88" cy="61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15" name="Line 93"/>
              <p:cNvSpPr>
                <a:spLocks noChangeShapeType="1"/>
              </p:cNvSpPr>
              <p:nvPr/>
            </p:nvSpPr>
            <p:spPr bwMode="auto">
              <a:xfrm>
                <a:off x="3793" y="992"/>
                <a:ext cx="16" cy="62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016" name="Line 94"/>
              <p:cNvSpPr>
                <a:spLocks noChangeShapeType="1"/>
              </p:cNvSpPr>
              <p:nvPr/>
            </p:nvSpPr>
            <p:spPr bwMode="auto">
              <a:xfrm flipV="1">
                <a:off x="3685" y="1150"/>
                <a:ext cx="49" cy="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  <p:sp>
          <p:nvSpPr>
            <p:cNvPr id="126007" name="Line 95"/>
            <p:cNvSpPr>
              <a:spLocks noChangeShapeType="1"/>
            </p:cNvSpPr>
            <p:nvPr/>
          </p:nvSpPr>
          <p:spPr bwMode="auto">
            <a:xfrm>
              <a:off x="3901" y="1255"/>
              <a:ext cx="37" cy="1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6008" name="Line 96"/>
            <p:cNvSpPr>
              <a:spLocks noChangeShapeType="1"/>
            </p:cNvSpPr>
            <p:nvPr/>
          </p:nvSpPr>
          <p:spPr bwMode="auto">
            <a:xfrm flipH="1" flipV="1">
              <a:off x="3951" y="1215"/>
              <a:ext cx="37" cy="2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6009" name="Line 97"/>
            <p:cNvSpPr>
              <a:spLocks noChangeShapeType="1"/>
            </p:cNvSpPr>
            <p:nvPr/>
          </p:nvSpPr>
          <p:spPr bwMode="auto">
            <a:xfrm flipH="1">
              <a:off x="3700" y="1228"/>
              <a:ext cx="88" cy="6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6010" name="Line 98"/>
            <p:cNvSpPr>
              <a:spLocks noChangeShapeType="1"/>
            </p:cNvSpPr>
            <p:nvPr/>
          </p:nvSpPr>
          <p:spPr bwMode="auto">
            <a:xfrm flipV="1">
              <a:off x="3817" y="1261"/>
              <a:ext cx="16" cy="6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6011" name="Line 99"/>
            <p:cNvSpPr>
              <a:spLocks noChangeShapeType="1"/>
            </p:cNvSpPr>
            <p:nvPr/>
          </p:nvSpPr>
          <p:spPr bwMode="auto">
            <a:xfrm flipV="1">
              <a:off x="3949" y="1156"/>
              <a:ext cx="94" cy="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sp>
        <p:nvSpPr>
          <p:cNvPr id="80" name="TextBox 79"/>
          <p:cNvSpPr txBox="1">
            <a:spLocks noChangeArrowheads="1"/>
          </p:cNvSpPr>
          <p:nvPr/>
        </p:nvSpPr>
        <p:spPr bwMode="auto">
          <a:xfrm flipH="1">
            <a:off x="1617663" y="3544888"/>
            <a:ext cx="58420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b="0">
                <a:solidFill>
                  <a:srgbClr val="0000FF"/>
                </a:solidFill>
                <a:latin typeface="Arial"/>
                <a:cs typeface="Arial"/>
              </a:rPr>
              <a:t>Snapshot: if all nodes traversed                twice are the same  </a:t>
            </a:r>
          </a:p>
        </p:txBody>
      </p:sp>
      <p:grpSp>
        <p:nvGrpSpPr>
          <p:cNvPr id="8" name="Group 110"/>
          <p:cNvGrpSpPr>
            <a:grpSpLocks/>
          </p:cNvGrpSpPr>
          <p:nvPr/>
        </p:nvGrpSpPr>
        <p:grpSpPr bwMode="auto">
          <a:xfrm>
            <a:off x="7132638" y="5446713"/>
            <a:ext cx="946150" cy="968375"/>
            <a:chOff x="7132387" y="5447298"/>
            <a:chExt cx="946150" cy="968375"/>
          </a:xfrm>
        </p:grpSpPr>
        <p:grpSp>
          <p:nvGrpSpPr>
            <p:cNvPr id="125997" name="Group 13"/>
            <p:cNvGrpSpPr>
              <a:grpSpLocks/>
            </p:cNvGrpSpPr>
            <p:nvPr/>
          </p:nvGrpSpPr>
          <p:grpSpPr bwMode="auto">
            <a:xfrm>
              <a:off x="7132387" y="5447298"/>
              <a:ext cx="946150" cy="968375"/>
              <a:chOff x="764" y="2340"/>
              <a:chExt cx="596" cy="610"/>
            </a:xfrm>
          </p:grpSpPr>
          <p:sp>
            <p:nvSpPr>
              <p:cNvPr id="125999" name="Oval 6"/>
              <p:cNvSpPr>
                <a:spLocks noChangeArrowheads="1"/>
              </p:cNvSpPr>
              <p:nvPr/>
            </p:nvSpPr>
            <p:spPr bwMode="auto">
              <a:xfrm>
                <a:off x="764" y="2340"/>
                <a:ext cx="596" cy="610"/>
              </a:xfrm>
              <a:prstGeom prst="ellipse">
                <a:avLst/>
              </a:prstGeom>
              <a:solidFill>
                <a:srgbClr val="CF0E30"/>
              </a:solidFill>
              <a:ln w="12700">
                <a:solidFill>
                  <a:srgbClr val="CF0E3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>
                  <a:latin typeface="Arial"/>
                  <a:cs typeface="Arial"/>
                </a:endParaRPr>
              </a:p>
            </p:txBody>
          </p:sp>
          <p:sp>
            <p:nvSpPr>
              <p:cNvPr id="126000" name="Oval 7"/>
              <p:cNvSpPr>
                <a:spLocks noChangeArrowheads="1"/>
              </p:cNvSpPr>
              <p:nvPr/>
            </p:nvSpPr>
            <p:spPr bwMode="auto">
              <a:xfrm>
                <a:off x="838" y="2408"/>
                <a:ext cx="449" cy="47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>
                  <a:latin typeface="Arial"/>
                  <a:cs typeface="Arial"/>
                </a:endParaRPr>
              </a:p>
            </p:txBody>
          </p:sp>
          <p:sp>
            <p:nvSpPr>
              <p:cNvPr id="126001" name="Oval 8"/>
              <p:cNvSpPr>
                <a:spLocks noChangeArrowheads="1"/>
              </p:cNvSpPr>
              <p:nvPr/>
            </p:nvSpPr>
            <p:spPr bwMode="auto">
              <a:xfrm>
                <a:off x="921" y="2446"/>
                <a:ext cx="285" cy="291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>
                  <a:latin typeface="Arial"/>
                  <a:cs typeface="Arial"/>
                </a:endParaRPr>
              </a:p>
            </p:txBody>
          </p:sp>
          <p:sp>
            <p:nvSpPr>
              <p:cNvPr id="126002" name="Oval 9"/>
              <p:cNvSpPr>
                <a:spLocks noChangeArrowheads="1"/>
              </p:cNvSpPr>
              <p:nvPr/>
            </p:nvSpPr>
            <p:spPr bwMode="auto">
              <a:xfrm>
                <a:off x="962" y="2485"/>
                <a:ext cx="200" cy="229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>
                  <a:latin typeface="Arial"/>
                  <a:cs typeface="Arial"/>
                </a:endParaRPr>
              </a:p>
            </p:txBody>
          </p:sp>
          <p:sp>
            <p:nvSpPr>
              <p:cNvPr id="126003" name="Oval 10"/>
              <p:cNvSpPr>
                <a:spLocks noChangeArrowheads="1"/>
              </p:cNvSpPr>
              <p:nvPr/>
            </p:nvSpPr>
            <p:spPr bwMode="auto">
              <a:xfrm>
                <a:off x="923" y="2563"/>
                <a:ext cx="283" cy="285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>
                  <a:latin typeface="Arial"/>
                  <a:cs typeface="Arial"/>
                </a:endParaRPr>
              </a:p>
            </p:txBody>
          </p:sp>
          <p:sp>
            <p:nvSpPr>
              <p:cNvPr id="126004" name="Oval 11"/>
              <p:cNvSpPr>
                <a:spLocks noChangeArrowheads="1"/>
              </p:cNvSpPr>
              <p:nvPr/>
            </p:nvSpPr>
            <p:spPr bwMode="auto">
              <a:xfrm>
                <a:off x="1012" y="2622"/>
                <a:ext cx="102" cy="9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>
                  <a:latin typeface="Arial"/>
                  <a:cs typeface="Arial"/>
                </a:endParaRPr>
              </a:p>
            </p:txBody>
          </p:sp>
          <p:sp>
            <p:nvSpPr>
              <p:cNvPr id="126005" name="AutoShape 12"/>
              <p:cNvSpPr>
                <a:spLocks noChangeArrowheads="1"/>
              </p:cNvSpPr>
              <p:nvPr/>
            </p:nvSpPr>
            <p:spPr bwMode="auto">
              <a:xfrm flipV="1">
                <a:off x="1033" y="2703"/>
                <a:ext cx="68" cy="8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47 w 21600"/>
                  <a:gd name="T13" fmla="*/ 4574 h 21600"/>
                  <a:gd name="T14" fmla="*/ 17153 w 21600"/>
                  <a:gd name="T15" fmla="*/ 1702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399" y="21600"/>
                    </a:lnTo>
                    <a:lnTo>
                      <a:pt x="16201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b="0">
                  <a:latin typeface="Arial"/>
                  <a:cs typeface="Arial"/>
                </a:endParaRPr>
              </a:p>
            </p:txBody>
          </p:sp>
        </p:grpSp>
        <p:cxnSp>
          <p:nvCxnSpPr>
            <p:cNvPr id="125998" name="Straight Connector 99"/>
            <p:cNvCxnSpPr>
              <a:cxnSpLocks noChangeShapeType="1"/>
              <a:stCxn id="126000" idx="1"/>
              <a:endCxn id="125999" idx="5"/>
            </p:cNvCxnSpPr>
            <p:nvPr/>
          </p:nvCxnSpPr>
          <p:spPr bwMode="auto">
            <a:xfrm rot="16200000" flipH="1">
              <a:off x="7342904" y="5676787"/>
              <a:ext cx="608413" cy="585729"/>
            </a:xfrm>
            <a:prstGeom prst="line">
              <a:avLst/>
            </a:prstGeom>
            <a:noFill/>
            <a:ln w="889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" name="Group 120"/>
          <p:cNvGrpSpPr>
            <a:grpSpLocks/>
          </p:cNvGrpSpPr>
          <p:nvPr/>
        </p:nvGrpSpPr>
        <p:grpSpPr bwMode="auto">
          <a:xfrm>
            <a:off x="1109663" y="1506538"/>
            <a:ext cx="5294313" cy="463550"/>
            <a:chOff x="689" y="1011"/>
            <a:chExt cx="3335" cy="292"/>
          </a:xfrm>
        </p:grpSpPr>
        <p:sp>
          <p:nvSpPr>
            <p:cNvPr id="125986" name="Freeform 109"/>
            <p:cNvSpPr>
              <a:spLocks/>
            </p:cNvSpPr>
            <p:nvPr/>
          </p:nvSpPr>
          <p:spPr bwMode="auto">
            <a:xfrm>
              <a:off x="689" y="1012"/>
              <a:ext cx="2888" cy="291"/>
            </a:xfrm>
            <a:custGeom>
              <a:avLst/>
              <a:gdLst>
                <a:gd name="T0" fmla="*/ 0 w 1070"/>
                <a:gd name="T1" fmla="*/ 1799 h 216"/>
                <a:gd name="T2" fmla="*/ 2147483647 w 1070"/>
                <a:gd name="T3" fmla="*/ 53 h 216"/>
                <a:gd name="T4" fmla="*/ 2147483647 w 1070"/>
                <a:gd name="T5" fmla="*/ 1501 h 216"/>
                <a:gd name="T6" fmla="*/ 2147483647 w 1070"/>
                <a:gd name="T7" fmla="*/ 362 h 216"/>
                <a:gd name="T8" fmla="*/ 2147483647 w 1070"/>
                <a:gd name="T9" fmla="*/ 1263 h 216"/>
                <a:gd name="T10" fmla="*/ 2147483647 w 1070"/>
                <a:gd name="T11" fmla="*/ 664 h 216"/>
                <a:gd name="T12" fmla="*/ 2147483647 w 1070"/>
                <a:gd name="T13" fmla="*/ 1043 h 216"/>
                <a:gd name="T14" fmla="*/ 2147483647 w 1070"/>
                <a:gd name="T15" fmla="*/ 732 h 2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0"/>
                <a:gd name="T25" fmla="*/ 0 h 216"/>
                <a:gd name="T26" fmla="*/ 1070 w 1070"/>
                <a:gd name="T27" fmla="*/ 216 h 2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0" h="216">
                  <a:moveTo>
                    <a:pt x="0" y="216"/>
                  </a:moveTo>
                  <a:cubicBezTo>
                    <a:pt x="54" y="114"/>
                    <a:pt x="108" y="12"/>
                    <a:pt x="164" y="6"/>
                  </a:cubicBezTo>
                  <a:cubicBezTo>
                    <a:pt x="220" y="0"/>
                    <a:pt x="279" y="174"/>
                    <a:pt x="338" y="180"/>
                  </a:cubicBezTo>
                  <a:cubicBezTo>
                    <a:pt x="397" y="186"/>
                    <a:pt x="474" y="48"/>
                    <a:pt x="521" y="43"/>
                  </a:cubicBezTo>
                  <a:cubicBezTo>
                    <a:pt x="568" y="38"/>
                    <a:pt x="579" y="146"/>
                    <a:pt x="622" y="152"/>
                  </a:cubicBezTo>
                  <a:cubicBezTo>
                    <a:pt x="665" y="158"/>
                    <a:pt x="731" y="83"/>
                    <a:pt x="777" y="79"/>
                  </a:cubicBezTo>
                  <a:cubicBezTo>
                    <a:pt x="823" y="75"/>
                    <a:pt x="847" y="124"/>
                    <a:pt x="896" y="125"/>
                  </a:cubicBezTo>
                  <a:cubicBezTo>
                    <a:pt x="945" y="126"/>
                    <a:pt x="1007" y="107"/>
                    <a:pt x="1070" y="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125987" name="Group 110"/>
            <p:cNvGrpSpPr>
              <a:grpSpLocks/>
            </p:cNvGrpSpPr>
            <p:nvPr/>
          </p:nvGrpSpPr>
          <p:grpSpPr bwMode="auto">
            <a:xfrm>
              <a:off x="3630" y="1011"/>
              <a:ext cx="394" cy="266"/>
              <a:chOff x="1584" y="816"/>
              <a:chExt cx="912" cy="816"/>
            </a:xfrm>
          </p:grpSpPr>
          <p:sp>
            <p:nvSpPr>
              <p:cNvPr id="125988" name="Freeform 111"/>
              <p:cNvSpPr>
                <a:spLocks/>
              </p:cNvSpPr>
              <p:nvPr/>
            </p:nvSpPr>
            <p:spPr bwMode="auto">
              <a:xfrm>
                <a:off x="2352" y="1056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5989" name="Freeform 112"/>
              <p:cNvSpPr>
                <a:spLocks/>
              </p:cNvSpPr>
              <p:nvPr/>
            </p:nvSpPr>
            <p:spPr bwMode="auto">
              <a:xfrm>
                <a:off x="2160" y="912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5990" name="Freeform 113"/>
              <p:cNvSpPr>
                <a:spLocks/>
              </p:cNvSpPr>
              <p:nvPr/>
            </p:nvSpPr>
            <p:spPr bwMode="auto">
              <a:xfrm>
                <a:off x="1920" y="816"/>
                <a:ext cx="144" cy="288"/>
              </a:xfrm>
              <a:custGeom>
                <a:avLst/>
                <a:gdLst>
                  <a:gd name="T0" fmla="*/ 0 w 144"/>
                  <a:gd name="T1" fmla="*/ 3 h 336"/>
                  <a:gd name="T2" fmla="*/ 96 w 144"/>
                  <a:gd name="T3" fmla="*/ 0 h 336"/>
                  <a:gd name="T4" fmla="*/ 144 w 144"/>
                  <a:gd name="T5" fmla="*/ 3 h 336"/>
                  <a:gd name="T6" fmla="*/ 144 w 144"/>
                  <a:gd name="T7" fmla="*/ 21 h 336"/>
                  <a:gd name="T8" fmla="*/ 96 w 144"/>
                  <a:gd name="T9" fmla="*/ 18 h 336"/>
                  <a:gd name="T10" fmla="*/ 96 w 144"/>
                  <a:gd name="T11" fmla="*/ 6 h 336"/>
                  <a:gd name="T12" fmla="*/ 0 w 144"/>
                  <a:gd name="T13" fmla="*/ 9 h 336"/>
                  <a:gd name="T14" fmla="*/ 0 w 144"/>
                  <a:gd name="T15" fmla="*/ 3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5991" name="Freeform 114"/>
              <p:cNvSpPr>
                <a:spLocks/>
              </p:cNvSpPr>
              <p:nvPr/>
            </p:nvSpPr>
            <p:spPr bwMode="auto">
              <a:xfrm>
                <a:off x="1659" y="816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5992" name="Freeform 115"/>
              <p:cNvSpPr>
                <a:spLocks/>
              </p:cNvSpPr>
              <p:nvPr/>
            </p:nvSpPr>
            <p:spPr bwMode="auto">
              <a:xfrm>
                <a:off x="1669" y="912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5993" name="Freeform 116"/>
              <p:cNvSpPr>
                <a:spLocks/>
              </p:cNvSpPr>
              <p:nvPr/>
            </p:nvSpPr>
            <p:spPr bwMode="auto">
              <a:xfrm>
                <a:off x="2144" y="1152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5994" name="Freeform 117"/>
              <p:cNvSpPr>
                <a:spLocks/>
              </p:cNvSpPr>
              <p:nvPr/>
            </p:nvSpPr>
            <p:spPr bwMode="auto">
              <a:xfrm>
                <a:off x="1920" y="1296"/>
                <a:ext cx="240" cy="336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2 h 432"/>
                  <a:gd name="T4" fmla="*/ 1 w 336"/>
                  <a:gd name="T5" fmla="*/ 2 h 432"/>
                  <a:gd name="T6" fmla="*/ 1 w 336"/>
                  <a:gd name="T7" fmla="*/ 4 h 432"/>
                  <a:gd name="T8" fmla="*/ 0 w 336"/>
                  <a:gd name="T9" fmla="*/ 3 h 432"/>
                  <a:gd name="T10" fmla="*/ 0 w 336"/>
                  <a:gd name="T11" fmla="*/ 2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5995" name="Freeform 118"/>
              <p:cNvSpPr>
                <a:spLocks/>
              </p:cNvSpPr>
              <p:nvPr/>
            </p:nvSpPr>
            <p:spPr bwMode="auto">
              <a:xfrm>
                <a:off x="1728" y="1152"/>
                <a:ext cx="240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5996" name="Freeform 119"/>
              <p:cNvSpPr>
                <a:spLocks/>
              </p:cNvSpPr>
              <p:nvPr/>
            </p:nvSpPr>
            <p:spPr bwMode="auto">
              <a:xfrm>
                <a:off x="1584" y="1008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904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15A8DA3C-3506-524A-845F-09C91F459ACC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121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69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The Simple Snapshot is Obstruction-Free</a:t>
            </a:r>
          </a:p>
        </p:txBody>
      </p:sp>
      <p:sp>
        <p:nvSpPr>
          <p:cNvPr id="12698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Put increasing labels on each entry</a:t>
            </a:r>
          </a:p>
          <a:p>
            <a:r>
              <a:rPr lang="en-US">
                <a:latin typeface="Arial"/>
                <a:ea typeface="ＭＳ Ｐゴシック" charset="0"/>
                <a:cs typeface="Arial"/>
              </a:rPr>
              <a:t>Collect twice</a:t>
            </a:r>
          </a:p>
          <a:p>
            <a:r>
              <a:rPr lang="en-US">
                <a:latin typeface="Arial"/>
                <a:ea typeface="ＭＳ Ｐゴシック" charset="0"/>
                <a:cs typeface="Arial"/>
              </a:rPr>
              <a:t>If both agree,</a:t>
            </a:r>
          </a:p>
          <a:p>
            <a:pPr lvl="1"/>
            <a:r>
              <a:rPr lang="en-US">
                <a:latin typeface="Arial"/>
                <a:ea typeface="ＭＳ Ｐゴシック" charset="0"/>
                <a:cs typeface="Arial"/>
              </a:rPr>
              <a:t>We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’</a:t>
            </a:r>
            <a:r>
              <a:rPr lang="en-US">
                <a:latin typeface="Arial"/>
                <a:ea typeface="ＭＳ Ｐゴシック" charset="0"/>
                <a:cs typeface="Arial"/>
              </a:rPr>
              <a:t>re done</a:t>
            </a:r>
          </a:p>
          <a:p>
            <a:r>
              <a:rPr lang="en-US">
                <a:latin typeface="Arial"/>
                <a:ea typeface="ＭＳ Ｐゴシック" charset="0"/>
                <a:cs typeface="Arial"/>
              </a:rPr>
              <a:t>Otherwise,</a:t>
            </a:r>
          </a:p>
          <a:p>
            <a:pPr lvl="1"/>
            <a:r>
              <a:rPr lang="en-US">
                <a:latin typeface="Arial"/>
                <a:ea typeface="ＭＳ Ｐゴシック" charset="0"/>
                <a:cs typeface="Arial"/>
              </a:rPr>
              <a:t>Try again</a:t>
            </a:r>
          </a:p>
        </p:txBody>
      </p:sp>
      <p:grpSp>
        <p:nvGrpSpPr>
          <p:cNvPr id="126981" name="Group 58"/>
          <p:cNvGrpSpPr>
            <a:grpSpLocks/>
          </p:cNvGrpSpPr>
          <p:nvPr/>
        </p:nvGrpSpPr>
        <p:grpSpPr bwMode="auto">
          <a:xfrm>
            <a:off x="5083175" y="4214813"/>
            <a:ext cx="627063" cy="1914525"/>
            <a:chOff x="3202" y="2638"/>
            <a:chExt cx="395" cy="1206"/>
          </a:xfrm>
        </p:grpSpPr>
        <p:grpSp>
          <p:nvGrpSpPr>
            <p:cNvPr id="127001" name="Group 6"/>
            <p:cNvGrpSpPr>
              <a:grpSpLocks/>
            </p:cNvGrpSpPr>
            <p:nvPr/>
          </p:nvGrpSpPr>
          <p:grpSpPr bwMode="auto">
            <a:xfrm rot="-5400000">
              <a:off x="2799" y="3041"/>
              <a:ext cx="1202" cy="395"/>
              <a:chOff x="1488" y="1872"/>
              <a:chExt cx="2976" cy="384"/>
            </a:xfrm>
          </p:grpSpPr>
          <p:sp>
            <p:nvSpPr>
              <p:cNvPr id="444423" name="Rectangle 7"/>
              <p:cNvSpPr>
                <a:spLocks noChangeArrowheads="1"/>
              </p:cNvSpPr>
              <p:nvPr/>
            </p:nvSpPr>
            <p:spPr bwMode="auto">
              <a:xfrm>
                <a:off x="1487" y="1872"/>
                <a:ext cx="2976" cy="384"/>
              </a:xfrm>
              <a:prstGeom prst="rect">
                <a:avLst/>
              </a:prstGeom>
              <a:solidFill>
                <a:srgbClr val="00FFCC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vert="eaVert" wrap="none" anchor="ctr"/>
              <a:lstStyle/>
              <a:p>
                <a:pPr eaLnBrk="1" hangingPunct="1">
                  <a:defRPr/>
                </a:pPr>
                <a:endParaRPr lang="en-US" sz="1400">
                  <a:solidFill>
                    <a:schemeClr val="tx1"/>
                  </a:solidFill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27010" name="Line 8"/>
              <p:cNvSpPr>
                <a:spLocks noChangeShapeType="1"/>
              </p:cNvSpPr>
              <p:nvPr/>
            </p:nvSpPr>
            <p:spPr bwMode="auto">
              <a:xfrm>
                <a:off x="1872" y="187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7011" name="Line 9"/>
              <p:cNvSpPr>
                <a:spLocks noChangeShapeType="1"/>
              </p:cNvSpPr>
              <p:nvPr/>
            </p:nvSpPr>
            <p:spPr bwMode="auto">
              <a:xfrm>
                <a:off x="2304" y="187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7012" name="Line 10"/>
              <p:cNvSpPr>
                <a:spLocks noChangeShapeType="1"/>
              </p:cNvSpPr>
              <p:nvPr/>
            </p:nvSpPr>
            <p:spPr bwMode="auto">
              <a:xfrm>
                <a:off x="2736" y="187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7013" name="Line 11"/>
              <p:cNvSpPr>
                <a:spLocks noChangeShapeType="1"/>
              </p:cNvSpPr>
              <p:nvPr/>
            </p:nvSpPr>
            <p:spPr bwMode="auto">
              <a:xfrm>
                <a:off x="3168" y="187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7014" name="Line 12"/>
              <p:cNvSpPr>
                <a:spLocks noChangeShapeType="1"/>
              </p:cNvSpPr>
              <p:nvPr/>
            </p:nvSpPr>
            <p:spPr bwMode="auto">
              <a:xfrm>
                <a:off x="3600" y="187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7015" name="Line 13"/>
              <p:cNvSpPr>
                <a:spLocks noChangeShapeType="1"/>
              </p:cNvSpPr>
              <p:nvPr/>
            </p:nvSpPr>
            <p:spPr bwMode="auto">
              <a:xfrm>
                <a:off x="4032" y="187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  <p:sp>
          <p:nvSpPr>
            <p:cNvPr id="127002" name="Text Box 14"/>
            <p:cNvSpPr txBox="1">
              <a:spLocks noChangeArrowheads="1"/>
            </p:cNvSpPr>
            <p:nvPr/>
          </p:nvSpPr>
          <p:spPr bwMode="auto">
            <a:xfrm>
              <a:off x="3293" y="2638"/>
              <a:ext cx="1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7003" name="Text Box 15"/>
            <p:cNvSpPr txBox="1">
              <a:spLocks noChangeArrowheads="1"/>
            </p:cNvSpPr>
            <p:nvPr/>
          </p:nvSpPr>
          <p:spPr bwMode="auto">
            <a:xfrm>
              <a:off x="3290" y="2828"/>
              <a:ext cx="24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22</a:t>
              </a:r>
            </a:p>
          </p:txBody>
        </p:sp>
        <p:sp>
          <p:nvSpPr>
            <p:cNvPr id="127004" name="Text Box 16"/>
            <p:cNvSpPr txBox="1">
              <a:spLocks noChangeArrowheads="1"/>
            </p:cNvSpPr>
            <p:nvPr/>
          </p:nvSpPr>
          <p:spPr bwMode="auto">
            <a:xfrm>
              <a:off x="3293" y="2954"/>
              <a:ext cx="1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7005" name="Text Box 17"/>
            <p:cNvSpPr txBox="1">
              <a:spLocks noChangeArrowheads="1"/>
            </p:cNvSpPr>
            <p:nvPr/>
          </p:nvSpPr>
          <p:spPr bwMode="auto">
            <a:xfrm>
              <a:off x="3293" y="3144"/>
              <a:ext cx="1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27006" name="Text Box 18"/>
            <p:cNvSpPr txBox="1">
              <a:spLocks noChangeArrowheads="1"/>
            </p:cNvSpPr>
            <p:nvPr/>
          </p:nvSpPr>
          <p:spPr bwMode="auto">
            <a:xfrm>
              <a:off x="3290" y="3334"/>
              <a:ext cx="24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127007" name="Text Box 19"/>
            <p:cNvSpPr txBox="1">
              <a:spLocks noChangeArrowheads="1"/>
            </p:cNvSpPr>
            <p:nvPr/>
          </p:nvSpPr>
          <p:spPr bwMode="auto">
            <a:xfrm>
              <a:off x="3290" y="3523"/>
              <a:ext cx="24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008" name="Text Box 20"/>
            <p:cNvSpPr txBox="1">
              <a:spLocks noChangeArrowheads="1"/>
            </p:cNvSpPr>
            <p:nvPr/>
          </p:nvSpPr>
          <p:spPr bwMode="auto">
            <a:xfrm>
              <a:off x="3290" y="3650"/>
              <a:ext cx="24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12</a:t>
              </a:r>
            </a:p>
          </p:txBody>
        </p:sp>
      </p:grpSp>
      <p:sp>
        <p:nvSpPr>
          <p:cNvPr id="126982" name="Text Box 37"/>
          <p:cNvSpPr txBox="1">
            <a:spLocks noChangeArrowheads="1"/>
          </p:cNvSpPr>
          <p:nvPr/>
        </p:nvSpPr>
        <p:spPr bwMode="auto">
          <a:xfrm>
            <a:off x="5998349" y="4757738"/>
            <a:ext cx="48422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4000">
                <a:solidFill>
                  <a:schemeClr val="tx1"/>
                </a:solidFill>
                <a:latin typeface="Arial"/>
                <a:cs typeface="Arial"/>
              </a:rPr>
              <a:t>=</a:t>
            </a:r>
          </a:p>
        </p:txBody>
      </p:sp>
      <p:sp>
        <p:nvSpPr>
          <p:cNvPr id="126983" name="AutoShape 48"/>
          <p:cNvSpPr>
            <a:spLocks noChangeArrowheads="1"/>
          </p:cNvSpPr>
          <p:nvPr/>
        </p:nvSpPr>
        <p:spPr bwMode="auto">
          <a:xfrm>
            <a:off x="6235700" y="3611563"/>
            <a:ext cx="1627188" cy="373062"/>
          </a:xfrm>
          <a:prstGeom prst="leftRightArrow">
            <a:avLst>
              <a:gd name="adj1" fmla="val 50000"/>
              <a:gd name="adj2" fmla="val 87234"/>
            </a:avLst>
          </a:prstGeom>
          <a:solidFill>
            <a:srgbClr val="CCEC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600">
                <a:latin typeface="Arial"/>
                <a:cs typeface="Arial"/>
              </a:rPr>
              <a:t>Collect2</a:t>
            </a:r>
          </a:p>
        </p:txBody>
      </p:sp>
      <p:sp>
        <p:nvSpPr>
          <p:cNvPr id="126984" name="AutoShape 49"/>
          <p:cNvSpPr>
            <a:spLocks noChangeArrowheads="1"/>
          </p:cNvSpPr>
          <p:nvPr/>
        </p:nvSpPr>
        <p:spPr bwMode="auto">
          <a:xfrm>
            <a:off x="4424363" y="3613150"/>
            <a:ext cx="1627187" cy="373063"/>
          </a:xfrm>
          <a:prstGeom prst="leftRightArrow">
            <a:avLst>
              <a:gd name="adj1" fmla="val 50000"/>
              <a:gd name="adj2" fmla="val 87234"/>
            </a:avLst>
          </a:prstGeom>
          <a:solidFill>
            <a:srgbClr val="CCEC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400">
                <a:latin typeface="Arial"/>
                <a:cs typeface="Arial"/>
              </a:rPr>
              <a:t>Collect1</a:t>
            </a:r>
          </a:p>
        </p:txBody>
      </p:sp>
      <p:grpSp>
        <p:nvGrpSpPr>
          <p:cNvPr id="126985" name="Group 59"/>
          <p:cNvGrpSpPr>
            <a:grpSpLocks/>
          </p:cNvGrpSpPr>
          <p:nvPr/>
        </p:nvGrpSpPr>
        <p:grpSpPr bwMode="auto">
          <a:xfrm>
            <a:off x="6742113" y="4246563"/>
            <a:ext cx="627062" cy="1914525"/>
            <a:chOff x="3202" y="2638"/>
            <a:chExt cx="395" cy="1206"/>
          </a:xfrm>
        </p:grpSpPr>
        <p:grpSp>
          <p:nvGrpSpPr>
            <p:cNvPr id="126986" name="Group 60"/>
            <p:cNvGrpSpPr>
              <a:grpSpLocks/>
            </p:cNvGrpSpPr>
            <p:nvPr/>
          </p:nvGrpSpPr>
          <p:grpSpPr bwMode="auto">
            <a:xfrm rot="-5400000">
              <a:off x="2799" y="3041"/>
              <a:ext cx="1202" cy="395"/>
              <a:chOff x="1488" y="1872"/>
              <a:chExt cx="2976" cy="384"/>
            </a:xfrm>
          </p:grpSpPr>
          <p:sp>
            <p:nvSpPr>
              <p:cNvPr id="444477" name="Rectangle 61"/>
              <p:cNvSpPr>
                <a:spLocks noChangeArrowheads="1"/>
              </p:cNvSpPr>
              <p:nvPr/>
            </p:nvSpPr>
            <p:spPr bwMode="auto">
              <a:xfrm>
                <a:off x="1487" y="1872"/>
                <a:ext cx="2976" cy="384"/>
              </a:xfrm>
              <a:prstGeom prst="rect">
                <a:avLst/>
              </a:prstGeom>
              <a:solidFill>
                <a:srgbClr val="00FFCC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vert="eaVert" wrap="none" anchor="ctr"/>
              <a:lstStyle/>
              <a:p>
                <a:pPr eaLnBrk="1" hangingPunct="1">
                  <a:defRPr/>
                </a:pPr>
                <a:endParaRPr lang="en-US" sz="1400">
                  <a:solidFill>
                    <a:schemeClr val="tx1"/>
                  </a:solidFill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26995" name="Line 62"/>
              <p:cNvSpPr>
                <a:spLocks noChangeShapeType="1"/>
              </p:cNvSpPr>
              <p:nvPr/>
            </p:nvSpPr>
            <p:spPr bwMode="auto">
              <a:xfrm>
                <a:off x="1872" y="187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996" name="Line 63"/>
              <p:cNvSpPr>
                <a:spLocks noChangeShapeType="1"/>
              </p:cNvSpPr>
              <p:nvPr/>
            </p:nvSpPr>
            <p:spPr bwMode="auto">
              <a:xfrm>
                <a:off x="2304" y="187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997" name="Line 64"/>
              <p:cNvSpPr>
                <a:spLocks noChangeShapeType="1"/>
              </p:cNvSpPr>
              <p:nvPr/>
            </p:nvSpPr>
            <p:spPr bwMode="auto">
              <a:xfrm>
                <a:off x="2736" y="187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998" name="Line 65"/>
              <p:cNvSpPr>
                <a:spLocks noChangeShapeType="1"/>
              </p:cNvSpPr>
              <p:nvPr/>
            </p:nvSpPr>
            <p:spPr bwMode="auto">
              <a:xfrm>
                <a:off x="3168" y="187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6999" name="Line 66"/>
              <p:cNvSpPr>
                <a:spLocks noChangeShapeType="1"/>
              </p:cNvSpPr>
              <p:nvPr/>
            </p:nvSpPr>
            <p:spPr bwMode="auto">
              <a:xfrm>
                <a:off x="3600" y="187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7000" name="Line 67"/>
              <p:cNvSpPr>
                <a:spLocks noChangeShapeType="1"/>
              </p:cNvSpPr>
              <p:nvPr/>
            </p:nvSpPr>
            <p:spPr bwMode="auto">
              <a:xfrm>
                <a:off x="4032" y="1872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  <p:sp>
          <p:nvSpPr>
            <p:cNvPr id="126987" name="Text Box 68"/>
            <p:cNvSpPr txBox="1">
              <a:spLocks noChangeArrowheads="1"/>
            </p:cNvSpPr>
            <p:nvPr/>
          </p:nvSpPr>
          <p:spPr bwMode="auto">
            <a:xfrm>
              <a:off x="3293" y="2638"/>
              <a:ext cx="1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6988" name="Text Box 69"/>
            <p:cNvSpPr txBox="1">
              <a:spLocks noChangeArrowheads="1"/>
            </p:cNvSpPr>
            <p:nvPr/>
          </p:nvSpPr>
          <p:spPr bwMode="auto">
            <a:xfrm>
              <a:off x="3290" y="2828"/>
              <a:ext cx="24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22</a:t>
              </a:r>
            </a:p>
          </p:txBody>
        </p:sp>
        <p:sp>
          <p:nvSpPr>
            <p:cNvPr id="126989" name="Text Box 70"/>
            <p:cNvSpPr txBox="1">
              <a:spLocks noChangeArrowheads="1"/>
            </p:cNvSpPr>
            <p:nvPr/>
          </p:nvSpPr>
          <p:spPr bwMode="auto">
            <a:xfrm>
              <a:off x="3293" y="2954"/>
              <a:ext cx="1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6990" name="Text Box 71"/>
            <p:cNvSpPr txBox="1">
              <a:spLocks noChangeArrowheads="1"/>
            </p:cNvSpPr>
            <p:nvPr/>
          </p:nvSpPr>
          <p:spPr bwMode="auto">
            <a:xfrm>
              <a:off x="3293" y="3144"/>
              <a:ext cx="1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26991" name="Text Box 72"/>
            <p:cNvSpPr txBox="1">
              <a:spLocks noChangeArrowheads="1"/>
            </p:cNvSpPr>
            <p:nvPr/>
          </p:nvSpPr>
          <p:spPr bwMode="auto">
            <a:xfrm>
              <a:off x="3290" y="3334"/>
              <a:ext cx="24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126992" name="Text Box 73"/>
            <p:cNvSpPr txBox="1">
              <a:spLocks noChangeArrowheads="1"/>
            </p:cNvSpPr>
            <p:nvPr/>
          </p:nvSpPr>
          <p:spPr bwMode="auto">
            <a:xfrm>
              <a:off x="3290" y="3523"/>
              <a:ext cx="24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6993" name="Text Box 74"/>
            <p:cNvSpPr txBox="1">
              <a:spLocks noChangeArrowheads="1"/>
            </p:cNvSpPr>
            <p:nvPr/>
          </p:nvSpPr>
          <p:spPr bwMode="auto">
            <a:xfrm>
              <a:off x="3290" y="3650"/>
              <a:ext cx="24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chemeClr val="tx1"/>
                  </a:solidFill>
                  <a:latin typeface="Arial"/>
                  <a:cs typeface="Arial"/>
                </a:rPr>
                <a:t>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331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Obstruction-freedom</a:t>
            </a:r>
          </a:p>
        </p:txBody>
      </p:sp>
      <p:sp>
        <p:nvSpPr>
          <p:cNvPr id="1280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ＭＳ Ｐゴシック" charset="0"/>
                <a:cs typeface="Arial"/>
              </a:rPr>
              <a:t>In the </a:t>
            </a:r>
            <a:r>
              <a:rPr lang="en-US" dirty="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simple snapshot </a:t>
            </a:r>
            <a:r>
              <a:rPr lang="en-US" dirty="0" err="1">
                <a:latin typeface="Arial"/>
                <a:ea typeface="ＭＳ Ｐゴシック" charset="0"/>
                <a:cs typeface="Arial"/>
              </a:rPr>
              <a:t>alg</a:t>
            </a:r>
            <a:r>
              <a:rPr lang="en-US" dirty="0">
                <a:latin typeface="Arial"/>
                <a:ea typeface="ＭＳ Ｐゴシック" charset="0"/>
                <a:cs typeface="Arial"/>
              </a:rPr>
              <a:t>:</a:t>
            </a:r>
          </a:p>
          <a:p>
            <a:pPr lvl="1"/>
            <a:r>
              <a:rPr lang="en-US" dirty="0">
                <a:latin typeface="Arial"/>
                <a:ea typeface="ＭＳ Ｐゴシック" charset="0"/>
                <a:cs typeface="Arial"/>
              </a:rPr>
              <a:t>The </a:t>
            </a:r>
            <a:r>
              <a:rPr lang="en-US" dirty="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update</a:t>
            </a:r>
            <a:r>
              <a:rPr lang="en-US" dirty="0">
                <a:latin typeface="Arial"/>
                <a:ea typeface="ＭＳ Ｐゴシック" charset="0"/>
                <a:cs typeface="Arial"/>
              </a:rPr>
              <a:t> method is </a:t>
            </a:r>
            <a:r>
              <a:rPr lang="en-US" dirty="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wait-free</a:t>
            </a:r>
          </a:p>
          <a:p>
            <a:pPr lvl="1"/>
            <a:r>
              <a:rPr lang="en-US" dirty="0">
                <a:latin typeface="Arial"/>
                <a:ea typeface="ＭＳ Ｐゴシック" charset="0"/>
                <a:cs typeface="Arial"/>
              </a:rPr>
              <a:t>But </a:t>
            </a:r>
            <a:r>
              <a:rPr lang="en-US" dirty="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scan</a:t>
            </a:r>
            <a:r>
              <a:rPr lang="en-US" dirty="0">
                <a:latin typeface="Arial"/>
                <a:ea typeface="ＭＳ Ｐゴシック" charset="0"/>
                <a:cs typeface="Arial"/>
              </a:rPr>
              <a:t> is </a:t>
            </a:r>
            <a:r>
              <a:rPr lang="en-US" dirty="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obstruction-free</a:t>
            </a:r>
          </a:p>
          <a:p>
            <a:pPr lvl="2"/>
            <a:r>
              <a:rPr lang="en-US" dirty="0">
                <a:latin typeface="Arial"/>
                <a:ea typeface="ＭＳ Ｐゴシック" charset="0"/>
                <a:cs typeface="Arial"/>
              </a:rPr>
              <a:t>Completes if it executes in </a:t>
            </a:r>
            <a:r>
              <a:rPr lang="en-US" dirty="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isolation</a:t>
            </a:r>
          </a:p>
          <a:p>
            <a:pPr lvl="2"/>
            <a:r>
              <a:rPr lang="en-US" dirty="0">
                <a:latin typeface="Arial"/>
                <a:ea typeface="ＭＳ Ｐゴシック" charset="0"/>
                <a:cs typeface="Arial"/>
              </a:rPr>
              <a:t>(no concurrent updates). </a:t>
            </a:r>
          </a:p>
        </p:txBody>
      </p:sp>
      <p:sp>
        <p:nvSpPr>
          <p:cNvPr id="12800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C6977A0A-0D9B-9842-BF49-91FBE13A3CFE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122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789652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8E7030C-AE79-4740-85E5-E8DDB87A0570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123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902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9250"/>
            <a:ext cx="7772400" cy="1143000"/>
          </a:xfrm>
        </p:spPr>
        <p:txBody>
          <a:bodyPr/>
          <a:lstStyle/>
          <a:p>
            <a:r>
              <a:rPr lang="en-US" dirty="0">
                <a:latin typeface="Arial"/>
                <a:ea typeface="ＭＳ Ｐゴシック" charset="0"/>
                <a:cs typeface="Arial"/>
              </a:rPr>
              <a:t>Wait-free contains()</a:t>
            </a:r>
          </a:p>
        </p:txBody>
      </p:sp>
      <p:grpSp>
        <p:nvGrpSpPr>
          <p:cNvPr id="129028" name="Group 3"/>
          <p:cNvGrpSpPr>
            <a:grpSpLocks/>
          </p:cNvGrpSpPr>
          <p:nvPr/>
        </p:nvGrpSpPr>
        <p:grpSpPr bwMode="auto">
          <a:xfrm>
            <a:off x="585788" y="2157413"/>
            <a:ext cx="471487" cy="476250"/>
            <a:chOff x="369" y="1305"/>
            <a:chExt cx="297" cy="300"/>
          </a:xfrm>
        </p:grpSpPr>
        <p:sp>
          <p:nvSpPr>
            <p:cNvPr id="129103" name="Oval 4"/>
            <p:cNvSpPr>
              <a:spLocks noChangeArrowheads="1"/>
            </p:cNvSpPr>
            <p:nvPr/>
          </p:nvSpPr>
          <p:spPr bwMode="auto">
            <a:xfrm>
              <a:off x="369" y="1399"/>
              <a:ext cx="297" cy="2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104" name="Oval 5"/>
            <p:cNvSpPr>
              <a:spLocks noChangeArrowheads="1"/>
            </p:cNvSpPr>
            <p:nvPr/>
          </p:nvSpPr>
          <p:spPr bwMode="auto">
            <a:xfrm>
              <a:off x="480" y="1442"/>
              <a:ext cx="75" cy="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105" name="AutoShape 6"/>
            <p:cNvSpPr>
              <a:spLocks noChangeArrowheads="1"/>
            </p:cNvSpPr>
            <p:nvPr/>
          </p:nvSpPr>
          <p:spPr bwMode="auto">
            <a:xfrm flipV="1">
              <a:off x="474" y="1476"/>
              <a:ext cx="87" cy="7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9 w 21600"/>
                <a:gd name="T13" fmla="*/ 4431 h 21600"/>
                <a:gd name="T14" fmla="*/ 17131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106" name="AutoShape 7"/>
            <p:cNvSpPr>
              <a:spLocks noChangeArrowheads="1"/>
            </p:cNvSpPr>
            <p:nvPr/>
          </p:nvSpPr>
          <p:spPr bwMode="auto">
            <a:xfrm>
              <a:off x="431" y="1305"/>
              <a:ext cx="161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2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29029" name="Group 8"/>
          <p:cNvGrpSpPr>
            <a:grpSpLocks/>
          </p:cNvGrpSpPr>
          <p:nvPr/>
        </p:nvGrpSpPr>
        <p:grpSpPr bwMode="auto">
          <a:xfrm>
            <a:off x="2357438" y="2157413"/>
            <a:ext cx="471487" cy="476250"/>
            <a:chOff x="1485" y="1305"/>
            <a:chExt cx="297" cy="300"/>
          </a:xfrm>
        </p:grpSpPr>
        <p:sp>
          <p:nvSpPr>
            <p:cNvPr id="129099" name="Oval 9"/>
            <p:cNvSpPr>
              <a:spLocks noChangeArrowheads="1"/>
            </p:cNvSpPr>
            <p:nvPr/>
          </p:nvSpPr>
          <p:spPr bwMode="auto">
            <a:xfrm>
              <a:off x="1485" y="1399"/>
              <a:ext cx="297" cy="2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100" name="Oval 10"/>
            <p:cNvSpPr>
              <a:spLocks noChangeArrowheads="1"/>
            </p:cNvSpPr>
            <p:nvPr/>
          </p:nvSpPr>
          <p:spPr bwMode="auto">
            <a:xfrm>
              <a:off x="1596" y="1442"/>
              <a:ext cx="75" cy="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101" name="AutoShape 11"/>
            <p:cNvSpPr>
              <a:spLocks noChangeArrowheads="1"/>
            </p:cNvSpPr>
            <p:nvPr/>
          </p:nvSpPr>
          <p:spPr bwMode="auto">
            <a:xfrm flipV="1">
              <a:off x="1590" y="1476"/>
              <a:ext cx="87" cy="7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9 w 21600"/>
                <a:gd name="T13" fmla="*/ 4431 h 21600"/>
                <a:gd name="T14" fmla="*/ 17131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102" name="AutoShape 12"/>
            <p:cNvSpPr>
              <a:spLocks noChangeArrowheads="1"/>
            </p:cNvSpPr>
            <p:nvPr/>
          </p:nvSpPr>
          <p:spPr bwMode="auto">
            <a:xfrm>
              <a:off x="1547" y="1305"/>
              <a:ext cx="161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2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29030" name="Group 13"/>
          <p:cNvGrpSpPr>
            <a:grpSpLocks/>
          </p:cNvGrpSpPr>
          <p:nvPr/>
        </p:nvGrpSpPr>
        <p:grpSpPr bwMode="auto">
          <a:xfrm>
            <a:off x="4033838" y="2171700"/>
            <a:ext cx="471487" cy="476250"/>
            <a:chOff x="2541" y="1314"/>
            <a:chExt cx="297" cy="300"/>
          </a:xfrm>
        </p:grpSpPr>
        <p:sp>
          <p:nvSpPr>
            <p:cNvPr id="129095" name="Oval 14"/>
            <p:cNvSpPr>
              <a:spLocks noChangeArrowheads="1"/>
            </p:cNvSpPr>
            <p:nvPr/>
          </p:nvSpPr>
          <p:spPr bwMode="auto">
            <a:xfrm>
              <a:off x="2541" y="1408"/>
              <a:ext cx="297" cy="2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96" name="Oval 15"/>
            <p:cNvSpPr>
              <a:spLocks noChangeArrowheads="1"/>
            </p:cNvSpPr>
            <p:nvPr/>
          </p:nvSpPr>
          <p:spPr bwMode="auto">
            <a:xfrm>
              <a:off x="2652" y="1451"/>
              <a:ext cx="75" cy="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97" name="AutoShape 16"/>
            <p:cNvSpPr>
              <a:spLocks noChangeArrowheads="1"/>
            </p:cNvSpPr>
            <p:nvPr/>
          </p:nvSpPr>
          <p:spPr bwMode="auto">
            <a:xfrm flipV="1">
              <a:off x="2646" y="1485"/>
              <a:ext cx="87" cy="7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9 w 21600"/>
                <a:gd name="T13" fmla="*/ 4431 h 21600"/>
                <a:gd name="T14" fmla="*/ 17131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98" name="AutoShape 17"/>
            <p:cNvSpPr>
              <a:spLocks noChangeArrowheads="1"/>
            </p:cNvSpPr>
            <p:nvPr/>
          </p:nvSpPr>
          <p:spPr bwMode="auto">
            <a:xfrm>
              <a:off x="2603" y="1314"/>
              <a:ext cx="161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2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29031" name="Group 18"/>
          <p:cNvGrpSpPr>
            <a:grpSpLocks/>
          </p:cNvGrpSpPr>
          <p:nvPr/>
        </p:nvGrpSpPr>
        <p:grpSpPr bwMode="auto">
          <a:xfrm>
            <a:off x="5667375" y="2185988"/>
            <a:ext cx="471488" cy="476250"/>
            <a:chOff x="3570" y="1323"/>
            <a:chExt cx="297" cy="300"/>
          </a:xfrm>
        </p:grpSpPr>
        <p:sp>
          <p:nvSpPr>
            <p:cNvPr id="129091" name="Oval 19"/>
            <p:cNvSpPr>
              <a:spLocks noChangeArrowheads="1"/>
            </p:cNvSpPr>
            <p:nvPr/>
          </p:nvSpPr>
          <p:spPr bwMode="auto">
            <a:xfrm>
              <a:off x="3570" y="1417"/>
              <a:ext cx="297" cy="2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92" name="Oval 20"/>
            <p:cNvSpPr>
              <a:spLocks noChangeArrowheads="1"/>
            </p:cNvSpPr>
            <p:nvPr/>
          </p:nvSpPr>
          <p:spPr bwMode="auto">
            <a:xfrm>
              <a:off x="3681" y="1460"/>
              <a:ext cx="75" cy="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93" name="AutoShape 21"/>
            <p:cNvSpPr>
              <a:spLocks noChangeArrowheads="1"/>
            </p:cNvSpPr>
            <p:nvPr/>
          </p:nvSpPr>
          <p:spPr bwMode="auto">
            <a:xfrm flipV="1">
              <a:off x="3675" y="1494"/>
              <a:ext cx="87" cy="7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9 w 21600"/>
                <a:gd name="T13" fmla="*/ 4431 h 21600"/>
                <a:gd name="T14" fmla="*/ 17131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94" name="AutoShape 22"/>
            <p:cNvSpPr>
              <a:spLocks noChangeArrowheads="1"/>
            </p:cNvSpPr>
            <p:nvPr/>
          </p:nvSpPr>
          <p:spPr bwMode="auto">
            <a:xfrm>
              <a:off x="3632" y="1323"/>
              <a:ext cx="161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2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29032" name="Group 23"/>
          <p:cNvGrpSpPr>
            <a:grpSpLocks/>
          </p:cNvGrpSpPr>
          <p:nvPr/>
        </p:nvGrpSpPr>
        <p:grpSpPr bwMode="auto">
          <a:xfrm>
            <a:off x="7270750" y="2200275"/>
            <a:ext cx="471488" cy="476250"/>
            <a:chOff x="4580" y="1332"/>
            <a:chExt cx="297" cy="300"/>
          </a:xfrm>
        </p:grpSpPr>
        <p:sp>
          <p:nvSpPr>
            <p:cNvPr id="129087" name="Oval 24"/>
            <p:cNvSpPr>
              <a:spLocks noChangeArrowheads="1"/>
            </p:cNvSpPr>
            <p:nvPr/>
          </p:nvSpPr>
          <p:spPr bwMode="auto">
            <a:xfrm>
              <a:off x="4580" y="1426"/>
              <a:ext cx="297" cy="2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88" name="Oval 25"/>
            <p:cNvSpPr>
              <a:spLocks noChangeArrowheads="1"/>
            </p:cNvSpPr>
            <p:nvPr/>
          </p:nvSpPr>
          <p:spPr bwMode="auto">
            <a:xfrm>
              <a:off x="4691" y="1469"/>
              <a:ext cx="75" cy="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89" name="AutoShape 26"/>
            <p:cNvSpPr>
              <a:spLocks noChangeArrowheads="1"/>
            </p:cNvSpPr>
            <p:nvPr/>
          </p:nvSpPr>
          <p:spPr bwMode="auto">
            <a:xfrm flipV="1">
              <a:off x="4685" y="1503"/>
              <a:ext cx="87" cy="7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9 w 21600"/>
                <a:gd name="T13" fmla="*/ 4431 h 21600"/>
                <a:gd name="T14" fmla="*/ 17131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90" name="AutoShape 27"/>
            <p:cNvSpPr>
              <a:spLocks noChangeArrowheads="1"/>
            </p:cNvSpPr>
            <p:nvPr/>
          </p:nvSpPr>
          <p:spPr bwMode="auto">
            <a:xfrm>
              <a:off x="4642" y="1332"/>
              <a:ext cx="161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2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29033" name="Group 28"/>
          <p:cNvGrpSpPr>
            <a:grpSpLocks/>
          </p:cNvGrpSpPr>
          <p:nvPr/>
        </p:nvGrpSpPr>
        <p:grpSpPr bwMode="auto">
          <a:xfrm>
            <a:off x="557213" y="2781300"/>
            <a:ext cx="1609725" cy="398463"/>
            <a:chOff x="486" y="1644"/>
            <a:chExt cx="1014" cy="251"/>
          </a:xfrm>
        </p:grpSpPr>
        <p:sp>
          <p:nvSpPr>
            <p:cNvPr id="129083" name="AutoShape 29"/>
            <p:cNvSpPr>
              <a:spLocks noChangeArrowheads="1"/>
            </p:cNvSpPr>
            <p:nvPr/>
          </p:nvSpPr>
          <p:spPr bwMode="auto">
            <a:xfrm>
              <a:off x="486" y="1644"/>
              <a:ext cx="699" cy="243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84" name="Line 30"/>
            <p:cNvSpPr>
              <a:spLocks noChangeShapeType="1"/>
            </p:cNvSpPr>
            <p:nvPr/>
          </p:nvSpPr>
          <p:spPr bwMode="auto">
            <a:xfrm>
              <a:off x="698" y="1650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85" name="Line 31"/>
            <p:cNvSpPr>
              <a:spLocks noChangeShapeType="1"/>
            </p:cNvSpPr>
            <p:nvPr/>
          </p:nvSpPr>
          <p:spPr bwMode="auto">
            <a:xfrm>
              <a:off x="1066" y="1761"/>
              <a:ext cx="43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86" name="Line 32"/>
            <p:cNvSpPr>
              <a:spLocks noChangeShapeType="1"/>
            </p:cNvSpPr>
            <p:nvPr/>
          </p:nvSpPr>
          <p:spPr bwMode="auto">
            <a:xfrm>
              <a:off x="923" y="1655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29034" name="Group 33"/>
          <p:cNvGrpSpPr>
            <a:grpSpLocks/>
          </p:cNvGrpSpPr>
          <p:nvPr/>
        </p:nvGrpSpPr>
        <p:grpSpPr bwMode="auto">
          <a:xfrm>
            <a:off x="2187575" y="2689227"/>
            <a:ext cx="1643063" cy="530226"/>
            <a:chOff x="1378" y="1586"/>
            <a:chExt cx="1035" cy="334"/>
          </a:xfrm>
        </p:grpSpPr>
        <p:sp>
          <p:nvSpPr>
            <p:cNvPr id="129077" name="Text Box 34"/>
            <p:cNvSpPr txBox="1">
              <a:spLocks noChangeArrowheads="1"/>
            </p:cNvSpPr>
            <p:nvPr/>
          </p:nvSpPr>
          <p:spPr bwMode="auto">
            <a:xfrm>
              <a:off x="1378" y="1586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29078" name="AutoShape 35"/>
            <p:cNvSpPr>
              <a:spLocks noChangeArrowheads="1"/>
            </p:cNvSpPr>
            <p:nvPr/>
          </p:nvSpPr>
          <p:spPr bwMode="auto">
            <a:xfrm>
              <a:off x="1379" y="1640"/>
              <a:ext cx="736" cy="252"/>
            </a:xfrm>
            <a:prstGeom prst="roundRect">
              <a:avLst>
                <a:gd name="adj" fmla="val 16667"/>
              </a:avLst>
            </a:prstGeom>
            <a:solidFill>
              <a:srgbClr val="FFCC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79" name="Line 36"/>
            <p:cNvSpPr>
              <a:spLocks noChangeShapeType="1"/>
            </p:cNvSpPr>
            <p:nvPr/>
          </p:nvSpPr>
          <p:spPr bwMode="auto">
            <a:xfrm>
              <a:off x="1630" y="1639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80" name="Line 37"/>
            <p:cNvSpPr>
              <a:spLocks noChangeShapeType="1"/>
            </p:cNvSpPr>
            <p:nvPr/>
          </p:nvSpPr>
          <p:spPr bwMode="auto">
            <a:xfrm>
              <a:off x="1979" y="1768"/>
              <a:ext cx="43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81" name="Line 38"/>
            <p:cNvSpPr>
              <a:spLocks noChangeShapeType="1"/>
            </p:cNvSpPr>
            <p:nvPr/>
          </p:nvSpPr>
          <p:spPr bwMode="auto">
            <a:xfrm>
              <a:off x="1855" y="164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82" name="Text Box 39"/>
            <p:cNvSpPr txBox="1">
              <a:spLocks noChangeArrowheads="1"/>
            </p:cNvSpPr>
            <p:nvPr/>
          </p:nvSpPr>
          <p:spPr bwMode="auto">
            <a:xfrm>
              <a:off x="1619" y="1590"/>
              <a:ext cx="2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0</a:t>
              </a:r>
            </a:p>
          </p:txBody>
        </p:sp>
      </p:grpSp>
      <p:grpSp>
        <p:nvGrpSpPr>
          <p:cNvPr id="129035" name="Group 40"/>
          <p:cNvGrpSpPr>
            <a:grpSpLocks/>
          </p:cNvGrpSpPr>
          <p:nvPr/>
        </p:nvGrpSpPr>
        <p:grpSpPr bwMode="auto">
          <a:xfrm>
            <a:off x="3849688" y="2703511"/>
            <a:ext cx="1641475" cy="523874"/>
            <a:chOff x="1514" y="1590"/>
            <a:chExt cx="1034" cy="330"/>
          </a:xfrm>
        </p:grpSpPr>
        <p:sp>
          <p:nvSpPr>
            <p:cNvPr id="129072" name="AutoShape 41"/>
            <p:cNvSpPr>
              <a:spLocks noChangeArrowheads="1"/>
            </p:cNvSpPr>
            <p:nvPr/>
          </p:nvSpPr>
          <p:spPr bwMode="auto">
            <a:xfrm>
              <a:off x="1514" y="1640"/>
              <a:ext cx="736" cy="252"/>
            </a:xfrm>
            <a:prstGeom prst="roundRect">
              <a:avLst>
                <a:gd name="adj" fmla="val 16667"/>
              </a:avLst>
            </a:prstGeom>
            <a:solidFill>
              <a:srgbClr val="FFCC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73" name="Line 42"/>
            <p:cNvSpPr>
              <a:spLocks noChangeShapeType="1"/>
            </p:cNvSpPr>
            <p:nvPr/>
          </p:nvSpPr>
          <p:spPr bwMode="auto">
            <a:xfrm>
              <a:off x="1765" y="1639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74" name="Line 43"/>
            <p:cNvSpPr>
              <a:spLocks noChangeShapeType="1"/>
            </p:cNvSpPr>
            <p:nvPr/>
          </p:nvSpPr>
          <p:spPr bwMode="auto">
            <a:xfrm>
              <a:off x="2114" y="1768"/>
              <a:ext cx="43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75" name="Line 44"/>
            <p:cNvSpPr>
              <a:spLocks noChangeShapeType="1"/>
            </p:cNvSpPr>
            <p:nvPr/>
          </p:nvSpPr>
          <p:spPr bwMode="auto">
            <a:xfrm>
              <a:off x="1990" y="164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76" name="Text Box 45"/>
            <p:cNvSpPr txBox="1">
              <a:spLocks noChangeArrowheads="1"/>
            </p:cNvSpPr>
            <p:nvPr/>
          </p:nvSpPr>
          <p:spPr bwMode="auto">
            <a:xfrm>
              <a:off x="1754" y="1590"/>
              <a:ext cx="2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0</a:t>
              </a:r>
            </a:p>
          </p:txBody>
        </p:sp>
      </p:grpSp>
      <p:grpSp>
        <p:nvGrpSpPr>
          <p:cNvPr id="129036" name="Group 46"/>
          <p:cNvGrpSpPr>
            <a:grpSpLocks/>
          </p:cNvGrpSpPr>
          <p:nvPr/>
        </p:nvGrpSpPr>
        <p:grpSpPr bwMode="auto">
          <a:xfrm>
            <a:off x="5497513" y="2695577"/>
            <a:ext cx="1641475" cy="523876"/>
            <a:chOff x="1514" y="1590"/>
            <a:chExt cx="1034" cy="330"/>
          </a:xfrm>
        </p:grpSpPr>
        <p:sp>
          <p:nvSpPr>
            <p:cNvPr id="129067" name="AutoShape 47"/>
            <p:cNvSpPr>
              <a:spLocks noChangeArrowheads="1"/>
            </p:cNvSpPr>
            <p:nvPr/>
          </p:nvSpPr>
          <p:spPr bwMode="auto">
            <a:xfrm>
              <a:off x="1514" y="1640"/>
              <a:ext cx="736" cy="252"/>
            </a:xfrm>
            <a:prstGeom prst="roundRect">
              <a:avLst>
                <a:gd name="adj" fmla="val 16667"/>
              </a:avLst>
            </a:prstGeom>
            <a:solidFill>
              <a:srgbClr val="FFCC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68" name="Line 48"/>
            <p:cNvSpPr>
              <a:spLocks noChangeShapeType="1"/>
            </p:cNvSpPr>
            <p:nvPr/>
          </p:nvSpPr>
          <p:spPr bwMode="auto">
            <a:xfrm>
              <a:off x="1765" y="1639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69" name="Line 49"/>
            <p:cNvSpPr>
              <a:spLocks noChangeShapeType="1"/>
            </p:cNvSpPr>
            <p:nvPr/>
          </p:nvSpPr>
          <p:spPr bwMode="auto">
            <a:xfrm>
              <a:off x="2114" y="1768"/>
              <a:ext cx="43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70" name="Line 50"/>
            <p:cNvSpPr>
              <a:spLocks noChangeShapeType="1"/>
            </p:cNvSpPr>
            <p:nvPr/>
          </p:nvSpPr>
          <p:spPr bwMode="auto">
            <a:xfrm>
              <a:off x="1990" y="164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71" name="Text Box 51"/>
            <p:cNvSpPr txBox="1">
              <a:spLocks noChangeArrowheads="1"/>
            </p:cNvSpPr>
            <p:nvPr/>
          </p:nvSpPr>
          <p:spPr bwMode="auto">
            <a:xfrm>
              <a:off x="1754" y="1590"/>
              <a:ext cx="2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0</a:t>
              </a:r>
            </a:p>
          </p:txBody>
        </p:sp>
      </p:grpSp>
      <p:sp>
        <p:nvSpPr>
          <p:cNvPr id="129037" name="Text Box 52"/>
          <p:cNvSpPr txBox="1">
            <a:spLocks noChangeArrowheads="1"/>
          </p:cNvSpPr>
          <p:nvPr/>
        </p:nvSpPr>
        <p:spPr bwMode="auto">
          <a:xfrm>
            <a:off x="2189163" y="2689225"/>
            <a:ext cx="38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a</a:t>
            </a:r>
          </a:p>
        </p:txBody>
      </p:sp>
      <p:sp>
        <p:nvSpPr>
          <p:cNvPr id="129038" name="Text Box 53"/>
          <p:cNvSpPr txBox="1">
            <a:spLocks noChangeArrowheads="1"/>
          </p:cNvSpPr>
          <p:nvPr/>
        </p:nvSpPr>
        <p:spPr bwMode="auto">
          <a:xfrm>
            <a:off x="3842561" y="2697163"/>
            <a:ext cx="4040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b</a:t>
            </a:r>
          </a:p>
        </p:txBody>
      </p:sp>
      <p:sp>
        <p:nvSpPr>
          <p:cNvPr id="129039" name="Text Box 54"/>
          <p:cNvSpPr txBox="1">
            <a:spLocks noChangeArrowheads="1"/>
          </p:cNvSpPr>
          <p:nvPr/>
        </p:nvSpPr>
        <p:spPr bwMode="auto">
          <a:xfrm>
            <a:off x="5538598" y="2705100"/>
            <a:ext cx="3843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c</a:t>
            </a:r>
          </a:p>
        </p:txBody>
      </p:sp>
      <p:grpSp>
        <p:nvGrpSpPr>
          <p:cNvPr id="129040" name="Group 55"/>
          <p:cNvGrpSpPr>
            <a:grpSpLocks/>
          </p:cNvGrpSpPr>
          <p:nvPr/>
        </p:nvGrpSpPr>
        <p:grpSpPr bwMode="auto">
          <a:xfrm>
            <a:off x="7100888" y="2684466"/>
            <a:ext cx="1168400" cy="528638"/>
            <a:chOff x="4473" y="1691"/>
            <a:chExt cx="736" cy="333"/>
          </a:xfrm>
        </p:grpSpPr>
        <p:sp>
          <p:nvSpPr>
            <p:cNvPr id="129062" name="AutoShape 56"/>
            <p:cNvSpPr>
              <a:spLocks noChangeArrowheads="1"/>
            </p:cNvSpPr>
            <p:nvPr/>
          </p:nvSpPr>
          <p:spPr bwMode="auto">
            <a:xfrm>
              <a:off x="4473" y="1736"/>
              <a:ext cx="736" cy="258"/>
            </a:xfrm>
            <a:prstGeom prst="roundRect">
              <a:avLst>
                <a:gd name="adj" fmla="val 16667"/>
              </a:avLst>
            </a:prstGeom>
            <a:solidFill>
              <a:srgbClr val="FFCC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63" name="Line 57"/>
            <p:cNvSpPr>
              <a:spLocks noChangeShapeType="1"/>
            </p:cNvSpPr>
            <p:nvPr/>
          </p:nvSpPr>
          <p:spPr bwMode="auto">
            <a:xfrm>
              <a:off x="4724" y="1735"/>
              <a:ext cx="0" cy="2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64" name="Line 58"/>
            <p:cNvSpPr>
              <a:spLocks noChangeShapeType="1"/>
            </p:cNvSpPr>
            <p:nvPr/>
          </p:nvSpPr>
          <p:spPr bwMode="auto">
            <a:xfrm>
              <a:off x="4949" y="1740"/>
              <a:ext cx="0" cy="2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29065" name="Text Box 59"/>
            <p:cNvSpPr txBox="1">
              <a:spLocks noChangeArrowheads="1"/>
            </p:cNvSpPr>
            <p:nvPr/>
          </p:nvSpPr>
          <p:spPr bwMode="auto">
            <a:xfrm>
              <a:off x="4713" y="1694"/>
              <a:ext cx="2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9066" name="Text Box 60"/>
            <p:cNvSpPr txBox="1">
              <a:spLocks noChangeArrowheads="1"/>
            </p:cNvSpPr>
            <p:nvPr/>
          </p:nvSpPr>
          <p:spPr bwMode="auto">
            <a:xfrm>
              <a:off x="4483" y="1691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e</a:t>
              </a:r>
            </a:p>
          </p:txBody>
        </p:sp>
      </p:grpSp>
      <p:grpSp>
        <p:nvGrpSpPr>
          <p:cNvPr id="129041" name="Group 65"/>
          <p:cNvGrpSpPr>
            <a:grpSpLocks/>
          </p:cNvGrpSpPr>
          <p:nvPr/>
        </p:nvGrpSpPr>
        <p:grpSpPr bwMode="auto">
          <a:xfrm>
            <a:off x="5446713" y="2674940"/>
            <a:ext cx="1684337" cy="541338"/>
            <a:chOff x="3431" y="1685"/>
            <a:chExt cx="1061" cy="341"/>
          </a:xfrm>
        </p:grpSpPr>
        <p:grpSp>
          <p:nvGrpSpPr>
            <p:cNvPr id="129055" name="Group 66"/>
            <p:cNvGrpSpPr>
              <a:grpSpLocks/>
            </p:cNvGrpSpPr>
            <p:nvPr/>
          </p:nvGrpSpPr>
          <p:grpSpPr bwMode="auto">
            <a:xfrm>
              <a:off x="3458" y="1696"/>
              <a:ext cx="1034" cy="330"/>
              <a:chOff x="1514" y="1590"/>
              <a:chExt cx="1034" cy="330"/>
            </a:xfrm>
          </p:grpSpPr>
          <p:sp>
            <p:nvSpPr>
              <p:cNvPr id="129057" name="AutoShape 67"/>
              <p:cNvSpPr>
                <a:spLocks noChangeArrowheads="1"/>
              </p:cNvSpPr>
              <p:nvPr/>
            </p:nvSpPr>
            <p:spPr bwMode="auto">
              <a:xfrm>
                <a:off x="1514" y="1640"/>
                <a:ext cx="736" cy="252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9058" name="Line 68"/>
              <p:cNvSpPr>
                <a:spLocks noChangeShapeType="1"/>
              </p:cNvSpPr>
              <p:nvPr/>
            </p:nvSpPr>
            <p:spPr bwMode="auto">
              <a:xfrm>
                <a:off x="1765" y="1639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9059" name="Line 69"/>
              <p:cNvSpPr>
                <a:spLocks noChangeShapeType="1"/>
              </p:cNvSpPr>
              <p:nvPr/>
            </p:nvSpPr>
            <p:spPr bwMode="auto">
              <a:xfrm>
                <a:off x="2114" y="1768"/>
                <a:ext cx="434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9060" name="Line 70"/>
              <p:cNvSpPr>
                <a:spLocks noChangeShapeType="1"/>
              </p:cNvSpPr>
              <p:nvPr/>
            </p:nvSpPr>
            <p:spPr bwMode="auto">
              <a:xfrm>
                <a:off x="1990" y="1644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9061" name="Text Box 71"/>
              <p:cNvSpPr txBox="1">
                <a:spLocks noChangeArrowheads="1"/>
              </p:cNvSpPr>
              <p:nvPr/>
            </p:nvSpPr>
            <p:spPr bwMode="auto">
              <a:xfrm>
                <a:off x="1754" y="1590"/>
                <a:ext cx="24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r"/>
                <a:r>
                  <a:rPr lang="en-US" sz="2800">
                    <a:latin typeface="Arial"/>
                    <a:cs typeface="Arial"/>
                  </a:rPr>
                  <a:t>1</a:t>
                </a:r>
              </a:p>
            </p:txBody>
          </p:sp>
        </p:grpSp>
        <p:sp>
          <p:nvSpPr>
            <p:cNvPr id="129056" name="Text Box 72"/>
            <p:cNvSpPr txBox="1">
              <a:spLocks noChangeArrowheads="1"/>
            </p:cNvSpPr>
            <p:nvPr/>
          </p:nvSpPr>
          <p:spPr bwMode="auto">
            <a:xfrm>
              <a:off x="3431" y="1685"/>
              <a:ext cx="25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d</a:t>
              </a:r>
            </a:p>
          </p:txBody>
        </p:sp>
      </p:grpSp>
      <p:sp>
        <p:nvSpPr>
          <p:cNvPr id="129042" name="Text Box 75"/>
          <p:cNvSpPr txBox="1">
            <a:spLocks noChangeArrowheads="1"/>
          </p:cNvSpPr>
          <p:nvPr/>
        </p:nvSpPr>
        <p:spPr bwMode="auto">
          <a:xfrm>
            <a:off x="436563" y="3946525"/>
            <a:ext cx="8332787" cy="155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l"/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Use </a:t>
            </a:r>
            <a:r>
              <a:rPr lang="en-US" sz="2800" b="0" dirty="0">
                <a:solidFill>
                  <a:schemeClr val="tx1"/>
                </a:solidFill>
                <a:latin typeface="Arial"/>
                <a:cs typeface="Arial"/>
              </a:rPr>
              <a:t>mark bit 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+ </a:t>
            </a:r>
            <a:r>
              <a:rPr lang="en-US" sz="2800" b="0" dirty="0">
                <a:solidFill>
                  <a:schemeClr val="tx1"/>
                </a:solidFill>
                <a:latin typeface="Arial"/>
                <a:cs typeface="Arial"/>
              </a:rPr>
              <a:t>list ordering</a:t>
            </a:r>
          </a:p>
          <a:p>
            <a:pPr algn="l">
              <a:buFontTx/>
              <a:buAutoNum type="arabicPeriod"/>
            </a:pP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Not marked 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  <a:sym typeface="Wingdings" charset="0"/>
              </a:rPr>
              <a:t> 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 in the set</a:t>
            </a:r>
          </a:p>
          <a:p>
            <a:pPr algn="l">
              <a:buFontTx/>
              <a:buAutoNum type="arabicPeriod"/>
            </a:pP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Marked or missing 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  <a:sym typeface="Wingdings" charset="0"/>
              </a:rPr>
              <a:t>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 not in the set </a:t>
            </a:r>
          </a:p>
        </p:txBody>
      </p:sp>
      <p:grpSp>
        <p:nvGrpSpPr>
          <p:cNvPr id="129043" name="Group 76"/>
          <p:cNvGrpSpPr>
            <a:grpSpLocks/>
          </p:cNvGrpSpPr>
          <p:nvPr/>
        </p:nvGrpSpPr>
        <p:grpSpPr bwMode="auto">
          <a:xfrm>
            <a:off x="877888" y="1681163"/>
            <a:ext cx="6684962" cy="466725"/>
            <a:chOff x="689" y="1009"/>
            <a:chExt cx="3326" cy="294"/>
          </a:xfrm>
        </p:grpSpPr>
        <p:sp>
          <p:nvSpPr>
            <p:cNvPr id="129044" name="Freeform 77"/>
            <p:cNvSpPr>
              <a:spLocks/>
            </p:cNvSpPr>
            <p:nvPr/>
          </p:nvSpPr>
          <p:spPr bwMode="auto">
            <a:xfrm>
              <a:off x="689" y="1012"/>
              <a:ext cx="2888" cy="291"/>
            </a:xfrm>
            <a:custGeom>
              <a:avLst/>
              <a:gdLst>
                <a:gd name="T0" fmla="*/ 0 w 1070"/>
                <a:gd name="T1" fmla="*/ 1799 h 216"/>
                <a:gd name="T2" fmla="*/ 2147483647 w 1070"/>
                <a:gd name="T3" fmla="*/ 53 h 216"/>
                <a:gd name="T4" fmla="*/ 2147483647 w 1070"/>
                <a:gd name="T5" fmla="*/ 1501 h 216"/>
                <a:gd name="T6" fmla="*/ 2147483647 w 1070"/>
                <a:gd name="T7" fmla="*/ 362 h 216"/>
                <a:gd name="T8" fmla="*/ 2147483647 w 1070"/>
                <a:gd name="T9" fmla="*/ 1263 h 216"/>
                <a:gd name="T10" fmla="*/ 2147483647 w 1070"/>
                <a:gd name="T11" fmla="*/ 664 h 216"/>
                <a:gd name="T12" fmla="*/ 2147483647 w 1070"/>
                <a:gd name="T13" fmla="*/ 1043 h 216"/>
                <a:gd name="T14" fmla="*/ 2147483647 w 1070"/>
                <a:gd name="T15" fmla="*/ 732 h 2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0"/>
                <a:gd name="T25" fmla="*/ 0 h 216"/>
                <a:gd name="T26" fmla="*/ 1070 w 1070"/>
                <a:gd name="T27" fmla="*/ 216 h 2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0" h="216">
                  <a:moveTo>
                    <a:pt x="0" y="216"/>
                  </a:moveTo>
                  <a:cubicBezTo>
                    <a:pt x="54" y="114"/>
                    <a:pt x="108" y="12"/>
                    <a:pt x="164" y="6"/>
                  </a:cubicBezTo>
                  <a:cubicBezTo>
                    <a:pt x="220" y="0"/>
                    <a:pt x="279" y="174"/>
                    <a:pt x="338" y="180"/>
                  </a:cubicBezTo>
                  <a:cubicBezTo>
                    <a:pt x="397" y="186"/>
                    <a:pt x="474" y="48"/>
                    <a:pt x="521" y="43"/>
                  </a:cubicBezTo>
                  <a:cubicBezTo>
                    <a:pt x="568" y="38"/>
                    <a:pt x="579" y="146"/>
                    <a:pt x="622" y="152"/>
                  </a:cubicBezTo>
                  <a:cubicBezTo>
                    <a:pt x="665" y="158"/>
                    <a:pt x="731" y="83"/>
                    <a:pt x="777" y="79"/>
                  </a:cubicBezTo>
                  <a:cubicBezTo>
                    <a:pt x="823" y="75"/>
                    <a:pt x="847" y="124"/>
                    <a:pt x="896" y="125"/>
                  </a:cubicBezTo>
                  <a:cubicBezTo>
                    <a:pt x="945" y="126"/>
                    <a:pt x="1007" y="107"/>
                    <a:pt x="1070" y="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129045" name="Group 78"/>
            <p:cNvGrpSpPr>
              <a:grpSpLocks/>
            </p:cNvGrpSpPr>
            <p:nvPr/>
          </p:nvGrpSpPr>
          <p:grpSpPr bwMode="auto">
            <a:xfrm>
              <a:off x="3624" y="1009"/>
              <a:ext cx="391" cy="268"/>
              <a:chOff x="1584" y="816"/>
              <a:chExt cx="912" cy="816"/>
            </a:xfrm>
          </p:grpSpPr>
          <p:sp>
            <p:nvSpPr>
              <p:cNvPr id="129046" name="Freeform 79"/>
              <p:cNvSpPr>
                <a:spLocks/>
              </p:cNvSpPr>
              <p:nvPr/>
            </p:nvSpPr>
            <p:spPr bwMode="auto">
              <a:xfrm>
                <a:off x="2352" y="1056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9047" name="Freeform 80"/>
              <p:cNvSpPr>
                <a:spLocks/>
              </p:cNvSpPr>
              <p:nvPr/>
            </p:nvSpPr>
            <p:spPr bwMode="auto">
              <a:xfrm>
                <a:off x="2160" y="912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9048" name="Freeform 81"/>
              <p:cNvSpPr>
                <a:spLocks/>
              </p:cNvSpPr>
              <p:nvPr/>
            </p:nvSpPr>
            <p:spPr bwMode="auto">
              <a:xfrm>
                <a:off x="1920" y="816"/>
                <a:ext cx="144" cy="288"/>
              </a:xfrm>
              <a:custGeom>
                <a:avLst/>
                <a:gdLst>
                  <a:gd name="T0" fmla="*/ 0 w 144"/>
                  <a:gd name="T1" fmla="*/ 3 h 336"/>
                  <a:gd name="T2" fmla="*/ 96 w 144"/>
                  <a:gd name="T3" fmla="*/ 0 h 336"/>
                  <a:gd name="T4" fmla="*/ 144 w 144"/>
                  <a:gd name="T5" fmla="*/ 3 h 336"/>
                  <a:gd name="T6" fmla="*/ 144 w 144"/>
                  <a:gd name="T7" fmla="*/ 21 h 336"/>
                  <a:gd name="T8" fmla="*/ 96 w 144"/>
                  <a:gd name="T9" fmla="*/ 18 h 336"/>
                  <a:gd name="T10" fmla="*/ 96 w 144"/>
                  <a:gd name="T11" fmla="*/ 6 h 336"/>
                  <a:gd name="T12" fmla="*/ 0 w 144"/>
                  <a:gd name="T13" fmla="*/ 9 h 336"/>
                  <a:gd name="T14" fmla="*/ 0 w 144"/>
                  <a:gd name="T15" fmla="*/ 3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9049" name="Freeform 82"/>
              <p:cNvSpPr>
                <a:spLocks/>
              </p:cNvSpPr>
              <p:nvPr/>
            </p:nvSpPr>
            <p:spPr bwMode="auto">
              <a:xfrm>
                <a:off x="1659" y="816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9050" name="Freeform 83"/>
              <p:cNvSpPr>
                <a:spLocks/>
              </p:cNvSpPr>
              <p:nvPr/>
            </p:nvSpPr>
            <p:spPr bwMode="auto">
              <a:xfrm>
                <a:off x="1669" y="912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9051" name="Freeform 84"/>
              <p:cNvSpPr>
                <a:spLocks/>
              </p:cNvSpPr>
              <p:nvPr/>
            </p:nvSpPr>
            <p:spPr bwMode="auto">
              <a:xfrm>
                <a:off x="2144" y="1152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9052" name="Freeform 85"/>
              <p:cNvSpPr>
                <a:spLocks/>
              </p:cNvSpPr>
              <p:nvPr/>
            </p:nvSpPr>
            <p:spPr bwMode="auto">
              <a:xfrm>
                <a:off x="1920" y="1296"/>
                <a:ext cx="240" cy="336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2 h 432"/>
                  <a:gd name="T4" fmla="*/ 1 w 336"/>
                  <a:gd name="T5" fmla="*/ 2 h 432"/>
                  <a:gd name="T6" fmla="*/ 1 w 336"/>
                  <a:gd name="T7" fmla="*/ 4 h 432"/>
                  <a:gd name="T8" fmla="*/ 0 w 336"/>
                  <a:gd name="T9" fmla="*/ 3 h 432"/>
                  <a:gd name="T10" fmla="*/ 0 w 336"/>
                  <a:gd name="T11" fmla="*/ 2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9053" name="Freeform 86"/>
              <p:cNvSpPr>
                <a:spLocks/>
              </p:cNvSpPr>
              <p:nvPr/>
            </p:nvSpPr>
            <p:spPr bwMode="auto">
              <a:xfrm>
                <a:off x="1728" y="1152"/>
                <a:ext cx="240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29054" name="Freeform 87"/>
              <p:cNvSpPr>
                <a:spLocks/>
              </p:cNvSpPr>
              <p:nvPr/>
            </p:nvSpPr>
            <p:spPr bwMode="auto">
              <a:xfrm>
                <a:off x="1584" y="1008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215138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780B71D0-36E5-F744-9FA4-8C5C979CDE8C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124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005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9250"/>
            <a:ext cx="7772400" cy="1143000"/>
          </a:xfrm>
        </p:spPr>
        <p:txBody>
          <a:bodyPr/>
          <a:lstStyle/>
          <a:p>
            <a:r>
              <a:rPr lang="en-US" dirty="0">
                <a:latin typeface="Arial"/>
                <a:ea typeface="ＭＳ Ｐゴシック" charset="0"/>
                <a:cs typeface="Arial"/>
              </a:rPr>
              <a:t>Lazy List-based Set </a:t>
            </a:r>
            <a:r>
              <a:rPr lang="en-US" dirty="0" err="1">
                <a:latin typeface="Arial"/>
                <a:ea typeface="ＭＳ Ｐゴシック" charset="0"/>
                <a:cs typeface="Arial"/>
              </a:rPr>
              <a:t>Alg</a:t>
            </a:r>
            <a:endParaRPr lang="en-US" dirty="0"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30052" name="Group 3"/>
          <p:cNvGrpSpPr>
            <a:grpSpLocks/>
          </p:cNvGrpSpPr>
          <p:nvPr/>
        </p:nvGrpSpPr>
        <p:grpSpPr bwMode="auto">
          <a:xfrm>
            <a:off x="585788" y="2157413"/>
            <a:ext cx="471487" cy="476250"/>
            <a:chOff x="369" y="1305"/>
            <a:chExt cx="297" cy="300"/>
          </a:xfrm>
        </p:grpSpPr>
        <p:sp>
          <p:nvSpPr>
            <p:cNvPr id="130131" name="Oval 4"/>
            <p:cNvSpPr>
              <a:spLocks noChangeArrowheads="1"/>
            </p:cNvSpPr>
            <p:nvPr/>
          </p:nvSpPr>
          <p:spPr bwMode="auto">
            <a:xfrm>
              <a:off x="369" y="1399"/>
              <a:ext cx="297" cy="2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32" name="Oval 5"/>
            <p:cNvSpPr>
              <a:spLocks noChangeArrowheads="1"/>
            </p:cNvSpPr>
            <p:nvPr/>
          </p:nvSpPr>
          <p:spPr bwMode="auto">
            <a:xfrm>
              <a:off x="480" y="1442"/>
              <a:ext cx="75" cy="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33" name="AutoShape 6"/>
            <p:cNvSpPr>
              <a:spLocks noChangeArrowheads="1"/>
            </p:cNvSpPr>
            <p:nvPr/>
          </p:nvSpPr>
          <p:spPr bwMode="auto">
            <a:xfrm flipV="1">
              <a:off x="474" y="1476"/>
              <a:ext cx="87" cy="7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9 w 21600"/>
                <a:gd name="T13" fmla="*/ 4431 h 21600"/>
                <a:gd name="T14" fmla="*/ 17131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34" name="AutoShape 7"/>
            <p:cNvSpPr>
              <a:spLocks noChangeArrowheads="1"/>
            </p:cNvSpPr>
            <p:nvPr/>
          </p:nvSpPr>
          <p:spPr bwMode="auto">
            <a:xfrm>
              <a:off x="431" y="1305"/>
              <a:ext cx="161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2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30053" name="Group 8"/>
          <p:cNvGrpSpPr>
            <a:grpSpLocks/>
          </p:cNvGrpSpPr>
          <p:nvPr/>
        </p:nvGrpSpPr>
        <p:grpSpPr bwMode="auto">
          <a:xfrm>
            <a:off x="2357438" y="2157413"/>
            <a:ext cx="471487" cy="476250"/>
            <a:chOff x="1485" y="1305"/>
            <a:chExt cx="297" cy="300"/>
          </a:xfrm>
        </p:grpSpPr>
        <p:sp>
          <p:nvSpPr>
            <p:cNvPr id="130127" name="Oval 9"/>
            <p:cNvSpPr>
              <a:spLocks noChangeArrowheads="1"/>
            </p:cNvSpPr>
            <p:nvPr/>
          </p:nvSpPr>
          <p:spPr bwMode="auto">
            <a:xfrm>
              <a:off x="1485" y="1399"/>
              <a:ext cx="297" cy="2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28" name="Oval 10"/>
            <p:cNvSpPr>
              <a:spLocks noChangeArrowheads="1"/>
            </p:cNvSpPr>
            <p:nvPr/>
          </p:nvSpPr>
          <p:spPr bwMode="auto">
            <a:xfrm>
              <a:off x="1596" y="1442"/>
              <a:ext cx="75" cy="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29" name="AutoShape 11"/>
            <p:cNvSpPr>
              <a:spLocks noChangeArrowheads="1"/>
            </p:cNvSpPr>
            <p:nvPr/>
          </p:nvSpPr>
          <p:spPr bwMode="auto">
            <a:xfrm flipV="1">
              <a:off x="1590" y="1476"/>
              <a:ext cx="87" cy="7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9 w 21600"/>
                <a:gd name="T13" fmla="*/ 4431 h 21600"/>
                <a:gd name="T14" fmla="*/ 17131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30" name="AutoShape 12"/>
            <p:cNvSpPr>
              <a:spLocks noChangeArrowheads="1"/>
            </p:cNvSpPr>
            <p:nvPr/>
          </p:nvSpPr>
          <p:spPr bwMode="auto">
            <a:xfrm>
              <a:off x="1547" y="1305"/>
              <a:ext cx="161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2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30054" name="Group 13"/>
          <p:cNvGrpSpPr>
            <a:grpSpLocks/>
          </p:cNvGrpSpPr>
          <p:nvPr/>
        </p:nvGrpSpPr>
        <p:grpSpPr bwMode="auto">
          <a:xfrm>
            <a:off x="4033838" y="2171700"/>
            <a:ext cx="471487" cy="476250"/>
            <a:chOff x="2541" y="1314"/>
            <a:chExt cx="297" cy="300"/>
          </a:xfrm>
        </p:grpSpPr>
        <p:sp>
          <p:nvSpPr>
            <p:cNvPr id="130123" name="Oval 14"/>
            <p:cNvSpPr>
              <a:spLocks noChangeArrowheads="1"/>
            </p:cNvSpPr>
            <p:nvPr/>
          </p:nvSpPr>
          <p:spPr bwMode="auto">
            <a:xfrm>
              <a:off x="2541" y="1408"/>
              <a:ext cx="297" cy="2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24" name="Oval 15"/>
            <p:cNvSpPr>
              <a:spLocks noChangeArrowheads="1"/>
            </p:cNvSpPr>
            <p:nvPr/>
          </p:nvSpPr>
          <p:spPr bwMode="auto">
            <a:xfrm>
              <a:off x="2652" y="1451"/>
              <a:ext cx="75" cy="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25" name="AutoShape 16"/>
            <p:cNvSpPr>
              <a:spLocks noChangeArrowheads="1"/>
            </p:cNvSpPr>
            <p:nvPr/>
          </p:nvSpPr>
          <p:spPr bwMode="auto">
            <a:xfrm flipV="1">
              <a:off x="2646" y="1485"/>
              <a:ext cx="87" cy="7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9 w 21600"/>
                <a:gd name="T13" fmla="*/ 4431 h 21600"/>
                <a:gd name="T14" fmla="*/ 17131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26" name="AutoShape 17"/>
            <p:cNvSpPr>
              <a:spLocks noChangeArrowheads="1"/>
            </p:cNvSpPr>
            <p:nvPr/>
          </p:nvSpPr>
          <p:spPr bwMode="auto">
            <a:xfrm>
              <a:off x="2603" y="1314"/>
              <a:ext cx="161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2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30055" name="Group 18"/>
          <p:cNvGrpSpPr>
            <a:grpSpLocks/>
          </p:cNvGrpSpPr>
          <p:nvPr/>
        </p:nvGrpSpPr>
        <p:grpSpPr bwMode="auto">
          <a:xfrm>
            <a:off x="5667375" y="2185988"/>
            <a:ext cx="471488" cy="476250"/>
            <a:chOff x="3570" y="1323"/>
            <a:chExt cx="297" cy="300"/>
          </a:xfrm>
        </p:grpSpPr>
        <p:sp>
          <p:nvSpPr>
            <p:cNvPr id="130119" name="Oval 19"/>
            <p:cNvSpPr>
              <a:spLocks noChangeArrowheads="1"/>
            </p:cNvSpPr>
            <p:nvPr/>
          </p:nvSpPr>
          <p:spPr bwMode="auto">
            <a:xfrm>
              <a:off x="3570" y="1417"/>
              <a:ext cx="297" cy="2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20" name="Oval 20"/>
            <p:cNvSpPr>
              <a:spLocks noChangeArrowheads="1"/>
            </p:cNvSpPr>
            <p:nvPr/>
          </p:nvSpPr>
          <p:spPr bwMode="auto">
            <a:xfrm>
              <a:off x="3681" y="1460"/>
              <a:ext cx="75" cy="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21" name="AutoShape 21"/>
            <p:cNvSpPr>
              <a:spLocks noChangeArrowheads="1"/>
            </p:cNvSpPr>
            <p:nvPr/>
          </p:nvSpPr>
          <p:spPr bwMode="auto">
            <a:xfrm flipV="1">
              <a:off x="3675" y="1494"/>
              <a:ext cx="87" cy="7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9 w 21600"/>
                <a:gd name="T13" fmla="*/ 4431 h 21600"/>
                <a:gd name="T14" fmla="*/ 17131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22" name="AutoShape 22"/>
            <p:cNvSpPr>
              <a:spLocks noChangeArrowheads="1"/>
            </p:cNvSpPr>
            <p:nvPr/>
          </p:nvSpPr>
          <p:spPr bwMode="auto">
            <a:xfrm>
              <a:off x="3632" y="1323"/>
              <a:ext cx="161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2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30056" name="Group 23"/>
          <p:cNvGrpSpPr>
            <a:grpSpLocks/>
          </p:cNvGrpSpPr>
          <p:nvPr/>
        </p:nvGrpSpPr>
        <p:grpSpPr bwMode="auto">
          <a:xfrm>
            <a:off x="7270750" y="2200275"/>
            <a:ext cx="471488" cy="476250"/>
            <a:chOff x="4580" y="1332"/>
            <a:chExt cx="297" cy="300"/>
          </a:xfrm>
        </p:grpSpPr>
        <p:sp>
          <p:nvSpPr>
            <p:cNvPr id="130115" name="Oval 24"/>
            <p:cNvSpPr>
              <a:spLocks noChangeArrowheads="1"/>
            </p:cNvSpPr>
            <p:nvPr/>
          </p:nvSpPr>
          <p:spPr bwMode="auto">
            <a:xfrm>
              <a:off x="4580" y="1426"/>
              <a:ext cx="297" cy="20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16" name="Oval 25"/>
            <p:cNvSpPr>
              <a:spLocks noChangeArrowheads="1"/>
            </p:cNvSpPr>
            <p:nvPr/>
          </p:nvSpPr>
          <p:spPr bwMode="auto">
            <a:xfrm>
              <a:off x="4691" y="1469"/>
              <a:ext cx="75" cy="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17" name="AutoShape 26"/>
            <p:cNvSpPr>
              <a:spLocks noChangeArrowheads="1"/>
            </p:cNvSpPr>
            <p:nvPr/>
          </p:nvSpPr>
          <p:spPr bwMode="auto">
            <a:xfrm flipV="1">
              <a:off x="4685" y="1503"/>
              <a:ext cx="87" cy="7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9 w 21600"/>
                <a:gd name="T13" fmla="*/ 4431 h 21600"/>
                <a:gd name="T14" fmla="*/ 17131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18" name="AutoShape 27"/>
            <p:cNvSpPr>
              <a:spLocks noChangeArrowheads="1"/>
            </p:cNvSpPr>
            <p:nvPr/>
          </p:nvSpPr>
          <p:spPr bwMode="auto">
            <a:xfrm>
              <a:off x="4642" y="1332"/>
              <a:ext cx="161" cy="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2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30057" name="Group 28"/>
          <p:cNvGrpSpPr>
            <a:grpSpLocks/>
          </p:cNvGrpSpPr>
          <p:nvPr/>
        </p:nvGrpSpPr>
        <p:grpSpPr bwMode="auto">
          <a:xfrm>
            <a:off x="557213" y="2781300"/>
            <a:ext cx="1609725" cy="398463"/>
            <a:chOff x="486" y="1644"/>
            <a:chExt cx="1014" cy="251"/>
          </a:xfrm>
        </p:grpSpPr>
        <p:sp>
          <p:nvSpPr>
            <p:cNvPr id="130111" name="AutoShape 29"/>
            <p:cNvSpPr>
              <a:spLocks noChangeArrowheads="1"/>
            </p:cNvSpPr>
            <p:nvPr/>
          </p:nvSpPr>
          <p:spPr bwMode="auto">
            <a:xfrm>
              <a:off x="486" y="1644"/>
              <a:ext cx="699" cy="243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12" name="Line 30"/>
            <p:cNvSpPr>
              <a:spLocks noChangeShapeType="1"/>
            </p:cNvSpPr>
            <p:nvPr/>
          </p:nvSpPr>
          <p:spPr bwMode="auto">
            <a:xfrm>
              <a:off x="698" y="1650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13" name="Line 31"/>
            <p:cNvSpPr>
              <a:spLocks noChangeShapeType="1"/>
            </p:cNvSpPr>
            <p:nvPr/>
          </p:nvSpPr>
          <p:spPr bwMode="auto">
            <a:xfrm>
              <a:off x="1066" y="1761"/>
              <a:ext cx="43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14" name="Line 32"/>
            <p:cNvSpPr>
              <a:spLocks noChangeShapeType="1"/>
            </p:cNvSpPr>
            <p:nvPr/>
          </p:nvSpPr>
          <p:spPr bwMode="auto">
            <a:xfrm>
              <a:off x="923" y="1655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130058" name="Group 33"/>
          <p:cNvGrpSpPr>
            <a:grpSpLocks/>
          </p:cNvGrpSpPr>
          <p:nvPr/>
        </p:nvGrpSpPr>
        <p:grpSpPr bwMode="auto">
          <a:xfrm>
            <a:off x="2187575" y="2689227"/>
            <a:ext cx="1643063" cy="530226"/>
            <a:chOff x="1378" y="1586"/>
            <a:chExt cx="1035" cy="334"/>
          </a:xfrm>
        </p:grpSpPr>
        <p:sp>
          <p:nvSpPr>
            <p:cNvPr id="130105" name="Text Box 34"/>
            <p:cNvSpPr txBox="1">
              <a:spLocks noChangeArrowheads="1"/>
            </p:cNvSpPr>
            <p:nvPr/>
          </p:nvSpPr>
          <p:spPr bwMode="auto">
            <a:xfrm>
              <a:off x="1378" y="1586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30106" name="AutoShape 35"/>
            <p:cNvSpPr>
              <a:spLocks noChangeArrowheads="1"/>
            </p:cNvSpPr>
            <p:nvPr/>
          </p:nvSpPr>
          <p:spPr bwMode="auto">
            <a:xfrm>
              <a:off x="1379" y="1640"/>
              <a:ext cx="736" cy="252"/>
            </a:xfrm>
            <a:prstGeom prst="roundRect">
              <a:avLst>
                <a:gd name="adj" fmla="val 16667"/>
              </a:avLst>
            </a:prstGeom>
            <a:solidFill>
              <a:srgbClr val="FFCC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07" name="Line 36"/>
            <p:cNvSpPr>
              <a:spLocks noChangeShapeType="1"/>
            </p:cNvSpPr>
            <p:nvPr/>
          </p:nvSpPr>
          <p:spPr bwMode="auto">
            <a:xfrm>
              <a:off x="1630" y="1639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08" name="Line 37"/>
            <p:cNvSpPr>
              <a:spLocks noChangeShapeType="1"/>
            </p:cNvSpPr>
            <p:nvPr/>
          </p:nvSpPr>
          <p:spPr bwMode="auto">
            <a:xfrm>
              <a:off x="1979" y="1768"/>
              <a:ext cx="43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09" name="Line 38"/>
            <p:cNvSpPr>
              <a:spLocks noChangeShapeType="1"/>
            </p:cNvSpPr>
            <p:nvPr/>
          </p:nvSpPr>
          <p:spPr bwMode="auto">
            <a:xfrm>
              <a:off x="1855" y="164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10" name="Text Box 39"/>
            <p:cNvSpPr txBox="1">
              <a:spLocks noChangeArrowheads="1"/>
            </p:cNvSpPr>
            <p:nvPr/>
          </p:nvSpPr>
          <p:spPr bwMode="auto">
            <a:xfrm>
              <a:off x="1619" y="1590"/>
              <a:ext cx="2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0</a:t>
              </a:r>
            </a:p>
          </p:txBody>
        </p:sp>
      </p:grpSp>
      <p:grpSp>
        <p:nvGrpSpPr>
          <p:cNvPr id="130059" name="Group 40"/>
          <p:cNvGrpSpPr>
            <a:grpSpLocks/>
          </p:cNvGrpSpPr>
          <p:nvPr/>
        </p:nvGrpSpPr>
        <p:grpSpPr bwMode="auto">
          <a:xfrm>
            <a:off x="3849688" y="2703511"/>
            <a:ext cx="1641475" cy="523874"/>
            <a:chOff x="1514" y="1590"/>
            <a:chExt cx="1034" cy="330"/>
          </a:xfrm>
        </p:grpSpPr>
        <p:sp>
          <p:nvSpPr>
            <p:cNvPr id="130100" name="AutoShape 41"/>
            <p:cNvSpPr>
              <a:spLocks noChangeArrowheads="1"/>
            </p:cNvSpPr>
            <p:nvPr/>
          </p:nvSpPr>
          <p:spPr bwMode="auto">
            <a:xfrm>
              <a:off x="1514" y="1640"/>
              <a:ext cx="736" cy="252"/>
            </a:xfrm>
            <a:prstGeom prst="roundRect">
              <a:avLst>
                <a:gd name="adj" fmla="val 16667"/>
              </a:avLst>
            </a:prstGeom>
            <a:solidFill>
              <a:srgbClr val="FFCC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01" name="Line 42"/>
            <p:cNvSpPr>
              <a:spLocks noChangeShapeType="1"/>
            </p:cNvSpPr>
            <p:nvPr/>
          </p:nvSpPr>
          <p:spPr bwMode="auto">
            <a:xfrm>
              <a:off x="1765" y="1639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02" name="Line 43"/>
            <p:cNvSpPr>
              <a:spLocks noChangeShapeType="1"/>
            </p:cNvSpPr>
            <p:nvPr/>
          </p:nvSpPr>
          <p:spPr bwMode="auto">
            <a:xfrm>
              <a:off x="2114" y="1768"/>
              <a:ext cx="43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03" name="Line 44"/>
            <p:cNvSpPr>
              <a:spLocks noChangeShapeType="1"/>
            </p:cNvSpPr>
            <p:nvPr/>
          </p:nvSpPr>
          <p:spPr bwMode="auto">
            <a:xfrm>
              <a:off x="1990" y="164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104" name="Text Box 45"/>
            <p:cNvSpPr txBox="1">
              <a:spLocks noChangeArrowheads="1"/>
            </p:cNvSpPr>
            <p:nvPr/>
          </p:nvSpPr>
          <p:spPr bwMode="auto">
            <a:xfrm>
              <a:off x="1754" y="1590"/>
              <a:ext cx="2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0</a:t>
              </a:r>
            </a:p>
          </p:txBody>
        </p:sp>
      </p:grpSp>
      <p:grpSp>
        <p:nvGrpSpPr>
          <p:cNvPr id="130060" name="Group 46"/>
          <p:cNvGrpSpPr>
            <a:grpSpLocks/>
          </p:cNvGrpSpPr>
          <p:nvPr/>
        </p:nvGrpSpPr>
        <p:grpSpPr bwMode="auto">
          <a:xfrm>
            <a:off x="5497513" y="2695577"/>
            <a:ext cx="1641475" cy="523876"/>
            <a:chOff x="1514" y="1590"/>
            <a:chExt cx="1034" cy="330"/>
          </a:xfrm>
        </p:grpSpPr>
        <p:sp>
          <p:nvSpPr>
            <p:cNvPr id="130095" name="AutoShape 47"/>
            <p:cNvSpPr>
              <a:spLocks noChangeArrowheads="1"/>
            </p:cNvSpPr>
            <p:nvPr/>
          </p:nvSpPr>
          <p:spPr bwMode="auto">
            <a:xfrm>
              <a:off x="1514" y="1640"/>
              <a:ext cx="736" cy="252"/>
            </a:xfrm>
            <a:prstGeom prst="roundRect">
              <a:avLst>
                <a:gd name="adj" fmla="val 16667"/>
              </a:avLst>
            </a:prstGeom>
            <a:solidFill>
              <a:srgbClr val="FFCC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096" name="Line 48"/>
            <p:cNvSpPr>
              <a:spLocks noChangeShapeType="1"/>
            </p:cNvSpPr>
            <p:nvPr/>
          </p:nvSpPr>
          <p:spPr bwMode="auto">
            <a:xfrm>
              <a:off x="1765" y="1639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097" name="Line 49"/>
            <p:cNvSpPr>
              <a:spLocks noChangeShapeType="1"/>
            </p:cNvSpPr>
            <p:nvPr/>
          </p:nvSpPr>
          <p:spPr bwMode="auto">
            <a:xfrm>
              <a:off x="2114" y="1768"/>
              <a:ext cx="43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098" name="Line 50"/>
            <p:cNvSpPr>
              <a:spLocks noChangeShapeType="1"/>
            </p:cNvSpPr>
            <p:nvPr/>
          </p:nvSpPr>
          <p:spPr bwMode="auto">
            <a:xfrm>
              <a:off x="1990" y="164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099" name="Text Box 51"/>
            <p:cNvSpPr txBox="1">
              <a:spLocks noChangeArrowheads="1"/>
            </p:cNvSpPr>
            <p:nvPr/>
          </p:nvSpPr>
          <p:spPr bwMode="auto">
            <a:xfrm>
              <a:off x="1754" y="1590"/>
              <a:ext cx="2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0</a:t>
              </a:r>
            </a:p>
          </p:txBody>
        </p:sp>
      </p:grpSp>
      <p:sp>
        <p:nvSpPr>
          <p:cNvPr id="130061" name="Text Box 52"/>
          <p:cNvSpPr txBox="1">
            <a:spLocks noChangeArrowheads="1"/>
          </p:cNvSpPr>
          <p:nvPr/>
        </p:nvSpPr>
        <p:spPr bwMode="auto">
          <a:xfrm>
            <a:off x="2189163" y="2689225"/>
            <a:ext cx="38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a</a:t>
            </a:r>
          </a:p>
        </p:txBody>
      </p:sp>
      <p:sp>
        <p:nvSpPr>
          <p:cNvPr id="130062" name="Text Box 53"/>
          <p:cNvSpPr txBox="1">
            <a:spLocks noChangeArrowheads="1"/>
          </p:cNvSpPr>
          <p:nvPr/>
        </p:nvSpPr>
        <p:spPr bwMode="auto">
          <a:xfrm>
            <a:off x="3842561" y="2697163"/>
            <a:ext cx="4040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b</a:t>
            </a:r>
          </a:p>
        </p:txBody>
      </p:sp>
      <p:sp>
        <p:nvSpPr>
          <p:cNvPr id="130063" name="Text Box 54"/>
          <p:cNvSpPr txBox="1">
            <a:spLocks noChangeArrowheads="1"/>
          </p:cNvSpPr>
          <p:nvPr/>
        </p:nvSpPr>
        <p:spPr bwMode="auto">
          <a:xfrm>
            <a:off x="5538598" y="2705100"/>
            <a:ext cx="3843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>
                <a:latin typeface="Arial"/>
                <a:cs typeface="Arial"/>
              </a:rPr>
              <a:t>c</a:t>
            </a:r>
          </a:p>
        </p:txBody>
      </p:sp>
      <p:grpSp>
        <p:nvGrpSpPr>
          <p:cNvPr id="130064" name="Group 55"/>
          <p:cNvGrpSpPr>
            <a:grpSpLocks/>
          </p:cNvGrpSpPr>
          <p:nvPr/>
        </p:nvGrpSpPr>
        <p:grpSpPr bwMode="auto">
          <a:xfrm>
            <a:off x="7100888" y="2684466"/>
            <a:ext cx="1168400" cy="528638"/>
            <a:chOff x="4473" y="1691"/>
            <a:chExt cx="736" cy="333"/>
          </a:xfrm>
        </p:grpSpPr>
        <p:sp>
          <p:nvSpPr>
            <p:cNvPr id="130090" name="AutoShape 56"/>
            <p:cNvSpPr>
              <a:spLocks noChangeArrowheads="1"/>
            </p:cNvSpPr>
            <p:nvPr/>
          </p:nvSpPr>
          <p:spPr bwMode="auto">
            <a:xfrm>
              <a:off x="4473" y="1736"/>
              <a:ext cx="736" cy="258"/>
            </a:xfrm>
            <a:prstGeom prst="roundRect">
              <a:avLst>
                <a:gd name="adj" fmla="val 16667"/>
              </a:avLst>
            </a:prstGeom>
            <a:solidFill>
              <a:srgbClr val="FFCCCC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091" name="Line 57"/>
            <p:cNvSpPr>
              <a:spLocks noChangeShapeType="1"/>
            </p:cNvSpPr>
            <p:nvPr/>
          </p:nvSpPr>
          <p:spPr bwMode="auto">
            <a:xfrm>
              <a:off x="4724" y="1735"/>
              <a:ext cx="0" cy="2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092" name="Line 58"/>
            <p:cNvSpPr>
              <a:spLocks noChangeShapeType="1"/>
            </p:cNvSpPr>
            <p:nvPr/>
          </p:nvSpPr>
          <p:spPr bwMode="auto">
            <a:xfrm>
              <a:off x="4949" y="1740"/>
              <a:ext cx="0" cy="2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093" name="Text Box 59"/>
            <p:cNvSpPr txBox="1">
              <a:spLocks noChangeArrowheads="1"/>
            </p:cNvSpPr>
            <p:nvPr/>
          </p:nvSpPr>
          <p:spPr bwMode="auto">
            <a:xfrm>
              <a:off x="4713" y="1694"/>
              <a:ext cx="2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0094" name="Text Box 60"/>
            <p:cNvSpPr txBox="1">
              <a:spLocks noChangeArrowheads="1"/>
            </p:cNvSpPr>
            <p:nvPr/>
          </p:nvSpPr>
          <p:spPr bwMode="auto">
            <a:xfrm>
              <a:off x="4483" y="1691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e</a:t>
              </a:r>
            </a:p>
          </p:txBody>
        </p:sp>
      </p:grpSp>
      <p:grpSp>
        <p:nvGrpSpPr>
          <p:cNvPr id="130065" name="Group 61"/>
          <p:cNvGrpSpPr>
            <a:grpSpLocks/>
          </p:cNvGrpSpPr>
          <p:nvPr/>
        </p:nvGrpSpPr>
        <p:grpSpPr bwMode="auto">
          <a:xfrm>
            <a:off x="5446713" y="2674940"/>
            <a:ext cx="1684337" cy="541338"/>
            <a:chOff x="3431" y="1685"/>
            <a:chExt cx="1061" cy="341"/>
          </a:xfrm>
        </p:grpSpPr>
        <p:grpSp>
          <p:nvGrpSpPr>
            <p:cNvPr id="130083" name="Group 62"/>
            <p:cNvGrpSpPr>
              <a:grpSpLocks/>
            </p:cNvGrpSpPr>
            <p:nvPr/>
          </p:nvGrpSpPr>
          <p:grpSpPr bwMode="auto">
            <a:xfrm>
              <a:off x="3458" y="1696"/>
              <a:ext cx="1034" cy="330"/>
              <a:chOff x="1514" y="1590"/>
              <a:chExt cx="1034" cy="330"/>
            </a:xfrm>
          </p:grpSpPr>
          <p:sp>
            <p:nvSpPr>
              <p:cNvPr id="130085" name="AutoShape 63"/>
              <p:cNvSpPr>
                <a:spLocks noChangeArrowheads="1"/>
              </p:cNvSpPr>
              <p:nvPr/>
            </p:nvSpPr>
            <p:spPr bwMode="auto">
              <a:xfrm>
                <a:off x="1514" y="1640"/>
                <a:ext cx="736" cy="252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30086" name="Line 64"/>
              <p:cNvSpPr>
                <a:spLocks noChangeShapeType="1"/>
              </p:cNvSpPr>
              <p:nvPr/>
            </p:nvSpPr>
            <p:spPr bwMode="auto">
              <a:xfrm>
                <a:off x="1765" y="1639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30087" name="Line 65"/>
              <p:cNvSpPr>
                <a:spLocks noChangeShapeType="1"/>
              </p:cNvSpPr>
              <p:nvPr/>
            </p:nvSpPr>
            <p:spPr bwMode="auto">
              <a:xfrm>
                <a:off x="2114" y="1768"/>
                <a:ext cx="434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30088" name="Line 66"/>
              <p:cNvSpPr>
                <a:spLocks noChangeShapeType="1"/>
              </p:cNvSpPr>
              <p:nvPr/>
            </p:nvSpPr>
            <p:spPr bwMode="auto">
              <a:xfrm>
                <a:off x="1990" y="1644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30089" name="Text Box 67"/>
              <p:cNvSpPr txBox="1">
                <a:spLocks noChangeArrowheads="1"/>
              </p:cNvSpPr>
              <p:nvPr/>
            </p:nvSpPr>
            <p:spPr bwMode="auto">
              <a:xfrm>
                <a:off x="1754" y="1590"/>
                <a:ext cx="24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r"/>
                <a:r>
                  <a:rPr lang="en-US" sz="2800">
                    <a:latin typeface="Arial"/>
                    <a:cs typeface="Arial"/>
                  </a:rPr>
                  <a:t>1</a:t>
                </a:r>
              </a:p>
            </p:txBody>
          </p:sp>
        </p:grpSp>
        <p:sp>
          <p:nvSpPr>
            <p:cNvPr id="130084" name="Text Box 68"/>
            <p:cNvSpPr txBox="1">
              <a:spLocks noChangeArrowheads="1"/>
            </p:cNvSpPr>
            <p:nvPr/>
          </p:nvSpPr>
          <p:spPr bwMode="auto">
            <a:xfrm>
              <a:off x="3431" y="1685"/>
              <a:ext cx="25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>
                  <a:latin typeface="Arial"/>
                  <a:cs typeface="Arial"/>
                </a:rPr>
                <a:t>d</a:t>
              </a:r>
            </a:p>
          </p:txBody>
        </p:sp>
      </p:grpSp>
      <p:sp>
        <p:nvSpPr>
          <p:cNvPr id="130066" name="Text Box 69"/>
          <p:cNvSpPr txBox="1">
            <a:spLocks noChangeArrowheads="1"/>
          </p:cNvSpPr>
          <p:nvPr/>
        </p:nvSpPr>
        <p:spPr bwMode="auto">
          <a:xfrm>
            <a:off x="436563" y="4200525"/>
            <a:ext cx="833278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l"/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Combine blocking and non-blocking: </a:t>
            </a:r>
            <a:r>
              <a:rPr lang="en-US" sz="2800" b="0" i="1" dirty="0">
                <a:solidFill>
                  <a:srgbClr val="0000FF"/>
                </a:solidFill>
                <a:latin typeface="Arial"/>
                <a:cs typeface="Arial"/>
              </a:rPr>
              <a:t>deadlock-free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urier" pitchFamily="49" charset="0"/>
                <a:cs typeface="Arial"/>
              </a:rPr>
              <a:t>add</a:t>
            </a:r>
            <a:r>
              <a:rPr lang="en-US" sz="2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 and </a:t>
            </a:r>
            <a:r>
              <a:rPr lang="en-US" sz="2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remove()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 and </a:t>
            </a:r>
            <a:r>
              <a:rPr lang="en-US" sz="2800" b="0" i="1" dirty="0">
                <a:solidFill>
                  <a:srgbClr val="0000FF"/>
                </a:solidFill>
                <a:latin typeface="Arial"/>
                <a:cs typeface="Arial"/>
              </a:rPr>
              <a:t>wait-free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contains()</a:t>
            </a:r>
          </a:p>
        </p:txBody>
      </p:sp>
      <p:grpSp>
        <p:nvGrpSpPr>
          <p:cNvPr id="130067" name="Group 70"/>
          <p:cNvGrpSpPr>
            <a:grpSpLocks/>
          </p:cNvGrpSpPr>
          <p:nvPr/>
        </p:nvGrpSpPr>
        <p:grpSpPr bwMode="auto">
          <a:xfrm>
            <a:off x="877888" y="1681163"/>
            <a:ext cx="6684962" cy="466725"/>
            <a:chOff x="689" y="1009"/>
            <a:chExt cx="3326" cy="294"/>
          </a:xfrm>
        </p:grpSpPr>
        <p:sp>
          <p:nvSpPr>
            <p:cNvPr id="130072" name="Freeform 71"/>
            <p:cNvSpPr>
              <a:spLocks/>
            </p:cNvSpPr>
            <p:nvPr/>
          </p:nvSpPr>
          <p:spPr bwMode="auto">
            <a:xfrm>
              <a:off x="689" y="1012"/>
              <a:ext cx="2888" cy="291"/>
            </a:xfrm>
            <a:custGeom>
              <a:avLst/>
              <a:gdLst>
                <a:gd name="T0" fmla="*/ 0 w 1070"/>
                <a:gd name="T1" fmla="*/ 1799 h 216"/>
                <a:gd name="T2" fmla="*/ 2147483647 w 1070"/>
                <a:gd name="T3" fmla="*/ 53 h 216"/>
                <a:gd name="T4" fmla="*/ 2147483647 w 1070"/>
                <a:gd name="T5" fmla="*/ 1501 h 216"/>
                <a:gd name="T6" fmla="*/ 2147483647 w 1070"/>
                <a:gd name="T7" fmla="*/ 362 h 216"/>
                <a:gd name="T8" fmla="*/ 2147483647 w 1070"/>
                <a:gd name="T9" fmla="*/ 1263 h 216"/>
                <a:gd name="T10" fmla="*/ 2147483647 w 1070"/>
                <a:gd name="T11" fmla="*/ 664 h 216"/>
                <a:gd name="T12" fmla="*/ 2147483647 w 1070"/>
                <a:gd name="T13" fmla="*/ 1043 h 216"/>
                <a:gd name="T14" fmla="*/ 2147483647 w 1070"/>
                <a:gd name="T15" fmla="*/ 732 h 2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70"/>
                <a:gd name="T25" fmla="*/ 0 h 216"/>
                <a:gd name="T26" fmla="*/ 1070 w 1070"/>
                <a:gd name="T27" fmla="*/ 216 h 2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70" h="216">
                  <a:moveTo>
                    <a:pt x="0" y="216"/>
                  </a:moveTo>
                  <a:cubicBezTo>
                    <a:pt x="54" y="114"/>
                    <a:pt x="108" y="12"/>
                    <a:pt x="164" y="6"/>
                  </a:cubicBezTo>
                  <a:cubicBezTo>
                    <a:pt x="220" y="0"/>
                    <a:pt x="279" y="174"/>
                    <a:pt x="338" y="180"/>
                  </a:cubicBezTo>
                  <a:cubicBezTo>
                    <a:pt x="397" y="186"/>
                    <a:pt x="474" y="48"/>
                    <a:pt x="521" y="43"/>
                  </a:cubicBezTo>
                  <a:cubicBezTo>
                    <a:pt x="568" y="38"/>
                    <a:pt x="579" y="146"/>
                    <a:pt x="622" y="152"/>
                  </a:cubicBezTo>
                  <a:cubicBezTo>
                    <a:pt x="665" y="158"/>
                    <a:pt x="731" y="83"/>
                    <a:pt x="777" y="79"/>
                  </a:cubicBezTo>
                  <a:cubicBezTo>
                    <a:pt x="823" y="75"/>
                    <a:pt x="847" y="124"/>
                    <a:pt x="896" y="125"/>
                  </a:cubicBezTo>
                  <a:cubicBezTo>
                    <a:pt x="945" y="126"/>
                    <a:pt x="1007" y="107"/>
                    <a:pt x="1070" y="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130073" name="Group 72"/>
            <p:cNvGrpSpPr>
              <a:grpSpLocks/>
            </p:cNvGrpSpPr>
            <p:nvPr/>
          </p:nvGrpSpPr>
          <p:grpSpPr bwMode="auto">
            <a:xfrm>
              <a:off x="3624" y="1009"/>
              <a:ext cx="391" cy="268"/>
              <a:chOff x="1584" y="816"/>
              <a:chExt cx="912" cy="816"/>
            </a:xfrm>
          </p:grpSpPr>
          <p:sp>
            <p:nvSpPr>
              <p:cNvPr id="130074" name="Freeform 73"/>
              <p:cNvSpPr>
                <a:spLocks/>
              </p:cNvSpPr>
              <p:nvPr/>
            </p:nvSpPr>
            <p:spPr bwMode="auto">
              <a:xfrm>
                <a:off x="2352" y="1056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30075" name="Freeform 74"/>
              <p:cNvSpPr>
                <a:spLocks/>
              </p:cNvSpPr>
              <p:nvPr/>
            </p:nvSpPr>
            <p:spPr bwMode="auto">
              <a:xfrm>
                <a:off x="2160" y="912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30076" name="Freeform 75"/>
              <p:cNvSpPr>
                <a:spLocks/>
              </p:cNvSpPr>
              <p:nvPr/>
            </p:nvSpPr>
            <p:spPr bwMode="auto">
              <a:xfrm>
                <a:off x="1920" y="816"/>
                <a:ext cx="144" cy="288"/>
              </a:xfrm>
              <a:custGeom>
                <a:avLst/>
                <a:gdLst>
                  <a:gd name="T0" fmla="*/ 0 w 144"/>
                  <a:gd name="T1" fmla="*/ 3 h 336"/>
                  <a:gd name="T2" fmla="*/ 96 w 144"/>
                  <a:gd name="T3" fmla="*/ 0 h 336"/>
                  <a:gd name="T4" fmla="*/ 144 w 144"/>
                  <a:gd name="T5" fmla="*/ 3 h 336"/>
                  <a:gd name="T6" fmla="*/ 144 w 144"/>
                  <a:gd name="T7" fmla="*/ 21 h 336"/>
                  <a:gd name="T8" fmla="*/ 96 w 144"/>
                  <a:gd name="T9" fmla="*/ 18 h 336"/>
                  <a:gd name="T10" fmla="*/ 96 w 144"/>
                  <a:gd name="T11" fmla="*/ 6 h 336"/>
                  <a:gd name="T12" fmla="*/ 0 w 144"/>
                  <a:gd name="T13" fmla="*/ 9 h 336"/>
                  <a:gd name="T14" fmla="*/ 0 w 144"/>
                  <a:gd name="T15" fmla="*/ 3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30077" name="Freeform 76"/>
              <p:cNvSpPr>
                <a:spLocks/>
              </p:cNvSpPr>
              <p:nvPr/>
            </p:nvSpPr>
            <p:spPr bwMode="auto">
              <a:xfrm>
                <a:off x="1659" y="816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30078" name="Freeform 77"/>
              <p:cNvSpPr>
                <a:spLocks/>
              </p:cNvSpPr>
              <p:nvPr/>
            </p:nvSpPr>
            <p:spPr bwMode="auto">
              <a:xfrm>
                <a:off x="1669" y="912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30079" name="Freeform 78"/>
              <p:cNvSpPr>
                <a:spLocks/>
              </p:cNvSpPr>
              <p:nvPr/>
            </p:nvSpPr>
            <p:spPr bwMode="auto">
              <a:xfrm>
                <a:off x="2144" y="1152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0000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30080" name="Freeform 79"/>
              <p:cNvSpPr>
                <a:spLocks/>
              </p:cNvSpPr>
              <p:nvPr/>
            </p:nvSpPr>
            <p:spPr bwMode="auto">
              <a:xfrm>
                <a:off x="1920" y="1296"/>
                <a:ext cx="240" cy="336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2 h 432"/>
                  <a:gd name="T4" fmla="*/ 1 w 336"/>
                  <a:gd name="T5" fmla="*/ 2 h 432"/>
                  <a:gd name="T6" fmla="*/ 1 w 336"/>
                  <a:gd name="T7" fmla="*/ 4 h 432"/>
                  <a:gd name="T8" fmla="*/ 0 w 336"/>
                  <a:gd name="T9" fmla="*/ 3 h 432"/>
                  <a:gd name="T10" fmla="*/ 0 w 336"/>
                  <a:gd name="T11" fmla="*/ 2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30081" name="Freeform 80"/>
              <p:cNvSpPr>
                <a:spLocks/>
              </p:cNvSpPr>
              <p:nvPr/>
            </p:nvSpPr>
            <p:spPr bwMode="auto">
              <a:xfrm>
                <a:off x="1728" y="1152"/>
                <a:ext cx="240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30082" name="Freeform 81"/>
              <p:cNvSpPr>
                <a:spLocks/>
              </p:cNvSpPr>
              <p:nvPr/>
            </p:nvSpPr>
            <p:spPr bwMode="auto">
              <a:xfrm>
                <a:off x="1584" y="1008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</p:grpSp>
      <p:sp>
        <p:nvSpPr>
          <p:cNvPr id="85" name="Freeform 61"/>
          <p:cNvSpPr>
            <a:spLocks/>
          </p:cNvSpPr>
          <p:nvPr/>
        </p:nvSpPr>
        <p:spPr bwMode="auto">
          <a:xfrm>
            <a:off x="4827588" y="3021013"/>
            <a:ext cx="2582862" cy="901700"/>
          </a:xfrm>
          <a:custGeom>
            <a:avLst/>
            <a:gdLst>
              <a:gd name="T0" fmla="*/ 2147483647 w 1819"/>
              <a:gd name="T1" fmla="*/ 0 h 531"/>
              <a:gd name="T2" fmla="*/ 2147483647 w 1819"/>
              <a:gd name="T3" fmla="*/ 2147483647 h 531"/>
              <a:gd name="T4" fmla="*/ 2147483647 w 1819"/>
              <a:gd name="T5" fmla="*/ 2147483647 h 531"/>
              <a:gd name="T6" fmla="*/ 2147483647 w 1819"/>
              <a:gd name="T7" fmla="*/ 2147483647 h 531"/>
              <a:gd name="T8" fmla="*/ 0 60000 65536"/>
              <a:gd name="T9" fmla="*/ 0 60000 65536"/>
              <a:gd name="T10" fmla="*/ 0 60000 65536"/>
              <a:gd name="T11" fmla="*/ 0 60000 65536"/>
              <a:gd name="T12" fmla="*/ 0 w 1819"/>
              <a:gd name="T13" fmla="*/ 0 h 531"/>
              <a:gd name="T14" fmla="*/ 1819 w 1819"/>
              <a:gd name="T15" fmla="*/ 531 h 5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19" h="531">
                <a:moveTo>
                  <a:pt x="22" y="0"/>
                </a:moveTo>
                <a:cubicBezTo>
                  <a:pt x="11" y="174"/>
                  <a:pt x="0" y="348"/>
                  <a:pt x="230" y="427"/>
                </a:cubicBezTo>
                <a:cubicBezTo>
                  <a:pt x="460" y="506"/>
                  <a:pt x="1137" y="531"/>
                  <a:pt x="1402" y="476"/>
                </a:cubicBezTo>
                <a:cubicBezTo>
                  <a:pt x="1667" y="421"/>
                  <a:pt x="1743" y="260"/>
                  <a:pt x="1819" y="99"/>
                </a:cubicBezTo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grpSp>
        <p:nvGrpSpPr>
          <p:cNvPr id="16" name="Group 70"/>
          <p:cNvGrpSpPr>
            <a:grpSpLocks/>
          </p:cNvGrpSpPr>
          <p:nvPr/>
        </p:nvGrpSpPr>
        <p:grpSpPr bwMode="auto">
          <a:xfrm>
            <a:off x="4176714" y="2170111"/>
            <a:ext cx="1833563" cy="485775"/>
            <a:chOff x="2770" y="1315"/>
            <a:chExt cx="1155" cy="306"/>
          </a:xfrm>
        </p:grpSpPr>
        <p:sp>
          <p:nvSpPr>
            <p:cNvPr id="130070" name="Rectangle 71"/>
            <p:cNvSpPr>
              <a:spLocks noChangeArrowheads="1"/>
            </p:cNvSpPr>
            <p:nvPr/>
          </p:nvSpPr>
          <p:spPr bwMode="auto">
            <a:xfrm>
              <a:off x="2770" y="1315"/>
              <a:ext cx="116" cy="2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0071" name="Rectangle 72"/>
            <p:cNvSpPr>
              <a:spLocks noChangeArrowheads="1"/>
            </p:cNvSpPr>
            <p:nvPr/>
          </p:nvSpPr>
          <p:spPr bwMode="auto">
            <a:xfrm>
              <a:off x="3809" y="1330"/>
              <a:ext cx="116" cy="2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694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9B0E2675-15FE-064B-9439-6EAA6AE839A1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125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107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9250"/>
            <a:ext cx="7772400" cy="1143000"/>
          </a:xfrm>
        </p:spPr>
        <p:txBody>
          <a:bodyPr/>
          <a:lstStyle/>
          <a:p>
            <a:r>
              <a:rPr lang="en-US" dirty="0">
                <a:latin typeface="Arial"/>
                <a:ea typeface="ＭＳ Ｐゴシック" charset="0"/>
                <a:cs typeface="Arial"/>
              </a:rPr>
              <a:t>Lock-free List-Based Set </a:t>
            </a:r>
          </a:p>
        </p:txBody>
      </p:sp>
      <p:sp>
        <p:nvSpPr>
          <p:cNvPr id="131076" name="AutoShape 4"/>
          <p:cNvSpPr>
            <a:spLocks noChangeArrowheads="1"/>
          </p:cNvSpPr>
          <p:nvPr/>
        </p:nvSpPr>
        <p:spPr bwMode="auto">
          <a:xfrm>
            <a:off x="557213" y="2781300"/>
            <a:ext cx="1109662" cy="385763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77" name="Line 5"/>
          <p:cNvSpPr>
            <a:spLocks noChangeShapeType="1"/>
          </p:cNvSpPr>
          <p:nvPr/>
        </p:nvSpPr>
        <p:spPr bwMode="auto">
          <a:xfrm>
            <a:off x="893763" y="2790825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78" name="Line 6"/>
          <p:cNvSpPr>
            <a:spLocks noChangeShapeType="1"/>
          </p:cNvSpPr>
          <p:nvPr/>
        </p:nvSpPr>
        <p:spPr bwMode="auto">
          <a:xfrm>
            <a:off x="1477963" y="2967038"/>
            <a:ext cx="6889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79" name="Text Box 9"/>
          <p:cNvSpPr txBox="1">
            <a:spLocks noChangeArrowheads="1"/>
          </p:cNvSpPr>
          <p:nvPr/>
        </p:nvSpPr>
        <p:spPr bwMode="auto">
          <a:xfrm>
            <a:off x="2187575" y="2689225"/>
            <a:ext cx="38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 b="0">
                <a:latin typeface="Arial"/>
                <a:cs typeface="Arial"/>
              </a:rPr>
              <a:t>a</a:t>
            </a:r>
          </a:p>
        </p:txBody>
      </p:sp>
      <p:sp>
        <p:nvSpPr>
          <p:cNvPr id="131080" name="AutoShape 10"/>
          <p:cNvSpPr>
            <a:spLocks noChangeArrowheads="1"/>
          </p:cNvSpPr>
          <p:nvPr/>
        </p:nvSpPr>
        <p:spPr bwMode="auto">
          <a:xfrm>
            <a:off x="2189163" y="2774950"/>
            <a:ext cx="1168400" cy="400050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81" name="Line 11"/>
          <p:cNvSpPr>
            <a:spLocks noChangeShapeType="1"/>
          </p:cNvSpPr>
          <p:nvPr/>
        </p:nvSpPr>
        <p:spPr bwMode="auto">
          <a:xfrm>
            <a:off x="2587625" y="277336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82" name="Line 12"/>
          <p:cNvSpPr>
            <a:spLocks noChangeShapeType="1"/>
          </p:cNvSpPr>
          <p:nvPr/>
        </p:nvSpPr>
        <p:spPr bwMode="auto">
          <a:xfrm>
            <a:off x="3141663" y="2978150"/>
            <a:ext cx="6889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83" name="Text Box 14"/>
          <p:cNvSpPr txBox="1">
            <a:spLocks noChangeArrowheads="1"/>
          </p:cNvSpPr>
          <p:nvPr/>
        </p:nvSpPr>
        <p:spPr bwMode="auto">
          <a:xfrm>
            <a:off x="2569973" y="2695575"/>
            <a:ext cx="3843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 b="0">
                <a:latin typeface="Arial"/>
                <a:cs typeface="Arial"/>
              </a:rPr>
              <a:t>0</a:t>
            </a:r>
          </a:p>
        </p:txBody>
      </p:sp>
      <p:sp>
        <p:nvSpPr>
          <p:cNvPr id="131084" name="AutoShape 16"/>
          <p:cNvSpPr>
            <a:spLocks noChangeArrowheads="1"/>
          </p:cNvSpPr>
          <p:nvPr/>
        </p:nvSpPr>
        <p:spPr bwMode="auto">
          <a:xfrm>
            <a:off x="3849688" y="2782888"/>
            <a:ext cx="1168400" cy="400050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85" name="Line 17"/>
          <p:cNvSpPr>
            <a:spLocks noChangeShapeType="1"/>
          </p:cNvSpPr>
          <p:nvPr/>
        </p:nvSpPr>
        <p:spPr bwMode="auto">
          <a:xfrm>
            <a:off x="4248150" y="27813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86" name="Line 18"/>
          <p:cNvSpPr>
            <a:spLocks noChangeShapeType="1"/>
          </p:cNvSpPr>
          <p:nvPr/>
        </p:nvSpPr>
        <p:spPr bwMode="auto">
          <a:xfrm>
            <a:off x="4802188" y="2986088"/>
            <a:ext cx="6889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87" name="Text Box 20"/>
          <p:cNvSpPr txBox="1">
            <a:spLocks noChangeArrowheads="1"/>
          </p:cNvSpPr>
          <p:nvPr/>
        </p:nvSpPr>
        <p:spPr bwMode="auto">
          <a:xfrm>
            <a:off x="4230498" y="2703513"/>
            <a:ext cx="3843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 b="0">
                <a:latin typeface="Arial"/>
                <a:cs typeface="Arial"/>
              </a:rPr>
              <a:t>0</a:t>
            </a:r>
          </a:p>
        </p:txBody>
      </p:sp>
      <p:sp>
        <p:nvSpPr>
          <p:cNvPr id="131088" name="AutoShape 22"/>
          <p:cNvSpPr>
            <a:spLocks noChangeArrowheads="1"/>
          </p:cNvSpPr>
          <p:nvPr/>
        </p:nvSpPr>
        <p:spPr bwMode="auto">
          <a:xfrm>
            <a:off x="5497513" y="2774950"/>
            <a:ext cx="1168400" cy="400050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89" name="Line 23"/>
          <p:cNvSpPr>
            <a:spLocks noChangeShapeType="1"/>
          </p:cNvSpPr>
          <p:nvPr/>
        </p:nvSpPr>
        <p:spPr bwMode="auto">
          <a:xfrm>
            <a:off x="5895975" y="277336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90" name="Line 24"/>
          <p:cNvSpPr>
            <a:spLocks noChangeShapeType="1"/>
          </p:cNvSpPr>
          <p:nvPr/>
        </p:nvSpPr>
        <p:spPr bwMode="auto">
          <a:xfrm>
            <a:off x="6450013" y="2978150"/>
            <a:ext cx="6889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91" name="Text Box 26"/>
          <p:cNvSpPr txBox="1">
            <a:spLocks noChangeArrowheads="1"/>
          </p:cNvSpPr>
          <p:nvPr/>
        </p:nvSpPr>
        <p:spPr bwMode="auto">
          <a:xfrm>
            <a:off x="5878323" y="2695575"/>
            <a:ext cx="3843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 b="0">
                <a:latin typeface="Arial"/>
                <a:cs typeface="Arial"/>
              </a:rPr>
              <a:t>0</a:t>
            </a:r>
          </a:p>
        </p:txBody>
      </p:sp>
      <p:sp>
        <p:nvSpPr>
          <p:cNvPr id="131092" name="Text Box 27"/>
          <p:cNvSpPr txBox="1">
            <a:spLocks noChangeArrowheads="1"/>
          </p:cNvSpPr>
          <p:nvPr/>
        </p:nvSpPr>
        <p:spPr bwMode="auto">
          <a:xfrm>
            <a:off x="2189163" y="2689225"/>
            <a:ext cx="38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 b="0">
                <a:latin typeface="Arial"/>
                <a:cs typeface="Arial"/>
              </a:rPr>
              <a:t>a</a:t>
            </a:r>
          </a:p>
        </p:txBody>
      </p:sp>
      <p:sp>
        <p:nvSpPr>
          <p:cNvPr id="131093" name="Text Box 28"/>
          <p:cNvSpPr txBox="1">
            <a:spLocks noChangeArrowheads="1"/>
          </p:cNvSpPr>
          <p:nvPr/>
        </p:nvSpPr>
        <p:spPr bwMode="auto">
          <a:xfrm>
            <a:off x="3862198" y="2697163"/>
            <a:ext cx="3843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 b="0">
                <a:latin typeface="Arial"/>
                <a:cs typeface="Arial"/>
              </a:rPr>
              <a:t>b</a:t>
            </a:r>
          </a:p>
        </p:txBody>
      </p:sp>
      <p:sp>
        <p:nvSpPr>
          <p:cNvPr id="131094" name="Text Box 29"/>
          <p:cNvSpPr txBox="1">
            <a:spLocks noChangeArrowheads="1"/>
          </p:cNvSpPr>
          <p:nvPr/>
        </p:nvSpPr>
        <p:spPr bwMode="auto">
          <a:xfrm>
            <a:off x="5558761" y="2705100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 b="0">
                <a:latin typeface="Arial"/>
                <a:cs typeface="Arial"/>
              </a:rPr>
              <a:t>c</a:t>
            </a:r>
          </a:p>
        </p:txBody>
      </p:sp>
      <p:sp>
        <p:nvSpPr>
          <p:cNvPr id="131095" name="AutoShape 31"/>
          <p:cNvSpPr>
            <a:spLocks noChangeArrowheads="1"/>
          </p:cNvSpPr>
          <p:nvPr/>
        </p:nvSpPr>
        <p:spPr bwMode="auto">
          <a:xfrm>
            <a:off x="7100888" y="2755900"/>
            <a:ext cx="1168400" cy="409575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96" name="Line 32"/>
          <p:cNvSpPr>
            <a:spLocks noChangeShapeType="1"/>
          </p:cNvSpPr>
          <p:nvPr/>
        </p:nvSpPr>
        <p:spPr bwMode="auto">
          <a:xfrm>
            <a:off x="7499350" y="2754313"/>
            <a:ext cx="0" cy="388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31097" name="Text Box 34"/>
          <p:cNvSpPr txBox="1">
            <a:spLocks noChangeArrowheads="1"/>
          </p:cNvSpPr>
          <p:nvPr/>
        </p:nvSpPr>
        <p:spPr bwMode="auto">
          <a:xfrm>
            <a:off x="7481698" y="2689225"/>
            <a:ext cx="3843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 b="0">
                <a:latin typeface="Arial"/>
                <a:cs typeface="Arial"/>
              </a:rPr>
              <a:t>0</a:t>
            </a:r>
          </a:p>
        </p:txBody>
      </p:sp>
      <p:sp>
        <p:nvSpPr>
          <p:cNvPr id="131098" name="Text Box 35"/>
          <p:cNvSpPr txBox="1">
            <a:spLocks noChangeArrowheads="1"/>
          </p:cNvSpPr>
          <p:nvPr/>
        </p:nvSpPr>
        <p:spPr bwMode="auto">
          <a:xfrm>
            <a:off x="7116763" y="268446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800" b="0">
                <a:latin typeface="Arial"/>
                <a:cs typeface="Arial"/>
              </a:rPr>
              <a:t>e</a:t>
            </a:r>
          </a:p>
        </p:txBody>
      </p:sp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5491163" y="2687640"/>
            <a:ext cx="1641475" cy="528638"/>
            <a:chOff x="1182" y="1154"/>
            <a:chExt cx="1034" cy="333"/>
          </a:xfrm>
        </p:grpSpPr>
        <p:sp>
          <p:nvSpPr>
            <p:cNvPr id="131121" name="AutoShape 38"/>
            <p:cNvSpPr>
              <a:spLocks noChangeArrowheads="1"/>
            </p:cNvSpPr>
            <p:nvPr/>
          </p:nvSpPr>
          <p:spPr bwMode="auto">
            <a:xfrm>
              <a:off x="1182" y="1207"/>
              <a:ext cx="736" cy="252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b="0">
                <a:latin typeface="Arial"/>
                <a:cs typeface="Arial"/>
              </a:endParaRPr>
            </a:p>
          </p:txBody>
        </p:sp>
        <p:sp>
          <p:nvSpPr>
            <p:cNvPr id="131122" name="Line 39"/>
            <p:cNvSpPr>
              <a:spLocks noChangeShapeType="1"/>
            </p:cNvSpPr>
            <p:nvPr/>
          </p:nvSpPr>
          <p:spPr bwMode="auto">
            <a:xfrm>
              <a:off x="1433" y="120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latin typeface="Arial"/>
                <a:cs typeface="Arial"/>
              </a:endParaRPr>
            </a:p>
          </p:txBody>
        </p:sp>
        <p:sp>
          <p:nvSpPr>
            <p:cNvPr id="131123" name="Line 40"/>
            <p:cNvSpPr>
              <a:spLocks noChangeShapeType="1"/>
            </p:cNvSpPr>
            <p:nvPr/>
          </p:nvSpPr>
          <p:spPr bwMode="auto">
            <a:xfrm>
              <a:off x="1782" y="1335"/>
              <a:ext cx="43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latin typeface="Arial"/>
                <a:cs typeface="Arial"/>
              </a:endParaRPr>
            </a:p>
          </p:txBody>
        </p:sp>
        <p:sp>
          <p:nvSpPr>
            <p:cNvPr id="131124" name="Text Box 42"/>
            <p:cNvSpPr txBox="1">
              <a:spLocks noChangeArrowheads="1"/>
            </p:cNvSpPr>
            <p:nvPr/>
          </p:nvSpPr>
          <p:spPr bwMode="auto">
            <a:xfrm>
              <a:off x="1422" y="1157"/>
              <a:ext cx="2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 b="0"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1125" name="Text Box 43"/>
            <p:cNvSpPr txBox="1">
              <a:spLocks noChangeArrowheads="1"/>
            </p:cNvSpPr>
            <p:nvPr/>
          </p:nvSpPr>
          <p:spPr bwMode="auto">
            <a:xfrm>
              <a:off x="1197" y="1154"/>
              <a:ext cx="2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 b="0">
                  <a:latin typeface="Arial"/>
                  <a:cs typeface="Arial"/>
                </a:rPr>
                <a:t>c</a:t>
              </a:r>
            </a:p>
          </p:txBody>
        </p:sp>
      </p:grpSp>
      <p:sp>
        <p:nvSpPr>
          <p:cNvPr id="1584172" name="Text Box 44"/>
          <p:cNvSpPr txBox="1">
            <a:spLocks noChangeArrowheads="1"/>
          </p:cNvSpPr>
          <p:nvPr/>
        </p:nvSpPr>
        <p:spPr bwMode="auto">
          <a:xfrm>
            <a:off x="5062538" y="1662113"/>
            <a:ext cx="32861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b="0">
                <a:solidFill>
                  <a:srgbClr val="0000FF"/>
                </a:solidFill>
                <a:latin typeface="Arial"/>
                <a:cs typeface="Arial"/>
              </a:rPr>
              <a:t>Logical Removal =</a:t>
            </a:r>
          </a:p>
          <a:p>
            <a:r>
              <a:rPr lang="en-US" b="0">
                <a:solidFill>
                  <a:srgbClr val="0000FF"/>
                </a:solidFill>
                <a:latin typeface="Arial"/>
                <a:cs typeface="Arial"/>
              </a:rPr>
              <a:t>Set Mark Bit</a:t>
            </a:r>
          </a:p>
        </p:txBody>
      </p:sp>
      <p:sp>
        <p:nvSpPr>
          <p:cNvPr id="1584174" name="AutoShape 46"/>
          <p:cNvSpPr>
            <a:spLocks noChangeArrowheads="1"/>
          </p:cNvSpPr>
          <p:nvPr/>
        </p:nvSpPr>
        <p:spPr bwMode="auto">
          <a:xfrm>
            <a:off x="4324350" y="2437110"/>
            <a:ext cx="725488" cy="1037630"/>
          </a:xfrm>
          <a:prstGeom prst="irregularSeal2">
            <a:avLst/>
          </a:prstGeom>
          <a:solidFill>
            <a:srgbClr val="FFFF00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b="0">
              <a:latin typeface="Arial"/>
              <a:cs typeface="Arial"/>
            </a:endParaRPr>
          </a:p>
        </p:txBody>
      </p: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5083175" y="2849563"/>
            <a:ext cx="261938" cy="295275"/>
            <a:chOff x="2780" y="2820"/>
            <a:chExt cx="165" cy="186"/>
          </a:xfrm>
        </p:grpSpPr>
        <p:sp>
          <p:nvSpPr>
            <p:cNvPr id="131119" name="Line 48"/>
            <p:cNvSpPr>
              <a:spLocks noChangeShapeType="1"/>
            </p:cNvSpPr>
            <p:nvPr/>
          </p:nvSpPr>
          <p:spPr bwMode="auto">
            <a:xfrm>
              <a:off x="2780" y="2841"/>
              <a:ext cx="161" cy="16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 b="0">
                <a:latin typeface="Arial"/>
                <a:cs typeface="Arial"/>
              </a:endParaRPr>
            </a:p>
          </p:txBody>
        </p:sp>
        <p:sp>
          <p:nvSpPr>
            <p:cNvPr id="131120" name="Line 49"/>
            <p:cNvSpPr>
              <a:spLocks noChangeShapeType="1"/>
            </p:cNvSpPr>
            <p:nvPr/>
          </p:nvSpPr>
          <p:spPr bwMode="auto">
            <a:xfrm flipH="1">
              <a:off x="2793" y="2820"/>
              <a:ext cx="152" cy="18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 b="0">
                <a:latin typeface="Arial"/>
                <a:cs typeface="Arial"/>
              </a:endParaRPr>
            </a:p>
          </p:txBody>
        </p:sp>
      </p:grpSp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6424613" y="2803526"/>
            <a:ext cx="1820862" cy="1301751"/>
            <a:chOff x="4613" y="2379"/>
            <a:chExt cx="1147" cy="820"/>
          </a:xfrm>
        </p:grpSpPr>
        <p:grpSp>
          <p:nvGrpSpPr>
            <p:cNvPr id="131109" name="Group 51"/>
            <p:cNvGrpSpPr>
              <a:grpSpLocks/>
            </p:cNvGrpSpPr>
            <p:nvPr/>
          </p:nvGrpSpPr>
          <p:grpSpPr bwMode="auto">
            <a:xfrm>
              <a:off x="4613" y="2866"/>
              <a:ext cx="736" cy="333"/>
              <a:chOff x="4473" y="1691"/>
              <a:chExt cx="736" cy="333"/>
            </a:xfrm>
          </p:grpSpPr>
          <p:sp>
            <p:nvSpPr>
              <p:cNvPr id="131114" name="AutoShape 52"/>
              <p:cNvSpPr>
                <a:spLocks noChangeArrowheads="1"/>
              </p:cNvSpPr>
              <p:nvPr/>
            </p:nvSpPr>
            <p:spPr bwMode="auto">
              <a:xfrm>
                <a:off x="4473" y="1736"/>
                <a:ext cx="736" cy="258"/>
              </a:xfrm>
              <a:prstGeom prst="roundRect">
                <a:avLst>
                  <a:gd name="adj" fmla="val 16667"/>
                </a:avLst>
              </a:prstGeom>
              <a:solidFill>
                <a:srgbClr val="FFCC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>
                  <a:latin typeface="Arial"/>
                  <a:cs typeface="Arial"/>
                </a:endParaRPr>
              </a:p>
            </p:txBody>
          </p:sp>
          <p:sp>
            <p:nvSpPr>
              <p:cNvPr id="131115" name="Line 53"/>
              <p:cNvSpPr>
                <a:spLocks noChangeShapeType="1"/>
              </p:cNvSpPr>
              <p:nvPr/>
            </p:nvSpPr>
            <p:spPr bwMode="auto">
              <a:xfrm>
                <a:off x="4724" y="1735"/>
                <a:ext cx="0" cy="2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b="0">
                  <a:latin typeface="Arial"/>
                  <a:cs typeface="Arial"/>
                </a:endParaRPr>
              </a:p>
            </p:txBody>
          </p:sp>
          <p:sp>
            <p:nvSpPr>
              <p:cNvPr id="131116" name="Line 54"/>
              <p:cNvSpPr>
                <a:spLocks noChangeShapeType="1"/>
              </p:cNvSpPr>
              <p:nvPr/>
            </p:nvSpPr>
            <p:spPr bwMode="auto">
              <a:xfrm>
                <a:off x="4949" y="1740"/>
                <a:ext cx="0" cy="2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b="0">
                  <a:latin typeface="Arial"/>
                  <a:cs typeface="Arial"/>
                </a:endParaRPr>
              </a:p>
            </p:txBody>
          </p:sp>
          <p:sp>
            <p:nvSpPr>
              <p:cNvPr id="131117" name="Text Box 55"/>
              <p:cNvSpPr txBox="1">
                <a:spLocks noChangeArrowheads="1"/>
              </p:cNvSpPr>
              <p:nvPr/>
            </p:nvSpPr>
            <p:spPr bwMode="auto">
              <a:xfrm>
                <a:off x="4713" y="1694"/>
                <a:ext cx="24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r"/>
                <a:r>
                  <a:rPr lang="en-US" sz="2800" b="0">
                    <a:latin typeface="Arial"/>
                    <a:cs typeface="Arial"/>
                  </a:rPr>
                  <a:t>0</a:t>
                </a:r>
              </a:p>
            </p:txBody>
          </p:sp>
          <p:sp>
            <p:nvSpPr>
              <p:cNvPr id="131118" name="Text Box 56"/>
              <p:cNvSpPr txBox="1">
                <a:spLocks noChangeArrowheads="1"/>
              </p:cNvSpPr>
              <p:nvPr/>
            </p:nvSpPr>
            <p:spPr bwMode="auto">
              <a:xfrm>
                <a:off x="4482" y="1691"/>
                <a:ext cx="24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r"/>
                <a:r>
                  <a:rPr lang="en-US" sz="2800" b="0">
                    <a:latin typeface="Arial"/>
                    <a:cs typeface="Arial"/>
                  </a:rPr>
                  <a:t>d</a:t>
                </a:r>
              </a:p>
            </p:txBody>
          </p:sp>
        </p:grpSp>
        <p:sp>
          <p:nvSpPr>
            <p:cNvPr id="131110" name="Freeform 57"/>
            <p:cNvSpPr>
              <a:spLocks/>
            </p:cNvSpPr>
            <p:nvPr/>
          </p:nvSpPr>
          <p:spPr bwMode="auto">
            <a:xfrm>
              <a:off x="5220" y="2593"/>
              <a:ext cx="540" cy="484"/>
            </a:xfrm>
            <a:custGeom>
              <a:avLst/>
              <a:gdLst>
                <a:gd name="T0" fmla="*/ 0 w 581"/>
                <a:gd name="T1" fmla="*/ 1 h 675"/>
                <a:gd name="T2" fmla="*/ 142 w 581"/>
                <a:gd name="T3" fmla="*/ 1 h 675"/>
                <a:gd name="T4" fmla="*/ 72 w 581"/>
                <a:gd name="T5" fmla="*/ 1 h 675"/>
                <a:gd name="T6" fmla="*/ 55 w 581"/>
                <a:gd name="T7" fmla="*/ 0 h 6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1"/>
                <a:gd name="T13" fmla="*/ 0 h 675"/>
                <a:gd name="T14" fmla="*/ 581 w 581"/>
                <a:gd name="T15" fmla="*/ 675 h 6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1" h="675">
                  <a:moveTo>
                    <a:pt x="0" y="635"/>
                  </a:moveTo>
                  <a:cubicBezTo>
                    <a:pt x="245" y="655"/>
                    <a:pt x="491" y="675"/>
                    <a:pt x="536" y="625"/>
                  </a:cubicBezTo>
                  <a:cubicBezTo>
                    <a:pt x="581" y="575"/>
                    <a:pt x="323" y="441"/>
                    <a:pt x="268" y="337"/>
                  </a:cubicBezTo>
                  <a:cubicBezTo>
                    <a:pt x="213" y="233"/>
                    <a:pt x="210" y="116"/>
                    <a:pt x="208" y="0"/>
                  </a:cubicBez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latin typeface="Arial"/>
                <a:cs typeface="Arial"/>
              </a:endParaRPr>
            </a:p>
          </p:txBody>
        </p:sp>
        <p:sp>
          <p:nvSpPr>
            <p:cNvPr id="131111" name="Line 58"/>
            <p:cNvSpPr>
              <a:spLocks noChangeShapeType="1"/>
            </p:cNvSpPr>
            <p:nvPr/>
          </p:nvSpPr>
          <p:spPr bwMode="auto">
            <a:xfrm>
              <a:off x="4892" y="2400"/>
              <a:ext cx="161" cy="162"/>
            </a:xfrm>
            <a:prstGeom prst="line">
              <a:avLst/>
            </a:prstGeom>
            <a:noFill/>
            <a:ln w="28575" cap="rnd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 b="0">
                <a:latin typeface="Arial"/>
                <a:cs typeface="Arial"/>
              </a:endParaRPr>
            </a:p>
          </p:txBody>
        </p:sp>
        <p:sp>
          <p:nvSpPr>
            <p:cNvPr id="131112" name="Line 59"/>
            <p:cNvSpPr>
              <a:spLocks noChangeShapeType="1"/>
            </p:cNvSpPr>
            <p:nvPr/>
          </p:nvSpPr>
          <p:spPr bwMode="auto">
            <a:xfrm flipH="1">
              <a:off x="4905" y="2379"/>
              <a:ext cx="152" cy="18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 b="0">
                <a:latin typeface="Arial"/>
                <a:cs typeface="Arial"/>
              </a:endParaRPr>
            </a:p>
          </p:txBody>
        </p:sp>
        <p:sp>
          <p:nvSpPr>
            <p:cNvPr id="131113" name="Freeform 60"/>
            <p:cNvSpPr>
              <a:spLocks/>
            </p:cNvSpPr>
            <p:nvPr/>
          </p:nvSpPr>
          <p:spPr bwMode="auto">
            <a:xfrm>
              <a:off x="4633" y="2447"/>
              <a:ext cx="333" cy="466"/>
            </a:xfrm>
            <a:custGeom>
              <a:avLst/>
              <a:gdLst>
                <a:gd name="T0" fmla="*/ 0 w 358"/>
                <a:gd name="T1" fmla="*/ 1 h 713"/>
                <a:gd name="T2" fmla="*/ 46 w 358"/>
                <a:gd name="T3" fmla="*/ 1 h 713"/>
                <a:gd name="T4" fmla="*/ 89 w 358"/>
                <a:gd name="T5" fmla="*/ 1 h 713"/>
                <a:gd name="T6" fmla="*/ 93 w 358"/>
                <a:gd name="T7" fmla="*/ 1 h 7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8"/>
                <a:gd name="T13" fmla="*/ 0 h 713"/>
                <a:gd name="T14" fmla="*/ 358 w 358"/>
                <a:gd name="T15" fmla="*/ 713 h 7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8" h="713">
                  <a:moveTo>
                    <a:pt x="0" y="58"/>
                  </a:moveTo>
                  <a:cubicBezTo>
                    <a:pt x="57" y="29"/>
                    <a:pt x="114" y="0"/>
                    <a:pt x="169" y="58"/>
                  </a:cubicBezTo>
                  <a:cubicBezTo>
                    <a:pt x="224" y="116"/>
                    <a:pt x="298" y="296"/>
                    <a:pt x="328" y="405"/>
                  </a:cubicBezTo>
                  <a:cubicBezTo>
                    <a:pt x="358" y="514"/>
                    <a:pt x="352" y="613"/>
                    <a:pt x="347" y="713"/>
                  </a:cubicBezTo>
                </a:path>
              </a:pathLst>
            </a:custGeom>
            <a:noFill/>
            <a:ln w="76200" cap="rnd">
              <a:solidFill>
                <a:srgbClr val="0000FF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latin typeface="Arial"/>
                <a:cs typeface="Arial"/>
              </a:endParaRPr>
            </a:p>
          </p:txBody>
        </p:sp>
      </p:grpSp>
      <p:sp>
        <p:nvSpPr>
          <p:cNvPr id="1584189" name="Freeform 61"/>
          <p:cNvSpPr>
            <a:spLocks/>
          </p:cNvSpPr>
          <p:nvPr/>
        </p:nvSpPr>
        <p:spPr bwMode="auto">
          <a:xfrm>
            <a:off x="4827588" y="3021013"/>
            <a:ext cx="2582862" cy="901700"/>
          </a:xfrm>
          <a:custGeom>
            <a:avLst/>
            <a:gdLst>
              <a:gd name="T0" fmla="*/ 2147483647 w 1819"/>
              <a:gd name="T1" fmla="*/ 0 h 531"/>
              <a:gd name="T2" fmla="*/ 2147483647 w 1819"/>
              <a:gd name="T3" fmla="*/ 2147483647 h 531"/>
              <a:gd name="T4" fmla="*/ 2147483647 w 1819"/>
              <a:gd name="T5" fmla="*/ 2147483647 h 531"/>
              <a:gd name="T6" fmla="*/ 2147483647 w 1819"/>
              <a:gd name="T7" fmla="*/ 2147483647 h 531"/>
              <a:gd name="T8" fmla="*/ 0 60000 65536"/>
              <a:gd name="T9" fmla="*/ 0 60000 65536"/>
              <a:gd name="T10" fmla="*/ 0 60000 65536"/>
              <a:gd name="T11" fmla="*/ 0 60000 65536"/>
              <a:gd name="T12" fmla="*/ 0 w 1819"/>
              <a:gd name="T13" fmla="*/ 0 h 531"/>
              <a:gd name="T14" fmla="*/ 1819 w 1819"/>
              <a:gd name="T15" fmla="*/ 531 h 5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19" h="531">
                <a:moveTo>
                  <a:pt x="22" y="0"/>
                </a:moveTo>
                <a:cubicBezTo>
                  <a:pt x="11" y="174"/>
                  <a:pt x="0" y="348"/>
                  <a:pt x="230" y="427"/>
                </a:cubicBezTo>
                <a:cubicBezTo>
                  <a:pt x="460" y="506"/>
                  <a:pt x="1137" y="531"/>
                  <a:pt x="1402" y="476"/>
                </a:cubicBezTo>
                <a:cubicBezTo>
                  <a:pt x="1667" y="421"/>
                  <a:pt x="1743" y="260"/>
                  <a:pt x="1819" y="99"/>
                </a:cubicBezTo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584190" name="AutoShape 62"/>
          <p:cNvSpPr>
            <a:spLocks noChangeArrowheads="1"/>
          </p:cNvSpPr>
          <p:nvPr/>
        </p:nvSpPr>
        <p:spPr bwMode="auto">
          <a:xfrm>
            <a:off x="5927725" y="2452192"/>
            <a:ext cx="812800" cy="1037630"/>
          </a:xfrm>
          <a:prstGeom prst="irregularSeal2">
            <a:avLst/>
          </a:prstGeom>
          <a:solidFill>
            <a:srgbClr val="FFC000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b="0">
              <a:latin typeface="Arial"/>
              <a:cs typeface="Arial"/>
            </a:endParaRPr>
          </a:p>
        </p:txBody>
      </p:sp>
      <p:sp>
        <p:nvSpPr>
          <p:cNvPr id="1584191" name="Text Box 63"/>
          <p:cNvSpPr txBox="1">
            <a:spLocks noChangeArrowheads="1"/>
          </p:cNvSpPr>
          <p:nvPr/>
        </p:nvSpPr>
        <p:spPr bwMode="auto">
          <a:xfrm>
            <a:off x="1209675" y="3459163"/>
            <a:ext cx="3998913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b="0">
                <a:solidFill>
                  <a:srgbClr val="0000FF"/>
                </a:solidFill>
                <a:latin typeface="Arial"/>
                <a:cs typeface="Arial"/>
              </a:rPr>
              <a:t>mark and reference</a:t>
            </a:r>
          </a:p>
          <a:p>
            <a:r>
              <a:rPr lang="en-US" b="0">
                <a:solidFill>
                  <a:srgbClr val="0000FF"/>
                </a:solidFill>
                <a:latin typeface="Arial"/>
                <a:cs typeface="Arial"/>
              </a:rPr>
              <a:t>CASed together</a:t>
            </a:r>
          </a:p>
        </p:txBody>
      </p:sp>
      <p:sp>
        <p:nvSpPr>
          <p:cNvPr id="56" name="Text Box 152"/>
          <p:cNvSpPr txBox="1">
            <a:spLocks noChangeArrowheads="1"/>
          </p:cNvSpPr>
          <p:nvPr/>
        </p:nvSpPr>
        <p:spPr bwMode="auto">
          <a:xfrm>
            <a:off x="1730375" y="4905375"/>
            <a:ext cx="6605588" cy="9540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800" b="0" i="1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Lock-free</a:t>
            </a:r>
            <a:r>
              <a:rPr lang="en-US" sz="2800" b="0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urier" pitchFamily="49" charset="0"/>
                <a:cs typeface="Arial"/>
              </a:rPr>
              <a:t>add</a:t>
            </a:r>
            <a:r>
              <a:rPr lang="en-US" sz="2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 and </a:t>
            </a:r>
            <a:r>
              <a:rPr lang="en-US" sz="2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remove()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 and </a:t>
            </a:r>
            <a:r>
              <a:rPr lang="en-US" sz="2800" b="0" i="1" dirty="0">
                <a:solidFill>
                  <a:srgbClr val="0000FF"/>
                </a:solidFill>
                <a:latin typeface="Arial"/>
                <a:cs typeface="Arial"/>
              </a:rPr>
              <a:t>wait-free</a:t>
            </a:r>
            <a:r>
              <a:rPr lang="en-US" sz="2800" b="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contains()</a:t>
            </a:r>
          </a:p>
        </p:txBody>
      </p:sp>
      <p:sp>
        <p:nvSpPr>
          <p:cNvPr id="57" name="Text Box 63"/>
          <p:cNvSpPr txBox="1">
            <a:spLocks noChangeArrowheads="1"/>
          </p:cNvSpPr>
          <p:nvPr/>
        </p:nvSpPr>
        <p:spPr bwMode="auto">
          <a:xfrm>
            <a:off x="6172200" y="4330700"/>
            <a:ext cx="2362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b="0">
                <a:solidFill>
                  <a:schemeClr val="tx1"/>
                </a:solidFill>
                <a:latin typeface="Arial"/>
                <a:cs typeface="Arial"/>
              </a:rPr>
              <a:t>CAS will fail</a:t>
            </a:r>
          </a:p>
        </p:txBody>
      </p:sp>
    </p:spTree>
    <p:extLst>
      <p:ext uri="{BB962C8B-B14F-4D97-AF65-F5344CB8AC3E}">
        <p14:creationId xmlns:p14="http://schemas.microsoft.com/office/powerpoint/2010/main" val="274890868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ＭＳ Ｐゴシック" charset="0"/>
                <a:cs typeface="Arial"/>
              </a:rPr>
              <a:t>So how can this make sense?</a:t>
            </a:r>
          </a:p>
        </p:txBody>
      </p:sp>
      <p:sp>
        <p:nvSpPr>
          <p:cNvPr id="132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ＭＳ Ｐゴシック" charset="0"/>
                <a:cs typeface="Arial"/>
              </a:rPr>
              <a:t>Why have methods with different progress conditions? </a:t>
            </a:r>
          </a:p>
          <a:p>
            <a:r>
              <a:rPr lang="en-US" dirty="0">
                <a:latin typeface="Arial"/>
                <a:ea typeface="ＭＳ Ｐゴシック" charset="0"/>
                <a:cs typeface="Arial"/>
              </a:rPr>
              <a:t>Let us try to understand this…</a:t>
            </a:r>
          </a:p>
        </p:txBody>
      </p:sp>
      <p:sp>
        <p:nvSpPr>
          <p:cNvPr id="13210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b="0" dirty="0">
                <a:solidFill>
                  <a:schemeClr val="tx1"/>
                </a:solidFill>
                <a:latin typeface="Arial" pitchFamily="34" charset="0"/>
              </a:rPr>
              <a:t>Art of Multiprocessor Programming© Copyright Herlihy-</a:t>
            </a:r>
            <a:r>
              <a:rPr lang="en-US" sz="1400" b="0" dirty="0" err="1">
                <a:solidFill>
                  <a:schemeClr val="tx1"/>
                </a:solidFill>
                <a:latin typeface="Arial" pitchFamily="34" charset="0"/>
              </a:rPr>
              <a:t>Shavit</a:t>
            </a:r>
            <a:r>
              <a:rPr lang="en-US" sz="1400" b="0" dirty="0">
                <a:solidFill>
                  <a:schemeClr val="tx1"/>
                </a:solidFill>
                <a:latin typeface="Arial" pitchFamily="34" charset="0"/>
              </a:rPr>
              <a:t> 2007</a:t>
            </a:r>
          </a:p>
        </p:txBody>
      </p:sp>
      <p:sp>
        <p:nvSpPr>
          <p:cNvPr id="13210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EDD9C42-73A8-514B-BBFC-042BAF7FF13D}" type="slidenum">
              <a:rPr lang="ar-SA" sz="1400" b="0">
                <a:solidFill>
                  <a:schemeClr val="tx1"/>
                </a:solidFill>
                <a:latin typeface="Arial" pitchFamily="34" charset="0"/>
                <a:cs typeface="Arial" charset="0"/>
              </a:rPr>
              <a:pPr/>
              <a:t>126</a:t>
            </a:fld>
            <a:endParaRPr lang="en-US" sz="1400" b="0" dirty="0">
              <a:solidFill>
                <a:schemeClr val="tx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68433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itle 1"/>
          <p:cNvSpPr>
            <a:spLocks noGrp="1"/>
          </p:cNvSpPr>
          <p:nvPr>
            <p:ph type="title"/>
          </p:nvPr>
        </p:nvSpPr>
        <p:spPr>
          <a:xfrm>
            <a:off x="685800" y="431800"/>
            <a:ext cx="7772400" cy="1143000"/>
          </a:xfrm>
        </p:spPr>
        <p:txBody>
          <a:bodyPr/>
          <a:lstStyle/>
          <a:p>
            <a:pPr eaLnBrk="1" hangingPunct="1"/>
            <a:r>
              <a:rPr lang="en-US" sz="4800">
                <a:latin typeface="Arial"/>
                <a:ea typeface="ＭＳ Ｐゴシック" charset="0"/>
                <a:cs typeface="Arial"/>
              </a:rPr>
              <a:t>Progress Conditions</a:t>
            </a:r>
          </a:p>
        </p:txBody>
      </p:sp>
      <p:sp>
        <p:nvSpPr>
          <p:cNvPr id="252931" name="Content Placeholder 2"/>
          <p:cNvSpPr>
            <a:spLocks noGrp="1"/>
          </p:cNvSpPr>
          <p:nvPr>
            <p:ph idx="1"/>
          </p:nvPr>
        </p:nvSpPr>
        <p:spPr>
          <a:xfrm>
            <a:off x="685800" y="1690688"/>
            <a:ext cx="7772400" cy="4114800"/>
          </a:xfrm>
        </p:spPr>
        <p:txBody>
          <a:bodyPr/>
          <a:lstStyle/>
          <a:p>
            <a:r>
              <a:rPr lang="en-US" sz="2800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Deadlock-free</a:t>
            </a:r>
            <a:r>
              <a:rPr lang="en-US" sz="2800" i="1">
                <a:latin typeface="Arial"/>
                <a:ea typeface="ＭＳ Ｐゴシック" charset="0"/>
                <a:cs typeface="Arial"/>
              </a:rPr>
              <a:t>:</a:t>
            </a:r>
          </a:p>
          <a:p>
            <a:pPr lvl="1"/>
            <a:r>
              <a:rPr lang="en-US" sz="2400">
                <a:latin typeface="Arial"/>
                <a:ea typeface="ＭＳ Ｐゴシック" charset="0"/>
                <a:cs typeface="Arial"/>
              </a:rPr>
              <a:t>Some thread eventually acquires lock.</a:t>
            </a:r>
          </a:p>
          <a:p>
            <a:r>
              <a:rPr lang="en-US" sz="2800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Starvation-free</a:t>
            </a:r>
            <a:r>
              <a:rPr lang="en-US" sz="2800" i="1">
                <a:latin typeface="Arial"/>
                <a:ea typeface="ＭＳ Ｐゴシック" charset="0"/>
                <a:cs typeface="Arial"/>
              </a:rPr>
              <a:t>: </a:t>
            </a:r>
          </a:p>
          <a:p>
            <a:pPr lvl="1"/>
            <a:r>
              <a:rPr lang="en-US" sz="2400">
                <a:latin typeface="Arial"/>
                <a:ea typeface="ＭＳ Ｐゴシック" charset="0"/>
                <a:cs typeface="Arial"/>
              </a:rPr>
              <a:t>Every thread eventually acquires lock.</a:t>
            </a:r>
            <a:endParaRPr lang="en-US">
              <a:latin typeface="Arial"/>
              <a:ea typeface="ＭＳ Ｐゴシック" charset="0"/>
              <a:cs typeface="Arial"/>
            </a:endParaRPr>
          </a:p>
          <a:p>
            <a:r>
              <a:rPr lang="en-US" sz="2800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Lock-free</a:t>
            </a:r>
            <a:r>
              <a:rPr lang="en-US" sz="2800" i="1">
                <a:latin typeface="Arial"/>
                <a:ea typeface="ＭＳ Ｐゴシック" charset="0"/>
                <a:cs typeface="Arial"/>
              </a:rPr>
              <a:t>: </a:t>
            </a:r>
            <a:endParaRPr lang="en-US" sz="2800" u="sng">
              <a:latin typeface="Arial"/>
              <a:ea typeface="ＭＳ Ｐゴシック" charset="0"/>
              <a:cs typeface="Arial"/>
            </a:endParaRPr>
          </a:p>
          <a:p>
            <a:pPr lvl="1"/>
            <a:r>
              <a:rPr lang="en-US" sz="2400">
                <a:latin typeface="Arial"/>
                <a:ea typeface="ＭＳ Ｐゴシック" charset="0"/>
                <a:cs typeface="Arial"/>
              </a:rPr>
              <a:t>Some method call returns.</a:t>
            </a:r>
          </a:p>
          <a:p>
            <a:r>
              <a:rPr lang="en-US" sz="2800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Wait-free</a:t>
            </a:r>
            <a:r>
              <a:rPr lang="en-US" sz="2800" i="1">
                <a:latin typeface="Arial"/>
                <a:ea typeface="ＭＳ Ｐゴシック" charset="0"/>
                <a:cs typeface="Arial"/>
              </a:rPr>
              <a:t>: </a:t>
            </a:r>
            <a:endParaRPr lang="en-US" sz="2800" u="sng">
              <a:latin typeface="Arial"/>
              <a:ea typeface="ＭＳ Ｐゴシック" charset="0"/>
              <a:cs typeface="Arial"/>
            </a:endParaRPr>
          </a:p>
          <a:p>
            <a:pPr lvl="1"/>
            <a:r>
              <a:rPr lang="en-US" sz="2400">
                <a:latin typeface="Arial"/>
                <a:ea typeface="ＭＳ Ｐゴシック" charset="0"/>
                <a:cs typeface="Arial"/>
              </a:rPr>
              <a:t>Every method call returns.</a:t>
            </a:r>
            <a:endParaRPr lang="en-US">
              <a:latin typeface="Arial"/>
              <a:ea typeface="ＭＳ Ｐゴシック" charset="0"/>
              <a:cs typeface="Arial"/>
            </a:endParaRPr>
          </a:p>
          <a:p>
            <a:r>
              <a:rPr lang="en-US" sz="2800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Obstruction-free</a:t>
            </a:r>
            <a:r>
              <a:rPr lang="en-US" sz="2800" i="1">
                <a:latin typeface="Arial"/>
                <a:ea typeface="ＭＳ Ｐゴシック" charset="0"/>
                <a:cs typeface="Arial"/>
              </a:rPr>
              <a:t>:  </a:t>
            </a:r>
            <a:endParaRPr lang="en-US" sz="2800" u="sng">
              <a:latin typeface="Arial"/>
              <a:ea typeface="ＭＳ Ｐゴシック" charset="0"/>
              <a:cs typeface="Arial"/>
            </a:endParaRPr>
          </a:p>
          <a:p>
            <a:pPr lvl="1"/>
            <a:r>
              <a:rPr lang="en-US" sz="2400">
                <a:latin typeface="Arial"/>
                <a:ea typeface="ＭＳ Ｐゴシック" charset="0"/>
                <a:cs typeface="Arial"/>
              </a:rPr>
              <a:t>Every method call returns if it executes in isolation</a:t>
            </a:r>
            <a:endParaRPr lang="en-US">
              <a:latin typeface="Arial"/>
              <a:ea typeface="ＭＳ Ｐゴシック" charset="0"/>
              <a:cs typeface="Arial"/>
            </a:endParaRPr>
          </a:p>
          <a:p>
            <a:endParaRPr lang="en-US" sz="2800">
              <a:latin typeface="Arial"/>
              <a:ea typeface="ＭＳ Ｐゴシック" charset="0"/>
              <a:cs typeface="Arial"/>
            </a:endParaRPr>
          </a:p>
          <a:p>
            <a:pPr>
              <a:buFontTx/>
              <a:buNone/>
            </a:pPr>
            <a:endParaRPr lang="en-US" sz="2800"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3312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DB60C423-5DBC-6840-9253-4D12C3E5C510}" type="slidenum">
              <a:rPr lang="ar-SA" sz="1600" b="0">
                <a:solidFill>
                  <a:schemeClr val="tx1"/>
                </a:solidFill>
                <a:latin typeface="Arial"/>
                <a:cs typeface="Arial"/>
              </a:rPr>
              <a:pPr/>
              <a:t>127</a:t>
            </a:fld>
            <a:endParaRPr lang="en-US" sz="16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674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2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2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2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2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2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52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A 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“</a:t>
            </a:r>
            <a:r>
              <a:rPr lang="en-US">
                <a:latin typeface="Arial"/>
                <a:ea typeface="ＭＳ Ｐゴシック" charset="0"/>
                <a:cs typeface="Arial"/>
              </a:rPr>
              <a:t>Periodic Table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”</a:t>
            </a:r>
            <a:r>
              <a:rPr lang="en-US">
                <a:latin typeface="Arial"/>
                <a:ea typeface="ＭＳ Ｐゴシック" charset="0"/>
                <a:cs typeface="Arial"/>
              </a:rPr>
              <a:t> of Progress Conditions  </a:t>
            </a:r>
          </a:p>
        </p:txBody>
      </p:sp>
      <p:sp>
        <p:nvSpPr>
          <p:cNvPr id="134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B4268B2E-3724-E248-828E-C966BED0D591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128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9765" y="3044825"/>
            <a:ext cx="1501733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All make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2931" y="2316163"/>
            <a:ext cx="21850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Non-Blocking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97656" y="2316163"/>
            <a:ext cx="14843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Blocking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600" y="4427538"/>
            <a:ext cx="1612900" cy="13477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Some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 make 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progress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437135"/>
              </p:ext>
            </p:extLst>
          </p:nvPr>
        </p:nvGraphicFramePr>
        <p:xfrm>
          <a:off x="2293938" y="2903538"/>
          <a:ext cx="5935662" cy="2816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4166" name="TextBox 17"/>
          <p:cNvSpPr txBox="1">
            <a:spLocks noChangeArrowheads="1"/>
          </p:cNvSpPr>
          <p:nvPr/>
        </p:nvSpPr>
        <p:spPr bwMode="auto">
          <a:xfrm>
            <a:off x="2636530" y="4637088"/>
            <a:ext cx="1005504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Lock-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4167" name="TextBox 18"/>
          <p:cNvSpPr txBox="1">
            <a:spLocks noChangeArrowheads="1"/>
          </p:cNvSpPr>
          <p:nvPr/>
        </p:nvSpPr>
        <p:spPr bwMode="auto">
          <a:xfrm>
            <a:off x="6340505" y="3290888"/>
            <a:ext cx="1792227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Starvation-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4168" name="TextBox 19"/>
          <p:cNvSpPr txBox="1">
            <a:spLocks noChangeArrowheads="1"/>
          </p:cNvSpPr>
          <p:nvPr/>
        </p:nvSpPr>
        <p:spPr bwMode="auto">
          <a:xfrm>
            <a:off x="6295780" y="4637088"/>
            <a:ext cx="165942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Deadlock-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4169" name="TextBox 16"/>
          <p:cNvSpPr txBox="1">
            <a:spLocks noChangeArrowheads="1"/>
          </p:cNvSpPr>
          <p:nvPr/>
        </p:nvSpPr>
        <p:spPr bwMode="auto">
          <a:xfrm>
            <a:off x="2659970" y="3290888"/>
            <a:ext cx="92845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Wait-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4170" name="TextBox 25"/>
          <p:cNvSpPr txBox="1">
            <a:spLocks noChangeArrowheads="1"/>
          </p:cNvSpPr>
          <p:nvPr/>
        </p:nvSpPr>
        <p:spPr bwMode="auto">
          <a:xfrm>
            <a:off x="4168319" y="3276600"/>
            <a:ext cx="2031325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Obstruction-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28" name="Straight Connector 27"/>
          <p:cNvCxnSpPr>
            <a:cxnSpLocks noChangeShapeType="1"/>
          </p:cNvCxnSpPr>
          <p:nvPr/>
        </p:nvCxnSpPr>
        <p:spPr bwMode="auto">
          <a:xfrm rot="5400000">
            <a:off x="4837113" y="4318000"/>
            <a:ext cx="2786062" cy="142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/>
          <p:cNvCxnSpPr>
            <a:cxnSpLocks noChangeShapeType="1"/>
          </p:cNvCxnSpPr>
          <p:nvPr/>
        </p:nvCxnSpPr>
        <p:spPr bwMode="auto">
          <a:xfrm flipV="1">
            <a:off x="2312988" y="4310063"/>
            <a:ext cx="5907087" cy="1111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7265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4" grpId="0"/>
      <p:bldP spid="35" grpId="0"/>
      <p:bldP spid="36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More Formally</a:t>
            </a:r>
          </a:p>
        </p:txBody>
      </p:sp>
      <p:sp>
        <p:nvSpPr>
          <p:cNvPr id="135171" name="Content Placeholder 2"/>
          <p:cNvSpPr>
            <a:spLocks noGrp="1"/>
          </p:cNvSpPr>
          <p:nvPr>
            <p:ph idx="1"/>
          </p:nvPr>
        </p:nvSpPr>
        <p:spPr>
          <a:xfrm>
            <a:off x="685800" y="1690688"/>
            <a:ext cx="7772400" cy="4114800"/>
          </a:xfrm>
        </p:spPr>
        <p:txBody>
          <a:bodyPr/>
          <a:lstStyle/>
          <a:p>
            <a:pPr marL="514350" indent="-514350"/>
            <a:r>
              <a:rPr lang="en-US">
                <a:latin typeface="Arial"/>
                <a:ea typeface="ＭＳ Ｐゴシック" charset="0"/>
                <a:cs typeface="Arial"/>
              </a:rPr>
              <a:t>Standard notion of </a:t>
            </a:r>
            <a:r>
              <a:rPr lang="en-US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abstract object</a:t>
            </a:r>
          </a:p>
          <a:p>
            <a:pPr marL="514350" indent="-514350"/>
            <a:r>
              <a:rPr lang="en-US">
                <a:latin typeface="Arial"/>
                <a:ea typeface="ＭＳ Ｐゴシック" charset="0"/>
                <a:cs typeface="Arial"/>
              </a:rPr>
              <a:t>Progress conditions relate to method calls of an object</a:t>
            </a:r>
            <a:endParaRPr lang="en-US" i="1">
              <a:latin typeface="Arial"/>
              <a:ea typeface="ＭＳ Ｐゴシック" charset="0"/>
              <a:cs typeface="Arial"/>
            </a:endParaRPr>
          </a:p>
          <a:p>
            <a:pPr lvl="1"/>
            <a:r>
              <a:rPr lang="en-US">
                <a:latin typeface="Arial"/>
                <a:ea typeface="ＭＳ Ｐゴシック" charset="0"/>
                <a:cs typeface="Arial"/>
              </a:rPr>
              <a:t>A thread is </a:t>
            </a:r>
            <a:r>
              <a:rPr lang="en-US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active</a:t>
            </a:r>
            <a:r>
              <a:rPr lang="en-US" i="1">
                <a:latin typeface="Arial"/>
                <a:ea typeface="ＭＳ Ｐゴシック" charset="0"/>
                <a:cs typeface="Arial"/>
              </a:rPr>
              <a:t> if it takes an infinite </a:t>
            </a:r>
            <a:r>
              <a:rPr lang="en-US">
                <a:latin typeface="Arial"/>
                <a:ea typeface="ＭＳ Ｐゴシック" charset="0"/>
                <a:cs typeface="Arial"/>
              </a:rPr>
              <a:t>number of concrete (machine level) steps </a:t>
            </a:r>
          </a:p>
          <a:p>
            <a:pPr lvl="1"/>
            <a:r>
              <a:rPr lang="en-US">
                <a:latin typeface="Arial"/>
                <a:ea typeface="ＭＳ Ｐゴシック" charset="0"/>
                <a:cs typeface="Arial"/>
              </a:rPr>
              <a:t>And is </a:t>
            </a:r>
            <a:r>
              <a:rPr lang="en-US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suspended </a:t>
            </a:r>
            <a:r>
              <a:rPr lang="en-US" i="1">
                <a:latin typeface="Arial"/>
                <a:ea typeface="ＭＳ Ｐゴシック" charset="0"/>
                <a:cs typeface="Arial"/>
              </a:rPr>
              <a:t>if not. </a:t>
            </a:r>
            <a:endParaRPr lang="en-US">
              <a:latin typeface="Arial"/>
              <a:ea typeface="ＭＳ Ｐゴシック" charset="0"/>
              <a:cs typeface="Arial"/>
            </a:endParaRPr>
          </a:p>
          <a:p>
            <a:pPr marL="514350" indent="-514350"/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pPr marL="514350" indent="-514350"/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pPr marL="514350" indent="-514350"/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pPr marL="514350" indent="-514350"/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pPr marL="514350" indent="-514350"/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3517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9F6F70D3-F91E-F340-92E8-5F33AE419F50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129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677525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Maximal vs. Minimal</a:t>
            </a:r>
          </a:p>
        </p:txBody>
      </p:sp>
      <p:sp>
        <p:nvSpPr>
          <p:cNvPr id="136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Minimal progress</a:t>
            </a:r>
          </a:p>
          <a:p>
            <a:pPr lvl="1" eaLnBrk="1" hangingPunct="1"/>
            <a:r>
              <a:rPr lang="en-US">
                <a:solidFill>
                  <a:srgbClr val="002060"/>
                </a:solidFill>
                <a:latin typeface="Arial"/>
                <a:ea typeface="ＭＳ Ｐゴシック" charset="0"/>
                <a:cs typeface="Arial"/>
              </a:rPr>
              <a:t>some</a:t>
            </a:r>
            <a:r>
              <a:rPr lang="en-US">
                <a:latin typeface="Arial"/>
                <a:ea typeface="ＭＳ Ｐゴシック" charset="0"/>
                <a:cs typeface="Arial"/>
              </a:rPr>
              <a:t> call eventually completes</a:t>
            </a:r>
          </a:p>
          <a:p>
            <a:pPr lvl="1" eaLnBrk="1" hangingPunct="1"/>
            <a:r>
              <a:rPr lang="en-US">
                <a:solidFill>
                  <a:srgbClr val="FF0000"/>
                </a:solidFill>
                <a:latin typeface="Arial"/>
                <a:ea typeface="ＭＳ Ｐゴシック" charset="0"/>
                <a:cs typeface="Arial"/>
              </a:rPr>
              <a:t>System</a:t>
            </a:r>
            <a:r>
              <a:rPr lang="en-US">
                <a:latin typeface="Arial"/>
                <a:ea typeface="ＭＳ Ｐゴシック" charset="0"/>
                <a:cs typeface="Arial"/>
              </a:rPr>
              <a:t> matters, not </a:t>
            </a:r>
            <a:r>
              <a:rPr lang="en-US">
                <a:solidFill>
                  <a:srgbClr val="FF0000"/>
                </a:solidFill>
                <a:latin typeface="Arial"/>
                <a:ea typeface="ＭＳ Ｐゴシック" charset="0"/>
                <a:cs typeface="Arial"/>
              </a:rPr>
              <a:t>individuals</a:t>
            </a:r>
          </a:p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Maximal progress</a:t>
            </a:r>
          </a:p>
          <a:p>
            <a:pPr lvl="1" eaLnBrk="1" hangingPunct="1"/>
            <a:r>
              <a:rPr lang="en-US">
                <a:solidFill>
                  <a:srgbClr val="002060"/>
                </a:solidFill>
                <a:latin typeface="Arial"/>
                <a:ea typeface="ＭＳ Ｐゴシック" charset="0"/>
                <a:cs typeface="Arial"/>
              </a:rPr>
              <a:t>every</a:t>
            </a:r>
            <a:r>
              <a:rPr lang="en-US">
                <a:latin typeface="Arial"/>
                <a:ea typeface="ＭＳ Ｐゴシック" charset="0"/>
                <a:cs typeface="Arial"/>
              </a:rPr>
              <a:t> call eventually completes.</a:t>
            </a:r>
          </a:p>
          <a:p>
            <a:pPr lvl="1"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Individuals matter</a:t>
            </a:r>
          </a:p>
        </p:txBody>
      </p:sp>
      <p:sp>
        <p:nvSpPr>
          <p:cNvPr id="13619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75DB7C5F-AAE2-1C4D-91CD-80591AF55685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130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285706" name="Picture 10" descr="http://www.theodora.com/flags/new/sweden-s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488" y="3767138"/>
            <a:ext cx="17145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769100" y="5483225"/>
            <a:ext cx="20574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000" b="0">
                <a:solidFill>
                  <a:srgbClr val="002060"/>
                </a:solidFill>
                <a:latin typeface="Arial"/>
                <a:cs typeface="Arial"/>
              </a:rPr>
              <a:t>Flags courtesy of www.theodora.com/flags used with permission</a:t>
            </a:r>
            <a:endParaRPr lang="en-US" sz="1000">
              <a:solidFill>
                <a:srgbClr val="002060"/>
              </a:solidFill>
              <a:latin typeface="Arial"/>
              <a:cs typeface="Arial"/>
            </a:endParaRPr>
          </a:p>
        </p:txBody>
      </p:sp>
      <p:pic>
        <p:nvPicPr>
          <p:cNvPr id="285708" name="Picture 12" descr="http://www.theodora.com/flags/kn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0" y="1970088"/>
            <a:ext cx="1717675" cy="120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98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5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5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The 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“</a:t>
            </a:r>
            <a:r>
              <a:rPr lang="en-US">
                <a:latin typeface="Arial"/>
                <a:ea typeface="ＭＳ Ｐゴシック" charset="0"/>
                <a:cs typeface="Arial"/>
              </a:rPr>
              <a:t>Periodic Table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”</a:t>
            </a:r>
            <a:r>
              <a:rPr lang="en-US">
                <a:latin typeface="Arial"/>
                <a:ea typeface="ＭＳ Ｐゴシック" charset="0"/>
                <a:cs typeface="Arial"/>
              </a:rPr>
              <a:t> of Progress Conditions  </a:t>
            </a:r>
          </a:p>
        </p:txBody>
      </p:sp>
      <p:sp>
        <p:nvSpPr>
          <p:cNvPr id="137219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581818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F3925229-E64B-754A-9E98-28D3993703D8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131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1190" y="2882900"/>
            <a:ext cx="1501733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Maximal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2931" y="2155825"/>
            <a:ext cx="21850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Non-Blocking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97656" y="2155825"/>
            <a:ext cx="14843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Blocking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590" y="4265613"/>
            <a:ext cx="1501733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Minimal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progress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838747"/>
              </p:ext>
            </p:extLst>
          </p:nvPr>
        </p:nvGraphicFramePr>
        <p:xfrm>
          <a:off x="2293938" y="2741613"/>
          <a:ext cx="5935662" cy="2816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7238" name="TextBox 17"/>
          <p:cNvSpPr txBox="1">
            <a:spLocks noChangeArrowheads="1"/>
          </p:cNvSpPr>
          <p:nvPr/>
        </p:nvSpPr>
        <p:spPr bwMode="auto">
          <a:xfrm>
            <a:off x="2636530" y="4475163"/>
            <a:ext cx="1005504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Lock-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7239" name="TextBox 18"/>
          <p:cNvSpPr txBox="1">
            <a:spLocks noChangeArrowheads="1"/>
          </p:cNvSpPr>
          <p:nvPr/>
        </p:nvSpPr>
        <p:spPr bwMode="auto">
          <a:xfrm>
            <a:off x="6340505" y="3128963"/>
            <a:ext cx="1792227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Starvation-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7240" name="TextBox 19"/>
          <p:cNvSpPr txBox="1">
            <a:spLocks noChangeArrowheads="1"/>
          </p:cNvSpPr>
          <p:nvPr/>
        </p:nvSpPr>
        <p:spPr bwMode="auto">
          <a:xfrm>
            <a:off x="6295780" y="4475163"/>
            <a:ext cx="165942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Deadlock-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7241" name="TextBox 16"/>
          <p:cNvSpPr txBox="1">
            <a:spLocks noChangeArrowheads="1"/>
          </p:cNvSpPr>
          <p:nvPr/>
        </p:nvSpPr>
        <p:spPr bwMode="auto">
          <a:xfrm>
            <a:off x="2659970" y="3128963"/>
            <a:ext cx="92845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Wait-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7242" name="TextBox 25"/>
          <p:cNvSpPr txBox="1">
            <a:spLocks noChangeArrowheads="1"/>
          </p:cNvSpPr>
          <p:nvPr/>
        </p:nvSpPr>
        <p:spPr bwMode="auto">
          <a:xfrm>
            <a:off x="4186575" y="3114675"/>
            <a:ext cx="2031325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Obstruction-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37243" name="Straight Connector 27"/>
          <p:cNvCxnSpPr>
            <a:cxnSpLocks noChangeShapeType="1"/>
          </p:cNvCxnSpPr>
          <p:nvPr/>
        </p:nvCxnSpPr>
        <p:spPr bwMode="auto">
          <a:xfrm rot="5400000">
            <a:off x="4836319" y="4156869"/>
            <a:ext cx="2787650" cy="142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7244" name="Straight Connector 29"/>
          <p:cNvCxnSpPr>
            <a:cxnSpLocks noChangeShapeType="1"/>
          </p:cNvCxnSpPr>
          <p:nvPr/>
        </p:nvCxnSpPr>
        <p:spPr bwMode="auto">
          <a:xfrm flipV="1">
            <a:off x="2312988" y="4148138"/>
            <a:ext cx="5907087" cy="1111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8446537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itle 1"/>
          <p:cNvSpPr>
            <a:spLocks noGrp="1"/>
          </p:cNvSpPr>
          <p:nvPr>
            <p:ph type="title"/>
          </p:nvPr>
        </p:nvSpPr>
        <p:spPr>
          <a:xfrm>
            <a:off x="685800" y="447675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The Scheduler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’</a:t>
            </a:r>
            <a:r>
              <a:rPr lang="en-US">
                <a:latin typeface="Arial"/>
                <a:ea typeface="ＭＳ Ｐゴシック" charset="0"/>
                <a:cs typeface="Arial"/>
              </a:rPr>
              <a:t>s Role</a:t>
            </a:r>
          </a:p>
        </p:txBody>
      </p:sp>
      <p:sp>
        <p:nvSpPr>
          <p:cNvPr id="138243" name="Content Placeholder 2"/>
          <p:cNvSpPr>
            <a:spLocks noGrp="1"/>
          </p:cNvSpPr>
          <p:nvPr>
            <p:ph idx="1"/>
          </p:nvPr>
        </p:nvSpPr>
        <p:spPr>
          <a:xfrm>
            <a:off x="685800" y="1690688"/>
            <a:ext cx="7772400" cy="4114800"/>
          </a:xfrm>
        </p:spPr>
        <p:txBody>
          <a:bodyPr/>
          <a:lstStyle/>
          <a:p>
            <a:pPr marL="0" indent="0">
              <a:spcBef>
                <a:spcPct val="30000"/>
              </a:spcBef>
              <a:buFontTx/>
              <a:buNone/>
            </a:pPr>
            <a:r>
              <a:rPr lang="en-US">
                <a:latin typeface="Arial"/>
                <a:ea typeface="ＭＳ Ｐゴシック" charset="0"/>
                <a:cs typeface="Arial"/>
              </a:rPr>
              <a:t>Multiprocessor progress properties:</a:t>
            </a:r>
          </a:p>
          <a:p>
            <a:pPr marL="0" indent="0">
              <a:spcBef>
                <a:spcPct val="30000"/>
              </a:spcBef>
            </a:pPr>
            <a:r>
              <a:rPr lang="en-US">
                <a:solidFill>
                  <a:srgbClr val="FF0000"/>
                </a:solidFill>
                <a:latin typeface="Arial"/>
                <a:ea typeface="ＭＳ Ｐゴシック" charset="0"/>
                <a:cs typeface="Arial"/>
              </a:rPr>
              <a:t> 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Are not </a:t>
            </a:r>
            <a:r>
              <a:rPr lang="en-US">
                <a:latin typeface="Arial"/>
                <a:ea typeface="ＭＳ Ｐゴシック" charset="0"/>
                <a:cs typeface="Arial"/>
              </a:rPr>
              <a:t>about the guarantees a method's implementation provides.</a:t>
            </a:r>
          </a:p>
          <a:p>
            <a:pPr marL="0" indent="0">
              <a:spcBef>
                <a:spcPct val="30000"/>
              </a:spcBef>
            </a:pPr>
            <a:r>
              <a:rPr lang="en-US">
                <a:latin typeface="Arial"/>
                <a:ea typeface="ＭＳ Ｐゴシック" charset="0"/>
                <a:cs typeface="Arial"/>
              </a:rPr>
              <a:t> 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Are</a:t>
            </a:r>
            <a:r>
              <a:rPr lang="en-US">
                <a:latin typeface="Arial"/>
                <a:ea typeface="ＭＳ Ｐゴシック" charset="0"/>
                <a:cs typeface="Arial"/>
              </a:rPr>
              <a:t> about </a:t>
            </a:r>
            <a:r>
              <a:rPr lang="en-US">
                <a:solidFill>
                  <a:srgbClr val="FF0000"/>
                </a:solidFill>
                <a:latin typeface="Arial"/>
                <a:ea typeface="ＭＳ Ｐゴシック" charset="0"/>
                <a:cs typeface="Arial"/>
              </a:rPr>
              <a:t>scheduling </a:t>
            </a:r>
            <a:r>
              <a:rPr lang="en-US">
                <a:latin typeface="Arial"/>
                <a:ea typeface="ＭＳ Ｐゴシック" charset="0"/>
                <a:cs typeface="Arial"/>
              </a:rPr>
              <a:t>needed to provide minimal or maximal progress.</a:t>
            </a:r>
          </a:p>
          <a:p>
            <a:pPr marL="0" indent="0">
              <a:buFontTx/>
              <a:buNone/>
            </a:pPr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pPr marL="0" indent="0">
              <a:buFontTx/>
              <a:buNone/>
            </a:pPr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3824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C7E1B47B-268A-2A42-9F18-DD1C649769C5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132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232287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itle 1"/>
          <p:cNvSpPr>
            <a:spLocks noGrp="1"/>
          </p:cNvSpPr>
          <p:nvPr>
            <p:ph type="title"/>
          </p:nvPr>
        </p:nvSpPr>
        <p:spPr>
          <a:xfrm>
            <a:off x="685800" y="447675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Fair Scheduling</a:t>
            </a:r>
          </a:p>
        </p:txBody>
      </p:sp>
      <p:sp>
        <p:nvSpPr>
          <p:cNvPr id="139267" name="Content Placeholder 2"/>
          <p:cNvSpPr>
            <a:spLocks noGrp="1"/>
          </p:cNvSpPr>
          <p:nvPr>
            <p:ph idx="1"/>
          </p:nvPr>
        </p:nvSpPr>
        <p:spPr>
          <a:xfrm>
            <a:off x="685800" y="1690688"/>
            <a:ext cx="7772400" cy="4114800"/>
          </a:xfrm>
        </p:spPr>
        <p:txBody>
          <a:bodyPr/>
          <a:lstStyle/>
          <a:p>
            <a:pPr marL="514350" indent="-514350"/>
            <a:r>
              <a:rPr lang="en-US">
                <a:latin typeface="Arial"/>
                <a:ea typeface="ＭＳ Ｐゴシック" charset="0"/>
                <a:cs typeface="Arial"/>
              </a:rPr>
              <a:t>A history is </a:t>
            </a:r>
            <a:r>
              <a:rPr lang="en-US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fair</a:t>
            </a:r>
            <a:r>
              <a:rPr lang="en-US" i="1">
                <a:latin typeface="Arial"/>
                <a:ea typeface="ＭＳ Ｐゴシック" charset="0"/>
                <a:cs typeface="Arial"/>
              </a:rPr>
              <a:t> </a:t>
            </a:r>
            <a:r>
              <a:rPr lang="en-US">
                <a:latin typeface="Arial"/>
                <a:ea typeface="ＭＳ Ｐゴシック" charset="0"/>
                <a:cs typeface="Arial"/>
              </a:rPr>
              <a:t>if each thread takes an infinite number of steps</a:t>
            </a:r>
          </a:p>
          <a:p>
            <a:pPr marL="514350" indent="-514350">
              <a:buFontTx/>
              <a:buNone/>
            </a:pPr>
            <a:endParaRPr lang="en-US">
              <a:latin typeface="Arial"/>
              <a:ea typeface="ＭＳ Ｐゴシック" charset="0"/>
              <a:cs typeface="Arial"/>
            </a:endParaRPr>
          </a:p>
          <a:p>
            <a:pPr marL="514350" indent="-514350"/>
            <a:r>
              <a:rPr lang="en-US">
                <a:latin typeface="Arial"/>
                <a:ea typeface="ＭＳ Ｐゴシック" charset="0"/>
                <a:cs typeface="Arial"/>
              </a:rPr>
              <a:t>A method implementation is </a:t>
            </a:r>
            <a:r>
              <a:rPr lang="en-US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deadlock-free</a:t>
            </a:r>
            <a:r>
              <a:rPr lang="en-US">
                <a:latin typeface="Arial"/>
                <a:ea typeface="ＭＳ Ｐゴシック" charset="0"/>
                <a:cs typeface="Arial"/>
              </a:rPr>
              <a:t>  if it guarantees minimal progress in every </a:t>
            </a:r>
            <a:r>
              <a:rPr lang="en-US" i="1">
                <a:latin typeface="Arial"/>
                <a:ea typeface="ＭＳ Ｐゴシック" charset="0"/>
                <a:cs typeface="Arial"/>
              </a:rPr>
              <a:t>fair history</a:t>
            </a:r>
            <a:r>
              <a:rPr lang="en-US">
                <a:latin typeface="Arial"/>
                <a:ea typeface="ＭＳ Ｐゴシック" charset="0"/>
                <a:cs typeface="Arial"/>
              </a:rPr>
              <a:t>.</a:t>
            </a:r>
          </a:p>
          <a:p>
            <a:pPr marL="514350" indent="-514350"/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pPr marL="514350" indent="-514350"/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3926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2935BEE-77AD-E145-92B8-3A63EDDD172C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133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12879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itle 1"/>
          <p:cNvSpPr>
            <a:spLocks noGrp="1"/>
          </p:cNvSpPr>
          <p:nvPr>
            <p:ph type="title"/>
          </p:nvPr>
        </p:nvSpPr>
        <p:spPr>
          <a:xfrm>
            <a:off x="685800" y="447675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Starvation Freedom</a:t>
            </a:r>
          </a:p>
        </p:txBody>
      </p:sp>
      <p:sp>
        <p:nvSpPr>
          <p:cNvPr id="140291" name="Content Placeholder 2"/>
          <p:cNvSpPr>
            <a:spLocks noGrp="1"/>
          </p:cNvSpPr>
          <p:nvPr>
            <p:ph idx="1"/>
          </p:nvPr>
        </p:nvSpPr>
        <p:spPr>
          <a:xfrm>
            <a:off x="685800" y="1690688"/>
            <a:ext cx="7772400" cy="4114800"/>
          </a:xfrm>
        </p:spPr>
        <p:txBody>
          <a:bodyPr/>
          <a:lstStyle/>
          <a:p>
            <a:pPr marL="514350" indent="-514350"/>
            <a:r>
              <a:rPr lang="en-US">
                <a:latin typeface="Arial"/>
                <a:ea typeface="ＭＳ Ｐゴシック" charset="0"/>
                <a:cs typeface="Arial"/>
              </a:rPr>
              <a:t>A method implementation is </a:t>
            </a:r>
            <a:r>
              <a:rPr lang="en-US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starvation-free</a:t>
            </a:r>
            <a:r>
              <a:rPr lang="en-US">
                <a:latin typeface="Arial"/>
                <a:ea typeface="ＭＳ Ｐゴシック" charset="0"/>
                <a:cs typeface="Arial"/>
              </a:rPr>
              <a:t>  if it guarantees maximal progress in every </a:t>
            </a:r>
            <a:r>
              <a:rPr lang="en-US" i="1">
                <a:latin typeface="Arial"/>
                <a:ea typeface="ＭＳ Ｐゴシック" charset="0"/>
                <a:cs typeface="Arial"/>
              </a:rPr>
              <a:t>fair history</a:t>
            </a:r>
            <a:r>
              <a:rPr lang="en-US">
                <a:latin typeface="Arial"/>
                <a:ea typeface="ＭＳ Ｐゴシック" charset="0"/>
                <a:cs typeface="Arial"/>
              </a:rPr>
              <a:t>.</a:t>
            </a:r>
          </a:p>
          <a:p>
            <a:pPr marL="514350" indent="-514350"/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4029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CACDA6C7-F864-5B45-AB3A-4DFC1655DE8E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134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619890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itle 1"/>
          <p:cNvSpPr>
            <a:spLocks noGrp="1"/>
          </p:cNvSpPr>
          <p:nvPr>
            <p:ph type="title"/>
          </p:nvPr>
        </p:nvSpPr>
        <p:spPr>
          <a:xfrm>
            <a:off x="685800" y="447675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Dependent Progress</a:t>
            </a:r>
          </a:p>
        </p:txBody>
      </p:sp>
      <p:sp>
        <p:nvSpPr>
          <p:cNvPr id="193539" name="Content Placeholder 2"/>
          <p:cNvSpPr>
            <a:spLocks noGrp="1"/>
          </p:cNvSpPr>
          <p:nvPr>
            <p:ph idx="1"/>
          </p:nvPr>
        </p:nvSpPr>
        <p:spPr>
          <a:xfrm>
            <a:off x="685800" y="1690688"/>
            <a:ext cx="7772400" cy="41148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Dependent</a:t>
            </a:r>
            <a:r>
              <a:rPr lang="en-US">
                <a:latin typeface="Arial"/>
                <a:ea typeface="ＭＳ Ｐゴシック" charset="0"/>
                <a:cs typeface="Arial"/>
              </a:rPr>
              <a:t> progress conditions</a:t>
            </a:r>
          </a:p>
          <a:p>
            <a:pPr lvl="1"/>
            <a:r>
              <a:rPr lang="en-US">
                <a:latin typeface="Arial"/>
                <a:ea typeface="ＭＳ Ｐゴシック" charset="0"/>
                <a:cs typeface="Arial"/>
              </a:rPr>
              <a:t> Do not guarantee minimal progress in every history</a:t>
            </a:r>
          </a:p>
          <a:p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Independent</a:t>
            </a:r>
            <a:r>
              <a:rPr lang="en-US">
                <a:latin typeface="Arial"/>
                <a:ea typeface="ＭＳ Ｐゴシック" charset="0"/>
                <a:cs typeface="Arial"/>
              </a:rPr>
              <a:t> ones do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.</a:t>
            </a:r>
          </a:p>
          <a:p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Blocking </a:t>
            </a:r>
            <a:r>
              <a:rPr lang="en-US">
                <a:latin typeface="Arial"/>
                <a:ea typeface="ＭＳ Ｐゴシック" charset="0"/>
                <a:cs typeface="Arial"/>
              </a:rPr>
              <a:t>progress conditions </a:t>
            </a:r>
          </a:p>
          <a:p>
            <a:pPr lvl="1"/>
            <a:r>
              <a:rPr lang="en-US" i="1">
                <a:solidFill>
                  <a:srgbClr val="3333FF"/>
                </a:solidFill>
                <a:latin typeface="Arial"/>
                <a:ea typeface="ＭＳ Ｐゴシック" charset="0"/>
                <a:cs typeface="Arial"/>
              </a:rPr>
              <a:t>deadlock-freedom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, </a:t>
            </a:r>
            <a:r>
              <a:rPr lang="en-US" i="1">
                <a:solidFill>
                  <a:srgbClr val="3333FF"/>
                </a:solidFill>
                <a:latin typeface="Arial"/>
                <a:ea typeface="ＭＳ Ｐゴシック" charset="0"/>
                <a:cs typeface="Arial"/>
              </a:rPr>
              <a:t>Starvation-freedom</a:t>
            </a:r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pPr lvl="1"/>
            <a:r>
              <a:rPr lang="en-US">
                <a:latin typeface="Arial"/>
                <a:ea typeface="ＭＳ Ｐゴシック" charset="0"/>
                <a:cs typeface="Arial"/>
              </a:rPr>
              <a:t>are dependent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.</a:t>
            </a:r>
          </a:p>
          <a:p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4131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9AAB3EC9-0C7D-A04D-9E90-999E441BE461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135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709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itle 1"/>
          <p:cNvSpPr>
            <a:spLocks noGrp="1"/>
          </p:cNvSpPr>
          <p:nvPr>
            <p:ph type="title"/>
          </p:nvPr>
        </p:nvSpPr>
        <p:spPr>
          <a:xfrm>
            <a:off x="685800" y="447675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Non-blocking Independent Conditions</a:t>
            </a:r>
          </a:p>
        </p:txBody>
      </p:sp>
      <p:sp>
        <p:nvSpPr>
          <p:cNvPr id="142339" name="Content Placeholder 2"/>
          <p:cNvSpPr>
            <a:spLocks noGrp="1"/>
          </p:cNvSpPr>
          <p:nvPr>
            <p:ph idx="1"/>
          </p:nvPr>
        </p:nvSpPr>
        <p:spPr>
          <a:xfrm>
            <a:off x="685800" y="1958975"/>
            <a:ext cx="7772400" cy="4114800"/>
          </a:xfrm>
        </p:spPr>
        <p:txBody>
          <a:bodyPr/>
          <a:lstStyle/>
          <a:p>
            <a:pPr marL="514350" indent="-514350"/>
            <a:r>
              <a:rPr lang="en-US">
                <a:latin typeface="Arial"/>
                <a:ea typeface="ＭＳ Ｐゴシック" charset="0"/>
                <a:cs typeface="Arial"/>
              </a:rPr>
              <a:t>A 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lock-free </a:t>
            </a:r>
            <a:r>
              <a:rPr lang="en-US">
                <a:latin typeface="Arial"/>
                <a:ea typeface="ＭＳ Ｐゴシック" charset="0"/>
                <a:cs typeface="Arial"/>
              </a:rPr>
              <a:t>method guarantees</a:t>
            </a:r>
          </a:p>
          <a:p>
            <a:pPr marL="914400" lvl="1" indent="-514350"/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minimal</a:t>
            </a:r>
            <a:r>
              <a:rPr lang="en-US">
                <a:latin typeface="Arial"/>
                <a:ea typeface="ＭＳ Ｐゴシック" charset="0"/>
                <a:cs typeface="Arial"/>
              </a:rPr>
              <a:t> progress</a:t>
            </a:r>
          </a:p>
          <a:p>
            <a:pPr marL="914400" lvl="1" indent="-514350"/>
            <a:r>
              <a:rPr lang="en-US">
                <a:latin typeface="Arial"/>
                <a:ea typeface="ＭＳ Ｐゴシック" charset="0"/>
                <a:cs typeface="Arial"/>
              </a:rPr>
              <a:t>in every history.</a:t>
            </a:r>
          </a:p>
          <a:p>
            <a:pPr marL="514350" indent="-514350"/>
            <a:r>
              <a:rPr lang="en-US">
                <a:latin typeface="Arial"/>
                <a:ea typeface="ＭＳ Ｐゴシック" charset="0"/>
                <a:cs typeface="Arial"/>
              </a:rPr>
              <a:t>A 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wait-free</a:t>
            </a:r>
            <a:r>
              <a:rPr lang="en-US">
                <a:latin typeface="Arial"/>
                <a:ea typeface="ＭＳ Ｐゴシック" charset="0"/>
                <a:cs typeface="Arial"/>
              </a:rPr>
              <a:t> method guarantees</a:t>
            </a:r>
          </a:p>
          <a:p>
            <a:pPr marL="914400" lvl="1" indent="-514350"/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maximal</a:t>
            </a:r>
            <a:r>
              <a:rPr lang="en-US">
                <a:latin typeface="Arial"/>
                <a:ea typeface="ＭＳ Ｐゴシック" charset="0"/>
                <a:cs typeface="Arial"/>
              </a:rPr>
              <a:t> progress</a:t>
            </a:r>
          </a:p>
          <a:p>
            <a:pPr marL="914400" lvl="1" indent="-514350"/>
            <a:r>
              <a:rPr lang="en-US">
                <a:latin typeface="Arial"/>
                <a:ea typeface="ＭＳ Ｐゴシック" charset="0"/>
                <a:cs typeface="Arial"/>
              </a:rPr>
              <a:t>in every history.</a:t>
            </a:r>
          </a:p>
          <a:p>
            <a:pPr marL="514350" indent="-514350"/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pPr marL="514350" indent="-514350"/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pPr marL="514350" indent="-514350"/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4234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070517E2-93CD-BD45-B2E9-B39E7695EAE7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136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666416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The 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“</a:t>
            </a:r>
            <a:r>
              <a:rPr lang="en-US">
                <a:latin typeface="Arial"/>
                <a:ea typeface="ＭＳ Ｐゴシック" charset="0"/>
                <a:cs typeface="Arial"/>
              </a:rPr>
              <a:t>Periodic Table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”</a:t>
            </a:r>
            <a:r>
              <a:rPr lang="en-US">
                <a:latin typeface="Arial"/>
                <a:ea typeface="ＭＳ Ｐゴシック" charset="0"/>
                <a:cs typeface="Arial"/>
              </a:rPr>
              <a:t> of Progress Conditions  </a:t>
            </a:r>
          </a:p>
        </p:txBody>
      </p:sp>
      <p:sp>
        <p:nvSpPr>
          <p:cNvPr id="143363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14045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DB8C82A-280A-7440-ADC8-79431520F83D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137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1190" y="2954338"/>
            <a:ext cx="1501733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Maximal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2106" y="2192338"/>
            <a:ext cx="21850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Non-Blocking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94" y="2155825"/>
            <a:ext cx="14843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Blocking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590" y="4337050"/>
            <a:ext cx="1501733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Minimal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progress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017593"/>
              </p:ext>
            </p:extLst>
          </p:nvPr>
        </p:nvGraphicFramePr>
        <p:xfrm>
          <a:off x="2114550" y="2813050"/>
          <a:ext cx="5935663" cy="2816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382" name="TextBox 17"/>
          <p:cNvSpPr txBox="1">
            <a:spLocks noChangeArrowheads="1"/>
          </p:cNvSpPr>
          <p:nvPr/>
        </p:nvSpPr>
        <p:spPr bwMode="auto">
          <a:xfrm>
            <a:off x="2457142" y="4546600"/>
            <a:ext cx="1005504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Lock-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3383" name="TextBox 18"/>
          <p:cNvSpPr txBox="1">
            <a:spLocks noChangeArrowheads="1"/>
          </p:cNvSpPr>
          <p:nvPr/>
        </p:nvSpPr>
        <p:spPr bwMode="auto">
          <a:xfrm>
            <a:off x="6161118" y="3200400"/>
            <a:ext cx="1792227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Starvation-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3384" name="TextBox 19"/>
          <p:cNvSpPr txBox="1">
            <a:spLocks noChangeArrowheads="1"/>
          </p:cNvSpPr>
          <p:nvPr/>
        </p:nvSpPr>
        <p:spPr bwMode="auto">
          <a:xfrm>
            <a:off x="6116392" y="4546600"/>
            <a:ext cx="165942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Deadlock-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3385" name="TextBox 16"/>
          <p:cNvSpPr txBox="1">
            <a:spLocks noChangeArrowheads="1"/>
          </p:cNvSpPr>
          <p:nvPr/>
        </p:nvSpPr>
        <p:spPr bwMode="auto">
          <a:xfrm>
            <a:off x="2480583" y="3200400"/>
            <a:ext cx="92845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Wait-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3386" name="TextBox 25"/>
          <p:cNvSpPr txBox="1">
            <a:spLocks noChangeArrowheads="1"/>
          </p:cNvSpPr>
          <p:nvPr/>
        </p:nvSpPr>
        <p:spPr bwMode="auto">
          <a:xfrm>
            <a:off x="4007188" y="3186113"/>
            <a:ext cx="2031325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Obstruction-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43387" name="Straight Connector 27"/>
          <p:cNvCxnSpPr>
            <a:cxnSpLocks noChangeShapeType="1"/>
          </p:cNvCxnSpPr>
          <p:nvPr/>
        </p:nvCxnSpPr>
        <p:spPr bwMode="auto">
          <a:xfrm rot="5400000">
            <a:off x="4656932" y="4228306"/>
            <a:ext cx="2787650" cy="142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388" name="Straight Connector 29"/>
          <p:cNvCxnSpPr>
            <a:cxnSpLocks noChangeShapeType="1"/>
          </p:cNvCxnSpPr>
          <p:nvPr/>
        </p:nvCxnSpPr>
        <p:spPr bwMode="auto">
          <a:xfrm flipV="1">
            <a:off x="2133600" y="4219575"/>
            <a:ext cx="5907088" cy="1111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2022475" y="5786438"/>
            <a:ext cx="20161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Independent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3403" y="5722938"/>
            <a:ext cx="17749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Dependent</a:t>
            </a:r>
          </a:p>
        </p:txBody>
      </p:sp>
    </p:spTree>
    <p:extLst>
      <p:ext uri="{BB962C8B-B14F-4D97-AF65-F5344CB8AC3E}">
        <p14:creationId xmlns:p14="http://schemas.microsoft.com/office/powerpoint/2010/main" val="122737537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itle 1"/>
          <p:cNvSpPr>
            <a:spLocks noGrp="1"/>
          </p:cNvSpPr>
          <p:nvPr>
            <p:ph type="title"/>
          </p:nvPr>
        </p:nvSpPr>
        <p:spPr>
          <a:xfrm>
            <a:off x="685800" y="447675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Uniformly Isolating Schedules</a:t>
            </a:r>
          </a:p>
        </p:txBody>
      </p:sp>
      <p:sp>
        <p:nvSpPr>
          <p:cNvPr id="144387" name="Content Placeholder 2"/>
          <p:cNvSpPr>
            <a:spLocks noGrp="1"/>
          </p:cNvSpPr>
          <p:nvPr>
            <p:ph idx="1"/>
          </p:nvPr>
        </p:nvSpPr>
        <p:spPr>
          <a:xfrm>
            <a:off x="722313" y="1870075"/>
            <a:ext cx="7772400" cy="4114800"/>
          </a:xfrm>
        </p:spPr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A history is 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uniformly isolating </a:t>
            </a:r>
            <a:r>
              <a:rPr lang="en-US">
                <a:latin typeface="Arial"/>
                <a:ea typeface="ＭＳ Ｐゴシック" charset="0"/>
                <a:cs typeface="Arial"/>
              </a:rPr>
              <a:t>if any thread eventually runs by itself for 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“</a:t>
            </a:r>
            <a:r>
              <a:rPr lang="en-US">
                <a:latin typeface="Arial"/>
                <a:ea typeface="ＭＳ Ｐゴシック" charset="0"/>
                <a:cs typeface="Arial"/>
              </a:rPr>
              <a:t>long enough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”</a:t>
            </a:r>
            <a:endParaRPr lang="en-US">
              <a:latin typeface="Arial"/>
              <a:ea typeface="ＭＳ Ｐゴシック" charset="0"/>
              <a:cs typeface="Arial"/>
            </a:endParaRPr>
          </a:p>
          <a:p>
            <a:r>
              <a:rPr lang="en-US">
                <a:latin typeface="Arial"/>
                <a:ea typeface="ＭＳ Ｐゴシック" charset="0"/>
                <a:cs typeface="Arial"/>
              </a:rPr>
              <a:t>Modern systems do this with backoff, yield, etc.</a:t>
            </a:r>
          </a:p>
          <a:p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4438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3375CA77-285B-734E-BD75-BDFA845A33FB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138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086307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itle 1"/>
          <p:cNvSpPr>
            <a:spLocks noGrp="1"/>
          </p:cNvSpPr>
          <p:nvPr>
            <p:ph type="title"/>
          </p:nvPr>
        </p:nvSpPr>
        <p:spPr>
          <a:xfrm>
            <a:off x="685800" y="447675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A Non-blocking Dependent Condition</a:t>
            </a:r>
          </a:p>
        </p:txBody>
      </p:sp>
      <p:sp>
        <p:nvSpPr>
          <p:cNvPr id="145411" name="Content Placeholder 2"/>
          <p:cNvSpPr>
            <a:spLocks noGrp="1"/>
          </p:cNvSpPr>
          <p:nvPr>
            <p:ph idx="1"/>
          </p:nvPr>
        </p:nvSpPr>
        <p:spPr>
          <a:xfrm>
            <a:off x="685800" y="1958975"/>
            <a:ext cx="7772400" cy="4114800"/>
          </a:xfrm>
        </p:spPr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A method implementation is 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obstruction-free</a:t>
            </a:r>
            <a:r>
              <a:rPr lang="en-US">
                <a:latin typeface="Arial"/>
                <a:ea typeface="ＭＳ Ｐゴシック" charset="0"/>
                <a:cs typeface="Arial"/>
              </a:rPr>
              <a:t>  if it guarantees</a:t>
            </a:r>
          </a:p>
          <a:p>
            <a:pPr lvl="1"/>
            <a:r>
              <a:rPr lang="en-US">
                <a:latin typeface="Arial"/>
                <a:ea typeface="ＭＳ Ｐゴシック" charset="0"/>
                <a:cs typeface="Arial"/>
              </a:rPr>
              <a:t> maximal progress</a:t>
            </a:r>
          </a:p>
          <a:p>
            <a:pPr lvl="1"/>
            <a:r>
              <a:rPr lang="en-US">
                <a:latin typeface="Arial"/>
                <a:ea typeface="ＭＳ Ｐゴシック" charset="0"/>
                <a:cs typeface="Arial"/>
              </a:rPr>
              <a:t>in every uniformly isolating history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. </a:t>
            </a:r>
          </a:p>
          <a:p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4541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D96DD45F-0618-6F4E-9124-5784D0FF463D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139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210941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The 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“</a:t>
            </a:r>
            <a:r>
              <a:rPr lang="en-US">
                <a:latin typeface="Arial"/>
                <a:ea typeface="ＭＳ Ｐゴシック" charset="0"/>
                <a:cs typeface="Arial"/>
              </a:rPr>
              <a:t>Periodic Table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”</a:t>
            </a:r>
            <a:r>
              <a:rPr lang="en-US">
                <a:latin typeface="Arial"/>
                <a:ea typeface="ＭＳ Ｐゴシック" charset="0"/>
                <a:cs typeface="Arial"/>
              </a:rPr>
              <a:t> of Progress Conditions  </a:t>
            </a:r>
          </a:p>
        </p:txBody>
      </p:sp>
      <p:sp>
        <p:nvSpPr>
          <p:cNvPr id="14643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14045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B2C351E7-6577-D844-9E40-7A3A821AF565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140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1190" y="3151188"/>
            <a:ext cx="1501733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Maximal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2106" y="2192338"/>
            <a:ext cx="21850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Non-Blocking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94" y="2155825"/>
            <a:ext cx="14843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Blocking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590" y="4533900"/>
            <a:ext cx="1501733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Minimal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progress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514881"/>
              </p:ext>
            </p:extLst>
          </p:nvPr>
        </p:nvGraphicFramePr>
        <p:xfrm>
          <a:off x="2114550" y="2813050"/>
          <a:ext cx="5935663" cy="2816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6454" name="TextBox 17"/>
          <p:cNvSpPr txBox="1">
            <a:spLocks noChangeArrowheads="1"/>
          </p:cNvSpPr>
          <p:nvPr/>
        </p:nvSpPr>
        <p:spPr bwMode="auto">
          <a:xfrm>
            <a:off x="2457142" y="4546600"/>
            <a:ext cx="1005504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Lock-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6455" name="TextBox 18"/>
          <p:cNvSpPr txBox="1">
            <a:spLocks noChangeArrowheads="1"/>
          </p:cNvSpPr>
          <p:nvPr/>
        </p:nvSpPr>
        <p:spPr bwMode="auto">
          <a:xfrm>
            <a:off x="6161118" y="3200400"/>
            <a:ext cx="1792227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Starvation-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6456" name="TextBox 19"/>
          <p:cNvSpPr txBox="1">
            <a:spLocks noChangeArrowheads="1"/>
          </p:cNvSpPr>
          <p:nvPr/>
        </p:nvSpPr>
        <p:spPr bwMode="auto">
          <a:xfrm>
            <a:off x="6116392" y="4546600"/>
            <a:ext cx="165942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Deadlock-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6457" name="TextBox 16"/>
          <p:cNvSpPr txBox="1">
            <a:spLocks noChangeArrowheads="1"/>
          </p:cNvSpPr>
          <p:nvPr/>
        </p:nvSpPr>
        <p:spPr bwMode="auto">
          <a:xfrm>
            <a:off x="2480583" y="3200400"/>
            <a:ext cx="92845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Wait-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6458" name="TextBox 25"/>
          <p:cNvSpPr txBox="1">
            <a:spLocks noChangeArrowheads="1"/>
          </p:cNvSpPr>
          <p:nvPr/>
        </p:nvSpPr>
        <p:spPr bwMode="auto">
          <a:xfrm>
            <a:off x="4007188" y="3186113"/>
            <a:ext cx="2031325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Obstruction-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46459" name="Straight Connector 27"/>
          <p:cNvCxnSpPr>
            <a:cxnSpLocks noChangeShapeType="1"/>
          </p:cNvCxnSpPr>
          <p:nvPr/>
        </p:nvCxnSpPr>
        <p:spPr bwMode="auto">
          <a:xfrm rot="5400000">
            <a:off x="4656932" y="4228306"/>
            <a:ext cx="2787650" cy="142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6460" name="Straight Connector 29"/>
          <p:cNvCxnSpPr>
            <a:cxnSpLocks noChangeShapeType="1"/>
          </p:cNvCxnSpPr>
          <p:nvPr/>
        </p:nvCxnSpPr>
        <p:spPr bwMode="auto">
          <a:xfrm flipV="1">
            <a:off x="2133600" y="4219575"/>
            <a:ext cx="5907088" cy="1111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2022475" y="5786438"/>
            <a:ext cx="20161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Independent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3403" y="5786438"/>
            <a:ext cx="17749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Dependent</a:t>
            </a:r>
          </a:p>
        </p:txBody>
      </p:sp>
      <p:cxnSp>
        <p:nvCxnSpPr>
          <p:cNvPr id="23" name="Straight Connector 27"/>
          <p:cNvCxnSpPr>
            <a:cxnSpLocks noChangeShapeType="1"/>
          </p:cNvCxnSpPr>
          <p:nvPr/>
        </p:nvCxnSpPr>
        <p:spPr bwMode="auto">
          <a:xfrm rot="5400000">
            <a:off x="2586832" y="4218781"/>
            <a:ext cx="2787650" cy="142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Left Arrow 27"/>
          <p:cNvSpPr>
            <a:spLocks noChangeArrowheads="1"/>
          </p:cNvSpPr>
          <p:nvPr/>
        </p:nvSpPr>
        <p:spPr bwMode="auto">
          <a:xfrm>
            <a:off x="2868613" y="2743200"/>
            <a:ext cx="2743200" cy="1406525"/>
          </a:xfrm>
          <a:prstGeom prst="leftArrow">
            <a:avLst>
              <a:gd name="adj1" fmla="val 50000"/>
              <a:gd name="adj2" fmla="val 49986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Arial"/>
                <a:cs typeface="Arial"/>
              </a:rPr>
              <a:t>Uniform iso scheduler</a:t>
            </a:r>
          </a:p>
        </p:txBody>
      </p:sp>
      <p:sp>
        <p:nvSpPr>
          <p:cNvPr id="30" name="Left Arrow 29"/>
          <p:cNvSpPr>
            <a:spLocks noChangeArrowheads="1"/>
          </p:cNvSpPr>
          <p:nvPr/>
        </p:nvSpPr>
        <p:spPr bwMode="auto">
          <a:xfrm>
            <a:off x="3041650" y="4430713"/>
            <a:ext cx="4016375" cy="915987"/>
          </a:xfrm>
          <a:prstGeom prst="leftArrow">
            <a:avLst>
              <a:gd name="adj1" fmla="val 50000"/>
              <a:gd name="adj2" fmla="val 50059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>
                <a:latin typeface="Arial"/>
                <a:cs typeface="Arial"/>
              </a:rPr>
              <a:t>   </a:t>
            </a:r>
            <a:r>
              <a:rPr lang="en-US">
                <a:solidFill>
                  <a:srgbClr val="0000FF"/>
                </a:solidFill>
                <a:latin typeface="Arial"/>
                <a:cs typeface="Arial"/>
              </a:rPr>
              <a:t>Fair scheduler</a:t>
            </a:r>
          </a:p>
        </p:txBody>
      </p:sp>
      <p:sp>
        <p:nvSpPr>
          <p:cNvPr id="31" name="Left Arrow 30"/>
          <p:cNvSpPr>
            <a:spLocks noChangeArrowheads="1"/>
          </p:cNvSpPr>
          <p:nvPr/>
        </p:nvSpPr>
        <p:spPr bwMode="auto">
          <a:xfrm>
            <a:off x="3074988" y="3146425"/>
            <a:ext cx="4016375" cy="917575"/>
          </a:xfrm>
          <a:prstGeom prst="leftArrow">
            <a:avLst>
              <a:gd name="adj1" fmla="val 50000"/>
              <a:gd name="adj2" fmla="val 49973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>
                <a:latin typeface="Arial"/>
                <a:cs typeface="Arial"/>
              </a:rPr>
              <a:t>   </a:t>
            </a:r>
            <a:r>
              <a:rPr lang="en-US">
                <a:solidFill>
                  <a:srgbClr val="0000FF"/>
                </a:solidFill>
                <a:latin typeface="Arial"/>
                <a:cs typeface="Arial"/>
              </a:rPr>
              <a:t>Fair scheduler</a:t>
            </a:r>
          </a:p>
        </p:txBody>
      </p:sp>
    </p:spTree>
    <p:extLst>
      <p:ext uri="{BB962C8B-B14F-4D97-AF65-F5344CB8AC3E}">
        <p14:creationId xmlns:p14="http://schemas.microsoft.com/office/powerpoint/2010/main" val="228175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98798E-6 L -0.11667 -0.0025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33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8" grpId="0" animBg="1"/>
      <p:bldP spid="30" grpId="0" animBg="1"/>
      <p:bldP spid="30" grpId="1" animBg="1"/>
      <p:bldP spid="31" grpId="0" animBg="1"/>
      <p:bldP spid="31" grpId="1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The 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“</a:t>
            </a:r>
            <a:r>
              <a:rPr lang="en-US">
                <a:latin typeface="Arial"/>
                <a:ea typeface="ＭＳ Ｐゴシック" charset="0"/>
                <a:cs typeface="Arial"/>
              </a:rPr>
              <a:t>Periodic Table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”</a:t>
            </a:r>
            <a:r>
              <a:rPr lang="en-US">
                <a:latin typeface="Arial"/>
                <a:ea typeface="ＭＳ Ｐゴシック" charset="0"/>
                <a:cs typeface="Arial"/>
              </a:rPr>
              <a:t> of Progress Conditions  </a:t>
            </a:r>
          </a:p>
        </p:txBody>
      </p:sp>
      <p:sp>
        <p:nvSpPr>
          <p:cNvPr id="147459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14045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715AB3D4-550B-C548-B432-208E27634D86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141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1190" y="3151188"/>
            <a:ext cx="1501733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Maximal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2106" y="2192338"/>
            <a:ext cx="21850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Non-Blocking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94" y="2155825"/>
            <a:ext cx="14843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Blocking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590" y="4533900"/>
            <a:ext cx="1501733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Minimal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progress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130642"/>
              </p:ext>
            </p:extLst>
          </p:nvPr>
        </p:nvGraphicFramePr>
        <p:xfrm>
          <a:off x="2114550" y="2813050"/>
          <a:ext cx="5935663" cy="2816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7478" name="TextBox 17"/>
          <p:cNvSpPr txBox="1">
            <a:spLocks noChangeArrowheads="1"/>
          </p:cNvSpPr>
          <p:nvPr/>
        </p:nvSpPr>
        <p:spPr bwMode="auto">
          <a:xfrm>
            <a:off x="2457142" y="4546600"/>
            <a:ext cx="1005504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Lock-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7479" name="TextBox 18"/>
          <p:cNvSpPr txBox="1">
            <a:spLocks noChangeArrowheads="1"/>
          </p:cNvSpPr>
          <p:nvPr/>
        </p:nvSpPr>
        <p:spPr bwMode="auto">
          <a:xfrm>
            <a:off x="6161118" y="3200400"/>
            <a:ext cx="1792227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Starvation-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7480" name="TextBox 19"/>
          <p:cNvSpPr txBox="1">
            <a:spLocks noChangeArrowheads="1"/>
          </p:cNvSpPr>
          <p:nvPr/>
        </p:nvSpPr>
        <p:spPr bwMode="auto">
          <a:xfrm>
            <a:off x="6116392" y="4546600"/>
            <a:ext cx="165942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Deadlock-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7481" name="TextBox 16"/>
          <p:cNvSpPr txBox="1">
            <a:spLocks noChangeArrowheads="1"/>
          </p:cNvSpPr>
          <p:nvPr/>
        </p:nvSpPr>
        <p:spPr bwMode="auto">
          <a:xfrm>
            <a:off x="2480583" y="3200400"/>
            <a:ext cx="92845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Wait-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7482" name="TextBox 25"/>
          <p:cNvSpPr txBox="1">
            <a:spLocks noChangeArrowheads="1"/>
          </p:cNvSpPr>
          <p:nvPr/>
        </p:nvSpPr>
        <p:spPr bwMode="auto">
          <a:xfrm>
            <a:off x="4007188" y="3186113"/>
            <a:ext cx="2031325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Obstruction-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47483" name="Straight Connector 27"/>
          <p:cNvCxnSpPr>
            <a:cxnSpLocks noChangeShapeType="1"/>
          </p:cNvCxnSpPr>
          <p:nvPr/>
        </p:nvCxnSpPr>
        <p:spPr bwMode="auto">
          <a:xfrm rot="5400000">
            <a:off x="4656932" y="4228306"/>
            <a:ext cx="2787650" cy="142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484" name="Straight Connector 29"/>
          <p:cNvCxnSpPr>
            <a:cxnSpLocks noChangeShapeType="1"/>
          </p:cNvCxnSpPr>
          <p:nvPr/>
        </p:nvCxnSpPr>
        <p:spPr bwMode="auto">
          <a:xfrm flipV="1">
            <a:off x="2133600" y="4219575"/>
            <a:ext cx="5907088" cy="1111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2022475" y="5786438"/>
            <a:ext cx="20161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Independent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9003" y="5786438"/>
            <a:ext cx="17749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Dependent</a:t>
            </a:r>
          </a:p>
        </p:txBody>
      </p:sp>
      <p:cxnSp>
        <p:nvCxnSpPr>
          <p:cNvPr id="147487" name="Straight Connector 27"/>
          <p:cNvCxnSpPr>
            <a:cxnSpLocks noChangeShapeType="1"/>
          </p:cNvCxnSpPr>
          <p:nvPr/>
        </p:nvCxnSpPr>
        <p:spPr bwMode="auto">
          <a:xfrm rot="5400000">
            <a:off x="2586832" y="4218781"/>
            <a:ext cx="2787650" cy="142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7488" name="TextBox 27"/>
          <p:cNvSpPr txBox="1">
            <a:spLocks noChangeArrowheads="1"/>
          </p:cNvSpPr>
          <p:nvPr/>
        </p:nvSpPr>
        <p:spPr bwMode="auto">
          <a:xfrm>
            <a:off x="4724844" y="4537075"/>
            <a:ext cx="52933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400">
                <a:latin typeface="Arial"/>
                <a:cs typeface="Arial"/>
              </a:rPr>
              <a:t>?</a:t>
            </a:r>
            <a:endParaRPr lang="en-US" sz="5400">
              <a:latin typeface="Arial"/>
              <a:cs typeface="Arial"/>
            </a:endParaRP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434018" y="4537075"/>
            <a:ext cx="1125278" cy="90486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Clash-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607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itle 1"/>
          <p:cNvSpPr>
            <a:spLocks noGrp="1"/>
          </p:cNvSpPr>
          <p:nvPr>
            <p:ph type="title"/>
          </p:nvPr>
        </p:nvSpPr>
        <p:spPr>
          <a:xfrm>
            <a:off x="685800" y="447675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Clash-Freedom: the 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“</a:t>
            </a:r>
            <a:r>
              <a:rPr lang="en-US">
                <a:latin typeface="Arial"/>
                <a:ea typeface="ＭＳ Ｐゴシック" charset="0"/>
                <a:cs typeface="Arial"/>
              </a:rPr>
              <a:t>Einsteinium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”</a:t>
            </a:r>
            <a:r>
              <a:rPr lang="en-US">
                <a:latin typeface="Arial"/>
                <a:ea typeface="ＭＳ Ｐゴシック" charset="0"/>
                <a:cs typeface="Arial"/>
              </a:rPr>
              <a:t> of Progress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685800" y="1958975"/>
            <a:ext cx="7902575" cy="4114800"/>
          </a:xfrm>
        </p:spPr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A method 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implementation</a:t>
            </a:r>
            <a:r>
              <a:rPr lang="en-US">
                <a:latin typeface="Arial"/>
                <a:ea typeface="ＭＳ Ｐゴシック" charset="0"/>
                <a:cs typeface="Arial"/>
              </a:rPr>
              <a:t> is 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clash-free</a:t>
            </a:r>
            <a:r>
              <a:rPr lang="en-US">
                <a:latin typeface="Arial"/>
                <a:ea typeface="ＭＳ Ｐゴシック" charset="0"/>
                <a:cs typeface="Arial"/>
              </a:rPr>
              <a:t>  if it guarantees</a:t>
            </a:r>
          </a:p>
          <a:p>
            <a:pPr lvl="1"/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minimal</a:t>
            </a:r>
            <a:r>
              <a:rPr lang="en-US">
                <a:latin typeface="Arial"/>
                <a:ea typeface="ＭＳ Ｐゴシック" charset="0"/>
                <a:cs typeface="Arial"/>
              </a:rPr>
              <a:t> progress</a:t>
            </a:r>
          </a:p>
          <a:p>
            <a:pPr lvl="1"/>
            <a:r>
              <a:rPr lang="en-US">
                <a:latin typeface="Arial"/>
                <a:ea typeface="ＭＳ Ｐゴシック" charset="0"/>
                <a:cs typeface="Arial"/>
              </a:rPr>
              <a:t>in every uniformly isolating history. </a:t>
            </a:r>
          </a:p>
          <a:p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Thm</a:t>
            </a:r>
            <a:r>
              <a:rPr lang="en-US">
                <a:latin typeface="Arial"/>
                <a:ea typeface="ＭＳ Ｐゴシック" charset="0"/>
                <a:cs typeface="Arial"/>
              </a:rPr>
              <a:t>: clash-freedom</a:t>
            </a:r>
            <a:r>
              <a:rPr lang="en-US" i="1">
                <a:latin typeface="Arial"/>
                <a:ea typeface="ＭＳ Ｐゴシック" charset="0"/>
                <a:cs typeface="Arial"/>
              </a:rPr>
              <a:t> </a:t>
            </a:r>
            <a:r>
              <a:rPr lang="en-US">
                <a:latin typeface="Arial"/>
                <a:ea typeface="ＭＳ Ｐゴシック" charset="0"/>
                <a:cs typeface="Arial"/>
              </a:rPr>
              <a:t>strictly weaker than obstruction-freedom</a:t>
            </a:r>
          </a:p>
          <a:p>
            <a:endParaRPr lang="en-US"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4848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08747A6-8F5F-C14A-A489-F7B301F3295E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142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0440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Getting from Minimal to Maximal</a:t>
            </a:r>
          </a:p>
        </p:txBody>
      </p:sp>
      <p:sp>
        <p:nvSpPr>
          <p:cNvPr id="149507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14045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3FD07D3-97B4-3148-BA0D-B69237E8FCBF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143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1190" y="3151188"/>
            <a:ext cx="1501733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Maximal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2106" y="2192338"/>
            <a:ext cx="21850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Non-Blocking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94" y="2155825"/>
            <a:ext cx="14843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Blocking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590" y="4533900"/>
            <a:ext cx="1501733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Minimal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progress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394253"/>
              </p:ext>
            </p:extLst>
          </p:nvPr>
        </p:nvGraphicFramePr>
        <p:xfrm>
          <a:off x="2114550" y="2813050"/>
          <a:ext cx="5935663" cy="2816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9526" name="TextBox 17"/>
          <p:cNvSpPr txBox="1">
            <a:spLocks noChangeArrowheads="1"/>
          </p:cNvSpPr>
          <p:nvPr/>
        </p:nvSpPr>
        <p:spPr bwMode="auto">
          <a:xfrm>
            <a:off x="2457142" y="4546600"/>
            <a:ext cx="1005504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Lock-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9527" name="TextBox 18"/>
          <p:cNvSpPr txBox="1">
            <a:spLocks noChangeArrowheads="1"/>
          </p:cNvSpPr>
          <p:nvPr/>
        </p:nvSpPr>
        <p:spPr bwMode="auto">
          <a:xfrm>
            <a:off x="6161118" y="3200400"/>
            <a:ext cx="1792227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Starvation-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9528" name="TextBox 19"/>
          <p:cNvSpPr txBox="1">
            <a:spLocks noChangeArrowheads="1"/>
          </p:cNvSpPr>
          <p:nvPr/>
        </p:nvSpPr>
        <p:spPr bwMode="auto">
          <a:xfrm>
            <a:off x="6116392" y="4546600"/>
            <a:ext cx="165942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Deadlock-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9529" name="TextBox 16"/>
          <p:cNvSpPr txBox="1">
            <a:spLocks noChangeArrowheads="1"/>
          </p:cNvSpPr>
          <p:nvPr/>
        </p:nvSpPr>
        <p:spPr bwMode="auto">
          <a:xfrm>
            <a:off x="2480583" y="3200400"/>
            <a:ext cx="92845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Wait-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9530" name="TextBox 25"/>
          <p:cNvSpPr txBox="1">
            <a:spLocks noChangeArrowheads="1"/>
          </p:cNvSpPr>
          <p:nvPr/>
        </p:nvSpPr>
        <p:spPr bwMode="auto">
          <a:xfrm>
            <a:off x="4007188" y="3186113"/>
            <a:ext cx="2031325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Obstruction-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49531" name="Straight Connector 27"/>
          <p:cNvCxnSpPr>
            <a:cxnSpLocks noChangeShapeType="1"/>
          </p:cNvCxnSpPr>
          <p:nvPr/>
        </p:nvCxnSpPr>
        <p:spPr bwMode="auto">
          <a:xfrm rot="5400000">
            <a:off x="4656932" y="4228306"/>
            <a:ext cx="2787650" cy="142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9532" name="Straight Connector 29"/>
          <p:cNvCxnSpPr>
            <a:cxnSpLocks noChangeShapeType="1"/>
          </p:cNvCxnSpPr>
          <p:nvPr/>
        </p:nvCxnSpPr>
        <p:spPr bwMode="auto">
          <a:xfrm flipV="1">
            <a:off x="2133600" y="4219575"/>
            <a:ext cx="5907088" cy="11113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2022475" y="5786438"/>
            <a:ext cx="20161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Independent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9003" y="5786438"/>
            <a:ext cx="17749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Dependent</a:t>
            </a:r>
          </a:p>
        </p:txBody>
      </p:sp>
      <p:cxnSp>
        <p:nvCxnSpPr>
          <p:cNvPr id="149535" name="Straight Connector 27"/>
          <p:cNvCxnSpPr>
            <a:cxnSpLocks noChangeShapeType="1"/>
          </p:cNvCxnSpPr>
          <p:nvPr/>
        </p:nvCxnSpPr>
        <p:spPr bwMode="auto">
          <a:xfrm rot="5400000">
            <a:off x="2586832" y="4218781"/>
            <a:ext cx="2787650" cy="142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9536" name="TextBox 27"/>
          <p:cNvSpPr txBox="1">
            <a:spLocks noChangeArrowheads="1"/>
          </p:cNvSpPr>
          <p:nvPr/>
        </p:nvSpPr>
        <p:spPr bwMode="auto">
          <a:xfrm>
            <a:off x="4724844" y="4537075"/>
            <a:ext cx="52933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400">
                <a:latin typeface="Arial"/>
                <a:cs typeface="Arial"/>
              </a:rPr>
              <a:t>?</a:t>
            </a:r>
            <a:endParaRPr lang="en-US" sz="5400">
              <a:latin typeface="Arial"/>
              <a:cs typeface="Arial"/>
            </a:endParaRPr>
          </a:p>
        </p:txBody>
      </p:sp>
      <p:sp>
        <p:nvSpPr>
          <p:cNvPr id="149537" name="TextBox 28"/>
          <p:cNvSpPr txBox="1">
            <a:spLocks noChangeArrowheads="1"/>
          </p:cNvSpPr>
          <p:nvPr/>
        </p:nvSpPr>
        <p:spPr bwMode="auto">
          <a:xfrm>
            <a:off x="4434018" y="4537075"/>
            <a:ext cx="1125278" cy="90486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Clash-</a:t>
            </a: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free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9538" name="TextBox 26"/>
          <p:cNvSpPr txBox="1">
            <a:spLocks noChangeArrowheads="1"/>
          </p:cNvSpPr>
          <p:nvPr/>
        </p:nvSpPr>
        <p:spPr bwMode="auto">
          <a:xfrm>
            <a:off x="8193088" y="3890963"/>
            <a:ext cx="4953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000">
                <a:latin typeface="Arial"/>
                <a:cs typeface="Arial"/>
              </a:rPr>
              <a:t>?</a:t>
            </a:r>
          </a:p>
        </p:txBody>
      </p:sp>
      <p:sp>
        <p:nvSpPr>
          <p:cNvPr id="31" name="Up Arrow 30"/>
          <p:cNvSpPr>
            <a:spLocks noChangeArrowheads="1"/>
          </p:cNvSpPr>
          <p:nvPr/>
        </p:nvSpPr>
        <p:spPr bwMode="auto">
          <a:xfrm>
            <a:off x="7942263" y="3819525"/>
            <a:ext cx="968375" cy="612775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646854" y="4535488"/>
            <a:ext cx="131313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Helping</a:t>
            </a:r>
          </a:p>
        </p:txBody>
      </p:sp>
      <p:sp>
        <p:nvSpPr>
          <p:cNvPr id="24" name="TextBox 23"/>
          <p:cNvSpPr txBox="1"/>
          <p:nvPr/>
        </p:nvSpPr>
        <p:spPr>
          <a:xfrm rot="20475818">
            <a:off x="4222437" y="4220697"/>
            <a:ext cx="4394828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But helping is expensive</a:t>
            </a:r>
          </a:p>
        </p:txBody>
      </p:sp>
    </p:spTree>
    <p:extLst>
      <p:ext uri="{BB962C8B-B14F-4D97-AF65-F5344CB8AC3E}">
        <p14:creationId xmlns:p14="http://schemas.microsoft.com/office/powerpoint/2010/main" val="386886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24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Title 1"/>
          <p:cNvSpPr>
            <a:spLocks noGrp="1"/>
          </p:cNvSpPr>
          <p:nvPr>
            <p:ph type="title"/>
          </p:nvPr>
        </p:nvSpPr>
        <p:spPr>
          <a:xfrm>
            <a:off x="685800" y="447675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</a:rPr>
              <a:t>Universal Constructions</a:t>
            </a:r>
          </a:p>
        </p:txBody>
      </p:sp>
      <p:sp>
        <p:nvSpPr>
          <p:cNvPr id="150531" name="Content Placeholder 2"/>
          <p:cNvSpPr>
            <a:spLocks noGrp="1"/>
          </p:cNvSpPr>
          <p:nvPr>
            <p:ph idx="1"/>
          </p:nvPr>
        </p:nvSpPr>
        <p:spPr>
          <a:xfrm>
            <a:off x="623888" y="1601788"/>
            <a:ext cx="7902575" cy="4114800"/>
          </a:xfrm>
        </p:spPr>
        <p:txBody>
          <a:bodyPr/>
          <a:lstStyle/>
          <a:p>
            <a:r>
              <a:rPr lang="en-US" sz="2800" dirty="0">
                <a:ea typeface="ＭＳ Ｐゴシック" charset="0"/>
              </a:rPr>
              <a:t>Lock-free universal construction</a:t>
            </a:r>
          </a:p>
          <a:p>
            <a:pPr lvl="1"/>
            <a:r>
              <a:rPr lang="en-US" sz="2400" dirty="0">
                <a:ea typeface="ＭＳ Ｐゴシック" charset="0"/>
              </a:rPr>
              <a:t>provides minimal progress</a:t>
            </a:r>
          </a:p>
          <a:p>
            <a:r>
              <a:rPr lang="en-US" sz="2800" dirty="0">
                <a:ea typeface="ＭＳ Ｐゴシック" charset="0"/>
              </a:rPr>
              <a:t>A scheduler is </a:t>
            </a:r>
            <a:r>
              <a:rPr lang="en-US" sz="2800" dirty="0">
                <a:solidFill>
                  <a:schemeClr val="tx1"/>
                </a:solidFill>
                <a:ea typeface="ＭＳ Ｐゴシック" charset="0"/>
              </a:rPr>
              <a:t>benevolent</a:t>
            </a:r>
            <a:endParaRPr lang="en-US" sz="2800" i="1" dirty="0">
              <a:ea typeface="ＭＳ Ｐゴシック" charset="0"/>
            </a:endParaRPr>
          </a:p>
          <a:p>
            <a:pPr lvl="1"/>
            <a:r>
              <a:rPr lang="en-US" sz="2400" dirty="0">
                <a:ea typeface="ＭＳ Ｐゴシック" charset="0"/>
              </a:rPr>
              <a:t>if it guarantees maximal progress anyway</a:t>
            </a:r>
          </a:p>
          <a:p>
            <a:r>
              <a:rPr lang="en-US" sz="2800" dirty="0">
                <a:ea typeface="ＭＳ Ｐゴシック" charset="0"/>
              </a:rPr>
              <a:t>Real-world OS schedulers are benevolent</a:t>
            </a:r>
          </a:p>
          <a:p>
            <a:pPr lvl="1"/>
            <a:r>
              <a:rPr lang="en-US" sz="2400" dirty="0">
                <a:ea typeface="ＭＳ Ｐゴシック" charset="0"/>
              </a:rPr>
              <a:t>mostly</a:t>
            </a:r>
          </a:p>
          <a:p>
            <a:r>
              <a:rPr lang="en-US" sz="2800" dirty="0">
                <a:ea typeface="ＭＳ Ｐゴシック" charset="0"/>
              </a:rPr>
              <a:t>They do not persecute any individual thread</a:t>
            </a:r>
          </a:p>
          <a:p>
            <a:endParaRPr lang="en-US" sz="2800" dirty="0">
              <a:solidFill>
                <a:schemeClr val="tx1"/>
              </a:solidFill>
              <a:ea typeface="ＭＳ Ｐゴシック" charset="0"/>
            </a:endParaRPr>
          </a:p>
        </p:txBody>
      </p:sp>
      <p:sp>
        <p:nvSpPr>
          <p:cNvPr id="15053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0C0923AB-9511-8D4C-BE42-2E3E39B9109A}" type="slidenum">
              <a:rPr lang="ar-SA" sz="1400" b="0">
                <a:solidFill>
                  <a:schemeClr val="tx1"/>
                </a:solidFill>
                <a:latin typeface="Arial" pitchFamily="34" charset="0"/>
                <a:cs typeface="Arial" charset="0"/>
              </a:rPr>
              <a:pPr/>
              <a:t>144</a:t>
            </a:fld>
            <a:endParaRPr lang="en-US" sz="1400" b="0" dirty="0">
              <a:solidFill>
                <a:schemeClr val="tx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82355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</a:rPr>
              <a:t>Getting from Minimal to Maximal</a:t>
            </a:r>
          </a:p>
        </p:txBody>
      </p:sp>
      <p:sp>
        <p:nvSpPr>
          <p:cNvPr id="15155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14045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74769CA3-70C6-984E-859A-DF3EA7621714}" type="slidenum">
              <a:rPr lang="ar-SA" sz="1400" b="0">
                <a:solidFill>
                  <a:schemeClr val="tx1"/>
                </a:solidFill>
                <a:latin typeface="Arial" pitchFamily="34" charset="0"/>
                <a:cs typeface="Arial" charset="0"/>
              </a:rPr>
              <a:pPr/>
              <a:t>145</a:t>
            </a:fld>
            <a:endParaRPr lang="en-US" sz="14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0889" y="3151188"/>
            <a:ext cx="1502335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Maximal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2832" y="2192338"/>
            <a:ext cx="21836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Non-Blocking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895" y="2155825"/>
            <a:ext cx="14830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Blocking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289" y="4533900"/>
            <a:ext cx="1502335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Minimal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progress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114550" y="2813050"/>
          <a:ext cx="5935663" cy="2816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1574" name="TextBox 17"/>
          <p:cNvSpPr txBox="1">
            <a:spLocks noChangeArrowheads="1"/>
          </p:cNvSpPr>
          <p:nvPr/>
        </p:nvSpPr>
        <p:spPr bwMode="auto">
          <a:xfrm>
            <a:off x="2457193" y="4546600"/>
            <a:ext cx="1005403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Lock-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free</a:t>
            </a:r>
            <a:endParaRPr lang="en-US" sz="320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51575" name="TextBox 18"/>
          <p:cNvSpPr txBox="1">
            <a:spLocks noChangeArrowheads="1"/>
          </p:cNvSpPr>
          <p:nvPr/>
        </p:nvSpPr>
        <p:spPr bwMode="auto">
          <a:xfrm>
            <a:off x="6160993" y="3200400"/>
            <a:ext cx="1792477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Starvation-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free</a:t>
            </a:r>
            <a:endParaRPr lang="en-US" sz="320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51576" name="TextBox 19"/>
          <p:cNvSpPr txBox="1">
            <a:spLocks noChangeArrowheads="1"/>
          </p:cNvSpPr>
          <p:nvPr/>
        </p:nvSpPr>
        <p:spPr bwMode="auto">
          <a:xfrm>
            <a:off x="6117995" y="4546600"/>
            <a:ext cx="1656223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Deadlock-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free</a:t>
            </a:r>
            <a:endParaRPr lang="en-US" sz="320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51577" name="TextBox 16"/>
          <p:cNvSpPr txBox="1">
            <a:spLocks noChangeArrowheads="1"/>
          </p:cNvSpPr>
          <p:nvPr/>
        </p:nvSpPr>
        <p:spPr bwMode="auto">
          <a:xfrm>
            <a:off x="2482282" y="3200400"/>
            <a:ext cx="925061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Wait-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free</a:t>
            </a:r>
            <a:endParaRPr lang="en-US" sz="320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51578" name="TextBox 25"/>
          <p:cNvSpPr txBox="1">
            <a:spLocks noChangeArrowheads="1"/>
          </p:cNvSpPr>
          <p:nvPr/>
        </p:nvSpPr>
        <p:spPr bwMode="auto">
          <a:xfrm>
            <a:off x="4007989" y="3186113"/>
            <a:ext cx="2029722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Obstruction-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free</a:t>
            </a:r>
            <a:endParaRPr lang="en-US" sz="3200" dirty="0">
              <a:solidFill>
                <a:schemeClr val="tx1"/>
              </a:solidFill>
              <a:latin typeface="Arial" pitchFamily="34" charset="0"/>
            </a:endParaRPr>
          </a:p>
        </p:txBody>
      </p:sp>
      <p:cxnSp>
        <p:nvCxnSpPr>
          <p:cNvPr id="151579" name="Straight Connector 27"/>
          <p:cNvCxnSpPr>
            <a:cxnSpLocks noChangeShapeType="1"/>
          </p:cNvCxnSpPr>
          <p:nvPr/>
        </p:nvCxnSpPr>
        <p:spPr bwMode="auto">
          <a:xfrm rot="5400000">
            <a:off x="4656932" y="4228306"/>
            <a:ext cx="2787650" cy="142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1580" name="Straight Connector 29"/>
          <p:cNvCxnSpPr>
            <a:cxnSpLocks noChangeShapeType="1"/>
          </p:cNvCxnSpPr>
          <p:nvPr/>
        </p:nvCxnSpPr>
        <p:spPr bwMode="auto">
          <a:xfrm flipV="1">
            <a:off x="2133600" y="4219575"/>
            <a:ext cx="5907088" cy="11113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2022475" y="5786438"/>
            <a:ext cx="20161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Independent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9053" y="5786438"/>
            <a:ext cx="17748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Dependent</a:t>
            </a:r>
          </a:p>
        </p:txBody>
      </p:sp>
      <p:cxnSp>
        <p:nvCxnSpPr>
          <p:cNvPr id="151583" name="Straight Connector 27"/>
          <p:cNvCxnSpPr>
            <a:cxnSpLocks noChangeShapeType="1"/>
          </p:cNvCxnSpPr>
          <p:nvPr/>
        </p:nvCxnSpPr>
        <p:spPr bwMode="auto">
          <a:xfrm rot="5400000">
            <a:off x="2586832" y="4218781"/>
            <a:ext cx="2787650" cy="142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1584" name="TextBox 27"/>
          <p:cNvSpPr txBox="1">
            <a:spLocks noChangeArrowheads="1"/>
          </p:cNvSpPr>
          <p:nvPr/>
        </p:nvSpPr>
        <p:spPr bwMode="auto">
          <a:xfrm>
            <a:off x="4724857" y="4537075"/>
            <a:ext cx="52931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400" dirty="0">
                <a:latin typeface="Arial" pitchFamily="34" charset="0"/>
              </a:rPr>
              <a:t>?</a:t>
            </a:r>
            <a:endParaRPr lang="en-US" sz="5400" dirty="0">
              <a:latin typeface="Arial" pitchFamily="34" charset="0"/>
            </a:endParaRPr>
          </a:p>
        </p:txBody>
      </p:sp>
      <p:sp>
        <p:nvSpPr>
          <p:cNvPr id="151585" name="TextBox 28"/>
          <p:cNvSpPr txBox="1">
            <a:spLocks noChangeArrowheads="1"/>
          </p:cNvSpPr>
          <p:nvPr/>
        </p:nvSpPr>
        <p:spPr bwMode="auto">
          <a:xfrm>
            <a:off x="4433842" y="4537075"/>
            <a:ext cx="1125629" cy="90486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Clash-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free</a:t>
            </a:r>
            <a:endParaRPr lang="en-US" sz="320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51586" name="TextBox 26"/>
          <p:cNvSpPr txBox="1">
            <a:spLocks noChangeArrowheads="1"/>
          </p:cNvSpPr>
          <p:nvPr/>
        </p:nvSpPr>
        <p:spPr bwMode="auto">
          <a:xfrm>
            <a:off x="8193088" y="3890963"/>
            <a:ext cx="4953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000" dirty="0">
                <a:latin typeface="Arial" pitchFamily="34" charset="0"/>
              </a:rPr>
              <a:t>?</a:t>
            </a:r>
          </a:p>
        </p:txBody>
      </p:sp>
      <p:sp>
        <p:nvSpPr>
          <p:cNvPr id="151587" name="Up Arrow 30"/>
          <p:cNvSpPr>
            <a:spLocks noChangeArrowheads="1"/>
          </p:cNvSpPr>
          <p:nvPr/>
        </p:nvSpPr>
        <p:spPr bwMode="auto">
          <a:xfrm>
            <a:off x="7942263" y="3819525"/>
            <a:ext cx="968375" cy="612775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647630" y="4535488"/>
            <a:ext cx="13115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Helping</a:t>
            </a:r>
          </a:p>
        </p:txBody>
      </p:sp>
      <p:sp>
        <p:nvSpPr>
          <p:cNvPr id="44" name="AutoShape 4"/>
          <p:cNvSpPr>
            <a:spLocks noChangeArrowheads="1"/>
          </p:cNvSpPr>
          <p:nvPr/>
        </p:nvSpPr>
        <p:spPr bwMode="auto">
          <a:xfrm>
            <a:off x="2725738" y="4749800"/>
            <a:ext cx="5978525" cy="1135063"/>
          </a:xfrm>
          <a:prstGeom prst="wedgeRoundRectCallout">
            <a:avLst>
              <a:gd name="adj1" fmla="val -21481"/>
              <a:gd name="adj2" fmla="val -50440"/>
              <a:gd name="adj3" fmla="val 16667"/>
            </a:avLst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 sz="4400" dirty="0">
              <a:latin typeface="Arial" pitchFamily="34" charset="0"/>
            </a:endParaRPr>
          </a:p>
        </p:txBody>
      </p:sp>
      <p:sp>
        <p:nvSpPr>
          <p:cNvPr id="45" name="Rectangle 5"/>
          <p:cNvSpPr>
            <a:spLocks noChangeArrowheads="1"/>
          </p:cNvSpPr>
          <p:nvPr/>
        </p:nvSpPr>
        <p:spPr bwMode="auto">
          <a:xfrm>
            <a:off x="3062288" y="4868863"/>
            <a:ext cx="544671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</a:rPr>
              <a:t>Use Wait-free/Lock-free Consensus Objects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2930525" y="1436688"/>
            <a:ext cx="5986463" cy="1133475"/>
            <a:chOff x="2930309" y="1436527"/>
            <a:chExt cx="5986787" cy="1133609"/>
          </a:xfrm>
        </p:grpSpPr>
        <p:sp>
          <p:nvSpPr>
            <p:cNvPr id="151595" name="AutoShape 4"/>
            <p:cNvSpPr>
              <a:spLocks noChangeArrowheads="1"/>
            </p:cNvSpPr>
            <p:nvPr/>
          </p:nvSpPr>
          <p:spPr bwMode="auto">
            <a:xfrm>
              <a:off x="2930309" y="1436527"/>
              <a:ext cx="5978633" cy="1133609"/>
            </a:xfrm>
            <a:prstGeom prst="wedgeRoundRectCallout">
              <a:avLst>
                <a:gd name="adj1" fmla="val -47926"/>
                <a:gd name="adj2" fmla="val 125926"/>
                <a:gd name="adj3" fmla="val 16667"/>
              </a:avLst>
            </a:prstGeom>
            <a:solidFill>
              <a:schemeClr val="bg1"/>
            </a:solidFill>
            <a:ln w="38100">
              <a:solidFill>
                <a:srgbClr val="0000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 sz="4400" dirty="0">
                <a:latin typeface="Arial" pitchFamily="34" charset="0"/>
              </a:endParaRPr>
            </a:p>
          </p:txBody>
        </p:sp>
        <p:sp>
          <p:nvSpPr>
            <p:cNvPr id="151596" name="Rectangle 5"/>
            <p:cNvSpPr>
              <a:spLocks noChangeArrowheads="1"/>
            </p:cNvSpPr>
            <p:nvPr/>
          </p:nvSpPr>
          <p:spPr bwMode="auto">
            <a:xfrm>
              <a:off x="3470383" y="1507749"/>
              <a:ext cx="5446713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2800" dirty="0">
                  <a:solidFill>
                    <a:srgbClr val="0000FF"/>
                  </a:solidFill>
                  <a:latin typeface="Arial" pitchFamily="34" charset="0"/>
                </a:rPr>
                <a:t>Universal Wait-free Construction</a:t>
              </a:r>
            </a:p>
          </p:txBody>
        </p:sp>
      </p:grp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220663" y="601663"/>
            <a:ext cx="5978525" cy="1133475"/>
            <a:chOff x="220689" y="602201"/>
            <a:chExt cx="5978633" cy="1133609"/>
          </a:xfrm>
        </p:grpSpPr>
        <p:sp>
          <p:nvSpPr>
            <p:cNvPr id="151593" name="AutoShape 4"/>
            <p:cNvSpPr>
              <a:spLocks noChangeArrowheads="1"/>
            </p:cNvSpPr>
            <p:nvPr/>
          </p:nvSpPr>
          <p:spPr bwMode="auto">
            <a:xfrm>
              <a:off x="220689" y="602201"/>
              <a:ext cx="5978633" cy="1133609"/>
            </a:xfrm>
            <a:prstGeom prst="wedgeRoundRectCallout">
              <a:avLst>
                <a:gd name="adj1" fmla="val -8264"/>
                <a:gd name="adj2" fmla="val 326898"/>
                <a:gd name="adj3" fmla="val 16667"/>
              </a:avLst>
            </a:prstGeom>
            <a:solidFill>
              <a:schemeClr val="bg1"/>
            </a:solidFill>
            <a:ln w="38100">
              <a:solidFill>
                <a:srgbClr val="0000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 sz="4400" dirty="0">
                <a:latin typeface="Arial" pitchFamily="34" charset="0"/>
              </a:endParaRPr>
            </a:p>
          </p:txBody>
        </p:sp>
        <p:sp>
          <p:nvSpPr>
            <p:cNvPr id="151594" name="Rectangle 5"/>
            <p:cNvSpPr>
              <a:spLocks noChangeArrowheads="1"/>
            </p:cNvSpPr>
            <p:nvPr/>
          </p:nvSpPr>
          <p:spPr bwMode="auto">
            <a:xfrm>
              <a:off x="497292" y="673423"/>
              <a:ext cx="5446713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sz="2800" dirty="0">
                  <a:solidFill>
                    <a:srgbClr val="0000FF"/>
                  </a:solidFill>
                  <a:latin typeface="Arial" pitchFamily="34" charset="0"/>
                </a:rPr>
                <a:t>Universal Lock-free Construction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171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</a:rPr>
              <a:t>Getting from Minimal to Maximal</a:t>
            </a:r>
          </a:p>
        </p:txBody>
      </p:sp>
      <p:sp>
        <p:nvSpPr>
          <p:cNvPr id="152579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14045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93B8EE64-419A-4648-9A1C-5B476E900147}" type="slidenum">
              <a:rPr lang="ar-SA" sz="1400" b="0">
                <a:solidFill>
                  <a:schemeClr val="tx1"/>
                </a:solidFill>
                <a:latin typeface="Arial" pitchFamily="34" charset="0"/>
                <a:cs typeface="Arial" charset="0"/>
              </a:rPr>
              <a:pPr/>
              <a:t>146</a:t>
            </a:fld>
            <a:endParaRPr lang="en-US" sz="1400" b="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0889" y="3151188"/>
            <a:ext cx="1502335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Arial" pitchFamily="34" charset="0"/>
                <a:ea typeface="+mn-ea"/>
                <a:cs typeface="+mn-cs"/>
              </a:rPr>
              <a:t>Maximal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2832" y="2192338"/>
            <a:ext cx="21836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Non-Blocking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895" y="2155825"/>
            <a:ext cx="14830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Blocking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289" y="4533900"/>
            <a:ext cx="1502335" cy="90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Minimal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ea typeface="+mn-ea"/>
                <a:cs typeface="+mn-cs"/>
              </a:rPr>
              <a:t>progress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114550" y="2813050"/>
          <a:ext cx="5935663" cy="2816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113"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Arial" pitchFamily="34" charset="0"/>
                      </a:endParaRPr>
                    </a:p>
                  </a:txBody>
                  <a:tcPr marL="91430" marR="91430" marT="45727" marB="45727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2598" name="TextBox 17"/>
          <p:cNvSpPr txBox="1">
            <a:spLocks noChangeArrowheads="1"/>
          </p:cNvSpPr>
          <p:nvPr/>
        </p:nvSpPr>
        <p:spPr bwMode="auto">
          <a:xfrm>
            <a:off x="2457193" y="4546600"/>
            <a:ext cx="1005403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Lock-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free</a:t>
            </a:r>
            <a:endParaRPr lang="en-US" sz="320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52599" name="TextBox 18"/>
          <p:cNvSpPr txBox="1">
            <a:spLocks noChangeArrowheads="1"/>
          </p:cNvSpPr>
          <p:nvPr/>
        </p:nvSpPr>
        <p:spPr bwMode="auto">
          <a:xfrm>
            <a:off x="6160993" y="3200400"/>
            <a:ext cx="1792477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Starvation-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free</a:t>
            </a:r>
            <a:endParaRPr lang="en-US" sz="320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52600" name="TextBox 19"/>
          <p:cNvSpPr txBox="1">
            <a:spLocks noChangeArrowheads="1"/>
          </p:cNvSpPr>
          <p:nvPr/>
        </p:nvSpPr>
        <p:spPr bwMode="auto">
          <a:xfrm>
            <a:off x="6117995" y="4546600"/>
            <a:ext cx="1656223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Deadlock-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free</a:t>
            </a:r>
            <a:endParaRPr lang="en-US" sz="320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52601" name="TextBox 16"/>
          <p:cNvSpPr txBox="1">
            <a:spLocks noChangeArrowheads="1"/>
          </p:cNvSpPr>
          <p:nvPr/>
        </p:nvSpPr>
        <p:spPr bwMode="auto">
          <a:xfrm>
            <a:off x="2482282" y="3200400"/>
            <a:ext cx="925061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Wait-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free</a:t>
            </a:r>
            <a:endParaRPr lang="en-US" sz="320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52602" name="TextBox 25"/>
          <p:cNvSpPr txBox="1">
            <a:spLocks noChangeArrowheads="1"/>
          </p:cNvSpPr>
          <p:nvPr/>
        </p:nvSpPr>
        <p:spPr bwMode="auto">
          <a:xfrm>
            <a:off x="4007989" y="3186113"/>
            <a:ext cx="2029722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Obstruction-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free</a:t>
            </a:r>
            <a:endParaRPr lang="en-US" sz="3200" dirty="0">
              <a:solidFill>
                <a:schemeClr val="tx1"/>
              </a:solidFill>
              <a:latin typeface="Arial" pitchFamily="34" charset="0"/>
            </a:endParaRPr>
          </a:p>
        </p:txBody>
      </p:sp>
      <p:cxnSp>
        <p:nvCxnSpPr>
          <p:cNvPr id="152603" name="Straight Connector 27"/>
          <p:cNvCxnSpPr>
            <a:cxnSpLocks noChangeShapeType="1"/>
          </p:cNvCxnSpPr>
          <p:nvPr/>
        </p:nvCxnSpPr>
        <p:spPr bwMode="auto">
          <a:xfrm rot="5400000">
            <a:off x="4656932" y="4228306"/>
            <a:ext cx="2787650" cy="142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2604" name="Straight Connector 29"/>
          <p:cNvCxnSpPr>
            <a:cxnSpLocks noChangeShapeType="1"/>
          </p:cNvCxnSpPr>
          <p:nvPr/>
        </p:nvCxnSpPr>
        <p:spPr bwMode="auto">
          <a:xfrm flipV="1">
            <a:off x="2133600" y="4219575"/>
            <a:ext cx="5907088" cy="11113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2022475" y="5786438"/>
            <a:ext cx="20161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Arial" pitchFamily="34" charset="0"/>
                <a:ea typeface="+mn-ea"/>
                <a:cs typeface="+mn-cs"/>
              </a:rPr>
              <a:t>Independent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9053" y="5786438"/>
            <a:ext cx="17748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Arial" pitchFamily="34" charset="0"/>
                <a:ea typeface="+mn-ea"/>
                <a:cs typeface="+mn-cs"/>
              </a:rPr>
              <a:t>Dependent</a:t>
            </a:r>
          </a:p>
        </p:txBody>
      </p:sp>
      <p:cxnSp>
        <p:nvCxnSpPr>
          <p:cNvPr id="152607" name="Straight Connector 27"/>
          <p:cNvCxnSpPr>
            <a:cxnSpLocks noChangeShapeType="1"/>
          </p:cNvCxnSpPr>
          <p:nvPr/>
        </p:nvCxnSpPr>
        <p:spPr bwMode="auto">
          <a:xfrm rot="5400000">
            <a:off x="2586832" y="4218781"/>
            <a:ext cx="2787650" cy="142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2608" name="TextBox 27"/>
          <p:cNvSpPr txBox="1">
            <a:spLocks noChangeArrowheads="1"/>
          </p:cNvSpPr>
          <p:nvPr/>
        </p:nvSpPr>
        <p:spPr bwMode="auto">
          <a:xfrm>
            <a:off x="4724857" y="4537075"/>
            <a:ext cx="52931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4400" dirty="0">
                <a:latin typeface="Arial" pitchFamily="34" charset="0"/>
              </a:rPr>
              <a:t>?</a:t>
            </a:r>
            <a:endParaRPr lang="en-US" sz="5400" dirty="0">
              <a:latin typeface="Arial" pitchFamily="34" charset="0"/>
            </a:endParaRPr>
          </a:p>
        </p:txBody>
      </p:sp>
      <p:sp>
        <p:nvSpPr>
          <p:cNvPr id="152609" name="TextBox 28"/>
          <p:cNvSpPr txBox="1">
            <a:spLocks noChangeArrowheads="1"/>
          </p:cNvSpPr>
          <p:nvPr/>
        </p:nvSpPr>
        <p:spPr bwMode="auto">
          <a:xfrm>
            <a:off x="4433842" y="4537075"/>
            <a:ext cx="1125629" cy="90486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Clash-</a:t>
            </a:r>
          </a:p>
          <a:p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free</a:t>
            </a:r>
            <a:endParaRPr lang="en-US" sz="3200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52610" name="AutoShape 4"/>
          <p:cNvSpPr>
            <a:spLocks noChangeArrowheads="1"/>
          </p:cNvSpPr>
          <p:nvPr/>
        </p:nvSpPr>
        <p:spPr bwMode="auto">
          <a:xfrm>
            <a:off x="96838" y="573088"/>
            <a:ext cx="8226425" cy="992187"/>
          </a:xfrm>
          <a:prstGeom prst="wedgeRoundRectCallout">
            <a:avLst>
              <a:gd name="adj1" fmla="val 38375"/>
              <a:gd name="adj2" fmla="val 248278"/>
              <a:gd name="adj3" fmla="val 16667"/>
            </a:avLst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 sz="4400" dirty="0">
              <a:latin typeface="Arial" pitchFamily="34" charset="0"/>
            </a:endParaRPr>
          </a:p>
        </p:txBody>
      </p:sp>
      <p:sp>
        <p:nvSpPr>
          <p:cNvPr id="152611" name="Rectangle 5"/>
          <p:cNvSpPr>
            <a:spLocks noChangeArrowheads="1"/>
          </p:cNvSpPr>
          <p:nvPr/>
        </p:nvSpPr>
        <p:spPr bwMode="auto">
          <a:xfrm>
            <a:off x="-169863" y="673100"/>
            <a:ext cx="860107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</a:rPr>
              <a:t>Universal Wait-free Construction</a:t>
            </a:r>
          </a:p>
        </p:txBody>
      </p:sp>
      <p:grpSp>
        <p:nvGrpSpPr>
          <p:cNvPr id="152612" name="Group 42"/>
          <p:cNvGrpSpPr>
            <a:grpSpLocks/>
          </p:cNvGrpSpPr>
          <p:nvPr/>
        </p:nvGrpSpPr>
        <p:grpSpPr bwMode="auto">
          <a:xfrm>
            <a:off x="0" y="2630488"/>
            <a:ext cx="5978525" cy="1212850"/>
            <a:chOff x="0" y="2583401"/>
            <a:chExt cx="5978633" cy="1213683"/>
          </a:xfrm>
        </p:grpSpPr>
        <p:sp>
          <p:nvSpPr>
            <p:cNvPr id="152615" name="AutoShape 4"/>
            <p:cNvSpPr>
              <a:spLocks noChangeArrowheads="1"/>
            </p:cNvSpPr>
            <p:nvPr/>
          </p:nvSpPr>
          <p:spPr bwMode="auto">
            <a:xfrm>
              <a:off x="0" y="2583401"/>
              <a:ext cx="5978633" cy="1213683"/>
            </a:xfrm>
            <a:prstGeom prst="wedgeRoundRectCallout">
              <a:avLst>
                <a:gd name="adj1" fmla="val 65880"/>
                <a:gd name="adj2" fmla="val 123375"/>
                <a:gd name="adj3" fmla="val 16667"/>
              </a:avLst>
            </a:prstGeom>
            <a:solidFill>
              <a:schemeClr val="bg1"/>
            </a:solidFill>
            <a:ln w="38100">
              <a:solidFill>
                <a:srgbClr val="0000FF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 sz="4400" dirty="0">
                <a:latin typeface="Arial" pitchFamily="34" charset="0"/>
              </a:endParaRPr>
            </a:p>
          </p:txBody>
        </p:sp>
        <p:sp>
          <p:nvSpPr>
            <p:cNvPr id="152616" name="Rectangle 5"/>
            <p:cNvSpPr>
              <a:spLocks noChangeArrowheads="1"/>
            </p:cNvSpPr>
            <p:nvPr/>
          </p:nvSpPr>
          <p:spPr bwMode="auto">
            <a:xfrm>
              <a:off x="293231" y="2747614"/>
              <a:ext cx="5446713" cy="954107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r>
                <a:rPr lang="en-US" sz="2800" dirty="0">
                  <a:solidFill>
                    <a:srgbClr val="0000FF"/>
                  </a:solidFill>
                  <a:latin typeface="Arial" pitchFamily="34" charset="0"/>
                </a:rPr>
                <a:t>Universal Lock-free Construction</a:t>
              </a:r>
            </a:p>
          </p:txBody>
        </p:sp>
      </p:grpSp>
      <p:sp>
        <p:nvSpPr>
          <p:cNvPr id="33" name="AutoShape 4"/>
          <p:cNvSpPr>
            <a:spLocks noChangeArrowheads="1"/>
          </p:cNvSpPr>
          <p:nvPr/>
        </p:nvSpPr>
        <p:spPr bwMode="auto">
          <a:xfrm>
            <a:off x="0" y="5045075"/>
            <a:ext cx="8704263" cy="1557338"/>
          </a:xfrm>
          <a:prstGeom prst="wedgeRoundRectCallout">
            <a:avLst>
              <a:gd name="adj1" fmla="val -21481"/>
              <a:gd name="adj2" fmla="val -50440"/>
              <a:gd name="adj3" fmla="val 16667"/>
            </a:avLst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 sz="4400" dirty="0">
              <a:latin typeface="Arial" pitchFamily="34" charset="0"/>
            </a:endParaRP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263525" y="5162550"/>
            <a:ext cx="8245475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</a:rPr>
              <a:t>If we use Starvation-free/Deadlock-free Consensus Objects result is respectively Starvation-free/Deadlock-free </a:t>
            </a:r>
          </a:p>
        </p:txBody>
      </p:sp>
    </p:spTree>
    <p:extLst>
      <p:ext uri="{BB962C8B-B14F-4D97-AF65-F5344CB8AC3E}">
        <p14:creationId xmlns:p14="http://schemas.microsoft.com/office/powerpoint/2010/main" val="179630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7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itle 1"/>
          <p:cNvSpPr>
            <a:spLocks noGrp="1"/>
          </p:cNvSpPr>
          <p:nvPr>
            <p:ph type="title"/>
          </p:nvPr>
        </p:nvSpPr>
        <p:spPr>
          <a:xfrm>
            <a:off x="685800" y="447675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Maximal Progress Postulate</a:t>
            </a:r>
          </a:p>
        </p:txBody>
      </p:sp>
      <p:sp>
        <p:nvSpPr>
          <p:cNvPr id="153603" name="Content Placeholder 2"/>
          <p:cNvSpPr>
            <a:spLocks noGrp="1"/>
          </p:cNvSpPr>
          <p:nvPr>
            <p:ph idx="1"/>
          </p:nvPr>
        </p:nvSpPr>
        <p:spPr>
          <a:xfrm>
            <a:off x="685800" y="1690688"/>
            <a:ext cx="7772400" cy="4013200"/>
          </a:xfrm>
        </p:spPr>
        <p:txBody>
          <a:bodyPr/>
          <a:lstStyle/>
          <a:p>
            <a:pPr marL="0" indent="0">
              <a:spcBef>
                <a:spcPct val="30000"/>
              </a:spcBef>
            </a:pPr>
            <a:r>
              <a:rPr lang="en-US">
                <a:latin typeface="Arial"/>
                <a:ea typeface="ＭＳ Ｐゴシック" charset="0"/>
                <a:cs typeface="Arial"/>
              </a:rPr>
              <a:t>Programmers want maximal progress. </a:t>
            </a:r>
          </a:p>
          <a:p>
            <a:pPr marL="0" indent="0">
              <a:spcBef>
                <a:spcPct val="30000"/>
              </a:spcBef>
            </a:pPr>
            <a:r>
              <a:rPr lang="en-US">
                <a:latin typeface="Arial"/>
                <a:ea typeface="ＭＳ Ｐゴシック" charset="0"/>
                <a:cs typeface="Arial"/>
              </a:rPr>
              <a:t>Methods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’</a:t>
            </a:r>
            <a:r>
              <a:rPr lang="en-US">
                <a:latin typeface="Arial"/>
                <a:ea typeface="ＭＳ Ｐゴシック" charset="0"/>
                <a:cs typeface="Arial"/>
              </a:rPr>
              <a:t> progress conditions define</a:t>
            </a:r>
          </a:p>
          <a:p>
            <a:pPr marL="400050" lvl="1" indent="0">
              <a:spcBef>
                <a:spcPct val="30000"/>
              </a:spcBef>
            </a:pPr>
            <a:r>
              <a:rPr lang="en-US">
                <a:latin typeface="Arial"/>
                <a:ea typeface="ＭＳ Ｐゴシック" charset="0"/>
                <a:cs typeface="Arial"/>
              </a:rPr>
              <a:t>What we expect from the scheduler</a:t>
            </a:r>
          </a:p>
          <a:p>
            <a:pPr marL="400050" lvl="1" indent="0">
              <a:spcBef>
                <a:spcPct val="30000"/>
              </a:spcBef>
            </a:pPr>
            <a:r>
              <a:rPr lang="en-US">
                <a:latin typeface="Arial"/>
                <a:ea typeface="ＭＳ Ｐゴシック" charset="0"/>
                <a:cs typeface="Arial"/>
              </a:rPr>
              <a:t>For example</a:t>
            </a:r>
          </a:p>
          <a:p>
            <a:pPr marL="800100" lvl="2" indent="0">
              <a:spcBef>
                <a:spcPct val="30000"/>
              </a:spcBef>
            </a:pPr>
            <a:r>
              <a:rPr lang="en-US">
                <a:latin typeface="Arial"/>
                <a:ea typeface="ＭＳ Ｐゴシック" charset="0"/>
                <a:cs typeface="Arial"/>
              </a:rPr>
              <a:t>Don</a:t>
            </a:r>
            <a:r>
              <a:rPr lang="ja-JP" altLang="en-US">
                <a:latin typeface="Arial"/>
                <a:ea typeface="ＭＳ Ｐゴシック" charset="0"/>
                <a:cs typeface="Arial"/>
              </a:rPr>
              <a:t>’</a:t>
            </a:r>
            <a:r>
              <a:rPr lang="en-US">
                <a:latin typeface="Arial"/>
                <a:ea typeface="ＭＳ Ｐゴシック" charset="0"/>
                <a:cs typeface="Arial"/>
              </a:rPr>
              <a:t>t halt in critical section</a:t>
            </a:r>
          </a:p>
          <a:p>
            <a:pPr marL="800100" lvl="2" indent="0">
              <a:spcBef>
                <a:spcPct val="30000"/>
              </a:spcBef>
            </a:pPr>
            <a:r>
              <a:rPr lang="en-US">
                <a:latin typeface="Arial"/>
                <a:ea typeface="ＭＳ Ｐゴシック" charset="0"/>
                <a:cs typeface="Arial"/>
              </a:rPr>
              <a:t>Let me run in isolation long enough …</a:t>
            </a:r>
          </a:p>
          <a:p>
            <a:pPr marL="0" indent="0">
              <a:buFontTx/>
              <a:buNone/>
            </a:pPr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pPr marL="0" indent="0">
              <a:buFontTx/>
              <a:buNone/>
            </a:pPr>
            <a:endParaRPr lang="en-US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</p:txBody>
      </p:sp>
      <p:sp>
        <p:nvSpPr>
          <p:cNvPr id="15360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99238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b="0">
                <a:solidFill>
                  <a:schemeClr val="tx1"/>
                </a:solidFill>
                <a:latin typeface="Arial"/>
                <a:cs typeface="Arial"/>
              </a:rPr>
              <a:t>s</a:t>
            </a:r>
            <a:fld id="{20D37B2F-EB42-624D-8B25-FF35A95825B0}" type="slidenum">
              <a:rPr lang="en-US" sz="1400" b="0">
                <a:solidFill>
                  <a:schemeClr val="tx1"/>
                </a:solidFill>
                <a:latin typeface="Arial"/>
                <a:cs typeface="Arial"/>
              </a:rPr>
              <a:pPr/>
              <a:t>147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517298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Why Lock-Free is OK</a:t>
            </a:r>
          </a:p>
        </p:txBody>
      </p:sp>
      <p:sp>
        <p:nvSpPr>
          <p:cNvPr id="154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ＭＳ Ｐゴシック" charset="0"/>
                <a:cs typeface="Arial"/>
              </a:rPr>
              <a:t>We all want maximal progress</a:t>
            </a:r>
          </a:p>
          <a:p>
            <a:pPr lvl="1"/>
            <a:r>
              <a:rPr lang="en-US" dirty="0">
                <a:latin typeface="Arial"/>
                <a:ea typeface="ＭＳ Ｐゴシック" charset="0"/>
                <a:cs typeface="Arial"/>
              </a:rPr>
              <a:t>Wait-free</a:t>
            </a:r>
          </a:p>
          <a:p>
            <a:r>
              <a:rPr lang="en-US" dirty="0">
                <a:latin typeface="Arial"/>
                <a:ea typeface="ＭＳ Ｐゴシック" charset="0"/>
                <a:cs typeface="Arial"/>
              </a:rPr>
              <a:t>Yet we often write lock-free or deadlock-free lock-based algorithms</a:t>
            </a:r>
          </a:p>
          <a:p>
            <a:r>
              <a:rPr lang="en-US" dirty="0">
                <a:latin typeface="Arial"/>
                <a:ea typeface="ＭＳ Ｐゴシック" charset="0"/>
                <a:cs typeface="Arial"/>
              </a:rPr>
              <a:t>OK if we expect the scheduler to be benevolent</a:t>
            </a:r>
          </a:p>
          <a:p>
            <a:pPr lvl="1"/>
            <a:r>
              <a:rPr lang="en-US" dirty="0">
                <a:latin typeface="Arial"/>
                <a:ea typeface="ＭＳ Ｐゴシック" charset="0"/>
                <a:cs typeface="Arial"/>
              </a:rPr>
              <a:t>Often true (not always!)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/>
                <a:cs typeface="Arial"/>
              </a:rPr>
              <a:t>Art of Multiprocessor Programming</a:t>
            </a:r>
          </a:p>
        </p:txBody>
      </p:sp>
      <p:sp>
        <p:nvSpPr>
          <p:cNvPr id="15462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AD7E9D4-2A7E-7F41-8031-5A0631028C8A}" type="slidenum">
              <a:rPr lang="en-US" sz="1400" b="0">
                <a:solidFill>
                  <a:schemeClr val="tx1"/>
                </a:solidFill>
                <a:latin typeface="Arial"/>
                <a:cs typeface="Arial"/>
              </a:rPr>
              <a:pPr/>
              <a:t>148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105055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61FD4A1D-DE2D-8B42-931C-46C93055B6E0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149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460" name="Rectangle 2"/>
          <p:cNvSpPr>
            <a:spLocks noChangeArrowheads="1"/>
          </p:cNvSpPr>
          <p:nvPr/>
        </p:nvSpPr>
        <p:spPr bwMode="auto">
          <a:xfrm>
            <a:off x="565150" y="314325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0" dirty="0">
                <a:solidFill>
                  <a:schemeClr val="tx2"/>
                </a:solidFill>
                <a:latin typeface="Arial"/>
                <a:ea typeface="+mn-ea"/>
                <a:cs typeface="Arial"/>
              </a:rPr>
              <a:t>Shared-Memory Computability</a:t>
            </a:r>
          </a:p>
        </p:txBody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3925888"/>
            <a:ext cx="8302625" cy="2195512"/>
          </a:xfrm>
          <a:noFill/>
        </p:spPr>
        <p:txBody>
          <a:bodyPr/>
          <a:lstStyle/>
          <a:p>
            <a:r>
              <a:rPr lang="en-US" sz="2800">
                <a:latin typeface="Arial"/>
                <a:ea typeface="ＭＳ Ｐゴシック" charset="0"/>
                <a:cs typeface="Arial"/>
              </a:rPr>
              <a:t>What is (and is not) concurrently computable</a:t>
            </a:r>
          </a:p>
          <a:p>
            <a:r>
              <a:rPr lang="en-US" sz="2800">
                <a:latin typeface="Arial"/>
                <a:ea typeface="ＭＳ Ｐゴシック" charset="0"/>
                <a:cs typeface="Arial"/>
              </a:rPr>
              <a:t>Wait-free Atomic Registers</a:t>
            </a:r>
          </a:p>
          <a:p>
            <a:r>
              <a:rPr lang="en-US" sz="2800">
                <a:latin typeface="Arial"/>
                <a:ea typeface="ＭＳ Ｐゴシック" charset="0"/>
                <a:cs typeface="Arial"/>
              </a:rPr>
              <a:t>Lock-free/Wait-free Hierarchy </a:t>
            </a:r>
          </a:p>
          <a:p>
            <a:pPr>
              <a:buFontTx/>
              <a:buNone/>
            </a:pPr>
            <a:r>
              <a:rPr lang="en-US" sz="2800">
                <a:latin typeface="Arial"/>
                <a:ea typeface="ＭＳ Ｐゴシック" charset="0"/>
                <a:cs typeface="Arial"/>
              </a:rPr>
              <a:t>   and Universal Constructions </a:t>
            </a:r>
          </a:p>
          <a:p>
            <a:endParaRPr lang="en-US" sz="2800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endParaRPr lang="en-US" sz="2800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</p:txBody>
      </p:sp>
      <p:pic>
        <p:nvPicPr>
          <p:cNvPr id="155653" name="Picture 18" descr="TN00021_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1581150"/>
            <a:ext cx="1820863" cy="15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654" name="Picture 20" descr="TN00021_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91275" y="1582738"/>
            <a:ext cx="1820863" cy="154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5877" name="Text Box 21"/>
          <p:cNvSpPr txBox="1">
            <a:spLocks noChangeArrowheads="1"/>
          </p:cNvSpPr>
          <p:nvPr/>
        </p:nvSpPr>
        <p:spPr bwMode="auto">
          <a:xfrm>
            <a:off x="3914775" y="3074988"/>
            <a:ext cx="1165225" cy="46166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/>
                <a:ea typeface="+mn-ea"/>
                <a:cs typeface="Arial"/>
              </a:rPr>
              <a:t>10011</a:t>
            </a:r>
          </a:p>
        </p:txBody>
      </p:sp>
      <p:sp>
        <p:nvSpPr>
          <p:cNvPr id="155656" name="Text Box 22"/>
          <p:cNvSpPr txBox="1">
            <a:spLocks noChangeArrowheads="1"/>
          </p:cNvSpPr>
          <p:nvPr/>
        </p:nvSpPr>
        <p:spPr bwMode="auto">
          <a:xfrm>
            <a:off x="3465320" y="2487613"/>
            <a:ext cx="212109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000">
                <a:latin typeface="Arial"/>
                <a:cs typeface="Arial"/>
              </a:rPr>
              <a:t>Shared Memory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 flipH="1">
            <a:off x="685800" y="1914525"/>
            <a:ext cx="1993900" cy="1401763"/>
            <a:chOff x="3430" y="2851"/>
            <a:chExt cx="1388" cy="1020"/>
          </a:xfrm>
        </p:grpSpPr>
        <p:sp>
          <p:nvSpPr>
            <p:cNvPr id="155674" name="Rectangle 50"/>
            <p:cNvSpPr>
              <a:spLocks noChangeArrowheads="1"/>
            </p:cNvSpPr>
            <p:nvPr/>
          </p:nvSpPr>
          <p:spPr bwMode="auto">
            <a:xfrm>
              <a:off x="3430" y="2851"/>
              <a:ext cx="1388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155675" name="Group 51"/>
            <p:cNvGrpSpPr>
              <a:grpSpLocks/>
            </p:cNvGrpSpPr>
            <p:nvPr/>
          </p:nvGrpSpPr>
          <p:grpSpPr bwMode="auto">
            <a:xfrm>
              <a:off x="3622" y="2994"/>
              <a:ext cx="912" cy="816"/>
              <a:chOff x="4290" y="2115"/>
              <a:chExt cx="912" cy="816"/>
            </a:xfrm>
          </p:grpSpPr>
          <p:sp>
            <p:nvSpPr>
              <p:cNvPr id="155676" name="Freeform 52"/>
              <p:cNvSpPr>
                <a:spLocks/>
              </p:cNvSpPr>
              <p:nvPr/>
            </p:nvSpPr>
            <p:spPr bwMode="auto">
              <a:xfrm flipH="1">
                <a:off x="4290" y="2355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77" name="Freeform 53"/>
              <p:cNvSpPr>
                <a:spLocks/>
              </p:cNvSpPr>
              <p:nvPr/>
            </p:nvSpPr>
            <p:spPr bwMode="auto">
              <a:xfrm flipH="1">
                <a:off x="4498" y="2211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78" name="Freeform 54"/>
              <p:cNvSpPr>
                <a:spLocks/>
              </p:cNvSpPr>
              <p:nvPr/>
            </p:nvSpPr>
            <p:spPr bwMode="auto">
              <a:xfrm flipH="1">
                <a:off x="4722" y="2115"/>
                <a:ext cx="144" cy="288"/>
              </a:xfrm>
              <a:custGeom>
                <a:avLst/>
                <a:gdLst>
                  <a:gd name="T0" fmla="*/ 0 w 144"/>
                  <a:gd name="T1" fmla="*/ 3 h 336"/>
                  <a:gd name="T2" fmla="*/ 96 w 144"/>
                  <a:gd name="T3" fmla="*/ 0 h 336"/>
                  <a:gd name="T4" fmla="*/ 144 w 144"/>
                  <a:gd name="T5" fmla="*/ 3 h 336"/>
                  <a:gd name="T6" fmla="*/ 144 w 144"/>
                  <a:gd name="T7" fmla="*/ 21 h 336"/>
                  <a:gd name="T8" fmla="*/ 96 w 144"/>
                  <a:gd name="T9" fmla="*/ 18 h 336"/>
                  <a:gd name="T10" fmla="*/ 96 w 144"/>
                  <a:gd name="T11" fmla="*/ 6 h 336"/>
                  <a:gd name="T12" fmla="*/ 0 w 144"/>
                  <a:gd name="T13" fmla="*/ 9 h 336"/>
                  <a:gd name="T14" fmla="*/ 0 w 144"/>
                  <a:gd name="T15" fmla="*/ 3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79" name="Freeform 55"/>
              <p:cNvSpPr>
                <a:spLocks/>
              </p:cNvSpPr>
              <p:nvPr/>
            </p:nvSpPr>
            <p:spPr bwMode="auto">
              <a:xfrm flipH="1">
                <a:off x="4338" y="2115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80" name="Freeform 56"/>
              <p:cNvSpPr>
                <a:spLocks/>
              </p:cNvSpPr>
              <p:nvPr/>
            </p:nvSpPr>
            <p:spPr bwMode="auto">
              <a:xfrm flipH="1">
                <a:off x="4626" y="2211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81" name="Freeform 57"/>
              <p:cNvSpPr>
                <a:spLocks/>
              </p:cNvSpPr>
              <p:nvPr/>
            </p:nvSpPr>
            <p:spPr bwMode="auto">
              <a:xfrm flipH="1">
                <a:off x="4338" y="2451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82" name="Freeform 58"/>
              <p:cNvSpPr>
                <a:spLocks/>
              </p:cNvSpPr>
              <p:nvPr/>
            </p:nvSpPr>
            <p:spPr bwMode="auto">
              <a:xfrm flipH="1">
                <a:off x="4626" y="2595"/>
                <a:ext cx="240" cy="336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2 h 432"/>
                  <a:gd name="T4" fmla="*/ 1 w 336"/>
                  <a:gd name="T5" fmla="*/ 2 h 432"/>
                  <a:gd name="T6" fmla="*/ 1 w 336"/>
                  <a:gd name="T7" fmla="*/ 4 h 432"/>
                  <a:gd name="T8" fmla="*/ 0 w 336"/>
                  <a:gd name="T9" fmla="*/ 3 h 432"/>
                  <a:gd name="T10" fmla="*/ 0 w 336"/>
                  <a:gd name="T11" fmla="*/ 2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83" name="Freeform 59"/>
              <p:cNvSpPr>
                <a:spLocks/>
              </p:cNvSpPr>
              <p:nvPr/>
            </p:nvSpPr>
            <p:spPr bwMode="auto">
              <a:xfrm flipH="1">
                <a:off x="4818" y="2451"/>
                <a:ext cx="240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84" name="Freeform 60"/>
              <p:cNvSpPr>
                <a:spLocks/>
              </p:cNvSpPr>
              <p:nvPr/>
            </p:nvSpPr>
            <p:spPr bwMode="auto">
              <a:xfrm flipH="1">
                <a:off x="5010" y="2307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6388100" y="1914525"/>
            <a:ext cx="1993900" cy="1401763"/>
            <a:chOff x="3430" y="2851"/>
            <a:chExt cx="1388" cy="1020"/>
          </a:xfrm>
        </p:grpSpPr>
        <p:sp>
          <p:nvSpPr>
            <p:cNvPr id="155663" name="Rectangle 62"/>
            <p:cNvSpPr>
              <a:spLocks noChangeArrowheads="1"/>
            </p:cNvSpPr>
            <p:nvPr/>
          </p:nvSpPr>
          <p:spPr bwMode="auto">
            <a:xfrm>
              <a:off x="3430" y="2851"/>
              <a:ext cx="1388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155664" name="Group 63"/>
            <p:cNvGrpSpPr>
              <a:grpSpLocks/>
            </p:cNvGrpSpPr>
            <p:nvPr/>
          </p:nvGrpSpPr>
          <p:grpSpPr bwMode="auto">
            <a:xfrm>
              <a:off x="3622" y="2994"/>
              <a:ext cx="912" cy="816"/>
              <a:chOff x="4290" y="2115"/>
              <a:chExt cx="912" cy="816"/>
            </a:xfrm>
          </p:grpSpPr>
          <p:sp>
            <p:nvSpPr>
              <p:cNvPr id="155665" name="Freeform 64"/>
              <p:cNvSpPr>
                <a:spLocks/>
              </p:cNvSpPr>
              <p:nvPr/>
            </p:nvSpPr>
            <p:spPr bwMode="auto">
              <a:xfrm flipH="1">
                <a:off x="4290" y="2355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66" name="Freeform 65"/>
              <p:cNvSpPr>
                <a:spLocks/>
              </p:cNvSpPr>
              <p:nvPr/>
            </p:nvSpPr>
            <p:spPr bwMode="auto">
              <a:xfrm flipH="1">
                <a:off x="4498" y="2211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67" name="Freeform 66"/>
              <p:cNvSpPr>
                <a:spLocks/>
              </p:cNvSpPr>
              <p:nvPr/>
            </p:nvSpPr>
            <p:spPr bwMode="auto">
              <a:xfrm flipH="1">
                <a:off x="4722" y="2115"/>
                <a:ext cx="144" cy="288"/>
              </a:xfrm>
              <a:custGeom>
                <a:avLst/>
                <a:gdLst>
                  <a:gd name="T0" fmla="*/ 0 w 144"/>
                  <a:gd name="T1" fmla="*/ 3 h 336"/>
                  <a:gd name="T2" fmla="*/ 96 w 144"/>
                  <a:gd name="T3" fmla="*/ 0 h 336"/>
                  <a:gd name="T4" fmla="*/ 144 w 144"/>
                  <a:gd name="T5" fmla="*/ 3 h 336"/>
                  <a:gd name="T6" fmla="*/ 144 w 144"/>
                  <a:gd name="T7" fmla="*/ 21 h 336"/>
                  <a:gd name="T8" fmla="*/ 96 w 144"/>
                  <a:gd name="T9" fmla="*/ 18 h 336"/>
                  <a:gd name="T10" fmla="*/ 96 w 144"/>
                  <a:gd name="T11" fmla="*/ 6 h 336"/>
                  <a:gd name="T12" fmla="*/ 0 w 144"/>
                  <a:gd name="T13" fmla="*/ 9 h 336"/>
                  <a:gd name="T14" fmla="*/ 0 w 144"/>
                  <a:gd name="T15" fmla="*/ 3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68" name="Freeform 67"/>
              <p:cNvSpPr>
                <a:spLocks/>
              </p:cNvSpPr>
              <p:nvPr/>
            </p:nvSpPr>
            <p:spPr bwMode="auto">
              <a:xfrm flipH="1">
                <a:off x="4338" y="2115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FF33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69" name="Freeform 68"/>
              <p:cNvSpPr>
                <a:spLocks/>
              </p:cNvSpPr>
              <p:nvPr/>
            </p:nvSpPr>
            <p:spPr bwMode="auto">
              <a:xfrm flipH="1">
                <a:off x="4626" y="2211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F33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70" name="Freeform 69"/>
              <p:cNvSpPr>
                <a:spLocks/>
              </p:cNvSpPr>
              <p:nvPr/>
            </p:nvSpPr>
            <p:spPr bwMode="auto">
              <a:xfrm flipH="1">
                <a:off x="4338" y="2451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FF33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71" name="Freeform 70"/>
              <p:cNvSpPr>
                <a:spLocks/>
              </p:cNvSpPr>
              <p:nvPr/>
            </p:nvSpPr>
            <p:spPr bwMode="auto">
              <a:xfrm flipH="1">
                <a:off x="4626" y="2595"/>
                <a:ext cx="240" cy="336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2 h 432"/>
                  <a:gd name="T4" fmla="*/ 1 w 336"/>
                  <a:gd name="T5" fmla="*/ 2 h 432"/>
                  <a:gd name="T6" fmla="*/ 1 w 336"/>
                  <a:gd name="T7" fmla="*/ 4 h 432"/>
                  <a:gd name="T8" fmla="*/ 0 w 336"/>
                  <a:gd name="T9" fmla="*/ 3 h 432"/>
                  <a:gd name="T10" fmla="*/ 0 w 336"/>
                  <a:gd name="T11" fmla="*/ 2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72" name="Freeform 71"/>
              <p:cNvSpPr>
                <a:spLocks/>
              </p:cNvSpPr>
              <p:nvPr/>
            </p:nvSpPr>
            <p:spPr bwMode="auto">
              <a:xfrm flipH="1">
                <a:off x="4818" y="2451"/>
                <a:ext cx="240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5673" name="Freeform 72"/>
              <p:cNvSpPr>
                <a:spLocks/>
              </p:cNvSpPr>
              <p:nvPr/>
            </p:nvSpPr>
            <p:spPr bwMode="auto">
              <a:xfrm flipH="1">
                <a:off x="5010" y="2307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</p:grpSp>
      <p:sp>
        <p:nvSpPr>
          <p:cNvPr id="155659" name="Rectangle 73"/>
          <p:cNvSpPr>
            <a:spLocks noChangeArrowheads="1"/>
          </p:cNvSpPr>
          <p:nvPr/>
        </p:nvSpPr>
        <p:spPr bwMode="auto">
          <a:xfrm>
            <a:off x="2082800" y="1524000"/>
            <a:ext cx="762000" cy="774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55660" name="Rectangle 74"/>
          <p:cNvSpPr>
            <a:spLocks noChangeArrowheads="1"/>
          </p:cNvSpPr>
          <p:nvPr/>
        </p:nvSpPr>
        <p:spPr bwMode="auto">
          <a:xfrm>
            <a:off x="6261100" y="1422400"/>
            <a:ext cx="762000" cy="774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55661" name="Freeform 75"/>
          <p:cNvSpPr>
            <a:spLocks/>
          </p:cNvSpPr>
          <p:nvPr/>
        </p:nvSpPr>
        <p:spPr bwMode="auto">
          <a:xfrm rot="21014026" flipH="1">
            <a:off x="2787650" y="2735263"/>
            <a:ext cx="700088" cy="636587"/>
          </a:xfrm>
          <a:custGeom>
            <a:avLst/>
            <a:gdLst>
              <a:gd name="T0" fmla="*/ 0 w 528"/>
              <a:gd name="T1" fmla="*/ 2147483647 h 480"/>
              <a:gd name="T2" fmla="*/ 2147483647 w 528"/>
              <a:gd name="T3" fmla="*/ 2147483647 h 480"/>
              <a:gd name="T4" fmla="*/ 0 w 528"/>
              <a:gd name="T5" fmla="*/ 2147483647 h 480"/>
              <a:gd name="T6" fmla="*/ 2147483647 w 528"/>
              <a:gd name="T7" fmla="*/ 0 h 480"/>
              <a:gd name="T8" fmla="*/ 2147483647 w 528"/>
              <a:gd name="T9" fmla="*/ 2147483647 h 480"/>
              <a:gd name="T10" fmla="*/ 2147483647 w 528"/>
              <a:gd name="T11" fmla="*/ 2147483647 h 480"/>
              <a:gd name="T12" fmla="*/ 0 w 528"/>
              <a:gd name="T13" fmla="*/ 2147483647 h 4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28"/>
              <a:gd name="T22" fmla="*/ 0 h 480"/>
              <a:gd name="T23" fmla="*/ 528 w 528"/>
              <a:gd name="T24" fmla="*/ 480 h 48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28" h="480">
                <a:moveTo>
                  <a:pt x="0" y="480"/>
                </a:moveTo>
                <a:lnTo>
                  <a:pt x="240" y="240"/>
                </a:lnTo>
                <a:lnTo>
                  <a:pt x="0" y="240"/>
                </a:lnTo>
                <a:lnTo>
                  <a:pt x="528" y="0"/>
                </a:lnTo>
                <a:lnTo>
                  <a:pt x="288" y="192"/>
                </a:lnTo>
                <a:lnTo>
                  <a:pt x="432" y="192"/>
                </a:lnTo>
                <a:lnTo>
                  <a:pt x="0" y="480"/>
                </a:lnTo>
                <a:close/>
              </a:path>
            </a:pathLst>
          </a:custGeom>
          <a:solidFill>
            <a:srgbClr val="FFFF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55662" name="Freeform 76"/>
          <p:cNvSpPr>
            <a:spLocks/>
          </p:cNvSpPr>
          <p:nvPr/>
        </p:nvSpPr>
        <p:spPr bwMode="auto">
          <a:xfrm rot="585974">
            <a:off x="5619750" y="2722563"/>
            <a:ext cx="700088" cy="636587"/>
          </a:xfrm>
          <a:custGeom>
            <a:avLst/>
            <a:gdLst>
              <a:gd name="T0" fmla="*/ 0 w 528"/>
              <a:gd name="T1" fmla="*/ 2147483647 h 480"/>
              <a:gd name="T2" fmla="*/ 2147483647 w 528"/>
              <a:gd name="T3" fmla="*/ 2147483647 h 480"/>
              <a:gd name="T4" fmla="*/ 0 w 528"/>
              <a:gd name="T5" fmla="*/ 2147483647 h 480"/>
              <a:gd name="T6" fmla="*/ 2147483647 w 528"/>
              <a:gd name="T7" fmla="*/ 0 h 480"/>
              <a:gd name="T8" fmla="*/ 2147483647 w 528"/>
              <a:gd name="T9" fmla="*/ 2147483647 h 480"/>
              <a:gd name="T10" fmla="*/ 2147483647 w 528"/>
              <a:gd name="T11" fmla="*/ 2147483647 h 480"/>
              <a:gd name="T12" fmla="*/ 0 w 528"/>
              <a:gd name="T13" fmla="*/ 2147483647 h 4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28"/>
              <a:gd name="T22" fmla="*/ 0 h 480"/>
              <a:gd name="T23" fmla="*/ 528 w 528"/>
              <a:gd name="T24" fmla="*/ 480 h 48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28" h="480">
                <a:moveTo>
                  <a:pt x="0" y="480"/>
                </a:moveTo>
                <a:lnTo>
                  <a:pt x="240" y="240"/>
                </a:lnTo>
                <a:lnTo>
                  <a:pt x="0" y="240"/>
                </a:lnTo>
                <a:lnTo>
                  <a:pt x="528" y="0"/>
                </a:lnTo>
                <a:lnTo>
                  <a:pt x="288" y="192"/>
                </a:lnTo>
                <a:lnTo>
                  <a:pt x="432" y="192"/>
                </a:lnTo>
                <a:lnTo>
                  <a:pt x="0" y="480"/>
                </a:lnTo>
                <a:close/>
              </a:path>
            </a:pathLst>
          </a:custGeom>
          <a:solidFill>
            <a:srgbClr val="FFFF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745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itle 1"/>
          <p:cNvSpPr>
            <a:spLocks noGrp="1"/>
          </p:cNvSpPr>
          <p:nvPr>
            <p:ph type="title"/>
          </p:nvPr>
        </p:nvSpPr>
        <p:spPr>
          <a:xfrm>
            <a:off x="685800" y="523875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Troubling Intellectual Question…</a:t>
            </a:r>
          </a:p>
        </p:txBody>
      </p:sp>
      <p:sp>
        <p:nvSpPr>
          <p:cNvPr id="156675" name="Content Placeholder 2"/>
          <p:cNvSpPr>
            <a:spLocks noGrp="1"/>
          </p:cNvSpPr>
          <p:nvPr>
            <p:ph idx="1"/>
          </p:nvPr>
        </p:nvSpPr>
        <p:spPr>
          <a:xfrm>
            <a:off x="685800" y="1958975"/>
            <a:ext cx="7902575" cy="4114800"/>
          </a:xfrm>
        </p:spPr>
        <p:txBody>
          <a:bodyPr/>
          <a:lstStyle/>
          <a:p>
            <a:r>
              <a:rPr lang="en-US">
                <a:latin typeface="Arial"/>
                <a:ea typeface="ＭＳ Ｐゴシック" charset="0"/>
                <a:cs typeface="Arial"/>
              </a:rPr>
              <a:t>Why use </a:t>
            </a:r>
            <a:r>
              <a:rPr lang="en-US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non-blocking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 </a:t>
            </a:r>
            <a:r>
              <a:rPr lang="en-US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lock-free and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 </a:t>
            </a:r>
            <a:r>
              <a:rPr lang="en-US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wait-free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 </a:t>
            </a:r>
            <a:r>
              <a:rPr lang="en-US">
                <a:latin typeface="Arial"/>
                <a:ea typeface="ＭＳ Ｐゴシック" charset="0"/>
                <a:cs typeface="Arial"/>
              </a:rPr>
              <a:t>conditions when most code uses locks?</a:t>
            </a:r>
          </a:p>
        </p:txBody>
      </p:sp>
      <p:sp>
        <p:nvSpPr>
          <p:cNvPr id="15667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459F5DC2-4E30-114F-B27F-D8A97A3F08A2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150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6677" name="Cloud Callout 5"/>
          <p:cNvSpPr>
            <a:spLocks noChangeArrowheads="1"/>
          </p:cNvSpPr>
          <p:nvPr/>
        </p:nvSpPr>
        <p:spPr bwMode="auto">
          <a:xfrm>
            <a:off x="6819900" y="1028700"/>
            <a:ext cx="2032000" cy="901700"/>
          </a:xfrm>
          <a:prstGeom prst="cloudCallout">
            <a:avLst>
              <a:gd name="adj1" fmla="val -103690"/>
              <a:gd name="adj2" fmla="val -783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000" dirty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1000" dirty="0">
                <a:solidFill>
                  <a:schemeClr val="tx1"/>
                </a:solidFill>
                <a:latin typeface="Arial"/>
                <a:cs typeface="Arial"/>
              </a:rPr>
              <a:t>I think I think, </a:t>
            </a:r>
          </a:p>
          <a:p>
            <a:r>
              <a:rPr lang="en-US" sz="1000" dirty="0">
                <a:solidFill>
                  <a:schemeClr val="tx1"/>
                </a:solidFill>
                <a:latin typeface="Arial"/>
                <a:cs typeface="Arial"/>
              </a:rPr>
              <a:t>therefore I think </a:t>
            </a:r>
          </a:p>
          <a:p>
            <a:r>
              <a:rPr lang="en-US" sz="1000" dirty="0">
                <a:solidFill>
                  <a:schemeClr val="tx1"/>
                </a:solidFill>
                <a:latin typeface="Arial"/>
                <a:cs typeface="Arial"/>
              </a:rPr>
              <a:t>I am (Ambrose Bierce) </a:t>
            </a:r>
          </a:p>
          <a:p>
            <a:endParaRPr lang="en-US" sz="1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076693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itle 1"/>
          <p:cNvSpPr>
            <a:spLocks noGrp="1"/>
          </p:cNvSpPr>
          <p:nvPr>
            <p:ph type="title"/>
          </p:nvPr>
        </p:nvSpPr>
        <p:spPr>
          <a:xfrm>
            <a:off x="685800" y="447675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/>
                <a:ea typeface="ＭＳ Ｐゴシック" charset="0"/>
                <a:cs typeface="Arial"/>
              </a:rPr>
              <a:t>The Answer</a:t>
            </a:r>
          </a:p>
        </p:txBody>
      </p:sp>
      <p:sp>
        <p:nvSpPr>
          <p:cNvPr id="157699" name="Content Placeholder 2"/>
          <p:cNvSpPr>
            <a:spLocks noGrp="1"/>
          </p:cNvSpPr>
          <p:nvPr>
            <p:ph idx="1"/>
          </p:nvPr>
        </p:nvSpPr>
        <p:spPr>
          <a:xfrm>
            <a:off x="685800" y="1958975"/>
            <a:ext cx="7902575" cy="4114800"/>
          </a:xfrm>
        </p:spPr>
        <p:txBody>
          <a:bodyPr/>
          <a:lstStyle/>
          <a:p>
            <a:pPr marL="514350" indent="-514350"/>
            <a:r>
              <a:rPr lang="en-US">
                <a:latin typeface="Arial"/>
                <a:ea typeface="ＭＳ Ｐゴシック" charset="0"/>
                <a:cs typeface="Arial"/>
              </a:rPr>
              <a:t>Not about being 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non-blocking</a:t>
            </a:r>
            <a:r>
              <a:rPr lang="en-US">
                <a:latin typeface="Arial"/>
                <a:ea typeface="ＭＳ Ｐゴシック" charset="0"/>
                <a:cs typeface="Arial"/>
              </a:rPr>
              <a:t>…</a:t>
            </a:r>
          </a:p>
          <a:p>
            <a:pPr marL="514350" indent="-514350"/>
            <a:r>
              <a:rPr lang="en-US">
                <a:latin typeface="Arial"/>
                <a:ea typeface="ＭＳ Ｐゴシック" charset="0"/>
                <a:cs typeface="Arial"/>
              </a:rPr>
              <a:t>About being </a:t>
            </a:r>
            <a:r>
              <a:rPr lang="en-US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independent</a:t>
            </a:r>
            <a:r>
              <a:rPr lang="en-US">
                <a:latin typeface="Arial"/>
                <a:ea typeface="ＭＳ Ｐゴシック" charset="0"/>
                <a:cs typeface="Arial"/>
              </a:rPr>
              <a:t>!</a:t>
            </a:r>
          </a:p>
          <a:p>
            <a:pPr marL="514350" indent="-514350"/>
            <a:r>
              <a:rPr lang="en-US">
                <a:latin typeface="Arial"/>
                <a:ea typeface="ＭＳ Ｐゴシック" charset="0"/>
                <a:cs typeface="Arial"/>
              </a:rPr>
              <a:t>Do not rely on the good behavior of the scheduler.</a:t>
            </a:r>
          </a:p>
        </p:txBody>
      </p:sp>
      <p:sp>
        <p:nvSpPr>
          <p:cNvPr id="15770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871B6DB-54BC-B440-8469-CA0FAB127AAA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151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319105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A7F12BC9-BBE6-E645-B365-B79C3946430B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152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426" name="Rectangle 26"/>
          <p:cNvSpPr>
            <a:spLocks noChangeArrowheads="1"/>
          </p:cNvSpPr>
          <p:nvPr/>
        </p:nvSpPr>
        <p:spPr bwMode="auto">
          <a:xfrm>
            <a:off x="565150" y="314325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400" b="0" dirty="0">
                <a:solidFill>
                  <a:schemeClr val="tx2"/>
                </a:solidFill>
                <a:latin typeface="Arial"/>
                <a:ea typeface="+mn-ea"/>
                <a:cs typeface="Arial"/>
              </a:rPr>
              <a:t>By Analogy to Church-Turing</a:t>
            </a:r>
          </a:p>
        </p:txBody>
      </p:sp>
      <p:grpSp>
        <p:nvGrpSpPr>
          <p:cNvPr id="158724" name="Group 33"/>
          <p:cNvGrpSpPr>
            <a:grpSpLocks/>
          </p:cNvGrpSpPr>
          <p:nvPr/>
        </p:nvGrpSpPr>
        <p:grpSpPr bwMode="auto">
          <a:xfrm>
            <a:off x="4965700" y="1506538"/>
            <a:ext cx="3730625" cy="1962467"/>
            <a:chOff x="1063625" y="1390650"/>
            <a:chExt cx="6578600" cy="4227297"/>
          </a:xfrm>
        </p:grpSpPr>
        <p:grpSp>
          <p:nvGrpSpPr>
            <p:cNvPr id="158728" name="Group 34"/>
            <p:cNvGrpSpPr>
              <a:grpSpLocks/>
            </p:cNvGrpSpPr>
            <p:nvPr/>
          </p:nvGrpSpPr>
          <p:grpSpPr bwMode="auto">
            <a:xfrm>
              <a:off x="4670425" y="3765550"/>
              <a:ext cx="2692400" cy="1536700"/>
              <a:chOff x="3230" y="2420"/>
              <a:chExt cx="1696" cy="968"/>
            </a:xfrm>
          </p:grpSpPr>
          <p:sp>
            <p:nvSpPr>
              <p:cNvPr id="158746" name="Freeform 2"/>
              <p:cNvSpPr>
                <a:spLocks/>
              </p:cNvSpPr>
              <p:nvPr/>
            </p:nvSpPr>
            <p:spPr bwMode="auto">
              <a:xfrm>
                <a:off x="4678" y="2420"/>
                <a:ext cx="208" cy="216"/>
              </a:xfrm>
              <a:custGeom>
                <a:avLst/>
                <a:gdLst>
                  <a:gd name="T0" fmla="*/ 0 w 208"/>
                  <a:gd name="T1" fmla="*/ 112 h 216"/>
                  <a:gd name="T2" fmla="*/ 0 w 208"/>
                  <a:gd name="T3" fmla="*/ 216 h 216"/>
                  <a:gd name="T4" fmla="*/ 208 w 208"/>
                  <a:gd name="T5" fmla="*/ 0 h 216"/>
                  <a:gd name="T6" fmla="*/ 0 w 208"/>
                  <a:gd name="T7" fmla="*/ 112 h 2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8"/>
                  <a:gd name="T13" fmla="*/ 0 h 216"/>
                  <a:gd name="T14" fmla="*/ 208 w 208"/>
                  <a:gd name="T15" fmla="*/ 216 h 2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8" h="216">
                    <a:moveTo>
                      <a:pt x="0" y="112"/>
                    </a:moveTo>
                    <a:lnTo>
                      <a:pt x="0" y="216"/>
                    </a:lnTo>
                    <a:lnTo>
                      <a:pt x="208" y="0"/>
                    </a:lnTo>
                    <a:lnTo>
                      <a:pt x="0" y="112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8747" name="Freeform 3"/>
              <p:cNvSpPr>
                <a:spLocks/>
              </p:cNvSpPr>
              <p:nvPr/>
            </p:nvSpPr>
            <p:spPr bwMode="auto">
              <a:xfrm>
                <a:off x="4662" y="2548"/>
                <a:ext cx="184" cy="256"/>
              </a:xfrm>
              <a:custGeom>
                <a:avLst/>
                <a:gdLst>
                  <a:gd name="T0" fmla="*/ 184 w 184"/>
                  <a:gd name="T1" fmla="*/ 256 h 256"/>
                  <a:gd name="T2" fmla="*/ 184 w 184"/>
                  <a:gd name="T3" fmla="*/ 88 h 256"/>
                  <a:gd name="T4" fmla="*/ 0 w 184"/>
                  <a:gd name="T5" fmla="*/ 0 h 256"/>
                  <a:gd name="T6" fmla="*/ 8 w 184"/>
                  <a:gd name="T7" fmla="*/ 88 h 256"/>
                  <a:gd name="T8" fmla="*/ 184 w 184"/>
                  <a:gd name="T9" fmla="*/ 256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256"/>
                  <a:gd name="T17" fmla="*/ 184 w 184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256">
                    <a:moveTo>
                      <a:pt x="184" y="256"/>
                    </a:moveTo>
                    <a:lnTo>
                      <a:pt x="184" y="88"/>
                    </a:lnTo>
                    <a:lnTo>
                      <a:pt x="0" y="0"/>
                    </a:lnTo>
                    <a:lnTo>
                      <a:pt x="8" y="88"/>
                    </a:lnTo>
                    <a:lnTo>
                      <a:pt x="184" y="256"/>
                    </a:lnTo>
                    <a:close/>
                  </a:path>
                </a:pathLst>
              </a:custGeom>
              <a:solidFill>
                <a:srgbClr val="99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8748" name="Freeform 4"/>
              <p:cNvSpPr>
                <a:spLocks/>
              </p:cNvSpPr>
              <p:nvPr/>
            </p:nvSpPr>
            <p:spPr bwMode="auto">
              <a:xfrm>
                <a:off x="4590" y="2652"/>
                <a:ext cx="256" cy="328"/>
              </a:xfrm>
              <a:custGeom>
                <a:avLst/>
                <a:gdLst>
                  <a:gd name="T0" fmla="*/ 0 w 256"/>
                  <a:gd name="T1" fmla="*/ 328 h 328"/>
                  <a:gd name="T2" fmla="*/ 256 w 256"/>
                  <a:gd name="T3" fmla="*/ 160 h 328"/>
                  <a:gd name="T4" fmla="*/ 256 w 256"/>
                  <a:gd name="T5" fmla="*/ 0 h 328"/>
                  <a:gd name="T6" fmla="*/ 0 w 256"/>
                  <a:gd name="T7" fmla="*/ 128 h 328"/>
                  <a:gd name="T8" fmla="*/ 0 w 256"/>
                  <a:gd name="T9" fmla="*/ 328 h 3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6"/>
                  <a:gd name="T16" fmla="*/ 0 h 328"/>
                  <a:gd name="T17" fmla="*/ 256 w 256"/>
                  <a:gd name="T18" fmla="*/ 328 h 3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6" h="328">
                    <a:moveTo>
                      <a:pt x="0" y="328"/>
                    </a:moveTo>
                    <a:lnTo>
                      <a:pt x="256" y="160"/>
                    </a:lnTo>
                    <a:lnTo>
                      <a:pt x="256" y="0"/>
                    </a:lnTo>
                    <a:lnTo>
                      <a:pt x="0" y="128"/>
                    </a:lnTo>
                    <a:lnTo>
                      <a:pt x="0" y="328"/>
                    </a:lnTo>
                    <a:close/>
                  </a:path>
                </a:pathLst>
              </a:custGeom>
              <a:solidFill>
                <a:srgbClr val="99CC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8749" name="Freeform 5"/>
              <p:cNvSpPr>
                <a:spLocks/>
              </p:cNvSpPr>
              <p:nvPr/>
            </p:nvSpPr>
            <p:spPr bwMode="auto">
              <a:xfrm>
                <a:off x="4598" y="2780"/>
                <a:ext cx="328" cy="600"/>
              </a:xfrm>
              <a:custGeom>
                <a:avLst/>
                <a:gdLst>
                  <a:gd name="T0" fmla="*/ 320 w 328"/>
                  <a:gd name="T1" fmla="*/ 600 h 600"/>
                  <a:gd name="T2" fmla="*/ 0 w 328"/>
                  <a:gd name="T3" fmla="*/ 200 h 600"/>
                  <a:gd name="T4" fmla="*/ 0 w 328"/>
                  <a:gd name="T5" fmla="*/ 0 h 600"/>
                  <a:gd name="T6" fmla="*/ 328 w 328"/>
                  <a:gd name="T7" fmla="*/ 360 h 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8"/>
                  <a:gd name="T13" fmla="*/ 0 h 600"/>
                  <a:gd name="T14" fmla="*/ 328 w 328"/>
                  <a:gd name="T15" fmla="*/ 600 h 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8" h="600">
                    <a:moveTo>
                      <a:pt x="320" y="600"/>
                    </a:moveTo>
                    <a:lnTo>
                      <a:pt x="0" y="200"/>
                    </a:lnTo>
                    <a:lnTo>
                      <a:pt x="0" y="0"/>
                    </a:lnTo>
                    <a:lnTo>
                      <a:pt x="328" y="360"/>
                    </a:lnTo>
                  </a:path>
                </a:pathLst>
              </a:custGeom>
              <a:solidFill>
                <a:srgbClr val="CCEC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8750" name="Rectangle 6"/>
              <p:cNvSpPr>
                <a:spLocks noChangeArrowheads="1"/>
              </p:cNvSpPr>
              <p:nvPr/>
            </p:nvSpPr>
            <p:spPr bwMode="auto">
              <a:xfrm>
                <a:off x="3230" y="3132"/>
                <a:ext cx="1688" cy="25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3200">
                  <a:latin typeface="Arial"/>
                  <a:cs typeface="Arial"/>
                </a:endParaRPr>
              </a:p>
            </p:txBody>
          </p:sp>
          <p:sp>
            <p:nvSpPr>
              <p:cNvPr id="158751" name="Rectangle 7"/>
              <p:cNvSpPr>
                <a:spLocks noChangeArrowheads="1"/>
              </p:cNvSpPr>
              <p:nvPr/>
            </p:nvSpPr>
            <p:spPr bwMode="auto">
              <a:xfrm>
                <a:off x="3238" y="3140"/>
                <a:ext cx="248" cy="2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r>
                  <a:rPr lang="en-US" sz="1800">
                    <a:latin typeface="Arial"/>
                    <a:cs typeface="Arial"/>
                  </a:rPr>
                  <a:t>0</a:t>
                </a:r>
              </a:p>
            </p:txBody>
          </p:sp>
          <p:sp>
            <p:nvSpPr>
              <p:cNvPr id="158752" name="Rectangle 8"/>
              <p:cNvSpPr>
                <a:spLocks noChangeArrowheads="1"/>
              </p:cNvSpPr>
              <p:nvPr/>
            </p:nvSpPr>
            <p:spPr bwMode="auto">
              <a:xfrm>
                <a:off x="3486" y="3140"/>
                <a:ext cx="248" cy="2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r>
                  <a:rPr lang="en-US" sz="1800">
                    <a:latin typeface="Arial"/>
                    <a:cs typeface="Arial"/>
                  </a:rPr>
                  <a:t>1</a:t>
                </a:r>
              </a:p>
            </p:txBody>
          </p:sp>
          <p:sp>
            <p:nvSpPr>
              <p:cNvPr id="158753" name="Rectangle 9"/>
              <p:cNvSpPr>
                <a:spLocks noChangeArrowheads="1"/>
              </p:cNvSpPr>
              <p:nvPr/>
            </p:nvSpPr>
            <p:spPr bwMode="auto">
              <a:xfrm>
                <a:off x="3734" y="3140"/>
                <a:ext cx="248" cy="2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r>
                  <a:rPr lang="en-US" sz="1800">
                    <a:latin typeface="Arial"/>
                    <a:cs typeface="Arial"/>
                  </a:rPr>
                  <a:t>1</a:t>
                </a:r>
              </a:p>
            </p:txBody>
          </p:sp>
          <p:sp>
            <p:nvSpPr>
              <p:cNvPr id="158754" name="Rectangle 10"/>
              <p:cNvSpPr>
                <a:spLocks noChangeArrowheads="1"/>
              </p:cNvSpPr>
              <p:nvPr/>
            </p:nvSpPr>
            <p:spPr bwMode="auto">
              <a:xfrm>
                <a:off x="3982" y="3140"/>
                <a:ext cx="248" cy="2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r>
                  <a:rPr lang="en-US" sz="1800">
                    <a:latin typeface="Arial"/>
                    <a:cs typeface="Arial"/>
                  </a:rPr>
                  <a:t>0</a:t>
                </a:r>
              </a:p>
            </p:txBody>
          </p:sp>
          <p:sp>
            <p:nvSpPr>
              <p:cNvPr id="158755" name="Rectangle 11"/>
              <p:cNvSpPr>
                <a:spLocks noChangeArrowheads="1"/>
              </p:cNvSpPr>
              <p:nvPr/>
            </p:nvSpPr>
            <p:spPr bwMode="auto">
              <a:xfrm>
                <a:off x="4230" y="3140"/>
                <a:ext cx="248" cy="2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r>
                  <a:rPr lang="en-US" sz="1800">
                    <a:latin typeface="Arial"/>
                    <a:cs typeface="Arial"/>
                  </a:rPr>
                  <a:t>1</a:t>
                </a:r>
              </a:p>
            </p:txBody>
          </p:sp>
          <p:sp>
            <p:nvSpPr>
              <p:cNvPr id="158756" name="Rectangle 12"/>
              <p:cNvSpPr>
                <a:spLocks noChangeArrowheads="1"/>
              </p:cNvSpPr>
              <p:nvPr/>
            </p:nvSpPr>
            <p:spPr bwMode="auto">
              <a:xfrm>
                <a:off x="4478" y="3140"/>
                <a:ext cx="248" cy="2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r>
                  <a:rPr lang="en-US" sz="1800">
                    <a:latin typeface="Arial"/>
                    <a:cs typeface="Arial"/>
                  </a:rPr>
                  <a:t>0</a:t>
                </a:r>
              </a:p>
            </p:txBody>
          </p:sp>
        </p:grpSp>
        <p:sp>
          <p:nvSpPr>
            <p:cNvPr id="158729" name="Rectangle 13"/>
            <p:cNvSpPr>
              <a:spLocks noChangeArrowheads="1"/>
            </p:cNvSpPr>
            <p:nvPr/>
          </p:nvSpPr>
          <p:spPr bwMode="auto">
            <a:xfrm>
              <a:off x="4483100" y="4718050"/>
              <a:ext cx="393700" cy="393700"/>
            </a:xfrm>
            <a:prstGeom prst="rect">
              <a:avLst/>
            </a:prstGeom>
            <a:solidFill>
              <a:schemeClr val="bg1">
                <a:alpha val="74901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>
                  <a:solidFill>
                    <a:srgbClr val="FF3300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58730" name="AutoShape 14"/>
            <p:cNvSpPr>
              <a:spLocks noChangeArrowheads="1"/>
            </p:cNvSpPr>
            <p:nvPr/>
          </p:nvSpPr>
          <p:spPr bwMode="auto">
            <a:xfrm>
              <a:off x="4060825" y="1390650"/>
              <a:ext cx="3581400" cy="1866900"/>
            </a:xfrm>
            <a:prstGeom prst="cloudCallout">
              <a:avLst>
                <a:gd name="adj1" fmla="val -69991"/>
                <a:gd name="adj2" fmla="val 39370"/>
              </a:avLst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 sz="3200">
                <a:latin typeface="Arial"/>
                <a:cs typeface="Arial"/>
              </a:endParaRPr>
            </a:p>
          </p:txBody>
        </p:sp>
        <p:sp>
          <p:nvSpPr>
            <p:cNvPr id="158731" name="Oval 15"/>
            <p:cNvSpPr>
              <a:spLocks noChangeArrowheads="1"/>
            </p:cNvSpPr>
            <p:nvPr/>
          </p:nvSpPr>
          <p:spPr bwMode="auto">
            <a:xfrm>
              <a:off x="5095875" y="1797050"/>
              <a:ext cx="304800" cy="304800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158732" name="Oval 16"/>
            <p:cNvSpPr>
              <a:spLocks noChangeArrowheads="1"/>
            </p:cNvSpPr>
            <p:nvPr/>
          </p:nvSpPr>
          <p:spPr bwMode="auto">
            <a:xfrm>
              <a:off x="6315075" y="1784350"/>
              <a:ext cx="304800" cy="304800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158733" name="Oval 17"/>
            <p:cNvSpPr>
              <a:spLocks noChangeArrowheads="1"/>
            </p:cNvSpPr>
            <p:nvPr/>
          </p:nvSpPr>
          <p:spPr bwMode="auto">
            <a:xfrm>
              <a:off x="5064125" y="2457450"/>
              <a:ext cx="304800" cy="304800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158734" name="Oval 18"/>
            <p:cNvSpPr>
              <a:spLocks noChangeArrowheads="1"/>
            </p:cNvSpPr>
            <p:nvPr/>
          </p:nvSpPr>
          <p:spPr bwMode="auto">
            <a:xfrm>
              <a:off x="6315075" y="2457450"/>
              <a:ext cx="304800" cy="304800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158735" name="Oval 19"/>
            <p:cNvSpPr>
              <a:spLocks noChangeArrowheads="1"/>
            </p:cNvSpPr>
            <p:nvPr/>
          </p:nvSpPr>
          <p:spPr bwMode="auto">
            <a:xfrm>
              <a:off x="5140325" y="1841500"/>
              <a:ext cx="215900" cy="21590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158736" name="Freeform 20"/>
            <p:cNvSpPr>
              <a:spLocks/>
            </p:cNvSpPr>
            <p:nvPr/>
          </p:nvSpPr>
          <p:spPr bwMode="auto">
            <a:xfrm>
              <a:off x="5470525" y="1643063"/>
              <a:ext cx="812800" cy="192087"/>
            </a:xfrm>
            <a:custGeom>
              <a:avLst/>
              <a:gdLst>
                <a:gd name="T0" fmla="*/ 0 w 512"/>
                <a:gd name="T1" fmla="*/ 2147483647 h 121"/>
                <a:gd name="T2" fmla="*/ 2147483647 w 512"/>
                <a:gd name="T3" fmla="*/ 2147483647 h 121"/>
                <a:gd name="T4" fmla="*/ 2147483647 w 512"/>
                <a:gd name="T5" fmla="*/ 2147483647 h 121"/>
                <a:gd name="T6" fmla="*/ 0 60000 65536"/>
                <a:gd name="T7" fmla="*/ 0 60000 65536"/>
                <a:gd name="T8" fmla="*/ 0 60000 65536"/>
                <a:gd name="T9" fmla="*/ 0 w 512"/>
                <a:gd name="T10" fmla="*/ 0 h 121"/>
                <a:gd name="T11" fmla="*/ 512 w 512"/>
                <a:gd name="T12" fmla="*/ 121 h 1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2" h="121">
                  <a:moveTo>
                    <a:pt x="0" y="113"/>
                  </a:moveTo>
                  <a:cubicBezTo>
                    <a:pt x="74" y="59"/>
                    <a:pt x="147" y="0"/>
                    <a:pt x="232" y="1"/>
                  </a:cubicBezTo>
                  <a:cubicBezTo>
                    <a:pt x="317" y="2"/>
                    <a:pt x="454" y="96"/>
                    <a:pt x="512" y="121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58737" name="Freeform 21"/>
            <p:cNvSpPr>
              <a:spLocks/>
            </p:cNvSpPr>
            <p:nvPr/>
          </p:nvSpPr>
          <p:spPr bwMode="auto">
            <a:xfrm flipH="1" flipV="1">
              <a:off x="5457825" y="2011363"/>
              <a:ext cx="812800" cy="192087"/>
            </a:xfrm>
            <a:custGeom>
              <a:avLst/>
              <a:gdLst>
                <a:gd name="T0" fmla="*/ 0 w 512"/>
                <a:gd name="T1" fmla="*/ 2147483647 h 121"/>
                <a:gd name="T2" fmla="*/ 2147483647 w 512"/>
                <a:gd name="T3" fmla="*/ 2147483647 h 121"/>
                <a:gd name="T4" fmla="*/ 2147483647 w 512"/>
                <a:gd name="T5" fmla="*/ 2147483647 h 121"/>
                <a:gd name="T6" fmla="*/ 0 60000 65536"/>
                <a:gd name="T7" fmla="*/ 0 60000 65536"/>
                <a:gd name="T8" fmla="*/ 0 60000 65536"/>
                <a:gd name="T9" fmla="*/ 0 w 512"/>
                <a:gd name="T10" fmla="*/ 0 h 121"/>
                <a:gd name="T11" fmla="*/ 512 w 512"/>
                <a:gd name="T12" fmla="*/ 121 h 1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2" h="121">
                  <a:moveTo>
                    <a:pt x="0" y="113"/>
                  </a:moveTo>
                  <a:cubicBezTo>
                    <a:pt x="74" y="59"/>
                    <a:pt x="147" y="0"/>
                    <a:pt x="232" y="1"/>
                  </a:cubicBezTo>
                  <a:cubicBezTo>
                    <a:pt x="317" y="2"/>
                    <a:pt x="454" y="96"/>
                    <a:pt x="512" y="121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58738" name="Freeform 22"/>
            <p:cNvSpPr>
              <a:spLocks/>
            </p:cNvSpPr>
            <p:nvPr/>
          </p:nvSpPr>
          <p:spPr bwMode="auto">
            <a:xfrm flipH="1" flipV="1">
              <a:off x="5445125" y="2709863"/>
              <a:ext cx="812800" cy="192087"/>
            </a:xfrm>
            <a:custGeom>
              <a:avLst/>
              <a:gdLst>
                <a:gd name="T0" fmla="*/ 0 w 512"/>
                <a:gd name="T1" fmla="*/ 2147483647 h 121"/>
                <a:gd name="T2" fmla="*/ 2147483647 w 512"/>
                <a:gd name="T3" fmla="*/ 2147483647 h 121"/>
                <a:gd name="T4" fmla="*/ 2147483647 w 512"/>
                <a:gd name="T5" fmla="*/ 2147483647 h 121"/>
                <a:gd name="T6" fmla="*/ 0 60000 65536"/>
                <a:gd name="T7" fmla="*/ 0 60000 65536"/>
                <a:gd name="T8" fmla="*/ 0 60000 65536"/>
                <a:gd name="T9" fmla="*/ 0 w 512"/>
                <a:gd name="T10" fmla="*/ 0 h 121"/>
                <a:gd name="T11" fmla="*/ 512 w 512"/>
                <a:gd name="T12" fmla="*/ 121 h 1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2" h="121">
                  <a:moveTo>
                    <a:pt x="0" y="113"/>
                  </a:moveTo>
                  <a:cubicBezTo>
                    <a:pt x="74" y="59"/>
                    <a:pt x="147" y="0"/>
                    <a:pt x="232" y="1"/>
                  </a:cubicBezTo>
                  <a:cubicBezTo>
                    <a:pt x="317" y="2"/>
                    <a:pt x="454" y="96"/>
                    <a:pt x="512" y="121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58739" name="Freeform 23"/>
            <p:cNvSpPr>
              <a:spLocks/>
            </p:cNvSpPr>
            <p:nvPr/>
          </p:nvSpPr>
          <p:spPr bwMode="auto">
            <a:xfrm>
              <a:off x="6638925" y="2000250"/>
              <a:ext cx="176213" cy="457200"/>
            </a:xfrm>
            <a:custGeom>
              <a:avLst/>
              <a:gdLst>
                <a:gd name="T0" fmla="*/ 2147483647 w 111"/>
                <a:gd name="T1" fmla="*/ 0 h 288"/>
                <a:gd name="T2" fmla="*/ 2147483647 w 111"/>
                <a:gd name="T3" fmla="*/ 2147483647 h 288"/>
                <a:gd name="T4" fmla="*/ 0 w 111"/>
                <a:gd name="T5" fmla="*/ 2147483647 h 288"/>
                <a:gd name="T6" fmla="*/ 0 60000 65536"/>
                <a:gd name="T7" fmla="*/ 0 60000 65536"/>
                <a:gd name="T8" fmla="*/ 0 60000 65536"/>
                <a:gd name="T9" fmla="*/ 0 w 111"/>
                <a:gd name="T10" fmla="*/ 0 h 288"/>
                <a:gd name="T11" fmla="*/ 111 w 111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" h="288">
                  <a:moveTo>
                    <a:pt x="40" y="0"/>
                  </a:moveTo>
                  <a:cubicBezTo>
                    <a:pt x="51" y="23"/>
                    <a:pt x="111" y="88"/>
                    <a:pt x="104" y="136"/>
                  </a:cubicBezTo>
                  <a:cubicBezTo>
                    <a:pt x="97" y="184"/>
                    <a:pt x="22" y="256"/>
                    <a:pt x="0" y="288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58740" name="Freeform 24"/>
            <p:cNvSpPr>
              <a:spLocks/>
            </p:cNvSpPr>
            <p:nvPr/>
          </p:nvSpPr>
          <p:spPr bwMode="auto">
            <a:xfrm rot="10800000">
              <a:off x="4822825" y="2051050"/>
              <a:ext cx="176213" cy="457200"/>
            </a:xfrm>
            <a:custGeom>
              <a:avLst/>
              <a:gdLst>
                <a:gd name="T0" fmla="*/ 2147483647 w 111"/>
                <a:gd name="T1" fmla="*/ 0 h 288"/>
                <a:gd name="T2" fmla="*/ 2147483647 w 111"/>
                <a:gd name="T3" fmla="*/ 2147483647 h 288"/>
                <a:gd name="T4" fmla="*/ 0 w 111"/>
                <a:gd name="T5" fmla="*/ 2147483647 h 288"/>
                <a:gd name="T6" fmla="*/ 0 60000 65536"/>
                <a:gd name="T7" fmla="*/ 0 60000 65536"/>
                <a:gd name="T8" fmla="*/ 0 60000 65536"/>
                <a:gd name="T9" fmla="*/ 0 w 111"/>
                <a:gd name="T10" fmla="*/ 0 h 288"/>
                <a:gd name="T11" fmla="*/ 111 w 111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" h="288">
                  <a:moveTo>
                    <a:pt x="40" y="0"/>
                  </a:moveTo>
                  <a:cubicBezTo>
                    <a:pt x="51" y="23"/>
                    <a:pt x="111" y="88"/>
                    <a:pt x="104" y="136"/>
                  </a:cubicBezTo>
                  <a:cubicBezTo>
                    <a:pt x="97" y="184"/>
                    <a:pt x="22" y="256"/>
                    <a:pt x="0" y="288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58741" name="Line 25"/>
            <p:cNvSpPr>
              <a:spLocks noChangeShapeType="1"/>
            </p:cNvSpPr>
            <p:nvPr/>
          </p:nvSpPr>
          <p:spPr bwMode="auto">
            <a:xfrm>
              <a:off x="4670425" y="1924050"/>
              <a:ext cx="39370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58742" name="Text Box 27"/>
            <p:cNvSpPr txBox="1">
              <a:spLocks noChangeArrowheads="1"/>
            </p:cNvSpPr>
            <p:nvPr/>
          </p:nvSpPr>
          <p:spPr bwMode="auto">
            <a:xfrm>
              <a:off x="3768724" y="3629027"/>
              <a:ext cx="3155950" cy="1988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7C80"/>
                  </a:solidFill>
                  <a:latin typeface="Arial"/>
                  <a:cs typeface="Arial"/>
                </a:rPr>
                <a:t>Reads and Writes Infinite tape</a:t>
              </a:r>
            </a:p>
          </p:txBody>
        </p:sp>
        <p:sp>
          <p:nvSpPr>
            <p:cNvPr id="158743" name="Text Box 28"/>
            <p:cNvSpPr txBox="1">
              <a:spLocks noChangeArrowheads="1"/>
            </p:cNvSpPr>
            <p:nvPr/>
          </p:nvSpPr>
          <p:spPr bwMode="auto">
            <a:xfrm>
              <a:off x="1063625" y="2549526"/>
              <a:ext cx="2432050" cy="1988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7C80"/>
                  </a:solidFill>
                  <a:latin typeface="Arial"/>
                  <a:cs typeface="Arial"/>
                </a:rPr>
                <a:t>Finite State Controller</a:t>
              </a:r>
            </a:p>
          </p:txBody>
        </p:sp>
        <p:pic>
          <p:nvPicPr>
            <p:cNvPr id="158744" name="Picture 31" descr="TN00021_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3338" y="3136900"/>
              <a:ext cx="2163762" cy="1831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8745" name="Freeform 37"/>
            <p:cNvSpPr>
              <a:spLocks/>
            </p:cNvSpPr>
            <p:nvPr/>
          </p:nvSpPr>
          <p:spPr bwMode="auto">
            <a:xfrm rot="21014026" flipH="1">
              <a:off x="3587750" y="4348163"/>
              <a:ext cx="700088" cy="636587"/>
            </a:xfrm>
            <a:custGeom>
              <a:avLst/>
              <a:gdLst>
                <a:gd name="T0" fmla="*/ 0 w 528"/>
                <a:gd name="T1" fmla="*/ 2147483647 h 480"/>
                <a:gd name="T2" fmla="*/ 2147483647 w 528"/>
                <a:gd name="T3" fmla="*/ 2147483647 h 480"/>
                <a:gd name="T4" fmla="*/ 0 w 528"/>
                <a:gd name="T5" fmla="*/ 2147483647 h 480"/>
                <a:gd name="T6" fmla="*/ 2147483647 w 528"/>
                <a:gd name="T7" fmla="*/ 0 h 480"/>
                <a:gd name="T8" fmla="*/ 2147483647 w 528"/>
                <a:gd name="T9" fmla="*/ 2147483647 h 480"/>
                <a:gd name="T10" fmla="*/ 2147483647 w 528"/>
                <a:gd name="T11" fmla="*/ 2147483647 h 480"/>
                <a:gd name="T12" fmla="*/ 0 w 528"/>
                <a:gd name="T13" fmla="*/ 2147483647 h 4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28"/>
                <a:gd name="T22" fmla="*/ 0 h 480"/>
                <a:gd name="T23" fmla="*/ 528 w 528"/>
                <a:gd name="T24" fmla="*/ 480 h 48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28" h="480">
                  <a:moveTo>
                    <a:pt x="0" y="480"/>
                  </a:moveTo>
                  <a:lnTo>
                    <a:pt x="240" y="240"/>
                  </a:lnTo>
                  <a:lnTo>
                    <a:pt x="0" y="240"/>
                  </a:lnTo>
                  <a:lnTo>
                    <a:pt x="528" y="0"/>
                  </a:lnTo>
                  <a:lnTo>
                    <a:pt x="288" y="192"/>
                  </a:lnTo>
                  <a:lnTo>
                    <a:pt x="432" y="192"/>
                  </a:lnTo>
                  <a:lnTo>
                    <a:pt x="0" y="480"/>
                  </a:ln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</p:grpSp>
      <p:sp>
        <p:nvSpPr>
          <p:cNvPr id="158725" name="Content Placeholder 2"/>
          <p:cNvSpPr txBox="1">
            <a:spLocks/>
          </p:cNvSpPr>
          <p:nvPr/>
        </p:nvSpPr>
        <p:spPr bwMode="auto">
          <a:xfrm>
            <a:off x="495300" y="3776663"/>
            <a:ext cx="7896225" cy="207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l">
              <a:buFont typeface="Arial" charset="0"/>
              <a:buChar char="•"/>
            </a:pPr>
            <a:r>
              <a:rPr lang="en-US" sz="36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800" b="0">
                <a:solidFill>
                  <a:srgbClr val="0000FF"/>
                </a:solidFill>
                <a:latin typeface="Arial"/>
                <a:cs typeface="Arial"/>
              </a:rPr>
              <a:t>Using a dependent condition is like relying on an </a:t>
            </a:r>
            <a:r>
              <a:rPr lang="en-US" sz="2800" b="0">
                <a:solidFill>
                  <a:schemeClr val="tx1"/>
                </a:solidFill>
                <a:latin typeface="Arial"/>
                <a:cs typeface="Arial"/>
              </a:rPr>
              <a:t>oracle</a:t>
            </a:r>
            <a:r>
              <a:rPr lang="en-US" sz="2800" b="0">
                <a:solidFill>
                  <a:srgbClr val="0000FF"/>
                </a:solidFill>
                <a:latin typeface="Arial"/>
                <a:cs typeface="Arial"/>
              </a:rPr>
              <a:t> to recognize languages…</a:t>
            </a:r>
          </a:p>
          <a:p>
            <a:pPr algn="l">
              <a:buFont typeface="Arial" charset="0"/>
              <a:buChar char="•"/>
            </a:pPr>
            <a:r>
              <a:rPr lang="en-US" sz="2800" b="0">
                <a:solidFill>
                  <a:srgbClr val="0000FF"/>
                </a:solidFill>
                <a:latin typeface="Arial"/>
                <a:cs typeface="Arial"/>
              </a:rPr>
              <a:t> The dependency masks the true power of the concurrent object…</a:t>
            </a:r>
          </a:p>
          <a:p>
            <a:endParaRPr lang="en-US" sz="360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587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1397000"/>
            <a:ext cx="1644650" cy="213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8727" name="Oval Callout 36"/>
          <p:cNvSpPr>
            <a:spLocks noChangeArrowheads="1"/>
          </p:cNvSpPr>
          <p:nvPr/>
        </p:nvSpPr>
        <p:spPr bwMode="auto">
          <a:xfrm>
            <a:off x="3873500" y="1219200"/>
            <a:ext cx="2544763" cy="649288"/>
          </a:xfrm>
          <a:prstGeom prst="wedgeEllipseCallout">
            <a:avLst>
              <a:gd name="adj1" fmla="val -105338"/>
              <a:gd name="adj2" fmla="val 4869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Arial"/>
                <a:cs typeface="Arial"/>
              </a:rPr>
              <a:t>aba</a:t>
            </a:r>
            <a:r>
              <a:rPr lang="en-US" baseline="30000">
                <a:latin typeface="Arial"/>
                <a:cs typeface="Arial"/>
              </a:rPr>
              <a:t>n</a:t>
            </a:r>
            <a:r>
              <a:rPr lang="en-US">
                <a:latin typeface="Arial"/>
                <a:cs typeface="Arial"/>
              </a:rPr>
              <a:t>b</a:t>
            </a:r>
            <a:r>
              <a:rPr lang="en-US" baseline="30000">
                <a:latin typeface="Arial"/>
                <a:cs typeface="Arial"/>
              </a:rPr>
              <a:t>n</a:t>
            </a:r>
            <a:r>
              <a:rPr lang="en-US">
                <a:latin typeface="Arial"/>
                <a:cs typeface="Arial"/>
              </a:rPr>
              <a:t>a</a:t>
            </a:r>
            <a:r>
              <a:rPr lang="en-US" baseline="30000">
                <a:latin typeface="Arial"/>
                <a:cs typeface="Arial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10153193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51739576-BD51-0E4C-8C28-C176A19F9997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153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460" name="Rectangle 2"/>
          <p:cNvSpPr>
            <a:spLocks noChangeArrowheads="1"/>
          </p:cNvSpPr>
          <p:nvPr/>
        </p:nvSpPr>
        <p:spPr bwMode="auto">
          <a:xfrm>
            <a:off x="565150" y="314325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b="0" dirty="0">
                <a:solidFill>
                  <a:schemeClr val="tx2"/>
                </a:solidFill>
                <a:latin typeface="Arial"/>
                <a:ea typeface="+mn-ea"/>
                <a:cs typeface="Arial"/>
              </a:rPr>
              <a:t>Shared-Memory Computability</a:t>
            </a:r>
          </a:p>
        </p:txBody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3925888"/>
            <a:ext cx="8302625" cy="2195512"/>
          </a:xfrm>
          <a:noFill/>
        </p:spPr>
        <p:txBody>
          <a:bodyPr/>
          <a:lstStyle/>
          <a:p>
            <a:r>
              <a:rPr lang="en-US" sz="2800">
                <a:latin typeface="Arial"/>
                <a:ea typeface="ＭＳ Ｐゴシック" charset="0"/>
                <a:cs typeface="Arial"/>
              </a:rPr>
              <a:t>Independent progress: use </a:t>
            </a:r>
            <a:r>
              <a:rPr lang="en-US" sz="2800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Lock-free</a:t>
            </a:r>
            <a:r>
              <a:rPr lang="en-US" sz="2800">
                <a:latin typeface="Arial"/>
                <a:ea typeface="ＭＳ Ｐゴシック" charset="0"/>
                <a:cs typeface="Arial"/>
              </a:rPr>
              <a:t> and </a:t>
            </a:r>
            <a:r>
              <a:rPr lang="en-US" sz="2800" i="1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rPr>
              <a:t>Wait-free</a:t>
            </a:r>
            <a:r>
              <a:rPr lang="en-US" sz="2800">
                <a:latin typeface="Arial"/>
                <a:ea typeface="ＭＳ Ｐゴシック" charset="0"/>
                <a:cs typeface="Arial"/>
              </a:rPr>
              <a:t> Memory Hierarchy and Universal Constructions </a:t>
            </a:r>
          </a:p>
          <a:p>
            <a:endParaRPr lang="en-US" sz="2800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  <a:p>
            <a:endParaRPr lang="en-US" sz="2800">
              <a:solidFill>
                <a:schemeClr val="tx1"/>
              </a:solidFill>
              <a:latin typeface="Arial"/>
              <a:ea typeface="ＭＳ Ｐゴシック" charset="0"/>
              <a:cs typeface="Arial"/>
            </a:endParaRPr>
          </a:p>
        </p:txBody>
      </p:sp>
      <p:pic>
        <p:nvPicPr>
          <p:cNvPr id="159749" name="Picture 18" descr="TN00021_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1581150"/>
            <a:ext cx="1820863" cy="15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750" name="Picture 20" descr="TN00021_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91275" y="1582738"/>
            <a:ext cx="1820863" cy="154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5877" name="Text Box 21"/>
          <p:cNvSpPr txBox="1">
            <a:spLocks noChangeArrowheads="1"/>
          </p:cNvSpPr>
          <p:nvPr/>
        </p:nvSpPr>
        <p:spPr bwMode="auto">
          <a:xfrm>
            <a:off x="3914775" y="3074988"/>
            <a:ext cx="1165225" cy="46166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latin typeface="Arial"/>
                <a:ea typeface="+mn-ea"/>
                <a:cs typeface="Arial"/>
              </a:rPr>
              <a:t>10011</a:t>
            </a:r>
          </a:p>
        </p:txBody>
      </p:sp>
      <p:sp>
        <p:nvSpPr>
          <p:cNvPr id="159752" name="Text Box 22"/>
          <p:cNvSpPr txBox="1">
            <a:spLocks noChangeArrowheads="1"/>
          </p:cNvSpPr>
          <p:nvPr/>
        </p:nvSpPr>
        <p:spPr bwMode="auto">
          <a:xfrm>
            <a:off x="3465320" y="2487613"/>
            <a:ext cx="212109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2000">
                <a:latin typeface="Arial"/>
                <a:cs typeface="Arial"/>
              </a:rPr>
              <a:t>Shared Memory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 flipH="1">
            <a:off x="685800" y="1914525"/>
            <a:ext cx="1993900" cy="1401763"/>
            <a:chOff x="3430" y="2851"/>
            <a:chExt cx="1388" cy="1020"/>
          </a:xfrm>
        </p:grpSpPr>
        <p:sp>
          <p:nvSpPr>
            <p:cNvPr id="159770" name="Rectangle 50"/>
            <p:cNvSpPr>
              <a:spLocks noChangeArrowheads="1"/>
            </p:cNvSpPr>
            <p:nvPr/>
          </p:nvSpPr>
          <p:spPr bwMode="auto">
            <a:xfrm>
              <a:off x="3430" y="2851"/>
              <a:ext cx="1388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159771" name="Group 51"/>
            <p:cNvGrpSpPr>
              <a:grpSpLocks/>
            </p:cNvGrpSpPr>
            <p:nvPr/>
          </p:nvGrpSpPr>
          <p:grpSpPr bwMode="auto">
            <a:xfrm>
              <a:off x="3622" y="2994"/>
              <a:ext cx="912" cy="816"/>
              <a:chOff x="4290" y="2115"/>
              <a:chExt cx="912" cy="816"/>
            </a:xfrm>
          </p:grpSpPr>
          <p:sp>
            <p:nvSpPr>
              <p:cNvPr id="159772" name="Freeform 52"/>
              <p:cNvSpPr>
                <a:spLocks/>
              </p:cNvSpPr>
              <p:nvPr/>
            </p:nvSpPr>
            <p:spPr bwMode="auto">
              <a:xfrm flipH="1">
                <a:off x="4290" y="2355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73" name="Freeform 53"/>
              <p:cNvSpPr>
                <a:spLocks/>
              </p:cNvSpPr>
              <p:nvPr/>
            </p:nvSpPr>
            <p:spPr bwMode="auto">
              <a:xfrm flipH="1">
                <a:off x="4498" y="2211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74" name="Freeform 54"/>
              <p:cNvSpPr>
                <a:spLocks/>
              </p:cNvSpPr>
              <p:nvPr/>
            </p:nvSpPr>
            <p:spPr bwMode="auto">
              <a:xfrm flipH="1">
                <a:off x="4722" y="2115"/>
                <a:ext cx="144" cy="288"/>
              </a:xfrm>
              <a:custGeom>
                <a:avLst/>
                <a:gdLst>
                  <a:gd name="T0" fmla="*/ 0 w 144"/>
                  <a:gd name="T1" fmla="*/ 3 h 336"/>
                  <a:gd name="T2" fmla="*/ 96 w 144"/>
                  <a:gd name="T3" fmla="*/ 0 h 336"/>
                  <a:gd name="T4" fmla="*/ 144 w 144"/>
                  <a:gd name="T5" fmla="*/ 3 h 336"/>
                  <a:gd name="T6" fmla="*/ 144 w 144"/>
                  <a:gd name="T7" fmla="*/ 21 h 336"/>
                  <a:gd name="T8" fmla="*/ 96 w 144"/>
                  <a:gd name="T9" fmla="*/ 18 h 336"/>
                  <a:gd name="T10" fmla="*/ 96 w 144"/>
                  <a:gd name="T11" fmla="*/ 6 h 336"/>
                  <a:gd name="T12" fmla="*/ 0 w 144"/>
                  <a:gd name="T13" fmla="*/ 9 h 336"/>
                  <a:gd name="T14" fmla="*/ 0 w 144"/>
                  <a:gd name="T15" fmla="*/ 3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75" name="Freeform 55"/>
              <p:cNvSpPr>
                <a:spLocks/>
              </p:cNvSpPr>
              <p:nvPr/>
            </p:nvSpPr>
            <p:spPr bwMode="auto">
              <a:xfrm flipH="1">
                <a:off x="4338" y="2115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76" name="Freeform 56"/>
              <p:cNvSpPr>
                <a:spLocks/>
              </p:cNvSpPr>
              <p:nvPr/>
            </p:nvSpPr>
            <p:spPr bwMode="auto">
              <a:xfrm flipH="1">
                <a:off x="4626" y="2211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77" name="Freeform 57"/>
              <p:cNvSpPr>
                <a:spLocks/>
              </p:cNvSpPr>
              <p:nvPr/>
            </p:nvSpPr>
            <p:spPr bwMode="auto">
              <a:xfrm flipH="1">
                <a:off x="4338" y="2451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78" name="Freeform 58"/>
              <p:cNvSpPr>
                <a:spLocks/>
              </p:cNvSpPr>
              <p:nvPr/>
            </p:nvSpPr>
            <p:spPr bwMode="auto">
              <a:xfrm flipH="1">
                <a:off x="4626" y="2595"/>
                <a:ext cx="240" cy="336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2 h 432"/>
                  <a:gd name="T4" fmla="*/ 1 w 336"/>
                  <a:gd name="T5" fmla="*/ 2 h 432"/>
                  <a:gd name="T6" fmla="*/ 1 w 336"/>
                  <a:gd name="T7" fmla="*/ 4 h 432"/>
                  <a:gd name="T8" fmla="*/ 0 w 336"/>
                  <a:gd name="T9" fmla="*/ 3 h 432"/>
                  <a:gd name="T10" fmla="*/ 0 w 336"/>
                  <a:gd name="T11" fmla="*/ 2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79" name="Freeform 59"/>
              <p:cNvSpPr>
                <a:spLocks/>
              </p:cNvSpPr>
              <p:nvPr/>
            </p:nvSpPr>
            <p:spPr bwMode="auto">
              <a:xfrm flipH="1">
                <a:off x="4818" y="2451"/>
                <a:ext cx="240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80" name="Freeform 60"/>
              <p:cNvSpPr>
                <a:spLocks/>
              </p:cNvSpPr>
              <p:nvPr/>
            </p:nvSpPr>
            <p:spPr bwMode="auto">
              <a:xfrm flipH="1">
                <a:off x="5010" y="2307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6388100" y="1914525"/>
            <a:ext cx="1993900" cy="1401763"/>
            <a:chOff x="3430" y="2851"/>
            <a:chExt cx="1388" cy="1020"/>
          </a:xfrm>
        </p:grpSpPr>
        <p:sp>
          <p:nvSpPr>
            <p:cNvPr id="159759" name="Rectangle 62"/>
            <p:cNvSpPr>
              <a:spLocks noChangeArrowheads="1"/>
            </p:cNvSpPr>
            <p:nvPr/>
          </p:nvSpPr>
          <p:spPr bwMode="auto">
            <a:xfrm>
              <a:off x="3430" y="2851"/>
              <a:ext cx="1388" cy="1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159760" name="Group 63"/>
            <p:cNvGrpSpPr>
              <a:grpSpLocks/>
            </p:cNvGrpSpPr>
            <p:nvPr/>
          </p:nvGrpSpPr>
          <p:grpSpPr bwMode="auto">
            <a:xfrm>
              <a:off x="3622" y="2994"/>
              <a:ext cx="912" cy="816"/>
              <a:chOff x="4290" y="2115"/>
              <a:chExt cx="912" cy="816"/>
            </a:xfrm>
          </p:grpSpPr>
          <p:sp>
            <p:nvSpPr>
              <p:cNvPr id="159761" name="Freeform 64"/>
              <p:cNvSpPr>
                <a:spLocks/>
              </p:cNvSpPr>
              <p:nvPr/>
            </p:nvSpPr>
            <p:spPr bwMode="auto">
              <a:xfrm flipH="1">
                <a:off x="4290" y="2355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62" name="Freeform 65"/>
              <p:cNvSpPr>
                <a:spLocks/>
              </p:cNvSpPr>
              <p:nvPr/>
            </p:nvSpPr>
            <p:spPr bwMode="auto">
              <a:xfrm flipH="1">
                <a:off x="4498" y="2211"/>
                <a:ext cx="144" cy="336"/>
              </a:xfrm>
              <a:custGeom>
                <a:avLst/>
                <a:gdLst>
                  <a:gd name="T0" fmla="*/ 0 w 144"/>
                  <a:gd name="T1" fmla="*/ 48 h 336"/>
                  <a:gd name="T2" fmla="*/ 96 w 144"/>
                  <a:gd name="T3" fmla="*/ 0 h 336"/>
                  <a:gd name="T4" fmla="*/ 144 w 144"/>
                  <a:gd name="T5" fmla="*/ 48 h 336"/>
                  <a:gd name="T6" fmla="*/ 144 w 144"/>
                  <a:gd name="T7" fmla="*/ 336 h 336"/>
                  <a:gd name="T8" fmla="*/ 96 w 144"/>
                  <a:gd name="T9" fmla="*/ 288 h 336"/>
                  <a:gd name="T10" fmla="*/ 96 w 144"/>
                  <a:gd name="T11" fmla="*/ 96 h 336"/>
                  <a:gd name="T12" fmla="*/ 0 w 144"/>
                  <a:gd name="T13" fmla="*/ 144 h 336"/>
                  <a:gd name="T14" fmla="*/ 0 w 144"/>
                  <a:gd name="T15" fmla="*/ 48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63" name="Freeform 66"/>
              <p:cNvSpPr>
                <a:spLocks/>
              </p:cNvSpPr>
              <p:nvPr/>
            </p:nvSpPr>
            <p:spPr bwMode="auto">
              <a:xfrm flipH="1">
                <a:off x="4722" y="2115"/>
                <a:ext cx="144" cy="288"/>
              </a:xfrm>
              <a:custGeom>
                <a:avLst/>
                <a:gdLst>
                  <a:gd name="T0" fmla="*/ 0 w 144"/>
                  <a:gd name="T1" fmla="*/ 3 h 336"/>
                  <a:gd name="T2" fmla="*/ 96 w 144"/>
                  <a:gd name="T3" fmla="*/ 0 h 336"/>
                  <a:gd name="T4" fmla="*/ 144 w 144"/>
                  <a:gd name="T5" fmla="*/ 3 h 336"/>
                  <a:gd name="T6" fmla="*/ 144 w 144"/>
                  <a:gd name="T7" fmla="*/ 21 h 336"/>
                  <a:gd name="T8" fmla="*/ 96 w 144"/>
                  <a:gd name="T9" fmla="*/ 18 h 336"/>
                  <a:gd name="T10" fmla="*/ 96 w 144"/>
                  <a:gd name="T11" fmla="*/ 6 h 336"/>
                  <a:gd name="T12" fmla="*/ 0 w 144"/>
                  <a:gd name="T13" fmla="*/ 9 h 336"/>
                  <a:gd name="T14" fmla="*/ 0 w 144"/>
                  <a:gd name="T15" fmla="*/ 3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4"/>
                  <a:gd name="T25" fmla="*/ 0 h 336"/>
                  <a:gd name="T26" fmla="*/ 144 w 144"/>
                  <a:gd name="T27" fmla="*/ 336 h 3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4" h="336">
                    <a:moveTo>
                      <a:pt x="0" y="48"/>
                    </a:moveTo>
                    <a:lnTo>
                      <a:pt x="96" y="0"/>
                    </a:lnTo>
                    <a:lnTo>
                      <a:pt x="144" y="48"/>
                    </a:lnTo>
                    <a:lnTo>
                      <a:pt x="144" y="336"/>
                    </a:lnTo>
                    <a:lnTo>
                      <a:pt x="96" y="288"/>
                    </a:lnTo>
                    <a:lnTo>
                      <a:pt x="96" y="96"/>
                    </a:lnTo>
                    <a:lnTo>
                      <a:pt x="0" y="144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64" name="Freeform 67"/>
              <p:cNvSpPr>
                <a:spLocks/>
              </p:cNvSpPr>
              <p:nvPr/>
            </p:nvSpPr>
            <p:spPr bwMode="auto">
              <a:xfrm flipH="1">
                <a:off x="4338" y="2115"/>
                <a:ext cx="789" cy="535"/>
              </a:xfrm>
              <a:custGeom>
                <a:avLst/>
                <a:gdLst>
                  <a:gd name="T0" fmla="*/ 261 w 789"/>
                  <a:gd name="T1" fmla="*/ 0 h 535"/>
                  <a:gd name="T2" fmla="*/ 789 w 789"/>
                  <a:gd name="T3" fmla="*/ 336 h 535"/>
                  <a:gd name="T4" fmla="*/ 494 w 789"/>
                  <a:gd name="T5" fmla="*/ 535 h 535"/>
                  <a:gd name="T6" fmla="*/ 0 w 789"/>
                  <a:gd name="T7" fmla="*/ 96 h 535"/>
                  <a:gd name="T8" fmla="*/ 261 w 789"/>
                  <a:gd name="T9" fmla="*/ 0 h 5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9"/>
                  <a:gd name="T16" fmla="*/ 0 h 535"/>
                  <a:gd name="T17" fmla="*/ 789 w 789"/>
                  <a:gd name="T18" fmla="*/ 535 h 5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9" h="535">
                    <a:moveTo>
                      <a:pt x="261" y="0"/>
                    </a:moveTo>
                    <a:lnTo>
                      <a:pt x="789" y="336"/>
                    </a:lnTo>
                    <a:lnTo>
                      <a:pt x="494" y="535"/>
                    </a:lnTo>
                    <a:lnTo>
                      <a:pt x="0" y="96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FF33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65" name="Freeform 68"/>
              <p:cNvSpPr>
                <a:spLocks/>
              </p:cNvSpPr>
              <p:nvPr/>
            </p:nvSpPr>
            <p:spPr bwMode="auto">
              <a:xfrm flipH="1">
                <a:off x="4626" y="2211"/>
                <a:ext cx="491" cy="567"/>
              </a:xfrm>
              <a:custGeom>
                <a:avLst/>
                <a:gdLst>
                  <a:gd name="T0" fmla="*/ 11 w 491"/>
                  <a:gd name="T1" fmla="*/ 0 h 567"/>
                  <a:gd name="T2" fmla="*/ 491 w 491"/>
                  <a:gd name="T3" fmla="*/ 432 h 567"/>
                  <a:gd name="T4" fmla="*/ 484 w 491"/>
                  <a:gd name="T5" fmla="*/ 567 h 567"/>
                  <a:gd name="T6" fmla="*/ 0 w 491"/>
                  <a:gd name="T7" fmla="*/ 119 h 567"/>
                  <a:gd name="T8" fmla="*/ 11 w 491"/>
                  <a:gd name="T9" fmla="*/ 0 h 5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1"/>
                  <a:gd name="T16" fmla="*/ 0 h 567"/>
                  <a:gd name="T17" fmla="*/ 491 w 491"/>
                  <a:gd name="T18" fmla="*/ 567 h 5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1" h="567">
                    <a:moveTo>
                      <a:pt x="11" y="0"/>
                    </a:moveTo>
                    <a:lnTo>
                      <a:pt x="491" y="432"/>
                    </a:lnTo>
                    <a:lnTo>
                      <a:pt x="484" y="567"/>
                    </a:lnTo>
                    <a:lnTo>
                      <a:pt x="0" y="11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F33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66" name="Freeform 69"/>
              <p:cNvSpPr>
                <a:spLocks/>
              </p:cNvSpPr>
              <p:nvPr/>
            </p:nvSpPr>
            <p:spPr bwMode="auto">
              <a:xfrm flipH="1">
                <a:off x="4338" y="2451"/>
                <a:ext cx="304" cy="327"/>
              </a:xfrm>
              <a:custGeom>
                <a:avLst/>
                <a:gdLst>
                  <a:gd name="T0" fmla="*/ 304 w 304"/>
                  <a:gd name="T1" fmla="*/ 0 h 327"/>
                  <a:gd name="T2" fmla="*/ 304 w 304"/>
                  <a:gd name="T3" fmla="*/ 96 h 327"/>
                  <a:gd name="T4" fmla="*/ 0 w 304"/>
                  <a:gd name="T5" fmla="*/ 327 h 327"/>
                  <a:gd name="T6" fmla="*/ 18 w 304"/>
                  <a:gd name="T7" fmla="*/ 181 h 327"/>
                  <a:gd name="T8" fmla="*/ 304 w 304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327"/>
                  <a:gd name="T17" fmla="*/ 304 w 304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327">
                    <a:moveTo>
                      <a:pt x="304" y="0"/>
                    </a:moveTo>
                    <a:lnTo>
                      <a:pt x="304" y="96"/>
                    </a:lnTo>
                    <a:lnTo>
                      <a:pt x="0" y="327"/>
                    </a:lnTo>
                    <a:lnTo>
                      <a:pt x="18" y="181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FF33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67" name="Freeform 70"/>
              <p:cNvSpPr>
                <a:spLocks/>
              </p:cNvSpPr>
              <p:nvPr/>
            </p:nvSpPr>
            <p:spPr bwMode="auto">
              <a:xfrm flipH="1">
                <a:off x="4626" y="2595"/>
                <a:ext cx="240" cy="336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2 h 432"/>
                  <a:gd name="T4" fmla="*/ 1 w 336"/>
                  <a:gd name="T5" fmla="*/ 2 h 432"/>
                  <a:gd name="T6" fmla="*/ 1 w 336"/>
                  <a:gd name="T7" fmla="*/ 4 h 432"/>
                  <a:gd name="T8" fmla="*/ 0 w 336"/>
                  <a:gd name="T9" fmla="*/ 3 h 432"/>
                  <a:gd name="T10" fmla="*/ 0 w 336"/>
                  <a:gd name="T11" fmla="*/ 2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68" name="Freeform 71"/>
              <p:cNvSpPr>
                <a:spLocks/>
              </p:cNvSpPr>
              <p:nvPr/>
            </p:nvSpPr>
            <p:spPr bwMode="auto">
              <a:xfrm flipH="1">
                <a:off x="4818" y="2451"/>
                <a:ext cx="240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159769" name="Freeform 72"/>
              <p:cNvSpPr>
                <a:spLocks/>
              </p:cNvSpPr>
              <p:nvPr/>
            </p:nvSpPr>
            <p:spPr bwMode="auto">
              <a:xfrm flipH="1">
                <a:off x="5010" y="2307"/>
                <a:ext cx="192" cy="288"/>
              </a:xfrm>
              <a:custGeom>
                <a:avLst/>
                <a:gdLst>
                  <a:gd name="T0" fmla="*/ 1 w 336"/>
                  <a:gd name="T1" fmla="*/ 0 h 432"/>
                  <a:gd name="T2" fmla="*/ 1 w 336"/>
                  <a:gd name="T3" fmla="*/ 1 h 432"/>
                  <a:gd name="T4" fmla="*/ 1 w 336"/>
                  <a:gd name="T5" fmla="*/ 1 h 432"/>
                  <a:gd name="T6" fmla="*/ 1 w 336"/>
                  <a:gd name="T7" fmla="*/ 1 h 432"/>
                  <a:gd name="T8" fmla="*/ 0 w 336"/>
                  <a:gd name="T9" fmla="*/ 1 h 432"/>
                  <a:gd name="T10" fmla="*/ 0 w 336"/>
                  <a:gd name="T11" fmla="*/ 1 h 432"/>
                  <a:gd name="T12" fmla="*/ 1 w 336"/>
                  <a:gd name="T13" fmla="*/ 0 h 4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36"/>
                  <a:gd name="T22" fmla="*/ 0 h 432"/>
                  <a:gd name="T23" fmla="*/ 336 w 336"/>
                  <a:gd name="T24" fmla="*/ 432 h 4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36" h="432">
                    <a:moveTo>
                      <a:pt x="192" y="0"/>
                    </a:moveTo>
                    <a:lnTo>
                      <a:pt x="336" y="96"/>
                    </a:lnTo>
                    <a:lnTo>
                      <a:pt x="96" y="144"/>
                    </a:lnTo>
                    <a:lnTo>
                      <a:pt x="96" y="432"/>
                    </a:lnTo>
                    <a:lnTo>
                      <a:pt x="0" y="336"/>
                    </a:lnTo>
                    <a:lnTo>
                      <a:pt x="0" y="48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</p:grpSp>
      <p:sp>
        <p:nvSpPr>
          <p:cNvPr id="159755" name="Rectangle 73"/>
          <p:cNvSpPr>
            <a:spLocks noChangeArrowheads="1"/>
          </p:cNvSpPr>
          <p:nvPr/>
        </p:nvSpPr>
        <p:spPr bwMode="auto">
          <a:xfrm>
            <a:off x="2082800" y="1524000"/>
            <a:ext cx="762000" cy="774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59756" name="Rectangle 74"/>
          <p:cNvSpPr>
            <a:spLocks noChangeArrowheads="1"/>
          </p:cNvSpPr>
          <p:nvPr/>
        </p:nvSpPr>
        <p:spPr bwMode="auto">
          <a:xfrm>
            <a:off x="6261100" y="1422400"/>
            <a:ext cx="762000" cy="774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59757" name="Freeform 75"/>
          <p:cNvSpPr>
            <a:spLocks/>
          </p:cNvSpPr>
          <p:nvPr/>
        </p:nvSpPr>
        <p:spPr bwMode="auto">
          <a:xfrm rot="21014026" flipH="1">
            <a:off x="2787650" y="2735263"/>
            <a:ext cx="700088" cy="636587"/>
          </a:xfrm>
          <a:custGeom>
            <a:avLst/>
            <a:gdLst>
              <a:gd name="T0" fmla="*/ 0 w 528"/>
              <a:gd name="T1" fmla="*/ 2147483647 h 480"/>
              <a:gd name="T2" fmla="*/ 2147483647 w 528"/>
              <a:gd name="T3" fmla="*/ 2147483647 h 480"/>
              <a:gd name="T4" fmla="*/ 0 w 528"/>
              <a:gd name="T5" fmla="*/ 2147483647 h 480"/>
              <a:gd name="T6" fmla="*/ 2147483647 w 528"/>
              <a:gd name="T7" fmla="*/ 0 h 480"/>
              <a:gd name="T8" fmla="*/ 2147483647 w 528"/>
              <a:gd name="T9" fmla="*/ 2147483647 h 480"/>
              <a:gd name="T10" fmla="*/ 2147483647 w 528"/>
              <a:gd name="T11" fmla="*/ 2147483647 h 480"/>
              <a:gd name="T12" fmla="*/ 0 w 528"/>
              <a:gd name="T13" fmla="*/ 2147483647 h 4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28"/>
              <a:gd name="T22" fmla="*/ 0 h 480"/>
              <a:gd name="T23" fmla="*/ 528 w 528"/>
              <a:gd name="T24" fmla="*/ 480 h 48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28" h="480">
                <a:moveTo>
                  <a:pt x="0" y="480"/>
                </a:moveTo>
                <a:lnTo>
                  <a:pt x="240" y="240"/>
                </a:lnTo>
                <a:lnTo>
                  <a:pt x="0" y="240"/>
                </a:lnTo>
                <a:lnTo>
                  <a:pt x="528" y="0"/>
                </a:lnTo>
                <a:lnTo>
                  <a:pt x="288" y="192"/>
                </a:lnTo>
                <a:lnTo>
                  <a:pt x="432" y="192"/>
                </a:lnTo>
                <a:lnTo>
                  <a:pt x="0" y="480"/>
                </a:lnTo>
                <a:close/>
              </a:path>
            </a:pathLst>
          </a:custGeom>
          <a:solidFill>
            <a:srgbClr val="FFFF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159758" name="Freeform 76"/>
          <p:cNvSpPr>
            <a:spLocks/>
          </p:cNvSpPr>
          <p:nvPr/>
        </p:nvSpPr>
        <p:spPr bwMode="auto">
          <a:xfrm rot="585974">
            <a:off x="5619750" y="2722563"/>
            <a:ext cx="700088" cy="636587"/>
          </a:xfrm>
          <a:custGeom>
            <a:avLst/>
            <a:gdLst>
              <a:gd name="T0" fmla="*/ 0 w 528"/>
              <a:gd name="T1" fmla="*/ 2147483647 h 480"/>
              <a:gd name="T2" fmla="*/ 2147483647 w 528"/>
              <a:gd name="T3" fmla="*/ 2147483647 h 480"/>
              <a:gd name="T4" fmla="*/ 0 w 528"/>
              <a:gd name="T5" fmla="*/ 2147483647 h 480"/>
              <a:gd name="T6" fmla="*/ 2147483647 w 528"/>
              <a:gd name="T7" fmla="*/ 0 h 480"/>
              <a:gd name="T8" fmla="*/ 2147483647 w 528"/>
              <a:gd name="T9" fmla="*/ 2147483647 h 480"/>
              <a:gd name="T10" fmla="*/ 2147483647 w 528"/>
              <a:gd name="T11" fmla="*/ 2147483647 h 480"/>
              <a:gd name="T12" fmla="*/ 0 w 528"/>
              <a:gd name="T13" fmla="*/ 2147483647 h 4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28"/>
              <a:gd name="T22" fmla="*/ 0 h 480"/>
              <a:gd name="T23" fmla="*/ 528 w 528"/>
              <a:gd name="T24" fmla="*/ 480 h 48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28" h="480">
                <a:moveTo>
                  <a:pt x="0" y="480"/>
                </a:moveTo>
                <a:lnTo>
                  <a:pt x="240" y="240"/>
                </a:lnTo>
                <a:lnTo>
                  <a:pt x="0" y="240"/>
                </a:lnTo>
                <a:lnTo>
                  <a:pt x="528" y="0"/>
                </a:lnTo>
                <a:lnTo>
                  <a:pt x="288" y="192"/>
                </a:lnTo>
                <a:lnTo>
                  <a:pt x="432" y="192"/>
                </a:lnTo>
                <a:lnTo>
                  <a:pt x="0" y="480"/>
                </a:lnTo>
                <a:close/>
              </a:path>
            </a:pathLst>
          </a:custGeom>
          <a:solidFill>
            <a:srgbClr val="FFFF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511849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Title 1"/>
          <p:cNvSpPr>
            <a:spLocks noGrp="1"/>
          </p:cNvSpPr>
          <p:nvPr>
            <p:ph type="title"/>
          </p:nvPr>
        </p:nvSpPr>
        <p:spPr>
          <a:xfrm>
            <a:off x="685800" y="447675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Arial"/>
                <a:ea typeface="ＭＳ Ｐゴシック" charset="0"/>
                <a:cs typeface="Arial"/>
              </a:rPr>
              <a:t>Programmers Expect the Best </a:t>
            </a:r>
          </a:p>
        </p:txBody>
      </p:sp>
      <p:sp>
        <p:nvSpPr>
          <p:cNvPr id="1607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EB0038F0-265B-004F-BA7E-BA75D2B26844}" type="slidenum">
              <a:rPr lang="ar-SA" sz="1400" b="0">
                <a:solidFill>
                  <a:schemeClr val="tx1"/>
                </a:solidFill>
                <a:latin typeface="Arial"/>
                <a:cs typeface="Arial"/>
              </a:rPr>
              <a:pPr/>
              <a:t>154</a:t>
            </a:fld>
            <a:endParaRPr lang="en-US" sz="14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60772" name="Content Placeholder 2"/>
          <p:cNvSpPr txBox="1">
            <a:spLocks/>
          </p:cNvSpPr>
          <p:nvPr/>
        </p:nvSpPr>
        <p:spPr bwMode="auto">
          <a:xfrm>
            <a:off x="977900" y="16525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l">
              <a:buFontTx/>
              <a:buChar char="•"/>
            </a:pPr>
            <a:endParaRPr lang="en-US" sz="3200" b="0" dirty="0">
              <a:solidFill>
                <a:srgbClr val="0000FF"/>
              </a:solidFill>
              <a:latin typeface="Arial"/>
              <a:cs typeface="Arial"/>
            </a:endParaRPr>
          </a:p>
          <a:p>
            <a:pPr algn="l">
              <a:buFontTx/>
              <a:buChar char="•"/>
            </a:pPr>
            <a:r>
              <a:rPr lang="en-US" sz="3200" b="0" dirty="0">
                <a:solidFill>
                  <a:srgbClr val="0000FF"/>
                </a:solidFill>
                <a:latin typeface="Arial"/>
                <a:cs typeface="Arial"/>
              </a:rPr>
              <a:t>Programmers expect maximal progress.</a:t>
            </a:r>
          </a:p>
          <a:p>
            <a:pPr algn="l">
              <a:buFontTx/>
              <a:buChar char="•"/>
            </a:pPr>
            <a:r>
              <a:rPr lang="en-US" sz="3200" b="0" dirty="0">
                <a:solidFill>
                  <a:srgbClr val="0000FF"/>
                </a:solidFill>
                <a:latin typeface="Arial"/>
                <a:cs typeface="Arial"/>
              </a:rPr>
              <a:t>Progress conditions define scheduler requirements necessary to achieve it. </a:t>
            </a:r>
          </a:p>
          <a:p>
            <a:pPr algn="l">
              <a:buFontTx/>
              <a:buChar char="•"/>
            </a:pPr>
            <a:endParaRPr lang="en-US" sz="3200" b="0" dirty="0">
              <a:solidFill>
                <a:srgbClr val="0000FF"/>
              </a:solidFill>
              <a:latin typeface="Arial"/>
              <a:cs typeface="Arial"/>
            </a:endParaRPr>
          </a:p>
          <a:p>
            <a:pPr algn="l">
              <a:buFontTx/>
              <a:buChar char="•"/>
            </a:pPr>
            <a:endParaRPr lang="en-US" sz="3200" b="0" dirty="0">
              <a:solidFill>
                <a:schemeClr val="tx1"/>
              </a:solidFill>
              <a:latin typeface="Arial"/>
              <a:cs typeface="Arial"/>
            </a:endParaRPr>
          </a:p>
          <a:p>
            <a:endParaRPr lang="en-US" sz="3200" dirty="0">
              <a:latin typeface="Arial"/>
              <a:cs typeface="Arial"/>
            </a:endParaRPr>
          </a:p>
          <a:p>
            <a:pPr>
              <a:buFontTx/>
              <a:buChar char="•"/>
            </a:pPr>
            <a:endParaRPr lang="en-US" sz="3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436504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Concludes Our Course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Principles: Mathematical foundations of multicore programming</a:t>
            </a:r>
          </a:p>
          <a:p>
            <a:r>
              <a:rPr lang="en-US" dirty="0"/>
              <a:t>Practice: How multicore software and the architectures it runs on embody these principles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Art of Multiprocessor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9C53AA-2AA1-4105-90BA-CA0A4E3568C3}" type="slidenum">
              <a:rPr lang="en-US" smtClean="0"/>
              <a:pPr>
                <a:defRPr/>
              </a:pPr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9073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Footer Placeholder 1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>
                <a:ea typeface="ＭＳ Ｐゴシック" charset="-128"/>
              </a:rPr>
              <a:t>Art of Multiprocessor Programming</a:t>
            </a:r>
          </a:p>
        </p:txBody>
      </p:sp>
      <p:sp>
        <p:nvSpPr>
          <p:cNvPr id="161795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497BD5D-30AA-410A-B899-3511DBF1F069}" type="slidenum">
              <a:rPr lang="en-US" smtClean="0"/>
              <a:pPr/>
              <a:t>156</a:t>
            </a:fld>
            <a:endParaRPr lang="en-US"/>
          </a:p>
        </p:txBody>
      </p:sp>
      <p:sp>
        <p:nvSpPr>
          <p:cNvPr id="161796" name="Rectangle 2"/>
          <p:cNvSpPr>
            <a:spLocks noChangeArrowheads="1"/>
          </p:cNvSpPr>
          <p:nvPr/>
        </p:nvSpPr>
        <p:spPr bwMode="auto">
          <a:xfrm>
            <a:off x="0" y="-6439"/>
            <a:ext cx="9144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  <a:hlinkClick r:id="rId3"/>
              </a:rPr>
              <a:t>  </a:t>
            </a:r>
            <a:r>
              <a:rPr lang="en-US" sz="1800" b="0" dirty="0">
                <a:solidFill>
                  <a:schemeClr val="tx1"/>
                </a:solidFill>
                <a:latin typeface="Arial" pitchFamily="34" charset="0"/>
              </a:rPr>
              <a:t> 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        </a:t>
            </a:r>
            <a:br>
              <a:rPr lang="en-US" b="0" dirty="0">
                <a:solidFill>
                  <a:schemeClr val="tx1"/>
                </a:solidFill>
                <a:latin typeface="Arial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This work is licensed under a 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  <a:hlinkClick r:id="rId3"/>
              </a:rPr>
              <a:t>Creative Commons Attribution-</a:t>
            </a:r>
            <a:r>
              <a:rPr lang="en-US" b="0" dirty="0" err="1">
                <a:solidFill>
                  <a:schemeClr val="tx1"/>
                </a:solidFill>
                <a:latin typeface="Arial" pitchFamily="34" charset="0"/>
                <a:hlinkClick r:id="rId3"/>
              </a:rPr>
              <a:t>ShareAlike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  <a:hlinkClick r:id="rId3"/>
              </a:rPr>
              <a:t> 2.5 License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. </a:t>
            </a:r>
          </a:p>
        </p:txBody>
      </p:sp>
      <p:pic>
        <p:nvPicPr>
          <p:cNvPr id="161797" name="Picture 3" descr="Creative Commons License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563" y="46038"/>
            <a:ext cx="8382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1798" name="Rectangle 4"/>
          <p:cNvSpPr>
            <a:spLocks noChangeArrowheads="1"/>
          </p:cNvSpPr>
          <p:nvPr/>
        </p:nvSpPr>
        <p:spPr bwMode="auto">
          <a:xfrm>
            <a:off x="684213" y="1341438"/>
            <a:ext cx="77724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buFontTx/>
              <a:buChar char="•"/>
            </a:pPr>
            <a:r>
              <a:rPr lang="en-US" sz="1800">
                <a:solidFill>
                  <a:schemeClr val="tx1"/>
                </a:solidFill>
                <a:latin typeface="Lucida Sans" pitchFamily="34" charset="0"/>
              </a:rPr>
              <a:t>You are free</a:t>
            </a:r>
            <a:r>
              <a:rPr lang="en-US" sz="1800" b="0">
                <a:solidFill>
                  <a:schemeClr val="tx1"/>
                </a:solidFill>
                <a:latin typeface="Lucida Sans" pitchFamily="34" charset="0"/>
              </a:rPr>
              <a:t>:</a:t>
            </a:r>
          </a:p>
          <a:p>
            <a:pPr marL="742950" lvl="1" indent="-285750" algn="l">
              <a:lnSpc>
                <a:spcPct val="80000"/>
              </a:lnSpc>
              <a:buFontTx/>
              <a:buChar char="–"/>
            </a:pPr>
            <a:r>
              <a:rPr lang="en-US" sz="1800">
                <a:solidFill>
                  <a:schemeClr val="tx1"/>
                </a:solidFill>
                <a:latin typeface="Lucida Sans" pitchFamily="34" charset="0"/>
              </a:rPr>
              <a:t>to Share</a:t>
            </a:r>
            <a:r>
              <a:rPr lang="en-US" sz="1800" b="0">
                <a:solidFill>
                  <a:schemeClr val="tx1"/>
                </a:solidFill>
                <a:latin typeface="Lucida Sans" pitchFamily="34" charset="0"/>
              </a:rPr>
              <a:t> — to copy, distribute and transmit the work </a:t>
            </a:r>
          </a:p>
          <a:p>
            <a:pPr marL="742950" lvl="1" indent="-285750" algn="l">
              <a:lnSpc>
                <a:spcPct val="80000"/>
              </a:lnSpc>
              <a:buFontTx/>
              <a:buChar char="–"/>
            </a:pPr>
            <a:r>
              <a:rPr lang="en-US" sz="1800">
                <a:solidFill>
                  <a:schemeClr val="tx1"/>
                </a:solidFill>
                <a:latin typeface="Lucida Sans" pitchFamily="34" charset="0"/>
              </a:rPr>
              <a:t>to Remix</a:t>
            </a:r>
            <a:r>
              <a:rPr lang="en-US" sz="1800" b="0">
                <a:solidFill>
                  <a:schemeClr val="tx1"/>
                </a:solidFill>
                <a:latin typeface="Lucida Sans" pitchFamily="34" charset="0"/>
              </a:rPr>
              <a:t> — to adapt the work </a:t>
            </a:r>
          </a:p>
          <a:p>
            <a:pPr marL="342900" indent="-342900" algn="l">
              <a:lnSpc>
                <a:spcPct val="80000"/>
              </a:lnSpc>
              <a:buFontTx/>
              <a:buChar char="•"/>
            </a:pPr>
            <a:r>
              <a:rPr lang="en-US" sz="1800">
                <a:solidFill>
                  <a:schemeClr val="tx1"/>
                </a:solidFill>
                <a:latin typeface="Lucida Sans" pitchFamily="34" charset="0"/>
              </a:rPr>
              <a:t>Under the following conditions</a:t>
            </a:r>
            <a:r>
              <a:rPr lang="en-US" sz="1800" b="0">
                <a:solidFill>
                  <a:schemeClr val="tx1"/>
                </a:solidFill>
                <a:latin typeface="Lucida Sans" pitchFamily="34" charset="0"/>
              </a:rPr>
              <a:t>:</a:t>
            </a:r>
          </a:p>
          <a:p>
            <a:pPr marL="742950" lvl="1" indent="-285750" algn="l">
              <a:lnSpc>
                <a:spcPct val="80000"/>
              </a:lnSpc>
              <a:buFontTx/>
              <a:buChar char="–"/>
            </a:pPr>
            <a:r>
              <a:rPr lang="en-US" sz="1800">
                <a:solidFill>
                  <a:schemeClr val="tx1"/>
                </a:solidFill>
                <a:latin typeface="Lucida Sans" pitchFamily="34" charset="0"/>
              </a:rPr>
              <a:t>Attribution</a:t>
            </a:r>
            <a:r>
              <a:rPr lang="en-US" sz="1800" b="0">
                <a:solidFill>
                  <a:schemeClr val="tx1"/>
                </a:solidFill>
                <a:latin typeface="Lucida Sans" pitchFamily="34" charset="0"/>
              </a:rPr>
              <a:t>. You must attribute the work to “The Art of Multiprocessor Programming” (but not in any way that suggests that the authors endorse you or your use of the work). </a:t>
            </a:r>
          </a:p>
          <a:p>
            <a:pPr marL="742950" lvl="1" indent="-285750" algn="l">
              <a:lnSpc>
                <a:spcPct val="80000"/>
              </a:lnSpc>
              <a:buFontTx/>
              <a:buChar char="–"/>
            </a:pPr>
            <a:r>
              <a:rPr lang="en-US" sz="1800">
                <a:solidFill>
                  <a:schemeClr val="tx1"/>
                </a:solidFill>
                <a:latin typeface="Lucida Sans" pitchFamily="34" charset="0"/>
              </a:rPr>
              <a:t>Share Alike</a:t>
            </a:r>
            <a:r>
              <a:rPr lang="en-US" sz="1800" b="0">
                <a:solidFill>
                  <a:schemeClr val="tx1"/>
                </a:solidFill>
                <a:latin typeface="Lucida Sans" pitchFamily="34" charset="0"/>
              </a:rPr>
              <a:t>. If you alter, transform, or build upon this work, you may distribute the resulting work only under the same, similar or a compatible license. </a:t>
            </a:r>
          </a:p>
          <a:p>
            <a:pPr marL="342900" indent="-342900" algn="l">
              <a:lnSpc>
                <a:spcPct val="80000"/>
              </a:lnSpc>
              <a:buFontTx/>
              <a:buChar char="•"/>
            </a:pPr>
            <a:r>
              <a:rPr lang="en-US" sz="1800" b="0">
                <a:solidFill>
                  <a:schemeClr val="tx1"/>
                </a:solidFill>
                <a:latin typeface="Lucida Sans" pitchFamily="34" charset="0"/>
              </a:rPr>
              <a:t>For any reuse or distribution, you must make clear to others the license terms of this work. The best way to do this is with a link to</a:t>
            </a:r>
          </a:p>
          <a:p>
            <a:pPr marL="742950" lvl="1" indent="-285750" algn="l">
              <a:lnSpc>
                <a:spcPct val="80000"/>
              </a:lnSpc>
              <a:buFontTx/>
              <a:buChar char="–"/>
            </a:pPr>
            <a:r>
              <a:rPr lang="en-US" sz="1800" b="0">
                <a:solidFill>
                  <a:schemeClr val="tx1"/>
                </a:solidFill>
                <a:latin typeface="Lucida Sans" pitchFamily="34" charset="0"/>
              </a:rPr>
              <a:t>http://creativecommons.org/licenses/by-sa/3.0/. </a:t>
            </a:r>
          </a:p>
          <a:p>
            <a:pPr marL="342900" indent="-342900" algn="l">
              <a:lnSpc>
                <a:spcPct val="80000"/>
              </a:lnSpc>
              <a:buFontTx/>
              <a:buChar char="•"/>
            </a:pPr>
            <a:r>
              <a:rPr lang="en-US" sz="1800" b="0">
                <a:solidFill>
                  <a:schemeClr val="tx1"/>
                </a:solidFill>
                <a:latin typeface="Lucida Sans" pitchFamily="34" charset="0"/>
              </a:rPr>
              <a:t>Any of the above conditions can be waived if you get permission from the copyright holder. </a:t>
            </a:r>
          </a:p>
          <a:p>
            <a:pPr marL="342900" indent="-342900" algn="l">
              <a:lnSpc>
                <a:spcPct val="80000"/>
              </a:lnSpc>
              <a:buFontTx/>
              <a:buChar char="•"/>
            </a:pPr>
            <a:r>
              <a:rPr lang="en-US" sz="1800" b="0">
                <a:solidFill>
                  <a:schemeClr val="tx1"/>
                </a:solidFill>
                <a:latin typeface="Lucida Sans" pitchFamily="34" charset="0"/>
              </a:rPr>
              <a:t>Nothing in this license impairs or restricts the author's moral rights. </a:t>
            </a:r>
          </a:p>
          <a:p>
            <a:pPr marL="342900" indent="-342900" algn="l">
              <a:lnSpc>
                <a:spcPct val="80000"/>
              </a:lnSpc>
              <a:buFontTx/>
              <a:buChar char="•"/>
            </a:pPr>
            <a:endParaRPr lang="en-US" sz="1800" b="0">
              <a:solidFill>
                <a:schemeClr val="tx1"/>
              </a:solidFill>
              <a:latin typeface="Lucida Sans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18809</TotalTime>
  <Words>9822</Words>
  <Application>Microsoft Office PowerPoint</Application>
  <PresentationFormat>Overhead</PresentationFormat>
  <Paragraphs>2159</Paragraphs>
  <Slides>156</Slides>
  <Notes>155</Notes>
  <HiddenSlides>5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156</vt:i4>
      </vt:variant>
    </vt:vector>
  </HeadingPairs>
  <TitlesOfParts>
    <vt:vector size="167" baseType="lpstr">
      <vt:lpstr>Arial</vt:lpstr>
      <vt:lpstr>CMMI10</vt:lpstr>
      <vt:lpstr>CMMI7</vt:lpstr>
      <vt:lpstr>CMR10</vt:lpstr>
      <vt:lpstr>CMSY10ORIG</vt:lpstr>
      <vt:lpstr>Comic Sans MS</vt:lpstr>
      <vt:lpstr>Courier</vt:lpstr>
      <vt:lpstr>Courier New</vt:lpstr>
      <vt:lpstr>Lucida Sans</vt:lpstr>
      <vt:lpstr>Marlett</vt:lpstr>
      <vt:lpstr>Blank Presentation</vt:lpstr>
      <vt:lpstr>Barrier Synchronization</vt:lpstr>
      <vt:lpstr>Simple Video Game</vt:lpstr>
      <vt:lpstr>Simple Video Game</vt:lpstr>
      <vt:lpstr>Simple Video Game</vt:lpstr>
      <vt:lpstr>Two-Phase Rendering</vt:lpstr>
      <vt:lpstr>Two-Phase Rendering</vt:lpstr>
      <vt:lpstr>Two-Phase Rendering</vt:lpstr>
      <vt:lpstr>Synchronization Problems</vt:lpstr>
      <vt:lpstr>Ideal Parallel Computation</vt:lpstr>
      <vt:lpstr>Ideal Parallel Computation</vt:lpstr>
      <vt:lpstr>Real-Life Parallel Computation</vt:lpstr>
      <vt:lpstr>Real-Life Parallel Computation</vt:lpstr>
      <vt:lpstr>Barrier Synchronization</vt:lpstr>
      <vt:lpstr>Barrier Synchronization</vt:lpstr>
      <vt:lpstr>Barrier Synchronization</vt:lpstr>
      <vt:lpstr>Why Do We Care?</vt:lpstr>
      <vt:lpstr>Duality</vt:lpstr>
      <vt:lpstr>Example: Parallel Prefix</vt:lpstr>
      <vt:lpstr>Parallel Prefix</vt:lpstr>
      <vt:lpstr>Parallel Prefix: Phase 1</vt:lpstr>
      <vt:lpstr>Parallel Prefix: Phase 2</vt:lpstr>
      <vt:lpstr>Parallel Prefix</vt:lpstr>
      <vt:lpstr>Prefix</vt:lpstr>
      <vt:lpstr>Prefix</vt:lpstr>
      <vt:lpstr>Prefix</vt:lpstr>
      <vt:lpstr>Prefix</vt:lpstr>
      <vt:lpstr>Prefix</vt:lpstr>
      <vt:lpstr>Where Do the Barriers Go?</vt:lpstr>
      <vt:lpstr>Where Do the Barriers Go?</vt:lpstr>
      <vt:lpstr>Where Do the Barriers Go?</vt:lpstr>
      <vt:lpstr>Barrier Implementations</vt:lpstr>
      <vt:lpstr>Barriers</vt:lpstr>
      <vt:lpstr>Barriers</vt:lpstr>
      <vt:lpstr>Barriers</vt:lpstr>
      <vt:lpstr>Barriers</vt:lpstr>
      <vt:lpstr>Barriers</vt:lpstr>
      <vt:lpstr>Barriers</vt:lpstr>
      <vt:lpstr>Barriers</vt:lpstr>
      <vt:lpstr>Barriers</vt:lpstr>
      <vt:lpstr>Reuse</vt:lpstr>
      <vt:lpstr>Barriers</vt:lpstr>
      <vt:lpstr>Barriers</vt:lpstr>
      <vt:lpstr>Barriers</vt:lpstr>
      <vt:lpstr>Barriers</vt:lpstr>
      <vt:lpstr>Uh-Oh</vt:lpstr>
      <vt:lpstr>Basic Problem</vt:lpstr>
      <vt:lpstr>Sense-Reversing Barriers</vt:lpstr>
      <vt:lpstr>Sense-Reversing Barriers</vt:lpstr>
      <vt:lpstr>Sense-Reversing Barriers</vt:lpstr>
      <vt:lpstr>Sense-Reversing Barriers</vt:lpstr>
      <vt:lpstr>Sense-Reversing Barriers</vt:lpstr>
      <vt:lpstr>Sense-Reversing Barriers</vt:lpstr>
      <vt:lpstr>Sense-Reversing Barriers</vt:lpstr>
      <vt:lpstr>Combining Tree Barriers</vt:lpstr>
      <vt:lpstr>Combining Tree Barriers</vt:lpstr>
      <vt:lpstr>Combining Tree Barrier</vt:lpstr>
      <vt:lpstr>Combining Tree Barrier</vt:lpstr>
      <vt:lpstr>Combining Tree Barrier</vt:lpstr>
      <vt:lpstr>Combining Tree Barrier</vt:lpstr>
      <vt:lpstr>Combining Tree Barrier</vt:lpstr>
      <vt:lpstr>Combining Tree Barrier</vt:lpstr>
      <vt:lpstr>Combining Tree Barrier</vt:lpstr>
      <vt:lpstr>Combining Tree Barrier</vt:lpstr>
      <vt:lpstr>Remarks</vt:lpstr>
      <vt:lpstr>Tournament Tree Barrier</vt:lpstr>
      <vt:lpstr>Tournament Tree Barriers</vt:lpstr>
      <vt:lpstr>Tournament Tree Barriers</vt:lpstr>
      <vt:lpstr>Tournament Tree Barriers</vt:lpstr>
      <vt:lpstr>Tournament Tree Barriers</vt:lpstr>
      <vt:lpstr>Tournament Tree Barriers</vt:lpstr>
      <vt:lpstr>Tournament Tree Barriers</vt:lpstr>
      <vt:lpstr>Tournament Tree Barriers</vt:lpstr>
      <vt:lpstr>Tournament Tree Barriers</vt:lpstr>
      <vt:lpstr>Tournament Barrier</vt:lpstr>
      <vt:lpstr>Tournament Barrier</vt:lpstr>
      <vt:lpstr>Tournament Barrier</vt:lpstr>
      <vt:lpstr>Tournament Barrier</vt:lpstr>
      <vt:lpstr>Tournament Barrier</vt:lpstr>
      <vt:lpstr>Tournament Barrier</vt:lpstr>
      <vt:lpstr>Tournament Barrier</vt:lpstr>
      <vt:lpstr>Tournament Barrier</vt:lpstr>
      <vt:lpstr>Tournament Barrier</vt:lpstr>
      <vt:lpstr>Tournament Barrier</vt:lpstr>
      <vt:lpstr>Tournament Barrier</vt:lpstr>
      <vt:lpstr>Tournament Barrier</vt:lpstr>
      <vt:lpstr>Tournament Barrier</vt:lpstr>
      <vt:lpstr>Tournament Barrier</vt:lpstr>
      <vt:lpstr>Tournament Barrier</vt:lpstr>
      <vt:lpstr>Remarks</vt:lpstr>
      <vt:lpstr>Dissemination Barrier</vt:lpstr>
      <vt:lpstr>Dissemination Barrier</vt:lpstr>
      <vt:lpstr>Remarks</vt:lpstr>
      <vt:lpstr>Ideas So Far</vt:lpstr>
      <vt:lpstr>Which is best for Multicore? </vt:lpstr>
      <vt:lpstr>Static Tree Barrier</vt:lpstr>
      <vt:lpstr>Static Tree Barrier</vt:lpstr>
      <vt:lpstr>Static Tree Barrier</vt:lpstr>
      <vt:lpstr>Static Tree Barrier</vt:lpstr>
      <vt:lpstr>Static Tree Barrier</vt:lpstr>
      <vt:lpstr>Static Tree Barrier</vt:lpstr>
      <vt:lpstr>Static Tree Barrier</vt:lpstr>
      <vt:lpstr>Static Tree Barrier</vt:lpstr>
      <vt:lpstr>Static Tree Barrier</vt:lpstr>
      <vt:lpstr>Static Tree Barrier</vt:lpstr>
      <vt:lpstr>Static Tree Barrier</vt:lpstr>
      <vt:lpstr>Static Tree Barrier</vt:lpstr>
      <vt:lpstr>Static Tree Barrier</vt:lpstr>
      <vt:lpstr>Static Tree Barrier</vt:lpstr>
      <vt:lpstr>Static Tree Barrier</vt:lpstr>
      <vt:lpstr>Static Tree Barrier</vt:lpstr>
      <vt:lpstr>Remarks</vt:lpstr>
      <vt:lpstr>The Nature of Progress*</vt:lpstr>
      <vt:lpstr>Concurrent Programming</vt:lpstr>
      <vt:lpstr>Concurrent Programming</vt:lpstr>
      <vt:lpstr>Progress Conditions</vt:lpstr>
      <vt:lpstr>List-Based Sets</vt:lpstr>
      <vt:lpstr>Coarse Grained Locking</vt:lpstr>
      <vt:lpstr>Fine Grained (Lock Coupling)</vt:lpstr>
      <vt:lpstr>Optimistic Fine Grained</vt:lpstr>
      <vt:lpstr>Obstruction-free contains()</vt:lpstr>
      <vt:lpstr>The Simple Snapshot is Obstruction-Free</vt:lpstr>
      <vt:lpstr>Obstruction-freedom</vt:lpstr>
      <vt:lpstr>Wait-free contains()</vt:lpstr>
      <vt:lpstr>Lazy List-based Set Alg</vt:lpstr>
      <vt:lpstr>Lock-free List-Based Set </vt:lpstr>
      <vt:lpstr>So how can this make sense?</vt:lpstr>
      <vt:lpstr>Progress Conditions</vt:lpstr>
      <vt:lpstr>A “Periodic Table” of Progress Conditions  </vt:lpstr>
      <vt:lpstr>More Formally</vt:lpstr>
      <vt:lpstr>Maximal vs. Minimal</vt:lpstr>
      <vt:lpstr>The “Periodic Table” of Progress Conditions  </vt:lpstr>
      <vt:lpstr>The Scheduler’s Role</vt:lpstr>
      <vt:lpstr>Fair Scheduling</vt:lpstr>
      <vt:lpstr>Starvation Freedom</vt:lpstr>
      <vt:lpstr>Dependent Progress</vt:lpstr>
      <vt:lpstr>Non-blocking Independent Conditions</vt:lpstr>
      <vt:lpstr>The “Periodic Table” of Progress Conditions  </vt:lpstr>
      <vt:lpstr>Uniformly Isolating Schedules</vt:lpstr>
      <vt:lpstr>A Non-blocking Dependent Condition</vt:lpstr>
      <vt:lpstr>The “Periodic Table” of Progress Conditions  </vt:lpstr>
      <vt:lpstr>The “Periodic Table” of Progress Conditions  </vt:lpstr>
      <vt:lpstr>Clash-Freedom: the “Einsteinium” of Progress</vt:lpstr>
      <vt:lpstr>Getting from Minimal to Maximal</vt:lpstr>
      <vt:lpstr>Universal Constructions</vt:lpstr>
      <vt:lpstr>Getting from Minimal to Maximal</vt:lpstr>
      <vt:lpstr>Getting from Minimal to Maximal</vt:lpstr>
      <vt:lpstr>Maximal Progress Postulate</vt:lpstr>
      <vt:lpstr>Why Lock-Free is OK</vt:lpstr>
      <vt:lpstr>PowerPoint Presentation</vt:lpstr>
      <vt:lpstr>Troubling Intellectual Question…</vt:lpstr>
      <vt:lpstr>The Answer</vt:lpstr>
      <vt:lpstr>PowerPoint Presentation</vt:lpstr>
      <vt:lpstr>PowerPoint Presentation</vt:lpstr>
      <vt:lpstr>Programmers Expect the Best </vt:lpstr>
      <vt:lpstr>This Concludes Our Course Material</vt:lpstr>
      <vt:lpstr>PowerPoint Presentation</vt:lpstr>
    </vt:vector>
  </TitlesOfParts>
  <Company>Brown University &amp; Tel Aviv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Multiprocessor Synchronization</dc:title>
  <dc:creator>Maurice Herlihy &amp; Nir Shavit</dc:creator>
  <cp:lastModifiedBy>Beth LoGiudice</cp:lastModifiedBy>
  <cp:revision>334</cp:revision>
  <cp:lastPrinted>1999-06-08T19:53:37Z</cp:lastPrinted>
  <dcterms:created xsi:type="dcterms:W3CDTF">2009-08-20T02:34:04Z</dcterms:created>
  <dcterms:modified xsi:type="dcterms:W3CDTF">2020-09-26T23:19:49Z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iveCommons_Licensed">
    <vt:bool>true</vt:bool>
  </property>
  <property fmtid="{D5CDD505-2E9C-101B-9397-08002B2CF9AE}" pid="3" name="CreativeCommons_LicenseURL">
    <vt:lpwstr>http://creativecommons.org/licenses/by/2.5/</vt:lpwstr>
  </property>
  <property fmtid="{D5CDD505-2E9C-101B-9397-08002B2CF9AE}" pid="4" name="CreativeCommons_Derivatives">
    <vt:lpwstr>Yes</vt:lpwstr>
  </property>
  <property fmtid="{D5CDD505-2E9C-101B-9397-08002B2CF9AE}" pid="5" name="CreativeCommons_CommercialUse">
    <vt:lpwstr>Yes</vt:lpwstr>
  </property>
  <property fmtid="{D5CDD505-2E9C-101B-9397-08002B2CF9AE}" pid="6" name="CreativeCommons_Jurisdiction">
    <vt:lpwstr/>
  </property>
</Properties>
</file>