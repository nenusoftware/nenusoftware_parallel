
<file path=[Content_Types].xml><?xml version="1.0" encoding="utf-8"?>
<Types xmlns="http://schemas.openxmlformats.org/package/2006/content-types">
  <Default Extension="fntdata" ContentType="application/x-fontdata"/>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2.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p:sldMasterIdLst>
    <p:sldMasterId id="2147483648" r:id="rId1"/>
  </p:sldMasterIdLst>
  <p:notesMasterIdLst>
    <p:notesMasterId r:id="rId127"/>
  </p:notesMasterIdLst>
  <p:handoutMasterIdLst>
    <p:handoutMasterId r:id="rId128"/>
  </p:handoutMasterIdLst>
  <p:sldIdLst>
    <p:sldId id="639" r:id="rId2"/>
    <p:sldId id="257" r:id="rId3"/>
    <p:sldId id="258" r:id="rId4"/>
    <p:sldId id="260" r:id="rId5"/>
    <p:sldId id="259" r:id="rId6"/>
    <p:sldId id="261" r:id="rId7"/>
    <p:sldId id="262" r:id="rId8"/>
    <p:sldId id="263" r:id="rId9"/>
    <p:sldId id="264" r:id="rId10"/>
    <p:sldId id="268" r:id="rId11"/>
    <p:sldId id="348" r:id="rId12"/>
    <p:sldId id="343" r:id="rId13"/>
    <p:sldId id="344" r:id="rId14"/>
    <p:sldId id="345" r:id="rId15"/>
    <p:sldId id="346" r:id="rId16"/>
    <p:sldId id="347" r:id="rId17"/>
    <p:sldId id="342" r:id="rId18"/>
    <p:sldId id="352" r:id="rId19"/>
    <p:sldId id="354" r:id="rId20"/>
    <p:sldId id="355" r:id="rId21"/>
    <p:sldId id="356" r:id="rId22"/>
    <p:sldId id="353" r:id="rId23"/>
    <p:sldId id="357" r:id="rId24"/>
    <p:sldId id="358" r:id="rId25"/>
    <p:sldId id="359" r:id="rId26"/>
    <p:sldId id="361" r:id="rId27"/>
    <p:sldId id="360" r:id="rId28"/>
    <p:sldId id="266" r:id="rId29"/>
    <p:sldId id="270" r:id="rId30"/>
    <p:sldId id="295" r:id="rId31"/>
    <p:sldId id="349" r:id="rId32"/>
    <p:sldId id="350" r:id="rId33"/>
    <p:sldId id="351" r:id="rId34"/>
    <p:sldId id="273" r:id="rId35"/>
    <p:sldId id="271" r:id="rId36"/>
    <p:sldId id="275" r:id="rId37"/>
    <p:sldId id="279" r:id="rId38"/>
    <p:sldId id="278" r:id="rId39"/>
    <p:sldId id="277" r:id="rId40"/>
    <p:sldId id="280" r:id="rId41"/>
    <p:sldId id="282" r:id="rId42"/>
    <p:sldId id="283" r:id="rId43"/>
    <p:sldId id="284" r:id="rId44"/>
    <p:sldId id="285" r:id="rId45"/>
    <p:sldId id="281" r:id="rId46"/>
    <p:sldId id="286" r:id="rId47"/>
    <p:sldId id="287" r:id="rId48"/>
    <p:sldId id="288" r:id="rId49"/>
    <p:sldId id="289" r:id="rId50"/>
    <p:sldId id="290" r:id="rId51"/>
    <p:sldId id="301" r:id="rId52"/>
    <p:sldId id="305" r:id="rId53"/>
    <p:sldId id="306" r:id="rId54"/>
    <p:sldId id="307" r:id="rId55"/>
    <p:sldId id="308" r:id="rId56"/>
    <p:sldId id="304" r:id="rId57"/>
    <p:sldId id="299" r:id="rId58"/>
    <p:sldId id="309" r:id="rId59"/>
    <p:sldId id="367" r:id="rId60"/>
    <p:sldId id="362" r:id="rId61"/>
    <p:sldId id="363" r:id="rId62"/>
    <p:sldId id="364" r:id="rId63"/>
    <p:sldId id="365" r:id="rId64"/>
    <p:sldId id="366" r:id="rId65"/>
    <p:sldId id="368" r:id="rId66"/>
    <p:sldId id="370" r:id="rId67"/>
    <p:sldId id="369" r:id="rId68"/>
    <p:sldId id="371" r:id="rId69"/>
    <p:sldId id="372" r:id="rId70"/>
    <p:sldId id="373" r:id="rId71"/>
    <p:sldId id="374" r:id="rId72"/>
    <p:sldId id="396" r:id="rId73"/>
    <p:sldId id="393" r:id="rId74"/>
    <p:sldId id="376" r:id="rId75"/>
    <p:sldId id="394" r:id="rId76"/>
    <p:sldId id="395" r:id="rId77"/>
    <p:sldId id="377" r:id="rId78"/>
    <p:sldId id="378" r:id="rId79"/>
    <p:sldId id="379" r:id="rId80"/>
    <p:sldId id="380" r:id="rId81"/>
    <p:sldId id="381" r:id="rId82"/>
    <p:sldId id="382" r:id="rId83"/>
    <p:sldId id="383" r:id="rId84"/>
    <p:sldId id="384" r:id="rId85"/>
    <p:sldId id="385" r:id="rId86"/>
    <p:sldId id="397" r:id="rId87"/>
    <p:sldId id="387" r:id="rId88"/>
    <p:sldId id="388" r:id="rId89"/>
    <p:sldId id="389" r:id="rId90"/>
    <p:sldId id="390" r:id="rId91"/>
    <p:sldId id="391" r:id="rId92"/>
    <p:sldId id="411" r:id="rId93"/>
    <p:sldId id="431" r:id="rId94"/>
    <p:sldId id="429" r:id="rId95"/>
    <p:sldId id="410" r:id="rId96"/>
    <p:sldId id="412" r:id="rId97"/>
    <p:sldId id="413" r:id="rId98"/>
    <p:sldId id="416" r:id="rId99"/>
    <p:sldId id="415" r:id="rId100"/>
    <p:sldId id="414" r:id="rId101"/>
    <p:sldId id="417" r:id="rId102"/>
    <p:sldId id="430" r:id="rId103"/>
    <p:sldId id="418" r:id="rId104"/>
    <p:sldId id="419" r:id="rId105"/>
    <p:sldId id="421" r:id="rId106"/>
    <p:sldId id="422" r:id="rId107"/>
    <p:sldId id="423" r:id="rId108"/>
    <p:sldId id="424" r:id="rId109"/>
    <p:sldId id="425" r:id="rId110"/>
    <p:sldId id="426" r:id="rId111"/>
    <p:sldId id="427" r:id="rId112"/>
    <p:sldId id="428" r:id="rId113"/>
    <p:sldId id="420" r:id="rId114"/>
    <p:sldId id="399" r:id="rId115"/>
    <p:sldId id="400" r:id="rId116"/>
    <p:sldId id="402" r:id="rId117"/>
    <p:sldId id="403" r:id="rId118"/>
    <p:sldId id="405" r:id="rId119"/>
    <p:sldId id="404" r:id="rId120"/>
    <p:sldId id="406" r:id="rId121"/>
    <p:sldId id="407" r:id="rId122"/>
    <p:sldId id="408" r:id="rId123"/>
    <p:sldId id="409" r:id="rId124"/>
    <p:sldId id="398" r:id="rId125"/>
    <p:sldId id="725" r:id="rId126"/>
  </p:sldIdLst>
  <p:sldSz cx="9144000" cy="6858000" type="overhead"/>
  <p:notesSz cx="7315200" cy="9601200"/>
  <p:embeddedFontLst>
    <p:embeddedFont>
      <p:font typeface="CMMI10" panose="020B0604020202020204"/>
      <p:regular r:id="rId129"/>
    </p:embeddedFont>
    <p:embeddedFont>
      <p:font typeface="CMMI7" panose="020B0604020202020204"/>
      <p:regular r:id="rId130"/>
    </p:embeddedFont>
    <p:embeddedFont>
      <p:font typeface="CMR10" panose="020B0604020202020204"/>
      <p:regular r:id="rId131"/>
    </p:embeddedFont>
    <p:embeddedFont>
      <p:font typeface="cmsy10" panose="020B0604020202020204"/>
      <p:regular r:id="rId132"/>
    </p:embeddedFont>
    <p:embeddedFont>
      <p:font typeface="CMSY10ORIG" panose="020B0604020202020204"/>
      <p:regular r:id="rId133"/>
    </p:embeddedFont>
    <p:embeddedFont>
      <p:font typeface="Comic Sans MS" panose="030F0702030302020204" pitchFamily="66" charset="0"/>
      <p:regular r:id="rId134"/>
      <p:bold r:id="rId135"/>
      <p:italic r:id="rId136"/>
      <p:boldItalic r:id="rId137"/>
    </p:embeddedFont>
    <p:embeddedFont>
      <p:font typeface="Lucida Sans" panose="020B0602030504020204" pitchFamily="34" charset="0"/>
      <p:regular r:id="rId138"/>
      <p:bold r:id="rId139"/>
      <p:italic r:id="rId140"/>
      <p:boldItalic r:id="rId141"/>
    </p:embeddedFont>
    <p:embeddedFont>
      <p:font typeface="Marlett" pitchFamily="2" charset="2"/>
      <p:regular r:id="rId142"/>
    </p:embeddedFont>
  </p:embeddedFontLst>
  <p:custDataLst>
    <p:tags r:id="rId143"/>
  </p:custDataLst>
  <p:defaultTextStyle>
    <a:defPPr>
      <a:defRPr lang="en-US"/>
    </a:defPPr>
    <a:lvl1pPr algn="r" rtl="0" eaLnBrk="0" fontAlgn="base" hangingPunct="0">
      <a:spcBef>
        <a:spcPct val="0"/>
      </a:spcBef>
      <a:spcAft>
        <a:spcPct val="0"/>
      </a:spcAft>
      <a:defRPr sz="2400" kern="1200">
        <a:solidFill>
          <a:srgbClr val="0000FF"/>
        </a:solidFill>
        <a:latin typeface="Comic Sans MS" pitchFamily="66" charset="0"/>
        <a:ea typeface="+mn-ea"/>
        <a:cs typeface="+mn-cs"/>
      </a:defRPr>
    </a:lvl1pPr>
    <a:lvl2pPr marL="457200" algn="r" rtl="0" eaLnBrk="0" fontAlgn="base" hangingPunct="0">
      <a:spcBef>
        <a:spcPct val="0"/>
      </a:spcBef>
      <a:spcAft>
        <a:spcPct val="0"/>
      </a:spcAft>
      <a:defRPr sz="2400" kern="1200">
        <a:solidFill>
          <a:srgbClr val="0000FF"/>
        </a:solidFill>
        <a:latin typeface="Comic Sans MS" pitchFamily="66" charset="0"/>
        <a:ea typeface="+mn-ea"/>
        <a:cs typeface="+mn-cs"/>
      </a:defRPr>
    </a:lvl2pPr>
    <a:lvl3pPr marL="914400" algn="r" rtl="0" eaLnBrk="0" fontAlgn="base" hangingPunct="0">
      <a:spcBef>
        <a:spcPct val="0"/>
      </a:spcBef>
      <a:spcAft>
        <a:spcPct val="0"/>
      </a:spcAft>
      <a:defRPr sz="2400" kern="1200">
        <a:solidFill>
          <a:srgbClr val="0000FF"/>
        </a:solidFill>
        <a:latin typeface="Comic Sans MS" pitchFamily="66" charset="0"/>
        <a:ea typeface="+mn-ea"/>
        <a:cs typeface="+mn-cs"/>
      </a:defRPr>
    </a:lvl3pPr>
    <a:lvl4pPr marL="1371600" algn="r" rtl="0" eaLnBrk="0" fontAlgn="base" hangingPunct="0">
      <a:spcBef>
        <a:spcPct val="0"/>
      </a:spcBef>
      <a:spcAft>
        <a:spcPct val="0"/>
      </a:spcAft>
      <a:defRPr sz="2400" kern="1200">
        <a:solidFill>
          <a:srgbClr val="0000FF"/>
        </a:solidFill>
        <a:latin typeface="Comic Sans MS" pitchFamily="66" charset="0"/>
        <a:ea typeface="+mn-ea"/>
        <a:cs typeface="+mn-cs"/>
      </a:defRPr>
    </a:lvl4pPr>
    <a:lvl5pPr marL="1828800" algn="r" rtl="0" eaLnBrk="0" fontAlgn="base" hangingPunct="0">
      <a:spcBef>
        <a:spcPct val="0"/>
      </a:spcBef>
      <a:spcAft>
        <a:spcPct val="0"/>
      </a:spcAft>
      <a:defRPr sz="2400" kern="1200">
        <a:solidFill>
          <a:srgbClr val="0000FF"/>
        </a:solidFill>
        <a:latin typeface="Comic Sans MS" pitchFamily="66" charset="0"/>
        <a:ea typeface="+mn-ea"/>
        <a:cs typeface="+mn-cs"/>
      </a:defRPr>
    </a:lvl5pPr>
    <a:lvl6pPr marL="2286000" algn="l" defTabSz="914400" rtl="0" eaLnBrk="1" latinLnBrk="0" hangingPunct="1">
      <a:defRPr sz="2400" kern="1200">
        <a:solidFill>
          <a:srgbClr val="0000FF"/>
        </a:solidFill>
        <a:latin typeface="Comic Sans MS" pitchFamily="66" charset="0"/>
        <a:ea typeface="+mn-ea"/>
        <a:cs typeface="+mn-cs"/>
      </a:defRPr>
    </a:lvl6pPr>
    <a:lvl7pPr marL="2743200" algn="l" defTabSz="914400" rtl="0" eaLnBrk="1" latinLnBrk="0" hangingPunct="1">
      <a:defRPr sz="2400" kern="1200">
        <a:solidFill>
          <a:srgbClr val="0000FF"/>
        </a:solidFill>
        <a:latin typeface="Comic Sans MS" pitchFamily="66" charset="0"/>
        <a:ea typeface="+mn-ea"/>
        <a:cs typeface="+mn-cs"/>
      </a:defRPr>
    </a:lvl7pPr>
    <a:lvl8pPr marL="3200400" algn="l" defTabSz="914400" rtl="0" eaLnBrk="1" latinLnBrk="0" hangingPunct="1">
      <a:defRPr sz="2400" kern="1200">
        <a:solidFill>
          <a:srgbClr val="0000FF"/>
        </a:solidFill>
        <a:latin typeface="Comic Sans MS" pitchFamily="66" charset="0"/>
        <a:ea typeface="+mn-ea"/>
        <a:cs typeface="+mn-cs"/>
      </a:defRPr>
    </a:lvl8pPr>
    <a:lvl9pPr marL="3657600" algn="l" defTabSz="914400" rtl="0" eaLnBrk="1" latinLnBrk="0" hangingPunct="1">
      <a:defRPr sz="2400" kern="1200">
        <a:solidFill>
          <a:srgbClr val="0000FF"/>
        </a:solidFill>
        <a:latin typeface="Comic Sans MS" pitchFamily="66" charset="0"/>
        <a:ea typeface="+mn-ea"/>
        <a:cs typeface="+mn-cs"/>
      </a:defRPr>
    </a:lvl9pPr>
  </p:defaultTextStyle>
  <p:extLst>
    <p:ext uri="{EFAFB233-063F-42B5-8137-9DF3F51BA10A}">
      <p15:sldGuideLst xmlns:p15="http://schemas.microsoft.com/office/powerpoint/2012/main">
        <p15:guide id="1" orient="horz" pos="2009">
          <p15:clr>
            <a:srgbClr val="A4A3A4"/>
          </p15:clr>
        </p15:guide>
        <p15:guide id="2" pos="5652">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CCCC00"/>
    <a:srgbClr val="FF66CC"/>
    <a:srgbClr val="996633"/>
    <a:srgbClr val="FF9900"/>
    <a:srgbClr val="FFFF00"/>
    <a:srgbClr val="FF7C80"/>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163" autoAdjust="0"/>
    <p:restoredTop sz="90706" autoAdjust="0"/>
  </p:normalViewPr>
  <p:slideViewPr>
    <p:cSldViewPr snapToGrid="0">
      <p:cViewPr varScale="1">
        <p:scale>
          <a:sx n="61" d="100"/>
          <a:sy n="61" d="100"/>
        </p:scale>
        <p:origin x="1528" y="14"/>
      </p:cViewPr>
      <p:guideLst>
        <p:guide orient="horz" pos="2009"/>
        <p:guide pos="5652"/>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8688"/>
    </p:cViewPr>
  </p:sorter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font" Target="fonts/font10.fntdata"/><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handoutMaster" Target="handoutMasters/handout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font" Target="fonts/font6.fntdata"/><Relationship Id="rId139" Type="http://schemas.openxmlformats.org/officeDocument/2006/relationships/font" Target="fonts/font11.fntdata"/><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font" Target="fonts/font1.fntdata"/><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font" Target="fonts/font12.fntdata"/><Relationship Id="rId14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font" Target="fonts/font2.fntdata"/><Relationship Id="rId135" Type="http://schemas.openxmlformats.org/officeDocument/2006/relationships/font" Target="fonts/font7.fntdata"/><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font" Target="fonts/font13.fntdata"/><Relationship Id="rId14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font" Target="fonts/font3.fntdata"/><Relationship Id="rId136" Type="http://schemas.openxmlformats.org/officeDocument/2006/relationships/font" Target="fonts/font8.fntdata"/><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font" Target="fonts/font14.fntdata"/><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font" Target="fonts/font9.fntdata"/><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font" Target="fonts/font4.fntdata"/><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font" Target="fonts/font5.fntdata"/><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62"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algn="l" defTabSz="966788">
              <a:defRPr sz="1300">
                <a:latin typeface="Comic Sans MS" pitchFamily="66" charset="0"/>
              </a:defRPr>
            </a:lvl1pPr>
          </a:lstStyle>
          <a:p>
            <a:pPr>
              <a:defRPr/>
            </a:pPr>
            <a:endParaRPr lang="en-US" dirty="0">
              <a:latin typeface="Arial" pitchFamily="34" charset="0"/>
            </a:endParaRPr>
          </a:p>
        </p:txBody>
      </p:sp>
      <p:sp>
        <p:nvSpPr>
          <p:cNvPr id="40963" name="Rectangle 3"/>
          <p:cNvSpPr>
            <a:spLocks noGrp="1" noChangeArrowheads="1"/>
          </p:cNvSpPr>
          <p:nvPr>
            <p:ph type="dt" sz="quarter" idx="1"/>
          </p:nvPr>
        </p:nvSpPr>
        <p:spPr bwMode="auto">
          <a:xfrm>
            <a:off x="4144963" y="0"/>
            <a:ext cx="3170237" cy="479425"/>
          </a:xfrm>
          <a:prstGeom prst="rect">
            <a:avLst/>
          </a:prstGeom>
          <a:noFill/>
          <a:ln w="9525">
            <a:noFill/>
            <a:miter lim="800000"/>
            <a:headEnd/>
            <a:tailEnd/>
          </a:ln>
          <a:effectLst/>
        </p:spPr>
        <p:txBody>
          <a:bodyPr vert="horz" wrap="none" lIns="96661" tIns="48331" rIns="96661" bIns="48331" numCol="1" anchor="ctr" anchorCtr="0" compatLnSpc="1">
            <a:prstTxWarp prst="textNoShape">
              <a:avLst/>
            </a:prstTxWarp>
          </a:bodyPr>
          <a:lstStyle>
            <a:lvl1pPr defTabSz="966788">
              <a:defRPr sz="1300">
                <a:latin typeface="Comic Sans MS" pitchFamily="66" charset="0"/>
              </a:defRPr>
            </a:lvl1pPr>
          </a:lstStyle>
          <a:p>
            <a:pPr>
              <a:defRPr/>
            </a:pPr>
            <a:endParaRPr lang="en-US" dirty="0">
              <a:latin typeface="Arial" pitchFamily="34" charset="0"/>
            </a:endParaRPr>
          </a:p>
        </p:txBody>
      </p:sp>
      <p:sp>
        <p:nvSpPr>
          <p:cNvPr id="40964" name="Rectangle 4"/>
          <p:cNvSpPr>
            <a:spLocks noGrp="1" noChangeArrowheads="1"/>
          </p:cNvSpPr>
          <p:nvPr>
            <p:ph type="ftr" sz="quarter" idx="2"/>
          </p:nvPr>
        </p:nvSpPr>
        <p:spPr bwMode="auto">
          <a:xfrm>
            <a:off x="0" y="9121775"/>
            <a:ext cx="3170238"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algn="l" defTabSz="966788">
              <a:defRPr sz="1300">
                <a:latin typeface="Comic Sans MS" pitchFamily="66" charset="0"/>
              </a:defRPr>
            </a:lvl1pPr>
          </a:lstStyle>
          <a:p>
            <a:pPr>
              <a:defRPr/>
            </a:pPr>
            <a:endParaRPr lang="en-US" dirty="0">
              <a:latin typeface="Arial" pitchFamily="34" charset="0"/>
            </a:endParaRPr>
          </a:p>
        </p:txBody>
      </p:sp>
      <p:sp>
        <p:nvSpPr>
          <p:cNvPr id="40965" name="Rectangle 5"/>
          <p:cNvSpPr>
            <a:spLocks noGrp="1" noChangeArrowheads="1"/>
          </p:cNvSpPr>
          <p:nvPr>
            <p:ph type="sldNum" sz="quarter" idx="3"/>
          </p:nvPr>
        </p:nvSpPr>
        <p:spPr bwMode="auto">
          <a:xfrm>
            <a:off x="4144963" y="9121775"/>
            <a:ext cx="3170237" cy="479425"/>
          </a:xfrm>
          <a:prstGeom prst="rect">
            <a:avLst/>
          </a:prstGeom>
          <a:noFill/>
          <a:ln w="9525">
            <a:noFill/>
            <a:miter lim="800000"/>
            <a:headEnd/>
            <a:tailEnd/>
          </a:ln>
          <a:effectLst/>
        </p:spPr>
        <p:txBody>
          <a:bodyPr vert="horz" wrap="none" lIns="96661" tIns="48331" rIns="96661" bIns="48331" numCol="1" anchor="b" anchorCtr="0" compatLnSpc="1">
            <a:prstTxWarp prst="textNoShape">
              <a:avLst/>
            </a:prstTxWarp>
          </a:bodyPr>
          <a:lstStyle>
            <a:lvl1pPr defTabSz="966788">
              <a:defRPr sz="1300">
                <a:latin typeface="Comic Sans MS" pitchFamily="66" charset="0"/>
              </a:defRPr>
            </a:lvl1pPr>
          </a:lstStyle>
          <a:p>
            <a:pPr>
              <a:defRPr/>
            </a:pPr>
            <a:fld id="{EE10FA3B-84A4-475D-A369-F66CA9D84A6A}" type="slidenum">
              <a:rPr lang="x-none">
                <a:latin typeface="Arial" pitchFamily="34" charset="0"/>
              </a:rPr>
              <a:pPr>
                <a:defRPr/>
              </a:pPr>
              <a:t>‹#›</a:t>
            </a:fld>
            <a:endParaRPr lang="en-US" dirty="0">
              <a:latin typeface="Arial" pitchFamily="34" charset="0"/>
            </a:endParaRPr>
          </a:p>
        </p:txBody>
      </p:sp>
    </p:spTree>
    <p:extLst>
      <p:ext uri="{BB962C8B-B14F-4D97-AF65-F5344CB8AC3E}">
        <p14:creationId xmlns:p14="http://schemas.microsoft.com/office/powerpoint/2010/main" val="31851005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146" name="Rectangle 2"/>
          <p:cNvSpPr>
            <a:spLocks noGrp="1" noChangeArrowheads="1"/>
          </p:cNvSpPr>
          <p:nvPr>
            <p:ph type="hdr" sz="quarter"/>
          </p:nvPr>
        </p:nvSpPr>
        <p:spPr bwMode="auto">
          <a:xfrm>
            <a:off x="0" y="0"/>
            <a:ext cx="3170238"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47" name="Rectangle 3"/>
          <p:cNvSpPr>
            <a:spLocks noGrp="1" noChangeArrowheads="1"/>
          </p:cNvSpPr>
          <p:nvPr>
            <p:ph type="dt" idx="1"/>
          </p:nvPr>
        </p:nvSpPr>
        <p:spPr bwMode="auto">
          <a:xfrm>
            <a:off x="4144963" y="0"/>
            <a:ext cx="3170237" cy="479425"/>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lvl1pPr defTabSz="966788">
              <a:defRPr sz="1300">
                <a:latin typeface="Marlett" pitchFamily="2" charset="2"/>
              </a:defRPr>
            </a:lvl1pPr>
          </a:lstStyle>
          <a:p>
            <a:pPr>
              <a:defRPr/>
            </a:pPr>
            <a:endParaRPr lang="en-US"/>
          </a:p>
        </p:txBody>
      </p:sp>
      <p:sp>
        <p:nvSpPr>
          <p:cNvPr id="158724" name="Rectangle 4"/>
          <p:cNvSpPr>
            <a:spLocks noGrp="1" noRot="1" noChangeAspect="1" noChangeArrowheads="1" noTextEdit="1"/>
          </p:cNvSpPr>
          <p:nvPr>
            <p:ph type="sldImg" idx="2"/>
          </p:nvPr>
        </p:nvSpPr>
        <p:spPr bwMode="auto">
          <a:xfrm>
            <a:off x="1257300" y="720725"/>
            <a:ext cx="4800600" cy="3600450"/>
          </a:xfrm>
          <a:prstGeom prst="rect">
            <a:avLst/>
          </a:prstGeom>
          <a:noFill/>
          <a:ln w="9525">
            <a:solidFill>
              <a:srgbClr val="000000"/>
            </a:solidFill>
            <a:miter lim="800000"/>
            <a:headEnd/>
            <a:tailEnd/>
          </a:ln>
        </p:spPr>
      </p:sp>
      <p:sp>
        <p:nvSpPr>
          <p:cNvPr id="6149" name="Rectangle 5"/>
          <p:cNvSpPr>
            <a:spLocks noGrp="1" noChangeArrowheads="1"/>
          </p:cNvSpPr>
          <p:nvPr>
            <p:ph type="body" sz="quarter" idx="3"/>
          </p:nvPr>
        </p:nvSpPr>
        <p:spPr bwMode="auto">
          <a:xfrm>
            <a:off x="974725" y="4560888"/>
            <a:ext cx="5365750" cy="4319587"/>
          </a:xfrm>
          <a:prstGeom prst="rect">
            <a:avLst/>
          </a:prstGeom>
          <a:noFill/>
          <a:ln w="9525">
            <a:noFill/>
            <a:miter lim="800000"/>
            <a:headEnd/>
            <a:tailEnd/>
          </a:ln>
          <a:effectLst/>
        </p:spPr>
        <p:txBody>
          <a:bodyPr vert="horz" wrap="square" lIns="96661" tIns="48331" rIns="96661" bIns="48331" numCol="1" anchor="t" anchorCtr="0" compatLnSpc="1">
            <a:prstTxWarp prst="textNoShape">
              <a:avLst/>
            </a:prstTxWarp>
          </a:bodyPr>
          <a:lstStyle/>
          <a:p>
            <a:pPr lvl="0"/>
            <a:r>
              <a:rPr lang="en-US" noProof="0" dirty="0"/>
              <a:t>Click to 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150" name="Rectangle 6"/>
          <p:cNvSpPr>
            <a:spLocks noGrp="1" noChangeArrowheads="1"/>
          </p:cNvSpPr>
          <p:nvPr>
            <p:ph type="ftr" sz="quarter" idx="4"/>
          </p:nvPr>
        </p:nvSpPr>
        <p:spPr bwMode="auto">
          <a:xfrm>
            <a:off x="0" y="9121775"/>
            <a:ext cx="3170238"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algn="l" defTabSz="966788">
              <a:defRPr sz="1300">
                <a:latin typeface="Marlett" pitchFamily="2" charset="2"/>
              </a:defRPr>
            </a:lvl1pPr>
          </a:lstStyle>
          <a:p>
            <a:pPr>
              <a:defRPr/>
            </a:pPr>
            <a:endParaRPr lang="en-US"/>
          </a:p>
        </p:txBody>
      </p:sp>
      <p:sp>
        <p:nvSpPr>
          <p:cNvPr id="6151" name="Rectangle 7"/>
          <p:cNvSpPr>
            <a:spLocks noGrp="1" noChangeArrowheads="1"/>
          </p:cNvSpPr>
          <p:nvPr>
            <p:ph type="sldNum" sz="quarter" idx="5"/>
          </p:nvPr>
        </p:nvSpPr>
        <p:spPr bwMode="auto">
          <a:xfrm>
            <a:off x="4144963" y="9121775"/>
            <a:ext cx="3170237" cy="479425"/>
          </a:xfrm>
          <a:prstGeom prst="rect">
            <a:avLst/>
          </a:prstGeom>
          <a:noFill/>
          <a:ln w="9525">
            <a:noFill/>
            <a:miter lim="800000"/>
            <a:headEnd/>
            <a:tailEnd/>
          </a:ln>
          <a:effectLst/>
        </p:spPr>
        <p:txBody>
          <a:bodyPr vert="horz" wrap="square" lIns="96661" tIns="48331" rIns="96661" bIns="48331" numCol="1" anchor="b" anchorCtr="0" compatLnSpc="1">
            <a:prstTxWarp prst="textNoShape">
              <a:avLst/>
            </a:prstTxWarp>
          </a:bodyPr>
          <a:lstStyle>
            <a:lvl1pPr defTabSz="966788">
              <a:defRPr sz="1300">
                <a:latin typeface="Marlett" pitchFamily="2" charset="2"/>
              </a:defRPr>
            </a:lvl1pPr>
          </a:lstStyle>
          <a:p>
            <a:pPr>
              <a:defRPr/>
            </a:pPr>
            <a:fld id="{690BFAFD-4C0D-458A-8EDB-2E7F879C24D7}" type="slidenum">
              <a:rPr lang="x-none"/>
              <a:pPr>
                <a:defRPr/>
              </a:pPr>
              <a:t>‹#›</a:t>
            </a:fld>
            <a:endParaRPr lang="en-US"/>
          </a:p>
        </p:txBody>
      </p:sp>
    </p:spTree>
    <p:extLst>
      <p:ext uri="{BB962C8B-B14F-4D97-AF65-F5344CB8AC3E}">
        <p14:creationId xmlns:p14="http://schemas.microsoft.com/office/powerpoint/2010/main" val="362450932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mn-ea"/>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mn-ea"/>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mn-ea"/>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mn-ea"/>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7"/>
          <p:cNvSpPr>
            <a:spLocks noGrp="1" noChangeArrowheads="1"/>
          </p:cNvSpPr>
          <p:nvPr>
            <p:ph type="sldNum" sz="quarter" idx="5"/>
          </p:nvPr>
        </p:nvSpPr>
        <p:spPr>
          <a:ln/>
        </p:spPr>
        <p:txBody>
          <a:bodyPr/>
          <a:lstStyle/>
          <a:p>
            <a:fld id="{818C608E-EE0F-433D-BFEB-DE265B61B3FA}" type="slidenum">
              <a:rPr lang="en-US"/>
              <a:pPr/>
              <a:t>1</a:t>
            </a:fld>
            <a:endParaRPr lang="en-US"/>
          </a:p>
        </p:txBody>
      </p:sp>
      <p:sp>
        <p:nvSpPr>
          <p:cNvPr id="6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lIns="91432" tIns="45716" rIns="91432" bIns="45716" anchor="b"/>
          <a:lstStyle/>
          <a:p>
            <a:pPr algn="r" eaLnBrk="0" hangingPunct="0"/>
            <a:fld id="{4AF87DD0-A627-4EBD-82BC-B932426052A0}" type="slidenum">
              <a:rPr lang="ar-SA" sz="1200">
                <a:solidFill>
                  <a:srgbClr val="0000FF"/>
                </a:solidFill>
                <a:latin typeface="Marlett" pitchFamily="2" charset="2"/>
              </a:rPr>
              <a:pPr algn="r" eaLnBrk="0" hangingPunct="0"/>
              <a:t>1</a:t>
            </a:fld>
            <a:endParaRPr lang="en-US" sz="1200">
              <a:solidFill>
                <a:srgbClr val="0000FF"/>
              </a:solidFill>
              <a:latin typeface="Marlett" pitchFamily="2" charset="2"/>
            </a:endParaRPr>
          </a:p>
        </p:txBody>
      </p:sp>
      <p:sp>
        <p:nvSpPr>
          <p:cNvPr id="6147" name="Rectangle 2"/>
          <p:cNvSpPr>
            <a:spLocks noGrp="1" noRot="1" noChangeAspect="1" noChangeArrowheads="1" noTextEdit="1"/>
          </p:cNvSpPr>
          <p:nvPr>
            <p:ph type="sldImg"/>
          </p:nvPr>
        </p:nvSpPr>
        <p:spPr>
          <a:xfrm>
            <a:off x="1144588" y="685800"/>
            <a:ext cx="4572000" cy="3429000"/>
          </a:xfrm>
          <a:ln/>
        </p:spPr>
      </p:sp>
      <p:sp>
        <p:nvSpPr>
          <p:cNvPr id="6148" name="Rectangle 3"/>
          <p:cNvSpPr>
            <a:spLocks noGrp="1" noChangeArrowheads="1"/>
          </p:cNvSpPr>
          <p:nvPr>
            <p:ph type="body" idx="1"/>
          </p:nvPr>
        </p:nvSpPr>
        <p:spPr>
          <a:xfrm>
            <a:off x="914400" y="4343400"/>
            <a:ext cx="5029200" cy="4114800"/>
          </a:xfrm>
        </p:spPr>
        <p:txBody>
          <a:bodyPr lIns="91432" tIns="45716" rIns="91432" bIns="45716"/>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Mappers</a:t>
            </a:r>
            <a:r>
              <a:rPr lang="en-US" baseline="0" dirty="0">
                <a:latin typeface="Arial" charset="0"/>
              </a:rPr>
              <a:t> inherit from the abstract Mapper class shown here</a:t>
            </a:r>
            <a:endParaRPr lang="en-US" dirty="0">
              <a:latin typeface="Arial"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a:t>
            </a:r>
            <a:r>
              <a:rPr lang="en-US" baseline="0" dirty="0">
                <a:latin typeface="Arial" charset="0"/>
              </a:rPr>
              <a:t> first parameter type is the input: in this case, the document fragment to be counted.</a:t>
            </a:r>
            <a:endParaRPr lang="en-US" dirty="0">
              <a:latin typeface="Arial"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mapper </a:t>
            </a:r>
            <a:r>
              <a:rPr lang="en-US" dirty="0" err="1">
                <a:latin typeface="Arial" charset="0"/>
              </a:rPr>
              <a:t>extractss</a:t>
            </a:r>
            <a:r>
              <a:rPr lang="en-US" dirty="0">
                <a:latin typeface="Arial" charset="0"/>
              </a:rPr>
              <a:t> a sequence of keys from the input: in this case,</a:t>
            </a:r>
            <a:r>
              <a:rPr lang="en-US" baseline="0" dirty="0">
                <a:latin typeface="Arial" charset="0"/>
              </a:rPr>
              <a:t> individual words.</a:t>
            </a:r>
            <a:endParaRPr lang="en-US" dirty="0">
              <a:latin typeface="Arial"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14</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In Java, these methods should be used in the following structured way.</a:t>
            </a:r>
          </a:p>
          <a:p>
            <a:r>
              <a:rPr lang="en-US">
                <a:latin typeface="Arial" charset="0"/>
              </a:rPr>
              <a:t>mutex.lock();</a:t>
            </a:r>
          </a:p>
          <a:p>
            <a:r>
              <a:rPr lang="en-US">
                <a:latin typeface="Arial" charset="0"/>
              </a:rPr>
              <a:t>try {</a:t>
            </a:r>
          </a:p>
          <a:p>
            <a:r>
              <a:rPr lang="en-US">
                <a:latin typeface="Arial" charset="0"/>
              </a:rPr>
              <a:t>  ...            // body</a:t>
            </a:r>
          </a:p>
          <a:p>
            <a:r>
              <a:rPr lang="en-US">
                <a:latin typeface="Arial" charset="0"/>
              </a:rPr>
              <a:t>  } finally {</a:t>
            </a:r>
          </a:p>
          <a:p>
            <a:r>
              <a:rPr lang="en-US">
                <a:latin typeface="Arial" charset="0"/>
              </a:rPr>
              <a:t>     mutex.unlock();</a:t>
            </a:r>
          </a:p>
          <a:p>
            <a:r>
              <a:rPr lang="en-US">
                <a:latin typeface="Arial" charset="0"/>
              </a:rPr>
              <a:t>  }</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15</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Mapper</a:t>
            </a:r>
            <a:r>
              <a:rPr lang="en-US" baseline="0" dirty="0">
                <a:latin typeface="Arial" charset="0"/>
              </a:rPr>
              <a:t> inherits from </a:t>
            </a:r>
            <a:r>
              <a:rPr lang="en-US" baseline="0" dirty="0" err="1">
                <a:latin typeface="Arial" charset="0"/>
              </a:rPr>
              <a:t>RecursiveTask</a:t>
            </a:r>
            <a:r>
              <a:rPr lang="en-US" baseline="0" dirty="0">
                <a:latin typeface="Arial" charset="0"/>
              </a:rPr>
              <a:t>, which just means it is a task that runs in parallel with other tasks.</a:t>
            </a:r>
            <a:endParaRPr lang="en-US" dirty="0">
              <a:latin typeface="Arial"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16</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atin typeface="Arial" charset="0"/>
              </a:rPr>
              <a:t>In Java, these methods should be used in the following structured way.</a:t>
            </a:r>
          </a:p>
          <a:p>
            <a:r>
              <a:rPr lang="en-US">
                <a:latin typeface="Arial" charset="0"/>
              </a:rPr>
              <a:t>mutex.lock();</a:t>
            </a:r>
          </a:p>
          <a:p>
            <a:r>
              <a:rPr lang="en-US">
                <a:latin typeface="Arial" charset="0"/>
              </a:rPr>
              <a:t>try {</a:t>
            </a:r>
          </a:p>
          <a:p>
            <a:r>
              <a:rPr lang="en-US">
                <a:latin typeface="Arial" charset="0"/>
              </a:rPr>
              <a:t>  ...            // body</a:t>
            </a:r>
          </a:p>
          <a:p>
            <a:r>
              <a:rPr lang="en-US">
                <a:latin typeface="Arial" charset="0"/>
              </a:rPr>
              <a:t>  } finally {</a:t>
            </a:r>
          </a:p>
          <a:p>
            <a:r>
              <a:rPr lang="en-US">
                <a:latin typeface="Arial" charset="0"/>
              </a:rPr>
              <a:t>     mutex.unlock();</a:t>
            </a:r>
          </a:p>
          <a:p>
            <a:r>
              <a:rPr lang="en-US">
                <a:latin typeface="Arial" charset="0"/>
              </a:rPr>
              <a:t>  }</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17</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Each mapper must be given its own input.</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18</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For </a:t>
            </a:r>
            <a:r>
              <a:rPr lang="en-US" dirty="0" err="1">
                <a:latin typeface="Arial" charset="0"/>
              </a:rPr>
              <a:t>WordCount</a:t>
            </a:r>
            <a:r>
              <a:rPr lang="en-US" dirty="0">
                <a:latin typeface="Arial" charset="0"/>
              </a:rPr>
              <a:t>,</a:t>
            </a:r>
            <a:r>
              <a:rPr lang="en-US" baseline="0" dirty="0">
                <a:latin typeface="Arial" charset="0"/>
              </a:rPr>
              <a:t> we instantiate each parameter type as follows.</a:t>
            </a:r>
            <a:endParaRPr lang="en-US" dirty="0">
              <a:latin typeface="Arial"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19</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input document fragment is presented</a:t>
            </a:r>
            <a:r>
              <a:rPr lang="en-US" baseline="0" dirty="0">
                <a:latin typeface="Arial" charset="0"/>
              </a:rPr>
              <a:t> as a list of words</a:t>
            </a:r>
            <a:endParaRPr lang="en-US" dirty="0">
              <a:latin typeface="Arial"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output</a:t>
            </a:r>
            <a:r>
              <a:rPr lang="en-US" baseline="0" dirty="0">
                <a:latin typeface="Arial" charset="0"/>
              </a:rPr>
              <a:t> is a map where each key is a word found in the document fragment</a:t>
            </a:r>
            <a:endParaRPr lang="en-US" dirty="0">
              <a:latin typeface="Arial"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Each</a:t>
            </a:r>
            <a:r>
              <a:rPr lang="en-US" baseline="0" dirty="0">
                <a:latin typeface="Arial" charset="0"/>
              </a:rPr>
              <a:t> word in the document fragment is mapped to its count in the fragment (here, a long integer).</a:t>
            </a:r>
            <a:endParaRPr lang="en-US" dirty="0">
              <a:latin typeface="Arial"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In a </a:t>
            </a:r>
            <a:r>
              <a:rPr lang="en-US" dirty="0" err="1">
                <a:latin typeface="Arial" charset="0"/>
              </a:rPr>
              <a:t>RecursiveTask</a:t>
            </a:r>
            <a:r>
              <a:rPr lang="en-US" dirty="0">
                <a:latin typeface="Arial" charset="0"/>
              </a:rPr>
              <a:t>,</a:t>
            </a:r>
            <a:r>
              <a:rPr lang="en-US" baseline="0" dirty="0">
                <a:latin typeface="Arial" charset="0"/>
              </a:rPr>
              <a:t> the </a:t>
            </a:r>
            <a:r>
              <a:rPr lang="en-US" dirty="0">
                <a:latin typeface="Arial" charset="0"/>
              </a:rPr>
              <a:t>compute() method does all the work.</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compute() method creates, fills in, and returns the map</a:t>
            </a:r>
            <a:r>
              <a:rPr lang="en-US" baseline="0" dirty="0">
                <a:latin typeface="Arial" charset="0"/>
              </a:rPr>
              <a:t> holding the local word count.</a:t>
            </a:r>
            <a:endParaRPr lang="en-US" dirty="0">
              <a:latin typeface="Arial"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24</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Create an empty map from String to Long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25</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Iterate over each word in the</a:t>
            </a:r>
            <a:r>
              <a:rPr lang="en-US" baseline="0" dirty="0">
                <a:latin typeface="Arial" charset="0"/>
              </a:rPr>
              <a:t> input list of strings</a:t>
            </a:r>
            <a:endParaRPr lang="en-US" dirty="0">
              <a:latin typeface="Arial"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26</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Increment</a:t>
            </a:r>
            <a:r>
              <a:rPr lang="en-US" baseline="0" dirty="0">
                <a:latin typeface="Arial" charset="0"/>
              </a:rPr>
              <a:t> each word’s count in the map. (Never mind the arcane Java syntax here.)</a:t>
            </a:r>
            <a:endParaRPr lang="en-US" dirty="0">
              <a:latin typeface="Arial"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27</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Increment</a:t>
            </a:r>
            <a:r>
              <a:rPr lang="en-US" baseline="0" dirty="0">
                <a:latin typeface="Arial" charset="0"/>
              </a:rPr>
              <a:t> each word’s count in the map. (Never mind the arcane Java syntax here.)</a:t>
            </a:r>
            <a:endParaRPr lang="en-US" dirty="0">
              <a:latin typeface="Arial"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30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reducer is also a task.</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31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reducer is also </a:t>
            </a:r>
            <a:r>
              <a:rPr lang="en-US">
                <a:latin typeface="Arial" charset="0"/>
              </a:rPr>
              <a:t>a task.</a:t>
            </a:r>
            <a:endParaRPr lang="en-US" dirty="0">
              <a:latin typeface="Arial"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32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reducer is also </a:t>
            </a:r>
            <a:r>
              <a:rPr lang="en-US">
                <a:latin typeface="Arial" charset="0"/>
              </a:rPr>
              <a:t>a task.</a:t>
            </a:r>
            <a:endParaRPr lang="en-US" dirty="0">
              <a:latin typeface="Arial"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33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reducer is also </a:t>
            </a:r>
            <a:r>
              <a:rPr lang="en-US">
                <a:latin typeface="Arial" charset="0"/>
              </a:rPr>
              <a:t>a task.</a:t>
            </a:r>
            <a:endParaRPr lang="en-US" dirty="0">
              <a:latin typeface="Arial"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Other examples of problems that</a:t>
            </a:r>
            <a:r>
              <a:rPr lang="en-US" baseline="0" dirty="0"/>
              <a:t> lend themselves to </a:t>
            </a:r>
            <a:r>
              <a:rPr lang="en-US" baseline="0" dirty="0" err="1"/>
              <a:t>MapReduce</a:t>
            </a:r>
            <a:r>
              <a:rPr lang="en-US" baseline="0" dirty="0"/>
              <a:t> solutions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55</a:t>
            </a:fld>
            <a:endParaRPr lang="en-US"/>
          </a:p>
        </p:txBody>
      </p:sp>
    </p:spTree>
    <p:extLst>
      <p:ext uri="{BB962C8B-B14F-4D97-AF65-F5344CB8AC3E}">
        <p14:creationId xmlns:p14="http://schemas.microsoft.com/office/powerpoint/2010/main" val="264722010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a:t>
            </a:r>
            <a:r>
              <a:rPr lang="en-US" dirty="0" err="1"/>
              <a:t>MapReduce</a:t>
            </a:r>
            <a:r>
              <a:rPr lang="en-US" baseline="0" dirty="0"/>
              <a:t> usage is distributed, like Google search. Here communication is by messages, and fault-</a:t>
            </a:r>
            <a:r>
              <a:rPr lang="en-US" baseline="0" dirty="0" err="1"/>
              <a:t>tolarnce</a:t>
            </a:r>
            <a:r>
              <a:rPr lang="en-US" baseline="0" dirty="0"/>
              <a:t> is critical</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56</a:t>
            </a:fld>
            <a:endParaRPr lang="en-US"/>
          </a:p>
        </p:txBody>
      </p:sp>
    </p:spTree>
    <p:extLst>
      <p:ext uri="{BB962C8B-B14F-4D97-AF65-F5344CB8AC3E}">
        <p14:creationId xmlns:p14="http://schemas.microsoft.com/office/powerpoint/2010/main" val="281538949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we have considered the less common use of </a:t>
            </a:r>
            <a:r>
              <a:rPr lang="en-US" dirty="0" err="1"/>
              <a:t>MapReduce</a:t>
            </a:r>
            <a:r>
              <a:rPr lang="en-US" baseline="0" dirty="0"/>
              <a:t> on multicore, where communication is by shared objects. Here fault-tolerance is not considered important</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57</a:t>
            </a:fld>
            <a:endParaRPr lang="en-US"/>
          </a:p>
        </p:txBody>
      </p:sp>
    </p:spTree>
    <p:extLst>
      <p:ext uri="{BB962C8B-B14F-4D97-AF65-F5344CB8AC3E}">
        <p14:creationId xmlns:p14="http://schemas.microsoft.com/office/powerpoint/2010/main" val="274968356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Java (starting from Java 8) provides explicit support for data-parallel computation through the Stream class (nothing to do with I/O).</a:t>
            </a:r>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59</a:t>
            </a:fld>
            <a:endParaRPr lang="en-US"/>
          </a:p>
        </p:txBody>
      </p:sp>
    </p:spTree>
    <p:extLst>
      <p:ext uri="{BB962C8B-B14F-4D97-AF65-F5344CB8AC3E}">
        <p14:creationId xmlns:p14="http://schemas.microsoft.com/office/powerpoint/2010/main" val="20737875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Java (starting from Java 8) provides explicit support for data-parallel computation through the Stream class, which should not be confused with I/O streams, which are unrelated. Streams are not data structures: instead, they should be through of as pipelines that carry values from a source (often a container such as a \</a:t>
            </a:r>
            <a:r>
              <a:rPr lang="en-US" dirty="0" err="1"/>
              <a:t>cList</a:t>
            </a:r>
            <a:r>
              <a:rPr lang="en-US" dirty="0"/>
              <a:t>{}), though a series of transformations (perhaps applied in parallel), to a destination (also often a container). </a:t>
            </a:r>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60</a:t>
            </a:fld>
            <a:endParaRPr lang="en-US"/>
          </a:p>
        </p:txBody>
      </p:sp>
    </p:spTree>
    <p:extLst>
      <p:ext uri="{BB962C8B-B14F-4D97-AF65-F5344CB8AC3E}">
        <p14:creationId xmlns:p14="http://schemas.microsoft.com/office/powerpoint/2010/main" val="415147354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Streams are never modified. Instead, one can apply transformations to streams to create new streams. The compiler and</a:t>
            </a:r>
            <a:r>
              <a:rPr lang="en-US" baseline="0" dirty="0"/>
              <a:t> run-time are smart enough to make this efficient.</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61</a:t>
            </a:fld>
            <a:endParaRPr lang="en-US"/>
          </a:p>
        </p:txBody>
      </p:sp>
    </p:spTree>
    <p:extLst>
      <p:ext uri="{BB962C8B-B14F-4D97-AF65-F5344CB8AC3E}">
        <p14:creationId xmlns:p14="http://schemas.microsoft.com/office/powerpoint/2010/main" val="78976763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Creating new streams instead of modifying existing ones has several advantages: the behavior can be described cleanly, without the need for messy for-loops, index variables, and other clutter.</a:t>
            </a:r>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62</a:t>
            </a:fld>
            <a:endParaRPr lang="en-US"/>
          </a:p>
        </p:txBody>
      </p:sp>
    </p:spTree>
    <p:extLst>
      <p:ext uri="{BB962C8B-B14F-4D97-AF65-F5344CB8AC3E}">
        <p14:creationId xmlns:p14="http://schemas.microsoft.com/office/powerpoint/2010/main" val="388564696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style</a:t>
            </a:r>
            <a:r>
              <a:rPr lang="en-US" baseline="0" dirty="0"/>
              <a:t> of programming, where data structures are immutable, and computation takes place by (logically) creating new data structures, is called </a:t>
            </a:r>
            <a:r>
              <a:rPr lang="en-US" baseline="0" dirty="0" err="1"/>
              <a:t>functonal</a:t>
            </a:r>
            <a:r>
              <a:rPr lang="en-US" baseline="0" dirty="0"/>
              <a:t> programing.</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63</a:t>
            </a:fld>
            <a:endParaRPr lang="en-US"/>
          </a:p>
        </p:txBody>
      </p:sp>
    </p:spTree>
    <p:extLst>
      <p:ext uri="{BB962C8B-B14F-4D97-AF65-F5344CB8AC3E}">
        <p14:creationId xmlns:p14="http://schemas.microsoft.com/office/powerpoint/2010/main" val="11199224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a:t>
            </a:r>
            <a:r>
              <a:rPr lang="en-US" baseline="0" dirty="0"/>
              <a:t> idea of functional programming has been around for a long time. At first it was quite controversial, because while many people felt it was clean and elegant, many people thought it was to inefficient to be practical. Jim Morris was an early researcher on this topic.</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64</a:t>
            </a:fld>
            <a:endParaRPr lang="en-US"/>
          </a:p>
        </p:txBody>
      </p:sp>
    </p:spTree>
    <p:extLst>
      <p:ext uri="{BB962C8B-B14F-4D97-AF65-F5344CB8AC3E}">
        <p14:creationId xmlns:p14="http://schemas.microsoft.com/office/powerpoint/2010/main" val="249148341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Morris observed</a:t>
            </a:r>
            <a:r>
              <a:rPr lang="en-US" baseline="0" dirty="0"/>
              <a:t> that Haiku, a form of Japanese poetry, was elegant, but it can only be appreciated by others skilled in the art.</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65</a:t>
            </a:fld>
            <a:endParaRPr lang="en-US"/>
          </a:p>
        </p:txBody>
      </p:sp>
    </p:spTree>
    <p:extLst>
      <p:ext uri="{BB962C8B-B14F-4D97-AF65-F5344CB8AC3E}">
        <p14:creationId xmlns:p14="http://schemas.microsoft.com/office/powerpoint/2010/main" val="64057720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contrast, Karate, another Japanese art, can</a:t>
            </a:r>
            <a:r>
              <a:rPr lang="en-US" baseline="0" dirty="0"/>
              <a:t> also be elegant, but it works even on those unskilled in the art, as in bar-fights.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66</a:t>
            </a:fld>
            <a:endParaRPr lang="en-US"/>
          </a:p>
        </p:txBody>
      </p:sp>
    </p:spTree>
    <p:extLst>
      <p:ext uri="{BB962C8B-B14F-4D97-AF65-F5344CB8AC3E}">
        <p14:creationId xmlns:p14="http://schemas.microsoft.com/office/powerpoint/2010/main" val="40363393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Morris claimed that the ultimate test of functional programming is whether it was more like Haiku or </a:t>
            </a:r>
            <a:r>
              <a:rPr lang="en-US" dirty="0" err="1"/>
              <a:t>morelike</a:t>
            </a:r>
            <a:r>
              <a:rPr lang="en-US" dirty="0"/>
              <a:t> Karate. Then, it was probably Haiku. Today, it’s Karate.</a:t>
            </a:r>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67</a:t>
            </a:fld>
            <a:endParaRPr lang="en-US"/>
          </a:p>
        </p:txBody>
      </p:sp>
    </p:spTree>
    <p:extLst>
      <p:ext uri="{BB962C8B-B14F-4D97-AF65-F5344CB8AC3E}">
        <p14:creationId xmlns:p14="http://schemas.microsoft.com/office/powerpoint/2010/main" val="3867549709"/>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understand that Streams are lazy: they perform computation only when necessary. Here we have a sequence</a:t>
            </a:r>
            <a:r>
              <a:rPr lang="en-US" baseline="0" dirty="0"/>
              <a:t> of transformations. When we add 1 to each stream element, no computation actually takes place: the operation is staged. When we double each element, that computation too is staged, but not executed. Only at the end, when we demand the sum, are the two transformations applied, and the sum computed. The sum is called a terminal operation.</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68</a:t>
            </a:fld>
            <a:endParaRPr lang="en-US"/>
          </a:p>
        </p:txBody>
      </p:sp>
    </p:spTree>
    <p:extLst>
      <p:ext uri="{BB962C8B-B14F-4D97-AF65-F5344CB8AC3E}">
        <p14:creationId xmlns:p14="http://schemas.microsoft.com/office/powerpoint/2010/main" val="24442232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a:t>
            </a:r>
            <a:r>
              <a:rPr lang="en-US" baseline="0" dirty="0"/>
              <a:t> </a:t>
            </a:r>
            <a:r>
              <a:rPr lang="en-US" dirty="0"/>
              <a:t>common</a:t>
            </a:r>
            <a:r>
              <a:rPr lang="en-US" baseline="0" dirty="0"/>
              <a:t> class of terminal operations is to collect the contents of a stream in a container</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69</a:t>
            </a:fld>
            <a:endParaRPr lang="en-US"/>
          </a:p>
        </p:txBody>
      </p:sp>
    </p:spTree>
    <p:extLst>
      <p:ext uri="{BB962C8B-B14F-4D97-AF65-F5344CB8AC3E}">
        <p14:creationId xmlns:p14="http://schemas.microsoft.com/office/powerpoint/2010/main" val="3686320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a:t>
            </a:r>
            <a:r>
              <a:rPr lang="en-US" baseline="0" dirty="0"/>
              <a:t> accumulating operations, we give the compiler or run-time system a chance to optimize the sequence, perhaps by reordering or recombining operations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70</a:t>
            </a:fld>
            <a:endParaRPr lang="en-US"/>
          </a:p>
        </p:txBody>
      </p:sp>
    </p:spTree>
    <p:extLst>
      <p:ext uri="{BB962C8B-B14F-4D97-AF65-F5344CB8AC3E}">
        <p14:creationId xmlns:p14="http://schemas.microsoft.com/office/powerpoint/2010/main" val="3686320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Laziness</a:t>
            </a:r>
            <a:r>
              <a:rPr lang="en-US" baseline="0" dirty="0"/>
              <a:t> permits us to define unbounded, or </a:t>
            </a:r>
            <a:r>
              <a:rPr lang="en-US" baseline="0" dirty="0" err="1"/>
              <a:t>infinte</a:t>
            </a:r>
            <a:r>
              <a:rPr lang="en-US" baseline="0" dirty="0"/>
              <a:t> streams, such as streams of Fibonacci numbers, or streams of random </a:t>
            </a:r>
            <a:r>
              <a:rPr lang="en-US" baseline="0" dirty="0" err="1"/>
              <a:t>numbes</a:t>
            </a:r>
            <a:r>
              <a:rPr lang="en-US" baseline="0" dirty="0"/>
              <a:t>.</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71</a:t>
            </a:fld>
            <a:endParaRPr lang="en-US"/>
          </a:p>
        </p:txBody>
      </p:sp>
    </p:spTree>
    <p:extLst>
      <p:ext uri="{BB962C8B-B14F-4D97-AF65-F5344CB8AC3E}">
        <p14:creationId xmlns:p14="http://schemas.microsoft.com/office/powerpoint/2010/main" val="3686320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Here is how you would define an unbounded stream of random numbers.</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Streams are typed by the types</a:t>
            </a:r>
            <a:r>
              <a:rPr lang="en-US" baseline="0" dirty="0">
                <a:latin typeface="Arial" charset="0"/>
              </a:rPr>
              <a:t> of their elements. Here, a stream of double-precision floats.</a:t>
            </a:r>
            <a:endParaRPr lang="en-US" dirty="0">
              <a:latin typeface="Arial"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74</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generator constructor</a:t>
            </a:r>
            <a:r>
              <a:rPr lang="en-US" baseline="0" dirty="0">
                <a:latin typeface="Arial" charset="0"/>
              </a:rPr>
              <a:t> provides a function used to lazily create new elements.</a:t>
            </a:r>
            <a:endParaRPr lang="en-US" dirty="0">
              <a:latin typeface="Arial"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75</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This is the function:</a:t>
            </a:r>
            <a:r>
              <a:rPr lang="en-US" baseline="0" dirty="0">
                <a:latin typeface="Arial" charset="0"/>
              </a:rPr>
              <a:t> the parentheses mean it takes no elements, the arrow indicates the return value. This is an example of a lambda expression, a kind of anonymous function introduced in Java 8.</a:t>
            </a:r>
            <a:endParaRPr lang="en-US" dirty="0">
              <a:latin typeface="Arial" charset="0"/>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76</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Let’s look at the same </a:t>
            </a:r>
            <a:r>
              <a:rPr lang="en-US" dirty="0" err="1">
                <a:latin typeface="Arial" charset="0"/>
              </a:rPr>
              <a:t>WordCount</a:t>
            </a:r>
            <a:r>
              <a:rPr lang="en-US" dirty="0">
                <a:latin typeface="Arial" charset="0"/>
              </a:rPr>
              <a:t> application, this time written in a functional style. First, let’s read in a document fragment from a file.</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77</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First, we show you how to use a functional program to turn a file into a</a:t>
            </a:r>
            <a:r>
              <a:rPr lang="en-US" baseline="0" dirty="0">
                <a:latin typeface="Arial" charset="0"/>
              </a:rPr>
              <a:t> sequence of words </a:t>
            </a:r>
            <a:endParaRPr lang="en-US" dirty="0">
              <a:latin typeface="Arial" charset="0"/>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78</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This reader object is a </a:t>
            </a:r>
            <a:r>
              <a:rPr lang="en-US" dirty="0" err="1">
                <a:latin typeface="Arial" charset="0"/>
              </a:rPr>
              <a:t>Jave</a:t>
            </a:r>
            <a:r>
              <a:rPr lang="en-US" baseline="0" dirty="0">
                <a:latin typeface="Arial" charset="0"/>
              </a:rPr>
              <a:t> </a:t>
            </a:r>
            <a:r>
              <a:rPr lang="en-US" baseline="0" dirty="0" err="1">
                <a:latin typeface="Arial" charset="0"/>
              </a:rPr>
              <a:t>FileReader</a:t>
            </a:r>
            <a:r>
              <a:rPr lang="en-US" baseline="0" dirty="0">
                <a:latin typeface="Arial" charset="0"/>
              </a:rPr>
              <a:t> constructed by opening the file (not shown)</a:t>
            </a:r>
            <a:endParaRPr lang="en-US" dirty="0">
              <a:latin typeface="Arial" charset="0"/>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79</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a stream program usually consists of a single stream object concatenated with a sequence of stream operations.</a:t>
            </a:r>
            <a:r>
              <a:rPr lang="en-US" baseline="0" dirty="0">
                <a:latin typeface="Arial" charset="0"/>
              </a:rPr>
              <a:t> Good style to write like this.</a:t>
            </a:r>
            <a:endParaRPr lang="en-US" dirty="0">
              <a:latin typeface="Arial" charset="0"/>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First, we turn the </a:t>
            </a:r>
            <a:r>
              <a:rPr lang="en-US" dirty="0" err="1">
                <a:latin typeface="Arial" charset="0"/>
              </a:rPr>
              <a:t>FileReader</a:t>
            </a:r>
            <a:r>
              <a:rPr lang="en-US" dirty="0">
                <a:latin typeface="Arial" charset="0"/>
              </a:rPr>
              <a:t> into a stream of lines,</a:t>
            </a:r>
            <a:r>
              <a:rPr lang="en-US" baseline="0" dirty="0">
                <a:latin typeface="Arial" charset="0"/>
              </a:rPr>
              <a:t> each a string</a:t>
            </a:r>
            <a:endParaRPr lang="en-US" dirty="0">
              <a:latin typeface="Arial" charset="0"/>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map operation creates a new stream by applying a function to each element of a stream. Here, we convert each line into lower-case. Note that this is one line of code, not a big messy for loop.</a:t>
            </a: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Next, let’s split each line into individual</a:t>
            </a:r>
            <a:r>
              <a:rPr lang="en-US" baseline="0" dirty="0">
                <a:latin typeface="Arial" charset="0"/>
              </a:rPr>
              <a:t> words. The </a:t>
            </a:r>
            <a:r>
              <a:rPr lang="en-US" baseline="0" dirty="0" err="1">
                <a:latin typeface="Arial" charset="0"/>
              </a:rPr>
              <a:t>flatMap</a:t>
            </a:r>
            <a:r>
              <a:rPr lang="en-US" baseline="0" dirty="0">
                <a:latin typeface="Arial" charset="0"/>
              </a:rPr>
              <a:t> method replaces each string (line) with a </a:t>
            </a:r>
            <a:r>
              <a:rPr lang="en-US" baseline="0" dirty="0" err="1">
                <a:latin typeface="Arial" charset="0"/>
              </a:rPr>
              <a:t>sequenceof</a:t>
            </a:r>
            <a:r>
              <a:rPr lang="en-US" baseline="0" dirty="0">
                <a:latin typeface="Arial" charset="0"/>
              </a:rPr>
              <a:t> strings (words) but flattens the result into a longer sequence of strings. Writing this as a nested for loop would be complicated, but here it’s simple.</a:t>
            </a:r>
            <a:endParaRPr lang="en-US" dirty="0">
              <a:latin typeface="Arial" charset="0"/>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Next we collect the stream contents into a container (a List) to</a:t>
            </a:r>
            <a:r>
              <a:rPr lang="en-US" baseline="0" dirty="0">
                <a:latin typeface="Arial" charset="0"/>
              </a:rPr>
              <a:t> return from the call. The collect method that does this is complex, and we won’t try to explain it in detail.</a:t>
            </a:r>
            <a:endParaRPr lang="en-US" dirty="0">
              <a:latin typeface="Arial" charset="0"/>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84</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This program is simple when written in a stream-based style, but it would be long and complicated, but not in an interesting way, if we wrote it in a conventional style.</a:t>
            </a: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85</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Now that we have put the words in a list, let’s count them</a:t>
            </a: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86</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text object is a List of words</a:t>
            </a: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87</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we first convert it into a stream by calling the List class’s stream() method. Most</a:t>
            </a:r>
            <a:r>
              <a:rPr lang="en-US" baseline="0" dirty="0">
                <a:latin typeface="Arial" charset="0"/>
              </a:rPr>
              <a:t> containers provide such a method.</a:t>
            </a:r>
            <a:endParaRPr lang="en-US" dirty="0">
              <a:latin typeface="Arial" charset="0"/>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88</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Next we will use collect() to convert the stream back to a map carrying each word to its count</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89</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Each word</a:t>
            </a:r>
            <a:r>
              <a:rPr lang="en-US" baseline="0" dirty="0">
                <a:latin typeface="Arial" charset="0"/>
              </a:rPr>
              <a:t> is its own key (the built-in identify function just returns its argument)</a:t>
            </a:r>
            <a:endParaRPr lang="en-US" dirty="0">
              <a:latin typeface="Arial" charset="0"/>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90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 next</a:t>
            </a:r>
            <a:r>
              <a:rPr lang="en-US" baseline="0" dirty="0">
                <a:latin typeface="Arial" charset="0"/>
              </a:rPr>
              <a:t> call just counts all the elements that the identity function maps onto the same key, that is, it counts the number of times the word appears.</a:t>
            </a:r>
            <a:endParaRPr lang="en-US" dirty="0">
              <a:latin typeface="Arial" charset="0"/>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91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As before, this program is remarkable for its simplicity, especially compared</a:t>
            </a:r>
            <a:r>
              <a:rPr lang="en-US" baseline="0" dirty="0">
                <a:latin typeface="Arial" charset="0"/>
              </a:rPr>
              <a:t> to the </a:t>
            </a:r>
            <a:r>
              <a:rPr lang="en-US" baseline="0" dirty="0" err="1">
                <a:latin typeface="Arial" charset="0"/>
              </a:rPr>
              <a:t>MapReduce</a:t>
            </a:r>
            <a:r>
              <a:rPr lang="en-US" baseline="0" dirty="0">
                <a:latin typeface="Arial" charset="0"/>
              </a:rPr>
              <a:t> </a:t>
            </a:r>
            <a:r>
              <a:rPr lang="en-US" baseline="0" dirty="0" err="1">
                <a:latin typeface="Arial" charset="0"/>
              </a:rPr>
              <a:t>vesion</a:t>
            </a:r>
            <a:r>
              <a:rPr lang="en-US" baseline="0" dirty="0">
                <a:latin typeface="Arial" charset="0"/>
              </a:rPr>
              <a:t>, or a conventional version using for loops.</a:t>
            </a:r>
            <a:endParaRPr lang="en-US" dirty="0">
              <a:latin typeface="Arial" charset="0"/>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a:t>
            </a:r>
            <a:r>
              <a:rPr lang="en-US" baseline="0" dirty="0"/>
              <a:t> we will do k-means in a functional style. This application is more complicated than </a:t>
            </a:r>
            <a:r>
              <a:rPr lang="en-US" baseline="0" dirty="0" err="1"/>
              <a:t>WordCount</a:t>
            </a:r>
            <a:r>
              <a:rPr lang="en-US" baseline="0" dirty="0"/>
              <a:t>, but it will be much simpler than the </a:t>
            </a:r>
            <a:r>
              <a:rPr lang="en-US" baseline="0" dirty="0" err="1"/>
              <a:t>MapReduce</a:t>
            </a:r>
            <a:r>
              <a:rPr lang="en-US" baseline="0" dirty="0"/>
              <a:t> version.</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92</a:t>
            </a:fld>
            <a:endParaRPr lang="en-US"/>
          </a:p>
        </p:txBody>
      </p:sp>
    </p:spTree>
    <p:extLst>
      <p:ext uri="{BB962C8B-B14F-4D97-AF65-F5344CB8AC3E}">
        <p14:creationId xmlns:p14="http://schemas.microsoft.com/office/powerpoint/2010/main" val="1199711352"/>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Next</a:t>
            </a:r>
            <a:r>
              <a:rPr lang="en-US" baseline="0" dirty="0"/>
              <a:t> we will do k-means in a functional style. This application is more complicated than </a:t>
            </a:r>
            <a:r>
              <a:rPr lang="en-US" baseline="0" dirty="0" err="1"/>
              <a:t>WordCount</a:t>
            </a:r>
            <a:r>
              <a:rPr lang="en-US" baseline="0" dirty="0"/>
              <a:t>, but it will be much simpler than the </a:t>
            </a:r>
            <a:r>
              <a:rPr lang="en-US" baseline="0" dirty="0" err="1"/>
              <a:t>MapReduce</a:t>
            </a:r>
            <a:r>
              <a:rPr lang="en-US" baseline="0" dirty="0"/>
              <a:t> version.</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93</a:t>
            </a:fld>
            <a:endParaRPr lang="en-US"/>
          </a:p>
        </p:txBody>
      </p:sp>
    </p:spTree>
    <p:extLst>
      <p:ext uri="{BB962C8B-B14F-4D97-AF65-F5344CB8AC3E}">
        <p14:creationId xmlns:p14="http://schemas.microsoft.com/office/powerpoint/2010/main" val="119971135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may remember from</a:t>
            </a:r>
            <a:r>
              <a:rPr lang="en-US" baseline="0" dirty="0"/>
              <a:t> high-school geometry that the barycenter of a set of points is their center of mass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94</a:t>
            </a:fld>
            <a:endParaRPr lang="en-US"/>
          </a:p>
        </p:txBody>
      </p:sp>
    </p:spTree>
    <p:extLst>
      <p:ext uri="{BB962C8B-B14F-4D97-AF65-F5344CB8AC3E}">
        <p14:creationId xmlns:p14="http://schemas.microsoft.com/office/powerpoint/2010/main" val="276331844"/>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let’s see how to use</a:t>
            </a:r>
            <a:r>
              <a:rPr lang="en-US" baseline="0" dirty="0"/>
              <a:t> streams to compute the barycenter of a set of points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95</a:t>
            </a:fld>
            <a:endParaRPr lang="en-US"/>
          </a:p>
        </p:txBody>
      </p:sp>
    </p:spTree>
    <p:extLst>
      <p:ext uri="{BB962C8B-B14F-4D97-AF65-F5344CB8AC3E}">
        <p14:creationId xmlns:p14="http://schemas.microsoft.com/office/powerpoint/2010/main" val="326551773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need to know</a:t>
            </a:r>
            <a:r>
              <a:rPr lang="en-US" baseline="0" dirty="0"/>
              <a:t> how many points there are</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96</a:t>
            </a:fld>
            <a:endParaRPr lang="en-US"/>
          </a:p>
        </p:txBody>
      </p:sp>
    </p:spTree>
    <p:extLst>
      <p:ext uri="{BB962C8B-B14F-4D97-AF65-F5344CB8AC3E}">
        <p14:creationId xmlns:p14="http://schemas.microsoft.com/office/powerpoint/2010/main" val="366817463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usual, we turn the list into a stream</a:t>
            </a:r>
            <a:r>
              <a:rPr lang="en-US" baseline="0" dirty="0"/>
              <a:t> so we can apply aggregate operations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97</a:t>
            </a:fld>
            <a:endParaRPr lang="en-US"/>
          </a:p>
        </p:txBody>
      </p:sp>
    </p:spTree>
    <p:extLst>
      <p:ext uri="{BB962C8B-B14F-4D97-AF65-F5344CB8AC3E}">
        <p14:creationId xmlns:p14="http://schemas.microsoft.com/office/powerpoint/2010/main" val="4041809983"/>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reduce() transformation</a:t>
            </a:r>
            <a:r>
              <a:rPr lang="en-US" baseline="0" dirty="0"/>
              <a:t> is powerful. It takes an operation, in this case +, and links all the list elements with it. Reduce of an empty stream is nothing, reduce of a single-element stream is that element, and otherwise we add the elements (or apply whatever the operation argument is). Obviously, reduce is terminal.</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98</a:t>
            </a:fld>
            <a:endParaRPr lang="en-US"/>
          </a:p>
        </p:txBody>
      </p:sp>
    </p:spTree>
    <p:extLst>
      <p:ext uri="{BB962C8B-B14F-4D97-AF65-F5344CB8AC3E}">
        <p14:creationId xmlns:p14="http://schemas.microsoft.com/office/powerpoint/2010/main" val="59292181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a:t>
            </a:r>
            <a:r>
              <a:rPr lang="en-US" baseline="0" dirty="0"/>
              <a:t> we apply the Point class’s Plus operation, which is just vector addition. We get back an Optional object, which is either a number or an empty value.</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99</a:t>
            </a:fld>
            <a:endParaRPr lang="en-US"/>
          </a:p>
        </p:txBody>
      </p:sp>
    </p:spTree>
    <p:extLst>
      <p:ext uri="{BB962C8B-B14F-4D97-AF65-F5344CB8AC3E}">
        <p14:creationId xmlns:p14="http://schemas.microsoft.com/office/powerpoint/2010/main" val="2142242538"/>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a:t>
            </a:r>
            <a:r>
              <a:rPr lang="en-US" baseline="0" dirty="0"/>
              <a:t> the result, we extract the sum using get(), and then scale the point by 1 over the number of points. The result is the barycenter, again without messy loops or accumulation variables.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100</a:t>
            </a:fld>
            <a:endParaRPr lang="en-US"/>
          </a:p>
        </p:txBody>
      </p:sp>
    </p:spTree>
    <p:extLst>
      <p:ext uri="{BB962C8B-B14F-4D97-AF65-F5344CB8AC3E}">
        <p14:creationId xmlns:p14="http://schemas.microsoft.com/office/powerpoint/2010/main" val="879785347"/>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that</a:t>
            </a:r>
            <a:r>
              <a:rPr lang="en-US" baseline="0" dirty="0"/>
              <a:t> we know how to compute </a:t>
            </a:r>
            <a:r>
              <a:rPr lang="en-US" baseline="0" dirty="0" err="1"/>
              <a:t>barycenters</a:t>
            </a:r>
            <a:r>
              <a:rPr lang="en-US" baseline="0" dirty="0"/>
              <a:t>, let’s do k-means.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101</a:t>
            </a:fld>
            <a:endParaRPr lang="en-US"/>
          </a:p>
        </p:txBody>
      </p:sp>
    </p:spTree>
    <p:extLst>
      <p:ext uri="{BB962C8B-B14F-4D97-AF65-F5344CB8AC3E}">
        <p14:creationId xmlns:p14="http://schemas.microsoft.com/office/powerpoint/2010/main" val="434289834"/>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we read the points from</a:t>
            </a:r>
            <a:r>
              <a:rPr lang="en-US" baseline="0" dirty="0"/>
              <a:t> a file into a list</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102</a:t>
            </a:fld>
            <a:endParaRPr lang="en-US"/>
          </a:p>
        </p:txBody>
      </p:sp>
    </p:spTree>
    <p:extLst>
      <p:ext uri="{BB962C8B-B14F-4D97-AF65-F5344CB8AC3E}">
        <p14:creationId xmlns:p14="http://schemas.microsoft.com/office/powerpoint/2010/main" val="3037758324"/>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seed the computation</a:t>
            </a:r>
            <a:r>
              <a:rPr lang="en-US" baseline="0" dirty="0"/>
              <a:t> by choosing random distinct centers, one for each of k clusters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103</a:t>
            </a:fld>
            <a:endParaRPr lang="en-US"/>
          </a:p>
        </p:txBody>
      </p:sp>
    </p:spTree>
    <p:extLst>
      <p:ext uri="{BB962C8B-B14F-4D97-AF65-F5344CB8AC3E}">
        <p14:creationId xmlns:p14="http://schemas.microsoft.com/office/powerpoint/2010/main" val="2342494379"/>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a:t>
            </a:r>
            <a:r>
              <a:rPr lang="en-US" baseline="0" dirty="0"/>
              <a:t> will continue to iterate until the clusters are stable</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104</a:t>
            </a:fld>
            <a:endParaRPr lang="en-US"/>
          </a:p>
        </p:txBody>
      </p:sp>
    </p:spTree>
    <p:extLst>
      <p:ext uri="{BB962C8B-B14F-4D97-AF65-F5344CB8AC3E}">
        <p14:creationId xmlns:p14="http://schemas.microsoft.com/office/powerpoint/2010/main" val="3016715342"/>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usual, we start</a:t>
            </a:r>
            <a:r>
              <a:rPr lang="en-US" baseline="0" dirty="0"/>
              <a:t> by turning our list of points into a stream</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105</a:t>
            </a:fld>
            <a:endParaRPr lang="en-US"/>
          </a:p>
        </p:txBody>
      </p:sp>
    </p:spTree>
    <p:extLst>
      <p:ext uri="{BB962C8B-B14F-4D97-AF65-F5344CB8AC3E}">
        <p14:creationId xmlns:p14="http://schemas.microsoft.com/office/powerpoint/2010/main" val="658215598"/>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 collect() to put the stream in a container. Here we provide a lambda that says each point should go into a list of points</a:t>
            </a:r>
            <a:r>
              <a:rPr lang="en-US" baseline="0" dirty="0"/>
              <a:t> with the same closest center, that center is the key, and that list is the value.</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106</a:t>
            </a:fld>
            <a:endParaRPr lang="en-US"/>
          </a:p>
        </p:txBody>
      </p:sp>
    </p:spTree>
    <p:extLst>
      <p:ext uri="{BB962C8B-B14F-4D97-AF65-F5344CB8AC3E}">
        <p14:creationId xmlns:p14="http://schemas.microsoft.com/office/powerpoint/2010/main" val="1523744681"/>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the points are clustered, we must compute the new centers,</a:t>
            </a:r>
            <a:r>
              <a:rPr lang="en-US" baseline="0" dirty="0"/>
              <a:t> represented here as a map carrying each cluster ID to its center</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107</a:t>
            </a:fld>
            <a:endParaRPr lang="en-US"/>
          </a:p>
        </p:txBody>
      </p:sp>
    </p:spTree>
    <p:extLst>
      <p:ext uri="{BB962C8B-B14F-4D97-AF65-F5344CB8AC3E}">
        <p14:creationId xmlns:p14="http://schemas.microsoft.com/office/powerpoint/2010/main" val="3469450589"/>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a:t>
            </a:r>
            <a:r>
              <a:rPr lang="en-US" baseline="0" dirty="0"/>
              <a:t> we turn the map into a stream of entries, key-value pairs, where the key is the cluster ID and the point is the value</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108</a:t>
            </a:fld>
            <a:endParaRPr lang="en-US"/>
          </a:p>
        </p:txBody>
      </p:sp>
    </p:spTree>
    <p:extLst>
      <p:ext uri="{BB962C8B-B14F-4D97-AF65-F5344CB8AC3E}">
        <p14:creationId xmlns:p14="http://schemas.microsoft.com/office/powerpoint/2010/main" val="3420494096"/>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we turn the stream back into map</a:t>
            </a:r>
            <a:r>
              <a:rPr lang="en-US" baseline="0" dirty="0"/>
              <a:t> carrying each cluster ID to the barycenter of its associated points, using the barycenter method described earlier</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109</a:t>
            </a:fld>
            <a:endParaRPr lang="en-US"/>
          </a:p>
        </p:txBody>
      </p:sp>
    </p:spTree>
    <p:extLst>
      <p:ext uri="{BB962C8B-B14F-4D97-AF65-F5344CB8AC3E}">
        <p14:creationId xmlns:p14="http://schemas.microsoft.com/office/powerpoint/2010/main" val="14760275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we check the max distance between the newly-computed centers and the earlier set of centers. If the centers</a:t>
            </a:r>
            <a:r>
              <a:rPr lang="en-US" baseline="0" dirty="0"/>
              <a:t> have not moved much, we are done, and otherwise we start again with the new clusters.</a:t>
            </a:r>
            <a:endParaRPr lang="en-US" dirty="0"/>
          </a:p>
        </p:txBody>
      </p:sp>
      <p:sp>
        <p:nvSpPr>
          <p:cNvPr id="4" name="Slide Number Placeholder 3"/>
          <p:cNvSpPr>
            <a:spLocks noGrp="1"/>
          </p:cNvSpPr>
          <p:nvPr>
            <p:ph type="sldNum" sz="quarter" idx="10"/>
          </p:nvPr>
        </p:nvSpPr>
        <p:spPr/>
        <p:txBody>
          <a:bodyPr/>
          <a:lstStyle/>
          <a:p>
            <a:pPr>
              <a:defRPr/>
            </a:pPr>
            <a:fld id="{690BFAFD-4C0D-458A-8EDB-2E7F879C24D7}" type="slidenum">
              <a:rPr lang="x-none" smtClean="0"/>
              <a:pPr>
                <a:defRPr/>
              </a:pPr>
              <a:t>112</a:t>
            </a:fld>
            <a:endParaRPr lang="en-US"/>
          </a:p>
        </p:txBody>
      </p:sp>
    </p:spTree>
    <p:extLst>
      <p:ext uri="{BB962C8B-B14F-4D97-AF65-F5344CB8AC3E}">
        <p14:creationId xmlns:p14="http://schemas.microsoft.com/office/powerpoint/2010/main" val="158353010"/>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114</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So far, the streams we have considered</a:t>
            </a:r>
            <a:r>
              <a:rPr lang="en-US" baseline="0" dirty="0">
                <a:latin typeface="Arial" charset="0"/>
              </a:rPr>
              <a:t> are sequential: all operations are applied sequentially. </a:t>
            </a:r>
            <a:endParaRPr lang="en-US" dirty="0">
              <a:latin typeface="Arial" charset="0"/>
            </a:endParaRPr>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115</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To illustrate this, here is a stream</a:t>
            </a:r>
            <a:r>
              <a:rPr lang="en-US" baseline="0" dirty="0">
                <a:latin typeface="Arial" charset="0"/>
              </a:rPr>
              <a:t> </a:t>
            </a:r>
            <a:r>
              <a:rPr lang="en-US" dirty="0">
                <a:latin typeface="Arial" charset="0"/>
              </a:rPr>
              <a:t>of Boston street names</a:t>
            </a:r>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116</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a stream program usually consists of a single stream object concatenated with a sequence of stream operations.</a:t>
            </a:r>
            <a:r>
              <a:rPr lang="en-US" baseline="0" dirty="0">
                <a:latin typeface="Arial" charset="0"/>
              </a:rPr>
              <a:t> Good style to write like this.</a:t>
            </a:r>
            <a:endParaRPr lang="en-US" dirty="0">
              <a:latin typeface="Arial" charset="0"/>
            </a:endParaRPr>
          </a:p>
        </p:txBody>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117</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Every time we run this program, it prints the strings in the same order</a:t>
            </a:r>
          </a:p>
        </p:txBody>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118</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suppose instead we turn the list into a parallel stream</a:t>
            </a:r>
          </a:p>
        </p:txBody>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119</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then every time we run the program, the strings</a:t>
            </a:r>
            <a:r>
              <a:rPr lang="en-US" baseline="0" dirty="0">
                <a:latin typeface="Arial" charset="0"/>
              </a:rPr>
              <a:t> appear in a different order, because they are printed in parallel</a:t>
            </a:r>
            <a:endParaRPr lang="en-US" dirty="0">
              <a:latin typeface="Arial" charset="0"/>
            </a:endParaRPr>
          </a:p>
        </p:txBody>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120</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another way to do this is to take a sequential</a:t>
            </a:r>
            <a:r>
              <a:rPr lang="en-US" baseline="0" dirty="0">
                <a:latin typeface="Arial" charset="0"/>
              </a:rPr>
              <a:t> stream and turn it into a parallel stream</a:t>
            </a:r>
            <a:endParaRPr lang="en-US" dirty="0">
              <a:latin typeface="Arial" charset="0"/>
            </a:endParaRPr>
          </a:p>
        </p:txBody>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121</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Parallel streams have dangers.</a:t>
            </a:r>
            <a:r>
              <a:rPr lang="en-US" baseline="0" dirty="0">
                <a:latin typeface="Arial" charset="0"/>
              </a:rPr>
              <a:t> For example, here we are modifying the container that acts as the stream’s source</a:t>
            </a:r>
            <a:endParaRPr lang="en-US" dirty="0">
              <a:latin typeface="Arial" charset="0"/>
            </a:endParaRPr>
          </a:p>
        </p:txBody>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122</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do not</a:t>
            </a:r>
            <a:r>
              <a:rPr lang="en-US" baseline="0" dirty="0">
                <a:latin typeface="Arial" charset="0"/>
              </a:rPr>
              <a:t> do this</a:t>
            </a:r>
            <a:endParaRPr lang="en-US" dirty="0">
              <a:latin typeface="Arial" charset="0"/>
            </a:endParaRPr>
          </a:p>
        </p:txBody>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p:cNvSpPr>
            <a:spLocks noGrp="1" noChangeArrowheads="1"/>
          </p:cNvSpPr>
          <p:nvPr>
            <p:ph type="hdr"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300" b="0">
                <a:latin typeface="Marlett" charset="0"/>
              </a:rPr>
              <a:t>© 2003 Herlihy and Shavit</a:t>
            </a:r>
          </a:p>
        </p:txBody>
      </p:sp>
      <p:sp>
        <p:nvSpPr>
          <p:cNvPr id="768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90600" eaLnBrk="0" hangingPunct="0">
              <a:defRPr sz="4400" b="1">
                <a:solidFill>
                  <a:srgbClr val="0000FF"/>
                </a:solidFill>
                <a:latin typeface="Comic Sans MS" charset="0"/>
                <a:ea typeface="ＭＳ Ｐゴシック" charset="0"/>
                <a:cs typeface="ＭＳ Ｐゴシック" charset="0"/>
              </a:defRPr>
            </a:lvl1pPr>
            <a:lvl2pPr marL="742950" indent="-285750" defTabSz="990600" eaLnBrk="0" hangingPunct="0">
              <a:defRPr sz="4400" b="1">
                <a:solidFill>
                  <a:srgbClr val="0000FF"/>
                </a:solidFill>
                <a:latin typeface="Comic Sans MS" charset="0"/>
                <a:ea typeface="ＭＳ Ｐゴシック" charset="0"/>
              </a:defRPr>
            </a:lvl2pPr>
            <a:lvl3pPr marL="1143000" indent="-228600" defTabSz="990600" eaLnBrk="0" hangingPunct="0">
              <a:defRPr sz="4400" b="1">
                <a:solidFill>
                  <a:srgbClr val="0000FF"/>
                </a:solidFill>
                <a:latin typeface="Comic Sans MS" charset="0"/>
                <a:ea typeface="ＭＳ Ｐゴシック" charset="0"/>
              </a:defRPr>
            </a:lvl3pPr>
            <a:lvl4pPr marL="1600200" indent="-228600" defTabSz="990600" eaLnBrk="0" hangingPunct="0">
              <a:defRPr sz="4400" b="1">
                <a:solidFill>
                  <a:srgbClr val="0000FF"/>
                </a:solidFill>
                <a:latin typeface="Comic Sans MS" charset="0"/>
                <a:ea typeface="ＭＳ Ｐゴシック" charset="0"/>
              </a:defRPr>
            </a:lvl4pPr>
            <a:lvl5pPr marL="2057400" indent="-228600" defTabSz="990600" eaLnBrk="0" hangingPunct="0">
              <a:defRPr sz="4400" b="1">
                <a:solidFill>
                  <a:srgbClr val="0000FF"/>
                </a:solidFill>
                <a:latin typeface="Comic Sans MS" charset="0"/>
                <a:ea typeface="ＭＳ Ｐゴシック" charset="0"/>
              </a:defRPr>
            </a:lvl5pPr>
            <a:lvl6pPr marL="2514600" indent="-228600" defTabSz="990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defTabSz="990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defTabSz="990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defTabSz="990600" eaLnBrk="0" fontAlgn="base" hangingPunct="0">
              <a:spcBef>
                <a:spcPct val="0"/>
              </a:spcBef>
              <a:spcAft>
                <a:spcPct val="0"/>
              </a:spcAft>
              <a:defRPr sz="4400" b="1">
                <a:solidFill>
                  <a:srgbClr val="0000FF"/>
                </a:solidFill>
                <a:latin typeface="Comic Sans MS" charset="0"/>
                <a:ea typeface="ＭＳ Ｐゴシック" charset="0"/>
              </a:defRPr>
            </a:lvl9pPr>
          </a:lstStyle>
          <a:p>
            <a:fld id="{F24B7DEF-059E-4D44-854D-BF51AB740DA7}" type="slidenum">
              <a:rPr lang="ar-SA" sz="1300" b="0">
                <a:latin typeface="Marlett" charset="0"/>
                <a:cs typeface="Arial" charset="0"/>
              </a:rPr>
              <a:pPr/>
              <a:t>123</a:t>
            </a:fld>
            <a:endParaRPr lang="en-US" sz="1300" b="0">
              <a:latin typeface="Marlett" charset="0"/>
              <a:cs typeface="Arial" charset="0"/>
            </a:endParaRPr>
          </a:p>
        </p:txBody>
      </p:sp>
      <p:sp>
        <p:nvSpPr>
          <p:cNvPr id="76803" name="Rectangle 2"/>
          <p:cNvSpPr>
            <a:spLocks noGrp="1" noRot="1" noChangeAspect="1" noChangeArrowheads="1" noTextEdit="1"/>
          </p:cNvSpPr>
          <p:nvPr>
            <p:ph type="sldImg"/>
          </p:nvPr>
        </p:nvSpPr>
        <p:spPr>
          <a:ln/>
        </p:spPr>
      </p:sp>
      <p:sp>
        <p:nvSpPr>
          <p:cNvPr id="768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dirty="0">
                <a:latin typeface="Arial" charset="0"/>
              </a:rPr>
              <a:t>Another problem occurs</a:t>
            </a:r>
            <a:r>
              <a:rPr lang="en-US" baseline="0" dirty="0">
                <a:latin typeface="Arial" charset="0"/>
              </a:rPr>
              <a:t> when lambda’s have side effects: here we are adding elements in parallel to a container, which may not be thread-safe. Even if it is, the order is non-deterministic.</a:t>
            </a:r>
            <a:endParaRPr lang="en-US" dirty="0">
              <a:latin typeface="Arial" charset="0"/>
            </a:endParaRPr>
          </a:p>
        </p:txBody>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Rectangle 2"/>
          <p:cNvSpPr>
            <a:spLocks noGrp="1" noChangeArrowheads="1"/>
          </p:cNvSpPr>
          <p:nvPr>
            <p:ph type="hdr" sz="quarter"/>
          </p:nvPr>
        </p:nvSpPr>
        <p:spPr>
          <a:noFill/>
        </p:spPr>
        <p:txBody>
          <a:bodyPr/>
          <a:lstStyle/>
          <a:p>
            <a:r>
              <a:rPr lang="en-US"/>
              <a:t>© 2003 Herlihy and Shavit</a:t>
            </a:r>
          </a:p>
        </p:txBody>
      </p:sp>
      <p:sp>
        <p:nvSpPr>
          <p:cNvPr id="131075" name="Rectangle 7"/>
          <p:cNvSpPr>
            <a:spLocks noGrp="1" noChangeArrowheads="1"/>
          </p:cNvSpPr>
          <p:nvPr>
            <p:ph type="sldNum" sz="quarter" idx="5"/>
          </p:nvPr>
        </p:nvSpPr>
        <p:spPr>
          <a:noFill/>
        </p:spPr>
        <p:txBody>
          <a:bodyPr/>
          <a:lstStyle/>
          <a:p>
            <a:fld id="{8B1917D1-DA65-435E-9D1B-54EC954F224B}" type="slidenum">
              <a:rPr lang="ar-SA" smtClean="0"/>
              <a:pPr/>
              <a:t>125</a:t>
            </a:fld>
            <a:endParaRPr lang="en-US"/>
          </a:p>
        </p:txBody>
      </p:sp>
      <p:sp>
        <p:nvSpPr>
          <p:cNvPr id="131076" name="Rectangle 2"/>
          <p:cNvSpPr>
            <a:spLocks noGrp="1" noRot="1" noChangeAspect="1" noChangeArrowheads="1" noTextEdit="1"/>
          </p:cNvSpPr>
          <p:nvPr>
            <p:ph type="sldImg"/>
          </p:nvPr>
        </p:nvSpPr>
        <p:spPr>
          <a:ln/>
        </p:spPr>
      </p:sp>
      <p:sp>
        <p:nvSpPr>
          <p:cNvPr id="131077" name="Rectangle 3"/>
          <p:cNvSpPr>
            <a:spLocks noGrp="1" noChangeArrowheads="1"/>
          </p:cNvSpPr>
          <p:nvPr>
            <p:ph type="body" idx="1"/>
          </p:nvPr>
        </p:nvSpPr>
        <p:spPr>
          <a:noFill/>
          <a:ln/>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4" name="Picture 6"/>
          <p:cNvPicPr>
            <a:picLocks noChangeAspect="1" noChangeArrowheads="1"/>
          </p:cNvPicPr>
          <p:nvPr userDrawn="1"/>
        </p:nvPicPr>
        <p:blipFill>
          <a:blip r:embed="rId2" cstate="print"/>
          <a:srcRect/>
          <a:stretch>
            <a:fillRect/>
          </a:stretch>
        </p:blipFill>
        <p:spPr bwMode="auto">
          <a:xfrm>
            <a:off x="655638" y="6157913"/>
            <a:ext cx="587375" cy="587375"/>
          </a:xfrm>
          <a:prstGeom prst="rect">
            <a:avLst/>
          </a:prstGeom>
          <a:noFill/>
          <a:ln w="9525">
            <a:noFill/>
            <a:miter lim="800000"/>
            <a:headEnd/>
            <a:tailEnd/>
          </a:ln>
        </p:spPr>
      </p:pic>
      <p:sp>
        <p:nvSpPr>
          <p:cNvPr id="2075650" name="Rectangle 2"/>
          <p:cNvSpPr>
            <a:spLocks noGrp="1" noChangeArrowheads="1"/>
          </p:cNvSpPr>
          <p:nvPr>
            <p:ph type="ctrTitle"/>
          </p:nvPr>
        </p:nvSpPr>
        <p:spPr>
          <a:xfrm>
            <a:off x="685800" y="2130425"/>
            <a:ext cx="7772400" cy="1470025"/>
          </a:xfrm>
        </p:spPr>
        <p:txBody>
          <a:bodyPr/>
          <a:lstStyle>
            <a:lvl1pPr>
              <a:defRPr/>
            </a:lvl1pPr>
          </a:lstStyle>
          <a:p>
            <a:r>
              <a:rPr lang="en-US"/>
              <a:t>Click to edit Master title style</a:t>
            </a:r>
          </a:p>
        </p:txBody>
      </p:sp>
      <p:sp>
        <p:nvSpPr>
          <p:cNvPr id="2075651" name="Rectangle 3"/>
          <p:cNvSpPr>
            <a:spLocks noGrp="1" noChangeArrowheads="1"/>
          </p:cNvSpPr>
          <p:nvPr>
            <p:ph type="subTitle" idx="1"/>
          </p:nvPr>
        </p:nvSpPr>
        <p:spPr>
          <a:xfrm>
            <a:off x="1371600" y="3886200"/>
            <a:ext cx="6400800" cy="1752600"/>
          </a:xfrm>
        </p:spPr>
        <p:txBody>
          <a:bodyPr/>
          <a:lstStyle>
            <a:lvl1pPr marL="0" indent="0" algn="ctr">
              <a:buFontTx/>
              <a:buNone/>
              <a:defRPr/>
            </a:lvl1pPr>
          </a:lstStyle>
          <a:p>
            <a:r>
              <a:rPr lang="en-US"/>
              <a:t>Click to edit Master subtitle style</a:t>
            </a:r>
          </a:p>
        </p:txBody>
      </p:sp>
      <p:sp>
        <p:nvSpPr>
          <p:cNvPr id="5" name="Rectangle 5"/>
          <p:cNvSpPr>
            <a:spLocks noGrp="1" noChangeArrowheads="1"/>
          </p:cNvSpPr>
          <p:nvPr>
            <p:ph type="sldNum" sz="quarter" idx="10"/>
          </p:nvPr>
        </p:nvSpPr>
        <p:spPr>
          <a:xfrm>
            <a:off x="6553200" y="6245225"/>
            <a:ext cx="2133600" cy="476250"/>
          </a:xfrm>
        </p:spPr>
        <p:txBody>
          <a:bodyPr/>
          <a:lstStyle>
            <a:lvl1pPr>
              <a:defRPr/>
            </a:lvl1pPr>
          </a:lstStyle>
          <a:p>
            <a:pPr>
              <a:defRPr/>
            </a:pPr>
            <a:fld id="{79D7CFD4-FBEF-4AF8-AF88-4BD8511ECE08}" type="slidenum">
              <a:rPr lang="x-none"/>
              <a:pPr>
                <a:defRPr/>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79174C8D-E37B-4A60-9814-D5A95636E32B}" type="slidenum">
              <a:rPr lang="x-none"/>
              <a:pPr>
                <a:defRPr/>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6B46AF01-2857-4A6E-8F11-28067EA3AB15}" type="slidenum">
              <a:rPr lang="x-none"/>
              <a:pPr>
                <a:defRPr/>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D5970060-6424-415E-89C8-3A062194A39D}" type="slidenum">
              <a:rPr lang="x-none"/>
              <a:pPr>
                <a:defRPr/>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8" name="Rectangle 6"/>
          <p:cNvSpPr>
            <a:spLocks noGrp="1" noChangeArrowheads="1"/>
          </p:cNvSpPr>
          <p:nvPr>
            <p:ph type="sldNum" sz="quarter" idx="11"/>
          </p:nvPr>
        </p:nvSpPr>
        <p:spPr>
          <a:ln/>
        </p:spPr>
        <p:txBody>
          <a:bodyPr/>
          <a:lstStyle>
            <a:lvl1pPr>
              <a:defRPr/>
            </a:lvl1pPr>
          </a:lstStyle>
          <a:p>
            <a:pPr>
              <a:defRPr/>
            </a:pPr>
            <a:fld id="{F2D7A898-A02D-429E-AA65-9895A469B359}" type="slidenum">
              <a:rPr lang="x-none"/>
              <a:pPr>
                <a:defRPr/>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4" name="Rectangle 6"/>
          <p:cNvSpPr>
            <a:spLocks noGrp="1" noChangeArrowheads="1"/>
          </p:cNvSpPr>
          <p:nvPr>
            <p:ph type="sldNum" sz="quarter" idx="11"/>
          </p:nvPr>
        </p:nvSpPr>
        <p:spPr>
          <a:ln/>
        </p:spPr>
        <p:txBody>
          <a:bodyPr/>
          <a:lstStyle>
            <a:lvl1pPr>
              <a:defRPr/>
            </a:lvl1pPr>
          </a:lstStyle>
          <a:p>
            <a:pPr>
              <a:defRPr/>
            </a:pPr>
            <a:fld id="{18CBB5C5-533C-4EDE-9E0D-BB81AB6D4DDA}" type="slidenum">
              <a:rPr lang="x-none"/>
              <a:pPr>
                <a:defRPr/>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3" name="Rectangle 6"/>
          <p:cNvSpPr>
            <a:spLocks noGrp="1" noChangeArrowheads="1"/>
          </p:cNvSpPr>
          <p:nvPr>
            <p:ph type="sldNum" sz="quarter" idx="11"/>
          </p:nvPr>
        </p:nvSpPr>
        <p:spPr>
          <a:ln/>
        </p:spPr>
        <p:txBody>
          <a:bodyPr/>
          <a:lstStyle>
            <a:lvl1pPr>
              <a:defRPr/>
            </a:lvl1pPr>
          </a:lstStyle>
          <a:p>
            <a:pPr>
              <a:defRPr/>
            </a:pPr>
            <a:fld id="{10F936D8-AF66-474C-A042-597428A3F87F}" type="slidenum">
              <a:rPr lang="x-none"/>
              <a:pPr>
                <a:defRPr/>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EDB9F4A7-326C-4E00-BABD-37D77472EFD1}" type="slidenum">
              <a:rPr lang="x-none"/>
              <a:pPr>
                <a:defRPr/>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6" name="Rectangle 6"/>
          <p:cNvSpPr>
            <a:spLocks noGrp="1" noChangeArrowheads="1"/>
          </p:cNvSpPr>
          <p:nvPr>
            <p:ph type="sldNum" sz="quarter" idx="11"/>
          </p:nvPr>
        </p:nvSpPr>
        <p:spPr>
          <a:ln/>
        </p:spPr>
        <p:txBody>
          <a:bodyPr/>
          <a:lstStyle>
            <a:lvl1pPr>
              <a:defRPr/>
            </a:lvl1pPr>
          </a:lstStyle>
          <a:p>
            <a:pPr>
              <a:defRPr/>
            </a:pPr>
            <a:fld id="{88EE446F-8B72-47B5-8C09-D659723C892A}" type="slidenum">
              <a:rPr lang="x-none"/>
              <a:pPr>
                <a:defRPr/>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FED4D23F-0A1B-4BB0-86CF-CF7FA4F90DBA}" type="slidenum">
              <a:rPr lang="x-none"/>
              <a:pPr>
                <a:defRPr/>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5100" y="609600"/>
            <a:ext cx="1943100" cy="54864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85800" y="609600"/>
            <a:ext cx="5676900"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5"/>
          <p:cNvSpPr>
            <a:spLocks noGrp="1" noChangeArrowheads="1"/>
          </p:cNvSpPr>
          <p:nvPr>
            <p:ph type="ftr" sz="quarter" idx="10"/>
          </p:nvPr>
        </p:nvSpPr>
        <p:spPr>
          <a:ln/>
        </p:spPr>
        <p:txBody>
          <a:bodyPr/>
          <a:lstStyle>
            <a:lvl1pPr>
              <a:defRPr/>
            </a:lvl1pPr>
          </a:lstStyle>
          <a:p>
            <a:pPr>
              <a:defRPr/>
            </a:pPr>
            <a:r>
              <a:rPr lang="en-US"/>
              <a:t>Art of Multiprocessor Programming</a:t>
            </a:r>
          </a:p>
        </p:txBody>
      </p:sp>
      <p:sp>
        <p:nvSpPr>
          <p:cNvPr id="5" name="Rectangle 6"/>
          <p:cNvSpPr>
            <a:spLocks noGrp="1" noChangeArrowheads="1"/>
          </p:cNvSpPr>
          <p:nvPr>
            <p:ph type="sldNum" sz="quarter" idx="11"/>
          </p:nvPr>
        </p:nvSpPr>
        <p:spPr>
          <a:ln/>
        </p:spPr>
        <p:txBody>
          <a:bodyPr/>
          <a:lstStyle>
            <a:lvl1pPr>
              <a:defRPr/>
            </a:lvl1pPr>
          </a:lstStyle>
          <a:p>
            <a:pPr>
              <a:defRPr/>
            </a:pPr>
            <a:fld id="{5481B329-8AAB-407D-95C0-4DC9AC82BE9A}" type="slidenum">
              <a:rPr lang="x-none"/>
              <a:pPr>
                <a:defRPr/>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dirty="0"/>
              <a:t>Click to edit Master title style</a:t>
            </a:r>
          </a:p>
        </p:txBody>
      </p:sp>
      <p:sp>
        <p:nvSpPr>
          <p:cNvPr id="1027"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029" name="Rectangle 5"/>
          <p:cNvSpPr>
            <a:spLocks noGrp="1" noChangeArrowheads="1"/>
          </p:cNvSpPr>
          <p:nvPr>
            <p:ph type="ftr" sz="quarter" idx="3"/>
          </p:nvPr>
        </p:nvSpPr>
        <p:spPr bwMode="auto">
          <a:xfrm>
            <a:off x="3124200" y="6248400"/>
            <a:ext cx="3152775"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solidFill>
                  <a:schemeClr val="tx1"/>
                </a:solidFill>
                <a:latin typeface="Arial" pitchFamily="34" charset="0"/>
                <a:cs typeface="Arial" pitchFamily="34" charset="0"/>
              </a:defRPr>
            </a:lvl1pPr>
          </a:lstStyle>
          <a:p>
            <a:pPr>
              <a:defRPr/>
            </a:pPr>
            <a:r>
              <a:rPr lang="en-US" dirty="0"/>
              <a:t>Art of Multiprocessor Programming, 2</a:t>
            </a:r>
            <a:r>
              <a:rPr lang="en-US" baseline="30000" dirty="0"/>
              <a:t>nd</a:t>
            </a:r>
            <a:r>
              <a:rPr lang="en-US" dirty="0"/>
              <a:t> edition</a:t>
            </a:r>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solidFill>
                  <a:schemeClr val="tx1"/>
                </a:solidFill>
                <a:latin typeface="Arial" pitchFamily="34" charset="0"/>
                <a:cs typeface="Arial" charset="0"/>
              </a:defRPr>
            </a:lvl1pPr>
          </a:lstStyle>
          <a:p>
            <a:pPr>
              <a:defRPr/>
            </a:pPr>
            <a:fld id="{5C5BE4E8-7D91-4742-975E-1AD187753991}" type="slidenum">
              <a:rPr lang="x-none" smtClean="0"/>
              <a:pPr>
                <a:defRPr/>
              </a:pPr>
              <a:t>‹#›</a:t>
            </a:fld>
            <a:endParaRPr lang="en-US" dirty="0"/>
          </a:p>
        </p:txBody>
      </p:sp>
    </p:spTree>
  </p:cSld>
  <p:clrMap bg1="lt1" tx1="dk1" bg2="lt2" tx2="dk2" accent1="accent1" accent2="accent2" accent3="accent3" accent4="accent4" accent5="accent5" accent6="accent6" hlink="hlink" folHlink="folHlink"/>
  <p:sldLayoutIdLst>
    <p:sldLayoutId id="2147483767" r:id="rId1"/>
    <p:sldLayoutId id="2147483757" r:id="rId2"/>
    <p:sldLayoutId id="2147483758" r:id="rId3"/>
    <p:sldLayoutId id="2147483759" r:id="rId4"/>
    <p:sldLayoutId id="2147483760" r:id="rId5"/>
    <p:sldLayoutId id="2147483761" r:id="rId6"/>
    <p:sldLayoutId id="2147483762" r:id="rId7"/>
    <p:sldLayoutId id="2147483763" r:id="rId8"/>
    <p:sldLayoutId id="2147483764" r:id="rId9"/>
    <p:sldLayoutId id="2147483765" r:id="rId10"/>
    <p:sldLayoutId id="2147483766" r:id="rId11"/>
  </p:sldLayoutIdLst>
  <p:hf hdr="0" dt="0"/>
  <p:txStyles>
    <p:titleStyle>
      <a:lvl1pPr algn="ctr" rtl="0" eaLnBrk="0" fontAlgn="base" hangingPunct="0">
        <a:spcBef>
          <a:spcPct val="0"/>
        </a:spcBef>
        <a:spcAft>
          <a:spcPct val="0"/>
        </a:spcAft>
        <a:defRPr sz="4400">
          <a:solidFill>
            <a:schemeClr val="tx2"/>
          </a:solidFill>
          <a:latin typeface="Arial" pitchFamily="34" charset="0"/>
          <a:ea typeface="+mj-ea"/>
          <a:cs typeface="Arial" pitchFamily="34" charset="0"/>
        </a:defRPr>
      </a:lvl1pPr>
      <a:lvl2pPr algn="ctr" rtl="0" eaLnBrk="0" fontAlgn="base" hangingPunct="0">
        <a:spcBef>
          <a:spcPct val="0"/>
        </a:spcBef>
        <a:spcAft>
          <a:spcPct val="0"/>
        </a:spcAft>
        <a:defRPr sz="4400">
          <a:solidFill>
            <a:schemeClr val="tx2"/>
          </a:solidFill>
          <a:latin typeface="Comic Sans MS" pitchFamily="66" charset="0"/>
        </a:defRPr>
      </a:lvl2pPr>
      <a:lvl3pPr algn="ctr" rtl="0" eaLnBrk="0" fontAlgn="base" hangingPunct="0">
        <a:spcBef>
          <a:spcPct val="0"/>
        </a:spcBef>
        <a:spcAft>
          <a:spcPct val="0"/>
        </a:spcAft>
        <a:defRPr sz="4400">
          <a:solidFill>
            <a:schemeClr val="tx2"/>
          </a:solidFill>
          <a:latin typeface="Comic Sans MS" pitchFamily="66" charset="0"/>
        </a:defRPr>
      </a:lvl3pPr>
      <a:lvl4pPr algn="ctr" rtl="0" eaLnBrk="0" fontAlgn="base" hangingPunct="0">
        <a:spcBef>
          <a:spcPct val="0"/>
        </a:spcBef>
        <a:spcAft>
          <a:spcPct val="0"/>
        </a:spcAft>
        <a:defRPr sz="4400">
          <a:solidFill>
            <a:schemeClr val="tx2"/>
          </a:solidFill>
          <a:latin typeface="Comic Sans MS" pitchFamily="66" charset="0"/>
        </a:defRPr>
      </a:lvl4pPr>
      <a:lvl5pPr algn="ctr" rtl="0" eaLnBrk="0" fontAlgn="base" hangingPunct="0">
        <a:spcBef>
          <a:spcPct val="0"/>
        </a:spcBef>
        <a:spcAft>
          <a:spcPct val="0"/>
        </a:spcAft>
        <a:defRPr sz="4400">
          <a:solidFill>
            <a:schemeClr val="tx2"/>
          </a:solidFill>
          <a:latin typeface="Comic Sans MS" pitchFamily="66" charset="0"/>
        </a:defRPr>
      </a:lvl5pPr>
      <a:lvl6pPr marL="457200" algn="ctr" rtl="0" eaLnBrk="0" fontAlgn="base" hangingPunct="0">
        <a:spcBef>
          <a:spcPct val="0"/>
        </a:spcBef>
        <a:spcAft>
          <a:spcPct val="0"/>
        </a:spcAft>
        <a:defRPr sz="4400">
          <a:solidFill>
            <a:schemeClr val="tx2"/>
          </a:solidFill>
          <a:latin typeface="Comic Sans MS" pitchFamily="66" charset="0"/>
        </a:defRPr>
      </a:lvl6pPr>
      <a:lvl7pPr marL="914400" algn="ctr" rtl="0" eaLnBrk="0" fontAlgn="base" hangingPunct="0">
        <a:spcBef>
          <a:spcPct val="0"/>
        </a:spcBef>
        <a:spcAft>
          <a:spcPct val="0"/>
        </a:spcAft>
        <a:defRPr sz="4400">
          <a:solidFill>
            <a:schemeClr val="tx2"/>
          </a:solidFill>
          <a:latin typeface="Comic Sans MS" pitchFamily="66" charset="0"/>
        </a:defRPr>
      </a:lvl7pPr>
      <a:lvl8pPr marL="1371600" algn="ctr" rtl="0" eaLnBrk="0" fontAlgn="base" hangingPunct="0">
        <a:spcBef>
          <a:spcPct val="0"/>
        </a:spcBef>
        <a:spcAft>
          <a:spcPct val="0"/>
        </a:spcAft>
        <a:defRPr sz="4400">
          <a:solidFill>
            <a:schemeClr val="tx2"/>
          </a:solidFill>
          <a:latin typeface="Comic Sans MS" pitchFamily="66" charset="0"/>
        </a:defRPr>
      </a:lvl8pPr>
      <a:lvl9pPr marL="1828800" algn="ctr" rtl="0" eaLnBrk="0" fontAlgn="base" hangingPunct="0">
        <a:spcBef>
          <a:spcPct val="0"/>
        </a:spcBef>
        <a:spcAft>
          <a:spcPct val="0"/>
        </a:spcAft>
        <a:defRPr sz="4400">
          <a:solidFill>
            <a:schemeClr val="tx2"/>
          </a:solidFill>
          <a:latin typeface="Comic Sans MS" pitchFamily="66" charset="0"/>
        </a:defRPr>
      </a:lvl9pPr>
    </p:titleStyle>
    <p:bodyStyle>
      <a:lvl1pPr marL="342900" indent="-342900" algn="l" rtl="0" eaLnBrk="0" fontAlgn="base" hangingPunct="0">
        <a:spcBef>
          <a:spcPct val="20000"/>
        </a:spcBef>
        <a:spcAft>
          <a:spcPct val="0"/>
        </a:spcAft>
        <a:buChar char="•"/>
        <a:defRPr sz="3200">
          <a:solidFill>
            <a:srgbClr val="0000FF"/>
          </a:solidFill>
          <a:latin typeface="Arial" pitchFamily="34" charset="0"/>
          <a:ea typeface="+mn-ea"/>
          <a:cs typeface="Arial" pitchFamily="34" charset="0"/>
        </a:defRPr>
      </a:lvl1pPr>
      <a:lvl2pPr marL="742950" indent="-285750" algn="l" rtl="0" eaLnBrk="0" fontAlgn="base" hangingPunct="0">
        <a:spcBef>
          <a:spcPct val="20000"/>
        </a:spcBef>
        <a:spcAft>
          <a:spcPct val="0"/>
        </a:spcAft>
        <a:buChar char="–"/>
        <a:defRPr sz="2800">
          <a:solidFill>
            <a:srgbClr val="0000FF"/>
          </a:solidFill>
          <a:latin typeface="Arial" pitchFamily="34" charset="0"/>
          <a:cs typeface="Arial" pitchFamily="34" charset="0"/>
        </a:defRPr>
      </a:lvl2pPr>
      <a:lvl3pPr marL="1143000" indent="-228600" algn="l" rtl="0" eaLnBrk="0" fontAlgn="base" hangingPunct="0">
        <a:spcBef>
          <a:spcPct val="20000"/>
        </a:spcBef>
        <a:spcAft>
          <a:spcPct val="0"/>
        </a:spcAft>
        <a:buChar char="•"/>
        <a:defRPr sz="2400">
          <a:solidFill>
            <a:srgbClr val="0000FF"/>
          </a:solidFill>
          <a:latin typeface="Arial" pitchFamily="34" charset="0"/>
          <a:cs typeface="Arial" pitchFamily="34" charset="0"/>
        </a:defRPr>
      </a:lvl3pPr>
      <a:lvl4pPr marL="16002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4pPr>
      <a:lvl5pPr marL="2057400" indent="-228600" algn="l" rtl="0" eaLnBrk="0" fontAlgn="base" hangingPunct="0">
        <a:spcBef>
          <a:spcPct val="20000"/>
        </a:spcBef>
        <a:spcAft>
          <a:spcPct val="0"/>
        </a:spcAft>
        <a:buChar char="»"/>
        <a:defRPr sz="2000">
          <a:solidFill>
            <a:srgbClr val="0000FF"/>
          </a:solidFill>
          <a:latin typeface="Arial" pitchFamily="34" charset="0"/>
          <a:cs typeface="Arial" pitchFamily="34" charset="0"/>
        </a:defRPr>
      </a:lvl5pPr>
      <a:lvl6pPr marL="2514600" indent="-228600" algn="l" rtl="0" eaLnBrk="0" fontAlgn="base" hangingPunct="0">
        <a:spcBef>
          <a:spcPct val="20000"/>
        </a:spcBef>
        <a:spcAft>
          <a:spcPct val="0"/>
        </a:spcAft>
        <a:buChar char="»"/>
        <a:defRPr sz="2000">
          <a:solidFill>
            <a:srgbClr val="0000FF"/>
          </a:solidFill>
          <a:latin typeface="+mn-lt"/>
        </a:defRPr>
      </a:lvl6pPr>
      <a:lvl7pPr marL="2971800" indent="-228600" algn="l" rtl="0" eaLnBrk="0" fontAlgn="base" hangingPunct="0">
        <a:spcBef>
          <a:spcPct val="20000"/>
        </a:spcBef>
        <a:spcAft>
          <a:spcPct val="0"/>
        </a:spcAft>
        <a:buChar char="»"/>
        <a:defRPr sz="2000">
          <a:solidFill>
            <a:srgbClr val="0000FF"/>
          </a:solidFill>
          <a:latin typeface="+mn-lt"/>
        </a:defRPr>
      </a:lvl7pPr>
      <a:lvl8pPr marL="3429000" indent="-228600" algn="l" rtl="0" eaLnBrk="0" fontAlgn="base" hangingPunct="0">
        <a:spcBef>
          <a:spcPct val="20000"/>
        </a:spcBef>
        <a:spcAft>
          <a:spcPct val="0"/>
        </a:spcAft>
        <a:buChar char="»"/>
        <a:defRPr sz="2000">
          <a:solidFill>
            <a:srgbClr val="0000FF"/>
          </a:solidFill>
          <a:latin typeface="+mn-lt"/>
        </a:defRPr>
      </a:lvl8pPr>
      <a:lvl9pPr marL="3886200" indent="-228600" algn="l" rtl="0" eaLnBrk="0" fontAlgn="base" hangingPunct="0">
        <a:spcBef>
          <a:spcPct val="20000"/>
        </a:spcBef>
        <a:spcAft>
          <a:spcPct val="0"/>
        </a:spcAft>
        <a:buChar char="»"/>
        <a:defRPr sz="2000">
          <a:solidFill>
            <a:srgbClr val="0000FF"/>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tags" Target="../tags/tag2.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hyperlink" Target="http://en.wikipedia.org/wiki/Multicore_(disambiguation)" TargetMode="External"/><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image" Target="../media/image5.gif"/><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6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3" Type="http://schemas.openxmlformats.org/officeDocument/2006/relationships/image" Target="../media/image11.gif"/><Relationship Id="rId2" Type="http://schemas.openxmlformats.org/officeDocument/2006/relationships/notesSlide" Target="../notesSlides/notesSlide34.xml"/><Relationship Id="rId1" Type="http://schemas.openxmlformats.org/officeDocument/2006/relationships/slideLayout" Target="../slideLayouts/slideLayout6.xml"/><Relationship Id="rId4" Type="http://schemas.openxmlformats.org/officeDocument/2006/relationships/image" Target="../media/image10.jpeg"/></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7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7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7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7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8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8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8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8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8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8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8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8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9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9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6.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6.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6.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6.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6.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6.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6.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6.xml"/></Relationships>
</file>

<file path=ppt/slides/_rels/slide103.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6.xml"/></Relationships>
</file>

<file path=ppt/slides/_rels/slide104.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6.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6.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6.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6.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6.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6.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6.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8.xml"/><Relationship Id="rId1" Type="http://schemas.openxmlformats.org/officeDocument/2006/relationships/slideLayout" Target="../slideLayouts/slideLayout6.xml"/></Relationships>
</file>

<file path=ppt/slides/_rels/slide1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9.xml"/><Relationship Id="rId1" Type="http://schemas.openxmlformats.org/officeDocument/2006/relationships/slideLayout" Target="../slideLayouts/slideLayout6.xml"/></Relationships>
</file>

<file path=ppt/slides/_rels/slide1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0.xml"/><Relationship Id="rId1" Type="http://schemas.openxmlformats.org/officeDocument/2006/relationships/slideLayout" Target="../slideLayouts/slideLayout6.xml"/></Relationships>
</file>

<file path=ppt/slides/_rels/slide11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1.xml"/><Relationship Id="rId1" Type="http://schemas.openxmlformats.org/officeDocument/2006/relationships/slideLayout" Target="../slideLayouts/slideLayout6.xml"/></Relationships>
</file>

<file path=ppt/slides/_rels/slide11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2.xml"/><Relationship Id="rId1" Type="http://schemas.openxmlformats.org/officeDocument/2006/relationships/slideLayout" Target="../slideLayouts/slideLayout6.xml"/></Relationships>
</file>

<file path=ppt/slides/_rels/slide11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3.xml"/><Relationship Id="rId1" Type="http://schemas.openxmlformats.org/officeDocument/2006/relationships/slideLayout" Target="../slideLayouts/slideLayout6.xml"/></Relationships>
</file>

<file path=ppt/slides/_rels/slide1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4.xml"/><Relationship Id="rId1" Type="http://schemas.openxmlformats.org/officeDocument/2006/relationships/slideLayout" Target="../slideLayouts/slideLayout6.xml"/></Relationships>
</file>

<file path=ppt/slides/_rels/slide1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5.xml"/><Relationship Id="rId1" Type="http://schemas.openxmlformats.org/officeDocument/2006/relationships/slideLayout" Target="../slideLayouts/slideLayout6.xml"/></Relationships>
</file>

<file path=ppt/slides/_rels/slide1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6.xml"/><Relationship Id="rId1" Type="http://schemas.openxmlformats.org/officeDocument/2006/relationships/slideLayout" Target="../slideLayouts/slideLayout6.xml"/></Relationships>
</file>

<file path=ppt/slides/_rels/slide1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7.xml"/><Relationship Id="rId1" Type="http://schemas.openxmlformats.org/officeDocument/2006/relationships/slideLayout" Target="../slideLayouts/slideLayout6.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25.xml.rels><?xml version="1.0" encoding="UTF-8" standalone="yes"?>
<Relationships xmlns="http://schemas.openxmlformats.org/package/2006/relationships"><Relationship Id="rId3" Type="http://schemas.openxmlformats.org/officeDocument/2006/relationships/hyperlink" Target="http://creativecommons.org/licenses/by-sa/2.5/" TargetMode="External"/><Relationship Id="rId2" Type="http://schemas.openxmlformats.org/officeDocument/2006/relationships/notesSlide" Target="../notesSlides/notesSlide88.xml"/><Relationship Id="rId1" Type="http://schemas.openxmlformats.org/officeDocument/2006/relationships/slideLayout" Target="../slideLayouts/slideLayout7.xml"/><Relationship Id="rId4" Type="http://schemas.openxmlformats.org/officeDocument/2006/relationships/image" Target="../media/image1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pic>
        <p:nvPicPr>
          <p:cNvPr id="5123" name="Picture 3" descr="magic"/>
          <p:cNvPicPr>
            <a:picLocks noChangeAspect="1" noChangeArrowheads="1"/>
          </p:cNvPicPr>
          <p:nvPr/>
        </p:nvPicPr>
        <p:blipFill>
          <a:blip r:embed="rId4" cstate="print"/>
          <a:srcRect/>
          <a:stretch>
            <a:fillRect/>
          </a:stretch>
        </p:blipFill>
        <p:spPr bwMode="auto">
          <a:xfrm>
            <a:off x="2540000" y="2540000"/>
            <a:ext cx="127000" cy="127000"/>
          </a:xfrm>
          <a:prstGeom prst="rect">
            <a:avLst/>
          </a:prstGeom>
          <a:noFill/>
          <a:ln w="9525">
            <a:noFill/>
            <a:miter lim="800000"/>
            <a:headEnd/>
            <a:tailEnd/>
          </a:ln>
        </p:spPr>
      </p:pic>
      <p:sp>
        <p:nvSpPr>
          <p:cNvPr id="5124" name="Rectangle 4"/>
          <p:cNvSpPr>
            <a:spLocks noGrp="1" noChangeArrowheads="1"/>
          </p:cNvSpPr>
          <p:nvPr>
            <p:ph type="ctrTitle" idx="4294967295"/>
          </p:nvPr>
        </p:nvSpPr>
        <p:spPr>
          <a:xfrm>
            <a:off x="685800" y="292100"/>
            <a:ext cx="7772400" cy="1143000"/>
          </a:xfrm>
        </p:spPr>
        <p:txBody>
          <a:bodyPr/>
          <a:lstStyle/>
          <a:p>
            <a:r>
              <a:rPr lang="en-US" altLang="en-US" dirty="0"/>
              <a:t>Data Parallelism</a:t>
            </a:r>
            <a:endParaRPr lang="en-US" dirty="0"/>
          </a:p>
        </p:txBody>
      </p:sp>
      <p:sp>
        <p:nvSpPr>
          <p:cNvPr id="5125" name="Rectangle 5"/>
          <p:cNvSpPr>
            <a:spLocks noGrp="1" noChangeArrowheads="1"/>
          </p:cNvSpPr>
          <p:nvPr>
            <p:ph type="subTitle" idx="4294967295"/>
          </p:nvPr>
        </p:nvSpPr>
        <p:spPr>
          <a:xfrm>
            <a:off x="1103313" y="4198938"/>
            <a:ext cx="6777037" cy="1927225"/>
          </a:xfrm>
        </p:spPr>
        <p:txBody>
          <a:bodyPr/>
          <a:lstStyle/>
          <a:p>
            <a:pPr marL="0" indent="0" algn="ctr">
              <a:lnSpc>
                <a:spcPct val="80000"/>
              </a:lnSpc>
              <a:buFontTx/>
              <a:buNone/>
            </a:pPr>
            <a:r>
              <a:rPr lang="en-US" sz="2800" dirty="0">
                <a:solidFill>
                  <a:schemeClr val="accent1">
                    <a:lumMod val="75000"/>
                  </a:schemeClr>
                </a:solidFill>
              </a:rPr>
              <a:t>Companion slides for</a:t>
            </a:r>
          </a:p>
          <a:p>
            <a:pPr marL="0" indent="0" algn="ctr">
              <a:lnSpc>
                <a:spcPct val="80000"/>
              </a:lnSpc>
              <a:buFontTx/>
              <a:buNone/>
            </a:pPr>
            <a:r>
              <a:rPr lang="en-US" sz="2800" dirty="0">
                <a:solidFill>
                  <a:schemeClr val="tx1"/>
                </a:solidFill>
              </a:rPr>
              <a:t>The Art of Multiprocessor Programming</a:t>
            </a:r>
          </a:p>
          <a:p>
            <a:pPr marL="0" indent="0" algn="ctr">
              <a:lnSpc>
                <a:spcPct val="80000"/>
              </a:lnSpc>
              <a:buFontTx/>
              <a:buNone/>
            </a:pPr>
            <a:r>
              <a:rPr lang="en-US" sz="2800" dirty="0">
                <a:solidFill>
                  <a:schemeClr val="accent1">
                    <a:lumMod val="75000"/>
                  </a:schemeClr>
                </a:solidFill>
              </a:rPr>
              <a:t>by Maurice Herlihy, Nir Shavit, Victor </a:t>
            </a:r>
            <a:r>
              <a:rPr lang="en-US" sz="2800" dirty="0" err="1">
                <a:solidFill>
                  <a:schemeClr val="accent1">
                    <a:lumMod val="75000"/>
                  </a:schemeClr>
                </a:solidFill>
              </a:rPr>
              <a:t>Luchangco</a:t>
            </a:r>
            <a:r>
              <a:rPr lang="en-US" sz="2800" dirty="0">
                <a:solidFill>
                  <a:schemeClr val="accent1">
                    <a:lumMod val="75000"/>
                  </a:schemeClr>
                </a:solidFill>
              </a:rPr>
              <a:t>, and Michael Spear</a:t>
            </a:r>
          </a:p>
        </p:txBody>
      </p:sp>
      <p:sp>
        <p:nvSpPr>
          <p:cNvPr id="5126" name="Rectangle 6"/>
          <p:cNvSpPr>
            <a:spLocks noChangeArrowheads="1"/>
          </p:cNvSpPr>
          <p:nvPr/>
        </p:nvSpPr>
        <p:spPr bwMode="auto">
          <a:xfrm>
            <a:off x="392113" y="5927725"/>
            <a:ext cx="1509712" cy="930275"/>
          </a:xfrm>
          <a:prstGeom prst="rect">
            <a:avLst/>
          </a:prstGeom>
          <a:solidFill>
            <a:schemeClr val="bg1"/>
          </a:solidFill>
          <a:ln w="9525">
            <a:noFill/>
            <a:miter lim="800000"/>
            <a:headEnd/>
            <a:tailEnd/>
          </a:ln>
        </p:spPr>
        <p:txBody>
          <a:bodyPr wrap="none" anchor="ctr"/>
          <a:lstStyle/>
          <a:p>
            <a:pPr algn="r" eaLnBrk="0" hangingPunct="0"/>
            <a:endParaRPr lang="en-US" sz="4400" b="1">
              <a:solidFill>
                <a:srgbClr val="0000FF"/>
              </a:solidFill>
              <a:latin typeface="Comic Sans MS" pitchFamily="66" charset="0"/>
            </a:endParaRPr>
          </a:p>
        </p:txBody>
      </p:sp>
      <p:sp>
        <p:nvSpPr>
          <p:cNvPr id="9" name="TextBox 8"/>
          <p:cNvSpPr txBox="1"/>
          <p:nvPr>
            <p:custDataLst>
              <p:tags r:id="rId1"/>
            </p:custDataLst>
          </p:nvPr>
        </p:nvSpPr>
        <p:spPr>
          <a:xfrm>
            <a:off x="0" y="7112000"/>
            <a:ext cx="9144000" cy="646331"/>
          </a:xfrm>
          <a:prstGeom prst="rect">
            <a:avLst/>
          </a:prstGeom>
          <a:noFill/>
        </p:spPr>
        <p:txBody>
          <a:bodyPr vert="horz" rtlCol="0">
            <a:spAutoFit/>
          </a:bodyPr>
          <a:lstStyle/>
          <a:p>
            <a:r>
              <a:rPr lang="en-US"/>
              <a:t>TexPoint fonts used in EMF. </a:t>
            </a:r>
          </a:p>
          <a:p>
            <a:r>
              <a:rPr lang="en-US"/>
              <a:t>Read the TexPoint manual before you delete this box.: </a:t>
            </a:r>
            <a:r>
              <a:rPr lang="en-US">
                <a:latin typeface="CMR10"/>
              </a:rPr>
              <a:t>A</a:t>
            </a:r>
            <a:r>
              <a:rPr lang="en-US">
                <a:latin typeface="CMSY10ORIG"/>
              </a:rPr>
              <a:t>A</a:t>
            </a:r>
            <a:r>
              <a:rPr lang="en-US">
                <a:latin typeface="CMMI10"/>
              </a:rPr>
              <a:t>A</a:t>
            </a:r>
            <a:r>
              <a:rPr lang="en-US">
                <a:latin typeface="CMMI7"/>
              </a:rPr>
              <a:t>A</a:t>
            </a:r>
            <a:endParaRPr lang="en-US"/>
          </a:p>
        </p:txBody>
      </p:sp>
      <p:pic>
        <p:nvPicPr>
          <p:cNvPr id="10" name="Picture 9" descr="A picture containing graphical user interface&#10;&#10;Description automatically generated">
            <a:extLst>
              <a:ext uri="{FF2B5EF4-FFF2-40B4-BE49-F238E27FC236}">
                <a16:creationId xmlns:a16="http://schemas.microsoft.com/office/drawing/2014/main" id="{9F89C0D8-A087-414E-A6C2-362E560D08A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06086" y="1178582"/>
            <a:ext cx="2731828" cy="2976836"/>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Ever Wonder …</a:t>
            </a:r>
          </a:p>
        </p:txBody>
      </p:sp>
      <p:sp>
        <p:nvSpPr>
          <p:cNvPr id="2" name="Footer Placeholder 1"/>
          <p:cNvSpPr>
            <a:spLocks noGrp="1"/>
          </p:cNvSpPr>
          <p:nvPr>
            <p:ph type="ftr" sz="quarter" idx="10"/>
          </p:nvPr>
        </p:nvSpPr>
        <p:spPr/>
        <p:txBody>
          <a:bodyPr/>
          <a:lstStyle/>
          <a:p>
            <a:pPr>
              <a:defRPr/>
            </a:pPr>
            <a:r>
              <a:rPr lang="en-US"/>
              <a:t>Art of Multiprocessor Programming</a:t>
            </a:r>
          </a:p>
        </p:txBody>
      </p:sp>
      <p:sp>
        <p:nvSpPr>
          <p:cNvPr id="3" name="Slide Number Placeholder 2"/>
          <p:cNvSpPr>
            <a:spLocks noGrp="1"/>
          </p:cNvSpPr>
          <p:nvPr>
            <p:ph type="sldNum" sz="quarter" idx="11"/>
          </p:nvPr>
        </p:nvSpPr>
        <p:spPr/>
        <p:txBody>
          <a:bodyPr/>
          <a:lstStyle/>
          <a:p>
            <a:pPr>
              <a:defRPr/>
            </a:pPr>
            <a:fld id="{10F936D8-AF66-474C-A042-597428A3F87F}" type="slidenum">
              <a:rPr lang="x-none" smtClean="0"/>
              <a:pPr>
                <a:defRPr/>
              </a:pPr>
              <a:t>2</a:t>
            </a:fld>
            <a:endParaRPr lang="en-US"/>
          </a:p>
        </p:txBody>
      </p:sp>
      <p:sp>
        <p:nvSpPr>
          <p:cNvPr id="5" name="Text Box 122"/>
          <p:cNvSpPr txBox="1">
            <a:spLocks noChangeArrowheads="1"/>
          </p:cNvSpPr>
          <p:nvPr/>
        </p:nvSpPr>
        <p:spPr bwMode="auto">
          <a:xfrm>
            <a:off x="640679" y="2228849"/>
            <a:ext cx="756489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When did the term </a:t>
            </a:r>
            <a:r>
              <a:rPr lang="en-US" sz="2800" i="1" dirty="0">
                <a:solidFill>
                  <a:schemeClr val="tx1"/>
                </a:solidFill>
                <a:latin typeface="Arial" pitchFamily="34" charset="0"/>
                <a:cs typeface="Arial" pitchFamily="34" charset="0"/>
              </a:rPr>
              <a:t>multicore</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become popular?</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526964" y="3465023"/>
            <a:ext cx="8090073" cy="1815882"/>
          </a:xfrm>
          <a:prstGeom prst="rect">
            <a:avLst/>
          </a:prstGeom>
          <a:solidFill>
            <a:schemeClr val="bg1">
              <a:alpha val="89999"/>
            </a:schemeClr>
          </a:solidFill>
          <a:ln w="38100" algn="ctr">
            <a:solidFill>
              <a:srgbClr val="0000FF"/>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anose="020B0604020202020204" pitchFamily="34" charset="0"/>
                <a:cs typeface="Arial" panose="020B0604020202020204" pitchFamily="34" charset="0"/>
              </a:rPr>
              <a:t>A multi-core processor is a single computing component with two or more independent actual central processing units, which are the units that read and execute program instructions.</a:t>
            </a:r>
            <a:r>
              <a:rPr lang="en-US" sz="2800" dirty="0">
                <a:latin typeface="Arial" panose="020B0604020202020204" pitchFamily="34" charset="0"/>
                <a:cs typeface="Arial" panose="020B0604020202020204" pitchFamily="34" charset="0"/>
                <a:hlinkClick r:id="rId2"/>
              </a:rPr>
              <a:t>)</a:t>
            </a:r>
            <a:endParaRPr lang="en-US" sz="2800" dirty="0">
              <a:latin typeface="Arial" panose="020B0604020202020204" pitchFamily="34" charset="0"/>
              <a:cs typeface="Arial" panose="020B0604020202020204" pitchFamily="34" charset="0"/>
            </a:endParaRPr>
          </a:p>
        </p:txBody>
      </p:sp>
      <p:sp>
        <p:nvSpPr>
          <p:cNvPr id="7" name="Text Box 122"/>
          <p:cNvSpPr txBox="1">
            <a:spLocks noChangeArrowheads="1"/>
          </p:cNvSpPr>
          <p:nvPr/>
        </p:nvSpPr>
        <p:spPr bwMode="auto">
          <a:xfrm>
            <a:off x="7235162" y="5019295"/>
            <a:ext cx="1665841"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err="1">
                <a:solidFill>
                  <a:schemeClr val="tx1"/>
                </a:solidFill>
                <a:latin typeface="Arial" panose="020B0604020202020204" pitchFamily="34" charset="0"/>
                <a:cs typeface="Arial" panose="020B0604020202020204" pitchFamily="34" charset="0"/>
              </a:rPr>
              <a:t>wikipedia</a:t>
            </a:r>
            <a:endParaRPr lang="en-US" sz="2800" dirty="0">
              <a:solidFill>
                <a:schemeClr val="tx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521110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linds(horizont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Ask Google </a:t>
            </a:r>
            <a:r>
              <a:rPr lang="en-US" dirty="0" err="1"/>
              <a:t>Ngram</a:t>
            </a:r>
            <a:r>
              <a:rPr lang="en-US" dirty="0"/>
              <a:t>!</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7" y="2114550"/>
            <a:ext cx="9003846" cy="3461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122"/>
          <p:cNvSpPr txBox="1">
            <a:spLocks noChangeArrowheads="1"/>
          </p:cNvSpPr>
          <p:nvPr/>
        </p:nvSpPr>
        <p:spPr bwMode="auto">
          <a:xfrm>
            <a:off x="881898" y="3044448"/>
            <a:ext cx="7664278"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usage of </a:t>
            </a:r>
            <a:r>
              <a:rPr lang="en-US" sz="2800" i="1" dirty="0">
                <a:solidFill>
                  <a:schemeClr val="tx1"/>
                </a:solidFill>
                <a:latin typeface="Arial" pitchFamily="34" charset="0"/>
                <a:cs typeface="Arial" pitchFamily="34" charset="0"/>
              </a:rPr>
              <a:t>multicore</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in books by publication year</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4297505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Ask Google </a:t>
            </a:r>
            <a:r>
              <a:rPr lang="en-US" dirty="0" err="1"/>
              <a:t>Ngram</a:t>
            </a:r>
            <a:r>
              <a:rPr lang="en-US" dirty="0"/>
              <a:t>!</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7" y="2114550"/>
            <a:ext cx="9003846" cy="3461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ounded Rectangular Callout 5"/>
          <p:cNvSpPr/>
          <p:nvPr/>
        </p:nvSpPr>
        <p:spPr bwMode="auto">
          <a:xfrm>
            <a:off x="7625166" y="2114550"/>
            <a:ext cx="1448757" cy="3461089"/>
          </a:xfrm>
          <a:prstGeom prst="wedgeRoundRectCallout">
            <a:avLst>
              <a:gd name="adj1" fmla="val -125619"/>
              <a:gd name="adj2" fmla="val -9195"/>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7" name="Text Box 122"/>
          <p:cNvSpPr txBox="1">
            <a:spLocks noChangeArrowheads="1"/>
          </p:cNvSpPr>
          <p:nvPr/>
        </p:nvSpPr>
        <p:spPr bwMode="auto">
          <a:xfrm>
            <a:off x="844992" y="3284248"/>
            <a:ext cx="558197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This part since 2000 is obvious …</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5672935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Ask Google </a:t>
            </a:r>
            <a:r>
              <a:rPr lang="en-US" dirty="0" err="1"/>
              <a:t>Ngram</a:t>
            </a:r>
            <a:r>
              <a:rPr lang="en-US" dirty="0"/>
              <a:t>!</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7" y="2114550"/>
            <a:ext cx="9003846" cy="3461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ounded Rectangular Callout 5"/>
          <p:cNvSpPr/>
          <p:nvPr/>
        </p:nvSpPr>
        <p:spPr bwMode="auto">
          <a:xfrm>
            <a:off x="1549830" y="4510007"/>
            <a:ext cx="1448757" cy="1065632"/>
          </a:xfrm>
          <a:prstGeom prst="wedgeRoundRectCallout">
            <a:avLst>
              <a:gd name="adj1" fmla="val 121497"/>
              <a:gd name="adj2" fmla="val -205536"/>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7" name="Text Box 122"/>
          <p:cNvSpPr txBox="1">
            <a:spLocks noChangeArrowheads="1"/>
          </p:cNvSpPr>
          <p:nvPr/>
        </p:nvSpPr>
        <p:spPr bwMode="auto">
          <a:xfrm>
            <a:off x="4085506" y="2509333"/>
            <a:ext cx="78579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t>
            </a:r>
            <a:endParaRPr lang="en-US" sz="2800" dirty="0">
              <a:solidFill>
                <a:schemeClr val="tx1"/>
              </a:solidFill>
              <a:latin typeface="Arial" pitchFamily="34" charset="0"/>
              <a:cs typeface="Arial" pitchFamily="34" charset="0"/>
            </a:endParaRPr>
          </a:p>
        </p:txBody>
      </p:sp>
      <p:sp>
        <p:nvSpPr>
          <p:cNvPr id="8" name="Rounded Rectangular Callout 7"/>
          <p:cNvSpPr/>
          <p:nvPr/>
        </p:nvSpPr>
        <p:spPr bwMode="auto">
          <a:xfrm>
            <a:off x="3422542" y="4129591"/>
            <a:ext cx="1448757" cy="1065632"/>
          </a:xfrm>
          <a:prstGeom prst="wedgeRoundRectCallout">
            <a:avLst>
              <a:gd name="adj1" fmla="val 18799"/>
              <a:gd name="adj2" fmla="val -138635"/>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9" name="Rounded Rectangular Callout 8"/>
          <p:cNvSpPr/>
          <p:nvPr/>
        </p:nvSpPr>
        <p:spPr bwMode="auto">
          <a:xfrm>
            <a:off x="6178657" y="4036601"/>
            <a:ext cx="1448757" cy="1065632"/>
          </a:xfrm>
          <a:prstGeom prst="wedgeRoundRectCallout">
            <a:avLst>
              <a:gd name="adj1" fmla="val -135247"/>
              <a:gd name="adj2" fmla="val -163359"/>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Tree>
    <p:extLst>
      <p:ext uri="{BB962C8B-B14F-4D97-AF65-F5344CB8AC3E}">
        <p14:creationId xmlns:p14="http://schemas.microsoft.com/office/powerpoint/2010/main" val="1750399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Let’s Ask Google </a:t>
            </a:r>
            <a:r>
              <a:rPr lang="en-US" dirty="0" err="1"/>
              <a:t>Ngram</a:t>
            </a:r>
            <a:r>
              <a:rPr lang="en-US" dirty="0"/>
              <a:t>!</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a:t>
            </a:fld>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77" y="2114550"/>
            <a:ext cx="9003846" cy="34610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Rounded Rectangular Callout 5"/>
          <p:cNvSpPr/>
          <p:nvPr/>
        </p:nvSpPr>
        <p:spPr bwMode="auto">
          <a:xfrm>
            <a:off x="1549830" y="4510007"/>
            <a:ext cx="1448757" cy="1065632"/>
          </a:xfrm>
          <a:prstGeom prst="wedgeRoundRectCallout">
            <a:avLst>
              <a:gd name="adj1" fmla="val 96701"/>
              <a:gd name="adj2" fmla="val -173358"/>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7" name="Text Box 122"/>
          <p:cNvSpPr txBox="1">
            <a:spLocks noChangeArrowheads="1"/>
          </p:cNvSpPr>
          <p:nvPr/>
        </p:nvSpPr>
        <p:spPr bwMode="auto">
          <a:xfrm>
            <a:off x="3269400" y="1720799"/>
            <a:ext cx="2605200" cy="1384995"/>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multicore cable</a:t>
            </a:r>
          </a:p>
          <a:p>
            <a:pPr algn="l"/>
            <a:r>
              <a:rPr lang="en-US" sz="2800" dirty="0">
                <a:latin typeface="Arial" pitchFamily="34" charset="0"/>
                <a:cs typeface="Arial" pitchFamily="34" charset="0"/>
              </a:rPr>
              <a:t>multicore fiber</a:t>
            </a:r>
          </a:p>
          <a:p>
            <a:pPr algn="ctr"/>
            <a:r>
              <a:rPr lang="en-US" sz="2800" dirty="0">
                <a:latin typeface="Arial" pitchFamily="34" charset="0"/>
                <a:cs typeface="Arial" pitchFamily="34" charset="0"/>
              </a:rPr>
              <a:t>  …</a:t>
            </a:r>
          </a:p>
        </p:txBody>
      </p:sp>
      <p:sp>
        <p:nvSpPr>
          <p:cNvPr id="8" name="Rounded Rectangular Callout 7"/>
          <p:cNvSpPr/>
          <p:nvPr/>
        </p:nvSpPr>
        <p:spPr bwMode="auto">
          <a:xfrm>
            <a:off x="3422542" y="4129591"/>
            <a:ext cx="1448757" cy="1065632"/>
          </a:xfrm>
          <a:prstGeom prst="wedgeRoundRectCallout">
            <a:avLst>
              <a:gd name="adj1" fmla="val 18799"/>
              <a:gd name="adj2" fmla="val -138635"/>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9" name="Rounded Rectangular Callout 8"/>
          <p:cNvSpPr/>
          <p:nvPr/>
        </p:nvSpPr>
        <p:spPr bwMode="auto">
          <a:xfrm>
            <a:off x="6178657" y="4036601"/>
            <a:ext cx="1448757" cy="1065632"/>
          </a:xfrm>
          <a:prstGeom prst="wedgeRoundRectCallout">
            <a:avLst>
              <a:gd name="adj1" fmla="val -96927"/>
              <a:gd name="adj2" fmla="val -131181"/>
              <a:gd name="adj3" fmla="val 16667"/>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noAutofit/>
          </a:bodyPr>
          <a:lstStyle/>
          <a:p>
            <a:pPr marL="0" marR="0" indent="0" algn="ct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itchFamily="34" charset="0"/>
                <a:cs typeface="Arial" pitchFamily="34" charset="0"/>
              </a:rPr>
              <a:t> </a:t>
            </a:r>
          </a:p>
        </p:txBody>
      </p:sp>
      <p:sp>
        <p:nvSpPr>
          <p:cNvPr id="10" name="Text Box 122"/>
          <p:cNvSpPr txBox="1">
            <a:spLocks noChangeArrowheads="1"/>
          </p:cNvSpPr>
          <p:nvPr/>
        </p:nvSpPr>
        <p:spPr bwMode="auto">
          <a:xfrm>
            <a:off x="3090665" y="3774991"/>
            <a:ext cx="2962671" cy="523220"/>
          </a:xfrm>
          <a:prstGeom prst="rect">
            <a:avLst/>
          </a:prstGeom>
          <a:solidFill>
            <a:schemeClr val="bg1">
              <a:alpha val="89999"/>
            </a:schemeClr>
          </a:solidFill>
          <a:ln w="38100" algn="ctr">
            <a:solidFill>
              <a:srgbClr val="FF0000"/>
            </a:solidFill>
            <a:miter lim="800000"/>
            <a:headEnd/>
            <a:tailEnd/>
          </a:ln>
          <a:effectLst>
            <a:glow rad="228600">
              <a:schemeClr val="accent1">
                <a:satMod val="175000"/>
                <a:alpha val="40000"/>
              </a:schemeClr>
            </a:glow>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but we digress …</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4327333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linds(horizontal)">
                                      <p:cBhvr>
                                        <p:cTn id="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WordCount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7</a:t>
            </a:fld>
            <a:endParaRPr lang="en-US"/>
          </a:p>
        </p:txBody>
      </p:sp>
      <p:pic>
        <p:nvPicPr>
          <p:cNvPr id="1026"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279" y="2228850"/>
            <a:ext cx="3704769" cy="2776768"/>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bwMode="auto">
          <a:xfrm>
            <a:off x="4148048" y="2743199"/>
            <a:ext cx="1539830" cy="1487837"/>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6" name="Double Bracket 5"/>
          <p:cNvSpPr/>
          <p:nvPr/>
        </p:nvSpPr>
        <p:spPr bwMode="auto">
          <a:xfrm>
            <a:off x="6389896" y="2162011"/>
            <a:ext cx="2076772" cy="2650211"/>
          </a:xfrm>
          <a:prstGeom prst="bracketPair">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7" name="TextBox 6"/>
          <p:cNvSpPr txBox="1"/>
          <p:nvPr/>
        </p:nvSpPr>
        <p:spPr bwMode="auto">
          <a:xfrm>
            <a:off x="6518418" y="2162011"/>
            <a:ext cx="1819729"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alpha </a:t>
            </a:r>
            <a:r>
              <a:rPr lang="en-US" sz="2800" dirty="0">
                <a:latin typeface="Arial" pitchFamily="34" charset="0"/>
                <a:cs typeface="Arial" pitchFamily="34" charset="0"/>
                <a:sym typeface="Symbol"/>
              </a:rPr>
              <a:t> 8</a:t>
            </a:r>
            <a:endParaRPr lang="en-US" sz="2800" dirty="0">
              <a:latin typeface="Arial" pitchFamily="34" charset="0"/>
              <a:cs typeface="Arial" pitchFamily="34" charset="0"/>
            </a:endParaRPr>
          </a:p>
        </p:txBody>
      </p:sp>
      <p:sp>
        <p:nvSpPr>
          <p:cNvPr id="25" name="Text Box 122"/>
          <p:cNvSpPr txBox="1">
            <a:spLocks noChangeArrowheads="1"/>
          </p:cNvSpPr>
          <p:nvPr/>
        </p:nvSpPr>
        <p:spPr bwMode="auto">
          <a:xfrm>
            <a:off x="1015473" y="4869100"/>
            <a:ext cx="430278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easy to do sequentially …</a:t>
            </a:r>
            <a:endParaRPr lang="en-US" sz="2800" dirty="0">
              <a:solidFill>
                <a:schemeClr val="tx1"/>
              </a:solidFill>
              <a:latin typeface="Arial" pitchFamily="34" charset="0"/>
              <a:cs typeface="Arial" pitchFamily="34" charset="0"/>
            </a:endParaRPr>
          </a:p>
        </p:txBody>
      </p:sp>
      <p:sp>
        <p:nvSpPr>
          <p:cNvPr id="26" name="Text Box 122"/>
          <p:cNvSpPr txBox="1">
            <a:spLocks noChangeArrowheads="1"/>
          </p:cNvSpPr>
          <p:nvPr/>
        </p:nvSpPr>
        <p:spPr bwMode="auto">
          <a:xfrm>
            <a:off x="3703935" y="5283110"/>
            <a:ext cx="378661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what about in parallel?</a:t>
            </a:r>
            <a:endParaRPr lang="en-US" sz="2800" dirty="0">
              <a:solidFill>
                <a:schemeClr val="tx1"/>
              </a:solidFill>
              <a:latin typeface="Arial" pitchFamily="34" charset="0"/>
              <a:cs typeface="Arial" pitchFamily="34" charset="0"/>
            </a:endParaRPr>
          </a:p>
        </p:txBody>
      </p:sp>
      <p:sp>
        <p:nvSpPr>
          <p:cNvPr id="27" name="TextBox 26"/>
          <p:cNvSpPr txBox="1"/>
          <p:nvPr/>
        </p:nvSpPr>
        <p:spPr bwMode="auto">
          <a:xfrm>
            <a:off x="6508800" y="2696626"/>
            <a:ext cx="1838965"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bravo </a:t>
            </a:r>
            <a:r>
              <a:rPr lang="en-US" sz="2800" dirty="0">
                <a:latin typeface="Arial" pitchFamily="34" charset="0"/>
                <a:cs typeface="Arial" pitchFamily="34" charset="0"/>
                <a:sym typeface="Symbol"/>
              </a:rPr>
              <a:t> 3</a:t>
            </a:r>
            <a:endParaRPr lang="en-US" sz="2800" dirty="0">
              <a:latin typeface="Arial" pitchFamily="34" charset="0"/>
              <a:cs typeface="Arial" pitchFamily="34" charset="0"/>
            </a:endParaRPr>
          </a:p>
        </p:txBody>
      </p:sp>
      <p:sp>
        <p:nvSpPr>
          <p:cNvPr id="28" name="TextBox 27"/>
          <p:cNvSpPr txBox="1"/>
          <p:nvPr/>
        </p:nvSpPr>
        <p:spPr bwMode="auto">
          <a:xfrm>
            <a:off x="6428650" y="3231241"/>
            <a:ext cx="1999265"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err="1">
                <a:latin typeface="Arial" pitchFamily="34" charset="0"/>
                <a:cs typeface="Arial" pitchFamily="34" charset="0"/>
              </a:rPr>
              <a:t>charlie</a:t>
            </a:r>
            <a:r>
              <a:rPr lang="en-US" sz="2800" dirty="0">
                <a:latin typeface="Arial" pitchFamily="34" charset="0"/>
                <a:cs typeface="Arial" pitchFamily="34" charset="0"/>
              </a:rPr>
              <a:t> </a:t>
            </a:r>
            <a:r>
              <a:rPr lang="en-US" sz="2800" dirty="0">
                <a:latin typeface="Arial" pitchFamily="34" charset="0"/>
                <a:cs typeface="Arial" pitchFamily="34" charset="0"/>
                <a:sym typeface="Symbol"/>
              </a:rPr>
              <a:t> 9</a:t>
            </a:r>
            <a:endParaRPr lang="en-US" sz="2800" dirty="0">
              <a:latin typeface="Arial" pitchFamily="34" charset="0"/>
              <a:cs typeface="Arial" pitchFamily="34" charset="0"/>
            </a:endParaRPr>
          </a:p>
        </p:txBody>
      </p:sp>
      <p:sp>
        <p:nvSpPr>
          <p:cNvPr id="29" name="TextBox 28"/>
          <p:cNvSpPr txBox="1"/>
          <p:nvPr/>
        </p:nvSpPr>
        <p:spPr bwMode="auto">
          <a:xfrm>
            <a:off x="7156413" y="3765856"/>
            <a:ext cx="543739"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a:t>
            </a:r>
          </a:p>
        </p:txBody>
      </p:sp>
      <p:sp>
        <p:nvSpPr>
          <p:cNvPr id="30" name="TextBox 29"/>
          <p:cNvSpPr txBox="1"/>
          <p:nvPr/>
        </p:nvSpPr>
        <p:spPr bwMode="auto">
          <a:xfrm>
            <a:off x="6629025" y="4300472"/>
            <a:ext cx="1598515"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err="1">
                <a:latin typeface="Arial" pitchFamily="34" charset="0"/>
                <a:cs typeface="Arial" pitchFamily="34" charset="0"/>
              </a:rPr>
              <a:t>zulu</a:t>
            </a:r>
            <a:r>
              <a:rPr lang="en-US" sz="2800" dirty="0">
                <a:latin typeface="Arial" pitchFamily="34" charset="0"/>
                <a:cs typeface="Arial" pitchFamily="34" charset="0"/>
              </a:rPr>
              <a:t> </a:t>
            </a:r>
            <a:r>
              <a:rPr lang="en-US" sz="2800" dirty="0">
                <a:latin typeface="Arial" pitchFamily="34" charset="0"/>
                <a:cs typeface="Arial" pitchFamily="34" charset="0"/>
                <a:sym typeface="Symbol"/>
              </a:rPr>
              <a:t> 1</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20398414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2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8</a:t>
            </a:fld>
            <a:endParaRPr lang="en-US"/>
          </a:p>
        </p:txBody>
      </p:sp>
      <p:sp>
        <p:nvSpPr>
          <p:cNvPr id="8" name="TextBox 7"/>
          <p:cNvSpPr txBox="1"/>
          <p:nvPr/>
        </p:nvSpPr>
        <p:spPr bwMode="auto">
          <a:xfrm>
            <a:off x="5647424" y="4534363"/>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grpSp>
        <p:nvGrpSpPr>
          <p:cNvPr id="13" name="Group 12"/>
          <p:cNvGrpSpPr/>
          <p:nvPr/>
        </p:nvGrpSpPr>
        <p:grpSpPr>
          <a:xfrm>
            <a:off x="588688" y="3808837"/>
            <a:ext cx="2086773" cy="2097383"/>
            <a:chOff x="588688" y="3641749"/>
            <a:chExt cx="2086773" cy="2097383"/>
          </a:xfrm>
        </p:grpSpPr>
        <p:pic>
          <p:nvPicPr>
            <p:cNvPr id="5"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1</a:t>
              </a:r>
            </a:p>
          </p:txBody>
        </p:sp>
      </p:grpSp>
      <p:grpSp>
        <p:nvGrpSpPr>
          <p:cNvPr id="14" name="Group 13"/>
          <p:cNvGrpSpPr/>
          <p:nvPr/>
        </p:nvGrpSpPr>
        <p:grpSpPr>
          <a:xfrm>
            <a:off x="3118056" y="3808837"/>
            <a:ext cx="2086773" cy="2097383"/>
            <a:chOff x="588688" y="3641749"/>
            <a:chExt cx="2086773" cy="2097383"/>
          </a:xfrm>
        </p:grpSpPr>
        <p:pic>
          <p:nvPicPr>
            <p:cNvPr id="15"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2</a:t>
              </a:r>
            </a:p>
          </p:txBody>
        </p:sp>
      </p:grpSp>
      <p:grpSp>
        <p:nvGrpSpPr>
          <p:cNvPr id="17" name="Group 16"/>
          <p:cNvGrpSpPr/>
          <p:nvPr/>
        </p:nvGrpSpPr>
        <p:grpSpPr>
          <a:xfrm>
            <a:off x="6736349" y="3808837"/>
            <a:ext cx="2086773" cy="2097383"/>
            <a:chOff x="588688" y="3641749"/>
            <a:chExt cx="2086773" cy="2097383"/>
          </a:xfrm>
        </p:grpSpPr>
        <p:pic>
          <p:nvPicPr>
            <p:cNvPr id="18"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k</a:t>
              </a:r>
            </a:p>
          </p:txBody>
        </p:sp>
      </p:grpSp>
      <p:sp>
        <p:nvSpPr>
          <p:cNvPr id="63" name="Text Box 122"/>
          <p:cNvSpPr txBox="1">
            <a:spLocks noChangeArrowheads="1"/>
          </p:cNvSpPr>
          <p:nvPr/>
        </p:nvSpPr>
        <p:spPr bwMode="auto">
          <a:xfrm>
            <a:off x="1829903" y="2621846"/>
            <a:ext cx="548419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split text among </a:t>
            </a:r>
            <a:r>
              <a:rPr lang="en-US" sz="2800" i="1" dirty="0">
                <a:solidFill>
                  <a:schemeClr val="tx1"/>
                </a:solidFill>
                <a:latin typeface="Arial" pitchFamily="34" charset="0"/>
                <a:cs typeface="Arial" pitchFamily="34" charset="0"/>
              </a:rPr>
              <a:t>mapping</a:t>
            </a:r>
            <a:r>
              <a:rPr lang="en-US" sz="2800" dirty="0">
                <a:latin typeface="Arial" pitchFamily="34" charset="0"/>
                <a:cs typeface="Arial" pitchFamily="34" charset="0"/>
              </a:rPr>
              <a:t> threads</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202341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Phase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a:t>
            </a:fld>
            <a:endParaRPr lang="en-US"/>
          </a:p>
        </p:txBody>
      </p:sp>
      <p:sp>
        <p:nvSpPr>
          <p:cNvPr id="8" name="TextBox 7"/>
          <p:cNvSpPr txBox="1"/>
          <p:nvPr/>
        </p:nvSpPr>
        <p:spPr bwMode="auto">
          <a:xfrm>
            <a:off x="5647424" y="4534363"/>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grpSp>
        <p:nvGrpSpPr>
          <p:cNvPr id="13" name="Group 12"/>
          <p:cNvGrpSpPr/>
          <p:nvPr/>
        </p:nvGrpSpPr>
        <p:grpSpPr>
          <a:xfrm>
            <a:off x="588688" y="3808837"/>
            <a:ext cx="2086773" cy="2097383"/>
            <a:chOff x="588688" y="3641749"/>
            <a:chExt cx="2086773" cy="2097383"/>
          </a:xfrm>
        </p:grpSpPr>
        <p:pic>
          <p:nvPicPr>
            <p:cNvPr id="5"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1</a:t>
              </a:r>
            </a:p>
          </p:txBody>
        </p:sp>
      </p:grpSp>
      <p:grpSp>
        <p:nvGrpSpPr>
          <p:cNvPr id="14" name="Group 13"/>
          <p:cNvGrpSpPr/>
          <p:nvPr/>
        </p:nvGrpSpPr>
        <p:grpSpPr>
          <a:xfrm>
            <a:off x="3118056" y="3808837"/>
            <a:ext cx="2086773" cy="2097383"/>
            <a:chOff x="588688" y="3641749"/>
            <a:chExt cx="2086773" cy="2097383"/>
          </a:xfrm>
        </p:grpSpPr>
        <p:pic>
          <p:nvPicPr>
            <p:cNvPr id="15"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6" name="TextBox 15"/>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2</a:t>
              </a:r>
            </a:p>
          </p:txBody>
        </p:sp>
      </p:grpSp>
      <p:grpSp>
        <p:nvGrpSpPr>
          <p:cNvPr id="17" name="Group 16"/>
          <p:cNvGrpSpPr/>
          <p:nvPr/>
        </p:nvGrpSpPr>
        <p:grpSpPr>
          <a:xfrm>
            <a:off x="6736349" y="3808837"/>
            <a:ext cx="2086773" cy="2097383"/>
            <a:chOff x="588688" y="3641749"/>
            <a:chExt cx="2086773" cy="2097383"/>
          </a:xfrm>
        </p:grpSpPr>
        <p:pic>
          <p:nvPicPr>
            <p:cNvPr id="18"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k</a:t>
              </a:r>
            </a:p>
          </p:txBody>
        </p:sp>
      </p:grpSp>
      <p:grpSp>
        <p:nvGrpSpPr>
          <p:cNvPr id="34" name="Group 33"/>
          <p:cNvGrpSpPr/>
          <p:nvPr/>
        </p:nvGrpSpPr>
        <p:grpSpPr>
          <a:xfrm>
            <a:off x="645837" y="2040902"/>
            <a:ext cx="1740985" cy="1912490"/>
            <a:chOff x="645837" y="2040902"/>
            <a:chExt cx="1740985" cy="1912490"/>
          </a:xfrm>
        </p:grpSpPr>
        <p:grpSp>
          <p:nvGrpSpPr>
            <p:cNvPr id="21" name="Group 13"/>
            <p:cNvGrpSpPr>
              <a:grpSpLocks/>
            </p:cNvGrpSpPr>
            <p:nvPr/>
          </p:nvGrpSpPr>
          <p:grpSpPr bwMode="auto">
            <a:xfrm flipH="1">
              <a:off x="1018023" y="3248542"/>
              <a:ext cx="788987" cy="704850"/>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3" name="Rounded Rectangular Callout 32"/>
            <p:cNvSpPr/>
            <p:nvPr/>
          </p:nvSpPr>
          <p:spPr>
            <a:xfrm>
              <a:off x="645837" y="2040902"/>
              <a:ext cx="1740985" cy="783193"/>
            </a:xfrm>
            <a:prstGeom prst="wedgeRoundRectCallout">
              <a:avLst>
                <a:gd name="adj1" fmla="val 5429"/>
                <a:gd name="adj2" fmla="val 91592"/>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2000" dirty="0">
                  <a:solidFill>
                    <a:srgbClr val="FF0000"/>
                  </a:solidFill>
                  <a:latin typeface="Arial" pitchFamily="34" charset="0"/>
                </a:rPr>
                <a:t>must count words!</a:t>
              </a:r>
            </a:p>
          </p:txBody>
        </p:sp>
      </p:grpSp>
      <p:grpSp>
        <p:nvGrpSpPr>
          <p:cNvPr id="35" name="Group 34"/>
          <p:cNvGrpSpPr/>
          <p:nvPr/>
        </p:nvGrpSpPr>
        <p:grpSpPr>
          <a:xfrm>
            <a:off x="6886141" y="2069153"/>
            <a:ext cx="1740985" cy="1912490"/>
            <a:chOff x="645837" y="2040902"/>
            <a:chExt cx="1740985" cy="1912490"/>
          </a:xfrm>
        </p:grpSpPr>
        <p:grpSp>
          <p:nvGrpSpPr>
            <p:cNvPr id="36" name="Group 13"/>
            <p:cNvGrpSpPr>
              <a:grpSpLocks/>
            </p:cNvGrpSpPr>
            <p:nvPr/>
          </p:nvGrpSpPr>
          <p:grpSpPr bwMode="auto">
            <a:xfrm flipH="1">
              <a:off x="1018023" y="3248542"/>
              <a:ext cx="788987" cy="704850"/>
              <a:chOff x="864" y="1968"/>
              <a:chExt cx="912" cy="816"/>
            </a:xfrm>
          </p:grpSpPr>
          <p:sp>
            <p:nvSpPr>
              <p:cNvPr id="3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3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grpSp>
        <p:sp>
          <p:nvSpPr>
            <p:cNvPr id="37" name="Rounded Rectangular Callout 36"/>
            <p:cNvSpPr/>
            <p:nvPr/>
          </p:nvSpPr>
          <p:spPr>
            <a:xfrm>
              <a:off x="645837" y="2040902"/>
              <a:ext cx="1740985" cy="783193"/>
            </a:xfrm>
            <a:prstGeom prst="wedgeRoundRectCallout">
              <a:avLst>
                <a:gd name="adj1" fmla="val 5429"/>
                <a:gd name="adj2" fmla="val 91592"/>
                <a:gd name="adj3" fmla="val 16667"/>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2000" dirty="0">
                  <a:solidFill>
                    <a:srgbClr val="00B050"/>
                  </a:solidFill>
                  <a:latin typeface="Arial" pitchFamily="34" charset="0"/>
                </a:rPr>
                <a:t>must count words!</a:t>
              </a:r>
            </a:p>
          </p:txBody>
        </p:sp>
      </p:grpSp>
      <p:grpSp>
        <p:nvGrpSpPr>
          <p:cNvPr id="49" name="Group 48"/>
          <p:cNvGrpSpPr/>
          <p:nvPr/>
        </p:nvGrpSpPr>
        <p:grpSpPr>
          <a:xfrm>
            <a:off x="3336725" y="2068917"/>
            <a:ext cx="1740985" cy="1912490"/>
            <a:chOff x="645837" y="2040902"/>
            <a:chExt cx="1740985" cy="1912490"/>
          </a:xfrm>
        </p:grpSpPr>
        <p:grpSp>
          <p:nvGrpSpPr>
            <p:cNvPr id="50" name="Group 13"/>
            <p:cNvGrpSpPr>
              <a:grpSpLocks/>
            </p:cNvGrpSpPr>
            <p:nvPr/>
          </p:nvGrpSpPr>
          <p:grpSpPr bwMode="auto">
            <a:xfrm flipH="1">
              <a:off x="1018023" y="3248542"/>
              <a:ext cx="788987" cy="704850"/>
              <a:chOff x="864" y="1968"/>
              <a:chExt cx="912" cy="816"/>
            </a:xfrm>
          </p:grpSpPr>
          <p:sp>
            <p:nvSpPr>
              <p:cNvPr id="5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51" name="Rounded Rectangular Callout 50"/>
            <p:cNvSpPr/>
            <p:nvPr/>
          </p:nvSpPr>
          <p:spPr>
            <a:xfrm>
              <a:off x="645837" y="2040902"/>
              <a:ext cx="1740985" cy="783193"/>
            </a:xfrm>
            <a:prstGeom prst="wedgeRoundRectCallout">
              <a:avLst>
                <a:gd name="adj1" fmla="val 5429"/>
                <a:gd name="adj2" fmla="val 91592"/>
                <a:gd name="adj3" fmla="val 16667"/>
              </a:avLst>
            </a:prstGeom>
            <a:solidFill>
              <a:schemeClr val="bg1"/>
            </a:solidFill>
            <a:ln w="3810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defRPr/>
              </a:pPr>
              <a:r>
                <a:rPr lang="en-US" sz="2000" dirty="0">
                  <a:solidFill>
                    <a:srgbClr val="0000FF"/>
                  </a:solidFill>
                  <a:latin typeface="Arial" pitchFamily="34" charset="0"/>
                </a:rPr>
                <a:t>must count words!</a:t>
              </a:r>
            </a:p>
          </p:txBody>
        </p:sp>
      </p:grpSp>
      <p:sp>
        <p:nvSpPr>
          <p:cNvPr id="64" name="Text Box 122"/>
          <p:cNvSpPr txBox="1">
            <a:spLocks noChangeArrowheads="1"/>
          </p:cNvSpPr>
          <p:nvPr/>
        </p:nvSpPr>
        <p:spPr bwMode="auto">
          <a:xfrm>
            <a:off x="2118444" y="4233638"/>
            <a:ext cx="490711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 </a:t>
            </a:r>
            <a:r>
              <a:rPr lang="en-US" sz="2800" i="1" dirty="0">
                <a:solidFill>
                  <a:schemeClr val="tx1"/>
                </a:solidFill>
                <a:latin typeface="Arial" pitchFamily="34" charset="0"/>
                <a:cs typeface="Arial" pitchFamily="34" charset="0"/>
              </a:rPr>
              <a:t>mapping thread </a:t>
            </a:r>
            <a:r>
              <a:rPr lang="en-US" sz="2800" dirty="0">
                <a:latin typeface="Arial" pitchFamily="34" charset="0"/>
                <a:cs typeface="Arial" pitchFamily="34" charset="0"/>
              </a:rPr>
              <a:t>per chapter</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5476688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Phase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a:t>
            </a:fld>
            <a:endParaRPr lang="en-US"/>
          </a:p>
        </p:txBody>
      </p:sp>
      <p:grpSp>
        <p:nvGrpSpPr>
          <p:cNvPr id="13" name="Group 12"/>
          <p:cNvGrpSpPr/>
          <p:nvPr/>
        </p:nvGrpSpPr>
        <p:grpSpPr>
          <a:xfrm>
            <a:off x="588688" y="3808837"/>
            <a:ext cx="2086773" cy="2097383"/>
            <a:chOff x="588688" y="3641749"/>
            <a:chExt cx="2086773" cy="2097383"/>
          </a:xfrm>
        </p:grpSpPr>
        <p:pic>
          <p:nvPicPr>
            <p:cNvPr id="5"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88688" y="3641749"/>
              <a:ext cx="2086773" cy="1564061"/>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p:cNvSpPr txBox="1"/>
            <p:nvPr/>
          </p:nvSpPr>
          <p:spPr bwMode="auto">
            <a:xfrm>
              <a:off x="789536" y="5215912"/>
              <a:ext cx="1685077"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chapter 1</a:t>
              </a:r>
            </a:p>
          </p:txBody>
        </p:sp>
      </p:grpSp>
      <p:grpSp>
        <p:nvGrpSpPr>
          <p:cNvPr id="21" name="Group 13"/>
          <p:cNvGrpSpPr>
            <a:grpSpLocks/>
          </p:cNvGrpSpPr>
          <p:nvPr/>
        </p:nvGrpSpPr>
        <p:grpSpPr bwMode="auto">
          <a:xfrm flipH="1">
            <a:off x="588688" y="2864991"/>
            <a:ext cx="1218322" cy="1088401"/>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63" name="Rounded Rectangular Callout 62"/>
          <p:cNvSpPr/>
          <p:nvPr/>
        </p:nvSpPr>
        <p:spPr>
          <a:xfrm>
            <a:off x="3064737" y="1889961"/>
            <a:ext cx="1507859" cy="1773198"/>
          </a:xfrm>
          <a:prstGeom prst="wedgeRoundRectCallout">
            <a:avLst>
              <a:gd name="adj1" fmla="val -128189"/>
              <a:gd name="adj2" fmla="val 15551"/>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2000" dirty="0">
                <a:solidFill>
                  <a:srgbClr val="FF0000"/>
                </a:solidFill>
                <a:latin typeface="Arial" pitchFamily="34" charset="0"/>
              </a:rPr>
              <a:t>alpha</a:t>
            </a:r>
            <a:r>
              <a:rPr lang="en-US" sz="2000" dirty="0">
                <a:solidFill>
                  <a:srgbClr val="FF0000"/>
                </a:solidFill>
                <a:latin typeface="Arial" pitchFamily="34" charset="0"/>
                <a:cs typeface="Arial" pitchFamily="34" charset="0"/>
                <a:sym typeface="Symbol"/>
              </a:rPr>
              <a:t>  9</a:t>
            </a:r>
          </a:p>
          <a:p>
            <a:pPr algn="ctr">
              <a:defRPr/>
            </a:pPr>
            <a:r>
              <a:rPr lang="en-US" sz="2000" dirty="0" err="1">
                <a:solidFill>
                  <a:srgbClr val="FF0000"/>
                </a:solidFill>
                <a:latin typeface="Arial" pitchFamily="34" charset="0"/>
              </a:rPr>
              <a:t>juliet</a:t>
            </a:r>
            <a:r>
              <a:rPr lang="en-US" sz="2000" dirty="0">
                <a:solidFill>
                  <a:srgbClr val="FF0000"/>
                </a:solidFill>
                <a:latin typeface="Arial" pitchFamily="34" charset="0"/>
                <a:cs typeface="Arial" pitchFamily="34" charset="0"/>
                <a:sym typeface="Symbol"/>
              </a:rPr>
              <a:t>  2</a:t>
            </a:r>
            <a:r>
              <a:rPr lang="en-US" sz="2000" dirty="0">
                <a:solidFill>
                  <a:srgbClr val="FF0000"/>
                </a:solidFill>
                <a:latin typeface="Arial" pitchFamily="34" charset="0"/>
              </a:rPr>
              <a:t>,</a:t>
            </a:r>
          </a:p>
          <a:p>
            <a:pPr algn="ctr">
              <a:defRPr/>
            </a:pPr>
            <a:r>
              <a:rPr lang="en-US" sz="2000" dirty="0">
                <a:solidFill>
                  <a:srgbClr val="FF0000"/>
                </a:solidFill>
                <a:latin typeface="Arial" pitchFamily="34" charset="0"/>
              </a:rPr>
              <a:t>alpha </a:t>
            </a:r>
            <a:r>
              <a:rPr lang="en-US" sz="2000" dirty="0">
                <a:solidFill>
                  <a:srgbClr val="FF0000"/>
                </a:solidFill>
                <a:latin typeface="Arial" pitchFamily="34" charset="0"/>
                <a:cs typeface="Arial" pitchFamily="34" charset="0"/>
                <a:sym typeface="Symbol"/>
              </a:rPr>
              <a:t> 1</a:t>
            </a:r>
            <a:endParaRPr lang="en-US" sz="2000" dirty="0">
              <a:solidFill>
                <a:srgbClr val="FF0000"/>
              </a:solidFill>
              <a:latin typeface="Arial" pitchFamily="34" charset="0"/>
            </a:endParaRPr>
          </a:p>
          <a:p>
            <a:pPr algn="ctr">
              <a:defRPr/>
            </a:pPr>
            <a:r>
              <a:rPr lang="en-US" sz="2000" dirty="0">
                <a:solidFill>
                  <a:srgbClr val="FF0000"/>
                </a:solidFill>
                <a:latin typeface="Arial" pitchFamily="34" charset="0"/>
              </a:rPr>
              <a:t>tango</a:t>
            </a:r>
            <a:r>
              <a:rPr lang="en-US" sz="2000" dirty="0">
                <a:solidFill>
                  <a:srgbClr val="FF0000"/>
                </a:solidFill>
                <a:latin typeface="Arial" pitchFamily="34" charset="0"/>
                <a:cs typeface="Arial" pitchFamily="34" charset="0"/>
                <a:sym typeface="Symbol"/>
              </a:rPr>
              <a:t>  4</a:t>
            </a:r>
          </a:p>
          <a:p>
            <a:pPr algn="ctr">
              <a:defRPr/>
            </a:pPr>
            <a:r>
              <a:rPr lang="en-US" sz="2000" dirty="0">
                <a:solidFill>
                  <a:srgbClr val="FF0000"/>
                </a:solidFill>
                <a:latin typeface="Arial" pitchFamily="34" charset="0"/>
              </a:rPr>
              <a:t> …</a:t>
            </a:r>
          </a:p>
        </p:txBody>
      </p:sp>
      <p:sp>
        <p:nvSpPr>
          <p:cNvPr id="64" name="Text Box 122"/>
          <p:cNvSpPr txBox="1">
            <a:spLocks noChangeArrowheads="1"/>
          </p:cNvSpPr>
          <p:nvPr/>
        </p:nvSpPr>
        <p:spPr bwMode="auto">
          <a:xfrm>
            <a:off x="1807010" y="3217995"/>
            <a:ext cx="694453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each mapper</a:t>
            </a:r>
            <a:r>
              <a:rPr lang="en-US" sz="2800" i="1" dirty="0">
                <a:solidFill>
                  <a:schemeClr val="tx1"/>
                </a:solidFill>
                <a:latin typeface="Arial" pitchFamily="34" charset="0"/>
                <a:cs typeface="Arial" pitchFamily="34" charset="0"/>
              </a:rPr>
              <a:t> </a:t>
            </a:r>
            <a:r>
              <a:rPr lang="en-US" sz="2800" dirty="0">
                <a:latin typeface="Arial" pitchFamily="34" charset="0"/>
                <a:cs typeface="Arial" pitchFamily="34" charset="0"/>
              </a:rPr>
              <a:t>thread produces a </a:t>
            </a:r>
            <a:r>
              <a:rPr lang="en-US" sz="2800" i="1" dirty="0">
                <a:solidFill>
                  <a:schemeClr val="tx1"/>
                </a:solidFill>
                <a:latin typeface="Arial" pitchFamily="34" charset="0"/>
                <a:cs typeface="Arial" pitchFamily="34" charset="0"/>
              </a:rPr>
              <a:t>stream</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a:t>
            </a:r>
            <a:endParaRPr lang="en-US" sz="2800" dirty="0">
              <a:solidFill>
                <a:schemeClr val="tx1"/>
              </a:solidFill>
              <a:latin typeface="Arial" pitchFamily="34" charset="0"/>
              <a:cs typeface="Arial" pitchFamily="34" charset="0"/>
            </a:endParaRPr>
          </a:p>
        </p:txBody>
      </p:sp>
      <p:sp>
        <p:nvSpPr>
          <p:cNvPr id="65" name="Text Box 122"/>
          <p:cNvSpPr txBox="1">
            <a:spLocks noChangeArrowheads="1"/>
          </p:cNvSpPr>
          <p:nvPr/>
        </p:nvSpPr>
        <p:spPr bwMode="auto">
          <a:xfrm>
            <a:off x="4564549" y="3621698"/>
            <a:ext cx="346280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of </a:t>
            </a:r>
            <a:r>
              <a:rPr lang="en-US" sz="2800" i="1" dirty="0">
                <a:solidFill>
                  <a:schemeClr val="tx1"/>
                </a:solidFill>
                <a:latin typeface="Arial" pitchFamily="34" charset="0"/>
                <a:cs typeface="Arial" pitchFamily="34" charset="0"/>
              </a:rPr>
              <a:t>key-value</a:t>
            </a:r>
            <a:r>
              <a:rPr lang="en-US" sz="2800" dirty="0">
                <a:latin typeface="Arial" pitchFamily="34" charset="0"/>
                <a:cs typeface="Arial" pitchFamily="34" charset="0"/>
              </a:rPr>
              <a:t> pairs …</a:t>
            </a:r>
            <a:endParaRPr lang="en-US" sz="2800" dirty="0">
              <a:solidFill>
                <a:schemeClr val="tx1"/>
              </a:solidFill>
              <a:latin typeface="Arial" pitchFamily="34" charset="0"/>
              <a:cs typeface="Arial" pitchFamily="34" charset="0"/>
            </a:endParaRPr>
          </a:p>
        </p:txBody>
      </p:sp>
      <p:sp>
        <p:nvSpPr>
          <p:cNvPr id="66" name="Text Box 122"/>
          <p:cNvSpPr txBox="1">
            <a:spLocks noChangeArrowheads="1"/>
          </p:cNvSpPr>
          <p:nvPr/>
        </p:nvSpPr>
        <p:spPr bwMode="auto">
          <a:xfrm>
            <a:off x="7027991" y="4088375"/>
            <a:ext cx="17235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key</a:t>
            </a:r>
            <a:r>
              <a:rPr lang="en-US" sz="2800" dirty="0">
                <a:latin typeface="Arial" pitchFamily="34" charset="0"/>
                <a:cs typeface="Arial" pitchFamily="34" charset="0"/>
              </a:rPr>
              <a:t>: word</a:t>
            </a:r>
            <a:endParaRPr lang="en-US" sz="2800" dirty="0">
              <a:solidFill>
                <a:schemeClr val="tx1"/>
              </a:solidFill>
              <a:latin typeface="Arial" pitchFamily="34" charset="0"/>
              <a:cs typeface="Arial" pitchFamily="34" charset="0"/>
            </a:endParaRPr>
          </a:p>
        </p:txBody>
      </p:sp>
      <p:sp>
        <p:nvSpPr>
          <p:cNvPr id="67" name="Text Box 122"/>
          <p:cNvSpPr txBox="1">
            <a:spLocks noChangeArrowheads="1"/>
          </p:cNvSpPr>
          <p:nvPr/>
        </p:nvSpPr>
        <p:spPr bwMode="auto">
          <a:xfrm>
            <a:off x="5948761" y="4526712"/>
            <a:ext cx="296427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value</a:t>
            </a:r>
            <a:r>
              <a:rPr lang="en-US" sz="2800" dirty="0">
                <a:latin typeface="Arial" pitchFamily="34" charset="0"/>
                <a:cs typeface="Arial" pitchFamily="34" charset="0"/>
              </a:rPr>
              <a:t>: local count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129240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tx1"/>
                </a:solidFill>
                <a:latin typeface="Courier New" charset="0"/>
                <a:cs typeface="Courier New" charset="0"/>
              </a:rPr>
              <a:t>abstract class </a:t>
            </a:r>
            <a:r>
              <a:rPr lang="en-US" sz="2800" dirty="0">
                <a:latin typeface="Courier New" charset="0"/>
                <a:cs typeface="Courier New" charset="0"/>
              </a:rPr>
              <a:t>Mapper&lt;IN, K, V&gt;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extends</a:t>
            </a:r>
            <a:r>
              <a:rPr lang="en-US" sz="2800" dirty="0">
                <a:latin typeface="Courier New" charset="0"/>
                <a:cs typeface="Courier New" charset="0"/>
              </a:rPr>
              <a:t> </a:t>
            </a:r>
            <a:r>
              <a:rPr lang="en-US" sz="2800" dirty="0" err="1">
                <a:latin typeface="Courier New" charset="0"/>
                <a:cs typeface="Courier New" charset="0"/>
              </a:rPr>
              <a:t>RecursiveTask</a:t>
            </a:r>
            <a:r>
              <a:rPr lang="en-US" sz="2800" dirty="0">
                <a:latin typeface="Courier New" charset="0"/>
                <a:cs typeface="Courier New" charset="0"/>
              </a:rPr>
              <a:t>&lt;Map&lt;K, V&gt;&gt; {</a:t>
            </a:r>
          </a:p>
          <a:p>
            <a:pPr algn="l" eaLnBrk="1" hangingPunct="1">
              <a:lnSpc>
                <a:spcPct val="70000"/>
              </a:lnSpc>
              <a:spcBef>
                <a:spcPct val="30000"/>
              </a:spcBef>
            </a:pPr>
            <a:r>
              <a:rPr lang="en-US" sz="2800" dirty="0">
                <a:latin typeface="Courier New" charset="0"/>
                <a:cs typeface="Courier New" charset="0"/>
              </a:rPr>
              <a:t>  IN input;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public void </a:t>
            </a:r>
            <a:r>
              <a:rPr lang="en-US" sz="2800" dirty="0" err="1">
                <a:latin typeface="Courier New" charset="0"/>
                <a:cs typeface="Courier New" charset="0"/>
              </a:rPr>
              <a:t>setInput</a:t>
            </a:r>
            <a:r>
              <a:rPr lang="en-US" sz="2800" dirty="0">
                <a:latin typeface="Courier New" charset="0"/>
                <a:cs typeface="Courier New" charset="0"/>
              </a:rPr>
              <a:t>(IN </a:t>
            </a:r>
            <a:r>
              <a:rPr lang="en-US" sz="2800" dirty="0" err="1">
                <a:latin typeface="Courier New" charset="0"/>
                <a:cs typeface="Courier New" charset="0"/>
              </a:rPr>
              <a:t>anInput</a:t>
            </a: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input = </a:t>
            </a:r>
            <a:r>
              <a:rPr lang="en-US" sz="2800" dirty="0" err="1">
                <a:latin typeface="Courier New" charset="0"/>
                <a:cs typeface="Courier New" charset="0"/>
              </a:rPr>
              <a:t>anInput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a:t>
            </a:r>
          </a:p>
        </p:txBody>
      </p:sp>
    </p:spTree>
    <p:extLst>
      <p:ext uri="{BB962C8B-B14F-4D97-AF65-F5344CB8AC3E}">
        <p14:creationId xmlns:p14="http://schemas.microsoft.com/office/powerpoint/2010/main" val="114528628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abstract class Mapper&lt;</a:t>
            </a:r>
            <a:r>
              <a:rPr lang="en-US" sz="2800" dirty="0">
                <a:latin typeface="Courier New" charset="0"/>
                <a:cs typeface="Courier New" charset="0"/>
              </a:rPr>
              <a:t>IN, </a:t>
            </a:r>
            <a:r>
              <a:rPr lang="en-US" sz="2800" dirty="0">
                <a:solidFill>
                  <a:schemeClr val="bg1">
                    <a:lumMod val="65000"/>
                  </a:schemeClr>
                </a:solidFill>
                <a:latin typeface="Courier New" charset="0"/>
                <a:cs typeface="Courier New" charset="0"/>
              </a:rPr>
              <a:t>K, V&gt;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extends </a:t>
            </a:r>
            <a:r>
              <a:rPr lang="en-US" sz="2800" dirty="0" err="1">
                <a:solidFill>
                  <a:schemeClr val="bg1">
                    <a:lumMod val="65000"/>
                  </a:schemeClr>
                </a:solidFill>
                <a:latin typeface="Courier New" charset="0"/>
                <a:cs typeface="Courier New" charset="0"/>
              </a:rPr>
              <a:t>RecursiveTask</a:t>
            </a:r>
            <a:r>
              <a:rPr lang="en-US" sz="2800" dirty="0">
                <a:solidFill>
                  <a:schemeClr val="bg1">
                    <a:lumMod val="65000"/>
                  </a:schemeClr>
                </a:solidFill>
                <a:latin typeface="Courier New" charset="0"/>
                <a:cs typeface="Courier New" charset="0"/>
              </a:rPr>
              <a:t>&lt;Map&lt;K, V&gt;&gt;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 input;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public void </a:t>
            </a:r>
            <a:r>
              <a:rPr lang="en-US" sz="2800" dirty="0" err="1">
                <a:solidFill>
                  <a:schemeClr val="bg1">
                    <a:lumMod val="65000"/>
                  </a:schemeClr>
                </a:solidFill>
                <a:latin typeface="Courier New" charset="0"/>
                <a:cs typeface="Courier New" charset="0"/>
              </a:rPr>
              <a:t>setInput</a:t>
            </a:r>
            <a:r>
              <a:rPr lang="en-US" sz="2800" dirty="0">
                <a:solidFill>
                  <a:schemeClr val="bg1">
                    <a:lumMod val="65000"/>
                  </a:schemeClr>
                </a:solidFill>
                <a:latin typeface="Courier New" charset="0"/>
                <a:cs typeface="Courier New" charset="0"/>
              </a:rPr>
              <a:t>(IN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input =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t>
            </a:r>
          </a:p>
        </p:txBody>
      </p:sp>
      <p:sp>
        <p:nvSpPr>
          <p:cNvPr id="7" name="Rounded Rectangular Callout 6"/>
          <p:cNvSpPr/>
          <p:nvPr/>
        </p:nvSpPr>
        <p:spPr>
          <a:xfrm>
            <a:off x="4804474" y="1969647"/>
            <a:ext cx="1146875" cy="553133"/>
          </a:xfrm>
          <a:prstGeom prst="wedgeRoundRectCallout">
            <a:avLst>
              <a:gd name="adj1" fmla="val 67868"/>
              <a:gd name="adj2" fmla="val 44424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952067" y="4872056"/>
            <a:ext cx="426430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input: document fragment</a:t>
            </a:r>
          </a:p>
        </p:txBody>
      </p:sp>
    </p:spTree>
    <p:extLst>
      <p:ext uri="{BB962C8B-B14F-4D97-AF65-F5344CB8AC3E}">
        <p14:creationId xmlns:p14="http://schemas.microsoft.com/office/powerpoint/2010/main" val="354615616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abstract class Mapper&lt;IN, </a:t>
            </a:r>
            <a:r>
              <a:rPr lang="en-US" sz="2800" dirty="0">
                <a:latin typeface="Courier New" charset="0"/>
                <a:cs typeface="Courier New" charset="0"/>
              </a:rPr>
              <a:t>K, </a:t>
            </a:r>
            <a:r>
              <a:rPr lang="en-US" sz="2800" dirty="0">
                <a:solidFill>
                  <a:schemeClr val="bg1">
                    <a:lumMod val="65000"/>
                  </a:schemeClr>
                </a:solidFill>
                <a:latin typeface="Courier New" charset="0"/>
                <a:cs typeface="Courier New" charset="0"/>
              </a:rPr>
              <a:t>V&gt;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extends </a:t>
            </a:r>
            <a:r>
              <a:rPr lang="en-US" sz="2800" dirty="0" err="1">
                <a:solidFill>
                  <a:schemeClr val="bg1">
                    <a:lumMod val="65000"/>
                  </a:schemeClr>
                </a:solidFill>
                <a:latin typeface="Courier New" charset="0"/>
                <a:cs typeface="Courier New" charset="0"/>
              </a:rPr>
              <a:t>RecursiveTask</a:t>
            </a:r>
            <a:r>
              <a:rPr lang="en-US" sz="2800" dirty="0">
                <a:solidFill>
                  <a:schemeClr val="bg1">
                    <a:lumMod val="65000"/>
                  </a:schemeClr>
                </a:solidFill>
                <a:latin typeface="Courier New" charset="0"/>
                <a:cs typeface="Courier New" charset="0"/>
              </a:rPr>
              <a:t>&lt;Map&lt;K, V&gt;&gt;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 input;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public void </a:t>
            </a:r>
            <a:r>
              <a:rPr lang="en-US" sz="2800" dirty="0" err="1">
                <a:solidFill>
                  <a:schemeClr val="bg1">
                    <a:lumMod val="65000"/>
                  </a:schemeClr>
                </a:solidFill>
                <a:latin typeface="Courier New" charset="0"/>
                <a:cs typeface="Courier New" charset="0"/>
              </a:rPr>
              <a:t>setInput</a:t>
            </a:r>
            <a:r>
              <a:rPr lang="en-US" sz="2800" dirty="0">
                <a:solidFill>
                  <a:schemeClr val="bg1">
                    <a:lumMod val="65000"/>
                  </a:schemeClr>
                </a:solidFill>
                <a:latin typeface="Courier New" charset="0"/>
                <a:cs typeface="Courier New" charset="0"/>
              </a:rPr>
              <a:t>(IN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input =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t>
            </a:r>
          </a:p>
        </p:txBody>
      </p:sp>
      <p:sp>
        <p:nvSpPr>
          <p:cNvPr id="7" name="Rounded Rectangular Callout 6"/>
          <p:cNvSpPr/>
          <p:nvPr/>
        </p:nvSpPr>
        <p:spPr>
          <a:xfrm>
            <a:off x="5377911" y="1986867"/>
            <a:ext cx="1146875" cy="553133"/>
          </a:xfrm>
          <a:prstGeom prst="wedgeRoundRectCallout">
            <a:avLst>
              <a:gd name="adj1" fmla="val 67868"/>
              <a:gd name="adj2" fmla="val 44424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5222928" y="4844781"/>
            <a:ext cx="33249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key: individual word</a:t>
            </a:r>
          </a:p>
        </p:txBody>
      </p:sp>
    </p:spTree>
    <p:extLst>
      <p:ext uri="{BB962C8B-B14F-4D97-AF65-F5344CB8AC3E}">
        <p14:creationId xmlns:p14="http://schemas.microsoft.com/office/powerpoint/2010/main" val="18605060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14</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abstract class Mapper&lt;IN, K, </a:t>
            </a:r>
            <a:r>
              <a:rPr lang="en-US" sz="2800" dirty="0">
                <a:latin typeface="Courier New" charset="0"/>
                <a:cs typeface="Courier New" charset="0"/>
              </a:rPr>
              <a:t>V&gt;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65000"/>
                  </a:schemeClr>
                </a:solidFill>
                <a:latin typeface="Courier New" charset="0"/>
                <a:cs typeface="Courier New" charset="0"/>
              </a:rPr>
              <a:t>extends </a:t>
            </a:r>
            <a:r>
              <a:rPr lang="en-US" sz="2800" dirty="0" err="1">
                <a:solidFill>
                  <a:schemeClr val="bg1">
                    <a:lumMod val="65000"/>
                  </a:schemeClr>
                </a:solidFill>
                <a:latin typeface="Courier New" charset="0"/>
                <a:cs typeface="Courier New" charset="0"/>
              </a:rPr>
              <a:t>RecursiveTask</a:t>
            </a:r>
            <a:r>
              <a:rPr lang="en-US" sz="2800" dirty="0">
                <a:solidFill>
                  <a:schemeClr val="bg1">
                    <a:lumMod val="65000"/>
                  </a:schemeClr>
                </a:solidFill>
                <a:latin typeface="Courier New" charset="0"/>
                <a:cs typeface="Courier New" charset="0"/>
              </a:rPr>
              <a:t>&lt;Map&lt;K, V&gt;&gt;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 input;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public void </a:t>
            </a:r>
            <a:r>
              <a:rPr lang="en-US" sz="2800" dirty="0" err="1">
                <a:solidFill>
                  <a:schemeClr val="bg1">
                    <a:lumMod val="65000"/>
                  </a:schemeClr>
                </a:solidFill>
                <a:latin typeface="Courier New" charset="0"/>
                <a:cs typeface="Courier New" charset="0"/>
              </a:rPr>
              <a:t>setInput</a:t>
            </a:r>
            <a:r>
              <a:rPr lang="en-US" sz="2800" dirty="0">
                <a:solidFill>
                  <a:schemeClr val="bg1">
                    <a:lumMod val="65000"/>
                  </a:schemeClr>
                </a:solidFill>
                <a:latin typeface="Courier New" charset="0"/>
                <a:cs typeface="Courier New" charset="0"/>
              </a:rPr>
              <a:t>(IN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input = </a:t>
            </a:r>
            <a:r>
              <a:rPr lang="en-US" sz="2800" dirty="0" err="1">
                <a:solidFill>
                  <a:schemeClr val="bg1">
                    <a:lumMod val="65000"/>
                  </a:schemeClr>
                </a:solidFill>
                <a:latin typeface="Courier New" charset="0"/>
                <a:cs typeface="Courier New" charset="0"/>
              </a:rPr>
              <a:t>anInput</a:t>
            </a:r>
            <a:r>
              <a:rPr lang="en-US" sz="2800" dirty="0">
                <a:solidFill>
                  <a:schemeClr val="bg1">
                    <a:lumMod val="6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65000"/>
                  </a:schemeClr>
                </a:solidFill>
                <a:latin typeface="Courier New" charset="0"/>
                <a:cs typeface="Courier New" charset="0"/>
              </a:rPr>
              <a:t>}</a:t>
            </a:r>
          </a:p>
        </p:txBody>
      </p:sp>
      <p:sp>
        <p:nvSpPr>
          <p:cNvPr id="7" name="Rounded Rectangular Callout 6"/>
          <p:cNvSpPr/>
          <p:nvPr/>
        </p:nvSpPr>
        <p:spPr>
          <a:xfrm>
            <a:off x="6239684" y="1986867"/>
            <a:ext cx="1146875" cy="553133"/>
          </a:xfrm>
          <a:prstGeom prst="wedgeRoundRectCallout">
            <a:avLst>
              <a:gd name="adj1" fmla="val -84835"/>
              <a:gd name="adj2" fmla="val 4778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4572000" y="5106391"/>
            <a:ext cx="296427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value: local count</a:t>
            </a:r>
          </a:p>
        </p:txBody>
      </p:sp>
    </p:spTree>
    <p:extLst>
      <p:ext uri="{BB962C8B-B14F-4D97-AF65-F5344CB8AC3E}">
        <p14:creationId xmlns:p14="http://schemas.microsoft.com/office/powerpoint/2010/main" val="390528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15</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301159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Mapper&lt;IN, K, V&gt;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extends </a:t>
            </a:r>
            <a:r>
              <a:rPr lang="en-US" sz="2800" dirty="0" err="1">
                <a:latin typeface="Courier New" charset="0"/>
                <a:cs typeface="Courier New" charset="0"/>
              </a:rPr>
              <a:t>RecursiveTask</a:t>
            </a:r>
            <a:r>
              <a:rPr lang="en-US" sz="2800" dirty="0">
                <a:solidFill>
                  <a:schemeClr val="bg1">
                    <a:lumMod val="75000"/>
                  </a:schemeClr>
                </a:solidFill>
                <a:latin typeface="Courier New" charset="0"/>
                <a:cs typeface="Courier New" charset="0"/>
              </a:rPr>
              <a:t>&lt;Map&lt;K, V&gt;&gt;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IN input;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public void </a:t>
            </a:r>
            <a:r>
              <a:rPr lang="en-US" sz="2800" dirty="0" err="1">
                <a:solidFill>
                  <a:schemeClr val="bg1">
                    <a:lumMod val="75000"/>
                  </a:schemeClr>
                </a:solidFill>
                <a:latin typeface="Courier New" charset="0"/>
                <a:cs typeface="Courier New" charset="0"/>
              </a:rPr>
              <a:t>setInput</a:t>
            </a:r>
            <a:r>
              <a:rPr lang="en-US" sz="2800" dirty="0">
                <a:solidFill>
                  <a:schemeClr val="bg1">
                    <a:lumMod val="75000"/>
                  </a:schemeClr>
                </a:solidFill>
                <a:latin typeface="Courier New" charset="0"/>
                <a:cs typeface="Courier New" charset="0"/>
              </a:rPr>
              <a:t>(IN </a:t>
            </a:r>
            <a:r>
              <a:rPr lang="en-US" sz="2800" dirty="0" err="1">
                <a:solidFill>
                  <a:schemeClr val="bg1">
                    <a:lumMod val="75000"/>
                  </a:schemeClr>
                </a:solidFill>
                <a:latin typeface="Courier New" charset="0"/>
                <a:cs typeface="Courier New" charset="0"/>
              </a:rPr>
              <a:t>anInput</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input = </a:t>
            </a:r>
            <a:r>
              <a:rPr lang="en-US" sz="2800" dirty="0" err="1">
                <a:solidFill>
                  <a:schemeClr val="bg1">
                    <a:lumMod val="75000"/>
                  </a:schemeClr>
                </a:solidFill>
                <a:latin typeface="Courier New" charset="0"/>
                <a:cs typeface="Courier New" charset="0"/>
              </a:rPr>
              <a:t>anInput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7" name="Rounded Rectangular Callout 6"/>
          <p:cNvSpPr/>
          <p:nvPr/>
        </p:nvSpPr>
        <p:spPr>
          <a:xfrm>
            <a:off x="2667000" y="2390433"/>
            <a:ext cx="3005380" cy="553133"/>
          </a:xfrm>
          <a:prstGeom prst="wedgeRoundRectCallout">
            <a:avLst>
              <a:gd name="adj1" fmla="val -6967"/>
              <a:gd name="adj2" fmla="val 447046"/>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245565" y="5235420"/>
            <a:ext cx="696056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 task that runs in parallel with other tasks</a:t>
            </a:r>
          </a:p>
        </p:txBody>
      </p:sp>
    </p:spTree>
    <p:extLst>
      <p:ext uri="{BB962C8B-B14F-4D97-AF65-F5344CB8AC3E}">
        <p14:creationId xmlns:p14="http://schemas.microsoft.com/office/powerpoint/2010/main" val="2990063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16</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Mapper&lt;IN, K, V&gt;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extends </a:t>
            </a:r>
            <a:r>
              <a:rPr lang="en-US" sz="2800" dirty="0" err="1">
                <a:solidFill>
                  <a:schemeClr val="bg1">
                    <a:lumMod val="75000"/>
                  </a:schemeClr>
                </a:solidFill>
                <a:latin typeface="Courier New" charset="0"/>
                <a:cs typeface="Courier New" charset="0"/>
              </a:rPr>
              <a:t>RecursiveTask</a:t>
            </a:r>
            <a:r>
              <a:rPr lang="en-US" sz="2800" dirty="0">
                <a:solidFill>
                  <a:schemeClr val="bg1">
                    <a:lumMod val="75000"/>
                  </a:schemeClr>
                </a:solidFill>
                <a:latin typeface="Courier New" charset="0"/>
                <a:cs typeface="Courier New" charset="0"/>
              </a:rPr>
              <a:t>&lt;</a:t>
            </a:r>
            <a:r>
              <a:rPr lang="en-US" sz="2800" dirty="0">
                <a:latin typeface="Courier New" charset="0"/>
                <a:cs typeface="Courier New" charset="0"/>
              </a:rPr>
              <a:t>Map&lt;K, V&gt;</a:t>
            </a:r>
            <a:r>
              <a:rPr lang="en-US" sz="2800" dirty="0">
                <a:solidFill>
                  <a:schemeClr val="bg1">
                    <a:lumMod val="75000"/>
                  </a:schemeClr>
                </a:solidFill>
                <a:latin typeface="Courier New" charset="0"/>
                <a:cs typeface="Courier New" charset="0"/>
              </a:rPr>
              <a:t>&gt;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IN input;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public void </a:t>
            </a:r>
            <a:r>
              <a:rPr lang="en-US" sz="2800" dirty="0" err="1">
                <a:solidFill>
                  <a:schemeClr val="bg1">
                    <a:lumMod val="75000"/>
                  </a:schemeClr>
                </a:solidFill>
                <a:latin typeface="Courier New" charset="0"/>
                <a:cs typeface="Courier New" charset="0"/>
              </a:rPr>
              <a:t>setInput</a:t>
            </a:r>
            <a:r>
              <a:rPr lang="en-US" sz="2800" dirty="0">
                <a:solidFill>
                  <a:schemeClr val="bg1">
                    <a:lumMod val="75000"/>
                  </a:schemeClr>
                </a:solidFill>
                <a:latin typeface="Courier New" charset="0"/>
                <a:cs typeface="Courier New" charset="0"/>
              </a:rPr>
              <a:t>(IN </a:t>
            </a:r>
            <a:r>
              <a:rPr lang="en-US" sz="2800" dirty="0" err="1">
                <a:solidFill>
                  <a:schemeClr val="bg1">
                    <a:lumMod val="75000"/>
                  </a:schemeClr>
                </a:solidFill>
                <a:latin typeface="Courier New" charset="0"/>
                <a:cs typeface="Courier New" charset="0"/>
              </a:rPr>
              <a:t>anInput</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input = </a:t>
            </a:r>
            <a:r>
              <a:rPr lang="en-US" sz="2800" dirty="0" err="1">
                <a:solidFill>
                  <a:schemeClr val="bg1">
                    <a:lumMod val="75000"/>
                  </a:schemeClr>
                </a:solidFill>
                <a:latin typeface="Courier New" charset="0"/>
                <a:cs typeface="Courier New" charset="0"/>
              </a:rPr>
              <a:t>anInput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7" name="Rounded Rectangular Callout 6"/>
          <p:cNvSpPr/>
          <p:nvPr/>
        </p:nvSpPr>
        <p:spPr>
          <a:xfrm>
            <a:off x="5200745" y="2404819"/>
            <a:ext cx="3005380" cy="553133"/>
          </a:xfrm>
          <a:prstGeom prst="wedgeRoundRectCallout">
            <a:avLst>
              <a:gd name="adj1" fmla="val -6967"/>
              <a:gd name="adj2" fmla="val 447046"/>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275843" y="5235420"/>
            <a:ext cx="517802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produces a map: word </a:t>
            </a:r>
            <a:r>
              <a:rPr lang="en-US" sz="2800" dirty="0">
                <a:latin typeface="Arial" pitchFamily="34" charset="0"/>
                <a:cs typeface="Arial" pitchFamily="34" charset="0"/>
                <a:sym typeface="Symbol"/>
              </a:rPr>
              <a:t> count</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2619169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dirty="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17</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Mapper Class</a:t>
            </a:r>
          </a:p>
        </p:txBody>
      </p:sp>
      <p:sp>
        <p:nvSpPr>
          <p:cNvPr id="75781" name="Text Box 3"/>
          <p:cNvSpPr txBox="1">
            <a:spLocks noChangeArrowheads="1"/>
          </p:cNvSpPr>
          <p:nvPr/>
        </p:nvSpPr>
        <p:spPr bwMode="auto">
          <a:xfrm>
            <a:off x="386557" y="2057400"/>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Mapper&lt;IN, K, V&gt;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extends </a:t>
            </a:r>
            <a:r>
              <a:rPr lang="en-US" sz="2800" dirty="0" err="1">
                <a:solidFill>
                  <a:schemeClr val="bg1">
                    <a:lumMod val="75000"/>
                  </a:schemeClr>
                </a:solidFill>
                <a:latin typeface="Courier New" charset="0"/>
                <a:cs typeface="Courier New" charset="0"/>
              </a:rPr>
              <a:t>RecursiveTask</a:t>
            </a:r>
            <a:r>
              <a:rPr lang="en-US" sz="2800" dirty="0">
                <a:solidFill>
                  <a:schemeClr val="bg1">
                    <a:lumMod val="75000"/>
                  </a:schemeClr>
                </a:solidFill>
                <a:latin typeface="Courier New" charset="0"/>
                <a:cs typeface="Courier New" charset="0"/>
              </a:rPr>
              <a:t>&lt;Map&lt;K, V&gt;&gt;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IN input;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public void </a:t>
            </a:r>
            <a:r>
              <a:rPr lang="en-US" sz="2800" dirty="0" err="1">
                <a:latin typeface="Courier New" charset="0"/>
                <a:cs typeface="Courier New" charset="0"/>
              </a:rPr>
              <a:t>setInput</a:t>
            </a:r>
            <a:r>
              <a:rPr lang="en-US" sz="2800" dirty="0">
                <a:latin typeface="Courier New" charset="0"/>
                <a:cs typeface="Courier New" charset="0"/>
              </a:rPr>
              <a:t>(IN </a:t>
            </a:r>
            <a:r>
              <a:rPr lang="en-US" sz="2800" dirty="0" err="1">
                <a:latin typeface="Courier New" charset="0"/>
                <a:cs typeface="Courier New" charset="0"/>
              </a:rPr>
              <a:t>anInput</a:t>
            </a: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input = </a:t>
            </a:r>
            <a:r>
              <a:rPr lang="en-US" sz="2800" dirty="0" err="1">
                <a:latin typeface="Courier New" charset="0"/>
                <a:cs typeface="Courier New" charset="0"/>
              </a:rPr>
              <a:t>anInput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7" name="Rounded Rectangular Callout 6"/>
          <p:cNvSpPr/>
          <p:nvPr/>
        </p:nvSpPr>
        <p:spPr>
          <a:xfrm>
            <a:off x="613246" y="3270471"/>
            <a:ext cx="7724842" cy="1115549"/>
          </a:xfrm>
          <a:prstGeom prst="wedgeRoundRectCallout">
            <a:avLst>
              <a:gd name="adj1" fmla="val 8482"/>
              <a:gd name="adj2" fmla="val 13584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139810" y="5588090"/>
            <a:ext cx="686438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initialize input: which document fragment?</a:t>
            </a:r>
          </a:p>
        </p:txBody>
      </p:sp>
    </p:spTree>
    <p:extLst>
      <p:ext uri="{BB962C8B-B14F-4D97-AF65-F5344CB8AC3E}">
        <p14:creationId xmlns:p14="http://schemas.microsoft.com/office/powerpoint/2010/main" val="4197657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18</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386558" y="1669942"/>
            <a:ext cx="7858540" cy="254839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tx1"/>
                </a:solidFill>
                <a:latin typeface="Courier New" charset="0"/>
                <a:cs typeface="Courier New" charset="0"/>
              </a:rPr>
              <a:t>class </a:t>
            </a:r>
            <a:r>
              <a:rPr lang="en-US" sz="2800" dirty="0" err="1">
                <a:latin typeface="Courier New" charset="0"/>
                <a:cs typeface="Courier New" charset="0"/>
              </a:rPr>
              <a:t>WordCountMapper</a:t>
            </a:r>
            <a:r>
              <a:rPr lang="en-US" sz="2800" dirty="0">
                <a:latin typeface="Courier New" charset="0"/>
                <a:cs typeface="Courier New" charset="0"/>
              </a:rPr>
              <a:t> </a:t>
            </a:r>
            <a:r>
              <a:rPr lang="en-US" sz="2800" dirty="0">
                <a:solidFill>
                  <a:schemeClr val="tx1"/>
                </a:solidFill>
                <a:latin typeface="Courier New" charset="0"/>
                <a:cs typeface="Courier New" charset="0"/>
              </a:rPr>
              <a:t>extends</a:t>
            </a:r>
          </a:p>
          <a:p>
            <a:pPr algn="l" eaLnBrk="1" hangingPunct="1">
              <a:lnSpc>
                <a:spcPct val="70000"/>
              </a:lnSpc>
              <a:spcBef>
                <a:spcPct val="30000"/>
              </a:spcBef>
            </a:pPr>
            <a:r>
              <a:rPr lang="en-US" sz="2800" dirty="0">
                <a:solidFill>
                  <a:schemeClr val="tx1"/>
                </a:solidFill>
                <a:latin typeface="Courier New" charset="0"/>
                <a:cs typeface="Courier New" charset="0"/>
              </a:rPr>
              <a:t>  </a:t>
            </a:r>
            <a:r>
              <a:rPr lang="en-US" sz="2800" dirty="0" err="1">
                <a:latin typeface="Courier New" charset="0"/>
                <a:cs typeface="Courier New" charset="0"/>
              </a:rPr>
              <a:t>mapreduce.Mapper</a:t>
            </a:r>
            <a:r>
              <a:rPr lang="en-US" sz="2800" dirty="0">
                <a:latin typeface="Courier New" charset="0"/>
                <a:cs typeface="Courier New" charset="0"/>
              </a:rPr>
              <a:t>&lt;</a:t>
            </a:r>
          </a:p>
          <a:p>
            <a:pPr algn="l" eaLnBrk="1" hangingPunct="1">
              <a:lnSpc>
                <a:spcPct val="70000"/>
              </a:lnSpc>
              <a:spcBef>
                <a:spcPct val="30000"/>
              </a:spcBef>
            </a:pPr>
            <a:r>
              <a:rPr lang="en-US" sz="2800" dirty="0">
                <a:latin typeface="Courier New" charset="0"/>
                <a:cs typeface="Courier New" charset="0"/>
              </a:rPr>
              <a:t>      List&lt;String&gt;, String, Long</a:t>
            </a:r>
          </a:p>
          <a:p>
            <a:pPr algn="l" eaLnBrk="1" hangingPunct="1">
              <a:lnSpc>
                <a:spcPct val="70000"/>
              </a:lnSpc>
              <a:spcBef>
                <a:spcPct val="30000"/>
              </a:spcBef>
            </a:pPr>
            <a:r>
              <a:rPr lang="en-US" sz="2800" dirty="0">
                <a:latin typeface="Courier New" charset="0"/>
                <a:cs typeface="Courier New" charset="0"/>
              </a:rPr>
              <a:t>    &gt; {</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p:txBody>
      </p:sp>
    </p:spTree>
    <p:extLst>
      <p:ext uri="{BB962C8B-B14F-4D97-AF65-F5344CB8AC3E}">
        <p14:creationId xmlns:p14="http://schemas.microsoft.com/office/powerpoint/2010/main" val="2184935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19</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386558" y="1669942"/>
            <a:ext cx="7858540" cy="254839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class </a:t>
            </a:r>
            <a:r>
              <a:rPr lang="en-US" sz="2800" dirty="0" err="1">
                <a:solidFill>
                  <a:schemeClr val="bg1">
                    <a:lumMod val="75000"/>
                  </a:schemeClr>
                </a:solidFill>
                <a:latin typeface="Courier New" charset="0"/>
                <a:cs typeface="Courier New" charset="0"/>
              </a:rPr>
              <a:t>WordCountMapper</a:t>
            </a:r>
            <a:r>
              <a:rPr lang="en-US" sz="2800" dirty="0">
                <a:solidFill>
                  <a:schemeClr val="bg1">
                    <a:lumMod val="75000"/>
                  </a:schemeClr>
                </a:solidFill>
                <a:latin typeface="Courier New" charset="0"/>
                <a:cs typeface="Courier New" charset="0"/>
              </a:rPr>
              <a:t> extends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mapreduce.Mapper</a:t>
            </a:r>
            <a:r>
              <a:rPr lang="en-US" sz="2800" dirty="0">
                <a:solidFill>
                  <a:schemeClr val="bg1">
                    <a:lumMod val="75000"/>
                  </a:schemeClr>
                </a:solidFill>
                <a:latin typeface="Courier New" charset="0"/>
                <a:cs typeface="Courier New" charset="0"/>
              </a:rPr>
              <a:t>&lt;</a:t>
            </a:r>
          </a:p>
          <a:p>
            <a:pPr algn="l" eaLnBrk="1" hangingPunct="1">
              <a:lnSpc>
                <a:spcPct val="70000"/>
              </a:lnSpc>
              <a:spcBef>
                <a:spcPct val="30000"/>
              </a:spcBef>
            </a:pPr>
            <a:r>
              <a:rPr lang="en-US" sz="2800" dirty="0">
                <a:latin typeface="Courier New" charset="0"/>
                <a:cs typeface="Courier New" charset="0"/>
              </a:rPr>
              <a:t>      List&lt;String&gt;, </a:t>
            </a:r>
            <a:r>
              <a:rPr lang="en-US" sz="2800" dirty="0">
                <a:solidFill>
                  <a:schemeClr val="bg1">
                    <a:lumMod val="75000"/>
                  </a:schemeClr>
                </a:solidFill>
                <a:latin typeface="Courier New" charset="0"/>
                <a:cs typeface="Courier New" charset="0"/>
              </a:rPr>
              <a:t>String, Long</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689314" y="2388112"/>
            <a:ext cx="2820693" cy="557775"/>
          </a:xfrm>
          <a:prstGeom prst="wedgeRoundRectCallout">
            <a:avLst>
              <a:gd name="adj1" fmla="val 5735"/>
              <a:gd name="adj2" fmla="val 15529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86558" y="3749874"/>
            <a:ext cx="366797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document fragment is list of words</a:t>
            </a:r>
          </a:p>
        </p:txBody>
      </p:sp>
    </p:spTree>
    <p:extLst>
      <p:ext uri="{BB962C8B-B14F-4D97-AF65-F5344CB8AC3E}">
        <p14:creationId xmlns:p14="http://schemas.microsoft.com/office/powerpoint/2010/main" val="9130221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386558" y="1669942"/>
            <a:ext cx="7858540" cy="254839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class </a:t>
            </a:r>
            <a:r>
              <a:rPr lang="en-US" sz="2800" dirty="0" err="1">
                <a:solidFill>
                  <a:schemeClr val="bg1">
                    <a:lumMod val="75000"/>
                  </a:schemeClr>
                </a:solidFill>
                <a:latin typeface="Courier New" charset="0"/>
                <a:cs typeface="Courier New" charset="0"/>
              </a:rPr>
              <a:t>WordCountMapper</a:t>
            </a:r>
            <a:r>
              <a:rPr lang="en-US" sz="2800" dirty="0">
                <a:solidFill>
                  <a:schemeClr val="bg1">
                    <a:lumMod val="75000"/>
                  </a:schemeClr>
                </a:solidFill>
                <a:latin typeface="Courier New" charset="0"/>
                <a:cs typeface="Courier New" charset="0"/>
              </a:rPr>
              <a:t> extends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mapreduce.Mapper</a:t>
            </a:r>
            <a:r>
              <a:rPr lang="en-US" sz="2800" dirty="0">
                <a:solidFill>
                  <a:schemeClr val="bg1">
                    <a:lumMod val="75000"/>
                  </a:schemeClr>
                </a:solidFill>
                <a:latin typeface="Courier New" charset="0"/>
                <a:cs typeface="Courier New" charset="0"/>
              </a:rPr>
              <a:t>&lt;</a:t>
            </a:r>
          </a:p>
          <a:p>
            <a:pPr algn="l" eaLnBrk="1" hangingPunct="1">
              <a:lnSpc>
                <a:spcPct val="70000"/>
              </a:lnSpc>
              <a:spcBef>
                <a:spcPct val="30000"/>
              </a:spcBef>
            </a:pPr>
            <a:r>
              <a:rPr lang="en-US" sz="2800" dirty="0">
                <a:latin typeface="Courier New" charset="0"/>
                <a:cs typeface="Courier New" charset="0"/>
              </a:rPr>
              <a:t>      List&lt;String&gt;, String, </a:t>
            </a:r>
            <a:r>
              <a:rPr lang="en-US" sz="2800" dirty="0">
                <a:solidFill>
                  <a:schemeClr val="bg1">
                    <a:lumMod val="75000"/>
                  </a:schemeClr>
                </a:solidFill>
                <a:latin typeface="Courier New" charset="0"/>
                <a:cs typeface="Courier New" charset="0"/>
              </a:rPr>
              <a:t>Long</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689314" y="2388112"/>
            <a:ext cx="2820693" cy="557775"/>
          </a:xfrm>
          <a:prstGeom prst="wedgeRoundRectCallout">
            <a:avLst>
              <a:gd name="adj1" fmla="val 5735"/>
              <a:gd name="adj2" fmla="val 15529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86558" y="3749874"/>
            <a:ext cx="366797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document fragment is list of words</a:t>
            </a:r>
          </a:p>
        </p:txBody>
      </p:sp>
      <p:sp>
        <p:nvSpPr>
          <p:cNvPr id="9" name="Rounded Rectangular Callout 8"/>
          <p:cNvSpPr/>
          <p:nvPr/>
        </p:nvSpPr>
        <p:spPr>
          <a:xfrm>
            <a:off x="4510007" y="2388112"/>
            <a:ext cx="1751309" cy="557775"/>
          </a:xfrm>
          <a:prstGeom prst="wedgeRoundRectCallout">
            <a:avLst>
              <a:gd name="adj1" fmla="val -32318"/>
              <a:gd name="adj2" fmla="val 26365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2832707" y="4384739"/>
            <a:ext cx="325812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map each word …</a:t>
            </a:r>
          </a:p>
        </p:txBody>
      </p:sp>
    </p:spTree>
    <p:extLst>
      <p:ext uri="{BB962C8B-B14F-4D97-AF65-F5344CB8AC3E}">
        <p14:creationId xmlns:p14="http://schemas.microsoft.com/office/powerpoint/2010/main" val="324913434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386558" y="1669942"/>
            <a:ext cx="7858540" cy="2548390"/>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class </a:t>
            </a:r>
            <a:r>
              <a:rPr lang="en-US" sz="2800" dirty="0" err="1">
                <a:solidFill>
                  <a:schemeClr val="bg1">
                    <a:lumMod val="75000"/>
                  </a:schemeClr>
                </a:solidFill>
                <a:latin typeface="Courier New" charset="0"/>
                <a:cs typeface="Courier New" charset="0"/>
              </a:rPr>
              <a:t>WordCountMapper</a:t>
            </a:r>
            <a:r>
              <a:rPr lang="en-US" sz="2800" dirty="0">
                <a:solidFill>
                  <a:schemeClr val="bg1">
                    <a:lumMod val="75000"/>
                  </a:schemeClr>
                </a:solidFill>
                <a:latin typeface="Courier New" charset="0"/>
                <a:cs typeface="Courier New" charset="0"/>
              </a:rPr>
              <a:t> extends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mapreduce.Mapper</a:t>
            </a:r>
            <a:r>
              <a:rPr lang="en-US" sz="2800" dirty="0">
                <a:solidFill>
                  <a:schemeClr val="bg1">
                    <a:lumMod val="75000"/>
                  </a:schemeClr>
                </a:solidFill>
                <a:latin typeface="Courier New" charset="0"/>
                <a:cs typeface="Courier New" charset="0"/>
              </a:rPr>
              <a:t>&lt;</a:t>
            </a:r>
          </a:p>
          <a:p>
            <a:pPr algn="l" eaLnBrk="1" hangingPunct="1">
              <a:lnSpc>
                <a:spcPct val="70000"/>
              </a:lnSpc>
              <a:spcBef>
                <a:spcPct val="30000"/>
              </a:spcBef>
            </a:pPr>
            <a:r>
              <a:rPr lang="en-US" sz="2800" dirty="0">
                <a:latin typeface="Courier New" charset="0"/>
                <a:cs typeface="Courier New" charset="0"/>
              </a:rPr>
              <a:t>      List&lt;String&gt;, String, Long</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689314" y="2388112"/>
            <a:ext cx="2820693" cy="557775"/>
          </a:xfrm>
          <a:prstGeom prst="wedgeRoundRectCallout">
            <a:avLst>
              <a:gd name="adj1" fmla="val 5735"/>
              <a:gd name="adj2" fmla="val 15529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86558" y="3749874"/>
            <a:ext cx="366797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document fragment is list of words</a:t>
            </a:r>
          </a:p>
        </p:txBody>
      </p:sp>
      <p:sp>
        <p:nvSpPr>
          <p:cNvPr id="9" name="Rounded Rectangular Callout 8"/>
          <p:cNvSpPr/>
          <p:nvPr/>
        </p:nvSpPr>
        <p:spPr>
          <a:xfrm>
            <a:off x="4510007" y="2388112"/>
            <a:ext cx="1751309" cy="557775"/>
          </a:xfrm>
          <a:prstGeom prst="wedgeRoundRectCallout">
            <a:avLst>
              <a:gd name="adj1" fmla="val -32318"/>
              <a:gd name="adj2" fmla="val 26365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2832707" y="4384739"/>
            <a:ext cx="325812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map each word …</a:t>
            </a:r>
          </a:p>
        </p:txBody>
      </p:sp>
      <p:sp>
        <p:nvSpPr>
          <p:cNvPr id="11" name="Rounded Rectangular Callout 10"/>
          <p:cNvSpPr/>
          <p:nvPr/>
        </p:nvSpPr>
        <p:spPr>
          <a:xfrm>
            <a:off x="6090835" y="2388112"/>
            <a:ext cx="1425844" cy="557775"/>
          </a:xfrm>
          <a:prstGeom prst="wedgeRoundRectCallout">
            <a:avLst>
              <a:gd name="adj1" fmla="val -19274"/>
              <a:gd name="adj2" fmla="val 3275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2" name="Text Box 122"/>
          <p:cNvSpPr txBox="1">
            <a:spLocks noChangeArrowheads="1"/>
          </p:cNvSpPr>
          <p:nvPr/>
        </p:nvSpPr>
        <p:spPr bwMode="auto">
          <a:xfrm>
            <a:off x="4864046" y="4826684"/>
            <a:ext cx="2652633"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to its count in the fragment</a:t>
            </a:r>
          </a:p>
        </p:txBody>
      </p:sp>
    </p:spTree>
    <p:extLst>
      <p:ext uri="{BB962C8B-B14F-4D97-AF65-F5344CB8AC3E}">
        <p14:creationId xmlns:p14="http://schemas.microsoft.com/office/powerpoint/2010/main" val="226206970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Map&lt;</a:t>
            </a:r>
            <a:r>
              <a:rPr lang="en-US" sz="2800" dirty="0" err="1">
                <a:latin typeface="Courier New" charset="0"/>
                <a:cs typeface="Courier New" charset="0"/>
              </a:rPr>
              <a:t>String,Long</a:t>
            </a:r>
            <a:r>
              <a:rPr lang="en-US" sz="2800" dirty="0">
                <a:latin typeface="Courier New" charset="0"/>
                <a:cs typeface="Courier New" charset="0"/>
              </a:rPr>
              <a:t>&gt; compute() {</a:t>
            </a:r>
          </a:p>
          <a:p>
            <a:pPr algn="l" eaLnBrk="1" hangingPunct="1">
              <a:lnSpc>
                <a:spcPct val="70000"/>
              </a:lnSpc>
              <a:spcBef>
                <a:spcPct val="30000"/>
              </a:spcBef>
            </a:pPr>
            <a:r>
              <a:rPr lang="en-US" sz="2800" dirty="0">
                <a:latin typeface="Courier New" charset="0"/>
                <a:cs typeface="Courier New" charset="0"/>
              </a:rPr>
              <a:t>  Map&lt;</a:t>
            </a:r>
            <a:r>
              <a:rPr lang="en-US" sz="2800" dirty="0" err="1">
                <a:latin typeface="Courier New" charset="0"/>
                <a:cs typeface="Courier New" charset="0"/>
              </a:rPr>
              <a:t>String,Long</a:t>
            </a:r>
            <a:r>
              <a:rPr lang="en-US" sz="2800" dirty="0">
                <a:latin typeface="Courier New" charset="0"/>
                <a:cs typeface="Courier New" charset="0"/>
              </a:rPr>
              <a:t>&gt; map = </a:t>
            </a:r>
            <a:r>
              <a:rPr lang="en-US" sz="2800" dirty="0">
                <a:solidFill>
                  <a:schemeClr val="tx1"/>
                </a:solidFill>
                <a:latin typeface="Courier New" charset="0"/>
                <a:cs typeface="Courier New" charset="0"/>
              </a:rPr>
              <a:t>new</a:t>
            </a:r>
            <a:r>
              <a:rPr lang="en-US" sz="2800" dirty="0">
                <a:latin typeface="Courier New" charset="0"/>
                <a:cs typeface="Courier New" charset="0"/>
              </a:rPr>
              <a:t> </a:t>
            </a:r>
            <a:r>
              <a:rPr lang="en-US" sz="2800" dirty="0" err="1">
                <a:latin typeface="Courier New" charset="0"/>
                <a:cs typeface="Courier New" charset="0"/>
              </a:rPr>
              <a:t>HashMap</a:t>
            </a:r>
            <a:r>
              <a:rPr lang="en-US" sz="2800" dirty="0">
                <a:latin typeface="Courier New" charset="0"/>
                <a:cs typeface="Courier New" charset="0"/>
              </a:rPr>
              <a:t>&lt;&gt;();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for</a:t>
            </a:r>
            <a:r>
              <a:rPr lang="en-US" sz="2800" dirty="0">
                <a:latin typeface="Courier New" charset="0"/>
                <a:cs typeface="Courier New" charset="0"/>
              </a:rPr>
              <a:t> (String word : input)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map.merge</a:t>
            </a:r>
            <a:r>
              <a:rPr lang="en-US" sz="2800" dirty="0">
                <a:latin typeface="Courier New" charset="0"/>
                <a:cs typeface="Courier New" charset="0"/>
              </a:rPr>
              <a:t>(word,</a:t>
            </a:r>
          </a:p>
          <a:p>
            <a:pPr algn="l" eaLnBrk="1" hangingPunct="1">
              <a:lnSpc>
                <a:spcPct val="70000"/>
              </a:lnSpc>
              <a:spcBef>
                <a:spcPct val="30000"/>
              </a:spcBef>
            </a:pPr>
            <a:r>
              <a:rPr lang="en-US" sz="2800" dirty="0">
                <a:latin typeface="Courier New" charset="0"/>
                <a:cs typeface="Courier New" charset="0"/>
              </a:rPr>
              <a:t>                  1L,</a:t>
            </a:r>
          </a:p>
          <a:p>
            <a:pPr algn="l" eaLnBrk="1" hangingPunct="1">
              <a:lnSpc>
                <a:spcPct val="70000"/>
              </a:lnSpc>
              <a:spcBef>
                <a:spcPct val="30000"/>
              </a:spcBef>
            </a:pPr>
            <a:r>
              <a:rPr lang="en-US" sz="2800" dirty="0">
                <a:latin typeface="Courier New" charset="0"/>
                <a:cs typeface="Courier New" charset="0"/>
              </a:rPr>
              <a:t>                  (x, y) -&gt; x + y);</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map;</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p:txBody>
      </p:sp>
    </p:spTree>
    <p:extLst>
      <p:ext uri="{BB962C8B-B14F-4D97-AF65-F5344CB8AC3E}">
        <p14:creationId xmlns:p14="http://schemas.microsoft.com/office/powerpoint/2010/main" val="174006608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Map&lt;</a:t>
            </a:r>
            <a:r>
              <a:rPr lang="en-US" sz="2800" dirty="0" err="1">
                <a:latin typeface="Courier New" charset="0"/>
                <a:cs typeface="Courier New" charset="0"/>
              </a:rPr>
              <a:t>String,Long</a:t>
            </a:r>
            <a:r>
              <a:rPr lang="en-US" sz="2800" dirty="0">
                <a:latin typeface="Courier New" charset="0"/>
                <a:cs typeface="Courier New" charset="0"/>
              </a:rPr>
              <a:t>&gt; compute()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new </a:t>
            </a:r>
            <a:r>
              <a:rPr lang="en-US" sz="2800" dirty="0" err="1">
                <a:solidFill>
                  <a:schemeClr val="bg1">
                    <a:lumMod val="75000"/>
                  </a:schemeClr>
                </a:solidFill>
                <a:latin typeface="Courier New" charset="0"/>
                <a:cs typeface="Courier New" charset="0"/>
              </a:rPr>
              <a:t>HashMap</a:t>
            </a:r>
            <a:r>
              <a:rPr lang="en-US" sz="2800" dirty="0">
                <a:solidFill>
                  <a:schemeClr val="bg1">
                    <a:lumMod val="75000"/>
                  </a:schemeClr>
                </a:solidFill>
                <a:latin typeface="Courier New" charset="0"/>
                <a:cs typeface="Courier New" charset="0"/>
              </a:rPr>
              <a:t>&lt;&gt;();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for (String word : input)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map.merge</a:t>
            </a:r>
            <a:r>
              <a:rPr lang="en-US" sz="2800" dirty="0">
                <a:solidFill>
                  <a:schemeClr val="bg1">
                    <a:lumMod val="75000"/>
                  </a:schemeClr>
                </a:solidFill>
                <a:latin typeface="Courier New" charset="0"/>
                <a:cs typeface="Courier New" charset="0"/>
              </a:rPr>
              <a:t>(word,</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1L,</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(x, y) -&gt; x + 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map;</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16238" y="1509999"/>
            <a:ext cx="6369803" cy="557775"/>
          </a:xfrm>
          <a:prstGeom prst="wedgeRoundRectCallout">
            <a:avLst>
              <a:gd name="adj1" fmla="val 7681"/>
              <a:gd name="adj2" fmla="val 413703"/>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937649" y="4216863"/>
            <a:ext cx="6470542"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the </a:t>
            </a:r>
            <a:r>
              <a:rPr lang="en-US" sz="2800" b="1" dirty="0">
                <a:solidFill>
                  <a:schemeClr val="tx1"/>
                </a:solidFill>
                <a:latin typeface="Courier New" panose="02070309020205020404" pitchFamily="49" charset="0"/>
                <a:cs typeface="Courier New" panose="02070309020205020404" pitchFamily="49" charset="0"/>
              </a:rPr>
              <a:t>compute()</a:t>
            </a:r>
            <a:r>
              <a:rPr lang="en-US" sz="2800" dirty="0">
                <a:latin typeface="Arial" pitchFamily="34" charset="0"/>
                <a:cs typeface="Arial" pitchFamily="34" charset="0"/>
              </a:rPr>
              <a:t> method constructs the local word count</a:t>
            </a:r>
          </a:p>
        </p:txBody>
      </p:sp>
    </p:spTree>
    <p:extLst>
      <p:ext uri="{BB962C8B-B14F-4D97-AF65-F5344CB8AC3E}">
        <p14:creationId xmlns:p14="http://schemas.microsoft.com/office/powerpoint/2010/main" val="24082570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24</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compute() {</a:t>
            </a:r>
          </a:p>
          <a:p>
            <a:pPr algn="l" eaLnBrk="1" hangingPunct="1">
              <a:lnSpc>
                <a:spcPct val="70000"/>
              </a:lnSpc>
              <a:spcBef>
                <a:spcPct val="30000"/>
              </a:spcBef>
            </a:pPr>
            <a:r>
              <a:rPr lang="en-US" sz="2800" dirty="0">
                <a:latin typeface="Courier New" charset="0"/>
                <a:cs typeface="Courier New" charset="0"/>
              </a:rPr>
              <a:t>  Map&lt;</a:t>
            </a:r>
            <a:r>
              <a:rPr lang="en-US" sz="2800" dirty="0" err="1">
                <a:latin typeface="Courier New" charset="0"/>
                <a:cs typeface="Courier New" charset="0"/>
              </a:rPr>
              <a:t>String,Long</a:t>
            </a:r>
            <a:r>
              <a:rPr lang="en-US" sz="2800" dirty="0">
                <a:latin typeface="Courier New" charset="0"/>
                <a:cs typeface="Courier New" charset="0"/>
              </a:rPr>
              <a:t>&gt; map = </a:t>
            </a:r>
            <a:r>
              <a:rPr lang="en-US" sz="2800" dirty="0">
                <a:solidFill>
                  <a:schemeClr val="tx1"/>
                </a:solidFill>
                <a:latin typeface="Courier New" charset="0"/>
                <a:cs typeface="Courier New" charset="0"/>
              </a:rPr>
              <a:t>new</a:t>
            </a:r>
            <a:r>
              <a:rPr lang="en-US" sz="2800" dirty="0">
                <a:latin typeface="Courier New" charset="0"/>
                <a:cs typeface="Courier New" charset="0"/>
              </a:rPr>
              <a:t> </a:t>
            </a:r>
            <a:r>
              <a:rPr lang="en-US" sz="2800" dirty="0" err="1">
                <a:latin typeface="Courier New" charset="0"/>
                <a:cs typeface="Courier New" charset="0"/>
              </a:rPr>
              <a:t>HashMap</a:t>
            </a:r>
            <a:r>
              <a:rPr lang="en-US" sz="2800" dirty="0">
                <a:latin typeface="Courier New" charset="0"/>
                <a:cs typeface="Courier New" charset="0"/>
              </a:rPr>
              <a:t>&lt;&gt;();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for (String word : input)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map.merge</a:t>
            </a:r>
            <a:r>
              <a:rPr lang="en-US" sz="2800" dirty="0">
                <a:solidFill>
                  <a:schemeClr val="bg1">
                    <a:lumMod val="75000"/>
                  </a:schemeClr>
                </a:solidFill>
                <a:latin typeface="Courier New" charset="0"/>
                <a:cs typeface="Courier New" charset="0"/>
              </a:rPr>
              <a:t>(word,</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1L,</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(x, y) -&gt; x + 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map;</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364211" y="2045725"/>
            <a:ext cx="8663551" cy="557775"/>
          </a:xfrm>
          <a:prstGeom prst="wedgeRoundRectCallout">
            <a:avLst>
              <a:gd name="adj1" fmla="val 7681"/>
              <a:gd name="adj2" fmla="val 413703"/>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573079" y="5187792"/>
            <a:ext cx="647054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create a map to hold the output</a:t>
            </a:r>
          </a:p>
        </p:txBody>
      </p:sp>
    </p:spTree>
    <p:extLst>
      <p:ext uri="{BB962C8B-B14F-4D97-AF65-F5344CB8AC3E}">
        <p14:creationId xmlns:p14="http://schemas.microsoft.com/office/powerpoint/2010/main" val="16037234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25</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compute()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new </a:t>
            </a:r>
            <a:r>
              <a:rPr lang="en-US" sz="2800" dirty="0" err="1">
                <a:solidFill>
                  <a:schemeClr val="bg1">
                    <a:lumMod val="75000"/>
                  </a:schemeClr>
                </a:solidFill>
                <a:latin typeface="Courier New" charset="0"/>
                <a:cs typeface="Courier New" charset="0"/>
              </a:rPr>
              <a:t>HashMap</a:t>
            </a:r>
            <a:r>
              <a:rPr lang="en-US" sz="2800" dirty="0">
                <a:solidFill>
                  <a:schemeClr val="bg1">
                    <a:lumMod val="75000"/>
                  </a:schemeClr>
                </a:solidFill>
                <a:latin typeface="Courier New" charset="0"/>
                <a:cs typeface="Courier New" charset="0"/>
              </a:rPr>
              <a:t>&lt;&gt;();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for</a:t>
            </a:r>
            <a:r>
              <a:rPr lang="en-US" sz="2800" dirty="0">
                <a:latin typeface="Courier New" charset="0"/>
                <a:cs typeface="Courier New" charset="0"/>
              </a:rPr>
              <a:t> (String word : input) {</a:t>
            </a:r>
          </a:p>
          <a:p>
            <a:pPr algn="l" eaLnBrk="1" hangingPunct="1">
              <a:lnSpc>
                <a:spcPct val="70000"/>
              </a:lnSpc>
              <a:spcBef>
                <a:spcPct val="30000"/>
              </a:spcBef>
            </a:pPr>
            <a:r>
              <a:rPr lang="en-US" sz="2800" dirty="0">
                <a:latin typeface="Courier New" charset="0"/>
                <a:cs typeface="Courier New" charset="0"/>
              </a:rPr>
              <a:t>        </a:t>
            </a:r>
            <a:r>
              <a:rPr lang="en-US" sz="2800" dirty="0" err="1">
                <a:solidFill>
                  <a:schemeClr val="bg1">
                    <a:lumMod val="75000"/>
                  </a:schemeClr>
                </a:solidFill>
                <a:latin typeface="Courier New" charset="0"/>
                <a:cs typeface="Courier New" charset="0"/>
              </a:rPr>
              <a:t>map.merge</a:t>
            </a:r>
            <a:r>
              <a:rPr lang="en-US" sz="2800" dirty="0">
                <a:solidFill>
                  <a:schemeClr val="bg1">
                    <a:lumMod val="75000"/>
                  </a:schemeClr>
                </a:solidFill>
                <a:latin typeface="Courier New" charset="0"/>
                <a:cs typeface="Courier New" charset="0"/>
              </a:rPr>
              <a:t>(word,</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1L,</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(x, y) -&gt; x + 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map;</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084881" y="2388112"/>
            <a:ext cx="6602278" cy="557775"/>
          </a:xfrm>
          <a:prstGeom prst="wedgeRoundRectCallout">
            <a:avLst>
              <a:gd name="adj1" fmla="val 31155"/>
              <a:gd name="adj2" fmla="val 374803"/>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4572000" y="4968135"/>
            <a:ext cx="423878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examine each word in the document fragment</a:t>
            </a:r>
          </a:p>
        </p:txBody>
      </p:sp>
    </p:spTree>
    <p:extLst>
      <p:ext uri="{BB962C8B-B14F-4D97-AF65-F5344CB8AC3E}">
        <p14:creationId xmlns:p14="http://schemas.microsoft.com/office/powerpoint/2010/main" val="41376514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26</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compute()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new </a:t>
            </a:r>
            <a:r>
              <a:rPr lang="en-US" sz="2800" dirty="0" err="1">
                <a:solidFill>
                  <a:schemeClr val="bg1">
                    <a:lumMod val="75000"/>
                  </a:schemeClr>
                </a:solidFill>
                <a:latin typeface="Courier New" charset="0"/>
                <a:cs typeface="Courier New" charset="0"/>
              </a:rPr>
              <a:t>HashMap</a:t>
            </a:r>
            <a:r>
              <a:rPr lang="en-US" sz="2800" dirty="0">
                <a:solidFill>
                  <a:schemeClr val="bg1">
                    <a:lumMod val="75000"/>
                  </a:schemeClr>
                </a:solidFill>
                <a:latin typeface="Courier New" charset="0"/>
                <a:cs typeface="Courier New" charset="0"/>
              </a:rPr>
              <a:t>&lt;&gt;();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for (String word : input)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map.merge</a:t>
            </a:r>
            <a:r>
              <a:rPr lang="en-US" sz="2800" dirty="0">
                <a:latin typeface="Courier New" charset="0"/>
                <a:cs typeface="Courier New" charset="0"/>
              </a:rPr>
              <a:t>(word,</a:t>
            </a:r>
          </a:p>
          <a:p>
            <a:pPr algn="l" eaLnBrk="1" hangingPunct="1">
              <a:lnSpc>
                <a:spcPct val="70000"/>
              </a:lnSpc>
              <a:spcBef>
                <a:spcPct val="30000"/>
              </a:spcBef>
            </a:pPr>
            <a:r>
              <a:rPr lang="en-US" sz="2800" dirty="0">
                <a:latin typeface="Courier New" charset="0"/>
                <a:cs typeface="Courier New" charset="0"/>
              </a:rPr>
              <a:t>                  1L,</a:t>
            </a:r>
          </a:p>
          <a:p>
            <a:pPr algn="l" eaLnBrk="1" hangingPunct="1">
              <a:lnSpc>
                <a:spcPct val="70000"/>
              </a:lnSpc>
              <a:spcBef>
                <a:spcPct val="30000"/>
              </a:spcBef>
            </a:pPr>
            <a:r>
              <a:rPr lang="en-US" sz="2800" dirty="0">
                <a:latin typeface="Courier New" charset="0"/>
                <a:cs typeface="Courier New" charset="0"/>
              </a:rPr>
              <a:t>                  (x, y) -&gt; x + y);</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map;</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689315" y="2945886"/>
            <a:ext cx="6199321" cy="1409137"/>
          </a:xfrm>
          <a:prstGeom prst="wedgeRoundRectCallout">
            <a:avLst>
              <a:gd name="adj1" fmla="val 9499"/>
              <a:gd name="adj2" fmla="val 119656"/>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875295" y="5445188"/>
            <a:ext cx="423878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increment that word’s count in the map</a:t>
            </a:r>
          </a:p>
        </p:txBody>
      </p:sp>
    </p:spTree>
    <p:extLst>
      <p:ext uri="{BB962C8B-B14F-4D97-AF65-F5344CB8AC3E}">
        <p14:creationId xmlns:p14="http://schemas.microsoft.com/office/powerpoint/2010/main" val="16583168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27</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r>
              <a:rPr lang="en-US" dirty="0">
                <a:latin typeface="Arial" charset="0"/>
              </a:rPr>
              <a:t> Mapper</a:t>
            </a:r>
          </a:p>
        </p:txBody>
      </p:sp>
      <p:sp>
        <p:nvSpPr>
          <p:cNvPr id="75781" name="Text Box 3"/>
          <p:cNvSpPr txBox="1">
            <a:spLocks noChangeArrowheads="1"/>
          </p:cNvSpPr>
          <p:nvPr/>
        </p:nvSpPr>
        <p:spPr bwMode="auto">
          <a:xfrm>
            <a:off x="116238" y="1669942"/>
            <a:ext cx="8911524" cy="427193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compute()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new </a:t>
            </a:r>
            <a:r>
              <a:rPr lang="en-US" sz="2800" dirty="0" err="1">
                <a:solidFill>
                  <a:schemeClr val="bg1">
                    <a:lumMod val="75000"/>
                  </a:schemeClr>
                </a:solidFill>
                <a:latin typeface="Courier New" charset="0"/>
                <a:cs typeface="Courier New" charset="0"/>
              </a:rPr>
              <a:t>HashMap</a:t>
            </a:r>
            <a:r>
              <a:rPr lang="en-US" sz="2800" dirty="0">
                <a:solidFill>
                  <a:schemeClr val="bg1">
                    <a:lumMod val="75000"/>
                  </a:schemeClr>
                </a:solidFill>
                <a:latin typeface="Courier New" charset="0"/>
                <a:cs typeface="Courier New" charset="0"/>
              </a:rPr>
              <a:t>&lt;&gt;();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for (String word : input)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map.merge</a:t>
            </a:r>
            <a:r>
              <a:rPr lang="en-US" sz="2800" dirty="0">
                <a:solidFill>
                  <a:schemeClr val="bg1">
                    <a:lumMod val="75000"/>
                  </a:schemeClr>
                </a:solidFill>
                <a:latin typeface="Courier New" charset="0"/>
                <a:cs typeface="Courier New" charset="0"/>
              </a:rPr>
              <a:t>(word,</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1L,</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(x, y) -&gt; x + 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map;</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Rounded Rectangular Callout 6"/>
          <p:cNvSpPr/>
          <p:nvPr/>
        </p:nvSpPr>
        <p:spPr>
          <a:xfrm>
            <a:off x="1270861" y="4541475"/>
            <a:ext cx="2723826" cy="704569"/>
          </a:xfrm>
          <a:prstGeom prst="wedgeRoundRectCallout">
            <a:avLst>
              <a:gd name="adj1" fmla="val 74933"/>
              <a:gd name="adj2" fmla="val 14071"/>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4788977" y="4416705"/>
            <a:ext cx="423878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when the local count is complete, return the map</a:t>
            </a:r>
          </a:p>
        </p:txBody>
      </p:sp>
    </p:spTree>
    <p:extLst>
      <p:ext uri="{BB962C8B-B14F-4D97-AF65-F5344CB8AC3E}">
        <p14:creationId xmlns:p14="http://schemas.microsoft.com/office/powerpoint/2010/main" val="12574529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Phase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28</a:t>
            </a:fld>
            <a:endParaRPr lang="en-US"/>
          </a:p>
        </p:txBody>
      </p:sp>
      <p:sp>
        <p:nvSpPr>
          <p:cNvPr id="8" name="TextBox 7"/>
          <p:cNvSpPr txBox="1"/>
          <p:nvPr/>
        </p:nvSpPr>
        <p:spPr bwMode="auto">
          <a:xfrm>
            <a:off x="4849717" y="5629016"/>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grpSp>
        <p:nvGrpSpPr>
          <p:cNvPr id="21" name="Group 13"/>
          <p:cNvGrpSpPr>
            <a:grpSpLocks/>
          </p:cNvGrpSpPr>
          <p:nvPr/>
        </p:nvGrpSpPr>
        <p:grpSpPr bwMode="auto">
          <a:xfrm flipH="1">
            <a:off x="1018023" y="5570497"/>
            <a:ext cx="788987" cy="704850"/>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36" name="Group 13"/>
          <p:cNvGrpSpPr>
            <a:grpSpLocks/>
          </p:cNvGrpSpPr>
          <p:nvPr/>
        </p:nvGrpSpPr>
        <p:grpSpPr bwMode="auto">
          <a:xfrm flipH="1">
            <a:off x="7025857" y="5570497"/>
            <a:ext cx="788987" cy="704850"/>
            <a:chOff x="864" y="1968"/>
            <a:chExt cx="912" cy="816"/>
          </a:xfrm>
        </p:grpSpPr>
        <p:sp>
          <p:nvSpPr>
            <p:cNvPr id="3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3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4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grpSp>
      <p:grpSp>
        <p:nvGrpSpPr>
          <p:cNvPr id="50" name="Group 13"/>
          <p:cNvGrpSpPr>
            <a:grpSpLocks/>
          </p:cNvGrpSpPr>
          <p:nvPr/>
        </p:nvGrpSpPr>
        <p:grpSpPr bwMode="auto">
          <a:xfrm flipH="1">
            <a:off x="2933870" y="5570497"/>
            <a:ext cx="788987" cy="704850"/>
            <a:chOff x="864" y="1968"/>
            <a:chExt cx="912" cy="816"/>
          </a:xfrm>
        </p:grpSpPr>
        <p:sp>
          <p:nvSpPr>
            <p:cNvPr id="5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5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03" name="Group 13"/>
          <p:cNvGrpSpPr>
            <a:grpSpLocks/>
          </p:cNvGrpSpPr>
          <p:nvPr/>
        </p:nvGrpSpPr>
        <p:grpSpPr bwMode="auto">
          <a:xfrm flipH="1">
            <a:off x="3958065" y="2321585"/>
            <a:ext cx="788987" cy="704850"/>
            <a:chOff x="864" y="1968"/>
            <a:chExt cx="912" cy="816"/>
          </a:xfrm>
        </p:grpSpPr>
        <p:sp>
          <p:nvSpPr>
            <p:cNvPr id="104"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5"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7"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8"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09"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10"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11"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2"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4"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31" name="Rounded Rectangular Callout 130"/>
          <p:cNvSpPr/>
          <p:nvPr/>
        </p:nvSpPr>
        <p:spPr>
          <a:xfrm>
            <a:off x="5289601" y="1459074"/>
            <a:ext cx="1740985" cy="1464231"/>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sz="2000" dirty="0">
                <a:solidFill>
                  <a:schemeClr val="tx1"/>
                </a:solidFill>
                <a:latin typeface="Arial" pitchFamily="34" charset="0"/>
                <a:cs typeface="Arial" pitchFamily="34" charset="0"/>
              </a:rPr>
              <a:t>alpha </a:t>
            </a:r>
            <a:r>
              <a:rPr lang="en-US" sz="2000" dirty="0">
                <a:solidFill>
                  <a:schemeClr val="tx1"/>
                </a:solidFill>
                <a:latin typeface="Arial" pitchFamily="34" charset="0"/>
                <a:cs typeface="Arial" pitchFamily="34" charset="0"/>
                <a:sym typeface="Symbol"/>
              </a:rPr>
              <a:t> 4</a:t>
            </a:r>
          </a:p>
          <a:p>
            <a:pPr algn="ctr"/>
            <a:r>
              <a:rPr lang="en-US" sz="2000" dirty="0">
                <a:solidFill>
                  <a:schemeClr val="tx1"/>
                </a:solidFill>
                <a:latin typeface="Arial" pitchFamily="34" charset="0"/>
                <a:cs typeface="Arial" pitchFamily="34" charset="0"/>
              </a:rPr>
              <a:t>bravo </a:t>
            </a:r>
            <a:r>
              <a:rPr lang="en-US" sz="2000" dirty="0">
                <a:solidFill>
                  <a:schemeClr val="tx1"/>
                </a:solidFill>
                <a:latin typeface="Arial" pitchFamily="34" charset="0"/>
                <a:cs typeface="Arial" pitchFamily="34" charset="0"/>
                <a:sym typeface="Symbol"/>
              </a:rPr>
              <a:t> 2</a:t>
            </a:r>
            <a:endParaRPr lang="en-US" sz="2000" dirty="0">
              <a:solidFill>
                <a:schemeClr val="tx1"/>
              </a:solidFill>
              <a:latin typeface="Arial" pitchFamily="34" charset="0"/>
              <a:cs typeface="Arial" pitchFamily="34" charset="0"/>
            </a:endParaRPr>
          </a:p>
          <a:p>
            <a:pPr algn="ctr"/>
            <a:r>
              <a:rPr lang="en-US" sz="2000" dirty="0">
                <a:solidFill>
                  <a:schemeClr val="tx1"/>
                </a:solidFill>
                <a:latin typeface="Arial" pitchFamily="34" charset="0"/>
                <a:cs typeface="Arial" pitchFamily="34" charset="0"/>
              </a:rPr>
              <a:t>…</a:t>
            </a:r>
          </a:p>
          <a:p>
            <a:pPr algn="ctr"/>
            <a:r>
              <a:rPr lang="en-US" sz="2000" dirty="0" err="1">
                <a:solidFill>
                  <a:schemeClr val="tx1"/>
                </a:solidFill>
                <a:latin typeface="Arial" pitchFamily="34" charset="0"/>
                <a:cs typeface="Arial" pitchFamily="34" charset="0"/>
              </a:rPr>
              <a:t>zulu</a:t>
            </a:r>
            <a:r>
              <a:rPr lang="en-US" sz="2000" dirty="0">
                <a:solidFill>
                  <a:schemeClr val="tx1"/>
                </a:solidFill>
                <a:latin typeface="Arial" pitchFamily="34" charset="0"/>
                <a:cs typeface="Arial" pitchFamily="34" charset="0"/>
              </a:rPr>
              <a:t> </a:t>
            </a:r>
            <a:r>
              <a:rPr lang="en-US" sz="2000" dirty="0">
                <a:solidFill>
                  <a:schemeClr val="tx1"/>
                </a:solidFill>
                <a:latin typeface="Arial" pitchFamily="34" charset="0"/>
                <a:cs typeface="Arial" pitchFamily="34" charset="0"/>
                <a:sym typeface="Symbol"/>
              </a:rPr>
              <a:t> 1</a:t>
            </a:r>
            <a:endParaRPr lang="en-US" sz="2000" dirty="0">
              <a:solidFill>
                <a:schemeClr val="tx1"/>
              </a:solidFill>
              <a:latin typeface="Arial" pitchFamily="34" charset="0"/>
              <a:cs typeface="Arial" pitchFamily="34" charset="0"/>
            </a:endParaRPr>
          </a:p>
        </p:txBody>
      </p:sp>
      <p:sp>
        <p:nvSpPr>
          <p:cNvPr id="132" name="Right Arrow 131"/>
          <p:cNvSpPr/>
          <p:nvPr/>
        </p:nvSpPr>
        <p:spPr bwMode="auto">
          <a:xfrm rot="16368361">
            <a:off x="3755635" y="3407641"/>
            <a:ext cx="1031896" cy="476381"/>
          </a:xfrm>
          <a:prstGeom prst="rightArrow">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33" name="Right Arrow 132"/>
          <p:cNvSpPr/>
          <p:nvPr/>
        </p:nvSpPr>
        <p:spPr bwMode="auto">
          <a:xfrm rot="13178507">
            <a:off x="4914032" y="3393237"/>
            <a:ext cx="1031896" cy="476381"/>
          </a:xfrm>
          <a:prstGeom prst="rightArrow">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34" name="Right Arrow 133"/>
          <p:cNvSpPr/>
          <p:nvPr/>
        </p:nvSpPr>
        <p:spPr bwMode="auto">
          <a:xfrm rot="8421493" flipH="1">
            <a:off x="2597236" y="3393237"/>
            <a:ext cx="1031896" cy="476381"/>
          </a:xfrm>
          <a:prstGeom prst="rightArrow">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63" name="Text Box 122"/>
          <p:cNvSpPr txBox="1">
            <a:spLocks noChangeArrowheads="1"/>
          </p:cNvSpPr>
          <p:nvPr/>
        </p:nvSpPr>
        <p:spPr bwMode="auto">
          <a:xfrm>
            <a:off x="1208740" y="3122611"/>
            <a:ext cx="672652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 </a:t>
            </a:r>
            <a:r>
              <a:rPr lang="en-US" sz="2800" i="1" dirty="0">
                <a:solidFill>
                  <a:schemeClr val="tx1"/>
                </a:solidFill>
                <a:latin typeface="Arial" pitchFamily="34" charset="0"/>
                <a:cs typeface="Arial" pitchFamily="34" charset="0"/>
              </a:rPr>
              <a:t>reducer</a:t>
            </a:r>
            <a:r>
              <a:rPr lang="en-US" sz="2800" dirty="0">
                <a:latin typeface="Arial" pitchFamily="34" charset="0"/>
                <a:cs typeface="Arial" pitchFamily="34" charset="0"/>
              </a:rPr>
              <a:t> thread merges mapper outputs</a:t>
            </a:r>
            <a:endParaRPr lang="en-US" sz="2800" dirty="0">
              <a:solidFill>
                <a:schemeClr val="tx1"/>
              </a:solidFill>
              <a:latin typeface="Arial" pitchFamily="34" charset="0"/>
              <a:cs typeface="Arial" pitchFamily="34" charset="0"/>
            </a:endParaRPr>
          </a:p>
        </p:txBody>
      </p:sp>
      <p:sp>
        <p:nvSpPr>
          <p:cNvPr id="135" name="Rounded Rectangular Callout 134"/>
          <p:cNvSpPr/>
          <p:nvPr/>
        </p:nvSpPr>
        <p:spPr>
          <a:xfrm>
            <a:off x="1815561" y="3964993"/>
            <a:ext cx="1494678" cy="1464231"/>
          </a:xfrm>
          <a:prstGeom prst="wedgeRoundRectCallout">
            <a:avLst>
              <a:gd name="adj1" fmla="val -40824"/>
              <a:gd name="adj2" fmla="val 61875"/>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2000" dirty="0">
                <a:solidFill>
                  <a:srgbClr val="FF0000"/>
                </a:solidFill>
                <a:latin typeface="Arial" pitchFamily="34" charset="0"/>
              </a:rPr>
              <a:t>alpha</a:t>
            </a:r>
            <a:r>
              <a:rPr lang="en-US" sz="2000" dirty="0">
                <a:solidFill>
                  <a:srgbClr val="FF0000"/>
                </a:solidFill>
                <a:latin typeface="Arial" pitchFamily="34" charset="0"/>
                <a:cs typeface="Arial" pitchFamily="34" charset="0"/>
                <a:sym typeface="Symbol"/>
              </a:rPr>
              <a:t>  2</a:t>
            </a:r>
          </a:p>
          <a:p>
            <a:pPr algn="ctr">
              <a:defRPr/>
            </a:pPr>
            <a:r>
              <a:rPr lang="en-US" sz="2000" dirty="0" err="1">
                <a:solidFill>
                  <a:srgbClr val="FF0000"/>
                </a:solidFill>
                <a:latin typeface="Arial" pitchFamily="34" charset="0"/>
              </a:rPr>
              <a:t>juliet</a:t>
            </a:r>
            <a:r>
              <a:rPr lang="en-US" sz="2000" dirty="0">
                <a:solidFill>
                  <a:srgbClr val="FF0000"/>
                </a:solidFill>
                <a:latin typeface="Arial" pitchFamily="34" charset="0"/>
                <a:cs typeface="Arial" pitchFamily="34" charset="0"/>
                <a:sym typeface="Symbol"/>
              </a:rPr>
              <a:t>  1</a:t>
            </a:r>
            <a:endParaRPr lang="en-US" sz="2000" dirty="0">
              <a:solidFill>
                <a:srgbClr val="FF0000"/>
              </a:solidFill>
              <a:latin typeface="Arial" pitchFamily="34" charset="0"/>
            </a:endParaRPr>
          </a:p>
          <a:p>
            <a:pPr algn="ctr">
              <a:defRPr/>
            </a:pPr>
            <a:r>
              <a:rPr lang="en-US" sz="2000" dirty="0">
                <a:solidFill>
                  <a:srgbClr val="FF0000"/>
                </a:solidFill>
                <a:latin typeface="Arial" pitchFamily="34" charset="0"/>
              </a:rPr>
              <a:t>tango</a:t>
            </a:r>
            <a:r>
              <a:rPr lang="en-US" sz="2000" dirty="0">
                <a:solidFill>
                  <a:srgbClr val="FF0000"/>
                </a:solidFill>
                <a:latin typeface="Arial" pitchFamily="34" charset="0"/>
                <a:cs typeface="Arial" pitchFamily="34" charset="0"/>
                <a:sym typeface="Symbol"/>
              </a:rPr>
              <a:t>  1</a:t>
            </a:r>
          </a:p>
          <a:p>
            <a:pPr algn="ctr">
              <a:defRPr/>
            </a:pPr>
            <a:r>
              <a:rPr lang="en-US" sz="2000" dirty="0">
                <a:solidFill>
                  <a:srgbClr val="FF0000"/>
                </a:solidFill>
                <a:latin typeface="Arial" pitchFamily="34" charset="0"/>
              </a:rPr>
              <a:t> …</a:t>
            </a:r>
          </a:p>
        </p:txBody>
      </p:sp>
      <p:sp>
        <p:nvSpPr>
          <p:cNvPr id="136" name="Rounded Rectangular Callout 135"/>
          <p:cNvSpPr/>
          <p:nvPr/>
        </p:nvSpPr>
        <p:spPr>
          <a:xfrm>
            <a:off x="3763254" y="3810510"/>
            <a:ext cx="1584122" cy="1773198"/>
          </a:xfrm>
          <a:prstGeom prst="wedgeRoundRectCallout">
            <a:avLst>
              <a:gd name="adj1" fmla="val -40824"/>
              <a:gd name="adj2" fmla="val 61875"/>
              <a:gd name="adj3" fmla="val 16667"/>
            </a:avLst>
          </a:prstGeom>
          <a:solidFill>
            <a:schemeClr val="bg1"/>
          </a:solidFill>
          <a:ln w="38100">
            <a:solidFill>
              <a:srgbClr val="0000FF"/>
            </a:solid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2000" dirty="0">
                <a:solidFill>
                  <a:srgbClr val="0000FF"/>
                </a:solidFill>
                <a:latin typeface="Arial" pitchFamily="34" charset="0"/>
              </a:rPr>
              <a:t>alpha</a:t>
            </a:r>
            <a:r>
              <a:rPr lang="en-US" sz="2000" dirty="0">
                <a:solidFill>
                  <a:srgbClr val="0000FF"/>
                </a:solidFill>
                <a:latin typeface="Arial" pitchFamily="34" charset="0"/>
                <a:cs typeface="Arial" pitchFamily="34" charset="0"/>
                <a:sym typeface="Symbol"/>
              </a:rPr>
              <a:t>  1</a:t>
            </a:r>
          </a:p>
          <a:p>
            <a:pPr algn="ctr">
              <a:defRPr/>
            </a:pPr>
            <a:r>
              <a:rPr lang="en-US" sz="2000" dirty="0">
                <a:solidFill>
                  <a:srgbClr val="0000FF"/>
                </a:solidFill>
                <a:latin typeface="Arial" pitchFamily="34" charset="0"/>
              </a:rPr>
              <a:t>foxtrot </a:t>
            </a:r>
            <a:r>
              <a:rPr lang="en-US" sz="2000" dirty="0">
                <a:solidFill>
                  <a:srgbClr val="0000FF"/>
                </a:solidFill>
                <a:latin typeface="Arial" pitchFamily="34" charset="0"/>
                <a:cs typeface="Arial" pitchFamily="34" charset="0"/>
                <a:sym typeface="Symbol"/>
              </a:rPr>
              <a:t> 1</a:t>
            </a:r>
            <a:endParaRPr lang="en-US" sz="2000" dirty="0">
              <a:solidFill>
                <a:srgbClr val="0000FF"/>
              </a:solidFill>
              <a:latin typeface="Arial" pitchFamily="34" charset="0"/>
            </a:endParaRPr>
          </a:p>
          <a:p>
            <a:pPr algn="ctr">
              <a:defRPr/>
            </a:pPr>
            <a:r>
              <a:rPr lang="en-US" sz="2000" dirty="0">
                <a:solidFill>
                  <a:srgbClr val="0000FF"/>
                </a:solidFill>
                <a:latin typeface="Arial" pitchFamily="34" charset="0"/>
              </a:rPr>
              <a:t>papa</a:t>
            </a:r>
            <a:r>
              <a:rPr lang="en-US" sz="2000" dirty="0">
                <a:solidFill>
                  <a:srgbClr val="0000FF"/>
                </a:solidFill>
                <a:latin typeface="Arial" pitchFamily="34" charset="0"/>
                <a:cs typeface="Arial" pitchFamily="34" charset="0"/>
                <a:sym typeface="Symbol"/>
              </a:rPr>
              <a:t> 1</a:t>
            </a:r>
            <a:endParaRPr lang="en-US" sz="2000" dirty="0">
              <a:solidFill>
                <a:srgbClr val="0000FF"/>
              </a:solidFill>
              <a:latin typeface="Arial" pitchFamily="34" charset="0"/>
            </a:endParaRPr>
          </a:p>
          <a:p>
            <a:pPr algn="ctr">
              <a:defRPr/>
            </a:pPr>
            <a:r>
              <a:rPr lang="en-US" sz="2000" dirty="0">
                <a:solidFill>
                  <a:srgbClr val="0000FF"/>
                </a:solidFill>
                <a:latin typeface="Arial" pitchFamily="34" charset="0"/>
              </a:rPr>
              <a:t>tango</a:t>
            </a:r>
            <a:r>
              <a:rPr lang="en-US" sz="2000" dirty="0">
                <a:solidFill>
                  <a:srgbClr val="0000FF"/>
                </a:solidFill>
                <a:latin typeface="Arial" pitchFamily="34" charset="0"/>
                <a:cs typeface="Arial" pitchFamily="34" charset="0"/>
                <a:sym typeface="Symbol"/>
              </a:rPr>
              <a:t>  1</a:t>
            </a:r>
          </a:p>
          <a:p>
            <a:pPr algn="ctr">
              <a:defRPr/>
            </a:pPr>
            <a:r>
              <a:rPr lang="en-US" sz="2000" dirty="0">
                <a:solidFill>
                  <a:srgbClr val="0000FF"/>
                </a:solidFill>
                <a:latin typeface="Arial" pitchFamily="34" charset="0"/>
              </a:rPr>
              <a:t> …</a:t>
            </a:r>
          </a:p>
        </p:txBody>
      </p:sp>
      <p:sp>
        <p:nvSpPr>
          <p:cNvPr id="137" name="Rounded Rectangular Callout 136"/>
          <p:cNvSpPr/>
          <p:nvPr/>
        </p:nvSpPr>
        <p:spPr>
          <a:xfrm>
            <a:off x="5576943" y="4122041"/>
            <a:ext cx="1713320" cy="1123712"/>
          </a:xfrm>
          <a:prstGeom prst="wedgeRoundRectCallout">
            <a:avLst>
              <a:gd name="adj1" fmla="val 42842"/>
              <a:gd name="adj2" fmla="val 82194"/>
              <a:gd name="adj3" fmla="val 16667"/>
            </a:avLst>
          </a:prstGeom>
          <a:solidFill>
            <a:schemeClr val="bg1"/>
          </a:solidFill>
          <a:ln w="38100">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2000" dirty="0">
                <a:solidFill>
                  <a:srgbClr val="00B050"/>
                </a:solidFill>
                <a:latin typeface="Arial" pitchFamily="34" charset="0"/>
              </a:rPr>
              <a:t>alpha</a:t>
            </a:r>
            <a:r>
              <a:rPr lang="en-US" sz="2000" dirty="0">
                <a:solidFill>
                  <a:srgbClr val="00B050"/>
                </a:solidFill>
                <a:latin typeface="Arial" pitchFamily="34" charset="0"/>
                <a:cs typeface="Arial" pitchFamily="34" charset="0"/>
                <a:sym typeface="Symbol"/>
              </a:rPr>
              <a:t>  1</a:t>
            </a:r>
          </a:p>
          <a:p>
            <a:pPr algn="ctr">
              <a:defRPr/>
            </a:pPr>
            <a:r>
              <a:rPr lang="en-US" sz="2000" dirty="0" err="1">
                <a:solidFill>
                  <a:srgbClr val="00B050"/>
                </a:solidFill>
                <a:latin typeface="Arial" pitchFamily="34" charset="0"/>
              </a:rPr>
              <a:t>oscar</a:t>
            </a:r>
            <a:r>
              <a:rPr lang="en-US" sz="2000" dirty="0">
                <a:solidFill>
                  <a:srgbClr val="00B050"/>
                </a:solidFill>
                <a:latin typeface="Arial" pitchFamily="34" charset="0"/>
              </a:rPr>
              <a:t> </a:t>
            </a:r>
            <a:r>
              <a:rPr lang="en-US" sz="2000" dirty="0">
                <a:solidFill>
                  <a:srgbClr val="00B050"/>
                </a:solidFill>
                <a:latin typeface="Arial" pitchFamily="34" charset="0"/>
                <a:cs typeface="Arial" pitchFamily="34" charset="0"/>
                <a:sym typeface="Symbol"/>
              </a:rPr>
              <a:t> 1</a:t>
            </a:r>
            <a:r>
              <a:rPr lang="en-US" sz="2000" dirty="0">
                <a:solidFill>
                  <a:srgbClr val="00B050"/>
                </a:solidFill>
                <a:latin typeface="Arial" pitchFamily="34" charset="0"/>
              </a:rPr>
              <a:t>,</a:t>
            </a:r>
          </a:p>
          <a:p>
            <a:pPr algn="ctr">
              <a:defRPr/>
            </a:pPr>
            <a:r>
              <a:rPr lang="en-US" sz="2000" dirty="0">
                <a:solidFill>
                  <a:srgbClr val="00B050"/>
                </a:solidFill>
                <a:latin typeface="Arial" pitchFamily="34" charset="0"/>
              </a:rPr>
              <a:t>bravo </a:t>
            </a:r>
            <a:r>
              <a:rPr lang="en-US" sz="2000" dirty="0">
                <a:solidFill>
                  <a:srgbClr val="00B050"/>
                </a:solidFill>
                <a:latin typeface="Arial" pitchFamily="34" charset="0"/>
                <a:cs typeface="Arial" pitchFamily="34" charset="0"/>
                <a:sym typeface="Symbol"/>
              </a:rPr>
              <a:t> 2</a:t>
            </a:r>
            <a:r>
              <a:rPr lang="en-US" sz="2000" dirty="0">
                <a:solidFill>
                  <a:srgbClr val="00B050"/>
                </a:solidFill>
                <a:latin typeface="Arial" pitchFamily="34" charset="0"/>
              </a:rPr>
              <a:t>…</a:t>
            </a:r>
          </a:p>
        </p:txBody>
      </p:sp>
    </p:spTree>
    <p:extLst>
      <p:ext uri="{BB962C8B-B14F-4D97-AF65-F5344CB8AC3E}">
        <p14:creationId xmlns:p14="http://schemas.microsoft.com/office/powerpoint/2010/main" val="2583033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3" grpId="0" animBg="1"/>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Right Arrow 33"/>
          <p:cNvSpPr/>
          <p:nvPr/>
        </p:nvSpPr>
        <p:spPr bwMode="auto">
          <a:xfrm rot="16368361">
            <a:off x="3899827" y="3784173"/>
            <a:ext cx="1031896" cy="476381"/>
          </a:xfrm>
          <a:prstGeom prst="rightArrow">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5" name="Right Arrow 34"/>
          <p:cNvSpPr/>
          <p:nvPr/>
        </p:nvSpPr>
        <p:spPr bwMode="auto">
          <a:xfrm rot="13178507">
            <a:off x="5058224" y="3769769"/>
            <a:ext cx="1031896" cy="476381"/>
          </a:xfrm>
          <a:prstGeom prst="rightArrow">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6" name="Right Arrow 35"/>
          <p:cNvSpPr/>
          <p:nvPr/>
        </p:nvSpPr>
        <p:spPr bwMode="auto">
          <a:xfrm rot="8421493" flipH="1">
            <a:off x="2741428" y="3769769"/>
            <a:ext cx="1031896" cy="476381"/>
          </a:xfrm>
          <a:prstGeom prst="rightArrow">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3" name="Rounded Rectangular Callout 32"/>
          <p:cNvSpPr/>
          <p:nvPr/>
        </p:nvSpPr>
        <p:spPr>
          <a:xfrm>
            <a:off x="5695122" y="1512487"/>
            <a:ext cx="1925024" cy="1736646"/>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dirty="0">
                <a:solidFill>
                  <a:schemeClr val="tx1"/>
                </a:solidFill>
                <a:latin typeface="Arial" pitchFamily="34" charset="0"/>
                <a:cs typeface="Arial" pitchFamily="34" charset="0"/>
              </a:rPr>
              <a:t>alpha </a:t>
            </a:r>
            <a:r>
              <a:rPr lang="en-US" dirty="0">
                <a:solidFill>
                  <a:schemeClr val="tx1"/>
                </a:solidFill>
                <a:latin typeface="Arial" pitchFamily="34" charset="0"/>
                <a:cs typeface="Arial" pitchFamily="34" charset="0"/>
                <a:sym typeface="Symbol"/>
              </a:rPr>
              <a:t> 3</a:t>
            </a:r>
          </a:p>
          <a:p>
            <a:pPr algn="ctr"/>
            <a:r>
              <a:rPr lang="en-US" dirty="0">
                <a:solidFill>
                  <a:schemeClr val="tx1"/>
                </a:solidFill>
                <a:latin typeface="Arial" pitchFamily="34" charset="0"/>
                <a:cs typeface="Arial" pitchFamily="34" charset="0"/>
              </a:rPr>
              <a:t>bravo </a:t>
            </a:r>
            <a:r>
              <a:rPr lang="en-US" dirty="0">
                <a:solidFill>
                  <a:schemeClr val="tx1"/>
                </a:solidFill>
                <a:latin typeface="Arial" pitchFamily="34" charset="0"/>
                <a:cs typeface="Arial" pitchFamily="34" charset="0"/>
                <a:sym typeface="Symbol"/>
              </a:rPr>
              <a:t> 2</a:t>
            </a:r>
            <a:endParaRPr lang="en-US" dirty="0">
              <a:solidFill>
                <a:schemeClr val="tx1"/>
              </a:solidFill>
              <a:latin typeface="Arial" pitchFamily="34" charset="0"/>
              <a:cs typeface="Arial" pitchFamily="34" charset="0"/>
            </a:endParaRPr>
          </a:p>
          <a:p>
            <a:pPr algn="ctr"/>
            <a:r>
              <a:rPr lang="en-US" dirty="0">
                <a:solidFill>
                  <a:schemeClr val="tx1"/>
                </a:solidFill>
                <a:latin typeface="Arial" pitchFamily="34" charset="0"/>
                <a:cs typeface="Arial" pitchFamily="34" charset="0"/>
              </a:rPr>
              <a:t>…</a:t>
            </a:r>
          </a:p>
          <a:p>
            <a:pPr algn="ctr"/>
            <a:r>
              <a:rPr lang="en-US" dirty="0" err="1">
                <a:solidFill>
                  <a:schemeClr val="tx1"/>
                </a:solidFill>
                <a:latin typeface="Arial" pitchFamily="34" charset="0"/>
                <a:cs typeface="Arial" pitchFamily="34" charset="0"/>
              </a:rPr>
              <a:t>zulu</a:t>
            </a:r>
            <a:r>
              <a:rPr lang="en-US" dirty="0">
                <a:solidFill>
                  <a:schemeClr val="tx1"/>
                </a:solidFill>
                <a:latin typeface="Arial" pitchFamily="34" charset="0"/>
                <a:cs typeface="Arial" pitchFamily="34" charset="0"/>
              </a:rPr>
              <a:t> </a:t>
            </a:r>
            <a:r>
              <a:rPr lang="en-US" dirty="0">
                <a:solidFill>
                  <a:schemeClr val="tx1"/>
                </a:solidFill>
                <a:latin typeface="Arial" pitchFamily="34" charset="0"/>
                <a:cs typeface="Arial" pitchFamily="34" charset="0"/>
                <a:sym typeface="Symbol"/>
              </a:rPr>
              <a:t> 1</a:t>
            </a:r>
            <a:endParaRPr lang="en-US" dirty="0">
              <a:solidFill>
                <a:schemeClr val="tx1"/>
              </a:solidFill>
              <a:latin typeface="Arial" pitchFamily="34" charset="0"/>
              <a:cs typeface="Arial" pitchFamily="34" charset="0"/>
            </a:endParaRPr>
          </a:p>
        </p:txBody>
      </p:sp>
      <p:grpSp>
        <p:nvGrpSpPr>
          <p:cNvPr id="21" name="Group 13"/>
          <p:cNvGrpSpPr>
            <a:grpSpLocks/>
          </p:cNvGrpSpPr>
          <p:nvPr/>
        </p:nvGrpSpPr>
        <p:grpSpPr bwMode="auto">
          <a:xfrm flipH="1">
            <a:off x="3906773" y="2414487"/>
            <a:ext cx="1218322" cy="1088401"/>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2" name="Title 1"/>
          <p:cNvSpPr>
            <a:spLocks noGrp="1"/>
          </p:cNvSpPr>
          <p:nvPr>
            <p:ph type="title"/>
          </p:nvPr>
        </p:nvSpPr>
        <p:spPr/>
        <p:txBody>
          <a:bodyPr/>
          <a:lstStyle/>
          <a:p>
            <a:r>
              <a:rPr lang="en-US" dirty="0"/>
              <a:t>Reduce Phase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29</a:t>
            </a:fld>
            <a:endParaRPr lang="en-US"/>
          </a:p>
        </p:txBody>
      </p:sp>
      <p:sp>
        <p:nvSpPr>
          <p:cNvPr id="64" name="Text Box 122"/>
          <p:cNvSpPr txBox="1">
            <a:spLocks noChangeArrowheads="1"/>
          </p:cNvSpPr>
          <p:nvPr/>
        </p:nvSpPr>
        <p:spPr bwMode="auto">
          <a:xfrm>
            <a:off x="1152076" y="4657597"/>
            <a:ext cx="630172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the reducer</a:t>
            </a:r>
            <a:r>
              <a:rPr lang="en-US" sz="2800" i="1" dirty="0">
                <a:solidFill>
                  <a:schemeClr val="tx1"/>
                </a:solidFill>
                <a:latin typeface="Arial" pitchFamily="34" charset="0"/>
                <a:cs typeface="Arial" pitchFamily="34" charset="0"/>
              </a:rPr>
              <a:t> </a:t>
            </a:r>
            <a:r>
              <a:rPr lang="en-US" sz="2800" dirty="0">
                <a:latin typeface="Arial" pitchFamily="34" charset="0"/>
                <a:cs typeface="Arial" pitchFamily="34" charset="0"/>
              </a:rPr>
              <a:t>task produces a </a:t>
            </a:r>
            <a:r>
              <a:rPr lang="en-US" sz="2800" i="1" dirty="0">
                <a:solidFill>
                  <a:schemeClr val="tx1"/>
                </a:solidFill>
                <a:latin typeface="Arial" pitchFamily="34" charset="0"/>
                <a:cs typeface="Arial" pitchFamily="34" charset="0"/>
              </a:rPr>
              <a:t>stream</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a:t>
            </a:r>
            <a:endParaRPr lang="en-US" sz="2800" dirty="0">
              <a:solidFill>
                <a:schemeClr val="tx1"/>
              </a:solidFill>
              <a:latin typeface="Arial" pitchFamily="34" charset="0"/>
              <a:cs typeface="Arial" pitchFamily="34" charset="0"/>
            </a:endParaRPr>
          </a:p>
        </p:txBody>
      </p:sp>
      <p:sp>
        <p:nvSpPr>
          <p:cNvPr id="65" name="Text Box 122"/>
          <p:cNvSpPr txBox="1">
            <a:spLocks noChangeArrowheads="1"/>
          </p:cNvSpPr>
          <p:nvPr/>
        </p:nvSpPr>
        <p:spPr bwMode="auto">
          <a:xfrm>
            <a:off x="3681158" y="5061300"/>
            <a:ext cx="346280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of </a:t>
            </a:r>
            <a:r>
              <a:rPr lang="en-US" sz="2800" i="1" dirty="0">
                <a:solidFill>
                  <a:schemeClr val="tx1"/>
                </a:solidFill>
                <a:latin typeface="Arial" pitchFamily="34" charset="0"/>
                <a:cs typeface="Arial" pitchFamily="34" charset="0"/>
              </a:rPr>
              <a:t>key-value</a:t>
            </a:r>
            <a:r>
              <a:rPr lang="en-US" sz="2800" dirty="0">
                <a:latin typeface="Arial" pitchFamily="34" charset="0"/>
                <a:cs typeface="Arial" pitchFamily="34" charset="0"/>
              </a:rPr>
              <a:t> pairs …</a:t>
            </a:r>
            <a:endParaRPr lang="en-US" sz="2800" dirty="0">
              <a:solidFill>
                <a:schemeClr val="tx1"/>
              </a:solidFill>
              <a:latin typeface="Arial" pitchFamily="34" charset="0"/>
              <a:cs typeface="Arial" pitchFamily="34" charset="0"/>
            </a:endParaRPr>
          </a:p>
        </p:txBody>
      </p:sp>
      <p:sp>
        <p:nvSpPr>
          <p:cNvPr id="66" name="Text Box 122"/>
          <p:cNvSpPr txBox="1">
            <a:spLocks noChangeArrowheads="1"/>
          </p:cNvSpPr>
          <p:nvPr/>
        </p:nvSpPr>
        <p:spPr bwMode="auto">
          <a:xfrm>
            <a:off x="3136362" y="5527977"/>
            <a:ext cx="17235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key</a:t>
            </a:r>
            <a:r>
              <a:rPr lang="en-US" sz="2800" dirty="0">
                <a:latin typeface="Arial" pitchFamily="34" charset="0"/>
                <a:cs typeface="Arial" pitchFamily="34" charset="0"/>
              </a:rPr>
              <a:t>: word</a:t>
            </a:r>
            <a:endParaRPr lang="en-US" sz="2800" dirty="0">
              <a:solidFill>
                <a:schemeClr val="tx1"/>
              </a:solidFill>
              <a:latin typeface="Arial" pitchFamily="34" charset="0"/>
              <a:cs typeface="Arial" pitchFamily="34" charset="0"/>
            </a:endParaRPr>
          </a:p>
        </p:txBody>
      </p:sp>
      <p:sp>
        <p:nvSpPr>
          <p:cNvPr id="67" name="Text Box 122"/>
          <p:cNvSpPr txBox="1">
            <a:spLocks noChangeArrowheads="1"/>
          </p:cNvSpPr>
          <p:nvPr/>
        </p:nvSpPr>
        <p:spPr bwMode="auto">
          <a:xfrm>
            <a:off x="5059704" y="5527977"/>
            <a:ext cx="30043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value</a:t>
            </a:r>
            <a:r>
              <a:rPr lang="en-US" sz="2800" dirty="0">
                <a:latin typeface="Arial" pitchFamily="34" charset="0"/>
                <a:cs typeface="Arial" pitchFamily="34" charset="0"/>
              </a:rPr>
              <a:t>: word count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215523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6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30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Reducer Class</a:t>
            </a:r>
          </a:p>
        </p:txBody>
      </p:sp>
      <p:sp>
        <p:nvSpPr>
          <p:cNvPr id="75781" name="Text Box 3"/>
          <p:cNvSpPr txBox="1">
            <a:spLocks noChangeArrowheads="1"/>
          </p:cNvSpPr>
          <p:nvPr/>
        </p:nvSpPr>
        <p:spPr bwMode="auto">
          <a:xfrm>
            <a:off x="626780" y="1744454"/>
            <a:ext cx="7890440"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tx1"/>
                </a:solidFill>
                <a:latin typeface="Courier New" charset="0"/>
                <a:cs typeface="Courier New" charset="0"/>
              </a:rPr>
              <a:t>abstract class </a:t>
            </a:r>
            <a:r>
              <a:rPr lang="en-US" sz="2800" dirty="0">
                <a:latin typeface="Courier New" charset="0"/>
                <a:cs typeface="Courier New" charset="0"/>
              </a:rPr>
              <a:t>Reducer&lt;K, V, OUT&gt;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extends</a:t>
            </a:r>
            <a:r>
              <a:rPr lang="en-US" sz="2800" dirty="0">
                <a:latin typeface="Courier New" charset="0"/>
                <a:cs typeface="Courier New" charset="0"/>
              </a:rPr>
              <a:t> </a:t>
            </a:r>
            <a:r>
              <a:rPr lang="en-US" sz="2800" dirty="0" err="1">
                <a:latin typeface="Courier New" charset="0"/>
                <a:cs typeface="Courier New" charset="0"/>
              </a:rPr>
              <a:t>RecursiveTask</a:t>
            </a:r>
            <a:r>
              <a:rPr lang="en-US" sz="2800" dirty="0">
                <a:latin typeface="Courier New" charset="0"/>
                <a:cs typeface="Courier New" charset="0"/>
              </a:rPr>
              <a:t>&lt;OUT&gt; {</a:t>
            </a:r>
          </a:p>
          <a:p>
            <a:pPr algn="l" eaLnBrk="1" hangingPunct="1">
              <a:lnSpc>
                <a:spcPct val="70000"/>
              </a:lnSpc>
              <a:spcBef>
                <a:spcPct val="30000"/>
              </a:spcBef>
            </a:pPr>
            <a:r>
              <a:rPr lang="en-US" sz="2800" dirty="0">
                <a:latin typeface="Courier New" charset="0"/>
                <a:cs typeface="Courier New" charset="0"/>
              </a:rPr>
              <a:t>  K key;</a:t>
            </a:r>
          </a:p>
          <a:p>
            <a:pPr algn="l" eaLnBrk="1" hangingPunct="1">
              <a:lnSpc>
                <a:spcPct val="70000"/>
              </a:lnSpc>
              <a:spcBef>
                <a:spcPct val="30000"/>
              </a:spcBef>
            </a:pPr>
            <a:r>
              <a:rPr lang="en-US" sz="2800" dirty="0">
                <a:latin typeface="Courier New" charset="0"/>
                <a:cs typeface="Courier New" charset="0"/>
              </a:rPr>
              <a:t>  List&lt;V&gt; </a:t>
            </a:r>
            <a:r>
              <a:rPr lang="en-US" sz="2800" dirty="0" err="1">
                <a:latin typeface="Courier New" charset="0"/>
                <a:cs typeface="Courier New" charset="0"/>
              </a:rPr>
              <a:t>valueList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public void </a:t>
            </a:r>
            <a:r>
              <a:rPr lang="en-US" sz="2800" dirty="0" err="1">
                <a:latin typeface="Courier New" charset="0"/>
                <a:cs typeface="Courier New" charset="0"/>
              </a:rPr>
              <a:t>setInput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K </a:t>
            </a:r>
            <a:r>
              <a:rPr lang="en-US" sz="2800" dirty="0" err="1">
                <a:latin typeface="Courier New" charset="0"/>
                <a:cs typeface="Courier New" charset="0"/>
              </a:rPr>
              <a:t>aKey</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List&lt;V&gt; </a:t>
            </a:r>
            <a:r>
              <a:rPr lang="en-US" sz="2800" dirty="0" err="1">
                <a:latin typeface="Courier New" charset="0"/>
                <a:cs typeface="Courier New" charset="0"/>
              </a:rPr>
              <a:t>aList</a:t>
            </a: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key = </a:t>
            </a:r>
            <a:r>
              <a:rPr lang="en-US" sz="2800" dirty="0" err="1">
                <a:latin typeface="Courier New" charset="0"/>
                <a:cs typeface="Courier New" charset="0"/>
              </a:rPr>
              <a:t>aKey</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valueList</a:t>
            </a:r>
            <a:r>
              <a:rPr lang="en-US" sz="2800" dirty="0">
                <a:latin typeface="Courier New" charset="0"/>
                <a:cs typeface="Courier New" charset="0"/>
              </a:rPr>
              <a:t> = </a:t>
            </a:r>
            <a:r>
              <a:rPr lang="en-US" sz="2800" dirty="0" err="1">
                <a:latin typeface="Courier New" charset="0"/>
                <a:cs typeface="Courier New" charset="0"/>
              </a:rPr>
              <a:t>aList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a:t>
            </a:r>
          </a:p>
        </p:txBody>
      </p:sp>
    </p:spTree>
    <p:extLst>
      <p:ext uri="{BB962C8B-B14F-4D97-AF65-F5344CB8AC3E}">
        <p14:creationId xmlns:p14="http://schemas.microsoft.com/office/powerpoint/2010/main" val="17230859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31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Reducer Class</a:t>
            </a:r>
          </a:p>
        </p:txBody>
      </p:sp>
      <p:sp>
        <p:nvSpPr>
          <p:cNvPr id="75781" name="Text Box 3"/>
          <p:cNvSpPr txBox="1">
            <a:spLocks noChangeArrowheads="1"/>
          </p:cNvSpPr>
          <p:nvPr/>
        </p:nvSpPr>
        <p:spPr bwMode="auto">
          <a:xfrm>
            <a:off x="626780" y="1744454"/>
            <a:ext cx="7890440"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Reducer&lt;</a:t>
            </a:r>
            <a:r>
              <a:rPr lang="en-US" sz="2800" dirty="0">
                <a:latin typeface="Courier New" charset="0"/>
                <a:cs typeface="Courier New" charset="0"/>
              </a:rPr>
              <a:t>K, </a:t>
            </a:r>
            <a:r>
              <a:rPr lang="en-US" sz="2800" dirty="0">
                <a:solidFill>
                  <a:schemeClr val="bg1">
                    <a:lumMod val="75000"/>
                  </a:schemeClr>
                </a:solidFill>
                <a:latin typeface="Courier New" charset="0"/>
                <a:cs typeface="Courier New" charset="0"/>
              </a:rPr>
              <a:t>V, OUT&gt;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extends </a:t>
            </a:r>
            <a:r>
              <a:rPr lang="en-US" sz="2800" dirty="0" err="1">
                <a:solidFill>
                  <a:schemeClr val="bg1">
                    <a:lumMod val="75000"/>
                  </a:schemeClr>
                </a:solidFill>
                <a:latin typeface="Courier New" charset="0"/>
                <a:cs typeface="Courier New" charset="0"/>
              </a:rPr>
              <a:t>RecursiveTask</a:t>
            </a:r>
            <a:r>
              <a:rPr lang="en-US" sz="2800" dirty="0">
                <a:solidFill>
                  <a:schemeClr val="bg1">
                    <a:lumMod val="75000"/>
                  </a:schemeClr>
                </a:solidFill>
                <a:latin typeface="Courier New" charset="0"/>
                <a:cs typeface="Courier New" charset="0"/>
              </a:rPr>
              <a:t>&lt;OUT&gt; {</a:t>
            </a:r>
          </a:p>
          <a:p>
            <a:pPr algn="l" eaLnBrk="1" hangingPunct="1">
              <a:lnSpc>
                <a:spcPct val="70000"/>
              </a:lnSpc>
              <a:spcBef>
                <a:spcPct val="30000"/>
              </a:spcBef>
            </a:pPr>
            <a:r>
              <a:rPr lang="en-US" sz="2800" dirty="0">
                <a:latin typeface="Courier New" charset="0"/>
                <a:cs typeface="Courier New" charset="0"/>
              </a:rPr>
              <a:t>  K key;</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List&lt;V&gt; </a:t>
            </a:r>
            <a:r>
              <a:rPr lang="en-US" sz="2800" dirty="0" err="1">
                <a:solidFill>
                  <a:schemeClr val="bg1">
                    <a:lumMod val="75000"/>
                  </a:schemeClr>
                </a:solidFill>
                <a:latin typeface="Courier New" charset="0"/>
                <a:cs typeface="Courier New" charset="0"/>
              </a:rPr>
              <a:t>valueList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public void </a:t>
            </a:r>
            <a:r>
              <a:rPr lang="en-US" sz="2800" dirty="0" err="1">
                <a:solidFill>
                  <a:schemeClr val="bg1">
                    <a:lumMod val="75000"/>
                  </a:schemeClr>
                </a:solidFill>
                <a:latin typeface="Courier New" charset="0"/>
                <a:cs typeface="Courier New" charset="0"/>
              </a:rPr>
              <a:t>setInput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List&lt;V&gt;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key =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valueList</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7" name="Rounded Rectangular Callout 6"/>
          <p:cNvSpPr/>
          <p:nvPr/>
        </p:nvSpPr>
        <p:spPr>
          <a:xfrm>
            <a:off x="797470" y="2538278"/>
            <a:ext cx="1869530" cy="553133"/>
          </a:xfrm>
          <a:prstGeom prst="wedgeRoundRectCallout">
            <a:avLst>
              <a:gd name="adj1" fmla="val 149758"/>
              <a:gd name="adj2" fmla="val 23410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4866469" y="3990237"/>
            <a:ext cx="3797084"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each reducer is given</a:t>
            </a:r>
          </a:p>
          <a:p>
            <a:pPr algn="l"/>
            <a:r>
              <a:rPr lang="en-US" sz="2800" dirty="0">
                <a:latin typeface="Arial" pitchFamily="34" charset="0"/>
                <a:cs typeface="Arial" pitchFamily="34" charset="0"/>
              </a:rPr>
              <a:t>a single key (word)</a:t>
            </a:r>
          </a:p>
        </p:txBody>
      </p:sp>
      <p:sp>
        <p:nvSpPr>
          <p:cNvPr id="9" name="Rounded Rectangular Callout 8"/>
          <p:cNvSpPr/>
          <p:nvPr/>
        </p:nvSpPr>
        <p:spPr>
          <a:xfrm>
            <a:off x="5275274" y="1675717"/>
            <a:ext cx="893052" cy="553133"/>
          </a:xfrm>
          <a:prstGeom prst="wedgeRoundRectCallout">
            <a:avLst>
              <a:gd name="adj1" fmla="val 49573"/>
              <a:gd name="adj2" fmla="val 309751"/>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6038754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32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Reducer Class</a:t>
            </a:r>
          </a:p>
        </p:txBody>
      </p:sp>
      <p:sp>
        <p:nvSpPr>
          <p:cNvPr id="75781" name="Text Box 3"/>
          <p:cNvSpPr txBox="1">
            <a:spLocks noChangeArrowheads="1"/>
          </p:cNvSpPr>
          <p:nvPr/>
        </p:nvSpPr>
        <p:spPr bwMode="auto">
          <a:xfrm>
            <a:off x="626780" y="1744454"/>
            <a:ext cx="7890440"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Reducer&lt;K, V, OUT&gt;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extends </a:t>
            </a:r>
            <a:r>
              <a:rPr lang="en-US" sz="2800" dirty="0" err="1">
                <a:solidFill>
                  <a:schemeClr val="bg1">
                    <a:lumMod val="75000"/>
                  </a:schemeClr>
                </a:solidFill>
                <a:latin typeface="Courier New" charset="0"/>
                <a:cs typeface="Courier New" charset="0"/>
              </a:rPr>
              <a:t>RecursiveTask</a:t>
            </a:r>
            <a:r>
              <a:rPr lang="en-US" sz="2800" dirty="0">
                <a:solidFill>
                  <a:schemeClr val="bg1">
                    <a:lumMod val="75000"/>
                  </a:schemeClr>
                </a:solidFill>
                <a:latin typeface="Courier New" charset="0"/>
                <a:cs typeface="Courier New" charset="0"/>
              </a:rPr>
              <a:t>&lt;</a:t>
            </a:r>
            <a:r>
              <a:rPr lang="en-US" sz="2800" dirty="0">
                <a:latin typeface="Courier New" charset="0"/>
                <a:cs typeface="Courier New" charset="0"/>
              </a:rPr>
              <a:t>OUT</a:t>
            </a:r>
            <a:r>
              <a:rPr lang="en-US" sz="2800" dirty="0">
                <a:solidFill>
                  <a:schemeClr val="bg1">
                    <a:lumMod val="75000"/>
                  </a:schemeClr>
                </a:solidFill>
                <a:latin typeface="Courier New" charset="0"/>
                <a:cs typeface="Courier New" charset="0"/>
              </a:rPr>
              <a:t>&gt;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 key;</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latin typeface="Courier New" charset="0"/>
                <a:cs typeface="Courier New" charset="0"/>
              </a:rPr>
              <a:t>List&lt;V&gt; </a:t>
            </a:r>
            <a:r>
              <a:rPr lang="en-US" sz="2800" dirty="0" err="1">
                <a:latin typeface="Courier New" charset="0"/>
                <a:cs typeface="Courier New" charset="0"/>
              </a:rPr>
              <a:t>valueList</a:t>
            </a:r>
            <a:r>
              <a:rPr lang="en-US" sz="2800" dirty="0">
                <a:latin typeface="Courier New" charset="0"/>
                <a:cs typeface="Courier New" charset="0"/>
              </a:rPr>
              <a:t>;</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solidFill>
                  <a:schemeClr val="bg1">
                    <a:lumMod val="75000"/>
                  </a:schemeClr>
                </a:solidFill>
                <a:latin typeface="Courier New" charset="0"/>
                <a:cs typeface="Courier New" charset="0"/>
              </a:rPr>
              <a:t>public void </a:t>
            </a:r>
            <a:r>
              <a:rPr lang="en-US" sz="2800" dirty="0" err="1">
                <a:solidFill>
                  <a:schemeClr val="bg1">
                    <a:lumMod val="75000"/>
                  </a:schemeClr>
                </a:solidFill>
                <a:latin typeface="Courier New" charset="0"/>
                <a:cs typeface="Courier New" charset="0"/>
              </a:rPr>
              <a:t>setInput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List&lt;V&gt;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key =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valueList</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7" name="Rounded Rectangular Callout 6"/>
          <p:cNvSpPr/>
          <p:nvPr/>
        </p:nvSpPr>
        <p:spPr>
          <a:xfrm>
            <a:off x="1060940" y="2941234"/>
            <a:ext cx="4006359" cy="553133"/>
          </a:xfrm>
          <a:prstGeom prst="wedgeRoundRectCallout">
            <a:avLst>
              <a:gd name="adj1" fmla="val 55756"/>
              <a:gd name="adj2" fmla="val 34337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208149" y="5192317"/>
            <a:ext cx="5455404"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and a list of associated values (word count per fragment)</a:t>
            </a:r>
          </a:p>
        </p:txBody>
      </p:sp>
      <p:sp>
        <p:nvSpPr>
          <p:cNvPr id="9" name="Rounded Rectangular Callout 8"/>
          <p:cNvSpPr/>
          <p:nvPr/>
        </p:nvSpPr>
        <p:spPr>
          <a:xfrm>
            <a:off x="6013342" y="2050367"/>
            <a:ext cx="1100380" cy="553133"/>
          </a:xfrm>
          <a:prstGeom prst="wedgeRoundRectCallout">
            <a:avLst>
              <a:gd name="adj1" fmla="val 16600"/>
              <a:gd name="adj2" fmla="val 49747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86999711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33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Reducer Class</a:t>
            </a:r>
          </a:p>
        </p:txBody>
      </p:sp>
      <p:sp>
        <p:nvSpPr>
          <p:cNvPr id="75781" name="Text Box 3"/>
          <p:cNvSpPr txBox="1">
            <a:spLocks noChangeArrowheads="1"/>
          </p:cNvSpPr>
          <p:nvPr/>
        </p:nvSpPr>
        <p:spPr bwMode="auto">
          <a:xfrm>
            <a:off x="626780" y="1744454"/>
            <a:ext cx="7890440"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abstract class Reducer&lt;K, V, </a:t>
            </a:r>
            <a:r>
              <a:rPr lang="en-US" sz="2800" dirty="0">
                <a:latin typeface="Courier New" charset="0"/>
                <a:cs typeface="Courier New" charset="0"/>
              </a:rPr>
              <a:t>OUT</a:t>
            </a:r>
            <a:r>
              <a:rPr lang="en-US" sz="2800" dirty="0">
                <a:solidFill>
                  <a:schemeClr val="bg1">
                    <a:lumMod val="50000"/>
                  </a:schemeClr>
                </a:solidFill>
                <a:latin typeface="Courier New" charset="0"/>
                <a:cs typeface="Courier New" charset="0"/>
              </a:rPr>
              <a:t>&gt;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extends</a:t>
            </a:r>
            <a:r>
              <a:rPr lang="en-US" sz="2800" dirty="0">
                <a:solidFill>
                  <a:schemeClr val="bg1">
                    <a:lumMod val="50000"/>
                  </a:schemeClr>
                </a:solidFill>
                <a:latin typeface="Courier New" charset="0"/>
                <a:cs typeface="Courier New" charset="0"/>
              </a:rPr>
              <a:t> </a:t>
            </a:r>
            <a:r>
              <a:rPr lang="en-US" sz="2800" dirty="0" err="1">
                <a:latin typeface="Courier New" charset="0"/>
                <a:cs typeface="Courier New" charset="0"/>
              </a:rPr>
              <a:t>RecursiveTask</a:t>
            </a:r>
            <a:r>
              <a:rPr lang="en-US" sz="2800" dirty="0">
                <a:latin typeface="Courier New" charset="0"/>
                <a:cs typeface="Courier New" charset="0"/>
              </a:rPr>
              <a:t>&lt;OUT&gt;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K key;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List&lt;V&gt; </a:t>
            </a:r>
            <a:r>
              <a:rPr lang="en-US" sz="2800" dirty="0" err="1">
                <a:solidFill>
                  <a:schemeClr val="bg1">
                    <a:lumMod val="75000"/>
                  </a:schemeClr>
                </a:solidFill>
                <a:latin typeface="Courier New" charset="0"/>
                <a:cs typeface="Courier New" charset="0"/>
              </a:rPr>
              <a:t>valueList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public void </a:t>
            </a:r>
            <a:r>
              <a:rPr lang="en-US" sz="2800" dirty="0" err="1">
                <a:solidFill>
                  <a:schemeClr val="bg1">
                    <a:lumMod val="75000"/>
                  </a:schemeClr>
                </a:solidFill>
                <a:latin typeface="Courier New" charset="0"/>
                <a:cs typeface="Courier New" charset="0"/>
              </a:rPr>
              <a:t>setInput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List&lt;V&gt;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key = </a:t>
            </a:r>
            <a:r>
              <a:rPr lang="en-US" sz="2800" dirty="0" err="1">
                <a:solidFill>
                  <a:schemeClr val="bg1">
                    <a:lumMod val="75000"/>
                  </a:schemeClr>
                </a:solidFill>
                <a:latin typeface="Courier New" charset="0"/>
                <a:cs typeface="Courier New" charset="0"/>
              </a:rPr>
              <a:t>aKey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valueList</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aList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8" name="Text Box 122"/>
          <p:cNvSpPr txBox="1">
            <a:spLocks noChangeArrowheads="1"/>
          </p:cNvSpPr>
          <p:nvPr/>
        </p:nvSpPr>
        <p:spPr bwMode="auto">
          <a:xfrm>
            <a:off x="2371241" y="4944344"/>
            <a:ext cx="6292312"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It produces a single summary value</a:t>
            </a:r>
          </a:p>
          <a:p>
            <a:pPr algn="l"/>
            <a:r>
              <a:rPr lang="en-US" sz="2800" dirty="0">
                <a:latin typeface="Arial" pitchFamily="34" charset="0"/>
                <a:cs typeface="Arial" pitchFamily="34" charset="0"/>
              </a:rPr>
              <a:t>(the total count for that word)</a:t>
            </a:r>
          </a:p>
        </p:txBody>
      </p:sp>
      <p:sp>
        <p:nvSpPr>
          <p:cNvPr id="9" name="Rounded Rectangular Callout 8"/>
          <p:cNvSpPr/>
          <p:nvPr/>
        </p:nvSpPr>
        <p:spPr>
          <a:xfrm>
            <a:off x="6803756" y="1675717"/>
            <a:ext cx="771992" cy="553133"/>
          </a:xfrm>
          <a:prstGeom prst="wedgeRoundRectCallout">
            <a:avLst>
              <a:gd name="adj1" fmla="val 16600"/>
              <a:gd name="adj2" fmla="val 49747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Rounded Rectangular Callout 9"/>
          <p:cNvSpPr/>
          <p:nvPr/>
        </p:nvSpPr>
        <p:spPr>
          <a:xfrm>
            <a:off x="3087867" y="2113867"/>
            <a:ext cx="4156129" cy="553133"/>
          </a:xfrm>
          <a:prstGeom prst="wedgeRoundRectCallout">
            <a:avLst>
              <a:gd name="adj1" fmla="val 12498"/>
              <a:gd name="adj2" fmla="val 42462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1878038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WordCount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34</a:t>
            </a:fld>
            <a:endParaRPr lang="en-US"/>
          </a:p>
        </p:txBody>
      </p:sp>
      <p:pic>
        <p:nvPicPr>
          <p:cNvPr id="1026" name="Picture 2" descr="http://fc02.deviantart.net/fs12/f/2006/313/a/f/Scroll.gif"/>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43279" y="2228850"/>
            <a:ext cx="3704769" cy="2776768"/>
          </a:xfrm>
          <a:prstGeom prst="rect">
            <a:avLst/>
          </a:prstGeom>
          <a:noFill/>
          <a:extLst>
            <a:ext uri="{909E8E84-426E-40DD-AFC4-6F175D3DCCD1}">
              <a14:hiddenFill xmlns:a14="http://schemas.microsoft.com/office/drawing/2010/main">
                <a:solidFill>
                  <a:srgbClr val="FFFFFF"/>
                </a:solidFill>
              </a14:hiddenFill>
            </a:ext>
          </a:extLst>
        </p:spPr>
      </p:pic>
      <p:sp>
        <p:nvSpPr>
          <p:cNvPr id="5" name="Right Arrow 4"/>
          <p:cNvSpPr/>
          <p:nvPr/>
        </p:nvSpPr>
        <p:spPr bwMode="auto">
          <a:xfrm>
            <a:off x="4148048" y="2743199"/>
            <a:ext cx="1539830" cy="1487837"/>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6" name="Double Bracket 5"/>
          <p:cNvSpPr/>
          <p:nvPr/>
        </p:nvSpPr>
        <p:spPr bwMode="auto">
          <a:xfrm>
            <a:off x="6389896" y="2162011"/>
            <a:ext cx="2076772" cy="2650211"/>
          </a:xfrm>
          <a:prstGeom prst="bracketPair">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7" name="TextBox 6"/>
          <p:cNvSpPr txBox="1"/>
          <p:nvPr/>
        </p:nvSpPr>
        <p:spPr bwMode="auto">
          <a:xfrm>
            <a:off x="6885505" y="2162011"/>
            <a:ext cx="1085554"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sym typeface="Symbol"/>
              </a:rPr>
              <a:t>0.037</a:t>
            </a:r>
            <a:endParaRPr lang="en-US" sz="2800" dirty="0">
              <a:latin typeface="Arial" pitchFamily="34" charset="0"/>
              <a:cs typeface="Arial" pitchFamily="34" charset="0"/>
            </a:endParaRPr>
          </a:p>
        </p:txBody>
      </p:sp>
      <p:sp>
        <p:nvSpPr>
          <p:cNvPr id="25" name="Text Box 122"/>
          <p:cNvSpPr txBox="1">
            <a:spLocks noChangeArrowheads="1"/>
          </p:cNvSpPr>
          <p:nvPr/>
        </p:nvSpPr>
        <p:spPr bwMode="auto">
          <a:xfrm>
            <a:off x="1015473" y="4869100"/>
            <a:ext cx="546656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normalizing document </a:t>
            </a:r>
            <a:r>
              <a:rPr lang="en-US" sz="2800" dirty="0" err="1">
                <a:latin typeface="Arial" pitchFamily="34" charset="0"/>
                <a:cs typeface="Arial" pitchFamily="34" charset="0"/>
              </a:rPr>
              <a:t>wordcount</a:t>
            </a:r>
            <a:endParaRPr lang="en-US" sz="2800" dirty="0">
              <a:solidFill>
                <a:schemeClr val="tx1"/>
              </a:solidFill>
              <a:latin typeface="Arial" pitchFamily="34" charset="0"/>
              <a:cs typeface="Arial" pitchFamily="34" charset="0"/>
            </a:endParaRPr>
          </a:p>
        </p:txBody>
      </p:sp>
      <p:sp>
        <p:nvSpPr>
          <p:cNvPr id="26" name="Text Box 122"/>
          <p:cNvSpPr txBox="1">
            <a:spLocks noChangeArrowheads="1"/>
          </p:cNvSpPr>
          <p:nvPr/>
        </p:nvSpPr>
        <p:spPr bwMode="auto">
          <a:xfrm>
            <a:off x="3703935" y="5283110"/>
            <a:ext cx="410400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gives a </a:t>
            </a:r>
            <a:r>
              <a:rPr lang="en-US" sz="2800" i="1" dirty="0">
                <a:solidFill>
                  <a:schemeClr val="tx1"/>
                </a:solidFill>
                <a:latin typeface="Arial" pitchFamily="34" charset="0"/>
                <a:cs typeface="Arial" pitchFamily="34" charset="0"/>
              </a:rPr>
              <a:t>fingerprint</a:t>
            </a:r>
            <a:r>
              <a:rPr lang="en-US" sz="2800" dirty="0">
                <a:latin typeface="Arial" pitchFamily="34" charset="0"/>
                <a:cs typeface="Arial" pitchFamily="34" charset="0"/>
              </a:rPr>
              <a:t> vector</a:t>
            </a:r>
            <a:endParaRPr lang="en-US" sz="2800" i="1" dirty="0">
              <a:solidFill>
                <a:schemeClr val="tx1"/>
              </a:solidFill>
              <a:latin typeface="Arial" pitchFamily="34" charset="0"/>
              <a:cs typeface="Arial" pitchFamily="34" charset="0"/>
            </a:endParaRPr>
          </a:p>
        </p:txBody>
      </p:sp>
      <p:sp>
        <p:nvSpPr>
          <p:cNvPr id="27" name="TextBox 26"/>
          <p:cNvSpPr txBox="1"/>
          <p:nvPr/>
        </p:nvSpPr>
        <p:spPr bwMode="auto">
          <a:xfrm>
            <a:off x="6885505" y="2696626"/>
            <a:ext cx="1085554"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0.002</a:t>
            </a:r>
          </a:p>
        </p:txBody>
      </p:sp>
      <p:sp>
        <p:nvSpPr>
          <p:cNvPr id="28" name="TextBox 27"/>
          <p:cNvSpPr txBox="1"/>
          <p:nvPr/>
        </p:nvSpPr>
        <p:spPr bwMode="auto">
          <a:xfrm>
            <a:off x="6885505" y="3231241"/>
            <a:ext cx="1085554"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0.045</a:t>
            </a:r>
          </a:p>
        </p:txBody>
      </p:sp>
      <p:sp>
        <p:nvSpPr>
          <p:cNvPr id="29" name="TextBox 28"/>
          <p:cNvSpPr txBox="1"/>
          <p:nvPr/>
        </p:nvSpPr>
        <p:spPr bwMode="auto">
          <a:xfrm>
            <a:off x="7156413" y="3765856"/>
            <a:ext cx="543739"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a:t>
            </a:r>
          </a:p>
        </p:txBody>
      </p:sp>
      <p:sp>
        <p:nvSpPr>
          <p:cNvPr id="30" name="TextBox 29"/>
          <p:cNvSpPr txBox="1"/>
          <p:nvPr/>
        </p:nvSpPr>
        <p:spPr bwMode="auto">
          <a:xfrm>
            <a:off x="6885505" y="4300472"/>
            <a:ext cx="1085554"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latin typeface="Arial" pitchFamily="34" charset="0"/>
                <a:cs typeface="Arial" pitchFamily="34" charset="0"/>
              </a:rPr>
              <a:t>0.000</a:t>
            </a:r>
          </a:p>
        </p:txBody>
      </p:sp>
    </p:spTree>
    <p:extLst>
      <p:ext uri="{BB962C8B-B14F-4D97-AF65-F5344CB8AC3E}">
        <p14:creationId xmlns:p14="http://schemas.microsoft.com/office/powerpoint/2010/main" val="15580319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Document Fingerprint</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35</a:t>
            </a:fld>
            <a:endParaRPr lang="en-US"/>
          </a:p>
        </p:txBody>
      </p:sp>
      <p:cxnSp>
        <p:nvCxnSpPr>
          <p:cNvPr id="6" name="Straight Arrow Connector 5"/>
          <p:cNvCxnSpPr/>
          <p:nvPr/>
        </p:nvCxnSpPr>
        <p:spPr bwMode="auto">
          <a:xfrm>
            <a:off x="1627323" y="5997844"/>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rot="16200000">
            <a:off x="-1022887" y="3394129"/>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1627324" y="3347634"/>
            <a:ext cx="4202623" cy="2650210"/>
          </a:xfrm>
          <a:prstGeom prst="straightConnector1">
            <a:avLst/>
          </a:prstGeom>
          <a:noFill/>
          <a:ln w="38100" cap="flat" cmpd="sng" algn="ctr">
            <a:solidFill>
              <a:schemeClr val="tx1"/>
            </a:solidFill>
            <a:prstDash val="solid"/>
            <a:round/>
            <a:headEnd type="none" w="med" len="med"/>
            <a:tailEnd type="arrow"/>
          </a:ln>
          <a:effectLst/>
        </p:spPr>
      </p:cxnSp>
      <p:sp>
        <p:nvSpPr>
          <p:cNvPr id="16" name="Oval 41"/>
          <p:cNvSpPr>
            <a:spLocks noChangeArrowheads="1"/>
          </p:cNvSpPr>
          <p:nvPr/>
        </p:nvSpPr>
        <p:spPr bwMode="auto">
          <a:xfrm>
            <a:off x="4489075" y="4198128"/>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nvGrpSpPr>
          <p:cNvPr id="26" name="Group 71"/>
          <p:cNvGrpSpPr/>
          <p:nvPr/>
        </p:nvGrpSpPr>
        <p:grpSpPr>
          <a:xfrm>
            <a:off x="3404813" y="3040586"/>
            <a:ext cx="307975" cy="261938"/>
            <a:chOff x="3276600" y="3007773"/>
            <a:chExt cx="307975" cy="261938"/>
          </a:xfrm>
        </p:grpSpPr>
        <p:sp>
          <p:nvSpPr>
            <p:cNvPr id="30"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31" name="Oval 45"/>
            <p:cNvSpPr>
              <a:spLocks noChangeArrowheads="1"/>
            </p:cNvSpPr>
            <p:nvPr/>
          </p:nvSpPr>
          <p:spPr bwMode="auto">
            <a:xfrm>
              <a:off x="3482975" y="3071277"/>
              <a:ext cx="44450" cy="90488"/>
            </a:xfrm>
            <a:prstGeom prst="ellipse">
              <a:avLst/>
            </a:prstGeom>
            <a:solidFill>
              <a:schemeClr val="bg1"/>
            </a:solidFill>
            <a:ln w="3175">
              <a:solidFill>
                <a:schemeClr val="tx1"/>
              </a:solidFill>
              <a:round/>
              <a:headEnd/>
              <a:tailEnd/>
            </a:ln>
            <a:effectLst/>
          </p:spPr>
          <p:txBody>
            <a:bodyPr wrap="none" anchor="ctr"/>
            <a:lstStyle/>
            <a:p>
              <a:endParaRPr lang="en-US"/>
            </a:p>
          </p:txBody>
        </p:sp>
      </p:grpSp>
      <p:sp>
        <p:nvSpPr>
          <p:cNvPr id="32" name="Text Box 122"/>
          <p:cNvSpPr txBox="1">
            <a:spLocks noChangeArrowheads="1"/>
          </p:cNvSpPr>
          <p:nvPr/>
        </p:nvSpPr>
        <p:spPr bwMode="auto">
          <a:xfrm>
            <a:off x="4482270" y="2672280"/>
            <a:ext cx="4408934"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ctr"/>
            <a:r>
              <a:rPr lang="en-US" sz="2800" dirty="0">
                <a:latin typeface="Arial" pitchFamily="34" charset="0"/>
                <a:cs typeface="Arial" pitchFamily="34" charset="0"/>
              </a:rPr>
              <a:t>a fingerprint is a point in a high-dimensional space</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0834104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Clustering</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36</a:t>
            </a:fld>
            <a:endParaRPr lang="en-US"/>
          </a:p>
        </p:txBody>
      </p:sp>
      <p:cxnSp>
        <p:nvCxnSpPr>
          <p:cNvPr id="6" name="Straight Arrow Connector 5"/>
          <p:cNvCxnSpPr/>
          <p:nvPr/>
        </p:nvCxnSpPr>
        <p:spPr bwMode="auto">
          <a:xfrm>
            <a:off x="1627323" y="5997844"/>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rot="16200000">
            <a:off x="-1022887" y="3394129"/>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1627324" y="3347634"/>
            <a:ext cx="4202623" cy="2650210"/>
          </a:xfrm>
          <a:prstGeom prst="straightConnector1">
            <a:avLst/>
          </a:prstGeom>
          <a:noFill/>
          <a:ln w="38100" cap="flat" cmpd="sng" algn="ctr">
            <a:solidFill>
              <a:schemeClr val="tx1"/>
            </a:solidFill>
            <a:prstDash val="solid"/>
            <a:round/>
            <a:headEnd type="none" w="med" len="med"/>
            <a:tailEnd type="arrow"/>
          </a:ln>
          <a:effectLst/>
        </p:spPr>
      </p:cxnSp>
      <p:sp>
        <p:nvSpPr>
          <p:cNvPr id="16" name="Oval 41"/>
          <p:cNvSpPr>
            <a:spLocks noChangeArrowheads="1"/>
          </p:cNvSpPr>
          <p:nvPr/>
        </p:nvSpPr>
        <p:spPr bwMode="auto">
          <a:xfrm>
            <a:off x="4489075" y="4198128"/>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nvGrpSpPr>
          <p:cNvPr id="26" name="Group 71"/>
          <p:cNvGrpSpPr/>
          <p:nvPr/>
        </p:nvGrpSpPr>
        <p:grpSpPr>
          <a:xfrm>
            <a:off x="3404813" y="3040586"/>
            <a:ext cx="307975" cy="261938"/>
            <a:chOff x="3276600" y="3007773"/>
            <a:chExt cx="307975" cy="261938"/>
          </a:xfrm>
        </p:grpSpPr>
        <p:sp>
          <p:nvSpPr>
            <p:cNvPr id="30"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31" name="Oval 45"/>
            <p:cNvSpPr>
              <a:spLocks noChangeArrowheads="1"/>
            </p:cNvSpPr>
            <p:nvPr/>
          </p:nvSpPr>
          <p:spPr bwMode="auto">
            <a:xfrm>
              <a:off x="3482975" y="3071277"/>
              <a:ext cx="44450" cy="90488"/>
            </a:xfrm>
            <a:prstGeom prst="ellipse">
              <a:avLst/>
            </a:prstGeom>
            <a:solidFill>
              <a:schemeClr val="bg1"/>
            </a:solidFill>
            <a:ln w="3175">
              <a:solidFill>
                <a:schemeClr val="tx1"/>
              </a:solidFill>
              <a:round/>
              <a:headEnd/>
              <a:tailEnd/>
            </a:ln>
            <a:effectLst/>
          </p:spPr>
          <p:txBody>
            <a:bodyPr wrap="none" anchor="ctr"/>
            <a:lstStyle/>
            <a:p>
              <a:endParaRPr lang="en-US"/>
            </a:p>
          </p:txBody>
        </p:sp>
      </p:grpSp>
      <p:sp>
        <p:nvSpPr>
          <p:cNvPr id="32" name="Text Box 122"/>
          <p:cNvSpPr txBox="1">
            <a:spLocks noChangeArrowheads="1"/>
          </p:cNvSpPr>
          <p:nvPr/>
        </p:nvSpPr>
        <p:spPr bwMode="auto">
          <a:xfrm>
            <a:off x="2621737" y="2216270"/>
            <a:ext cx="272542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romance novels</a:t>
            </a:r>
            <a:endParaRPr lang="en-US" sz="2800" dirty="0">
              <a:solidFill>
                <a:schemeClr val="tx1"/>
              </a:solidFill>
              <a:latin typeface="Arial" pitchFamily="34" charset="0"/>
              <a:cs typeface="Arial" pitchFamily="34" charset="0"/>
            </a:endParaRPr>
          </a:p>
        </p:txBody>
      </p:sp>
      <p:grpSp>
        <p:nvGrpSpPr>
          <p:cNvPr id="13" name="Group 71"/>
          <p:cNvGrpSpPr/>
          <p:nvPr/>
        </p:nvGrpSpPr>
        <p:grpSpPr>
          <a:xfrm>
            <a:off x="3177857" y="3412455"/>
            <a:ext cx="307975" cy="261938"/>
            <a:chOff x="3276600" y="3007773"/>
            <a:chExt cx="307975" cy="261938"/>
          </a:xfrm>
        </p:grpSpPr>
        <p:sp>
          <p:nvSpPr>
            <p:cNvPr id="14"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5" name="Oval 45"/>
            <p:cNvSpPr>
              <a:spLocks noChangeArrowheads="1"/>
            </p:cNvSpPr>
            <p:nvPr/>
          </p:nvSpPr>
          <p:spPr bwMode="auto">
            <a:xfrm>
              <a:off x="3482975" y="3071277"/>
              <a:ext cx="44450" cy="90488"/>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17" name="Group 71"/>
          <p:cNvGrpSpPr/>
          <p:nvPr/>
        </p:nvGrpSpPr>
        <p:grpSpPr>
          <a:xfrm>
            <a:off x="3455613" y="3626387"/>
            <a:ext cx="307975" cy="261938"/>
            <a:chOff x="3276600" y="3007773"/>
            <a:chExt cx="307975" cy="261938"/>
          </a:xfrm>
        </p:grpSpPr>
        <p:sp>
          <p:nvSpPr>
            <p:cNvPr id="18"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9" name="Oval 45"/>
            <p:cNvSpPr>
              <a:spLocks noChangeArrowheads="1"/>
            </p:cNvSpPr>
            <p:nvPr/>
          </p:nvSpPr>
          <p:spPr bwMode="auto">
            <a:xfrm>
              <a:off x="3482975" y="3071277"/>
              <a:ext cx="44450" cy="90488"/>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20" name="Group 71"/>
          <p:cNvGrpSpPr/>
          <p:nvPr/>
        </p:nvGrpSpPr>
        <p:grpSpPr>
          <a:xfrm>
            <a:off x="2882880" y="2887395"/>
            <a:ext cx="307975" cy="261938"/>
            <a:chOff x="3276600" y="3007773"/>
            <a:chExt cx="307975" cy="261938"/>
          </a:xfrm>
        </p:grpSpPr>
        <p:sp>
          <p:nvSpPr>
            <p:cNvPr id="21"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22" name="Oval 45"/>
            <p:cNvSpPr>
              <a:spLocks noChangeArrowheads="1"/>
            </p:cNvSpPr>
            <p:nvPr/>
          </p:nvSpPr>
          <p:spPr bwMode="auto">
            <a:xfrm>
              <a:off x="3482975" y="3071277"/>
              <a:ext cx="44450" cy="90488"/>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23" name="Group 69"/>
          <p:cNvGrpSpPr/>
          <p:nvPr/>
        </p:nvGrpSpPr>
        <p:grpSpPr>
          <a:xfrm>
            <a:off x="6221788" y="3780379"/>
            <a:ext cx="290513" cy="249237"/>
            <a:chOff x="3897312" y="2438400"/>
            <a:chExt cx="290513" cy="249237"/>
          </a:xfrm>
        </p:grpSpPr>
        <p:sp>
          <p:nvSpPr>
            <p:cNvPr id="24"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25"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27" name="Group 69"/>
          <p:cNvGrpSpPr/>
          <p:nvPr/>
        </p:nvGrpSpPr>
        <p:grpSpPr>
          <a:xfrm>
            <a:off x="6374188" y="3932779"/>
            <a:ext cx="290513" cy="249237"/>
            <a:chOff x="3897312" y="2438400"/>
            <a:chExt cx="290513" cy="249237"/>
          </a:xfrm>
        </p:grpSpPr>
        <p:sp>
          <p:nvSpPr>
            <p:cNvPr id="28"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29"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33" name="Group 69"/>
          <p:cNvGrpSpPr/>
          <p:nvPr/>
        </p:nvGrpSpPr>
        <p:grpSpPr>
          <a:xfrm>
            <a:off x="6159726" y="4106610"/>
            <a:ext cx="290513" cy="249237"/>
            <a:chOff x="3897312" y="2438400"/>
            <a:chExt cx="290513" cy="249237"/>
          </a:xfrm>
        </p:grpSpPr>
        <p:sp>
          <p:nvSpPr>
            <p:cNvPr id="34"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35"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36" name="Group 69"/>
          <p:cNvGrpSpPr/>
          <p:nvPr/>
        </p:nvGrpSpPr>
        <p:grpSpPr>
          <a:xfrm>
            <a:off x="5884397" y="3911347"/>
            <a:ext cx="290513" cy="249237"/>
            <a:chOff x="3897312" y="2438400"/>
            <a:chExt cx="290513" cy="249237"/>
          </a:xfrm>
        </p:grpSpPr>
        <p:sp>
          <p:nvSpPr>
            <p:cNvPr id="37"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38"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39" name="Group 69"/>
          <p:cNvGrpSpPr/>
          <p:nvPr/>
        </p:nvGrpSpPr>
        <p:grpSpPr>
          <a:xfrm>
            <a:off x="5609068" y="3716084"/>
            <a:ext cx="290513" cy="249237"/>
            <a:chOff x="3897312" y="2438400"/>
            <a:chExt cx="290513" cy="249237"/>
          </a:xfrm>
        </p:grpSpPr>
        <p:sp>
          <p:nvSpPr>
            <p:cNvPr id="40"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41"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42" name="Group 69"/>
          <p:cNvGrpSpPr/>
          <p:nvPr/>
        </p:nvGrpSpPr>
        <p:grpSpPr>
          <a:xfrm>
            <a:off x="5462493" y="4261650"/>
            <a:ext cx="290513" cy="249237"/>
            <a:chOff x="3897312" y="2438400"/>
            <a:chExt cx="290513" cy="249237"/>
          </a:xfrm>
        </p:grpSpPr>
        <p:sp>
          <p:nvSpPr>
            <p:cNvPr id="43"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44"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grpSp>
        <p:nvGrpSpPr>
          <p:cNvPr id="45" name="Group 69"/>
          <p:cNvGrpSpPr/>
          <p:nvPr/>
        </p:nvGrpSpPr>
        <p:grpSpPr>
          <a:xfrm>
            <a:off x="5702166" y="4427508"/>
            <a:ext cx="290513" cy="249237"/>
            <a:chOff x="3897312" y="2438400"/>
            <a:chExt cx="290513" cy="249237"/>
          </a:xfrm>
        </p:grpSpPr>
        <p:sp>
          <p:nvSpPr>
            <p:cNvPr id="46" name="Oval 40"/>
            <p:cNvSpPr>
              <a:spLocks noChangeArrowheads="1"/>
            </p:cNvSpPr>
            <p:nvPr/>
          </p:nvSpPr>
          <p:spPr bwMode="auto">
            <a:xfrm>
              <a:off x="3897312" y="2438400"/>
              <a:ext cx="290513" cy="249237"/>
            </a:xfrm>
            <a:prstGeom prst="ellipse">
              <a:avLst/>
            </a:prstGeom>
            <a:solidFill>
              <a:srgbClr val="9999FF"/>
            </a:solidFill>
            <a:ln w="38100">
              <a:solidFill>
                <a:schemeClr val="tx1"/>
              </a:solidFill>
              <a:round/>
              <a:headEnd/>
              <a:tailEnd/>
            </a:ln>
            <a:effectLst/>
          </p:spPr>
          <p:txBody>
            <a:bodyPr wrap="none" anchor="ctr"/>
            <a:lstStyle/>
            <a:p>
              <a:endParaRPr lang="en-US"/>
            </a:p>
          </p:txBody>
        </p:sp>
        <p:sp>
          <p:nvSpPr>
            <p:cNvPr id="47" name="Oval 41"/>
            <p:cNvSpPr>
              <a:spLocks noChangeArrowheads="1"/>
            </p:cNvSpPr>
            <p:nvPr/>
          </p:nvSpPr>
          <p:spPr bwMode="auto">
            <a:xfrm>
              <a:off x="4090987" y="2498725"/>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sp>
        <p:nvSpPr>
          <p:cNvPr id="48" name="Oval 50"/>
          <p:cNvSpPr>
            <a:spLocks noChangeArrowheads="1"/>
          </p:cNvSpPr>
          <p:nvPr/>
        </p:nvSpPr>
        <p:spPr bwMode="auto">
          <a:xfrm>
            <a:off x="3552450" y="4440036"/>
            <a:ext cx="307975" cy="261937"/>
          </a:xfrm>
          <a:prstGeom prst="ellipse">
            <a:avLst/>
          </a:prstGeom>
          <a:solidFill>
            <a:srgbClr val="92D050"/>
          </a:solidFill>
          <a:ln w="38100">
            <a:solidFill>
              <a:schemeClr val="tx1"/>
            </a:solidFill>
            <a:round/>
            <a:headEnd/>
            <a:tailEnd/>
          </a:ln>
          <a:effectLst/>
        </p:spPr>
        <p:txBody>
          <a:bodyPr wrap="none" anchor="ctr"/>
          <a:lstStyle/>
          <a:p>
            <a:endParaRPr lang="en-US"/>
          </a:p>
        </p:txBody>
      </p:sp>
      <p:sp>
        <p:nvSpPr>
          <p:cNvPr id="49" name="Oval 50"/>
          <p:cNvSpPr>
            <a:spLocks noChangeArrowheads="1"/>
          </p:cNvSpPr>
          <p:nvPr/>
        </p:nvSpPr>
        <p:spPr bwMode="auto">
          <a:xfrm>
            <a:off x="3230244" y="5094879"/>
            <a:ext cx="307975" cy="261937"/>
          </a:xfrm>
          <a:prstGeom prst="ellipse">
            <a:avLst/>
          </a:prstGeom>
          <a:solidFill>
            <a:srgbClr val="92D050"/>
          </a:solidFill>
          <a:ln w="38100">
            <a:solidFill>
              <a:schemeClr val="tx1"/>
            </a:solidFill>
            <a:round/>
            <a:headEnd/>
            <a:tailEnd/>
          </a:ln>
          <a:effectLst/>
        </p:spPr>
        <p:txBody>
          <a:bodyPr wrap="none" anchor="ctr"/>
          <a:lstStyle/>
          <a:p>
            <a:endParaRPr lang="en-US"/>
          </a:p>
        </p:txBody>
      </p:sp>
      <p:sp>
        <p:nvSpPr>
          <p:cNvPr id="50" name="Oval 50"/>
          <p:cNvSpPr>
            <a:spLocks noChangeArrowheads="1"/>
          </p:cNvSpPr>
          <p:nvPr/>
        </p:nvSpPr>
        <p:spPr bwMode="auto">
          <a:xfrm>
            <a:off x="3138668" y="4701974"/>
            <a:ext cx="307975" cy="261937"/>
          </a:xfrm>
          <a:prstGeom prst="ellipse">
            <a:avLst/>
          </a:prstGeom>
          <a:solidFill>
            <a:srgbClr val="92D050"/>
          </a:solidFill>
          <a:ln w="38100">
            <a:solidFill>
              <a:schemeClr val="tx1"/>
            </a:solidFill>
            <a:round/>
            <a:headEnd/>
            <a:tailEnd/>
          </a:ln>
          <a:effectLst/>
        </p:spPr>
        <p:txBody>
          <a:bodyPr wrap="none" anchor="ctr"/>
          <a:lstStyle/>
          <a:p>
            <a:endParaRPr lang="en-US"/>
          </a:p>
        </p:txBody>
      </p:sp>
      <p:sp>
        <p:nvSpPr>
          <p:cNvPr id="51" name="Oval 50"/>
          <p:cNvSpPr>
            <a:spLocks noChangeArrowheads="1"/>
          </p:cNvSpPr>
          <p:nvPr/>
        </p:nvSpPr>
        <p:spPr bwMode="auto">
          <a:xfrm>
            <a:off x="2529743" y="4440037"/>
            <a:ext cx="307975" cy="261937"/>
          </a:xfrm>
          <a:prstGeom prst="ellipse">
            <a:avLst/>
          </a:prstGeom>
          <a:solidFill>
            <a:srgbClr val="92D050"/>
          </a:solidFill>
          <a:ln w="38100">
            <a:solidFill>
              <a:schemeClr val="tx1"/>
            </a:solidFill>
            <a:round/>
            <a:headEnd/>
            <a:tailEnd/>
          </a:ln>
          <a:effectLst/>
        </p:spPr>
        <p:txBody>
          <a:bodyPr wrap="none" anchor="ctr"/>
          <a:lstStyle/>
          <a:p>
            <a:endParaRPr lang="en-US"/>
          </a:p>
        </p:txBody>
      </p:sp>
      <p:sp>
        <p:nvSpPr>
          <p:cNvPr id="52" name="Oval 50"/>
          <p:cNvSpPr>
            <a:spLocks noChangeArrowheads="1"/>
          </p:cNvSpPr>
          <p:nvPr/>
        </p:nvSpPr>
        <p:spPr bwMode="auto">
          <a:xfrm>
            <a:off x="2683730" y="4963910"/>
            <a:ext cx="307975" cy="261937"/>
          </a:xfrm>
          <a:prstGeom prst="ellipse">
            <a:avLst/>
          </a:prstGeom>
          <a:solidFill>
            <a:srgbClr val="92D050"/>
          </a:solidFill>
          <a:ln w="38100">
            <a:solidFill>
              <a:schemeClr val="tx1"/>
            </a:solidFill>
            <a:round/>
            <a:headEnd/>
            <a:tailEnd/>
          </a:ln>
          <a:effectLst/>
        </p:spPr>
        <p:txBody>
          <a:bodyPr wrap="none" anchor="ctr"/>
          <a:lstStyle/>
          <a:p>
            <a:endParaRPr lang="en-US"/>
          </a:p>
        </p:txBody>
      </p:sp>
      <p:sp>
        <p:nvSpPr>
          <p:cNvPr id="53" name="Text Box 122"/>
          <p:cNvSpPr txBox="1">
            <a:spLocks noChangeArrowheads="1"/>
          </p:cNvSpPr>
          <p:nvPr/>
        </p:nvSpPr>
        <p:spPr bwMode="auto">
          <a:xfrm>
            <a:off x="2858390" y="5392523"/>
            <a:ext cx="2004075"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tango lyrics</a:t>
            </a:r>
            <a:endParaRPr lang="en-US" sz="2800" dirty="0">
              <a:solidFill>
                <a:schemeClr val="tx1"/>
              </a:solidFill>
              <a:latin typeface="Arial" pitchFamily="34" charset="0"/>
              <a:cs typeface="Arial" pitchFamily="34" charset="0"/>
            </a:endParaRPr>
          </a:p>
        </p:txBody>
      </p:sp>
      <p:sp>
        <p:nvSpPr>
          <p:cNvPr id="54" name="Text Box 122"/>
          <p:cNvSpPr txBox="1">
            <a:spLocks noChangeArrowheads="1"/>
          </p:cNvSpPr>
          <p:nvPr/>
        </p:nvSpPr>
        <p:spPr bwMode="auto">
          <a:xfrm>
            <a:off x="5607749" y="4869303"/>
            <a:ext cx="3183885"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err="1">
                <a:latin typeface="Arial" pitchFamily="34" charset="0"/>
                <a:cs typeface="Arial" pitchFamily="34" charset="0"/>
              </a:rPr>
              <a:t>Usenix</a:t>
            </a:r>
            <a:r>
              <a:rPr lang="en-US" sz="2800" dirty="0">
                <a:latin typeface="Arial" pitchFamily="34" charset="0"/>
                <a:cs typeface="Arial" pitchFamily="34" charset="0"/>
              </a:rPr>
              <a:t> </a:t>
            </a:r>
            <a:r>
              <a:rPr lang="en-US" sz="2800" dirty="0" err="1">
                <a:latin typeface="Arial" pitchFamily="34" charset="0"/>
                <a:cs typeface="Arial" pitchFamily="34" charset="0"/>
              </a:rPr>
              <a:t>Procedings</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405306718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37</a:t>
            </a:fld>
            <a:endParaRPr lang="en-US"/>
          </a:p>
        </p:txBody>
      </p:sp>
      <p:cxnSp>
        <p:nvCxnSpPr>
          <p:cNvPr id="6" name="Straight Arrow Connector 5"/>
          <p:cNvCxnSpPr/>
          <p:nvPr/>
        </p:nvCxnSpPr>
        <p:spPr bwMode="auto">
          <a:xfrm>
            <a:off x="1627323" y="5997844"/>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rot="16200000">
            <a:off x="-1022887" y="3394129"/>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1627324" y="3347634"/>
            <a:ext cx="4202623" cy="2650210"/>
          </a:xfrm>
          <a:prstGeom prst="straightConnector1">
            <a:avLst/>
          </a:prstGeom>
          <a:noFill/>
          <a:ln w="38100" cap="flat" cmpd="sng" algn="ctr">
            <a:solidFill>
              <a:schemeClr val="tx1"/>
            </a:solidFill>
            <a:prstDash val="solid"/>
            <a:round/>
            <a:headEnd type="none" w="med" len="med"/>
            <a:tailEnd type="arrow"/>
          </a:ln>
          <a:effectLst/>
        </p:spPr>
      </p:cxnSp>
      <p:sp>
        <p:nvSpPr>
          <p:cNvPr id="16" name="Oval 41"/>
          <p:cNvSpPr>
            <a:spLocks noChangeArrowheads="1"/>
          </p:cNvSpPr>
          <p:nvPr/>
        </p:nvSpPr>
        <p:spPr bwMode="auto">
          <a:xfrm>
            <a:off x="4489075" y="4198128"/>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nvGrpSpPr>
          <p:cNvPr id="26" name="Group 71"/>
          <p:cNvGrpSpPr/>
          <p:nvPr/>
        </p:nvGrpSpPr>
        <p:grpSpPr>
          <a:xfrm>
            <a:off x="3404813" y="3040586"/>
            <a:ext cx="307975" cy="261938"/>
            <a:chOff x="3276600" y="3007773"/>
            <a:chExt cx="307975" cy="261938"/>
          </a:xfrm>
          <a:solidFill>
            <a:schemeClr val="bg1">
              <a:lumMod val="65000"/>
            </a:schemeClr>
          </a:solidFill>
        </p:grpSpPr>
        <p:sp>
          <p:nvSpPr>
            <p:cNvPr id="3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31"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3" name="Group 71"/>
          <p:cNvGrpSpPr/>
          <p:nvPr/>
        </p:nvGrpSpPr>
        <p:grpSpPr>
          <a:xfrm>
            <a:off x="3177857" y="3412455"/>
            <a:ext cx="307975" cy="261938"/>
            <a:chOff x="3276600" y="3007773"/>
            <a:chExt cx="307975" cy="261938"/>
          </a:xfrm>
          <a:solidFill>
            <a:schemeClr val="bg1">
              <a:lumMod val="65000"/>
            </a:schemeClr>
          </a:solidFill>
        </p:grpSpPr>
        <p:sp>
          <p:nvSpPr>
            <p:cNvPr id="1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7" name="Group 71"/>
          <p:cNvGrpSpPr/>
          <p:nvPr/>
        </p:nvGrpSpPr>
        <p:grpSpPr>
          <a:xfrm>
            <a:off x="3455613" y="3626387"/>
            <a:ext cx="307975" cy="261938"/>
            <a:chOff x="3276600" y="3007773"/>
            <a:chExt cx="307975" cy="261938"/>
          </a:xfrm>
          <a:solidFill>
            <a:schemeClr val="bg1">
              <a:lumMod val="65000"/>
            </a:schemeClr>
          </a:solidFill>
        </p:grpSpPr>
        <p:sp>
          <p:nvSpPr>
            <p:cNvPr id="18"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9"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0" name="Group 71"/>
          <p:cNvGrpSpPr/>
          <p:nvPr/>
        </p:nvGrpSpPr>
        <p:grpSpPr>
          <a:xfrm>
            <a:off x="2882880" y="2887395"/>
            <a:ext cx="307975" cy="261938"/>
            <a:chOff x="3276600" y="3007773"/>
            <a:chExt cx="307975" cy="261938"/>
          </a:xfrm>
          <a:solidFill>
            <a:schemeClr val="bg1">
              <a:lumMod val="65000"/>
            </a:schemeClr>
          </a:solidFill>
        </p:grpSpPr>
        <p:sp>
          <p:nvSpPr>
            <p:cNvPr id="2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2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3" name="Group 69"/>
          <p:cNvGrpSpPr/>
          <p:nvPr/>
        </p:nvGrpSpPr>
        <p:grpSpPr>
          <a:xfrm>
            <a:off x="6221788" y="3780379"/>
            <a:ext cx="290513" cy="249237"/>
            <a:chOff x="3897312" y="2438400"/>
            <a:chExt cx="290513" cy="249237"/>
          </a:xfrm>
          <a:solidFill>
            <a:schemeClr val="bg1">
              <a:lumMod val="65000"/>
            </a:schemeClr>
          </a:solidFill>
        </p:grpSpPr>
        <p:sp>
          <p:nvSpPr>
            <p:cNvPr id="2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27" name="Group 69"/>
          <p:cNvGrpSpPr/>
          <p:nvPr/>
        </p:nvGrpSpPr>
        <p:grpSpPr>
          <a:xfrm>
            <a:off x="6374188" y="3932779"/>
            <a:ext cx="290513" cy="249237"/>
            <a:chOff x="3897312" y="2438400"/>
            <a:chExt cx="290513" cy="249237"/>
          </a:xfrm>
          <a:solidFill>
            <a:schemeClr val="bg1">
              <a:lumMod val="65000"/>
            </a:schemeClr>
          </a:solidFill>
        </p:grpSpPr>
        <p:sp>
          <p:nvSpPr>
            <p:cNvPr id="28"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9"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3" name="Group 69"/>
          <p:cNvGrpSpPr/>
          <p:nvPr/>
        </p:nvGrpSpPr>
        <p:grpSpPr>
          <a:xfrm>
            <a:off x="6159726" y="4106610"/>
            <a:ext cx="290513" cy="249237"/>
            <a:chOff x="3897312" y="2438400"/>
            <a:chExt cx="290513" cy="249237"/>
          </a:xfrm>
          <a:solidFill>
            <a:schemeClr val="bg1">
              <a:lumMod val="65000"/>
            </a:schemeClr>
          </a:solidFill>
        </p:grpSpPr>
        <p:sp>
          <p:nvSpPr>
            <p:cNvPr id="3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6" name="Group 69"/>
          <p:cNvGrpSpPr/>
          <p:nvPr/>
        </p:nvGrpSpPr>
        <p:grpSpPr>
          <a:xfrm>
            <a:off x="5884397" y="3911347"/>
            <a:ext cx="290513" cy="249237"/>
            <a:chOff x="3897312" y="2438400"/>
            <a:chExt cx="290513" cy="249237"/>
          </a:xfrm>
          <a:solidFill>
            <a:schemeClr val="bg1">
              <a:lumMod val="65000"/>
            </a:schemeClr>
          </a:solidFill>
        </p:grpSpPr>
        <p:sp>
          <p:nvSpPr>
            <p:cNvPr id="37"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8"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9" name="Group 69"/>
          <p:cNvGrpSpPr/>
          <p:nvPr/>
        </p:nvGrpSpPr>
        <p:grpSpPr>
          <a:xfrm>
            <a:off x="5609068" y="3716084"/>
            <a:ext cx="290513" cy="249237"/>
            <a:chOff x="3897312" y="2438400"/>
            <a:chExt cx="290513" cy="249237"/>
          </a:xfrm>
          <a:solidFill>
            <a:schemeClr val="bg1">
              <a:lumMod val="65000"/>
            </a:schemeClr>
          </a:solidFill>
        </p:grpSpPr>
        <p:sp>
          <p:nvSpPr>
            <p:cNvPr id="40"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1"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2" name="Group 69"/>
          <p:cNvGrpSpPr/>
          <p:nvPr/>
        </p:nvGrpSpPr>
        <p:grpSpPr>
          <a:xfrm>
            <a:off x="5462493" y="4261650"/>
            <a:ext cx="290513" cy="249237"/>
            <a:chOff x="3897312" y="2438400"/>
            <a:chExt cx="290513" cy="249237"/>
          </a:xfrm>
          <a:solidFill>
            <a:schemeClr val="bg1">
              <a:lumMod val="65000"/>
            </a:schemeClr>
          </a:solidFill>
        </p:grpSpPr>
        <p:sp>
          <p:nvSpPr>
            <p:cNvPr id="43"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4"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5" name="Group 69"/>
          <p:cNvGrpSpPr/>
          <p:nvPr/>
        </p:nvGrpSpPr>
        <p:grpSpPr>
          <a:xfrm>
            <a:off x="5702166" y="4427508"/>
            <a:ext cx="290513" cy="249237"/>
            <a:chOff x="3897312" y="2438400"/>
            <a:chExt cx="290513" cy="249237"/>
          </a:xfrm>
          <a:solidFill>
            <a:schemeClr val="bg1">
              <a:lumMod val="65000"/>
            </a:schemeClr>
          </a:solidFill>
        </p:grpSpPr>
        <p:sp>
          <p:nvSpPr>
            <p:cNvPr id="46"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7"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sp>
        <p:nvSpPr>
          <p:cNvPr id="48" name="Oval 50"/>
          <p:cNvSpPr>
            <a:spLocks noChangeArrowheads="1"/>
          </p:cNvSpPr>
          <p:nvPr/>
        </p:nvSpPr>
        <p:spPr bwMode="auto">
          <a:xfrm>
            <a:off x="3552450" y="4440036"/>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49" name="Oval 50"/>
          <p:cNvSpPr>
            <a:spLocks noChangeArrowheads="1"/>
          </p:cNvSpPr>
          <p:nvPr/>
        </p:nvSpPr>
        <p:spPr bwMode="auto">
          <a:xfrm>
            <a:off x="3230244" y="5094879"/>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0" name="Oval 50"/>
          <p:cNvSpPr>
            <a:spLocks noChangeArrowheads="1"/>
          </p:cNvSpPr>
          <p:nvPr/>
        </p:nvSpPr>
        <p:spPr bwMode="auto">
          <a:xfrm>
            <a:off x="3138668" y="4701974"/>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1" name="Oval 50"/>
          <p:cNvSpPr>
            <a:spLocks noChangeArrowheads="1"/>
          </p:cNvSpPr>
          <p:nvPr/>
        </p:nvSpPr>
        <p:spPr bwMode="auto">
          <a:xfrm>
            <a:off x="2529743" y="4440037"/>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2" name="Oval 50"/>
          <p:cNvSpPr>
            <a:spLocks noChangeArrowheads="1"/>
          </p:cNvSpPr>
          <p:nvPr/>
        </p:nvSpPr>
        <p:spPr bwMode="auto">
          <a:xfrm>
            <a:off x="2683730" y="4963910"/>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6" name="Text Box 122"/>
          <p:cNvSpPr txBox="1">
            <a:spLocks noChangeArrowheads="1"/>
          </p:cNvSpPr>
          <p:nvPr/>
        </p:nvSpPr>
        <p:spPr bwMode="auto">
          <a:xfrm>
            <a:off x="2420473" y="1715531"/>
            <a:ext cx="480131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Find </a:t>
            </a:r>
            <a:r>
              <a:rPr lang="en-US" sz="2800" i="1" dirty="0">
                <a:solidFill>
                  <a:schemeClr val="tx1"/>
                </a:solidFill>
                <a:latin typeface="Arial" pitchFamily="34" charset="0"/>
                <a:cs typeface="Arial" pitchFamily="34" charset="0"/>
              </a:rPr>
              <a:t>k</a:t>
            </a:r>
            <a:r>
              <a:rPr lang="en-US" sz="2800" dirty="0">
                <a:latin typeface="Arial" pitchFamily="34" charset="0"/>
                <a:cs typeface="Arial" pitchFamily="34" charset="0"/>
              </a:rPr>
              <a:t> clusters from raw data</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9364806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38</a:t>
            </a:fld>
            <a:endParaRPr lang="en-US"/>
          </a:p>
        </p:txBody>
      </p:sp>
      <p:cxnSp>
        <p:nvCxnSpPr>
          <p:cNvPr id="6" name="Straight Arrow Connector 5"/>
          <p:cNvCxnSpPr/>
          <p:nvPr/>
        </p:nvCxnSpPr>
        <p:spPr bwMode="auto">
          <a:xfrm>
            <a:off x="1627323" y="5997844"/>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rot="16200000">
            <a:off x="-1022887" y="3394129"/>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1627324" y="3347634"/>
            <a:ext cx="4202623" cy="2650210"/>
          </a:xfrm>
          <a:prstGeom prst="straightConnector1">
            <a:avLst/>
          </a:prstGeom>
          <a:noFill/>
          <a:ln w="38100" cap="flat" cmpd="sng" algn="ctr">
            <a:solidFill>
              <a:schemeClr val="tx1"/>
            </a:solidFill>
            <a:prstDash val="solid"/>
            <a:round/>
            <a:headEnd type="none" w="med" len="med"/>
            <a:tailEnd type="arrow"/>
          </a:ln>
          <a:effectLst/>
        </p:spPr>
      </p:cxnSp>
      <p:sp>
        <p:nvSpPr>
          <p:cNvPr id="16" name="Oval 41"/>
          <p:cNvSpPr>
            <a:spLocks noChangeArrowheads="1"/>
          </p:cNvSpPr>
          <p:nvPr/>
        </p:nvSpPr>
        <p:spPr bwMode="auto">
          <a:xfrm>
            <a:off x="4489075" y="4198128"/>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nvGrpSpPr>
          <p:cNvPr id="26" name="Group 71"/>
          <p:cNvGrpSpPr/>
          <p:nvPr/>
        </p:nvGrpSpPr>
        <p:grpSpPr>
          <a:xfrm>
            <a:off x="3404813" y="3040586"/>
            <a:ext cx="307975" cy="261938"/>
            <a:chOff x="3276600" y="3007773"/>
            <a:chExt cx="307975" cy="261938"/>
          </a:xfrm>
          <a:solidFill>
            <a:schemeClr val="bg1">
              <a:lumMod val="65000"/>
            </a:schemeClr>
          </a:solidFill>
        </p:grpSpPr>
        <p:sp>
          <p:nvSpPr>
            <p:cNvPr id="3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31"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sp>
        <p:nvSpPr>
          <p:cNvPr id="32" name="Text Box 122"/>
          <p:cNvSpPr txBox="1">
            <a:spLocks noChangeArrowheads="1"/>
          </p:cNvSpPr>
          <p:nvPr/>
        </p:nvSpPr>
        <p:spPr bwMode="auto">
          <a:xfrm>
            <a:off x="2420473" y="1715531"/>
            <a:ext cx="480131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Find </a:t>
            </a:r>
            <a:r>
              <a:rPr lang="en-US" sz="2800" i="1" dirty="0">
                <a:solidFill>
                  <a:schemeClr val="tx1"/>
                </a:solidFill>
                <a:latin typeface="Arial" pitchFamily="34" charset="0"/>
                <a:cs typeface="Arial" pitchFamily="34" charset="0"/>
              </a:rPr>
              <a:t>k</a:t>
            </a:r>
            <a:r>
              <a:rPr lang="en-US" sz="2800" dirty="0">
                <a:latin typeface="Arial" pitchFamily="34" charset="0"/>
                <a:cs typeface="Arial" pitchFamily="34" charset="0"/>
              </a:rPr>
              <a:t> clusters from raw data</a:t>
            </a:r>
            <a:endParaRPr lang="en-US" sz="2800" dirty="0">
              <a:solidFill>
                <a:schemeClr val="tx1"/>
              </a:solidFill>
              <a:latin typeface="Arial" pitchFamily="34" charset="0"/>
              <a:cs typeface="Arial" pitchFamily="34" charset="0"/>
            </a:endParaRPr>
          </a:p>
        </p:txBody>
      </p:sp>
      <p:grpSp>
        <p:nvGrpSpPr>
          <p:cNvPr id="13" name="Group 71"/>
          <p:cNvGrpSpPr/>
          <p:nvPr/>
        </p:nvGrpSpPr>
        <p:grpSpPr>
          <a:xfrm>
            <a:off x="3177857" y="3412455"/>
            <a:ext cx="307975" cy="261938"/>
            <a:chOff x="3276600" y="3007773"/>
            <a:chExt cx="307975" cy="261938"/>
          </a:xfrm>
          <a:solidFill>
            <a:schemeClr val="bg1">
              <a:lumMod val="65000"/>
            </a:schemeClr>
          </a:solidFill>
        </p:grpSpPr>
        <p:sp>
          <p:nvSpPr>
            <p:cNvPr id="1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7" name="Group 71"/>
          <p:cNvGrpSpPr/>
          <p:nvPr/>
        </p:nvGrpSpPr>
        <p:grpSpPr>
          <a:xfrm>
            <a:off x="3455613" y="3626387"/>
            <a:ext cx="307975" cy="261938"/>
            <a:chOff x="3276600" y="3007773"/>
            <a:chExt cx="307975" cy="261938"/>
          </a:xfrm>
          <a:solidFill>
            <a:schemeClr val="bg1">
              <a:lumMod val="65000"/>
            </a:schemeClr>
          </a:solidFill>
        </p:grpSpPr>
        <p:sp>
          <p:nvSpPr>
            <p:cNvPr id="18"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9"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0" name="Group 71"/>
          <p:cNvGrpSpPr/>
          <p:nvPr/>
        </p:nvGrpSpPr>
        <p:grpSpPr>
          <a:xfrm>
            <a:off x="2882880" y="2887395"/>
            <a:ext cx="307975" cy="261938"/>
            <a:chOff x="3276600" y="3007773"/>
            <a:chExt cx="307975" cy="261938"/>
          </a:xfrm>
          <a:solidFill>
            <a:schemeClr val="bg1">
              <a:lumMod val="65000"/>
            </a:schemeClr>
          </a:solidFill>
        </p:grpSpPr>
        <p:sp>
          <p:nvSpPr>
            <p:cNvPr id="2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2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3" name="Group 69"/>
          <p:cNvGrpSpPr/>
          <p:nvPr/>
        </p:nvGrpSpPr>
        <p:grpSpPr>
          <a:xfrm>
            <a:off x="6221788" y="3780379"/>
            <a:ext cx="290513" cy="249237"/>
            <a:chOff x="3897312" y="2438400"/>
            <a:chExt cx="290513" cy="249237"/>
          </a:xfrm>
          <a:solidFill>
            <a:schemeClr val="bg1">
              <a:lumMod val="65000"/>
            </a:schemeClr>
          </a:solidFill>
        </p:grpSpPr>
        <p:sp>
          <p:nvSpPr>
            <p:cNvPr id="2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27" name="Group 69"/>
          <p:cNvGrpSpPr/>
          <p:nvPr/>
        </p:nvGrpSpPr>
        <p:grpSpPr>
          <a:xfrm>
            <a:off x="6374188" y="3932779"/>
            <a:ext cx="290513" cy="249237"/>
            <a:chOff x="3897312" y="2438400"/>
            <a:chExt cx="290513" cy="249237"/>
          </a:xfrm>
          <a:solidFill>
            <a:schemeClr val="bg1">
              <a:lumMod val="65000"/>
            </a:schemeClr>
          </a:solidFill>
        </p:grpSpPr>
        <p:sp>
          <p:nvSpPr>
            <p:cNvPr id="28"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9"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3" name="Group 69"/>
          <p:cNvGrpSpPr/>
          <p:nvPr/>
        </p:nvGrpSpPr>
        <p:grpSpPr>
          <a:xfrm>
            <a:off x="6159726" y="4106610"/>
            <a:ext cx="290513" cy="249237"/>
            <a:chOff x="3897312" y="2438400"/>
            <a:chExt cx="290513" cy="249237"/>
          </a:xfrm>
          <a:solidFill>
            <a:schemeClr val="bg1">
              <a:lumMod val="65000"/>
            </a:schemeClr>
          </a:solidFill>
        </p:grpSpPr>
        <p:sp>
          <p:nvSpPr>
            <p:cNvPr id="3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6" name="Group 69"/>
          <p:cNvGrpSpPr/>
          <p:nvPr/>
        </p:nvGrpSpPr>
        <p:grpSpPr>
          <a:xfrm>
            <a:off x="5884397" y="3911347"/>
            <a:ext cx="290513" cy="249237"/>
            <a:chOff x="3897312" y="2438400"/>
            <a:chExt cx="290513" cy="249237"/>
          </a:xfrm>
          <a:solidFill>
            <a:schemeClr val="bg1">
              <a:lumMod val="65000"/>
            </a:schemeClr>
          </a:solidFill>
        </p:grpSpPr>
        <p:sp>
          <p:nvSpPr>
            <p:cNvPr id="37"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8"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9" name="Group 69"/>
          <p:cNvGrpSpPr/>
          <p:nvPr/>
        </p:nvGrpSpPr>
        <p:grpSpPr>
          <a:xfrm>
            <a:off x="5609068" y="3716084"/>
            <a:ext cx="290513" cy="249237"/>
            <a:chOff x="3897312" y="2438400"/>
            <a:chExt cx="290513" cy="249237"/>
          </a:xfrm>
          <a:solidFill>
            <a:schemeClr val="bg1">
              <a:lumMod val="65000"/>
            </a:schemeClr>
          </a:solidFill>
        </p:grpSpPr>
        <p:sp>
          <p:nvSpPr>
            <p:cNvPr id="40"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1"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2" name="Group 69"/>
          <p:cNvGrpSpPr/>
          <p:nvPr/>
        </p:nvGrpSpPr>
        <p:grpSpPr>
          <a:xfrm>
            <a:off x="5462493" y="4261650"/>
            <a:ext cx="290513" cy="249237"/>
            <a:chOff x="3897312" y="2438400"/>
            <a:chExt cx="290513" cy="249237"/>
          </a:xfrm>
          <a:solidFill>
            <a:schemeClr val="bg1">
              <a:lumMod val="65000"/>
            </a:schemeClr>
          </a:solidFill>
        </p:grpSpPr>
        <p:sp>
          <p:nvSpPr>
            <p:cNvPr id="43"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4"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5" name="Group 69"/>
          <p:cNvGrpSpPr/>
          <p:nvPr/>
        </p:nvGrpSpPr>
        <p:grpSpPr>
          <a:xfrm>
            <a:off x="5702166" y="4427508"/>
            <a:ext cx="290513" cy="249237"/>
            <a:chOff x="3897312" y="2438400"/>
            <a:chExt cx="290513" cy="249237"/>
          </a:xfrm>
          <a:solidFill>
            <a:schemeClr val="bg1">
              <a:lumMod val="65000"/>
            </a:schemeClr>
          </a:solidFill>
        </p:grpSpPr>
        <p:sp>
          <p:nvSpPr>
            <p:cNvPr id="46"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7"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sp>
        <p:nvSpPr>
          <p:cNvPr id="48" name="Oval 50"/>
          <p:cNvSpPr>
            <a:spLocks noChangeArrowheads="1"/>
          </p:cNvSpPr>
          <p:nvPr/>
        </p:nvSpPr>
        <p:spPr bwMode="auto">
          <a:xfrm>
            <a:off x="3552450" y="4440036"/>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49" name="Oval 50"/>
          <p:cNvSpPr>
            <a:spLocks noChangeArrowheads="1"/>
          </p:cNvSpPr>
          <p:nvPr/>
        </p:nvSpPr>
        <p:spPr bwMode="auto">
          <a:xfrm>
            <a:off x="3230244" y="5094879"/>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0" name="Oval 50"/>
          <p:cNvSpPr>
            <a:spLocks noChangeArrowheads="1"/>
          </p:cNvSpPr>
          <p:nvPr/>
        </p:nvSpPr>
        <p:spPr bwMode="auto">
          <a:xfrm>
            <a:off x="3138668" y="4701974"/>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1" name="Oval 50"/>
          <p:cNvSpPr>
            <a:spLocks noChangeArrowheads="1"/>
          </p:cNvSpPr>
          <p:nvPr/>
        </p:nvSpPr>
        <p:spPr bwMode="auto">
          <a:xfrm>
            <a:off x="2529743" y="4440037"/>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2" name="Oval 50"/>
          <p:cNvSpPr>
            <a:spLocks noChangeArrowheads="1"/>
          </p:cNvSpPr>
          <p:nvPr/>
        </p:nvSpPr>
        <p:spPr bwMode="auto">
          <a:xfrm>
            <a:off x="2683730" y="4963910"/>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3" name="Text Box 122"/>
          <p:cNvSpPr txBox="1">
            <a:spLocks noChangeArrowheads="1"/>
          </p:cNvSpPr>
          <p:nvPr/>
        </p:nvSpPr>
        <p:spPr bwMode="auto">
          <a:xfrm>
            <a:off x="1122040" y="2870909"/>
            <a:ext cx="739818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each vector closer to those in same cluster …</a:t>
            </a:r>
            <a:endParaRPr lang="en-US" sz="2800" dirty="0">
              <a:solidFill>
                <a:schemeClr val="tx1"/>
              </a:solidFill>
              <a:latin typeface="Arial" pitchFamily="34" charset="0"/>
              <a:cs typeface="Arial" pitchFamily="34" charset="0"/>
            </a:endParaRPr>
          </a:p>
        </p:txBody>
      </p:sp>
      <p:sp>
        <p:nvSpPr>
          <p:cNvPr id="54" name="Text Box 122"/>
          <p:cNvSpPr txBox="1">
            <a:spLocks noChangeArrowheads="1"/>
          </p:cNvSpPr>
          <p:nvPr/>
        </p:nvSpPr>
        <p:spPr bwMode="auto">
          <a:xfrm>
            <a:off x="3848121" y="3911125"/>
            <a:ext cx="409592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than in different clusters.</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8885768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MapReduce</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39</a:t>
            </a:fld>
            <a:endParaRPr lang="en-US"/>
          </a:p>
        </p:txBody>
      </p:sp>
      <p:sp>
        <p:nvSpPr>
          <p:cNvPr id="8" name="TextBox 7"/>
          <p:cNvSpPr txBox="1"/>
          <p:nvPr/>
        </p:nvSpPr>
        <p:spPr bwMode="auto">
          <a:xfrm>
            <a:off x="5647424" y="4534363"/>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sp>
        <p:nvSpPr>
          <p:cNvPr id="10" name="TextBox 9"/>
          <p:cNvSpPr txBox="1"/>
          <p:nvPr/>
        </p:nvSpPr>
        <p:spPr bwMode="auto">
          <a:xfrm>
            <a:off x="789536" y="5383000"/>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1</a:t>
            </a:r>
          </a:p>
        </p:txBody>
      </p:sp>
      <p:sp>
        <p:nvSpPr>
          <p:cNvPr id="16" name="TextBox 15"/>
          <p:cNvSpPr txBox="1"/>
          <p:nvPr/>
        </p:nvSpPr>
        <p:spPr bwMode="auto">
          <a:xfrm>
            <a:off x="3318904" y="5383000"/>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2</a:t>
            </a:r>
          </a:p>
        </p:txBody>
      </p:sp>
      <p:sp>
        <p:nvSpPr>
          <p:cNvPr id="19" name="TextBox 18"/>
          <p:cNvSpPr txBox="1"/>
          <p:nvPr/>
        </p:nvSpPr>
        <p:spPr bwMode="auto">
          <a:xfrm>
            <a:off x="6937197" y="5383000"/>
            <a:ext cx="1484702"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k</a:t>
            </a:r>
          </a:p>
        </p:txBody>
      </p:sp>
      <p:sp>
        <p:nvSpPr>
          <p:cNvPr id="63" name="Text Box 122"/>
          <p:cNvSpPr txBox="1">
            <a:spLocks noChangeArrowheads="1"/>
          </p:cNvSpPr>
          <p:nvPr/>
        </p:nvSpPr>
        <p:spPr bwMode="auto">
          <a:xfrm>
            <a:off x="1829903" y="2621846"/>
            <a:ext cx="5865708"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split points among </a:t>
            </a:r>
            <a:r>
              <a:rPr lang="en-US" sz="2800" i="1" dirty="0">
                <a:solidFill>
                  <a:schemeClr val="tx1"/>
                </a:solidFill>
                <a:latin typeface="Arial" pitchFamily="34" charset="0"/>
                <a:cs typeface="Arial" pitchFamily="34" charset="0"/>
              </a:rPr>
              <a:t>mapping</a:t>
            </a:r>
            <a:r>
              <a:rPr lang="en-US" sz="2800" dirty="0">
                <a:latin typeface="Arial" pitchFamily="34" charset="0"/>
                <a:cs typeface="Arial" pitchFamily="34" charset="0"/>
              </a:rPr>
              <a:t> threads</a:t>
            </a:r>
            <a:endParaRPr lang="en-US" sz="2800" dirty="0">
              <a:solidFill>
                <a:schemeClr val="tx1"/>
              </a:solidFill>
              <a:latin typeface="Arial" pitchFamily="34" charset="0"/>
              <a:cs typeface="Arial" pitchFamily="34" charset="0"/>
            </a:endParaRPr>
          </a:p>
        </p:txBody>
      </p:sp>
      <p:grpSp>
        <p:nvGrpSpPr>
          <p:cNvPr id="31" name="Group 30"/>
          <p:cNvGrpSpPr/>
          <p:nvPr/>
        </p:nvGrpSpPr>
        <p:grpSpPr>
          <a:xfrm>
            <a:off x="999866" y="3873024"/>
            <a:ext cx="1084880" cy="1509976"/>
            <a:chOff x="999866" y="3873024"/>
            <a:chExt cx="1084880" cy="1509976"/>
          </a:xfrm>
        </p:grpSpPr>
        <p:grpSp>
          <p:nvGrpSpPr>
            <p:cNvPr id="30" name="Group 29"/>
            <p:cNvGrpSpPr/>
            <p:nvPr/>
          </p:nvGrpSpPr>
          <p:grpSpPr>
            <a:xfrm>
              <a:off x="999866" y="3873024"/>
              <a:ext cx="1084880" cy="1509976"/>
              <a:chOff x="1627323" y="4534363"/>
              <a:chExt cx="1084880" cy="1509976"/>
            </a:xfrm>
          </p:grpSpPr>
          <p:cxnSp>
            <p:nvCxnSpPr>
              <p:cNvPr id="20" name="Straight Arrow Connector 19"/>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22" name="Straight Arrow Connector 21"/>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32" name="Group 71"/>
            <p:cNvGrpSpPr/>
            <p:nvPr/>
          </p:nvGrpSpPr>
          <p:grpSpPr>
            <a:xfrm flipV="1">
              <a:off x="1779103" y="4441702"/>
              <a:ext cx="180115" cy="153191"/>
              <a:chOff x="3276600" y="3007773"/>
              <a:chExt cx="307975" cy="261938"/>
            </a:xfrm>
            <a:solidFill>
              <a:schemeClr val="bg1">
                <a:lumMod val="65000"/>
              </a:schemeClr>
            </a:solidFill>
          </p:grpSpPr>
          <p:sp>
            <p:nvSpPr>
              <p:cNvPr id="3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3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35" name="Group 71"/>
            <p:cNvGrpSpPr/>
            <p:nvPr/>
          </p:nvGrpSpPr>
          <p:grpSpPr>
            <a:xfrm flipV="1">
              <a:off x="1552147" y="4813571"/>
              <a:ext cx="180115" cy="153191"/>
              <a:chOff x="3276600" y="3007773"/>
              <a:chExt cx="307975" cy="261938"/>
            </a:xfrm>
            <a:solidFill>
              <a:schemeClr val="bg1">
                <a:lumMod val="65000"/>
              </a:schemeClr>
            </a:solidFill>
          </p:grpSpPr>
          <p:sp>
            <p:nvSpPr>
              <p:cNvPr id="36"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37"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38" name="Group 71"/>
            <p:cNvGrpSpPr/>
            <p:nvPr/>
          </p:nvGrpSpPr>
          <p:grpSpPr>
            <a:xfrm flipV="1">
              <a:off x="1829903" y="5027503"/>
              <a:ext cx="180115" cy="153191"/>
              <a:chOff x="3276600" y="3007773"/>
              <a:chExt cx="307975" cy="261938"/>
            </a:xfrm>
            <a:solidFill>
              <a:schemeClr val="bg1">
                <a:lumMod val="65000"/>
              </a:schemeClr>
            </a:solidFill>
          </p:grpSpPr>
          <p:sp>
            <p:nvSpPr>
              <p:cNvPr id="39"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40"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41" name="Group 71"/>
            <p:cNvGrpSpPr/>
            <p:nvPr/>
          </p:nvGrpSpPr>
          <p:grpSpPr>
            <a:xfrm flipV="1">
              <a:off x="1257170" y="4288511"/>
              <a:ext cx="180115" cy="153191"/>
              <a:chOff x="3276600" y="3007773"/>
              <a:chExt cx="307975" cy="261938"/>
            </a:xfrm>
            <a:solidFill>
              <a:schemeClr val="bg1">
                <a:lumMod val="65000"/>
              </a:schemeClr>
            </a:solidFill>
          </p:grpSpPr>
          <p:sp>
            <p:nvSpPr>
              <p:cNvPr id="42"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43"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46" name="Group 45"/>
          <p:cNvGrpSpPr/>
          <p:nvPr/>
        </p:nvGrpSpPr>
        <p:grpSpPr>
          <a:xfrm>
            <a:off x="3529234" y="3873024"/>
            <a:ext cx="1084880" cy="1509976"/>
            <a:chOff x="1627323" y="4534363"/>
            <a:chExt cx="1084880" cy="1509976"/>
          </a:xfrm>
        </p:grpSpPr>
        <p:cxnSp>
          <p:nvCxnSpPr>
            <p:cNvPr id="59" name="Straight Arrow Connector 58"/>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60" name="Straight Arrow Connector 59"/>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61" name="Straight Arrow Connector 60"/>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47" name="Group 71"/>
          <p:cNvGrpSpPr/>
          <p:nvPr/>
        </p:nvGrpSpPr>
        <p:grpSpPr>
          <a:xfrm flipV="1">
            <a:off x="4120007" y="4229562"/>
            <a:ext cx="180115" cy="153191"/>
            <a:chOff x="3276600" y="3007773"/>
            <a:chExt cx="307975" cy="261938"/>
          </a:xfrm>
          <a:solidFill>
            <a:schemeClr val="bg1">
              <a:lumMod val="65000"/>
            </a:schemeClr>
          </a:solidFill>
        </p:grpSpPr>
        <p:sp>
          <p:nvSpPr>
            <p:cNvPr id="5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5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48" name="Group 71"/>
          <p:cNvGrpSpPr/>
          <p:nvPr/>
        </p:nvGrpSpPr>
        <p:grpSpPr>
          <a:xfrm flipV="1">
            <a:off x="4112153" y="5118256"/>
            <a:ext cx="180115" cy="153191"/>
            <a:chOff x="3276600" y="3007773"/>
            <a:chExt cx="307975" cy="261938"/>
          </a:xfrm>
          <a:solidFill>
            <a:schemeClr val="bg1">
              <a:lumMod val="65000"/>
            </a:schemeClr>
          </a:solidFill>
        </p:grpSpPr>
        <p:sp>
          <p:nvSpPr>
            <p:cNvPr id="55"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5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49" name="Group 71"/>
          <p:cNvGrpSpPr/>
          <p:nvPr/>
        </p:nvGrpSpPr>
        <p:grpSpPr>
          <a:xfrm flipV="1">
            <a:off x="4524056" y="4920177"/>
            <a:ext cx="180115" cy="153191"/>
            <a:chOff x="3276600" y="3007773"/>
            <a:chExt cx="307975" cy="261938"/>
          </a:xfrm>
          <a:solidFill>
            <a:schemeClr val="bg1">
              <a:lumMod val="65000"/>
            </a:schemeClr>
          </a:solidFill>
        </p:grpSpPr>
        <p:sp>
          <p:nvSpPr>
            <p:cNvPr id="5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5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50" name="Group 71"/>
          <p:cNvGrpSpPr/>
          <p:nvPr/>
        </p:nvGrpSpPr>
        <p:grpSpPr>
          <a:xfrm flipV="1">
            <a:off x="3817176" y="4704337"/>
            <a:ext cx="180115" cy="153191"/>
            <a:chOff x="3276600" y="3007773"/>
            <a:chExt cx="307975" cy="261938"/>
          </a:xfrm>
          <a:solidFill>
            <a:schemeClr val="bg1">
              <a:lumMod val="65000"/>
            </a:schemeClr>
          </a:solidFill>
        </p:grpSpPr>
        <p:sp>
          <p:nvSpPr>
            <p:cNvPr id="5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5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64" name="Group 63"/>
          <p:cNvGrpSpPr/>
          <p:nvPr/>
        </p:nvGrpSpPr>
        <p:grpSpPr>
          <a:xfrm>
            <a:off x="7148287" y="3873024"/>
            <a:ext cx="1084880" cy="1509976"/>
            <a:chOff x="1627323" y="4534363"/>
            <a:chExt cx="1084880" cy="1509976"/>
          </a:xfrm>
        </p:grpSpPr>
        <p:cxnSp>
          <p:nvCxnSpPr>
            <p:cNvPr id="77" name="Straight Arrow Connector 76"/>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78" name="Straight Arrow Connector 77"/>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79" name="Straight Arrow Connector 78"/>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65" name="Group 71"/>
          <p:cNvGrpSpPr/>
          <p:nvPr/>
        </p:nvGrpSpPr>
        <p:grpSpPr>
          <a:xfrm flipV="1">
            <a:off x="7927524" y="4441702"/>
            <a:ext cx="180115" cy="153191"/>
            <a:chOff x="3276600" y="3007773"/>
            <a:chExt cx="307975" cy="261938"/>
          </a:xfrm>
          <a:solidFill>
            <a:schemeClr val="bg1">
              <a:lumMod val="65000"/>
            </a:schemeClr>
          </a:solidFill>
        </p:grpSpPr>
        <p:sp>
          <p:nvSpPr>
            <p:cNvPr id="75"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7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66" name="Group 71"/>
          <p:cNvGrpSpPr/>
          <p:nvPr/>
        </p:nvGrpSpPr>
        <p:grpSpPr>
          <a:xfrm flipV="1">
            <a:off x="7700568" y="4582274"/>
            <a:ext cx="180115" cy="153191"/>
            <a:chOff x="3276600" y="3007773"/>
            <a:chExt cx="307975" cy="261938"/>
          </a:xfrm>
          <a:solidFill>
            <a:schemeClr val="bg1">
              <a:lumMod val="65000"/>
            </a:schemeClr>
          </a:solidFill>
        </p:grpSpPr>
        <p:sp>
          <p:nvSpPr>
            <p:cNvPr id="7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7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67" name="Group 71"/>
          <p:cNvGrpSpPr/>
          <p:nvPr/>
        </p:nvGrpSpPr>
        <p:grpSpPr>
          <a:xfrm flipV="1">
            <a:off x="8099020" y="5027503"/>
            <a:ext cx="180115" cy="153191"/>
            <a:chOff x="3276600" y="3007773"/>
            <a:chExt cx="307975" cy="261938"/>
          </a:xfrm>
          <a:solidFill>
            <a:schemeClr val="bg1">
              <a:lumMod val="65000"/>
            </a:schemeClr>
          </a:solidFill>
        </p:grpSpPr>
        <p:sp>
          <p:nvSpPr>
            <p:cNvPr id="7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7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68" name="Group 71"/>
          <p:cNvGrpSpPr/>
          <p:nvPr/>
        </p:nvGrpSpPr>
        <p:grpSpPr>
          <a:xfrm flipV="1">
            <a:off x="7309644" y="4736975"/>
            <a:ext cx="180115" cy="153191"/>
            <a:chOff x="3276600" y="3007773"/>
            <a:chExt cx="307975" cy="261938"/>
          </a:xfrm>
          <a:solidFill>
            <a:schemeClr val="bg1">
              <a:lumMod val="65000"/>
            </a:schemeClr>
          </a:solidFill>
        </p:grpSpPr>
        <p:sp>
          <p:nvSpPr>
            <p:cNvPr id="69"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70"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80" name="Group 13"/>
          <p:cNvGrpSpPr>
            <a:grpSpLocks/>
          </p:cNvGrpSpPr>
          <p:nvPr/>
        </p:nvGrpSpPr>
        <p:grpSpPr bwMode="auto">
          <a:xfrm flipH="1">
            <a:off x="1842897" y="3614303"/>
            <a:ext cx="788987" cy="704850"/>
            <a:chOff x="864" y="1968"/>
            <a:chExt cx="912" cy="816"/>
          </a:xfrm>
        </p:grpSpPr>
        <p:sp>
          <p:nvSpPr>
            <p:cNvPr id="81"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2"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3"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4"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5"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86"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87"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88"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9"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0"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1"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92" name="Group 13"/>
          <p:cNvGrpSpPr>
            <a:grpSpLocks/>
          </p:cNvGrpSpPr>
          <p:nvPr/>
        </p:nvGrpSpPr>
        <p:grpSpPr bwMode="auto">
          <a:xfrm flipH="1">
            <a:off x="7850731" y="3614303"/>
            <a:ext cx="788987" cy="704850"/>
            <a:chOff x="864" y="1968"/>
            <a:chExt cx="912" cy="816"/>
          </a:xfrm>
        </p:grpSpPr>
        <p:sp>
          <p:nvSpPr>
            <p:cNvPr id="9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6"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9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00"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01"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02"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03"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grpSp>
      <p:grpSp>
        <p:nvGrpSpPr>
          <p:cNvPr id="104" name="Group 13"/>
          <p:cNvGrpSpPr>
            <a:grpSpLocks/>
          </p:cNvGrpSpPr>
          <p:nvPr/>
        </p:nvGrpSpPr>
        <p:grpSpPr bwMode="auto">
          <a:xfrm flipH="1">
            <a:off x="3758744" y="3614303"/>
            <a:ext cx="788987" cy="704850"/>
            <a:chOff x="864" y="1968"/>
            <a:chExt cx="912" cy="816"/>
          </a:xfrm>
        </p:grpSpPr>
        <p:sp>
          <p:nvSpPr>
            <p:cNvPr id="105"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6"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8"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1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1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12"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3"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4"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15"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54979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40</a:t>
            </a:fld>
            <a:endParaRPr lang="en-US"/>
          </a:p>
        </p:txBody>
      </p:sp>
      <p:cxnSp>
        <p:nvCxnSpPr>
          <p:cNvPr id="6" name="Straight Arrow Connector 5"/>
          <p:cNvCxnSpPr/>
          <p:nvPr/>
        </p:nvCxnSpPr>
        <p:spPr bwMode="auto">
          <a:xfrm>
            <a:off x="1627323" y="5997844"/>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7" name="Straight Arrow Connector 6"/>
          <p:cNvCxnSpPr/>
          <p:nvPr/>
        </p:nvCxnSpPr>
        <p:spPr bwMode="auto">
          <a:xfrm rot="16200000">
            <a:off x="-1022887" y="3394129"/>
            <a:ext cx="5300420" cy="0"/>
          </a:xfrm>
          <a:prstGeom prst="straightConnector1">
            <a:avLst/>
          </a:prstGeom>
          <a:noFill/>
          <a:ln w="38100" cap="flat" cmpd="sng" algn="ctr">
            <a:solidFill>
              <a:schemeClr val="tx1"/>
            </a:solidFill>
            <a:prstDash val="solid"/>
            <a:round/>
            <a:headEnd type="none" w="med" len="med"/>
            <a:tailEnd type="arrow"/>
          </a:ln>
          <a:effectLst/>
        </p:spPr>
      </p:cxnSp>
      <p:cxnSp>
        <p:nvCxnSpPr>
          <p:cNvPr id="10" name="Straight Arrow Connector 9"/>
          <p:cNvCxnSpPr/>
          <p:nvPr/>
        </p:nvCxnSpPr>
        <p:spPr bwMode="auto">
          <a:xfrm flipV="1">
            <a:off x="1627324" y="3347634"/>
            <a:ext cx="4202623" cy="2650210"/>
          </a:xfrm>
          <a:prstGeom prst="straightConnector1">
            <a:avLst/>
          </a:prstGeom>
          <a:noFill/>
          <a:ln w="38100" cap="flat" cmpd="sng" algn="ctr">
            <a:solidFill>
              <a:schemeClr val="tx1"/>
            </a:solidFill>
            <a:prstDash val="solid"/>
            <a:round/>
            <a:headEnd type="none" w="med" len="med"/>
            <a:tailEnd type="arrow"/>
          </a:ln>
          <a:effectLst/>
        </p:spPr>
      </p:cxnSp>
      <p:sp>
        <p:nvSpPr>
          <p:cNvPr id="16" name="Oval 41"/>
          <p:cNvSpPr>
            <a:spLocks noChangeArrowheads="1"/>
          </p:cNvSpPr>
          <p:nvPr/>
        </p:nvSpPr>
        <p:spPr bwMode="auto">
          <a:xfrm>
            <a:off x="4489075" y="4198128"/>
            <a:ext cx="42863" cy="85725"/>
          </a:xfrm>
          <a:prstGeom prst="ellipse">
            <a:avLst/>
          </a:prstGeom>
          <a:solidFill>
            <a:schemeClr val="bg1"/>
          </a:solidFill>
          <a:ln w="3175">
            <a:solidFill>
              <a:schemeClr val="tx1"/>
            </a:solidFill>
            <a:round/>
            <a:headEnd/>
            <a:tailEnd/>
          </a:ln>
          <a:effectLst/>
        </p:spPr>
        <p:txBody>
          <a:bodyPr wrap="none" anchor="ctr"/>
          <a:lstStyle/>
          <a:p>
            <a:endParaRPr lang="en-US"/>
          </a:p>
        </p:txBody>
      </p:sp>
      <p:grpSp>
        <p:nvGrpSpPr>
          <p:cNvPr id="26" name="Group 71"/>
          <p:cNvGrpSpPr/>
          <p:nvPr/>
        </p:nvGrpSpPr>
        <p:grpSpPr>
          <a:xfrm>
            <a:off x="3404813" y="3040586"/>
            <a:ext cx="307975" cy="261938"/>
            <a:chOff x="3276600" y="3007773"/>
            <a:chExt cx="307975" cy="261938"/>
          </a:xfrm>
          <a:solidFill>
            <a:schemeClr val="bg1">
              <a:lumMod val="65000"/>
            </a:schemeClr>
          </a:solidFill>
        </p:grpSpPr>
        <p:sp>
          <p:nvSpPr>
            <p:cNvPr id="3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31"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3" name="Group 71"/>
          <p:cNvGrpSpPr/>
          <p:nvPr/>
        </p:nvGrpSpPr>
        <p:grpSpPr>
          <a:xfrm>
            <a:off x="3177857" y="3412455"/>
            <a:ext cx="307975" cy="261938"/>
            <a:chOff x="3276600" y="3007773"/>
            <a:chExt cx="307975" cy="261938"/>
          </a:xfrm>
          <a:solidFill>
            <a:schemeClr val="bg1">
              <a:lumMod val="65000"/>
            </a:schemeClr>
          </a:solidFill>
        </p:grpSpPr>
        <p:sp>
          <p:nvSpPr>
            <p:cNvPr id="1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7" name="Group 71"/>
          <p:cNvGrpSpPr/>
          <p:nvPr/>
        </p:nvGrpSpPr>
        <p:grpSpPr>
          <a:xfrm>
            <a:off x="3455613" y="3626387"/>
            <a:ext cx="307975" cy="261938"/>
            <a:chOff x="3276600" y="3007773"/>
            <a:chExt cx="307975" cy="261938"/>
          </a:xfrm>
          <a:solidFill>
            <a:srgbClr val="00B050"/>
          </a:solidFill>
        </p:grpSpPr>
        <p:sp>
          <p:nvSpPr>
            <p:cNvPr id="18"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9"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0" name="Group 71"/>
          <p:cNvGrpSpPr/>
          <p:nvPr/>
        </p:nvGrpSpPr>
        <p:grpSpPr>
          <a:xfrm>
            <a:off x="2882880" y="2887395"/>
            <a:ext cx="307975" cy="261938"/>
            <a:chOff x="3276600" y="3007773"/>
            <a:chExt cx="307975" cy="261938"/>
          </a:xfrm>
          <a:solidFill>
            <a:srgbClr val="FF0000"/>
          </a:solidFill>
        </p:grpSpPr>
        <p:sp>
          <p:nvSpPr>
            <p:cNvPr id="2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2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23" name="Group 69"/>
          <p:cNvGrpSpPr/>
          <p:nvPr/>
        </p:nvGrpSpPr>
        <p:grpSpPr>
          <a:xfrm>
            <a:off x="6221788" y="3780379"/>
            <a:ext cx="290513" cy="249237"/>
            <a:chOff x="3897312" y="2438400"/>
            <a:chExt cx="290513" cy="249237"/>
          </a:xfrm>
          <a:solidFill>
            <a:schemeClr val="bg1">
              <a:lumMod val="65000"/>
            </a:schemeClr>
          </a:solidFill>
        </p:grpSpPr>
        <p:sp>
          <p:nvSpPr>
            <p:cNvPr id="2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27" name="Group 69"/>
          <p:cNvGrpSpPr/>
          <p:nvPr/>
        </p:nvGrpSpPr>
        <p:grpSpPr>
          <a:xfrm>
            <a:off x="6374188" y="3932779"/>
            <a:ext cx="290513" cy="249237"/>
            <a:chOff x="3897312" y="2438400"/>
            <a:chExt cx="290513" cy="249237"/>
          </a:xfrm>
          <a:solidFill>
            <a:schemeClr val="bg1">
              <a:lumMod val="65000"/>
            </a:schemeClr>
          </a:solidFill>
        </p:grpSpPr>
        <p:sp>
          <p:nvSpPr>
            <p:cNvPr id="28"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29"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3" name="Group 69"/>
          <p:cNvGrpSpPr/>
          <p:nvPr/>
        </p:nvGrpSpPr>
        <p:grpSpPr>
          <a:xfrm>
            <a:off x="6159726" y="4106610"/>
            <a:ext cx="290513" cy="249237"/>
            <a:chOff x="3897312" y="2438400"/>
            <a:chExt cx="290513" cy="249237"/>
          </a:xfrm>
          <a:solidFill>
            <a:schemeClr val="bg1">
              <a:lumMod val="65000"/>
            </a:schemeClr>
          </a:solidFill>
        </p:grpSpPr>
        <p:sp>
          <p:nvSpPr>
            <p:cNvPr id="34"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5"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6" name="Group 69"/>
          <p:cNvGrpSpPr/>
          <p:nvPr/>
        </p:nvGrpSpPr>
        <p:grpSpPr>
          <a:xfrm>
            <a:off x="5884397" y="3911347"/>
            <a:ext cx="290513" cy="249237"/>
            <a:chOff x="3897312" y="2438400"/>
            <a:chExt cx="290513" cy="249237"/>
          </a:xfrm>
          <a:solidFill>
            <a:schemeClr val="bg1">
              <a:lumMod val="65000"/>
            </a:schemeClr>
          </a:solidFill>
        </p:grpSpPr>
        <p:sp>
          <p:nvSpPr>
            <p:cNvPr id="37"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38"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39" name="Group 69"/>
          <p:cNvGrpSpPr/>
          <p:nvPr/>
        </p:nvGrpSpPr>
        <p:grpSpPr>
          <a:xfrm>
            <a:off x="5609068" y="3716084"/>
            <a:ext cx="290513" cy="249237"/>
            <a:chOff x="3897312" y="2438400"/>
            <a:chExt cx="290513" cy="249237"/>
          </a:xfrm>
          <a:solidFill>
            <a:schemeClr val="bg1">
              <a:lumMod val="65000"/>
            </a:schemeClr>
          </a:solidFill>
        </p:grpSpPr>
        <p:sp>
          <p:nvSpPr>
            <p:cNvPr id="40"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1"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2" name="Group 69"/>
          <p:cNvGrpSpPr/>
          <p:nvPr/>
        </p:nvGrpSpPr>
        <p:grpSpPr>
          <a:xfrm>
            <a:off x="5462493" y="4261650"/>
            <a:ext cx="290513" cy="249237"/>
            <a:chOff x="3897312" y="2438400"/>
            <a:chExt cx="290513" cy="249237"/>
          </a:xfrm>
          <a:solidFill>
            <a:schemeClr val="bg1">
              <a:lumMod val="65000"/>
            </a:schemeClr>
          </a:solidFill>
        </p:grpSpPr>
        <p:sp>
          <p:nvSpPr>
            <p:cNvPr id="43"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4"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grpSp>
        <p:nvGrpSpPr>
          <p:cNvPr id="45" name="Group 69"/>
          <p:cNvGrpSpPr/>
          <p:nvPr/>
        </p:nvGrpSpPr>
        <p:grpSpPr>
          <a:xfrm>
            <a:off x="5702166" y="4427508"/>
            <a:ext cx="290513" cy="249237"/>
            <a:chOff x="3897312" y="2438400"/>
            <a:chExt cx="290513" cy="249237"/>
          </a:xfrm>
          <a:solidFill>
            <a:schemeClr val="bg1">
              <a:lumMod val="65000"/>
            </a:schemeClr>
          </a:solidFill>
        </p:grpSpPr>
        <p:sp>
          <p:nvSpPr>
            <p:cNvPr id="46" name="Oval 40"/>
            <p:cNvSpPr>
              <a:spLocks noChangeArrowheads="1"/>
            </p:cNvSpPr>
            <p:nvPr/>
          </p:nvSpPr>
          <p:spPr bwMode="auto">
            <a:xfrm>
              <a:off x="3897312" y="2438400"/>
              <a:ext cx="290513" cy="249237"/>
            </a:xfrm>
            <a:prstGeom prst="ellipse">
              <a:avLst/>
            </a:prstGeom>
            <a:grpFill/>
            <a:ln w="38100">
              <a:solidFill>
                <a:schemeClr val="tx1"/>
              </a:solidFill>
              <a:round/>
              <a:headEnd/>
              <a:tailEnd/>
            </a:ln>
            <a:effectLst/>
          </p:spPr>
          <p:txBody>
            <a:bodyPr wrap="none" anchor="ctr"/>
            <a:lstStyle/>
            <a:p>
              <a:endParaRPr lang="en-US"/>
            </a:p>
          </p:txBody>
        </p:sp>
        <p:sp>
          <p:nvSpPr>
            <p:cNvPr id="47" name="Oval 41"/>
            <p:cNvSpPr>
              <a:spLocks noChangeArrowheads="1"/>
            </p:cNvSpPr>
            <p:nvPr/>
          </p:nvSpPr>
          <p:spPr bwMode="auto">
            <a:xfrm>
              <a:off x="4090987" y="2498725"/>
              <a:ext cx="42863" cy="85725"/>
            </a:xfrm>
            <a:prstGeom prst="ellipse">
              <a:avLst/>
            </a:prstGeom>
            <a:grpFill/>
            <a:ln w="3175">
              <a:solidFill>
                <a:schemeClr val="tx1"/>
              </a:solidFill>
              <a:round/>
              <a:headEnd/>
              <a:tailEnd/>
            </a:ln>
            <a:effectLst/>
          </p:spPr>
          <p:txBody>
            <a:bodyPr wrap="none" anchor="ctr"/>
            <a:lstStyle/>
            <a:p>
              <a:endParaRPr lang="en-US"/>
            </a:p>
          </p:txBody>
        </p:sp>
      </p:grpSp>
      <p:sp>
        <p:nvSpPr>
          <p:cNvPr id="48" name="Oval 50"/>
          <p:cNvSpPr>
            <a:spLocks noChangeArrowheads="1"/>
          </p:cNvSpPr>
          <p:nvPr/>
        </p:nvSpPr>
        <p:spPr bwMode="auto">
          <a:xfrm>
            <a:off x="3552450" y="4440036"/>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49" name="Oval 50"/>
          <p:cNvSpPr>
            <a:spLocks noChangeArrowheads="1"/>
          </p:cNvSpPr>
          <p:nvPr/>
        </p:nvSpPr>
        <p:spPr bwMode="auto">
          <a:xfrm>
            <a:off x="3230244" y="5094879"/>
            <a:ext cx="307975" cy="261937"/>
          </a:xfrm>
          <a:prstGeom prst="ellipse">
            <a:avLst/>
          </a:prstGeom>
          <a:solidFill>
            <a:srgbClr val="0000FF"/>
          </a:solidFill>
          <a:ln w="38100">
            <a:solidFill>
              <a:schemeClr val="tx1"/>
            </a:solidFill>
            <a:round/>
            <a:headEnd/>
            <a:tailEnd/>
          </a:ln>
          <a:effectLst/>
        </p:spPr>
        <p:txBody>
          <a:bodyPr wrap="none" anchor="ctr"/>
          <a:lstStyle/>
          <a:p>
            <a:endParaRPr lang="en-US"/>
          </a:p>
        </p:txBody>
      </p:sp>
      <p:sp>
        <p:nvSpPr>
          <p:cNvPr id="50" name="Oval 50"/>
          <p:cNvSpPr>
            <a:spLocks noChangeArrowheads="1"/>
          </p:cNvSpPr>
          <p:nvPr/>
        </p:nvSpPr>
        <p:spPr bwMode="auto">
          <a:xfrm>
            <a:off x="3138668" y="4701974"/>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1" name="Oval 50"/>
          <p:cNvSpPr>
            <a:spLocks noChangeArrowheads="1"/>
          </p:cNvSpPr>
          <p:nvPr/>
        </p:nvSpPr>
        <p:spPr bwMode="auto">
          <a:xfrm>
            <a:off x="2529743" y="4440037"/>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2" name="Oval 50"/>
          <p:cNvSpPr>
            <a:spLocks noChangeArrowheads="1"/>
          </p:cNvSpPr>
          <p:nvPr/>
        </p:nvSpPr>
        <p:spPr bwMode="auto">
          <a:xfrm>
            <a:off x="2683730" y="4963910"/>
            <a:ext cx="307975" cy="261937"/>
          </a:xfrm>
          <a:prstGeom prst="ellipse">
            <a:avLst/>
          </a:prstGeom>
          <a:solidFill>
            <a:schemeClr val="bg1">
              <a:lumMod val="65000"/>
            </a:schemeClr>
          </a:solidFill>
          <a:ln w="38100">
            <a:solidFill>
              <a:schemeClr val="tx1"/>
            </a:solidFill>
            <a:round/>
            <a:headEnd/>
            <a:tailEnd/>
          </a:ln>
          <a:effectLst/>
        </p:spPr>
        <p:txBody>
          <a:bodyPr wrap="none" anchor="ctr"/>
          <a:lstStyle/>
          <a:p>
            <a:endParaRPr lang="en-US"/>
          </a:p>
        </p:txBody>
      </p:sp>
      <p:sp>
        <p:nvSpPr>
          <p:cNvPr id="56" name="Text Box 122"/>
          <p:cNvSpPr txBox="1">
            <a:spLocks noChangeArrowheads="1"/>
          </p:cNvSpPr>
          <p:nvPr/>
        </p:nvSpPr>
        <p:spPr bwMode="auto">
          <a:xfrm>
            <a:off x="1829773" y="1715531"/>
            <a:ext cx="5982728"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Reducer picks </a:t>
            </a:r>
            <a:r>
              <a:rPr lang="en-US" sz="2800" i="1" dirty="0">
                <a:solidFill>
                  <a:schemeClr val="tx1"/>
                </a:solidFill>
                <a:latin typeface="Arial" pitchFamily="34" charset="0"/>
                <a:cs typeface="Arial" pitchFamily="34" charset="0"/>
              </a:rPr>
              <a:t>k</a:t>
            </a:r>
            <a:r>
              <a:rPr lang="en-US" sz="2800" dirty="0">
                <a:latin typeface="Arial" pitchFamily="34" charset="0"/>
                <a:cs typeface="Arial" pitchFamily="34" charset="0"/>
              </a:rPr>
              <a:t> “centers” at random</a:t>
            </a:r>
            <a:endParaRPr lang="en-US" sz="2800" dirty="0">
              <a:solidFill>
                <a:schemeClr val="tx1"/>
              </a:solidFill>
              <a:latin typeface="Arial" pitchFamily="34" charset="0"/>
              <a:cs typeface="Arial" pitchFamily="34" charset="0"/>
            </a:endParaRPr>
          </a:p>
        </p:txBody>
      </p:sp>
      <p:grpSp>
        <p:nvGrpSpPr>
          <p:cNvPr id="53" name="Group 13"/>
          <p:cNvGrpSpPr>
            <a:grpSpLocks/>
          </p:cNvGrpSpPr>
          <p:nvPr/>
        </p:nvGrpSpPr>
        <p:grpSpPr bwMode="auto">
          <a:xfrm flipH="1">
            <a:off x="6686339" y="2305728"/>
            <a:ext cx="1218322" cy="1088401"/>
            <a:chOff x="864" y="1968"/>
            <a:chExt cx="912" cy="816"/>
          </a:xfrm>
        </p:grpSpPr>
        <p:sp>
          <p:nvSpPr>
            <p:cNvPr id="54"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5"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7"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8"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59"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60"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61"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62"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3"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4"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5"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Tree>
    <p:extLst>
      <p:ext uri="{BB962C8B-B14F-4D97-AF65-F5344CB8AC3E}">
        <p14:creationId xmlns:p14="http://schemas.microsoft.com/office/powerpoint/2010/main" val="237651844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Phase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41</a:t>
            </a:fld>
            <a:endParaRPr lang="en-US"/>
          </a:p>
        </p:txBody>
      </p:sp>
      <p:sp>
        <p:nvSpPr>
          <p:cNvPr id="131" name="Rounded Rectangular Callout 130"/>
          <p:cNvSpPr/>
          <p:nvPr/>
        </p:nvSpPr>
        <p:spPr>
          <a:xfrm>
            <a:off x="5289601" y="1425024"/>
            <a:ext cx="1736255" cy="1532334"/>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sz="2800" dirty="0">
                <a:solidFill>
                  <a:schemeClr val="tx1"/>
                </a:solidFill>
                <a:latin typeface="Arial" pitchFamily="34" charset="0"/>
                <a:cs typeface="Arial" pitchFamily="34" charset="0"/>
              </a:rPr>
              <a:t>0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0</a:t>
            </a:r>
          </a:p>
          <a:p>
            <a:pPr algn="ctr"/>
            <a:r>
              <a:rPr lang="en-US" sz="2800" dirty="0">
                <a:solidFill>
                  <a:schemeClr val="tx1"/>
                </a:solidFill>
                <a:latin typeface="Arial" pitchFamily="34" charset="0"/>
                <a:cs typeface="Arial" pitchFamily="34" charset="0"/>
              </a:rPr>
              <a:t>1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1</a:t>
            </a:r>
            <a:endParaRPr lang="en-US" sz="2800" baseline="-25000" dirty="0">
              <a:solidFill>
                <a:schemeClr val="tx1"/>
              </a:solidFill>
              <a:latin typeface="Arial"/>
              <a:cs typeface="Arial" pitchFamily="34" charset="0"/>
            </a:endParaRPr>
          </a:p>
          <a:p>
            <a:pPr algn="ctr"/>
            <a:r>
              <a:rPr lang="en-US" sz="2800" dirty="0">
                <a:solidFill>
                  <a:schemeClr val="tx1"/>
                </a:solidFill>
                <a:latin typeface="Arial" pitchFamily="34" charset="0"/>
                <a:cs typeface="Arial" pitchFamily="34" charset="0"/>
              </a:rPr>
              <a:t>2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2</a:t>
            </a:r>
            <a:endParaRPr lang="en-US" sz="2800" dirty="0">
              <a:solidFill>
                <a:schemeClr val="tx1"/>
              </a:solidFill>
              <a:latin typeface="Arial" pitchFamily="34" charset="0"/>
              <a:cs typeface="Arial" pitchFamily="34" charset="0"/>
            </a:endParaRPr>
          </a:p>
        </p:txBody>
      </p:sp>
      <p:grpSp>
        <p:nvGrpSpPr>
          <p:cNvPr id="67" name="Group 13"/>
          <p:cNvGrpSpPr>
            <a:grpSpLocks/>
          </p:cNvGrpSpPr>
          <p:nvPr/>
        </p:nvGrpSpPr>
        <p:grpSpPr bwMode="auto">
          <a:xfrm flipH="1">
            <a:off x="3432177" y="2017621"/>
            <a:ext cx="1218322" cy="1088401"/>
            <a:chOff x="864" y="1968"/>
            <a:chExt cx="912" cy="816"/>
          </a:xfrm>
        </p:grpSpPr>
        <p:sp>
          <p:nvSpPr>
            <p:cNvPr id="6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83" name="TextBox 82"/>
          <p:cNvSpPr txBox="1"/>
          <p:nvPr/>
        </p:nvSpPr>
        <p:spPr bwMode="auto">
          <a:xfrm>
            <a:off x="5647424" y="5278267"/>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sp>
        <p:nvSpPr>
          <p:cNvPr id="84" name="TextBox 83"/>
          <p:cNvSpPr txBox="1"/>
          <p:nvPr/>
        </p:nvSpPr>
        <p:spPr bwMode="auto">
          <a:xfrm>
            <a:off x="789536" y="6126904"/>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1</a:t>
            </a:r>
          </a:p>
        </p:txBody>
      </p:sp>
      <p:sp>
        <p:nvSpPr>
          <p:cNvPr id="85" name="TextBox 84"/>
          <p:cNvSpPr txBox="1"/>
          <p:nvPr/>
        </p:nvSpPr>
        <p:spPr bwMode="auto">
          <a:xfrm>
            <a:off x="3318904" y="6126904"/>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2</a:t>
            </a:r>
          </a:p>
        </p:txBody>
      </p:sp>
      <p:sp>
        <p:nvSpPr>
          <p:cNvPr id="86" name="TextBox 85"/>
          <p:cNvSpPr txBox="1"/>
          <p:nvPr/>
        </p:nvSpPr>
        <p:spPr bwMode="auto">
          <a:xfrm>
            <a:off x="6937197" y="6126904"/>
            <a:ext cx="1484702"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k</a:t>
            </a:r>
          </a:p>
        </p:txBody>
      </p:sp>
      <p:grpSp>
        <p:nvGrpSpPr>
          <p:cNvPr id="87" name="Group 86"/>
          <p:cNvGrpSpPr/>
          <p:nvPr/>
        </p:nvGrpSpPr>
        <p:grpSpPr>
          <a:xfrm>
            <a:off x="999866" y="4616928"/>
            <a:ext cx="1084880" cy="1509976"/>
            <a:chOff x="999866" y="3873024"/>
            <a:chExt cx="1084880" cy="1509976"/>
          </a:xfrm>
        </p:grpSpPr>
        <p:grpSp>
          <p:nvGrpSpPr>
            <p:cNvPr id="88" name="Group 87"/>
            <p:cNvGrpSpPr/>
            <p:nvPr/>
          </p:nvGrpSpPr>
          <p:grpSpPr>
            <a:xfrm>
              <a:off x="999866" y="3873024"/>
              <a:ext cx="1084880" cy="1509976"/>
              <a:chOff x="1627323" y="4534363"/>
              <a:chExt cx="1084880" cy="1509976"/>
            </a:xfrm>
          </p:grpSpPr>
          <p:cxnSp>
            <p:nvCxnSpPr>
              <p:cNvPr id="101" name="Straight Arrow Connector 100"/>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02" name="Straight Arrow Connector 101"/>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15" name="Straight Arrow Connector 114"/>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89" name="Group 71"/>
            <p:cNvGrpSpPr/>
            <p:nvPr/>
          </p:nvGrpSpPr>
          <p:grpSpPr>
            <a:xfrm flipV="1">
              <a:off x="1779103" y="4441702"/>
              <a:ext cx="180115" cy="153191"/>
              <a:chOff x="3276600" y="3007773"/>
              <a:chExt cx="307975" cy="261938"/>
            </a:xfrm>
            <a:solidFill>
              <a:schemeClr val="bg1">
                <a:lumMod val="65000"/>
              </a:schemeClr>
            </a:solidFill>
          </p:grpSpPr>
          <p:sp>
            <p:nvSpPr>
              <p:cNvPr id="99"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00"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0" name="Group 71"/>
            <p:cNvGrpSpPr/>
            <p:nvPr/>
          </p:nvGrpSpPr>
          <p:grpSpPr>
            <a:xfrm flipV="1">
              <a:off x="1552147" y="4813571"/>
              <a:ext cx="180115" cy="153191"/>
              <a:chOff x="3276600" y="3007773"/>
              <a:chExt cx="307975" cy="261938"/>
            </a:xfrm>
            <a:solidFill>
              <a:schemeClr val="bg1">
                <a:lumMod val="65000"/>
              </a:schemeClr>
            </a:solidFill>
          </p:grpSpPr>
          <p:sp>
            <p:nvSpPr>
              <p:cNvPr id="9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1" name="Group 71"/>
            <p:cNvGrpSpPr/>
            <p:nvPr/>
          </p:nvGrpSpPr>
          <p:grpSpPr>
            <a:xfrm flipV="1">
              <a:off x="1829903" y="5027503"/>
              <a:ext cx="180115" cy="153191"/>
              <a:chOff x="3276600" y="3007773"/>
              <a:chExt cx="307975" cy="261938"/>
            </a:xfrm>
            <a:solidFill>
              <a:schemeClr val="bg1">
                <a:lumMod val="65000"/>
              </a:schemeClr>
            </a:solidFill>
          </p:grpSpPr>
          <p:sp>
            <p:nvSpPr>
              <p:cNvPr id="95"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2" name="Group 71"/>
            <p:cNvGrpSpPr/>
            <p:nvPr/>
          </p:nvGrpSpPr>
          <p:grpSpPr>
            <a:xfrm flipV="1">
              <a:off x="1257170" y="4288511"/>
              <a:ext cx="180115" cy="153191"/>
              <a:chOff x="3276600" y="3007773"/>
              <a:chExt cx="307975" cy="261938"/>
            </a:xfrm>
            <a:solidFill>
              <a:schemeClr val="bg1">
                <a:lumMod val="65000"/>
              </a:schemeClr>
            </a:solidFill>
          </p:grpSpPr>
          <p:sp>
            <p:nvSpPr>
              <p:cNvPr id="9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116" name="Group 115"/>
          <p:cNvGrpSpPr/>
          <p:nvPr/>
        </p:nvGrpSpPr>
        <p:grpSpPr>
          <a:xfrm>
            <a:off x="3529234" y="4616928"/>
            <a:ext cx="1084880" cy="1509976"/>
            <a:chOff x="1627323" y="4534363"/>
            <a:chExt cx="1084880" cy="1509976"/>
          </a:xfrm>
        </p:grpSpPr>
        <p:cxnSp>
          <p:nvCxnSpPr>
            <p:cNvPr id="117" name="Straight Arrow Connector 116"/>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18" name="Straight Arrow Connector 117"/>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19" name="Straight Arrow Connector 118"/>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120" name="Group 71"/>
          <p:cNvGrpSpPr/>
          <p:nvPr/>
        </p:nvGrpSpPr>
        <p:grpSpPr>
          <a:xfrm flipV="1">
            <a:off x="4120007" y="4973466"/>
            <a:ext cx="180115" cy="153191"/>
            <a:chOff x="3276600" y="3007773"/>
            <a:chExt cx="307975" cy="261938"/>
          </a:xfrm>
          <a:solidFill>
            <a:schemeClr val="bg1">
              <a:lumMod val="65000"/>
            </a:schemeClr>
          </a:solidFill>
        </p:grpSpPr>
        <p:sp>
          <p:nvSpPr>
            <p:cNvPr id="12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3" name="Group 71"/>
          <p:cNvGrpSpPr/>
          <p:nvPr/>
        </p:nvGrpSpPr>
        <p:grpSpPr>
          <a:xfrm flipV="1">
            <a:off x="4112153" y="5862160"/>
            <a:ext cx="180115" cy="153191"/>
            <a:chOff x="3276600" y="3007773"/>
            <a:chExt cx="307975" cy="261938"/>
          </a:xfrm>
          <a:solidFill>
            <a:schemeClr val="bg1">
              <a:lumMod val="65000"/>
            </a:schemeClr>
          </a:solidFill>
        </p:grpSpPr>
        <p:sp>
          <p:nvSpPr>
            <p:cNvPr id="12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6" name="Group 71"/>
          <p:cNvGrpSpPr/>
          <p:nvPr/>
        </p:nvGrpSpPr>
        <p:grpSpPr>
          <a:xfrm flipV="1">
            <a:off x="4524056" y="5664081"/>
            <a:ext cx="180115" cy="153191"/>
            <a:chOff x="3276600" y="3007773"/>
            <a:chExt cx="307975" cy="261938"/>
          </a:xfrm>
          <a:solidFill>
            <a:schemeClr val="bg1">
              <a:lumMod val="65000"/>
            </a:schemeClr>
          </a:solidFill>
        </p:grpSpPr>
        <p:sp>
          <p:nvSpPr>
            <p:cNvPr id="12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9" name="Group 71"/>
          <p:cNvGrpSpPr/>
          <p:nvPr/>
        </p:nvGrpSpPr>
        <p:grpSpPr>
          <a:xfrm flipV="1">
            <a:off x="3817176" y="5448241"/>
            <a:ext cx="180115" cy="153191"/>
            <a:chOff x="3276600" y="3007773"/>
            <a:chExt cx="307975" cy="261938"/>
          </a:xfrm>
          <a:solidFill>
            <a:schemeClr val="bg1">
              <a:lumMod val="65000"/>
            </a:schemeClr>
          </a:solidFill>
        </p:grpSpPr>
        <p:sp>
          <p:nvSpPr>
            <p:cNvPr id="13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3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39" name="Group 138"/>
          <p:cNvGrpSpPr/>
          <p:nvPr/>
        </p:nvGrpSpPr>
        <p:grpSpPr>
          <a:xfrm>
            <a:off x="7148287" y="4616928"/>
            <a:ext cx="1084880" cy="1509976"/>
            <a:chOff x="1627323" y="4534363"/>
            <a:chExt cx="1084880" cy="1509976"/>
          </a:xfrm>
        </p:grpSpPr>
        <p:cxnSp>
          <p:nvCxnSpPr>
            <p:cNvPr id="140" name="Straight Arrow Connector 139"/>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41" name="Straight Arrow Connector 140"/>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42" name="Straight Arrow Connector 141"/>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143" name="Group 71"/>
          <p:cNvGrpSpPr/>
          <p:nvPr/>
        </p:nvGrpSpPr>
        <p:grpSpPr>
          <a:xfrm flipV="1">
            <a:off x="7927524" y="5185606"/>
            <a:ext cx="180115" cy="153191"/>
            <a:chOff x="3276600" y="3007773"/>
            <a:chExt cx="307975" cy="261938"/>
          </a:xfrm>
          <a:solidFill>
            <a:schemeClr val="bg1">
              <a:lumMod val="65000"/>
            </a:schemeClr>
          </a:solidFill>
        </p:grpSpPr>
        <p:sp>
          <p:nvSpPr>
            <p:cNvPr id="14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4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46" name="Group 71"/>
          <p:cNvGrpSpPr/>
          <p:nvPr/>
        </p:nvGrpSpPr>
        <p:grpSpPr>
          <a:xfrm flipV="1">
            <a:off x="7700568" y="5326178"/>
            <a:ext cx="180115" cy="153191"/>
            <a:chOff x="3276600" y="3007773"/>
            <a:chExt cx="307975" cy="261938"/>
          </a:xfrm>
          <a:solidFill>
            <a:schemeClr val="bg1">
              <a:lumMod val="65000"/>
            </a:schemeClr>
          </a:solidFill>
        </p:grpSpPr>
        <p:sp>
          <p:nvSpPr>
            <p:cNvPr id="14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4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49" name="Group 71"/>
          <p:cNvGrpSpPr/>
          <p:nvPr/>
        </p:nvGrpSpPr>
        <p:grpSpPr>
          <a:xfrm flipV="1">
            <a:off x="8099020" y="5771407"/>
            <a:ext cx="180115" cy="153191"/>
            <a:chOff x="3276600" y="3007773"/>
            <a:chExt cx="307975" cy="261938"/>
          </a:xfrm>
          <a:solidFill>
            <a:schemeClr val="bg1">
              <a:lumMod val="65000"/>
            </a:schemeClr>
          </a:solidFill>
        </p:grpSpPr>
        <p:sp>
          <p:nvSpPr>
            <p:cNvPr id="15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1"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52" name="Group 71"/>
          <p:cNvGrpSpPr/>
          <p:nvPr/>
        </p:nvGrpSpPr>
        <p:grpSpPr>
          <a:xfrm flipV="1">
            <a:off x="7309644" y="5480879"/>
            <a:ext cx="180115" cy="153191"/>
            <a:chOff x="3276600" y="3007773"/>
            <a:chExt cx="307975" cy="261938"/>
          </a:xfrm>
          <a:solidFill>
            <a:schemeClr val="bg1">
              <a:lumMod val="65000"/>
            </a:schemeClr>
          </a:solidFill>
        </p:grpSpPr>
        <p:sp>
          <p:nvSpPr>
            <p:cNvPr id="15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55" name="Group 13"/>
          <p:cNvGrpSpPr>
            <a:grpSpLocks/>
          </p:cNvGrpSpPr>
          <p:nvPr/>
        </p:nvGrpSpPr>
        <p:grpSpPr bwMode="auto">
          <a:xfrm flipH="1">
            <a:off x="1842897" y="4358207"/>
            <a:ext cx="788987" cy="704850"/>
            <a:chOff x="864" y="1968"/>
            <a:chExt cx="912" cy="816"/>
          </a:xfrm>
        </p:grpSpPr>
        <p:sp>
          <p:nvSpPr>
            <p:cNvPr id="15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9"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3"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7" name="Group 13"/>
          <p:cNvGrpSpPr>
            <a:grpSpLocks/>
          </p:cNvGrpSpPr>
          <p:nvPr/>
        </p:nvGrpSpPr>
        <p:grpSpPr bwMode="auto">
          <a:xfrm flipH="1">
            <a:off x="7850731" y="4358207"/>
            <a:ext cx="788987" cy="704850"/>
            <a:chOff x="864" y="1968"/>
            <a:chExt cx="912" cy="816"/>
          </a:xfrm>
        </p:grpSpPr>
        <p:sp>
          <p:nvSpPr>
            <p:cNvPr id="16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6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grpSp>
      <p:grpSp>
        <p:nvGrpSpPr>
          <p:cNvPr id="179" name="Group 13"/>
          <p:cNvGrpSpPr>
            <a:grpSpLocks/>
          </p:cNvGrpSpPr>
          <p:nvPr/>
        </p:nvGrpSpPr>
        <p:grpSpPr bwMode="auto">
          <a:xfrm flipH="1">
            <a:off x="3758744" y="4358207"/>
            <a:ext cx="788987" cy="704850"/>
            <a:chOff x="864" y="1968"/>
            <a:chExt cx="912" cy="816"/>
          </a:xfrm>
        </p:grpSpPr>
        <p:sp>
          <p:nvSpPr>
            <p:cNvPr id="180"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1"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2"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3"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5"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6"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7"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8"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9"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0"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cxnSp>
        <p:nvCxnSpPr>
          <p:cNvPr id="7" name="Straight Arrow Connector 6"/>
          <p:cNvCxnSpPr/>
          <p:nvPr/>
        </p:nvCxnSpPr>
        <p:spPr bwMode="auto">
          <a:xfrm flipH="1">
            <a:off x="2631884" y="3106022"/>
            <a:ext cx="897351" cy="1032025"/>
          </a:xfrm>
          <a:prstGeom prst="straightConnector1">
            <a:avLst/>
          </a:prstGeom>
          <a:noFill/>
          <a:ln w="38100" cap="flat" cmpd="sng" algn="ctr">
            <a:solidFill>
              <a:schemeClr val="tx1"/>
            </a:solidFill>
            <a:prstDash val="solid"/>
            <a:round/>
            <a:headEnd type="none" w="med" len="med"/>
            <a:tailEnd type="arrow"/>
          </a:ln>
          <a:effectLst/>
        </p:spPr>
      </p:cxnSp>
      <p:cxnSp>
        <p:nvCxnSpPr>
          <p:cNvPr id="191" name="Straight Arrow Connector 190"/>
          <p:cNvCxnSpPr/>
          <p:nvPr/>
        </p:nvCxnSpPr>
        <p:spPr bwMode="auto">
          <a:xfrm>
            <a:off x="4194763" y="3196428"/>
            <a:ext cx="77641" cy="1032025"/>
          </a:xfrm>
          <a:prstGeom prst="straightConnector1">
            <a:avLst/>
          </a:prstGeom>
          <a:noFill/>
          <a:ln w="38100" cap="flat" cmpd="sng" algn="ctr">
            <a:solidFill>
              <a:schemeClr val="tx1"/>
            </a:solidFill>
            <a:prstDash val="solid"/>
            <a:round/>
            <a:headEnd type="none" w="med" len="med"/>
            <a:tailEnd type="arrow"/>
          </a:ln>
          <a:effectLst/>
        </p:spPr>
      </p:cxnSp>
      <p:cxnSp>
        <p:nvCxnSpPr>
          <p:cNvPr id="192" name="Straight Arrow Connector 191"/>
          <p:cNvCxnSpPr/>
          <p:nvPr/>
        </p:nvCxnSpPr>
        <p:spPr bwMode="auto">
          <a:xfrm>
            <a:off x="4550308" y="3106022"/>
            <a:ext cx="3240317" cy="1252185"/>
          </a:xfrm>
          <a:prstGeom prst="straightConnector1">
            <a:avLst/>
          </a:prstGeom>
          <a:noFill/>
          <a:ln w="38100" cap="flat" cmpd="sng" algn="ctr">
            <a:solidFill>
              <a:schemeClr val="tx1"/>
            </a:solidFill>
            <a:prstDash val="solid"/>
            <a:round/>
            <a:headEnd type="none" w="med" len="med"/>
            <a:tailEnd type="arrow"/>
          </a:ln>
          <a:effectLst/>
        </p:spPr>
      </p:cxnSp>
      <p:sp>
        <p:nvSpPr>
          <p:cNvPr id="193" name="Text Box 122"/>
          <p:cNvSpPr txBox="1">
            <a:spLocks noChangeArrowheads="1"/>
          </p:cNvSpPr>
          <p:nvPr/>
        </p:nvSpPr>
        <p:spPr bwMode="auto">
          <a:xfrm>
            <a:off x="1221842" y="2957358"/>
            <a:ext cx="670568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reducer sends </a:t>
            </a:r>
            <a:r>
              <a:rPr lang="en-US" sz="2800" i="1" dirty="0">
                <a:solidFill>
                  <a:schemeClr val="tx1"/>
                </a:solidFill>
                <a:latin typeface="Arial" pitchFamily="34" charset="0"/>
                <a:cs typeface="Arial" pitchFamily="34" charset="0"/>
              </a:rPr>
              <a:t>key-value</a:t>
            </a:r>
            <a:r>
              <a:rPr lang="en-US" sz="2800" dirty="0">
                <a:latin typeface="Arial" pitchFamily="34" charset="0"/>
                <a:cs typeface="Arial" pitchFamily="34" charset="0"/>
              </a:rPr>
              <a:t> pair to mappers</a:t>
            </a:r>
            <a:endParaRPr lang="en-US" sz="2800" dirty="0">
              <a:solidFill>
                <a:schemeClr val="tx1"/>
              </a:solidFill>
              <a:latin typeface="Arial" pitchFamily="34" charset="0"/>
              <a:cs typeface="Arial" pitchFamily="34" charset="0"/>
            </a:endParaRPr>
          </a:p>
        </p:txBody>
      </p:sp>
      <p:sp>
        <p:nvSpPr>
          <p:cNvPr id="194" name="Text Box 122"/>
          <p:cNvSpPr txBox="1">
            <a:spLocks noChangeArrowheads="1"/>
          </p:cNvSpPr>
          <p:nvPr/>
        </p:nvSpPr>
        <p:spPr bwMode="auto">
          <a:xfrm>
            <a:off x="4604178" y="3813323"/>
            <a:ext cx="332334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key</a:t>
            </a:r>
            <a:r>
              <a:rPr lang="en-US" sz="2800" dirty="0">
                <a:latin typeface="Arial" pitchFamily="34" charset="0"/>
                <a:cs typeface="Arial" pitchFamily="34" charset="0"/>
              </a:rPr>
              <a:t>: cluster number</a:t>
            </a:r>
            <a:endParaRPr lang="en-US" sz="2800" dirty="0">
              <a:solidFill>
                <a:schemeClr val="tx1"/>
              </a:solidFill>
              <a:latin typeface="Arial" pitchFamily="34" charset="0"/>
              <a:cs typeface="Arial" pitchFamily="34" charset="0"/>
            </a:endParaRPr>
          </a:p>
        </p:txBody>
      </p:sp>
      <p:sp>
        <p:nvSpPr>
          <p:cNvPr id="195" name="Text Box 122"/>
          <p:cNvSpPr txBox="1">
            <a:spLocks noChangeArrowheads="1"/>
          </p:cNvSpPr>
          <p:nvPr/>
        </p:nvSpPr>
        <p:spPr bwMode="auto">
          <a:xfrm>
            <a:off x="4802951" y="4669287"/>
            <a:ext cx="312457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value</a:t>
            </a:r>
            <a:r>
              <a:rPr lang="en-US" sz="2800" dirty="0">
                <a:latin typeface="Arial" pitchFamily="34" charset="0"/>
                <a:cs typeface="Arial" pitchFamily="34" charset="0"/>
              </a:rPr>
              <a:t>: center point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320964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P spid="194" grpId="0" animBg="1"/>
      <p:bldP spid="195"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Mappers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42</a:t>
            </a:fld>
            <a:endParaRPr lang="en-US"/>
          </a:p>
        </p:txBody>
      </p:sp>
      <p:grpSp>
        <p:nvGrpSpPr>
          <p:cNvPr id="5" name="Group 4"/>
          <p:cNvGrpSpPr/>
          <p:nvPr/>
        </p:nvGrpSpPr>
        <p:grpSpPr>
          <a:xfrm>
            <a:off x="1069910" y="2417328"/>
            <a:ext cx="1774331" cy="2469579"/>
            <a:chOff x="999866" y="3873024"/>
            <a:chExt cx="1084880" cy="1509976"/>
          </a:xfrm>
        </p:grpSpPr>
        <p:grpSp>
          <p:nvGrpSpPr>
            <p:cNvPr id="6" name="Group 5"/>
            <p:cNvGrpSpPr/>
            <p:nvPr/>
          </p:nvGrpSpPr>
          <p:grpSpPr>
            <a:xfrm>
              <a:off x="999866" y="3873024"/>
              <a:ext cx="1084880" cy="1509976"/>
              <a:chOff x="1627323" y="4534363"/>
              <a:chExt cx="1084880" cy="1509976"/>
            </a:xfrm>
          </p:grpSpPr>
          <p:cxnSp>
            <p:nvCxnSpPr>
              <p:cNvPr id="19" name="Straight Arrow Connector 18"/>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20" name="Straight Arrow Connector 19"/>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7" name="Group 71"/>
            <p:cNvGrpSpPr/>
            <p:nvPr/>
          </p:nvGrpSpPr>
          <p:grpSpPr>
            <a:xfrm flipV="1">
              <a:off x="1779103" y="4441702"/>
              <a:ext cx="180115" cy="153191"/>
              <a:chOff x="3276600" y="3007773"/>
              <a:chExt cx="307975" cy="261938"/>
            </a:xfrm>
            <a:solidFill>
              <a:schemeClr val="bg1">
                <a:lumMod val="65000"/>
              </a:schemeClr>
            </a:solidFill>
          </p:grpSpPr>
          <p:sp>
            <p:nvSpPr>
              <p:cNvPr id="1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8" name="Group 71"/>
            <p:cNvGrpSpPr/>
            <p:nvPr/>
          </p:nvGrpSpPr>
          <p:grpSpPr>
            <a:xfrm flipV="1">
              <a:off x="1552147" y="4813571"/>
              <a:ext cx="180115" cy="153191"/>
              <a:chOff x="3276600" y="3007773"/>
              <a:chExt cx="307975" cy="261938"/>
            </a:xfrm>
            <a:solidFill>
              <a:schemeClr val="bg1">
                <a:lumMod val="65000"/>
              </a:schemeClr>
            </a:solidFill>
          </p:grpSpPr>
          <p:sp>
            <p:nvSpPr>
              <p:cNvPr id="15"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 name="Group 71"/>
            <p:cNvGrpSpPr/>
            <p:nvPr/>
          </p:nvGrpSpPr>
          <p:grpSpPr>
            <a:xfrm flipV="1">
              <a:off x="1829903" y="5027503"/>
              <a:ext cx="180115" cy="153191"/>
              <a:chOff x="3276600" y="3007773"/>
              <a:chExt cx="307975" cy="261938"/>
            </a:xfrm>
            <a:solidFill>
              <a:schemeClr val="bg1">
                <a:lumMod val="65000"/>
              </a:schemeClr>
            </a:solidFill>
          </p:grpSpPr>
          <p:sp>
            <p:nvSpPr>
              <p:cNvPr id="1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0" name="Group 71"/>
            <p:cNvGrpSpPr/>
            <p:nvPr/>
          </p:nvGrpSpPr>
          <p:grpSpPr>
            <a:xfrm flipV="1">
              <a:off x="1257170" y="4288511"/>
              <a:ext cx="180115" cy="153191"/>
              <a:chOff x="3276600" y="3007773"/>
              <a:chExt cx="307975" cy="261938"/>
            </a:xfrm>
            <a:solidFill>
              <a:schemeClr val="bg1">
                <a:lumMod val="65000"/>
              </a:schemeClr>
            </a:solidFill>
          </p:grpSpPr>
          <p:sp>
            <p:nvSpPr>
              <p:cNvPr id="1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22" name="Group 13"/>
          <p:cNvGrpSpPr>
            <a:grpSpLocks/>
          </p:cNvGrpSpPr>
          <p:nvPr/>
        </p:nvGrpSpPr>
        <p:grpSpPr bwMode="auto">
          <a:xfrm flipH="1">
            <a:off x="1912941" y="2158607"/>
            <a:ext cx="1446279" cy="1292049"/>
            <a:chOff x="864" y="1968"/>
            <a:chExt cx="912" cy="816"/>
          </a:xfrm>
        </p:grpSpPr>
        <p:sp>
          <p:nvSpPr>
            <p:cNvPr id="2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3"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4" name="Text Box 122"/>
          <p:cNvSpPr txBox="1">
            <a:spLocks noChangeArrowheads="1"/>
          </p:cNvSpPr>
          <p:nvPr/>
        </p:nvSpPr>
        <p:spPr bwMode="auto">
          <a:xfrm>
            <a:off x="4090908" y="3955601"/>
            <a:ext cx="4047582" cy="1384995"/>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Each mapper uses centers to assign each vector to a cluster</a:t>
            </a:r>
            <a:endParaRPr lang="en-US" sz="2800" dirty="0">
              <a:solidFill>
                <a:schemeClr val="tx1"/>
              </a:solidFill>
              <a:latin typeface="Arial" pitchFamily="34" charset="0"/>
              <a:cs typeface="Arial" pitchFamily="34" charset="0"/>
            </a:endParaRPr>
          </a:p>
        </p:txBody>
      </p:sp>
      <p:sp>
        <p:nvSpPr>
          <p:cNvPr id="35" name="Cloud Callout 34"/>
          <p:cNvSpPr/>
          <p:nvPr/>
        </p:nvSpPr>
        <p:spPr bwMode="auto">
          <a:xfrm>
            <a:off x="4989809" y="1929368"/>
            <a:ext cx="1984429" cy="1750525"/>
          </a:xfrm>
          <a:prstGeom prst="cloudCallout">
            <a:avLst>
              <a:gd name="adj1" fmla="val -114552"/>
              <a:gd name="adj2" fmla="val -5672"/>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dirty="0">
                <a:solidFill>
                  <a:schemeClr val="tx1"/>
                </a:solidFill>
                <a:latin typeface="Arial" pitchFamily="34" charset="0"/>
                <a:cs typeface="Arial" pitchFamily="34" charset="0"/>
              </a:rPr>
              <a:t>0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0</a:t>
            </a:r>
          </a:p>
          <a:p>
            <a:pPr algn="ctr"/>
            <a:r>
              <a:rPr lang="en-US" dirty="0">
                <a:solidFill>
                  <a:schemeClr val="tx1"/>
                </a:solidFill>
                <a:latin typeface="Arial" pitchFamily="34" charset="0"/>
                <a:cs typeface="Arial" pitchFamily="34" charset="0"/>
              </a:rPr>
              <a:t>1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1</a:t>
            </a:r>
            <a:endParaRPr lang="en-US" baseline="-25000" dirty="0">
              <a:solidFill>
                <a:schemeClr val="tx1"/>
              </a:solidFill>
              <a:latin typeface="Arial"/>
              <a:cs typeface="Arial" pitchFamily="34" charset="0"/>
            </a:endParaRPr>
          </a:p>
          <a:p>
            <a:pPr algn="ctr"/>
            <a:r>
              <a:rPr lang="en-US" dirty="0">
                <a:solidFill>
                  <a:schemeClr val="tx1"/>
                </a:solidFill>
                <a:latin typeface="Arial" pitchFamily="34" charset="0"/>
                <a:cs typeface="Arial" pitchFamily="34" charset="0"/>
              </a:rPr>
              <a:t>2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2</a:t>
            </a:r>
            <a:endParaRPr lang="en-US" dirty="0">
              <a:solidFill>
                <a:schemeClr val="tx1"/>
              </a:solidFill>
              <a:latin typeface="Arial" pitchFamily="34" charset="0"/>
              <a:cs typeface="Arial" pitchFamily="34" charset="0"/>
            </a:endParaRPr>
          </a:p>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Tree>
    <p:extLst>
      <p:ext uri="{BB962C8B-B14F-4D97-AF65-F5344CB8AC3E}">
        <p14:creationId xmlns:p14="http://schemas.microsoft.com/office/powerpoint/2010/main" val="9059478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Mappers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43</a:t>
            </a:fld>
            <a:endParaRPr lang="en-US"/>
          </a:p>
        </p:txBody>
      </p:sp>
      <p:grpSp>
        <p:nvGrpSpPr>
          <p:cNvPr id="5" name="Group 4"/>
          <p:cNvGrpSpPr/>
          <p:nvPr/>
        </p:nvGrpSpPr>
        <p:grpSpPr>
          <a:xfrm>
            <a:off x="1069910" y="2417328"/>
            <a:ext cx="1774331" cy="2469579"/>
            <a:chOff x="999866" y="3873024"/>
            <a:chExt cx="1084880" cy="1509976"/>
          </a:xfrm>
        </p:grpSpPr>
        <p:grpSp>
          <p:nvGrpSpPr>
            <p:cNvPr id="6" name="Group 5"/>
            <p:cNvGrpSpPr/>
            <p:nvPr/>
          </p:nvGrpSpPr>
          <p:grpSpPr>
            <a:xfrm>
              <a:off x="999866" y="3873024"/>
              <a:ext cx="1084880" cy="1509976"/>
              <a:chOff x="1627323" y="4534363"/>
              <a:chExt cx="1084880" cy="1509976"/>
            </a:xfrm>
          </p:grpSpPr>
          <p:cxnSp>
            <p:nvCxnSpPr>
              <p:cNvPr id="19" name="Straight Arrow Connector 18"/>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20" name="Straight Arrow Connector 19"/>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7" name="Group 71"/>
            <p:cNvGrpSpPr/>
            <p:nvPr/>
          </p:nvGrpSpPr>
          <p:grpSpPr>
            <a:xfrm flipV="1">
              <a:off x="1779103" y="4441702"/>
              <a:ext cx="180115" cy="153191"/>
              <a:chOff x="3276600" y="3007773"/>
              <a:chExt cx="307975" cy="261938"/>
            </a:xfrm>
            <a:solidFill>
              <a:schemeClr val="bg1">
                <a:lumMod val="65000"/>
              </a:schemeClr>
            </a:solidFill>
          </p:grpSpPr>
          <p:sp>
            <p:nvSpPr>
              <p:cNvPr id="17"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8" name="Group 71"/>
            <p:cNvGrpSpPr/>
            <p:nvPr/>
          </p:nvGrpSpPr>
          <p:grpSpPr>
            <a:xfrm flipV="1">
              <a:off x="1552147" y="4813571"/>
              <a:ext cx="180115" cy="153191"/>
              <a:chOff x="3276600" y="3007773"/>
              <a:chExt cx="307975" cy="261938"/>
            </a:xfrm>
            <a:solidFill>
              <a:schemeClr val="bg1">
                <a:lumMod val="65000"/>
              </a:schemeClr>
            </a:solidFill>
          </p:grpSpPr>
          <p:sp>
            <p:nvSpPr>
              <p:cNvPr id="15" name="Oval 44"/>
              <p:cNvSpPr>
                <a:spLocks noChangeArrowheads="1"/>
              </p:cNvSpPr>
              <p:nvPr/>
            </p:nvSpPr>
            <p:spPr bwMode="auto">
              <a:xfrm>
                <a:off x="3276600" y="3007773"/>
                <a:ext cx="307975" cy="261938"/>
              </a:xfrm>
              <a:prstGeom prst="ellipse">
                <a:avLst/>
              </a:prstGeom>
              <a:solidFill>
                <a:srgbClr val="00B050"/>
              </a:solidFill>
              <a:ln w="38100">
                <a:solidFill>
                  <a:schemeClr val="tx1"/>
                </a:solidFill>
                <a:round/>
                <a:headEnd/>
                <a:tailEnd/>
              </a:ln>
              <a:effectLst/>
            </p:spPr>
            <p:txBody>
              <a:bodyPr wrap="none" anchor="ctr"/>
              <a:lstStyle/>
              <a:p>
                <a:endParaRPr lang="en-US"/>
              </a:p>
            </p:txBody>
          </p:sp>
          <p:sp>
            <p:nvSpPr>
              <p:cNvPr id="1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 name="Group 71"/>
            <p:cNvGrpSpPr/>
            <p:nvPr/>
          </p:nvGrpSpPr>
          <p:grpSpPr>
            <a:xfrm flipV="1">
              <a:off x="1829903" y="5027503"/>
              <a:ext cx="180115" cy="153191"/>
              <a:chOff x="3276600" y="3007773"/>
              <a:chExt cx="307975" cy="261938"/>
            </a:xfrm>
            <a:solidFill>
              <a:schemeClr val="bg1">
                <a:lumMod val="65000"/>
              </a:schemeClr>
            </a:solidFill>
          </p:grpSpPr>
          <p:sp>
            <p:nvSpPr>
              <p:cNvPr id="13" name="Oval 44"/>
              <p:cNvSpPr>
                <a:spLocks noChangeArrowheads="1"/>
              </p:cNvSpPr>
              <p:nvPr/>
            </p:nvSpPr>
            <p:spPr bwMode="auto">
              <a:xfrm>
                <a:off x="3276600" y="3007773"/>
                <a:ext cx="307975" cy="261938"/>
              </a:xfrm>
              <a:prstGeom prst="ellipse">
                <a:avLst/>
              </a:prstGeom>
              <a:solidFill>
                <a:srgbClr val="0000FF"/>
              </a:solidFill>
              <a:ln w="38100">
                <a:solidFill>
                  <a:schemeClr val="tx1"/>
                </a:solidFill>
                <a:round/>
                <a:headEnd/>
                <a:tailEnd/>
              </a:ln>
              <a:effectLst/>
            </p:spPr>
            <p:txBody>
              <a:bodyPr wrap="none" anchor="ctr"/>
              <a:lstStyle/>
              <a:p>
                <a:endParaRPr lang="en-US"/>
              </a:p>
            </p:txBody>
          </p:sp>
          <p:sp>
            <p:nvSpPr>
              <p:cNvPr id="1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0" name="Group 71"/>
            <p:cNvGrpSpPr/>
            <p:nvPr/>
          </p:nvGrpSpPr>
          <p:grpSpPr>
            <a:xfrm flipV="1">
              <a:off x="1257170" y="4288511"/>
              <a:ext cx="180115" cy="153191"/>
              <a:chOff x="3276600" y="3007773"/>
              <a:chExt cx="307975" cy="261938"/>
            </a:xfrm>
            <a:solidFill>
              <a:schemeClr val="bg1">
                <a:lumMod val="65000"/>
              </a:schemeClr>
            </a:solidFill>
          </p:grpSpPr>
          <p:sp>
            <p:nvSpPr>
              <p:cNvPr id="11"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22" name="Group 13"/>
          <p:cNvGrpSpPr>
            <a:grpSpLocks/>
          </p:cNvGrpSpPr>
          <p:nvPr/>
        </p:nvGrpSpPr>
        <p:grpSpPr bwMode="auto">
          <a:xfrm flipH="1">
            <a:off x="1912941" y="2158607"/>
            <a:ext cx="1446279" cy="1292049"/>
            <a:chOff x="864" y="1968"/>
            <a:chExt cx="912" cy="816"/>
          </a:xfrm>
        </p:grpSpPr>
        <p:sp>
          <p:nvSpPr>
            <p:cNvPr id="2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3"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5" name="Text Box 122"/>
          <p:cNvSpPr txBox="1">
            <a:spLocks noChangeArrowheads="1"/>
          </p:cNvSpPr>
          <p:nvPr/>
        </p:nvSpPr>
        <p:spPr bwMode="auto">
          <a:xfrm>
            <a:off x="4090908" y="3955601"/>
            <a:ext cx="4047582" cy="1384995"/>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Each mapper uses centers to assign each vector to a cluster</a:t>
            </a:r>
            <a:endParaRPr lang="en-US" sz="2800" dirty="0">
              <a:solidFill>
                <a:schemeClr val="tx1"/>
              </a:solidFill>
              <a:latin typeface="Arial" pitchFamily="34" charset="0"/>
              <a:cs typeface="Arial" pitchFamily="34" charset="0"/>
            </a:endParaRPr>
          </a:p>
        </p:txBody>
      </p:sp>
      <p:sp>
        <p:nvSpPr>
          <p:cNvPr id="36" name="Cloud Callout 35"/>
          <p:cNvSpPr/>
          <p:nvPr/>
        </p:nvSpPr>
        <p:spPr bwMode="auto">
          <a:xfrm>
            <a:off x="4989809" y="1929368"/>
            <a:ext cx="1984429" cy="1750525"/>
          </a:xfrm>
          <a:prstGeom prst="cloudCallout">
            <a:avLst>
              <a:gd name="adj1" fmla="val -114552"/>
              <a:gd name="adj2" fmla="val -5672"/>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a:r>
              <a:rPr lang="en-US" dirty="0">
                <a:solidFill>
                  <a:schemeClr val="tx1"/>
                </a:solidFill>
                <a:latin typeface="Arial" pitchFamily="34" charset="0"/>
                <a:cs typeface="Arial" pitchFamily="34" charset="0"/>
              </a:rPr>
              <a:t>0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0</a:t>
            </a:r>
          </a:p>
          <a:p>
            <a:pPr algn="ctr"/>
            <a:r>
              <a:rPr lang="en-US" dirty="0">
                <a:solidFill>
                  <a:schemeClr val="tx1"/>
                </a:solidFill>
                <a:latin typeface="Arial" pitchFamily="34" charset="0"/>
                <a:cs typeface="Arial" pitchFamily="34" charset="0"/>
              </a:rPr>
              <a:t>1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1</a:t>
            </a:r>
            <a:endParaRPr lang="en-US" baseline="-25000" dirty="0">
              <a:solidFill>
                <a:schemeClr val="tx1"/>
              </a:solidFill>
              <a:latin typeface="Arial"/>
              <a:cs typeface="Arial" pitchFamily="34" charset="0"/>
            </a:endParaRPr>
          </a:p>
          <a:p>
            <a:pPr algn="ctr"/>
            <a:r>
              <a:rPr lang="en-US" dirty="0">
                <a:solidFill>
                  <a:schemeClr val="tx1"/>
                </a:solidFill>
                <a:latin typeface="Arial" pitchFamily="34" charset="0"/>
                <a:cs typeface="Arial" pitchFamily="34" charset="0"/>
              </a:rPr>
              <a:t>2 </a:t>
            </a:r>
            <a:r>
              <a:rPr lang="en-US" dirty="0">
                <a:solidFill>
                  <a:schemeClr val="tx1"/>
                </a:solidFill>
                <a:latin typeface="Arial" pitchFamily="34" charset="0"/>
                <a:cs typeface="Arial" pitchFamily="34" charset="0"/>
                <a:sym typeface="Symbol"/>
              </a:rPr>
              <a:t> </a:t>
            </a:r>
            <a:r>
              <a:rPr lang="en-US" dirty="0">
                <a:solidFill>
                  <a:schemeClr val="tx1"/>
                </a:solidFill>
                <a:latin typeface="Arial"/>
                <a:cs typeface="Arial" pitchFamily="34" charset="0"/>
                <a:sym typeface="Symbol"/>
              </a:rPr>
              <a:t>c</a:t>
            </a:r>
            <a:r>
              <a:rPr lang="en-US" baseline="-25000" dirty="0">
                <a:solidFill>
                  <a:schemeClr val="tx1"/>
                </a:solidFill>
                <a:latin typeface="Arial"/>
                <a:cs typeface="Arial" pitchFamily="34" charset="0"/>
                <a:sym typeface="Symbol"/>
              </a:rPr>
              <a:t>2</a:t>
            </a:r>
            <a:endParaRPr lang="en-US" dirty="0">
              <a:solidFill>
                <a:schemeClr val="tx1"/>
              </a:solidFill>
              <a:latin typeface="Arial" pitchFamily="34" charset="0"/>
              <a:cs typeface="Arial" pitchFamily="34" charset="0"/>
            </a:endParaRPr>
          </a:p>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dirty="0">
              <a:ln>
                <a:noFill/>
              </a:ln>
              <a:solidFill>
                <a:srgbClr val="0000FF"/>
              </a:solidFill>
              <a:effectLst/>
              <a:latin typeface="Comic Sans MS" pitchFamily="66" charset="0"/>
            </a:endParaRPr>
          </a:p>
        </p:txBody>
      </p:sp>
    </p:spTree>
    <p:extLst>
      <p:ext uri="{BB962C8B-B14F-4D97-AF65-F5344CB8AC3E}">
        <p14:creationId xmlns:p14="http://schemas.microsoft.com/office/powerpoint/2010/main" val="204054206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Mappers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44</a:t>
            </a:fld>
            <a:endParaRPr lang="en-US"/>
          </a:p>
        </p:txBody>
      </p:sp>
      <p:grpSp>
        <p:nvGrpSpPr>
          <p:cNvPr id="5" name="Group 4"/>
          <p:cNvGrpSpPr/>
          <p:nvPr/>
        </p:nvGrpSpPr>
        <p:grpSpPr>
          <a:xfrm>
            <a:off x="1069910" y="2417328"/>
            <a:ext cx="1774331" cy="2469579"/>
            <a:chOff x="999866" y="3873024"/>
            <a:chExt cx="1084880" cy="1509976"/>
          </a:xfrm>
        </p:grpSpPr>
        <p:grpSp>
          <p:nvGrpSpPr>
            <p:cNvPr id="6" name="Group 5"/>
            <p:cNvGrpSpPr/>
            <p:nvPr/>
          </p:nvGrpSpPr>
          <p:grpSpPr>
            <a:xfrm>
              <a:off x="999866" y="3873024"/>
              <a:ext cx="1084880" cy="1509976"/>
              <a:chOff x="1627323" y="4534363"/>
              <a:chExt cx="1084880" cy="1509976"/>
            </a:xfrm>
          </p:grpSpPr>
          <p:cxnSp>
            <p:nvCxnSpPr>
              <p:cNvPr id="19" name="Straight Arrow Connector 18"/>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20" name="Straight Arrow Connector 19"/>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21" name="Straight Arrow Connector 20"/>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7" name="Group 71"/>
            <p:cNvGrpSpPr/>
            <p:nvPr/>
          </p:nvGrpSpPr>
          <p:grpSpPr>
            <a:xfrm flipV="1">
              <a:off x="1779103" y="4441702"/>
              <a:ext cx="180115" cy="153191"/>
              <a:chOff x="3276600" y="3007773"/>
              <a:chExt cx="307975" cy="261938"/>
            </a:xfrm>
            <a:solidFill>
              <a:schemeClr val="bg1">
                <a:lumMod val="65000"/>
              </a:schemeClr>
            </a:solidFill>
          </p:grpSpPr>
          <p:sp>
            <p:nvSpPr>
              <p:cNvPr id="17"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8" name="Group 71"/>
            <p:cNvGrpSpPr/>
            <p:nvPr/>
          </p:nvGrpSpPr>
          <p:grpSpPr>
            <a:xfrm flipV="1">
              <a:off x="1552147" y="4813571"/>
              <a:ext cx="180115" cy="153191"/>
              <a:chOff x="3276600" y="3007773"/>
              <a:chExt cx="307975" cy="261938"/>
            </a:xfrm>
            <a:solidFill>
              <a:schemeClr val="bg1">
                <a:lumMod val="65000"/>
              </a:schemeClr>
            </a:solidFill>
          </p:grpSpPr>
          <p:sp>
            <p:nvSpPr>
              <p:cNvPr id="15" name="Oval 44"/>
              <p:cNvSpPr>
                <a:spLocks noChangeArrowheads="1"/>
              </p:cNvSpPr>
              <p:nvPr/>
            </p:nvSpPr>
            <p:spPr bwMode="auto">
              <a:xfrm>
                <a:off x="3276600" y="3007773"/>
                <a:ext cx="307975" cy="261938"/>
              </a:xfrm>
              <a:prstGeom prst="ellipse">
                <a:avLst/>
              </a:prstGeom>
              <a:solidFill>
                <a:srgbClr val="00B050"/>
              </a:solidFill>
              <a:ln w="38100">
                <a:solidFill>
                  <a:schemeClr val="tx1"/>
                </a:solidFill>
                <a:round/>
                <a:headEnd/>
                <a:tailEnd/>
              </a:ln>
              <a:effectLst/>
            </p:spPr>
            <p:txBody>
              <a:bodyPr wrap="none" anchor="ctr"/>
              <a:lstStyle/>
              <a:p>
                <a:endParaRPr lang="en-US"/>
              </a:p>
            </p:txBody>
          </p:sp>
          <p:sp>
            <p:nvSpPr>
              <p:cNvPr id="1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 name="Group 71"/>
            <p:cNvGrpSpPr/>
            <p:nvPr/>
          </p:nvGrpSpPr>
          <p:grpSpPr>
            <a:xfrm flipV="1">
              <a:off x="1829903" y="5027503"/>
              <a:ext cx="180115" cy="153191"/>
              <a:chOff x="3276600" y="3007773"/>
              <a:chExt cx="307975" cy="261938"/>
            </a:xfrm>
            <a:solidFill>
              <a:schemeClr val="bg1">
                <a:lumMod val="65000"/>
              </a:schemeClr>
            </a:solidFill>
          </p:grpSpPr>
          <p:sp>
            <p:nvSpPr>
              <p:cNvPr id="13" name="Oval 44"/>
              <p:cNvSpPr>
                <a:spLocks noChangeArrowheads="1"/>
              </p:cNvSpPr>
              <p:nvPr/>
            </p:nvSpPr>
            <p:spPr bwMode="auto">
              <a:xfrm>
                <a:off x="3276600" y="3007773"/>
                <a:ext cx="307975" cy="261938"/>
              </a:xfrm>
              <a:prstGeom prst="ellipse">
                <a:avLst/>
              </a:prstGeom>
              <a:solidFill>
                <a:srgbClr val="0000FF"/>
              </a:solidFill>
              <a:ln w="38100">
                <a:solidFill>
                  <a:schemeClr val="tx1"/>
                </a:solidFill>
                <a:round/>
                <a:headEnd/>
                <a:tailEnd/>
              </a:ln>
              <a:effectLst/>
            </p:spPr>
            <p:txBody>
              <a:bodyPr wrap="none" anchor="ctr"/>
              <a:lstStyle/>
              <a:p>
                <a:endParaRPr lang="en-US"/>
              </a:p>
            </p:txBody>
          </p:sp>
          <p:sp>
            <p:nvSpPr>
              <p:cNvPr id="1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0" name="Group 71"/>
            <p:cNvGrpSpPr/>
            <p:nvPr/>
          </p:nvGrpSpPr>
          <p:grpSpPr>
            <a:xfrm flipV="1">
              <a:off x="1257170" y="4288511"/>
              <a:ext cx="180115" cy="153191"/>
              <a:chOff x="3276600" y="3007773"/>
              <a:chExt cx="307975" cy="261938"/>
            </a:xfrm>
            <a:solidFill>
              <a:schemeClr val="bg1">
                <a:lumMod val="65000"/>
              </a:schemeClr>
            </a:solidFill>
          </p:grpSpPr>
          <p:sp>
            <p:nvSpPr>
              <p:cNvPr id="11" name="Oval 44"/>
              <p:cNvSpPr>
                <a:spLocks noChangeArrowheads="1"/>
              </p:cNvSpPr>
              <p:nvPr/>
            </p:nvSpPr>
            <p:spPr bwMode="auto">
              <a:xfrm>
                <a:off x="3276600" y="3007773"/>
                <a:ext cx="307975" cy="261938"/>
              </a:xfrm>
              <a:prstGeom prst="ellipse">
                <a:avLst/>
              </a:prstGeom>
              <a:solidFill>
                <a:srgbClr val="FF0000"/>
              </a:solidFill>
              <a:ln w="38100">
                <a:solidFill>
                  <a:schemeClr val="tx1"/>
                </a:solidFill>
                <a:round/>
                <a:headEnd/>
                <a:tailEnd/>
              </a:ln>
              <a:effectLst/>
            </p:spPr>
            <p:txBody>
              <a:bodyPr wrap="none" anchor="ctr"/>
              <a:lstStyle/>
              <a:p>
                <a:endParaRPr lang="en-US"/>
              </a:p>
            </p:txBody>
          </p:sp>
          <p:sp>
            <p:nvSpPr>
              <p:cNvPr id="1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22" name="Group 13"/>
          <p:cNvGrpSpPr>
            <a:grpSpLocks/>
          </p:cNvGrpSpPr>
          <p:nvPr/>
        </p:nvGrpSpPr>
        <p:grpSpPr bwMode="auto">
          <a:xfrm flipH="1">
            <a:off x="1912941" y="2158607"/>
            <a:ext cx="1446279" cy="1292049"/>
            <a:chOff x="864" y="1968"/>
            <a:chExt cx="912" cy="816"/>
          </a:xfrm>
        </p:grpSpPr>
        <p:sp>
          <p:nvSpPr>
            <p:cNvPr id="23"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7"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30"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3"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5" name="Rounded Rectangular Callout 34"/>
          <p:cNvSpPr/>
          <p:nvPr/>
        </p:nvSpPr>
        <p:spPr>
          <a:xfrm>
            <a:off x="4683487" y="2127453"/>
            <a:ext cx="1406768" cy="1938814"/>
          </a:xfrm>
          <a:prstGeom prst="wedgeRoundRectCallout">
            <a:avLst>
              <a:gd name="adj1" fmla="val -129142"/>
              <a:gd name="adj2" fmla="val -24393"/>
              <a:gd name="adj3" fmla="val 16667"/>
            </a:avLst>
          </a:prstGeom>
          <a:solidFill>
            <a:schemeClr val="bg1"/>
          </a:solid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spAutoFit/>
          </a:bodyPr>
          <a:lstStyle/>
          <a:p>
            <a:pPr algn="ctr">
              <a:defRPr/>
            </a:pPr>
            <a:r>
              <a:rPr lang="en-US" sz="2800" dirty="0">
                <a:solidFill>
                  <a:srgbClr val="FF0000"/>
                </a:solidFill>
                <a:latin typeface="Arial"/>
              </a:rPr>
              <a:t>p</a:t>
            </a:r>
            <a:r>
              <a:rPr lang="en-US" sz="2800" baseline="-25000" dirty="0">
                <a:solidFill>
                  <a:srgbClr val="FF0000"/>
                </a:solidFill>
                <a:latin typeface="Arial"/>
              </a:rPr>
              <a:t>0</a:t>
            </a:r>
            <a:r>
              <a:rPr lang="en-US" sz="2800" dirty="0">
                <a:solidFill>
                  <a:srgbClr val="FF0000"/>
                </a:solidFill>
                <a:latin typeface="Arial" pitchFamily="34" charset="0"/>
              </a:rPr>
              <a:t> </a:t>
            </a:r>
            <a:r>
              <a:rPr lang="en-US" sz="2800" dirty="0">
                <a:solidFill>
                  <a:srgbClr val="FF0000"/>
                </a:solidFill>
                <a:latin typeface="Arial" pitchFamily="34" charset="0"/>
                <a:cs typeface="Arial" pitchFamily="34" charset="0"/>
                <a:sym typeface="Symbol"/>
              </a:rPr>
              <a:t> 2</a:t>
            </a:r>
          </a:p>
          <a:p>
            <a:pPr algn="ctr">
              <a:defRPr/>
            </a:pPr>
            <a:r>
              <a:rPr lang="en-US" sz="2800" dirty="0">
                <a:solidFill>
                  <a:srgbClr val="FF0000"/>
                </a:solidFill>
                <a:latin typeface="Arial"/>
              </a:rPr>
              <a:t>p</a:t>
            </a:r>
            <a:r>
              <a:rPr lang="en-US" sz="2800" baseline="-25000" dirty="0">
                <a:solidFill>
                  <a:srgbClr val="FF0000"/>
                </a:solidFill>
                <a:latin typeface="Arial"/>
              </a:rPr>
              <a:t>1 </a:t>
            </a:r>
            <a:r>
              <a:rPr lang="en-US" sz="2800" dirty="0">
                <a:solidFill>
                  <a:srgbClr val="FF0000"/>
                </a:solidFill>
                <a:latin typeface="Arial" pitchFamily="34" charset="0"/>
                <a:cs typeface="Arial" pitchFamily="34" charset="0"/>
                <a:sym typeface="Symbol"/>
              </a:rPr>
              <a:t> 1</a:t>
            </a:r>
            <a:endParaRPr lang="en-US" sz="2800" dirty="0">
              <a:solidFill>
                <a:srgbClr val="FF0000"/>
              </a:solidFill>
              <a:latin typeface="Arial" pitchFamily="34" charset="0"/>
            </a:endParaRPr>
          </a:p>
          <a:p>
            <a:pPr algn="ctr">
              <a:defRPr/>
            </a:pPr>
            <a:r>
              <a:rPr lang="en-US" sz="2800" dirty="0">
                <a:solidFill>
                  <a:srgbClr val="FF0000"/>
                </a:solidFill>
                <a:latin typeface="Arial"/>
              </a:rPr>
              <a:t>p</a:t>
            </a:r>
            <a:r>
              <a:rPr lang="en-US" sz="2800" baseline="-25000" dirty="0">
                <a:solidFill>
                  <a:srgbClr val="FF0000"/>
                </a:solidFill>
                <a:latin typeface="Arial"/>
              </a:rPr>
              <a:t>2</a:t>
            </a:r>
            <a:r>
              <a:rPr lang="en-US" sz="2800" dirty="0">
                <a:solidFill>
                  <a:srgbClr val="FF0000"/>
                </a:solidFill>
                <a:latin typeface="Arial" pitchFamily="34" charset="0"/>
              </a:rPr>
              <a:t> </a:t>
            </a:r>
            <a:r>
              <a:rPr lang="en-US" sz="2800" dirty="0">
                <a:solidFill>
                  <a:srgbClr val="FF0000"/>
                </a:solidFill>
                <a:latin typeface="Arial" pitchFamily="34" charset="0"/>
                <a:cs typeface="Arial" pitchFamily="34" charset="0"/>
                <a:sym typeface="Symbol"/>
              </a:rPr>
              <a:t> 1</a:t>
            </a:r>
            <a:endParaRPr lang="en-US" sz="2800" dirty="0">
              <a:solidFill>
                <a:srgbClr val="FF0000"/>
              </a:solidFill>
              <a:latin typeface="Arial" pitchFamily="34" charset="0"/>
            </a:endParaRPr>
          </a:p>
          <a:p>
            <a:pPr algn="ctr">
              <a:defRPr/>
            </a:pPr>
            <a:r>
              <a:rPr lang="en-US" sz="2800" dirty="0">
                <a:solidFill>
                  <a:srgbClr val="FF0000"/>
                </a:solidFill>
                <a:latin typeface="Arial"/>
              </a:rPr>
              <a:t>p</a:t>
            </a:r>
            <a:r>
              <a:rPr lang="en-US" sz="2800" baseline="-25000" dirty="0">
                <a:solidFill>
                  <a:srgbClr val="FF0000"/>
                </a:solidFill>
                <a:latin typeface="Arial"/>
              </a:rPr>
              <a:t>3</a:t>
            </a:r>
            <a:r>
              <a:rPr lang="en-US" sz="2800" dirty="0">
                <a:solidFill>
                  <a:srgbClr val="FF0000"/>
                </a:solidFill>
                <a:latin typeface="Arial" pitchFamily="34" charset="0"/>
              </a:rPr>
              <a:t> </a:t>
            </a:r>
            <a:r>
              <a:rPr lang="en-US" sz="2800" dirty="0">
                <a:solidFill>
                  <a:srgbClr val="FF0000"/>
                </a:solidFill>
                <a:latin typeface="Arial" pitchFamily="34" charset="0"/>
                <a:cs typeface="Arial" pitchFamily="34" charset="0"/>
                <a:sym typeface="Symbol"/>
              </a:rPr>
              <a:t> 0</a:t>
            </a:r>
            <a:endParaRPr lang="en-US" sz="2800" dirty="0">
              <a:solidFill>
                <a:srgbClr val="FF0000"/>
              </a:solidFill>
              <a:latin typeface="Arial" pitchFamily="34" charset="0"/>
            </a:endParaRPr>
          </a:p>
        </p:txBody>
      </p:sp>
      <p:sp>
        <p:nvSpPr>
          <p:cNvPr id="36" name="Text Box 122"/>
          <p:cNvSpPr txBox="1">
            <a:spLocks noChangeArrowheads="1"/>
          </p:cNvSpPr>
          <p:nvPr/>
        </p:nvSpPr>
        <p:spPr bwMode="auto">
          <a:xfrm>
            <a:off x="1171147" y="4507175"/>
            <a:ext cx="702468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mapper sends </a:t>
            </a:r>
            <a:r>
              <a:rPr lang="en-US" sz="2800" i="1" dirty="0">
                <a:solidFill>
                  <a:schemeClr val="tx1"/>
                </a:solidFill>
                <a:latin typeface="Arial" pitchFamily="34" charset="0"/>
                <a:cs typeface="Arial" pitchFamily="34" charset="0"/>
              </a:rPr>
              <a:t>key-value</a:t>
            </a:r>
            <a:r>
              <a:rPr lang="en-US" sz="2800" dirty="0">
                <a:latin typeface="Arial" pitchFamily="34" charset="0"/>
                <a:cs typeface="Arial" pitchFamily="34" charset="0"/>
              </a:rPr>
              <a:t> stream to reducer</a:t>
            </a:r>
            <a:endParaRPr lang="en-US" sz="2800" dirty="0">
              <a:solidFill>
                <a:schemeClr val="tx1"/>
              </a:solidFill>
              <a:latin typeface="Arial" pitchFamily="34" charset="0"/>
              <a:cs typeface="Arial" pitchFamily="34" charset="0"/>
            </a:endParaRPr>
          </a:p>
        </p:txBody>
      </p:sp>
      <p:sp>
        <p:nvSpPr>
          <p:cNvPr id="37" name="Text Box 122"/>
          <p:cNvSpPr txBox="1">
            <a:spLocks noChangeArrowheads="1"/>
          </p:cNvSpPr>
          <p:nvPr/>
        </p:nvSpPr>
        <p:spPr bwMode="auto">
          <a:xfrm>
            <a:off x="2490348" y="4962093"/>
            <a:ext cx="17235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key</a:t>
            </a:r>
            <a:r>
              <a:rPr lang="en-US" sz="2800" dirty="0">
                <a:latin typeface="Arial" pitchFamily="34" charset="0"/>
                <a:cs typeface="Arial" pitchFamily="34" charset="0"/>
              </a:rPr>
              <a:t>: point</a:t>
            </a:r>
            <a:endParaRPr lang="en-US" sz="2800" dirty="0">
              <a:solidFill>
                <a:schemeClr val="tx1"/>
              </a:solidFill>
              <a:latin typeface="Arial" pitchFamily="34" charset="0"/>
              <a:cs typeface="Arial" pitchFamily="34" charset="0"/>
            </a:endParaRPr>
          </a:p>
        </p:txBody>
      </p:sp>
      <p:sp>
        <p:nvSpPr>
          <p:cNvPr id="38" name="Text Box 122"/>
          <p:cNvSpPr txBox="1">
            <a:spLocks noChangeArrowheads="1"/>
          </p:cNvSpPr>
          <p:nvPr/>
        </p:nvSpPr>
        <p:spPr bwMode="auto">
          <a:xfrm>
            <a:off x="3731172" y="5406730"/>
            <a:ext cx="276229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value</a:t>
            </a:r>
            <a:r>
              <a:rPr lang="en-US" sz="2800" dirty="0">
                <a:latin typeface="Arial" pitchFamily="34" charset="0"/>
                <a:cs typeface="Arial" pitchFamily="34" charset="0"/>
              </a:rPr>
              <a:t>: cluster ID</a:t>
            </a:r>
            <a:endParaRPr lang="en-US" sz="2800" dirty="0">
              <a:solidFill>
                <a:schemeClr val="tx1"/>
              </a:solidFill>
              <a:latin typeface="Arial" pitchFamily="34" charset="0"/>
              <a:cs typeface="Arial" pitchFamily="34" charset="0"/>
            </a:endParaRPr>
          </a:p>
        </p:txBody>
      </p:sp>
      <p:sp>
        <p:nvSpPr>
          <p:cNvPr id="39" name="Up Arrow 38"/>
          <p:cNvSpPr/>
          <p:nvPr/>
        </p:nvSpPr>
        <p:spPr bwMode="auto">
          <a:xfrm rot="3436130">
            <a:off x="6227226" y="1379014"/>
            <a:ext cx="1441665" cy="1112796"/>
          </a:xfrm>
          <a:prstGeom prst="upArrow">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Tree>
    <p:extLst>
      <p:ext uri="{BB962C8B-B14F-4D97-AF65-F5344CB8AC3E}">
        <p14:creationId xmlns:p14="http://schemas.microsoft.com/office/powerpoint/2010/main" val="16519711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Rounded Rectangular Callout 32"/>
          <p:cNvSpPr/>
          <p:nvPr/>
        </p:nvSpPr>
        <p:spPr>
          <a:xfrm>
            <a:off x="5067300" y="2100941"/>
            <a:ext cx="1925024" cy="1328023"/>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dirty="0">
                <a:solidFill>
                  <a:schemeClr val="tx1"/>
                </a:solidFill>
                <a:latin typeface="Arial"/>
                <a:cs typeface="Arial" pitchFamily="34" charset="0"/>
              </a:rPr>
              <a:t>C</a:t>
            </a:r>
            <a:r>
              <a:rPr lang="en-US" baseline="-25000" dirty="0">
                <a:solidFill>
                  <a:schemeClr val="tx1"/>
                </a:solidFill>
                <a:latin typeface="Arial"/>
                <a:cs typeface="Arial" pitchFamily="34" charset="0"/>
              </a:rPr>
              <a:t>0</a:t>
            </a:r>
            <a:r>
              <a:rPr lang="en-US" dirty="0">
                <a:solidFill>
                  <a:schemeClr val="tx1"/>
                </a:solidFill>
                <a:latin typeface="Arial" pitchFamily="34" charset="0"/>
                <a:cs typeface="Arial" pitchFamily="34" charset="0"/>
              </a:rPr>
              <a:t> = {…}</a:t>
            </a:r>
          </a:p>
          <a:p>
            <a:pPr algn="ctr"/>
            <a:r>
              <a:rPr lang="en-US" dirty="0">
                <a:solidFill>
                  <a:schemeClr val="tx1"/>
                </a:solidFill>
                <a:latin typeface="Arial"/>
                <a:cs typeface="Arial" pitchFamily="34" charset="0"/>
              </a:rPr>
              <a:t>C</a:t>
            </a:r>
            <a:r>
              <a:rPr lang="en-US" baseline="-25000" dirty="0">
                <a:solidFill>
                  <a:schemeClr val="tx1"/>
                </a:solidFill>
                <a:latin typeface="Arial"/>
                <a:cs typeface="Arial" pitchFamily="34" charset="0"/>
              </a:rPr>
              <a:t>1</a:t>
            </a:r>
            <a:r>
              <a:rPr lang="en-US" dirty="0">
                <a:solidFill>
                  <a:schemeClr val="tx1"/>
                </a:solidFill>
                <a:latin typeface="Arial" pitchFamily="34" charset="0"/>
                <a:cs typeface="Arial" pitchFamily="34" charset="0"/>
              </a:rPr>
              <a:t> = {…}</a:t>
            </a:r>
            <a:endParaRPr lang="en-US" dirty="0">
              <a:solidFill>
                <a:schemeClr val="tx1"/>
              </a:solidFill>
              <a:latin typeface="Arial" pitchFamily="34" charset="0"/>
              <a:cs typeface="Arial" pitchFamily="34" charset="0"/>
              <a:sym typeface="Symbol"/>
            </a:endParaRPr>
          </a:p>
          <a:p>
            <a:pPr algn="ctr"/>
            <a:r>
              <a:rPr lang="en-US" dirty="0">
                <a:solidFill>
                  <a:schemeClr val="tx1"/>
                </a:solidFill>
                <a:latin typeface="Arial"/>
                <a:cs typeface="Arial" pitchFamily="34" charset="0"/>
              </a:rPr>
              <a:t>C</a:t>
            </a:r>
            <a:r>
              <a:rPr lang="en-US" baseline="-25000" dirty="0">
                <a:solidFill>
                  <a:schemeClr val="tx1"/>
                </a:solidFill>
                <a:latin typeface="Arial"/>
                <a:cs typeface="Arial" pitchFamily="34" charset="0"/>
              </a:rPr>
              <a:t>2</a:t>
            </a:r>
            <a:r>
              <a:rPr lang="en-US" dirty="0">
                <a:solidFill>
                  <a:schemeClr val="tx1"/>
                </a:solidFill>
                <a:latin typeface="Arial" pitchFamily="34" charset="0"/>
                <a:cs typeface="Arial" pitchFamily="34" charset="0"/>
              </a:rPr>
              <a:t> = {…}</a:t>
            </a:r>
            <a:endParaRPr lang="en-US" dirty="0">
              <a:solidFill>
                <a:schemeClr val="tx1"/>
              </a:solidFill>
              <a:latin typeface="Arial" pitchFamily="34" charset="0"/>
              <a:cs typeface="Arial" pitchFamily="34" charset="0"/>
              <a:sym typeface="Symbol"/>
            </a:endParaRPr>
          </a:p>
        </p:txBody>
      </p:sp>
      <p:sp>
        <p:nvSpPr>
          <p:cNvPr id="2" name="Title 1"/>
          <p:cNvSpPr>
            <a:spLocks noGrp="1"/>
          </p:cNvSpPr>
          <p:nvPr>
            <p:ph type="title"/>
          </p:nvPr>
        </p:nvSpPr>
        <p:spPr/>
        <p:txBody>
          <a:bodyPr/>
          <a:lstStyle/>
          <a:p>
            <a:r>
              <a:rPr lang="en-US" dirty="0"/>
              <a:t>Back at the Reducer</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45</a:t>
            </a:fld>
            <a:endParaRPr lang="en-US"/>
          </a:p>
        </p:txBody>
      </p:sp>
      <p:grpSp>
        <p:nvGrpSpPr>
          <p:cNvPr id="21" name="Group 13"/>
          <p:cNvGrpSpPr>
            <a:grpSpLocks/>
          </p:cNvGrpSpPr>
          <p:nvPr/>
        </p:nvGrpSpPr>
        <p:grpSpPr bwMode="auto">
          <a:xfrm flipH="1">
            <a:off x="3278951" y="2798629"/>
            <a:ext cx="1218322" cy="1088401"/>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4" name="Right Arrow 33"/>
          <p:cNvSpPr/>
          <p:nvPr/>
        </p:nvSpPr>
        <p:spPr bwMode="auto">
          <a:xfrm rot="16368361">
            <a:off x="3272005" y="4168315"/>
            <a:ext cx="1031896" cy="476381"/>
          </a:xfrm>
          <a:prstGeom prst="rightArrow">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5" name="Right Arrow 34"/>
          <p:cNvSpPr/>
          <p:nvPr/>
        </p:nvSpPr>
        <p:spPr bwMode="auto">
          <a:xfrm rot="13178507">
            <a:off x="4430402" y="4153911"/>
            <a:ext cx="1031896" cy="476381"/>
          </a:xfrm>
          <a:prstGeom prst="rightArrow">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6" name="Right Arrow 35"/>
          <p:cNvSpPr/>
          <p:nvPr/>
        </p:nvSpPr>
        <p:spPr bwMode="auto">
          <a:xfrm rot="8421493" flipH="1">
            <a:off x="2113606" y="4153911"/>
            <a:ext cx="1031896" cy="476381"/>
          </a:xfrm>
          <a:prstGeom prst="rightArrow">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7" name="Text Box 122"/>
          <p:cNvSpPr txBox="1">
            <a:spLocks noChangeArrowheads="1"/>
          </p:cNvSpPr>
          <p:nvPr/>
        </p:nvSpPr>
        <p:spPr bwMode="auto">
          <a:xfrm>
            <a:off x="1541363" y="4902448"/>
            <a:ext cx="606127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The reducer merges the streams ….</a:t>
            </a:r>
            <a:endParaRPr lang="en-US" sz="2800" dirty="0">
              <a:solidFill>
                <a:schemeClr val="tx1"/>
              </a:solidFill>
              <a:latin typeface="Arial" pitchFamily="34" charset="0"/>
              <a:cs typeface="Arial" pitchFamily="34" charset="0"/>
            </a:endParaRPr>
          </a:p>
        </p:txBody>
      </p:sp>
      <p:sp>
        <p:nvSpPr>
          <p:cNvPr id="38" name="Text Box 122"/>
          <p:cNvSpPr txBox="1">
            <a:spLocks noChangeArrowheads="1"/>
          </p:cNvSpPr>
          <p:nvPr/>
        </p:nvSpPr>
        <p:spPr bwMode="auto">
          <a:xfrm>
            <a:off x="3663685" y="5362354"/>
            <a:ext cx="440216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and assembles clusters …</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83124089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 at the Reducer</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46</a:t>
            </a:fld>
            <a:endParaRPr lang="en-US"/>
          </a:p>
        </p:txBody>
      </p:sp>
      <p:grpSp>
        <p:nvGrpSpPr>
          <p:cNvPr id="21" name="Group 13"/>
          <p:cNvGrpSpPr>
            <a:grpSpLocks/>
          </p:cNvGrpSpPr>
          <p:nvPr/>
        </p:nvGrpSpPr>
        <p:grpSpPr bwMode="auto">
          <a:xfrm flipH="1">
            <a:off x="3278951" y="2798629"/>
            <a:ext cx="1218322" cy="1088401"/>
            <a:chOff x="864" y="1968"/>
            <a:chExt cx="912" cy="816"/>
          </a:xfrm>
        </p:grpSpPr>
        <p:sp>
          <p:nvSpPr>
            <p:cNvPr id="22"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3"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4"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5"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26"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7"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8"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29"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0"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1"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32"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34" name="Right Arrow 33"/>
          <p:cNvSpPr/>
          <p:nvPr/>
        </p:nvSpPr>
        <p:spPr bwMode="auto">
          <a:xfrm rot="16368361">
            <a:off x="3272005" y="4168315"/>
            <a:ext cx="1031896" cy="476381"/>
          </a:xfrm>
          <a:prstGeom prst="rightArrow">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5" name="Right Arrow 34"/>
          <p:cNvSpPr/>
          <p:nvPr/>
        </p:nvSpPr>
        <p:spPr bwMode="auto">
          <a:xfrm rot="13178507">
            <a:off x="4430402" y="4153911"/>
            <a:ext cx="1031896" cy="476381"/>
          </a:xfrm>
          <a:prstGeom prst="rightArrow">
            <a:avLst/>
          </a:prstGeom>
          <a:noFill/>
          <a:ln w="38100" cap="flat" cmpd="sng" algn="ctr">
            <a:solidFill>
              <a:srgbClr val="00B05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6" name="Right Arrow 35"/>
          <p:cNvSpPr/>
          <p:nvPr/>
        </p:nvSpPr>
        <p:spPr bwMode="auto">
          <a:xfrm rot="8421493" flipH="1">
            <a:off x="2113606" y="4153911"/>
            <a:ext cx="1031896" cy="476381"/>
          </a:xfrm>
          <a:prstGeom prst="rightArrow">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37" name="Text Box 122"/>
          <p:cNvSpPr txBox="1">
            <a:spLocks noChangeArrowheads="1"/>
          </p:cNvSpPr>
          <p:nvPr/>
        </p:nvSpPr>
        <p:spPr bwMode="auto">
          <a:xfrm>
            <a:off x="1541363" y="4902448"/>
            <a:ext cx="582403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The reducer computes new centers</a:t>
            </a:r>
            <a:endParaRPr lang="en-US" sz="2800" dirty="0">
              <a:solidFill>
                <a:schemeClr val="tx1"/>
              </a:solidFill>
              <a:latin typeface="Arial" pitchFamily="34" charset="0"/>
              <a:cs typeface="Arial" pitchFamily="34" charset="0"/>
            </a:endParaRPr>
          </a:p>
        </p:txBody>
      </p:sp>
      <p:sp>
        <p:nvSpPr>
          <p:cNvPr id="38" name="Text Box 122"/>
          <p:cNvSpPr txBox="1">
            <a:spLocks noChangeArrowheads="1"/>
          </p:cNvSpPr>
          <p:nvPr/>
        </p:nvSpPr>
        <p:spPr bwMode="auto">
          <a:xfrm>
            <a:off x="3663685" y="5362354"/>
            <a:ext cx="422263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based on new clusters …</a:t>
            </a:r>
            <a:endParaRPr lang="en-US" sz="2800" dirty="0">
              <a:solidFill>
                <a:schemeClr val="tx1"/>
              </a:solidFill>
              <a:latin typeface="Arial" pitchFamily="34" charset="0"/>
              <a:cs typeface="Arial" pitchFamily="34" charset="0"/>
            </a:endParaRPr>
          </a:p>
        </p:txBody>
      </p:sp>
      <p:sp>
        <p:nvSpPr>
          <p:cNvPr id="39" name="Rounded Rectangular Callout 38"/>
          <p:cNvSpPr/>
          <p:nvPr/>
        </p:nvSpPr>
        <p:spPr>
          <a:xfrm>
            <a:off x="5289600" y="2032462"/>
            <a:ext cx="1736255" cy="1532334"/>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sz="2800" dirty="0">
                <a:solidFill>
                  <a:schemeClr val="tx1"/>
                </a:solidFill>
                <a:latin typeface="Arial" pitchFamily="34" charset="0"/>
                <a:cs typeface="Arial" pitchFamily="34" charset="0"/>
              </a:rPr>
              <a:t>0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0</a:t>
            </a:r>
            <a:r>
              <a:rPr lang="en-US" sz="2800" dirty="0">
                <a:solidFill>
                  <a:schemeClr val="tx1"/>
                </a:solidFill>
                <a:latin typeface="Arial"/>
                <a:cs typeface="Arial" pitchFamily="34" charset="0"/>
                <a:sym typeface="Symbol"/>
              </a:rPr>
              <a:t>’</a:t>
            </a:r>
            <a:endParaRPr lang="en-US" sz="2800" baseline="-25000" dirty="0">
              <a:solidFill>
                <a:schemeClr val="tx1"/>
              </a:solidFill>
              <a:latin typeface="Arial"/>
              <a:cs typeface="Arial" pitchFamily="34" charset="0"/>
              <a:sym typeface="Symbol"/>
            </a:endParaRPr>
          </a:p>
          <a:p>
            <a:pPr algn="ctr"/>
            <a:r>
              <a:rPr lang="en-US" sz="2800" dirty="0">
                <a:solidFill>
                  <a:schemeClr val="tx1"/>
                </a:solidFill>
                <a:latin typeface="Arial" pitchFamily="34" charset="0"/>
                <a:cs typeface="Arial" pitchFamily="34" charset="0"/>
              </a:rPr>
              <a:t>1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1</a:t>
            </a:r>
            <a:r>
              <a:rPr lang="en-US" sz="2800" dirty="0">
                <a:solidFill>
                  <a:schemeClr val="tx1"/>
                </a:solidFill>
                <a:latin typeface="Arial"/>
                <a:cs typeface="Arial" pitchFamily="34" charset="0"/>
                <a:sym typeface="Symbol"/>
              </a:rPr>
              <a:t>’</a:t>
            </a:r>
            <a:endParaRPr lang="en-US" sz="2800" baseline="-25000" dirty="0">
              <a:solidFill>
                <a:schemeClr val="tx1"/>
              </a:solidFill>
              <a:latin typeface="Arial"/>
              <a:cs typeface="Arial" pitchFamily="34" charset="0"/>
            </a:endParaRPr>
          </a:p>
          <a:p>
            <a:pPr algn="ctr"/>
            <a:r>
              <a:rPr lang="en-US" sz="2800" dirty="0">
                <a:solidFill>
                  <a:schemeClr val="tx1"/>
                </a:solidFill>
                <a:latin typeface="Arial" pitchFamily="34" charset="0"/>
                <a:cs typeface="Arial" pitchFamily="34" charset="0"/>
              </a:rPr>
              <a:t>2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2</a:t>
            </a:r>
            <a:r>
              <a:rPr lang="en-US" sz="2800" dirty="0">
                <a:solidFill>
                  <a:schemeClr val="tx1"/>
                </a:solidFill>
                <a:latin typeface="Arial"/>
                <a:cs typeface="Arial" pitchFamily="34" charset="0"/>
                <a:sym typeface="Symbol"/>
              </a:rPr>
              <a: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76618345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Once is Not Enough</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47</a:t>
            </a:fld>
            <a:endParaRPr lang="en-US"/>
          </a:p>
        </p:txBody>
      </p:sp>
      <p:grpSp>
        <p:nvGrpSpPr>
          <p:cNvPr id="67" name="Group 13"/>
          <p:cNvGrpSpPr>
            <a:grpSpLocks/>
          </p:cNvGrpSpPr>
          <p:nvPr/>
        </p:nvGrpSpPr>
        <p:grpSpPr bwMode="auto">
          <a:xfrm flipH="1">
            <a:off x="3432177" y="2017621"/>
            <a:ext cx="1218322" cy="1088401"/>
            <a:chOff x="864" y="1968"/>
            <a:chExt cx="912" cy="816"/>
          </a:xfrm>
        </p:grpSpPr>
        <p:sp>
          <p:nvSpPr>
            <p:cNvPr id="6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6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7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83" name="TextBox 82"/>
          <p:cNvSpPr txBox="1"/>
          <p:nvPr/>
        </p:nvSpPr>
        <p:spPr bwMode="auto">
          <a:xfrm>
            <a:off x="5647424" y="5278267"/>
            <a:ext cx="646331" cy="646331"/>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3600" dirty="0">
                <a:solidFill>
                  <a:schemeClr val="tx1"/>
                </a:solidFill>
                <a:latin typeface="Arial" pitchFamily="34" charset="0"/>
                <a:cs typeface="Arial" pitchFamily="34" charset="0"/>
              </a:rPr>
              <a:t>…</a:t>
            </a:r>
          </a:p>
        </p:txBody>
      </p:sp>
      <p:sp>
        <p:nvSpPr>
          <p:cNvPr id="84" name="TextBox 83"/>
          <p:cNvSpPr txBox="1"/>
          <p:nvPr/>
        </p:nvSpPr>
        <p:spPr bwMode="auto">
          <a:xfrm>
            <a:off x="789536" y="6126904"/>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1</a:t>
            </a:r>
          </a:p>
        </p:txBody>
      </p:sp>
      <p:sp>
        <p:nvSpPr>
          <p:cNvPr id="85" name="TextBox 84"/>
          <p:cNvSpPr txBox="1"/>
          <p:nvPr/>
        </p:nvSpPr>
        <p:spPr bwMode="auto">
          <a:xfrm>
            <a:off x="3318904" y="6126904"/>
            <a:ext cx="1505540"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2</a:t>
            </a:r>
          </a:p>
        </p:txBody>
      </p:sp>
      <p:sp>
        <p:nvSpPr>
          <p:cNvPr id="86" name="TextBox 85"/>
          <p:cNvSpPr txBox="1"/>
          <p:nvPr/>
        </p:nvSpPr>
        <p:spPr bwMode="auto">
          <a:xfrm>
            <a:off x="6937197" y="6126904"/>
            <a:ext cx="1484702" cy="523220"/>
          </a:xfrm>
          <a:prstGeom prst="rect">
            <a:avLst/>
          </a:prstGeom>
          <a:solidFill>
            <a:schemeClr val="bg1">
              <a:alpha val="89999"/>
            </a:schemeClr>
          </a:solidFill>
          <a:ln w="38100" algn="ctr">
            <a:noFill/>
            <a:miter lim="800000"/>
            <a:headEnd/>
            <a:tailEnd/>
          </a:ln>
          <a:effectLst/>
        </p:spPr>
        <p:txBody>
          <a:bodyPr wrap="none" rtlCol="0">
            <a:spAutoFit/>
          </a:bodyPr>
          <a:lstStyle/>
          <a:p>
            <a:pPr algn="l"/>
            <a:r>
              <a:rPr lang="en-US" sz="2800" dirty="0">
                <a:solidFill>
                  <a:schemeClr val="tx1"/>
                </a:solidFill>
                <a:latin typeface="Arial" pitchFamily="34" charset="0"/>
                <a:cs typeface="Arial" pitchFamily="34" charset="0"/>
              </a:rPr>
              <a:t>thread k</a:t>
            </a:r>
          </a:p>
        </p:txBody>
      </p:sp>
      <p:grpSp>
        <p:nvGrpSpPr>
          <p:cNvPr id="87" name="Group 86"/>
          <p:cNvGrpSpPr/>
          <p:nvPr/>
        </p:nvGrpSpPr>
        <p:grpSpPr>
          <a:xfrm>
            <a:off x="999866" y="4616928"/>
            <a:ext cx="1084880" cy="1509976"/>
            <a:chOff x="999866" y="3873024"/>
            <a:chExt cx="1084880" cy="1509976"/>
          </a:xfrm>
        </p:grpSpPr>
        <p:grpSp>
          <p:nvGrpSpPr>
            <p:cNvPr id="88" name="Group 87"/>
            <p:cNvGrpSpPr/>
            <p:nvPr/>
          </p:nvGrpSpPr>
          <p:grpSpPr>
            <a:xfrm>
              <a:off x="999866" y="3873024"/>
              <a:ext cx="1084880" cy="1509976"/>
              <a:chOff x="1627323" y="4534363"/>
              <a:chExt cx="1084880" cy="1509976"/>
            </a:xfrm>
          </p:grpSpPr>
          <p:cxnSp>
            <p:nvCxnSpPr>
              <p:cNvPr id="101" name="Straight Arrow Connector 100"/>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02" name="Straight Arrow Connector 101"/>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15" name="Straight Arrow Connector 114"/>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89" name="Group 71"/>
            <p:cNvGrpSpPr/>
            <p:nvPr/>
          </p:nvGrpSpPr>
          <p:grpSpPr>
            <a:xfrm flipV="1">
              <a:off x="1779103" y="4441702"/>
              <a:ext cx="180115" cy="153191"/>
              <a:chOff x="3276600" y="3007773"/>
              <a:chExt cx="307975" cy="261938"/>
            </a:xfrm>
            <a:solidFill>
              <a:schemeClr val="bg1">
                <a:lumMod val="65000"/>
              </a:schemeClr>
            </a:solidFill>
          </p:grpSpPr>
          <p:sp>
            <p:nvSpPr>
              <p:cNvPr id="99"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00"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0" name="Group 71"/>
            <p:cNvGrpSpPr/>
            <p:nvPr/>
          </p:nvGrpSpPr>
          <p:grpSpPr>
            <a:xfrm flipV="1">
              <a:off x="1552147" y="4813571"/>
              <a:ext cx="180115" cy="153191"/>
              <a:chOff x="3276600" y="3007773"/>
              <a:chExt cx="307975" cy="261938"/>
            </a:xfrm>
            <a:solidFill>
              <a:schemeClr val="bg1">
                <a:lumMod val="65000"/>
              </a:schemeClr>
            </a:solidFill>
          </p:grpSpPr>
          <p:sp>
            <p:nvSpPr>
              <p:cNvPr id="9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1" name="Group 71"/>
            <p:cNvGrpSpPr/>
            <p:nvPr/>
          </p:nvGrpSpPr>
          <p:grpSpPr>
            <a:xfrm flipV="1">
              <a:off x="1829903" y="5027503"/>
              <a:ext cx="180115" cy="153191"/>
              <a:chOff x="3276600" y="3007773"/>
              <a:chExt cx="307975" cy="261938"/>
            </a:xfrm>
            <a:solidFill>
              <a:schemeClr val="bg1">
                <a:lumMod val="65000"/>
              </a:schemeClr>
            </a:solidFill>
          </p:grpSpPr>
          <p:sp>
            <p:nvSpPr>
              <p:cNvPr id="95"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6"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92" name="Group 71"/>
            <p:cNvGrpSpPr/>
            <p:nvPr/>
          </p:nvGrpSpPr>
          <p:grpSpPr>
            <a:xfrm flipV="1">
              <a:off x="1257170" y="4288511"/>
              <a:ext cx="180115" cy="153191"/>
              <a:chOff x="3276600" y="3007773"/>
              <a:chExt cx="307975" cy="261938"/>
            </a:xfrm>
            <a:solidFill>
              <a:schemeClr val="bg1">
                <a:lumMod val="65000"/>
              </a:schemeClr>
            </a:solidFill>
          </p:grpSpPr>
          <p:sp>
            <p:nvSpPr>
              <p:cNvPr id="9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9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grpSp>
        <p:nvGrpSpPr>
          <p:cNvPr id="116" name="Group 115"/>
          <p:cNvGrpSpPr/>
          <p:nvPr/>
        </p:nvGrpSpPr>
        <p:grpSpPr>
          <a:xfrm>
            <a:off x="3529234" y="4616928"/>
            <a:ext cx="1084880" cy="1509976"/>
            <a:chOff x="1627323" y="4534363"/>
            <a:chExt cx="1084880" cy="1509976"/>
          </a:xfrm>
        </p:grpSpPr>
        <p:cxnSp>
          <p:nvCxnSpPr>
            <p:cNvPr id="117" name="Straight Arrow Connector 116"/>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18" name="Straight Arrow Connector 117"/>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19" name="Straight Arrow Connector 118"/>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120" name="Group 71"/>
          <p:cNvGrpSpPr/>
          <p:nvPr/>
        </p:nvGrpSpPr>
        <p:grpSpPr>
          <a:xfrm flipV="1">
            <a:off x="4120007" y="4973466"/>
            <a:ext cx="180115" cy="153191"/>
            <a:chOff x="3276600" y="3007773"/>
            <a:chExt cx="307975" cy="261938"/>
          </a:xfrm>
          <a:solidFill>
            <a:schemeClr val="bg1">
              <a:lumMod val="65000"/>
            </a:schemeClr>
          </a:solidFill>
        </p:grpSpPr>
        <p:sp>
          <p:nvSpPr>
            <p:cNvPr id="121"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2"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3" name="Group 71"/>
          <p:cNvGrpSpPr/>
          <p:nvPr/>
        </p:nvGrpSpPr>
        <p:grpSpPr>
          <a:xfrm flipV="1">
            <a:off x="4112153" y="5862160"/>
            <a:ext cx="180115" cy="153191"/>
            <a:chOff x="3276600" y="3007773"/>
            <a:chExt cx="307975" cy="261938"/>
          </a:xfrm>
          <a:solidFill>
            <a:schemeClr val="bg1">
              <a:lumMod val="65000"/>
            </a:schemeClr>
          </a:solidFill>
        </p:grpSpPr>
        <p:sp>
          <p:nvSpPr>
            <p:cNvPr id="12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6" name="Group 71"/>
          <p:cNvGrpSpPr/>
          <p:nvPr/>
        </p:nvGrpSpPr>
        <p:grpSpPr>
          <a:xfrm flipV="1">
            <a:off x="4524056" y="5664081"/>
            <a:ext cx="180115" cy="153191"/>
            <a:chOff x="3276600" y="3007773"/>
            <a:chExt cx="307975" cy="261938"/>
          </a:xfrm>
          <a:solidFill>
            <a:schemeClr val="bg1">
              <a:lumMod val="65000"/>
            </a:schemeClr>
          </a:solidFill>
        </p:grpSpPr>
        <p:sp>
          <p:nvSpPr>
            <p:cNvPr id="12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2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29" name="Group 71"/>
          <p:cNvGrpSpPr/>
          <p:nvPr/>
        </p:nvGrpSpPr>
        <p:grpSpPr>
          <a:xfrm flipV="1">
            <a:off x="3817176" y="5448241"/>
            <a:ext cx="180115" cy="153191"/>
            <a:chOff x="3276600" y="3007773"/>
            <a:chExt cx="307975" cy="261938"/>
          </a:xfrm>
          <a:solidFill>
            <a:schemeClr val="bg1">
              <a:lumMod val="65000"/>
            </a:schemeClr>
          </a:solidFill>
        </p:grpSpPr>
        <p:sp>
          <p:nvSpPr>
            <p:cNvPr id="13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3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39" name="Group 138"/>
          <p:cNvGrpSpPr/>
          <p:nvPr/>
        </p:nvGrpSpPr>
        <p:grpSpPr>
          <a:xfrm>
            <a:off x="7148287" y="4616928"/>
            <a:ext cx="1084880" cy="1509976"/>
            <a:chOff x="1627323" y="4534363"/>
            <a:chExt cx="1084880" cy="1509976"/>
          </a:xfrm>
        </p:grpSpPr>
        <p:cxnSp>
          <p:nvCxnSpPr>
            <p:cNvPr id="140" name="Straight Arrow Connector 139"/>
            <p:cNvCxnSpPr/>
            <p:nvPr/>
          </p:nvCxnSpPr>
          <p:spPr bwMode="auto">
            <a:xfrm>
              <a:off x="1627323" y="5997844"/>
              <a:ext cx="1084880" cy="0"/>
            </a:xfrm>
            <a:prstGeom prst="straightConnector1">
              <a:avLst/>
            </a:prstGeom>
            <a:noFill/>
            <a:ln w="38100" cap="flat" cmpd="sng" algn="ctr">
              <a:solidFill>
                <a:schemeClr val="tx1"/>
              </a:solidFill>
              <a:prstDash val="solid"/>
              <a:round/>
              <a:headEnd type="none" w="med" len="med"/>
              <a:tailEnd type="arrow"/>
            </a:ln>
            <a:effectLst/>
          </p:spPr>
        </p:cxnSp>
        <p:cxnSp>
          <p:nvCxnSpPr>
            <p:cNvPr id="141" name="Straight Arrow Connector 140"/>
            <p:cNvCxnSpPr/>
            <p:nvPr/>
          </p:nvCxnSpPr>
          <p:spPr bwMode="auto">
            <a:xfrm flipV="1">
              <a:off x="1627323" y="4534363"/>
              <a:ext cx="0" cy="1509976"/>
            </a:xfrm>
            <a:prstGeom prst="straightConnector1">
              <a:avLst/>
            </a:prstGeom>
            <a:noFill/>
            <a:ln w="38100" cap="flat" cmpd="sng" algn="ctr">
              <a:solidFill>
                <a:schemeClr val="tx1"/>
              </a:solidFill>
              <a:prstDash val="solid"/>
              <a:round/>
              <a:headEnd type="none" w="med" len="med"/>
              <a:tailEnd type="arrow"/>
            </a:ln>
            <a:effectLst/>
          </p:spPr>
        </p:cxnSp>
        <p:cxnSp>
          <p:nvCxnSpPr>
            <p:cNvPr id="142" name="Straight Arrow Connector 141"/>
            <p:cNvCxnSpPr/>
            <p:nvPr/>
          </p:nvCxnSpPr>
          <p:spPr bwMode="auto">
            <a:xfrm flipV="1">
              <a:off x="1627324" y="5313710"/>
              <a:ext cx="1084879" cy="684135"/>
            </a:xfrm>
            <a:prstGeom prst="straightConnector1">
              <a:avLst/>
            </a:prstGeom>
            <a:noFill/>
            <a:ln w="38100" cap="flat" cmpd="sng" algn="ctr">
              <a:solidFill>
                <a:schemeClr val="tx1"/>
              </a:solidFill>
              <a:prstDash val="solid"/>
              <a:round/>
              <a:headEnd type="none" w="med" len="med"/>
              <a:tailEnd type="arrow"/>
            </a:ln>
            <a:effectLst/>
          </p:spPr>
        </p:cxnSp>
      </p:grpSp>
      <p:grpSp>
        <p:nvGrpSpPr>
          <p:cNvPr id="143" name="Group 71"/>
          <p:cNvGrpSpPr/>
          <p:nvPr/>
        </p:nvGrpSpPr>
        <p:grpSpPr>
          <a:xfrm flipV="1">
            <a:off x="7927524" y="5185606"/>
            <a:ext cx="180115" cy="153191"/>
            <a:chOff x="3276600" y="3007773"/>
            <a:chExt cx="307975" cy="261938"/>
          </a:xfrm>
          <a:solidFill>
            <a:schemeClr val="bg1">
              <a:lumMod val="65000"/>
            </a:schemeClr>
          </a:solidFill>
        </p:grpSpPr>
        <p:sp>
          <p:nvSpPr>
            <p:cNvPr id="144"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45"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46" name="Group 71"/>
          <p:cNvGrpSpPr/>
          <p:nvPr/>
        </p:nvGrpSpPr>
        <p:grpSpPr>
          <a:xfrm flipV="1">
            <a:off x="7700568" y="5326178"/>
            <a:ext cx="180115" cy="153191"/>
            <a:chOff x="3276600" y="3007773"/>
            <a:chExt cx="307975" cy="261938"/>
          </a:xfrm>
          <a:solidFill>
            <a:schemeClr val="bg1">
              <a:lumMod val="65000"/>
            </a:schemeClr>
          </a:solidFill>
        </p:grpSpPr>
        <p:sp>
          <p:nvSpPr>
            <p:cNvPr id="147"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48"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49" name="Group 71"/>
          <p:cNvGrpSpPr/>
          <p:nvPr/>
        </p:nvGrpSpPr>
        <p:grpSpPr>
          <a:xfrm flipV="1">
            <a:off x="8099020" y="5771407"/>
            <a:ext cx="180115" cy="153191"/>
            <a:chOff x="3276600" y="3007773"/>
            <a:chExt cx="307975" cy="261938"/>
          </a:xfrm>
          <a:solidFill>
            <a:schemeClr val="bg1">
              <a:lumMod val="65000"/>
            </a:schemeClr>
          </a:solidFill>
        </p:grpSpPr>
        <p:sp>
          <p:nvSpPr>
            <p:cNvPr id="150"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1"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52" name="Group 71"/>
          <p:cNvGrpSpPr/>
          <p:nvPr/>
        </p:nvGrpSpPr>
        <p:grpSpPr>
          <a:xfrm flipV="1">
            <a:off x="7309644" y="5480879"/>
            <a:ext cx="180115" cy="153191"/>
            <a:chOff x="3276600" y="3007773"/>
            <a:chExt cx="307975" cy="261938"/>
          </a:xfrm>
          <a:solidFill>
            <a:schemeClr val="bg1">
              <a:lumMod val="65000"/>
            </a:schemeClr>
          </a:solidFill>
        </p:grpSpPr>
        <p:sp>
          <p:nvSpPr>
            <p:cNvPr id="153" name="Oval 44"/>
            <p:cNvSpPr>
              <a:spLocks noChangeArrowheads="1"/>
            </p:cNvSpPr>
            <p:nvPr/>
          </p:nvSpPr>
          <p:spPr bwMode="auto">
            <a:xfrm>
              <a:off x="3276600" y="3007773"/>
              <a:ext cx="307975" cy="261938"/>
            </a:xfrm>
            <a:prstGeom prst="ellipse">
              <a:avLst/>
            </a:prstGeom>
            <a:grpFill/>
            <a:ln w="38100">
              <a:solidFill>
                <a:schemeClr val="tx1"/>
              </a:solidFill>
              <a:round/>
              <a:headEnd/>
              <a:tailEnd/>
            </a:ln>
            <a:effectLst/>
          </p:spPr>
          <p:txBody>
            <a:bodyPr wrap="none" anchor="ctr"/>
            <a:lstStyle/>
            <a:p>
              <a:endParaRPr lang="en-US"/>
            </a:p>
          </p:txBody>
        </p:sp>
        <p:sp>
          <p:nvSpPr>
            <p:cNvPr id="154" name="Oval 45"/>
            <p:cNvSpPr>
              <a:spLocks noChangeArrowheads="1"/>
            </p:cNvSpPr>
            <p:nvPr/>
          </p:nvSpPr>
          <p:spPr bwMode="auto">
            <a:xfrm>
              <a:off x="3482975" y="3071277"/>
              <a:ext cx="44450" cy="90488"/>
            </a:xfrm>
            <a:prstGeom prst="ellipse">
              <a:avLst/>
            </a:prstGeom>
            <a:grpFill/>
            <a:ln w="3175">
              <a:solidFill>
                <a:schemeClr val="tx1"/>
              </a:solidFill>
              <a:round/>
              <a:headEnd/>
              <a:tailEnd/>
            </a:ln>
            <a:effectLst/>
          </p:spPr>
          <p:txBody>
            <a:bodyPr wrap="none" anchor="ctr"/>
            <a:lstStyle/>
            <a:p>
              <a:endParaRPr lang="en-US"/>
            </a:p>
          </p:txBody>
        </p:sp>
      </p:grpSp>
      <p:grpSp>
        <p:nvGrpSpPr>
          <p:cNvPr id="155" name="Group 13"/>
          <p:cNvGrpSpPr>
            <a:grpSpLocks/>
          </p:cNvGrpSpPr>
          <p:nvPr/>
        </p:nvGrpSpPr>
        <p:grpSpPr bwMode="auto">
          <a:xfrm flipH="1">
            <a:off x="1842897" y="4358207"/>
            <a:ext cx="788987" cy="704850"/>
            <a:chOff x="864" y="1968"/>
            <a:chExt cx="912" cy="816"/>
          </a:xfrm>
        </p:grpSpPr>
        <p:sp>
          <p:nvSpPr>
            <p:cNvPr id="15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9"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63"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4"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5"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6"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grpSp>
        <p:nvGrpSpPr>
          <p:cNvPr id="167" name="Group 13"/>
          <p:cNvGrpSpPr>
            <a:grpSpLocks/>
          </p:cNvGrpSpPr>
          <p:nvPr/>
        </p:nvGrpSpPr>
        <p:grpSpPr bwMode="auto">
          <a:xfrm flipH="1">
            <a:off x="7850731" y="4358207"/>
            <a:ext cx="788987" cy="704850"/>
            <a:chOff x="864" y="1968"/>
            <a:chExt cx="912" cy="816"/>
          </a:xfrm>
        </p:grpSpPr>
        <p:sp>
          <p:nvSpPr>
            <p:cNvPr id="168"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69"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0"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1"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2"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3"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4"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00B050"/>
            </a:solidFill>
            <a:ln w="38100">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5"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6"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7"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sp>
          <p:nvSpPr>
            <p:cNvPr id="178"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solidFill>
                  <a:srgbClr val="00B050"/>
                </a:solidFill>
                <a:latin typeface="Arial" pitchFamily="34" charset="0"/>
              </a:endParaRPr>
            </a:p>
          </p:txBody>
        </p:sp>
      </p:grpSp>
      <p:grpSp>
        <p:nvGrpSpPr>
          <p:cNvPr id="179" name="Group 13"/>
          <p:cNvGrpSpPr>
            <a:grpSpLocks/>
          </p:cNvGrpSpPr>
          <p:nvPr/>
        </p:nvGrpSpPr>
        <p:grpSpPr bwMode="auto">
          <a:xfrm flipH="1">
            <a:off x="3758744" y="4358207"/>
            <a:ext cx="788987" cy="704850"/>
            <a:chOff x="864" y="1968"/>
            <a:chExt cx="912" cy="816"/>
          </a:xfrm>
        </p:grpSpPr>
        <p:sp>
          <p:nvSpPr>
            <p:cNvPr id="180"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1"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2"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3"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4"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5"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6"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chemeClr val="accent2"/>
            </a:solidFill>
            <a:ln w="38100">
              <a:solidFill>
                <a:schemeClr val="tx1"/>
              </a:solidFill>
              <a:round/>
              <a:headEnd/>
              <a:tailEnd/>
            </a:ln>
          </p:spPr>
          <p:txBody>
            <a:bodyPr wrap="none" anchor="ctr"/>
            <a:lstStyle/>
            <a:p>
              <a:endParaRPr lang="en-US" dirty="0">
                <a:latin typeface="Arial" pitchFamily="34" charset="0"/>
              </a:endParaRPr>
            </a:p>
          </p:txBody>
        </p:sp>
        <p:sp>
          <p:nvSpPr>
            <p:cNvPr id="187"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8"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89"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90"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cxnSp>
        <p:nvCxnSpPr>
          <p:cNvPr id="7" name="Straight Arrow Connector 6"/>
          <p:cNvCxnSpPr/>
          <p:nvPr/>
        </p:nvCxnSpPr>
        <p:spPr bwMode="auto">
          <a:xfrm flipH="1">
            <a:off x="2631884" y="3106022"/>
            <a:ext cx="897351" cy="1032025"/>
          </a:xfrm>
          <a:prstGeom prst="straightConnector1">
            <a:avLst/>
          </a:prstGeom>
          <a:noFill/>
          <a:ln w="38100" cap="flat" cmpd="sng" algn="ctr">
            <a:solidFill>
              <a:schemeClr val="tx1"/>
            </a:solidFill>
            <a:prstDash val="solid"/>
            <a:round/>
            <a:headEnd type="none" w="med" len="med"/>
            <a:tailEnd type="arrow"/>
          </a:ln>
          <a:effectLst/>
        </p:spPr>
      </p:cxnSp>
      <p:cxnSp>
        <p:nvCxnSpPr>
          <p:cNvPr id="191" name="Straight Arrow Connector 190"/>
          <p:cNvCxnSpPr/>
          <p:nvPr/>
        </p:nvCxnSpPr>
        <p:spPr bwMode="auto">
          <a:xfrm>
            <a:off x="4194763" y="3196428"/>
            <a:ext cx="77641" cy="1032025"/>
          </a:xfrm>
          <a:prstGeom prst="straightConnector1">
            <a:avLst/>
          </a:prstGeom>
          <a:noFill/>
          <a:ln w="38100" cap="flat" cmpd="sng" algn="ctr">
            <a:solidFill>
              <a:schemeClr val="tx1"/>
            </a:solidFill>
            <a:prstDash val="solid"/>
            <a:round/>
            <a:headEnd type="none" w="med" len="med"/>
            <a:tailEnd type="arrow"/>
          </a:ln>
          <a:effectLst/>
        </p:spPr>
      </p:cxnSp>
      <p:cxnSp>
        <p:nvCxnSpPr>
          <p:cNvPr id="192" name="Straight Arrow Connector 191"/>
          <p:cNvCxnSpPr/>
          <p:nvPr/>
        </p:nvCxnSpPr>
        <p:spPr bwMode="auto">
          <a:xfrm>
            <a:off x="4550308" y="3106022"/>
            <a:ext cx="3240317" cy="1252185"/>
          </a:xfrm>
          <a:prstGeom prst="straightConnector1">
            <a:avLst/>
          </a:prstGeom>
          <a:noFill/>
          <a:ln w="38100" cap="flat" cmpd="sng" algn="ctr">
            <a:solidFill>
              <a:schemeClr val="tx1"/>
            </a:solidFill>
            <a:prstDash val="solid"/>
            <a:round/>
            <a:headEnd type="none" w="med" len="med"/>
            <a:tailEnd type="arrow"/>
          </a:ln>
          <a:effectLst/>
        </p:spPr>
      </p:cxnSp>
      <p:sp>
        <p:nvSpPr>
          <p:cNvPr id="193" name="Text Box 122"/>
          <p:cNvSpPr txBox="1">
            <a:spLocks noChangeArrowheads="1"/>
          </p:cNvSpPr>
          <p:nvPr/>
        </p:nvSpPr>
        <p:spPr bwMode="auto">
          <a:xfrm>
            <a:off x="1214783" y="2957358"/>
            <a:ext cx="640431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reducer sends </a:t>
            </a:r>
            <a:r>
              <a:rPr lang="en-US" sz="2800" i="1" dirty="0">
                <a:solidFill>
                  <a:schemeClr val="tx1"/>
                </a:solidFill>
                <a:latin typeface="Arial" pitchFamily="34" charset="0"/>
                <a:cs typeface="Arial" pitchFamily="34" charset="0"/>
              </a:rPr>
              <a:t>new centers</a:t>
            </a:r>
            <a:r>
              <a:rPr lang="en-US" sz="2800" dirty="0">
                <a:latin typeface="Arial" pitchFamily="34" charset="0"/>
                <a:cs typeface="Arial" pitchFamily="34" charset="0"/>
              </a:rPr>
              <a:t> to mappers</a:t>
            </a:r>
            <a:endParaRPr lang="en-US" sz="2800" dirty="0">
              <a:solidFill>
                <a:schemeClr val="tx1"/>
              </a:solidFill>
              <a:latin typeface="Arial" pitchFamily="34" charset="0"/>
              <a:cs typeface="Arial" pitchFamily="34" charset="0"/>
            </a:endParaRPr>
          </a:p>
        </p:txBody>
      </p:sp>
      <p:sp>
        <p:nvSpPr>
          <p:cNvPr id="194" name="Text Box 122"/>
          <p:cNvSpPr txBox="1">
            <a:spLocks noChangeArrowheads="1"/>
          </p:cNvSpPr>
          <p:nvPr/>
        </p:nvSpPr>
        <p:spPr bwMode="auto">
          <a:xfrm>
            <a:off x="945074" y="3714475"/>
            <a:ext cx="700384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process ends when centers become stable</a:t>
            </a:r>
            <a:endParaRPr lang="en-US" sz="2800" dirty="0">
              <a:solidFill>
                <a:schemeClr val="tx1"/>
              </a:solidFill>
              <a:latin typeface="Arial" pitchFamily="34" charset="0"/>
              <a:cs typeface="Arial" pitchFamily="34" charset="0"/>
            </a:endParaRPr>
          </a:p>
        </p:txBody>
      </p:sp>
      <p:sp>
        <p:nvSpPr>
          <p:cNvPr id="113" name="Rounded Rectangular Callout 112"/>
          <p:cNvSpPr/>
          <p:nvPr/>
        </p:nvSpPr>
        <p:spPr>
          <a:xfrm>
            <a:off x="5289599" y="1315478"/>
            <a:ext cx="1736255" cy="1532334"/>
          </a:xfrm>
          <a:prstGeom prst="wedgeRoundRectCallout">
            <a:avLst>
              <a:gd name="adj1" fmla="val -71128"/>
              <a:gd name="adj2" fmla="val 20675"/>
              <a:gd name="adj3" fmla="val 16667"/>
            </a:avLst>
          </a:prstGeom>
          <a:solidFill>
            <a:schemeClr val="bg1"/>
          </a:solidFill>
          <a:ln w="381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anchor="ctr">
            <a:spAutoFit/>
          </a:bodyPr>
          <a:lstStyle/>
          <a:p>
            <a:pPr algn="ctr"/>
            <a:r>
              <a:rPr lang="en-US" sz="2800" dirty="0">
                <a:solidFill>
                  <a:schemeClr val="tx1"/>
                </a:solidFill>
                <a:latin typeface="Arial" pitchFamily="34" charset="0"/>
                <a:cs typeface="Arial" pitchFamily="34" charset="0"/>
              </a:rPr>
              <a:t>0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0</a:t>
            </a:r>
            <a:r>
              <a:rPr lang="en-US" sz="2800" dirty="0">
                <a:solidFill>
                  <a:schemeClr val="tx1"/>
                </a:solidFill>
                <a:latin typeface="Arial"/>
                <a:cs typeface="Arial" pitchFamily="34" charset="0"/>
                <a:sym typeface="Symbol"/>
              </a:rPr>
              <a:t>’</a:t>
            </a:r>
            <a:endParaRPr lang="en-US" sz="2800" baseline="-25000" dirty="0">
              <a:solidFill>
                <a:schemeClr val="tx1"/>
              </a:solidFill>
              <a:latin typeface="Arial"/>
              <a:cs typeface="Arial" pitchFamily="34" charset="0"/>
              <a:sym typeface="Symbol"/>
            </a:endParaRPr>
          </a:p>
          <a:p>
            <a:pPr algn="ctr"/>
            <a:r>
              <a:rPr lang="en-US" sz="2800" dirty="0">
                <a:solidFill>
                  <a:schemeClr val="tx1"/>
                </a:solidFill>
                <a:latin typeface="Arial" pitchFamily="34" charset="0"/>
                <a:cs typeface="Arial" pitchFamily="34" charset="0"/>
              </a:rPr>
              <a:t>1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1</a:t>
            </a:r>
            <a:r>
              <a:rPr lang="en-US" sz="2800" dirty="0">
                <a:solidFill>
                  <a:schemeClr val="tx1"/>
                </a:solidFill>
                <a:latin typeface="Arial"/>
                <a:cs typeface="Arial" pitchFamily="34" charset="0"/>
                <a:sym typeface="Symbol"/>
              </a:rPr>
              <a:t>’</a:t>
            </a:r>
            <a:endParaRPr lang="en-US" sz="2800" baseline="-25000" dirty="0">
              <a:solidFill>
                <a:schemeClr val="tx1"/>
              </a:solidFill>
              <a:latin typeface="Arial"/>
              <a:cs typeface="Arial" pitchFamily="34" charset="0"/>
            </a:endParaRPr>
          </a:p>
          <a:p>
            <a:pPr algn="ctr"/>
            <a:r>
              <a:rPr lang="en-US" sz="2800" dirty="0">
                <a:solidFill>
                  <a:schemeClr val="tx1"/>
                </a:solidFill>
                <a:latin typeface="Arial" pitchFamily="34" charset="0"/>
                <a:cs typeface="Arial" pitchFamily="34" charset="0"/>
              </a:rPr>
              <a:t>2 </a:t>
            </a:r>
            <a:r>
              <a:rPr lang="en-US" sz="2800" dirty="0">
                <a:solidFill>
                  <a:schemeClr val="tx1"/>
                </a:solidFill>
                <a:latin typeface="Arial" pitchFamily="34" charset="0"/>
                <a:cs typeface="Arial" pitchFamily="34" charset="0"/>
                <a:sym typeface="Symbol"/>
              </a:rPr>
              <a:t> </a:t>
            </a:r>
            <a:r>
              <a:rPr lang="en-US" sz="2800" dirty="0">
                <a:solidFill>
                  <a:schemeClr val="tx1"/>
                </a:solidFill>
                <a:latin typeface="Arial"/>
                <a:cs typeface="Arial" pitchFamily="34" charset="0"/>
                <a:sym typeface="Symbol"/>
              </a:rPr>
              <a:t>c</a:t>
            </a:r>
            <a:r>
              <a:rPr lang="en-US" sz="2800" baseline="-25000" dirty="0">
                <a:solidFill>
                  <a:schemeClr val="tx1"/>
                </a:solidFill>
                <a:latin typeface="Arial"/>
                <a:cs typeface="Arial" pitchFamily="34" charset="0"/>
                <a:sym typeface="Symbol"/>
              </a:rPr>
              <a:t>2</a:t>
            </a:r>
            <a:r>
              <a:rPr lang="en-US" sz="2800" dirty="0">
                <a:solidFill>
                  <a:schemeClr val="tx1"/>
                </a:solidFill>
                <a:latin typeface="Arial"/>
                <a:cs typeface="Arial" pitchFamily="34" charset="0"/>
                <a:sym typeface="Symbol"/>
              </a:rPr>
              <a: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0231527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9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animBg="1"/>
      <p:bldP spid="19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To </a:t>
            </a:r>
            <a:r>
              <a:rPr lang="en-US" dirty="0" err="1"/>
              <a:t>Recaptulate</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48</a:t>
            </a:fld>
            <a:endParaRPr lang="en-US"/>
          </a:p>
        </p:txBody>
      </p:sp>
      <p:sp>
        <p:nvSpPr>
          <p:cNvPr id="5" name="Text Box 122"/>
          <p:cNvSpPr txBox="1">
            <a:spLocks noChangeArrowheads="1"/>
          </p:cNvSpPr>
          <p:nvPr/>
        </p:nvSpPr>
        <p:spPr bwMode="auto">
          <a:xfrm>
            <a:off x="1075299" y="1967240"/>
            <a:ext cx="425302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We saw two problems …</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1847632" y="2832562"/>
            <a:ext cx="4121641"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err="1">
                <a:solidFill>
                  <a:schemeClr val="tx1"/>
                </a:solidFill>
                <a:latin typeface="Arial" pitchFamily="34" charset="0"/>
                <a:cs typeface="Arial" pitchFamily="34" charset="0"/>
              </a:rPr>
              <a:t>wordcount</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&amp; </a:t>
            </a:r>
            <a:r>
              <a:rPr lang="en-US" sz="2800" dirty="0">
                <a:solidFill>
                  <a:schemeClr val="tx1"/>
                </a:solidFill>
                <a:latin typeface="Arial" pitchFamily="34" charset="0"/>
                <a:cs typeface="Arial" pitchFamily="34" charset="0"/>
              </a:rPr>
              <a:t>k-means</a:t>
            </a:r>
            <a:r>
              <a:rPr lang="en-US" sz="2800" dirty="0">
                <a:latin typeface="Arial" pitchFamily="34" charset="0"/>
                <a:cs typeface="Arial" pitchFamily="34" charset="0"/>
              </a:rPr>
              <a:t> …</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2619965" y="3697884"/>
            <a:ext cx="4745210"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with similar parallel solutions</a:t>
            </a:r>
            <a:endParaRPr lang="en-US" sz="2800" dirty="0">
              <a:solidFill>
                <a:schemeClr val="tx1"/>
              </a:solidFill>
              <a:latin typeface="Arial" pitchFamily="34" charset="0"/>
              <a:cs typeface="Arial" pitchFamily="34" charset="0"/>
            </a:endParaRPr>
          </a:p>
        </p:txBody>
      </p:sp>
      <p:sp>
        <p:nvSpPr>
          <p:cNvPr id="8" name="Text Box 122"/>
          <p:cNvSpPr txBox="1">
            <a:spLocks noChangeArrowheads="1"/>
          </p:cNvSpPr>
          <p:nvPr/>
        </p:nvSpPr>
        <p:spPr bwMode="auto">
          <a:xfrm>
            <a:off x="3392298" y="4563206"/>
            <a:ext cx="3684022" cy="523220"/>
          </a:xfrm>
          <a:prstGeom prst="rect">
            <a:avLst/>
          </a:prstGeom>
          <a:solidFill>
            <a:schemeClr val="bg1">
              <a:alpha val="89999"/>
            </a:schemeClr>
          </a:solidFill>
          <a:ln w="38100" algn="ctr">
            <a:solidFill>
              <a:srgbClr val="7030A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Map</a:t>
            </a:r>
            <a:r>
              <a:rPr lang="en-US" sz="2800" dirty="0">
                <a:latin typeface="Arial" pitchFamily="34" charset="0"/>
                <a:cs typeface="Arial" pitchFamily="34" charset="0"/>
              </a:rPr>
              <a:t> part is parallel …</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4164631" y="5428528"/>
            <a:ext cx="4344459" cy="523220"/>
          </a:xfrm>
          <a:prstGeom prst="rect">
            <a:avLst/>
          </a:prstGeom>
          <a:solidFill>
            <a:schemeClr val="bg1">
              <a:alpha val="89999"/>
            </a:schemeClr>
          </a:solidFill>
          <a:ln w="38100" algn="ctr">
            <a:solidFill>
              <a:srgbClr val="FF66CC"/>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solidFill>
                  <a:schemeClr val="tx1"/>
                </a:solidFill>
                <a:latin typeface="Arial" pitchFamily="34" charset="0"/>
                <a:cs typeface="Arial" pitchFamily="34" charset="0"/>
              </a:rPr>
              <a:t>Reduce</a:t>
            </a:r>
            <a:r>
              <a:rPr lang="en-US" sz="2800" dirty="0">
                <a:latin typeface="Arial" pitchFamily="34" charset="0"/>
                <a:cs typeface="Arial" pitchFamily="34" charset="0"/>
              </a:rPr>
              <a:t> part is sequential.</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9582422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49</a:t>
            </a:fld>
            <a:endParaRPr lang="en-US"/>
          </a:p>
        </p:txBody>
      </p:sp>
      <p:pic>
        <p:nvPicPr>
          <p:cNvPr id="2050" name="Picture 2" descr="http://www.thinkgeek.com/images/products/frontsquare/dacb_stand_back.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88429" y="224726"/>
            <a:ext cx="5997252" cy="5997252"/>
          </a:xfrm>
          <a:prstGeom prst="rect">
            <a:avLst/>
          </a:prstGeom>
          <a:noFill/>
          <a:extLst>
            <a:ext uri="{909E8E84-426E-40DD-AFC4-6F175D3DCCD1}">
              <a14:hiddenFill xmlns:a14="http://schemas.microsoft.com/office/drawing/2010/main">
                <a:solidFill>
                  <a:srgbClr val="FFFFFF"/>
                </a:solidFill>
              </a14:hiddenFill>
            </a:ext>
          </a:extLst>
        </p:spPr>
      </p:pic>
      <p:sp>
        <p:nvSpPr>
          <p:cNvPr id="6" name="Text Box 122"/>
          <p:cNvSpPr txBox="1">
            <a:spLocks noChangeArrowheads="1"/>
          </p:cNvSpPr>
          <p:nvPr/>
        </p:nvSpPr>
        <p:spPr bwMode="auto">
          <a:xfrm>
            <a:off x="2887097" y="4724893"/>
            <a:ext cx="3199915" cy="83099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4800" dirty="0">
                <a:latin typeface="Arial" pitchFamily="34" charset="0"/>
                <a:cs typeface="Arial" pitchFamily="34" charset="0"/>
              </a:rPr>
              <a:t>abstraction</a:t>
            </a:r>
            <a:endParaRPr lang="en-US" sz="4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575798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Map Function</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10F936D8-AF66-474C-A042-597428A3F87F}" type="slidenum">
              <a:rPr lang="x-none" smtClean="0"/>
              <a:pPr>
                <a:defRPr/>
              </a:pPr>
              <a:t>50</a:t>
            </a:fld>
            <a:endParaRPr lang="en-US"/>
          </a:p>
        </p:txBody>
      </p:sp>
      <p:grpSp>
        <p:nvGrpSpPr>
          <p:cNvPr id="21" name="Group 20"/>
          <p:cNvGrpSpPr/>
          <p:nvPr/>
        </p:nvGrpSpPr>
        <p:grpSpPr>
          <a:xfrm>
            <a:off x="336246" y="2616328"/>
            <a:ext cx="8471509" cy="1625345"/>
            <a:chOff x="385558" y="3405271"/>
            <a:chExt cx="8471509" cy="1625345"/>
          </a:xfrm>
        </p:grpSpPr>
        <p:grpSp>
          <p:nvGrpSpPr>
            <p:cNvPr id="5" name="Group 13"/>
            <p:cNvGrpSpPr>
              <a:grpSpLocks/>
            </p:cNvGrpSpPr>
            <p:nvPr/>
          </p:nvGrpSpPr>
          <p:grpSpPr bwMode="auto">
            <a:xfrm flipH="1">
              <a:off x="3429504" y="3405271"/>
              <a:ext cx="1819360" cy="1625345"/>
              <a:chOff x="864" y="1968"/>
              <a:chExt cx="912" cy="816"/>
            </a:xfrm>
          </p:grpSpPr>
          <p:sp>
            <p:nvSpPr>
              <p:cNvPr id="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0000"/>
              </a:solidFill>
              <a:ln w="38100">
                <a:solidFill>
                  <a:schemeClr val="tx1"/>
                </a:solidFill>
                <a:round/>
                <a:headEnd/>
                <a:tailEnd/>
              </a:ln>
            </p:spPr>
            <p:txBody>
              <a:bodyPr wrap="none" anchor="ctr"/>
              <a:lstStyle/>
              <a:p>
                <a:endParaRPr lang="en-US" dirty="0">
                  <a:latin typeface="Arial" pitchFamily="34" charset="0"/>
                </a:endParaRPr>
              </a:p>
            </p:txBody>
          </p:sp>
          <p:sp>
            <p:nvSpPr>
              <p:cNvPr id="13"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7" name="TextBox 16"/>
            <p:cNvSpPr txBox="1"/>
            <p:nvPr/>
          </p:nvSpPr>
          <p:spPr bwMode="auto">
            <a:xfrm>
              <a:off x="385558" y="3894778"/>
              <a:ext cx="1553630" cy="646331"/>
            </a:xfrm>
            <a:prstGeom prst="rect">
              <a:avLst/>
            </a:prstGeom>
            <a:noFill/>
            <a:ln w="38100" algn="ctr">
              <a:noFill/>
              <a:miter lim="800000"/>
              <a:headEnd/>
              <a:tailEnd/>
            </a:ln>
            <a:effectLst/>
          </p:spPr>
          <p:txBody>
            <a:bodyPr wrap="none" rtlCol="0">
              <a:spAutoFit/>
            </a:bodyPr>
            <a:lstStyle/>
            <a:p>
              <a:pPr algn="l"/>
              <a:r>
                <a:rPr lang="en-US" sz="3600" dirty="0">
                  <a:latin typeface="Arial" pitchFamily="34" charset="0"/>
                  <a:cs typeface="Arial" pitchFamily="34" charset="0"/>
                </a:rPr>
                <a:t>(</a:t>
              </a:r>
              <a:r>
                <a:rPr lang="en-US" sz="3600" dirty="0">
                  <a:latin typeface="Arial"/>
                  <a:cs typeface="Arial" pitchFamily="34" charset="0"/>
                </a:rPr>
                <a:t>k</a:t>
              </a:r>
              <a:r>
                <a:rPr lang="en-US" sz="3600" baseline="-25000" dirty="0">
                  <a:latin typeface="Arial"/>
                  <a:cs typeface="Arial" pitchFamily="34" charset="0"/>
                </a:rPr>
                <a:t>1</a:t>
              </a:r>
              <a:r>
                <a:rPr lang="en-US" sz="3600" dirty="0">
                  <a:latin typeface="Arial" pitchFamily="34" charset="0"/>
                  <a:cs typeface="Arial" pitchFamily="34" charset="0"/>
                </a:rPr>
                <a:t>, </a:t>
              </a:r>
              <a:r>
                <a:rPr lang="en-US" sz="3600" dirty="0">
                  <a:latin typeface="Arial"/>
                  <a:cs typeface="Arial" pitchFamily="34" charset="0"/>
                </a:rPr>
                <a:t>v</a:t>
              </a:r>
              <a:r>
                <a:rPr lang="en-US" sz="3600" baseline="-25000" dirty="0">
                  <a:latin typeface="Arial"/>
                  <a:cs typeface="Arial" pitchFamily="34" charset="0"/>
                </a:rPr>
                <a:t>1</a:t>
              </a:r>
              <a:r>
                <a:rPr lang="en-US" sz="3600" dirty="0">
                  <a:latin typeface="Arial" pitchFamily="34" charset="0"/>
                  <a:cs typeface="Arial" pitchFamily="34" charset="0"/>
                </a:rPr>
                <a:t>)</a:t>
              </a:r>
            </a:p>
          </p:txBody>
        </p:sp>
        <p:sp>
          <p:nvSpPr>
            <p:cNvPr id="18" name="TextBox 17"/>
            <p:cNvSpPr txBox="1"/>
            <p:nvPr/>
          </p:nvSpPr>
          <p:spPr bwMode="auto">
            <a:xfrm>
              <a:off x="6739180" y="3894778"/>
              <a:ext cx="2117887" cy="646331"/>
            </a:xfrm>
            <a:prstGeom prst="rect">
              <a:avLst/>
            </a:prstGeom>
            <a:noFill/>
            <a:ln w="38100" algn="ctr">
              <a:noFill/>
              <a:miter lim="800000"/>
              <a:headEnd/>
              <a:tailEnd/>
            </a:ln>
            <a:effectLst/>
          </p:spPr>
          <p:txBody>
            <a:bodyPr wrap="none" rtlCol="0">
              <a:spAutoFit/>
            </a:bodyPr>
            <a:lstStyle/>
            <a:p>
              <a:pPr algn="l"/>
              <a:r>
                <a:rPr lang="en-US" sz="3600" dirty="0">
                  <a:latin typeface="Arial"/>
                  <a:cs typeface="Arial" pitchFamily="34" charset="0"/>
                </a:rPr>
                <a:t>list(k</a:t>
              </a:r>
              <a:r>
                <a:rPr lang="en-US" sz="3600" baseline="-25000" dirty="0">
                  <a:latin typeface="Arial"/>
                  <a:cs typeface="Arial" pitchFamily="34" charset="0"/>
                </a:rPr>
                <a:t>2</a:t>
              </a:r>
              <a:r>
                <a:rPr lang="en-US" sz="3600" dirty="0">
                  <a:latin typeface="Arial"/>
                  <a:cs typeface="Arial" pitchFamily="34" charset="0"/>
                </a:rPr>
                <a:t>, v</a:t>
              </a:r>
              <a:r>
                <a:rPr lang="en-US" sz="3600" baseline="-25000" dirty="0">
                  <a:latin typeface="Arial"/>
                  <a:cs typeface="Arial" pitchFamily="34" charset="0"/>
                </a:rPr>
                <a:t>2</a:t>
              </a:r>
              <a:r>
                <a:rPr lang="en-US" sz="3600" dirty="0">
                  <a:latin typeface="Arial" pitchFamily="34" charset="0"/>
                  <a:cs typeface="Arial" pitchFamily="34" charset="0"/>
                </a:rPr>
                <a:t>)</a:t>
              </a:r>
            </a:p>
          </p:txBody>
        </p:sp>
        <p:sp>
          <p:nvSpPr>
            <p:cNvPr id="19" name="Right Arrow 18"/>
            <p:cNvSpPr/>
            <p:nvPr/>
          </p:nvSpPr>
          <p:spPr bwMode="auto">
            <a:xfrm>
              <a:off x="2312387" y="3767832"/>
              <a:ext cx="743919" cy="900223"/>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20" name="Right Arrow 19"/>
            <p:cNvSpPr/>
            <p:nvPr/>
          </p:nvSpPr>
          <p:spPr bwMode="auto">
            <a:xfrm>
              <a:off x="5622062" y="3767832"/>
              <a:ext cx="743919" cy="900223"/>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grpSp>
      <p:sp>
        <p:nvSpPr>
          <p:cNvPr id="22" name="Text Box 122"/>
          <p:cNvSpPr txBox="1">
            <a:spLocks noChangeArrowheads="1"/>
          </p:cNvSpPr>
          <p:nvPr/>
        </p:nvSpPr>
        <p:spPr bwMode="auto">
          <a:xfrm>
            <a:off x="336246" y="4317873"/>
            <a:ext cx="232307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doc, contents</a:t>
            </a:r>
            <a:endParaRPr lang="en-US" sz="2800" dirty="0">
              <a:solidFill>
                <a:schemeClr val="tx1"/>
              </a:solidFill>
              <a:latin typeface="Arial" pitchFamily="34" charset="0"/>
              <a:cs typeface="Arial" pitchFamily="34" charset="0"/>
            </a:endParaRPr>
          </a:p>
        </p:txBody>
      </p:sp>
      <p:sp>
        <p:nvSpPr>
          <p:cNvPr id="23" name="Text Box 122"/>
          <p:cNvSpPr txBox="1">
            <a:spLocks noChangeArrowheads="1"/>
          </p:cNvSpPr>
          <p:nvPr/>
        </p:nvSpPr>
        <p:spPr bwMode="auto">
          <a:xfrm>
            <a:off x="6621885" y="4241673"/>
            <a:ext cx="20441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word, count</a:t>
            </a:r>
            <a:endParaRPr lang="en-US" sz="2800" dirty="0">
              <a:solidFill>
                <a:schemeClr val="tx1"/>
              </a:solidFill>
              <a:latin typeface="Arial" pitchFamily="34" charset="0"/>
              <a:cs typeface="Arial" pitchFamily="34" charset="0"/>
            </a:endParaRPr>
          </a:p>
        </p:txBody>
      </p:sp>
      <p:sp>
        <p:nvSpPr>
          <p:cNvPr id="24" name="Text Box 122"/>
          <p:cNvSpPr txBox="1">
            <a:spLocks noChangeArrowheads="1"/>
          </p:cNvSpPr>
          <p:nvPr/>
        </p:nvSpPr>
        <p:spPr bwMode="auto">
          <a:xfrm>
            <a:off x="336246" y="5198693"/>
            <a:ext cx="2901756"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cluster ID, center</a:t>
            </a:r>
            <a:endParaRPr lang="en-US" sz="2800" dirty="0">
              <a:solidFill>
                <a:schemeClr val="tx1"/>
              </a:solidFill>
              <a:latin typeface="Arial" pitchFamily="34" charset="0"/>
              <a:cs typeface="Arial" pitchFamily="34" charset="0"/>
            </a:endParaRPr>
          </a:p>
        </p:txBody>
      </p:sp>
      <p:sp>
        <p:nvSpPr>
          <p:cNvPr id="25" name="Text Box 122"/>
          <p:cNvSpPr txBox="1">
            <a:spLocks noChangeArrowheads="1"/>
          </p:cNvSpPr>
          <p:nvPr/>
        </p:nvSpPr>
        <p:spPr bwMode="auto">
          <a:xfrm>
            <a:off x="5983889" y="5122493"/>
            <a:ext cx="2682145"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point, cluster ID</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5230959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Reduce Function</a:t>
            </a:r>
          </a:p>
        </p:txBody>
      </p:sp>
      <p:sp>
        <p:nvSpPr>
          <p:cNvPr id="2" name="Footer Placeholder 1"/>
          <p:cNvSpPr>
            <a:spLocks noGrp="1"/>
          </p:cNvSpPr>
          <p:nvPr>
            <p:ph type="ftr" sz="quarter" idx="10"/>
          </p:nvPr>
        </p:nvSpPr>
        <p:spPr/>
        <p:txBody>
          <a:bodyPr/>
          <a:lstStyle/>
          <a:p>
            <a:pPr>
              <a:defRPr/>
            </a:pPr>
            <a:r>
              <a:rPr lang="en-US" dirty="0"/>
              <a:t>Art of Multiprocessor Programming</a:t>
            </a:r>
          </a:p>
        </p:txBody>
      </p:sp>
      <p:sp>
        <p:nvSpPr>
          <p:cNvPr id="3" name="Slide Number Placeholder 2"/>
          <p:cNvSpPr>
            <a:spLocks noGrp="1"/>
          </p:cNvSpPr>
          <p:nvPr>
            <p:ph type="sldNum" sz="quarter" idx="11"/>
          </p:nvPr>
        </p:nvSpPr>
        <p:spPr/>
        <p:txBody>
          <a:bodyPr/>
          <a:lstStyle/>
          <a:p>
            <a:pPr>
              <a:defRPr/>
            </a:pPr>
            <a:fld id="{10F936D8-AF66-474C-A042-597428A3F87F}" type="slidenum">
              <a:rPr lang="x-none" smtClean="0"/>
              <a:pPr>
                <a:defRPr/>
              </a:pPr>
              <a:t>51</a:t>
            </a:fld>
            <a:endParaRPr lang="en-US"/>
          </a:p>
        </p:txBody>
      </p:sp>
      <p:grpSp>
        <p:nvGrpSpPr>
          <p:cNvPr id="26" name="Group 25"/>
          <p:cNvGrpSpPr/>
          <p:nvPr/>
        </p:nvGrpSpPr>
        <p:grpSpPr>
          <a:xfrm>
            <a:off x="665662" y="2616328"/>
            <a:ext cx="7812676" cy="1625345"/>
            <a:chOff x="665662" y="2616328"/>
            <a:chExt cx="7812676" cy="1625345"/>
          </a:xfrm>
        </p:grpSpPr>
        <p:grpSp>
          <p:nvGrpSpPr>
            <p:cNvPr id="5" name="Group 13"/>
            <p:cNvGrpSpPr>
              <a:grpSpLocks/>
            </p:cNvGrpSpPr>
            <p:nvPr/>
          </p:nvGrpSpPr>
          <p:grpSpPr bwMode="auto">
            <a:xfrm flipH="1">
              <a:off x="4145625" y="2616328"/>
              <a:ext cx="1819360" cy="1625345"/>
              <a:chOff x="864" y="1968"/>
              <a:chExt cx="912" cy="816"/>
            </a:xfrm>
          </p:grpSpPr>
          <p:sp>
            <p:nvSpPr>
              <p:cNvPr id="6" name="Freeform 14"/>
              <p:cNvSpPr>
                <a:spLocks/>
              </p:cNvSpPr>
              <p:nvPr/>
            </p:nvSpPr>
            <p:spPr bwMode="auto">
              <a:xfrm>
                <a:off x="1632" y="2208"/>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7" name="Freeform 15"/>
              <p:cNvSpPr>
                <a:spLocks/>
              </p:cNvSpPr>
              <p:nvPr/>
            </p:nvSpPr>
            <p:spPr bwMode="auto">
              <a:xfrm>
                <a:off x="1488" y="2112"/>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8" name="Freeform 16"/>
              <p:cNvSpPr>
                <a:spLocks/>
              </p:cNvSpPr>
              <p:nvPr/>
            </p:nvSpPr>
            <p:spPr bwMode="auto">
              <a:xfrm>
                <a:off x="1344" y="2016"/>
                <a:ext cx="144" cy="336"/>
              </a:xfrm>
              <a:custGeom>
                <a:avLst/>
                <a:gdLst>
                  <a:gd name="T0" fmla="*/ 0 w 144"/>
                  <a:gd name="T1" fmla="*/ 48 h 336"/>
                  <a:gd name="T2" fmla="*/ 96 w 144"/>
                  <a:gd name="T3" fmla="*/ 0 h 336"/>
                  <a:gd name="T4" fmla="*/ 144 w 144"/>
                  <a:gd name="T5" fmla="*/ 48 h 336"/>
                  <a:gd name="T6" fmla="*/ 144 w 144"/>
                  <a:gd name="T7" fmla="*/ 336 h 336"/>
                  <a:gd name="T8" fmla="*/ 96 w 144"/>
                  <a:gd name="T9" fmla="*/ 288 h 336"/>
                  <a:gd name="T10" fmla="*/ 96 w 144"/>
                  <a:gd name="T11" fmla="*/ 96 h 336"/>
                  <a:gd name="T12" fmla="*/ 0 w 144"/>
                  <a:gd name="T13" fmla="*/ 144 h 336"/>
                  <a:gd name="T14" fmla="*/ 0 w 144"/>
                  <a:gd name="T15" fmla="*/ 48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9" name="Freeform 17"/>
              <p:cNvSpPr>
                <a:spLocks/>
              </p:cNvSpPr>
              <p:nvPr/>
            </p:nvSpPr>
            <p:spPr bwMode="auto">
              <a:xfrm>
                <a:off x="1200" y="1968"/>
                <a:ext cx="144" cy="288"/>
              </a:xfrm>
              <a:custGeom>
                <a:avLst/>
                <a:gdLst>
                  <a:gd name="T0" fmla="*/ 0 w 144"/>
                  <a:gd name="T1" fmla="*/ 9 h 336"/>
                  <a:gd name="T2" fmla="*/ 96 w 144"/>
                  <a:gd name="T3" fmla="*/ 0 h 336"/>
                  <a:gd name="T4" fmla="*/ 144 w 144"/>
                  <a:gd name="T5" fmla="*/ 9 h 336"/>
                  <a:gd name="T6" fmla="*/ 144 w 144"/>
                  <a:gd name="T7" fmla="*/ 63 h 336"/>
                  <a:gd name="T8" fmla="*/ 96 w 144"/>
                  <a:gd name="T9" fmla="*/ 54 h 336"/>
                  <a:gd name="T10" fmla="*/ 96 w 144"/>
                  <a:gd name="T11" fmla="*/ 18 h 336"/>
                  <a:gd name="T12" fmla="*/ 0 w 144"/>
                  <a:gd name="T13" fmla="*/ 27 h 336"/>
                  <a:gd name="T14" fmla="*/ 0 w 144"/>
                  <a:gd name="T15" fmla="*/ 9 h 336"/>
                  <a:gd name="T16" fmla="*/ 0 60000 65536"/>
                  <a:gd name="T17" fmla="*/ 0 60000 65536"/>
                  <a:gd name="T18" fmla="*/ 0 60000 65536"/>
                  <a:gd name="T19" fmla="*/ 0 60000 65536"/>
                  <a:gd name="T20" fmla="*/ 0 60000 65536"/>
                  <a:gd name="T21" fmla="*/ 0 60000 65536"/>
                  <a:gd name="T22" fmla="*/ 0 60000 65536"/>
                  <a:gd name="T23" fmla="*/ 0 60000 65536"/>
                  <a:gd name="T24" fmla="*/ 0 w 144"/>
                  <a:gd name="T25" fmla="*/ 0 h 336"/>
                  <a:gd name="T26" fmla="*/ 144 w 144"/>
                  <a:gd name="T27" fmla="*/ 336 h 336"/>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144" h="336">
                    <a:moveTo>
                      <a:pt x="0" y="48"/>
                    </a:moveTo>
                    <a:lnTo>
                      <a:pt x="96" y="0"/>
                    </a:lnTo>
                    <a:lnTo>
                      <a:pt x="144" y="48"/>
                    </a:lnTo>
                    <a:lnTo>
                      <a:pt x="144" y="336"/>
                    </a:lnTo>
                    <a:lnTo>
                      <a:pt x="96" y="288"/>
                    </a:lnTo>
                    <a:lnTo>
                      <a:pt x="96" y="96"/>
                    </a:lnTo>
                    <a:lnTo>
                      <a:pt x="0" y="144"/>
                    </a:lnTo>
                    <a:lnTo>
                      <a:pt x="0" y="48"/>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0" name="Freeform 18"/>
              <p:cNvSpPr>
                <a:spLocks/>
              </p:cNvSpPr>
              <p:nvPr/>
            </p:nvSpPr>
            <p:spPr bwMode="auto">
              <a:xfrm>
                <a:off x="939" y="1968"/>
                <a:ext cx="789" cy="535"/>
              </a:xfrm>
              <a:custGeom>
                <a:avLst/>
                <a:gdLst>
                  <a:gd name="T0" fmla="*/ 261 w 789"/>
                  <a:gd name="T1" fmla="*/ 0 h 535"/>
                  <a:gd name="T2" fmla="*/ 789 w 789"/>
                  <a:gd name="T3" fmla="*/ 336 h 535"/>
                  <a:gd name="T4" fmla="*/ 494 w 789"/>
                  <a:gd name="T5" fmla="*/ 535 h 535"/>
                  <a:gd name="T6" fmla="*/ 0 w 789"/>
                  <a:gd name="T7" fmla="*/ 96 h 535"/>
                  <a:gd name="T8" fmla="*/ 261 w 789"/>
                  <a:gd name="T9" fmla="*/ 0 h 535"/>
                  <a:gd name="T10" fmla="*/ 0 60000 65536"/>
                  <a:gd name="T11" fmla="*/ 0 60000 65536"/>
                  <a:gd name="T12" fmla="*/ 0 60000 65536"/>
                  <a:gd name="T13" fmla="*/ 0 60000 65536"/>
                  <a:gd name="T14" fmla="*/ 0 60000 65536"/>
                  <a:gd name="T15" fmla="*/ 0 w 789"/>
                  <a:gd name="T16" fmla="*/ 0 h 535"/>
                  <a:gd name="T17" fmla="*/ 789 w 789"/>
                  <a:gd name="T18" fmla="*/ 535 h 535"/>
                </a:gdLst>
                <a:ahLst/>
                <a:cxnLst>
                  <a:cxn ang="T10">
                    <a:pos x="T0" y="T1"/>
                  </a:cxn>
                  <a:cxn ang="T11">
                    <a:pos x="T2" y="T3"/>
                  </a:cxn>
                  <a:cxn ang="T12">
                    <a:pos x="T4" y="T5"/>
                  </a:cxn>
                  <a:cxn ang="T13">
                    <a:pos x="T6" y="T7"/>
                  </a:cxn>
                  <a:cxn ang="T14">
                    <a:pos x="T8" y="T9"/>
                  </a:cxn>
                </a:cxnLst>
                <a:rect l="T15" t="T16" r="T17" b="T18"/>
                <a:pathLst>
                  <a:path w="789" h="535">
                    <a:moveTo>
                      <a:pt x="261" y="0"/>
                    </a:moveTo>
                    <a:lnTo>
                      <a:pt x="789" y="336"/>
                    </a:lnTo>
                    <a:lnTo>
                      <a:pt x="494" y="535"/>
                    </a:lnTo>
                    <a:lnTo>
                      <a:pt x="0" y="96"/>
                    </a:lnTo>
                    <a:lnTo>
                      <a:pt x="26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1" name="Freeform 19"/>
              <p:cNvSpPr>
                <a:spLocks/>
              </p:cNvSpPr>
              <p:nvPr/>
            </p:nvSpPr>
            <p:spPr bwMode="auto">
              <a:xfrm>
                <a:off x="949" y="2064"/>
                <a:ext cx="491" cy="567"/>
              </a:xfrm>
              <a:custGeom>
                <a:avLst/>
                <a:gdLst>
                  <a:gd name="T0" fmla="*/ 11 w 491"/>
                  <a:gd name="T1" fmla="*/ 0 h 567"/>
                  <a:gd name="T2" fmla="*/ 491 w 491"/>
                  <a:gd name="T3" fmla="*/ 432 h 567"/>
                  <a:gd name="T4" fmla="*/ 484 w 491"/>
                  <a:gd name="T5" fmla="*/ 567 h 567"/>
                  <a:gd name="T6" fmla="*/ 0 w 491"/>
                  <a:gd name="T7" fmla="*/ 119 h 567"/>
                  <a:gd name="T8" fmla="*/ 11 w 491"/>
                  <a:gd name="T9" fmla="*/ 0 h 567"/>
                  <a:gd name="T10" fmla="*/ 0 60000 65536"/>
                  <a:gd name="T11" fmla="*/ 0 60000 65536"/>
                  <a:gd name="T12" fmla="*/ 0 60000 65536"/>
                  <a:gd name="T13" fmla="*/ 0 60000 65536"/>
                  <a:gd name="T14" fmla="*/ 0 60000 65536"/>
                  <a:gd name="T15" fmla="*/ 0 w 491"/>
                  <a:gd name="T16" fmla="*/ 0 h 567"/>
                  <a:gd name="T17" fmla="*/ 491 w 491"/>
                  <a:gd name="T18" fmla="*/ 567 h 567"/>
                </a:gdLst>
                <a:ahLst/>
                <a:cxnLst>
                  <a:cxn ang="T10">
                    <a:pos x="T0" y="T1"/>
                  </a:cxn>
                  <a:cxn ang="T11">
                    <a:pos x="T2" y="T3"/>
                  </a:cxn>
                  <a:cxn ang="T12">
                    <a:pos x="T4" y="T5"/>
                  </a:cxn>
                  <a:cxn ang="T13">
                    <a:pos x="T6" y="T7"/>
                  </a:cxn>
                  <a:cxn ang="T14">
                    <a:pos x="T8" y="T9"/>
                  </a:cxn>
                </a:cxnLst>
                <a:rect l="T15" t="T16" r="T17" b="T18"/>
                <a:pathLst>
                  <a:path w="491" h="567">
                    <a:moveTo>
                      <a:pt x="11" y="0"/>
                    </a:moveTo>
                    <a:lnTo>
                      <a:pt x="491" y="432"/>
                    </a:lnTo>
                    <a:lnTo>
                      <a:pt x="484" y="567"/>
                    </a:lnTo>
                    <a:lnTo>
                      <a:pt x="0" y="119"/>
                    </a:lnTo>
                    <a:lnTo>
                      <a:pt x="11"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2" name="Freeform 20"/>
              <p:cNvSpPr>
                <a:spLocks/>
              </p:cNvSpPr>
              <p:nvPr/>
            </p:nvSpPr>
            <p:spPr bwMode="auto">
              <a:xfrm>
                <a:off x="1424" y="2304"/>
                <a:ext cx="304" cy="327"/>
              </a:xfrm>
              <a:custGeom>
                <a:avLst/>
                <a:gdLst>
                  <a:gd name="T0" fmla="*/ 304 w 304"/>
                  <a:gd name="T1" fmla="*/ 0 h 327"/>
                  <a:gd name="T2" fmla="*/ 304 w 304"/>
                  <a:gd name="T3" fmla="*/ 96 h 327"/>
                  <a:gd name="T4" fmla="*/ 0 w 304"/>
                  <a:gd name="T5" fmla="*/ 327 h 327"/>
                  <a:gd name="T6" fmla="*/ 18 w 304"/>
                  <a:gd name="T7" fmla="*/ 181 h 327"/>
                  <a:gd name="T8" fmla="*/ 304 w 304"/>
                  <a:gd name="T9" fmla="*/ 0 h 327"/>
                  <a:gd name="T10" fmla="*/ 0 60000 65536"/>
                  <a:gd name="T11" fmla="*/ 0 60000 65536"/>
                  <a:gd name="T12" fmla="*/ 0 60000 65536"/>
                  <a:gd name="T13" fmla="*/ 0 60000 65536"/>
                  <a:gd name="T14" fmla="*/ 0 60000 65536"/>
                  <a:gd name="T15" fmla="*/ 0 w 304"/>
                  <a:gd name="T16" fmla="*/ 0 h 327"/>
                  <a:gd name="T17" fmla="*/ 304 w 304"/>
                  <a:gd name="T18" fmla="*/ 327 h 327"/>
                </a:gdLst>
                <a:ahLst/>
                <a:cxnLst>
                  <a:cxn ang="T10">
                    <a:pos x="T0" y="T1"/>
                  </a:cxn>
                  <a:cxn ang="T11">
                    <a:pos x="T2" y="T3"/>
                  </a:cxn>
                  <a:cxn ang="T12">
                    <a:pos x="T4" y="T5"/>
                  </a:cxn>
                  <a:cxn ang="T13">
                    <a:pos x="T6" y="T7"/>
                  </a:cxn>
                  <a:cxn ang="T14">
                    <a:pos x="T8" y="T9"/>
                  </a:cxn>
                </a:cxnLst>
                <a:rect l="T15" t="T16" r="T17" b="T18"/>
                <a:pathLst>
                  <a:path w="304" h="327">
                    <a:moveTo>
                      <a:pt x="304" y="0"/>
                    </a:moveTo>
                    <a:lnTo>
                      <a:pt x="304" y="96"/>
                    </a:lnTo>
                    <a:lnTo>
                      <a:pt x="0" y="327"/>
                    </a:lnTo>
                    <a:lnTo>
                      <a:pt x="18" y="181"/>
                    </a:lnTo>
                    <a:lnTo>
                      <a:pt x="304" y="0"/>
                    </a:lnTo>
                    <a:close/>
                  </a:path>
                </a:pathLst>
              </a:custGeom>
              <a:solidFill>
                <a:srgbClr val="FFFF00"/>
              </a:solidFill>
              <a:ln w="38100">
                <a:solidFill>
                  <a:schemeClr val="tx1"/>
                </a:solidFill>
                <a:round/>
                <a:headEnd/>
                <a:tailEnd/>
              </a:ln>
            </p:spPr>
            <p:txBody>
              <a:bodyPr wrap="none" anchor="ctr"/>
              <a:lstStyle/>
              <a:p>
                <a:endParaRPr lang="en-US" dirty="0">
                  <a:latin typeface="Arial" pitchFamily="34" charset="0"/>
                </a:endParaRPr>
              </a:p>
            </p:txBody>
          </p:sp>
          <p:sp>
            <p:nvSpPr>
              <p:cNvPr id="13" name="Freeform 21"/>
              <p:cNvSpPr>
                <a:spLocks/>
              </p:cNvSpPr>
              <p:nvPr/>
            </p:nvSpPr>
            <p:spPr bwMode="auto">
              <a:xfrm>
                <a:off x="1200" y="2448"/>
                <a:ext cx="240" cy="336"/>
              </a:xfrm>
              <a:custGeom>
                <a:avLst/>
                <a:gdLst>
                  <a:gd name="T0" fmla="*/ 5 w 336"/>
                  <a:gd name="T1" fmla="*/ 0 h 432"/>
                  <a:gd name="T2" fmla="*/ 8 w 336"/>
                  <a:gd name="T3" fmla="*/ 5 h 432"/>
                  <a:gd name="T4" fmla="*/ 2 w 336"/>
                  <a:gd name="T5" fmla="*/ 9 h 432"/>
                  <a:gd name="T6" fmla="*/ 2 w 336"/>
                  <a:gd name="T7" fmla="*/ 27 h 432"/>
                  <a:gd name="T8" fmla="*/ 0 w 336"/>
                  <a:gd name="T9" fmla="*/ 21 h 432"/>
                  <a:gd name="T10" fmla="*/ 0 w 336"/>
                  <a:gd name="T11" fmla="*/ 3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4" name="Freeform 22"/>
              <p:cNvSpPr>
                <a:spLocks/>
              </p:cNvSpPr>
              <p:nvPr/>
            </p:nvSpPr>
            <p:spPr bwMode="auto">
              <a:xfrm>
                <a:off x="1056" y="2352"/>
                <a:ext cx="240" cy="288"/>
              </a:xfrm>
              <a:custGeom>
                <a:avLst/>
                <a:gdLst>
                  <a:gd name="T0" fmla="*/ 5 w 336"/>
                  <a:gd name="T1" fmla="*/ 0 h 432"/>
                  <a:gd name="T2" fmla="*/ 8 w 336"/>
                  <a:gd name="T3" fmla="*/ 1 h 432"/>
                  <a:gd name="T4" fmla="*/ 2 w 336"/>
                  <a:gd name="T5" fmla="*/ 2 h 432"/>
                  <a:gd name="T6" fmla="*/ 2 w 336"/>
                  <a:gd name="T7" fmla="*/ 5 h 432"/>
                  <a:gd name="T8" fmla="*/ 0 w 336"/>
                  <a:gd name="T9" fmla="*/ 4 h 432"/>
                  <a:gd name="T10" fmla="*/ 0 w 336"/>
                  <a:gd name="T11" fmla="*/ 1 h 432"/>
                  <a:gd name="T12" fmla="*/ 5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5" name="Freeform 23"/>
              <p:cNvSpPr>
                <a:spLocks/>
              </p:cNvSpPr>
              <p:nvPr/>
            </p:nvSpPr>
            <p:spPr bwMode="auto">
              <a:xfrm>
                <a:off x="960" y="2256"/>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sp>
            <p:nvSpPr>
              <p:cNvPr id="16" name="Freeform 24"/>
              <p:cNvSpPr>
                <a:spLocks/>
              </p:cNvSpPr>
              <p:nvPr/>
            </p:nvSpPr>
            <p:spPr bwMode="auto">
              <a:xfrm>
                <a:off x="864" y="2160"/>
                <a:ext cx="192" cy="288"/>
              </a:xfrm>
              <a:custGeom>
                <a:avLst/>
                <a:gdLst>
                  <a:gd name="T0" fmla="*/ 1 w 336"/>
                  <a:gd name="T1" fmla="*/ 0 h 432"/>
                  <a:gd name="T2" fmla="*/ 1 w 336"/>
                  <a:gd name="T3" fmla="*/ 1 h 432"/>
                  <a:gd name="T4" fmla="*/ 1 w 336"/>
                  <a:gd name="T5" fmla="*/ 2 h 432"/>
                  <a:gd name="T6" fmla="*/ 1 w 336"/>
                  <a:gd name="T7" fmla="*/ 5 h 432"/>
                  <a:gd name="T8" fmla="*/ 0 w 336"/>
                  <a:gd name="T9" fmla="*/ 4 h 432"/>
                  <a:gd name="T10" fmla="*/ 0 w 336"/>
                  <a:gd name="T11" fmla="*/ 1 h 432"/>
                  <a:gd name="T12" fmla="*/ 1 w 336"/>
                  <a:gd name="T13" fmla="*/ 0 h 432"/>
                  <a:gd name="T14" fmla="*/ 0 60000 65536"/>
                  <a:gd name="T15" fmla="*/ 0 60000 65536"/>
                  <a:gd name="T16" fmla="*/ 0 60000 65536"/>
                  <a:gd name="T17" fmla="*/ 0 60000 65536"/>
                  <a:gd name="T18" fmla="*/ 0 60000 65536"/>
                  <a:gd name="T19" fmla="*/ 0 60000 65536"/>
                  <a:gd name="T20" fmla="*/ 0 60000 65536"/>
                  <a:gd name="T21" fmla="*/ 0 w 336"/>
                  <a:gd name="T22" fmla="*/ 0 h 432"/>
                  <a:gd name="T23" fmla="*/ 336 w 336"/>
                  <a:gd name="T24" fmla="*/ 432 h 432"/>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36" h="432">
                    <a:moveTo>
                      <a:pt x="192" y="0"/>
                    </a:moveTo>
                    <a:lnTo>
                      <a:pt x="336" y="96"/>
                    </a:lnTo>
                    <a:lnTo>
                      <a:pt x="96" y="144"/>
                    </a:lnTo>
                    <a:lnTo>
                      <a:pt x="96" y="432"/>
                    </a:lnTo>
                    <a:lnTo>
                      <a:pt x="0" y="336"/>
                    </a:lnTo>
                    <a:lnTo>
                      <a:pt x="0" y="48"/>
                    </a:lnTo>
                    <a:lnTo>
                      <a:pt x="192" y="0"/>
                    </a:lnTo>
                    <a:close/>
                  </a:path>
                </a:pathLst>
              </a:custGeom>
              <a:solidFill>
                <a:schemeClr val="tx1"/>
              </a:solidFill>
              <a:ln w="9525">
                <a:solidFill>
                  <a:schemeClr val="tx1"/>
                </a:solidFill>
                <a:round/>
                <a:headEnd/>
                <a:tailEnd/>
              </a:ln>
            </p:spPr>
            <p:txBody>
              <a:bodyPr wrap="none" anchor="ctr"/>
              <a:lstStyle/>
              <a:p>
                <a:endParaRPr lang="en-US" dirty="0">
                  <a:latin typeface="Arial" pitchFamily="34" charset="0"/>
                </a:endParaRPr>
              </a:p>
            </p:txBody>
          </p:sp>
        </p:grpSp>
        <p:sp>
          <p:nvSpPr>
            <p:cNvPr id="17" name="TextBox 16"/>
            <p:cNvSpPr txBox="1"/>
            <p:nvPr/>
          </p:nvSpPr>
          <p:spPr bwMode="auto">
            <a:xfrm>
              <a:off x="665662" y="3105835"/>
              <a:ext cx="2425664" cy="646331"/>
            </a:xfrm>
            <a:prstGeom prst="rect">
              <a:avLst/>
            </a:prstGeom>
            <a:noFill/>
            <a:ln w="38100" algn="ctr">
              <a:noFill/>
              <a:miter lim="800000"/>
              <a:headEnd/>
              <a:tailEnd/>
            </a:ln>
            <a:effectLst/>
          </p:spPr>
          <p:txBody>
            <a:bodyPr wrap="none" rtlCol="0">
              <a:spAutoFit/>
            </a:bodyPr>
            <a:lstStyle/>
            <a:p>
              <a:pPr algn="l"/>
              <a:r>
                <a:rPr lang="en-US" sz="3600" dirty="0">
                  <a:latin typeface="Arial" pitchFamily="34" charset="0"/>
                  <a:cs typeface="Arial" pitchFamily="34" charset="0"/>
                </a:rPr>
                <a:t>(</a:t>
              </a:r>
              <a:r>
                <a:rPr lang="en-US" sz="3600" dirty="0">
                  <a:latin typeface="Arial"/>
                  <a:cs typeface="Arial" pitchFamily="34" charset="0"/>
                </a:rPr>
                <a:t>k</a:t>
              </a:r>
              <a:r>
                <a:rPr lang="en-US" sz="3600" baseline="-25000" dirty="0">
                  <a:latin typeface="Arial"/>
                  <a:cs typeface="Arial" pitchFamily="34" charset="0"/>
                </a:rPr>
                <a:t>2</a:t>
              </a:r>
              <a:r>
                <a:rPr lang="en-US" sz="3600" dirty="0">
                  <a:latin typeface="Arial" pitchFamily="34" charset="0"/>
                  <a:cs typeface="Arial" pitchFamily="34" charset="0"/>
                </a:rPr>
                <a:t>, list(</a:t>
              </a:r>
              <a:r>
                <a:rPr lang="en-US" sz="3600" dirty="0">
                  <a:latin typeface="Arial"/>
                  <a:cs typeface="Arial" pitchFamily="34" charset="0"/>
                </a:rPr>
                <a:t>v</a:t>
              </a:r>
              <a:r>
                <a:rPr lang="en-US" sz="3600" baseline="-25000" dirty="0">
                  <a:latin typeface="Arial"/>
                  <a:cs typeface="Arial" pitchFamily="34" charset="0"/>
                </a:rPr>
                <a:t>2</a:t>
              </a:r>
              <a:r>
                <a:rPr lang="en-US" sz="3600" dirty="0">
                  <a:latin typeface="Arial" pitchFamily="34" charset="0"/>
                  <a:cs typeface="Arial" pitchFamily="34" charset="0"/>
                </a:rPr>
                <a:t>))</a:t>
              </a:r>
            </a:p>
          </p:txBody>
        </p:sp>
        <p:sp>
          <p:nvSpPr>
            <p:cNvPr id="18" name="TextBox 17"/>
            <p:cNvSpPr txBox="1"/>
            <p:nvPr/>
          </p:nvSpPr>
          <p:spPr bwMode="auto">
            <a:xfrm>
              <a:off x="7019284" y="3105835"/>
              <a:ext cx="1459054" cy="646331"/>
            </a:xfrm>
            <a:prstGeom prst="rect">
              <a:avLst/>
            </a:prstGeom>
            <a:noFill/>
            <a:ln w="38100" algn="ctr">
              <a:noFill/>
              <a:miter lim="800000"/>
              <a:headEnd/>
              <a:tailEnd/>
            </a:ln>
            <a:effectLst/>
          </p:spPr>
          <p:txBody>
            <a:bodyPr wrap="none" rtlCol="0">
              <a:spAutoFit/>
            </a:bodyPr>
            <a:lstStyle/>
            <a:p>
              <a:pPr algn="l"/>
              <a:r>
                <a:rPr lang="en-US" sz="3600" dirty="0">
                  <a:latin typeface="Arial"/>
                  <a:cs typeface="Arial" pitchFamily="34" charset="0"/>
                </a:rPr>
                <a:t>list(v</a:t>
              </a:r>
              <a:r>
                <a:rPr lang="en-US" sz="3600" baseline="-25000" dirty="0">
                  <a:latin typeface="Arial"/>
                  <a:cs typeface="Arial" pitchFamily="34" charset="0"/>
                </a:rPr>
                <a:t>2</a:t>
              </a:r>
              <a:r>
                <a:rPr lang="en-US" sz="3600" dirty="0">
                  <a:latin typeface="Arial" pitchFamily="34" charset="0"/>
                  <a:cs typeface="Arial" pitchFamily="34" charset="0"/>
                </a:rPr>
                <a:t>)</a:t>
              </a:r>
            </a:p>
          </p:txBody>
        </p:sp>
        <p:sp>
          <p:nvSpPr>
            <p:cNvPr id="19" name="Right Arrow 18"/>
            <p:cNvSpPr/>
            <p:nvPr/>
          </p:nvSpPr>
          <p:spPr bwMode="auto">
            <a:xfrm>
              <a:off x="3246516" y="2978889"/>
              <a:ext cx="743919" cy="900223"/>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20" name="Right Arrow 19"/>
            <p:cNvSpPr/>
            <p:nvPr/>
          </p:nvSpPr>
          <p:spPr bwMode="auto">
            <a:xfrm>
              <a:off x="6120175" y="2978889"/>
              <a:ext cx="743919" cy="900223"/>
            </a:xfrm>
            <a:prstGeom prst="rightArrow">
              <a:avLst/>
            </a:prstGeom>
            <a:no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grpSp>
      <p:sp>
        <p:nvSpPr>
          <p:cNvPr id="22" name="Text Box 122"/>
          <p:cNvSpPr txBox="1">
            <a:spLocks noChangeArrowheads="1"/>
          </p:cNvSpPr>
          <p:nvPr/>
        </p:nvSpPr>
        <p:spPr bwMode="auto">
          <a:xfrm>
            <a:off x="336246" y="4317873"/>
            <a:ext cx="316144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word, list of counts</a:t>
            </a:r>
            <a:endParaRPr lang="en-US" sz="2800" dirty="0">
              <a:solidFill>
                <a:schemeClr val="tx1"/>
              </a:solidFill>
              <a:latin typeface="Arial" pitchFamily="34" charset="0"/>
              <a:cs typeface="Arial" pitchFamily="34" charset="0"/>
            </a:endParaRPr>
          </a:p>
        </p:txBody>
      </p:sp>
      <p:sp>
        <p:nvSpPr>
          <p:cNvPr id="23" name="Text Box 122"/>
          <p:cNvSpPr txBox="1">
            <a:spLocks noChangeArrowheads="1"/>
          </p:cNvSpPr>
          <p:nvPr/>
        </p:nvSpPr>
        <p:spPr bwMode="auto">
          <a:xfrm>
            <a:off x="7443279" y="4241673"/>
            <a:ext cx="106471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count</a:t>
            </a:r>
            <a:endParaRPr lang="en-US" sz="2800" dirty="0">
              <a:solidFill>
                <a:schemeClr val="tx1"/>
              </a:solidFill>
              <a:latin typeface="Arial" pitchFamily="34" charset="0"/>
              <a:cs typeface="Arial" pitchFamily="34" charset="0"/>
            </a:endParaRPr>
          </a:p>
        </p:txBody>
      </p:sp>
      <p:sp>
        <p:nvSpPr>
          <p:cNvPr id="24" name="Text Box 122"/>
          <p:cNvSpPr txBox="1">
            <a:spLocks noChangeArrowheads="1"/>
          </p:cNvSpPr>
          <p:nvPr/>
        </p:nvSpPr>
        <p:spPr bwMode="auto">
          <a:xfrm>
            <a:off x="336246" y="5198693"/>
            <a:ext cx="3799438"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cluster ID, list of points</a:t>
            </a:r>
            <a:endParaRPr lang="en-US" sz="2800" dirty="0">
              <a:solidFill>
                <a:schemeClr val="tx1"/>
              </a:solidFill>
              <a:latin typeface="Arial" pitchFamily="34" charset="0"/>
              <a:cs typeface="Arial" pitchFamily="34" charset="0"/>
            </a:endParaRPr>
          </a:p>
        </p:txBody>
      </p:sp>
      <p:sp>
        <p:nvSpPr>
          <p:cNvPr id="25" name="Text Box 122"/>
          <p:cNvSpPr txBox="1">
            <a:spLocks noChangeArrowheads="1"/>
          </p:cNvSpPr>
          <p:nvPr/>
        </p:nvSpPr>
        <p:spPr bwMode="auto">
          <a:xfrm>
            <a:off x="5412702" y="5122493"/>
            <a:ext cx="3103735"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new cluster center</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73363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2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P spid="23" grpId="0" animBg="1"/>
      <p:bldP spid="24" grpId="0" animBg="1"/>
      <p:bldP spid="25"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52</a:t>
            </a:fld>
            <a:endParaRPr lang="en-US"/>
          </a:p>
        </p:txBody>
      </p:sp>
      <p:sp>
        <p:nvSpPr>
          <p:cNvPr id="5" name="Text Box 122"/>
          <p:cNvSpPr txBox="1">
            <a:spLocks noChangeArrowheads="1"/>
          </p:cNvSpPr>
          <p:nvPr/>
        </p:nvSpPr>
        <p:spPr bwMode="auto">
          <a:xfrm>
            <a:off x="729281" y="1692585"/>
            <a:ext cx="280397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Distributed </a:t>
            </a:r>
            <a:r>
              <a:rPr lang="en-US" sz="2800" dirty="0" err="1">
                <a:latin typeface="Arial" pitchFamily="34" charset="0"/>
                <a:cs typeface="Arial" pitchFamily="34" charset="0"/>
              </a:rPr>
              <a:t>Grep</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1638984" y="2574853"/>
            <a:ext cx="984565"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Map:</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2253819" y="3098073"/>
            <a:ext cx="2824812"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line of document</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1638984" y="4091257"/>
            <a:ext cx="1524776"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Reduce:</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2253819" y="4614477"/>
            <a:ext cx="3223959" cy="523220"/>
          </a:xfrm>
          <a:prstGeom prst="rect">
            <a:avLst/>
          </a:prstGeom>
          <a:solidFill>
            <a:schemeClr val="bg1">
              <a:alpha val="89999"/>
            </a:schemeClr>
          </a:solidFill>
          <a:ln w="38100" algn="ctr">
            <a:solidFill>
              <a:srgbClr val="FF99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copy line to display</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5407461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53</a:t>
            </a:fld>
            <a:endParaRPr lang="en-US"/>
          </a:p>
        </p:txBody>
      </p:sp>
      <p:sp>
        <p:nvSpPr>
          <p:cNvPr id="5" name="Text Box 122"/>
          <p:cNvSpPr txBox="1">
            <a:spLocks noChangeArrowheads="1"/>
          </p:cNvSpPr>
          <p:nvPr/>
        </p:nvSpPr>
        <p:spPr bwMode="auto">
          <a:xfrm>
            <a:off x="729281" y="1692585"/>
            <a:ext cx="402757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URL  Access Frequency</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1638984" y="2574853"/>
            <a:ext cx="984565"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Map:</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2253819" y="3098073"/>
            <a:ext cx="3063659"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(URL, local count)</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1638984" y="4091257"/>
            <a:ext cx="1524776"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Reduce:</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2253819" y="4614477"/>
            <a:ext cx="3002745" cy="523220"/>
          </a:xfrm>
          <a:prstGeom prst="rect">
            <a:avLst/>
          </a:prstGeom>
          <a:solidFill>
            <a:schemeClr val="bg1">
              <a:alpha val="89999"/>
            </a:schemeClr>
          </a:solidFill>
          <a:ln w="38100" algn="ctr">
            <a:solidFill>
              <a:srgbClr val="FF99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(URL, total count)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2126485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54</a:t>
            </a:fld>
            <a:endParaRPr lang="en-US"/>
          </a:p>
        </p:txBody>
      </p:sp>
      <p:sp>
        <p:nvSpPr>
          <p:cNvPr id="5" name="Text Box 122"/>
          <p:cNvSpPr txBox="1">
            <a:spLocks noChangeArrowheads="1"/>
          </p:cNvSpPr>
          <p:nvPr/>
        </p:nvSpPr>
        <p:spPr bwMode="auto">
          <a:xfrm>
            <a:off x="729281" y="1692585"/>
            <a:ext cx="394531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Reverse web link graph</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1638984" y="2574853"/>
            <a:ext cx="984565"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Map:</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2253819" y="3098073"/>
            <a:ext cx="4164923"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(target link, source page)</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1638984" y="4091257"/>
            <a:ext cx="1524776" cy="523220"/>
          </a:xfrm>
          <a:prstGeom prst="rect">
            <a:avLst/>
          </a:prstGeom>
          <a:solidFill>
            <a:schemeClr val="bg1">
              <a:alpha val="89999"/>
            </a:schemeClr>
          </a:solidFill>
          <a:ln w="38100" algn="ctr">
            <a:solidFill>
              <a:schemeClr val="tx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Reduce:</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2253819" y="4614477"/>
            <a:ext cx="5282215" cy="523220"/>
          </a:xfrm>
          <a:prstGeom prst="rect">
            <a:avLst/>
          </a:prstGeom>
          <a:solidFill>
            <a:schemeClr val="bg1">
              <a:alpha val="89999"/>
            </a:schemeClr>
          </a:solidFill>
          <a:ln w="38100" algn="ctr">
            <a:solidFill>
              <a:srgbClr val="FF99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(target link, list of source pages)</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9013686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9" grpId="0" animBg="1"/>
      <p:bldP spid="10"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Other Examples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55</a:t>
            </a:fld>
            <a:endParaRPr lang="en-US"/>
          </a:p>
        </p:txBody>
      </p:sp>
      <p:sp>
        <p:nvSpPr>
          <p:cNvPr id="5" name="Text Box 122"/>
          <p:cNvSpPr txBox="1">
            <a:spLocks noChangeArrowheads="1"/>
          </p:cNvSpPr>
          <p:nvPr/>
        </p:nvSpPr>
        <p:spPr bwMode="auto">
          <a:xfrm>
            <a:off x="729281" y="1692585"/>
            <a:ext cx="176522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histogram</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2253819" y="2811443"/>
            <a:ext cx="3344185"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matrix multiplication</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5312841" y="3930301"/>
            <a:ext cx="1864613" cy="523220"/>
          </a:xfrm>
          <a:prstGeom prst="rect">
            <a:avLst/>
          </a:prstGeom>
          <a:solidFill>
            <a:schemeClr val="bg1">
              <a:alpha val="89999"/>
            </a:schemeClr>
          </a:solidFill>
          <a:ln w="38100" algn="ctr">
            <a:solidFill>
              <a:srgbClr val="FF99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PageRank</a:t>
            </a:r>
            <a:endParaRPr lang="en-US" sz="2800" dirty="0">
              <a:solidFill>
                <a:schemeClr val="tx1"/>
              </a:solidFill>
              <a:latin typeface="Arial" pitchFamily="34" charset="0"/>
              <a:cs typeface="Arial" pitchFamily="34" charset="0"/>
            </a:endParaRPr>
          </a:p>
        </p:txBody>
      </p:sp>
      <p:sp>
        <p:nvSpPr>
          <p:cNvPr id="11" name="Text Box 122"/>
          <p:cNvSpPr txBox="1">
            <a:spLocks noChangeArrowheads="1"/>
          </p:cNvSpPr>
          <p:nvPr/>
        </p:nvSpPr>
        <p:spPr bwMode="auto">
          <a:xfrm>
            <a:off x="2058290" y="5049160"/>
            <a:ext cx="3882794" cy="523220"/>
          </a:xfrm>
          <a:prstGeom prst="rect">
            <a:avLst/>
          </a:prstGeom>
          <a:solidFill>
            <a:schemeClr val="bg1">
              <a:alpha val="89999"/>
            </a:schemeClr>
          </a:solidFill>
          <a:ln w="38100" algn="ctr">
            <a:solidFill>
              <a:srgbClr val="FF99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err="1">
                <a:latin typeface="Arial" pitchFamily="34" charset="0"/>
                <a:cs typeface="Arial" pitchFamily="34" charset="0"/>
              </a:rPr>
              <a:t>Betweenness</a:t>
            </a:r>
            <a:r>
              <a:rPr lang="en-US" sz="2800" dirty="0">
                <a:latin typeface="Arial" pitchFamily="34" charset="0"/>
                <a:cs typeface="Arial" pitchFamily="34" charset="0"/>
              </a:rPr>
              <a:t> centrality</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4614809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0"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56</a:t>
            </a:fld>
            <a:endParaRPr lang="en-US"/>
          </a:p>
        </p:txBody>
      </p:sp>
      <p:pic>
        <p:nvPicPr>
          <p:cNvPr id="245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1550" y="885825"/>
            <a:ext cx="7200900" cy="50863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Text Box 122"/>
          <p:cNvSpPr txBox="1">
            <a:spLocks noChangeArrowheads="1"/>
          </p:cNvSpPr>
          <p:nvPr/>
        </p:nvSpPr>
        <p:spPr bwMode="auto">
          <a:xfrm>
            <a:off x="971550" y="1173618"/>
            <a:ext cx="394531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Distributed </a:t>
            </a:r>
            <a:r>
              <a:rPr lang="en-US" sz="2800" dirty="0" err="1">
                <a:latin typeface="Arial" pitchFamily="34" charset="0"/>
                <a:cs typeface="Arial" pitchFamily="34" charset="0"/>
              </a:rPr>
              <a:t>MapReduce</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3448695" y="2317496"/>
            <a:ext cx="3842719"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Google, Hadoop, etc…</a:t>
            </a:r>
            <a:endParaRPr lang="en-US" sz="2800" dirty="0">
              <a:solidFill>
                <a:schemeClr val="tx1"/>
              </a:solidFill>
              <a:latin typeface="Arial" pitchFamily="34" charset="0"/>
              <a:cs typeface="Arial" pitchFamily="34" charset="0"/>
            </a:endParaRPr>
          </a:p>
        </p:txBody>
      </p:sp>
      <p:sp>
        <p:nvSpPr>
          <p:cNvPr id="8" name="Text Box 122"/>
          <p:cNvSpPr txBox="1">
            <a:spLocks noChangeArrowheads="1"/>
          </p:cNvSpPr>
          <p:nvPr/>
        </p:nvSpPr>
        <p:spPr bwMode="auto">
          <a:xfrm>
            <a:off x="729281" y="3461374"/>
            <a:ext cx="4724370"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Communication by message</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3573758" y="4605252"/>
            <a:ext cx="4185761" cy="523220"/>
          </a:xfrm>
          <a:prstGeom prst="rect">
            <a:avLst/>
          </a:prstGeom>
          <a:solidFill>
            <a:schemeClr val="bg1">
              <a:alpha val="89999"/>
            </a:schemeClr>
          </a:solidFill>
          <a:ln w="38100" algn="ctr">
            <a:solidFill>
              <a:srgbClr val="C0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Fault-tolerance important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3267150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57</a:t>
            </a:fld>
            <a:endParaRPr lang="en-US"/>
          </a:p>
        </p:txBody>
      </p:sp>
      <p:sp>
        <p:nvSpPr>
          <p:cNvPr id="5" name="Text Box 122"/>
          <p:cNvSpPr txBox="1">
            <a:spLocks noChangeArrowheads="1"/>
          </p:cNvSpPr>
          <p:nvPr/>
        </p:nvSpPr>
        <p:spPr bwMode="auto">
          <a:xfrm>
            <a:off x="729281" y="1173618"/>
            <a:ext cx="368562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Multicore </a:t>
            </a:r>
            <a:r>
              <a:rPr lang="en-US" sz="2800" dirty="0" err="1">
                <a:latin typeface="Arial" pitchFamily="34" charset="0"/>
                <a:cs typeface="Arial" pitchFamily="34" charset="0"/>
              </a:rPr>
              <a:t>MapReduce</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3448695" y="2317496"/>
            <a:ext cx="4919937"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Phoenix, Phoenix++, Metis …</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729281" y="3461374"/>
            <a:ext cx="7003840"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Communication by shared memory objects</a:t>
            </a:r>
            <a:endParaRPr lang="en-US" sz="2800" dirty="0">
              <a:solidFill>
                <a:schemeClr val="tx1"/>
              </a:solidFill>
              <a:latin typeface="Arial" pitchFamily="34" charset="0"/>
              <a:cs typeface="Arial" pitchFamily="34" charset="0"/>
            </a:endParaRPr>
          </a:p>
        </p:txBody>
      </p:sp>
      <p:sp>
        <p:nvSpPr>
          <p:cNvPr id="8" name="Text Box 122"/>
          <p:cNvSpPr txBox="1">
            <a:spLocks noChangeArrowheads="1"/>
          </p:cNvSpPr>
          <p:nvPr/>
        </p:nvSpPr>
        <p:spPr bwMode="auto">
          <a:xfrm>
            <a:off x="3782120" y="4605252"/>
            <a:ext cx="4586512" cy="523220"/>
          </a:xfrm>
          <a:prstGeom prst="rect">
            <a:avLst/>
          </a:prstGeom>
          <a:solidFill>
            <a:schemeClr val="bg1">
              <a:alpha val="89999"/>
            </a:schemeClr>
          </a:solidFill>
          <a:ln w="38100" algn="ctr">
            <a:solidFill>
              <a:srgbClr val="C0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Fault-tolerance unimportant</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6773436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Costs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58</a:t>
            </a:fld>
            <a:endParaRPr lang="en-US"/>
          </a:p>
        </p:txBody>
      </p:sp>
      <p:sp>
        <p:nvSpPr>
          <p:cNvPr id="5" name="Text Box 122"/>
          <p:cNvSpPr txBox="1">
            <a:spLocks noChangeArrowheads="1"/>
          </p:cNvSpPr>
          <p:nvPr/>
        </p:nvSpPr>
        <p:spPr bwMode="auto">
          <a:xfrm>
            <a:off x="971550" y="2258478"/>
            <a:ext cx="278473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key-value layout</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3309378" y="3681320"/>
            <a:ext cx="3105337"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memory allocation</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1031172" y="5069454"/>
            <a:ext cx="3626314"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mechanism overhead</a:t>
            </a:r>
            <a:endParaRPr lang="en-US" sz="2800" dirty="0">
              <a:solidFill>
                <a:schemeClr val="tx1"/>
              </a:solidFill>
              <a:latin typeface="Arial" pitchFamily="34" charset="0"/>
              <a:cs typeface="Arial" pitchFamily="34" charset="0"/>
            </a:endParaRPr>
          </a:p>
        </p:txBody>
      </p:sp>
      <p:sp>
        <p:nvSpPr>
          <p:cNvPr id="8" name="Text Box 122"/>
          <p:cNvSpPr txBox="1">
            <a:spLocks noChangeArrowheads="1"/>
          </p:cNvSpPr>
          <p:nvPr/>
        </p:nvSpPr>
        <p:spPr bwMode="auto">
          <a:xfrm>
            <a:off x="2542438" y="2691468"/>
            <a:ext cx="264527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cache pressure</a:t>
            </a:r>
            <a:endParaRPr lang="en-US" sz="2800" dirty="0">
              <a:solidFill>
                <a:schemeClr val="tx1"/>
              </a:solidFill>
              <a:latin typeface="Arial" pitchFamily="34" charset="0"/>
              <a:cs typeface="Arial" pitchFamily="34" charset="0"/>
            </a:endParaRPr>
          </a:p>
        </p:txBody>
      </p:sp>
      <p:sp>
        <p:nvSpPr>
          <p:cNvPr id="9" name="Text Box 122"/>
          <p:cNvSpPr txBox="1">
            <a:spLocks noChangeArrowheads="1"/>
          </p:cNvSpPr>
          <p:nvPr/>
        </p:nvSpPr>
        <p:spPr bwMode="auto">
          <a:xfrm>
            <a:off x="4862046" y="4040368"/>
            <a:ext cx="2920992"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static vs dynamic</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3910805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ctrTitle"/>
          </p:nvPr>
        </p:nvSpPr>
        <p:spPr>
          <a:xfrm>
            <a:off x="685800" y="797597"/>
            <a:ext cx="7772400" cy="1470025"/>
          </a:xfrm>
        </p:spPr>
        <p:txBody>
          <a:bodyPr/>
          <a:lstStyle/>
          <a:p>
            <a:r>
              <a:rPr lang="en-US" dirty="0"/>
              <a:t>Part Two</a:t>
            </a:r>
          </a:p>
        </p:txBody>
      </p:sp>
      <p:sp>
        <p:nvSpPr>
          <p:cNvPr id="8" name="Subtitle 7"/>
          <p:cNvSpPr>
            <a:spLocks noGrp="1"/>
          </p:cNvSpPr>
          <p:nvPr>
            <p:ph type="subTitle" idx="1"/>
          </p:nvPr>
        </p:nvSpPr>
        <p:spPr>
          <a:xfrm>
            <a:off x="1371600" y="5656881"/>
            <a:ext cx="6400800" cy="639278"/>
          </a:xfrm>
        </p:spPr>
        <p:txBody>
          <a:bodyPr/>
          <a:lstStyle/>
          <a:p>
            <a:r>
              <a:rPr lang="en-US" dirty="0"/>
              <a:t>Data Streams</a:t>
            </a:r>
          </a:p>
        </p:txBody>
      </p:sp>
      <p:sp>
        <p:nvSpPr>
          <p:cNvPr id="4" name="Slide Number Placeholder 3"/>
          <p:cNvSpPr>
            <a:spLocks noGrp="1"/>
          </p:cNvSpPr>
          <p:nvPr>
            <p:ph type="sldNum" sz="quarter" idx="10"/>
          </p:nvPr>
        </p:nvSpPr>
        <p:spPr/>
        <p:txBody>
          <a:bodyPr/>
          <a:lstStyle/>
          <a:p>
            <a:pPr>
              <a:defRPr/>
            </a:pPr>
            <a:fld id="{18CBB5C5-533C-4EDE-9E0D-BB81AB6D4DDA}" type="slidenum">
              <a:rPr lang="x-none" smtClean="0"/>
              <a:pPr>
                <a:defRPr/>
              </a:pPr>
              <a:t>59</a:t>
            </a:fld>
            <a:endParaRPr lang="en-US"/>
          </a:p>
        </p:txBody>
      </p:sp>
      <p:pic>
        <p:nvPicPr>
          <p:cNvPr id="1026" name="Picture 2" descr="https://encrypted-tbn2.gstatic.com/images?q=tbn:ANd9GcQh8tXEBhJNpdKLTAKWjbeFsH4B_UDPGWUJkwzpYi35iKEIO7jL"/>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3149" y="2019256"/>
            <a:ext cx="7677703" cy="33745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614806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Streams</a:t>
            </a:r>
          </a:p>
        </p:txBody>
      </p:sp>
      <p:sp>
        <p:nvSpPr>
          <p:cNvPr id="3" name="Footer Placeholder 2"/>
          <p:cNvSpPr>
            <a:spLocks noGrp="1"/>
          </p:cNvSpPr>
          <p:nvPr>
            <p:ph type="ftr" sz="quarter" idx="10"/>
          </p:nvPr>
        </p:nvSpPr>
        <p:spPr>
          <a:xfrm>
            <a:off x="3333846" y="6248400"/>
            <a:ext cx="3152775" cy="457200"/>
          </a:xfrm>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60</a:t>
            </a:fld>
            <a:endParaRPr lang="en-US"/>
          </a:p>
        </p:txBody>
      </p:sp>
      <p:sp>
        <p:nvSpPr>
          <p:cNvPr id="5" name="Text Box 122"/>
          <p:cNvSpPr txBox="1">
            <a:spLocks noChangeArrowheads="1"/>
          </p:cNvSpPr>
          <p:nvPr/>
        </p:nvSpPr>
        <p:spPr bwMode="auto">
          <a:xfrm>
            <a:off x="5343691" y="1885936"/>
            <a:ext cx="2763898"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sequence of</a:t>
            </a:r>
          </a:p>
          <a:p>
            <a:pPr algn="ctr"/>
            <a:r>
              <a:rPr lang="en-US" sz="2800" dirty="0">
                <a:latin typeface="Arial" pitchFamily="34" charset="0"/>
                <a:cs typeface="Arial" pitchFamily="34" charset="0"/>
              </a:rPr>
              <a:t> transformations</a:t>
            </a:r>
            <a:endParaRPr lang="en-US" sz="2800" dirty="0">
              <a:solidFill>
                <a:schemeClr val="tx1"/>
              </a:solidFill>
              <a:latin typeface="Arial" pitchFamily="34" charset="0"/>
              <a:cs typeface="Arial" pitchFamily="34" charset="0"/>
            </a:endParaRPr>
          </a:p>
        </p:txBody>
      </p:sp>
      <p:grpSp>
        <p:nvGrpSpPr>
          <p:cNvPr id="17" name="Group 16"/>
          <p:cNvGrpSpPr/>
          <p:nvPr/>
        </p:nvGrpSpPr>
        <p:grpSpPr>
          <a:xfrm>
            <a:off x="1855809" y="1682218"/>
            <a:ext cx="2482244" cy="4553957"/>
            <a:chOff x="3669111" y="1682218"/>
            <a:chExt cx="2482244" cy="4553957"/>
          </a:xfrm>
        </p:grpSpPr>
        <p:sp>
          <p:nvSpPr>
            <p:cNvPr id="8" name="Rectangle 7"/>
            <p:cNvSpPr/>
            <p:nvPr/>
          </p:nvSpPr>
          <p:spPr bwMode="auto">
            <a:xfrm>
              <a:off x="3833656" y="3137676"/>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1" name="Rectangle 10"/>
            <p:cNvSpPr/>
            <p:nvPr/>
          </p:nvSpPr>
          <p:spPr bwMode="auto">
            <a:xfrm>
              <a:off x="3833656" y="4319052"/>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2" name="Down Arrow 11"/>
            <p:cNvSpPr/>
            <p:nvPr/>
          </p:nvSpPr>
          <p:spPr bwMode="auto">
            <a:xfrm>
              <a:off x="4031047" y="2430188"/>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3" name="Oval 12"/>
            <p:cNvSpPr/>
            <p:nvPr/>
          </p:nvSpPr>
          <p:spPr bwMode="auto">
            <a:xfrm>
              <a:off x="4020755" y="1682218"/>
              <a:ext cx="1778956"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source</a:t>
              </a:r>
            </a:p>
          </p:txBody>
        </p:sp>
        <p:sp>
          <p:nvSpPr>
            <p:cNvPr id="14" name="Down Arrow 13"/>
            <p:cNvSpPr/>
            <p:nvPr/>
          </p:nvSpPr>
          <p:spPr bwMode="auto">
            <a:xfrm>
              <a:off x="4031047" y="3611564"/>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5" name="Down Arrow 14"/>
            <p:cNvSpPr/>
            <p:nvPr/>
          </p:nvSpPr>
          <p:spPr bwMode="auto">
            <a:xfrm>
              <a:off x="4031047" y="4792940"/>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6" name="Oval 15"/>
            <p:cNvSpPr/>
            <p:nvPr/>
          </p:nvSpPr>
          <p:spPr bwMode="auto">
            <a:xfrm>
              <a:off x="3669111" y="5500428"/>
              <a:ext cx="2482244"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consumer</a:t>
              </a:r>
            </a:p>
          </p:txBody>
        </p:sp>
      </p:grpSp>
      <p:sp>
        <p:nvSpPr>
          <p:cNvPr id="18" name="Text Box 122"/>
          <p:cNvSpPr txBox="1">
            <a:spLocks noChangeArrowheads="1"/>
          </p:cNvSpPr>
          <p:nvPr/>
        </p:nvSpPr>
        <p:spPr bwMode="auto">
          <a:xfrm>
            <a:off x="5592958" y="4174048"/>
            <a:ext cx="2265364"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no relation to</a:t>
            </a:r>
          </a:p>
          <a:p>
            <a:pPr algn="ctr"/>
            <a:r>
              <a:rPr lang="en-US" sz="2800" dirty="0">
                <a:solidFill>
                  <a:schemeClr val="tx1"/>
                </a:solidFill>
                <a:latin typeface="Arial" pitchFamily="34" charset="0"/>
                <a:cs typeface="Arial" pitchFamily="34" charset="0"/>
              </a:rPr>
              <a:t>I/O streams</a:t>
            </a:r>
          </a:p>
        </p:txBody>
      </p:sp>
      <p:sp>
        <p:nvSpPr>
          <p:cNvPr id="19" name="Text Box 122"/>
          <p:cNvSpPr txBox="1">
            <a:spLocks noChangeArrowheads="1"/>
          </p:cNvSpPr>
          <p:nvPr/>
        </p:nvSpPr>
        <p:spPr bwMode="auto">
          <a:xfrm>
            <a:off x="4942940" y="3245436"/>
            <a:ext cx="356540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sometimes in parallel</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323770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8" grpId="0" animBg="1"/>
      <p:bldP spid="19"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Streams</a:t>
            </a:r>
          </a:p>
        </p:txBody>
      </p:sp>
      <p:sp>
        <p:nvSpPr>
          <p:cNvPr id="3" name="Footer Placeholder 2"/>
          <p:cNvSpPr>
            <a:spLocks noGrp="1"/>
          </p:cNvSpPr>
          <p:nvPr>
            <p:ph type="ftr" sz="quarter" idx="10"/>
          </p:nvPr>
        </p:nvSpPr>
        <p:spPr>
          <a:xfrm>
            <a:off x="3333846" y="6248400"/>
            <a:ext cx="3152775" cy="457200"/>
          </a:xfrm>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61</a:t>
            </a:fld>
            <a:endParaRPr lang="en-US"/>
          </a:p>
        </p:txBody>
      </p:sp>
      <p:grpSp>
        <p:nvGrpSpPr>
          <p:cNvPr id="17" name="Group 16"/>
          <p:cNvGrpSpPr/>
          <p:nvPr/>
        </p:nvGrpSpPr>
        <p:grpSpPr>
          <a:xfrm>
            <a:off x="1855809" y="1682218"/>
            <a:ext cx="2482244" cy="4553957"/>
            <a:chOff x="3669111" y="1682218"/>
            <a:chExt cx="2482244" cy="4553957"/>
          </a:xfrm>
        </p:grpSpPr>
        <p:sp>
          <p:nvSpPr>
            <p:cNvPr id="8" name="Rectangle 7"/>
            <p:cNvSpPr/>
            <p:nvPr/>
          </p:nvSpPr>
          <p:spPr bwMode="auto">
            <a:xfrm>
              <a:off x="3833656" y="3137676"/>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1" name="Rectangle 10"/>
            <p:cNvSpPr/>
            <p:nvPr/>
          </p:nvSpPr>
          <p:spPr bwMode="auto">
            <a:xfrm>
              <a:off x="3833656" y="4319052"/>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2" name="Down Arrow 11"/>
            <p:cNvSpPr/>
            <p:nvPr/>
          </p:nvSpPr>
          <p:spPr bwMode="auto">
            <a:xfrm>
              <a:off x="4031047" y="2430188"/>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3" name="Oval 12"/>
            <p:cNvSpPr/>
            <p:nvPr/>
          </p:nvSpPr>
          <p:spPr bwMode="auto">
            <a:xfrm>
              <a:off x="4020755" y="1682218"/>
              <a:ext cx="1778956"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source</a:t>
              </a:r>
            </a:p>
          </p:txBody>
        </p:sp>
        <p:sp>
          <p:nvSpPr>
            <p:cNvPr id="14" name="Down Arrow 13"/>
            <p:cNvSpPr/>
            <p:nvPr/>
          </p:nvSpPr>
          <p:spPr bwMode="auto">
            <a:xfrm>
              <a:off x="4031047" y="3611564"/>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5" name="Down Arrow 14"/>
            <p:cNvSpPr/>
            <p:nvPr/>
          </p:nvSpPr>
          <p:spPr bwMode="auto">
            <a:xfrm>
              <a:off x="4031047" y="4792940"/>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6" name="Oval 15"/>
            <p:cNvSpPr/>
            <p:nvPr/>
          </p:nvSpPr>
          <p:spPr bwMode="auto">
            <a:xfrm>
              <a:off x="3669111" y="5500428"/>
              <a:ext cx="2482244"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consumer</a:t>
              </a:r>
            </a:p>
          </p:txBody>
        </p:sp>
      </p:grpSp>
      <p:grpSp>
        <p:nvGrpSpPr>
          <p:cNvPr id="5" name="Group 4"/>
          <p:cNvGrpSpPr/>
          <p:nvPr/>
        </p:nvGrpSpPr>
        <p:grpSpPr>
          <a:xfrm>
            <a:off x="1678836" y="3045147"/>
            <a:ext cx="7098815" cy="2799244"/>
            <a:chOff x="1678836" y="3045147"/>
            <a:chExt cx="7098815" cy="2799244"/>
          </a:xfrm>
        </p:grpSpPr>
        <p:sp>
          <p:nvSpPr>
            <p:cNvPr id="19" name="Text Box 122"/>
            <p:cNvSpPr txBox="1">
              <a:spLocks noChangeArrowheads="1"/>
            </p:cNvSpPr>
            <p:nvPr/>
          </p:nvSpPr>
          <p:spPr bwMode="auto">
            <a:xfrm>
              <a:off x="4673642" y="4890284"/>
              <a:ext cx="4104009"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transformations given by</a:t>
              </a:r>
            </a:p>
            <a:p>
              <a:pPr algn="ctr"/>
              <a:r>
                <a:rPr lang="en-US" sz="2800" dirty="0">
                  <a:solidFill>
                    <a:schemeClr val="tx1"/>
                  </a:solidFill>
                  <a:latin typeface="Arial" pitchFamily="34" charset="0"/>
                  <a:cs typeface="Arial" pitchFamily="34" charset="0"/>
                </a:rPr>
                <a:t>mathematical functions</a:t>
              </a:r>
            </a:p>
          </p:txBody>
        </p:sp>
        <p:sp>
          <p:nvSpPr>
            <p:cNvPr id="6" name="Rounded Rectangular Callout 5"/>
            <p:cNvSpPr/>
            <p:nvPr/>
          </p:nvSpPr>
          <p:spPr bwMode="auto">
            <a:xfrm>
              <a:off x="1678836" y="3045147"/>
              <a:ext cx="2836190" cy="625137"/>
            </a:xfrm>
            <a:prstGeom prst="wedgeRoundRectCallout">
              <a:avLst>
                <a:gd name="adj1" fmla="val 58949"/>
                <a:gd name="adj2" fmla="val 216209"/>
                <a:gd name="adj3" fmla="val 16667"/>
              </a:avLst>
            </a:prstGeom>
            <a:noFill/>
            <a:ln w="5715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20" name="Rounded Rectangular Callout 19"/>
            <p:cNvSpPr/>
            <p:nvPr/>
          </p:nvSpPr>
          <p:spPr bwMode="auto">
            <a:xfrm>
              <a:off x="1683300" y="4237315"/>
              <a:ext cx="2836190" cy="625137"/>
            </a:xfrm>
            <a:prstGeom prst="wedgeRoundRectCallout">
              <a:avLst>
                <a:gd name="adj1" fmla="val 51299"/>
                <a:gd name="adj2" fmla="val 99687"/>
                <a:gd name="adj3" fmla="val 16667"/>
              </a:avLst>
            </a:prstGeom>
            <a:noFill/>
            <a:ln w="5715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475305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Streams</a:t>
            </a:r>
          </a:p>
        </p:txBody>
      </p:sp>
      <p:sp>
        <p:nvSpPr>
          <p:cNvPr id="3" name="Footer Placeholder 2"/>
          <p:cNvSpPr>
            <a:spLocks noGrp="1"/>
          </p:cNvSpPr>
          <p:nvPr>
            <p:ph type="ftr" sz="quarter" idx="10"/>
          </p:nvPr>
        </p:nvSpPr>
        <p:spPr>
          <a:xfrm>
            <a:off x="3333846" y="6248400"/>
            <a:ext cx="3152775" cy="457200"/>
          </a:xfrm>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62</a:t>
            </a:fld>
            <a:endParaRPr lang="en-US" dirty="0"/>
          </a:p>
        </p:txBody>
      </p:sp>
      <p:grpSp>
        <p:nvGrpSpPr>
          <p:cNvPr id="17" name="Group 16"/>
          <p:cNvGrpSpPr/>
          <p:nvPr/>
        </p:nvGrpSpPr>
        <p:grpSpPr>
          <a:xfrm>
            <a:off x="1855809" y="1682218"/>
            <a:ext cx="2482244" cy="4553957"/>
            <a:chOff x="3669111" y="1682218"/>
            <a:chExt cx="2482244" cy="4553957"/>
          </a:xfrm>
        </p:grpSpPr>
        <p:sp>
          <p:nvSpPr>
            <p:cNvPr id="8" name="Rectangle 7"/>
            <p:cNvSpPr/>
            <p:nvPr/>
          </p:nvSpPr>
          <p:spPr bwMode="auto">
            <a:xfrm>
              <a:off x="3833656" y="3137676"/>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1" name="Rectangle 10"/>
            <p:cNvSpPr/>
            <p:nvPr/>
          </p:nvSpPr>
          <p:spPr bwMode="auto">
            <a:xfrm>
              <a:off x="3833656" y="4319052"/>
              <a:ext cx="2153154" cy="461665"/>
            </a:xfrm>
            <a:prstGeom prst="rect">
              <a:avLst/>
            </a:prstGeom>
            <a:noFill/>
            <a:ln w="38100" cap="flat" cmpd="sng" algn="ctr">
              <a:solidFill>
                <a:schemeClr val="tx1"/>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4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transformation</a:t>
              </a:r>
            </a:p>
          </p:txBody>
        </p:sp>
        <p:sp>
          <p:nvSpPr>
            <p:cNvPr id="12" name="Down Arrow 11"/>
            <p:cNvSpPr/>
            <p:nvPr/>
          </p:nvSpPr>
          <p:spPr bwMode="auto">
            <a:xfrm>
              <a:off x="4031047" y="2430188"/>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3" name="Oval 12"/>
            <p:cNvSpPr/>
            <p:nvPr/>
          </p:nvSpPr>
          <p:spPr bwMode="auto">
            <a:xfrm>
              <a:off x="4020755" y="1682218"/>
              <a:ext cx="1778956"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source</a:t>
              </a:r>
            </a:p>
          </p:txBody>
        </p:sp>
        <p:sp>
          <p:nvSpPr>
            <p:cNvPr id="14" name="Down Arrow 13"/>
            <p:cNvSpPr/>
            <p:nvPr/>
          </p:nvSpPr>
          <p:spPr bwMode="auto">
            <a:xfrm>
              <a:off x="4031047" y="3611564"/>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5" name="Down Arrow 14"/>
            <p:cNvSpPr/>
            <p:nvPr/>
          </p:nvSpPr>
          <p:spPr bwMode="auto">
            <a:xfrm>
              <a:off x="4031047" y="4792940"/>
              <a:ext cx="1758372" cy="695265"/>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data</a:t>
              </a:r>
            </a:p>
          </p:txBody>
        </p:sp>
        <p:sp>
          <p:nvSpPr>
            <p:cNvPr id="16" name="Oval 15"/>
            <p:cNvSpPr/>
            <p:nvPr/>
          </p:nvSpPr>
          <p:spPr bwMode="auto">
            <a:xfrm>
              <a:off x="3669111" y="5500428"/>
              <a:ext cx="2482244"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consumer</a:t>
              </a:r>
            </a:p>
          </p:txBody>
        </p:sp>
      </p:grpSp>
      <p:grpSp>
        <p:nvGrpSpPr>
          <p:cNvPr id="5" name="Group 4"/>
          <p:cNvGrpSpPr/>
          <p:nvPr/>
        </p:nvGrpSpPr>
        <p:grpSpPr>
          <a:xfrm>
            <a:off x="1728322" y="2050091"/>
            <a:ext cx="6770281" cy="2256739"/>
            <a:chOff x="1728322" y="2050091"/>
            <a:chExt cx="6770281" cy="2256739"/>
          </a:xfrm>
        </p:grpSpPr>
        <p:sp>
          <p:nvSpPr>
            <p:cNvPr id="19" name="Text Box 122"/>
            <p:cNvSpPr txBox="1">
              <a:spLocks noChangeArrowheads="1"/>
            </p:cNvSpPr>
            <p:nvPr/>
          </p:nvSpPr>
          <p:spPr bwMode="auto">
            <a:xfrm>
              <a:off x="4734431" y="2050091"/>
              <a:ext cx="3764172"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transformation creates</a:t>
              </a:r>
            </a:p>
            <a:p>
              <a:pPr algn="ctr"/>
              <a:r>
                <a:rPr lang="en-US" sz="2800" dirty="0">
                  <a:solidFill>
                    <a:schemeClr val="tx1"/>
                  </a:solidFill>
                  <a:latin typeface="Arial" pitchFamily="34" charset="0"/>
                  <a:cs typeface="Arial" pitchFamily="34" charset="0"/>
                </a:rPr>
                <a:t>new stream</a:t>
              </a:r>
            </a:p>
          </p:txBody>
        </p:sp>
        <p:sp>
          <p:nvSpPr>
            <p:cNvPr id="6" name="Rounded Rectangular Callout 5"/>
            <p:cNvSpPr/>
            <p:nvPr/>
          </p:nvSpPr>
          <p:spPr bwMode="auto">
            <a:xfrm>
              <a:off x="1728322" y="3599342"/>
              <a:ext cx="2836190" cy="707488"/>
            </a:xfrm>
            <a:prstGeom prst="wedgeRoundRectCallout">
              <a:avLst>
                <a:gd name="adj1" fmla="val 73703"/>
                <a:gd name="adj2" fmla="val -116764"/>
                <a:gd name="adj3" fmla="val 16667"/>
              </a:avLst>
            </a:prstGeom>
            <a:noFill/>
            <a:ln w="5715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grpSp>
      <p:grpSp>
        <p:nvGrpSpPr>
          <p:cNvPr id="7" name="Group 6"/>
          <p:cNvGrpSpPr/>
          <p:nvPr/>
        </p:nvGrpSpPr>
        <p:grpSpPr>
          <a:xfrm>
            <a:off x="1683300" y="3861341"/>
            <a:ext cx="7088740" cy="1702552"/>
            <a:chOff x="1683300" y="3861341"/>
            <a:chExt cx="7088740" cy="1702552"/>
          </a:xfrm>
        </p:grpSpPr>
        <p:sp>
          <p:nvSpPr>
            <p:cNvPr id="20" name="Rounded Rectangular Callout 19"/>
            <p:cNvSpPr/>
            <p:nvPr/>
          </p:nvSpPr>
          <p:spPr bwMode="auto">
            <a:xfrm>
              <a:off x="1683300" y="4718725"/>
              <a:ext cx="2836190" cy="845168"/>
            </a:xfrm>
            <a:prstGeom prst="wedgeRoundRectCallout">
              <a:avLst>
                <a:gd name="adj1" fmla="val 69332"/>
                <a:gd name="adj2" fmla="val -56182"/>
                <a:gd name="adj3" fmla="val 16667"/>
              </a:avLst>
            </a:prstGeom>
            <a:noFill/>
            <a:ln w="57150" cap="flat" cmpd="sng" algn="ctr">
              <a:solidFill>
                <a:srgbClr val="FF0000"/>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8" name="Text Box 122"/>
            <p:cNvSpPr txBox="1">
              <a:spLocks noChangeArrowheads="1"/>
            </p:cNvSpPr>
            <p:nvPr/>
          </p:nvSpPr>
          <p:spPr bwMode="auto">
            <a:xfrm>
              <a:off x="5192675" y="3861341"/>
              <a:ext cx="3579365"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ctr"/>
              <a:r>
                <a:rPr lang="en-US" sz="2800" dirty="0">
                  <a:latin typeface="Arial" pitchFamily="34" charset="0"/>
                  <a:cs typeface="Arial" pitchFamily="34" charset="0"/>
                </a:rPr>
                <a:t>no modifications or side-effects</a:t>
              </a:r>
              <a:endParaRPr lang="en-US" sz="2800" dirty="0">
                <a:solidFill>
                  <a:schemeClr val="tx1"/>
                </a:solidFill>
                <a:latin typeface="Arial" pitchFamily="34" charset="0"/>
                <a:cs typeface="Arial" pitchFamily="34" charset="0"/>
              </a:endParaRPr>
            </a:p>
          </p:txBody>
        </p:sp>
      </p:grpSp>
      <p:sp>
        <p:nvSpPr>
          <p:cNvPr id="21" name="Text Box 122"/>
          <p:cNvSpPr txBox="1">
            <a:spLocks noChangeArrowheads="1"/>
          </p:cNvSpPr>
          <p:nvPr/>
        </p:nvSpPr>
        <p:spPr bwMode="auto">
          <a:xfrm>
            <a:off x="5192675" y="5180696"/>
            <a:ext cx="357936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ctr"/>
            <a:r>
              <a:rPr lang="en-US" sz="2800" dirty="0">
                <a:latin typeface="Arial" pitchFamily="34" charset="0"/>
                <a:cs typeface="Arial" pitchFamily="34" charset="0"/>
              </a:rPr>
              <a:t>correctness easier?</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0143485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Programming</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63</a:t>
            </a:fld>
            <a:endParaRPr lang="en-US"/>
          </a:p>
        </p:txBody>
      </p:sp>
      <p:sp>
        <p:nvSpPr>
          <p:cNvPr id="5" name="Text Box 122"/>
          <p:cNvSpPr txBox="1">
            <a:spLocks noChangeArrowheads="1"/>
          </p:cNvSpPr>
          <p:nvPr/>
        </p:nvSpPr>
        <p:spPr bwMode="auto">
          <a:xfrm>
            <a:off x="1285168" y="2076734"/>
            <a:ext cx="592021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i="1" dirty="0">
                <a:solidFill>
                  <a:schemeClr val="tx1"/>
                </a:solidFill>
                <a:latin typeface="Arial" pitchFamily="34" charset="0"/>
                <a:cs typeface="Arial" pitchFamily="34" charset="0"/>
              </a:rPr>
              <a:t>functions</a:t>
            </a:r>
            <a:r>
              <a:rPr lang="en-US" sz="2800" dirty="0">
                <a:latin typeface="Arial" pitchFamily="34" charset="0"/>
                <a:cs typeface="Arial" pitchFamily="34" charset="0"/>
              </a:rPr>
              <a:t> map old state to new state</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3266091" y="3032126"/>
            <a:ext cx="4025462"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old state never changed</a:t>
            </a:r>
            <a:endParaRPr lang="en-US" sz="2800" dirty="0">
              <a:solidFill>
                <a:schemeClr val="tx1"/>
              </a:solidFill>
              <a:latin typeface="Arial" pitchFamily="34" charset="0"/>
              <a:cs typeface="Arial" pitchFamily="34" charset="0"/>
            </a:endParaRPr>
          </a:p>
        </p:txBody>
      </p:sp>
      <p:sp>
        <p:nvSpPr>
          <p:cNvPr id="7" name="Text Box 122"/>
          <p:cNvSpPr txBox="1">
            <a:spLocks noChangeArrowheads="1"/>
          </p:cNvSpPr>
          <p:nvPr/>
        </p:nvSpPr>
        <p:spPr bwMode="auto">
          <a:xfrm>
            <a:off x="1285168" y="3987518"/>
            <a:ext cx="3956468" cy="523220"/>
          </a:xfrm>
          <a:prstGeom prst="rect">
            <a:avLst/>
          </a:prstGeom>
          <a:solidFill>
            <a:schemeClr val="bg1">
              <a:alpha val="89999"/>
            </a:schemeClr>
          </a:solidFill>
          <a:ln w="38100" algn="ctr">
            <a:solidFill>
              <a:srgbClr val="FFFF0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no complex side-effects</a:t>
            </a:r>
            <a:endParaRPr lang="en-US" sz="2800" dirty="0">
              <a:solidFill>
                <a:schemeClr val="tx1"/>
              </a:solidFill>
              <a:latin typeface="Arial" pitchFamily="34" charset="0"/>
              <a:cs typeface="Arial" pitchFamily="34" charset="0"/>
            </a:endParaRPr>
          </a:p>
        </p:txBody>
      </p:sp>
      <p:sp>
        <p:nvSpPr>
          <p:cNvPr id="8" name="Text Box 122"/>
          <p:cNvSpPr txBox="1">
            <a:spLocks noChangeArrowheads="1"/>
          </p:cNvSpPr>
          <p:nvPr/>
        </p:nvSpPr>
        <p:spPr bwMode="auto">
          <a:xfrm>
            <a:off x="1287985" y="4942910"/>
            <a:ext cx="6003568"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ctr"/>
            <a:r>
              <a:rPr lang="en-US" sz="2800" dirty="0">
                <a:latin typeface="Arial" pitchFamily="34" charset="0"/>
                <a:cs typeface="Arial" pitchFamily="34" charset="0"/>
              </a:rPr>
              <a:t>elegant, easier proofs of correctness</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6600330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Oh, Really?</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64</a:t>
            </a:fld>
            <a:endParaRPr lang="en-US"/>
          </a:p>
        </p:txBody>
      </p:sp>
      <p:sp>
        <p:nvSpPr>
          <p:cNvPr id="5" name="Text Box 122"/>
          <p:cNvSpPr txBox="1">
            <a:spLocks noChangeArrowheads="1"/>
          </p:cNvSpPr>
          <p:nvPr/>
        </p:nvSpPr>
        <p:spPr bwMode="auto">
          <a:xfrm>
            <a:off x="1258841" y="2006035"/>
            <a:ext cx="6626319" cy="2246769"/>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“Functional languages are unnatural to use; but so are knives and forks, diplomatic protocols, double-entry bookkeeping, and a host of other things modern civilization has found useful.”</a:t>
            </a:r>
            <a:endParaRPr lang="en-US" sz="2800" dirty="0">
              <a:solidFill>
                <a:schemeClr val="tx1"/>
              </a:solidFill>
              <a:latin typeface="Arial" pitchFamily="34" charset="0"/>
              <a:cs typeface="Arial" pitchFamily="34" charset="0"/>
            </a:endParaRPr>
          </a:p>
        </p:txBody>
      </p:sp>
      <p:sp>
        <p:nvSpPr>
          <p:cNvPr id="6" name="Text Box 122"/>
          <p:cNvSpPr txBox="1">
            <a:spLocks noChangeArrowheads="1"/>
          </p:cNvSpPr>
          <p:nvPr/>
        </p:nvSpPr>
        <p:spPr bwMode="auto">
          <a:xfrm>
            <a:off x="5041112" y="4638164"/>
            <a:ext cx="2844048"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Jim Morris, 1982</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227876505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Haiku</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65</a:t>
            </a:fld>
            <a:endParaRPr lang="en-US"/>
          </a:p>
        </p:txBody>
      </p:sp>
      <p:pic>
        <p:nvPicPr>
          <p:cNvPr id="2052" name="Picture 4" descr="https://encrypted-tbn2.gstatic.com/images?q=tbn:ANd9GcSLoxsFumoglLn1IXxXAvqOsRDhfNV__aIODiM3UU3gWYMaosZ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68917" y="2018950"/>
            <a:ext cx="1838325" cy="2486026"/>
          </a:xfrm>
          <a:prstGeom prst="rect">
            <a:avLst/>
          </a:prstGeom>
          <a:noFill/>
          <a:extLst>
            <a:ext uri="{909E8E84-426E-40DD-AFC4-6F175D3DCCD1}">
              <a14:hiddenFill xmlns:a14="http://schemas.microsoft.com/office/drawing/2010/main">
                <a:solidFill>
                  <a:srgbClr val="FFFFFF"/>
                </a:solidFill>
              </a14:hiddenFill>
            </a:ext>
          </a:extLst>
        </p:spPr>
      </p:pic>
      <p:sp>
        <p:nvSpPr>
          <p:cNvPr id="9" name="Text Box 122"/>
          <p:cNvSpPr txBox="1">
            <a:spLocks noChangeArrowheads="1"/>
          </p:cNvSpPr>
          <p:nvPr/>
        </p:nvSpPr>
        <p:spPr bwMode="auto">
          <a:xfrm>
            <a:off x="1516506" y="3000353"/>
            <a:ext cx="3405099"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esthetically pleasing</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1516506" y="4921222"/>
            <a:ext cx="7043916"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only works on those who understand Haiku</a:t>
            </a:r>
            <a:endParaRPr lang="en-US" sz="2800" dirty="0">
              <a:solidFill>
                <a:schemeClr val="tx1"/>
              </a:solidFill>
              <a:latin typeface="Arial" pitchFamily="34" charset="0"/>
              <a:cs typeface="Arial" pitchFamily="34" charset="0"/>
            </a:endParaRPr>
          </a:p>
        </p:txBody>
      </p:sp>
    </p:spTree>
    <p:extLst>
      <p:ext uri="{BB962C8B-B14F-4D97-AF65-F5344CB8AC3E}">
        <p14:creationId xmlns:p14="http://schemas.microsoft.com/office/powerpoint/2010/main" val="1923248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Karate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66</a:t>
            </a:fld>
            <a:endParaRPr lang="en-US"/>
          </a:p>
        </p:txBody>
      </p:sp>
      <p:sp>
        <p:nvSpPr>
          <p:cNvPr id="9" name="Text Box 122"/>
          <p:cNvSpPr txBox="1">
            <a:spLocks noChangeArrowheads="1"/>
          </p:cNvSpPr>
          <p:nvPr/>
        </p:nvSpPr>
        <p:spPr bwMode="auto">
          <a:xfrm>
            <a:off x="462642" y="2891867"/>
            <a:ext cx="3405099"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esthetically pleasing</a:t>
            </a:r>
            <a:endParaRPr lang="en-US" sz="2800" dirty="0">
              <a:solidFill>
                <a:schemeClr val="tx1"/>
              </a:solidFill>
              <a:latin typeface="Arial" pitchFamily="34" charset="0"/>
              <a:cs typeface="Arial" pitchFamily="34" charset="0"/>
            </a:endParaRPr>
          </a:p>
        </p:txBody>
      </p:sp>
      <p:sp>
        <p:nvSpPr>
          <p:cNvPr id="10" name="Text Box 122"/>
          <p:cNvSpPr txBox="1">
            <a:spLocks noChangeArrowheads="1"/>
          </p:cNvSpPr>
          <p:nvPr/>
        </p:nvSpPr>
        <p:spPr bwMode="auto">
          <a:xfrm>
            <a:off x="462642" y="4812736"/>
            <a:ext cx="8403262"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works even on those who do not understand Karate</a:t>
            </a:r>
            <a:endParaRPr lang="en-US" sz="2800" dirty="0">
              <a:solidFill>
                <a:schemeClr val="tx1"/>
              </a:solidFill>
              <a:latin typeface="Arial" pitchFamily="34" charset="0"/>
              <a:cs typeface="Arial" pitchFamily="34" charset="0"/>
            </a:endParaRPr>
          </a:p>
        </p:txBody>
      </p:sp>
      <p:pic>
        <p:nvPicPr>
          <p:cNvPr id="8" name="Picture 8" descr="http://karate-institute.com/Resources/Website/karate%20stick%20mal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05942" y="2234676"/>
            <a:ext cx="2201149" cy="22203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09590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Jim Morris’s Question</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67</a:t>
            </a:fld>
            <a:endParaRPr lang="en-US"/>
          </a:p>
        </p:txBody>
      </p:sp>
      <p:sp>
        <p:nvSpPr>
          <p:cNvPr id="5" name="AutoShape 2" descr="data:image/jpeg;base64,/9j/4AAQSkZJRgABAQAAAQABAAD/2wCEAAkGBxQSEhQUExQUFBUXFBUYFRcUFRgXGBUUFBcWGBcVGBgYHCggGBolHBUXITEhJSkrLy4uGCAzODMsNygtLywBCgoKDQ0NGg8PFywkHCQsLCwsLCwsLCwsLCwsLCwsLCwsLCwsLDQsLDQsLCwsLCwsLCwsLCwsLDQsLCwsLCwsLP/AABEIALgAtwMBIgACEQEDEQH/xAAcAAEAAgIDAQAAAAAAAAAAAAAAAQgFBwMEBgL/xAA4EAACAQIFAgQDBwMDBQAAAAABAgADEQQFEiExB0EGEyJRMmFxCBRCUoGRoTNisRUjkiRygtHw/8QAFgEBAQEAAAAAAAAAAAAAAAAAAAEC/8QAFhEBAQEAAAAAAAAAAAAAAAAAAAER/9oADAMBAAIRAxEAPwDeM8b4o6lYHA1hQquzVNtYprq8oEEgvbvsNhc+obWnspX3r7kiUcXRrpscStTzBv8AHS8saue4cDj8MDeeUZzQxSeZQqpUXi6sDY+x9j8jO/KbZdj6uHqrVou1OoL2ZdjvyPmPrNv+GuuAChcZQa91HmUSCCO7MjG4tsdi199hxC43VEwWQ+L8HjAPIr03b8mqz8An0nfa4mdhCIiAiDEBERAREQEREBEQICJEmAiIgIiICal68+GKldKGKoo1R6Wqm6ohZ2RyCp9NzZWB2t+Mm+2+2pDKDsYGlch6U0cTgEaoHo19OrVbS4Lb2qKSQ1v0+VpplzubG43sbW1Ds1juL87y2fjjGjD5fi6guNNCpbQbEFgVBB7EE3/SVJAsIWORGswIJDAgqQbEEbggjcG/ebD8J9XMXhdKV/8AqqWw9RtVUDmzcMbdm5sNxuZrmLwq3PhrxRhsdT14eorfmXh15tqU7rwefaZm8pzlWZVcNVWtRYpUQ3DD+QfdT3Esd4B6i4fH01Wo6UcR8LUmYAs1ib077utgTtxbeEx7mfFaqqKWYhVUEszEABQLkkngAd59KQeJqrr/AJzVpYajQpginXZxVe21k0laRNrDUSTzf/bP6EesyPqHl+LqeVRrjXqIVWBUvpF7rq5Fv8GeplMqNVkdHQ6WVlZW/KykEH9CJbfwxm1PE4enUp1EqAj4k4JGx25G4Ox4hWXgReIQiDEBAkSYGNznPsNhF1YmvSoggka2ALAEA6V5axI4HcTBJ1Oysi/3umPqGB/xNCdTsV5uaYoioagWppUk3CheUQ3I0htW225O08tC4uLlmb0MQuqhWp1Vva6OGsbA2NjsbMDY+4nelN8ozOrhayVqL6Kim4PuO6sO6nuJabwH4kGYYSnXsFYgh1HZ1NmG/a4P8Qj0UREBERAxviLJ0xmHqYeoWCVFsdJ0n9//AITQ3ibo/i6BJw5FdN7AkK4G1h+Vjud9uJYuQRAplicK9NitRHptt6XVkax72YXnFLRePvANHMkUkmnVQEU3XtqIJBHDD08HjtaabzHpJmFMnSKdUAXBDFSxtwARz9TC68DJO/O87WZ5ZWwz+XXpvSf2YWuPcHhh8xtOpCtjdN+pdTAnysSXq4c8HdnpEdh3Kn27dtptjN82wOaZbimVzVpLScvo9LqyJ5ll1DZxt8r/AKysV52cBmFSiSabslxZwCdLrYjS68OLFhY+5hHWWd/J88xGELNhqz0SwAYpb1AcXBvxc/vORcHSqoXR0pVBzRqNpVhtvSq1G+vpY3+ZmMZbEg22uNiCNvYg2I+Y2MK254Q61PTUU8chqi4ArUwAwXYetO9tzcbnbbudljqPlnlrUOMogMBZdV3FxezIt2X9QJVeDCYtZg+oWWVL6cbhxa1/MqCnz7eZa/HaMX1ByylbVjcOb3/puKlre/l3tz3lVIgxZjG9W8rp2tXNS9/6dN2ta3O23M7Od+Oqf+n1sVgSuKKBgAp9KFQSzVBsQqgaiNiRa3IlXZzYbFPTLaHZNSlW0m2pGBBVh3FidjBj5xVdqju7m7O7Ox4uzksTbtueJ8QRJAhXzLA9AsC9PBO7XAqVWdQQR6dKIDvzfRe47GaMyLLTicRRoA28xwpPsvLfrpBlsvD2VphqCUkFlVQAPYAbCErJxEQhERAREQEREDxPU3wQuY4c6Aq4hN6TkfuhI/Cf1tzaVnxOHam7I40ujFWU/hZTYjaXOmtOpnTJccfPw5FPEAer8tUDgNbg/wB3sd77WKrvE7OPwNWg5p1qbU3HKuCDza/zGxsRsZ1oVIMmQJMCLSbXgCRIJM+bybRaURaSBAWTe0gMYvIvJMo2J0SyqnWxjOxbVTUFRYafUeSfe6iw+ZljZo37PdvMxP1p/wCGm8oZpERAREQEREBERAREQPMeM/BWHzCmRUUCoAdFRQNaE77H2uBccGVo8S5BWwNdqNdSp5Q8h07EHv7H2Mt9PP8AjHwpRzCg1Oqo1WOh7AtTY/iW42MKqaIJnezvKamEr1KFYWdCR/3L+Fx8iN50DCpiQJMADF4tIgTeDIk/+oEGSRIk+0D2vSDNjh8ypr+GsCh+vxKT/wASP/KWcBla+kPhh8Ti0xHFOi99x8b2OwJ225+tpZRBYAQlTERCEREBERAREQEREBERA0x9oLw9tRxqAen/AGqxv+FjemebbNqGwv6/YTScs/1hwyvlOK1C+hVddyLMrCx25+krCIWAEkyBEK7GBwVStUWnSUu7cAEC9hvuTYbe5nrsm6XY+s4FSmKCXF2ZlLEd9IQkX27kcjmdjos6f6iFdbk0jpP5bFb/AL3/AIlklUQlrT+VdFKaOHq1XqAbhWAC6he2oDcjjbvNL5nhno1alOttUR2D37tc3bfsefoZcqYXNPCuExDipVoU3dTdWKAkH3BtcHYftBqoxabG6bdN2xhFXEqy0fwobqX/ALjaxC+3F7e3O5cN0/wFNg6YairDgimoI7bbbT0lCgqCyiwg108nyelhkCUkVFAsAosB8gJkIiEIiICIiAiIgIiICIiAiIgY7xFgfPwtejcDzKNRASLgFlIBt3te8p5TOwl02EqD4owRoYzE0ioTRXqAKLWVCxKAadgNJXb9IWMZEmfNr7e+30vCtr9FvClY4j706lECkJe3r1cn3AFvYXvN+CYjwrhPKw1JeSEUX97AC/8AEy4hkiIgIiICIiAiIgIiICIiAiIgIiICIiAlTeoWIWpmeMdDdfPYXtbdAEbn+5SJbFjzKdZ1iFqYmvUQ3R69Z1NrXV6jMpseNiNjCx0p90DZlNgbMuxvY2I2Nje30nxM54Ky9cRjsPTexQ1LsCRZgoJ02PO4G3cX+cKtZlf9JfpO3OLDU9KKB2AnLDJERAREQEREBERAREQEREBERAREQEREDDeM8x+74HFVtWkpQqFWtezlSENrG/qI5FpUVRsJY/rti9GVsuvSalWkoAJGsarsvzFgSR7CVxhYiZfwgrnHYUUzZvPpnY29Ktd9/bSG273t3mInsukmA83MqZsSKYZ7+zfCL/8AIwqzuH+Fb+wnJIUcSYZIiICIiAiIgIiICIiAiIgIiICIiAiIgal+0U4+6YUXF/vN7X3IFJ7n+R+4mh5v7rn4WxOMXDVMOgqCiKwdQbMfM8qxUHY/Ab79xNC4vDtSYpUVqbg7q40n9j2+cLHFNrfZ/wAGGxFep3VUW3azFjf6+mapE3d9nigvlYh7DV52m/fStNCB+7N+8FbliIhCIiAiIgIiICIiAiIgIiICIiAiIgIiIEETH5jkdCuNNWkjj2ZQw/YiZGIFXOq+TphMyqU6ShEKU3Ci1hqG9gPhFxxPcfZ8zNAK9Amzmp5gBPxKVVdh7gpv9RPF9XKNb/Va5qI/rdVo3X40CqAqW+Lc2233nlKdSthqqOPMo1V9aEqUYci4DDcbEex3EKuVE1F4V610DT041GpOoHrQGoj8b2UalPO1iNuew2tgcYlZFqU2DowBVlNwQeCDCOeIiAiIgIiICIiAiIgIiICIiAiIgIiICIiBw1sKj/EoM6eY5Dh66hatJHA3AZQ1j7i4kRAwB6Y5dp0/dqem+rjva3PM9PlmXph6a0qahUUAKALAAbAAREDtxEQEREBERAREQP/Z"/>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6" name="AutoShape 4" descr="data:image/jpeg;base64,/9j/4AAQSkZJRgABAQAAAQABAAD/2wCEAAkGBxQSEhQUExQUFBUXFBUYFRcUFRgXGBUUFBcWGBcVGBgYHCggGBolHBUXITEhJSkrLy4uGCAzODMsNygtLywBCgoKDQ0NGg8PFywkHCQsLCwsLCwsLCwsLCwsLCwsLCwsLCwsLDQsLDQsLCwsLCwsLCwsLCwsLDQsLCwsLCwsLP/AABEIALgAtwMBIgACEQEDEQH/xAAcAAEAAgIDAQAAAAAAAAAAAAAAAQgFBwMEBgL/xAA4EAACAQIFAgQDBwMDBQAAAAABAgADEQQFEiExB0EGEyJRMmFxCBRCUoGRoTNisRUjkiRygtHw/8QAFgEBAQEAAAAAAAAAAAAAAAAAAAEC/8QAFhEBAQEAAAAAAAAAAAAAAAAAAAER/9oADAMBAAIRAxEAPwDeM8b4o6lYHA1hQquzVNtYprq8oEEgvbvsNhc+obWnspX3r7kiUcXRrpscStTzBv8AHS8saue4cDj8MDeeUZzQxSeZQqpUXi6sDY+x9j8jO/KbZdj6uHqrVou1OoL2ZdjvyPmPrNv+GuuAChcZQa91HmUSCCO7MjG4tsdi199hxC43VEwWQ+L8HjAPIr03b8mqz8An0nfa4mdhCIiAiDEBERAREQEREBEQICJEmAiIgIiICal68+GKldKGKoo1R6Wqm6ohZ2RyCp9NzZWB2t+Mm+2+2pDKDsYGlch6U0cTgEaoHo19OrVbS4Lb2qKSQ1v0+VpplzubG43sbW1Ds1juL87y2fjjGjD5fi6guNNCpbQbEFgVBB7EE3/SVJAsIWORGswIJDAgqQbEEbggjcG/ebD8J9XMXhdKV/8AqqWw9RtVUDmzcMbdm5sNxuZrmLwq3PhrxRhsdT14eorfmXh15tqU7rwefaZm8pzlWZVcNVWtRYpUQ3DD+QfdT3Esd4B6i4fH01Wo6UcR8LUmYAs1ib077utgTtxbeEx7mfFaqqKWYhVUEszEABQLkkngAd59KQeJqrr/AJzVpYajQpginXZxVe21k0laRNrDUSTzf/bP6EesyPqHl+LqeVRrjXqIVWBUvpF7rq5Fv8GeplMqNVkdHQ6WVlZW/KykEH9CJbfwxm1PE4enUp1EqAj4k4JGx25G4Ox4hWXgReIQiDEBAkSYGNznPsNhF1YmvSoggka2ALAEA6V5axI4HcTBJ1Oysi/3umPqGB/xNCdTsV5uaYoioagWppUk3CheUQ3I0htW225O08tC4uLlmb0MQuqhWp1Vva6OGsbA2NjsbMDY+4nelN8ozOrhayVqL6Kim4PuO6sO6nuJabwH4kGYYSnXsFYgh1HZ1NmG/a4P8Qj0UREBERAxviLJ0xmHqYeoWCVFsdJ0n9//AITQ3ibo/i6BJw5FdN7AkK4G1h+Vjud9uJYuQRAplicK9NitRHptt6XVkax72YXnFLRePvANHMkUkmnVQEU3XtqIJBHDD08HjtaabzHpJmFMnSKdUAXBDFSxtwARz9TC68DJO/O87WZ5ZWwz+XXpvSf2YWuPcHhh8xtOpCtjdN+pdTAnysSXq4c8HdnpEdh3Kn27dtptjN82wOaZbimVzVpLScvo9LqyJ5ll1DZxt8r/AKysV52cBmFSiSabslxZwCdLrYjS68OLFhY+5hHWWd/J88xGELNhqz0SwAYpb1AcXBvxc/vORcHSqoXR0pVBzRqNpVhtvSq1G+vpY3+ZmMZbEg22uNiCNvYg2I+Y2MK254Q61PTUU8chqi4ArUwAwXYetO9tzcbnbbudljqPlnlrUOMogMBZdV3FxezIt2X9QJVeDCYtZg+oWWVL6cbhxa1/MqCnz7eZa/HaMX1ByylbVjcOb3/puKlre/l3tz3lVIgxZjG9W8rp2tXNS9/6dN2ta3O23M7Od+Oqf+n1sVgSuKKBgAp9KFQSzVBsQqgaiNiRa3IlXZzYbFPTLaHZNSlW0m2pGBBVh3FidjBj5xVdqju7m7O7Ox4uzksTbtueJ8QRJAhXzLA9AsC9PBO7XAqVWdQQR6dKIDvzfRe47GaMyLLTicRRoA28xwpPsvLfrpBlsvD2VphqCUkFlVQAPYAbCErJxEQhERAREQEREDxPU3wQuY4c6Aq4hN6TkfuhI/Cf1tzaVnxOHam7I40ujFWU/hZTYjaXOmtOpnTJccfPw5FPEAer8tUDgNbg/wB3sd77WKrvE7OPwNWg5p1qbU3HKuCDza/zGxsRsZ1oVIMmQJMCLSbXgCRIJM+bybRaURaSBAWTe0gMYvIvJMo2J0SyqnWxjOxbVTUFRYafUeSfe6iw+ZljZo37PdvMxP1p/wCGm8oZpERAREQEREBERAREQPMeM/BWHzCmRUUCoAdFRQNaE77H2uBccGVo8S5BWwNdqNdSp5Q8h07EHv7H2Mt9PP8AjHwpRzCg1Oqo1WOh7AtTY/iW42MKqaIJnezvKamEr1KFYWdCR/3L+Fx8iN50DCpiQJMADF4tIgTeDIk/+oEGSRIk+0D2vSDNjh8ypr+GsCh+vxKT/wASP/KWcBla+kPhh8Ti0xHFOi99x8b2OwJ225+tpZRBYAQlTERCEREBERAREQEREBERA0x9oLw9tRxqAen/AGqxv+FjemebbNqGwv6/YTScs/1hwyvlOK1C+hVddyLMrCx25+krCIWAEkyBEK7GBwVStUWnSUu7cAEC9hvuTYbe5nrsm6XY+s4FSmKCXF2ZlLEd9IQkX27kcjmdjos6f6iFdbk0jpP5bFb/AL3/AIlklUQlrT+VdFKaOHq1XqAbhWAC6he2oDcjjbvNL5nhno1alOttUR2D37tc3bfsefoZcqYXNPCuExDipVoU3dTdWKAkH3BtcHYftBqoxabG6bdN2xhFXEqy0fwobqX/ALjaxC+3F7e3O5cN0/wFNg6YairDgimoI7bbbT0lCgqCyiwg108nyelhkCUkVFAsAosB8gJkIiEIiICIiAiIgIiICIiAiIgY7xFgfPwtejcDzKNRASLgFlIBt3te8p5TOwl02EqD4owRoYzE0ioTRXqAKLWVCxKAadgNJXb9IWMZEmfNr7e+30vCtr9FvClY4j706lECkJe3r1cn3AFvYXvN+CYjwrhPKw1JeSEUX97AC/8AEy4hkiIgIiICIiAiIgIiICIiAiIgIiICIiAlTeoWIWpmeMdDdfPYXtbdAEbn+5SJbFjzKdZ1iFqYmvUQ3R69Z1NrXV6jMpseNiNjCx0p90DZlNgbMuxvY2I2Nje30nxM54Ky9cRjsPTexQ1LsCRZgoJ02PO4G3cX+cKtZlf9JfpO3OLDU9KKB2AnLDJERAREQEREBERAREQEREBERAREQEREDDeM8x+74HFVtWkpQqFWtezlSENrG/qI5FpUVRsJY/rti9GVsuvSalWkoAJGsarsvzFgSR7CVxhYiZfwgrnHYUUzZvPpnY29Ktd9/bSG273t3mInsukmA83MqZsSKYZ7+zfCL/8AIwqzuH+Fb+wnJIUcSYZIiICIiAiIgIiICIiAiIgIiICIiAiIgal+0U4+6YUXF/vN7X3IFJ7n+R+4mh5v7rn4WxOMXDVMOgqCiKwdQbMfM8qxUHY/Ab79xNC4vDtSYpUVqbg7q40n9j2+cLHFNrfZ/wAGGxFep3VUW3azFjf6+mapE3d9nigvlYh7DV52m/fStNCB+7N+8FbliIhCIiAiIgIiICIiAiIgIiICIiAiIgIiIEETH5jkdCuNNWkjj2ZQw/YiZGIFXOq+TphMyqU6ShEKU3Ci1hqG9gPhFxxPcfZ8zNAK9Amzmp5gBPxKVVdh7gpv9RPF9XKNb/Va5qI/rdVo3X40CqAqW+Lc2233nlKdSthqqOPMo1V9aEqUYci4DDcbEex3EKuVE1F4V610DT041GpOoHrQGoj8b2UalPO1iNuew2tgcYlZFqU2DowBVlNwQeCDCOeIiAiIgIiICIiAiIgIiICIiAiIgIiICIiBw1sKj/EoM6eY5Dh66hatJHA3AZQ1j7i4kRAwB6Y5dp0/dqem+rjva3PM9PlmXph6a0qahUUAKALAAbAAREDtxEQEREBERAREQP/Z"/>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7" name="AutoShape 6" descr="data:image/jpeg;base64,/9j/4AAQSkZJRgABAQAAAQABAAD/2wCEAAkGBxQSEhQUExQUFBUXFBUYFRcUFRgXGBUUFBcWGBcVGBgYHCggGBolHBUXITEhJSkrLy4uGCAzODMsNygtLywBCgoKDQ0NGg8PFywkHCQsLCwsLCwsLCwsLCwsLCwsLCwsLCwsLDQsLDQsLCwsLCwsLCwsLCwsLDQsLCwsLCwsLP/AABEIALgAtwMBIgACEQEDEQH/xAAcAAEAAgIDAQAAAAAAAAAAAAAAAQgFBwMEBgL/xAA4EAACAQIFAgQDBwMDBQAAAAABAgADEQQFEiExB0EGEyJRMmFxCBRCUoGRoTNisRUjkiRygtHw/8QAFgEBAQEAAAAAAAAAAAAAAAAAAAEC/8QAFhEBAQEAAAAAAAAAAAAAAAAAAAER/9oADAMBAAIRAxEAPwDeM8b4o6lYHA1hQquzVNtYprq8oEEgvbvsNhc+obWnspX3r7kiUcXRrpscStTzBv8AHS8saue4cDj8MDeeUZzQxSeZQqpUXi6sDY+x9j8jO/KbZdj6uHqrVou1OoL2ZdjvyPmPrNv+GuuAChcZQa91HmUSCCO7MjG4tsdi199hxC43VEwWQ+L8HjAPIr03b8mqz8An0nfa4mdhCIiAiDEBERAREQEREBEQICJEmAiIgIiICal68+GKldKGKoo1R6Wqm6ohZ2RyCp9NzZWB2t+Mm+2+2pDKDsYGlch6U0cTgEaoHo19OrVbS4Lb2qKSQ1v0+VpplzubG43sbW1Ds1juL87y2fjjGjD5fi6guNNCpbQbEFgVBB7EE3/SVJAsIWORGswIJDAgqQbEEbggjcG/ebD8J9XMXhdKV/8AqqWw9RtVUDmzcMbdm5sNxuZrmLwq3PhrxRhsdT14eorfmXh15tqU7rwefaZm8pzlWZVcNVWtRYpUQ3DD+QfdT3Esd4B6i4fH01Wo6UcR8LUmYAs1ib077utgTtxbeEx7mfFaqqKWYhVUEszEABQLkkngAd59KQeJqrr/AJzVpYajQpginXZxVe21k0laRNrDUSTzf/bP6EesyPqHl+LqeVRrjXqIVWBUvpF7rq5Fv8GeplMqNVkdHQ6WVlZW/KykEH9CJbfwxm1PE4enUp1EqAj4k4JGx25G4Ox4hWXgReIQiDEBAkSYGNznPsNhF1YmvSoggka2ALAEA6V5axI4HcTBJ1Oysi/3umPqGB/xNCdTsV5uaYoioagWppUk3CheUQ3I0htW225O08tC4uLlmb0MQuqhWp1Vva6OGsbA2NjsbMDY+4nelN8ozOrhayVqL6Kim4PuO6sO6nuJabwH4kGYYSnXsFYgh1HZ1NmG/a4P8Qj0UREBERAxviLJ0xmHqYeoWCVFsdJ0n9//AITQ3ibo/i6BJw5FdN7AkK4G1h+Vjud9uJYuQRAplicK9NitRHptt6XVkax72YXnFLRePvANHMkUkmnVQEU3XtqIJBHDD08HjtaabzHpJmFMnSKdUAXBDFSxtwARz9TC68DJO/O87WZ5ZWwz+XXpvSf2YWuPcHhh8xtOpCtjdN+pdTAnysSXq4c8HdnpEdh3Kn27dtptjN82wOaZbimVzVpLScvo9LqyJ5ll1DZxt8r/AKysV52cBmFSiSabslxZwCdLrYjS68OLFhY+5hHWWd/J88xGELNhqz0SwAYpb1AcXBvxc/vORcHSqoXR0pVBzRqNpVhtvSq1G+vpY3+ZmMZbEg22uNiCNvYg2I+Y2MK254Q61PTUU8chqi4ArUwAwXYetO9tzcbnbbudljqPlnlrUOMogMBZdV3FxezIt2X9QJVeDCYtZg+oWWVL6cbhxa1/MqCnz7eZa/HaMX1ByylbVjcOb3/puKlre/l3tz3lVIgxZjG9W8rp2tXNS9/6dN2ta3O23M7Od+Oqf+n1sVgSuKKBgAp9KFQSzVBsQqgaiNiRa3IlXZzYbFPTLaHZNSlW0m2pGBBVh3FidjBj5xVdqju7m7O7Ox4uzksTbtueJ8QRJAhXzLA9AsC9PBO7XAqVWdQQR6dKIDvzfRe47GaMyLLTicRRoA28xwpPsvLfrpBlsvD2VphqCUkFlVQAPYAbCErJxEQhERAREQEREDxPU3wQuY4c6Aq4hN6TkfuhI/Cf1tzaVnxOHam7I40ujFWU/hZTYjaXOmtOpnTJccfPw5FPEAer8tUDgNbg/wB3sd77WKrvE7OPwNWg5p1qbU3HKuCDza/zGxsRsZ1oVIMmQJMCLSbXgCRIJM+bybRaURaSBAWTe0gMYvIvJMo2J0SyqnWxjOxbVTUFRYafUeSfe6iw+ZljZo37PdvMxP1p/wCGm8oZpERAREQEREBERAREQPMeM/BWHzCmRUUCoAdFRQNaE77H2uBccGVo8S5BWwNdqNdSp5Q8h07EHv7H2Mt9PP8AjHwpRzCg1Oqo1WOh7AtTY/iW42MKqaIJnezvKamEr1KFYWdCR/3L+Fx8iN50DCpiQJMADF4tIgTeDIk/+oEGSRIk+0D2vSDNjh8ypr+GsCh+vxKT/wASP/KWcBla+kPhh8Ti0xHFOi99x8b2OwJ225+tpZRBYAQlTERCEREBERAREQEREBERA0x9oLw9tRxqAen/AGqxv+FjemebbNqGwv6/YTScs/1hwyvlOK1C+hVddyLMrCx25+krCIWAEkyBEK7GBwVStUWnSUu7cAEC9hvuTYbe5nrsm6XY+s4FSmKCXF2ZlLEd9IQkX27kcjmdjos6f6iFdbk0jpP5bFb/AL3/AIlklUQlrT+VdFKaOHq1XqAbhWAC6he2oDcjjbvNL5nhno1alOttUR2D37tc3bfsefoZcqYXNPCuExDipVoU3dTdWKAkH3BtcHYftBqoxabG6bdN2xhFXEqy0fwobqX/ALjaxC+3F7e3O5cN0/wFNg6YairDgimoI7bbbT0lCgqCyiwg108nyelhkCUkVFAsAosB8gJkIiEIiICIiAiIgIiICIiAiIgY7xFgfPwtejcDzKNRASLgFlIBt3te8p5TOwl02EqD4owRoYzE0ioTRXqAKLWVCxKAadgNJXb9IWMZEmfNr7e+30vCtr9FvClY4j706lECkJe3r1cn3AFvYXvN+CYjwrhPKw1JeSEUX97AC/8AEy4hkiIgIiICIiAiIgIiICIiAiIgIiICIiAlTeoWIWpmeMdDdfPYXtbdAEbn+5SJbFjzKdZ1iFqYmvUQ3R69Z1NrXV6jMpseNiNjCx0p90DZlNgbMuxvY2I2Nje30nxM54Ky9cRjsPTexQ1LsCRZgoJ02PO4G3cX+cKtZlf9JfpO3OLDU9KKB2AnLDJERAREQEREBERAREQEREBERAREQEREDDeM8x+74HFVtWkpQqFWtezlSENrG/qI5FpUVRsJY/rti9GVsuvSalWkoAJGsarsvzFgSR7CVxhYiZfwgrnHYUUzZvPpnY29Ktd9/bSG273t3mInsukmA83MqZsSKYZ7+zfCL/8AIwqzuH+Fb+wnJIUcSYZIiICIiAiIgIiICIiAiIgIiICIiAiIgal+0U4+6YUXF/vN7X3IFJ7n+R+4mh5v7rn4WxOMXDVMOgqCiKwdQbMfM8qxUHY/Ab79xNC4vDtSYpUVqbg7q40n9j2+cLHFNrfZ/wAGGxFep3VUW3azFjf6+mapE3d9nigvlYh7DV52m/fStNCB+7N+8FbliIhCIiAiIgIiICIiAiIgIiICIiAiIgIiIEETH5jkdCuNNWkjj2ZQw/YiZGIFXOq+TphMyqU6ShEKU3Ci1hqG9gPhFxxPcfZ8zNAK9Amzmp5gBPxKVVdh7gpv9RPF9XKNb/Va5qI/rdVo3X40CqAqW+Lc2233nlKdSthqqOPMo1V9aEqUYci4DDcbEex3EKuVE1F4V610DT041GpOoHrQGoj8b2UalPO1iNuew2tgcYlZFqU2DowBVlNwQeCDCOeIiAiIgIiICIiAiIgIiICIiAiIgIiICIiBw1sKj/EoM6eY5Dh66hatJHA3AZQ1j7i4kRAwB6Y5dp0/dqem+rjva3PM9PlmXph6a0qahUUAKALAAbAAREDtxEQEREBERAREQP/Z"/>
          <p:cNvSpPr>
            <a:spLocks noChangeAspect="1" noChangeArrowheads="1"/>
          </p:cNvSpPr>
          <p:nvPr/>
        </p:nvSpPr>
        <p:spPr bwMode="auto">
          <a:xfrm>
            <a:off x="460375" y="1603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3080" name="Picture 8" descr="http://karate-institute.com/Resources/Website/karate%20stick%20male.gif"/>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1493" y="1863967"/>
            <a:ext cx="2603123" cy="262585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4" descr="https://encrypted-tbn2.gstatic.com/images?q=tbn:ANd9GcSLoxsFumoglLn1IXxXAvqOsRDhfNV__aIODiM3UU3gWYMaosZ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74409" y="1863967"/>
            <a:ext cx="1838325" cy="2486026"/>
          </a:xfrm>
          <a:prstGeom prst="rect">
            <a:avLst/>
          </a:prstGeom>
          <a:noFill/>
          <a:extLst>
            <a:ext uri="{909E8E84-426E-40DD-AFC4-6F175D3DCCD1}">
              <a14:hiddenFill xmlns:a14="http://schemas.microsoft.com/office/drawing/2010/main">
                <a:solidFill>
                  <a:srgbClr val="FFFFFF"/>
                </a:solidFill>
              </a14:hiddenFill>
            </a:ext>
          </a:extLst>
        </p:spPr>
      </p:pic>
      <p:sp>
        <p:nvSpPr>
          <p:cNvPr id="10" name="Text Box 122"/>
          <p:cNvSpPr txBox="1">
            <a:spLocks noChangeArrowheads="1"/>
          </p:cNvSpPr>
          <p:nvPr/>
        </p:nvSpPr>
        <p:spPr bwMode="auto">
          <a:xfrm>
            <a:off x="230107" y="4564768"/>
            <a:ext cx="8683787" cy="523220"/>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Is functional programming more like Haiku or Karate?</a:t>
            </a:r>
            <a:endParaRPr lang="en-US" sz="2800" dirty="0">
              <a:solidFill>
                <a:schemeClr val="tx1"/>
              </a:solidFill>
              <a:latin typeface="Arial" pitchFamily="34" charset="0"/>
              <a:cs typeface="Arial" pitchFamily="34" charset="0"/>
            </a:endParaRPr>
          </a:p>
        </p:txBody>
      </p:sp>
      <p:grpSp>
        <p:nvGrpSpPr>
          <p:cNvPr id="8" name="Group 7"/>
          <p:cNvGrpSpPr/>
          <p:nvPr/>
        </p:nvGrpSpPr>
        <p:grpSpPr>
          <a:xfrm>
            <a:off x="1824790" y="5379329"/>
            <a:ext cx="5494421" cy="523220"/>
            <a:chOff x="1597510" y="5379329"/>
            <a:chExt cx="5494421" cy="523220"/>
          </a:xfrm>
        </p:grpSpPr>
        <p:sp>
          <p:nvSpPr>
            <p:cNvPr id="11" name="Text Box 122"/>
            <p:cNvSpPr txBox="1">
              <a:spLocks noChangeArrowheads="1"/>
            </p:cNvSpPr>
            <p:nvPr/>
          </p:nvSpPr>
          <p:spPr bwMode="auto">
            <a:xfrm>
              <a:off x="1597510" y="5379329"/>
              <a:ext cx="2105063"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1981: Haiku</a:t>
              </a:r>
              <a:endParaRPr lang="en-US" sz="2800" dirty="0">
                <a:solidFill>
                  <a:schemeClr val="tx1"/>
                </a:solidFill>
                <a:latin typeface="Arial" pitchFamily="34" charset="0"/>
                <a:cs typeface="Arial" pitchFamily="34" charset="0"/>
              </a:endParaRPr>
            </a:p>
          </p:txBody>
        </p:sp>
        <p:sp>
          <p:nvSpPr>
            <p:cNvPr id="12" name="Text Box 122"/>
            <p:cNvSpPr txBox="1">
              <a:spLocks noChangeArrowheads="1"/>
            </p:cNvSpPr>
            <p:nvPr/>
          </p:nvSpPr>
          <p:spPr bwMode="auto">
            <a:xfrm>
              <a:off x="4688453" y="5379329"/>
              <a:ext cx="2403478" cy="523220"/>
            </a:xfrm>
            <a:prstGeom prst="rect">
              <a:avLst/>
            </a:prstGeom>
            <a:solidFill>
              <a:schemeClr val="bg1">
                <a:alpha val="89999"/>
              </a:schemeClr>
            </a:solidFill>
            <a:ln w="38100" algn="ctr">
              <a:solidFill>
                <a:schemeClr val="accent6">
                  <a:lumMod val="5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Today: Karate</a:t>
              </a:r>
              <a:endParaRPr lang="en-US" sz="2800" dirty="0">
                <a:solidFill>
                  <a:schemeClr val="tx1"/>
                </a:solidFill>
                <a:latin typeface="Arial" pitchFamily="34" charset="0"/>
                <a:cs typeface="Arial" pitchFamily="34" charset="0"/>
              </a:endParaRPr>
            </a:p>
          </p:txBody>
        </p:sp>
      </p:grpSp>
    </p:spTree>
    <p:extLst>
      <p:ext uri="{BB962C8B-B14F-4D97-AF65-F5344CB8AC3E}">
        <p14:creationId xmlns:p14="http://schemas.microsoft.com/office/powerpoint/2010/main" val="23416811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
          <p:cNvSpPr>
            <a:spLocks/>
          </p:cNvSpPr>
          <p:nvPr/>
        </p:nvSpPr>
        <p:spPr bwMode="auto">
          <a:xfrm>
            <a:off x="1444228" y="5187990"/>
            <a:ext cx="1931988" cy="12350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sp>
        <p:nvSpPr>
          <p:cNvPr id="2" name="Title 1"/>
          <p:cNvSpPr>
            <a:spLocks noGrp="1"/>
          </p:cNvSpPr>
          <p:nvPr>
            <p:ph type="title"/>
          </p:nvPr>
        </p:nvSpPr>
        <p:spPr/>
        <p:txBody>
          <a:bodyPr/>
          <a:lstStyle/>
          <a:p>
            <a:r>
              <a:rPr lang="en-US" dirty="0"/>
              <a:t>Laziness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68</a:t>
            </a:fld>
            <a:endParaRPr lang="en-US"/>
          </a:p>
        </p:txBody>
      </p:sp>
      <p:sp>
        <p:nvSpPr>
          <p:cNvPr id="6" name="Rectangle 5"/>
          <p:cNvSpPr/>
          <p:nvPr/>
        </p:nvSpPr>
        <p:spPr bwMode="auto">
          <a:xfrm>
            <a:off x="1598334" y="3107399"/>
            <a:ext cx="1507144"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x+1</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9" name="Oval 8"/>
          <p:cNvSpPr/>
          <p:nvPr/>
        </p:nvSpPr>
        <p:spPr bwMode="auto">
          <a:xfrm>
            <a:off x="1337324" y="1682218"/>
            <a:ext cx="2029165"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1,2,3,…</a:t>
            </a:r>
          </a:p>
        </p:txBody>
      </p:sp>
      <p:sp>
        <p:nvSpPr>
          <p:cNvPr id="14" name="Rectangle 13"/>
          <p:cNvSpPr/>
          <p:nvPr/>
        </p:nvSpPr>
        <p:spPr bwMode="auto">
          <a:xfrm>
            <a:off x="1703331" y="4320053"/>
            <a:ext cx="1297150"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2x</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6" name="Down Arrow 15"/>
          <p:cNvSpPr/>
          <p:nvPr/>
        </p:nvSpPr>
        <p:spPr bwMode="auto">
          <a:xfrm>
            <a:off x="1803389" y="2531593"/>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7" name="Down Arrow 16"/>
          <p:cNvSpPr/>
          <p:nvPr/>
        </p:nvSpPr>
        <p:spPr bwMode="auto">
          <a:xfrm>
            <a:off x="1803389" y="3744247"/>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8" name="Down Arrow 17"/>
          <p:cNvSpPr/>
          <p:nvPr/>
        </p:nvSpPr>
        <p:spPr bwMode="auto">
          <a:xfrm>
            <a:off x="1803389" y="4956901"/>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9" name="Rectangle 18"/>
          <p:cNvSpPr/>
          <p:nvPr/>
        </p:nvSpPr>
        <p:spPr bwMode="auto">
          <a:xfrm>
            <a:off x="1919737" y="5532707"/>
            <a:ext cx="864339" cy="523220"/>
          </a:xfrm>
          <a:prstGeom prst="rect">
            <a:avLst/>
          </a:prstGeom>
          <a:solidFill>
            <a:schemeClr val="bg1"/>
          </a:solid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sum</a:t>
            </a:r>
          </a:p>
        </p:txBody>
      </p:sp>
      <p:sp>
        <p:nvSpPr>
          <p:cNvPr id="20" name="Text Box 122"/>
          <p:cNvSpPr txBox="1">
            <a:spLocks noChangeArrowheads="1"/>
          </p:cNvSpPr>
          <p:nvPr/>
        </p:nvSpPr>
        <p:spPr bwMode="auto">
          <a:xfrm>
            <a:off x="4585171" y="1682218"/>
            <a:ext cx="4171372" cy="954107"/>
          </a:xfrm>
          <a:prstGeom prst="rect">
            <a:avLst/>
          </a:prstGeom>
          <a:solidFill>
            <a:schemeClr val="bg1">
              <a:alpha val="89999"/>
            </a:schemeClr>
          </a:solidFill>
          <a:ln w="38100" algn="ctr">
            <a:solidFill>
              <a:srgbClr val="00B05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No computation until absolutely necessary</a:t>
            </a:r>
            <a:endParaRPr lang="en-US" sz="2800" dirty="0">
              <a:solidFill>
                <a:schemeClr val="tx1"/>
              </a:solidFill>
              <a:latin typeface="Arial" pitchFamily="34" charset="0"/>
              <a:cs typeface="Arial" pitchFamily="34" charset="0"/>
            </a:endParaRPr>
          </a:p>
        </p:txBody>
      </p:sp>
      <p:sp>
        <p:nvSpPr>
          <p:cNvPr id="22" name="Text Box 122"/>
          <p:cNvSpPr txBox="1">
            <a:spLocks noChangeArrowheads="1"/>
          </p:cNvSpPr>
          <p:nvPr/>
        </p:nvSpPr>
        <p:spPr bwMode="auto">
          <a:xfrm>
            <a:off x="3366489" y="2867809"/>
            <a:ext cx="4171372" cy="954107"/>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add 1 to each element: no computation</a:t>
            </a:r>
            <a:endParaRPr lang="en-US" sz="2800" dirty="0">
              <a:solidFill>
                <a:schemeClr val="tx1"/>
              </a:solidFill>
              <a:latin typeface="Arial" pitchFamily="34" charset="0"/>
              <a:cs typeface="Arial" pitchFamily="34" charset="0"/>
            </a:endParaRPr>
          </a:p>
        </p:txBody>
      </p:sp>
      <p:sp>
        <p:nvSpPr>
          <p:cNvPr id="23" name="Text Box 122"/>
          <p:cNvSpPr txBox="1">
            <a:spLocks noChangeArrowheads="1"/>
          </p:cNvSpPr>
          <p:nvPr/>
        </p:nvSpPr>
        <p:spPr bwMode="auto">
          <a:xfrm>
            <a:off x="3376216" y="4002794"/>
            <a:ext cx="4171372" cy="954107"/>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double each element: no computation</a:t>
            </a:r>
            <a:endParaRPr lang="en-US" sz="2800" dirty="0">
              <a:solidFill>
                <a:schemeClr val="tx1"/>
              </a:solidFill>
              <a:latin typeface="Arial" pitchFamily="34" charset="0"/>
              <a:cs typeface="Arial" pitchFamily="34" charset="0"/>
            </a:endParaRPr>
          </a:p>
        </p:txBody>
      </p:sp>
      <p:sp>
        <p:nvSpPr>
          <p:cNvPr id="24" name="Text Box 122"/>
          <p:cNvSpPr txBox="1">
            <a:spLocks noChangeArrowheads="1"/>
          </p:cNvSpPr>
          <p:nvPr/>
        </p:nvSpPr>
        <p:spPr bwMode="auto">
          <a:xfrm>
            <a:off x="3807586" y="5187990"/>
            <a:ext cx="3509294" cy="769441"/>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4400" dirty="0">
                <a:solidFill>
                  <a:schemeClr val="tx1"/>
                </a:solidFill>
                <a:latin typeface="Symbol"/>
                <a:cs typeface="Arial" pitchFamily="34" charset="0"/>
                <a:sym typeface="Symbol"/>
              </a:rPr>
              <a:t></a:t>
            </a:r>
            <a:r>
              <a:rPr lang="en-US" sz="2800" dirty="0">
                <a:solidFill>
                  <a:schemeClr val="tx1"/>
                </a:solidFill>
                <a:latin typeface="Arial" pitchFamily="34" charset="0"/>
                <a:cs typeface="Arial" pitchFamily="34" charset="0"/>
              </a:rPr>
              <a:t> </a:t>
            </a:r>
            <a:r>
              <a:rPr lang="en-US" sz="2800" dirty="0">
                <a:solidFill>
                  <a:schemeClr val="tx1"/>
                </a:solidFill>
                <a:latin typeface="Arial"/>
                <a:cs typeface="Arial" pitchFamily="34" charset="0"/>
              </a:rPr>
              <a:t>2(x</a:t>
            </a:r>
            <a:r>
              <a:rPr lang="en-US" sz="2800" baseline="-25000" dirty="0">
                <a:solidFill>
                  <a:schemeClr val="tx1"/>
                </a:solidFill>
                <a:latin typeface="Arial"/>
                <a:cs typeface="Arial" pitchFamily="34" charset="0"/>
              </a:rPr>
              <a:t>i</a:t>
            </a:r>
            <a:r>
              <a:rPr lang="en-US" sz="2800" dirty="0">
                <a:solidFill>
                  <a:schemeClr val="tx1"/>
                </a:solidFill>
                <a:latin typeface="Arial"/>
                <a:cs typeface="Arial" pitchFamily="34" charset="0"/>
              </a:rPr>
              <a:t>+1</a:t>
            </a:r>
            <a:r>
              <a:rPr lang="en-US" sz="2800" dirty="0">
                <a:solidFill>
                  <a:schemeClr val="tx1"/>
                </a:solidFill>
                <a:latin typeface="Arial" pitchFamily="34" charset="0"/>
                <a:cs typeface="Arial" pitchFamily="34" charset="0"/>
              </a:rPr>
              <a:t>) </a:t>
            </a:r>
            <a:r>
              <a:rPr lang="en-US" sz="2800" dirty="0">
                <a:latin typeface="Arial" pitchFamily="34" charset="0"/>
                <a:cs typeface="Arial" pitchFamily="34" charset="0"/>
              </a:rPr>
              <a:t>is </a:t>
            </a:r>
            <a:r>
              <a:rPr lang="en-US" sz="2800" i="1" dirty="0">
                <a:solidFill>
                  <a:srgbClr val="FF0000"/>
                </a:solidFill>
                <a:latin typeface="Arial" pitchFamily="34" charset="0"/>
                <a:cs typeface="Arial" pitchFamily="34" charset="0"/>
              </a:rPr>
              <a:t>terminal</a:t>
            </a:r>
          </a:p>
        </p:txBody>
      </p:sp>
    </p:spTree>
    <p:extLst>
      <p:ext uri="{BB962C8B-B14F-4D97-AF65-F5344CB8AC3E}">
        <p14:creationId xmlns:p14="http://schemas.microsoft.com/office/powerpoint/2010/main" val="6406276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par>
                          <p:cTn id="9" fill="hold">
                            <p:stCondLst>
                              <p:cond delay="0"/>
                            </p:stCondLst>
                            <p:childTnLst>
                              <p:par>
                                <p:cTn id="10" presetID="1" presetClass="entr" presetSubtype="0" fill="hold" grpId="0" nodeType="afterEffect">
                                  <p:stCondLst>
                                    <p:cond delay="0"/>
                                  </p:stCondLst>
                                  <p:childTnLst>
                                    <p:set>
                                      <p:cBhvr>
                                        <p:cTn id="11" dur="1" fill="hold">
                                          <p:stCondLst>
                                            <p:cond delay="0"/>
                                          </p:stCondLst>
                                        </p:cTn>
                                        <p:tgtEl>
                                          <p:spTgt spid="22"/>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7"/>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14"/>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2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8"/>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21"/>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4"/>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6" grpId="0" animBg="1"/>
      <p:bldP spid="14" grpId="0" animBg="1"/>
      <p:bldP spid="16" grpId="0" animBg="1"/>
      <p:bldP spid="17" grpId="0" animBg="1"/>
      <p:bldP spid="18" grpId="0" animBg="1"/>
      <p:bldP spid="19" grpId="0" animBg="1"/>
      <p:bldP spid="22" grpId="0" animBg="1"/>
      <p:bldP spid="23" grpId="0" animBg="1"/>
      <p:bldP spid="24"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
          <p:cNvSpPr>
            <a:spLocks/>
          </p:cNvSpPr>
          <p:nvPr/>
        </p:nvSpPr>
        <p:spPr bwMode="auto">
          <a:xfrm>
            <a:off x="1444228" y="5187990"/>
            <a:ext cx="1931988" cy="12350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sp>
        <p:nvSpPr>
          <p:cNvPr id="2" name="Title 1"/>
          <p:cNvSpPr>
            <a:spLocks noGrp="1"/>
          </p:cNvSpPr>
          <p:nvPr>
            <p:ph type="title"/>
          </p:nvPr>
        </p:nvSpPr>
        <p:spPr/>
        <p:txBody>
          <a:bodyPr/>
          <a:lstStyle/>
          <a:p>
            <a:r>
              <a:rPr lang="en-US" dirty="0"/>
              <a:t>Laziness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69</a:t>
            </a:fld>
            <a:endParaRPr lang="en-US"/>
          </a:p>
        </p:txBody>
      </p:sp>
      <p:sp>
        <p:nvSpPr>
          <p:cNvPr id="6" name="Rectangle 5"/>
          <p:cNvSpPr/>
          <p:nvPr/>
        </p:nvSpPr>
        <p:spPr bwMode="auto">
          <a:xfrm>
            <a:off x="1598334" y="3107399"/>
            <a:ext cx="1507144"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x+1</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9" name="Oval 8"/>
          <p:cNvSpPr/>
          <p:nvPr/>
        </p:nvSpPr>
        <p:spPr bwMode="auto">
          <a:xfrm>
            <a:off x="1337324" y="1682218"/>
            <a:ext cx="2029165"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1,2,3,…</a:t>
            </a:r>
          </a:p>
        </p:txBody>
      </p:sp>
      <p:sp>
        <p:nvSpPr>
          <p:cNvPr id="14" name="Rectangle 13"/>
          <p:cNvSpPr/>
          <p:nvPr/>
        </p:nvSpPr>
        <p:spPr bwMode="auto">
          <a:xfrm>
            <a:off x="1703331" y="4320053"/>
            <a:ext cx="1297150"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2x</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6" name="Down Arrow 15"/>
          <p:cNvSpPr/>
          <p:nvPr/>
        </p:nvSpPr>
        <p:spPr bwMode="auto">
          <a:xfrm>
            <a:off x="1803389" y="2531593"/>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7" name="Down Arrow 16"/>
          <p:cNvSpPr/>
          <p:nvPr/>
        </p:nvSpPr>
        <p:spPr bwMode="auto">
          <a:xfrm>
            <a:off x="1803389" y="3744247"/>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8" name="Down Arrow 17"/>
          <p:cNvSpPr/>
          <p:nvPr/>
        </p:nvSpPr>
        <p:spPr bwMode="auto">
          <a:xfrm>
            <a:off x="1803389" y="4956901"/>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9" name="Rectangle 18"/>
          <p:cNvSpPr/>
          <p:nvPr/>
        </p:nvSpPr>
        <p:spPr bwMode="auto">
          <a:xfrm>
            <a:off x="1207568" y="5532707"/>
            <a:ext cx="2242922" cy="523220"/>
          </a:xfrm>
          <a:prstGeom prst="rect">
            <a:avLst/>
          </a:prstGeom>
          <a:solidFill>
            <a:schemeClr val="bg1"/>
          </a:solid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collect in List</a:t>
            </a:r>
          </a:p>
        </p:txBody>
      </p:sp>
      <p:sp>
        <p:nvSpPr>
          <p:cNvPr id="24" name="Text Box 122"/>
          <p:cNvSpPr txBox="1">
            <a:spLocks noChangeArrowheads="1"/>
          </p:cNvSpPr>
          <p:nvPr/>
        </p:nvSpPr>
        <p:spPr bwMode="auto">
          <a:xfrm>
            <a:off x="4179546" y="5092287"/>
            <a:ext cx="3073662" cy="954107"/>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move to container is </a:t>
            </a:r>
            <a:r>
              <a:rPr lang="en-US" sz="2800" i="1" dirty="0">
                <a:solidFill>
                  <a:srgbClr val="FF0000"/>
                </a:solidFill>
                <a:latin typeface="Arial" pitchFamily="34" charset="0"/>
                <a:cs typeface="Arial" pitchFamily="34" charset="0"/>
              </a:rPr>
              <a:t>terminal</a:t>
            </a:r>
          </a:p>
        </p:txBody>
      </p:sp>
    </p:spTree>
    <p:extLst>
      <p:ext uri="{BB962C8B-B14F-4D97-AF65-F5344CB8AC3E}">
        <p14:creationId xmlns:p14="http://schemas.microsoft.com/office/powerpoint/2010/main" val="3018422118"/>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Freeform 2"/>
          <p:cNvSpPr>
            <a:spLocks/>
          </p:cNvSpPr>
          <p:nvPr/>
        </p:nvSpPr>
        <p:spPr bwMode="auto">
          <a:xfrm>
            <a:off x="1444228" y="5187990"/>
            <a:ext cx="1931988" cy="1235075"/>
          </a:xfrm>
          <a:custGeom>
            <a:avLst/>
            <a:gdLst>
              <a:gd name="T0" fmla="*/ 2147483647 w 1455"/>
              <a:gd name="T1" fmla="*/ 2147483647 h 930"/>
              <a:gd name="T2" fmla="*/ 2147483647 w 1455"/>
              <a:gd name="T3" fmla="*/ 2147483647 h 930"/>
              <a:gd name="T4" fmla="*/ 2147483647 w 1455"/>
              <a:gd name="T5" fmla="*/ 2147483647 h 930"/>
              <a:gd name="T6" fmla="*/ 2147483647 w 1455"/>
              <a:gd name="T7" fmla="*/ 2147483647 h 930"/>
              <a:gd name="T8" fmla="*/ 2147483647 w 1455"/>
              <a:gd name="T9" fmla="*/ 2147483647 h 930"/>
              <a:gd name="T10" fmla="*/ 0 w 1455"/>
              <a:gd name="T11" fmla="*/ 2147483647 h 930"/>
              <a:gd name="T12" fmla="*/ 2147483647 w 1455"/>
              <a:gd name="T13" fmla="*/ 2147483647 h 930"/>
              <a:gd name="T14" fmla="*/ 2147483647 w 1455"/>
              <a:gd name="T15" fmla="*/ 2147483647 h 930"/>
              <a:gd name="T16" fmla="*/ 2147483647 w 1455"/>
              <a:gd name="T17" fmla="*/ 2147483647 h 930"/>
              <a:gd name="T18" fmla="*/ 2147483647 w 1455"/>
              <a:gd name="T19" fmla="*/ 2147483647 h 930"/>
              <a:gd name="T20" fmla="*/ 2147483647 w 1455"/>
              <a:gd name="T21" fmla="*/ 2147483647 h 930"/>
              <a:gd name="T22" fmla="*/ 2147483647 w 1455"/>
              <a:gd name="T23" fmla="*/ 0 h 930"/>
              <a:gd name="T24" fmla="*/ 2147483647 w 1455"/>
              <a:gd name="T25" fmla="*/ 2147483647 h 930"/>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60000 65536"/>
              <a:gd name="T37" fmla="*/ 0 60000 65536"/>
              <a:gd name="T38" fmla="*/ 0 60000 65536"/>
              <a:gd name="T39" fmla="*/ 0 w 1455"/>
              <a:gd name="T40" fmla="*/ 0 h 930"/>
              <a:gd name="T41" fmla="*/ 1455 w 1455"/>
              <a:gd name="T42" fmla="*/ 930 h 930"/>
            </a:gdLst>
            <a:ahLst/>
            <a:cxnLst>
              <a:cxn ang="T26">
                <a:pos x="T0" y="T1"/>
              </a:cxn>
              <a:cxn ang="T27">
                <a:pos x="T2" y="T3"/>
              </a:cxn>
              <a:cxn ang="T28">
                <a:pos x="T4" y="T5"/>
              </a:cxn>
              <a:cxn ang="T29">
                <a:pos x="T6" y="T7"/>
              </a:cxn>
              <a:cxn ang="T30">
                <a:pos x="T8" y="T9"/>
              </a:cxn>
              <a:cxn ang="T31">
                <a:pos x="T10" y="T11"/>
              </a:cxn>
              <a:cxn ang="T32">
                <a:pos x="T12" y="T13"/>
              </a:cxn>
              <a:cxn ang="T33">
                <a:pos x="T14" y="T15"/>
              </a:cxn>
              <a:cxn ang="T34">
                <a:pos x="T16" y="T17"/>
              </a:cxn>
              <a:cxn ang="T35">
                <a:pos x="T18" y="T19"/>
              </a:cxn>
              <a:cxn ang="T36">
                <a:pos x="T20" y="T21"/>
              </a:cxn>
              <a:cxn ang="T37">
                <a:pos x="T22" y="T23"/>
              </a:cxn>
              <a:cxn ang="T38">
                <a:pos x="T24" y="T25"/>
              </a:cxn>
            </a:cxnLst>
            <a:rect l="T39" t="T40" r="T41" b="T42"/>
            <a:pathLst>
              <a:path w="1455" h="930">
                <a:moveTo>
                  <a:pt x="576" y="253"/>
                </a:moveTo>
                <a:lnTo>
                  <a:pt x="373" y="61"/>
                </a:lnTo>
                <a:lnTo>
                  <a:pt x="343" y="253"/>
                </a:lnTo>
                <a:lnTo>
                  <a:pt x="80" y="223"/>
                </a:lnTo>
                <a:lnTo>
                  <a:pt x="192" y="445"/>
                </a:lnTo>
                <a:lnTo>
                  <a:pt x="0" y="930"/>
                </a:lnTo>
                <a:lnTo>
                  <a:pt x="525" y="627"/>
                </a:lnTo>
                <a:lnTo>
                  <a:pt x="1081" y="900"/>
                </a:lnTo>
                <a:lnTo>
                  <a:pt x="1081" y="667"/>
                </a:lnTo>
                <a:lnTo>
                  <a:pt x="1455" y="556"/>
                </a:lnTo>
                <a:lnTo>
                  <a:pt x="1202" y="404"/>
                </a:lnTo>
                <a:lnTo>
                  <a:pt x="1333" y="0"/>
                </a:lnTo>
                <a:lnTo>
                  <a:pt x="576" y="253"/>
                </a:lnTo>
                <a:close/>
              </a:path>
            </a:pathLst>
          </a:custGeom>
          <a:solidFill>
            <a:srgbClr val="FFFF00"/>
          </a:solidFill>
          <a:ln w="38100">
            <a:solidFill>
              <a:srgbClr val="FF3300"/>
            </a:solidFill>
            <a:round/>
            <a:headEnd/>
            <a:tailEnd/>
          </a:ln>
        </p:spPr>
        <p:txBody>
          <a:bodyPr wrap="none" anchor="ctr"/>
          <a:lstStyle/>
          <a:p>
            <a:endParaRPr lang="en-US" dirty="0">
              <a:latin typeface="Arial" pitchFamily="34" charset="0"/>
            </a:endParaRPr>
          </a:p>
        </p:txBody>
      </p:sp>
      <p:sp>
        <p:nvSpPr>
          <p:cNvPr id="2" name="Title 1"/>
          <p:cNvSpPr>
            <a:spLocks noGrp="1"/>
          </p:cNvSpPr>
          <p:nvPr>
            <p:ph type="title"/>
          </p:nvPr>
        </p:nvSpPr>
        <p:spPr/>
        <p:txBody>
          <a:bodyPr/>
          <a:lstStyle/>
          <a:p>
            <a:r>
              <a:rPr lang="en-US" dirty="0"/>
              <a:t>Laziness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70</a:t>
            </a:fld>
            <a:endParaRPr lang="en-US"/>
          </a:p>
        </p:txBody>
      </p:sp>
      <p:sp>
        <p:nvSpPr>
          <p:cNvPr id="6" name="Rectangle 5"/>
          <p:cNvSpPr/>
          <p:nvPr/>
        </p:nvSpPr>
        <p:spPr bwMode="auto">
          <a:xfrm>
            <a:off x="1598334" y="3107399"/>
            <a:ext cx="1507144"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x+1</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9" name="Oval 8"/>
          <p:cNvSpPr/>
          <p:nvPr/>
        </p:nvSpPr>
        <p:spPr bwMode="auto">
          <a:xfrm>
            <a:off x="1337324" y="1682218"/>
            <a:ext cx="2029165" cy="735747"/>
          </a:xfrm>
          <a:prstGeom prst="ellipse">
            <a:avLst/>
          </a:prstGeom>
          <a:noFill/>
          <a:ln w="38100" cap="flat" cmpd="sng" algn="ctr">
            <a:solidFill>
              <a:srgbClr val="00B050"/>
            </a:solidFill>
            <a:prstDash val="solid"/>
            <a:round/>
            <a:headEnd type="none" w="med" len="med"/>
            <a:tailEnd type="none" w="med" len="med"/>
          </a:ln>
          <a:effectLst/>
        </p:spPr>
        <p:txBody>
          <a:bodyPr rot="0" spcFirstLastPara="0" vertOverflow="overflow" horzOverflow="overflow" vert="horz" wrap="none" lIns="91440" tIns="45720" rIns="91440" bIns="45720" numCol="1" spcCol="0" rtlCol="0" fromWordArt="0" anchor="t" anchorCtr="0" forceAA="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1,2,3,…</a:t>
            </a:r>
          </a:p>
        </p:txBody>
      </p:sp>
      <p:sp>
        <p:nvSpPr>
          <p:cNvPr id="14" name="Rectangle 13"/>
          <p:cNvSpPr/>
          <p:nvPr/>
        </p:nvSpPr>
        <p:spPr bwMode="auto">
          <a:xfrm>
            <a:off x="1703331" y="4320053"/>
            <a:ext cx="1297150"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2x</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6" name="Down Arrow 15"/>
          <p:cNvSpPr/>
          <p:nvPr/>
        </p:nvSpPr>
        <p:spPr bwMode="auto">
          <a:xfrm>
            <a:off x="1803389" y="2531593"/>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7" name="Down Arrow 16"/>
          <p:cNvSpPr/>
          <p:nvPr/>
        </p:nvSpPr>
        <p:spPr bwMode="auto">
          <a:xfrm>
            <a:off x="1803389" y="3744247"/>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8" name="Down Arrow 17"/>
          <p:cNvSpPr/>
          <p:nvPr/>
        </p:nvSpPr>
        <p:spPr bwMode="auto">
          <a:xfrm>
            <a:off x="1803389" y="4956901"/>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9" name="Rectangle 18"/>
          <p:cNvSpPr/>
          <p:nvPr/>
        </p:nvSpPr>
        <p:spPr bwMode="auto">
          <a:xfrm>
            <a:off x="1207568" y="5532707"/>
            <a:ext cx="2242922" cy="523220"/>
          </a:xfrm>
          <a:prstGeom prst="rect">
            <a:avLst/>
          </a:prstGeom>
          <a:solidFill>
            <a:schemeClr val="bg1"/>
          </a:solid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collect in List</a:t>
            </a:r>
          </a:p>
        </p:txBody>
      </p:sp>
      <p:sp>
        <p:nvSpPr>
          <p:cNvPr id="24" name="Text Box 122"/>
          <p:cNvSpPr txBox="1">
            <a:spLocks noChangeArrowheads="1"/>
          </p:cNvSpPr>
          <p:nvPr/>
        </p:nvSpPr>
        <p:spPr bwMode="auto">
          <a:xfrm>
            <a:off x="4970890" y="5151666"/>
            <a:ext cx="3073662" cy="954107"/>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Laziness permits optimizations</a:t>
            </a:r>
            <a:endParaRPr lang="en-US" sz="2800" i="1" dirty="0">
              <a:solidFill>
                <a:srgbClr val="FF0000"/>
              </a:solidFill>
              <a:latin typeface="Arial" pitchFamily="34" charset="0"/>
              <a:cs typeface="Arial" pitchFamily="34" charset="0"/>
            </a:endParaRPr>
          </a:p>
        </p:txBody>
      </p:sp>
      <p:sp>
        <p:nvSpPr>
          <p:cNvPr id="5" name="Right Brace 4"/>
          <p:cNvSpPr/>
          <p:nvPr/>
        </p:nvSpPr>
        <p:spPr bwMode="auto">
          <a:xfrm>
            <a:off x="3880393" y="2531593"/>
            <a:ext cx="955078" cy="2656397"/>
          </a:xfrm>
          <a:prstGeom prst="rightBrace">
            <a:avLst/>
          </a:prstGeom>
          <a:no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400" b="0" i="0" u="none" strike="noStrike" cap="none" normalizeH="0" baseline="0">
              <a:ln>
                <a:noFill/>
              </a:ln>
              <a:solidFill>
                <a:srgbClr val="0000FF"/>
              </a:solidFill>
              <a:effectLst/>
              <a:latin typeface="Comic Sans MS" pitchFamily="66" charset="0"/>
            </a:endParaRPr>
          </a:p>
        </p:txBody>
      </p:sp>
      <p:sp>
        <p:nvSpPr>
          <p:cNvPr id="15" name="Rectangle 14"/>
          <p:cNvSpPr/>
          <p:nvPr/>
        </p:nvSpPr>
        <p:spPr bwMode="auto">
          <a:xfrm>
            <a:off x="5094986" y="3652757"/>
            <a:ext cx="1947969" cy="523220"/>
          </a:xfrm>
          <a:prstGeom prst="rect">
            <a:avLst/>
          </a:prstGeom>
          <a:noFill/>
          <a:ln w="38100" cap="flat" cmpd="sng" algn="ctr">
            <a:solidFill>
              <a:srgbClr val="002060"/>
            </a:solidFill>
            <a:prstDash val="solid"/>
            <a:round/>
            <a:headEnd type="none" w="med" len="med"/>
            <a:tailEnd type="none" w="med" len="med"/>
          </a:ln>
          <a:effectLst/>
        </p:spPr>
        <p:txBody>
          <a:bodyPr vert="horz" wrap="none" lIns="91440" tIns="45720" rIns="91440" bIns="45720" numCol="1" rtlCol="0" anchor="t" anchorCtr="0" compatLnSpc="1">
            <a:prstTxWarp prst="textNoShape">
              <a:avLst/>
            </a:prstTxWarp>
            <a:spAutoFit/>
          </a:bodyPr>
          <a:lstStyle/>
          <a:p>
            <a:pPr marL="0" marR="0" indent="0" algn="r" defTabSz="914400" rtl="0" eaLnBrk="0" fontAlgn="base" latinLnBrk="0" hangingPunct="0">
              <a:lnSpc>
                <a:spcPct val="100000"/>
              </a:lnSpc>
              <a:spcBef>
                <a:spcPct val="0"/>
              </a:spcBef>
              <a:spcAft>
                <a:spcPct val="0"/>
              </a:spcAft>
              <a:buClrTx/>
              <a:buSzTx/>
              <a:buFontTx/>
              <a:buNone/>
              <a:tabLst/>
            </a:pP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rPr>
              <a:t>x </a:t>
            </a:r>
            <a:r>
              <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sym typeface="Symbol"/>
              </a:rPr>
              <a:t></a:t>
            </a:r>
            <a:r>
              <a:rPr kumimoji="0" lang="en-US" sz="2800" b="0" i="0" u="none" strike="noStrike" cap="none" normalizeH="0" dirty="0">
                <a:ln>
                  <a:noFill/>
                </a:ln>
                <a:solidFill>
                  <a:srgbClr val="0000FF"/>
                </a:solidFill>
                <a:effectLst/>
                <a:latin typeface="Arial" panose="020B0604020202020204" pitchFamily="34" charset="0"/>
                <a:cs typeface="Arial" panose="020B0604020202020204" pitchFamily="34" charset="0"/>
                <a:sym typeface="Symbol"/>
              </a:rPr>
              <a:t> 2(x+1)</a:t>
            </a: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20" name="Down Arrow 19"/>
          <p:cNvSpPr/>
          <p:nvPr/>
        </p:nvSpPr>
        <p:spPr bwMode="auto">
          <a:xfrm>
            <a:off x="5459422" y="3126699"/>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22" name="Down Arrow 21"/>
          <p:cNvSpPr/>
          <p:nvPr/>
        </p:nvSpPr>
        <p:spPr bwMode="auto">
          <a:xfrm>
            <a:off x="5459422" y="4339353"/>
            <a:ext cx="1097035" cy="462178"/>
          </a:xfrm>
          <a:prstGeom prst="downArrow">
            <a:avLst/>
          </a:prstGeom>
          <a:noFill/>
          <a:ln w="38100" cap="flat" cmpd="sng" algn="ctr">
            <a:solidFill>
              <a:schemeClr val="tx1"/>
            </a:solidFill>
            <a:prstDash val="solid"/>
            <a:round/>
            <a:headEnd type="none" w="med" len="med"/>
            <a:tailEnd type="none" w="med" len="med"/>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10305892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Laziness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71</a:t>
            </a:fld>
            <a:endParaRPr lang="en-US"/>
          </a:p>
        </p:txBody>
      </p:sp>
      <p:sp>
        <p:nvSpPr>
          <p:cNvPr id="7" name="TextBox 6"/>
          <p:cNvSpPr txBox="1"/>
          <p:nvPr/>
        </p:nvSpPr>
        <p:spPr bwMode="auto">
          <a:xfrm>
            <a:off x="1115675" y="4522590"/>
            <a:ext cx="697627" cy="1200329"/>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7200" dirty="0">
                <a:latin typeface="Arial" pitchFamily="34" charset="0"/>
                <a:cs typeface="Arial" pitchFamily="34" charset="0"/>
              </a:rPr>
              <a:t>1</a:t>
            </a:r>
          </a:p>
        </p:txBody>
      </p:sp>
      <p:sp>
        <p:nvSpPr>
          <p:cNvPr id="29" name="TextBox 28"/>
          <p:cNvSpPr txBox="1"/>
          <p:nvPr/>
        </p:nvSpPr>
        <p:spPr bwMode="auto">
          <a:xfrm>
            <a:off x="1977214" y="4614923"/>
            <a:ext cx="655949" cy="1107996"/>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6600" dirty="0">
                <a:latin typeface="Arial" pitchFamily="34" charset="0"/>
                <a:cs typeface="Arial" pitchFamily="34" charset="0"/>
              </a:rPr>
              <a:t>1</a:t>
            </a:r>
          </a:p>
        </p:txBody>
      </p:sp>
      <p:sp>
        <p:nvSpPr>
          <p:cNvPr id="30" name="TextBox 29"/>
          <p:cNvSpPr txBox="1"/>
          <p:nvPr/>
        </p:nvSpPr>
        <p:spPr bwMode="auto">
          <a:xfrm>
            <a:off x="2797075" y="4707256"/>
            <a:ext cx="612668" cy="1015663"/>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6000" dirty="0">
                <a:latin typeface="Arial" pitchFamily="34" charset="0"/>
                <a:cs typeface="Arial" pitchFamily="34" charset="0"/>
              </a:rPr>
              <a:t>2</a:t>
            </a:r>
          </a:p>
        </p:txBody>
      </p:sp>
      <p:sp>
        <p:nvSpPr>
          <p:cNvPr id="31" name="TextBox 30"/>
          <p:cNvSpPr txBox="1"/>
          <p:nvPr/>
        </p:nvSpPr>
        <p:spPr bwMode="auto">
          <a:xfrm>
            <a:off x="3573655" y="4799589"/>
            <a:ext cx="569387" cy="923330"/>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5400" dirty="0">
                <a:latin typeface="Arial" pitchFamily="34" charset="0"/>
                <a:cs typeface="Arial" pitchFamily="34" charset="0"/>
              </a:rPr>
              <a:t>3</a:t>
            </a:r>
          </a:p>
        </p:txBody>
      </p:sp>
      <p:sp>
        <p:nvSpPr>
          <p:cNvPr id="32" name="TextBox 31"/>
          <p:cNvSpPr txBox="1"/>
          <p:nvPr/>
        </p:nvSpPr>
        <p:spPr bwMode="auto">
          <a:xfrm>
            <a:off x="4306954" y="4891922"/>
            <a:ext cx="527709" cy="830997"/>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4800" dirty="0">
                <a:latin typeface="Arial" pitchFamily="34" charset="0"/>
                <a:cs typeface="Arial" pitchFamily="34" charset="0"/>
              </a:rPr>
              <a:t>5</a:t>
            </a:r>
          </a:p>
        </p:txBody>
      </p:sp>
      <p:sp>
        <p:nvSpPr>
          <p:cNvPr id="33" name="TextBox 32"/>
          <p:cNvSpPr txBox="1"/>
          <p:nvPr/>
        </p:nvSpPr>
        <p:spPr bwMode="auto">
          <a:xfrm>
            <a:off x="4998575" y="4953478"/>
            <a:ext cx="498855" cy="769441"/>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4400" dirty="0">
                <a:latin typeface="Arial" pitchFamily="34" charset="0"/>
                <a:cs typeface="Arial" pitchFamily="34" charset="0"/>
              </a:rPr>
              <a:t>8</a:t>
            </a:r>
          </a:p>
        </p:txBody>
      </p:sp>
      <p:sp>
        <p:nvSpPr>
          <p:cNvPr id="34" name="TextBox 33"/>
          <p:cNvSpPr txBox="1"/>
          <p:nvPr/>
        </p:nvSpPr>
        <p:spPr bwMode="auto">
          <a:xfrm>
            <a:off x="5661342" y="5015033"/>
            <a:ext cx="755335" cy="707886"/>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4000" dirty="0">
                <a:latin typeface="Arial" pitchFamily="34" charset="0"/>
                <a:cs typeface="Arial" pitchFamily="34" charset="0"/>
              </a:rPr>
              <a:t>12</a:t>
            </a:r>
          </a:p>
        </p:txBody>
      </p:sp>
      <p:sp>
        <p:nvSpPr>
          <p:cNvPr id="35" name="TextBox 34"/>
          <p:cNvSpPr txBox="1"/>
          <p:nvPr/>
        </p:nvSpPr>
        <p:spPr bwMode="auto">
          <a:xfrm>
            <a:off x="6580589" y="5076588"/>
            <a:ext cx="697627" cy="646331"/>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600" dirty="0">
                <a:latin typeface="Arial" pitchFamily="34" charset="0"/>
                <a:cs typeface="Arial" pitchFamily="34" charset="0"/>
              </a:rPr>
              <a:t>20</a:t>
            </a:r>
          </a:p>
        </p:txBody>
      </p:sp>
      <p:sp>
        <p:nvSpPr>
          <p:cNvPr id="36" name="TextBox 35"/>
          <p:cNvSpPr txBox="1"/>
          <p:nvPr/>
        </p:nvSpPr>
        <p:spPr bwMode="auto">
          <a:xfrm>
            <a:off x="7442128" y="5138144"/>
            <a:ext cx="639919" cy="584775"/>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200" dirty="0">
                <a:latin typeface="Arial" pitchFamily="34" charset="0"/>
                <a:cs typeface="Arial" pitchFamily="34" charset="0"/>
              </a:rPr>
              <a:t>32</a:t>
            </a:r>
          </a:p>
        </p:txBody>
      </p:sp>
      <p:sp>
        <p:nvSpPr>
          <p:cNvPr id="37" name="TextBox 36"/>
          <p:cNvSpPr txBox="1"/>
          <p:nvPr/>
        </p:nvSpPr>
        <p:spPr bwMode="auto">
          <a:xfrm>
            <a:off x="8245959" y="5138144"/>
            <a:ext cx="595035" cy="584775"/>
          </a:xfrm>
          <a:prstGeom prst="rect">
            <a:avLst/>
          </a:prstGeom>
          <a:noFill/>
          <a:ln w="38100" algn="ctr">
            <a:noFill/>
            <a:miter lim="800000"/>
            <a:headEnd/>
            <a:tailEnd/>
          </a:ln>
          <a:effectLst>
            <a:outerShdw blurRad="50800" dist="38100" dir="2700000" algn="tl" rotWithShape="0">
              <a:prstClr val="black">
                <a:alpha val="40000"/>
              </a:prstClr>
            </a:outerShdw>
          </a:effectLst>
        </p:spPr>
        <p:txBody>
          <a:bodyPr wrap="none" rtlCol="0">
            <a:spAutoFit/>
          </a:bodyPr>
          <a:lstStyle/>
          <a:p>
            <a:pPr algn="l"/>
            <a:r>
              <a:rPr lang="en-US" sz="3200" dirty="0">
                <a:latin typeface="Arial" pitchFamily="34" charset="0"/>
                <a:cs typeface="Arial" pitchFamily="34" charset="0"/>
              </a:rPr>
              <a:t>…</a:t>
            </a:r>
          </a:p>
        </p:txBody>
      </p:sp>
      <p:sp>
        <p:nvSpPr>
          <p:cNvPr id="38" name="Text Box 122"/>
          <p:cNvSpPr txBox="1">
            <a:spLocks noChangeArrowheads="1"/>
          </p:cNvSpPr>
          <p:nvPr/>
        </p:nvSpPr>
        <p:spPr bwMode="auto">
          <a:xfrm>
            <a:off x="1761000" y="2067503"/>
            <a:ext cx="6143135"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Laziness permits infinite streams …</a:t>
            </a:r>
            <a:endParaRPr lang="en-US" sz="2800" i="1" dirty="0">
              <a:solidFill>
                <a:srgbClr val="FF0000"/>
              </a:solidFill>
              <a:latin typeface="Arial" pitchFamily="34" charset="0"/>
              <a:cs typeface="Arial" pitchFamily="34" charset="0"/>
            </a:endParaRPr>
          </a:p>
        </p:txBody>
      </p:sp>
      <p:sp>
        <p:nvSpPr>
          <p:cNvPr id="39" name="Text Box 122"/>
          <p:cNvSpPr txBox="1">
            <a:spLocks noChangeArrowheads="1"/>
          </p:cNvSpPr>
          <p:nvPr/>
        </p:nvSpPr>
        <p:spPr bwMode="auto">
          <a:xfrm>
            <a:off x="349196" y="3573763"/>
            <a:ext cx="8445608"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b="1" dirty="0">
                <a:latin typeface="Courier New" panose="02070309020205020404" pitchFamily="49" charset="0"/>
                <a:cs typeface="Courier New" panose="02070309020205020404" pitchFamily="49" charset="0"/>
              </a:rPr>
              <a:t>Stream&lt;Integer&gt; fib = </a:t>
            </a:r>
            <a:r>
              <a:rPr lang="en-US" sz="2800" b="1" dirty="0">
                <a:solidFill>
                  <a:schemeClr val="tx1"/>
                </a:solidFill>
                <a:latin typeface="Courier New" panose="02070309020205020404" pitchFamily="49" charset="0"/>
                <a:cs typeface="Courier New" panose="02070309020205020404" pitchFamily="49" charset="0"/>
              </a:rPr>
              <a:t>new</a:t>
            </a:r>
            <a:r>
              <a:rPr lang="en-US" sz="2800" b="1" dirty="0">
                <a:latin typeface="Courier New" panose="02070309020205020404" pitchFamily="49" charset="0"/>
                <a:cs typeface="Courier New" panose="02070309020205020404" pitchFamily="49" charset="0"/>
              </a:rPr>
              <a:t> </a:t>
            </a:r>
            <a:r>
              <a:rPr lang="en-US" sz="2800" b="1" dirty="0" err="1">
                <a:latin typeface="Courier New" panose="02070309020205020404" pitchFamily="49" charset="0"/>
                <a:cs typeface="Courier New" panose="02070309020205020404" pitchFamily="49" charset="0"/>
              </a:rPr>
              <a:t>FibStream</a:t>
            </a:r>
            <a:r>
              <a:rPr lang="en-US" sz="2800" b="1" dirty="0">
                <a:latin typeface="Courier New" panose="02070309020205020404" pitchFamily="49" charset="0"/>
                <a:cs typeface="Courier New" panose="02070309020205020404" pitchFamily="49" charset="0"/>
              </a:rPr>
              <a:t>();</a:t>
            </a:r>
            <a:endParaRPr lang="en-US" sz="2800" b="1" i="1" dirty="0">
              <a:solidFill>
                <a:srgbClr val="FF0000"/>
              </a:solidFill>
              <a:latin typeface="Courier New" panose="02070309020205020404" pitchFamily="49" charset="0"/>
              <a:cs typeface="Courier New" panose="02070309020205020404" pitchFamily="49" charset="0"/>
            </a:endParaRPr>
          </a:p>
        </p:txBody>
      </p:sp>
    </p:spTree>
    <p:extLst>
      <p:ext uri="{BB962C8B-B14F-4D97-AF65-F5344CB8AC3E}">
        <p14:creationId xmlns:p14="http://schemas.microsoft.com/office/powerpoint/2010/main" val="16125550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Unbounded Random Stream</a:t>
            </a:r>
          </a:p>
        </p:txBody>
      </p:sp>
      <p:sp>
        <p:nvSpPr>
          <p:cNvPr id="75781" name="Text Box 3"/>
          <p:cNvSpPr txBox="1">
            <a:spLocks noChangeArrowheads="1"/>
          </p:cNvSpPr>
          <p:nvPr/>
        </p:nvSpPr>
        <p:spPr bwMode="auto">
          <a:xfrm>
            <a:off x="505823" y="2370249"/>
            <a:ext cx="8132354" cy="21175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Stream&lt;Double&gt; </a:t>
            </a:r>
            <a:r>
              <a:rPr lang="en-US" sz="2800" dirty="0" err="1">
                <a:latin typeface="Courier New" charset="0"/>
                <a:cs typeface="Courier New" charset="0"/>
              </a:rPr>
              <a:t>randomDoubleStream</a:t>
            </a: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a:t>
            </a:r>
            <a:r>
              <a:rPr lang="en-US" sz="2800" dirty="0" err="1">
                <a:latin typeface="Courier New" charset="0"/>
                <a:cs typeface="Courier New" charset="0"/>
              </a:rPr>
              <a:t>Stream.generate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 -&gt; </a:t>
            </a:r>
            <a:r>
              <a:rPr lang="en-US" sz="2800" dirty="0" err="1">
                <a:latin typeface="Courier New" charset="0"/>
                <a:cs typeface="Courier New" charset="0"/>
              </a:rPr>
              <a:t>random.nextDouble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a:t>
            </a:r>
          </a:p>
        </p:txBody>
      </p:sp>
    </p:spTree>
    <p:extLst>
      <p:ext uri="{BB962C8B-B14F-4D97-AF65-F5344CB8AC3E}">
        <p14:creationId xmlns:p14="http://schemas.microsoft.com/office/powerpoint/2010/main" val="251324288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Unbounded Random Stream</a:t>
            </a:r>
          </a:p>
        </p:txBody>
      </p:sp>
      <p:sp>
        <p:nvSpPr>
          <p:cNvPr id="75781" name="Text Box 3"/>
          <p:cNvSpPr txBox="1">
            <a:spLocks noChangeArrowheads="1"/>
          </p:cNvSpPr>
          <p:nvPr/>
        </p:nvSpPr>
        <p:spPr bwMode="auto">
          <a:xfrm>
            <a:off x="505823" y="2370249"/>
            <a:ext cx="8132354" cy="21175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Stream&lt;Double&gt; </a:t>
            </a:r>
            <a:r>
              <a:rPr lang="en-US" sz="2800" dirty="0" err="1">
                <a:solidFill>
                  <a:schemeClr val="bg1">
                    <a:lumMod val="75000"/>
                  </a:schemeClr>
                </a:solidFill>
                <a:latin typeface="Courier New" charset="0"/>
                <a:cs typeface="Courier New" charset="0"/>
              </a:rPr>
              <a:t>randomDoubleStream</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a:t>
            </a:r>
            <a:r>
              <a:rPr lang="en-US" sz="2800" dirty="0" err="1">
                <a:solidFill>
                  <a:schemeClr val="bg1">
                    <a:lumMod val="75000"/>
                  </a:schemeClr>
                </a:solidFill>
                <a:latin typeface="Courier New" charset="0"/>
                <a:cs typeface="Courier New" charset="0"/>
              </a:rPr>
              <a:t>Stream.generate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 -&gt; </a:t>
            </a:r>
            <a:r>
              <a:rPr lang="en-US" sz="2800" dirty="0" err="1">
                <a:solidFill>
                  <a:schemeClr val="bg1">
                    <a:lumMod val="75000"/>
                  </a:schemeClr>
                </a:solidFill>
                <a:latin typeface="Courier New" charset="0"/>
                <a:cs typeface="Courier New" charset="0"/>
              </a:rPr>
              <a:t>random.nextDouble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9" name="Text Box 122"/>
          <p:cNvSpPr txBox="1">
            <a:spLocks noChangeArrowheads="1"/>
          </p:cNvSpPr>
          <p:nvPr/>
        </p:nvSpPr>
        <p:spPr bwMode="auto">
          <a:xfrm>
            <a:off x="505823" y="3781315"/>
            <a:ext cx="5086076"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Unbounded stream of double-precision random numbers</a:t>
            </a:r>
          </a:p>
        </p:txBody>
      </p:sp>
      <p:sp>
        <p:nvSpPr>
          <p:cNvPr id="10" name="Rounded Rectangular Callout 9"/>
          <p:cNvSpPr/>
          <p:nvPr/>
        </p:nvSpPr>
        <p:spPr>
          <a:xfrm>
            <a:off x="443525" y="2263433"/>
            <a:ext cx="3487423" cy="553133"/>
          </a:xfrm>
          <a:prstGeom prst="wedgeRoundRectCallout">
            <a:avLst>
              <a:gd name="adj1" fmla="val 8152"/>
              <a:gd name="adj2" fmla="val 22849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2843616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74</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Random Stream</a:t>
            </a:r>
          </a:p>
        </p:txBody>
      </p:sp>
      <p:sp>
        <p:nvSpPr>
          <p:cNvPr id="75781" name="Text Box 3"/>
          <p:cNvSpPr txBox="1">
            <a:spLocks noChangeArrowheads="1"/>
          </p:cNvSpPr>
          <p:nvPr/>
        </p:nvSpPr>
        <p:spPr bwMode="auto">
          <a:xfrm>
            <a:off x="505823" y="2370249"/>
            <a:ext cx="8132354" cy="21175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Stream&lt;Double&gt; </a:t>
            </a:r>
            <a:r>
              <a:rPr lang="en-US" sz="2800" dirty="0" err="1">
                <a:solidFill>
                  <a:schemeClr val="bg1">
                    <a:lumMod val="75000"/>
                  </a:schemeClr>
                </a:solidFill>
                <a:latin typeface="Courier New" charset="0"/>
                <a:cs typeface="Courier New" charset="0"/>
              </a:rPr>
              <a:t>randomDoubleStream</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a:t>
            </a:r>
            <a:r>
              <a:rPr lang="en-US" sz="2800" dirty="0" err="1">
                <a:latin typeface="Courier New" charset="0"/>
                <a:cs typeface="Courier New" charset="0"/>
              </a:rPr>
              <a:t>Stream.generate</a:t>
            </a:r>
            <a:r>
              <a:rPr lang="en-US" sz="2800" dirty="0">
                <a:latin typeface="Courier New" charset="0"/>
                <a:cs typeface="Courier New" charset="0"/>
              </a:rPr>
              <a:t>(</a:t>
            </a:r>
            <a:endParaRPr lang="en-US" sz="2800" dirty="0">
              <a:solidFill>
                <a:schemeClr val="bg1">
                  <a:lumMod val="75000"/>
                </a:schemeClr>
              </a:solidFill>
              <a:latin typeface="Courier New" charset="0"/>
              <a:cs typeface="Courier New" charset="0"/>
            </a:endParaRP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 -&gt; </a:t>
            </a:r>
            <a:r>
              <a:rPr lang="en-US" sz="2800" dirty="0" err="1">
                <a:solidFill>
                  <a:schemeClr val="bg1">
                    <a:lumMod val="75000"/>
                  </a:schemeClr>
                </a:solidFill>
                <a:latin typeface="Courier New" charset="0"/>
                <a:cs typeface="Courier New" charset="0"/>
              </a:rPr>
              <a:t>random.nextDouble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9" name="Text Box 122"/>
          <p:cNvSpPr txBox="1">
            <a:spLocks noChangeArrowheads="1"/>
          </p:cNvSpPr>
          <p:nvPr/>
        </p:nvSpPr>
        <p:spPr bwMode="auto">
          <a:xfrm>
            <a:off x="2866882" y="4236954"/>
            <a:ext cx="5086076"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Stream that generates new elements on the fly</a:t>
            </a:r>
          </a:p>
        </p:txBody>
      </p:sp>
      <p:sp>
        <p:nvSpPr>
          <p:cNvPr id="10" name="Rounded Rectangular Callout 9"/>
          <p:cNvSpPr/>
          <p:nvPr/>
        </p:nvSpPr>
        <p:spPr>
          <a:xfrm>
            <a:off x="2866882" y="2667000"/>
            <a:ext cx="3487423" cy="553133"/>
          </a:xfrm>
          <a:prstGeom prst="wedgeRoundRectCallout">
            <a:avLst>
              <a:gd name="adj1" fmla="val 8152"/>
              <a:gd name="adj2" fmla="val 22849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87256498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75</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latin typeface="Arial" charset="0"/>
              </a:rPr>
              <a:t>Random Stream</a:t>
            </a:r>
          </a:p>
        </p:txBody>
      </p:sp>
      <p:sp>
        <p:nvSpPr>
          <p:cNvPr id="75781" name="Text Box 3"/>
          <p:cNvSpPr txBox="1">
            <a:spLocks noChangeArrowheads="1"/>
          </p:cNvSpPr>
          <p:nvPr/>
        </p:nvSpPr>
        <p:spPr bwMode="auto">
          <a:xfrm>
            <a:off x="505823" y="2370249"/>
            <a:ext cx="8132354" cy="2117503"/>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Stream&lt;Double&gt; </a:t>
            </a:r>
            <a:r>
              <a:rPr lang="en-US" sz="2800" dirty="0" err="1">
                <a:solidFill>
                  <a:schemeClr val="bg1">
                    <a:lumMod val="75000"/>
                  </a:schemeClr>
                </a:solidFill>
                <a:latin typeface="Courier New" charset="0"/>
                <a:cs typeface="Courier New" charset="0"/>
              </a:rPr>
              <a:t>randomDoubleStream</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a:t>
            </a:r>
            <a:r>
              <a:rPr lang="en-US" sz="2800" dirty="0" err="1">
                <a:solidFill>
                  <a:schemeClr val="bg1">
                    <a:lumMod val="75000"/>
                  </a:schemeClr>
                </a:solidFill>
                <a:latin typeface="Courier New" charset="0"/>
                <a:cs typeface="Courier New" charset="0"/>
              </a:rPr>
              <a:t>Stream.generate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 -&gt; </a:t>
            </a:r>
            <a:r>
              <a:rPr lang="en-US" sz="2800" dirty="0" err="1">
                <a:latin typeface="Courier New" charset="0"/>
                <a:cs typeface="Courier New" charset="0"/>
              </a:rPr>
              <a:t>random.nextDouble</a:t>
            </a:r>
            <a:r>
              <a:rPr lang="en-US" sz="2800" dirty="0">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9" name="Text Box 122"/>
          <p:cNvSpPr txBox="1">
            <a:spLocks noChangeArrowheads="1"/>
          </p:cNvSpPr>
          <p:nvPr/>
        </p:nvSpPr>
        <p:spPr bwMode="auto">
          <a:xfrm>
            <a:off x="1239559" y="4221456"/>
            <a:ext cx="5086076"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function to call when generating new element</a:t>
            </a:r>
          </a:p>
        </p:txBody>
      </p:sp>
      <p:sp>
        <p:nvSpPr>
          <p:cNvPr id="10" name="Rounded Rectangular Callout 9"/>
          <p:cNvSpPr/>
          <p:nvPr/>
        </p:nvSpPr>
        <p:spPr>
          <a:xfrm>
            <a:off x="2866882" y="3152433"/>
            <a:ext cx="5771295" cy="553133"/>
          </a:xfrm>
          <a:prstGeom prst="wedgeRoundRectCallout">
            <a:avLst>
              <a:gd name="adj1" fmla="val -33203"/>
              <a:gd name="adj2" fmla="val 11922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1" name="Text Box 122"/>
          <p:cNvSpPr txBox="1">
            <a:spLocks noChangeArrowheads="1"/>
          </p:cNvSpPr>
          <p:nvPr/>
        </p:nvSpPr>
        <p:spPr bwMode="auto">
          <a:xfrm>
            <a:off x="2540000" y="5102275"/>
            <a:ext cx="5086076" cy="954107"/>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example of Java </a:t>
            </a:r>
            <a:r>
              <a:rPr lang="en-US" sz="2800" b="1" i="1" dirty="0">
                <a:solidFill>
                  <a:schemeClr val="tx1"/>
                </a:solidFill>
                <a:latin typeface="Arial" pitchFamily="34" charset="0"/>
                <a:cs typeface="Arial" pitchFamily="34" charset="0"/>
              </a:rPr>
              <a:t>lambda</a:t>
            </a:r>
            <a:r>
              <a:rPr lang="en-US" sz="2800" dirty="0">
                <a:latin typeface="Arial" pitchFamily="34" charset="0"/>
                <a:cs typeface="Arial" pitchFamily="34" charset="0"/>
              </a:rPr>
              <a:t> expression (anon method)</a:t>
            </a:r>
          </a:p>
        </p:txBody>
      </p:sp>
    </p:spTree>
    <p:extLst>
      <p:ext uri="{BB962C8B-B14F-4D97-AF65-F5344CB8AC3E}">
        <p14:creationId xmlns:p14="http://schemas.microsoft.com/office/powerpoint/2010/main" val="2916389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76</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List&lt;String&gt; </a:t>
            </a:r>
            <a:r>
              <a:rPr lang="en-US" sz="2800" dirty="0" err="1">
                <a:latin typeface="Courier New" charset="0"/>
                <a:cs typeface="Courier New" charset="0"/>
              </a:rPr>
              <a:t>readFile</a:t>
            </a:r>
            <a:r>
              <a:rPr lang="en-US" sz="2800" dirty="0">
                <a:latin typeface="Courier New" charset="0"/>
                <a:cs typeface="Courier New" charset="0"/>
              </a:rPr>
              <a:t>(String </a:t>
            </a:r>
            <a:r>
              <a:rPr lang="en-US" sz="2800" dirty="0" err="1">
                <a:latin typeface="Courier New" charset="0"/>
                <a:cs typeface="Courier New" charset="0"/>
              </a:rPr>
              <a:t>fileName</a:t>
            </a: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reader</a:t>
            </a:r>
          </a:p>
          <a:p>
            <a:pPr algn="l" eaLnBrk="1" hangingPunct="1">
              <a:lnSpc>
                <a:spcPct val="70000"/>
              </a:lnSpc>
              <a:spcBef>
                <a:spcPct val="30000"/>
              </a:spcBef>
            </a:pPr>
            <a:r>
              <a:rPr lang="en-US" sz="2800" dirty="0">
                <a:latin typeface="Courier New" charset="0"/>
                <a:cs typeface="Courier New" charset="0"/>
              </a:rPr>
              <a:t>   .lines()</a:t>
            </a:r>
          </a:p>
          <a:p>
            <a:pPr algn="l" eaLnBrk="1" hangingPunct="1">
              <a:lnSpc>
                <a:spcPct val="70000"/>
              </a:lnSpc>
              <a:spcBef>
                <a:spcPct val="30000"/>
              </a:spcBef>
            </a:pPr>
            <a:r>
              <a:rPr lang="en-US" sz="2800" dirty="0">
                <a:latin typeface="Courier New" charset="0"/>
                <a:cs typeface="Courier New" charset="0"/>
              </a:rPr>
              <a:t>   .map(String::</a:t>
            </a:r>
            <a:r>
              <a:rPr lang="en-US" sz="2800" dirty="0" err="1">
                <a:latin typeface="Courier New" charset="0"/>
                <a:cs typeface="Courier New" charset="0"/>
              </a:rPr>
              <a:t>toLowerCase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flatMap</a:t>
            </a:r>
            <a:r>
              <a:rPr lang="en-US" sz="2800" dirty="0">
                <a:latin typeface="Courier New" charset="0"/>
                <a:cs typeface="Courier New" charset="0"/>
              </a:rPr>
              <a:t>(s -&gt;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pattern.splitAsStream</a:t>
            </a:r>
            <a:r>
              <a:rPr lang="en-US" sz="2800" dirty="0">
                <a:latin typeface="Courier New" charset="0"/>
                <a:cs typeface="Courier New" charset="0"/>
              </a:rPr>
              <a:t>(s))               </a:t>
            </a:r>
          </a:p>
          <a:p>
            <a:pPr algn="l" eaLnBrk="1" hangingPunct="1">
              <a:lnSpc>
                <a:spcPct val="70000"/>
              </a:lnSpc>
              <a:spcBef>
                <a:spcPct val="30000"/>
              </a:spcBef>
            </a:pPr>
            <a:r>
              <a:rPr lang="en-US" sz="2800" dirty="0">
                <a:latin typeface="Courier New" charset="0"/>
                <a:cs typeface="Courier New" charset="0"/>
              </a:rPr>
              <a:t>   .collect(</a:t>
            </a:r>
            <a:r>
              <a:rPr lang="en-US" sz="2800" dirty="0" err="1">
                <a:latin typeface="Courier New" charset="0"/>
                <a:cs typeface="Courier New" charset="0"/>
              </a:rPr>
              <a:t>Collectors.toList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p:txBody>
      </p:sp>
    </p:spTree>
    <p:extLst>
      <p:ext uri="{BB962C8B-B14F-4D97-AF65-F5344CB8AC3E}">
        <p14:creationId xmlns:p14="http://schemas.microsoft.com/office/powerpoint/2010/main" val="113462831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77</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List&lt;String&gt; </a:t>
            </a:r>
            <a:r>
              <a:rPr lang="en-US" sz="2800" dirty="0" err="1">
                <a:latin typeface="Courier New" charset="0"/>
                <a:cs typeface="Courier New" charset="0"/>
              </a:rPr>
              <a:t>readFile</a:t>
            </a:r>
            <a:r>
              <a:rPr lang="en-US" sz="2800" dirty="0">
                <a:latin typeface="Courier New" charset="0"/>
                <a:cs typeface="Courier New" charset="0"/>
              </a:rPr>
              <a:t>(String </a:t>
            </a:r>
            <a:r>
              <a:rPr lang="en-US" sz="2800" dirty="0" err="1">
                <a:latin typeface="Courier New" charset="0"/>
                <a:cs typeface="Courier New" charset="0"/>
              </a:rPr>
              <a:t>fileName</a:t>
            </a:r>
            <a:r>
              <a:rPr lang="en-US" sz="2800" dirty="0">
                <a:latin typeface="Courier New" charset="0"/>
                <a:cs typeface="Courier New" charset="0"/>
              </a:rPr>
              <a:t>) </a:t>
            </a:r>
            <a:r>
              <a:rPr lang="en-US" sz="2800" dirty="0">
                <a:solidFill>
                  <a:schemeClr val="bg1">
                    <a:lumMod val="50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.lines()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flatMap</a:t>
            </a:r>
            <a:r>
              <a:rPr lang="en-US" sz="2800" dirty="0">
                <a:solidFill>
                  <a:schemeClr val="bg1">
                    <a:lumMod val="75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852407" y="4453930"/>
            <a:ext cx="741740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puts each word from the document into a List</a:t>
            </a:r>
          </a:p>
        </p:txBody>
      </p:sp>
      <p:sp>
        <p:nvSpPr>
          <p:cNvPr id="8" name="Rounded Rectangular Callout 7"/>
          <p:cNvSpPr/>
          <p:nvPr/>
        </p:nvSpPr>
        <p:spPr>
          <a:xfrm>
            <a:off x="415871" y="1716444"/>
            <a:ext cx="8341573" cy="553133"/>
          </a:xfrm>
          <a:prstGeom prst="wedgeRoundRectCallout">
            <a:avLst>
              <a:gd name="adj1" fmla="val 8596"/>
              <a:gd name="adj2" fmla="val 42462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950126569"/>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78</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a:t>
            </a:r>
            <a:r>
              <a:rPr lang="en-US" sz="2800" dirty="0">
                <a:solidFill>
                  <a:schemeClr val="bg1">
                    <a:lumMod val="50000"/>
                  </a:schemeClr>
                </a:solidFill>
                <a:latin typeface="Courier New" charset="0"/>
                <a:cs typeface="Courier New" charset="0"/>
              </a:rPr>
              <a:t> </a:t>
            </a:r>
            <a:r>
              <a:rPr lang="en-US" sz="2800" dirty="0">
                <a:latin typeface="Courier New" charset="0"/>
                <a:cs typeface="Courier New" charset="0"/>
              </a:rPr>
              <a:t>reader</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.lines()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flatMap</a:t>
            </a:r>
            <a:r>
              <a:rPr lang="en-US" sz="2800" dirty="0">
                <a:solidFill>
                  <a:schemeClr val="bg1">
                    <a:lumMod val="75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852407" y="4453930"/>
            <a:ext cx="589135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open the file, create a </a:t>
            </a:r>
            <a:r>
              <a:rPr lang="en-US" sz="2800" b="1" dirty="0" err="1">
                <a:solidFill>
                  <a:schemeClr val="tx1"/>
                </a:solidFill>
                <a:latin typeface="Courier New" panose="02070309020205020404" pitchFamily="49" charset="0"/>
                <a:cs typeface="Courier New" panose="02070309020205020404" pitchFamily="49" charset="0"/>
              </a:rPr>
              <a:t>FileReader</a:t>
            </a:r>
            <a:endParaRPr lang="en-US" sz="2800" b="1" dirty="0">
              <a:solidFill>
                <a:schemeClr val="tx1"/>
              </a:solidFill>
              <a:latin typeface="Courier New" panose="02070309020205020404" pitchFamily="49" charset="0"/>
              <a:cs typeface="Courier New" panose="02070309020205020404" pitchFamily="49" charset="0"/>
            </a:endParaRPr>
          </a:p>
        </p:txBody>
      </p:sp>
      <p:sp>
        <p:nvSpPr>
          <p:cNvPr id="8" name="Rounded Rectangular Callout 7"/>
          <p:cNvSpPr/>
          <p:nvPr/>
        </p:nvSpPr>
        <p:spPr>
          <a:xfrm>
            <a:off x="2107768" y="2882685"/>
            <a:ext cx="1906293" cy="452760"/>
          </a:xfrm>
          <a:prstGeom prst="wedgeRoundRectCallout">
            <a:avLst>
              <a:gd name="adj1" fmla="val 13474"/>
              <a:gd name="adj2" fmla="val 294552"/>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318261495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79</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solidFill>
                  <a:schemeClr val="bg1">
                    <a:lumMod val="85000"/>
                  </a:schemeClr>
                </a:solidFill>
                <a:latin typeface="Courier New" charset="0"/>
                <a:cs typeface="Courier New" charset="0"/>
              </a:rPr>
              <a:t>return </a:t>
            </a:r>
            <a:r>
              <a:rPr lang="en-US" sz="2800" dirty="0">
                <a:latin typeface="Courier New" charset="0"/>
                <a:cs typeface="Courier New" charset="0"/>
              </a:rPr>
              <a:t>reader</a:t>
            </a:r>
          </a:p>
          <a:p>
            <a:pPr algn="l" eaLnBrk="1" hangingPunct="1">
              <a:lnSpc>
                <a:spcPct val="70000"/>
              </a:lnSpc>
              <a:spcBef>
                <a:spcPct val="30000"/>
              </a:spcBef>
            </a:pPr>
            <a:r>
              <a:rPr lang="en-US" sz="2800" dirty="0">
                <a:latin typeface="Courier New" charset="0"/>
                <a:cs typeface="Courier New" charset="0"/>
              </a:rPr>
              <a:t>   .lines()</a:t>
            </a:r>
          </a:p>
          <a:p>
            <a:pPr algn="l" eaLnBrk="1" hangingPunct="1">
              <a:lnSpc>
                <a:spcPct val="70000"/>
              </a:lnSpc>
              <a:spcBef>
                <a:spcPct val="30000"/>
              </a:spcBef>
            </a:pPr>
            <a:r>
              <a:rPr lang="en-US" sz="2800" dirty="0">
                <a:latin typeface="Courier New" charset="0"/>
                <a:cs typeface="Courier New" charset="0"/>
              </a:rPr>
              <a:t>   .map(String::</a:t>
            </a:r>
            <a:r>
              <a:rPr lang="en-US" sz="2800" dirty="0" err="1">
                <a:latin typeface="Courier New" charset="0"/>
                <a:cs typeface="Courier New" charset="0"/>
              </a:rPr>
              <a:t>toLowerCase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flatMap</a:t>
            </a:r>
            <a:r>
              <a:rPr lang="en-US" sz="2800" dirty="0">
                <a:latin typeface="Courier New" charset="0"/>
                <a:cs typeface="Courier New" charset="0"/>
              </a:rPr>
              <a:t>(s -&gt;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pattern.splitAsStream</a:t>
            </a:r>
            <a:r>
              <a:rPr lang="en-US" sz="2800" dirty="0">
                <a:latin typeface="Courier New" charset="0"/>
                <a:cs typeface="Courier New" charset="0"/>
              </a:rPr>
              <a:t>(s))               </a:t>
            </a:r>
          </a:p>
          <a:p>
            <a:pPr algn="l" eaLnBrk="1" hangingPunct="1">
              <a:lnSpc>
                <a:spcPct val="70000"/>
              </a:lnSpc>
              <a:spcBef>
                <a:spcPct val="30000"/>
              </a:spcBef>
            </a:pPr>
            <a:r>
              <a:rPr lang="en-US" sz="2800" dirty="0">
                <a:latin typeface="Courier New" charset="0"/>
                <a:cs typeface="Courier New" charset="0"/>
              </a:rPr>
              <a:t>   .collect(</a:t>
            </a:r>
            <a:r>
              <a:rPr lang="en-US" sz="2800" dirty="0" err="1">
                <a:latin typeface="Courier New" charset="0"/>
                <a:cs typeface="Courier New" charset="0"/>
              </a:rPr>
              <a:t>Collectors.toList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p:txBody>
      </p:sp>
      <p:sp>
        <p:nvSpPr>
          <p:cNvPr id="7" name="Text Box 122"/>
          <p:cNvSpPr txBox="1">
            <a:spLocks noChangeArrowheads="1"/>
          </p:cNvSpPr>
          <p:nvPr/>
        </p:nvSpPr>
        <p:spPr bwMode="auto">
          <a:xfrm>
            <a:off x="1760362" y="1940476"/>
            <a:ext cx="4724370"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how a stream program looks</a:t>
            </a:r>
          </a:p>
        </p:txBody>
      </p:sp>
      <p:sp>
        <p:nvSpPr>
          <p:cNvPr id="8" name="Rounded Rectangular Callout 7"/>
          <p:cNvSpPr/>
          <p:nvPr/>
        </p:nvSpPr>
        <p:spPr>
          <a:xfrm>
            <a:off x="1022885" y="2929181"/>
            <a:ext cx="6199325" cy="2603714"/>
          </a:xfrm>
          <a:prstGeom prst="wedgeRoundRectCallout">
            <a:avLst>
              <a:gd name="adj1" fmla="val 7974"/>
              <a:gd name="adj2" fmla="val -6550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2880101" y="5691815"/>
            <a:ext cx="516359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each line creates a new stream</a:t>
            </a:r>
          </a:p>
        </p:txBody>
      </p:sp>
    </p:spTree>
    <p:extLst>
      <p:ext uri="{BB962C8B-B14F-4D97-AF65-F5344CB8AC3E}">
        <p14:creationId xmlns:p14="http://schemas.microsoft.com/office/powerpoint/2010/main" val="49057340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latin typeface="Courier New" charset="0"/>
                <a:cs typeface="Courier New" charset="0"/>
              </a:rPr>
              <a:t>   .lines()</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solidFill>
                  <a:schemeClr val="bg1">
                    <a:lumMod val="75000"/>
                  </a:schemeClr>
                </a:solidFill>
                <a:latin typeface="Courier New" charset="0"/>
                <a:cs typeface="Courier New" charset="0"/>
              </a:rPr>
              <a:t>.map(String::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flatMap</a:t>
            </a:r>
            <a:r>
              <a:rPr lang="en-US" sz="2800" dirty="0">
                <a:solidFill>
                  <a:schemeClr val="bg1">
                    <a:lumMod val="75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2417736" y="4737708"/>
            <a:ext cx="6075336"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turn the </a:t>
            </a:r>
            <a:r>
              <a:rPr lang="en-US" sz="2800" b="1" dirty="0" err="1">
                <a:solidFill>
                  <a:schemeClr val="tx1"/>
                </a:solidFill>
                <a:latin typeface="Courier New" panose="02070309020205020404" pitchFamily="49" charset="0"/>
                <a:cs typeface="Courier New" panose="02070309020205020404" pitchFamily="49" charset="0"/>
              </a:rPr>
              <a:t>FileReader</a:t>
            </a:r>
            <a:r>
              <a:rPr lang="en-US" sz="2800" dirty="0">
                <a:latin typeface="Arial" pitchFamily="34" charset="0"/>
                <a:cs typeface="Arial" pitchFamily="34" charset="0"/>
              </a:rPr>
              <a:t> into a stream of lines, each line a string</a:t>
            </a:r>
          </a:p>
        </p:txBody>
      </p:sp>
      <p:sp>
        <p:nvSpPr>
          <p:cNvPr id="8" name="Rounded Rectangular Callout 7"/>
          <p:cNvSpPr/>
          <p:nvPr/>
        </p:nvSpPr>
        <p:spPr>
          <a:xfrm>
            <a:off x="1022885" y="3189289"/>
            <a:ext cx="2138769" cy="561301"/>
          </a:xfrm>
          <a:prstGeom prst="wedgeRoundRectCallout">
            <a:avLst>
              <a:gd name="adj1" fmla="val 37797"/>
              <a:gd name="adj2" fmla="val 207423"/>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14258442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.lines()</a:t>
            </a:r>
          </a:p>
          <a:p>
            <a:pPr algn="l" eaLnBrk="1" hangingPunct="1">
              <a:lnSpc>
                <a:spcPct val="70000"/>
              </a:lnSpc>
              <a:spcBef>
                <a:spcPct val="30000"/>
              </a:spcBef>
            </a:pPr>
            <a:r>
              <a:rPr lang="en-US" sz="2800" dirty="0">
                <a:latin typeface="Courier New" charset="0"/>
                <a:cs typeface="Courier New" charset="0"/>
              </a:rPr>
              <a:t>   .map(String::</a:t>
            </a:r>
            <a:r>
              <a:rPr lang="en-US" sz="2800" dirty="0" err="1">
                <a:latin typeface="Courier New" charset="0"/>
                <a:cs typeface="Courier New" charset="0"/>
              </a:rPr>
              <a:t>toLowerCase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50000"/>
                  </a:schemeClr>
                </a:solidFill>
                <a:latin typeface="Courier New" charset="0"/>
                <a:cs typeface="Courier New" charset="0"/>
              </a:rPr>
              <a:t>  .</a:t>
            </a:r>
            <a:r>
              <a:rPr lang="en-US" sz="2800" dirty="0" err="1">
                <a:solidFill>
                  <a:schemeClr val="bg1">
                    <a:lumMod val="50000"/>
                  </a:schemeClr>
                </a:solidFill>
                <a:latin typeface="Courier New" charset="0"/>
                <a:cs typeface="Courier New" charset="0"/>
              </a:rPr>
              <a:t>flatMap</a:t>
            </a:r>
            <a:r>
              <a:rPr lang="en-US" sz="2800" dirty="0">
                <a:solidFill>
                  <a:schemeClr val="bg1">
                    <a:lumMod val="50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495943" y="1778436"/>
            <a:ext cx="6695269"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b="1" dirty="0">
                <a:solidFill>
                  <a:schemeClr val="tx1"/>
                </a:solidFill>
                <a:latin typeface="Courier New" panose="02070309020205020404" pitchFamily="49" charset="0"/>
                <a:cs typeface="Courier New" panose="02070309020205020404" pitchFamily="49" charset="0"/>
              </a:rPr>
              <a:t>map</a:t>
            </a:r>
            <a:r>
              <a:rPr lang="en-US" sz="2800" dirty="0">
                <a:latin typeface="Arial" pitchFamily="34" charset="0"/>
                <a:cs typeface="Arial" pitchFamily="34" charset="0"/>
              </a:rPr>
              <a:t> creates a new stream by applying a function to each stream element</a:t>
            </a:r>
          </a:p>
        </p:txBody>
      </p:sp>
      <p:sp>
        <p:nvSpPr>
          <p:cNvPr id="8" name="Rounded Rectangular Callout 7"/>
          <p:cNvSpPr/>
          <p:nvPr/>
        </p:nvSpPr>
        <p:spPr>
          <a:xfrm>
            <a:off x="1131373" y="3710078"/>
            <a:ext cx="5424410" cy="561301"/>
          </a:xfrm>
          <a:prstGeom prst="wedgeRoundRectCallout">
            <a:avLst>
              <a:gd name="adj1" fmla="val -33404"/>
              <a:gd name="adj2" fmla="val -19846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3361830" y="2641832"/>
            <a:ext cx="4682692"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here, converts to lower case</a:t>
            </a:r>
          </a:p>
        </p:txBody>
      </p:sp>
    </p:spTree>
    <p:extLst>
      <p:ext uri="{BB962C8B-B14F-4D97-AF65-F5344CB8AC3E}">
        <p14:creationId xmlns:p14="http://schemas.microsoft.com/office/powerpoint/2010/main" val="173116480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.lines()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flatMap</a:t>
            </a:r>
            <a:r>
              <a:rPr lang="en-US" sz="2800" dirty="0">
                <a:latin typeface="Courier New" charset="0"/>
                <a:cs typeface="Courier New" charset="0"/>
              </a:rPr>
              <a:t>(s -&gt;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pattern.splitAsStream</a:t>
            </a:r>
            <a:r>
              <a:rPr lang="en-US" sz="2800" dirty="0">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495943" y="1778436"/>
            <a:ext cx="6695269"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b="1" dirty="0" err="1">
                <a:solidFill>
                  <a:schemeClr val="tx1"/>
                </a:solidFill>
                <a:latin typeface="Courier New" panose="02070309020205020404" pitchFamily="49" charset="0"/>
                <a:cs typeface="Courier New" panose="02070309020205020404" pitchFamily="49" charset="0"/>
              </a:rPr>
              <a:t>flatMap</a:t>
            </a:r>
            <a:r>
              <a:rPr lang="en-US" sz="2800" dirty="0">
                <a:latin typeface="Arial" pitchFamily="34" charset="0"/>
                <a:cs typeface="Arial" pitchFamily="34" charset="0"/>
              </a:rPr>
              <a:t> replaces one stream element with multiple stream elements</a:t>
            </a:r>
          </a:p>
        </p:txBody>
      </p:sp>
      <p:sp>
        <p:nvSpPr>
          <p:cNvPr id="8" name="Rounded Rectangular Callout 7"/>
          <p:cNvSpPr/>
          <p:nvPr/>
        </p:nvSpPr>
        <p:spPr>
          <a:xfrm>
            <a:off x="1007386" y="4122549"/>
            <a:ext cx="6183826" cy="898902"/>
          </a:xfrm>
          <a:prstGeom prst="wedgeRoundRectCallout">
            <a:avLst>
              <a:gd name="adj1" fmla="val -33404"/>
              <a:gd name="adj2" fmla="val -19846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3361830" y="2641832"/>
            <a:ext cx="4323620"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here, splits line into words</a:t>
            </a:r>
          </a:p>
        </p:txBody>
      </p:sp>
    </p:spTree>
    <p:extLst>
      <p:ext uri="{BB962C8B-B14F-4D97-AF65-F5344CB8AC3E}">
        <p14:creationId xmlns:p14="http://schemas.microsoft.com/office/powerpoint/2010/main" val="213326965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.lines()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flatMap</a:t>
            </a:r>
            <a:r>
              <a:rPr lang="en-US" sz="2800" dirty="0">
                <a:solidFill>
                  <a:schemeClr val="bg1">
                    <a:lumMod val="75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latin typeface="Courier New" charset="0"/>
                <a:cs typeface="Courier New" charset="0"/>
              </a:rPr>
              <a:t>   .collect(</a:t>
            </a:r>
            <a:r>
              <a:rPr lang="en-US" sz="2800" dirty="0" err="1">
                <a:latin typeface="Courier New" charset="0"/>
                <a:cs typeface="Courier New" charset="0"/>
              </a:rPr>
              <a:t>Collectors.toList</a:t>
            </a:r>
            <a:r>
              <a:rPr lang="en-US" sz="2800" dirty="0">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r>
              <a:rPr lang="en-US" sz="2800" dirty="0">
                <a:latin typeface="Courier New" charset="0"/>
                <a:cs typeface="Courier New" charset="0"/>
              </a:rPr>
              <a:t> </a:t>
            </a:r>
          </a:p>
        </p:txBody>
      </p:sp>
      <p:sp>
        <p:nvSpPr>
          <p:cNvPr id="7" name="Text Box 122"/>
          <p:cNvSpPr txBox="1">
            <a:spLocks noChangeArrowheads="1"/>
          </p:cNvSpPr>
          <p:nvPr/>
        </p:nvSpPr>
        <p:spPr bwMode="auto">
          <a:xfrm>
            <a:off x="495943" y="1778436"/>
            <a:ext cx="760176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b="1" dirty="0">
                <a:solidFill>
                  <a:schemeClr val="tx1"/>
                </a:solidFill>
                <a:latin typeface="Courier New" panose="02070309020205020404" pitchFamily="49" charset="0"/>
                <a:cs typeface="Courier New" panose="02070309020205020404" pitchFamily="49" charset="0"/>
              </a:rPr>
              <a:t>collect </a:t>
            </a:r>
            <a:r>
              <a:rPr lang="en-US" sz="2800" dirty="0">
                <a:latin typeface="Arial" pitchFamily="34" charset="0"/>
                <a:cs typeface="Arial" pitchFamily="34" charset="0"/>
              </a:rPr>
              <a:t>puts stream elements in a container</a:t>
            </a:r>
          </a:p>
        </p:txBody>
      </p:sp>
      <p:sp>
        <p:nvSpPr>
          <p:cNvPr id="8" name="Rounded Rectangular Callout 7"/>
          <p:cNvSpPr/>
          <p:nvPr/>
        </p:nvSpPr>
        <p:spPr>
          <a:xfrm>
            <a:off x="1162369" y="4875813"/>
            <a:ext cx="6400804" cy="750072"/>
          </a:xfrm>
          <a:prstGeom prst="wedgeRoundRectCallout">
            <a:avLst>
              <a:gd name="adj1" fmla="val 33182"/>
              <a:gd name="adj2" fmla="val -36376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495943" y="2451315"/>
            <a:ext cx="2343911"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here, in a List</a:t>
            </a:r>
          </a:p>
        </p:txBody>
      </p:sp>
      <p:sp>
        <p:nvSpPr>
          <p:cNvPr id="10" name="Text Box 122"/>
          <p:cNvSpPr txBox="1">
            <a:spLocks noChangeArrowheads="1"/>
          </p:cNvSpPr>
          <p:nvPr/>
        </p:nvSpPr>
        <p:spPr bwMode="auto">
          <a:xfrm>
            <a:off x="495943" y="3081915"/>
            <a:ext cx="3066865"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terminal operation</a:t>
            </a:r>
          </a:p>
        </p:txBody>
      </p:sp>
    </p:spTree>
    <p:extLst>
      <p:ext uri="{BB962C8B-B14F-4D97-AF65-F5344CB8AC3E}">
        <p14:creationId xmlns:p14="http://schemas.microsoft.com/office/powerpoint/2010/main" val="396931239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84</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4174989"/>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List&lt;String&gt; </a:t>
            </a:r>
            <a:r>
              <a:rPr lang="en-US" sz="2800" dirty="0" err="1">
                <a:solidFill>
                  <a:schemeClr val="bg1">
                    <a:lumMod val="75000"/>
                  </a:schemeClr>
                </a:solidFill>
                <a:latin typeface="Courier New" charset="0"/>
                <a:cs typeface="Courier New" charset="0"/>
              </a:rPr>
              <a:t>readFile</a:t>
            </a:r>
            <a:r>
              <a:rPr lang="en-US" sz="2800" dirty="0">
                <a:solidFill>
                  <a:schemeClr val="bg1">
                    <a:lumMod val="75000"/>
                  </a:schemeClr>
                </a:solidFill>
                <a:latin typeface="Courier New" charset="0"/>
                <a:cs typeface="Courier New" charset="0"/>
              </a:rPr>
              <a:t>(String </a:t>
            </a:r>
            <a:r>
              <a:rPr lang="en-US" sz="2800" dirty="0" err="1">
                <a:solidFill>
                  <a:schemeClr val="bg1">
                    <a:lumMod val="75000"/>
                  </a:schemeClr>
                </a:solidFill>
                <a:latin typeface="Courier New" charset="0"/>
                <a:cs typeface="Courier New" charset="0"/>
              </a:rPr>
              <a:t>fileName</a:t>
            </a: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reader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.lines()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.map(String::</a:t>
            </a:r>
            <a:r>
              <a:rPr lang="en-US" sz="2800" dirty="0" err="1">
                <a:solidFill>
                  <a:schemeClr val="bg1">
                    <a:lumMod val="75000"/>
                  </a:schemeClr>
                </a:solidFill>
                <a:latin typeface="Courier New" charset="0"/>
                <a:cs typeface="Courier New" charset="0"/>
              </a:rPr>
              <a:t>toLowerCase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flatMap</a:t>
            </a:r>
            <a:r>
              <a:rPr lang="en-US" sz="2800" dirty="0">
                <a:solidFill>
                  <a:schemeClr val="bg1">
                    <a:lumMod val="75000"/>
                  </a:schemeClr>
                </a:solidFill>
                <a:latin typeface="Courier New" charset="0"/>
                <a:cs typeface="Courier New" charset="0"/>
              </a:rPr>
              <a:t>(s -&gt;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pattern.splitAsStream</a:t>
            </a:r>
            <a:r>
              <a:rPr lang="en-US" sz="2800" dirty="0">
                <a:solidFill>
                  <a:schemeClr val="bg1">
                    <a:lumMod val="75000"/>
                  </a:schemeClr>
                </a:solidFill>
                <a:latin typeface="Courier New" charset="0"/>
                <a:cs typeface="Courier New" charset="0"/>
              </a:rPr>
              <a:t>(s))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r>
              <a:rPr lang="en-US" sz="2800" dirty="0" err="1">
                <a:solidFill>
                  <a:schemeClr val="bg1">
                    <a:lumMod val="75000"/>
                  </a:schemeClr>
                </a:solidFill>
                <a:latin typeface="Courier New" charset="0"/>
                <a:cs typeface="Courier New" charset="0"/>
              </a:rPr>
              <a:t>Collectors.toList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7" name="Text Box 122"/>
          <p:cNvSpPr txBox="1">
            <a:spLocks noChangeArrowheads="1"/>
          </p:cNvSpPr>
          <p:nvPr/>
        </p:nvSpPr>
        <p:spPr bwMode="auto">
          <a:xfrm>
            <a:off x="7098913" y="2289870"/>
            <a:ext cx="160492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loops</a:t>
            </a:r>
          </a:p>
        </p:txBody>
      </p:sp>
      <p:sp>
        <p:nvSpPr>
          <p:cNvPr id="9" name="Text Box 122"/>
          <p:cNvSpPr txBox="1">
            <a:spLocks noChangeArrowheads="1"/>
          </p:cNvSpPr>
          <p:nvPr/>
        </p:nvSpPr>
        <p:spPr bwMode="auto">
          <a:xfrm>
            <a:off x="6058564" y="2941609"/>
            <a:ext cx="2645276"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conditionals</a:t>
            </a:r>
          </a:p>
        </p:txBody>
      </p:sp>
      <p:sp>
        <p:nvSpPr>
          <p:cNvPr id="10" name="Text Box 122"/>
          <p:cNvSpPr txBox="1">
            <a:spLocks noChangeArrowheads="1"/>
          </p:cNvSpPr>
          <p:nvPr/>
        </p:nvSpPr>
        <p:spPr bwMode="auto">
          <a:xfrm>
            <a:off x="5439805" y="3593349"/>
            <a:ext cx="3264035"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mutable objects</a:t>
            </a:r>
          </a:p>
        </p:txBody>
      </p:sp>
    </p:spTree>
    <p:extLst>
      <p:ext uri="{BB962C8B-B14F-4D97-AF65-F5344CB8AC3E}">
        <p14:creationId xmlns:p14="http://schemas.microsoft.com/office/powerpoint/2010/main" val="2648557421"/>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85</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Map&lt;</a:t>
            </a:r>
            <a:r>
              <a:rPr lang="en-US" sz="2800" dirty="0" err="1">
                <a:latin typeface="Courier New" charset="0"/>
                <a:cs typeface="Courier New" charset="0"/>
              </a:rPr>
              <a:t>String,Long</a:t>
            </a:r>
            <a:r>
              <a:rPr lang="en-US" sz="2800" dirty="0">
                <a:latin typeface="Courier New" charset="0"/>
                <a:cs typeface="Courier New" charset="0"/>
              </a:rPr>
              <a:t>&gt; map = text</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.collect(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Collectors.groupingBy</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Function.identity</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Collectors.counting</a:t>
            </a:r>
            <a:r>
              <a:rPr lang="en-US" sz="2800" dirty="0">
                <a:latin typeface="Courier New" charset="0"/>
                <a:cs typeface="Courier New" charset="0"/>
              </a:rPr>
              <a:t>()));</a:t>
            </a:r>
          </a:p>
        </p:txBody>
      </p:sp>
      <p:sp>
        <p:nvSpPr>
          <p:cNvPr id="11" name="Text Box 122"/>
          <p:cNvSpPr txBox="1">
            <a:spLocks noChangeArrowheads="1"/>
          </p:cNvSpPr>
          <p:nvPr/>
        </p:nvSpPr>
        <p:spPr bwMode="auto">
          <a:xfrm>
            <a:off x="2540000" y="4630631"/>
            <a:ext cx="421615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now let’s count the words</a:t>
            </a:r>
          </a:p>
        </p:txBody>
      </p:sp>
    </p:spTree>
    <p:extLst>
      <p:ext uri="{BB962C8B-B14F-4D97-AF65-F5344CB8AC3E}">
        <p14:creationId xmlns:p14="http://schemas.microsoft.com/office/powerpoint/2010/main" val="1068994474"/>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86</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a:t>
            </a:r>
            <a:r>
              <a:rPr lang="en-US" sz="2800" dirty="0">
                <a:latin typeface="Courier New" charset="0"/>
                <a:cs typeface="Courier New" charset="0"/>
              </a:rPr>
              <a:t>text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50000"/>
                  </a:schemeClr>
                </a:solidFill>
                <a:latin typeface="Courier New" charset="0"/>
                <a:cs typeface="Courier New" charset="0"/>
              </a:rPr>
              <a:t>.</a:t>
            </a:r>
            <a:r>
              <a:rPr lang="en-US" sz="2800" dirty="0">
                <a:solidFill>
                  <a:schemeClr val="bg1">
                    <a:lumMod val="75000"/>
                  </a:schemeClr>
                </a:solidFill>
                <a:latin typeface="Courier New" charset="0"/>
                <a:cs typeface="Courier New" charset="0"/>
              </a:rPr>
              <a:t>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Function.identity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Collectors.counting</a:t>
            </a:r>
            <a:r>
              <a:rPr lang="en-US" sz="2800" dirty="0">
                <a:solidFill>
                  <a:schemeClr val="bg1">
                    <a:lumMod val="75000"/>
                  </a:schemeClr>
                </a:solidFill>
                <a:latin typeface="Courier New" charset="0"/>
                <a:cs typeface="Courier New" charset="0"/>
              </a:rPr>
              <a:t>()));</a:t>
            </a:r>
          </a:p>
        </p:txBody>
      </p:sp>
      <p:sp>
        <p:nvSpPr>
          <p:cNvPr id="11" name="Text Box 122"/>
          <p:cNvSpPr txBox="1">
            <a:spLocks noChangeArrowheads="1"/>
          </p:cNvSpPr>
          <p:nvPr/>
        </p:nvSpPr>
        <p:spPr bwMode="auto">
          <a:xfrm>
            <a:off x="4025161" y="3189288"/>
            <a:ext cx="361990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start with list of words</a:t>
            </a:r>
          </a:p>
        </p:txBody>
      </p:sp>
      <p:sp>
        <p:nvSpPr>
          <p:cNvPr id="12" name="Rounded Rectangular Callout 11"/>
          <p:cNvSpPr/>
          <p:nvPr/>
        </p:nvSpPr>
        <p:spPr>
          <a:xfrm>
            <a:off x="5222929" y="1592457"/>
            <a:ext cx="1224366" cy="750072"/>
          </a:xfrm>
          <a:prstGeom prst="wedgeRoundRectCallout">
            <a:avLst>
              <a:gd name="adj1" fmla="val -10251"/>
              <a:gd name="adj2" fmla="val 144532"/>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2439134103"/>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87</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text</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solidFill>
                  <a:schemeClr val="bg1">
                    <a:lumMod val="75000"/>
                  </a:schemeClr>
                </a:solidFill>
                <a:latin typeface="Courier New" charset="0"/>
                <a:cs typeface="Courier New" charset="0"/>
              </a:rPr>
              <a:t>.collect(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Function.identity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Collectors.counting</a:t>
            </a:r>
            <a:r>
              <a:rPr lang="en-US" sz="2800" dirty="0">
                <a:solidFill>
                  <a:schemeClr val="bg1">
                    <a:lumMod val="75000"/>
                  </a:schemeClr>
                </a:solidFill>
                <a:latin typeface="Courier New" charset="0"/>
                <a:cs typeface="Courier New" charset="0"/>
              </a:rPr>
              <a:t>()));</a:t>
            </a:r>
          </a:p>
        </p:txBody>
      </p:sp>
      <p:sp>
        <p:nvSpPr>
          <p:cNvPr id="11" name="Text Box 122"/>
          <p:cNvSpPr txBox="1">
            <a:spLocks noChangeArrowheads="1"/>
          </p:cNvSpPr>
          <p:nvPr/>
        </p:nvSpPr>
        <p:spPr bwMode="auto">
          <a:xfrm>
            <a:off x="1622924" y="4568637"/>
            <a:ext cx="364234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List into a stream</a:t>
            </a:r>
          </a:p>
        </p:txBody>
      </p:sp>
      <p:sp>
        <p:nvSpPr>
          <p:cNvPr id="12" name="Rounded Rectangular Callout 11"/>
          <p:cNvSpPr/>
          <p:nvPr/>
        </p:nvSpPr>
        <p:spPr>
          <a:xfrm>
            <a:off x="883402" y="2062768"/>
            <a:ext cx="2262753" cy="750072"/>
          </a:xfrm>
          <a:prstGeom prst="wedgeRoundRectCallout">
            <a:avLst>
              <a:gd name="adj1" fmla="val -8881"/>
              <a:gd name="adj2" fmla="val 24991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72453987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88</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text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Function.identity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Collectors.counting</a:t>
            </a:r>
            <a:r>
              <a:rPr lang="en-US" sz="2800" dirty="0">
                <a:solidFill>
                  <a:schemeClr val="bg1">
                    <a:lumMod val="75000"/>
                  </a:schemeClr>
                </a:solidFill>
                <a:latin typeface="Courier New" charset="0"/>
                <a:cs typeface="Courier New" charset="0"/>
              </a:rPr>
              <a:t>()));</a:t>
            </a:r>
          </a:p>
        </p:txBody>
      </p:sp>
      <p:sp>
        <p:nvSpPr>
          <p:cNvPr id="11" name="Text Box 122"/>
          <p:cNvSpPr txBox="1">
            <a:spLocks noChangeArrowheads="1"/>
          </p:cNvSpPr>
          <p:nvPr/>
        </p:nvSpPr>
        <p:spPr bwMode="auto">
          <a:xfrm>
            <a:off x="929656" y="4830247"/>
            <a:ext cx="5428089"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put stream into a container (</a:t>
            </a:r>
            <a:r>
              <a:rPr lang="en-US" sz="2800" b="1" dirty="0">
                <a:solidFill>
                  <a:schemeClr val="tx1"/>
                </a:solidFill>
                <a:latin typeface="Courier New" panose="02070309020205020404" pitchFamily="49" charset="0"/>
                <a:cs typeface="Courier New" panose="02070309020205020404" pitchFamily="49" charset="0"/>
              </a:rPr>
              <a:t>Map</a:t>
            </a:r>
            <a:r>
              <a:rPr lang="en-US" sz="2800" dirty="0">
                <a:latin typeface="Arial" pitchFamily="34" charset="0"/>
                <a:cs typeface="Arial" pitchFamily="34" charset="0"/>
              </a:rPr>
              <a:t>)</a:t>
            </a:r>
          </a:p>
          <a:p>
            <a:pPr lvl="1" algn="l"/>
            <a:r>
              <a:rPr lang="en-US" sz="2800" dirty="0">
                <a:latin typeface="Arial" pitchFamily="34" charset="0"/>
                <a:cs typeface="Arial" pitchFamily="34" charset="0"/>
              </a:rPr>
              <a:t>word </a:t>
            </a:r>
            <a:r>
              <a:rPr lang="en-US" sz="2800" dirty="0">
                <a:latin typeface="Arial" pitchFamily="34" charset="0"/>
                <a:cs typeface="Arial" pitchFamily="34" charset="0"/>
                <a:sym typeface="Symbol"/>
              </a:rPr>
              <a:t> count</a:t>
            </a:r>
            <a:endParaRPr lang="en-US" sz="2800" dirty="0">
              <a:latin typeface="Arial" pitchFamily="34" charset="0"/>
              <a:cs typeface="Arial" pitchFamily="34" charset="0"/>
            </a:endParaRPr>
          </a:p>
        </p:txBody>
      </p:sp>
      <p:sp>
        <p:nvSpPr>
          <p:cNvPr id="12" name="Rounded Rectangular Callout 11"/>
          <p:cNvSpPr/>
          <p:nvPr/>
        </p:nvSpPr>
        <p:spPr>
          <a:xfrm>
            <a:off x="883402" y="2437804"/>
            <a:ext cx="2262753" cy="750072"/>
          </a:xfrm>
          <a:prstGeom prst="wedgeRoundRectCallout">
            <a:avLst>
              <a:gd name="adj1" fmla="val -8881"/>
              <a:gd name="adj2" fmla="val 24991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523027288"/>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89</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text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Function.identity</a:t>
            </a:r>
            <a:r>
              <a:rPr lang="en-US" sz="2800" dirty="0">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Collectors.counting</a:t>
            </a:r>
            <a:r>
              <a:rPr lang="en-US" sz="2800" dirty="0">
                <a:solidFill>
                  <a:schemeClr val="bg1">
                    <a:lumMod val="75000"/>
                  </a:schemeClr>
                </a:solidFill>
                <a:latin typeface="Courier New" charset="0"/>
                <a:cs typeface="Courier New" charset="0"/>
              </a:rPr>
              <a:t>()));</a:t>
            </a:r>
          </a:p>
        </p:txBody>
      </p:sp>
      <p:sp>
        <p:nvSpPr>
          <p:cNvPr id="12" name="Rounded Rectangular Callout 11"/>
          <p:cNvSpPr/>
          <p:nvPr/>
        </p:nvSpPr>
        <p:spPr>
          <a:xfrm>
            <a:off x="1084880" y="3425125"/>
            <a:ext cx="5269425" cy="467008"/>
          </a:xfrm>
          <a:prstGeom prst="wedgeRoundRectCallout">
            <a:avLst>
              <a:gd name="adj1" fmla="val -8587"/>
              <a:gd name="adj2" fmla="val 15622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1574837" y="4601741"/>
            <a:ext cx="569572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each element’s key is that element</a:t>
            </a:r>
          </a:p>
        </p:txBody>
      </p:sp>
    </p:spTree>
    <p:extLst>
      <p:ext uri="{BB962C8B-B14F-4D97-AF65-F5344CB8AC3E}">
        <p14:creationId xmlns:p14="http://schemas.microsoft.com/office/powerpoint/2010/main" val="18729511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90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text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Function.identity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Collectors.counting</a:t>
            </a:r>
            <a:r>
              <a:rPr lang="en-US" sz="2800" dirty="0">
                <a:latin typeface="Courier New" charset="0"/>
                <a:cs typeface="Courier New" charset="0"/>
              </a:rPr>
              <a:t>()));</a:t>
            </a:r>
          </a:p>
        </p:txBody>
      </p:sp>
      <p:sp>
        <p:nvSpPr>
          <p:cNvPr id="12" name="Rounded Rectangular Callout 11"/>
          <p:cNvSpPr/>
          <p:nvPr/>
        </p:nvSpPr>
        <p:spPr>
          <a:xfrm>
            <a:off x="1286358" y="3892133"/>
            <a:ext cx="5269425" cy="467008"/>
          </a:xfrm>
          <a:prstGeom prst="wedgeRoundRectCallout">
            <a:avLst>
              <a:gd name="adj1" fmla="val -8587"/>
              <a:gd name="adj2" fmla="val 15622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1574837" y="5004697"/>
            <a:ext cx="6515278"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each element’s value is the number of times it appears</a:t>
            </a:r>
          </a:p>
        </p:txBody>
      </p:sp>
    </p:spTree>
    <p:extLst>
      <p:ext uri="{BB962C8B-B14F-4D97-AF65-F5344CB8AC3E}">
        <p14:creationId xmlns:p14="http://schemas.microsoft.com/office/powerpoint/2010/main" val="33386763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91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err="1">
                <a:latin typeface="Arial" charset="0"/>
              </a:rPr>
              <a:t>WordCount</a:t>
            </a:r>
            <a:endParaRPr lang="en-US" dirty="0">
              <a:latin typeface="Arial" charset="0"/>
            </a:endParaRPr>
          </a:p>
        </p:txBody>
      </p:sp>
      <p:sp>
        <p:nvSpPr>
          <p:cNvPr id="75781" name="Text Box 3"/>
          <p:cNvSpPr txBox="1">
            <a:spLocks noChangeArrowheads="1"/>
          </p:cNvSpPr>
          <p:nvPr/>
        </p:nvSpPr>
        <p:spPr bwMode="auto">
          <a:xfrm>
            <a:off x="386557" y="1778436"/>
            <a:ext cx="8370887" cy="258070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Map&lt;</a:t>
            </a:r>
            <a:r>
              <a:rPr lang="en-US" sz="2800" dirty="0" err="1">
                <a:solidFill>
                  <a:schemeClr val="bg1">
                    <a:lumMod val="75000"/>
                  </a:schemeClr>
                </a:solidFill>
                <a:latin typeface="Courier New" charset="0"/>
                <a:cs typeface="Courier New" charset="0"/>
              </a:rPr>
              <a:t>String,Long</a:t>
            </a:r>
            <a:r>
              <a:rPr lang="en-US" sz="2800" dirty="0">
                <a:solidFill>
                  <a:schemeClr val="bg1">
                    <a:lumMod val="75000"/>
                  </a:schemeClr>
                </a:solidFill>
                <a:latin typeface="Courier New" charset="0"/>
                <a:cs typeface="Courier New" charset="0"/>
              </a:rPr>
              <a:t>&gt; map = text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.collect(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Collectors.groupingBy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Function.identity</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Collectors.counting</a:t>
            </a:r>
            <a:r>
              <a:rPr lang="en-US" sz="2800" dirty="0">
                <a:solidFill>
                  <a:schemeClr val="bg1">
                    <a:lumMod val="75000"/>
                  </a:schemeClr>
                </a:solidFill>
                <a:latin typeface="Courier New" charset="0"/>
                <a:cs typeface="Courier New" charset="0"/>
              </a:rPr>
              <a:t>()));</a:t>
            </a:r>
          </a:p>
        </p:txBody>
      </p:sp>
      <p:sp>
        <p:nvSpPr>
          <p:cNvPr id="10" name="Text Box 122"/>
          <p:cNvSpPr txBox="1">
            <a:spLocks noChangeArrowheads="1"/>
          </p:cNvSpPr>
          <p:nvPr/>
        </p:nvSpPr>
        <p:spPr bwMode="auto">
          <a:xfrm>
            <a:off x="7098913" y="2289870"/>
            <a:ext cx="160492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loops</a:t>
            </a:r>
          </a:p>
        </p:txBody>
      </p:sp>
      <p:sp>
        <p:nvSpPr>
          <p:cNvPr id="11" name="Text Box 122"/>
          <p:cNvSpPr txBox="1">
            <a:spLocks noChangeArrowheads="1"/>
          </p:cNvSpPr>
          <p:nvPr/>
        </p:nvSpPr>
        <p:spPr bwMode="auto">
          <a:xfrm>
            <a:off x="6058564" y="2941609"/>
            <a:ext cx="2645276"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conditionals</a:t>
            </a:r>
          </a:p>
        </p:txBody>
      </p:sp>
      <p:sp>
        <p:nvSpPr>
          <p:cNvPr id="13" name="Text Box 122"/>
          <p:cNvSpPr txBox="1">
            <a:spLocks noChangeArrowheads="1"/>
          </p:cNvSpPr>
          <p:nvPr/>
        </p:nvSpPr>
        <p:spPr bwMode="auto">
          <a:xfrm>
            <a:off x="5439805" y="3593349"/>
            <a:ext cx="3264035"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No mutable objects</a:t>
            </a:r>
          </a:p>
        </p:txBody>
      </p:sp>
    </p:spTree>
    <p:extLst>
      <p:ext uri="{BB962C8B-B14F-4D97-AF65-F5344CB8AC3E}">
        <p14:creationId xmlns:p14="http://schemas.microsoft.com/office/powerpoint/2010/main" val="81272570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92</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class Point {</a:t>
            </a:r>
          </a:p>
          <a:p>
            <a:pPr algn="l" eaLnBrk="1" hangingPunct="1">
              <a:lnSpc>
                <a:spcPct val="70000"/>
              </a:lnSpc>
              <a:spcBef>
                <a:spcPct val="30000"/>
              </a:spcBef>
            </a:pPr>
            <a:r>
              <a:rPr lang="en-US" sz="2800" dirty="0">
                <a:latin typeface="Courier New" charset="0"/>
                <a:cs typeface="Courier New" charset="0"/>
              </a:rPr>
              <a:t>  Point(double x, double y) {…}</a:t>
            </a:r>
          </a:p>
          <a:p>
            <a:pPr algn="l" eaLnBrk="1" hangingPunct="1">
              <a:lnSpc>
                <a:spcPct val="70000"/>
              </a:lnSpc>
              <a:spcBef>
                <a:spcPct val="30000"/>
              </a:spcBef>
            </a:pPr>
            <a:r>
              <a:rPr lang="en-US" sz="2800" dirty="0">
                <a:latin typeface="Courier New" charset="0"/>
                <a:cs typeface="Courier New" charset="0"/>
              </a:rPr>
              <a:t>  Point plus(Point other) {…}</a:t>
            </a:r>
          </a:p>
          <a:p>
            <a:pPr algn="l" eaLnBrk="1" hangingPunct="1">
              <a:lnSpc>
                <a:spcPct val="70000"/>
              </a:lnSpc>
              <a:spcBef>
                <a:spcPct val="30000"/>
              </a:spcBef>
            </a:pPr>
            <a:r>
              <a:rPr lang="en-US" sz="2800" dirty="0">
                <a:latin typeface="Courier New" charset="0"/>
                <a:cs typeface="Courier New" charset="0"/>
              </a:rPr>
              <a:t>  Point scale(double x) {…}</a:t>
            </a:r>
          </a:p>
          <a:p>
            <a:pPr algn="l" eaLnBrk="1" hangingPunct="1">
              <a:lnSpc>
                <a:spcPct val="70000"/>
              </a:lnSpc>
              <a:spcBef>
                <a:spcPct val="30000"/>
              </a:spcBef>
            </a:pPr>
            <a:r>
              <a:rPr lang="en-US" sz="2800" dirty="0">
                <a:latin typeface="Courier New" charset="0"/>
                <a:cs typeface="Courier New" charset="0"/>
              </a:rPr>
              <a:t>  static Point barycenter(</a:t>
            </a:r>
          </a:p>
          <a:p>
            <a:pPr algn="l" eaLnBrk="1" hangingPunct="1">
              <a:lnSpc>
                <a:spcPct val="70000"/>
              </a:lnSpc>
              <a:spcBef>
                <a:spcPct val="30000"/>
              </a:spcBef>
            </a:pPr>
            <a:r>
              <a:rPr lang="en-US" sz="2800" dirty="0">
                <a:latin typeface="Courier New" charset="0"/>
                <a:cs typeface="Courier New" charset="0"/>
              </a:rPr>
              <a:t>    List&lt;Point&gt; cluster</a:t>
            </a:r>
          </a:p>
          <a:p>
            <a:pPr algn="l" eaLnBrk="1" hangingPunct="1">
              <a:lnSpc>
                <a:spcPct val="70000"/>
              </a:lnSpc>
              <a:spcBef>
                <a:spcPct val="30000"/>
              </a:spcBef>
            </a:pPr>
            <a:r>
              <a:rPr lang="en-US" sz="2800" dirty="0">
                <a:latin typeface="Courier New" charset="0"/>
                <a:cs typeface="Courier New" charset="0"/>
              </a:rPr>
              <a:t>    ) {…}</a:t>
            </a:r>
          </a:p>
          <a:p>
            <a:pPr algn="l" eaLnBrk="1" hangingPunct="1">
              <a:lnSpc>
                <a:spcPct val="70000"/>
              </a:lnSpc>
              <a:spcBef>
                <a:spcPct val="30000"/>
              </a:spcBef>
            </a:pPr>
            <a:r>
              <a:rPr lang="en-US" sz="2800" dirty="0">
                <a:latin typeface="Courier New" charset="0"/>
                <a:cs typeface="Courier New" charset="0"/>
              </a:rPr>
              <a:t>}</a:t>
            </a:r>
          </a:p>
        </p:txBody>
      </p:sp>
    </p:spTree>
    <p:extLst>
      <p:ext uri="{BB962C8B-B14F-4D97-AF65-F5344CB8AC3E}">
        <p14:creationId xmlns:p14="http://schemas.microsoft.com/office/powerpoint/2010/main" val="14050412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93</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class Point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Point(double x, double y)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Point plus(Point other)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Point scale(double x) {…}</a:t>
            </a:r>
          </a:p>
          <a:p>
            <a:pPr algn="l" eaLnBrk="1" hangingPunct="1">
              <a:lnSpc>
                <a:spcPct val="70000"/>
              </a:lnSpc>
              <a:spcBef>
                <a:spcPct val="30000"/>
              </a:spcBef>
            </a:pPr>
            <a:r>
              <a:rPr lang="en-US" sz="2800" dirty="0">
                <a:latin typeface="Courier New" charset="0"/>
                <a:cs typeface="Courier New" charset="0"/>
              </a:rPr>
              <a:t>  static Point barycenter(</a:t>
            </a:r>
          </a:p>
          <a:p>
            <a:pPr algn="l" eaLnBrk="1" hangingPunct="1">
              <a:lnSpc>
                <a:spcPct val="70000"/>
              </a:lnSpc>
              <a:spcBef>
                <a:spcPct val="30000"/>
              </a:spcBef>
            </a:pPr>
            <a:r>
              <a:rPr lang="en-US" sz="2800" dirty="0">
                <a:latin typeface="Courier New" charset="0"/>
                <a:cs typeface="Courier New" charset="0"/>
              </a:rPr>
              <a:t>    List&lt;Point&gt; cluster</a:t>
            </a:r>
          </a:p>
          <a:p>
            <a:pPr algn="l" eaLnBrk="1" hangingPunct="1">
              <a:lnSpc>
                <a:spcPct val="70000"/>
              </a:lnSpc>
              <a:spcBef>
                <a:spcPct val="30000"/>
              </a:spcBef>
            </a:pPr>
            <a:r>
              <a:rPr lang="en-US" sz="2800" dirty="0">
                <a:latin typeface="Courier New" charset="0"/>
                <a:cs typeface="Courier New" charset="0"/>
              </a:rPr>
              <a:t>    ) {…}</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6" name="Rounded Rectangular Callout 5"/>
          <p:cNvSpPr/>
          <p:nvPr/>
        </p:nvSpPr>
        <p:spPr>
          <a:xfrm>
            <a:off x="681924" y="3927246"/>
            <a:ext cx="5269425" cy="1342177"/>
          </a:xfrm>
          <a:prstGeom prst="wedgeRoundRectCallout">
            <a:avLst>
              <a:gd name="adj1" fmla="val 57590"/>
              <a:gd name="adj2" fmla="val -78182"/>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5951349" y="2927678"/>
            <a:ext cx="2484976"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stream-based!</a:t>
            </a:r>
          </a:p>
        </p:txBody>
      </p:sp>
    </p:spTree>
    <p:extLst>
      <p:ext uri="{BB962C8B-B14F-4D97-AF65-F5344CB8AC3E}">
        <p14:creationId xmlns:p14="http://schemas.microsoft.com/office/powerpoint/2010/main" val="56538073"/>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BaryCenter</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94</a:t>
            </a:fld>
            <a:endParaRPr lang="en-US"/>
          </a:p>
        </p:txBody>
      </p:sp>
      <p:grpSp>
        <p:nvGrpSpPr>
          <p:cNvPr id="20" name="Group 19"/>
          <p:cNvGrpSpPr/>
          <p:nvPr/>
        </p:nvGrpSpPr>
        <p:grpSpPr>
          <a:xfrm>
            <a:off x="2580468" y="2371240"/>
            <a:ext cx="3983065" cy="3459329"/>
            <a:chOff x="3471619" y="2371240"/>
            <a:chExt cx="3983065" cy="3459329"/>
          </a:xfrm>
        </p:grpSpPr>
        <p:sp>
          <p:nvSpPr>
            <p:cNvPr id="5" name="Isosceles Triangle 4"/>
            <p:cNvSpPr/>
            <p:nvPr/>
          </p:nvSpPr>
          <p:spPr bwMode="auto">
            <a:xfrm>
              <a:off x="3564609" y="2464230"/>
              <a:ext cx="3797085" cy="3273349"/>
            </a:xfrm>
            <a:prstGeom prst="triangle">
              <a:avLst/>
            </a:prstGeom>
            <a:noFill/>
            <a:ln w="38100" cap="flat" cmpd="sng" algn="ctr">
              <a:solidFill>
                <a:srgbClr val="0000FF"/>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cxnSp>
          <p:nvCxnSpPr>
            <p:cNvPr id="7" name="Straight Connector 6"/>
            <p:cNvCxnSpPr>
              <a:stCxn id="5" idx="2"/>
              <a:endCxn id="5" idx="5"/>
            </p:cNvCxnSpPr>
            <p:nvPr/>
          </p:nvCxnSpPr>
          <p:spPr bwMode="auto">
            <a:xfrm flipV="1">
              <a:off x="3564609" y="4100905"/>
              <a:ext cx="2847814" cy="1636674"/>
            </a:xfrm>
            <a:prstGeom prst="line">
              <a:avLst/>
            </a:prstGeom>
            <a:noFill/>
            <a:ln w="38100" cap="flat" cmpd="sng" algn="ctr">
              <a:solidFill>
                <a:schemeClr val="tx1"/>
              </a:solidFill>
              <a:prstDash val="sysDash"/>
              <a:round/>
              <a:headEnd type="none" w="med" len="med"/>
              <a:tailEnd type="none" w="med" len="med"/>
            </a:ln>
            <a:effectLst/>
          </p:spPr>
        </p:cxnSp>
        <p:cxnSp>
          <p:nvCxnSpPr>
            <p:cNvPr id="10" name="Straight Connector 9"/>
            <p:cNvCxnSpPr>
              <a:stCxn id="5" idx="0"/>
              <a:endCxn id="5" idx="3"/>
            </p:cNvCxnSpPr>
            <p:nvPr/>
          </p:nvCxnSpPr>
          <p:spPr bwMode="auto">
            <a:xfrm>
              <a:off x="5463152" y="2464230"/>
              <a:ext cx="0" cy="3273349"/>
            </a:xfrm>
            <a:prstGeom prst="line">
              <a:avLst/>
            </a:prstGeom>
            <a:noFill/>
            <a:ln w="38100" cap="flat" cmpd="sng" algn="ctr">
              <a:solidFill>
                <a:schemeClr val="tx1"/>
              </a:solidFill>
              <a:prstDash val="sysDash"/>
              <a:round/>
              <a:headEnd type="none" w="med" len="med"/>
              <a:tailEnd type="none" w="med" len="med"/>
            </a:ln>
            <a:effectLst/>
          </p:spPr>
        </p:cxnSp>
        <p:cxnSp>
          <p:nvCxnSpPr>
            <p:cNvPr id="12" name="Straight Connector 11"/>
            <p:cNvCxnSpPr>
              <a:stCxn id="5" idx="4"/>
              <a:endCxn id="5" idx="1"/>
            </p:cNvCxnSpPr>
            <p:nvPr/>
          </p:nvCxnSpPr>
          <p:spPr bwMode="auto">
            <a:xfrm flipH="1" flipV="1">
              <a:off x="4513880" y="4100905"/>
              <a:ext cx="2847814" cy="1636674"/>
            </a:xfrm>
            <a:prstGeom prst="line">
              <a:avLst/>
            </a:prstGeom>
            <a:noFill/>
            <a:ln w="38100" cap="flat" cmpd="sng" algn="ctr">
              <a:solidFill>
                <a:schemeClr val="tx1"/>
              </a:solidFill>
              <a:prstDash val="sysDash"/>
              <a:round/>
              <a:headEnd type="none" w="med" len="med"/>
              <a:tailEnd type="none" w="med" len="med"/>
            </a:ln>
            <a:effectLst/>
          </p:spPr>
        </p:cxnSp>
        <p:sp>
          <p:nvSpPr>
            <p:cNvPr id="16" name="Oval 15"/>
            <p:cNvSpPr/>
            <p:nvPr/>
          </p:nvSpPr>
          <p:spPr bwMode="auto">
            <a:xfrm>
              <a:off x="5370162" y="2371240"/>
              <a:ext cx="185980" cy="185980"/>
            </a:xfrm>
            <a:prstGeom prst="ellipse">
              <a:avLst/>
            </a:prstGeom>
            <a:solidFill>
              <a:schemeClr val="accent2"/>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7" name="Oval 16"/>
            <p:cNvSpPr/>
            <p:nvPr/>
          </p:nvSpPr>
          <p:spPr bwMode="auto">
            <a:xfrm>
              <a:off x="7268704" y="5644589"/>
              <a:ext cx="185980" cy="185980"/>
            </a:xfrm>
            <a:prstGeom prst="ellipse">
              <a:avLst/>
            </a:prstGeom>
            <a:solidFill>
              <a:schemeClr val="accent2"/>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8" name="Oval 17"/>
            <p:cNvSpPr/>
            <p:nvPr/>
          </p:nvSpPr>
          <p:spPr bwMode="auto">
            <a:xfrm>
              <a:off x="3471619" y="5644589"/>
              <a:ext cx="185980" cy="185980"/>
            </a:xfrm>
            <a:prstGeom prst="ellipse">
              <a:avLst/>
            </a:prstGeom>
            <a:solidFill>
              <a:schemeClr val="accent2"/>
            </a:solidFill>
            <a:ln w="38100"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sp>
          <p:nvSpPr>
            <p:cNvPr id="19" name="Oval 18"/>
            <p:cNvSpPr/>
            <p:nvPr/>
          </p:nvSpPr>
          <p:spPr bwMode="auto">
            <a:xfrm>
              <a:off x="5370162" y="4544209"/>
              <a:ext cx="185980" cy="185980"/>
            </a:xfrm>
            <a:prstGeom prst="ellipse">
              <a:avLst/>
            </a:prstGeom>
            <a:solidFill>
              <a:srgbClr val="FF0000"/>
            </a:solidFill>
            <a:ln w="381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en-US" sz="2800" b="0" i="0" u="none" strike="noStrike" cap="none" normalizeH="0" baseline="0" dirty="0">
                <a:ln>
                  <a:noFill/>
                </a:ln>
                <a:solidFill>
                  <a:srgbClr val="0000FF"/>
                </a:solidFill>
                <a:effectLst/>
                <a:latin typeface="Arial" panose="020B0604020202020204" pitchFamily="34" charset="0"/>
                <a:cs typeface="Arial" panose="020B0604020202020204" pitchFamily="34" charset="0"/>
              </a:endParaRPr>
            </a:p>
          </p:txBody>
        </p:sp>
      </p:grpSp>
    </p:spTree>
    <p:extLst>
      <p:ext uri="{BB962C8B-B14F-4D97-AF65-F5344CB8AC3E}">
        <p14:creationId xmlns:p14="http://schemas.microsoft.com/office/powerpoint/2010/main" val="601484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 Barycenter</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95</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Point barycenter(List&lt;Point&gt; cluster){</a:t>
            </a:r>
          </a:p>
          <a:p>
            <a:pPr algn="l" eaLnBrk="1" hangingPunct="1">
              <a:lnSpc>
                <a:spcPct val="70000"/>
              </a:lnSpc>
              <a:spcBef>
                <a:spcPct val="30000"/>
              </a:spcBef>
            </a:pPr>
            <a:r>
              <a:rPr lang="en-US" sz="2800" dirty="0">
                <a:latin typeface="Courier New" charset="0"/>
                <a:cs typeface="Courier New" charset="0"/>
              </a:rPr>
              <a:t>    double </a:t>
            </a:r>
            <a:r>
              <a:rPr lang="en-US" sz="2800" dirty="0" err="1">
                <a:latin typeface="Courier New" charset="0"/>
                <a:cs typeface="Courier New" charset="0"/>
              </a:rPr>
              <a:t>numPoints</a:t>
            </a:r>
            <a:r>
              <a:rPr lang="en-US" sz="2800" dirty="0">
                <a:latin typeface="Courier New" charset="0"/>
                <a:cs typeface="Courier New" charset="0"/>
              </a:rPr>
              <a:t> = </a:t>
            </a:r>
            <a:r>
              <a:rPr lang="en-US" sz="2800" dirty="0" err="1">
                <a:latin typeface="Courier New" charset="0"/>
                <a:cs typeface="Courier New" charset="0"/>
              </a:rPr>
              <a:t>cluster.size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Optional&lt;Point&gt; sum = cluster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.reduce(Point::plus);</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a:t>
            </a:r>
            <a:r>
              <a:rPr lang="en-US" sz="2800" dirty="0" err="1">
                <a:latin typeface="Courier New" charset="0"/>
                <a:cs typeface="Courier New" charset="0"/>
              </a:rPr>
              <a:t>sum.get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.scale(1 / </a:t>
            </a:r>
            <a:r>
              <a:rPr lang="en-US" sz="2800" dirty="0" err="1">
                <a:latin typeface="Courier New" charset="0"/>
                <a:cs typeface="Courier New" charset="0"/>
              </a:rPr>
              <a:t>numPoints</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p>
        </p:txBody>
      </p:sp>
    </p:spTree>
    <p:extLst>
      <p:ext uri="{BB962C8B-B14F-4D97-AF65-F5344CB8AC3E}">
        <p14:creationId xmlns:p14="http://schemas.microsoft.com/office/powerpoint/2010/main" val="358895868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 Barycenter</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96</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Point barycenter(List&lt;Point&gt; cluster){</a:t>
            </a:r>
          </a:p>
          <a:p>
            <a:pPr algn="l" eaLnBrk="1" hangingPunct="1">
              <a:lnSpc>
                <a:spcPct val="70000"/>
              </a:lnSpc>
              <a:spcBef>
                <a:spcPct val="30000"/>
              </a:spcBef>
            </a:pPr>
            <a:r>
              <a:rPr lang="en-US" sz="2800" dirty="0">
                <a:latin typeface="Courier New" charset="0"/>
                <a:cs typeface="Courier New" charset="0"/>
              </a:rPr>
              <a:t>    double </a:t>
            </a:r>
            <a:r>
              <a:rPr lang="en-US" sz="2800" dirty="0" err="1">
                <a:latin typeface="Courier New" charset="0"/>
                <a:cs typeface="Courier New" charset="0"/>
              </a:rPr>
              <a:t>numPoints</a:t>
            </a:r>
            <a:r>
              <a:rPr lang="en-US" sz="2800" dirty="0">
                <a:latin typeface="Courier New" charset="0"/>
                <a:cs typeface="Courier New" charset="0"/>
              </a:rPr>
              <a:t> = </a:t>
            </a:r>
            <a:r>
              <a:rPr lang="en-US" sz="2800" dirty="0" err="1">
                <a:latin typeface="Courier New" charset="0"/>
                <a:cs typeface="Courier New" charset="0"/>
              </a:rPr>
              <a:t>cluster.size</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Optional&lt;Point&gt; sum = cluster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.reduce(Point::plus);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a:t>
            </a:r>
            <a:r>
              <a:rPr lang="en-US" sz="2800" dirty="0" err="1">
                <a:solidFill>
                  <a:schemeClr val="bg1">
                    <a:lumMod val="75000"/>
                  </a:schemeClr>
                </a:solidFill>
                <a:latin typeface="Courier New" charset="0"/>
                <a:cs typeface="Courier New" charset="0"/>
              </a:rPr>
              <a:t>sum.get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.scale(1 /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6" name="Rounded Rectangular Callout 5"/>
          <p:cNvSpPr/>
          <p:nvPr/>
        </p:nvSpPr>
        <p:spPr>
          <a:xfrm>
            <a:off x="1255362" y="2779768"/>
            <a:ext cx="7377194" cy="409520"/>
          </a:xfrm>
          <a:prstGeom prst="wedgeRoundRectCallout">
            <a:avLst>
              <a:gd name="adj1" fmla="val -32326"/>
              <a:gd name="adj2" fmla="val 49686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751308" y="5305376"/>
            <a:ext cx="198323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cluster size</a:t>
            </a:r>
          </a:p>
        </p:txBody>
      </p:sp>
    </p:spTree>
    <p:extLst>
      <p:ext uri="{BB962C8B-B14F-4D97-AF65-F5344CB8AC3E}">
        <p14:creationId xmlns:p14="http://schemas.microsoft.com/office/powerpoint/2010/main" val="8355372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Stream Barycenter</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97</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Point barycenter(List&lt;Point&gt; cluster){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double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cluster.size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Optional&lt;Point&gt; sum = </a:t>
            </a:r>
            <a:r>
              <a:rPr lang="en-US" sz="2800" dirty="0">
                <a:latin typeface="Courier New" charset="0"/>
                <a:cs typeface="Courier New" charset="0"/>
              </a:rPr>
              <a:t>cluster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.reduce(Point::plus);</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return </a:t>
            </a:r>
            <a:r>
              <a:rPr lang="en-US" sz="2800" dirty="0" err="1">
                <a:solidFill>
                  <a:schemeClr val="bg1">
                    <a:lumMod val="75000"/>
                  </a:schemeClr>
                </a:solidFill>
                <a:latin typeface="Courier New" charset="0"/>
                <a:cs typeface="Courier New" charset="0"/>
              </a:rPr>
              <a:t>sum.get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.scale(1 /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6" name="Rounded Rectangular Callout 5"/>
          <p:cNvSpPr/>
          <p:nvPr/>
        </p:nvSpPr>
        <p:spPr>
          <a:xfrm>
            <a:off x="1255362" y="3216921"/>
            <a:ext cx="7377194" cy="858410"/>
          </a:xfrm>
          <a:prstGeom prst="wedgeRoundRectCallout">
            <a:avLst>
              <a:gd name="adj1" fmla="val 8640"/>
              <a:gd name="adj2" fmla="val 201609"/>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4463511" y="5489213"/>
            <a:ext cx="340189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List into Stream</a:t>
            </a:r>
          </a:p>
        </p:txBody>
      </p:sp>
    </p:spTree>
    <p:extLst>
      <p:ext uri="{BB962C8B-B14F-4D97-AF65-F5344CB8AC3E}">
        <p14:creationId xmlns:p14="http://schemas.microsoft.com/office/powerpoint/2010/main" val="324036096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98</a:t>
            </a:fld>
            <a:endParaRPr lang="en-US"/>
          </a:p>
        </p:txBody>
      </p:sp>
      <p:sp>
        <p:nvSpPr>
          <p:cNvPr id="6" name="Text Box 122"/>
          <p:cNvSpPr txBox="1">
            <a:spLocks noChangeArrowheads="1"/>
          </p:cNvSpPr>
          <p:nvPr/>
        </p:nvSpPr>
        <p:spPr bwMode="auto">
          <a:xfrm>
            <a:off x="1208866" y="1769040"/>
            <a:ext cx="303480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err="1">
                <a:latin typeface="Arial" pitchFamily="34" charset="0"/>
                <a:cs typeface="Arial" pitchFamily="34" charset="0"/>
              </a:rPr>
              <a:t>stream.reduce</a:t>
            </a:r>
            <a:r>
              <a:rPr lang="en-US" sz="2800" dirty="0">
                <a:latin typeface="Arial" pitchFamily="34" charset="0"/>
                <a:cs typeface="Arial" pitchFamily="34" charset="0"/>
              </a:rPr>
              <a:t>(+):</a:t>
            </a:r>
          </a:p>
        </p:txBody>
      </p:sp>
      <p:sp>
        <p:nvSpPr>
          <p:cNvPr id="7" name="Text Box 122"/>
          <p:cNvSpPr txBox="1">
            <a:spLocks noChangeArrowheads="1"/>
          </p:cNvSpPr>
          <p:nvPr/>
        </p:nvSpPr>
        <p:spPr bwMode="auto">
          <a:xfrm>
            <a:off x="1883524" y="2578119"/>
            <a:ext cx="1157689" cy="523220"/>
          </a:xfrm>
          <a:prstGeom prst="rect">
            <a:avLst/>
          </a:prstGeom>
          <a:solidFill>
            <a:schemeClr val="bg1">
              <a:alpha val="89999"/>
            </a:schemeClr>
          </a:solidFill>
          <a:ln w="38100" algn="ctr">
            <a:solidFill>
              <a:schemeClr val="accent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 </a:t>
            </a:r>
            <a:r>
              <a:rPr lang="en-US" sz="2800" dirty="0">
                <a:latin typeface="Arial" pitchFamily="34" charset="0"/>
                <a:cs typeface="Arial" pitchFamily="34" charset="0"/>
                <a:sym typeface="Symbol"/>
              </a:rPr>
              <a:t> </a:t>
            </a:r>
            <a:r>
              <a:rPr lang="en-US" sz="2800" dirty="0">
                <a:latin typeface="cmsy10"/>
                <a:cs typeface="Arial" pitchFamily="34" charset="0"/>
                <a:sym typeface="Symbol"/>
              </a:rPr>
              <a:t>;</a:t>
            </a:r>
            <a:endParaRPr lang="en-US" sz="2800" dirty="0">
              <a:latin typeface="cmsy10"/>
              <a:cs typeface="Arial" pitchFamily="34" charset="0"/>
            </a:endParaRPr>
          </a:p>
        </p:txBody>
      </p:sp>
      <p:sp>
        <p:nvSpPr>
          <p:cNvPr id="8" name="Text Box 122"/>
          <p:cNvSpPr txBox="1">
            <a:spLocks noChangeArrowheads="1"/>
          </p:cNvSpPr>
          <p:nvPr/>
        </p:nvSpPr>
        <p:spPr bwMode="auto">
          <a:xfrm>
            <a:off x="2819516" y="3387198"/>
            <a:ext cx="1378904" cy="523220"/>
          </a:xfrm>
          <a:prstGeom prst="rect">
            <a:avLst/>
          </a:prstGeom>
          <a:solidFill>
            <a:schemeClr val="bg1">
              <a:alpha val="89999"/>
            </a:schemeClr>
          </a:solidFill>
          <a:ln w="38100" algn="ctr">
            <a:solidFill>
              <a:schemeClr val="accent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 </a:t>
            </a:r>
            <a:r>
              <a:rPr lang="en-US" sz="2800" dirty="0">
                <a:latin typeface="Arial" pitchFamily="34" charset="0"/>
                <a:cs typeface="Arial" pitchFamily="34" charset="0"/>
                <a:sym typeface="Symbol"/>
              </a:rPr>
              <a:t> </a:t>
            </a:r>
            <a:r>
              <a:rPr lang="en-US" sz="2800" dirty="0">
                <a:latin typeface="Arial" pitchFamily="34" charset="0"/>
                <a:cs typeface="Arial" pitchFamily="34" charset="0"/>
              </a:rPr>
              <a:t>a</a:t>
            </a:r>
            <a:endParaRPr lang="en-US" sz="2800" dirty="0">
              <a:latin typeface="cmsy10"/>
              <a:cs typeface="Arial" pitchFamily="34" charset="0"/>
            </a:endParaRPr>
          </a:p>
        </p:txBody>
      </p:sp>
      <p:sp>
        <p:nvSpPr>
          <p:cNvPr id="9" name="Text Box 122"/>
          <p:cNvSpPr txBox="1">
            <a:spLocks noChangeArrowheads="1"/>
          </p:cNvSpPr>
          <p:nvPr/>
        </p:nvSpPr>
        <p:spPr bwMode="auto">
          <a:xfrm>
            <a:off x="3634833" y="4196278"/>
            <a:ext cx="2089033" cy="523220"/>
          </a:xfrm>
          <a:prstGeom prst="rect">
            <a:avLst/>
          </a:prstGeom>
          <a:solidFill>
            <a:schemeClr val="bg1">
              <a:alpha val="89999"/>
            </a:schemeClr>
          </a:solidFill>
          <a:ln w="38100" algn="ctr">
            <a:solidFill>
              <a:schemeClr val="accent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t>
            </a:r>
            <a:r>
              <a:rPr lang="en-US" sz="2800" dirty="0" err="1">
                <a:latin typeface="Arial" pitchFamily="34" charset="0"/>
                <a:cs typeface="Arial" pitchFamily="34" charset="0"/>
              </a:rPr>
              <a:t>a,b</a:t>
            </a:r>
            <a:r>
              <a:rPr lang="en-US" sz="2800" dirty="0">
                <a:latin typeface="Arial" pitchFamily="34" charset="0"/>
                <a:cs typeface="Arial" pitchFamily="34" charset="0"/>
              </a:rPr>
              <a:t>) </a:t>
            </a:r>
            <a:r>
              <a:rPr lang="en-US" sz="2800" dirty="0">
                <a:latin typeface="Arial" pitchFamily="34" charset="0"/>
                <a:cs typeface="Arial" pitchFamily="34" charset="0"/>
                <a:sym typeface="Symbol"/>
              </a:rPr>
              <a:t> </a:t>
            </a:r>
            <a:r>
              <a:rPr lang="en-US" sz="2800" dirty="0" err="1">
                <a:latin typeface="Arial" pitchFamily="34" charset="0"/>
                <a:cs typeface="Arial" pitchFamily="34" charset="0"/>
              </a:rPr>
              <a:t>a+b</a:t>
            </a:r>
            <a:endParaRPr lang="en-US" sz="2800" dirty="0">
              <a:latin typeface="cmsy10"/>
              <a:cs typeface="Arial" pitchFamily="34" charset="0"/>
            </a:endParaRPr>
          </a:p>
        </p:txBody>
      </p:sp>
      <p:sp>
        <p:nvSpPr>
          <p:cNvPr id="10" name="Text Box 122"/>
          <p:cNvSpPr txBox="1">
            <a:spLocks noChangeArrowheads="1"/>
          </p:cNvSpPr>
          <p:nvPr/>
        </p:nvSpPr>
        <p:spPr bwMode="auto">
          <a:xfrm>
            <a:off x="4729043" y="5005358"/>
            <a:ext cx="2997937" cy="523220"/>
          </a:xfrm>
          <a:prstGeom prst="rect">
            <a:avLst/>
          </a:prstGeom>
          <a:solidFill>
            <a:schemeClr val="bg1">
              <a:alpha val="89999"/>
            </a:schemeClr>
          </a:solidFill>
          <a:ln w="38100" algn="ctr">
            <a:solidFill>
              <a:schemeClr val="accent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a:t>
            </a:r>
            <a:r>
              <a:rPr lang="en-US" sz="2800" dirty="0" err="1">
                <a:latin typeface="Arial" pitchFamily="34" charset="0"/>
                <a:cs typeface="Arial" pitchFamily="34" charset="0"/>
              </a:rPr>
              <a:t>a,b,c</a:t>
            </a:r>
            <a:r>
              <a:rPr lang="en-US" sz="2800" dirty="0">
                <a:latin typeface="Arial" pitchFamily="34" charset="0"/>
                <a:cs typeface="Arial" pitchFamily="34" charset="0"/>
              </a:rPr>
              <a:t>) </a:t>
            </a:r>
            <a:r>
              <a:rPr lang="en-US" sz="2800" dirty="0">
                <a:latin typeface="Arial" pitchFamily="34" charset="0"/>
                <a:cs typeface="Arial" pitchFamily="34" charset="0"/>
                <a:sym typeface="Symbol"/>
              </a:rPr>
              <a:t> (</a:t>
            </a:r>
            <a:r>
              <a:rPr lang="en-US" sz="2800" dirty="0" err="1">
                <a:latin typeface="Arial" pitchFamily="34" charset="0"/>
                <a:cs typeface="Arial" pitchFamily="34" charset="0"/>
              </a:rPr>
              <a:t>a+b</a:t>
            </a:r>
            <a:r>
              <a:rPr lang="en-US" sz="2800" dirty="0">
                <a:latin typeface="Arial" pitchFamily="34" charset="0"/>
                <a:cs typeface="Arial" pitchFamily="34" charset="0"/>
              </a:rPr>
              <a:t>)+c</a:t>
            </a:r>
            <a:endParaRPr lang="en-US" sz="2800" dirty="0">
              <a:latin typeface="cmsy10"/>
              <a:cs typeface="Arial" pitchFamily="34" charset="0"/>
            </a:endParaRPr>
          </a:p>
        </p:txBody>
      </p:sp>
      <p:sp>
        <p:nvSpPr>
          <p:cNvPr id="12" name="Text Box 122"/>
          <p:cNvSpPr txBox="1">
            <a:spLocks noChangeArrowheads="1"/>
          </p:cNvSpPr>
          <p:nvPr/>
        </p:nvSpPr>
        <p:spPr bwMode="auto">
          <a:xfrm>
            <a:off x="6569291" y="5845679"/>
            <a:ext cx="1221809" cy="523220"/>
          </a:xfrm>
          <a:prstGeom prst="rect">
            <a:avLst/>
          </a:prstGeom>
          <a:solidFill>
            <a:schemeClr val="bg1">
              <a:alpha val="89999"/>
            </a:schemeClr>
          </a:solidFill>
          <a:ln w="38100" algn="ctr">
            <a:solidFill>
              <a:schemeClr val="accent1"/>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etc. …</a:t>
            </a:r>
            <a:endParaRPr lang="en-US" sz="2800" dirty="0">
              <a:latin typeface="cmsy10"/>
              <a:cs typeface="Arial" pitchFamily="34" charset="0"/>
            </a:endParaRPr>
          </a:p>
        </p:txBody>
      </p:sp>
      <p:sp>
        <p:nvSpPr>
          <p:cNvPr id="13" name="Text Box 122"/>
          <p:cNvSpPr txBox="1">
            <a:spLocks noChangeArrowheads="1"/>
          </p:cNvSpPr>
          <p:nvPr/>
        </p:nvSpPr>
        <p:spPr bwMode="auto">
          <a:xfrm>
            <a:off x="928935" y="5845679"/>
            <a:ext cx="3066865"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terminal operation</a:t>
            </a:r>
            <a:endParaRPr lang="en-US" sz="2800" dirty="0">
              <a:latin typeface="cmsy10"/>
              <a:cs typeface="Arial" pitchFamily="34" charset="0"/>
            </a:endParaRPr>
          </a:p>
        </p:txBody>
      </p:sp>
    </p:spTree>
    <p:extLst>
      <p:ext uri="{BB962C8B-B14F-4D97-AF65-F5344CB8AC3E}">
        <p14:creationId xmlns:p14="http://schemas.microsoft.com/office/powerpoint/2010/main" val="12902203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2" grpId="0" animBg="1"/>
      <p:bldP spid="1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99</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Point barycenter(List&lt;Point&gt; cluster){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double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cluster.size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Optional&lt;Point&gt; sum </a:t>
            </a:r>
            <a:r>
              <a:rPr lang="en-US" sz="2800" dirty="0">
                <a:solidFill>
                  <a:schemeClr val="bg1">
                    <a:lumMod val="75000"/>
                  </a:schemeClr>
                </a:solidFill>
                <a:latin typeface="Courier New" charset="0"/>
                <a:cs typeface="Courier New" charset="0"/>
              </a:rPr>
              <a:t>= cluster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.reduce(Point::plus);</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return </a:t>
            </a:r>
            <a:r>
              <a:rPr lang="en-US" sz="2800" dirty="0" err="1">
                <a:solidFill>
                  <a:schemeClr val="bg1">
                    <a:lumMod val="75000"/>
                  </a:schemeClr>
                </a:solidFill>
                <a:latin typeface="Courier New" charset="0"/>
                <a:cs typeface="Courier New" charset="0"/>
              </a:rPr>
              <a:t>sum.get</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.scale(1 /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p>
        </p:txBody>
      </p:sp>
      <p:sp>
        <p:nvSpPr>
          <p:cNvPr id="6" name="Rounded Rectangular Callout 5"/>
          <p:cNvSpPr/>
          <p:nvPr/>
        </p:nvSpPr>
        <p:spPr>
          <a:xfrm>
            <a:off x="2882685" y="3665810"/>
            <a:ext cx="4618496" cy="828697"/>
          </a:xfrm>
          <a:prstGeom prst="wedgeRoundRectCallout">
            <a:avLst>
              <a:gd name="adj1" fmla="val -34340"/>
              <a:gd name="adj2" fmla="val 113478"/>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840596" y="5130181"/>
            <a:ext cx="346280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sum points in cluster</a:t>
            </a:r>
          </a:p>
        </p:txBody>
      </p:sp>
      <p:sp>
        <p:nvSpPr>
          <p:cNvPr id="9" name="Rounded Rectangular Callout 8"/>
          <p:cNvSpPr/>
          <p:nvPr/>
        </p:nvSpPr>
        <p:spPr>
          <a:xfrm>
            <a:off x="1252780" y="3002427"/>
            <a:ext cx="4202623" cy="663383"/>
          </a:xfrm>
          <a:prstGeom prst="wedgeRoundRectCallout">
            <a:avLst>
              <a:gd name="adj1" fmla="val -33234"/>
              <a:gd name="adj2" fmla="val -117811"/>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1261592" y="1847029"/>
            <a:ext cx="642195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Optional because sum might be empty!</a:t>
            </a:r>
          </a:p>
        </p:txBody>
      </p:sp>
    </p:spTree>
    <p:extLst>
      <p:ext uri="{BB962C8B-B14F-4D97-AF65-F5344CB8AC3E}">
        <p14:creationId xmlns:p14="http://schemas.microsoft.com/office/powerpoint/2010/main" val="2472917783"/>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100</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Point barycenter(List&lt;Point&gt; cluster){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double </a:t>
            </a:r>
            <a:r>
              <a:rPr lang="en-US" sz="2800" dirty="0" err="1">
                <a:solidFill>
                  <a:schemeClr val="bg1">
                    <a:lumMod val="75000"/>
                  </a:schemeClr>
                </a:solidFill>
                <a:latin typeface="Courier New" charset="0"/>
                <a:cs typeface="Courier New" charset="0"/>
              </a:rPr>
              <a:t>numPoints</a:t>
            </a:r>
            <a:r>
              <a:rPr lang="en-US" sz="2800" dirty="0">
                <a:solidFill>
                  <a:schemeClr val="bg1">
                    <a:lumMod val="75000"/>
                  </a:schemeClr>
                </a:solidFill>
                <a:latin typeface="Courier New" charset="0"/>
                <a:cs typeface="Courier New" charset="0"/>
              </a:rPr>
              <a:t> = </a:t>
            </a:r>
            <a:r>
              <a:rPr lang="en-US" sz="2800" dirty="0" err="1">
                <a:solidFill>
                  <a:schemeClr val="bg1">
                    <a:lumMod val="75000"/>
                  </a:schemeClr>
                </a:solidFill>
                <a:latin typeface="Courier New" charset="0"/>
                <a:cs typeface="Courier New" charset="0"/>
              </a:rPr>
              <a:t>cluster.size</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Optional&lt;Point&gt; sum = cluster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.stream()</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.reduce(Point::plus);</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return</a:t>
            </a:r>
            <a:r>
              <a:rPr lang="en-US" sz="2800" dirty="0">
                <a:latin typeface="Courier New" charset="0"/>
                <a:cs typeface="Courier New" charset="0"/>
              </a:rPr>
              <a:t> </a:t>
            </a:r>
            <a:r>
              <a:rPr lang="en-US" sz="2800" dirty="0" err="1">
                <a:latin typeface="Courier New" charset="0"/>
                <a:cs typeface="Courier New" charset="0"/>
              </a:rPr>
              <a:t>sum.get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.scale(1 / </a:t>
            </a:r>
            <a:r>
              <a:rPr lang="en-US" sz="2800" dirty="0" err="1">
                <a:latin typeface="Courier New" charset="0"/>
                <a:cs typeface="Courier New" charset="0"/>
              </a:rPr>
              <a:t>numPoints</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 }</a:t>
            </a:r>
          </a:p>
        </p:txBody>
      </p:sp>
      <p:sp>
        <p:nvSpPr>
          <p:cNvPr id="6" name="Rounded Rectangular Callout 5"/>
          <p:cNvSpPr/>
          <p:nvPr/>
        </p:nvSpPr>
        <p:spPr>
          <a:xfrm>
            <a:off x="1131375" y="4404819"/>
            <a:ext cx="7377194" cy="1084393"/>
          </a:xfrm>
          <a:prstGeom prst="wedgeRoundRectCallout">
            <a:avLst>
              <a:gd name="adj1" fmla="val 9060"/>
              <a:gd name="adj2" fmla="val -164270"/>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1418079" y="2400336"/>
            <a:ext cx="562205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extract sum and divide by # points</a:t>
            </a:r>
          </a:p>
        </p:txBody>
      </p:sp>
    </p:spTree>
    <p:extLst>
      <p:ext uri="{BB962C8B-B14F-4D97-AF65-F5344CB8AC3E}">
        <p14:creationId xmlns:p14="http://schemas.microsoft.com/office/powerpoint/2010/main" val="153635102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101</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List&lt;Point&gt; points =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readFile</a:t>
            </a:r>
            <a:r>
              <a:rPr lang="en-US" sz="2800" dirty="0">
                <a:latin typeface="Courier New" charset="0"/>
                <a:cs typeface="Courier New" charset="0"/>
              </a:rPr>
              <a:t>(</a:t>
            </a:r>
            <a:r>
              <a:rPr lang="en-US" sz="2800" dirty="0">
                <a:solidFill>
                  <a:schemeClr val="accent1"/>
                </a:solidFill>
                <a:latin typeface="Courier New" charset="0"/>
                <a:cs typeface="Courier New" charset="0"/>
              </a:rPr>
              <a:t>"cluster.dat"</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centers =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randomDistinctCenters</a:t>
            </a:r>
            <a:r>
              <a:rPr lang="en-US" sz="2800" dirty="0">
                <a:latin typeface="Courier New" charset="0"/>
                <a:cs typeface="Courier New" charset="0"/>
              </a:rPr>
              <a:t>(points);</a:t>
            </a:r>
          </a:p>
          <a:p>
            <a:pPr algn="l" eaLnBrk="1" hangingPunct="1">
              <a:lnSpc>
                <a:spcPct val="70000"/>
              </a:lnSpc>
              <a:spcBef>
                <a:spcPct val="30000"/>
              </a:spcBef>
            </a:pPr>
            <a:r>
              <a:rPr lang="en-US" sz="2800" dirty="0">
                <a:solidFill>
                  <a:schemeClr val="tx1"/>
                </a:solidFill>
                <a:latin typeface="Courier New" charset="0"/>
                <a:cs typeface="Courier New" charset="0"/>
              </a:rPr>
              <a:t>double</a:t>
            </a:r>
            <a:r>
              <a:rPr lang="en-US" sz="2800" dirty="0">
                <a:latin typeface="Courier New" charset="0"/>
                <a:cs typeface="Courier New" charset="0"/>
              </a:rPr>
              <a:t> convergence = 1.0;</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while</a:t>
            </a:r>
            <a:r>
              <a:rPr lang="en-US" sz="2800" dirty="0">
                <a:latin typeface="Courier New" charset="0"/>
                <a:cs typeface="Courier New" charset="0"/>
              </a:rPr>
              <a:t> (convergence &gt; EPSILON) {</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p:txBody>
      </p:sp>
    </p:spTree>
    <p:extLst>
      <p:ext uri="{BB962C8B-B14F-4D97-AF65-F5344CB8AC3E}">
        <p14:creationId xmlns:p14="http://schemas.microsoft.com/office/powerpoint/2010/main" val="3790207101"/>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102</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latin typeface="Courier New" charset="0"/>
                <a:cs typeface="Courier New" charset="0"/>
              </a:rPr>
              <a:t>List&lt;Point&gt; points =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readFile</a:t>
            </a:r>
            <a:r>
              <a:rPr lang="en-US" sz="2800" dirty="0">
                <a:latin typeface="Courier New" charset="0"/>
                <a:cs typeface="Courier New" charset="0"/>
              </a:rPr>
              <a:t>(</a:t>
            </a:r>
            <a:r>
              <a:rPr lang="en-US" sz="2800" dirty="0">
                <a:solidFill>
                  <a:schemeClr val="accent1"/>
                </a:solidFill>
                <a:latin typeface="Courier New" charset="0"/>
                <a:cs typeface="Courier New" charset="0"/>
              </a:rPr>
              <a:t>"cluster.dat"</a:t>
            </a:r>
            <a:r>
              <a:rPr lang="en-US" sz="2800" dirty="0">
                <a:latin typeface="Courier New" charset="0"/>
                <a:cs typeface="Courier New" charset="0"/>
              </a:rPr>
              <a:t>);</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centers =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randomDistinctCenters</a:t>
            </a:r>
            <a:r>
              <a:rPr lang="en-US" sz="2800" dirty="0">
                <a:solidFill>
                  <a:schemeClr val="bg1">
                    <a:lumMod val="85000"/>
                  </a:schemeClr>
                </a:solidFill>
                <a:latin typeface="Courier New" charset="0"/>
                <a:cs typeface="Courier New" charset="0"/>
              </a:rPr>
              <a:t>(points);</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double convergence = 1.0;</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while (convergence &gt; EPSILON)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p>
        </p:txBody>
      </p:sp>
      <p:sp>
        <p:nvSpPr>
          <p:cNvPr id="9" name="Rounded Rectangular Callout 8"/>
          <p:cNvSpPr/>
          <p:nvPr/>
        </p:nvSpPr>
        <p:spPr>
          <a:xfrm>
            <a:off x="154983" y="2146495"/>
            <a:ext cx="6044339" cy="1084393"/>
          </a:xfrm>
          <a:prstGeom prst="wedgeRoundRectCallout">
            <a:avLst>
              <a:gd name="adj1" fmla="val 10598"/>
              <a:gd name="adj2" fmla="val 15587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2177498" y="4511298"/>
            <a:ext cx="334418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read points from file</a:t>
            </a:r>
          </a:p>
        </p:txBody>
      </p:sp>
    </p:spTree>
    <p:extLst>
      <p:ext uri="{BB962C8B-B14F-4D97-AF65-F5344CB8AC3E}">
        <p14:creationId xmlns:p14="http://schemas.microsoft.com/office/powerpoint/2010/main" val="2038475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103</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List&lt;Point&gt; points =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readFile</a:t>
            </a:r>
            <a:r>
              <a:rPr lang="en-US" sz="2800" dirty="0">
                <a:solidFill>
                  <a:schemeClr val="bg1">
                    <a:lumMod val="85000"/>
                  </a:schemeClr>
                </a:solidFill>
                <a:latin typeface="Courier New" charset="0"/>
                <a:cs typeface="Courier New" charset="0"/>
              </a:rPr>
              <a:t>("cluster.dat");</a:t>
            </a:r>
          </a:p>
          <a:p>
            <a:pPr algn="l" eaLnBrk="1" hangingPunct="1">
              <a:lnSpc>
                <a:spcPct val="70000"/>
              </a:lnSpc>
              <a:spcBef>
                <a:spcPct val="30000"/>
              </a:spcBef>
            </a:pPr>
            <a:r>
              <a:rPr lang="en-US" sz="2800" dirty="0">
                <a:latin typeface="Courier New" charset="0"/>
                <a:cs typeface="Courier New" charset="0"/>
              </a:rPr>
              <a:t>centers = </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randomDistinctCenters</a:t>
            </a:r>
            <a:r>
              <a:rPr lang="en-US" sz="2800" dirty="0">
                <a:latin typeface="Courier New" charset="0"/>
                <a:cs typeface="Courier New" charset="0"/>
              </a:rPr>
              <a:t>(points);</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double convergence = 1.0;</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while (convergence &gt; EPSILON) {</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p:txBody>
      </p:sp>
      <p:sp>
        <p:nvSpPr>
          <p:cNvPr id="9" name="Rounded Rectangular Callout 8"/>
          <p:cNvSpPr/>
          <p:nvPr/>
        </p:nvSpPr>
        <p:spPr>
          <a:xfrm>
            <a:off x="263471" y="3181030"/>
            <a:ext cx="7098224" cy="1084393"/>
          </a:xfrm>
          <a:prstGeom prst="wedgeRoundRectCallout">
            <a:avLst>
              <a:gd name="adj1" fmla="val 10598"/>
              <a:gd name="adj2" fmla="val 155874"/>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2239492" y="5518803"/>
            <a:ext cx="342433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pick random centers</a:t>
            </a:r>
          </a:p>
        </p:txBody>
      </p:sp>
    </p:spTree>
    <p:extLst>
      <p:ext uri="{BB962C8B-B14F-4D97-AF65-F5344CB8AC3E}">
        <p14:creationId xmlns:p14="http://schemas.microsoft.com/office/powerpoint/2010/main" val="2245616012"/>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104</a:t>
            </a:fld>
            <a:endParaRPr lang="en-US"/>
          </a:p>
        </p:txBody>
      </p:sp>
      <p:sp>
        <p:nvSpPr>
          <p:cNvPr id="7" name="Text Box 3"/>
          <p:cNvSpPr txBox="1">
            <a:spLocks noChangeArrowheads="1"/>
          </p:cNvSpPr>
          <p:nvPr/>
        </p:nvSpPr>
        <p:spPr bwMode="auto">
          <a:xfrm>
            <a:off x="386557" y="2370249"/>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List&lt;Point&gt; points =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readFile</a:t>
            </a:r>
            <a:r>
              <a:rPr lang="en-US" sz="2800" dirty="0">
                <a:solidFill>
                  <a:schemeClr val="bg1">
                    <a:lumMod val="85000"/>
                  </a:schemeClr>
                </a:solidFill>
                <a:latin typeface="Courier New" charset="0"/>
                <a:cs typeface="Courier New" charset="0"/>
              </a:rPr>
              <a:t>("cluster.dat");</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centers =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randomDistinctCenters</a:t>
            </a:r>
            <a:r>
              <a:rPr lang="en-US" sz="2800" dirty="0">
                <a:solidFill>
                  <a:schemeClr val="bg1">
                    <a:lumMod val="85000"/>
                  </a:schemeClr>
                </a:solidFill>
                <a:latin typeface="Courier New" charset="0"/>
                <a:cs typeface="Courier New" charset="0"/>
              </a:rPr>
              <a:t>(points);</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double convergence = 1.0;</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tx1"/>
                </a:solidFill>
                <a:latin typeface="Courier New" charset="0"/>
                <a:cs typeface="Courier New" charset="0"/>
              </a:rPr>
              <a:t>while</a:t>
            </a:r>
            <a:r>
              <a:rPr lang="en-US" sz="2800" dirty="0">
                <a:latin typeface="Courier New" charset="0"/>
                <a:cs typeface="Courier New" charset="0"/>
              </a:rPr>
              <a:t> (convergence &gt; EPSILON) {</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latin typeface="Courier New" charset="0"/>
                <a:cs typeface="Courier New" charset="0"/>
              </a:rPr>
              <a:t>  }</a:t>
            </a:r>
          </a:p>
        </p:txBody>
      </p:sp>
      <p:sp>
        <p:nvSpPr>
          <p:cNvPr id="9" name="Rounded Rectangular Callout 8"/>
          <p:cNvSpPr/>
          <p:nvPr/>
        </p:nvSpPr>
        <p:spPr>
          <a:xfrm>
            <a:off x="402547" y="4434410"/>
            <a:ext cx="7098224" cy="1084393"/>
          </a:xfrm>
          <a:prstGeom prst="wedgeRoundRectCallout">
            <a:avLst>
              <a:gd name="adj1" fmla="val 32869"/>
              <a:gd name="adj2" fmla="val -112818"/>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0" name="Text Box 122"/>
          <p:cNvSpPr txBox="1">
            <a:spLocks noChangeArrowheads="1"/>
          </p:cNvSpPr>
          <p:nvPr/>
        </p:nvSpPr>
        <p:spPr bwMode="auto">
          <a:xfrm>
            <a:off x="2890633" y="3102472"/>
            <a:ext cx="5665333"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keep going until centers are stable</a:t>
            </a:r>
          </a:p>
        </p:txBody>
      </p:sp>
    </p:spTree>
    <p:extLst>
      <p:ext uri="{BB962C8B-B14F-4D97-AF65-F5344CB8AC3E}">
        <p14:creationId xmlns:p14="http://schemas.microsoft.com/office/powerpoint/2010/main" val="224455057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New Clusters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105</a:t>
            </a:fld>
            <a:endParaRPr lang="en-US"/>
          </a:p>
        </p:txBody>
      </p:sp>
      <p:sp>
        <p:nvSpPr>
          <p:cNvPr id="7" name="Text Box 3"/>
          <p:cNvSpPr txBox="1">
            <a:spLocks noChangeArrowheads="1"/>
          </p:cNvSpPr>
          <p:nvPr/>
        </p:nvSpPr>
        <p:spPr bwMode="auto">
          <a:xfrm>
            <a:off x="386556" y="2029286"/>
            <a:ext cx="8370887"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Map&lt;</a:t>
            </a:r>
            <a:r>
              <a:rPr lang="en-US" sz="2800" dirty="0" err="1">
                <a:solidFill>
                  <a:schemeClr val="bg1">
                    <a:lumMod val="85000"/>
                  </a:schemeClr>
                </a:solidFill>
                <a:latin typeface="Courier New" charset="0"/>
                <a:cs typeface="Courier New" charset="0"/>
              </a:rPr>
              <a:t>Integer,List</a:t>
            </a:r>
            <a:r>
              <a:rPr lang="en-US" sz="2800" dirty="0">
                <a:solidFill>
                  <a:schemeClr val="bg1">
                    <a:lumMod val="85000"/>
                  </a:schemeClr>
                </a:solidFill>
                <a:latin typeface="Courier New" charset="0"/>
                <a:cs typeface="Courier New" charset="0"/>
              </a:rPr>
              <a:t>&lt;Point&gt;&gt; clusters</a:t>
            </a:r>
          </a:p>
          <a:p>
            <a:pPr algn="l" eaLnBrk="1" hangingPunct="1">
              <a:lnSpc>
                <a:spcPct val="70000"/>
              </a:lnSpc>
              <a:spcBef>
                <a:spcPct val="30000"/>
              </a:spcBef>
            </a:pPr>
            <a:r>
              <a:rPr lang="en-US" sz="2800" dirty="0">
                <a:latin typeface="Courier New" charset="0"/>
                <a:cs typeface="Courier New" charset="0"/>
              </a:rPr>
              <a:t>    = points</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85000"/>
                  </a:schemeClr>
                </a:solidFill>
                <a:latin typeface="Courier New" charset="0"/>
                <a:cs typeface="Courier New" charset="0"/>
              </a:rPr>
              <a:t>.collect(</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Collectors.groupingBy</a:t>
            </a:r>
            <a:r>
              <a:rPr lang="en-US" sz="28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p -&gt;</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closestCenter</a:t>
            </a:r>
            <a:r>
              <a:rPr lang="en-US" sz="2800" dirty="0">
                <a:solidFill>
                  <a:schemeClr val="bg1">
                    <a:lumMod val="85000"/>
                  </a:schemeClr>
                </a:solidFill>
                <a:latin typeface="Courier New" charset="0"/>
                <a:cs typeface="Courier New" charset="0"/>
              </a:rPr>
              <a:t>(centers, p)</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a:t>
            </a:r>
          </a:p>
        </p:txBody>
      </p:sp>
      <p:sp>
        <p:nvSpPr>
          <p:cNvPr id="8" name="Rounded Rectangular Callout 7"/>
          <p:cNvSpPr/>
          <p:nvPr/>
        </p:nvSpPr>
        <p:spPr>
          <a:xfrm>
            <a:off x="890946" y="2918190"/>
            <a:ext cx="2921637" cy="832400"/>
          </a:xfrm>
          <a:prstGeom prst="wedgeRoundRectCallout">
            <a:avLst>
              <a:gd name="adj1" fmla="val 33290"/>
              <a:gd name="adj2" fmla="val 1701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1" name="Text Box 122"/>
          <p:cNvSpPr txBox="1">
            <a:spLocks noChangeArrowheads="1"/>
          </p:cNvSpPr>
          <p:nvPr/>
        </p:nvSpPr>
        <p:spPr bwMode="auto">
          <a:xfrm>
            <a:off x="2045506" y="4863500"/>
            <a:ext cx="504016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list of points into a Stream</a:t>
            </a:r>
          </a:p>
        </p:txBody>
      </p:sp>
    </p:spTree>
    <p:extLst>
      <p:ext uri="{BB962C8B-B14F-4D97-AF65-F5344CB8AC3E}">
        <p14:creationId xmlns:p14="http://schemas.microsoft.com/office/powerpoint/2010/main" val="3907641863"/>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Compute New Clusters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106</a:t>
            </a:fld>
            <a:endParaRPr lang="en-US"/>
          </a:p>
        </p:txBody>
      </p:sp>
      <p:sp>
        <p:nvSpPr>
          <p:cNvPr id="7" name="Text Box 3"/>
          <p:cNvSpPr txBox="1">
            <a:spLocks noChangeArrowheads="1"/>
          </p:cNvSpPr>
          <p:nvPr/>
        </p:nvSpPr>
        <p:spPr bwMode="auto">
          <a:xfrm>
            <a:off x="386556" y="2029286"/>
            <a:ext cx="8370887" cy="4702826"/>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Map&lt;</a:t>
            </a:r>
            <a:r>
              <a:rPr lang="en-US" sz="2800" dirty="0" err="1">
                <a:solidFill>
                  <a:schemeClr val="bg1">
                    <a:lumMod val="85000"/>
                  </a:schemeClr>
                </a:solidFill>
                <a:latin typeface="Courier New" charset="0"/>
                <a:cs typeface="Courier New" charset="0"/>
              </a:rPr>
              <a:t>Integer,List</a:t>
            </a:r>
            <a:r>
              <a:rPr lang="en-US" sz="2800" dirty="0">
                <a:solidFill>
                  <a:schemeClr val="bg1">
                    <a:lumMod val="85000"/>
                  </a:schemeClr>
                </a:solidFill>
                <a:latin typeface="Courier New" charset="0"/>
                <a:cs typeface="Courier New" charset="0"/>
              </a:rPr>
              <a:t>&lt;Point&gt;&gt; clusters</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 points</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.collect(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Collectors.groupingBy</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p -&gt;</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closestCenter</a:t>
            </a:r>
            <a:r>
              <a:rPr lang="en-US" sz="2800" dirty="0">
                <a:latin typeface="Courier New" charset="0"/>
                <a:cs typeface="Courier New" charset="0"/>
              </a:rPr>
              <a:t>(centers, p)</a:t>
            </a:r>
          </a:p>
          <a:p>
            <a:pPr algn="l" eaLnBrk="1" hangingPunct="1">
              <a:lnSpc>
                <a:spcPct val="70000"/>
              </a:lnSpc>
              <a:spcBef>
                <a:spcPct val="30000"/>
              </a:spcBef>
            </a:pPr>
            <a:r>
              <a:rPr lang="en-US" sz="2800" dirty="0">
                <a:latin typeface="Courier New" charset="0"/>
                <a:cs typeface="Courier New" charset="0"/>
              </a:rPr>
              <a:t>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a:t>
            </a:r>
          </a:p>
        </p:txBody>
      </p:sp>
      <p:sp>
        <p:nvSpPr>
          <p:cNvPr id="6" name="Rounded Rectangular Callout 5"/>
          <p:cNvSpPr/>
          <p:nvPr/>
        </p:nvSpPr>
        <p:spPr>
          <a:xfrm>
            <a:off x="1421595" y="3750589"/>
            <a:ext cx="6653022" cy="1890793"/>
          </a:xfrm>
          <a:prstGeom prst="wedgeRoundRectCallout">
            <a:avLst>
              <a:gd name="adj1" fmla="val 32358"/>
              <a:gd name="adj2" fmla="val -83112"/>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882414" y="1624354"/>
            <a:ext cx="6401111" cy="1384995"/>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put each point in a map</a:t>
            </a:r>
          </a:p>
          <a:p>
            <a:pPr lvl="1" algn="l"/>
            <a:r>
              <a:rPr lang="en-US" sz="2800" dirty="0">
                <a:latin typeface="Arial" pitchFamily="34" charset="0"/>
                <a:cs typeface="Arial" pitchFamily="34" charset="0"/>
              </a:rPr>
              <a:t>key is closest center</a:t>
            </a:r>
          </a:p>
          <a:p>
            <a:pPr lvl="1" algn="l"/>
            <a:r>
              <a:rPr lang="en-US" sz="2800" dirty="0">
                <a:latin typeface="Arial" pitchFamily="34" charset="0"/>
                <a:cs typeface="Arial" pitchFamily="34" charset="0"/>
              </a:rPr>
              <a:t>value is list of points with that center</a:t>
            </a:r>
          </a:p>
        </p:txBody>
      </p:sp>
    </p:spTree>
    <p:extLst>
      <p:ext uri="{BB962C8B-B14F-4D97-AF65-F5344CB8AC3E}">
        <p14:creationId xmlns:p14="http://schemas.microsoft.com/office/powerpoint/2010/main" val="1793649268"/>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107</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tx1"/>
                </a:solidFill>
                <a:latin typeface="Courier New" charset="0"/>
                <a:cs typeface="Courier New" charset="0"/>
              </a:rPr>
              <a:t>while </a:t>
            </a:r>
            <a:r>
              <a:rPr lang="en-US" sz="2400" dirty="0">
                <a:latin typeface="Courier New" charset="0"/>
                <a:cs typeface="Courier New" charset="0"/>
              </a:rPr>
              <a:t>(convergence &gt; EPSILON) {</a:t>
            </a:r>
          </a:p>
          <a:p>
            <a:pPr algn="l" eaLnBrk="1" hangingPunct="1">
              <a:lnSpc>
                <a:spcPct val="70000"/>
              </a:lnSpc>
              <a:spcBef>
                <a:spcPct val="30000"/>
              </a:spcBef>
            </a:pPr>
            <a:r>
              <a:rPr lang="en-US" sz="2400" dirty="0">
                <a:latin typeface="Courier New" charset="0"/>
                <a:cs typeface="Courier New" charset="0"/>
              </a:rPr>
              <a:t>  ...</a:t>
            </a:r>
          </a:p>
          <a:p>
            <a:pPr algn="l" eaLnBrk="1" hangingPunct="1">
              <a:lnSpc>
                <a:spcPct val="70000"/>
              </a:lnSpc>
              <a:spcBef>
                <a:spcPct val="30000"/>
              </a:spcBef>
            </a:pPr>
            <a:r>
              <a:rPr lang="en-US" sz="2400" dirty="0">
                <a:latin typeface="Courier New" charset="0"/>
                <a:cs typeface="Courier New" charset="0"/>
              </a:rPr>
              <a:t>  Map&lt;Integer, Point&gt; </a:t>
            </a:r>
            <a:r>
              <a:rPr lang="en-US" sz="2400" dirty="0" err="1">
                <a:latin typeface="Courier New" charset="0"/>
                <a:cs typeface="Courier New" charset="0"/>
              </a:rPr>
              <a:t>newCenters</a:t>
            </a:r>
            <a:endParaRPr lang="en-US" sz="2400" dirty="0">
              <a:latin typeface="Courier New" charset="0"/>
              <a:cs typeface="Courier New" charset="0"/>
            </a:endParaRP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 clusters</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entrySet</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.collect(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Collectors.toMap</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e.getKey</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Point.barycenter</a:t>
            </a:r>
            <a:r>
              <a:rPr lang="en-US" sz="2400" dirty="0">
                <a:solidFill>
                  <a:schemeClr val="bg1">
                    <a:lumMod val="85000"/>
                  </a:schemeClr>
                </a:solidFill>
                <a:latin typeface="Courier New" charset="0"/>
                <a:cs typeface="Courier New" charset="0"/>
              </a:rPr>
              <a:t>(</a:t>
            </a:r>
            <a:r>
              <a:rPr lang="en-US" sz="2400" dirty="0" err="1">
                <a:solidFill>
                  <a:schemeClr val="bg1">
                    <a:lumMod val="85000"/>
                  </a:schemeClr>
                </a:solidFill>
                <a:latin typeface="Courier New" charset="0"/>
                <a:cs typeface="Courier New" charset="0"/>
              </a:rPr>
              <a:t>e.getValue</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convergence = distance(centers,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centers =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a:t>
            </a:r>
          </a:p>
        </p:txBody>
      </p:sp>
      <p:sp>
        <p:nvSpPr>
          <p:cNvPr id="6" name="Rounded Rectangular Callout 5"/>
          <p:cNvSpPr/>
          <p:nvPr/>
        </p:nvSpPr>
        <p:spPr>
          <a:xfrm>
            <a:off x="480448" y="1228875"/>
            <a:ext cx="5842862" cy="584427"/>
          </a:xfrm>
          <a:prstGeom prst="wedgeRoundRectCallout">
            <a:avLst>
              <a:gd name="adj1" fmla="val 31964"/>
              <a:gd name="adj2" fmla="val 1701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770064" y="2718434"/>
            <a:ext cx="3603872"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compute new centers</a:t>
            </a:r>
          </a:p>
          <a:p>
            <a:pPr algn="l"/>
            <a:r>
              <a:rPr lang="en-US" sz="2800" dirty="0">
                <a:latin typeface="Arial" pitchFamily="34" charset="0"/>
                <a:cs typeface="Arial" pitchFamily="34" charset="0"/>
              </a:rPr>
              <a:t>  map: ID </a:t>
            </a:r>
            <a:r>
              <a:rPr lang="en-US" sz="2800" dirty="0">
                <a:latin typeface="Arial" pitchFamily="34" charset="0"/>
                <a:cs typeface="Arial" pitchFamily="34" charset="0"/>
                <a:sym typeface="Symbol"/>
              </a:rPr>
              <a:t> center</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14115027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108</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Map&lt;Integer, Point&gt; </a:t>
            </a:r>
            <a:r>
              <a:rPr lang="en-US" sz="2400" dirty="0" err="1">
                <a:solidFill>
                  <a:schemeClr val="bg1">
                    <a:lumMod val="85000"/>
                  </a:schemeClr>
                </a:solidFill>
                <a:latin typeface="Courier New" charset="0"/>
                <a:cs typeface="Courier New" charset="0"/>
              </a:rPr>
              <a:t>newCenters</a:t>
            </a:r>
            <a:endParaRPr lang="en-US" sz="2400" dirty="0">
              <a:solidFill>
                <a:schemeClr val="bg1">
                  <a:lumMod val="85000"/>
                </a:schemeClr>
              </a:solidFill>
              <a:latin typeface="Courier New" charset="0"/>
              <a:cs typeface="Courier New" charset="0"/>
            </a:endParaRPr>
          </a:p>
          <a:p>
            <a:pPr algn="l" eaLnBrk="1" hangingPunct="1">
              <a:lnSpc>
                <a:spcPct val="70000"/>
              </a:lnSpc>
              <a:spcBef>
                <a:spcPct val="30000"/>
              </a:spcBef>
            </a:pPr>
            <a:r>
              <a:rPr lang="en-US" sz="2400" dirty="0">
                <a:latin typeface="Courier New" charset="0"/>
                <a:cs typeface="Courier New" charset="0"/>
              </a:rPr>
              <a:t>   = clusters</a:t>
            </a:r>
          </a:p>
          <a:p>
            <a:pPr algn="l" eaLnBrk="1" hangingPunct="1">
              <a:lnSpc>
                <a:spcPct val="70000"/>
              </a:lnSpc>
              <a:spcBef>
                <a:spcPct val="30000"/>
              </a:spcBef>
            </a:pPr>
            <a:r>
              <a:rPr lang="en-US" sz="2400" dirty="0">
                <a:latin typeface="Courier New" charset="0"/>
                <a:cs typeface="Courier New" charset="0"/>
              </a:rPr>
              <a:t>    .</a:t>
            </a:r>
            <a:r>
              <a:rPr lang="en-US" sz="2400" dirty="0" err="1">
                <a:latin typeface="Courier New" charset="0"/>
                <a:cs typeface="Courier New" charset="0"/>
              </a:rPr>
              <a:t>entrySet</a:t>
            </a:r>
            <a:r>
              <a:rPr lang="en-US" sz="2400" dirty="0">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    .stream()</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.collect(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Collectors.toMap</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e.getKey</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Point.barycenter</a:t>
            </a:r>
            <a:r>
              <a:rPr lang="en-US" sz="2400" dirty="0">
                <a:solidFill>
                  <a:schemeClr val="bg1">
                    <a:lumMod val="85000"/>
                  </a:schemeClr>
                </a:solidFill>
                <a:latin typeface="Courier New" charset="0"/>
                <a:cs typeface="Courier New" charset="0"/>
              </a:rPr>
              <a:t>(</a:t>
            </a:r>
            <a:r>
              <a:rPr lang="en-US" sz="2400" dirty="0" err="1">
                <a:solidFill>
                  <a:schemeClr val="bg1">
                    <a:lumMod val="85000"/>
                  </a:schemeClr>
                </a:solidFill>
                <a:latin typeface="Courier New" charset="0"/>
                <a:cs typeface="Courier New" charset="0"/>
              </a:rPr>
              <a:t>e.getValue</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convergence = distance(centers,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centers =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a:t>
            </a:r>
          </a:p>
        </p:txBody>
      </p:sp>
      <p:sp>
        <p:nvSpPr>
          <p:cNvPr id="6" name="Rounded Rectangular Callout 5"/>
          <p:cNvSpPr/>
          <p:nvPr/>
        </p:nvSpPr>
        <p:spPr>
          <a:xfrm>
            <a:off x="531074" y="1813302"/>
            <a:ext cx="3173021" cy="1038386"/>
          </a:xfrm>
          <a:prstGeom prst="wedgeRoundRectCallout">
            <a:avLst>
              <a:gd name="adj1" fmla="val 31964"/>
              <a:gd name="adj2" fmla="val 1701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117583" y="4035790"/>
            <a:ext cx="4341253"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map into a Stream of </a:t>
            </a:r>
          </a:p>
          <a:p>
            <a:pPr lvl="1" algn="l"/>
            <a:r>
              <a:rPr lang="en-US" sz="2800" dirty="0">
                <a:latin typeface="Arial" pitchFamily="34" charset="0"/>
                <a:cs typeface="Arial" pitchFamily="34" charset="0"/>
              </a:rPr>
              <a:t>(ID, point) pairs</a:t>
            </a:r>
          </a:p>
        </p:txBody>
      </p:sp>
    </p:spTree>
    <p:extLst>
      <p:ext uri="{BB962C8B-B14F-4D97-AF65-F5344CB8AC3E}">
        <p14:creationId xmlns:p14="http://schemas.microsoft.com/office/powerpoint/2010/main" val="303728795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109</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Map&lt;Integer, Point&gt; </a:t>
            </a:r>
            <a:r>
              <a:rPr lang="en-US" sz="2400" dirty="0" err="1">
                <a:solidFill>
                  <a:schemeClr val="bg1">
                    <a:lumMod val="85000"/>
                  </a:schemeClr>
                </a:solidFill>
                <a:latin typeface="Courier New" charset="0"/>
                <a:cs typeface="Courier New" charset="0"/>
              </a:rPr>
              <a:t>newCenters</a:t>
            </a:r>
            <a:endParaRPr lang="en-US" sz="2400" dirty="0">
              <a:solidFill>
                <a:schemeClr val="bg1">
                  <a:lumMod val="85000"/>
                </a:schemeClr>
              </a:solidFill>
              <a:latin typeface="Courier New" charset="0"/>
              <a:cs typeface="Courier New" charset="0"/>
            </a:endParaRP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 clusters</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entrySet</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400" dirty="0">
                <a:latin typeface="Courier New" charset="0"/>
                <a:cs typeface="Courier New" charset="0"/>
              </a:rPr>
              <a:t>    .collect(</a:t>
            </a:r>
          </a:p>
          <a:p>
            <a:pPr algn="l" eaLnBrk="1" hangingPunct="1">
              <a:lnSpc>
                <a:spcPct val="70000"/>
              </a:lnSpc>
              <a:spcBef>
                <a:spcPct val="30000"/>
              </a:spcBef>
            </a:pPr>
            <a:r>
              <a:rPr lang="en-US" sz="2400" dirty="0">
                <a:latin typeface="Courier New" charset="0"/>
                <a:cs typeface="Courier New" charset="0"/>
              </a:rPr>
              <a:t>      </a:t>
            </a:r>
            <a:r>
              <a:rPr lang="en-US" sz="2400" dirty="0" err="1">
                <a:latin typeface="Courier New" charset="0"/>
                <a:cs typeface="Courier New" charset="0"/>
              </a:rPr>
              <a:t>Collectors.toMap</a:t>
            </a:r>
            <a:r>
              <a:rPr lang="en-US" sz="2400" dirty="0">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        </a:t>
            </a:r>
            <a:r>
              <a:rPr lang="en-US" sz="2400" dirty="0">
                <a:solidFill>
                  <a:schemeClr val="bg1">
                    <a:lumMod val="85000"/>
                  </a:schemeClr>
                </a:solidFill>
                <a:latin typeface="Courier New" charset="0"/>
                <a:cs typeface="Courier New" charset="0"/>
              </a:rPr>
              <a:t>e -&gt; </a:t>
            </a:r>
            <a:r>
              <a:rPr lang="en-US" sz="2400" dirty="0" err="1">
                <a:solidFill>
                  <a:schemeClr val="bg1">
                    <a:lumMod val="85000"/>
                  </a:schemeClr>
                </a:solidFill>
                <a:latin typeface="Courier New" charset="0"/>
                <a:cs typeface="Courier New" charset="0"/>
              </a:rPr>
              <a:t>e.getKey</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Point.barycenter</a:t>
            </a:r>
            <a:r>
              <a:rPr lang="en-US" sz="2400" dirty="0">
                <a:solidFill>
                  <a:schemeClr val="bg1">
                    <a:lumMod val="85000"/>
                  </a:schemeClr>
                </a:solidFill>
                <a:latin typeface="Courier New" charset="0"/>
                <a:cs typeface="Courier New" charset="0"/>
              </a:rPr>
              <a:t>(</a:t>
            </a:r>
            <a:r>
              <a:rPr lang="en-US" sz="2400" dirty="0" err="1">
                <a:solidFill>
                  <a:schemeClr val="bg1">
                    <a:lumMod val="85000"/>
                  </a:schemeClr>
                </a:solidFill>
                <a:latin typeface="Courier New" charset="0"/>
                <a:cs typeface="Courier New" charset="0"/>
              </a:rPr>
              <a:t>e.getValue</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convergence = distance(centers,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centers =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a:t>
            </a:r>
          </a:p>
        </p:txBody>
      </p:sp>
      <p:sp>
        <p:nvSpPr>
          <p:cNvPr id="6" name="Rounded Rectangular Callout 5"/>
          <p:cNvSpPr/>
          <p:nvPr/>
        </p:nvSpPr>
        <p:spPr>
          <a:xfrm>
            <a:off x="825542" y="2789695"/>
            <a:ext cx="3746458" cy="883403"/>
          </a:xfrm>
          <a:prstGeom prst="wedgeRoundRectCallout">
            <a:avLst>
              <a:gd name="adj1" fmla="val 31964"/>
              <a:gd name="adj2" fmla="val 1701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556310" y="4696343"/>
            <a:ext cx="3783408"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stream into a map</a:t>
            </a:r>
          </a:p>
          <a:p>
            <a:pPr lvl="1" algn="l"/>
            <a:r>
              <a:rPr lang="en-US" sz="2800" dirty="0">
                <a:latin typeface="Arial" pitchFamily="34" charset="0"/>
                <a:cs typeface="Arial" pitchFamily="34" charset="0"/>
              </a:rPr>
              <a:t>ID </a:t>
            </a:r>
            <a:r>
              <a:rPr lang="en-US" sz="2800" dirty="0">
                <a:latin typeface="Arial" pitchFamily="34" charset="0"/>
                <a:cs typeface="Arial" pitchFamily="34" charset="0"/>
                <a:sym typeface="Symbol"/>
              </a:rPr>
              <a:t> barycenter</a:t>
            </a:r>
            <a:endParaRPr lang="en-US" sz="2800" dirty="0">
              <a:latin typeface="Arial" pitchFamily="34" charset="0"/>
              <a:cs typeface="Arial" pitchFamily="34" charset="0"/>
            </a:endParaRPr>
          </a:p>
        </p:txBody>
      </p:sp>
    </p:spTree>
    <p:extLst>
      <p:ext uri="{BB962C8B-B14F-4D97-AF65-F5344CB8AC3E}">
        <p14:creationId xmlns:p14="http://schemas.microsoft.com/office/powerpoint/2010/main" val="16270442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110</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Map&lt;Integer, Point&gt; </a:t>
            </a:r>
            <a:r>
              <a:rPr lang="en-US" sz="2400" dirty="0" err="1">
                <a:solidFill>
                  <a:schemeClr val="bg1">
                    <a:lumMod val="85000"/>
                  </a:schemeClr>
                </a:solidFill>
                <a:latin typeface="Courier New" charset="0"/>
                <a:cs typeface="Courier New" charset="0"/>
              </a:rPr>
              <a:t>newCenters</a:t>
            </a:r>
            <a:endParaRPr lang="en-US" sz="2400" dirty="0">
              <a:solidFill>
                <a:schemeClr val="bg1">
                  <a:lumMod val="85000"/>
                </a:schemeClr>
              </a:solidFill>
              <a:latin typeface="Courier New" charset="0"/>
              <a:cs typeface="Courier New" charset="0"/>
            </a:endParaRP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 clusters</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entrySet</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.collect(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Collectors.toMap</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        e -&gt; </a:t>
            </a:r>
            <a:r>
              <a:rPr lang="en-US" sz="2400" dirty="0" err="1">
                <a:latin typeface="Courier New" charset="0"/>
                <a:cs typeface="Courier New" charset="0"/>
              </a:rPr>
              <a:t>e.getKey</a:t>
            </a:r>
            <a:r>
              <a:rPr lang="en-US" sz="2400" dirty="0">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Point.barycenter</a:t>
            </a:r>
            <a:r>
              <a:rPr lang="en-US" sz="2400" dirty="0">
                <a:solidFill>
                  <a:schemeClr val="bg1">
                    <a:lumMod val="85000"/>
                  </a:schemeClr>
                </a:solidFill>
                <a:latin typeface="Courier New" charset="0"/>
                <a:cs typeface="Courier New" charset="0"/>
              </a:rPr>
              <a:t>(</a:t>
            </a:r>
            <a:r>
              <a:rPr lang="en-US" sz="2400" dirty="0" err="1">
                <a:solidFill>
                  <a:schemeClr val="bg1">
                    <a:lumMod val="85000"/>
                  </a:schemeClr>
                </a:solidFill>
                <a:latin typeface="Courier New" charset="0"/>
                <a:cs typeface="Courier New" charset="0"/>
              </a:rPr>
              <a:t>e.getValue</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convergence = distance(centers,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centers =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a:t>
            </a:r>
          </a:p>
        </p:txBody>
      </p:sp>
      <p:sp>
        <p:nvSpPr>
          <p:cNvPr id="6" name="Rounded Rectangular Callout 5"/>
          <p:cNvSpPr/>
          <p:nvPr/>
        </p:nvSpPr>
        <p:spPr>
          <a:xfrm>
            <a:off x="1383481" y="3429000"/>
            <a:ext cx="3188519" cy="585061"/>
          </a:xfrm>
          <a:prstGeom prst="wedgeRoundRectCallout">
            <a:avLst>
              <a:gd name="adj1" fmla="val 31964"/>
              <a:gd name="adj2" fmla="val 17016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2192983" y="4773833"/>
            <a:ext cx="475803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new Key is still the cluster ID</a:t>
            </a:r>
          </a:p>
        </p:txBody>
      </p:sp>
    </p:spTree>
    <p:extLst>
      <p:ext uri="{BB962C8B-B14F-4D97-AF65-F5344CB8AC3E}">
        <p14:creationId xmlns:p14="http://schemas.microsoft.com/office/powerpoint/2010/main" val="181230008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111</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Map&lt;Integer, Point&gt; </a:t>
            </a:r>
            <a:r>
              <a:rPr lang="en-US" sz="2400" dirty="0" err="1">
                <a:solidFill>
                  <a:schemeClr val="bg1">
                    <a:lumMod val="85000"/>
                  </a:schemeClr>
                </a:solidFill>
                <a:latin typeface="Courier New" charset="0"/>
                <a:cs typeface="Courier New" charset="0"/>
              </a:rPr>
              <a:t>newCenters</a:t>
            </a:r>
            <a:endParaRPr lang="en-US" sz="2400" dirty="0">
              <a:solidFill>
                <a:schemeClr val="bg1">
                  <a:lumMod val="85000"/>
                </a:schemeClr>
              </a:solidFill>
              <a:latin typeface="Courier New" charset="0"/>
              <a:cs typeface="Courier New" charset="0"/>
            </a:endParaRP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 clusters</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entrySet</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.collect(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Collectors.toMap</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e.getKey</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        e -&gt; </a:t>
            </a:r>
            <a:r>
              <a:rPr lang="en-US" sz="2400" dirty="0" err="1">
                <a:latin typeface="Courier New" charset="0"/>
                <a:cs typeface="Courier New" charset="0"/>
              </a:rPr>
              <a:t>Point.barycenter</a:t>
            </a:r>
            <a:r>
              <a:rPr lang="en-US" sz="2400" dirty="0">
                <a:latin typeface="Courier New" charset="0"/>
                <a:cs typeface="Courier New" charset="0"/>
              </a:rPr>
              <a:t>(</a:t>
            </a:r>
            <a:r>
              <a:rPr lang="en-US" sz="2400" dirty="0" err="1">
                <a:latin typeface="Courier New" charset="0"/>
                <a:cs typeface="Courier New" charset="0"/>
              </a:rPr>
              <a:t>e.getValue</a:t>
            </a:r>
            <a:r>
              <a:rPr lang="en-US" sz="2400" dirty="0">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convergence = distance(centers,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centers = </a:t>
            </a:r>
            <a:r>
              <a:rPr lang="en-US" sz="2400" dirty="0" err="1">
                <a:solidFill>
                  <a:schemeClr val="bg1">
                    <a:lumMod val="85000"/>
                  </a:schemeClr>
                </a:solidFill>
                <a:latin typeface="Courier New" charset="0"/>
                <a:cs typeface="Courier New" charset="0"/>
              </a:rPr>
              <a:t>newCenters</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a:t>
            </a:r>
          </a:p>
        </p:txBody>
      </p:sp>
      <p:sp>
        <p:nvSpPr>
          <p:cNvPr id="6" name="Rounded Rectangular Callout 5"/>
          <p:cNvSpPr/>
          <p:nvPr/>
        </p:nvSpPr>
        <p:spPr>
          <a:xfrm>
            <a:off x="1538464" y="3878451"/>
            <a:ext cx="6590463" cy="585061"/>
          </a:xfrm>
          <a:prstGeom prst="wedgeRoundRectCallout">
            <a:avLst>
              <a:gd name="adj1" fmla="val 33140"/>
              <a:gd name="adj2" fmla="val -14506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849667" y="2635788"/>
            <a:ext cx="744466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new value is the barycenter computed earlier </a:t>
            </a:r>
          </a:p>
        </p:txBody>
      </p:sp>
    </p:spTree>
    <p:extLst>
      <p:ext uri="{BB962C8B-B14F-4D97-AF65-F5344CB8AC3E}">
        <p14:creationId xmlns:p14="http://schemas.microsoft.com/office/powerpoint/2010/main" val="1245685686"/>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i="1" dirty="0"/>
              <a:t>k</a:t>
            </a:r>
            <a:r>
              <a:rPr lang="en-US" dirty="0"/>
              <a:t>-Means </a:t>
            </a:r>
            <a:r>
              <a:rPr lang="en-US" dirty="0" err="1"/>
              <a:t>Con’t</a:t>
            </a:r>
            <a:endParaRPr lang="en-US" dirty="0"/>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112</a:t>
            </a:fld>
            <a:endParaRPr lang="en-US"/>
          </a:p>
        </p:txBody>
      </p:sp>
      <p:sp>
        <p:nvSpPr>
          <p:cNvPr id="7" name="Text Box 3"/>
          <p:cNvSpPr txBox="1">
            <a:spLocks noChangeArrowheads="1"/>
          </p:cNvSpPr>
          <p:nvPr/>
        </p:nvSpPr>
        <p:spPr bwMode="auto">
          <a:xfrm>
            <a:off x="131285" y="654395"/>
            <a:ext cx="8881430" cy="5549211"/>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while (convergence &gt; EPSILON)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Map&lt;Integer, Point&gt; </a:t>
            </a:r>
            <a:r>
              <a:rPr lang="en-US" sz="2400" dirty="0" err="1">
                <a:solidFill>
                  <a:schemeClr val="bg1">
                    <a:lumMod val="85000"/>
                  </a:schemeClr>
                </a:solidFill>
                <a:latin typeface="Courier New" charset="0"/>
                <a:cs typeface="Courier New" charset="0"/>
              </a:rPr>
              <a:t>newCenters</a:t>
            </a:r>
            <a:endParaRPr lang="en-US" sz="2400" dirty="0">
              <a:solidFill>
                <a:schemeClr val="bg1">
                  <a:lumMod val="85000"/>
                </a:schemeClr>
              </a:solidFill>
              <a:latin typeface="Courier New" charset="0"/>
              <a:cs typeface="Courier New" charset="0"/>
            </a:endParaRP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 clusters</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entrySet</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.collect(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r>
              <a:rPr lang="en-US" sz="2400" dirty="0" err="1">
                <a:solidFill>
                  <a:schemeClr val="bg1">
                    <a:lumMod val="85000"/>
                  </a:schemeClr>
                </a:solidFill>
                <a:latin typeface="Courier New" charset="0"/>
                <a:cs typeface="Courier New" charset="0"/>
              </a:rPr>
              <a:t>Collectors.toMap</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e.getKey</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e -&gt; </a:t>
            </a:r>
            <a:r>
              <a:rPr lang="en-US" sz="2400" dirty="0" err="1">
                <a:solidFill>
                  <a:schemeClr val="bg1">
                    <a:lumMod val="85000"/>
                  </a:schemeClr>
                </a:solidFill>
                <a:latin typeface="Courier New" charset="0"/>
                <a:cs typeface="Courier New" charset="0"/>
              </a:rPr>
              <a:t>Point.barycenter</a:t>
            </a:r>
            <a:r>
              <a:rPr lang="en-US" sz="2400" dirty="0">
                <a:solidFill>
                  <a:schemeClr val="bg1">
                    <a:lumMod val="85000"/>
                  </a:schemeClr>
                </a:solidFill>
                <a:latin typeface="Courier New" charset="0"/>
                <a:cs typeface="Courier New" charset="0"/>
              </a:rPr>
              <a:t>(</a:t>
            </a:r>
            <a:r>
              <a:rPr lang="en-US" sz="2400" dirty="0" err="1">
                <a:solidFill>
                  <a:schemeClr val="bg1">
                    <a:lumMod val="85000"/>
                  </a:schemeClr>
                </a:solidFill>
                <a:latin typeface="Courier New" charset="0"/>
                <a:cs typeface="Courier New" charset="0"/>
              </a:rPr>
              <a:t>e.getValue</a:t>
            </a:r>
            <a:r>
              <a:rPr lang="en-US" sz="2400" dirty="0">
                <a:solidFill>
                  <a:schemeClr val="bg1">
                    <a:lumMod val="85000"/>
                  </a:schemeClr>
                </a:solidFill>
                <a:latin typeface="Courier New" charset="0"/>
                <a:cs typeface="Courier New" charset="0"/>
              </a:rPr>
              <a:t>())</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solidFill>
                  <a:schemeClr val="bg1">
                    <a:lumMod val="85000"/>
                  </a:schemeClr>
                </a:solidFill>
                <a:latin typeface="Courier New" charset="0"/>
                <a:cs typeface="Courier New" charset="0"/>
              </a:rPr>
              <a:t>    );</a:t>
            </a:r>
          </a:p>
          <a:p>
            <a:pPr algn="l" eaLnBrk="1" hangingPunct="1">
              <a:lnSpc>
                <a:spcPct val="70000"/>
              </a:lnSpc>
              <a:spcBef>
                <a:spcPct val="30000"/>
              </a:spcBef>
            </a:pPr>
            <a:r>
              <a:rPr lang="en-US" sz="2400" dirty="0">
                <a:latin typeface="Courier New" charset="0"/>
                <a:cs typeface="Courier New" charset="0"/>
              </a:rPr>
              <a:t>  convergence = distance(centers, </a:t>
            </a:r>
            <a:r>
              <a:rPr lang="en-US" sz="2400" dirty="0" err="1">
                <a:latin typeface="Courier New" charset="0"/>
                <a:cs typeface="Courier New" charset="0"/>
              </a:rPr>
              <a:t>newCenters</a:t>
            </a:r>
            <a:r>
              <a:rPr lang="en-US" sz="2400" dirty="0">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  centers = </a:t>
            </a:r>
            <a:r>
              <a:rPr lang="en-US" sz="2400" dirty="0" err="1">
                <a:latin typeface="Courier New" charset="0"/>
                <a:cs typeface="Courier New" charset="0"/>
              </a:rPr>
              <a:t>newCenters</a:t>
            </a:r>
            <a:r>
              <a:rPr lang="en-US" sz="2400" dirty="0">
                <a:latin typeface="Courier New" charset="0"/>
                <a:cs typeface="Courier New" charset="0"/>
              </a:rPr>
              <a:t>;</a:t>
            </a:r>
          </a:p>
          <a:p>
            <a:pPr algn="l" eaLnBrk="1" hangingPunct="1">
              <a:lnSpc>
                <a:spcPct val="70000"/>
              </a:lnSpc>
              <a:spcBef>
                <a:spcPct val="30000"/>
              </a:spcBef>
            </a:pPr>
            <a:r>
              <a:rPr lang="en-US" sz="2400" dirty="0">
                <a:latin typeface="Courier New" charset="0"/>
                <a:cs typeface="Courier New" charset="0"/>
              </a:rPr>
              <a:t>}</a:t>
            </a:r>
          </a:p>
        </p:txBody>
      </p:sp>
      <p:sp>
        <p:nvSpPr>
          <p:cNvPr id="6" name="Rounded Rectangular Callout 5"/>
          <p:cNvSpPr/>
          <p:nvPr/>
        </p:nvSpPr>
        <p:spPr>
          <a:xfrm>
            <a:off x="314098" y="4881967"/>
            <a:ext cx="8364953" cy="914400"/>
          </a:xfrm>
          <a:prstGeom prst="wedgeRoundRectCallout">
            <a:avLst>
              <a:gd name="adj1" fmla="val 33140"/>
              <a:gd name="adj2" fmla="val -145065"/>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8" name="Text Box 122"/>
          <p:cNvSpPr txBox="1">
            <a:spLocks noChangeArrowheads="1"/>
          </p:cNvSpPr>
          <p:nvPr/>
        </p:nvSpPr>
        <p:spPr bwMode="auto">
          <a:xfrm>
            <a:off x="3213289" y="2955821"/>
            <a:ext cx="4814834"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dirty="0">
                <a:latin typeface="Arial" pitchFamily="34" charset="0"/>
                <a:cs typeface="Arial" pitchFamily="34" charset="0"/>
              </a:rPr>
              <a:t>If centers have moved, start again with the new centers</a:t>
            </a:r>
          </a:p>
        </p:txBody>
      </p:sp>
    </p:spTree>
    <p:extLst>
      <p:ext uri="{BB962C8B-B14F-4D97-AF65-F5344CB8AC3E}">
        <p14:creationId xmlns:p14="http://schemas.microsoft.com/office/powerpoint/2010/main" val="277591734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Functional k-Means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113</a:t>
            </a:fld>
            <a:endParaRPr lang="en-US"/>
          </a:p>
        </p:txBody>
      </p:sp>
      <p:sp>
        <p:nvSpPr>
          <p:cNvPr id="6" name="Text Box 122"/>
          <p:cNvSpPr txBox="1">
            <a:spLocks noChangeArrowheads="1"/>
          </p:cNvSpPr>
          <p:nvPr/>
        </p:nvSpPr>
        <p:spPr bwMode="auto">
          <a:xfrm>
            <a:off x="1450031" y="1974343"/>
            <a:ext cx="416331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many fewer lines of code</a:t>
            </a:r>
          </a:p>
        </p:txBody>
      </p:sp>
      <p:sp>
        <p:nvSpPr>
          <p:cNvPr id="7" name="Text Box 122"/>
          <p:cNvSpPr txBox="1">
            <a:spLocks noChangeArrowheads="1"/>
          </p:cNvSpPr>
          <p:nvPr/>
        </p:nvSpPr>
        <p:spPr bwMode="auto">
          <a:xfrm>
            <a:off x="3770538" y="2966978"/>
            <a:ext cx="368562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easier to read (really!)</a:t>
            </a:r>
          </a:p>
        </p:txBody>
      </p:sp>
      <p:sp>
        <p:nvSpPr>
          <p:cNvPr id="8" name="Text Box 122"/>
          <p:cNvSpPr txBox="1">
            <a:spLocks noChangeArrowheads="1"/>
          </p:cNvSpPr>
          <p:nvPr/>
        </p:nvSpPr>
        <p:spPr bwMode="auto">
          <a:xfrm>
            <a:off x="1450031" y="3959613"/>
            <a:ext cx="2765501"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easier to reason</a:t>
            </a:r>
          </a:p>
        </p:txBody>
      </p:sp>
      <p:sp>
        <p:nvSpPr>
          <p:cNvPr id="9" name="Text Box 122"/>
          <p:cNvSpPr txBox="1">
            <a:spLocks noChangeArrowheads="1"/>
          </p:cNvSpPr>
          <p:nvPr/>
        </p:nvSpPr>
        <p:spPr bwMode="auto">
          <a:xfrm>
            <a:off x="4451813" y="4952248"/>
            <a:ext cx="300434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easier to optimize</a:t>
            </a:r>
          </a:p>
        </p:txBody>
      </p:sp>
    </p:spTree>
    <p:extLst>
      <p:ext uri="{BB962C8B-B14F-4D97-AF65-F5344CB8AC3E}">
        <p14:creationId xmlns:p14="http://schemas.microsoft.com/office/powerpoint/2010/main" val="3752109899"/>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114</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latin typeface="Courier New" charset="0"/>
                <a:cs typeface="Courier New" charset="0"/>
              </a:rPr>
              <a:t>Arrays.asList</a:t>
            </a: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              "Berkeley",</a:t>
            </a:r>
          </a:p>
          <a:p>
            <a:pPr algn="l" eaLnBrk="1" hangingPunct="1">
              <a:lnSpc>
                <a:spcPct val="70000"/>
              </a:lnSpc>
              <a:spcBef>
                <a:spcPct val="30000"/>
              </a:spcBef>
            </a:pPr>
            <a:r>
              <a:rPr lang="en-US" sz="2800" dirty="0">
                <a:latin typeface="Courier New" charset="0"/>
                <a:cs typeface="Courier New" charset="0"/>
              </a:rPr>
              <a:t>              "Clarendon",</a:t>
            </a:r>
          </a:p>
          <a:p>
            <a:pPr algn="l" eaLnBrk="1" hangingPunct="1">
              <a:lnSpc>
                <a:spcPct val="70000"/>
              </a:lnSpc>
              <a:spcBef>
                <a:spcPct val="30000"/>
              </a:spcBef>
            </a:pPr>
            <a:r>
              <a:rPr lang="en-US" sz="2800" dirty="0">
                <a:latin typeface="Courier New" charset="0"/>
                <a:cs typeface="Courier New" charset="0"/>
              </a:rPr>
              <a:t>              "Dartmouth",</a:t>
            </a:r>
          </a:p>
          <a:p>
            <a:pPr algn="l" eaLnBrk="1" hangingPunct="1">
              <a:lnSpc>
                <a:spcPct val="70000"/>
              </a:lnSpc>
              <a:spcBef>
                <a:spcPct val="30000"/>
              </a:spcBef>
            </a:pPr>
            <a:r>
              <a:rPr lang="en-US" sz="2800" dirty="0">
                <a:latin typeface="Courier New" charset="0"/>
                <a:cs typeface="Courier New" charset="0"/>
              </a:rPr>
              <a:t>              "Exeter")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forEach</a:t>
            </a:r>
            <a:r>
              <a:rPr lang="en-US" sz="2800" dirty="0">
                <a:latin typeface="Courier New" charset="0"/>
                <a:cs typeface="Courier New" charset="0"/>
              </a:rPr>
              <a:t>(s -&gt; </a:t>
            </a:r>
            <a:r>
              <a:rPr lang="en-US" sz="2800" dirty="0" err="1">
                <a:latin typeface="Courier New" charset="0"/>
                <a:cs typeface="Courier New" charset="0"/>
              </a:rPr>
              <a:t>printf</a:t>
            </a:r>
            <a:r>
              <a:rPr lang="en-US" sz="2800" dirty="0">
                <a:latin typeface="Courier New" charset="0"/>
                <a:cs typeface="Courier New" charset="0"/>
              </a:rPr>
              <a:t>("%s\n", s));</a:t>
            </a:r>
          </a:p>
        </p:txBody>
      </p:sp>
      <p:sp>
        <p:nvSpPr>
          <p:cNvPr id="13" name="Text Box 122"/>
          <p:cNvSpPr txBox="1">
            <a:spLocks noChangeArrowheads="1"/>
          </p:cNvSpPr>
          <p:nvPr/>
        </p:nvSpPr>
        <p:spPr bwMode="auto">
          <a:xfrm>
            <a:off x="2061024" y="5096684"/>
            <a:ext cx="5021952"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So far, Streams are sequential</a:t>
            </a:r>
          </a:p>
        </p:txBody>
      </p:sp>
    </p:spTree>
    <p:extLst>
      <p:ext uri="{BB962C8B-B14F-4D97-AF65-F5344CB8AC3E}">
        <p14:creationId xmlns:p14="http://schemas.microsoft.com/office/powerpoint/2010/main" val="1167045991"/>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115</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latin typeface="Courier New" charset="0"/>
                <a:cs typeface="Courier New" charset="0"/>
              </a:rPr>
              <a:t>Arrays.asList</a:t>
            </a: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              "Berkeley",</a:t>
            </a:r>
          </a:p>
          <a:p>
            <a:pPr algn="l" eaLnBrk="1" hangingPunct="1">
              <a:lnSpc>
                <a:spcPct val="70000"/>
              </a:lnSpc>
              <a:spcBef>
                <a:spcPct val="30000"/>
              </a:spcBef>
            </a:pPr>
            <a:r>
              <a:rPr lang="en-US" sz="2800" dirty="0">
                <a:latin typeface="Courier New" charset="0"/>
                <a:cs typeface="Courier New" charset="0"/>
              </a:rPr>
              <a:t>              "Clarendon",</a:t>
            </a:r>
          </a:p>
          <a:p>
            <a:pPr algn="l" eaLnBrk="1" hangingPunct="1">
              <a:lnSpc>
                <a:spcPct val="70000"/>
              </a:lnSpc>
              <a:spcBef>
                <a:spcPct val="30000"/>
              </a:spcBef>
            </a:pPr>
            <a:r>
              <a:rPr lang="en-US" sz="2800" dirty="0">
                <a:latin typeface="Courier New" charset="0"/>
                <a:cs typeface="Courier New" charset="0"/>
              </a:rPr>
              <a:t>              "Dartmouth",</a:t>
            </a:r>
          </a:p>
          <a:p>
            <a:pPr algn="l" eaLnBrk="1" hangingPunct="1">
              <a:lnSpc>
                <a:spcPct val="70000"/>
              </a:lnSpc>
              <a:spcBef>
                <a:spcPct val="30000"/>
              </a:spcBef>
            </a:pPr>
            <a:r>
              <a:rPr lang="en-US" sz="2800" dirty="0">
                <a:latin typeface="Courier New" charset="0"/>
                <a:cs typeface="Courier New" charset="0"/>
              </a:rPr>
              <a:t>              "Exeter")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a:t>
            </a:r>
            <a:r>
              <a:rPr lang="en-US" sz="2800" dirty="0" err="1">
                <a:solidFill>
                  <a:schemeClr val="bg1">
                    <a:lumMod val="85000"/>
                  </a:schemeClr>
                </a:solidFill>
                <a:latin typeface="Courier New" charset="0"/>
                <a:cs typeface="Courier New" charset="0"/>
              </a:rPr>
              <a:t>forEach</a:t>
            </a:r>
            <a:r>
              <a:rPr lang="en-US" sz="2800" dirty="0">
                <a:solidFill>
                  <a:schemeClr val="bg1">
                    <a:lumMod val="85000"/>
                  </a:schemeClr>
                </a:solidFill>
                <a:latin typeface="Courier New" charset="0"/>
                <a:cs typeface="Courier New" charset="0"/>
              </a:rPr>
              <a:t>(s -&gt; </a:t>
            </a:r>
            <a:r>
              <a:rPr lang="en-US" sz="2800" dirty="0" err="1">
                <a:solidFill>
                  <a:schemeClr val="bg1">
                    <a:lumMod val="85000"/>
                  </a:schemeClr>
                </a:solidFill>
                <a:latin typeface="Courier New" charset="0"/>
                <a:cs typeface="Courier New" charset="0"/>
              </a:rPr>
              <a:t>printf</a:t>
            </a:r>
            <a:r>
              <a:rPr lang="en-US" sz="2800" dirty="0">
                <a:solidFill>
                  <a:schemeClr val="bg1">
                    <a:lumMod val="85000"/>
                  </a:schemeClr>
                </a:solidFill>
                <a:latin typeface="Courier New" charset="0"/>
                <a:cs typeface="Courier New" charset="0"/>
              </a:rPr>
              <a:t>("%s\n", s));</a:t>
            </a:r>
          </a:p>
        </p:txBody>
      </p:sp>
      <p:sp>
        <p:nvSpPr>
          <p:cNvPr id="10" name="Text Box 122"/>
          <p:cNvSpPr txBox="1">
            <a:spLocks noChangeArrowheads="1"/>
          </p:cNvSpPr>
          <p:nvPr/>
        </p:nvSpPr>
        <p:spPr bwMode="auto">
          <a:xfrm>
            <a:off x="622040" y="5221048"/>
            <a:ext cx="7779694"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make List of strings and turn them into a stream</a:t>
            </a:r>
          </a:p>
        </p:txBody>
      </p:sp>
      <p:sp>
        <p:nvSpPr>
          <p:cNvPr id="12" name="Rounded Rectangular Callout 11"/>
          <p:cNvSpPr/>
          <p:nvPr/>
        </p:nvSpPr>
        <p:spPr>
          <a:xfrm>
            <a:off x="417156" y="1778435"/>
            <a:ext cx="5658180" cy="2545591"/>
          </a:xfrm>
          <a:prstGeom prst="wedgeRoundRectCallout">
            <a:avLst>
              <a:gd name="adj1" fmla="val 31119"/>
              <a:gd name="adj2" fmla="val 85178"/>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210566191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116</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solidFill>
                  <a:schemeClr val="bg1">
                    <a:lumMod val="85000"/>
                  </a:schemeClr>
                </a:solidFill>
                <a:latin typeface="Courier New" charset="0"/>
                <a:cs typeface="Courier New" charset="0"/>
              </a:rPr>
              <a:t>Arrays.asList</a:t>
            </a:r>
            <a:r>
              <a:rPr lang="en-US" sz="2800" dirty="0">
                <a:solidFill>
                  <a:schemeClr val="bg1">
                    <a:lumMod val="85000"/>
                  </a:schemeClr>
                </a:solidFill>
                <a:latin typeface="Courier New" charset="0"/>
                <a:cs typeface="Courier New" charset="0"/>
              </a:rPr>
              <a:t>("Arlington",</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"Berkeley",</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"Clarendon",</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"Dartmouth",</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"Exeter")</a:t>
            </a:r>
          </a:p>
          <a:p>
            <a:pPr algn="l" eaLnBrk="1" hangingPunct="1">
              <a:lnSpc>
                <a:spcPct val="70000"/>
              </a:lnSpc>
              <a:spcBef>
                <a:spcPct val="30000"/>
              </a:spcBef>
            </a:pPr>
            <a:r>
              <a:rPr lang="en-US" sz="2800" dirty="0">
                <a:solidFill>
                  <a:schemeClr val="bg1">
                    <a:lumMod val="85000"/>
                  </a:schemeClr>
                </a:solidFill>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forEach</a:t>
            </a:r>
            <a:r>
              <a:rPr lang="en-US" sz="2800" dirty="0">
                <a:latin typeface="Courier New" charset="0"/>
                <a:cs typeface="Courier New" charset="0"/>
              </a:rPr>
              <a:t>(s -&gt; </a:t>
            </a:r>
            <a:r>
              <a:rPr lang="en-US" sz="2800" dirty="0" err="1">
                <a:latin typeface="Courier New" charset="0"/>
                <a:cs typeface="Courier New" charset="0"/>
              </a:rPr>
              <a:t>printf</a:t>
            </a:r>
            <a:r>
              <a:rPr lang="en-US" sz="2800" dirty="0">
                <a:latin typeface="Courier New" charset="0"/>
                <a:cs typeface="Courier New" charset="0"/>
              </a:rPr>
              <a:t>("%s\n", s));</a:t>
            </a:r>
          </a:p>
        </p:txBody>
      </p:sp>
      <p:sp>
        <p:nvSpPr>
          <p:cNvPr id="10" name="Text Box 122"/>
          <p:cNvSpPr txBox="1">
            <a:spLocks noChangeArrowheads="1"/>
          </p:cNvSpPr>
          <p:nvPr/>
        </p:nvSpPr>
        <p:spPr bwMode="auto">
          <a:xfrm>
            <a:off x="2667000" y="5450385"/>
            <a:ext cx="5470213" cy="954107"/>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square">
            <a:spAutoFit/>
          </a:bodyPr>
          <a:lstStyle/>
          <a:p>
            <a:pPr algn="l"/>
            <a:r>
              <a:rPr lang="en-US" sz="2800" b="1" dirty="0" err="1">
                <a:solidFill>
                  <a:schemeClr val="tx1"/>
                </a:solidFill>
                <a:latin typeface="Courier New" charset="0"/>
                <a:cs typeface="Courier New" charset="0"/>
              </a:rPr>
              <a:t>forEach</a:t>
            </a:r>
            <a:r>
              <a:rPr lang="en-US" sz="2800" dirty="0">
                <a:solidFill>
                  <a:schemeClr val="tx1"/>
                </a:solidFill>
                <a:latin typeface="Courier New" charset="0"/>
                <a:cs typeface="Courier New" charset="0"/>
              </a:rPr>
              <a:t> </a:t>
            </a:r>
            <a:r>
              <a:rPr lang="en-US" sz="2800" dirty="0">
                <a:latin typeface="Arial" pitchFamily="34" charset="0"/>
                <a:cs typeface="Arial" pitchFamily="34" charset="0"/>
              </a:rPr>
              <a:t>applies a method to each element (not functional)</a:t>
            </a:r>
          </a:p>
        </p:txBody>
      </p:sp>
      <p:sp>
        <p:nvSpPr>
          <p:cNvPr id="12" name="Rounded Rectangular Callout 11"/>
          <p:cNvSpPr/>
          <p:nvPr/>
        </p:nvSpPr>
        <p:spPr>
          <a:xfrm>
            <a:off x="1536809" y="4218498"/>
            <a:ext cx="7064750" cy="551157"/>
          </a:xfrm>
          <a:prstGeom prst="wedgeRoundRectCallout">
            <a:avLst>
              <a:gd name="adj1" fmla="val 9490"/>
              <a:gd name="adj2" fmla="val 15547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4282846839"/>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117</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latin typeface="Courier New" charset="0"/>
                <a:cs typeface="Courier New" charset="0"/>
              </a:rPr>
              <a:t>Arrays.asList</a:t>
            </a: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              "Berkeley",</a:t>
            </a:r>
          </a:p>
          <a:p>
            <a:pPr algn="l" eaLnBrk="1" hangingPunct="1">
              <a:lnSpc>
                <a:spcPct val="70000"/>
              </a:lnSpc>
              <a:spcBef>
                <a:spcPct val="30000"/>
              </a:spcBef>
            </a:pPr>
            <a:r>
              <a:rPr lang="en-US" sz="2800" dirty="0">
                <a:latin typeface="Courier New" charset="0"/>
                <a:cs typeface="Courier New" charset="0"/>
              </a:rPr>
              <a:t>              "Clarendon",</a:t>
            </a:r>
          </a:p>
          <a:p>
            <a:pPr algn="l" eaLnBrk="1" hangingPunct="1">
              <a:lnSpc>
                <a:spcPct val="70000"/>
              </a:lnSpc>
              <a:spcBef>
                <a:spcPct val="30000"/>
              </a:spcBef>
            </a:pPr>
            <a:r>
              <a:rPr lang="en-US" sz="2800" dirty="0">
                <a:latin typeface="Courier New" charset="0"/>
                <a:cs typeface="Courier New" charset="0"/>
              </a:rPr>
              <a:t>              "Dartmouth",</a:t>
            </a:r>
          </a:p>
          <a:p>
            <a:pPr algn="l" eaLnBrk="1" hangingPunct="1">
              <a:lnSpc>
                <a:spcPct val="70000"/>
              </a:lnSpc>
              <a:spcBef>
                <a:spcPct val="30000"/>
              </a:spcBef>
            </a:pPr>
            <a:r>
              <a:rPr lang="en-US" sz="2800" dirty="0">
                <a:latin typeface="Courier New" charset="0"/>
                <a:cs typeface="Courier New" charset="0"/>
              </a:rPr>
              <a:t>              "Exeter")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forEach</a:t>
            </a:r>
            <a:r>
              <a:rPr lang="en-US" sz="2800" dirty="0">
                <a:latin typeface="Courier New" charset="0"/>
                <a:cs typeface="Courier New" charset="0"/>
              </a:rPr>
              <a:t>(s -&gt; </a:t>
            </a:r>
            <a:r>
              <a:rPr lang="en-US" sz="2800" dirty="0" err="1">
                <a:latin typeface="Courier New" charset="0"/>
                <a:cs typeface="Courier New" charset="0"/>
              </a:rPr>
              <a:t>printf</a:t>
            </a:r>
            <a:r>
              <a:rPr lang="en-US" sz="2800" dirty="0">
                <a:latin typeface="Courier New" charset="0"/>
                <a:cs typeface="Courier New" charset="0"/>
              </a:rPr>
              <a:t>("%s\n", s));</a:t>
            </a:r>
          </a:p>
        </p:txBody>
      </p:sp>
      <p:sp>
        <p:nvSpPr>
          <p:cNvPr id="13" name="Text Box 122"/>
          <p:cNvSpPr txBox="1">
            <a:spLocks noChangeArrowheads="1"/>
          </p:cNvSpPr>
          <p:nvPr/>
        </p:nvSpPr>
        <p:spPr bwMode="auto">
          <a:xfrm>
            <a:off x="2395392" y="3979847"/>
            <a:ext cx="2117887" cy="2117503"/>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eaLnBrk="1" hangingPunct="1">
              <a:lnSpc>
                <a:spcPct val="70000"/>
              </a:lnSpc>
              <a:spcBef>
                <a:spcPct val="30000"/>
              </a:spcBef>
            </a:pP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Berkeley</a:t>
            </a:r>
          </a:p>
          <a:p>
            <a:pPr algn="l" eaLnBrk="1" hangingPunct="1">
              <a:lnSpc>
                <a:spcPct val="70000"/>
              </a:lnSpc>
              <a:spcBef>
                <a:spcPct val="30000"/>
              </a:spcBef>
            </a:pPr>
            <a:r>
              <a:rPr lang="en-US" sz="2800" dirty="0">
                <a:latin typeface="Courier New" charset="0"/>
                <a:cs typeface="Courier New" charset="0"/>
              </a:rPr>
              <a:t>Clarendon</a:t>
            </a:r>
          </a:p>
          <a:p>
            <a:pPr algn="l" eaLnBrk="1" hangingPunct="1">
              <a:lnSpc>
                <a:spcPct val="70000"/>
              </a:lnSpc>
              <a:spcBef>
                <a:spcPct val="30000"/>
              </a:spcBef>
            </a:pPr>
            <a:r>
              <a:rPr lang="en-US" sz="2800" dirty="0">
                <a:latin typeface="Courier New" charset="0"/>
                <a:cs typeface="Courier New" charset="0"/>
              </a:rPr>
              <a:t>Dartmouth</a:t>
            </a:r>
          </a:p>
          <a:p>
            <a:pPr algn="l" eaLnBrk="1" hangingPunct="1">
              <a:lnSpc>
                <a:spcPct val="70000"/>
              </a:lnSpc>
              <a:spcBef>
                <a:spcPct val="30000"/>
              </a:spcBef>
            </a:pPr>
            <a:r>
              <a:rPr lang="en-US" sz="2800" dirty="0">
                <a:latin typeface="Courier New" charset="0"/>
                <a:cs typeface="Courier New" charset="0"/>
              </a:rPr>
              <a:t>Exeter</a:t>
            </a:r>
          </a:p>
        </p:txBody>
      </p:sp>
      <p:sp>
        <p:nvSpPr>
          <p:cNvPr id="8" name="Text Box 122"/>
          <p:cNvSpPr txBox="1">
            <a:spLocks noChangeArrowheads="1"/>
          </p:cNvSpPr>
          <p:nvPr/>
        </p:nvSpPr>
        <p:spPr bwMode="auto">
          <a:xfrm>
            <a:off x="1889520" y="3523753"/>
            <a:ext cx="1064715"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prints</a:t>
            </a:r>
          </a:p>
        </p:txBody>
      </p:sp>
    </p:spTree>
    <p:extLst>
      <p:ext uri="{BB962C8B-B14F-4D97-AF65-F5344CB8AC3E}">
        <p14:creationId xmlns:p14="http://schemas.microsoft.com/office/powerpoint/2010/main" val="3980857616"/>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118</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solidFill>
                  <a:schemeClr val="bg1">
                    <a:lumMod val="75000"/>
                  </a:schemeClr>
                </a:solidFill>
                <a:latin typeface="Courier New" charset="0"/>
                <a:cs typeface="Courier New" charset="0"/>
              </a:rPr>
              <a:t>Arrays.asList</a:t>
            </a:r>
            <a:r>
              <a:rPr lang="en-US" sz="2800" dirty="0">
                <a:solidFill>
                  <a:schemeClr val="bg1">
                    <a:lumMod val="75000"/>
                  </a:schemeClr>
                </a:solidFill>
                <a:latin typeface="Courier New" charset="0"/>
                <a:cs typeface="Courier New" charset="0"/>
              </a:rPr>
              <a:t>("Arlington",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"Berkeley",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"Clarendon",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"Dartmouth",</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"Exeter")</a:t>
            </a:r>
          </a:p>
          <a:p>
            <a:pPr algn="l" eaLnBrk="1" hangingPunct="1">
              <a:lnSpc>
                <a:spcPct val="70000"/>
              </a:lnSpc>
              <a:spcBef>
                <a:spcPct val="30000"/>
              </a:spcBef>
            </a:pPr>
            <a:r>
              <a:rPr lang="en-US" sz="2800" dirty="0">
                <a:latin typeface="Courier New" charset="0"/>
                <a:cs typeface="Courier New" charset="0"/>
              </a:rPr>
              <a:t>     .</a:t>
            </a:r>
            <a:r>
              <a:rPr lang="en-US" sz="2800" dirty="0" err="1">
                <a:latin typeface="Courier New" charset="0"/>
                <a:cs typeface="Courier New" charset="0"/>
              </a:rPr>
              <a:t>parallelStream</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a:t>
            </a:r>
            <a:r>
              <a:rPr lang="en-US" sz="2800" dirty="0">
                <a:solidFill>
                  <a:schemeClr val="bg1">
                    <a:lumMod val="75000"/>
                  </a:schemeClr>
                </a:solidFill>
                <a:latin typeface="Courier New" charset="0"/>
                <a:cs typeface="Courier New" charset="0"/>
              </a:rPr>
              <a:t>.</a:t>
            </a:r>
            <a:r>
              <a:rPr lang="en-US" sz="2800" dirty="0" err="1">
                <a:solidFill>
                  <a:schemeClr val="bg1">
                    <a:lumMod val="75000"/>
                  </a:schemeClr>
                </a:solidFill>
                <a:latin typeface="Courier New" charset="0"/>
                <a:cs typeface="Courier New" charset="0"/>
              </a:rPr>
              <a:t>forEach</a:t>
            </a:r>
            <a:r>
              <a:rPr lang="en-US" sz="2800" dirty="0">
                <a:solidFill>
                  <a:schemeClr val="bg1">
                    <a:lumMod val="75000"/>
                  </a:schemeClr>
                </a:solidFill>
                <a:latin typeface="Courier New" charset="0"/>
                <a:cs typeface="Courier New" charset="0"/>
              </a:rPr>
              <a:t>(s -&gt; </a:t>
            </a:r>
            <a:r>
              <a:rPr lang="en-US" sz="2800" dirty="0" err="1">
                <a:solidFill>
                  <a:schemeClr val="bg1">
                    <a:lumMod val="75000"/>
                  </a:schemeClr>
                </a:solidFill>
                <a:latin typeface="Courier New" charset="0"/>
                <a:cs typeface="Courier New" charset="0"/>
              </a:rPr>
              <a:t>printf</a:t>
            </a:r>
            <a:r>
              <a:rPr lang="en-US" sz="2800" dirty="0">
                <a:solidFill>
                  <a:schemeClr val="bg1">
                    <a:lumMod val="75000"/>
                  </a:schemeClr>
                </a:solidFill>
                <a:latin typeface="Courier New" charset="0"/>
                <a:cs typeface="Courier New" charset="0"/>
              </a:rPr>
              <a:t>("%s\n", s));</a:t>
            </a:r>
          </a:p>
        </p:txBody>
      </p:sp>
      <p:sp>
        <p:nvSpPr>
          <p:cNvPr id="9" name="Text Box 122"/>
          <p:cNvSpPr txBox="1">
            <a:spLocks noChangeArrowheads="1"/>
          </p:cNvSpPr>
          <p:nvPr/>
        </p:nvSpPr>
        <p:spPr bwMode="auto">
          <a:xfrm>
            <a:off x="589623" y="5137364"/>
            <a:ext cx="4903907"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turn List into a </a:t>
            </a:r>
            <a:r>
              <a:rPr lang="en-US" sz="2800" i="1" dirty="0">
                <a:solidFill>
                  <a:schemeClr val="tx1"/>
                </a:solidFill>
                <a:latin typeface="Arial" pitchFamily="34" charset="0"/>
                <a:cs typeface="Arial" pitchFamily="34" charset="0"/>
              </a:rPr>
              <a:t>parallel</a:t>
            </a:r>
            <a:r>
              <a:rPr lang="en-US" sz="2800" dirty="0">
                <a:latin typeface="Arial" pitchFamily="34" charset="0"/>
                <a:cs typeface="Arial" pitchFamily="34" charset="0"/>
              </a:rPr>
              <a:t> stream</a:t>
            </a:r>
          </a:p>
        </p:txBody>
      </p:sp>
      <p:sp>
        <p:nvSpPr>
          <p:cNvPr id="10" name="Rounded Rectangular Callout 9"/>
          <p:cNvSpPr/>
          <p:nvPr/>
        </p:nvSpPr>
        <p:spPr>
          <a:xfrm>
            <a:off x="1596324" y="3769314"/>
            <a:ext cx="3673099" cy="551157"/>
          </a:xfrm>
          <a:prstGeom prst="wedgeRoundRectCallout">
            <a:avLst>
              <a:gd name="adj1" fmla="val 9490"/>
              <a:gd name="adj2" fmla="val 15547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4022951436"/>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119</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2979277"/>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solidFill>
                  <a:schemeClr val="bg1">
                    <a:lumMod val="75000"/>
                  </a:schemeClr>
                </a:solidFill>
                <a:latin typeface="Courier New" charset="0"/>
                <a:cs typeface="Courier New" charset="0"/>
              </a:rPr>
              <a:t>Arrays.asList</a:t>
            </a:r>
            <a:r>
              <a:rPr lang="en-US" sz="2800" dirty="0">
                <a:solidFill>
                  <a:schemeClr val="bg1">
                    <a:lumMod val="75000"/>
                  </a:schemeClr>
                </a:solidFill>
                <a:latin typeface="Courier New" charset="0"/>
                <a:cs typeface="Courier New" charset="0"/>
              </a:rPr>
              <a:t>("Arlington",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"Berkeley",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"Clarendon",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"Dartmouth",</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"Exeter")</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parallelStream</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a:t>
            </a:r>
            <a:r>
              <a:rPr lang="en-US" sz="2800" dirty="0" err="1">
                <a:solidFill>
                  <a:schemeClr val="bg1">
                    <a:lumMod val="75000"/>
                  </a:schemeClr>
                </a:solidFill>
                <a:latin typeface="Courier New" charset="0"/>
                <a:cs typeface="Courier New" charset="0"/>
              </a:rPr>
              <a:t>forEach</a:t>
            </a:r>
            <a:r>
              <a:rPr lang="en-US" sz="2800" dirty="0">
                <a:solidFill>
                  <a:schemeClr val="bg1">
                    <a:lumMod val="75000"/>
                  </a:schemeClr>
                </a:solidFill>
                <a:latin typeface="Courier New" charset="0"/>
                <a:cs typeface="Courier New" charset="0"/>
              </a:rPr>
              <a:t>(s -&gt; </a:t>
            </a:r>
            <a:r>
              <a:rPr lang="en-US" sz="2800" dirty="0" err="1">
                <a:solidFill>
                  <a:schemeClr val="bg1">
                    <a:lumMod val="75000"/>
                  </a:schemeClr>
                </a:solidFill>
                <a:latin typeface="Courier New" charset="0"/>
                <a:cs typeface="Courier New" charset="0"/>
              </a:rPr>
              <a:t>printf</a:t>
            </a:r>
            <a:r>
              <a:rPr lang="en-US" sz="2800" dirty="0">
                <a:solidFill>
                  <a:schemeClr val="bg1">
                    <a:lumMod val="75000"/>
                  </a:schemeClr>
                </a:solidFill>
                <a:latin typeface="Courier New" charset="0"/>
                <a:cs typeface="Courier New" charset="0"/>
              </a:rPr>
              <a:t>("%s\n", s));</a:t>
            </a:r>
          </a:p>
        </p:txBody>
      </p:sp>
      <p:sp>
        <p:nvSpPr>
          <p:cNvPr id="11" name="Text Box 122"/>
          <p:cNvSpPr txBox="1">
            <a:spLocks noChangeArrowheads="1"/>
          </p:cNvSpPr>
          <p:nvPr/>
        </p:nvSpPr>
        <p:spPr bwMode="auto">
          <a:xfrm>
            <a:off x="2395392" y="3979847"/>
            <a:ext cx="2117887" cy="2117503"/>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eaLnBrk="1" hangingPunct="1">
              <a:lnSpc>
                <a:spcPct val="70000"/>
              </a:lnSpc>
              <a:spcBef>
                <a:spcPct val="30000"/>
              </a:spcBef>
            </a:pP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Berkeley</a:t>
            </a:r>
          </a:p>
          <a:p>
            <a:pPr algn="l" eaLnBrk="1" hangingPunct="1">
              <a:lnSpc>
                <a:spcPct val="70000"/>
              </a:lnSpc>
              <a:spcBef>
                <a:spcPct val="30000"/>
              </a:spcBef>
            </a:pPr>
            <a:r>
              <a:rPr lang="en-US" sz="2800" dirty="0">
                <a:latin typeface="Courier New" charset="0"/>
                <a:cs typeface="Courier New" charset="0"/>
              </a:rPr>
              <a:t>Clarendon</a:t>
            </a:r>
          </a:p>
          <a:p>
            <a:pPr algn="l" eaLnBrk="1" hangingPunct="1">
              <a:lnSpc>
                <a:spcPct val="70000"/>
              </a:lnSpc>
              <a:spcBef>
                <a:spcPct val="30000"/>
              </a:spcBef>
            </a:pPr>
            <a:r>
              <a:rPr lang="en-US" sz="2800" dirty="0">
                <a:latin typeface="Courier New" charset="0"/>
                <a:cs typeface="Courier New" charset="0"/>
              </a:rPr>
              <a:t>Dartmouth</a:t>
            </a:r>
          </a:p>
          <a:p>
            <a:pPr algn="l" eaLnBrk="1" hangingPunct="1">
              <a:lnSpc>
                <a:spcPct val="70000"/>
              </a:lnSpc>
              <a:spcBef>
                <a:spcPct val="30000"/>
              </a:spcBef>
            </a:pPr>
            <a:r>
              <a:rPr lang="en-US" sz="2800" dirty="0">
                <a:latin typeface="Courier New" charset="0"/>
                <a:cs typeface="Courier New" charset="0"/>
              </a:rPr>
              <a:t>Exeter</a:t>
            </a:r>
          </a:p>
        </p:txBody>
      </p:sp>
      <p:sp>
        <p:nvSpPr>
          <p:cNvPr id="12" name="Text Box 122"/>
          <p:cNvSpPr txBox="1">
            <a:spLocks noChangeArrowheads="1"/>
          </p:cNvSpPr>
          <p:nvPr/>
        </p:nvSpPr>
        <p:spPr bwMode="auto">
          <a:xfrm>
            <a:off x="1889520" y="3523753"/>
            <a:ext cx="1064715" cy="523220"/>
          </a:xfrm>
          <a:prstGeom prst="rect">
            <a:avLst/>
          </a:prstGeom>
          <a:solidFill>
            <a:schemeClr val="bg1">
              <a:alpha val="89999"/>
            </a:schemeClr>
          </a:solidFill>
          <a:ln w="38100" algn="ctr">
            <a:solidFill>
              <a:srgbClr val="FFC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prints</a:t>
            </a:r>
          </a:p>
        </p:txBody>
      </p:sp>
      <p:sp>
        <p:nvSpPr>
          <p:cNvPr id="14" name="Text Box 122"/>
          <p:cNvSpPr txBox="1">
            <a:spLocks noChangeArrowheads="1"/>
          </p:cNvSpPr>
          <p:nvPr/>
        </p:nvSpPr>
        <p:spPr bwMode="auto">
          <a:xfrm>
            <a:off x="3513056" y="4473210"/>
            <a:ext cx="2332690" cy="2117503"/>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eaLnBrk="1" hangingPunct="1">
              <a:lnSpc>
                <a:spcPct val="70000"/>
              </a:lnSpc>
              <a:spcBef>
                <a:spcPct val="30000"/>
              </a:spcBef>
            </a:pPr>
            <a:r>
              <a:rPr lang="en-US" sz="2800" dirty="0">
                <a:latin typeface="Courier New" charset="0"/>
                <a:cs typeface="Courier New" charset="0"/>
              </a:rPr>
              <a:t>Dartmouth </a:t>
            </a:r>
          </a:p>
          <a:p>
            <a:pPr algn="l" eaLnBrk="1" hangingPunct="1">
              <a:lnSpc>
                <a:spcPct val="70000"/>
              </a:lnSpc>
              <a:spcBef>
                <a:spcPct val="30000"/>
              </a:spcBef>
            </a:pP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Clarendon</a:t>
            </a:r>
          </a:p>
          <a:p>
            <a:pPr algn="l" eaLnBrk="1" hangingPunct="1">
              <a:lnSpc>
                <a:spcPct val="70000"/>
              </a:lnSpc>
              <a:spcBef>
                <a:spcPct val="30000"/>
              </a:spcBef>
            </a:pPr>
            <a:r>
              <a:rPr lang="en-US" sz="2800" dirty="0">
                <a:latin typeface="Courier New" charset="0"/>
                <a:cs typeface="Courier New" charset="0"/>
              </a:rPr>
              <a:t>Berkeley</a:t>
            </a:r>
          </a:p>
          <a:p>
            <a:pPr algn="l" eaLnBrk="1" hangingPunct="1">
              <a:lnSpc>
                <a:spcPct val="70000"/>
              </a:lnSpc>
              <a:spcBef>
                <a:spcPct val="30000"/>
              </a:spcBef>
            </a:pPr>
            <a:r>
              <a:rPr lang="en-US" sz="2800" dirty="0">
                <a:latin typeface="Courier New" charset="0"/>
                <a:cs typeface="Courier New" charset="0"/>
              </a:rPr>
              <a:t>Exeter</a:t>
            </a:r>
          </a:p>
        </p:txBody>
      </p:sp>
      <p:sp>
        <p:nvSpPr>
          <p:cNvPr id="15" name="Text Box 122"/>
          <p:cNvSpPr txBox="1">
            <a:spLocks noChangeArrowheads="1"/>
          </p:cNvSpPr>
          <p:nvPr/>
        </p:nvSpPr>
        <p:spPr bwMode="auto">
          <a:xfrm>
            <a:off x="4679401" y="3698961"/>
            <a:ext cx="2332690" cy="2117503"/>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eaLnBrk="1" hangingPunct="1">
              <a:lnSpc>
                <a:spcPct val="70000"/>
              </a:lnSpc>
              <a:spcBef>
                <a:spcPct val="30000"/>
              </a:spcBef>
            </a:pPr>
            <a:r>
              <a:rPr lang="en-US" sz="2800" dirty="0">
                <a:latin typeface="Courier New" charset="0"/>
                <a:cs typeface="Courier New" charset="0"/>
              </a:rPr>
              <a:t>Dartmouth </a:t>
            </a:r>
          </a:p>
          <a:p>
            <a:pPr algn="l" eaLnBrk="1" hangingPunct="1">
              <a:lnSpc>
                <a:spcPct val="70000"/>
              </a:lnSpc>
              <a:spcBef>
                <a:spcPct val="30000"/>
              </a:spcBef>
            </a:pPr>
            <a:r>
              <a:rPr lang="en-US" sz="2800" dirty="0">
                <a:latin typeface="Courier New" charset="0"/>
                <a:cs typeface="Courier New" charset="0"/>
              </a:rPr>
              <a:t>Berkeley</a:t>
            </a:r>
          </a:p>
          <a:p>
            <a:pPr algn="l" eaLnBrk="1" hangingPunct="1">
              <a:lnSpc>
                <a:spcPct val="70000"/>
              </a:lnSpc>
              <a:spcBef>
                <a:spcPct val="30000"/>
              </a:spcBef>
            </a:pPr>
            <a:r>
              <a:rPr lang="en-US" sz="2800" dirty="0">
                <a:latin typeface="Courier New" charset="0"/>
                <a:cs typeface="Courier New" charset="0"/>
              </a:rPr>
              <a:t>Exeter</a:t>
            </a:r>
          </a:p>
          <a:p>
            <a:pPr algn="l" eaLnBrk="1" hangingPunct="1">
              <a:lnSpc>
                <a:spcPct val="70000"/>
              </a:lnSpc>
              <a:spcBef>
                <a:spcPct val="30000"/>
              </a:spcBef>
            </a:pPr>
            <a:r>
              <a:rPr lang="en-US" sz="2800" dirty="0">
                <a:latin typeface="Courier New" charset="0"/>
                <a:cs typeface="Courier New" charset="0"/>
              </a:rPr>
              <a:t>Arlington</a:t>
            </a:r>
          </a:p>
          <a:p>
            <a:pPr algn="l" eaLnBrk="1" hangingPunct="1">
              <a:lnSpc>
                <a:spcPct val="70000"/>
              </a:lnSpc>
              <a:spcBef>
                <a:spcPct val="30000"/>
              </a:spcBef>
            </a:pPr>
            <a:r>
              <a:rPr lang="en-US" sz="2800" dirty="0">
                <a:latin typeface="Courier New" charset="0"/>
                <a:cs typeface="Courier New" charset="0"/>
              </a:rPr>
              <a:t>Clarendon</a:t>
            </a:r>
          </a:p>
        </p:txBody>
      </p:sp>
    </p:spTree>
    <p:extLst>
      <p:ext uri="{BB962C8B-B14F-4D97-AF65-F5344CB8AC3E}">
        <p14:creationId xmlns:p14="http://schemas.microsoft.com/office/powerpoint/2010/main" val="179321552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120</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Parallelism?</a:t>
            </a:r>
            <a:endParaRPr lang="en-US" dirty="0">
              <a:latin typeface="Arial" charset="0"/>
            </a:endParaRPr>
          </a:p>
        </p:txBody>
      </p:sp>
      <p:sp>
        <p:nvSpPr>
          <p:cNvPr id="75781" name="Text Box 3"/>
          <p:cNvSpPr txBox="1">
            <a:spLocks noChangeArrowheads="1"/>
          </p:cNvSpPr>
          <p:nvPr/>
        </p:nvSpPr>
        <p:spPr bwMode="auto">
          <a:xfrm>
            <a:off x="386557" y="1778436"/>
            <a:ext cx="8370887" cy="3410164"/>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solidFill>
                  <a:schemeClr val="bg1">
                    <a:lumMod val="75000"/>
                  </a:schemeClr>
                </a:solidFill>
                <a:latin typeface="Courier New" charset="0"/>
                <a:cs typeface="Courier New" charset="0"/>
              </a:rPr>
              <a:t>Arrays.asList</a:t>
            </a:r>
            <a:r>
              <a:rPr lang="en-US" sz="2800" dirty="0">
                <a:solidFill>
                  <a:schemeClr val="bg1">
                    <a:lumMod val="75000"/>
                  </a:schemeClr>
                </a:solidFill>
                <a:latin typeface="Courier New" charset="0"/>
                <a:cs typeface="Courier New" charset="0"/>
              </a:rPr>
              <a:t>("Arlington",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"Berkeley",</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"Clarendon",</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"Dartmouth",</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              "Exeter")</a:t>
            </a:r>
          </a:p>
          <a:p>
            <a:pPr algn="l" eaLnBrk="1" hangingPunct="1">
              <a:lnSpc>
                <a:spcPct val="70000"/>
              </a:lnSpc>
              <a:spcBef>
                <a:spcPct val="30000"/>
              </a:spcBef>
            </a:pPr>
            <a:r>
              <a:rPr lang="en-US" sz="2800" dirty="0">
                <a:latin typeface="Courier New" charset="0"/>
                <a:cs typeface="Courier New" charset="0"/>
              </a:rPr>
              <a:t>     .stream()</a:t>
            </a:r>
          </a:p>
          <a:p>
            <a:pPr algn="l" eaLnBrk="1" hangingPunct="1">
              <a:lnSpc>
                <a:spcPct val="70000"/>
              </a:lnSpc>
              <a:spcBef>
                <a:spcPct val="30000"/>
              </a:spcBef>
            </a:pPr>
            <a:r>
              <a:rPr lang="en-US" sz="2800" dirty="0">
                <a:latin typeface="Courier New" charset="0"/>
                <a:cs typeface="Courier New" charset="0"/>
              </a:rPr>
              <a:t>     .parallel()</a:t>
            </a:r>
          </a:p>
          <a:p>
            <a:pPr algn="l" eaLnBrk="1" hangingPunct="1">
              <a:lnSpc>
                <a:spcPct val="70000"/>
              </a:lnSpc>
              <a:spcBef>
                <a:spcPct val="30000"/>
              </a:spcBef>
            </a:pPr>
            <a:r>
              <a:rPr lang="en-US" sz="2800" dirty="0">
                <a:latin typeface="Courier New" charset="0"/>
                <a:cs typeface="Courier New" charset="0"/>
              </a:rPr>
              <a:t>     .</a:t>
            </a:r>
            <a:r>
              <a:rPr lang="en-US" sz="2800" dirty="0" err="1">
                <a:solidFill>
                  <a:schemeClr val="bg1">
                    <a:lumMod val="75000"/>
                  </a:schemeClr>
                </a:solidFill>
                <a:latin typeface="Courier New" charset="0"/>
                <a:cs typeface="Courier New" charset="0"/>
              </a:rPr>
              <a:t>forEach</a:t>
            </a:r>
            <a:r>
              <a:rPr lang="en-US" sz="2800" dirty="0">
                <a:solidFill>
                  <a:schemeClr val="bg1">
                    <a:lumMod val="75000"/>
                  </a:schemeClr>
                </a:solidFill>
                <a:latin typeface="Courier New" charset="0"/>
                <a:cs typeface="Courier New" charset="0"/>
              </a:rPr>
              <a:t>(s -&gt; </a:t>
            </a:r>
            <a:r>
              <a:rPr lang="en-US" sz="2800" dirty="0" err="1">
                <a:solidFill>
                  <a:schemeClr val="bg1">
                    <a:lumMod val="75000"/>
                  </a:schemeClr>
                </a:solidFill>
                <a:latin typeface="Courier New" charset="0"/>
                <a:cs typeface="Courier New" charset="0"/>
              </a:rPr>
              <a:t>printf</a:t>
            </a:r>
            <a:r>
              <a:rPr lang="en-US" sz="2800" dirty="0">
                <a:solidFill>
                  <a:schemeClr val="bg1">
                    <a:lumMod val="75000"/>
                  </a:schemeClr>
                </a:solidFill>
                <a:latin typeface="Courier New" charset="0"/>
                <a:cs typeface="Courier New" charset="0"/>
              </a:rPr>
              <a:t>("%s\n", s));</a:t>
            </a:r>
          </a:p>
        </p:txBody>
      </p:sp>
      <p:sp>
        <p:nvSpPr>
          <p:cNvPr id="9" name="Text Box 122"/>
          <p:cNvSpPr txBox="1">
            <a:spLocks noChangeArrowheads="1"/>
          </p:cNvSpPr>
          <p:nvPr/>
        </p:nvSpPr>
        <p:spPr bwMode="auto">
          <a:xfrm>
            <a:off x="1487837" y="5788293"/>
            <a:ext cx="612379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can turn stream into a </a:t>
            </a:r>
            <a:r>
              <a:rPr lang="en-US" sz="2800" i="1" dirty="0">
                <a:solidFill>
                  <a:schemeClr val="tx1"/>
                </a:solidFill>
                <a:latin typeface="Arial" pitchFamily="34" charset="0"/>
                <a:cs typeface="Arial" pitchFamily="34" charset="0"/>
              </a:rPr>
              <a:t>parallel</a:t>
            </a:r>
            <a:r>
              <a:rPr lang="en-US" sz="2800" dirty="0">
                <a:latin typeface="Arial" pitchFamily="34" charset="0"/>
                <a:cs typeface="Arial" pitchFamily="34" charset="0"/>
              </a:rPr>
              <a:t> stream</a:t>
            </a:r>
          </a:p>
        </p:txBody>
      </p:sp>
      <p:sp>
        <p:nvSpPr>
          <p:cNvPr id="10" name="Rounded Rectangular Callout 9"/>
          <p:cNvSpPr/>
          <p:nvPr/>
        </p:nvSpPr>
        <p:spPr>
          <a:xfrm>
            <a:off x="1596324" y="3769314"/>
            <a:ext cx="2603718" cy="957669"/>
          </a:xfrm>
          <a:prstGeom prst="wedgeRoundRectCallout">
            <a:avLst>
              <a:gd name="adj1" fmla="val 9490"/>
              <a:gd name="adj2" fmla="val 15547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2123239843"/>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121</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Pitfalls</a:t>
            </a:r>
            <a:endParaRPr lang="en-US" dirty="0">
              <a:latin typeface="Arial" charset="0"/>
            </a:endParaRPr>
          </a:p>
        </p:txBody>
      </p:sp>
      <p:sp>
        <p:nvSpPr>
          <p:cNvPr id="75781" name="Text Box 3"/>
          <p:cNvSpPr txBox="1">
            <a:spLocks noChangeArrowheads="1"/>
          </p:cNvSpPr>
          <p:nvPr/>
        </p:nvSpPr>
        <p:spPr bwMode="auto">
          <a:xfrm>
            <a:off x="386557" y="1778436"/>
            <a:ext cx="8370887" cy="128804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latin typeface="Courier New" charset="0"/>
                <a:cs typeface="Courier New" charset="0"/>
              </a:rPr>
              <a:t>list.stream</a:t>
            </a:r>
            <a:r>
              <a:rPr lang="en-US" sz="2800" dirty="0">
                <a:latin typeface="Courier New" charset="0"/>
                <a:cs typeface="Courier New" charset="0"/>
              </a:rPr>
              <a:t>().</a:t>
            </a:r>
            <a:r>
              <a:rPr lang="en-US" sz="2800" dirty="0" err="1">
                <a:latin typeface="Courier New" charset="0"/>
                <a:cs typeface="Courier New" charset="0"/>
              </a:rPr>
              <a:t>forEach</a:t>
            </a:r>
            <a:r>
              <a:rPr lang="en-US" sz="2800" dirty="0">
                <a:latin typeface="Courier New" charset="0"/>
                <a:cs typeface="Courier New" charset="0"/>
              </a:rPr>
              <a:t>(</a:t>
            </a:r>
          </a:p>
          <a:p>
            <a:pPr algn="l" eaLnBrk="1" hangingPunct="1">
              <a:lnSpc>
                <a:spcPct val="70000"/>
              </a:lnSpc>
              <a:spcBef>
                <a:spcPct val="30000"/>
              </a:spcBef>
            </a:pPr>
            <a:r>
              <a:rPr lang="en-US" sz="2800" dirty="0">
                <a:latin typeface="Courier New" charset="0"/>
                <a:cs typeface="Courier New" charset="0"/>
              </a:rPr>
              <a:t>  s -&gt; </a:t>
            </a:r>
            <a:r>
              <a:rPr lang="en-US" sz="2800" dirty="0" err="1">
                <a:latin typeface="Courier New" charset="0"/>
                <a:cs typeface="Courier New" charset="0"/>
              </a:rPr>
              <a:t>list.add</a:t>
            </a:r>
            <a:r>
              <a:rPr lang="en-US" sz="2800" dirty="0">
                <a:latin typeface="Courier New" charset="0"/>
                <a:cs typeface="Courier New" charset="0"/>
              </a:rPr>
              <a:t>(0)</a:t>
            </a:r>
          </a:p>
          <a:p>
            <a:pPr algn="l" eaLnBrk="1" hangingPunct="1">
              <a:lnSpc>
                <a:spcPct val="70000"/>
              </a:lnSpc>
              <a:spcBef>
                <a:spcPct val="30000"/>
              </a:spcBef>
            </a:pPr>
            <a:r>
              <a:rPr lang="en-US" sz="2800" dirty="0">
                <a:latin typeface="Courier New" charset="0"/>
                <a:cs typeface="Courier New" charset="0"/>
              </a:rPr>
              <a:t>);</a:t>
            </a:r>
          </a:p>
        </p:txBody>
      </p:sp>
    </p:spTree>
    <p:extLst>
      <p:ext uri="{BB962C8B-B14F-4D97-AF65-F5344CB8AC3E}">
        <p14:creationId xmlns:p14="http://schemas.microsoft.com/office/powerpoint/2010/main" val="3919305069"/>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122</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Pitfalls</a:t>
            </a:r>
            <a:endParaRPr lang="en-US" dirty="0">
              <a:latin typeface="Arial" charset="0"/>
            </a:endParaRPr>
          </a:p>
        </p:txBody>
      </p:sp>
      <p:sp>
        <p:nvSpPr>
          <p:cNvPr id="75781" name="Text Box 3"/>
          <p:cNvSpPr txBox="1">
            <a:spLocks noChangeArrowheads="1"/>
          </p:cNvSpPr>
          <p:nvPr/>
        </p:nvSpPr>
        <p:spPr bwMode="auto">
          <a:xfrm>
            <a:off x="386557" y="1778436"/>
            <a:ext cx="8370887" cy="128804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latin typeface="Courier New" charset="0"/>
                <a:cs typeface="Courier New" charset="0"/>
              </a:rPr>
              <a:t>list</a:t>
            </a:r>
            <a:r>
              <a:rPr lang="en-US" sz="2800" dirty="0" err="1">
                <a:solidFill>
                  <a:schemeClr val="bg1">
                    <a:lumMod val="75000"/>
                  </a:schemeClr>
                </a:solidFill>
                <a:latin typeface="Courier New" charset="0"/>
                <a:cs typeface="Courier New" charset="0"/>
              </a:rPr>
              <a:t>.stream</a:t>
            </a:r>
            <a:r>
              <a:rPr lang="en-US" sz="2800" dirty="0">
                <a:solidFill>
                  <a:schemeClr val="bg1">
                    <a:lumMod val="75000"/>
                  </a:schemeClr>
                </a:solidFill>
                <a:latin typeface="Courier New" charset="0"/>
                <a:cs typeface="Courier New" charset="0"/>
              </a:rPr>
              <a:t>().</a:t>
            </a:r>
            <a:r>
              <a:rPr lang="en-US" sz="2800" dirty="0" err="1">
                <a:solidFill>
                  <a:schemeClr val="bg1">
                    <a:lumMod val="75000"/>
                  </a:schemeClr>
                </a:solidFill>
                <a:latin typeface="Courier New" charset="0"/>
                <a:cs typeface="Courier New" charset="0"/>
              </a:rPr>
              <a:t>forEach</a:t>
            </a:r>
            <a:r>
              <a:rPr lang="en-US" sz="2800" dirty="0">
                <a:solidFill>
                  <a:schemeClr val="bg1">
                    <a:lumMod val="75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a:solidFill>
                  <a:schemeClr val="bg1">
                    <a:lumMod val="75000"/>
                  </a:schemeClr>
                </a:solidFill>
                <a:latin typeface="Courier New" charset="0"/>
                <a:cs typeface="Courier New" charset="0"/>
              </a:rPr>
              <a:t>s -&gt; </a:t>
            </a:r>
            <a:r>
              <a:rPr lang="en-US" sz="2800" dirty="0" err="1">
                <a:latin typeface="Courier New" charset="0"/>
                <a:cs typeface="Courier New" charset="0"/>
              </a:rPr>
              <a:t>list.add</a:t>
            </a:r>
            <a:r>
              <a:rPr lang="en-US" sz="2800" dirty="0">
                <a:latin typeface="Courier New" charset="0"/>
                <a:cs typeface="Courier New" charset="0"/>
              </a:rPr>
              <a:t>(0)</a:t>
            </a:r>
          </a:p>
          <a:p>
            <a:pPr algn="l" eaLnBrk="1" hangingPunct="1">
              <a:lnSpc>
                <a:spcPct val="70000"/>
              </a:lnSpc>
              <a:spcBef>
                <a:spcPct val="30000"/>
              </a:spcBef>
            </a:pPr>
            <a:r>
              <a:rPr lang="en-US" sz="2800" dirty="0">
                <a:solidFill>
                  <a:schemeClr val="bg1">
                    <a:lumMod val="75000"/>
                  </a:schemeClr>
                </a:solidFill>
                <a:latin typeface="Courier New" charset="0"/>
                <a:cs typeface="Courier New" charset="0"/>
              </a:rPr>
              <a:t>);</a:t>
            </a:r>
          </a:p>
        </p:txBody>
      </p:sp>
      <p:sp>
        <p:nvSpPr>
          <p:cNvPr id="9" name="Text Box 122"/>
          <p:cNvSpPr txBox="1">
            <a:spLocks noChangeArrowheads="1"/>
          </p:cNvSpPr>
          <p:nvPr/>
        </p:nvSpPr>
        <p:spPr bwMode="auto">
          <a:xfrm>
            <a:off x="728421" y="3851005"/>
            <a:ext cx="6882012"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lambda (function) must not modify source!</a:t>
            </a:r>
          </a:p>
        </p:txBody>
      </p:sp>
      <p:sp>
        <p:nvSpPr>
          <p:cNvPr id="10" name="Rounded Rectangular Callout 9"/>
          <p:cNvSpPr/>
          <p:nvPr/>
        </p:nvSpPr>
        <p:spPr>
          <a:xfrm>
            <a:off x="1946015" y="2124665"/>
            <a:ext cx="2603718" cy="542335"/>
          </a:xfrm>
          <a:prstGeom prst="wedgeRoundRectCallout">
            <a:avLst>
              <a:gd name="adj1" fmla="val 10085"/>
              <a:gd name="adj2" fmla="val 22977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11" name="Rounded Rectangular Callout 10"/>
          <p:cNvSpPr/>
          <p:nvPr/>
        </p:nvSpPr>
        <p:spPr>
          <a:xfrm>
            <a:off x="386557" y="1734730"/>
            <a:ext cx="1301859" cy="542335"/>
          </a:xfrm>
          <a:prstGeom prst="wedgeRoundRectCallout">
            <a:avLst>
              <a:gd name="adj1" fmla="val 21395"/>
              <a:gd name="adj2" fmla="val 286931"/>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Tree>
    <p:extLst>
      <p:ext uri="{BB962C8B-B14F-4D97-AF65-F5344CB8AC3E}">
        <p14:creationId xmlns:p14="http://schemas.microsoft.com/office/powerpoint/2010/main" val="987926717"/>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Footer Placeholder 2"/>
          <p:cNvSpPr>
            <a:spLocks noGrp="1"/>
          </p:cNvSpPr>
          <p:nvPr>
            <p:ph type="ftr" sz="quarter" idx="10"/>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r>
              <a:rPr lang="en-US" sz="1400" b="0">
                <a:solidFill>
                  <a:schemeClr val="tx1"/>
                </a:solidFill>
                <a:latin typeface="Arial" charset="0"/>
                <a:cs typeface="Arial" charset="0"/>
              </a:rPr>
              <a:t>Art of Multiprocessor Programming</a:t>
            </a:r>
          </a:p>
        </p:txBody>
      </p:sp>
      <p:sp>
        <p:nvSpPr>
          <p:cNvPr id="75778"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fld id="{7D48895C-1F84-134E-A8B4-52E2CBCEAE84}" type="slidenum">
              <a:rPr lang="ar-SA" sz="1400" b="0">
                <a:solidFill>
                  <a:schemeClr val="tx1"/>
                </a:solidFill>
                <a:latin typeface="Arial" charset="0"/>
                <a:cs typeface="Arial" charset="0"/>
              </a:rPr>
              <a:pPr/>
              <a:t>123</a:t>
            </a:fld>
            <a:endParaRPr lang="en-US" sz="1400" b="0">
              <a:solidFill>
                <a:schemeClr val="tx1"/>
              </a:solidFill>
              <a:latin typeface="Arial" charset="0"/>
              <a:cs typeface="Arial" charset="0"/>
            </a:endParaRPr>
          </a:p>
        </p:txBody>
      </p:sp>
      <p:pic>
        <p:nvPicPr>
          <p:cNvPr id="75779" name="Picture 10" descr="magic"/>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40000" y="2540000"/>
            <a:ext cx="127000" cy="12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5780" name="Rectangle 2"/>
          <p:cNvSpPr>
            <a:spLocks noGrp="1" noChangeArrowheads="1"/>
          </p:cNvSpPr>
          <p:nvPr>
            <p:ph type="title"/>
          </p:nvPr>
        </p:nvSpPr>
        <p:spPr/>
        <p:txBody>
          <a:bodyPr/>
          <a:lstStyle/>
          <a:p>
            <a:r>
              <a:rPr lang="en-US" dirty="0"/>
              <a:t>Pitfalls</a:t>
            </a:r>
            <a:endParaRPr lang="en-US" dirty="0">
              <a:latin typeface="Arial" charset="0"/>
            </a:endParaRPr>
          </a:p>
        </p:txBody>
      </p:sp>
      <p:sp>
        <p:nvSpPr>
          <p:cNvPr id="75781" name="Text Box 3"/>
          <p:cNvSpPr txBox="1">
            <a:spLocks noChangeArrowheads="1"/>
          </p:cNvSpPr>
          <p:nvPr/>
        </p:nvSpPr>
        <p:spPr bwMode="auto">
          <a:xfrm>
            <a:off x="386557" y="1778436"/>
            <a:ext cx="8370887" cy="1288045"/>
          </a:xfrm>
          <a:prstGeom prst="rect">
            <a:avLst/>
          </a:prstGeom>
          <a:solidFill>
            <a:srgbClr val="FFFFCC"/>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sz="4400" b="1">
                <a:solidFill>
                  <a:srgbClr val="0000FF"/>
                </a:solidFill>
                <a:latin typeface="Comic Sans MS" charset="0"/>
                <a:ea typeface="ＭＳ Ｐゴシック" charset="0"/>
                <a:cs typeface="ＭＳ Ｐゴシック" charset="0"/>
              </a:defRPr>
            </a:lvl1pPr>
            <a:lvl2pPr marL="742950" indent="-285750" eaLnBrk="0" hangingPunct="0">
              <a:defRPr sz="4400" b="1">
                <a:solidFill>
                  <a:srgbClr val="0000FF"/>
                </a:solidFill>
                <a:latin typeface="Comic Sans MS" charset="0"/>
                <a:ea typeface="ＭＳ Ｐゴシック" charset="0"/>
              </a:defRPr>
            </a:lvl2pPr>
            <a:lvl3pPr marL="1143000" indent="-228600" eaLnBrk="0" hangingPunct="0">
              <a:defRPr sz="4400" b="1">
                <a:solidFill>
                  <a:srgbClr val="0000FF"/>
                </a:solidFill>
                <a:latin typeface="Comic Sans MS" charset="0"/>
                <a:ea typeface="ＭＳ Ｐゴシック" charset="0"/>
              </a:defRPr>
            </a:lvl3pPr>
            <a:lvl4pPr marL="1600200" indent="-228600" eaLnBrk="0" hangingPunct="0">
              <a:defRPr sz="4400" b="1">
                <a:solidFill>
                  <a:srgbClr val="0000FF"/>
                </a:solidFill>
                <a:latin typeface="Comic Sans MS" charset="0"/>
                <a:ea typeface="ＭＳ Ｐゴシック" charset="0"/>
              </a:defRPr>
            </a:lvl4pPr>
            <a:lvl5pPr marL="2057400" indent="-228600" eaLnBrk="0" hangingPunct="0">
              <a:defRPr sz="4400" b="1">
                <a:solidFill>
                  <a:srgbClr val="0000FF"/>
                </a:solidFill>
                <a:latin typeface="Comic Sans MS" charset="0"/>
                <a:ea typeface="ＭＳ Ｐゴシック" charset="0"/>
              </a:defRPr>
            </a:lvl5pPr>
            <a:lvl6pPr marL="2514600" indent="-228600" eaLnBrk="0" fontAlgn="base" hangingPunct="0">
              <a:spcBef>
                <a:spcPct val="0"/>
              </a:spcBef>
              <a:spcAft>
                <a:spcPct val="0"/>
              </a:spcAft>
              <a:defRPr sz="4400" b="1">
                <a:solidFill>
                  <a:srgbClr val="0000FF"/>
                </a:solidFill>
                <a:latin typeface="Comic Sans MS" charset="0"/>
                <a:ea typeface="ＭＳ Ｐゴシック" charset="0"/>
              </a:defRPr>
            </a:lvl6pPr>
            <a:lvl7pPr marL="2971800" indent="-228600" eaLnBrk="0" fontAlgn="base" hangingPunct="0">
              <a:spcBef>
                <a:spcPct val="0"/>
              </a:spcBef>
              <a:spcAft>
                <a:spcPct val="0"/>
              </a:spcAft>
              <a:defRPr sz="4400" b="1">
                <a:solidFill>
                  <a:srgbClr val="0000FF"/>
                </a:solidFill>
                <a:latin typeface="Comic Sans MS" charset="0"/>
                <a:ea typeface="ＭＳ Ｐゴシック" charset="0"/>
              </a:defRPr>
            </a:lvl7pPr>
            <a:lvl8pPr marL="3429000" indent="-228600" eaLnBrk="0" fontAlgn="base" hangingPunct="0">
              <a:spcBef>
                <a:spcPct val="0"/>
              </a:spcBef>
              <a:spcAft>
                <a:spcPct val="0"/>
              </a:spcAft>
              <a:defRPr sz="4400" b="1">
                <a:solidFill>
                  <a:srgbClr val="0000FF"/>
                </a:solidFill>
                <a:latin typeface="Comic Sans MS" charset="0"/>
                <a:ea typeface="ＭＳ Ｐゴシック" charset="0"/>
              </a:defRPr>
            </a:lvl8pPr>
            <a:lvl9pPr marL="3886200" indent="-228600" eaLnBrk="0" fontAlgn="base" hangingPunct="0">
              <a:spcBef>
                <a:spcPct val="0"/>
              </a:spcBef>
              <a:spcAft>
                <a:spcPct val="0"/>
              </a:spcAft>
              <a:defRPr sz="4400" b="1">
                <a:solidFill>
                  <a:srgbClr val="0000FF"/>
                </a:solidFill>
                <a:latin typeface="Comic Sans MS" charset="0"/>
                <a:ea typeface="ＭＳ Ｐゴシック" charset="0"/>
              </a:defRPr>
            </a:lvl9pPr>
          </a:lstStyle>
          <a:p>
            <a:pPr algn="l" eaLnBrk="1" hangingPunct="1">
              <a:lnSpc>
                <a:spcPct val="70000"/>
              </a:lnSpc>
              <a:spcBef>
                <a:spcPct val="30000"/>
              </a:spcBef>
            </a:pPr>
            <a:r>
              <a:rPr lang="en-US" sz="2800" dirty="0" err="1">
                <a:solidFill>
                  <a:schemeClr val="bg1">
                    <a:lumMod val="50000"/>
                  </a:schemeClr>
                </a:solidFill>
                <a:latin typeface="Courier New" charset="0"/>
                <a:cs typeface="Courier New" charset="0"/>
              </a:rPr>
              <a:t>source.parallelStream</a:t>
            </a:r>
            <a:r>
              <a:rPr lang="en-US" sz="2800" dirty="0">
                <a:solidFill>
                  <a:schemeClr val="bg1">
                    <a:lumMod val="50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a:t>
            </a:r>
            <a:r>
              <a:rPr lang="en-US" sz="2800" dirty="0" err="1">
                <a:solidFill>
                  <a:schemeClr val="bg1">
                    <a:lumMod val="50000"/>
                  </a:schemeClr>
                </a:solidFill>
                <a:latin typeface="Courier New" charset="0"/>
                <a:cs typeface="Courier New" charset="0"/>
              </a:rPr>
              <a:t>forEach</a:t>
            </a:r>
            <a:r>
              <a:rPr lang="en-US" sz="2800" dirty="0">
                <a:solidFill>
                  <a:schemeClr val="bg1">
                    <a:lumMod val="50000"/>
                  </a:schemeClr>
                </a:solidFill>
                <a:latin typeface="Courier New" charset="0"/>
                <a:cs typeface="Courier New" charset="0"/>
              </a:rPr>
              <a:t>(</a:t>
            </a:r>
          </a:p>
          <a:p>
            <a:pPr algn="l" eaLnBrk="1" hangingPunct="1">
              <a:lnSpc>
                <a:spcPct val="70000"/>
              </a:lnSpc>
              <a:spcBef>
                <a:spcPct val="30000"/>
              </a:spcBef>
            </a:pPr>
            <a:r>
              <a:rPr lang="en-US" sz="2800" dirty="0">
                <a:solidFill>
                  <a:schemeClr val="bg1">
                    <a:lumMod val="50000"/>
                  </a:schemeClr>
                </a:solidFill>
                <a:latin typeface="Courier New" charset="0"/>
                <a:cs typeface="Courier New" charset="0"/>
              </a:rPr>
              <a:t>    s -&gt; </a:t>
            </a:r>
            <a:r>
              <a:rPr lang="en-US" sz="2800" dirty="0" err="1">
                <a:latin typeface="Courier New" charset="0"/>
                <a:cs typeface="Courier New" charset="0"/>
              </a:rPr>
              <a:t>target.add</a:t>
            </a:r>
            <a:r>
              <a:rPr lang="en-US" sz="2800" dirty="0">
                <a:latin typeface="Courier New" charset="0"/>
                <a:cs typeface="Courier New" charset="0"/>
              </a:rPr>
              <a:t>(s)</a:t>
            </a:r>
            <a:r>
              <a:rPr lang="en-US" sz="2800" dirty="0">
                <a:solidFill>
                  <a:schemeClr val="bg1">
                    <a:lumMod val="50000"/>
                  </a:schemeClr>
                </a:solidFill>
                <a:latin typeface="Courier New" charset="0"/>
                <a:cs typeface="Courier New" charset="0"/>
              </a:rPr>
              <a:t>);</a:t>
            </a:r>
          </a:p>
        </p:txBody>
      </p:sp>
      <p:sp>
        <p:nvSpPr>
          <p:cNvPr id="7" name="Text Box 122"/>
          <p:cNvSpPr txBox="1">
            <a:spLocks noChangeArrowheads="1"/>
          </p:cNvSpPr>
          <p:nvPr/>
        </p:nvSpPr>
        <p:spPr bwMode="auto">
          <a:xfrm>
            <a:off x="1733838" y="4250486"/>
            <a:ext cx="5543505"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exception if target not thread-safe</a:t>
            </a:r>
          </a:p>
        </p:txBody>
      </p:sp>
      <p:sp>
        <p:nvSpPr>
          <p:cNvPr id="8" name="Rounded Rectangular Callout 7"/>
          <p:cNvSpPr/>
          <p:nvPr/>
        </p:nvSpPr>
        <p:spPr>
          <a:xfrm>
            <a:off x="2340243" y="2524146"/>
            <a:ext cx="2774197" cy="542335"/>
          </a:xfrm>
          <a:prstGeom prst="wedgeRoundRectCallout">
            <a:avLst>
              <a:gd name="adj1" fmla="val 10085"/>
              <a:gd name="adj2" fmla="val 229777"/>
              <a:gd name="adj3" fmla="val 16667"/>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wrap="none" anchor="ctr">
            <a:noAutofit/>
          </a:bodyPr>
          <a:lstStyle/>
          <a:p>
            <a:pPr algn="ctr">
              <a:defRPr/>
            </a:pPr>
            <a:endParaRPr lang="en-US" sz="2000" dirty="0">
              <a:solidFill>
                <a:srgbClr val="FF0000"/>
              </a:solidFill>
              <a:latin typeface="Arial" pitchFamily="34" charset="0"/>
            </a:endParaRPr>
          </a:p>
        </p:txBody>
      </p:sp>
      <p:sp>
        <p:nvSpPr>
          <p:cNvPr id="9" name="Text Box 122"/>
          <p:cNvSpPr txBox="1">
            <a:spLocks noChangeArrowheads="1"/>
          </p:cNvSpPr>
          <p:nvPr/>
        </p:nvSpPr>
        <p:spPr bwMode="auto">
          <a:xfrm>
            <a:off x="2087716" y="4662863"/>
            <a:ext cx="5327099"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order added is non-deterministic</a:t>
            </a:r>
          </a:p>
        </p:txBody>
      </p:sp>
    </p:spTree>
    <p:extLst>
      <p:ext uri="{BB962C8B-B14F-4D97-AF65-F5344CB8AC3E}">
        <p14:creationId xmlns:p14="http://schemas.microsoft.com/office/powerpoint/2010/main" val="240141965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Conclusions</a:t>
            </a:r>
          </a:p>
        </p:txBody>
      </p:sp>
      <p:sp>
        <p:nvSpPr>
          <p:cNvPr id="3" name="Footer Placeholder 2"/>
          <p:cNvSpPr>
            <a:spLocks noGrp="1"/>
          </p:cNvSpPr>
          <p:nvPr>
            <p:ph type="ftr" sz="quarter" idx="10"/>
          </p:nvPr>
        </p:nvSpPr>
        <p:spPr/>
        <p:txBody>
          <a:bodyPr/>
          <a:lstStyle/>
          <a:p>
            <a:pPr>
              <a:defRPr/>
            </a:pPr>
            <a:r>
              <a:rPr lang="en-US"/>
              <a:t>Art of Multiprocessor Programming</a:t>
            </a:r>
          </a:p>
        </p:txBody>
      </p:sp>
      <p:sp>
        <p:nvSpPr>
          <p:cNvPr id="4" name="Slide Number Placeholder 3"/>
          <p:cNvSpPr>
            <a:spLocks noGrp="1"/>
          </p:cNvSpPr>
          <p:nvPr>
            <p:ph type="sldNum" sz="quarter" idx="11"/>
          </p:nvPr>
        </p:nvSpPr>
        <p:spPr/>
        <p:txBody>
          <a:bodyPr/>
          <a:lstStyle/>
          <a:p>
            <a:pPr>
              <a:defRPr/>
            </a:pPr>
            <a:fld id="{18CBB5C5-533C-4EDE-9E0D-BB81AB6D4DDA}" type="slidenum">
              <a:rPr lang="x-none" smtClean="0"/>
              <a:pPr>
                <a:defRPr/>
              </a:pPr>
              <a:t>124</a:t>
            </a:fld>
            <a:endParaRPr lang="en-US"/>
          </a:p>
        </p:txBody>
      </p:sp>
      <p:sp>
        <p:nvSpPr>
          <p:cNvPr id="5" name="Text Box 122"/>
          <p:cNvSpPr txBox="1">
            <a:spLocks noChangeArrowheads="1"/>
          </p:cNvSpPr>
          <p:nvPr/>
        </p:nvSpPr>
        <p:spPr bwMode="auto">
          <a:xfrm>
            <a:off x="1733837" y="2406188"/>
            <a:ext cx="2823209" cy="523220"/>
          </a:xfrm>
          <a:prstGeom prst="rect">
            <a:avLst/>
          </a:prstGeom>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Streams support</a:t>
            </a:r>
          </a:p>
        </p:txBody>
      </p:sp>
      <p:sp>
        <p:nvSpPr>
          <p:cNvPr id="6" name="Text Box 122"/>
          <p:cNvSpPr txBox="1">
            <a:spLocks noChangeArrowheads="1"/>
          </p:cNvSpPr>
          <p:nvPr/>
        </p:nvSpPr>
        <p:spPr bwMode="auto">
          <a:xfrm>
            <a:off x="2444176" y="3503985"/>
            <a:ext cx="3946914"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functional programming</a:t>
            </a:r>
          </a:p>
        </p:txBody>
      </p:sp>
      <p:sp>
        <p:nvSpPr>
          <p:cNvPr id="7" name="Text Box 122"/>
          <p:cNvSpPr txBox="1">
            <a:spLocks noChangeArrowheads="1"/>
          </p:cNvSpPr>
          <p:nvPr/>
        </p:nvSpPr>
        <p:spPr bwMode="auto">
          <a:xfrm>
            <a:off x="2444176" y="4601782"/>
            <a:ext cx="2706190"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data parallelism</a:t>
            </a:r>
          </a:p>
        </p:txBody>
      </p:sp>
      <p:sp>
        <p:nvSpPr>
          <p:cNvPr id="8" name="Text Box 122"/>
          <p:cNvSpPr txBox="1">
            <a:spLocks noChangeArrowheads="1"/>
          </p:cNvSpPr>
          <p:nvPr/>
        </p:nvSpPr>
        <p:spPr bwMode="auto">
          <a:xfrm>
            <a:off x="2444176" y="5699579"/>
            <a:ext cx="3744936" cy="523220"/>
          </a:xfrm>
          <a:prstGeom prst="rect">
            <a:avLst/>
          </a:prstGeom>
          <a:solidFill>
            <a:schemeClr val="bg1">
              <a:alpha val="89999"/>
            </a:schemeClr>
          </a:solidFill>
          <a:ln w="38100" algn="ctr">
            <a:solidFill>
              <a:schemeClr val="accent1">
                <a:lumMod val="60000"/>
                <a:lumOff val="40000"/>
              </a:schemeClr>
            </a:solidFill>
            <a:miter lim="800000"/>
            <a:headEnd/>
            <a:tailEnd/>
          </a:ln>
          <a:effectLst>
            <a:outerShdw blurRad="50800" dist="38100" dir="2700000" algn="tl" rotWithShape="0">
              <a:prstClr val="black">
                <a:alpha val="40000"/>
              </a:prstClr>
            </a:outerShdw>
          </a:effectLst>
        </p:spPr>
        <p:txBody>
          <a:bodyPr wrap="none">
            <a:spAutoFit/>
          </a:bodyPr>
          <a:lstStyle/>
          <a:p>
            <a:pPr algn="l"/>
            <a:r>
              <a:rPr lang="en-US" sz="2800" dirty="0">
                <a:latin typeface="Arial" pitchFamily="34" charset="0"/>
                <a:cs typeface="Arial" pitchFamily="34" charset="0"/>
              </a:rPr>
              <a:t>compiler optimizations</a:t>
            </a:r>
          </a:p>
        </p:txBody>
      </p:sp>
    </p:spTree>
    <p:extLst>
      <p:ext uri="{BB962C8B-B14F-4D97-AF65-F5344CB8AC3E}">
        <p14:creationId xmlns:p14="http://schemas.microsoft.com/office/powerpoint/2010/main" val="3307516748"/>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Footer Placeholder 1"/>
          <p:cNvSpPr>
            <a:spLocks noGrp="1"/>
          </p:cNvSpPr>
          <p:nvPr>
            <p:ph type="ftr" sz="quarter" idx="10"/>
          </p:nvPr>
        </p:nvSpPr>
        <p:spPr>
          <a:noFill/>
        </p:spPr>
        <p:txBody>
          <a:bodyPr/>
          <a:lstStyle/>
          <a:p>
            <a:r>
              <a:rPr lang="en-US"/>
              <a:t>Art of Multiprocessor Programming</a:t>
            </a:r>
          </a:p>
        </p:txBody>
      </p:sp>
      <p:sp>
        <p:nvSpPr>
          <p:cNvPr id="65539" name="Slide Number Placeholder 2"/>
          <p:cNvSpPr>
            <a:spLocks noGrp="1"/>
          </p:cNvSpPr>
          <p:nvPr>
            <p:ph type="sldNum" sz="quarter" idx="11"/>
          </p:nvPr>
        </p:nvSpPr>
        <p:spPr>
          <a:noFill/>
        </p:spPr>
        <p:txBody>
          <a:bodyPr/>
          <a:lstStyle/>
          <a:p>
            <a:fld id="{A7CD0C61-3C30-45F8-9168-121A739C45EA}" type="slidenum">
              <a:rPr lang="ar-SA" smtClean="0"/>
              <a:pPr/>
              <a:t>125</a:t>
            </a:fld>
            <a:endParaRPr lang="en-US"/>
          </a:p>
        </p:txBody>
      </p:sp>
      <p:sp>
        <p:nvSpPr>
          <p:cNvPr id="65540" name="Rectangle 2"/>
          <p:cNvSpPr>
            <a:spLocks noChangeArrowheads="1"/>
          </p:cNvSpPr>
          <p:nvPr/>
        </p:nvSpPr>
        <p:spPr bwMode="auto">
          <a:xfrm>
            <a:off x="0" y="-6439"/>
            <a:ext cx="9144000" cy="1200329"/>
          </a:xfrm>
          <a:prstGeom prst="rect">
            <a:avLst/>
          </a:prstGeom>
          <a:noFill/>
          <a:ln w="9525">
            <a:noFill/>
            <a:miter lim="800000"/>
            <a:headEnd/>
            <a:tailEnd/>
          </a:ln>
        </p:spPr>
        <p:txBody>
          <a:bodyPr anchor="ctr">
            <a:spAutoFit/>
          </a:bodyPr>
          <a:lstStyle/>
          <a:p>
            <a:r>
              <a:rPr lang="en-US" sz="2400" b="0" dirty="0">
                <a:solidFill>
                  <a:schemeClr val="tx1"/>
                </a:solidFill>
                <a:latin typeface="Arial" pitchFamily="34" charset="0"/>
                <a:hlinkClick r:id="rId3"/>
              </a:rPr>
              <a:t>  </a:t>
            </a:r>
            <a:r>
              <a:rPr lang="en-US" sz="1800" b="0" dirty="0">
                <a:solidFill>
                  <a:schemeClr val="tx1"/>
                </a:solidFill>
                <a:latin typeface="Arial" pitchFamily="34" charset="0"/>
              </a:rPr>
              <a:t> </a:t>
            </a:r>
            <a:r>
              <a:rPr lang="en-US" sz="2400" b="0" dirty="0">
                <a:solidFill>
                  <a:schemeClr val="tx1"/>
                </a:solidFill>
                <a:latin typeface="Arial" pitchFamily="34" charset="0"/>
              </a:rPr>
              <a:t>        </a:t>
            </a:r>
            <a:br>
              <a:rPr lang="en-US" sz="2400" b="0" dirty="0">
                <a:solidFill>
                  <a:schemeClr val="tx1"/>
                </a:solidFill>
                <a:latin typeface="Arial" pitchFamily="34" charset="0"/>
              </a:rPr>
            </a:br>
            <a:r>
              <a:rPr lang="en-US" sz="2400" b="0" dirty="0">
                <a:solidFill>
                  <a:schemeClr val="tx1"/>
                </a:solidFill>
                <a:latin typeface="Arial" pitchFamily="34" charset="0"/>
              </a:rPr>
              <a:t>This work is licensed under a </a:t>
            </a:r>
            <a:r>
              <a:rPr lang="en-US" sz="2400" b="0" dirty="0">
                <a:solidFill>
                  <a:srgbClr val="FF0066"/>
                </a:solidFill>
                <a:latin typeface="Arial" pitchFamily="34" charset="0"/>
                <a:hlinkClick r:id="rId3"/>
              </a:rPr>
              <a:t>Creative Commons Attribution-</a:t>
            </a:r>
            <a:r>
              <a:rPr lang="en-US" sz="2400" b="0" dirty="0" err="1">
                <a:solidFill>
                  <a:srgbClr val="FF0066"/>
                </a:solidFill>
                <a:latin typeface="Arial" pitchFamily="34" charset="0"/>
                <a:hlinkClick r:id="rId3"/>
              </a:rPr>
              <a:t>ShareAlike</a:t>
            </a:r>
            <a:r>
              <a:rPr lang="en-US" sz="2400" b="0" dirty="0">
                <a:solidFill>
                  <a:srgbClr val="FF0066"/>
                </a:solidFill>
                <a:latin typeface="Arial" pitchFamily="34" charset="0"/>
                <a:hlinkClick r:id="rId3"/>
              </a:rPr>
              <a:t> 2.5 License</a:t>
            </a:r>
            <a:r>
              <a:rPr lang="en-US" sz="2400" b="0" dirty="0">
                <a:solidFill>
                  <a:srgbClr val="FF0066"/>
                </a:solidFill>
                <a:latin typeface="Arial" pitchFamily="34" charset="0"/>
              </a:rPr>
              <a:t>. </a:t>
            </a:r>
          </a:p>
        </p:txBody>
      </p:sp>
      <p:pic>
        <p:nvPicPr>
          <p:cNvPr id="65541" name="Picture 3" descr="Creative Commons License">
            <a:hlinkClick r:id="rId3"/>
          </p:cNvPr>
          <p:cNvPicPr>
            <a:picLocks noChangeAspect="1" noChangeArrowheads="1"/>
          </p:cNvPicPr>
          <p:nvPr/>
        </p:nvPicPr>
        <p:blipFill>
          <a:blip r:embed="rId4" cstate="print"/>
          <a:srcRect/>
          <a:stretch>
            <a:fillRect/>
          </a:stretch>
        </p:blipFill>
        <p:spPr bwMode="auto">
          <a:xfrm>
            <a:off x="182563" y="46038"/>
            <a:ext cx="838200" cy="295275"/>
          </a:xfrm>
          <a:prstGeom prst="rect">
            <a:avLst/>
          </a:prstGeom>
          <a:noFill/>
          <a:ln w="9525">
            <a:noFill/>
            <a:miter lim="800000"/>
            <a:headEnd/>
            <a:tailEnd/>
          </a:ln>
        </p:spPr>
      </p:pic>
      <p:sp>
        <p:nvSpPr>
          <p:cNvPr id="65542" name="Rectangle 4"/>
          <p:cNvSpPr>
            <a:spLocks noChangeArrowheads="1"/>
          </p:cNvSpPr>
          <p:nvPr/>
        </p:nvSpPr>
        <p:spPr bwMode="auto">
          <a:xfrm>
            <a:off x="684213" y="1341438"/>
            <a:ext cx="7772400" cy="4752975"/>
          </a:xfrm>
          <a:prstGeom prst="rect">
            <a:avLst/>
          </a:prstGeom>
          <a:noFill/>
          <a:ln w="9525">
            <a:noFill/>
            <a:miter lim="800000"/>
            <a:headEnd/>
            <a:tailEnd/>
          </a:ln>
        </p:spPr>
        <p:txBody>
          <a:bodyPr/>
          <a:lstStyle/>
          <a:p>
            <a:pPr marL="342900" indent="-342900">
              <a:lnSpc>
                <a:spcPct val="80000"/>
              </a:lnSpc>
              <a:spcBef>
                <a:spcPct val="20000"/>
              </a:spcBef>
              <a:buFontTx/>
              <a:buChar char="•"/>
            </a:pPr>
            <a:r>
              <a:rPr lang="en-US" sz="1800">
                <a:solidFill>
                  <a:schemeClr val="tx1"/>
                </a:solidFill>
                <a:latin typeface="Lucida Sans" pitchFamily="34" charset="0"/>
              </a:rPr>
              <a:t>You are free</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to Share</a:t>
            </a:r>
            <a:r>
              <a:rPr lang="en-US" sz="1800" b="0">
                <a:solidFill>
                  <a:schemeClr val="tx1"/>
                </a:solidFill>
                <a:latin typeface="Lucida Sans" pitchFamily="34" charset="0"/>
              </a:rPr>
              <a:t> — to copy, distribute and transmit the work </a:t>
            </a:r>
          </a:p>
          <a:p>
            <a:pPr marL="742950" lvl="1" indent="-285750">
              <a:lnSpc>
                <a:spcPct val="80000"/>
              </a:lnSpc>
              <a:spcBef>
                <a:spcPct val="20000"/>
              </a:spcBef>
              <a:buFontTx/>
              <a:buChar char="–"/>
            </a:pPr>
            <a:r>
              <a:rPr lang="en-US" sz="1800">
                <a:solidFill>
                  <a:schemeClr val="tx1"/>
                </a:solidFill>
                <a:latin typeface="Lucida Sans" pitchFamily="34" charset="0"/>
              </a:rPr>
              <a:t>to Remix</a:t>
            </a:r>
            <a:r>
              <a:rPr lang="en-US" sz="1800" b="0">
                <a:solidFill>
                  <a:schemeClr val="tx1"/>
                </a:solidFill>
                <a:latin typeface="Lucida Sans" pitchFamily="34" charset="0"/>
              </a:rPr>
              <a:t> — to adapt the work </a:t>
            </a:r>
          </a:p>
          <a:p>
            <a:pPr marL="342900" indent="-342900">
              <a:lnSpc>
                <a:spcPct val="80000"/>
              </a:lnSpc>
              <a:spcBef>
                <a:spcPct val="20000"/>
              </a:spcBef>
              <a:buFontTx/>
              <a:buChar char="•"/>
            </a:pPr>
            <a:r>
              <a:rPr lang="en-US" sz="1800">
                <a:solidFill>
                  <a:schemeClr val="tx1"/>
                </a:solidFill>
                <a:latin typeface="Lucida Sans" pitchFamily="34" charset="0"/>
              </a:rPr>
              <a:t>Under the following conditions</a:t>
            </a:r>
            <a:r>
              <a:rPr lang="en-US" sz="1800" b="0">
                <a:solidFill>
                  <a:schemeClr val="tx1"/>
                </a:solidFill>
                <a:latin typeface="Lucida Sans" pitchFamily="34" charset="0"/>
              </a:rPr>
              <a:t>:</a:t>
            </a:r>
          </a:p>
          <a:p>
            <a:pPr marL="742950" lvl="1" indent="-285750">
              <a:lnSpc>
                <a:spcPct val="80000"/>
              </a:lnSpc>
              <a:spcBef>
                <a:spcPct val="20000"/>
              </a:spcBef>
              <a:buFontTx/>
              <a:buChar char="–"/>
            </a:pPr>
            <a:r>
              <a:rPr lang="en-US" sz="1800">
                <a:solidFill>
                  <a:schemeClr val="tx1"/>
                </a:solidFill>
                <a:latin typeface="Lucida Sans" pitchFamily="34" charset="0"/>
              </a:rPr>
              <a:t>Attribution</a:t>
            </a:r>
            <a:r>
              <a:rPr lang="en-US" sz="1800" b="0">
                <a:solidFill>
                  <a:schemeClr val="tx1"/>
                </a:solidFill>
                <a:latin typeface="Lucida Sans" pitchFamily="34" charset="0"/>
              </a:rPr>
              <a:t>. You must attribute the work to “The Art of Multiprocessor Programming” (but not in any way that suggests that the authors endorse you or your use of the work). </a:t>
            </a:r>
          </a:p>
          <a:p>
            <a:pPr marL="742950" lvl="1" indent="-285750">
              <a:lnSpc>
                <a:spcPct val="80000"/>
              </a:lnSpc>
              <a:spcBef>
                <a:spcPct val="20000"/>
              </a:spcBef>
              <a:buFontTx/>
              <a:buChar char="–"/>
            </a:pPr>
            <a:r>
              <a:rPr lang="en-US" sz="1800">
                <a:solidFill>
                  <a:schemeClr val="tx1"/>
                </a:solidFill>
                <a:latin typeface="Lucida Sans" pitchFamily="34" charset="0"/>
              </a:rPr>
              <a:t>Share Alike</a:t>
            </a:r>
            <a:r>
              <a:rPr lang="en-US" sz="1800" b="0">
                <a:solidFill>
                  <a:schemeClr val="tx1"/>
                </a:solidFill>
                <a:latin typeface="Lucida Sans" pitchFamily="34" charset="0"/>
              </a:rPr>
              <a:t>. If you alter, transform, or build upon this work, you may distribute the resulting work only under the same, similar or a compatible license. </a:t>
            </a:r>
          </a:p>
          <a:p>
            <a:pPr marL="342900" indent="-342900">
              <a:lnSpc>
                <a:spcPct val="80000"/>
              </a:lnSpc>
              <a:spcBef>
                <a:spcPct val="20000"/>
              </a:spcBef>
              <a:buFontTx/>
              <a:buChar char="•"/>
            </a:pPr>
            <a:r>
              <a:rPr lang="en-US" sz="1800" b="0">
                <a:solidFill>
                  <a:schemeClr val="tx1"/>
                </a:solidFill>
                <a:latin typeface="Lucida Sans" pitchFamily="34" charset="0"/>
              </a:rPr>
              <a:t>For any reuse or distribution, you must make clear to others the license terms of this work. The best way to do this is with a link to</a:t>
            </a:r>
          </a:p>
          <a:p>
            <a:pPr marL="742950" lvl="1" indent="-285750">
              <a:lnSpc>
                <a:spcPct val="80000"/>
              </a:lnSpc>
              <a:spcBef>
                <a:spcPct val="20000"/>
              </a:spcBef>
              <a:buFontTx/>
              <a:buChar char="–"/>
            </a:pPr>
            <a:r>
              <a:rPr lang="en-US" sz="1800" b="0">
                <a:solidFill>
                  <a:schemeClr val="tx1"/>
                </a:solidFill>
                <a:latin typeface="Lucida Sans" pitchFamily="34" charset="0"/>
              </a:rPr>
              <a:t>http://creativecommons.org/licenses/by-sa/3.0/. </a:t>
            </a:r>
          </a:p>
          <a:p>
            <a:pPr marL="342900" indent="-342900">
              <a:lnSpc>
                <a:spcPct val="80000"/>
              </a:lnSpc>
              <a:spcBef>
                <a:spcPct val="20000"/>
              </a:spcBef>
              <a:buFontTx/>
              <a:buChar char="•"/>
            </a:pPr>
            <a:r>
              <a:rPr lang="en-US" sz="1800" b="0">
                <a:solidFill>
                  <a:schemeClr val="tx1"/>
                </a:solidFill>
                <a:latin typeface="Lucida Sans" pitchFamily="34" charset="0"/>
              </a:rPr>
              <a:t>Any of the above conditions can be waived if you get permission from the copyright holder. </a:t>
            </a:r>
          </a:p>
          <a:p>
            <a:pPr marL="342900" indent="-342900">
              <a:lnSpc>
                <a:spcPct val="80000"/>
              </a:lnSpc>
              <a:spcBef>
                <a:spcPct val="20000"/>
              </a:spcBef>
              <a:buFontTx/>
              <a:buChar char="•"/>
            </a:pPr>
            <a:r>
              <a:rPr lang="en-US" sz="1800" b="0">
                <a:solidFill>
                  <a:schemeClr val="tx1"/>
                </a:solidFill>
                <a:latin typeface="Lucida Sans" pitchFamily="34" charset="0"/>
              </a:rPr>
              <a:t>Nothing in this license impairs or restricts the author's moral rights. </a:t>
            </a:r>
          </a:p>
          <a:p>
            <a:pPr marL="342900" indent="-342900">
              <a:lnSpc>
                <a:spcPct val="80000"/>
              </a:lnSpc>
              <a:spcBef>
                <a:spcPct val="20000"/>
              </a:spcBef>
              <a:buFontTx/>
              <a:buChar char="•"/>
            </a:pPr>
            <a:endParaRPr lang="en-US" sz="1800" b="0">
              <a:solidFill>
                <a:schemeClr val="tx1"/>
              </a:solidFill>
              <a:latin typeface="Lucida Sans" pitchFamily="34" charset="0"/>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FIRSTMPH@ELBTUPUFUVWZY5H8" val="4330"/>
  <p:tag name="DEFAULTDISPLAYSOURCE" val="\documentclass{article}\pagestyle{empty}&#10;\begin{document}&#10;&#10;\end{document}&#10;"/>
  <p:tag name="EMBEDFONTS" val="1"/>
</p:tagLst>
</file>

<file path=ppt/tags/tag2.xml><?xml version="1.0" encoding="utf-8"?>
<p:tagLst xmlns:a="http://schemas.openxmlformats.org/drawingml/2006/main" xmlns:r="http://schemas.openxmlformats.org/officeDocument/2006/relationships" xmlns:p="http://schemas.openxmlformats.org/presentationml/2006/main">
  <p:tag name="HIDDENFONTSHAPE" val="true"/>
</p:tagLst>
</file>

<file path=ppt/theme/theme1.xml><?xml version="1.0" encoding="utf-8"?>
<a:theme xmlns:a="http://schemas.openxmlformats.org/drawingml/2006/main" name="Blank Presentation">
  <a:themeElements>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Blank Presentation.pot">
      <a:majorFont>
        <a:latin typeface="Comic Sans MS"/>
        <a:ea typeface=""/>
        <a:cs typeface=""/>
      </a:majorFont>
      <a:minorFont>
        <a:latin typeface="Comic Sans MS"/>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38100" cap="flat" cmpd="sng" algn="ctr">
          <a:solidFill>
            <a:schemeClr val="tx1"/>
          </a:solidFill>
          <a:prstDash val="solid"/>
          <a:round/>
          <a:headEnd type="none" w="med" len="med"/>
          <a:tailEnd type="none" w="med" len="med"/>
        </a:ln>
        <a:effectLst/>
      </a:spPr>
      <a:bodyPr vert="horz" wrap="square" lIns="91440" tIns="45720" rIns="91440" bIns="45720" numCol="1" rtlCol="0"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sz="2800" b="0" i="0" u="none" strike="noStrike" cap="none" normalizeH="0" baseline="0" dirty="0" smtClean="0">
            <a:ln>
              <a:noFill/>
            </a:ln>
            <a:solidFill>
              <a:srgbClr val="0000FF"/>
            </a:solidFill>
            <a:effectLst/>
            <a:latin typeface="Arial" panose="020B0604020202020204" pitchFamily="34" charset="0"/>
            <a:cs typeface="Arial" panose="020B0604020202020204" pitchFamily="34" charset="0"/>
          </a:defRPr>
        </a:defPPr>
      </a:lstStyle>
    </a:spDef>
    <a:lnDef>
      <a:spPr bwMode="auto">
        <a:xfrm>
          <a:off x="0" y="0"/>
          <a:ext cx="1" cy="1"/>
        </a:xfrm>
        <a:custGeom>
          <a:avLst/>
          <a:gdLst/>
          <a:ahLst/>
          <a:cxnLst/>
          <a:rect l="0" t="0" r="0" b="0"/>
          <a:pathLst/>
        </a:custGeom>
        <a:noFill/>
        <a:ln w="38100"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r" defTabSz="914400" rtl="0" eaLnBrk="0" fontAlgn="base" latinLnBrk="0" hangingPunct="0">
          <a:lnSpc>
            <a:spcPct val="100000"/>
          </a:lnSpc>
          <a:spcBef>
            <a:spcPct val="0"/>
          </a:spcBef>
          <a:spcAft>
            <a:spcPct val="0"/>
          </a:spcAft>
          <a:buClrTx/>
          <a:buSzTx/>
          <a:buFontTx/>
          <a:buNone/>
          <a:tabLst/>
          <a:defRPr kumimoji="0" lang="en-US" sz="2400" b="0" i="0" u="none" strike="noStrike" cap="none" normalizeH="0" baseline="0" smtClean="0">
            <a:ln>
              <a:noFill/>
            </a:ln>
            <a:solidFill>
              <a:srgbClr val="0000FF"/>
            </a:solidFill>
            <a:effectLst/>
            <a:latin typeface="Comic Sans MS" pitchFamily="66" charset="0"/>
          </a:defRPr>
        </a:defPPr>
      </a:lstStyle>
    </a:lnDef>
    <a:txDef>
      <a:spPr bwMode="auto">
        <a:solidFill>
          <a:schemeClr val="bg1">
            <a:alpha val="89999"/>
          </a:schemeClr>
        </a:solidFill>
        <a:ln w="38100" algn="ctr">
          <a:solidFill>
            <a:srgbClr val="FF0000"/>
          </a:solidFill>
          <a:miter lim="800000"/>
          <a:headEnd/>
          <a:tailEnd/>
        </a:ln>
        <a:effectLst>
          <a:outerShdw blurRad="50800" dist="38100" dir="2700000" algn="tl" rotWithShape="0">
            <a:prstClr val="black">
              <a:alpha val="40000"/>
            </a:prstClr>
          </a:outerShdw>
        </a:effectLst>
      </a:spPr>
      <a:bodyPr wrap="none">
        <a:spAutoFit/>
      </a:bodyPr>
      <a:lstStyle>
        <a:defPPr algn="l">
          <a:defRPr sz="2800" dirty="0" smtClean="0">
            <a:latin typeface="Arial" pitchFamily="34" charset="0"/>
            <a:cs typeface="Arial" pitchFamily="34" charset="0"/>
          </a:defRPr>
        </a:defPPr>
      </a:lstStyle>
    </a:txDef>
  </a:objectDefaults>
  <a:extraClrSchemeLst>
    <a:extraClrScheme>
      <a:clrScheme name="Blank Presentation.pot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Blank Presentation.pot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Blank Presentation.pot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Blank Presentation.pot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Blank Presentation.pot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Blank Presentation.pot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Blank Presentation.pot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Office\Templates\Blank Presentation.pot</Template>
  <TotalTime>16689</TotalTime>
  <Words>8031</Words>
  <Application>Microsoft Office PowerPoint</Application>
  <PresentationFormat>Overhead</PresentationFormat>
  <Paragraphs>1585</Paragraphs>
  <Slides>125</Slides>
  <Notes>88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125</vt:i4>
      </vt:variant>
    </vt:vector>
  </HeadingPairs>
  <TitlesOfParts>
    <vt:vector size="137" baseType="lpstr">
      <vt:lpstr>CMR10</vt:lpstr>
      <vt:lpstr>Comic Sans MS</vt:lpstr>
      <vt:lpstr>CMSY10ORIG</vt:lpstr>
      <vt:lpstr>Arial</vt:lpstr>
      <vt:lpstr>Courier New</vt:lpstr>
      <vt:lpstr>cmsy10</vt:lpstr>
      <vt:lpstr>Marlett</vt:lpstr>
      <vt:lpstr>Lucida Sans</vt:lpstr>
      <vt:lpstr>CMMI7</vt:lpstr>
      <vt:lpstr>CMMI10</vt:lpstr>
      <vt:lpstr>Symbol</vt:lpstr>
      <vt:lpstr>Blank Presentation</vt:lpstr>
      <vt:lpstr>Data Parallelism</vt:lpstr>
      <vt:lpstr>Ever Wonder …</vt:lpstr>
      <vt:lpstr>Let’s Ask Google Ngram!</vt:lpstr>
      <vt:lpstr>Let’s Ask Google Ngram!</vt:lpstr>
      <vt:lpstr>Let’s Ask Google Ngram!</vt:lpstr>
      <vt:lpstr>Let’s Ask Google Ngram!</vt:lpstr>
      <vt:lpstr>WordCount</vt:lpstr>
      <vt:lpstr>MapReduce</vt:lpstr>
      <vt:lpstr>Map Phase</vt:lpstr>
      <vt:lpstr>Map Phase</vt:lpstr>
      <vt:lpstr>Mapper Class</vt:lpstr>
      <vt:lpstr>Mapper Class</vt:lpstr>
      <vt:lpstr>Mapper Class</vt:lpstr>
      <vt:lpstr>Mapper Class</vt:lpstr>
      <vt:lpstr>Mapper Class</vt:lpstr>
      <vt:lpstr>Mapper Class</vt:lpstr>
      <vt:lpstr>Mapper Class</vt:lpstr>
      <vt:lpstr>WordCount Mapper</vt:lpstr>
      <vt:lpstr>WordCount Mapper</vt:lpstr>
      <vt:lpstr>WordCount Mapper</vt:lpstr>
      <vt:lpstr>WordCount Mapper</vt:lpstr>
      <vt:lpstr>WordCount Mapper</vt:lpstr>
      <vt:lpstr>WordCount Mapper</vt:lpstr>
      <vt:lpstr>WordCount Mapper</vt:lpstr>
      <vt:lpstr>WordCount Mapper</vt:lpstr>
      <vt:lpstr>WordCount Mapper</vt:lpstr>
      <vt:lpstr>WordCount Mapper</vt:lpstr>
      <vt:lpstr>Reduce Phase</vt:lpstr>
      <vt:lpstr>Reduce Phase</vt:lpstr>
      <vt:lpstr>Reducer Class</vt:lpstr>
      <vt:lpstr>Reducer Class</vt:lpstr>
      <vt:lpstr>Reducer Class</vt:lpstr>
      <vt:lpstr>Reducer Class</vt:lpstr>
      <vt:lpstr>WordCount</vt:lpstr>
      <vt:lpstr>Document Fingerprint</vt:lpstr>
      <vt:lpstr>Clustering</vt:lpstr>
      <vt:lpstr>k-means</vt:lpstr>
      <vt:lpstr>k-means</vt:lpstr>
      <vt:lpstr>MapReduce</vt:lpstr>
      <vt:lpstr>k-means</vt:lpstr>
      <vt:lpstr>Reduce Phase</vt:lpstr>
      <vt:lpstr>Mappers</vt:lpstr>
      <vt:lpstr>Mappers</vt:lpstr>
      <vt:lpstr>Mappers</vt:lpstr>
      <vt:lpstr>Back at the Reducer</vt:lpstr>
      <vt:lpstr>Back at the Reducer</vt:lpstr>
      <vt:lpstr>Once is Not Enough</vt:lpstr>
      <vt:lpstr>To Recaptulate</vt:lpstr>
      <vt:lpstr>PowerPoint Presentation</vt:lpstr>
      <vt:lpstr>Map Function</vt:lpstr>
      <vt:lpstr>Reduce Function</vt:lpstr>
      <vt:lpstr>Example</vt:lpstr>
      <vt:lpstr>Example</vt:lpstr>
      <vt:lpstr>Example</vt:lpstr>
      <vt:lpstr>Other Examples</vt:lpstr>
      <vt:lpstr>PowerPoint Presentation</vt:lpstr>
      <vt:lpstr>PowerPoint Presentation</vt:lpstr>
      <vt:lpstr>Costs</vt:lpstr>
      <vt:lpstr>Part Two</vt:lpstr>
      <vt:lpstr>Streams</vt:lpstr>
      <vt:lpstr>Streams</vt:lpstr>
      <vt:lpstr>Streams</vt:lpstr>
      <vt:lpstr>Functional Programming</vt:lpstr>
      <vt:lpstr>Oh, Really?</vt:lpstr>
      <vt:lpstr>Haiku</vt:lpstr>
      <vt:lpstr>Karate</vt:lpstr>
      <vt:lpstr>Jim Morris’s Question</vt:lpstr>
      <vt:lpstr>Laziness</vt:lpstr>
      <vt:lpstr>Laziness</vt:lpstr>
      <vt:lpstr>Laziness</vt:lpstr>
      <vt:lpstr>Laziness</vt:lpstr>
      <vt:lpstr>Unbounded Random Stream</vt:lpstr>
      <vt:lpstr>Unbounded Random Stream</vt:lpstr>
      <vt:lpstr>Random Stream</vt:lpstr>
      <vt:lpstr>Random Stream</vt:lpstr>
      <vt:lpstr>WordCount</vt:lpstr>
      <vt:lpstr>WordCount</vt:lpstr>
      <vt:lpstr>WordCount</vt:lpstr>
      <vt:lpstr>WordCount</vt:lpstr>
      <vt:lpstr>WordCount</vt:lpstr>
      <vt:lpstr>WordCount</vt:lpstr>
      <vt:lpstr>WordCount</vt:lpstr>
      <vt:lpstr>WordCount</vt:lpstr>
      <vt:lpstr>WordCount</vt:lpstr>
      <vt:lpstr>WordCount</vt:lpstr>
      <vt:lpstr>WordCount</vt:lpstr>
      <vt:lpstr>WordCount</vt:lpstr>
      <vt:lpstr>WordCount</vt:lpstr>
      <vt:lpstr>WordCount</vt:lpstr>
      <vt:lpstr>WordCount</vt:lpstr>
      <vt:lpstr>WordCount</vt:lpstr>
      <vt:lpstr>k-Means</vt:lpstr>
      <vt:lpstr>k-Means</vt:lpstr>
      <vt:lpstr>BaryCenter</vt:lpstr>
      <vt:lpstr>Stream Barycenter</vt:lpstr>
      <vt:lpstr>Stream Barycenter</vt:lpstr>
      <vt:lpstr>Stream Barycenter</vt:lpstr>
      <vt:lpstr>Reduce</vt:lpstr>
      <vt:lpstr>k-Means</vt:lpstr>
      <vt:lpstr>k-Means</vt:lpstr>
      <vt:lpstr>k-Means</vt:lpstr>
      <vt:lpstr>k-Means</vt:lpstr>
      <vt:lpstr>k-Means</vt:lpstr>
      <vt:lpstr>k-Means</vt:lpstr>
      <vt:lpstr>Compute New Clusters</vt:lpstr>
      <vt:lpstr>Compute New Clusters</vt:lpstr>
      <vt:lpstr>k-Means Con’t</vt:lpstr>
      <vt:lpstr>k-Means Con’t</vt:lpstr>
      <vt:lpstr>k-Means Con’t</vt:lpstr>
      <vt:lpstr>k-Means Con’t</vt:lpstr>
      <vt:lpstr>k-Means Con’t</vt:lpstr>
      <vt:lpstr>k-Means Con’t</vt:lpstr>
      <vt:lpstr>Functional k-Means</vt:lpstr>
      <vt:lpstr>Parallelism?</vt:lpstr>
      <vt:lpstr>Parallelism?</vt:lpstr>
      <vt:lpstr>Parallelism?</vt:lpstr>
      <vt:lpstr>Parallelism?</vt:lpstr>
      <vt:lpstr>Parallelism?</vt:lpstr>
      <vt:lpstr>Parallelism?</vt:lpstr>
      <vt:lpstr>Parallelism?</vt:lpstr>
      <vt:lpstr>Pitfalls</vt:lpstr>
      <vt:lpstr>Pitfalls</vt:lpstr>
      <vt:lpstr>Pitfalls</vt:lpstr>
      <vt:lpstr>Conclusions</vt:lpstr>
      <vt:lpstr>PowerPoint Presentation</vt:lpstr>
    </vt:vector>
  </TitlesOfParts>
  <Company>Brown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Art of Multiprocessor Programming</dc:title>
  <dc:creator>Maurice Herlihy and Nir Shavit</dc:creator>
  <cp:lastModifiedBy>Beth LoGiudice</cp:lastModifiedBy>
  <cp:revision>1062</cp:revision>
  <cp:lastPrinted>1999-05-13T01:42:18Z</cp:lastPrinted>
  <dcterms:created xsi:type="dcterms:W3CDTF">1999-05-12T13:47:53Z</dcterms:created>
  <dcterms:modified xsi:type="dcterms:W3CDTF">2020-09-26T23:21:52Z</dcterms:modified>
</cp:coreProperties>
</file>